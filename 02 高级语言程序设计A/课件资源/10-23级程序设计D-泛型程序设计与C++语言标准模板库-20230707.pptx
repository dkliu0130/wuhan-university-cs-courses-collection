
<file path=[Content_Types].xml><?xml version="1.0" encoding="utf-8"?>
<Types xmlns="http://schemas.openxmlformats.org/package/2006/content-types">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handoutMasterIdLst>
    <p:handoutMasterId r:id="rId132"/>
  </p:handoutMasterIdLst>
  <p:sldIdLst>
    <p:sldId id="880" r:id="rId3"/>
    <p:sldId id="1375" r:id="rId4"/>
    <p:sldId id="716" r:id="rId5"/>
    <p:sldId id="2378" r:id="rId6"/>
    <p:sldId id="2379" r:id="rId8"/>
    <p:sldId id="2380" r:id="rId9"/>
    <p:sldId id="2381" r:id="rId10"/>
    <p:sldId id="2382" r:id="rId11"/>
    <p:sldId id="2383" r:id="rId12"/>
    <p:sldId id="2384" r:id="rId13"/>
    <p:sldId id="2385" r:id="rId14"/>
    <p:sldId id="2386" r:id="rId15"/>
    <p:sldId id="2387" r:id="rId16"/>
    <p:sldId id="2388" r:id="rId17"/>
    <p:sldId id="2389" r:id="rId18"/>
    <p:sldId id="2390" r:id="rId19"/>
    <p:sldId id="2274" r:id="rId20"/>
    <p:sldId id="2286" r:id="rId21"/>
    <p:sldId id="2287" r:id="rId22"/>
    <p:sldId id="2288" r:id="rId23"/>
    <p:sldId id="2289" r:id="rId24"/>
    <p:sldId id="2290" r:id="rId25"/>
    <p:sldId id="2291" r:id="rId26"/>
    <p:sldId id="2292" r:id="rId27"/>
    <p:sldId id="2293" r:id="rId28"/>
    <p:sldId id="2275" r:id="rId29"/>
    <p:sldId id="2391" r:id="rId30"/>
    <p:sldId id="2295" r:id="rId31"/>
    <p:sldId id="2296" r:id="rId32"/>
    <p:sldId id="2297" r:id="rId33"/>
    <p:sldId id="2278" r:id="rId34"/>
    <p:sldId id="2392" r:id="rId35"/>
    <p:sldId id="2393" r:id="rId36"/>
    <p:sldId id="2394" r:id="rId37"/>
    <p:sldId id="2395" r:id="rId38"/>
    <p:sldId id="2299" r:id="rId39"/>
    <p:sldId id="2300" r:id="rId40"/>
    <p:sldId id="2301" r:id="rId41"/>
    <p:sldId id="2396" r:id="rId42"/>
    <p:sldId id="2302" r:id="rId43"/>
    <p:sldId id="2303" r:id="rId44"/>
    <p:sldId id="2304" r:id="rId45"/>
    <p:sldId id="2305" r:id="rId46"/>
    <p:sldId id="2306" r:id="rId47"/>
    <p:sldId id="2400" r:id="rId48"/>
    <p:sldId id="2401" r:id="rId49"/>
    <p:sldId id="2402" r:id="rId50"/>
    <p:sldId id="2403" r:id="rId51"/>
    <p:sldId id="2309" r:id="rId52"/>
    <p:sldId id="2310" r:id="rId53"/>
    <p:sldId id="2404" r:id="rId54"/>
    <p:sldId id="2405" r:id="rId55"/>
    <p:sldId id="2406" r:id="rId56"/>
    <p:sldId id="2311" r:id="rId57"/>
    <p:sldId id="2312" r:id="rId58"/>
    <p:sldId id="2313" r:id="rId59"/>
    <p:sldId id="2314" r:id="rId60"/>
    <p:sldId id="2315" r:id="rId61"/>
    <p:sldId id="2279" r:id="rId62"/>
    <p:sldId id="2316" r:id="rId63"/>
    <p:sldId id="2317" r:id="rId64"/>
    <p:sldId id="2318" r:id="rId65"/>
    <p:sldId id="2407" r:id="rId66"/>
    <p:sldId id="2319" r:id="rId67"/>
    <p:sldId id="2320" r:id="rId68"/>
    <p:sldId id="2321" r:id="rId69"/>
    <p:sldId id="2322" r:id="rId70"/>
    <p:sldId id="2323" r:id="rId71"/>
    <p:sldId id="2324" r:id="rId72"/>
    <p:sldId id="2325" r:id="rId73"/>
    <p:sldId id="2326" r:id="rId74"/>
    <p:sldId id="2327" r:id="rId75"/>
    <p:sldId id="2328" r:id="rId76"/>
    <p:sldId id="2408" r:id="rId77"/>
    <p:sldId id="2280" r:id="rId78"/>
    <p:sldId id="2329" r:id="rId79"/>
    <p:sldId id="2330" r:id="rId80"/>
    <p:sldId id="2331" r:id="rId81"/>
    <p:sldId id="2332" r:id="rId82"/>
    <p:sldId id="2333" r:id="rId83"/>
    <p:sldId id="2334" r:id="rId84"/>
    <p:sldId id="2335" r:id="rId85"/>
    <p:sldId id="2336" r:id="rId86"/>
    <p:sldId id="2409" r:id="rId87"/>
    <p:sldId id="2410" r:id="rId88"/>
    <p:sldId id="2411" r:id="rId89"/>
    <p:sldId id="2281" r:id="rId90"/>
    <p:sldId id="2343" r:id="rId91"/>
    <p:sldId id="2344" r:id="rId92"/>
    <p:sldId id="2345" r:id="rId93"/>
    <p:sldId id="2346" r:id="rId94"/>
    <p:sldId id="2347" r:id="rId95"/>
    <p:sldId id="2348" r:id="rId96"/>
    <p:sldId id="2349" r:id="rId97"/>
    <p:sldId id="2350" r:id="rId98"/>
    <p:sldId id="2351" r:id="rId99"/>
    <p:sldId id="2352" r:id="rId100"/>
    <p:sldId id="2353" r:id="rId101"/>
    <p:sldId id="2354" r:id="rId102"/>
    <p:sldId id="2355" r:id="rId103"/>
    <p:sldId id="2356" r:id="rId104"/>
    <p:sldId id="2357" r:id="rId105"/>
    <p:sldId id="2276" r:id="rId106"/>
    <p:sldId id="2358" r:id="rId107"/>
    <p:sldId id="2359" r:id="rId108"/>
    <p:sldId id="2360" r:id="rId109"/>
    <p:sldId id="2376" r:id="rId110"/>
    <p:sldId id="2361" r:id="rId111"/>
    <p:sldId id="2362" r:id="rId112"/>
    <p:sldId id="2363" r:id="rId113"/>
    <p:sldId id="2364" r:id="rId114"/>
    <p:sldId id="2365" r:id="rId115"/>
    <p:sldId id="2366" r:id="rId116"/>
    <p:sldId id="2277" r:id="rId117"/>
    <p:sldId id="2367" r:id="rId118"/>
    <p:sldId id="2368" r:id="rId119"/>
    <p:sldId id="2369" r:id="rId120"/>
    <p:sldId id="2370" r:id="rId121"/>
    <p:sldId id="2371" r:id="rId122"/>
    <p:sldId id="2372" r:id="rId123"/>
    <p:sldId id="2373" r:id="rId124"/>
    <p:sldId id="2374" r:id="rId125"/>
    <p:sldId id="2375" r:id="rId126"/>
    <p:sldId id="2269" r:id="rId127"/>
    <p:sldId id="2270" r:id="rId128"/>
    <p:sldId id="2271" r:id="rId129"/>
    <p:sldId id="2272" r:id="rId130"/>
    <p:sldId id="2273" r:id="rId131"/>
  </p:sldIdLst>
  <p:sldSz cx="9144000" cy="6858000" type="screen4x3"/>
  <p:notesSz cx="6648450" cy="9782175"/>
  <p:custDataLst>
    <p:tags r:id="rId136"/>
  </p:custDataLst>
  <p:defaultTextStyle>
    <a:defPPr>
      <a:defRPr lang="zh-CN"/>
    </a:defPPr>
    <a:lvl1pPr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1pPr>
    <a:lvl2pPr marL="4572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2pPr>
    <a:lvl3pPr marL="9144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3pPr>
    <a:lvl4pPr marL="13716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4pPr>
    <a:lvl5pPr marL="18288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9pPr>
  </p:defaultTextStyle>
  <p:extLst>
    <p:ext uri="{EFAFB233-063F-42B5-8137-9DF3F51BA10A}">
      <p15:sldGuideLst xmlns:p15="http://schemas.microsoft.com/office/powerpoint/2012/main">
        <p15:guide id="1" orient="horz" pos="1824" userDrawn="1">
          <p15:clr>
            <a:srgbClr val="A4A3A4"/>
          </p15:clr>
        </p15:guide>
        <p15:guide id="2" pos="29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00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4B0064"/>
    <a:srgbClr val="2F2FC5"/>
    <a:srgbClr val="CC0066"/>
    <a:srgbClr val="FFFF99"/>
    <a:srgbClr val="E682E1"/>
    <a:srgbClr val="3030C7"/>
    <a:srgbClr val="740000"/>
    <a:srgbClr val="3333FF"/>
    <a:srgbClr val="CB15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647" autoAdjust="0"/>
    <p:restoredTop sz="85978" autoAdjust="0"/>
  </p:normalViewPr>
  <p:slideViewPr>
    <p:cSldViewPr showGuides="1">
      <p:cViewPr varScale="1">
        <p:scale>
          <a:sx n="98" d="100"/>
          <a:sy n="98" d="100"/>
        </p:scale>
        <p:origin x="1542" y="12"/>
      </p:cViewPr>
      <p:guideLst>
        <p:guide orient="horz" pos="1824"/>
        <p:guide pos="2928"/>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50" d="100"/>
          <a:sy n="50" d="100"/>
        </p:scale>
        <p:origin x="2922" y="60"/>
      </p:cViewPr>
      <p:guideLst>
        <p:guide orient="horz" pos="3080"/>
        <p:guide pos="2094"/>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notesMaster" Target="notesMasters/notesMaster1.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6" Type="http://schemas.openxmlformats.org/officeDocument/2006/relationships/tags" Target="tags/tag18.xml"/><Relationship Id="rId135" Type="http://schemas.openxmlformats.org/officeDocument/2006/relationships/tableStyles" Target="tableStyles.xml"/><Relationship Id="rId134" Type="http://schemas.openxmlformats.org/officeDocument/2006/relationships/viewProps" Target="viewProps.xml"/><Relationship Id="rId133" Type="http://schemas.openxmlformats.org/officeDocument/2006/relationships/presProps" Target="presProps.xml"/><Relationship Id="rId132" Type="http://schemas.openxmlformats.org/officeDocument/2006/relationships/handoutMaster" Target="handoutMasters/handoutMaster1.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588"/>
            <a:ext cx="2881313"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l" eaLnBrk="0" hangingPunct="0">
              <a:defRPr sz="1000" i="1">
                <a:latin typeface="Book Antiqua" panose="02040602050305030304" pitchFamily="18" charset="0"/>
                <a:ea typeface="宋体" panose="02010600030101010101" pitchFamily="2" charset="-122"/>
              </a:defRPr>
            </a:lvl1pPr>
          </a:lstStyle>
          <a:p>
            <a:r>
              <a:rPr lang="zh-CN" altLang="en-US"/>
              <a:t>网站建设与网络安全</a:t>
            </a:r>
            <a:endParaRPr lang="zh-CN" altLang="en-US"/>
          </a:p>
        </p:txBody>
      </p:sp>
      <p:sp>
        <p:nvSpPr>
          <p:cNvPr id="4099" name="Rectangle 3"/>
          <p:cNvSpPr>
            <a:spLocks noGrp="1" noChangeArrowheads="1"/>
          </p:cNvSpPr>
          <p:nvPr>
            <p:ph type="dt" sz="quarter" idx="1"/>
          </p:nvPr>
        </p:nvSpPr>
        <p:spPr bwMode="auto">
          <a:xfrm>
            <a:off x="3767138" y="-1588"/>
            <a:ext cx="2881312"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r" eaLnBrk="0" hangingPunct="0">
              <a:defRPr sz="1000" i="1">
                <a:latin typeface="Book Antiqua" panose="02040602050305030304" pitchFamily="18" charset="0"/>
                <a:ea typeface="宋体" panose="02010600030101010101" pitchFamily="2" charset="-122"/>
              </a:defRPr>
            </a:lvl1pPr>
          </a:lstStyle>
          <a:p>
            <a:endParaRPr lang="en-US" altLang="zh-CN"/>
          </a:p>
        </p:txBody>
      </p:sp>
      <p:sp>
        <p:nvSpPr>
          <p:cNvPr id="4100" name="Rectangle 4"/>
          <p:cNvSpPr>
            <a:spLocks noGrp="1" noChangeArrowheads="1"/>
          </p:cNvSpPr>
          <p:nvPr>
            <p:ph type="ftr" sz="quarter" idx="2"/>
          </p:nvPr>
        </p:nvSpPr>
        <p:spPr bwMode="auto">
          <a:xfrm>
            <a:off x="0" y="9291638"/>
            <a:ext cx="2881313"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l" eaLnBrk="0" hangingPunct="0">
              <a:defRPr sz="1000" i="1">
                <a:latin typeface="Book Antiqua" panose="02040602050305030304" pitchFamily="18" charset="0"/>
                <a:ea typeface="宋体" panose="02010600030101010101" pitchFamily="2" charset="-122"/>
              </a:defRPr>
            </a:lvl1pPr>
          </a:lstStyle>
          <a:p>
            <a:r>
              <a:rPr lang="zh-CN" altLang="en-US"/>
              <a:t>武汉大学计算机学院 梁意文</a:t>
            </a:r>
            <a:endParaRPr lang="zh-CN" altLang="en-US"/>
          </a:p>
        </p:txBody>
      </p:sp>
      <p:sp>
        <p:nvSpPr>
          <p:cNvPr id="4101" name="Rectangle 5"/>
          <p:cNvSpPr>
            <a:spLocks noGrp="1" noChangeArrowheads="1"/>
          </p:cNvSpPr>
          <p:nvPr>
            <p:ph type="sldNum" sz="quarter" idx="3"/>
          </p:nvPr>
        </p:nvSpPr>
        <p:spPr bwMode="auto">
          <a:xfrm>
            <a:off x="3767138" y="9291638"/>
            <a:ext cx="2881312"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r" eaLnBrk="0" hangingPunct="0">
              <a:defRPr sz="1000" i="1">
                <a:latin typeface="Book Antiqua" panose="02040602050305030304" pitchFamily="18" charset="0"/>
                <a:ea typeface="宋体" panose="02010600030101010101" pitchFamily="2" charset="-122"/>
              </a:defRPr>
            </a:lvl1pPr>
          </a:lstStyle>
          <a:p>
            <a:fld id="{06F2D5D5-3B16-43CA-8995-8BE81CB6B1AB}"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588"/>
            <a:ext cx="2881313"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l" defTabSz="762000" eaLnBrk="0" hangingPunct="0">
              <a:defRPr sz="1000" i="1">
                <a:ea typeface="宋体" panose="02010600030101010101" pitchFamily="2" charset="-122"/>
              </a:defRPr>
            </a:lvl1pPr>
          </a:lstStyle>
          <a:p>
            <a:endParaRPr lang="en-US" altLang="zh-CN"/>
          </a:p>
        </p:txBody>
      </p:sp>
      <p:sp>
        <p:nvSpPr>
          <p:cNvPr id="2051" name="Rectangle 3"/>
          <p:cNvSpPr>
            <a:spLocks noGrp="1" noChangeArrowheads="1"/>
          </p:cNvSpPr>
          <p:nvPr>
            <p:ph type="dt" idx="1"/>
          </p:nvPr>
        </p:nvSpPr>
        <p:spPr bwMode="auto">
          <a:xfrm>
            <a:off x="3767138" y="-1588"/>
            <a:ext cx="2881312"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r" defTabSz="762000" eaLnBrk="0" hangingPunct="0">
              <a:defRPr sz="1000" i="1">
                <a:ea typeface="宋体" panose="02010600030101010101" pitchFamily="2" charset="-122"/>
              </a:defRPr>
            </a:lvl1pPr>
          </a:lstStyle>
          <a:p>
            <a:endParaRPr lang="en-US" altLang="zh-CN"/>
          </a:p>
        </p:txBody>
      </p:sp>
      <p:sp>
        <p:nvSpPr>
          <p:cNvPr id="2052" name="Rectangle 4"/>
          <p:cNvSpPr>
            <a:spLocks noGrp="1" noChangeArrowheads="1"/>
          </p:cNvSpPr>
          <p:nvPr>
            <p:ph type="ftr" sz="quarter" idx="4"/>
          </p:nvPr>
        </p:nvSpPr>
        <p:spPr bwMode="auto">
          <a:xfrm>
            <a:off x="0" y="9291638"/>
            <a:ext cx="2881313"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l" defTabSz="762000" eaLnBrk="0" hangingPunct="0">
              <a:defRPr sz="1000" i="1">
                <a:ea typeface="宋体" panose="02010600030101010101" pitchFamily="2" charset="-122"/>
              </a:defRPr>
            </a:lvl1pPr>
          </a:lstStyle>
          <a:p>
            <a:endParaRPr lang="en-US" altLang="zh-CN"/>
          </a:p>
        </p:txBody>
      </p:sp>
      <p:sp>
        <p:nvSpPr>
          <p:cNvPr id="2053" name="Rectangle 5"/>
          <p:cNvSpPr>
            <a:spLocks noGrp="1" noChangeArrowheads="1"/>
          </p:cNvSpPr>
          <p:nvPr>
            <p:ph type="sldNum" sz="quarter" idx="5"/>
          </p:nvPr>
        </p:nvSpPr>
        <p:spPr bwMode="auto">
          <a:xfrm>
            <a:off x="3767138" y="9291638"/>
            <a:ext cx="2881312"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r" defTabSz="762000" eaLnBrk="0" hangingPunct="0">
              <a:defRPr sz="1000" i="1">
                <a:ea typeface="宋体" panose="02010600030101010101" pitchFamily="2" charset="-122"/>
              </a:defRPr>
            </a:lvl1pPr>
          </a:lstStyle>
          <a:p>
            <a:fld id="{2294745A-D51A-4D6A-8042-2BC64911E49A}" type="slidenum">
              <a:rPr lang="en-US" altLang="zh-CN"/>
            </a:fld>
            <a:endParaRPr lang="en-US" altLang="zh-CN"/>
          </a:p>
        </p:txBody>
      </p:sp>
      <p:sp>
        <p:nvSpPr>
          <p:cNvPr id="2054" name="Rectangle 6"/>
          <p:cNvSpPr>
            <a:spLocks noGrp="1" noChangeArrowheads="1"/>
          </p:cNvSpPr>
          <p:nvPr>
            <p:ph type="body" sz="quarter" idx="3"/>
          </p:nvPr>
        </p:nvSpPr>
        <p:spPr bwMode="auto">
          <a:xfrm>
            <a:off x="885825" y="4645025"/>
            <a:ext cx="4876800" cy="440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lstStyle/>
          <a:p>
            <a:pPr lvl="0"/>
            <a:r>
              <a:rPr lang="en-US" altLang="zh-CN"/>
              <a:t>Click to edit Master notes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altLang="zh-CN"/>
          </a:p>
        </p:txBody>
      </p:sp>
      <p:sp>
        <p:nvSpPr>
          <p:cNvPr id="2055" name="Rectangle 7"/>
          <p:cNvSpPr>
            <a:spLocks noGrp="1" noRot="1" noChangeAspect="1" noChangeArrowheads="1" noTextEdit="1"/>
          </p:cNvSpPr>
          <p:nvPr>
            <p:ph type="sldImg" idx="2"/>
          </p:nvPr>
        </p:nvSpPr>
        <p:spPr bwMode="auto">
          <a:xfrm>
            <a:off x="889000" y="739775"/>
            <a:ext cx="4872038" cy="3654425"/>
          </a:xfrm>
          <a:prstGeom prst="rect">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3B7ABAE-28F9-4CF2-8C9C-16E721A3C99E}"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3B7ABAE-28F9-4CF2-8C9C-16E721A3C99E}"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3B7ABAE-28F9-4CF2-8C9C-16E721A3C99E}"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p:sp>
      <p:sp>
        <p:nvSpPr>
          <p:cNvPr id="11264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a:p>
        </p:txBody>
      </p:sp>
      <p:sp>
        <p:nvSpPr>
          <p:cNvPr id="11264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2F8E1E22-8B14-49E4-8389-6864196369E6}" type="slidenum">
              <a:rPr lang="en-US" altLang="zh-CN" sz="1300"/>
            </a:fld>
            <a:endParaRPr lang="en-US" altLang="zh-CN"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dirty="0">
                <a:effectLst/>
              </a:rPr>
              <a:t>对标准输入装置而言，</a:t>
            </a:r>
            <a:r>
              <a:rPr lang="en-US" altLang="zh-CN" dirty="0">
                <a:effectLst/>
              </a:rPr>
              <a:t>end-of-file</a:t>
            </a:r>
            <a:r>
              <a:rPr lang="zh-CN" altLang="en-US" dirty="0">
                <a:effectLst/>
              </a:rPr>
              <a:t>即代表</a:t>
            </a:r>
            <a:r>
              <a:rPr lang="en-US" altLang="zh-CN" dirty="0">
                <a:effectLst/>
              </a:rPr>
              <a:t>last</a:t>
            </a:r>
            <a:r>
              <a:rPr lang="zh-CN" altLang="en-US" dirty="0">
                <a:effectLst/>
              </a:rPr>
              <a:t>。</a:t>
            </a:r>
            <a:r>
              <a:rPr lang="zh-CN" altLang="en-US" dirty="0"/>
              <a:t>只要在定义</a:t>
            </a:r>
            <a:r>
              <a:rPr lang="en-US" altLang="zh-CN" dirty="0" err="1"/>
              <a:t>istreamiterator</a:t>
            </a:r>
            <a:r>
              <a:rPr lang="zh-CN" altLang="en-US" dirty="0"/>
              <a:t>时不为它指定</a:t>
            </a:r>
            <a:r>
              <a:rPr lang="en-US" altLang="zh-CN" dirty="0" err="1"/>
              <a:t>istream</a:t>
            </a:r>
            <a:r>
              <a:rPr lang="zh-CN" altLang="en-US" dirty="0"/>
              <a:t>对象，它便代表了</a:t>
            </a:r>
            <a:r>
              <a:rPr lang="en-US" altLang="zh-CN" dirty="0"/>
              <a:t>end-of-file</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）可逆容器的迭代器是双向迭代器，可以双向遍历</a:t>
            </a:r>
            <a:endParaRPr lang="en-US" altLang="zh-CN" dirty="0"/>
          </a:p>
          <a:p>
            <a:r>
              <a:rPr lang="zh-CN" altLang="en-US" dirty="0"/>
              <a:t>（</a:t>
            </a:r>
            <a:r>
              <a:rPr lang="en-US" altLang="zh-CN" dirty="0"/>
              <a:t>2</a:t>
            </a:r>
            <a:r>
              <a:rPr lang="zh-CN" altLang="en-US" dirty="0"/>
              <a:t>）</a:t>
            </a:r>
            <a:r>
              <a:rPr lang="en-US" altLang="zh-CN" dirty="0"/>
              <a:t>STL</a:t>
            </a:r>
            <a:r>
              <a:rPr lang="zh-CN" altLang="en-US" dirty="0"/>
              <a:t>提供的标准容器都是可逆容器，但是有些非标准的容器提供了部分只有前向迭代器的容器，例如</a:t>
            </a:r>
            <a:r>
              <a:rPr lang="en-US" altLang="zh-CN" dirty="0" err="1"/>
              <a:t>slist</a:t>
            </a:r>
            <a:r>
              <a:rPr lang="zh-CN" altLang="en-US" dirty="0"/>
              <a:t>（单链表）</a:t>
            </a:r>
            <a:endParaRPr lang="en-US" altLang="zh-CN" dirty="0"/>
          </a:p>
          <a:p>
            <a:r>
              <a:rPr lang="zh-CN" altLang="en-US" dirty="0"/>
              <a:t>（</a:t>
            </a:r>
            <a:r>
              <a:rPr lang="en-US" altLang="zh-CN" dirty="0"/>
              <a:t>3</a:t>
            </a:r>
            <a:r>
              <a:rPr lang="zh-CN" altLang="en-US" dirty="0"/>
              <a:t>）随机访问容器所提供的是随机访问迭代器，类似于数组的下标</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p:sp>
      <p:sp>
        <p:nvSpPr>
          <p:cNvPr id="11776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a:p>
        </p:txBody>
      </p:sp>
      <p:sp>
        <p:nvSpPr>
          <p:cNvPr id="11776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隶书" panose="02010509060101010101" pitchFamily="49" charset="-122"/>
              </a:defRPr>
            </a:lvl1pPr>
            <a:lvl2pPr marL="704215" indent="-271145" defTabSz="939165" eaLnBrk="0" hangingPunct="0">
              <a:defRPr kumimoji="1" sz="2300">
                <a:solidFill>
                  <a:schemeClr val="tx1"/>
                </a:solidFill>
                <a:latin typeface="Times New Roman" panose="02020603050405020304" pitchFamily="18" charset="0"/>
                <a:ea typeface="隶书" panose="02010509060101010101" pitchFamily="49" charset="-122"/>
              </a:defRPr>
            </a:lvl2pPr>
            <a:lvl3pPr marL="1083310" indent="-216535" defTabSz="939165" eaLnBrk="0" hangingPunct="0">
              <a:defRPr kumimoji="1" sz="2300">
                <a:solidFill>
                  <a:schemeClr val="tx1"/>
                </a:solidFill>
                <a:latin typeface="Times New Roman" panose="02020603050405020304" pitchFamily="18" charset="0"/>
                <a:ea typeface="隶书" panose="02010509060101010101" pitchFamily="49" charset="-122"/>
              </a:defRPr>
            </a:lvl3pPr>
            <a:lvl4pPr marL="1516380" indent="-216535" defTabSz="939165" eaLnBrk="0" hangingPunct="0">
              <a:defRPr kumimoji="1" sz="2300">
                <a:solidFill>
                  <a:schemeClr val="tx1"/>
                </a:solidFill>
                <a:latin typeface="Times New Roman" panose="02020603050405020304" pitchFamily="18" charset="0"/>
                <a:ea typeface="隶书" panose="02010509060101010101" pitchFamily="49" charset="-122"/>
              </a:defRPr>
            </a:lvl4pPr>
            <a:lvl5pPr marL="1950085" indent="-216535" defTabSz="939165" eaLnBrk="0" hangingPunct="0">
              <a:defRPr kumimoji="1" sz="2300">
                <a:solidFill>
                  <a:schemeClr val="tx1"/>
                </a:solidFill>
                <a:latin typeface="Times New Roman" panose="02020603050405020304" pitchFamily="18" charset="0"/>
                <a:ea typeface="隶书" panose="02010509060101010101" pitchFamily="49"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隶书" panose="02010509060101010101" pitchFamily="49" charset="-122"/>
              </a:defRPr>
            </a:lvl9pPr>
          </a:lstStyle>
          <a:p>
            <a:pPr eaLnBrk="1" hangingPunct="1"/>
            <a:fld id="{AF57332B-8230-490A-B93E-AA435BE4F4AC}" type="slidenum">
              <a:rPr lang="en-US" altLang="zh-CN" sz="1200"/>
            </a:fld>
            <a:endParaRPr lang="en-US" altLang="zh-CN"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3B7ABAE-28F9-4CF2-8C9C-16E721A3C99E}"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p:sp>
      <p:sp>
        <p:nvSpPr>
          <p:cNvPr id="117763"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a:p>
        </p:txBody>
      </p:sp>
      <p:sp>
        <p:nvSpPr>
          <p:cNvPr id="117764"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defTabSz="99060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defTabSz="990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defTabSz="990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eaLnBrk="1" hangingPunct="1"/>
            <a:fld id="{5311E561-97B8-471F-A76C-E794210CD0B8}" type="slidenum">
              <a:rPr lang="en-US" altLang="zh-CN" sz="1300"/>
            </a:fld>
            <a:endParaRPr lang="en-US" altLang="zh-CN" sz="1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3"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2"/>
            <a:ext cx="78867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4589467"/>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9"/>
            <a:ext cx="7886700" cy="1325563"/>
          </a:xfrm>
          <a:prstGeom prst="rect">
            <a:avLst/>
          </a:prstGeo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30239"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30239" y="2505075"/>
            <a:ext cx="3868737" cy="368458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a:t>单击此处编辑母版标题样式</a:t>
            </a:r>
            <a:endParaRPr lang="zh-CN" altLang="en-US"/>
          </a:p>
        </p:txBody>
      </p:sp>
      <p:sp>
        <p:nvSpPr>
          <p:cNvPr id="4"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stretch>
            <a:fillRect/>
          </a:stretch>
        </p:blipFill>
        <p:spPr>
          <a:xfrm>
            <a:off x="1066340" y="6525344"/>
            <a:ext cx="6241965" cy="260648"/>
          </a:xfrm>
          <a:prstGeom prst="rect">
            <a:avLst/>
          </a:prstGeom>
        </p:spPr>
      </p:pic>
      <p:sp>
        <p:nvSpPr>
          <p:cNvPr id="3" name="标题 2"/>
          <p:cNvSpPr>
            <a:spLocks noGrp="1"/>
          </p:cNvSpPr>
          <p:nvPr>
            <p:ph type="title"/>
          </p:nvPr>
        </p:nvSpPr>
        <p:spPr>
          <a:xfrm>
            <a:off x="628650" y="365125"/>
            <a:ext cx="7886700" cy="1325563"/>
          </a:xfrm>
          <a:prstGeom prst="rect">
            <a:avLst/>
          </a:prstGeom>
        </p:spPr>
        <p:txBody>
          <a:bodyPr/>
          <a:lstStyle/>
          <a:p>
            <a:r>
              <a:rPr lang="zh-CN" altLang="en-US"/>
              <a:t>单击此处编辑母版标题样式</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3887788" y="987429"/>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30240"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788" y="987429"/>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40"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6"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2" y="365125"/>
            <a:ext cx="5762625" cy="5811838"/>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5" name="灯片编号占位符 1"/>
          <p:cNvSpPr>
            <a:spLocks noGrp="1"/>
          </p:cNvSpPr>
          <p:nvPr>
            <p:ph type="sldNum" sz="quarter" idx="4"/>
          </p:nvPr>
        </p:nvSpPr>
        <p:spPr>
          <a:xfrm>
            <a:off x="6978191" y="48072"/>
            <a:ext cx="2057519" cy="365125"/>
          </a:xfrm>
          <a:prstGeom prst="rect">
            <a:avLst/>
          </a:prstGeom>
        </p:spPr>
        <p:txBody>
          <a:bodyPr vert="horz" lIns="91440" tIns="45720" rIns="91440" bIns="45720" rtlCol="0" anchor="ctr"/>
          <a:lstStyle>
            <a:lvl1pPr algn="r">
              <a:defRPr sz="1350">
                <a:solidFill>
                  <a:schemeClr val="bg1"/>
                </a:solidFill>
              </a:defRPr>
            </a:lvl1pPr>
          </a:lstStyle>
          <a:p>
            <a:fld id="{EE27C1A0-FD57-4FBA-811A-8EA0C630CB97}" type="slidenum">
              <a:rPr lang="zh-CN" altLang="en-US" smtClean="0"/>
            </a:fld>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1085" name="Text Box 61"/>
          <p:cNvSpPr txBox="1">
            <a:spLocks noChangeArrowheads="1"/>
          </p:cNvSpPr>
          <p:nvPr/>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hf sldNum="0" hdr="0" ftr="0" dt="0"/>
  <p:txStyles>
    <p:title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p:titleStyle>
    <p:body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wm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GI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slideLayout" Target="../slideLayouts/slideLayout12.xml"/><Relationship Id="rId18" Type="http://schemas.openxmlformats.org/officeDocument/2006/relationships/tags" Target="../tags/tag17.xml"/><Relationship Id="rId17" Type="http://schemas.openxmlformats.org/officeDocument/2006/relationships/image" Target="../media/image5.png"/><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image" Target="../media/image6.wm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8" name="Rectangle 4"/>
          <p:cNvSpPr>
            <a:spLocks noChangeArrowheads="1"/>
          </p:cNvSpPr>
          <p:nvPr/>
        </p:nvSpPr>
        <p:spPr bwMode="auto">
          <a:xfrm>
            <a:off x="533400" y="1219200"/>
            <a:ext cx="7848600" cy="76200"/>
          </a:xfrm>
          <a:prstGeom prst="rect">
            <a:avLst/>
          </a:prstGeom>
          <a:gradFill rotWithShape="0">
            <a:gsLst>
              <a:gs pos="0">
                <a:srgbClr val="5E9EFF"/>
              </a:gs>
              <a:gs pos="39999">
                <a:srgbClr val="85C2FF"/>
              </a:gs>
              <a:gs pos="70000">
                <a:srgbClr val="C4D6EB"/>
              </a:gs>
              <a:gs pos="100000">
                <a:srgbClr val="FFEBFA"/>
              </a:gs>
            </a:gsLst>
            <a:lin ang="5400000" scaled="1"/>
          </a:gradFill>
          <a:ln>
            <a:noFill/>
          </a:ln>
          <a:effectLst/>
          <a:extLst>
            <a:ext uri="{91240B29-F687-4F45-9708-019B960494DF}">
              <a14:hiddenLine xmlns:a14="http://schemas.microsoft.com/office/drawing/2010/main" w="22225">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none" anchor="ctr"/>
          <a:lstStyle/>
          <a:p>
            <a:endParaRPr lang="zh-CN" altLang="en-US"/>
          </a:p>
        </p:txBody>
      </p:sp>
      <p:pic>
        <p:nvPicPr>
          <p:cNvPr id="600069" name="Picture 5"/>
          <p:cNvPicPr>
            <a:picLocks noChangeAspect="1" noChangeArrowheads="1"/>
          </p:cNvPicPr>
          <p:nvPr/>
        </p:nvPicPr>
        <p:blipFill>
          <a:blip r:embed="rId1" cstate="print">
            <a:clrChange>
              <a:clrFrom>
                <a:srgbClr val="FFFFFF"/>
              </a:clrFrom>
              <a:clrTo>
                <a:srgbClr val="FFFFFF">
                  <a:alpha val="0"/>
                </a:srgbClr>
              </a:clrTo>
            </a:clrChange>
            <a:biLevel thresh="50000"/>
            <a:grayscl/>
            <a:lum contrast="70000"/>
            <a:extLst>
              <a:ext uri="{28A0092B-C50C-407E-A947-70E740481C1C}">
                <a14:useLocalDpi xmlns:a14="http://schemas.microsoft.com/office/drawing/2010/main" val="0"/>
              </a:ext>
            </a:extLst>
          </a:blip>
          <a:srcRect/>
          <a:stretch>
            <a:fillRect/>
          </a:stretch>
        </p:blipFill>
        <p:spPr bwMode="auto">
          <a:xfrm>
            <a:off x="7696200" y="388939"/>
            <a:ext cx="1219200" cy="754063"/>
          </a:xfrm>
          <a:prstGeom prst="rect">
            <a:avLst/>
          </a:prstGeom>
          <a:noFill/>
          <a:effectLst>
            <a:prstShdw prst="shdw17">
              <a:srgbClr val="FFFFFF">
                <a:gamma/>
                <a:shade val="60000"/>
                <a:invGamma/>
              </a:srgbClr>
            </a:prstShdw>
          </a:effectLst>
          <a:extLst>
            <a:ext uri="{909E8E84-426E-40DD-AFC4-6F175D3DCCD1}">
              <a14:hiddenFill xmlns:a14="http://schemas.microsoft.com/office/drawing/2010/main">
                <a:solidFill>
                  <a:srgbClr val="FFFFFF"/>
                </a:solidFill>
              </a14:hiddenFill>
            </a:ext>
          </a:extLst>
        </p:spPr>
      </p:pic>
      <p:sp>
        <p:nvSpPr>
          <p:cNvPr id="600070" name="Text Box 6"/>
          <p:cNvSpPr txBox="1">
            <a:spLocks noChangeArrowheads="1"/>
          </p:cNvSpPr>
          <p:nvPr/>
        </p:nvSpPr>
        <p:spPr bwMode="auto">
          <a:xfrm>
            <a:off x="483507" y="2344011"/>
            <a:ext cx="8737015"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square" anchor="ctr">
            <a:spAutoFit/>
          </a:bodyPr>
          <a:lstStyle/>
          <a:p>
            <a:pPr>
              <a:spcBef>
                <a:spcPct val="50000"/>
              </a:spcBef>
            </a:pPr>
            <a:r>
              <a:rPr lang="en-US" altLang="zh-CN" sz="4400" b="1" dirty="0">
                <a:solidFill>
                  <a:srgbClr val="FFFF00"/>
                </a:solidFill>
                <a:effectLst>
                  <a:outerShdw blurRad="38100" dist="38100" dir="2700000" algn="tl">
                    <a:srgbClr val="000000"/>
                  </a:outerShdw>
                </a:effectLst>
                <a:latin typeface="+mj-lt"/>
                <a:ea typeface="黑体" panose="02010609060101010101" pitchFamily="49" charset="-122"/>
              </a:rPr>
              <a:t>UNIT 10     </a:t>
            </a:r>
            <a:endParaRPr lang="en-US" altLang="zh-CN" sz="4400" b="1" dirty="0">
              <a:solidFill>
                <a:srgbClr val="FFFF00"/>
              </a:solidFill>
              <a:effectLst>
                <a:outerShdw blurRad="38100" dist="38100" dir="2700000" algn="tl">
                  <a:srgbClr val="000000"/>
                </a:outerShdw>
              </a:effectLst>
              <a:latin typeface="+mj-lt"/>
              <a:ea typeface="黑体" panose="02010609060101010101" pitchFamily="49" charset="-122"/>
            </a:endParaRPr>
          </a:p>
          <a:p>
            <a:pPr>
              <a:spcBef>
                <a:spcPct val="50000"/>
              </a:spcBef>
            </a:pPr>
            <a:r>
              <a:rPr lang="en-US" altLang="zh-CN" sz="4400" b="1" dirty="0">
                <a:solidFill>
                  <a:srgbClr val="FFFF00"/>
                </a:solidFill>
                <a:effectLst>
                  <a:outerShdw blurRad="38100" dist="38100" dir="2700000" algn="tl">
                    <a:srgbClr val="000000"/>
                  </a:outerShdw>
                </a:effectLst>
                <a:latin typeface="+mj-lt"/>
                <a:ea typeface="黑体" panose="02010609060101010101" pitchFamily="49" charset="-122"/>
              </a:rPr>
              <a:t> </a:t>
            </a:r>
            <a:r>
              <a:rPr lang="zh-CN" altLang="en-US" sz="4000" b="1" dirty="0">
                <a:effectLst>
                  <a:outerShdw blurRad="38100" dist="38100" dir="2700000" algn="tl">
                    <a:srgbClr val="000000"/>
                  </a:outerShdw>
                </a:effectLst>
                <a:latin typeface="+mn-lt"/>
                <a:ea typeface="微软雅黑" panose="020B0503020204020204" pitchFamily="34" charset="-122"/>
              </a:rPr>
              <a:t> 泛型程序设计与</a:t>
            </a:r>
            <a:r>
              <a:rPr lang="en-US" altLang="zh-CN" sz="4000" b="1" dirty="0">
                <a:effectLst>
                  <a:outerShdw blurRad="38100" dist="38100" dir="2700000" algn="tl">
                    <a:srgbClr val="000000"/>
                  </a:outerShdw>
                </a:effectLst>
                <a:latin typeface="+mn-lt"/>
                <a:ea typeface="微软雅黑" panose="020B0503020204020204" pitchFamily="34" charset="-122"/>
              </a:rPr>
              <a:t>C++</a:t>
            </a:r>
            <a:r>
              <a:rPr lang="zh-CN" altLang="en-US" sz="4000" b="1" dirty="0">
                <a:effectLst>
                  <a:outerShdw blurRad="38100" dist="38100" dir="2700000" algn="tl">
                    <a:srgbClr val="000000"/>
                  </a:outerShdw>
                </a:effectLst>
                <a:latin typeface="+mn-lt"/>
                <a:ea typeface="微软雅黑" panose="020B0503020204020204" pitchFamily="34" charset="-122"/>
              </a:rPr>
              <a:t>语言标准模板库</a:t>
            </a:r>
            <a:endParaRPr lang="zh-CN" altLang="en-US" sz="2800" b="1" dirty="0">
              <a:effectLst>
                <a:outerShdw blurRad="38100" dist="38100" dir="2700000" algn="tl">
                  <a:srgbClr val="000000"/>
                </a:outerShdw>
              </a:effectLst>
              <a:latin typeface="+mn-lt"/>
              <a:ea typeface="微软雅黑" panose="020B0503020204020204" pitchFamily="34" charset="-122"/>
            </a:endParaRPr>
          </a:p>
        </p:txBody>
      </p:sp>
      <p:sp>
        <p:nvSpPr>
          <p:cNvPr id="9" name="Rectangle 9"/>
          <p:cNvSpPr txBox="1">
            <a:spLocks noChangeArrowheads="1"/>
          </p:cNvSpPr>
          <p:nvPr/>
        </p:nvSpPr>
        <p:spPr bwMode="auto">
          <a:xfrm>
            <a:off x="1611660" y="461170"/>
            <a:ext cx="5410200" cy="609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dist"/>
            <a:r>
              <a:rPr lang="zh-CN" altLang="en-US" sz="4200" b="1" i="0" dirty="0">
                <a:solidFill>
                  <a:srgbClr val="FFFFFF"/>
                </a:solidFill>
                <a:latin typeface="方正舒体" panose="02010601030101010101" pitchFamily="2" charset="-122"/>
                <a:ea typeface="方正舒体" panose="02010601030101010101" pitchFamily="2" charset="-122"/>
              </a:rPr>
              <a:t>程序设计</a:t>
            </a:r>
            <a:r>
              <a:rPr lang="en-US" altLang="zh-CN" sz="4200" b="1" i="0">
                <a:solidFill>
                  <a:srgbClr val="FFFFFF"/>
                </a:solidFill>
                <a:latin typeface="方正舒体" panose="02010601030101010101" pitchFamily="2" charset="-122"/>
                <a:ea typeface="方正舒体" panose="02010601030101010101" pitchFamily="2" charset="-122"/>
              </a:rPr>
              <a:t>D</a:t>
            </a:r>
            <a:endParaRPr lang="zh-CN" altLang="en-US" sz="2400" i="0" dirty="0">
              <a:latin typeface="方正舒体" panose="02010601030101010101" pitchFamily="2" charset="-122"/>
              <a:ea typeface="方正舒体" panose="02010601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body" idx="1"/>
          </p:nvPr>
        </p:nvSpPr>
        <p:spPr bwMode="auto">
          <a:xfrm>
            <a:off x="2212152" y="476672"/>
            <a:ext cx="6948264" cy="54006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noAutofit/>
          </a:bodyPr>
          <a:lstStyle/>
          <a:p>
            <a:pPr>
              <a:spcBef>
                <a:spcPts val="600"/>
              </a:spcBef>
              <a:spcAft>
                <a:spcPts val="600"/>
              </a:spcAft>
              <a:buClr>
                <a:schemeClr val="tx1"/>
              </a:buClr>
              <a:buFont typeface="Monotype Sorts" pitchFamily="2" charset="2"/>
              <a:buChar char="&amp;"/>
            </a:pPr>
            <a:r>
              <a:rPr lang="en-US" altLang="zh-CN" b="1" dirty="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泛型程序设计及</a:t>
            </a:r>
            <a:r>
              <a:rPr lang="en-US" altLang="zh-CN" b="1" dirty="0">
                <a:latin typeface="华文中宋" panose="02010600040101010101" pitchFamily="2" charset="-122"/>
                <a:ea typeface="华文中宋" panose="02010600040101010101" pitchFamily="2" charset="-122"/>
              </a:rPr>
              <a:t>STL</a:t>
            </a:r>
            <a:r>
              <a:rPr lang="zh-CN" altLang="en-US" b="1" dirty="0">
                <a:latin typeface="华文中宋" panose="02010600040101010101" pitchFamily="2" charset="-122"/>
                <a:ea typeface="华文中宋" panose="02010600040101010101" pitchFamily="2" charset="-122"/>
              </a:rPr>
              <a:t>的结构</a:t>
            </a:r>
            <a:endParaRPr lang="en-US" altLang="zh-CN" b="1" dirty="0">
              <a:latin typeface="华文中宋" panose="02010600040101010101" pitchFamily="2" charset="-122"/>
              <a:ea typeface="华文中宋" panose="02010600040101010101" pitchFamily="2" charset="-122"/>
            </a:endParaRPr>
          </a:p>
          <a:p>
            <a:pPr>
              <a:spcBef>
                <a:spcPts val="600"/>
              </a:spcBef>
              <a:spcAft>
                <a:spcPts val="600"/>
              </a:spcAft>
              <a:buClr>
                <a:schemeClr val="tx1"/>
              </a:buClr>
              <a:buFont typeface="Monotype Sorts" pitchFamily="2" charset="2"/>
              <a:buChar char="&amp;"/>
            </a:pPr>
            <a:r>
              <a:rPr lang="en-US" altLang="zh-CN" b="1" dirty="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迭代器</a:t>
            </a:r>
            <a:endParaRPr lang="en-US" altLang="zh-CN" b="1" dirty="0">
              <a:latin typeface="华文中宋" panose="02010600040101010101" pitchFamily="2" charset="-122"/>
              <a:ea typeface="华文中宋" panose="02010600040101010101" pitchFamily="2" charset="-122"/>
            </a:endParaRPr>
          </a:p>
          <a:p>
            <a:pPr>
              <a:spcBef>
                <a:spcPts val="600"/>
              </a:spcBef>
              <a:spcAft>
                <a:spcPts val="600"/>
              </a:spcAft>
              <a:buClr>
                <a:schemeClr val="tx1"/>
              </a:buClr>
              <a:buFont typeface="Monotype Sorts" pitchFamily="2" charset="2"/>
              <a:buChar char="&amp;"/>
            </a:pPr>
            <a:r>
              <a:rPr lang="en-US" altLang="zh-CN" b="1" dirty="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容器的基本功能与分类</a:t>
            </a:r>
            <a:endParaRPr lang="en-US" altLang="zh-CN" b="1" dirty="0">
              <a:latin typeface="华文中宋" panose="02010600040101010101" pitchFamily="2" charset="-122"/>
              <a:ea typeface="华文中宋" panose="02010600040101010101" pitchFamily="2" charset="-122"/>
            </a:endParaRPr>
          </a:p>
          <a:p>
            <a:pPr>
              <a:spcBef>
                <a:spcPts val="600"/>
              </a:spcBef>
              <a:spcAft>
                <a:spcPts val="600"/>
              </a:spcAft>
              <a:buClr>
                <a:schemeClr val="tx1"/>
              </a:buClr>
              <a:buFont typeface="Monotype Sorts" pitchFamily="2" charset="2"/>
              <a:buChar char="&amp;"/>
            </a:pPr>
            <a:r>
              <a:rPr lang="en-US" altLang="zh-CN" b="1" dirty="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顺序容器</a:t>
            </a:r>
            <a:endParaRPr lang="en-US" altLang="zh-CN" b="1" dirty="0">
              <a:latin typeface="华文中宋" panose="02010600040101010101" pitchFamily="2" charset="-122"/>
              <a:ea typeface="华文中宋" panose="02010600040101010101" pitchFamily="2" charset="-122"/>
            </a:endParaRPr>
          </a:p>
          <a:p>
            <a:pPr>
              <a:spcBef>
                <a:spcPts val="600"/>
              </a:spcBef>
              <a:spcAft>
                <a:spcPts val="600"/>
              </a:spcAft>
              <a:buClr>
                <a:schemeClr val="tx1"/>
              </a:buClr>
              <a:buFont typeface="Monotype Sorts" pitchFamily="2" charset="2"/>
              <a:buChar char="&amp;"/>
            </a:pPr>
            <a:r>
              <a:rPr lang="en-US" altLang="zh-CN" b="1" dirty="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关联容器</a:t>
            </a:r>
            <a:endParaRPr lang="en-US" altLang="zh-CN" b="1" dirty="0">
              <a:latin typeface="华文中宋" panose="02010600040101010101" pitchFamily="2" charset="-122"/>
              <a:ea typeface="华文中宋" panose="02010600040101010101" pitchFamily="2" charset="-122"/>
            </a:endParaRPr>
          </a:p>
          <a:p>
            <a:pPr>
              <a:spcBef>
                <a:spcPts val="600"/>
              </a:spcBef>
              <a:spcAft>
                <a:spcPts val="600"/>
              </a:spcAft>
              <a:buClr>
                <a:schemeClr val="tx1"/>
              </a:buClr>
              <a:buFont typeface="Monotype Sorts" pitchFamily="2" charset="2"/>
              <a:buChar char="&amp;"/>
            </a:pPr>
            <a:r>
              <a:rPr lang="en-US" altLang="zh-CN" b="1" dirty="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函数对象</a:t>
            </a:r>
            <a:endParaRPr lang="en-US" altLang="zh-CN" b="1" dirty="0">
              <a:latin typeface="华文中宋" panose="02010600040101010101" pitchFamily="2" charset="-122"/>
              <a:ea typeface="华文中宋" panose="02010600040101010101" pitchFamily="2" charset="-122"/>
            </a:endParaRPr>
          </a:p>
          <a:p>
            <a:pPr>
              <a:spcBef>
                <a:spcPts val="600"/>
              </a:spcBef>
              <a:spcAft>
                <a:spcPts val="600"/>
              </a:spcAft>
              <a:buClr>
                <a:schemeClr val="tx1"/>
              </a:buClr>
              <a:buFont typeface="Monotype Sorts" pitchFamily="2" charset="2"/>
              <a:buChar char="&amp;"/>
            </a:pPr>
            <a:r>
              <a:rPr lang="en-US" altLang="zh-CN" b="1" dirty="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算法</a:t>
            </a:r>
            <a:endParaRPr lang="en-US" altLang="zh-CN" b="1" dirty="0">
              <a:latin typeface="华文中宋" panose="02010600040101010101" pitchFamily="2" charset="-122"/>
              <a:ea typeface="华文中宋" panose="02010600040101010101" pitchFamily="2" charset="-122"/>
            </a:endParaRPr>
          </a:p>
          <a:p>
            <a:pPr>
              <a:spcBef>
                <a:spcPts val="600"/>
              </a:spcBef>
              <a:spcAft>
                <a:spcPts val="600"/>
              </a:spcAft>
              <a:buClr>
                <a:schemeClr val="tx1"/>
              </a:buClr>
              <a:buFont typeface="Monotype Sorts" pitchFamily="2" charset="2"/>
              <a:buChar char="&amp;"/>
            </a:pPr>
            <a:r>
              <a:rPr lang="en-US" altLang="zh-CN" b="1" dirty="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深度探索</a:t>
            </a:r>
            <a:endParaRPr lang="zh-CN" altLang="en-US" b="1" dirty="0">
              <a:latin typeface="华文中宋" panose="02010600040101010101" pitchFamily="2" charset="-122"/>
              <a:ea typeface="华文中宋" panose="02010600040101010101" pitchFamily="2" charset="-122"/>
            </a:endParaRPr>
          </a:p>
        </p:txBody>
      </p:sp>
      <p:sp>
        <p:nvSpPr>
          <p:cNvPr id="687107" name="WordArt 3"/>
          <p:cNvSpPr>
            <a:spLocks noChangeArrowheads="1" noChangeShapeType="1" noTextEdit="1"/>
          </p:cNvSpPr>
          <p:nvPr/>
        </p:nvSpPr>
        <p:spPr bwMode="auto">
          <a:xfrm rot="5373304">
            <a:off x="-1257300" y="2857500"/>
            <a:ext cx="4876800" cy="838200"/>
          </a:xfrm>
          <a:prstGeom prst="rect">
            <a:avLst/>
          </a:prstGeom>
          <a:extLst>
            <a:ext uri="{AF507438-7753-43E0-B8FC-AC1667EBCBE1}">
              <a14:hiddenEffects xmlns:a14="http://schemas.microsoft.com/office/drawing/2010/main">
                <a:effectLst/>
              </a14:hiddenEffects>
            </a:ext>
          </a:extLst>
        </p:spPr>
        <p:txBody>
          <a:bodyPr vert="eaVert" wrap="none" fromWordArt="1">
            <a:prstTxWarp prst="textPlain">
              <a:avLst>
                <a:gd name="adj" fmla="val 50000"/>
              </a:avLst>
            </a:prstTxWarp>
            <a:scene3d>
              <a:camera prst="legacyPerspectiveFront">
                <a:rot lat="20639999" lon="20699999" rev="0"/>
              </a:camera>
              <a:lightRig rig="legacyFlat4" dir="b"/>
            </a:scene3d>
            <a:sp3d extrusionH="201600" prstMaterial="legacyPlastic">
              <a:extrusionClr>
                <a:srgbClr val="FF9966"/>
              </a:extrusionClr>
              <a:contourClr>
                <a:schemeClr val="tx1"/>
              </a:contourClr>
            </a:sp3d>
          </a:bodyPr>
          <a:lstStyle/>
          <a:p>
            <a:pPr fontAlgn="auto"/>
            <a:r>
              <a:rPr lang="zh-CN" altLang="en-US" sz="3600" kern="10" spc="1800" dirty="0">
                <a:ln w="9525">
                  <a:round/>
                </a:ln>
                <a:latin typeface="隶书" panose="02010509060101010101" pitchFamily="49" charset="-122"/>
                <a:ea typeface="隶书" panose="02010509060101010101" pitchFamily="49" charset="-122"/>
              </a:rPr>
              <a:t>本讲提纲</a:t>
            </a:r>
            <a:endParaRPr lang="zh-CN" altLang="en-US" sz="3600" kern="10" spc="1800" dirty="0">
              <a:ln w="9525">
                <a:round/>
              </a:ln>
              <a:latin typeface="隶书" panose="02010509060101010101" pitchFamily="49" charset="-122"/>
              <a:ea typeface="隶书" panose="02010509060101010101" pitchFamily="49" charset="-122"/>
            </a:endParaRPr>
          </a:p>
        </p:txBody>
      </p:sp>
      <p:pic>
        <p:nvPicPr>
          <p:cNvPr id="687109" name="Picture 5" descr="BS00975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096526" y="0"/>
            <a:ext cx="1047474" cy="9126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bwMode="auto">
          <a:xfrm>
            <a:off x="539552" y="2276872"/>
            <a:ext cx="7990656"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a:pPr>
            <a:r>
              <a:rPr lang="zh-CN" altLang="en-US" sz="6000" b="1" dirty="0">
                <a:ea typeface="华文彩云" panose="02010800040101010101" pitchFamily="2" charset="-122"/>
              </a:rPr>
              <a:t>泛型程序设计及</a:t>
            </a:r>
            <a:r>
              <a:rPr lang="en-US" altLang="zh-CN" sz="6000" b="1" dirty="0">
                <a:ea typeface="华文彩云" panose="02010800040101010101" pitchFamily="2" charset="-122"/>
              </a:rPr>
              <a:t>STL</a:t>
            </a:r>
            <a:r>
              <a:rPr lang="zh-CN" altLang="en-US" sz="6000" b="1" dirty="0">
                <a:ea typeface="华文彩云" panose="02010800040101010101" pitchFamily="2" charset="-122"/>
              </a:rPr>
              <a:t>的结构</a:t>
            </a:r>
            <a:endParaRPr lang="zh-CN" altLang="en-US" sz="6000" dirty="0"/>
          </a:p>
        </p:txBody>
      </p:sp>
      <p:pic>
        <p:nvPicPr>
          <p:cNvPr id="641032" name="Picture 8" descr="surfer4"/>
          <p:cNvPicPr>
            <a:picLocks noChangeAspect="1" noChangeArrowheads="1" noCrop="1"/>
          </p:cNvPicPr>
          <p:nvPr/>
        </p:nvPicPr>
        <p:blipFill>
          <a:blip r:embed="rId1"/>
          <a:srcRect/>
          <a:stretch>
            <a:fillRect/>
          </a:stretch>
        </p:blipFill>
        <p:spPr bwMode="auto">
          <a:xfrm>
            <a:off x="6948264" y="0"/>
            <a:ext cx="2000251" cy="266700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1403648" y="4221088"/>
            <a:ext cx="6968803" cy="1754326"/>
          </a:xfrm>
          <a:prstGeom prst="rect">
            <a:avLst/>
          </a:prstGeom>
        </p:spPr>
        <p:txBody>
          <a:bodyPr wrap="square">
            <a:spAutoFit/>
          </a:bodyPr>
          <a:lstStyle/>
          <a:p>
            <a:pPr algn="l">
              <a:lnSpc>
                <a:spcPct val="150000"/>
              </a:lnSpc>
            </a:pPr>
            <a:r>
              <a:rPr lang="zh-CN" altLang="en-US" dirty="0"/>
              <a:t>编写不依赖于具体数据类型的程序</a:t>
            </a:r>
            <a:endParaRPr lang="en-US" altLang="zh-CN" dirty="0"/>
          </a:p>
          <a:p>
            <a:pPr algn="l">
              <a:lnSpc>
                <a:spcPct val="150000"/>
              </a:lnSpc>
            </a:pPr>
            <a:r>
              <a:rPr lang="zh-CN" altLang="en-US" dirty="0"/>
              <a:t>将算法从特定的数据结构中抽象出来，成为通用的</a:t>
            </a:r>
            <a:endParaRPr lang="zh-CN" altLang="en-US" dirty="0"/>
          </a:p>
          <a:p>
            <a:pPr algn="l">
              <a:lnSpc>
                <a:spcPct val="150000"/>
              </a:lnSpc>
            </a:pPr>
            <a:r>
              <a:rPr lang="en-US" altLang="zh-CN" dirty="0"/>
              <a:t>C++</a:t>
            </a:r>
            <a:r>
              <a:rPr lang="zh-CN" altLang="en-US" dirty="0"/>
              <a:t>的模板为泛型程序设计奠定了关键的基础</a:t>
            </a:r>
            <a:endParaRPr lang="en-US" altLang="zh-CN"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2"/>
          <p:cNvSpPr>
            <a:spLocks noGrp="1"/>
          </p:cNvSpPr>
          <p:nvPr>
            <p:ph type="title"/>
          </p:nvPr>
        </p:nvSpPr>
        <p:spPr>
          <a:xfrm>
            <a:off x="539552" y="332656"/>
            <a:ext cx="8230076" cy="799683"/>
          </a:xfrm>
        </p:spPr>
        <p:txBody>
          <a:bodyPr/>
          <a:lstStyle/>
          <a:p>
            <a:r>
              <a:rPr lang="zh-CN" altLang="en-US" dirty="0"/>
              <a:t>术语：概念</a:t>
            </a:r>
            <a:endParaRPr lang="zh-CN" altLang="en-US" dirty="0"/>
          </a:p>
        </p:txBody>
      </p:sp>
      <p:sp>
        <p:nvSpPr>
          <p:cNvPr id="15363" name="内容占位符 3"/>
          <p:cNvSpPr>
            <a:spLocks noGrp="1"/>
          </p:cNvSpPr>
          <p:nvPr>
            <p:ph idx="1"/>
          </p:nvPr>
        </p:nvSpPr>
        <p:spPr>
          <a:xfrm>
            <a:off x="395536" y="1340768"/>
            <a:ext cx="8496944" cy="3400607"/>
          </a:xfrm>
        </p:spPr>
        <p:txBody>
          <a:bodyPr/>
          <a:lstStyle/>
          <a:p>
            <a:pPr>
              <a:spcBef>
                <a:spcPts val="450"/>
              </a:spcBef>
            </a:pPr>
            <a:r>
              <a:rPr lang="zh-CN" altLang="en-US" sz="2400" b="1" dirty="0">
                <a:latin typeface="微软雅黑" panose="020B0503020204020204" pitchFamily="34" charset="-122"/>
                <a:ea typeface="微软雅黑" panose="020B0503020204020204" pitchFamily="34" charset="-122"/>
              </a:rPr>
              <a:t>用来界定具备一定功能的数据类型。例如：</a:t>
            </a:r>
            <a:endParaRPr lang="en-US" altLang="zh-CN" sz="2400" b="1" dirty="0">
              <a:latin typeface="微软雅黑" panose="020B0503020204020204" pitchFamily="34" charset="-122"/>
              <a:ea typeface="微软雅黑" panose="020B0503020204020204" pitchFamily="34" charset="-122"/>
            </a:endParaRPr>
          </a:p>
          <a:p>
            <a:pPr lvl="1">
              <a:spcBef>
                <a:spcPts val="450"/>
              </a:spcBef>
            </a:pPr>
            <a:r>
              <a:rPr lang="zh-CN" altLang="en-US" sz="2000" b="1" dirty="0">
                <a:solidFill>
                  <a:srgbClr val="FFFF00"/>
                </a:solidFill>
                <a:latin typeface="微软雅黑" panose="020B0503020204020204" pitchFamily="34" charset="-122"/>
                <a:ea typeface="微软雅黑" panose="020B0503020204020204" pitchFamily="34" charset="-122"/>
              </a:rPr>
              <a:t>将“可以比大小的所有数据类型（有比较运算符）”这一概念记为</a:t>
            </a:r>
            <a:r>
              <a:rPr lang="en-US" altLang="zh-CN" sz="2000" b="1" dirty="0">
                <a:solidFill>
                  <a:srgbClr val="FFFF00"/>
                </a:solidFill>
                <a:latin typeface="微软雅黑" panose="020B0503020204020204" pitchFamily="34" charset="-122"/>
                <a:ea typeface="微软雅黑" panose="020B0503020204020204" pitchFamily="34" charset="-122"/>
              </a:rPr>
              <a:t>Comparable</a:t>
            </a:r>
            <a:endParaRPr lang="en-US" altLang="zh-CN" sz="2000" b="1" dirty="0">
              <a:solidFill>
                <a:srgbClr val="FFFF00"/>
              </a:solidFill>
              <a:latin typeface="微软雅黑" panose="020B0503020204020204" pitchFamily="34" charset="-122"/>
              <a:ea typeface="微软雅黑" panose="020B0503020204020204" pitchFamily="34" charset="-122"/>
            </a:endParaRPr>
          </a:p>
          <a:p>
            <a:pPr lvl="1">
              <a:spcBef>
                <a:spcPts val="450"/>
              </a:spcBef>
            </a:pPr>
            <a:r>
              <a:rPr lang="zh-CN" altLang="en-US" sz="2000" b="1" dirty="0">
                <a:solidFill>
                  <a:srgbClr val="FFFF00"/>
                </a:solidFill>
                <a:latin typeface="微软雅黑" panose="020B0503020204020204" pitchFamily="34" charset="-122"/>
                <a:ea typeface="微软雅黑" panose="020B0503020204020204" pitchFamily="34" charset="-122"/>
              </a:rPr>
              <a:t>将“具有公有的复制构造函数并可以用‘</a:t>
            </a:r>
            <a:r>
              <a:rPr lang="en-US" altLang="zh-CN" sz="2000" b="1" dirty="0">
                <a:solidFill>
                  <a:srgbClr val="FFFF00"/>
                </a:solidFill>
                <a:latin typeface="微软雅黑" panose="020B0503020204020204" pitchFamily="34" charset="-122"/>
                <a:ea typeface="微软雅黑" panose="020B0503020204020204" pitchFamily="34" charset="-122"/>
              </a:rPr>
              <a:t>=’</a:t>
            </a:r>
            <a:r>
              <a:rPr lang="zh-CN" altLang="en-US" sz="2000" b="1" dirty="0">
                <a:solidFill>
                  <a:srgbClr val="FFFF00"/>
                </a:solidFill>
                <a:latin typeface="微软雅黑" panose="020B0503020204020204" pitchFamily="34" charset="-122"/>
                <a:ea typeface="微软雅黑" panose="020B0503020204020204" pitchFamily="34" charset="-122"/>
              </a:rPr>
              <a:t>赋值的数据类型”这一概念记为</a:t>
            </a:r>
            <a:r>
              <a:rPr lang="en-US" altLang="zh-CN" sz="2000" b="1" dirty="0">
                <a:solidFill>
                  <a:srgbClr val="FFFF00"/>
                </a:solidFill>
                <a:latin typeface="微软雅黑" panose="020B0503020204020204" pitchFamily="34" charset="-122"/>
                <a:ea typeface="微软雅黑" panose="020B0503020204020204" pitchFamily="34" charset="-122"/>
              </a:rPr>
              <a:t>Assignable</a:t>
            </a:r>
            <a:endParaRPr lang="en-US" altLang="zh-CN" sz="2000" b="1" dirty="0">
              <a:solidFill>
                <a:srgbClr val="FFFF00"/>
              </a:solidFill>
              <a:latin typeface="微软雅黑" panose="020B0503020204020204" pitchFamily="34" charset="-122"/>
              <a:ea typeface="微软雅黑" panose="020B0503020204020204" pitchFamily="34" charset="-122"/>
            </a:endParaRPr>
          </a:p>
          <a:p>
            <a:pPr lvl="1">
              <a:spcBef>
                <a:spcPts val="450"/>
              </a:spcBef>
            </a:pPr>
            <a:r>
              <a:rPr lang="zh-CN" altLang="en-US" sz="2000" b="1" dirty="0">
                <a:solidFill>
                  <a:srgbClr val="FFFF00"/>
                </a:solidFill>
                <a:latin typeface="微软雅黑" panose="020B0503020204020204" pitchFamily="34" charset="-122"/>
                <a:ea typeface="微软雅黑" panose="020B0503020204020204" pitchFamily="34" charset="-122"/>
              </a:rPr>
              <a:t>将“可以比大小、具有公有的复制构造函数并可以用‘</a:t>
            </a:r>
            <a:r>
              <a:rPr lang="en-US" altLang="zh-CN" sz="2000" b="1" dirty="0">
                <a:solidFill>
                  <a:srgbClr val="FFFF00"/>
                </a:solidFill>
                <a:latin typeface="微软雅黑" panose="020B0503020204020204" pitchFamily="34" charset="-122"/>
                <a:ea typeface="微软雅黑" panose="020B0503020204020204" pitchFamily="34" charset="-122"/>
              </a:rPr>
              <a:t>=’</a:t>
            </a:r>
            <a:r>
              <a:rPr lang="zh-CN" altLang="en-US" sz="2000" b="1" dirty="0">
                <a:solidFill>
                  <a:srgbClr val="FFFF00"/>
                </a:solidFill>
                <a:latin typeface="微软雅黑" panose="020B0503020204020204" pitchFamily="34" charset="-122"/>
                <a:ea typeface="微软雅黑" panose="020B0503020204020204" pitchFamily="34" charset="-122"/>
              </a:rPr>
              <a:t>赋值的所有数据类型”这个概念记作</a:t>
            </a:r>
            <a:r>
              <a:rPr lang="en-US" altLang="zh-CN" sz="2000" b="1" dirty="0">
                <a:solidFill>
                  <a:srgbClr val="FFFF00"/>
                </a:solidFill>
                <a:latin typeface="微软雅黑" panose="020B0503020204020204" pitchFamily="34" charset="-122"/>
                <a:ea typeface="微软雅黑" panose="020B0503020204020204" pitchFamily="34" charset="-122"/>
              </a:rPr>
              <a:t>Sortable</a:t>
            </a:r>
            <a:r>
              <a:rPr lang="zh-CN" altLang="en-US" sz="2000" b="1" dirty="0">
                <a:solidFill>
                  <a:srgbClr val="FFFF00"/>
                </a:solidFill>
                <a:latin typeface="微软雅黑" panose="020B0503020204020204" pitchFamily="34" charset="-122"/>
                <a:ea typeface="微软雅黑" panose="020B0503020204020204" pitchFamily="34" charset="-122"/>
              </a:rPr>
              <a:t>。</a:t>
            </a:r>
            <a:endParaRPr lang="en-US" altLang="zh-CN" sz="2000" b="1" dirty="0">
              <a:solidFill>
                <a:srgbClr val="FFFF00"/>
              </a:solidFill>
              <a:latin typeface="微软雅黑" panose="020B0503020204020204" pitchFamily="34" charset="-122"/>
              <a:ea typeface="微软雅黑" panose="020B0503020204020204" pitchFamily="34" charset="-122"/>
            </a:endParaRPr>
          </a:p>
          <a:p>
            <a:pPr eaLnBrk="1" hangingPunct="1">
              <a:spcBef>
                <a:spcPct val="0"/>
              </a:spcBef>
            </a:pPr>
            <a:r>
              <a:rPr lang="zh-CN" altLang="en-US" sz="2400" b="1" dirty="0">
                <a:latin typeface="微软雅黑" panose="020B0503020204020204" pitchFamily="34" charset="-122"/>
                <a:ea typeface="微软雅黑" panose="020B0503020204020204" pitchFamily="34" charset="-122"/>
              </a:rPr>
              <a:t>对于两个不同的概念</a:t>
            </a:r>
            <a:r>
              <a:rPr lang="en-US" altLang="zh-CN" sz="2400" b="1" dirty="0">
                <a:latin typeface="微软雅黑" panose="020B0503020204020204" pitchFamily="34" charset="-122"/>
                <a:ea typeface="微软雅黑" panose="020B0503020204020204" pitchFamily="34" charset="-122"/>
              </a:rPr>
              <a:t>A</a:t>
            </a:r>
            <a:r>
              <a:rPr lang="zh-CN" altLang="en-US" sz="2400" b="1" dirty="0">
                <a:latin typeface="微软雅黑" panose="020B0503020204020204" pitchFamily="34" charset="-122"/>
                <a:ea typeface="微软雅黑" panose="020B0503020204020204" pitchFamily="34" charset="-122"/>
              </a:rPr>
              <a:t>和</a:t>
            </a:r>
            <a:r>
              <a:rPr lang="en-US" altLang="zh-CN" sz="2400" b="1" dirty="0">
                <a:latin typeface="微软雅黑" panose="020B0503020204020204" pitchFamily="34" charset="-122"/>
                <a:ea typeface="微软雅黑" panose="020B0503020204020204" pitchFamily="34" charset="-122"/>
              </a:rPr>
              <a:t>B</a:t>
            </a:r>
            <a:r>
              <a:rPr lang="zh-CN" altLang="en-US" sz="2400" b="1" dirty="0">
                <a:latin typeface="微软雅黑" panose="020B0503020204020204" pitchFamily="34" charset="-122"/>
                <a:ea typeface="微软雅黑" panose="020B0503020204020204" pitchFamily="34" charset="-122"/>
              </a:rPr>
              <a:t>，如果概念</a:t>
            </a:r>
            <a:r>
              <a:rPr lang="en-US" altLang="zh-CN" sz="2400" b="1" dirty="0">
                <a:latin typeface="微软雅黑" panose="020B0503020204020204" pitchFamily="34" charset="-122"/>
                <a:ea typeface="微软雅黑" panose="020B0503020204020204" pitchFamily="34" charset="-122"/>
              </a:rPr>
              <a:t>A</a:t>
            </a:r>
            <a:r>
              <a:rPr lang="zh-CN" altLang="en-US" sz="2400" b="1" dirty="0">
                <a:latin typeface="微软雅黑" panose="020B0503020204020204" pitchFamily="34" charset="-122"/>
                <a:ea typeface="微软雅黑" panose="020B0503020204020204" pitchFamily="34" charset="-122"/>
              </a:rPr>
              <a:t>所需求的所有功能也是概念</a:t>
            </a:r>
            <a:r>
              <a:rPr lang="en-US" altLang="zh-CN" sz="2400" b="1" dirty="0">
                <a:latin typeface="微软雅黑" panose="020B0503020204020204" pitchFamily="34" charset="-122"/>
                <a:ea typeface="微软雅黑" panose="020B0503020204020204" pitchFamily="34" charset="-122"/>
              </a:rPr>
              <a:t>B</a:t>
            </a:r>
            <a:r>
              <a:rPr lang="zh-CN" altLang="en-US" sz="2400" b="1" dirty="0">
                <a:latin typeface="微软雅黑" panose="020B0503020204020204" pitchFamily="34" charset="-122"/>
                <a:ea typeface="微软雅黑" panose="020B0503020204020204" pitchFamily="34" charset="-122"/>
              </a:rPr>
              <a:t>所需求的功能，那么就说概念</a:t>
            </a:r>
            <a:r>
              <a:rPr lang="en-US" altLang="zh-CN" sz="2400" b="1" dirty="0">
                <a:latin typeface="微软雅黑" panose="020B0503020204020204" pitchFamily="34" charset="-122"/>
                <a:ea typeface="微软雅黑" panose="020B0503020204020204" pitchFamily="34" charset="-122"/>
              </a:rPr>
              <a:t>B</a:t>
            </a:r>
            <a:r>
              <a:rPr lang="zh-CN" altLang="en-US" sz="2400" b="1" dirty="0">
                <a:latin typeface="微软雅黑" panose="020B0503020204020204" pitchFamily="34" charset="-122"/>
                <a:ea typeface="微软雅黑" panose="020B0503020204020204" pitchFamily="34" charset="-122"/>
              </a:rPr>
              <a:t>是概念</a:t>
            </a:r>
            <a:r>
              <a:rPr lang="en-US" altLang="zh-CN" sz="2400" b="1" dirty="0">
                <a:latin typeface="微软雅黑" panose="020B0503020204020204" pitchFamily="34" charset="-122"/>
                <a:ea typeface="微软雅黑" panose="020B0503020204020204" pitchFamily="34" charset="-122"/>
              </a:rPr>
              <a:t>A</a:t>
            </a:r>
            <a:r>
              <a:rPr lang="zh-CN" altLang="en-US" sz="2400" b="1" dirty="0">
                <a:latin typeface="微软雅黑" panose="020B0503020204020204" pitchFamily="34" charset="-122"/>
                <a:ea typeface="微软雅黑" panose="020B0503020204020204" pitchFamily="34" charset="-122"/>
              </a:rPr>
              <a:t>的子概念。例如：</a:t>
            </a:r>
            <a:endParaRPr lang="en-US" altLang="zh-CN" sz="2400" b="1" dirty="0">
              <a:latin typeface="微软雅黑" panose="020B0503020204020204" pitchFamily="34" charset="-122"/>
              <a:ea typeface="微软雅黑" panose="020B0503020204020204" pitchFamily="34" charset="-122"/>
            </a:endParaRPr>
          </a:p>
          <a:p>
            <a:pPr lvl="1" eaLnBrk="1" hangingPunct="1">
              <a:lnSpc>
                <a:spcPct val="150000"/>
              </a:lnSpc>
              <a:spcBef>
                <a:spcPct val="0"/>
              </a:spcBef>
            </a:pPr>
            <a:r>
              <a:rPr lang="en-US" altLang="zh-CN" sz="2000" b="1" dirty="0">
                <a:latin typeface="微软雅黑" panose="020B0503020204020204" pitchFamily="34" charset="-122"/>
                <a:ea typeface="微软雅黑" panose="020B0503020204020204" pitchFamily="34" charset="-122"/>
              </a:rPr>
              <a:t>Sortable</a:t>
            </a:r>
            <a:r>
              <a:rPr lang="zh-CN" altLang="en-US" sz="2000" b="1" dirty="0">
                <a:latin typeface="微软雅黑" panose="020B0503020204020204" pitchFamily="34" charset="-122"/>
                <a:ea typeface="微软雅黑" panose="020B0503020204020204" pitchFamily="34" charset="-122"/>
              </a:rPr>
              <a:t>既是</a:t>
            </a:r>
            <a:r>
              <a:rPr lang="en-US" altLang="zh-CN" sz="2000" b="1" dirty="0">
                <a:latin typeface="微软雅黑" panose="020B0503020204020204" pitchFamily="34" charset="-122"/>
                <a:ea typeface="微软雅黑" panose="020B0503020204020204" pitchFamily="34" charset="-122"/>
              </a:rPr>
              <a:t>Comparable</a:t>
            </a:r>
            <a:r>
              <a:rPr lang="zh-CN" altLang="en-US" sz="2000" b="1" dirty="0">
                <a:latin typeface="微软雅黑" panose="020B0503020204020204" pitchFamily="34" charset="-122"/>
                <a:ea typeface="微软雅黑" panose="020B0503020204020204" pitchFamily="34" charset="-122"/>
              </a:rPr>
              <a:t>的子概念，也是</a:t>
            </a:r>
            <a:r>
              <a:rPr lang="en-US" altLang="zh-CN" sz="2000" b="1" dirty="0">
                <a:latin typeface="微软雅黑" panose="020B0503020204020204" pitchFamily="34" charset="-122"/>
                <a:ea typeface="微软雅黑" panose="020B0503020204020204" pitchFamily="34" charset="-122"/>
              </a:rPr>
              <a:t>Assignable</a:t>
            </a:r>
            <a:r>
              <a:rPr lang="zh-CN" altLang="en-US" sz="2000" b="1" dirty="0">
                <a:latin typeface="微软雅黑" panose="020B0503020204020204" pitchFamily="34" charset="-122"/>
                <a:ea typeface="微软雅黑" panose="020B0503020204020204" pitchFamily="34" charset="-122"/>
              </a:rPr>
              <a:t>的子概念</a:t>
            </a:r>
            <a:endParaRPr lang="en-US" altLang="zh-CN" sz="2000" b="1" dirty="0">
              <a:latin typeface="微软雅黑" panose="020B0503020204020204" pitchFamily="34" charset="-122"/>
              <a:ea typeface="微软雅黑" panose="020B0503020204020204" pitchFamily="34" charset="-122"/>
            </a:endParaRPr>
          </a:p>
          <a:p>
            <a:pPr eaLnBrk="1" hangingPunct="1">
              <a:spcBef>
                <a:spcPct val="0"/>
              </a:spcBef>
            </a:pPr>
            <a:r>
              <a:rPr lang="en-US" altLang="zh-CN" sz="2400" b="1" dirty="0">
                <a:latin typeface="微软雅黑" panose="020B0503020204020204" pitchFamily="34" charset="-122"/>
                <a:ea typeface="微软雅黑" panose="020B0503020204020204" pitchFamily="34" charset="-122"/>
              </a:rPr>
              <a:t>ISO/IEC TS 19217:2015 Information technology -- Programming languages -- C++ Extensions for concepts</a:t>
            </a:r>
            <a:endParaRPr lang="en-US" altLang="zh-CN" sz="24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489778" y="894624"/>
            <a:ext cx="8230076" cy="799683"/>
          </a:xfrm>
        </p:spPr>
        <p:txBody>
          <a:bodyPr/>
          <a:lstStyle/>
          <a:p>
            <a:r>
              <a:rPr lang="zh-CN" altLang="en-US" dirty="0"/>
              <a:t>术语：模型</a:t>
            </a:r>
            <a:endParaRPr lang="zh-CN" altLang="en-US" dirty="0"/>
          </a:p>
        </p:txBody>
      </p:sp>
      <p:sp>
        <p:nvSpPr>
          <p:cNvPr id="17411" name="内容占位符 2"/>
          <p:cNvSpPr>
            <a:spLocks noGrp="1"/>
          </p:cNvSpPr>
          <p:nvPr>
            <p:ph idx="1"/>
          </p:nvPr>
        </p:nvSpPr>
        <p:spPr>
          <a:xfrm>
            <a:off x="512251" y="2204864"/>
            <a:ext cx="8055424" cy="1874259"/>
          </a:xfrm>
        </p:spPr>
        <p:txBody>
          <a:bodyPr/>
          <a:lstStyle/>
          <a:p>
            <a:pPr>
              <a:lnSpc>
                <a:spcPct val="150000"/>
              </a:lnSpc>
            </a:pPr>
            <a:r>
              <a:rPr lang="zh-CN" altLang="en-US" b="1">
                <a:latin typeface="微软雅黑" panose="020B0503020204020204" pitchFamily="34" charset="-122"/>
                <a:ea typeface="微软雅黑" panose="020B0503020204020204" pitchFamily="34" charset="-122"/>
              </a:rPr>
              <a:t>模型（</a:t>
            </a:r>
            <a:r>
              <a:rPr lang="en-US" altLang="zh-CN" b="1">
                <a:latin typeface="微软雅黑" panose="020B0503020204020204" pitchFamily="34" charset="-122"/>
                <a:ea typeface="微软雅黑" panose="020B0503020204020204" pitchFamily="34" charset="-122"/>
              </a:rPr>
              <a:t>model</a:t>
            </a:r>
            <a:r>
              <a:rPr lang="zh-CN" altLang="en-US" b="1">
                <a:latin typeface="微软雅黑" panose="020B0503020204020204" pitchFamily="34" charset="-122"/>
                <a:ea typeface="微软雅黑" panose="020B0503020204020204" pitchFamily="34" charset="-122"/>
              </a:rPr>
              <a:t>）：符合一个概念的数据类型称为该概念的模型，例如：</a:t>
            </a:r>
            <a:endParaRPr lang="en-US" altLang="zh-CN" b="1">
              <a:latin typeface="微软雅黑" panose="020B0503020204020204" pitchFamily="34" charset="-122"/>
              <a:ea typeface="微软雅黑" panose="020B0503020204020204" pitchFamily="34" charset="-122"/>
            </a:endParaRPr>
          </a:p>
          <a:p>
            <a:pPr lvl="1">
              <a:lnSpc>
                <a:spcPct val="150000"/>
              </a:lnSpc>
            </a:pPr>
            <a:r>
              <a:rPr lang="en-US" altLang="zh-CN" b="1">
                <a:latin typeface="微软雅黑" panose="020B0503020204020204" pitchFamily="34" charset="-122"/>
                <a:ea typeface="微软雅黑" panose="020B0503020204020204" pitchFamily="34" charset="-122"/>
              </a:rPr>
              <a:t>int</a:t>
            </a:r>
            <a:r>
              <a:rPr lang="zh-CN" altLang="en-US" b="1">
                <a:latin typeface="微软雅黑" panose="020B0503020204020204" pitchFamily="34" charset="-122"/>
                <a:ea typeface="微软雅黑" panose="020B0503020204020204" pitchFamily="34" charset="-122"/>
              </a:rPr>
              <a:t>型是</a:t>
            </a:r>
            <a:r>
              <a:rPr lang="en-US" altLang="zh-CN" b="1">
                <a:latin typeface="微软雅黑" panose="020B0503020204020204" pitchFamily="34" charset="-122"/>
                <a:ea typeface="微软雅黑" panose="020B0503020204020204" pitchFamily="34" charset="-122"/>
              </a:rPr>
              <a:t>Comparable</a:t>
            </a:r>
            <a:r>
              <a:rPr lang="zh-CN" altLang="en-US" b="1">
                <a:latin typeface="微软雅黑" panose="020B0503020204020204" pitchFamily="34" charset="-122"/>
                <a:ea typeface="微软雅黑" panose="020B0503020204020204" pitchFamily="34" charset="-122"/>
              </a:rPr>
              <a:t>概念的模型。</a:t>
            </a:r>
            <a:endParaRPr lang="en-US" altLang="zh-CN" b="1">
              <a:latin typeface="微软雅黑" panose="020B0503020204020204" pitchFamily="34" charset="-122"/>
              <a:ea typeface="微软雅黑" panose="020B0503020204020204" pitchFamily="34" charset="-122"/>
            </a:endParaRPr>
          </a:p>
          <a:p>
            <a:pPr lvl="1">
              <a:lnSpc>
                <a:spcPct val="150000"/>
              </a:lnSpc>
            </a:pPr>
            <a:r>
              <a:rPr lang="zh-CN" altLang="en-US" b="1">
                <a:latin typeface="微软雅黑" panose="020B0503020204020204" pitchFamily="34" charset="-122"/>
                <a:ea typeface="微软雅黑" panose="020B0503020204020204" pitchFamily="34" charset="-122"/>
              </a:rPr>
              <a:t>静态数组类型不是</a:t>
            </a:r>
            <a:r>
              <a:rPr lang="en-US" altLang="zh-CN" b="1">
                <a:latin typeface="微软雅黑" panose="020B0503020204020204" pitchFamily="34" charset="-122"/>
                <a:ea typeface="微软雅黑" panose="020B0503020204020204" pitchFamily="34" charset="-122"/>
              </a:rPr>
              <a:t>Assignable</a:t>
            </a:r>
            <a:r>
              <a:rPr lang="zh-CN" altLang="en-US" b="1">
                <a:latin typeface="微软雅黑" panose="020B0503020204020204" pitchFamily="34" charset="-122"/>
                <a:ea typeface="微软雅黑" panose="020B0503020204020204" pitchFamily="34" charset="-122"/>
              </a:rPr>
              <a:t>概念的模型（无法用“</a:t>
            </a:r>
            <a:r>
              <a:rPr lang="en-US" altLang="zh-CN" b="1">
                <a:latin typeface="微软雅黑" panose="020B0503020204020204" pitchFamily="34" charset="-122"/>
                <a:ea typeface="微软雅黑" panose="020B0503020204020204" pitchFamily="34" charset="-122"/>
              </a:rPr>
              <a:t>=”</a:t>
            </a:r>
            <a:r>
              <a:rPr lang="zh-CN" altLang="en-US" b="1">
                <a:latin typeface="微软雅黑" panose="020B0503020204020204" pitchFamily="34" charset="-122"/>
                <a:ea typeface="微软雅黑" panose="020B0503020204020204" pitchFamily="34" charset="-122"/>
              </a:rPr>
              <a:t>给整个静态数组赋值）</a:t>
            </a:r>
            <a:endParaRPr lang="en-US" altLang="zh-CN" b="1">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xfrm>
            <a:off x="683568" y="620688"/>
            <a:ext cx="8230076" cy="799683"/>
          </a:xfrm>
        </p:spPr>
        <p:txBody>
          <a:bodyPr/>
          <a:lstStyle/>
          <a:p>
            <a:r>
              <a:rPr lang="zh-CN" altLang="en-US" dirty="0"/>
              <a:t>用概念做模板参数名</a:t>
            </a:r>
            <a:endParaRPr lang="zh-CN" altLang="en-US" dirty="0"/>
          </a:p>
        </p:txBody>
      </p:sp>
      <p:sp>
        <p:nvSpPr>
          <p:cNvPr id="18435" name="内容占位符 2"/>
          <p:cNvSpPr>
            <a:spLocks noGrp="1"/>
          </p:cNvSpPr>
          <p:nvPr>
            <p:ph idx="1"/>
          </p:nvPr>
        </p:nvSpPr>
        <p:spPr>
          <a:xfrm>
            <a:off x="667197" y="1772816"/>
            <a:ext cx="7948323" cy="2623961"/>
          </a:xfrm>
        </p:spPr>
        <p:txBody>
          <a:bodyPr/>
          <a:lstStyle/>
          <a:p>
            <a:pPr>
              <a:spcBef>
                <a:spcPts val="450"/>
              </a:spcBef>
            </a:pPr>
            <a:r>
              <a:rPr lang="zh-CN" altLang="en-US" b="1" dirty="0">
                <a:ea typeface="微软雅黑" panose="020B0503020204020204" pitchFamily="34" charset="-122"/>
              </a:rPr>
              <a:t>很多</a:t>
            </a:r>
            <a:r>
              <a:rPr lang="en-US" altLang="zh-CN" b="1" dirty="0">
                <a:ea typeface="微软雅黑" panose="020B0503020204020204" pitchFamily="34" charset="-122"/>
              </a:rPr>
              <a:t>STL</a:t>
            </a:r>
            <a:r>
              <a:rPr lang="zh-CN" altLang="en-US" b="1" dirty="0">
                <a:ea typeface="微软雅黑" panose="020B0503020204020204" pitchFamily="34" charset="-122"/>
              </a:rPr>
              <a:t>的实现代码就是使用概念来命名模板参数的。</a:t>
            </a:r>
            <a:endParaRPr lang="en-US" altLang="zh-CN" b="1" dirty="0">
              <a:ea typeface="微软雅黑" panose="020B0503020204020204" pitchFamily="34" charset="-122"/>
            </a:endParaRPr>
          </a:p>
          <a:p>
            <a:pPr>
              <a:spcBef>
                <a:spcPts val="450"/>
              </a:spcBef>
            </a:pPr>
            <a:r>
              <a:rPr lang="zh-CN" altLang="en-US" b="1" dirty="0">
                <a:ea typeface="微软雅黑" panose="020B0503020204020204" pitchFamily="34" charset="-122"/>
              </a:rPr>
              <a:t>为概念赋予一个名称，并使用该名称作为模板参数名。</a:t>
            </a:r>
            <a:endParaRPr lang="en-US" altLang="zh-CN" b="1" dirty="0">
              <a:ea typeface="微软雅黑" panose="020B0503020204020204" pitchFamily="34" charset="-122"/>
            </a:endParaRPr>
          </a:p>
          <a:p>
            <a:pPr>
              <a:spcBef>
                <a:spcPts val="450"/>
              </a:spcBef>
            </a:pPr>
            <a:r>
              <a:rPr lang="zh-CN" altLang="en-US" b="1" dirty="0">
                <a:ea typeface="微软雅黑" panose="020B0503020204020204" pitchFamily="34" charset="-122"/>
              </a:rPr>
              <a:t>例如</a:t>
            </a:r>
            <a:endParaRPr lang="en-US" altLang="zh-CN" b="1" dirty="0">
              <a:ea typeface="微软雅黑" panose="020B0503020204020204" pitchFamily="34" charset="-122"/>
            </a:endParaRPr>
          </a:p>
          <a:p>
            <a:pPr lvl="1">
              <a:spcBef>
                <a:spcPts val="450"/>
              </a:spcBef>
            </a:pPr>
            <a:r>
              <a:rPr lang="zh-CN" altLang="en-US" b="1" dirty="0">
                <a:ea typeface="微软雅黑" panose="020B0503020204020204" pitchFamily="34" charset="-122"/>
              </a:rPr>
              <a:t>表示</a:t>
            </a:r>
            <a:r>
              <a:rPr lang="en-US" altLang="zh-CN" b="1" dirty="0" err="1">
                <a:ea typeface="微软雅黑" panose="020B0503020204020204" pitchFamily="34" charset="-122"/>
              </a:rPr>
              <a:t>insertionSort</a:t>
            </a:r>
            <a:r>
              <a:rPr lang="zh-CN" altLang="en-US" b="1" dirty="0">
                <a:ea typeface="微软雅黑" panose="020B0503020204020204" pitchFamily="34" charset="-122"/>
              </a:rPr>
              <a:t>这样一个函数模板的原型：</a:t>
            </a:r>
            <a:endParaRPr lang="zh-CN" altLang="en-US" b="1" dirty="0">
              <a:ea typeface="微软雅黑" panose="020B0503020204020204" pitchFamily="34" charset="-122"/>
            </a:endParaRPr>
          </a:p>
          <a:p>
            <a:pPr marL="527050" lvl="2" indent="0">
              <a:spcBef>
                <a:spcPts val="450"/>
              </a:spcBef>
              <a:buNone/>
            </a:pPr>
            <a:r>
              <a:rPr lang="en-US" altLang="zh-CN" sz="2000" b="1" dirty="0">
                <a:solidFill>
                  <a:srgbClr val="FFFF00"/>
                </a:solidFill>
                <a:ea typeface="微软雅黑" panose="020B0503020204020204" pitchFamily="34" charset="-122"/>
              </a:rPr>
              <a:t>template &lt;class Sortable&gt;</a:t>
            </a:r>
            <a:endParaRPr lang="en-US" altLang="zh-CN" sz="2000" b="1" dirty="0">
              <a:solidFill>
                <a:srgbClr val="FFFF00"/>
              </a:solidFill>
              <a:ea typeface="微软雅黑" panose="020B0503020204020204" pitchFamily="34" charset="-122"/>
            </a:endParaRPr>
          </a:p>
          <a:p>
            <a:pPr marL="527050" lvl="2" indent="0">
              <a:spcBef>
                <a:spcPts val="450"/>
              </a:spcBef>
              <a:buNone/>
            </a:pPr>
            <a:r>
              <a:rPr lang="en-US" altLang="zh-CN" sz="2000" b="1" dirty="0">
                <a:solidFill>
                  <a:srgbClr val="FFFF00"/>
                </a:solidFill>
                <a:ea typeface="微软雅黑" panose="020B0503020204020204" pitchFamily="34" charset="-122"/>
              </a:rPr>
              <a:t>void </a:t>
            </a:r>
            <a:r>
              <a:rPr lang="en-US" altLang="zh-CN" sz="2000" b="1" dirty="0" err="1">
                <a:solidFill>
                  <a:srgbClr val="FFFF00"/>
                </a:solidFill>
                <a:ea typeface="微软雅黑" panose="020B0503020204020204" pitchFamily="34" charset="-122"/>
              </a:rPr>
              <a:t>insertionSort</a:t>
            </a:r>
            <a:r>
              <a:rPr lang="en-US" altLang="zh-CN" sz="2000" b="1" dirty="0">
                <a:solidFill>
                  <a:srgbClr val="FFFF00"/>
                </a:solidFill>
                <a:ea typeface="微软雅黑" panose="020B0503020204020204" pitchFamily="34" charset="-122"/>
              </a:rPr>
              <a:t>(Sortable a[], </a:t>
            </a:r>
            <a:r>
              <a:rPr lang="en-US" altLang="zh-CN" sz="2000" b="1" dirty="0" err="1">
                <a:solidFill>
                  <a:srgbClr val="FFFF00"/>
                </a:solidFill>
                <a:ea typeface="微软雅黑" panose="020B0503020204020204" pitchFamily="34" charset="-122"/>
              </a:rPr>
              <a:t>int</a:t>
            </a:r>
            <a:r>
              <a:rPr lang="en-US" altLang="zh-CN" sz="2000" b="1" dirty="0">
                <a:solidFill>
                  <a:srgbClr val="FFFF00"/>
                </a:solidFill>
                <a:ea typeface="微软雅黑" panose="020B0503020204020204" pitchFamily="34" charset="-122"/>
              </a:rPr>
              <a:t> n);</a:t>
            </a:r>
            <a:endParaRPr lang="en-US" altLang="zh-CN" sz="2000" b="1" dirty="0">
              <a:solidFill>
                <a:srgbClr val="FFFF00"/>
              </a:solidFill>
              <a:ea typeface="微软雅黑" panose="020B0503020204020204" pitchFamily="34" charset="-122"/>
            </a:endParaRPr>
          </a:p>
          <a:p>
            <a:pPr>
              <a:spcBef>
                <a:spcPts val="450"/>
              </a:spcBef>
            </a:pPr>
            <a:endParaRPr lang="zh-CN" altLang="en-US" sz="2800" b="1" dirty="0">
              <a:solidFill>
                <a:srgbClr val="FFFF00"/>
              </a:solidFill>
              <a:ea typeface="微软雅黑" panose="020B0503020204020204" pitchFamily="34"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623888" y="-531440"/>
            <a:ext cx="7886700" cy="2852737"/>
          </a:xfrm>
        </p:spPr>
        <p:txBody>
          <a:bodyPr/>
          <a:lstStyle/>
          <a:p>
            <a:r>
              <a:rPr lang="en-US" altLang="zh-CN" dirty="0"/>
              <a:t>STL</a:t>
            </a:r>
            <a:r>
              <a:rPr lang="zh-CN" altLang="en-US" dirty="0"/>
              <a:t>简介</a:t>
            </a:r>
            <a:endParaRPr lang="zh-CN" altLang="en-US" dirty="0"/>
          </a:p>
        </p:txBody>
      </p:sp>
      <p:sp>
        <p:nvSpPr>
          <p:cNvPr id="19459" name="内容占位符 2"/>
          <p:cNvSpPr>
            <a:spLocks noGrp="1"/>
          </p:cNvSpPr>
          <p:nvPr>
            <p:ph type="body" idx="1"/>
          </p:nvPr>
        </p:nvSpPr>
        <p:spPr>
          <a:xfrm>
            <a:off x="623888" y="2348285"/>
            <a:ext cx="7886700" cy="1500187"/>
          </a:xfrm>
        </p:spPr>
        <p:txBody>
          <a:bodyPr/>
          <a:lstStyle/>
          <a:p>
            <a:r>
              <a:rPr lang="zh-CN" altLang="en-US" dirty="0"/>
              <a:t>标准模板库（</a:t>
            </a:r>
            <a:r>
              <a:rPr lang="en-US" altLang="zh-CN" dirty="0"/>
              <a:t>Standard Template Library</a:t>
            </a:r>
            <a:r>
              <a:rPr lang="zh-CN" altLang="en-US" dirty="0"/>
              <a:t>，简称</a:t>
            </a:r>
            <a:r>
              <a:rPr lang="en-US" altLang="zh-CN" dirty="0"/>
              <a:t>STL</a:t>
            </a:r>
            <a:r>
              <a:rPr lang="zh-CN" altLang="en-US" dirty="0"/>
              <a:t>）提供了一些非常常用的数据结构和算法</a:t>
            </a:r>
            <a:endParaRPr lang="en-US" altLang="zh-CN"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683568" y="476672"/>
            <a:ext cx="8230076" cy="799683"/>
          </a:xfrm>
        </p:spPr>
        <p:txBody>
          <a:bodyPr/>
          <a:lstStyle/>
          <a:p>
            <a:r>
              <a:rPr lang="en-US" altLang="zh-CN" dirty="0"/>
              <a:t>STL</a:t>
            </a:r>
            <a:r>
              <a:rPr lang="zh-CN" altLang="en-US" dirty="0"/>
              <a:t>简介</a:t>
            </a:r>
            <a:endParaRPr lang="zh-CN" altLang="en-US" dirty="0"/>
          </a:p>
        </p:txBody>
      </p:sp>
      <p:sp>
        <p:nvSpPr>
          <p:cNvPr id="19459" name="内容占位符 2"/>
          <p:cNvSpPr>
            <a:spLocks noGrp="1"/>
          </p:cNvSpPr>
          <p:nvPr>
            <p:ph idx="1"/>
          </p:nvPr>
        </p:nvSpPr>
        <p:spPr>
          <a:xfrm>
            <a:off x="611560" y="1556792"/>
            <a:ext cx="8230076" cy="2838162"/>
          </a:xfrm>
        </p:spPr>
        <p:txBody>
          <a:bodyPr/>
          <a:lstStyle/>
          <a:p>
            <a:pPr>
              <a:lnSpc>
                <a:spcPct val="150000"/>
              </a:lnSpc>
            </a:pPr>
            <a:r>
              <a:rPr lang="zh-CN" altLang="en-US" sz="2400" b="1">
                <a:ea typeface="微软雅黑" panose="020B0503020204020204" pitchFamily="34" charset="-122"/>
              </a:rPr>
              <a:t>标准模板库（</a:t>
            </a:r>
            <a:r>
              <a:rPr lang="en-US" altLang="zh-CN" sz="2400" b="1">
                <a:ea typeface="微软雅黑" panose="020B0503020204020204" pitchFamily="34" charset="-122"/>
              </a:rPr>
              <a:t>Standard Template Library</a:t>
            </a:r>
            <a:r>
              <a:rPr lang="zh-CN" altLang="en-US" sz="2400" b="1">
                <a:ea typeface="微软雅黑" panose="020B0503020204020204" pitchFamily="34" charset="-122"/>
              </a:rPr>
              <a:t>，简称</a:t>
            </a:r>
            <a:r>
              <a:rPr lang="en-US" altLang="zh-CN" sz="2400" b="1">
                <a:ea typeface="微软雅黑" panose="020B0503020204020204" pitchFamily="34" charset="-122"/>
              </a:rPr>
              <a:t>STL</a:t>
            </a:r>
            <a:r>
              <a:rPr lang="zh-CN" altLang="en-US" sz="2400" b="1">
                <a:ea typeface="微软雅黑" panose="020B0503020204020204" pitchFamily="34" charset="-122"/>
              </a:rPr>
              <a:t>）定义了一套概念体系，为泛型程序设计提供了逻辑基础</a:t>
            </a:r>
            <a:endParaRPr lang="en-US" altLang="zh-CN" sz="2400" b="1">
              <a:ea typeface="微软雅黑" panose="020B0503020204020204" pitchFamily="34" charset="-122"/>
            </a:endParaRPr>
          </a:p>
          <a:p>
            <a:pPr>
              <a:lnSpc>
                <a:spcPct val="150000"/>
              </a:lnSpc>
            </a:pPr>
            <a:r>
              <a:rPr lang="en-US" altLang="zh-CN" sz="2400" b="1">
                <a:ea typeface="微软雅黑" panose="020B0503020204020204" pitchFamily="34" charset="-122"/>
              </a:rPr>
              <a:t>STL</a:t>
            </a:r>
            <a:r>
              <a:rPr lang="zh-CN" altLang="en-US" sz="2400" b="1">
                <a:ea typeface="微软雅黑" panose="020B0503020204020204" pitchFamily="34" charset="-122"/>
              </a:rPr>
              <a:t>中的各个类模板、函数模板的参数都是用这个体系中的概念来规定的。</a:t>
            </a:r>
            <a:endParaRPr lang="en-US" altLang="zh-CN" sz="2400" b="1">
              <a:ea typeface="微软雅黑" panose="020B0503020204020204" pitchFamily="34" charset="-122"/>
            </a:endParaRPr>
          </a:p>
          <a:p>
            <a:pPr>
              <a:lnSpc>
                <a:spcPct val="150000"/>
              </a:lnSpc>
            </a:pPr>
            <a:r>
              <a:rPr lang="zh-CN" altLang="en-US" sz="2400" b="1">
                <a:ea typeface="微软雅黑" panose="020B0503020204020204" pitchFamily="34" charset="-122"/>
              </a:rPr>
              <a:t>使用</a:t>
            </a:r>
            <a:r>
              <a:rPr lang="en-US" altLang="zh-CN" sz="2400" b="1">
                <a:ea typeface="微软雅黑" panose="020B0503020204020204" pitchFamily="34" charset="-122"/>
              </a:rPr>
              <a:t>STL</a:t>
            </a:r>
            <a:r>
              <a:rPr lang="zh-CN" altLang="en-US" sz="2400" b="1">
                <a:ea typeface="微软雅黑" panose="020B0503020204020204" pitchFamily="34" charset="-122"/>
              </a:rPr>
              <a:t>的模板时，类型参数既可以是</a:t>
            </a:r>
            <a:r>
              <a:rPr lang="en-US" altLang="zh-CN" sz="2400" b="1">
                <a:ea typeface="微软雅黑" panose="020B0503020204020204" pitchFamily="34" charset="-122"/>
              </a:rPr>
              <a:t>C++</a:t>
            </a:r>
            <a:r>
              <a:rPr lang="zh-CN" altLang="en-US" sz="2400" b="1">
                <a:ea typeface="微软雅黑" panose="020B0503020204020204" pitchFamily="34" charset="-122"/>
              </a:rPr>
              <a:t>标准库中已有的类型，也可以是自定义的类型</a:t>
            </a:r>
            <a:r>
              <a:rPr lang="en-US" altLang="zh-CN" sz="2400" b="1">
                <a:ea typeface="微软雅黑" panose="020B0503020204020204" pitchFamily="34" charset="-122"/>
              </a:rPr>
              <a:t>——</a:t>
            </a:r>
            <a:r>
              <a:rPr lang="zh-CN" altLang="en-US" sz="2400" b="1">
                <a:ea typeface="微软雅黑" panose="020B0503020204020204" pitchFamily="34" charset="-122"/>
              </a:rPr>
              <a:t>只要这些类型是所要求概念的模型。</a:t>
            </a:r>
            <a:endParaRPr lang="zh-CN" altLang="en-US" sz="2400" b="1">
              <a:ea typeface="微软雅黑" panose="020B0503020204020204" pitchFamily="34"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xfrm>
            <a:off x="456962" y="1718963"/>
            <a:ext cx="8230076" cy="799683"/>
          </a:xfrm>
        </p:spPr>
        <p:txBody>
          <a:bodyPr/>
          <a:lstStyle/>
          <a:p>
            <a:r>
              <a:rPr lang="en-US" altLang="zh-CN"/>
              <a:t>STL</a:t>
            </a:r>
            <a:r>
              <a:rPr lang="zh-CN" altLang="en-US"/>
              <a:t>的基本组件</a:t>
            </a:r>
            <a:endParaRPr lang="zh-CN" altLang="en-US"/>
          </a:p>
        </p:txBody>
      </p:sp>
      <p:sp>
        <p:nvSpPr>
          <p:cNvPr id="20483" name="内容占位符 2"/>
          <p:cNvSpPr>
            <a:spLocks noGrp="1"/>
          </p:cNvSpPr>
          <p:nvPr>
            <p:ph idx="1"/>
          </p:nvPr>
        </p:nvSpPr>
        <p:spPr>
          <a:xfrm>
            <a:off x="555733" y="2679297"/>
            <a:ext cx="7978985" cy="2998813"/>
          </a:xfrm>
        </p:spPr>
        <p:txBody>
          <a:bodyPr/>
          <a:lstStyle/>
          <a:p>
            <a:pPr marL="346075" indent="-257175"/>
            <a:r>
              <a:rPr lang="zh-CN" altLang="en-US" dirty="0">
                <a:ea typeface="微软雅黑" panose="020B0503020204020204" pitchFamily="34" charset="-122"/>
              </a:rPr>
              <a:t>容器（</a:t>
            </a:r>
            <a:r>
              <a:rPr lang="en-US" altLang="zh-CN" dirty="0">
                <a:ea typeface="微软雅黑" panose="020B0503020204020204" pitchFamily="34" charset="-122"/>
              </a:rPr>
              <a:t>container</a:t>
            </a:r>
            <a:r>
              <a:rPr lang="zh-CN" altLang="en-US" dirty="0">
                <a:ea typeface="微软雅黑" panose="020B0503020204020204" pitchFamily="34" charset="-122"/>
              </a:rPr>
              <a:t>）</a:t>
            </a:r>
            <a:endParaRPr lang="en-US" altLang="zh-CN" dirty="0">
              <a:ea typeface="微软雅黑" panose="020B0503020204020204" pitchFamily="34" charset="-122"/>
            </a:endParaRPr>
          </a:p>
          <a:p>
            <a:pPr marL="346075" indent="-257175"/>
            <a:r>
              <a:rPr lang="zh-CN" altLang="en-US" dirty="0">
                <a:ea typeface="微软雅黑" panose="020B0503020204020204" pitchFamily="34" charset="-122"/>
              </a:rPr>
              <a:t>迭代器（</a:t>
            </a:r>
            <a:r>
              <a:rPr lang="en-US" altLang="zh-CN" dirty="0">
                <a:ea typeface="微软雅黑" panose="020B0503020204020204" pitchFamily="34" charset="-122"/>
              </a:rPr>
              <a:t>iterator</a:t>
            </a:r>
            <a:r>
              <a:rPr lang="zh-CN" altLang="en-US" dirty="0">
                <a:ea typeface="微软雅黑" panose="020B0503020204020204" pitchFamily="34" charset="-122"/>
              </a:rPr>
              <a:t>）</a:t>
            </a:r>
            <a:endParaRPr lang="en-US" altLang="zh-CN" dirty="0">
              <a:ea typeface="微软雅黑" panose="020B0503020204020204" pitchFamily="34" charset="-122"/>
            </a:endParaRPr>
          </a:p>
          <a:p>
            <a:pPr marL="346075" indent="-257175"/>
            <a:r>
              <a:rPr lang="zh-CN" altLang="en-US" dirty="0">
                <a:ea typeface="微软雅黑" panose="020B0503020204020204" pitchFamily="34" charset="-122"/>
              </a:rPr>
              <a:t>函数对象（</a:t>
            </a:r>
            <a:r>
              <a:rPr lang="en-US" altLang="zh-CN" dirty="0">
                <a:ea typeface="微软雅黑" panose="020B0503020204020204" pitchFamily="34" charset="-122"/>
              </a:rPr>
              <a:t>function object</a:t>
            </a:r>
            <a:r>
              <a:rPr lang="zh-CN" altLang="en-US" dirty="0">
                <a:ea typeface="微软雅黑" panose="020B0503020204020204" pitchFamily="34" charset="-122"/>
              </a:rPr>
              <a:t>）</a:t>
            </a:r>
            <a:endParaRPr lang="en-US" altLang="zh-CN" dirty="0">
              <a:ea typeface="微软雅黑" panose="020B0503020204020204" pitchFamily="34" charset="-122"/>
            </a:endParaRPr>
          </a:p>
          <a:p>
            <a:pPr marL="346075" indent="-257175"/>
            <a:r>
              <a:rPr lang="zh-CN" altLang="en-US" dirty="0">
                <a:ea typeface="微软雅黑" panose="020B0503020204020204" pitchFamily="34" charset="-122"/>
              </a:rPr>
              <a:t>算法（</a:t>
            </a:r>
            <a:r>
              <a:rPr lang="en-US" altLang="zh-CN" dirty="0">
                <a:ea typeface="微软雅黑" panose="020B0503020204020204" pitchFamily="34" charset="-122"/>
              </a:rPr>
              <a:t>algorithms</a:t>
            </a:r>
            <a:r>
              <a:rPr lang="zh-CN" altLang="en-US" dirty="0">
                <a:ea typeface="微软雅黑" panose="020B0503020204020204" pitchFamily="34" charset="-122"/>
              </a:rPr>
              <a:t>）</a:t>
            </a:r>
            <a:endParaRPr lang="en-US" altLang="zh-CN" dirty="0">
              <a:ea typeface="微软雅黑" panose="020B0503020204020204" pitchFamily="34" charset="-122"/>
            </a:endParaRPr>
          </a:p>
          <a:p>
            <a:pPr marL="346075" indent="-257175"/>
            <a:endParaRPr lang="zh-CN" altLang="en-US" dirty="0">
              <a:ea typeface="微软雅黑" panose="020B0503020204020204" pitchFamily="34" charset="-122"/>
            </a:endParaRPr>
          </a:p>
          <a:p>
            <a:pPr marL="346075" indent="-257175"/>
            <a:endParaRPr lang="en-US" altLang="zh-CN" dirty="0">
              <a:ea typeface="微软雅黑" panose="020B0503020204020204" pitchFamily="34"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755576" y="516751"/>
            <a:ext cx="8230076" cy="799683"/>
          </a:xfrm>
        </p:spPr>
        <p:txBody>
          <a:bodyPr/>
          <a:lstStyle/>
          <a:p>
            <a:r>
              <a:rPr lang="en-US" altLang="zh-CN" b="1" dirty="0"/>
              <a:t>STL</a:t>
            </a:r>
            <a:r>
              <a:rPr lang="zh-CN" altLang="en-US" b="1" dirty="0"/>
              <a:t>的基本组件</a:t>
            </a:r>
            <a:endParaRPr lang="zh-CN" altLang="en-US" b="1" dirty="0"/>
          </a:p>
        </p:txBody>
      </p:sp>
      <p:sp>
        <p:nvSpPr>
          <p:cNvPr id="23555" name="内容占位符 2"/>
          <p:cNvSpPr>
            <a:spLocks noGrp="1"/>
          </p:cNvSpPr>
          <p:nvPr>
            <p:ph idx="1"/>
          </p:nvPr>
        </p:nvSpPr>
        <p:spPr>
          <a:xfrm>
            <a:off x="623915" y="1616705"/>
            <a:ext cx="7880771" cy="2215790"/>
          </a:xfrm>
        </p:spPr>
        <p:txBody>
          <a:bodyPr/>
          <a:lstStyle/>
          <a:p>
            <a:r>
              <a:rPr lang="en-US" altLang="zh-CN" sz="2000" b="1" dirty="0">
                <a:solidFill>
                  <a:srgbClr val="FFFF00"/>
                </a:solidFill>
                <a:latin typeface="微软雅黑" panose="020B0503020204020204" pitchFamily="34" charset="-122"/>
                <a:ea typeface="微软雅黑" panose="020B0503020204020204" pitchFamily="34" charset="-122"/>
              </a:rPr>
              <a:t>Iterators</a:t>
            </a:r>
            <a:r>
              <a:rPr lang="zh-CN" altLang="en-US" sz="2000" b="1" dirty="0">
                <a:solidFill>
                  <a:srgbClr val="FFFF00"/>
                </a:solidFill>
                <a:latin typeface="微软雅黑" panose="020B0503020204020204" pitchFamily="34" charset="-122"/>
                <a:ea typeface="微软雅黑" panose="020B0503020204020204" pitchFamily="34" charset="-122"/>
              </a:rPr>
              <a:t>（迭代器）</a:t>
            </a:r>
            <a:r>
              <a:rPr lang="zh-CN" altLang="en-US" sz="2000" b="1" dirty="0">
                <a:latin typeface="微软雅黑" panose="020B0503020204020204" pitchFamily="34" charset="-122"/>
                <a:ea typeface="微软雅黑" panose="020B0503020204020204" pitchFamily="34" charset="-122"/>
              </a:rPr>
              <a:t>是</a:t>
            </a:r>
            <a:r>
              <a:rPr lang="zh-CN" altLang="en-US" sz="2000" b="1" dirty="0">
                <a:solidFill>
                  <a:srgbClr val="FFFF00"/>
                </a:solidFill>
                <a:latin typeface="微软雅黑" panose="020B0503020204020204" pitchFamily="34" charset="-122"/>
                <a:ea typeface="微软雅黑" panose="020B0503020204020204" pitchFamily="34" charset="-122"/>
              </a:rPr>
              <a:t>算法</a:t>
            </a:r>
            <a:r>
              <a:rPr lang="zh-CN" altLang="en-US" sz="2000" b="1" dirty="0">
                <a:latin typeface="微软雅黑" panose="020B0503020204020204" pitchFamily="34" charset="-122"/>
                <a:ea typeface="微软雅黑" panose="020B0503020204020204" pitchFamily="34" charset="-122"/>
              </a:rPr>
              <a:t>和</a:t>
            </a:r>
            <a:r>
              <a:rPr lang="zh-CN" altLang="en-US" sz="2000" b="1" dirty="0">
                <a:solidFill>
                  <a:srgbClr val="FFFF00"/>
                </a:solidFill>
                <a:latin typeface="微软雅黑" panose="020B0503020204020204" pitchFamily="34" charset="-122"/>
                <a:ea typeface="微软雅黑" panose="020B0503020204020204" pitchFamily="34" charset="-122"/>
              </a:rPr>
              <a:t>容器</a:t>
            </a:r>
            <a:r>
              <a:rPr lang="zh-CN" altLang="en-US" sz="2000" b="1" dirty="0">
                <a:latin typeface="微软雅黑" panose="020B0503020204020204" pitchFamily="34" charset="-122"/>
                <a:ea typeface="微软雅黑" panose="020B0503020204020204" pitchFamily="34" charset="-122"/>
              </a:rPr>
              <a:t>的桥梁。</a:t>
            </a:r>
            <a:endParaRPr lang="en-US" altLang="zh-CN" sz="2000" b="1" dirty="0">
              <a:latin typeface="微软雅黑" panose="020B0503020204020204" pitchFamily="34" charset="-122"/>
              <a:ea typeface="微软雅黑" panose="020B0503020204020204" pitchFamily="34" charset="-122"/>
            </a:endParaRPr>
          </a:p>
          <a:p>
            <a:pPr lvl="1"/>
            <a:r>
              <a:rPr lang="zh-CN" altLang="en-US" sz="2000" b="1" dirty="0">
                <a:latin typeface="微软雅黑" panose="020B0503020204020204" pitchFamily="34" charset="-122"/>
                <a:ea typeface="微软雅黑" panose="020B0503020204020204" pitchFamily="34" charset="-122"/>
              </a:rPr>
              <a:t>将迭代器作为算法的参数、通过迭代器来访问容器而不是把容器直接作为算法的参数。</a:t>
            </a:r>
            <a:endParaRPr lang="en-US" altLang="zh-CN"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将</a:t>
            </a:r>
            <a:r>
              <a:rPr lang="zh-CN" altLang="en-US" sz="2000" b="1" dirty="0">
                <a:solidFill>
                  <a:srgbClr val="FFFF00"/>
                </a:solidFill>
                <a:latin typeface="微软雅黑" panose="020B0503020204020204" pitchFamily="34" charset="-122"/>
                <a:ea typeface="微软雅黑" panose="020B0503020204020204" pitchFamily="34" charset="-122"/>
              </a:rPr>
              <a:t>函数对象</a:t>
            </a:r>
            <a:r>
              <a:rPr lang="zh-CN" altLang="en-US" sz="2000" b="1" dirty="0">
                <a:latin typeface="微软雅黑" panose="020B0503020204020204" pitchFamily="34" charset="-122"/>
                <a:ea typeface="微软雅黑" panose="020B0503020204020204" pitchFamily="34" charset="-122"/>
              </a:rPr>
              <a:t>作为算法的参数而不是将函数所执行的运算作为算法的一部分。</a:t>
            </a:r>
            <a:endParaRPr lang="en-US" altLang="zh-CN"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使用</a:t>
            </a:r>
            <a:r>
              <a:rPr lang="en-US" altLang="zh-CN" sz="2000" b="1" dirty="0">
                <a:latin typeface="微软雅黑" panose="020B0503020204020204" pitchFamily="34" charset="-122"/>
                <a:ea typeface="微软雅黑" panose="020B0503020204020204" pitchFamily="34" charset="-122"/>
              </a:rPr>
              <a:t>STL</a:t>
            </a:r>
            <a:r>
              <a:rPr lang="zh-CN" altLang="en-US" sz="2000" b="1" dirty="0">
                <a:latin typeface="微软雅黑" panose="020B0503020204020204" pitchFamily="34" charset="-122"/>
                <a:ea typeface="微软雅黑" panose="020B0503020204020204" pitchFamily="34" charset="-122"/>
              </a:rPr>
              <a:t>中提供的或自定义的迭代器和函数对象，配合</a:t>
            </a:r>
            <a:r>
              <a:rPr lang="en-US" altLang="zh-CN" sz="2000" b="1" dirty="0">
                <a:latin typeface="微软雅黑" panose="020B0503020204020204" pitchFamily="34" charset="-122"/>
                <a:ea typeface="微软雅黑" panose="020B0503020204020204" pitchFamily="34" charset="-122"/>
              </a:rPr>
              <a:t>STL</a:t>
            </a:r>
            <a:r>
              <a:rPr lang="zh-CN" altLang="en-US" sz="2000" b="1" dirty="0">
                <a:latin typeface="微软雅黑" panose="020B0503020204020204" pitchFamily="34" charset="-122"/>
                <a:ea typeface="微软雅黑" panose="020B0503020204020204" pitchFamily="34" charset="-122"/>
              </a:rPr>
              <a:t>的算法，可以组合出各种各样的功能。</a:t>
            </a:r>
            <a:endParaRPr lang="zh-CN" altLang="en-US" sz="2000" b="1" dirty="0">
              <a:latin typeface="微软雅黑" panose="020B0503020204020204" pitchFamily="34" charset="-122"/>
              <a:ea typeface="微软雅黑" panose="020B0503020204020204" pitchFamily="34" charset="-122"/>
            </a:endParaRPr>
          </a:p>
        </p:txBody>
      </p:sp>
      <p:grpSp>
        <p:nvGrpSpPr>
          <p:cNvPr id="23556" name="组合 13"/>
          <p:cNvGrpSpPr/>
          <p:nvPr/>
        </p:nvGrpSpPr>
        <p:grpSpPr bwMode="auto">
          <a:xfrm>
            <a:off x="1907704" y="4293096"/>
            <a:ext cx="5145583" cy="1888538"/>
            <a:chOff x="1366838" y="4443413"/>
            <a:chExt cx="4831525" cy="2302137"/>
          </a:xfrm>
        </p:grpSpPr>
        <p:sp>
          <p:nvSpPr>
            <p:cNvPr id="14" name="AutoShape 6"/>
            <p:cNvSpPr>
              <a:spLocks noChangeArrowheads="1"/>
            </p:cNvSpPr>
            <p:nvPr/>
          </p:nvSpPr>
          <p:spPr bwMode="auto">
            <a:xfrm>
              <a:off x="1366838" y="4443413"/>
              <a:ext cx="1058153" cy="1167750"/>
            </a:xfrm>
            <a:prstGeom prst="flowChartMagneticDisk">
              <a:avLst/>
            </a:prstGeom>
            <a:solidFill>
              <a:srgbClr val="E4AB88"/>
            </a:solidFill>
          </p:spPr>
          <p:style>
            <a:lnRef idx="2">
              <a:schemeClr val="accent4">
                <a:shade val="50000"/>
              </a:schemeClr>
            </a:lnRef>
            <a:fillRef idx="1">
              <a:schemeClr val="accent4"/>
            </a:fillRef>
            <a:effectRef idx="0">
              <a:schemeClr val="accent4"/>
            </a:effectRef>
            <a:fontRef idx="minor">
              <a:schemeClr val="lt1"/>
            </a:fontRef>
          </p:style>
          <p:txBody>
            <a:bodyPr/>
            <a:lstStyle/>
            <a:p>
              <a:pPr algn="ctr">
                <a:defRPr/>
              </a:pPr>
              <a:endParaRPr lang="en-US" altLang="zh-CN" sz="750" b="1" dirty="0">
                <a:solidFill>
                  <a:schemeClr val="tx1"/>
                </a:solidFill>
                <a:latin typeface="Times New Roman" panose="02020603050405020304" pitchFamily="18" charset="0"/>
              </a:endParaRPr>
            </a:p>
            <a:p>
              <a:pPr algn="ctr">
                <a:defRPr/>
              </a:pPr>
              <a:r>
                <a:rPr lang="zh-CN" altLang="en-US" sz="1050" b="1" dirty="0">
                  <a:solidFill>
                    <a:schemeClr val="tx1"/>
                  </a:solidFill>
                  <a:latin typeface="Calibri" panose="020F0502020204030204" pitchFamily="34" charset="0"/>
                </a:rPr>
                <a:t>容器</a:t>
              </a:r>
              <a:endParaRPr lang="zh-CN" altLang="en-US" sz="1050" b="1" dirty="0">
                <a:solidFill>
                  <a:schemeClr val="tx1"/>
                </a:solidFill>
                <a:latin typeface="Times New Roman" panose="02020603050405020304" pitchFamily="18" charset="0"/>
              </a:endParaRPr>
            </a:p>
            <a:p>
              <a:pPr algn="ctr">
                <a:defRPr/>
              </a:pPr>
              <a:r>
                <a:rPr lang="en-US" altLang="zh-CN" sz="1050" b="1" dirty="0">
                  <a:solidFill>
                    <a:schemeClr val="tx1"/>
                  </a:solidFill>
                  <a:latin typeface="Calibri" panose="020F0502020204030204" pitchFamily="34" charset="0"/>
                </a:rPr>
                <a:t>(container)</a:t>
              </a:r>
              <a:endParaRPr lang="en-US" altLang="zh-CN" sz="1050" b="1" dirty="0">
                <a:solidFill>
                  <a:schemeClr val="tx1"/>
                </a:solidFill>
                <a:latin typeface="Times New Roman" panose="02020603050405020304" pitchFamily="18" charset="0"/>
              </a:endParaRPr>
            </a:p>
            <a:p>
              <a:pPr>
                <a:defRPr/>
              </a:pPr>
              <a:endParaRPr lang="zh-CN" altLang="zh-CN" sz="1800" b="1" dirty="0">
                <a:solidFill>
                  <a:schemeClr val="tx1"/>
                </a:solidFill>
                <a:latin typeface="Times New Roman" panose="02020603050405020304" pitchFamily="18" charset="0"/>
              </a:endParaRPr>
            </a:p>
          </p:txBody>
        </p:sp>
        <p:sp>
          <p:nvSpPr>
            <p:cNvPr id="15" name="AutoShape 7"/>
            <p:cNvSpPr>
              <a:spLocks noChangeArrowheads="1"/>
            </p:cNvSpPr>
            <p:nvPr/>
          </p:nvSpPr>
          <p:spPr bwMode="auto">
            <a:xfrm>
              <a:off x="3132289" y="4443413"/>
              <a:ext cx="1414595" cy="1167750"/>
            </a:xfrm>
            <a:prstGeom prst="cube">
              <a:avLst>
                <a:gd name="adj" fmla="val 25000"/>
              </a:avLst>
            </a:prstGeom>
            <a:solidFill>
              <a:srgbClr val="E4AB88"/>
            </a:solidFill>
          </p:spPr>
          <p:style>
            <a:lnRef idx="2">
              <a:schemeClr val="accent4">
                <a:shade val="50000"/>
              </a:schemeClr>
            </a:lnRef>
            <a:fillRef idx="1">
              <a:schemeClr val="accent4"/>
            </a:fillRef>
            <a:effectRef idx="0">
              <a:schemeClr val="accent4"/>
            </a:effectRef>
            <a:fontRef idx="minor">
              <a:schemeClr val="lt1"/>
            </a:fontRef>
          </p:style>
          <p:txBody>
            <a:bodyPr/>
            <a:lstStyle/>
            <a:p>
              <a:pPr algn="ctr">
                <a:defRPr/>
              </a:pPr>
              <a:endParaRPr lang="en-US" altLang="zh-CN" sz="750" b="1" dirty="0">
                <a:solidFill>
                  <a:schemeClr val="tx1"/>
                </a:solidFill>
                <a:latin typeface="Times New Roman" panose="02020603050405020304" pitchFamily="18" charset="0"/>
              </a:endParaRPr>
            </a:p>
            <a:p>
              <a:pPr algn="ctr">
                <a:defRPr/>
              </a:pPr>
              <a:r>
                <a:rPr lang="zh-CN" altLang="en-US" sz="1050" b="1" dirty="0">
                  <a:solidFill>
                    <a:schemeClr val="tx1"/>
                  </a:solidFill>
                  <a:latin typeface="Calibri" panose="020F0502020204030204" pitchFamily="34" charset="0"/>
                </a:rPr>
                <a:t>算法</a:t>
              </a:r>
              <a:endParaRPr lang="zh-CN" altLang="en-US" sz="1050" b="1" dirty="0">
                <a:solidFill>
                  <a:schemeClr val="tx1"/>
                </a:solidFill>
                <a:latin typeface="Times New Roman" panose="02020603050405020304" pitchFamily="18" charset="0"/>
              </a:endParaRPr>
            </a:p>
            <a:p>
              <a:pPr algn="ctr">
                <a:defRPr/>
              </a:pPr>
              <a:r>
                <a:rPr lang="en-US" altLang="zh-CN" sz="1050" b="1" dirty="0">
                  <a:solidFill>
                    <a:schemeClr val="tx1"/>
                  </a:solidFill>
                  <a:latin typeface="Calibri" panose="020F0502020204030204" pitchFamily="34" charset="0"/>
                </a:rPr>
                <a:t>(algorithm)</a:t>
              </a:r>
              <a:endParaRPr lang="zh-CN" altLang="zh-CN" sz="1050" b="1" dirty="0">
                <a:solidFill>
                  <a:schemeClr val="tx1"/>
                </a:solidFill>
                <a:latin typeface="Times New Roman" panose="02020603050405020304" pitchFamily="18" charset="0"/>
              </a:endParaRPr>
            </a:p>
          </p:txBody>
        </p:sp>
        <p:sp>
          <p:nvSpPr>
            <p:cNvPr id="16" name="AutoShape 8"/>
            <p:cNvSpPr>
              <a:spLocks noChangeArrowheads="1"/>
            </p:cNvSpPr>
            <p:nvPr/>
          </p:nvSpPr>
          <p:spPr bwMode="auto">
            <a:xfrm>
              <a:off x="5137975" y="4443413"/>
              <a:ext cx="1060388" cy="1214170"/>
            </a:xfrm>
            <a:prstGeom prst="flowChartMagneticDisk">
              <a:avLst/>
            </a:prstGeom>
            <a:solidFill>
              <a:srgbClr val="E4AB88"/>
            </a:solidFill>
          </p:spPr>
          <p:style>
            <a:lnRef idx="2">
              <a:schemeClr val="accent4">
                <a:shade val="50000"/>
              </a:schemeClr>
            </a:lnRef>
            <a:fillRef idx="1">
              <a:schemeClr val="accent4"/>
            </a:fillRef>
            <a:effectRef idx="0">
              <a:schemeClr val="accent4"/>
            </a:effectRef>
            <a:fontRef idx="minor">
              <a:schemeClr val="lt1"/>
            </a:fontRef>
          </p:style>
          <p:txBody>
            <a:bodyPr/>
            <a:lstStyle/>
            <a:p>
              <a:pPr algn="ctr">
                <a:defRPr/>
              </a:pPr>
              <a:endParaRPr lang="en-US" altLang="zh-CN" sz="750" b="1" dirty="0">
                <a:solidFill>
                  <a:schemeClr val="tx1"/>
                </a:solidFill>
                <a:latin typeface="Times New Roman" panose="02020603050405020304" pitchFamily="18" charset="0"/>
              </a:endParaRPr>
            </a:p>
            <a:p>
              <a:pPr algn="ctr">
                <a:defRPr/>
              </a:pPr>
              <a:r>
                <a:rPr lang="zh-CN" altLang="en-US" sz="1050" b="1" dirty="0">
                  <a:solidFill>
                    <a:schemeClr val="tx1"/>
                  </a:solidFill>
                  <a:latin typeface="Calibri" panose="020F0502020204030204" pitchFamily="34" charset="0"/>
                </a:rPr>
                <a:t>容器</a:t>
              </a:r>
              <a:endParaRPr lang="zh-CN" altLang="en-US" sz="1050" b="1" dirty="0">
                <a:solidFill>
                  <a:schemeClr val="tx1"/>
                </a:solidFill>
                <a:latin typeface="Times New Roman" panose="02020603050405020304" pitchFamily="18" charset="0"/>
              </a:endParaRPr>
            </a:p>
            <a:p>
              <a:pPr algn="ctr">
                <a:defRPr/>
              </a:pPr>
              <a:r>
                <a:rPr lang="en-US" altLang="zh-CN" sz="1050" b="1" dirty="0">
                  <a:solidFill>
                    <a:schemeClr val="tx1"/>
                  </a:solidFill>
                  <a:latin typeface="Calibri" panose="020F0502020204030204" pitchFamily="34" charset="0"/>
                </a:rPr>
                <a:t>(container)</a:t>
              </a:r>
              <a:endParaRPr lang="zh-CN" altLang="zh-CN" sz="1050" b="1" dirty="0">
                <a:solidFill>
                  <a:schemeClr val="tx1"/>
                </a:solidFill>
                <a:latin typeface="Times New Roman" panose="02020603050405020304" pitchFamily="18" charset="0"/>
              </a:endParaRPr>
            </a:p>
          </p:txBody>
        </p:sp>
        <p:sp>
          <p:nvSpPr>
            <p:cNvPr id="17" name="AutoShape 9"/>
            <p:cNvSpPr>
              <a:spLocks noChangeArrowheads="1"/>
            </p:cNvSpPr>
            <p:nvPr/>
          </p:nvSpPr>
          <p:spPr bwMode="auto">
            <a:xfrm>
              <a:off x="4427325" y="4594278"/>
              <a:ext cx="707298" cy="890682"/>
            </a:xfrm>
            <a:prstGeom prst="rightArrow">
              <a:avLst>
                <a:gd name="adj1" fmla="val 50000"/>
                <a:gd name="adj2" fmla="val 25000"/>
              </a:avLst>
            </a:prstGeom>
            <a:solidFill>
              <a:srgbClr val="E4AB88"/>
            </a:solidFill>
          </p:spPr>
          <p:style>
            <a:lnRef idx="2">
              <a:schemeClr val="accent4">
                <a:shade val="50000"/>
              </a:schemeClr>
            </a:lnRef>
            <a:fillRef idx="1">
              <a:schemeClr val="accent4"/>
            </a:fillRef>
            <a:effectRef idx="0">
              <a:schemeClr val="accent4"/>
            </a:effectRef>
            <a:fontRef idx="minor">
              <a:schemeClr val="lt1"/>
            </a:fontRef>
          </p:style>
          <p:txBody>
            <a:bodyPr/>
            <a:lstStyle/>
            <a:p>
              <a:pPr algn="ctr">
                <a:defRPr/>
              </a:pPr>
              <a:r>
                <a:rPr lang="zh-CN" altLang="en-US" sz="1050" b="1" dirty="0">
                  <a:solidFill>
                    <a:schemeClr val="tx1"/>
                  </a:solidFill>
                  <a:latin typeface="Calibri" panose="020F0502020204030204" pitchFamily="34" charset="0"/>
                </a:rPr>
                <a:t>迭代器</a:t>
              </a:r>
              <a:endParaRPr lang="zh-CN" altLang="en-US" sz="1050" b="1" dirty="0">
                <a:solidFill>
                  <a:schemeClr val="tx1"/>
                </a:solidFill>
                <a:latin typeface="Times New Roman" panose="02020603050405020304" pitchFamily="18" charset="0"/>
              </a:endParaRPr>
            </a:p>
            <a:p>
              <a:pPr algn="ctr">
                <a:defRPr/>
              </a:pPr>
              <a:r>
                <a:rPr lang="en-US" altLang="zh-CN" sz="1050" b="1" dirty="0">
                  <a:solidFill>
                    <a:schemeClr val="tx1"/>
                  </a:solidFill>
                  <a:latin typeface="Calibri" panose="020F0502020204030204" pitchFamily="34" charset="0"/>
                </a:rPr>
                <a:t>(</a:t>
              </a:r>
              <a:r>
                <a:rPr lang="en-US" altLang="zh-CN" sz="1050" b="1" dirty="0" err="1">
                  <a:solidFill>
                    <a:schemeClr val="tx1"/>
                  </a:solidFill>
                  <a:latin typeface="Calibri" panose="020F0502020204030204" pitchFamily="34" charset="0"/>
                </a:rPr>
                <a:t>iterator</a:t>
              </a:r>
              <a:r>
                <a:rPr lang="en-US" altLang="zh-CN" sz="1050" b="1" dirty="0">
                  <a:solidFill>
                    <a:schemeClr val="tx1"/>
                  </a:solidFill>
                  <a:latin typeface="Calibri" panose="020F0502020204030204" pitchFamily="34" charset="0"/>
                </a:rPr>
                <a:t>)</a:t>
              </a:r>
              <a:endParaRPr lang="zh-CN" altLang="zh-CN" sz="1050" b="1" dirty="0">
                <a:solidFill>
                  <a:schemeClr val="tx1"/>
                </a:solidFill>
                <a:latin typeface="Times New Roman" panose="02020603050405020304" pitchFamily="18" charset="0"/>
              </a:endParaRPr>
            </a:p>
          </p:txBody>
        </p:sp>
        <p:sp>
          <p:nvSpPr>
            <p:cNvPr id="18" name="AutoShape 10"/>
            <p:cNvSpPr>
              <a:spLocks noChangeArrowheads="1"/>
            </p:cNvSpPr>
            <p:nvPr/>
          </p:nvSpPr>
          <p:spPr bwMode="auto">
            <a:xfrm>
              <a:off x="3172514" y="6075363"/>
              <a:ext cx="1374370" cy="670187"/>
            </a:xfrm>
            <a:prstGeom prst="flowChartMagneticDrum">
              <a:avLst/>
            </a:prstGeom>
            <a:solidFill>
              <a:srgbClr val="E4AB88"/>
            </a:solidFill>
          </p:spPr>
          <p:style>
            <a:lnRef idx="2">
              <a:schemeClr val="accent4">
                <a:shade val="50000"/>
              </a:schemeClr>
            </a:lnRef>
            <a:fillRef idx="1">
              <a:schemeClr val="accent4"/>
            </a:fillRef>
            <a:effectRef idx="0">
              <a:schemeClr val="accent4"/>
            </a:effectRef>
            <a:fontRef idx="minor">
              <a:schemeClr val="lt1"/>
            </a:fontRef>
          </p:style>
          <p:txBody>
            <a:bodyPr/>
            <a:lstStyle/>
            <a:p>
              <a:pPr>
                <a:defRPr/>
              </a:pPr>
              <a:r>
                <a:rPr lang="zh-CN" altLang="en-US" sz="1050" b="1" dirty="0">
                  <a:solidFill>
                    <a:schemeClr val="tx1"/>
                  </a:solidFill>
                  <a:latin typeface="Calibri" panose="020F0502020204030204" pitchFamily="34" charset="0"/>
                </a:rPr>
                <a:t>函数对象</a:t>
              </a:r>
              <a:endParaRPr lang="zh-CN" altLang="en-US" sz="1050" b="1" dirty="0">
                <a:solidFill>
                  <a:schemeClr val="tx1"/>
                </a:solidFill>
                <a:latin typeface="Times New Roman" panose="02020603050405020304" pitchFamily="18" charset="0"/>
              </a:endParaRPr>
            </a:p>
            <a:p>
              <a:pPr>
                <a:defRPr/>
              </a:pPr>
              <a:r>
                <a:rPr lang="en-US" altLang="zh-CN" sz="1050" b="1" dirty="0">
                  <a:solidFill>
                    <a:schemeClr val="tx1"/>
                  </a:solidFill>
                  <a:latin typeface="Calibri" panose="020F0502020204030204" pitchFamily="34" charset="0"/>
                </a:rPr>
                <a:t>(function</a:t>
              </a:r>
              <a:br>
                <a:rPr lang="en-US" altLang="zh-CN" sz="1050" b="1" dirty="0">
                  <a:solidFill>
                    <a:schemeClr val="tx1"/>
                  </a:solidFill>
                  <a:latin typeface="Calibri" panose="020F0502020204030204" pitchFamily="34" charset="0"/>
                </a:rPr>
              </a:br>
              <a:r>
                <a:rPr lang="en-US" altLang="zh-CN" sz="1050" b="1" dirty="0">
                  <a:solidFill>
                    <a:schemeClr val="tx1"/>
                  </a:solidFill>
                  <a:latin typeface="Calibri" panose="020F0502020204030204" pitchFamily="34" charset="0"/>
                </a:rPr>
                <a:t>object)</a:t>
              </a:r>
              <a:endParaRPr lang="zh-CN" altLang="zh-CN" sz="1050" b="1" dirty="0">
                <a:solidFill>
                  <a:schemeClr val="tx1"/>
                </a:solidFill>
                <a:latin typeface="Times New Roman" panose="02020603050405020304" pitchFamily="18" charset="0"/>
              </a:endParaRPr>
            </a:p>
          </p:txBody>
        </p:sp>
        <p:sp>
          <p:nvSpPr>
            <p:cNvPr id="19" name="AutoShape 11"/>
            <p:cNvSpPr>
              <a:spLocks noChangeArrowheads="1"/>
            </p:cNvSpPr>
            <p:nvPr/>
          </p:nvSpPr>
          <p:spPr bwMode="auto">
            <a:xfrm>
              <a:off x="3603821" y="5611163"/>
              <a:ext cx="353090" cy="464199"/>
            </a:xfrm>
            <a:prstGeom prst="downArrow">
              <a:avLst>
                <a:gd name="adj1" fmla="val 50000"/>
                <a:gd name="adj2" fmla="val 41441"/>
              </a:avLst>
            </a:prstGeom>
            <a:solidFill>
              <a:srgbClr val="E4AB88"/>
            </a:solidFill>
          </p:spPr>
          <p:style>
            <a:lnRef idx="2">
              <a:schemeClr val="accent4">
                <a:shade val="50000"/>
              </a:schemeClr>
            </a:lnRef>
            <a:fillRef idx="1">
              <a:schemeClr val="accent4"/>
            </a:fillRef>
            <a:effectRef idx="0">
              <a:schemeClr val="accent4"/>
            </a:effectRef>
            <a:fontRef idx="minor">
              <a:schemeClr val="lt1"/>
            </a:fontRef>
          </p:style>
          <p:txBody>
            <a:bodyPr/>
            <a:lstStyle/>
            <a:p>
              <a:pPr>
                <a:defRPr/>
              </a:pPr>
              <a:endParaRPr lang="zh-CN" altLang="en-US" sz="1800" b="1">
                <a:solidFill>
                  <a:schemeClr val="tx1"/>
                </a:solidFill>
              </a:endParaRPr>
            </a:p>
          </p:txBody>
        </p:sp>
        <p:sp>
          <p:nvSpPr>
            <p:cNvPr id="20" name="AutoShape 12"/>
            <p:cNvSpPr>
              <a:spLocks noChangeArrowheads="1"/>
            </p:cNvSpPr>
            <p:nvPr/>
          </p:nvSpPr>
          <p:spPr bwMode="auto">
            <a:xfrm>
              <a:off x="2424991" y="4594278"/>
              <a:ext cx="732997" cy="890682"/>
            </a:xfrm>
            <a:prstGeom prst="rightArrow">
              <a:avLst>
                <a:gd name="adj1" fmla="val 50000"/>
                <a:gd name="adj2" fmla="val 25000"/>
              </a:avLst>
            </a:prstGeom>
            <a:solidFill>
              <a:srgbClr val="E4AB88"/>
            </a:solidFill>
          </p:spPr>
          <p:style>
            <a:lnRef idx="2">
              <a:schemeClr val="accent4">
                <a:shade val="50000"/>
              </a:schemeClr>
            </a:lnRef>
            <a:fillRef idx="1">
              <a:schemeClr val="accent4"/>
            </a:fillRef>
            <a:effectRef idx="0">
              <a:schemeClr val="accent4"/>
            </a:effectRef>
            <a:fontRef idx="minor">
              <a:schemeClr val="lt1"/>
            </a:fontRef>
          </p:style>
          <p:txBody>
            <a:bodyPr/>
            <a:lstStyle/>
            <a:p>
              <a:pPr algn="ctr">
                <a:defRPr/>
              </a:pPr>
              <a:r>
                <a:rPr lang="zh-CN" altLang="en-US" sz="1050" b="1" dirty="0">
                  <a:solidFill>
                    <a:schemeClr val="tx1"/>
                  </a:solidFill>
                  <a:latin typeface="Calibri" panose="020F0502020204030204" pitchFamily="34" charset="0"/>
                </a:rPr>
                <a:t>迭代器</a:t>
              </a:r>
              <a:endParaRPr lang="zh-CN" altLang="en-US" sz="1050" b="1" dirty="0">
                <a:solidFill>
                  <a:schemeClr val="tx1"/>
                </a:solidFill>
                <a:latin typeface="Times New Roman" panose="02020603050405020304" pitchFamily="18" charset="0"/>
              </a:endParaRPr>
            </a:p>
            <a:p>
              <a:pPr algn="ctr">
                <a:defRPr/>
              </a:pPr>
              <a:r>
                <a:rPr lang="en-US" altLang="zh-CN" sz="1050" b="1" dirty="0">
                  <a:solidFill>
                    <a:schemeClr val="tx1"/>
                  </a:solidFill>
                  <a:latin typeface="Calibri" panose="020F0502020204030204" pitchFamily="34" charset="0"/>
                </a:rPr>
                <a:t>(</a:t>
              </a:r>
              <a:r>
                <a:rPr lang="en-US" altLang="zh-CN" sz="1050" b="1" dirty="0" err="1">
                  <a:solidFill>
                    <a:schemeClr val="tx1"/>
                  </a:solidFill>
                  <a:latin typeface="Calibri" panose="020F0502020204030204" pitchFamily="34" charset="0"/>
                </a:rPr>
                <a:t>iterator</a:t>
              </a:r>
              <a:r>
                <a:rPr lang="en-US" altLang="zh-CN" sz="1050" b="1" dirty="0">
                  <a:solidFill>
                    <a:schemeClr val="tx1"/>
                  </a:solidFill>
                  <a:latin typeface="Calibri" panose="020F0502020204030204" pitchFamily="34" charset="0"/>
                </a:rPr>
                <a:t>)</a:t>
              </a:r>
              <a:endParaRPr lang="zh-CN" altLang="zh-CN" sz="1050" b="1" dirty="0">
                <a:solidFill>
                  <a:schemeClr val="tx1"/>
                </a:solidFill>
                <a:latin typeface="Times New Roman" panose="02020603050405020304" pitchFamily="18" charset="0"/>
              </a:endParaRPr>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xfrm>
            <a:off x="555733" y="404664"/>
            <a:ext cx="8230076" cy="799683"/>
          </a:xfrm>
        </p:spPr>
        <p:txBody>
          <a:bodyPr/>
          <a:lstStyle/>
          <a:p>
            <a:r>
              <a:rPr lang="en-US" altLang="zh-CN" b="1" dirty="0"/>
              <a:t>STL</a:t>
            </a:r>
            <a:r>
              <a:rPr lang="zh-CN" altLang="en-US" b="1" dirty="0"/>
              <a:t>的基本组件</a:t>
            </a:r>
            <a:r>
              <a:rPr lang="en-US" altLang="zh-CN" b="1" dirty="0"/>
              <a:t>——</a:t>
            </a:r>
            <a:r>
              <a:rPr lang="zh-CN" altLang="en-US" b="1" dirty="0"/>
              <a:t>容器（</a:t>
            </a:r>
            <a:r>
              <a:rPr lang="en-US" altLang="zh-CN" b="1" dirty="0"/>
              <a:t>container</a:t>
            </a:r>
            <a:r>
              <a:rPr lang="zh-CN" altLang="en-US" b="1" dirty="0"/>
              <a:t>）</a:t>
            </a:r>
            <a:endParaRPr lang="zh-CN" altLang="en-US" b="1" dirty="0"/>
          </a:p>
        </p:txBody>
      </p:sp>
      <p:sp>
        <p:nvSpPr>
          <p:cNvPr id="20483" name="内容占位符 2"/>
          <p:cNvSpPr>
            <a:spLocks noGrp="1"/>
          </p:cNvSpPr>
          <p:nvPr>
            <p:ph idx="1"/>
          </p:nvPr>
        </p:nvSpPr>
        <p:spPr>
          <a:xfrm>
            <a:off x="555733" y="1204347"/>
            <a:ext cx="7978985" cy="3670496"/>
          </a:xfrm>
        </p:spPr>
        <p:txBody>
          <a:bodyPr/>
          <a:lstStyle/>
          <a:p>
            <a:pPr eaLnBrk="1" hangingPunct="1"/>
            <a:r>
              <a:rPr lang="zh-CN" altLang="en-US" sz="2000" b="1" dirty="0">
                <a:ea typeface="微软雅黑" panose="020B0503020204020204" pitchFamily="34" charset="-122"/>
              </a:rPr>
              <a:t>容纳、包含一组元素的对象。</a:t>
            </a:r>
            <a:endParaRPr lang="en-US" altLang="zh-CN" sz="2000" b="1" dirty="0">
              <a:ea typeface="微软雅黑" panose="020B0503020204020204" pitchFamily="34" charset="-122"/>
            </a:endParaRPr>
          </a:p>
          <a:p>
            <a:pPr eaLnBrk="1" hangingPunct="1"/>
            <a:r>
              <a:rPr lang="zh-CN" altLang="en-US" sz="2000" b="1" dirty="0">
                <a:ea typeface="微软雅黑" panose="020B0503020204020204" pitchFamily="34" charset="-122"/>
              </a:rPr>
              <a:t>基本容器类模板</a:t>
            </a:r>
            <a:r>
              <a:rPr lang="en-US" altLang="zh-CN" sz="2000" b="1" dirty="0">
                <a:ea typeface="微软雅黑" panose="020B0503020204020204" pitchFamily="34" charset="-122"/>
              </a:rPr>
              <a:t>	</a:t>
            </a:r>
            <a:endParaRPr lang="en-US" altLang="zh-CN" sz="2000" b="1" dirty="0">
              <a:ea typeface="微软雅黑" panose="020B0503020204020204" pitchFamily="34" charset="-122"/>
            </a:endParaRPr>
          </a:p>
          <a:p>
            <a:pPr lvl="1" eaLnBrk="1" hangingPunct="1"/>
            <a:r>
              <a:rPr lang="zh-CN" altLang="en-US" sz="2000" b="1" dirty="0">
                <a:ea typeface="微软雅黑" panose="020B0503020204020204" pitchFamily="34" charset="-122"/>
              </a:rPr>
              <a:t>顺序容器</a:t>
            </a:r>
            <a:endParaRPr lang="en-US" altLang="zh-CN" sz="2000" b="1" dirty="0">
              <a:ea typeface="微软雅黑" panose="020B0503020204020204" pitchFamily="34" charset="-122"/>
            </a:endParaRPr>
          </a:p>
          <a:p>
            <a:pPr lvl="2" eaLnBrk="1" hangingPunct="1"/>
            <a:r>
              <a:rPr lang="en-US" altLang="zh-CN" sz="1800" b="1" dirty="0">
                <a:solidFill>
                  <a:srgbClr val="FFFF00"/>
                </a:solidFill>
                <a:ea typeface="微软雅黑" panose="020B0503020204020204" pitchFamily="34" charset="-122"/>
              </a:rPr>
              <a:t>array</a:t>
            </a:r>
            <a:r>
              <a:rPr lang="zh-CN" altLang="en-US" sz="1800" b="1" dirty="0">
                <a:solidFill>
                  <a:srgbClr val="FFFF00"/>
                </a:solidFill>
                <a:ea typeface="微软雅黑" panose="020B0503020204020204" pitchFamily="34" charset="-122"/>
              </a:rPr>
              <a:t>（数组）、</a:t>
            </a:r>
            <a:r>
              <a:rPr lang="en-US" altLang="zh-CN" sz="1800" b="1" dirty="0">
                <a:solidFill>
                  <a:srgbClr val="FFFF00"/>
                </a:solidFill>
                <a:ea typeface="微软雅黑" panose="020B0503020204020204" pitchFamily="34" charset="-122"/>
              </a:rPr>
              <a:t>vector</a:t>
            </a:r>
            <a:r>
              <a:rPr lang="zh-CN" altLang="en-US" sz="1800" b="1" dirty="0">
                <a:solidFill>
                  <a:srgbClr val="FFFF00"/>
                </a:solidFill>
                <a:ea typeface="微软雅黑" panose="020B0503020204020204" pitchFamily="34" charset="-122"/>
              </a:rPr>
              <a:t>（向量）、</a:t>
            </a:r>
            <a:r>
              <a:rPr lang="en-US" altLang="zh-CN" sz="1800" b="1" dirty="0">
                <a:solidFill>
                  <a:srgbClr val="FFFF00"/>
                </a:solidFill>
                <a:ea typeface="微软雅黑" panose="020B0503020204020204" pitchFamily="34" charset="-122"/>
              </a:rPr>
              <a:t>deque</a:t>
            </a:r>
            <a:r>
              <a:rPr lang="zh-CN" altLang="en-US" sz="1800" b="1" dirty="0">
                <a:solidFill>
                  <a:srgbClr val="FFFF00"/>
                </a:solidFill>
                <a:ea typeface="微软雅黑" panose="020B0503020204020204" pitchFamily="34" charset="-122"/>
              </a:rPr>
              <a:t>（双端队列）、</a:t>
            </a:r>
            <a:r>
              <a:rPr lang="en-US" altLang="zh-CN" sz="1800" b="1" dirty="0" err="1">
                <a:solidFill>
                  <a:srgbClr val="FFFF00"/>
                </a:solidFill>
                <a:ea typeface="微软雅黑" panose="020B0503020204020204" pitchFamily="34" charset="-122"/>
              </a:rPr>
              <a:t>forward_list</a:t>
            </a:r>
            <a:r>
              <a:rPr lang="zh-CN" altLang="en-US" sz="1800" b="1" dirty="0">
                <a:solidFill>
                  <a:srgbClr val="FFFF00"/>
                </a:solidFill>
                <a:ea typeface="微软雅黑" panose="020B0503020204020204" pitchFamily="34" charset="-122"/>
              </a:rPr>
              <a:t>（单链表）、</a:t>
            </a:r>
            <a:r>
              <a:rPr lang="en-US" altLang="zh-CN" sz="1800" b="1" dirty="0">
                <a:solidFill>
                  <a:srgbClr val="FFFF00"/>
                </a:solidFill>
                <a:ea typeface="微软雅黑" panose="020B0503020204020204" pitchFamily="34" charset="-122"/>
              </a:rPr>
              <a:t>list</a:t>
            </a:r>
            <a:r>
              <a:rPr lang="zh-CN" altLang="en-US" sz="1800" b="1" dirty="0">
                <a:solidFill>
                  <a:srgbClr val="FFFF00"/>
                </a:solidFill>
                <a:ea typeface="微软雅黑" panose="020B0503020204020204" pitchFamily="34" charset="-122"/>
              </a:rPr>
              <a:t>（列表）</a:t>
            </a:r>
            <a:endParaRPr lang="en-US" altLang="zh-CN" sz="1800" b="1" dirty="0">
              <a:solidFill>
                <a:srgbClr val="FFFF00"/>
              </a:solidFill>
              <a:ea typeface="微软雅黑" panose="020B0503020204020204" pitchFamily="34" charset="-122"/>
            </a:endParaRPr>
          </a:p>
          <a:p>
            <a:pPr lvl="1" eaLnBrk="1" hangingPunct="1"/>
            <a:r>
              <a:rPr lang="en-US" altLang="zh-CN" sz="2000" b="1" dirty="0">
                <a:ea typeface="微软雅黑" panose="020B0503020204020204" pitchFamily="34" charset="-122"/>
              </a:rPr>
              <a:t>(</a:t>
            </a:r>
            <a:r>
              <a:rPr lang="zh-CN" altLang="en-US" sz="2000" b="1" dirty="0">
                <a:ea typeface="微软雅黑" panose="020B0503020204020204" pitchFamily="34" charset="-122"/>
              </a:rPr>
              <a:t>有序</a:t>
            </a:r>
            <a:r>
              <a:rPr lang="en-US" altLang="zh-CN" sz="2000" b="1" dirty="0">
                <a:ea typeface="微软雅黑" panose="020B0503020204020204" pitchFamily="34" charset="-122"/>
              </a:rPr>
              <a:t>)</a:t>
            </a:r>
            <a:r>
              <a:rPr lang="zh-CN" altLang="en-US" sz="2000" b="1" dirty="0">
                <a:ea typeface="微软雅黑" panose="020B0503020204020204" pitchFamily="34" charset="-122"/>
              </a:rPr>
              <a:t>关联容器</a:t>
            </a:r>
            <a:endParaRPr lang="zh-CN" altLang="en-US" sz="2000" b="1" dirty="0">
              <a:ea typeface="微软雅黑" panose="020B0503020204020204" pitchFamily="34" charset="-122"/>
            </a:endParaRPr>
          </a:p>
          <a:p>
            <a:pPr lvl="2" eaLnBrk="1" hangingPunct="1"/>
            <a:r>
              <a:rPr lang="en-US" altLang="zh-CN" sz="1800" b="1" dirty="0">
                <a:solidFill>
                  <a:srgbClr val="FFFF00"/>
                </a:solidFill>
                <a:ea typeface="微软雅黑" panose="020B0503020204020204" pitchFamily="34" charset="-122"/>
              </a:rPr>
              <a:t>set</a:t>
            </a:r>
            <a:r>
              <a:rPr lang="zh-CN" altLang="en-US" sz="1800" b="1" dirty="0">
                <a:solidFill>
                  <a:srgbClr val="FFFF00"/>
                </a:solidFill>
                <a:ea typeface="微软雅黑" panose="020B0503020204020204" pitchFamily="34" charset="-122"/>
              </a:rPr>
              <a:t>（集合）、</a:t>
            </a:r>
            <a:r>
              <a:rPr lang="en-US" altLang="zh-CN" sz="1800" b="1" dirty="0">
                <a:solidFill>
                  <a:srgbClr val="FFFF00"/>
                </a:solidFill>
                <a:ea typeface="微软雅黑" panose="020B0503020204020204" pitchFamily="34" charset="-122"/>
              </a:rPr>
              <a:t>multiset</a:t>
            </a:r>
            <a:r>
              <a:rPr lang="zh-CN" altLang="en-US" sz="1800" b="1" dirty="0">
                <a:solidFill>
                  <a:srgbClr val="FFFF00"/>
                </a:solidFill>
                <a:ea typeface="微软雅黑" panose="020B0503020204020204" pitchFamily="34" charset="-122"/>
              </a:rPr>
              <a:t>（多重集合）、</a:t>
            </a:r>
            <a:r>
              <a:rPr lang="en-US" altLang="zh-CN" sz="1800" b="1" dirty="0">
                <a:solidFill>
                  <a:srgbClr val="FFFF00"/>
                </a:solidFill>
                <a:ea typeface="微软雅黑" panose="020B0503020204020204" pitchFamily="34" charset="-122"/>
              </a:rPr>
              <a:t>map</a:t>
            </a:r>
            <a:r>
              <a:rPr lang="zh-CN" altLang="en-US" sz="1800" b="1" dirty="0">
                <a:solidFill>
                  <a:srgbClr val="FFFF00"/>
                </a:solidFill>
                <a:ea typeface="微软雅黑" panose="020B0503020204020204" pitchFamily="34" charset="-122"/>
              </a:rPr>
              <a:t>（映射）、</a:t>
            </a:r>
            <a:r>
              <a:rPr lang="en-US" altLang="zh-CN" sz="1800" b="1" dirty="0">
                <a:solidFill>
                  <a:srgbClr val="FFFF00"/>
                </a:solidFill>
                <a:ea typeface="微软雅黑" panose="020B0503020204020204" pitchFamily="34" charset="-122"/>
              </a:rPr>
              <a:t>multimap</a:t>
            </a:r>
            <a:r>
              <a:rPr lang="zh-CN" altLang="en-US" sz="1800" b="1" dirty="0">
                <a:solidFill>
                  <a:srgbClr val="FFFF00"/>
                </a:solidFill>
                <a:ea typeface="微软雅黑" panose="020B0503020204020204" pitchFamily="34" charset="-122"/>
              </a:rPr>
              <a:t>（多重映射）</a:t>
            </a:r>
            <a:endParaRPr lang="en-US" altLang="zh-CN" sz="1800" b="1" dirty="0">
              <a:solidFill>
                <a:srgbClr val="FFFF00"/>
              </a:solidFill>
              <a:ea typeface="微软雅黑" panose="020B0503020204020204" pitchFamily="34" charset="-122"/>
            </a:endParaRPr>
          </a:p>
          <a:p>
            <a:pPr lvl="1" eaLnBrk="1" hangingPunct="1"/>
            <a:r>
              <a:rPr lang="zh-CN" altLang="en-US" sz="2000" b="1" dirty="0">
                <a:ea typeface="微软雅黑" panose="020B0503020204020204" pitchFamily="34" charset="-122"/>
              </a:rPr>
              <a:t>无序关联容器</a:t>
            </a:r>
            <a:endParaRPr lang="zh-CN" altLang="en-US" sz="2000" b="1" dirty="0">
              <a:ea typeface="微软雅黑" panose="020B0503020204020204" pitchFamily="34" charset="-122"/>
            </a:endParaRPr>
          </a:p>
          <a:p>
            <a:pPr lvl="2" eaLnBrk="1" hangingPunct="1"/>
            <a:r>
              <a:rPr lang="en-US" altLang="zh-CN" sz="1800" b="1" dirty="0" err="1">
                <a:solidFill>
                  <a:srgbClr val="FFFF00"/>
                </a:solidFill>
                <a:ea typeface="微软雅黑" panose="020B0503020204020204" pitchFamily="34" charset="-122"/>
              </a:rPr>
              <a:t>unordered_set</a:t>
            </a:r>
            <a:r>
              <a:rPr lang="zh-CN" altLang="en-US" sz="1800" b="1" dirty="0">
                <a:solidFill>
                  <a:srgbClr val="FFFF00"/>
                </a:solidFill>
                <a:ea typeface="微软雅黑" panose="020B0503020204020204" pitchFamily="34" charset="-122"/>
              </a:rPr>
              <a:t> （无序集合）、</a:t>
            </a:r>
            <a:r>
              <a:rPr lang="en-US" altLang="zh-CN" sz="1800" b="1" dirty="0" err="1">
                <a:solidFill>
                  <a:srgbClr val="FFFF00"/>
                </a:solidFill>
                <a:ea typeface="微软雅黑" panose="020B0503020204020204" pitchFamily="34" charset="-122"/>
              </a:rPr>
              <a:t>unordered_multiset</a:t>
            </a:r>
            <a:r>
              <a:rPr lang="zh-CN" altLang="en-US" sz="1800" b="1" dirty="0">
                <a:solidFill>
                  <a:srgbClr val="FFFF00"/>
                </a:solidFill>
                <a:ea typeface="微软雅黑" panose="020B0503020204020204" pitchFamily="34" charset="-122"/>
              </a:rPr>
              <a:t>（无序多重集合）</a:t>
            </a:r>
            <a:r>
              <a:rPr lang="en-US" altLang="zh-CN" sz="1800" b="1" dirty="0">
                <a:solidFill>
                  <a:srgbClr val="FFFF00"/>
                </a:solidFill>
                <a:ea typeface="微软雅黑" panose="020B0503020204020204" pitchFamily="34" charset="-122"/>
              </a:rPr>
              <a:t> </a:t>
            </a:r>
            <a:endParaRPr lang="en-US" altLang="zh-CN" sz="1800" b="1" dirty="0">
              <a:solidFill>
                <a:srgbClr val="FFFF00"/>
              </a:solidFill>
              <a:ea typeface="微软雅黑" panose="020B0503020204020204" pitchFamily="34" charset="-122"/>
            </a:endParaRPr>
          </a:p>
          <a:p>
            <a:pPr lvl="2" eaLnBrk="1" hangingPunct="1"/>
            <a:r>
              <a:rPr lang="en-US" altLang="zh-CN" sz="1800" b="1" dirty="0" err="1">
                <a:solidFill>
                  <a:srgbClr val="FFFF00"/>
                </a:solidFill>
                <a:ea typeface="微软雅黑" panose="020B0503020204020204" pitchFamily="34" charset="-122"/>
              </a:rPr>
              <a:t>unordered_map</a:t>
            </a:r>
            <a:r>
              <a:rPr lang="zh-CN" altLang="en-US" sz="1800" b="1" dirty="0">
                <a:solidFill>
                  <a:srgbClr val="FFFF00"/>
                </a:solidFill>
                <a:ea typeface="微软雅黑" panose="020B0503020204020204" pitchFamily="34" charset="-122"/>
              </a:rPr>
              <a:t>（无序映射）、</a:t>
            </a:r>
            <a:r>
              <a:rPr lang="en-US" altLang="zh-CN" sz="1800" b="1" dirty="0" err="1">
                <a:solidFill>
                  <a:srgbClr val="FFFF00"/>
                </a:solidFill>
                <a:ea typeface="微软雅黑" panose="020B0503020204020204" pitchFamily="34" charset="-122"/>
              </a:rPr>
              <a:t>unorder_multimap</a:t>
            </a:r>
            <a:r>
              <a:rPr lang="zh-CN" altLang="en-US" sz="1800" b="1" dirty="0">
                <a:solidFill>
                  <a:srgbClr val="FFFF00"/>
                </a:solidFill>
                <a:ea typeface="微软雅黑" panose="020B0503020204020204" pitchFamily="34" charset="-122"/>
              </a:rPr>
              <a:t>（无序多重映射）</a:t>
            </a:r>
            <a:endParaRPr lang="en-US" altLang="zh-CN" sz="1800" b="1" dirty="0">
              <a:solidFill>
                <a:srgbClr val="FFFF00"/>
              </a:solidFill>
              <a:ea typeface="微软雅黑" panose="020B0503020204020204" pitchFamily="34" charset="-122"/>
            </a:endParaRPr>
          </a:p>
          <a:p>
            <a:pPr eaLnBrk="1" hangingPunct="1"/>
            <a:r>
              <a:rPr lang="zh-CN" altLang="en-US" sz="2000" b="1" dirty="0">
                <a:ea typeface="微软雅黑" panose="020B0503020204020204" pitchFamily="34" charset="-122"/>
              </a:rPr>
              <a:t>容器适配器</a:t>
            </a:r>
            <a:endParaRPr lang="zh-CN" altLang="en-US" sz="2000" b="1" dirty="0">
              <a:ea typeface="微软雅黑" panose="020B0503020204020204" pitchFamily="34" charset="-122"/>
            </a:endParaRPr>
          </a:p>
          <a:p>
            <a:pPr lvl="1" eaLnBrk="1" hangingPunct="1"/>
            <a:r>
              <a:rPr lang="en-US" altLang="zh-CN" sz="2000" b="1" dirty="0">
                <a:solidFill>
                  <a:srgbClr val="FFFF00"/>
                </a:solidFill>
                <a:ea typeface="微软雅黑" panose="020B0503020204020204" pitchFamily="34" charset="-122"/>
              </a:rPr>
              <a:t>stack</a:t>
            </a:r>
            <a:r>
              <a:rPr lang="zh-CN" altLang="en-US" sz="2000" b="1" dirty="0">
                <a:solidFill>
                  <a:srgbClr val="FFFF00"/>
                </a:solidFill>
                <a:ea typeface="微软雅黑" panose="020B0503020204020204" pitchFamily="34" charset="-122"/>
              </a:rPr>
              <a:t>（栈）、</a:t>
            </a:r>
            <a:r>
              <a:rPr lang="en-US" altLang="zh-CN" sz="2000" b="1" dirty="0">
                <a:solidFill>
                  <a:srgbClr val="FFFF00"/>
                </a:solidFill>
                <a:ea typeface="微软雅黑" panose="020B0503020204020204" pitchFamily="34" charset="-122"/>
              </a:rPr>
              <a:t>queue</a:t>
            </a:r>
            <a:r>
              <a:rPr lang="zh-CN" altLang="en-US" sz="2000" b="1" dirty="0">
                <a:solidFill>
                  <a:srgbClr val="FFFF00"/>
                </a:solidFill>
                <a:ea typeface="微软雅黑" panose="020B0503020204020204" pitchFamily="34" charset="-122"/>
              </a:rPr>
              <a:t>（队列）、</a:t>
            </a:r>
            <a:r>
              <a:rPr lang="en-US" altLang="zh-CN" sz="2000" b="1" dirty="0" err="1">
                <a:solidFill>
                  <a:srgbClr val="FFFF00"/>
                </a:solidFill>
                <a:ea typeface="微软雅黑" panose="020B0503020204020204" pitchFamily="34" charset="-122"/>
              </a:rPr>
              <a:t>priority_queue</a:t>
            </a:r>
            <a:r>
              <a:rPr lang="zh-CN" altLang="en-US" sz="2000" b="1" dirty="0">
                <a:solidFill>
                  <a:srgbClr val="FFFF00"/>
                </a:solidFill>
                <a:ea typeface="微软雅黑" panose="020B0503020204020204" pitchFamily="34" charset="-122"/>
              </a:rPr>
              <a:t>（优先队列）</a:t>
            </a:r>
            <a:endParaRPr lang="en-US" altLang="zh-CN" sz="2000" b="1" dirty="0">
              <a:solidFill>
                <a:srgbClr val="FFFF00"/>
              </a:solidFill>
              <a:ea typeface="微软雅黑" panose="020B0503020204020204" pitchFamily="34" charset="-122"/>
            </a:endParaRPr>
          </a:p>
          <a:p>
            <a:pPr eaLnBrk="1" hangingPunct="1"/>
            <a:r>
              <a:rPr lang="zh-CN" altLang="en-US" sz="2000" b="1" dirty="0">
                <a:ea typeface="微软雅黑" panose="020B0503020204020204" pitchFamily="34" charset="-122"/>
              </a:rPr>
              <a:t>使用容器，需要包含对应的头文件</a:t>
            </a:r>
            <a:endParaRPr lang="en-US" altLang="zh-CN" sz="2000" b="1" dirty="0">
              <a:ea typeface="微软雅黑" panose="020B0503020204020204" pitchFamily="34"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xfrm>
            <a:off x="683568" y="332656"/>
            <a:ext cx="8230076" cy="799683"/>
          </a:xfrm>
        </p:spPr>
        <p:txBody>
          <a:bodyPr/>
          <a:lstStyle/>
          <a:p>
            <a:r>
              <a:rPr lang="en-US" altLang="zh-CN" b="1"/>
              <a:t>STL</a:t>
            </a:r>
            <a:r>
              <a:rPr lang="zh-CN" altLang="en-US" b="1"/>
              <a:t>的基本组件</a:t>
            </a:r>
            <a:r>
              <a:rPr lang="en-US" altLang="zh-CN" b="1"/>
              <a:t>——</a:t>
            </a:r>
            <a:r>
              <a:rPr lang="zh-CN" altLang="en-US" b="1"/>
              <a:t>迭代器（</a:t>
            </a:r>
            <a:r>
              <a:rPr lang="en-US" altLang="zh-CN" b="1"/>
              <a:t>iterator</a:t>
            </a:r>
            <a:r>
              <a:rPr lang="zh-CN" altLang="en-US" b="1"/>
              <a:t>）</a:t>
            </a:r>
            <a:endParaRPr lang="zh-CN" altLang="en-US" b="1"/>
          </a:p>
        </p:txBody>
      </p:sp>
      <p:sp>
        <p:nvSpPr>
          <p:cNvPr id="21507" name="内容占位符 2"/>
          <p:cNvSpPr>
            <a:spLocks noGrp="1"/>
          </p:cNvSpPr>
          <p:nvPr>
            <p:ph idx="1"/>
          </p:nvPr>
        </p:nvSpPr>
        <p:spPr>
          <a:xfrm>
            <a:off x="539552" y="1412776"/>
            <a:ext cx="8230076" cy="3063073"/>
          </a:xfrm>
        </p:spPr>
        <p:txBody>
          <a:bodyPr/>
          <a:lstStyle/>
          <a:p>
            <a:pPr eaLnBrk="1" hangingPunct="1">
              <a:lnSpc>
                <a:spcPct val="90000"/>
              </a:lnSpc>
            </a:pPr>
            <a:r>
              <a:rPr lang="zh-CN" altLang="en-US" sz="2400" b="1" dirty="0">
                <a:latin typeface="微软雅黑" panose="020B0503020204020204" pitchFamily="34" charset="-122"/>
                <a:ea typeface="微软雅黑" panose="020B0503020204020204" pitchFamily="34" charset="-122"/>
              </a:rPr>
              <a:t>迭代器是泛化的指针，提供了顺序访问容器中每个元素的方法</a:t>
            </a:r>
            <a:endParaRPr lang="en-US" altLang="zh-CN" sz="2400" b="1" dirty="0">
              <a:latin typeface="微软雅黑" panose="020B0503020204020204" pitchFamily="34" charset="-122"/>
              <a:ea typeface="微软雅黑" panose="020B0503020204020204" pitchFamily="34" charset="-122"/>
            </a:endParaRPr>
          </a:p>
          <a:p>
            <a:pPr eaLnBrk="1" hangingPunct="1">
              <a:lnSpc>
                <a:spcPct val="90000"/>
              </a:lnSpc>
            </a:pPr>
            <a:r>
              <a:rPr lang="zh-CN" altLang="en-US" sz="2400" b="1" dirty="0">
                <a:latin typeface="微软雅黑" panose="020B0503020204020204" pitchFamily="34" charset="-122"/>
                <a:ea typeface="微软雅黑" panose="020B0503020204020204" pitchFamily="34" charset="-122"/>
              </a:rPr>
              <a:t>提供了顺序访问容器中每个元素的方法；</a:t>
            </a:r>
            <a:endParaRPr lang="en-US" altLang="zh-CN" sz="2400" b="1" dirty="0">
              <a:latin typeface="微软雅黑" panose="020B0503020204020204" pitchFamily="34" charset="-122"/>
              <a:ea typeface="微软雅黑" panose="020B0503020204020204" pitchFamily="34" charset="-122"/>
            </a:endParaRPr>
          </a:p>
          <a:p>
            <a:pPr eaLnBrk="1" hangingPunct="1">
              <a:lnSpc>
                <a:spcPct val="90000"/>
              </a:lnSpc>
            </a:pPr>
            <a:r>
              <a:rPr lang="zh-CN" altLang="en-US" sz="2400" b="1" dirty="0">
                <a:latin typeface="微软雅黑" panose="020B0503020204020204" pitchFamily="34" charset="-122"/>
                <a:ea typeface="微软雅黑" panose="020B0503020204020204" pitchFamily="34" charset="-122"/>
              </a:rPr>
              <a:t>可以使用“</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运算符来获得指向下一个元素的迭代器；</a:t>
            </a:r>
            <a:endParaRPr lang="en-US" altLang="zh-CN" sz="2400" b="1" dirty="0">
              <a:latin typeface="微软雅黑" panose="020B0503020204020204" pitchFamily="34" charset="-122"/>
              <a:ea typeface="微软雅黑" panose="020B0503020204020204" pitchFamily="34" charset="-122"/>
            </a:endParaRPr>
          </a:p>
          <a:p>
            <a:pPr eaLnBrk="1" hangingPunct="1">
              <a:lnSpc>
                <a:spcPct val="90000"/>
              </a:lnSpc>
            </a:pPr>
            <a:r>
              <a:rPr lang="zh-CN" altLang="en-US" sz="2400" b="1" dirty="0">
                <a:latin typeface="微软雅黑" panose="020B0503020204020204" pitchFamily="34" charset="-122"/>
                <a:ea typeface="微软雅黑" panose="020B0503020204020204" pitchFamily="34" charset="-122"/>
              </a:rPr>
              <a:t>可以使用“*”运算符访问一个迭代器所指向的元素，如果元素类型是类或结构体，还可以使用“</a:t>
            </a:r>
            <a:r>
              <a:rPr lang="en-US" altLang="zh-CN" sz="2400" b="1" dirty="0">
                <a:latin typeface="微软雅黑" panose="020B0503020204020204" pitchFamily="34" charset="-122"/>
                <a:ea typeface="微软雅黑" panose="020B0503020204020204" pitchFamily="34" charset="-122"/>
              </a:rPr>
              <a:t>-&gt;”</a:t>
            </a:r>
            <a:r>
              <a:rPr lang="zh-CN" altLang="en-US" sz="2400" b="1" dirty="0">
                <a:latin typeface="微软雅黑" panose="020B0503020204020204" pitchFamily="34" charset="-122"/>
                <a:ea typeface="微软雅黑" panose="020B0503020204020204" pitchFamily="34" charset="-122"/>
              </a:rPr>
              <a:t>运算符直接访问该元素的一个成员；</a:t>
            </a:r>
            <a:endParaRPr lang="en-US" altLang="zh-CN" sz="2400" b="1" dirty="0">
              <a:latin typeface="微软雅黑" panose="020B0503020204020204" pitchFamily="34" charset="-122"/>
              <a:ea typeface="微软雅黑" panose="020B0503020204020204" pitchFamily="34" charset="-122"/>
            </a:endParaRPr>
          </a:p>
          <a:p>
            <a:pPr eaLnBrk="1" hangingPunct="1">
              <a:lnSpc>
                <a:spcPct val="90000"/>
              </a:lnSpc>
            </a:pPr>
            <a:r>
              <a:rPr lang="zh-CN" altLang="en-US" sz="2400" b="1" dirty="0">
                <a:latin typeface="微软雅黑" panose="020B0503020204020204" pitchFamily="34" charset="-122"/>
                <a:ea typeface="微软雅黑" panose="020B0503020204020204" pitchFamily="34" charset="-122"/>
              </a:rPr>
              <a:t>有些迭代器还支持通过“</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运算符获得指向上一个元素的迭代器；</a:t>
            </a:r>
            <a:endParaRPr lang="en-US" altLang="zh-CN" sz="2400" b="1" dirty="0">
              <a:latin typeface="微软雅黑" panose="020B0503020204020204" pitchFamily="34" charset="-122"/>
              <a:ea typeface="微软雅黑" panose="020B0503020204020204" pitchFamily="34" charset="-122"/>
            </a:endParaRPr>
          </a:p>
          <a:p>
            <a:pPr eaLnBrk="1" hangingPunct="1">
              <a:lnSpc>
                <a:spcPct val="90000"/>
              </a:lnSpc>
            </a:pPr>
            <a:r>
              <a:rPr lang="zh-CN" altLang="en-US" sz="2400" b="1" dirty="0">
                <a:latin typeface="微软雅黑" panose="020B0503020204020204" pitchFamily="34" charset="-122"/>
                <a:ea typeface="微软雅黑" panose="020B0503020204020204" pitchFamily="34" charset="-122"/>
              </a:rPr>
              <a:t>迭代器是泛化的指针：指针也具有同样的特性，因此指针本身就是一种迭代器；</a:t>
            </a:r>
            <a:endParaRPr lang="en-US" altLang="zh-CN" sz="2400" b="1" dirty="0">
              <a:latin typeface="微软雅黑" panose="020B0503020204020204" pitchFamily="34" charset="-122"/>
              <a:ea typeface="微软雅黑" panose="020B0503020204020204" pitchFamily="34" charset="-122"/>
            </a:endParaRPr>
          </a:p>
          <a:p>
            <a:pPr eaLnBrk="1" hangingPunct="1">
              <a:lnSpc>
                <a:spcPct val="90000"/>
              </a:lnSpc>
            </a:pPr>
            <a:r>
              <a:rPr lang="zh-CN" altLang="en-US" sz="2400" b="1" dirty="0">
                <a:latin typeface="微软雅黑" panose="020B0503020204020204" pitchFamily="34" charset="-122"/>
                <a:ea typeface="微软雅黑" panose="020B0503020204020204" pitchFamily="34" charset="-122"/>
              </a:rPr>
              <a:t>使用独立于</a:t>
            </a:r>
            <a:r>
              <a:rPr lang="en-US" altLang="zh-CN" sz="2400" b="1" dirty="0">
                <a:latin typeface="微软雅黑" panose="020B0503020204020204" pitchFamily="34" charset="-122"/>
                <a:ea typeface="微软雅黑" panose="020B0503020204020204" pitchFamily="34" charset="-122"/>
              </a:rPr>
              <a:t>STL</a:t>
            </a:r>
            <a:r>
              <a:rPr lang="zh-CN" altLang="en-US" sz="2400" b="1" dirty="0">
                <a:latin typeface="微软雅黑" panose="020B0503020204020204" pitchFamily="34" charset="-122"/>
                <a:ea typeface="微软雅黑" panose="020B0503020204020204" pitchFamily="34" charset="-122"/>
              </a:rPr>
              <a:t>容器的迭代器，需要包含头文件</a:t>
            </a:r>
            <a:r>
              <a:rPr lang="en-US" altLang="zh-CN" sz="2400" b="1" dirty="0">
                <a:latin typeface="微软雅黑" panose="020B0503020204020204" pitchFamily="34" charset="-122"/>
                <a:ea typeface="微软雅黑" panose="020B0503020204020204" pitchFamily="34" charset="-122"/>
              </a:rPr>
              <a:t>&lt;iterator&gt;</a:t>
            </a:r>
            <a:r>
              <a:rPr lang="zh-CN" altLang="en-US"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502182" y="332656"/>
            <a:ext cx="8798396" cy="799683"/>
          </a:xfrm>
        </p:spPr>
        <p:txBody>
          <a:bodyPr/>
          <a:lstStyle/>
          <a:p>
            <a:r>
              <a:rPr lang="en-US" altLang="zh-CN"/>
              <a:t>STL</a:t>
            </a:r>
            <a:r>
              <a:rPr lang="zh-CN" altLang="en-US"/>
              <a:t>的基本组件</a:t>
            </a:r>
            <a:r>
              <a:rPr lang="en-US" altLang="zh-CN"/>
              <a:t>——</a:t>
            </a:r>
            <a:r>
              <a:rPr lang="zh-CN" altLang="en-US"/>
              <a:t>函数对象（</a:t>
            </a:r>
            <a:r>
              <a:rPr lang="en-US" altLang="zh-CN"/>
              <a:t>function object</a:t>
            </a:r>
            <a:r>
              <a:rPr lang="zh-CN" altLang="en-US"/>
              <a:t>）</a:t>
            </a:r>
            <a:endParaRPr lang="zh-CN" altLang="en-US"/>
          </a:p>
        </p:txBody>
      </p:sp>
      <p:sp>
        <p:nvSpPr>
          <p:cNvPr id="22531" name="内容占位符 2"/>
          <p:cNvSpPr>
            <a:spLocks noGrp="1"/>
          </p:cNvSpPr>
          <p:nvPr>
            <p:ph idx="1"/>
          </p:nvPr>
        </p:nvSpPr>
        <p:spPr>
          <a:xfrm>
            <a:off x="611560" y="1988840"/>
            <a:ext cx="8118159" cy="3119003"/>
          </a:xfrm>
        </p:spPr>
        <p:txBody>
          <a:bodyPr/>
          <a:lstStyle/>
          <a:p>
            <a:pPr eaLnBrk="1" hangingPunct="1">
              <a:lnSpc>
                <a:spcPct val="200000"/>
              </a:lnSpc>
            </a:pPr>
            <a:r>
              <a:rPr lang="zh-CN" altLang="en-US" sz="2400" b="1">
                <a:latin typeface="微软雅黑" panose="020B0503020204020204" pitchFamily="34" charset="-122"/>
                <a:ea typeface="微软雅黑" panose="020B0503020204020204" pitchFamily="34" charset="-122"/>
              </a:rPr>
              <a:t>一个行为类似函数的对象，对它可以像调用函数一样调用。</a:t>
            </a:r>
            <a:endParaRPr lang="en-US" altLang="zh-CN" sz="2400" b="1">
              <a:latin typeface="微软雅黑" panose="020B0503020204020204" pitchFamily="34" charset="-122"/>
              <a:ea typeface="微软雅黑" panose="020B0503020204020204" pitchFamily="34" charset="-122"/>
            </a:endParaRPr>
          </a:p>
          <a:p>
            <a:pPr eaLnBrk="1" hangingPunct="1">
              <a:lnSpc>
                <a:spcPct val="200000"/>
              </a:lnSpc>
            </a:pPr>
            <a:r>
              <a:rPr lang="zh-CN" altLang="en-US" sz="2400" b="1">
                <a:latin typeface="微软雅黑" panose="020B0503020204020204" pitchFamily="34" charset="-122"/>
                <a:ea typeface="微软雅黑" panose="020B0503020204020204" pitchFamily="34" charset="-122"/>
              </a:rPr>
              <a:t>函数对象是泛化的函数：任何普通的函数和任何重载了“</a:t>
            </a:r>
            <a:r>
              <a:rPr lang="en-US" altLang="zh-CN" sz="2400" b="1">
                <a:latin typeface="微软雅黑" panose="020B0503020204020204" pitchFamily="34" charset="-122"/>
                <a:ea typeface="微软雅黑" panose="020B0503020204020204" pitchFamily="34" charset="-122"/>
              </a:rPr>
              <a:t>()</a:t>
            </a:r>
            <a:r>
              <a:rPr lang="zh-CN" altLang="en-US" sz="2400" b="1">
                <a:latin typeface="微软雅黑" panose="020B0503020204020204" pitchFamily="34" charset="-122"/>
                <a:ea typeface="微软雅黑" panose="020B0503020204020204" pitchFamily="34" charset="-122"/>
              </a:rPr>
              <a:t>”</a:t>
            </a:r>
            <a:r>
              <a:rPr lang="en-US" altLang="zh-CN" sz="2400" b="1">
                <a:latin typeface="微软雅黑" panose="020B0503020204020204" pitchFamily="34" charset="-122"/>
                <a:ea typeface="微软雅黑" panose="020B0503020204020204" pitchFamily="34" charset="-122"/>
              </a:rPr>
              <a:t> </a:t>
            </a:r>
            <a:r>
              <a:rPr lang="zh-CN" altLang="en-US" sz="2400" b="1">
                <a:latin typeface="微软雅黑" panose="020B0503020204020204" pitchFamily="34" charset="-122"/>
                <a:ea typeface="微软雅黑" panose="020B0503020204020204" pitchFamily="34" charset="-122"/>
              </a:rPr>
              <a:t>运算符的类的对象都可以作为函数对象使用</a:t>
            </a:r>
            <a:endParaRPr lang="en-US" altLang="zh-CN" sz="2400" b="1">
              <a:latin typeface="微软雅黑" panose="020B0503020204020204" pitchFamily="34" charset="-122"/>
              <a:ea typeface="微软雅黑" panose="020B0503020204020204" pitchFamily="34" charset="-122"/>
            </a:endParaRPr>
          </a:p>
          <a:p>
            <a:pPr eaLnBrk="1" hangingPunct="1">
              <a:lnSpc>
                <a:spcPct val="200000"/>
              </a:lnSpc>
            </a:pPr>
            <a:r>
              <a:rPr lang="zh-CN" altLang="en-US" sz="2400" b="1">
                <a:latin typeface="微软雅黑" panose="020B0503020204020204" pitchFamily="34" charset="-122"/>
                <a:ea typeface="微软雅黑" panose="020B0503020204020204" pitchFamily="34" charset="-122"/>
              </a:rPr>
              <a:t>使用</a:t>
            </a:r>
            <a:r>
              <a:rPr lang="en-US" altLang="zh-CN" sz="2400" b="1">
                <a:latin typeface="微软雅黑" panose="020B0503020204020204" pitchFamily="34" charset="-122"/>
                <a:ea typeface="微软雅黑" panose="020B0503020204020204" pitchFamily="34" charset="-122"/>
              </a:rPr>
              <a:t>STL</a:t>
            </a:r>
            <a:r>
              <a:rPr lang="zh-CN" altLang="en-US" sz="2400" b="1">
                <a:latin typeface="微软雅黑" panose="020B0503020204020204" pitchFamily="34" charset="-122"/>
                <a:ea typeface="微软雅黑" panose="020B0503020204020204" pitchFamily="34" charset="-122"/>
              </a:rPr>
              <a:t>的函数对象，需要包含头文件</a:t>
            </a:r>
            <a:r>
              <a:rPr lang="en-US" altLang="zh-CN" sz="2400" b="1">
                <a:latin typeface="微软雅黑" panose="020B0503020204020204" pitchFamily="34" charset="-122"/>
                <a:ea typeface="微软雅黑" panose="020B0503020204020204" pitchFamily="34" charset="-122"/>
              </a:rPr>
              <a:t>&lt;functional&gt;</a:t>
            </a:r>
            <a:endParaRPr lang="zh-CN" altLang="en-US" sz="2400" b="1">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446223" y="1124744"/>
            <a:ext cx="8230076" cy="799683"/>
          </a:xfrm>
        </p:spPr>
        <p:txBody>
          <a:bodyPr/>
          <a:lstStyle/>
          <a:p>
            <a:r>
              <a:rPr lang="en-US" altLang="zh-CN"/>
              <a:t>STL</a:t>
            </a:r>
            <a:r>
              <a:rPr lang="zh-CN" altLang="en-US"/>
              <a:t>的基本组件</a:t>
            </a:r>
            <a:r>
              <a:rPr lang="en-US" altLang="zh-CN"/>
              <a:t>——</a:t>
            </a:r>
            <a:r>
              <a:rPr lang="zh-CN" altLang="en-US"/>
              <a:t>算法（</a:t>
            </a:r>
            <a:r>
              <a:rPr lang="en-US" altLang="zh-CN"/>
              <a:t>algorithms</a:t>
            </a:r>
            <a:r>
              <a:rPr lang="zh-CN" altLang="en-US"/>
              <a:t>）</a:t>
            </a:r>
            <a:endParaRPr lang="zh-CN" altLang="en-US"/>
          </a:p>
        </p:txBody>
      </p:sp>
      <p:sp>
        <p:nvSpPr>
          <p:cNvPr id="22531" name="内容占位符 2"/>
          <p:cNvSpPr>
            <a:spLocks noGrp="1"/>
          </p:cNvSpPr>
          <p:nvPr>
            <p:ph idx="1"/>
          </p:nvPr>
        </p:nvSpPr>
        <p:spPr>
          <a:xfrm>
            <a:off x="556688" y="2132856"/>
            <a:ext cx="8118159" cy="3119003"/>
          </a:xfrm>
        </p:spPr>
        <p:txBody>
          <a:bodyPr/>
          <a:lstStyle/>
          <a:p>
            <a:pPr eaLnBrk="1" hangingPunct="1">
              <a:lnSpc>
                <a:spcPct val="200000"/>
              </a:lnSpc>
            </a:pPr>
            <a:r>
              <a:rPr lang="en-US" altLang="zh-CN" sz="2400">
                <a:ea typeface="微软雅黑" panose="020B0503020204020204" pitchFamily="34" charset="-122"/>
              </a:rPr>
              <a:t>STL</a:t>
            </a:r>
            <a:r>
              <a:rPr lang="zh-CN" altLang="en-US" sz="2400">
                <a:ea typeface="微软雅黑" panose="020B0503020204020204" pitchFamily="34" charset="-122"/>
              </a:rPr>
              <a:t>包括</a:t>
            </a:r>
            <a:r>
              <a:rPr lang="en-US" altLang="zh-CN" sz="2400">
                <a:ea typeface="微软雅黑" panose="020B0503020204020204" pitchFamily="34" charset="-122"/>
              </a:rPr>
              <a:t>70</a:t>
            </a:r>
            <a:r>
              <a:rPr lang="zh-CN" altLang="en-US" sz="2400">
                <a:ea typeface="微软雅黑" panose="020B0503020204020204" pitchFamily="34" charset="-122"/>
              </a:rPr>
              <a:t>多个算法</a:t>
            </a:r>
            <a:endParaRPr lang="en-US" altLang="zh-CN" sz="2400">
              <a:ea typeface="微软雅黑" panose="020B0503020204020204" pitchFamily="34" charset="-122"/>
            </a:endParaRPr>
          </a:p>
          <a:p>
            <a:pPr lvl="1" eaLnBrk="1" hangingPunct="1">
              <a:lnSpc>
                <a:spcPct val="200000"/>
              </a:lnSpc>
            </a:pPr>
            <a:r>
              <a:rPr lang="zh-CN" altLang="en-US" sz="2400">
                <a:ea typeface="微软雅黑" panose="020B0503020204020204" pitchFamily="34" charset="-122"/>
              </a:rPr>
              <a:t>例如：排序算法，消除算法，计数算法，比较算法，变换算法，置换算法和容器管理等</a:t>
            </a:r>
            <a:endParaRPr lang="en-US" altLang="zh-CN" sz="2400">
              <a:ea typeface="微软雅黑" panose="020B0503020204020204" pitchFamily="34" charset="-122"/>
            </a:endParaRPr>
          </a:p>
          <a:p>
            <a:pPr eaLnBrk="1" hangingPunct="1">
              <a:lnSpc>
                <a:spcPct val="200000"/>
              </a:lnSpc>
            </a:pPr>
            <a:r>
              <a:rPr lang="zh-CN" altLang="en-US" sz="2400">
                <a:ea typeface="微软雅黑" panose="020B0503020204020204" pitchFamily="34" charset="-122"/>
              </a:rPr>
              <a:t>可以广泛用于不同的对象和内置的数据类型。</a:t>
            </a:r>
            <a:endParaRPr lang="en-US" altLang="zh-CN" sz="2400">
              <a:ea typeface="微软雅黑" panose="020B0503020204020204" pitchFamily="34" charset="-122"/>
            </a:endParaRPr>
          </a:p>
          <a:p>
            <a:pPr eaLnBrk="1" hangingPunct="1">
              <a:lnSpc>
                <a:spcPct val="200000"/>
              </a:lnSpc>
            </a:pPr>
            <a:r>
              <a:rPr lang="zh-CN" altLang="en-US" sz="2400">
                <a:ea typeface="微软雅黑" panose="020B0503020204020204" pitchFamily="34" charset="-122"/>
              </a:rPr>
              <a:t>使用</a:t>
            </a:r>
            <a:r>
              <a:rPr lang="en-US" altLang="zh-CN" sz="2400">
                <a:ea typeface="微软雅黑" panose="020B0503020204020204" pitchFamily="34" charset="-122"/>
              </a:rPr>
              <a:t>STL</a:t>
            </a:r>
            <a:r>
              <a:rPr lang="zh-CN" altLang="en-US" sz="2400">
                <a:ea typeface="微软雅黑" panose="020B0503020204020204" pitchFamily="34" charset="-122"/>
              </a:rPr>
              <a:t>的算法，需要包含头文件</a:t>
            </a:r>
            <a:r>
              <a:rPr lang="en-US" altLang="zh-CN" sz="2400">
                <a:ea typeface="微软雅黑" panose="020B0503020204020204" pitchFamily="34" charset="-122"/>
              </a:rPr>
              <a:t>&lt;algorithm&gt;</a:t>
            </a:r>
            <a:r>
              <a:rPr lang="zh-CN" altLang="en-US" sz="2400">
                <a:ea typeface="微软雅黑" panose="020B0503020204020204" pitchFamily="34" charset="-122"/>
              </a:rPr>
              <a:t>。</a:t>
            </a:r>
            <a:endParaRPr lang="zh-CN" altLang="en-US" sz="2400">
              <a:ea typeface="微软雅黑" panose="020B0503020204020204" pitchFamily="34"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a:xfrm>
            <a:off x="611560" y="404664"/>
            <a:ext cx="8230076" cy="799683"/>
          </a:xfrm>
        </p:spPr>
        <p:txBody>
          <a:bodyPr/>
          <a:lstStyle/>
          <a:p>
            <a:r>
              <a:rPr lang="zh-CN" altLang="en-US" dirty="0"/>
              <a:t>算法举例</a:t>
            </a:r>
            <a:r>
              <a:rPr lang="en-US" altLang="zh-CN" dirty="0"/>
              <a:t>——transform</a:t>
            </a:r>
            <a:r>
              <a:rPr lang="zh-CN" altLang="en-US" dirty="0"/>
              <a:t>算法</a:t>
            </a:r>
            <a:endParaRPr lang="zh-CN" altLang="en-US" dirty="0"/>
          </a:p>
        </p:txBody>
      </p:sp>
      <p:sp>
        <p:nvSpPr>
          <p:cNvPr id="25603" name="内容占位符 2"/>
          <p:cNvSpPr>
            <a:spLocks noGrp="1"/>
          </p:cNvSpPr>
          <p:nvPr>
            <p:ph idx="1"/>
          </p:nvPr>
        </p:nvSpPr>
        <p:spPr>
          <a:xfrm>
            <a:off x="611560" y="1772816"/>
            <a:ext cx="8230076" cy="3545026"/>
          </a:xfrm>
        </p:spPr>
        <p:txBody>
          <a:bodyPr/>
          <a:lstStyle/>
          <a:p>
            <a:r>
              <a:rPr lang="en-US" altLang="zh-CN" sz="2000" b="1" dirty="0">
                <a:ea typeface="微软雅黑" panose="020B0503020204020204" pitchFamily="34" charset="-122"/>
              </a:rPr>
              <a:t>transform</a:t>
            </a:r>
            <a:r>
              <a:rPr lang="zh-CN" altLang="en-US" sz="2000" b="1" dirty="0">
                <a:ea typeface="微软雅黑" panose="020B0503020204020204" pitchFamily="34" charset="-122"/>
              </a:rPr>
              <a:t>算法顺序遍历</a:t>
            </a:r>
            <a:r>
              <a:rPr lang="en-US" altLang="zh-CN" sz="2000" b="1" dirty="0">
                <a:solidFill>
                  <a:srgbClr val="FFFF00"/>
                </a:solidFill>
                <a:ea typeface="微软雅黑" panose="020B0503020204020204" pitchFamily="34" charset="-122"/>
              </a:rPr>
              <a:t>first</a:t>
            </a:r>
            <a:r>
              <a:rPr lang="zh-CN" altLang="en-US" sz="2000" b="1" dirty="0">
                <a:ea typeface="微软雅黑" panose="020B0503020204020204" pitchFamily="34" charset="-122"/>
              </a:rPr>
              <a:t>和</a:t>
            </a:r>
            <a:r>
              <a:rPr lang="en-US" altLang="zh-CN" sz="2000" b="1" dirty="0">
                <a:solidFill>
                  <a:srgbClr val="FFFF00"/>
                </a:solidFill>
                <a:ea typeface="微软雅黑" panose="020B0503020204020204" pitchFamily="34" charset="-122"/>
              </a:rPr>
              <a:t>last</a:t>
            </a:r>
            <a:r>
              <a:rPr lang="zh-CN" altLang="en-US" sz="2000" b="1" dirty="0">
                <a:ea typeface="微软雅黑" panose="020B0503020204020204" pitchFamily="34" charset="-122"/>
              </a:rPr>
              <a:t>两个迭代器所指向的元素；</a:t>
            </a:r>
            <a:endParaRPr lang="en-US" altLang="zh-CN" sz="2000" b="1" dirty="0">
              <a:ea typeface="微软雅黑" panose="020B0503020204020204" pitchFamily="34" charset="-122"/>
            </a:endParaRPr>
          </a:p>
          <a:p>
            <a:r>
              <a:rPr lang="zh-CN" altLang="en-US" sz="2000" b="1" dirty="0">
                <a:ea typeface="微软雅黑" panose="020B0503020204020204" pitchFamily="34" charset="-122"/>
              </a:rPr>
              <a:t>将每个元素的值作为函数对象</a:t>
            </a:r>
            <a:r>
              <a:rPr lang="en-US" altLang="zh-CN" sz="2000" b="1" dirty="0">
                <a:solidFill>
                  <a:srgbClr val="FFFF00"/>
                </a:solidFill>
                <a:ea typeface="微软雅黑" panose="020B0503020204020204" pitchFamily="34" charset="-122"/>
              </a:rPr>
              <a:t>op</a:t>
            </a:r>
            <a:r>
              <a:rPr lang="zh-CN" altLang="en-US" sz="2000" b="1" dirty="0">
                <a:ea typeface="微软雅黑" panose="020B0503020204020204" pitchFamily="34" charset="-122"/>
              </a:rPr>
              <a:t>的参数；</a:t>
            </a:r>
            <a:endParaRPr lang="en-US" altLang="zh-CN" sz="2000" b="1" dirty="0">
              <a:ea typeface="微软雅黑" panose="020B0503020204020204" pitchFamily="34" charset="-122"/>
            </a:endParaRPr>
          </a:p>
          <a:p>
            <a:r>
              <a:rPr lang="zh-CN" altLang="en-US" sz="2000" b="1" dirty="0">
                <a:ea typeface="微软雅黑" panose="020B0503020204020204" pitchFamily="34" charset="-122"/>
              </a:rPr>
              <a:t>将</a:t>
            </a:r>
            <a:r>
              <a:rPr lang="en-US" altLang="zh-CN" sz="2000" b="1" dirty="0">
                <a:ea typeface="微软雅黑" panose="020B0503020204020204" pitchFamily="34" charset="-122"/>
              </a:rPr>
              <a:t>op</a:t>
            </a:r>
            <a:r>
              <a:rPr lang="zh-CN" altLang="en-US" sz="2000" b="1" dirty="0">
                <a:ea typeface="微软雅黑" panose="020B0503020204020204" pitchFamily="34" charset="-122"/>
              </a:rPr>
              <a:t>的返回值通过迭代器</a:t>
            </a:r>
            <a:r>
              <a:rPr lang="en-US" altLang="zh-CN" sz="2000" b="1" dirty="0">
                <a:solidFill>
                  <a:srgbClr val="FFFF00"/>
                </a:solidFill>
                <a:ea typeface="微软雅黑" panose="020B0503020204020204" pitchFamily="34" charset="-122"/>
              </a:rPr>
              <a:t>result</a:t>
            </a:r>
            <a:r>
              <a:rPr lang="zh-CN" altLang="en-US" sz="2000" b="1" dirty="0">
                <a:ea typeface="微软雅黑" panose="020B0503020204020204" pitchFamily="34" charset="-122"/>
              </a:rPr>
              <a:t>顺序输出；</a:t>
            </a:r>
            <a:endParaRPr lang="en-US" altLang="zh-CN" sz="2000" b="1" dirty="0">
              <a:ea typeface="微软雅黑" panose="020B0503020204020204" pitchFamily="34" charset="-122"/>
            </a:endParaRPr>
          </a:p>
          <a:p>
            <a:r>
              <a:rPr lang="zh-CN" altLang="en-US" sz="2000" b="1" dirty="0">
                <a:ea typeface="微软雅黑" panose="020B0503020204020204" pitchFamily="34" charset="-122"/>
              </a:rPr>
              <a:t>遍历完成后</a:t>
            </a:r>
            <a:r>
              <a:rPr lang="en-US" altLang="zh-CN" sz="2000" b="1" dirty="0">
                <a:solidFill>
                  <a:srgbClr val="FFFF00"/>
                </a:solidFill>
                <a:ea typeface="微软雅黑" panose="020B0503020204020204" pitchFamily="34" charset="-122"/>
              </a:rPr>
              <a:t>result</a:t>
            </a:r>
            <a:r>
              <a:rPr lang="zh-CN" altLang="en-US" sz="2000" b="1" dirty="0">
                <a:ea typeface="微软雅黑" panose="020B0503020204020204" pitchFamily="34" charset="-122"/>
              </a:rPr>
              <a:t>迭代器指向的是输出的最后一个元素的下一个位置，</a:t>
            </a:r>
            <a:r>
              <a:rPr lang="en-US" altLang="zh-CN" sz="2000" b="1" dirty="0">
                <a:ea typeface="微软雅黑" panose="020B0503020204020204" pitchFamily="34" charset="-122"/>
              </a:rPr>
              <a:t>transform</a:t>
            </a:r>
            <a:r>
              <a:rPr lang="zh-CN" altLang="en-US" sz="2000" b="1" dirty="0">
                <a:ea typeface="微软雅黑" panose="020B0503020204020204" pitchFamily="34" charset="-122"/>
              </a:rPr>
              <a:t>会将该迭代器返回</a:t>
            </a:r>
            <a:endParaRPr lang="zh-CN" altLang="en-US" sz="2000" b="1" dirty="0">
              <a:ea typeface="微软雅黑" panose="020B0503020204020204" pitchFamily="34" charset="-122"/>
            </a:endParaRPr>
          </a:p>
          <a:p>
            <a:r>
              <a:rPr lang="zh-CN" altLang="en-US" sz="2000" b="1" dirty="0">
                <a:ea typeface="微软雅黑" panose="020B0503020204020204" pitchFamily="34" charset="-122"/>
              </a:rPr>
              <a:t>例如，以下可以是</a:t>
            </a:r>
            <a:r>
              <a:rPr lang="en-US" altLang="zh-CN" sz="2000" b="1" dirty="0">
                <a:ea typeface="微软雅黑" panose="020B0503020204020204" pitchFamily="34" charset="-122"/>
              </a:rPr>
              <a:t>transform</a:t>
            </a:r>
            <a:r>
              <a:rPr lang="zh-CN" altLang="en-US" sz="2000" b="1" dirty="0">
                <a:ea typeface="微软雅黑" panose="020B0503020204020204" pitchFamily="34" charset="-122"/>
              </a:rPr>
              <a:t>算法的一种实现：</a:t>
            </a:r>
            <a:endParaRPr lang="zh-CN" altLang="en-US" sz="2000" b="1" dirty="0">
              <a:ea typeface="微软雅黑" panose="020B0503020204020204" pitchFamily="34" charset="-122"/>
            </a:endParaRPr>
          </a:p>
          <a:p>
            <a:pPr lvl="1">
              <a:buFont typeface="Georgia" panose="02040502050405020303" pitchFamily="18" charset="0"/>
              <a:buNone/>
            </a:pPr>
            <a:r>
              <a:rPr lang="en-US" altLang="zh-CN" sz="2000" b="1" dirty="0">
                <a:ea typeface="微软雅黑" panose="020B0503020204020204" pitchFamily="34" charset="-122"/>
              </a:rPr>
              <a:t>template &lt;class </a:t>
            </a:r>
            <a:r>
              <a:rPr lang="en-US" altLang="zh-CN" sz="2000" b="1" dirty="0" err="1">
                <a:ea typeface="微软雅黑" panose="020B0503020204020204" pitchFamily="34" charset="-122"/>
              </a:rPr>
              <a:t>InputIterator</a:t>
            </a:r>
            <a:r>
              <a:rPr lang="en-US" altLang="zh-CN" sz="2000" b="1" dirty="0">
                <a:ea typeface="微软雅黑" panose="020B0503020204020204" pitchFamily="34" charset="-122"/>
              </a:rPr>
              <a:t>, class </a:t>
            </a:r>
            <a:r>
              <a:rPr lang="en-US" altLang="zh-CN" sz="2000" b="1" dirty="0" err="1">
                <a:ea typeface="微软雅黑" panose="020B0503020204020204" pitchFamily="34" charset="-122"/>
              </a:rPr>
              <a:t>OutputIterator</a:t>
            </a:r>
            <a:r>
              <a:rPr lang="en-US" altLang="zh-CN" sz="2000" b="1" dirty="0">
                <a:ea typeface="微软雅黑" panose="020B0503020204020204" pitchFamily="34" charset="-122"/>
              </a:rPr>
              <a:t>, class </a:t>
            </a:r>
            <a:r>
              <a:rPr lang="en-US" altLang="zh-CN" sz="2000" b="1" dirty="0" err="1">
                <a:ea typeface="微软雅黑" panose="020B0503020204020204" pitchFamily="34" charset="-122"/>
              </a:rPr>
              <a:t>UnaryFunction</a:t>
            </a:r>
            <a:r>
              <a:rPr lang="en-US" altLang="zh-CN" sz="2000" b="1" dirty="0">
                <a:ea typeface="微软雅黑" panose="020B0503020204020204" pitchFamily="34" charset="-122"/>
              </a:rPr>
              <a:t>&gt;</a:t>
            </a:r>
            <a:endParaRPr lang="en-US" altLang="zh-CN" sz="2000" b="1" dirty="0">
              <a:ea typeface="微软雅黑" panose="020B0503020204020204" pitchFamily="34" charset="-122"/>
            </a:endParaRPr>
          </a:p>
          <a:p>
            <a:pPr lvl="1">
              <a:buFont typeface="Georgia" panose="02040502050405020303" pitchFamily="18" charset="0"/>
              <a:buNone/>
            </a:pPr>
            <a:r>
              <a:rPr lang="en-US" altLang="zh-CN" sz="2000" b="1" dirty="0" err="1">
                <a:ea typeface="微软雅黑" panose="020B0503020204020204" pitchFamily="34" charset="-122"/>
              </a:rPr>
              <a:t>OutputIterator</a:t>
            </a:r>
            <a:r>
              <a:rPr lang="en-US" altLang="zh-CN" sz="2000" b="1" dirty="0">
                <a:ea typeface="微软雅黑" panose="020B0503020204020204" pitchFamily="34" charset="-122"/>
              </a:rPr>
              <a:t> transform(</a:t>
            </a:r>
            <a:r>
              <a:rPr lang="en-US" altLang="zh-CN" sz="2000" b="1" dirty="0" err="1">
                <a:ea typeface="微软雅黑" panose="020B0503020204020204" pitchFamily="34" charset="-122"/>
              </a:rPr>
              <a:t>InputIterator</a:t>
            </a:r>
            <a:r>
              <a:rPr lang="en-US" altLang="zh-CN" sz="2000" b="1" dirty="0">
                <a:ea typeface="微软雅黑" panose="020B0503020204020204" pitchFamily="34" charset="-122"/>
              </a:rPr>
              <a:t> </a:t>
            </a:r>
            <a:r>
              <a:rPr lang="en-US" altLang="zh-CN" sz="2000" b="1" dirty="0">
                <a:solidFill>
                  <a:srgbClr val="FFFF00"/>
                </a:solidFill>
                <a:ea typeface="微软雅黑" panose="020B0503020204020204" pitchFamily="34" charset="-122"/>
              </a:rPr>
              <a:t>first</a:t>
            </a:r>
            <a:r>
              <a:rPr lang="en-US" altLang="zh-CN" sz="2000" b="1" dirty="0">
                <a:ea typeface="微软雅黑" panose="020B0503020204020204" pitchFamily="34" charset="-122"/>
              </a:rPr>
              <a:t>, </a:t>
            </a:r>
            <a:r>
              <a:rPr lang="en-US" altLang="zh-CN" sz="2000" b="1" dirty="0" err="1">
                <a:ea typeface="微软雅黑" panose="020B0503020204020204" pitchFamily="34" charset="-122"/>
              </a:rPr>
              <a:t>InputIterator</a:t>
            </a:r>
            <a:r>
              <a:rPr lang="en-US" altLang="zh-CN" sz="2000" b="1" dirty="0">
                <a:ea typeface="微软雅黑" panose="020B0503020204020204" pitchFamily="34" charset="-122"/>
              </a:rPr>
              <a:t> </a:t>
            </a:r>
            <a:r>
              <a:rPr lang="en-US" altLang="zh-CN" sz="2000" b="1" dirty="0">
                <a:solidFill>
                  <a:srgbClr val="FFFF00"/>
                </a:solidFill>
                <a:ea typeface="微软雅黑" panose="020B0503020204020204" pitchFamily="34" charset="-122"/>
              </a:rPr>
              <a:t>last</a:t>
            </a:r>
            <a:r>
              <a:rPr lang="en-US" altLang="zh-CN" sz="2000" b="1" dirty="0">
                <a:ea typeface="微软雅黑" panose="020B0503020204020204" pitchFamily="34" charset="-122"/>
              </a:rPr>
              <a:t>, </a:t>
            </a:r>
            <a:r>
              <a:rPr lang="en-US" altLang="zh-CN" sz="2000" b="1" dirty="0" err="1">
                <a:ea typeface="微软雅黑" panose="020B0503020204020204" pitchFamily="34" charset="-122"/>
              </a:rPr>
              <a:t>OutputIterator</a:t>
            </a:r>
            <a:r>
              <a:rPr lang="en-US" altLang="zh-CN" sz="2000" b="1" dirty="0">
                <a:ea typeface="微软雅黑" panose="020B0503020204020204" pitchFamily="34" charset="-122"/>
              </a:rPr>
              <a:t> </a:t>
            </a:r>
            <a:r>
              <a:rPr lang="en-US" altLang="zh-CN" sz="2000" b="1" dirty="0">
                <a:solidFill>
                  <a:srgbClr val="FFFF00"/>
                </a:solidFill>
                <a:ea typeface="微软雅黑" panose="020B0503020204020204" pitchFamily="34" charset="-122"/>
              </a:rPr>
              <a:t>result</a:t>
            </a:r>
            <a:r>
              <a:rPr lang="en-US" altLang="zh-CN" sz="2000" b="1" dirty="0">
                <a:ea typeface="微软雅黑" panose="020B0503020204020204" pitchFamily="34" charset="-122"/>
              </a:rPr>
              <a:t>, </a:t>
            </a:r>
            <a:r>
              <a:rPr lang="en-US" altLang="zh-CN" sz="2000" b="1" dirty="0" err="1">
                <a:ea typeface="微软雅黑" panose="020B0503020204020204" pitchFamily="34" charset="-122"/>
              </a:rPr>
              <a:t>UnaryFunction</a:t>
            </a:r>
            <a:r>
              <a:rPr lang="en-US" altLang="zh-CN" sz="2000" b="1" dirty="0">
                <a:ea typeface="微软雅黑" panose="020B0503020204020204" pitchFamily="34" charset="-122"/>
              </a:rPr>
              <a:t> </a:t>
            </a:r>
            <a:r>
              <a:rPr lang="en-US" altLang="zh-CN" sz="2000" b="1" dirty="0">
                <a:solidFill>
                  <a:srgbClr val="FFFF00"/>
                </a:solidFill>
                <a:ea typeface="微软雅黑" panose="020B0503020204020204" pitchFamily="34" charset="-122"/>
              </a:rPr>
              <a:t>op</a:t>
            </a:r>
            <a:r>
              <a:rPr lang="en-US" altLang="zh-CN" sz="2000" b="1" dirty="0">
                <a:ea typeface="微软雅黑" panose="020B0503020204020204" pitchFamily="34" charset="-122"/>
              </a:rPr>
              <a:t>) {</a:t>
            </a:r>
            <a:endParaRPr lang="en-US" altLang="zh-CN" sz="2000" b="1" dirty="0">
              <a:ea typeface="微软雅黑" panose="020B0503020204020204" pitchFamily="34" charset="-122"/>
            </a:endParaRPr>
          </a:p>
          <a:p>
            <a:pPr lvl="1">
              <a:buFont typeface="Georgia" panose="02040502050405020303" pitchFamily="18" charset="0"/>
              <a:buNone/>
            </a:pPr>
            <a:r>
              <a:rPr lang="en-US" altLang="zh-CN" sz="2000" b="1" dirty="0">
                <a:ea typeface="微软雅黑" panose="020B0503020204020204" pitchFamily="34" charset="-122"/>
              </a:rPr>
              <a:t>	for (;first != last; ++first, ++result)</a:t>
            </a:r>
            <a:endParaRPr lang="en-US" altLang="zh-CN" sz="2000" b="1" dirty="0">
              <a:ea typeface="微软雅黑" panose="020B0503020204020204" pitchFamily="34" charset="-122"/>
            </a:endParaRPr>
          </a:p>
          <a:p>
            <a:pPr lvl="1">
              <a:buFont typeface="Georgia" panose="02040502050405020303" pitchFamily="18" charset="0"/>
              <a:buNone/>
            </a:pPr>
            <a:r>
              <a:rPr lang="en-US" altLang="zh-CN" sz="2000" b="1" dirty="0">
                <a:ea typeface="微软雅黑" panose="020B0503020204020204" pitchFamily="34" charset="-122"/>
              </a:rPr>
              <a:t>		*result = op(*first);</a:t>
            </a:r>
            <a:endParaRPr lang="en-US" altLang="zh-CN" sz="2000" b="1" dirty="0">
              <a:ea typeface="微软雅黑" panose="020B0503020204020204" pitchFamily="34" charset="-122"/>
            </a:endParaRPr>
          </a:p>
          <a:p>
            <a:pPr lvl="1">
              <a:buFont typeface="Georgia" panose="02040502050405020303" pitchFamily="18" charset="0"/>
              <a:buNone/>
            </a:pPr>
            <a:r>
              <a:rPr lang="en-US" altLang="zh-CN" sz="2000" b="1" dirty="0">
                <a:ea typeface="微软雅黑" panose="020B0503020204020204" pitchFamily="34" charset="-122"/>
              </a:rPr>
              <a:t>	return result;</a:t>
            </a:r>
            <a:endParaRPr lang="en-US" altLang="zh-CN" sz="2000" b="1" dirty="0">
              <a:ea typeface="微软雅黑" panose="020B0503020204020204" pitchFamily="34" charset="-122"/>
            </a:endParaRPr>
          </a:p>
          <a:p>
            <a:pPr lvl="1">
              <a:buFont typeface="Georgia" panose="02040502050405020303" pitchFamily="18" charset="0"/>
              <a:buNone/>
            </a:pPr>
            <a:r>
              <a:rPr lang="en-US" altLang="zh-CN" sz="2000" b="1" dirty="0">
                <a:ea typeface="微软雅黑" panose="020B0503020204020204" pitchFamily="34" charset="-122"/>
              </a:rPr>
              <a:t>}</a:t>
            </a:r>
            <a:endParaRPr lang="en-US" altLang="zh-CN" sz="2000" b="1" dirty="0">
              <a:ea typeface="微软雅黑" panose="020B0503020204020204" pitchFamily="34"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标题 1"/>
          <p:cNvSpPr>
            <a:spLocks noGrp="1"/>
          </p:cNvSpPr>
          <p:nvPr>
            <p:ph type="title"/>
          </p:nvPr>
        </p:nvSpPr>
        <p:spPr>
          <a:xfrm>
            <a:off x="854815" y="630671"/>
            <a:ext cx="7179060" cy="647735"/>
          </a:xfrm>
        </p:spPr>
        <p:txBody>
          <a:bodyPr/>
          <a:lstStyle/>
          <a:p>
            <a:pPr eaLnBrk="1" hangingPunct="1"/>
            <a:r>
              <a:rPr lang="zh-CN" altLang="en-US" dirty="0"/>
              <a:t>例</a:t>
            </a:r>
            <a:r>
              <a:rPr lang="en-US" altLang="zh-CN" dirty="0"/>
              <a:t>10-1</a:t>
            </a:r>
            <a:r>
              <a:rPr lang="zh-CN" altLang="en-US" dirty="0"/>
              <a:t>：</a:t>
            </a:r>
            <a:r>
              <a:rPr lang="zh-CN" altLang="en-US" sz="2400" dirty="0"/>
              <a:t>从标准输入读入几个整数，存入向量容器，输出相反数</a:t>
            </a:r>
            <a:endParaRPr lang="zh-CN" altLang="en-US" dirty="0"/>
          </a:p>
        </p:txBody>
      </p:sp>
      <p:sp>
        <p:nvSpPr>
          <p:cNvPr id="15" name="内容占位符 2"/>
          <p:cNvSpPr txBox="1"/>
          <p:nvPr/>
        </p:nvSpPr>
        <p:spPr>
          <a:xfrm>
            <a:off x="1117415" y="1765392"/>
            <a:ext cx="7664860" cy="3760416"/>
          </a:xfrm>
          <a:prstGeom prst="rect">
            <a:avLst/>
          </a:prstGeom>
          <a:noFill/>
        </p:spPr>
        <p:txBody>
          <a:bodyPr>
            <a:normAutofit fontScale="70000" lnSpcReduction="20000"/>
          </a:bodyPr>
          <a:lstStyle/>
          <a:p>
            <a:pPr marL="257175" indent="-257175" algn="l">
              <a:spcBef>
                <a:spcPct val="20000"/>
              </a:spcBef>
              <a:buClr>
                <a:schemeClr val="accent2"/>
              </a:buClr>
              <a:buSzPct val="80000"/>
              <a:defRPr/>
            </a:pPr>
            <a:r>
              <a:rPr lang="en-US" altLang="zh-CN" sz="2100" kern="0" dirty="0">
                <a:latin typeface="微软雅黑" panose="020B0503020204020204" pitchFamily="34" charset="-122"/>
                <a:ea typeface="微软雅黑" panose="020B0503020204020204" pitchFamily="34" charset="-122"/>
              </a:rPr>
              <a:t>#include &lt;</a:t>
            </a:r>
            <a:r>
              <a:rPr lang="en-US" altLang="zh-CN" sz="2100" kern="0" dirty="0" err="1">
                <a:latin typeface="微软雅黑" panose="020B0503020204020204" pitchFamily="34" charset="-122"/>
                <a:ea typeface="微软雅黑" panose="020B0503020204020204" pitchFamily="34" charset="-122"/>
              </a:rPr>
              <a:t>iostream</a:t>
            </a:r>
            <a:r>
              <a:rPr lang="en-US" altLang="zh-CN" sz="2100" kern="0" dirty="0">
                <a:latin typeface="微软雅黑" panose="020B0503020204020204" pitchFamily="34" charset="-122"/>
                <a:ea typeface="微软雅黑" panose="020B0503020204020204" pitchFamily="34" charset="-122"/>
              </a:rPr>
              <a:t>&gt;</a:t>
            </a:r>
            <a:endParaRPr lang="en-US" altLang="zh-CN" sz="2100" kern="0" dirty="0">
              <a:latin typeface="微软雅黑" panose="020B0503020204020204" pitchFamily="34" charset="-122"/>
              <a:ea typeface="微软雅黑" panose="020B0503020204020204" pitchFamily="34" charset="-122"/>
            </a:endParaRPr>
          </a:p>
          <a:p>
            <a:pPr marL="257175" indent="-257175" algn="l">
              <a:spcBef>
                <a:spcPct val="20000"/>
              </a:spcBef>
              <a:buClr>
                <a:schemeClr val="accent2"/>
              </a:buClr>
              <a:buSzPct val="80000"/>
              <a:defRPr/>
            </a:pPr>
            <a:r>
              <a:rPr lang="en-US" altLang="zh-CN" sz="2100" kern="0" dirty="0">
                <a:latin typeface="微软雅黑" panose="020B0503020204020204" pitchFamily="34" charset="-122"/>
                <a:ea typeface="微软雅黑" panose="020B0503020204020204" pitchFamily="34" charset="-122"/>
              </a:rPr>
              <a:t>#include &lt;vector&gt;</a:t>
            </a:r>
            <a:endParaRPr lang="en-US" altLang="zh-CN" sz="2100" kern="0" dirty="0">
              <a:latin typeface="微软雅黑" panose="020B0503020204020204" pitchFamily="34" charset="-122"/>
              <a:ea typeface="微软雅黑" panose="020B0503020204020204" pitchFamily="34" charset="-122"/>
            </a:endParaRPr>
          </a:p>
          <a:p>
            <a:pPr marL="257175" indent="-257175" algn="l">
              <a:spcBef>
                <a:spcPct val="20000"/>
              </a:spcBef>
              <a:buClr>
                <a:schemeClr val="accent2"/>
              </a:buClr>
              <a:buSzPct val="80000"/>
              <a:defRPr/>
            </a:pPr>
            <a:r>
              <a:rPr lang="en-US" altLang="zh-CN" sz="2100" kern="0" dirty="0">
                <a:latin typeface="微软雅黑" panose="020B0503020204020204" pitchFamily="34" charset="-122"/>
                <a:ea typeface="微软雅黑" panose="020B0503020204020204" pitchFamily="34" charset="-122"/>
              </a:rPr>
              <a:t>#include &lt;</a:t>
            </a:r>
            <a:r>
              <a:rPr lang="en-US" altLang="zh-CN" sz="2100" kern="0" dirty="0" err="1">
                <a:latin typeface="微软雅黑" panose="020B0503020204020204" pitchFamily="34" charset="-122"/>
                <a:ea typeface="微软雅黑" panose="020B0503020204020204" pitchFamily="34" charset="-122"/>
              </a:rPr>
              <a:t>iterator</a:t>
            </a:r>
            <a:r>
              <a:rPr lang="en-US" altLang="zh-CN" sz="2100" kern="0" dirty="0">
                <a:latin typeface="微软雅黑" panose="020B0503020204020204" pitchFamily="34" charset="-122"/>
                <a:ea typeface="微软雅黑" panose="020B0503020204020204" pitchFamily="34" charset="-122"/>
              </a:rPr>
              <a:t>&gt;</a:t>
            </a:r>
            <a:endParaRPr lang="en-US" altLang="zh-CN" sz="2100" kern="0" dirty="0">
              <a:latin typeface="微软雅黑" panose="020B0503020204020204" pitchFamily="34" charset="-122"/>
              <a:ea typeface="微软雅黑" panose="020B0503020204020204" pitchFamily="34" charset="-122"/>
            </a:endParaRPr>
          </a:p>
          <a:p>
            <a:pPr marL="257175" indent="-257175" algn="l">
              <a:spcBef>
                <a:spcPct val="20000"/>
              </a:spcBef>
              <a:buClr>
                <a:schemeClr val="accent2"/>
              </a:buClr>
              <a:buSzPct val="80000"/>
              <a:defRPr/>
            </a:pPr>
            <a:r>
              <a:rPr lang="en-US" altLang="zh-CN" sz="2100" kern="0" dirty="0">
                <a:latin typeface="微软雅黑" panose="020B0503020204020204" pitchFamily="34" charset="-122"/>
                <a:ea typeface="微软雅黑" panose="020B0503020204020204" pitchFamily="34" charset="-122"/>
              </a:rPr>
              <a:t>#include &lt;algorithm&gt;</a:t>
            </a:r>
            <a:endParaRPr lang="en-US" altLang="zh-CN" sz="2100" kern="0" dirty="0">
              <a:latin typeface="微软雅黑" panose="020B0503020204020204" pitchFamily="34" charset="-122"/>
              <a:ea typeface="微软雅黑" panose="020B0503020204020204" pitchFamily="34" charset="-122"/>
            </a:endParaRPr>
          </a:p>
          <a:p>
            <a:pPr marL="257175" indent="-257175" algn="l">
              <a:spcBef>
                <a:spcPct val="20000"/>
              </a:spcBef>
              <a:buClr>
                <a:schemeClr val="accent2"/>
              </a:buClr>
              <a:buSzPct val="80000"/>
              <a:defRPr/>
            </a:pPr>
            <a:r>
              <a:rPr lang="en-US" altLang="zh-CN" sz="2100" kern="0" dirty="0">
                <a:latin typeface="微软雅黑" panose="020B0503020204020204" pitchFamily="34" charset="-122"/>
                <a:ea typeface="微软雅黑" panose="020B0503020204020204" pitchFamily="34" charset="-122"/>
              </a:rPr>
              <a:t>#include &lt;functional&gt;</a:t>
            </a:r>
            <a:endParaRPr lang="en-US" altLang="zh-CN" sz="2100" kern="0" dirty="0">
              <a:latin typeface="微软雅黑" panose="020B0503020204020204" pitchFamily="34" charset="-122"/>
              <a:ea typeface="微软雅黑" panose="020B0503020204020204" pitchFamily="34" charset="-122"/>
            </a:endParaRPr>
          </a:p>
          <a:p>
            <a:pPr marL="257175" indent="-257175" algn="l">
              <a:spcBef>
                <a:spcPct val="20000"/>
              </a:spcBef>
              <a:buClr>
                <a:schemeClr val="accent2"/>
              </a:buClr>
              <a:buSzPct val="80000"/>
              <a:defRPr/>
            </a:pPr>
            <a:r>
              <a:rPr lang="en-US" altLang="zh-CN" sz="2100" kern="0" dirty="0">
                <a:latin typeface="微软雅黑" panose="020B0503020204020204" pitchFamily="34" charset="-122"/>
                <a:ea typeface="微软雅黑" panose="020B0503020204020204" pitchFamily="34" charset="-122"/>
              </a:rPr>
              <a:t>using namespace std;</a:t>
            </a:r>
            <a:endParaRPr lang="en-US" altLang="zh-CN" sz="2100" kern="0" dirty="0">
              <a:latin typeface="微软雅黑" panose="020B0503020204020204" pitchFamily="34" charset="-122"/>
              <a:ea typeface="微软雅黑" panose="020B0503020204020204" pitchFamily="34" charset="-122"/>
            </a:endParaRPr>
          </a:p>
          <a:p>
            <a:pPr marL="257175" indent="-257175" algn="l">
              <a:spcBef>
                <a:spcPct val="20000"/>
              </a:spcBef>
              <a:buClr>
                <a:schemeClr val="accent2"/>
              </a:buClr>
              <a:buSzPct val="80000"/>
              <a:defRPr/>
            </a:pPr>
            <a:r>
              <a:rPr lang="en-US" altLang="zh-CN" sz="2100" kern="0" dirty="0" err="1">
                <a:latin typeface="微软雅黑" panose="020B0503020204020204" pitchFamily="34" charset="-122"/>
                <a:ea typeface="微软雅黑" panose="020B0503020204020204" pitchFamily="34" charset="-122"/>
              </a:rPr>
              <a:t>int</a:t>
            </a:r>
            <a:r>
              <a:rPr lang="en-US" altLang="zh-CN" sz="2100" kern="0" dirty="0">
                <a:latin typeface="微软雅黑" panose="020B0503020204020204" pitchFamily="34" charset="-122"/>
                <a:ea typeface="微软雅黑" panose="020B0503020204020204" pitchFamily="34" charset="-122"/>
              </a:rPr>
              <a:t> main() {</a:t>
            </a:r>
            <a:endParaRPr lang="en-US" altLang="zh-CN" sz="2100" kern="0" dirty="0">
              <a:latin typeface="微软雅黑" panose="020B0503020204020204" pitchFamily="34" charset="-122"/>
              <a:ea typeface="微软雅黑" panose="020B0503020204020204" pitchFamily="34" charset="-122"/>
            </a:endParaRPr>
          </a:p>
          <a:p>
            <a:pPr marL="257175" indent="-257175" algn="l">
              <a:spcBef>
                <a:spcPct val="20000"/>
              </a:spcBef>
              <a:buClr>
                <a:schemeClr val="accent2"/>
              </a:buClr>
              <a:buSzPct val="80000"/>
              <a:defRPr/>
            </a:pPr>
            <a:r>
              <a:rPr lang="en-US" altLang="zh-CN" sz="2100" kern="0" dirty="0">
                <a:latin typeface="微软雅黑" panose="020B0503020204020204" pitchFamily="34" charset="-122"/>
                <a:ea typeface="微软雅黑" panose="020B0503020204020204" pitchFamily="34" charset="-122"/>
              </a:rPr>
              <a:t>	const </a:t>
            </a:r>
            <a:r>
              <a:rPr lang="en-US" altLang="zh-CN" sz="2100" kern="0" dirty="0" err="1">
                <a:latin typeface="微软雅黑" panose="020B0503020204020204" pitchFamily="34" charset="-122"/>
                <a:ea typeface="微软雅黑" panose="020B0503020204020204" pitchFamily="34" charset="-122"/>
              </a:rPr>
              <a:t>int</a:t>
            </a:r>
            <a:r>
              <a:rPr lang="en-US" altLang="zh-CN" sz="2100" kern="0" dirty="0">
                <a:latin typeface="微软雅黑" panose="020B0503020204020204" pitchFamily="34" charset="-122"/>
                <a:ea typeface="微软雅黑" panose="020B0503020204020204" pitchFamily="34" charset="-122"/>
              </a:rPr>
              <a:t> N = 5;</a:t>
            </a:r>
            <a:endParaRPr lang="en-US" altLang="zh-CN" sz="2100" kern="0" dirty="0">
              <a:latin typeface="微软雅黑" panose="020B0503020204020204" pitchFamily="34" charset="-122"/>
              <a:ea typeface="微软雅黑" panose="020B0503020204020204" pitchFamily="34" charset="-122"/>
            </a:endParaRPr>
          </a:p>
          <a:p>
            <a:pPr marL="257175" indent="-257175" algn="l">
              <a:spcBef>
                <a:spcPct val="20000"/>
              </a:spcBef>
              <a:buClr>
                <a:schemeClr val="accent2"/>
              </a:buClr>
              <a:buSzPct val="80000"/>
              <a:defRPr/>
            </a:pPr>
            <a:r>
              <a:rPr lang="en-US" altLang="zh-CN" sz="2100" kern="0" dirty="0">
                <a:latin typeface="微软雅黑" panose="020B0503020204020204" pitchFamily="34" charset="-122"/>
                <a:ea typeface="微软雅黑" panose="020B0503020204020204" pitchFamily="34" charset="-122"/>
              </a:rPr>
              <a:t>	vector&lt;</a:t>
            </a:r>
            <a:r>
              <a:rPr lang="en-US" altLang="zh-CN" sz="2100" kern="0" dirty="0" err="1">
                <a:latin typeface="微软雅黑" panose="020B0503020204020204" pitchFamily="34" charset="-122"/>
                <a:ea typeface="微软雅黑" panose="020B0503020204020204" pitchFamily="34" charset="-122"/>
              </a:rPr>
              <a:t>int</a:t>
            </a:r>
            <a:r>
              <a:rPr lang="en-US" altLang="zh-CN" sz="2100" kern="0" dirty="0">
                <a:latin typeface="微软雅黑" panose="020B0503020204020204" pitchFamily="34" charset="-122"/>
                <a:ea typeface="微软雅黑" panose="020B0503020204020204" pitchFamily="34" charset="-122"/>
              </a:rPr>
              <a:t>&gt; s(N);</a:t>
            </a:r>
            <a:endParaRPr lang="en-US" altLang="zh-CN" sz="2100" kern="0" dirty="0">
              <a:latin typeface="微软雅黑" panose="020B0503020204020204" pitchFamily="34" charset="-122"/>
              <a:ea typeface="微软雅黑" panose="020B0503020204020204" pitchFamily="34" charset="-122"/>
            </a:endParaRPr>
          </a:p>
          <a:p>
            <a:pPr marL="257175" indent="-257175" algn="l">
              <a:spcBef>
                <a:spcPct val="20000"/>
              </a:spcBef>
              <a:buClr>
                <a:schemeClr val="accent2"/>
              </a:buClr>
              <a:buSzPct val="80000"/>
              <a:defRPr/>
            </a:pPr>
            <a:r>
              <a:rPr lang="en-US" altLang="zh-CN" sz="2100" kern="0" dirty="0">
                <a:latin typeface="微软雅黑" panose="020B0503020204020204" pitchFamily="34" charset="-122"/>
                <a:ea typeface="微软雅黑" panose="020B0503020204020204" pitchFamily="34" charset="-122"/>
              </a:rPr>
              <a:t> </a:t>
            </a:r>
            <a:r>
              <a:rPr lang="zh-CN" altLang="en-US" sz="2100" kern="0" dirty="0">
                <a:latin typeface="微软雅黑" panose="020B0503020204020204" pitchFamily="34" charset="-122"/>
                <a:ea typeface="微软雅黑" panose="020B0503020204020204" pitchFamily="34" charset="-122"/>
              </a:rPr>
              <a:t>	</a:t>
            </a:r>
            <a:r>
              <a:rPr lang="en-US" altLang="zh-CN" sz="2100" kern="0" dirty="0">
                <a:latin typeface="微软雅黑" panose="020B0503020204020204" pitchFamily="34" charset="-122"/>
                <a:ea typeface="微软雅黑" panose="020B0503020204020204" pitchFamily="34" charset="-122"/>
              </a:rPr>
              <a:t>for (</a:t>
            </a:r>
            <a:r>
              <a:rPr lang="en-US" altLang="zh-CN" sz="2100" kern="0" dirty="0" err="1">
                <a:latin typeface="微软雅黑" panose="020B0503020204020204" pitchFamily="34" charset="-122"/>
                <a:ea typeface="微软雅黑" panose="020B0503020204020204" pitchFamily="34" charset="-122"/>
              </a:rPr>
              <a:t>int</a:t>
            </a:r>
            <a:r>
              <a:rPr lang="en-US" altLang="zh-CN" sz="2100" kern="0" dirty="0">
                <a:latin typeface="微软雅黑" panose="020B0503020204020204" pitchFamily="34" charset="-122"/>
                <a:ea typeface="微软雅黑" panose="020B0503020204020204" pitchFamily="34" charset="-122"/>
              </a:rPr>
              <a:t> </a:t>
            </a:r>
            <a:r>
              <a:rPr lang="en-US" altLang="zh-CN" sz="2100" kern="0" dirty="0" err="1">
                <a:latin typeface="微软雅黑" panose="020B0503020204020204" pitchFamily="34" charset="-122"/>
                <a:ea typeface="微软雅黑" panose="020B0503020204020204" pitchFamily="34" charset="-122"/>
              </a:rPr>
              <a:t>i</a:t>
            </a:r>
            <a:r>
              <a:rPr lang="en-US" altLang="zh-CN" sz="2100" kern="0" dirty="0">
                <a:latin typeface="微软雅黑" panose="020B0503020204020204" pitchFamily="34" charset="-122"/>
                <a:ea typeface="微软雅黑" panose="020B0503020204020204" pitchFamily="34" charset="-122"/>
              </a:rPr>
              <a:t> = 0; </a:t>
            </a:r>
            <a:r>
              <a:rPr lang="en-US" altLang="zh-CN" sz="2100" kern="0" dirty="0" err="1">
                <a:latin typeface="微软雅黑" panose="020B0503020204020204" pitchFamily="34" charset="-122"/>
                <a:ea typeface="微软雅黑" panose="020B0503020204020204" pitchFamily="34" charset="-122"/>
              </a:rPr>
              <a:t>i</a:t>
            </a:r>
            <a:r>
              <a:rPr lang="en-US" altLang="zh-CN" sz="2100" kern="0" dirty="0">
                <a:latin typeface="微软雅黑" panose="020B0503020204020204" pitchFamily="34" charset="-122"/>
                <a:ea typeface="微软雅黑" panose="020B0503020204020204" pitchFamily="34" charset="-122"/>
              </a:rPr>
              <a:t> &lt; N; </a:t>
            </a:r>
            <a:r>
              <a:rPr lang="en-US" altLang="zh-CN" sz="2100" kern="0" dirty="0" err="1">
                <a:latin typeface="微软雅黑" panose="020B0503020204020204" pitchFamily="34" charset="-122"/>
                <a:ea typeface="微软雅黑" panose="020B0503020204020204" pitchFamily="34" charset="-122"/>
              </a:rPr>
              <a:t>i</a:t>
            </a:r>
            <a:r>
              <a:rPr lang="en-US" altLang="zh-CN" sz="2100" kern="0" dirty="0">
                <a:latin typeface="微软雅黑" panose="020B0503020204020204" pitchFamily="34" charset="-122"/>
                <a:ea typeface="微软雅黑" panose="020B0503020204020204" pitchFamily="34" charset="-122"/>
              </a:rPr>
              <a:t>++)</a:t>
            </a:r>
            <a:endParaRPr lang="en-US" altLang="zh-CN" sz="2100" kern="0" dirty="0">
              <a:latin typeface="微软雅黑" panose="020B0503020204020204" pitchFamily="34" charset="-122"/>
              <a:ea typeface="微软雅黑" panose="020B0503020204020204" pitchFamily="34" charset="-122"/>
            </a:endParaRPr>
          </a:p>
          <a:p>
            <a:pPr marL="257175" indent="-257175" algn="l">
              <a:spcBef>
                <a:spcPct val="20000"/>
              </a:spcBef>
              <a:buClr>
                <a:schemeClr val="accent2"/>
              </a:buClr>
              <a:buSzPct val="80000"/>
              <a:defRPr/>
            </a:pPr>
            <a:r>
              <a:rPr lang="en-US" altLang="zh-CN" sz="2100" kern="0" dirty="0">
                <a:latin typeface="微软雅黑" panose="020B0503020204020204" pitchFamily="34" charset="-122"/>
                <a:ea typeface="微软雅黑" panose="020B0503020204020204" pitchFamily="34" charset="-122"/>
              </a:rPr>
              <a:t>		</a:t>
            </a:r>
            <a:r>
              <a:rPr lang="en-US" altLang="zh-CN" sz="2100" kern="0" dirty="0" err="1">
                <a:latin typeface="微软雅黑" panose="020B0503020204020204" pitchFamily="34" charset="-122"/>
                <a:ea typeface="微软雅黑" panose="020B0503020204020204" pitchFamily="34" charset="-122"/>
              </a:rPr>
              <a:t>cin</a:t>
            </a:r>
            <a:r>
              <a:rPr lang="en-US" altLang="zh-CN" sz="2100" kern="0" dirty="0">
                <a:latin typeface="微软雅黑" panose="020B0503020204020204" pitchFamily="34" charset="-122"/>
                <a:ea typeface="微软雅黑" panose="020B0503020204020204" pitchFamily="34" charset="-122"/>
              </a:rPr>
              <a:t> &gt;&gt; s[</a:t>
            </a:r>
            <a:r>
              <a:rPr lang="en-US" altLang="zh-CN" sz="2100" kern="0" dirty="0" err="1">
                <a:latin typeface="微软雅黑" panose="020B0503020204020204" pitchFamily="34" charset="-122"/>
                <a:ea typeface="微软雅黑" panose="020B0503020204020204" pitchFamily="34" charset="-122"/>
              </a:rPr>
              <a:t>i</a:t>
            </a:r>
            <a:r>
              <a:rPr lang="en-US" altLang="zh-CN" sz="2100" kern="0" dirty="0">
                <a:latin typeface="微软雅黑" panose="020B0503020204020204" pitchFamily="34" charset="-122"/>
                <a:ea typeface="微软雅黑" panose="020B0503020204020204" pitchFamily="34" charset="-122"/>
              </a:rPr>
              <a:t>];</a:t>
            </a:r>
            <a:endParaRPr lang="en-US" altLang="zh-CN" sz="2100" kern="0" dirty="0">
              <a:latin typeface="微软雅黑" panose="020B0503020204020204" pitchFamily="34" charset="-122"/>
              <a:ea typeface="微软雅黑" panose="020B0503020204020204" pitchFamily="34" charset="-122"/>
            </a:endParaRPr>
          </a:p>
          <a:p>
            <a:pPr marL="257175" indent="-257175" algn="l">
              <a:spcBef>
                <a:spcPct val="20000"/>
              </a:spcBef>
              <a:buClr>
                <a:schemeClr val="accent2"/>
              </a:buClr>
              <a:buSzPct val="80000"/>
              <a:defRPr/>
            </a:pPr>
            <a:r>
              <a:rPr lang="zh-CN" altLang="en-US" sz="2100" kern="0" dirty="0">
                <a:latin typeface="微软雅黑" panose="020B0503020204020204" pitchFamily="34" charset="-122"/>
                <a:ea typeface="微软雅黑" panose="020B0503020204020204" pitchFamily="34" charset="-122"/>
              </a:rPr>
              <a:t>	</a:t>
            </a:r>
            <a:r>
              <a:rPr lang="en-US" altLang="zh-CN" sz="2100" kern="0" dirty="0">
                <a:latin typeface="微软雅黑" panose="020B0503020204020204" pitchFamily="34" charset="-122"/>
                <a:ea typeface="微软雅黑" panose="020B0503020204020204" pitchFamily="34" charset="-122"/>
              </a:rPr>
              <a:t>transform(</a:t>
            </a:r>
            <a:r>
              <a:rPr lang="en-US" altLang="zh-CN" sz="2100" kern="0" dirty="0" err="1">
                <a:latin typeface="微软雅黑" panose="020B0503020204020204" pitchFamily="34" charset="-122"/>
                <a:ea typeface="微软雅黑" panose="020B0503020204020204" pitchFamily="34" charset="-122"/>
              </a:rPr>
              <a:t>s.begin</a:t>
            </a:r>
            <a:r>
              <a:rPr lang="en-US" altLang="zh-CN" sz="2100" kern="0" dirty="0">
                <a:latin typeface="微软雅黑" panose="020B0503020204020204" pitchFamily="34" charset="-122"/>
                <a:ea typeface="微软雅黑" panose="020B0503020204020204" pitchFamily="34" charset="-122"/>
              </a:rPr>
              <a:t>(), </a:t>
            </a:r>
            <a:r>
              <a:rPr lang="en-US" altLang="zh-CN" sz="2100" kern="0" dirty="0" err="1">
                <a:latin typeface="微软雅黑" panose="020B0503020204020204" pitchFamily="34" charset="-122"/>
                <a:ea typeface="微软雅黑" panose="020B0503020204020204" pitchFamily="34" charset="-122"/>
              </a:rPr>
              <a:t>s.end</a:t>
            </a:r>
            <a:r>
              <a:rPr lang="en-US" altLang="zh-CN" sz="2100" kern="0" dirty="0">
                <a:latin typeface="微软雅黑" panose="020B0503020204020204" pitchFamily="34" charset="-122"/>
                <a:ea typeface="微软雅黑" panose="020B0503020204020204" pitchFamily="34" charset="-122"/>
              </a:rPr>
              <a:t>(),  </a:t>
            </a:r>
            <a:r>
              <a:rPr lang="en-US" altLang="zh-CN" sz="2100" kern="0" dirty="0" err="1">
                <a:latin typeface="微软雅黑" panose="020B0503020204020204" pitchFamily="34" charset="-122"/>
                <a:ea typeface="微软雅黑" panose="020B0503020204020204" pitchFamily="34" charset="-122"/>
              </a:rPr>
              <a:t>ostream_iterator</a:t>
            </a:r>
            <a:r>
              <a:rPr lang="en-US" altLang="zh-CN" sz="2100" kern="0" dirty="0">
                <a:latin typeface="微软雅黑" panose="020B0503020204020204" pitchFamily="34" charset="-122"/>
                <a:ea typeface="微软雅黑" panose="020B0503020204020204" pitchFamily="34" charset="-122"/>
              </a:rPr>
              <a:t>&lt;</a:t>
            </a:r>
            <a:r>
              <a:rPr lang="en-US" altLang="zh-CN" sz="2100" kern="0" dirty="0" err="1">
                <a:latin typeface="微软雅黑" panose="020B0503020204020204" pitchFamily="34" charset="-122"/>
                <a:ea typeface="微软雅黑" panose="020B0503020204020204" pitchFamily="34" charset="-122"/>
              </a:rPr>
              <a:t>int</a:t>
            </a:r>
            <a:r>
              <a:rPr lang="en-US" altLang="zh-CN" sz="2100" kern="0" dirty="0">
                <a:latin typeface="微软雅黑" panose="020B0503020204020204" pitchFamily="34" charset="-122"/>
                <a:ea typeface="微软雅黑" panose="020B0503020204020204" pitchFamily="34" charset="-122"/>
              </a:rPr>
              <a:t>&gt;(</a:t>
            </a:r>
            <a:r>
              <a:rPr lang="en-US" altLang="zh-CN" sz="2100" kern="0" dirty="0" err="1">
                <a:latin typeface="微软雅黑" panose="020B0503020204020204" pitchFamily="34" charset="-122"/>
                <a:ea typeface="微软雅黑" panose="020B0503020204020204" pitchFamily="34" charset="-122"/>
              </a:rPr>
              <a:t>cout</a:t>
            </a:r>
            <a:r>
              <a:rPr lang="en-US" altLang="zh-CN" sz="2100" kern="0" dirty="0">
                <a:latin typeface="微软雅黑" panose="020B0503020204020204" pitchFamily="34" charset="-122"/>
                <a:ea typeface="微软雅黑" panose="020B0503020204020204" pitchFamily="34" charset="-122"/>
              </a:rPr>
              <a:t>, " "), negate&lt;</a:t>
            </a:r>
            <a:r>
              <a:rPr lang="en-US" altLang="zh-CN" sz="2100" kern="0" dirty="0" err="1">
                <a:latin typeface="微软雅黑" panose="020B0503020204020204" pitchFamily="34" charset="-122"/>
                <a:ea typeface="微软雅黑" panose="020B0503020204020204" pitchFamily="34" charset="-122"/>
              </a:rPr>
              <a:t>int</a:t>
            </a:r>
            <a:r>
              <a:rPr lang="en-US" altLang="zh-CN" sz="2100" kern="0" dirty="0">
                <a:latin typeface="微软雅黑" panose="020B0503020204020204" pitchFamily="34" charset="-122"/>
                <a:ea typeface="微软雅黑" panose="020B0503020204020204" pitchFamily="34" charset="-122"/>
              </a:rPr>
              <a:t>&gt;());</a:t>
            </a:r>
            <a:endParaRPr lang="en-US" altLang="zh-CN" sz="2100" kern="0" dirty="0">
              <a:latin typeface="微软雅黑" panose="020B0503020204020204" pitchFamily="34" charset="-122"/>
              <a:ea typeface="微软雅黑" panose="020B0503020204020204" pitchFamily="34" charset="-122"/>
            </a:endParaRPr>
          </a:p>
          <a:p>
            <a:pPr marL="257175" indent="-257175" algn="l">
              <a:spcBef>
                <a:spcPct val="20000"/>
              </a:spcBef>
              <a:buClr>
                <a:schemeClr val="accent2"/>
              </a:buClr>
              <a:buSzPct val="80000"/>
              <a:defRPr/>
            </a:pPr>
            <a:r>
              <a:rPr lang="en-US" altLang="zh-CN" sz="2100" kern="0" dirty="0">
                <a:latin typeface="微软雅黑" panose="020B0503020204020204" pitchFamily="34" charset="-122"/>
                <a:ea typeface="微软雅黑" panose="020B0503020204020204" pitchFamily="34" charset="-122"/>
              </a:rPr>
              <a:t>	</a:t>
            </a:r>
            <a:r>
              <a:rPr lang="en-US" altLang="zh-CN" sz="2100" kern="0" dirty="0" err="1">
                <a:latin typeface="微软雅黑" panose="020B0503020204020204" pitchFamily="34" charset="-122"/>
                <a:ea typeface="微软雅黑" panose="020B0503020204020204" pitchFamily="34" charset="-122"/>
              </a:rPr>
              <a:t>cout</a:t>
            </a:r>
            <a:r>
              <a:rPr lang="en-US" altLang="zh-CN" sz="2100" kern="0" dirty="0">
                <a:latin typeface="微软雅黑" panose="020B0503020204020204" pitchFamily="34" charset="-122"/>
                <a:ea typeface="微软雅黑" panose="020B0503020204020204" pitchFamily="34" charset="-122"/>
              </a:rPr>
              <a:t> &lt;&lt; </a:t>
            </a:r>
            <a:r>
              <a:rPr lang="en-US" altLang="zh-CN" sz="2100" kern="0" dirty="0" err="1">
                <a:latin typeface="微软雅黑" panose="020B0503020204020204" pitchFamily="34" charset="-122"/>
                <a:ea typeface="微软雅黑" panose="020B0503020204020204" pitchFamily="34" charset="-122"/>
              </a:rPr>
              <a:t>endl</a:t>
            </a:r>
            <a:r>
              <a:rPr lang="en-US" altLang="zh-CN" sz="2100" kern="0" dirty="0">
                <a:latin typeface="微软雅黑" panose="020B0503020204020204" pitchFamily="34" charset="-122"/>
                <a:ea typeface="微软雅黑" panose="020B0503020204020204" pitchFamily="34" charset="-122"/>
              </a:rPr>
              <a:t>;</a:t>
            </a:r>
            <a:endParaRPr lang="en-US" altLang="zh-CN" sz="2100" kern="0" dirty="0">
              <a:latin typeface="微软雅黑" panose="020B0503020204020204" pitchFamily="34" charset="-122"/>
              <a:ea typeface="微软雅黑" panose="020B0503020204020204" pitchFamily="34" charset="-122"/>
            </a:endParaRPr>
          </a:p>
          <a:p>
            <a:pPr marL="257175" indent="-257175" algn="l">
              <a:spcBef>
                <a:spcPct val="20000"/>
              </a:spcBef>
              <a:buClr>
                <a:schemeClr val="accent2"/>
              </a:buClr>
              <a:buSzPct val="80000"/>
              <a:defRPr/>
            </a:pPr>
            <a:r>
              <a:rPr lang="en-US" altLang="zh-CN" sz="2100" kern="0" dirty="0">
                <a:latin typeface="微软雅黑" panose="020B0503020204020204" pitchFamily="34" charset="-122"/>
                <a:ea typeface="微软雅黑" panose="020B0503020204020204" pitchFamily="34" charset="-122"/>
              </a:rPr>
              <a:t>	return 0;</a:t>
            </a:r>
            <a:endParaRPr lang="en-US" altLang="zh-CN" sz="2100" kern="0" dirty="0">
              <a:latin typeface="微软雅黑" panose="020B0503020204020204" pitchFamily="34" charset="-122"/>
              <a:ea typeface="微软雅黑" panose="020B0503020204020204" pitchFamily="34" charset="-122"/>
            </a:endParaRPr>
          </a:p>
          <a:p>
            <a:pPr marL="257175" indent="-257175" algn="l">
              <a:spcBef>
                <a:spcPct val="20000"/>
              </a:spcBef>
              <a:buClr>
                <a:schemeClr val="accent2"/>
              </a:buClr>
              <a:buSzPct val="80000"/>
              <a:defRPr/>
            </a:pPr>
            <a:r>
              <a:rPr lang="en-US" altLang="zh-CN" sz="2100" kern="0" dirty="0">
                <a:latin typeface="微软雅黑" panose="020B0503020204020204" pitchFamily="34" charset="-122"/>
                <a:ea typeface="微软雅黑" panose="020B0503020204020204" pitchFamily="34" charset="-122"/>
              </a:rPr>
              <a:t>}</a:t>
            </a:r>
            <a:endParaRPr lang="en-US" altLang="zh-CN" sz="2100" kern="0" dirty="0">
              <a:latin typeface="微软雅黑" panose="020B0503020204020204" pitchFamily="34" charset="-122"/>
              <a:ea typeface="微软雅黑" panose="020B0503020204020204" pitchFamily="34" charset="-122"/>
            </a:endParaRPr>
          </a:p>
        </p:txBody>
      </p:sp>
      <p:sp>
        <p:nvSpPr>
          <p:cNvPr id="16" name="线形标注 1(无边框) 6"/>
          <p:cNvSpPr/>
          <p:nvPr/>
        </p:nvSpPr>
        <p:spPr bwMode="auto">
          <a:xfrm>
            <a:off x="3822706" y="2900138"/>
            <a:ext cx="857250" cy="321301"/>
          </a:xfrm>
          <a:prstGeom prst="callout1">
            <a:avLst>
              <a:gd name="adj1" fmla="val 50225"/>
              <a:gd name="adj2" fmla="val -3426"/>
              <a:gd name="adj3" fmla="val 230254"/>
              <a:gd name="adj4" fmla="val -131287"/>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defRPr/>
            </a:pPr>
            <a:r>
              <a:rPr lang="zh-CN" altLang="en-US" sz="1800" dirty="0"/>
              <a:t>容器</a:t>
            </a:r>
            <a:endParaRPr lang="zh-CN" altLang="en-US" sz="1800" dirty="0">
              <a:solidFill>
                <a:schemeClr val="bg2"/>
              </a:solidFill>
              <a:latin typeface="Times New Roman" panose="02020603050405020304" pitchFamily="18" charset="0"/>
            </a:endParaRPr>
          </a:p>
        </p:txBody>
      </p:sp>
      <p:sp>
        <p:nvSpPr>
          <p:cNvPr id="19" name="线形标注 1(无边框) 12"/>
          <p:cNvSpPr/>
          <p:nvPr/>
        </p:nvSpPr>
        <p:spPr bwMode="auto">
          <a:xfrm>
            <a:off x="6391313" y="4843342"/>
            <a:ext cx="1428750" cy="321301"/>
          </a:xfrm>
          <a:prstGeom prst="callout1">
            <a:avLst>
              <a:gd name="adj1" fmla="val 2705"/>
              <a:gd name="adj2" fmla="val 35521"/>
              <a:gd name="adj3" fmla="val -118932"/>
              <a:gd name="adj4" fmla="val 73488"/>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defRPr/>
            </a:pPr>
            <a:r>
              <a:rPr lang="zh-CN" altLang="en-US" sz="1800" dirty="0">
                <a:solidFill>
                  <a:srgbClr val="000000"/>
                </a:solidFill>
                <a:latin typeface="Times New Roman" panose="02020603050405020304" pitchFamily="18" charset="0"/>
              </a:rPr>
              <a:t>函数对象</a:t>
            </a:r>
            <a:endParaRPr lang="zh-CN" altLang="en-US" sz="1800" dirty="0">
              <a:solidFill>
                <a:srgbClr val="000000"/>
              </a:solidFill>
              <a:latin typeface="Times New Roman" panose="02020603050405020304" pitchFamily="18" charset="0"/>
            </a:endParaRPr>
          </a:p>
        </p:txBody>
      </p:sp>
      <p:sp>
        <p:nvSpPr>
          <p:cNvPr id="20" name="线形标注 1(无边框) 13"/>
          <p:cNvSpPr/>
          <p:nvPr/>
        </p:nvSpPr>
        <p:spPr bwMode="auto">
          <a:xfrm>
            <a:off x="5273713" y="3763784"/>
            <a:ext cx="857250" cy="321301"/>
          </a:xfrm>
          <a:prstGeom prst="callout1">
            <a:avLst>
              <a:gd name="adj1" fmla="val 48183"/>
              <a:gd name="adj2" fmla="val 1169"/>
              <a:gd name="adj3" fmla="val 172882"/>
              <a:gd name="adj4" fmla="val -381860"/>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defRPr/>
            </a:pPr>
            <a:r>
              <a:rPr lang="zh-CN" altLang="en-US" sz="1800" dirty="0">
                <a:solidFill>
                  <a:srgbClr val="000000"/>
                </a:solidFill>
                <a:latin typeface="Times New Roman" panose="02020603050405020304" pitchFamily="18" charset="0"/>
              </a:rPr>
              <a:t>算法</a:t>
            </a:r>
            <a:endParaRPr lang="zh-CN" altLang="en-US" sz="1800" dirty="0">
              <a:solidFill>
                <a:srgbClr val="000000"/>
              </a:solidFill>
              <a:latin typeface="Times New Roman" panose="02020603050405020304" pitchFamily="18" charset="0"/>
            </a:endParaRPr>
          </a:p>
        </p:txBody>
      </p:sp>
      <p:grpSp>
        <p:nvGrpSpPr>
          <p:cNvPr id="21" name="组合 20"/>
          <p:cNvGrpSpPr/>
          <p:nvPr/>
        </p:nvGrpSpPr>
        <p:grpSpPr bwMode="auto">
          <a:xfrm>
            <a:off x="3546420" y="4465513"/>
            <a:ext cx="1469395" cy="1068625"/>
            <a:chOff x="3309422" y="4941167"/>
            <a:chExt cx="1469472" cy="1425959"/>
          </a:xfrm>
        </p:grpSpPr>
        <p:grpSp>
          <p:nvGrpSpPr>
            <p:cNvPr id="22" name="组合 15"/>
            <p:cNvGrpSpPr/>
            <p:nvPr/>
          </p:nvGrpSpPr>
          <p:grpSpPr bwMode="auto">
            <a:xfrm>
              <a:off x="3309422" y="4941167"/>
              <a:ext cx="1469472" cy="1425959"/>
              <a:chOff x="4817031" y="2699191"/>
              <a:chExt cx="1469483" cy="1247732"/>
            </a:xfrm>
          </p:grpSpPr>
          <p:sp>
            <p:nvSpPr>
              <p:cNvPr id="24" name="线形标注 1(无边框) 8"/>
              <p:cNvSpPr/>
              <p:nvPr/>
            </p:nvSpPr>
            <p:spPr bwMode="auto">
              <a:xfrm>
                <a:off x="5143506" y="3518295"/>
                <a:ext cx="1143008" cy="428628"/>
              </a:xfrm>
              <a:prstGeom prst="callout1">
                <a:avLst>
                  <a:gd name="adj1" fmla="val -7743"/>
                  <a:gd name="adj2" fmla="val -464"/>
                  <a:gd name="adj3" fmla="val -184083"/>
                  <a:gd name="adj4" fmla="val -84758"/>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defRPr/>
                </a:pPr>
                <a:r>
                  <a:rPr lang="zh-CN" altLang="en-US" sz="1800" dirty="0">
                    <a:solidFill>
                      <a:srgbClr val="000000"/>
                    </a:solidFill>
                    <a:latin typeface="Times New Roman" panose="02020603050405020304" pitchFamily="18" charset="0"/>
                  </a:rPr>
                  <a:t>迭代器</a:t>
                </a:r>
                <a:endParaRPr lang="zh-CN" altLang="en-US" sz="1800" dirty="0">
                  <a:solidFill>
                    <a:srgbClr val="000000"/>
                  </a:solidFill>
                  <a:latin typeface="Times New Roman" panose="02020603050405020304" pitchFamily="18" charset="0"/>
                </a:endParaRPr>
              </a:p>
            </p:txBody>
          </p:sp>
          <p:cxnSp>
            <p:nvCxnSpPr>
              <p:cNvPr id="25" name="直接连接符 24"/>
              <p:cNvCxnSpPr/>
              <p:nvPr/>
            </p:nvCxnSpPr>
            <p:spPr bwMode="auto">
              <a:xfrm flipH="1" flipV="1">
                <a:off x="4817031" y="2699191"/>
                <a:ext cx="898248" cy="819780"/>
              </a:xfrm>
              <a:prstGeom prst="line">
                <a:avLst/>
              </a:prstGeom>
              <a:ln>
                <a:headEnd type="none" w="sm" len="sm"/>
                <a:tailEnd type="none" w="sm" len="sm"/>
              </a:ln>
            </p:spPr>
            <p:style>
              <a:lnRef idx="1">
                <a:schemeClr val="accent4"/>
              </a:lnRef>
              <a:fillRef idx="0">
                <a:schemeClr val="accent4"/>
              </a:fillRef>
              <a:effectRef idx="0">
                <a:schemeClr val="accent4"/>
              </a:effectRef>
              <a:fontRef idx="minor">
                <a:schemeClr val="tx1"/>
              </a:fontRef>
            </p:style>
          </p:cxnSp>
        </p:grpSp>
        <p:cxnSp>
          <p:nvCxnSpPr>
            <p:cNvPr id="23" name="直接连接符 22"/>
            <p:cNvCxnSpPr/>
            <p:nvPr/>
          </p:nvCxnSpPr>
          <p:spPr bwMode="auto">
            <a:xfrm flipV="1">
              <a:off x="4644418" y="4998605"/>
              <a:ext cx="134476" cy="879440"/>
            </a:xfrm>
            <a:prstGeom prst="line">
              <a:avLst/>
            </a:prstGeom>
            <a:ln>
              <a:headEnd type="none" w="sm" len="sm"/>
              <a:tailEnd type="none" w="sm" len="sm"/>
            </a:ln>
          </p:spPr>
          <p:style>
            <a:lnRef idx="1">
              <a:schemeClr val="accent4"/>
            </a:lnRef>
            <a:fillRef idx="0">
              <a:schemeClr val="accent4"/>
            </a:fillRef>
            <a:effectRef idx="0">
              <a:schemeClr val="accent4"/>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trips(downLeft)">
                                      <p:cBhvr>
                                        <p:cTn id="7" dur="500"/>
                                        <p:tgtEl>
                                          <p:spTgt spid="16"/>
                                        </p:tgtEl>
                                      </p:cBhvr>
                                    </p:animEffect>
                                  </p:childTnLst>
                                </p:cTn>
                              </p:par>
                              <p:par>
                                <p:cTn id="8" presetID="18" presetClass="entr" presetSubtype="12"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strips(downLeft)">
                                      <p:cBhvr>
                                        <p:cTn id="10" dur="500"/>
                                        <p:tgtEl>
                                          <p:spTgt spid="19"/>
                                        </p:tgtEl>
                                      </p:cBhvr>
                                    </p:animEffect>
                                  </p:childTnLst>
                                </p:cTn>
                              </p:par>
                              <p:par>
                                <p:cTn id="11" presetID="18" presetClass="entr" presetSubtype="12"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strips(downLeft)">
                                      <p:cBhvr>
                                        <p:cTn id="1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9168" name="Group 16"/>
          <p:cNvGrpSpPr/>
          <p:nvPr/>
        </p:nvGrpSpPr>
        <p:grpSpPr bwMode="auto">
          <a:xfrm>
            <a:off x="6372200" y="116632"/>
            <a:ext cx="2438400" cy="1752600"/>
            <a:chOff x="2208" y="384"/>
            <a:chExt cx="1536" cy="1104"/>
          </a:xfrm>
        </p:grpSpPr>
        <p:sp>
          <p:nvSpPr>
            <p:cNvPr id="689157"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689158" name="Group 6"/>
            <p:cNvGrpSpPr/>
            <p:nvPr/>
          </p:nvGrpSpPr>
          <p:grpSpPr bwMode="auto">
            <a:xfrm>
              <a:off x="2592" y="384"/>
              <a:ext cx="820" cy="734"/>
              <a:chOff x="613" y="1858"/>
              <a:chExt cx="672" cy="686"/>
            </a:xfrm>
          </p:grpSpPr>
          <p:grpSp>
            <p:nvGrpSpPr>
              <p:cNvPr id="689159" name="Group 7"/>
              <p:cNvGrpSpPr/>
              <p:nvPr/>
            </p:nvGrpSpPr>
            <p:grpSpPr bwMode="auto">
              <a:xfrm>
                <a:off x="613" y="2062"/>
                <a:ext cx="216" cy="482"/>
                <a:chOff x="3064" y="2792"/>
                <a:chExt cx="281" cy="626"/>
              </a:xfrm>
            </p:grpSpPr>
            <p:sp>
              <p:nvSpPr>
                <p:cNvPr id="689160"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1"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2" name="Group 10"/>
              <p:cNvGrpSpPr/>
              <p:nvPr/>
            </p:nvGrpSpPr>
            <p:grpSpPr bwMode="auto">
              <a:xfrm>
                <a:off x="850" y="1858"/>
                <a:ext cx="183" cy="470"/>
                <a:chOff x="2073" y="2933"/>
                <a:chExt cx="238" cy="611"/>
              </a:xfrm>
            </p:grpSpPr>
            <p:sp>
              <p:nvSpPr>
                <p:cNvPr id="689163"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4"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5" name="Group 13"/>
              <p:cNvGrpSpPr/>
              <p:nvPr/>
            </p:nvGrpSpPr>
            <p:grpSpPr bwMode="auto">
              <a:xfrm>
                <a:off x="1069" y="1987"/>
                <a:ext cx="216" cy="482"/>
                <a:chOff x="2326" y="3101"/>
                <a:chExt cx="281" cy="626"/>
              </a:xfrm>
            </p:grpSpPr>
            <p:sp>
              <p:nvSpPr>
                <p:cNvPr id="689166"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7"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
        <p:nvSpPr>
          <p:cNvPr id="15" name="Rectangle 2"/>
          <p:cNvSpPr txBox="1">
            <a:spLocks noChangeArrowheads="1"/>
          </p:cNvSpPr>
          <p:nvPr/>
        </p:nvSpPr>
        <p:spPr bwMode="auto">
          <a:xfrm>
            <a:off x="-19050" y="2071884"/>
            <a:ext cx="8352928"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marL="1143000" indent="-1143000" algn="ctr">
              <a:buFont typeface="+mj-lt"/>
              <a:buAutoNum type="arabicPeriod" startAt="2"/>
            </a:pPr>
            <a:r>
              <a:rPr lang="en-US" altLang="zh-CN" sz="6600" b="1" dirty="0">
                <a:ea typeface="华文彩云" panose="02010800040101010101" pitchFamily="2" charset="-122"/>
              </a:rPr>
              <a:t>   </a:t>
            </a:r>
            <a:r>
              <a:rPr lang="zh-CN" altLang="en-US" sz="6600" b="1" dirty="0">
                <a:ea typeface="华文彩云" panose="02010800040101010101" pitchFamily="2" charset="-122"/>
              </a:rPr>
              <a:t>迭代器</a:t>
            </a:r>
            <a:endParaRPr lang="zh-CN" altLang="en-US" sz="6600" dirty="0">
              <a:solidFill>
                <a:srgbClr val="FFFF00"/>
              </a:solidFill>
            </a:endParaRPr>
          </a:p>
        </p:txBody>
      </p:sp>
      <p:sp>
        <p:nvSpPr>
          <p:cNvPr id="17" name="文本占位符 2"/>
          <p:cNvSpPr txBox="1"/>
          <p:nvPr/>
        </p:nvSpPr>
        <p:spPr>
          <a:xfrm>
            <a:off x="963585" y="3367088"/>
            <a:ext cx="10368598" cy="2438176"/>
          </a:xfrm>
          <a:prstGeom prst="rect">
            <a:avLst/>
          </a:prstGeom>
        </p:spPr>
        <p:txBody>
          <a:bodyPr/>
          <a:lst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88620">
              <a:buFont typeface="Arial" panose="020B0604020202020204" pitchFamily="34" charset="0"/>
              <a:buChar char="•"/>
            </a:pPr>
            <a:r>
              <a:rPr lang="zh-CN" altLang="en-US" sz="2000" b="1">
                <a:latin typeface="微软雅黑" panose="020B0503020204020204" pitchFamily="34" charset="-122"/>
                <a:ea typeface="微软雅黑" panose="020B0503020204020204" pitchFamily="34" charset="-122"/>
              </a:rPr>
              <a:t>迭代器是算法和容器的桥梁</a:t>
            </a:r>
            <a:endParaRPr lang="zh-CN" altLang="en-US" sz="2000" b="1">
              <a:latin typeface="微软雅黑" panose="020B0503020204020204" pitchFamily="34" charset="-122"/>
              <a:ea typeface="微软雅黑" panose="020B0503020204020204" pitchFamily="34" charset="-122"/>
            </a:endParaRPr>
          </a:p>
          <a:p>
            <a:pPr marL="1000125" lvl="1" indent="-342900">
              <a:buFont typeface="Arial" panose="020B0604020202020204" pitchFamily="34" charset="0"/>
              <a:buChar char="•"/>
            </a:pPr>
            <a:r>
              <a:rPr lang="zh-CN" altLang="en-US" sz="2000" b="1">
                <a:latin typeface="微软雅黑" panose="020B0503020204020204" pitchFamily="34" charset="-122"/>
                <a:ea typeface="微软雅黑" panose="020B0503020204020204" pitchFamily="34" charset="-122"/>
              </a:rPr>
              <a:t>迭代器用作访问容器中的元素</a:t>
            </a:r>
            <a:endParaRPr lang="zh-CN" altLang="en-US" sz="2000" b="1">
              <a:latin typeface="微软雅黑" panose="020B0503020204020204" pitchFamily="34" charset="-122"/>
              <a:ea typeface="微软雅黑" panose="020B0503020204020204" pitchFamily="34" charset="-122"/>
            </a:endParaRPr>
          </a:p>
          <a:p>
            <a:pPr marL="1000125" lvl="1" indent="-342900">
              <a:buFont typeface="Arial" panose="020B0604020202020204" pitchFamily="34" charset="0"/>
              <a:buChar char="•"/>
            </a:pPr>
            <a:r>
              <a:rPr lang="zh-CN" altLang="en-US" sz="2000" b="1">
                <a:latin typeface="微软雅黑" panose="020B0503020204020204" pitchFamily="34" charset="-122"/>
                <a:ea typeface="微软雅黑" panose="020B0503020204020204" pitchFamily="34" charset="-122"/>
              </a:rPr>
              <a:t>算法不直接操作容器中的数据，而是通过迭代器间接操作</a:t>
            </a:r>
            <a:endParaRPr lang="en-US" altLang="zh-CN" sz="2000" b="1">
              <a:latin typeface="微软雅黑" panose="020B0503020204020204" pitchFamily="34" charset="-122"/>
              <a:ea typeface="微软雅黑" panose="020B0503020204020204" pitchFamily="34" charset="-122"/>
            </a:endParaRPr>
          </a:p>
          <a:p>
            <a:pPr marL="388620">
              <a:buFont typeface="Arial" panose="020B0604020202020204" pitchFamily="34" charset="0"/>
              <a:buChar char="•"/>
            </a:pPr>
            <a:r>
              <a:rPr lang="zh-CN" altLang="en-US" sz="2000" b="1">
                <a:latin typeface="微软雅黑" panose="020B0503020204020204" pitchFamily="34" charset="-122"/>
                <a:ea typeface="微软雅黑" panose="020B0503020204020204" pitchFamily="34" charset="-122"/>
              </a:rPr>
              <a:t>算法和容器独立</a:t>
            </a:r>
            <a:endParaRPr lang="en-US" altLang="zh-CN" sz="2000" b="1">
              <a:latin typeface="微软雅黑" panose="020B0503020204020204" pitchFamily="34" charset="-122"/>
              <a:ea typeface="微软雅黑" panose="020B0503020204020204" pitchFamily="34" charset="-122"/>
            </a:endParaRPr>
          </a:p>
          <a:p>
            <a:pPr marL="1000125" lvl="1" indent="-342900">
              <a:buFont typeface="Arial" panose="020B0604020202020204" pitchFamily="34" charset="0"/>
              <a:buChar char="•"/>
            </a:pPr>
            <a:r>
              <a:rPr lang="zh-CN" altLang="en-US" sz="2000" b="1">
                <a:latin typeface="微软雅黑" panose="020B0503020204020204" pitchFamily="34" charset="-122"/>
                <a:ea typeface="微软雅黑" panose="020B0503020204020204" pitchFamily="34" charset="-122"/>
              </a:rPr>
              <a:t>增加新的算法，无需影响容器的实现</a:t>
            </a:r>
            <a:endParaRPr lang="zh-CN" altLang="en-US" sz="2000" b="1">
              <a:latin typeface="微软雅黑" panose="020B0503020204020204" pitchFamily="34" charset="-122"/>
              <a:ea typeface="微软雅黑" panose="020B0503020204020204" pitchFamily="34" charset="-122"/>
            </a:endParaRPr>
          </a:p>
          <a:p>
            <a:pPr marL="1000125" lvl="1" indent="-342900">
              <a:buFont typeface="Arial" panose="020B0604020202020204" pitchFamily="34" charset="0"/>
              <a:buChar char="•"/>
            </a:pPr>
            <a:r>
              <a:rPr lang="zh-CN" altLang="en-US" sz="2000" b="1">
                <a:latin typeface="微软雅黑" panose="020B0503020204020204" pitchFamily="34" charset="-122"/>
                <a:ea typeface="微软雅黑" panose="020B0503020204020204" pitchFamily="34" charset="-122"/>
              </a:rPr>
              <a:t>增加新的容器，原有的算法也能适用</a:t>
            </a:r>
            <a:endParaRPr lang="zh-CN" altLang="en-US" sz="2000" b="1">
              <a:latin typeface="微软雅黑" panose="020B0503020204020204" pitchFamily="34" charset="-122"/>
              <a:ea typeface="微软雅黑" panose="020B0503020204020204" pitchFamily="34" charset="-122"/>
            </a:endParaRPr>
          </a:p>
          <a:p>
            <a:endParaRPr lang="zh-CN" altLang="en-US" sz="2000" b="1">
              <a:latin typeface="微软雅黑" panose="020B0503020204020204" pitchFamily="34" charset="-122"/>
              <a:ea typeface="微软雅黑" panose="020B0503020204020204" pitchFamily="34" charset="-122"/>
            </a:endParaRPr>
          </a:p>
          <a:p>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pPr algn="ctr"/>
            <a:r>
              <a:rPr lang="en-US" altLang="zh-CN" b="1" dirty="0">
                <a:latin typeface="Times New Roman" panose="02020603050405020304" pitchFamily="18" charset="0"/>
                <a:ea typeface="隶书" panose="02010509060101010101" pitchFamily="49" charset="-122"/>
              </a:rPr>
              <a:t>10.2.1</a:t>
            </a:r>
            <a:r>
              <a:rPr lang="zh-CN" altLang="en-US" b="1" dirty="0">
                <a:latin typeface="Times New Roman" panose="02020603050405020304" pitchFamily="18" charset="0"/>
                <a:ea typeface="隶书" panose="02010509060101010101" pitchFamily="49" charset="-122"/>
              </a:rPr>
              <a:t>输入流迭代器和输出流迭代器</a:t>
            </a:r>
            <a:endParaRPr lang="zh-CN" altLang="en-US" b="1" dirty="0">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827584" y="1484784"/>
            <a:ext cx="7886700" cy="4351338"/>
          </a:xfrm>
        </p:spPr>
        <p:txBody>
          <a:bodyPr/>
          <a:lstStyle/>
          <a:p>
            <a:pPr>
              <a:spcBef>
                <a:spcPts val="0"/>
              </a:spcBef>
              <a:spcAft>
                <a:spcPts val="0"/>
              </a:spcAft>
            </a:pPr>
            <a:r>
              <a:rPr lang="zh-CN" altLang="en-US" sz="2400" b="1" dirty="0">
                <a:ea typeface="华文楷体" panose="02010600040101010101" pitchFamily="2" charset="-122"/>
              </a:rPr>
              <a:t>输入流迭代器</a:t>
            </a:r>
            <a:endParaRPr lang="en-US" altLang="zh-CN" sz="2400" b="1" dirty="0">
              <a:ea typeface="华文楷体" panose="02010600040101010101" pitchFamily="2" charset="-122"/>
            </a:endParaRPr>
          </a:p>
          <a:p>
            <a:pPr marL="457200" lvl="1" indent="0">
              <a:spcBef>
                <a:spcPts val="0"/>
              </a:spcBef>
              <a:spcAft>
                <a:spcPts val="0"/>
              </a:spcAft>
              <a:buNone/>
            </a:pPr>
            <a:r>
              <a:rPr lang="en-US" altLang="zh-CN" sz="2400" b="1" dirty="0" err="1">
                <a:solidFill>
                  <a:srgbClr val="FFFF00"/>
                </a:solidFill>
                <a:ea typeface="华文楷体" panose="02010600040101010101" pitchFamily="2" charset="-122"/>
              </a:rPr>
              <a:t>istream_iterator</a:t>
            </a:r>
            <a:r>
              <a:rPr lang="en-US" altLang="zh-CN" sz="2400" b="1" dirty="0">
                <a:solidFill>
                  <a:srgbClr val="FFFF00"/>
                </a:solidFill>
                <a:ea typeface="华文楷体" panose="02010600040101010101" pitchFamily="2" charset="-122"/>
              </a:rPr>
              <a:t>&lt;T&gt;</a:t>
            </a:r>
            <a:endParaRPr lang="en-US" altLang="zh-CN" sz="2400" b="1" dirty="0">
              <a:solidFill>
                <a:srgbClr val="FFFF00"/>
              </a:solidFill>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400" b="1" dirty="0">
                <a:ea typeface="华文楷体" panose="02010600040101010101" pitchFamily="2" charset="-122"/>
              </a:rPr>
              <a:t>以输入流（如</a:t>
            </a:r>
            <a:r>
              <a:rPr lang="en-US" altLang="zh-CN" sz="2400" b="1" dirty="0" err="1">
                <a:ea typeface="华文楷体" panose="02010600040101010101" pitchFamily="2" charset="-122"/>
              </a:rPr>
              <a:t>cin</a:t>
            </a:r>
            <a:r>
              <a:rPr lang="zh-CN" altLang="en-US" sz="2400" b="1" dirty="0">
                <a:ea typeface="华文楷体" panose="02010600040101010101" pitchFamily="2" charset="-122"/>
              </a:rPr>
              <a:t>）为参数构造</a:t>
            </a:r>
            <a:endParaRPr lang="en-US" altLang="zh-CN" sz="24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400" b="1" dirty="0">
                <a:ea typeface="华文楷体" panose="02010600040101010101" pitchFamily="2" charset="-122"/>
              </a:rPr>
              <a:t>可用</a:t>
            </a:r>
            <a:r>
              <a:rPr lang="en-US" altLang="zh-CN" sz="2400" b="1" dirty="0">
                <a:ea typeface="华文楷体" panose="02010600040101010101" pitchFamily="2" charset="-122"/>
              </a:rPr>
              <a:t>*(p++)</a:t>
            </a:r>
            <a:r>
              <a:rPr lang="zh-CN" altLang="en-US" sz="2400" b="1" dirty="0">
                <a:ea typeface="华文楷体" panose="02010600040101010101" pitchFamily="2" charset="-122"/>
              </a:rPr>
              <a:t>获得下一个输入的元素</a:t>
            </a:r>
            <a:endParaRPr lang="en-US" altLang="zh-CN" sz="2400" b="1" dirty="0">
              <a:ea typeface="华文楷体" panose="02010600040101010101" pitchFamily="2" charset="-122"/>
            </a:endParaRPr>
          </a:p>
          <a:p>
            <a:pPr>
              <a:spcBef>
                <a:spcPts val="0"/>
              </a:spcBef>
              <a:spcAft>
                <a:spcPts val="0"/>
              </a:spcAft>
            </a:pPr>
            <a:r>
              <a:rPr lang="zh-CN" altLang="en-US" sz="2400" b="1" dirty="0">
                <a:ea typeface="华文楷体" panose="02010600040101010101" pitchFamily="2" charset="-122"/>
              </a:rPr>
              <a:t>输出流迭代器</a:t>
            </a:r>
            <a:endParaRPr lang="en-US" altLang="zh-CN" sz="2400" b="1" dirty="0">
              <a:ea typeface="华文楷体" panose="02010600040101010101" pitchFamily="2" charset="-122"/>
            </a:endParaRPr>
          </a:p>
          <a:p>
            <a:pPr marL="457200" lvl="1" indent="0">
              <a:spcBef>
                <a:spcPts val="0"/>
              </a:spcBef>
              <a:spcAft>
                <a:spcPts val="0"/>
              </a:spcAft>
              <a:buNone/>
            </a:pPr>
            <a:r>
              <a:rPr lang="en-US" altLang="zh-CN" sz="2400" b="1" dirty="0" err="1">
                <a:solidFill>
                  <a:srgbClr val="FFFF00"/>
                </a:solidFill>
                <a:ea typeface="华文楷体" panose="02010600040101010101" pitchFamily="2" charset="-122"/>
              </a:rPr>
              <a:t>ostream_iterator</a:t>
            </a:r>
            <a:r>
              <a:rPr lang="en-US" altLang="zh-CN" sz="2400" b="1" dirty="0">
                <a:solidFill>
                  <a:srgbClr val="FFFF00"/>
                </a:solidFill>
                <a:ea typeface="华文楷体" panose="02010600040101010101" pitchFamily="2" charset="-122"/>
              </a:rPr>
              <a:t>&lt;T&gt;</a:t>
            </a:r>
            <a:endParaRPr lang="en-US" altLang="zh-CN" sz="2400" b="1" dirty="0">
              <a:solidFill>
                <a:srgbClr val="FFFF00"/>
              </a:solidFill>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400" b="1" dirty="0">
                <a:ea typeface="华文楷体" panose="02010600040101010101" pitchFamily="2" charset="-122"/>
              </a:rPr>
              <a:t>构造时需要提供输出流（如</a:t>
            </a:r>
            <a:r>
              <a:rPr lang="en-US" altLang="zh-CN" sz="2400" b="1" dirty="0" err="1">
                <a:ea typeface="华文楷体" panose="02010600040101010101" pitchFamily="2" charset="-122"/>
              </a:rPr>
              <a:t>cout</a:t>
            </a:r>
            <a:r>
              <a:rPr lang="zh-CN" altLang="en-US" sz="2400" b="1" dirty="0">
                <a:ea typeface="华文楷体" panose="02010600040101010101" pitchFamily="2" charset="-122"/>
              </a:rPr>
              <a:t>）</a:t>
            </a:r>
            <a:endParaRPr lang="en-US" altLang="zh-CN" sz="24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400" b="1" dirty="0">
                <a:ea typeface="华文楷体" panose="02010600040101010101" pitchFamily="2" charset="-122"/>
              </a:rPr>
              <a:t>可用</a:t>
            </a:r>
            <a:r>
              <a:rPr lang="en-US" altLang="zh-CN" sz="2400" b="1" dirty="0">
                <a:ea typeface="华文楷体" panose="02010600040101010101" pitchFamily="2" charset="-122"/>
              </a:rPr>
              <a:t>(*p++) = x</a:t>
            </a:r>
            <a:r>
              <a:rPr lang="zh-CN" altLang="en-US" sz="2400" b="1" dirty="0">
                <a:ea typeface="华文楷体" panose="02010600040101010101" pitchFamily="2" charset="-122"/>
              </a:rPr>
              <a:t>将</a:t>
            </a:r>
            <a:r>
              <a:rPr lang="en-US" altLang="zh-CN" sz="2400" b="1" dirty="0">
                <a:ea typeface="华文楷体" panose="02010600040101010101" pitchFamily="2" charset="-122"/>
              </a:rPr>
              <a:t>x</a:t>
            </a:r>
            <a:r>
              <a:rPr lang="zh-CN" altLang="en-US" sz="2400" b="1" dirty="0">
                <a:ea typeface="华文楷体" panose="02010600040101010101" pitchFamily="2" charset="-122"/>
              </a:rPr>
              <a:t>输出到输出流</a:t>
            </a:r>
            <a:endParaRPr lang="en-US" altLang="zh-CN" sz="2400" b="1" dirty="0">
              <a:ea typeface="华文楷体" panose="02010600040101010101" pitchFamily="2" charset="-122"/>
            </a:endParaRPr>
          </a:p>
          <a:p>
            <a:pPr>
              <a:spcBef>
                <a:spcPts val="0"/>
              </a:spcBef>
              <a:spcAft>
                <a:spcPts val="0"/>
              </a:spcAft>
            </a:pPr>
            <a:r>
              <a:rPr lang="zh-CN" altLang="en-US" sz="2400" b="1" dirty="0">
                <a:ea typeface="华文楷体" panose="02010600040101010101" pitchFamily="2" charset="-122"/>
              </a:rPr>
              <a:t>二者都属于适配器</a:t>
            </a:r>
            <a:endParaRPr lang="en-US" altLang="zh-CN" sz="24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400" b="1" dirty="0">
                <a:ea typeface="华文楷体" panose="02010600040101010101" pitchFamily="2" charset="-122"/>
              </a:rPr>
              <a:t>适配器是用来为已有对象提供新的接口的对象</a:t>
            </a:r>
            <a:endParaRPr lang="en-US" altLang="zh-CN" sz="24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400" b="1" dirty="0">
                <a:ea typeface="华文楷体" panose="02010600040101010101" pitchFamily="2" charset="-122"/>
              </a:rPr>
              <a:t>输入流适配器和输出流适配器为流对象提供了迭代器的接口</a:t>
            </a:r>
            <a:endParaRPr lang="zh-CN" altLang="en-US" sz="2400" b="1" dirty="0">
              <a:ea typeface="华文楷体" panose="02010600040101010101" pitchFamily="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eaLnBrk="1" fontAlgn="auto" hangingPunct="1">
              <a:spcAft>
                <a:spcPts val="0"/>
              </a:spcAft>
              <a:defRPr/>
            </a:pPr>
            <a:r>
              <a:rPr lang="zh-CN" altLang="en-US" sz="2800" b="1" dirty="0"/>
              <a:t>例</a:t>
            </a:r>
            <a:r>
              <a:rPr lang="en-US" altLang="zh-CN" sz="2800" b="1" dirty="0"/>
              <a:t>10-2</a:t>
            </a:r>
            <a:r>
              <a:rPr lang="zh-CN" altLang="en-US" sz="2800" b="1" dirty="0"/>
              <a:t>从标准输入读入几个实数，分别将它们的平方输出</a:t>
            </a:r>
            <a:endParaRPr lang="zh-CN" altLang="en-US" sz="2800" b="1" dirty="0"/>
          </a:p>
        </p:txBody>
      </p:sp>
      <p:sp>
        <p:nvSpPr>
          <p:cNvPr id="3" name="内容占位符 2"/>
          <p:cNvSpPr>
            <a:spLocks noGrp="1"/>
          </p:cNvSpPr>
          <p:nvPr>
            <p:ph idx="1"/>
          </p:nvPr>
        </p:nvSpPr>
        <p:spPr>
          <a:xfrm>
            <a:off x="467544" y="1340768"/>
            <a:ext cx="8229600" cy="532453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//10_2.cpp</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iterator</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iostream</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&lt;algorithm&gt;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using namespace std;</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求平方的函数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double square(double x)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x * x;</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从标准输入读入若干个实数，分别将它们的平方输出</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transform(</a:t>
            </a:r>
            <a:r>
              <a:rPr lang="en-US" altLang="zh-CN" sz="2000" b="1" dirty="0" err="1">
                <a:solidFill>
                  <a:srgbClr val="000000"/>
                </a:solidFill>
                <a:latin typeface="Times New Roman" panose="02020603050405020304" pitchFamily="18" charset="0"/>
                <a:ea typeface="华文楷体" panose="02010600040101010101" pitchFamily="2" charset="-122"/>
              </a:rPr>
              <a:t>istream_iterator</a:t>
            </a:r>
            <a:r>
              <a:rPr lang="en-US" altLang="zh-CN" sz="2000" b="1" dirty="0">
                <a:solidFill>
                  <a:srgbClr val="000000"/>
                </a:solidFill>
                <a:latin typeface="Times New Roman" panose="02020603050405020304" pitchFamily="18" charset="0"/>
                <a:ea typeface="华文楷体" panose="02010600040101010101" pitchFamily="2" charset="-122"/>
              </a:rPr>
              <a:t>&lt;double&gt;(</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istream_iterator</a:t>
            </a:r>
            <a:r>
              <a:rPr lang="en-US" altLang="zh-CN" sz="2000" b="1" dirty="0">
                <a:solidFill>
                  <a:srgbClr val="000000"/>
                </a:solidFill>
                <a:latin typeface="Times New Roman" panose="02020603050405020304" pitchFamily="18" charset="0"/>
                <a:ea typeface="华文楷体" panose="02010600040101010101" pitchFamily="2" charset="-122"/>
              </a:rPr>
              <a:t>&lt;double&gt;(),		</a:t>
            </a:r>
            <a:r>
              <a:rPr lang="en-US" altLang="zh-CN" sz="2000" b="1" dirty="0" err="1">
                <a:solidFill>
                  <a:srgbClr val="FF0000"/>
                </a:solidFill>
                <a:latin typeface="Times New Roman" panose="02020603050405020304" pitchFamily="18" charset="0"/>
                <a:ea typeface="华文楷体" panose="02010600040101010101" pitchFamily="2" charset="-122"/>
              </a:rPr>
              <a:t>ostream_iterator</a:t>
            </a:r>
            <a:r>
              <a:rPr lang="en-US" altLang="zh-CN" sz="2000" b="1" dirty="0">
                <a:solidFill>
                  <a:srgbClr val="FF0000"/>
                </a:solidFill>
                <a:latin typeface="Times New Roman" panose="02020603050405020304" pitchFamily="18" charset="0"/>
                <a:ea typeface="华文楷体" panose="02010600040101010101" pitchFamily="2" charset="-122"/>
              </a:rPr>
              <a:t>&lt;double&gt;(</a:t>
            </a:r>
            <a:r>
              <a:rPr lang="en-US" altLang="zh-CN" sz="2000" b="1" dirty="0" err="1">
                <a:solidFill>
                  <a:srgbClr val="FF0000"/>
                </a:solidFill>
                <a:latin typeface="Times New Roman" panose="02020603050405020304" pitchFamily="18" charset="0"/>
                <a:ea typeface="华文楷体" panose="02010600040101010101" pitchFamily="2" charset="-122"/>
              </a:rPr>
              <a:t>cout</a:t>
            </a:r>
            <a:r>
              <a:rPr lang="en-US" altLang="zh-CN" sz="2000" b="1" dirty="0">
                <a:solidFill>
                  <a:srgbClr val="FF0000"/>
                </a:solidFill>
                <a:latin typeface="Times New Roman" panose="02020603050405020304" pitchFamily="18" charset="0"/>
                <a:ea typeface="华文楷体" panose="02010600040101010101" pitchFamily="2" charset="-122"/>
              </a:rPr>
              <a:t>, "\t"), </a:t>
            </a:r>
            <a:r>
              <a:rPr lang="en-US" altLang="zh-CN" sz="2000" b="1" dirty="0">
                <a:solidFill>
                  <a:srgbClr val="000000"/>
                </a:solidFill>
                <a:latin typeface="Times New Roman" panose="02020603050405020304" pitchFamily="18" charset="0"/>
                <a:ea typeface="华文楷体" panose="02010600040101010101" pitchFamily="2" charset="-122"/>
              </a:rPr>
              <a:t>square);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
        <p:nvSpPr>
          <p:cNvPr id="4" name="线形标注 1(无边框) 5"/>
          <p:cNvSpPr/>
          <p:nvPr/>
        </p:nvSpPr>
        <p:spPr bwMode="auto">
          <a:xfrm>
            <a:off x="2987824" y="5986692"/>
            <a:ext cx="1872208" cy="625242"/>
          </a:xfrm>
          <a:prstGeom prst="callout1">
            <a:avLst>
              <a:gd name="adj1" fmla="val -7743"/>
              <a:gd name="adj2" fmla="val -464"/>
              <a:gd name="adj3" fmla="val -50444"/>
              <a:gd name="adj4" fmla="val 74155"/>
            </a:avLst>
          </a:prstGeom>
          <a:ln>
            <a:headEnd type="none" w="sm" len="sm"/>
            <a:tailEnd type="none" w="sm" len="sm"/>
          </a:ln>
        </p:spPr>
        <p:style>
          <a:lnRef idx="1">
            <a:schemeClr val="accent4"/>
          </a:lnRef>
          <a:fillRef idx="2">
            <a:schemeClr val="accent4"/>
          </a:fillRef>
          <a:effectRef idx="1">
            <a:schemeClr val="accent4"/>
          </a:effectRef>
          <a:fontRef idx="minor">
            <a:schemeClr val="dk1"/>
          </a:fontRef>
        </p:style>
        <p:txBody>
          <a:bodyPr/>
          <a:lstStyle/>
          <a:p>
            <a:pPr>
              <a:defRPr/>
            </a:pPr>
            <a:r>
              <a:rPr lang="zh-CN" altLang="en-US" sz="2000">
                <a:solidFill>
                  <a:srgbClr val="FF0000"/>
                </a:solidFill>
                <a:latin typeface="微软雅黑" panose="020B0503020204020204" pitchFamily="34" charset="-122"/>
                <a:ea typeface="微软雅黑" panose="020B0503020204020204" pitchFamily="34" charset="-122"/>
              </a:rPr>
              <a:t>两个输出项之间的分隔符</a:t>
            </a:r>
            <a:endParaRPr lang="zh-CN" altLang="en-US" sz="20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10.2.2 </a:t>
            </a:r>
            <a:r>
              <a:rPr lang="zh-CN" altLang="en-US" sz="4400" b="1">
                <a:latin typeface="Times New Roman" panose="02020603050405020304" pitchFamily="18" charset="0"/>
                <a:ea typeface="隶书" panose="02010509060101010101" pitchFamily="49" charset="-122"/>
              </a:rPr>
              <a:t>迭代器的分类</a:t>
            </a:r>
            <a:endParaRPr lang="zh-CN" altLang="en-US" sz="4400" b="1">
              <a:latin typeface="Times New Roman" panose="02020603050405020304" pitchFamily="18" charset="0"/>
              <a:ea typeface="隶书" panose="02010509060101010101" pitchFamily="49" charset="-122"/>
            </a:endParaRPr>
          </a:p>
        </p:txBody>
      </p:sp>
      <p:grpSp>
        <p:nvGrpSpPr>
          <p:cNvPr id="21509" name="组合 13"/>
          <p:cNvGrpSpPr/>
          <p:nvPr/>
        </p:nvGrpSpPr>
        <p:grpSpPr bwMode="auto">
          <a:xfrm>
            <a:off x="2555776" y="1772816"/>
            <a:ext cx="5572125" cy="4143375"/>
            <a:chOff x="2905116" y="2825752"/>
            <a:chExt cx="2828925" cy="2508250"/>
          </a:xfrm>
        </p:grpSpPr>
        <p:sp>
          <p:nvSpPr>
            <p:cNvPr id="7" name="Text Box 2"/>
            <p:cNvSpPr txBox="1">
              <a:spLocks noChangeArrowheads="1"/>
            </p:cNvSpPr>
            <p:nvPr/>
          </p:nvSpPr>
          <p:spPr bwMode="auto">
            <a:xfrm>
              <a:off x="2905116" y="2825752"/>
              <a:ext cx="1047750" cy="515104"/>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800" b="1" dirty="0">
                  <a:solidFill>
                    <a:schemeClr val="tx1"/>
                  </a:solidFill>
                  <a:ea typeface="华文楷体" panose="02010600040101010101" pitchFamily="2" charset="-122"/>
                </a:rPr>
                <a:t>输入迭代器</a:t>
              </a:r>
              <a:br>
                <a:rPr lang="zh-CN" altLang="en-US" sz="1800" b="1" dirty="0">
                  <a:solidFill>
                    <a:schemeClr val="tx1"/>
                  </a:solidFill>
                  <a:ea typeface="华文楷体" panose="02010600040101010101" pitchFamily="2" charset="-122"/>
                </a:rPr>
              </a:br>
              <a:r>
                <a:rPr lang="en-US" altLang="zh-CN" sz="1800" b="1" dirty="0">
                  <a:solidFill>
                    <a:schemeClr val="tx1"/>
                  </a:solidFill>
                  <a:ea typeface="华文楷体" panose="02010600040101010101" pitchFamily="2" charset="-122"/>
                </a:rPr>
                <a:t>(Input </a:t>
              </a:r>
              <a:r>
                <a:rPr lang="en-US" altLang="zh-CN" sz="1800" b="1" dirty="0" err="1">
                  <a:solidFill>
                    <a:schemeClr val="tx1"/>
                  </a:solidFill>
                  <a:ea typeface="华文楷体" panose="02010600040101010101" pitchFamily="2" charset="-122"/>
                </a:rPr>
                <a:t>Iterator</a:t>
              </a:r>
              <a:r>
                <a:rPr lang="en-US" altLang="zh-CN" sz="1800" b="1" dirty="0">
                  <a:solidFill>
                    <a:schemeClr val="tx1"/>
                  </a:solidFill>
                  <a:ea typeface="华文楷体" panose="02010600040101010101" pitchFamily="2" charset="-122"/>
                </a:rPr>
                <a:t>)</a:t>
              </a:r>
              <a:endParaRPr lang="zh-CN" altLang="zh-CN" sz="1800" b="1" dirty="0">
                <a:solidFill>
                  <a:schemeClr val="tx1"/>
                </a:solidFill>
                <a:ea typeface="华文楷体" panose="02010600040101010101" pitchFamily="2" charset="-122"/>
              </a:endParaRPr>
            </a:p>
          </p:txBody>
        </p:sp>
        <p:sp>
          <p:nvSpPr>
            <p:cNvPr id="8" name="Text Box 3"/>
            <p:cNvSpPr txBox="1">
              <a:spLocks noChangeArrowheads="1"/>
            </p:cNvSpPr>
            <p:nvPr/>
          </p:nvSpPr>
          <p:spPr bwMode="auto">
            <a:xfrm>
              <a:off x="4619396" y="2825752"/>
              <a:ext cx="1114645" cy="515104"/>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800" b="1">
                  <a:solidFill>
                    <a:schemeClr val="tx1"/>
                  </a:solidFill>
                  <a:ea typeface="华文楷体" panose="02010600040101010101" pitchFamily="2" charset="-122"/>
                </a:rPr>
                <a:t>输出迭代器</a:t>
              </a:r>
              <a:br>
                <a:rPr lang="zh-CN" altLang="en-US" sz="1800" b="1">
                  <a:solidFill>
                    <a:schemeClr val="tx1"/>
                  </a:solidFill>
                  <a:ea typeface="华文楷体" panose="02010600040101010101" pitchFamily="2" charset="-122"/>
                </a:rPr>
              </a:br>
              <a:r>
                <a:rPr lang="en-US" altLang="zh-CN" sz="1800" b="1">
                  <a:solidFill>
                    <a:schemeClr val="tx1"/>
                  </a:solidFill>
                  <a:ea typeface="华文楷体" panose="02010600040101010101" pitchFamily="2" charset="-122"/>
                </a:rPr>
                <a:t>(Output Iterator)</a:t>
              </a:r>
              <a:endParaRPr lang="zh-CN" altLang="zh-CN" sz="1800" b="1">
                <a:solidFill>
                  <a:schemeClr val="tx1"/>
                </a:solidFill>
                <a:ea typeface="华文楷体" panose="02010600040101010101" pitchFamily="2" charset="-122"/>
              </a:endParaRPr>
            </a:p>
          </p:txBody>
        </p:sp>
        <p:sp>
          <p:nvSpPr>
            <p:cNvPr id="9" name="Text Box 4"/>
            <p:cNvSpPr txBox="1">
              <a:spLocks noChangeArrowheads="1"/>
            </p:cNvSpPr>
            <p:nvPr/>
          </p:nvSpPr>
          <p:spPr bwMode="auto">
            <a:xfrm>
              <a:off x="3286336" y="3714691"/>
              <a:ext cx="2114037" cy="286383"/>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800" b="1">
                  <a:solidFill>
                    <a:schemeClr val="tx1"/>
                  </a:solidFill>
                  <a:ea typeface="华文楷体" panose="02010600040101010101" pitchFamily="2" charset="-122"/>
                </a:rPr>
                <a:t>前向迭代器</a:t>
              </a:r>
              <a:r>
                <a:rPr lang="en-US" altLang="zh-CN" sz="1800" b="1">
                  <a:solidFill>
                    <a:schemeClr val="tx1"/>
                  </a:solidFill>
                  <a:ea typeface="华文楷体" panose="02010600040101010101" pitchFamily="2" charset="-122"/>
                </a:rPr>
                <a:t>(Forward Iterator)</a:t>
              </a:r>
              <a:endParaRPr lang="zh-CN" altLang="zh-CN" sz="1800" b="1">
                <a:solidFill>
                  <a:schemeClr val="tx1"/>
                </a:solidFill>
                <a:ea typeface="华文楷体" panose="02010600040101010101" pitchFamily="2" charset="-122"/>
              </a:endParaRPr>
            </a:p>
          </p:txBody>
        </p:sp>
        <p:sp>
          <p:nvSpPr>
            <p:cNvPr id="10" name="Text Box 5"/>
            <p:cNvSpPr txBox="1">
              <a:spLocks noChangeArrowheads="1"/>
            </p:cNvSpPr>
            <p:nvPr/>
          </p:nvSpPr>
          <p:spPr bwMode="auto">
            <a:xfrm>
              <a:off x="3286336" y="4372987"/>
              <a:ext cx="2114037" cy="285421"/>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800" b="1">
                  <a:solidFill>
                    <a:schemeClr val="tx1"/>
                  </a:solidFill>
                  <a:ea typeface="华文楷体" panose="02010600040101010101" pitchFamily="2" charset="-122"/>
                </a:rPr>
                <a:t>双向迭代器</a:t>
              </a:r>
              <a:r>
                <a:rPr lang="en-US" altLang="zh-CN" sz="1800" b="1">
                  <a:solidFill>
                    <a:schemeClr val="tx1"/>
                  </a:solidFill>
                  <a:ea typeface="华文楷体" panose="02010600040101010101" pitchFamily="2" charset="-122"/>
                </a:rPr>
                <a:t>(Bidirectional Iterator)</a:t>
              </a:r>
              <a:endParaRPr lang="zh-CN" altLang="zh-CN" sz="1800" b="1">
                <a:solidFill>
                  <a:schemeClr val="tx1"/>
                </a:solidFill>
                <a:ea typeface="华文楷体" panose="02010600040101010101" pitchFamily="2" charset="-122"/>
              </a:endParaRPr>
            </a:p>
          </p:txBody>
        </p:sp>
        <p:sp>
          <p:nvSpPr>
            <p:cNvPr id="11" name="Text Box 6"/>
            <p:cNvSpPr txBox="1">
              <a:spLocks noChangeArrowheads="1"/>
            </p:cNvSpPr>
            <p:nvPr/>
          </p:nvSpPr>
          <p:spPr bwMode="auto">
            <a:xfrm>
              <a:off x="3076786" y="5048580"/>
              <a:ext cx="2533137" cy="285422"/>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800" b="1" dirty="0">
                  <a:solidFill>
                    <a:schemeClr val="tx1"/>
                  </a:solidFill>
                  <a:ea typeface="华文楷体" panose="02010600040101010101" pitchFamily="2" charset="-122"/>
                </a:rPr>
                <a:t>随机访问迭代器</a:t>
              </a:r>
              <a:r>
                <a:rPr lang="en-US" altLang="zh-CN" sz="1800" b="1" dirty="0">
                  <a:solidFill>
                    <a:schemeClr val="tx1"/>
                  </a:solidFill>
                  <a:ea typeface="华文楷体" panose="02010600040101010101" pitchFamily="2" charset="-122"/>
                </a:rPr>
                <a:t>(Random Access </a:t>
              </a:r>
              <a:r>
                <a:rPr lang="en-US" altLang="zh-CN" sz="1800" b="1" dirty="0" err="1">
                  <a:solidFill>
                    <a:schemeClr val="tx1"/>
                  </a:solidFill>
                  <a:ea typeface="华文楷体" panose="02010600040101010101" pitchFamily="2" charset="-122"/>
                </a:rPr>
                <a:t>Iterator</a:t>
              </a:r>
              <a:r>
                <a:rPr lang="en-US" altLang="zh-CN" sz="1800" b="1" dirty="0">
                  <a:solidFill>
                    <a:schemeClr val="tx1"/>
                  </a:solidFill>
                  <a:ea typeface="华文楷体" panose="02010600040101010101" pitchFamily="2" charset="-122"/>
                </a:rPr>
                <a:t>)</a:t>
              </a:r>
              <a:endParaRPr lang="zh-CN" altLang="zh-CN" sz="1800" b="1" dirty="0">
                <a:solidFill>
                  <a:schemeClr val="tx1"/>
                </a:solidFill>
                <a:ea typeface="华文楷体" panose="02010600040101010101" pitchFamily="2" charset="-122"/>
              </a:endParaRPr>
            </a:p>
          </p:txBody>
        </p:sp>
        <p:cxnSp>
          <p:nvCxnSpPr>
            <p:cNvPr id="12" name="AutoShape 7"/>
            <p:cNvCxnSpPr>
              <a:cxnSpLocks noChangeShapeType="1"/>
            </p:cNvCxnSpPr>
            <p:nvPr/>
          </p:nvCxnSpPr>
          <p:spPr bwMode="auto">
            <a:xfrm>
              <a:off x="3428991" y="3340856"/>
              <a:ext cx="445696" cy="373835"/>
            </a:xfrm>
            <a:prstGeom prst="straightConnector1">
              <a:avLst/>
            </a:prstGeom>
            <a:ln>
              <a:tailEnd type="triangle" w="med" len="med"/>
            </a:ln>
          </p:spPr>
          <p:style>
            <a:lnRef idx="3">
              <a:schemeClr val="lt1"/>
            </a:lnRef>
            <a:fillRef idx="1">
              <a:schemeClr val="accent2"/>
            </a:fillRef>
            <a:effectRef idx="1">
              <a:schemeClr val="accent2"/>
            </a:effectRef>
            <a:fontRef idx="minor">
              <a:schemeClr val="lt1"/>
            </a:fontRef>
          </p:style>
        </p:cxnSp>
        <p:cxnSp>
          <p:nvCxnSpPr>
            <p:cNvPr id="13" name="AutoShape 8"/>
            <p:cNvCxnSpPr>
              <a:cxnSpLocks noChangeShapeType="1"/>
            </p:cNvCxnSpPr>
            <p:nvPr/>
          </p:nvCxnSpPr>
          <p:spPr bwMode="auto">
            <a:xfrm flipH="1">
              <a:off x="4708052" y="3340856"/>
              <a:ext cx="469070" cy="373835"/>
            </a:xfrm>
            <a:prstGeom prst="straightConnector1">
              <a:avLst/>
            </a:prstGeom>
            <a:ln>
              <a:tailEnd type="triangle" w="med" len="med"/>
            </a:ln>
          </p:spPr>
          <p:style>
            <a:lnRef idx="3">
              <a:schemeClr val="lt1"/>
            </a:lnRef>
            <a:fillRef idx="1">
              <a:schemeClr val="accent2"/>
            </a:fillRef>
            <a:effectRef idx="1">
              <a:schemeClr val="accent2"/>
            </a:effectRef>
            <a:fontRef idx="minor">
              <a:schemeClr val="lt1"/>
            </a:fontRef>
          </p:style>
        </p:cxnSp>
        <p:cxnSp>
          <p:nvCxnSpPr>
            <p:cNvPr id="14" name="AutoShape 9"/>
            <p:cNvCxnSpPr>
              <a:cxnSpLocks noChangeShapeType="1"/>
            </p:cNvCxnSpPr>
            <p:nvPr/>
          </p:nvCxnSpPr>
          <p:spPr bwMode="auto">
            <a:xfrm>
              <a:off x="4343757" y="4001073"/>
              <a:ext cx="0" cy="370952"/>
            </a:xfrm>
            <a:prstGeom prst="straightConnector1">
              <a:avLst/>
            </a:prstGeom>
            <a:ln>
              <a:tailEnd type="triangle" w="med" len="med"/>
            </a:ln>
          </p:spPr>
          <p:style>
            <a:lnRef idx="3">
              <a:schemeClr val="lt1"/>
            </a:lnRef>
            <a:fillRef idx="1">
              <a:schemeClr val="accent2"/>
            </a:fillRef>
            <a:effectRef idx="1">
              <a:schemeClr val="accent2"/>
            </a:effectRef>
            <a:fontRef idx="minor">
              <a:schemeClr val="lt1"/>
            </a:fontRef>
          </p:style>
        </p:cxnSp>
        <p:cxnSp>
          <p:nvCxnSpPr>
            <p:cNvPr id="15" name="AutoShape 10"/>
            <p:cNvCxnSpPr>
              <a:cxnSpLocks noChangeShapeType="1"/>
            </p:cNvCxnSpPr>
            <p:nvPr/>
          </p:nvCxnSpPr>
          <p:spPr bwMode="auto">
            <a:xfrm>
              <a:off x="4343757" y="4658408"/>
              <a:ext cx="0" cy="390172"/>
            </a:xfrm>
            <a:prstGeom prst="straightConnector1">
              <a:avLst/>
            </a:prstGeom>
            <a:ln>
              <a:tailEnd type="triangle" w="med" len="med"/>
            </a:ln>
          </p:spPr>
          <p:style>
            <a:lnRef idx="3">
              <a:schemeClr val="lt1"/>
            </a:lnRef>
            <a:fillRef idx="1">
              <a:schemeClr val="accent2"/>
            </a:fillRef>
            <a:effectRef idx="1">
              <a:schemeClr val="accent2"/>
            </a:effectRef>
            <a:fontRef idx="minor">
              <a:schemeClr val="lt1"/>
            </a:fontRef>
          </p:style>
        </p:cxnSp>
      </p:grpSp>
      <p:sp>
        <p:nvSpPr>
          <p:cNvPr id="16" name="文本框 15"/>
          <p:cNvSpPr txBox="1"/>
          <p:nvPr/>
        </p:nvSpPr>
        <p:spPr>
          <a:xfrm>
            <a:off x="469282" y="3241253"/>
            <a:ext cx="2448271" cy="3170099"/>
          </a:xfrm>
          <a:prstGeom prst="rect">
            <a:avLst/>
          </a:prstGeom>
          <a:noFill/>
        </p:spPr>
        <p:txBody>
          <a:bodyPr wrap="square" rtlCol="0">
            <a:spAutoFit/>
          </a:bodyPr>
          <a:lstStyle/>
          <a:p>
            <a:pPr algn="l"/>
            <a:r>
              <a:rPr lang="zh-CN" altLang="en-US" sz="2000">
                <a:latin typeface="微软雅黑" panose="020B0503020204020204" pitchFamily="34" charset="-122"/>
                <a:ea typeface="微软雅黑" panose="020B0503020204020204" pitchFamily="34" charset="-122"/>
              </a:rPr>
              <a:t>箭头表示概念与子概念的关系，例如前向迭代器这一概念是输入迭代器和输出迭代器这两个概念的子概念，也就是说一个前向迭代器肯定是输入迭代器，也肯定是输出迭代器。</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迭代器支持的操作</a:t>
            </a:r>
            <a:endParaRPr lang="zh-CN" altLang="en-US" sz="4400" b="1">
              <a:latin typeface="Times New Roman" panose="02020603050405020304" pitchFamily="18" charset="0"/>
              <a:ea typeface="隶书" panose="02010509060101010101" pitchFamily="49" charset="-122"/>
            </a:endParaRPr>
          </a:p>
        </p:txBody>
      </p:sp>
      <p:sp>
        <p:nvSpPr>
          <p:cNvPr id="22531" name="内容占位符 2"/>
          <p:cNvSpPr>
            <a:spLocks noGrp="1"/>
          </p:cNvSpPr>
          <p:nvPr>
            <p:ph idx="1"/>
          </p:nvPr>
        </p:nvSpPr>
        <p:spPr>
          <a:xfrm>
            <a:off x="683568" y="1412776"/>
            <a:ext cx="7886700" cy="4968552"/>
          </a:xfrm>
        </p:spPr>
        <p:txBody>
          <a:bodyPr/>
          <a:lstStyle/>
          <a:p>
            <a:pPr>
              <a:spcBef>
                <a:spcPts val="0"/>
              </a:spcBef>
              <a:spcAft>
                <a:spcPts val="600"/>
              </a:spcAft>
            </a:pPr>
            <a:r>
              <a:rPr lang="zh-CN" altLang="en-US" sz="2400" b="1" dirty="0">
                <a:ea typeface="华文楷体" panose="02010600040101010101" pitchFamily="2" charset="-122"/>
              </a:rPr>
              <a:t>迭代器是泛化的指针，提供了类似指针的操作（诸如</a:t>
            </a:r>
            <a:r>
              <a:rPr lang="en-US" altLang="zh-CN" sz="2400" b="1" dirty="0">
                <a:ea typeface="华文楷体" panose="02010600040101010101" pitchFamily="2" charset="-122"/>
              </a:rPr>
              <a:t>++</a:t>
            </a:r>
            <a:r>
              <a:rPr lang="zh-CN" altLang="en-US" sz="2400" b="1" dirty="0">
                <a:ea typeface="华文楷体" panose="02010600040101010101" pitchFamily="2" charset="-122"/>
              </a:rPr>
              <a:t>、</a:t>
            </a:r>
            <a:r>
              <a:rPr lang="en-US" altLang="zh-CN" sz="2400" b="1" dirty="0">
                <a:ea typeface="华文楷体" panose="02010600040101010101" pitchFamily="2" charset="-122"/>
              </a:rPr>
              <a:t>*</a:t>
            </a:r>
            <a:r>
              <a:rPr lang="zh-CN" altLang="en-US" sz="2400" b="1" dirty="0">
                <a:ea typeface="华文楷体" panose="02010600040101010101" pitchFamily="2" charset="-122"/>
              </a:rPr>
              <a:t>、</a:t>
            </a:r>
            <a:r>
              <a:rPr lang="en-US" altLang="zh-CN" sz="2400" b="1" dirty="0">
                <a:ea typeface="华文楷体" panose="02010600040101010101" pitchFamily="2" charset="-122"/>
              </a:rPr>
              <a:t>-&gt;</a:t>
            </a:r>
            <a:r>
              <a:rPr lang="zh-CN" altLang="en-US" sz="2400" b="1" dirty="0">
                <a:ea typeface="华文楷体" panose="02010600040101010101" pitchFamily="2" charset="-122"/>
              </a:rPr>
              <a:t>运算符）</a:t>
            </a:r>
            <a:endParaRPr lang="en-US" altLang="zh-CN" sz="2400" b="1" dirty="0">
              <a:ea typeface="华文楷体" panose="02010600040101010101" pitchFamily="2" charset="-122"/>
            </a:endParaRPr>
          </a:p>
          <a:p>
            <a:pPr>
              <a:spcBef>
                <a:spcPts val="0"/>
              </a:spcBef>
              <a:spcAft>
                <a:spcPts val="600"/>
              </a:spcAft>
            </a:pPr>
            <a:r>
              <a:rPr lang="zh-CN" altLang="en-US" sz="2400" b="1" dirty="0">
                <a:solidFill>
                  <a:srgbClr val="FFFF00"/>
                </a:solidFill>
                <a:ea typeface="华文楷体" panose="02010600040101010101" pitchFamily="2" charset="-122"/>
              </a:rPr>
              <a:t>输入迭代器</a:t>
            </a:r>
            <a:r>
              <a:rPr lang="zh-CN" altLang="en-US" sz="2400" b="1" dirty="0">
                <a:ea typeface="华文楷体" panose="02010600040101010101" pitchFamily="2" charset="-122"/>
              </a:rPr>
              <a:t>：可以用来从序列中读取数据，如输入流迭代器</a:t>
            </a:r>
            <a:endParaRPr lang="zh-CN" altLang="en-US" sz="2400" b="1" dirty="0">
              <a:ea typeface="华文楷体" panose="02010600040101010101" pitchFamily="2" charset="-122"/>
            </a:endParaRPr>
          </a:p>
          <a:p>
            <a:pPr>
              <a:spcBef>
                <a:spcPts val="0"/>
              </a:spcBef>
              <a:spcAft>
                <a:spcPts val="600"/>
              </a:spcAft>
            </a:pPr>
            <a:r>
              <a:rPr lang="zh-CN" altLang="en-US" sz="2400" b="1" dirty="0">
                <a:solidFill>
                  <a:srgbClr val="FFFF00"/>
                </a:solidFill>
                <a:ea typeface="华文楷体" panose="02010600040101010101" pitchFamily="2" charset="-122"/>
              </a:rPr>
              <a:t>输出迭代器</a:t>
            </a:r>
            <a:r>
              <a:rPr lang="zh-CN" altLang="en-US" sz="2400" b="1" dirty="0">
                <a:ea typeface="华文楷体" panose="02010600040101010101" pitchFamily="2" charset="-122"/>
              </a:rPr>
              <a:t>：允许向序列中写入数据，如输出流迭代器</a:t>
            </a:r>
            <a:endParaRPr lang="zh-CN" altLang="en-US" sz="2400" b="1" dirty="0">
              <a:ea typeface="华文楷体" panose="02010600040101010101" pitchFamily="2" charset="-122"/>
            </a:endParaRPr>
          </a:p>
          <a:p>
            <a:pPr>
              <a:spcBef>
                <a:spcPts val="0"/>
              </a:spcBef>
              <a:spcAft>
                <a:spcPts val="600"/>
              </a:spcAft>
            </a:pPr>
            <a:r>
              <a:rPr lang="zh-CN" altLang="en-US" sz="2400" b="1" dirty="0">
                <a:solidFill>
                  <a:srgbClr val="FFFF00"/>
                </a:solidFill>
                <a:ea typeface="华文楷体" panose="02010600040101010101" pitchFamily="2" charset="-122"/>
              </a:rPr>
              <a:t>前向迭代器：</a:t>
            </a:r>
            <a:r>
              <a:rPr lang="zh-CN" altLang="en-US" sz="2400" b="1" dirty="0">
                <a:ea typeface="华文楷体" panose="02010600040101010101" pitchFamily="2" charset="-122"/>
              </a:rPr>
              <a:t>既是输入迭代器又是输出迭代器，并且可以对序列进行单向的遍历</a:t>
            </a:r>
            <a:endParaRPr lang="zh-CN" altLang="en-US" sz="2400" b="1" dirty="0">
              <a:ea typeface="华文楷体" panose="02010600040101010101" pitchFamily="2" charset="-122"/>
            </a:endParaRPr>
          </a:p>
          <a:p>
            <a:pPr>
              <a:spcBef>
                <a:spcPts val="0"/>
              </a:spcBef>
              <a:spcAft>
                <a:spcPts val="600"/>
              </a:spcAft>
            </a:pPr>
            <a:r>
              <a:rPr lang="zh-CN" altLang="en-US" sz="2400" b="1" dirty="0">
                <a:solidFill>
                  <a:srgbClr val="FFFF00"/>
                </a:solidFill>
                <a:ea typeface="华文楷体" panose="02010600040101010101" pitchFamily="2" charset="-122"/>
              </a:rPr>
              <a:t>双向迭代器</a:t>
            </a:r>
            <a:r>
              <a:rPr lang="zh-CN" altLang="en-US" sz="2400" b="1" dirty="0">
                <a:ea typeface="华文楷体" panose="02010600040101010101" pitchFamily="2" charset="-122"/>
              </a:rPr>
              <a:t>：与前向迭代器相似，但是在两个方向上都可以对数据遍历</a:t>
            </a:r>
            <a:endParaRPr lang="zh-CN" altLang="en-US" sz="2400" b="1" dirty="0">
              <a:ea typeface="华文楷体" panose="02010600040101010101" pitchFamily="2" charset="-122"/>
            </a:endParaRPr>
          </a:p>
          <a:p>
            <a:pPr>
              <a:spcBef>
                <a:spcPts val="0"/>
              </a:spcBef>
              <a:spcAft>
                <a:spcPts val="600"/>
              </a:spcAft>
            </a:pPr>
            <a:r>
              <a:rPr lang="zh-CN" altLang="en-US" sz="2400" b="1" dirty="0">
                <a:solidFill>
                  <a:srgbClr val="FFFF00"/>
                </a:solidFill>
                <a:ea typeface="华文楷体" panose="02010600040101010101" pitchFamily="2" charset="-122"/>
              </a:rPr>
              <a:t>随机访问迭代器</a:t>
            </a:r>
            <a:r>
              <a:rPr lang="zh-CN" altLang="en-US" sz="2400" b="1" dirty="0">
                <a:ea typeface="华文楷体" panose="02010600040101010101" pitchFamily="2" charset="-122"/>
              </a:rPr>
              <a:t>：也是双向迭代器，但能够在序列中的任意两个位置之间进行跳转，如指针、使用</a:t>
            </a:r>
            <a:r>
              <a:rPr lang="en-US" altLang="zh-CN" sz="2400" b="1" dirty="0">
                <a:ea typeface="华文楷体" panose="02010600040101010101" pitchFamily="2" charset="-122"/>
              </a:rPr>
              <a:t>vector</a:t>
            </a:r>
            <a:r>
              <a:rPr lang="zh-CN" altLang="en-US" sz="2400" b="1" dirty="0">
                <a:ea typeface="华文楷体" panose="02010600040101010101" pitchFamily="2" charset="-122"/>
              </a:rPr>
              <a:t>的</a:t>
            </a:r>
            <a:r>
              <a:rPr lang="en-US" altLang="zh-CN" sz="2400" b="1" dirty="0">
                <a:ea typeface="华文楷体" panose="02010600040101010101" pitchFamily="2" charset="-122"/>
              </a:rPr>
              <a:t>begin()</a:t>
            </a:r>
            <a:r>
              <a:rPr lang="zh-CN" altLang="en-US" sz="2400" b="1" dirty="0">
                <a:ea typeface="华文楷体" panose="02010600040101010101" pitchFamily="2" charset="-122"/>
              </a:rPr>
              <a:t>、</a:t>
            </a:r>
            <a:r>
              <a:rPr lang="en-US" altLang="zh-CN" sz="2400" b="1" dirty="0">
                <a:ea typeface="华文楷体" panose="02010600040101010101" pitchFamily="2" charset="-122"/>
              </a:rPr>
              <a:t>end()</a:t>
            </a:r>
            <a:r>
              <a:rPr lang="zh-CN" altLang="en-US" sz="2400" b="1" dirty="0">
                <a:ea typeface="华文楷体" panose="02010600040101010101" pitchFamily="2" charset="-122"/>
              </a:rPr>
              <a:t>函数得到的迭代器</a:t>
            </a:r>
            <a:endParaRPr lang="zh-CN" altLang="en-US" sz="2400" b="1" dirty="0">
              <a:ea typeface="华文楷体" panose="0201060004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10.2.3 </a:t>
            </a:r>
            <a:r>
              <a:rPr lang="zh-CN" altLang="en-US" sz="4400" b="1">
                <a:latin typeface="Times New Roman" panose="02020603050405020304" pitchFamily="18" charset="0"/>
                <a:ea typeface="隶书" panose="02010509060101010101" pitchFamily="49" charset="-122"/>
              </a:rPr>
              <a:t>迭代器的区间</a:t>
            </a:r>
            <a:endParaRPr lang="zh-CN" altLang="en-US" sz="4400" b="1">
              <a:latin typeface="Times New Roman" panose="02020603050405020304" pitchFamily="18" charset="0"/>
              <a:ea typeface="隶书" panose="02010509060101010101" pitchFamily="49" charset="-122"/>
            </a:endParaRPr>
          </a:p>
        </p:txBody>
      </p:sp>
      <p:sp>
        <p:nvSpPr>
          <p:cNvPr id="23555" name="内容占位符 2"/>
          <p:cNvSpPr>
            <a:spLocks noGrp="1"/>
          </p:cNvSpPr>
          <p:nvPr>
            <p:ph idx="1"/>
          </p:nvPr>
        </p:nvSpPr>
        <p:spPr>
          <a:xfrm>
            <a:off x="628650" y="1825625"/>
            <a:ext cx="7886700" cy="3475583"/>
          </a:xfrm>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两个迭代器表示一个区间：</a:t>
            </a:r>
            <a:r>
              <a:rPr lang="en-US" altLang="zh-CN" sz="2400" b="1" dirty="0">
                <a:solidFill>
                  <a:srgbClr val="FFFF00"/>
                </a:solidFill>
                <a:ea typeface="华文楷体" panose="02010600040101010101" pitchFamily="2" charset="-122"/>
              </a:rPr>
              <a:t>[p1, p2)</a:t>
            </a:r>
            <a:endParaRPr lang="en-US" altLang="zh-CN" sz="2400" b="1" dirty="0">
              <a:solidFill>
                <a:srgbClr val="FFFF00"/>
              </a:solidFill>
              <a:ea typeface="华文楷体" panose="02010600040101010101" pitchFamily="2" charset="-122"/>
            </a:endParaRPr>
          </a:p>
          <a:p>
            <a:pPr>
              <a:lnSpc>
                <a:spcPct val="150000"/>
              </a:lnSpc>
              <a:spcAft>
                <a:spcPct val="25000"/>
              </a:spcAft>
            </a:pPr>
            <a:r>
              <a:rPr lang="en-US" altLang="zh-CN" sz="2400" b="1" dirty="0">
                <a:ea typeface="华文楷体" panose="02010600040101010101" pitchFamily="2" charset="-122"/>
              </a:rPr>
              <a:t>STL</a:t>
            </a:r>
            <a:r>
              <a:rPr lang="zh-CN" altLang="en-US" sz="2400" b="1" dirty="0">
                <a:ea typeface="华文楷体" panose="02010600040101010101" pitchFamily="2" charset="-122"/>
              </a:rPr>
              <a:t>算法常以迭代器的区间作为输入，传递输入数据，表示输入数据的序列</a:t>
            </a:r>
            <a:endParaRPr lang="en-US" altLang="zh-CN"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合法的区间：当且仅当</a:t>
            </a:r>
            <a:r>
              <a:rPr lang="en-US" altLang="zh-CN" sz="2400" b="1" dirty="0">
                <a:ea typeface="华文楷体" panose="02010600040101010101" pitchFamily="2" charset="-122"/>
              </a:rPr>
              <a:t>p1</a:t>
            </a:r>
            <a:r>
              <a:rPr lang="zh-CN" altLang="en-US" sz="2400" b="1" dirty="0">
                <a:ea typeface="华文楷体" panose="02010600040101010101" pitchFamily="2" charset="-122"/>
              </a:rPr>
              <a:t>经过</a:t>
            </a:r>
            <a:r>
              <a:rPr lang="en-US" altLang="zh-CN" sz="2400" b="1" dirty="0">
                <a:ea typeface="华文楷体" panose="02010600040101010101" pitchFamily="2" charset="-122"/>
              </a:rPr>
              <a:t>n</a:t>
            </a:r>
            <a:r>
              <a:rPr lang="zh-CN" altLang="en-US" sz="2400" b="1" dirty="0">
                <a:ea typeface="华文楷体" panose="02010600040101010101" pitchFamily="2" charset="-122"/>
              </a:rPr>
              <a:t>次</a:t>
            </a:r>
            <a:r>
              <a:rPr lang="en-US" altLang="zh-CN" sz="2400" b="1" dirty="0">
                <a:ea typeface="华文楷体" panose="02010600040101010101" pitchFamily="2" charset="-122"/>
              </a:rPr>
              <a:t>(n ≥0)</a:t>
            </a:r>
            <a:r>
              <a:rPr lang="zh-CN" altLang="en-US" sz="2400" b="1" dirty="0">
                <a:ea typeface="华文楷体" panose="02010600040101010101" pitchFamily="2" charset="-122"/>
              </a:rPr>
              <a:t>自增</a:t>
            </a:r>
            <a:r>
              <a:rPr lang="en-US" altLang="zh-CN" sz="2400" b="1" dirty="0">
                <a:ea typeface="华文楷体" panose="02010600040101010101" pitchFamily="2" charset="-122"/>
              </a:rPr>
              <a:t>(++)</a:t>
            </a:r>
            <a:r>
              <a:rPr lang="zh-CN" altLang="en-US" sz="2400" b="1" dirty="0">
                <a:ea typeface="华文楷体" panose="02010600040101010101" pitchFamily="2" charset="-122"/>
              </a:rPr>
              <a:t>操作后满足</a:t>
            </a:r>
            <a:r>
              <a:rPr lang="en-US" altLang="zh-CN" sz="2400" b="1" dirty="0">
                <a:ea typeface="华文楷体" panose="02010600040101010101" pitchFamily="2" charset="-122"/>
              </a:rPr>
              <a:t>p1 == p2</a:t>
            </a:r>
            <a:endParaRPr lang="en-US" altLang="zh-CN"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区间包含</a:t>
            </a:r>
            <a:r>
              <a:rPr lang="en-US" altLang="zh-CN" sz="2400" b="1" dirty="0">
                <a:ea typeface="华文楷体" panose="02010600040101010101" pitchFamily="2" charset="-122"/>
              </a:rPr>
              <a:t>p1</a:t>
            </a:r>
            <a:r>
              <a:rPr lang="zh-CN" altLang="en-US" sz="2400" b="1" dirty="0">
                <a:ea typeface="华文楷体" panose="02010600040101010101" pitchFamily="2" charset="-122"/>
              </a:rPr>
              <a:t>，但不包含</a:t>
            </a:r>
            <a:r>
              <a:rPr lang="en-US" altLang="zh-CN" sz="2400" b="1" dirty="0">
                <a:ea typeface="华文楷体" panose="02010600040101010101" pitchFamily="2" charset="-122"/>
              </a:rPr>
              <a:t>p2</a:t>
            </a:r>
            <a:endParaRPr lang="zh-CN" altLang="en-US" sz="2400" b="1" dirty="0">
              <a:ea typeface="华文楷体" panose="02010600040101010101"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a:xfrm>
            <a:off x="539552" y="260648"/>
            <a:ext cx="7886700" cy="1325563"/>
          </a:xfrm>
        </p:spPr>
        <p:txBody>
          <a:bodyPr/>
          <a:lstStyle/>
          <a:p>
            <a:pPr eaLnBrk="1" hangingPunct="1"/>
            <a:r>
              <a:rPr lang="zh-CN" altLang="en-US" sz="3200" b="1" dirty="0"/>
              <a:t>例</a:t>
            </a:r>
            <a:r>
              <a:rPr lang="en-US" altLang="zh-CN" sz="3200" b="1" dirty="0"/>
              <a:t>10-3 </a:t>
            </a:r>
            <a:r>
              <a:rPr lang="zh-CN" altLang="en-US" sz="3200" b="1" dirty="0"/>
              <a:t>综合运用几种迭代器的示例</a:t>
            </a:r>
            <a:endParaRPr lang="zh-CN" altLang="en-US" sz="3200" b="1" dirty="0"/>
          </a:p>
        </p:txBody>
      </p:sp>
      <p:sp>
        <p:nvSpPr>
          <p:cNvPr id="24579" name="内容占位符 2"/>
          <p:cNvSpPr>
            <a:spLocks noGrp="1"/>
          </p:cNvSpPr>
          <p:nvPr>
            <p:ph idx="1"/>
          </p:nvPr>
        </p:nvSpPr>
        <p:spPr>
          <a:xfrm>
            <a:off x="215900" y="894337"/>
            <a:ext cx="8928100" cy="594008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//10_3.cpp</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&lt;algorithm&gt;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&lt;iterator&gt;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&lt;vector&gt;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iostream</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using namespace </a:t>
            </a:r>
            <a:r>
              <a:rPr lang="en-US" altLang="zh-CN" sz="2000" b="1" dirty="0" err="1">
                <a:solidFill>
                  <a:srgbClr val="000000"/>
                </a:solidFill>
                <a:latin typeface="Times New Roman" panose="02020603050405020304" pitchFamily="18" charset="0"/>
                <a:ea typeface="华文楷体" panose="02010600040101010101" pitchFamily="2" charset="-122"/>
              </a:rPr>
              <a:t>std</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将来自输入迭代器</a:t>
            </a:r>
            <a:r>
              <a:rPr lang="en-US" altLang="zh-CN" sz="2000" b="1" dirty="0">
                <a:solidFill>
                  <a:srgbClr val="000000"/>
                </a:solidFill>
                <a:latin typeface="Times New Roman" panose="02020603050405020304" pitchFamily="18" charset="0"/>
                <a:ea typeface="华文楷体" panose="02010600040101010101" pitchFamily="2" charset="-122"/>
              </a:rPr>
              <a:t>p</a:t>
            </a:r>
            <a:r>
              <a:rPr lang="zh-CN" altLang="en-US" sz="2000" b="1" dirty="0">
                <a:solidFill>
                  <a:srgbClr val="000000"/>
                </a:solidFill>
                <a:latin typeface="Times New Roman" panose="02020603050405020304" pitchFamily="18" charset="0"/>
                <a:ea typeface="华文楷体" panose="02010600040101010101" pitchFamily="2" charset="-122"/>
              </a:rPr>
              <a:t>的</a:t>
            </a:r>
            <a:r>
              <a:rPr lang="en-US" altLang="zh-CN" sz="2000" b="1" dirty="0">
                <a:solidFill>
                  <a:srgbClr val="000000"/>
                </a:solidFill>
                <a:latin typeface="Times New Roman" panose="02020603050405020304" pitchFamily="18" charset="0"/>
                <a:ea typeface="华文楷体" panose="02010600040101010101" pitchFamily="2" charset="-122"/>
              </a:rPr>
              <a:t>n</a:t>
            </a:r>
            <a:r>
              <a:rPr lang="zh-CN" altLang="en-US" sz="2000" b="1" dirty="0">
                <a:solidFill>
                  <a:srgbClr val="000000"/>
                </a:solidFill>
                <a:latin typeface="Times New Roman" panose="02020603050405020304" pitchFamily="18" charset="0"/>
                <a:ea typeface="华文楷体" panose="02010600040101010101" pitchFamily="2" charset="-122"/>
              </a:rPr>
              <a:t>个</a:t>
            </a:r>
            <a:r>
              <a:rPr lang="en-US" altLang="zh-CN" sz="2000" b="1" dirty="0">
                <a:solidFill>
                  <a:srgbClr val="000000"/>
                </a:solidFill>
                <a:latin typeface="Times New Roman" panose="02020603050405020304" pitchFamily="18" charset="0"/>
                <a:ea typeface="华文楷体" panose="02010600040101010101" pitchFamily="2" charset="-122"/>
              </a:rPr>
              <a:t>T</a:t>
            </a:r>
            <a:r>
              <a:rPr lang="zh-CN" altLang="en-US" sz="2000" b="1" dirty="0">
                <a:solidFill>
                  <a:srgbClr val="000000"/>
                </a:solidFill>
                <a:latin typeface="Times New Roman" panose="02020603050405020304" pitchFamily="18" charset="0"/>
                <a:ea typeface="华文楷体" panose="02010600040101010101" pitchFamily="2" charset="-122"/>
              </a:rPr>
              <a:t>类型的数值排序，</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将结果通过输出迭代器</a:t>
            </a:r>
            <a:r>
              <a:rPr lang="en-US" altLang="zh-CN" sz="2000" b="1" dirty="0">
                <a:solidFill>
                  <a:srgbClr val="000000"/>
                </a:solidFill>
                <a:latin typeface="Times New Roman" panose="02020603050405020304" pitchFamily="18" charset="0"/>
                <a:ea typeface="华文楷体" panose="02010600040101010101" pitchFamily="2" charset="-122"/>
              </a:rPr>
              <a:t>result</a:t>
            </a:r>
            <a:r>
              <a:rPr lang="zh-CN" altLang="en-US" sz="2000" b="1" dirty="0">
                <a:solidFill>
                  <a:srgbClr val="000000"/>
                </a:solidFill>
                <a:latin typeface="Times New Roman" panose="02020603050405020304" pitchFamily="18" charset="0"/>
                <a:ea typeface="华文楷体" panose="02010600040101010101" pitchFamily="2" charset="-122"/>
              </a:rPr>
              <a:t>输出</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 class </a:t>
            </a:r>
            <a:r>
              <a:rPr lang="en-US" altLang="zh-CN" sz="2000" b="1" dirty="0" err="1">
                <a:solidFill>
                  <a:srgbClr val="000000"/>
                </a:solidFill>
                <a:latin typeface="Times New Roman" panose="02020603050405020304" pitchFamily="18" charset="0"/>
                <a:ea typeface="华文楷体" panose="02010600040101010101" pitchFamily="2" charset="-122"/>
              </a:rPr>
              <a:t>InputIterator</a:t>
            </a:r>
            <a:r>
              <a:rPr lang="en-US" altLang="zh-CN" sz="2000" b="1" dirty="0">
                <a:solidFill>
                  <a:srgbClr val="000000"/>
                </a:solidFill>
                <a:latin typeface="Times New Roman" panose="02020603050405020304" pitchFamily="18" charset="0"/>
                <a:ea typeface="华文楷体" panose="02010600040101010101" pitchFamily="2" charset="-122"/>
              </a:rPr>
              <a:t>, class </a:t>
            </a:r>
            <a:r>
              <a:rPr lang="en-US" altLang="zh-CN" sz="2000" b="1" dirty="0" err="1">
                <a:solidFill>
                  <a:srgbClr val="000000"/>
                </a:solidFill>
                <a:latin typeface="Times New Roman" panose="02020603050405020304" pitchFamily="18" charset="0"/>
                <a:ea typeface="华文楷体" panose="02010600040101010101" pitchFamily="2" charset="-122"/>
              </a:rPr>
              <a:t>OutputIterator</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void </a:t>
            </a:r>
            <a:r>
              <a:rPr lang="en-US" altLang="zh-CN" sz="2000" b="1" dirty="0" err="1">
                <a:solidFill>
                  <a:srgbClr val="000000"/>
                </a:solidFill>
                <a:latin typeface="Times New Roman" panose="02020603050405020304" pitchFamily="18" charset="0"/>
                <a:ea typeface="华文楷体" panose="02010600040101010101" pitchFamily="2" charset="-122"/>
              </a:rPr>
              <a:t>mySort</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InputIterator</a:t>
            </a:r>
            <a:r>
              <a:rPr lang="en-US" altLang="zh-CN" sz="2000" b="1" dirty="0">
                <a:solidFill>
                  <a:srgbClr val="000000"/>
                </a:solidFill>
                <a:latin typeface="Times New Roman" panose="02020603050405020304" pitchFamily="18" charset="0"/>
                <a:ea typeface="华文楷体" panose="02010600040101010101" pitchFamily="2" charset="-122"/>
              </a:rPr>
              <a:t> first, </a:t>
            </a:r>
            <a:r>
              <a:rPr lang="en-US" altLang="zh-CN" sz="2000" b="1" dirty="0" err="1">
                <a:solidFill>
                  <a:srgbClr val="000000"/>
                </a:solidFill>
                <a:latin typeface="Times New Roman" panose="02020603050405020304" pitchFamily="18" charset="0"/>
                <a:ea typeface="华文楷体" panose="02010600040101010101" pitchFamily="2" charset="-122"/>
              </a:rPr>
              <a:t>InputIterator</a:t>
            </a:r>
            <a:r>
              <a:rPr lang="en-US" altLang="zh-CN" sz="2000" b="1" dirty="0">
                <a:solidFill>
                  <a:srgbClr val="000000"/>
                </a:solidFill>
                <a:latin typeface="Times New Roman" panose="02020603050405020304" pitchFamily="18" charset="0"/>
                <a:ea typeface="华文楷体" panose="02010600040101010101" pitchFamily="2" charset="-122"/>
              </a:rPr>
              <a:t> last, </a:t>
            </a:r>
            <a:r>
              <a:rPr lang="en-US" altLang="zh-CN" sz="2000" b="1" dirty="0" err="1">
                <a:solidFill>
                  <a:srgbClr val="000000"/>
                </a:solidFill>
                <a:latin typeface="Times New Roman" panose="02020603050405020304" pitchFamily="18" charset="0"/>
                <a:ea typeface="华文楷体" panose="02010600040101010101" pitchFamily="2" charset="-122"/>
              </a:rPr>
              <a:t>OutputIterator</a:t>
            </a:r>
            <a:r>
              <a:rPr lang="en-US" altLang="zh-CN" sz="2000" b="1" dirty="0">
                <a:solidFill>
                  <a:srgbClr val="000000"/>
                </a:solidFill>
                <a:latin typeface="Times New Roman" panose="02020603050405020304" pitchFamily="18" charset="0"/>
                <a:ea typeface="华文楷体" panose="02010600040101010101" pitchFamily="2" charset="-122"/>
              </a:rPr>
              <a:t> result)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通过输入迭代器</a:t>
            </a:r>
            <a:r>
              <a:rPr lang="en-US" altLang="zh-CN" sz="2000" b="1" dirty="0">
                <a:solidFill>
                  <a:srgbClr val="000000"/>
                </a:solidFill>
                <a:latin typeface="Times New Roman" panose="02020603050405020304" pitchFamily="18" charset="0"/>
                <a:ea typeface="华文楷体" panose="02010600040101010101" pitchFamily="2" charset="-122"/>
              </a:rPr>
              <a:t>p</a:t>
            </a:r>
            <a:r>
              <a:rPr lang="zh-CN" altLang="en-US" sz="2000" b="1" dirty="0">
                <a:solidFill>
                  <a:srgbClr val="000000"/>
                </a:solidFill>
                <a:latin typeface="Times New Roman" panose="02020603050405020304" pitchFamily="18" charset="0"/>
                <a:ea typeface="华文楷体" panose="02010600040101010101" pitchFamily="2" charset="-122"/>
              </a:rPr>
              <a:t>将输入数据存入向量容器</a:t>
            </a:r>
            <a:r>
              <a:rPr lang="en-US" altLang="zh-CN" sz="2000" b="1" dirty="0">
                <a:solidFill>
                  <a:srgbClr val="000000"/>
                </a:solidFill>
                <a:latin typeface="Times New Roman" panose="02020603050405020304" pitchFamily="18" charset="0"/>
                <a:ea typeface="华文楷体" panose="02010600040101010101" pitchFamily="2" charset="-122"/>
              </a:rPr>
              <a:t>s</a:t>
            </a:r>
            <a:r>
              <a:rPr lang="zh-CN" altLang="en-US" sz="2000" b="1" dirty="0">
                <a:solidFill>
                  <a:srgbClr val="000000"/>
                </a:solidFill>
                <a:latin typeface="Times New Roman" panose="02020603050405020304" pitchFamily="18" charset="0"/>
                <a:ea typeface="华文楷体" panose="02010600040101010101" pitchFamily="2" charset="-122"/>
              </a:rPr>
              <a:t>中</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vector&lt;T&gt; s;</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for (;first != last; ++first)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s.push_back</a:t>
            </a:r>
            <a:r>
              <a:rPr lang="en-US" altLang="zh-CN" sz="2000" b="1" dirty="0">
                <a:solidFill>
                  <a:srgbClr val="000000"/>
                </a:solidFill>
                <a:latin typeface="Times New Roman" panose="02020603050405020304" pitchFamily="18" charset="0"/>
                <a:ea typeface="华文楷体" panose="02010600040101010101" pitchFamily="2" charset="-122"/>
              </a:rPr>
              <a:t>(*first);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sort(</a:t>
            </a:r>
            <a:r>
              <a:rPr lang="en-US" altLang="zh-CN" sz="2000" b="1" dirty="0" err="1">
                <a:solidFill>
                  <a:srgbClr val="000000"/>
                </a:solidFill>
                <a:latin typeface="Times New Roman" panose="02020603050405020304" pitchFamily="18" charset="0"/>
                <a:ea typeface="华文楷体" panose="02010600040101010101" pitchFamily="2" charset="-122"/>
              </a:rPr>
              <a:t>s.begin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s.end</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对</a:t>
            </a:r>
            <a:r>
              <a:rPr lang="en-US" altLang="zh-CN" sz="2000" b="1" dirty="0">
                <a:solidFill>
                  <a:srgbClr val="000000"/>
                </a:solidFill>
                <a:latin typeface="Times New Roman" panose="02020603050405020304" pitchFamily="18" charset="0"/>
                <a:ea typeface="华文楷体" panose="02010600040101010101" pitchFamily="2" charset="-122"/>
              </a:rPr>
              <a:t>s</a:t>
            </a:r>
            <a:r>
              <a:rPr lang="zh-CN" altLang="en-US" sz="2000" b="1" dirty="0">
                <a:solidFill>
                  <a:srgbClr val="000000"/>
                </a:solidFill>
                <a:latin typeface="Times New Roman" panose="02020603050405020304" pitchFamily="18" charset="0"/>
                <a:ea typeface="华文楷体" panose="02010600040101010101" pitchFamily="2" charset="-122"/>
              </a:rPr>
              <a:t>进行排序，</a:t>
            </a:r>
            <a:r>
              <a:rPr lang="en-US" altLang="zh-CN" sz="2000" b="1" dirty="0">
                <a:solidFill>
                  <a:srgbClr val="000000"/>
                </a:solidFill>
                <a:latin typeface="Times New Roman" panose="02020603050405020304" pitchFamily="18" charset="0"/>
                <a:ea typeface="华文楷体" panose="02010600040101010101" pitchFamily="2" charset="-122"/>
              </a:rPr>
              <a:t>sort</a:t>
            </a:r>
            <a:r>
              <a:rPr lang="zh-CN" altLang="en-US" sz="2000" b="1" dirty="0">
                <a:solidFill>
                  <a:srgbClr val="000000"/>
                </a:solidFill>
                <a:latin typeface="Times New Roman" panose="02020603050405020304" pitchFamily="18" charset="0"/>
                <a:ea typeface="华文楷体" panose="02010600040101010101" pitchFamily="2" charset="-122"/>
              </a:rPr>
              <a:t>函数的参数必须是随机访问迭代器</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copy(</a:t>
            </a:r>
            <a:r>
              <a:rPr lang="en-US" altLang="zh-CN" sz="2000" b="1" dirty="0" err="1">
                <a:solidFill>
                  <a:srgbClr val="000000"/>
                </a:solidFill>
                <a:latin typeface="Times New Roman" panose="02020603050405020304" pitchFamily="18" charset="0"/>
                <a:ea typeface="华文楷体" panose="02010600040101010101" pitchFamily="2" charset="-122"/>
              </a:rPr>
              <a:t>s.begin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s.end</a:t>
            </a:r>
            <a:r>
              <a:rPr lang="en-US" altLang="zh-CN" sz="2000" b="1" dirty="0">
                <a:solidFill>
                  <a:srgbClr val="000000"/>
                </a:solidFill>
                <a:latin typeface="Times New Roman" panose="02020603050405020304" pitchFamily="18" charset="0"/>
                <a:ea typeface="华文楷体" panose="02010600040101010101" pitchFamily="2" charset="-122"/>
              </a:rPr>
              <a:t>(), result);	//</a:t>
            </a:r>
            <a:r>
              <a:rPr lang="zh-CN" altLang="en-US" sz="2000" b="1" dirty="0">
                <a:solidFill>
                  <a:srgbClr val="000000"/>
                </a:solidFill>
                <a:latin typeface="Times New Roman" panose="02020603050405020304" pitchFamily="18" charset="0"/>
                <a:ea typeface="华文楷体" panose="02010600040101010101" pitchFamily="2" charset="-122"/>
              </a:rPr>
              <a:t>将</a:t>
            </a:r>
            <a:r>
              <a:rPr lang="en-US" altLang="zh-CN" sz="2000" b="1" dirty="0">
                <a:solidFill>
                  <a:srgbClr val="000000"/>
                </a:solidFill>
                <a:latin typeface="Times New Roman" panose="02020603050405020304" pitchFamily="18" charset="0"/>
                <a:ea typeface="华文楷体" panose="02010600040101010101" pitchFamily="2" charset="-122"/>
              </a:rPr>
              <a:t>s</a:t>
            </a:r>
            <a:r>
              <a:rPr lang="zh-CN" altLang="en-US" sz="2000" b="1" dirty="0">
                <a:solidFill>
                  <a:srgbClr val="000000"/>
                </a:solidFill>
                <a:latin typeface="Times New Roman" panose="02020603050405020304" pitchFamily="18" charset="0"/>
                <a:ea typeface="华文楷体" panose="02010600040101010101" pitchFamily="2" charset="-122"/>
              </a:rPr>
              <a:t>序列通过输出迭代器输出</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pPr eaLnBrk="1" hangingPunct="1"/>
            <a:r>
              <a:rPr lang="zh-CN" altLang="en-US" b="1"/>
              <a:t>例</a:t>
            </a:r>
            <a:r>
              <a:rPr lang="en-US" altLang="zh-CN" b="1"/>
              <a:t>10-3 </a:t>
            </a:r>
            <a:r>
              <a:rPr lang="zh-CN" altLang="en-US" b="1"/>
              <a:t>（续）</a:t>
            </a:r>
            <a:endParaRPr lang="zh-CN" altLang="en-US" b="1"/>
          </a:p>
        </p:txBody>
      </p:sp>
      <p:sp>
        <p:nvSpPr>
          <p:cNvPr id="25603" name="内容占位符 2"/>
          <p:cNvSpPr>
            <a:spLocks noGrp="1"/>
          </p:cNvSpPr>
          <p:nvPr>
            <p:ph idx="1"/>
          </p:nvPr>
        </p:nvSpPr>
        <p:spPr>
          <a:xfrm>
            <a:off x="285750" y="1412776"/>
            <a:ext cx="8643938" cy="347787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将</a:t>
            </a:r>
            <a:r>
              <a:rPr lang="en-US" altLang="zh-CN" sz="2000" b="1" dirty="0">
                <a:solidFill>
                  <a:srgbClr val="000000"/>
                </a:solidFill>
                <a:latin typeface="Times New Roman" panose="02020603050405020304" pitchFamily="18" charset="0"/>
                <a:ea typeface="华文楷体" panose="02010600040101010101" pitchFamily="2" charset="-122"/>
              </a:rPr>
              <a:t>s</a:t>
            </a:r>
            <a:r>
              <a:rPr lang="zh-CN" altLang="en-US" sz="2000" b="1" dirty="0">
                <a:solidFill>
                  <a:srgbClr val="000000"/>
                </a:solidFill>
                <a:latin typeface="Times New Roman" panose="02020603050405020304" pitchFamily="18" charset="0"/>
                <a:ea typeface="华文楷体" panose="02010600040101010101" pitchFamily="2" charset="-122"/>
              </a:rPr>
              <a:t>数组的内容排序后输出</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double a[5] = { 1.2, 2.4, 0.8, 3.3, 3.2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mySort</a:t>
            </a:r>
            <a:r>
              <a:rPr lang="en-US" altLang="zh-CN" sz="2000" b="1" dirty="0">
                <a:solidFill>
                  <a:srgbClr val="000000"/>
                </a:solidFill>
                <a:latin typeface="Times New Roman" panose="02020603050405020304" pitchFamily="18" charset="0"/>
                <a:ea typeface="华文楷体" panose="02010600040101010101" pitchFamily="2" charset="-122"/>
              </a:rPr>
              <a:t>&lt;double&gt;(a, a + 5, </a:t>
            </a:r>
            <a:r>
              <a:rPr lang="en-US" altLang="zh-CN" sz="2000" b="1" dirty="0" err="1">
                <a:solidFill>
                  <a:srgbClr val="000000"/>
                </a:solidFill>
                <a:latin typeface="Times New Roman" panose="02020603050405020304" pitchFamily="18" charset="0"/>
                <a:ea typeface="华文楷体" panose="02010600040101010101" pitchFamily="2" charset="-122"/>
              </a:rPr>
              <a:t>ostream_iterator</a:t>
            </a:r>
            <a:r>
              <a:rPr lang="en-US" altLang="zh-CN" sz="2000" b="1" dirty="0">
                <a:solidFill>
                  <a:srgbClr val="000000"/>
                </a:solidFill>
                <a:latin typeface="Times New Roman" panose="02020603050405020304" pitchFamily="18" charset="0"/>
                <a:ea typeface="华文楷体" panose="02010600040101010101" pitchFamily="2" charset="-122"/>
              </a:rPr>
              <a:t>&lt;double&gt;(</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从标准输入读入若干个整数，将排序后的结果输出</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mySort</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istream_iterator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istream_iterator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ostream_iterator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6" name="TextBox 5"/>
          <p:cNvSpPr txBox="1"/>
          <p:nvPr/>
        </p:nvSpPr>
        <p:spPr>
          <a:xfrm>
            <a:off x="285750" y="5002213"/>
            <a:ext cx="4929188" cy="1570037"/>
          </a:xfrm>
          <a:prstGeom prst="rect">
            <a:avLst/>
          </a:prstGeom>
          <a:solidFill>
            <a:srgbClr val="000000"/>
          </a:solidFill>
        </p:spPr>
        <p:txBody>
          <a:bodyPr>
            <a:spAutoFit/>
          </a:bodyPr>
          <a:lstStyle/>
          <a:p>
            <a:pPr algn="l">
              <a:defRPr/>
            </a:pPr>
            <a:r>
              <a:rPr lang="zh-CN" altLang="en-US" b="1" dirty="0">
                <a:latin typeface="+mn-lt"/>
                <a:ea typeface="华文楷体" panose="02010600040101010101" pitchFamily="2" charset="-122"/>
              </a:rPr>
              <a:t>运行结果：</a:t>
            </a:r>
            <a:endParaRPr lang="en-US" altLang="zh-CN" b="1" dirty="0">
              <a:latin typeface="+mn-lt"/>
              <a:ea typeface="华文楷体" panose="02010600040101010101" pitchFamily="2" charset="-122"/>
            </a:endParaRPr>
          </a:p>
          <a:p>
            <a:pPr algn="l">
              <a:defRPr/>
            </a:pPr>
            <a:r>
              <a:rPr lang="en-US" b="1" dirty="0">
                <a:latin typeface="+mn-lt"/>
                <a:ea typeface="华文楷体" panose="02010600040101010101" pitchFamily="2" charset="-122"/>
              </a:rPr>
              <a:t>0.8 1.2 2.4 3.2 3.3</a:t>
            </a:r>
            <a:endParaRPr lang="zh-CN" altLang="en-US" b="1" dirty="0">
              <a:latin typeface="+mn-lt"/>
              <a:ea typeface="华文楷体" panose="02010600040101010101" pitchFamily="2" charset="-122"/>
            </a:endParaRPr>
          </a:p>
          <a:p>
            <a:pPr algn="l">
              <a:defRPr/>
            </a:pPr>
            <a:r>
              <a:rPr lang="en-US" b="1" dirty="0">
                <a:latin typeface="+mn-lt"/>
                <a:ea typeface="华文楷体" panose="02010600040101010101" pitchFamily="2" charset="-122"/>
              </a:rPr>
              <a:t>2 -4 5 8 -1 3 6 -5</a:t>
            </a:r>
            <a:endParaRPr lang="zh-CN" altLang="en-US" b="1" dirty="0">
              <a:latin typeface="+mn-lt"/>
              <a:ea typeface="华文楷体" panose="02010600040101010101" pitchFamily="2" charset="-122"/>
            </a:endParaRPr>
          </a:p>
          <a:p>
            <a:pPr algn="l">
              <a:defRPr/>
            </a:pPr>
            <a:r>
              <a:rPr lang="en-US" b="1" dirty="0">
                <a:latin typeface="+mn-lt"/>
                <a:ea typeface="华文楷体" panose="02010600040101010101" pitchFamily="2" charset="-122"/>
              </a:rPr>
              <a:t>-5 -4 -1 2 3 5 6 8</a:t>
            </a:r>
            <a:endParaRPr lang="zh-CN" altLang="en-US" b="1" dirty="0">
              <a:latin typeface="+mn-lt"/>
              <a:ea typeface="华文楷体" panose="02010600040101010101" pitchFamily="2"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10.2.4 </a:t>
            </a:r>
            <a:r>
              <a:rPr lang="zh-CN" altLang="en-US" sz="4400" b="1">
                <a:latin typeface="Times New Roman" panose="02020603050405020304" pitchFamily="18" charset="0"/>
                <a:ea typeface="隶书" panose="02010509060101010101" pitchFamily="49" charset="-122"/>
              </a:rPr>
              <a:t>迭代器的辅助函数</a:t>
            </a:r>
            <a:endParaRPr lang="zh-CN" altLang="en-US" sz="4400" b="1">
              <a:latin typeface="Times New Roman" panose="02020603050405020304" pitchFamily="18" charset="0"/>
              <a:ea typeface="隶书" panose="02010509060101010101" pitchFamily="49" charset="-122"/>
            </a:endParaRPr>
          </a:p>
        </p:txBody>
      </p:sp>
      <p:sp>
        <p:nvSpPr>
          <p:cNvPr id="26627" name="内容占位符 2"/>
          <p:cNvSpPr>
            <a:spLocks noGrp="1"/>
          </p:cNvSpPr>
          <p:nvPr>
            <p:ph idx="1"/>
          </p:nvPr>
        </p:nvSpPr>
        <p:spPr/>
        <p:txBody>
          <a:bodyPr/>
          <a:lstStyle/>
          <a:p>
            <a:pPr>
              <a:lnSpc>
                <a:spcPct val="150000"/>
              </a:lnSpc>
              <a:spcAft>
                <a:spcPct val="25000"/>
              </a:spcAft>
            </a:pPr>
            <a:r>
              <a:rPr lang="en-US" altLang="zh-CN" sz="2400" b="1" dirty="0">
                <a:solidFill>
                  <a:srgbClr val="FFFF00"/>
                </a:solidFill>
                <a:ea typeface="华文楷体" panose="02010600040101010101" pitchFamily="2" charset="-122"/>
              </a:rPr>
              <a:t>advance(p, n)</a:t>
            </a:r>
            <a:endParaRPr lang="en-US" altLang="zh-CN"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对</a:t>
            </a:r>
            <a:r>
              <a:rPr lang="en-US" altLang="zh-CN" sz="2400" b="1" dirty="0">
                <a:ea typeface="华文楷体" panose="02010600040101010101" pitchFamily="2" charset="-122"/>
              </a:rPr>
              <a:t>p</a:t>
            </a:r>
            <a:r>
              <a:rPr lang="zh-CN" altLang="en-US" sz="2400" b="1" dirty="0">
                <a:ea typeface="华文楷体" panose="02010600040101010101" pitchFamily="2" charset="-122"/>
              </a:rPr>
              <a:t>执行</a:t>
            </a:r>
            <a:r>
              <a:rPr lang="en-US" altLang="zh-CN" sz="2400" b="1" dirty="0">
                <a:ea typeface="华文楷体" panose="02010600040101010101" pitchFamily="2" charset="-122"/>
              </a:rPr>
              <a:t>n</a:t>
            </a:r>
            <a:r>
              <a:rPr lang="zh-CN" altLang="en-US" sz="2400" b="1" dirty="0">
                <a:ea typeface="华文楷体" panose="02010600040101010101" pitchFamily="2" charset="-122"/>
              </a:rPr>
              <a:t>次自增操作</a:t>
            </a:r>
            <a:endParaRPr lang="en-US" altLang="zh-CN" sz="2400" b="1" dirty="0">
              <a:ea typeface="华文楷体" panose="02010600040101010101" pitchFamily="2" charset="-122"/>
            </a:endParaRPr>
          </a:p>
          <a:p>
            <a:pPr>
              <a:lnSpc>
                <a:spcPct val="150000"/>
              </a:lnSpc>
              <a:spcAft>
                <a:spcPct val="25000"/>
              </a:spcAft>
            </a:pPr>
            <a:r>
              <a:rPr lang="en-US" altLang="zh-CN" sz="2400" b="1" dirty="0">
                <a:solidFill>
                  <a:srgbClr val="FFFF00"/>
                </a:solidFill>
                <a:ea typeface="华文楷体" panose="02010600040101010101" pitchFamily="2" charset="-122"/>
              </a:rPr>
              <a:t>distance(first, last)</a:t>
            </a:r>
            <a:endParaRPr lang="en-US" altLang="zh-CN"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计算两个迭代器</a:t>
            </a:r>
            <a:r>
              <a:rPr lang="en-US" altLang="zh-CN" sz="2400" b="1" dirty="0">
                <a:ea typeface="华文楷体" panose="02010600040101010101" pitchFamily="2" charset="-122"/>
              </a:rPr>
              <a:t>first</a:t>
            </a:r>
            <a:r>
              <a:rPr lang="zh-CN" altLang="en-US" sz="2400" b="1" dirty="0">
                <a:ea typeface="华文楷体" panose="02010600040101010101" pitchFamily="2" charset="-122"/>
              </a:rPr>
              <a:t>和</a:t>
            </a:r>
            <a:r>
              <a:rPr lang="en-US" altLang="zh-CN" sz="2400" b="1" dirty="0">
                <a:ea typeface="华文楷体" panose="02010600040101010101" pitchFamily="2" charset="-122"/>
              </a:rPr>
              <a:t>last</a:t>
            </a:r>
            <a:r>
              <a:rPr lang="zh-CN" altLang="en-US" sz="2400" b="1" dirty="0">
                <a:ea typeface="华文楷体" panose="02010600040101010101" pitchFamily="2" charset="-122"/>
              </a:rPr>
              <a:t>的距离，即对</a:t>
            </a:r>
            <a:r>
              <a:rPr lang="en-US" altLang="zh-CN" sz="2400" b="1" dirty="0">
                <a:ea typeface="华文楷体" panose="02010600040101010101" pitchFamily="2" charset="-122"/>
              </a:rPr>
              <a:t>first</a:t>
            </a:r>
            <a:r>
              <a:rPr lang="zh-CN" altLang="en-US" sz="2400" b="1" dirty="0">
                <a:ea typeface="华文楷体" panose="02010600040101010101" pitchFamily="2" charset="-122"/>
              </a:rPr>
              <a:t>执行多少次“</a:t>
            </a:r>
            <a:r>
              <a:rPr lang="en-US" altLang="zh-CN" sz="2400" b="1" dirty="0">
                <a:ea typeface="华文楷体" panose="02010600040101010101" pitchFamily="2" charset="-122"/>
              </a:rPr>
              <a:t>++</a:t>
            </a:r>
            <a:r>
              <a:rPr lang="zh-CN" altLang="en-US" sz="2400" b="1" dirty="0">
                <a:ea typeface="华文楷体" panose="02010600040101010101" pitchFamily="2" charset="-122"/>
              </a:rPr>
              <a:t>”操作后能够使得</a:t>
            </a:r>
            <a:r>
              <a:rPr lang="en-US" altLang="zh-CN" sz="2400" b="1" dirty="0">
                <a:ea typeface="华文楷体" panose="02010600040101010101" pitchFamily="2" charset="-122"/>
              </a:rPr>
              <a:t>first == last</a:t>
            </a:r>
            <a:endParaRPr lang="zh-CN" altLang="en-US" sz="2400" b="1" dirty="0">
              <a:ea typeface="华文楷体" panose="02010600040101010101" pitchFamily="2"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bwMode="auto">
          <a:xfrm>
            <a:off x="296265" y="1700808"/>
            <a:ext cx="8712968"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3"/>
            </a:pPr>
            <a:r>
              <a:rPr lang="zh-CN" altLang="en-US" sz="6000" b="1" dirty="0">
                <a:ea typeface="华文彩云" panose="02010800040101010101" pitchFamily="2" charset="-122"/>
              </a:rPr>
              <a:t>容器的基本功能</a:t>
            </a:r>
            <a:br>
              <a:rPr lang="en-US" altLang="zh-CN" sz="6000" b="1" dirty="0">
                <a:ea typeface="华文彩云" panose="02010800040101010101" pitchFamily="2" charset="-122"/>
              </a:rPr>
            </a:br>
            <a:r>
              <a:rPr lang="zh-CN" altLang="en-US" sz="6000" b="1" dirty="0">
                <a:ea typeface="华文彩云" panose="02010800040101010101" pitchFamily="2" charset="-122"/>
              </a:rPr>
              <a:t>与分类</a:t>
            </a:r>
            <a:endParaRPr lang="zh-CN" altLang="en-US" sz="6000" dirty="0"/>
          </a:p>
        </p:txBody>
      </p:sp>
      <p:sp>
        <p:nvSpPr>
          <p:cNvPr id="396" name="内容占位符 2"/>
          <p:cNvSpPr txBox="1"/>
          <p:nvPr/>
        </p:nvSpPr>
        <p:spPr>
          <a:xfrm>
            <a:off x="963585" y="3890963"/>
            <a:ext cx="10368598" cy="1509712"/>
          </a:xfrm>
          <a:prstGeom prst="rect">
            <a:avLst/>
          </a:prstGeom>
        </p:spPr>
        <p:txBody>
          <a:bodyPr/>
          <a:lst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spcAft>
                <a:spcPts val="1200"/>
              </a:spcAft>
            </a:pPr>
            <a:r>
              <a:rPr lang="zh-CN" altLang="en-US" sz="2000" b="1">
                <a:latin typeface="微软雅黑" panose="020B0503020204020204" pitchFamily="34" charset="-122"/>
                <a:ea typeface="微软雅黑" panose="020B0503020204020204" pitchFamily="34" charset="-122"/>
              </a:rPr>
              <a:t>容器类是容纳、包含一组元素或元素集合的对象。</a:t>
            </a:r>
            <a:endParaRPr lang="zh-CN" altLang="en-US" sz="2000" b="1">
              <a:latin typeface="微软雅黑" panose="020B0503020204020204" pitchFamily="34" charset="-122"/>
              <a:ea typeface="微软雅黑" panose="020B0503020204020204" pitchFamily="34" charset="-122"/>
            </a:endParaRPr>
          </a:p>
          <a:p>
            <a:pPr>
              <a:lnSpc>
                <a:spcPct val="90000"/>
              </a:lnSpc>
              <a:spcAft>
                <a:spcPts val="1200"/>
              </a:spcAft>
            </a:pPr>
            <a:r>
              <a:rPr lang="zh-CN" altLang="en-US" sz="2000" b="1">
                <a:latin typeface="微软雅黑" panose="020B0503020204020204" pitchFamily="34" charset="-122"/>
                <a:ea typeface="微软雅黑" panose="020B0503020204020204" pitchFamily="34" charset="-122"/>
              </a:rPr>
              <a:t>基于容器中元素的组织方式：顺序容器、关联容器</a:t>
            </a:r>
            <a:endParaRPr lang="en-US" altLang="zh-CN" sz="2000" b="1">
              <a:latin typeface="微软雅黑" panose="020B0503020204020204" pitchFamily="34" charset="-122"/>
              <a:ea typeface="微软雅黑" panose="020B0503020204020204" pitchFamily="34" charset="-122"/>
            </a:endParaRPr>
          </a:p>
          <a:p>
            <a:pPr>
              <a:lnSpc>
                <a:spcPct val="90000"/>
              </a:lnSpc>
              <a:spcAft>
                <a:spcPts val="1200"/>
              </a:spcAft>
            </a:pPr>
            <a:r>
              <a:rPr lang="zh-CN" altLang="en-US" sz="2000" b="1">
                <a:latin typeface="微软雅黑" panose="020B0503020204020204" pitchFamily="34" charset="-122"/>
                <a:ea typeface="微软雅黑" panose="020B0503020204020204" pitchFamily="34" charset="-122"/>
              </a:rPr>
              <a:t>按照与容器所关联的迭代器类型划分：可逆容器</a:t>
            </a:r>
            <a:r>
              <a:rPr lang="en-US" altLang="zh-CN" sz="2000" b="1">
                <a:latin typeface="微软雅黑" panose="020B0503020204020204" pitchFamily="34" charset="-122"/>
                <a:ea typeface="微软雅黑" panose="020B0503020204020204" pitchFamily="34" charset="-122"/>
                <a:sym typeface="Wingdings" panose="05000000000000000000" pitchFamily="2" charset="2"/>
              </a:rPr>
              <a:t></a:t>
            </a:r>
            <a:r>
              <a:rPr lang="zh-CN" altLang="en-US" sz="2000" b="1">
                <a:latin typeface="微软雅黑" panose="020B0503020204020204" pitchFamily="34" charset="-122"/>
                <a:ea typeface="微软雅黑" panose="020B0503020204020204" pitchFamily="34" charset="-122"/>
              </a:rPr>
              <a:t>随机访问容器</a:t>
            </a:r>
            <a:endParaRPr lang="zh-CN" altLang="en-US" sz="200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p:cNvSpPr>
            <a:spLocks noGrp="1"/>
          </p:cNvSpPr>
          <p:nvPr>
            <p:ph idx="1"/>
          </p:nvPr>
        </p:nvSpPr>
        <p:spPr>
          <a:xfrm>
            <a:off x="544074" y="2060848"/>
            <a:ext cx="8055851" cy="3323685"/>
          </a:xfrm>
        </p:spPr>
        <p:txBody>
          <a:bodyPr/>
          <a:lstStyle/>
          <a:p>
            <a:pPr eaLnBrk="1" hangingPunct="1"/>
            <a:r>
              <a:rPr lang="zh-CN" altLang="en-US" sz="2000" b="1" dirty="0">
                <a:ea typeface="微软雅黑" panose="020B0503020204020204" pitchFamily="34" charset="-122"/>
              </a:rPr>
              <a:t>容器</a:t>
            </a:r>
            <a:r>
              <a:rPr lang="en-US" altLang="zh-CN" sz="2000" b="1" dirty="0">
                <a:ea typeface="微软雅黑" panose="020B0503020204020204" pitchFamily="34" charset="-122"/>
              </a:rPr>
              <a:t>	</a:t>
            </a:r>
            <a:endParaRPr lang="en-US" altLang="zh-CN" sz="2000" b="1" dirty="0">
              <a:ea typeface="微软雅黑" panose="020B0503020204020204" pitchFamily="34" charset="-122"/>
            </a:endParaRPr>
          </a:p>
          <a:p>
            <a:pPr lvl="1" eaLnBrk="1" hangingPunct="1"/>
            <a:r>
              <a:rPr lang="zh-CN" altLang="en-US" sz="2000" b="1" dirty="0">
                <a:ea typeface="微软雅黑" panose="020B0503020204020204" pitchFamily="34" charset="-122"/>
              </a:rPr>
              <a:t>顺序容器</a:t>
            </a:r>
            <a:endParaRPr lang="en-US" altLang="zh-CN" sz="2000" b="1" dirty="0">
              <a:ea typeface="微软雅黑" panose="020B0503020204020204" pitchFamily="34" charset="-122"/>
            </a:endParaRPr>
          </a:p>
          <a:p>
            <a:pPr lvl="2" eaLnBrk="1" hangingPunct="1"/>
            <a:r>
              <a:rPr lang="en-US" altLang="zh-CN" sz="2000" b="1" dirty="0">
                <a:ea typeface="微软雅黑" panose="020B0503020204020204" pitchFamily="34" charset="-122"/>
              </a:rPr>
              <a:t>array</a:t>
            </a:r>
            <a:r>
              <a:rPr lang="zh-CN" altLang="en-US" sz="2000" b="1" dirty="0">
                <a:ea typeface="微软雅黑" panose="020B0503020204020204" pitchFamily="34" charset="-122"/>
              </a:rPr>
              <a:t>（数组）、</a:t>
            </a:r>
            <a:r>
              <a:rPr lang="en-US" altLang="zh-CN" sz="2000" b="1" dirty="0">
                <a:ea typeface="微软雅黑" panose="020B0503020204020204" pitchFamily="34" charset="-122"/>
              </a:rPr>
              <a:t>vector</a:t>
            </a:r>
            <a:r>
              <a:rPr lang="zh-CN" altLang="en-US" sz="2000" b="1" dirty="0">
                <a:ea typeface="微软雅黑" panose="020B0503020204020204" pitchFamily="34" charset="-122"/>
              </a:rPr>
              <a:t>（向量）、</a:t>
            </a:r>
            <a:r>
              <a:rPr lang="en-US" altLang="zh-CN" sz="2000" b="1" dirty="0" err="1">
                <a:ea typeface="微软雅黑" panose="020B0503020204020204" pitchFamily="34" charset="-122"/>
              </a:rPr>
              <a:t>deque</a:t>
            </a:r>
            <a:r>
              <a:rPr lang="zh-CN" altLang="en-US" sz="2000" b="1" dirty="0">
                <a:ea typeface="微软雅黑" panose="020B0503020204020204" pitchFamily="34" charset="-122"/>
              </a:rPr>
              <a:t>（双端队列）、</a:t>
            </a:r>
            <a:r>
              <a:rPr lang="en-US" altLang="zh-CN" sz="2000" b="1" dirty="0" err="1">
                <a:ea typeface="微软雅黑" panose="020B0503020204020204" pitchFamily="34" charset="-122"/>
              </a:rPr>
              <a:t>forward_list</a:t>
            </a:r>
            <a:r>
              <a:rPr lang="zh-CN" altLang="en-US" sz="2000" b="1" dirty="0">
                <a:ea typeface="微软雅黑" panose="020B0503020204020204" pitchFamily="34" charset="-122"/>
              </a:rPr>
              <a:t>（单链表）、</a:t>
            </a:r>
            <a:r>
              <a:rPr lang="en-US" altLang="zh-CN" sz="2000" b="1" dirty="0">
                <a:ea typeface="微软雅黑" panose="020B0503020204020204" pitchFamily="34" charset="-122"/>
              </a:rPr>
              <a:t>list</a:t>
            </a:r>
            <a:r>
              <a:rPr lang="zh-CN" altLang="en-US" sz="2000" b="1" dirty="0">
                <a:ea typeface="微软雅黑" panose="020B0503020204020204" pitchFamily="34" charset="-122"/>
              </a:rPr>
              <a:t>（列表）</a:t>
            </a:r>
            <a:endParaRPr lang="en-US" altLang="zh-CN" sz="2000" b="1" dirty="0">
              <a:ea typeface="微软雅黑" panose="020B0503020204020204" pitchFamily="34" charset="-122"/>
            </a:endParaRPr>
          </a:p>
          <a:p>
            <a:pPr lvl="1" eaLnBrk="1" hangingPunct="1"/>
            <a:r>
              <a:rPr lang="en-US" altLang="zh-CN" sz="2000" b="1" dirty="0">
                <a:ea typeface="微软雅黑" panose="020B0503020204020204" pitchFamily="34" charset="-122"/>
              </a:rPr>
              <a:t>(</a:t>
            </a:r>
            <a:r>
              <a:rPr lang="zh-CN" altLang="en-US" sz="2000" b="1" dirty="0">
                <a:ea typeface="微软雅黑" panose="020B0503020204020204" pitchFamily="34" charset="-122"/>
              </a:rPr>
              <a:t>有序</a:t>
            </a:r>
            <a:r>
              <a:rPr lang="en-US" altLang="zh-CN" sz="2000" b="1" dirty="0">
                <a:ea typeface="微软雅黑" panose="020B0503020204020204" pitchFamily="34" charset="-122"/>
              </a:rPr>
              <a:t>)</a:t>
            </a:r>
            <a:r>
              <a:rPr lang="zh-CN" altLang="en-US" sz="2000" b="1" dirty="0">
                <a:ea typeface="微软雅黑" panose="020B0503020204020204" pitchFamily="34" charset="-122"/>
              </a:rPr>
              <a:t>关联容器</a:t>
            </a:r>
            <a:endParaRPr lang="zh-CN" altLang="en-US" sz="2000" b="1" dirty="0">
              <a:ea typeface="微软雅黑" panose="020B0503020204020204" pitchFamily="34" charset="-122"/>
            </a:endParaRPr>
          </a:p>
          <a:p>
            <a:pPr lvl="2" eaLnBrk="1" hangingPunct="1"/>
            <a:r>
              <a:rPr lang="en-US" altLang="zh-CN" sz="2000" b="1" dirty="0">
                <a:ea typeface="微软雅黑" panose="020B0503020204020204" pitchFamily="34" charset="-122"/>
              </a:rPr>
              <a:t>set</a:t>
            </a:r>
            <a:r>
              <a:rPr lang="zh-CN" altLang="en-US" sz="2000" b="1" dirty="0">
                <a:ea typeface="微软雅黑" panose="020B0503020204020204" pitchFamily="34" charset="-122"/>
              </a:rPr>
              <a:t>（集合）、</a:t>
            </a:r>
            <a:r>
              <a:rPr lang="en-US" altLang="zh-CN" sz="2000" b="1" dirty="0">
                <a:ea typeface="微软雅黑" panose="020B0503020204020204" pitchFamily="34" charset="-122"/>
              </a:rPr>
              <a:t>multiset</a:t>
            </a:r>
            <a:r>
              <a:rPr lang="zh-CN" altLang="en-US" sz="2000" b="1" dirty="0">
                <a:ea typeface="微软雅黑" panose="020B0503020204020204" pitchFamily="34" charset="-122"/>
              </a:rPr>
              <a:t>（多重集合）、</a:t>
            </a:r>
            <a:r>
              <a:rPr lang="en-US" altLang="zh-CN" sz="2000" b="1" dirty="0">
                <a:ea typeface="微软雅黑" panose="020B0503020204020204" pitchFamily="34" charset="-122"/>
              </a:rPr>
              <a:t>map</a:t>
            </a:r>
            <a:r>
              <a:rPr lang="zh-CN" altLang="en-US" sz="2000" b="1" dirty="0">
                <a:ea typeface="微软雅黑" panose="020B0503020204020204" pitchFamily="34" charset="-122"/>
              </a:rPr>
              <a:t>（映射）、</a:t>
            </a:r>
            <a:r>
              <a:rPr lang="en-US" altLang="zh-CN" sz="2000" b="1" dirty="0" err="1">
                <a:ea typeface="微软雅黑" panose="020B0503020204020204" pitchFamily="34" charset="-122"/>
              </a:rPr>
              <a:t>multimap</a:t>
            </a:r>
            <a:r>
              <a:rPr lang="zh-CN" altLang="en-US" sz="2000" b="1" dirty="0">
                <a:ea typeface="微软雅黑" panose="020B0503020204020204" pitchFamily="34" charset="-122"/>
              </a:rPr>
              <a:t>（多重映射）</a:t>
            </a:r>
            <a:endParaRPr lang="en-US" altLang="zh-CN" sz="2000" b="1" dirty="0">
              <a:ea typeface="微软雅黑" panose="020B0503020204020204" pitchFamily="34" charset="-122"/>
            </a:endParaRPr>
          </a:p>
          <a:p>
            <a:pPr lvl="1" eaLnBrk="1" hangingPunct="1"/>
            <a:r>
              <a:rPr lang="zh-CN" altLang="en-US" sz="2000" b="1" dirty="0">
                <a:ea typeface="微软雅黑" panose="020B0503020204020204" pitchFamily="34" charset="-122"/>
              </a:rPr>
              <a:t>无序关联容器</a:t>
            </a:r>
            <a:endParaRPr lang="zh-CN" altLang="en-US" sz="2000" b="1" dirty="0">
              <a:ea typeface="微软雅黑" panose="020B0503020204020204" pitchFamily="34" charset="-122"/>
            </a:endParaRPr>
          </a:p>
          <a:p>
            <a:pPr lvl="2" eaLnBrk="1" hangingPunct="1"/>
            <a:r>
              <a:rPr lang="en-US" altLang="zh-CN" sz="2000" b="1" dirty="0" err="1">
                <a:ea typeface="微软雅黑" panose="020B0503020204020204" pitchFamily="34" charset="-122"/>
              </a:rPr>
              <a:t>unordered_set</a:t>
            </a:r>
            <a:r>
              <a:rPr lang="zh-CN" altLang="en-US" sz="2000" b="1" dirty="0">
                <a:ea typeface="微软雅黑" panose="020B0503020204020204" pitchFamily="34" charset="-122"/>
              </a:rPr>
              <a:t> （无序集合）、</a:t>
            </a:r>
            <a:r>
              <a:rPr lang="en-US" altLang="zh-CN" sz="2000" b="1" dirty="0" err="1">
                <a:ea typeface="微软雅黑" panose="020B0503020204020204" pitchFamily="34" charset="-122"/>
              </a:rPr>
              <a:t>unordered_multiset</a:t>
            </a:r>
            <a:r>
              <a:rPr lang="zh-CN" altLang="en-US" sz="2000" b="1" dirty="0">
                <a:ea typeface="微软雅黑" panose="020B0503020204020204" pitchFamily="34" charset="-122"/>
              </a:rPr>
              <a:t>（无序多重集合）</a:t>
            </a:r>
            <a:r>
              <a:rPr lang="en-US" altLang="zh-CN" sz="2000" b="1" dirty="0">
                <a:ea typeface="微软雅黑" panose="020B0503020204020204" pitchFamily="34" charset="-122"/>
              </a:rPr>
              <a:t> </a:t>
            </a:r>
            <a:endParaRPr lang="en-US" altLang="zh-CN" sz="2000" b="1" dirty="0">
              <a:ea typeface="微软雅黑" panose="020B0503020204020204" pitchFamily="34" charset="-122"/>
            </a:endParaRPr>
          </a:p>
          <a:p>
            <a:pPr lvl="2" eaLnBrk="1" hangingPunct="1"/>
            <a:r>
              <a:rPr lang="en-US" altLang="zh-CN" sz="2000" b="1" dirty="0" err="1">
                <a:ea typeface="微软雅黑" panose="020B0503020204020204" pitchFamily="34" charset="-122"/>
              </a:rPr>
              <a:t>unordered_map</a:t>
            </a:r>
            <a:r>
              <a:rPr lang="zh-CN" altLang="en-US" sz="2000" b="1" dirty="0">
                <a:ea typeface="微软雅黑" panose="020B0503020204020204" pitchFamily="34" charset="-122"/>
              </a:rPr>
              <a:t>（无序映射）、</a:t>
            </a:r>
            <a:r>
              <a:rPr lang="en-US" altLang="zh-CN" sz="2000" b="1" dirty="0" err="1">
                <a:ea typeface="微软雅黑" panose="020B0503020204020204" pitchFamily="34" charset="-122"/>
              </a:rPr>
              <a:t>unorder_multimap</a:t>
            </a:r>
            <a:r>
              <a:rPr lang="zh-CN" altLang="en-US" sz="2000" b="1" dirty="0">
                <a:ea typeface="微软雅黑" panose="020B0503020204020204" pitchFamily="34" charset="-122"/>
              </a:rPr>
              <a:t>（无序多重映射）</a:t>
            </a:r>
            <a:endParaRPr lang="en-US" altLang="zh-CN" sz="2000" b="1" dirty="0">
              <a:ea typeface="微软雅黑" panose="020B0503020204020204" pitchFamily="34" charset="-122"/>
            </a:endParaRPr>
          </a:p>
        </p:txBody>
      </p:sp>
      <p:sp>
        <p:nvSpPr>
          <p:cNvPr id="7" name="标题 1"/>
          <p:cNvSpPr>
            <a:spLocks noGrp="1"/>
          </p:cNvSpPr>
          <p:nvPr>
            <p:ph type="title"/>
          </p:nvPr>
        </p:nvSpPr>
        <p:spPr>
          <a:xfrm>
            <a:off x="628650" y="365129"/>
            <a:ext cx="7886700" cy="1325563"/>
          </a:xfrm>
        </p:spPr>
        <p:txBody>
          <a:bodyPr/>
          <a:lstStyle/>
          <a:p>
            <a:pPr algn="ctr"/>
            <a:r>
              <a:rPr lang="en-US" altLang="zh-CN" sz="4400" b="1">
                <a:latin typeface="Times New Roman" panose="02020603050405020304" pitchFamily="18" charset="0"/>
                <a:ea typeface="隶书" panose="02010509060101010101" pitchFamily="49" charset="-122"/>
              </a:rPr>
              <a:t>10.3 </a:t>
            </a:r>
            <a:r>
              <a:rPr lang="zh-CN" altLang="en-US" sz="4400" b="1">
                <a:latin typeface="Times New Roman" panose="02020603050405020304" pitchFamily="18" charset="0"/>
                <a:ea typeface="隶书" panose="02010509060101010101" pitchFamily="49" charset="-122"/>
              </a:rPr>
              <a:t>容器的基本功能与分类</a:t>
            </a:r>
            <a:endParaRPr lang="zh-CN" altLang="en-US" sz="4400" b="1">
              <a:latin typeface="Times New Roman" panose="02020603050405020304" pitchFamily="18" charset="0"/>
              <a:ea typeface="隶书" panose="02010509060101010101" pitchFamily="49"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pPr algn="ctr"/>
            <a:r>
              <a:rPr lang="en-US" altLang="zh-CN" sz="4000" b="1" dirty="0">
                <a:latin typeface="Times New Roman" panose="02020603050405020304" pitchFamily="18" charset="0"/>
                <a:ea typeface="隶书" panose="02010509060101010101" pitchFamily="49" charset="-122"/>
              </a:rPr>
              <a:t>10.3 </a:t>
            </a:r>
            <a:r>
              <a:rPr lang="zh-CN" altLang="en-US" sz="4000" b="1" dirty="0">
                <a:latin typeface="Times New Roman" panose="02020603050405020304" pitchFamily="18" charset="0"/>
                <a:ea typeface="隶书" panose="02010509060101010101" pitchFamily="49" charset="-122"/>
              </a:rPr>
              <a:t>容器的基本功能与分类（续）</a:t>
            </a:r>
            <a:endParaRPr lang="zh-CN" altLang="en-US" sz="4000" b="1" dirty="0">
              <a:latin typeface="Times New Roman" panose="02020603050405020304" pitchFamily="18" charset="0"/>
              <a:ea typeface="隶书" panose="02010509060101010101" pitchFamily="49" charset="-122"/>
            </a:endParaRPr>
          </a:p>
        </p:txBody>
      </p:sp>
      <p:sp>
        <p:nvSpPr>
          <p:cNvPr id="6" name="Text Box 2"/>
          <p:cNvSpPr txBox="1">
            <a:spLocks noChangeArrowheads="1"/>
          </p:cNvSpPr>
          <p:nvPr/>
        </p:nvSpPr>
        <p:spPr bwMode="auto">
          <a:xfrm>
            <a:off x="1285875" y="2428875"/>
            <a:ext cx="1622425" cy="357188"/>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容器</a:t>
            </a:r>
            <a:r>
              <a:rPr lang="en-US" altLang="zh-CN" sz="1600" b="1" dirty="0">
                <a:solidFill>
                  <a:schemeClr val="tx1"/>
                </a:solidFill>
                <a:ea typeface="华文楷体" panose="02010600040101010101" pitchFamily="2" charset="-122"/>
              </a:rPr>
              <a:t>(Container)</a:t>
            </a:r>
            <a:endParaRPr lang="zh-CN" altLang="zh-CN" sz="1600" b="1" dirty="0">
              <a:solidFill>
                <a:schemeClr val="tx1"/>
              </a:solidFill>
              <a:ea typeface="华文楷体" panose="02010600040101010101" pitchFamily="2" charset="-122"/>
            </a:endParaRPr>
          </a:p>
        </p:txBody>
      </p:sp>
      <p:grpSp>
        <p:nvGrpSpPr>
          <p:cNvPr id="2" name="组合 59"/>
          <p:cNvGrpSpPr/>
          <p:nvPr/>
        </p:nvGrpSpPr>
        <p:grpSpPr bwMode="auto">
          <a:xfrm>
            <a:off x="612412" y="4319588"/>
            <a:ext cx="2806898" cy="1252537"/>
            <a:chOff x="5553851" y="4391851"/>
            <a:chExt cx="2806918" cy="1251726"/>
          </a:xfrm>
        </p:grpSpPr>
        <p:sp>
          <p:nvSpPr>
            <p:cNvPr id="8" name="Text Box 4"/>
            <p:cNvSpPr txBox="1">
              <a:spLocks noChangeArrowheads="1"/>
            </p:cNvSpPr>
            <p:nvPr/>
          </p:nvSpPr>
          <p:spPr bwMode="auto">
            <a:xfrm>
              <a:off x="5553851" y="5016921"/>
              <a:ext cx="2806918" cy="626656"/>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随机访问容器</a:t>
              </a:r>
              <a:br>
                <a:rPr lang="zh-CN" altLang="en-US" sz="1600" b="1" dirty="0">
                  <a:solidFill>
                    <a:schemeClr val="tx1"/>
                  </a:solidFill>
                  <a:ea typeface="华文楷体" panose="02010600040101010101" pitchFamily="2" charset="-122"/>
                </a:rPr>
              </a:br>
              <a:r>
                <a:rPr lang="en-US" altLang="zh-CN" sz="1600" b="1" dirty="0">
                  <a:solidFill>
                    <a:schemeClr val="tx1"/>
                  </a:solidFill>
                  <a:ea typeface="华文楷体" panose="02010600040101010101" pitchFamily="2" charset="-122"/>
                </a:rPr>
                <a:t>(Random Access Container)</a:t>
              </a:r>
              <a:endParaRPr lang="zh-CN" altLang="zh-CN" sz="1600" b="1" dirty="0">
                <a:solidFill>
                  <a:schemeClr val="tx1"/>
                </a:solidFill>
                <a:ea typeface="华文楷体" panose="02010600040101010101" pitchFamily="2" charset="-122"/>
              </a:endParaRPr>
            </a:p>
          </p:txBody>
        </p:sp>
        <p:cxnSp>
          <p:nvCxnSpPr>
            <p:cNvPr id="9" name="AutoShape 5"/>
            <p:cNvCxnSpPr>
              <a:cxnSpLocks noChangeShapeType="1"/>
              <a:stCxn id="11" idx="2"/>
              <a:endCxn id="8" idx="0"/>
            </p:cNvCxnSpPr>
            <p:nvPr/>
          </p:nvCxnSpPr>
          <p:spPr bwMode="auto">
            <a:xfrm flipH="1">
              <a:off x="6957310" y="4391851"/>
              <a:ext cx="7863" cy="625070"/>
            </a:xfrm>
            <a:prstGeom prst="straightConnector1">
              <a:avLst/>
            </a:prstGeom>
            <a:ln>
              <a:solidFill>
                <a:schemeClr val="tx1"/>
              </a:solidFill>
              <a:tailEnd type="triangle" w="med" len="med"/>
            </a:ln>
          </p:spPr>
          <p:style>
            <a:lnRef idx="3">
              <a:schemeClr val="lt1"/>
            </a:lnRef>
            <a:fillRef idx="1">
              <a:schemeClr val="accent2"/>
            </a:fillRef>
            <a:effectRef idx="1">
              <a:schemeClr val="accent2"/>
            </a:effectRef>
            <a:fontRef idx="minor">
              <a:schemeClr val="lt1"/>
            </a:fontRef>
          </p:style>
        </p:cxnSp>
      </p:grpSp>
      <p:grpSp>
        <p:nvGrpSpPr>
          <p:cNvPr id="3" name="组合 58"/>
          <p:cNvGrpSpPr/>
          <p:nvPr/>
        </p:nvGrpSpPr>
        <p:grpSpPr bwMode="auto">
          <a:xfrm>
            <a:off x="846138" y="2857500"/>
            <a:ext cx="2500312" cy="1462088"/>
            <a:chOff x="5715008" y="2928898"/>
            <a:chExt cx="2500330" cy="1461365"/>
          </a:xfrm>
        </p:grpSpPr>
        <p:sp>
          <p:nvSpPr>
            <p:cNvPr id="11" name="Text Box 3"/>
            <p:cNvSpPr txBox="1">
              <a:spLocks noChangeArrowheads="1"/>
            </p:cNvSpPr>
            <p:nvPr/>
          </p:nvSpPr>
          <p:spPr bwMode="auto">
            <a:xfrm>
              <a:off x="5715008" y="3785724"/>
              <a:ext cx="2500330" cy="604539"/>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可逆容器</a:t>
              </a:r>
              <a:endParaRPr lang="en-US" altLang="zh-CN" sz="1600" b="1" dirty="0">
                <a:solidFill>
                  <a:schemeClr val="tx1"/>
                </a:solidFill>
                <a:ea typeface="华文楷体" panose="02010600040101010101" pitchFamily="2" charset="-122"/>
              </a:endParaRPr>
            </a:p>
            <a:p>
              <a:pPr algn="ctr">
                <a:defRPr/>
              </a:pPr>
              <a:r>
                <a:rPr lang="en-US" altLang="zh-CN" sz="1600" b="1" dirty="0">
                  <a:solidFill>
                    <a:schemeClr val="tx1"/>
                  </a:solidFill>
                  <a:ea typeface="华文楷体" panose="02010600040101010101" pitchFamily="2" charset="-122"/>
                </a:rPr>
                <a:t>(Reversible Container)</a:t>
              </a:r>
              <a:endParaRPr lang="zh-CN" altLang="zh-CN" sz="1600" b="1" dirty="0">
                <a:solidFill>
                  <a:schemeClr val="tx1"/>
                </a:solidFill>
                <a:ea typeface="华文楷体" panose="02010600040101010101" pitchFamily="2" charset="-122"/>
              </a:endParaRPr>
            </a:p>
          </p:txBody>
        </p:sp>
        <p:cxnSp>
          <p:nvCxnSpPr>
            <p:cNvPr id="12" name="AutoShape 6"/>
            <p:cNvCxnSpPr>
              <a:cxnSpLocks noChangeShapeType="1"/>
              <a:stCxn id="6" idx="2"/>
              <a:endCxn id="11" idx="0"/>
            </p:cNvCxnSpPr>
            <p:nvPr/>
          </p:nvCxnSpPr>
          <p:spPr bwMode="auto">
            <a:xfrm rot="5400000">
              <a:off x="6573273" y="3321592"/>
              <a:ext cx="856826" cy="71438"/>
            </a:xfrm>
            <a:prstGeom prst="straightConnector1">
              <a:avLst/>
            </a:prstGeom>
            <a:ln>
              <a:solidFill>
                <a:schemeClr val="tx1"/>
              </a:solidFill>
              <a:tailEnd type="triangle" w="med" len="med"/>
            </a:ln>
          </p:spPr>
          <p:style>
            <a:lnRef idx="3">
              <a:schemeClr val="lt1"/>
            </a:lnRef>
            <a:fillRef idx="1">
              <a:schemeClr val="accent2"/>
            </a:fillRef>
            <a:effectRef idx="1">
              <a:schemeClr val="accent2"/>
            </a:effectRef>
            <a:fontRef idx="minor">
              <a:schemeClr val="lt1"/>
            </a:fontRef>
          </p:style>
        </p:cxnSp>
      </p:grpSp>
      <p:sp>
        <p:nvSpPr>
          <p:cNvPr id="13" name="Text Box 8"/>
          <p:cNvSpPr txBox="1">
            <a:spLocks noChangeArrowheads="1"/>
          </p:cNvSpPr>
          <p:nvPr/>
        </p:nvSpPr>
        <p:spPr bwMode="auto">
          <a:xfrm>
            <a:off x="4325938" y="1643063"/>
            <a:ext cx="1898650" cy="384175"/>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容器</a:t>
            </a:r>
            <a:r>
              <a:rPr lang="en-US" altLang="zh-CN" sz="1600" b="1" dirty="0">
                <a:solidFill>
                  <a:schemeClr val="tx1"/>
                </a:solidFill>
                <a:ea typeface="华文楷体" panose="02010600040101010101" pitchFamily="2" charset="-122"/>
              </a:rPr>
              <a:t>(Container)</a:t>
            </a:r>
            <a:endParaRPr lang="zh-CN" altLang="zh-CN" sz="1600" b="1" dirty="0">
              <a:solidFill>
                <a:schemeClr val="tx1"/>
              </a:solidFill>
              <a:ea typeface="华文楷体" panose="02010600040101010101" pitchFamily="2" charset="-122"/>
            </a:endParaRPr>
          </a:p>
        </p:txBody>
      </p:sp>
      <p:grpSp>
        <p:nvGrpSpPr>
          <p:cNvPr id="4" name="组合 57"/>
          <p:cNvGrpSpPr/>
          <p:nvPr/>
        </p:nvGrpSpPr>
        <p:grpSpPr bwMode="auto">
          <a:xfrm>
            <a:off x="3714750" y="2027238"/>
            <a:ext cx="3797300" cy="1152525"/>
            <a:chOff x="1631971" y="2098664"/>
            <a:chExt cx="3797285" cy="1152532"/>
          </a:xfrm>
        </p:grpSpPr>
        <p:cxnSp>
          <p:nvCxnSpPr>
            <p:cNvPr id="15" name="AutoShape 7"/>
            <p:cNvCxnSpPr>
              <a:cxnSpLocks noChangeShapeType="1"/>
            </p:cNvCxnSpPr>
            <p:nvPr/>
          </p:nvCxnSpPr>
          <p:spPr bwMode="auto">
            <a:xfrm rot="5400000">
              <a:off x="2533665" y="1828792"/>
              <a:ext cx="427040" cy="966784"/>
            </a:xfrm>
            <a:prstGeom prst="straightConnector1">
              <a:avLst/>
            </a:prstGeom>
            <a:ln>
              <a:solidFill>
                <a:schemeClr val="tx1"/>
              </a:solidFill>
              <a:tailEnd type="triangle" w="med" len="med"/>
            </a:ln>
          </p:spPr>
          <p:style>
            <a:lnRef idx="3">
              <a:schemeClr val="lt1"/>
            </a:lnRef>
            <a:fillRef idx="1">
              <a:schemeClr val="accent2"/>
            </a:fillRef>
            <a:effectRef idx="1">
              <a:schemeClr val="accent2"/>
            </a:effectRef>
            <a:fontRef idx="minor">
              <a:schemeClr val="lt1"/>
            </a:fontRef>
          </p:style>
        </p:cxnSp>
        <p:sp>
          <p:nvSpPr>
            <p:cNvPr id="16" name="Text Box 9"/>
            <p:cNvSpPr txBox="1">
              <a:spLocks noChangeArrowheads="1"/>
            </p:cNvSpPr>
            <p:nvPr/>
          </p:nvSpPr>
          <p:spPr bwMode="auto">
            <a:xfrm>
              <a:off x="1631971" y="2571742"/>
              <a:ext cx="1162045" cy="679454"/>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顺序容器</a:t>
              </a:r>
              <a:r>
                <a:rPr lang="en-US" altLang="zh-CN" sz="1600" b="1" dirty="0">
                  <a:solidFill>
                    <a:schemeClr val="tx1"/>
                  </a:solidFill>
                  <a:ea typeface="华文楷体" panose="02010600040101010101" pitchFamily="2" charset="-122"/>
                </a:rPr>
                <a:t>(Sequence)</a:t>
              </a:r>
              <a:endParaRPr lang="zh-CN" altLang="zh-CN" sz="1600" b="1" dirty="0">
                <a:solidFill>
                  <a:schemeClr val="tx1"/>
                </a:solidFill>
                <a:ea typeface="华文楷体" panose="02010600040101010101" pitchFamily="2" charset="-122"/>
              </a:endParaRPr>
            </a:p>
          </p:txBody>
        </p:sp>
        <p:sp>
          <p:nvSpPr>
            <p:cNvPr id="17" name="Text Box 10"/>
            <p:cNvSpPr txBox="1">
              <a:spLocks noChangeArrowheads="1"/>
            </p:cNvSpPr>
            <p:nvPr/>
          </p:nvSpPr>
          <p:spPr bwMode="auto">
            <a:xfrm>
              <a:off x="3255978" y="2525704"/>
              <a:ext cx="2173278" cy="679454"/>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关联容器</a:t>
              </a:r>
              <a:br>
                <a:rPr lang="zh-CN" altLang="en-US" sz="1600" b="1" dirty="0">
                  <a:solidFill>
                    <a:schemeClr val="tx1"/>
                  </a:solidFill>
                  <a:ea typeface="华文楷体" panose="02010600040101010101" pitchFamily="2" charset="-122"/>
                </a:rPr>
              </a:br>
              <a:r>
                <a:rPr lang="en-US" altLang="zh-CN" sz="1600" b="1" dirty="0">
                  <a:solidFill>
                    <a:schemeClr val="tx1"/>
                  </a:solidFill>
                  <a:ea typeface="华文楷体" panose="02010600040101010101" pitchFamily="2" charset="-122"/>
                </a:rPr>
                <a:t>(Associative Container)</a:t>
              </a:r>
              <a:endParaRPr lang="zh-CN" altLang="zh-CN" sz="1600" b="1" dirty="0">
                <a:solidFill>
                  <a:schemeClr val="tx1"/>
                </a:solidFill>
                <a:ea typeface="华文楷体" panose="02010600040101010101" pitchFamily="2" charset="-122"/>
              </a:endParaRPr>
            </a:p>
          </p:txBody>
        </p:sp>
        <p:cxnSp>
          <p:nvCxnSpPr>
            <p:cNvPr id="18" name="AutoShape 11"/>
            <p:cNvCxnSpPr>
              <a:cxnSpLocks noChangeShapeType="1"/>
              <a:stCxn id="13" idx="2"/>
              <a:endCxn id="17" idx="0"/>
            </p:cNvCxnSpPr>
            <p:nvPr/>
          </p:nvCxnSpPr>
          <p:spPr bwMode="auto">
            <a:xfrm rot="16200000" flipH="1">
              <a:off x="3625068" y="1808948"/>
              <a:ext cx="355602" cy="1077909"/>
            </a:xfrm>
            <a:prstGeom prst="straightConnector1">
              <a:avLst/>
            </a:prstGeom>
            <a:ln>
              <a:solidFill>
                <a:schemeClr val="tx1"/>
              </a:solidFill>
              <a:tailEnd type="triangle" w="med" len="med"/>
            </a:ln>
          </p:spPr>
          <p:style>
            <a:lnRef idx="3">
              <a:schemeClr val="lt1"/>
            </a:lnRef>
            <a:fillRef idx="1">
              <a:schemeClr val="accent2"/>
            </a:fillRef>
            <a:effectRef idx="1">
              <a:schemeClr val="accent2"/>
            </a:effectRef>
            <a:fontRef idx="minor">
              <a:schemeClr val="lt1"/>
            </a:fontRef>
          </p:style>
        </p:cxnSp>
      </p:grpSp>
      <p:grpSp>
        <p:nvGrpSpPr>
          <p:cNvPr id="5" name="组合 54"/>
          <p:cNvGrpSpPr/>
          <p:nvPr/>
        </p:nvGrpSpPr>
        <p:grpSpPr bwMode="auto">
          <a:xfrm>
            <a:off x="3868738" y="4857750"/>
            <a:ext cx="928687" cy="785813"/>
            <a:chOff x="1785918" y="4929198"/>
            <a:chExt cx="928694" cy="785818"/>
          </a:xfrm>
        </p:grpSpPr>
        <p:sp>
          <p:nvSpPr>
            <p:cNvPr id="28696" name="矩形 23"/>
            <p:cNvSpPr>
              <a:spLocks noChangeArrowheads="1"/>
            </p:cNvSpPr>
            <p:nvPr/>
          </p:nvSpPr>
          <p:spPr bwMode="auto">
            <a:xfrm>
              <a:off x="1785918" y="4929198"/>
              <a:ext cx="928694" cy="357190"/>
            </a:xfrm>
            <a:prstGeom prst="rect">
              <a:avLst/>
            </a:prstGeom>
            <a:solidFill>
              <a:schemeClr val="accent1"/>
            </a:solidFill>
            <a:ln w="12700" algn="ctr">
              <a:solidFill>
                <a:srgbClr val="000000"/>
              </a:solidFill>
              <a:round/>
              <a:headEnd type="none" w="sm" len="sm"/>
              <a:tailEnd type="none" w="sm" len="sm"/>
            </a:ln>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b="1">
                  <a:latin typeface="+mn-lt"/>
                  <a:ea typeface="华文楷体" panose="02010600040101010101" pitchFamily="2" charset="-122"/>
                </a:rPr>
                <a:t>vector</a:t>
              </a:r>
              <a:endParaRPr lang="zh-CN" altLang="en-US" sz="1600" b="1">
                <a:latin typeface="+mn-lt"/>
                <a:ea typeface="华文楷体" panose="02010600040101010101" pitchFamily="2" charset="-122"/>
              </a:endParaRPr>
            </a:p>
          </p:txBody>
        </p:sp>
        <p:sp>
          <p:nvSpPr>
            <p:cNvPr id="28697" name="矩形 23"/>
            <p:cNvSpPr>
              <a:spLocks noChangeArrowheads="1"/>
            </p:cNvSpPr>
            <p:nvPr/>
          </p:nvSpPr>
          <p:spPr bwMode="auto">
            <a:xfrm>
              <a:off x="1785918" y="5357826"/>
              <a:ext cx="928694" cy="357190"/>
            </a:xfrm>
            <a:prstGeom prst="rect">
              <a:avLst/>
            </a:prstGeom>
            <a:solidFill>
              <a:schemeClr val="accent1"/>
            </a:solidFill>
            <a:ln w="12700" algn="ctr">
              <a:solidFill>
                <a:srgbClr val="000000"/>
              </a:solidFill>
              <a:round/>
              <a:headEnd type="none" w="sm" len="sm"/>
              <a:tailEnd type="none" w="sm" len="sm"/>
            </a:ln>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b="1">
                  <a:latin typeface="+mn-lt"/>
                  <a:ea typeface="华文楷体" panose="02010600040101010101" pitchFamily="2" charset="-122"/>
                </a:rPr>
                <a:t>deque</a:t>
              </a:r>
              <a:endParaRPr lang="zh-CN" altLang="en-US" sz="1600" b="1">
                <a:latin typeface="+mn-lt"/>
                <a:ea typeface="华文楷体" panose="02010600040101010101" pitchFamily="2" charset="-122"/>
              </a:endParaRPr>
            </a:p>
          </p:txBody>
        </p:sp>
      </p:grpSp>
      <p:sp>
        <p:nvSpPr>
          <p:cNvPr id="22" name="矩形 23"/>
          <p:cNvSpPr>
            <a:spLocks noChangeArrowheads="1"/>
          </p:cNvSpPr>
          <p:nvPr/>
        </p:nvSpPr>
        <p:spPr bwMode="auto">
          <a:xfrm>
            <a:off x="3868738" y="3786188"/>
            <a:ext cx="928687" cy="357187"/>
          </a:xfrm>
          <a:prstGeom prst="rect">
            <a:avLst/>
          </a:prstGeom>
          <a:solidFill>
            <a:schemeClr val="accent1"/>
          </a:solidFill>
          <a:ln w="12700" algn="ctr">
            <a:solidFill>
              <a:srgbClr val="000000"/>
            </a:solidFill>
            <a:round/>
            <a:headEnd type="none" w="sm" len="sm"/>
            <a:tailEnd type="none" w="sm" len="sm"/>
          </a:ln>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b="1">
                <a:latin typeface="+mn-lt"/>
                <a:ea typeface="华文楷体" panose="02010600040101010101" pitchFamily="2" charset="-122"/>
              </a:rPr>
              <a:t>list</a:t>
            </a:r>
            <a:endParaRPr lang="zh-CN" altLang="en-US" sz="1600" b="1">
              <a:latin typeface="+mn-lt"/>
              <a:ea typeface="华文楷体" panose="02010600040101010101" pitchFamily="2" charset="-122"/>
            </a:endParaRPr>
          </a:p>
        </p:txBody>
      </p:sp>
      <p:grpSp>
        <p:nvGrpSpPr>
          <p:cNvPr id="7" name="组合 53"/>
          <p:cNvGrpSpPr/>
          <p:nvPr/>
        </p:nvGrpSpPr>
        <p:grpSpPr bwMode="auto">
          <a:xfrm>
            <a:off x="5583238" y="3571875"/>
            <a:ext cx="1714500" cy="785813"/>
            <a:chOff x="3500430" y="4929198"/>
            <a:chExt cx="1714512" cy="785818"/>
          </a:xfrm>
        </p:grpSpPr>
        <p:sp>
          <p:nvSpPr>
            <p:cNvPr id="28692" name="矩形 23"/>
            <p:cNvSpPr>
              <a:spLocks noChangeArrowheads="1"/>
            </p:cNvSpPr>
            <p:nvPr/>
          </p:nvSpPr>
          <p:spPr bwMode="auto">
            <a:xfrm>
              <a:off x="4143372" y="4929198"/>
              <a:ext cx="1071570" cy="357190"/>
            </a:xfrm>
            <a:prstGeom prst="rect">
              <a:avLst/>
            </a:prstGeom>
            <a:solidFill>
              <a:schemeClr val="accent1"/>
            </a:solidFill>
            <a:ln w="12700" algn="ctr">
              <a:solidFill>
                <a:srgbClr val="000000"/>
              </a:solidFill>
              <a:round/>
              <a:headEnd type="none" w="sm" len="sm"/>
              <a:tailEnd type="none" w="sm" len="sm"/>
            </a:ln>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b="1">
                  <a:latin typeface="+mn-lt"/>
                  <a:ea typeface="华文楷体" panose="02010600040101010101" pitchFamily="2" charset="-122"/>
                </a:rPr>
                <a:t>multiset</a:t>
              </a:r>
              <a:endParaRPr lang="zh-CN" altLang="en-US" sz="1600" b="1">
                <a:latin typeface="+mn-lt"/>
                <a:ea typeface="华文楷体" panose="02010600040101010101" pitchFamily="2" charset="-122"/>
              </a:endParaRPr>
            </a:p>
          </p:txBody>
        </p:sp>
        <p:sp>
          <p:nvSpPr>
            <p:cNvPr id="28693" name="矩形 23"/>
            <p:cNvSpPr>
              <a:spLocks noChangeArrowheads="1"/>
            </p:cNvSpPr>
            <p:nvPr/>
          </p:nvSpPr>
          <p:spPr bwMode="auto">
            <a:xfrm>
              <a:off x="4143372" y="5357826"/>
              <a:ext cx="1071570" cy="357190"/>
            </a:xfrm>
            <a:prstGeom prst="rect">
              <a:avLst/>
            </a:prstGeom>
            <a:solidFill>
              <a:schemeClr val="accent1"/>
            </a:solidFill>
            <a:ln w="12700" algn="ctr">
              <a:solidFill>
                <a:srgbClr val="000000"/>
              </a:solidFill>
              <a:round/>
              <a:headEnd type="none" w="sm" len="sm"/>
              <a:tailEnd type="none" w="sm" len="sm"/>
            </a:ln>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b="1">
                  <a:latin typeface="+mn-lt"/>
                  <a:ea typeface="华文楷体" panose="02010600040101010101" pitchFamily="2" charset="-122"/>
                </a:rPr>
                <a:t>multimap</a:t>
              </a:r>
              <a:endParaRPr lang="zh-CN" altLang="en-US" sz="1600" b="1">
                <a:latin typeface="+mn-lt"/>
                <a:ea typeface="华文楷体" panose="02010600040101010101" pitchFamily="2" charset="-122"/>
              </a:endParaRPr>
            </a:p>
          </p:txBody>
        </p:sp>
        <p:sp>
          <p:nvSpPr>
            <p:cNvPr id="28694" name="矩形 23"/>
            <p:cNvSpPr>
              <a:spLocks noChangeArrowheads="1"/>
            </p:cNvSpPr>
            <p:nvPr/>
          </p:nvSpPr>
          <p:spPr bwMode="auto">
            <a:xfrm>
              <a:off x="3500430" y="4929198"/>
              <a:ext cx="571504" cy="357190"/>
            </a:xfrm>
            <a:prstGeom prst="rect">
              <a:avLst/>
            </a:prstGeom>
            <a:solidFill>
              <a:schemeClr val="accent1"/>
            </a:solidFill>
            <a:ln w="12700" algn="ctr">
              <a:solidFill>
                <a:srgbClr val="000000"/>
              </a:solidFill>
              <a:round/>
              <a:headEnd type="none" w="sm" len="sm"/>
              <a:tailEnd type="none" w="sm" len="sm"/>
            </a:ln>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b="1">
                  <a:latin typeface="+mn-lt"/>
                  <a:ea typeface="华文楷体" panose="02010600040101010101" pitchFamily="2" charset="-122"/>
                </a:rPr>
                <a:t>set</a:t>
              </a:r>
              <a:endParaRPr lang="zh-CN" altLang="en-US" sz="1600" b="1">
                <a:latin typeface="+mn-lt"/>
                <a:ea typeface="华文楷体" panose="02010600040101010101" pitchFamily="2" charset="-122"/>
              </a:endParaRPr>
            </a:p>
          </p:txBody>
        </p:sp>
        <p:sp>
          <p:nvSpPr>
            <p:cNvPr id="28695" name="矩形 23"/>
            <p:cNvSpPr>
              <a:spLocks noChangeArrowheads="1"/>
            </p:cNvSpPr>
            <p:nvPr/>
          </p:nvSpPr>
          <p:spPr bwMode="auto">
            <a:xfrm>
              <a:off x="3500430" y="5357826"/>
              <a:ext cx="571504" cy="357190"/>
            </a:xfrm>
            <a:prstGeom prst="rect">
              <a:avLst/>
            </a:prstGeom>
            <a:solidFill>
              <a:schemeClr val="accent1"/>
            </a:solidFill>
            <a:ln w="12700" algn="ctr">
              <a:solidFill>
                <a:srgbClr val="000000"/>
              </a:solidFill>
              <a:round/>
              <a:headEnd type="none" w="sm" len="sm"/>
              <a:tailEnd type="none" w="sm" len="sm"/>
            </a:ln>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b="1">
                  <a:latin typeface="+mn-lt"/>
                  <a:ea typeface="华文楷体" panose="02010600040101010101" pitchFamily="2" charset="-122"/>
                </a:rPr>
                <a:t>map</a:t>
              </a:r>
              <a:endParaRPr lang="zh-CN" altLang="en-US" sz="1600" b="1">
                <a:latin typeface="+mn-lt"/>
                <a:ea typeface="华文楷体" panose="02010600040101010101" pitchFamily="2" charset="-122"/>
              </a:endParaRPr>
            </a:p>
          </p:txBody>
        </p:sp>
      </p:grpSp>
      <p:grpSp>
        <p:nvGrpSpPr>
          <p:cNvPr id="10" name="组合 55"/>
          <p:cNvGrpSpPr/>
          <p:nvPr/>
        </p:nvGrpSpPr>
        <p:grpSpPr bwMode="auto">
          <a:xfrm>
            <a:off x="846138" y="3429000"/>
            <a:ext cx="6786562" cy="2428875"/>
            <a:chOff x="1500166" y="3500438"/>
            <a:chExt cx="6786610" cy="2428892"/>
          </a:xfrm>
        </p:grpSpPr>
        <p:cxnSp>
          <p:nvCxnSpPr>
            <p:cNvPr id="29" name="直接连接符 28"/>
            <p:cNvCxnSpPr/>
            <p:nvPr/>
          </p:nvCxnSpPr>
          <p:spPr bwMode="auto">
            <a:xfrm>
              <a:off x="1500166" y="3500438"/>
              <a:ext cx="6786610"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30" name="直接连接符 29"/>
            <p:cNvCxnSpPr/>
            <p:nvPr/>
          </p:nvCxnSpPr>
          <p:spPr bwMode="auto">
            <a:xfrm>
              <a:off x="1500166" y="4643446"/>
              <a:ext cx="6786610"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31" name="直接连接符 30"/>
            <p:cNvCxnSpPr/>
            <p:nvPr/>
          </p:nvCxnSpPr>
          <p:spPr bwMode="auto">
            <a:xfrm>
              <a:off x="1500166" y="5929330"/>
              <a:ext cx="6786610"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grpSp>
      <p:grpSp>
        <p:nvGrpSpPr>
          <p:cNvPr id="14" name="组合 56"/>
          <p:cNvGrpSpPr/>
          <p:nvPr/>
        </p:nvGrpSpPr>
        <p:grpSpPr bwMode="auto">
          <a:xfrm>
            <a:off x="3489325" y="2428875"/>
            <a:ext cx="4143375" cy="3429000"/>
            <a:chOff x="1428728" y="2500306"/>
            <a:chExt cx="4143404" cy="3429024"/>
          </a:xfrm>
        </p:grpSpPr>
        <p:cxnSp>
          <p:nvCxnSpPr>
            <p:cNvPr id="33" name="直接连接符 32"/>
            <p:cNvCxnSpPr/>
            <p:nvPr/>
          </p:nvCxnSpPr>
          <p:spPr bwMode="auto">
            <a:xfrm rot="5400000">
              <a:off x="-285784" y="4214818"/>
              <a:ext cx="3429024"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34" name="直接连接符 33"/>
            <p:cNvCxnSpPr/>
            <p:nvPr/>
          </p:nvCxnSpPr>
          <p:spPr bwMode="auto">
            <a:xfrm rot="5400000">
              <a:off x="1285852" y="4214818"/>
              <a:ext cx="3429024"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35" name="直接连接符 34"/>
            <p:cNvCxnSpPr/>
            <p:nvPr/>
          </p:nvCxnSpPr>
          <p:spPr bwMode="auto">
            <a:xfrm rot="5400000">
              <a:off x="3857620" y="4214818"/>
              <a:ext cx="3429024"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1"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slide(fromTop)">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slide(fromTop)">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1"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slide(fromTop)">
                                      <p:cBhvr>
                                        <p:cTn id="25" dur="500"/>
                                        <p:tgtEl>
                                          <p:spTgt spid="2"/>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ppt_x"/>
                                          </p:val>
                                        </p:tav>
                                        <p:tav tm="100000">
                                          <p:val>
                                            <p:strVal val="#ppt_x"/>
                                          </p:val>
                                        </p:tav>
                                      </p:tavLst>
                                    </p:anim>
                                    <p:anim calcmode="lin" valueType="num">
                                      <p:cBhvr additive="base">
                                        <p:cTn id="31" dur="500" fill="hold"/>
                                        <p:tgtEl>
                                          <p:spTgt spid="14"/>
                                        </p:tgtEl>
                                        <p:attrNameLst>
                                          <p:attrName>ppt_y</p:attrName>
                                        </p:attrNameLst>
                                      </p:cBhvr>
                                      <p:tavLst>
                                        <p:tav tm="0">
                                          <p:val>
                                            <p:strVal val="1+#ppt_h/2"/>
                                          </p:val>
                                        </p:tav>
                                        <p:tav tm="100000">
                                          <p:val>
                                            <p:strVal val="#ppt_y"/>
                                          </p:val>
                                        </p:tav>
                                      </p:tavLst>
                                    </p:anim>
                                  </p:childTnLst>
                                </p:cTn>
                              </p:par>
                              <p:par>
                                <p:cTn id="32" presetID="2" presetClass="entr" presetSubtype="2"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1+#ppt_w/2"/>
                                          </p:val>
                                        </p:tav>
                                        <p:tav tm="100000">
                                          <p:val>
                                            <p:strVal val="#ppt_x"/>
                                          </p:val>
                                        </p:tav>
                                      </p:tavLst>
                                    </p:anim>
                                    <p:anim calcmode="lin" valueType="num">
                                      <p:cBhvr additive="base">
                                        <p:cTn id="35"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dissolve">
                                      <p:cBhvr>
                                        <p:cTn id="40" dur="500"/>
                                        <p:tgtEl>
                                          <p:spTgt spid="22"/>
                                        </p:tgtEl>
                                      </p:cBhvr>
                                    </p:animEffect>
                                  </p:childTnLst>
                                </p:cTn>
                              </p:par>
                              <p:par>
                                <p:cTn id="41" presetID="9" presetClass="entr" presetSubtype="0" fill="hold"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dissolve">
                                      <p:cBhvr>
                                        <p:cTn id="43" dur="500"/>
                                        <p:tgtEl>
                                          <p:spTgt spid="5"/>
                                        </p:tgtEl>
                                      </p:cBhvr>
                                    </p:animEffect>
                                  </p:childTnLst>
                                </p:cTn>
                              </p:par>
                              <p:par>
                                <p:cTn id="44" presetID="9" presetClass="entr" presetSubtype="0" fill="hold" nodeType="with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dissolve">
                                      <p:cBhvr>
                                        <p:cTn id="4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2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611560" y="188640"/>
            <a:ext cx="7886700" cy="1325563"/>
          </a:xfrm>
        </p:spPr>
        <p:txBody>
          <a:bodyPr/>
          <a:lstStyle/>
          <a:p>
            <a:pPr algn="ctr"/>
            <a:r>
              <a:rPr lang="zh-CN" altLang="en-US" sz="4400" b="1">
                <a:latin typeface="Times New Roman" panose="02020603050405020304" pitchFamily="18" charset="0"/>
                <a:ea typeface="隶书" panose="02010509060101010101" pitchFamily="49" charset="-122"/>
              </a:rPr>
              <a:t>容器的通用功能</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683568" y="1124744"/>
            <a:ext cx="7886700" cy="4351338"/>
          </a:xfrm>
        </p:spPr>
        <p:txBody>
          <a:bodyPr/>
          <a:lstStyle/>
          <a:p>
            <a:pPr>
              <a:spcBef>
                <a:spcPts val="0"/>
              </a:spcBef>
              <a:spcAft>
                <a:spcPts val="0"/>
              </a:spcAft>
            </a:pPr>
            <a:r>
              <a:rPr lang="zh-CN" altLang="en-US" sz="2400" b="1" dirty="0">
                <a:ea typeface="华文楷体" panose="02010600040101010101" pitchFamily="2" charset="-122"/>
              </a:rPr>
              <a:t>容器的通用功能</a:t>
            </a:r>
            <a:endParaRPr lang="en-US" altLang="zh-CN" sz="24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400" b="1" dirty="0">
                <a:solidFill>
                  <a:srgbClr val="FFFF00"/>
                </a:solidFill>
                <a:ea typeface="华文楷体" panose="02010600040101010101" pitchFamily="2" charset="-122"/>
              </a:rPr>
              <a:t>用默认构造函数构造空容器</a:t>
            </a:r>
            <a:endParaRPr lang="en-US" altLang="zh-CN" sz="2400" b="1" dirty="0">
              <a:solidFill>
                <a:srgbClr val="FFFF00"/>
              </a:solidFill>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400" b="1" dirty="0">
                <a:solidFill>
                  <a:srgbClr val="FFFF00"/>
                </a:solidFill>
                <a:ea typeface="华文楷体" panose="02010600040101010101" pitchFamily="2" charset="-122"/>
              </a:rPr>
              <a:t>支持关系运算符</a:t>
            </a:r>
            <a:r>
              <a:rPr lang="zh-CN" altLang="en-US" sz="2400" b="1" dirty="0">
                <a:ea typeface="华文楷体" panose="02010600040101010101" pitchFamily="2" charset="-122"/>
              </a:rPr>
              <a:t>：</a:t>
            </a:r>
            <a:r>
              <a:rPr lang="en-US" altLang="zh-CN" sz="2400" b="1" dirty="0">
                <a:ea typeface="华文楷体" panose="02010600040101010101" pitchFamily="2" charset="-122"/>
              </a:rPr>
              <a:t>==</a:t>
            </a:r>
            <a:r>
              <a:rPr lang="zh-CN" altLang="en-US" sz="2400" b="1" dirty="0">
                <a:ea typeface="华文楷体" panose="02010600040101010101" pitchFamily="2" charset="-122"/>
              </a:rPr>
              <a:t>、</a:t>
            </a:r>
            <a:r>
              <a:rPr lang="en-US" altLang="zh-CN" sz="2400" b="1" dirty="0">
                <a:ea typeface="华文楷体" panose="02010600040101010101" pitchFamily="2" charset="-122"/>
              </a:rPr>
              <a:t>!=</a:t>
            </a:r>
            <a:r>
              <a:rPr lang="zh-CN" altLang="en-US" sz="2400" b="1" dirty="0">
                <a:ea typeface="华文楷体" panose="02010600040101010101" pitchFamily="2" charset="-122"/>
              </a:rPr>
              <a:t>、</a:t>
            </a:r>
            <a:r>
              <a:rPr lang="en-US" altLang="zh-CN" sz="2400" b="1" dirty="0">
                <a:ea typeface="华文楷体" panose="02010600040101010101" pitchFamily="2" charset="-122"/>
              </a:rPr>
              <a:t>&lt;</a:t>
            </a:r>
            <a:r>
              <a:rPr lang="zh-CN" altLang="en-US" sz="2400" b="1" dirty="0">
                <a:ea typeface="华文楷体" panose="02010600040101010101" pitchFamily="2" charset="-122"/>
              </a:rPr>
              <a:t>、</a:t>
            </a:r>
            <a:r>
              <a:rPr lang="en-US" altLang="zh-CN" sz="2400" b="1" dirty="0">
                <a:ea typeface="华文楷体" panose="02010600040101010101" pitchFamily="2" charset="-122"/>
              </a:rPr>
              <a:t>&lt;=</a:t>
            </a:r>
            <a:r>
              <a:rPr lang="zh-CN" altLang="en-US" sz="2400" b="1" dirty="0">
                <a:ea typeface="华文楷体" panose="02010600040101010101" pitchFamily="2" charset="-122"/>
              </a:rPr>
              <a:t>、</a:t>
            </a:r>
            <a:r>
              <a:rPr lang="en-US" altLang="zh-CN" sz="2400" b="1" dirty="0">
                <a:ea typeface="华文楷体" panose="02010600040101010101" pitchFamily="2" charset="-122"/>
              </a:rPr>
              <a:t>&gt;</a:t>
            </a:r>
            <a:r>
              <a:rPr lang="zh-CN" altLang="en-US" sz="2400" b="1" dirty="0">
                <a:ea typeface="华文楷体" panose="02010600040101010101" pitchFamily="2" charset="-122"/>
              </a:rPr>
              <a:t>、</a:t>
            </a:r>
            <a:r>
              <a:rPr lang="en-US" altLang="zh-CN" sz="2400" b="1" dirty="0">
                <a:ea typeface="华文楷体" panose="02010600040101010101" pitchFamily="2" charset="-122"/>
              </a:rPr>
              <a:t>&gt;=</a:t>
            </a:r>
            <a:endParaRPr lang="en-US" altLang="zh-CN" sz="24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en-US" altLang="zh-CN" sz="2400" b="1" dirty="0">
                <a:solidFill>
                  <a:srgbClr val="FFFF00"/>
                </a:solidFill>
                <a:ea typeface="华文楷体" panose="02010600040101010101" pitchFamily="2" charset="-122"/>
              </a:rPr>
              <a:t>begin()</a:t>
            </a:r>
            <a:r>
              <a:rPr lang="zh-CN" altLang="en-US" sz="2400" b="1" dirty="0">
                <a:solidFill>
                  <a:srgbClr val="FFFF00"/>
                </a:solidFill>
                <a:ea typeface="华文楷体" panose="02010600040101010101" pitchFamily="2" charset="-122"/>
              </a:rPr>
              <a:t>、</a:t>
            </a:r>
            <a:r>
              <a:rPr lang="en-US" altLang="zh-CN" sz="2400" b="1" dirty="0">
                <a:solidFill>
                  <a:srgbClr val="FFFF00"/>
                </a:solidFill>
                <a:ea typeface="华文楷体" panose="02010600040101010101" pitchFamily="2" charset="-122"/>
              </a:rPr>
              <a:t>end()</a:t>
            </a:r>
            <a:r>
              <a:rPr lang="zh-CN" altLang="en-US" sz="2400" b="1" dirty="0">
                <a:ea typeface="华文楷体" panose="02010600040101010101" pitchFamily="2" charset="-122"/>
              </a:rPr>
              <a:t>：获得容器首、尾迭代器</a:t>
            </a:r>
            <a:endParaRPr lang="en-US" altLang="zh-CN" sz="24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en-US" altLang="zh-CN" sz="2400" b="1" dirty="0">
                <a:solidFill>
                  <a:srgbClr val="FFFF00"/>
                </a:solidFill>
                <a:ea typeface="华文楷体" panose="02010600040101010101" pitchFamily="2" charset="-122"/>
              </a:rPr>
              <a:t>clear()</a:t>
            </a:r>
            <a:r>
              <a:rPr lang="zh-CN" altLang="en-US" sz="2400" b="1" dirty="0">
                <a:ea typeface="华文楷体" panose="02010600040101010101" pitchFamily="2" charset="-122"/>
              </a:rPr>
              <a:t>：将容器清空</a:t>
            </a:r>
            <a:endParaRPr lang="en-US" altLang="zh-CN" sz="24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en-US" altLang="zh-CN" sz="2400" b="1" dirty="0">
                <a:solidFill>
                  <a:srgbClr val="FFFF00"/>
                </a:solidFill>
                <a:ea typeface="华文楷体" panose="02010600040101010101" pitchFamily="2" charset="-122"/>
              </a:rPr>
              <a:t>empty()</a:t>
            </a:r>
            <a:r>
              <a:rPr lang="zh-CN" altLang="en-US" sz="2400" b="1" dirty="0">
                <a:ea typeface="华文楷体" panose="02010600040101010101" pitchFamily="2" charset="-122"/>
              </a:rPr>
              <a:t>：判断容器是否为空</a:t>
            </a:r>
            <a:endParaRPr lang="en-US" altLang="zh-CN" sz="24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en-US" altLang="zh-CN" sz="2400" b="1" dirty="0">
                <a:solidFill>
                  <a:srgbClr val="FFFF00"/>
                </a:solidFill>
                <a:ea typeface="华文楷体" panose="02010600040101010101" pitchFamily="2" charset="-122"/>
              </a:rPr>
              <a:t>size()</a:t>
            </a:r>
            <a:r>
              <a:rPr lang="zh-CN" altLang="en-US" sz="2400" b="1" dirty="0">
                <a:ea typeface="华文楷体" panose="02010600040101010101" pitchFamily="2" charset="-122"/>
              </a:rPr>
              <a:t>：得到容器元素个数</a:t>
            </a:r>
            <a:endParaRPr lang="en-US" altLang="zh-CN" sz="24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en-US" altLang="zh-CN" sz="2400" b="1" dirty="0">
                <a:solidFill>
                  <a:srgbClr val="FFFF00"/>
                </a:solidFill>
                <a:ea typeface="华文楷体" panose="02010600040101010101" pitchFamily="2" charset="-122"/>
              </a:rPr>
              <a:t>s1.swap(s2)</a:t>
            </a:r>
            <a:r>
              <a:rPr lang="zh-CN" altLang="en-US" sz="2400" b="1" dirty="0">
                <a:ea typeface="华文楷体" panose="02010600040101010101" pitchFamily="2" charset="-122"/>
              </a:rPr>
              <a:t>：将</a:t>
            </a:r>
            <a:r>
              <a:rPr lang="en-US" altLang="zh-CN" sz="2400" b="1" dirty="0">
                <a:ea typeface="华文楷体" panose="02010600040101010101" pitchFamily="2" charset="-122"/>
              </a:rPr>
              <a:t>s1</a:t>
            </a:r>
            <a:r>
              <a:rPr lang="zh-CN" altLang="en-US" sz="2400" b="1" dirty="0">
                <a:ea typeface="华文楷体" panose="02010600040101010101" pitchFamily="2" charset="-122"/>
              </a:rPr>
              <a:t>和</a:t>
            </a:r>
            <a:r>
              <a:rPr lang="en-US" altLang="zh-CN" sz="2400" b="1" dirty="0">
                <a:ea typeface="华文楷体" panose="02010600040101010101" pitchFamily="2" charset="-122"/>
              </a:rPr>
              <a:t>s2</a:t>
            </a:r>
            <a:r>
              <a:rPr lang="zh-CN" altLang="en-US" sz="2400" b="1" dirty="0">
                <a:ea typeface="华文楷体" panose="02010600040101010101" pitchFamily="2" charset="-122"/>
              </a:rPr>
              <a:t>两容器内容交换</a:t>
            </a:r>
            <a:endParaRPr lang="en-US" altLang="zh-CN" sz="2400" b="1" dirty="0">
              <a:ea typeface="华文楷体" panose="02010600040101010101" pitchFamily="2" charset="-122"/>
            </a:endParaRPr>
          </a:p>
          <a:p>
            <a:pPr>
              <a:spcBef>
                <a:spcPts val="0"/>
              </a:spcBef>
              <a:spcAft>
                <a:spcPts val="0"/>
              </a:spcAft>
            </a:pPr>
            <a:r>
              <a:rPr lang="zh-CN" altLang="en-US" sz="2400" b="1" dirty="0">
                <a:ea typeface="华文楷体" panose="02010600040101010101" pitchFamily="2" charset="-122"/>
              </a:rPr>
              <a:t>相关数据类型（</a:t>
            </a:r>
            <a:r>
              <a:rPr lang="en-US" altLang="zh-CN" sz="2400" b="1" dirty="0">
                <a:ea typeface="华文楷体" panose="02010600040101010101" pitchFamily="2" charset="-122"/>
              </a:rPr>
              <a:t>S</a:t>
            </a:r>
            <a:r>
              <a:rPr lang="zh-CN" altLang="en-US" sz="2400" b="1" dirty="0">
                <a:ea typeface="华文楷体" panose="02010600040101010101" pitchFamily="2" charset="-122"/>
              </a:rPr>
              <a:t>表示容器类型）</a:t>
            </a:r>
            <a:endParaRPr lang="en-US" altLang="zh-CN" sz="24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en-US" altLang="zh-CN" sz="2400" b="1" dirty="0">
                <a:solidFill>
                  <a:srgbClr val="FFFF00"/>
                </a:solidFill>
                <a:ea typeface="华文楷体" panose="02010600040101010101" pitchFamily="2" charset="-122"/>
              </a:rPr>
              <a:t>S::</a:t>
            </a:r>
            <a:r>
              <a:rPr lang="en-US" altLang="zh-CN" sz="2400" b="1" dirty="0" err="1">
                <a:solidFill>
                  <a:srgbClr val="FFFF00"/>
                </a:solidFill>
                <a:ea typeface="华文楷体" panose="02010600040101010101" pitchFamily="2" charset="-122"/>
              </a:rPr>
              <a:t>iterator</a:t>
            </a:r>
            <a:r>
              <a:rPr lang="zh-CN" altLang="en-US" sz="2400" b="1" dirty="0">
                <a:ea typeface="华文楷体" panose="02010600040101010101" pitchFamily="2" charset="-122"/>
              </a:rPr>
              <a:t>：指向容器元素的迭代器类型</a:t>
            </a:r>
            <a:endParaRPr lang="en-US" altLang="zh-CN" sz="24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en-US" altLang="zh-CN" sz="2400" b="1" dirty="0">
                <a:solidFill>
                  <a:srgbClr val="FFFF00"/>
                </a:solidFill>
                <a:ea typeface="华文楷体" panose="02010600040101010101" pitchFamily="2" charset="-122"/>
              </a:rPr>
              <a:t>S::</a:t>
            </a:r>
            <a:r>
              <a:rPr lang="en-US" altLang="zh-CN" sz="2400" b="1" dirty="0" err="1">
                <a:solidFill>
                  <a:srgbClr val="FFFF00"/>
                </a:solidFill>
                <a:ea typeface="华文楷体" panose="02010600040101010101" pitchFamily="2" charset="-122"/>
              </a:rPr>
              <a:t>const_iterator</a:t>
            </a:r>
            <a:r>
              <a:rPr lang="zh-CN" altLang="en-US" sz="2400" b="1" dirty="0">
                <a:ea typeface="华文楷体" panose="02010600040101010101" pitchFamily="2" charset="-122"/>
              </a:rPr>
              <a:t>：常迭代器类型</a:t>
            </a:r>
            <a:endParaRPr lang="en-US" altLang="zh-CN" sz="2400" b="1" dirty="0">
              <a:ea typeface="华文楷体" panose="0201060004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可逆容器、随机访问容器</a:t>
            </a:r>
            <a:endParaRPr lang="zh-CN" altLang="en-US" sz="4400" b="1">
              <a:latin typeface="Times New Roman" panose="02020603050405020304" pitchFamily="18" charset="0"/>
              <a:ea typeface="隶书" panose="02010509060101010101" pitchFamily="49" charset="-122"/>
            </a:endParaRPr>
          </a:p>
        </p:txBody>
      </p:sp>
      <p:sp>
        <p:nvSpPr>
          <p:cNvPr id="30723" name="内容占位符 2"/>
          <p:cNvSpPr>
            <a:spLocks noGrp="1"/>
          </p:cNvSpPr>
          <p:nvPr>
            <p:ph idx="1"/>
          </p:nvPr>
        </p:nvSpPr>
        <p:spPr>
          <a:xfrm>
            <a:off x="611560" y="1556792"/>
            <a:ext cx="7886700" cy="4351338"/>
          </a:xfrm>
        </p:spPr>
        <p:txBody>
          <a:bodyPr/>
          <a:lstStyle/>
          <a:p>
            <a:pPr>
              <a:lnSpc>
                <a:spcPct val="150000"/>
              </a:lnSpc>
              <a:spcAft>
                <a:spcPct val="25000"/>
              </a:spcAft>
            </a:pPr>
            <a:r>
              <a:rPr lang="zh-CN" altLang="en-US" sz="2400" b="1" dirty="0">
                <a:ea typeface="华文楷体" panose="02010600040101010101" pitchFamily="2" charset="-122"/>
              </a:rPr>
              <a:t>可逆容器</a:t>
            </a:r>
            <a:endParaRPr lang="en-US" altLang="zh-CN" sz="2400" b="1" dirty="0">
              <a:ea typeface="华文楷体" panose="02010600040101010101" pitchFamily="2" charset="-122"/>
            </a:endParaRPr>
          </a:p>
          <a:p>
            <a:pPr lvl="1">
              <a:lnSpc>
                <a:spcPct val="150000"/>
              </a:lnSpc>
              <a:buFont typeface="Wingdings" panose="05000000000000000000" pitchFamily="2" charset="2"/>
              <a:buChar char="ü"/>
            </a:pPr>
            <a:r>
              <a:rPr lang="en-US" altLang="zh-CN" sz="2400" b="1" dirty="0">
                <a:solidFill>
                  <a:srgbClr val="FFFF00"/>
                </a:solidFill>
                <a:ea typeface="华文楷体" panose="02010600040101010101" pitchFamily="2" charset="-122"/>
              </a:rPr>
              <a:t>S::reverse_iterator</a:t>
            </a:r>
            <a:r>
              <a:rPr lang="zh-CN" altLang="en-US" sz="2400" b="1" dirty="0">
                <a:ea typeface="华文楷体" panose="02010600040101010101" pitchFamily="2" charset="-122"/>
              </a:rPr>
              <a:t>：逆向迭代器类型</a:t>
            </a:r>
            <a:endParaRPr lang="en-US" altLang="zh-CN" sz="2400" b="1" dirty="0">
              <a:ea typeface="华文楷体" panose="02010600040101010101" pitchFamily="2" charset="-122"/>
            </a:endParaRPr>
          </a:p>
          <a:p>
            <a:pPr lvl="1">
              <a:lnSpc>
                <a:spcPct val="150000"/>
              </a:lnSpc>
              <a:buFont typeface="Wingdings" panose="05000000000000000000" pitchFamily="2" charset="2"/>
              <a:buChar char="ü"/>
            </a:pPr>
            <a:r>
              <a:rPr lang="en-US" altLang="zh-CN" sz="2400" b="1" dirty="0">
                <a:solidFill>
                  <a:srgbClr val="FFFF00"/>
                </a:solidFill>
                <a:ea typeface="华文楷体" panose="02010600040101010101" pitchFamily="2" charset="-122"/>
              </a:rPr>
              <a:t>S::const_reverse_iterator</a:t>
            </a:r>
            <a:r>
              <a:rPr lang="zh-CN" altLang="en-US" sz="2400" b="1" dirty="0">
                <a:ea typeface="华文楷体" panose="02010600040101010101" pitchFamily="2" charset="-122"/>
              </a:rPr>
              <a:t>：逆向常迭代器类型</a:t>
            </a:r>
            <a:endParaRPr lang="en-US" altLang="zh-CN" sz="2400" b="1" dirty="0">
              <a:ea typeface="华文楷体" panose="02010600040101010101" pitchFamily="2" charset="-122"/>
            </a:endParaRPr>
          </a:p>
          <a:p>
            <a:pPr lvl="1">
              <a:lnSpc>
                <a:spcPct val="150000"/>
              </a:lnSpc>
              <a:buFont typeface="Wingdings" panose="05000000000000000000" pitchFamily="2" charset="2"/>
              <a:buChar char="ü"/>
            </a:pPr>
            <a:r>
              <a:rPr lang="en-US" altLang="zh-CN" sz="2400" b="1" dirty="0" err="1">
                <a:solidFill>
                  <a:srgbClr val="FFFF00"/>
                </a:solidFill>
                <a:ea typeface="华文楷体" panose="02010600040101010101" pitchFamily="2" charset="-122"/>
              </a:rPr>
              <a:t>rbegin</a:t>
            </a:r>
            <a:r>
              <a:rPr lang="en-US" altLang="zh-CN" sz="2400" b="1" dirty="0">
                <a:solidFill>
                  <a:srgbClr val="FFFF00"/>
                </a:solidFill>
                <a:ea typeface="华文楷体" panose="02010600040101010101" pitchFamily="2" charset="-122"/>
              </a:rPr>
              <a:t>()</a:t>
            </a:r>
            <a:r>
              <a:rPr lang="zh-CN" altLang="en-US" sz="2400" b="1" dirty="0">
                <a:solidFill>
                  <a:srgbClr val="FFFF00"/>
                </a:solidFill>
                <a:ea typeface="华文楷体" panose="02010600040101010101" pitchFamily="2" charset="-122"/>
              </a:rPr>
              <a:t> </a:t>
            </a:r>
            <a:r>
              <a:rPr lang="zh-CN" altLang="en-US" sz="2400" b="1" dirty="0">
                <a:ea typeface="华文楷体" panose="02010600040101010101" pitchFamily="2" charset="-122"/>
              </a:rPr>
              <a:t>：指向容器尾的逆向迭代器</a:t>
            </a:r>
            <a:endParaRPr lang="en-US" altLang="zh-CN" sz="2400" b="1" dirty="0">
              <a:ea typeface="华文楷体" panose="02010600040101010101" pitchFamily="2" charset="-122"/>
            </a:endParaRPr>
          </a:p>
          <a:p>
            <a:pPr lvl="1">
              <a:lnSpc>
                <a:spcPct val="150000"/>
              </a:lnSpc>
              <a:buFont typeface="Wingdings" panose="05000000000000000000" pitchFamily="2" charset="2"/>
              <a:buChar char="ü"/>
            </a:pPr>
            <a:r>
              <a:rPr lang="en-US" altLang="zh-CN" sz="2400" b="1" dirty="0">
                <a:solidFill>
                  <a:srgbClr val="FFFF00"/>
                </a:solidFill>
                <a:ea typeface="华文楷体" panose="02010600040101010101" pitchFamily="2" charset="-122"/>
              </a:rPr>
              <a:t>rend()</a:t>
            </a:r>
            <a:r>
              <a:rPr lang="zh-CN" altLang="en-US" sz="2400" b="1" dirty="0">
                <a:ea typeface="华文楷体" panose="02010600040101010101" pitchFamily="2" charset="-122"/>
              </a:rPr>
              <a:t>：指向容器首的逆向迭代器</a:t>
            </a:r>
            <a:endParaRPr lang="en-US" altLang="zh-CN"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随机访问容器</a:t>
            </a:r>
            <a:endParaRPr lang="en-US" altLang="zh-CN" sz="2400" b="1" dirty="0">
              <a:ea typeface="华文楷体" panose="02010600040101010101" pitchFamily="2" charset="-122"/>
            </a:endParaRPr>
          </a:p>
          <a:p>
            <a:pPr lvl="1">
              <a:lnSpc>
                <a:spcPct val="150000"/>
              </a:lnSpc>
              <a:buFont typeface="Wingdings" panose="05000000000000000000" pitchFamily="2" charset="2"/>
              <a:buChar char="ü"/>
            </a:pPr>
            <a:r>
              <a:rPr lang="en-US" altLang="zh-CN" sz="2400" b="1" dirty="0">
                <a:solidFill>
                  <a:srgbClr val="FFFF00"/>
                </a:solidFill>
                <a:ea typeface="华文楷体" panose="02010600040101010101" pitchFamily="2" charset="-122"/>
              </a:rPr>
              <a:t>s[n]</a:t>
            </a:r>
            <a:r>
              <a:rPr lang="zh-CN" altLang="en-US" sz="2400" b="1" dirty="0">
                <a:ea typeface="华文楷体" panose="02010600040101010101" pitchFamily="2" charset="-122"/>
              </a:rPr>
              <a:t>：获得容器</a:t>
            </a:r>
            <a:r>
              <a:rPr lang="en-US" altLang="zh-CN" sz="2400" b="1" dirty="0">
                <a:ea typeface="华文楷体" panose="02010600040101010101" pitchFamily="2" charset="-122"/>
              </a:rPr>
              <a:t>s</a:t>
            </a:r>
            <a:r>
              <a:rPr lang="zh-CN" altLang="en-US" sz="2400" b="1" dirty="0">
                <a:ea typeface="华文楷体" panose="02010600040101010101" pitchFamily="2" charset="-122"/>
              </a:rPr>
              <a:t>的第</a:t>
            </a:r>
            <a:r>
              <a:rPr lang="en-US" altLang="zh-CN" sz="2400" b="1" dirty="0">
                <a:ea typeface="华文楷体" panose="02010600040101010101" pitchFamily="2" charset="-122"/>
              </a:rPr>
              <a:t>n</a:t>
            </a:r>
            <a:r>
              <a:rPr lang="zh-CN" altLang="en-US" sz="2400" b="1" dirty="0">
                <a:ea typeface="华文楷体" panose="02010600040101010101" pitchFamily="2" charset="-122"/>
              </a:rPr>
              <a:t>个元素</a:t>
            </a:r>
            <a:endParaRPr lang="zh-CN" altLang="en-US" sz="2400" b="1" dirty="0">
              <a:ea typeface="华文楷体" panose="0201060004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bwMode="auto">
          <a:xfrm>
            <a:off x="611560" y="2060848"/>
            <a:ext cx="7990656"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4"/>
            </a:pPr>
            <a:r>
              <a:rPr lang="zh-CN" altLang="en-US" sz="6000" b="1" dirty="0">
                <a:ea typeface="华文彩云" panose="02010800040101010101" pitchFamily="2" charset="-122"/>
              </a:rPr>
              <a:t>顺序容器</a:t>
            </a:r>
            <a:endParaRPr lang="zh-CN" altLang="en-US" sz="6000" dirty="0"/>
          </a:p>
        </p:txBody>
      </p:sp>
      <p:pic>
        <p:nvPicPr>
          <p:cNvPr id="641032" name="Picture 8" descr="surfer4"/>
          <p:cNvPicPr>
            <a:picLocks noChangeAspect="1" noChangeArrowheads="1" noCrop="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372200" y="3933056"/>
            <a:ext cx="2000251"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pPr eaLnBrk="1" hangingPunct="1"/>
            <a:r>
              <a:rPr lang="zh-CN" altLang="en-US"/>
              <a:t>顺序容器的基本功能</a:t>
            </a:r>
            <a:endParaRPr lang="zh-CN" alt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顺序容器</a:t>
            </a:r>
            <a:endParaRPr lang="zh-CN" altLang="en-US"/>
          </a:p>
        </p:txBody>
      </p:sp>
      <p:sp>
        <p:nvSpPr>
          <p:cNvPr id="6" name="内容占位符 5"/>
          <p:cNvSpPr>
            <a:spLocks noGrp="1"/>
          </p:cNvSpPr>
          <p:nvPr>
            <p:ph idx="1"/>
          </p:nvPr>
        </p:nvSpPr>
        <p:spPr>
          <a:xfrm>
            <a:off x="605805" y="1268760"/>
            <a:ext cx="8230076" cy="3167069"/>
          </a:xfrm>
        </p:spPr>
        <p:txBody>
          <a:bodyPr/>
          <a:lstStyle/>
          <a:p>
            <a:r>
              <a:rPr lang="en-US" altLang="zh-CN" sz="2400" b="1" dirty="0">
                <a:ea typeface="微软雅黑" panose="020B0503020204020204" pitchFamily="34" charset="-122"/>
              </a:rPr>
              <a:t>STL</a:t>
            </a:r>
            <a:r>
              <a:rPr lang="zh-CN" altLang="en-US" sz="2400" b="1" dirty="0">
                <a:ea typeface="微软雅黑" panose="020B0503020204020204" pitchFamily="34" charset="-122"/>
              </a:rPr>
              <a:t>中的顺序容器</a:t>
            </a:r>
            <a:endParaRPr lang="en-US" altLang="zh-CN" sz="2400" b="1" dirty="0">
              <a:ea typeface="微软雅黑" panose="020B0503020204020204" pitchFamily="34" charset="-122"/>
            </a:endParaRPr>
          </a:p>
          <a:p>
            <a:pPr lvl="1"/>
            <a:r>
              <a:rPr lang="zh-CN" altLang="en-US" sz="2400" b="1" dirty="0">
                <a:ea typeface="微软雅黑" panose="020B0503020204020204" pitchFamily="34" charset="-122"/>
              </a:rPr>
              <a:t>向量（</a:t>
            </a:r>
            <a:r>
              <a:rPr lang="en-US" altLang="zh-CN" sz="2400" b="1" dirty="0">
                <a:ea typeface="微软雅黑" panose="020B0503020204020204" pitchFamily="34" charset="-122"/>
              </a:rPr>
              <a:t>vector</a:t>
            </a:r>
            <a:r>
              <a:rPr lang="zh-CN" altLang="en-US" sz="2400" b="1" dirty="0">
                <a:ea typeface="微软雅黑" panose="020B0503020204020204" pitchFamily="34" charset="-122"/>
              </a:rPr>
              <a:t>）</a:t>
            </a:r>
            <a:endParaRPr lang="en-US" altLang="zh-CN" sz="2400" b="1" dirty="0">
              <a:ea typeface="微软雅黑" panose="020B0503020204020204" pitchFamily="34" charset="-122"/>
            </a:endParaRPr>
          </a:p>
          <a:p>
            <a:pPr lvl="1"/>
            <a:r>
              <a:rPr lang="zh-CN" altLang="en-US" sz="2400" b="1" dirty="0">
                <a:ea typeface="微软雅黑" panose="020B0503020204020204" pitchFamily="34" charset="-122"/>
              </a:rPr>
              <a:t>双端队列（</a:t>
            </a:r>
            <a:r>
              <a:rPr lang="en-US" altLang="zh-CN" sz="2400" b="1" dirty="0">
                <a:ea typeface="微软雅黑" panose="020B0503020204020204" pitchFamily="34" charset="-122"/>
              </a:rPr>
              <a:t>deque</a:t>
            </a:r>
            <a:r>
              <a:rPr lang="zh-CN" altLang="en-US" sz="2400" b="1" dirty="0">
                <a:ea typeface="微软雅黑" panose="020B0503020204020204" pitchFamily="34" charset="-122"/>
              </a:rPr>
              <a:t>）</a:t>
            </a:r>
            <a:endParaRPr lang="en-US" altLang="zh-CN" sz="2400" b="1" dirty="0">
              <a:ea typeface="微软雅黑" panose="020B0503020204020204" pitchFamily="34" charset="-122"/>
            </a:endParaRPr>
          </a:p>
          <a:p>
            <a:pPr lvl="1"/>
            <a:r>
              <a:rPr lang="zh-CN" altLang="en-US" sz="2400" b="1" dirty="0">
                <a:ea typeface="微软雅黑" panose="020B0503020204020204" pitchFamily="34" charset="-122"/>
              </a:rPr>
              <a:t>列表（</a:t>
            </a:r>
            <a:r>
              <a:rPr lang="en-US" altLang="zh-CN" sz="2400" b="1" dirty="0">
                <a:ea typeface="微软雅黑" panose="020B0503020204020204" pitchFamily="34" charset="-122"/>
              </a:rPr>
              <a:t>list</a:t>
            </a:r>
            <a:r>
              <a:rPr lang="zh-CN" altLang="en-US" sz="2400" b="1" dirty="0">
                <a:ea typeface="微软雅黑" panose="020B0503020204020204" pitchFamily="34" charset="-122"/>
              </a:rPr>
              <a:t>）</a:t>
            </a:r>
            <a:endParaRPr lang="en-US" altLang="zh-CN" sz="2400" b="1" dirty="0">
              <a:ea typeface="微软雅黑" panose="020B0503020204020204" pitchFamily="34" charset="-122"/>
            </a:endParaRPr>
          </a:p>
          <a:p>
            <a:pPr lvl="1"/>
            <a:r>
              <a:rPr lang="zh-CN" altLang="en-US" sz="2400" b="1" dirty="0">
                <a:ea typeface="微软雅黑" panose="020B0503020204020204" pitchFamily="34" charset="-122"/>
              </a:rPr>
              <a:t>单向链表（</a:t>
            </a:r>
            <a:r>
              <a:rPr lang="en-US" altLang="zh-CN" sz="2400" b="1" dirty="0" err="1">
                <a:ea typeface="微软雅黑" panose="020B0503020204020204" pitchFamily="34" charset="-122"/>
              </a:rPr>
              <a:t>forward_list</a:t>
            </a:r>
            <a:r>
              <a:rPr lang="zh-CN" altLang="en-US" sz="2400" b="1" dirty="0">
                <a:ea typeface="微软雅黑" panose="020B0503020204020204" pitchFamily="34" charset="-122"/>
              </a:rPr>
              <a:t>）</a:t>
            </a:r>
            <a:endParaRPr lang="en-US" altLang="zh-CN" sz="2400" b="1" dirty="0">
              <a:ea typeface="微软雅黑" panose="020B0503020204020204" pitchFamily="34" charset="-122"/>
            </a:endParaRPr>
          </a:p>
          <a:p>
            <a:pPr lvl="1"/>
            <a:r>
              <a:rPr lang="zh-CN" altLang="en-US" sz="2400" b="1" dirty="0">
                <a:ea typeface="微软雅黑" panose="020B0503020204020204" pitchFamily="34" charset="-122"/>
              </a:rPr>
              <a:t>数组（</a:t>
            </a:r>
            <a:r>
              <a:rPr lang="en-US" altLang="zh-CN" sz="2400" b="1" dirty="0">
                <a:ea typeface="微软雅黑" panose="020B0503020204020204" pitchFamily="34" charset="-122"/>
              </a:rPr>
              <a:t>array</a:t>
            </a:r>
            <a:r>
              <a:rPr lang="zh-CN" altLang="en-US" sz="2400" b="1" dirty="0">
                <a:ea typeface="微软雅黑" panose="020B0503020204020204" pitchFamily="34" charset="-122"/>
              </a:rPr>
              <a:t>）</a:t>
            </a:r>
            <a:endParaRPr lang="en-US" altLang="zh-CN" sz="2400" b="1" dirty="0">
              <a:ea typeface="微软雅黑" panose="020B0503020204020204" pitchFamily="34" charset="-122"/>
            </a:endParaRPr>
          </a:p>
          <a:p>
            <a:r>
              <a:rPr lang="zh-CN" altLang="en-US" sz="2400" b="1" dirty="0">
                <a:ea typeface="微软雅黑" panose="020B0503020204020204" pitchFamily="34" charset="-122"/>
              </a:rPr>
              <a:t>元素线性排列，可以随时在指定位置插入元素和删除元素。</a:t>
            </a:r>
            <a:endParaRPr lang="en-US" altLang="zh-CN" sz="2400" b="1" dirty="0">
              <a:ea typeface="微软雅黑" panose="020B0503020204020204" pitchFamily="34" charset="-122"/>
            </a:endParaRPr>
          </a:p>
          <a:p>
            <a:r>
              <a:rPr lang="zh-CN" altLang="en-US" sz="2400" b="1" dirty="0">
                <a:ea typeface="微软雅黑" panose="020B0503020204020204" pitchFamily="34" charset="-122"/>
              </a:rPr>
              <a:t>必须符合</a:t>
            </a:r>
            <a:r>
              <a:rPr lang="en-US" altLang="zh-CN" sz="2400" b="1" dirty="0">
                <a:ea typeface="微软雅黑" panose="020B0503020204020204" pitchFamily="34" charset="-122"/>
              </a:rPr>
              <a:t>Assignable</a:t>
            </a:r>
            <a:r>
              <a:rPr lang="zh-CN" altLang="en-US" sz="2400" b="1" dirty="0">
                <a:ea typeface="微软雅黑" panose="020B0503020204020204" pitchFamily="34" charset="-122"/>
              </a:rPr>
              <a:t>这一概念（即具有公有的复制构造函数并可以用“</a:t>
            </a:r>
            <a:r>
              <a:rPr lang="en-US" altLang="zh-CN" sz="2400" b="1" dirty="0">
                <a:ea typeface="微软雅黑" panose="020B0503020204020204" pitchFamily="34" charset="-122"/>
              </a:rPr>
              <a:t>=”</a:t>
            </a:r>
            <a:r>
              <a:rPr lang="zh-CN" altLang="en-US" sz="2400" b="1" dirty="0">
                <a:ea typeface="微软雅黑" panose="020B0503020204020204" pitchFamily="34" charset="-122"/>
              </a:rPr>
              <a:t>赋值）。</a:t>
            </a:r>
            <a:endParaRPr lang="en-US" altLang="zh-CN" sz="2400" b="1" dirty="0">
              <a:ea typeface="微软雅黑" panose="020B0503020204020204" pitchFamily="34" charset="-122"/>
            </a:endParaRPr>
          </a:p>
          <a:p>
            <a:r>
              <a:rPr lang="en-US" altLang="zh-CN" sz="2400" b="1" dirty="0">
                <a:ea typeface="微软雅黑" panose="020B0503020204020204" pitchFamily="34" charset="-122"/>
              </a:rPr>
              <a:t>array</a:t>
            </a:r>
            <a:r>
              <a:rPr lang="zh-CN" altLang="en-US" sz="2400" b="1" dirty="0">
                <a:ea typeface="微软雅黑" panose="020B0503020204020204" pitchFamily="34" charset="-122"/>
              </a:rPr>
              <a:t>对象的大小固定，</a:t>
            </a:r>
            <a:r>
              <a:rPr lang="en-US" altLang="zh-CN" sz="2400" b="1" dirty="0" err="1">
                <a:ea typeface="微软雅黑" panose="020B0503020204020204" pitchFamily="34" charset="-122"/>
              </a:rPr>
              <a:t>forward_list</a:t>
            </a:r>
            <a:r>
              <a:rPr lang="zh-CN" altLang="en-US" sz="2400" b="1" dirty="0">
                <a:ea typeface="微软雅黑" panose="020B0503020204020204" pitchFamily="34" charset="-122"/>
              </a:rPr>
              <a:t>有特殊的添加和删除操作。</a:t>
            </a:r>
            <a:endParaRPr lang="zh-CN" altLang="en-US" sz="2400" b="1" dirty="0">
              <a:ea typeface="微软雅黑" panose="020B0503020204020204" pitchFamily="34" charset="-122"/>
            </a:endParaRPr>
          </a:p>
        </p:txBody>
      </p:sp>
      <p:sp>
        <p:nvSpPr>
          <p:cNvPr id="7" name="右大括号 6"/>
          <p:cNvSpPr/>
          <p:nvPr/>
        </p:nvSpPr>
        <p:spPr>
          <a:xfrm>
            <a:off x="4471182" y="2042626"/>
            <a:ext cx="201635" cy="80966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800"/>
          </a:p>
        </p:txBody>
      </p:sp>
      <p:sp>
        <p:nvSpPr>
          <p:cNvPr id="8" name="文本框 7"/>
          <p:cNvSpPr txBox="1"/>
          <p:nvPr/>
        </p:nvSpPr>
        <p:spPr>
          <a:xfrm>
            <a:off x="4831014" y="2409721"/>
            <a:ext cx="4339651" cy="369204"/>
          </a:xfrm>
          <a:prstGeom prst="rect">
            <a:avLst/>
          </a:prstGeom>
          <a:noFill/>
        </p:spPr>
        <p:txBody>
          <a:bodyPr wrap="none" rtlCol="0">
            <a:spAutoFit/>
          </a:bodyPr>
          <a:lstStyle/>
          <a:p>
            <a:r>
              <a:rPr lang="zh-CN" altLang="zh-CN" sz="1800" dirty="0">
                <a:latin typeface="微软雅黑" panose="020B0503020204020204" pitchFamily="34" charset="-122"/>
                <a:ea typeface="微软雅黑" panose="020B0503020204020204" pitchFamily="34" charset="-122"/>
              </a:rPr>
              <a:t>在逻辑上可看作是一个长度可扩展的数组</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611560" y="404664"/>
            <a:ext cx="8325313" cy="799683"/>
          </a:xfrm>
        </p:spPr>
        <p:txBody>
          <a:bodyPr/>
          <a:lstStyle/>
          <a:p>
            <a:r>
              <a:rPr lang="zh-CN" altLang="en-US" b="1" dirty="0"/>
              <a:t>顺序容器的接口</a:t>
            </a:r>
            <a:r>
              <a:rPr lang="zh-CN" altLang="en-US" sz="1800" b="1" dirty="0"/>
              <a:t>（不包含单向链表（</a:t>
            </a:r>
            <a:r>
              <a:rPr lang="en-US" altLang="zh-CN" sz="1800" b="1" dirty="0" err="1"/>
              <a:t>forward_list</a:t>
            </a:r>
            <a:r>
              <a:rPr lang="zh-CN" altLang="en-US" sz="1800" b="1" dirty="0"/>
              <a:t>）和数组（</a:t>
            </a:r>
            <a:r>
              <a:rPr lang="en-US" altLang="zh-CN" sz="1800" b="1" dirty="0"/>
              <a:t>array</a:t>
            </a:r>
            <a:r>
              <a:rPr lang="zh-CN" altLang="en-US" sz="1800" b="1" dirty="0"/>
              <a:t>））</a:t>
            </a:r>
            <a:endParaRPr lang="zh-CN" altLang="en-US" sz="2700" b="1" dirty="0"/>
          </a:p>
        </p:txBody>
      </p:sp>
      <p:sp>
        <p:nvSpPr>
          <p:cNvPr id="40963" name="内容占位符 2"/>
          <p:cNvSpPr>
            <a:spLocks noGrp="1"/>
          </p:cNvSpPr>
          <p:nvPr>
            <p:ph idx="1"/>
          </p:nvPr>
        </p:nvSpPr>
        <p:spPr>
          <a:xfrm>
            <a:off x="395536" y="1484784"/>
            <a:ext cx="8230076" cy="3382981"/>
          </a:xfrm>
        </p:spPr>
        <p:txBody>
          <a:bodyPr/>
          <a:lstStyle/>
          <a:p>
            <a:r>
              <a:rPr lang="zh-CN" altLang="en-US" sz="2400" b="1" dirty="0">
                <a:ea typeface="微软雅黑" panose="020B0503020204020204" pitchFamily="34" charset="-122"/>
              </a:rPr>
              <a:t>构造函数</a:t>
            </a:r>
            <a:endParaRPr lang="en-US" altLang="zh-CN" sz="2400" b="1" dirty="0">
              <a:ea typeface="微软雅黑" panose="020B0503020204020204" pitchFamily="34" charset="-122"/>
            </a:endParaRPr>
          </a:p>
          <a:p>
            <a:pPr lvl="1"/>
            <a:r>
              <a:rPr lang="zh-CN" altLang="en-US" sz="2400" b="1" dirty="0">
                <a:solidFill>
                  <a:srgbClr val="FFFF00"/>
                </a:solidFill>
                <a:ea typeface="微软雅黑" panose="020B0503020204020204" pitchFamily="34" charset="-122"/>
              </a:rPr>
              <a:t>列表初始化，如</a:t>
            </a:r>
            <a:r>
              <a:rPr lang="en-US" altLang="zh-CN" sz="2400" b="1" dirty="0">
                <a:solidFill>
                  <a:srgbClr val="FFFF00"/>
                </a:solidFill>
                <a:ea typeface="微软雅黑" panose="020B0503020204020204" pitchFamily="34" charset="-122"/>
              </a:rPr>
              <a:t>vector&lt;int&gt;</a:t>
            </a:r>
            <a:r>
              <a:rPr lang="zh-CN" altLang="en-US" sz="2400" b="1" dirty="0">
                <a:solidFill>
                  <a:srgbClr val="FFFF00"/>
                </a:solidFill>
                <a:ea typeface="微软雅黑" panose="020B0503020204020204" pitchFamily="34" charset="-122"/>
              </a:rPr>
              <a:t> </a:t>
            </a:r>
            <a:r>
              <a:rPr lang="en-US" altLang="zh-CN" sz="2400" b="1" dirty="0" err="1">
                <a:solidFill>
                  <a:srgbClr val="FFFF00"/>
                </a:solidFill>
                <a:ea typeface="微软雅黑" panose="020B0503020204020204" pitchFamily="34" charset="-122"/>
              </a:rPr>
              <a:t>arr</a:t>
            </a:r>
            <a:r>
              <a:rPr lang="zh-CN" altLang="en-US" sz="2400" b="1" dirty="0">
                <a:solidFill>
                  <a:srgbClr val="FFFF00"/>
                </a:solidFill>
                <a:ea typeface="微软雅黑" panose="020B0503020204020204" pitchFamily="34" charset="-122"/>
              </a:rPr>
              <a:t> </a:t>
            </a:r>
            <a:r>
              <a:rPr lang="en-US" altLang="zh-CN" sz="2400" b="1" dirty="0">
                <a:solidFill>
                  <a:srgbClr val="FFFF00"/>
                </a:solidFill>
                <a:ea typeface="微软雅黑" panose="020B0503020204020204" pitchFamily="34" charset="-122"/>
              </a:rPr>
              <a:t>=</a:t>
            </a:r>
            <a:r>
              <a:rPr lang="zh-CN" altLang="en-US" sz="2400" b="1" dirty="0">
                <a:solidFill>
                  <a:srgbClr val="FFFF00"/>
                </a:solidFill>
                <a:ea typeface="微软雅黑" panose="020B0503020204020204" pitchFamily="34" charset="-122"/>
              </a:rPr>
              <a:t> </a:t>
            </a:r>
            <a:r>
              <a:rPr lang="en-US" altLang="zh-CN" sz="2400" b="1" dirty="0">
                <a:solidFill>
                  <a:srgbClr val="FFFF00"/>
                </a:solidFill>
                <a:ea typeface="微软雅黑" panose="020B0503020204020204" pitchFamily="34" charset="-122"/>
              </a:rPr>
              <a:t>{1,4,5,7};</a:t>
            </a:r>
            <a:r>
              <a:rPr lang="zh-CN" altLang="en-US" sz="2400" b="1" dirty="0">
                <a:solidFill>
                  <a:srgbClr val="FFFF00"/>
                </a:solidFill>
                <a:ea typeface="微软雅黑" panose="020B0503020204020204" pitchFamily="34" charset="-122"/>
              </a:rPr>
              <a:t> </a:t>
            </a:r>
            <a:endParaRPr lang="en-US" altLang="zh-CN" sz="2400" b="1" dirty="0">
              <a:solidFill>
                <a:srgbClr val="FFFF00"/>
              </a:solidFill>
              <a:ea typeface="微软雅黑" panose="020B0503020204020204" pitchFamily="34" charset="-122"/>
            </a:endParaRPr>
          </a:p>
          <a:p>
            <a:r>
              <a:rPr lang="zh-CN" altLang="en-US" sz="2400" b="1" dirty="0">
                <a:ea typeface="微软雅黑" panose="020B0503020204020204" pitchFamily="34" charset="-122"/>
              </a:rPr>
              <a:t>赋值函数</a:t>
            </a:r>
            <a:endParaRPr lang="en-US" altLang="zh-CN" sz="2400" b="1" dirty="0">
              <a:ea typeface="微软雅黑" panose="020B0503020204020204" pitchFamily="34" charset="-122"/>
            </a:endParaRPr>
          </a:p>
          <a:p>
            <a:pPr lvl="1"/>
            <a:r>
              <a:rPr lang="en-US" altLang="zh-CN" sz="2400" b="1" dirty="0">
                <a:solidFill>
                  <a:srgbClr val="FFFF00"/>
                </a:solidFill>
                <a:ea typeface="微软雅黑" panose="020B0503020204020204" pitchFamily="34" charset="-122"/>
              </a:rPr>
              <a:t>assign</a:t>
            </a:r>
            <a:endParaRPr lang="en-US" altLang="zh-CN" sz="2400" b="1" dirty="0">
              <a:solidFill>
                <a:srgbClr val="FFFF00"/>
              </a:solidFill>
              <a:ea typeface="微软雅黑" panose="020B0503020204020204" pitchFamily="34" charset="-122"/>
            </a:endParaRPr>
          </a:p>
          <a:p>
            <a:r>
              <a:rPr lang="zh-CN" altLang="en-US" sz="2400" b="1" dirty="0">
                <a:ea typeface="微软雅黑" panose="020B0503020204020204" pitchFamily="34" charset="-122"/>
              </a:rPr>
              <a:t>插入函数</a:t>
            </a:r>
            <a:endParaRPr lang="zh-CN" altLang="en-US" sz="2400" b="1" dirty="0">
              <a:ea typeface="微软雅黑" panose="020B0503020204020204" pitchFamily="34" charset="-122"/>
            </a:endParaRPr>
          </a:p>
          <a:p>
            <a:pPr lvl="1"/>
            <a:r>
              <a:rPr lang="en-US" altLang="zh-CN" sz="2400" b="1" dirty="0">
                <a:solidFill>
                  <a:srgbClr val="FFFF00"/>
                </a:solidFill>
                <a:ea typeface="微软雅黑" panose="020B0503020204020204" pitchFamily="34" charset="-122"/>
              </a:rPr>
              <a:t>insert(iterator</a:t>
            </a:r>
            <a:r>
              <a:rPr lang="zh-CN" altLang="en-US" sz="2400" b="1" dirty="0">
                <a:solidFill>
                  <a:srgbClr val="FFFF00"/>
                </a:solidFill>
                <a:ea typeface="微软雅黑" panose="020B0503020204020204" pitchFamily="34" charset="-122"/>
              </a:rPr>
              <a:t> </a:t>
            </a:r>
            <a:r>
              <a:rPr lang="en-US" altLang="zh-CN" sz="2400" b="1" dirty="0">
                <a:solidFill>
                  <a:srgbClr val="FFFF00"/>
                </a:solidFill>
                <a:ea typeface="微软雅黑" panose="020B0503020204020204" pitchFamily="34" charset="-122"/>
              </a:rPr>
              <a:t>pos,</a:t>
            </a:r>
            <a:r>
              <a:rPr lang="zh-CN" altLang="en-US" sz="2400" b="1" dirty="0">
                <a:solidFill>
                  <a:srgbClr val="FFFF00"/>
                </a:solidFill>
                <a:ea typeface="微软雅黑" panose="020B0503020204020204" pitchFamily="34" charset="-122"/>
              </a:rPr>
              <a:t> </a:t>
            </a:r>
            <a:r>
              <a:rPr lang="en-US" altLang="zh-CN" sz="2400" b="1" dirty="0">
                <a:solidFill>
                  <a:srgbClr val="FFFF00"/>
                </a:solidFill>
                <a:ea typeface="微软雅黑" panose="020B0503020204020204" pitchFamily="34" charset="-122"/>
              </a:rPr>
              <a:t>const</a:t>
            </a:r>
            <a:r>
              <a:rPr lang="zh-CN" altLang="en-US" sz="2400" b="1" dirty="0">
                <a:solidFill>
                  <a:srgbClr val="FFFF00"/>
                </a:solidFill>
                <a:ea typeface="微软雅黑" panose="020B0503020204020204" pitchFamily="34" charset="-122"/>
              </a:rPr>
              <a:t> </a:t>
            </a:r>
            <a:r>
              <a:rPr lang="en-US" altLang="zh-CN" sz="2400" b="1" dirty="0">
                <a:solidFill>
                  <a:srgbClr val="FFFF00"/>
                </a:solidFill>
                <a:ea typeface="微软雅黑" panose="020B0503020204020204" pitchFamily="34" charset="-122"/>
              </a:rPr>
              <a:t>T&amp;</a:t>
            </a:r>
            <a:r>
              <a:rPr lang="zh-CN" altLang="en-US" sz="2400" b="1" dirty="0">
                <a:solidFill>
                  <a:srgbClr val="FFFF00"/>
                </a:solidFill>
                <a:ea typeface="微软雅黑" panose="020B0503020204020204" pitchFamily="34" charset="-122"/>
              </a:rPr>
              <a:t> </a:t>
            </a:r>
            <a:r>
              <a:rPr lang="en-US" altLang="zh-CN" sz="2400" b="1" dirty="0">
                <a:solidFill>
                  <a:srgbClr val="FFFF00"/>
                </a:solidFill>
                <a:ea typeface="微软雅黑" panose="020B0503020204020204" pitchFamily="34" charset="-122"/>
              </a:rPr>
              <a:t>v),</a:t>
            </a:r>
            <a:r>
              <a:rPr lang="zh-CN" altLang="en-US" sz="2400" b="1" dirty="0">
                <a:solidFill>
                  <a:srgbClr val="FFFF00"/>
                </a:solidFill>
                <a:ea typeface="微软雅黑" panose="020B0503020204020204" pitchFamily="34" charset="-122"/>
              </a:rPr>
              <a:t> 在</a:t>
            </a:r>
            <a:r>
              <a:rPr lang="en-US" altLang="zh-CN" sz="2400" b="1" dirty="0">
                <a:solidFill>
                  <a:srgbClr val="FFFF00"/>
                </a:solidFill>
                <a:ea typeface="微软雅黑" panose="020B0503020204020204" pitchFamily="34" charset="-122"/>
              </a:rPr>
              <a:t>pos</a:t>
            </a:r>
            <a:r>
              <a:rPr lang="zh-CN" altLang="en-US" sz="2400" b="1" dirty="0">
                <a:solidFill>
                  <a:srgbClr val="FFFF00"/>
                </a:solidFill>
                <a:ea typeface="微软雅黑" panose="020B0503020204020204" pitchFamily="34" charset="-122"/>
              </a:rPr>
              <a:t>位置插入后，返回新插入元素的迭代器</a:t>
            </a:r>
            <a:endParaRPr lang="en-US" altLang="zh-CN" sz="2400" b="1" dirty="0">
              <a:solidFill>
                <a:srgbClr val="FFFF00"/>
              </a:solidFill>
              <a:ea typeface="微软雅黑" panose="020B0503020204020204" pitchFamily="34" charset="-122"/>
            </a:endParaRPr>
          </a:p>
          <a:p>
            <a:pPr lvl="1"/>
            <a:r>
              <a:rPr lang="en-US" altLang="zh-CN" sz="2400" b="1" dirty="0" err="1">
                <a:solidFill>
                  <a:srgbClr val="FFFF00"/>
                </a:solidFill>
                <a:ea typeface="微软雅黑" panose="020B0503020204020204" pitchFamily="34" charset="-122"/>
              </a:rPr>
              <a:t>push_front</a:t>
            </a:r>
            <a:r>
              <a:rPr lang="zh-CN" altLang="en-US" sz="2400" b="1" dirty="0">
                <a:solidFill>
                  <a:srgbClr val="FFFF00"/>
                </a:solidFill>
                <a:ea typeface="微软雅黑" panose="020B0503020204020204" pitchFamily="34" charset="-122"/>
              </a:rPr>
              <a:t>（只对</a:t>
            </a:r>
            <a:r>
              <a:rPr lang="en-US" altLang="zh-CN" sz="2400" b="1" dirty="0">
                <a:solidFill>
                  <a:srgbClr val="FFFF00"/>
                </a:solidFill>
                <a:ea typeface="微软雅黑" panose="020B0503020204020204" pitchFamily="34" charset="-122"/>
              </a:rPr>
              <a:t>list</a:t>
            </a:r>
            <a:r>
              <a:rPr lang="zh-CN" altLang="en-US" sz="2400" b="1" dirty="0">
                <a:solidFill>
                  <a:srgbClr val="FFFF00"/>
                </a:solidFill>
                <a:ea typeface="微软雅黑" panose="020B0503020204020204" pitchFamily="34" charset="-122"/>
              </a:rPr>
              <a:t>和</a:t>
            </a:r>
            <a:r>
              <a:rPr lang="en-US" altLang="zh-CN" sz="2400" b="1" dirty="0">
                <a:solidFill>
                  <a:srgbClr val="FFFF00"/>
                </a:solidFill>
                <a:ea typeface="微软雅黑" panose="020B0503020204020204" pitchFamily="34" charset="-122"/>
              </a:rPr>
              <a:t>deque</a:t>
            </a:r>
            <a:r>
              <a:rPr lang="zh-CN" altLang="en-US" sz="2400" b="1" dirty="0">
                <a:solidFill>
                  <a:srgbClr val="FFFF00"/>
                </a:solidFill>
                <a:ea typeface="微软雅黑" panose="020B0503020204020204" pitchFamily="34" charset="-122"/>
              </a:rPr>
              <a:t>），</a:t>
            </a:r>
            <a:r>
              <a:rPr lang="en-US" altLang="zh-CN" sz="2400" b="1" dirty="0">
                <a:solidFill>
                  <a:srgbClr val="FFFF00"/>
                </a:solidFill>
                <a:ea typeface="微软雅黑" panose="020B0503020204020204" pitchFamily="34" charset="-122"/>
              </a:rPr>
              <a:t> </a:t>
            </a:r>
            <a:r>
              <a:rPr lang="en-US" altLang="zh-CN" sz="2400" b="1" dirty="0" err="1">
                <a:solidFill>
                  <a:srgbClr val="FFFF00"/>
                </a:solidFill>
                <a:ea typeface="微软雅黑" panose="020B0503020204020204" pitchFamily="34" charset="-122"/>
              </a:rPr>
              <a:t>push_back</a:t>
            </a:r>
            <a:r>
              <a:rPr lang="en-US" altLang="zh-CN" sz="2400" b="1" dirty="0">
                <a:solidFill>
                  <a:srgbClr val="FFFF00"/>
                </a:solidFill>
                <a:ea typeface="微软雅黑" panose="020B0503020204020204" pitchFamily="34" charset="-122"/>
              </a:rPr>
              <a:t>,</a:t>
            </a:r>
            <a:endParaRPr lang="en-US" altLang="zh-CN" sz="2400" b="1" dirty="0">
              <a:solidFill>
                <a:srgbClr val="FFFF00"/>
              </a:solidFill>
              <a:ea typeface="微软雅黑" panose="020B0503020204020204" pitchFamily="34" charset="-122"/>
            </a:endParaRPr>
          </a:p>
          <a:p>
            <a:pPr lvl="1"/>
            <a:r>
              <a:rPr lang="en-US" altLang="zh-CN" sz="2400" b="1" dirty="0" err="1">
                <a:solidFill>
                  <a:srgbClr val="FFFF00"/>
                </a:solidFill>
                <a:ea typeface="微软雅黑" panose="020B0503020204020204" pitchFamily="34" charset="-122"/>
              </a:rPr>
              <a:t>emplace_front</a:t>
            </a:r>
            <a:r>
              <a:rPr lang="zh-CN" altLang="en-US" sz="2400" b="1" dirty="0">
                <a:solidFill>
                  <a:srgbClr val="FFFF00"/>
                </a:solidFill>
                <a:ea typeface="微软雅黑" panose="020B0503020204020204" pitchFamily="34" charset="-122"/>
              </a:rPr>
              <a:t>、</a:t>
            </a:r>
            <a:r>
              <a:rPr lang="en-US" altLang="zh-CN" sz="2400" b="1" dirty="0">
                <a:solidFill>
                  <a:srgbClr val="FFFF00"/>
                </a:solidFill>
                <a:ea typeface="微软雅黑" panose="020B0503020204020204" pitchFamily="34" charset="-122"/>
              </a:rPr>
              <a:t>emplace </a:t>
            </a:r>
            <a:r>
              <a:rPr lang="zh-CN" altLang="en-US" sz="2400" b="1" dirty="0">
                <a:solidFill>
                  <a:srgbClr val="FFFF00"/>
                </a:solidFill>
                <a:ea typeface="微软雅黑" panose="020B0503020204020204" pitchFamily="34" charset="-122"/>
              </a:rPr>
              <a:t>和 </a:t>
            </a:r>
            <a:r>
              <a:rPr lang="en-US" altLang="zh-CN" sz="2400" b="1" dirty="0" err="1">
                <a:solidFill>
                  <a:srgbClr val="FFFF00"/>
                </a:solidFill>
                <a:ea typeface="微软雅黑" panose="020B0503020204020204" pitchFamily="34" charset="-122"/>
              </a:rPr>
              <a:t>emplace_back</a:t>
            </a:r>
            <a:r>
              <a:rPr lang="zh-CN" altLang="en-US" sz="2400" b="1" dirty="0">
                <a:solidFill>
                  <a:srgbClr val="FFFF00"/>
                </a:solidFill>
                <a:ea typeface="微软雅黑" panose="020B0503020204020204" pitchFamily="34" charset="-122"/>
              </a:rPr>
              <a:t>，这些操作构造而不是拷贝元素到容器中，这些操作分别对应</a:t>
            </a:r>
            <a:r>
              <a:rPr lang="en-US" altLang="zh-CN" sz="2400" b="1" dirty="0" err="1">
                <a:solidFill>
                  <a:srgbClr val="FFFF00"/>
                </a:solidFill>
                <a:ea typeface="微软雅黑" panose="020B0503020204020204" pitchFamily="34" charset="-122"/>
              </a:rPr>
              <a:t>push_front</a:t>
            </a:r>
            <a:r>
              <a:rPr lang="zh-CN" altLang="en-US" sz="2400" b="1" dirty="0">
                <a:solidFill>
                  <a:srgbClr val="FFFF00"/>
                </a:solidFill>
                <a:ea typeface="微软雅黑" panose="020B0503020204020204" pitchFamily="34" charset="-122"/>
              </a:rPr>
              <a:t>、</a:t>
            </a:r>
            <a:r>
              <a:rPr lang="en-US" altLang="zh-CN" sz="2400" b="1" dirty="0">
                <a:solidFill>
                  <a:srgbClr val="FFFF00"/>
                </a:solidFill>
                <a:ea typeface="微软雅黑" panose="020B0503020204020204" pitchFamily="34" charset="-122"/>
              </a:rPr>
              <a:t>insert </a:t>
            </a:r>
            <a:r>
              <a:rPr lang="zh-CN" altLang="en-US" sz="2400" b="1" dirty="0">
                <a:solidFill>
                  <a:srgbClr val="FFFF00"/>
                </a:solidFill>
                <a:ea typeface="微软雅黑" panose="020B0503020204020204" pitchFamily="34" charset="-122"/>
              </a:rPr>
              <a:t>和</a:t>
            </a:r>
            <a:r>
              <a:rPr lang="en-US" altLang="zh-CN" sz="2400" b="1" dirty="0" err="1">
                <a:solidFill>
                  <a:srgbClr val="FFFF00"/>
                </a:solidFill>
                <a:ea typeface="微软雅黑" panose="020B0503020204020204" pitchFamily="34" charset="-122"/>
              </a:rPr>
              <a:t>push_back</a:t>
            </a:r>
            <a:r>
              <a:rPr lang="zh-CN" altLang="en-US" sz="2400" b="1" dirty="0">
                <a:solidFill>
                  <a:srgbClr val="FFFF00"/>
                </a:solidFill>
                <a:ea typeface="微软雅黑" panose="020B0503020204020204" pitchFamily="34" charset="-122"/>
              </a:rPr>
              <a:t>，允许我们将元素放在容器头部、一个指定的位置和容器尾部。</a:t>
            </a:r>
            <a:endParaRPr lang="zh-CN" altLang="en-US" sz="2400" b="1" dirty="0">
              <a:solidFill>
                <a:srgbClr val="FFFF00"/>
              </a:solidFill>
              <a:ea typeface="微软雅黑" panose="020B0503020204020204" pitchFamily="34"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xfrm>
            <a:off x="628650" y="404664"/>
            <a:ext cx="8433269" cy="799683"/>
          </a:xfrm>
        </p:spPr>
        <p:txBody>
          <a:bodyPr/>
          <a:lstStyle/>
          <a:p>
            <a:r>
              <a:rPr lang="zh-CN" altLang="en-US" b="1" dirty="0"/>
              <a:t>顺序容器的接口</a:t>
            </a:r>
            <a:r>
              <a:rPr lang="zh-CN" altLang="en-US" sz="1800" b="1" dirty="0"/>
              <a:t>（不包含单向链表（</a:t>
            </a:r>
            <a:r>
              <a:rPr lang="en-US" altLang="zh-CN" sz="1800" b="1" dirty="0" err="1"/>
              <a:t>forward_list</a:t>
            </a:r>
            <a:r>
              <a:rPr lang="zh-CN" altLang="en-US" sz="1800" b="1" dirty="0"/>
              <a:t>）和数组（</a:t>
            </a:r>
            <a:r>
              <a:rPr lang="en-US" altLang="zh-CN" sz="1800" b="1" dirty="0"/>
              <a:t>array</a:t>
            </a:r>
            <a:r>
              <a:rPr lang="zh-CN" altLang="en-US" sz="1800" b="1" dirty="0"/>
              <a:t>））</a:t>
            </a:r>
            <a:endParaRPr lang="zh-CN" altLang="en-US" sz="1800" b="1" dirty="0"/>
          </a:p>
        </p:txBody>
      </p:sp>
      <p:sp>
        <p:nvSpPr>
          <p:cNvPr id="40963" name="内容占位符 2"/>
          <p:cNvSpPr>
            <a:spLocks noGrp="1"/>
          </p:cNvSpPr>
          <p:nvPr>
            <p:ph idx="1"/>
          </p:nvPr>
        </p:nvSpPr>
        <p:spPr/>
        <p:txBody>
          <a:bodyPr/>
          <a:lstStyle/>
          <a:p>
            <a:r>
              <a:rPr lang="zh-CN" altLang="en-US" sz="2400" b="1" dirty="0">
                <a:ea typeface="微软雅黑" panose="020B0503020204020204" pitchFamily="34" charset="-122"/>
              </a:rPr>
              <a:t>删除函数</a:t>
            </a:r>
            <a:endParaRPr lang="zh-CN" altLang="en-US" sz="2400" b="1" dirty="0">
              <a:ea typeface="微软雅黑" panose="020B0503020204020204" pitchFamily="34" charset="-122"/>
            </a:endParaRPr>
          </a:p>
          <a:p>
            <a:pPr lvl="1"/>
            <a:r>
              <a:rPr lang="en-US" altLang="zh-CN" sz="2400" b="1" dirty="0">
                <a:solidFill>
                  <a:srgbClr val="FFFF00"/>
                </a:solidFill>
                <a:ea typeface="微软雅黑" panose="020B0503020204020204" pitchFamily="34" charset="-122"/>
              </a:rPr>
              <a:t>erase</a:t>
            </a:r>
            <a:r>
              <a:rPr lang="zh-CN" altLang="en-US" sz="2400" b="1" dirty="0">
                <a:solidFill>
                  <a:srgbClr val="FFFF00"/>
                </a:solidFill>
                <a:ea typeface="微软雅黑" panose="020B0503020204020204" pitchFamily="34" charset="-122"/>
              </a:rPr>
              <a:t>，</a:t>
            </a:r>
            <a:r>
              <a:rPr lang="en-US" altLang="zh-CN" sz="2400" b="1" dirty="0">
                <a:solidFill>
                  <a:srgbClr val="FFFF00"/>
                </a:solidFill>
                <a:ea typeface="微软雅黑" panose="020B0503020204020204" pitchFamily="34" charset="-122"/>
              </a:rPr>
              <a:t>clear</a:t>
            </a:r>
            <a:r>
              <a:rPr lang="zh-CN" altLang="en-US" sz="2400" b="1" dirty="0">
                <a:solidFill>
                  <a:srgbClr val="FFFF00"/>
                </a:solidFill>
                <a:ea typeface="微软雅黑" panose="020B0503020204020204" pitchFamily="34" charset="-122"/>
              </a:rPr>
              <a:t>，</a:t>
            </a:r>
            <a:r>
              <a:rPr lang="en-US" altLang="zh-CN" sz="2400" b="1" dirty="0" err="1">
                <a:solidFill>
                  <a:srgbClr val="FFFF00"/>
                </a:solidFill>
                <a:ea typeface="微软雅黑" panose="020B0503020204020204" pitchFamily="34" charset="-122"/>
              </a:rPr>
              <a:t>pop_front</a:t>
            </a:r>
            <a:r>
              <a:rPr lang="zh-CN" altLang="en-US" sz="2400" b="1" dirty="0">
                <a:solidFill>
                  <a:srgbClr val="FFFF00"/>
                </a:solidFill>
                <a:ea typeface="微软雅黑" panose="020B0503020204020204" pitchFamily="34" charset="-122"/>
              </a:rPr>
              <a:t>（只对</a:t>
            </a:r>
            <a:r>
              <a:rPr lang="en-US" altLang="zh-CN" sz="2400" b="1" dirty="0">
                <a:solidFill>
                  <a:srgbClr val="FFFF00"/>
                </a:solidFill>
                <a:ea typeface="微软雅黑" panose="020B0503020204020204" pitchFamily="34" charset="-122"/>
              </a:rPr>
              <a:t>list</a:t>
            </a:r>
            <a:r>
              <a:rPr lang="zh-CN" altLang="en-US" sz="2400" b="1" dirty="0">
                <a:solidFill>
                  <a:srgbClr val="FFFF00"/>
                </a:solidFill>
                <a:ea typeface="微软雅黑" panose="020B0503020204020204" pitchFamily="34" charset="-122"/>
              </a:rPr>
              <a:t>和</a:t>
            </a:r>
            <a:r>
              <a:rPr lang="en-US" altLang="zh-CN" sz="2400" b="1" dirty="0">
                <a:solidFill>
                  <a:srgbClr val="FFFF00"/>
                </a:solidFill>
                <a:ea typeface="微软雅黑" panose="020B0503020204020204" pitchFamily="34" charset="-122"/>
              </a:rPr>
              <a:t>deque</a:t>
            </a:r>
            <a:r>
              <a:rPr lang="zh-CN" altLang="en-US" sz="2400" b="1" dirty="0">
                <a:solidFill>
                  <a:srgbClr val="FFFF00"/>
                </a:solidFill>
                <a:ea typeface="微软雅黑" panose="020B0503020204020204" pitchFamily="34" charset="-122"/>
              </a:rPr>
              <a:t>）</a:t>
            </a:r>
            <a:r>
              <a:rPr lang="en-US" altLang="zh-CN" sz="2400" b="1" dirty="0">
                <a:solidFill>
                  <a:srgbClr val="FFFF00"/>
                </a:solidFill>
                <a:ea typeface="微软雅黑" panose="020B0503020204020204" pitchFamily="34" charset="-122"/>
              </a:rPr>
              <a:t> </a:t>
            </a:r>
            <a:r>
              <a:rPr lang="zh-CN" altLang="en-US" sz="2400" b="1" dirty="0">
                <a:solidFill>
                  <a:srgbClr val="FFFF00"/>
                </a:solidFill>
                <a:ea typeface="微软雅黑" panose="020B0503020204020204" pitchFamily="34" charset="-122"/>
              </a:rPr>
              <a:t>，</a:t>
            </a:r>
            <a:r>
              <a:rPr lang="en-US" altLang="zh-CN" sz="2400" b="1" dirty="0" err="1">
                <a:solidFill>
                  <a:srgbClr val="FFFF00"/>
                </a:solidFill>
                <a:ea typeface="微软雅黑" panose="020B0503020204020204" pitchFamily="34" charset="-122"/>
              </a:rPr>
              <a:t>pop_back</a:t>
            </a:r>
            <a:endParaRPr lang="en-US" altLang="zh-CN" sz="2400" b="1" dirty="0">
              <a:solidFill>
                <a:srgbClr val="FFFF00"/>
              </a:solidFill>
              <a:ea typeface="微软雅黑" panose="020B0503020204020204" pitchFamily="34" charset="-122"/>
            </a:endParaRPr>
          </a:p>
          <a:p>
            <a:r>
              <a:rPr lang="zh-CN" altLang="en-US" sz="2400" b="1" dirty="0">
                <a:ea typeface="微软雅黑" panose="020B0503020204020204" pitchFamily="34" charset="-122"/>
              </a:rPr>
              <a:t>首尾元素的直接访问</a:t>
            </a:r>
            <a:endParaRPr lang="en-US" altLang="zh-CN" sz="2400" b="1" dirty="0">
              <a:ea typeface="微软雅黑" panose="020B0503020204020204" pitchFamily="34" charset="-122"/>
            </a:endParaRPr>
          </a:p>
          <a:p>
            <a:pPr lvl="1"/>
            <a:r>
              <a:rPr lang="en-US" altLang="zh-CN" sz="2400" b="1" dirty="0">
                <a:solidFill>
                  <a:srgbClr val="FFFF00"/>
                </a:solidFill>
                <a:ea typeface="微软雅黑" panose="020B0503020204020204" pitchFamily="34" charset="-122"/>
              </a:rPr>
              <a:t>front</a:t>
            </a:r>
            <a:r>
              <a:rPr lang="zh-CN" altLang="en-US" sz="2400" b="1" dirty="0">
                <a:solidFill>
                  <a:srgbClr val="FFFF00"/>
                </a:solidFill>
                <a:ea typeface="微软雅黑" panose="020B0503020204020204" pitchFamily="34" charset="-122"/>
              </a:rPr>
              <a:t>，</a:t>
            </a:r>
            <a:r>
              <a:rPr lang="en-US" altLang="zh-CN" sz="2400" b="1" dirty="0">
                <a:solidFill>
                  <a:srgbClr val="FFFF00"/>
                </a:solidFill>
                <a:ea typeface="微软雅黑" panose="020B0503020204020204" pitchFamily="34" charset="-122"/>
              </a:rPr>
              <a:t>back</a:t>
            </a:r>
            <a:endParaRPr lang="en-US" altLang="zh-CN" sz="2400" b="1" dirty="0">
              <a:solidFill>
                <a:srgbClr val="FFFF00"/>
              </a:solidFill>
              <a:ea typeface="微软雅黑" panose="020B0503020204020204" pitchFamily="34" charset="-122"/>
            </a:endParaRPr>
          </a:p>
          <a:p>
            <a:r>
              <a:rPr lang="zh-CN" altLang="en-US" sz="2400" b="1" dirty="0">
                <a:ea typeface="微软雅黑" panose="020B0503020204020204" pitchFamily="34" charset="-122"/>
              </a:rPr>
              <a:t>改变大小</a:t>
            </a:r>
            <a:endParaRPr lang="zh-CN" altLang="en-US" sz="2400" b="1" dirty="0">
              <a:ea typeface="微软雅黑" panose="020B0503020204020204" pitchFamily="34" charset="-122"/>
            </a:endParaRPr>
          </a:p>
          <a:p>
            <a:pPr lvl="1"/>
            <a:r>
              <a:rPr lang="en-US" altLang="zh-CN" sz="2400" b="1" dirty="0">
                <a:solidFill>
                  <a:srgbClr val="FFFF00"/>
                </a:solidFill>
                <a:ea typeface="微软雅黑" panose="020B0503020204020204" pitchFamily="34" charset="-122"/>
              </a:rPr>
              <a:t>resize</a:t>
            </a:r>
            <a:endParaRPr lang="en-US" altLang="zh-CN" sz="2400" b="1" dirty="0">
              <a:solidFill>
                <a:srgbClr val="FFFF00"/>
              </a:solidFill>
              <a:ea typeface="微软雅黑" panose="020B0503020204020204" pitchFamily="34"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pPr eaLnBrk="1" hangingPunct="1"/>
            <a:r>
              <a:rPr lang="zh-CN" altLang="en-US" sz="3200" b="1" dirty="0"/>
              <a:t>例</a:t>
            </a:r>
            <a:r>
              <a:rPr lang="en-US" altLang="zh-CN" sz="3200" b="1" dirty="0"/>
              <a:t>10-4 </a:t>
            </a:r>
            <a:r>
              <a:rPr lang="zh-CN" altLang="en-US" sz="3200" b="1" dirty="0"/>
              <a:t>顺序容器的基本操作</a:t>
            </a:r>
            <a:endParaRPr lang="zh-CN" altLang="en-US" sz="3200" b="1" dirty="0"/>
          </a:p>
        </p:txBody>
      </p:sp>
      <p:sp>
        <p:nvSpPr>
          <p:cNvPr id="3" name="内容占位符 2"/>
          <p:cNvSpPr>
            <a:spLocks noGrp="1"/>
          </p:cNvSpPr>
          <p:nvPr>
            <p:ph idx="1"/>
          </p:nvPr>
        </p:nvSpPr>
        <p:spPr>
          <a:xfrm>
            <a:off x="611560" y="1268760"/>
            <a:ext cx="7886700" cy="532453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//10_4.cpp</a:t>
            </a:r>
            <a:r>
              <a:rPr lang="zh-CN" altLang="en-US" sz="2000" b="1" dirty="0">
                <a:solidFill>
                  <a:srgbClr val="000000"/>
                </a:solidFill>
                <a:latin typeface="Times New Roman" panose="02020603050405020304" pitchFamily="18" charset="0"/>
                <a:ea typeface="华文楷体" panose="02010600040101010101" pitchFamily="2" charset="-122"/>
              </a:rPr>
              <a:t>，包含的头文件略去</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输出指定的整型顺序容器的元素</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void </a:t>
            </a:r>
            <a:r>
              <a:rPr lang="en-US" altLang="zh-CN" sz="2000" b="1" dirty="0" err="1">
                <a:solidFill>
                  <a:srgbClr val="000000"/>
                </a:solidFill>
                <a:latin typeface="Times New Roman" panose="02020603050405020304" pitchFamily="18" charset="0"/>
                <a:ea typeface="华文楷体" panose="02010600040101010101" pitchFamily="2" charset="-122"/>
              </a:rPr>
              <a:t>printContainer</a:t>
            </a:r>
            <a:r>
              <a:rPr lang="en-US" altLang="zh-CN" sz="2000" b="1" dirty="0">
                <a:solidFill>
                  <a:srgbClr val="000000"/>
                </a:solidFill>
                <a:latin typeface="Times New Roman" panose="02020603050405020304" pitchFamily="18" charset="0"/>
                <a:ea typeface="华文楷体" panose="02010600040101010101" pitchFamily="2" charset="-122"/>
              </a:rPr>
              <a:t>(const char* </a:t>
            </a:r>
            <a:r>
              <a:rPr lang="en-US" altLang="zh-CN" sz="2000" b="1" dirty="0" err="1">
                <a:solidFill>
                  <a:srgbClr val="000000"/>
                </a:solidFill>
                <a:latin typeface="Times New Roman" panose="02020603050405020304" pitchFamily="18" charset="0"/>
                <a:ea typeface="华文楷体" panose="02010600040101010101" pitchFamily="2" charset="-122"/>
              </a:rPr>
              <a:t>msg</a:t>
            </a:r>
            <a:r>
              <a:rPr lang="en-US" altLang="zh-CN" sz="2000" b="1" dirty="0">
                <a:solidFill>
                  <a:srgbClr val="000000"/>
                </a:solidFill>
                <a:latin typeface="Times New Roman" panose="02020603050405020304" pitchFamily="18" charset="0"/>
                <a:ea typeface="华文楷体" panose="02010600040101010101" pitchFamily="2" charset="-122"/>
              </a:rPr>
              <a:t>, const T&amp; s)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msg</a:t>
            </a:r>
            <a:r>
              <a:rPr lang="en-US" altLang="zh-CN" sz="2000" b="1" dirty="0">
                <a:solidFill>
                  <a:srgbClr val="000000"/>
                </a:solidFill>
                <a:latin typeface="Times New Roman" panose="02020603050405020304" pitchFamily="18" charset="0"/>
                <a:ea typeface="华文楷体" panose="02010600040101010101" pitchFamily="2" charset="-122"/>
              </a:rPr>
              <a:t> &lt;&lt;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copy(</a:t>
            </a:r>
            <a:r>
              <a:rPr lang="en-US" altLang="zh-CN" sz="2000" b="1" dirty="0" err="1">
                <a:solidFill>
                  <a:srgbClr val="000000"/>
                </a:solidFill>
                <a:latin typeface="Times New Roman" panose="02020603050405020304" pitchFamily="18" charset="0"/>
                <a:ea typeface="华文楷体" panose="02010600040101010101" pitchFamily="2" charset="-122"/>
              </a:rPr>
              <a:t>s.begin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s.end</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ostream_iterator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从标准输入读入</a:t>
            </a:r>
            <a:r>
              <a:rPr lang="en-US" altLang="zh-CN" sz="2000" b="1" dirty="0">
                <a:solidFill>
                  <a:srgbClr val="000000"/>
                </a:solidFill>
                <a:latin typeface="Times New Roman" panose="02020603050405020304" pitchFamily="18" charset="0"/>
                <a:ea typeface="华文楷体" panose="02010600040101010101" pitchFamily="2" charset="-122"/>
              </a:rPr>
              <a:t>10</a:t>
            </a:r>
            <a:r>
              <a:rPr lang="zh-CN" altLang="en-US" sz="2000" b="1" dirty="0">
                <a:solidFill>
                  <a:srgbClr val="000000"/>
                </a:solidFill>
                <a:latin typeface="Times New Roman" panose="02020603050405020304" pitchFamily="18" charset="0"/>
                <a:ea typeface="华文楷体" panose="02010600040101010101" pitchFamily="2" charset="-122"/>
              </a:rPr>
              <a:t>个整数，将它们分别从</a:t>
            </a:r>
            <a:r>
              <a:rPr lang="en-US" altLang="zh-CN" sz="2000" b="1" dirty="0">
                <a:solidFill>
                  <a:srgbClr val="000000"/>
                </a:solidFill>
                <a:latin typeface="Times New Roman" panose="02020603050405020304" pitchFamily="18" charset="0"/>
                <a:ea typeface="华文楷体" panose="02010600040101010101" pitchFamily="2" charset="-122"/>
              </a:rPr>
              <a:t>s</a:t>
            </a:r>
            <a:r>
              <a:rPr lang="zh-CN" altLang="en-US" sz="2000" b="1" dirty="0">
                <a:solidFill>
                  <a:srgbClr val="000000"/>
                </a:solidFill>
                <a:latin typeface="Times New Roman" panose="02020603050405020304" pitchFamily="18" charset="0"/>
                <a:ea typeface="华文楷体" panose="02010600040101010101" pitchFamily="2" charset="-122"/>
              </a:rPr>
              <a:t>的头部加入</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deque</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s;</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for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 0;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&lt; 10; </a:t>
            </a:r>
            <a:r>
              <a:rPr lang="en-US" altLang="zh-CN" sz="2000" b="1" dirty="0" err="1">
                <a:solidFill>
                  <a:srgbClr val="000000"/>
                </a:solidFill>
                <a:latin typeface="Times New Roman" panose="02020603050405020304" pitchFamily="18" charset="0"/>
                <a:ea typeface="华文楷体" panose="02010600040101010101" pitchFamily="2" charset="-122"/>
              </a:rPr>
              <a:t>i</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x;</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x;</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s.push_front</a:t>
            </a:r>
            <a:r>
              <a:rPr lang="en-US" altLang="zh-CN" sz="2000" b="1" dirty="0">
                <a:solidFill>
                  <a:srgbClr val="000000"/>
                </a:solidFill>
                <a:latin typeface="Times New Roman" panose="02020603050405020304" pitchFamily="18" charset="0"/>
                <a:ea typeface="华文楷体" panose="02010600040101010101" pitchFamily="2" charset="-122"/>
              </a:rPr>
              <a:t>(x);</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pPr eaLnBrk="1" hangingPunct="1"/>
            <a:r>
              <a:rPr lang="zh-CN" altLang="en-US" b="1"/>
              <a:t>例</a:t>
            </a:r>
            <a:r>
              <a:rPr lang="en-US" altLang="zh-CN" b="1"/>
              <a:t>10-4 </a:t>
            </a:r>
            <a:r>
              <a:rPr lang="zh-CN" altLang="en-US" b="1"/>
              <a:t>（续）</a:t>
            </a:r>
            <a:endParaRPr lang="zh-CN" altLang="en-US" b="1"/>
          </a:p>
        </p:txBody>
      </p:sp>
      <p:sp>
        <p:nvSpPr>
          <p:cNvPr id="3" name="内容占位符 2"/>
          <p:cNvSpPr>
            <a:spLocks noGrp="1"/>
          </p:cNvSpPr>
          <p:nvPr>
            <p:ph idx="1"/>
          </p:nvPr>
        </p:nvSpPr>
        <p:spPr>
          <a:xfrm>
            <a:off x="683568" y="1196752"/>
            <a:ext cx="7886700" cy="532453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printContainer</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deque</a:t>
            </a:r>
            <a:r>
              <a:rPr lang="en-US" altLang="zh-CN" sz="2000" b="1" dirty="0">
                <a:solidFill>
                  <a:srgbClr val="000000"/>
                </a:solidFill>
                <a:latin typeface="Times New Roman" panose="02020603050405020304" pitchFamily="18" charset="0"/>
                <a:ea typeface="华文楷体" panose="02010600040101010101" pitchFamily="2" charset="-122"/>
              </a:rPr>
              <a:t> at first", s);</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用</a:t>
            </a:r>
            <a:r>
              <a:rPr lang="en-US" altLang="zh-CN" sz="2000" b="1" dirty="0">
                <a:solidFill>
                  <a:srgbClr val="000000"/>
                </a:solidFill>
                <a:latin typeface="Times New Roman" panose="02020603050405020304" pitchFamily="18" charset="0"/>
                <a:ea typeface="华文楷体" panose="02010600040101010101" pitchFamily="2" charset="-122"/>
              </a:rPr>
              <a:t>s</a:t>
            </a:r>
            <a:r>
              <a:rPr lang="zh-CN" altLang="en-US" sz="2000" b="1" dirty="0">
                <a:solidFill>
                  <a:srgbClr val="000000"/>
                </a:solidFill>
                <a:latin typeface="Times New Roman" panose="02020603050405020304" pitchFamily="18" charset="0"/>
                <a:ea typeface="华文楷体" panose="02010600040101010101" pitchFamily="2" charset="-122"/>
              </a:rPr>
              <a:t>容器的内容的逆序构造列表容器</a:t>
            </a:r>
            <a:r>
              <a:rPr lang="en-US" altLang="zh-CN" sz="2000" b="1" dirty="0">
                <a:solidFill>
                  <a:srgbClr val="000000"/>
                </a:solidFill>
                <a:latin typeface="Times New Roman" panose="02020603050405020304" pitchFamily="18" charset="0"/>
                <a:ea typeface="华文楷体" panose="02010600040101010101" pitchFamily="2" charset="-122"/>
              </a:rPr>
              <a:t>l</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list&lt;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l(</a:t>
            </a:r>
            <a:r>
              <a:rPr lang="en-US" altLang="zh-CN" sz="2000" b="1" dirty="0" err="1">
                <a:solidFill>
                  <a:srgbClr val="000000"/>
                </a:solidFill>
                <a:latin typeface="Times New Roman" panose="02020603050405020304" pitchFamily="18" charset="0"/>
                <a:ea typeface="华文楷体" panose="02010600040101010101" pitchFamily="2" charset="-122"/>
              </a:rPr>
              <a:t>s.rbegin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s.rend</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printContainer</a:t>
            </a:r>
            <a:r>
              <a:rPr lang="en-US" altLang="zh-CN" sz="2000" b="1" dirty="0">
                <a:solidFill>
                  <a:srgbClr val="000000"/>
                </a:solidFill>
                <a:latin typeface="Times New Roman" panose="02020603050405020304" pitchFamily="18" charset="0"/>
                <a:ea typeface="华文楷体" panose="02010600040101010101" pitchFamily="2" charset="-122"/>
              </a:rPr>
              <a:t>("list at first", l);</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将列表容器</a:t>
            </a:r>
            <a:r>
              <a:rPr lang="en-US" altLang="zh-CN" sz="2000" b="1" dirty="0">
                <a:solidFill>
                  <a:srgbClr val="000000"/>
                </a:solidFill>
                <a:latin typeface="Times New Roman" panose="02020603050405020304" pitchFamily="18" charset="0"/>
                <a:ea typeface="华文楷体" panose="02010600040101010101" pitchFamily="2" charset="-122"/>
              </a:rPr>
              <a:t>l</a:t>
            </a:r>
            <a:r>
              <a:rPr lang="zh-CN" altLang="en-US" sz="2000" b="1" dirty="0">
                <a:solidFill>
                  <a:srgbClr val="000000"/>
                </a:solidFill>
                <a:latin typeface="Times New Roman" panose="02020603050405020304" pitchFamily="18" charset="0"/>
                <a:ea typeface="华文楷体" panose="02010600040101010101" pitchFamily="2" charset="-122"/>
              </a:rPr>
              <a:t>的每相邻两个容器顺序颠倒</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list&lt;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iterator</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l.begin</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while (</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l.end</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v = *</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l.erase</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l.insert</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 v);</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printContainer</a:t>
            </a:r>
            <a:r>
              <a:rPr lang="en-US" altLang="zh-CN" sz="2000" b="1" dirty="0">
                <a:solidFill>
                  <a:srgbClr val="000000"/>
                </a:solidFill>
                <a:latin typeface="Times New Roman" panose="02020603050405020304" pitchFamily="18" charset="0"/>
                <a:ea typeface="华文楷体" panose="02010600040101010101" pitchFamily="2" charset="-122"/>
              </a:rPr>
              <a:t>("list at last", l);</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用列表容器</a:t>
            </a:r>
            <a:r>
              <a:rPr lang="en-US" altLang="zh-CN" sz="2000" b="1" dirty="0">
                <a:solidFill>
                  <a:srgbClr val="000000"/>
                </a:solidFill>
                <a:latin typeface="Times New Roman" panose="02020603050405020304" pitchFamily="18" charset="0"/>
                <a:ea typeface="华文楷体" panose="02010600040101010101" pitchFamily="2" charset="-122"/>
              </a:rPr>
              <a:t>l</a:t>
            </a:r>
            <a:r>
              <a:rPr lang="zh-CN" altLang="en-US" sz="2000" b="1" dirty="0">
                <a:solidFill>
                  <a:srgbClr val="000000"/>
                </a:solidFill>
                <a:latin typeface="Times New Roman" panose="02020603050405020304" pitchFamily="18" charset="0"/>
                <a:ea typeface="华文楷体" panose="02010600040101010101" pitchFamily="2" charset="-122"/>
              </a:rPr>
              <a:t>的内容给</a:t>
            </a:r>
            <a:r>
              <a:rPr lang="en-US" altLang="zh-CN" sz="2000" b="1" dirty="0">
                <a:solidFill>
                  <a:srgbClr val="000000"/>
                </a:solidFill>
                <a:latin typeface="Times New Roman" panose="02020603050405020304" pitchFamily="18" charset="0"/>
                <a:ea typeface="华文楷体" panose="02010600040101010101" pitchFamily="2" charset="-122"/>
              </a:rPr>
              <a:t>s</a:t>
            </a:r>
            <a:r>
              <a:rPr lang="zh-CN" altLang="en-US" sz="2000" b="1" dirty="0">
                <a:solidFill>
                  <a:srgbClr val="000000"/>
                </a:solidFill>
                <a:latin typeface="Times New Roman" panose="02020603050405020304" pitchFamily="18" charset="0"/>
                <a:ea typeface="华文楷体" panose="02010600040101010101" pitchFamily="2" charset="-122"/>
              </a:rPr>
              <a:t>赋值，将</a:t>
            </a:r>
            <a:r>
              <a:rPr lang="en-US" altLang="zh-CN" sz="2000" b="1" dirty="0">
                <a:solidFill>
                  <a:srgbClr val="000000"/>
                </a:solidFill>
                <a:latin typeface="Times New Roman" panose="02020603050405020304" pitchFamily="18" charset="0"/>
                <a:ea typeface="华文楷体" panose="02010600040101010101" pitchFamily="2" charset="-122"/>
              </a:rPr>
              <a:t>s</a:t>
            </a:r>
            <a:r>
              <a:rPr lang="zh-CN" altLang="en-US" sz="2000" b="1" dirty="0">
                <a:solidFill>
                  <a:srgbClr val="000000"/>
                </a:solidFill>
                <a:latin typeface="Times New Roman" panose="02020603050405020304" pitchFamily="18" charset="0"/>
                <a:ea typeface="华文楷体" panose="02010600040101010101" pitchFamily="2" charset="-122"/>
              </a:rPr>
              <a:t>输出</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s.assign</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l.begin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l.end</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printContainer</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deque</a:t>
            </a:r>
            <a:r>
              <a:rPr lang="en-US" altLang="zh-CN" sz="2000" b="1" dirty="0">
                <a:solidFill>
                  <a:srgbClr val="000000"/>
                </a:solidFill>
                <a:latin typeface="Times New Roman" panose="02020603050405020304" pitchFamily="18" charset="0"/>
                <a:ea typeface="华文楷体" panose="02010600040101010101" pitchFamily="2" charset="-122"/>
              </a:rPr>
              <a:t> at last", s);</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pPr eaLnBrk="1" hangingPunct="1"/>
            <a:r>
              <a:rPr lang="zh-CN" altLang="en-US" b="1" dirty="0"/>
              <a:t>例</a:t>
            </a:r>
            <a:r>
              <a:rPr lang="en-US" altLang="zh-CN" b="1" dirty="0"/>
              <a:t>10-4 </a:t>
            </a:r>
            <a:r>
              <a:rPr lang="zh-CN" altLang="en-US" b="1" dirty="0"/>
              <a:t>（续）</a:t>
            </a:r>
            <a:endParaRPr lang="zh-CN" altLang="en-US" b="1" dirty="0"/>
          </a:p>
        </p:txBody>
      </p:sp>
      <p:sp>
        <p:nvSpPr>
          <p:cNvPr id="3" name="内容占位符 2"/>
          <p:cNvSpPr>
            <a:spLocks noGrp="1"/>
          </p:cNvSpPr>
          <p:nvPr>
            <p:ph idx="1"/>
          </p:nvPr>
        </p:nvSpPr>
        <p:spPr>
          <a:xfrm>
            <a:off x="628650" y="1825625"/>
            <a:ext cx="7886700" cy="2616101"/>
          </a:xfrm>
          <a:solidFill>
            <a:srgbClr val="000000"/>
          </a:solidFill>
          <a:ln w="9525">
            <a:noFill/>
            <a:miter lim="800000"/>
          </a:ln>
        </p:spPr>
        <p:txBody>
          <a:bodyPr>
            <a:spAutoFit/>
          </a:bodyPr>
          <a:lstStyle/>
          <a:p>
            <a:pPr marL="457200" indent="-457200">
              <a:buClr>
                <a:schemeClr val="accent2"/>
              </a:buClr>
              <a:buSzPct val="80000"/>
              <a:buFont typeface="Wingdings" panose="05000000000000000000" pitchFamily="2" charset="2"/>
              <a:buNone/>
            </a:pPr>
            <a:r>
              <a:rPr lang="zh-CN" altLang="en-US" sz="2000" b="1" dirty="0">
                <a:ea typeface="华文楷体" panose="02010600040101010101" pitchFamily="2" charset="-122"/>
              </a:rPr>
              <a:t>运行结果如下： </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   0 9 8 6 4 3 2 1 5 4</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   </a:t>
            </a:r>
            <a:r>
              <a:rPr lang="en-US" sz="2000" b="1" dirty="0" err="1">
                <a:ea typeface="华文楷体" panose="02010600040101010101" pitchFamily="2" charset="-122"/>
              </a:rPr>
              <a:t>deque</a:t>
            </a:r>
            <a:r>
              <a:rPr lang="en-US" sz="2000" b="1" dirty="0">
                <a:ea typeface="华文楷体" panose="02010600040101010101" pitchFamily="2" charset="-122"/>
              </a:rPr>
              <a:t> at first: 4 5 1 2 3 4 6 8 9 0</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   list at first: 0 9 8 6 4 3 2 1 5 4</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   list at last: 9 0 6 8 3 4 1 2 4 5</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   </a:t>
            </a:r>
            <a:r>
              <a:rPr lang="en-US" sz="2000" b="1" dirty="0" err="1">
                <a:ea typeface="华文楷体" panose="02010600040101010101" pitchFamily="2" charset="-122"/>
              </a:rPr>
              <a:t>deque</a:t>
            </a:r>
            <a:r>
              <a:rPr lang="en-US" sz="2000" b="1" dirty="0">
                <a:ea typeface="华文楷体" panose="02010600040101010101" pitchFamily="2" charset="-122"/>
              </a:rPr>
              <a:t> at last: 9 0 6 8 3 4 1 2 4 5</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endParaRPr lang="zh-CN" altLang="en-US" sz="2000" b="1" dirty="0">
              <a:ea typeface="华文楷体" panose="02010600040101010101" pitchFamily="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3888" y="692696"/>
            <a:ext cx="7886700" cy="2852737"/>
          </a:xfrm>
        </p:spPr>
        <p:txBody>
          <a:bodyPr>
            <a:normAutofit/>
          </a:bodyPr>
          <a:lstStyle/>
          <a:p>
            <a:pPr fontAlgn="auto">
              <a:spcAft>
                <a:spcPts val="0"/>
              </a:spcAft>
              <a:defRPr/>
            </a:pPr>
            <a:r>
              <a:rPr lang="zh-CN" altLang="en-US" dirty="0"/>
              <a:t>顺序容器的特性</a:t>
            </a:r>
            <a:endParaRPr lang="zh-CN" altLang="en-US" dirty="0"/>
          </a:p>
        </p:txBody>
      </p:sp>
      <p:sp>
        <p:nvSpPr>
          <p:cNvPr id="46083" name="内容占位符 2"/>
          <p:cNvSpPr>
            <a:spLocks noGrp="1"/>
          </p:cNvSpPr>
          <p:nvPr>
            <p:ph type="body" idx="1"/>
          </p:nvPr>
        </p:nvSpPr>
        <p:spPr>
          <a:xfrm>
            <a:off x="606748" y="3861048"/>
            <a:ext cx="7886700" cy="1500187"/>
          </a:xfrm>
        </p:spPr>
        <p:txBody>
          <a:bodyPr/>
          <a:lstStyle/>
          <a:p>
            <a:pPr eaLnBrk="1" hangingPunct="1"/>
            <a:r>
              <a:rPr lang="zh-CN" altLang="en-US" b="1" dirty="0"/>
              <a:t>向量、双端队列、列表、单向链表、数组</a:t>
            </a:r>
            <a:endParaRPr lang="zh-CN" altLang="en-US" b="1"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886700" cy="1325563"/>
          </a:xfrm>
        </p:spPr>
        <p:txBody>
          <a:bodyPr/>
          <a:lstStyle/>
          <a:p>
            <a:pPr algn="ctr"/>
            <a:r>
              <a:rPr lang="zh-CN" altLang="en-US" b="1" dirty="0">
                <a:solidFill>
                  <a:srgbClr val="FFFF00"/>
                </a:solidFill>
                <a:latin typeface="Times New Roman" panose="02020603050405020304" pitchFamily="18" charset="0"/>
                <a:ea typeface="隶书" panose="02010509060101010101" pitchFamily="49" charset="-122"/>
              </a:rPr>
              <a:t>向量（</a:t>
            </a:r>
            <a:r>
              <a:rPr lang="en-US" altLang="zh-CN" b="1" dirty="0">
                <a:solidFill>
                  <a:srgbClr val="FFFF00"/>
                </a:solidFill>
                <a:latin typeface="Times New Roman" panose="02020603050405020304" pitchFamily="18" charset="0"/>
                <a:ea typeface="隶书" panose="02010509060101010101" pitchFamily="49" charset="-122"/>
              </a:rPr>
              <a:t>Vector</a:t>
            </a:r>
            <a:r>
              <a:rPr lang="zh-CN" altLang="en-US" b="1" dirty="0">
                <a:solidFill>
                  <a:srgbClr val="FFFF00"/>
                </a:solidFill>
                <a:latin typeface="Times New Roman" panose="02020603050405020304" pitchFamily="18" charset="0"/>
                <a:ea typeface="隶书" panose="02010509060101010101" pitchFamily="49" charset="-122"/>
              </a:rPr>
              <a:t>）</a:t>
            </a:r>
            <a:endParaRPr lang="zh-CN" altLang="en-US" b="1" dirty="0">
              <a:solidFill>
                <a:srgbClr val="FFFF00"/>
              </a:solidFill>
              <a:latin typeface="Times New Roman" panose="02020603050405020304" pitchFamily="18" charset="0"/>
              <a:ea typeface="隶书" panose="02010509060101010101" pitchFamily="49" charset="-122"/>
            </a:endParaRPr>
          </a:p>
        </p:txBody>
      </p:sp>
      <p:sp>
        <p:nvSpPr>
          <p:cNvPr id="35843" name="内容占位符 2"/>
          <p:cNvSpPr>
            <a:spLocks noGrp="1"/>
          </p:cNvSpPr>
          <p:nvPr>
            <p:ph idx="1"/>
          </p:nvPr>
        </p:nvSpPr>
        <p:spPr>
          <a:xfrm>
            <a:off x="611560" y="1556792"/>
            <a:ext cx="7886700" cy="4351338"/>
          </a:xfrm>
        </p:spPr>
        <p:txBody>
          <a:bodyPr/>
          <a:lstStyle/>
          <a:p>
            <a:pPr>
              <a:spcAft>
                <a:spcPct val="25000"/>
              </a:spcAft>
            </a:pPr>
            <a:r>
              <a:rPr lang="zh-CN" altLang="en-US" sz="2400" b="1" dirty="0">
                <a:ea typeface="华文楷体" panose="02010600040101010101" pitchFamily="2" charset="-122"/>
              </a:rPr>
              <a:t>特点</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一个可以扩展的动态数组</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随机访问、在尾部插入或删除元素快</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在中间或头部插入或删除元素慢</a:t>
            </a:r>
            <a:endParaRPr lang="en-US" altLang="zh-CN"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向量的容量</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容量</a:t>
            </a:r>
            <a:r>
              <a:rPr lang="en-US" altLang="zh-CN" sz="2400" b="1" dirty="0">
                <a:ea typeface="华文楷体" panose="02010600040101010101" pitchFamily="2" charset="-122"/>
              </a:rPr>
              <a:t>(capacity)</a:t>
            </a:r>
            <a:r>
              <a:rPr lang="zh-CN" altLang="en-US" sz="2400" b="1" dirty="0">
                <a:ea typeface="华文楷体" panose="02010600040101010101" pitchFamily="2" charset="-122"/>
              </a:rPr>
              <a:t>：实际分配空间的大小</a:t>
            </a:r>
            <a:endParaRPr lang="en-US" altLang="zh-CN" sz="2400" b="1" dirty="0">
              <a:ea typeface="华文楷体" panose="02010600040101010101" pitchFamily="2" charset="-122"/>
            </a:endParaRPr>
          </a:p>
          <a:p>
            <a:pPr lvl="1">
              <a:buFont typeface="Wingdings" panose="05000000000000000000" pitchFamily="2" charset="2"/>
              <a:buChar char="ü"/>
            </a:pPr>
            <a:r>
              <a:rPr lang="en-US" altLang="zh-CN" sz="2400" b="1" dirty="0" err="1">
                <a:ea typeface="华文楷体" panose="02010600040101010101" pitchFamily="2" charset="-122"/>
              </a:rPr>
              <a:t>s.capacity</a:t>
            </a:r>
            <a:r>
              <a:rPr lang="en-US" altLang="zh-CN" sz="2400" b="1" dirty="0">
                <a:ea typeface="华文楷体" panose="02010600040101010101" pitchFamily="2" charset="-122"/>
              </a:rPr>
              <a:t>()</a:t>
            </a:r>
            <a:r>
              <a:rPr lang="zh-CN" altLang="en-US" sz="2400" b="1" dirty="0">
                <a:ea typeface="华文楷体" panose="02010600040101010101" pitchFamily="2" charset="-122"/>
              </a:rPr>
              <a:t> ：返回当前容量</a:t>
            </a:r>
            <a:endParaRPr lang="en-US" altLang="zh-CN" sz="2400" b="1" dirty="0">
              <a:ea typeface="华文楷体" panose="02010600040101010101" pitchFamily="2" charset="-122"/>
            </a:endParaRPr>
          </a:p>
          <a:p>
            <a:pPr lvl="1">
              <a:buFont typeface="Wingdings" panose="05000000000000000000" pitchFamily="2" charset="2"/>
              <a:buChar char="ü"/>
            </a:pPr>
            <a:r>
              <a:rPr lang="en-US" altLang="zh-CN" sz="2400" b="1" dirty="0" err="1">
                <a:ea typeface="华文楷体" panose="02010600040101010101" pitchFamily="2" charset="-122"/>
              </a:rPr>
              <a:t>s.reserve</a:t>
            </a:r>
            <a:r>
              <a:rPr lang="en-US" altLang="zh-CN" sz="2400" b="1" dirty="0">
                <a:ea typeface="华文楷体" panose="02010600040101010101" pitchFamily="2" charset="-122"/>
              </a:rPr>
              <a:t>(n)</a:t>
            </a:r>
            <a:r>
              <a:rPr lang="zh-CN" altLang="en-US" sz="2400" b="1" dirty="0">
                <a:ea typeface="华文楷体" panose="02010600040101010101" pitchFamily="2" charset="-122"/>
              </a:rPr>
              <a:t>：若容量小于</a:t>
            </a:r>
            <a:r>
              <a:rPr lang="en-US" altLang="zh-CN" sz="2400" b="1" dirty="0">
                <a:ea typeface="华文楷体" panose="02010600040101010101" pitchFamily="2" charset="-122"/>
              </a:rPr>
              <a:t>n</a:t>
            </a:r>
            <a:r>
              <a:rPr lang="zh-CN" altLang="en-US" sz="2400" b="1" dirty="0">
                <a:ea typeface="华文楷体" panose="02010600040101010101" pitchFamily="2" charset="-122"/>
              </a:rPr>
              <a:t>，则对</a:t>
            </a:r>
            <a:r>
              <a:rPr lang="en-US" altLang="zh-CN" sz="2400" b="1" dirty="0">
                <a:ea typeface="华文楷体" panose="02010600040101010101" pitchFamily="2" charset="-122"/>
              </a:rPr>
              <a:t>s</a:t>
            </a:r>
            <a:r>
              <a:rPr lang="zh-CN" altLang="en-US" sz="2400" b="1" dirty="0">
                <a:ea typeface="华文楷体" panose="02010600040101010101" pitchFamily="2" charset="-122"/>
              </a:rPr>
              <a:t>进行扩展，使其容量至少为</a:t>
            </a:r>
            <a:r>
              <a:rPr lang="en-US" altLang="zh-CN" sz="2400" b="1" dirty="0">
                <a:ea typeface="华文楷体" panose="02010600040101010101" pitchFamily="2" charset="-122"/>
              </a:rPr>
              <a:t>n</a:t>
            </a:r>
            <a:endParaRPr lang="zh-CN" altLang="en-US" sz="2400" b="1" dirty="0">
              <a:ea typeface="华文楷体" panose="02010600040101010101" pitchFamily="2"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pPr algn="ctr"/>
            <a:r>
              <a:rPr lang="zh-CN" altLang="en-US" sz="4000" b="1">
                <a:solidFill>
                  <a:srgbClr val="FFFF00"/>
                </a:solidFill>
                <a:latin typeface="Times New Roman" panose="02020603050405020304" pitchFamily="18" charset="0"/>
                <a:ea typeface="隶书" panose="02010509060101010101" pitchFamily="49" charset="-122"/>
              </a:rPr>
              <a:t>双端队列（</a:t>
            </a:r>
            <a:r>
              <a:rPr lang="en-US" altLang="zh-CN" sz="4000" b="1">
                <a:solidFill>
                  <a:srgbClr val="FFFF00"/>
                </a:solidFill>
                <a:latin typeface="Times New Roman" panose="02020603050405020304" pitchFamily="18" charset="0"/>
                <a:ea typeface="隶书" panose="02010509060101010101" pitchFamily="49" charset="-122"/>
              </a:rPr>
              <a:t>deque</a:t>
            </a:r>
            <a:r>
              <a:rPr lang="zh-CN" altLang="en-US" sz="4000" b="1">
                <a:solidFill>
                  <a:srgbClr val="FFFF00"/>
                </a:solidFill>
                <a:latin typeface="Times New Roman" panose="02020603050405020304" pitchFamily="18" charset="0"/>
                <a:ea typeface="隶书" panose="02010509060101010101" pitchFamily="49" charset="-122"/>
              </a:rPr>
              <a:t>）</a:t>
            </a:r>
            <a:endParaRPr lang="zh-CN" altLang="en-US" sz="4000" b="1">
              <a:solidFill>
                <a:srgbClr val="FFFF00"/>
              </a:solidFill>
              <a:latin typeface="Times New Roman" panose="02020603050405020304" pitchFamily="18" charset="0"/>
              <a:ea typeface="隶书" panose="02010509060101010101" pitchFamily="49" charset="-122"/>
            </a:endParaRPr>
          </a:p>
        </p:txBody>
      </p:sp>
      <p:sp>
        <p:nvSpPr>
          <p:cNvPr id="36867" name="内容占位符 2"/>
          <p:cNvSpPr>
            <a:spLocks noGrp="1"/>
          </p:cNvSpPr>
          <p:nvPr>
            <p:ph idx="1"/>
          </p:nvPr>
        </p:nvSpPr>
        <p:spPr/>
        <p:txBody>
          <a:bodyPr/>
          <a:lstStyle/>
          <a:p>
            <a:pPr>
              <a:spcAft>
                <a:spcPct val="25000"/>
              </a:spcAft>
            </a:pPr>
            <a:r>
              <a:rPr lang="zh-CN" altLang="en-US" sz="2400" b="1">
                <a:ea typeface="华文楷体" panose="02010600040101010101" pitchFamily="2" charset="-122"/>
              </a:rPr>
              <a:t>特点</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在两端插入或删除元素快</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在中间插入或删除元素慢</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随机访问较快，但比向量容器慢</a:t>
            </a:r>
            <a:endParaRPr lang="en-US" altLang="zh-CN" sz="2400" b="1">
              <a:ea typeface="华文楷体" panose="0201060004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pPr eaLnBrk="1" hangingPunct="1"/>
            <a:r>
              <a:rPr lang="zh-CN" altLang="en-US" b="1" dirty="0"/>
              <a:t>例</a:t>
            </a:r>
            <a:r>
              <a:rPr lang="en-US" altLang="zh-CN" b="1" dirty="0"/>
              <a:t>10-5 </a:t>
            </a:r>
            <a:r>
              <a:rPr lang="zh-CN" altLang="en-US" b="1" dirty="0"/>
              <a:t>奇偶排序</a:t>
            </a:r>
            <a:endParaRPr lang="zh-CN" altLang="en-US" b="1" dirty="0"/>
          </a:p>
        </p:txBody>
      </p:sp>
      <p:sp>
        <p:nvSpPr>
          <p:cNvPr id="3" name="内容占位符 2"/>
          <p:cNvSpPr>
            <a:spLocks noGrp="1"/>
          </p:cNvSpPr>
          <p:nvPr>
            <p:ph idx="1"/>
          </p:nvPr>
        </p:nvSpPr>
        <p:spPr>
          <a:xfrm>
            <a:off x="358839" y="836712"/>
            <a:ext cx="8572500" cy="428625"/>
          </a:xfrm>
        </p:spPr>
        <p:txBody>
          <a:bodyPr/>
          <a:lstStyle/>
          <a:p>
            <a:pPr marL="0" indent="0">
              <a:spcAft>
                <a:spcPct val="25000"/>
              </a:spcAft>
              <a:buNone/>
            </a:pPr>
            <a:r>
              <a:rPr lang="zh-CN" altLang="en-US" sz="2400" b="1" dirty="0">
                <a:solidFill>
                  <a:srgbClr val="FFFF00"/>
                </a:solidFill>
                <a:ea typeface="华文楷体" panose="02010600040101010101" pitchFamily="2" charset="-122"/>
              </a:rPr>
              <a:t>先按照从大到小顺序输出奇数，再按照从小到大顺序输出偶数。</a:t>
            </a:r>
            <a:endParaRPr lang="en-US" altLang="zh-CN" sz="2400" b="1" dirty="0">
              <a:solidFill>
                <a:srgbClr val="FFFF00"/>
              </a:solidFill>
              <a:ea typeface="华文楷体" panose="02010600040101010101" pitchFamily="2" charset="-122"/>
            </a:endParaRPr>
          </a:p>
          <a:p>
            <a:pPr marL="0" indent="0">
              <a:spcAft>
                <a:spcPct val="25000"/>
              </a:spcAft>
              <a:buNone/>
            </a:pPr>
            <a:endParaRPr lang="zh-CN" altLang="en-US" sz="2400" b="1" dirty="0">
              <a:solidFill>
                <a:srgbClr val="FFFF00"/>
              </a:solidFill>
              <a:ea typeface="华文楷体" panose="02010600040101010101" pitchFamily="2" charset="-122"/>
            </a:endParaRPr>
          </a:p>
        </p:txBody>
      </p:sp>
      <p:sp>
        <p:nvSpPr>
          <p:cNvPr id="6" name="TextBox 5"/>
          <p:cNvSpPr txBox="1"/>
          <p:nvPr/>
        </p:nvSpPr>
        <p:spPr>
          <a:xfrm>
            <a:off x="285750" y="1365731"/>
            <a:ext cx="8648700" cy="5447645"/>
          </a:xfrm>
          <a:prstGeom prst="rect">
            <a:avLst/>
          </a:prstGeom>
          <a:solidFill>
            <a:schemeClr val="tx1"/>
          </a:solidFill>
          <a:ln w="9525">
            <a:solidFill>
              <a:schemeClr val="tx1"/>
            </a:solidFill>
            <a:miter lim="800000"/>
          </a:ln>
        </p:spPr>
        <p:txBody>
          <a:bodyPr>
            <a:spAutoFit/>
          </a:bodyPr>
          <a:lstStyle>
            <a:lvl1pPr marL="0" indent="0" algn="just">
              <a:buClrTx/>
              <a:buSzTx/>
              <a:buFontTx/>
              <a:buNone/>
              <a:defRPr sz="2000" b="1">
                <a:solidFill>
                  <a:srgbClr val="000000"/>
                </a:solidFill>
                <a:ea typeface="华文楷体" panose="02010600040101010101" pitchFamily="2" charset="-122"/>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en-US" altLang="zh-CN" sz="1800" dirty="0"/>
              <a:t>// </a:t>
            </a:r>
            <a:r>
              <a:rPr lang="zh-CN" altLang="en-US" sz="1800" dirty="0"/>
              <a:t>头部分省略</a:t>
            </a:r>
            <a:endParaRPr lang="en-US" altLang="zh-CN" sz="1800" dirty="0"/>
          </a:p>
          <a:p>
            <a:r>
              <a:rPr lang="en-US" altLang="zh-CN" sz="1800" dirty="0" err="1"/>
              <a:t>int</a:t>
            </a:r>
            <a:r>
              <a:rPr lang="en-US" altLang="zh-CN" sz="1800" dirty="0"/>
              <a:t> main() {</a:t>
            </a:r>
            <a:endParaRPr lang="en-US" altLang="zh-CN" sz="1800" dirty="0"/>
          </a:p>
          <a:p>
            <a:r>
              <a:rPr lang="en-US" altLang="zh-CN" sz="1800" dirty="0"/>
              <a:t>    </a:t>
            </a:r>
            <a:r>
              <a:rPr lang="en-US" altLang="zh-CN" sz="1800" dirty="0" err="1"/>
              <a:t>istream_iterator</a:t>
            </a:r>
            <a:r>
              <a:rPr lang="en-US" altLang="zh-CN" sz="1800" dirty="0"/>
              <a:t>&lt;</a:t>
            </a:r>
            <a:r>
              <a:rPr lang="en-US" altLang="zh-CN" sz="1800" dirty="0" err="1"/>
              <a:t>int</a:t>
            </a:r>
            <a:r>
              <a:rPr lang="en-US" altLang="zh-CN" sz="1800" dirty="0"/>
              <a:t>&gt; i1(</a:t>
            </a:r>
            <a:r>
              <a:rPr lang="en-US" altLang="zh-CN" sz="1800" dirty="0" err="1"/>
              <a:t>cin</a:t>
            </a:r>
            <a:r>
              <a:rPr lang="en-US" altLang="zh-CN" sz="1800" dirty="0"/>
              <a:t>), i2;	//</a:t>
            </a:r>
            <a:r>
              <a:rPr lang="zh-CN" altLang="en-US" sz="1800" dirty="0"/>
              <a:t>建立一对输入流迭代器</a:t>
            </a:r>
            <a:endParaRPr lang="zh-CN" altLang="en-US" sz="1800" dirty="0"/>
          </a:p>
          <a:p>
            <a:r>
              <a:rPr lang="en-US" altLang="zh-CN" sz="1800" dirty="0"/>
              <a:t>    vector&lt;</a:t>
            </a:r>
            <a:r>
              <a:rPr lang="en-US" altLang="zh-CN" sz="1800" dirty="0" err="1"/>
              <a:t>int</a:t>
            </a:r>
            <a:r>
              <a:rPr lang="en-US" altLang="zh-CN" sz="1800" dirty="0"/>
              <a:t>&gt; s1(i1, i2);		//</a:t>
            </a:r>
            <a:r>
              <a:rPr lang="zh-CN" altLang="en-US" sz="1800" dirty="0"/>
              <a:t>通过输入流迭代器从标准输入流中输入数据</a:t>
            </a:r>
            <a:endParaRPr lang="zh-CN" altLang="en-US" sz="1800" dirty="0"/>
          </a:p>
          <a:p>
            <a:r>
              <a:rPr lang="en-US" altLang="zh-CN" sz="1800" dirty="0"/>
              <a:t>    sort(s1.begin(), s1.end());		//</a:t>
            </a:r>
            <a:r>
              <a:rPr lang="zh-CN" altLang="en-US" sz="1800" dirty="0"/>
              <a:t>将输入的整数排序</a:t>
            </a:r>
            <a:endParaRPr lang="zh-CN" altLang="en-US" sz="1800" dirty="0"/>
          </a:p>
          <a:p>
            <a:r>
              <a:rPr lang="en-US" altLang="zh-CN" sz="1800" dirty="0"/>
              <a:t>    </a:t>
            </a:r>
            <a:r>
              <a:rPr lang="en-US" altLang="zh-CN" sz="1800" dirty="0" err="1"/>
              <a:t>deque</a:t>
            </a:r>
            <a:r>
              <a:rPr lang="en-US" altLang="zh-CN" sz="1800" dirty="0"/>
              <a:t>&lt;</a:t>
            </a:r>
            <a:r>
              <a:rPr lang="en-US" altLang="zh-CN" sz="1800" dirty="0" err="1"/>
              <a:t>int</a:t>
            </a:r>
            <a:r>
              <a:rPr lang="en-US" altLang="zh-CN" sz="1800" dirty="0"/>
              <a:t>&gt; s2;</a:t>
            </a:r>
            <a:endParaRPr lang="en-US" altLang="zh-CN" sz="1800" dirty="0"/>
          </a:p>
          <a:p>
            <a:r>
              <a:rPr lang="en-US" altLang="zh-CN" sz="1800" dirty="0"/>
              <a:t>    //</a:t>
            </a:r>
            <a:r>
              <a:rPr lang="zh-CN" altLang="en-US" sz="1800" dirty="0"/>
              <a:t>以下循环遍历</a:t>
            </a:r>
            <a:r>
              <a:rPr lang="en-US" altLang="zh-CN" sz="1800" dirty="0"/>
              <a:t>s1</a:t>
            </a:r>
            <a:endParaRPr lang="en-US" altLang="zh-CN" sz="1800" dirty="0"/>
          </a:p>
          <a:p>
            <a:r>
              <a:rPr lang="en-US" altLang="zh-CN" sz="1800" dirty="0"/>
              <a:t>    for (vector&lt;</a:t>
            </a:r>
            <a:r>
              <a:rPr lang="en-US" altLang="zh-CN" sz="1800" dirty="0" err="1"/>
              <a:t>int</a:t>
            </a:r>
            <a:r>
              <a:rPr lang="en-US" altLang="zh-CN" sz="1800" dirty="0"/>
              <a:t>&gt;::</a:t>
            </a:r>
            <a:r>
              <a:rPr lang="en-US" altLang="zh-CN" sz="1800" dirty="0" err="1"/>
              <a:t>iterator</a:t>
            </a:r>
            <a:r>
              <a:rPr lang="en-US" altLang="zh-CN" sz="1800" dirty="0"/>
              <a:t> </a:t>
            </a:r>
            <a:r>
              <a:rPr lang="en-US" altLang="zh-CN" sz="1800" dirty="0" err="1"/>
              <a:t>iter</a:t>
            </a:r>
            <a:r>
              <a:rPr lang="en-US" altLang="zh-CN" sz="1800" dirty="0"/>
              <a:t> = s1.begin(); </a:t>
            </a:r>
            <a:r>
              <a:rPr lang="en-US" altLang="zh-CN" sz="1800" dirty="0" err="1"/>
              <a:t>iter</a:t>
            </a:r>
            <a:r>
              <a:rPr lang="en-US" altLang="zh-CN" sz="1800" dirty="0"/>
              <a:t> != s1.end(); ++</a:t>
            </a:r>
            <a:r>
              <a:rPr lang="en-US" altLang="zh-CN" sz="1800" dirty="0" err="1"/>
              <a:t>iter</a:t>
            </a:r>
            <a:r>
              <a:rPr lang="en-US" altLang="zh-CN" sz="1800" dirty="0"/>
              <a:t>) </a:t>
            </a:r>
            <a:endParaRPr lang="en-US" altLang="zh-CN" sz="1800" dirty="0"/>
          </a:p>
          <a:p>
            <a:r>
              <a:rPr lang="en-US" altLang="zh-CN" sz="1800" dirty="0"/>
              <a:t>    {</a:t>
            </a:r>
            <a:endParaRPr lang="en-US" altLang="zh-CN" sz="1800" dirty="0"/>
          </a:p>
          <a:p>
            <a:r>
              <a:rPr lang="en-US" altLang="zh-CN" sz="1800" dirty="0"/>
              <a:t>	if (*</a:t>
            </a:r>
            <a:r>
              <a:rPr lang="en-US" altLang="zh-CN" sz="1800" dirty="0" err="1"/>
              <a:t>iter</a:t>
            </a:r>
            <a:r>
              <a:rPr lang="en-US" altLang="zh-CN" sz="1800" dirty="0"/>
              <a:t> % 2 == 0)		//</a:t>
            </a:r>
            <a:r>
              <a:rPr lang="zh-CN" altLang="en-US" sz="1800" dirty="0"/>
              <a:t>偶数放到</a:t>
            </a:r>
            <a:r>
              <a:rPr lang="en-US" altLang="zh-CN" sz="1800" dirty="0"/>
              <a:t>s2</a:t>
            </a:r>
            <a:r>
              <a:rPr lang="zh-CN" altLang="en-US" sz="1800" dirty="0"/>
              <a:t>尾部</a:t>
            </a:r>
            <a:endParaRPr lang="zh-CN" altLang="en-US" sz="1800" dirty="0"/>
          </a:p>
          <a:p>
            <a:r>
              <a:rPr lang="zh-CN" altLang="en-US" sz="1800" dirty="0"/>
              <a:t>             </a:t>
            </a:r>
            <a:r>
              <a:rPr lang="en-US" altLang="zh-CN" sz="1800" dirty="0"/>
              <a:t>		s2.push_back(*</a:t>
            </a:r>
            <a:r>
              <a:rPr lang="en-US" altLang="zh-CN" sz="1800" dirty="0" err="1"/>
              <a:t>iter</a:t>
            </a:r>
            <a:r>
              <a:rPr lang="en-US" altLang="zh-CN" sz="1800" dirty="0"/>
              <a:t>);</a:t>
            </a:r>
            <a:endParaRPr lang="en-US" altLang="zh-CN" sz="1800" dirty="0"/>
          </a:p>
          <a:p>
            <a:r>
              <a:rPr lang="en-US" altLang="zh-CN" sz="1800" dirty="0"/>
              <a:t>	else			//</a:t>
            </a:r>
            <a:r>
              <a:rPr lang="zh-CN" altLang="en-US" sz="1800" dirty="0"/>
              <a:t>奇数放到</a:t>
            </a:r>
            <a:r>
              <a:rPr lang="en-US" altLang="zh-CN" sz="1800" dirty="0"/>
              <a:t>s2</a:t>
            </a:r>
            <a:r>
              <a:rPr lang="zh-CN" altLang="en-US" sz="1800" dirty="0"/>
              <a:t>首部</a:t>
            </a:r>
            <a:endParaRPr lang="zh-CN" altLang="en-US" sz="1800" dirty="0"/>
          </a:p>
          <a:p>
            <a:r>
              <a:rPr lang="zh-CN" altLang="en-US" sz="1800" dirty="0"/>
              <a:t>	     </a:t>
            </a:r>
            <a:r>
              <a:rPr lang="en-US" altLang="zh-CN" sz="1800" dirty="0"/>
              <a:t>	s2.push_front(*</a:t>
            </a:r>
            <a:r>
              <a:rPr lang="en-US" altLang="zh-CN" sz="1800" dirty="0" err="1"/>
              <a:t>iter</a:t>
            </a:r>
            <a:r>
              <a:rPr lang="en-US" altLang="zh-CN" sz="1800" dirty="0"/>
              <a:t>);</a:t>
            </a:r>
            <a:endParaRPr lang="en-US" altLang="zh-CN" sz="1800" dirty="0"/>
          </a:p>
          <a:p>
            <a:r>
              <a:rPr lang="en-US" altLang="zh-CN" sz="1800" dirty="0"/>
              <a:t>    }</a:t>
            </a:r>
            <a:endParaRPr lang="en-US" altLang="zh-CN" sz="1800" dirty="0"/>
          </a:p>
          <a:p>
            <a:r>
              <a:rPr lang="en-US" altLang="zh-CN" sz="1800" dirty="0"/>
              <a:t>    //</a:t>
            </a:r>
            <a:r>
              <a:rPr lang="zh-CN" altLang="en-US" sz="1800" dirty="0"/>
              <a:t>将</a:t>
            </a:r>
            <a:r>
              <a:rPr lang="en-US" altLang="zh-CN" sz="1800" dirty="0"/>
              <a:t>s2</a:t>
            </a:r>
            <a:r>
              <a:rPr lang="zh-CN" altLang="en-US" sz="1800" dirty="0"/>
              <a:t>的结果输出</a:t>
            </a:r>
            <a:endParaRPr lang="zh-CN" altLang="en-US" sz="1800" dirty="0"/>
          </a:p>
          <a:p>
            <a:r>
              <a:rPr lang="en-US" altLang="zh-CN" sz="1800" dirty="0"/>
              <a:t>    copy(s2.begin(), s2.end(), </a:t>
            </a:r>
            <a:r>
              <a:rPr lang="en-US" altLang="zh-CN" sz="1800" dirty="0" err="1"/>
              <a:t>ostream_iterator</a:t>
            </a:r>
            <a:r>
              <a:rPr lang="en-US" altLang="zh-CN" sz="1800" dirty="0"/>
              <a:t>&lt;</a:t>
            </a:r>
            <a:r>
              <a:rPr lang="en-US" altLang="zh-CN" sz="1800" dirty="0" err="1"/>
              <a:t>int</a:t>
            </a:r>
            <a:r>
              <a:rPr lang="en-US" altLang="zh-CN" sz="1800" dirty="0"/>
              <a:t>&gt;(</a:t>
            </a:r>
            <a:r>
              <a:rPr lang="en-US" altLang="zh-CN" sz="1800" dirty="0" err="1"/>
              <a:t>cout</a:t>
            </a:r>
            <a:r>
              <a:rPr lang="en-US" altLang="zh-CN" sz="1800" dirty="0"/>
              <a:t>, " "));</a:t>
            </a:r>
            <a:endParaRPr lang="en-US" altLang="zh-CN" sz="1800" dirty="0"/>
          </a:p>
          <a:p>
            <a:r>
              <a:rPr lang="en-US" altLang="zh-CN" sz="1800" dirty="0"/>
              <a:t>    </a:t>
            </a:r>
            <a:r>
              <a:rPr lang="en-US" altLang="zh-CN" sz="1800" dirty="0" err="1"/>
              <a:t>cout</a:t>
            </a:r>
            <a:r>
              <a:rPr lang="en-US" altLang="zh-CN" sz="1800" dirty="0"/>
              <a:t> &lt;&lt; </a:t>
            </a:r>
            <a:r>
              <a:rPr lang="en-US" altLang="zh-CN" sz="1800" dirty="0" err="1"/>
              <a:t>endl</a:t>
            </a:r>
            <a:r>
              <a:rPr lang="en-US" altLang="zh-CN" sz="1800" dirty="0"/>
              <a:t>;</a:t>
            </a:r>
            <a:endParaRPr lang="en-US" altLang="zh-CN" sz="1800" dirty="0"/>
          </a:p>
          <a:p>
            <a:r>
              <a:rPr lang="en-US" altLang="zh-CN" sz="1800" dirty="0"/>
              <a:t>    return 0;</a:t>
            </a:r>
            <a:endParaRPr lang="en-US" altLang="zh-CN" sz="1800" dirty="0"/>
          </a:p>
          <a:p>
            <a:r>
              <a:rPr lang="en-US" altLang="zh-CN" sz="1800" dirty="0"/>
              <a:t>}</a:t>
            </a:r>
            <a:endParaRPr lang="en-US" altLang="zh-CN" sz="1800"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pPr algn="ctr"/>
            <a:r>
              <a:rPr lang="zh-CN" altLang="en-US" sz="4400" b="1" dirty="0">
                <a:solidFill>
                  <a:srgbClr val="FFFF00"/>
                </a:solidFill>
                <a:latin typeface="Times New Roman" panose="02020603050405020304" pitchFamily="18" charset="0"/>
                <a:ea typeface="隶书" panose="02010509060101010101" pitchFamily="49" charset="-122"/>
              </a:rPr>
              <a:t>列表</a:t>
            </a:r>
            <a:r>
              <a:rPr lang="en-US" altLang="zh-CN" sz="4400" b="1" dirty="0">
                <a:solidFill>
                  <a:srgbClr val="FFFF00"/>
                </a:solidFill>
                <a:latin typeface="Times New Roman" panose="02020603050405020304" pitchFamily="18" charset="0"/>
                <a:ea typeface="隶书" panose="02010509060101010101" pitchFamily="49" charset="-122"/>
              </a:rPr>
              <a:t>(list)</a:t>
            </a:r>
            <a:endParaRPr lang="zh-CN" altLang="en-US" sz="4400" b="1" dirty="0">
              <a:solidFill>
                <a:srgbClr val="FFFF00"/>
              </a:solidFill>
              <a:latin typeface="Times New Roman" panose="02020603050405020304" pitchFamily="18" charset="0"/>
              <a:ea typeface="隶书" panose="02010509060101010101" pitchFamily="49" charset="-122"/>
            </a:endParaRPr>
          </a:p>
        </p:txBody>
      </p:sp>
      <p:sp>
        <p:nvSpPr>
          <p:cNvPr id="38915" name="内容占位符 2"/>
          <p:cNvSpPr>
            <a:spLocks noGrp="1"/>
          </p:cNvSpPr>
          <p:nvPr>
            <p:ph idx="1"/>
          </p:nvPr>
        </p:nvSpPr>
        <p:spPr/>
        <p:txBody>
          <a:bodyPr/>
          <a:lstStyle/>
          <a:p>
            <a:pPr>
              <a:spcAft>
                <a:spcPct val="25000"/>
              </a:spcAft>
            </a:pPr>
            <a:r>
              <a:rPr lang="zh-CN" altLang="en-US" sz="2400" b="1">
                <a:ea typeface="华文楷体" panose="02010600040101010101" pitchFamily="2" charset="-122"/>
              </a:rPr>
              <a:t>特点</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在任意位置插入和删除元素都很快</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不支持随机访问</a:t>
            </a:r>
            <a:endParaRPr lang="en-US" altLang="zh-CN" sz="2400" b="1">
              <a:ea typeface="华文楷体" panose="02010600040101010101" pitchFamily="2" charset="-122"/>
            </a:endParaRPr>
          </a:p>
          <a:p>
            <a:pPr>
              <a:spcAft>
                <a:spcPct val="25000"/>
              </a:spcAft>
            </a:pPr>
            <a:r>
              <a:rPr lang="zh-CN" altLang="en-US" sz="2400" b="1">
                <a:ea typeface="华文楷体" panose="02010600040101010101" pitchFamily="2" charset="-122"/>
              </a:rPr>
              <a:t>接合</a:t>
            </a:r>
            <a:r>
              <a:rPr lang="en-US" altLang="zh-CN" sz="2400" b="1">
                <a:ea typeface="华文楷体" panose="02010600040101010101" pitchFamily="2" charset="-122"/>
              </a:rPr>
              <a:t>(splice)</a:t>
            </a:r>
            <a:r>
              <a:rPr lang="zh-CN" altLang="en-US" sz="2400" b="1">
                <a:ea typeface="华文楷体" panose="02010600040101010101" pitchFamily="2" charset="-122"/>
              </a:rPr>
              <a:t>操作</a:t>
            </a:r>
            <a:endParaRPr lang="en-US" altLang="zh-CN" sz="2400" b="1">
              <a:ea typeface="华文楷体" panose="02010600040101010101" pitchFamily="2" charset="-122"/>
            </a:endParaRPr>
          </a:p>
          <a:p>
            <a:pPr lvl="1">
              <a:buFont typeface="Wingdings" panose="05000000000000000000" pitchFamily="2" charset="2"/>
              <a:buChar char="ü"/>
            </a:pPr>
            <a:r>
              <a:rPr lang="en-US" altLang="zh-CN" sz="2400" b="1">
                <a:ea typeface="华文楷体" panose="02010600040101010101" pitchFamily="2" charset="-122"/>
              </a:rPr>
              <a:t>s1.splice(p, s2, q1, q2)</a:t>
            </a:r>
            <a:r>
              <a:rPr lang="zh-CN" altLang="en-US" sz="2400" b="1">
                <a:ea typeface="华文楷体" panose="02010600040101010101" pitchFamily="2" charset="-122"/>
              </a:rPr>
              <a:t>：将</a:t>
            </a:r>
            <a:r>
              <a:rPr lang="en-US" altLang="zh-CN" sz="2400" b="1">
                <a:ea typeface="华文楷体" panose="02010600040101010101" pitchFamily="2" charset="-122"/>
              </a:rPr>
              <a:t>s2</a:t>
            </a:r>
            <a:r>
              <a:rPr lang="zh-CN" altLang="en-US" sz="2400" b="1">
                <a:ea typeface="华文楷体" panose="02010600040101010101" pitchFamily="2" charset="-122"/>
              </a:rPr>
              <a:t>中</a:t>
            </a:r>
            <a:r>
              <a:rPr lang="en-US" altLang="zh-CN" sz="2400" b="1">
                <a:ea typeface="华文楷体" panose="02010600040101010101" pitchFamily="2" charset="-122"/>
              </a:rPr>
              <a:t>[q1, q2)</a:t>
            </a:r>
            <a:r>
              <a:rPr lang="zh-CN" altLang="en-US" sz="2400" b="1">
                <a:ea typeface="华文楷体" panose="02010600040101010101" pitchFamily="2" charset="-122"/>
              </a:rPr>
              <a:t>移动到</a:t>
            </a:r>
            <a:r>
              <a:rPr lang="en-US" altLang="zh-CN" sz="2400" b="1">
                <a:ea typeface="华文楷体" panose="02010600040101010101" pitchFamily="2" charset="-122"/>
              </a:rPr>
              <a:t>s1</a:t>
            </a:r>
            <a:r>
              <a:rPr lang="zh-CN" altLang="en-US" sz="2400" b="1">
                <a:ea typeface="华文楷体" panose="02010600040101010101" pitchFamily="2" charset="-122"/>
              </a:rPr>
              <a:t>中</a:t>
            </a:r>
            <a:r>
              <a:rPr lang="en-US" altLang="zh-CN" sz="2400" b="1">
                <a:ea typeface="华文楷体" panose="02010600040101010101" pitchFamily="2" charset="-122"/>
              </a:rPr>
              <a:t>p</a:t>
            </a:r>
            <a:r>
              <a:rPr lang="zh-CN" altLang="en-US" sz="2400" b="1">
                <a:ea typeface="华文楷体" panose="02010600040101010101" pitchFamily="2" charset="-122"/>
              </a:rPr>
              <a:t>所指向元素之前</a:t>
            </a:r>
            <a:endParaRPr lang="en-US" altLang="zh-CN" sz="2400" b="1">
              <a:ea typeface="华文楷体" panose="02010600040101010101" pitchFamily="2"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pPr eaLnBrk="1" hangingPunct="1"/>
            <a:r>
              <a:rPr lang="zh-CN" altLang="en-US" b="1"/>
              <a:t>例</a:t>
            </a:r>
            <a:r>
              <a:rPr lang="en-US" altLang="zh-CN" b="1"/>
              <a:t>10-6</a:t>
            </a:r>
            <a:r>
              <a:rPr lang="zh-CN" altLang="en-US" b="1"/>
              <a:t>列表容器的</a:t>
            </a:r>
            <a:r>
              <a:rPr lang="en-US" altLang="zh-CN" b="1"/>
              <a:t>splice</a:t>
            </a:r>
            <a:r>
              <a:rPr lang="zh-CN" altLang="en-US" b="1"/>
              <a:t>操作</a:t>
            </a:r>
            <a:endParaRPr lang="zh-CN" altLang="en-US" b="1"/>
          </a:p>
        </p:txBody>
      </p:sp>
      <p:sp>
        <p:nvSpPr>
          <p:cNvPr id="3" name="内容占位符 2"/>
          <p:cNvSpPr>
            <a:spLocks noGrp="1"/>
          </p:cNvSpPr>
          <p:nvPr>
            <p:ph idx="1"/>
          </p:nvPr>
        </p:nvSpPr>
        <p:spPr>
          <a:xfrm>
            <a:off x="71438" y="1571625"/>
            <a:ext cx="8858250" cy="440120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头部分省略</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string names1[] = { "Alice", "Helen", "Lucy", "Susan"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string names2[] = { "Bob", "David", "Levin", "Mike"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list&lt;string&gt; s1(names1, names1 + 4); //</a:t>
            </a:r>
            <a:r>
              <a:rPr lang="zh-CN" altLang="en-US" sz="2000" b="1" dirty="0">
                <a:solidFill>
                  <a:srgbClr val="000000"/>
                </a:solidFill>
                <a:latin typeface="Times New Roman" panose="02020603050405020304" pitchFamily="18" charset="0"/>
                <a:ea typeface="华文楷体" panose="02010600040101010101" pitchFamily="2" charset="-122"/>
              </a:rPr>
              <a:t>用</a:t>
            </a:r>
            <a:r>
              <a:rPr lang="en-US" altLang="zh-CN" sz="2000" b="1" dirty="0">
                <a:solidFill>
                  <a:srgbClr val="000000"/>
                </a:solidFill>
                <a:latin typeface="Times New Roman" panose="02020603050405020304" pitchFamily="18" charset="0"/>
                <a:ea typeface="华文楷体" panose="02010600040101010101" pitchFamily="2" charset="-122"/>
              </a:rPr>
              <a:t>names1</a:t>
            </a:r>
            <a:r>
              <a:rPr lang="zh-CN" altLang="en-US" sz="2000" b="1" dirty="0">
                <a:solidFill>
                  <a:srgbClr val="000000"/>
                </a:solidFill>
                <a:latin typeface="Times New Roman" panose="02020603050405020304" pitchFamily="18" charset="0"/>
                <a:ea typeface="华文楷体" panose="02010600040101010101" pitchFamily="2" charset="-122"/>
              </a:rPr>
              <a:t>数组的内容构造列表</a:t>
            </a:r>
            <a:r>
              <a:rPr lang="en-US" altLang="zh-CN" sz="2000" b="1" dirty="0">
                <a:solidFill>
                  <a:srgbClr val="000000"/>
                </a:solidFill>
                <a:latin typeface="Times New Roman" panose="02020603050405020304" pitchFamily="18" charset="0"/>
                <a:ea typeface="华文楷体" panose="02010600040101010101" pitchFamily="2" charset="-122"/>
              </a:rPr>
              <a:t>s1</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list&lt;string&gt; s2(names2, names2 + 4); //</a:t>
            </a:r>
            <a:r>
              <a:rPr lang="zh-CN" altLang="en-US" sz="2000" b="1" dirty="0">
                <a:solidFill>
                  <a:srgbClr val="000000"/>
                </a:solidFill>
                <a:latin typeface="Times New Roman" panose="02020603050405020304" pitchFamily="18" charset="0"/>
                <a:ea typeface="华文楷体" panose="02010600040101010101" pitchFamily="2" charset="-122"/>
              </a:rPr>
              <a:t>用</a:t>
            </a:r>
            <a:r>
              <a:rPr lang="en-US" altLang="zh-CN" sz="2000" b="1" dirty="0">
                <a:solidFill>
                  <a:srgbClr val="000000"/>
                </a:solidFill>
                <a:latin typeface="Times New Roman" panose="02020603050405020304" pitchFamily="18" charset="0"/>
                <a:ea typeface="华文楷体" panose="02010600040101010101" pitchFamily="2" charset="-122"/>
              </a:rPr>
              <a:t>names2</a:t>
            </a:r>
            <a:r>
              <a:rPr lang="zh-CN" altLang="en-US" sz="2000" b="1" dirty="0">
                <a:solidFill>
                  <a:srgbClr val="000000"/>
                </a:solidFill>
                <a:latin typeface="Times New Roman" panose="02020603050405020304" pitchFamily="18" charset="0"/>
                <a:ea typeface="华文楷体" panose="02010600040101010101" pitchFamily="2" charset="-122"/>
              </a:rPr>
              <a:t>数组的内容构造列表</a:t>
            </a:r>
            <a:r>
              <a:rPr lang="en-US" altLang="zh-CN" sz="2000" b="1" dirty="0">
                <a:solidFill>
                  <a:srgbClr val="000000"/>
                </a:solidFill>
                <a:latin typeface="Times New Roman" panose="02020603050405020304" pitchFamily="18" charset="0"/>
                <a:ea typeface="华文楷体" panose="02010600040101010101" pitchFamily="2" charset="-122"/>
              </a:rPr>
              <a:t>s2</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将</a:t>
            </a:r>
            <a:r>
              <a:rPr lang="en-US" altLang="zh-CN" sz="2000" b="1" dirty="0">
                <a:solidFill>
                  <a:srgbClr val="000000"/>
                </a:solidFill>
                <a:latin typeface="Times New Roman" panose="02020603050405020304" pitchFamily="18" charset="0"/>
                <a:ea typeface="华文楷体" panose="02010600040101010101" pitchFamily="2" charset="-122"/>
              </a:rPr>
              <a:t>s1</a:t>
            </a:r>
            <a:r>
              <a:rPr lang="zh-CN" altLang="en-US" sz="2000" b="1" dirty="0">
                <a:solidFill>
                  <a:srgbClr val="000000"/>
                </a:solidFill>
                <a:latin typeface="Times New Roman" panose="02020603050405020304" pitchFamily="18" charset="0"/>
                <a:ea typeface="华文楷体" panose="02010600040101010101" pitchFamily="2" charset="-122"/>
              </a:rPr>
              <a:t>的第一个元素放到</a:t>
            </a:r>
            <a:r>
              <a:rPr lang="en-US" altLang="zh-CN" sz="2000" b="1" dirty="0">
                <a:solidFill>
                  <a:srgbClr val="000000"/>
                </a:solidFill>
                <a:latin typeface="Times New Roman" panose="02020603050405020304" pitchFamily="18" charset="0"/>
                <a:ea typeface="华文楷体" panose="02010600040101010101" pitchFamily="2" charset="-122"/>
              </a:rPr>
              <a:t>s2</a:t>
            </a:r>
            <a:r>
              <a:rPr lang="zh-CN" altLang="en-US" sz="2000" b="1" dirty="0">
                <a:solidFill>
                  <a:srgbClr val="000000"/>
                </a:solidFill>
                <a:latin typeface="Times New Roman" panose="02020603050405020304" pitchFamily="18" charset="0"/>
                <a:ea typeface="华文楷体" panose="02010600040101010101" pitchFamily="2" charset="-122"/>
              </a:rPr>
              <a:t>的最后</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s2.splice(s2.end(), s1, s1.begin());</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list&lt;string&gt;::</a:t>
            </a:r>
            <a:r>
              <a:rPr lang="en-US" altLang="zh-CN" sz="2000" b="1" dirty="0" err="1">
                <a:solidFill>
                  <a:srgbClr val="000000"/>
                </a:solidFill>
                <a:latin typeface="Times New Roman" panose="02020603050405020304" pitchFamily="18" charset="0"/>
                <a:ea typeface="华文楷体" panose="02010600040101010101" pitchFamily="2" charset="-122"/>
              </a:rPr>
              <a:t>iterator</a:t>
            </a:r>
            <a:r>
              <a:rPr lang="en-US" altLang="zh-CN" sz="2000" b="1" dirty="0">
                <a:solidFill>
                  <a:srgbClr val="000000"/>
                </a:solidFill>
                <a:latin typeface="Times New Roman" panose="02020603050405020304" pitchFamily="18" charset="0"/>
                <a:ea typeface="华文楷体" panose="02010600040101010101" pitchFamily="2" charset="-122"/>
              </a:rPr>
              <a:t> iter1 = s1.begin(); //iter1</a:t>
            </a:r>
            <a:r>
              <a:rPr lang="zh-CN" altLang="en-US" sz="2000" b="1" dirty="0">
                <a:solidFill>
                  <a:srgbClr val="000000"/>
                </a:solidFill>
                <a:latin typeface="Times New Roman" panose="02020603050405020304" pitchFamily="18" charset="0"/>
                <a:ea typeface="华文楷体" panose="02010600040101010101" pitchFamily="2" charset="-122"/>
              </a:rPr>
              <a:t>指向</a:t>
            </a:r>
            <a:r>
              <a:rPr lang="en-US" altLang="zh-CN" sz="2000" b="1" dirty="0">
                <a:solidFill>
                  <a:srgbClr val="000000"/>
                </a:solidFill>
                <a:latin typeface="Times New Roman" panose="02020603050405020304" pitchFamily="18" charset="0"/>
                <a:ea typeface="华文楷体" panose="02010600040101010101" pitchFamily="2" charset="-122"/>
              </a:rPr>
              <a:t>s1</a:t>
            </a:r>
            <a:r>
              <a:rPr lang="zh-CN" altLang="en-US" sz="2000" b="1" dirty="0">
                <a:solidFill>
                  <a:srgbClr val="000000"/>
                </a:solidFill>
                <a:latin typeface="Times New Roman" panose="02020603050405020304" pitchFamily="18" charset="0"/>
                <a:ea typeface="华文楷体" panose="02010600040101010101" pitchFamily="2" charset="-122"/>
              </a:rPr>
              <a:t>首</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advance(iter1, 2); //iter1</a:t>
            </a:r>
            <a:r>
              <a:rPr lang="zh-CN" altLang="en-US" sz="2000" b="1" dirty="0">
                <a:solidFill>
                  <a:srgbClr val="000000"/>
                </a:solidFill>
                <a:latin typeface="Times New Roman" panose="02020603050405020304" pitchFamily="18" charset="0"/>
                <a:ea typeface="华文楷体" panose="02010600040101010101" pitchFamily="2" charset="-122"/>
              </a:rPr>
              <a:t>前进</a:t>
            </a:r>
            <a:r>
              <a:rPr lang="en-US" altLang="zh-CN" sz="2000" b="1" dirty="0">
                <a:solidFill>
                  <a:srgbClr val="000000"/>
                </a:solidFill>
                <a:latin typeface="Times New Roman" panose="02020603050405020304" pitchFamily="18" charset="0"/>
                <a:ea typeface="华文楷体" panose="02010600040101010101" pitchFamily="2" charset="-122"/>
              </a:rPr>
              <a:t>2</a:t>
            </a:r>
            <a:r>
              <a:rPr lang="zh-CN" altLang="en-US" sz="2000" b="1" dirty="0">
                <a:solidFill>
                  <a:srgbClr val="000000"/>
                </a:solidFill>
                <a:latin typeface="Times New Roman" panose="02020603050405020304" pitchFamily="18" charset="0"/>
                <a:ea typeface="华文楷体" panose="02010600040101010101" pitchFamily="2" charset="-122"/>
              </a:rPr>
              <a:t>个元素，它将指向</a:t>
            </a:r>
            <a:r>
              <a:rPr lang="en-US" altLang="zh-CN" sz="2000" b="1" dirty="0">
                <a:solidFill>
                  <a:srgbClr val="000000"/>
                </a:solidFill>
                <a:latin typeface="Times New Roman" panose="02020603050405020304" pitchFamily="18" charset="0"/>
                <a:ea typeface="华文楷体" panose="02010600040101010101" pitchFamily="2" charset="-122"/>
              </a:rPr>
              <a:t>s1</a:t>
            </a:r>
            <a:r>
              <a:rPr lang="zh-CN" altLang="en-US" sz="2000" b="1" dirty="0">
                <a:solidFill>
                  <a:srgbClr val="000000"/>
                </a:solidFill>
                <a:latin typeface="Times New Roman" panose="02020603050405020304" pitchFamily="18" charset="0"/>
                <a:ea typeface="华文楷体" panose="02010600040101010101" pitchFamily="2" charset="-122"/>
              </a:rPr>
              <a:t>第</a:t>
            </a:r>
            <a:r>
              <a:rPr lang="en-US" altLang="zh-CN" sz="2000" b="1" dirty="0">
                <a:solidFill>
                  <a:srgbClr val="000000"/>
                </a:solidFill>
                <a:latin typeface="Times New Roman" panose="02020603050405020304" pitchFamily="18" charset="0"/>
                <a:ea typeface="华文楷体" panose="02010600040101010101" pitchFamily="2" charset="-122"/>
              </a:rPr>
              <a:t>3</a:t>
            </a:r>
            <a:r>
              <a:rPr lang="zh-CN" altLang="en-US" sz="2000" b="1" dirty="0">
                <a:solidFill>
                  <a:srgbClr val="000000"/>
                </a:solidFill>
                <a:latin typeface="Times New Roman" panose="02020603050405020304" pitchFamily="18" charset="0"/>
                <a:ea typeface="华文楷体" panose="02010600040101010101" pitchFamily="2" charset="-122"/>
              </a:rPr>
              <a:t>个元素</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list&lt;string&gt;::</a:t>
            </a:r>
            <a:r>
              <a:rPr lang="en-US" altLang="zh-CN" sz="2000" b="1" dirty="0" err="1">
                <a:solidFill>
                  <a:srgbClr val="000000"/>
                </a:solidFill>
                <a:latin typeface="Times New Roman" panose="02020603050405020304" pitchFamily="18" charset="0"/>
                <a:ea typeface="华文楷体" panose="02010600040101010101" pitchFamily="2" charset="-122"/>
              </a:rPr>
              <a:t>iterator</a:t>
            </a:r>
            <a:r>
              <a:rPr lang="en-US" altLang="zh-CN" sz="2000" b="1" dirty="0">
                <a:solidFill>
                  <a:srgbClr val="000000"/>
                </a:solidFill>
                <a:latin typeface="Times New Roman" panose="02020603050405020304" pitchFamily="18" charset="0"/>
                <a:ea typeface="华文楷体" panose="02010600040101010101" pitchFamily="2" charset="-122"/>
              </a:rPr>
              <a:t> iter2 = s2.begin();  //iter2</a:t>
            </a:r>
            <a:r>
              <a:rPr lang="zh-CN" altLang="en-US" sz="2000" b="1" dirty="0">
                <a:solidFill>
                  <a:srgbClr val="000000"/>
                </a:solidFill>
                <a:latin typeface="Times New Roman" panose="02020603050405020304" pitchFamily="18" charset="0"/>
                <a:ea typeface="华文楷体" panose="02010600040101010101" pitchFamily="2" charset="-122"/>
              </a:rPr>
              <a:t>指向</a:t>
            </a:r>
            <a:r>
              <a:rPr lang="en-US" altLang="zh-CN" sz="2000" b="1" dirty="0">
                <a:solidFill>
                  <a:srgbClr val="000000"/>
                </a:solidFill>
                <a:latin typeface="Times New Roman" panose="02020603050405020304" pitchFamily="18" charset="0"/>
                <a:ea typeface="华文楷体" panose="02010600040101010101" pitchFamily="2" charset="-122"/>
              </a:rPr>
              <a:t>s2</a:t>
            </a:r>
            <a:r>
              <a:rPr lang="zh-CN" altLang="en-US" sz="2000" b="1" dirty="0">
                <a:solidFill>
                  <a:srgbClr val="000000"/>
                </a:solidFill>
                <a:latin typeface="Times New Roman" panose="02020603050405020304" pitchFamily="18" charset="0"/>
                <a:ea typeface="华文楷体" panose="02010600040101010101" pitchFamily="2" charset="-122"/>
              </a:rPr>
              <a:t>首</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++iter2; //iter2</a:t>
            </a:r>
            <a:r>
              <a:rPr lang="zh-CN" altLang="en-US" sz="2000" b="1" dirty="0">
                <a:solidFill>
                  <a:srgbClr val="000000"/>
                </a:solidFill>
                <a:latin typeface="Times New Roman" panose="02020603050405020304" pitchFamily="18" charset="0"/>
                <a:ea typeface="华文楷体" panose="02010600040101010101" pitchFamily="2" charset="-122"/>
              </a:rPr>
              <a:t>前进</a:t>
            </a:r>
            <a:r>
              <a:rPr lang="en-US" altLang="zh-CN" sz="2000" b="1" dirty="0">
                <a:solidFill>
                  <a:srgbClr val="000000"/>
                </a:solidFill>
                <a:latin typeface="Times New Roman" panose="02020603050405020304" pitchFamily="18" charset="0"/>
                <a:ea typeface="华文楷体" panose="02010600040101010101" pitchFamily="2" charset="-122"/>
              </a:rPr>
              <a:t>1</a:t>
            </a:r>
            <a:r>
              <a:rPr lang="zh-CN" altLang="en-US" sz="2000" b="1" dirty="0">
                <a:solidFill>
                  <a:srgbClr val="000000"/>
                </a:solidFill>
                <a:latin typeface="Times New Roman" panose="02020603050405020304" pitchFamily="18" charset="0"/>
                <a:ea typeface="华文楷体" panose="02010600040101010101" pitchFamily="2" charset="-122"/>
              </a:rPr>
              <a:t>个元素，它将指向</a:t>
            </a:r>
            <a:r>
              <a:rPr lang="en-US" altLang="zh-CN" sz="2000" b="1" dirty="0">
                <a:solidFill>
                  <a:srgbClr val="000000"/>
                </a:solidFill>
                <a:latin typeface="Times New Roman" panose="02020603050405020304" pitchFamily="18" charset="0"/>
                <a:ea typeface="华文楷体" panose="02010600040101010101" pitchFamily="2" charset="-122"/>
              </a:rPr>
              <a:t>s2</a:t>
            </a:r>
            <a:r>
              <a:rPr lang="zh-CN" altLang="en-US" sz="2000" b="1" dirty="0">
                <a:solidFill>
                  <a:srgbClr val="000000"/>
                </a:solidFill>
                <a:latin typeface="Times New Roman" panose="02020603050405020304" pitchFamily="18" charset="0"/>
                <a:ea typeface="华文楷体" panose="02010600040101010101" pitchFamily="2" charset="-122"/>
              </a:rPr>
              <a:t>第</a:t>
            </a:r>
            <a:r>
              <a:rPr lang="en-US" altLang="zh-CN" sz="2000" b="1" dirty="0">
                <a:solidFill>
                  <a:srgbClr val="000000"/>
                </a:solidFill>
                <a:latin typeface="Times New Roman" panose="02020603050405020304" pitchFamily="18" charset="0"/>
                <a:ea typeface="华文楷体" panose="02010600040101010101" pitchFamily="2" charset="-122"/>
              </a:rPr>
              <a:t>2</a:t>
            </a:r>
            <a:r>
              <a:rPr lang="zh-CN" altLang="en-US" sz="2000" b="1" dirty="0">
                <a:solidFill>
                  <a:srgbClr val="000000"/>
                </a:solidFill>
                <a:latin typeface="Times New Roman" panose="02020603050405020304" pitchFamily="18" charset="0"/>
                <a:ea typeface="华文楷体" panose="02010600040101010101" pitchFamily="2" charset="-122"/>
              </a:rPr>
              <a:t>个元素</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solidFill>
                  <a:srgbClr val="FFFF00"/>
                </a:solidFill>
              </a:rPr>
              <a:t>单向链表（</a:t>
            </a:r>
            <a:r>
              <a:rPr lang="en-US" altLang="zh-CN" b="1">
                <a:solidFill>
                  <a:srgbClr val="FFFF00"/>
                </a:solidFill>
              </a:rPr>
              <a:t>forward_list</a:t>
            </a:r>
            <a:r>
              <a:rPr lang="zh-CN" altLang="en-US" b="1">
                <a:solidFill>
                  <a:srgbClr val="FFFF00"/>
                </a:solidFill>
              </a:rPr>
              <a:t>）</a:t>
            </a:r>
            <a:endParaRPr lang="zh-CN" altLang="en-US" b="1">
              <a:solidFill>
                <a:srgbClr val="FFFF00"/>
              </a:solidFill>
            </a:endParaRPr>
          </a:p>
        </p:txBody>
      </p:sp>
      <p:sp>
        <p:nvSpPr>
          <p:cNvPr id="3" name="内容占位符 2"/>
          <p:cNvSpPr>
            <a:spLocks noGrp="1"/>
          </p:cNvSpPr>
          <p:nvPr>
            <p:ph idx="1"/>
          </p:nvPr>
        </p:nvSpPr>
        <p:spPr>
          <a:xfrm>
            <a:off x="622523" y="1484784"/>
            <a:ext cx="7886700" cy="4351338"/>
          </a:xfrm>
        </p:spPr>
        <p:txBody>
          <a:bodyPr/>
          <a:lstStyle/>
          <a:p>
            <a:pPr>
              <a:lnSpc>
                <a:spcPct val="150000"/>
              </a:lnSpc>
            </a:pPr>
            <a:r>
              <a:rPr lang="zh-CN" altLang="zh-CN" sz="2400" b="1">
                <a:ea typeface="微软雅黑" panose="020B0503020204020204" pitchFamily="34" charset="-122"/>
              </a:rPr>
              <a:t>单向链表每个</a:t>
            </a:r>
            <a:r>
              <a:rPr lang="zh-CN" altLang="en-US" sz="2400" b="1">
                <a:ea typeface="微软雅黑" panose="020B0503020204020204" pitchFamily="34" charset="-122"/>
              </a:rPr>
              <a:t>结点</a:t>
            </a:r>
            <a:r>
              <a:rPr lang="zh-CN" altLang="zh-CN" sz="2400" b="1">
                <a:ea typeface="微软雅黑" panose="020B0503020204020204" pitchFamily="34" charset="-122"/>
              </a:rPr>
              <a:t>只有指向下个</a:t>
            </a:r>
            <a:r>
              <a:rPr lang="zh-CN" altLang="en-US" sz="2400" b="1">
                <a:ea typeface="微软雅黑" panose="020B0503020204020204" pitchFamily="34" charset="-122"/>
              </a:rPr>
              <a:t>结点</a:t>
            </a:r>
            <a:r>
              <a:rPr lang="zh-CN" altLang="zh-CN" sz="2400" b="1">
                <a:ea typeface="微软雅黑" panose="020B0503020204020204" pitchFamily="34" charset="-122"/>
              </a:rPr>
              <a:t>的指针，没有简单的方法来获取一个</a:t>
            </a:r>
            <a:r>
              <a:rPr lang="zh-CN" altLang="en-US" sz="2400" b="1">
                <a:ea typeface="微软雅黑" panose="020B0503020204020204" pitchFamily="34" charset="-122"/>
              </a:rPr>
              <a:t>结点</a:t>
            </a:r>
            <a:r>
              <a:rPr lang="zh-CN" altLang="zh-CN" sz="2400" b="1">
                <a:ea typeface="微软雅黑" panose="020B0503020204020204" pitchFamily="34" charset="-122"/>
              </a:rPr>
              <a:t>的前驱</a:t>
            </a:r>
            <a:r>
              <a:rPr lang="zh-CN" altLang="en-US" sz="2400" b="1">
                <a:ea typeface="微软雅黑" panose="020B0503020204020204" pitchFamily="34" charset="-122"/>
              </a:rPr>
              <a:t>；</a:t>
            </a:r>
            <a:endParaRPr lang="en-US" altLang="zh-CN" sz="2400" b="1">
              <a:ea typeface="微软雅黑" panose="020B0503020204020204" pitchFamily="34" charset="-122"/>
            </a:endParaRPr>
          </a:p>
          <a:p>
            <a:pPr>
              <a:lnSpc>
                <a:spcPct val="150000"/>
              </a:lnSpc>
            </a:pPr>
            <a:r>
              <a:rPr lang="zh-CN" altLang="zh-CN" sz="2400" b="1">
                <a:ea typeface="微软雅黑" panose="020B0503020204020204" pitchFamily="34" charset="-122"/>
              </a:rPr>
              <a:t>未定义</a:t>
            </a:r>
            <a:r>
              <a:rPr lang="en-US" altLang="zh-CN" sz="2400" b="1">
                <a:ea typeface="微软雅黑" panose="020B0503020204020204" pitchFamily="34" charset="-122"/>
              </a:rPr>
              <a:t>insert</a:t>
            </a:r>
            <a:r>
              <a:rPr lang="zh-CN" altLang="zh-CN" sz="2400" b="1">
                <a:ea typeface="微软雅黑" panose="020B0503020204020204" pitchFamily="34" charset="-122"/>
              </a:rPr>
              <a:t>、</a:t>
            </a:r>
            <a:r>
              <a:rPr lang="en-US" altLang="zh-CN" sz="2400" b="1">
                <a:ea typeface="微软雅黑" panose="020B0503020204020204" pitchFamily="34" charset="-122"/>
              </a:rPr>
              <a:t>emplace</a:t>
            </a:r>
            <a:r>
              <a:rPr lang="zh-CN" altLang="zh-CN" sz="2400" b="1">
                <a:ea typeface="微软雅黑" panose="020B0503020204020204" pitchFamily="34" charset="-122"/>
              </a:rPr>
              <a:t>和</a:t>
            </a:r>
            <a:r>
              <a:rPr lang="en-US" altLang="zh-CN" sz="2400" b="1">
                <a:ea typeface="微软雅黑" panose="020B0503020204020204" pitchFamily="34" charset="-122"/>
              </a:rPr>
              <a:t>erase</a:t>
            </a:r>
            <a:r>
              <a:rPr lang="zh-CN" altLang="zh-CN" sz="2400" b="1">
                <a:ea typeface="微软雅黑" panose="020B0503020204020204" pitchFamily="34" charset="-122"/>
              </a:rPr>
              <a:t>操作，而定义了</a:t>
            </a:r>
            <a:r>
              <a:rPr lang="en-US" altLang="zh-CN" sz="2400" b="1">
                <a:ea typeface="微软雅黑" panose="020B0503020204020204" pitchFamily="34" charset="-122"/>
              </a:rPr>
              <a:t>insert_after</a:t>
            </a:r>
            <a:r>
              <a:rPr lang="zh-CN" altLang="zh-CN" sz="2400" b="1">
                <a:ea typeface="微软雅黑" panose="020B0503020204020204" pitchFamily="34" charset="-122"/>
              </a:rPr>
              <a:t>、</a:t>
            </a:r>
            <a:r>
              <a:rPr lang="en-US" altLang="zh-CN" sz="2400" b="1">
                <a:ea typeface="微软雅黑" panose="020B0503020204020204" pitchFamily="34" charset="-122"/>
              </a:rPr>
              <a:t>emplace_after</a:t>
            </a:r>
            <a:r>
              <a:rPr lang="zh-CN" altLang="zh-CN" sz="2400" b="1">
                <a:ea typeface="微软雅黑" panose="020B0503020204020204" pitchFamily="34" charset="-122"/>
              </a:rPr>
              <a:t>和</a:t>
            </a:r>
            <a:r>
              <a:rPr lang="en-US" altLang="zh-CN" sz="2400" b="1">
                <a:ea typeface="微软雅黑" panose="020B0503020204020204" pitchFamily="34" charset="-122"/>
              </a:rPr>
              <a:t>erase_after</a:t>
            </a:r>
            <a:r>
              <a:rPr lang="zh-CN" altLang="zh-CN" sz="2400" b="1">
                <a:ea typeface="微软雅黑" panose="020B0503020204020204" pitchFamily="34" charset="-122"/>
              </a:rPr>
              <a:t>操作，其参数与</a:t>
            </a:r>
            <a:r>
              <a:rPr lang="en-US" altLang="zh-CN" sz="2400" b="1">
                <a:ea typeface="微软雅黑" panose="020B0503020204020204" pitchFamily="34" charset="-122"/>
              </a:rPr>
              <a:t>list</a:t>
            </a:r>
            <a:r>
              <a:rPr lang="zh-CN" altLang="zh-CN" sz="2400" b="1">
                <a:ea typeface="微软雅黑" panose="020B0503020204020204" pitchFamily="34" charset="-122"/>
              </a:rPr>
              <a:t>的</a:t>
            </a:r>
            <a:r>
              <a:rPr lang="en-US" altLang="zh-CN" sz="2400" b="1">
                <a:ea typeface="微软雅黑" panose="020B0503020204020204" pitchFamily="34" charset="-122"/>
              </a:rPr>
              <a:t>insert</a:t>
            </a:r>
            <a:r>
              <a:rPr lang="zh-CN" altLang="zh-CN" sz="2400" b="1">
                <a:ea typeface="微软雅黑" panose="020B0503020204020204" pitchFamily="34" charset="-122"/>
              </a:rPr>
              <a:t>、</a:t>
            </a:r>
            <a:r>
              <a:rPr lang="en-US" altLang="zh-CN" sz="2400" b="1">
                <a:ea typeface="微软雅黑" panose="020B0503020204020204" pitchFamily="34" charset="-122"/>
              </a:rPr>
              <a:t>emplace</a:t>
            </a:r>
            <a:r>
              <a:rPr lang="zh-CN" altLang="zh-CN" sz="2400" b="1">
                <a:ea typeface="微软雅黑" panose="020B0503020204020204" pitchFamily="34" charset="-122"/>
              </a:rPr>
              <a:t>和</a:t>
            </a:r>
            <a:r>
              <a:rPr lang="en-US" altLang="zh-CN" sz="2400" b="1">
                <a:ea typeface="微软雅黑" panose="020B0503020204020204" pitchFamily="34" charset="-122"/>
              </a:rPr>
              <a:t>erase</a:t>
            </a:r>
            <a:r>
              <a:rPr lang="zh-CN" altLang="zh-CN" sz="2400" b="1">
                <a:ea typeface="微软雅黑" panose="020B0503020204020204" pitchFamily="34" charset="-122"/>
              </a:rPr>
              <a:t>相同，但并不是插入或删除迭代器</a:t>
            </a:r>
            <a:r>
              <a:rPr lang="en-US" altLang="zh-CN" sz="2400" b="1">
                <a:ea typeface="微软雅黑" panose="020B0503020204020204" pitchFamily="34" charset="-122"/>
              </a:rPr>
              <a:t>p1</a:t>
            </a:r>
            <a:r>
              <a:rPr lang="zh-CN" altLang="zh-CN" sz="2400" b="1">
                <a:ea typeface="微软雅黑" panose="020B0503020204020204" pitchFamily="34" charset="-122"/>
              </a:rPr>
              <a:t>所指的元素，而是对</a:t>
            </a:r>
            <a:r>
              <a:rPr lang="en-US" altLang="zh-CN" sz="2400" b="1">
                <a:ea typeface="微软雅黑" panose="020B0503020204020204" pitchFamily="34" charset="-122"/>
              </a:rPr>
              <a:t>p1</a:t>
            </a:r>
            <a:r>
              <a:rPr lang="zh-CN" altLang="zh-CN" sz="2400" b="1">
                <a:ea typeface="微软雅黑" panose="020B0503020204020204" pitchFamily="34" charset="-122"/>
              </a:rPr>
              <a:t>所指元素之后的</a:t>
            </a:r>
            <a:r>
              <a:rPr lang="zh-CN" altLang="en-US" sz="2400" b="1">
                <a:ea typeface="微软雅黑" panose="020B0503020204020204" pitchFamily="34" charset="-122"/>
              </a:rPr>
              <a:t>结点</a:t>
            </a:r>
            <a:r>
              <a:rPr lang="zh-CN" altLang="zh-CN" sz="2400" b="1">
                <a:ea typeface="微软雅黑" panose="020B0503020204020204" pitchFamily="34" charset="-122"/>
              </a:rPr>
              <a:t>进行操作</a:t>
            </a:r>
            <a:r>
              <a:rPr lang="zh-CN" altLang="en-US" sz="2400" b="1">
                <a:ea typeface="微软雅黑" panose="020B0503020204020204" pitchFamily="34" charset="-122"/>
              </a:rPr>
              <a:t>；</a:t>
            </a:r>
            <a:endParaRPr lang="zh-CN" altLang="zh-CN" sz="2400" b="1">
              <a:ea typeface="微软雅黑" panose="020B0503020204020204" pitchFamily="34" charset="-122"/>
            </a:endParaRPr>
          </a:p>
          <a:p>
            <a:pPr>
              <a:lnSpc>
                <a:spcPct val="150000"/>
              </a:lnSpc>
            </a:pPr>
            <a:r>
              <a:rPr lang="zh-CN" altLang="en-US" sz="2400" b="1">
                <a:ea typeface="微软雅黑" panose="020B0503020204020204" pitchFamily="34" charset="-122"/>
              </a:rPr>
              <a:t>不支持</a:t>
            </a:r>
            <a:r>
              <a:rPr lang="en-US" altLang="zh-CN" sz="2400" b="1">
                <a:ea typeface="微软雅黑" panose="020B0503020204020204" pitchFamily="34" charset="-122"/>
              </a:rPr>
              <a:t>size</a:t>
            </a:r>
            <a:r>
              <a:rPr lang="zh-CN" altLang="en-US" sz="2400" b="1">
                <a:ea typeface="微软雅黑" panose="020B0503020204020204" pitchFamily="34" charset="-122"/>
              </a:rPr>
              <a:t>操作。</a:t>
            </a:r>
            <a:endParaRPr lang="en-US" altLang="zh-CN" sz="2400" b="1">
              <a:ea typeface="微软雅黑" panose="020B0503020204020204" pitchFamily="34"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rgbClr val="FFFF00"/>
                </a:solidFill>
              </a:rPr>
              <a:t>数组（</a:t>
            </a:r>
            <a:r>
              <a:rPr lang="en-US" altLang="zh-CN" b="1" dirty="0">
                <a:solidFill>
                  <a:srgbClr val="FFFF00"/>
                </a:solidFill>
              </a:rPr>
              <a:t>array</a:t>
            </a:r>
            <a:r>
              <a:rPr lang="zh-CN" altLang="en-US" b="1" dirty="0">
                <a:solidFill>
                  <a:srgbClr val="FFFF00"/>
                </a:solidFill>
              </a:rPr>
              <a:t>）</a:t>
            </a:r>
            <a:endParaRPr lang="zh-CN" altLang="en-US" b="1" dirty="0">
              <a:solidFill>
                <a:srgbClr val="FFFF00"/>
              </a:solidFill>
            </a:endParaRPr>
          </a:p>
        </p:txBody>
      </p:sp>
      <p:sp>
        <p:nvSpPr>
          <p:cNvPr id="3" name="内容占位符 2"/>
          <p:cNvSpPr>
            <a:spLocks noGrp="1"/>
          </p:cNvSpPr>
          <p:nvPr>
            <p:ph idx="1"/>
          </p:nvPr>
        </p:nvSpPr>
        <p:spPr/>
        <p:txBody>
          <a:bodyPr/>
          <a:lstStyle/>
          <a:p>
            <a:pPr>
              <a:lnSpc>
                <a:spcPct val="150000"/>
              </a:lnSpc>
            </a:pPr>
            <a:r>
              <a:rPr lang="en-US" altLang="zh-CN" sz="2400" b="1" dirty="0">
                <a:ea typeface="微软雅黑" panose="020B0503020204020204" pitchFamily="34" charset="-122"/>
              </a:rPr>
              <a:t>array</a:t>
            </a:r>
            <a:r>
              <a:rPr lang="zh-CN" altLang="en-US" sz="2400" b="1" dirty="0">
                <a:ea typeface="微软雅黑" panose="020B0503020204020204" pitchFamily="34" charset="-122"/>
              </a:rPr>
              <a:t>是对内置数组的封装，提供了更安全，更方便的使用数组的方式</a:t>
            </a:r>
            <a:endParaRPr lang="en-US" altLang="zh-CN" sz="2400" b="1" dirty="0">
              <a:ea typeface="微软雅黑" panose="020B0503020204020204" pitchFamily="34" charset="-122"/>
            </a:endParaRPr>
          </a:p>
          <a:p>
            <a:pPr>
              <a:lnSpc>
                <a:spcPct val="150000"/>
              </a:lnSpc>
            </a:pPr>
            <a:r>
              <a:rPr lang="en-US" altLang="zh-CN" sz="2400" b="1" dirty="0">
                <a:ea typeface="微软雅黑" panose="020B0503020204020204" pitchFamily="34" charset="-122"/>
              </a:rPr>
              <a:t>array</a:t>
            </a:r>
            <a:r>
              <a:rPr lang="zh-CN" altLang="en-US" sz="2400" b="1" dirty="0">
                <a:ea typeface="微软雅黑" panose="020B0503020204020204" pitchFamily="34" charset="-122"/>
              </a:rPr>
              <a:t>的对象的大小是固定的，定义时除了需要指定元素类型，还需要指定容器大小。</a:t>
            </a:r>
            <a:endParaRPr lang="en-US" altLang="zh-CN" sz="2400" b="1" dirty="0">
              <a:ea typeface="微软雅黑" panose="020B0503020204020204" pitchFamily="34" charset="-122"/>
            </a:endParaRPr>
          </a:p>
          <a:p>
            <a:pPr>
              <a:lnSpc>
                <a:spcPct val="150000"/>
              </a:lnSpc>
            </a:pPr>
            <a:r>
              <a:rPr lang="zh-CN" altLang="zh-CN" sz="2400" b="1" dirty="0">
                <a:ea typeface="微软雅黑" panose="020B0503020204020204" pitchFamily="34" charset="-122"/>
              </a:rPr>
              <a:t>不能动态地改变容器大小</a:t>
            </a:r>
            <a:endParaRPr lang="zh-CN" altLang="en-US" sz="2400" b="1" dirty="0">
              <a:ea typeface="微软雅黑" panose="020B0503020204020204" pitchFamily="34"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xfrm>
            <a:off x="396625" y="404664"/>
            <a:ext cx="8230076" cy="799683"/>
          </a:xfrm>
        </p:spPr>
        <p:txBody>
          <a:bodyPr/>
          <a:lstStyle/>
          <a:p>
            <a:pPr eaLnBrk="1" hangingPunct="1"/>
            <a:r>
              <a:rPr lang="zh-CN" altLang="en-US" b="1" dirty="0">
                <a:solidFill>
                  <a:srgbClr val="FFFF00"/>
                </a:solidFill>
              </a:rPr>
              <a:t>顺序容器的比较</a:t>
            </a:r>
            <a:endParaRPr lang="zh-CN" altLang="en-US" b="1" dirty="0">
              <a:solidFill>
                <a:srgbClr val="FFFF00"/>
              </a:solidFill>
            </a:endParaRPr>
          </a:p>
        </p:txBody>
      </p:sp>
      <p:sp>
        <p:nvSpPr>
          <p:cNvPr id="52227" name="内容占位符 2"/>
          <p:cNvSpPr>
            <a:spLocks noGrp="1"/>
          </p:cNvSpPr>
          <p:nvPr>
            <p:ph idx="1"/>
          </p:nvPr>
        </p:nvSpPr>
        <p:spPr>
          <a:xfrm>
            <a:off x="399726" y="1412776"/>
            <a:ext cx="8109402" cy="3373664"/>
          </a:xfrm>
        </p:spPr>
        <p:txBody>
          <a:bodyPr/>
          <a:lstStyle/>
          <a:p>
            <a:pPr eaLnBrk="1" hangingPunct="1"/>
            <a:r>
              <a:rPr lang="en-US" altLang="zh-CN" sz="2400" b="1">
                <a:ea typeface="微软雅黑" panose="020B0503020204020204" pitchFamily="34" charset="-122"/>
              </a:rPr>
              <a:t>STL</a:t>
            </a:r>
            <a:r>
              <a:rPr lang="zh-CN" altLang="en-US" sz="2400" b="1">
                <a:ea typeface="微软雅黑" panose="020B0503020204020204" pitchFamily="34" charset="-122"/>
              </a:rPr>
              <a:t>所提供的顺序容器各有所长也各有所短，我们在编写程序时应当根据我们对容器所需要执行的操作来决定选择哪一种容器。</a:t>
            </a:r>
            <a:endParaRPr lang="en-US" altLang="zh-CN" sz="2400" b="1">
              <a:ea typeface="微软雅黑" panose="020B0503020204020204" pitchFamily="34" charset="-122"/>
            </a:endParaRPr>
          </a:p>
          <a:p>
            <a:pPr lvl="1" eaLnBrk="1" hangingPunct="1"/>
            <a:r>
              <a:rPr lang="zh-CN" altLang="en-US" sz="2400" b="1">
                <a:ea typeface="微软雅黑" panose="020B0503020204020204" pitchFamily="34" charset="-122"/>
              </a:rPr>
              <a:t>如果需要执行大量的随机访问操作，而且当扩展容器时只需要向容器尾部加入新的元素，就应当选择向量容器</a:t>
            </a:r>
            <a:r>
              <a:rPr lang="en-US" altLang="zh-CN" sz="2400" b="1">
                <a:ea typeface="微软雅黑" panose="020B0503020204020204" pitchFamily="34" charset="-122"/>
              </a:rPr>
              <a:t>vector</a:t>
            </a:r>
            <a:r>
              <a:rPr lang="zh-CN" altLang="en-US" sz="2400" b="1">
                <a:ea typeface="微软雅黑" panose="020B0503020204020204" pitchFamily="34" charset="-122"/>
              </a:rPr>
              <a:t>；</a:t>
            </a:r>
            <a:endParaRPr lang="en-US" altLang="zh-CN" sz="2400" b="1">
              <a:ea typeface="微软雅黑" panose="020B0503020204020204" pitchFamily="34" charset="-122"/>
            </a:endParaRPr>
          </a:p>
          <a:p>
            <a:pPr lvl="1" eaLnBrk="1" hangingPunct="1"/>
            <a:r>
              <a:rPr lang="zh-CN" altLang="en-US" sz="2400" b="1">
                <a:ea typeface="微软雅黑" panose="020B0503020204020204" pitchFamily="34" charset="-122"/>
              </a:rPr>
              <a:t>如果需要少量的随机访问操作，需要在容器两端插入或删除元素，则应当选择双端队列容器</a:t>
            </a:r>
            <a:r>
              <a:rPr lang="en-US" altLang="zh-CN" sz="2400" b="1">
                <a:ea typeface="微软雅黑" panose="020B0503020204020204" pitchFamily="34" charset="-122"/>
              </a:rPr>
              <a:t>deque</a:t>
            </a:r>
            <a:r>
              <a:rPr lang="zh-CN" altLang="en-US" sz="2400" b="1">
                <a:ea typeface="微软雅黑" panose="020B0503020204020204" pitchFamily="34" charset="-122"/>
              </a:rPr>
              <a:t>；</a:t>
            </a:r>
            <a:endParaRPr lang="en-US" altLang="zh-CN" sz="2400" b="1">
              <a:ea typeface="微软雅黑" panose="020B0503020204020204" pitchFamily="34" charset="-122"/>
            </a:endParaRPr>
          </a:p>
          <a:p>
            <a:pPr lvl="1" eaLnBrk="1" hangingPunct="1"/>
            <a:r>
              <a:rPr lang="zh-CN" altLang="en-US" sz="2400" b="1">
                <a:ea typeface="微软雅黑" panose="020B0503020204020204" pitchFamily="34" charset="-122"/>
              </a:rPr>
              <a:t>如果不需要对容器进行随机访问，但是需要在中间位置插入或者删除元素，就应当选择列表容器</a:t>
            </a:r>
            <a:r>
              <a:rPr lang="en-US" altLang="zh-CN" sz="2400" b="1">
                <a:ea typeface="微软雅黑" panose="020B0503020204020204" pitchFamily="34" charset="-122"/>
              </a:rPr>
              <a:t>list</a:t>
            </a:r>
            <a:r>
              <a:rPr lang="zh-CN" altLang="zh-CN" sz="2400" b="1">
                <a:ea typeface="微软雅黑" panose="020B0503020204020204" pitchFamily="34" charset="-122"/>
              </a:rPr>
              <a:t>或</a:t>
            </a:r>
            <a:r>
              <a:rPr lang="en-US" altLang="zh-CN" sz="2400" b="1">
                <a:ea typeface="微软雅黑" panose="020B0503020204020204" pitchFamily="34" charset="-122"/>
              </a:rPr>
              <a:t>forward_list</a:t>
            </a:r>
            <a:r>
              <a:rPr lang="zh-CN" altLang="en-US" sz="2400" b="1">
                <a:ea typeface="微软雅黑" panose="020B0503020204020204" pitchFamily="34" charset="-122"/>
              </a:rPr>
              <a:t>；</a:t>
            </a:r>
            <a:endParaRPr lang="en-US" altLang="zh-CN" sz="2400" b="1">
              <a:ea typeface="微软雅黑" panose="020B0503020204020204" pitchFamily="34" charset="-122"/>
            </a:endParaRPr>
          </a:p>
          <a:p>
            <a:pPr lvl="1" eaLnBrk="1" hangingPunct="1"/>
            <a:r>
              <a:rPr lang="zh-CN" altLang="en-US" sz="2400" b="1">
                <a:ea typeface="微软雅黑" panose="020B0503020204020204" pitchFamily="34" charset="-122"/>
              </a:rPr>
              <a:t>如果需要数组，</a:t>
            </a:r>
            <a:r>
              <a:rPr lang="en-US" altLang="zh-CN" sz="2400" b="1">
                <a:ea typeface="微软雅黑" panose="020B0503020204020204" pitchFamily="34" charset="-122"/>
              </a:rPr>
              <a:t>array</a:t>
            </a:r>
            <a:r>
              <a:rPr lang="zh-CN" altLang="zh-CN" sz="2400" b="1">
                <a:ea typeface="微软雅黑" panose="020B0503020204020204" pitchFamily="34" charset="-122"/>
              </a:rPr>
              <a:t>相对于内置数组类型而言，是一种更安全、更容易使用的数组类型</a:t>
            </a:r>
            <a:r>
              <a:rPr lang="zh-CN" altLang="en-US" sz="2400" b="1">
                <a:ea typeface="微软雅黑" panose="020B0503020204020204" pitchFamily="34" charset="-122"/>
              </a:rPr>
              <a:t>。</a:t>
            </a:r>
            <a:endParaRPr lang="zh-CN" altLang="en-US" sz="2400" b="1">
              <a:ea typeface="微软雅黑" panose="020B0503020204020204" pitchFamily="34"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顺序容器的插入迭代器与适配器</a:t>
            </a:r>
            <a:endParaRPr lang="zh-CN" altLang="en-US" dirty="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10.4.3 </a:t>
            </a:r>
            <a:r>
              <a:rPr lang="zh-CN" altLang="en-US" sz="4400" b="1">
                <a:latin typeface="Times New Roman" panose="02020603050405020304" pitchFamily="18" charset="0"/>
                <a:ea typeface="隶书" panose="02010509060101010101" pitchFamily="49" charset="-122"/>
              </a:rPr>
              <a:t>顺序容器的插入迭代器</a:t>
            </a:r>
            <a:endParaRPr lang="zh-CN" altLang="en-US" sz="4400" b="1">
              <a:latin typeface="Times New Roman" panose="02020603050405020304" pitchFamily="18" charset="0"/>
              <a:ea typeface="隶书" panose="02010509060101010101" pitchFamily="49" charset="-122"/>
            </a:endParaRPr>
          </a:p>
        </p:txBody>
      </p:sp>
      <p:sp>
        <p:nvSpPr>
          <p:cNvPr id="43011" name="内容占位符 2"/>
          <p:cNvSpPr>
            <a:spLocks noGrp="1"/>
          </p:cNvSpPr>
          <p:nvPr>
            <p:ph idx="1"/>
          </p:nvPr>
        </p:nvSpPr>
        <p:spPr>
          <a:xfrm>
            <a:off x="323528" y="1628800"/>
            <a:ext cx="8572500" cy="4787900"/>
          </a:xfrm>
        </p:spPr>
        <p:txBody>
          <a:bodyPr/>
          <a:lstStyle/>
          <a:p>
            <a:pPr>
              <a:spcAft>
                <a:spcPct val="25000"/>
              </a:spcAft>
            </a:pPr>
            <a:r>
              <a:rPr lang="zh-CN" altLang="en-US" sz="2400" b="1" dirty="0">
                <a:ea typeface="华文楷体" panose="02010600040101010101" pitchFamily="2" charset="-122"/>
              </a:rPr>
              <a:t>插入迭代器</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用于向容器头部、尾部或中间指定位置插入元素的迭代器</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包括前插迭代器（</a:t>
            </a:r>
            <a:r>
              <a:rPr lang="en-US" altLang="zh-CN" sz="2400" b="1" dirty="0" err="1">
                <a:ea typeface="华文楷体" panose="02010600040101010101" pitchFamily="2" charset="-122"/>
              </a:rPr>
              <a:t>front_inserter</a:t>
            </a:r>
            <a:r>
              <a:rPr lang="zh-CN" altLang="en-US" sz="2400" b="1" dirty="0">
                <a:ea typeface="华文楷体" panose="02010600040101010101" pitchFamily="2" charset="-122"/>
              </a:rPr>
              <a:t>）、后插迭代器（</a:t>
            </a:r>
            <a:r>
              <a:rPr lang="en-US" altLang="zh-CN" sz="2400" b="1" dirty="0" err="1">
                <a:ea typeface="华文楷体" panose="02010600040101010101" pitchFamily="2" charset="-122"/>
              </a:rPr>
              <a:t>back_insrter</a:t>
            </a:r>
            <a:r>
              <a:rPr lang="zh-CN" altLang="en-US" sz="2400" b="1" dirty="0">
                <a:ea typeface="华文楷体" panose="02010600040101010101" pitchFamily="2" charset="-122"/>
              </a:rPr>
              <a:t>）和任意位置插入迭代器（</a:t>
            </a:r>
            <a:r>
              <a:rPr lang="en-US" altLang="zh-CN" sz="2400" b="1" dirty="0">
                <a:ea typeface="华文楷体" panose="02010600040101010101" pitchFamily="2" charset="-122"/>
              </a:rPr>
              <a:t>inserter</a:t>
            </a:r>
            <a:r>
              <a:rPr lang="zh-CN" altLang="en-US" sz="2400" b="1" dirty="0">
                <a:ea typeface="华文楷体" panose="02010600040101010101" pitchFamily="2" charset="-122"/>
              </a:rPr>
              <a:t>）</a:t>
            </a:r>
            <a:endParaRPr lang="en-US" altLang="zh-CN"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例：</a:t>
            </a:r>
            <a:endParaRPr lang="en-US" altLang="zh-CN" sz="2400" b="1" dirty="0">
              <a:ea typeface="华文楷体" panose="02010600040101010101" pitchFamily="2" charset="-122"/>
            </a:endParaRPr>
          </a:p>
          <a:p>
            <a:pPr marL="457200" lvl="1" indent="0">
              <a:buNone/>
            </a:pPr>
            <a:r>
              <a:rPr lang="en-US" altLang="zh-CN" sz="2400" b="1" dirty="0">
                <a:solidFill>
                  <a:srgbClr val="FFFF00"/>
                </a:solidFill>
                <a:ea typeface="华文楷体" panose="02010600040101010101" pitchFamily="2" charset="-122"/>
              </a:rPr>
              <a:t>list&lt;</a:t>
            </a:r>
            <a:r>
              <a:rPr lang="en-US" altLang="zh-CN" sz="2400" b="1" dirty="0" err="1">
                <a:solidFill>
                  <a:srgbClr val="FFFF00"/>
                </a:solidFill>
                <a:ea typeface="华文楷体" panose="02010600040101010101" pitchFamily="2" charset="-122"/>
              </a:rPr>
              <a:t>int</a:t>
            </a:r>
            <a:r>
              <a:rPr lang="en-US" altLang="zh-CN" sz="2400" b="1" dirty="0">
                <a:solidFill>
                  <a:srgbClr val="FFFF00"/>
                </a:solidFill>
                <a:ea typeface="华文楷体" panose="02010600040101010101" pitchFamily="2" charset="-122"/>
              </a:rPr>
              <a:t>&gt; s;</a:t>
            </a:r>
            <a:endParaRPr lang="en-US" altLang="zh-CN" sz="2400" b="1" dirty="0">
              <a:solidFill>
                <a:srgbClr val="FFFF00"/>
              </a:solidFill>
              <a:ea typeface="华文楷体" panose="02010600040101010101" pitchFamily="2" charset="-122"/>
            </a:endParaRPr>
          </a:p>
          <a:p>
            <a:pPr marL="457200" lvl="1" indent="0">
              <a:buNone/>
            </a:pPr>
            <a:r>
              <a:rPr lang="en-US" altLang="zh-CN" sz="2400" b="1" dirty="0" err="1">
                <a:solidFill>
                  <a:srgbClr val="FFFF00"/>
                </a:solidFill>
                <a:ea typeface="华文楷体" panose="02010600040101010101" pitchFamily="2" charset="-122"/>
              </a:rPr>
              <a:t>back_inserter</a:t>
            </a:r>
            <a:r>
              <a:rPr lang="en-US" altLang="zh-CN" sz="2400" b="1" dirty="0">
                <a:solidFill>
                  <a:srgbClr val="FFFF00"/>
                </a:solidFill>
                <a:ea typeface="华文楷体" panose="02010600040101010101" pitchFamily="2" charset="-122"/>
              </a:rPr>
              <a:t> </a:t>
            </a:r>
            <a:r>
              <a:rPr lang="en-US" altLang="zh-CN" sz="2400" b="1" dirty="0" err="1">
                <a:solidFill>
                  <a:srgbClr val="FFFF00"/>
                </a:solidFill>
                <a:ea typeface="华文楷体" panose="02010600040101010101" pitchFamily="2" charset="-122"/>
              </a:rPr>
              <a:t>iter</a:t>
            </a:r>
            <a:r>
              <a:rPr lang="en-US" altLang="zh-CN" sz="2400" b="1" dirty="0">
                <a:solidFill>
                  <a:srgbClr val="FFFF00"/>
                </a:solidFill>
                <a:ea typeface="华文楷体" panose="02010600040101010101" pitchFamily="2" charset="-122"/>
              </a:rPr>
              <a:t>(s);</a:t>
            </a:r>
            <a:endParaRPr lang="en-US" altLang="zh-CN" sz="2400" b="1" dirty="0">
              <a:solidFill>
                <a:srgbClr val="FFFF00"/>
              </a:solidFill>
              <a:ea typeface="华文楷体" panose="02010600040101010101" pitchFamily="2" charset="-122"/>
            </a:endParaRPr>
          </a:p>
          <a:p>
            <a:pPr marL="457200" lvl="1" indent="0">
              <a:buNone/>
            </a:pPr>
            <a:r>
              <a:rPr lang="en-US" altLang="zh-CN" sz="2400" b="1" dirty="0">
                <a:solidFill>
                  <a:srgbClr val="FFFF00"/>
                </a:solidFill>
                <a:ea typeface="华文楷体" panose="02010600040101010101" pitchFamily="2" charset="-122"/>
              </a:rPr>
              <a:t>*(</a:t>
            </a:r>
            <a:r>
              <a:rPr lang="en-US" altLang="zh-CN" sz="2400" b="1" dirty="0" err="1">
                <a:solidFill>
                  <a:srgbClr val="FFFF00"/>
                </a:solidFill>
                <a:ea typeface="华文楷体" panose="02010600040101010101" pitchFamily="2" charset="-122"/>
              </a:rPr>
              <a:t>iter</a:t>
            </a:r>
            <a:r>
              <a:rPr lang="en-US" altLang="zh-CN" sz="2400" b="1" dirty="0">
                <a:solidFill>
                  <a:srgbClr val="FFFF00"/>
                </a:solidFill>
                <a:ea typeface="华文楷体" panose="02010600040101010101" pitchFamily="2" charset="-122"/>
              </a:rPr>
              <a:t>++) = 5; 	//</a:t>
            </a:r>
            <a:r>
              <a:rPr lang="zh-CN" altLang="en-US" sz="2400" b="1" dirty="0">
                <a:solidFill>
                  <a:srgbClr val="FFFF00"/>
                </a:solidFill>
                <a:ea typeface="华文楷体" panose="02010600040101010101" pitchFamily="2" charset="-122"/>
              </a:rPr>
              <a:t>通过</a:t>
            </a:r>
            <a:r>
              <a:rPr lang="en-US" altLang="zh-CN" sz="2400" b="1" dirty="0" err="1">
                <a:solidFill>
                  <a:srgbClr val="FFFF00"/>
                </a:solidFill>
                <a:ea typeface="华文楷体" panose="02010600040101010101" pitchFamily="2" charset="-122"/>
              </a:rPr>
              <a:t>iter</a:t>
            </a:r>
            <a:r>
              <a:rPr lang="zh-CN" altLang="en-US" sz="2400" b="1" dirty="0">
                <a:solidFill>
                  <a:srgbClr val="FFFF00"/>
                </a:solidFill>
                <a:ea typeface="华文楷体" panose="02010600040101010101" pitchFamily="2" charset="-122"/>
              </a:rPr>
              <a:t>把</a:t>
            </a:r>
            <a:r>
              <a:rPr lang="en-US" altLang="zh-CN" sz="2400" b="1" dirty="0">
                <a:solidFill>
                  <a:srgbClr val="FFFF00"/>
                </a:solidFill>
                <a:ea typeface="华文楷体" panose="02010600040101010101" pitchFamily="2" charset="-122"/>
              </a:rPr>
              <a:t>5</a:t>
            </a:r>
            <a:r>
              <a:rPr lang="zh-CN" altLang="en-US" sz="2400" b="1" dirty="0">
                <a:solidFill>
                  <a:srgbClr val="FFFF00"/>
                </a:solidFill>
                <a:ea typeface="华文楷体" panose="02010600040101010101" pitchFamily="2" charset="-122"/>
              </a:rPr>
              <a:t>插入</a:t>
            </a:r>
            <a:r>
              <a:rPr lang="en-US" altLang="zh-CN" sz="2400" b="1" dirty="0">
                <a:solidFill>
                  <a:srgbClr val="FFFF00"/>
                </a:solidFill>
                <a:ea typeface="华文楷体" panose="02010600040101010101" pitchFamily="2" charset="-122"/>
              </a:rPr>
              <a:t>s</a:t>
            </a:r>
            <a:r>
              <a:rPr lang="zh-CN" altLang="en-US" sz="2400" b="1" dirty="0">
                <a:solidFill>
                  <a:srgbClr val="FFFF00"/>
                </a:solidFill>
                <a:ea typeface="华文楷体" panose="02010600040101010101" pitchFamily="2" charset="-122"/>
              </a:rPr>
              <a:t>末尾</a:t>
            </a:r>
            <a:endParaRPr lang="zh-CN" altLang="en-US" sz="2400" b="1" dirty="0">
              <a:solidFill>
                <a:srgbClr val="FFFF00"/>
              </a:solidFill>
              <a:ea typeface="华文楷体" panose="02010600040101010101" pitchFamily="2"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10.4.4 </a:t>
            </a:r>
            <a:r>
              <a:rPr lang="zh-CN" altLang="en-US" sz="4400" b="1">
                <a:latin typeface="Times New Roman" panose="02020603050405020304" pitchFamily="18" charset="0"/>
                <a:ea typeface="隶书" panose="02010509060101010101" pitchFamily="49" charset="-122"/>
              </a:rPr>
              <a:t>顺序容器的适配器</a:t>
            </a:r>
            <a:endParaRPr lang="zh-CN" altLang="en-US" sz="4400" b="1">
              <a:latin typeface="Times New Roman" panose="02020603050405020304" pitchFamily="18" charset="0"/>
              <a:ea typeface="隶书" panose="02010509060101010101" pitchFamily="49" charset="-122"/>
            </a:endParaRPr>
          </a:p>
        </p:txBody>
      </p:sp>
      <p:sp>
        <p:nvSpPr>
          <p:cNvPr id="44035" name="内容占位符 2"/>
          <p:cNvSpPr>
            <a:spLocks noGrp="1"/>
          </p:cNvSpPr>
          <p:nvPr>
            <p:ph idx="1"/>
          </p:nvPr>
        </p:nvSpPr>
        <p:spPr>
          <a:xfrm>
            <a:off x="628650" y="1825625"/>
            <a:ext cx="7886700" cy="3475583"/>
          </a:xfrm>
        </p:spPr>
        <p:txBody>
          <a:bodyPr/>
          <a:lstStyle/>
          <a:p>
            <a:pPr>
              <a:lnSpc>
                <a:spcPct val="150000"/>
              </a:lnSpc>
              <a:spcAft>
                <a:spcPct val="25000"/>
              </a:spcAft>
            </a:pPr>
            <a:r>
              <a:rPr lang="zh-CN" altLang="en-US" sz="2400" b="1" dirty="0">
                <a:ea typeface="华文楷体" panose="02010600040101010101" pitchFamily="2" charset="-122"/>
              </a:rPr>
              <a:t>容器适配器是用基本容器实现的一些新容器，这些容器可以用于描述更高级的常用数据结构</a:t>
            </a:r>
            <a:r>
              <a:rPr lang="zh-CN" altLang="en-US" sz="2400" dirty="0"/>
              <a:t>。</a:t>
            </a:r>
            <a:endParaRPr lang="en-US" altLang="zh-CN" sz="2400" b="1" dirty="0">
              <a:ea typeface="华文楷体" panose="02010600040101010101" pitchFamily="2" charset="-122"/>
            </a:endParaRPr>
          </a:p>
          <a:p>
            <a:pPr lvl="1">
              <a:lnSpc>
                <a:spcPct val="150000"/>
              </a:lnSpc>
              <a:buFont typeface="Wingdings" panose="05000000000000000000" pitchFamily="2" charset="2"/>
              <a:buChar char="ü"/>
            </a:pPr>
            <a:r>
              <a:rPr lang="zh-CN" altLang="en-US" sz="2400" b="1" dirty="0">
                <a:solidFill>
                  <a:srgbClr val="FFFF00"/>
                </a:solidFill>
                <a:ea typeface="华文楷体" panose="02010600040101010101" pitchFamily="2" charset="-122"/>
              </a:rPr>
              <a:t>栈</a:t>
            </a:r>
            <a:r>
              <a:rPr lang="en-US" altLang="zh-CN" sz="2400" b="1" dirty="0">
                <a:solidFill>
                  <a:srgbClr val="FFFF00"/>
                </a:solidFill>
                <a:ea typeface="华文楷体" panose="02010600040101010101" pitchFamily="2" charset="-122"/>
              </a:rPr>
              <a:t>(stack)</a:t>
            </a:r>
            <a:r>
              <a:rPr lang="zh-CN" altLang="en-US" sz="2400" b="1" dirty="0">
                <a:ea typeface="华文楷体" panose="02010600040101010101" pitchFamily="2" charset="-122"/>
              </a:rPr>
              <a:t>：最先压入的元素最后被弹出</a:t>
            </a:r>
            <a:endParaRPr lang="en-US" altLang="zh-CN" sz="2400" b="1" dirty="0">
              <a:ea typeface="华文楷体" panose="02010600040101010101" pitchFamily="2" charset="-122"/>
            </a:endParaRPr>
          </a:p>
          <a:p>
            <a:pPr lvl="1">
              <a:lnSpc>
                <a:spcPct val="150000"/>
              </a:lnSpc>
              <a:buFont typeface="Wingdings" panose="05000000000000000000" pitchFamily="2" charset="2"/>
              <a:buChar char="ü"/>
            </a:pPr>
            <a:r>
              <a:rPr lang="zh-CN" altLang="en-US" sz="2400" b="1" dirty="0">
                <a:solidFill>
                  <a:srgbClr val="FFFF00"/>
                </a:solidFill>
                <a:ea typeface="华文楷体" panose="02010600040101010101" pitchFamily="2" charset="-122"/>
              </a:rPr>
              <a:t>队列</a:t>
            </a:r>
            <a:r>
              <a:rPr lang="en-US" altLang="zh-CN" sz="2400" b="1" dirty="0">
                <a:solidFill>
                  <a:srgbClr val="FFFF00"/>
                </a:solidFill>
                <a:ea typeface="华文楷体" panose="02010600040101010101" pitchFamily="2" charset="-122"/>
              </a:rPr>
              <a:t>(queue)</a:t>
            </a:r>
            <a:r>
              <a:rPr lang="zh-CN" altLang="en-US" sz="2400" b="1" dirty="0">
                <a:ea typeface="华文楷体" panose="02010600040101010101" pitchFamily="2" charset="-122"/>
              </a:rPr>
              <a:t>：最先压入的元素最先被弹出</a:t>
            </a:r>
            <a:endParaRPr lang="en-US" altLang="zh-CN" sz="2400" b="1" dirty="0">
              <a:ea typeface="华文楷体" panose="02010600040101010101" pitchFamily="2" charset="-122"/>
            </a:endParaRPr>
          </a:p>
          <a:p>
            <a:pPr lvl="1">
              <a:lnSpc>
                <a:spcPct val="150000"/>
              </a:lnSpc>
              <a:buFont typeface="Wingdings" panose="05000000000000000000" pitchFamily="2" charset="2"/>
              <a:buChar char="ü"/>
            </a:pPr>
            <a:r>
              <a:rPr lang="zh-CN" altLang="en-US" sz="2400" b="1" dirty="0">
                <a:solidFill>
                  <a:srgbClr val="FFFF00"/>
                </a:solidFill>
                <a:ea typeface="华文楷体" panose="02010600040101010101" pitchFamily="2" charset="-122"/>
              </a:rPr>
              <a:t>优先级队列</a:t>
            </a:r>
            <a:r>
              <a:rPr lang="en-US" altLang="zh-CN" sz="2400" b="1" dirty="0">
                <a:solidFill>
                  <a:srgbClr val="FFFF00"/>
                </a:solidFill>
                <a:ea typeface="华文楷体" panose="02010600040101010101" pitchFamily="2" charset="-122"/>
              </a:rPr>
              <a:t>(</a:t>
            </a:r>
            <a:r>
              <a:rPr lang="en-US" altLang="zh-CN" sz="2400" b="1" dirty="0" err="1">
                <a:solidFill>
                  <a:srgbClr val="FFFF00"/>
                </a:solidFill>
                <a:ea typeface="华文楷体" panose="02010600040101010101" pitchFamily="2" charset="-122"/>
              </a:rPr>
              <a:t>priority_queue</a:t>
            </a:r>
            <a:r>
              <a:rPr lang="en-US" altLang="zh-CN" sz="2400" b="1" dirty="0">
                <a:solidFill>
                  <a:srgbClr val="FFFF00"/>
                </a:solidFill>
                <a:ea typeface="华文楷体" panose="02010600040101010101" pitchFamily="2" charset="-122"/>
              </a:rPr>
              <a:t>)</a:t>
            </a:r>
            <a:r>
              <a:rPr lang="zh-CN" altLang="en-US" sz="2400" b="1" dirty="0">
                <a:ea typeface="华文楷体" panose="02010600040101010101" pitchFamily="2" charset="-122"/>
              </a:rPr>
              <a:t>：最“大”的元素最先被弹出</a:t>
            </a:r>
            <a:endParaRPr lang="en-US" altLang="zh-CN" sz="2400" b="1" dirty="0">
              <a:ea typeface="华文楷体" panose="02010600040101010101" pitchFamily="2"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栈和队列模板</a:t>
            </a:r>
            <a:endParaRPr lang="zh-CN" altLang="en-US"/>
          </a:p>
        </p:txBody>
      </p:sp>
      <p:sp>
        <p:nvSpPr>
          <p:cNvPr id="3" name="内容占位符 2"/>
          <p:cNvSpPr>
            <a:spLocks noGrp="1"/>
          </p:cNvSpPr>
          <p:nvPr>
            <p:ph idx="1"/>
          </p:nvPr>
        </p:nvSpPr>
        <p:spPr>
          <a:xfrm>
            <a:off x="628650" y="1687666"/>
            <a:ext cx="7886700" cy="4351338"/>
          </a:xfrm>
        </p:spPr>
        <p:txBody>
          <a:bodyPr/>
          <a:lstStyle/>
          <a:p>
            <a:pPr>
              <a:lnSpc>
                <a:spcPct val="150000"/>
              </a:lnSpc>
            </a:pPr>
            <a:r>
              <a:rPr lang="zh-CN" altLang="en-US" sz="2400" b="1" dirty="0">
                <a:ea typeface="微软雅黑" panose="020B0503020204020204" pitchFamily="34" charset="-122"/>
              </a:rPr>
              <a:t>栈模板</a:t>
            </a:r>
            <a:endParaRPr lang="en-US" altLang="zh-CN" sz="2400" b="1" dirty="0">
              <a:ea typeface="微软雅黑" panose="020B0503020204020204" pitchFamily="34" charset="-122"/>
            </a:endParaRPr>
          </a:p>
          <a:p>
            <a:pPr marL="307975" lvl="1" indent="0">
              <a:lnSpc>
                <a:spcPct val="150000"/>
              </a:lnSpc>
              <a:buNone/>
            </a:pPr>
            <a:r>
              <a:rPr lang="en-US" altLang="zh-CN" sz="2400" b="1" dirty="0">
                <a:ea typeface="微软雅黑" panose="020B0503020204020204" pitchFamily="34" charset="-122"/>
              </a:rPr>
              <a:t>template &lt;class T, class Sequence = </a:t>
            </a:r>
            <a:r>
              <a:rPr lang="en-US" altLang="zh-CN" sz="2400" b="1" dirty="0" err="1">
                <a:ea typeface="微软雅黑" panose="020B0503020204020204" pitchFamily="34" charset="-122"/>
              </a:rPr>
              <a:t>deque</a:t>
            </a:r>
            <a:r>
              <a:rPr lang="en-US" altLang="zh-CN" sz="2400" b="1" dirty="0">
                <a:ea typeface="微软雅黑" panose="020B0503020204020204" pitchFamily="34" charset="-122"/>
              </a:rPr>
              <a:t>&lt;T&gt; &gt; class stack;</a:t>
            </a:r>
            <a:endParaRPr lang="en-US" altLang="zh-CN" sz="2400" b="1" dirty="0">
              <a:ea typeface="微软雅黑" panose="020B0503020204020204" pitchFamily="34" charset="-122"/>
            </a:endParaRPr>
          </a:p>
          <a:p>
            <a:pPr>
              <a:lnSpc>
                <a:spcPct val="150000"/>
              </a:lnSpc>
            </a:pPr>
            <a:r>
              <a:rPr lang="zh-CN" altLang="en-US" sz="2400" b="1" dirty="0">
                <a:ea typeface="微软雅黑" panose="020B0503020204020204" pitchFamily="34" charset="-122"/>
              </a:rPr>
              <a:t>队列模板</a:t>
            </a:r>
            <a:endParaRPr lang="en-US" altLang="zh-CN" sz="2400" b="1" dirty="0">
              <a:ea typeface="微软雅黑" panose="020B0503020204020204" pitchFamily="34" charset="-122"/>
            </a:endParaRPr>
          </a:p>
          <a:p>
            <a:pPr marL="307975" lvl="1" indent="0">
              <a:lnSpc>
                <a:spcPct val="150000"/>
              </a:lnSpc>
              <a:buNone/>
            </a:pPr>
            <a:r>
              <a:rPr lang="en-US" altLang="zh-CN" sz="2400" b="1" dirty="0">
                <a:ea typeface="微软雅黑" panose="020B0503020204020204" pitchFamily="34" charset="-122"/>
              </a:rPr>
              <a:t>template &lt;class T, class </a:t>
            </a:r>
            <a:r>
              <a:rPr lang="en-US" altLang="zh-CN" sz="2400" b="1" dirty="0" err="1">
                <a:ea typeface="微软雅黑" panose="020B0503020204020204" pitchFamily="34" charset="-122"/>
              </a:rPr>
              <a:t>FrontInsertionSequence</a:t>
            </a:r>
            <a:r>
              <a:rPr lang="en-US" altLang="zh-CN" sz="2400" b="1" dirty="0">
                <a:ea typeface="微软雅黑" panose="020B0503020204020204" pitchFamily="34" charset="-122"/>
              </a:rPr>
              <a:t> = </a:t>
            </a:r>
            <a:r>
              <a:rPr lang="en-US" altLang="zh-CN" sz="2400" b="1" dirty="0" err="1">
                <a:ea typeface="微软雅黑" panose="020B0503020204020204" pitchFamily="34" charset="-122"/>
              </a:rPr>
              <a:t>deque</a:t>
            </a:r>
            <a:r>
              <a:rPr lang="en-US" altLang="zh-CN" sz="2400" b="1" dirty="0">
                <a:ea typeface="微软雅黑" panose="020B0503020204020204" pitchFamily="34" charset="-122"/>
              </a:rPr>
              <a:t>&lt;T&gt; &gt; class queue;</a:t>
            </a:r>
            <a:endParaRPr lang="en-US" altLang="zh-CN" sz="2400" b="1" dirty="0">
              <a:ea typeface="微软雅黑" panose="020B0503020204020204" pitchFamily="34" charset="-122"/>
            </a:endParaRPr>
          </a:p>
          <a:p>
            <a:pPr>
              <a:lnSpc>
                <a:spcPct val="150000"/>
              </a:lnSpc>
            </a:pPr>
            <a:r>
              <a:rPr lang="zh-CN" altLang="zh-CN" sz="2400" b="1" dirty="0">
                <a:ea typeface="微软雅黑" panose="020B0503020204020204" pitchFamily="34" charset="-122"/>
              </a:rPr>
              <a:t>栈可以用任何一种顺序容器作为基础容器，而队列只允许用前插顺序容器（双端队列或列表）</a:t>
            </a:r>
            <a:endParaRPr lang="en-US" altLang="zh-CN" sz="2400" b="1" dirty="0">
              <a:ea typeface="微软雅黑" panose="020B0503020204020204" pitchFamily="34"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6962" y="404664"/>
            <a:ext cx="8230076" cy="745706"/>
          </a:xfrm>
        </p:spPr>
        <p:txBody>
          <a:bodyPr/>
          <a:lstStyle/>
          <a:p>
            <a:r>
              <a:rPr lang="zh-CN" altLang="en-US" b="1" dirty="0"/>
              <a:t>栈和队列共同支持的操作</a:t>
            </a:r>
            <a:endParaRPr lang="zh-CN" altLang="en-US" b="1" dirty="0"/>
          </a:p>
        </p:txBody>
      </p:sp>
      <p:sp>
        <p:nvSpPr>
          <p:cNvPr id="3" name="内容占位符 2"/>
          <p:cNvSpPr>
            <a:spLocks noGrp="1"/>
          </p:cNvSpPr>
          <p:nvPr>
            <p:ph idx="1"/>
          </p:nvPr>
        </p:nvSpPr>
        <p:spPr>
          <a:xfrm>
            <a:off x="539552" y="1484784"/>
            <a:ext cx="8230076" cy="3221047"/>
          </a:xfrm>
        </p:spPr>
        <p:txBody>
          <a:bodyPr/>
          <a:lstStyle/>
          <a:p>
            <a:r>
              <a:rPr lang="en-US" altLang="zh-CN" sz="2400" b="1" dirty="0">
                <a:ea typeface="微软雅黑" panose="020B0503020204020204" pitchFamily="34" charset="-122"/>
              </a:rPr>
              <a:t>s1 op s2   op</a:t>
            </a:r>
            <a:r>
              <a:rPr lang="zh-CN" altLang="en-US" sz="2400" b="1" dirty="0">
                <a:ea typeface="微软雅黑" panose="020B0503020204020204" pitchFamily="34" charset="-122"/>
              </a:rPr>
              <a:t>可以是</a:t>
            </a:r>
            <a:r>
              <a:rPr lang="en-US" altLang="zh-CN" sz="2400" b="1" dirty="0">
                <a:ea typeface="微软雅黑" panose="020B0503020204020204" pitchFamily="34" charset="-122"/>
              </a:rPr>
              <a:t>==</a:t>
            </a:r>
            <a:r>
              <a:rPr lang="zh-CN" altLang="en-US" sz="2400" b="1" dirty="0">
                <a:ea typeface="微软雅黑" panose="020B0503020204020204" pitchFamily="34" charset="-122"/>
              </a:rPr>
              <a:t>、</a:t>
            </a:r>
            <a:r>
              <a:rPr lang="en-US" altLang="zh-CN" sz="2400" b="1" dirty="0">
                <a:ea typeface="微软雅黑" panose="020B0503020204020204" pitchFamily="34" charset="-122"/>
              </a:rPr>
              <a:t>!=</a:t>
            </a:r>
            <a:r>
              <a:rPr lang="zh-CN" altLang="en-US" sz="2400" b="1" dirty="0">
                <a:ea typeface="微软雅黑" panose="020B0503020204020204" pitchFamily="34" charset="-122"/>
              </a:rPr>
              <a:t>、</a:t>
            </a:r>
            <a:r>
              <a:rPr lang="en-US" altLang="zh-CN" sz="2400" b="1" dirty="0">
                <a:ea typeface="微软雅黑" panose="020B0503020204020204" pitchFamily="34" charset="-122"/>
              </a:rPr>
              <a:t>&lt;</a:t>
            </a:r>
            <a:r>
              <a:rPr lang="zh-CN" altLang="en-US" sz="2400" b="1" dirty="0">
                <a:ea typeface="微软雅黑" panose="020B0503020204020204" pitchFamily="34" charset="-122"/>
              </a:rPr>
              <a:t>、</a:t>
            </a:r>
            <a:r>
              <a:rPr lang="en-US" altLang="zh-CN" sz="2400" b="1" dirty="0">
                <a:ea typeface="微软雅黑" panose="020B0503020204020204" pitchFamily="34" charset="-122"/>
              </a:rPr>
              <a:t>&lt;=</a:t>
            </a:r>
            <a:r>
              <a:rPr lang="zh-CN" altLang="en-US" sz="2400" b="1" dirty="0">
                <a:ea typeface="微软雅黑" panose="020B0503020204020204" pitchFamily="34" charset="-122"/>
              </a:rPr>
              <a:t>、</a:t>
            </a:r>
            <a:r>
              <a:rPr lang="en-US" altLang="zh-CN" sz="2400" b="1" dirty="0">
                <a:ea typeface="微软雅黑" panose="020B0503020204020204" pitchFamily="34" charset="-122"/>
              </a:rPr>
              <a:t>&gt;</a:t>
            </a:r>
            <a:r>
              <a:rPr lang="zh-CN" altLang="en-US" sz="2400" b="1" dirty="0">
                <a:ea typeface="微软雅黑" panose="020B0503020204020204" pitchFamily="34" charset="-122"/>
              </a:rPr>
              <a:t>、</a:t>
            </a:r>
            <a:r>
              <a:rPr lang="en-US" altLang="zh-CN" sz="2400" b="1" dirty="0">
                <a:ea typeface="微软雅黑" panose="020B0503020204020204" pitchFamily="34" charset="-122"/>
              </a:rPr>
              <a:t>&gt;=</a:t>
            </a:r>
            <a:r>
              <a:rPr lang="zh-CN" altLang="en-US" sz="2400" b="1" dirty="0">
                <a:ea typeface="微软雅黑" panose="020B0503020204020204" pitchFamily="34" charset="-122"/>
              </a:rPr>
              <a:t>之一，它会对两个容器适配器之间的元素按字典序进行比较</a:t>
            </a:r>
            <a:endParaRPr lang="zh-CN" altLang="en-US" sz="2400" b="1" dirty="0">
              <a:ea typeface="微软雅黑" panose="020B0503020204020204" pitchFamily="34" charset="-122"/>
            </a:endParaRPr>
          </a:p>
          <a:p>
            <a:r>
              <a:rPr lang="en-US" altLang="zh-CN" sz="2400" b="1" dirty="0" err="1">
                <a:ea typeface="微软雅黑" panose="020B0503020204020204" pitchFamily="34" charset="-122"/>
              </a:rPr>
              <a:t>s.size</a:t>
            </a:r>
            <a:r>
              <a:rPr lang="en-US" altLang="zh-CN" sz="2400" b="1" dirty="0">
                <a:ea typeface="微软雅黑" panose="020B0503020204020204" pitchFamily="34" charset="-122"/>
              </a:rPr>
              <a:t>()	</a:t>
            </a:r>
            <a:r>
              <a:rPr lang="zh-CN" altLang="en-US" sz="2400" b="1" dirty="0">
                <a:ea typeface="微软雅黑" panose="020B0503020204020204" pitchFamily="34" charset="-122"/>
              </a:rPr>
              <a:t>返回</a:t>
            </a:r>
            <a:r>
              <a:rPr lang="en-US" altLang="zh-CN" sz="2400" b="1" dirty="0">
                <a:ea typeface="微软雅黑" panose="020B0503020204020204" pitchFamily="34" charset="-122"/>
              </a:rPr>
              <a:t>s</a:t>
            </a:r>
            <a:r>
              <a:rPr lang="zh-CN" altLang="en-US" sz="2400" b="1" dirty="0">
                <a:ea typeface="微软雅黑" panose="020B0503020204020204" pitchFamily="34" charset="-122"/>
              </a:rPr>
              <a:t>的元素个数</a:t>
            </a:r>
            <a:endParaRPr lang="zh-CN" altLang="en-US" sz="2400" b="1" dirty="0">
              <a:ea typeface="微软雅黑" panose="020B0503020204020204" pitchFamily="34" charset="-122"/>
            </a:endParaRPr>
          </a:p>
          <a:p>
            <a:r>
              <a:rPr lang="en-US" altLang="zh-CN" sz="2400" b="1" dirty="0" err="1">
                <a:ea typeface="微软雅黑" panose="020B0503020204020204" pitchFamily="34" charset="-122"/>
              </a:rPr>
              <a:t>s.empty</a:t>
            </a:r>
            <a:r>
              <a:rPr lang="en-US" altLang="zh-CN" sz="2400" b="1" dirty="0">
                <a:ea typeface="微软雅黑" panose="020B0503020204020204" pitchFamily="34" charset="-122"/>
              </a:rPr>
              <a:t>()   </a:t>
            </a:r>
            <a:r>
              <a:rPr lang="zh-CN" altLang="en-US" sz="2400" b="1" dirty="0">
                <a:ea typeface="微软雅黑" panose="020B0503020204020204" pitchFamily="34" charset="-122"/>
              </a:rPr>
              <a:t>返回</a:t>
            </a:r>
            <a:r>
              <a:rPr lang="en-US" altLang="zh-CN" sz="2400" b="1" dirty="0">
                <a:ea typeface="微软雅黑" panose="020B0503020204020204" pitchFamily="34" charset="-122"/>
              </a:rPr>
              <a:t>s</a:t>
            </a:r>
            <a:r>
              <a:rPr lang="zh-CN" altLang="en-US" sz="2400" b="1" dirty="0">
                <a:ea typeface="微软雅黑" panose="020B0503020204020204" pitchFamily="34" charset="-122"/>
              </a:rPr>
              <a:t>是否为空</a:t>
            </a:r>
            <a:endParaRPr lang="zh-CN" altLang="en-US" sz="2400" b="1" dirty="0">
              <a:ea typeface="微软雅黑" panose="020B0503020204020204" pitchFamily="34" charset="-122"/>
            </a:endParaRPr>
          </a:p>
          <a:p>
            <a:r>
              <a:rPr lang="en-US" altLang="zh-CN" sz="2400" b="1" dirty="0" err="1">
                <a:ea typeface="微软雅黑" panose="020B0503020204020204" pitchFamily="34" charset="-122"/>
              </a:rPr>
              <a:t>s.push</a:t>
            </a:r>
            <a:r>
              <a:rPr lang="en-US" altLang="zh-CN" sz="2400" b="1" dirty="0">
                <a:ea typeface="微软雅黑" panose="020B0503020204020204" pitchFamily="34" charset="-122"/>
              </a:rPr>
              <a:t>(t)	   </a:t>
            </a:r>
            <a:r>
              <a:rPr lang="zh-CN" altLang="en-US" sz="2400" b="1" dirty="0">
                <a:ea typeface="微软雅黑" panose="020B0503020204020204" pitchFamily="34" charset="-122"/>
              </a:rPr>
              <a:t>将元素</a:t>
            </a:r>
            <a:r>
              <a:rPr lang="en-US" altLang="zh-CN" sz="2400" b="1" dirty="0">
                <a:ea typeface="微软雅黑" panose="020B0503020204020204" pitchFamily="34" charset="-122"/>
              </a:rPr>
              <a:t>t</a:t>
            </a:r>
            <a:r>
              <a:rPr lang="zh-CN" altLang="en-US" sz="2400" b="1" dirty="0">
                <a:ea typeface="微软雅黑" panose="020B0503020204020204" pitchFamily="34" charset="-122"/>
              </a:rPr>
              <a:t>压入到</a:t>
            </a:r>
            <a:r>
              <a:rPr lang="en-US" altLang="zh-CN" sz="2400" b="1" dirty="0">
                <a:ea typeface="微软雅黑" panose="020B0503020204020204" pitchFamily="34" charset="-122"/>
              </a:rPr>
              <a:t>s</a:t>
            </a:r>
            <a:r>
              <a:rPr lang="zh-CN" altLang="en-US" sz="2400" b="1" dirty="0">
                <a:ea typeface="微软雅黑" panose="020B0503020204020204" pitchFamily="34" charset="-122"/>
              </a:rPr>
              <a:t>中</a:t>
            </a:r>
            <a:endParaRPr lang="zh-CN" altLang="en-US" sz="2400" b="1" dirty="0">
              <a:ea typeface="微软雅黑" panose="020B0503020204020204" pitchFamily="34" charset="-122"/>
            </a:endParaRPr>
          </a:p>
          <a:p>
            <a:r>
              <a:rPr lang="en-US" altLang="zh-CN" sz="2400" b="1" dirty="0" err="1">
                <a:ea typeface="微软雅黑" panose="020B0503020204020204" pitchFamily="34" charset="-122"/>
              </a:rPr>
              <a:t>s.pop</a:t>
            </a:r>
            <a:r>
              <a:rPr lang="en-US" altLang="zh-CN" sz="2400" b="1" dirty="0">
                <a:ea typeface="微软雅黑" panose="020B0503020204020204" pitchFamily="34" charset="-122"/>
              </a:rPr>
              <a:t>()   </a:t>
            </a:r>
            <a:r>
              <a:rPr lang="zh-CN" altLang="en-US" sz="2400" b="1" dirty="0">
                <a:ea typeface="微软雅黑" panose="020B0503020204020204" pitchFamily="34" charset="-122"/>
              </a:rPr>
              <a:t>将一个元素从</a:t>
            </a:r>
            <a:r>
              <a:rPr lang="en-US" altLang="zh-CN" sz="2400" b="1" dirty="0">
                <a:ea typeface="微软雅黑" panose="020B0503020204020204" pitchFamily="34" charset="-122"/>
              </a:rPr>
              <a:t>s</a:t>
            </a:r>
            <a:r>
              <a:rPr lang="zh-CN" altLang="en-US" sz="2400" b="1" dirty="0">
                <a:ea typeface="微软雅黑" panose="020B0503020204020204" pitchFamily="34" charset="-122"/>
              </a:rPr>
              <a:t>中弹出，对于栈来说，每次弹出的是最后被压入的元素，而对于队列，每次被弹出的是最先被压入的元素</a:t>
            </a:r>
            <a:endParaRPr lang="zh-CN" altLang="en-US" sz="2400" b="1" dirty="0">
              <a:ea typeface="微软雅黑" panose="020B0503020204020204" pitchFamily="34" charset="-122"/>
            </a:endParaRPr>
          </a:p>
          <a:p>
            <a:r>
              <a:rPr lang="zh-CN" altLang="en-US" sz="2400" b="1" dirty="0">
                <a:ea typeface="微软雅黑" panose="020B0503020204020204" pitchFamily="34" charset="-122"/>
              </a:rPr>
              <a:t>不支持迭代器，因为它们不允许对任意元素进行访问</a:t>
            </a:r>
            <a:endParaRPr lang="en-US" altLang="zh-CN" sz="2400" b="1" dirty="0">
              <a:ea typeface="微软雅黑" panose="020B0503020204020204" pitchFamily="34"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548680"/>
            <a:ext cx="8230076" cy="745706"/>
          </a:xfrm>
        </p:spPr>
        <p:txBody>
          <a:bodyPr/>
          <a:lstStyle/>
          <a:p>
            <a:r>
              <a:rPr lang="zh-CN" altLang="en-US" b="1"/>
              <a:t>栈和队列不同的操作</a:t>
            </a:r>
            <a:endParaRPr lang="zh-CN" altLang="en-US" b="1"/>
          </a:p>
        </p:txBody>
      </p:sp>
      <p:sp>
        <p:nvSpPr>
          <p:cNvPr id="3" name="内容占位符 2"/>
          <p:cNvSpPr>
            <a:spLocks noGrp="1"/>
          </p:cNvSpPr>
          <p:nvPr>
            <p:ph idx="1"/>
          </p:nvPr>
        </p:nvSpPr>
        <p:spPr>
          <a:xfrm>
            <a:off x="573113" y="1844824"/>
            <a:ext cx="8230076" cy="3275025"/>
          </a:xfrm>
        </p:spPr>
        <p:txBody>
          <a:bodyPr/>
          <a:lstStyle/>
          <a:p>
            <a:r>
              <a:rPr lang="zh-CN" altLang="en-US" sz="2800" b="1">
                <a:ea typeface="微软雅黑" panose="020B0503020204020204" pitchFamily="34" charset="-122"/>
              </a:rPr>
              <a:t>栈的操作</a:t>
            </a:r>
            <a:endParaRPr lang="en-US" altLang="zh-CN" sz="2800" b="1">
              <a:ea typeface="微软雅黑" panose="020B0503020204020204" pitchFamily="34" charset="-122"/>
            </a:endParaRPr>
          </a:p>
          <a:p>
            <a:pPr lvl="1"/>
            <a:r>
              <a:rPr lang="en-US" altLang="zh-CN" sz="2400" b="1">
                <a:ea typeface="微软雅黑" panose="020B0503020204020204" pitchFamily="34" charset="-122"/>
              </a:rPr>
              <a:t>s.top()	</a:t>
            </a:r>
            <a:r>
              <a:rPr lang="zh-CN" altLang="en-US" sz="2400" b="1">
                <a:ea typeface="微软雅黑" panose="020B0503020204020204" pitchFamily="34" charset="-122"/>
              </a:rPr>
              <a:t>返回栈顶元素的引用</a:t>
            </a:r>
            <a:endParaRPr lang="en-US" altLang="zh-CN" sz="2400" b="1">
              <a:ea typeface="微软雅黑" panose="020B0503020204020204" pitchFamily="34" charset="-122"/>
            </a:endParaRPr>
          </a:p>
          <a:p>
            <a:r>
              <a:rPr lang="zh-CN" altLang="en-US" sz="2800" b="1">
                <a:ea typeface="微软雅黑" panose="020B0503020204020204" pitchFamily="34" charset="-122"/>
              </a:rPr>
              <a:t>队列操作</a:t>
            </a:r>
            <a:endParaRPr lang="en-US" altLang="zh-CN" sz="2800" b="1">
              <a:ea typeface="微软雅黑" panose="020B0503020204020204" pitchFamily="34" charset="-122"/>
            </a:endParaRPr>
          </a:p>
          <a:p>
            <a:pPr lvl="1"/>
            <a:r>
              <a:rPr lang="en-US" altLang="zh-CN" sz="2400" b="1">
                <a:ea typeface="微软雅黑" panose="020B0503020204020204" pitchFamily="34" charset="-122"/>
              </a:rPr>
              <a:t>s.front()	</a:t>
            </a:r>
            <a:r>
              <a:rPr lang="zh-CN" altLang="en-US" sz="2400" b="1">
                <a:ea typeface="微软雅黑" panose="020B0503020204020204" pitchFamily="34" charset="-122"/>
              </a:rPr>
              <a:t>获得队头元素的引用</a:t>
            </a:r>
            <a:endParaRPr lang="zh-CN" altLang="en-US" sz="2400" b="1">
              <a:ea typeface="微软雅黑" panose="020B0503020204020204" pitchFamily="34" charset="-122"/>
            </a:endParaRPr>
          </a:p>
          <a:p>
            <a:pPr lvl="1"/>
            <a:r>
              <a:rPr lang="en-US" altLang="zh-CN" sz="2400" b="1">
                <a:ea typeface="微软雅黑" panose="020B0503020204020204" pitchFamily="34" charset="-122"/>
              </a:rPr>
              <a:t>s.back()	</a:t>
            </a:r>
            <a:r>
              <a:rPr lang="zh-CN" altLang="en-US" sz="2400" b="1">
                <a:ea typeface="微软雅黑" panose="020B0503020204020204" pitchFamily="34" charset="-122"/>
              </a:rPr>
              <a:t>获得队尾元素的引用</a:t>
            </a:r>
            <a:endParaRPr lang="zh-CN" altLang="en-US" sz="2400" b="1">
              <a:ea typeface="微软雅黑" panose="020B0503020204020204" pitchFamily="34"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pPr eaLnBrk="1" hangingPunct="1"/>
            <a:r>
              <a:rPr lang="zh-CN" altLang="en-US" b="1"/>
              <a:t>例</a:t>
            </a:r>
            <a:r>
              <a:rPr lang="en-US" altLang="zh-CN" b="1"/>
              <a:t>10-7 </a:t>
            </a:r>
            <a:r>
              <a:rPr lang="zh-CN" altLang="en-US" b="1"/>
              <a:t>利用栈反向输出单词</a:t>
            </a:r>
            <a:endParaRPr lang="zh-CN" altLang="en-US" b="1"/>
          </a:p>
        </p:txBody>
      </p:sp>
      <p:sp>
        <p:nvSpPr>
          <p:cNvPr id="3" name="内容占位符 2"/>
          <p:cNvSpPr>
            <a:spLocks noGrp="1"/>
          </p:cNvSpPr>
          <p:nvPr>
            <p:ph idx="1"/>
          </p:nvPr>
        </p:nvSpPr>
        <p:spPr>
          <a:xfrm>
            <a:off x="474348" y="1124744"/>
            <a:ext cx="8229600" cy="501675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//10_7.cpp</a:t>
            </a:r>
            <a:r>
              <a:rPr lang="zh-CN" altLang="en-US" sz="2000" b="1" dirty="0">
                <a:solidFill>
                  <a:srgbClr val="000000"/>
                </a:solidFill>
                <a:latin typeface="Times New Roman" panose="02020603050405020304" pitchFamily="18" charset="0"/>
                <a:ea typeface="华文楷体" panose="02010600040101010101" pitchFamily="2" charset="-122"/>
              </a:rPr>
              <a:t>， 省略头部分</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stack&lt;char&gt; s;</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string </a:t>
            </a:r>
            <a:r>
              <a:rPr lang="en-US" altLang="zh-CN" sz="2000" b="1" dirty="0" err="1">
                <a:solidFill>
                  <a:srgbClr val="000000"/>
                </a:solidFill>
                <a:latin typeface="Times New Roman" panose="02020603050405020304" pitchFamily="18" charset="0"/>
                <a:ea typeface="华文楷体" panose="02010600040101010101" pitchFamily="2" charset="-122"/>
              </a:rPr>
              <a:t>str</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a:t>
            </a:r>
            <a:r>
              <a:rPr lang="en-US" altLang="zh-CN" sz="2000" b="1" dirty="0" err="1">
                <a:solidFill>
                  <a:srgbClr val="000000"/>
                </a:solidFill>
                <a:latin typeface="Times New Roman" panose="02020603050405020304" pitchFamily="18" charset="0"/>
                <a:ea typeface="华文楷体" panose="02010600040101010101" pitchFamily="2" charset="-122"/>
              </a:rPr>
              <a:t>str</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从键盘输入一个字符串</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将字符串的每个元素顺序压入栈中</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for (string::</a:t>
            </a:r>
            <a:r>
              <a:rPr lang="en-US" altLang="zh-CN" sz="2000" b="1" dirty="0" err="1">
                <a:solidFill>
                  <a:srgbClr val="000000"/>
                </a:solidFill>
                <a:latin typeface="Times New Roman" panose="02020603050405020304" pitchFamily="18" charset="0"/>
                <a:ea typeface="华文楷体" panose="02010600040101010101" pitchFamily="2" charset="-122"/>
              </a:rPr>
              <a:t>iterator</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str.begin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str.end</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s.push</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将栈中的元素顺序弹出并输出</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while (!</a:t>
            </a:r>
            <a:r>
              <a:rPr lang="en-US" altLang="zh-CN" sz="2000" b="1" dirty="0" err="1">
                <a:solidFill>
                  <a:srgbClr val="000000"/>
                </a:solidFill>
                <a:latin typeface="Times New Roman" panose="02020603050405020304" pitchFamily="18" charset="0"/>
                <a:ea typeface="华文楷体" panose="02010600040101010101" pitchFamily="2" charset="-122"/>
              </a:rPr>
              <a:t>s.empty</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s.top</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s.pop();</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6" name="TextBox 5"/>
          <p:cNvSpPr txBox="1"/>
          <p:nvPr/>
        </p:nvSpPr>
        <p:spPr>
          <a:xfrm>
            <a:off x="5851979" y="5013176"/>
            <a:ext cx="2857500" cy="1015663"/>
          </a:xfrm>
          <a:prstGeom prst="rect">
            <a:avLst/>
          </a:prstGeom>
          <a:solidFill>
            <a:srgbClr val="000000"/>
          </a:solidFill>
        </p:spPr>
        <p:txBody>
          <a:bodyPr>
            <a:spAutoFit/>
          </a:bodyPr>
          <a:lstStyle/>
          <a:p>
            <a:pPr algn="l">
              <a:defRPr/>
            </a:pPr>
            <a:r>
              <a:rPr lang="zh-CN" altLang="en-US" sz="2000" b="1" dirty="0">
                <a:latin typeface="+mn-lt"/>
                <a:ea typeface="华文楷体" panose="02010600040101010101" pitchFamily="2" charset="-122"/>
              </a:rPr>
              <a:t>运行结果如下：</a:t>
            </a:r>
            <a:endParaRPr lang="en-US" altLang="zh-CN" sz="2000" b="1" dirty="0">
              <a:latin typeface="+mn-lt"/>
              <a:ea typeface="华文楷体" panose="02010600040101010101" pitchFamily="2" charset="-122"/>
            </a:endParaRPr>
          </a:p>
          <a:p>
            <a:pPr algn="l">
              <a:defRPr/>
            </a:pPr>
            <a:r>
              <a:rPr lang="en-US" sz="2000" b="1" dirty="0">
                <a:latin typeface="+mn-lt"/>
                <a:ea typeface="华文楷体" panose="02010600040101010101" pitchFamily="2" charset="-122"/>
              </a:rPr>
              <a:t>congratulations</a:t>
            </a:r>
            <a:endParaRPr lang="zh-CN" altLang="en-US" sz="2000" b="1" dirty="0">
              <a:latin typeface="+mn-lt"/>
              <a:ea typeface="华文楷体" panose="02010600040101010101" pitchFamily="2" charset="-122"/>
            </a:endParaRPr>
          </a:p>
          <a:p>
            <a:pPr algn="l">
              <a:defRPr/>
            </a:pPr>
            <a:r>
              <a:rPr lang="en-US" sz="2000" b="1" dirty="0" err="1">
                <a:latin typeface="+mn-lt"/>
                <a:ea typeface="华文楷体" panose="02010600040101010101" pitchFamily="2" charset="-122"/>
              </a:rPr>
              <a:t>snoitalutargnoc</a:t>
            </a:r>
            <a:endParaRPr lang="zh-CN" altLang="en-US" sz="2000" b="1" dirty="0">
              <a:latin typeface="+mn-lt"/>
              <a:ea typeface="华文楷体" panose="02010600040101010101" pitchFamily="2"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611560" y="188640"/>
            <a:ext cx="7886700" cy="1325563"/>
          </a:xfrm>
        </p:spPr>
        <p:txBody>
          <a:bodyPr/>
          <a:lstStyle/>
          <a:p>
            <a:pPr algn="ctr"/>
            <a:r>
              <a:rPr lang="zh-CN" altLang="en-US" sz="4400" b="1" dirty="0">
                <a:latin typeface="Times New Roman" panose="02020603050405020304" pitchFamily="18" charset="0"/>
                <a:ea typeface="隶书" panose="02010509060101010101" pitchFamily="49" charset="-122"/>
              </a:rPr>
              <a:t>优先级队列</a:t>
            </a:r>
            <a:endParaRPr lang="zh-CN" altLang="en-US" sz="4400" b="1" dirty="0">
              <a:latin typeface="Times New Roman" panose="02020603050405020304" pitchFamily="18" charset="0"/>
              <a:ea typeface="隶书" panose="02010509060101010101" pitchFamily="49" charset="-122"/>
            </a:endParaRPr>
          </a:p>
        </p:txBody>
      </p:sp>
      <p:sp>
        <p:nvSpPr>
          <p:cNvPr id="46083" name="内容占位符 2"/>
          <p:cNvSpPr>
            <a:spLocks noGrp="1"/>
          </p:cNvSpPr>
          <p:nvPr>
            <p:ph idx="1"/>
          </p:nvPr>
        </p:nvSpPr>
        <p:spPr>
          <a:xfrm>
            <a:off x="611560" y="1340768"/>
            <a:ext cx="7886700" cy="4351338"/>
          </a:xfrm>
        </p:spPr>
        <p:txBody>
          <a:bodyPr/>
          <a:lstStyle/>
          <a:p>
            <a:pPr>
              <a:spcAft>
                <a:spcPts val="1200"/>
              </a:spcAft>
            </a:pPr>
            <a:r>
              <a:rPr lang="zh-CN" altLang="en-US" sz="2400" b="1" dirty="0">
                <a:ea typeface="华文楷体" panose="02010600040101010101" pitchFamily="2" charset="-122"/>
              </a:rPr>
              <a:t>优先级队列也像栈和队列一样支持元素的压入和弹出，但元素弹出的顺序与元素的大小有关，每次弹出的总是容器中最“大”的一个元素。</a:t>
            </a:r>
            <a:endParaRPr lang="en-US" altLang="zh-CN" sz="2400" b="1" dirty="0">
              <a:ea typeface="华文楷体" panose="02010600040101010101" pitchFamily="2" charset="-122"/>
            </a:endParaRPr>
          </a:p>
          <a:p>
            <a:pPr lvl="1">
              <a:spcAft>
                <a:spcPts val="1200"/>
              </a:spcAft>
              <a:buFont typeface="Wingdings" panose="05000000000000000000" pitchFamily="2" charset="2"/>
              <a:buChar char="ü"/>
            </a:pPr>
            <a:r>
              <a:rPr lang="en-US" altLang="zh-CN" sz="2400" b="1" dirty="0">
                <a:solidFill>
                  <a:srgbClr val="FFFF00"/>
                </a:solidFill>
                <a:ea typeface="华文楷体" panose="02010600040101010101" pitchFamily="2" charset="-122"/>
              </a:rPr>
              <a:t>template &lt;class T, class Sequence = vector&lt;T&gt; &gt; class </a:t>
            </a:r>
            <a:r>
              <a:rPr lang="en-US" altLang="zh-CN" sz="2400" b="1" dirty="0" err="1">
                <a:solidFill>
                  <a:srgbClr val="FFFF00"/>
                </a:solidFill>
                <a:ea typeface="华文楷体" panose="02010600040101010101" pitchFamily="2" charset="-122"/>
              </a:rPr>
              <a:t>priority_queue</a:t>
            </a:r>
            <a:r>
              <a:rPr lang="en-US" altLang="zh-CN" sz="2400" b="1" dirty="0">
                <a:solidFill>
                  <a:srgbClr val="FFFF00"/>
                </a:solidFill>
                <a:ea typeface="华文楷体" panose="02010600040101010101" pitchFamily="2" charset="-122"/>
              </a:rPr>
              <a:t>;</a:t>
            </a:r>
            <a:endParaRPr lang="zh-CN" altLang="en-US" sz="2400" b="1" dirty="0">
              <a:solidFill>
                <a:srgbClr val="FFFF00"/>
              </a:solidFill>
              <a:ea typeface="华文楷体" panose="02010600040101010101" pitchFamily="2" charset="-122"/>
            </a:endParaRPr>
          </a:p>
          <a:p>
            <a:pPr>
              <a:spcAft>
                <a:spcPts val="1200"/>
              </a:spcAft>
            </a:pPr>
            <a:r>
              <a:rPr lang="zh-CN" altLang="en-US" sz="2400" b="1" dirty="0">
                <a:ea typeface="华文楷体" panose="02010600040101010101" pitchFamily="2" charset="-122"/>
              </a:rPr>
              <a:t>例</a:t>
            </a:r>
            <a:r>
              <a:rPr lang="en-US" altLang="zh-CN" sz="2400" b="1" dirty="0">
                <a:ea typeface="华文楷体" panose="02010600040101010101" pitchFamily="2" charset="-122"/>
              </a:rPr>
              <a:t>10-8 </a:t>
            </a:r>
            <a:r>
              <a:rPr lang="zh-CN" altLang="en-US" sz="2400" b="1" dirty="0">
                <a:ea typeface="华文楷体" panose="02010600040101010101" pitchFamily="2" charset="-122"/>
              </a:rPr>
              <a:t>细胞分裂模拟</a:t>
            </a:r>
            <a:endParaRPr lang="zh-CN" altLang="en-US" sz="2400" b="1" dirty="0">
              <a:ea typeface="华文楷体" panose="02010600040101010101" pitchFamily="2" charset="-122"/>
            </a:endParaRPr>
          </a:p>
          <a:p>
            <a:pPr lvl="1">
              <a:spcAft>
                <a:spcPts val="1200"/>
              </a:spcAft>
              <a:buFont typeface="Wingdings" panose="05000000000000000000" pitchFamily="2" charset="2"/>
              <a:buChar char="ü"/>
            </a:pPr>
            <a:r>
              <a:rPr lang="zh-CN" altLang="en-US" sz="2400" b="1" dirty="0">
                <a:solidFill>
                  <a:srgbClr val="FFFF00"/>
                </a:solidFill>
                <a:ea typeface="华文楷体" panose="02010600040101010101" pitchFamily="2" charset="-122"/>
              </a:rPr>
              <a:t>一种细胞在诞生（即上次分裂）后会在</a:t>
            </a:r>
            <a:r>
              <a:rPr lang="en-US" altLang="zh-CN" sz="2400" b="1" dirty="0">
                <a:solidFill>
                  <a:srgbClr val="FFFF00"/>
                </a:solidFill>
                <a:ea typeface="华文楷体" panose="02010600040101010101" pitchFamily="2" charset="-122"/>
              </a:rPr>
              <a:t>500</a:t>
            </a:r>
            <a:r>
              <a:rPr lang="zh-CN" altLang="en-US" sz="2400" b="1" dirty="0">
                <a:solidFill>
                  <a:srgbClr val="FFFF00"/>
                </a:solidFill>
                <a:ea typeface="华文楷体" panose="02010600040101010101" pitchFamily="2" charset="-122"/>
              </a:rPr>
              <a:t>到</a:t>
            </a:r>
            <a:r>
              <a:rPr lang="en-US" altLang="zh-CN" sz="2400" b="1" dirty="0">
                <a:solidFill>
                  <a:srgbClr val="FFFF00"/>
                </a:solidFill>
                <a:ea typeface="华文楷体" panose="02010600040101010101" pitchFamily="2" charset="-122"/>
              </a:rPr>
              <a:t>2000</a:t>
            </a:r>
            <a:r>
              <a:rPr lang="zh-CN" altLang="en-US" sz="2400" b="1" dirty="0">
                <a:solidFill>
                  <a:srgbClr val="FFFF00"/>
                </a:solidFill>
                <a:ea typeface="华文楷体" panose="02010600040101010101" pitchFamily="2" charset="-122"/>
              </a:rPr>
              <a:t>秒内分裂为两个细胞，每个细胞又按照同样的规律继续分裂。</a:t>
            </a:r>
            <a:endParaRPr lang="zh-CN" altLang="en-US" sz="2400" b="1" dirty="0">
              <a:solidFill>
                <a:srgbClr val="FFFF00"/>
              </a:solidFill>
              <a:ea typeface="华文楷体" panose="02010600040101010101" pitchFamily="2"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496" y="188640"/>
            <a:ext cx="8964488" cy="6555641"/>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10.8.cpp, </a:t>
            </a:r>
            <a:r>
              <a:rPr lang="zh-CN" altLang="en-US" sz="2000" b="1" dirty="0">
                <a:solidFill>
                  <a:srgbClr val="000000"/>
                </a:solidFill>
                <a:latin typeface="Times New Roman" panose="02020603050405020304" pitchFamily="18" charset="0"/>
                <a:ea typeface="华文楷体" panose="02010600040101010101" pitchFamily="2" charset="-122"/>
              </a:rPr>
              <a:t>头部分省略</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const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SPLIT_TIME_MIN = 500;    //</a:t>
            </a:r>
            <a:r>
              <a:rPr lang="zh-CN" altLang="en-US" sz="2000" b="1" dirty="0">
                <a:solidFill>
                  <a:srgbClr val="000000"/>
                </a:solidFill>
                <a:latin typeface="Times New Roman" panose="02020603050405020304" pitchFamily="18" charset="0"/>
                <a:ea typeface="华文楷体" panose="02010600040101010101" pitchFamily="2" charset="-122"/>
              </a:rPr>
              <a:t>细胞分裂最短时间</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const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SPLIT_TIME_MAX = 2000;  //</a:t>
            </a:r>
            <a:r>
              <a:rPr lang="zh-CN" altLang="en-US" sz="2000" b="1" dirty="0">
                <a:solidFill>
                  <a:srgbClr val="000000"/>
                </a:solidFill>
                <a:latin typeface="Times New Roman" panose="02020603050405020304" pitchFamily="18" charset="0"/>
                <a:ea typeface="华文楷体" panose="02010600040101010101" pitchFamily="2" charset="-122"/>
              </a:rPr>
              <a:t>细胞分裂最长时间</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class Cell;</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priority_queue</a:t>
            </a:r>
            <a:r>
              <a:rPr lang="en-US" altLang="zh-CN" sz="2000" b="1" dirty="0">
                <a:solidFill>
                  <a:srgbClr val="000000"/>
                </a:solidFill>
                <a:latin typeface="Times New Roman" panose="02020603050405020304" pitchFamily="18" charset="0"/>
                <a:ea typeface="华文楷体" panose="02010600040101010101" pitchFamily="2" charset="-122"/>
              </a:rPr>
              <a:t>&lt;Cell&gt; </a:t>
            </a:r>
            <a:r>
              <a:rPr lang="en-US" altLang="zh-CN" sz="2000" b="1" dirty="0" err="1">
                <a:solidFill>
                  <a:srgbClr val="000000"/>
                </a:solidFill>
                <a:latin typeface="Times New Roman" panose="02020603050405020304" pitchFamily="18" charset="0"/>
                <a:ea typeface="华文楷体" panose="02010600040101010101" pitchFamily="2" charset="-122"/>
              </a:rPr>
              <a:t>cellQueue</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class Cell {	//</a:t>
            </a:r>
            <a:r>
              <a:rPr lang="zh-CN" altLang="en-US" sz="2000" b="1" dirty="0">
                <a:solidFill>
                  <a:srgbClr val="000000"/>
                </a:solidFill>
                <a:latin typeface="Times New Roman" panose="02020603050405020304" pitchFamily="18" charset="0"/>
                <a:ea typeface="华文楷体" panose="02010600040101010101" pitchFamily="2" charset="-122"/>
              </a:rPr>
              <a:t>细胞类</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private:</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static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count;	//</a:t>
            </a:r>
            <a:r>
              <a:rPr lang="zh-CN" altLang="en-US" sz="2000" b="1" dirty="0">
                <a:solidFill>
                  <a:srgbClr val="000000"/>
                </a:solidFill>
                <a:latin typeface="Times New Roman" panose="02020603050405020304" pitchFamily="18" charset="0"/>
                <a:ea typeface="华文楷体" panose="02010600040101010101" pitchFamily="2" charset="-122"/>
              </a:rPr>
              <a:t>细胞总数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id;		//</a:t>
            </a:r>
            <a:r>
              <a:rPr lang="zh-CN" altLang="en-US" sz="2000" b="1" dirty="0">
                <a:solidFill>
                  <a:srgbClr val="000000"/>
                </a:solidFill>
                <a:latin typeface="Times New Roman" panose="02020603050405020304" pitchFamily="18" charset="0"/>
                <a:ea typeface="华文楷体" panose="02010600040101010101" pitchFamily="2" charset="-122"/>
              </a:rPr>
              <a:t>当前细胞编号</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time;	//</a:t>
            </a:r>
            <a:r>
              <a:rPr lang="zh-CN" altLang="en-US" sz="2000" b="1" dirty="0">
                <a:solidFill>
                  <a:srgbClr val="000000"/>
                </a:solidFill>
                <a:latin typeface="Times New Roman" panose="02020603050405020304" pitchFamily="18" charset="0"/>
                <a:ea typeface="华文楷体" panose="02010600040101010101" pitchFamily="2" charset="-122"/>
              </a:rPr>
              <a:t>细胞分裂时间</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public:</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Cell(</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birth) : id(count++) {	//birth</a:t>
            </a:r>
            <a:r>
              <a:rPr lang="zh-CN" altLang="en-US" sz="2000" b="1" dirty="0">
                <a:solidFill>
                  <a:srgbClr val="000000"/>
                </a:solidFill>
                <a:latin typeface="Times New Roman" panose="02020603050405020304" pitchFamily="18" charset="0"/>
                <a:ea typeface="华文楷体" panose="02010600040101010101" pitchFamily="2" charset="-122"/>
              </a:rPr>
              <a:t>为细胞诞生时间</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初始化，确定细胞分裂时间</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time = birth + (rand() % (SPLIT_TIME_MAX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SPLIT_TIME_MIN)) + SPLIT_TIME_MIN;</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getId</a:t>
            </a:r>
            <a:r>
              <a:rPr lang="en-US" altLang="zh-CN" sz="2000" b="1" dirty="0">
                <a:solidFill>
                  <a:srgbClr val="000000"/>
                </a:solidFill>
                <a:latin typeface="Times New Roman" panose="02020603050405020304" pitchFamily="18" charset="0"/>
                <a:ea typeface="华文楷体" panose="02010600040101010101" pitchFamily="2" charset="-122"/>
              </a:rPr>
              <a:t>() const { return id; }			//</a:t>
            </a:r>
            <a:r>
              <a:rPr lang="zh-CN" altLang="en-US" sz="2000" b="1" dirty="0">
                <a:solidFill>
                  <a:srgbClr val="000000"/>
                </a:solidFill>
                <a:latin typeface="Times New Roman" panose="02020603050405020304" pitchFamily="18" charset="0"/>
                <a:ea typeface="华文楷体" panose="02010600040101010101" pitchFamily="2" charset="-122"/>
              </a:rPr>
              <a:t>得到细胞编号</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getSplitTime</a:t>
            </a:r>
            <a:r>
              <a:rPr lang="en-US" altLang="zh-CN" sz="2000" b="1" dirty="0">
                <a:solidFill>
                  <a:srgbClr val="000000"/>
                </a:solidFill>
                <a:latin typeface="Times New Roman" panose="02020603050405020304" pitchFamily="18" charset="0"/>
                <a:ea typeface="华文楷体" panose="02010600040101010101" pitchFamily="2" charset="-122"/>
              </a:rPr>
              <a:t>() const { return time; }	//</a:t>
            </a:r>
            <a:r>
              <a:rPr lang="zh-CN" altLang="en-US" sz="2000" b="1" dirty="0">
                <a:solidFill>
                  <a:srgbClr val="000000"/>
                </a:solidFill>
                <a:latin typeface="Times New Roman" panose="02020603050405020304" pitchFamily="18" charset="0"/>
                <a:ea typeface="华文楷体" panose="02010600040101010101" pitchFamily="2" charset="-122"/>
              </a:rPr>
              <a:t>得到细胞分裂时间</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bool</a:t>
            </a:r>
            <a:r>
              <a:rPr lang="en-US" altLang="zh-CN" sz="2000" b="1" dirty="0">
                <a:solidFill>
                  <a:srgbClr val="000000"/>
                </a:solidFill>
                <a:latin typeface="Times New Roman" panose="02020603050405020304" pitchFamily="18" charset="0"/>
                <a:ea typeface="华文楷体" panose="02010600040101010101" pitchFamily="2" charset="-122"/>
              </a:rPr>
              <a:t> operator &lt; (const Cell&amp; s) const { return time &gt; </a:t>
            </a:r>
            <a:r>
              <a:rPr lang="en-US" altLang="zh-CN" sz="2000" b="1" dirty="0" err="1">
                <a:solidFill>
                  <a:srgbClr val="000000"/>
                </a:solidFill>
                <a:latin typeface="Times New Roman" panose="02020603050405020304" pitchFamily="18" charset="0"/>
                <a:ea typeface="华文楷体" panose="02010600040101010101" pitchFamily="2" charset="-122"/>
              </a:rPr>
              <a:t>s.time</a:t>
            </a:r>
            <a:r>
              <a:rPr lang="en-US" altLang="zh-CN" sz="2000" b="1" dirty="0">
                <a:solidFill>
                  <a:srgbClr val="000000"/>
                </a:solidFill>
                <a:latin typeface="Times New Roman" panose="02020603050405020304" pitchFamily="18" charset="0"/>
                <a:ea typeface="华文楷体" panose="02010600040101010101" pitchFamily="2" charset="-122"/>
              </a:rPr>
              <a:t>; } //</a:t>
            </a:r>
            <a:r>
              <a:rPr lang="zh-CN" altLang="en-US" sz="2000" b="1" dirty="0">
                <a:solidFill>
                  <a:srgbClr val="000000"/>
                </a:solidFill>
                <a:latin typeface="Times New Roman" panose="02020603050405020304" pitchFamily="18" charset="0"/>
                <a:ea typeface="华文楷体" panose="02010600040101010101" pitchFamily="2" charset="-122"/>
              </a:rPr>
              <a:t>定义“</a:t>
            </a:r>
            <a:r>
              <a:rPr lang="en-US" altLang="zh-CN" sz="2000" b="1" dirty="0">
                <a:solidFill>
                  <a:srgbClr val="000000"/>
                </a:solidFill>
                <a:latin typeface="Times New Roman" panose="02020603050405020304" pitchFamily="18" charset="0"/>
                <a:ea typeface="华文楷体" panose="02010600040101010101" pitchFamily="2" charset="-122"/>
              </a:rPr>
              <a:t>&lt;</a:t>
            </a:r>
            <a:r>
              <a:rPr lang="zh-CN" altLang="en-US"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2" name="标题 1"/>
          <p:cNvSpPr>
            <a:spLocks noGrp="1"/>
          </p:cNvSpPr>
          <p:nvPr>
            <p:ph type="title"/>
          </p:nvPr>
        </p:nvSpPr>
        <p:spPr>
          <a:xfrm>
            <a:off x="6231108" y="1916832"/>
            <a:ext cx="2900362" cy="638175"/>
          </a:xfrm>
          <a:solidFill>
            <a:schemeClr val="bg1"/>
          </a:solidFill>
        </p:spPr>
        <p:txBody>
          <a:bodyPr>
            <a:normAutofit fontScale="90000"/>
          </a:bodyPr>
          <a:lstStyle/>
          <a:p>
            <a:pPr eaLnBrk="1" fontAlgn="auto" hangingPunct="1">
              <a:spcAft>
                <a:spcPts val="0"/>
              </a:spcAft>
              <a:defRPr/>
            </a:pPr>
            <a:r>
              <a:rPr lang="zh-CN" altLang="en-US" dirty="0"/>
              <a:t>例</a:t>
            </a:r>
            <a:r>
              <a:rPr lang="en-US" altLang="zh-CN" dirty="0"/>
              <a:t>10-8</a:t>
            </a:r>
            <a:r>
              <a:rPr lang="zh-CN" altLang="en-US" dirty="0"/>
              <a:t>（续）</a:t>
            </a:r>
            <a:endParaRPr lang="zh-CN" altLang="en-US" dirty="0"/>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6632"/>
            <a:ext cx="8496944" cy="6863417"/>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细胞分裂</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void split()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Cell child1(time), child2(time);	//</a:t>
            </a:r>
            <a:r>
              <a:rPr lang="zh-CN" altLang="en-US" sz="2000" b="1" dirty="0">
                <a:solidFill>
                  <a:srgbClr val="000000"/>
                </a:solidFill>
                <a:latin typeface="Times New Roman" panose="02020603050405020304" pitchFamily="18" charset="0"/>
                <a:ea typeface="华文楷体" panose="02010600040101010101" pitchFamily="2" charset="-122"/>
              </a:rPr>
              <a:t>建立两个子细胞</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time &lt;&lt; "s: Cell #" &lt;&lt; id &lt;&lt; " splits to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&lt;&lt; child1.getId() &lt;&lt; " and #" &lt;&lt; child2.getId()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cellQueue.push</a:t>
            </a:r>
            <a:r>
              <a:rPr lang="en-US" altLang="zh-CN" sz="2000" b="1" dirty="0">
                <a:solidFill>
                  <a:srgbClr val="000000"/>
                </a:solidFill>
                <a:latin typeface="Times New Roman" panose="02020603050405020304" pitchFamily="18" charset="0"/>
                <a:ea typeface="华文楷体" panose="02010600040101010101" pitchFamily="2" charset="-122"/>
              </a:rPr>
              <a:t>(child1);	//</a:t>
            </a:r>
            <a:r>
              <a:rPr lang="zh-CN" altLang="en-US" sz="2000" b="1" dirty="0">
                <a:solidFill>
                  <a:srgbClr val="000000"/>
                </a:solidFill>
                <a:latin typeface="Times New Roman" panose="02020603050405020304" pitchFamily="18" charset="0"/>
                <a:ea typeface="华文楷体" panose="02010600040101010101" pitchFamily="2" charset="-122"/>
              </a:rPr>
              <a:t>将第一个子细胞压入优先级队列</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cellQueue.push</a:t>
            </a:r>
            <a:r>
              <a:rPr lang="en-US" altLang="zh-CN" sz="2000" b="1" dirty="0">
                <a:solidFill>
                  <a:srgbClr val="000000"/>
                </a:solidFill>
                <a:latin typeface="Times New Roman" panose="02020603050405020304" pitchFamily="18" charset="0"/>
                <a:ea typeface="华文楷体" panose="02010600040101010101" pitchFamily="2" charset="-122"/>
              </a:rPr>
              <a:t>(child2);	//</a:t>
            </a:r>
            <a:r>
              <a:rPr lang="zh-CN" altLang="en-US" sz="2000" b="1" dirty="0">
                <a:solidFill>
                  <a:srgbClr val="000000"/>
                </a:solidFill>
                <a:latin typeface="Times New Roman" panose="02020603050405020304" pitchFamily="18" charset="0"/>
                <a:ea typeface="华文楷体" panose="02010600040101010101" pitchFamily="2" charset="-122"/>
              </a:rPr>
              <a:t>将第二个子细胞压入优先级队列</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Cell::count =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srand</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static_cast</a:t>
            </a:r>
            <a:r>
              <a:rPr lang="en-US" altLang="zh-CN" sz="2000" b="1" dirty="0">
                <a:solidFill>
                  <a:srgbClr val="000000"/>
                </a:solidFill>
                <a:latin typeface="Times New Roman" panose="02020603050405020304" pitchFamily="18" charset="0"/>
                <a:ea typeface="华文楷体" panose="02010600040101010101" pitchFamily="2" charset="-122"/>
              </a:rPr>
              <a:t>&lt;unsigned&gt;(time(0)));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t;	//</a:t>
            </a:r>
            <a:r>
              <a:rPr lang="zh-CN" altLang="en-US" sz="2000" b="1" dirty="0">
                <a:solidFill>
                  <a:srgbClr val="000000"/>
                </a:solidFill>
                <a:latin typeface="Times New Roman" panose="02020603050405020304" pitchFamily="18" charset="0"/>
                <a:ea typeface="华文楷体" panose="02010600040101010101" pitchFamily="2" charset="-122"/>
              </a:rPr>
              <a:t>模拟时间长度</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"Simulation time: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cellQueue.push</a:t>
            </a:r>
            <a:r>
              <a:rPr lang="en-US" altLang="zh-CN" sz="2000" b="1" dirty="0">
                <a:solidFill>
                  <a:srgbClr val="000000"/>
                </a:solidFill>
                <a:latin typeface="Times New Roman" panose="02020603050405020304" pitchFamily="18" charset="0"/>
                <a:ea typeface="华文楷体" panose="02010600040101010101" pitchFamily="2" charset="-122"/>
              </a:rPr>
              <a:t>(Cell(0));	//</a:t>
            </a:r>
            <a:r>
              <a:rPr lang="zh-CN" altLang="en-US" sz="2000" b="1" dirty="0">
                <a:solidFill>
                  <a:srgbClr val="000000"/>
                </a:solidFill>
                <a:latin typeface="Times New Roman" panose="02020603050405020304" pitchFamily="18" charset="0"/>
                <a:ea typeface="华文楷体" panose="02010600040101010101" pitchFamily="2" charset="-122"/>
              </a:rPr>
              <a:t>将第一个细胞压入优先级队列</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while (</a:t>
            </a:r>
            <a:r>
              <a:rPr lang="en-US" altLang="zh-CN" sz="2000" b="1" dirty="0" err="1">
                <a:solidFill>
                  <a:srgbClr val="000000"/>
                </a:solidFill>
                <a:latin typeface="Times New Roman" panose="02020603050405020304" pitchFamily="18" charset="0"/>
                <a:ea typeface="华文楷体" panose="02010600040101010101" pitchFamily="2" charset="-122"/>
              </a:rPr>
              <a:t>cellQueue.top</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getSplitTime</a:t>
            </a:r>
            <a:r>
              <a:rPr lang="en-US" altLang="zh-CN" sz="2000" b="1" dirty="0">
                <a:solidFill>
                  <a:srgbClr val="000000"/>
                </a:solidFill>
                <a:latin typeface="Times New Roman" panose="02020603050405020304" pitchFamily="18" charset="0"/>
                <a:ea typeface="华文楷体" panose="02010600040101010101" pitchFamily="2" charset="-122"/>
              </a:rPr>
              <a:t>() &lt;= 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cellQueue.top</a:t>
            </a:r>
            <a:r>
              <a:rPr lang="en-US" altLang="zh-CN" sz="2000" b="1" dirty="0">
                <a:solidFill>
                  <a:srgbClr val="000000"/>
                </a:solidFill>
                <a:latin typeface="Times New Roman" panose="02020603050405020304" pitchFamily="18" charset="0"/>
                <a:ea typeface="华文楷体" panose="02010600040101010101" pitchFamily="2" charset="-122"/>
              </a:rPr>
              <a:t>().split();	//</a:t>
            </a:r>
            <a:r>
              <a:rPr lang="zh-CN" altLang="en-US" sz="2000" b="1" dirty="0">
                <a:solidFill>
                  <a:srgbClr val="000000"/>
                </a:solidFill>
                <a:latin typeface="Times New Roman" panose="02020603050405020304" pitchFamily="18" charset="0"/>
                <a:ea typeface="华文楷体" panose="02010600040101010101" pitchFamily="2" charset="-122"/>
              </a:rPr>
              <a:t>模拟下一个细胞的分裂</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cellQueue.pop();			//</a:t>
            </a:r>
            <a:r>
              <a:rPr lang="zh-CN" altLang="en-US" sz="2000" b="1" dirty="0">
                <a:solidFill>
                  <a:srgbClr val="000000"/>
                </a:solidFill>
                <a:latin typeface="Times New Roman" panose="02020603050405020304" pitchFamily="18" charset="0"/>
                <a:ea typeface="华文楷体" panose="02010600040101010101" pitchFamily="2" charset="-122"/>
              </a:rPr>
              <a:t>将刚刚分裂的细胞弹出</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48132" name="标题 1"/>
          <p:cNvSpPr>
            <a:spLocks noGrp="1"/>
          </p:cNvSpPr>
          <p:nvPr>
            <p:ph type="title"/>
          </p:nvPr>
        </p:nvSpPr>
        <p:spPr>
          <a:xfrm>
            <a:off x="5940152" y="2636912"/>
            <a:ext cx="2971800" cy="709613"/>
          </a:xfrm>
          <a:solidFill>
            <a:schemeClr val="bg1"/>
          </a:solidFill>
        </p:spPr>
        <p:txBody>
          <a:bodyPr/>
          <a:lstStyle/>
          <a:p>
            <a:pPr eaLnBrk="1" hangingPunct="1"/>
            <a:r>
              <a:rPr lang="zh-CN" altLang="en-US" dirty="0"/>
              <a:t>例</a:t>
            </a:r>
            <a:r>
              <a:rPr lang="en-US" altLang="zh-CN" dirty="0"/>
              <a:t>10-8</a:t>
            </a:r>
            <a:r>
              <a:rPr lang="zh-CN" altLang="en-US" dirty="0"/>
              <a:t>（续）</a:t>
            </a:r>
            <a:endParaRPr lang="zh-CN" altLang="en-US" dirty="0"/>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xfrm>
            <a:off x="611560" y="0"/>
            <a:ext cx="7886700" cy="1325563"/>
          </a:xfrm>
        </p:spPr>
        <p:txBody>
          <a:bodyPr/>
          <a:lstStyle/>
          <a:p>
            <a:pPr eaLnBrk="1" hangingPunct="1"/>
            <a:r>
              <a:rPr lang="zh-CN" altLang="en-US" b="1"/>
              <a:t>例</a:t>
            </a:r>
            <a:r>
              <a:rPr lang="en-US" altLang="zh-CN" b="1"/>
              <a:t>10-8</a:t>
            </a:r>
            <a:r>
              <a:rPr lang="zh-CN" altLang="en-US" b="1"/>
              <a:t>（续）</a:t>
            </a:r>
            <a:endParaRPr lang="zh-CN" altLang="en-US" b="1"/>
          </a:p>
        </p:txBody>
      </p:sp>
      <p:sp>
        <p:nvSpPr>
          <p:cNvPr id="3" name="内容占位符 2"/>
          <p:cNvSpPr>
            <a:spLocks noGrp="1"/>
          </p:cNvSpPr>
          <p:nvPr>
            <p:ph idx="1"/>
          </p:nvPr>
        </p:nvSpPr>
        <p:spPr>
          <a:xfrm>
            <a:off x="611560" y="836712"/>
            <a:ext cx="7886700" cy="5940088"/>
          </a:xfrm>
          <a:solidFill>
            <a:srgbClr val="000000"/>
          </a:solidFill>
          <a:ln w="9525">
            <a:noFill/>
            <a:miter lim="800000"/>
          </a:ln>
        </p:spPr>
        <p:txBody>
          <a:bodyPr>
            <a:spAutoFit/>
          </a:bodyPr>
          <a:lstStyle/>
          <a:p>
            <a:pPr marL="457200" indent="-457200">
              <a:buClr>
                <a:schemeClr val="accent2"/>
              </a:buClr>
              <a:buSzPct val="80000"/>
              <a:buFont typeface="Wingdings" panose="05000000000000000000" pitchFamily="2" charset="2"/>
              <a:buNone/>
            </a:pPr>
            <a:r>
              <a:rPr lang="zh-CN" altLang="en-US" sz="2000" b="1" dirty="0">
                <a:ea typeface="华文楷体" panose="02010600040101010101" pitchFamily="2" charset="-122"/>
              </a:rPr>
              <a:t>运行结果如下：</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Simulation time: 5000</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971s: Cell #0 splits to #1 and #2</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1719s: Cell #1 splits to #3 and #4</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1956s: Cell #2 splits to #5 and #6</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2845s: Cell #6 splits to #7 and #8</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3551s: Cell #3 splits to #9 and #10</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3640s: Cell #4 splits to #11 and #12</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3919s: Cell #5 splits to #13 and #14</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4162s: Cell #10 splits to #15 and #16</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4197s: Cell #8 splits to #17 and #18</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4317s: Cell #7 splits to #19 and #20</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4686s: Cell #13 splits to #21 and #22</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4809s: Cell #12 splits to #23 and #24</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4818s: Cell #17 splits to #25 and #26</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endParaRPr lang="zh-CN" altLang="en-US" sz="2000" b="1" dirty="0">
              <a:ea typeface="华文楷体" panose="02010600040101010101" pitchFamily="2"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bwMode="auto">
          <a:xfrm>
            <a:off x="539552" y="2819400"/>
            <a:ext cx="8352928"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5"/>
            </a:pPr>
            <a:r>
              <a:rPr lang="en-US" altLang="zh-CN" sz="6600" b="1" dirty="0">
                <a:ea typeface="华文彩云" panose="02010800040101010101" pitchFamily="2" charset="-122"/>
              </a:rPr>
              <a:t>   </a:t>
            </a:r>
            <a:r>
              <a:rPr lang="zh-CN" altLang="en-US" sz="6600" b="1" dirty="0">
                <a:ea typeface="华文彩云" panose="02010800040101010101" pitchFamily="2" charset="-122"/>
              </a:rPr>
              <a:t>关联容器</a:t>
            </a:r>
            <a:endParaRPr lang="zh-CN" altLang="en-US" sz="6600" dirty="0">
              <a:solidFill>
                <a:srgbClr val="FFFF00"/>
              </a:solidFill>
            </a:endParaRPr>
          </a:p>
        </p:txBody>
      </p:sp>
      <p:grpSp>
        <p:nvGrpSpPr>
          <p:cNvPr id="689168" name="Group 16"/>
          <p:cNvGrpSpPr/>
          <p:nvPr/>
        </p:nvGrpSpPr>
        <p:grpSpPr bwMode="auto">
          <a:xfrm>
            <a:off x="4419600" y="609600"/>
            <a:ext cx="2438400" cy="1752600"/>
            <a:chOff x="2208" y="384"/>
            <a:chExt cx="1536" cy="1104"/>
          </a:xfrm>
        </p:grpSpPr>
        <p:sp>
          <p:nvSpPr>
            <p:cNvPr id="689157"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689158" name="Group 6"/>
            <p:cNvGrpSpPr/>
            <p:nvPr/>
          </p:nvGrpSpPr>
          <p:grpSpPr bwMode="auto">
            <a:xfrm>
              <a:off x="2592" y="384"/>
              <a:ext cx="820" cy="734"/>
              <a:chOff x="613" y="1858"/>
              <a:chExt cx="672" cy="686"/>
            </a:xfrm>
          </p:grpSpPr>
          <p:grpSp>
            <p:nvGrpSpPr>
              <p:cNvPr id="689159" name="Group 7"/>
              <p:cNvGrpSpPr/>
              <p:nvPr/>
            </p:nvGrpSpPr>
            <p:grpSpPr bwMode="auto">
              <a:xfrm>
                <a:off x="613" y="2062"/>
                <a:ext cx="216" cy="482"/>
                <a:chOff x="3064" y="2792"/>
                <a:chExt cx="281" cy="626"/>
              </a:xfrm>
            </p:grpSpPr>
            <p:sp>
              <p:nvSpPr>
                <p:cNvPr id="689160"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1"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2" name="Group 10"/>
              <p:cNvGrpSpPr/>
              <p:nvPr/>
            </p:nvGrpSpPr>
            <p:grpSpPr bwMode="auto">
              <a:xfrm>
                <a:off x="850" y="1858"/>
                <a:ext cx="183" cy="470"/>
                <a:chOff x="2073" y="2933"/>
                <a:chExt cx="238" cy="611"/>
              </a:xfrm>
            </p:grpSpPr>
            <p:sp>
              <p:nvSpPr>
                <p:cNvPr id="689163"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4"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5" name="Group 13"/>
              <p:cNvGrpSpPr/>
              <p:nvPr/>
            </p:nvGrpSpPr>
            <p:grpSpPr bwMode="auto">
              <a:xfrm>
                <a:off x="1069" y="1987"/>
                <a:ext cx="216" cy="482"/>
                <a:chOff x="2326" y="3101"/>
                <a:chExt cx="281" cy="626"/>
              </a:xfrm>
            </p:grpSpPr>
            <p:sp>
              <p:nvSpPr>
                <p:cNvPr id="689166"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7"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pPr algn="ctr"/>
            <a:r>
              <a:rPr lang="en-US" altLang="zh-CN" sz="4000" b="1" dirty="0">
                <a:latin typeface="Times New Roman" panose="02020603050405020304" pitchFamily="18" charset="0"/>
                <a:ea typeface="隶书" panose="02010509060101010101" pitchFamily="49" charset="-122"/>
              </a:rPr>
              <a:t>10.5.1 </a:t>
            </a:r>
            <a:r>
              <a:rPr lang="zh-CN" altLang="en-US" sz="4000" b="1" dirty="0">
                <a:latin typeface="Times New Roman" panose="02020603050405020304" pitchFamily="18" charset="0"/>
                <a:ea typeface="隶书" panose="02010509060101010101" pitchFamily="49" charset="-122"/>
              </a:rPr>
              <a:t>关联容器分类和基本功能</a:t>
            </a:r>
            <a:endParaRPr lang="zh-CN" altLang="en-US" sz="4000" b="1" dirty="0">
              <a:latin typeface="Times New Roman" panose="02020603050405020304" pitchFamily="18" charset="0"/>
              <a:ea typeface="隶书" panose="02010509060101010101" pitchFamily="49" charset="-122"/>
            </a:endParaRPr>
          </a:p>
        </p:txBody>
      </p:sp>
      <p:sp>
        <p:nvSpPr>
          <p:cNvPr id="50179" name="内容占位符 2"/>
          <p:cNvSpPr>
            <a:spLocks noGrp="1"/>
          </p:cNvSpPr>
          <p:nvPr>
            <p:ph idx="1"/>
          </p:nvPr>
        </p:nvSpPr>
        <p:spPr>
          <a:xfrm>
            <a:off x="611560" y="1556792"/>
            <a:ext cx="7886700" cy="4351338"/>
          </a:xfrm>
        </p:spPr>
        <p:txBody>
          <a:bodyPr/>
          <a:lstStyle/>
          <a:p>
            <a:pPr>
              <a:spcAft>
                <a:spcPct val="25000"/>
              </a:spcAft>
            </a:pPr>
            <a:r>
              <a:rPr lang="zh-CN" altLang="en-US" sz="2400" b="1">
                <a:ea typeface="华文楷体" panose="02010600040101010101" pitchFamily="2" charset="-122"/>
              </a:rPr>
              <a:t>关联容器的特点</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每个关联容器都有一个键</a:t>
            </a:r>
            <a:r>
              <a:rPr lang="en-US" altLang="zh-CN" sz="2400" b="1">
                <a:ea typeface="华文楷体" panose="02010600040101010101" pitchFamily="2" charset="-122"/>
              </a:rPr>
              <a:t>(key)</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可以根据键高效地查找元素</a:t>
            </a:r>
            <a:endParaRPr lang="en-US" altLang="zh-CN" sz="2400" b="1">
              <a:ea typeface="华文楷体" panose="02010600040101010101" pitchFamily="2" charset="-122"/>
            </a:endParaRPr>
          </a:p>
          <a:p>
            <a:pPr>
              <a:spcAft>
                <a:spcPct val="25000"/>
              </a:spcAft>
            </a:pPr>
            <a:r>
              <a:rPr lang="zh-CN" altLang="en-US" sz="2400" b="1">
                <a:ea typeface="华文楷体" panose="02010600040101010101" pitchFamily="2" charset="-122"/>
              </a:rPr>
              <a:t>接口</a:t>
            </a:r>
            <a:endParaRPr lang="zh-CN" altLang="en-US"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插入：</a:t>
            </a:r>
            <a:r>
              <a:rPr lang="en-US" altLang="zh-CN" sz="2400" b="1">
                <a:ea typeface="华文楷体" panose="02010600040101010101" pitchFamily="2" charset="-122"/>
              </a:rPr>
              <a:t>insert</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删除：</a:t>
            </a:r>
            <a:r>
              <a:rPr lang="en-US" altLang="zh-CN" sz="2400" b="1">
                <a:ea typeface="华文楷体" panose="02010600040101010101" pitchFamily="2" charset="-122"/>
              </a:rPr>
              <a:t>erase</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查找：</a:t>
            </a:r>
            <a:r>
              <a:rPr lang="en-US" altLang="zh-CN" sz="2400" b="1">
                <a:ea typeface="华文楷体" panose="02010600040101010101" pitchFamily="2" charset="-122"/>
              </a:rPr>
              <a:t>find</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定界：</a:t>
            </a:r>
            <a:r>
              <a:rPr lang="en-US" altLang="zh-CN" sz="2400" b="1">
                <a:ea typeface="华文楷体" panose="02010600040101010101" pitchFamily="2" charset="-122"/>
              </a:rPr>
              <a:t>lower_bound</a:t>
            </a:r>
            <a:r>
              <a:rPr lang="zh-CN" altLang="en-US" sz="2400" b="1">
                <a:ea typeface="华文楷体" panose="02010600040101010101" pitchFamily="2" charset="-122"/>
              </a:rPr>
              <a:t>、</a:t>
            </a:r>
            <a:r>
              <a:rPr lang="en-US" altLang="zh-CN" sz="2400" b="1">
                <a:ea typeface="华文楷体" panose="02010600040101010101" pitchFamily="2" charset="-122"/>
              </a:rPr>
              <a:t>upper_bound</a:t>
            </a:r>
            <a:r>
              <a:rPr lang="zh-CN" altLang="en-US" sz="2400" b="1">
                <a:ea typeface="华文楷体" panose="02010600040101010101" pitchFamily="2" charset="-122"/>
              </a:rPr>
              <a:t>、</a:t>
            </a:r>
            <a:r>
              <a:rPr lang="en-US" altLang="zh-CN" sz="2400" b="1">
                <a:ea typeface="华文楷体" panose="02010600040101010101" pitchFamily="2" charset="-122"/>
              </a:rPr>
              <a:t>equal_range</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计数：</a:t>
            </a:r>
            <a:r>
              <a:rPr lang="en-US" altLang="zh-CN" sz="2400" b="1">
                <a:ea typeface="华文楷体" panose="02010600040101010101" pitchFamily="2" charset="-122"/>
              </a:rPr>
              <a:t>count</a:t>
            </a:r>
            <a:endParaRPr lang="en-US" altLang="zh-CN" sz="2400" b="1">
              <a:ea typeface="华文楷体" panose="02010600040101010101" pitchFamily="2" charset="-122"/>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关联容器概念图</a:t>
            </a:r>
            <a:endParaRPr lang="zh-CN" altLang="en-US" sz="4400" b="1">
              <a:latin typeface="Times New Roman" panose="02020603050405020304" pitchFamily="18" charset="0"/>
              <a:ea typeface="隶书" panose="02010509060101010101" pitchFamily="49" charset="-122"/>
            </a:endParaRPr>
          </a:p>
        </p:txBody>
      </p:sp>
      <p:sp>
        <p:nvSpPr>
          <p:cNvPr id="6" name="Text Box 8"/>
          <p:cNvSpPr txBox="1">
            <a:spLocks noChangeArrowheads="1"/>
          </p:cNvSpPr>
          <p:nvPr/>
        </p:nvSpPr>
        <p:spPr bwMode="auto">
          <a:xfrm>
            <a:off x="4643438" y="1643063"/>
            <a:ext cx="2286000" cy="571500"/>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关联容器</a:t>
            </a:r>
            <a:endParaRPr lang="en-US" altLang="zh-CN" sz="1600" b="1" dirty="0">
              <a:solidFill>
                <a:schemeClr val="tx1"/>
              </a:solidFill>
              <a:ea typeface="华文楷体" panose="02010600040101010101" pitchFamily="2" charset="-122"/>
            </a:endParaRPr>
          </a:p>
          <a:p>
            <a:pPr algn="ctr">
              <a:defRPr/>
            </a:pPr>
            <a:r>
              <a:rPr lang="en-US" altLang="zh-CN" sz="1600" b="1" dirty="0">
                <a:solidFill>
                  <a:schemeClr val="tx1"/>
                </a:solidFill>
                <a:ea typeface="华文楷体" panose="02010600040101010101" pitchFamily="2" charset="-122"/>
              </a:rPr>
              <a:t>(Associative Container)</a:t>
            </a:r>
            <a:endParaRPr lang="zh-CN" altLang="zh-CN" sz="1600" b="1" dirty="0">
              <a:solidFill>
                <a:schemeClr val="tx1"/>
              </a:solidFill>
              <a:ea typeface="华文楷体" panose="02010600040101010101" pitchFamily="2" charset="-122"/>
            </a:endParaRPr>
          </a:p>
        </p:txBody>
      </p:sp>
      <p:grpSp>
        <p:nvGrpSpPr>
          <p:cNvPr id="2" name="组合 33"/>
          <p:cNvGrpSpPr/>
          <p:nvPr/>
        </p:nvGrpSpPr>
        <p:grpSpPr bwMode="auto">
          <a:xfrm>
            <a:off x="3857625" y="2214563"/>
            <a:ext cx="3643313" cy="1187450"/>
            <a:chOff x="714348" y="2571744"/>
            <a:chExt cx="3643312" cy="1187448"/>
          </a:xfrm>
        </p:grpSpPr>
        <p:grpSp>
          <p:nvGrpSpPr>
            <p:cNvPr id="51225" name="组合 32"/>
            <p:cNvGrpSpPr/>
            <p:nvPr/>
          </p:nvGrpSpPr>
          <p:grpSpPr bwMode="auto">
            <a:xfrm>
              <a:off x="714348" y="2927343"/>
              <a:ext cx="3643312" cy="831849"/>
              <a:chOff x="714348" y="2927343"/>
              <a:chExt cx="3643312" cy="831849"/>
            </a:xfrm>
          </p:grpSpPr>
          <p:sp>
            <p:nvSpPr>
              <p:cNvPr id="12" name="Text Box 9"/>
              <p:cNvSpPr txBox="1">
                <a:spLocks noChangeArrowheads="1"/>
              </p:cNvSpPr>
              <p:nvPr/>
            </p:nvSpPr>
            <p:spPr bwMode="auto">
              <a:xfrm>
                <a:off x="714348" y="2927343"/>
                <a:ext cx="1704975" cy="831849"/>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单重关联容器</a:t>
                </a:r>
                <a:endParaRPr lang="en-US" altLang="zh-CN" sz="1600" b="1" dirty="0">
                  <a:solidFill>
                    <a:schemeClr val="tx1"/>
                  </a:solidFill>
                  <a:ea typeface="华文楷体" panose="02010600040101010101" pitchFamily="2" charset="-122"/>
                </a:endParaRPr>
              </a:p>
              <a:p>
                <a:pPr algn="ctr">
                  <a:defRPr/>
                </a:pPr>
                <a:r>
                  <a:rPr lang="en-US" altLang="zh-CN" sz="1600" b="1" dirty="0">
                    <a:solidFill>
                      <a:schemeClr val="tx1"/>
                    </a:solidFill>
                    <a:ea typeface="华文楷体" panose="02010600040101010101" pitchFamily="2" charset="-122"/>
                  </a:rPr>
                  <a:t>(Unique </a:t>
                </a:r>
                <a:r>
                  <a:rPr lang="en-US" altLang="zh-CN" sz="1600" b="1" dirty="0" err="1">
                    <a:solidFill>
                      <a:schemeClr val="tx1"/>
                    </a:solidFill>
                    <a:ea typeface="华文楷体" panose="02010600040101010101" pitchFamily="2" charset="-122"/>
                  </a:rPr>
                  <a:t>Asso</a:t>
                </a:r>
                <a:r>
                  <a:rPr lang="en-US" altLang="zh-CN" sz="1600" b="1" dirty="0">
                    <a:solidFill>
                      <a:schemeClr val="tx1"/>
                    </a:solidFill>
                    <a:ea typeface="华文楷体" panose="02010600040101010101" pitchFamily="2" charset="-122"/>
                  </a:rPr>
                  <a:t>-</a:t>
                </a:r>
                <a:br>
                  <a:rPr lang="en-US" altLang="zh-CN" sz="1600" b="1" dirty="0">
                    <a:solidFill>
                      <a:schemeClr val="tx1"/>
                    </a:solidFill>
                    <a:ea typeface="华文楷体" panose="02010600040101010101" pitchFamily="2" charset="-122"/>
                  </a:rPr>
                </a:br>
                <a:r>
                  <a:rPr lang="en-US" altLang="zh-CN" sz="1600" b="1" dirty="0" err="1">
                    <a:solidFill>
                      <a:schemeClr val="tx1"/>
                    </a:solidFill>
                    <a:ea typeface="华文楷体" panose="02010600040101010101" pitchFamily="2" charset="-122"/>
                  </a:rPr>
                  <a:t>ciative</a:t>
                </a:r>
                <a:r>
                  <a:rPr lang="en-US" altLang="zh-CN" sz="1600" b="1" dirty="0">
                    <a:solidFill>
                      <a:schemeClr val="tx1"/>
                    </a:solidFill>
                    <a:ea typeface="华文楷体" panose="02010600040101010101" pitchFamily="2" charset="-122"/>
                  </a:rPr>
                  <a:t> Container)</a:t>
                </a:r>
                <a:endParaRPr lang="zh-CN" altLang="zh-CN" sz="1600" b="1" dirty="0">
                  <a:solidFill>
                    <a:schemeClr val="tx1"/>
                  </a:solidFill>
                  <a:ea typeface="华文楷体" panose="02010600040101010101" pitchFamily="2" charset="-122"/>
                </a:endParaRPr>
              </a:p>
            </p:txBody>
          </p:sp>
          <p:sp>
            <p:nvSpPr>
              <p:cNvPr id="13" name="Text Box 10"/>
              <p:cNvSpPr txBox="1">
                <a:spLocks noChangeArrowheads="1"/>
              </p:cNvSpPr>
              <p:nvPr/>
            </p:nvSpPr>
            <p:spPr bwMode="auto">
              <a:xfrm>
                <a:off x="2643160" y="2927343"/>
                <a:ext cx="1714500" cy="831849"/>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多重关联容器</a:t>
                </a:r>
                <a:endParaRPr lang="en-US" altLang="zh-CN" sz="1600" b="1" dirty="0">
                  <a:solidFill>
                    <a:schemeClr val="tx1"/>
                  </a:solidFill>
                  <a:ea typeface="华文楷体" panose="02010600040101010101" pitchFamily="2" charset="-122"/>
                </a:endParaRPr>
              </a:p>
              <a:p>
                <a:pPr algn="ctr">
                  <a:defRPr/>
                </a:pPr>
                <a:r>
                  <a:rPr lang="en-US" altLang="zh-CN" sz="1600" b="1" dirty="0">
                    <a:solidFill>
                      <a:schemeClr val="tx1"/>
                    </a:solidFill>
                    <a:ea typeface="华文楷体" panose="02010600040101010101" pitchFamily="2" charset="-122"/>
                  </a:rPr>
                  <a:t>(Multiple </a:t>
                </a:r>
                <a:r>
                  <a:rPr lang="en-US" altLang="zh-CN" sz="1600" b="1" dirty="0" err="1">
                    <a:solidFill>
                      <a:schemeClr val="tx1"/>
                    </a:solidFill>
                    <a:ea typeface="华文楷体" panose="02010600040101010101" pitchFamily="2" charset="-122"/>
                  </a:rPr>
                  <a:t>Asso</a:t>
                </a:r>
                <a:r>
                  <a:rPr lang="en-US" altLang="zh-CN" sz="1600" b="1" dirty="0">
                    <a:solidFill>
                      <a:schemeClr val="tx1"/>
                    </a:solidFill>
                    <a:ea typeface="华文楷体" panose="02010600040101010101" pitchFamily="2" charset="-122"/>
                  </a:rPr>
                  <a:t>-</a:t>
                </a:r>
                <a:br>
                  <a:rPr lang="en-US" altLang="zh-CN" sz="1600" b="1" dirty="0">
                    <a:solidFill>
                      <a:schemeClr val="tx1"/>
                    </a:solidFill>
                    <a:ea typeface="华文楷体" panose="02010600040101010101" pitchFamily="2" charset="-122"/>
                  </a:rPr>
                </a:br>
                <a:r>
                  <a:rPr lang="en-US" altLang="zh-CN" sz="1600" b="1" dirty="0" err="1">
                    <a:solidFill>
                      <a:schemeClr val="tx1"/>
                    </a:solidFill>
                    <a:ea typeface="华文楷体" panose="02010600040101010101" pitchFamily="2" charset="-122"/>
                  </a:rPr>
                  <a:t>ciative</a:t>
                </a:r>
                <a:r>
                  <a:rPr lang="en-US" altLang="zh-CN" sz="1600" b="1" dirty="0">
                    <a:solidFill>
                      <a:schemeClr val="tx1"/>
                    </a:solidFill>
                    <a:ea typeface="华文楷体" panose="02010600040101010101" pitchFamily="2" charset="-122"/>
                  </a:rPr>
                  <a:t> Container)</a:t>
                </a:r>
                <a:endParaRPr lang="zh-CN" altLang="zh-CN" sz="1600" b="1" dirty="0">
                  <a:solidFill>
                    <a:schemeClr val="tx1"/>
                  </a:solidFill>
                  <a:ea typeface="华文楷体" panose="02010600040101010101" pitchFamily="2" charset="-122"/>
                </a:endParaRPr>
              </a:p>
            </p:txBody>
          </p:sp>
        </p:grpSp>
        <p:grpSp>
          <p:nvGrpSpPr>
            <p:cNvPr id="51226" name="组合 26"/>
            <p:cNvGrpSpPr/>
            <p:nvPr/>
          </p:nvGrpSpPr>
          <p:grpSpPr bwMode="auto">
            <a:xfrm>
              <a:off x="1674785" y="2571744"/>
              <a:ext cx="1830388" cy="355599"/>
              <a:chOff x="1674785" y="2285992"/>
              <a:chExt cx="1830388" cy="641352"/>
            </a:xfrm>
          </p:grpSpPr>
          <p:cxnSp>
            <p:nvCxnSpPr>
              <p:cNvPr id="10" name="AutoShape 7"/>
              <p:cNvCxnSpPr>
                <a:cxnSpLocks noChangeShapeType="1"/>
              </p:cNvCxnSpPr>
              <p:nvPr/>
            </p:nvCxnSpPr>
            <p:spPr bwMode="auto">
              <a:xfrm flipH="1">
                <a:off x="1674786" y="2285992"/>
                <a:ext cx="947736" cy="641352"/>
              </a:xfrm>
              <a:prstGeom prst="straightConnector1">
                <a:avLst/>
              </a:prstGeom>
              <a:ln>
                <a:solidFill>
                  <a:schemeClr val="accent1"/>
                </a:solidFill>
                <a:tailEnd type="triangle" w="med" len="med"/>
              </a:ln>
            </p:spPr>
            <p:style>
              <a:lnRef idx="3">
                <a:schemeClr val="lt1"/>
              </a:lnRef>
              <a:fillRef idx="1">
                <a:schemeClr val="accent2"/>
              </a:fillRef>
              <a:effectRef idx="1">
                <a:schemeClr val="accent2"/>
              </a:effectRef>
              <a:fontRef idx="minor">
                <a:schemeClr val="lt1"/>
              </a:fontRef>
            </p:style>
          </p:cxnSp>
          <p:cxnSp>
            <p:nvCxnSpPr>
              <p:cNvPr id="11" name="AutoShape 11"/>
              <p:cNvCxnSpPr>
                <a:cxnSpLocks noChangeShapeType="1"/>
              </p:cNvCxnSpPr>
              <p:nvPr/>
            </p:nvCxnSpPr>
            <p:spPr bwMode="auto">
              <a:xfrm>
                <a:off x="2622522" y="2285992"/>
                <a:ext cx="882650" cy="641352"/>
              </a:xfrm>
              <a:prstGeom prst="straightConnector1">
                <a:avLst/>
              </a:prstGeom>
              <a:ln>
                <a:solidFill>
                  <a:schemeClr val="accent1"/>
                </a:solidFill>
                <a:tailEnd type="triangle" w="med" len="med"/>
              </a:ln>
            </p:spPr>
            <p:style>
              <a:lnRef idx="3">
                <a:schemeClr val="lt1"/>
              </a:lnRef>
              <a:fillRef idx="1">
                <a:schemeClr val="accent2"/>
              </a:fillRef>
              <a:effectRef idx="1">
                <a:schemeClr val="accent2"/>
              </a:effectRef>
              <a:fontRef idx="minor">
                <a:schemeClr val="lt1"/>
              </a:fontRef>
            </p:style>
          </p:cxnSp>
        </p:grpSp>
      </p:grpSp>
      <p:sp>
        <p:nvSpPr>
          <p:cNvPr id="14" name="Text Box 8"/>
          <p:cNvSpPr txBox="1">
            <a:spLocks noChangeArrowheads="1"/>
          </p:cNvSpPr>
          <p:nvPr/>
        </p:nvSpPr>
        <p:spPr bwMode="auto">
          <a:xfrm flipH="1">
            <a:off x="258763" y="4429125"/>
            <a:ext cx="1285875" cy="812800"/>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关联容器</a:t>
            </a:r>
            <a:endParaRPr lang="en-US" altLang="zh-CN" sz="1600" b="1" dirty="0">
              <a:solidFill>
                <a:schemeClr val="tx1"/>
              </a:solidFill>
              <a:ea typeface="华文楷体" panose="02010600040101010101" pitchFamily="2" charset="-122"/>
            </a:endParaRPr>
          </a:p>
          <a:p>
            <a:pPr algn="ctr">
              <a:defRPr/>
            </a:pPr>
            <a:r>
              <a:rPr lang="en-US" altLang="zh-CN" sz="1600" b="1" dirty="0">
                <a:solidFill>
                  <a:schemeClr val="tx1"/>
                </a:solidFill>
                <a:ea typeface="华文楷体" panose="02010600040101010101" pitchFamily="2" charset="-122"/>
              </a:rPr>
              <a:t>(Associative Container)</a:t>
            </a:r>
            <a:endParaRPr lang="zh-CN" altLang="zh-CN" sz="1600" b="1" dirty="0">
              <a:solidFill>
                <a:schemeClr val="tx1"/>
              </a:solidFill>
              <a:ea typeface="华文楷体" panose="02010600040101010101" pitchFamily="2" charset="-122"/>
            </a:endParaRPr>
          </a:p>
        </p:txBody>
      </p:sp>
      <p:grpSp>
        <p:nvGrpSpPr>
          <p:cNvPr id="7" name="组合 45"/>
          <p:cNvGrpSpPr/>
          <p:nvPr/>
        </p:nvGrpSpPr>
        <p:grpSpPr bwMode="auto">
          <a:xfrm flipH="1">
            <a:off x="1544638" y="3740150"/>
            <a:ext cx="2000250" cy="2189163"/>
            <a:chOff x="5214942" y="3883034"/>
            <a:chExt cx="1928825" cy="2189172"/>
          </a:xfrm>
        </p:grpSpPr>
        <p:sp>
          <p:nvSpPr>
            <p:cNvPr id="16" name="Text Box 9"/>
            <p:cNvSpPr txBox="1">
              <a:spLocks noChangeArrowheads="1"/>
            </p:cNvSpPr>
            <p:nvPr/>
          </p:nvSpPr>
          <p:spPr bwMode="auto">
            <a:xfrm>
              <a:off x="5237905" y="3883034"/>
              <a:ext cx="1703795" cy="831853"/>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简单关联容器</a:t>
              </a:r>
              <a:endParaRPr lang="en-US" altLang="zh-CN" sz="1600" b="1" dirty="0">
                <a:solidFill>
                  <a:schemeClr val="tx1"/>
                </a:solidFill>
                <a:ea typeface="华文楷体" panose="02010600040101010101" pitchFamily="2" charset="-122"/>
              </a:endParaRPr>
            </a:p>
            <a:p>
              <a:pPr algn="ctr">
                <a:defRPr/>
              </a:pPr>
              <a:r>
                <a:rPr lang="en-US" altLang="zh-CN" sz="1600" b="1" dirty="0">
                  <a:solidFill>
                    <a:schemeClr val="tx1"/>
                  </a:solidFill>
                  <a:ea typeface="华文楷体" panose="02010600040101010101" pitchFamily="2" charset="-122"/>
                </a:rPr>
                <a:t>(Simple </a:t>
              </a:r>
              <a:r>
                <a:rPr lang="en-US" altLang="zh-CN" sz="1600" b="1" dirty="0" err="1">
                  <a:solidFill>
                    <a:schemeClr val="tx1"/>
                  </a:solidFill>
                  <a:ea typeface="华文楷体" panose="02010600040101010101" pitchFamily="2" charset="-122"/>
                </a:rPr>
                <a:t>Asso</a:t>
              </a:r>
              <a:r>
                <a:rPr lang="en-US" altLang="zh-CN" sz="1600" b="1" dirty="0">
                  <a:solidFill>
                    <a:schemeClr val="tx1"/>
                  </a:solidFill>
                  <a:ea typeface="华文楷体" panose="02010600040101010101" pitchFamily="2" charset="-122"/>
                </a:rPr>
                <a:t>-</a:t>
              </a:r>
              <a:br>
                <a:rPr lang="en-US" altLang="zh-CN" sz="1600" b="1" dirty="0">
                  <a:solidFill>
                    <a:schemeClr val="tx1"/>
                  </a:solidFill>
                  <a:ea typeface="华文楷体" panose="02010600040101010101" pitchFamily="2" charset="-122"/>
                </a:rPr>
              </a:br>
              <a:r>
                <a:rPr lang="en-US" altLang="zh-CN" sz="1600" b="1" dirty="0" err="1">
                  <a:solidFill>
                    <a:schemeClr val="tx1"/>
                  </a:solidFill>
                  <a:ea typeface="华文楷体" panose="02010600040101010101" pitchFamily="2" charset="-122"/>
                </a:rPr>
                <a:t>ciative</a:t>
              </a:r>
              <a:r>
                <a:rPr lang="en-US" altLang="zh-CN" sz="1600" b="1" dirty="0">
                  <a:solidFill>
                    <a:schemeClr val="tx1"/>
                  </a:solidFill>
                  <a:ea typeface="华文楷体" panose="02010600040101010101" pitchFamily="2" charset="-122"/>
                </a:rPr>
                <a:t> Container)</a:t>
              </a:r>
              <a:endParaRPr lang="zh-CN" altLang="zh-CN" sz="1600" b="1" dirty="0">
                <a:solidFill>
                  <a:schemeClr val="tx1"/>
                </a:solidFill>
                <a:ea typeface="华文楷体" panose="02010600040101010101" pitchFamily="2" charset="-122"/>
              </a:endParaRPr>
            </a:p>
          </p:txBody>
        </p:sp>
        <p:sp>
          <p:nvSpPr>
            <p:cNvPr id="17" name="Text Box 10"/>
            <p:cNvSpPr txBox="1">
              <a:spLocks noChangeArrowheads="1"/>
            </p:cNvSpPr>
            <p:nvPr/>
          </p:nvSpPr>
          <p:spPr bwMode="auto">
            <a:xfrm>
              <a:off x="5214942" y="5240353"/>
              <a:ext cx="1714511" cy="831853"/>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二元关联容器</a:t>
              </a:r>
              <a:endParaRPr lang="en-US" altLang="zh-CN" sz="1600" b="1" dirty="0">
                <a:solidFill>
                  <a:schemeClr val="tx1"/>
                </a:solidFill>
                <a:ea typeface="华文楷体" panose="02010600040101010101" pitchFamily="2" charset="-122"/>
              </a:endParaRPr>
            </a:p>
            <a:p>
              <a:pPr algn="ctr">
                <a:defRPr/>
              </a:pPr>
              <a:r>
                <a:rPr lang="en-US" altLang="zh-CN" sz="1600" b="1" dirty="0">
                  <a:solidFill>
                    <a:schemeClr val="tx1"/>
                  </a:solidFill>
                  <a:ea typeface="华文楷体" panose="02010600040101010101" pitchFamily="2" charset="-122"/>
                </a:rPr>
                <a:t>(Pair </a:t>
              </a:r>
              <a:r>
                <a:rPr lang="en-US" altLang="zh-CN" sz="1600" b="1" dirty="0" err="1">
                  <a:solidFill>
                    <a:schemeClr val="tx1"/>
                  </a:solidFill>
                  <a:ea typeface="华文楷体" panose="02010600040101010101" pitchFamily="2" charset="-122"/>
                </a:rPr>
                <a:t>Asso</a:t>
              </a:r>
              <a:r>
                <a:rPr lang="en-US" altLang="zh-CN" sz="1600" b="1" dirty="0">
                  <a:solidFill>
                    <a:schemeClr val="tx1"/>
                  </a:solidFill>
                  <a:ea typeface="华文楷体" panose="02010600040101010101" pitchFamily="2" charset="-122"/>
                </a:rPr>
                <a:t>-</a:t>
              </a:r>
              <a:br>
                <a:rPr lang="en-US" altLang="zh-CN" sz="1600" b="1" dirty="0">
                  <a:solidFill>
                    <a:schemeClr val="tx1"/>
                  </a:solidFill>
                  <a:ea typeface="华文楷体" panose="02010600040101010101" pitchFamily="2" charset="-122"/>
                </a:rPr>
              </a:br>
              <a:r>
                <a:rPr lang="en-US" altLang="zh-CN" sz="1600" b="1" dirty="0" err="1">
                  <a:solidFill>
                    <a:schemeClr val="tx1"/>
                  </a:solidFill>
                  <a:ea typeface="华文楷体" panose="02010600040101010101" pitchFamily="2" charset="-122"/>
                </a:rPr>
                <a:t>ciative</a:t>
              </a:r>
              <a:r>
                <a:rPr lang="en-US" altLang="zh-CN" sz="1600" b="1" dirty="0">
                  <a:solidFill>
                    <a:schemeClr val="tx1"/>
                  </a:solidFill>
                  <a:ea typeface="华文楷体" panose="02010600040101010101" pitchFamily="2" charset="-122"/>
                </a:rPr>
                <a:t> Container)</a:t>
              </a:r>
              <a:endParaRPr lang="zh-CN" altLang="zh-CN" sz="1600" b="1" dirty="0">
                <a:solidFill>
                  <a:schemeClr val="tx1"/>
                </a:solidFill>
                <a:ea typeface="华文楷体" panose="02010600040101010101" pitchFamily="2" charset="-122"/>
              </a:endParaRPr>
            </a:p>
          </p:txBody>
        </p:sp>
        <p:cxnSp>
          <p:nvCxnSpPr>
            <p:cNvPr id="18" name="AutoShape 11"/>
            <p:cNvCxnSpPr>
              <a:cxnSpLocks noChangeShapeType="1"/>
              <a:stCxn id="14" idx="1"/>
              <a:endCxn id="16" idx="3"/>
            </p:cNvCxnSpPr>
            <p:nvPr/>
          </p:nvCxnSpPr>
          <p:spPr bwMode="auto">
            <a:xfrm flipH="1" flipV="1">
              <a:off x="6941700" y="4298961"/>
              <a:ext cx="202067" cy="679453"/>
            </a:xfrm>
            <a:prstGeom prst="straightConnector1">
              <a:avLst/>
            </a:prstGeom>
            <a:ln>
              <a:solidFill>
                <a:schemeClr val="accent1"/>
              </a:solidFill>
              <a:tailEnd type="triangle" w="med" len="med"/>
            </a:ln>
          </p:spPr>
          <p:style>
            <a:lnRef idx="3">
              <a:schemeClr val="lt1"/>
            </a:lnRef>
            <a:fillRef idx="1">
              <a:schemeClr val="accent2"/>
            </a:fillRef>
            <a:effectRef idx="1">
              <a:schemeClr val="accent2"/>
            </a:effectRef>
            <a:fontRef idx="minor">
              <a:schemeClr val="lt1"/>
            </a:fontRef>
          </p:style>
        </p:cxnSp>
        <p:cxnSp>
          <p:nvCxnSpPr>
            <p:cNvPr id="19" name="AutoShape 11"/>
            <p:cNvCxnSpPr>
              <a:cxnSpLocks noChangeShapeType="1"/>
              <a:stCxn id="14" idx="1"/>
              <a:endCxn id="17" idx="3"/>
            </p:cNvCxnSpPr>
            <p:nvPr/>
          </p:nvCxnSpPr>
          <p:spPr bwMode="auto">
            <a:xfrm flipH="1">
              <a:off x="6929453" y="4978414"/>
              <a:ext cx="214314" cy="677866"/>
            </a:xfrm>
            <a:prstGeom prst="straightConnector1">
              <a:avLst/>
            </a:prstGeom>
            <a:ln>
              <a:solidFill>
                <a:schemeClr val="accent1"/>
              </a:solidFill>
              <a:tailEnd type="triangle" w="med" len="med"/>
            </a:ln>
          </p:spPr>
          <p:style>
            <a:lnRef idx="3">
              <a:schemeClr val="lt1"/>
            </a:lnRef>
            <a:fillRef idx="1">
              <a:schemeClr val="accent2"/>
            </a:fillRef>
            <a:effectRef idx="1">
              <a:schemeClr val="accent2"/>
            </a:effectRef>
            <a:fontRef idx="minor">
              <a:schemeClr val="lt1"/>
            </a:fontRef>
          </p:style>
        </p:cxnSp>
      </p:grpSp>
      <p:grpSp>
        <p:nvGrpSpPr>
          <p:cNvPr id="8" name="组合 56"/>
          <p:cNvGrpSpPr/>
          <p:nvPr/>
        </p:nvGrpSpPr>
        <p:grpSpPr bwMode="auto">
          <a:xfrm>
            <a:off x="1714500" y="3643313"/>
            <a:ext cx="6000750" cy="2428875"/>
            <a:chOff x="1000100" y="3786190"/>
            <a:chExt cx="6786610" cy="2428892"/>
          </a:xfrm>
        </p:grpSpPr>
        <p:cxnSp>
          <p:nvCxnSpPr>
            <p:cNvPr id="21" name="直接连接符 20"/>
            <p:cNvCxnSpPr/>
            <p:nvPr/>
          </p:nvCxnSpPr>
          <p:spPr bwMode="auto">
            <a:xfrm>
              <a:off x="1000100" y="3786190"/>
              <a:ext cx="6786610"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22" name="直接连接符 21"/>
            <p:cNvCxnSpPr/>
            <p:nvPr/>
          </p:nvCxnSpPr>
          <p:spPr bwMode="auto">
            <a:xfrm>
              <a:off x="1000100" y="4929198"/>
              <a:ext cx="6786610"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23" name="直接连接符 22"/>
            <p:cNvCxnSpPr/>
            <p:nvPr/>
          </p:nvCxnSpPr>
          <p:spPr bwMode="auto">
            <a:xfrm>
              <a:off x="1000100" y="6215082"/>
              <a:ext cx="6786610"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grpSp>
      <p:grpSp>
        <p:nvGrpSpPr>
          <p:cNvPr id="9" name="组合 55"/>
          <p:cNvGrpSpPr/>
          <p:nvPr/>
        </p:nvGrpSpPr>
        <p:grpSpPr bwMode="auto">
          <a:xfrm>
            <a:off x="3687763" y="2428875"/>
            <a:ext cx="4000500" cy="3643313"/>
            <a:chOff x="1000100" y="2786058"/>
            <a:chExt cx="4000528" cy="3429024"/>
          </a:xfrm>
        </p:grpSpPr>
        <p:cxnSp>
          <p:nvCxnSpPr>
            <p:cNvPr id="25" name="直接连接符 24"/>
            <p:cNvCxnSpPr/>
            <p:nvPr/>
          </p:nvCxnSpPr>
          <p:spPr bwMode="auto">
            <a:xfrm rot="5400000">
              <a:off x="-714413" y="4500570"/>
              <a:ext cx="3429024"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26" name="直接连接符 25"/>
            <p:cNvCxnSpPr/>
            <p:nvPr/>
          </p:nvCxnSpPr>
          <p:spPr bwMode="auto">
            <a:xfrm rot="5400000">
              <a:off x="1269976" y="4500570"/>
              <a:ext cx="3429024"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cxnSp>
          <p:nvCxnSpPr>
            <p:cNvPr id="27" name="直接连接符 26"/>
            <p:cNvCxnSpPr/>
            <p:nvPr/>
          </p:nvCxnSpPr>
          <p:spPr bwMode="auto">
            <a:xfrm rot="5400000">
              <a:off x="3286115" y="4500570"/>
              <a:ext cx="3429024" cy="0"/>
            </a:xfrm>
            <a:prstGeom prst="line">
              <a:avLst/>
            </a:prstGeom>
            <a:ln>
              <a:prstDash val="sysDot"/>
              <a:headEnd type="none" w="sm" len="sm"/>
              <a:tailEnd type="none" w="sm" len="sm"/>
            </a:ln>
          </p:spPr>
          <p:style>
            <a:lnRef idx="2">
              <a:schemeClr val="accent3"/>
            </a:lnRef>
            <a:fillRef idx="0">
              <a:schemeClr val="accent3"/>
            </a:fillRef>
            <a:effectRef idx="1">
              <a:schemeClr val="accent3"/>
            </a:effectRef>
            <a:fontRef idx="minor">
              <a:schemeClr val="tx1"/>
            </a:fontRef>
          </p:style>
        </p:cxnSp>
      </p:grpSp>
      <p:sp>
        <p:nvSpPr>
          <p:cNvPr id="28" name="矩形 23"/>
          <p:cNvSpPr>
            <a:spLocks noChangeArrowheads="1"/>
          </p:cNvSpPr>
          <p:nvPr/>
        </p:nvSpPr>
        <p:spPr bwMode="auto">
          <a:xfrm>
            <a:off x="6215063" y="4000500"/>
            <a:ext cx="1071562" cy="357188"/>
          </a:xfrm>
          <a:prstGeom prst="rect">
            <a:avLst/>
          </a:prstGeom>
          <a:solidFill>
            <a:schemeClr val="accent1"/>
          </a:solidFill>
          <a:ln w="12700" algn="ctr">
            <a:solidFill>
              <a:srgbClr val="000000"/>
            </a:solidFill>
            <a:round/>
            <a:headEnd type="none" w="sm" len="sm"/>
            <a:tailEnd type="none" w="sm" len="sm"/>
          </a:ln>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b="1">
                <a:latin typeface="+mn-lt"/>
                <a:ea typeface="华文楷体" panose="02010600040101010101" pitchFamily="2" charset="-122"/>
              </a:rPr>
              <a:t>multiset</a:t>
            </a:r>
            <a:endParaRPr lang="zh-CN" altLang="en-US" sz="1600" b="1">
              <a:latin typeface="+mn-lt"/>
              <a:ea typeface="华文楷体" panose="02010600040101010101" pitchFamily="2" charset="-122"/>
            </a:endParaRPr>
          </a:p>
        </p:txBody>
      </p:sp>
      <p:sp>
        <p:nvSpPr>
          <p:cNvPr id="29" name="矩形 23"/>
          <p:cNvSpPr>
            <a:spLocks noChangeArrowheads="1"/>
          </p:cNvSpPr>
          <p:nvPr/>
        </p:nvSpPr>
        <p:spPr bwMode="auto">
          <a:xfrm>
            <a:off x="6215063" y="5286375"/>
            <a:ext cx="1071562" cy="357188"/>
          </a:xfrm>
          <a:prstGeom prst="rect">
            <a:avLst/>
          </a:prstGeom>
          <a:solidFill>
            <a:schemeClr val="accent1"/>
          </a:solidFill>
          <a:ln w="12700" algn="ctr">
            <a:solidFill>
              <a:srgbClr val="000000"/>
            </a:solidFill>
            <a:round/>
            <a:headEnd type="none" w="sm" len="sm"/>
            <a:tailEnd type="none" w="sm" len="sm"/>
          </a:ln>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b="1">
                <a:latin typeface="+mn-lt"/>
                <a:ea typeface="华文楷体" panose="02010600040101010101" pitchFamily="2" charset="-122"/>
              </a:rPr>
              <a:t>multimap</a:t>
            </a:r>
            <a:endParaRPr lang="zh-CN" altLang="en-US" sz="1600" b="1">
              <a:latin typeface="+mn-lt"/>
              <a:ea typeface="华文楷体" panose="02010600040101010101" pitchFamily="2" charset="-122"/>
            </a:endParaRPr>
          </a:p>
        </p:txBody>
      </p:sp>
      <p:sp>
        <p:nvSpPr>
          <p:cNvPr id="30" name="矩形 23"/>
          <p:cNvSpPr>
            <a:spLocks noChangeArrowheads="1"/>
          </p:cNvSpPr>
          <p:nvPr/>
        </p:nvSpPr>
        <p:spPr bwMode="auto">
          <a:xfrm>
            <a:off x="4214813" y="4000500"/>
            <a:ext cx="1071562" cy="357188"/>
          </a:xfrm>
          <a:prstGeom prst="rect">
            <a:avLst/>
          </a:prstGeom>
          <a:solidFill>
            <a:schemeClr val="accent1"/>
          </a:solidFill>
          <a:ln w="12700" algn="ctr">
            <a:solidFill>
              <a:srgbClr val="000000"/>
            </a:solidFill>
            <a:round/>
            <a:headEnd type="none" w="sm" len="sm"/>
            <a:tailEnd type="none" w="sm" len="sm"/>
          </a:ln>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b="1">
                <a:latin typeface="+mn-lt"/>
                <a:ea typeface="华文楷体" panose="02010600040101010101" pitchFamily="2" charset="-122"/>
              </a:rPr>
              <a:t>set</a:t>
            </a:r>
            <a:endParaRPr lang="zh-CN" altLang="en-US" sz="1600" b="1">
              <a:latin typeface="+mn-lt"/>
              <a:ea typeface="华文楷体" panose="02010600040101010101" pitchFamily="2" charset="-122"/>
            </a:endParaRPr>
          </a:p>
        </p:txBody>
      </p:sp>
      <p:sp>
        <p:nvSpPr>
          <p:cNvPr id="31" name="矩形 23"/>
          <p:cNvSpPr>
            <a:spLocks noChangeArrowheads="1"/>
          </p:cNvSpPr>
          <p:nvPr/>
        </p:nvSpPr>
        <p:spPr bwMode="auto">
          <a:xfrm>
            <a:off x="4214813" y="5286375"/>
            <a:ext cx="1071562" cy="357188"/>
          </a:xfrm>
          <a:prstGeom prst="rect">
            <a:avLst/>
          </a:prstGeom>
          <a:solidFill>
            <a:schemeClr val="accent1"/>
          </a:solidFill>
          <a:ln w="12700" algn="ctr">
            <a:solidFill>
              <a:srgbClr val="000000"/>
            </a:solidFill>
            <a:round/>
            <a:headEnd type="none" w="sm" len="sm"/>
            <a:tailEnd type="none" w="sm" len="sm"/>
          </a:ln>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ctr" eaLnBrk="1" hangingPunct="1"/>
            <a:r>
              <a:rPr lang="en-US" altLang="zh-CN" sz="1600" b="1">
                <a:latin typeface="+mn-lt"/>
                <a:ea typeface="华文楷体" panose="02010600040101010101" pitchFamily="2" charset="-122"/>
              </a:rPr>
              <a:t>map</a:t>
            </a:r>
            <a:endParaRPr lang="zh-CN" altLang="en-US" sz="1600" b="1">
              <a:latin typeface="+mn-lt"/>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1"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slide(fromTop)">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2" presetClass="entr" presetSubtype="8"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slide(fromLeft)">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1+#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dissolve">
                                      <p:cBhvr>
                                        <p:cTn id="35" dur="500"/>
                                        <p:tgtEl>
                                          <p:spTgt spid="30"/>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dissolve">
                                      <p:cBhvr>
                                        <p:cTn id="38" dur="500"/>
                                        <p:tgtEl>
                                          <p:spTgt spid="28"/>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dissolve">
                                      <p:cBhvr>
                                        <p:cTn id="41" dur="500"/>
                                        <p:tgtEl>
                                          <p:spTgt spid="31"/>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dissolve">
                                      <p:cBhvr>
                                        <p:cTn id="4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P spid="28" grpId="0" animBg="1"/>
      <p:bldP spid="29" grpId="0" animBg="1"/>
      <p:bldP spid="30" grpId="0" animBg="1"/>
      <p:bldP spid="3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四种关联容器</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683568" y="1412776"/>
            <a:ext cx="7886700" cy="4351338"/>
          </a:xfrm>
        </p:spPr>
        <p:txBody>
          <a:bodyPr/>
          <a:lstStyle/>
          <a:p>
            <a:pPr>
              <a:spcBef>
                <a:spcPts val="0"/>
              </a:spcBef>
              <a:spcAft>
                <a:spcPct val="25000"/>
              </a:spcAft>
            </a:pPr>
            <a:r>
              <a:rPr lang="zh-CN" altLang="en-US" sz="2400" b="1" dirty="0">
                <a:solidFill>
                  <a:srgbClr val="FFFF00"/>
                </a:solidFill>
                <a:ea typeface="华文楷体" panose="02010600040101010101" pitchFamily="2" charset="-122"/>
              </a:rPr>
              <a:t>单重关联容器</a:t>
            </a:r>
            <a:r>
              <a:rPr lang="en-US" altLang="zh-CN" sz="2400" b="1" dirty="0">
                <a:solidFill>
                  <a:srgbClr val="FFFF00"/>
                </a:solidFill>
                <a:ea typeface="华文楷体" panose="02010600040101010101" pitchFamily="2" charset="-122"/>
              </a:rPr>
              <a:t>(set</a:t>
            </a:r>
            <a:r>
              <a:rPr lang="zh-CN" altLang="en-US" sz="2400" b="1" dirty="0">
                <a:solidFill>
                  <a:srgbClr val="FFFF00"/>
                </a:solidFill>
                <a:ea typeface="华文楷体" panose="02010600040101010101" pitchFamily="2" charset="-122"/>
              </a:rPr>
              <a:t>和</a:t>
            </a:r>
            <a:r>
              <a:rPr lang="en-US" altLang="zh-CN" sz="2400" b="1" dirty="0">
                <a:solidFill>
                  <a:srgbClr val="FFFF00"/>
                </a:solidFill>
                <a:ea typeface="华文楷体" panose="02010600040101010101" pitchFamily="2" charset="-122"/>
              </a:rPr>
              <a:t>map)</a:t>
            </a:r>
            <a:r>
              <a:rPr lang="zh-CN" altLang="en-US" sz="2400" b="1" dirty="0">
                <a:ea typeface="华文楷体" panose="02010600040101010101" pitchFamily="2" charset="-122"/>
              </a:rPr>
              <a:t>：键值是唯一的，一个键值只能对应一个元素</a:t>
            </a:r>
            <a:endParaRPr lang="en-US" altLang="zh-CN" sz="2400" b="1" dirty="0">
              <a:ea typeface="华文楷体" panose="02010600040101010101" pitchFamily="2" charset="-122"/>
            </a:endParaRPr>
          </a:p>
          <a:p>
            <a:pPr>
              <a:spcBef>
                <a:spcPts val="0"/>
              </a:spcBef>
              <a:spcAft>
                <a:spcPct val="25000"/>
              </a:spcAft>
            </a:pPr>
            <a:r>
              <a:rPr lang="zh-CN" altLang="en-US" sz="2400" b="1" dirty="0">
                <a:solidFill>
                  <a:srgbClr val="FFFF00"/>
                </a:solidFill>
                <a:ea typeface="华文楷体" panose="02010600040101010101" pitchFamily="2" charset="-122"/>
              </a:rPr>
              <a:t>多重关联容器</a:t>
            </a:r>
            <a:r>
              <a:rPr lang="en-US" altLang="zh-CN" sz="2400" b="1" dirty="0">
                <a:solidFill>
                  <a:srgbClr val="FFFF00"/>
                </a:solidFill>
                <a:ea typeface="华文楷体" panose="02010600040101010101" pitchFamily="2" charset="-122"/>
              </a:rPr>
              <a:t>(</a:t>
            </a:r>
            <a:r>
              <a:rPr lang="en-US" altLang="zh-CN" sz="2400" b="1" dirty="0" err="1">
                <a:solidFill>
                  <a:srgbClr val="FFFF00"/>
                </a:solidFill>
                <a:ea typeface="华文楷体" panose="02010600040101010101" pitchFamily="2" charset="-122"/>
              </a:rPr>
              <a:t>multiset</a:t>
            </a:r>
            <a:r>
              <a:rPr lang="zh-CN" altLang="en-US" sz="2400" b="1" dirty="0">
                <a:solidFill>
                  <a:srgbClr val="FFFF00"/>
                </a:solidFill>
                <a:ea typeface="华文楷体" panose="02010600040101010101" pitchFamily="2" charset="-122"/>
              </a:rPr>
              <a:t>和</a:t>
            </a:r>
            <a:r>
              <a:rPr lang="en-US" altLang="zh-CN" sz="2400" b="1" dirty="0" err="1">
                <a:solidFill>
                  <a:srgbClr val="FFFF00"/>
                </a:solidFill>
                <a:ea typeface="华文楷体" panose="02010600040101010101" pitchFamily="2" charset="-122"/>
              </a:rPr>
              <a:t>multimap</a:t>
            </a:r>
            <a:r>
              <a:rPr lang="en-US" altLang="zh-CN" sz="2400" b="1" dirty="0">
                <a:solidFill>
                  <a:srgbClr val="FFFF00"/>
                </a:solidFill>
                <a:ea typeface="华文楷体" panose="02010600040101010101" pitchFamily="2" charset="-122"/>
              </a:rPr>
              <a:t>)</a:t>
            </a:r>
            <a:r>
              <a:rPr lang="zh-CN" altLang="en-US" sz="2400" b="1" dirty="0">
                <a:ea typeface="华文楷体" panose="02010600040101010101" pitchFamily="2" charset="-122"/>
              </a:rPr>
              <a:t>：键值是不唯一的，一个键值可以对应多个元素</a:t>
            </a:r>
            <a:endParaRPr lang="en-US" altLang="zh-CN" sz="2400" b="1" dirty="0">
              <a:ea typeface="华文楷体" panose="02010600040101010101" pitchFamily="2" charset="-122"/>
            </a:endParaRPr>
          </a:p>
          <a:p>
            <a:pPr>
              <a:spcBef>
                <a:spcPts val="0"/>
              </a:spcBef>
              <a:spcAft>
                <a:spcPct val="25000"/>
              </a:spcAft>
            </a:pPr>
            <a:r>
              <a:rPr lang="zh-CN" altLang="en-US" sz="2400" b="1" dirty="0">
                <a:solidFill>
                  <a:srgbClr val="FFFF00"/>
                </a:solidFill>
                <a:ea typeface="华文楷体" panose="02010600040101010101" pitchFamily="2" charset="-122"/>
              </a:rPr>
              <a:t>简单关联容器</a:t>
            </a:r>
            <a:r>
              <a:rPr lang="en-US" altLang="zh-CN" sz="2400" b="1" dirty="0">
                <a:solidFill>
                  <a:srgbClr val="FFFF00"/>
                </a:solidFill>
                <a:ea typeface="华文楷体" panose="02010600040101010101" pitchFamily="2" charset="-122"/>
              </a:rPr>
              <a:t>(set</a:t>
            </a:r>
            <a:r>
              <a:rPr lang="zh-CN" altLang="en-US" sz="2400" b="1" dirty="0">
                <a:solidFill>
                  <a:srgbClr val="FFFF00"/>
                </a:solidFill>
                <a:ea typeface="华文楷体" panose="02010600040101010101" pitchFamily="2" charset="-122"/>
              </a:rPr>
              <a:t>和</a:t>
            </a:r>
            <a:r>
              <a:rPr lang="en-US" altLang="zh-CN" sz="2400" b="1" dirty="0" err="1">
                <a:solidFill>
                  <a:srgbClr val="FFFF00"/>
                </a:solidFill>
                <a:ea typeface="华文楷体" panose="02010600040101010101" pitchFamily="2" charset="-122"/>
              </a:rPr>
              <a:t>multiset</a:t>
            </a:r>
            <a:r>
              <a:rPr lang="en-US" altLang="zh-CN" sz="2400" b="1" dirty="0">
                <a:solidFill>
                  <a:srgbClr val="FFFF00"/>
                </a:solidFill>
                <a:ea typeface="华文楷体" panose="02010600040101010101" pitchFamily="2" charset="-122"/>
              </a:rPr>
              <a:t>)</a:t>
            </a:r>
            <a:endParaRPr lang="en-US" altLang="zh-CN" sz="2400" b="1" dirty="0">
              <a:solidFill>
                <a:srgbClr val="FFFF00"/>
              </a:solidFill>
              <a:ea typeface="华文楷体" panose="02010600040101010101" pitchFamily="2" charset="-122"/>
            </a:endParaRPr>
          </a:p>
          <a:p>
            <a:pPr lvl="1">
              <a:spcBef>
                <a:spcPts val="0"/>
              </a:spcBef>
              <a:buFont typeface="Wingdings" panose="05000000000000000000" pitchFamily="2" charset="2"/>
              <a:buChar char="ü"/>
            </a:pPr>
            <a:r>
              <a:rPr lang="zh-CN" altLang="en-US" sz="2400" b="1" dirty="0">
                <a:ea typeface="华文楷体" panose="02010600040101010101" pitchFamily="2" charset="-122"/>
              </a:rPr>
              <a:t>容器只有一个类型参数，如</a:t>
            </a:r>
            <a:r>
              <a:rPr lang="en-US" altLang="zh-CN" sz="2400" b="1" dirty="0">
                <a:ea typeface="华文楷体" panose="02010600040101010101" pitchFamily="2" charset="-122"/>
              </a:rPr>
              <a:t>set&lt;K&gt;</a:t>
            </a:r>
            <a:r>
              <a:rPr lang="zh-CN" altLang="en-US" sz="2400" b="1" dirty="0">
                <a:ea typeface="华文楷体" panose="02010600040101010101" pitchFamily="2" charset="-122"/>
              </a:rPr>
              <a:t>、</a:t>
            </a:r>
            <a:r>
              <a:rPr lang="en-US" altLang="zh-CN" sz="2400" b="1" dirty="0" err="1">
                <a:ea typeface="华文楷体" panose="02010600040101010101" pitchFamily="2" charset="-122"/>
              </a:rPr>
              <a:t>multiset</a:t>
            </a:r>
            <a:r>
              <a:rPr lang="en-US" altLang="zh-CN" sz="2400" b="1" dirty="0">
                <a:ea typeface="华文楷体" panose="02010600040101010101" pitchFamily="2" charset="-122"/>
              </a:rPr>
              <a:t>&lt;K&gt;</a:t>
            </a:r>
            <a:r>
              <a:rPr lang="zh-CN" altLang="en-US" sz="2400" b="1" dirty="0">
                <a:ea typeface="华文楷体" panose="02010600040101010101" pitchFamily="2" charset="-122"/>
              </a:rPr>
              <a:t>，表示键类型</a:t>
            </a:r>
            <a:endParaRPr lang="en-US" altLang="zh-CN" sz="2400" b="1" dirty="0">
              <a:ea typeface="华文楷体" panose="02010600040101010101" pitchFamily="2" charset="-122"/>
            </a:endParaRPr>
          </a:p>
          <a:p>
            <a:pPr lvl="1">
              <a:spcBef>
                <a:spcPts val="0"/>
              </a:spcBef>
              <a:buFont typeface="Wingdings" panose="05000000000000000000" pitchFamily="2" charset="2"/>
              <a:buChar char="ü"/>
            </a:pPr>
            <a:r>
              <a:rPr lang="zh-CN" altLang="en-US" sz="2400" b="1" dirty="0">
                <a:ea typeface="华文楷体" panose="02010600040101010101" pitchFamily="2" charset="-122"/>
              </a:rPr>
              <a:t>容器的元素就是键本身</a:t>
            </a:r>
            <a:endParaRPr lang="en-US" altLang="zh-CN" sz="2400" b="1" dirty="0">
              <a:ea typeface="华文楷体" panose="02010600040101010101" pitchFamily="2" charset="-122"/>
            </a:endParaRPr>
          </a:p>
          <a:p>
            <a:pPr>
              <a:spcBef>
                <a:spcPts val="0"/>
              </a:spcBef>
              <a:spcAft>
                <a:spcPct val="25000"/>
              </a:spcAft>
            </a:pPr>
            <a:r>
              <a:rPr lang="zh-CN" altLang="en-US" sz="2400" b="1" dirty="0">
                <a:solidFill>
                  <a:srgbClr val="FFFF00"/>
                </a:solidFill>
                <a:ea typeface="华文楷体" panose="02010600040101010101" pitchFamily="2" charset="-122"/>
              </a:rPr>
              <a:t>二元关联容器</a:t>
            </a:r>
            <a:r>
              <a:rPr lang="en-US" altLang="zh-CN" sz="2400" b="1" dirty="0">
                <a:solidFill>
                  <a:srgbClr val="FFFF00"/>
                </a:solidFill>
                <a:ea typeface="华文楷体" panose="02010600040101010101" pitchFamily="2" charset="-122"/>
              </a:rPr>
              <a:t>(map</a:t>
            </a:r>
            <a:r>
              <a:rPr lang="zh-CN" altLang="en-US" sz="2400" b="1" dirty="0">
                <a:solidFill>
                  <a:srgbClr val="FFFF00"/>
                </a:solidFill>
                <a:ea typeface="华文楷体" panose="02010600040101010101" pitchFamily="2" charset="-122"/>
              </a:rPr>
              <a:t>和</a:t>
            </a:r>
            <a:r>
              <a:rPr lang="en-US" altLang="zh-CN" sz="2400" b="1" dirty="0" err="1">
                <a:solidFill>
                  <a:srgbClr val="FFFF00"/>
                </a:solidFill>
                <a:ea typeface="华文楷体" panose="02010600040101010101" pitchFamily="2" charset="-122"/>
              </a:rPr>
              <a:t>multimap</a:t>
            </a:r>
            <a:r>
              <a:rPr lang="en-US" altLang="zh-CN" sz="2400" b="1" dirty="0">
                <a:solidFill>
                  <a:srgbClr val="FFFF00"/>
                </a:solidFill>
                <a:ea typeface="华文楷体" panose="02010600040101010101" pitchFamily="2" charset="-122"/>
              </a:rPr>
              <a:t>)</a:t>
            </a:r>
            <a:endParaRPr lang="en-US" altLang="zh-CN" sz="2400" b="1" dirty="0">
              <a:solidFill>
                <a:srgbClr val="FFFF00"/>
              </a:solidFill>
              <a:ea typeface="华文楷体" panose="02010600040101010101" pitchFamily="2" charset="-122"/>
            </a:endParaRPr>
          </a:p>
          <a:p>
            <a:pPr lvl="1">
              <a:spcBef>
                <a:spcPts val="0"/>
              </a:spcBef>
              <a:buFont typeface="Wingdings" panose="05000000000000000000" pitchFamily="2" charset="2"/>
              <a:buChar char="ü"/>
            </a:pPr>
            <a:r>
              <a:rPr lang="zh-CN" altLang="en-US" sz="2400" b="1" dirty="0">
                <a:ea typeface="华文楷体" panose="02010600040101010101" pitchFamily="2" charset="-122"/>
              </a:rPr>
              <a:t>容器有两个类型参数，如</a:t>
            </a:r>
            <a:r>
              <a:rPr lang="en-US" altLang="zh-CN" sz="2400" b="1" dirty="0">
                <a:ea typeface="华文楷体" panose="02010600040101010101" pitchFamily="2" charset="-122"/>
              </a:rPr>
              <a:t>map&lt;K,V&gt;</a:t>
            </a:r>
            <a:r>
              <a:rPr lang="zh-CN" altLang="en-US" sz="2400" b="1" dirty="0">
                <a:ea typeface="华文楷体" panose="02010600040101010101" pitchFamily="2" charset="-122"/>
              </a:rPr>
              <a:t>、</a:t>
            </a:r>
            <a:r>
              <a:rPr lang="en-US" altLang="zh-CN" sz="2400" b="1" dirty="0" err="1">
                <a:ea typeface="华文楷体" panose="02010600040101010101" pitchFamily="2" charset="-122"/>
              </a:rPr>
              <a:t>multimap</a:t>
            </a:r>
            <a:r>
              <a:rPr lang="en-US" altLang="zh-CN" sz="2400" b="1" dirty="0">
                <a:ea typeface="华文楷体" panose="02010600040101010101" pitchFamily="2" charset="-122"/>
              </a:rPr>
              <a:t>&lt;K,V&gt;</a:t>
            </a:r>
            <a:r>
              <a:rPr lang="zh-CN" altLang="en-US" sz="2400" b="1" dirty="0">
                <a:ea typeface="华文楷体" panose="02010600040101010101" pitchFamily="2" charset="-122"/>
              </a:rPr>
              <a:t>，分别表示键和附加数据的类型</a:t>
            </a:r>
            <a:endParaRPr lang="en-US" altLang="zh-CN" sz="2400" b="1" dirty="0">
              <a:ea typeface="华文楷体" panose="02010600040101010101" pitchFamily="2" charset="-122"/>
            </a:endParaRPr>
          </a:p>
          <a:p>
            <a:pPr lvl="1">
              <a:spcBef>
                <a:spcPts val="0"/>
              </a:spcBef>
              <a:buFont typeface="Wingdings" panose="05000000000000000000" pitchFamily="2" charset="2"/>
              <a:buChar char="ü"/>
            </a:pPr>
            <a:r>
              <a:rPr lang="zh-CN" altLang="en-US" sz="2400" b="1" dirty="0">
                <a:ea typeface="华文楷体" panose="02010600040101010101" pitchFamily="2" charset="-122"/>
              </a:rPr>
              <a:t>容器的元素类型是</a:t>
            </a:r>
            <a:r>
              <a:rPr lang="en-US" altLang="zh-CN" sz="2400" b="1" dirty="0">
                <a:ea typeface="华文楷体" panose="02010600040101010101" pitchFamily="2" charset="-122"/>
              </a:rPr>
              <a:t>pair&lt;K,V&gt;</a:t>
            </a:r>
            <a:r>
              <a:rPr lang="zh-CN" altLang="en-US" sz="2400" b="1" dirty="0">
                <a:ea typeface="华文楷体" panose="02010600040101010101" pitchFamily="2" charset="-122"/>
              </a:rPr>
              <a:t>，即由键类型和元素类型复合而成的二元组</a:t>
            </a:r>
            <a:endParaRPr lang="zh-CN" altLang="en-US" sz="2400" b="1" dirty="0">
              <a:ea typeface="华文楷体" panose="02010600040101010101" pitchFamily="2"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a:t>无序关联容器</a:t>
            </a:r>
            <a:endParaRPr lang="zh-CN" altLang="en-US" b="1"/>
          </a:p>
        </p:txBody>
      </p:sp>
      <p:sp>
        <p:nvSpPr>
          <p:cNvPr id="3" name="内容占位符 2"/>
          <p:cNvSpPr>
            <a:spLocks noGrp="1"/>
          </p:cNvSpPr>
          <p:nvPr>
            <p:ph idx="1"/>
          </p:nvPr>
        </p:nvSpPr>
        <p:spPr>
          <a:xfrm>
            <a:off x="628650" y="1124744"/>
            <a:ext cx="7886700" cy="4351338"/>
          </a:xfrm>
        </p:spPr>
        <p:txBody>
          <a:bodyPr/>
          <a:lstStyle/>
          <a:p>
            <a:pPr>
              <a:lnSpc>
                <a:spcPct val="150000"/>
              </a:lnSpc>
            </a:pPr>
            <a:r>
              <a:rPr lang="en-US" altLang="zh-CN" sz="2400" b="1" dirty="0">
                <a:ea typeface="微软雅黑" panose="020B0503020204020204" pitchFamily="34" charset="-122"/>
              </a:rPr>
              <a:t>C++11</a:t>
            </a:r>
            <a:r>
              <a:rPr lang="zh-CN" altLang="en-US" sz="2400" b="1" dirty="0">
                <a:ea typeface="微软雅黑" panose="020B0503020204020204" pitchFamily="34" charset="-122"/>
              </a:rPr>
              <a:t>新标准中定义了</a:t>
            </a:r>
            <a:r>
              <a:rPr lang="en-US" altLang="zh-CN" sz="2400" b="1" dirty="0">
                <a:ea typeface="微软雅黑" panose="020B0503020204020204" pitchFamily="34" charset="-122"/>
              </a:rPr>
              <a:t>4</a:t>
            </a:r>
            <a:r>
              <a:rPr lang="zh-CN" altLang="en-US" sz="2400" b="1" dirty="0">
                <a:ea typeface="微软雅黑" panose="020B0503020204020204" pitchFamily="34" charset="-122"/>
              </a:rPr>
              <a:t>个无序关联容器</a:t>
            </a:r>
            <a:endParaRPr lang="en-US" altLang="zh-CN" sz="2400" b="1" dirty="0">
              <a:ea typeface="微软雅黑" panose="020B0503020204020204" pitchFamily="34" charset="-122"/>
            </a:endParaRPr>
          </a:p>
          <a:p>
            <a:pPr lvl="1">
              <a:lnSpc>
                <a:spcPct val="150000"/>
              </a:lnSpc>
            </a:pPr>
            <a:r>
              <a:rPr lang="en-US" altLang="zh-CN" sz="2400" b="1" dirty="0" err="1">
                <a:ea typeface="微软雅黑" panose="020B0503020204020204" pitchFamily="34" charset="-122"/>
              </a:rPr>
              <a:t>unordered_set</a:t>
            </a:r>
            <a:r>
              <a:rPr lang="zh-CN" altLang="en-US" sz="2400" b="1" dirty="0">
                <a:ea typeface="微软雅黑" panose="020B0503020204020204" pitchFamily="34" charset="-122"/>
              </a:rPr>
              <a:t>、</a:t>
            </a:r>
            <a:r>
              <a:rPr lang="en-US" altLang="zh-CN" sz="2400" b="1" dirty="0" err="1">
                <a:ea typeface="微软雅黑" panose="020B0503020204020204" pitchFamily="34" charset="-122"/>
              </a:rPr>
              <a:t>unordered_map</a:t>
            </a:r>
            <a:r>
              <a:rPr lang="zh-CN" altLang="en-US" sz="2400" b="1" dirty="0">
                <a:ea typeface="微软雅黑" panose="020B0503020204020204" pitchFamily="34" charset="-122"/>
              </a:rPr>
              <a:t>、</a:t>
            </a:r>
            <a:r>
              <a:rPr lang="en-US" altLang="zh-CN" sz="2400" b="1" dirty="0" err="1">
                <a:ea typeface="微软雅黑" panose="020B0503020204020204" pitchFamily="34" charset="-122"/>
              </a:rPr>
              <a:t>unordered_multiset</a:t>
            </a:r>
            <a:r>
              <a:rPr lang="zh-CN" altLang="en-US" sz="2400" b="1" dirty="0">
                <a:ea typeface="微软雅黑" panose="020B0503020204020204" pitchFamily="34" charset="-122"/>
              </a:rPr>
              <a:t>、</a:t>
            </a:r>
            <a:r>
              <a:rPr lang="en-US" altLang="zh-CN" sz="2400" b="1" dirty="0" err="1">
                <a:ea typeface="微软雅黑" panose="020B0503020204020204" pitchFamily="34" charset="-122"/>
              </a:rPr>
              <a:t>unordered_multimap</a:t>
            </a:r>
            <a:endParaRPr lang="en-US" altLang="zh-CN" sz="2400" b="1" dirty="0">
              <a:ea typeface="微软雅黑" panose="020B0503020204020204" pitchFamily="34" charset="-122"/>
            </a:endParaRPr>
          </a:p>
          <a:p>
            <a:pPr>
              <a:lnSpc>
                <a:spcPct val="150000"/>
              </a:lnSpc>
            </a:pPr>
            <a:r>
              <a:rPr lang="zh-CN" altLang="en-US" sz="2400" b="1" dirty="0">
                <a:ea typeface="微软雅黑" panose="020B0503020204020204" pitchFamily="34" charset="-122"/>
              </a:rPr>
              <a:t>不是使用比较运算符来组织元素的，而是通过一个哈希函数和键类型的</a:t>
            </a:r>
            <a:r>
              <a:rPr lang="en-US" altLang="zh-CN" sz="2400" b="1" dirty="0">
                <a:ea typeface="微软雅黑" panose="020B0503020204020204" pitchFamily="34" charset="-122"/>
              </a:rPr>
              <a:t>==</a:t>
            </a:r>
            <a:r>
              <a:rPr lang="zh-CN" altLang="en-US" sz="2400" b="1" dirty="0">
                <a:ea typeface="微软雅黑" panose="020B0503020204020204" pitchFamily="34" charset="-122"/>
              </a:rPr>
              <a:t>运算符。</a:t>
            </a:r>
            <a:endParaRPr lang="en-US" altLang="zh-CN" sz="2400" b="1" dirty="0">
              <a:ea typeface="微软雅黑" panose="020B0503020204020204" pitchFamily="34" charset="-122"/>
            </a:endParaRPr>
          </a:p>
          <a:p>
            <a:pPr>
              <a:lnSpc>
                <a:spcPct val="150000"/>
              </a:lnSpc>
            </a:pPr>
            <a:r>
              <a:rPr lang="zh-CN" altLang="en-US" sz="2400" b="1" dirty="0">
                <a:ea typeface="微软雅黑" panose="020B0503020204020204" pitchFamily="34" charset="-122"/>
              </a:rPr>
              <a:t>提供了与有序容器相同的操作</a:t>
            </a:r>
            <a:endParaRPr lang="en-US" altLang="zh-CN" sz="2400" b="1" dirty="0">
              <a:ea typeface="微软雅黑" panose="020B0503020204020204" pitchFamily="34" charset="-122"/>
            </a:endParaRPr>
          </a:p>
          <a:p>
            <a:pPr>
              <a:lnSpc>
                <a:spcPct val="150000"/>
              </a:lnSpc>
            </a:pPr>
            <a:r>
              <a:rPr lang="zh-CN" altLang="en-US" sz="2400" b="1" dirty="0">
                <a:ea typeface="微软雅黑" panose="020B0503020204020204" pitchFamily="34" charset="-122"/>
              </a:rPr>
              <a:t>可以直接定义关键字是内置类型的无序容器。</a:t>
            </a:r>
            <a:endParaRPr lang="en-US" altLang="zh-CN" sz="2400" b="1" dirty="0">
              <a:ea typeface="微软雅黑" panose="020B0503020204020204" pitchFamily="34" charset="-122"/>
            </a:endParaRPr>
          </a:p>
          <a:p>
            <a:pPr>
              <a:lnSpc>
                <a:spcPct val="150000"/>
              </a:lnSpc>
            </a:pPr>
            <a:r>
              <a:rPr lang="zh-CN" altLang="en-US" sz="2400" b="1" dirty="0">
                <a:ea typeface="微软雅黑" panose="020B0503020204020204" pitchFamily="34" charset="-122"/>
              </a:rPr>
              <a:t>不能直接定义关键字类型为自定义类的无序容器，如果需要，必须提供我们自己的</a:t>
            </a:r>
            <a:r>
              <a:rPr lang="en-US" altLang="zh-CN" sz="2400" b="1" dirty="0">
                <a:ea typeface="微软雅黑" panose="020B0503020204020204" pitchFamily="34" charset="-122"/>
              </a:rPr>
              <a:t>hash</a:t>
            </a:r>
            <a:r>
              <a:rPr lang="zh-CN" altLang="en-US" sz="2400" b="1" dirty="0">
                <a:ea typeface="微软雅黑" panose="020B0503020204020204" pitchFamily="34" charset="-122"/>
              </a:rPr>
              <a:t>模板。</a:t>
            </a:r>
            <a:endParaRPr lang="zh-CN" altLang="en-US" sz="2400" b="1" dirty="0">
              <a:ea typeface="微软雅黑" panose="020B0503020204020204" pitchFamily="34"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10.5.2 </a:t>
            </a:r>
            <a:r>
              <a:rPr lang="zh-CN" altLang="en-US" sz="4400" b="1">
                <a:latin typeface="Times New Roman" panose="02020603050405020304" pitchFamily="18" charset="0"/>
                <a:ea typeface="隶书" panose="02010509060101010101" pitchFamily="49" charset="-122"/>
              </a:rPr>
              <a:t>集合（</a:t>
            </a:r>
            <a:r>
              <a:rPr lang="en-US" altLang="zh-CN" sz="4400" b="1">
                <a:latin typeface="Times New Roman" panose="02020603050405020304" pitchFamily="18" charset="0"/>
                <a:ea typeface="隶书" panose="02010509060101010101" pitchFamily="49" charset="-122"/>
              </a:rPr>
              <a:t>set</a:t>
            </a:r>
            <a:r>
              <a:rPr lang="zh-CN" altLang="en-US" sz="4400" b="1">
                <a:latin typeface="Times New Roman" panose="02020603050405020304" pitchFamily="18" charset="0"/>
                <a:ea typeface="隶书" panose="02010509060101010101" pitchFamily="49" charset="-122"/>
              </a:rPr>
              <a:t>）</a:t>
            </a:r>
            <a:endParaRPr lang="zh-CN" altLang="en-US" sz="4400" b="1">
              <a:latin typeface="Times New Roman" panose="02020603050405020304" pitchFamily="18" charset="0"/>
              <a:ea typeface="隶书" panose="02010509060101010101" pitchFamily="49" charset="-122"/>
            </a:endParaRPr>
          </a:p>
        </p:txBody>
      </p:sp>
      <p:sp>
        <p:nvSpPr>
          <p:cNvPr id="53251" name="内容占位符 2"/>
          <p:cNvSpPr>
            <a:spLocks noGrp="1"/>
          </p:cNvSpPr>
          <p:nvPr>
            <p:ph idx="1"/>
          </p:nvPr>
        </p:nvSpPr>
        <p:spPr/>
        <p:txBody>
          <a:bodyPr/>
          <a:lstStyle/>
          <a:p>
            <a:pPr>
              <a:spcAft>
                <a:spcPct val="25000"/>
              </a:spcAft>
            </a:pPr>
            <a:r>
              <a:rPr lang="zh-CN" altLang="en-US" sz="2400" b="1" dirty="0">
                <a:ea typeface="华文楷体" panose="02010600040101010101" pitchFamily="2" charset="-122"/>
              </a:rPr>
              <a:t>集合用来存储一组无重复的元素。由于集合的元素本身是有序的，可以高效地查找指定元素，也可以方便地得到指定大小范围的元素在容器中所处的区间。</a:t>
            </a:r>
            <a:endParaRPr lang="en-US" altLang="zh-CN" sz="2400" b="1" dirty="0">
              <a:ea typeface="华文楷体" panose="02010600040101010101" pitchFamily="2" charset="-122"/>
            </a:endParaRPr>
          </a:p>
          <a:p>
            <a:pPr>
              <a:spcAft>
                <a:spcPct val="25000"/>
              </a:spcAft>
            </a:pPr>
            <a:endParaRPr lang="en-US" altLang="zh-CN"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例</a:t>
            </a:r>
            <a:r>
              <a:rPr lang="en-US" altLang="zh-CN" sz="2400" b="1" dirty="0">
                <a:ea typeface="华文楷体" panose="02010600040101010101" pitchFamily="2" charset="-122"/>
              </a:rPr>
              <a:t>10-9  </a:t>
            </a:r>
            <a:r>
              <a:rPr lang="zh-CN" altLang="en-US" sz="2400" b="1" dirty="0">
                <a:solidFill>
                  <a:srgbClr val="FFFF00"/>
                </a:solidFill>
                <a:ea typeface="华文楷体" panose="02010600040101010101" pitchFamily="2" charset="-122"/>
              </a:rPr>
              <a:t>输入一串实数，将重复的去掉，取最大和最小者的中值，分别输出小于等于此中值和大于等于此中值的实数</a:t>
            </a:r>
            <a:endParaRPr lang="zh-CN" altLang="en-US" sz="2400" b="1" dirty="0">
              <a:solidFill>
                <a:srgbClr val="FFFF00"/>
              </a:solidFill>
              <a:ea typeface="华文楷体" panose="02010600040101010101" pitchFamily="2"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内容占位符 2"/>
          <p:cNvSpPr>
            <a:spLocks noGrp="1"/>
          </p:cNvSpPr>
          <p:nvPr>
            <p:ph idx="1"/>
          </p:nvPr>
        </p:nvSpPr>
        <p:spPr>
          <a:xfrm>
            <a:off x="107504" y="116632"/>
            <a:ext cx="9036496" cy="6740307"/>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//10_9.cpp, </a:t>
            </a:r>
            <a:r>
              <a:rPr lang="zh-CN" altLang="en-US" sz="1800" b="1" dirty="0">
                <a:solidFill>
                  <a:srgbClr val="000000"/>
                </a:solidFill>
                <a:latin typeface="Times New Roman" panose="02020603050405020304" pitchFamily="18" charset="0"/>
                <a:ea typeface="华文楷体" panose="02010600040101010101" pitchFamily="2" charset="-122"/>
              </a:rPr>
              <a:t>头部分省略</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main()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set&lt;double&gt; s;</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while (true)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double v;</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cin</a:t>
            </a:r>
            <a:r>
              <a:rPr lang="en-US" altLang="zh-CN" sz="1800" b="1" dirty="0">
                <a:solidFill>
                  <a:srgbClr val="000000"/>
                </a:solidFill>
                <a:latin typeface="Times New Roman" panose="02020603050405020304" pitchFamily="18" charset="0"/>
                <a:ea typeface="华文楷体" panose="02010600040101010101" pitchFamily="2" charset="-122"/>
              </a:rPr>
              <a:t> &gt;&gt; v;</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if (v == 0) break;			//</a:t>
            </a:r>
            <a:r>
              <a:rPr lang="zh-CN" altLang="en-US" sz="1800" b="1" dirty="0">
                <a:solidFill>
                  <a:srgbClr val="000000"/>
                </a:solidFill>
                <a:latin typeface="Times New Roman" panose="02020603050405020304" pitchFamily="18" charset="0"/>
                <a:ea typeface="华文楷体" panose="02010600040101010101" pitchFamily="2" charset="-122"/>
              </a:rPr>
              <a:t>输入</a:t>
            </a:r>
            <a:r>
              <a:rPr lang="en-US" altLang="zh-CN" sz="1800" b="1" dirty="0">
                <a:solidFill>
                  <a:srgbClr val="000000"/>
                </a:solidFill>
                <a:latin typeface="Times New Roman" panose="02020603050405020304" pitchFamily="18" charset="0"/>
                <a:ea typeface="华文楷体" panose="02010600040101010101" pitchFamily="2" charset="-122"/>
              </a:rPr>
              <a:t>0</a:t>
            </a:r>
            <a:r>
              <a:rPr lang="zh-CN" altLang="en-US" sz="1800" b="1" dirty="0">
                <a:solidFill>
                  <a:srgbClr val="000000"/>
                </a:solidFill>
                <a:latin typeface="Times New Roman" panose="02020603050405020304" pitchFamily="18" charset="0"/>
                <a:ea typeface="华文楷体" panose="02010600040101010101" pitchFamily="2" charset="-122"/>
              </a:rPr>
              <a:t>表示结束</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pair&lt;set&lt;double&gt;::iterator, bool&gt; r = </a:t>
            </a:r>
            <a:r>
              <a:rPr lang="en-US" altLang="zh-CN" sz="1800" b="1" dirty="0" err="1">
                <a:solidFill>
                  <a:srgbClr val="000000"/>
                </a:solidFill>
                <a:latin typeface="Times New Roman" panose="02020603050405020304" pitchFamily="18" charset="0"/>
                <a:ea typeface="华文楷体" panose="02010600040101010101" pitchFamily="2" charset="-122"/>
              </a:rPr>
              <a:t>s.insert</a:t>
            </a:r>
            <a:r>
              <a:rPr lang="en-US" altLang="zh-CN" sz="1800" b="1" dirty="0">
                <a:solidFill>
                  <a:srgbClr val="000000"/>
                </a:solidFill>
                <a:latin typeface="Times New Roman" panose="02020603050405020304" pitchFamily="18" charset="0"/>
                <a:ea typeface="华文楷体" panose="02010600040101010101" pitchFamily="2" charset="-122"/>
              </a:rPr>
              <a:t>(v); //</a:t>
            </a:r>
            <a:r>
              <a:rPr lang="zh-CN" altLang="en-US" sz="1800" b="1" dirty="0">
                <a:solidFill>
                  <a:srgbClr val="000000"/>
                </a:solidFill>
                <a:latin typeface="Times New Roman" panose="02020603050405020304" pitchFamily="18" charset="0"/>
                <a:ea typeface="华文楷体" panose="02010600040101010101" pitchFamily="2" charset="-122"/>
              </a:rPr>
              <a:t>尝试将</a:t>
            </a:r>
            <a:r>
              <a:rPr lang="en-US" altLang="zh-CN" sz="1800" b="1" dirty="0">
                <a:solidFill>
                  <a:srgbClr val="000000"/>
                </a:solidFill>
                <a:latin typeface="Times New Roman" panose="02020603050405020304" pitchFamily="18" charset="0"/>
                <a:ea typeface="华文楷体" panose="02010600040101010101" pitchFamily="2" charset="-122"/>
              </a:rPr>
              <a:t>v</a:t>
            </a:r>
            <a:r>
              <a:rPr lang="zh-CN" altLang="en-US" sz="1800" b="1" dirty="0">
                <a:solidFill>
                  <a:srgbClr val="000000"/>
                </a:solidFill>
                <a:latin typeface="Times New Roman" panose="02020603050405020304" pitchFamily="18" charset="0"/>
                <a:ea typeface="华文楷体" panose="02010600040101010101" pitchFamily="2" charset="-122"/>
              </a:rPr>
              <a:t>插入</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if (!</a:t>
            </a:r>
            <a:r>
              <a:rPr lang="en-US" altLang="zh-CN" sz="1800" b="1" dirty="0" err="1">
                <a:solidFill>
                  <a:srgbClr val="000000"/>
                </a:solidFill>
                <a:latin typeface="Times New Roman" panose="02020603050405020304" pitchFamily="18" charset="0"/>
                <a:ea typeface="华文楷体" panose="02010600040101010101" pitchFamily="2" charset="-122"/>
              </a:rPr>
              <a:t>r.second</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如果</a:t>
            </a:r>
            <a:r>
              <a:rPr lang="en-US" altLang="zh-CN" sz="1800" b="1" dirty="0">
                <a:solidFill>
                  <a:srgbClr val="000000"/>
                </a:solidFill>
                <a:latin typeface="Times New Roman" panose="02020603050405020304" pitchFamily="18" charset="0"/>
                <a:ea typeface="华文楷体" panose="02010600040101010101" pitchFamily="2" charset="-122"/>
              </a:rPr>
              <a:t>v</a:t>
            </a:r>
            <a:r>
              <a:rPr lang="zh-CN" altLang="en-US" sz="1800" b="1" dirty="0">
                <a:solidFill>
                  <a:srgbClr val="000000"/>
                </a:solidFill>
                <a:latin typeface="Times New Roman" panose="02020603050405020304" pitchFamily="18" charset="0"/>
                <a:ea typeface="华文楷体" panose="02010600040101010101" pitchFamily="2" charset="-122"/>
              </a:rPr>
              <a:t>已存在，输出提示信息</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v &lt;&lt; " is duplicated"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set&lt;double&gt;::iterator iter1 = </a:t>
            </a:r>
            <a:r>
              <a:rPr lang="en-US" altLang="zh-CN" sz="1800" b="1" dirty="0" err="1">
                <a:solidFill>
                  <a:srgbClr val="000000"/>
                </a:solidFill>
                <a:latin typeface="Times New Roman" panose="02020603050405020304" pitchFamily="18" charset="0"/>
                <a:ea typeface="华文楷体" panose="02010600040101010101" pitchFamily="2" charset="-122"/>
              </a:rPr>
              <a:t>s.begin</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得到第一个元素的迭代器</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set&lt;double&gt;::iterator iter2 = </a:t>
            </a:r>
            <a:r>
              <a:rPr lang="en-US" altLang="zh-CN" sz="1800" b="1" dirty="0" err="1">
                <a:solidFill>
                  <a:srgbClr val="000000"/>
                </a:solidFill>
                <a:latin typeface="Times New Roman" panose="02020603050405020304" pitchFamily="18" charset="0"/>
                <a:ea typeface="华文楷体" panose="02010600040101010101" pitchFamily="2" charset="-122"/>
              </a:rPr>
              <a:t>s.end</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得到末尾的迭代器</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double medium = (*iter1 + *(--iter2)) / 2;	//</a:t>
            </a:r>
            <a:r>
              <a:rPr lang="zh-CN" altLang="en-US" sz="1800" b="1" dirty="0">
                <a:solidFill>
                  <a:srgbClr val="000000"/>
                </a:solidFill>
                <a:latin typeface="Times New Roman" panose="02020603050405020304" pitchFamily="18" charset="0"/>
                <a:ea typeface="华文楷体" panose="02010600040101010101" pitchFamily="2" charset="-122"/>
              </a:rPr>
              <a:t>得到最小和最大元素的中值</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a:t>
            </a:r>
            <a:r>
              <a:rPr lang="zh-CN" altLang="en-US" sz="1800" b="1" dirty="0">
                <a:solidFill>
                  <a:srgbClr val="000000"/>
                </a:solidFill>
                <a:latin typeface="Times New Roman" panose="02020603050405020304" pitchFamily="18" charset="0"/>
                <a:ea typeface="华文楷体" panose="02010600040101010101" pitchFamily="2" charset="-122"/>
              </a:rPr>
              <a:t>输出小于或等于中值的元素</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"&lt;= medium: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copy(</a:t>
            </a:r>
            <a:r>
              <a:rPr lang="en-US" altLang="zh-CN" sz="1800" b="1" dirty="0" err="1">
                <a:solidFill>
                  <a:srgbClr val="000000"/>
                </a:solidFill>
                <a:latin typeface="Times New Roman" panose="02020603050405020304" pitchFamily="18" charset="0"/>
                <a:ea typeface="华文楷体" panose="02010600040101010101" pitchFamily="2" charset="-122"/>
              </a:rPr>
              <a:t>s.begin</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s.upper_bound</a:t>
            </a:r>
            <a:r>
              <a:rPr lang="en-US" altLang="zh-CN" sz="1800" b="1" dirty="0">
                <a:solidFill>
                  <a:srgbClr val="000000"/>
                </a:solidFill>
                <a:latin typeface="Times New Roman" panose="02020603050405020304" pitchFamily="18" charset="0"/>
                <a:ea typeface="华文楷体" panose="02010600040101010101" pitchFamily="2" charset="-122"/>
              </a:rPr>
              <a:t>(medium), </a:t>
            </a:r>
            <a:r>
              <a:rPr lang="en-US" altLang="zh-CN" sz="1800" b="1" dirty="0" err="1">
                <a:solidFill>
                  <a:srgbClr val="000000"/>
                </a:solidFill>
                <a:latin typeface="Times New Roman" panose="02020603050405020304" pitchFamily="18" charset="0"/>
                <a:ea typeface="华文楷体" panose="02010600040101010101" pitchFamily="2" charset="-122"/>
              </a:rPr>
              <a:t>ostream_iterator</a:t>
            </a:r>
            <a:r>
              <a:rPr lang="en-US" altLang="zh-CN" sz="1800" b="1" dirty="0">
                <a:solidFill>
                  <a:srgbClr val="000000"/>
                </a:solidFill>
                <a:latin typeface="Times New Roman" panose="02020603050405020304" pitchFamily="18" charset="0"/>
                <a:ea typeface="华文楷体" panose="02010600040101010101" pitchFamily="2" charset="-122"/>
              </a:rPr>
              <a:t>&lt;double&gt;(</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输出大于或等于中值的元素</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"&gt;= medium: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copy(</a:t>
            </a:r>
            <a:r>
              <a:rPr lang="en-US" altLang="zh-CN" sz="1800" b="1" dirty="0" err="1">
                <a:solidFill>
                  <a:srgbClr val="000000"/>
                </a:solidFill>
                <a:latin typeface="Times New Roman" panose="02020603050405020304" pitchFamily="18" charset="0"/>
                <a:ea typeface="华文楷体" panose="02010600040101010101" pitchFamily="2" charset="-122"/>
              </a:rPr>
              <a:t>s.lower_bound</a:t>
            </a:r>
            <a:r>
              <a:rPr lang="en-US" altLang="zh-CN" sz="1800" b="1" dirty="0">
                <a:solidFill>
                  <a:srgbClr val="000000"/>
                </a:solidFill>
                <a:latin typeface="Times New Roman" panose="02020603050405020304" pitchFamily="18" charset="0"/>
                <a:ea typeface="华文楷体" panose="02010600040101010101" pitchFamily="2" charset="-122"/>
              </a:rPr>
              <a:t>(medium), </a:t>
            </a:r>
            <a:r>
              <a:rPr lang="en-US" altLang="zh-CN" sz="1800" b="1" dirty="0" err="1">
                <a:solidFill>
                  <a:srgbClr val="000000"/>
                </a:solidFill>
                <a:latin typeface="Times New Roman" panose="02020603050405020304" pitchFamily="18" charset="0"/>
                <a:ea typeface="华文楷体" panose="02010600040101010101" pitchFamily="2" charset="-122"/>
              </a:rPr>
              <a:t>s.end</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ostream_iterator</a:t>
            </a:r>
            <a:r>
              <a:rPr lang="en-US" altLang="zh-CN" sz="1800" b="1" dirty="0">
                <a:solidFill>
                  <a:srgbClr val="000000"/>
                </a:solidFill>
                <a:latin typeface="Times New Roman" panose="02020603050405020304" pitchFamily="18" charset="0"/>
                <a:ea typeface="华文楷体" panose="02010600040101010101" pitchFamily="2" charset="-122"/>
              </a:rPr>
              <a:t>&lt;double&gt;(</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return 0;</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54277" name="标题 1"/>
          <p:cNvSpPr>
            <a:spLocks noGrp="1"/>
          </p:cNvSpPr>
          <p:nvPr>
            <p:ph type="title"/>
          </p:nvPr>
        </p:nvSpPr>
        <p:spPr>
          <a:xfrm>
            <a:off x="5957888" y="571500"/>
            <a:ext cx="3043237" cy="1066800"/>
          </a:xfrm>
          <a:solidFill>
            <a:schemeClr val="bg1"/>
          </a:solidFill>
        </p:spPr>
        <p:txBody>
          <a:bodyPr/>
          <a:lstStyle/>
          <a:p>
            <a:pPr eaLnBrk="1" hangingPunct="1"/>
            <a:r>
              <a:rPr lang="zh-CN" altLang="en-US"/>
              <a:t>例</a:t>
            </a:r>
            <a:r>
              <a:rPr lang="en-US" altLang="zh-CN"/>
              <a:t>10-9</a:t>
            </a:r>
            <a:r>
              <a:rPr lang="zh-CN" altLang="en-US"/>
              <a:t>（续）</a:t>
            </a:r>
            <a:endParaRPr lang="zh-CN" altLang="en-US"/>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a:lstStyle/>
          <a:p>
            <a:pPr eaLnBrk="1" hangingPunct="1"/>
            <a:r>
              <a:rPr lang="zh-CN" altLang="en-US" b="1"/>
              <a:t>例</a:t>
            </a:r>
            <a:r>
              <a:rPr lang="en-US" altLang="zh-CN" b="1"/>
              <a:t>10-9</a:t>
            </a:r>
            <a:r>
              <a:rPr lang="zh-CN" altLang="en-US" b="1"/>
              <a:t>（续）</a:t>
            </a:r>
            <a:endParaRPr lang="zh-CN" altLang="en-US" b="1"/>
          </a:p>
        </p:txBody>
      </p:sp>
      <p:sp>
        <p:nvSpPr>
          <p:cNvPr id="3" name="内容占位符 2"/>
          <p:cNvSpPr>
            <a:spLocks noGrp="1"/>
          </p:cNvSpPr>
          <p:nvPr>
            <p:ph idx="1"/>
          </p:nvPr>
        </p:nvSpPr>
        <p:spPr>
          <a:xfrm>
            <a:off x="628650" y="1825625"/>
            <a:ext cx="7886700" cy="2616101"/>
          </a:xfrm>
          <a:solidFill>
            <a:srgbClr val="000000"/>
          </a:solidFill>
          <a:ln w="9525">
            <a:noFill/>
            <a:miter lim="800000"/>
          </a:ln>
        </p:spPr>
        <p:txBody>
          <a:bodyPr>
            <a:spAutoFit/>
          </a:bodyPr>
          <a:lstStyle/>
          <a:p>
            <a:pPr marL="457200" indent="-457200">
              <a:buClr>
                <a:schemeClr val="accent2"/>
              </a:buClr>
              <a:buSzPct val="80000"/>
              <a:buFont typeface="Wingdings" panose="05000000000000000000" pitchFamily="2" charset="2"/>
              <a:buNone/>
            </a:pPr>
            <a:r>
              <a:rPr lang="zh-CN" altLang="en-US" sz="2000" b="1" dirty="0">
                <a:ea typeface="华文楷体" panose="02010600040101010101" pitchFamily="2" charset="-122"/>
              </a:rPr>
              <a:t>运行结果如下：</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  1 2.5 5 3.5 5 7 9 2.5 0</a:t>
            </a:r>
            <a:endParaRPr 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  5 is duplicated</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  2.5 is duplicated</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  &lt;= medium: 1 2.5 3.5 5</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  &gt;= medium: 5 7 9</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endParaRPr lang="zh-CN" altLang="en-US" sz="2000" b="1" dirty="0">
              <a:ea typeface="华文楷体" panose="02010600040101010101" pitchFamily="2" charset="-122"/>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10.5.3 </a:t>
            </a:r>
            <a:r>
              <a:rPr lang="zh-CN" altLang="en-US" sz="4400" b="1">
                <a:latin typeface="Times New Roman" panose="02020603050405020304" pitchFamily="18" charset="0"/>
                <a:ea typeface="隶书" panose="02010509060101010101" pitchFamily="49" charset="-122"/>
              </a:rPr>
              <a:t>映射（</a:t>
            </a:r>
            <a:r>
              <a:rPr lang="en-US" altLang="zh-CN" sz="4400" b="1">
                <a:latin typeface="Times New Roman" panose="02020603050405020304" pitchFamily="18" charset="0"/>
                <a:ea typeface="隶书" panose="02010509060101010101" pitchFamily="49" charset="-122"/>
              </a:rPr>
              <a:t>map</a:t>
            </a:r>
            <a:r>
              <a:rPr lang="zh-CN" altLang="en-US" sz="4400" b="1">
                <a:latin typeface="Times New Roman" panose="02020603050405020304" pitchFamily="18" charset="0"/>
                <a:ea typeface="隶书" panose="02010509060101010101" pitchFamily="49" charset="-122"/>
              </a:rPr>
              <a:t>）</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683568" y="1412776"/>
            <a:ext cx="7886700" cy="4351338"/>
          </a:xfrm>
        </p:spPr>
        <p:txBody>
          <a:bodyPr/>
          <a:lstStyle/>
          <a:p>
            <a:pPr>
              <a:spcAft>
                <a:spcPct val="25000"/>
              </a:spcAft>
            </a:pPr>
            <a:r>
              <a:rPr lang="zh-CN" altLang="en-US" sz="2400" b="1" dirty="0">
                <a:ea typeface="华文楷体" panose="02010600040101010101" pitchFamily="2" charset="-122"/>
              </a:rPr>
              <a:t>映射与集合同属于单重关联容器，它们的主要区别在于，集合的元素类型是键本身，而映射的元素类型是由键和附加数据所构成的二元组。</a:t>
            </a:r>
            <a:endParaRPr lang="en-US" altLang="zh-CN" sz="2400" b="1" dirty="0">
              <a:ea typeface="华文楷体" panose="02010600040101010101" pitchFamily="2" charset="-122"/>
            </a:endParaRPr>
          </a:p>
          <a:p>
            <a:pPr>
              <a:spcAft>
                <a:spcPct val="25000"/>
              </a:spcAft>
            </a:pPr>
            <a:endParaRPr lang="en-US" altLang="zh-CN"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在集合中按照键查找一个元素时，一般只是用来确定这个元素是否存在，而在映射中按照键查找一个元素时，除了能确定它的存在性外，还可以得到相应的附加数据。</a:t>
            </a:r>
            <a:endParaRPr lang="en-US" altLang="zh-CN" sz="2400" b="1" dirty="0">
              <a:ea typeface="华文楷体" panose="02010600040101010101" pitchFamily="2" charset="-122"/>
            </a:endParaRPr>
          </a:p>
          <a:p>
            <a:pPr>
              <a:spcAft>
                <a:spcPct val="25000"/>
              </a:spcAft>
            </a:pPr>
            <a:endParaRPr lang="en-US" altLang="zh-CN"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例</a:t>
            </a:r>
            <a:r>
              <a:rPr lang="en-US" sz="2400" b="1" dirty="0">
                <a:ea typeface="华文楷体" panose="02010600040101010101" pitchFamily="2" charset="-122"/>
              </a:rPr>
              <a:t>10-10 </a:t>
            </a:r>
            <a:r>
              <a:rPr lang="zh-CN" altLang="en-US" sz="2400" b="1" dirty="0">
                <a:solidFill>
                  <a:srgbClr val="FFFF00"/>
                </a:solidFill>
                <a:ea typeface="华文楷体" panose="02010600040101010101" pitchFamily="2" charset="-122"/>
              </a:rPr>
              <a:t>有五门课程，每门都有相应学分，从中选择三门，输出学分总和</a:t>
            </a:r>
            <a:endParaRPr lang="zh-CN" altLang="en-US" sz="2400" b="1" dirty="0">
              <a:solidFill>
                <a:srgbClr val="FFFF00"/>
              </a:solidFill>
              <a:ea typeface="华文楷体" panose="02010600040101010101" pitchFamily="2" charset="-122"/>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内容占位符 2"/>
          <p:cNvSpPr>
            <a:spLocks noGrp="1"/>
          </p:cNvSpPr>
          <p:nvPr>
            <p:ph idx="1"/>
          </p:nvPr>
        </p:nvSpPr>
        <p:spPr>
          <a:xfrm>
            <a:off x="107504" y="44624"/>
            <a:ext cx="8858250" cy="6740307"/>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//10_10.cpp, </a:t>
            </a:r>
            <a:r>
              <a:rPr lang="zh-CN" altLang="en-US" sz="1800" b="1" dirty="0">
                <a:solidFill>
                  <a:srgbClr val="000000"/>
                </a:solidFill>
                <a:latin typeface="Times New Roman" panose="02020603050405020304" pitchFamily="18" charset="0"/>
                <a:ea typeface="华文楷体" panose="02010600040101010101" pitchFamily="2" charset="-122"/>
              </a:rPr>
              <a:t>头部分省略</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main()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map&lt;string,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&gt; courses;</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将课程信息插入</a:t>
            </a:r>
            <a:r>
              <a:rPr lang="en-US" altLang="zh-CN" sz="1800" b="1" dirty="0">
                <a:solidFill>
                  <a:srgbClr val="000000"/>
                </a:solidFill>
                <a:latin typeface="Times New Roman" panose="02020603050405020304" pitchFamily="18" charset="0"/>
                <a:ea typeface="华文楷体" panose="02010600040101010101" pitchFamily="2" charset="-122"/>
              </a:rPr>
              <a:t>courses</a:t>
            </a:r>
            <a:r>
              <a:rPr lang="zh-CN" altLang="en-US" sz="1800" b="1" dirty="0">
                <a:solidFill>
                  <a:srgbClr val="000000"/>
                </a:solidFill>
                <a:latin typeface="Times New Roman" panose="02020603050405020304" pitchFamily="18" charset="0"/>
                <a:ea typeface="华文楷体" panose="02010600040101010101" pitchFamily="2" charset="-122"/>
              </a:rPr>
              <a:t>映射中</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courses.insert</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make_pair</a:t>
            </a:r>
            <a:r>
              <a:rPr lang="en-US" altLang="zh-CN" sz="1800" b="1" dirty="0">
                <a:solidFill>
                  <a:srgbClr val="000000"/>
                </a:solidFill>
                <a:latin typeface="Times New Roman" panose="02020603050405020304" pitchFamily="18" charset="0"/>
                <a:ea typeface="华文楷体" panose="02010600040101010101" pitchFamily="2" charset="-122"/>
              </a:rPr>
              <a:t>("CSAPP", 3));</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courses.insert</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make_pair</a:t>
            </a:r>
            <a:r>
              <a:rPr lang="en-US" altLang="zh-CN" sz="1800" b="1" dirty="0">
                <a:solidFill>
                  <a:srgbClr val="000000"/>
                </a:solidFill>
                <a:latin typeface="Times New Roman" panose="02020603050405020304" pitchFamily="18" charset="0"/>
                <a:ea typeface="华文楷体" panose="02010600040101010101" pitchFamily="2" charset="-122"/>
              </a:rPr>
              <a:t>("C++", 2));</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courses.insert</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make_pair</a:t>
            </a:r>
            <a:r>
              <a:rPr lang="en-US" altLang="zh-CN" sz="1800" b="1" dirty="0">
                <a:solidFill>
                  <a:srgbClr val="000000"/>
                </a:solidFill>
                <a:latin typeface="Times New Roman" panose="02020603050405020304" pitchFamily="18" charset="0"/>
                <a:ea typeface="华文楷体" panose="02010600040101010101" pitchFamily="2" charset="-122"/>
              </a:rPr>
              <a:t>("CSARCH", 4));</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courses.insert</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make_pair</a:t>
            </a:r>
            <a:r>
              <a:rPr lang="en-US" altLang="zh-CN" sz="1800" b="1" dirty="0">
                <a:solidFill>
                  <a:srgbClr val="000000"/>
                </a:solidFill>
                <a:latin typeface="Times New Roman" panose="02020603050405020304" pitchFamily="18" charset="0"/>
                <a:ea typeface="华文楷体" panose="02010600040101010101" pitchFamily="2" charset="-122"/>
              </a:rPr>
              <a:t>("COMPILER", 4));</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courses.insert</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make_pair</a:t>
            </a:r>
            <a:r>
              <a:rPr lang="en-US" altLang="zh-CN" sz="1800" b="1" dirty="0">
                <a:solidFill>
                  <a:srgbClr val="000000"/>
                </a:solidFill>
                <a:latin typeface="Times New Roman" panose="02020603050405020304" pitchFamily="18" charset="0"/>
                <a:ea typeface="华文楷体" panose="02010600040101010101" pitchFamily="2" charset="-122"/>
              </a:rPr>
              <a:t>("OS", 5));</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n = 3;		//</a:t>
            </a:r>
            <a:r>
              <a:rPr lang="zh-CN" altLang="en-US" sz="1800" b="1" dirty="0">
                <a:solidFill>
                  <a:srgbClr val="000000"/>
                </a:solidFill>
                <a:latin typeface="Times New Roman" panose="02020603050405020304" pitchFamily="18" charset="0"/>
                <a:ea typeface="华文楷体" panose="02010600040101010101" pitchFamily="2" charset="-122"/>
              </a:rPr>
              <a:t>剩下的可选次数</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sum = 0;	//</a:t>
            </a:r>
            <a:r>
              <a:rPr lang="zh-CN" altLang="en-US" sz="1800" b="1" dirty="0">
                <a:solidFill>
                  <a:srgbClr val="000000"/>
                </a:solidFill>
                <a:latin typeface="Times New Roman" panose="02020603050405020304" pitchFamily="18" charset="0"/>
                <a:ea typeface="华文楷体" panose="02010600040101010101" pitchFamily="2" charset="-122"/>
              </a:rPr>
              <a:t>学分总和</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while (n &gt; 0)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string name;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cin</a:t>
            </a:r>
            <a:r>
              <a:rPr lang="en-US" altLang="zh-CN" sz="1800" b="1" dirty="0">
                <a:solidFill>
                  <a:srgbClr val="000000"/>
                </a:solidFill>
                <a:latin typeface="Times New Roman" panose="02020603050405020304" pitchFamily="18" charset="0"/>
                <a:ea typeface="华文楷体" panose="02010600040101010101" pitchFamily="2" charset="-122"/>
              </a:rPr>
              <a:t> &gt;&gt; name;	//</a:t>
            </a:r>
            <a:r>
              <a:rPr lang="zh-CN" altLang="en-US" sz="1800" b="1" dirty="0">
                <a:solidFill>
                  <a:srgbClr val="000000"/>
                </a:solidFill>
                <a:latin typeface="Times New Roman" panose="02020603050405020304" pitchFamily="18" charset="0"/>
                <a:ea typeface="华文楷体" panose="02010600040101010101" pitchFamily="2" charset="-122"/>
              </a:rPr>
              <a:t>输入课程名称</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map&lt;string,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&gt;::iterator </a:t>
            </a:r>
            <a:r>
              <a:rPr lang="en-US" altLang="zh-CN" sz="1800" b="1" dirty="0" err="1">
                <a:solidFill>
                  <a:srgbClr val="000000"/>
                </a:solidFill>
                <a:latin typeface="Times New Roman" panose="02020603050405020304" pitchFamily="18" charset="0"/>
                <a:ea typeface="华文楷体" panose="02010600040101010101" pitchFamily="2" charset="-122"/>
              </a:rPr>
              <a:t>iter</a:t>
            </a:r>
            <a:r>
              <a:rPr lang="en-US" altLang="zh-CN" sz="1800" b="1" dirty="0">
                <a:solidFill>
                  <a:srgbClr val="000000"/>
                </a:solidFill>
                <a:latin typeface="Times New Roman" panose="02020603050405020304" pitchFamily="18" charset="0"/>
                <a:ea typeface="华文楷体" panose="02010600040101010101" pitchFamily="2" charset="-122"/>
              </a:rPr>
              <a:t> = </a:t>
            </a:r>
            <a:r>
              <a:rPr lang="en-US" altLang="zh-CN" sz="1800" b="1" dirty="0" err="1">
                <a:solidFill>
                  <a:srgbClr val="000000"/>
                </a:solidFill>
                <a:latin typeface="Times New Roman" panose="02020603050405020304" pitchFamily="18" charset="0"/>
                <a:ea typeface="华文楷体" panose="02010600040101010101" pitchFamily="2" charset="-122"/>
              </a:rPr>
              <a:t>courses.find</a:t>
            </a:r>
            <a:r>
              <a:rPr lang="en-US" altLang="zh-CN" sz="1800" b="1" dirty="0">
                <a:solidFill>
                  <a:srgbClr val="000000"/>
                </a:solidFill>
                <a:latin typeface="Times New Roman" panose="02020603050405020304" pitchFamily="18" charset="0"/>
                <a:ea typeface="华文楷体" panose="02010600040101010101" pitchFamily="2" charset="-122"/>
              </a:rPr>
              <a:t>(name);//</a:t>
            </a:r>
            <a:r>
              <a:rPr lang="zh-CN" altLang="en-US" sz="1800" b="1" dirty="0">
                <a:solidFill>
                  <a:srgbClr val="000000"/>
                </a:solidFill>
                <a:latin typeface="Times New Roman" panose="02020603050405020304" pitchFamily="18" charset="0"/>
                <a:ea typeface="华文楷体" panose="02010600040101010101" pitchFamily="2" charset="-122"/>
              </a:rPr>
              <a:t>查找课程</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if (</a:t>
            </a:r>
            <a:r>
              <a:rPr lang="en-US" altLang="zh-CN" sz="1800" b="1" dirty="0" err="1">
                <a:solidFill>
                  <a:srgbClr val="000000"/>
                </a:solidFill>
                <a:latin typeface="Times New Roman" panose="02020603050405020304" pitchFamily="18" charset="0"/>
                <a:ea typeface="华文楷体" panose="02010600040101010101" pitchFamily="2" charset="-122"/>
              </a:rPr>
              <a:t>iter</a:t>
            </a:r>
            <a:r>
              <a:rPr lang="en-US" altLang="zh-CN" sz="1800" b="1" dirty="0">
                <a:solidFill>
                  <a:srgbClr val="000000"/>
                </a:solidFill>
                <a:latin typeface="Times New Roman" panose="02020603050405020304" pitchFamily="18" charset="0"/>
                <a:ea typeface="华文楷体" panose="02010600040101010101" pitchFamily="2" charset="-122"/>
              </a:rPr>
              <a:t> == </a:t>
            </a:r>
            <a:r>
              <a:rPr lang="en-US" altLang="zh-CN" sz="1800" b="1" dirty="0" err="1">
                <a:solidFill>
                  <a:srgbClr val="000000"/>
                </a:solidFill>
                <a:latin typeface="Times New Roman" panose="02020603050405020304" pitchFamily="18" charset="0"/>
                <a:ea typeface="华文楷体" panose="02010600040101010101" pitchFamily="2" charset="-122"/>
              </a:rPr>
              <a:t>courses.end</a:t>
            </a:r>
            <a:r>
              <a:rPr lang="en-US" altLang="zh-CN" sz="1800" b="1" dirty="0">
                <a:solidFill>
                  <a:srgbClr val="000000"/>
                </a:solidFill>
                <a:latin typeface="Times New Roman" panose="02020603050405020304" pitchFamily="18" charset="0"/>
                <a:ea typeface="华文楷体" panose="02010600040101010101" pitchFamily="2" charset="-122"/>
              </a:rPr>
              <a:t>()) {	//</a:t>
            </a:r>
            <a:r>
              <a:rPr lang="zh-CN" altLang="en-US" sz="1800" b="1" dirty="0">
                <a:solidFill>
                  <a:srgbClr val="000000"/>
                </a:solidFill>
                <a:latin typeface="Times New Roman" panose="02020603050405020304" pitchFamily="18" charset="0"/>
                <a:ea typeface="华文楷体" panose="02010600040101010101" pitchFamily="2" charset="-122"/>
              </a:rPr>
              <a:t>判断是否找到</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name &lt;&lt; " is not available"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 else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sum += </a:t>
            </a:r>
            <a:r>
              <a:rPr lang="en-US" altLang="zh-CN" sz="1800" b="1" dirty="0" err="1">
                <a:solidFill>
                  <a:srgbClr val="000000"/>
                </a:solidFill>
                <a:latin typeface="Times New Roman" panose="02020603050405020304" pitchFamily="18" charset="0"/>
                <a:ea typeface="华文楷体" panose="02010600040101010101" pitchFamily="2" charset="-122"/>
              </a:rPr>
              <a:t>iter</a:t>
            </a:r>
            <a:r>
              <a:rPr lang="en-US" altLang="zh-CN" sz="1800" b="1" dirty="0">
                <a:solidFill>
                  <a:srgbClr val="000000"/>
                </a:solidFill>
                <a:latin typeface="Times New Roman" panose="02020603050405020304" pitchFamily="18" charset="0"/>
                <a:ea typeface="华文楷体" panose="02010600040101010101" pitchFamily="2" charset="-122"/>
              </a:rPr>
              <a:t>-&gt;second;	//</a:t>
            </a:r>
            <a:r>
              <a:rPr lang="zh-CN" altLang="en-US" sz="1800" b="1" dirty="0">
                <a:solidFill>
                  <a:srgbClr val="000000"/>
                </a:solidFill>
                <a:latin typeface="Times New Roman" panose="02020603050405020304" pitchFamily="18" charset="0"/>
                <a:ea typeface="华文楷体" panose="02010600040101010101" pitchFamily="2" charset="-122"/>
              </a:rPr>
              <a:t>累加学分</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courses.erase</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iter</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将刚选过的课程从映射中删除</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n--;</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"Total credit: " &lt;&lt; sum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输出总学分</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return 0;  }</a:t>
            </a:r>
            <a:endParaRPr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57349" name="标题 1"/>
          <p:cNvSpPr>
            <a:spLocks noGrp="1"/>
          </p:cNvSpPr>
          <p:nvPr>
            <p:ph type="title"/>
          </p:nvPr>
        </p:nvSpPr>
        <p:spPr>
          <a:xfrm>
            <a:off x="5886450" y="500063"/>
            <a:ext cx="3257550" cy="1066800"/>
          </a:xfrm>
          <a:solidFill>
            <a:schemeClr val="bg1"/>
          </a:solidFill>
        </p:spPr>
        <p:txBody>
          <a:bodyPr/>
          <a:lstStyle/>
          <a:p>
            <a:pPr eaLnBrk="1" hangingPunct="1"/>
            <a:r>
              <a:rPr lang="zh-CN" altLang="en-US"/>
              <a:t>例</a:t>
            </a:r>
            <a:r>
              <a:rPr lang="en-US" altLang="zh-CN"/>
              <a:t>10-10</a:t>
            </a:r>
            <a:r>
              <a:rPr lang="zh-CN" altLang="en-US"/>
              <a:t>（续）</a:t>
            </a:r>
            <a:endParaRPr lang="zh-CN" altLang="en-US"/>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pPr eaLnBrk="1" hangingPunct="1"/>
            <a:r>
              <a:rPr lang="zh-CN" altLang="en-US" b="1"/>
              <a:t>例</a:t>
            </a:r>
            <a:r>
              <a:rPr lang="en-US" altLang="zh-CN" b="1"/>
              <a:t>10-10</a:t>
            </a:r>
            <a:r>
              <a:rPr lang="zh-CN" altLang="en-US" b="1"/>
              <a:t>（续）</a:t>
            </a:r>
            <a:endParaRPr lang="zh-CN" altLang="en-US" b="1"/>
          </a:p>
        </p:txBody>
      </p:sp>
      <p:sp>
        <p:nvSpPr>
          <p:cNvPr id="3" name="内容占位符 2"/>
          <p:cNvSpPr>
            <a:spLocks noGrp="1"/>
          </p:cNvSpPr>
          <p:nvPr>
            <p:ph idx="1"/>
          </p:nvPr>
        </p:nvSpPr>
        <p:spPr>
          <a:xfrm>
            <a:off x="628650" y="1825625"/>
            <a:ext cx="7886700" cy="2985433"/>
          </a:xfrm>
          <a:solidFill>
            <a:srgbClr val="000000"/>
          </a:solidFill>
          <a:ln w="9525">
            <a:noFill/>
            <a:miter lim="800000"/>
          </a:ln>
        </p:spPr>
        <p:txBody>
          <a:bodyPr>
            <a:spAutoFit/>
          </a:bodyPr>
          <a:lstStyle/>
          <a:p>
            <a:pPr marL="457200" indent="-457200">
              <a:buClr>
                <a:schemeClr val="accent2"/>
              </a:buClr>
              <a:buSzPct val="80000"/>
              <a:buFont typeface="Wingdings" panose="05000000000000000000" pitchFamily="2" charset="2"/>
              <a:buNone/>
            </a:pPr>
            <a:r>
              <a:rPr lang="zh-CN" altLang="en-US" sz="2000" b="1" dirty="0">
                <a:ea typeface="华文楷体" panose="02010600040101010101" pitchFamily="2" charset="-122"/>
              </a:rPr>
              <a:t>运行结果如下：</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C++</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COMPILER</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C++</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C++ is not available</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CSAPP</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sz="2000" b="1" dirty="0">
                <a:ea typeface="华文楷体" panose="02010600040101010101" pitchFamily="2" charset="-122"/>
              </a:rPr>
              <a:t>Total credit: 9</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endParaRPr lang="zh-CN" altLang="en-US" sz="2000" b="1" dirty="0">
              <a:ea typeface="华文楷体" panose="02010600040101010101" pitchFamily="2"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pPr eaLnBrk="1" hangingPunct="1"/>
            <a:r>
              <a:rPr lang="zh-CN" altLang="en-US" sz="3200" b="1"/>
              <a:t>例</a:t>
            </a:r>
            <a:r>
              <a:rPr lang="en-US" altLang="zh-CN" sz="3200" b="1"/>
              <a:t>10-11</a:t>
            </a:r>
            <a:r>
              <a:rPr lang="zh-CN" altLang="en-US" sz="3200" b="1"/>
              <a:t>统计一句话中每个字母出现的次数</a:t>
            </a:r>
            <a:endParaRPr lang="zh-CN" altLang="en-US" sz="3200" b="1"/>
          </a:p>
        </p:txBody>
      </p:sp>
      <p:sp>
        <p:nvSpPr>
          <p:cNvPr id="3" name="内容占位符 2"/>
          <p:cNvSpPr>
            <a:spLocks noGrp="1"/>
          </p:cNvSpPr>
          <p:nvPr>
            <p:ph idx="1"/>
          </p:nvPr>
        </p:nvSpPr>
        <p:spPr>
          <a:xfrm>
            <a:off x="539552" y="980728"/>
            <a:ext cx="8472487" cy="532453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10_11.cpp, </a:t>
            </a:r>
            <a:r>
              <a:rPr lang="zh-CN" altLang="en-US" sz="2000" b="1" dirty="0">
                <a:solidFill>
                  <a:srgbClr val="000000"/>
                </a:solidFill>
                <a:latin typeface="Times New Roman" panose="02020603050405020304" pitchFamily="18" charset="0"/>
                <a:ea typeface="华文楷体" panose="02010600040101010101" pitchFamily="2" charset="-122"/>
              </a:rPr>
              <a:t>头部分省略</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map&lt;char,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s;		//</a:t>
            </a:r>
            <a:r>
              <a:rPr lang="zh-CN" altLang="en-US" sz="2000" b="1" dirty="0">
                <a:solidFill>
                  <a:srgbClr val="000000"/>
                </a:solidFill>
                <a:latin typeface="Times New Roman" panose="02020603050405020304" pitchFamily="18" charset="0"/>
                <a:ea typeface="华文楷体" panose="02010600040101010101" pitchFamily="2" charset="-122"/>
              </a:rPr>
              <a:t>用来存储字母出现次数的映射</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char c;				//</a:t>
            </a:r>
            <a:r>
              <a:rPr lang="zh-CN" altLang="en-US" sz="2000" b="1" dirty="0">
                <a:solidFill>
                  <a:srgbClr val="000000"/>
                </a:solidFill>
                <a:latin typeface="Times New Roman" panose="02020603050405020304" pitchFamily="18" charset="0"/>
                <a:ea typeface="华文楷体" panose="02010600040101010101" pitchFamily="2" charset="-122"/>
              </a:rPr>
              <a:t>存储输入字符</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do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c;		//</a:t>
            </a:r>
            <a:r>
              <a:rPr lang="zh-CN" altLang="en-US" sz="2000" b="1" dirty="0">
                <a:solidFill>
                  <a:srgbClr val="000000"/>
                </a:solidFill>
                <a:latin typeface="Times New Roman" panose="02020603050405020304" pitchFamily="18" charset="0"/>
                <a:ea typeface="华文楷体" panose="02010600040101010101" pitchFamily="2" charset="-122"/>
              </a:rPr>
              <a:t>输入下一个字符</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if (</a:t>
            </a:r>
            <a:r>
              <a:rPr lang="en-US" altLang="zh-CN" sz="2000" b="1" dirty="0" err="1">
                <a:solidFill>
                  <a:srgbClr val="000000"/>
                </a:solidFill>
                <a:latin typeface="Times New Roman" panose="02020603050405020304" pitchFamily="18" charset="0"/>
                <a:ea typeface="华文楷体" panose="02010600040101010101" pitchFamily="2" charset="-122"/>
              </a:rPr>
              <a:t>isalpha</a:t>
            </a:r>
            <a:r>
              <a:rPr lang="en-US" altLang="zh-CN" sz="2000" b="1" dirty="0">
                <a:solidFill>
                  <a:srgbClr val="000000"/>
                </a:solidFill>
                <a:latin typeface="Times New Roman" panose="02020603050405020304" pitchFamily="18" charset="0"/>
                <a:ea typeface="华文楷体" panose="02010600040101010101" pitchFamily="2" charset="-122"/>
              </a:rPr>
              <a:t>(c)) {		//</a:t>
            </a:r>
            <a:r>
              <a:rPr lang="zh-CN" altLang="en-US" sz="2000" b="1" dirty="0">
                <a:solidFill>
                  <a:srgbClr val="000000"/>
                </a:solidFill>
                <a:latin typeface="Times New Roman" panose="02020603050405020304" pitchFamily="18" charset="0"/>
                <a:ea typeface="华文楷体" panose="02010600040101010101" pitchFamily="2" charset="-122"/>
              </a:rPr>
              <a:t>判断是否是字母</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c = </a:t>
            </a:r>
            <a:r>
              <a:rPr lang="en-US" altLang="zh-CN" sz="2000" b="1" dirty="0" err="1">
                <a:solidFill>
                  <a:srgbClr val="000000"/>
                </a:solidFill>
                <a:latin typeface="Times New Roman" panose="02020603050405020304" pitchFamily="18" charset="0"/>
                <a:ea typeface="华文楷体" panose="02010600040101010101" pitchFamily="2" charset="-122"/>
              </a:rPr>
              <a:t>tolower</a:t>
            </a:r>
            <a:r>
              <a:rPr lang="en-US" altLang="zh-CN" sz="2000" b="1" dirty="0">
                <a:solidFill>
                  <a:srgbClr val="000000"/>
                </a:solidFill>
                <a:latin typeface="Times New Roman" panose="02020603050405020304" pitchFamily="18" charset="0"/>
                <a:ea typeface="华文楷体" panose="02010600040101010101" pitchFamily="2" charset="-122"/>
              </a:rPr>
              <a:t>(c);	//</a:t>
            </a:r>
            <a:r>
              <a:rPr lang="zh-CN" altLang="en-US" sz="2000" b="1" dirty="0">
                <a:solidFill>
                  <a:srgbClr val="000000"/>
                </a:solidFill>
                <a:latin typeface="Times New Roman" panose="02020603050405020304" pitchFamily="18" charset="0"/>
                <a:ea typeface="华文楷体" panose="02010600040101010101" pitchFamily="2" charset="-122"/>
              </a:rPr>
              <a:t>将字母转换为小写</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s[c]++;		//</a:t>
            </a:r>
            <a:r>
              <a:rPr lang="zh-CN" altLang="en-US" sz="2000" b="1" dirty="0">
                <a:solidFill>
                  <a:srgbClr val="000000"/>
                </a:solidFill>
                <a:latin typeface="Times New Roman" panose="02020603050405020304" pitchFamily="18" charset="0"/>
                <a:ea typeface="华文楷体" panose="02010600040101010101" pitchFamily="2" charset="-122"/>
              </a:rPr>
              <a:t>将该字母的出现频率加</a:t>
            </a:r>
            <a:r>
              <a:rPr lang="en-US" altLang="zh-CN" sz="2000" b="1" dirty="0">
                <a:solidFill>
                  <a:srgbClr val="000000"/>
                </a:solidFill>
                <a:latin typeface="Times New Roman" panose="02020603050405020304" pitchFamily="18" charset="0"/>
                <a:ea typeface="华文楷体" panose="02010600040101010101" pitchFamily="2" charset="-122"/>
              </a:rPr>
              <a:t>1</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 while (c != '.');			//</a:t>
            </a:r>
            <a:r>
              <a:rPr lang="zh-CN" altLang="en-US" sz="2000" b="1" dirty="0">
                <a:solidFill>
                  <a:srgbClr val="000000"/>
                </a:solidFill>
                <a:latin typeface="Times New Roman" panose="02020603050405020304" pitchFamily="18" charset="0"/>
                <a:ea typeface="华文楷体" panose="02010600040101010101" pitchFamily="2" charset="-122"/>
              </a:rPr>
              <a:t>碰到“</a:t>
            </a: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则结束输入</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输出每个字母出现次数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for (map&lt;char,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iterator</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s.begin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s.end</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-&gt;first &lt;&lt; " " &lt;&lt; </a:t>
            </a:r>
            <a:r>
              <a:rPr lang="en-US" altLang="zh-CN" sz="2000" b="1" dirty="0" err="1">
                <a:solidFill>
                  <a:srgbClr val="000000"/>
                </a:solidFill>
                <a:latin typeface="Times New Roman" panose="02020603050405020304" pitchFamily="18" charset="0"/>
                <a:ea typeface="华文楷体" panose="02010600040101010101" pitchFamily="2" charset="-122"/>
              </a:rPr>
              <a:t>iter</a:t>
            </a:r>
            <a:r>
              <a:rPr lang="en-US" altLang="zh-CN" sz="2000" b="1" dirty="0">
                <a:solidFill>
                  <a:srgbClr val="000000"/>
                </a:solidFill>
                <a:latin typeface="Times New Roman" panose="02020603050405020304" pitchFamily="18" charset="0"/>
                <a:ea typeface="华文楷体" panose="02010600040101010101" pitchFamily="2" charset="-122"/>
              </a:rPr>
              <a:t>-&gt;second &lt;&lt;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260648"/>
            <a:ext cx="7886700" cy="1325563"/>
          </a:xfrm>
        </p:spPr>
        <p:txBody>
          <a:bodyPr/>
          <a:lstStyle/>
          <a:p>
            <a:pPr algn="ctr"/>
            <a:r>
              <a:rPr lang="en-US" altLang="zh-CN" sz="4000" b="1" dirty="0">
                <a:latin typeface="Times New Roman" panose="02020603050405020304" pitchFamily="18" charset="0"/>
                <a:ea typeface="隶书" panose="02010509060101010101" pitchFamily="49" charset="-122"/>
              </a:rPr>
              <a:t>10.5.4 </a:t>
            </a:r>
            <a:r>
              <a:rPr lang="zh-CN" altLang="en-US" sz="4000" b="1" dirty="0">
                <a:latin typeface="Times New Roman" panose="02020603050405020304" pitchFamily="18" charset="0"/>
                <a:ea typeface="隶书" panose="02010509060101010101" pitchFamily="49" charset="-122"/>
              </a:rPr>
              <a:t>多重集合（</a:t>
            </a:r>
            <a:r>
              <a:rPr lang="en-US" sz="4000" b="1" dirty="0">
                <a:latin typeface="Times New Roman" panose="02020603050405020304" pitchFamily="18" charset="0"/>
                <a:ea typeface="隶书" panose="02010509060101010101" pitchFamily="49" charset="-122"/>
              </a:rPr>
              <a:t>multiset</a:t>
            </a:r>
            <a:r>
              <a:rPr lang="zh-CN" altLang="en-US" sz="4000" b="1" dirty="0">
                <a:latin typeface="Times New Roman" panose="02020603050405020304" pitchFamily="18" charset="0"/>
                <a:ea typeface="隶书" panose="02010509060101010101" pitchFamily="49" charset="-122"/>
              </a:rPr>
              <a:t>）</a:t>
            </a:r>
            <a:br>
              <a:rPr lang="en-US" altLang="zh-CN" sz="4000" b="1" dirty="0">
                <a:latin typeface="Times New Roman" panose="02020603050405020304" pitchFamily="18" charset="0"/>
                <a:ea typeface="隶书" panose="02010509060101010101" pitchFamily="49" charset="-122"/>
              </a:rPr>
            </a:br>
            <a:r>
              <a:rPr lang="zh-CN" altLang="en-US" sz="4000" b="1" dirty="0">
                <a:latin typeface="Times New Roman" panose="02020603050405020304" pitchFamily="18" charset="0"/>
                <a:ea typeface="隶书" panose="02010509060101010101" pitchFamily="49" charset="-122"/>
              </a:rPr>
              <a:t>与多重映射（</a:t>
            </a:r>
            <a:r>
              <a:rPr lang="en-US" sz="4000" b="1" dirty="0" err="1">
                <a:latin typeface="Times New Roman" panose="02020603050405020304" pitchFamily="18" charset="0"/>
                <a:ea typeface="隶书" panose="02010509060101010101" pitchFamily="49" charset="-122"/>
              </a:rPr>
              <a:t>multimap</a:t>
            </a:r>
            <a:r>
              <a:rPr lang="zh-CN" altLang="en-US" sz="4000" b="1" dirty="0">
                <a:latin typeface="Times New Roman" panose="02020603050405020304" pitchFamily="18" charset="0"/>
                <a:ea typeface="隶书" panose="02010509060101010101" pitchFamily="49" charset="-122"/>
              </a:rPr>
              <a:t>）</a:t>
            </a:r>
            <a:endParaRPr lang="zh-CN" altLang="en-US" sz="4000" b="1" dirty="0">
              <a:latin typeface="Times New Roman" panose="02020603050405020304" pitchFamily="18" charset="0"/>
              <a:ea typeface="隶书" panose="02010509060101010101" pitchFamily="49" charset="-122"/>
            </a:endParaRPr>
          </a:p>
        </p:txBody>
      </p:sp>
      <p:sp>
        <p:nvSpPr>
          <p:cNvPr id="60419" name="内容占位符 2"/>
          <p:cNvSpPr>
            <a:spLocks noGrp="1"/>
          </p:cNvSpPr>
          <p:nvPr>
            <p:ph idx="1"/>
          </p:nvPr>
        </p:nvSpPr>
        <p:spPr/>
        <p:txBody>
          <a:bodyPr/>
          <a:lstStyle/>
          <a:p>
            <a:pPr>
              <a:spcAft>
                <a:spcPct val="25000"/>
              </a:spcAft>
            </a:pPr>
            <a:r>
              <a:rPr lang="zh-CN" altLang="en-US" sz="2400" b="1" dirty="0">
                <a:ea typeface="华文楷体" panose="02010600040101010101" pitchFamily="2" charset="-122"/>
              </a:rPr>
              <a:t>多重集合是允许有重复元素的集合，多重映射是允许一个键对应多个附加数据的映射。</a:t>
            </a:r>
            <a:endParaRPr lang="en-US" altLang="zh-CN" sz="2400" b="1" dirty="0">
              <a:ea typeface="华文楷体" panose="02010600040101010101" pitchFamily="2" charset="-122"/>
            </a:endParaRPr>
          </a:p>
          <a:p>
            <a:pPr>
              <a:spcAft>
                <a:spcPct val="25000"/>
              </a:spcAft>
            </a:pPr>
            <a:endParaRPr lang="en-US" altLang="zh-CN"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多重集合与集合、多重映射与映射的用法差不多，只在几个成员函数上有细微差异，其差异主要表现在去除了键必须唯一的限制。</a:t>
            </a:r>
            <a:endParaRPr lang="en-US" altLang="zh-CN" sz="2400" b="1" dirty="0">
              <a:ea typeface="华文楷体" panose="02010600040101010101" pitchFamily="2" charset="-122"/>
            </a:endParaRPr>
          </a:p>
          <a:p>
            <a:pPr>
              <a:spcAft>
                <a:spcPct val="25000"/>
              </a:spcAft>
            </a:pPr>
            <a:endParaRPr lang="en-US" altLang="zh-CN"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例</a:t>
            </a:r>
            <a:r>
              <a:rPr lang="en-US" altLang="zh-CN" sz="2400" b="1" dirty="0">
                <a:ea typeface="华文楷体" panose="02010600040101010101" pitchFamily="2" charset="-122"/>
              </a:rPr>
              <a:t>10-12 </a:t>
            </a:r>
            <a:r>
              <a:rPr lang="zh-CN" altLang="en-US" sz="2400" b="1" dirty="0">
                <a:solidFill>
                  <a:srgbClr val="FFFF00"/>
                </a:solidFill>
                <a:ea typeface="华文楷体" panose="02010600040101010101" pitchFamily="2" charset="-122"/>
              </a:rPr>
              <a:t>上课时间查询</a:t>
            </a:r>
            <a:endParaRPr lang="zh-CN" altLang="en-US" sz="2400" b="1" dirty="0">
              <a:solidFill>
                <a:srgbClr val="FFFF00"/>
              </a:solidFill>
              <a:ea typeface="华文楷体" panose="02010600040101010101" pitchFamily="2" charset="-122"/>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内容占位符 2"/>
          <p:cNvSpPr>
            <a:spLocks noGrp="1"/>
          </p:cNvSpPr>
          <p:nvPr>
            <p:ph idx="1"/>
          </p:nvPr>
        </p:nvSpPr>
        <p:spPr>
          <a:xfrm>
            <a:off x="107504" y="116632"/>
            <a:ext cx="8858250" cy="6555641"/>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//10_12.cpp</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#include &lt;iostream&gt;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#include &lt;map&gt;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#include &lt;utility&gt;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#include &lt;string&gt;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using namespace std;</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int main()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multimap&lt;string, string&gt; courses;</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typedef multimap&lt;string, string&gt;::iterator CourseIter;</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r>
              <a:rPr lang="zh-CN" altLang="en-US" sz="2000" b="1">
                <a:solidFill>
                  <a:srgbClr val="000000"/>
                </a:solidFill>
                <a:latin typeface="Times New Roman" panose="02020603050405020304" pitchFamily="18" charset="0"/>
                <a:ea typeface="华文楷体" panose="02010600040101010101" pitchFamily="2" charset="-122"/>
              </a:rPr>
              <a:t>将课程上课时间插入</a:t>
            </a:r>
            <a:r>
              <a:rPr lang="en-US" altLang="zh-CN" sz="2000" b="1">
                <a:solidFill>
                  <a:srgbClr val="000000"/>
                </a:solidFill>
                <a:latin typeface="Times New Roman" panose="02020603050405020304" pitchFamily="18" charset="0"/>
                <a:ea typeface="华文楷体" panose="02010600040101010101" pitchFamily="2" charset="-122"/>
              </a:rPr>
              <a:t>courses</a:t>
            </a:r>
            <a:r>
              <a:rPr lang="zh-CN" altLang="en-US" sz="2000" b="1">
                <a:solidFill>
                  <a:srgbClr val="000000"/>
                </a:solidFill>
                <a:latin typeface="Times New Roman" panose="02020603050405020304" pitchFamily="18" charset="0"/>
                <a:ea typeface="华文楷体" panose="02010600040101010101" pitchFamily="2" charset="-122"/>
              </a:rPr>
              <a:t>映射中</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courses.insert(make_pair("C++", "2-6"));</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courses.insert(make_pair("COMPILER", "3-1"));</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courses.insert(make_pair("COMPILER", "5-2"));</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courses.insert(make_pair("OS", "1-2"));</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courses.insert(make_pair("OS", "4-1"));</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courses.insert(make_pair("OS", "5-5"));</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r>
              <a:rPr lang="zh-CN" altLang="en-US" sz="2000" b="1">
                <a:solidFill>
                  <a:srgbClr val="000000"/>
                </a:solidFill>
                <a:latin typeface="Times New Roman" panose="02020603050405020304" pitchFamily="18" charset="0"/>
                <a:ea typeface="华文楷体" panose="02010600040101010101" pitchFamily="2" charset="-122"/>
              </a:rPr>
              <a:t>输入一个课程名，直到找到该课程为止，记下每周上课次数</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string name;</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int count;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p:txBody>
      </p:sp>
      <p:sp>
        <p:nvSpPr>
          <p:cNvPr id="61445" name="标题 1"/>
          <p:cNvSpPr>
            <a:spLocks noGrp="1"/>
          </p:cNvSpPr>
          <p:nvPr>
            <p:ph type="title"/>
          </p:nvPr>
        </p:nvSpPr>
        <p:spPr>
          <a:xfrm>
            <a:off x="5743575" y="500063"/>
            <a:ext cx="3257550" cy="1066800"/>
          </a:xfrm>
          <a:solidFill>
            <a:schemeClr val="bg1"/>
          </a:solidFill>
        </p:spPr>
        <p:txBody>
          <a:bodyPr/>
          <a:lstStyle/>
          <a:p>
            <a:pPr eaLnBrk="1" hangingPunct="1"/>
            <a:r>
              <a:rPr lang="zh-CN" altLang="en-US"/>
              <a:t>例</a:t>
            </a:r>
            <a:r>
              <a:rPr lang="en-US" altLang="zh-CN"/>
              <a:t>10-12</a:t>
            </a:r>
            <a:r>
              <a:rPr lang="zh-CN" altLang="en-US"/>
              <a:t>（续）</a:t>
            </a:r>
            <a:endParaRPr lang="zh-CN" altLang="en-US"/>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内容占位符 2"/>
          <p:cNvSpPr>
            <a:spLocks noGrp="1"/>
          </p:cNvSpPr>
          <p:nvPr>
            <p:ph idx="1"/>
          </p:nvPr>
        </p:nvSpPr>
        <p:spPr>
          <a:xfrm>
            <a:off x="142875" y="188640"/>
            <a:ext cx="8858250" cy="501675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do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cin &gt;&gt; name;</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count = courses.count(name);</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if (count == 0)</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cout &lt;&lt; "Cannot find this course!" &lt;&lt; endl;</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 while (count == 0);</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r>
              <a:rPr lang="zh-CN" altLang="en-US" sz="2000" b="1">
                <a:solidFill>
                  <a:srgbClr val="000000"/>
                </a:solidFill>
                <a:latin typeface="Times New Roman" panose="02020603050405020304" pitchFamily="18" charset="0"/>
                <a:ea typeface="华文楷体" panose="02010600040101010101" pitchFamily="2" charset="-122"/>
              </a:rPr>
              <a:t>输出每周上课次数和上课时间</a:t>
            </a:r>
            <a:endParaRPr lang="zh-CN" altLang="en-US"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a:solidFill>
                  <a:srgbClr val="000000"/>
                </a:solidFill>
                <a:latin typeface="Times New Roman" panose="02020603050405020304" pitchFamily="18" charset="0"/>
                <a:ea typeface="华文楷体" panose="02010600040101010101" pitchFamily="2" charset="-122"/>
              </a:rPr>
              <a:t>	</a:t>
            </a:r>
            <a:r>
              <a:rPr lang="en-US" altLang="zh-CN" sz="2000" b="1">
                <a:solidFill>
                  <a:srgbClr val="000000"/>
                </a:solidFill>
                <a:latin typeface="Times New Roman" panose="02020603050405020304" pitchFamily="18" charset="0"/>
                <a:ea typeface="华文楷体" panose="02010600040101010101" pitchFamily="2" charset="-122"/>
              </a:rPr>
              <a:t>cout &lt;&lt; count &lt;&lt; " lesson(s) per week: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pair&lt;CourseIter, CourseIter&gt; range = courses.equal_range(name);</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for (CourseIter iter = range.first; iter != range.second; ++iter)</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cout &lt;&lt; iter-&gt;second &lt;&lt; "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cout &lt;&lt; endl;</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return 0;</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a:solidFill>
                <a:srgbClr val="000000"/>
              </a:solidFill>
              <a:latin typeface="Times New Roman" panose="02020603050405020304" pitchFamily="18" charset="0"/>
              <a:ea typeface="华文楷体" panose="02010600040101010101" pitchFamily="2" charset="-122"/>
            </a:endParaRPr>
          </a:p>
        </p:txBody>
      </p:sp>
      <p:sp>
        <p:nvSpPr>
          <p:cNvPr id="62469" name="标题 1"/>
          <p:cNvSpPr>
            <a:spLocks noGrp="1"/>
          </p:cNvSpPr>
          <p:nvPr>
            <p:ph type="title"/>
          </p:nvPr>
        </p:nvSpPr>
        <p:spPr>
          <a:xfrm>
            <a:off x="5886450" y="116632"/>
            <a:ext cx="3257550" cy="1066800"/>
          </a:xfrm>
          <a:solidFill>
            <a:schemeClr val="bg1"/>
          </a:solidFill>
        </p:spPr>
        <p:txBody>
          <a:bodyPr/>
          <a:lstStyle/>
          <a:p>
            <a:pPr eaLnBrk="1" hangingPunct="1"/>
            <a:r>
              <a:rPr lang="zh-CN" altLang="en-US" dirty="0"/>
              <a:t>例</a:t>
            </a:r>
            <a:r>
              <a:rPr lang="en-US" altLang="zh-CN" dirty="0"/>
              <a:t>10-12</a:t>
            </a:r>
            <a:r>
              <a:rPr lang="zh-CN" altLang="en-US" dirty="0"/>
              <a:t>（续）</a:t>
            </a:r>
            <a:endParaRPr lang="zh-CN" altLang="en-US" dirty="0"/>
          </a:p>
        </p:txBody>
      </p:sp>
      <p:sp>
        <p:nvSpPr>
          <p:cNvPr id="6" name="TextBox 5"/>
          <p:cNvSpPr txBox="1"/>
          <p:nvPr/>
        </p:nvSpPr>
        <p:spPr>
          <a:xfrm>
            <a:off x="4716016" y="4633912"/>
            <a:ext cx="4285109" cy="1938337"/>
          </a:xfrm>
          <a:prstGeom prst="rect">
            <a:avLst/>
          </a:prstGeom>
          <a:solidFill>
            <a:srgbClr val="000000"/>
          </a:solidFill>
          <a:ln w="9525">
            <a:noFill/>
            <a:miter lim="800000"/>
          </a:ln>
        </p:spPr>
        <p:txBody>
          <a:bodyPr wrap="square">
            <a:spAutoFit/>
          </a:bodyPr>
          <a:lstStyle>
            <a:defPPr>
              <a:defRPr lang="zh-CN"/>
            </a:defPPr>
            <a:lvl1pPr marL="457200" indent="-457200" algn="l" eaLnBrk="1" hangingPunct="1">
              <a:spcBef>
                <a:spcPct val="20000"/>
              </a:spcBef>
              <a:buClr>
                <a:schemeClr val="accent2"/>
              </a:buClr>
              <a:buSzPct val="80000"/>
              <a:buFont typeface="Wingdings" panose="05000000000000000000" pitchFamily="2" charset="2"/>
              <a:buNone/>
              <a:defRPr sz="2000" b="1">
                <a:latin typeface="+mn-lt"/>
                <a:ea typeface="华文楷体" panose="02010600040101010101" pitchFamily="2" charset="-122"/>
              </a:defRPr>
            </a:lvl1pPr>
            <a:lvl2pPr marL="914400" lvl="1" indent="-457200" algn="l" eaLnBrk="1" hangingPunct="1">
              <a:spcBef>
                <a:spcPct val="20000"/>
              </a:spcBef>
              <a:buClr>
                <a:schemeClr val="accent2"/>
              </a:buClr>
              <a:defRPr sz="2000" b="1">
                <a:latin typeface="+mn-lt"/>
                <a:ea typeface="华文楷体" panose="02010600040101010101" pitchFamily="2" charset="-122"/>
              </a:defRPr>
            </a:lvl2pPr>
            <a:lvl3pPr marL="1143000" indent="-228600" eaLnBrk="0" hangingPunct="0">
              <a:defRPr b="1">
                <a:solidFill>
                  <a:schemeClr val="bg2"/>
                </a:solidFill>
                <a:ea typeface="宋体" panose="02010600030101010101" pitchFamily="2" charset="-122"/>
              </a:defRPr>
            </a:lvl3pPr>
            <a:lvl4pPr marL="1600200" indent="-228600" eaLnBrk="0" hangingPunct="0">
              <a:defRPr b="1">
                <a:solidFill>
                  <a:schemeClr val="bg2"/>
                </a:solidFill>
                <a:ea typeface="宋体" panose="02010600030101010101" pitchFamily="2" charset="-122"/>
              </a:defRPr>
            </a:lvl4pPr>
            <a:lvl5pPr marL="2057400" indent="-228600" eaLnBrk="0" hangingPunct="0">
              <a:defRPr b="1">
                <a:solidFill>
                  <a:schemeClr val="bg2"/>
                </a:solidFill>
                <a:ea typeface="宋体" panose="02010600030101010101" pitchFamily="2" charset="-122"/>
              </a:defRPr>
            </a:lvl5pPr>
            <a:lvl6pPr marL="2514600" indent="-228600" eaLnBrk="0" fontAlgn="base" hangingPunct="0">
              <a:spcBef>
                <a:spcPct val="0"/>
              </a:spcBef>
              <a:spcAft>
                <a:spcPct val="0"/>
              </a:spcAft>
              <a:defRPr b="1">
                <a:solidFill>
                  <a:schemeClr val="bg2"/>
                </a:solidFill>
                <a:ea typeface="宋体" panose="02010600030101010101" pitchFamily="2" charset="-122"/>
              </a:defRPr>
            </a:lvl6pPr>
            <a:lvl7pPr marL="2971800" indent="-228600" eaLnBrk="0" fontAlgn="base" hangingPunct="0">
              <a:spcBef>
                <a:spcPct val="0"/>
              </a:spcBef>
              <a:spcAft>
                <a:spcPct val="0"/>
              </a:spcAft>
              <a:defRPr b="1">
                <a:solidFill>
                  <a:schemeClr val="bg2"/>
                </a:solidFill>
                <a:ea typeface="宋体" panose="02010600030101010101" pitchFamily="2" charset="-122"/>
              </a:defRPr>
            </a:lvl7pPr>
            <a:lvl8pPr marL="3429000" indent="-228600" eaLnBrk="0" fontAlgn="base" hangingPunct="0">
              <a:spcBef>
                <a:spcPct val="0"/>
              </a:spcBef>
              <a:spcAft>
                <a:spcPct val="0"/>
              </a:spcAft>
              <a:defRPr b="1">
                <a:solidFill>
                  <a:schemeClr val="bg2"/>
                </a:solidFill>
                <a:ea typeface="宋体" panose="02010600030101010101" pitchFamily="2" charset="-122"/>
              </a:defRPr>
            </a:lvl8pPr>
            <a:lvl9pPr marL="3886200" indent="-228600" eaLnBrk="0" fontAlgn="base" hangingPunct="0">
              <a:spcBef>
                <a:spcPct val="0"/>
              </a:spcBef>
              <a:spcAft>
                <a:spcPct val="0"/>
              </a:spcAft>
              <a:defRPr b="1">
                <a:solidFill>
                  <a:schemeClr val="bg2"/>
                </a:solidFill>
                <a:ea typeface="宋体" panose="02010600030101010101" pitchFamily="2" charset="-122"/>
              </a:defRPr>
            </a:lvl9pPr>
          </a:lstStyle>
          <a:p>
            <a:r>
              <a:rPr lang="zh-CN" altLang="en-US" dirty="0"/>
              <a:t>运行结果如下：</a:t>
            </a:r>
            <a:endParaRPr lang="en-US" altLang="zh-CN" dirty="0"/>
          </a:p>
          <a:p>
            <a:r>
              <a:rPr lang="en-US" dirty="0"/>
              <a:t>JAVA</a:t>
            </a:r>
            <a:endParaRPr lang="zh-CN" altLang="en-US" dirty="0"/>
          </a:p>
          <a:p>
            <a:r>
              <a:rPr lang="en-US" dirty="0"/>
              <a:t>Cannot find this course!</a:t>
            </a:r>
            <a:endParaRPr lang="zh-CN" altLang="en-US" dirty="0"/>
          </a:p>
          <a:p>
            <a:r>
              <a:rPr lang="en-US" dirty="0"/>
              <a:t>OS</a:t>
            </a:r>
            <a:endParaRPr lang="zh-CN" altLang="en-US" dirty="0"/>
          </a:p>
          <a:p>
            <a:r>
              <a:rPr lang="en-US" dirty="0"/>
              <a:t>3 lesson(s) per week: 1-2 4-1 5-5</a:t>
            </a:r>
            <a:endParaRPr lang="zh-CN" altLang="en-US" dirty="0"/>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914400" y="1179891"/>
            <a:ext cx="7315200" cy="1606507"/>
          </a:xfrm>
          <a:prstGeom prst="rect">
            <a:avLst/>
          </a:prstGeom>
          <a:noFill/>
          <a:ln w="1905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95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STL</a:t>
            </a:r>
            <a:r>
              <a:rPr lang="zh-CN" altLang="en-US" sz="195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中的哪种结构是连续形式的存储（）</a:t>
            </a:r>
            <a:endParaRPr lang="zh-CN" altLang="en-US" sz="195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矩形 5"/>
          <p:cNvSpPr/>
          <p:nvPr>
            <p:custDataLst>
              <p:tags r:id="rId2"/>
            </p:custDataLst>
          </p:nvPr>
        </p:nvSpPr>
        <p:spPr>
          <a:xfrm>
            <a:off x="1828800" y="2947049"/>
            <a:ext cx="6400801" cy="481952"/>
          </a:xfrm>
          <a:prstGeom prst="rect">
            <a:avLst/>
          </a:prstGeom>
          <a:noFill/>
          <a:ln w="1905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95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map</a:t>
            </a:r>
            <a:endParaRPr lang="zh-CN" altLang="en-US" sz="195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矩形 6"/>
          <p:cNvSpPr/>
          <p:nvPr>
            <p:custDataLst>
              <p:tags r:id="rId3"/>
            </p:custDataLst>
          </p:nvPr>
        </p:nvSpPr>
        <p:spPr>
          <a:xfrm>
            <a:off x="1828800" y="3589651"/>
            <a:ext cx="6400801" cy="481952"/>
          </a:xfrm>
          <a:prstGeom prst="rect">
            <a:avLst/>
          </a:prstGeom>
          <a:noFill/>
          <a:ln w="1905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95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set</a:t>
            </a:r>
            <a:endParaRPr lang="zh-CN" altLang="en-US" sz="195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8" name="矩形 7"/>
          <p:cNvSpPr/>
          <p:nvPr>
            <p:custDataLst>
              <p:tags r:id="rId4"/>
            </p:custDataLst>
          </p:nvPr>
        </p:nvSpPr>
        <p:spPr>
          <a:xfrm>
            <a:off x="1828800" y="4232254"/>
            <a:ext cx="6400801" cy="481952"/>
          </a:xfrm>
          <a:prstGeom prst="rect">
            <a:avLst/>
          </a:prstGeom>
          <a:noFill/>
          <a:ln w="1905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95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list</a:t>
            </a:r>
            <a:endParaRPr lang="zh-CN" altLang="en-US" sz="195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8"/>
          <p:cNvSpPr/>
          <p:nvPr>
            <p:custDataLst>
              <p:tags r:id="rId5"/>
            </p:custDataLst>
          </p:nvPr>
        </p:nvSpPr>
        <p:spPr>
          <a:xfrm>
            <a:off x="1828800" y="4874857"/>
            <a:ext cx="6400801" cy="481952"/>
          </a:xfrm>
          <a:prstGeom prst="rect">
            <a:avLst/>
          </a:prstGeom>
          <a:noFill/>
          <a:ln w="1905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95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rPr>
              <a:t>vector</a:t>
            </a:r>
            <a:endParaRPr lang="zh-CN" altLang="en-US" sz="1950" dirty="0">
              <a:solidFill>
                <a:schemeClr val="tx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椭圆 9"/>
          <p:cNvSpPr>
            <a:spLocks noChangeAspect="1"/>
          </p:cNvSpPr>
          <p:nvPr>
            <p:custDataLst>
              <p:tags r:id="rId6"/>
            </p:custDataLst>
          </p:nvPr>
        </p:nvSpPr>
        <p:spPr>
          <a:xfrm>
            <a:off x="1178819" y="2995243"/>
            <a:ext cx="385562" cy="385562"/>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zh-CN" altLang="en-US"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1" name="椭圆 10"/>
          <p:cNvSpPr>
            <a:spLocks noChangeAspect="1"/>
          </p:cNvSpPr>
          <p:nvPr>
            <p:custDataLst>
              <p:tags r:id="rId7"/>
            </p:custDataLst>
          </p:nvPr>
        </p:nvSpPr>
        <p:spPr>
          <a:xfrm>
            <a:off x="1178819" y="3637846"/>
            <a:ext cx="385562" cy="385562"/>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zh-CN" altLang="en-US"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2" name="椭圆 11"/>
          <p:cNvSpPr>
            <a:spLocks noChangeAspect="1"/>
          </p:cNvSpPr>
          <p:nvPr>
            <p:custDataLst>
              <p:tags r:id="rId8"/>
            </p:custDataLst>
          </p:nvPr>
        </p:nvSpPr>
        <p:spPr>
          <a:xfrm>
            <a:off x="1178819" y="4280448"/>
            <a:ext cx="385562" cy="385562"/>
          </a:xfrm>
          <a:prstGeom prst="ellipse">
            <a:avLst/>
          </a:prstGeom>
          <a:solidFill>
            <a:srgbClr val="808080"/>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zh-CN" altLang="en-US"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椭圆 12"/>
          <p:cNvSpPr>
            <a:spLocks noChangeAspect="1"/>
          </p:cNvSpPr>
          <p:nvPr>
            <p:custDataLst>
              <p:tags r:id="rId9"/>
            </p:custDataLst>
          </p:nvPr>
        </p:nvSpPr>
        <p:spPr>
          <a:xfrm>
            <a:off x="1178819" y="4923051"/>
            <a:ext cx="385562" cy="385562"/>
          </a:xfrm>
          <a:prstGeom prst="ellipse">
            <a:avLst/>
          </a:prstGeom>
          <a:solidFill>
            <a:srgbClr val="00FF00"/>
          </a:solid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zh-CN" altLang="en-US"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圆角矩形 13"/>
          <p:cNvSpPr/>
          <p:nvPr>
            <p:custDataLst>
              <p:tags r:id="rId10"/>
            </p:custDataLst>
          </p:nvPr>
        </p:nvSpPr>
        <p:spPr>
          <a:xfrm>
            <a:off x="6687353" y="5517460"/>
            <a:ext cx="1156685" cy="308449"/>
          </a:xfrm>
          <a:prstGeom prst="roundRect">
            <a:avLst/>
          </a:prstGeom>
          <a:solidFill>
            <a:srgbClr val="808080"/>
          </a:solidFill>
          <a:ln w="381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2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组合 18"/>
          <p:cNvGrpSpPr/>
          <p:nvPr>
            <p:custDataLst>
              <p:tags r:id="rId11"/>
            </p:custDataLst>
          </p:nvPr>
        </p:nvGrpSpPr>
        <p:grpSpPr>
          <a:xfrm>
            <a:off x="0" y="858589"/>
            <a:ext cx="9144000" cy="476002"/>
            <a:chOff x="0" y="0"/>
            <a:chExt cx="12198350" cy="635000"/>
          </a:xfrm>
        </p:grpSpPr>
        <p:sp>
          <p:nvSpPr>
            <p:cNvPr id="15" name="TitleBackground"/>
            <p:cNvSpPr/>
            <p:nvPr>
              <p:custDataLst>
                <p:tags r:id="rId12"/>
              </p:custDataLst>
            </p:nvPr>
          </p:nvSpPr>
          <p:spPr>
            <a:xfrm>
              <a:off x="0" y="0"/>
              <a:ext cx="12198350" cy="635000"/>
            </a:xfrm>
            <a:prstGeom prst="rect">
              <a:avLst/>
            </a:prstGeom>
            <a:solidFill>
              <a:srgbClr val="F6F7F8"/>
            </a:solidFill>
            <a:ln w="19050" cap="flat" cmpd="sng" algn="ctr">
              <a:noFill/>
              <a:prstDash val="solid"/>
            </a:ln>
            <a:effectLst/>
            <a:extLst>
              <a:ext uri="{91240B29-F687-4F45-9708-019B960494DF}">
                <a14:hiddenLine xmlns:a14="http://schemas.microsoft.com/office/drawing/2010/main" w="1905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ColorBlock"/>
            <p:cNvSpPr/>
            <p:nvPr>
              <p:custDataLst>
                <p:tags r:id="rId13"/>
              </p:custDataLst>
            </p:nvPr>
          </p:nvSpPr>
          <p:spPr>
            <a:xfrm>
              <a:off x="0" y="0"/>
              <a:ext cx="190500" cy="635000"/>
            </a:xfrm>
            <a:prstGeom prst="rect">
              <a:avLst/>
            </a:prstGeom>
            <a:solidFill>
              <a:srgbClr val="639EF4"/>
            </a:solidFill>
            <a:ln w="19050" cap="flat" cmpd="sng" algn="ctr">
              <a:noFill/>
              <a:prstDash val="solid"/>
            </a:ln>
            <a:effectLst/>
            <a:extLst>
              <a:ext uri="{91240B29-F687-4F45-9708-019B960494DF}">
                <a14:hiddenLine xmlns:a14="http://schemas.microsoft.com/office/drawing/2010/main" w="1905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TypeText"/>
            <p:cNvSpPr/>
            <p:nvPr>
              <p:custDataLst>
                <p:tags r:id="rId14"/>
              </p:custDataLst>
            </p:nvPr>
          </p:nvSpPr>
          <p:spPr>
            <a:xfrm>
              <a:off x="254000" y="0"/>
              <a:ext cx="1905000" cy="635000"/>
            </a:xfrm>
            <a:prstGeom prst="rect">
              <a:avLst/>
            </a:prstGeom>
            <a:noFill/>
            <a:ln w="1905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lang="zh-CN" altLang="en-US" sz="19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195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TipText"/>
            <p:cNvSpPr/>
            <p:nvPr>
              <p:custDataLst>
                <p:tags r:id="rId15"/>
              </p:custDataLst>
            </p:nvPr>
          </p:nvSpPr>
          <p:spPr>
            <a:xfrm>
              <a:off x="1525905" y="109220"/>
              <a:ext cx="2286000" cy="508000"/>
            </a:xfrm>
            <a:prstGeom prst="rect">
              <a:avLst/>
            </a:prstGeom>
            <a:noFill/>
            <a:ln w="1905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r>
                <a:rPr lang="en-US" altLang="zh-CN" sz="15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15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15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982555" y="906189"/>
            <a:ext cx="1066245" cy="380802"/>
          </a:xfrm>
          <a:prstGeom prst="rect">
            <a:avLst/>
          </a:prstGeom>
        </p:spPr>
      </p:pic>
    </p:spTree>
    <p:custDataLst>
      <p:tags r:id="rId18"/>
    </p:custData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bwMode="auto">
          <a:xfrm>
            <a:off x="296265" y="1700808"/>
            <a:ext cx="8712968"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6"/>
            </a:pPr>
            <a:r>
              <a:rPr lang="zh-CN" altLang="en-US" sz="6000" b="1" dirty="0">
                <a:ea typeface="华文彩云" panose="02010800040101010101" pitchFamily="2" charset="-122"/>
              </a:rPr>
              <a:t>函数对象</a:t>
            </a:r>
            <a:endParaRPr lang="zh-CN" altLang="en-US" sz="6000" dirty="0"/>
          </a:p>
        </p:txBody>
      </p:sp>
      <p:grpSp>
        <p:nvGrpSpPr>
          <p:cNvPr id="642052" name="Group 4"/>
          <p:cNvGrpSpPr/>
          <p:nvPr/>
        </p:nvGrpSpPr>
        <p:grpSpPr bwMode="auto">
          <a:xfrm>
            <a:off x="5181600" y="4800600"/>
            <a:ext cx="2438400" cy="1219200"/>
            <a:chOff x="2358" y="2934"/>
            <a:chExt cx="450" cy="283"/>
          </a:xfrm>
        </p:grpSpPr>
        <p:grpSp>
          <p:nvGrpSpPr>
            <p:cNvPr id="642053" name="Group 5"/>
            <p:cNvGrpSpPr/>
            <p:nvPr/>
          </p:nvGrpSpPr>
          <p:grpSpPr bwMode="auto">
            <a:xfrm>
              <a:off x="2401" y="2996"/>
              <a:ext cx="407" cy="221"/>
              <a:chOff x="2401" y="2996"/>
              <a:chExt cx="407" cy="221"/>
            </a:xfrm>
          </p:grpSpPr>
          <p:grpSp>
            <p:nvGrpSpPr>
              <p:cNvPr id="642054" name="Group 6"/>
              <p:cNvGrpSpPr/>
              <p:nvPr/>
            </p:nvGrpSpPr>
            <p:grpSpPr bwMode="auto">
              <a:xfrm>
                <a:off x="2733" y="3096"/>
                <a:ext cx="75" cy="121"/>
                <a:chOff x="2733" y="3096"/>
                <a:chExt cx="75" cy="121"/>
              </a:xfrm>
            </p:grpSpPr>
            <p:sp>
              <p:nvSpPr>
                <p:cNvPr id="642055" name="Freeform 7"/>
                <p:cNvSpPr/>
                <p:nvPr/>
              </p:nvSpPr>
              <p:spPr bwMode="auto">
                <a:xfrm>
                  <a:off x="2733" y="3096"/>
                  <a:ext cx="75" cy="121"/>
                </a:xfrm>
                <a:custGeom>
                  <a:avLst/>
                  <a:gdLst>
                    <a:gd name="T0" fmla="*/ 531 w 531"/>
                    <a:gd name="T1" fmla="*/ 54 h 967"/>
                    <a:gd name="T2" fmla="*/ 531 w 531"/>
                    <a:gd name="T3" fmla="*/ 967 h 967"/>
                    <a:gd name="T4" fmla="*/ 154 w 531"/>
                    <a:gd name="T5" fmla="*/ 967 h 967"/>
                    <a:gd name="T6" fmla="*/ 0 w 531"/>
                    <a:gd name="T7" fmla="*/ 330 h 967"/>
                    <a:gd name="T8" fmla="*/ 120 w 531"/>
                    <a:gd name="T9" fmla="*/ 0 h 967"/>
                    <a:gd name="T10" fmla="*/ 531 w 531"/>
                    <a:gd name="T11" fmla="*/ 54 h 967"/>
                  </a:gdLst>
                  <a:ahLst/>
                  <a:cxnLst>
                    <a:cxn ang="0">
                      <a:pos x="T0" y="T1"/>
                    </a:cxn>
                    <a:cxn ang="0">
                      <a:pos x="T2" y="T3"/>
                    </a:cxn>
                    <a:cxn ang="0">
                      <a:pos x="T4" y="T5"/>
                    </a:cxn>
                    <a:cxn ang="0">
                      <a:pos x="T6" y="T7"/>
                    </a:cxn>
                    <a:cxn ang="0">
                      <a:pos x="T8" y="T9"/>
                    </a:cxn>
                    <a:cxn ang="0">
                      <a:pos x="T10" y="T11"/>
                    </a:cxn>
                  </a:cxnLst>
                  <a:rect l="0" t="0" r="r" b="b"/>
                  <a:pathLst>
                    <a:path w="531" h="967">
                      <a:moveTo>
                        <a:pt x="531" y="54"/>
                      </a:moveTo>
                      <a:lnTo>
                        <a:pt x="531" y="967"/>
                      </a:lnTo>
                      <a:lnTo>
                        <a:pt x="154" y="967"/>
                      </a:lnTo>
                      <a:lnTo>
                        <a:pt x="0" y="330"/>
                      </a:lnTo>
                      <a:lnTo>
                        <a:pt x="120" y="0"/>
                      </a:lnTo>
                      <a:lnTo>
                        <a:pt x="531" y="54"/>
                      </a:lnTo>
                      <a:close/>
                    </a:path>
                  </a:pathLst>
                </a:custGeom>
                <a:solidFill>
                  <a:srgbClr val="A04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6" name="Freeform 8"/>
                <p:cNvSpPr/>
                <p:nvPr/>
              </p:nvSpPr>
              <p:spPr bwMode="auto">
                <a:xfrm>
                  <a:off x="2739" y="3106"/>
                  <a:ext cx="36" cy="111"/>
                </a:xfrm>
                <a:custGeom>
                  <a:avLst/>
                  <a:gdLst>
                    <a:gd name="T0" fmla="*/ 55 w 253"/>
                    <a:gd name="T1" fmla="*/ 142 h 889"/>
                    <a:gd name="T2" fmla="*/ 121 w 253"/>
                    <a:gd name="T3" fmla="*/ 209 h 889"/>
                    <a:gd name="T4" fmla="*/ 146 w 253"/>
                    <a:gd name="T5" fmla="*/ 232 h 889"/>
                    <a:gd name="T6" fmla="*/ 181 w 253"/>
                    <a:gd name="T7" fmla="*/ 0 h 889"/>
                    <a:gd name="T8" fmla="*/ 175 w 253"/>
                    <a:gd name="T9" fmla="*/ 256 h 889"/>
                    <a:gd name="T10" fmla="*/ 242 w 253"/>
                    <a:gd name="T11" fmla="*/ 360 h 889"/>
                    <a:gd name="T12" fmla="*/ 235 w 253"/>
                    <a:gd name="T13" fmla="*/ 683 h 889"/>
                    <a:gd name="T14" fmla="*/ 253 w 253"/>
                    <a:gd name="T15" fmla="*/ 889 h 889"/>
                    <a:gd name="T16" fmla="*/ 36 w 253"/>
                    <a:gd name="T17" fmla="*/ 889 h 889"/>
                    <a:gd name="T18" fmla="*/ 0 w 253"/>
                    <a:gd name="T19" fmla="*/ 383 h 889"/>
                    <a:gd name="T20" fmla="*/ 55 w 253"/>
                    <a:gd name="T21" fmla="*/ 142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3" h="889">
                      <a:moveTo>
                        <a:pt x="55" y="142"/>
                      </a:moveTo>
                      <a:lnTo>
                        <a:pt x="121" y="209"/>
                      </a:lnTo>
                      <a:lnTo>
                        <a:pt x="146" y="232"/>
                      </a:lnTo>
                      <a:lnTo>
                        <a:pt x="181" y="0"/>
                      </a:lnTo>
                      <a:lnTo>
                        <a:pt x="175" y="256"/>
                      </a:lnTo>
                      <a:lnTo>
                        <a:pt x="242" y="360"/>
                      </a:lnTo>
                      <a:lnTo>
                        <a:pt x="235" y="683"/>
                      </a:lnTo>
                      <a:lnTo>
                        <a:pt x="253" y="889"/>
                      </a:lnTo>
                      <a:lnTo>
                        <a:pt x="36" y="889"/>
                      </a:lnTo>
                      <a:lnTo>
                        <a:pt x="0" y="383"/>
                      </a:lnTo>
                      <a:lnTo>
                        <a:pt x="55" y="142"/>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7" name="Freeform 9"/>
                <p:cNvSpPr/>
                <p:nvPr/>
              </p:nvSpPr>
              <p:spPr bwMode="auto">
                <a:xfrm>
                  <a:off x="2785" y="3107"/>
                  <a:ext cx="22" cy="110"/>
                </a:xfrm>
                <a:custGeom>
                  <a:avLst/>
                  <a:gdLst>
                    <a:gd name="T0" fmla="*/ 18 w 152"/>
                    <a:gd name="T1" fmla="*/ 0 h 883"/>
                    <a:gd name="T2" fmla="*/ 6 w 152"/>
                    <a:gd name="T3" fmla="*/ 179 h 883"/>
                    <a:gd name="T4" fmla="*/ 0 w 152"/>
                    <a:gd name="T5" fmla="*/ 287 h 883"/>
                    <a:gd name="T6" fmla="*/ 29 w 152"/>
                    <a:gd name="T7" fmla="*/ 305 h 883"/>
                    <a:gd name="T8" fmla="*/ 40 w 152"/>
                    <a:gd name="T9" fmla="*/ 546 h 883"/>
                    <a:gd name="T10" fmla="*/ 90 w 152"/>
                    <a:gd name="T11" fmla="*/ 768 h 883"/>
                    <a:gd name="T12" fmla="*/ 109 w 152"/>
                    <a:gd name="T13" fmla="*/ 883 h 883"/>
                    <a:gd name="T14" fmla="*/ 136 w 152"/>
                    <a:gd name="T15" fmla="*/ 883 h 883"/>
                    <a:gd name="T16" fmla="*/ 138 w 152"/>
                    <a:gd name="T17" fmla="*/ 762 h 883"/>
                    <a:gd name="T18" fmla="*/ 152 w 152"/>
                    <a:gd name="T19" fmla="*/ 647 h 883"/>
                    <a:gd name="T20" fmla="*/ 133 w 152"/>
                    <a:gd name="T21" fmla="*/ 510 h 883"/>
                    <a:gd name="T22" fmla="*/ 102 w 152"/>
                    <a:gd name="T23" fmla="*/ 445 h 883"/>
                    <a:gd name="T24" fmla="*/ 78 w 152"/>
                    <a:gd name="T25" fmla="*/ 402 h 883"/>
                    <a:gd name="T26" fmla="*/ 53 w 152"/>
                    <a:gd name="T27" fmla="*/ 239 h 883"/>
                    <a:gd name="T28" fmla="*/ 18 w 152"/>
                    <a:gd name="T29" fmla="*/ 0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2" h="883">
                      <a:moveTo>
                        <a:pt x="18" y="0"/>
                      </a:moveTo>
                      <a:lnTo>
                        <a:pt x="6" y="179"/>
                      </a:lnTo>
                      <a:lnTo>
                        <a:pt x="0" y="287"/>
                      </a:lnTo>
                      <a:lnTo>
                        <a:pt x="29" y="305"/>
                      </a:lnTo>
                      <a:lnTo>
                        <a:pt x="40" y="546"/>
                      </a:lnTo>
                      <a:lnTo>
                        <a:pt x="90" y="768"/>
                      </a:lnTo>
                      <a:lnTo>
                        <a:pt x="109" y="883"/>
                      </a:lnTo>
                      <a:lnTo>
                        <a:pt x="136" y="883"/>
                      </a:lnTo>
                      <a:lnTo>
                        <a:pt x="138" y="762"/>
                      </a:lnTo>
                      <a:lnTo>
                        <a:pt x="152" y="647"/>
                      </a:lnTo>
                      <a:lnTo>
                        <a:pt x="133" y="510"/>
                      </a:lnTo>
                      <a:lnTo>
                        <a:pt x="102" y="445"/>
                      </a:lnTo>
                      <a:lnTo>
                        <a:pt x="78" y="402"/>
                      </a:lnTo>
                      <a:lnTo>
                        <a:pt x="53" y="23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8" name="Freeform 10"/>
                <p:cNvSpPr/>
                <p:nvPr/>
              </p:nvSpPr>
              <p:spPr bwMode="auto">
                <a:xfrm>
                  <a:off x="2791" y="3100"/>
                  <a:ext cx="13" cy="53"/>
                </a:xfrm>
                <a:custGeom>
                  <a:avLst/>
                  <a:gdLst>
                    <a:gd name="T0" fmla="*/ 0 w 90"/>
                    <a:gd name="T1" fmla="*/ 79 h 425"/>
                    <a:gd name="T2" fmla="*/ 90 w 90"/>
                    <a:gd name="T3" fmla="*/ 425 h 425"/>
                    <a:gd name="T4" fmla="*/ 13 w 90"/>
                    <a:gd name="T5" fmla="*/ 0 h 425"/>
                    <a:gd name="T6" fmla="*/ 0 w 90"/>
                    <a:gd name="T7" fmla="*/ 79 h 425"/>
                  </a:gdLst>
                  <a:ahLst/>
                  <a:cxnLst>
                    <a:cxn ang="0">
                      <a:pos x="T0" y="T1"/>
                    </a:cxn>
                    <a:cxn ang="0">
                      <a:pos x="T2" y="T3"/>
                    </a:cxn>
                    <a:cxn ang="0">
                      <a:pos x="T4" y="T5"/>
                    </a:cxn>
                    <a:cxn ang="0">
                      <a:pos x="T6" y="T7"/>
                    </a:cxn>
                  </a:cxnLst>
                  <a:rect l="0" t="0" r="r" b="b"/>
                  <a:pathLst>
                    <a:path w="90" h="425">
                      <a:moveTo>
                        <a:pt x="0" y="79"/>
                      </a:moveTo>
                      <a:lnTo>
                        <a:pt x="90" y="425"/>
                      </a:lnTo>
                      <a:lnTo>
                        <a:pt x="13" y="0"/>
                      </a:lnTo>
                      <a:lnTo>
                        <a:pt x="0" y="79"/>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9" name="Freeform 11"/>
                <p:cNvSpPr/>
                <p:nvPr/>
              </p:nvSpPr>
              <p:spPr bwMode="auto">
                <a:xfrm>
                  <a:off x="2775" y="3110"/>
                  <a:ext cx="20" cy="107"/>
                </a:xfrm>
                <a:custGeom>
                  <a:avLst/>
                  <a:gdLst>
                    <a:gd name="T0" fmla="*/ 18 w 140"/>
                    <a:gd name="T1" fmla="*/ 0 h 859"/>
                    <a:gd name="T2" fmla="*/ 31 w 140"/>
                    <a:gd name="T3" fmla="*/ 232 h 859"/>
                    <a:gd name="T4" fmla="*/ 42 w 140"/>
                    <a:gd name="T5" fmla="*/ 366 h 859"/>
                    <a:gd name="T6" fmla="*/ 74 w 140"/>
                    <a:gd name="T7" fmla="*/ 402 h 859"/>
                    <a:gd name="T8" fmla="*/ 87 w 140"/>
                    <a:gd name="T9" fmla="*/ 462 h 859"/>
                    <a:gd name="T10" fmla="*/ 140 w 140"/>
                    <a:gd name="T11" fmla="*/ 859 h 859"/>
                    <a:gd name="T12" fmla="*/ 37 w 140"/>
                    <a:gd name="T13" fmla="*/ 856 h 859"/>
                    <a:gd name="T14" fmla="*/ 0 w 140"/>
                    <a:gd name="T15" fmla="*/ 421 h 859"/>
                    <a:gd name="T16" fmla="*/ 6 w 140"/>
                    <a:gd name="T17" fmla="*/ 179 h 859"/>
                    <a:gd name="T18" fmla="*/ 18 w 140"/>
                    <a:gd name="T19"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0" h="859">
                      <a:moveTo>
                        <a:pt x="18" y="0"/>
                      </a:moveTo>
                      <a:lnTo>
                        <a:pt x="31" y="232"/>
                      </a:lnTo>
                      <a:lnTo>
                        <a:pt x="42" y="366"/>
                      </a:lnTo>
                      <a:lnTo>
                        <a:pt x="74" y="402"/>
                      </a:lnTo>
                      <a:lnTo>
                        <a:pt x="87" y="462"/>
                      </a:lnTo>
                      <a:lnTo>
                        <a:pt x="140" y="859"/>
                      </a:lnTo>
                      <a:lnTo>
                        <a:pt x="37" y="856"/>
                      </a:lnTo>
                      <a:lnTo>
                        <a:pt x="0" y="421"/>
                      </a:lnTo>
                      <a:lnTo>
                        <a:pt x="6" y="17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0" name="Freeform 12"/>
                <p:cNvSpPr/>
                <p:nvPr/>
              </p:nvSpPr>
              <p:spPr bwMode="auto">
                <a:xfrm>
                  <a:off x="2794" y="3105"/>
                  <a:ext cx="13" cy="51"/>
                </a:xfrm>
                <a:custGeom>
                  <a:avLst/>
                  <a:gdLst>
                    <a:gd name="T0" fmla="*/ 0 w 90"/>
                    <a:gd name="T1" fmla="*/ 17 h 407"/>
                    <a:gd name="T2" fmla="*/ 45 w 90"/>
                    <a:gd name="T3" fmla="*/ 217 h 407"/>
                    <a:gd name="T4" fmla="*/ 90 w 90"/>
                    <a:gd name="T5" fmla="*/ 407 h 407"/>
                    <a:gd name="T6" fmla="*/ 70 w 90"/>
                    <a:gd name="T7" fmla="*/ 0 h 407"/>
                    <a:gd name="T8" fmla="*/ 0 w 90"/>
                    <a:gd name="T9" fmla="*/ 17 h 407"/>
                  </a:gdLst>
                  <a:ahLst/>
                  <a:cxnLst>
                    <a:cxn ang="0">
                      <a:pos x="T0" y="T1"/>
                    </a:cxn>
                    <a:cxn ang="0">
                      <a:pos x="T2" y="T3"/>
                    </a:cxn>
                    <a:cxn ang="0">
                      <a:pos x="T4" y="T5"/>
                    </a:cxn>
                    <a:cxn ang="0">
                      <a:pos x="T6" y="T7"/>
                    </a:cxn>
                    <a:cxn ang="0">
                      <a:pos x="T8" y="T9"/>
                    </a:cxn>
                  </a:cxnLst>
                  <a:rect l="0" t="0" r="r" b="b"/>
                  <a:pathLst>
                    <a:path w="90" h="407">
                      <a:moveTo>
                        <a:pt x="0" y="17"/>
                      </a:moveTo>
                      <a:lnTo>
                        <a:pt x="45" y="217"/>
                      </a:lnTo>
                      <a:lnTo>
                        <a:pt x="90" y="407"/>
                      </a:lnTo>
                      <a:lnTo>
                        <a:pt x="70" y="0"/>
                      </a:lnTo>
                      <a:lnTo>
                        <a:pt x="0" y="17"/>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1" name="Freeform 13"/>
                <p:cNvSpPr/>
                <p:nvPr/>
              </p:nvSpPr>
              <p:spPr bwMode="auto">
                <a:xfrm>
                  <a:off x="2796" y="3163"/>
                  <a:ext cx="9" cy="54"/>
                </a:xfrm>
                <a:custGeom>
                  <a:avLst/>
                  <a:gdLst>
                    <a:gd name="T0" fmla="*/ 0 w 65"/>
                    <a:gd name="T1" fmla="*/ 0 h 431"/>
                    <a:gd name="T2" fmla="*/ 26 w 65"/>
                    <a:gd name="T3" fmla="*/ 187 h 431"/>
                    <a:gd name="T4" fmla="*/ 52 w 65"/>
                    <a:gd name="T5" fmla="*/ 393 h 431"/>
                    <a:gd name="T6" fmla="*/ 65 w 65"/>
                    <a:gd name="T7" fmla="*/ 431 h 431"/>
                    <a:gd name="T8" fmla="*/ 65 w 65"/>
                    <a:gd name="T9" fmla="*/ 296 h 431"/>
                    <a:gd name="T10" fmla="*/ 59 w 65"/>
                    <a:gd name="T11" fmla="*/ 175 h 431"/>
                    <a:gd name="T12" fmla="*/ 39 w 65"/>
                    <a:gd name="T13" fmla="*/ 91 h 431"/>
                    <a:gd name="T14" fmla="*/ 0 w 65"/>
                    <a:gd name="T15" fmla="*/ 0 h 4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431">
                      <a:moveTo>
                        <a:pt x="0" y="0"/>
                      </a:moveTo>
                      <a:lnTo>
                        <a:pt x="26" y="187"/>
                      </a:lnTo>
                      <a:lnTo>
                        <a:pt x="52" y="393"/>
                      </a:lnTo>
                      <a:lnTo>
                        <a:pt x="65" y="431"/>
                      </a:lnTo>
                      <a:lnTo>
                        <a:pt x="65" y="296"/>
                      </a:lnTo>
                      <a:lnTo>
                        <a:pt x="59" y="175"/>
                      </a:lnTo>
                      <a:lnTo>
                        <a:pt x="39" y="91"/>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2" name="Freeform 14"/>
                <p:cNvSpPr/>
                <p:nvPr/>
              </p:nvSpPr>
              <p:spPr bwMode="auto">
                <a:xfrm>
                  <a:off x="2773" y="3108"/>
                  <a:ext cx="6" cy="47"/>
                </a:xfrm>
                <a:custGeom>
                  <a:avLst/>
                  <a:gdLst>
                    <a:gd name="T0" fmla="*/ 42 w 42"/>
                    <a:gd name="T1" fmla="*/ 0 h 372"/>
                    <a:gd name="T2" fmla="*/ 28 w 42"/>
                    <a:gd name="T3" fmla="*/ 206 h 372"/>
                    <a:gd name="T4" fmla="*/ 28 w 42"/>
                    <a:gd name="T5" fmla="*/ 372 h 372"/>
                    <a:gd name="T6" fmla="*/ 0 w 42"/>
                    <a:gd name="T7" fmla="*/ 262 h 372"/>
                    <a:gd name="T8" fmla="*/ 42 w 42"/>
                    <a:gd name="T9" fmla="*/ 0 h 372"/>
                  </a:gdLst>
                  <a:ahLst/>
                  <a:cxnLst>
                    <a:cxn ang="0">
                      <a:pos x="T0" y="T1"/>
                    </a:cxn>
                    <a:cxn ang="0">
                      <a:pos x="T2" y="T3"/>
                    </a:cxn>
                    <a:cxn ang="0">
                      <a:pos x="T4" y="T5"/>
                    </a:cxn>
                    <a:cxn ang="0">
                      <a:pos x="T6" y="T7"/>
                    </a:cxn>
                    <a:cxn ang="0">
                      <a:pos x="T8" y="T9"/>
                    </a:cxn>
                  </a:cxnLst>
                  <a:rect l="0" t="0" r="r" b="b"/>
                  <a:pathLst>
                    <a:path w="42" h="372">
                      <a:moveTo>
                        <a:pt x="42" y="0"/>
                      </a:moveTo>
                      <a:lnTo>
                        <a:pt x="28" y="206"/>
                      </a:lnTo>
                      <a:lnTo>
                        <a:pt x="28" y="372"/>
                      </a:lnTo>
                      <a:lnTo>
                        <a:pt x="0" y="262"/>
                      </a:lnTo>
                      <a:lnTo>
                        <a:pt x="42"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3" name="Freeform 15"/>
                <p:cNvSpPr/>
                <p:nvPr/>
              </p:nvSpPr>
              <p:spPr bwMode="auto">
                <a:xfrm>
                  <a:off x="2774" y="3161"/>
                  <a:ext cx="11" cy="56"/>
                </a:xfrm>
                <a:custGeom>
                  <a:avLst/>
                  <a:gdLst>
                    <a:gd name="T0" fmla="*/ 13 w 78"/>
                    <a:gd name="T1" fmla="*/ 0 h 449"/>
                    <a:gd name="T2" fmla="*/ 32 w 78"/>
                    <a:gd name="T3" fmla="*/ 181 h 449"/>
                    <a:gd name="T4" fmla="*/ 46 w 78"/>
                    <a:gd name="T5" fmla="*/ 309 h 449"/>
                    <a:gd name="T6" fmla="*/ 78 w 78"/>
                    <a:gd name="T7" fmla="*/ 449 h 449"/>
                    <a:gd name="T8" fmla="*/ 39 w 78"/>
                    <a:gd name="T9" fmla="*/ 449 h 449"/>
                    <a:gd name="T10" fmla="*/ 7 w 78"/>
                    <a:gd name="T11" fmla="*/ 255 h 449"/>
                    <a:gd name="T12" fmla="*/ 0 w 78"/>
                    <a:gd name="T13" fmla="*/ 120 h 449"/>
                    <a:gd name="T14" fmla="*/ 13 w 78"/>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449">
                      <a:moveTo>
                        <a:pt x="13" y="0"/>
                      </a:moveTo>
                      <a:lnTo>
                        <a:pt x="32" y="181"/>
                      </a:lnTo>
                      <a:lnTo>
                        <a:pt x="46" y="309"/>
                      </a:lnTo>
                      <a:lnTo>
                        <a:pt x="78" y="449"/>
                      </a:lnTo>
                      <a:lnTo>
                        <a:pt x="39" y="449"/>
                      </a:lnTo>
                      <a:lnTo>
                        <a:pt x="7" y="255"/>
                      </a:lnTo>
                      <a:lnTo>
                        <a:pt x="0" y="120"/>
                      </a:lnTo>
                      <a:lnTo>
                        <a:pt x="13"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4" name="Freeform 16"/>
                <p:cNvSpPr/>
                <p:nvPr/>
              </p:nvSpPr>
              <p:spPr bwMode="auto">
                <a:xfrm>
                  <a:off x="2755" y="3172"/>
                  <a:ext cx="12" cy="45"/>
                </a:xfrm>
                <a:custGeom>
                  <a:avLst/>
                  <a:gdLst>
                    <a:gd name="T0" fmla="*/ 0 w 84"/>
                    <a:gd name="T1" fmla="*/ 0 h 359"/>
                    <a:gd name="T2" fmla="*/ 59 w 84"/>
                    <a:gd name="T3" fmla="*/ 221 h 359"/>
                    <a:gd name="T4" fmla="*/ 84 w 84"/>
                    <a:gd name="T5" fmla="*/ 359 h 359"/>
                    <a:gd name="T6" fmla="*/ 0 w 84"/>
                    <a:gd name="T7" fmla="*/ 0 h 359"/>
                  </a:gdLst>
                  <a:ahLst/>
                  <a:cxnLst>
                    <a:cxn ang="0">
                      <a:pos x="T0" y="T1"/>
                    </a:cxn>
                    <a:cxn ang="0">
                      <a:pos x="T2" y="T3"/>
                    </a:cxn>
                    <a:cxn ang="0">
                      <a:pos x="T4" y="T5"/>
                    </a:cxn>
                    <a:cxn ang="0">
                      <a:pos x="T6" y="T7"/>
                    </a:cxn>
                  </a:cxnLst>
                  <a:rect l="0" t="0" r="r" b="b"/>
                  <a:pathLst>
                    <a:path w="84" h="359">
                      <a:moveTo>
                        <a:pt x="0" y="0"/>
                      </a:moveTo>
                      <a:lnTo>
                        <a:pt x="59" y="221"/>
                      </a:lnTo>
                      <a:lnTo>
                        <a:pt x="84" y="359"/>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5" name="Freeform 17"/>
                <p:cNvSpPr/>
                <p:nvPr/>
              </p:nvSpPr>
              <p:spPr bwMode="auto">
                <a:xfrm>
                  <a:off x="2789" y="3113"/>
                  <a:ext cx="9" cy="49"/>
                </a:xfrm>
                <a:custGeom>
                  <a:avLst/>
                  <a:gdLst>
                    <a:gd name="T0" fmla="*/ 0 w 61"/>
                    <a:gd name="T1" fmla="*/ 0 h 390"/>
                    <a:gd name="T2" fmla="*/ 13 w 61"/>
                    <a:gd name="T3" fmla="*/ 163 h 390"/>
                    <a:gd name="T4" fmla="*/ 40 w 61"/>
                    <a:gd name="T5" fmla="*/ 292 h 390"/>
                    <a:gd name="T6" fmla="*/ 61 w 61"/>
                    <a:gd name="T7" fmla="*/ 390 h 390"/>
                    <a:gd name="T8" fmla="*/ 54 w 61"/>
                    <a:gd name="T9" fmla="*/ 219 h 390"/>
                    <a:gd name="T10" fmla="*/ 40 w 61"/>
                    <a:gd name="T11" fmla="*/ 127 h 390"/>
                    <a:gd name="T12" fmla="*/ 0 w 61"/>
                    <a:gd name="T13" fmla="*/ 0 h 390"/>
                  </a:gdLst>
                  <a:ahLst/>
                  <a:cxnLst>
                    <a:cxn ang="0">
                      <a:pos x="T0" y="T1"/>
                    </a:cxn>
                    <a:cxn ang="0">
                      <a:pos x="T2" y="T3"/>
                    </a:cxn>
                    <a:cxn ang="0">
                      <a:pos x="T4" y="T5"/>
                    </a:cxn>
                    <a:cxn ang="0">
                      <a:pos x="T6" y="T7"/>
                    </a:cxn>
                    <a:cxn ang="0">
                      <a:pos x="T8" y="T9"/>
                    </a:cxn>
                    <a:cxn ang="0">
                      <a:pos x="T10" y="T11"/>
                    </a:cxn>
                    <a:cxn ang="0">
                      <a:pos x="T12" y="T13"/>
                    </a:cxn>
                  </a:cxnLst>
                  <a:rect l="0" t="0" r="r" b="b"/>
                  <a:pathLst>
                    <a:path w="61" h="390">
                      <a:moveTo>
                        <a:pt x="0" y="0"/>
                      </a:moveTo>
                      <a:lnTo>
                        <a:pt x="13" y="163"/>
                      </a:lnTo>
                      <a:lnTo>
                        <a:pt x="40" y="292"/>
                      </a:lnTo>
                      <a:lnTo>
                        <a:pt x="61" y="390"/>
                      </a:lnTo>
                      <a:lnTo>
                        <a:pt x="54" y="219"/>
                      </a:lnTo>
                      <a:lnTo>
                        <a:pt x="40" y="127"/>
                      </a:lnTo>
                      <a:lnTo>
                        <a:pt x="0"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6" name="Freeform 18"/>
                <p:cNvSpPr/>
                <p:nvPr/>
              </p:nvSpPr>
              <p:spPr bwMode="auto">
                <a:xfrm>
                  <a:off x="2754" y="3108"/>
                  <a:ext cx="11" cy="56"/>
                </a:xfrm>
                <a:custGeom>
                  <a:avLst/>
                  <a:gdLst>
                    <a:gd name="T0" fmla="*/ 72 w 72"/>
                    <a:gd name="T1" fmla="*/ 0 h 449"/>
                    <a:gd name="T2" fmla="*/ 53 w 72"/>
                    <a:gd name="T3" fmla="*/ 133 h 449"/>
                    <a:gd name="T4" fmla="*/ 46 w 72"/>
                    <a:gd name="T5" fmla="*/ 247 h 449"/>
                    <a:gd name="T6" fmla="*/ 34 w 72"/>
                    <a:gd name="T7" fmla="*/ 371 h 449"/>
                    <a:gd name="T8" fmla="*/ 34 w 72"/>
                    <a:gd name="T9" fmla="*/ 449 h 449"/>
                    <a:gd name="T10" fmla="*/ 0 w 72"/>
                    <a:gd name="T11" fmla="*/ 279 h 449"/>
                    <a:gd name="T12" fmla="*/ 14 w 72"/>
                    <a:gd name="T13" fmla="*/ 151 h 449"/>
                    <a:gd name="T14" fmla="*/ 72 w 72"/>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449">
                      <a:moveTo>
                        <a:pt x="72" y="0"/>
                      </a:moveTo>
                      <a:lnTo>
                        <a:pt x="53" y="133"/>
                      </a:lnTo>
                      <a:lnTo>
                        <a:pt x="46" y="247"/>
                      </a:lnTo>
                      <a:lnTo>
                        <a:pt x="34" y="371"/>
                      </a:lnTo>
                      <a:lnTo>
                        <a:pt x="34" y="449"/>
                      </a:lnTo>
                      <a:lnTo>
                        <a:pt x="0" y="279"/>
                      </a:lnTo>
                      <a:lnTo>
                        <a:pt x="14" y="151"/>
                      </a:lnTo>
                      <a:lnTo>
                        <a:pt x="72"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67" name="Group 19"/>
              <p:cNvGrpSpPr/>
              <p:nvPr/>
            </p:nvGrpSpPr>
            <p:grpSpPr bwMode="auto">
              <a:xfrm>
                <a:off x="2401" y="2996"/>
                <a:ext cx="365" cy="221"/>
                <a:chOff x="2401" y="2996"/>
                <a:chExt cx="365" cy="221"/>
              </a:xfrm>
            </p:grpSpPr>
            <p:sp>
              <p:nvSpPr>
                <p:cNvPr id="642068" name="Freeform 20"/>
                <p:cNvSpPr/>
                <p:nvPr/>
              </p:nvSpPr>
              <p:spPr bwMode="auto">
                <a:xfrm>
                  <a:off x="2401" y="3053"/>
                  <a:ext cx="365" cy="164"/>
                </a:xfrm>
                <a:custGeom>
                  <a:avLst/>
                  <a:gdLst>
                    <a:gd name="T0" fmla="*/ 0 w 2559"/>
                    <a:gd name="T1" fmla="*/ 1310 h 1310"/>
                    <a:gd name="T2" fmla="*/ 1081 w 2559"/>
                    <a:gd name="T3" fmla="*/ 0 h 1310"/>
                    <a:gd name="T4" fmla="*/ 2308 w 2559"/>
                    <a:gd name="T5" fmla="*/ 0 h 1310"/>
                    <a:gd name="T6" fmla="*/ 2559 w 2559"/>
                    <a:gd name="T7" fmla="*/ 1310 h 1310"/>
                    <a:gd name="T8" fmla="*/ 0 w 2559"/>
                    <a:gd name="T9" fmla="*/ 1310 h 1310"/>
                  </a:gdLst>
                  <a:ahLst/>
                  <a:cxnLst>
                    <a:cxn ang="0">
                      <a:pos x="T0" y="T1"/>
                    </a:cxn>
                    <a:cxn ang="0">
                      <a:pos x="T2" y="T3"/>
                    </a:cxn>
                    <a:cxn ang="0">
                      <a:pos x="T4" y="T5"/>
                    </a:cxn>
                    <a:cxn ang="0">
                      <a:pos x="T6" y="T7"/>
                    </a:cxn>
                    <a:cxn ang="0">
                      <a:pos x="T8" y="T9"/>
                    </a:cxn>
                  </a:cxnLst>
                  <a:rect l="0" t="0" r="r" b="b"/>
                  <a:pathLst>
                    <a:path w="2559" h="1310">
                      <a:moveTo>
                        <a:pt x="0" y="1310"/>
                      </a:moveTo>
                      <a:lnTo>
                        <a:pt x="1081" y="0"/>
                      </a:lnTo>
                      <a:lnTo>
                        <a:pt x="2308" y="0"/>
                      </a:lnTo>
                      <a:lnTo>
                        <a:pt x="2559" y="1310"/>
                      </a:lnTo>
                      <a:lnTo>
                        <a:pt x="0" y="1310"/>
                      </a:lnTo>
                      <a:close/>
                    </a:path>
                  </a:pathLst>
                </a:custGeom>
                <a:solidFill>
                  <a:srgbClr val="A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69" name="Group 21"/>
                <p:cNvGrpSpPr/>
                <p:nvPr/>
              </p:nvGrpSpPr>
              <p:grpSpPr bwMode="auto">
                <a:xfrm>
                  <a:off x="2506" y="2996"/>
                  <a:ext cx="212" cy="221"/>
                  <a:chOff x="2506" y="2996"/>
                  <a:chExt cx="212" cy="221"/>
                </a:xfrm>
              </p:grpSpPr>
              <p:grpSp>
                <p:nvGrpSpPr>
                  <p:cNvPr id="642070" name="Group 22"/>
                  <p:cNvGrpSpPr/>
                  <p:nvPr/>
                </p:nvGrpSpPr>
                <p:grpSpPr bwMode="auto">
                  <a:xfrm>
                    <a:off x="2509" y="3148"/>
                    <a:ext cx="118" cy="69"/>
                    <a:chOff x="2509" y="3148"/>
                    <a:chExt cx="118" cy="69"/>
                  </a:xfrm>
                </p:grpSpPr>
                <p:sp>
                  <p:nvSpPr>
                    <p:cNvPr id="642071" name="Freeform 23"/>
                    <p:cNvSpPr/>
                    <p:nvPr/>
                  </p:nvSpPr>
                  <p:spPr bwMode="auto">
                    <a:xfrm>
                      <a:off x="2509" y="3148"/>
                      <a:ext cx="118" cy="69"/>
                    </a:xfrm>
                    <a:custGeom>
                      <a:avLst/>
                      <a:gdLst>
                        <a:gd name="T0" fmla="*/ 183 w 824"/>
                        <a:gd name="T1" fmla="*/ 0 h 550"/>
                        <a:gd name="T2" fmla="*/ 824 w 824"/>
                        <a:gd name="T3" fmla="*/ 0 h 550"/>
                        <a:gd name="T4" fmla="*/ 801 w 824"/>
                        <a:gd name="T5" fmla="*/ 550 h 550"/>
                        <a:gd name="T6" fmla="*/ 0 w 824"/>
                        <a:gd name="T7" fmla="*/ 550 h 550"/>
                        <a:gd name="T8" fmla="*/ 183 w 824"/>
                        <a:gd name="T9" fmla="*/ 0 h 550"/>
                      </a:gdLst>
                      <a:ahLst/>
                      <a:cxnLst>
                        <a:cxn ang="0">
                          <a:pos x="T0" y="T1"/>
                        </a:cxn>
                        <a:cxn ang="0">
                          <a:pos x="T2" y="T3"/>
                        </a:cxn>
                        <a:cxn ang="0">
                          <a:pos x="T4" y="T5"/>
                        </a:cxn>
                        <a:cxn ang="0">
                          <a:pos x="T6" y="T7"/>
                        </a:cxn>
                        <a:cxn ang="0">
                          <a:pos x="T8" y="T9"/>
                        </a:cxn>
                      </a:cxnLst>
                      <a:rect l="0" t="0" r="r" b="b"/>
                      <a:pathLst>
                        <a:path w="824" h="550">
                          <a:moveTo>
                            <a:pt x="183" y="0"/>
                          </a:moveTo>
                          <a:lnTo>
                            <a:pt x="824" y="0"/>
                          </a:lnTo>
                          <a:lnTo>
                            <a:pt x="801" y="550"/>
                          </a:lnTo>
                          <a:lnTo>
                            <a:pt x="0" y="550"/>
                          </a:lnTo>
                          <a:lnTo>
                            <a:pt x="183" y="0"/>
                          </a:lnTo>
                          <a:close/>
                        </a:path>
                      </a:pathLst>
                    </a:custGeom>
                    <a:solidFill>
                      <a:srgbClr val="C0E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72" name="Freeform 24"/>
                    <p:cNvSpPr/>
                    <p:nvPr/>
                  </p:nvSpPr>
                  <p:spPr bwMode="auto">
                    <a:xfrm>
                      <a:off x="2532" y="3148"/>
                      <a:ext cx="95" cy="8"/>
                    </a:xfrm>
                    <a:custGeom>
                      <a:avLst/>
                      <a:gdLst>
                        <a:gd name="T0" fmla="*/ 17 w 661"/>
                        <a:gd name="T1" fmla="*/ 0 h 63"/>
                        <a:gd name="T2" fmla="*/ 0 w 661"/>
                        <a:gd name="T3" fmla="*/ 63 h 63"/>
                        <a:gd name="T4" fmla="*/ 659 w 661"/>
                        <a:gd name="T5" fmla="*/ 63 h 63"/>
                        <a:gd name="T6" fmla="*/ 661 w 661"/>
                        <a:gd name="T7" fmla="*/ 0 h 63"/>
                        <a:gd name="T8" fmla="*/ 17 w 661"/>
                        <a:gd name="T9" fmla="*/ 0 h 63"/>
                      </a:gdLst>
                      <a:ahLst/>
                      <a:cxnLst>
                        <a:cxn ang="0">
                          <a:pos x="T0" y="T1"/>
                        </a:cxn>
                        <a:cxn ang="0">
                          <a:pos x="T2" y="T3"/>
                        </a:cxn>
                        <a:cxn ang="0">
                          <a:pos x="T4" y="T5"/>
                        </a:cxn>
                        <a:cxn ang="0">
                          <a:pos x="T6" y="T7"/>
                        </a:cxn>
                        <a:cxn ang="0">
                          <a:pos x="T8" y="T9"/>
                        </a:cxn>
                      </a:cxnLst>
                      <a:rect l="0" t="0" r="r" b="b"/>
                      <a:pathLst>
                        <a:path w="661" h="63">
                          <a:moveTo>
                            <a:pt x="17" y="0"/>
                          </a:moveTo>
                          <a:lnTo>
                            <a:pt x="0" y="63"/>
                          </a:lnTo>
                          <a:lnTo>
                            <a:pt x="659" y="63"/>
                          </a:lnTo>
                          <a:lnTo>
                            <a:pt x="661" y="0"/>
                          </a:lnTo>
                          <a:lnTo>
                            <a:pt x="17"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73" name="Group 25"/>
                  <p:cNvGrpSpPr/>
                  <p:nvPr/>
                </p:nvGrpSpPr>
                <p:grpSpPr bwMode="auto">
                  <a:xfrm>
                    <a:off x="2506" y="2996"/>
                    <a:ext cx="212" cy="148"/>
                    <a:chOff x="2506" y="2996"/>
                    <a:chExt cx="212" cy="148"/>
                  </a:xfrm>
                </p:grpSpPr>
                <p:grpSp>
                  <p:nvGrpSpPr>
                    <p:cNvPr id="642074" name="Group 26"/>
                    <p:cNvGrpSpPr/>
                    <p:nvPr/>
                  </p:nvGrpSpPr>
                  <p:grpSpPr bwMode="auto">
                    <a:xfrm>
                      <a:off x="2506" y="2996"/>
                      <a:ext cx="203" cy="135"/>
                      <a:chOff x="2506" y="2996"/>
                      <a:chExt cx="203" cy="135"/>
                    </a:xfrm>
                  </p:grpSpPr>
                  <p:grpSp>
                    <p:nvGrpSpPr>
                      <p:cNvPr id="642075" name="Group 27"/>
                      <p:cNvGrpSpPr/>
                      <p:nvPr/>
                    </p:nvGrpSpPr>
                    <p:grpSpPr bwMode="auto">
                      <a:xfrm>
                        <a:off x="2506" y="3042"/>
                        <a:ext cx="203" cy="89"/>
                        <a:chOff x="2506" y="3042"/>
                        <a:chExt cx="203" cy="89"/>
                      </a:xfrm>
                    </p:grpSpPr>
                    <p:grpSp>
                      <p:nvGrpSpPr>
                        <p:cNvPr id="642076" name="Group 28"/>
                        <p:cNvGrpSpPr/>
                        <p:nvPr/>
                      </p:nvGrpSpPr>
                      <p:grpSpPr bwMode="auto">
                        <a:xfrm>
                          <a:off x="2508" y="3042"/>
                          <a:ext cx="201" cy="89"/>
                          <a:chOff x="2508" y="3042"/>
                          <a:chExt cx="201" cy="89"/>
                        </a:xfrm>
                      </p:grpSpPr>
                      <p:sp>
                        <p:nvSpPr>
                          <p:cNvPr id="642077" name="Freeform 29"/>
                          <p:cNvSpPr/>
                          <p:nvPr/>
                        </p:nvSpPr>
                        <p:spPr bwMode="auto">
                          <a:xfrm>
                            <a:off x="2508" y="3061"/>
                            <a:ext cx="71" cy="25"/>
                          </a:xfrm>
                          <a:custGeom>
                            <a:avLst/>
                            <a:gdLst>
                              <a:gd name="T0" fmla="*/ 0 w 501"/>
                              <a:gd name="T1" fmla="*/ 194 h 194"/>
                              <a:gd name="T2" fmla="*/ 33 w 501"/>
                              <a:gd name="T3" fmla="*/ 194 h 194"/>
                              <a:gd name="T4" fmla="*/ 501 w 501"/>
                              <a:gd name="T5" fmla="*/ 7 h 194"/>
                              <a:gd name="T6" fmla="*/ 486 w 501"/>
                              <a:gd name="T7" fmla="*/ 0 h 194"/>
                              <a:gd name="T8" fmla="*/ 0 w 501"/>
                              <a:gd name="T9" fmla="*/ 194 h 194"/>
                            </a:gdLst>
                            <a:ahLst/>
                            <a:cxnLst>
                              <a:cxn ang="0">
                                <a:pos x="T0" y="T1"/>
                              </a:cxn>
                              <a:cxn ang="0">
                                <a:pos x="T2" y="T3"/>
                              </a:cxn>
                              <a:cxn ang="0">
                                <a:pos x="T4" y="T5"/>
                              </a:cxn>
                              <a:cxn ang="0">
                                <a:pos x="T6" y="T7"/>
                              </a:cxn>
                              <a:cxn ang="0">
                                <a:pos x="T8" y="T9"/>
                              </a:cxn>
                            </a:cxnLst>
                            <a:rect l="0" t="0" r="r" b="b"/>
                            <a:pathLst>
                              <a:path w="501" h="194">
                                <a:moveTo>
                                  <a:pt x="0" y="194"/>
                                </a:moveTo>
                                <a:lnTo>
                                  <a:pt x="33" y="194"/>
                                </a:lnTo>
                                <a:lnTo>
                                  <a:pt x="501" y="7"/>
                                </a:lnTo>
                                <a:lnTo>
                                  <a:pt x="486" y="0"/>
                                </a:lnTo>
                                <a:lnTo>
                                  <a:pt x="0" y="194"/>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78" name="Group 30"/>
                          <p:cNvGrpSpPr/>
                          <p:nvPr/>
                        </p:nvGrpSpPr>
                        <p:grpSpPr bwMode="auto">
                          <a:xfrm>
                            <a:off x="2525" y="3042"/>
                            <a:ext cx="184" cy="89"/>
                            <a:chOff x="2525" y="3042"/>
                            <a:chExt cx="184" cy="89"/>
                          </a:xfrm>
                        </p:grpSpPr>
                        <p:sp>
                          <p:nvSpPr>
                            <p:cNvPr id="642079" name="Freeform 31"/>
                            <p:cNvSpPr/>
                            <p:nvPr/>
                          </p:nvSpPr>
                          <p:spPr bwMode="auto">
                            <a:xfrm>
                              <a:off x="2598" y="3078"/>
                              <a:ext cx="109" cy="53"/>
                            </a:xfrm>
                            <a:custGeom>
                              <a:avLst/>
                              <a:gdLst>
                                <a:gd name="T0" fmla="*/ 759 w 759"/>
                                <a:gd name="T1" fmla="*/ 0 h 424"/>
                                <a:gd name="T2" fmla="*/ 332 w 759"/>
                                <a:gd name="T3" fmla="*/ 171 h 424"/>
                                <a:gd name="T4" fmla="*/ 332 w 759"/>
                                <a:gd name="T5" fmla="*/ 192 h 424"/>
                                <a:gd name="T6" fmla="*/ 328 w 759"/>
                                <a:gd name="T7" fmla="*/ 204 h 424"/>
                                <a:gd name="T8" fmla="*/ 326 w 759"/>
                                <a:gd name="T9" fmla="*/ 209 h 424"/>
                                <a:gd name="T10" fmla="*/ 320 w 759"/>
                                <a:gd name="T11" fmla="*/ 218 h 424"/>
                                <a:gd name="T12" fmla="*/ 239 w 759"/>
                                <a:gd name="T13" fmla="*/ 256 h 424"/>
                                <a:gd name="T14" fmla="*/ 235 w 759"/>
                                <a:gd name="T15" fmla="*/ 267 h 424"/>
                                <a:gd name="T16" fmla="*/ 0 w 759"/>
                                <a:gd name="T17" fmla="*/ 369 h 424"/>
                                <a:gd name="T18" fmla="*/ 0 w 759"/>
                                <a:gd name="T19" fmla="*/ 424 h 424"/>
                                <a:gd name="T20" fmla="*/ 9 w 759"/>
                                <a:gd name="T21" fmla="*/ 424 h 424"/>
                                <a:gd name="T22" fmla="*/ 751 w 759"/>
                                <a:gd name="T23" fmla="*/ 93 h 424"/>
                                <a:gd name="T24" fmla="*/ 754 w 759"/>
                                <a:gd name="T25" fmla="*/ 91 h 424"/>
                                <a:gd name="T26" fmla="*/ 757 w 759"/>
                                <a:gd name="T27" fmla="*/ 87 h 424"/>
                                <a:gd name="T28" fmla="*/ 759 w 759"/>
                                <a:gd name="T29" fmla="*/ 79 h 424"/>
                                <a:gd name="T30" fmla="*/ 759 w 759"/>
                                <a:gd name="T3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9" h="424">
                                  <a:moveTo>
                                    <a:pt x="759" y="0"/>
                                  </a:moveTo>
                                  <a:lnTo>
                                    <a:pt x="332" y="171"/>
                                  </a:lnTo>
                                  <a:lnTo>
                                    <a:pt x="332" y="192"/>
                                  </a:lnTo>
                                  <a:lnTo>
                                    <a:pt x="328" y="204"/>
                                  </a:lnTo>
                                  <a:lnTo>
                                    <a:pt x="326" y="209"/>
                                  </a:lnTo>
                                  <a:lnTo>
                                    <a:pt x="320" y="218"/>
                                  </a:lnTo>
                                  <a:lnTo>
                                    <a:pt x="239" y="256"/>
                                  </a:lnTo>
                                  <a:lnTo>
                                    <a:pt x="235" y="267"/>
                                  </a:lnTo>
                                  <a:lnTo>
                                    <a:pt x="0" y="369"/>
                                  </a:lnTo>
                                  <a:lnTo>
                                    <a:pt x="0" y="424"/>
                                  </a:lnTo>
                                  <a:lnTo>
                                    <a:pt x="9" y="424"/>
                                  </a:lnTo>
                                  <a:lnTo>
                                    <a:pt x="751" y="93"/>
                                  </a:lnTo>
                                  <a:lnTo>
                                    <a:pt x="754" y="91"/>
                                  </a:lnTo>
                                  <a:lnTo>
                                    <a:pt x="757" y="87"/>
                                  </a:lnTo>
                                  <a:lnTo>
                                    <a:pt x="759" y="79"/>
                                  </a:lnTo>
                                  <a:lnTo>
                                    <a:pt x="759"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0" name="Freeform 32"/>
                            <p:cNvSpPr/>
                            <p:nvPr/>
                          </p:nvSpPr>
                          <p:spPr bwMode="auto">
                            <a:xfrm>
                              <a:off x="2694" y="3082"/>
                              <a:ext cx="7" cy="7"/>
                            </a:xfrm>
                            <a:custGeom>
                              <a:avLst/>
                              <a:gdLst>
                                <a:gd name="T0" fmla="*/ 0 w 53"/>
                                <a:gd name="T1" fmla="*/ 23 h 57"/>
                                <a:gd name="T2" fmla="*/ 53 w 53"/>
                                <a:gd name="T3" fmla="*/ 0 h 57"/>
                                <a:gd name="T4" fmla="*/ 53 w 53"/>
                                <a:gd name="T5" fmla="*/ 33 h 57"/>
                                <a:gd name="T6" fmla="*/ 0 w 53"/>
                                <a:gd name="T7" fmla="*/ 57 h 57"/>
                                <a:gd name="T8" fmla="*/ 0 w 53"/>
                                <a:gd name="T9" fmla="*/ 23 h 57"/>
                              </a:gdLst>
                              <a:ahLst/>
                              <a:cxnLst>
                                <a:cxn ang="0">
                                  <a:pos x="T0" y="T1"/>
                                </a:cxn>
                                <a:cxn ang="0">
                                  <a:pos x="T2" y="T3"/>
                                </a:cxn>
                                <a:cxn ang="0">
                                  <a:pos x="T4" y="T5"/>
                                </a:cxn>
                                <a:cxn ang="0">
                                  <a:pos x="T6" y="T7"/>
                                </a:cxn>
                                <a:cxn ang="0">
                                  <a:pos x="T8" y="T9"/>
                                </a:cxn>
                              </a:cxnLst>
                              <a:rect l="0" t="0" r="r" b="b"/>
                              <a:pathLst>
                                <a:path w="53" h="57">
                                  <a:moveTo>
                                    <a:pt x="0" y="23"/>
                                  </a:moveTo>
                                  <a:lnTo>
                                    <a:pt x="53" y="0"/>
                                  </a:lnTo>
                                  <a:lnTo>
                                    <a:pt x="53" y="33"/>
                                  </a:lnTo>
                                  <a:lnTo>
                                    <a:pt x="0" y="57"/>
                                  </a:lnTo>
                                  <a:lnTo>
                                    <a:pt x="0" y="2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81" name="Group 33"/>
                            <p:cNvGrpSpPr/>
                            <p:nvPr/>
                          </p:nvGrpSpPr>
                          <p:grpSpPr bwMode="auto">
                            <a:xfrm>
                              <a:off x="2525" y="3042"/>
                              <a:ext cx="184" cy="89"/>
                              <a:chOff x="2525" y="3042"/>
                              <a:chExt cx="184" cy="89"/>
                            </a:xfrm>
                          </p:grpSpPr>
                          <p:sp>
                            <p:nvSpPr>
                              <p:cNvPr id="642082" name="Freeform 34"/>
                              <p:cNvSpPr/>
                              <p:nvPr/>
                            </p:nvSpPr>
                            <p:spPr bwMode="auto">
                              <a:xfrm>
                                <a:off x="2570" y="3049"/>
                                <a:ext cx="12" cy="16"/>
                              </a:xfrm>
                              <a:custGeom>
                                <a:avLst/>
                                <a:gdLst>
                                  <a:gd name="T0" fmla="*/ 68 w 85"/>
                                  <a:gd name="T1" fmla="*/ 0 h 129"/>
                                  <a:gd name="T2" fmla="*/ 85 w 85"/>
                                  <a:gd name="T3" fmla="*/ 129 h 129"/>
                                  <a:gd name="T4" fmla="*/ 0 w 85"/>
                                  <a:gd name="T5" fmla="*/ 97 h 129"/>
                                  <a:gd name="T6" fmla="*/ 68 w 85"/>
                                  <a:gd name="T7" fmla="*/ 0 h 129"/>
                                </a:gdLst>
                                <a:ahLst/>
                                <a:cxnLst>
                                  <a:cxn ang="0">
                                    <a:pos x="T0" y="T1"/>
                                  </a:cxn>
                                  <a:cxn ang="0">
                                    <a:pos x="T2" y="T3"/>
                                  </a:cxn>
                                  <a:cxn ang="0">
                                    <a:pos x="T4" y="T5"/>
                                  </a:cxn>
                                  <a:cxn ang="0">
                                    <a:pos x="T6" y="T7"/>
                                  </a:cxn>
                                </a:cxnLst>
                                <a:rect l="0" t="0" r="r" b="b"/>
                                <a:pathLst>
                                  <a:path w="85" h="129">
                                    <a:moveTo>
                                      <a:pt x="68" y="0"/>
                                    </a:moveTo>
                                    <a:lnTo>
                                      <a:pt x="85" y="129"/>
                                    </a:lnTo>
                                    <a:lnTo>
                                      <a:pt x="0" y="97"/>
                                    </a:lnTo>
                                    <a:lnTo>
                                      <a:pt x="68"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3" name="Freeform 35"/>
                              <p:cNvSpPr/>
                              <p:nvPr/>
                            </p:nvSpPr>
                            <p:spPr bwMode="auto">
                              <a:xfrm>
                                <a:off x="2525" y="3079"/>
                                <a:ext cx="75" cy="46"/>
                              </a:xfrm>
                              <a:custGeom>
                                <a:avLst/>
                                <a:gdLst>
                                  <a:gd name="T0" fmla="*/ 0 w 523"/>
                                  <a:gd name="T1" fmla="*/ 21 h 367"/>
                                  <a:gd name="T2" fmla="*/ 523 w 523"/>
                                  <a:gd name="T3" fmla="*/ 367 h 367"/>
                                  <a:gd name="T4" fmla="*/ 523 w 523"/>
                                  <a:gd name="T5" fmla="*/ 316 h 367"/>
                                  <a:gd name="T6" fmla="*/ 16 w 523"/>
                                  <a:gd name="T7" fmla="*/ 0 h 367"/>
                                  <a:gd name="T8" fmla="*/ 0 w 523"/>
                                  <a:gd name="T9" fmla="*/ 21 h 367"/>
                                </a:gdLst>
                                <a:ahLst/>
                                <a:cxnLst>
                                  <a:cxn ang="0">
                                    <a:pos x="T0" y="T1"/>
                                  </a:cxn>
                                  <a:cxn ang="0">
                                    <a:pos x="T2" y="T3"/>
                                  </a:cxn>
                                  <a:cxn ang="0">
                                    <a:pos x="T4" y="T5"/>
                                  </a:cxn>
                                  <a:cxn ang="0">
                                    <a:pos x="T6" y="T7"/>
                                  </a:cxn>
                                  <a:cxn ang="0">
                                    <a:pos x="T8" y="T9"/>
                                  </a:cxn>
                                </a:cxnLst>
                                <a:rect l="0" t="0" r="r" b="b"/>
                                <a:pathLst>
                                  <a:path w="523" h="367">
                                    <a:moveTo>
                                      <a:pt x="0" y="21"/>
                                    </a:moveTo>
                                    <a:lnTo>
                                      <a:pt x="523" y="367"/>
                                    </a:lnTo>
                                    <a:lnTo>
                                      <a:pt x="523" y="316"/>
                                    </a:lnTo>
                                    <a:lnTo>
                                      <a:pt x="16" y="0"/>
                                    </a:lnTo>
                                    <a:lnTo>
                                      <a:pt x="0" y="21"/>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4" name="Freeform 36"/>
                              <p:cNvSpPr/>
                              <p:nvPr/>
                            </p:nvSpPr>
                            <p:spPr bwMode="auto">
                              <a:xfrm>
                                <a:off x="2598" y="3097"/>
                                <a:ext cx="49" cy="28"/>
                              </a:xfrm>
                              <a:custGeom>
                                <a:avLst/>
                                <a:gdLst>
                                  <a:gd name="T0" fmla="*/ 0 w 340"/>
                                  <a:gd name="T1" fmla="*/ 230 h 230"/>
                                  <a:gd name="T2" fmla="*/ 0 w 340"/>
                                  <a:gd name="T3" fmla="*/ 167 h 230"/>
                                  <a:gd name="T4" fmla="*/ 340 w 340"/>
                                  <a:gd name="T5" fmla="*/ 0 h 230"/>
                                  <a:gd name="T6" fmla="*/ 340 w 340"/>
                                  <a:gd name="T7" fmla="*/ 82 h 230"/>
                                  <a:gd name="T8" fmla="*/ 0 w 340"/>
                                  <a:gd name="T9" fmla="*/ 230 h 230"/>
                                </a:gdLst>
                                <a:ahLst/>
                                <a:cxnLst>
                                  <a:cxn ang="0">
                                    <a:pos x="T0" y="T1"/>
                                  </a:cxn>
                                  <a:cxn ang="0">
                                    <a:pos x="T2" y="T3"/>
                                  </a:cxn>
                                  <a:cxn ang="0">
                                    <a:pos x="T4" y="T5"/>
                                  </a:cxn>
                                  <a:cxn ang="0">
                                    <a:pos x="T6" y="T7"/>
                                  </a:cxn>
                                  <a:cxn ang="0">
                                    <a:pos x="T8" y="T9"/>
                                  </a:cxn>
                                </a:cxnLst>
                                <a:rect l="0" t="0" r="r" b="b"/>
                                <a:pathLst>
                                  <a:path w="340" h="230">
                                    <a:moveTo>
                                      <a:pt x="0" y="230"/>
                                    </a:moveTo>
                                    <a:lnTo>
                                      <a:pt x="0" y="167"/>
                                    </a:lnTo>
                                    <a:lnTo>
                                      <a:pt x="340" y="0"/>
                                    </a:lnTo>
                                    <a:lnTo>
                                      <a:pt x="340" y="82"/>
                                    </a:lnTo>
                                    <a:lnTo>
                                      <a:pt x="0" y="23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5" name="Freeform 37"/>
                              <p:cNvSpPr/>
                              <p:nvPr/>
                            </p:nvSpPr>
                            <p:spPr bwMode="auto">
                              <a:xfrm>
                                <a:off x="2623" y="3067"/>
                                <a:ext cx="31" cy="30"/>
                              </a:xfrm>
                              <a:custGeom>
                                <a:avLst/>
                                <a:gdLst>
                                  <a:gd name="T0" fmla="*/ 6 w 219"/>
                                  <a:gd name="T1" fmla="*/ 0 h 234"/>
                                  <a:gd name="T2" fmla="*/ 0 w 219"/>
                                  <a:gd name="T3" fmla="*/ 164 h 234"/>
                                  <a:gd name="T4" fmla="*/ 165 w 219"/>
                                  <a:gd name="T5" fmla="*/ 234 h 234"/>
                                  <a:gd name="T6" fmla="*/ 219 w 219"/>
                                  <a:gd name="T7" fmla="*/ 105 h 234"/>
                                  <a:gd name="T8" fmla="*/ 6 w 219"/>
                                  <a:gd name="T9" fmla="*/ 0 h 234"/>
                                </a:gdLst>
                                <a:ahLst/>
                                <a:cxnLst>
                                  <a:cxn ang="0">
                                    <a:pos x="T0" y="T1"/>
                                  </a:cxn>
                                  <a:cxn ang="0">
                                    <a:pos x="T2" y="T3"/>
                                  </a:cxn>
                                  <a:cxn ang="0">
                                    <a:pos x="T4" y="T5"/>
                                  </a:cxn>
                                  <a:cxn ang="0">
                                    <a:pos x="T6" y="T7"/>
                                  </a:cxn>
                                  <a:cxn ang="0">
                                    <a:pos x="T8" y="T9"/>
                                  </a:cxn>
                                </a:cxnLst>
                                <a:rect l="0" t="0" r="r" b="b"/>
                                <a:pathLst>
                                  <a:path w="219" h="234">
                                    <a:moveTo>
                                      <a:pt x="6" y="0"/>
                                    </a:moveTo>
                                    <a:lnTo>
                                      <a:pt x="0" y="164"/>
                                    </a:lnTo>
                                    <a:lnTo>
                                      <a:pt x="165" y="234"/>
                                    </a:lnTo>
                                    <a:lnTo>
                                      <a:pt x="219" y="105"/>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6" name="Freeform 38"/>
                              <p:cNvSpPr/>
                              <p:nvPr/>
                            </p:nvSpPr>
                            <p:spPr bwMode="auto">
                              <a:xfrm>
                                <a:off x="2577" y="3050"/>
                                <a:ext cx="28" cy="25"/>
                              </a:xfrm>
                              <a:custGeom>
                                <a:avLst/>
                                <a:gdLst>
                                  <a:gd name="T0" fmla="*/ 14 w 197"/>
                                  <a:gd name="T1" fmla="*/ 0 h 199"/>
                                  <a:gd name="T2" fmla="*/ 0 w 197"/>
                                  <a:gd name="T3" fmla="*/ 133 h 199"/>
                                  <a:gd name="T4" fmla="*/ 136 w 197"/>
                                  <a:gd name="T5" fmla="*/ 199 h 199"/>
                                  <a:gd name="T6" fmla="*/ 197 w 197"/>
                                  <a:gd name="T7" fmla="*/ 88 h 199"/>
                                  <a:gd name="T8" fmla="*/ 14 w 197"/>
                                  <a:gd name="T9" fmla="*/ 0 h 199"/>
                                </a:gdLst>
                                <a:ahLst/>
                                <a:cxnLst>
                                  <a:cxn ang="0">
                                    <a:pos x="T0" y="T1"/>
                                  </a:cxn>
                                  <a:cxn ang="0">
                                    <a:pos x="T2" y="T3"/>
                                  </a:cxn>
                                  <a:cxn ang="0">
                                    <a:pos x="T4" y="T5"/>
                                  </a:cxn>
                                  <a:cxn ang="0">
                                    <a:pos x="T6" y="T7"/>
                                  </a:cxn>
                                  <a:cxn ang="0">
                                    <a:pos x="T8" y="T9"/>
                                  </a:cxn>
                                </a:cxnLst>
                                <a:rect l="0" t="0" r="r" b="b"/>
                                <a:pathLst>
                                  <a:path w="197" h="199">
                                    <a:moveTo>
                                      <a:pt x="14" y="0"/>
                                    </a:moveTo>
                                    <a:lnTo>
                                      <a:pt x="0" y="133"/>
                                    </a:lnTo>
                                    <a:lnTo>
                                      <a:pt x="136" y="199"/>
                                    </a:lnTo>
                                    <a:lnTo>
                                      <a:pt x="197" y="88"/>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7" name="Freeform 39"/>
                              <p:cNvSpPr/>
                              <p:nvPr/>
                            </p:nvSpPr>
                            <p:spPr bwMode="auto">
                              <a:xfrm>
                                <a:off x="2615" y="3070"/>
                                <a:ext cx="10" cy="17"/>
                              </a:xfrm>
                              <a:custGeom>
                                <a:avLst/>
                                <a:gdLst>
                                  <a:gd name="T0" fmla="*/ 70 w 70"/>
                                  <a:gd name="T1" fmla="*/ 0 h 135"/>
                                  <a:gd name="T2" fmla="*/ 70 w 70"/>
                                  <a:gd name="T3" fmla="*/ 135 h 135"/>
                                  <a:gd name="T4" fmla="*/ 0 w 70"/>
                                  <a:gd name="T5" fmla="*/ 97 h 135"/>
                                  <a:gd name="T6" fmla="*/ 70 w 70"/>
                                  <a:gd name="T7" fmla="*/ 0 h 135"/>
                                </a:gdLst>
                                <a:ahLst/>
                                <a:cxnLst>
                                  <a:cxn ang="0">
                                    <a:pos x="T0" y="T1"/>
                                  </a:cxn>
                                  <a:cxn ang="0">
                                    <a:pos x="T2" y="T3"/>
                                  </a:cxn>
                                  <a:cxn ang="0">
                                    <a:pos x="T4" y="T5"/>
                                  </a:cxn>
                                  <a:cxn ang="0">
                                    <a:pos x="T6" y="T7"/>
                                  </a:cxn>
                                </a:cxnLst>
                                <a:rect l="0" t="0" r="r" b="b"/>
                                <a:pathLst>
                                  <a:path w="70" h="135">
                                    <a:moveTo>
                                      <a:pt x="70" y="0"/>
                                    </a:moveTo>
                                    <a:lnTo>
                                      <a:pt x="70" y="135"/>
                                    </a:lnTo>
                                    <a:lnTo>
                                      <a:pt x="0" y="97"/>
                                    </a:lnTo>
                                    <a:lnTo>
                                      <a:pt x="70"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8" name="Freeform 40"/>
                              <p:cNvSpPr/>
                              <p:nvPr/>
                            </p:nvSpPr>
                            <p:spPr bwMode="auto">
                              <a:xfrm>
                                <a:off x="2525" y="3082"/>
                                <a:ext cx="75" cy="49"/>
                              </a:xfrm>
                              <a:custGeom>
                                <a:avLst/>
                                <a:gdLst>
                                  <a:gd name="T0" fmla="*/ 523 w 523"/>
                                  <a:gd name="T1" fmla="*/ 340 h 394"/>
                                  <a:gd name="T2" fmla="*/ 523 w 523"/>
                                  <a:gd name="T3" fmla="*/ 394 h 394"/>
                                  <a:gd name="T4" fmla="*/ 0 w 523"/>
                                  <a:gd name="T5" fmla="*/ 51 h 394"/>
                                  <a:gd name="T6" fmla="*/ 0 w 523"/>
                                  <a:gd name="T7" fmla="*/ 0 h 394"/>
                                  <a:gd name="T8" fmla="*/ 523 w 523"/>
                                  <a:gd name="T9" fmla="*/ 340 h 394"/>
                                </a:gdLst>
                                <a:ahLst/>
                                <a:cxnLst>
                                  <a:cxn ang="0">
                                    <a:pos x="T0" y="T1"/>
                                  </a:cxn>
                                  <a:cxn ang="0">
                                    <a:pos x="T2" y="T3"/>
                                  </a:cxn>
                                  <a:cxn ang="0">
                                    <a:pos x="T4" y="T5"/>
                                  </a:cxn>
                                  <a:cxn ang="0">
                                    <a:pos x="T6" y="T7"/>
                                  </a:cxn>
                                  <a:cxn ang="0">
                                    <a:pos x="T8" y="T9"/>
                                  </a:cxn>
                                </a:cxnLst>
                                <a:rect l="0" t="0" r="r" b="b"/>
                                <a:pathLst>
                                  <a:path w="523" h="394">
                                    <a:moveTo>
                                      <a:pt x="523" y="340"/>
                                    </a:moveTo>
                                    <a:lnTo>
                                      <a:pt x="523" y="394"/>
                                    </a:lnTo>
                                    <a:lnTo>
                                      <a:pt x="0" y="51"/>
                                    </a:lnTo>
                                    <a:lnTo>
                                      <a:pt x="0" y="0"/>
                                    </a:lnTo>
                                    <a:lnTo>
                                      <a:pt x="523" y="34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9" name="Freeform 41"/>
                              <p:cNvSpPr/>
                              <p:nvPr/>
                            </p:nvSpPr>
                            <p:spPr bwMode="auto">
                              <a:xfrm>
                                <a:off x="2624" y="3042"/>
                                <a:ext cx="85" cy="30"/>
                              </a:xfrm>
                              <a:custGeom>
                                <a:avLst/>
                                <a:gdLst>
                                  <a:gd name="T0" fmla="*/ 0 w 589"/>
                                  <a:gd name="T1" fmla="*/ 19 h 243"/>
                                  <a:gd name="T2" fmla="*/ 503 w 589"/>
                                  <a:gd name="T3" fmla="*/ 243 h 243"/>
                                  <a:gd name="T4" fmla="*/ 589 w 589"/>
                                  <a:gd name="T5" fmla="*/ 213 h 243"/>
                                  <a:gd name="T6" fmla="*/ 104 w 589"/>
                                  <a:gd name="T7" fmla="*/ 0 h 243"/>
                                  <a:gd name="T8" fmla="*/ 0 w 589"/>
                                  <a:gd name="T9" fmla="*/ 19 h 243"/>
                                </a:gdLst>
                                <a:ahLst/>
                                <a:cxnLst>
                                  <a:cxn ang="0">
                                    <a:pos x="T0" y="T1"/>
                                  </a:cxn>
                                  <a:cxn ang="0">
                                    <a:pos x="T2" y="T3"/>
                                  </a:cxn>
                                  <a:cxn ang="0">
                                    <a:pos x="T4" y="T5"/>
                                  </a:cxn>
                                  <a:cxn ang="0">
                                    <a:pos x="T6" y="T7"/>
                                  </a:cxn>
                                  <a:cxn ang="0">
                                    <a:pos x="T8" y="T9"/>
                                  </a:cxn>
                                </a:cxnLst>
                                <a:rect l="0" t="0" r="r" b="b"/>
                                <a:pathLst>
                                  <a:path w="589" h="243">
                                    <a:moveTo>
                                      <a:pt x="0" y="19"/>
                                    </a:moveTo>
                                    <a:lnTo>
                                      <a:pt x="503" y="243"/>
                                    </a:lnTo>
                                    <a:lnTo>
                                      <a:pt x="589" y="213"/>
                                    </a:lnTo>
                                    <a:lnTo>
                                      <a:pt x="104" y="0"/>
                                    </a:lnTo>
                                    <a:lnTo>
                                      <a:pt x="0" y="1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0" name="Freeform 42"/>
                              <p:cNvSpPr/>
                              <p:nvPr/>
                            </p:nvSpPr>
                            <p:spPr bwMode="auto">
                              <a:xfrm>
                                <a:off x="2690" y="3067"/>
                                <a:ext cx="19" cy="18"/>
                              </a:xfrm>
                              <a:custGeom>
                                <a:avLst/>
                                <a:gdLst>
                                  <a:gd name="T0" fmla="*/ 131 w 131"/>
                                  <a:gd name="T1" fmla="*/ 0 h 136"/>
                                  <a:gd name="T2" fmla="*/ 37 w 131"/>
                                  <a:gd name="T3" fmla="*/ 31 h 136"/>
                                  <a:gd name="T4" fmla="*/ 0 w 131"/>
                                  <a:gd name="T5" fmla="*/ 136 h 136"/>
                                  <a:gd name="T6" fmla="*/ 131 w 131"/>
                                  <a:gd name="T7" fmla="*/ 86 h 136"/>
                                  <a:gd name="T8" fmla="*/ 131 w 131"/>
                                  <a:gd name="T9" fmla="*/ 0 h 136"/>
                                </a:gdLst>
                                <a:ahLst/>
                                <a:cxnLst>
                                  <a:cxn ang="0">
                                    <a:pos x="T0" y="T1"/>
                                  </a:cxn>
                                  <a:cxn ang="0">
                                    <a:pos x="T2" y="T3"/>
                                  </a:cxn>
                                  <a:cxn ang="0">
                                    <a:pos x="T4" y="T5"/>
                                  </a:cxn>
                                  <a:cxn ang="0">
                                    <a:pos x="T6" y="T7"/>
                                  </a:cxn>
                                  <a:cxn ang="0">
                                    <a:pos x="T8" y="T9"/>
                                  </a:cxn>
                                </a:cxnLst>
                                <a:rect l="0" t="0" r="r" b="b"/>
                                <a:pathLst>
                                  <a:path w="131" h="136">
                                    <a:moveTo>
                                      <a:pt x="131" y="0"/>
                                    </a:moveTo>
                                    <a:lnTo>
                                      <a:pt x="37" y="31"/>
                                    </a:lnTo>
                                    <a:lnTo>
                                      <a:pt x="0" y="136"/>
                                    </a:lnTo>
                                    <a:lnTo>
                                      <a:pt x="131" y="86"/>
                                    </a:lnTo>
                                    <a:lnTo>
                                      <a:pt x="1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1" name="Freeform 43"/>
                              <p:cNvSpPr/>
                              <p:nvPr/>
                            </p:nvSpPr>
                            <p:spPr bwMode="auto">
                              <a:xfrm>
                                <a:off x="2568" y="3044"/>
                                <a:ext cx="129" cy="39"/>
                              </a:xfrm>
                              <a:custGeom>
                                <a:avLst/>
                                <a:gdLst>
                                  <a:gd name="T0" fmla="*/ 402 w 898"/>
                                  <a:gd name="T1" fmla="*/ 0 h 312"/>
                                  <a:gd name="T2" fmla="*/ 53 w 898"/>
                                  <a:gd name="T3" fmla="*/ 42 h 312"/>
                                  <a:gd name="T4" fmla="*/ 0 w 898"/>
                                  <a:gd name="T5" fmla="*/ 120 h 312"/>
                                  <a:gd name="T6" fmla="*/ 12 w 898"/>
                                  <a:gd name="T7" fmla="*/ 143 h 312"/>
                                  <a:gd name="T8" fmla="*/ 73 w 898"/>
                                  <a:gd name="T9" fmla="*/ 51 h 312"/>
                                  <a:gd name="T10" fmla="*/ 232 w 898"/>
                                  <a:gd name="T11" fmla="*/ 134 h 312"/>
                                  <a:gd name="T12" fmla="*/ 175 w 898"/>
                                  <a:gd name="T13" fmla="*/ 220 h 312"/>
                                  <a:gd name="T14" fmla="*/ 337 w 898"/>
                                  <a:gd name="T15" fmla="*/ 309 h 312"/>
                                  <a:gd name="T16" fmla="*/ 396 w 898"/>
                                  <a:gd name="T17" fmla="*/ 218 h 312"/>
                                  <a:gd name="T18" fmla="*/ 576 w 898"/>
                                  <a:gd name="T19" fmla="*/ 312 h 312"/>
                                  <a:gd name="T20" fmla="*/ 898 w 898"/>
                                  <a:gd name="T21" fmla="*/ 223 h 312"/>
                                  <a:gd name="T22" fmla="*/ 402 w 898"/>
                                  <a:gd name="T23"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8" h="312">
                                    <a:moveTo>
                                      <a:pt x="402" y="0"/>
                                    </a:moveTo>
                                    <a:lnTo>
                                      <a:pt x="53" y="42"/>
                                    </a:lnTo>
                                    <a:lnTo>
                                      <a:pt x="0" y="120"/>
                                    </a:lnTo>
                                    <a:lnTo>
                                      <a:pt x="12" y="143"/>
                                    </a:lnTo>
                                    <a:lnTo>
                                      <a:pt x="73" y="51"/>
                                    </a:lnTo>
                                    <a:lnTo>
                                      <a:pt x="232" y="134"/>
                                    </a:lnTo>
                                    <a:lnTo>
                                      <a:pt x="175" y="220"/>
                                    </a:lnTo>
                                    <a:lnTo>
                                      <a:pt x="337" y="309"/>
                                    </a:lnTo>
                                    <a:lnTo>
                                      <a:pt x="396" y="218"/>
                                    </a:lnTo>
                                    <a:lnTo>
                                      <a:pt x="576" y="312"/>
                                    </a:lnTo>
                                    <a:lnTo>
                                      <a:pt x="898" y="223"/>
                                    </a:lnTo>
                                    <a:lnTo>
                                      <a:pt x="402"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2" name="Freeform 44"/>
                              <p:cNvSpPr/>
                              <p:nvPr/>
                            </p:nvSpPr>
                            <p:spPr bwMode="auto">
                              <a:xfrm>
                                <a:off x="2645" y="3071"/>
                                <a:ext cx="51" cy="25"/>
                              </a:xfrm>
                              <a:custGeom>
                                <a:avLst/>
                                <a:gdLst>
                                  <a:gd name="T0" fmla="*/ 359 w 359"/>
                                  <a:gd name="T1" fmla="*/ 0 h 198"/>
                                  <a:gd name="T2" fmla="*/ 322 w 359"/>
                                  <a:gd name="T3" fmla="*/ 104 h 198"/>
                                  <a:gd name="T4" fmla="*/ 0 w 359"/>
                                  <a:gd name="T5" fmla="*/ 198 h 198"/>
                                  <a:gd name="T6" fmla="*/ 34 w 359"/>
                                  <a:gd name="T7" fmla="*/ 91 h 198"/>
                                  <a:gd name="T8" fmla="*/ 359 w 359"/>
                                  <a:gd name="T9" fmla="*/ 0 h 198"/>
                                </a:gdLst>
                                <a:ahLst/>
                                <a:cxnLst>
                                  <a:cxn ang="0">
                                    <a:pos x="T0" y="T1"/>
                                  </a:cxn>
                                  <a:cxn ang="0">
                                    <a:pos x="T2" y="T3"/>
                                  </a:cxn>
                                  <a:cxn ang="0">
                                    <a:pos x="T4" y="T5"/>
                                  </a:cxn>
                                  <a:cxn ang="0">
                                    <a:pos x="T6" y="T7"/>
                                  </a:cxn>
                                  <a:cxn ang="0">
                                    <a:pos x="T8" y="T9"/>
                                  </a:cxn>
                                </a:cxnLst>
                                <a:rect l="0" t="0" r="r" b="b"/>
                                <a:pathLst>
                                  <a:path w="359" h="198">
                                    <a:moveTo>
                                      <a:pt x="359" y="0"/>
                                    </a:moveTo>
                                    <a:lnTo>
                                      <a:pt x="322" y="104"/>
                                    </a:lnTo>
                                    <a:lnTo>
                                      <a:pt x="0" y="198"/>
                                    </a:lnTo>
                                    <a:lnTo>
                                      <a:pt x="34" y="91"/>
                                    </a:lnTo>
                                    <a:lnTo>
                                      <a:pt x="359" y="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3" name="Freeform 45"/>
                              <p:cNvSpPr/>
                              <p:nvPr/>
                            </p:nvSpPr>
                            <p:spPr bwMode="auto">
                              <a:xfrm>
                                <a:off x="2645" y="3083"/>
                                <a:ext cx="47" cy="18"/>
                              </a:xfrm>
                              <a:custGeom>
                                <a:avLst/>
                                <a:gdLst>
                                  <a:gd name="T0" fmla="*/ 0 w 326"/>
                                  <a:gd name="T1" fmla="*/ 96 h 142"/>
                                  <a:gd name="T2" fmla="*/ 0 w 326"/>
                                  <a:gd name="T3" fmla="*/ 142 h 142"/>
                                  <a:gd name="T4" fmla="*/ 326 w 326"/>
                                  <a:gd name="T5" fmla="*/ 0 h 142"/>
                                  <a:gd name="T6" fmla="*/ 0 w 326"/>
                                  <a:gd name="T7" fmla="*/ 96 h 142"/>
                                </a:gdLst>
                                <a:ahLst/>
                                <a:cxnLst>
                                  <a:cxn ang="0">
                                    <a:pos x="T0" y="T1"/>
                                  </a:cxn>
                                  <a:cxn ang="0">
                                    <a:pos x="T2" y="T3"/>
                                  </a:cxn>
                                  <a:cxn ang="0">
                                    <a:pos x="T4" y="T5"/>
                                  </a:cxn>
                                  <a:cxn ang="0">
                                    <a:pos x="T6" y="T7"/>
                                  </a:cxn>
                                </a:cxnLst>
                                <a:rect l="0" t="0" r="r" b="b"/>
                                <a:pathLst>
                                  <a:path w="326" h="142">
                                    <a:moveTo>
                                      <a:pt x="0" y="96"/>
                                    </a:moveTo>
                                    <a:lnTo>
                                      <a:pt x="0" y="142"/>
                                    </a:lnTo>
                                    <a:lnTo>
                                      <a:pt x="326" y="0"/>
                                    </a:lnTo>
                                    <a:lnTo>
                                      <a:pt x="0" y="96"/>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4" name="Freeform 46"/>
                              <p:cNvSpPr/>
                              <p:nvPr/>
                            </p:nvSpPr>
                            <p:spPr bwMode="auto">
                              <a:xfrm>
                                <a:off x="2527" y="3063"/>
                                <a:ext cx="119" cy="56"/>
                              </a:xfrm>
                              <a:custGeom>
                                <a:avLst/>
                                <a:gdLst>
                                  <a:gd name="T0" fmla="*/ 0 w 836"/>
                                  <a:gd name="T1" fmla="*/ 136 h 453"/>
                                  <a:gd name="T2" fmla="*/ 506 w 836"/>
                                  <a:gd name="T3" fmla="*/ 453 h 453"/>
                                  <a:gd name="T4" fmla="*/ 810 w 836"/>
                                  <a:gd name="T5" fmla="*/ 273 h 453"/>
                                  <a:gd name="T6" fmla="*/ 836 w 836"/>
                                  <a:gd name="T7" fmla="*/ 262 h 453"/>
                                  <a:gd name="T8" fmla="*/ 351 w 836"/>
                                  <a:gd name="T9" fmla="*/ 0 h 453"/>
                                  <a:gd name="T10" fmla="*/ 0 w 836"/>
                                  <a:gd name="T11" fmla="*/ 136 h 453"/>
                                </a:gdLst>
                                <a:ahLst/>
                                <a:cxnLst>
                                  <a:cxn ang="0">
                                    <a:pos x="T0" y="T1"/>
                                  </a:cxn>
                                  <a:cxn ang="0">
                                    <a:pos x="T2" y="T3"/>
                                  </a:cxn>
                                  <a:cxn ang="0">
                                    <a:pos x="T4" y="T5"/>
                                  </a:cxn>
                                  <a:cxn ang="0">
                                    <a:pos x="T6" y="T7"/>
                                  </a:cxn>
                                  <a:cxn ang="0">
                                    <a:pos x="T8" y="T9"/>
                                  </a:cxn>
                                  <a:cxn ang="0">
                                    <a:pos x="T10" y="T11"/>
                                  </a:cxn>
                                </a:cxnLst>
                                <a:rect l="0" t="0" r="r" b="b"/>
                                <a:pathLst>
                                  <a:path w="836" h="453">
                                    <a:moveTo>
                                      <a:pt x="0" y="136"/>
                                    </a:moveTo>
                                    <a:lnTo>
                                      <a:pt x="506" y="453"/>
                                    </a:lnTo>
                                    <a:lnTo>
                                      <a:pt x="810" y="273"/>
                                    </a:lnTo>
                                    <a:lnTo>
                                      <a:pt x="836" y="262"/>
                                    </a:lnTo>
                                    <a:lnTo>
                                      <a:pt x="351" y="0"/>
                                    </a:lnTo>
                                    <a:lnTo>
                                      <a:pt x="0" y="136"/>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5" name="Freeform 47"/>
                              <p:cNvSpPr/>
                              <p:nvPr/>
                            </p:nvSpPr>
                            <p:spPr bwMode="auto">
                              <a:xfrm>
                                <a:off x="2598" y="3094"/>
                                <a:ext cx="48" cy="25"/>
                              </a:xfrm>
                              <a:custGeom>
                                <a:avLst/>
                                <a:gdLst>
                                  <a:gd name="T0" fmla="*/ 0 w 336"/>
                                  <a:gd name="T1" fmla="*/ 197 h 197"/>
                                  <a:gd name="T2" fmla="*/ 308 w 336"/>
                                  <a:gd name="T3" fmla="*/ 11 h 197"/>
                                  <a:gd name="T4" fmla="*/ 336 w 336"/>
                                  <a:gd name="T5" fmla="*/ 0 h 197"/>
                                  <a:gd name="T6" fmla="*/ 336 w 336"/>
                                  <a:gd name="T7" fmla="*/ 22 h 197"/>
                                  <a:gd name="T8" fmla="*/ 0 w 336"/>
                                  <a:gd name="T9" fmla="*/ 197 h 197"/>
                                </a:gdLst>
                                <a:ahLst/>
                                <a:cxnLst>
                                  <a:cxn ang="0">
                                    <a:pos x="T0" y="T1"/>
                                  </a:cxn>
                                  <a:cxn ang="0">
                                    <a:pos x="T2" y="T3"/>
                                  </a:cxn>
                                  <a:cxn ang="0">
                                    <a:pos x="T4" y="T5"/>
                                  </a:cxn>
                                  <a:cxn ang="0">
                                    <a:pos x="T6" y="T7"/>
                                  </a:cxn>
                                  <a:cxn ang="0">
                                    <a:pos x="T8" y="T9"/>
                                  </a:cxn>
                                </a:cxnLst>
                                <a:rect l="0" t="0" r="r" b="b"/>
                                <a:pathLst>
                                  <a:path w="336" h="197">
                                    <a:moveTo>
                                      <a:pt x="0" y="197"/>
                                    </a:moveTo>
                                    <a:lnTo>
                                      <a:pt x="308" y="11"/>
                                    </a:lnTo>
                                    <a:lnTo>
                                      <a:pt x="336" y="0"/>
                                    </a:lnTo>
                                    <a:lnTo>
                                      <a:pt x="336" y="22"/>
                                    </a:lnTo>
                                    <a:lnTo>
                                      <a:pt x="0" y="197"/>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096" name="Line 48"/>
                            <p:cNvSpPr>
                              <a:spLocks noChangeShapeType="1"/>
                            </p:cNvSpPr>
                            <p:nvPr/>
                          </p:nvSpPr>
                          <p:spPr bwMode="auto">
                            <a:xfrm>
                              <a:off x="2598" y="3068"/>
                              <a:ext cx="20" cy="10"/>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42097" name="Group 49"/>
                        <p:cNvGrpSpPr/>
                        <p:nvPr/>
                      </p:nvGrpSpPr>
                      <p:grpSpPr bwMode="auto">
                        <a:xfrm>
                          <a:off x="2533" y="3064"/>
                          <a:ext cx="107" cy="50"/>
                          <a:chOff x="2533" y="3064"/>
                          <a:chExt cx="107" cy="50"/>
                        </a:xfrm>
                      </p:grpSpPr>
                      <p:grpSp>
                        <p:nvGrpSpPr>
                          <p:cNvPr id="642098" name="Group 50"/>
                          <p:cNvGrpSpPr/>
                          <p:nvPr/>
                        </p:nvGrpSpPr>
                        <p:grpSpPr bwMode="auto">
                          <a:xfrm>
                            <a:off x="2533" y="3065"/>
                            <a:ext cx="107" cy="49"/>
                            <a:chOff x="2533" y="3065"/>
                            <a:chExt cx="107" cy="49"/>
                          </a:xfrm>
                        </p:grpSpPr>
                        <p:sp>
                          <p:nvSpPr>
                            <p:cNvPr id="642099" name="Freeform 51"/>
                            <p:cNvSpPr/>
                            <p:nvPr/>
                          </p:nvSpPr>
                          <p:spPr bwMode="auto">
                            <a:xfrm>
                              <a:off x="2558" y="3085"/>
                              <a:ext cx="29" cy="16"/>
                            </a:xfrm>
                            <a:custGeom>
                              <a:avLst/>
                              <a:gdLst>
                                <a:gd name="T0" fmla="*/ 35 w 202"/>
                                <a:gd name="T1" fmla="*/ 0 h 121"/>
                                <a:gd name="T2" fmla="*/ 202 w 202"/>
                                <a:gd name="T3" fmla="*/ 104 h 121"/>
                                <a:gd name="T4" fmla="*/ 167 w 202"/>
                                <a:gd name="T5" fmla="*/ 121 h 121"/>
                                <a:gd name="T6" fmla="*/ 0 w 202"/>
                                <a:gd name="T7" fmla="*/ 17 h 121"/>
                                <a:gd name="T8" fmla="*/ 35 w 202"/>
                                <a:gd name="T9" fmla="*/ 0 h 121"/>
                              </a:gdLst>
                              <a:ahLst/>
                              <a:cxnLst>
                                <a:cxn ang="0">
                                  <a:pos x="T0" y="T1"/>
                                </a:cxn>
                                <a:cxn ang="0">
                                  <a:pos x="T2" y="T3"/>
                                </a:cxn>
                                <a:cxn ang="0">
                                  <a:pos x="T4" y="T5"/>
                                </a:cxn>
                                <a:cxn ang="0">
                                  <a:pos x="T6" y="T7"/>
                                </a:cxn>
                                <a:cxn ang="0">
                                  <a:pos x="T8" y="T9"/>
                                </a:cxn>
                              </a:cxnLst>
                              <a:rect l="0" t="0" r="r" b="b"/>
                              <a:pathLst>
                                <a:path w="202" h="121">
                                  <a:moveTo>
                                    <a:pt x="35" y="0"/>
                                  </a:moveTo>
                                  <a:lnTo>
                                    <a:pt x="202" y="104"/>
                                  </a:lnTo>
                                  <a:lnTo>
                                    <a:pt x="167" y="121"/>
                                  </a:lnTo>
                                  <a:lnTo>
                                    <a:pt x="0" y="17"/>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0" name="Freeform 52"/>
                            <p:cNvSpPr/>
                            <p:nvPr/>
                          </p:nvSpPr>
                          <p:spPr bwMode="auto">
                            <a:xfrm>
                              <a:off x="2582" y="3098"/>
                              <a:ext cx="14" cy="7"/>
                            </a:xfrm>
                            <a:custGeom>
                              <a:avLst/>
                              <a:gdLst>
                                <a:gd name="T0" fmla="*/ 37 w 98"/>
                                <a:gd name="T1" fmla="*/ 0 h 60"/>
                                <a:gd name="T2" fmla="*/ 98 w 98"/>
                                <a:gd name="T3" fmla="*/ 38 h 60"/>
                                <a:gd name="T4" fmla="*/ 64 w 98"/>
                                <a:gd name="T5" fmla="*/ 60 h 60"/>
                                <a:gd name="T6" fmla="*/ 0 w 98"/>
                                <a:gd name="T7" fmla="*/ 17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38"/>
                                  </a:lnTo>
                                  <a:lnTo>
                                    <a:pt x="64" y="60"/>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1" name="Freeform 53"/>
                            <p:cNvSpPr/>
                            <p:nvPr/>
                          </p:nvSpPr>
                          <p:spPr bwMode="auto">
                            <a:xfrm>
                              <a:off x="2587" y="3102"/>
                              <a:ext cx="15" cy="8"/>
                            </a:xfrm>
                            <a:custGeom>
                              <a:avLst/>
                              <a:gdLst>
                                <a:gd name="T0" fmla="*/ 63 w 107"/>
                                <a:gd name="T1" fmla="*/ 0 h 64"/>
                                <a:gd name="T2" fmla="*/ 107 w 107"/>
                                <a:gd name="T3" fmla="*/ 30 h 64"/>
                                <a:gd name="T4" fmla="*/ 70 w 107"/>
                                <a:gd name="T5" fmla="*/ 54 h 64"/>
                                <a:gd name="T6" fmla="*/ 64 w 107"/>
                                <a:gd name="T7" fmla="*/ 47 h 64"/>
                                <a:gd name="T8" fmla="*/ 39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30"/>
                                  </a:lnTo>
                                  <a:lnTo>
                                    <a:pt x="70" y="54"/>
                                  </a:lnTo>
                                  <a:lnTo>
                                    <a:pt x="64" y="47"/>
                                  </a:lnTo>
                                  <a:lnTo>
                                    <a:pt x="39" y="64"/>
                                  </a:lnTo>
                                  <a:lnTo>
                                    <a:pt x="0" y="38"/>
                                  </a:lnTo>
                                  <a:lnTo>
                                    <a:pt x="6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2" name="Freeform 54"/>
                            <p:cNvSpPr/>
                            <p:nvPr/>
                          </p:nvSpPr>
                          <p:spPr bwMode="auto">
                            <a:xfrm>
                              <a:off x="2597" y="3106"/>
                              <a:ext cx="15" cy="8"/>
                            </a:xfrm>
                            <a:custGeom>
                              <a:avLst/>
                              <a:gdLst>
                                <a:gd name="T0" fmla="*/ 35 w 103"/>
                                <a:gd name="T1" fmla="*/ 0 h 65"/>
                                <a:gd name="T2" fmla="*/ 103 w 103"/>
                                <a:gd name="T3" fmla="*/ 45 h 65"/>
                                <a:gd name="T4" fmla="*/ 66 w 103"/>
                                <a:gd name="T5" fmla="*/ 65 h 65"/>
                                <a:gd name="T6" fmla="*/ 0 w 103"/>
                                <a:gd name="T7" fmla="*/ 21 h 65"/>
                                <a:gd name="T8" fmla="*/ 35 w 103"/>
                                <a:gd name="T9" fmla="*/ 0 h 65"/>
                              </a:gdLst>
                              <a:ahLst/>
                              <a:cxnLst>
                                <a:cxn ang="0">
                                  <a:pos x="T0" y="T1"/>
                                </a:cxn>
                                <a:cxn ang="0">
                                  <a:pos x="T2" y="T3"/>
                                </a:cxn>
                                <a:cxn ang="0">
                                  <a:pos x="T4" y="T5"/>
                                </a:cxn>
                                <a:cxn ang="0">
                                  <a:pos x="T6" y="T7"/>
                                </a:cxn>
                                <a:cxn ang="0">
                                  <a:pos x="T8" y="T9"/>
                                </a:cxn>
                              </a:cxnLst>
                              <a:rect l="0" t="0" r="r" b="b"/>
                              <a:pathLst>
                                <a:path w="103" h="65">
                                  <a:moveTo>
                                    <a:pt x="35" y="0"/>
                                  </a:moveTo>
                                  <a:lnTo>
                                    <a:pt x="103" y="45"/>
                                  </a:lnTo>
                                  <a:lnTo>
                                    <a:pt x="66" y="65"/>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3" name="Freeform 55"/>
                            <p:cNvSpPr/>
                            <p:nvPr/>
                          </p:nvSpPr>
                          <p:spPr bwMode="auto">
                            <a:xfrm>
                              <a:off x="2551" y="3081"/>
                              <a:ext cx="12" cy="7"/>
                            </a:xfrm>
                            <a:custGeom>
                              <a:avLst/>
                              <a:gdLst>
                                <a:gd name="T0" fmla="*/ 34 w 86"/>
                                <a:gd name="T1" fmla="*/ 0 h 52"/>
                                <a:gd name="T2" fmla="*/ 86 w 86"/>
                                <a:gd name="T3" fmla="*/ 34 h 52"/>
                                <a:gd name="T4" fmla="*/ 50 w 86"/>
                                <a:gd name="T5" fmla="*/ 52 h 52"/>
                                <a:gd name="T6" fmla="*/ 0 w 86"/>
                                <a:gd name="T7" fmla="*/ 19 h 52"/>
                                <a:gd name="T8" fmla="*/ 34 w 86"/>
                                <a:gd name="T9" fmla="*/ 0 h 52"/>
                              </a:gdLst>
                              <a:ahLst/>
                              <a:cxnLst>
                                <a:cxn ang="0">
                                  <a:pos x="T0" y="T1"/>
                                </a:cxn>
                                <a:cxn ang="0">
                                  <a:pos x="T2" y="T3"/>
                                </a:cxn>
                                <a:cxn ang="0">
                                  <a:pos x="T4" y="T5"/>
                                </a:cxn>
                                <a:cxn ang="0">
                                  <a:pos x="T6" y="T7"/>
                                </a:cxn>
                                <a:cxn ang="0">
                                  <a:pos x="T8" y="T9"/>
                                </a:cxn>
                              </a:cxnLst>
                              <a:rect l="0" t="0" r="r" b="b"/>
                              <a:pathLst>
                                <a:path w="86" h="52">
                                  <a:moveTo>
                                    <a:pt x="34" y="0"/>
                                  </a:moveTo>
                                  <a:lnTo>
                                    <a:pt x="86" y="34"/>
                                  </a:lnTo>
                                  <a:lnTo>
                                    <a:pt x="50" y="52"/>
                                  </a:lnTo>
                                  <a:lnTo>
                                    <a:pt x="0" y="19"/>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4" name="Freeform 56"/>
                            <p:cNvSpPr/>
                            <p:nvPr/>
                          </p:nvSpPr>
                          <p:spPr bwMode="auto">
                            <a:xfrm>
                              <a:off x="2542" y="3077"/>
                              <a:ext cx="11" cy="5"/>
                            </a:xfrm>
                            <a:custGeom>
                              <a:avLst/>
                              <a:gdLst>
                                <a:gd name="T0" fmla="*/ 39 w 78"/>
                                <a:gd name="T1" fmla="*/ 0 h 45"/>
                                <a:gd name="T2" fmla="*/ 78 w 78"/>
                                <a:gd name="T3" fmla="*/ 25 h 45"/>
                                <a:gd name="T4" fmla="*/ 39 w 78"/>
                                <a:gd name="T5" fmla="*/ 45 h 45"/>
                                <a:gd name="T6" fmla="*/ 0 w 78"/>
                                <a:gd name="T7" fmla="*/ 19 h 45"/>
                                <a:gd name="T8" fmla="*/ 39 w 78"/>
                                <a:gd name="T9" fmla="*/ 0 h 45"/>
                              </a:gdLst>
                              <a:ahLst/>
                              <a:cxnLst>
                                <a:cxn ang="0">
                                  <a:pos x="T0" y="T1"/>
                                </a:cxn>
                                <a:cxn ang="0">
                                  <a:pos x="T2" y="T3"/>
                                </a:cxn>
                                <a:cxn ang="0">
                                  <a:pos x="T4" y="T5"/>
                                </a:cxn>
                                <a:cxn ang="0">
                                  <a:pos x="T6" y="T7"/>
                                </a:cxn>
                                <a:cxn ang="0">
                                  <a:pos x="T8" y="T9"/>
                                </a:cxn>
                              </a:cxnLst>
                              <a:rect l="0" t="0" r="r" b="b"/>
                              <a:pathLst>
                                <a:path w="78" h="45">
                                  <a:moveTo>
                                    <a:pt x="39" y="0"/>
                                  </a:moveTo>
                                  <a:lnTo>
                                    <a:pt x="78" y="25"/>
                                  </a:lnTo>
                                  <a:lnTo>
                                    <a:pt x="39" y="45"/>
                                  </a:lnTo>
                                  <a:lnTo>
                                    <a:pt x="0" y="19"/>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5" name="Freeform 57"/>
                            <p:cNvSpPr/>
                            <p:nvPr/>
                          </p:nvSpPr>
                          <p:spPr bwMode="auto">
                            <a:xfrm>
                              <a:off x="2536" y="3079"/>
                              <a:ext cx="10" cy="6"/>
                            </a:xfrm>
                            <a:custGeom>
                              <a:avLst/>
                              <a:gdLst>
                                <a:gd name="T0" fmla="*/ 36 w 72"/>
                                <a:gd name="T1" fmla="*/ 0 h 42"/>
                                <a:gd name="T2" fmla="*/ 72 w 72"/>
                                <a:gd name="T3" fmla="*/ 25 h 42"/>
                                <a:gd name="T4" fmla="*/ 35 w 72"/>
                                <a:gd name="T5" fmla="*/ 42 h 42"/>
                                <a:gd name="T6" fmla="*/ 0 w 72"/>
                                <a:gd name="T7" fmla="*/ 15 h 42"/>
                                <a:gd name="T8" fmla="*/ 36 w 72"/>
                                <a:gd name="T9" fmla="*/ 0 h 42"/>
                              </a:gdLst>
                              <a:ahLst/>
                              <a:cxnLst>
                                <a:cxn ang="0">
                                  <a:pos x="T0" y="T1"/>
                                </a:cxn>
                                <a:cxn ang="0">
                                  <a:pos x="T2" y="T3"/>
                                </a:cxn>
                                <a:cxn ang="0">
                                  <a:pos x="T4" y="T5"/>
                                </a:cxn>
                                <a:cxn ang="0">
                                  <a:pos x="T6" y="T7"/>
                                </a:cxn>
                                <a:cxn ang="0">
                                  <a:pos x="T8" y="T9"/>
                                </a:cxn>
                              </a:cxnLst>
                              <a:rect l="0" t="0" r="r" b="b"/>
                              <a:pathLst>
                                <a:path w="72" h="42">
                                  <a:moveTo>
                                    <a:pt x="36" y="0"/>
                                  </a:moveTo>
                                  <a:lnTo>
                                    <a:pt x="72" y="25"/>
                                  </a:lnTo>
                                  <a:lnTo>
                                    <a:pt x="35" y="42"/>
                                  </a:lnTo>
                                  <a:lnTo>
                                    <a:pt x="0" y="15"/>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6" name="Freeform 58"/>
                            <p:cNvSpPr/>
                            <p:nvPr/>
                          </p:nvSpPr>
                          <p:spPr bwMode="auto">
                            <a:xfrm>
                              <a:off x="2541" y="3082"/>
                              <a:ext cx="9" cy="5"/>
                            </a:xfrm>
                            <a:custGeom>
                              <a:avLst/>
                              <a:gdLst>
                                <a:gd name="T0" fmla="*/ 36 w 63"/>
                                <a:gd name="T1" fmla="*/ 0 h 41"/>
                                <a:gd name="T2" fmla="*/ 63 w 63"/>
                                <a:gd name="T3" fmla="*/ 21 h 41"/>
                                <a:gd name="T4" fmla="*/ 32 w 63"/>
                                <a:gd name="T5" fmla="*/ 41 h 41"/>
                                <a:gd name="T6" fmla="*/ 0 w 63"/>
                                <a:gd name="T7" fmla="*/ 19 h 41"/>
                                <a:gd name="T8" fmla="*/ 36 w 63"/>
                                <a:gd name="T9" fmla="*/ 0 h 41"/>
                              </a:gdLst>
                              <a:ahLst/>
                              <a:cxnLst>
                                <a:cxn ang="0">
                                  <a:pos x="T0" y="T1"/>
                                </a:cxn>
                                <a:cxn ang="0">
                                  <a:pos x="T2" y="T3"/>
                                </a:cxn>
                                <a:cxn ang="0">
                                  <a:pos x="T4" y="T5"/>
                                </a:cxn>
                                <a:cxn ang="0">
                                  <a:pos x="T6" y="T7"/>
                                </a:cxn>
                                <a:cxn ang="0">
                                  <a:pos x="T8" y="T9"/>
                                </a:cxn>
                              </a:cxnLst>
                              <a:rect l="0" t="0" r="r" b="b"/>
                              <a:pathLst>
                                <a:path w="63" h="41">
                                  <a:moveTo>
                                    <a:pt x="36" y="0"/>
                                  </a:moveTo>
                                  <a:lnTo>
                                    <a:pt x="63" y="21"/>
                                  </a:lnTo>
                                  <a:lnTo>
                                    <a:pt x="32" y="41"/>
                                  </a:lnTo>
                                  <a:lnTo>
                                    <a:pt x="0" y="19"/>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7" name="Freeform 59"/>
                            <p:cNvSpPr/>
                            <p:nvPr/>
                          </p:nvSpPr>
                          <p:spPr bwMode="auto">
                            <a:xfrm>
                              <a:off x="2533" y="3078"/>
                              <a:ext cx="8" cy="4"/>
                            </a:xfrm>
                            <a:custGeom>
                              <a:avLst/>
                              <a:gdLst>
                                <a:gd name="T0" fmla="*/ 37 w 58"/>
                                <a:gd name="T1" fmla="*/ 0 h 33"/>
                                <a:gd name="T2" fmla="*/ 58 w 58"/>
                                <a:gd name="T3" fmla="*/ 16 h 33"/>
                                <a:gd name="T4" fmla="*/ 21 w 58"/>
                                <a:gd name="T5" fmla="*/ 33 h 33"/>
                                <a:gd name="T6" fmla="*/ 0 w 58"/>
                                <a:gd name="T7" fmla="*/ 17 h 33"/>
                                <a:gd name="T8" fmla="*/ 37 w 58"/>
                                <a:gd name="T9" fmla="*/ 0 h 33"/>
                              </a:gdLst>
                              <a:ahLst/>
                              <a:cxnLst>
                                <a:cxn ang="0">
                                  <a:pos x="T0" y="T1"/>
                                </a:cxn>
                                <a:cxn ang="0">
                                  <a:pos x="T2" y="T3"/>
                                </a:cxn>
                                <a:cxn ang="0">
                                  <a:pos x="T4" y="T5"/>
                                </a:cxn>
                                <a:cxn ang="0">
                                  <a:pos x="T6" y="T7"/>
                                </a:cxn>
                                <a:cxn ang="0">
                                  <a:pos x="T8" y="T9"/>
                                </a:cxn>
                              </a:cxnLst>
                              <a:rect l="0" t="0" r="r" b="b"/>
                              <a:pathLst>
                                <a:path w="58" h="33">
                                  <a:moveTo>
                                    <a:pt x="37" y="0"/>
                                  </a:moveTo>
                                  <a:lnTo>
                                    <a:pt x="58" y="16"/>
                                  </a:lnTo>
                                  <a:lnTo>
                                    <a:pt x="21" y="33"/>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8" name="Freeform 60"/>
                            <p:cNvSpPr/>
                            <p:nvPr/>
                          </p:nvSpPr>
                          <p:spPr bwMode="auto">
                            <a:xfrm>
                              <a:off x="2603" y="3103"/>
                              <a:ext cx="15" cy="8"/>
                            </a:xfrm>
                            <a:custGeom>
                              <a:avLst/>
                              <a:gdLst>
                                <a:gd name="T0" fmla="*/ 34 w 102"/>
                                <a:gd name="T1" fmla="*/ 0 h 64"/>
                                <a:gd name="T2" fmla="*/ 102 w 102"/>
                                <a:gd name="T3" fmla="*/ 42 h 64"/>
                                <a:gd name="T4" fmla="*/ 66 w 102"/>
                                <a:gd name="T5" fmla="*/ 64 h 64"/>
                                <a:gd name="T6" fmla="*/ 0 w 102"/>
                                <a:gd name="T7" fmla="*/ 22 h 64"/>
                                <a:gd name="T8" fmla="*/ 34 w 102"/>
                                <a:gd name="T9" fmla="*/ 0 h 64"/>
                              </a:gdLst>
                              <a:ahLst/>
                              <a:cxnLst>
                                <a:cxn ang="0">
                                  <a:pos x="T0" y="T1"/>
                                </a:cxn>
                                <a:cxn ang="0">
                                  <a:pos x="T2" y="T3"/>
                                </a:cxn>
                                <a:cxn ang="0">
                                  <a:pos x="T4" y="T5"/>
                                </a:cxn>
                                <a:cxn ang="0">
                                  <a:pos x="T6" y="T7"/>
                                </a:cxn>
                                <a:cxn ang="0">
                                  <a:pos x="T8" y="T9"/>
                                </a:cxn>
                              </a:cxnLst>
                              <a:rect l="0" t="0" r="r" b="b"/>
                              <a:pathLst>
                                <a:path w="102" h="64">
                                  <a:moveTo>
                                    <a:pt x="34" y="0"/>
                                  </a:moveTo>
                                  <a:lnTo>
                                    <a:pt x="102" y="42"/>
                                  </a:lnTo>
                                  <a:lnTo>
                                    <a:pt x="66" y="64"/>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9" name="Freeform 61"/>
                            <p:cNvSpPr/>
                            <p:nvPr/>
                          </p:nvSpPr>
                          <p:spPr bwMode="auto">
                            <a:xfrm>
                              <a:off x="2609" y="3100"/>
                              <a:ext cx="15" cy="8"/>
                            </a:xfrm>
                            <a:custGeom>
                              <a:avLst/>
                              <a:gdLst>
                                <a:gd name="T0" fmla="*/ 34 w 101"/>
                                <a:gd name="T1" fmla="*/ 0 h 63"/>
                                <a:gd name="T2" fmla="*/ 101 w 101"/>
                                <a:gd name="T3" fmla="*/ 43 h 63"/>
                                <a:gd name="T4" fmla="*/ 66 w 101"/>
                                <a:gd name="T5" fmla="*/ 63 h 63"/>
                                <a:gd name="T6" fmla="*/ 0 w 101"/>
                                <a:gd name="T7" fmla="*/ 21 h 63"/>
                                <a:gd name="T8" fmla="*/ 34 w 101"/>
                                <a:gd name="T9" fmla="*/ 0 h 63"/>
                              </a:gdLst>
                              <a:ahLst/>
                              <a:cxnLst>
                                <a:cxn ang="0">
                                  <a:pos x="T0" y="T1"/>
                                </a:cxn>
                                <a:cxn ang="0">
                                  <a:pos x="T2" y="T3"/>
                                </a:cxn>
                                <a:cxn ang="0">
                                  <a:pos x="T4" y="T5"/>
                                </a:cxn>
                                <a:cxn ang="0">
                                  <a:pos x="T6" y="T7"/>
                                </a:cxn>
                                <a:cxn ang="0">
                                  <a:pos x="T8" y="T9"/>
                                </a:cxn>
                              </a:cxnLst>
                              <a:rect l="0" t="0" r="r" b="b"/>
                              <a:pathLst>
                                <a:path w="101" h="63">
                                  <a:moveTo>
                                    <a:pt x="34" y="0"/>
                                  </a:moveTo>
                                  <a:lnTo>
                                    <a:pt x="101" y="43"/>
                                  </a:lnTo>
                                  <a:lnTo>
                                    <a:pt x="66" y="63"/>
                                  </a:lnTo>
                                  <a:lnTo>
                                    <a:pt x="0" y="21"/>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0" name="Freeform 62"/>
                            <p:cNvSpPr/>
                            <p:nvPr/>
                          </p:nvSpPr>
                          <p:spPr bwMode="auto">
                            <a:xfrm>
                              <a:off x="2615" y="3097"/>
                              <a:ext cx="15" cy="8"/>
                            </a:xfrm>
                            <a:custGeom>
                              <a:avLst/>
                              <a:gdLst>
                                <a:gd name="T0" fmla="*/ 31 w 102"/>
                                <a:gd name="T1" fmla="*/ 0 h 61"/>
                                <a:gd name="T2" fmla="*/ 102 w 102"/>
                                <a:gd name="T3" fmla="*/ 42 h 61"/>
                                <a:gd name="T4" fmla="*/ 65 w 102"/>
                                <a:gd name="T5" fmla="*/ 61 h 61"/>
                                <a:gd name="T6" fmla="*/ 0 w 102"/>
                                <a:gd name="T7" fmla="*/ 21 h 61"/>
                                <a:gd name="T8" fmla="*/ 31 w 102"/>
                                <a:gd name="T9" fmla="*/ 0 h 61"/>
                              </a:gdLst>
                              <a:ahLst/>
                              <a:cxnLst>
                                <a:cxn ang="0">
                                  <a:pos x="T0" y="T1"/>
                                </a:cxn>
                                <a:cxn ang="0">
                                  <a:pos x="T2" y="T3"/>
                                </a:cxn>
                                <a:cxn ang="0">
                                  <a:pos x="T4" y="T5"/>
                                </a:cxn>
                                <a:cxn ang="0">
                                  <a:pos x="T6" y="T7"/>
                                </a:cxn>
                                <a:cxn ang="0">
                                  <a:pos x="T8" y="T9"/>
                                </a:cxn>
                              </a:cxnLst>
                              <a:rect l="0" t="0" r="r" b="b"/>
                              <a:pathLst>
                                <a:path w="102" h="61">
                                  <a:moveTo>
                                    <a:pt x="31" y="0"/>
                                  </a:moveTo>
                                  <a:lnTo>
                                    <a:pt x="102" y="42"/>
                                  </a:lnTo>
                                  <a:lnTo>
                                    <a:pt x="65" y="61"/>
                                  </a:lnTo>
                                  <a:lnTo>
                                    <a:pt x="0" y="21"/>
                                  </a:lnTo>
                                  <a:lnTo>
                                    <a:pt x="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1" name="Freeform 63"/>
                            <p:cNvSpPr/>
                            <p:nvPr/>
                          </p:nvSpPr>
                          <p:spPr bwMode="auto">
                            <a:xfrm>
                              <a:off x="2598" y="3100"/>
                              <a:ext cx="10" cy="6"/>
                            </a:xfrm>
                            <a:custGeom>
                              <a:avLst/>
                              <a:gdLst>
                                <a:gd name="T0" fmla="*/ 38 w 71"/>
                                <a:gd name="T1" fmla="*/ 0 h 45"/>
                                <a:gd name="T2" fmla="*/ 71 w 71"/>
                                <a:gd name="T3" fmla="*/ 22 h 45"/>
                                <a:gd name="T4" fmla="*/ 35 w 71"/>
                                <a:gd name="T5" fmla="*/ 45 h 45"/>
                                <a:gd name="T6" fmla="*/ 0 w 71"/>
                                <a:gd name="T7" fmla="*/ 22 h 45"/>
                                <a:gd name="T8" fmla="*/ 38 w 71"/>
                                <a:gd name="T9" fmla="*/ 0 h 45"/>
                              </a:gdLst>
                              <a:ahLst/>
                              <a:cxnLst>
                                <a:cxn ang="0">
                                  <a:pos x="T0" y="T1"/>
                                </a:cxn>
                                <a:cxn ang="0">
                                  <a:pos x="T2" y="T3"/>
                                </a:cxn>
                                <a:cxn ang="0">
                                  <a:pos x="T4" y="T5"/>
                                </a:cxn>
                                <a:cxn ang="0">
                                  <a:pos x="T6" y="T7"/>
                                </a:cxn>
                                <a:cxn ang="0">
                                  <a:pos x="T8" y="T9"/>
                                </a:cxn>
                              </a:cxnLst>
                              <a:rect l="0" t="0" r="r" b="b"/>
                              <a:pathLst>
                                <a:path w="71" h="45">
                                  <a:moveTo>
                                    <a:pt x="38" y="0"/>
                                  </a:moveTo>
                                  <a:lnTo>
                                    <a:pt x="71" y="22"/>
                                  </a:lnTo>
                                  <a:lnTo>
                                    <a:pt x="35" y="45"/>
                                  </a:lnTo>
                                  <a:lnTo>
                                    <a:pt x="0" y="22"/>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2" name="Freeform 64"/>
                            <p:cNvSpPr/>
                            <p:nvPr/>
                          </p:nvSpPr>
                          <p:spPr bwMode="auto">
                            <a:xfrm>
                              <a:off x="2604" y="3097"/>
                              <a:ext cx="10" cy="6"/>
                            </a:xfrm>
                            <a:custGeom>
                              <a:avLst/>
                              <a:gdLst>
                                <a:gd name="T0" fmla="*/ 34 w 68"/>
                                <a:gd name="T1" fmla="*/ 0 h 45"/>
                                <a:gd name="T2" fmla="*/ 68 w 68"/>
                                <a:gd name="T3" fmla="*/ 22 h 45"/>
                                <a:gd name="T4" fmla="*/ 31 w 68"/>
                                <a:gd name="T5" fmla="*/ 45 h 45"/>
                                <a:gd name="T6" fmla="*/ 0 w 68"/>
                                <a:gd name="T7" fmla="*/ 22 h 45"/>
                                <a:gd name="T8" fmla="*/ 34 w 68"/>
                                <a:gd name="T9" fmla="*/ 0 h 45"/>
                              </a:gdLst>
                              <a:ahLst/>
                              <a:cxnLst>
                                <a:cxn ang="0">
                                  <a:pos x="T0" y="T1"/>
                                </a:cxn>
                                <a:cxn ang="0">
                                  <a:pos x="T2" y="T3"/>
                                </a:cxn>
                                <a:cxn ang="0">
                                  <a:pos x="T4" y="T5"/>
                                </a:cxn>
                                <a:cxn ang="0">
                                  <a:pos x="T6" y="T7"/>
                                </a:cxn>
                                <a:cxn ang="0">
                                  <a:pos x="T8" y="T9"/>
                                </a:cxn>
                              </a:cxnLst>
                              <a:rect l="0" t="0" r="r" b="b"/>
                              <a:pathLst>
                                <a:path w="68" h="45">
                                  <a:moveTo>
                                    <a:pt x="34" y="0"/>
                                  </a:moveTo>
                                  <a:lnTo>
                                    <a:pt x="68" y="22"/>
                                  </a:lnTo>
                                  <a:lnTo>
                                    <a:pt x="31" y="45"/>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3" name="Freeform 65"/>
                            <p:cNvSpPr/>
                            <p:nvPr/>
                          </p:nvSpPr>
                          <p:spPr bwMode="auto">
                            <a:xfrm>
                              <a:off x="2610" y="3094"/>
                              <a:ext cx="10" cy="6"/>
                            </a:xfrm>
                            <a:custGeom>
                              <a:avLst/>
                              <a:gdLst>
                                <a:gd name="T0" fmla="*/ 36 w 69"/>
                                <a:gd name="T1" fmla="*/ 0 h 41"/>
                                <a:gd name="T2" fmla="*/ 69 w 69"/>
                                <a:gd name="T3" fmla="*/ 20 h 41"/>
                                <a:gd name="T4" fmla="*/ 34 w 69"/>
                                <a:gd name="T5" fmla="*/ 41 h 41"/>
                                <a:gd name="T6" fmla="*/ 0 w 69"/>
                                <a:gd name="T7" fmla="*/ 21 h 41"/>
                                <a:gd name="T8" fmla="*/ 36 w 69"/>
                                <a:gd name="T9" fmla="*/ 0 h 41"/>
                              </a:gdLst>
                              <a:ahLst/>
                              <a:cxnLst>
                                <a:cxn ang="0">
                                  <a:pos x="T0" y="T1"/>
                                </a:cxn>
                                <a:cxn ang="0">
                                  <a:pos x="T2" y="T3"/>
                                </a:cxn>
                                <a:cxn ang="0">
                                  <a:pos x="T4" y="T5"/>
                                </a:cxn>
                                <a:cxn ang="0">
                                  <a:pos x="T6" y="T7"/>
                                </a:cxn>
                                <a:cxn ang="0">
                                  <a:pos x="T8" y="T9"/>
                                </a:cxn>
                              </a:cxnLst>
                              <a:rect l="0" t="0" r="r" b="b"/>
                              <a:pathLst>
                                <a:path w="69" h="41">
                                  <a:moveTo>
                                    <a:pt x="36" y="0"/>
                                  </a:moveTo>
                                  <a:lnTo>
                                    <a:pt x="69" y="20"/>
                                  </a:lnTo>
                                  <a:lnTo>
                                    <a:pt x="34"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4" name="Freeform 66"/>
                            <p:cNvSpPr/>
                            <p:nvPr/>
                          </p:nvSpPr>
                          <p:spPr bwMode="auto">
                            <a:xfrm>
                              <a:off x="2616" y="3091"/>
                              <a:ext cx="10" cy="6"/>
                            </a:xfrm>
                            <a:custGeom>
                              <a:avLst/>
                              <a:gdLst>
                                <a:gd name="T0" fmla="*/ 35 w 68"/>
                                <a:gd name="T1" fmla="*/ 0 h 41"/>
                                <a:gd name="T2" fmla="*/ 68 w 68"/>
                                <a:gd name="T3" fmla="*/ 20 h 41"/>
                                <a:gd name="T4" fmla="*/ 32 w 68"/>
                                <a:gd name="T5" fmla="*/ 41 h 41"/>
                                <a:gd name="T6" fmla="*/ 0 w 68"/>
                                <a:gd name="T7" fmla="*/ 24 h 41"/>
                                <a:gd name="T8" fmla="*/ 35 w 68"/>
                                <a:gd name="T9" fmla="*/ 0 h 41"/>
                              </a:gdLst>
                              <a:ahLst/>
                              <a:cxnLst>
                                <a:cxn ang="0">
                                  <a:pos x="T0" y="T1"/>
                                </a:cxn>
                                <a:cxn ang="0">
                                  <a:pos x="T2" y="T3"/>
                                </a:cxn>
                                <a:cxn ang="0">
                                  <a:pos x="T4" y="T5"/>
                                </a:cxn>
                                <a:cxn ang="0">
                                  <a:pos x="T6" y="T7"/>
                                </a:cxn>
                                <a:cxn ang="0">
                                  <a:pos x="T8" y="T9"/>
                                </a:cxn>
                              </a:cxnLst>
                              <a:rect l="0" t="0" r="r" b="b"/>
                              <a:pathLst>
                                <a:path w="68" h="41">
                                  <a:moveTo>
                                    <a:pt x="35" y="0"/>
                                  </a:moveTo>
                                  <a:lnTo>
                                    <a:pt x="68" y="20"/>
                                  </a:lnTo>
                                  <a:lnTo>
                                    <a:pt x="32" y="41"/>
                                  </a:lnTo>
                                  <a:lnTo>
                                    <a:pt x="0" y="24"/>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5" name="Freeform 67"/>
                            <p:cNvSpPr/>
                            <p:nvPr/>
                          </p:nvSpPr>
                          <p:spPr bwMode="auto">
                            <a:xfrm>
                              <a:off x="2622" y="3089"/>
                              <a:ext cx="8" cy="5"/>
                            </a:xfrm>
                            <a:custGeom>
                              <a:avLst/>
                              <a:gdLst>
                                <a:gd name="T0" fmla="*/ 28 w 59"/>
                                <a:gd name="T1" fmla="*/ 0 h 38"/>
                                <a:gd name="T2" fmla="*/ 59 w 59"/>
                                <a:gd name="T3" fmla="*/ 20 h 38"/>
                                <a:gd name="T4" fmla="*/ 32 w 59"/>
                                <a:gd name="T5" fmla="*/ 38 h 38"/>
                                <a:gd name="T6" fmla="*/ 0 w 59"/>
                                <a:gd name="T7" fmla="*/ 16 h 38"/>
                                <a:gd name="T8" fmla="*/ 28 w 59"/>
                                <a:gd name="T9" fmla="*/ 0 h 38"/>
                              </a:gdLst>
                              <a:ahLst/>
                              <a:cxnLst>
                                <a:cxn ang="0">
                                  <a:pos x="T0" y="T1"/>
                                </a:cxn>
                                <a:cxn ang="0">
                                  <a:pos x="T2" y="T3"/>
                                </a:cxn>
                                <a:cxn ang="0">
                                  <a:pos x="T4" y="T5"/>
                                </a:cxn>
                                <a:cxn ang="0">
                                  <a:pos x="T6" y="T7"/>
                                </a:cxn>
                                <a:cxn ang="0">
                                  <a:pos x="T8" y="T9"/>
                                </a:cxn>
                              </a:cxnLst>
                              <a:rect l="0" t="0" r="r" b="b"/>
                              <a:pathLst>
                                <a:path w="59" h="38">
                                  <a:moveTo>
                                    <a:pt x="28" y="0"/>
                                  </a:moveTo>
                                  <a:lnTo>
                                    <a:pt x="59" y="20"/>
                                  </a:lnTo>
                                  <a:lnTo>
                                    <a:pt x="32" y="38"/>
                                  </a:lnTo>
                                  <a:lnTo>
                                    <a:pt x="0" y="16"/>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6" name="Freeform 68"/>
                            <p:cNvSpPr/>
                            <p:nvPr/>
                          </p:nvSpPr>
                          <p:spPr bwMode="auto">
                            <a:xfrm>
                              <a:off x="2627" y="3092"/>
                              <a:ext cx="8" cy="4"/>
                            </a:xfrm>
                            <a:custGeom>
                              <a:avLst/>
                              <a:gdLst>
                                <a:gd name="T0" fmla="*/ 29 w 61"/>
                                <a:gd name="T1" fmla="*/ 0 h 38"/>
                                <a:gd name="T2" fmla="*/ 61 w 61"/>
                                <a:gd name="T3" fmla="*/ 19 h 38"/>
                                <a:gd name="T4" fmla="*/ 32 w 61"/>
                                <a:gd name="T5" fmla="*/ 38 h 38"/>
                                <a:gd name="T6" fmla="*/ 0 w 61"/>
                                <a:gd name="T7" fmla="*/ 19 h 38"/>
                                <a:gd name="T8" fmla="*/ 29 w 61"/>
                                <a:gd name="T9" fmla="*/ 0 h 38"/>
                              </a:gdLst>
                              <a:ahLst/>
                              <a:cxnLst>
                                <a:cxn ang="0">
                                  <a:pos x="T0" y="T1"/>
                                </a:cxn>
                                <a:cxn ang="0">
                                  <a:pos x="T2" y="T3"/>
                                </a:cxn>
                                <a:cxn ang="0">
                                  <a:pos x="T4" y="T5"/>
                                </a:cxn>
                                <a:cxn ang="0">
                                  <a:pos x="T6" y="T7"/>
                                </a:cxn>
                                <a:cxn ang="0">
                                  <a:pos x="T8" y="T9"/>
                                </a:cxn>
                              </a:cxnLst>
                              <a:rect l="0" t="0" r="r" b="b"/>
                              <a:pathLst>
                                <a:path w="61" h="38">
                                  <a:moveTo>
                                    <a:pt x="29" y="0"/>
                                  </a:moveTo>
                                  <a:lnTo>
                                    <a:pt x="61" y="19"/>
                                  </a:lnTo>
                                  <a:lnTo>
                                    <a:pt x="32" y="38"/>
                                  </a:lnTo>
                                  <a:lnTo>
                                    <a:pt x="0" y="19"/>
                                  </a:lnTo>
                                  <a:lnTo>
                                    <a:pt x="2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7" name="Freeform 69"/>
                            <p:cNvSpPr/>
                            <p:nvPr/>
                          </p:nvSpPr>
                          <p:spPr bwMode="auto">
                            <a:xfrm>
                              <a:off x="2621" y="3094"/>
                              <a:ext cx="10" cy="5"/>
                            </a:xfrm>
                            <a:custGeom>
                              <a:avLst/>
                              <a:gdLst>
                                <a:gd name="T0" fmla="*/ 37 w 69"/>
                                <a:gd name="T1" fmla="*/ 0 h 41"/>
                                <a:gd name="T2" fmla="*/ 69 w 69"/>
                                <a:gd name="T3" fmla="*/ 18 h 41"/>
                                <a:gd name="T4" fmla="*/ 33 w 69"/>
                                <a:gd name="T5" fmla="*/ 41 h 41"/>
                                <a:gd name="T6" fmla="*/ 0 w 69"/>
                                <a:gd name="T7" fmla="*/ 20 h 41"/>
                                <a:gd name="T8" fmla="*/ 37 w 69"/>
                                <a:gd name="T9" fmla="*/ 0 h 41"/>
                              </a:gdLst>
                              <a:ahLst/>
                              <a:cxnLst>
                                <a:cxn ang="0">
                                  <a:pos x="T0" y="T1"/>
                                </a:cxn>
                                <a:cxn ang="0">
                                  <a:pos x="T2" y="T3"/>
                                </a:cxn>
                                <a:cxn ang="0">
                                  <a:pos x="T4" y="T5"/>
                                </a:cxn>
                                <a:cxn ang="0">
                                  <a:pos x="T6" y="T7"/>
                                </a:cxn>
                                <a:cxn ang="0">
                                  <a:pos x="T8" y="T9"/>
                                </a:cxn>
                              </a:cxnLst>
                              <a:rect l="0" t="0" r="r" b="b"/>
                              <a:pathLst>
                                <a:path w="69" h="41">
                                  <a:moveTo>
                                    <a:pt x="37" y="0"/>
                                  </a:moveTo>
                                  <a:lnTo>
                                    <a:pt x="69" y="18"/>
                                  </a:lnTo>
                                  <a:lnTo>
                                    <a:pt x="33" y="41"/>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8" name="Freeform 70"/>
                            <p:cNvSpPr/>
                            <p:nvPr/>
                          </p:nvSpPr>
                          <p:spPr bwMode="auto">
                            <a:xfrm>
                              <a:off x="2632" y="3094"/>
                              <a:ext cx="8" cy="5"/>
                            </a:xfrm>
                            <a:custGeom>
                              <a:avLst/>
                              <a:gdLst>
                                <a:gd name="T0" fmla="*/ 28 w 60"/>
                                <a:gd name="T1" fmla="*/ 0 h 39"/>
                                <a:gd name="T2" fmla="*/ 60 w 60"/>
                                <a:gd name="T3" fmla="*/ 19 h 39"/>
                                <a:gd name="T4" fmla="*/ 32 w 60"/>
                                <a:gd name="T5" fmla="*/ 39 h 39"/>
                                <a:gd name="T6" fmla="*/ 0 w 60"/>
                                <a:gd name="T7" fmla="*/ 18 h 39"/>
                                <a:gd name="T8" fmla="*/ 28 w 60"/>
                                <a:gd name="T9" fmla="*/ 0 h 39"/>
                              </a:gdLst>
                              <a:ahLst/>
                              <a:cxnLst>
                                <a:cxn ang="0">
                                  <a:pos x="T0" y="T1"/>
                                </a:cxn>
                                <a:cxn ang="0">
                                  <a:pos x="T2" y="T3"/>
                                </a:cxn>
                                <a:cxn ang="0">
                                  <a:pos x="T4" y="T5"/>
                                </a:cxn>
                                <a:cxn ang="0">
                                  <a:pos x="T6" y="T7"/>
                                </a:cxn>
                                <a:cxn ang="0">
                                  <a:pos x="T8" y="T9"/>
                                </a:cxn>
                              </a:cxnLst>
                              <a:rect l="0" t="0" r="r" b="b"/>
                              <a:pathLst>
                                <a:path w="60" h="39">
                                  <a:moveTo>
                                    <a:pt x="28" y="0"/>
                                  </a:moveTo>
                                  <a:lnTo>
                                    <a:pt x="60" y="19"/>
                                  </a:lnTo>
                                  <a:lnTo>
                                    <a:pt x="32" y="39"/>
                                  </a:lnTo>
                                  <a:lnTo>
                                    <a:pt x="0" y="18"/>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9" name="Freeform 71"/>
                            <p:cNvSpPr/>
                            <p:nvPr/>
                          </p:nvSpPr>
                          <p:spPr bwMode="auto">
                            <a:xfrm>
                              <a:off x="2626" y="3096"/>
                              <a:ext cx="10" cy="6"/>
                            </a:xfrm>
                            <a:custGeom>
                              <a:avLst/>
                              <a:gdLst>
                                <a:gd name="T0" fmla="*/ 35 w 69"/>
                                <a:gd name="T1" fmla="*/ 0 h 44"/>
                                <a:gd name="T2" fmla="*/ 69 w 69"/>
                                <a:gd name="T3" fmla="*/ 21 h 44"/>
                                <a:gd name="T4" fmla="*/ 31 w 69"/>
                                <a:gd name="T5" fmla="*/ 44 h 44"/>
                                <a:gd name="T6" fmla="*/ 0 w 69"/>
                                <a:gd name="T7" fmla="*/ 23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1"/>
                                  </a:lnTo>
                                  <a:lnTo>
                                    <a:pt x="31" y="44"/>
                                  </a:lnTo>
                                  <a:lnTo>
                                    <a:pt x="0" y="23"/>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0" name="Freeform 72"/>
                            <p:cNvSpPr/>
                            <p:nvPr/>
                          </p:nvSpPr>
                          <p:spPr bwMode="auto">
                            <a:xfrm>
                              <a:off x="2599" y="3095"/>
                              <a:ext cx="10" cy="5"/>
                            </a:xfrm>
                            <a:custGeom>
                              <a:avLst/>
                              <a:gdLst>
                                <a:gd name="T0" fmla="*/ 35 w 69"/>
                                <a:gd name="T1" fmla="*/ 0 h 43"/>
                                <a:gd name="T2" fmla="*/ 69 w 69"/>
                                <a:gd name="T3" fmla="*/ 21 h 43"/>
                                <a:gd name="T4" fmla="*/ 34 w 69"/>
                                <a:gd name="T5" fmla="*/ 43 h 43"/>
                                <a:gd name="T6" fmla="*/ 0 w 69"/>
                                <a:gd name="T7" fmla="*/ 21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1"/>
                                  </a:lnTo>
                                  <a:lnTo>
                                    <a:pt x="34"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1" name="Freeform 73"/>
                            <p:cNvSpPr/>
                            <p:nvPr/>
                          </p:nvSpPr>
                          <p:spPr bwMode="auto">
                            <a:xfrm>
                              <a:off x="2605" y="3092"/>
                              <a:ext cx="10" cy="5"/>
                            </a:xfrm>
                            <a:custGeom>
                              <a:avLst/>
                              <a:gdLst>
                                <a:gd name="T0" fmla="*/ 36 w 70"/>
                                <a:gd name="T1" fmla="*/ 0 h 42"/>
                                <a:gd name="T2" fmla="*/ 70 w 70"/>
                                <a:gd name="T3" fmla="*/ 22 h 42"/>
                                <a:gd name="T4" fmla="*/ 34 w 70"/>
                                <a:gd name="T5" fmla="*/ 42 h 42"/>
                                <a:gd name="T6" fmla="*/ 0 w 70"/>
                                <a:gd name="T7" fmla="*/ 22 h 42"/>
                                <a:gd name="T8" fmla="*/ 36 w 70"/>
                                <a:gd name="T9" fmla="*/ 0 h 42"/>
                              </a:gdLst>
                              <a:ahLst/>
                              <a:cxnLst>
                                <a:cxn ang="0">
                                  <a:pos x="T0" y="T1"/>
                                </a:cxn>
                                <a:cxn ang="0">
                                  <a:pos x="T2" y="T3"/>
                                </a:cxn>
                                <a:cxn ang="0">
                                  <a:pos x="T4" y="T5"/>
                                </a:cxn>
                                <a:cxn ang="0">
                                  <a:pos x="T6" y="T7"/>
                                </a:cxn>
                                <a:cxn ang="0">
                                  <a:pos x="T8" y="T9"/>
                                </a:cxn>
                              </a:cxnLst>
                              <a:rect l="0" t="0" r="r" b="b"/>
                              <a:pathLst>
                                <a:path w="70" h="42">
                                  <a:moveTo>
                                    <a:pt x="36" y="0"/>
                                  </a:moveTo>
                                  <a:lnTo>
                                    <a:pt x="70" y="22"/>
                                  </a:lnTo>
                                  <a:lnTo>
                                    <a:pt x="34" y="42"/>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2" name="Freeform 74"/>
                            <p:cNvSpPr/>
                            <p:nvPr/>
                          </p:nvSpPr>
                          <p:spPr bwMode="auto">
                            <a:xfrm>
                              <a:off x="2612" y="3089"/>
                              <a:ext cx="9" cy="5"/>
                            </a:xfrm>
                            <a:custGeom>
                              <a:avLst/>
                              <a:gdLst>
                                <a:gd name="T0" fmla="*/ 35 w 67"/>
                                <a:gd name="T1" fmla="*/ 0 h 42"/>
                                <a:gd name="T2" fmla="*/ 67 w 67"/>
                                <a:gd name="T3" fmla="*/ 19 h 42"/>
                                <a:gd name="T4" fmla="*/ 31 w 67"/>
                                <a:gd name="T5" fmla="*/ 42 h 42"/>
                                <a:gd name="T6" fmla="*/ 0 w 67"/>
                                <a:gd name="T7" fmla="*/ 22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3" name="Freeform 75"/>
                            <p:cNvSpPr/>
                            <p:nvPr/>
                          </p:nvSpPr>
                          <p:spPr bwMode="auto">
                            <a:xfrm>
                              <a:off x="2617" y="3087"/>
                              <a:ext cx="9" cy="5"/>
                            </a:xfrm>
                            <a:custGeom>
                              <a:avLst/>
                              <a:gdLst>
                                <a:gd name="T0" fmla="*/ 26 w 58"/>
                                <a:gd name="T1" fmla="*/ 0 h 36"/>
                                <a:gd name="T2" fmla="*/ 58 w 58"/>
                                <a:gd name="T3" fmla="*/ 19 h 36"/>
                                <a:gd name="T4" fmla="*/ 29 w 58"/>
                                <a:gd name="T5" fmla="*/ 36 h 36"/>
                                <a:gd name="T6" fmla="*/ 0 w 58"/>
                                <a:gd name="T7" fmla="*/ 17 h 36"/>
                                <a:gd name="T8" fmla="*/ 26 w 58"/>
                                <a:gd name="T9" fmla="*/ 0 h 36"/>
                              </a:gdLst>
                              <a:ahLst/>
                              <a:cxnLst>
                                <a:cxn ang="0">
                                  <a:pos x="T0" y="T1"/>
                                </a:cxn>
                                <a:cxn ang="0">
                                  <a:pos x="T2" y="T3"/>
                                </a:cxn>
                                <a:cxn ang="0">
                                  <a:pos x="T4" y="T5"/>
                                </a:cxn>
                                <a:cxn ang="0">
                                  <a:pos x="T6" y="T7"/>
                                </a:cxn>
                                <a:cxn ang="0">
                                  <a:pos x="T8" y="T9"/>
                                </a:cxn>
                              </a:cxnLst>
                              <a:rect l="0" t="0" r="r" b="b"/>
                              <a:pathLst>
                                <a:path w="58" h="36">
                                  <a:moveTo>
                                    <a:pt x="26" y="0"/>
                                  </a:moveTo>
                                  <a:lnTo>
                                    <a:pt x="58" y="19"/>
                                  </a:lnTo>
                                  <a:lnTo>
                                    <a:pt x="29" y="36"/>
                                  </a:lnTo>
                                  <a:lnTo>
                                    <a:pt x="0" y="17"/>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4" name="Freeform 76"/>
                            <p:cNvSpPr/>
                            <p:nvPr/>
                          </p:nvSpPr>
                          <p:spPr bwMode="auto">
                            <a:xfrm>
                              <a:off x="2593" y="3097"/>
                              <a:ext cx="10" cy="6"/>
                            </a:xfrm>
                            <a:custGeom>
                              <a:avLst/>
                              <a:gdLst>
                                <a:gd name="T0" fmla="*/ 36 w 72"/>
                                <a:gd name="T1" fmla="*/ 0 h 46"/>
                                <a:gd name="T2" fmla="*/ 72 w 72"/>
                                <a:gd name="T3" fmla="*/ 23 h 46"/>
                                <a:gd name="T4" fmla="*/ 35 w 72"/>
                                <a:gd name="T5" fmla="*/ 46 h 46"/>
                                <a:gd name="T6" fmla="*/ 0 w 72"/>
                                <a:gd name="T7" fmla="*/ 22 h 46"/>
                                <a:gd name="T8" fmla="*/ 36 w 72"/>
                                <a:gd name="T9" fmla="*/ 0 h 46"/>
                              </a:gdLst>
                              <a:ahLst/>
                              <a:cxnLst>
                                <a:cxn ang="0">
                                  <a:pos x="T0" y="T1"/>
                                </a:cxn>
                                <a:cxn ang="0">
                                  <a:pos x="T2" y="T3"/>
                                </a:cxn>
                                <a:cxn ang="0">
                                  <a:pos x="T4" y="T5"/>
                                </a:cxn>
                                <a:cxn ang="0">
                                  <a:pos x="T6" y="T7"/>
                                </a:cxn>
                                <a:cxn ang="0">
                                  <a:pos x="T8" y="T9"/>
                                </a:cxn>
                              </a:cxnLst>
                              <a:rect l="0" t="0" r="r" b="b"/>
                              <a:pathLst>
                                <a:path w="72" h="46">
                                  <a:moveTo>
                                    <a:pt x="36" y="0"/>
                                  </a:moveTo>
                                  <a:lnTo>
                                    <a:pt x="72" y="23"/>
                                  </a:lnTo>
                                  <a:lnTo>
                                    <a:pt x="35" y="46"/>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5" name="Freeform 77"/>
                            <p:cNvSpPr/>
                            <p:nvPr/>
                          </p:nvSpPr>
                          <p:spPr bwMode="auto">
                            <a:xfrm>
                              <a:off x="2588" y="3095"/>
                              <a:ext cx="10" cy="5"/>
                            </a:xfrm>
                            <a:custGeom>
                              <a:avLst/>
                              <a:gdLst>
                                <a:gd name="T0" fmla="*/ 37 w 70"/>
                                <a:gd name="T1" fmla="*/ 0 h 45"/>
                                <a:gd name="T2" fmla="*/ 70 w 70"/>
                                <a:gd name="T3" fmla="*/ 22 h 45"/>
                                <a:gd name="T4" fmla="*/ 35 w 70"/>
                                <a:gd name="T5" fmla="*/ 45 h 45"/>
                                <a:gd name="T6" fmla="*/ 0 w 70"/>
                                <a:gd name="T7" fmla="*/ 22 h 45"/>
                                <a:gd name="T8" fmla="*/ 37 w 70"/>
                                <a:gd name="T9" fmla="*/ 0 h 45"/>
                              </a:gdLst>
                              <a:ahLst/>
                              <a:cxnLst>
                                <a:cxn ang="0">
                                  <a:pos x="T0" y="T1"/>
                                </a:cxn>
                                <a:cxn ang="0">
                                  <a:pos x="T2" y="T3"/>
                                </a:cxn>
                                <a:cxn ang="0">
                                  <a:pos x="T4" y="T5"/>
                                </a:cxn>
                                <a:cxn ang="0">
                                  <a:pos x="T6" y="T7"/>
                                </a:cxn>
                                <a:cxn ang="0">
                                  <a:pos x="T8" y="T9"/>
                                </a:cxn>
                              </a:cxnLst>
                              <a:rect l="0" t="0" r="r" b="b"/>
                              <a:pathLst>
                                <a:path w="70" h="45">
                                  <a:moveTo>
                                    <a:pt x="37" y="0"/>
                                  </a:moveTo>
                                  <a:lnTo>
                                    <a:pt x="70" y="22"/>
                                  </a:lnTo>
                                  <a:lnTo>
                                    <a:pt x="35" y="45"/>
                                  </a:lnTo>
                                  <a:lnTo>
                                    <a:pt x="0" y="22"/>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6" name="Freeform 78"/>
                            <p:cNvSpPr/>
                            <p:nvPr/>
                          </p:nvSpPr>
                          <p:spPr bwMode="auto">
                            <a:xfrm>
                              <a:off x="2594" y="3092"/>
                              <a:ext cx="10" cy="6"/>
                            </a:xfrm>
                            <a:custGeom>
                              <a:avLst/>
                              <a:gdLst>
                                <a:gd name="T0" fmla="*/ 37 w 69"/>
                                <a:gd name="T1" fmla="*/ 0 h 44"/>
                                <a:gd name="T2" fmla="*/ 69 w 69"/>
                                <a:gd name="T3" fmla="*/ 23 h 44"/>
                                <a:gd name="T4" fmla="*/ 33 w 69"/>
                                <a:gd name="T5" fmla="*/ 44 h 44"/>
                                <a:gd name="T6" fmla="*/ 0 w 69"/>
                                <a:gd name="T7" fmla="*/ 23 h 44"/>
                                <a:gd name="T8" fmla="*/ 37 w 69"/>
                                <a:gd name="T9" fmla="*/ 0 h 44"/>
                              </a:gdLst>
                              <a:ahLst/>
                              <a:cxnLst>
                                <a:cxn ang="0">
                                  <a:pos x="T0" y="T1"/>
                                </a:cxn>
                                <a:cxn ang="0">
                                  <a:pos x="T2" y="T3"/>
                                </a:cxn>
                                <a:cxn ang="0">
                                  <a:pos x="T4" y="T5"/>
                                </a:cxn>
                                <a:cxn ang="0">
                                  <a:pos x="T6" y="T7"/>
                                </a:cxn>
                                <a:cxn ang="0">
                                  <a:pos x="T8" y="T9"/>
                                </a:cxn>
                              </a:cxnLst>
                              <a:rect l="0" t="0" r="r" b="b"/>
                              <a:pathLst>
                                <a:path w="69" h="44">
                                  <a:moveTo>
                                    <a:pt x="37" y="0"/>
                                  </a:moveTo>
                                  <a:lnTo>
                                    <a:pt x="69" y="23"/>
                                  </a:lnTo>
                                  <a:lnTo>
                                    <a:pt x="33" y="44"/>
                                  </a:lnTo>
                                  <a:lnTo>
                                    <a:pt x="0" y="23"/>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7" name="Freeform 79"/>
                            <p:cNvSpPr/>
                            <p:nvPr/>
                          </p:nvSpPr>
                          <p:spPr bwMode="auto">
                            <a:xfrm>
                              <a:off x="2601" y="3090"/>
                              <a:ext cx="9" cy="5"/>
                            </a:xfrm>
                            <a:custGeom>
                              <a:avLst/>
                              <a:gdLst>
                                <a:gd name="T0" fmla="*/ 35 w 67"/>
                                <a:gd name="T1" fmla="*/ 0 h 44"/>
                                <a:gd name="T2" fmla="*/ 67 w 67"/>
                                <a:gd name="T3" fmla="*/ 21 h 44"/>
                                <a:gd name="T4" fmla="*/ 33 w 67"/>
                                <a:gd name="T5" fmla="*/ 44 h 44"/>
                                <a:gd name="T6" fmla="*/ 0 w 67"/>
                                <a:gd name="T7" fmla="*/ 22 h 44"/>
                                <a:gd name="T8" fmla="*/ 35 w 67"/>
                                <a:gd name="T9" fmla="*/ 0 h 44"/>
                              </a:gdLst>
                              <a:ahLst/>
                              <a:cxnLst>
                                <a:cxn ang="0">
                                  <a:pos x="T0" y="T1"/>
                                </a:cxn>
                                <a:cxn ang="0">
                                  <a:pos x="T2" y="T3"/>
                                </a:cxn>
                                <a:cxn ang="0">
                                  <a:pos x="T4" y="T5"/>
                                </a:cxn>
                                <a:cxn ang="0">
                                  <a:pos x="T6" y="T7"/>
                                </a:cxn>
                                <a:cxn ang="0">
                                  <a:pos x="T8" y="T9"/>
                                </a:cxn>
                              </a:cxnLst>
                              <a:rect l="0" t="0" r="r" b="b"/>
                              <a:pathLst>
                                <a:path w="67" h="44">
                                  <a:moveTo>
                                    <a:pt x="35" y="0"/>
                                  </a:moveTo>
                                  <a:lnTo>
                                    <a:pt x="67" y="21"/>
                                  </a:lnTo>
                                  <a:lnTo>
                                    <a:pt x="33"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8" name="Freeform 80"/>
                            <p:cNvSpPr/>
                            <p:nvPr/>
                          </p:nvSpPr>
                          <p:spPr bwMode="auto">
                            <a:xfrm>
                              <a:off x="2607" y="3087"/>
                              <a:ext cx="9" cy="5"/>
                            </a:xfrm>
                            <a:custGeom>
                              <a:avLst/>
                              <a:gdLst>
                                <a:gd name="T0" fmla="*/ 36 w 67"/>
                                <a:gd name="T1" fmla="*/ 0 h 41"/>
                                <a:gd name="T2" fmla="*/ 67 w 67"/>
                                <a:gd name="T3" fmla="*/ 18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8"/>
                                  </a:lnTo>
                                  <a:lnTo>
                                    <a:pt x="32"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9" name="Freeform 81"/>
                            <p:cNvSpPr/>
                            <p:nvPr/>
                          </p:nvSpPr>
                          <p:spPr bwMode="auto">
                            <a:xfrm>
                              <a:off x="2612" y="3085"/>
                              <a:ext cx="9" cy="4"/>
                            </a:xfrm>
                            <a:custGeom>
                              <a:avLst/>
                              <a:gdLst>
                                <a:gd name="T0" fmla="*/ 27 w 57"/>
                                <a:gd name="T1" fmla="*/ 0 h 36"/>
                                <a:gd name="T2" fmla="*/ 57 w 57"/>
                                <a:gd name="T3" fmla="*/ 20 h 36"/>
                                <a:gd name="T4" fmla="*/ 31 w 57"/>
                                <a:gd name="T5" fmla="*/ 36 h 36"/>
                                <a:gd name="T6" fmla="*/ 0 w 57"/>
                                <a:gd name="T7" fmla="*/ 17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0"/>
                                  </a:lnTo>
                                  <a:lnTo>
                                    <a:pt x="31" y="36"/>
                                  </a:lnTo>
                                  <a:lnTo>
                                    <a:pt x="0" y="17"/>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0" name="Freeform 82"/>
                            <p:cNvSpPr/>
                            <p:nvPr/>
                          </p:nvSpPr>
                          <p:spPr bwMode="auto">
                            <a:xfrm>
                              <a:off x="2589" y="3090"/>
                              <a:ext cx="10" cy="5"/>
                            </a:xfrm>
                            <a:custGeom>
                              <a:avLst/>
                              <a:gdLst>
                                <a:gd name="T0" fmla="*/ 35 w 69"/>
                                <a:gd name="T1" fmla="*/ 0 h 44"/>
                                <a:gd name="T2" fmla="*/ 69 w 69"/>
                                <a:gd name="T3" fmla="*/ 22 h 44"/>
                                <a:gd name="T4" fmla="*/ 34 w 69"/>
                                <a:gd name="T5" fmla="*/ 44 h 44"/>
                                <a:gd name="T6" fmla="*/ 0 w 69"/>
                                <a:gd name="T7" fmla="*/ 22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2"/>
                                  </a:lnTo>
                                  <a:lnTo>
                                    <a:pt x="34"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1" name="Freeform 83"/>
                            <p:cNvSpPr/>
                            <p:nvPr/>
                          </p:nvSpPr>
                          <p:spPr bwMode="auto">
                            <a:xfrm>
                              <a:off x="2595" y="3087"/>
                              <a:ext cx="11" cy="5"/>
                            </a:xfrm>
                            <a:custGeom>
                              <a:avLst/>
                              <a:gdLst>
                                <a:gd name="T0" fmla="*/ 38 w 71"/>
                                <a:gd name="T1" fmla="*/ 0 h 43"/>
                                <a:gd name="T2" fmla="*/ 71 w 71"/>
                                <a:gd name="T3" fmla="*/ 20 h 43"/>
                                <a:gd name="T4" fmla="*/ 34 w 71"/>
                                <a:gd name="T5" fmla="*/ 43 h 43"/>
                                <a:gd name="T6" fmla="*/ 0 w 71"/>
                                <a:gd name="T7" fmla="*/ 20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0"/>
                                  </a:lnTo>
                                  <a:lnTo>
                                    <a:pt x="34" y="43"/>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2" name="Freeform 84"/>
                            <p:cNvSpPr/>
                            <p:nvPr/>
                          </p:nvSpPr>
                          <p:spPr bwMode="auto">
                            <a:xfrm>
                              <a:off x="2602" y="3084"/>
                              <a:ext cx="10" cy="5"/>
                            </a:xfrm>
                            <a:custGeom>
                              <a:avLst/>
                              <a:gdLst>
                                <a:gd name="T0" fmla="*/ 35 w 68"/>
                                <a:gd name="T1" fmla="*/ 0 h 40"/>
                                <a:gd name="T2" fmla="*/ 68 w 68"/>
                                <a:gd name="T3" fmla="*/ 20 h 40"/>
                                <a:gd name="T4" fmla="*/ 32 w 68"/>
                                <a:gd name="T5" fmla="*/ 40 h 40"/>
                                <a:gd name="T6" fmla="*/ 0 w 68"/>
                                <a:gd name="T7" fmla="*/ 22 h 40"/>
                                <a:gd name="T8" fmla="*/ 35 w 68"/>
                                <a:gd name="T9" fmla="*/ 0 h 40"/>
                              </a:gdLst>
                              <a:ahLst/>
                              <a:cxnLst>
                                <a:cxn ang="0">
                                  <a:pos x="T0" y="T1"/>
                                </a:cxn>
                                <a:cxn ang="0">
                                  <a:pos x="T2" y="T3"/>
                                </a:cxn>
                                <a:cxn ang="0">
                                  <a:pos x="T4" y="T5"/>
                                </a:cxn>
                                <a:cxn ang="0">
                                  <a:pos x="T6" y="T7"/>
                                </a:cxn>
                                <a:cxn ang="0">
                                  <a:pos x="T8" y="T9"/>
                                </a:cxn>
                              </a:cxnLst>
                              <a:rect l="0" t="0" r="r" b="b"/>
                              <a:pathLst>
                                <a:path w="68" h="40">
                                  <a:moveTo>
                                    <a:pt x="35" y="0"/>
                                  </a:moveTo>
                                  <a:lnTo>
                                    <a:pt x="68" y="20"/>
                                  </a:lnTo>
                                  <a:lnTo>
                                    <a:pt x="32" y="40"/>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3" name="Freeform 85"/>
                            <p:cNvSpPr/>
                            <p:nvPr/>
                          </p:nvSpPr>
                          <p:spPr bwMode="auto">
                            <a:xfrm>
                              <a:off x="2608" y="3083"/>
                              <a:ext cx="8" cy="4"/>
                            </a:xfrm>
                            <a:custGeom>
                              <a:avLst/>
                              <a:gdLst>
                                <a:gd name="T0" fmla="*/ 27 w 57"/>
                                <a:gd name="T1" fmla="*/ 0 h 33"/>
                                <a:gd name="T2" fmla="*/ 57 w 57"/>
                                <a:gd name="T3" fmla="*/ 17 h 33"/>
                                <a:gd name="T4" fmla="*/ 31 w 57"/>
                                <a:gd name="T5" fmla="*/ 33 h 33"/>
                                <a:gd name="T6" fmla="*/ 0 w 57"/>
                                <a:gd name="T7" fmla="*/ 13 h 33"/>
                                <a:gd name="T8" fmla="*/ 27 w 57"/>
                                <a:gd name="T9" fmla="*/ 0 h 33"/>
                              </a:gdLst>
                              <a:ahLst/>
                              <a:cxnLst>
                                <a:cxn ang="0">
                                  <a:pos x="T0" y="T1"/>
                                </a:cxn>
                                <a:cxn ang="0">
                                  <a:pos x="T2" y="T3"/>
                                </a:cxn>
                                <a:cxn ang="0">
                                  <a:pos x="T4" y="T5"/>
                                </a:cxn>
                                <a:cxn ang="0">
                                  <a:pos x="T6" y="T7"/>
                                </a:cxn>
                                <a:cxn ang="0">
                                  <a:pos x="T8" y="T9"/>
                                </a:cxn>
                              </a:cxnLst>
                              <a:rect l="0" t="0" r="r" b="b"/>
                              <a:pathLst>
                                <a:path w="57" h="33">
                                  <a:moveTo>
                                    <a:pt x="27" y="0"/>
                                  </a:moveTo>
                                  <a:lnTo>
                                    <a:pt x="57" y="17"/>
                                  </a:lnTo>
                                  <a:lnTo>
                                    <a:pt x="31" y="33"/>
                                  </a:lnTo>
                                  <a:lnTo>
                                    <a:pt x="0" y="13"/>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4" name="Freeform 86"/>
                            <p:cNvSpPr/>
                            <p:nvPr/>
                          </p:nvSpPr>
                          <p:spPr bwMode="auto">
                            <a:xfrm>
                              <a:off x="2583" y="3092"/>
                              <a:ext cx="10" cy="6"/>
                            </a:xfrm>
                            <a:custGeom>
                              <a:avLst/>
                              <a:gdLst>
                                <a:gd name="T0" fmla="*/ 39 w 73"/>
                                <a:gd name="T1" fmla="*/ 0 h 45"/>
                                <a:gd name="T2" fmla="*/ 73 w 73"/>
                                <a:gd name="T3" fmla="*/ 22 h 45"/>
                                <a:gd name="T4" fmla="*/ 38 w 73"/>
                                <a:gd name="T5" fmla="*/ 45 h 45"/>
                                <a:gd name="T6" fmla="*/ 0 w 73"/>
                                <a:gd name="T7" fmla="*/ 22 h 45"/>
                                <a:gd name="T8" fmla="*/ 39 w 73"/>
                                <a:gd name="T9" fmla="*/ 0 h 45"/>
                              </a:gdLst>
                              <a:ahLst/>
                              <a:cxnLst>
                                <a:cxn ang="0">
                                  <a:pos x="T0" y="T1"/>
                                </a:cxn>
                                <a:cxn ang="0">
                                  <a:pos x="T2" y="T3"/>
                                </a:cxn>
                                <a:cxn ang="0">
                                  <a:pos x="T4" y="T5"/>
                                </a:cxn>
                                <a:cxn ang="0">
                                  <a:pos x="T6" y="T7"/>
                                </a:cxn>
                                <a:cxn ang="0">
                                  <a:pos x="T8" y="T9"/>
                                </a:cxn>
                              </a:cxnLst>
                              <a:rect l="0" t="0" r="r" b="b"/>
                              <a:pathLst>
                                <a:path w="73" h="45">
                                  <a:moveTo>
                                    <a:pt x="39" y="0"/>
                                  </a:moveTo>
                                  <a:lnTo>
                                    <a:pt x="73" y="22"/>
                                  </a:lnTo>
                                  <a:lnTo>
                                    <a:pt x="38" y="45"/>
                                  </a:lnTo>
                                  <a:lnTo>
                                    <a:pt x="0" y="22"/>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5" name="Freeform 87"/>
                            <p:cNvSpPr/>
                            <p:nvPr/>
                          </p:nvSpPr>
                          <p:spPr bwMode="auto">
                            <a:xfrm>
                              <a:off x="2578" y="3090"/>
                              <a:ext cx="10" cy="5"/>
                            </a:xfrm>
                            <a:custGeom>
                              <a:avLst/>
                              <a:gdLst>
                                <a:gd name="T0" fmla="*/ 36 w 68"/>
                                <a:gd name="T1" fmla="*/ 0 h 44"/>
                                <a:gd name="T2" fmla="*/ 68 w 68"/>
                                <a:gd name="T3" fmla="*/ 21 h 44"/>
                                <a:gd name="T4" fmla="*/ 32 w 68"/>
                                <a:gd name="T5" fmla="*/ 44 h 44"/>
                                <a:gd name="T6" fmla="*/ 0 w 68"/>
                                <a:gd name="T7" fmla="*/ 22 h 44"/>
                                <a:gd name="T8" fmla="*/ 36 w 68"/>
                                <a:gd name="T9" fmla="*/ 0 h 44"/>
                              </a:gdLst>
                              <a:ahLst/>
                              <a:cxnLst>
                                <a:cxn ang="0">
                                  <a:pos x="T0" y="T1"/>
                                </a:cxn>
                                <a:cxn ang="0">
                                  <a:pos x="T2" y="T3"/>
                                </a:cxn>
                                <a:cxn ang="0">
                                  <a:pos x="T4" y="T5"/>
                                </a:cxn>
                                <a:cxn ang="0">
                                  <a:pos x="T6" y="T7"/>
                                </a:cxn>
                                <a:cxn ang="0">
                                  <a:pos x="T8" y="T9"/>
                                </a:cxn>
                              </a:cxnLst>
                              <a:rect l="0" t="0" r="r" b="b"/>
                              <a:pathLst>
                                <a:path w="68" h="44">
                                  <a:moveTo>
                                    <a:pt x="36" y="0"/>
                                  </a:moveTo>
                                  <a:lnTo>
                                    <a:pt x="68" y="21"/>
                                  </a:lnTo>
                                  <a:lnTo>
                                    <a:pt x="32" y="44"/>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6" name="Freeform 88"/>
                            <p:cNvSpPr/>
                            <p:nvPr/>
                          </p:nvSpPr>
                          <p:spPr bwMode="auto">
                            <a:xfrm>
                              <a:off x="2584" y="3087"/>
                              <a:ext cx="10" cy="6"/>
                            </a:xfrm>
                            <a:custGeom>
                              <a:avLst/>
                              <a:gdLst>
                                <a:gd name="T0" fmla="*/ 37 w 70"/>
                                <a:gd name="T1" fmla="*/ 0 h 43"/>
                                <a:gd name="T2" fmla="*/ 70 w 70"/>
                                <a:gd name="T3" fmla="*/ 21 h 43"/>
                                <a:gd name="T4" fmla="*/ 34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4" y="43"/>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7" name="Freeform 89"/>
                            <p:cNvSpPr/>
                            <p:nvPr/>
                          </p:nvSpPr>
                          <p:spPr bwMode="auto">
                            <a:xfrm>
                              <a:off x="2591" y="3085"/>
                              <a:ext cx="9" cy="5"/>
                            </a:xfrm>
                            <a:custGeom>
                              <a:avLst/>
                              <a:gdLst>
                                <a:gd name="T0" fmla="*/ 35 w 68"/>
                                <a:gd name="T1" fmla="*/ 0 h 43"/>
                                <a:gd name="T2" fmla="*/ 68 w 68"/>
                                <a:gd name="T3" fmla="*/ 21 h 43"/>
                                <a:gd name="T4" fmla="*/ 33 w 68"/>
                                <a:gd name="T5" fmla="*/ 43 h 43"/>
                                <a:gd name="T6" fmla="*/ 0 w 68"/>
                                <a:gd name="T7" fmla="*/ 22 h 43"/>
                                <a:gd name="T8" fmla="*/ 35 w 68"/>
                                <a:gd name="T9" fmla="*/ 0 h 43"/>
                              </a:gdLst>
                              <a:ahLst/>
                              <a:cxnLst>
                                <a:cxn ang="0">
                                  <a:pos x="T0" y="T1"/>
                                </a:cxn>
                                <a:cxn ang="0">
                                  <a:pos x="T2" y="T3"/>
                                </a:cxn>
                                <a:cxn ang="0">
                                  <a:pos x="T4" y="T5"/>
                                </a:cxn>
                                <a:cxn ang="0">
                                  <a:pos x="T6" y="T7"/>
                                </a:cxn>
                                <a:cxn ang="0">
                                  <a:pos x="T8" y="T9"/>
                                </a:cxn>
                              </a:cxnLst>
                              <a:rect l="0" t="0" r="r" b="b"/>
                              <a:pathLst>
                                <a:path w="68" h="43">
                                  <a:moveTo>
                                    <a:pt x="35" y="0"/>
                                  </a:moveTo>
                                  <a:lnTo>
                                    <a:pt x="68" y="21"/>
                                  </a:lnTo>
                                  <a:lnTo>
                                    <a:pt x="33" y="43"/>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8" name="Freeform 90"/>
                            <p:cNvSpPr/>
                            <p:nvPr/>
                          </p:nvSpPr>
                          <p:spPr bwMode="auto">
                            <a:xfrm>
                              <a:off x="2597" y="3082"/>
                              <a:ext cx="9" cy="5"/>
                            </a:xfrm>
                            <a:custGeom>
                              <a:avLst/>
                              <a:gdLst>
                                <a:gd name="T0" fmla="*/ 36 w 67"/>
                                <a:gd name="T1" fmla="*/ 0 h 41"/>
                                <a:gd name="T2" fmla="*/ 67 w 67"/>
                                <a:gd name="T3" fmla="*/ 20 h 41"/>
                                <a:gd name="T4" fmla="*/ 32 w 67"/>
                                <a:gd name="T5" fmla="*/ 41 h 41"/>
                                <a:gd name="T6" fmla="*/ 0 w 67"/>
                                <a:gd name="T7" fmla="*/ 22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20"/>
                                  </a:lnTo>
                                  <a:lnTo>
                                    <a:pt x="32" y="41"/>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9" name="Freeform 91"/>
                            <p:cNvSpPr/>
                            <p:nvPr/>
                          </p:nvSpPr>
                          <p:spPr bwMode="auto">
                            <a:xfrm>
                              <a:off x="2603" y="3080"/>
                              <a:ext cx="8" cy="5"/>
                            </a:xfrm>
                            <a:custGeom>
                              <a:avLst/>
                              <a:gdLst>
                                <a:gd name="T0" fmla="*/ 26 w 56"/>
                                <a:gd name="T1" fmla="*/ 0 h 34"/>
                                <a:gd name="T2" fmla="*/ 56 w 56"/>
                                <a:gd name="T3" fmla="*/ 19 h 34"/>
                                <a:gd name="T4" fmla="*/ 29 w 56"/>
                                <a:gd name="T5" fmla="*/ 34 h 34"/>
                                <a:gd name="T6" fmla="*/ 0 w 56"/>
                                <a:gd name="T7" fmla="*/ 15 h 34"/>
                                <a:gd name="T8" fmla="*/ 26 w 56"/>
                                <a:gd name="T9" fmla="*/ 0 h 34"/>
                              </a:gdLst>
                              <a:ahLst/>
                              <a:cxnLst>
                                <a:cxn ang="0">
                                  <a:pos x="T0" y="T1"/>
                                </a:cxn>
                                <a:cxn ang="0">
                                  <a:pos x="T2" y="T3"/>
                                </a:cxn>
                                <a:cxn ang="0">
                                  <a:pos x="T4" y="T5"/>
                                </a:cxn>
                                <a:cxn ang="0">
                                  <a:pos x="T6" y="T7"/>
                                </a:cxn>
                                <a:cxn ang="0">
                                  <a:pos x="T8" y="T9"/>
                                </a:cxn>
                              </a:cxnLst>
                              <a:rect l="0" t="0" r="r" b="b"/>
                              <a:pathLst>
                                <a:path w="56" h="34">
                                  <a:moveTo>
                                    <a:pt x="26" y="0"/>
                                  </a:moveTo>
                                  <a:lnTo>
                                    <a:pt x="56" y="19"/>
                                  </a:lnTo>
                                  <a:lnTo>
                                    <a:pt x="29" y="34"/>
                                  </a:lnTo>
                                  <a:lnTo>
                                    <a:pt x="0" y="15"/>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0" name="Freeform 92"/>
                            <p:cNvSpPr/>
                            <p:nvPr/>
                          </p:nvSpPr>
                          <p:spPr bwMode="auto">
                            <a:xfrm>
                              <a:off x="2580" y="3085"/>
                              <a:ext cx="9" cy="5"/>
                            </a:xfrm>
                            <a:custGeom>
                              <a:avLst/>
                              <a:gdLst>
                                <a:gd name="T0" fmla="*/ 35 w 67"/>
                                <a:gd name="T1" fmla="*/ 0 h 43"/>
                                <a:gd name="T2" fmla="*/ 67 w 67"/>
                                <a:gd name="T3" fmla="*/ 21 h 43"/>
                                <a:gd name="T4" fmla="*/ 31 w 67"/>
                                <a:gd name="T5" fmla="*/ 43 h 43"/>
                                <a:gd name="T6" fmla="*/ 0 w 67"/>
                                <a:gd name="T7" fmla="*/ 21 h 43"/>
                                <a:gd name="T8" fmla="*/ 35 w 67"/>
                                <a:gd name="T9" fmla="*/ 0 h 43"/>
                              </a:gdLst>
                              <a:ahLst/>
                              <a:cxnLst>
                                <a:cxn ang="0">
                                  <a:pos x="T0" y="T1"/>
                                </a:cxn>
                                <a:cxn ang="0">
                                  <a:pos x="T2" y="T3"/>
                                </a:cxn>
                                <a:cxn ang="0">
                                  <a:pos x="T4" y="T5"/>
                                </a:cxn>
                                <a:cxn ang="0">
                                  <a:pos x="T6" y="T7"/>
                                </a:cxn>
                                <a:cxn ang="0">
                                  <a:pos x="T8" y="T9"/>
                                </a:cxn>
                              </a:cxnLst>
                              <a:rect l="0" t="0" r="r" b="b"/>
                              <a:pathLst>
                                <a:path w="67" h="43">
                                  <a:moveTo>
                                    <a:pt x="35" y="0"/>
                                  </a:moveTo>
                                  <a:lnTo>
                                    <a:pt x="67" y="21"/>
                                  </a:lnTo>
                                  <a:lnTo>
                                    <a:pt x="31"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1" name="Freeform 93"/>
                            <p:cNvSpPr/>
                            <p:nvPr/>
                          </p:nvSpPr>
                          <p:spPr bwMode="auto">
                            <a:xfrm>
                              <a:off x="2586" y="3082"/>
                              <a:ext cx="9" cy="5"/>
                            </a:xfrm>
                            <a:custGeom>
                              <a:avLst/>
                              <a:gdLst>
                                <a:gd name="T0" fmla="*/ 37 w 66"/>
                                <a:gd name="T1" fmla="*/ 0 h 42"/>
                                <a:gd name="T2" fmla="*/ 66 w 66"/>
                                <a:gd name="T3" fmla="*/ 20 h 42"/>
                                <a:gd name="T4" fmla="*/ 31 w 66"/>
                                <a:gd name="T5" fmla="*/ 42 h 42"/>
                                <a:gd name="T6" fmla="*/ 0 w 66"/>
                                <a:gd name="T7" fmla="*/ 21 h 42"/>
                                <a:gd name="T8" fmla="*/ 37 w 66"/>
                                <a:gd name="T9" fmla="*/ 0 h 42"/>
                              </a:gdLst>
                              <a:ahLst/>
                              <a:cxnLst>
                                <a:cxn ang="0">
                                  <a:pos x="T0" y="T1"/>
                                </a:cxn>
                                <a:cxn ang="0">
                                  <a:pos x="T2" y="T3"/>
                                </a:cxn>
                                <a:cxn ang="0">
                                  <a:pos x="T4" y="T5"/>
                                </a:cxn>
                                <a:cxn ang="0">
                                  <a:pos x="T6" y="T7"/>
                                </a:cxn>
                                <a:cxn ang="0">
                                  <a:pos x="T8" y="T9"/>
                                </a:cxn>
                              </a:cxnLst>
                              <a:rect l="0" t="0" r="r" b="b"/>
                              <a:pathLst>
                                <a:path w="66" h="42">
                                  <a:moveTo>
                                    <a:pt x="37" y="0"/>
                                  </a:moveTo>
                                  <a:lnTo>
                                    <a:pt x="66" y="20"/>
                                  </a:lnTo>
                                  <a:lnTo>
                                    <a:pt x="31" y="42"/>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2" name="Freeform 94"/>
                            <p:cNvSpPr/>
                            <p:nvPr/>
                          </p:nvSpPr>
                          <p:spPr bwMode="auto">
                            <a:xfrm>
                              <a:off x="2592" y="3080"/>
                              <a:ext cx="10" cy="5"/>
                            </a:xfrm>
                            <a:custGeom>
                              <a:avLst/>
                              <a:gdLst>
                                <a:gd name="T0" fmla="*/ 36 w 68"/>
                                <a:gd name="T1" fmla="*/ 0 h 41"/>
                                <a:gd name="T2" fmla="*/ 68 w 68"/>
                                <a:gd name="T3" fmla="*/ 19 h 41"/>
                                <a:gd name="T4" fmla="*/ 31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1" y="41"/>
                                  </a:lnTo>
                                  <a:lnTo>
                                    <a:pt x="0" y="20"/>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3" name="Freeform 95"/>
                            <p:cNvSpPr/>
                            <p:nvPr/>
                          </p:nvSpPr>
                          <p:spPr bwMode="auto">
                            <a:xfrm>
                              <a:off x="2598" y="3078"/>
                              <a:ext cx="8" cy="4"/>
                            </a:xfrm>
                            <a:custGeom>
                              <a:avLst/>
                              <a:gdLst>
                                <a:gd name="T0" fmla="*/ 26 w 57"/>
                                <a:gd name="T1" fmla="*/ 0 h 35"/>
                                <a:gd name="T2" fmla="*/ 57 w 57"/>
                                <a:gd name="T3" fmla="*/ 19 h 35"/>
                                <a:gd name="T4" fmla="*/ 33 w 57"/>
                                <a:gd name="T5" fmla="*/ 35 h 35"/>
                                <a:gd name="T6" fmla="*/ 0 w 57"/>
                                <a:gd name="T7" fmla="*/ 14 h 35"/>
                                <a:gd name="T8" fmla="*/ 26 w 57"/>
                                <a:gd name="T9" fmla="*/ 0 h 35"/>
                              </a:gdLst>
                              <a:ahLst/>
                              <a:cxnLst>
                                <a:cxn ang="0">
                                  <a:pos x="T0" y="T1"/>
                                </a:cxn>
                                <a:cxn ang="0">
                                  <a:pos x="T2" y="T3"/>
                                </a:cxn>
                                <a:cxn ang="0">
                                  <a:pos x="T4" y="T5"/>
                                </a:cxn>
                                <a:cxn ang="0">
                                  <a:pos x="T6" y="T7"/>
                                </a:cxn>
                                <a:cxn ang="0">
                                  <a:pos x="T8" y="T9"/>
                                </a:cxn>
                              </a:cxnLst>
                              <a:rect l="0" t="0" r="r" b="b"/>
                              <a:pathLst>
                                <a:path w="57" h="35">
                                  <a:moveTo>
                                    <a:pt x="26" y="0"/>
                                  </a:moveTo>
                                  <a:lnTo>
                                    <a:pt x="57" y="19"/>
                                  </a:lnTo>
                                  <a:lnTo>
                                    <a:pt x="33" y="35"/>
                                  </a:lnTo>
                                  <a:lnTo>
                                    <a:pt x="0" y="14"/>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4" name="Freeform 96"/>
                            <p:cNvSpPr/>
                            <p:nvPr/>
                          </p:nvSpPr>
                          <p:spPr bwMode="auto">
                            <a:xfrm>
                              <a:off x="2573" y="3087"/>
                              <a:ext cx="10" cy="6"/>
                            </a:xfrm>
                            <a:custGeom>
                              <a:avLst/>
                              <a:gdLst>
                                <a:gd name="T0" fmla="*/ 37 w 70"/>
                                <a:gd name="T1" fmla="*/ 0 h 42"/>
                                <a:gd name="T2" fmla="*/ 70 w 70"/>
                                <a:gd name="T3" fmla="*/ 22 h 42"/>
                                <a:gd name="T4" fmla="*/ 30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2"/>
                                  </a:lnTo>
                                  <a:lnTo>
                                    <a:pt x="30"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5" name="Freeform 97"/>
                            <p:cNvSpPr/>
                            <p:nvPr/>
                          </p:nvSpPr>
                          <p:spPr bwMode="auto">
                            <a:xfrm>
                              <a:off x="2568" y="3085"/>
                              <a:ext cx="10" cy="5"/>
                            </a:xfrm>
                            <a:custGeom>
                              <a:avLst/>
                              <a:gdLst>
                                <a:gd name="T0" fmla="*/ 41 w 70"/>
                                <a:gd name="T1" fmla="*/ 0 h 43"/>
                                <a:gd name="T2" fmla="*/ 70 w 70"/>
                                <a:gd name="T3" fmla="*/ 21 h 43"/>
                                <a:gd name="T4" fmla="*/ 33 w 70"/>
                                <a:gd name="T5" fmla="*/ 43 h 43"/>
                                <a:gd name="T6" fmla="*/ 0 w 70"/>
                                <a:gd name="T7" fmla="*/ 21 h 43"/>
                                <a:gd name="T8" fmla="*/ 41 w 70"/>
                                <a:gd name="T9" fmla="*/ 0 h 43"/>
                              </a:gdLst>
                              <a:ahLst/>
                              <a:cxnLst>
                                <a:cxn ang="0">
                                  <a:pos x="T0" y="T1"/>
                                </a:cxn>
                                <a:cxn ang="0">
                                  <a:pos x="T2" y="T3"/>
                                </a:cxn>
                                <a:cxn ang="0">
                                  <a:pos x="T4" y="T5"/>
                                </a:cxn>
                                <a:cxn ang="0">
                                  <a:pos x="T6" y="T7"/>
                                </a:cxn>
                                <a:cxn ang="0">
                                  <a:pos x="T8" y="T9"/>
                                </a:cxn>
                              </a:cxnLst>
                              <a:rect l="0" t="0" r="r" b="b"/>
                              <a:pathLst>
                                <a:path w="70" h="43">
                                  <a:moveTo>
                                    <a:pt x="41" y="0"/>
                                  </a:moveTo>
                                  <a:lnTo>
                                    <a:pt x="70" y="21"/>
                                  </a:lnTo>
                                  <a:lnTo>
                                    <a:pt x="33" y="43"/>
                                  </a:lnTo>
                                  <a:lnTo>
                                    <a:pt x="0" y="21"/>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6" name="Freeform 98"/>
                            <p:cNvSpPr/>
                            <p:nvPr/>
                          </p:nvSpPr>
                          <p:spPr bwMode="auto">
                            <a:xfrm>
                              <a:off x="2575" y="3083"/>
                              <a:ext cx="10" cy="4"/>
                            </a:xfrm>
                            <a:custGeom>
                              <a:avLst/>
                              <a:gdLst>
                                <a:gd name="T0" fmla="*/ 37 w 69"/>
                                <a:gd name="T1" fmla="*/ 0 h 39"/>
                                <a:gd name="T2" fmla="*/ 69 w 69"/>
                                <a:gd name="T3" fmla="*/ 18 h 39"/>
                                <a:gd name="T4" fmla="*/ 32 w 69"/>
                                <a:gd name="T5" fmla="*/ 39 h 39"/>
                                <a:gd name="T6" fmla="*/ 0 w 69"/>
                                <a:gd name="T7" fmla="*/ 18 h 39"/>
                                <a:gd name="T8" fmla="*/ 37 w 69"/>
                                <a:gd name="T9" fmla="*/ 0 h 39"/>
                              </a:gdLst>
                              <a:ahLst/>
                              <a:cxnLst>
                                <a:cxn ang="0">
                                  <a:pos x="T0" y="T1"/>
                                </a:cxn>
                                <a:cxn ang="0">
                                  <a:pos x="T2" y="T3"/>
                                </a:cxn>
                                <a:cxn ang="0">
                                  <a:pos x="T4" y="T5"/>
                                </a:cxn>
                                <a:cxn ang="0">
                                  <a:pos x="T6" y="T7"/>
                                </a:cxn>
                                <a:cxn ang="0">
                                  <a:pos x="T8" y="T9"/>
                                </a:cxn>
                              </a:cxnLst>
                              <a:rect l="0" t="0" r="r" b="b"/>
                              <a:pathLst>
                                <a:path w="69" h="39">
                                  <a:moveTo>
                                    <a:pt x="37" y="0"/>
                                  </a:moveTo>
                                  <a:lnTo>
                                    <a:pt x="69" y="18"/>
                                  </a:lnTo>
                                  <a:lnTo>
                                    <a:pt x="32" y="39"/>
                                  </a:lnTo>
                                  <a:lnTo>
                                    <a:pt x="0" y="18"/>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7" name="Freeform 99"/>
                            <p:cNvSpPr/>
                            <p:nvPr/>
                          </p:nvSpPr>
                          <p:spPr bwMode="auto">
                            <a:xfrm>
                              <a:off x="2581" y="3080"/>
                              <a:ext cx="10" cy="5"/>
                            </a:xfrm>
                            <a:custGeom>
                              <a:avLst/>
                              <a:gdLst>
                                <a:gd name="T0" fmla="*/ 37 w 69"/>
                                <a:gd name="T1" fmla="*/ 0 h 42"/>
                                <a:gd name="T2" fmla="*/ 69 w 69"/>
                                <a:gd name="T3" fmla="*/ 20 h 42"/>
                                <a:gd name="T4" fmla="*/ 33 w 69"/>
                                <a:gd name="T5" fmla="*/ 42 h 42"/>
                                <a:gd name="T6" fmla="*/ 0 w 69"/>
                                <a:gd name="T7" fmla="*/ 20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0"/>
                                  </a:lnTo>
                                  <a:lnTo>
                                    <a:pt x="33"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8" name="Freeform 100"/>
                            <p:cNvSpPr/>
                            <p:nvPr/>
                          </p:nvSpPr>
                          <p:spPr bwMode="auto">
                            <a:xfrm>
                              <a:off x="2587" y="3077"/>
                              <a:ext cx="10" cy="5"/>
                            </a:xfrm>
                            <a:custGeom>
                              <a:avLst/>
                              <a:gdLst>
                                <a:gd name="T0" fmla="*/ 38 w 70"/>
                                <a:gd name="T1" fmla="*/ 0 h 40"/>
                                <a:gd name="T2" fmla="*/ 70 w 70"/>
                                <a:gd name="T3" fmla="*/ 19 h 40"/>
                                <a:gd name="T4" fmla="*/ 32 w 70"/>
                                <a:gd name="T5" fmla="*/ 40 h 40"/>
                                <a:gd name="T6" fmla="*/ 0 w 70"/>
                                <a:gd name="T7" fmla="*/ 20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19"/>
                                  </a:lnTo>
                                  <a:lnTo>
                                    <a:pt x="32" y="40"/>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9" name="Freeform 101"/>
                            <p:cNvSpPr/>
                            <p:nvPr/>
                          </p:nvSpPr>
                          <p:spPr bwMode="auto">
                            <a:xfrm>
                              <a:off x="2593" y="3076"/>
                              <a:ext cx="8" cy="4"/>
                            </a:xfrm>
                            <a:custGeom>
                              <a:avLst/>
                              <a:gdLst>
                                <a:gd name="T0" fmla="*/ 23 w 56"/>
                                <a:gd name="T1" fmla="*/ 0 h 34"/>
                                <a:gd name="T2" fmla="*/ 56 w 56"/>
                                <a:gd name="T3" fmla="*/ 20 h 34"/>
                                <a:gd name="T4" fmla="*/ 32 w 56"/>
                                <a:gd name="T5" fmla="*/ 34 h 34"/>
                                <a:gd name="T6" fmla="*/ 0 w 56"/>
                                <a:gd name="T7" fmla="*/ 12 h 34"/>
                                <a:gd name="T8" fmla="*/ 23 w 56"/>
                                <a:gd name="T9" fmla="*/ 0 h 34"/>
                              </a:gdLst>
                              <a:ahLst/>
                              <a:cxnLst>
                                <a:cxn ang="0">
                                  <a:pos x="T0" y="T1"/>
                                </a:cxn>
                                <a:cxn ang="0">
                                  <a:pos x="T2" y="T3"/>
                                </a:cxn>
                                <a:cxn ang="0">
                                  <a:pos x="T4" y="T5"/>
                                </a:cxn>
                                <a:cxn ang="0">
                                  <a:pos x="T6" y="T7"/>
                                </a:cxn>
                                <a:cxn ang="0">
                                  <a:pos x="T8" y="T9"/>
                                </a:cxn>
                              </a:cxnLst>
                              <a:rect l="0" t="0" r="r" b="b"/>
                              <a:pathLst>
                                <a:path w="56" h="34">
                                  <a:moveTo>
                                    <a:pt x="23" y="0"/>
                                  </a:moveTo>
                                  <a:lnTo>
                                    <a:pt x="56" y="20"/>
                                  </a:lnTo>
                                  <a:lnTo>
                                    <a:pt x="32" y="34"/>
                                  </a:lnTo>
                                  <a:lnTo>
                                    <a:pt x="0" y="12"/>
                                  </a:lnTo>
                                  <a:lnTo>
                                    <a:pt x="2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0" name="Freeform 102"/>
                            <p:cNvSpPr/>
                            <p:nvPr/>
                          </p:nvSpPr>
                          <p:spPr bwMode="auto">
                            <a:xfrm>
                              <a:off x="2571" y="3080"/>
                              <a:ext cx="9" cy="5"/>
                            </a:xfrm>
                            <a:custGeom>
                              <a:avLst/>
                              <a:gdLst>
                                <a:gd name="T0" fmla="*/ 39 w 64"/>
                                <a:gd name="T1" fmla="*/ 0 h 38"/>
                                <a:gd name="T2" fmla="*/ 64 w 64"/>
                                <a:gd name="T3" fmla="*/ 19 h 38"/>
                                <a:gd name="T4" fmla="*/ 27 w 64"/>
                                <a:gd name="T5" fmla="*/ 38 h 38"/>
                                <a:gd name="T6" fmla="*/ 0 w 64"/>
                                <a:gd name="T7" fmla="*/ 20 h 38"/>
                                <a:gd name="T8" fmla="*/ 39 w 64"/>
                                <a:gd name="T9" fmla="*/ 0 h 38"/>
                              </a:gdLst>
                              <a:ahLst/>
                              <a:cxnLst>
                                <a:cxn ang="0">
                                  <a:pos x="T0" y="T1"/>
                                </a:cxn>
                                <a:cxn ang="0">
                                  <a:pos x="T2" y="T3"/>
                                </a:cxn>
                                <a:cxn ang="0">
                                  <a:pos x="T4" y="T5"/>
                                </a:cxn>
                                <a:cxn ang="0">
                                  <a:pos x="T6" y="T7"/>
                                </a:cxn>
                                <a:cxn ang="0">
                                  <a:pos x="T8" y="T9"/>
                                </a:cxn>
                              </a:cxnLst>
                              <a:rect l="0" t="0" r="r" b="b"/>
                              <a:pathLst>
                                <a:path w="64" h="38">
                                  <a:moveTo>
                                    <a:pt x="39" y="0"/>
                                  </a:moveTo>
                                  <a:lnTo>
                                    <a:pt x="64" y="19"/>
                                  </a:lnTo>
                                  <a:lnTo>
                                    <a:pt x="27" y="38"/>
                                  </a:lnTo>
                                  <a:lnTo>
                                    <a:pt x="0" y="20"/>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1" name="Freeform 103"/>
                            <p:cNvSpPr/>
                            <p:nvPr/>
                          </p:nvSpPr>
                          <p:spPr bwMode="auto">
                            <a:xfrm>
                              <a:off x="2577" y="3078"/>
                              <a:ext cx="9" cy="4"/>
                            </a:xfrm>
                            <a:custGeom>
                              <a:avLst/>
                              <a:gdLst>
                                <a:gd name="T0" fmla="*/ 37 w 64"/>
                                <a:gd name="T1" fmla="*/ 0 h 37"/>
                                <a:gd name="T2" fmla="*/ 64 w 64"/>
                                <a:gd name="T3" fmla="*/ 18 h 37"/>
                                <a:gd name="T4" fmla="*/ 26 w 64"/>
                                <a:gd name="T5" fmla="*/ 37 h 37"/>
                                <a:gd name="T6" fmla="*/ 0 w 64"/>
                                <a:gd name="T7" fmla="*/ 20 h 37"/>
                                <a:gd name="T8" fmla="*/ 37 w 64"/>
                                <a:gd name="T9" fmla="*/ 0 h 37"/>
                              </a:gdLst>
                              <a:ahLst/>
                              <a:cxnLst>
                                <a:cxn ang="0">
                                  <a:pos x="T0" y="T1"/>
                                </a:cxn>
                                <a:cxn ang="0">
                                  <a:pos x="T2" y="T3"/>
                                </a:cxn>
                                <a:cxn ang="0">
                                  <a:pos x="T4" y="T5"/>
                                </a:cxn>
                                <a:cxn ang="0">
                                  <a:pos x="T6" y="T7"/>
                                </a:cxn>
                                <a:cxn ang="0">
                                  <a:pos x="T8" y="T9"/>
                                </a:cxn>
                              </a:cxnLst>
                              <a:rect l="0" t="0" r="r" b="b"/>
                              <a:pathLst>
                                <a:path w="64" h="37">
                                  <a:moveTo>
                                    <a:pt x="37" y="0"/>
                                  </a:moveTo>
                                  <a:lnTo>
                                    <a:pt x="64" y="18"/>
                                  </a:lnTo>
                                  <a:lnTo>
                                    <a:pt x="26" y="37"/>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2" name="Freeform 104"/>
                            <p:cNvSpPr/>
                            <p:nvPr/>
                          </p:nvSpPr>
                          <p:spPr bwMode="auto">
                            <a:xfrm>
                              <a:off x="2583" y="3075"/>
                              <a:ext cx="9" cy="5"/>
                            </a:xfrm>
                            <a:custGeom>
                              <a:avLst/>
                              <a:gdLst>
                                <a:gd name="T0" fmla="*/ 42 w 68"/>
                                <a:gd name="T1" fmla="*/ 0 h 39"/>
                                <a:gd name="T2" fmla="*/ 68 w 68"/>
                                <a:gd name="T3" fmla="*/ 17 h 39"/>
                                <a:gd name="T4" fmla="*/ 30 w 68"/>
                                <a:gd name="T5" fmla="*/ 39 h 39"/>
                                <a:gd name="T6" fmla="*/ 0 w 68"/>
                                <a:gd name="T7" fmla="*/ 20 h 39"/>
                                <a:gd name="T8" fmla="*/ 42 w 68"/>
                                <a:gd name="T9" fmla="*/ 0 h 39"/>
                              </a:gdLst>
                              <a:ahLst/>
                              <a:cxnLst>
                                <a:cxn ang="0">
                                  <a:pos x="T0" y="T1"/>
                                </a:cxn>
                                <a:cxn ang="0">
                                  <a:pos x="T2" y="T3"/>
                                </a:cxn>
                                <a:cxn ang="0">
                                  <a:pos x="T4" y="T5"/>
                                </a:cxn>
                                <a:cxn ang="0">
                                  <a:pos x="T6" y="T7"/>
                                </a:cxn>
                                <a:cxn ang="0">
                                  <a:pos x="T8" y="T9"/>
                                </a:cxn>
                              </a:cxnLst>
                              <a:rect l="0" t="0" r="r" b="b"/>
                              <a:pathLst>
                                <a:path w="68" h="39">
                                  <a:moveTo>
                                    <a:pt x="42" y="0"/>
                                  </a:moveTo>
                                  <a:lnTo>
                                    <a:pt x="68" y="17"/>
                                  </a:lnTo>
                                  <a:lnTo>
                                    <a:pt x="30" y="39"/>
                                  </a:lnTo>
                                  <a:lnTo>
                                    <a:pt x="0" y="20"/>
                                  </a:lnTo>
                                  <a:lnTo>
                                    <a:pt x="42"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3" name="Freeform 105"/>
                            <p:cNvSpPr/>
                            <p:nvPr/>
                          </p:nvSpPr>
                          <p:spPr bwMode="auto">
                            <a:xfrm>
                              <a:off x="2589" y="3073"/>
                              <a:ext cx="7" cy="5"/>
                            </a:xfrm>
                            <a:custGeom>
                              <a:avLst/>
                              <a:gdLst>
                                <a:gd name="T0" fmla="*/ 25 w 54"/>
                                <a:gd name="T1" fmla="*/ 0 h 34"/>
                                <a:gd name="T2" fmla="*/ 54 w 54"/>
                                <a:gd name="T3" fmla="*/ 22 h 34"/>
                                <a:gd name="T4" fmla="*/ 31 w 54"/>
                                <a:gd name="T5" fmla="*/ 34 h 34"/>
                                <a:gd name="T6" fmla="*/ 0 w 54"/>
                                <a:gd name="T7" fmla="*/ 13 h 34"/>
                                <a:gd name="T8" fmla="*/ 25 w 54"/>
                                <a:gd name="T9" fmla="*/ 0 h 34"/>
                              </a:gdLst>
                              <a:ahLst/>
                              <a:cxnLst>
                                <a:cxn ang="0">
                                  <a:pos x="T0" y="T1"/>
                                </a:cxn>
                                <a:cxn ang="0">
                                  <a:pos x="T2" y="T3"/>
                                </a:cxn>
                                <a:cxn ang="0">
                                  <a:pos x="T4" y="T5"/>
                                </a:cxn>
                                <a:cxn ang="0">
                                  <a:pos x="T6" y="T7"/>
                                </a:cxn>
                                <a:cxn ang="0">
                                  <a:pos x="T8" y="T9"/>
                                </a:cxn>
                              </a:cxnLst>
                              <a:rect l="0" t="0" r="r" b="b"/>
                              <a:pathLst>
                                <a:path w="54" h="34">
                                  <a:moveTo>
                                    <a:pt x="25" y="0"/>
                                  </a:moveTo>
                                  <a:lnTo>
                                    <a:pt x="54" y="22"/>
                                  </a:lnTo>
                                  <a:lnTo>
                                    <a:pt x="31" y="34"/>
                                  </a:lnTo>
                                  <a:lnTo>
                                    <a:pt x="0" y="13"/>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4" name="Freeform 106"/>
                            <p:cNvSpPr/>
                            <p:nvPr/>
                          </p:nvSpPr>
                          <p:spPr bwMode="auto">
                            <a:xfrm>
                              <a:off x="2564" y="3083"/>
                              <a:ext cx="10" cy="4"/>
                            </a:xfrm>
                            <a:custGeom>
                              <a:avLst/>
                              <a:gdLst>
                                <a:gd name="T0" fmla="*/ 40 w 64"/>
                                <a:gd name="T1" fmla="*/ 0 h 37"/>
                                <a:gd name="T2" fmla="*/ 64 w 64"/>
                                <a:gd name="T3" fmla="*/ 15 h 37"/>
                                <a:gd name="T4" fmla="*/ 25 w 64"/>
                                <a:gd name="T5" fmla="*/ 37 h 37"/>
                                <a:gd name="T6" fmla="*/ 0 w 64"/>
                                <a:gd name="T7" fmla="*/ 19 h 37"/>
                                <a:gd name="T8" fmla="*/ 40 w 64"/>
                                <a:gd name="T9" fmla="*/ 0 h 37"/>
                              </a:gdLst>
                              <a:ahLst/>
                              <a:cxnLst>
                                <a:cxn ang="0">
                                  <a:pos x="T0" y="T1"/>
                                </a:cxn>
                                <a:cxn ang="0">
                                  <a:pos x="T2" y="T3"/>
                                </a:cxn>
                                <a:cxn ang="0">
                                  <a:pos x="T4" y="T5"/>
                                </a:cxn>
                                <a:cxn ang="0">
                                  <a:pos x="T6" y="T7"/>
                                </a:cxn>
                                <a:cxn ang="0">
                                  <a:pos x="T8" y="T9"/>
                                </a:cxn>
                              </a:cxnLst>
                              <a:rect l="0" t="0" r="r" b="b"/>
                              <a:pathLst>
                                <a:path w="64" h="37">
                                  <a:moveTo>
                                    <a:pt x="40" y="0"/>
                                  </a:moveTo>
                                  <a:lnTo>
                                    <a:pt x="64" y="15"/>
                                  </a:lnTo>
                                  <a:lnTo>
                                    <a:pt x="25" y="37"/>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5" name="Freeform 107"/>
                            <p:cNvSpPr/>
                            <p:nvPr/>
                          </p:nvSpPr>
                          <p:spPr bwMode="auto">
                            <a:xfrm>
                              <a:off x="2565" y="3077"/>
                              <a:ext cx="11" cy="6"/>
                            </a:xfrm>
                            <a:custGeom>
                              <a:avLst/>
                              <a:gdLst>
                                <a:gd name="T0" fmla="*/ 38 w 74"/>
                                <a:gd name="T1" fmla="*/ 0 h 44"/>
                                <a:gd name="T2" fmla="*/ 74 w 74"/>
                                <a:gd name="T3" fmla="*/ 23 h 44"/>
                                <a:gd name="T4" fmla="*/ 38 w 74"/>
                                <a:gd name="T5" fmla="*/ 44 h 44"/>
                                <a:gd name="T6" fmla="*/ 0 w 74"/>
                                <a:gd name="T7" fmla="*/ 18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3"/>
                                  </a:lnTo>
                                  <a:lnTo>
                                    <a:pt x="38" y="44"/>
                                  </a:lnTo>
                                  <a:lnTo>
                                    <a:pt x="0" y="18"/>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6" name="Freeform 108"/>
                            <p:cNvSpPr/>
                            <p:nvPr/>
                          </p:nvSpPr>
                          <p:spPr bwMode="auto">
                            <a:xfrm>
                              <a:off x="2571" y="3075"/>
                              <a:ext cx="11" cy="5"/>
                            </a:xfrm>
                            <a:custGeom>
                              <a:avLst/>
                              <a:gdLst>
                                <a:gd name="T0" fmla="*/ 40 w 75"/>
                                <a:gd name="T1" fmla="*/ 0 h 43"/>
                                <a:gd name="T2" fmla="*/ 75 w 75"/>
                                <a:gd name="T3" fmla="*/ 24 h 43"/>
                                <a:gd name="T4" fmla="*/ 37 w 75"/>
                                <a:gd name="T5" fmla="*/ 43 h 43"/>
                                <a:gd name="T6" fmla="*/ 0 w 75"/>
                                <a:gd name="T7" fmla="*/ 19 h 43"/>
                                <a:gd name="T8" fmla="*/ 40 w 75"/>
                                <a:gd name="T9" fmla="*/ 0 h 43"/>
                              </a:gdLst>
                              <a:ahLst/>
                              <a:cxnLst>
                                <a:cxn ang="0">
                                  <a:pos x="T0" y="T1"/>
                                </a:cxn>
                                <a:cxn ang="0">
                                  <a:pos x="T2" y="T3"/>
                                </a:cxn>
                                <a:cxn ang="0">
                                  <a:pos x="T4" y="T5"/>
                                </a:cxn>
                                <a:cxn ang="0">
                                  <a:pos x="T6" y="T7"/>
                                </a:cxn>
                                <a:cxn ang="0">
                                  <a:pos x="T8" y="T9"/>
                                </a:cxn>
                              </a:cxnLst>
                              <a:rect l="0" t="0" r="r" b="b"/>
                              <a:pathLst>
                                <a:path w="75" h="43">
                                  <a:moveTo>
                                    <a:pt x="40" y="0"/>
                                  </a:moveTo>
                                  <a:lnTo>
                                    <a:pt x="75" y="24"/>
                                  </a:lnTo>
                                  <a:lnTo>
                                    <a:pt x="37" y="43"/>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7" name="Freeform 109"/>
                            <p:cNvSpPr/>
                            <p:nvPr/>
                          </p:nvSpPr>
                          <p:spPr bwMode="auto">
                            <a:xfrm>
                              <a:off x="2577" y="3072"/>
                              <a:ext cx="11" cy="6"/>
                            </a:xfrm>
                            <a:custGeom>
                              <a:avLst/>
                              <a:gdLst>
                                <a:gd name="T0" fmla="*/ 38 w 74"/>
                                <a:gd name="T1" fmla="*/ 0 h 42"/>
                                <a:gd name="T2" fmla="*/ 74 w 74"/>
                                <a:gd name="T3" fmla="*/ 21 h 42"/>
                                <a:gd name="T4" fmla="*/ 36 w 74"/>
                                <a:gd name="T5" fmla="*/ 42 h 42"/>
                                <a:gd name="T6" fmla="*/ 0 w 74"/>
                                <a:gd name="T7" fmla="*/ 19 h 42"/>
                                <a:gd name="T8" fmla="*/ 38 w 74"/>
                                <a:gd name="T9" fmla="*/ 0 h 42"/>
                              </a:gdLst>
                              <a:ahLst/>
                              <a:cxnLst>
                                <a:cxn ang="0">
                                  <a:pos x="T0" y="T1"/>
                                </a:cxn>
                                <a:cxn ang="0">
                                  <a:pos x="T2" y="T3"/>
                                </a:cxn>
                                <a:cxn ang="0">
                                  <a:pos x="T4" y="T5"/>
                                </a:cxn>
                                <a:cxn ang="0">
                                  <a:pos x="T6" y="T7"/>
                                </a:cxn>
                                <a:cxn ang="0">
                                  <a:pos x="T8" y="T9"/>
                                </a:cxn>
                              </a:cxnLst>
                              <a:rect l="0" t="0" r="r" b="b"/>
                              <a:pathLst>
                                <a:path w="74" h="42">
                                  <a:moveTo>
                                    <a:pt x="38" y="0"/>
                                  </a:moveTo>
                                  <a:lnTo>
                                    <a:pt x="74" y="21"/>
                                  </a:lnTo>
                                  <a:lnTo>
                                    <a:pt x="36" y="42"/>
                                  </a:lnTo>
                                  <a:lnTo>
                                    <a:pt x="0" y="19"/>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8" name="Freeform 110"/>
                            <p:cNvSpPr/>
                            <p:nvPr/>
                          </p:nvSpPr>
                          <p:spPr bwMode="auto">
                            <a:xfrm>
                              <a:off x="2584" y="3071"/>
                              <a:ext cx="8" cy="4"/>
                            </a:xfrm>
                            <a:custGeom>
                              <a:avLst/>
                              <a:gdLst>
                                <a:gd name="T0" fmla="*/ 26 w 57"/>
                                <a:gd name="T1" fmla="*/ 0 h 34"/>
                                <a:gd name="T2" fmla="*/ 57 w 57"/>
                                <a:gd name="T3" fmla="*/ 20 h 34"/>
                                <a:gd name="T4" fmla="*/ 35 w 57"/>
                                <a:gd name="T5" fmla="*/ 34 h 34"/>
                                <a:gd name="T6" fmla="*/ 0 w 57"/>
                                <a:gd name="T7" fmla="*/ 13 h 34"/>
                                <a:gd name="T8" fmla="*/ 26 w 57"/>
                                <a:gd name="T9" fmla="*/ 0 h 34"/>
                              </a:gdLst>
                              <a:ahLst/>
                              <a:cxnLst>
                                <a:cxn ang="0">
                                  <a:pos x="T0" y="T1"/>
                                </a:cxn>
                                <a:cxn ang="0">
                                  <a:pos x="T2" y="T3"/>
                                </a:cxn>
                                <a:cxn ang="0">
                                  <a:pos x="T4" y="T5"/>
                                </a:cxn>
                                <a:cxn ang="0">
                                  <a:pos x="T6" y="T7"/>
                                </a:cxn>
                                <a:cxn ang="0">
                                  <a:pos x="T8" y="T9"/>
                                </a:cxn>
                              </a:cxnLst>
                              <a:rect l="0" t="0" r="r" b="b"/>
                              <a:pathLst>
                                <a:path w="57" h="34">
                                  <a:moveTo>
                                    <a:pt x="26" y="0"/>
                                  </a:moveTo>
                                  <a:lnTo>
                                    <a:pt x="57" y="20"/>
                                  </a:lnTo>
                                  <a:lnTo>
                                    <a:pt x="35" y="34"/>
                                  </a:lnTo>
                                  <a:lnTo>
                                    <a:pt x="0" y="13"/>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9" name="Freeform 111"/>
                            <p:cNvSpPr/>
                            <p:nvPr/>
                          </p:nvSpPr>
                          <p:spPr bwMode="auto">
                            <a:xfrm>
                              <a:off x="2558" y="3080"/>
                              <a:ext cx="12" cy="5"/>
                            </a:xfrm>
                            <a:custGeom>
                              <a:avLst/>
                              <a:gdLst>
                                <a:gd name="T0" fmla="*/ 41 w 79"/>
                                <a:gd name="T1" fmla="*/ 0 h 45"/>
                                <a:gd name="T2" fmla="*/ 79 w 79"/>
                                <a:gd name="T3" fmla="*/ 24 h 45"/>
                                <a:gd name="T4" fmla="*/ 42 w 79"/>
                                <a:gd name="T5" fmla="*/ 45 h 45"/>
                                <a:gd name="T6" fmla="*/ 0 w 79"/>
                                <a:gd name="T7" fmla="*/ 18 h 45"/>
                                <a:gd name="T8" fmla="*/ 41 w 79"/>
                                <a:gd name="T9" fmla="*/ 0 h 45"/>
                              </a:gdLst>
                              <a:ahLst/>
                              <a:cxnLst>
                                <a:cxn ang="0">
                                  <a:pos x="T0" y="T1"/>
                                </a:cxn>
                                <a:cxn ang="0">
                                  <a:pos x="T2" y="T3"/>
                                </a:cxn>
                                <a:cxn ang="0">
                                  <a:pos x="T4" y="T5"/>
                                </a:cxn>
                                <a:cxn ang="0">
                                  <a:pos x="T6" y="T7"/>
                                </a:cxn>
                                <a:cxn ang="0">
                                  <a:pos x="T8" y="T9"/>
                                </a:cxn>
                              </a:cxnLst>
                              <a:rect l="0" t="0" r="r" b="b"/>
                              <a:pathLst>
                                <a:path w="79" h="45">
                                  <a:moveTo>
                                    <a:pt x="41" y="0"/>
                                  </a:moveTo>
                                  <a:lnTo>
                                    <a:pt x="79" y="24"/>
                                  </a:lnTo>
                                  <a:lnTo>
                                    <a:pt x="42" y="45"/>
                                  </a:lnTo>
                                  <a:lnTo>
                                    <a:pt x="0" y="18"/>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0" name="Freeform 112"/>
                            <p:cNvSpPr/>
                            <p:nvPr/>
                          </p:nvSpPr>
                          <p:spPr bwMode="auto">
                            <a:xfrm>
                              <a:off x="2550" y="3075"/>
                              <a:ext cx="14" cy="7"/>
                            </a:xfrm>
                            <a:custGeom>
                              <a:avLst/>
                              <a:gdLst>
                                <a:gd name="T0" fmla="*/ 38 w 99"/>
                                <a:gd name="T1" fmla="*/ 0 h 57"/>
                                <a:gd name="T2" fmla="*/ 99 w 99"/>
                                <a:gd name="T3" fmla="*/ 39 h 57"/>
                                <a:gd name="T4" fmla="*/ 60 w 99"/>
                                <a:gd name="T5" fmla="*/ 57 h 57"/>
                                <a:gd name="T6" fmla="*/ 0 w 99"/>
                                <a:gd name="T7" fmla="*/ 17 h 57"/>
                                <a:gd name="T8" fmla="*/ 38 w 99"/>
                                <a:gd name="T9" fmla="*/ 0 h 57"/>
                              </a:gdLst>
                              <a:ahLst/>
                              <a:cxnLst>
                                <a:cxn ang="0">
                                  <a:pos x="T0" y="T1"/>
                                </a:cxn>
                                <a:cxn ang="0">
                                  <a:pos x="T2" y="T3"/>
                                </a:cxn>
                                <a:cxn ang="0">
                                  <a:pos x="T4" y="T5"/>
                                </a:cxn>
                                <a:cxn ang="0">
                                  <a:pos x="T6" y="T7"/>
                                </a:cxn>
                                <a:cxn ang="0">
                                  <a:pos x="T8" y="T9"/>
                                </a:cxn>
                              </a:cxnLst>
                              <a:rect l="0" t="0" r="r" b="b"/>
                              <a:pathLst>
                                <a:path w="99" h="57">
                                  <a:moveTo>
                                    <a:pt x="38" y="0"/>
                                  </a:moveTo>
                                  <a:lnTo>
                                    <a:pt x="99" y="39"/>
                                  </a:lnTo>
                                  <a:lnTo>
                                    <a:pt x="60" y="57"/>
                                  </a:lnTo>
                                  <a:lnTo>
                                    <a:pt x="0" y="17"/>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1" name="Freeform 113"/>
                            <p:cNvSpPr/>
                            <p:nvPr/>
                          </p:nvSpPr>
                          <p:spPr bwMode="auto">
                            <a:xfrm>
                              <a:off x="2551" y="3068"/>
                              <a:ext cx="19" cy="12"/>
                            </a:xfrm>
                            <a:custGeom>
                              <a:avLst/>
                              <a:gdLst>
                                <a:gd name="T0" fmla="*/ 0 w 130"/>
                                <a:gd name="T1" fmla="*/ 33 h 91"/>
                                <a:gd name="T2" fmla="*/ 94 w 130"/>
                                <a:gd name="T3" fmla="*/ 91 h 91"/>
                                <a:gd name="T4" fmla="*/ 130 w 130"/>
                                <a:gd name="T5" fmla="*/ 73 h 91"/>
                                <a:gd name="T6" fmla="*/ 64 w 130"/>
                                <a:gd name="T7" fmla="*/ 33 h 91"/>
                                <a:gd name="T8" fmla="*/ 110 w 130"/>
                                <a:gd name="T9" fmla="*/ 12 h 91"/>
                                <a:gd name="T10" fmla="*/ 88 w 130"/>
                                <a:gd name="T11" fmla="*/ 0 h 91"/>
                                <a:gd name="T12" fmla="*/ 0 w 130"/>
                                <a:gd name="T13" fmla="*/ 33 h 91"/>
                              </a:gdLst>
                              <a:ahLst/>
                              <a:cxnLst>
                                <a:cxn ang="0">
                                  <a:pos x="T0" y="T1"/>
                                </a:cxn>
                                <a:cxn ang="0">
                                  <a:pos x="T2" y="T3"/>
                                </a:cxn>
                                <a:cxn ang="0">
                                  <a:pos x="T4" y="T5"/>
                                </a:cxn>
                                <a:cxn ang="0">
                                  <a:pos x="T6" y="T7"/>
                                </a:cxn>
                                <a:cxn ang="0">
                                  <a:pos x="T8" y="T9"/>
                                </a:cxn>
                                <a:cxn ang="0">
                                  <a:pos x="T10" y="T11"/>
                                </a:cxn>
                                <a:cxn ang="0">
                                  <a:pos x="T12" y="T13"/>
                                </a:cxn>
                              </a:cxnLst>
                              <a:rect l="0" t="0" r="r" b="b"/>
                              <a:pathLst>
                                <a:path w="130" h="91">
                                  <a:moveTo>
                                    <a:pt x="0" y="33"/>
                                  </a:moveTo>
                                  <a:lnTo>
                                    <a:pt x="94" y="91"/>
                                  </a:lnTo>
                                  <a:lnTo>
                                    <a:pt x="130" y="73"/>
                                  </a:lnTo>
                                  <a:lnTo>
                                    <a:pt x="64" y="33"/>
                                  </a:lnTo>
                                  <a:lnTo>
                                    <a:pt x="110" y="12"/>
                                  </a:lnTo>
                                  <a:lnTo>
                                    <a:pt x="88" y="0"/>
                                  </a:lnTo>
                                  <a:lnTo>
                                    <a:pt x="0" y="3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2" name="Freeform 114"/>
                            <p:cNvSpPr/>
                            <p:nvPr/>
                          </p:nvSpPr>
                          <p:spPr bwMode="auto">
                            <a:xfrm>
                              <a:off x="2562" y="3070"/>
                              <a:ext cx="15" cy="8"/>
                            </a:xfrm>
                            <a:custGeom>
                              <a:avLst/>
                              <a:gdLst>
                                <a:gd name="T0" fmla="*/ 0 w 100"/>
                                <a:gd name="T1" fmla="*/ 19 h 58"/>
                                <a:gd name="T2" fmla="*/ 61 w 100"/>
                                <a:gd name="T3" fmla="*/ 58 h 58"/>
                                <a:gd name="T4" fmla="*/ 100 w 100"/>
                                <a:gd name="T5" fmla="*/ 40 h 58"/>
                                <a:gd name="T6" fmla="*/ 37 w 100"/>
                                <a:gd name="T7" fmla="*/ 0 h 58"/>
                                <a:gd name="T8" fmla="*/ 0 w 100"/>
                                <a:gd name="T9" fmla="*/ 19 h 58"/>
                              </a:gdLst>
                              <a:ahLst/>
                              <a:cxnLst>
                                <a:cxn ang="0">
                                  <a:pos x="T0" y="T1"/>
                                </a:cxn>
                                <a:cxn ang="0">
                                  <a:pos x="T2" y="T3"/>
                                </a:cxn>
                                <a:cxn ang="0">
                                  <a:pos x="T4" y="T5"/>
                                </a:cxn>
                                <a:cxn ang="0">
                                  <a:pos x="T6" y="T7"/>
                                </a:cxn>
                                <a:cxn ang="0">
                                  <a:pos x="T8" y="T9"/>
                                </a:cxn>
                              </a:cxnLst>
                              <a:rect l="0" t="0" r="r" b="b"/>
                              <a:pathLst>
                                <a:path w="100" h="58">
                                  <a:moveTo>
                                    <a:pt x="0" y="19"/>
                                  </a:moveTo>
                                  <a:lnTo>
                                    <a:pt x="61" y="58"/>
                                  </a:lnTo>
                                  <a:lnTo>
                                    <a:pt x="100" y="40"/>
                                  </a:lnTo>
                                  <a:lnTo>
                                    <a:pt x="37" y="0"/>
                                  </a:lnTo>
                                  <a:lnTo>
                                    <a:pt x="0" y="19"/>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3" name="Freeform 115"/>
                            <p:cNvSpPr/>
                            <p:nvPr/>
                          </p:nvSpPr>
                          <p:spPr bwMode="auto">
                            <a:xfrm>
                              <a:off x="2573" y="3070"/>
                              <a:ext cx="10" cy="5"/>
                            </a:xfrm>
                            <a:custGeom>
                              <a:avLst/>
                              <a:gdLst>
                                <a:gd name="T0" fmla="*/ 0 w 67"/>
                                <a:gd name="T1" fmla="*/ 20 h 39"/>
                                <a:gd name="T2" fmla="*/ 28 w 67"/>
                                <a:gd name="T3" fmla="*/ 39 h 39"/>
                                <a:gd name="T4" fmla="*/ 67 w 67"/>
                                <a:gd name="T5" fmla="*/ 19 h 39"/>
                                <a:gd name="T6" fmla="*/ 40 w 67"/>
                                <a:gd name="T7" fmla="*/ 0 h 39"/>
                                <a:gd name="T8" fmla="*/ 0 w 67"/>
                                <a:gd name="T9" fmla="*/ 20 h 39"/>
                              </a:gdLst>
                              <a:ahLst/>
                              <a:cxnLst>
                                <a:cxn ang="0">
                                  <a:pos x="T0" y="T1"/>
                                </a:cxn>
                                <a:cxn ang="0">
                                  <a:pos x="T2" y="T3"/>
                                </a:cxn>
                                <a:cxn ang="0">
                                  <a:pos x="T4" y="T5"/>
                                </a:cxn>
                                <a:cxn ang="0">
                                  <a:pos x="T6" y="T7"/>
                                </a:cxn>
                                <a:cxn ang="0">
                                  <a:pos x="T8" y="T9"/>
                                </a:cxn>
                              </a:cxnLst>
                              <a:rect l="0" t="0" r="r" b="b"/>
                              <a:pathLst>
                                <a:path w="67" h="39">
                                  <a:moveTo>
                                    <a:pt x="0" y="20"/>
                                  </a:moveTo>
                                  <a:lnTo>
                                    <a:pt x="28" y="39"/>
                                  </a:lnTo>
                                  <a:lnTo>
                                    <a:pt x="67" y="19"/>
                                  </a:lnTo>
                                  <a:lnTo>
                                    <a:pt x="40"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4" name="Freeform 116"/>
                            <p:cNvSpPr/>
                            <p:nvPr/>
                          </p:nvSpPr>
                          <p:spPr bwMode="auto">
                            <a:xfrm>
                              <a:off x="2568" y="3068"/>
                              <a:ext cx="10" cy="5"/>
                            </a:xfrm>
                            <a:custGeom>
                              <a:avLst/>
                              <a:gdLst>
                                <a:gd name="T0" fmla="*/ 0 w 70"/>
                                <a:gd name="T1" fmla="*/ 20 h 39"/>
                                <a:gd name="T2" fmla="*/ 32 w 70"/>
                                <a:gd name="T3" fmla="*/ 39 h 39"/>
                                <a:gd name="T4" fmla="*/ 70 w 70"/>
                                <a:gd name="T5" fmla="*/ 20 h 39"/>
                                <a:gd name="T6" fmla="*/ 38 w 70"/>
                                <a:gd name="T7" fmla="*/ 0 h 39"/>
                                <a:gd name="T8" fmla="*/ 0 w 70"/>
                                <a:gd name="T9" fmla="*/ 20 h 39"/>
                              </a:gdLst>
                              <a:ahLst/>
                              <a:cxnLst>
                                <a:cxn ang="0">
                                  <a:pos x="T0" y="T1"/>
                                </a:cxn>
                                <a:cxn ang="0">
                                  <a:pos x="T2" y="T3"/>
                                </a:cxn>
                                <a:cxn ang="0">
                                  <a:pos x="T4" y="T5"/>
                                </a:cxn>
                                <a:cxn ang="0">
                                  <a:pos x="T6" y="T7"/>
                                </a:cxn>
                                <a:cxn ang="0">
                                  <a:pos x="T8" y="T9"/>
                                </a:cxn>
                              </a:cxnLst>
                              <a:rect l="0" t="0" r="r" b="b"/>
                              <a:pathLst>
                                <a:path w="70" h="39">
                                  <a:moveTo>
                                    <a:pt x="0" y="20"/>
                                  </a:moveTo>
                                  <a:lnTo>
                                    <a:pt x="32" y="39"/>
                                  </a:lnTo>
                                  <a:lnTo>
                                    <a:pt x="70" y="20"/>
                                  </a:lnTo>
                                  <a:lnTo>
                                    <a:pt x="38"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5" name="Freeform 117"/>
                            <p:cNvSpPr/>
                            <p:nvPr/>
                          </p:nvSpPr>
                          <p:spPr bwMode="auto">
                            <a:xfrm>
                              <a:off x="2564" y="3066"/>
                              <a:ext cx="9" cy="4"/>
                            </a:xfrm>
                            <a:custGeom>
                              <a:avLst/>
                              <a:gdLst>
                                <a:gd name="T0" fmla="*/ 0 w 66"/>
                                <a:gd name="T1" fmla="*/ 18 h 34"/>
                                <a:gd name="T2" fmla="*/ 26 w 66"/>
                                <a:gd name="T3" fmla="*/ 34 h 34"/>
                                <a:gd name="T4" fmla="*/ 66 w 66"/>
                                <a:gd name="T5" fmla="*/ 16 h 34"/>
                                <a:gd name="T6" fmla="*/ 43 w 66"/>
                                <a:gd name="T7" fmla="*/ 0 h 34"/>
                                <a:gd name="T8" fmla="*/ 0 w 66"/>
                                <a:gd name="T9" fmla="*/ 18 h 34"/>
                              </a:gdLst>
                              <a:ahLst/>
                              <a:cxnLst>
                                <a:cxn ang="0">
                                  <a:pos x="T0" y="T1"/>
                                </a:cxn>
                                <a:cxn ang="0">
                                  <a:pos x="T2" y="T3"/>
                                </a:cxn>
                                <a:cxn ang="0">
                                  <a:pos x="T4" y="T5"/>
                                </a:cxn>
                                <a:cxn ang="0">
                                  <a:pos x="T6" y="T7"/>
                                </a:cxn>
                                <a:cxn ang="0">
                                  <a:pos x="T8" y="T9"/>
                                </a:cxn>
                              </a:cxnLst>
                              <a:rect l="0" t="0" r="r" b="b"/>
                              <a:pathLst>
                                <a:path w="66" h="34">
                                  <a:moveTo>
                                    <a:pt x="0" y="18"/>
                                  </a:moveTo>
                                  <a:lnTo>
                                    <a:pt x="26" y="34"/>
                                  </a:lnTo>
                                  <a:lnTo>
                                    <a:pt x="66" y="16"/>
                                  </a:lnTo>
                                  <a:lnTo>
                                    <a:pt x="43" y="0"/>
                                  </a:lnTo>
                                  <a:lnTo>
                                    <a:pt x="0" y="1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6" name="Freeform 118"/>
                            <p:cNvSpPr/>
                            <p:nvPr/>
                          </p:nvSpPr>
                          <p:spPr bwMode="auto">
                            <a:xfrm>
                              <a:off x="2571" y="3065"/>
                              <a:ext cx="7" cy="3"/>
                            </a:xfrm>
                            <a:custGeom>
                              <a:avLst/>
                              <a:gdLst>
                                <a:gd name="T0" fmla="*/ 0 w 48"/>
                                <a:gd name="T1" fmla="*/ 10 h 28"/>
                                <a:gd name="T2" fmla="*/ 26 w 48"/>
                                <a:gd name="T3" fmla="*/ 28 h 28"/>
                                <a:gd name="T4" fmla="*/ 48 w 48"/>
                                <a:gd name="T5" fmla="*/ 16 h 28"/>
                                <a:gd name="T6" fmla="*/ 23 w 48"/>
                                <a:gd name="T7" fmla="*/ 0 h 28"/>
                                <a:gd name="T8" fmla="*/ 0 w 48"/>
                                <a:gd name="T9" fmla="*/ 10 h 28"/>
                              </a:gdLst>
                              <a:ahLst/>
                              <a:cxnLst>
                                <a:cxn ang="0">
                                  <a:pos x="T0" y="T1"/>
                                </a:cxn>
                                <a:cxn ang="0">
                                  <a:pos x="T2" y="T3"/>
                                </a:cxn>
                                <a:cxn ang="0">
                                  <a:pos x="T4" y="T5"/>
                                </a:cxn>
                                <a:cxn ang="0">
                                  <a:pos x="T6" y="T7"/>
                                </a:cxn>
                                <a:cxn ang="0">
                                  <a:pos x="T8" y="T9"/>
                                </a:cxn>
                              </a:cxnLst>
                              <a:rect l="0" t="0" r="r" b="b"/>
                              <a:pathLst>
                                <a:path w="48" h="28">
                                  <a:moveTo>
                                    <a:pt x="0" y="10"/>
                                  </a:moveTo>
                                  <a:lnTo>
                                    <a:pt x="26" y="28"/>
                                  </a:lnTo>
                                  <a:lnTo>
                                    <a:pt x="48" y="16"/>
                                  </a:lnTo>
                                  <a:lnTo>
                                    <a:pt x="23" y="0"/>
                                  </a:lnTo>
                                  <a:lnTo>
                                    <a:pt x="0" y="1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7" name="Freeform 119"/>
                            <p:cNvSpPr/>
                            <p:nvPr/>
                          </p:nvSpPr>
                          <p:spPr bwMode="auto">
                            <a:xfrm>
                              <a:off x="2574" y="3066"/>
                              <a:ext cx="8" cy="4"/>
                            </a:xfrm>
                            <a:custGeom>
                              <a:avLst/>
                              <a:gdLst>
                                <a:gd name="T0" fmla="*/ 0 w 54"/>
                                <a:gd name="T1" fmla="*/ 13 h 32"/>
                                <a:gd name="T2" fmla="*/ 33 w 54"/>
                                <a:gd name="T3" fmla="*/ 32 h 32"/>
                                <a:gd name="T4" fmla="*/ 54 w 54"/>
                                <a:gd name="T5" fmla="*/ 23 h 32"/>
                                <a:gd name="T6" fmla="*/ 23 w 54"/>
                                <a:gd name="T7" fmla="*/ 0 h 32"/>
                                <a:gd name="T8" fmla="*/ 0 w 54"/>
                                <a:gd name="T9" fmla="*/ 13 h 32"/>
                              </a:gdLst>
                              <a:ahLst/>
                              <a:cxnLst>
                                <a:cxn ang="0">
                                  <a:pos x="T0" y="T1"/>
                                </a:cxn>
                                <a:cxn ang="0">
                                  <a:pos x="T2" y="T3"/>
                                </a:cxn>
                                <a:cxn ang="0">
                                  <a:pos x="T4" y="T5"/>
                                </a:cxn>
                                <a:cxn ang="0">
                                  <a:pos x="T6" y="T7"/>
                                </a:cxn>
                                <a:cxn ang="0">
                                  <a:pos x="T8" y="T9"/>
                                </a:cxn>
                              </a:cxnLst>
                              <a:rect l="0" t="0" r="r" b="b"/>
                              <a:pathLst>
                                <a:path w="54" h="32">
                                  <a:moveTo>
                                    <a:pt x="0" y="13"/>
                                  </a:moveTo>
                                  <a:lnTo>
                                    <a:pt x="33" y="32"/>
                                  </a:lnTo>
                                  <a:lnTo>
                                    <a:pt x="54" y="23"/>
                                  </a:lnTo>
                                  <a:lnTo>
                                    <a:pt x="23" y="0"/>
                                  </a:lnTo>
                                  <a:lnTo>
                                    <a:pt x="0" y="1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8" name="Freeform 120"/>
                            <p:cNvSpPr/>
                            <p:nvPr/>
                          </p:nvSpPr>
                          <p:spPr bwMode="auto">
                            <a:xfrm>
                              <a:off x="2545" y="3073"/>
                              <a:ext cx="10" cy="5"/>
                            </a:xfrm>
                            <a:custGeom>
                              <a:avLst/>
                              <a:gdLst>
                                <a:gd name="T0" fmla="*/ 0 w 68"/>
                                <a:gd name="T1" fmla="*/ 17 h 39"/>
                                <a:gd name="T2" fmla="*/ 28 w 68"/>
                                <a:gd name="T3" fmla="*/ 39 h 39"/>
                                <a:gd name="T4" fmla="*/ 68 w 68"/>
                                <a:gd name="T5" fmla="*/ 19 h 39"/>
                                <a:gd name="T6" fmla="*/ 43 w 68"/>
                                <a:gd name="T7" fmla="*/ 0 h 39"/>
                                <a:gd name="T8" fmla="*/ 0 w 68"/>
                                <a:gd name="T9" fmla="*/ 17 h 39"/>
                              </a:gdLst>
                              <a:ahLst/>
                              <a:cxnLst>
                                <a:cxn ang="0">
                                  <a:pos x="T0" y="T1"/>
                                </a:cxn>
                                <a:cxn ang="0">
                                  <a:pos x="T2" y="T3"/>
                                </a:cxn>
                                <a:cxn ang="0">
                                  <a:pos x="T4" y="T5"/>
                                </a:cxn>
                                <a:cxn ang="0">
                                  <a:pos x="T6" y="T7"/>
                                </a:cxn>
                                <a:cxn ang="0">
                                  <a:pos x="T8" y="T9"/>
                                </a:cxn>
                              </a:cxnLst>
                              <a:rect l="0" t="0" r="r" b="b"/>
                              <a:pathLst>
                                <a:path w="68" h="39">
                                  <a:moveTo>
                                    <a:pt x="0" y="17"/>
                                  </a:moveTo>
                                  <a:lnTo>
                                    <a:pt x="28" y="39"/>
                                  </a:lnTo>
                                  <a:lnTo>
                                    <a:pt x="68" y="19"/>
                                  </a:lnTo>
                                  <a:lnTo>
                                    <a:pt x="43" y="0"/>
                                  </a:lnTo>
                                  <a:lnTo>
                                    <a:pt x="0" y="17"/>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9" name="Freeform 121"/>
                            <p:cNvSpPr/>
                            <p:nvPr/>
                          </p:nvSpPr>
                          <p:spPr bwMode="auto">
                            <a:xfrm>
                              <a:off x="2579" y="3069"/>
                              <a:ext cx="8" cy="4"/>
                            </a:xfrm>
                            <a:custGeom>
                              <a:avLst/>
                              <a:gdLst>
                                <a:gd name="T0" fmla="*/ 0 w 54"/>
                                <a:gd name="T1" fmla="*/ 12 h 32"/>
                                <a:gd name="T2" fmla="*/ 31 w 54"/>
                                <a:gd name="T3" fmla="*/ 32 h 32"/>
                                <a:gd name="T4" fmla="*/ 54 w 54"/>
                                <a:gd name="T5" fmla="*/ 20 h 32"/>
                                <a:gd name="T6" fmla="*/ 22 w 54"/>
                                <a:gd name="T7" fmla="*/ 0 h 32"/>
                                <a:gd name="T8" fmla="*/ 0 w 54"/>
                                <a:gd name="T9" fmla="*/ 12 h 32"/>
                              </a:gdLst>
                              <a:ahLst/>
                              <a:cxnLst>
                                <a:cxn ang="0">
                                  <a:pos x="T0" y="T1"/>
                                </a:cxn>
                                <a:cxn ang="0">
                                  <a:pos x="T2" y="T3"/>
                                </a:cxn>
                                <a:cxn ang="0">
                                  <a:pos x="T4" y="T5"/>
                                </a:cxn>
                                <a:cxn ang="0">
                                  <a:pos x="T6" y="T7"/>
                                </a:cxn>
                                <a:cxn ang="0">
                                  <a:pos x="T8" y="T9"/>
                                </a:cxn>
                              </a:cxnLst>
                              <a:rect l="0" t="0" r="r" b="b"/>
                              <a:pathLst>
                                <a:path w="54" h="32">
                                  <a:moveTo>
                                    <a:pt x="0" y="12"/>
                                  </a:moveTo>
                                  <a:lnTo>
                                    <a:pt x="31" y="32"/>
                                  </a:lnTo>
                                  <a:lnTo>
                                    <a:pt x="54" y="20"/>
                                  </a:lnTo>
                                  <a:lnTo>
                                    <a:pt x="22" y="0"/>
                                  </a:lnTo>
                                  <a:lnTo>
                                    <a:pt x="0" y="12"/>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170" name="Group 122"/>
                          <p:cNvGrpSpPr/>
                          <p:nvPr/>
                        </p:nvGrpSpPr>
                        <p:grpSpPr bwMode="auto">
                          <a:xfrm>
                            <a:off x="2533" y="3064"/>
                            <a:ext cx="107" cy="49"/>
                            <a:chOff x="2533" y="3064"/>
                            <a:chExt cx="107" cy="49"/>
                          </a:xfrm>
                        </p:grpSpPr>
                        <p:sp>
                          <p:nvSpPr>
                            <p:cNvPr id="642171" name="Freeform 123"/>
                            <p:cNvSpPr/>
                            <p:nvPr/>
                          </p:nvSpPr>
                          <p:spPr bwMode="auto">
                            <a:xfrm>
                              <a:off x="2558" y="3085"/>
                              <a:ext cx="29" cy="15"/>
                            </a:xfrm>
                            <a:custGeom>
                              <a:avLst/>
                              <a:gdLst>
                                <a:gd name="T0" fmla="*/ 35 w 202"/>
                                <a:gd name="T1" fmla="*/ 0 h 123"/>
                                <a:gd name="T2" fmla="*/ 202 w 202"/>
                                <a:gd name="T3" fmla="*/ 105 h 123"/>
                                <a:gd name="T4" fmla="*/ 167 w 202"/>
                                <a:gd name="T5" fmla="*/ 123 h 123"/>
                                <a:gd name="T6" fmla="*/ 0 w 202"/>
                                <a:gd name="T7" fmla="*/ 18 h 123"/>
                                <a:gd name="T8" fmla="*/ 35 w 202"/>
                                <a:gd name="T9" fmla="*/ 0 h 123"/>
                              </a:gdLst>
                              <a:ahLst/>
                              <a:cxnLst>
                                <a:cxn ang="0">
                                  <a:pos x="T0" y="T1"/>
                                </a:cxn>
                                <a:cxn ang="0">
                                  <a:pos x="T2" y="T3"/>
                                </a:cxn>
                                <a:cxn ang="0">
                                  <a:pos x="T4" y="T5"/>
                                </a:cxn>
                                <a:cxn ang="0">
                                  <a:pos x="T6" y="T7"/>
                                </a:cxn>
                                <a:cxn ang="0">
                                  <a:pos x="T8" y="T9"/>
                                </a:cxn>
                              </a:cxnLst>
                              <a:rect l="0" t="0" r="r" b="b"/>
                              <a:pathLst>
                                <a:path w="202" h="123">
                                  <a:moveTo>
                                    <a:pt x="35" y="0"/>
                                  </a:moveTo>
                                  <a:lnTo>
                                    <a:pt x="202" y="105"/>
                                  </a:lnTo>
                                  <a:lnTo>
                                    <a:pt x="167" y="123"/>
                                  </a:lnTo>
                                  <a:lnTo>
                                    <a:pt x="0" y="18"/>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2" name="Freeform 124"/>
                            <p:cNvSpPr/>
                            <p:nvPr/>
                          </p:nvSpPr>
                          <p:spPr bwMode="auto">
                            <a:xfrm>
                              <a:off x="2582" y="3097"/>
                              <a:ext cx="14" cy="8"/>
                            </a:xfrm>
                            <a:custGeom>
                              <a:avLst/>
                              <a:gdLst>
                                <a:gd name="T0" fmla="*/ 37 w 98"/>
                                <a:gd name="T1" fmla="*/ 0 h 60"/>
                                <a:gd name="T2" fmla="*/ 98 w 98"/>
                                <a:gd name="T3" fmla="*/ 41 h 60"/>
                                <a:gd name="T4" fmla="*/ 64 w 98"/>
                                <a:gd name="T5" fmla="*/ 60 h 60"/>
                                <a:gd name="T6" fmla="*/ 0 w 98"/>
                                <a:gd name="T7" fmla="*/ 20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41"/>
                                  </a:lnTo>
                                  <a:lnTo>
                                    <a:pt x="64" y="60"/>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3" name="Freeform 125"/>
                            <p:cNvSpPr/>
                            <p:nvPr/>
                          </p:nvSpPr>
                          <p:spPr bwMode="auto">
                            <a:xfrm>
                              <a:off x="2587" y="3102"/>
                              <a:ext cx="15" cy="8"/>
                            </a:xfrm>
                            <a:custGeom>
                              <a:avLst/>
                              <a:gdLst>
                                <a:gd name="T0" fmla="*/ 63 w 107"/>
                                <a:gd name="T1" fmla="*/ 0 h 64"/>
                                <a:gd name="T2" fmla="*/ 107 w 107"/>
                                <a:gd name="T3" fmla="*/ 29 h 64"/>
                                <a:gd name="T4" fmla="*/ 70 w 107"/>
                                <a:gd name="T5" fmla="*/ 52 h 64"/>
                                <a:gd name="T6" fmla="*/ 65 w 107"/>
                                <a:gd name="T7" fmla="*/ 48 h 64"/>
                                <a:gd name="T8" fmla="*/ 40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29"/>
                                  </a:lnTo>
                                  <a:lnTo>
                                    <a:pt x="70" y="52"/>
                                  </a:lnTo>
                                  <a:lnTo>
                                    <a:pt x="65" y="48"/>
                                  </a:lnTo>
                                  <a:lnTo>
                                    <a:pt x="40" y="64"/>
                                  </a:lnTo>
                                  <a:lnTo>
                                    <a:pt x="0" y="38"/>
                                  </a:lnTo>
                                  <a:lnTo>
                                    <a:pt x="6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4" name="Freeform 126"/>
                            <p:cNvSpPr/>
                            <p:nvPr/>
                          </p:nvSpPr>
                          <p:spPr bwMode="auto">
                            <a:xfrm>
                              <a:off x="2597" y="3105"/>
                              <a:ext cx="15" cy="8"/>
                            </a:xfrm>
                            <a:custGeom>
                              <a:avLst/>
                              <a:gdLst>
                                <a:gd name="T0" fmla="*/ 34 w 103"/>
                                <a:gd name="T1" fmla="*/ 0 h 65"/>
                                <a:gd name="T2" fmla="*/ 103 w 103"/>
                                <a:gd name="T3" fmla="*/ 43 h 65"/>
                                <a:gd name="T4" fmla="*/ 66 w 103"/>
                                <a:gd name="T5" fmla="*/ 65 h 65"/>
                                <a:gd name="T6" fmla="*/ 0 w 103"/>
                                <a:gd name="T7" fmla="*/ 21 h 65"/>
                                <a:gd name="T8" fmla="*/ 34 w 103"/>
                                <a:gd name="T9" fmla="*/ 0 h 65"/>
                              </a:gdLst>
                              <a:ahLst/>
                              <a:cxnLst>
                                <a:cxn ang="0">
                                  <a:pos x="T0" y="T1"/>
                                </a:cxn>
                                <a:cxn ang="0">
                                  <a:pos x="T2" y="T3"/>
                                </a:cxn>
                                <a:cxn ang="0">
                                  <a:pos x="T4" y="T5"/>
                                </a:cxn>
                                <a:cxn ang="0">
                                  <a:pos x="T6" y="T7"/>
                                </a:cxn>
                                <a:cxn ang="0">
                                  <a:pos x="T8" y="T9"/>
                                </a:cxn>
                              </a:cxnLst>
                              <a:rect l="0" t="0" r="r" b="b"/>
                              <a:pathLst>
                                <a:path w="103" h="65">
                                  <a:moveTo>
                                    <a:pt x="34" y="0"/>
                                  </a:moveTo>
                                  <a:lnTo>
                                    <a:pt x="103" y="43"/>
                                  </a:lnTo>
                                  <a:lnTo>
                                    <a:pt x="66" y="65"/>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5" name="Freeform 127"/>
                            <p:cNvSpPr/>
                            <p:nvPr/>
                          </p:nvSpPr>
                          <p:spPr bwMode="auto">
                            <a:xfrm>
                              <a:off x="2551" y="3081"/>
                              <a:ext cx="13" cy="6"/>
                            </a:xfrm>
                            <a:custGeom>
                              <a:avLst/>
                              <a:gdLst>
                                <a:gd name="T0" fmla="*/ 34 w 86"/>
                                <a:gd name="T1" fmla="*/ 0 h 53"/>
                                <a:gd name="T2" fmla="*/ 86 w 86"/>
                                <a:gd name="T3" fmla="*/ 33 h 53"/>
                                <a:gd name="T4" fmla="*/ 49 w 86"/>
                                <a:gd name="T5" fmla="*/ 53 h 53"/>
                                <a:gd name="T6" fmla="*/ 0 w 86"/>
                                <a:gd name="T7" fmla="*/ 19 h 53"/>
                                <a:gd name="T8" fmla="*/ 34 w 86"/>
                                <a:gd name="T9" fmla="*/ 0 h 53"/>
                              </a:gdLst>
                              <a:ahLst/>
                              <a:cxnLst>
                                <a:cxn ang="0">
                                  <a:pos x="T0" y="T1"/>
                                </a:cxn>
                                <a:cxn ang="0">
                                  <a:pos x="T2" y="T3"/>
                                </a:cxn>
                                <a:cxn ang="0">
                                  <a:pos x="T4" y="T5"/>
                                </a:cxn>
                                <a:cxn ang="0">
                                  <a:pos x="T6" y="T7"/>
                                </a:cxn>
                                <a:cxn ang="0">
                                  <a:pos x="T8" y="T9"/>
                                </a:cxn>
                              </a:cxnLst>
                              <a:rect l="0" t="0" r="r" b="b"/>
                              <a:pathLst>
                                <a:path w="86" h="53">
                                  <a:moveTo>
                                    <a:pt x="34" y="0"/>
                                  </a:moveTo>
                                  <a:lnTo>
                                    <a:pt x="86" y="33"/>
                                  </a:lnTo>
                                  <a:lnTo>
                                    <a:pt x="49" y="53"/>
                                  </a:lnTo>
                                  <a:lnTo>
                                    <a:pt x="0" y="19"/>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6" name="Freeform 128"/>
                            <p:cNvSpPr/>
                            <p:nvPr/>
                          </p:nvSpPr>
                          <p:spPr bwMode="auto">
                            <a:xfrm>
                              <a:off x="2542" y="3076"/>
                              <a:ext cx="12" cy="6"/>
                            </a:xfrm>
                            <a:custGeom>
                              <a:avLst/>
                              <a:gdLst>
                                <a:gd name="T0" fmla="*/ 40 w 80"/>
                                <a:gd name="T1" fmla="*/ 0 h 46"/>
                                <a:gd name="T2" fmla="*/ 80 w 80"/>
                                <a:gd name="T3" fmla="*/ 28 h 46"/>
                                <a:gd name="T4" fmla="*/ 40 w 80"/>
                                <a:gd name="T5" fmla="*/ 46 h 46"/>
                                <a:gd name="T6" fmla="*/ 0 w 80"/>
                                <a:gd name="T7" fmla="*/ 18 h 46"/>
                                <a:gd name="T8" fmla="*/ 40 w 80"/>
                                <a:gd name="T9" fmla="*/ 0 h 46"/>
                              </a:gdLst>
                              <a:ahLst/>
                              <a:cxnLst>
                                <a:cxn ang="0">
                                  <a:pos x="T0" y="T1"/>
                                </a:cxn>
                                <a:cxn ang="0">
                                  <a:pos x="T2" y="T3"/>
                                </a:cxn>
                                <a:cxn ang="0">
                                  <a:pos x="T4" y="T5"/>
                                </a:cxn>
                                <a:cxn ang="0">
                                  <a:pos x="T6" y="T7"/>
                                </a:cxn>
                                <a:cxn ang="0">
                                  <a:pos x="T8" y="T9"/>
                                </a:cxn>
                              </a:cxnLst>
                              <a:rect l="0" t="0" r="r" b="b"/>
                              <a:pathLst>
                                <a:path w="80" h="46">
                                  <a:moveTo>
                                    <a:pt x="40" y="0"/>
                                  </a:moveTo>
                                  <a:lnTo>
                                    <a:pt x="80" y="28"/>
                                  </a:lnTo>
                                  <a:lnTo>
                                    <a:pt x="40" y="46"/>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7" name="Freeform 129"/>
                            <p:cNvSpPr/>
                            <p:nvPr/>
                          </p:nvSpPr>
                          <p:spPr bwMode="auto">
                            <a:xfrm>
                              <a:off x="2536" y="3079"/>
                              <a:ext cx="10" cy="5"/>
                            </a:xfrm>
                            <a:custGeom>
                              <a:avLst/>
                              <a:gdLst>
                                <a:gd name="T0" fmla="*/ 37 w 72"/>
                                <a:gd name="T1" fmla="*/ 0 h 41"/>
                                <a:gd name="T2" fmla="*/ 72 w 72"/>
                                <a:gd name="T3" fmla="*/ 24 h 41"/>
                                <a:gd name="T4" fmla="*/ 36 w 72"/>
                                <a:gd name="T5" fmla="*/ 41 h 41"/>
                                <a:gd name="T6" fmla="*/ 0 w 72"/>
                                <a:gd name="T7" fmla="*/ 15 h 41"/>
                                <a:gd name="T8" fmla="*/ 37 w 72"/>
                                <a:gd name="T9" fmla="*/ 0 h 41"/>
                              </a:gdLst>
                              <a:ahLst/>
                              <a:cxnLst>
                                <a:cxn ang="0">
                                  <a:pos x="T0" y="T1"/>
                                </a:cxn>
                                <a:cxn ang="0">
                                  <a:pos x="T2" y="T3"/>
                                </a:cxn>
                                <a:cxn ang="0">
                                  <a:pos x="T4" y="T5"/>
                                </a:cxn>
                                <a:cxn ang="0">
                                  <a:pos x="T6" y="T7"/>
                                </a:cxn>
                                <a:cxn ang="0">
                                  <a:pos x="T8" y="T9"/>
                                </a:cxn>
                              </a:cxnLst>
                              <a:rect l="0" t="0" r="r" b="b"/>
                              <a:pathLst>
                                <a:path w="72" h="41">
                                  <a:moveTo>
                                    <a:pt x="37" y="0"/>
                                  </a:moveTo>
                                  <a:lnTo>
                                    <a:pt x="72" y="24"/>
                                  </a:lnTo>
                                  <a:lnTo>
                                    <a:pt x="36" y="41"/>
                                  </a:lnTo>
                                  <a:lnTo>
                                    <a:pt x="0" y="15"/>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8" name="Freeform 130"/>
                            <p:cNvSpPr/>
                            <p:nvPr/>
                          </p:nvSpPr>
                          <p:spPr bwMode="auto">
                            <a:xfrm>
                              <a:off x="2542" y="3082"/>
                              <a:ext cx="9" cy="5"/>
                            </a:xfrm>
                            <a:custGeom>
                              <a:avLst/>
                              <a:gdLst>
                                <a:gd name="T0" fmla="*/ 36 w 64"/>
                                <a:gd name="T1" fmla="*/ 0 h 40"/>
                                <a:gd name="T2" fmla="*/ 64 w 64"/>
                                <a:gd name="T3" fmla="*/ 20 h 40"/>
                                <a:gd name="T4" fmla="*/ 32 w 64"/>
                                <a:gd name="T5" fmla="*/ 40 h 40"/>
                                <a:gd name="T6" fmla="*/ 0 w 64"/>
                                <a:gd name="T7" fmla="*/ 16 h 40"/>
                                <a:gd name="T8" fmla="*/ 36 w 64"/>
                                <a:gd name="T9" fmla="*/ 0 h 40"/>
                              </a:gdLst>
                              <a:ahLst/>
                              <a:cxnLst>
                                <a:cxn ang="0">
                                  <a:pos x="T0" y="T1"/>
                                </a:cxn>
                                <a:cxn ang="0">
                                  <a:pos x="T2" y="T3"/>
                                </a:cxn>
                                <a:cxn ang="0">
                                  <a:pos x="T4" y="T5"/>
                                </a:cxn>
                                <a:cxn ang="0">
                                  <a:pos x="T6" y="T7"/>
                                </a:cxn>
                                <a:cxn ang="0">
                                  <a:pos x="T8" y="T9"/>
                                </a:cxn>
                              </a:cxnLst>
                              <a:rect l="0" t="0" r="r" b="b"/>
                              <a:pathLst>
                                <a:path w="64" h="40">
                                  <a:moveTo>
                                    <a:pt x="36" y="0"/>
                                  </a:moveTo>
                                  <a:lnTo>
                                    <a:pt x="64" y="20"/>
                                  </a:lnTo>
                                  <a:lnTo>
                                    <a:pt x="32" y="40"/>
                                  </a:lnTo>
                                  <a:lnTo>
                                    <a:pt x="0" y="16"/>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9" name="Freeform 131"/>
                            <p:cNvSpPr/>
                            <p:nvPr/>
                          </p:nvSpPr>
                          <p:spPr bwMode="auto">
                            <a:xfrm>
                              <a:off x="2533" y="3077"/>
                              <a:ext cx="8" cy="4"/>
                            </a:xfrm>
                            <a:custGeom>
                              <a:avLst/>
                              <a:gdLst>
                                <a:gd name="T0" fmla="*/ 38 w 59"/>
                                <a:gd name="T1" fmla="*/ 0 h 34"/>
                                <a:gd name="T2" fmla="*/ 59 w 59"/>
                                <a:gd name="T3" fmla="*/ 16 h 34"/>
                                <a:gd name="T4" fmla="*/ 22 w 59"/>
                                <a:gd name="T5" fmla="*/ 34 h 34"/>
                                <a:gd name="T6" fmla="*/ 0 w 59"/>
                                <a:gd name="T7" fmla="*/ 19 h 34"/>
                                <a:gd name="T8" fmla="*/ 38 w 59"/>
                                <a:gd name="T9" fmla="*/ 0 h 34"/>
                              </a:gdLst>
                              <a:ahLst/>
                              <a:cxnLst>
                                <a:cxn ang="0">
                                  <a:pos x="T0" y="T1"/>
                                </a:cxn>
                                <a:cxn ang="0">
                                  <a:pos x="T2" y="T3"/>
                                </a:cxn>
                                <a:cxn ang="0">
                                  <a:pos x="T4" y="T5"/>
                                </a:cxn>
                                <a:cxn ang="0">
                                  <a:pos x="T6" y="T7"/>
                                </a:cxn>
                                <a:cxn ang="0">
                                  <a:pos x="T8" y="T9"/>
                                </a:cxn>
                              </a:cxnLst>
                              <a:rect l="0" t="0" r="r" b="b"/>
                              <a:pathLst>
                                <a:path w="59" h="34">
                                  <a:moveTo>
                                    <a:pt x="38" y="0"/>
                                  </a:moveTo>
                                  <a:lnTo>
                                    <a:pt x="59" y="16"/>
                                  </a:lnTo>
                                  <a:lnTo>
                                    <a:pt x="22" y="3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0" name="Freeform 132"/>
                            <p:cNvSpPr/>
                            <p:nvPr/>
                          </p:nvSpPr>
                          <p:spPr bwMode="auto">
                            <a:xfrm>
                              <a:off x="2603" y="3102"/>
                              <a:ext cx="15" cy="8"/>
                            </a:xfrm>
                            <a:custGeom>
                              <a:avLst/>
                              <a:gdLst>
                                <a:gd name="T0" fmla="*/ 34 w 102"/>
                                <a:gd name="T1" fmla="*/ 0 h 65"/>
                                <a:gd name="T2" fmla="*/ 102 w 102"/>
                                <a:gd name="T3" fmla="*/ 45 h 65"/>
                                <a:gd name="T4" fmla="*/ 65 w 102"/>
                                <a:gd name="T5" fmla="*/ 65 h 65"/>
                                <a:gd name="T6" fmla="*/ 0 w 102"/>
                                <a:gd name="T7" fmla="*/ 22 h 65"/>
                                <a:gd name="T8" fmla="*/ 34 w 102"/>
                                <a:gd name="T9" fmla="*/ 0 h 65"/>
                              </a:gdLst>
                              <a:ahLst/>
                              <a:cxnLst>
                                <a:cxn ang="0">
                                  <a:pos x="T0" y="T1"/>
                                </a:cxn>
                                <a:cxn ang="0">
                                  <a:pos x="T2" y="T3"/>
                                </a:cxn>
                                <a:cxn ang="0">
                                  <a:pos x="T4" y="T5"/>
                                </a:cxn>
                                <a:cxn ang="0">
                                  <a:pos x="T6" y="T7"/>
                                </a:cxn>
                                <a:cxn ang="0">
                                  <a:pos x="T8" y="T9"/>
                                </a:cxn>
                              </a:cxnLst>
                              <a:rect l="0" t="0" r="r" b="b"/>
                              <a:pathLst>
                                <a:path w="102" h="65">
                                  <a:moveTo>
                                    <a:pt x="34" y="0"/>
                                  </a:moveTo>
                                  <a:lnTo>
                                    <a:pt x="102" y="45"/>
                                  </a:lnTo>
                                  <a:lnTo>
                                    <a:pt x="65" y="65"/>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1" name="Freeform 133"/>
                            <p:cNvSpPr/>
                            <p:nvPr/>
                          </p:nvSpPr>
                          <p:spPr bwMode="auto">
                            <a:xfrm>
                              <a:off x="2609" y="3099"/>
                              <a:ext cx="15" cy="8"/>
                            </a:xfrm>
                            <a:custGeom>
                              <a:avLst/>
                              <a:gdLst>
                                <a:gd name="T0" fmla="*/ 34 w 103"/>
                                <a:gd name="T1" fmla="*/ 0 h 62"/>
                                <a:gd name="T2" fmla="*/ 103 w 103"/>
                                <a:gd name="T3" fmla="*/ 44 h 62"/>
                                <a:gd name="T4" fmla="*/ 66 w 103"/>
                                <a:gd name="T5" fmla="*/ 62 h 62"/>
                                <a:gd name="T6" fmla="*/ 0 w 103"/>
                                <a:gd name="T7" fmla="*/ 22 h 62"/>
                                <a:gd name="T8" fmla="*/ 34 w 103"/>
                                <a:gd name="T9" fmla="*/ 0 h 62"/>
                              </a:gdLst>
                              <a:ahLst/>
                              <a:cxnLst>
                                <a:cxn ang="0">
                                  <a:pos x="T0" y="T1"/>
                                </a:cxn>
                                <a:cxn ang="0">
                                  <a:pos x="T2" y="T3"/>
                                </a:cxn>
                                <a:cxn ang="0">
                                  <a:pos x="T4" y="T5"/>
                                </a:cxn>
                                <a:cxn ang="0">
                                  <a:pos x="T6" y="T7"/>
                                </a:cxn>
                                <a:cxn ang="0">
                                  <a:pos x="T8" y="T9"/>
                                </a:cxn>
                              </a:cxnLst>
                              <a:rect l="0" t="0" r="r" b="b"/>
                              <a:pathLst>
                                <a:path w="103" h="62">
                                  <a:moveTo>
                                    <a:pt x="34" y="0"/>
                                  </a:moveTo>
                                  <a:lnTo>
                                    <a:pt x="103" y="44"/>
                                  </a:lnTo>
                                  <a:lnTo>
                                    <a:pt x="66" y="62"/>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2" name="Freeform 134"/>
                            <p:cNvSpPr/>
                            <p:nvPr/>
                          </p:nvSpPr>
                          <p:spPr bwMode="auto">
                            <a:xfrm>
                              <a:off x="2615" y="3096"/>
                              <a:ext cx="15" cy="8"/>
                            </a:xfrm>
                            <a:custGeom>
                              <a:avLst/>
                              <a:gdLst>
                                <a:gd name="T0" fmla="*/ 32 w 101"/>
                                <a:gd name="T1" fmla="*/ 0 h 62"/>
                                <a:gd name="T2" fmla="*/ 101 w 101"/>
                                <a:gd name="T3" fmla="*/ 41 h 62"/>
                                <a:gd name="T4" fmla="*/ 64 w 101"/>
                                <a:gd name="T5" fmla="*/ 62 h 62"/>
                                <a:gd name="T6" fmla="*/ 0 w 101"/>
                                <a:gd name="T7" fmla="*/ 22 h 62"/>
                                <a:gd name="T8" fmla="*/ 32 w 101"/>
                                <a:gd name="T9" fmla="*/ 0 h 62"/>
                              </a:gdLst>
                              <a:ahLst/>
                              <a:cxnLst>
                                <a:cxn ang="0">
                                  <a:pos x="T0" y="T1"/>
                                </a:cxn>
                                <a:cxn ang="0">
                                  <a:pos x="T2" y="T3"/>
                                </a:cxn>
                                <a:cxn ang="0">
                                  <a:pos x="T4" y="T5"/>
                                </a:cxn>
                                <a:cxn ang="0">
                                  <a:pos x="T6" y="T7"/>
                                </a:cxn>
                                <a:cxn ang="0">
                                  <a:pos x="T8" y="T9"/>
                                </a:cxn>
                              </a:cxnLst>
                              <a:rect l="0" t="0" r="r" b="b"/>
                              <a:pathLst>
                                <a:path w="101" h="62">
                                  <a:moveTo>
                                    <a:pt x="32" y="0"/>
                                  </a:moveTo>
                                  <a:lnTo>
                                    <a:pt x="101" y="41"/>
                                  </a:lnTo>
                                  <a:lnTo>
                                    <a:pt x="64" y="62"/>
                                  </a:lnTo>
                                  <a:lnTo>
                                    <a:pt x="0" y="22"/>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3" name="Freeform 135"/>
                            <p:cNvSpPr/>
                            <p:nvPr/>
                          </p:nvSpPr>
                          <p:spPr bwMode="auto">
                            <a:xfrm>
                              <a:off x="2598" y="3100"/>
                              <a:ext cx="10" cy="5"/>
                            </a:xfrm>
                            <a:custGeom>
                              <a:avLst/>
                              <a:gdLst>
                                <a:gd name="T0" fmla="*/ 38 w 73"/>
                                <a:gd name="T1" fmla="*/ 0 h 46"/>
                                <a:gd name="T2" fmla="*/ 73 w 73"/>
                                <a:gd name="T3" fmla="*/ 23 h 46"/>
                                <a:gd name="T4" fmla="*/ 36 w 73"/>
                                <a:gd name="T5" fmla="*/ 46 h 46"/>
                                <a:gd name="T6" fmla="*/ 0 w 73"/>
                                <a:gd name="T7" fmla="*/ 23 h 46"/>
                                <a:gd name="T8" fmla="*/ 38 w 73"/>
                                <a:gd name="T9" fmla="*/ 0 h 46"/>
                              </a:gdLst>
                              <a:ahLst/>
                              <a:cxnLst>
                                <a:cxn ang="0">
                                  <a:pos x="T0" y="T1"/>
                                </a:cxn>
                                <a:cxn ang="0">
                                  <a:pos x="T2" y="T3"/>
                                </a:cxn>
                                <a:cxn ang="0">
                                  <a:pos x="T4" y="T5"/>
                                </a:cxn>
                                <a:cxn ang="0">
                                  <a:pos x="T6" y="T7"/>
                                </a:cxn>
                                <a:cxn ang="0">
                                  <a:pos x="T8" y="T9"/>
                                </a:cxn>
                              </a:cxnLst>
                              <a:rect l="0" t="0" r="r" b="b"/>
                              <a:pathLst>
                                <a:path w="73" h="46">
                                  <a:moveTo>
                                    <a:pt x="38" y="0"/>
                                  </a:moveTo>
                                  <a:lnTo>
                                    <a:pt x="73" y="23"/>
                                  </a:lnTo>
                                  <a:lnTo>
                                    <a:pt x="36" y="46"/>
                                  </a:lnTo>
                                  <a:lnTo>
                                    <a:pt x="0" y="23"/>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4" name="Freeform 136"/>
                            <p:cNvSpPr/>
                            <p:nvPr/>
                          </p:nvSpPr>
                          <p:spPr bwMode="auto">
                            <a:xfrm>
                              <a:off x="2604" y="3097"/>
                              <a:ext cx="10" cy="5"/>
                            </a:xfrm>
                            <a:custGeom>
                              <a:avLst/>
                              <a:gdLst>
                                <a:gd name="T0" fmla="*/ 35 w 69"/>
                                <a:gd name="T1" fmla="*/ 0 h 43"/>
                                <a:gd name="T2" fmla="*/ 69 w 69"/>
                                <a:gd name="T3" fmla="*/ 22 h 43"/>
                                <a:gd name="T4" fmla="*/ 31 w 69"/>
                                <a:gd name="T5" fmla="*/ 43 h 43"/>
                                <a:gd name="T6" fmla="*/ 0 w 69"/>
                                <a:gd name="T7" fmla="*/ 22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2"/>
                                  </a:lnTo>
                                  <a:lnTo>
                                    <a:pt x="31" y="43"/>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5" name="Freeform 137"/>
                            <p:cNvSpPr/>
                            <p:nvPr/>
                          </p:nvSpPr>
                          <p:spPr bwMode="auto">
                            <a:xfrm>
                              <a:off x="2610" y="3094"/>
                              <a:ext cx="10" cy="5"/>
                            </a:xfrm>
                            <a:custGeom>
                              <a:avLst/>
                              <a:gdLst>
                                <a:gd name="T0" fmla="*/ 36 w 68"/>
                                <a:gd name="T1" fmla="*/ 0 h 43"/>
                                <a:gd name="T2" fmla="*/ 68 w 68"/>
                                <a:gd name="T3" fmla="*/ 20 h 43"/>
                                <a:gd name="T4" fmla="*/ 34 w 68"/>
                                <a:gd name="T5" fmla="*/ 43 h 43"/>
                                <a:gd name="T6" fmla="*/ 0 w 68"/>
                                <a:gd name="T7" fmla="*/ 21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0"/>
                                  </a:lnTo>
                                  <a:lnTo>
                                    <a:pt x="34" y="43"/>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6" name="Freeform 138"/>
                            <p:cNvSpPr/>
                            <p:nvPr/>
                          </p:nvSpPr>
                          <p:spPr bwMode="auto">
                            <a:xfrm>
                              <a:off x="2616" y="3091"/>
                              <a:ext cx="10" cy="5"/>
                            </a:xfrm>
                            <a:custGeom>
                              <a:avLst/>
                              <a:gdLst>
                                <a:gd name="T0" fmla="*/ 35 w 67"/>
                                <a:gd name="T1" fmla="*/ 0 h 42"/>
                                <a:gd name="T2" fmla="*/ 67 w 67"/>
                                <a:gd name="T3" fmla="*/ 19 h 42"/>
                                <a:gd name="T4" fmla="*/ 31 w 67"/>
                                <a:gd name="T5" fmla="*/ 42 h 42"/>
                                <a:gd name="T6" fmla="*/ 0 w 67"/>
                                <a:gd name="T7" fmla="*/ 21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7" name="Freeform 139"/>
                            <p:cNvSpPr/>
                            <p:nvPr/>
                          </p:nvSpPr>
                          <p:spPr bwMode="auto">
                            <a:xfrm>
                              <a:off x="2622" y="3089"/>
                              <a:ext cx="8" cy="4"/>
                            </a:xfrm>
                            <a:custGeom>
                              <a:avLst/>
                              <a:gdLst>
                                <a:gd name="T0" fmla="*/ 28 w 59"/>
                                <a:gd name="T1" fmla="*/ 0 h 36"/>
                                <a:gd name="T2" fmla="*/ 59 w 59"/>
                                <a:gd name="T3" fmla="*/ 19 h 36"/>
                                <a:gd name="T4" fmla="*/ 32 w 59"/>
                                <a:gd name="T5" fmla="*/ 36 h 36"/>
                                <a:gd name="T6" fmla="*/ 0 w 59"/>
                                <a:gd name="T7" fmla="*/ 18 h 36"/>
                                <a:gd name="T8" fmla="*/ 28 w 59"/>
                                <a:gd name="T9" fmla="*/ 0 h 36"/>
                              </a:gdLst>
                              <a:ahLst/>
                              <a:cxnLst>
                                <a:cxn ang="0">
                                  <a:pos x="T0" y="T1"/>
                                </a:cxn>
                                <a:cxn ang="0">
                                  <a:pos x="T2" y="T3"/>
                                </a:cxn>
                                <a:cxn ang="0">
                                  <a:pos x="T4" y="T5"/>
                                </a:cxn>
                                <a:cxn ang="0">
                                  <a:pos x="T6" y="T7"/>
                                </a:cxn>
                                <a:cxn ang="0">
                                  <a:pos x="T8" y="T9"/>
                                </a:cxn>
                              </a:cxnLst>
                              <a:rect l="0" t="0" r="r" b="b"/>
                              <a:pathLst>
                                <a:path w="59" h="36">
                                  <a:moveTo>
                                    <a:pt x="28" y="0"/>
                                  </a:moveTo>
                                  <a:lnTo>
                                    <a:pt x="59" y="19"/>
                                  </a:lnTo>
                                  <a:lnTo>
                                    <a:pt x="32" y="36"/>
                                  </a:lnTo>
                                  <a:lnTo>
                                    <a:pt x="0" y="18"/>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8" name="Freeform 140"/>
                            <p:cNvSpPr/>
                            <p:nvPr/>
                          </p:nvSpPr>
                          <p:spPr bwMode="auto">
                            <a:xfrm>
                              <a:off x="2627" y="3091"/>
                              <a:ext cx="8" cy="5"/>
                            </a:xfrm>
                            <a:custGeom>
                              <a:avLst/>
                              <a:gdLst>
                                <a:gd name="T0" fmla="*/ 28 w 61"/>
                                <a:gd name="T1" fmla="*/ 0 h 39"/>
                                <a:gd name="T2" fmla="*/ 61 w 61"/>
                                <a:gd name="T3" fmla="*/ 20 h 39"/>
                                <a:gd name="T4" fmla="*/ 31 w 61"/>
                                <a:gd name="T5" fmla="*/ 39 h 39"/>
                                <a:gd name="T6" fmla="*/ 0 w 61"/>
                                <a:gd name="T7" fmla="*/ 19 h 39"/>
                                <a:gd name="T8" fmla="*/ 28 w 61"/>
                                <a:gd name="T9" fmla="*/ 0 h 39"/>
                              </a:gdLst>
                              <a:ahLst/>
                              <a:cxnLst>
                                <a:cxn ang="0">
                                  <a:pos x="T0" y="T1"/>
                                </a:cxn>
                                <a:cxn ang="0">
                                  <a:pos x="T2" y="T3"/>
                                </a:cxn>
                                <a:cxn ang="0">
                                  <a:pos x="T4" y="T5"/>
                                </a:cxn>
                                <a:cxn ang="0">
                                  <a:pos x="T6" y="T7"/>
                                </a:cxn>
                                <a:cxn ang="0">
                                  <a:pos x="T8" y="T9"/>
                                </a:cxn>
                              </a:cxnLst>
                              <a:rect l="0" t="0" r="r" b="b"/>
                              <a:pathLst>
                                <a:path w="61" h="39">
                                  <a:moveTo>
                                    <a:pt x="28" y="0"/>
                                  </a:moveTo>
                                  <a:lnTo>
                                    <a:pt x="61" y="20"/>
                                  </a:lnTo>
                                  <a:lnTo>
                                    <a:pt x="31" y="39"/>
                                  </a:lnTo>
                                  <a:lnTo>
                                    <a:pt x="0" y="19"/>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9" name="Freeform 141"/>
                            <p:cNvSpPr/>
                            <p:nvPr/>
                          </p:nvSpPr>
                          <p:spPr bwMode="auto">
                            <a:xfrm>
                              <a:off x="2621" y="3093"/>
                              <a:ext cx="10" cy="5"/>
                            </a:xfrm>
                            <a:custGeom>
                              <a:avLst/>
                              <a:gdLst>
                                <a:gd name="T0" fmla="*/ 36 w 68"/>
                                <a:gd name="T1" fmla="*/ 0 h 42"/>
                                <a:gd name="T2" fmla="*/ 68 w 68"/>
                                <a:gd name="T3" fmla="*/ 21 h 42"/>
                                <a:gd name="T4" fmla="*/ 32 w 68"/>
                                <a:gd name="T5" fmla="*/ 42 h 42"/>
                                <a:gd name="T6" fmla="*/ 0 w 68"/>
                                <a:gd name="T7" fmla="*/ 24 h 42"/>
                                <a:gd name="T8" fmla="*/ 36 w 68"/>
                                <a:gd name="T9" fmla="*/ 0 h 42"/>
                              </a:gdLst>
                              <a:ahLst/>
                              <a:cxnLst>
                                <a:cxn ang="0">
                                  <a:pos x="T0" y="T1"/>
                                </a:cxn>
                                <a:cxn ang="0">
                                  <a:pos x="T2" y="T3"/>
                                </a:cxn>
                                <a:cxn ang="0">
                                  <a:pos x="T4" y="T5"/>
                                </a:cxn>
                                <a:cxn ang="0">
                                  <a:pos x="T6" y="T7"/>
                                </a:cxn>
                                <a:cxn ang="0">
                                  <a:pos x="T8" y="T9"/>
                                </a:cxn>
                              </a:cxnLst>
                              <a:rect l="0" t="0" r="r" b="b"/>
                              <a:pathLst>
                                <a:path w="68" h="42">
                                  <a:moveTo>
                                    <a:pt x="36" y="0"/>
                                  </a:moveTo>
                                  <a:lnTo>
                                    <a:pt x="68" y="21"/>
                                  </a:lnTo>
                                  <a:lnTo>
                                    <a:pt x="32" y="42"/>
                                  </a:lnTo>
                                  <a:lnTo>
                                    <a:pt x="0" y="24"/>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0" name="Freeform 142"/>
                            <p:cNvSpPr/>
                            <p:nvPr/>
                          </p:nvSpPr>
                          <p:spPr bwMode="auto">
                            <a:xfrm>
                              <a:off x="2632" y="3093"/>
                              <a:ext cx="8" cy="5"/>
                            </a:xfrm>
                            <a:custGeom>
                              <a:avLst/>
                              <a:gdLst>
                                <a:gd name="T0" fmla="*/ 29 w 61"/>
                                <a:gd name="T1" fmla="*/ 0 h 39"/>
                                <a:gd name="T2" fmla="*/ 61 w 61"/>
                                <a:gd name="T3" fmla="*/ 20 h 39"/>
                                <a:gd name="T4" fmla="*/ 32 w 61"/>
                                <a:gd name="T5" fmla="*/ 39 h 39"/>
                                <a:gd name="T6" fmla="*/ 0 w 61"/>
                                <a:gd name="T7" fmla="*/ 20 h 39"/>
                                <a:gd name="T8" fmla="*/ 29 w 61"/>
                                <a:gd name="T9" fmla="*/ 0 h 39"/>
                              </a:gdLst>
                              <a:ahLst/>
                              <a:cxnLst>
                                <a:cxn ang="0">
                                  <a:pos x="T0" y="T1"/>
                                </a:cxn>
                                <a:cxn ang="0">
                                  <a:pos x="T2" y="T3"/>
                                </a:cxn>
                                <a:cxn ang="0">
                                  <a:pos x="T4" y="T5"/>
                                </a:cxn>
                                <a:cxn ang="0">
                                  <a:pos x="T6" y="T7"/>
                                </a:cxn>
                                <a:cxn ang="0">
                                  <a:pos x="T8" y="T9"/>
                                </a:cxn>
                              </a:cxnLst>
                              <a:rect l="0" t="0" r="r" b="b"/>
                              <a:pathLst>
                                <a:path w="61" h="39">
                                  <a:moveTo>
                                    <a:pt x="29" y="0"/>
                                  </a:moveTo>
                                  <a:lnTo>
                                    <a:pt x="61" y="20"/>
                                  </a:lnTo>
                                  <a:lnTo>
                                    <a:pt x="32" y="39"/>
                                  </a:lnTo>
                                  <a:lnTo>
                                    <a:pt x="0" y="20"/>
                                  </a:ln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1" name="Freeform 143"/>
                            <p:cNvSpPr/>
                            <p:nvPr/>
                          </p:nvSpPr>
                          <p:spPr bwMode="auto">
                            <a:xfrm>
                              <a:off x="2626" y="3095"/>
                              <a:ext cx="10" cy="6"/>
                            </a:xfrm>
                            <a:custGeom>
                              <a:avLst/>
                              <a:gdLst>
                                <a:gd name="T0" fmla="*/ 36 w 69"/>
                                <a:gd name="T1" fmla="*/ 0 h 42"/>
                                <a:gd name="T2" fmla="*/ 69 w 69"/>
                                <a:gd name="T3" fmla="*/ 20 h 42"/>
                                <a:gd name="T4" fmla="*/ 32 w 69"/>
                                <a:gd name="T5" fmla="*/ 42 h 42"/>
                                <a:gd name="T6" fmla="*/ 0 w 69"/>
                                <a:gd name="T7" fmla="*/ 23 h 42"/>
                                <a:gd name="T8" fmla="*/ 36 w 69"/>
                                <a:gd name="T9" fmla="*/ 0 h 42"/>
                              </a:gdLst>
                              <a:ahLst/>
                              <a:cxnLst>
                                <a:cxn ang="0">
                                  <a:pos x="T0" y="T1"/>
                                </a:cxn>
                                <a:cxn ang="0">
                                  <a:pos x="T2" y="T3"/>
                                </a:cxn>
                                <a:cxn ang="0">
                                  <a:pos x="T4" y="T5"/>
                                </a:cxn>
                                <a:cxn ang="0">
                                  <a:pos x="T6" y="T7"/>
                                </a:cxn>
                                <a:cxn ang="0">
                                  <a:pos x="T8" y="T9"/>
                                </a:cxn>
                              </a:cxnLst>
                              <a:rect l="0" t="0" r="r" b="b"/>
                              <a:pathLst>
                                <a:path w="69" h="42">
                                  <a:moveTo>
                                    <a:pt x="36" y="0"/>
                                  </a:moveTo>
                                  <a:lnTo>
                                    <a:pt x="69" y="20"/>
                                  </a:lnTo>
                                  <a:lnTo>
                                    <a:pt x="32" y="42"/>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2" name="Freeform 144"/>
                            <p:cNvSpPr/>
                            <p:nvPr/>
                          </p:nvSpPr>
                          <p:spPr bwMode="auto">
                            <a:xfrm>
                              <a:off x="2599" y="3094"/>
                              <a:ext cx="10" cy="6"/>
                            </a:xfrm>
                            <a:custGeom>
                              <a:avLst/>
                              <a:gdLst>
                                <a:gd name="T0" fmla="*/ 35 w 68"/>
                                <a:gd name="T1" fmla="*/ 0 h 42"/>
                                <a:gd name="T2" fmla="*/ 68 w 68"/>
                                <a:gd name="T3" fmla="*/ 21 h 42"/>
                                <a:gd name="T4" fmla="*/ 33 w 68"/>
                                <a:gd name="T5" fmla="*/ 42 h 42"/>
                                <a:gd name="T6" fmla="*/ 0 w 68"/>
                                <a:gd name="T7" fmla="*/ 19 h 42"/>
                                <a:gd name="T8" fmla="*/ 35 w 68"/>
                                <a:gd name="T9" fmla="*/ 0 h 42"/>
                              </a:gdLst>
                              <a:ahLst/>
                              <a:cxnLst>
                                <a:cxn ang="0">
                                  <a:pos x="T0" y="T1"/>
                                </a:cxn>
                                <a:cxn ang="0">
                                  <a:pos x="T2" y="T3"/>
                                </a:cxn>
                                <a:cxn ang="0">
                                  <a:pos x="T4" y="T5"/>
                                </a:cxn>
                                <a:cxn ang="0">
                                  <a:pos x="T6" y="T7"/>
                                </a:cxn>
                                <a:cxn ang="0">
                                  <a:pos x="T8" y="T9"/>
                                </a:cxn>
                              </a:cxnLst>
                              <a:rect l="0" t="0" r="r" b="b"/>
                              <a:pathLst>
                                <a:path w="68" h="42">
                                  <a:moveTo>
                                    <a:pt x="35" y="0"/>
                                  </a:moveTo>
                                  <a:lnTo>
                                    <a:pt x="68" y="21"/>
                                  </a:lnTo>
                                  <a:lnTo>
                                    <a:pt x="33" y="42"/>
                                  </a:lnTo>
                                  <a:lnTo>
                                    <a:pt x="0" y="19"/>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3" name="Freeform 145"/>
                            <p:cNvSpPr/>
                            <p:nvPr/>
                          </p:nvSpPr>
                          <p:spPr bwMode="auto">
                            <a:xfrm>
                              <a:off x="2605" y="3091"/>
                              <a:ext cx="10" cy="6"/>
                            </a:xfrm>
                            <a:custGeom>
                              <a:avLst/>
                              <a:gdLst>
                                <a:gd name="T0" fmla="*/ 37 w 69"/>
                                <a:gd name="T1" fmla="*/ 0 h 42"/>
                                <a:gd name="T2" fmla="*/ 69 w 69"/>
                                <a:gd name="T3" fmla="*/ 21 h 42"/>
                                <a:gd name="T4" fmla="*/ 33 w 69"/>
                                <a:gd name="T5" fmla="*/ 42 h 42"/>
                                <a:gd name="T6" fmla="*/ 0 w 69"/>
                                <a:gd name="T7" fmla="*/ 21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1"/>
                                  </a:lnTo>
                                  <a:lnTo>
                                    <a:pt x="33" y="42"/>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4" name="Freeform 146"/>
                            <p:cNvSpPr/>
                            <p:nvPr/>
                          </p:nvSpPr>
                          <p:spPr bwMode="auto">
                            <a:xfrm>
                              <a:off x="2612" y="3088"/>
                              <a:ext cx="9" cy="6"/>
                            </a:xfrm>
                            <a:custGeom>
                              <a:avLst/>
                              <a:gdLst>
                                <a:gd name="T0" fmla="*/ 35 w 66"/>
                                <a:gd name="T1" fmla="*/ 0 h 42"/>
                                <a:gd name="T2" fmla="*/ 66 w 66"/>
                                <a:gd name="T3" fmla="*/ 21 h 42"/>
                                <a:gd name="T4" fmla="*/ 30 w 66"/>
                                <a:gd name="T5" fmla="*/ 42 h 42"/>
                                <a:gd name="T6" fmla="*/ 0 w 66"/>
                                <a:gd name="T7" fmla="*/ 22 h 42"/>
                                <a:gd name="T8" fmla="*/ 35 w 66"/>
                                <a:gd name="T9" fmla="*/ 0 h 42"/>
                              </a:gdLst>
                              <a:ahLst/>
                              <a:cxnLst>
                                <a:cxn ang="0">
                                  <a:pos x="T0" y="T1"/>
                                </a:cxn>
                                <a:cxn ang="0">
                                  <a:pos x="T2" y="T3"/>
                                </a:cxn>
                                <a:cxn ang="0">
                                  <a:pos x="T4" y="T5"/>
                                </a:cxn>
                                <a:cxn ang="0">
                                  <a:pos x="T6" y="T7"/>
                                </a:cxn>
                                <a:cxn ang="0">
                                  <a:pos x="T8" y="T9"/>
                                </a:cxn>
                              </a:cxnLst>
                              <a:rect l="0" t="0" r="r" b="b"/>
                              <a:pathLst>
                                <a:path w="66" h="42">
                                  <a:moveTo>
                                    <a:pt x="35" y="0"/>
                                  </a:moveTo>
                                  <a:lnTo>
                                    <a:pt x="66" y="21"/>
                                  </a:lnTo>
                                  <a:lnTo>
                                    <a:pt x="30" y="42"/>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5" name="Freeform 147"/>
                            <p:cNvSpPr/>
                            <p:nvPr/>
                          </p:nvSpPr>
                          <p:spPr bwMode="auto">
                            <a:xfrm>
                              <a:off x="2617" y="3086"/>
                              <a:ext cx="9" cy="5"/>
                            </a:xfrm>
                            <a:custGeom>
                              <a:avLst/>
                              <a:gdLst>
                                <a:gd name="T0" fmla="*/ 25 w 57"/>
                                <a:gd name="T1" fmla="*/ 0 h 35"/>
                                <a:gd name="T2" fmla="*/ 57 w 57"/>
                                <a:gd name="T3" fmla="*/ 20 h 35"/>
                                <a:gd name="T4" fmla="*/ 29 w 57"/>
                                <a:gd name="T5" fmla="*/ 35 h 35"/>
                                <a:gd name="T6" fmla="*/ 0 w 57"/>
                                <a:gd name="T7" fmla="*/ 16 h 35"/>
                                <a:gd name="T8" fmla="*/ 25 w 57"/>
                                <a:gd name="T9" fmla="*/ 0 h 35"/>
                              </a:gdLst>
                              <a:ahLst/>
                              <a:cxnLst>
                                <a:cxn ang="0">
                                  <a:pos x="T0" y="T1"/>
                                </a:cxn>
                                <a:cxn ang="0">
                                  <a:pos x="T2" y="T3"/>
                                </a:cxn>
                                <a:cxn ang="0">
                                  <a:pos x="T4" y="T5"/>
                                </a:cxn>
                                <a:cxn ang="0">
                                  <a:pos x="T6" y="T7"/>
                                </a:cxn>
                                <a:cxn ang="0">
                                  <a:pos x="T8" y="T9"/>
                                </a:cxn>
                              </a:cxnLst>
                              <a:rect l="0" t="0" r="r" b="b"/>
                              <a:pathLst>
                                <a:path w="57" h="35">
                                  <a:moveTo>
                                    <a:pt x="25" y="0"/>
                                  </a:moveTo>
                                  <a:lnTo>
                                    <a:pt x="57" y="20"/>
                                  </a:lnTo>
                                  <a:lnTo>
                                    <a:pt x="29" y="35"/>
                                  </a:lnTo>
                                  <a:lnTo>
                                    <a:pt x="0" y="16"/>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6" name="Freeform 148"/>
                            <p:cNvSpPr/>
                            <p:nvPr/>
                          </p:nvSpPr>
                          <p:spPr bwMode="auto">
                            <a:xfrm>
                              <a:off x="2593" y="3097"/>
                              <a:ext cx="10" cy="6"/>
                            </a:xfrm>
                            <a:custGeom>
                              <a:avLst/>
                              <a:gdLst>
                                <a:gd name="T0" fmla="*/ 37 w 72"/>
                                <a:gd name="T1" fmla="*/ 0 h 46"/>
                                <a:gd name="T2" fmla="*/ 72 w 72"/>
                                <a:gd name="T3" fmla="*/ 23 h 46"/>
                                <a:gd name="T4" fmla="*/ 36 w 72"/>
                                <a:gd name="T5" fmla="*/ 46 h 46"/>
                                <a:gd name="T6" fmla="*/ 0 w 72"/>
                                <a:gd name="T7" fmla="*/ 22 h 46"/>
                                <a:gd name="T8" fmla="*/ 37 w 72"/>
                                <a:gd name="T9" fmla="*/ 0 h 46"/>
                              </a:gdLst>
                              <a:ahLst/>
                              <a:cxnLst>
                                <a:cxn ang="0">
                                  <a:pos x="T0" y="T1"/>
                                </a:cxn>
                                <a:cxn ang="0">
                                  <a:pos x="T2" y="T3"/>
                                </a:cxn>
                                <a:cxn ang="0">
                                  <a:pos x="T4" y="T5"/>
                                </a:cxn>
                                <a:cxn ang="0">
                                  <a:pos x="T6" y="T7"/>
                                </a:cxn>
                                <a:cxn ang="0">
                                  <a:pos x="T8" y="T9"/>
                                </a:cxn>
                              </a:cxnLst>
                              <a:rect l="0" t="0" r="r" b="b"/>
                              <a:pathLst>
                                <a:path w="72" h="46">
                                  <a:moveTo>
                                    <a:pt x="37" y="0"/>
                                  </a:moveTo>
                                  <a:lnTo>
                                    <a:pt x="72" y="23"/>
                                  </a:lnTo>
                                  <a:lnTo>
                                    <a:pt x="36" y="46"/>
                                  </a:lnTo>
                                  <a:lnTo>
                                    <a:pt x="0" y="22"/>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7" name="Freeform 149"/>
                            <p:cNvSpPr/>
                            <p:nvPr/>
                          </p:nvSpPr>
                          <p:spPr bwMode="auto">
                            <a:xfrm>
                              <a:off x="2588" y="3094"/>
                              <a:ext cx="10" cy="6"/>
                            </a:xfrm>
                            <a:custGeom>
                              <a:avLst/>
                              <a:gdLst>
                                <a:gd name="T0" fmla="*/ 38 w 71"/>
                                <a:gd name="T1" fmla="*/ 0 h 43"/>
                                <a:gd name="T2" fmla="*/ 71 w 71"/>
                                <a:gd name="T3" fmla="*/ 21 h 43"/>
                                <a:gd name="T4" fmla="*/ 35 w 71"/>
                                <a:gd name="T5" fmla="*/ 43 h 43"/>
                                <a:gd name="T6" fmla="*/ 0 w 71"/>
                                <a:gd name="T7" fmla="*/ 21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1"/>
                                  </a:lnTo>
                                  <a:lnTo>
                                    <a:pt x="35" y="43"/>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8" name="Freeform 150"/>
                            <p:cNvSpPr/>
                            <p:nvPr/>
                          </p:nvSpPr>
                          <p:spPr bwMode="auto">
                            <a:xfrm>
                              <a:off x="2594" y="3091"/>
                              <a:ext cx="10" cy="6"/>
                            </a:xfrm>
                            <a:custGeom>
                              <a:avLst/>
                              <a:gdLst>
                                <a:gd name="T0" fmla="*/ 37 w 70"/>
                                <a:gd name="T1" fmla="*/ 0 h 43"/>
                                <a:gd name="T2" fmla="*/ 70 w 70"/>
                                <a:gd name="T3" fmla="*/ 21 h 43"/>
                                <a:gd name="T4" fmla="*/ 33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3" y="43"/>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9" name="Freeform 151"/>
                            <p:cNvSpPr/>
                            <p:nvPr/>
                          </p:nvSpPr>
                          <p:spPr bwMode="auto">
                            <a:xfrm>
                              <a:off x="2601" y="3089"/>
                              <a:ext cx="9" cy="5"/>
                            </a:xfrm>
                            <a:custGeom>
                              <a:avLst/>
                              <a:gdLst>
                                <a:gd name="T0" fmla="*/ 34 w 67"/>
                                <a:gd name="T1" fmla="*/ 0 h 43"/>
                                <a:gd name="T2" fmla="*/ 67 w 67"/>
                                <a:gd name="T3" fmla="*/ 20 h 43"/>
                                <a:gd name="T4" fmla="*/ 32 w 67"/>
                                <a:gd name="T5" fmla="*/ 43 h 43"/>
                                <a:gd name="T6" fmla="*/ 0 w 67"/>
                                <a:gd name="T7" fmla="*/ 21 h 43"/>
                                <a:gd name="T8" fmla="*/ 34 w 67"/>
                                <a:gd name="T9" fmla="*/ 0 h 43"/>
                              </a:gdLst>
                              <a:ahLst/>
                              <a:cxnLst>
                                <a:cxn ang="0">
                                  <a:pos x="T0" y="T1"/>
                                </a:cxn>
                                <a:cxn ang="0">
                                  <a:pos x="T2" y="T3"/>
                                </a:cxn>
                                <a:cxn ang="0">
                                  <a:pos x="T4" y="T5"/>
                                </a:cxn>
                                <a:cxn ang="0">
                                  <a:pos x="T6" y="T7"/>
                                </a:cxn>
                                <a:cxn ang="0">
                                  <a:pos x="T8" y="T9"/>
                                </a:cxn>
                              </a:cxnLst>
                              <a:rect l="0" t="0" r="r" b="b"/>
                              <a:pathLst>
                                <a:path w="67" h="43">
                                  <a:moveTo>
                                    <a:pt x="34" y="0"/>
                                  </a:moveTo>
                                  <a:lnTo>
                                    <a:pt x="67" y="20"/>
                                  </a:lnTo>
                                  <a:lnTo>
                                    <a:pt x="32" y="43"/>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0" name="Freeform 152"/>
                            <p:cNvSpPr/>
                            <p:nvPr/>
                          </p:nvSpPr>
                          <p:spPr bwMode="auto">
                            <a:xfrm>
                              <a:off x="2607" y="3086"/>
                              <a:ext cx="9" cy="5"/>
                            </a:xfrm>
                            <a:custGeom>
                              <a:avLst/>
                              <a:gdLst>
                                <a:gd name="T0" fmla="*/ 38 w 68"/>
                                <a:gd name="T1" fmla="*/ 0 h 43"/>
                                <a:gd name="T2" fmla="*/ 68 w 68"/>
                                <a:gd name="T3" fmla="*/ 20 h 43"/>
                                <a:gd name="T4" fmla="*/ 33 w 68"/>
                                <a:gd name="T5" fmla="*/ 43 h 43"/>
                                <a:gd name="T6" fmla="*/ 0 w 68"/>
                                <a:gd name="T7" fmla="*/ 22 h 43"/>
                                <a:gd name="T8" fmla="*/ 38 w 68"/>
                                <a:gd name="T9" fmla="*/ 0 h 43"/>
                              </a:gdLst>
                              <a:ahLst/>
                              <a:cxnLst>
                                <a:cxn ang="0">
                                  <a:pos x="T0" y="T1"/>
                                </a:cxn>
                                <a:cxn ang="0">
                                  <a:pos x="T2" y="T3"/>
                                </a:cxn>
                                <a:cxn ang="0">
                                  <a:pos x="T4" y="T5"/>
                                </a:cxn>
                                <a:cxn ang="0">
                                  <a:pos x="T6" y="T7"/>
                                </a:cxn>
                                <a:cxn ang="0">
                                  <a:pos x="T8" y="T9"/>
                                </a:cxn>
                              </a:cxnLst>
                              <a:rect l="0" t="0" r="r" b="b"/>
                              <a:pathLst>
                                <a:path w="68" h="43">
                                  <a:moveTo>
                                    <a:pt x="38" y="0"/>
                                  </a:moveTo>
                                  <a:lnTo>
                                    <a:pt x="68" y="20"/>
                                  </a:lnTo>
                                  <a:lnTo>
                                    <a:pt x="33" y="43"/>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1" name="Freeform 153"/>
                            <p:cNvSpPr/>
                            <p:nvPr/>
                          </p:nvSpPr>
                          <p:spPr bwMode="auto">
                            <a:xfrm>
                              <a:off x="2612" y="3084"/>
                              <a:ext cx="9" cy="5"/>
                            </a:xfrm>
                            <a:custGeom>
                              <a:avLst/>
                              <a:gdLst>
                                <a:gd name="T0" fmla="*/ 27 w 57"/>
                                <a:gd name="T1" fmla="*/ 0 h 36"/>
                                <a:gd name="T2" fmla="*/ 57 w 57"/>
                                <a:gd name="T3" fmla="*/ 19 h 36"/>
                                <a:gd name="T4" fmla="*/ 31 w 57"/>
                                <a:gd name="T5" fmla="*/ 36 h 36"/>
                                <a:gd name="T6" fmla="*/ 0 w 57"/>
                                <a:gd name="T7" fmla="*/ 16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19"/>
                                  </a:lnTo>
                                  <a:lnTo>
                                    <a:pt x="31" y="36"/>
                                  </a:lnTo>
                                  <a:lnTo>
                                    <a:pt x="0" y="16"/>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2" name="Freeform 154"/>
                            <p:cNvSpPr/>
                            <p:nvPr/>
                          </p:nvSpPr>
                          <p:spPr bwMode="auto">
                            <a:xfrm>
                              <a:off x="2590" y="3089"/>
                              <a:ext cx="9" cy="5"/>
                            </a:xfrm>
                            <a:custGeom>
                              <a:avLst/>
                              <a:gdLst>
                                <a:gd name="T0" fmla="*/ 35 w 69"/>
                                <a:gd name="T1" fmla="*/ 0 h 44"/>
                                <a:gd name="T2" fmla="*/ 69 w 69"/>
                                <a:gd name="T3" fmla="*/ 23 h 44"/>
                                <a:gd name="T4" fmla="*/ 33 w 69"/>
                                <a:gd name="T5" fmla="*/ 44 h 44"/>
                                <a:gd name="T6" fmla="*/ 0 w 69"/>
                                <a:gd name="T7" fmla="*/ 21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3"/>
                                  </a:lnTo>
                                  <a:lnTo>
                                    <a:pt x="33" y="44"/>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3" name="Freeform 155"/>
                            <p:cNvSpPr/>
                            <p:nvPr/>
                          </p:nvSpPr>
                          <p:spPr bwMode="auto">
                            <a:xfrm>
                              <a:off x="2596" y="3086"/>
                              <a:ext cx="10" cy="6"/>
                            </a:xfrm>
                            <a:custGeom>
                              <a:avLst/>
                              <a:gdLst>
                                <a:gd name="T0" fmla="*/ 37 w 70"/>
                                <a:gd name="T1" fmla="*/ 0 h 42"/>
                                <a:gd name="T2" fmla="*/ 70 w 70"/>
                                <a:gd name="T3" fmla="*/ 20 h 42"/>
                                <a:gd name="T4" fmla="*/ 34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0"/>
                                  </a:lnTo>
                                  <a:lnTo>
                                    <a:pt x="34" y="42"/>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4" name="Freeform 156"/>
                            <p:cNvSpPr/>
                            <p:nvPr/>
                          </p:nvSpPr>
                          <p:spPr bwMode="auto">
                            <a:xfrm>
                              <a:off x="2602" y="3084"/>
                              <a:ext cx="10" cy="5"/>
                            </a:xfrm>
                            <a:custGeom>
                              <a:avLst/>
                              <a:gdLst>
                                <a:gd name="T0" fmla="*/ 36 w 68"/>
                                <a:gd name="T1" fmla="*/ 0 h 41"/>
                                <a:gd name="T2" fmla="*/ 68 w 68"/>
                                <a:gd name="T3" fmla="*/ 19 h 41"/>
                                <a:gd name="T4" fmla="*/ 32 w 68"/>
                                <a:gd name="T5" fmla="*/ 41 h 41"/>
                                <a:gd name="T6" fmla="*/ 0 w 68"/>
                                <a:gd name="T7" fmla="*/ 21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5" name="Freeform 157"/>
                            <p:cNvSpPr/>
                            <p:nvPr/>
                          </p:nvSpPr>
                          <p:spPr bwMode="auto">
                            <a:xfrm>
                              <a:off x="2608" y="3082"/>
                              <a:ext cx="8" cy="4"/>
                            </a:xfrm>
                            <a:custGeom>
                              <a:avLst/>
                              <a:gdLst>
                                <a:gd name="T0" fmla="*/ 27 w 57"/>
                                <a:gd name="T1" fmla="*/ 0 h 36"/>
                                <a:gd name="T2" fmla="*/ 57 w 57"/>
                                <a:gd name="T3" fmla="*/ 21 h 36"/>
                                <a:gd name="T4" fmla="*/ 33 w 57"/>
                                <a:gd name="T5" fmla="*/ 36 h 36"/>
                                <a:gd name="T6" fmla="*/ 0 w 57"/>
                                <a:gd name="T7" fmla="*/ 15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1"/>
                                  </a:lnTo>
                                  <a:lnTo>
                                    <a:pt x="33" y="36"/>
                                  </a:lnTo>
                                  <a:lnTo>
                                    <a:pt x="0" y="15"/>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6" name="Freeform 158"/>
                            <p:cNvSpPr/>
                            <p:nvPr/>
                          </p:nvSpPr>
                          <p:spPr bwMode="auto">
                            <a:xfrm>
                              <a:off x="2583" y="3092"/>
                              <a:ext cx="10" cy="5"/>
                            </a:xfrm>
                            <a:custGeom>
                              <a:avLst/>
                              <a:gdLst>
                                <a:gd name="T0" fmla="*/ 38 w 73"/>
                                <a:gd name="T1" fmla="*/ 0 h 44"/>
                                <a:gd name="T2" fmla="*/ 73 w 73"/>
                                <a:gd name="T3" fmla="*/ 23 h 44"/>
                                <a:gd name="T4" fmla="*/ 37 w 73"/>
                                <a:gd name="T5" fmla="*/ 44 h 44"/>
                                <a:gd name="T6" fmla="*/ 0 w 73"/>
                                <a:gd name="T7" fmla="*/ 22 h 44"/>
                                <a:gd name="T8" fmla="*/ 38 w 73"/>
                                <a:gd name="T9" fmla="*/ 0 h 44"/>
                              </a:gdLst>
                              <a:ahLst/>
                              <a:cxnLst>
                                <a:cxn ang="0">
                                  <a:pos x="T0" y="T1"/>
                                </a:cxn>
                                <a:cxn ang="0">
                                  <a:pos x="T2" y="T3"/>
                                </a:cxn>
                                <a:cxn ang="0">
                                  <a:pos x="T4" y="T5"/>
                                </a:cxn>
                                <a:cxn ang="0">
                                  <a:pos x="T6" y="T7"/>
                                </a:cxn>
                                <a:cxn ang="0">
                                  <a:pos x="T8" y="T9"/>
                                </a:cxn>
                              </a:cxnLst>
                              <a:rect l="0" t="0" r="r" b="b"/>
                              <a:pathLst>
                                <a:path w="73" h="44">
                                  <a:moveTo>
                                    <a:pt x="38" y="0"/>
                                  </a:moveTo>
                                  <a:lnTo>
                                    <a:pt x="73" y="23"/>
                                  </a:lnTo>
                                  <a:lnTo>
                                    <a:pt x="37" y="44"/>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7" name="Freeform 159"/>
                            <p:cNvSpPr/>
                            <p:nvPr/>
                          </p:nvSpPr>
                          <p:spPr bwMode="auto">
                            <a:xfrm>
                              <a:off x="2578" y="3089"/>
                              <a:ext cx="10" cy="5"/>
                            </a:xfrm>
                            <a:custGeom>
                              <a:avLst/>
                              <a:gdLst>
                                <a:gd name="T0" fmla="*/ 36 w 68"/>
                                <a:gd name="T1" fmla="*/ 0 h 43"/>
                                <a:gd name="T2" fmla="*/ 68 w 68"/>
                                <a:gd name="T3" fmla="*/ 22 h 43"/>
                                <a:gd name="T4" fmla="*/ 31 w 68"/>
                                <a:gd name="T5" fmla="*/ 43 h 43"/>
                                <a:gd name="T6" fmla="*/ 0 w 68"/>
                                <a:gd name="T7" fmla="*/ 23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2"/>
                                  </a:lnTo>
                                  <a:lnTo>
                                    <a:pt x="31" y="43"/>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8" name="Freeform 160"/>
                            <p:cNvSpPr/>
                            <p:nvPr/>
                          </p:nvSpPr>
                          <p:spPr bwMode="auto">
                            <a:xfrm>
                              <a:off x="2584" y="3086"/>
                              <a:ext cx="10" cy="6"/>
                            </a:xfrm>
                            <a:custGeom>
                              <a:avLst/>
                              <a:gdLst>
                                <a:gd name="T0" fmla="*/ 37 w 70"/>
                                <a:gd name="T1" fmla="*/ 0 h 43"/>
                                <a:gd name="T2" fmla="*/ 70 w 70"/>
                                <a:gd name="T3" fmla="*/ 20 h 43"/>
                                <a:gd name="T4" fmla="*/ 33 w 70"/>
                                <a:gd name="T5" fmla="*/ 43 h 43"/>
                                <a:gd name="T6" fmla="*/ 0 w 70"/>
                                <a:gd name="T7" fmla="*/ 20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0"/>
                                  </a:lnTo>
                                  <a:lnTo>
                                    <a:pt x="33" y="43"/>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9" name="Freeform 161"/>
                            <p:cNvSpPr/>
                            <p:nvPr/>
                          </p:nvSpPr>
                          <p:spPr bwMode="auto">
                            <a:xfrm>
                              <a:off x="2591" y="3084"/>
                              <a:ext cx="10" cy="5"/>
                            </a:xfrm>
                            <a:custGeom>
                              <a:avLst/>
                              <a:gdLst>
                                <a:gd name="T0" fmla="*/ 34 w 68"/>
                                <a:gd name="T1" fmla="*/ 0 h 42"/>
                                <a:gd name="T2" fmla="*/ 68 w 68"/>
                                <a:gd name="T3" fmla="*/ 20 h 42"/>
                                <a:gd name="T4" fmla="*/ 32 w 68"/>
                                <a:gd name="T5" fmla="*/ 42 h 42"/>
                                <a:gd name="T6" fmla="*/ 0 w 68"/>
                                <a:gd name="T7" fmla="*/ 21 h 42"/>
                                <a:gd name="T8" fmla="*/ 34 w 68"/>
                                <a:gd name="T9" fmla="*/ 0 h 42"/>
                              </a:gdLst>
                              <a:ahLst/>
                              <a:cxnLst>
                                <a:cxn ang="0">
                                  <a:pos x="T0" y="T1"/>
                                </a:cxn>
                                <a:cxn ang="0">
                                  <a:pos x="T2" y="T3"/>
                                </a:cxn>
                                <a:cxn ang="0">
                                  <a:pos x="T4" y="T5"/>
                                </a:cxn>
                                <a:cxn ang="0">
                                  <a:pos x="T6" y="T7"/>
                                </a:cxn>
                                <a:cxn ang="0">
                                  <a:pos x="T8" y="T9"/>
                                </a:cxn>
                              </a:cxnLst>
                              <a:rect l="0" t="0" r="r" b="b"/>
                              <a:pathLst>
                                <a:path w="68" h="42">
                                  <a:moveTo>
                                    <a:pt x="34" y="0"/>
                                  </a:moveTo>
                                  <a:lnTo>
                                    <a:pt x="68" y="20"/>
                                  </a:lnTo>
                                  <a:lnTo>
                                    <a:pt x="32" y="42"/>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0" name="Freeform 162"/>
                            <p:cNvSpPr/>
                            <p:nvPr/>
                          </p:nvSpPr>
                          <p:spPr bwMode="auto">
                            <a:xfrm>
                              <a:off x="2597" y="3081"/>
                              <a:ext cx="10" cy="6"/>
                            </a:xfrm>
                            <a:custGeom>
                              <a:avLst/>
                              <a:gdLst>
                                <a:gd name="T0" fmla="*/ 38 w 68"/>
                                <a:gd name="T1" fmla="*/ 0 h 42"/>
                                <a:gd name="T2" fmla="*/ 68 w 68"/>
                                <a:gd name="T3" fmla="*/ 19 h 42"/>
                                <a:gd name="T4" fmla="*/ 33 w 68"/>
                                <a:gd name="T5" fmla="*/ 42 h 42"/>
                                <a:gd name="T6" fmla="*/ 0 w 68"/>
                                <a:gd name="T7" fmla="*/ 21 h 42"/>
                                <a:gd name="T8" fmla="*/ 38 w 68"/>
                                <a:gd name="T9" fmla="*/ 0 h 42"/>
                              </a:gdLst>
                              <a:ahLst/>
                              <a:cxnLst>
                                <a:cxn ang="0">
                                  <a:pos x="T0" y="T1"/>
                                </a:cxn>
                                <a:cxn ang="0">
                                  <a:pos x="T2" y="T3"/>
                                </a:cxn>
                                <a:cxn ang="0">
                                  <a:pos x="T4" y="T5"/>
                                </a:cxn>
                                <a:cxn ang="0">
                                  <a:pos x="T6" y="T7"/>
                                </a:cxn>
                                <a:cxn ang="0">
                                  <a:pos x="T8" y="T9"/>
                                </a:cxn>
                              </a:cxnLst>
                              <a:rect l="0" t="0" r="r" b="b"/>
                              <a:pathLst>
                                <a:path w="68" h="42">
                                  <a:moveTo>
                                    <a:pt x="38" y="0"/>
                                  </a:moveTo>
                                  <a:lnTo>
                                    <a:pt x="68" y="19"/>
                                  </a:lnTo>
                                  <a:lnTo>
                                    <a:pt x="33" y="42"/>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1" name="Freeform 163"/>
                            <p:cNvSpPr/>
                            <p:nvPr/>
                          </p:nvSpPr>
                          <p:spPr bwMode="auto">
                            <a:xfrm>
                              <a:off x="2603" y="3080"/>
                              <a:ext cx="8" cy="4"/>
                            </a:xfrm>
                            <a:custGeom>
                              <a:avLst/>
                              <a:gdLst>
                                <a:gd name="T0" fmla="*/ 25 w 57"/>
                                <a:gd name="T1" fmla="*/ 0 h 34"/>
                                <a:gd name="T2" fmla="*/ 57 w 57"/>
                                <a:gd name="T3" fmla="*/ 18 h 34"/>
                                <a:gd name="T4" fmla="*/ 29 w 57"/>
                                <a:gd name="T5" fmla="*/ 34 h 34"/>
                                <a:gd name="T6" fmla="*/ 0 w 57"/>
                                <a:gd name="T7" fmla="*/ 15 h 34"/>
                                <a:gd name="T8" fmla="*/ 25 w 57"/>
                                <a:gd name="T9" fmla="*/ 0 h 34"/>
                              </a:gdLst>
                              <a:ahLst/>
                              <a:cxnLst>
                                <a:cxn ang="0">
                                  <a:pos x="T0" y="T1"/>
                                </a:cxn>
                                <a:cxn ang="0">
                                  <a:pos x="T2" y="T3"/>
                                </a:cxn>
                                <a:cxn ang="0">
                                  <a:pos x="T4" y="T5"/>
                                </a:cxn>
                                <a:cxn ang="0">
                                  <a:pos x="T6" y="T7"/>
                                </a:cxn>
                                <a:cxn ang="0">
                                  <a:pos x="T8" y="T9"/>
                                </a:cxn>
                              </a:cxnLst>
                              <a:rect l="0" t="0" r="r" b="b"/>
                              <a:pathLst>
                                <a:path w="57" h="34">
                                  <a:moveTo>
                                    <a:pt x="25" y="0"/>
                                  </a:moveTo>
                                  <a:lnTo>
                                    <a:pt x="57" y="18"/>
                                  </a:lnTo>
                                  <a:lnTo>
                                    <a:pt x="29" y="34"/>
                                  </a:lnTo>
                                  <a:lnTo>
                                    <a:pt x="0" y="15"/>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2" name="Freeform 164"/>
                            <p:cNvSpPr/>
                            <p:nvPr/>
                          </p:nvSpPr>
                          <p:spPr bwMode="auto">
                            <a:xfrm>
                              <a:off x="2580" y="3084"/>
                              <a:ext cx="9" cy="5"/>
                            </a:xfrm>
                            <a:custGeom>
                              <a:avLst/>
                              <a:gdLst>
                                <a:gd name="T0" fmla="*/ 36 w 67"/>
                                <a:gd name="T1" fmla="*/ 0 h 41"/>
                                <a:gd name="T2" fmla="*/ 67 w 67"/>
                                <a:gd name="T3" fmla="*/ 19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3" name="Freeform 165"/>
                            <p:cNvSpPr/>
                            <p:nvPr/>
                          </p:nvSpPr>
                          <p:spPr bwMode="auto">
                            <a:xfrm>
                              <a:off x="2586" y="3082"/>
                              <a:ext cx="10" cy="5"/>
                            </a:xfrm>
                            <a:custGeom>
                              <a:avLst/>
                              <a:gdLst>
                                <a:gd name="T0" fmla="*/ 37 w 67"/>
                                <a:gd name="T1" fmla="*/ 0 h 41"/>
                                <a:gd name="T2" fmla="*/ 67 w 67"/>
                                <a:gd name="T3" fmla="*/ 19 h 41"/>
                                <a:gd name="T4" fmla="*/ 29 w 67"/>
                                <a:gd name="T5" fmla="*/ 41 h 41"/>
                                <a:gd name="T6" fmla="*/ 0 w 67"/>
                                <a:gd name="T7" fmla="*/ 21 h 41"/>
                                <a:gd name="T8" fmla="*/ 37 w 67"/>
                                <a:gd name="T9" fmla="*/ 0 h 41"/>
                              </a:gdLst>
                              <a:ahLst/>
                              <a:cxnLst>
                                <a:cxn ang="0">
                                  <a:pos x="T0" y="T1"/>
                                </a:cxn>
                                <a:cxn ang="0">
                                  <a:pos x="T2" y="T3"/>
                                </a:cxn>
                                <a:cxn ang="0">
                                  <a:pos x="T4" y="T5"/>
                                </a:cxn>
                                <a:cxn ang="0">
                                  <a:pos x="T6" y="T7"/>
                                </a:cxn>
                                <a:cxn ang="0">
                                  <a:pos x="T8" y="T9"/>
                                </a:cxn>
                              </a:cxnLst>
                              <a:rect l="0" t="0" r="r" b="b"/>
                              <a:pathLst>
                                <a:path w="67" h="41">
                                  <a:moveTo>
                                    <a:pt x="37" y="0"/>
                                  </a:moveTo>
                                  <a:lnTo>
                                    <a:pt x="67" y="19"/>
                                  </a:lnTo>
                                  <a:lnTo>
                                    <a:pt x="29" y="41"/>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4" name="Freeform 166"/>
                            <p:cNvSpPr/>
                            <p:nvPr/>
                          </p:nvSpPr>
                          <p:spPr bwMode="auto">
                            <a:xfrm>
                              <a:off x="2592" y="3079"/>
                              <a:ext cx="10" cy="5"/>
                            </a:xfrm>
                            <a:custGeom>
                              <a:avLst/>
                              <a:gdLst>
                                <a:gd name="T0" fmla="*/ 37 w 69"/>
                                <a:gd name="T1" fmla="*/ 0 h 40"/>
                                <a:gd name="T2" fmla="*/ 69 w 69"/>
                                <a:gd name="T3" fmla="*/ 19 h 40"/>
                                <a:gd name="T4" fmla="*/ 32 w 69"/>
                                <a:gd name="T5" fmla="*/ 40 h 40"/>
                                <a:gd name="T6" fmla="*/ 0 w 69"/>
                                <a:gd name="T7" fmla="*/ 21 h 40"/>
                                <a:gd name="T8" fmla="*/ 37 w 69"/>
                                <a:gd name="T9" fmla="*/ 0 h 40"/>
                              </a:gdLst>
                              <a:ahLst/>
                              <a:cxnLst>
                                <a:cxn ang="0">
                                  <a:pos x="T0" y="T1"/>
                                </a:cxn>
                                <a:cxn ang="0">
                                  <a:pos x="T2" y="T3"/>
                                </a:cxn>
                                <a:cxn ang="0">
                                  <a:pos x="T4" y="T5"/>
                                </a:cxn>
                                <a:cxn ang="0">
                                  <a:pos x="T6" y="T7"/>
                                </a:cxn>
                                <a:cxn ang="0">
                                  <a:pos x="T8" y="T9"/>
                                </a:cxn>
                              </a:cxnLst>
                              <a:rect l="0" t="0" r="r" b="b"/>
                              <a:pathLst>
                                <a:path w="69" h="40">
                                  <a:moveTo>
                                    <a:pt x="37" y="0"/>
                                  </a:moveTo>
                                  <a:lnTo>
                                    <a:pt x="69" y="19"/>
                                  </a:lnTo>
                                  <a:lnTo>
                                    <a:pt x="32" y="40"/>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5" name="Freeform 167"/>
                            <p:cNvSpPr/>
                            <p:nvPr/>
                          </p:nvSpPr>
                          <p:spPr bwMode="auto">
                            <a:xfrm>
                              <a:off x="2598" y="3077"/>
                              <a:ext cx="8" cy="5"/>
                            </a:xfrm>
                            <a:custGeom>
                              <a:avLst/>
                              <a:gdLst>
                                <a:gd name="T0" fmla="*/ 24 w 56"/>
                                <a:gd name="T1" fmla="*/ 0 h 34"/>
                                <a:gd name="T2" fmla="*/ 56 w 56"/>
                                <a:gd name="T3" fmla="*/ 19 h 34"/>
                                <a:gd name="T4" fmla="*/ 33 w 56"/>
                                <a:gd name="T5" fmla="*/ 34 h 34"/>
                                <a:gd name="T6" fmla="*/ 0 w 56"/>
                                <a:gd name="T7" fmla="*/ 14 h 34"/>
                                <a:gd name="T8" fmla="*/ 24 w 56"/>
                                <a:gd name="T9" fmla="*/ 0 h 34"/>
                              </a:gdLst>
                              <a:ahLst/>
                              <a:cxnLst>
                                <a:cxn ang="0">
                                  <a:pos x="T0" y="T1"/>
                                </a:cxn>
                                <a:cxn ang="0">
                                  <a:pos x="T2" y="T3"/>
                                </a:cxn>
                                <a:cxn ang="0">
                                  <a:pos x="T4" y="T5"/>
                                </a:cxn>
                                <a:cxn ang="0">
                                  <a:pos x="T6" y="T7"/>
                                </a:cxn>
                                <a:cxn ang="0">
                                  <a:pos x="T8" y="T9"/>
                                </a:cxn>
                              </a:cxnLst>
                              <a:rect l="0" t="0" r="r" b="b"/>
                              <a:pathLst>
                                <a:path w="56" h="34">
                                  <a:moveTo>
                                    <a:pt x="24" y="0"/>
                                  </a:moveTo>
                                  <a:lnTo>
                                    <a:pt x="56" y="19"/>
                                  </a:lnTo>
                                  <a:lnTo>
                                    <a:pt x="33" y="34"/>
                                  </a:lnTo>
                                  <a:lnTo>
                                    <a:pt x="0" y="14"/>
                                  </a:lnTo>
                                  <a:lnTo>
                                    <a:pt x="2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6" name="Freeform 168"/>
                            <p:cNvSpPr/>
                            <p:nvPr/>
                          </p:nvSpPr>
                          <p:spPr bwMode="auto">
                            <a:xfrm>
                              <a:off x="2573" y="3087"/>
                              <a:ext cx="10" cy="5"/>
                            </a:xfrm>
                            <a:custGeom>
                              <a:avLst/>
                              <a:gdLst>
                                <a:gd name="T0" fmla="*/ 38 w 70"/>
                                <a:gd name="T1" fmla="*/ 0 h 41"/>
                                <a:gd name="T2" fmla="*/ 70 w 70"/>
                                <a:gd name="T3" fmla="*/ 21 h 41"/>
                                <a:gd name="T4" fmla="*/ 32 w 70"/>
                                <a:gd name="T5" fmla="*/ 41 h 41"/>
                                <a:gd name="T6" fmla="*/ 0 w 70"/>
                                <a:gd name="T7" fmla="*/ 21 h 41"/>
                                <a:gd name="T8" fmla="*/ 38 w 70"/>
                                <a:gd name="T9" fmla="*/ 0 h 41"/>
                              </a:gdLst>
                              <a:ahLst/>
                              <a:cxnLst>
                                <a:cxn ang="0">
                                  <a:pos x="T0" y="T1"/>
                                </a:cxn>
                                <a:cxn ang="0">
                                  <a:pos x="T2" y="T3"/>
                                </a:cxn>
                                <a:cxn ang="0">
                                  <a:pos x="T4" y="T5"/>
                                </a:cxn>
                                <a:cxn ang="0">
                                  <a:pos x="T6" y="T7"/>
                                </a:cxn>
                                <a:cxn ang="0">
                                  <a:pos x="T8" y="T9"/>
                                </a:cxn>
                              </a:cxnLst>
                              <a:rect l="0" t="0" r="r" b="b"/>
                              <a:pathLst>
                                <a:path w="70" h="41">
                                  <a:moveTo>
                                    <a:pt x="38" y="0"/>
                                  </a:moveTo>
                                  <a:lnTo>
                                    <a:pt x="70" y="21"/>
                                  </a:lnTo>
                                  <a:lnTo>
                                    <a:pt x="32" y="41"/>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7" name="Freeform 169"/>
                            <p:cNvSpPr/>
                            <p:nvPr/>
                          </p:nvSpPr>
                          <p:spPr bwMode="auto">
                            <a:xfrm>
                              <a:off x="2568" y="3084"/>
                              <a:ext cx="10" cy="5"/>
                            </a:xfrm>
                            <a:custGeom>
                              <a:avLst/>
                              <a:gdLst>
                                <a:gd name="T0" fmla="*/ 40 w 70"/>
                                <a:gd name="T1" fmla="*/ 0 h 41"/>
                                <a:gd name="T2" fmla="*/ 70 w 70"/>
                                <a:gd name="T3" fmla="*/ 21 h 41"/>
                                <a:gd name="T4" fmla="*/ 33 w 70"/>
                                <a:gd name="T5" fmla="*/ 41 h 41"/>
                                <a:gd name="T6" fmla="*/ 0 w 70"/>
                                <a:gd name="T7" fmla="*/ 21 h 41"/>
                                <a:gd name="T8" fmla="*/ 40 w 70"/>
                                <a:gd name="T9" fmla="*/ 0 h 41"/>
                              </a:gdLst>
                              <a:ahLst/>
                              <a:cxnLst>
                                <a:cxn ang="0">
                                  <a:pos x="T0" y="T1"/>
                                </a:cxn>
                                <a:cxn ang="0">
                                  <a:pos x="T2" y="T3"/>
                                </a:cxn>
                                <a:cxn ang="0">
                                  <a:pos x="T4" y="T5"/>
                                </a:cxn>
                                <a:cxn ang="0">
                                  <a:pos x="T6" y="T7"/>
                                </a:cxn>
                                <a:cxn ang="0">
                                  <a:pos x="T8" y="T9"/>
                                </a:cxn>
                              </a:cxnLst>
                              <a:rect l="0" t="0" r="r" b="b"/>
                              <a:pathLst>
                                <a:path w="70" h="41">
                                  <a:moveTo>
                                    <a:pt x="40" y="0"/>
                                  </a:moveTo>
                                  <a:lnTo>
                                    <a:pt x="70" y="21"/>
                                  </a:lnTo>
                                  <a:lnTo>
                                    <a:pt x="33" y="41"/>
                                  </a:lnTo>
                                  <a:lnTo>
                                    <a:pt x="0" y="21"/>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8" name="Freeform 170"/>
                            <p:cNvSpPr/>
                            <p:nvPr/>
                          </p:nvSpPr>
                          <p:spPr bwMode="auto">
                            <a:xfrm>
                              <a:off x="2575" y="3082"/>
                              <a:ext cx="10" cy="5"/>
                            </a:xfrm>
                            <a:custGeom>
                              <a:avLst/>
                              <a:gdLst>
                                <a:gd name="T0" fmla="*/ 36 w 68"/>
                                <a:gd name="T1" fmla="*/ 0 h 41"/>
                                <a:gd name="T2" fmla="*/ 68 w 68"/>
                                <a:gd name="T3" fmla="*/ 21 h 41"/>
                                <a:gd name="T4" fmla="*/ 30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21"/>
                                  </a:lnTo>
                                  <a:lnTo>
                                    <a:pt x="30" y="41"/>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9" name="Freeform 171"/>
                            <p:cNvSpPr/>
                            <p:nvPr/>
                          </p:nvSpPr>
                          <p:spPr bwMode="auto">
                            <a:xfrm>
                              <a:off x="2581" y="3079"/>
                              <a:ext cx="10" cy="5"/>
                            </a:xfrm>
                            <a:custGeom>
                              <a:avLst/>
                              <a:gdLst>
                                <a:gd name="T0" fmla="*/ 36 w 69"/>
                                <a:gd name="T1" fmla="*/ 0 h 40"/>
                                <a:gd name="T2" fmla="*/ 69 w 69"/>
                                <a:gd name="T3" fmla="*/ 20 h 40"/>
                                <a:gd name="T4" fmla="*/ 33 w 69"/>
                                <a:gd name="T5" fmla="*/ 40 h 40"/>
                                <a:gd name="T6" fmla="*/ 0 w 69"/>
                                <a:gd name="T7" fmla="*/ 20 h 40"/>
                                <a:gd name="T8" fmla="*/ 36 w 69"/>
                                <a:gd name="T9" fmla="*/ 0 h 40"/>
                              </a:gdLst>
                              <a:ahLst/>
                              <a:cxnLst>
                                <a:cxn ang="0">
                                  <a:pos x="T0" y="T1"/>
                                </a:cxn>
                                <a:cxn ang="0">
                                  <a:pos x="T2" y="T3"/>
                                </a:cxn>
                                <a:cxn ang="0">
                                  <a:pos x="T4" y="T5"/>
                                </a:cxn>
                                <a:cxn ang="0">
                                  <a:pos x="T6" y="T7"/>
                                </a:cxn>
                                <a:cxn ang="0">
                                  <a:pos x="T8" y="T9"/>
                                </a:cxn>
                              </a:cxnLst>
                              <a:rect l="0" t="0" r="r" b="b"/>
                              <a:pathLst>
                                <a:path w="69" h="40">
                                  <a:moveTo>
                                    <a:pt x="36" y="0"/>
                                  </a:moveTo>
                                  <a:lnTo>
                                    <a:pt x="69" y="20"/>
                                  </a:lnTo>
                                  <a:lnTo>
                                    <a:pt x="33" y="40"/>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0" name="Freeform 172"/>
                            <p:cNvSpPr/>
                            <p:nvPr/>
                          </p:nvSpPr>
                          <p:spPr bwMode="auto">
                            <a:xfrm>
                              <a:off x="2587" y="3077"/>
                              <a:ext cx="10" cy="5"/>
                            </a:xfrm>
                            <a:custGeom>
                              <a:avLst/>
                              <a:gdLst>
                                <a:gd name="T0" fmla="*/ 38 w 70"/>
                                <a:gd name="T1" fmla="*/ 0 h 40"/>
                                <a:gd name="T2" fmla="*/ 70 w 70"/>
                                <a:gd name="T3" fmla="*/ 20 h 40"/>
                                <a:gd name="T4" fmla="*/ 32 w 70"/>
                                <a:gd name="T5" fmla="*/ 40 h 40"/>
                                <a:gd name="T6" fmla="*/ 0 w 70"/>
                                <a:gd name="T7" fmla="*/ 21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20"/>
                                  </a:lnTo>
                                  <a:lnTo>
                                    <a:pt x="32" y="40"/>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1" name="Freeform 173"/>
                            <p:cNvSpPr/>
                            <p:nvPr/>
                          </p:nvSpPr>
                          <p:spPr bwMode="auto">
                            <a:xfrm>
                              <a:off x="2594" y="3075"/>
                              <a:ext cx="8" cy="4"/>
                            </a:xfrm>
                            <a:custGeom>
                              <a:avLst/>
                              <a:gdLst>
                                <a:gd name="T0" fmla="*/ 23 w 56"/>
                                <a:gd name="T1" fmla="*/ 0 h 35"/>
                                <a:gd name="T2" fmla="*/ 56 w 56"/>
                                <a:gd name="T3" fmla="*/ 21 h 35"/>
                                <a:gd name="T4" fmla="*/ 32 w 56"/>
                                <a:gd name="T5" fmla="*/ 35 h 35"/>
                                <a:gd name="T6" fmla="*/ 0 w 56"/>
                                <a:gd name="T7" fmla="*/ 15 h 35"/>
                                <a:gd name="T8" fmla="*/ 23 w 56"/>
                                <a:gd name="T9" fmla="*/ 0 h 35"/>
                              </a:gdLst>
                              <a:ahLst/>
                              <a:cxnLst>
                                <a:cxn ang="0">
                                  <a:pos x="T0" y="T1"/>
                                </a:cxn>
                                <a:cxn ang="0">
                                  <a:pos x="T2" y="T3"/>
                                </a:cxn>
                                <a:cxn ang="0">
                                  <a:pos x="T4" y="T5"/>
                                </a:cxn>
                                <a:cxn ang="0">
                                  <a:pos x="T6" y="T7"/>
                                </a:cxn>
                                <a:cxn ang="0">
                                  <a:pos x="T8" y="T9"/>
                                </a:cxn>
                              </a:cxnLst>
                              <a:rect l="0" t="0" r="r" b="b"/>
                              <a:pathLst>
                                <a:path w="56" h="35">
                                  <a:moveTo>
                                    <a:pt x="23" y="0"/>
                                  </a:moveTo>
                                  <a:lnTo>
                                    <a:pt x="56" y="21"/>
                                  </a:lnTo>
                                  <a:lnTo>
                                    <a:pt x="32" y="35"/>
                                  </a:lnTo>
                                  <a:lnTo>
                                    <a:pt x="0" y="15"/>
                                  </a:lnTo>
                                  <a:lnTo>
                                    <a:pt x="2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2" name="Freeform 174"/>
                            <p:cNvSpPr/>
                            <p:nvPr/>
                          </p:nvSpPr>
                          <p:spPr bwMode="auto">
                            <a:xfrm>
                              <a:off x="2571" y="3080"/>
                              <a:ext cx="9" cy="4"/>
                            </a:xfrm>
                            <a:custGeom>
                              <a:avLst/>
                              <a:gdLst>
                                <a:gd name="T0" fmla="*/ 40 w 65"/>
                                <a:gd name="T1" fmla="*/ 0 h 37"/>
                                <a:gd name="T2" fmla="*/ 65 w 65"/>
                                <a:gd name="T3" fmla="*/ 18 h 37"/>
                                <a:gd name="T4" fmla="*/ 28 w 65"/>
                                <a:gd name="T5" fmla="*/ 37 h 37"/>
                                <a:gd name="T6" fmla="*/ 0 w 65"/>
                                <a:gd name="T7" fmla="*/ 19 h 37"/>
                                <a:gd name="T8" fmla="*/ 40 w 65"/>
                                <a:gd name="T9" fmla="*/ 0 h 37"/>
                              </a:gdLst>
                              <a:ahLst/>
                              <a:cxnLst>
                                <a:cxn ang="0">
                                  <a:pos x="T0" y="T1"/>
                                </a:cxn>
                                <a:cxn ang="0">
                                  <a:pos x="T2" y="T3"/>
                                </a:cxn>
                                <a:cxn ang="0">
                                  <a:pos x="T4" y="T5"/>
                                </a:cxn>
                                <a:cxn ang="0">
                                  <a:pos x="T6" y="T7"/>
                                </a:cxn>
                                <a:cxn ang="0">
                                  <a:pos x="T8" y="T9"/>
                                </a:cxn>
                              </a:cxnLst>
                              <a:rect l="0" t="0" r="r" b="b"/>
                              <a:pathLst>
                                <a:path w="65" h="37">
                                  <a:moveTo>
                                    <a:pt x="40" y="0"/>
                                  </a:moveTo>
                                  <a:lnTo>
                                    <a:pt x="65" y="18"/>
                                  </a:lnTo>
                                  <a:lnTo>
                                    <a:pt x="28" y="37"/>
                                  </a:lnTo>
                                  <a:lnTo>
                                    <a:pt x="0" y="19"/>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3" name="Freeform 175"/>
                            <p:cNvSpPr/>
                            <p:nvPr/>
                          </p:nvSpPr>
                          <p:spPr bwMode="auto">
                            <a:xfrm>
                              <a:off x="2577" y="3077"/>
                              <a:ext cx="9" cy="5"/>
                            </a:xfrm>
                            <a:custGeom>
                              <a:avLst/>
                              <a:gdLst>
                                <a:gd name="T0" fmla="*/ 36 w 64"/>
                                <a:gd name="T1" fmla="*/ 0 h 38"/>
                                <a:gd name="T2" fmla="*/ 64 w 64"/>
                                <a:gd name="T3" fmla="*/ 19 h 38"/>
                                <a:gd name="T4" fmla="*/ 25 w 64"/>
                                <a:gd name="T5" fmla="*/ 38 h 38"/>
                                <a:gd name="T6" fmla="*/ 0 w 64"/>
                                <a:gd name="T7" fmla="*/ 21 h 38"/>
                                <a:gd name="T8" fmla="*/ 36 w 64"/>
                                <a:gd name="T9" fmla="*/ 0 h 38"/>
                              </a:gdLst>
                              <a:ahLst/>
                              <a:cxnLst>
                                <a:cxn ang="0">
                                  <a:pos x="T0" y="T1"/>
                                </a:cxn>
                                <a:cxn ang="0">
                                  <a:pos x="T2" y="T3"/>
                                </a:cxn>
                                <a:cxn ang="0">
                                  <a:pos x="T4" y="T5"/>
                                </a:cxn>
                                <a:cxn ang="0">
                                  <a:pos x="T6" y="T7"/>
                                </a:cxn>
                                <a:cxn ang="0">
                                  <a:pos x="T8" y="T9"/>
                                </a:cxn>
                              </a:cxnLst>
                              <a:rect l="0" t="0" r="r" b="b"/>
                              <a:pathLst>
                                <a:path w="64" h="38">
                                  <a:moveTo>
                                    <a:pt x="36" y="0"/>
                                  </a:moveTo>
                                  <a:lnTo>
                                    <a:pt x="64" y="19"/>
                                  </a:lnTo>
                                  <a:lnTo>
                                    <a:pt x="25" y="38"/>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4" name="Freeform 176"/>
                            <p:cNvSpPr/>
                            <p:nvPr/>
                          </p:nvSpPr>
                          <p:spPr bwMode="auto">
                            <a:xfrm>
                              <a:off x="2583" y="3074"/>
                              <a:ext cx="9" cy="5"/>
                            </a:xfrm>
                            <a:custGeom>
                              <a:avLst/>
                              <a:gdLst>
                                <a:gd name="T0" fmla="*/ 43 w 69"/>
                                <a:gd name="T1" fmla="*/ 0 h 39"/>
                                <a:gd name="T2" fmla="*/ 69 w 69"/>
                                <a:gd name="T3" fmla="*/ 20 h 39"/>
                                <a:gd name="T4" fmla="*/ 30 w 69"/>
                                <a:gd name="T5" fmla="*/ 39 h 39"/>
                                <a:gd name="T6" fmla="*/ 0 w 69"/>
                                <a:gd name="T7" fmla="*/ 22 h 39"/>
                                <a:gd name="T8" fmla="*/ 43 w 69"/>
                                <a:gd name="T9" fmla="*/ 0 h 39"/>
                              </a:gdLst>
                              <a:ahLst/>
                              <a:cxnLst>
                                <a:cxn ang="0">
                                  <a:pos x="T0" y="T1"/>
                                </a:cxn>
                                <a:cxn ang="0">
                                  <a:pos x="T2" y="T3"/>
                                </a:cxn>
                                <a:cxn ang="0">
                                  <a:pos x="T4" y="T5"/>
                                </a:cxn>
                                <a:cxn ang="0">
                                  <a:pos x="T6" y="T7"/>
                                </a:cxn>
                                <a:cxn ang="0">
                                  <a:pos x="T8" y="T9"/>
                                </a:cxn>
                              </a:cxnLst>
                              <a:rect l="0" t="0" r="r" b="b"/>
                              <a:pathLst>
                                <a:path w="69" h="39">
                                  <a:moveTo>
                                    <a:pt x="43" y="0"/>
                                  </a:moveTo>
                                  <a:lnTo>
                                    <a:pt x="69" y="20"/>
                                  </a:lnTo>
                                  <a:lnTo>
                                    <a:pt x="30" y="39"/>
                                  </a:lnTo>
                                  <a:lnTo>
                                    <a:pt x="0" y="22"/>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5" name="Freeform 177"/>
                            <p:cNvSpPr/>
                            <p:nvPr/>
                          </p:nvSpPr>
                          <p:spPr bwMode="auto">
                            <a:xfrm>
                              <a:off x="2589" y="3073"/>
                              <a:ext cx="8" cy="4"/>
                            </a:xfrm>
                            <a:custGeom>
                              <a:avLst/>
                              <a:gdLst>
                                <a:gd name="T0" fmla="*/ 26 w 55"/>
                                <a:gd name="T1" fmla="*/ 0 h 33"/>
                                <a:gd name="T2" fmla="*/ 55 w 55"/>
                                <a:gd name="T3" fmla="*/ 19 h 33"/>
                                <a:gd name="T4" fmla="*/ 30 w 55"/>
                                <a:gd name="T5" fmla="*/ 33 h 33"/>
                                <a:gd name="T6" fmla="*/ 0 w 55"/>
                                <a:gd name="T7" fmla="*/ 12 h 33"/>
                                <a:gd name="T8" fmla="*/ 26 w 55"/>
                                <a:gd name="T9" fmla="*/ 0 h 33"/>
                              </a:gdLst>
                              <a:ahLst/>
                              <a:cxnLst>
                                <a:cxn ang="0">
                                  <a:pos x="T0" y="T1"/>
                                </a:cxn>
                                <a:cxn ang="0">
                                  <a:pos x="T2" y="T3"/>
                                </a:cxn>
                                <a:cxn ang="0">
                                  <a:pos x="T4" y="T5"/>
                                </a:cxn>
                                <a:cxn ang="0">
                                  <a:pos x="T6" y="T7"/>
                                </a:cxn>
                                <a:cxn ang="0">
                                  <a:pos x="T8" y="T9"/>
                                </a:cxn>
                              </a:cxnLst>
                              <a:rect l="0" t="0" r="r" b="b"/>
                              <a:pathLst>
                                <a:path w="55" h="33">
                                  <a:moveTo>
                                    <a:pt x="26" y="0"/>
                                  </a:moveTo>
                                  <a:lnTo>
                                    <a:pt x="55" y="19"/>
                                  </a:lnTo>
                                  <a:lnTo>
                                    <a:pt x="30" y="33"/>
                                  </a:lnTo>
                                  <a:lnTo>
                                    <a:pt x="0" y="12"/>
                                  </a:lnTo>
                                  <a:lnTo>
                                    <a:pt x="2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6" name="Freeform 178"/>
                            <p:cNvSpPr/>
                            <p:nvPr/>
                          </p:nvSpPr>
                          <p:spPr bwMode="auto">
                            <a:xfrm>
                              <a:off x="2564" y="3082"/>
                              <a:ext cx="10" cy="5"/>
                            </a:xfrm>
                            <a:custGeom>
                              <a:avLst/>
                              <a:gdLst>
                                <a:gd name="T0" fmla="*/ 40 w 65"/>
                                <a:gd name="T1" fmla="*/ 0 h 38"/>
                                <a:gd name="T2" fmla="*/ 65 w 65"/>
                                <a:gd name="T3" fmla="*/ 18 h 38"/>
                                <a:gd name="T4" fmla="*/ 27 w 65"/>
                                <a:gd name="T5" fmla="*/ 38 h 38"/>
                                <a:gd name="T6" fmla="*/ 0 w 65"/>
                                <a:gd name="T7" fmla="*/ 22 h 38"/>
                                <a:gd name="T8" fmla="*/ 40 w 65"/>
                                <a:gd name="T9" fmla="*/ 0 h 38"/>
                              </a:gdLst>
                              <a:ahLst/>
                              <a:cxnLst>
                                <a:cxn ang="0">
                                  <a:pos x="T0" y="T1"/>
                                </a:cxn>
                                <a:cxn ang="0">
                                  <a:pos x="T2" y="T3"/>
                                </a:cxn>
                                <a:cxn ang="0">
                                  <a:pos x="T4" y="T5"/>
                                </a:cxn>
                                <a:cxn ang="0">
                                  <a:pos x="T6" y="T7"/>
                                </a:cxn>
                                <a:cxn ang="0">
                                  <a:pos x="T8" y="T9"/>
                                </a:cxn>
                              </a:cxnLst>
                              <a:rect l="0" t="0" r="r" b="b"/>
                              <a:pathLst>
                                <a:path w="65" h="38">
                                  <a:moveTo>
                                    <a:pt x="40" y="0"/>
                                  </a:moveTo>
                                  <a:lnTo>
                                    <a:pt x="65" y="18"/>
                                  </a:lnTo>
                                  <a:lnTo>
                                    <a:pt x="27" y="38"/>
                                  </a:lnTo>
                                  <a:lnTo>
                                    <a:pt x="0" y="22"/>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7" name="Freeform 179"/>
                            <p:cNvSpPr/>
                            <p:nvPr/>
                          </p:nvSpPr>
                          <p:spPr bwMode="auto">
                            <a:xfrm>
                              <a:off x="2565" y="3077"/>
                              <a:ext cx="11" cy="5"/>
                            </a:xfrm>
                            <a:custGeom>
                              <a:avLst/>
                              <a:gdLst>
                                <a:gd name="T0" fmla="*/ 38 w 74"/>
                                <a:gd name="T1" fmla="*/ 0 h 44"/>
                                <a:gd name="T2" fmla="*/ 74 w 74"/>
                                <a:gd name="T3" fmla="*/ 24 h 44"/>
                                <a:gd name="T4" fmla="*/ 37 w 74"/>
                                <a:gd name="T5" fmla="*/ 44 h 44"/>
                                <a:gd name="T6" fmla="*/ 0 w 74"/>
                                <a:gd name="T7" fmla="*/ 19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4"/>
                                  </a:lnTo>
                                  <a:lnTo>
                                    <a:pt x="37" y="4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8" name="Freeform 180"/>
                            <p:cNvSpPr/>
                            <p:nvPr/>
                          </p:nvSpPr>
                          <p:spPr bwMode="auto">
                            <a:xfrm>
                              <a:off x="2571" y="3074"/>
                              <a:ext cx="11" cy="6"/>
                            </a:xfrm>
                            <a:custGeom>
                              <a:avLst/>
                              <a:gdLst>
                                <a:gd name="T0" fmla="*/ 39 w 75"/>
                                <a:gd name="T1" fmla="*/ 0 h 44"/>
                                <a:gd name="T2" fmla="*/ 75 w 75"/>
                                <a:gd name="T3" fmla="*/ 24 h 44"/>
                                <a:gd name="T4" fmla="*/ 37 w 75"/>
                                <a:gd name="T5" fmla="*/ 44 h 44"/>
                                <a:gd name="T6" fmla="*/ 0 w 75"/>
                                <a:gd name="T7" fmla="*/ 19 h 44"/>
                                <a:gd name="T8" fmla="*/ 39 w 75"/>
                                <a:gd name="T9" fmla="*/ 0 h 44"/>
                              </a:gdLst>
                              <a:ahLst/>
                              <a:cxnLst>
                                <a:cxn ang="0">
                                  <a:pos x="T0" y="T1"/>
                                </a:cxn>
                                <a:cxn ang="0">
                                  <a:pos x="T2" y="T3"/>
                                </a:cxn>
                                <a:cxn ang="0">
                                  <a:pos x="T4" y="T5"/>
                                </a:cxn>
                                <a:cxn ang="0">
                                  <a:pos x="T6" y="T7"/>
                                </a:cxn>
                                <a:cxn ang="0">
                                  <a:pos x="T8" y="T9"/>
                                </a:cxn>
                              </a:cxnLst>
                              <a:rect l="0" t="0" r="r" b="b"/>
                              <a:pathLst>
                                <a:path w="75" h="44">
                                  <a:moveTo>
                                    <a:pt x="39" y="0"/>
                                  </a:moveTo>
                                  <a:lnTo>
                                    <a:pt x="75" y="24"/>
                                  </a:lnTo>
                                  <a:lnTo>
                                    <a:pt x="37" y="44"/>
                                  </a:lnTo>
                                  <a:lnTo>
                                    <a:pt x="0" y="19"/>
                                  </a:lnTo>
                                  <a:lnTo>
                                    <a:pt x="3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9" name="Freeform 181"/>
                            <p:cNvSpPr/>
                            <p:nvPr/>
                          </p:nvSpPr>
                          <p:spPr bwMode="auto">
                            <a:xfrm>
                              <a:off x="2578" y="3072"/>
                              <a:ext cx="10" cy="5"/>
                            </a:xfrm>
                            <a:custGeom>
                              <a:avLst/>
                              <a:gdLst>
                                <a:gd name="T0" fmla="*/ 38 w 72"/>
                                <a:gd name="T1" fmla="*/ 0 h 41"/>
                                <a:gd name="T2" fmla="*/ 72 w 72"/>
                                <a:gd name="T3" fmla="*/ 22 h 41"/>
                                <a:gd name="T4" fmla="*/ 34 w 72"/>
                                <a:gd name="T5" fmla="*/ 41 h 41"/>
                                <a:gd name="T6" fmla="*/ 0 w 72"/>
                                <a:gd name="T7" fmla="*/ 19 h 41"/>
                                <a:gd name="T8" fmla="*/ 38 w 72"/>
                                <a:gd name="T9" fmla="*/ 0 h 41"/>
                              </a:gdLst>
                              <a:ahLst/>
                              <a:cxnLst>
                                <a:cxn ang="0">
                                  <a:pos x="T0" y="T1"/>
                                </a:cxn>
                                <a:cxn ang="0">
                                  <a:pos x="T2" y="T3"/>
                                </a:cxn>
                                <a:cxn ang="0">
                                  <a:pos x="T4" y="T5"/>
                                </a:cxn>
                                <a:cxn ang="0">
                                  <a:pos x="T6" y="T7"/>
                                </a:cxn>
                                <a:cxn ang="0">
                                  <a:pos x="T8" y="T9"/>
                                </a:cxn>
                              </a:cxnLst>
                              <a:rect l="0" t="0" r="r" b="b"/>
                              <a:pathLst>
                                <a:path w="72" h="41">
                                  <a:moveTo>
                                    <a:pt x="38" y="0"/>
                                  </a:moveTo>
                                  <a:lnTo>
                                    <a:pt x="72" y="22"/>
                                  </a:lnTo>
                                  <a:lnTo>
                                    <a:pt x="34" y="41"/>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0" name="Freeform 182"/>
                            <p:cNvSpPr/>
                            <p:nvPr/>
                          </p:nvSpPr>
                          <p:spPr bwMode="auto">
                            <a:xfrm>
                              <a:off x="2584" y="3070"/>
                              <a:ext cx="8" cy="5"/>
                            </a:xfrm>
                            <a:custGeom>
                              <a:avLst/>
                              <a:gdLst>
                                <a:gd name="T0" fmla="*/ 25 w 58"/>
                                <a:gd name="T1" fmla="*/ 0 h 33"/>
                                <a:gd name="T2" fmla="*/ 58 w 58"/>
                                <a:gd name="T3" fmla="*/ 21 h 33"/>
                                <a:gd name="T4" fmla="*/ 36 w 58"/>
                                <a:gd name="T5" fmla="*/ 33 h 33"/>
                                <a:gd name="T6" fmla="*/ 0 w 58"/>
                                <a:gd name="T7" fmla="*/ 12 h 33"/>
                                <a:gd name="T8" fmla="*/ 25 w 58"/>
                                <a:gd name="T9" fmla="*/ 0 h 33"/>
                              </a:gdLst>
                              <a:ahLst/>
                              <a:cxnLst>
                                <a:cxn ang="0">
                                  <a:pos x="T0" y="T1"/>
                                </a:cxn>
                                <a:cxn ang="0">
                                  <a:pos x="T2" y="T3"/>
                                </a:cxn>
                                <a:cxn ang="0">
                                  <a:pos x="T4" y="T5"/>
                                </a:cxn>
                                <a:cxn ang="0">
                                  <a:pos x="T6" y="T7"/>
                                </a:cxn>
                                <a:cxn ang="0">
                                  <a:pos x="T8" y="T9"/>
                                </a:cxn>
                              </a:cxnLst>
                              <a:rect l="0" t="0" r="r" b="b"/>
                              <a:pathLst>
                                <a:path w="58" h="33">
                                  <a:moveTo>
                                    <a:pt x="25" y="0"/>
                                  </a:moveTo>
                                  <a:lnTo>
                                    <a:pt x="58" y="21"/>
                                  </a:lnTo>
                                  <a:lnTo>
                                    <a:pt x="36" y="33"/>
                                  </a:lnTo>
                                  <a:lnTo>
                                    <a:pt x="0" y="12"/>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1" name="Freeform 183"/>
                            <p:cNvSpPr/>
                            <p:nvPr/>
                          </p:nvSpPr>
                          <p:spPr bwMode="auto">
                            <a:xfrm>
                              <a:off x="2559" y="3079"/>
                              <a:ext cx="11" cy="6"/>
                            </a:xfrm>
                            <a:custGeom>
                              <a:avLst/>
                              <a:gdLst>
                                <a:gd name="T0" fmla="*/ 40 w 79"/>
                                <a:gd name="T1" fmla="*/ 0 h 45"/>
                                <a:gd name="T2" fmla="*/ 79 w 79"/>
                                <a:gd name="T3" fmla="*/ 24 h 45"/>
                                <a:gd name="T4" fmla="*/ 41 w 79"/>
                                <a:gd name="T5" fmla="*/ 45 h 45"/>
                                <a:gd name="T6" fmla="*/ 0 w 79"/>
                                <a:gd name="T7" fmla="*/ 18 h 45"/>
                                <a:gd name="T8" fmla="*/ 40 w 79"/>
                                <a:gd name="T9" fmla="*/ 0 h 45"/>
                              </a:gdLst>
                              <a:ahLst/>
                              <a:cxnLst>
                                <a:cxn ang="0">
                                  <a:pos x="T0" y="T1"/>
                                </a:cxn>
                                <a:cxn ang="0">
                                  <a:pos x="T2" y="T3"/>
                                </a:cxn>
                                <a:cxn ang="0">
                                  <a:pos x="T4" y="T5"/>
                                </a:cxn>
                                <a:cxn ang="0">
                                  <a:pos x="T6" y="T7"/>
                                </a:cxn>
                                <a:cxn ang="0">
                                  <a:pos x="T8" y="T9"/>
                                </a:cxn>
                              </a:cxnLst>
                              <a:rect l="0" t="0" r="r" b="b"/>
                              <a:pathLst>
                                <a:path w="79" h="45">
                                  <a:moveTo>
                                    <a:pt x="40" y="0"/>
                                  </a:moveTo>
                                  <a:lnTo>
                                    <a:pt x="79" y="24"/>
                                  </a:lnTo>
                                  <a:lnTo>
                                    <a:pt x="41" y="45"/>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2" name="Freeform 184"/>
                            <p:cNvSpPr/>
                            <p:nvPr/>
                          </p:nvSpPr>
                          <p:spPr bwMode="auto">
                            <a:xfrm>
                              <a:off x="2550" y="3074"/>
                              <a:ext cx="14" cy="8"/>
                            </a:xfrm>
                            <a:custGeom>
                              <a:avLst/>
                              <a:gdLst>
                                <a:gd name="T0" fmla="*/ 38 w 98"/>
                                <a:gd name="T1" fmla="*/ 0 h 58"/>
                                <a:gd name="T2" fmla="*/ 98 w 98"/>
                                <a:gd name="T3" fmla="*/ 43 h 58"/>
                                <a:gd name="T4" fmla="*/ 60 w 98"/>
                                <a:gd name="T5" fmla="*/ 58 h 58"/>
                                <a:gd name="T6" fmla="*/ 0 w 98"/>
                                <a:gd name="T7" fmla="*/ 19 h 58"/>
                                <a:gd name="T8" fmla="*/ 38 w 98"/>
                                <a:gd name="T9" fmla="*/ 0 h 58"/>
                              </a:gdLst>
                              <a:ahLst/>
                              <a:cxnLst>
                                <a:cxn ang="0">
                                  <a:pos x="T0" y="T1"/>
                                </a:cxn>
                                <a:cxn ang="0">
                                  <a:pos x="T2" y="T3"/>
                                </a:cxn>
                                <a:cxn ang="0">
                                  <a:pos x="T4" y="T5"/>
                                </a:cxn>
                                <a:cxn ang="0">
                                  <a:pos x="T6" y="T7"/>
                                </a:cxn>
                                <a:cxn ang="0">
                                  <a:pos x="T8" y="T9"/>
                                </a:cxn>
                              </a:cxnLst>
                              <a:rect l="0" t="0" r="r" b="b"/>
                              <a:pathLst>
                                <a:path w="98" h="58">
                                  <a:moveTo>
                                    <a:pt x="38" y="0"/>
                                  </a:moveTo>
                                  <a:lnTo>
                                    <a:pt x="98" y="43"/>
                                  </a:lnTo>
                                  <a:lnTo>
                                    <a:pt x="60" y="58"/>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3" name="Freeform 185"/>
                            <p:cNvSpPr/>
                            <p:nvPr/>
                          </p:nvSpPr>
                          <p:spPr bwMode="auto">
                            <a:xfrm>
                              <a:off x="2551" y="3068"/>
                              <a:ext cx="19" cy="11"/>
                            </a:xfrm>
                            <a:custGeom>
                              <a:avLst/>
                              <a:gdLst>
                                <a:gd name="T0" fmla="*/ 0 w 130"/>
                                <a:gd name="T1" fmla="*/ 33 h 92"/>
                                <a:gd name="T2" fmla="*/ 95 w 130"/>
                                <a:gd name="T3" fmla="*/ 92 h 92"/>
                                <a:gd name="T4" fmla="*/ 130 w 130"/>
                                <a:gd name="T5" fmla="*/ 76 h 92"/>
                                <a:gd name="T6" fmla="*/ 64 w 130"/>
                                <a:gd name="T7" fmla="*/ 33 h 92"/>
                                <a:gd name="T8" fmla="*/ 112 w 130"/>
                                <a:gd name="T9" fmla="*/ 13 h 92"/>
                                <a:gd name="T10" fmla="*/ 88 w 130"/>
                                <a:gd name="T11" fmla="*/ 0 h 92"/>
                                <a:gd name="T12" fmla="*/ 0 w 130"/>
                                <a:gd name="T13" fmla="*/ 33 h 92"/>
                              </a:gdLst>
                              <a:ahLst/>
                              <a:cxnLst>
                                <a:cxn ang="0">
                                  <a:pos x="T0" y="T1"/>
                                </a:cxn>
                                <a:cxn ang="0">
                                  <a:pos x="T2" y="T3"/>
                                </a:cxn>
                                <a:cxn ang="0">
                                  <a:pos x="T4" y="T5"/>
                                </a:cxn>
                                <a:cxn ang="0">
                                  <a:pos x="T6" y="T7"/>
                                </a:cxn>
                                <a:cxn ang="0">
                                  <a:pos x="T8" y="T9"/>
                                </a:cxn>
                                <a:cxn ang="0">
                                  <a:pos x="T10" y="T11"/>
                                </a:cxn>
                                <a:cxn ang="0">
                                  <a:pos x="T12" y="T13"/>
                                </a:cxn>
                              </a:cxnLst>
                              <a:rect l="0" t="0" r="r" b="b"/>
                              <a:pathLst>
                                <a:path w="130" h="92">
                                  <a:moveTo>
                                    <a:pt x="0" y="33"/>
                                  </a:moveTo>
                                  <a:lnTo>
                                    <a:pt x="95" y="92"/>
                                  </a:lnTo>
                                  <a:lnTo>
                                    <a:pt x="130" y="76"/>
                                  </a:lnTo>
                                  <a:lnTo>
                                    <a:pt x="64" y="33"/>
                                  </a:lnTo>
                                  <a:lnTo>
                                    <a:pt x="112" y="13"/>
                                  </a:lnTo>
                                  <a:lnTo>
                                    <a:pt x="88" y="0"/>
                                  </a:lnTo>
                                  <a:lnTo>
                                    <a:pt x="0" y="3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4" name="Freeform 186"/>
                            <p:cNvSpPr/>
                            <p:nvPr/>
                          </p:nvSpPr>
                          <p:spPr bwMode="auto">
                            <a:xfrm>
                              <a:off x="2562" y="3070"/>
                              <a:ext cx="15" cy="7"/>
                            </a:xfrm>
                            <a:custGeom>
                              <a:avLst/>
                              <a:gdLst>
                                <a:gd name="T0" fmla="*/ 0 w 100"/>
                                <a:gd name="T1" fmla="*/ 19 h 59"/>
                                <a:gd name="T2" fmla="*/ 61 w 100"/>
                                <a:gd name="T3" fmla="*/ 59 h 59"/>
                                <a:gd name="T4" fmla="*/ 100 w 100"/>
                                <a:gd name="T5" fmla="*/ 41 h 59"/>
                                <a:gd name="T6" fmla="*/ 37 w 100"/>
                                <a:gd name="T7" fmla="*/ 0 h 59"/>
                                <a:gd name="T8" fmla="*/ 0 w 100"/>
                                <a:gd name="T9" fmla="*/ 19 h 59"/>
                              </a:gdLst>
                              <a:ahLst/>
                              <a:cxnLst>
                                <a:cxn ang="0">
                                  <a:pos x="T0" y="T1"/>
                                </a:cxn>
                                <a:cxn ang="0">
                                  <a:pos x="T2" y="T3"/>
                                </a:cxn>
                                <a:cxn ang="0">
                                  <a:pos x="T4" y="T5"/>
                                </a:cxn>
                                <a:cxn ang="0">
                                  <a:pos x="T6" y="T7"/>
                                </a:cxn>
                                <a:cxn ang="0">
                                  <a:pos x="T8" y="T9"/>
                                </a:cxn>
                              </a:cxnLst>
                              <a:rect l="0" t="0" r="r" b="b"/>
                              <a:pathLst>
                                <a:path w="100" h="59">
                                  <a:moveTo>
                                    <a:pt x="0" y="19"/>
                                  </a:moveTo>
                                  <a:lnTo>
                                    <a:pt x="61" y="59"/>
                                  </a:lnTo>
                                  <a:lnTo>
                                    <a:pt x="100" y="41"/>
                                  </a:lnTo>
                                  <a:lnTo>
                                    <a:pt x="37"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5" name="Freeform 187"/>
                            <p:cNvSpPr/>
                            <p:nvPr/>
                          </p:nvSpPr>
                          <p:spPr bwMode="auto">
                            <a:xfrm>
                              <a:off x="2573" y="3070"/>
                              <a:ext cx="10" cy="5"/>
                            </a:xfrm>
                            <a:custGeom>
                              <a:avLst/>
                              <a:gdLst>
                                <a:gd name="T0" fmla="*/ 0 w 70"/>
                                <a:gd name="T1" fmla="*/ 20 h 38"/>
                                <a:gd name="T2" fmla="*/ 29 w 70"/>
                                <a:gd name="T3" fmla="*/ 38 h 38"/>
                                <a:gd name="T4" fmla="*/ 70 w 70"/>
                                <a:gd name="T5" fmla="*/ 18 h 38"/>
                                <a:gd name="T6" fmla="*/ 40 w 70"/>
                                <a:gd name="T7" fmla="*/ 0 h 38"/>
                                <a:gd name="T8" fmla="*/ 0 w 70"/>
                                <a:gd name="T9" fmla="*/ 20 h 38"/>
                              </a:gdLst>
                              <a:ahLst/>
                              <a:cxnLst>
                                <a:cxn ang="0">
                                  <a:pos x="T0" y="T1"/>
                                </a:cxn>
                                <a:cxn ang="0">
                                  <a:pos x="T2" y="T3"/>
                                </a:cxn>
                                <a:cxn ang="0">
                                  <a:pos x="T4" y="T5"/>
                                </a:cxn>
                                <a:cxn ang="0">
                                  <a:pos x="T6" y="T7"/>
                                </a:cxn>
                                <a:cxn ang="0">
                                  <a:pos x="T8" y="T9"/>
                                </a:cxn>
                              </a:cxnLst>
                              <a:rect l="0" t="0" r="r" b="b"/>
                              <a:pathLst>
                                <a:path w="70" h="38">
                                  <a:moveTo>
                                    <a:pt x="0" y="20"/>
                                  </a:moveTo>
                                  <a:lnTo>
                                    <a:pt x="29" y="38"/>
                                  </a:lnTo>
                                  <a:lnTo>
                                    <a:pt x="70" y="18"/>
                                  </a:lnTo>
                                  <a:lnTo>
                                    <a:pt x="40" y="0"/>
                                  </a:lnTo>
                                  <a:lnTo>
                                    <a:pt x="0" y="2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6" name="Freeform 188"/>
                            <p:cNvSpPr/>
                            <p:nvPr/>
                          </p:nvSpPr>
                          <p:spPr bwMode="auto">
                            <a:xfrm>
                              <a:off x="2568" y="3067"/>
                              <a:ext cx="10" cy="5"/>
                            </a:xfrm>
                            <a:custGeom>
                              <a:avLst/>
                              <a:gdLst>
                                <a:gd name="T0" fmla="*/ 0 w 70"/>
                                <a:gd name="T1" fmla="*/ 18 h 39"/>
                                <a:gd name="T2" fmla="*/ 32 w 70"/>
                                <a:gd name="T3" fmla="*/ 39 h 39"/>
                                <a:gd name="T4" fmla="*/ 70 w 70"/>
                                <a:gd name="T5" fmla="*/ 18 h 39"/>
                                <a:gd name="T6" fmla="*/ 38 w 70"/>
                                <a:gd name="T7" fmla="*/ 0 h 39"/>
                                <a:gd name="T8" fmla="*/ 0 w 70"/>
                                <a:gd name="T9" fmla="*/ 18 h 39"/>
                              </a:gdLst>
                              <a:ahLst/>
                              <a:cxnLst>
                                <a:cxn ang="0">
                                  <a:pos x="T0" y="T1"/>
                                </a:cxn>
                                <a:cxn ang="0">
                                  <a:pos x="T2" y="T3"/>
                                </a:cxn>
                                <a:cxn ang="0">
                                  <a:pos x="T4" y="T5"/>
                                </a:cxn>
                                <a:cxn ang="0">
                                  <a:pos x="T6" y="T7"/>
                                </a:cxn>
                                <a:cxn ang="0">
                                  <a:pos x="T8" y="T9"/>
                                </a:cxn>
                              </a:cxnLst>
                              <a:rect l="0" t="0" r="r" b="b"/>
                              <a:pathLst>
                                <a:path w="70" h="39">
                                  <a:moveTo>
                                    <a:pt x="0" y="18"/>
                                  </a:moveTo>
                                  <a:lnTo>
                                    <a:pt x="32" y="39"/>
                                  </a:lnTo>
                                  <a:lnTo>
                                    <a:pt x="70" y="18"/>
                                  </a:lnTo>
                                  <a:lnTo>
                                    <a:pt x="38" y="0"/>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7" name="Freeform 189"/>
                            <p:cNvSpPr/>
                            <p:nvPr/>
                          </p:nvSpPr>
                          <p:spPr bwMode="auto">
                            <a:xfrm>
                              <a:off x="2564" y="3065"/>
                              <a:ext cx="9" cy="5"/>
                            </a:xfrm>
                            <a:custGeom>
                              <a:avLst/>
                              <a:gdLst>
                                <a:gd name="T0" fmla="*/ 0 w 65"/>
                                <a:gd name="T1" fmla="*/ 19 h 36"/>
                                <a:gd name="T2" fmla="*/ 26 w 65"/>
                                <a:gd name="T3" fmla="*/ 36 h 36"/>
                                <a:gd name="T4" fmla="*/ 65 w 65"/>
                                <a:gd name="T5" fmla="*/ 17 h 36"/>
                                <a:gd name="T6" fmla="*/ 42 w 65"/>
                                <a:gd name="T7" fmla="*/ 0 h 36"/>
                                <a:gd name="T8" fmla="*/ 0 w 65"/>
                                <a:gd name="T9" fmla="*/ 19 h 36"/>
                              </a:gdLst>
                              <a:ahLst/>
                              <a:cxnLst>
                                <a:cxn ang="0">
                                  <a:pos x="T0" y="T1"/>
                                </a:cxn>
                                <a:cxn ang="0">
                                  <a:pos x="T2" y="T3"/>
                                </a:cxn>
                                <a:cxn ang="0">
                                  <a:pos x="T4" y="T5"/>
                                </a:cxn>
                                <a:cxn ang="0">
                                  <a:pos x="T6" y="T7"/>
                                </a:cxn>
                                <a:cxn ang="0">
                                  <a:pos x="T8" y="T9"/>
                                </a:cxn>
                              </a:cxnLst>
                              <a:rect l="0" t="0" r="r" b="b"/>
                              <a:pathLst>
                                <a:path w="65" h="36">
                                  <a:moveTo>
                                    <a:pt x="0" y="19"/>
                                  </a:moveTo>
                                  <a:lnTo>
                                    <a:pt x="26" y="36"/>
                                  </a:lnTo>
                                  <a:lnTo>
                                    <a:pt x="65" y="17"/>
                                  </a:lnTo>
                                  <a:lnTo>
                                    <a:pt x="42"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8" name="Freeform 190"/>
                            <p:cNvSpPr/>
                            <p:nvPr/>
                          </p:nvSpPr>
                          <p:spPr bwMode="auto">
                            <a:xfrm>
                              <a:off x="2571" y="3064"/>
                              <a:ext cx="7" cy="3"/>
                            </a:xfrm>
                            <a:custGeom>
                              <a:avLst/>
                              <a:gdLst>
                                <a:gd name="T0" fmla="*/ 0 w 47"/>
                                <a:gd name="T1" fmla="*/ 12 h 27"/>
                                <a:gd name="T2" fmla="*/ 25 w 47"/>
                                <a:gd name="T3" fmla="*/ 27 h 27"/>
                                <a:gd name="T4" fmla="*/ 47 w 47"/>
                                <a:gd name="T5" fmla="*/ 14 h 27"/>
                                <a:gd name="T6" fmla="*/ 22 w 47"/>
                                <a:gd name="T7" fmla="*/ 0 h 27"/>
                                <a:gd name="T8" fmla="*/ 0 w 47"/>
                                <a:gd name="T9" fmla="*/ 12 h 27"/>
                              </a:gdLst>
                              <a:ahLst/>
                              <a:cxnLst>
                                <a:cxn ang="0">
                                  <a:pos x="T0" y="T1"/>
                                </a:cxn>
                                <a:cxn ang="0">
                                  <a:pos x="T2" y="T3"/>
                                </a:cxn>
                                <a:cxn ang="0">
                                  <a:pos x="T4" y="T5"/>
                                </a:cxn>
                                <a:cxn ang="0">
                                  <a:pos x="T6" y="T7"/>
                                </a:cxn>
                                <a:cxn ang="0">
                                  <a:pos x="T8" y="T9"/>
                                </a:cxn>
                              </a:cxnLst>
                              <a:rect l="0" t="0" r="r" b="b"/>
                              <a:pathLst>
                                <a:path w="47" h="27">
                                  <a:moveTo>
                                    <a:pt x="0" y="12"/>
                                  </a:moveTo>
                                  <a:lnTo>
                                    <a:pt x="25" y="27"/>
                                  </a:lnTo>
                                  <a:lnTo>
                                    <a:pt x="47" y="14"/>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9" name="Freeform 191"/>
                            <p:cNvSpPr/>
                            <p:nvPr/>
                          </p:nvSpPr>
                          <p:spPr bwMode="auto">
                            <a:xfrm>
                              <a:off x="2575" y="3066"/>
                              <a:ext cx="7" cy="4"/>
                            </a:xfrm>
                            <a:custGeom>
                              <a:avLst/>
                              <a:gdLst>
                                <a:gd name="T0" fmla="*/ 0 w 53"/>
                                <a:gd name="T1" fmla="*/ 12 h 33"/>
                                <a:gd name="T2" fmla="*/ 32 w 53"/>
                                <a:gd name="T3" fmla="*/ 33 h 33"/>
                                <a:gd name="T4" fmla="*/ 53 w 53"/>
                                <a:gd name="T5" fmla="*/ 21 h 33"/>
                                <a:gd name="T6" fmla="*/ 22 w 53"/>
                                <a:gd name="T7" fmla="*/ 0 h 33"/>
                                <a:gd name="T8" fmla="*/ 0 w 53"/>
                                <a:gd name="T9" fmla="*/ 12 h 33"/>
                              </a:gdLst>
                              <a:ahLst/>
                              <a:cxnLst>
                                <a:cxn ang="0">
                                  <a:pos x="T0" y="T1"/>
                                </a:cxn>
                                <a:cxn ang="0">
                                  <a:pos x="T2" y="T3"/>
                                </a:cxn>
                                <a:cxn ang="0">
                                  <a:pos x="T4" y="T5"/>
                                </a:cxn>
                                <a:cxn ang="0">
                                  <a:pos x="T6" y="T7"/>
                                </a:cxn>
                                <a:cxn ang="0">
                                  <a:pos x="T8" y="T9"/>
                                </a:cxn>
                              </a:cxnLst>
                              <a:rect l="0" t="0" r="r" b="b"/>
                              <a:pathLst>
                                <a:path w="53" h="33">
                                  <a:moveTo>
                                    <a:pt x="0" y="12"/>
                                  </a:moveTo>
                                  <a:lnTo>
                                    <a:pt x="32" y="33"/>
                                  </a:lnTo>
                                  <a:lnTo>
                                    <a:pt x="53" y="21"/>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0" name="Freeform 192"/>
                            <p:cNvSpPr/>
                            <p:nvPr/>
                          </p:nvSpPr>
                          <p:spPr bwMode="auto">
                            <a:xfrm>
                              <a:off x="2545" y="3072"/>
                              <a:ext cx="10" cy="5"/>
                            </a:xfrm>
                            <a:custGeom>
                              <a:avLst/>
                              <a:gdLst>
                                <a:gd name="T0" fmla="*/ 0 w 68"/>
                                <a:gd name="T1" fmla="*/ 19 h 39"/>
                                <a:gd name="T2" fmla="*/ 27 w 68"/>
                                <a:gd name="T3" fmla="*/ 39 h 39"/>
                                <a:gd name="T4" fmla="*/ 68 w 68"/>
                                <a:gd name="T5" fmla="*/ 19 h 39"/>
                                <a:gd name="T6" fmla="*/ 41 w 68"/>
                                <a:gd name="T7" fmla="*/ 0 h 39"/>
                                <a:gd name="T8" fmla="*/ 0 w 68"/>
                                <a:gd name="T9" fmla="*/ 19 h 39"/>
                              </a:gdLst>
                              <a:ahLst/>
                              <a:cxnLst>
                                <a:cxn ang="0">
                                  <a:pos x="T0" y="T1"/>
                                </a:cxn>
                                <a:cxn ang="0">
                                  <a:pos x="T2" y="T3"/>
                                </a:cxn>
                                <a:cxn ang="0">
                                  <a:pos x="T4" y="T5"/>
                                </a:cxn>
                                <a:cxn ang="0">
                                  <a:pos x="T6" y="T7"/>
                                </a:cxn>
                                <a:cxn ang="0">
                                  <a:pos x="T8" y="T9"/>
                                </a:cxn>
                              </a:cxnLst>
                              <a:rect l="0" t="0" r="r" b="b"/>
                              <a:pathLst>
                                <a:path w="68" h="39">
                                  <a:moveTo>
                                    <a:pt x="0" y="19"/>
                                  </a:moveTo>
                                  <a:lnTo>
                                    <a:pt x="27" y="39"/>
                                  </a:lnTo>
                                  <a:lnTo>
                                    <a:pt x="68" y="19"/>
                                  </a:lnTo>
                                  <a:lnTo>
                                    <a:pt x="41"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1" name="Freeform 193"/>
                            <p:cNvSpPr/>
                            <p:nvPr/>
                          </p:nvSpPr>
                          <p:spPr bwMode="auto">
                            <a:xfrm>
                              <a:off x="2579" y="3068"/>
                              <a:ext cx="8" cy="4"/>
                            </a:xfrm>
                            <a:custGeom>
                              <a:avLst/>
                              <a:gdLst>
                                <a:gd name="T0" fmla="*/ 0 w 54"/>
                                <a:gd name="T1" fmla="*/ 13 h 33"/>
                                <a:gd name="T2" fmla="*/ 31 w 54"/>
                                <a:gd name="T3" fmla="*/ 33 h 33"/>
                                <a:gd name="T4" fmla="*/ 54 w 54"/>
                                <a:gd name="T5" fmla="*/ 21 h 33"/>
                                <a:gd name="T6" fmla="*/ 22 w 54"/>
                                <a:gd name="T7" fmla="*/ 0 h 33"/>
                                <a:gd name="T8" fmla="*/ 0 w 54"/>
                                <a:gd name="T9" fmla="*/ 13 h 33"/>
                              </a:gdLst>
                              <a:ahLst/>
                              <a:cxnLst>
                                <a:cxn ang="0">
                                  <a:pos x="T0" y="T1"/>
                                </a:cxn>
                                <a:cxn ang="0">
                                  <a:pos x="T2" y="T3"/>
                                </a:cxn>
                                <a:cxn ang="0">
                                  <a:pos x="T4" y="T5"/>
                                </a:cxn>
                                <a:cxn ang="0">
                                  <a:pos x="T6" y="T7"/>
                                </a:cxn>
                                <a:cxn ang="0">
                                  <a:pos x="T8" y="T9"/>
                                </a:cxn>
                              </a:cxnLst>
                              <a:rect l="0" t="0" r="r" b="b"/>
                              <a:pathLst>
                                <a:path w="54" h="33">
                                  <a:moveTo>
                                    <a:pt x="0" y="13"/>
                                  </a:moveTo>
                                  <a:lnTo>
                                    <a:pt x="31" y="33"/>
                                  </a:lnTo>
                                  <a:lnTo>
                                    <a:pt x="54" y="21"/>
                                  </a:lnTo>
                                  <a:lnTo>
                                    <a:pt x="22"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2" name="Group 194"/>
                        <p:cNvGrpSpPr/>
                        <p:nvPr/>
                      </p:nvGrpSpPr>
                      <p:grpSpPr bwMode="auto">
                        <a:xfrm>
                          <a:off x="2506" y="3084"/>
                          <a:ext cx="128" cy="47"/>
                          <a:chOff x="2506" y="3084"/>
                          <a:chExt cx="128" cy="47"/>
                        </a:xfrm>
                      </p:grpSpPr>
                      <p:sp>
                        <p:nvSpPr>
                          <p:cNvPr id="642243" name="Freeform 195"/>
                          <p:cNvSpPr/>
                          <p:nvPr/>
                        </p:nvSpPr>
                        <p:spPr bwMode="auto">
                          <a:xfrm>
                            <a:off x="2578" y="3106"/>
                            <a:ext cx="56" cy="25"/>
                          </a:xfrm>
                          <a:custGeom>
                            <a:avLst/>
                            <a:gdLst>
                              <a:gd name="T0" fmla="*/ 393 w 393"/>
                              <a:gd name="T1" fmla="*/ 0 h 204"/>
                              <a:gd name="T2" fmla="*/ 11 w 393"/>
                              <a:gd name="T3" fmla="*/ 162 h 204"/>
                              <a:gd name="T4" fmla="*/ 3 w 393"/>
                              <a:gd name="T5" fmla="*/ 172 h 204"/>
                              <a:gd name="T6" fmla="*/ 0 w 393"/>
                              <a:gd name="T7" fmla="*/ 183 h 204"/>
                              <a:gd name="T8" fmla="*/ 3 w 393"/>
                              <a:gd name="T9" fmla="*/ 190 h 204"/>
                              <a:gd name="T10" fmla="*/ 7 w 393"/>
                              <a:gd name="T11" fmla="*/ 200 h 204"/>
                              <a:gd name="T12" fmla="*/ 14 w 393"/>
                              <a:gd name="T13" fmla="*/ 204 h 204"/>
                              <a:gd name="T14" fmla="*/ 384 w 393"/>
                              <a:gd name="T15" fmla="*/ 42 h 204"/>
                              <a:gd name="T16" fmla="*/ 393 w 393"/>
                              <a:gd name="T17"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3" h="204">
                                <a:moveTo>
                                  <a:pt x="393" y="0"/>
                                </a:moveTo>
                                <a:lnTo>
                                  <a:pt x="11" y="162"/>
                                </a:lnTo>
                                <a:lnTo>
                                  <a:pt x="3" y="172"/>
                                </a:lnTo>
                                <a:lnTo>
                                  <a:pt x="0" y="183"/>
                                </a:lnTo>
                                <a:lnTo>
                                  <a:pt x="3" y="190"/>
                                </a:lnTo>
                                <a:lnTo>
                                  <a:pt x="7" y="200"/>
                                </a:lnTo>
                                <a:lnTo>
                                  <a:pt x="14" y="204"/>
                                </a:lnTo>
                                <a:lnTo>
                                  <a:pt x="384" y="42"/>
                                </a:lnTo>
                                <a:lnTo>
                                  <a:pt x="393"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4" name="Freeform 196"/>
                          <p:cNvSpPr/>
                          <p:nvPr/>
                        </p:nvSpPr>
                        <p:spPr bwMode="auto">
                          <a:xfrm>
                            <a:off x="2507" y="3084"/>
                            <a:ext cx="76" cy="43"/>
                          </a:xfrm>
                          <a:custGeom>
                            <a:avLst/>
                            <a:gdLst>
                              <a:gd name="T0" fmla="*/ 535 w 535"/>
                              <a:gd name="T1" fmla="*/ 329 h 343"/>
                              <a:gd name="T2" fmla="*/ 515 w 535"/>
                              <a:gd name="T3" fmla="*/ 336 h 343"/>
                              <a:gd name="T4" fmla="*/ 507 w 535"/>
                              <a:gd name="T5" fmla="*/ 343 h 343"/>
                              <a:gd name="T6" fmla="*/ 0 w 535"/>
                              <a:gd name="T7" fmla="*/ 3 h 343"/>
                              <a:gd name="T8" fmla="*/ 12 w 535"/>
                              <a:gd name="T9" fmla="*/ 1 h 343"/>
                              <a:gd name="T10" fmla="*/ 23 w 535"/>
                              <a:gd name="T11" fmla="*/ 0 h 343"/>
                              <a:gd name="T12" fmla="*/ 35 w 535"/>
                              <a:gd name="T13" fmla="*/ 0 h 343"/>
                              <a:gd name="T14" fmla="*/ 49 w 535"/>
                              <a:gd name="T15" fmla="*/ 2 h 343"/>
                              <a:gd name="T16" fmla="*/ 535 w 535"/>
                              <a:gd name="T17" fmla="*/ 329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5" h="343">
                                <a:moveTo>
                                  <a:pt x="535" y="329"/>
                                </a:moveTo>
                                <a:lnTo>
                                  <a:pt x="515" y="336"/>
                                </a:lnTo>
                                <a:lnTo>
                                  <a:pt x="507" y="343"/>
                                </a:lnTo>
                                <a:lnTo>
                                  <a:pt x="0" y="3"/>
                                </a:lnTo>
                                <a:lnTo>
                                  <a:pt x="12" y="1"/>
                                </a:lnTo>
                                <a:lnTo>
                                  <a:pt x="23" y="0"/>
                                </a:lnTo>
                                <a:lnTo>
                                  <a:pt x="35" y="0"/>
                                </a:lnTo>
                                <a:lnTo>
                                  <a:pt x="49" y="2"/>
                                </a:lnTo>
                                <a:lnTo>
                                  <a:pt x="535" y="32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5" name="Freeform 197"/>
                          <p:cNvSpPr/>
                          <p:nvPr/>
                        </p:nvSpPr>
                        <p:spPr bwMode="auto">
                          <a:xfrm>
                            <a:off x="2506" y="3085"/>
                            <a:ext cx="74" cy="46"/>
                          </a:xfrm>
                          <a:custGeom>
                            <a:avLst/>
                            <a:gdLst>
                              <a:gd name="T0" fmla="*/ 8 w 518"/>
                              <a:gd name="T1" fmla="*/ 0 h 368"/>
                              <a:gd name="T2" fmla="*/ 514 w 518"/>
                              <a:gd name="T3" fmla="*/ 339 h 368"/>
                              <a:gd name="T4" fmla="*/ 512 w 518"/>
                              <a:gd name="T5" fmla="*/ 354 h 368"/>
                              <a:gd name="T6" fmla="*/ 518 w 518"/>
                              <a:gd name="T7" fmla="*/ 368 h 368"/>
                              <a:gd name="T8" fmla="*/ 0 w 518"/>
                              <a:gd name="T9" fmla="*/ 17 h 368"/>
                              <a:gd name="T10" fmla="*/ 0 w 518"/>
                              <a:gd name="T11" fmla="*/ 7 h 368"/>
                              <a:gd name="T12" fmla="*/ 8 w 518"/>
                              <a:gd name="T13" fmla="*/ 0 h 368"/>
                            </a:gdLst>
                            <a:ahLst/>
                            <a:cxnLst>
                              <a:cxn ang="0">
                                <a:pos x="T0" y="T1"/>
                              </a:cxn>
                              <a:cxn ang="0">
                                <a:pos x="T2" y="T3"/>
                              </a:cxn>
                              <a:cxn ang="0">
                                <a:pos x="T4" y="T5"/>
                              </a:cxn>
                              <a:cxn ang="0">
                                <a:pos x="T6" y="T7"/>
                              </a:cxn>
                              <a:cxn ang="0">
                                <a:pos x="T8" y="T9"/>
                              </a:cxn>
                              <a:cxn ang="0">
                                <a:pos x="T10" y="T11"/>
                              </a:cxn>
                              <a:cxn ang="0">
                                <a:pos x="T12" y="T13"/>
                              </a:cxn>
                            </a:cxnLst>
                            <a:rect l="0" t="0" r="r" b="b"/>
                            <a:pathLst>
                              <a:path w="518" h="368">
                                <a:moveTo>
                                  <a:pt x="8" y="0"/>
                                </a:moveTo>
                                <a:lnTo>
                                  <a:pt x="514" y="339"/>
                                </a:lnTo>
                                <a:lnTo>
                                  <a:pt x="512" y="354"/>
                                </a:lnTo>
                                <a:lnTo>
                                  <a:pt x="518" y="368"/>
                                </a:lnTo>
                                <a:lnTo>
                                  <a:pt x="0" y="17"/>
                                </a:lnTo>
                                <a:lnTo>
                                  <a:pt x="0" y="7"/>
                                </a:lnTo>
                                <a:lnTo>
                                  <a:pt x="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6" name="Group 198"/>
                      <p:cNvGrpSpPr/>
                      <p:nvPr/>
                    </p:nvGrpSpPr>
                    <p:grpSpPr bwMode="auto">
                      <a:xfrm>
                        <a:off x="2582" y="2996"/>
                        <a:ext cx="100" cy="84"/>
                        <a:chOff x="2582" y="2996"/>
                        <a:chExt cx="100" cy="84"/>
                      </a:xfrm>
                    </p:grpSpPr>
                    <p:sp>
                      <p:nvSpPr>
                        <p:cNvPr id="642247" name="Freeform 199"/>
                        <p:cNvSpPr/>
                        <p:nvPr/>
                      </p:nvSpPr>
                      <p:spPr bwMode="auto">
                        <a:xfrm>
                          <a:off x="2653" y="3028"/>
                          <a:ext cx="29" cy="52"/>
                        </a:xfrm>
                        <a:custGeom>
                          <a:avLst/>
                          <a:gdLst>
                            <a:gd name="T0" fmla="*/ 194 w 208"/>
                            <a:gd name="T1" fmla="*/ 0 h 419"/>
                            <a:gd name="T2" fmla="*/ 208 w 208"/>
                            <a:gd name="T3" fmla="*/ 28 h 419"/>
                            <a:gd name="T4" fmla="*/ 15 w 208"/>
                            <a:gd name="T5" fmla="*/ 419 h 419"/>
                            <a:gd name="T6" fmla="*/ 0 w 208"/>
                            <a:gd name="T7" fmla="*/ 389 h 419"/>
                            <a:gd name="T8" fmla="*/ 194 w 208"/>
                            <a:gd name="T9" fmla="*/ 0 h 419"/>
                          </a:gdLst>
                          <a:ahLst/>
                          <a:cxnLst>
                            <a:cxn ang="0">
                              <a:pos x="T0" y="T1"/>
                            </a:cxn>
                            <a:cxn ang="0">
                              <a:pos x="T2" y="T3"/>
                            </a:cxn>
                            <a:cxn ang="0">
                              <a:pos x="T4" y="T5"/>
                            </a:cxn>
                            <a:cxn ang="0">
                              <a:pos x="T6" y="T7"/>
                            </a:cxn>
                            <a:cxn ang="0">
                              <a:pos x="T8" y="T9"/>
                            </a:cxn>
                          </a:cxnLst>
                          <a:rect l="0" t="0" r="r" b="b"/>
                          <a:pathLst>
                            <a:path w="208" h="419">
                              <a:moveTo>
                                <a:pt x="194" y="0"/>
                              </a:moveTo>
                              <a:lnTo>
                                <a:pt x="208" y="28"/>
                              </a:lnTo>
                              <a:lnTo>
                                <a:pt x="15" y="419"/>
                              </a:lnTo>
                              <a:lnTo>
                                <a:pt x="0" y="389"/>
                              </a:lnTo>
                              <a:lnTo>
                                <a:pt x="19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8" name="Freeform 200"/>
                        <p:cNvSpPr/>
                        <p:nvPr/>
                      </p:nvSpPr>
                      <p:spPr bwMode="auto">
                        <a:xfrm>
                          <a:off x="2582" y="2996"/>
                          <a:ext cx="99" cy="81"/>
                        </a:xfrm>
                        <a:custGeom>
                          <a:avLst/>
                          <a:gdLst>
                            <a:gd name="T0" fmla="*/ 188 w 690"/>
                            <a:gd name="T1" fmla="*/ 0 h 644"/>
                            <a:gd name="T2" fmla="*/ 690 w 690"/>
                            <a:gd name="T3" fmla="*/ 256 h 644"/>
                            <a:gd name="T4" fmla="*/ 501 w 690"/>
                            <a:gd name="T5" fmla="*/ 644 h 644"/>
                            <a:gd name="T6" fmla="*/ 0 w 690"/>
                            <a:gd name="T7" fmla="*/ 385 h 644"/>
                            <a:gd name="T8" fmla="*/ 188 w 690"/>
                            <a:gd name="T9" fmla="*/ 0 h 644"/>
                          </a:gdLst>
                          <a:ahLst/>
                          <a:cxnLst>
                            <a:cxn ang="0">
                              <a:pos x="T0" y="T1"/>
                            </a:cxn>
                            <a:cxn ang="0">
                              <a:pos x="T2" y="T3"/>
                            </a:cxn>
                            <a:cxn ang="0">
                              <a:pos x="T4" y="T5"/>
                            </a:cxn>
                            <a:cxn ang="0">
                              <a:pos x="T6" y="T7"/>
                            </a:cxn>
                            <a:cxn ang="0">
                              <a:pos x="T8" y="T9"/>
                            </a:cxn>
                          </a:cxnLst>
                          <a:rect l="0" t="0" r="r" b="b"/>
                          <a:pathLst>
                            <a:path w="690" h="644">
                              <a:moveTo>
                                <a:pt x="188" y="0"/>
                              </a:moveTo>
                              <a:lnTo>
                                <a:pt x="690" y="256"/>
                              </a:lnTo>
                              <a:lnTo>
                                <a:pt x="501" y="644"/>
                              </a:lnTo>
                              <a:lnTo>
                                <a:pt x="0" y="385"/>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9" name="Freeform 201"/>
                        <p:cNvSpPr/>
                        <p:nvPr/>
                      </p:nvSpPr>
                      <p:spPr bwMode="auto">
                        <a:xfrm>
                          <a:off x="2588" y="3002"/>
                          <a:ext cx="88" cy="69"/>
                        </a:xfrm>
                        <a:custGeom>
                          <a:avLst/>
                          <a:gdLst>
                            <a:gd name="T0" fmla="*/ 614 w 614"/>
                            <a:gd name="T1" fmla="*/ 235 h 554"/>
                            <a:gd name="T2" fmla="*/ 457 w 614"/>
                            <a:gd name="T3" fmla="*/ 554 h 554"/>
                            <a:gd name="T4" fmla="*/ 0 w 614"/>
                            <a:gd name="T5" fmla="*/ 322 h 554"/>
                            <a:gd name="T6" fmla="*/ 155 w 614"/>
                            <a:gd name="T7" fmla="*/ 0 h 554"/>
                            <a:gd name="T8" fmla="*/ 614 w 614"/>
                            <a:gd name="T9" fmla="*/ 235 h 554"/>
                          </a:gdLst>
                          <a:ahLst/>
                          <a:cxnLst>
                            <a:cxn ang="0">
                              <a:pos x="T0" y="T1"/>
                            </a:cxn>
                            <a:cxn ang="0">
                              <a:pos x="T2" y="T3"/>
                            </a:cxn>
                            <a:cxn ang="0">
                              <a:pos x="T4" y="T5"/>
                            </a:cxn>
                            <a:cxn ang="0">
                              <a:pos x="T6" y="T7"/>
                            </a:cxn>
                            <a:cxn ang="0">
                              <a:pos x="T8" y="T9"/>
                            </a:cxn>
                          </a:cxnLst>
                          <a:rect l="0" t="0" r="r" b="b"/>
                          <a:pathLst>
                            <a:path w="614" h="554">
                              <a:moveTo>
                                <a:pt x="614" y="235"/>
                              </a:moveTo>
                              <a:lnTo>
                                <a:pt x="457" y="554"/>
                              </a:lnTo>
                              <a:lnTo>
                                <a:pt x="0" y="322"/>
                              </a:lnTo>
                              <a:lnTo>
                                <a:pt x="155" y="0"/>
                              </a:lnTo>
                              <a:lnTo>
                                <a:pt x="614" y="235"/>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0" name="Freeform 202"/>
                        <p:cNvSpPr/>
                        <p:nvPr/>
                      </p:nvSpPr>
                      <p:spPr bwMode="auto">
                        <a:xfrm>
                          <a:off x="2592" y="3005"/>
                          <a:ext cx="80" cy="63"/>
                        </a:xfrm>
                        <a:custGeom>
                          <a:avLst/>
                          <a:gdLst>
                            <a:gd name="T0" fmla="*/ 560 w 560"/>
                            <a:gd name="T1" fmla="*/ 214 h 502"/>
                            <a:gd name="T2" fmla="*/ 423 w 560"/>
                            <a:gd name="T3" fmla="*/ 502 h 502"/>
                            <a:gd name="T4" fmla="*/ 0 w 560"/>
                            <a:gd name="T5" fmla="*/ 286 h 502"/>
                            <a:gd name="T6" fmla="*/ 140 w 560"/>
                            <a:gd name="T7" fmla="*/ 0 h 502"/>
                            <a:gd name="T8" fmla="*/ 560 w 560"/>
                            <a:gd name="T9" fmla="*/ 214 h 502"/>
                          </a:gdLst>
                          <a:ahLst/>
                          <a:cxnLst>
                            <a:cxn ang="0">
                              <a:pos x="T0" y="T1"/>
                            </a:cxn>
                            <a:cxn ang="0">
                              <a:pos x="T2" y="T3"/>
                            </a:cxn>
                            <a:cxn ang="0">
                              <a:pos x="T4" y="T5"/>
                            </a:cxn>
                            <a:cxn ang="0">
                              <a:pos x="T6" y="T7"/>
                            </a:cxn>
                            <a:cxn ang="0">
                              <a:pos x="T8" y="T9"/>
                            </a:cxn>
                          </a:cxnLst>
                          <a:rect l="0" t="0" r="r" b="b"/>
                          <a:pathLst>
                            <a:path w="560" h="502">
                              <a:moveTo>
                                <a:pt x="560" y="214"/>
                              </a:moveTo>
                              <a:lnTo>
                                <a:pt x="423" y="502"/>
                              </a:lnTo>
                              <a:lnTo>
                                <a:pt x="0" y="286"/>
                              </a:lnTo>
                              <a:lnTo>
                                <a:pt x="140" y="0"/>
                              </a:lnTo>
                              <a:lnTo>
                                <a:pt x="560" y="21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1" name="Freeform 203"/>
                        <p:cNvSpPr/>
                        <p:nvPr/>
                      </p:nvSpPr>
                      <p:spPr bwMode="auto">
                        <a:xfrm>
                          <a:off x="2646" y="3069"/>
                          <a:ext cx="7" cy="6"/>
                        </a:xfrm>
                        <a:custGeom>
                          <a:avLst/>
                          <a:gdLst>
                            <a:gd name="T0" fmla="*/ 15 w 52"/>
                            <a:gd name="T1" fmla="*/ 0 h 47"/>
                            <a:gd name="T2" fmla="*/ 52 w 52"/>
                            <a:gd name="T3" fmla="*/ 19 h 47"/>
                            <a:gd name="T4" fmla="*/ 38 w 52"/>
                            <a:gd name="T5" fmla="*/ 47 h 47"/>
                            <a:gd name="T6" fmla="*/ 0 w 52"/>
                            <a:gd name="T7" fmla="*/ 28 h 47"/>
                            <a:gd name="T8" fmla="*/ 15 w 52"/>
                            <a:gd name="T9" fmla="*/ 0 h 47"/>
                          </a:gdLst>
                          <a:ahLst/>
                          <a:cxnLst>
                            <a:cxn ang="0">
                              <a:pos x="T0" y="T1"/>
                            </a:cxn>
                            <a:cxn ang="0">
                              <a:pos x="T2" y="T3"/>
                            </a:cxn>
                            <a:cxn ang="0">
                              <a:pos x="T4" y="T5"/>
                            </a:cxn>
                            <a:cxn ang="0">
                              <a:pos x="T6" y="T7"/>
                            </a:cxn>
                            <a:cxn ang="0">
                              <a:pos x="T8" y="T9"/>
                            </a:cxn>
                          </a:cxnLst>
                          <a:rect l="0" t="0" r="r" b="b"/>
                          <a:pathLst>
                            <a:path w="52" h="47">
                              <a:moveTo>
                                <a:pt x="15" y="0"/>
                              </a:moveTo>
                              <a:lnTo>
                                <a:pt x="52" y="19"/>
                              </a:lnTo>
                              <a:lnTo>
                                <a:pt x="38" y="47"/>
                              </a:lnTo>
                              <a:lnTo>
                                <a:pt x="0" y="2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2" name="Freeform 204"/>
                        <p:cNvSpPr/>
                        <p:nvPr/>
                      </p:nvSpPr>
                      <p:spPr bwMode="auto">
                        <a:xfrm>
                          <a:off x="2583" y="3044"/>
                          <a:ext cx="73" cy="36"/>
                        </a:xfrm>
                        <a:custGeom>
                          <a:avLst/>
                          <a:gdLst>
                            <a:gd name="T0" fmla="*/ 511 w 511"/>
                            <a:gd name="T1" fmla="*/ 291 h 291"/>
                            <a:gd name="T2" fmla="*/ 15 w 511"/>
                            <a:gd name="T3" fmla="*/ 33 h 291"/>
                            <a:gd name="T4" fmla="*/ 0 w 511"/>
                            <a:gd name="T5" fmla="*/ 0 h 291"/>
                            <a:gd name="T6" fmla="*/ 502 w 511"/>
                            <a:gd name="T7" fmla="*/ 262 h 291"/>
                            <a:gd name="T8" fmla="*/ 511 w 511"/>
                            <a:gd name="T9" fmla="*/ 291 h 291"/>
                          </a:gdLst>
                          <a:ahLst/>
                          <a:cxnLst>
                            <a:cxn ang="0">
                              <a:pos x="T0" y="T1"/>
                            </a:cxn>
                            <a:cxn ang="0">
                              <a:pos x="T2" y="T3"/>
                            </a:cxn>
                            <a:cxn ang="0">
                              <a:pos x="T4" y="T5"/>
                            </a:cxn>
                            <a:cxn ang="0">
                              <a:pos x="T6" y="T7"/>
                            </a:cxn>
                            <a:cxn ang="0">
                              <a:pos x="T8" y="T9"/>
                            </a:cxn>
                          </a:cxnLst>
                          <a:rect l="0" t="0" r="r" b="b"/>
                          <a:pathLst>
                            <a:path w="511" h="291">
                              <a:moveTo>
                                <a:pt x="511" y="291"/>
                              </a:moveTo>
                              <a:lnTo>
                                <a:pt x="15" y="33"/>
                              </a:lnTo>
                              <a:lnTo>
                                <a:pt x="0" y="0"/>
                              </a:lnTo>
                              <a:lnTo>
                                <a:pt x="502" y="262"/>
                              </a:lnTo>
                              <a:lnTo>
                                <a:pt x="511" y="291"/>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3" name="Freeform 205"/>
                        <p:cNvSpPr/>
                        <p:nvPr/>
                      </p:nvSpPr>
                      <p:spPr bwMode="auto">
                        <a:xfrm>
                          <a:off x="2600" y="3053"/>
                          <a:ext cx="31" cy="21"/>
                        </a:xfrm>
                        <a:custGeom>
                          <a:avLst/>
                          <a:gdLst>
                            <a:gd name="T0" fmla="*/ 0 w 222"/>
                            <a:gd name="T1" fmla="*/ 83 h 172"/>
                            <a:gd name="T2" fmla="*/ 57 w 222"/>
                            <a:gd name="T3" fmla="*/ 0 h 172"/>
                            <a:gd name="T4" fmla="*/ 222 w 222"/>
                            <a:gd name="T5" fmla="*/ 84 h 172"/>
                            <a:gd name="T6" fmla="*/ 165 w 222"/>
                            <a:gd name="T7" fmla="*/ 172 h 172"/>
                            <a:gd name="T8" fmla="*/ 0 w 222"/>
                            <a:gd name="T9" fmla="*/ 83 h 172"/>
                          </a:gdLst>
                          <a:ahLst/>
                          <a:cxnLst>
                            <a:cxn ang="0">
                              <a:pos x="T0" y="T1"/>
                            </a:cxn>
                            <a:cxn ang="0">
                              <a:pos x="T2" y="T3"/>
                            </a:cxn>
                            <a:cxn ang="0">
                              <a:pos x="T4" y="T5"/>
                            </a:cxn>
                            <a:cxn ang="0">
                              <a:pos x="T6" y="T7"/>
                            </a:cxn>
                            <a:cxn ang="0">
                              <a:pos x="T8" y="T9"/>
                            </a:cxn>
                          </a:cxnLst>
                          <a:rect l="0" t="0" r="r" b="b"/>
                          <a:pathLst>
                            <a:path w="222" h="172">
                              <a:moveTo>
                                <a:pt x="0" y="83"/>
                              </a:moveTo>
                              <a:lnTo>
                                <a:pt x="57" y="0"/>
                              </a:lnTo>
                              <a:lnTo>
                                <a:pt x="222" y="84"/>
                              </a:lnTo>
                              <a:lnTo>
                                <a:pt x="165" y="172"/>
                              </a:lnTo>
                              <a:lnTo>
                                <a:pt x="0" y="8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54" name="Group 206"/>
                    <p:cNvGrpSpPr/>
                    <p:nvPr/>
                  </p:nvGrpSpPr>
                  <p:grpSpPr bwMode="auto">
                    <a:xfrm>
                      <a:off x="2644" y="3109"/>
                      <a:ext cx="74" cy="35"/>
                      <a:chOff x="2644" y="3109"/>
                      <a:chExt cx="74" cy="35"/>
                    </a:xfrm>
                  </p:grpSpPr>
                  <p:sp>
                    <p:nvSpPr>
                      <p:cNvPr id="642255" name="Freeform 207"/>
                      <p:cNvSpPr/>
                      <p:nvPr/>
                    </p:nvSpPr>
                    <p:spPr bwMode="auto">
                      <a:xfrm>
                        <a:off x="2645" y="3112"/>
                        <a:ext cx="59" cy="32"/>
                      </a:xfrm>
                      <a:custGeom>
                        <a:avLst/>
                        <a:gdLst>
                          <a:gd name="T0" fmla="*/ 0 w 412"/>
                          <a:gd name="T1" fmla="*/ 147 h 252"/>
                          <a:gd name="T2" fmla="*/ 266 w 412"/>
                          <a:gd name="T3" fmla="*/ 252 h 252"/>
                          <a:gd name="T4" fmla="*/ 412 w 412"/>
                          <a:gd name="T5" fmla="*/ 111 h 252"/>
                          <a:gd name="T6" fmla="*/ 148 w 412"/>
                          <a:gd name="T7" fmla="*/ 0 h 252"/>
                          <a:gd name="T8" fmla="*/ 0 w 412"/>
                          <a:gd name="T9" fmla="*/ 147 h 252"/>
                        </a:gdLst>
                        <a:ahLst/>
                        <a:cxnLst>
                          <a:cxn ang="0">
                            <a:pos x="T0" y="T1"/>
                          </a:cxn>
                          <a:cxn ang="0">
                            <a:pos x="T2" y="T3"/>
                          </a:cxn>
                          <a:cxn ang="0">
                            <a:pos x="T4" y="T5"/>
                          </a:cxn>
                          <a:cxn ang="0">
                            <a:pos x="T6" y="T7"/>
                          </a:cxn>
                          <a:cxn ang="0">
                            <a:pos x="T8" y="T9"/>
                          </a:cxn>
                        </a:cxnLst>
                        <a:rect l="0" t="0" r="r" b="b"/>
                        <a:pathLst>
                          <a:path w="412" h="252">
                            <a:moveTo>
                              <a:pt x="0" y="147"/>
                            </a:moveTo>
                            <a:lnTo>
                              <a:pt x="266" y="252"/>
                            </a:lnTo>
                            <a:lnTo>
                              <a:pt x="412" y="111"/>
                            </a:lnTo>
                            <a:lnTo>
                              <a:pt x="148" y="0"/>
                            </a:lnTo>
                            <a:lnTo>
                              <a:pt x="0" y="14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56" name="Group 208"/>
                      <p:cNvGrpSpPr/>
                      <p:nvPr/>
                    </p:nvGrpSpPr>
                    <p:grpSpPr bwMode="auto">
                      <a:xfrm>
                        <a:off x="2644" y="3109"/>
                        <a:ext cx="61" cy="28"/>
                        <a:chOff x="2644" y="3109"/>
                        <a:chExt cx="61" cy="28"/>
                      </a:xfrm>
                    </p:grpSpPr>
                    <p:sp>
                      <p:nvSpPr>
                        <p:cNvPr id="642257" name="Freeform 209"/>
                        <p:cNvSpPr/>
                        <p:nvPr/>
                      </p:nvSpPr>
                      <p:spPr bwMode="auto">
                        <a:xfrm>
                          <a:off x="2644" y="3109"/>
                          <a:ext cx="61" cy="28"/>
                        </a:xfrm>
                        <a:custGeom>
                          <a:avLst/>
                          <a:gdLst>
                            <a:gd name="T0" fmla="*/ 0 w 431"/>
                            <a:gd name="T1" fmla="*/ 68 h 221"/>
                            <a:gd name="T2" fmla="*/ 165 w 431"/>
                            <a:gd name="T3" fmla="*/ 221 h 221"/>
                            <a:gd name="T4" fmla="*/ 431 w 431"/>
                            <a:gd name="T5" fmla="*/ 150 h 221"/>
                            <a:gd name="T6" fmla="*/ 266 w 431"/>
                            <a:gd name="T7" fmla="*/ 0 h 221"/>
                            <a:gd name="T8" fmla="*/ 0 w 431"/>
                            <a:gd name="T9" fmla="*/ 68 h 221"/>
                          </a:gdLst>
                          <a:ahLst/>
                          <a:cxnLst>
                            <a:cxn ang="0">
                              <a:pos x="T0" y="T1"/>
                            </a:cxn>
                            <a:cxn ang="0">
                              <a:pos x="T2" y="T3"/>
                            </a:cxn>
                            <a:cxn ang="0">
                              <a:pos x="T4" y="T5"/>
                            </a:cxn>
                            <a:cxn ang="0">
                              <a:pos x="T6" y="T7"/>
                            </a:cxn>
                            <a:cxn ang="0">
                              <a:pos x="T8" y="T9"/>
                            </a:cxn>
                          </a:cxnLst>
                          <a:rect l="0" t="0" r="r" b="b"/>
                          <a:pathLst>
                            <a:path w="431" h="221">
                              <a:moveTo>
                                <a:pt x="0" y="68"/>
                              </a:moveTo>
                              <a:lnTo>
                                <a:pt x="165" y="221"/>
                              </a:lnTo>
                              <a:lnTo>
                                <a:pt x="431" y="150"/>
                              </a:lnTo>
                              <a:lnTo>
                                <a:pt x="266" y="0"/>
                              </a:lnTo>
                              <a:lnTo>
                                <a:pt x="0" y="68"/>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8" name="Freeform 210"/>
                        <p:cNvSpPr/>
                        <p:nvPr/>
                      </p:nvSpPr>
                      <p:spPr bwMode="auto">
                        <a:xfrm>
                          <a:off x="2646" y="3114"/>
                          <a:ext cx="21" cy="9"/>
                        </a:xfrm>
                        <a:custGeom>
                          <a:avLst/>
                          <a:gdLst>
                            <a:gd name="T0" fmla="*/ 0 w 147"/>
                            <a:gd name="T1" fmla="*/ 31 h 67"/>
                            <a:gd name="T2" fmla="*/ 37 w 147"/>
                            <a:gd name="T3" fmla="*/ 67 h 67"/>
                            <a:gd name="T4" fmla="*/ 147 w 147"/>
                            <a:gd name="T5" fmla="*/ 35 h 67"/>
                            <a:gd name="T6" fmla="*/ 112 w 147"/>
                            <a:gd name="T7" fmla="*/ 0 h 67"/>
                            <a:gd name="T8" fmla="*/ 0 w 147"/>
                            <a:gd name="T9" fmla="*/ 31 h 67"/>
                          </a:gdLst>
                          <a:ahLst/>
                          <a:cxnLst>
                            <a:cxn ang="0">
                              <a:pos x="T0" y="T1"/>
                            </a:cxn>
                            <a:cxn ang="0">
                              <a:pos x="T2" y="T3"/>
                            </a:cxn>
                            <a:cxn ang="0">
                              <a:pos x="T4" y="T5"/>
                            </a:cxn>
                            <a:cxn ang="0">
                              <a:pos x="T6" y="T7"/>
                            </a:cxn>
                            <a:cxn ang="0">
                              <a:pos x="T8" y="T9"/>
                            </a:cxn>
                          </a:cxnLst>
                          <a:rect l="0" t="0" r="r" b="b"/>
                          <a:pathLst>
                            <a:path w="147" h="67">
                              <a:moveTo>
                                <a:pt x="0" y="31"/>
                              </a:moveTo>
                              <a:lnTo>
                                <a:pt x="37" y="67"/>
                              </a:lnTo>
                              <a:lnTo>
                                <a:pt x="147" y="35"/>
                              </a:lnTo>
                              <a:lnTo>
                                <a:pt x="112" y="0"/>
                              </a:lnTo>
                              <a:lnTo>
                                <a:pt x="0" y="31"/>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59" name="Group 211"/>
                      <p:cNvGrpSpPr/>
                      <p:nvPr/>
                    </p:nvGrpSpPr>
                    <p:grpSpPr bwMode="auto">
                      <a:xfrm>
                        <a:off x="2657" y="3114"/>
                        <a:ext cx="61" cy="28"/>
                        <a:chOff x="2657" y="3114"/>
                        <a:chExt cx="61" cy="28"/>
                      </a:xfrm>
                    </p:grpSpPr>
                    <p:sp>
                      <p:nvSpPr>
                        <p:cNvPr id="642260" name="Freeform 212"/>
                        <p:cNvSpPr/>
                        <p:nvPr/>
                      </p:nvSpPr>
                      <p:spPr bwMode="auto">
                        <a:xfrm>
                          <a:off x="2657" y="3114"/>
                          <a:ext cx="61" cy="28"/>
                        </a:xfrm>
                        <a:custGeom>
                          <a:avLst/>
                          <a:gdLst>
                            <a:gd name="T0" fmla="*/ 0 w 427"/>
                            <a:gd name="T1" fmla="*/ 67 h 220"/>
                            <a:gd name="T2" fmla="*/ 164 w 427"/>
                            <a:gd name="T3" fmla="*/ 220 h 220"/>
                            <a:gd name="T4" fmla="*/ 427 w 427"/>
                            <a:gd name="T5" fmla="*/ 153 h 220"/>
                            <a:gd name="T6" fmla="*/ 260 w 427"/>
                            <a:gd name="T7" fmla="*/ 0 h 220"/>
                            <a:gd name="T8" fmla="*/ 0 w 427"/>
                            <a:gd name="T9" fmla="*/ 67 h 220"/>
                          </a:gdLst>
                          <a:ahLst/>
                          <a:cxnLst>
                            <a:cxn ang="0">
                              <a:pos x="T0" y="T1"/>
                            </a:cxn>
                            <a:cxn ang="0">
                              <a:pos x="T2" y="T3"/>
                            </a:cxn>
                            <a:cxn ang="0">
                              <a:pos x="T4" y="T5"/>
                            </a:cxn>
                            <a:cxn ang="0">
                              <a:pos x="T6" y="T7"/>
                            </a:cxn>
                            <a:cxn ang="0">
                              <a:pos x="T8" y="T9"/>
                            </a:cxn>
                          </a:cxnLst>
                          <a:rect l="0" t="0" r="r" b="b"/>
                          <a:pathLst>
                            <a:path w="427" h="220">
                              <a:moveTo>
                                <a:pt x="0" y="67"/>
                              </a:moveTo>
                              <a:lnTo>
                                <a:pt x="164" y="220"/>
                              </a:lnTo>
                              <a:lnTo>
                                <a:pt x="427" y="153"/>
                              </a:lnTo>
                              <a:lnTo>
                                <a:pt x="260" y="0"/>
                              </a:lnTo>
                              <a:lnTo>
                                <a:pt x="0" y="67"/>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1" name="Oval 213"/>
                        <p:cNvSpPr>
                          <a:spLocks noChangeArrowheads="1"/>
                        </p:cNvSpPr>
                        <p:nvPr/>
                      </p:nvSpPr>
                      <p:spPr bwMode="auto">
                        <a:xfrm>
                          <a:off x="2681" y="3123"/>
                          <a:ext cx="14" cy="9"/>
                        </a:xfrm>
                        <a:prstGeom prst="ellipse">
                          <a:avLst/>
                        </a:prstGeom>
                        <a:solidFill>
                          <a:srgbClr val="404040"/>
                        </a:solidFill>
                        <a:ln w="1588">
                          <a:solidFill>
                            <a:srgbClr val="000000"/>
                          </a:solidFill>
                          <a:round/>
                        </a:ln>
                      </p:spPr>
                      <p:txBody>
                        <a:bodyPr/>
                        <a:lstStyle/>
                        <a:p>
                          <a:endParaRPr lang="zh-CN" altLang="en-US"/>
                        </a:p>
                      </p:txBody>
                    </p:sp>
                    <p:sp>
                      <p:nvSpPr>
                        <p:cNvPr id="642262" name="Freeform 214"/>
                        <p:cNvSpPr/>
                        <p:nvPr/>
                      </p:nvSpPr>
                      <p:spPr bwMode="auto">
                        <a:xfrm>
                          <a:off x="2658" y="3119"/>
                          <a:ext cx="21" cy="8"/>
                        </a:xfrm>
                        <a:custGeom>
                          <a:avLst/>
                          <a:gdLst>
                            <a:gd name="T0" fmla="*/ 0 w 148"/>
                            <a:gd name="T1" fmla="*/ 31 h 66"/>
                            <a:gd name="T2" fmla="*/ 37 w 148"/>
                            <a:gd name="T3" fmla="*/ 66 h 66"/>
                            <a:gd name="T4" fmla="*/ 148 w 148"/>
                            <a:gd name="T5" fmla="*/ 34 h 66"/>
                            <a:gd name="T6" fmla="*/ 113 w 148"/>
                            <a:gd name="T7" fmla="*/ 0 h 66"/>
                            <a:gd name="T8" fmla="*/ 0 w 148"/>
                            <a:gd name="T9" fmla="*/ 31 h 66"/>
                          </a:gdLst>
                          <a:ahLst/>
                          <a:cxnLst>
                            <a:cxn ang="0">
                              <a:pos x="T0" y="T1"/>
                            </a:cxn>
                            <a:cxn ang="0">
                              <a:pos x="T2" y="T3"/>
                            </a:cxn>
                            <a:cxn ang="0">
                              <a:pos x="T4" y="T5"/>
                            </a:cxn>
                            <a:cxn ang="0">
                              <a:pos x="T6" y="T7"/>
                            </a:cxn>
                            <a:cxn ang="0">
                              <a:pos x="T8" y="T9"/>
                            </a:cxn>
                          </a:cxnLst>
                          <a:rect l="0" t="0" r="r" b="b"/>
                          <a:pathLst>
                            <a:path w="148" h="66">
                              <a:moveTo>
                                <a:pt x="0" y="31"/>
                              </a:moveTo>
                              <a:lnTo>
                                <a:pt x="37" y="66"/>
                              </a:lnTo>
                              <a:lnTo>
                                <a:pt x="148" y="34"/>
                              </a:lnTo>
                              <a:lnTo>
                                <a:pt x="113" y="0"/>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grpSp>
        <p:grpSp>
          <p:nvGrpSpPr>
            <p:cNvPr id="642263" name="Group 215"/>
            <p:cNvGrpSpPr/>
            <p:nvPr/>
          </p:nvGrpSpPr>
          <p:grpSpPr bwMode="auto">
            <a:xfrm>
              <a:off x="2358" y="3018"/>
              <a:ext cx="168" cy="199"/>
              <a:chOff x="2358" y="3018"/>
              <a:chExt cx="168" cy="199"/>
            </a:xfrm>
          </p:grpSpPr>
          <p:grpSp>
            <p:nvGrpSpPr>
              <p:cNvPr id="642264" name="Group 216"/>
              <p:cNvGrpSpPr/>
              <p:nvPr/>
            </p:nvGrpSpPr>
            <p:grpSpPr bwMode="auto">
              <a:xfrm>
                <a:off x="2358" y="3075"/>
                <a:ext cx="168" cy="142"/>
                <a:chOff x="2358" y="3075"/>
                <a:chExt cx="168" cy="142"/>
              </a:xfrm>
            </p:grpSpPr>
            <p:grpSp>
              <p:nvGrpSpPr>
                <p:cNvPr id="642265" name="Group 217"/>
                <p:cNvGrpSpPr/>
                <p:nvPr/>
              </p:nvGrpSpPr>
              <p:grpSpPr bwMode="auto">
                <a:xfrm>
                  <a:off x="2451" y="3129"/>
                  <a:ext cx="56" cy="62"/>
                  <a:chOff x="2451" y="3129"/>
                  <a:chExt cx="56" cy="62"/>
                </a:xfrm>
              </p:grpSpPr>
              <p:sp>
                <p:nvSpPr>
                  <p:cNvPr id="642266" name="Freeform 218"/>
                  <p:cNvSpPr/>
                  <p:nvPr/>
                </p:nvSpPr>
                <p:spPr bwMode="auto">
                  <a:xfrm>
                    <a:off x="2458" y="3129"/>
                    <a:ext cx="48" cy="31"/>
                  </a:xfrm>
                  <a:custGeom>
                    <a:avLst/>
                    <a:gdLst>
                      <a:gd name="T0" fmla="*/ 334 w 334"/>
                      <a:gd name="T1" fmla="*/ 49 h 252"/>
                      <a:gd name="T2" fmla="*/ 320 w 334"/>
                      <a:gd name="T3" fmla="*/ 104 h 252"/>
                      <a:gd name="T4" fmla="*/ 307 w 334"/>
                      <a:gd name="T5" fmla="*/ 122 h 252"/>
                      <a:gd name="T6" fmla="*/ 303 w 334"/>
                      <a:gd name="T7" fmla="*/ 129 h 252"/>
                      <a:gd name="T8" fmla="*/ 305 w 334"/>
                      <a:gd name="T9" fmla="*/ 145 h 252"/>
                      <a:gd name="T10" fmla="*/ 309 w 334"/>
                      <a:gd name="T11" fmla="*/ 160 h 252"/>
                      <a:gd name="T12" fmla="*/ 310 w 334"/>
                      <a:gd name="T13" fmla="*/ 177 h 252"/>
                      <a:gd name="T14" fmla="*/ 292 w 334"/>
                      <a:gd name="T15" fmla="*/ 204 h 252"/>
                      <a:gd name="T16" fmla="*/ 113 w 334"/>
                      <a:gd name="T17" fmla="*/ 167 h 252"/>
                      <a:gd name="T18" fmla="*/ 58 w 334"/>
                      <a:gd name="T19" fmla="*/ 209 h 252"/>
                      <a:gd name="T20" fmla="*/ 42 w 334"/>
                      <a:gd name="T21" fmla="*/ 227 h 252"/>
                      <a:gd name="T22" fmla="*/ 30 w 334"/>
                      <a:gd name="T23" fmla="*/ 245 h 252"/>
                      <a:gd name="T24" fmla="*/ 16 w 334"/>
                      <a:gd name="T25" fmla="*/ 252 h 252"/>
                      <a:gd name="T26" fmla="*/ 7 w 334"/>
                      <a:gd name="T27" fmla="*/ 251 h 252"/>
                      <a:gd name="T28" fmla="*/ 2 w 334"/>
                      <a:gd name="T29" fmla="*/ 246 h 252"/>
                      <a:gd name="T30" fmla="*/ 0 w 334"/>
                      <a:gd name="T31" fmla="*/ 236 h 252"/>
                      <a:gd name="T32" fmla="*/ 2 w 334"/>
                      <a:gd name="T33" fmla="*/ 224 h 252"/>
                      <a:gd name="T34" fmla="*/ 7 w 334"/>
                      <a:gd name="T35" fmla="*/ 215 h 252"/>
                      <a:gd name="T36" fmla="*/ 22 w 334"/>
                      <a:gd name="T37" fmla="*/ 192 h 252"/>
                      <a:gd name="T38" fmla="*/ 33 w 334"/>
                      <a:gd name="T39" fmla="*/ 182 h 252"/>
                      <a:gd name="T40" fmla="*/ 46 w 334"/>
                      <a:gd name="T41" fmla="*/ 170 h 252"/>
                      <a:gd name="T42" fmla="*/ 59 w 334"/>
                      <a:gd name="T43" fmla="*/ 151 h 252"/>
                      <a:gd name="T44" fmla="*/ 69 w 334"/>
                      <a:gd name="T45" fmla="*/ 135 h 252"/>
                      <a:gd name="T46" fmla="*/ 80 w 334"/>
                      <a:gd name="T47" fmla="*/ 124 h 252"/>
                      <a:gd name="T48" fmla="*/ 91 w 334"/>
                      <a:gd name="T49" fmla="*/ 117 h 252"/>
                      <a:gd name="T50" fmla="*/ 125 w 334"/>
                      <a:gd name="T51" fmla="*/ 93 h 252"/>
                      <a:gd name="T52" fmla="*/ 153 w 334"/>
                      <a:gd name="T53" fmla="*/ 73 h 252"/>
                      <a:gd name="T54" fmla="*/ 178 w 334"/>
                      <a:gd name="T55" fmla="*/ 59 h 252"/>
                      <a:gd name="T56" fmla="*/ 197 w 334"/>
                      <a:gd name="T57" fmla="*/ 48 h 252"/>
                      <a:gd name="T58" fmla="*/ 193 w 334"/>
                      <a:gd name="T59" fmla="*/ 37 h 252"/>
                      <a:gd name="T60" fmla="*/ 197 w 334"/>
                      <a:gd name="T61" fmla="*/ 23 h 252"/>
                      <a:gd name="T62" fmla="*/ 221 w 334"/>
                      <a:gd name="T63" fmla="*/ 0 h 252"/>
                      <a:gd name="T64" fmla="*/ 334 w 334"/>
                      <a:gd name="T65" fmla="*/ 49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4" h="252">
                        <a:moveTo>
                          <a:pt x="334" y="49"/>
                        </a:moveTo>
                        <a:lnTo>
                          <a:pt x="320" y="104"/>
                        </a:lnTo>
                        <a:lnTo>
                          <a:pt x="307" y="122"/>
                        </a:lnTo>
                        <a:lnTo>
                          <a:pt x="303" y="129"/>
                        </a:lnTo>
                        <a:lnTo>
                          <a:pt x="305" y="145"/>
                        </a:lnTo>
                        <a:lnTo>
                          <a:pt x="309" y="160"/>
                        </a:lnTo>
                        <a:lnTo>
                          <a:pt x="310" y="177"/>
                        </a:lnTo>
                        <a:lnTo>
                          <a:pt x="292" y="204"/>
                        </a:lnTo>
                        <a:lnTo>
                          <a:pt x="113" y="167"/>
                        </a:lnTo>
                        <a:lnTo>
                          <a:pt x="58" y="209"/>
                        </a:lnTo>
                        <a:lnTo>
                          <a:pt x="42" y="227"/>
                        </a:lnTo>
                        <a:lnTo>
                          <a:pt x="30" y="245"/>
                        </a:lnTo>
                        <a:lnTo>
                          <a:pt x="16" y="252"/>
                        </a:lnTo>
                        <a:lnTo>
                          <a:pt x="7" y="251"/>
                        </a:lnTo>
                        <a:lnTo>
                          <a:pt x="2" y="246"/>
                        </a:lnTo>
                        <a:lnTo>
                          <a:pt x="0" y="236"/>
                        </a:lnTo>
                        <a:lnTo>
                          <a:pt x="2" y="224"/>
                        </a:lnTo>
                        <a:lnTo>
                          <a:pt x="7" y="215"/>
                        </a:lnTo>
                        <a:lnTo>
                          <a:pt x="22" y="192"/>
                        </a:lnTo>
                        <a:lnTo>
                          <a:pt x="33" y="182"/>
                        </a:lnTo>
                        <a:lnTo>
                          <a:pt x="46" y="170"/>
                        </a:lnTo>
                        <a:lnTo>
                          <a:pt x="59" y="151"/>
                        </a:lnTo>
                        <a:lnTo>
                          <a:pt x="69" y="135"/>
                        </a:lnTo>
                        <a:lnTo>
                          <a:pt x="80" y="124"/>
                        </a:lnTo>
                        <a:lnTo>
                          <a:pt x="91" y="117"/>
                        </a:lnTo>
                        <a:lnTo>
                          <a:pt x="125" y="93"/>
                        </a:lnTo>
                        <a:lnTo>
                          <a:pt x="153" y="73"/>
                        </a:lnTo>
                        <a:lnTo>
                          <a:pt x="178" y="59"/>
                        </a:lnTo>
                        <a:lnTo>
                          <a:pt x="197" y="48"/>
                        </a:lnTo>
                        <a:lnTo>
                          <a:pt x="193" y="37"/>
                        </a:lnTo>
                        <a:lnTo>
                          <a:pt x="197" y="23"/>
                        </a:lnTo>
                        <a:lnTo>
                          <a:pt x="221" y="0"/>
                        </a:lnTo>
                        <a:lnTo>
                          <a:pt x="334" y="4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7" name="Freeform 219"/>
                  <p:cNvSpPr/>
                  <p:nvPr/>
                </p:nvSpPr>
                <p:spPr bwMode="auto">
                  <a:xfrm>
                    <a:off x="2451" y="3140"/>
                    <a:ext cx="56" cy="51"/>
                  </a:xfrm>
                  <a:custGeom>
                    <a:avLst/>
                    <a:gdLst>
                      <a:gd name="T0" fmla="*/ 0 w 389"/>
                      <a:gd name="T1" fmla="*/ 301 h 409"/>
                      <a:gd name="T2" fmla="*/ 22 w 389"/>
                      <a:gd name="T3" fmla="*/ 275 h 409"/>
                      <a:gd name="T4" fmla="*/ 42 w 389"/>
                      <a:gd name="T5" fmla="*/ 259 h 409"/>
                      <a:gd name="T6" fmla="*/ 81 w 389"/>
                      <a:gd name="T7" fmla="*/ 232 h 409"/>
                      <a:gd name="T8" fmla="*/ 80 w 389"/>
                      <a:gd name="T9" fmla="*/ 204 h 409"/>
                      <a:gd name="T10" fmla="*/ 79 w 389"/>
                      <a:gd name="T11" fmla="*/ 171 h 409"/>
                      <a:gd name="T12" fmla="*/ 81 w 389"/>
                      <a:gd name="T13" fmla="*/ 142 h 409"/>
                      <a:gd name="T14" fmla="*/ 84 w 389"/>
                      <a:gd name="T15" fmla="*/ 112 h 409"/>
                      <a:gd name="T16" fmla="*/ 89 w 389"/>
                      <a:gd name="T17" fmla="*/ 102 h 409"/>
                      <a:gd name="T18" fmla="*/ 99 w 389"/>
                      <a:gd name="T19" fmla="*/ 94 h 409"/>
                      <a:gd name="T20" fmla="*/ 113 w 389"/>
                      <a:gd name="T21" fmla="*/ 84 h 409"/>
                      <a:gd name="T22" fmla="*/ 127 w 389"/>
                      <a:gd name="T23" fmla="*/ 74 h 409"/>
                      <a:gd name="T24" fmla="*/ 138 w 389"/>
                      <a:gd name="T25" fmla="*/ 62 h 409"/>
                      <a:gd name="T26" fmla="*/ 141 w 389"/>
                      <a:gd name="T27" fmla="*/ 52 h 409"/>
                      <a:gd name="T28" fmla="*/ 147 w 389"/>
                      <a:gd name="T29" fmla="*/ 43 h 409"/>
                      <a:gd name="T30" fmla="*/ 159 w 389"/>
                      <a:gd name="T31" fmla="*/ 18 h 409"/>
                      <a:gd name="T32" fmla="*/ 165 w 389"/>
                      <a:gd name="T33" fmla="*/ 14 h 409"/>
                      <a:gd name="T34" fmla="*/ 174 w 389"/>
                      <a:gd name="T35" fmla="*/ 12 h 409"/>
                      <a:gd name="T36" fmla="*/ 182 w 389"/>
                      <a:gd name="T37" fmla="*/ 14 h 409"/>
                      <a:gd name="T38" fmla="*/ 185 w 389"/>
                      <a:gd name="T39" fmla="*/ 22 h 409"/>
                      <a:gd name="T40" fmla="*/ 188 w 389"/>
                      <a:gd name="T41" fmla="*/ 38 h 409"/>
                      <a:gd name="T42" fmla="*/ 186 w 389"/>
                      <a:gd name="T43" fmla="*/ 57 h 409"/>
                      <a:gd name="T44" fmla="*/ 181 w 389"/>
                      <a:gd name="T45" fmla="*/ 73 h 409"/>
                      <a:gd name="T46" fmla="*/ 202 w 389"/>
                      <a:gd name="T47" fmla="*/ 45 h 409"/>
                      <a:gd name="T48" fmla="*/ 224 w 389"/>
                      <a:gd name="T49" fmla="*/ 22 h 409"/>
                      <a:gd name="T50" fmla="*/ 251 w 389"/>
                      <a:gd name="T51" fmla="*/ 5 h 409"/>
                      <a:gd name="T52" fmla="*/ 265 w 389"/>
                      <a:gd name="T53" fmla="*/ 0 h 409"/>
                      <a:gd name="T54" fmla="*/ 281 w 389"/>
                      <a:gd name="T55" fmla="*/ 3 h 409"/>
                      <a:gd name="T56" fmla="*/ 295 w 389"/>
                      <a:gd name="T57" fmla="*/ 8 h 409"/>
                      <a:gd name="T58" fmla="*/ 308 w 389"/>
                      <a:gd name="T59" fmla="*/ 14 h 409"/>
                      <a:gd name="T60" fmla="*/ 324 w 389"/>
                      <a:gd name="T61" fmla="*/ 22 h 409"/>
                      <a:gd name="T62" fmla="*/ 330 w 389"/>
                      <a:gd name="T63" fmla="*/ 29 h 409"/>
                      <a:gd name="T64" fmla="*/ 337 w 389"/>
                      <a:gd name="T65" fmla="*/ 41 h 409"/>
                      <a:gd name="T66" fmla="*/ 339 w 389"/>
                      <a:gd name="T67" fmla="*/ 56 h 409"/>
                      <a:gd name="T68" fmla="*/ 347 w 389"/>
                      <a:gd name="T69" fmla="*/ 62 h 409"/>
                      <a:gd name="T70" fmla="*/ 354 w 389"/>
                      <a:gd name="T71" fmla="*/ 70 h 409"/>
                      <a:gd name="T72" fmla="*/ 359 w 389"/>
                      <a:gd name="T73" fmla="*/ 86 h 409"/>
                      <a:gd name="T74" fmla="*/ 362 w 389"/>
                      <a:gd name="T75" fmla="*/ 97 h 409"/>
                      <a:gd name="T76" fmla="*/ 359 w 389"/>
                      <a:gd name="T77" fmla="*/ 107 h 409"/>
                      <a:gd name="T78" fmla="*/ 369 w 389"/>
                      <a:gd name="T79" fmla="*/ 112 h 409"/>
                      <a:gd name="T80" fmla="*/ 373 w 389"/>
                      <a:gd name="T81" fmla="*/ 120 h 409"/>
                      <a:gd name="T82" fmla="*/ 370 w 389"/>
                      <a:gd name="T83" fmla="*/ 135 h 409"/>
                      <a:gd name="T84" fmla="*/ 359 w 389"/>
                      <a:gd name="T85" fmla="*/ 150 h 409"/>
                      <a:gd name="T86" fmla="*/ 371 w 389"/>
                      <a:gd name="T87" fmla="*/ 166 h 409"/>
                      <a:gd name="T88" fmla="*/ 381 w 389"/>
                      <a:gd name="T89" fmla="*/ 181 h 409"/>
                      <a:gd name="T90" fmla="*/ 389 w 389"/>
                      <a:gd name="T91" fmla="*/ 204 h 409"/>
                      <a:gd name="T92" fmla="*/ 384 w 389"/>
                      <a:gd name="T93" fmla="*/ 210 h 409"/>
                      <a:gd name="T94" fmla="*/ 371 w 389"/>
                      <a:gd name="T95" fmla="*/ 211 h 409"/>
                      <a:gd name="T96" fmla="*/ 360 w 389"/>
                      <a:gd name="T97" fmla="*/ 202 h 409"/>
                      <a:gd name="T98" fmla="*/ 348 w 389"/>
                      <a:gd name="T99" fmla="*/ 197 h 409"/>
                      <a:gd name="T100" fmla="*/ 337 w 389"/>
                      <a:gd name="T101" fmla="*/ 196 h 409"/>
                      <a:gd name="T102" fmla="*/ 326 w 389"/>
                      <a:gd name="T103" fmla="*/ 198 h 409"/>
                      <a:gd name="T104" fmla="*/ 311 w 389"/>
                      <a:gd name="T105" fmla="*/ 212 h 409"/>
                      <a:gd name="T106" fmla="*/ 302 w 389"/>
                      <a:gd name="T107" fmla="*/ 231 h 409"/>
                      <a:gd name="T108" fmla="*/ 291 w 389"/>
                      <a:gd name="T109" fmla="*/ 255 h 409"/>
                      <a:gd name="T110" fmla="*/ 275 w 389"/>
                      <a:gd name="T111" fmla="*/ 273 h 409"/>
                      <a:gd name="T112" fmla="*/ 256 w 389"/>
                      <a:gd name="T113" fmla="*/ 283 h 409"/>
                      <a:gd name="T114" fmla="*/ 230 w 389"/>
                      <a:gd name="T115" fmla="*/ 305 h 409"/>
                      <a:gd name="T116" fmla="*/ 209 w 389"/>
                      <a:gd name="T117" fmla="*/ 323 h 409"/>
                      <a:gd name="T118" fmla="*/ 168 w 389"/>
                      <a:gd name="T119" fmla="*/ 349 h 409"/>
                      <a:gd name="T120" fmla="*/ 71 w 389"/>
                      <a:gd name="T121" fmla="*/ 409 h 409"/>
                      <a:gd name="T122" fmla="*/ 0 w 389"/>
                      <a:gd name="T123" fmla="*/ 301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89" h="409">
                        <a:moveTo>
                          <a:pt x="0" y="301"/>
                        </a:moveTo>
                        <a:lnTo>
                          <a:pt x="22" y="275"/>
                        </a:lnTo>
                        <a:lnTo>
                          <a:pt x="42" y="259"/>
                        </a:lnTo>
                        <a:lnTo>
                          <a:pt x="81" y="232"/>
                        </a:lnTo>
                        <a:lnTo>
                          <a:pt x="80" y="204"/>
                        </a:lnTo>
                        <a:lnTo>
                          <a:pt x="79" y="171"/>
                        </a:lnTo>
                        <a:lnTo>
                          <a:pt x="81" y="142"/>
                        </a:lnTo>
                        <a:lnTo>
                          <a:pt x="84" y="112"/>
                        </a:lnTo>
                        <a:lnTo>
                          <a:pt x="89" y="102"/>
                        </a:lnTo>
                        <a:lnTo>
                          <a:pt x="99" y="94"/>
                        </a:lnTo>
                        <a:lnTo>
                          <a:pt x="113" y="84"/>
                        </a:lnTo>
                        <a:lnTo>
                          <a:pt x="127" y="74"/>
                        </a:lnTo>
                        <a:lnTo>
                          <a:pt x="138" y="62"/>
                        </a:lnTo>
                        <a:lnTo>
                          <a:pt x="141" y="52"/>
                        </a:lnTo>
                        <a:lnTo>
                          <a:pt x="147" y="43"/>
                        </a:lnTo>
                        <a:lnTo>
                          <a:pt x="159" y="18"/>
                        </a:lnTo>
                        <a:lnTo>
                          <a:pt x="165" y="14"/>
                        </a:lnTo>
                        <a:lnTo>
                          <a:pt x="174" y="12"/>
                        </a:lnTo>
                        <a:lnTo>
                          <a:pt x="182" y="14"/>
                        </a:lnTo>
                        <a:lnTo>
                          <a:pt x="185" y="22"/>
                        </a:lnTo>
                        <a:lnTo>
                          <a:pt x="188" y="38"/>
                        </a:lnTo>
                        <a:lnTo>
                          <a:pt x="186" y="57"/>
                        </a:lnTo>
                        <a:lnTo>
                          <a:pt x="181" y="73"/>
                        </a:lnTo>
                        <a:lnTo>
                          <a:pt x="202" y="45"/>
                        </a:lnTo>
                        <a:lnTo>
                          <a:pt x="224" y="22"/>
                        </a:lnTo>
                        <a:lnTo>
                          <a:pt x="251" y="5"/>
                        </a:lnTo>
                        <a:lnTo>
                          <a:pt x="265" y="0"/>
                        </a:lnTo>
                        <a:lnTo>
                          <a:pt x="281" y="3"/>
                        </a:lnTo>
                        <a:lnTo>
                          <a:pt x="295" y="8"/>
                        </a:lnTo>
                        <a:lnTo>
                          <a:pt x="308" y="14"/>
                        </a:lnTo>
                        <a:lnTo>
                          <a:pt x="324" y="22"/>
                        </a:lnTo>
                        <a:lnTo>
                          <a:pt x="330" y="29"/>
                        </a:lnTo>
                        <a:lnTo>
                          <a:pt x="337" y="41"/>
                        </a:lnTo>
                        <a:lnTo>
                          <a:pt x="339" y="56"/>
                        </a:lnTo>
                        <a:lnTo>
                          <a:pt x="347" y="62"/>
                        </a:lnTo>
                        <a:lnTo>
                          <a:pt x="354" y="70"/>
                        </a:lnTo>
                        <a:lnTo>
                          <a:pt x="359" y="86"/>
                        </a:lnTo>
                        <a:lnTo>
                          <a:pt x="362" y="97"/>
                        </a:lnTo>
                        <a:lnTo>
                          <a:pt x="359" y="107"/>
                        </a:lnTo>
                        <a:lnTo>
                          <a:pt x="369" y="112"/>
                        </a:lnTo>
                        <a:lnTo>
                          <a:pt x="373" y="120"/>
                        </a:lnTo>
                        <a:lnTo>
                          <a:pt x="370" y="135"/>
                        </a:lnTo>
                        <a:lnTo>
                          <a:pt x="359" y="150"/>
                        </a:lnTo>
                        <a:lnTo>
                          <a:pt x="371" y="166"/>
                        </a:lnTo>
                        <a:lnTo>
                          <a:pt x="381" y="181"/>
                        </a:lnTo>
                        <a:lnTo>
                          <a:pt x="389" y="204"/>
                        </a:lnTo>
                        <a:lnTo>
                          <a:pt x="384" y="210"/>
                        </a:lnTo>
                        <a:lnTo>
                          <a:pt x="371" y="211"/>
                        </a:lnTo>
                        <a:lnTo>
                          <a:pt x="360" y="202"/>
                        </a:lnTo>
                        <a:lnTo>
                          <a:pt x="348" y="197"/>
                        </a:lnTo>
                        <a:lnTo>
                          <a:pt x="337" y="196"/>
                        </a:lnTo>
                        <a:lnTo>
                          <a:pt x="326" y="198"/>
                        </a:lnTo>
                        <a:lnTo>
                          <a:pt x="311" y="212"/>
                        </a:lnTo>
                        <a:lnTo>
                          <a:pt x="302" y="231"/>
                        </a:lnTo>
                        <a:lnTo>
                          <a:pt x="291" y="255"/>
                        </a:lnTo>
                        <a:lnTo>
                          <a:pt x="275" y="273"/>
                        </a:lnTo>
                        <a:lnTo>
                          <a:pt x="256" y="283"/>
                        </a:lnTo>
                        <a:lnTo>
                          <a:pt x="230" y="305"/>
                        </a:lnTo>
                        <a:lnTo>
                          <a:pt x="209" y="323"/>
                        </a:lnTo>
                        <a:lnTo>
                          <a:pt x="168" y="349"/>
                        </a:lnTo>
                        <a:lnTo>
                          <a:pt x="71" y="409"/>
                        </a:lnTo>
                        <a:lnTo>
                          <a:pt x="0" y="301"/>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8" name="Freeform 220"/>
                  <p:cNvSpPr/>
                  <p:nvPr/>
                </p:nvSpPr>
                <p:spPr bwMode="auto">
                  <a:xfrm>
                    <a:off x="2455" y="3148"/>
                    <a:ext cx="26" cy="40"/>
                  </a:xfrm>
                  <a:custGeom>
                    <a:avLst/>
                    <a:gdLst>
                      <a:gd name="T0" fmla="*/ 88 w 185"/>
                      <a:gd name="T1" fmla="*/ 67 h 319"/>
                      <a:gd name="T2" fmla="*/ 96 w 185"/>
                      <a:gd name="T3" fmla="*/ 55 h 319"/>
                      <a:gd name="T4" fmla="*/ 113 w 185"/>
                      <a:gd name="T5" fmla="*/ 49 h 319"/>
                      <a:gd name="T6" fmla="*/ 128 w 185"/>
                      <a:gd name="T7" fmla="*/ 38 h 319"/>
                      <a:gd name="T8" fmla="*/ 140 w 185"/>
                      <a:gd name="T9" fmla="*/ 24 h 319"/>
                      <a:gd name="T10" fmla="*/ 156 w 185"/>
                      <a:gd name="T11" fmla="*/ 0 h 319"/>
                      <a:gd name="T12" fmla="*/ 139 w 185"/>
                      <a:gd name="T13" fmla="*/ 33 h 319"/>
                      <a:gd name="T14" fmla="*/ 129 w 185"/>
                      <a:gd name="T15" fmla="*/ 46 h 319"/>
                      <a:gd name="T16" fmla="*/ 117 w 185"/>
                      <a:gd name="T17" fmla="*/ 65 h 319"/>
                      <a:gd name="T18" fmla="*/ 109 w 185"/>
                      <a:gd name="T19" fmla="*/ 82 h 319"/>
                      <a:gd name="T20" fmla="*/ 105 w 185"/>
                      <a:gd name="T21" fmla="*/ 104 h 319"/>
                      <a:gd name="T22" fmla="*/ 112 w 185"/>
                      <a:gd name="T23" fmla="*/ 119 h 319"/>
                      <a:gd name="T24" fmla="*/ 129 w 185"/>
                      <a:gd name="T25" fmla="*/ 121 h 319"/>
                      <a:gd name="T26" fmla="*/ 147 w 185"/>
                      <a:gd name="T27" fmla="*/ 118 h 319"/>
                      <a:gd name="T28" fmla="*/ 166 w 185"/>
                      <a:gd name="T29" fmla="*/ 114 h 319"/>
                      <a:gd name="T30" fmla="*/ 172 w 185"/>
                      <a:gd name="T31" fmla="*/ 125 h 319"/>
                      <a:gd name="T32" fmla="*/ 175 w 185"/>
                      <a:gd name="T33" fmla="*/ 141 h 319"/>
                      <a:gd name="T34" fmla="*/ 170 w 185"/>
                      <a:gd name="T35" fmla="*/ 156 h 319"/>
                      <a:gd name="T36" fmla="*/ 161 w 185"/>
                      <a:gd name="T37" fmla="*/ 174 h 319"/>
                      <a:gd name="T38" fmla="*/ 166 w 185"/>
                      <a:gd name="T39" fmla="*/ 185 h 319"/>
                      <a:gd name="T40" fmla="*/ 173 w 185"/>
                      <a:gd name="T41" fmla="*/ 196 h 319"/>
                      <a:gd name="T42" fmla="*/ 185 w 185"/>
                      <a:gd name="T43" fmla="*/ 204 h 319"/>
                      <a:gd name="T44" fmla="*/ 170 w 185"/>
                      <a:gd name="T45" fmla="*/ 205 h 319"/>
                      <a:gd name="T46" fmla="*/ 158 w 185"/>
                      <a:gd name="T47" fmla="*/ 208 h 319"/>
                      <a:gd name="T48" fmla="*/ 144 w 185"/>
                      <a:gd name="T49" fmla="*/ 216 h 319"/>
                      <a:gd name="T50" fmla="*/ 139 w 185"/>
                      <a:gd name="T51" fmla="*/ 230 h 319"/>
                      <a:gd name="T52" fmla="*/ 140 w 185"/>
                      <a:gd name="T53" fmla="*/ 247 h 319"/>
                      <a:gd name="T54" fmla="*/ 143 w 185"/>
                      <a:gd name="T55" fmla="*/ 266 h 319"/>
                      <a:gd name="T56" fmla="*/ 147 w 185"/>
                      <a:gd name="T57" fmla="*/ 282 h 319"/>
                      <a:gd name="T58" fmla="*/ 91 w 185"/>
                      <a:gd name="T59" fmla="*/ 319 h 319"/>
                      <a:gd name="T60" fmla="*/ 24 w 185"/>
                      <a:gd name="T61" fmla="*/ 246 h 319"/>
                      <a:gd name="T62" fmla="*/ 0 w 185"/>
                      <a:gd name="T63" fmla="*/ 204 h 319"/>
                      <a:gd name="T64" fmla="*/ 31 w 185"/>
                      <a:gd name="T65" fmla="*/ 182 h 319"/>
                      <a:gd name="T66" fmla="*/ 59 w 185"/>
                      <a:gd name="T67" fmla="*/ 163 h 319"/>
                      <a:gd name="T68" fmla="*/ 68 w 185"/>
                      <a:gd name="T69" fmla="*/ 148 h 319"/>
                      <a:gd name="T70" fmla="*/ 73 w 185"/>
                      <a:gd name="T71" fmla="*/ 118 h 319"/>
                      <a:gd name="T72" fmla="*/ 76 w 185"/>
                      <a:gd name="T73" fmla="*/ 87 h 319"/>
                      <a:gd name="T74" fmla="*/ 88 w 185"/>
                      <a:gd name="T75" fmla="*/ 67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5" h="319">
                        <a:moveTo>
                          <a:pt x="88" y="67"/>
                        </a:moveTo>
                        <a:lnTo>
                          <a:pt x="96" y="55"/>
                        </a:lnTo>
                        <a:lnTo>
                          <a:pt x="113" y="49"/>
                        </a:lnTo>
                        <a:lnTo>
                          <a:pt x="128" y="38"/>
                        </a:lnTo>
                        <a:lnTo>
                          <a:pt x="140" y="24"/>
                        </a:lnTo>
                        <a:lnTo>
                          <a:pt x="156" y="0"/>
                        </a:lnTo>
                        <a:lnTo>
                          <a:pt x="139" y="33"/>
                        </a:lnTo>
                        <a:lnTo>
                          <a:pt x="129" y="46"/>
                        </a:lnTo>
                        <a:lnTo>
                          <a:pt x="117" y="65"/>
                        </a:lnTo>
                        <a:lnTo>
                          <a:pt x="109" y="82"/>
                        </a:lnTo>
                        <a:lnTo>
                          <a:pt x="105" y="104"/>
                        </a:lnTo>
                        <a:lnTo>
                          <a:pt x="112" y="119"/>
                        </a:lnTo>
                        <a:lnTo>
                          <a:pt x="129" y="121"/>
                        </a:lnTo>
                        <a:lnTo>
                          <a:pt x="147" y="118"/>
                        </a:lnTo>
                        <a:lnTo>
                          <a:pt x="166" y="114"/>
                        </a:lnTo>
                        <a:lnTo>
                          <a:pt x="172" y="125"/>
                        </a:lnTo>
                        <a:lnTo>
                          <a:pt x="175" y="141"/>
                        </a:lnTo>
                        <a:lnTo>
                          <a:pt x="170" y="156"/>
                        </a:lnTo>
                        <a:lnTo>
                          <a:pt x="161" y="174"/>
                        </a:lnTo>
                        <a:lnTo>
                          <a:pt x="166" y="185"/>
                        </a:lnTo>
                        <a:lnTo>
                          <a:pt x="173" y="196"/>
                        </a:lnTo>
                        <a:lnTo>
                          <a:pt x="185" y="204"/>
                        </a:lnTo>
                        <a:lnTo>
                          <a:pt x="170" y="205"/>
                        </a:lnTo>
                        <a:lnTo>
                          <a:pt x="158" y="208"/>
                        </a:lnTo>
                        <a:lnTo>
                          <a:pt x="144" y="216"/>
                        </a:lnTo>
                        <a:lnTo>
                          <a:pt x="139" y="230"/>
                        </a:lnTo>
                        <a:lnTo>
                          <a:pt x="140" y="247"/>
                        </a:lnTo>
                        <a:lnTo>
                          <a:pt x="143" y="266"/>
                        </a:lnTo>
                        <a:lnTo>
                          <a:pt x="147" y="282"/>
                        </a:lnTo>
                        <a:lnTo>
                          <a:pt x="91" y="319"/>
                        </a:lnTo>
                        <a:lnTo>
                          <a:pt x="24" y="246"/>
                        </a:lnTo>
                        <a:lnTo>
                          <a:pt x="0" y="204"/>
                        </a:lnTo>
                        <a:lnTo>
                          <a:pt x="31" y="182"/>
                        </a:lnTo>
                        <a:lnTo>
                          <a:pt x="59" y="163"/>
                        </a:lnTo>
                        <a:lnTo>
                          <a:pt x="68" y="148"/>
                        </a:lnTo>
                        <a:lnTo>
                          <a:pt x="73" y="118"/>
                        </a:lnTo>
                        <a:lnTo>
                          <a:pt x="76" y="87"/>
                        </a:lnTo>
                        <a:lnTo>
                          <a:pt x="88" y="6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9" name="Freeform 221"/>
                  <p:cNvSpPr/>
                  <p:nvPr/>
                </p:nvSpPr>
                <p:spPr bwMode="auto">
                  <a:xfrm>
                    <a:off x="2491" y="3157"/>
                    <a:ext cx="12" cy="5"/>
                  </a:xfrm>
                  <a:custGeom>
                    <a:avLst/>
                    <a:gdLst>
                      <a:gd name="T0" fmla="*/ 79 w 79"/>
                      <a:gd name="T1" fmla="*/ 12 h 41"/>
                      <a:gd name="T2" fmla="*/ 61 w 79"/>
                      <a:gd name="T3" fmla="*/ 9 h 41"/>
                      <a:gd name="T4" fmla="*/ 46 w 79"/>
                      <a:gd name="T5" fmla="*/ 10 h 41"/>
                      <a:gd name="T6" fmla="*/ 29 w 79"/>
                      <a:gd name="T7" fmla="*/ 20 h 41"/>
                      <a:gd name="T8" fmla="*/ 0 w 79"/>
                      <a:gd name="T9" fmla="*/ 41 h 41"/>
                      <a:gd name="T10" fmla="*/ 16 w 79"/>
                      <a:gd name="T11" fmla="*/ 25 h 41"/>
                      <a:gd name="T12" fmla="*/ 30 w 79"/>
                      <a:gd name="T13" fmla="*/ 11 h 41"/>
                      <a:gd name="T14" fmla="*/ 47 w 79"/>
                      <a:gd name="T15" fmla="*/ 1 h 41"/>
                      <a:gd name="T16" fmla="*/ 59 w 79"/>
                      <a:gd name="T17" fmla="*/ 0 h 41"/>
                      <a:gd name="T18" fmla="*/ 73 w 79"/>
                      <a:gd name="T19" fmla="*/ 4 h 41"/>
                      <a:gd name="T20" fmla="*/ 79 w 79"/>
                      <a:gd name="T21"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41">
                        <a:moveTo>
                          <a:pt x="79" y="12"/>
                        </a:moveTo>
                        <a:lnTo>
                          <a:pt x="61" y="9"/>
                        </a:lnTo>
                        <a:lnTo>
                          <a:pt x="46" y="10"/>
                        </a:lnTo>
                        <a:lnTo>
                          <a:pt x="29" y="20"/>
                        </a:lnTo>
                        <a:lnTo>
                          <a:pt x="0" y="41"/>
                        </a:lnTo>
                        <a:lnTo>
                          <a:pt x="16" y="25"/>
                        </a:lnTo>
                        <a:lnTo>
                          <a:pt x="30" y="11"/>
                        </a:lnTo>
                        <a:lnTo>
                          <a:pt x="47" y="1"/>
                        </a:lnTo>
                        <a:lnTo>
                          <a:pt x="59" y="0"/>
                        </a:lnTo>
                        <a:lnTo>
                          <a:pt x="73" y="4"/>
                        </a:lnTo>
                        <a:lnTo>
                          <a:pt x="79" y="1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0" name="Freeform 222"/>
                  <p:cNvSpPr/>
                  <p:nvPr/>
                </p:nvSpPr>
                <p:spPr bwMode="auto">
                  <a:xfrm>
                    <a:off x="2489" y="3152"/>
                    <a:ext cx="14" cy="5"/>
                  </a:xfrm>
                  <a:custGeom>
                    <a:avLst/>
                    <a:gdLst>
                      <a:gd name="T0" fmla="*/ 93 w 93"/>
                      <a:gd name="T1" fmla="*/ 13 h 39"/>
                      <a:gd name="T2" fmla="*/ 77 w 93"/>
                      <a:gd name="T3" fmla="*/ 8 h 39"/>
                      <a:gd name="T4" fmla="*/ 61 w 93"/>
                      <a:gd name="T5" fmla="*/ 5 h 39"/>
                      <a:gd name="T6" fmla="*/ 42 w 93"/>
                      <a:gd name="T7" fmla="*/ 11 h 39"/>
                      <a:gd name="T8" fmla="*/ 15 w 93"/>
                      <a:gd name="T9" fmla="*/ 31 h 39"/>
                      <a:gd name="T10" fmla="*/ 0 w 93"/>
                      <a:gd name="T11" fmla="*/ 39 h 39"/>
                      <a:gd name="T12" fmla="*/ 21 w 93"/>
                      <a:gd name="T13" fmla="*/ 24 h 39"/>
                      <a:gd name="T14" fmla="*/ 34 w 93"/>
                      <a:gd name="T15" fmla="*/ 11 h 39"/>
                      <a:gd name="T16" fmla="*/ 45 w 93"/>
                      <a:gd name="T17" fmla="*/ 5 h 39"/>
                      <a:gd name="T18" fmla="*/ 59 w 93"/>
                      <a:gd name="T19" fmla="*/ 0 h 39"/>
                      <a:gd name="T20" fmla="*/ 71 w 93"/>
                      <a:gd name="T21" fmla="*/ 1 h 39"/>
                      <a:gd name="T22" fmla="*/ 93 w 93"/>
                      <a:gd name="T23" fmla="*/ 1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 h="39">
                        <a:moveTo>
                          <a:pt x="93" y="13"/>
                        </a:moveTo>
                        <a:lnTo>
                          <a:pt x="77" y="8"/>
                        </a:lnTo>
                        <a:lnTo>
                          <a:pt x="61" y="5"/>
                        </a:lnTo>
                        <a:lnTo>
                          <a:pt x="42" y="11"/>
                        </a:lnTo>
                        <a:lnTo>
                          <a:pt x="15" y="31"/>
                        </a:lnTo>
                        <a:lnTo>
                          <a:pt x="0" y="39"/>
                        </a:lnTo>
                        <a:lnTo>
                          <a:pt x="21" y="24"/>
                        </a:lnTo>
                        <a:lnTo>
                          <a:pt x="34" y="11"/>
                        </a:lnTo>
                        <a:lnTo>
                          <a:pt x="45" y="5"/>
                        </a:lnTo>
                        <a:lnTo>
                          <a:pt x="59" y="0"/>
                        </a:lnTo>
                        <a:lnTo>
                          <a:pt x="71" y="1"/>
                        </a:lnTo>
                        <a:lnTo>
                          <a:pt x="93" y="1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1" name="Freeform 223"/>
                  <p:cNvSpPr/>
                  <p:nvPr/>
                </p:nvSpPr>
                <p:spPr bwMode="auto">
                  <a:xfrm>
                    <a:off x="2486" y="3145"/>
                    <a:ext cx="14" cy="8"/>
                  </a:xfrm>
                  <a:custGeom>
                    <a:avLst/>
                    <a:gdLst>
                      <a:gd name="T0" fmla="*/ 93 w 93"/>
                      <a:gd name="T1" fmla="*/ 17 h 64"/>
                      <a:gd name="T2" fmla="*/ 82 w 93"/>
                      <a:gd name="T3" fmla="*/ 20 h 64"/>
                      <a:gd name="T4" fmla="*/ 73 w 93"/>
                      <a:gd name="T5" fmla="*/ 20 h 64"/>
                      <a:gd name="T6" fmla="*/ 63 w 93"/>
                      <a:gd name="T7" fmla="*/ 17 h 64"/>
                      <a:gd name="T8" fmla="*/ 55 w 93"/>
                      <a:gd name="T9" fmla="*/ 8 h 64"/>
                      <a:gd name="T10" fmla="*/ 36 w 93"/>
                      <a:gd name="T11" fmla="*/ 20 h 64"/>
                      <a:gd name="T12" fmla="*/ 24 w 93"/>
                      <a:gd name="T13" fmla="*/ 32 h 64"/>
                      <a:gd name="T14" fmla="*/ 10 w 93"/>
                      <a:gd name="T15" fmla="*/ 49 h 64"/>
                      <a:gd name="T16" fmla="*/ 0 w 93"/>
                      <a:gd name="T17" fmla="*/ 64 h 64"/>
                      <a:gd name="T18" fmla="*/ 12 w 93"/>
                      <a:gd name="T19" fmla="*/ 40 h 64"/>
                      <a:gd name="T20" fmla="*/ 27 w 93"/>
                      <a:gd name="T21" fmla="*/ 20 h 64"/>
                      <a:gd name="T22" fmla="*/ 39 w 93"/>
                      <a:gd name="T23" fmla="*/ 8 h 64"/>
                      <a:gd name="T24" fmla="*/ 51 w 93"/>
                      <a:gd name="T25" fmla="*/ 3 h 64"/>
                      <a:gd name="T26" fmla="*/ 57 w 93"/>
                      <a:gd name="T27" fmla="*/ 0 h 64"/>
                      <a:gd name="T28" fmla="*/ 66 w 93"/>
                      <a:gd name="T29" fmla="*/ 9 h 64"/>
                      <a:gd name="T30" fmla="*/ 73 w 93"/>
                      <a:gd name="T31" fmla="*/ 14 h 64"/>
                      <a:gd name="T32" fmla="*/ 82 w 93"/>
                      <a:gd name="T33" fmla="*/ 17 h 64"/>
                      <a:gd name="T34" fmla="*/ 93 w 93"/>
                      <a:gd name="T35" fmla="*/ 1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64">
                        <a:moveTo>
                          <a:pt x="93" y="17"/>
                        </a:moveTo>
                        <a:lnTo>
                          <a:pt x="82" y="20"/>
                        </a:lnTo>
                        <a:lnTo>
                          <a:pt x="73" y="20"/>
                        </a:lnTo>
                        <a:lnTo>
                          <a:pt x="63" y="17"/>
                        </a:lnTo>
                        <a:lnTo>
                          <a:pt x="55" y="8"/>
                        </a:lnTo>
                        <a:lnTo>
                          <a:pt x="36" y="20"/>
                        </a:lnTo>
                        <a:lnTo>
                          <a:pt x="24" y="32"/>
                        </a:lnTo>
                        <a:lnTo>
                          <a:pt x="10" y="49"/>
                        </a:lnTo>
                        <a:lnTo>
                          <a:pt x="0" y="64"/>
                        </a:lnTo>
                        <a:lnTo>
                          <a:pt x="12" y="40"/>
                        </a:lnTo>
                        <a:lnTo>
                          <a:pt x="27" y="20"/>
                        </a:lnTo>
                        <a:lnTo>
                          <a:pt x="39" y="8"/>
                        </a:lnTo>
                        <a:lnTo>
                          <a:pt x="51" y="3"/>
                        </a:lnTo>
                        <a:lnTo>
                          <a:pt x="57" y="0"/>
                        </a:lnTo>
                        <a:lnTo>
                          <a:pt x="66" y="9"/>
                        </a:lnTo>
                        <a:lnTo>
                          <a:pt x="73" y="14"/>
                        </a:lnTo>
                        <a:lnTo>
                          <a:pt x="82" y="17"/>
                        </a:lnTo>
                        <a:lnTo>
                          <a:pt x="93" y="1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72" name="Group 224"/>
                <p:cNvGrpSpPr/>
                <p:nvPr/>
              </p:nvGrpSpPr>
              <p:grpSpPr bwMode="auto">
                <a:xfrm>
                  <a:off x="2358" y="3075"/>
                  <a:ext cx="168" cy="142"/>
                  <a:chOff x="2358" y="3075"/>
                  <a:chExt cx="168" cy="142"/>
                </a:xfrm>
              </p:grpSpPr>
              <p:grpSp>
                <p:nvGrpSpPr>
                  <p:cNvPr id="642273" name="Group 225"/>
                  <p:cNvGrpSpPr/>
                  <p:nvPr/>
                </p:nvGrpSpPr>
                <p:grpSpPr bwMode="auto">
                  <a:xfrm>
                    <a:off x="2358" y="3075"/>
                    <a:ext cx="168" cy="142"/>
                    <a:chOff x="2358" y="3075"/>
                    <a:chExt cx="168" cy="142"/>
                  </a:xfrm>
                </p:grpSpPr>
                <p:sp>
                  <p:nvSpPr>
                    <p:cNvPr id="642274" name="Freeform 226"/>
                    <p:cNvSpPr/>
                    <p:nvPr/>
                  </p:nvSpPr>
                  <p:spPr bwMode="auto">
                    <a:xfrm>
                      <a:off x="2358" y="3075"/>
                      <a:ext cx="168" cy="142"/>
                    </a:xfrm>
                    <a:custGeom>
                      <a:avLst/>
                      <a:gdLst>
                        <a:gd name="T0" fmla="*/ 314 w 1177"/>
                        <a:gd name="T1" fmla="*/ 24 h 1140"/>
                        <a:gd name="T2" fmla="*/ 275 w 1177"/>
                        <a:gd name="T3" fmla="*/ 40 h 1140"/>
                        <a:gd name="T4" fmla="*/ 218 w 1177"/>
                        <a:gd name="T5" fmla="*/ 85 h 1140"/>
                        <a:gd name="T6" fmla="*/ 165 w 1177"/>
                        <a:gd name="T7" fmla="*/ 149 h 1140"/>
                        <a:gd name="T8" fmla="*/ 119 w 1177"/>
                        <a:gd name="T9" fmla="*/ 202 h 1140"/>
                        <a:gd name="T10" fmla="*/ 77 w 1177"/>
                        <a:gd name="T11" fmla="*/ 267 h 1140"/>
                        <a:gd name="T12" fmla="*/ 43 w 1177"/>
                        <a:gd name="T13" fmla="*/ 354 h 1140"/>
                        <a:gd name="T14" fmla="*/ 32 w 1177"/>
                        <a:gd name="T15" fmla="*/ 397 h 1140"/>
                        <a:gd name="T16" fmla="*/ 25 w 1177"/>
                        <a:gd name="T17" fmla="*/ 458 h 1140"/>
                        <a:gd name="T18" fmla="*/ 12 w 1177"/>
                        <a:gd name="T19" fmla="*/ 504 h 1140"/>
                        <a:gd name="T20" fmla="*/ 0 w 1177"/>
                        <a:gd name="T21" fmla="*/ 569 h 1140"/>
                        <a:gd name="T22" fmla="*/ 2 w 1177"/>
                        <a:gd name="T23" fmla="*/ 695 h 1140"/>
                        <a:gd name="T24" fmla="*/ 4 w 1177"/>
                        <a:gd name="T25" fmla="*/ 809 h 1140"/>
                        <a:gd name="T26" fmla="*/ 14 w 1177"/>
                        <a:gd name="T27" fmla="*/ 852 h 1140"/>
                        <a:gd name="T28" fmla="*/ 13 w 1177"/>
                        <a:gd name="T29" fmla="*/ 944 h 1140"/>
                        <a:gd name="T30" fmla="*/ 33 w 1177"/>
                        <a:gd name="T31" fmla="*/ 1025 h 1140"/>
                        <a:gd name="T32" fmla="*/ 69 w 1177"/>
                        <a:gd name="T33" fmla="*/ 1092 h 1140"/>
                        <a:gd name="T34" fmla="*/ 130 w 1177"/>
                        <a:gd name="T35" fmla="*/ 1140 h 1140"/>
                        <a:gd name="T36" fmla="*/ 630 w 1177"/>
                        <a:gd name="T37" fmla="*/ 1109 h 1140"/>
                        <a:gd name="T38" fmla="*/ 659 w 1177"/>
                        <a:gd name="T39" fmla="*/ 1067 h 1140"/>
                        <a:gd name="T40" fmla="*/ 707 w 1177"/>
                        <a:gd name="T41" fmla="*/ 1031 h 1140"/>
                        <a:gd name="T42" fmla="*/ 745 w 1177"/>
                        <a:gd name="T43" fmla="*/ 1000 h 1140"/>
                        <a:gd name="T44" fmla="*/ 782 w 1177"/>
                        <a:gd name="T45" fmla="*/ 974 h 1140"/>
                        <a:gd name="T46" fmla="*/ 784 w 1177"/>
                        <a:gd name="T47" fmla="*/ 912 h 1140"/>
                        <a:gd name="T48" fmla="*/ 772 w 1177"/>
                        <a:gd name="T49" fmla="*/ 841 h 1140"/>
                        <a:gd name="T50" fmla="*/ 719 w 1177"/>
                        <a:gd name="T51" fmla="*/ 796 h 1140"/>
                        <a:gd name="T52" fmla="*/ 667 w 1177"/>
                        <a:gd name="T53" fmla="*/ 792 h 1140"/>
                        <a:gd name="T54" fmla="*/ 630 w 1177"/>
                        <a:gd name="T55" fmla="*/ 822 h 1140"/>
                        <a:gd name="T56" fmla="*/ 604 w 1177"/>
                        <a:gd name="T57" fmla="*/ 842 h 1140"/>
                        <a:gd name="T58" fmla="*/ 572 w 1177"/>
                        <a:gd name="T59" fmla="*/ 857 h 1140"/>
                        <a:gd name="T60" fmla="*/ 548 w 1177"/>
                        <a:gd name="T61" fmla="*/ 872 h 1140"/>
                        <a:gd name="T62" fmla="*/ 564 w 1177"/>
                        <a:gd name="T63" fmla="*/ 827 h 1140"/>
                        <a:gd name="T64" fmla="*/ 768 w 1177"/>
                        <a:gd name="T65" fmla="*/ 565 h 1140"/>
                        <a:gd name="T66" fmla="*/ 783 w 1177"/>
                        <a:gd name="T67" fmla="*/ 504 h 1140"/>
                        <a:gd name="T68" fmla="*/ 785 w 1177"/>
                        <a:gd name="T69" fmla="*/ 458 h 1140"/>
                        <a:gd name="T70" fmla="*/ 784 w 1177"/>
                        <a:gd name="T71" fmla="*/ 369 h 1140"/>
                        <a:gd name="T72" fmla="*/ 820 w 1177"/>
                        <a:gd name="T73" fmla="*/ 367 h 1140"/>
                        <a:gd name="T74" fmla="*/ 881 w 1177"/>
                        <a:gd name="T75" fmla="*/ 374 h 1140"/>
                        <a:gd name="T76" fmla="*/ 949 w 1177"/>
                        <a:gd name="T77" fmla="*/ 361 h 1140"/>
                        <a:gd name="T78" fmla="*/ 920 w 1177"/>
                        <a:gd name="T79" fmla="*/ 423 h 1140"/>
                        <a:gd name="T80" fmla="*/ 894 w 1177"/>
                        <a:gd name="T81" fmla="*/ 464 h 1140"/>
                        <a:gd name="T82" fmla="*/ 900 w 1177"/>
                        <a:gd name="T83" fmla="*/ 473 h 1140"/>
                        <a:gd name="T84" fmla="*/ 928 w 1177"/>
                        <a:gd name="T85" fmla="*/ 461 h 1140"/>
                        <a:gd name="T86" fmla="*/ 977 w 1177"/>
                        <a:gd name="T87" fmla="*/ 476 h 1140"/>
                        <a:gd name="T88" fmla="*/ 1018 w 1177"/>
                        <a:gd name="T89" fmla="*/ 518 h 1140"/>
                        <a:gd name="T90" fmla="*/ 1015 w 1177"/>
                        <a:gd name="T91" fmla="*/ 547 h 1140"/>
                        <a:gd name="T92" fmla="*/ 1041 w 1177"/>
                        <a:gd name="T93" fmla="*/ 540 h 1140"/>
                        <a:gd name="T94" fmla="*/ 1068 w 1177"/>
                        <a:gd name="T95" fmla="*/ 499 h 1140"/>
                        <a:gd name="T96" fmla="*/ 1108 w 1177"/>
                        <a:gd name="T97" fmla="*/ 482 h 1140"/>
                        <a:gd name="T98" fmla="*/ 1142 w 1177"/>
                        <a:gd name="T99" fmla="*/ 437 h 1140"/>
                        <a:gd name="T100" fmla="*/ 1165 w 1177"/>
                        <a:gd name="T101" fmla="*/ 385 h 1140"/>
                        <a:gd name="T102" fmla="*/ 1175 w 1177"/>
                        <a:gd name="T103" fmla="*/ 285 h 1140"/>
                        <a:gd name="T104" fmla="*/ 1153 w 1177"/>
                        <a:gd name="T105" fmla="*/ 223 h 1140"/>
                        <a:gd name="T106" fmla="*/ 1117 w 1177"/>
                        <a:gd name="T107" fmla="*/ 176 h 1140"/>
                        <a:gd name="T108" fmla="*/ 963 w 1177"/>
                        <a:gd name="T109" fmla="*/ 101 h 1140"/>
                        <a:gd name="T110" fmla="*/ 813 w 1177"/>
                        <a:gd name="T111" fmla="*/ 26 h 1140"/>
                        <a:gd name="T112" fmla="*/ 590 w 1177"/>
                        <a:gd name="T113" fmla="*/ 235 h 1140"/>
                        <a:gd name="T114" fmla="*/ 476 w 1177"/>
                        <a:gd name="T115" fmla="*/ 185 h 1140"/>
                        <a:gd name="T116" fmla="*/ 397 w 1177"/>
                        <a:gd name="T117" fmla="*/ 103 h 1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77" h="1140">
                          <a:moveTo>
                            <a:pt x="333" y="13"/>
                          </a:moveTo>
                          <a:lnTo>
                            <a:pt x="323" y="15"/>
                          </a:lnTo>
                          <a:lnTo>
                            <a:pt x="314" y="24"/>
                          </a:lnTo>
                          <a:lnTo>
                            <a:pt x="305" y="31"/>
                          </a:lnTo>
                          <a:lnTo>
                            <a:pt x="291" y="37"/>
                          </a:lnTo>
                          <a:lnTo>
                            <a:pt x="275" y="40"/>
                          </a:lnTo>
                          <a:lnTo>
                            <a:pt x="262" y="46"/>
                          </a:lnTo>
                          <a:lnTo>
                            <a:pt x="243" y="64"/>
                          </a:lnTo>
                          <a:lnTo>
                            <a:pt x="218" y="85"/>
                          </a:lnTo>
                          <a:lnTo>
                            <a:pt x="194" y="109"/>
                          </a:lnTo>
                          <a:lnTo>
                            <a:pt x="174" y="133"/>
                          </a:lnTo>
                          <a:lnTo>
                            <a:pt x="165" y="149"/>
                          </a:lnTo>
                          <a:lnTo>
                            <a:pt x="153" y="165"/>
                          </a:lnTo>
                          <a:lnTo>
                            <a:pt x="138" y="180"/>
                          </a:lnTo>
                          <a:lnTo>
                            <a:pt x="119" y="202"/>
                          </a:lnTo>
                          <a:lnTo>
                            <a:pt x="104" y="223"/>
                          </a:lnTo>
                          <a:lnTo>
                            <a:pt x="89" y="245"/>
                          </a:lnTo>
                          <a:lnTo>
                            <a:pt x="77" y="267"/>
                          </a:lnTo>
                          <a:lnTo>
                            <a:pt x="63" y="295"/>
                          </a:lnTo>
                          <a:lnTo>
                            <a:pt x="51" y="326"/>
                          </a:lnTo>
                          <a:lnTo>
                            <a:pt x="43" y="354"/>
                          </a:lnTo>
                          <a:lnTo>
                            <a:pt x="37" y="368"/>
                          </a:lnTo>
                          <a:lnTo>
                            <a:pt x="39" y="379"/>
                          </a:lnTo>
                          <a:lnTo>
                            <a:pt x="32" y="397"/>
                          </a:lnTo>
                          <a:lnTo>
                            <a:pt x="26" y="413"/>
                          </a:lnTo>
                          <a:lnTo>
                            <a:pt x="22" y="437"/>
                          </a:lnTo>
                          <a:lnTo>
                            <a:pt x="25" y="458"/>
                          </a:lnTo>
                          <a:lnTo>
                            <a:pt x="27" y="478"/>
                          </a:lnTo>
                          <a:lnTo>
                            <a:pt x="22" y="497"/>
                          </a:lnTo>
                          <a:lnTo>
                            <a:pt x="12" y="504"/>
                          </a:lnTo>
                          <a:lnTo>
                            <a:pt x="5" y="518"/>
                          </a:lnTo>
                          <a:lnTo>
                            <a:pt x="2" y="538"/>
                          </a:lnTo>
                          <a:lnTo>
                            <a:pt x="0" y="569"/>
                          </a:lnTo>
                          <a:lnTo>
                            <a:pt x="1" y="609"/>
                          </a:lnTo>
                          <a:lnTo>
                            <a:pt x="4" y="660"/>
                          </a:lnTo>
                          <a:lnTo>
                            <a:pt x="2" y="695"/>
                          </a:lnTo>
                          <a:lnTo>
                            <a:pt x="1" y="733"/>
                          </a:lnTo>
                          <a:lnTo>
                            <a:pt x="2" y="767"/>
                          </a:lnTo>
                          <a:lnTo>
                            <a:pt x="4" y="809"/>
                          </a:lnTo>
                          <a:lnTo>
                            <a:pt x="9" y="820"/>
                          </a:lnTo>
                          <a:lnTo>
                            <a:pt x="16" y="828"/>
                          </a:lnTo>
                          <a:lnTo>
                            <a:pt x="14" y="852"/>
                          </a:lnTo>
                          <a:lnTo>
                            <a:pt x="12" y="887"/>
                          </a:lnTo>
                          <a:lnTo>
                            <a:pt x="16" y="911"/>
                          </a:lnTo>
                          <a:lnTo>
                            <a:pt x="13" y="944"/>
                          </a:lnTo>
                          <a:lnTo>
                            <a:pt x="16" y="974"/>
                          </a:lnTo>
                          <a:lnTo>
                            <a:pt x="24" y="1002"/>
                          </a:lnTo>
                          <a:lnTo>
                            <a:pt x="33" y="1025"/>
                          </a:lnTo>
                          <a:lnTo>
                            <a:pt x="45" y="1052"/>
                          </a:lnTo>
                          <a:lnTo>
                            <a:pt x="56" y="1073"/>
                          </a:lnTo>
                          <a:lnTo>
                            <a:pt x="69" y="1092"/>
                          </a:lnTo>
                          <a:lnTo>
                            <a:pt x="88" y="1106"/>
                          </a:lnTo>
                          <a:lnTo>
                            <a:pt x="110" y="1124"/>
                          </a:lnTo>
                          <a:lnTo>
                            <a:pt x="130" y="1140"/>
                          </a:lnTo>
                          <a:lnTo>
                            <a:pt x="590" y="1140"/>
                          </a:lnTo>
                          <a:lnTo>
                            <a:pt x="607" y="1122"/>
                          </a:lnTo>
                          <a:lnTo>
                            <a:pt x="630" y="1109"/>
                          </a:lnTo>
                          <a:lnTo>
                            <a:pt x="642" y="1103"/>
                          </a:lnTo>
                          <a:lnTo>
                            <a:pt x="647" y="1098"/>
                          </a:lnTo>
                          <a:lnTo>
                            <a:pt x="659" y="1067"/>
                          </a:lnTo>
                          <a:lnTo>
                            <a:pt x="672" y="1049"/>
                          </a:lnTo>
                          <a:lnTo>
                            <a:pt x="691" y="1036"/>
                          </a:lnTo>
                          <a:lnTo>
                            <a:pt x="707" y="1031"/>
                          </a:lnTo>
                          <a:lnTo>
                            <a:pt x="717" y="1020"/>
                          </a:lnTo>
                          <a:lnTo>
                            <a:pt x="724" y="1007"/>
                          </a:lnTo>
                          <a:lnTo>
                            <a:pt x="745" y="1000"/>
                          </a:lnTo>
                          <a:lnTo>
                            <a:pt x="762" y="990"/>
                          </a:lnTo>
                          <a:lnTo>
                            <a:pt x="771" y="978"/>
                          </a:lnTo>
                          <a:lnTo>
                            <a:pt x="782" y="974"/>
                          </a:lnTo>
                          <a:lnTo>
                            <a:pt x="787" y="964"/>
                          </a:lnTo>
                          <a:lnTo>
                            <a:pt x="785" y="948"/>
                          </a:lnTo>
                          <a:lnTo>
                            <a:pt x="784" y="912"/>
                          </a:lnTo>
                          <a:lnTo>
                            <a:pt x="787" y="890"/>
                          </a:lnTo>
                          <a:lnTo>
                            <a:pt x="785" y="864"/>
                          </a:lnTo>
                          <a:lnTo>
                            <a:pt x="772" y="841"/>
                          </a:lnTo>
                          <a:lnTo>
                            <a:pt x="754" y="822"/>
                          </a:lnTo>
                          <a:lnTo>
                            <a:pt x="738" y="808"/>
                          </a:lnTo>
                          <a:lnTo>
                            <a:pt x="719" y="796"/>
                          </a:lnTo>
                          <a:lnTo>
                            <a:pt x="701" y="784"/>
                          </a:lnTo>
                          <a:lnTo>
                            <a:pt x="683" y="785"/>
                          </a:lnTo>
                          <a:lnTo>
                            <a:pt x="667" y="792"/>
                          </a:lnTo>
                          <a:lnTo>
                            <a:pt x="654" y="804"/>
                          </a:lnTo>
                          <a:lnTo>
                            <a:pt x="644" y="811"/>
                          </a:lnTo>
                          <a:lnTo>
                            <a:pt x="630" y="822"/>
                          </a:lnTo>
                          <a:lnTo>
                            <a:pt x="623" y="831"/>
                          </a:lnTo>
                          <a:lnTo>
                            <a:pt x="613" y="833"/>
                          </a:lnTo>
                          <a:lnTo>
                            <a:pt x="604" y="842"/>
                          </a:lnTo>
                          <a:lnTo>
                            <a:pt x="596" y="857"/>
                          </a:lnTo>
                          <a:lnTo>
                            <a:pt x="583" y="854"/>
                          </a:lnTo>
                          <a:lnTo>
                            <a:pt x="572" y="857"/>
                          </a:lnTo>
                          <a:lnTo>
                            <a:pt x="567" y="865"/>
                          </a:lnTo>
                          <a:lnTo>
                            <a:pt x="560" y="869"/>
                          </a:lnTo>
                          <a:lnTo>
                            <a:pt x="548" y="872"/>
                          </a:lnTo>
                          <a:lnTo>
                            <a:pt x="537" y="869"/>
                          </a:lnTo>
                          <a:lnTo>
                            <a:pt x="526" y="852"/>
                          </a:lnTo>
                          <a:lnTo>
                            <a:pt x="564" y="827"/>
                          </a:lnTo>
                          <a:lnTo>
                            <a:pt x="637" y="740"/>
                          </a:lnTo>
                          <a:lnTo>
                            <a:pt x="761" y="588"/>
                          </a:lnTo>
                          <a:lnTo>
                            <a:pt x="768" y="565"/>
                          </a:lnTo>
                          <a:lnTo>
                            <a:pt x="770" y="539"/>
                          </a:lnTo>
                          <a:lnTo>
                            <a:pt x="766" y="509"/>
                          </a:lnTo>
                          <a:lnTo>
                            <a:pt x="783" y="504"/>
                          </a:lnTo>
                          <a:lnTo>
                            <a:pt x="799" y="493"/>
                          </a:lnTo>
                          <a:lnTo>
                            <a:pt x="798" y="483"/>
                          </a:lnTo>
                          <a:lnTo>
                            <a:pt x="785" y="458"/>
                          </a:lnTo>
                          <a:lnTo>
                            <a:pt x="777" y="437"/>
                          </a:lnTo>
                          <a:lnTo>
                            <a:pt x="782" y="396"/>
                          </a:lnTo>
                          <a:lnTo>
                            <a:pt x="784" y="369"/>
                          </a:lnTo>
                          <a:lnTo>
                            <a:pt x="783" y="342"/>
                          </a:lnTo>
                          <a:lnTo>
                            <a:pt x="804" y="353"/>
                          </a:lnTo>
                          <a:lnTo>
                            <a:pt x="820" y="367"/>
                          </a:lnTo>
                          <a:lnTo>
                            <a:pt x="839" y="373"/>
                          </a:lnTo>
                          <a:lnTo>
                            <a:pt x="861" y="376"/>
                          </a:lnTo>
                          <a:lnTo>
                            <a:pt x="881" y="374"/>
                          </a:lnTo>
                          <a:lnTo>
                            <a:pt x="910" y="368"/>
                          </a:lnTo>
                          <a:lnTo>
                            <a:pt x="930" y="362"/>
                          </a:lnTo>
                          <a:lnTo>
                            <a:pt x="949" y="361"/>
                          </a:lnTo>
                          <a:lnTo>
                            <a:pt x="939" y="385"/>
                          </a:lnTo>
                          <a:lnTo>
                            <a:pt x="933" y="407"/>
                          </a:lnTo>
                          <a:lnTo>
                            <a:pt x="920" y="423"/>
                          </a:lnTo>
                          <a:lnTo>
                            <a:pt x="907" y="439"/>
                          </a:lnTo>
                          <a:lnTo>
                            <a:pt x="899" y="451"/>
                          </a:lnTo>
                          <a:lnTo>
                            <a:pt x="894" y="464"/>
                          </a:lnTo>
                          <a:lnTo>
                            <a:pt x="896" y="472"/>
                          </a:lnTo>
                          <a:lnTo>
                            <a:pt x="903" y="484"/>
                          </a:lnTo>
                          <a:lnTo>
                            <a:pt x="900" y="473"/>
                          </a:lnTo>
                          <a:lnTo>
                            <a:pt x="905" y="465"/>
                          </a:lnTo>
                          <a:lnTo>
                            <a:pt x="915" y="462"/>
                          </a:lnTo>
                          <a:lnTo>
                            <a:pt x="928" y="461"/>
                          </a:lnTo>
                          <a:lnTo>
                            <a:pt x="944" y="463"/>
                          </a:lnTo>
                          <a:lnTo>
                            <a:pt x="961" y="468"/>
                          </a:lnTo>
                          <a:lnTo>
                            <a:pt x="977" y="476"/>
                          </a:lnTo>
                          <a:lnTo>
                            <a:pt x="992" y="487"/>
                          </a:lnTo>
                          <a:lnTo>
                            <a:pt x="1005" y="500"/>
                          </a:lnTo>
                          <a:lnTo>
                            <a:pt x="1018" y="518"/>
                          </a:lnTo>
                          <a:lnTo>
                            <a:pt x="1023" y="533"/>
                          </a:lnTo>
                          <a:lnTo>
                            <a:pt x="1019" y="540"/>
                          </a:lnTo>
                          <a:lnTo>
                            <a:pt x="1015" y="547"/>
                          </a:lnTo>
                          <a:lnTo>
                            <a:pt x="1024" y="547"/>
                          </a:lnTo>
                          <a:lnTo>
                            <a:pt x="1034" y="543"/>
                          </a:lnTo>
                          <a:lnTo>
                            <a:pt x="1041" y="540"/>
                          </a:lnTo>
                          <a:lnTo>
                            <a:pt x="1049" y="528"/>
                          </a:lnTo>
                          <a:lnTo>
                            <a:pt x="1055" y="513"/>
                          </a:lnTo>
                          <a:lnTo>
                            <a:pt x="1068" y="499"/>
                          </a:lnTo>
                          <a:lnTo>
                            <a:pt x="1077" y="484"/>
                          </a:lnTo>
                          <a:lnTo>
                            <a:pt x="1093" y="482"/>
                          </a:lnTo>
                          <a:lnTo>
                            <a:pt x="1108" y="482"/>
                          </a:lnTo>
                          <a:lnTo>
                            <a:pt x="1119" y="479"/>
                          </a:lnTo>
                          <a:lnTo>
                            <a:pt x="1130" y="461"/>
                          </a:lnTo>
                          <a:lnTo>
                            <a:pt x="1142" y="437"/>
                          </a:lnTo>
                          <a:lnTo>
                            <a:pt x="1153" y="413"/>
                          </a:lnTo>
                          <a:lnTo>
                            <a:pt x="1163" y="397"/>
                          </a:lnTo>
                          <a:lnTo>
                            <a:pt x="1165" y="385"/>
                          </a:lnTo>
                          <a:lnTo>
                            <a:pt x="1173" y="345"/>
                          </a:lnTo>
                          <a:lnTo>
                            <a:pt x="1177" y="312"/>
                          </a:lnTo>
                          <a:lnTo>
                            <a:pt x="1175" y="285"/>
                          </a:lnTo>
                          <a:lnTo>
                            <a:pt x="1171" y="259"/>
                          </a:lnTo>
                          <a:lnTo>
                            <a:pt x="1167" y="246"/>
                          </a:lnTo>
                          <a:lnTo>
                            <a:pt x="1153" y="223"/>
                          </a:lnTo>
                          <a:lnTo>
                            <a:pt x="1138" y="198"/>
                          </a:lnTo>
                          <a:lnTo>
                            <a:pt x="1125" y="180"/>
                          </a:lnTo>
                          <a:lnTo>
                            <a:pt x="1117" y="176"/>
                          </a:lnTo>
                          <a:lnTo>
                            <a:pt x="1067" y="162"/>
                          </a:lnTo>
                          <a:lnTo>
                            <a:pt x="1025" y="135"/>
                          </a:lnTo>
                          <a:lnTo>
                            <a:pt x="963" y="101"/>
                          </a:lnTo>
                          <a:lnTo>
                            <a:pt x="875" y="62"/>
                          </a:lnTo>
                          <a:lnTo>
                            <a:pt x="844" y="47"/>
                          </a:lnTo>
                          <a:lnTo>
                            <a:pt x="813" y="26"/>
                          </a:lnTo>
                          <a:lnTo>
                            <a:pt x="781" y="0"/>
                          </a:lnTo>
                          <a:lnTo>
                            <a:pt x="730" y="5"/>
                          </a:lnTo>
                          <a:lnTo>
                            <a:pt x="590" y="235"/>
                          </a:lnTo>
                          <a:lnTo>
                            <a:pt x="523" y="210"/>
                          </a:lnTo>
                          <a:lnTo>
                            <a:pt x="498" y="198"/>
                          </a:lnTo>
                          <a:lnTo>
                            <a:pt x="476" y="185"/>
                          </a:lnTo>
                          <a:lnTo>
                            <a:pt x="452" y="165"/>
                          </a:lnTo>
                          <a:lnTo>
                            <a:pt x="427" y="139"/>
                          </a:lnTo>
                          <a:lnTo>
                            <a:pt x="397" y="103"/>
                          </a:lnTo>
                          <a:lnTo>
                            <a:pt x="333"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75" name="Group 227"/>
                    <p:cNvGrpSpPr/>
                    <p:nvPr/>
                  </p:nvGrpSpPr>
                  <p:grpSpPr bwMode="auto">
                    <a:xfrm>
                      <a:off x="2360" y="3075"/>
                      <a:ext cx="162" cy="142"/>
                      <a:chOff x="2360" y="3075"/>
                      <a:chExt cx="162" cy="142"/>
                    </a:xfrm>
                  </p:grpSpPr>
                  <p:sp>
                    <p:nvSpPr>
                      <p:cNvPr id="642276" name="Freeform 228"/>
                      <p:cNvSpPr/>
                      <p:nvPr/>
                    </p:nvSpPr>
                    <p:spPr bwMode="auto">
                      <a:xfrm>
                        <a:off x="2469" y="3098"/>
                        <a:ext cx="19" cy="20"/>
                      </a:xfrm>
                      <a:custGeom>
                        <a:avLst/>
                        <a:gdLst>
                          <a:gd name="T0" fmla="*/ 0 w 129"/>
                          <a:gd name="T1" fmla="*/ 154 h 156"/>
                          <a:gd name="T2" fmla="*/ 7 w 129"/>
                          <a:gd name="T3" fmla="*/ 121 h 156"/>
                          <a:gd name="T4" fmla="*/ 13 w 129"/>
                          <a:gd name="T5" fmla="*/ 91 h 156"/>
                          <a:gd name="T6" fmla="*/ 12 w 129"/>
                          <a:gd name="T7" fmla="*/ 59 h 156"/>
                          <a:gd name="T8" fmla="*/ 7 w 129"/>
                          <a:gd name="T9" fmla="*/ 25 h 156"/>
                          <a:gd name="T10" fmla="*/ 4 w 129"/>
                          <a:gd name="T11" fmla="*/ 0 h 156"/>
                          <a:gd name="T12" fmla="*/ 17 w 129"/>
                          <a:gd name="T13" fmla="*/ 27 h 156"/>
                          <a:gd name="T14" fmla="*/ 24 w 129"/>
                          <a:gd name="T15" fmla="*/ 49 h 156"/>
                          <a:gd name="T16" fmla="*/ 39 w 129"/>
                          <a:gd name="T17" fmla="*/ 64 h 156"/>
                          <a:gd name="T18" fmla="*/ 59 w 129"/>
                          <a:gd name="T19" fmla="*/ 72 h 156"/>
                          <a:gd name="T20" fmla="*/ 80 w 129"/>
                          <a:gd name="T21" fmla="*/ 74 h 156"/>
                          <a:gd name="T22" fmla="*/ 98 w 129"/>
                          <a:gd name="T23" fmla="*/ 75 h 156"/>
                          <a:gd name="T24" fmla="*/ 129 w 129"/>
                          <a:gd name="T25" fmla="*/ 81 h 156"/>
                          <a:gd name="T26" fmla="*/ 112 w 129"/>
                          <a:gd name="T27" fmla="*/ 85 h 156"/>
                          <a:gd name="T28" fmla="*/ 93 w 129"/>
                          <a:gd name="T29" fmla="*/ 90 h 156"/>
                          <a:gd name="T30" fmla="*/ 79 w 129"/>
                          <a:gd name="T31" fmla="*/ 92 h 156"/>
                          <a:gd name="T32" fmla="*/ 62 w 129"/>
                          <a:gd name="T33" fmla="*/ 93 h 156"/>
                          <a:gd name="T34" fmla="*/ 38 w 129"/>
                          <a:gd name="T35" fmla="*/ 92 h 156"/>
                          <a:gd name="T36" fmla="*/ 54 w 129"/>
                          <a:gd name="T37" fmla="*/ 99 h 156"/>
                          <a:gd name="T38" fmla="*/ 76 w 129"/>
                          <a:gd name="T39" fmla="*/ 102 h 156"/>
                          <a:gd name="T40" fmla="*/ 94 w 129"/>
                          <a:gd name="T41" fmla="*/ 103 h 156"/>
                          <a:gd name="T42" fmla="*/ 129 w 129"/>
                          <a:gd name="T43" fmla="*/ 110 h 156"/>
                          <a:gd name="T44" fmla="*/ 110 w 129"/>
                          <a:gd name="T45" fmla="*/ 115 h 156"/>
                          <a:gd name="T46" fmla="*/ 94 w 129"/>
                          <a:gd name="T47" fmla="*/ 118 h 156"/>
                          <a:gd name="T48" fmla="*/ 75 w 129"/>
                          <a:gd name="T49" fmla="*/ 119 h 156"/>
                          <a:gd name="T50" fmla="*/ 57 w 129"/>
                          <a:gd name="T51" fmla="*/ 120 h 156"/>
                          <a:gd name="T52" fmla="*/ 70 w 129"/>
                          <a:gd name="T53" fmla="*/ 126 h 156"/>
                          <a:gd name="T54" fmla="*/ 85 w 129"/>
                          <a:gd name="T55" fmla="*/ 133 h 156"/>
                          <a:gd name="T56" fmla="*/ 101 w 129"/>
                          <a:gd name="T57" fmla="*/ 137 h 156"/>
                          <a:gd name="T58" fmla="*/ 124 w 129"/>
                          <a:gd name="T59" fmla="*/ 142 h 156"/>
                          <a:gd name="T60" fmla="*/ 104 w 129"/>
                          <a:gd name="T61" fmla="*/ 148 h 156"/>
                          <a:gd name="T62" fmla="*/ 85 w 129"/>
                          <a:gd name="T63" fmla="*/ 144 h 156"/>
                          <a:gd name="T64" fmla="*/ 69 w 129"/>
                          <a:gd name="T65" fmla="*/ 139 h 156"/>
                          <a:gd name="T66" fmla="*/ 57 w 129"/>
                          <a:gd name="T67" fmla="*/ 150 h 156"/>
                          <a:gd name="T68" fmla="*/ 40 w 129"/>
                          <a:gd name="T69" fmla="*/ 155 h 156"/>
                          <a:gd name="T70" fmla="*/ 22 w 129"/>
                          <a:gd name="T71" fmla="*/ 156 h 156"/>
                          <a:gd name="T72" fmla="*/ 0 w 129"/>
                          <a:gd name="T73" fmla="*/ 15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 h="156">
                            <a:moveTo>
                              <a:pt x="0" y="154"/>
                            </a:moveTo>
                            <a:lnTo>
                              <a:pt x="7" y="121"/>
                            </a:lnTo>
                            <a:lnTo>
                              <a:pt x="13" y="91"/>
                            </a:lnTo>
                            <a:lnTo>
                              <a:pt x="12" y="59"/>
                            </a:lnTo>
                            <a:lnTo>
                              <a:pt x="7" y="25"/>
                            </a:lnTo>
                            <a:lnTo>
                              <a:pt x="4" y="0"/>
                            </a:lnTo>
                            <a:lnTo>
                              <a:pt x="17" y="27"/>
                            </a:lnTo>
                            <a:lnTo>
                              <a:pt x="24" y="49"/>
                            </a:lnTo>
                            <a:lnTo>
                              <a:pt x="39" y="64"/>
                            </a:lnTo>
                            <a:lnTo>
                              <a:pt x="59" y="72"/>
                            </a:lnTo>
                            <a:lnTo>
                              <a:pt x="80" y="74"/>
                            </a:lnTo>
                            <a:lnTo>
                              <a:pt x="98" y="75"/>
                            </a:lnTo>
                            <a:lnTo>
                              <a:pt x="129" y="81"/>
                            </a:lnTo>
                            <a:lnTo>
                              <a:pt x="112" y="85"/>
                            </a:lnTo>
                            <a:lnTo>
                              <a:pt x="93" y="90"/>
                            </a:lnTo>
                            <a:lnTo>
                              <a:pt x="79" y="92"/>
                            </a:lnTo>
                            <a:lnTo>
                              <a:pt x="62" y="93"/>
                            </a:lnTo>
                            <a:lnTo>
                              <a:pt x="38" y="92"/>
                            </a:lnTo>
                            <a:lnTo>
                              <a:pt x="54" y="99"/>
                            </a:lnTo>
                            <a:lnTo>
                              <a:pt x="76" y="102"/>
                            </a:lnTo>
                            <a:lnTo>
                              <a:pt x="94" y="103"/>
                            </a:lnTo>
                            <a:lnTo>
                              <a:pt x="129" y="110"/>
                            </a:lnTo>
                            <a:lnTo>
                              <a:pt x="110" y="115"/>
                            </a:lnTo>
                            <a:lnTo>
                              <a:pt x="94" y="118"/>
                            </a:lnTo>
                            <a:lnTo>
                              <a:pt x="75" y="119"/>
                            </a:lnTo>
                            <a:lnTo>
                              <a:pt x="57" y="120"/>
                            </a:lnTo>
                            <a:lnTo>
                              <a:pt x="70" y="126"/>
                            </a:lnTo>
                            <a:lnTo>
                              <a:pt x="85" y="133"/>
                            </a:lnTo>
                            <a:lnTo>
                              <a:pt x="101" y="137"/>
                            </a:lnTo>
                            <a:lnTo>
                              <a:pt x="124" y="142"/>
                            </a:lnTo>
                            <a:lnTo>
                              <a:pt x="104" y="148"/>
                            </a:lnTo>
                            <a:lnTo>
                              <a:pt x="85" y="144"/>
                            </a:lnTo>
                            <a:lnTo>
                              <a:pt x="69" y="139"/>
                            </a:lnTo>
                            <a:lnTo>
                              <a:pt x="57" y="150"/>
                            </a:lnTo>
                            <a:lnTo>
                              <a:pt x="40" y="155"/>
                            </a:lnTo>
                            <a:lnTo>
                              <a:pt x="22" y="156"/>
                            </a:lnTo>
                            <a:lnTo>
                              <a:pt x="0" y="154"/>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7" name="Freeform 229"/>
                      <p:cNvSpPr/>
                      <p:nvPr/>
                    </p:nvSpPr>
                    <p:spPr bwMode="auto">
                      <a:xfrm>
                        <a:off x="2463" y="3097"/>
                        <a:ext cx="10" cy="42"/>
                      </a:xfrm>
                      <a:custGeom>
                        <a:avLst/>
                        <a:gdLst>
                          <a:gd name="T0" fmla="*/ 20 w 69"/>
                          <a:gd name="T1" fmla="*/ 0 h 338"/>
                          <a:gd name="T2" fmla="*/ 29 w 69"/>
                          <a:gd name="T3" fmla="*/ 97 h 338"/>
                          <a:gd name="T4" fmla="*/ 26 w 69"/>
                          <a:gd name="T5" fmla="*/ 177 h 338"/>
                          <a:gd name="T6" fmla="*/ 29 w 69"/>
                          <a:gd name="T7" fmla="*/ 197 h 338"/>
                          <a:gd name="T8" fmla="*/ 26 w 69"/>
                          <a:gd name="T9" fmla="*/ 231 h 338"/>
                          <a:gd name="T10" fmla="*/ 40 w 69"/>
                          <a:gd name="T11" fmla="*/ 243 h 338"/>
                          <a:gd name="T12" fmla="*/ 37 w 69"/>
                          <a:gd name="T13" fmla="*/ 265 h 338"/>
                          <a:gd name="T14" fmla="*/ 48 w 69"/>
                          <a:gd name="T15" fmla="*/ 278 h 338"/>
                          <a:gd name="T16" fmla="*/ 59 w 69"/>
                          <a:gd name="T17" fmla="*/ 293 h 338"/>
                          <a:gd name="T18" fmla="*/ 68 w 69"/>
                          <a:gd name="T19" fmla="*/ 307 h 338"/>
                          <a:gd name="T20" fmla="*/ 69 w 69"/>
                          <a:gd name="T21" fmla="*/ 317 h 338"/>
                          <a:gd name="T22" fmla="*/ 66 w 69"/>
                          <a:gd name="T23" fmla="*/ 328 h 338"/>
                          <a:gd name="T24" fmla="*/ 55 w 69"/>
                          <a:gd name="T25" fmla="*/ 334 h 338"/>
                          <a:gd name="T26" fmla="*/ 45 w 69"/>
                          <a:gd name="T27" fmla="*/ 338 h 338"/>
                          <a:gd name="T28" fmla="*/ 34 w 69"/>
                          <a:gd name="T29" fmla="*/ 338 h 338"/>
                          <a:gd name="T30" fmla="*/ 24 w 69"/>
                          <a:gd name="T31" fmla="*/ 337 h 338"/>
                          <a:gd name="T32" fmla="*/ 0 w 69"/>
                          <a:gd name="T33" fmla="*/ 329 h 338"/>
                          <a:gd name="T34" fmla="*/ 23 w 69"/>
                          <a:gd name="T35" fmla="*/ 327 h 338"/>
                          <a:gd name="T36" fmla="*/ 33 w 69"/>
                          <a:gd name="T37" fmla="*/ 324 h 338"/>
                          <a:gd name="T38" fmla="*/ 40 w 69"/>
                          <a:gd name="T39" fmla="*/ 317 h 338"/>
                          <a:gd name="T40" fmla="*/ 33 w 69"/>
                          <a:gd name="T41" fmla="*/ 305 h 338"/>
                          <a:gd name="T42" fmla="*/ 20 w 69"/>
                          <a:gd name="T43" fmla="*/ 293 h 338"/>
                          <a:gd name="T44" fmla="*/ 6 w 69"/>
                          <a:gd name="T45" fmla="*/ 287 h 338"/>
                          <a:gd name="T46" fmla="*/ 12 w 69"/>
                          <a:gd name="T47" fmla="*/ 272 h 338"/>
                          <a:gd name="T48" fmla="*/ 14 w 69"/>
                          <a:gd name="T49" fmla="*/ 259 h 338"/>
                          <a:gd name="T50" fmla="*/ 10 w 69"/>
                          <a:gd name="T51" fmla="*/ 215 h 338"/>
                          <a:gd name="T52" fmla="*/ 6 w 69"/>
                          <a:gd name="T53" fmla="*/ 135 h 338"/>
                          <a:gd name="T54" fmla="*/ 17 w 69"/>
                          <a:gd name="T55" fmla="*/ 77 h 338"/>
                          <a:gd name="T56" fmla="*/ 20 w 69"/>
                          <a:gd name="T57" fmla="*/ 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 h="338">
                            <a:moveTo>
                              <a:pt x="20" y="0"/>
                            </a:moveTo>
                            <a:lnTo>
                              <a:pt x="29" y="97"/>
                            </a:lnTo>
                            <a:lnTo>
                              <a:pt x="26" y="177"/>
                            </a:lnTo>
                            <a:lnTo>
                              <a:pt x="29" y="197"/>
                            </a:lnTo>
                            <a:lnTo>
                              <a:pt x="26" y="231"/>
                            </a:lnTo>
                            <a:lnTo>
                              <a:pt x="40" y="243"/>
                            </a:lnTo>
                            <a:lnTo>
                              <a:pt x="37" y="265"/>
                            </a:lnTo>
                            <a:lnTo>
                              <a:pt x="48" y="278"/>
                            </a:lnTo>
                            <a:lnTo>
                              <a:pt x="59" y="293"/>
                            </a:lnTo>
                            <a:lnTo>
                              <a:pt x="68" y="307"/>
                            </a:lnTo>
                            <a:lnTo>
                              <a:pt x="69" y="317"/>
                            </a:lnTo>
                            <a:lnTo>
                              <a:pt x="66" y="328"/>
                            </a:lnTo>
                            <a:lnTo>
                              <a:pt x="55" y="334"/>
                            </a:lnTo>
                            <a:lnTo>
                              <a:pt x="45" y="338"/>
                            </a:lnTo>
                            <a:lnTo>
                              <a:pt x="34" y="338"/>
                            </a:lnTo>
                            <a:lnTo>
                              <a:pt x="24" y="337"/>
                            </a:lnTo>
                            <a:lnTo>
                              <a:pt x="0" y="329"/>
                            </a:lnTo>
                            <a:lnTo>
                              <a:pt x="23" y="327"/>
                            </a:lnTo>
                            <a:lnTo>
                              <a:pt x="33" y="324"/>
                            </a:lnTo>
                            <a:lnTo>
                              <a:pt x="40" y="317"/>
                            </a:lnTo>
                            <a:lnTo>
                              <a:pt x="33" y="305"/>
                            </a:lnTo>
                            <a:lnTo>
                              <a:pt x="20" y="293"/>
                            </a:lnTo>
                            <a:lnTo>
                              <a:pt x="6" y="287"/>
                            </a:lnTo>
                            <a:lnTo>
                              <a:pt x="12" y="272"/>
                            </a:lnTo>
                            <a:lnTo>
                              <a:pt x="14" y="259"/>
                            </a:lnTo>
                            <a:lnTo>
                              <a:pt x="10" y="215"/>
                            </a:lnTo>
                            <a:lnTo>
                              <a:pt x="6" y="135"/>
                            </a:lnTo>
                            <a:lnTo>
                              <a:pt x="17" y="77"/>
                            </a:lnTo>
                            <a:lnTo>
                              <a:pt x="2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8" name="Freeform 230"/>
                      <p:cNvSpPr/>
                      <p:nvPr/>
                    </p:nvSpPr>
                    <p:spPr bwMode="auto">
                      <a:xfrm>
                        <a:off x="2454" y="3138"/>
                        <a:ext cx="14" cy="18"/>
                      </a:xfrm>
                      <a:custGeom>
                        <a:avLst/>
                        <a:gdLst>
                          <a:gd name="T0" fmla="*/ 28 w 95"/>
                          <a:gd name="T1" fmla="*/ 0 h 146"/>
                          <a:gd name="T2" fmla="*/ 38 w 95"/>
                          <a:gd name="T3" fmla="*/ 17 h 146"/>
                          <a:gd name="T4" fmla="*/ 44 w 95"/>
                          <a:gd name="T5" fmla="*/ 34 h 146"/>
                          <a:gd name="T6" fmla="*/ 47 w 95"/>
                          <a:gd name="T7" fmla="*/ 52 h 146"/>
                          <a:gd name="T8" fmla="*/ 48 w 95"/>
                          <a:gd name="T9" fmla="*/ 74 h 146"/>
                          <a:gd name="T10" fmla="*/ 59 w 95"/>
                          <a:gd name="T11" fmla="*/ 78 h 146"/>
                          <a:gd name="T12" fmla="*/ 74 w 95"/>
                          <a:gd name="T13" fmla="*/ 77 h 146"/>
                          <a:gd name="T14" fmla="*/ 85 w 95"/>
                          <a:gd name="T15" fmla="*/ 69 h 146"/>
                          <a:gd name="T16" fmla="*/ 95 w 95"/>
                          <a:gd name="T17" fmla="*/ 56 h 146"/>
                          <a:gd name="T18" fmla="*/ 92 w 95"/>
                          <a:gd name="T19" fmla="*/ 73 h 146"/>
                          <a:gd name="T20" fmla="*/ 87 w 95"/>
                          <a:gd name="T21" fmla="*/ 85 h 146"/>
                          <a:gd name="T22" fmla="*/ 68 w 95"/>
                          <a:gd name="T23" fmla="*/ 107 h 146"/>
                          <a:gd name="T24" fmla="*/ 35 w 95"/>
                          <a:gd name="T25" fmla="*/ 146 h 146"/>
                          <a:gd name="T26" fmla="*/ 0 w 95"/>
                          <a:gd name="T27" fmla="*/ 74 h 146"/>
                          <a:gd name="T28" fmla="*/ 28 w 95"/>
                          <a:gd name="T29"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5" h="146">
                            <a:moveTo>
                              <a:pt x="28" y="0"/>
                            </a:moveTo>
                            <a:lnTo>
                              <a:pt x="38" y="17"/>
                            </a:lnTo>
                            <a:lnTo>
                              <a:pt x="44" y="34"/>
                            </a:lnTo>
                            <a:lnTo>
                              <a:pt x="47" y="52"/>
                            </a:lnTo>
                            <a:lnTo>
                              <a:pt x="48" y="74"/>
                            </a:lnTo>
                            <a:lnTo>
                              <a:pt x="59" y="78"/>
                            </a:lnTo>
                            <a:lnTo>
                              <a:pt x="74" y="77"/>
                            </a:lnTo>
                            <a:lnTo>
                              <a:pt x="85" y="69"/>
                            </a:lnTo>
                            <a:lnTo>
                              <a:pt x="95" y="56"/>
                            </a:lnTo>
                            <a:lnTo>
                              <a:pt x="92" y="73"/>
                            </a:lnTo>
                            <a:lnTo>
                              <a:pt x="87" y="85"/>
                            </a:lnTo>
                            <a:lnTo>
                              <a:pt x="68" y="107"/>
                            </a:lnTo>
                            <a:lnTo>
                              <a:pt x="35" y="146"/>
                            </a:lnTo>
                            <a:lnTo>
                              <a:pt x="0" y="74"/>
                            </a:lnTo>
                            <a:lnTo>
                              <a:pt x="28"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9" name="Freeform 231"/>
                      <p:cNvSpPr/>
                      <p:nvPr/>
                    </p:nvSpPr>
                    <p:spPr bwMode="auto">
                      <a:xfrm>
                        <a:off x="2426" y="3162"/>
                        <a:ext cx="25" cy="33"/>
                      </a:xfrm>
                      <a:custGeom>
                        <a:avLst/>
                        <a:gdLst>
                          <a:gd name="T0" fmla="*/ 0 w 176"/>
                          <a:gd name="T1" fmla="*/ 105 h 263"/>
                          <a:gd name="T2" fmla="*/ 23 w 176"/>
                          <a:gd name="T3" fmla="*/ 111 h 263"/>
                          <a:gd name="T4" fmla="*/ 41 w 176"/>
                          <a:gd name="T5" fmla="*/ 98 h 263"/>
                          <a:gd name="T6" fmla="*/ 58 w 176"/>
                          <a:gd name="T7" fmla="*/ 77 h 263"/>
                          <a:gd name="T8" fmla="*/ 73 w 176"/>
                          <a:gd name="T9" fmla="*/ 59 h 263"/>
                          <a:gd name="T10" fmla="*/ 83 w 176"/>
                          <a:gd name="T11" fmla="*/ 39 h 263"/>
                          <a:gd name="T12" fmla="*/ 94 w 176"/>
                          <a:gd name="T13" fmla="*/ 0 h 263"/>
                          <a:gd name="T14" fmla="*/ 95 w 176"/>
                          <a:gd name="T15" fmla="*/ 20 h 263"/>
                          <a:gd name="T16" fmla="*/ 92 w 176"/>
                          <a:gd name="T17" fmla="*/ 46 h 263"/>
                          <a:gd name="T18" fmla="*/ 83 w 176"/>
                          <a:gd name="T19" fmla="*/ 75 h 263"/>
                          <a:gd name="T20" fmla="*/ 73 w 176"/>
                          <a:gd name="T21" fmla="*/ 102 h 263"/>
                          <a:gd name="T22" fmla="*/ 79 w 176"/>
                          <a:gd name="T23" fmla="*/ 119 h 263"/>
                          <a:gd name="T24" fmla="*/ 91 w 176"/>
                          <a:gd name="T25" fmla="*/ 100 h 263"/>
                          <a:gd name="T26" fmla="*/ 108 w 176"/>
                          <a:gd name="T27" fmla="*/ 77 h 263"/>
                          <a:gd name="T28" fmla="*/ 130 w 176"/>
                          <a:gd name="T29" fmla="*/ 53 h 263"/>
                          <a:gd name="T30" fmla="*/ 153 w 176"/>
                          <a:gd name="T31" fmla="*/ 39 h 263"/>
                          <a:gd name="T32" fmla="*/ 176 w 176"/>
                          <a:gd name="T33" fmla="*/ 23 h 263"/>
                          <a:gd name="T34" fmla="*/ 51 w 176"/>
                          <a:gd name="T35" fmla="*/ 169 h 263"/>
                          <a:gd name="T36" fmla="*/ 50 w 176"/>
                          <a:gd name="T37" fmla="*/ 184 h 263"/>
                          <a:gd name="T38" fmla="*/ 47 w 176"/>
                          <a:gd name="T39" fmla="*/ 199 h 263"/>
                          <a:gd name="T40" fmla="*/ 40 w 176"/>
                          <a:gd name="T41" fmla="*/ 211 h 263"/>
                          <a:gd name="T42" fmla="*/ 31 w 176"/>
                          <a:gd name="T43" fmla="*/ 231 h 263"/>
                          <a:gd name="T44" fmla="*/ 26 w 176"/>
                          <a:gd name="T45" fmla="*/ 263 h 263"/>
                          <a:gd name="T46" fmla="*/ 23 w 176"/>
                          <a:gd name="T47" fmla="*/ 210 h 263"/>
                          <a:gd name="T48" fmla="*/ 18 w 176"/>
                          <a:gd name="T49" fmla="*/ 169 h 263"/>
                          <a:gd name="T50" fmla="*/ 8 w 176"/>
                          <a:gd name="T51" fmla="*/ 133 h 263"/>
                          <a:gd name="T52" fmla="*/ 0 w 176"/>
                          <a:gd name="T53" fmla="*/ 105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6" h="263">
                            <a:moveTo>
                              <a:pt x="0" y="105"/>
                            </a:moveTo>
                            <a:lnTo>
                              <a:pt x="23" y="111"/>
                            </a:lnTo>
                            <a:lnTo>
                              <a:pt x="41" y="98"/>
                            </a:lnTo>
                            <a:lnTo>
                              <a:pt x="58" y="77"/>
                            </a:lnTo>
                            <a:lnTo>
                              <a:pt x="73" y="59"/>
                            </a:lnTo>
                            <a:lnTo>
                              <a:pt x="83" y="39"/>
                            </a:lnTo>
                            <a:lnTo>
                              <a:pt x="94" y="0"/>
                            </a:lnTo>
                            <a:lnTo>
                              <a:pt x="95" y="20"/>
                            </a:lnTo>
                            <a:lnTo>
                              <a:pt x="92" y="46"/>
                            </a:lnTo>
                            <a:lnTo>
                              <a:pt x="83" y="75"/>
                            </a:lnTo>
                            <a:lnTo>
                              <a:pt x="73" y="102"/>
                            </a:lnTo>
                            <a:lnTo>
                              <a:pt x="79" y="119"/>
                            </a:lnTo>
                            <a:lnTo>
                              <a:pt x="91" y="100"/>
                            </a:lnTo>
                            <a:lnTo>
                              <a:pt x="108" y="77"/>
                            </a:lnTo>
                            <a:lnTo>
                              <a:pt x="130" y="53"/>
                            </a:lnTo>
                            <a:lnTo>
                              <a:pt x="153" y="39"/>
                            </a:lnTo>
                            <a:lnTo>
                              <a:pt x="176" y="23"/>
                            </a:lnTo>
                            <a:lnTo>
                              <a:pt x="51" y="169"/>
                            </a:lnTo>
                            <a:lnTo>
                              <a:pt x="50" y="184"/>
                            </a:lnTo>
                            <a:lnTo>
                              <a:pt x="47" y="199"/>
                            </a:lnTo>
                            <a:lnTo>
                              <a:pt x="40" y="211"/>
                            </a:lnTo>
                            <a:lnTo>
                              <a:pt x="31" y="231"/>
                            </a:lnTo>
                            <a:lnTo>
                              <a:pt x="26" y="263"/>
                            </a:lnTo>
                            <a:lnTo>
                              <a:pt x="23" y="210"/>
                            </a:lnTo>
                            <a:lnTo>
                              <a:pt x="18" y="169"/>
                            </a:lnTo>
                            <a:lnTo>
                              <a:pt x="8" y="133"/>
                            </a:lnTo>
                            <a:lnTo>
                              <a:pt x="0" y="105"/>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0" name="Freeform 232"/>
                      <p:cNvSpPr/>
                      <p:nvPr/>
                    </p:nvSpPr>
                    <p:spPr bwMode="auto">
                      <a:xfrm>
                        <a:off x="2415" y="3135"/>
                        <a:ext cx="14" cy="42"/>
                      </a:xfrm>
                      <a:custGeom>
                        <a:avLst/>
                        <a:gdLst>
                          <a:gd name="T0" fmla="*/ 21 w 102"/>
                          <a:gd name="T1" fmla="*/ 263 h 337"/>
                          <a:gd name="T2" fmla="*/ 39 w 102"/>
                          <a:gd name="T3" fmla="*/ 281 h 337"/>
                          <a:gd name="T4" fmla="*/ 53 w 102"/>
                          <a:gd name="T5" fmla="*/ 294 h 337"/>
                          <a:gd name="T6" fmla="*/ 69 w 102"/>
                          <a:gd name="T7" fmla="*/ 309 h 337"/>
                          <a:gd name="T8" fmla="*/ 87 w 102"/>
                          <a:gd name="T9" fmla="*/ 337 h 337"/>
                          <a:gd name="T10" fmla="*/ 95 w 102"/>
                          <a:gd name="T11" fmla="*/ 313 h 337"/>
                          <a:gd name="T12" fmla="*/ 100 w 102"/>
                          <a:gd name="T13" fmla="*/ 283 h 337"/>
                          <a:gd name="T14" fmla="*/ 102 w 102"/>
                          <a:gd name="T15" fmla="*/ 235 h 337"/>
                          <a:gd name="T16" fmla="*/ 98 w 102"/>
                          <a:gd name="T17" fmla="*/ 202 h 337"/>
                          <a:gd name="T18" fmla="*/ 87 w 102"/>
                          <a:gd name="T19" fmla="*/ 151 h 337"/>
                          <a:gd name="T20" fmla="*/ 75 w 102"/>
                          <a:gd name="T21" fmla="*/ 101 h 337"/>
                          <a:gd name="T22" fmla="*/ 65 w 102"/>
                          <a:gd name="T23" fmla="*/ 69 h 337"/>
                          <a:gd name="T24" fmla="*/ 52 w 102"/>
                          <a:gd name="T25" fmla="*/ 38 h 337"/>
                          <a:gd name="T26" fmla="*/ 31 w 102"/>
                          <a:gd name="T27" fmla="*/ 0 h 337"/>
                          <a:gd name="T28" fmla="*/ 42 w 102"/>
                          <a:gd name="T29" fmla="*/ 38 h 337"/>
                          <a:gd name="T30" fmla="*/ 50 w 102"/>
                          <a:gd name="T31" fmla="*/ 69 h 337"/>
                          <a:gd name="T32" fmla="*/ 54 w 102"/>
                          <a:gd name="T33" fmla="*/ 102 h 337"/>
                          <a:gd name="T34" fmla="*/ 59 w 102"/>
                          <a:gd name="T35" fmla="*/ 143 h 337"/>
                          <a:gd name="T36" fmla="*/ 61 w 102"/>
                          <a:gd name="T37" fmla="*/ 194 h 337"/>
                          <a:gd name="T38" fmla="*/ 58 w 102"/>
                          <a:gd name="T39" fmla="*/ 234 h 337"/>
                          <a:gd name="T40" fmla="*/ 50 w 102"/>
                          <a:gd name="T41" fmla="*/ 243 h 337"/>
                          <a:gd name="T42" fmla="*/ 39 w 102"/>
                          <a:gd name="T43" fmla="*/ 249 h 337"/>
                          <a:gd name="T44" fmla="*/ 24 w 102"/>
                          <a:gd name="T45" fmla="*/ 251 h 337"/>
                          <a:gd name="T46" fmla="*/ 0 w 102"/>
                          <a:gd name="T47" fmla="*/ 248 h 337"/>
                          <a:gd name="T48" fmla="*/ 21 w 102"/>
                          <a:gd name="T49" fmla="*/ 263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2" h="337">
                            <a:moveTo>
                              <a:pt x="21" y="263"/>
                            </a:moveTo>
                            <a:lnTo>
                              <a:pt x="39" y="281"/>
                            </a:lnTo>
                            <a:lnTo>
                              <a:pt x="53" y="294"/>
                            </a:lnTo>
                            <a:lnTo>
                              <a:pt x="69" y="309"/>
                            </a:lnTo>
                            <a:lnTo>
                              <a:pt x="87" y="337"/>
                            </a:lnTo>
                            <a:lnTo>
                              <a:pt x="95" y="313"/>
                            </a:lnTo>
                            <a:lnTo>
                              <a:pt x="100" y="283"/>
                            </a:lnTo>
                            <a:lnTo>
                              <a:pt x="102" y="235"/>
                            </a:lnTo>
                            <a:lnTo>
                              <a:pt x="98" y="202"/>
                            </a:lnTo>
                            <a:lnTo>
                              <a:pt x="87" y="151"/>
                            </a:lnTo>
                            <a:lnTo>
                              <a:pt x="75" y="101"/>
                            </a:lnTo>
                            <a:lnTo>
                              <a:pt x="65" y="69"/>
                            </a:lnTo>
                            <a:lnTo>
                              <a:pt x="52" y="38"/>
                            </a:lnTo>
                            <a:lnTo>
                              <a:pt x="31" y="0"/>
                            </a:lnTo>
                            <a:lnTo>
                              <a:pt x="42" y="38"/>
                            </a:lnTo>
                            <a:lnTo>
                              <a:pt x="50" y="69"/>
                            </a:lnTo>
                            <a:lnTo>
                              <a:pt x="54" y="102"/>
                            </a:lnTo>
                            <a:lnTo>
                              <a:pt x="59" y="143"/>
                            </a:lnTo>
                            <a:lnTo>
                              <a:pt x="61" y="194"/>
                            </a:lnTo>
                            <a:lnTo>
                              <a:pt x="58" y="234"/>
                            </a:lnTo>
                            <a:lnTo>
                              <a:pt x="50" y="243"/>
                            </a:lnTo>
                            <a:lnTo>
                              <a:pt x="39" y="249"/>
                            </a:lnTo>
                            <a:lnTo>
                              <a:pt x="24" y="251"/>
                            </a:lnTo>
                            <a:lnTo>
                              <a:pt x="0" y="248"/>
                            </a:lnTo>
                            <a:lnTo>
                              <a:pt x="21" y="2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1" name="Freeform 233"/>
                      <p:cNvSpPr/>
                      <p:nvPr/>
                    </p:nvSpPr>
                    <p:spPr bwMode="auto">
                      <a:xfrm>
                        <a:off x="2396" y="3078"/>
                        <a:ext cx="49" cy="39"/>
                      </a:xfrm>
                      <a:custGeom>
                        <a:avLst/>
                        <a:gdLst>
                          <a:gd name="T0" fmla="*/ 81 w 340"/>
                          <a:gd name="T1" fmla="*/ 10 h 316"/>
                          <a:gd name="T2" fmla="*/ 69 w 340"/>
                          <a:gd name="T3" fmla="*/ 0 h 316"/>
                          <a:gd name="T4" fmla="*/ 55 w 340"/>
                          <a:gd name="T5" fmla="*/ 1 h 316"/>
                          <a:gd name="T6" fmla="*/ 37 w 340"/>
                          <a:gd name="T7" fmla="*/ 11 h 316"/>
                          <a:gd name="T8" fmla="*/ 24 w 340"/>
                          <a:gd name="T9" fmla="*/ 22 h 316"/>
                          <a:gd name="T10" fmla="*/ 10 w 340"/>
                          <a:gd name="T11" fmla="*/ 39 h 316"/>
                          <a:gd name="T12" fmla="*/ 3 w 340"/>
                          <a:gd name="T13" fmla="*/ 55 h 316"/>
                          <a:gd name="T14" fmla="*/ 0 w 340"/>
                          <a:gd name="T15" fmla="*/ 72 h 316"/>
                          <a:gd name="T16" fmla="*/ 7 w 340"/>
                          <a:gd name="T17" fmla="*/ 77 h 316"/>
                          <a:gd name="T18" fmla="*/ 20 w 340"/>
                          <a:gd name="T19" fmla="*/ 81 h 316"/>
                          <a:gd name="T20" fmla="*/ 35 w 340"/>
                          <a:gd name="T21" fmla="*/ 82 h 316"/>
                          <a:gd name="T22" fmla="*/ 44 w 340"/>
                          <a:gd name="T23" fmla="*/ 80 h 316"/>
                          <a:gd name="T24" fmla="*/ 47 w 340"/>
                          <a:gd name="T25" fmla="*/ 94 h 316"/>
                          <a:gd name="T26" fmla="*/ 54 w 340"/>
                          <a:gd name="T27" fmla="*/ 112 h 316"/>
                          <a:gd name="T28" fmla="*/ 66 w 340"/>
                          <a:gd name="T29" fmla="*/ 127 h 316"/>
                          <a:gd name="T30" fmla="*/ 87 w 340"/>
                          <a:gd name="T31" fmla="*/ 147 h 316"/>
                          <a:gd name="T32" fmla="*/ 108 w 340"/>
                          <a:gd name="T33" fmla="*/ 163 h 316"/>
                          <a:gd name="T34" fmla="*/ 131 w 340"/>
                          <a:gd name="T35" fmla="*/ 184 h 316"/>
                          <a:gd name="T36" fmla="*/ 147 w 340"/>
                          <a:gd name="T37" fmla="*/ 208 h 316"/>
                          <a:gd name="T38" fmla="*/ 161 w 340"/>
                          <a:gd name="T39" fmla="*/ 231 h 316"/>
                          <a:gd name="T40" fmla="*/ 187 w 340"/>
                          <a:gd name="T41" fmla="*/ 244 h 316"/>
                          <a:gd name="T42" fmla="*/ 217 w 340"/>
                          <a:gd name="T43" fmla="*/ 267 h 316"/>
                          <a:gd name="T44" fmla="*/ 242 w 340"/>
                          <a:gd name="T45" fmla="*/ 282 h 316"/>
                          <a:gd name="T46" fmla="*/ 270 w 340"/>
                          <a:gd name="T47" fmla="*/ 288 h 316"/>
                          <a:gd name="T48" fmla="*/ 298 w 340"/>
                          <a:gd name="T49" fmla="*/ 298 h 316"/>
                          <a:gd name="T50" fmla="*/ 324 w 340"/>
                          <a:gd name="T51" fmla="*/ 305 h 316"/>
                          <a:gd name="T52" fmla="*/ 340 w 340"/>
                          <a:gd name="T53" fmla="*/ 316 h 316"/>
                          <a:gd name="T54" fmla="*/ 324 w 340"/>
                          <a:gd name="T55" fmla="*/ 300 h 316"/>
                          <a:gd name="T56" fmla="*/ 298 w 340"/>
                          <a:gd name="T57" fmla="*/ 288 h 316"/>
                          <a:gd name="T58" fmla="*/ 266 w 340"/>
                          <a:gd name="T59" fmla="*/ 276 h 316"/>
                          <a:gd name="T60" fmla="*/ 239 w 340"/>
                          <a:gd name="T61" fmla="*/ 267 h 316"/>
                          <a:gd name="T62" fmla="*/ 217 w 340"/>
                          <a:gd name="T63" fmla="*/ 247 h 316"/>
                          <a:gd name="T64" fmla="*/ 194 w 340"/>
                          <a:gd name="T65" fmla="*/ 233 h 316"/>
                          <a:gd name="T66" fmla="*/ 173 w 340"/>
                          <a:gd name="T67" fmla="*/ 221 h 316"/>
                          <a:gd name="T68" fmla="*/ 164 w 340"/>
                          <a:gd name="T69" fmla="*/ 199 h 316"/>
                          <a:gd name="T70" fmla="*/ 138 w 340"/>
                          <a:gd name="T71" fmla="*/ 166 h 316"/>
                          <a:gd name="T72" fmla="*/ 116 w 340"/>
                          <a:gd name="T73" fmla="*/ 150 h 316"/>
                          <a:gd name="T74" fmla="*/ 101 w 340"/>
                          <a:gd name="T75" fmla="*/ 139 h 316"/>
                          <a:gd name="T76" fmla="*/ 84 w 340"/>
                          <a:gd name="T77" fmla="*/ 122 h 316"/>
                          <a:gd name="T78" fmla="*/ 70 w 340"/>
                          <a:gd name="T79" fmla="*/ 105 h 316"/>
                          <a:gd name="T80" fmla="*/ 63 w 340"/>
                          <a:gd name="T81" fmla="*/ 86 h 316"/>
                          <a:gd name="T82" fmla="*/ 60 w 340"/>
                          <a:gd name="T83" fmla="*/ 64 h 316"/>
                          <a:gd name="T84" fmla="*/ 63 w 340"/>
                          <a:gd name="T85" fmla="*/ 45 h 316"/>
                          <a:gd name="T86" fmla="*/ 72 w 340"/>
                          <a:gd name="T87" fmla="*/ 25 h 316"/>
                          <a:gd name="T88" fmla="*/ 81 w 340"/>
                          <a:gd name="T89" fmla="*/ 1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0" h="316">
                            <a:moveTo>
                              <a:pt x="81" y="10"/>
                            </a:moveTo>
                            <a:lnTo>
                              <a:pt x="69" y="0"/>
                            </a:lnTo>
                            <a:lnTo>
                              <a:pt x="55" y="1"/>
                            </a:lnTo>
                            <a:lnTo>
                              <a:pt x="37" y="11"/>
                            </a:lnTo>
                            <a:lnTo>
                              <a:pt x="24" y="22"/>
                            </a:lnTo>
                            <a:lnTo>
                              <a:pt x="10" y="39"/>
                            </a:lnTo>
                            <a:lnTo>
                              <a:pt x="3" y="55"/>
                            </a:lnTo>
                            <a:lnTo>
                              <a:pt x="0" y="72"/>
                            </a:lnTo>
                            <a:lnTo>
                              <a:pt x="7" y="77"/>
                            </a:lnTo>
                            <a:lnTo>
                              <a:pt x="20" y="81"/>
                            </a:lnTo>
                            <a:lnTo>
                              <a:pt x="35" y="82"/>
                            </a:lnTo>
                            <a:lnTo>
                              <a:pt x="44" y="80"/>
                            </a:lnTo>
                            <a:lnTo>
                              <a:pt x="47" y="94"/>
                            </a:lnTo>
                            <a:lnTo>
                              <a:pt x="54" y="112"/>
                            </a:lnTo>
                            <a:lnTo>
                              <a:pt x="66" y="127"/>
                            </a:lnTo>
                            <a:lnTo>
                              <a:pt x="87" y="147"/>
                            </a:lnTo>
                            <a:lnTo>
                              <a:pt x="108" y="163"/>
                            </a:lnTo>
                            <a:lnTo>
                              <a:pt x="131" y="184"/>
                            </a:lnTo>
                            <a:lnTo>
                              <a:pt x="147" y="208"/>
                            </a:lnTo>
                            <a:lnTo>
                              <a:pt x="161" y="231"/>
                            </a:lnTo>
                            <a:lnTo>
                              <a:pt x="187" y="244"/>
                            </a:lnTo>
                            <a:lnTo>
                              <a:pt x="217" y="267"/>
                            </a:lnTo>
                            <a:lnTo>
                              <a:pt x="242" y="282"/>
                            </a:lnTo>
                            <a:lnTo>
                              <a:pt x="270" y="288"/>
                            </a:lnTo>
                            <a:lnTo>
                              <a:pt x="298" y="298"/>
                            </a:lnTo>
                            <a:lnTo>
                              <a:pt x="324" y="305"/>
                            </a:lnTo>
                            <a:lnTo>
                              <a:pt x="340" y="316"/>
                            </a:lnTo>
                            <a:lnTo>
                              <a:pt x="324" y="300"/>
                            </a:lnTo>
                            <a:lnTo>
                              <a:pt x="298" y="288"/>
                            </a:lnTo>
                            <a:lnTo>
                              <a:pt x="266" y="276"/>
                            </a:lnTo>
                            <a:lnTo>
                              <a:pt x="239" y="267"/>
                            </a:lnTo>
                            <a:lnTo>
                              <a:pt x="217" y="247"/>
                            </a:lnTo>
                            <a:lnTo>
                              <a:pt x="194" y="233"/>
                            </a:lnTo>
                            <a:lnTo>
                              <a:pt x="173" y="221"/>
                            </a:lnTo>
                            <a:lnTo>
                              <a:pt x="164" y="199"/>
                            </a:lnTo>
                            <a:lnTo>
                              <a:pt x="138" y="166"/>
                            </a:lnTo>
                            <a:lnTo>
                              <a:pt x="116" y="150"/>
                            </a:lnTo>
                            <a:lnTo>
                              <a:pt x="101" y="139"/>
                            </a:lnTo>
                            <a:lnTo>
                              <a:pt x="84" y="122"/>
                            </a:lnTo>
                            <a:lnTo>
                              <a:pt x="70" y="105"/>
                            </a:lnTo>
                            <a:lnTo>
                              <a:pt x="63" y="86"/>
                            </a:lnTo>
                            <a:lnTo>
                              <a:pt x="60" y="64"/>
                            </a:lnTo>
                            <a:lnTo>
                              <a:pt x="63" y="45"/>
                            </a:lnTo>
                            <a:lnTo>
                              <a:pt x="72" y="25"/>
                            </a:lnTo>
                            <a:lnTo>
                              <a:pt x="81" y="1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2" name="Freeform 234"/>
                      <p:cNvSpPr/>
                      <p:nvPr/>
                    </p:nvSpPr>
                    <p:spPr bwMode="auto">
                      <a:xfrm>
                        <a:off x="2429" y="3101"/>
                        <a:ext cx="17" cy="10"/>
                      </a:xfrm>
                      <a:custGeom>
                        <a:avLst/>
                        <a:gdLst>
                          <a:gd name="T0" fmla="*/ 0 w 120"/>
                          <a:gd name="T1" fmla="*/ 0 h 83"/>
                          <a:gd name="T2" fmla="*/ 24 w 120"/>
                          <a:gd name="T3" fmla="*/ 20 h 83"/>
                          <a:gd name="T4" fmla="*/ 45 w 120"/>
                          <a:gd name="T5" fmla="*/ 32 h 83"/>
                          <a:gd name="T6" fmla="*/ 66 w 120"/>
                          <a:gd name="T7" fmla="*/ 42 h 83"/>
                          <a:gd name="T8" fmla="*/ 90 w 120"/>
                          <a:gd name="T9" fmla="*/ 45 h 83"/>
                          <a:gd name="T10" fmla="*/ 117 w 120"/>
                          <a:gd name="T11" fmla="*/ 43 h 83"/>
                          <a:gd name="T12" fmla="*/ 120 w 120"/>
                          <a:gd name="T13" fmla="*/ 83 h 83"/>
                          <a:gd name="T14" fmla="*/ 95 w 120"/>
                          <a:gd name="T15" fmla="*/ 81 h 83"/>
                          <a:gd name="T16" fmla="*/ 69 w 120"/>
                          <a:gd name="T17" fmla="*/ 73 h 83"/>
                          <a:gd name="T18" fmla="*/ 48 w 120"/>
                          <a:gd name="T19" fmla="*/ 60 h 83"/>
                          <a:gd name="T20" fmla="*/ 32 w 120"/>
                          <a:gd name="T21" fmla="*/ 46 h 83"/>
                          <a:gd name="T22" fmla="*/ 15 w 120"/>
                          <a:gd name="T23" fmla="*/ 23 h 83"/>
                          <a:gd name="T24" fmla="*/ 0 w 120"/>
                          <a:gd name="T2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0" h="83">
                            <a:moveTo>
                              <a:pt x="0" y="0"/>
                            </a:moveTo>
                            <a:lnTo>
                              <a:pt x="24" y="20"/>
                            </a:lnTo>
                            <a:lnTo>
                              <a:pt x="45" y="32"/>
                            </a:lnTo>
                            <a:lnTo>
                              <a:pt x="66" y="42"/>
                            </a:lnTo>
                            <a:lnTo>
                              <a:pt x="90" y="45"/>
                            </a:lnTo>
                            <a:lnTo>
                              <a:pt x="117" y="43"/>
                            </a:lnTo>
                            <a:lnTo>
                              <a:pt x="120" y="83"/>
                            </a:lnTo>
                            <a:lnTo>
                              <a:pt x="95" y="81"/>
                            </a:lnTo>
                            <a:lnTo>
                              <a:pt x="69" y="73"/>
                            </a:lnTo>
                            <a:lnTo>
                              <a:pt x="48" y="60"/>
                            </a:lnTo>
                            <a:lnTo>
                              <a:pt x="32" y="46"/>
                            </a:lnTo>
                            <a:lnTo>
                              <a:pt x="15" y="23"/>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3" name="Freeform 235"/>
                      <p:cNvSpPr/>
                      <p:nvPr/>
                    </p:nvSpPr>
                    <p:spPr bwMode="auto">
                      <a:xfrm>
                        <a:off x="2360" y="3155"/>
                        <a:ext cx="16" cy="21"/>
                      </a:xfrm>
                      <a:custGeom>
                        <a:avLst/>
                        <a:gdLst>
                          <a:gd name="T0" fmla="*/ 0 w 114"/>
                          <a:gd name="T1" fmla="*/ 0 h 167"/>
                          <a:gd name="T2" fmla="*/ 37 w 114"/>
                          <a:gd name="T3" fmla="*/ 16 h 167"/>
                          <a:gd name="T4" fmla="*/ 82 w 114"/>
                          <a:gd name="T5" fmla="*/ 39 h 167"/>
                          <a:gd name="T6" fmla="*/ 114 w 114"/>
                          <a:gd name="T7" fmla="*/ 63 h 167"/>
                          <a:gd name="T8" fmla="*/ 108 w 114"/>
                          <a:gd name="T9" fmla="*/ 108 h 167"/>
                          <a:gd name="T10" fmla="*/ 112 w 114"/>
                          <a:gd name="T11" fmla="*/ 167 h 167"/>
                          <a:gd name="T12" fmla="*/ 87 w 114"/>
                          <a:gd name="T13" fmla="*/ 161 h 167"/>
                          <a:gd name="T14" fmla="*/ 69 w 114"/>
                          <a:gd name="T15" fmla="*/ 148 h 167"/>
                          <a:gd name="T16" fmla="*/ 47 w 114"/>
                          <a:gd name="T17" fmla="*/ 120 h 167"/>
                          <a:gd name="T18" fmla="*/ 33 w 114"/>
                          <a:gd name="T19" fmla="*/ 92 h 167"/>
                          <a:gd name="T20" fmla="*/ 27 w 114"/>
                          <a:gd name="T21" fmla="*/ 61 h 167"/>
                          <a:gd name="T22" fmla="*/ 16 w 114"/>
                          <a:gd name="T23" fmla="*/ 25 h 167"/>
                          <a:gd name="T24" fmla="*/ 0 w 114"/>
                          <a:gd name="T2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67">
                            <a:moveTo>
                              <a:pt x="0" y="0"/>
                            </a:moveTo>
                            <a:lnTo>
                              <a:pt x="37" y="16"/>
                            </a:lnTo>
                            <a:lnTo>
                              <a:pt x="82" y="39"/>
                            </a:lnTo>
                            <a:lnTo>
                              <a:pt x="114" y="63"/>
                            </a:lnTo>
                            <a:lnTo>
                              <a:pt x="108" y="108"/>
                            </a:lnTo>
                            <a:lnTo>
                              <a:pt x="112" y="167"/>
                            </a:lnTo>
                            <a:lnTo>
                              <a:pt x="87" y="161"/>
                            </a:lnTo>
                            <a:lnTo>
                              <a:pt x="69" y="148"/>
                            </a:lnTo>
                            <a:lnTo>
                              <a:pt x="47" y="120"/>
                            </a:lnTo>
                            <a:lnTo>
                              <a:pt x="33" y="92"/>
                            </a:lnTo>
                            <a:lnTo>
                              <a:pt x="27" y="61"/>
                            </a:lnTo>
                            <a:lnTo>
                              <a:pt x="16" y="25"/>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4" name="Freeform 236"/>
                      <p:cNvSpPr/>
                      <p:nvPr/>
                    </p:nvSpPr>
                    <p:spPr bwMode="auto">
                      <a:xfrm>
                        <a:off x="2404" y="3160"/>
                        <a:ext cx="23" cy="30"/>
                      </a:xfrm>
                      <a:custGeom>
                        <a:avLst/>
                        <a:gdLst>
                          <a:gd name="T0" fmla="*/ 0 w 161"/>
                          <a:gd name="T1" fmla="*/ 0 h 245"/>
                          <a:gd name="T2" fmla="*/ 29 w 161"/>
                          <a:gd name="T3" fmla="*/ 19 h 245"/>
                          <a:gd name="T4" fmla="*/ 54 w 161"/>
                          <a:gd name="T5" fmla="*/ 36 h 245"/>
                          <a:gd name="T6" fmla="*/ 79 w 161"/>
                          <a:gd name="T7" fmla="*/ 59 h 245"/>
                          <a:gd name="T8" fmla="*/ 101 w 161"/>
                          <a:gd name="T9" fmla="*/ 80 h 245"/>
                          <a:gd name="T10" fmla="*/ 119 w 161"/>
                          <a:gd name="T11" fmla="*/ 101 h 245"/>
                          <a:gd name="T12" fmla="*/ 133 w 161"/>
                          <a:gd name="T13" fmla="*/ 130 h 245"/>
                          <a:gd name="T14" fmla="*/ 139 w 161"/>
                          <a:gd name="T15" fmla="*/ 163 h 245"/>
                          <a:gd name="T16" fmla="*/ 136 w 161"/>
                          <a:gd name="T17" fmla="*/ 210 h 245"/>
                          <a:gd name="T18" fmla="*/ 128 w 161"/>
                          <a:gd name="T19" fmla="*/ 245 h 245"/>
                          <a:gd name="T20" fmla="*/ 156 w 161"/>
                          <a:gd name="T21" fmla="*/ 234 h 245"/>
                          <a:gd name="T22" fmla="*/ 160 w 161"/>
                          <a:gd name="T23" fmla="*/ 203 h 245"/>
                          <a:gd name="T24" fmla="*/ 161 w 161"/>
                          <a:gd name="T25" fmla="*/ 172 h 245"/>
                          <a:gd name="T26" fmla="*/ 158 w 161"/>
                          <a:gd name="T27" fmla="*/ 143 h 245"/>
                          <a:gd name="T28" fmla="*/ 149 w 161"/>
                          <a:gd name="T29" fmla="*/ 119 h 245"/>
                          <a:gd name="T30" fmla="*/ 137 w 161"/>
                          <a:gd name="T31" fmla="*/ 95 h 245"/>
                          <a:gd name="T32" fmla="*/ 118 w 161"/>
                          <a:gd name="T33" fmla="*/ 73 h 245"/>
                          <a:gd name="T34" fmla="*/ 97 w 161"/>
                          <a:gd name="T35" fmla="*/ 55 h 245"/>
                          <a:gd name="T36" fmla="*/ 73 w 161"/>
                          <a:gd name="T37" fmla="*/ 36 h 245"/>
                          <a:gd name="T38" fmla="*/ 49 w 161"/>
                          <a:gd name="T39" fmla="*/ 20 h 245"/>
                          <a:gd name="T40" fmla="*/ 24 w 161"/>
                          <a:gd name="T41" fmla="*/ 7 h 245"/>
                          <a:gd name="T42" fmla="*/ 0 w 161"/>
                          <a:gd name="T43"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1" h="245">
                            <a:moveTo>
                              <a:pt x="0" y="0"/>
                            </a:moveTo>
                            <a:lnTo>
                              <a:pt x="29" y="19"/>
                            </a:lnTo>
                            <a:lnTo>
                              <a:pt x="54" y="36"/>
                            </a:lnTo>
                            <a:lnTo>
                              <a:pt x="79" y="59"/>
                            </a:lnTo>
                            <a:lnTo>
                              <a:pt x="101" y="80"/>
                            </a:lnTo>
                            <a:lnTo>
                              <a:pt x="119" y="101"/>
                            </a:lnTo>
                            <a:lnTo>
                              <a:pt x="133" y="130"/>
                            </a:lnTo>
                            <a:lnTo>
                              <a:pt x="139" y="163"/>
                            </a:lnTo>
                            <a:lnTo>
                              <a:pt x="136" y="210"/>
                            </a:lnTo>
                            <a:lnTo>
                              <a:pt x="128" y="245"/>
                            </a:lnTo>
                            <a:lnTo>
                              <a:pt x="156" y="234"/>
                            </a:lnTo>
                            <a:lnTo>
                              <a:pt x="160" y="203"/>
                            </a:lnTo>
                            <a:lnTo>
                              <a:pt x="161" y="172"/>
                            </a:lnTo>
                            <a:lnTo>
                              <a:pt x="158" y="143"/>
                            </a:lnTo>
                            <a:lnTo>
                              <a:pt x="149" y="119"/>
                            </a:lnTo>
                            <a:lnTo>
                              <a:pt x="137" y="95"/>
                            </a:lnTo>
                            <a:lnTo>
                              <a:pt x="118" y="73"/>
                            </a:lnTo>
                            <a:lnTo>
                              <a:pt x="97" y="55"/>
                            </a:lnTo>
                            <a:lnTo>
                              <a:pt x="73" y="36"/>
                            </a:lnTo>
                            <a:lnTo>
                              <a:pt x="49" y="20"/>
                            </a:lnTo>
                            <a:lnTo>
                              <a:pt x="24" y="7"/>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5" name="Freeform 237"/>
                      <p:cNvSpPr/>
                      <p:nvPr/>
                    </p:nvSpPr>
                    <p:spPr bwMode="auto">
                      <a:xfrm>
                        <a:off x="2436" y="3125"/>
                        <a:ext cx="14" cy="20"/>
                      </a:xfrm>
                      <a:custGeom>
                        <a:avLst/>
                        <a:gdLst>
                          <a:gd name="T0" fmla="*/ 0 w 96"/>
                          <a:gd name="T1" fmla="*/ 0 h 160"/>
                          <a:gd name="T2" fmla="*/ 16 w 96"/>
                          <a:gd name="T3" fmla="*/ 31 h 160"/>
                          <a:gd name="T4" fmla="*/ 27 w 96"/>
                          <a:gd name="T5" fmla="*/ 51 h 160"/>
                          <a:gd name="T6" fmla="*/ 45 w 96"/>
                          <a:gd name="T7" fmla="*/ 71 h 160"/>
                          <a:gd name="T8" fmla="*/ 69 w 96"/>
                          <a:gd name="T9" fmla="*/ 97 h 160"/>
                          <a:gd name="T10" fmla="*/ 96 w 96"/>
                          <a:gd name="T11" fmla="*/ 122 h 160"/>
                          <a:gd name="T12" fmla="*/ 93 w 96"/>
                          <a:gd name="T13" fmla="*/ 160 h 160"/>
                          <a:gd name="T14" fmla="*/ 74 w 96"/>
                          <a:gd name="T15" fmla="*/ 153 h 160"/>
                          <a:gd name="T16" fmla="*/ 50 w 96"/>
                          <a:gd name="T17" fmla="*/ 132 h 160"/>
                          <a:gd name="T18" fmla="*/ 28 w 96"/>
                          <a:gd name="T19" fmla="*/ 104 h 160"/>
                          <a:gd name="T20" fmla="*/ 14 w 96"/>
                          <a:gd name="T21" fmla="*/ 69 h 160"/>
                          <a:gd name="T22" fmla="*/ 7 w 96"/>
                          <a:gd name="T23" fmla="*/ 42 h 160"/>
                          <a:gd name="T24" fmla="*/ 0 w 96"/>
                          <a:gd name="T2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160">
                            <a:moveTo>
                              <a:pt x="0" y="0"/>
                            </a:moveTo>
                            <a:lnTo>
                              <a:pt x="16" y="31"/>
                            </a:lnTo>
                            <a:lnTo>
                              <a:pt x="27" y="51"/>
                            </a:lnTo>
                            <a:lnTo>
                              <a:pt x="45" y="71"/>
                            </a:lnTo>
                            <a:lnTo>
                              <a:pt x="69" y="97"/>
                            </a:lnTo>
                            <a:lnTo>
                              <a:pt x="96" y="122"/>
                            </a:lnTo>
                            <a:lnTo>
                              <a:pt x="93" y="160"/>
                            </a:lnTo>
                            <a:lnTo>
                              <a:pt x="74" y="153"/>
                            </a:lnTo>
                            <a:lnTo>
                              <a:pt x="50" y="132"/>
                            </a:lnTo>
                            <a:lnTo>
                              <a:pt x="28" y="104"/>
                            </a:lnTo>
                            <a:lnTo>
                              <a:pt x="14" y="69"/>
                            </a:lnTo>
                            <a:lnTo>
                              <a:pt x="7" y="42"/>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6" name="Freeform 238"/>
                      <p:cNvSpPr/>
                      <p:nvPr/>
                    </p:nvSpPr>
                    <p:spPr bwMode="auto">
                      <a:xfrm>
                        <a:off x="2446" y="3146"/>
                        <a:ext cx="9" cy="23"/>
                      </a:xfrm>
                      <a:custGeom>
                        <a:avLst/>
                        <a:gdLst>
                          <a:gd name="T0" fmla="*/ 7 w 63"/>
                          <a:gd name="T1" fmla="*/ 0 h 182"/>
                          <a:gd name="T2" fmla="*/ 3 w 63"/>
                          <a:gd name="T3" fmla="*/ 52 h 182"/>
                          <a:gd name="T4" fmla="*/ 1 w 63"/>
                          <a:gd name="T5" fmla="*/ 87 h 182"/>
                          <a:gd name="T6" fmla="*/ 0 w 63"/>
                          <a:gd name="T7" fmla="*/ 121 h 182"/>
                          <a:gd name="T8" fmla="*/ 2 w 63"/>
                          <a:gd name="T9" fmla="*/ 150 h 182"/>
                          <a:gd name="T10" fmla="*/ 5 w 63"/>
                          <a:gd name="T11" fmla="*/ 182 h 182"/>
                          <a:gd name="T12" fmla="*/ 26 w 63"/>
                          <a:gd name="T13" fmla="*/ 157 h 182"/>
                          <a:gd name="T14" fmla="*/ 63 w 63"/>
                          <a:gd name="T15" fmla="*/ 62 h 182"/>
                          <a:gd name="T16" fmla="*/ 7 w 63"/>
                          <a:gd name="T17"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182">
                            <a:moveTo>
                              <a:pt x="7" y="0"/>
                            </a:moveTo>
                            <a:lnTo>
                              <a:pt x="3" y="52"/>
                            </a:lnTo>
                            <a:lnTo>
                              <a:pt x="1" y="87"/>
                            </a:lnTo>
                            <a:lnTo>
                              <a:pt x="0" y="121"/>
                            </a:lnTo>
                            <a:lnTo>
                              <a:pt x="2" y="150"/>
                            </a:lnTo>
                            <a:lnTo>
                              <a:pt x="5" y="182"/>
                            </a:lnTo>
                            <a:lnTo>
                              <a:pt x="26" y="157"/>
                            </a:lnTo>
                            <a:lnTo>
                              <a:pt x="63" y="62"/>
                            </a:lnTo>
                            <a:lnTo>
                              <a:pt x="7"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7" name="Freeform 239"/>
                      <p:cNvSpPr/>
                      <p:nvPr/>
                    </p:nvSpPr>
                    <p:spPr bwMode="auto">
                      <a:xfrm>
                        <a:off x="2492" y="3100"/>
                        <a:ext cx="30" cy="21"/>
                      </a:xfrm>
                      <a:custGeom>
                        <a:avLst/>
                        <a:gdLst>
                          <a:gd name="T0" fmla="*/ 0 w 211"/>
                          <a:gd name="T1" fmla="*/ 163 h 165"/>
                          <a:gd name="T2" fmla="*/ 12 w 211"/>
                          <a:gd name="T3" fmla="*/ 143 h 165"/>
                          <a:gd name="T4" fmla="*/ 25 w 211"/>
                          <a:gd name="T5" fmla="*/ 120 h 165"/>
                          <a:gd name="T6" fmla="*/ 41 w 211"/>
                          <a:gd name="T7" fmla="*/ 99 h 165"/>
                          <a:gd name="T8" fmla="*/ 58 w 211"/>
                          <a:gd name="T9" fmla="*/ 88 h 165"/>
                          <a:gd name="T10" fmla="*/ 81 w 211"/>
                          <a:gd name="T11" fmla="*/ 75 h 165"/>
                          <a:gd name="T12" fmla="*/ 91 w 211"/>
                          <a:gd name="T13" fmla="*/ 64 h 165"/>
                          <a:gd name="T14" fmla="*/ 97 w 211"/>
                          <a:gd name="T15" fmla="*/ 45 h 165"/>
                          <a:gd name="T16" fmla="*/ 110 w 211"/>
                          <a:gd name="T17" fmla="*/ 37 h 165"/>
                          <a:gd name="T18" fmla="*/ 125 w 211"/>
                          <a:gd name="T19" fmla="*/ 28 h 165"/>
                          <a:gd name="T20" fmla="*/ 142 w 211"/>
                          <a:gd name="T21" fmla="*/ 18 h 165"/>
                          <a:gd name="T22" fmla="*/ 176 w 211"/>
                          <a:gd name="T23" fmla="*/ 0 h 165"/>
                          <a:gd name="T24" fmla="*/ 151 w 211"/>
                          <a:gd name="T25" fmla="*/ 20 h 165"/>
                          <a:gd name="T26" fmla="*/ 132 w 211"/>
                          <a:gd name="T27" fmla="*/ 33 h 165"/>
                          <a:gd name="T28" fmla="*/ 120 w 211"/>
                          <a:gd name="T29" fmla="*/ 46 h 165"/>
                          <a:gd name="T30" fmla="*/ 109 w 211"/>
                          <a:gd name="T31" fmla="*/ 60 h 165"/>
                          <a:gd name="T32" fmla="*/ 124 w 211"/>
                          <a:gd name="T33" fmla="*/ 59 h 165"/>
                          <a:gd name="T34" fmla="*/ 149 w 211"/>
                          <a:gd name="T35" fmla="*/ 60 h 165"/>
                          <a:gd name="T36" fmla="*/ 173 w 211"/>
                          <a:gd name="T37" fmla="*/ 65 h 165"/>
                          <a:gd name="T38" fmla="*/ 190 w 211"/>
                          <a:gd name="T39" fmla="*/ 75 h 165"/>
                          <a:gd name="T40" fmla="*/ 201 w 211"/>
                          <a:gd name="T41" fmla="*/ 82 h 165"/>
                          <a:gd name="T42" fmla="*/ 209 w 211"/>
                          <a:gd name="T43" fmla="*/ 96 h 165"/>
                          <a:gd name="T44" fmla="*/ 211 w 211"/>
                          <a:gd name="T45" fmla="*/ 117 h 165"/>
                          <a:gd name="T46" fmla="*/ 202 w 211"/>
                          <a:gd name="T47" fmla="*/ 101 h 165"/>
                          <a:gd name="T48" fmla="*/ 188 w 211"/>
                          <a:gd name="T49" fmla="*/ 87 h 165"/>
                          <a:gd name="T50" fmla="*/ 174 w 211"/>
                          <a:gd name="T51" fmla="*/ 80 h 165"/>
                          <a:gd name="T52" fmla="*/ 157 w 211"/>
                          <a:gd name="T53" fmla="*/ 76 h 165"/>
                          <a:gd name="T54" fmla="*/ 138 w 211"/>
                          <a:gd name="T55" fmla="*/ 74 h 165"/>
                          <a:gd name="T56" fmla="*/ 120 w 211"/>
                          <a:gd name="T57" fmla="*/ 75 h 165"/>
                          <a:gd name="T58" fmla="*/ 104 w 211"/>
                          <a:gd name="T59" fmla="*/ 78 h 165"/>
                          <a:gd name="T60" fmla="*/ 88 w 211"/>
                          <a:gd name="T61" fmla="*/ 85 h 165"/>
                          <a:gd name="T62" fmla="*/ 77 w 211"/>
                          <a:gd name="T63" fmla="*/ 95 h 165"/>
                          <a:gd name="T64" fmla="*/ 82 w 211"/>
                          <a:gd name="T65" fmla="*/ 103 h 165"/>
                          <a:gd name="T66" fmla="*/ 86 w 211"/>
                          <a:gd name="T67" fmla="*/ 114 h 165"/>
                          <a:gd name="T68" fmla="*/ 76 w 211"/>
                          <a:gd name="T69" fmla="*/ 111 h 165"/>
                          <a:gd name="T70" fmla="*/ 64 w 211"/>
                          <a:gd name="T71" fmla="*/ 105 h 165"/>
                          <a:gd name="T72" fmla="*/ 71 w 211"/>
                          <a:gd name="T73" fmla="*/ 116 h 165"/>
                          <a:gd name="T74" fmla="*/ 74 w 211"/>
                          <a:gd name="T75" fmla="*/ 126 h 165"/>
                          <a:gd name="T76" fmla="*/ 58 w 211"/>
                          <a:gd name="T77" fmla="*/ 125 h 165"/>
                          <a:gd name="T78" fmla="*/ 46 w 211"/>
                          <a:gd name="T79" fmla="*/ 123 h 165"/>
                          <a:gd name="T80" fmla="*/ 37 w 211"/>
                          <a:gd name="T81" fmla="*/ 137 h 165"/>
                          <a:gd name="T82" fmla="*/ 20 w 211"/>
                          <a:gd name="T83" fmla="*/ 145 h 165"/>
                          <a:gd name="T84" fmla="*/ 4 w 211"/>
                          <a:gd name="T85" fmla="*/ 165 h 165"/>
                          <a:gd name="T86" fmla="*/ 0 w 211"/>
                          <a:gd name="T87" fmla="*/ 163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1" h="165">
                            <a:moveTo>
                              <a:pt x="0" y="163"/>
                            </a:moveTo>
                            <a:lnTo>
                              <a:pt x="12" y="143"/>
                            </a:lnTo>
                            <a:lnTo>
                              <a:pt x="25" y="120"/>
                            </a:lnTo>
                            <a:lnTo>
                              <a:pt x="41" y="99"/>
                            </a:lnTo>
                            <a:lnTo>
                              <a:pt x="58" y="88"/>
                            </a:lnTo>
                            <a:lnTo>
                              <a:pt x="81" y="75"/>
                            </a:lnTo>
                            <a:lnTo>
                              <a:pt x="91" y="64"/>
                            </a:lnTo>
                            <a:lnTo>
                              <a:pt x="97" y="45"/>
                            </a:lnTo>
                            <a:lnTo>
                              <a:pt x="110" y="37"/>
                            </a:lnTo>
                            <a:lnTo>
                              <a:pt x="125" y="28"/>
                            </a:lnTo>
                            <a:lnTo>
                              <a:pt x="142" y="18"/>
                            </a:lnTo>
                            <a:lnTo>
                              <a:pt x="176" y="0"/>
                            </a:lnTo>
                            <a:lnTo>
                              <a:pt x="151" y="20"/>
                            </a:lnTo>
                            <a:lnTo>
                              <a:pt x="132" y="33"/>
                            </a:lnTo>
                            <a:lnTo>
                              <a:pt x="120" y="46"/>
                            </a:lnTo>
                            <a:lnTo>
                              <a:pt x="109" y="60"/>
                            </a:lnTo>
                            <a:lnTo>
                              <a:pt x="124" y="59"/>
                            </a:lnTo>
                            <a:lnTo>
                              <a:pt x="149" y="60"/>
                            </a:lnTo>
                            <a:lnTo>
                              <a:pt x="173" y="65"/>
                            </a:lnTo>
                            <a:lnTo>
                              <a:pt x="190" y="75"/>
                            </a:lnTo>
                            <a:lnTo>
                              <a:pt x="201" y="82"/>
                            </a:lnTo>
                            <a:lnTo>
                              <a:pt x="209" y="96"/>
                            </a:lnTo>
                            <a:lnTo>
                              <a:pt x="211" y="117"/>
                            </a:lnTo>
                            <a:lnTo>
                              <a:pt x="202" y="101"/>
                            </a:lnTo>
                            <a:lnTo>
                              <a:pt x="188" y="87"/>
                            </a:lnTo>
                            <a:lnTo>
                              <a:pt x="174" y="80"/>
                            </a:lnTo>
                            <a:lnTo>
                              <a:pt x="157" y="76"/>
                            </a:lnTo>
                            <a:lnTo>
                              <a:pt x="138" y="74"/>
                            </a:lnTo>
                            <a:lnTo>
                              <a:pt x="120" y="75"/>
                            </a:lnTo>
                            <a:lnTo>
                              <a:pt x="104" y="78"/>
                            </a:lnTo>
                            <a:lnTo>
                              <a:pt x="88" y="85"/>
                            </a:lnTo>
                            <a:lnTo>
                              <a:pt x="77" y="95"/>
                            </a:lnTo>
                            <a:lnTo>
                              <a:pt x="82" y="103"/>
                            </a:lnTo>
                            <a:lnTo>
                              <a:pt x="86" y="114"/>
                            </a:lnTo>
                            <a:lnTo>
                              <a:pt x="76" y="111"/>
                            </a:lnTo>
                            <a:lnTo>
                              <a:pt x="64" y="105"/>
                            </a:lnTo>
                            <a:lnTo>
                              <a:pt x="71" y="116"/>
                            </a:lnTo>
                            <a:lnTo>
                              <a:pt x="74" y="126"/>
                            </a:lnTo>
                            <a:lnTo>
                              <a:pt x="58" y="125"/>
                            </a:lnTo>
                            <a:lnTo>
                              <a:pt x="46" y="123"/>
                            </a:lnTo>
                            <a:lnTo>
                              <a:pt x="37" y="137"/>
                            </a:lnTo>
                            <a:lnTo>
                              <a:pt x="20" y="145"/>
                            </a:lnTo>
                            <a:lnTo>
                              <a:pt x="4" y="165"/>
                            </a:lnTo>
                            <a:lnTo>
                              <a:pt x="0" y="1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8" name="Freeform 240"/>
                      <p:cNvSpPr/>
                      <p:nvPr/>
                    </p:nvSpPr>
                    <p:spPr bwMode="auto">
                      <a:xfrm>
                        <a:off x="2488" y="3120"/>
                        <a:ext cx="14" cy="8"/>
                      </a:xfrm>
                      <a:custGeom>
                        <a:avLst/>
                        <a:gdLst>
                          <a:gd name="T0" fmla="*/ 26 w 93"/>
                          <a:gd name="T1" fmla="*/ 4 h 64"/>
                          <a:gd name="T2" fmla="*/ 20 w 93"/>
                          <a:gd name="T3" fmla="*/ 21 h 64"/>
                          <a:gd name="T4" fmla="*/ 16 w 93"/>
                          <a:gd name="T5" fmla="*/ 34 h 64"/>
                          <a:gd name="T6" fmla="*/ 14 w 93"/>
                          <a:gd name="T7" fmla="*/ 47 h 64"/>
                          <a:gd name="T8" fmla="*/ 0 w 93"/>
                          <a:gd name="T9" fmla="*/ 64 h 64"/>
                          <a:gd name="T10" fmla="*/ 14 w 93"/>
                          <a:gd name="T11" fmla="*/ 61 h 64"/>
                          <a:gd name="T12" fmla="*/ 25 w 93"/>
                          <a:gd name="T13" fmla="*/ 54 h 64"/>
                          <a:gd name="T14" fmla="*/ 38 w 93"/>
                          <a:gd name="T15" fmla="*/ 34 h 64"/>
                          <a:gd name="T16" fmla="*/ 54 w 93"/>
                          <a:gd name="T17" fmla="*/ 24 h 64"/>
                          <a:gd name="T18" fmla="*/ 72 w 93"/>
                          <a:gd name="T19" fmla="*/ 19 h 64"/>
                          <a:gd name="T20" fmla="*/ 93 w 93"/>
                          <a:gd name="T21" fmla="*/ 22 h 64"/>
                          <a:gd name="T22" fmla="*/ 79 w 93"/>
                          <a:gd name="T23" fmla="*/ 11 h 64"/>
                          <a:gd name="T24" fmla="*/ 60 w 93"/>
                          <a:gd name="T25" fmla="*/ 1 h 64"/>
                          <a:gd name="T26" fmla="*/ 42 w 93"/>
                          <a:gd name="T27" fmla="*/ 0 h 64"/>
                          <a:gd name="T28" fmla="*/ 26 w 93"/>
                          <a:gd name="T2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64">
                            <a:moveTo>
                              <a:pt x="26" y="4"/>
                            </a:moveTo>
                            <a:lnTo>
                              <a:pt x="20" y="21"/>
                            </a:lnTo>
                            <a:lnTo>
                              <a:pt x="16" y="34"/>
                            </a:lnTo>
                            <a:lnTo>
                              <a:pt x="14" y="47"/>
                            </a:lnTo>
                            <a:lnTo>
                              <a:pt x="0" y="64"/>
                            </a:lnTo>
                            <a:lnTo>
                              <a:pt x="14" y="61"/>
                            </a:lnTo>
                            <a:lnTo>
                              <a:pt x="25" y="54"/>
                            </a:lnTo>
                            <a:lnTo>
                              <a:pt x="38" y="34"/>
                            </a:lnTo>
                            <a:lnTo>
                              <a:pt x="54" y="24"/>
                            </a:lnTo>
                            <a:lnTo>
                              <a:pt x="72" y="19"/>
                            </a:lnTo>
                            <a:lnTo>
                              <a:pt x="93" y="22"/>
                            </a:lnTo>
                            <a:lnTo>
                              <a:pt x="79" y="11"/>
                            </a:lnTo>
                            <a:lnTo>
                              <a:pt x="60" y="1"/>
                            </a:lnTo>
                            <a:lnTo>
                              <a:pt x="42" y="0"/>
                            </a:lnTo>
                            <a:lnTo>
                              <a:pt x="26" y="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9" name="Freeform 241"/>
                      <p:cNvSpPr/>
                      <p:nvPr/>
                    </p:nvSpPr>
                    <p:spPr bwMode="auto">
                      <a:xfrm>
                        <a:off x="2469" y="3075"/>
                        <a:ext cx="47" cy="29"/>
                      </a:xfrm>
                      <a:custGeom>
                        <a:avLst/>
                        <a:gdLst>
                          <a:gd name="T0" fmla="*/ 10 w 332"/>
                          <a:gd name="T1" fmla="*/ 195 h 230"/>
                          <a:gd name="T2" fmla="*/ 6 w 332"/>
                          <a:gd name="T3" fmla="*/ 168 h 230"/>
                          <a:gd name="T4" fmla="*/ 7 w 332"/>
                          <a:gd name="T5" fmla="*/ 138 h 230"/>
                          <a:gd name="T6" fmla="*/ 12 w 332"/>
                          <a:gd name="T7" fmla="*/ 104 h 230"/>
                          <a:gd name="T8" fmla="*/ 17 w 332"/>
                          <a:gd name="T9" fmla="*/ 78 h 230"/>
                          <a:gd name="T10" fmla="*/ 18 w 332"/>
                          <a:gd name="T11" fmla="*/ 50 h 230"/>
                          <a:gd name="T12" fmla="*/ 12 w 332"/>
                          <a:gd name="T13" fmla="*/ 29 h 230"/>
                          <a:gd name="T14" fmla="*/ 0 w 332"/>
                          <a:gd name="T15" fmla="*/ 0 h 230"/>
                          <a:gd name="T16" fmla="*/ 32 w 332"/>
                          <a:gd name="T17" fmla="*/ 26 h 230"/>
                          <a:gd name="T18" fmla="*/ 62 w 332"/>
                          <a:gd name="T19" fmla="*/ 48 h 230"/>
                          <a:gd name="T20" fmla="*/ 91 w 332"/>
                          <a:gd name="T21" fmla="*/ 60 h 230"/>
                          <a:gd name="T22" fmla="*/ 126 w 332"/>
                          <a:gd name="T23" fmla="*/ 77 h 230"/>
                          <a:gd name="T24" fmla="*/ 165 w 332"/>
                          <a:gd name="T25" fmla="*/ 93 h 230"/>
                          <a:gd name="T26" fmla="*/ 201 w 332"/>
                          <a:gd name="T27" fmla="*/ 111 h 230"/>
                          <a:gd name="T28" fmla="*/ 232 w 332"/>
                          <a:gd name="T29" fmla="*/ 128 h 230"/>
                          <a:gd name="T30" fmla="*/ 277 w 332"/>
                          <a:gd name="T31" fmla="*/ 155 h 230"/>
                          <a:gd name="T32" fmla="*/ 292 w 332"/>
                          <a:gd name="T33" fmla="*/ 167 h 230"/>
                          <a:gd name="T34" fmla="*/ 306 w 332"/>
                          <a:gd name="T35" fmla="*/ 171 h 230"/>
                          <a:gd name="T36" fmla="*/ 318 w 332"/>
                          <a:gd name="T37" fmla="*/ 180 h 230"/>
                          <a:gd name="T38" fmla="*/ 332 w 332"/>
                          <a:gd name="T39" fmla="*/ 187 h 230"/>
                          <a:gd name="T40" fmla="*/ 309 w 332"/>
                          <a:gd name="T41" fmla="*/ 195 h 230"/>
                          <a:gd name="T42" fmla="*/ 290 w 332"/>
                          <a:gd name="T43" fmla="*/ 197 h 230"/>
                          <a:gd name="T44" fmla="*/ 274 w 332"/>
                          <a:gd name="T45" fmla="*/ 196 h 230"/>
                          <a:gd name="T46" fmla="*/ 254 w 332"/>
                          <a:gd name="T47" fmla="*/ 210 h 230"/>
                          <a:gd name="T48" fmla="*/ 233 w 332"/>
                          <a:gd name="T49" fmla="*/ 224 h 230"/>
                          <a:gd name="T50" fmla="*/ 208 w 332"/>
                          <a:gd name="T51" fmla="*/ 229 h 230"/>
                          <a:gd name="T52" fmla="*/ 180 w 332"/>
                          <a:gd name="T53" fmla="*/ 230 h 230"/>
                          <a:gd name="T54" fmla="*/ 150 w 332"/>
                          <a:gd name="T55" fmla="*/ 229 h 230"/>
                          <a:gd name="T56" fmla="*/ 114 w 332"/>
                          <a:gd name="T57" fmla="*/ 226 h 230"/>
                          <a:gd name="T58" fmla="*/ 83 w 332"/>
                          <a:gd name="T59" fmla="*/ 222 h 230"/>
                          <a:gd name="T60" fmla="*/ 53 w 332"/>
                          <a:gd name="T61" fmla="*/ 215 h 230"/>
                          <a:gd name="T62" fmla="*/ 29 w 332"/>
                          <a:gd name="T63" fmla="*/ 205 h 230"/>
                          <a:gd name="T64" fmla="*/ 10 w 332"/>
                          <a:gd name="T65" fmla="*/ 19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2" h="230">
                            <a:moveTo>
                              <a:pt x="10" y="195"/>
                            </a:moveTo>
                            <a:lnTo>
                              <a:pt x="6" y="168"/>
                            </a:lnTo>
                            <a:lnTo>
                              <a:pt x="7" y="138"/>
                            </a:lnTo>
                            <a:lnTo>
                              <a:pt x="12" y="104"/>
                            </a:lnTo>
                            <a:lnTo>
                              <a:pt x="17" y="78"/>
                            </a:lnTo>
                            <a:lnTo>
                              <a:pt x="18" y="50"/>
                            </a:lnTo>
                            <a:lnTo>
                              <a:pt x="12" y="29"/>
                            </a:lnTo>
                            <a:lnTo>
                              <a:pt x="0" y="0"/>
                            </a:lnTo>
                            <a:lnTo>
                              <a:pt x="32" y="26"/>
                            </a:lnTo>
                            <a:lnTo>
                              <a:pt x="62" y="48"/>
                            </a:lnTo>
                            <a:lnTo>
                              <a:pt x="91" y="60"/>
                            </a:lnTo>
                            <a:lnTo>
                              <a:pt x="126" y="77"/>
                            </a:lnTo>
                            <a:lnTo>
                              <a:pt x="165" y="93"/>
                            </a:lnTo>
                            <a:lnTo>
                              <a:pt x="201" y="111"/>
                            </a:lnTo>
                            <a:lnTo>
                              <a:pt x="232" y="128"/>
                            </a:lnTo>
                            <a:lnTo>
                              <a:pt x="277" y="155"/>
                            </a:lnTo>
                            <a:lnTo>
                              <a:pt x="292" y="167"/>
                            </a:lnTo>
                            <a:lnTo>
                              <a:pt x="306" y="171"/>
                            </a:lnTo>
                            <a:lnTo>
                              <a:pt x="318" y="180"/>
                            </a:lnTo>
                            <a:lnTo>
                              <a:pt x="332" y="187"/>
                            </a:lnTo>
                            <a:lnTo>
                              <a:pt x="309" y="195"/>
                            </a:lnTo>
                            <a:lnTo>
                              <a:pt x="290" y="197"/>
                            </a:lnTo>
                            <a:lnTo>
                              <a:pt x="274" y="196"/>
                            </a:lnTo>
                            <a:lnTo>
                              <a:pt x="254" y="210"/>
                            </a:lnTo>
                            <a:lnTo>
                              <a:pt x="233" y="224"/>
                            </a:lnTo>
                            <a:lnTo>
                              <a:pt x="208" y="229"/>
                            </a:lnTo>
                            <a:lnTo>
                              <a:pt x="180" y="230"/>
                            </a:lnTo>
                            <a:lnTo>
                              <a:pt x="150" y="229"/>
                            </a:lnTo>
                            <a:lnTo>
                              <a:pt x="114" y="226"/>
                            </a:lnTo>
                            <a:lnTo>
                              <a:pt x="83" y="222"/>
                            </a:lnTo>
                            <a:lnTo>
                              <a:pt x="53" y="215"/>
                            </a:lnTo>
                            <a:lnTo>
                              <a:pt x="29" y="205"/>
                            </a:lnTo>
                            <a:lnTo>
                              <a:pt x="10" y="195"/>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0" name="Freeform 242"/>
                      <p:cNvSpPr/>
                      <p:nvPr/>
                    </p:nvSpPr>
                    <p:spPr bwMode="auto">
                      <a:xfrm>
                        <a:off x="2505" y="3130"/>
                        <a:ext cx="14" cy="11"/>
                      </a:xfrm>
                      <a:custGeom>
                        <a:avLst/>
                        <a:gdLst>
                          <a:gd name="T0" fmla="*/ 0 w 95"/>
                          <a:gd name="T1" fmla="*/ 83 h 83"/>
                          <a:gd name="T2" fmla="*/ 10 w 95"/>
                          <a:gd name="T3" fmla="*/ 56 h 83"/>
                          <a:gd name="T4" fmla="*/ 27 w 95"/>
                          <a:gd name="T5" fmla="*/ 39 h 83"/>
                          <a:gd name="T6" fmla="*/ 31 w 95"/>
                          <a:gd name="T7" fmla="*/ 20 h 83"/>
                          <a:gd name="T8" fmla="*/ 49 w 95"/>
                          <a:gd name="T9" fmla="*/ 33 h 83"/>
                          <a:gd name="T10" fmla="*/ 72 w 95"/>
                          <a:gd name="T11" fmla="*/ 20 h 83"/>
                          <a:gd name="T12" fmla="*/ 95 w 95"/>
                          <a:gd name="T13" fmla="*/ 0 h 83"/>
                          <a:gd name="T14" fmla="*/ 75 w 95"/>
                          <a:gd name="T15" fmla="*/ 30 h 83"/>
                          <a:gd name="T16" fmla="*/ 60 w 95"/>
                          <a:gd name="T17" fmla="*/ 43 h 83"/>
                          <a:gd name="T18" fmla="*/ 43 w 95"/>
                          <a:gd name="T19" fmla="*/ 50 h 83"/>
                          <a:gd name="T20" fmla="*/ 0 w 95"/>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83">
                            <a:moveTo>
                              <a:pt x="0" y="83"/>
                            </a:moveTo>
                            <a:lnTo>
                              <a:pt x="10" y="56"/>
                            </a:lnTo>
                            <a:lnTo>
                              <a:pt x="27" y="39"/>
                            </a:lnTo>
                            <a:lnTo>
                              <a:pt x="31" y="20"/>
                            </a:lnTo>
                            <a:lnTo>
                              <a:pt x="49" y="33"/>
                            </a:lnTo>
                            <a:lnTo>
                              <a:pt x="72" y="20"/>
                            </a:lnTo>
                            <a:lnTo>
                              <a:pt x="95" y="0"/>
                            </a:lnTo>
                            <a:lnTo>
                              <a:pt x="75" y="30"/>
                            </a:lnTo>
                            <a:lnTo>
                              <a:pt x="60" y="43"/>
                            </a:lnTo>
                            <a:lnTo>
                              <a:pt x="43" y="50"/>
                            </a:lnTo>
                            <a:lnTo>
                              <a:pt x="0" y="8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1" name="Freeform 243"/>
                      <p:cNvSpPr/>
                      <p:nvPr/>
                    </p:nvSpPr>
                    <p:spPr bwMode="auto">
                      <a:xfrm>
                        <a:off x="2446" y="3175"/>
                        <a:ext cx="12" cy="9"/>
                      </a:xfrm>
                      <a:custGeom>
                        <a:avLst/>
                        <a:gdLst>
                          <a:gd name="T0" fmla="*/ 85 w 85"/>
                          <a:gd name="T1" fmla="*/ 7 h 71"/>
                          <a:gd name="T2" fmla="*/ 70 w 85"/>
                          <a:gd name="T3" fmla="*/ 8 h 71"/>
                          <a:gd name="T4" fmla="*/ 54 w 85"/>
                          <a:gd name="T5" fmla="*/ 3 h 71"/>
                          <a:gd name="T6" fmla="*/ 39 w 85"/>
                          <a:gd name="T7" fmla="*/ 1 h 71"/>
                          <a:gd name="T8" fmla="*/ 28 w 85"/>
                          <a:gd name="T9" fmla="*/ 0 h 71"/>
                          <a:gd name="T10" fmla="*/ 15 w 85"/>
                          <a:gd name="T11" fmla="*/ 9 h 71"/>
                          <a:gd name="T12" fmla="*/ 9 w 85"/>
                          <a:gd name="T13" fmla="*/ 15 h 71"/>
                          <a:gd name="T14" fmla="*/ 2 w 85"/>
                          <a:gd name="T15" fmla="*/ 27 h 71"/>
                          <a:gd name="T16" fmla="*/ 0 w 85"/>
                          <a:gd name="T17" fmla="*/ 44 h 71"/>
                          <a:gd name="T18" fmla="*/ 15 w 85"/>
                          <a:gd name="T19" fmla="*/ 50 h 71"/>
                          <a:gd name="T20" fmla="*/ 30 w 85"/>
                          <a:gd name="T21" fmla="*/ 57 h 71"/>
                          <a:gd name="T22" fmla="*/ 40 w 85"/>
                          <a:gd name="T23" fmla="*/ 71 h 71"/>
                          <a:gd name="T24" fmla="*/ 53 w 85"/>
                          <a:gd name="T25" fmla="*/ 65 h 71"/>
                          <a:gd name="T26" fmla="*/ 62 w 85"/>
                          <a:gd name="T27" fmla="*/ 56 h 71"/>
                          <a:gd name="T28" fmla="*/ 70 w 85"/>
                          <a:gd name="T29" fmla="*/ 41 h 71"/>
                          <a:gd name="T30" fmla="*/ 77 w 85"/>
                          <a:gd name="T31" fmla="*/ 25 h 71"/>
                          <a:gd name="T32" fmla="*/ 85 w 85"/>
                          <a:gd name="T33" fmla="*/ 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71">
                            <a:moveTo>
                              <a:pt x="85" y="7"/>
                            </a:moveTo>
                            <a:lnTo>
                              <a:pt x="70" y="8"/>
                            </a:lnTo>
                            <a:lnTo>
                              <a:pt x="54" y="3"/>
                            </a:lnTo>
                            <a:lnTo>
                              <a:pt x="39" y="1"/>
                            </a:lnTo>
                            <a:lnTo>
                              <a:pt x="28" y="0"/>
                            </a:lnTo>
                            <a:lnTo>
                              <a:pt x="15" y="9"/>
                            </a:lnTo>
                            <a:lnTo>
                              <a:pt x="9" y="15"/>
                            </a:lnTo>
                            <a:lnTo>
                              <a:pt x="2" y="27"/>
                            </a:lnTo>
                            <a:lnTo>
                              <a:pt x="0" y="44"/>
                            </a:lnTo>
                            <a:lnTo>
                              <a:pt x="15" y="50"/>
                            </a:lnTo>
                            <a:lnTo>
                              <a:pt x="30" y="57"/>
                            </a:lnTo>
                            <a:lnTo>
                              <a:pt x="40" y="71"/>
                            </a:lnTo>
                            <a:lnTo>
                              <a:pt x="53" y="65"/>
                            </a:lnTo>
                            <a:lnTo>
                              <a:pt x="62" y="56"/>
                            </a:lnTo>
                            <a:lnTo>
                              <a:pt x="70" y="41"/>
                            </a:lnTo>
                            <a:lnTo>
                              <a:pt x="77" y="25"/>
                            </a:lnTo>
                            <a:lnTo>
                              <a:pt x="85" y="7"/>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2" name="Freeform 244"/>
                      <p:cNvSpPr/>
                      <p:nvPr/>
                    </p:nvSpPr>
                    <p:spPr bwMode="auto">
                      <a:xfrm>
                        <a:off x="2362" y="3176"/>
                        <a:ext cx="24" cy="41"/>
                      </a:xfrm>
                      <a:custGeom>
                        <a:avLst/>
                        <a:gdLst>
                          <a:gd name="T0" fmla="*/ 0 w 171"/>
                          <a:gd name="T1" fmla="*/ 0 h 330"/>
                          <a:gd name="T2" fmla="*/ 46 w 171"/>
                          <a:gd name="T3" fmla="*/ 9 h 330"/>
                          <a:gd name="T4" fmla="*/ 73 w 171"/>
                          <a:gd name="T5" fmla="*/ 28 h 330"/>
                          <a:gd name="T6" fmla="*/ 87 w 171"/>
                          <a:gd name="T7" fmla="*/ 52 h 330"/>
                          <a:gd name="T8" fmla="*/ 100 w 171"/>
                          <a:gd name="T9" fmla="*/ 28 h 330"/>
                          <a:gd name="T10" fmla="*/ 110 w 171"/>
                          <a:gd name="T11" fmla="*/ 128 h 330"/>
                          <a:gd name="T12" fmla="*/ 119 w 171"/>
                          <a:gd name="T13" fmla="*/ 199 h 330"/>
                          <a:gd name="T14" fmla="*/ 132 w 171"/>
                          <a:gd name="T15" fmla="*/ 254 h 330"/>
                          <a:gd name="T16" fmla="*/ 171 w 171"/>
                          <a:gd name="T17" fmla="*/ 330 h 330"/>
                          <a:gd name="T18" fmla="*/ 146 w 171"/>
                          <a:gd name="T19" fmla="*/ 315 h 330"/>
                          <a:gd name="T20" fmla="*/ 123 w 171"/>
                          <a:gd name="T21" fmla="*/ 296 h 330"/>
                          <a:gd name="T22" fmla="*/ 98 w 171"/>
                          <a:gd name="T23" fmla="*/ 278 h 330"/>
                          <a:gd name="T24" fmla="*/ 69 w 171"/>
                          <a:gd name="T25" fmla="*/ 268 h 330"/>
                          <a:gd name="T26" fmla="*/ 39 w 171"/>
                          <a:gd name="T27" fmla="*/ 262 h 330"/>
                          <a:gd name="T28" fmla="*/ 64 w 171"/>
                          <a:gd name="T29" fmla="*/ 253 h 330"/>
                          <a:gd name="T30" fmla="*/ 87 w 171"/>
                          <a:gd name="T31" fmla="*/ 252 h 330"/>
                          <a:gd name="T32" fmla="*/ 109 w 171"/>
                          <a:gd name="T33" fmla="*/ 258 h 330"/>
                          <a:gd name="T34" fmla="*/ 126 w 171"/>
                          <a:gd name="T35" fmla="*/ 272 h 330"/>
                          <a:gd name="T36" fmla="*/ 110 w 171"/>
                          <a:gd name="T37" fmla="*/ 219 h 330"/>
                          <a:gd name="T38" fmla="*/ 104 w 171"/>
                          <a:gd name="T39" fmla="*/ 174 h 330"/>
                          <a:gd name="T40" fmla="*/ 72 w 171"/>
                          <a:gd name="T41" fmla="*/ 159 h 330"/>
                          <a:gd name="T42" fmla="*/ 52 w 171"/>
                          <a:gd name="T43" fmla="*/ 143 h 330"/>
                          <a:gd name="T44" fmla="*/ 43 w 171"/>
                          <a:gd name="T45" fmla="*/ 128 h 330"/>
                          <a:gd name="T46" fmla="*/ 49 w 171"/>
                          <a:gd name="T47" fmla="*/ 114 h 330"/>
                          <a:gd name="T48" fmla="*/ 61 w 171"/>
                          <a:gd name="T49" fmla="*/ 108 h 330"/>
                          <a:gd name="T50" fmla="*/ 77 w 171"/>
                          <a:gd name="T51" fmla="*/ 103 h 330"/>
                          <a:gd name="T52" fmla="*/ 90 w 171"/>
                          <a:gd name="T53" fmla="*/ 105 h 330"/>
                          <a:gd name="T54" fmla="*/ 89 w 171"/>
                          <a:gd name="T55" fmla="*/ 86 h 330"/>
                          <a:gd name="T56" fmla="*/ 66 w 171"/>
                          <a:gd name="T57" fmla="*/ 82 h 330"/>
                          <a:gd name="T58" fmla="*/ 46 w 171"/>
                          <a:gd name="T59" fmla="*/ 71 h 330"/>
                          <a:gd name="T60" fmla="*/ 31 w 171"/>
                          <a:gd name="T61" fmla="*/ 49 h 330"/>
                          <a:gd name="T62" fmla="*/ 27 w 171"/>
                          <a:gd name="T63" fmla="*/ 18 h 330"/>
                          <a:gd name="T64" fmla="*/ 0 w 171"/>
                          <a:gd name="T65"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1" h="330">
                            <a:moveTo>
                              <a:pt x="0" y="0"/>
                            </a:moveTo>
                            <a:lnTo>
                              <a:pt x="46" y="9"/>
                            </a:lnTo>
                            <a:lnTo>
                              <a:pt x="73" y="28"/>
                            </a:lnTo>
                            <a:lnTo>
                              <a:pt x="87" y="52"/>
                            </a:lnTo>
                            <a:lnTo>
                              <a:pt x="100" y="28"/>
                            </a:lnTo>
                            <a:lnTo>
                              <a:pt x="110" y="128"/>
                            </a:lnTo>
                            <a:lnTo>
                              <a:pt x="119" y="199"/>
                            </a:lnTo>
                            <a:lnTo>
                              <a:pt x="132" y="254"/>
                            </a:lnTo>
                            <a:lnTo>
                              <a:pt x="171" y="330"/>
                            </a:lnTo>
                            <a:lnTo>
                              <a:pt x="146" y="315"/>
                            </a:lnTo>
                            <a:lnTo>
                              <a:pt x="123" y="296"/>
                            </a:lnTo>
                            <a:lnTo>
                              <a:pt x="98" y="278"/>
                            </a:lnTo>
                            <a:lnTo>
                              <a:pt x="69" y="268"/>
                            </a:lnTo>
                            <a:lnTo>
                              <a:pt x="39" y="262"/>
                            </a:lnTo>
                            <a:lnTo>
                              <a:pt x="64" y="253"/>
                            </a:lnTo>
                            <a:lnTo>
                              <a:pt x="87" y="252"/>
                            </a:lnTo>
                            <a:lnTo>
                              <a:pt x="109" y="258"/>
                            </a:lnTo>
                            <a:lnTo>
                              <a:pt x="126" y="272"/>
                            </a:lnTo>
                            <a:lnTo>
                              <a:pt x="110" y="219"/>
                            </a:lnTo>
                            <a:lnTo>
                              <a:pt x="104" y="174"/>
                            </a:lnTo>
                            <a:lnTo>
                              <a:pt x="72" y="159"/>
                            </a:lnTo>
                            <a:lnTo>
                              <a:pt x="52" y="143"/>
                            </a:lnTo>
                            <a:lnTo>
                              <a:pt x="43" y="128"/>
                            </a:lnTo>
                            <a:lnTo>
                              <a:pt x="49" y="114"/>
                            </a:lnTo>
                            <a:lnTo>
                              <a:pt x="61" y="108"/>
                            </a:lnTo>
                            <a:lnTo>
                              <a:pt x="77" y="103"/>
                            </a:lnTo>
                            <a:lnTo>
                              <a:pt x="90" y="105"/>
                            </a:lnTo>
                            <a:lnTo>
                              <a:pt x="89" y="86"/>
                            </a:lnTo>
                            <a:lnTo>
                              <a:pt x="66" y="82"/>
                            </a:lnTo>
                            <a:lnTo>
                              <a:pt x="46" y="71"/>
                            </a:lnTo>
                            <a:lnTo>
                              <a:pt x="31" y="49"/>
                            </a:lnTo>
                            <a:lnTo>
                              <a:pt x="27" y="18"/>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3" name="Freeform 245"/>
                      <p:cNvSpPr/>
                      <p:nvPr/>
                    </p:nvSpPr>
                    <p:spPr bwMode="auto">
                      <a:xfrm>
                        <a:off x="2401" y="3190"/>
                        <a:ext cx="16" cy="20"/>
                      </a:xfrm>
                      <a:custGeom>
                        <a:avLst/>
                        <a:gdLst>
                          <a:gd name="T0" fmla="*/ 0 w 113"/>
                          <a:gd name="T1" fmla="*/ 157 h 157"/>
                          <a:gd name="T2" fmla="*/ 11 w 113"/>
                          <a:gd name="T3" fmla="*/ 120 h 157"/>
                          <a:gd name="T4" fmla="*/ 14 w 113"/>
                          <a:gd name="T5" fmla="*/ 91 h 157"/>
                          <a:gd name="T6" fmla="*/ 19 w 113"/>
                          <a:gd name="T7" fmla="*/ 66 h 157"/>
                          <a:gd name="T8" fmla="*/ 25 w 113"/>
                          <a:gd name="T9" fmla="*/ 53 h 157"/>
                          <a:gd name="T10" fmla="*/ 34 w 113"/>
                          <a:gd name="T11" fmla="*/ 38 h 157"/>
                          <a:gd name="T12" fmla="*/ 47 w 113"/>
                          <a:gd name="T13" fmla="*/ 27 h 157"/>
                          <a:gd name="T14" fmla="*/ 68 w 113"/>
                          <a:gd name="T15" fmla="*/ 18 h 157"/>
                          <a:gd name="T16" fmla="*/ 88 w 113"/>
                          <a:gd name="T17" fmla="*/ 10 h 157"/>
                          <a:gd name="T18" fmla="*/ 113 w 113"/>
                          <a:gd name="T19" fmla="*/ 0 h 157"/>
                          <a:gd name="T20" fmla="*/ 92 w 113"/>
                          <a:gd name="T21" fmla="*/ 23 h 157"/>
                          <a:gd name="T22" fmla="*/ 78 w 113"/>
                          <a:gd name="T23" fmla="*/ 34 h 157"/>
                          <a:gd name="T24" fmla="*/ 60 w 113"/>
                          <a:gd name="T25" fmla="*/ 51 h 157"/>
                          <a:gd name="T26" fmla="*/ 51 w 113"/>
                          <a:gd name="T27" fmla="*/ 76 h 157"/>
                          <a:gd name="T28" fmla="*/ 44 w 113"/>
                          <a:gd name="T29" fmla="*/ 100 h 157"/>
                          <a:gd name="T30" fmla="*/ 33 w 113"/>
                          <a:gd name="T31" fmla="*/ 121 h 157"/>
                          <a:gd name="T32" fmla="*/ 21 w 113"/>
                          <a:gd name="T33" fmla="*/ 138 h 157"/>
                          <a:gd name="T34" fmla="*/ 0 w 113"/>
                          <a:gd name="T35"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3" h="157">
                            <a:moveTo>
                              <a:pt x="0" y="157"/>
                            </a:moveTo>
                            <a:lnTo>
                              <a:pt x="11" y="120"/>
                            </a:lnTo>
                            <a:lnTo>
                              <a:pt x="14" y="91"/>
                            </a:lnTo>
                            <a:lnTo>
                              <a:pt x="19" y="66"/>
                            </a:lnTo>
                            <a:lnTo>
                              <a:pt x="25" y="53"/>
                            </a:lnTo>
                            <a:lnTo>
                              <a:pt x="34" y="38"/>
                            </a:lnTo>
                            <a:lnTo>
                              <a:pt x="47" y="27"/>
                            </a:lnTo>
                            <a:lnTo>
                              <a:pt x="68" y="18"/>
                            </a:lnTo>
                            <a:lnTo>
                              <a:pt x="88" y="10"/>
                            </a:lnTo>
                            <a:lnTo>
                              <a:pt x="113" y="0"/>
                            </a:lnTo>
                            <a:lnTo>
                              <a:pt x="92" y="23"/>
                            </a:lnTo>
                            <a:lnTo>
                              <a:pt x="78" y="34"/>
                            </a:lnTo>
                            <a:lnTo>
                              <a:pt x="60" y="51"/>
                            </a:lnTo>
                            <a:lnTo>
                              <a:pt x="51" y="76"/>
                            </a:lnTo>
                            <a:lnTo>
                              <a:pt x="44" y="100"/>
                            </a:lnTo>
                            <a:lnTo>
                              <a:pt x="33" y="121"/>
                            </a:lnTo>
                            <a:lnTo>
                              <a:pt x="21" y="138"/>
                            </a:lnTo>
                            <a:lnTo>
                              <a:pt x="0" y="157"/>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4" name="Freeform 246"/>
                      <p:cNvSpPr/>
                      <p:nvPr/>
                    </p:nvSpPr>
                    <p:spPr bwMode="auto">
                      <a:xfrm>
                        <a:off x="2415" y="3188"/>
                        <a:ext cx="12" cy="10"/>
                      </a:xfrm>
                      <a:custGeom>
                        <a:avLst/>
                        <a:gdLst>
                          <a:gd name="T0" fmla="*/ 10 w 83"/>
                          <a:gd name="T1" fmla="*/ 23 h 83"/>
                          <a:gd name="T2" fmla="*/ 17 w 83"/>
                          <a:gd name="T3" fmla="*/ 34 h 83"/>
                          <a:gd name="T4" fmla="*/ 19 w 83"/>
                          <a:gd name="T5" fmla="*/ 52 h 83"/>
                          <a:gd name="T6" fmla="*/ 14 w 83"/>
                          <a:gd name="T7" fmla="*/ 67 h 83"/>
                          <a:gd name="T8" fmla="*/ 0 w 83"/>
                          <a:gd name="T9" fmla="*/ 83 h 83"/>
                          <a:gd name="T10" fmla="*/ 21 w 83"/>
                          <a:gd name="T11" fmla="*/ 79 h 83"/>
                          <a:gd name="T12" fmla="*/ 36 w 83"/>
                          <a:gd name="T13" fmla="*/ 72 h 83"/>
                          <a:gd name="T14" fmla="*/ 49 w 83"/>
                          <a:gd name="T15" fmla="*/ 61 h 83"/>
                          <a:gd name="T16" fmla="*/ 58 w 83"/>
                          <a:gd name="T17" fmla="*/ 50 h 83"/>
                          <a:gd name="T18" fmla="*/ 66 w 83"/>
                          <a:gd name="T19" fmla="*/ 58 h 83"/>
                          <a:gd name="T20" fmla="*/ 72 w 83"/>
                          <a:gd name="T21" fmla="*/ 65 h 83"/>
                          <a:gd name="T22" fmla="*/ 74 w 83"/>
                          <a:gd name="T23" fmla="*/ 83 h 83"/>
                          <a:gd name="T24" fmla="*/ 81 w 83"/>
                          <a:gd name="T25" fmla="*/ 53 h 83"/>
                          <a:gd name="T26" fmla="*/ 83 w 83"/>
                          <a:gd name="T27" fmla="*/ 30 h 83"/>
                          <a:gd name="T28" fmla="*/ 80 w 83"/>
                          <a:gd name="T29" fmla="*/ 11 h 83"/>
                          <a:gd name="T30" fmla="*/ 74 w 83"/>
                          <a:gd name="T31" fmla="*/ 0 h 83"/>
                          <a:gd name="T32" fmla="*/ 59 w 83"/>
                          <a:gd name="T33" fmla="*/ 0 h 83"/>
                          <a:gd name="T34" fmla="*/ 38 w 83"/>
                          <a:gd name="T35" fmla="*/ 7 h 83"/>
                          <a:gd name="T36" fmla="*/ 21 w 83"/>
                          <a:gd name="T37" fmla="*/ 14 h 83"/>
                          <a:gd name="T38" fmla="*/ 10 w 83"/>
                          <a:gd name="T39"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3" h="83">
                            <a:moveTo>
                              <a:pt x="10" y="23"/>
                            </a:moveTo>
                            <a:lnTo>
                              <a:pt x="17" y="34"/>
                            </a:lnTo>
                            <a:lnTo>
                              <a:pt x="19" y="52"/>
                            </a:lnTo>
                            <a:lnTo>
                              <a:pt x="14" y="67"/>
                            </a:lnTo>
                            <a:lnTo>
                              <a:pt x="0" y="83"/>
                            </a:lnTo>
                            <a:lnTo>
                              <a:pt x="21" y="79"/>
                            </a:lnTo>
                            <a:lnTo>
                              <a:pt x="36" y="72"/>
                            </a:lnTo>
                            <a:lnTo>
                              <a:pt x="49" y="61"/>
                            </a:lnTo>
                            <a:lnTo>
                              <a:pt x="58" y="50"/>
                            </a:lnTo>
                            <a:lnTo>
                              <a:pt x="66" y="58"/>
                            </a:lnTo>
                            <a:lnTo>
                              <a:pt x="72" y="65"/>
                            </a:lnTo>
                            <a:lnTo>
                              <a:pt x="74" y="83"/>
                            </a:lnTo>
                            <a:lnTo>
                              <a:pt x="81" y="53"/>
                            </a:lnTo>
                            <a:lnTo>
                              <a:pt x="83" y="30"/>
                            </a:lnTo>
                            <a:lnTo>
                              <a:pt x="80" y="11"/>
                            </a:lnTo>
                            <a:lnTo>
                              <a:pt x="74" y="0"/>
                            </a:lnTo>
                            <a:lnTo>
                              <a:pt x="59" y="0"/>
                            </a:lnTo>
                            <a:lnTo>
                              <a:pt x="38" y="7"/>
                            </a:lnTo>
                            <a:lnTo>
                              <a:pt x="21" y="14"/>
                            </a:lnTo>
                            <a:lnTo>
                              <a:pt x="10" y="23"/>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5" name="Freeform 247"/>
                      <p:cNvSpPr/>
                      <p:nvPr/>
                    </p:nvSpPr>
                    <p:spPr bwMode="auto">
                      <a:xfrm>
                        <a:off x="2427" y="3193"/>
                        <a:ext cx="11" cy="23"/>
                      </a:xfrm>
                      <a:custGeom>
                        <a:avLst/>
                        <a:gdLst>
                          <a:gd name="T0" fmla="*/ 0 w 72"/>
                          <a:gd name="T1" fmla="*/ 0 h 186"/>
                          <a:gd name="T2" fmla="*/ 27 w 72"/>
                          <a:gd name="T3" fmla="*/ 22 h 186"/>
                          <a:gd name="T4" fmla="*/ 40 w 72"/>
                          <a:gd name="T5" fmla="*/ 44 h 186"/>
                          <a:gd name="T6" fmla="*/ 47 w 72"/>
                          <a:gd name="T7" fmla="*/ 74 h 186"/>
                          <a:gd name="T8" fmla="*/ 48 w 72"/>
                          <a:gd name="T9" fmla="*/ 106 h 186"/>
                          <a:gd name="T10" fmla="*/ 45 w 72"/>
                          <a:gd name="T11" fmla="*/ 134 h 186"/>
                          <a:gd name="T12" fmla="*/ 36 w 72"/>
                          <a:gd name="T13" fmla="*/ 158 h 186"/>
                          <a:gd name="T14" fmla="*/ 15 w 72"/>
                          <a:gd name="T15" fmla="*/ 186 h 186"/>
                          <a:gd name="T16" fmla="*/ 39 w 72"/>
                          <a:gd name="T17" fmla="*/ 171 h 186"/>
                          <a:gd name="T18" fmla="*/ 58 w 72"/>
                          <a:gd name="T19" fmla="*/ 148 h 186"/>
                          <a:gd name="T20" fmla="*/ 70 w 72"/>
                          <a:gd name="T21" fmla="*/ 118 h 186"/>
                          <a:gd name="T22" fmla="*/ 72 w 72"/>
                          <a:gd name="T23" fmla="*/ 82 h 186"/>
                          <a:gd name="T24" fmla="*/ 66 w 72"/>
                          <a:gd name="T25" fmla="*/ 50 h 186"/>
                          <a:gd name="T26" fmla="*/ 48 w 72"/>
                          <a:gd name="T27" fmla="*/ 26 h 186"/>
                          <a:gd name="T28" fmla="*/ 28 w 72"/>
                          <a:gd name="T29" fmla="*/ 10 h 186"/>
                          <a:gd name="T30" fmla="*/ 0 w 72"/>
                          <a:gd name="T31"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2" h="186">
                            <a:moveTo>
                              <a:pt x="0" y="0"/>
                            </a:moveTo>
                            <a:lnTo>
                              <a:pt x="27" y="22"/>
                            </a:lnTo>
                            <a:lnTo>
                              <a:pt x="40" y="44"/>
                            </a:lnTo>
                            <a:lnTo>
                              <a:pt x="47" y="74"/>
                            </a:lnTo>
                            <a:lnTo>
                              <a:pt x="48" y="106"/>
                            </a:lnTo>
                            <a:lnTo>
                              <a:pt x="45" y="134"/>
                            </a:lnTo>
                            <a:lnTo>
                              <a:pt x="36" y="158"/>
                            </a:lnTo>
                            <a:lnTo>
                              <a:pt x="15" y="186"/>
                            </a:lnTo>
                            <a:lnTo>
                              <a:pt x="39" y="171"/>
                            </a:lnTo>
                            <a:lnTo>
                              <a:pt x="58" y="148"/>
                            </a:lnTo>
                            <a:lnTo>
                              <a:pt x="70" y="118"/>
                            </a:lnTo>
                            <a:lnTo>
                              <a:pt x="72" y="82"/>
                            </a:lnTo>
                            <a:lnTo>
                              <a:pt x="66" y="50"/>
                            </a:lnTo>
                            <a:lnTo>
                              <a:pt x="48" y="26"/>
                            </a:lnTo>
                            <a:lnTo>
                              <a:pt x="28" y="10"/>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6" name="Freeform 248"/>
                      <p:cNvSpPr/>
                      <p:nvPr/>
                    </p:nvSpPr>
                    <p:spPr bwMode="auto">
                      <a:xfrm>
                        <a:off x="2458" y="3188"/>
                        <a:ext cx="11" cy="12"/>
                      </a:xfrm>
                      <a:custGeom>
                        <a:avLst/>
                        <a:gdLst>
                          <a:gd name="T0" fmla="*/ 0 w 75"/>
                          <a:gd name="T1" fmla="*/ 94 h 94"/>
                          <a:gd name="T2" fmla="*/ 26 w 75"/>
                          <a:gd name="T3" fmla="*/ 68 h 94"/>
                          <a:gd name="T4" fmla="*/ 49 w 75"/>
                          <a:gd name="T5" fmla="*/ 45 h 94"/>
                          <a:gd name="T6" fmla="*/ 75 w 75"/>
                          <a:gd name="T7" fmla="*/ 0 h 94"/>
                          <a:gd name="T8" fmla="*/ 49 w 75"/>
                          <a:gd name="T9" fmla="*/ 19 h 94"/>
                          <a:gd name="T10" fmla="*/ 26 w 75"/>
                          <a:gd name="T11" fmla="*/ 51 h 94"/>
                          <a:gd name="T12" fmla="*/ 0 w 75"/>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75" h="94">
                            <a:moveTo>
                              <a:pt x="0" y="94"/>
                            </a:moveTo>
                            <a:lnTo>
                              <a:pt x="26" y="68"/>
                            </a:lnTo>
                            <a:lnTo>
                              <a:pt x="49" y="45"/>
                            </a:lnTo>
                            <a:lnTo>
                              <a:pt x="75" y="0"/>
                            </a:lnTo>
                            <a:lnTo>
                              <a:pt x="49" y="19"/>
                            </a:lnTo>
                            <a:lnTo>
                              <a:pt x="26" y="51"/>
                            </a:lnTo>
                            <a:lnTo>
                              <a:pt x="0" y="9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7" name="Freeform 249"/>
                      <p:cNvSpPr/>
                      <p:nvPr/>
                    </p:nvSpPr>
                    <p:spPr bwMode="auto">
                      <a:xfrm>
                        <a:off x="2413" y="3198"/>
                        <a:ext cx="7" cy="19"/>
                      </a:xfrm>
                      <a:custGeom>
                        <a:avLst/>
                        <a:gdLst>
                          <a:gd name="T0" fmla="*/ 31 w 50"/>
                          <a:gd name="T1" fmla="*/ 152 h 152"/>
                          <a:gd name="T2" fmla="*/ 37 w 50"/>
                          <a:gd name="T3" fmla="*/ 128 h 152"/>
                          <a:gd name="T4" fmla="*/ 46 w 50"/>
                          <a:gd name="T5" fmla="*/ 108 h 152"/>
                          <a:gd name="T6" fmla="*/ 37 w 50"/>
                          <a:gd name="T7" fmla="*/ 89 h 152"/>
                          <a:gd name="T8" fmla="*/ 31 w 50"/>
                          <a:gd name="T9" fmla="*/ 68 h 152"/>
                          <a:gd name="T10" fmla="*/ 33 w 50"/>
                          <a:gd name="T11" fmla="*/ 41 h 152"/>
                          <a:gd name="T12" fmla="*/ 38 w 50"/>
                          <a:gd name="T13" fmla="*/ 24 h 152"/>
                          <a:gd name="T14" fmla="*/ 50 w 50"/>
                          <a:gd name="T15" fmla="*/ 0 h 152"/>
                          <a:gd name="T16" fmla="*/ 30 w 50"/>
                          <a:gd name="T17" fmla="*/ 19 h 152"/>
                          <a:gd name="T18" fmla="*/ 14 w 50"/>
                          <a:gd name="T19" fmla="*/ 37 h 152"/>
                          <a:gd name="T20" fmla="*/ 6 w 50"/>
                          <a:gd name="T21" fmla="*/ 56 h 152"/>
                          <a:gd name="T22" fmla="*/ 0 w 50"/>
                          <a:gd name="T23" fmla="*/ 88 h 152"/>
                          <a:gd name="T24" fmla="*/ 6 w 50"/>
                          <a:gd name="T25" fmla="*/ 113 h 152"/>
                          <a:gd name="T26" fmla="*/ 17 w 50"/>
                          <a:gd name="T27" fmla="*/ 135 h 152"/>
                          <a:gd name="T28" fmla="*/ 31 w 50"/>
                          <a:gd name="T29"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52">
                            <a:moveTo>
                              <a:pt x="31" y="152"/>
                            </a:moveTo>
                            <a:lnTo>
                              <a:pt x="37" y="128"/>
                            </a:lnTo>
                            <a:lnTo>
                              <a:pt x="46" y="108"/>
                            </a:lnTo>
                            <a:lnTo>
                              <a:pt x="37" y="89"/>
                            </a:lnTo>
                            <a:lnTo>
                              <a:pt x="31" y="68"/>
                            </a:lnTo>
                            <a:lnTo>
                              <a:pt x="33" y="41"/>
                            </a:lnTo>
                            <a:lnTo>
                              <a:pt x="38" y="24"/>
                            </a:lnTo>
                            <a:lnTo>
                              <a:pt x="50" y="0"/>
                            </a:lnTo>
                            <a:lnTo>
                              <a:pt x="30" y="19"/>
                            </a:lnTo>
                            <a:lnTo>
                              <a:pt x="14" y="37"/>
                            </a:lnTo>
                            <a:lnTo>
                              <a:pt x="6" y="56"/>
                            </a:lnTo>
                            <a:lnTo>
                              <a:pt x="0" y="88"/>
                            </a:lnTo>
                            <a:lnTo>
                              <a:pt x="6" y="113"/>
                            </a:lnTo>
                            <a:lnTo>
                              <a:pt x="17" y="135"/>
                            </a:lnTo>
                            <a:lnTo>
                              <a:pt x="31" y="152"/>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8" name="Freeform 250"/>
                      <p:cNvSpPr/>
                      <p:nvPr/>
                    </p:nvSpPr>
                    <p:spPr bwMode="auto">
                      <a:xfrm>
                        <a:off x="2403" y="3080"/>
                        <a:ext cx="5" cy="10"/>
                      </a:xfrm>
                      <a:custGeom>
                        <a:avLst/>
                        <a:gdLst>
                          <a:gd name="T0" fmla="*/ 37 w 37"/>
                          <a:gd name="T1" fmla="*/ 0 h 81"/>
                          <a:gd name="T2" fmla="*/ 28 w 37"/>
                          <a:gd name="T3" fmla="*/ 14 h 81"/>
                          <a:gd name="T4" fmla="*/ 23 w 37"/>
                          <a:gd name="T5" fmla="*/ 27 h 81"/>
                          <a:gd name="T6" fmla="*/ 18 w 37"/>
                          <a:gd name="T7" fmla="*/ 39 h 81"/>
                          <a:gd name="T8" fmla="*/ 16 w 37"/>
                          <a:gd name="T9" fmla="*/ 52 h 81"/>
                          <a:gd name="T10" fmla="*/ 18 w 37"/>
                          <a:gd name="T11" fmla="*/ 65 h 81"/>
                          <a:gd name="T12" fmla="*/ 20 w 37"/>
                          <a:gd name="T13" fmla="*/ 81 h 81"/>
                          <a:gd name="T14" fmla="*/ 14 w 37"/>
                          <a:gd name="T15" fmla="*/ 69 h 81"/>
                          <a:gd name="T16" fmla="*/ 10 w 37"/>
                          <a:gd name="T17" fmla="*/ 52 h 81"/>
                          <a:gd name="T18" fmla="*/ 7 w 37"/>
                          <a:gd name="T19" fmla="*/ 43 h 81"/>
                          <a:gd name="T20" fmla="*/ 0 w 37"/>
                          <a:gd name="T21" fmla="*/ 33 h 81"/>
                          <a:gd name="T22" fmla="*/ 10 w 37"/>
                          <a:gd name="T23" fmla="*/ 32 h 81"/>
                          <a:gd name="T24" fmla="*/ 18 w 37"/>
                          <a:gd name="T25" fmla="*/ 22 h 81"/>
                          <a:gd name="T26" fmla="*/ 27 w 37"/>
                          <a:gd name="T27" fmla="*/ 11 h 81"/>
                          <a:gd name="T28" fmla="*/ 37 w 37"/>
                          <a:gd name="T29"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81">
                            <a:moveTo>
                              <a:pt x="37" y="0"/>
                            </a:moveTo>
                            <a:lnTo>
                              <a:pt x="28" y="14"/>
                            </a:lnTo>
                            <a:lnTo>
                              <a:pt x="23" y="27"/>
                            </a:lnTo>
                            <a:lnTo>
                              <a:pt x="18" y="39"/>
                            </a:lnTo>
                            <a:lnTo>
                              <a:pt x="16" y="52"/>
                            </a:lnTo>
                            <a:lnTo>
                              <a:pt x="18" y="65"/>
                            </a:lnTo>
                            <a:lnTo>
                              <a:pt x="20" y="81"/>
                            </a:lnTo>
                            <a:lnTo>
                              <a:pt x="14" y="69"/>
                            </a:lnTo>
                            <a:lnTo>
                              <a:pt x="10" y="52"/>
                            </a:lnTo>
                            <a:lnTo>
                              <a:pt x="7" y="43"/>
                            </a:lnTo>
                            <a:lnTo>
                              <a:pt x="0" y="33"/>
                            </a:lnTo>
                            <a:lnTo>
                              <a:pt x="10" y="32"/>
                            </a:lnTo>
                            <a:lnTo>
                              <a:pt x="18" y="22"/>
                            </a:lnTo>
                            <a:lnTo>
                              <a:pt x="27" y="11"/>
                            </a:lnTo>
                            <a:lnTo>
                              <a:pt x="37"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99" name="Group 251"/>
                  <p:cNvGrpSpPr/>
                  <p:nvPr/>
                </p:nvGrpSpPr>
                <p:grpSpPr bwMode="auto">
                  <a:xfrm>
                    <a:off x="2442" y="3102"/>
                    <a:ext cx="18" cy="67"/>
                    <a:chOff x="2442" y="3102"/>
                    <a:chExt cx="18" cy="67"/>
                  </a:xfrm>
                </p:grpSpPr>
                <p:sp>
                  <p:nvSpPr>
                    <p:cNvPr id="642300" name="Freeform 252"/>
                    <p:cNvSpPr/>
                    <p:nvPr/>
                  </p:nvSpPr>
                  <p:spPr bwMode="auto">
                    <a:xfrm>
                      <a:off x="2442" y="3102"/>
                      <a:ext cx="18" cy="67"/>
                    </a:xfrm>
                    <a:custGeom>
                      <a:avLst/>
                      <a:gdLst>
                        <a:gd name="T0" fmla="*/ 5 w 131"/>
                        <a:gd name="T1" fmla="*/ 0 h 528"/>
                        <a:gd name="T2" fmla="*/ 3 w 131"/>
                        <a:gd name="T3" fmla="*/ 10 h 528"/>
                        <a:gd name="T4" fmla="*/ 7 w 131"/>
                        <a:gd name="T5" fmla="*/ 28 h 528"/>
                        <a:gd name="T6" fmla="*/ 9 w 131"/>
                        <a:gd name="T7" fmla="*/ 48 h 528"/>
                        <a:gd name="T8" fmla="*/ 5 w 131"/>
                        <a:gd name="T9" fmla="*/ 68 h 528"/>
                        <a:gd name="T10" fmla="*/ 0 w 131"/>
                        <a:gd name="T11" fmla="*/ 78 h 528"/>
                        <a:gd name="T12" fmla="*/ 3 w 131"/>
                        <a:gd name="T13" fmla="*/ 90 h 528"/>
                        <a:gd name="T14" fmla="*/ 11 w 131"/>
                        <a:gd name="T15" fmla="*/ 96 h 528"/>
                        <a:gd name="T16" fmla="*/ 15 w 131"/>
                        <a:gd name="T17" fmla="*/ 117 h 528"/>
                        <a:gd name="T18" fmla="*/ 16 w 131"/>
                        <a:gd name="T19" fmla="*/ 139 h 528"/>
                        <a:gd name="T20" fmla="*/ 10 w 131"/>
                        <a:gd name="T21" fmla="*/ 150 h 528"/>
                        <a:gd name="T22" fmla="*/ 5 w 131"/>
                        <a:gd name="T23" fmla="*/ 162 h 528"/>
                        <a:gd name="T24" fmla="*/ 9 w 131"/>
                        <a:gd name="T25" fmla="*/ 186 h 528"/>
                        <a:gd name="T26" fmla="*/ 16 w 131"/>
                        <a:gd name="T27" fmla="*/ 208 h 528"/>
                        <a:gd name="T28" fmla="*/ 26 w 131"/>
                        <a:gd name="T29" fmla="*/ 222 h 528"/>
                        <a:gd name="T30" fmla="*/ 34 w 131"/>
                        <a:gd name="T31" fmla="*/ 251 h 528"/>
                        <a:gd name="T32" fmla="*/ 38 w 131"/>
                        <a:gd name="T33" fmla="*/ 284 h 528"/>
                        <a:gd name="T34" fmla="*/ 33 w 131"/>
                        <a:gd name="T35" fmla="*/ 300 h 528"/>
                        <a:gd name="T36" fmla="*/ 30 w 131"/>
                        <a:gd name="T37" fmla="*/ 314 h 528"/>
                        <a:gd name="T38" fmla="*/ 32 w 131"/>
                        <a:gd name="T39" fmla="*/ 330 h 528"/>
                        <a:gd name="T40" fmla="*/ 37 w 131"/>
                        <a:gd name="T41" fmla="*/ 345 h 528"/>
                        <a:gd name="T42" fmla="*/ 42 w 131"/>
                        <a:gd name="T43" fmla="*/ 363 h 528"/>
                        <a:gd name="T44" fmla="*/ 39 w 131"/>
                        <a:gd name="T45" fmla="*/ 445 h 528"/>
                        <a:gd name="T46" fmla="*/ 43 w 131"/>
                        <a:gd name="T47" fmla="*/ 528 h 528"/>
                        <a:gd name="T48" fmla="*/ 129 w 131"/>
                        <a:gd name="T49" fmla="*/ 428 h 528"/>
                        <a:gd name="T50" fmla="*/ 122 w 131"/>
                        <a:gd name="T51" fmla="*/ 375 h 528"/>
                        <a:gd name="T52" fmla="*/ 129 w 131"/>
                        <a:gd name="T53" fmla="*/ 308 h 528"/>
                        <a:gd name="T54" fmla="*/ 131 w 131"/>
                        <a:gd name="T55" fmla="*/ 241 h 528"/>
                        <a:gd name="T56" fmla="*/ 122 w 131"/>
                        <a:gd name="T57" fmla="*/ 162 h 528"/>
                        <a:gd name="T58" fmla="*/ 104 w 131"/>
                        <a:gd name="T59" fmla="*/ 135 h 528"/>
                        <a:gd name="T60" fmla="*/ 88 w 131"/>
                        <a:gd name="T61" fmla="*/ 117 h 528"/>
                        <a:gd name="T62" fmla="*/ 76 w 131"/>
                        <a:gd name="T63" fmla="*/ 101 h 528"/>
                        <a:gd name="T64" fmla="*/ 86 w 131"/>
                        <a:gd name="T65" fmla="*/ 96 h 528"/>
                        <a:gd name="T66" fmla="*/ 92 w 131"/>
                        <a:gd name="T67" fmla="*/ 90 h 528"/>
                        <a:gd name="T68" fmla="*/ 86 w 131"/>
                        <a:gd name="T69" fmla="*/ 68 h 528"/>
                        <a:gd name="T70" fmla="*/ 79 w 131"/>
                        <a:gd name="T71" fmla="*/ 45 h 528"/>
                        <a:gd name="T72" fmla="*/ 70 w 131"/>
                        <a:gd name="T73" fmla="*/ 23 h 528"/>
                        <a:gd name="T74" fmla="*/ 60 w 131"/>
                        <a:gd name="T75" fmla="*/ 0 h 528"/>
                        <a:gd name="T76" fmla="*/ 5 w 131"/>
                        <a:gd name="T77"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1" h="528">
                          <a:moveTo>
                            <a:pt x="5" y="0"/>
                          </a:moveTo>
                          <a:lnTo>
                            <a:pt x="3" y="10"/>
                          </a:lnTo>
                          <a:lnTo>
                            <a:pt x="7" y="28"/>
                          </a:lnTo>
                          <a:lnTo>
                            <a:pt x="9" y="48"/>
                          </a:lnTo>
                          <a:lnTo>
                            <a:pt x="5" y="68"/>
                          </a:lnTo>
                          <a:lnTo>
                            <a:pt x="0" y="78"/>
                          </a:lnTo>
                          <a:lnTo>
                            <a:pt x="3" y="90"/>
                          </a:lnTo>
                          <a:lnTo>
                            <a:pt x="11" y="96"/>
                          </a:lnTo>
                          <a:lnTo>
                            <a:pt x="15" y="117"/>
                          </a:lnTo>
                          <a:lnTo>
                            <a:pt x="16" y="139"/>
                          </a:lnTo>
                          <a:lnTo>
                            <a:pt x="10" y="150"/>
                          </a:lnTo>
                          <a:lnTo>
                            <a:pt x="5" y="162"/>
                          </a:lnTo>
                          <a:lnTo>
                            <a:pt x="9" y="186"/>
                          </a:lnTo>
                          <a:lnTo>
                            <a:pt x="16" y="208"/>
                          </a:lnTo>
                          <a:lnTo>
                            <a:pt x="26" y="222"/>
                          </a:lnTo>
                          <a:lnTo>
                            <a:pt x="34" y="251"/>
                          </a:lnTo>
                          <a:lnTo>
                            <a:pt x="38" y="284"/>
                          </a:lnTo>
                          <a:lnTo>
                            <a:pt x="33" y="300"/>
                          </a:lnTo>
                          <a:lnTo>
                            <a:pt x="30" y="314"/>
                          </a:lnTo>
                          <a:lnTo>
                            <a:pt x="32" y="330"/>
                          </a:lnTo>
                          <a:lnTo>
                            <a:pt x="37" y="345"/>
                          </a:lnTo>
                          <a:lnTo>
                            <a:pt x="42" y="363"/>
                          </a:lnTo>
                          <a:lnTo>
                            <a:pt x="39" y="445"/>
                          </a:lnTo>
                          <a:lnTo>
                            <a:pt x="43" y="528"/>
                          </a:lnTo>
                          <a:lnTo>
                            <a:pt x="129" y="428"/>
                          </a:lnTo>
                          <a:lnTo>
                            <a:pt x="122" y="375"/>
                          </a:lnTo>
                          <a:lnTo>
                            <a:pt x="129" y="308"/>
                          </a:lnTo>
                          <a:lnTo>
                            <a:pt x="131" y="241"/>
                          </a:lnTo>
                          <a:lnTo>
                            <a:pt x="122" y="162"/>
                          </a:lnTo>
                          <a:lnTo>
                            <a:pt x="104" y="135"/>
                          </a:lnTo>
                          <a:lnTo>
                            <a:pt x="88" y="117"/>
                          </a:lnTo>
                          <a:lnTo>
                            <a:pt x="76" y="101"/>
                          </a:lnTo>
                          <a:lnTo>
                            <a:pt x="86" y="96"/>
                          </a:lnTo>
                          <a:lnTo>
                            <a:pt x="92" y="90"/>
                          </a:lnTo>
                          <a:lnTo>
                            <a:pt x="86" y="68"/>
                          </a:lnTo>
                          <a:lnTo>
                            <a:pt x="79" y="45"/>
                          </a:lnTo>
                          <a:lnTo>
                            <a:pt x="70" y="23"/>
                          </a:lnTo>
                          <a:lnTo>
                            <a:pt x="60" y="0"/>
                          </a:lnTo>
                          <a:lnTo>
                            <a:pt x="5" y="0"/>
                          </a:lnTo>
                          <a:close/>
                        </a:path>
                      </a:pathLst>
                    </a:custGeom>
                    <a:solidFill>
                      <a:srgbClr val="000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1" name="Freeform 253"/>
                    <p:cNvSpPr/>
                    <p:nvPr/>
                  </p:nvSpPr>
                  <p:spPr bwMode="auto">
                    <a:xfrm>
                      <a:off x="2449" y="3114"/>
                      <a:ext cx="9" cy="8"/>
                    </a:xfrm>
                    <a:custGeom>
                      <a:avLst/>
                      <a:gdLst>
                        <a:gd name="T0" fmla="*/ 68 w 68"/>
                        <a:gd name="T1" fmla="*/ 69 h 69"/>
                        <a:gd name="T2" fmla="*/ 33 w 68"/>
                        <a:gd name="T3" fmla="*/ 45 h 69"/>
                        <a:gd name="T4" fmla="*/ 0 w 68"/>
                        <a:gd name="T5" fmla="*/ 27 h 69"/>
                        <a:gd name="T6" fmla="*/ 8 w 68"/>
                        <a:gd name="T7" fmla="*/ 0 h 69"/>
                        <a:gd name="T8" fmla="*/ 27 w 68"/>
                        <a:gd name="T9" fmla="*/ 14 h 69"/>
                        <a:gd name="T10" fmla="*/ 37 w 68"/>
                        <a:gd name="T11" fmla="*/ 25 h 69"/>
                        <a:gd name="T12" fmla="*/ 56 w 68"/>
                        <a:gd name="T13" fmla="*/ 46 h 69"/>
                        <a:gd name="T14" fmla="*/ 68 w 68"/>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69">
                          <a:moveTo>
                            <a:pt x="68" y="69"/>
                          </a:moveTo>
                          <a:lnTo>
                            <a:pt x="33" y="45"/>
                          </a:lnTo>
                          <a:lnTo>
                            <a:pt x="0" y="27"/>
                          </a:lnTo>
                          <a:lnTo>
                            <a:pt x="8" y="0"/>
                          </a:lnTo>
                          <a:lnTo>
                            <a:pt x="27" y="14"/>
                          </a:lnTo>
                          <a:lnTo>
                            <a:pt x="37" y="25"/>
                          </a:lnTo>
                          <a:lnTo>
                            <a:pt x="56" y="46"/>
                          </a:lnTo>
                          <a:lnTo>
                            <a:pt x="68" y="69"/>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2" name="Freeform 254"/>
                    <p:cNvSpPr/>
                    <p:nvPr/>
                  </p:nvSpPr>
                  <p:spPr bwMode="auto">
                    <a:xfrm>
                      <a:off x="2443" y="3114"/>
                      <a:ext cx="17" cy="23"/>
                    </a:xfrm>
                    <a:custGeom>
                      <a:avLst/>
                      <a:gdLst>
                        <a:gd name="T0" fmla="*/ 5 w 121"/>
                        <a:gd name="T1" fmla="*/ 48 h 189"/>
                        <a:gd name="T2" fmla="*/ 3 w 121"/>
                        <a:gd name="T3" fmla="*/ 30 h 189"/>
                        <a:gd name="T4" fmla="*/ 0 w 121"/>
                        <a:gd name="T5" fmla="*/ 0 h 189"/>
                        <a:gd name="T6" fmla="*/ 10 w 121"/>
                        <a:gd name="T7" fmla="*/ 32 h 189"/>
                        <a:gd name="T8" fmla="*/ 19 w 121"/>
                        <a:gd name="T9" fmla="*/ 51 h 189"/>
                        <a:gd name="T10" fmla="*/ 41 w 121"/>
                        <a:gd name="T11" fmla="*/ 80 h 189"/>
                        <a:gd name="T12" fmla="*/ 59 w 121"/>
                        <a:gd name="T13" fmla="*/ 98 h 189"/>
                        <a:gd name="T14" fmla="*/ 91 w 121"/>
                        <a:gd name="T15" fmla="*/ 125 h 189"/>
                        <a:gd name="T16" fmla="*/ 121 w 121"/>
                        <a:gd name="T17" fmla="*/ 150 h 189"/>
                        <a:gd name="T18" fmla="*/ 121 w 121"/>
                        <a:gd name="T19" fmla="*/ 189 h 189"/>
                        <a:gd name="T20" fmla="*/ 90 w 121"/>
                        <a:gd name="T21" fmla="*/ 162 h 189"/>
                        <a:gd name="T22" fmla="*/ 59 w 121"/>
                        <a:gd name="T23" fmla="*/ 138 h 189"/>
                        <a:gd name="T24" fmla="*/ 39 w 121"/>
                        <a:gd name="T25" fmla="*/ 123 h 189"/>
                        <a:gd name="T26" fmla="*/ 41 w 121"/>
                        <a:gd name="T27" fmla="*/ 108 h 189"/>
                        <a:gd name="T28" fmla="*/ 38 w 121"/>
                        <a:gd name="T29" fmla="*/ 88 h 189"/>
                        <a:gd name="T30" fmla="*/ 23 w 121"/>
                        <a:gd name="T31" fmla="*/ 72 h 189"/>
                        <a:gd name="T32" fmla="*/ 5 w 121"/>
                        <a:gd name="T33" fmla="*/ 4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1" h="189">
                          <a:moveTo>
                            <a:pt x="5" y="48"/>
                          </a:moveTo>
                          <a:lnTo>
                            <a:pt x="3" y="30"/>
                          </a:lnTo>
                          <a:lnTo>
                            <a:pt x="0" y="0"/>
                          </a:lnTo>
                          <a:lnTo>
                            <a:pt x="10" y="32"/>
                          </a:lnTo>
                          <a:lnTo>
                            <a:pt x="19" y="51"/>
                          </a:lnTo>
                          <a:lnTo>
                            <a:pt x="41" y="80"/>
                          </a:lnTo>
                          <a:lnTo>
                            <a:pt x="59" y="98"/>
                          </a:lnTo>
                          <a:lnTo>
                            <a:pt x="91" y="125"/>
                          </a:lnTo>
                          <a:lnTo>
                            <a:pt x="121" y="150"/>
                          </a:lnTo>
                          <a:lnTo>
                            <a:pt x="121" y="189"/>
                          </a:lnTo>
                          <a:lnTo>
                            <a:pt x="90" y="162"/>
                          </a:lnTo>
                          <a:lnTo>
                            <a:pt x="59" y="138"/>
                          </a:lnTo>
                          <a:lnTo>
                            <a:pt x="39" y="123"/>
                          </a:lnTo>
                          <a:lnTo>
                            <a:pt x="41" y="108"/>
                          </a:lnTo>
                          <a:lnTo>
                            <a:pt x="38" y="88"/>
                          </a:lnTo>
                          <a:lnTo>
                            <a:pt x="23" y="72"/>
                          </a:lnTo>
                          <a:lnTo>
                            <a:pt x="5" y="48"/>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3" name="Freeform 255"/>
                    <p:cNvSpPr/>
                    <p:nvPr/>
                  </p:nvSpPr>
                  <p:spPr bwMode="auto">
                    <a:xfrm>
                      <a:off x="2445" y="3138"/>
                      <a:ext cx="15" cy="17"/>
                    </a:xfrm>
                    <a:custGeom>
                      <a:avLst/>
                      <a:gdLst>
                        <a:gd name="T0" fmla="*/ 9 w 101"/>
                        <a:gd name="T1" fmla="*/ 0 h 133"/>
                        <a:gd name="T2" fmla="*/ 3 w 101"/>
                        <a:gd name="T3" fmla="*/ 12 h 133"/>
                        <a:gd name="T4" fmla="*/ 0 w 101"/>
                        <a:gd name="T5" fmla="*/ 26 h 133"/>
                        <a:gd name="T6" fmla="*/ 20 w 101"/>
                        <a:gd name="T7" fmla="*/ 31 h 133"/>
                        <a:gd name="T8" fmla="*/ 15 w 101"/>
                        <a:gd name="T9" fmla="*/ 64 h 133"/>
                        <a:gd name="T10" fmla="*/ 56 w 101"/>
                        <a:gd name="T11" fmla="*/ 93 h 133"/>
                        <a:gd name="T12" fmla="*/ 101 w 101"/>
                        <a:gd name="T13" fmla="*/ 133 h 133"/>
                        <a:gd name="T14" fmla="*/ 97 w 101"/>
                        <a:gd name="T15" fmla="*/ 89 h 133"/>
                        <a:gd name="T16" fmla="*/ 98 w 101"/>
                        <a:gd name="T17" fmla="*/ 73 h 133"/>
                        <a:gd name="T18" fmla="*/ 59 w 101"/>
                        <a:gd name="T19" fmla="*/ 41 h 133"/>
                        <a:gd name="T20" fmla="*/ 9 w 101"/>
                        <a:gd name="T21"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133">
                          <a:moveTo>
                            <a:pt x="9" y="0"/>
                          </a:moveTo>
                          <a:lnTo>
                            <a:pt x="3" y="12"/>
                          </a:lnTo>
                          <a:lnTo>
                            <a:pt x="0" y="26"/>
                          </a:lnTo>
                          <a:lnTo>
                            <a:pt x="20" y="31"/>
                          </a:lnTo>
                          <a:lnTo>
                            <a:pt x="15" y="64"/>
                          </a:lnTo>
                          <a:lnTo>
                            <a:pt x="56" y="93"/>
                          </a:lnTo>
                          <a:lnTo>
                            <a:pt x="101" y="133"/>
                          </a:lnTo>
                          <a:lnTo>
                            <a:pt x="97" y="89"/>
                          </a:lnTo>
                          <a:lnTo>
                            <a:pt x="98" y="73"/>
                          </a:lnTo>
                          <a:lnTo>
                            <a:pt x="59" y="41"/>
                          </a:lnTo>
                          <a:lnTo>
                            <a:pt x="9" y="0"/>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4" name="Freeform 256"/>
                    <p:cNvSpPr/>
                    <p:nvPr/>
                  </p:nvSpPr>
                  <p:spPr bwMode="auto">
                    <a:xfrm>
                      <a:off x="2443" y="3114"/>
                      <a:ext cx="8" cy="3"/>
                    </a:xfrm>
                    <a:custGeom>
                      <a:avLst/>
                      <a:gdLst>
                        <a:gd name="T0" fmla="*/ 0 w 54"/>
                        <a:gd name="T1" fmla="*/ 5 h 23"/>
                        <a:gd name="T2" fmla="*/ 25 w 54"/>
                        <a:gd name="T3" fmla="*/ 11 h 23"/>
                        <a:gd name="T4" fmla="*/ 40 w 54"/>
                        <a:gd name="T5" fmla="*/ 9 h 23"/>
                        <a:gd name="T6" fmla="*/ 54 w 54"/>
                        <a:gd name="T7" fmla="*/ 0 h 23"/>
                        <a:gd name="T8" fmla="*/ 45 w 54"/>
                        <a:gd name="T9" fmla="*/ 13 h 23"/>
                        <a:gd name="T10" fmla="*/ 36 w 54"/>
                        <a:gd name="T11" fmla="*/ 20 h 23"/>
                        <a:gd name="T12" fmla="*/ 23 w 54"/>
                        <a:gd name="T13" fmla="*/ 23 h 23"/>
                        <a:gd name="T14" fmla="*/ 0 w 54"/>
                        <a:gd name="T15" fmla="*/ 5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23">
                          <a:moveTo>
                            <a:pt x="0" y="5"/>
                          </a:moveTo>
                          <a:lnTo>
                            <a:pt x="25" y="11"/>
                          </a:lnTo>
                          <a:lnTo>
                            <a:pt x="40" y="9"/>
                          </a:lnTo>
                          <a:lnTo>
                            <a:pt x="54" y="0"/>
                          </a:lnTo>
                          <a:lnTo>
                            <a:pt x="45" y="13"/>
                          </a:lnTo>
                          <a:lnTo>
                            <a:pt x="36" y="20"/>
                          </a:lnTo>
                          <a:lnTo>
                            <a:pt x="23" y="23"/>
                          </a:lnTo>
                          <a:lnTo>
                            <a:pt x="0" y="5"/>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305" name="Group 257"/>
              <p:cNvGrpSpPr/>
              <p:nvPr/>
            </p:nvGrpSpPr>
            <p:grpSpPr bwMode="auto">
              <a:xfrm>
                <a:off x="2398" y="3018"/>
                <a:ext cx="78" cy="88"/>
                <a:chOff x="2398" y="3018"/>
                <a:chExt cx="78" cy="88"/>
              </a:xfrm>
            </p:grpSpPr>
            <p:grpSp>
              <p:nvGrpSpPr>
                <p:cNvPr id="642306" name="Group 258"/>
                <p:cNvGrpSpPr/>
                <p:nvPr/>
              </p:nvGrpSpPr>
              <p:grpSpPr bwMode="auto">
                <a:xfrm>
                  <a:off x="2405" y="3044"/>
                  <a:ext cx="70" cy="62"/>
                  <a:chOff x="2405" y="3044"/>
                  <a:chExt cx="70" cy="62"/>
                </a:xfrm>
              </p:grpSpPr>
              <p:sp>
                <p:nvSpPr>
                  <p:cNvPr id="642307" name="Freeform 259"/>
                  <p:cNvSpPr/>
                  <p:nvPr/>
                </p:nvSpPr>
                <p:spPr bwMode="auto">
                  <a:xfrm>
                    <a:off x="2405" y="3044"/>
                    <a:ext cx="70" cy="62"/>
                  </a:xfrm>
                  <a:custGeom>
                    <a:avLst/>
                    <a:gdLst>
                      <a:gd name="T0" fmla="*/ 445 w 496"/>
                      <a:gd name="T1" fmla="*/ 18 h 497"/>
                      <a:gd name="T2" fmla="*/ 476 w 496"/>
                      <a:gd name="T3" fmla="*/ 47 h 497"/>
                      <a:gd name="T4" fmla="*/ 482 w 496"/>
                      <a:gd name="T5" fmla="*/ 60 h 497"/>
                      <a:gd name="T6" fmla="*/ 490 w 496"/>
                      <a:gd name="T7" fmla="*/ 88 h 497"/>
                      <a:gd name="T8" fmla="*/ 496 w 496"/>
                      <a:gd name="T9" fmla="*/ 116 h 497"/>
                      <a:gd name="T10" fmla="*/ 494 w 496"/>
                      <a:gd name="T11" fmla="*/ 143 h 497"/>
                      <a:gd name="T12" fmla="*/ 486 w 496"/>
                      <a:gd name="T13" fmla="*/ 156 h 497"/>
                      <a:gd name="T14" fmla="*/ 481 w 496"/>
                      <a:gd name="T15" fmla="*/ 166 h 497"/>
                      <a:gd name="T16" fmla="*/ 483 w 496"/>
                      <a:gd name="T17" fmla="*/ 186 h 497"/>
                      <a:gd name="T18" fmla="*/ 486 w 496"/>
                      <a:gd name="T19" fmla="*/ 199 h 497"/>
                      <a:gd name="T20" fmla="*/ 483 w 496"/>
                      <a:gd name="T21" fmla="*/ 219 h 497"/>
                      <a:gd name="T22" fmla="*/ 478 w 496"/>
                      <a:gd name="T23" fmla="*/ 233 h 497"/>
                      <a:gd name="T24" fmla="*/ 468 w 496"/>
                      <a:gd name="T25" fmla="*/ 247 h 497"/>
                      <a:gd name="T26" fmla="*/ 462 w 496"/>
                      <a:gd name="T27" fmla="*/ 256 h 497"/>
                      <a:gd name="T28" fmla="*/ 462 w 496"/>
                      <a:gd name="T29" fmla="*/ 287 h 497"/>
                      <a:gd name="T30" fmla="*/ 466 w 496"/>
                      <a:gd name="T31" fmla="*/ 308 h 497"/>
                      <a:gd name="T32" fmla="*/ 466 w 496"/>
                      <a:gd name="T33" fmla="*/ 319 h 497"/>
                      <a:gd name="T34" fmla="*/ 448 w 496"/>
                      <a:gd name="T35" fmla="*/ 325 h 497"/>
                      <a:gd name="T36" fmla="*/ 440 w 496"/>
                      <a:gd name="T37" fmla="*/ 328 h 497"/>
                      <a:gd name="T38" fmla="*/ 437 w 496"/>
                      <a:gd name="T39" fmla="*/ 353 h 497"/>
                      <a:gd name="T40" fmla="*/ 437 w 496"/>
                      <a:gd name="T41" fmla="*/ 365 h 497"/>
                      <a:gd name="T42" fmla="*/ 418 w 496"/>
                      <a:gd name="T43" fmla="*/ 377 h 497"/>
                      <a:gd name="T44" fmla="*/ 418 w 496"/>
                      <a:gd name="T45" fmla="*/ 383 h 497"/>
                      <a:gd name="T46" fmla="*/ 422 w 496"/>
                      <a:gd name="T47" fmla="*/ 398 h 497"/>
                      <a:gd name="T48" fmla="*/ 416 w 496"/>
                      <a:gd name="T49" fmla="*/ 410 h 497"/>
                      <a:gd name="T50" fmla="*/ 413 w 496"/>
                      <a:gd name="T51" fmla="*/ 416 h 497"/>
                      <a:gd name="T52" fmla="*/ 411 w 496"/>
                      <a:gd name="T53" fmla="*/ 430 h 497"/>
                      <a:gd name="T54" fmla="*/ 416 w 496"/>
                      <a:gd name="T55" fmla="*/ 446 h 497"/>
                      <a:gd name="T56" fmla="*/ 418 w 496"/>
                      <a:gd name="T57" fmla="*/ 463 h 497"/>
                      <a:gd name="T58" fmla="*/ 416 w 496"/>
                      <a:gd name="T59" fmla="*/ 474 h 497"/>
                      <a:gd name="T60" fmla="*/ 410 w 496"/>
                      <a:gd name="T61" fmla="*/ 483 h 497"/>
                      <a:gd name="T62" fmla="*/ 399 w 496"/>
                      <a:gd name="T63" fmla="*/ 491 h 497"/>
                      <a:gd name="T64" fmla="*/ 382 w 496"/>
                      <a:gd name="T65" fmla="*/ 493 h 497"/>
                      <a:gd name="T66" fmla="*/ 354 w 496"/>
                      <a:gd name="T67" fmla="*/ 494 h 497"/>
                      <a:gd name="T68" fmla="*/ 321 w 496"/>
                      <a:gd name="T69" fmla="*/ 497 h 497"/>
                      <a:gd name="T70" fmla="*/ 295 w 496"/>
                      <a:gd name="T71" fmla="*/ 491 h 497"/>
                      <a:gd name="T72" fmla="*/ 269 w 496"/>
                      <a:gd name="T73" fmla="*/ 490 h 497"/>
                      <a:gd name="T74" fmla="*/ 237 w 496"/>
                      <a:gd name="T75" fmla="*/ 479 h 497"/>
                      <a:gd name="T76" fmla="*/ 193 w 496"/>
                      <a:gd name="T77" fmla="*/ 460 h 497"/>
                      <a:gd name="T78" fmla="*/ 158 w 496"/>
                      <a:gd name="T79" fmla="*/ 442 h 497"/>
                      <a:gd name="T80" fmla="*/ 123 w 496"/>
                      <a:gd name="T81" fmla="*/ 416 h 497"/>
                      <a:gd name="T82" fmla="*/ 92 w 496"/>
                      <a:gd name="T83" fmla="*/ 384 h 497"/>
                      <a:gd name="T84" fmla="*/ 62 w 496"/>
                      <a:gd name="T85" fmla="*/ 347 h 497"/>
                      <a:gd name="T86" fmla="*/ 24 w 496"/>
                      <a:gd name="T87" fmla="*/ 293 h 497"/>
                      <a:gd name="T88" fmla="*/ 20 w 496"/>
                      <a:gd name="T89" fmla="*/ 273 h 497"/>
                      <a:gd name="T90" fmla="*/ 35 w 496"/>
                      <a:gd name="T91" fmla="*/ 245 h 497"/>
                      <a:gd name="T92" fmla="*/ 0 w 496"/>
                      <a:gd name="T93" fmla="*/ 173 h 497"/>
                      <a:gd name="T94" fmla="*/ 32 w 496"/>
                      <a:gd name="T95" fmla="*/ 113 h 497"/>
                      <a:gd name="T96" fmla="*/ 121 w 496"/>
                      <a:gd name="T97" fmla="*/ 137 h 497"/>
                      <a:gd name="T98" fmla="*/ 195 w 496"/>
                      <a:gd name="T99" fmla="*/ 98 h 497"/>
                      <a:gd name="T100" fmla="*/ 197 w 496"/>
                      <a:gd name="T101" fmla="*/ 38 h 497"/>
                      <a:gd name="T102" fmla="*/ 295 w 496"/>
                      <a:gd name="T103" fmla="*/ 0 h 497"/>
                      <a:gd name="T104" fmla="*/ 371 w 496"/>
                      <a:gd name="T105" fmla="*/ 0 h 497"/>
                      <a:gd name="T106" fmla="*/ 445 w 496"/>
                      <a:gd name="T107" fmla="*/ 1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6" h="497">
                        <a:moveTo>
                          <a:pt x="445" y="18"/>
                        </a:moveTo>
                        <a:lnTo>
                          <a:pt x="476" y="47"/>
                        </a:lnTo>
                        <a:lnTo>
                          <a:pt x="482" y="60"/>
                        </a:lnTo>
                        <a:lnTo>
                          <a:pt x="490" y="88"/>
                        </a:lnTo>
                        <a:lnTo>
                          <a:pt x="496" y="116"/>
                        </a:lnTo>
                        <a:lnTo>
                          <a:pt x="494" y="143"/>
                        </a:lnTo>
                        <a:lnTo>
                          <a:pt x="486" y="156"/>
                        </a:lnTo>
                        <a:lnTo>
                          <a:pt x="481" y="166"/>
                        </a:lnTo>
                        <a:lnTo>
                          <a:pt x="483" y="186"/>
                        </a:lnTo>
                        <a:lnTo>
                          <a:pt x="486" y="199"/>
                        </a:lnTo>
                        <a:lnTo>
                          <a:pt x="483" y="219"/>
                        </a:lnTo>
                        <a:lnTo>
                          <a:pt x="478" y="233"/>
                        </a:lnTo>
                        <a:lnTo>
                          <a:pt x="468" y="247"/>
                        </a:lnTo>
                        <a:lnTo>
                          <a:pt x="462" y="256"/>
                        </a:lnTo>
                        <a:lnTo>
                          <a:pt x="462" y="287"/>
                        </a:lnTo>
                        <a:lnTo>
                          <a:pt x="466" y="308"/>
                        </a:lnTo>
                        <a:lnTo>
                          <a:pt x="466" y="319"/>
                        </a:lnTo>
                        <a:lnTo>
                          <a:pt x="448" y="325"/>
                        </a:lnTo>
                        <a:lnTo>
                          <a:pt x="440" y="328"/>
                        </a:lnTo>
                        <a:lnTo>
                          <a:pt x="437" y="353"/>
                        </a:lnTo>
                        <a:lnTo>
                          <a:pt x="437" y="365"/>
                        </a:lnTo>
                        <a:lnTo>
                          <a:pt x="418" y="377"/>
                        </a:lnTo>
                        <a:lnTo>
                          <a:pt x="418" y="383"/>
                        </a:lnTo>
                        <a:lnTo>
                          <a:pt x="422" y="398"/>
                        </a:lnTo>
                        <a:lnTo>
                          <a:pt x="416" y="410"/>
                        </a:lnTo>
                        <a:lnTo>
                          <a:pt x="413" y="416"/>
                        </a:lnTo>
                        <a:lnTo>
                          <a:pt x="411" y="430"/>
                        </a:lnTo>
                        <a:lnTo>
                          <a:pt x="416" y="446"/>
                        </a:lnTo>
                        <a:lnTo>
                          <a:pt x="418" y="463"/>
                        </a:lnTo>
                        <a:lnTo>
                          <a:pt x="416" y="474"/>
                        </a:lnTo>
                        <a:lnTo>
                          <a:pt x="410" y="483"/>
                        </a:lnTo>
                        <a:lnTo>
                          <a:pt x="399" y="491"/>
                        </a:lnTo>
                        <a:lnTo>
                          <a:pt x="382" y="493"/>
                        </a:lnTo>
                        <a:lnTo>
                          <a:pt x="354" y="494"/>
                        </a:lnTo>
                        <a:lnTo>
                          <a:pt x="321" y="497"/>
                        </a:lnTo>
                        <a:lnTo>
                          <a:pt x="295" y="491"/>
                        </a:lnTo>
                        <a:lnTo>
                          <a:pt x="269" y="490"/>
                        </a:lnTo>
                        <a:lnTo>
                          <a:pt x="237" y="479"/>
                        </a:lnTo>
                        <a:lnTo>
                          <a:pt x="193" y="460"/>
                        </a:lnTo>
                        <a:lnTo>
                          <a:pt x="158" y="442"/>
                        </a:lnTo>
                        <a:lnTo>
                          <a:pt x="123" y="416"/>
                        </a:lnTo>
                        <a:lnTo>
                          <a:pt x="92" y="384"/>
                        </a:lnTo>
                        <a:lnTo>
                          <a:pt x="62" y="347"/>
                        </a:lnTo>
                        <a:lnTo>
                          <a:pt x="24" y="293"/>
                        </a:lnTo>
                        <a:lnTo>
                          <a:pt x="20" y="273"/>
                        </a:lnTo>
                        <a:lnTo>
                          <a:pt x="35" y="245"/>
                        </a:lnTo>
                        <a:lnTo>
                          <a:pt x="0" y="173"/>
                        </a:lnTo>
                        <a:lnTo>
                          <a:pt x="32" y="113"/>
                        </a:lnTo>
                        <a:lnTo>
                          <a:pt x="121" y="137"/>
                        </a:lnTo>
                        <a:lnTo>
                          <a:pt x="195" y="98"/>
                        </a:lnTo>
                        <a:lnTo>
                          <a:pt x="197" y="38"/>
                        </a:lnTo>
                        <a:lnTo>
                          <a:pt x="295" y="0"/>
                        </a:lnTo>
                        <a:lnTo>
                          <a:pt x="371" y="0"/>
                        </a:lnTo>
                        <a:lnTo>
                          <a:pt x="445"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08" name="Group 260"/>
                  <p:cNvGrpSpPr/>
                  <p:nvPr/>
                </p:nvGrpSpPr>
                <p:grpSpPr bwMode="auto">
                  <a:xfrm>
                    <a:off x="2416" y="3061"/>
                    <a:ext cx="59" cy="45"/>
                    <a:chOff x="2416" y="3061"/>
                    <a:chExt cx="59" cy="45"/>
                  </a:xfrm>
                </p:grpSpPr>
                <p:grpSp>
                  <p:nvGrpSpPr>
                    <p:cNvPr id="642309" name="Group 261"/>
                    <p:cNvGrpSpPr/>
                    <p:nvPr/>
                  </p:nvGrpSpPr>
                  <p:grpSpPr bwMode="auto">
                    <a:xfrm>
                      <a:off x="2438" y="3061"/>
                      <a:ext cx="37" cy="15"/>
                      <a:chOff x="2438" y="3061"/>
                      <a:chExt cx="37" cy="15"/>
                    </a:xfrm>
                  </p:grpSpPr>
                  <p:grpSp>
                    <p:nvGrpSpPr>
                      <p:cNvPr id="642310" name="Group 262"/>
                      <p:cNvGrpSpPr/>
                      <p:nvPr/>
                    </p:nvGrpSpPr>
                    <p:grpSpPr bwMode="auto">
                      <a:xfrm>
                        <a:off x="2465" y="3061"/>
                        <a:ext cx="10" cy="11"/>
                        <a:chOff x="2465" y="3061"/>
                        <a:chExt cx="10" cy="11"/>
                      </a:xfrm>
                    </p:grpSpPr>
                    <p:sp>
                      <p:nvSpPr>
                        <p:cNvPr id="642311" name="Freeform 263"/>
                        <p:cNvSpPr/>
                        <p:nvPr/>
                      </p:nvSpPr>
                      <p:spPr bwMode="auto">
                        <a:xfrm>
                          <a:off x="2465" y="3061"/>
                          <a:ext cx="10" cy="11"/>
                        </a:xfrm>
                        <a:custGeom>
                          <a:avLst/>
                          <a:gdLst>
                            <a:gd name="T0" fmla="*/ 19 w 69"/>
                            <a:gd name="T1" fmla="*/ 82 h 84"/>
                            <a:gd name="T2" fmla="*/ 6 w 69"/>
                            <a:gd name="T3" fmla="*/ 84 h 84"/>
                            <a:gd name="T4" fmla="*/ 0 w 69"/>
                            <a:gd name="T5" fmla="*/ 70 h 84"/>
                            <a:gd name="T6" fmla="*/ 0 w 69"/>
                            <a:gd name="T7" fmla="*/ 50 h 84"/>
                            <a:gd name="T8" fmla="*/ 6 w 69"/>
                            <a:gd name="T9" fmla="*/ 28 h 84"/>
                            <a:gd name="T10" fmla="*/ 16 w 69"/>
                            <a:gd name="T11" fmla="*/ 12 h 84"/>
                            <a:gd name="T12" fmla="*/ 33 w 69"/>
                            <a:gd name="T13" fmla="*/ 3 h 84"/>
                            <a:gd name="T14" fmla="*/ 51 w 69"/>
                            <a:gd name="T15" fmla="*/ 0 h 84"/>
                            <a:gd name="T16" fmla="*/ 69 w 69"/>
                            <a:gd name="T17" fmla="*/ 4 h 84"/>
                            <a:gd name="T18" fmla="*/ 62 w 69"/>
                            <a:gd name="T19" fmla="*/ 16 h 84"/>
                            <a:gd name="T20" fmla="*/ 54 w 69"/>
                            <a:gd name="T21" fmla="*/ 30 h 84"/>
                            <a:gd name="T22" fmla="*/ 57 w 69"/>
                            <a:gd name="T23" fmla="*/ 52 h 84"/>
                            <a:gd name="T24" fmla="*/ 42 w 69"/>
                            <a:gd name="T25" fmla="*/ 57 h 84"/>
                            <a:gd name="T26" fmla="*/ 27 w 69"/>
                            <a:gd name="T27" fmla="*/ 69 h 84"/>
                            <a:gd name="T28" fmla="*/ 19 w 69"/>
                            <a:gd name="T29" fmla="*/ 8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84">
                              <a:moveTo>
                                <a:pt x="19" y="82"/>
                              </a:moveTo>
                              <a:lnTo>
                                <a:pt x="6" y="84"/>
                              </a:lnTo>
                              <a:lnTo>
                                <a:pt x="0" y="70"/>
                              </a:lnTo>
                              <a:lnTo>
                                <a:pt x="0" y="50"/>
                              </a:lnTo>
                              <a:lnTo>
                                <a:pt x="6" y="28"/>
                              </a:lnTo>
                              <a:lnTo>
                                <a:pt x="16" y="12"/>
                              </a:lnTo>
                              <a:lnTo>
                                <a:pt x="33" y="3"/>
                              </a:lnTo>
                              <a:lnTo>
                                <a:pt x="51" y="0"/>
                              </a:lnTo>
                              <a:lnTo>
                                <a:pt x="69" y="4"/>
                              </a:lnTo>
                              <a:lnTo>
                                <a:pt x="62" y="16"/>
                              </a:lnTo>
                              <a:lnTo>
                                <a:pt x="54" y="30"/>
                              </a:lnTo>
                              <a:lnTo>
                                <a:pt x="57" y="52"/>
                              </a:lnTo>
                              <a:lnTo>
                                <a:pt x="42" y="57"/>
                              </a:lnTo>
                              <a:lnTo>
                                <a:pt x="27" y="69"/>
                              </a:lnTo>
                              <a:lnTo>
                                <a:pt x="19" y="8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2" name="Freeform 264"/>
                        <p:cNvSpPr/>
                        <p:nvPr/>
                      </p:nvSpPr>
                      <p:spPr bwMode="auto">
                        <a:xfrm>
                          <a:off x="2466" y="3067"/>
                          <a:ext cx="9" cy="4"/>
                        </a:xfrm>
                        <a:custGeom>
                          <a:avLst/>
                          <a:gdLst>
                            <a:gd name="T0" fmla="*/ 0 w 61"/>
                            <a:gd name="T1" fmla="*/ 4 h 30"/>
                            <a:gd name="T2" fmla="*/ 17 w 61"/>
                            <a:gd name="T3" fmla="*/ 11 h 30"/>
                            <a:gd name="T4" fmla="*/ 34 w 61"/>
                            <a:gd name="T5" fmla="*/ 18 h 30"/>
                            <a:gd name="T6" fmla="*/ 47 w 61"/>
                            <a:gd name="T7" fmla="*/ 22 h 30"/>
                            <a:gd name="T8" fmla="*/ 61 w 61"/>
                            <a:gd name="T9" fmla="*/ 30 h 30"/>
                            <a:gd name="T10" fmla="*/ 54 w 61"/>
                            <a:gd name="T11" fmla="*/ 13 h 30"/>
                            <a:gd name="T12" fmla="*/ 52 w 61"/>
                            <a:gd name="T13" fmla="*/ 0 h 30"/>
                            <a:gd name="T14" fmla="*/ 44 w 61"/>
                            <a:gd name="T15" fmla="*/ 4 h 30"/>
                            <a:gd name="T16" fmla="*/ 32 w 61"/>
                            <a:gd name="T17" fmla="*/ 9 h 30"/>
                            <a:gd name="T18" fmla="*/ 21 w 61"/>
                            <a:gd name="T19" fmla="*/ 8 h 30"/>
                            <a:gd name="T20" fmla="*/ 0 w 61"/>
                            <a:gd name="T21"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30">
                              <a:moveTo>
                                <a:pt x="0" y="4"/>
                              </a:moveTo>
                              <a:lnTo>
                                <a:pt x="17" y="11"/>
                              </a:lnTo>
                              <a:lnTo>
                                <a:pt x="34" y="18"/>
                              </a:lnTo>
                              <a:lnTo>
                                <a:pt x="47" y="22"/>
                              </a:lnTo>
                              <a:lnTo>
                                <a:pt x="61" y="30"/>
                              </a:lnTo>
                              <a:lnTo>
                                <a:pt x="54" y="13"/>
                              </a:lnTo>
                              <a:lnTo>
                                <a:pt x="52" y="0"/>
                              </a:lnTo>
                              <a:lnTo>
                                <a:pt x="44" y="4"/>
                              </a:lnTo>
                              <a:lnTo>
                                <a:pt x="32" y="9"/>
                              </a:lnTo>
                              <a:lnTo>
                                <a:pt x="21" y="8"/>
                              </a:lnTo>
                              <a:lnTo>
                                <a:pt x="0" y="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3" name="Freeform 265"/>
                        <p:cNvSpPr/>
                        <p:nvPr/>
                      </p:nvSpPr>
                      <p:spPr bwMode="auto">
                        <a:xfrm>
                          <a:off x="2466" y="3061"/>
                          <a:ext cx="9" cy="5"/>
                        </a:xfrm>
                        <a:custGeom>
                          <a:avLst/>
                          <a:gdLst>
                            <a:gd name="T0" fmla="*/ 67 w 67"/>
                            <a:gd name="T1" fmla="*/ 4 h 36"/>
                            <a:gd name="T2" fmla="*/ 53 w 67"/>
                            <a:gd name="T3" fmla="*/ 0 h 36"/>
                            <a:gd name="T4" fmla="*/ 41 w 67"/>
                            <a:gd name="T5" fmla="*/ 0 h 36"/>
                            <a:gd name="T6" fmla="*/ 24 w 67"/>
                            <a:gd name="T7" fmla="*/ 5 h 36"/>
                            <a:gd name="T8" fmla="*/ 13 w 67"/>
                            <a:gd name="T9" fmla="*/ 13 h 36"/>
                            <a:gd name="T10" fmla="*/ 5 w 67"/>
                            <a:gd name="T11" fmla="*/ 24 h 36"/>
                            <a:gd name="T12" fmla="*/ 0 w 67"/>
                            <a:gd name="T13" fmla="*/ 36 h 36"/>
                            <a:gd name="T14" fmla="*/ 10 w 67"/>
                            <a:gd name="T15" fmla="*/ 26 h 36"/>
                            <a:gd name="T16" fmla="*/ 22 w 67"/>
                            <a:gd name="T17" fmla="*/ 17 h 36"/>
                            <a:gd name="T18" fmla="*/ 38 w 67"/>
                            <a:gd name="T19" fmla="*/ 13 h 36"/>
                            <a:gd name="T20" fmla="*/ 49 w 67"/>
                            <a:gd name="T21" fmla="*/ 14 h 36"/>
                            <a:gd name="T22" fmla="*/ 60 w 67"/>
                            <a:gd name="T23" fmla="*/ 20 h 36"/>
                            <a:gd name="T24" fmla="*/ 62 w 67"/>
                            <a:gd name="T25" fmla="*/ 12 h 36"/>
                            <a:gd name="T26" fmla="*/ 67 w 67"/>
                            <a:gd name="T27"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36">
                              <a:moveTo>
                                <a:pt x="67" y="4"/>
                              </a:moveTo>
                              <a:lnTo>
                                <a:pt x="53" y="0"/>
                              </a:lnTo>
                              <a:lnTo>
                                <a:pt x="41" y="0"/>
                              </a:lnTo>
                              <a:lnTo>
                                <a:pt x="24" y="5"/>
                              </a:lnTo>
                              <a:lnTo>
                                <a:pt x="13" y="13"/>
                              </a:lnTo>
                              <a:lnTo>
                                <a:pt x="5" y="24"/>
                              </a:lnTo>
                              <a:lnTo>
                                <a:pt x="0" y="36"/>
                              </a:lnTo>
                              <a:lnTo>
                                <a:pt x="10" y="26"/>
                              </a:lnTo>
                              <a:lnTo>
                                <a:pt x="22" y="17"/>
                              </a:lnTo>
                              <a:lnTo>
                                <a:pt x="38" y="13"/>
                              </a:lnTo>
                              <a:lnTo>
                                <a:pt x="49" y="14"/>
                              </a:lnTo>
                              <a:lnTo>
                                <a:pt x="60" y="20"/>
                              </a:lnTo>
                              <a:lnTo>
                                <a:pt x="62" y="12"/>
                              </a:lnTo>
                              <a:lnTo>
                                <a:pt x="67" y="4"/>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14" name="Group 266"/>
                      <p:cNvGrpSpPr/>
                      <p:nvPr/>
                    </p:nvGrpSpPr>
                    <p:grpSpPr bwMode="auto">
                      <a:xfrm>
                        <a:off x="2438" y="3062"/>
                        <a:ext cx="26" cy="14"/>
                        <a:chOff x="2438" y="3062"/>
                        <a:chExt cx="26" cy="14"/>
                      </a:xfrm>
                    </p:grpSpPr>
                    <p:sp>
                      <p:nvSpPr>
                        <p:cNvPr id="642315" name="Freeform 267"/>
                        <p:cNvSpPr/>
                        <p:nvPr/>
                      </p:nvSpPr>
                      <p:spPr bwMode="auto">
                        <a:xfrm>
                          <a:off x="2438" y="3062"/>
                          <a:ext cx="26" cy="14"/>
                        </a:xfrm>
                        <a:custGeom>
                          <a:avLst/>
                          <a:gdLst>
                            <a:gd name="T0" fmla="*/ 0 w 179"/>
                            <a:gd name="T1" fmla="*/ 61 h 114"/>
                            <a:gd name="T2" fmla="*/ 20 w 179"/>
                            <a:gd name="T3" fmla="*/ 38 h 114"/>
                            <a:gd name="T4" fmla="*/ 37 w 179"/>
                            <a:gd name="T5" fmla="*/ 23 h 114"/>
                            <a:gd name="T6" fmla="*/ 53 w 179"/>
                            <a:gd name="T7" fmla="*/ 12 h 114"/>
                            <a:gd name="T8" fmla="*/ 73 w 179"/>
                            <a:gd name="T9" fmla="*/ 3 h 114"/>
                            <a:gd name="T10" fmla="*/ 93 w 179"/>
                            <a:gd name="T11" fmla="*/ 0 h 114"/>
                            <a:gd name="T12" fmla="*/ 114 w 179"/>
                            <a:gd name="T13" fmla="*/ 0 h 114"/>
                            <a:gd name="T14" fmla="*/ 133 w 179"/>
                            <a:gd name="T15" fmla="*/ 3 h 114"/>
                            <a:gd name="T16" fmla="*/ 153 w 179"/>
                            <a:gd name="T17" fmla="*/ 10 h 114"/>
                            <a:gd name="T18" fmla="*/ 164 w 179"/>
                            <a:gd name="T19" fmla="*/ 14 h 114"/>
                            <a:gd name="T20" fmla="*/ 179 w 179"/>
                            <a:gd name="T21" fmla="*/ 8 h 114"/>
                            <a:gd name="T22" fmla="*/ 175 w 179"/>
                            <a:gd name="T23" fmla="*/ 23 h 114"/>
                            <a:gd name="T24" fmla="*/ 174 w 179"/>
                            <a:gd name="T25" fmla="*/ 37 h 114"/>
                            <a:gd name="T26" fmla="*/ 176 w 179"/>
                            <a:gd name="T27" fmla="*/ 56 h 114"/>
                            <a:gd name="T28" fmla="*/ 178 w 179"/>
                            <a:gd name="T29" fmla="*/ 75 h 114"/>
                            <a:gd name="T30" fmla="*/ 175 w 179"/>
                            <a:gd name="T31" fmla="*/ 94 h 114"/>
                            <a:gd name="T32" fmla="*/ 167 w 179"/>
                            <a:gd name="T33" fmla="*/ 104 h 114"/>
                            <a:gd name="T34" fmla="*/ 156 w 179"/>
                            <a:gd name="T35" fmla="*/ 114 h 114"/>
                            <a:gd name="T36" fmla="*/ 160 w 179"/>
                            <a:gd name="T37" fmla="*/ 96 h 114"/>
                            <a:gd name="T38" fmla="*/ 162 w 179"/>
                            <a:gd name="T39" fmla="*/ 81 h 114"/>
                            <a:gd name="T40" fmla="*/ 158 w 179"/>
                            <a:gd name="T41" fmla="*/ 70 h 114"/>
                            <a:gd name="T42" fmla="*/ 151 w 179"/>
                            <a:gd name="T43" fmla="*/ 62 h 114"/>
                            <a:gd name="T44" fmla="*/ 137 w 179"/>
                            <a:gd name="T45" fmla="*/ 76 h 114"/>
                            <a:gd name="T46" fmla="*/ 123 w 179"/>
                            <a:gd name="T47" fmla="*/ 83 h 114"/>
                            <a:gd name="T48" fmla="*/ 107 w 179"/>
                            <a:gd name="T49" fmla="*/ 86 h 114"/>
                            <a:gd name="T50" fmla="*/ 88 w 179"/>
                            <a:gd name="T51" fmla="*/ 85 h 114"/>
                            <a:gd name="T52" fmla="*/ 71 w 179"/>
                            <a:gd name="T53" fmla="*/ 76 h 114"/>
                            <a:gd name="T54" fmla="*/ 55 w 179"/>
                            <a:gd name="T55" fmla="*/ 62 h 114"/>
                            <a:gd name="T56" fmla="*/ 43 w 179"/>
                            <a:gd name="T57" fmla="*/ 55 h 114"/>
                            <a:gd name="T58" fmla="*/ 0 w 179"/>
                            <a:gd name="T59" fmla="*/ 6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9" h="114">
                              <a:moveTo>
                                <a:pt x="0" y="61"/>
                              </a:moveTo>
                              <a:lnTo>
                                <a:pt x="20" y="38"/>
                              </a:lnTo>
                              <a:lnTo>
                                <a:pt x="37" y="23"/>
                              </a:lnTo>
                              <a:lnTo>
                                <a:pt x="53" y="12"/>
                              </a:lnTo>
                              <a:lnTo>
                                <a:pt x="73" y="3"/>
                              </a:lnTo>
                              <a:lnTo>
                                <a:pt x="93" y="0"/>
                              </a:lnTo>
                              <a:lnTo>
                                <a:pt x="114" y="0"/>
                              </a:lnTo>
                              <a:lnTo>
                                <a:pt x="133" y="3"/>
                              </a:lnTo>
                              <a:lnTo>
                                <a:pt x="153" y="10"/>
                              </a:lnTo>
                              <a:lnTo>
                                <a:pt x="164" y="14"/>
                              </a:lnTo>
                              <a:lnTo>
                                <a:pt x="179" y="8"/>
                              </a:lnTo>
                              <a:lnTo>
                                <a:pt x="175" y="23"/>
                              </a:lnTo>
                              <a:lnTo>
                                <a:pt x="174" y="37"/>
                              </a:lnTo>
                              <a:lnTo>
                                <a:pt x="176" y="56"/>
                              </a:lnTo>
                              <a:lnTo>
                                <a:pt x="178" y="75"/>
                              </a:lnTo>
                              <a:lnTo>
                                <a:pt x="175" y="94"/>
                              </a:lnTo>
                              <a:lnTo>
                                <a:pt x="167" y="104"/>
                              </a:lnTo>
                              <a:lnTo>
                                <a:pt x="156" y="114"/>
                              </a:lnTo>
                              <a:lnTo>
                                <a:pt x="160" y="96"/>
                              </a:lnTo>
                              <a:lnTo>
                                <a:pt x="162" y="81"/>
                              </a:lnTo>
                              <a:lnTo>
                                <a:pt x="158" y="70"/>
                              </a:lnTo>
                              <a:lnTo>
                                <a:pt x="151" y="62"/>
                              </a:lnTo>
                              <a:lnTo>
                                <a:pt x="137" y="76"/>
                              </a:lnTo>
                              <a:lnTo>
                                <a:pt x="123" y="83"/>
                              </a:lnTo>
                              <a:lnTo>
                                <a:pt x="107" y="86"/>
                              </a:lnTo>
                              <a:lnTo>
                                <a:pt x="88" y="85"/>
                              </a:lnTo>
                              <a:lnTo>
                                <a:pt x="71" y="76"/>
                              </a:lnTo>
                              <a:lnTo>
                                <a:pt x="55" y="62"/>
                              </a:lnTo>
                              <a:lnTo>
                                <a:pt x="43" y="55"/>
                              </a:lnTo>
                              <a:lnTo>
                                <a:pt x="0"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6" name="Freeform 268"/>
                        <p:cNvSpPr/>
                        <p:nvPr/>
                      </p:nvSpPr>
                      <p:spPr bwMode="auto">
                        <a:xfrm>
                          <a:off x="2445" y="3067"/>
                          <a:ext cx="13" cy="6"/>
                        </a:xfrm>
                        <a:custGeom>
                          <a:avLst/>
                          <a:gdLst>
                            <a:gd name="T0" fmla="*/ 0 w 93"/>
                            <a:gd name="T1" fmla="*/ 0 h 43"/>
                            <a:gd name="T2" fmla="*/ 14 w 93"/>
                            <a:gd name="T3" fmla="*/ 12 h 43"/>
                            <a:gd name="T4" fmla="*/ 28 w 93"/>
                            <a:gd name="T5" fmla="*/ 20 h 43"/>
                            <a:gd name="T6" fmla="*/ 46 w 93"/>
                            <a:gd name="T7" fmla="*/ 23 h 43"/>
                            <a:gd name="T8" fmla="*/ 57 w 93"/>
                            <a:gd name="T9" fmla="*/ 23 h 43"/>
                            <a:gd name="T10" fmla="*/ 68 w 93"/>
                            <a:gd name="T11" fmla="*/ 20 h 43"/>
                            <a:gd name="T12" fmla="*/ 85 w 93"/>
                            <a:gd name="T13" fmla="*/ 8 h 43"/>
                            <a:gd name="T14" fmla="*/ 74 w 93"/>
                            <a:gd name="T15" fmla="*/ 21 h 43"/>
                            <a:gd name="T16" fmla="*/ 93 w 93"/>
                            <a:gd name="T17" fmla="*/ 32 h 43"/>
                            <a:gd name="T18" fmla="*/ 75 w 93"/>
                            <a:gd name="T19" fmla="*/ 38 h 43"/>
                            <a:gd name="T20" fmla="*/ 61 w 93"/>
                            <a:gd name="T21" fmla="*/ 43 h 43"/>
                            <a:gd name="T22" fmla="*/ 41 w 93"/>
                            <a:gd name="T23" fmla="*/ 42 h 43"/>
                            <a:gd name="T24" fmla="*/ 26 w 93"/>
                            <a:gd name="T25" fmla="*/ 34 h 43"/>
                            <a:gd name="T26" fmla="*/ 12 w 93"/>
                            <a:gd name="T27" fmla="*/ 20 h 43"/>
                            <a:gd name="T28" fmla="*/ 0 w 93"/>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43">
                              <a:moveTo>
                                <a:pt x="0" y="0"/>
                              </a:moveTo>
                              <a:lnTo>
                                <a:pt x="14" y="12"/>
                              </a:lnTo>
                              <a:lnTo>
                                <a:pt x="28" y="20"/>
                              </a:lnTo>
                              <a:lnTo>
                                <a:pt x="46" y="23"/>
                              </a:lnTo>
                              <a:lnTo>
                                <a:pt x="57" y="23"/>
                              </a:lnTo>
                              <a:lnTo>
                                <a:pt x="68" y="20"/>
                              </a:lnTo>
                              <a:lnTo>
                                <a:pt x="85" y="8"/>
                              </a:lnTo>
                              <a:lnTo>
                                <a:pt x="74" y="21"/>
                              </a:lnTo>
                              <a:lnTo>
                                <a:pt x="93" y="32"/>
                              </a:lnTo>
                              <a:lnTo>
                                <a:pt x="75" y="38"/>
                              </a:lnTo>
                              <a:lnTo>
                                <a:pt x="61" y="43"/>
                              </a:lnTo>
                              <a:lnTo>
                                <a:pt x="41" y="42"/>
                              </a:lnTo>
                              <a:lnTo>
                                <a:pt x="26" y="34"/>
                              </a:lnTo>
                              <a:lnTo>
                                <a:pt x="12" y="20"/>
                              </a:lnTo>
                              <a:lnTo>
                                <a:pt x="0" y="0"/>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7" name="Freeform 269"/>
                        <p:cNvSpPr/>
                        <p:nvPr/>
                      </p:nvSpPr>
                      <p:spPr bwMode="auto">
                        <a:xfrm>
                          <a:off x="2441" y="3062"/>
                          <a:ext cx="22" cy="6"/>
                        </a:xfrm>
                        <a:custGeom>
                          <a:avLst/>
                          <a:gdLst>
                            <a:gd name="T0" fmla="*/ 0 w 158"/>
                            <a:gd name="T1" fmla="*/ 47 h 48"/>
                            <a:gd name="T2" fmla="*/ 13 w 158"/>
                            <a:gd name="T3" fmla="*/ 31 h 48"/>
                            <a:gd name="T4" fmla="*/ 18 w 158"/>
                            <a:gd name="T5" fmla="*/ 24 h 48"/>
                            <a:gd name="T6" fmla="*/ 26 w 158"/>
                            <a:gd name="T7" fmla="*/ 19 h 48"/>
                            <a:gd name="T8" fmla="*/ 33 w 158"/>
                            <a:gd name="T9" fmla="*/ 12 h 48"/>
                            <a:gd name="T10" fmla="*/ 42 w 158"/>
                            <a:gd name="T11" fmla="*/ 8 h 48"/>
                            <a:gd name="T12" fmla="*/ 51 w 158"/>
                            <a:gd name="T13" fmla="*/ 5 h 48"/>
                            <a:gd name="T14" fmla="*/ 64 w 158"/>
                            <a:gd name="T15" fmla="*/ 1 h 48"/>
                            <a:gd name="T16" fmla="*/ 77 w 158"/>
                            <a:gd name="T17" fmla="*/ 0 h 48"/>
                            <a:gd name="T18" fmla="*/ 93 w 158"/>
                            <a:gd name="T19" fmla="*/ 1 h 48"/>
                            <a:gd name="T20" fmla="*/ 106 w 158"/>
                            <a:gd name="T21" fmla="*/ 5 h 48"/>
                            <a:gd name="T22" fmla="*/ 119 w 158"/>
                            <a:gd name="T23" fmla="*/ 8 h 48"/>
                            <a:gd name="T24" fmla="*/ 136 w 158"/>
                            <a:gd name="T25" fmla="*/ 13 h 48"/>
                            <a:gd name="T26" fmla="*/ 145 w 158"/>
                            <a:gd name="T27" fmla="*/ 12 h 48"/>
                            <a:gd name="T28" fmla="*/ 154 w 158"/>
                            <a:gd name="T29" fmla="*/ 11 h 48"/>
                            <a:gd name="T30" fmla="*/ 157 w 158"/>
                            <a:gd name="T31" fmla="*/ 16 h 48"/>
                            <a:gd name="T32" fmla="*/ 158 w 158"/>
                            <a:gd name="T33" fmla="*/ 22 h 48"/>
                            <a:gd name="T34" fmla="*/ 156 w 158"/>
                            <a:gd name="T35" fmla="*/ 31 h 48"/>
                            <a:gd name="T36" fmla="*/ 152 w 158"/>
                            <a:gd name="T37" fmla="*/ 37 h 48"/>
                            <a:gd name="T38" fmla="*/ 145 w 158"/>
                            <a:gd name="T39" fmla="*/ 35 h 48"/>
                            <a:gd name="T40" fmla="*/ 135 w 158"/>
                            <a:gd name="T41" fmla="*/ 36 h 48"/>
                            <a:gd name="T42" fmla="*/ 125 w 158"/>
                            <a:gd name="T43" fmla="*/ 32 h 48"/>
                            <a:gd name="T44" fmla="*/ 116 w 158"/>
                            <a:gd name="T45" fmla="*/ 30 h 48"/>
                            <a:gd name="T46" fmla="*/ 106 w 158"/>
                            <a:gd name="T47" fmla="*/ 30 h 48"/>
                            <a:gd name="T48" fmla="*/ 100 w 158"/>
                            <a:gd name="T49" fmla="*/ 26 h 48"/>
                            <a:gd name="T50" fmla="*/ 93 w 158"/>
                            <a:gd name="T51" fmla="*/ 24 h 48"/>
                            <a:gd name="T52" fmla="*/ 84 w 158"/>
                            <a:gd name="T53" fmla="*/ 22 h 48"/>
                            <a:gd name="T54" fmla="*/ 74 w 158"/>
                            <a:gd name="T55" fmla="*/ 22 h 48"/>
                            <a:gd name="T56" fmla="*/ 64 w 158"/>
                            <a:gd name="T57" fmla="*/ 24 h 48"/>
                            <a:gd name="T58" fmla="*/ 55 w 158"/>
                            <a:gd name="T59" fmla="*/ 23 h 48"/>
                            <a:gd name="T60" fmla="*/ 44 w 158"/>
                            <a:gd name="T61" fmla="*/ 22 h 48"/>
                            <a:gd name="T62" fmla="*/ 34 w 158"/>
                            <a:gd name="T63" fmla="*/ 26 h 48"/>
                            <a:gd name="T64" fmla="*/ 23 w 158"/>
                            <a:gd name="T65" fmla="*/ 32 h 48"/>
                            <a:gd name="T66" fmla="*/ 14 w 158"/>
                            <a:gd name="T67" fmla="*/ 39 h 48"/>
                            <a:gd name="T68" fmla="*/ 9 w 158"/>
                            <a:gd name="T69" fmla="*/ 48 h 48"/>
                            <a:gd name="T70" fmla="*/ 0 w 158"/>
                            <a:gd name="T71" fmla="*/ 4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8" h="48">
                              <a:moveTo>
                                <a:pt x="0" y="47"/>
                              </a:moveTo>
                              <a:lnTo>
                                <a:pt x="13" y="31"/>
                              </a:lnTo>
                              <a:lnTo>
                                <a:pt x="18" y="24"/>
                              </a:lnTo>
                              <a:lnTo>
                                <a:pt x="26" y="19"/>
                              </a:lnTo>
                              <a:lnTo>
                                <a:pt x="33" y="12"/>
                              </a:lnTo>
                              <a:lnTo>
                                <a:pt x="42" y="8"/>
                              </a:lnTo>
                              <a:lnTo>
                                <a:pt x="51" y="5"/>
                              </a:lnTo>
                              <a:lnTo>
                                <a:pt x="64" y="1"/>
                              </a:lnTo>
                              <a:lnTo>
                                <a:pt x="77" y="0"/>
                              </a:lnTo>
                              <a:lnTo>
                                <a:pt x="93" y="1"/>
                              </a:lnTo>
                              <a:lnTo>
                                <a:pt x="106" y="5"/>
                              </a:lnTo>
                              <a:lnTo>
                                <a:pt x="119" y="8"/>
                              </a:lnTo>
                              <a:lnTo>
                                <a:pt x="136" y="13"/>
                              </a:lnTo>
                              <a:lnTo>
                                <a:pt x="145" y="12"/>
                              </a:lnTo>
                              <a:lnTo>
                                <a:pt x="154" y="11"/>
                              </a:lnTo>
                              <a:lnTo>
                                <a:pt x="157" y="16"/>
                              </a:lnTo>
                              <a:lnTo>
                                <a:pt x="158" y="22"/>
                              </a:lnTo>
                              <a:lnTo>
                                <a:pt x="156" y="31"/>
                              </a:lnTo>
                              <a:lnTo>
                                <a:pt x="152" y="37"/>
                              </a:lnTo>
                              <a:lnTo>
                                <a:pt x="145" y="35"/>
                              </a:lnTo>
                              <a:lnTo>
                                <a:pt x="135" y="36"/>
                              </a:lnTo>
                              <a:lnTo>
                                <a:pt x="125" y="32"/>
                              </a:lnTo>
                              <a:lnTo>
                                <a:pt x="116" y="30"/>
                              </a:lnTo>
                              <a:lnTo>
                                <a:pt x="106" y="30"/>
                              </a:lnTo>
                              <a:lnTo>
                                <a:pt x="100" y="26"/>
                              </a:lnTo>
                              <a:lnTo>
                                <a:pt x="93" y="24"/>
                              </a:lnTo>
                              <a:lnTo>
                                <a:pt x="84" y="22"/>
                              </a:lnTo>
                              <a:lnTo>
                                <a:pt x="74" y="22"/>
                              </a:lnTo>
                              <a:lnTo>
                                <a:pt x="64" y="24"/>
                              </a:lnTo>
                              <a:lnTo>
                                <a:pt x="55" y="23"/>
                              </a:lnTo>
                              <a:lnTo>
                                <a:pt x="44" y="22"/>
                              </a:lnTo>
                              <a:lnTo>
                                <a:pt x="34" y="26"/>
                              </a:lnTo>
                              <a:lnTo>
                                <a:pt x="23" y="32"/>
                              </a:lnTo>
                              <a:lnTo>
                                <a:pt x="14" y="39"/>
                              </a:lnTo>
                              <a:lnTo>
                                <a:pt x="9" y="48"/>
                              </a:lnTo>
                              <a:lnTo>
                                <a:pt x="0" y="47"/>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18" name="Group 270"/>
                    <p:cNvGrpSpPr/>
                    <p:nvPr/>
                  </p:nvGrpSpPr>
                  <p:grpSpPr bwMode="auto">
                    <a:xfrm>
                      <a:off x="2416" y="3070"/>
                      <a:ext cx="56" cy="36"/>
                      <a:chOff x="2416" y="3070"/>
                      <a:chExt cx="56" cy="36"/>
                    </a:xfrm>
                  </p:grpSpPr>
                  <p:grpSp>
                    <p:nvGrpSpPr>
                      <p:cNvPr id="642319" name="Group 271"/>
                      <p:cNvGrpSpPr/>
                      <p:nvPr/>
                    </p:nvGrpSpPr>
                    <p:grpSpPr bwMode="auto">
                      <a:xfrm>
                        <a:off x="2457" y="3070"/>
                        <a:ext cx="15" cy="20"/>
                        <a:chOff x="2457" y="3070"/>
                        <a:chExt cx="15" cy="20"/>
                      </a:xfrm>
                    </p:grpSpPr>
                    <p:sp>
                      <p:nvSpPr>
                        <p:cNvPr id="642320" name="Freeform 272"/>
                        <p:cNvSpPr/>
                        <p:nvPr/>
                      </p:nvSpPr>
                      <p:spPr bwMode="auto">
                        <a:xfrm>
                          <a:off x="2457" y="3073"/>
                          <a:ext cx="9" cy="14"/>
                        </a:xfrm>
                        <a:custGeom>
                          <a:avLst/>
                          <a:gdLst>
                            <a:gd name="T0" fmla="*/ 29 w 66"/>
                            <a:gd name="T1" fmla="*/ 0 h 109"/>
                            <a:gd name="T2" fmla="*/ 19 w 66"/>
                            <a:gd name="T3" fmla="*/ 24 h 109"/>
                            <a:gd name="T4" fmla="*/ 13 w 66"/>
                            <a:gd name="T5" fmla="*/ 46 h 109"/>
                            <a:gd name="T6" fmla="*/ 23 w 66"/>
                            <a:gd name="T7" fmla="*/ 38 h 109"/>
                            <a:gd name="T8" fmla="*/ 34 w 66"/>
                            <a:gd name="T9" fmla="*/ 34 h 109"/>
                            <a:gd name="T10" fmla="*/ 43 w 66"/>
                            <a:gd name="T11" fmla="*/ 37 h 109"/>
                            <a:gd name="T12" fmla="*/ 50 w 66"/>
                            <a:gd name="T13" fmla="*/ 45 h 109"/>
                            <a:gd name="T14" fmla="*/ 51 w 66"/>
                            <a:gd name="T15" fmla="*/ 55 h 109"/>
                            <a:gd name="T16" fmla="*/ 44 w 66"/>
                            <a:gd name="T17" fmla="*/ 51 h 109"/>
                            <a:gd name="T18" fmla="*/ 35 w 66"/>
                            <a:gd name="T19" fmla="*/ 47 h 109"/>
                            <a:gd name="T20" fmla="*/ 23 w 66"/>
                            <a:gd name="T21" fmla="*/ 46 h 109"/>
                            <a:gd name="T22" fmla="*/ 14 w 66"/>
                            <a:gd name="T23" fmla="*/ 50 h 109"/>
                            <a:gd name="T24" fmla="*/ 9 w 66"/>
                            <a:gd name="T25" fmla="*/ 61 h 109"/>
                            <a:gd name="T26" fmla="*/ 10 w 66"/>
                            <a:gd name="T27" fmla="*/ 74 h 109"/>
                            <a:gd name="T28" fmla="*/ 17 w 66"/>
                            <a:gd name="T29" fmla="*/ 82 h 109"/>
                            <a:gd name="T30" fmla="*/ 31 w 66"/>
                            <a:gd name="T31" fmla="*/ 83 h 109"/>
                            <a:gd name="T32" fmla="*/ 47 w 66"/>
                            <a:gd name="T33" fmla="*/ 85 h 109"/>
                            <a:gd name="T34" fmla="*/ 58 w 66"/>
                            <a:gd name="T35" fmla="*/ 90 h 109"/>
                            <a:gd name="T36" fmla="*/ 66 w 66"/>
                            <a:gd name="T37" fmla="*/ 100 h 109"/>
                            <a:gd name="T38" fmla="*/ 60 w 66"/>
                            <a:gd name="T39" fmla="*/ 108 h 109"/>
                            <a:gd name="T40" fmla="*/ 44 w 66"/>
                            <a:gd name="T41" fmla="*/ 109 h 109"/>
                            <a:gd name="T42" fmla="*/ 29 w 66"/>
                            <a:gd name="T43" fmla="*/ 105 h 109"/>
                            <a:gd name="T44" fmla="*/ 13 w 66"/>
                            <a:gd name="T45" fmla="*/ 94 h 109"/>
                            <a:gd name="T46" fmla="*/ 3 w 66"/>
                            <a:gd name="T47" fmla="*/ 85 h 109"/>
                            <a:gd name="T48" fmla="*/ 0 w 66"/>
                            <a:gd name="T49" fmla="*/ 70 h 109"/>
                            <a:gd name="T50" fmla="*/ 1 w 66"/>
                            <a:gd name="T51" fmla="*/ 59 h 109"/>
                            <a:gd name="T52" fmla="*/ 7 w 66"/>
                            <a:gd name="T53" fmla="*/ 44 h 109"/>
                            <a:gd name="T54" fmla="*/ 29 w 66"/>
                            <a:gd name="T55"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6" h="109">
                              <a:moveTo>
                                <a:pt x="29" y="0"/>
                              </a:moveTo>
                              <a:lnTo>
                                <a:pt x="19" y="24"/>
                              </a:lnTo>
                              <a:lnTo>
                                <a:pt x="13" y="46"/>
                              </a:lnTo>
                              <a:lnTo>
                                <a:pt x="23" y="38"/>
                              </a:lnTo>
                              <a:lnTo>
                                <a:pt x="34" y="34"/>
                              </a:lnTo>
                              <a:lnTo>
                                <a:pt x="43" y="37"/>
                              </a:lnTo>
                              <a:lnTo>
                                <a:pt x="50" y="45"/>
                              </a:lnTo>
                              <a:lnTo>
                                <a:pt x="51" y="55"/>
                              </a:lnTo>
                              <a:lnTo>
                                <a:pt x="44" y="51"/>
                              </a:lnTo>
                              <a:lnTo>
                                <a:pt x="35" y="47"/>
                              </a:lnTo>
                              <a:lnTo>
                                <a:pt x="23" y="46"/>
                              </a:lnTo>
                              <a:lnTo>
                                <a:pt x="14" y="50"/>
                              </a:lnTo>
                              <a:lnTo>
                                <a:pt x="9" y="61"/>
                              </a:lnTo>
                              <a:lnTo>
                                <a:pt x="10" y="74"/>
                              </a:lnTo>
                              <a:lnTo>
                                <a:pt x="17" y="82"/>
                              </a:lnTo>
                              <a:lnTo>
                                <a:pt x="31" y="83"/>
                              </a:lnTo>
                              <a:lnTo>
                                <a:pt x="47" y="85"/>
                              </a:lnTo>
                              <a:lnTo>
                                <a:pt x="58" y="90"/>
                              </a:lnTo>
                              <a:lnTo>
                                <a:pt x="66" y="100"/>
                              </a:lnTo>
                              <a:lnTo>
                                <a:pt x="60" y="108"/>
                              </a:lnTo>
                              <a:lnTo>
                                <a:pt x="44" y="109"/>
                              </a:lnTo>
                              <a:lnTo>
                                <a:pt x="29" y="105"/>
                              </a:lnTo>
                              <a:lnTo>
                                <a:pt x="13" y="94"/>
                              </a:lnTo>
                              <a:lnTo>
                                <a:pt x="3" y="85"/>
                              </a:lnTo>
                              <a:lnTo>
                                <a:pt x="0" y="70"/>
                              </a:lnTo>
                              <a:lnTo>
                                <a:pt x="1" y="59"/>
                              </a:lnTo>
                              <a:lnTo>
                                <a:pt x="7" y="44"/>
                              </a:lnTo>
                              <a:lnTo>
                                <a:pt x="29"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1" name="Freeform 273"/>
                        <p:cNvSpPr/>
                        <p:nvPr/>
                      </p:nvSpPr>
                      <p:spPr bwMode="auto">
                        <a:xfrm>
                          <a:off x="2465" y="3070"/>
                          <a:ext cx="7" cy="20"/>
                        </a:xfrm>
                        <a:custGeom>
                          <a:avLst/>
                          <a:gdLst>
                            <a:gd name="T0" fmla="*/ 7 w 50"/>
                            <a:gd name="T1" fmla="*/ 0 h 159"/>
                            <a:gd name="T2" fmla="*/ 28 w 50"/>
                            <a:gd name="T3" fmla="*/ 34 h 159"/>
                            <a:gd name="T4" fmla="*/ 35 w 50"/>
                            <a:gd name="T5" fmla="*/ 50 h 159"/>
                            <a:gd name="T6" fmla="*/ 43 w 50"/>
                            <a:gd name="T7" fmla="*/ 72 h 159"/>
                            <a:gd name="T8" fmla="*/ 48 w 50"/>
                            <a:gd name="T9" fmla="*/ 86 h 159"/>
                            <a:gd name="T10" fmla="*/ 50 w 50"/>
                            <a:gd name="T11" fmla="*/ 102 h 159"/>
                            <a:gd name="T12" fmla="*/ 45 w 50"/>
                            <a:gd name="T13" fmla="*/ 114 h 159"/>
                            <a:gd name="T14" fmla="*/ 36 w 50"/>
                            <a:gd name="T15" fmla="*/ 119 h 159"/>
                            <a:gd name="T16" fmla="*/ 24 w 50"/>
                            <a:gd name="T17" fmla="*/ 122 h 159"/>
                            <a:gd name="T18" fmla="*/ 14 w 50"/>
                            <a:gd name="T19" fmla="*/ 125 h 159"/>
                            <a:gd name="T20" fmla="*/ 11 w 50"/>
                            <a:gd name="T21" fmla="*/ 159 h 159"/>
                            <a:gd name="T22" fmla="*/ 7 w 50"/>
                            <a:gd name="T23" fmla="*/ 139 h 159"/>
                            <a:gd name="T24" fmla="*/ 0 w 50"/>
                            <a:gd name="T25" fmla="*/ 126 h 159"/>
                            <a:gd name="T26" fmla="*/ 16 w 50"/>
                            <a:gd name="T27" fmla="*/ 119 h 159"/>
                            <a:gd name="T28" fmla="*/ 29 w 50"/>
                            <a:gd name="T29" fmla="*/ 112 h 159"/>
                            <a:gd name="T30" fmla="*/ 38 w 50"/>
                            <a:gd name="T31" fmla="*/ 99 h 159"/>
                            <a:gd name="T32" fmla="*/ 35 w 50"/>
                            <a:gd name="T33" fmla="*/ 77 h 159"/>
                            <a:gd name="T34" fmla="*/ 28 w 50"/>
                            <a:gd name="T35" fmla="*/ 54 h 159"/>
                            <a:gd name="T36" fmla="*/ 22 w 50"/>
                            <a:gd name="T37" fmla="*/ 33 h 159"/>
                            <a:gd name="T38" fmla="*/ 7 w 50"/>
                            <a:gd name="T3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 h="159">
                              <a:moveTo>
                                <a:pt x="7" y="0"/>
                              </a:moveTo>
                              <a:lnTo>
                                <a:pt x="28" y="34"/>
                              </a:lnTo>
                              <a:lnTo>
                                <a:pt x="35" y="50"/>
                              </a:lnTo>
                              <a:lnTo>
                                <a:pt x="43" y="72"/>
                              </a:lnTo>
                              <a:lnTo>
                                <a:pt x="48" y="86"/>
                              </a:lnTo>
                              <a:lnTo>
                                <a:pt x="50" y="102"/>
                              </a:lnTo>
                              <a:lnTo>
                                <a:pt x="45" y="114"/>
                              </a:lnTo>
                              <a:lnTo>
                                <a:pt x="36" y="119"/>
                              </a:lnTo>
                              <a:lnTo>
                                <a:pt x="24" y="122"/>
                              </a:lnTo>
                              <a:lnTo>
                                <a:pt x="14" y="125"/>
                              </a:lnTo>
                              <a:lnTo>
                                <a:pt x="11" y="159"/>
                              </a:lnTo>
                              <a:lnTo>
                                <a:pt x="7" y="139"/>
                              </a:lnTo>
                              <a:lnTo>
                                <a:pt x="0" y="126"/>
                              </a:lnTo>
                              <a:lnTo>
                                <a:pt x="16" y="119"/>
                              </a:lnTo>
                              <a:lnTo>
                                <a:pt x="29" y="112"/>
                              </a:lnTo>
                              <a:lnTo>
                                <a:pt x="38" y="99"/>
                              </a:lnTo>
                              <a:lnTo>
                                <a:pt x="35" y="77"/>
                              </a:lnTo>
                              <a:lnTo>
                                <a:pt x="28" y="54"/>
                              </a:lnTo>
                              <a:lnTo>
                                <a:pt x="22" y="33"/>
                              </a:lnTo>
                              <a:lnTo>
                                <a:pt x="7"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22" name="Group 274"/>
                      <p:cNvGrpSpPr/>
                      <p:nvPr/>
                    </p:nvGrpSpPr>
                    <p:grpSpPr bwMode="auto">
                      <a:xfrm>
                        <a:off x="2416" y="3082"/>
                        <a:ext cx="51" cy="24"/>
                        <a:chOff x="2416" y="3082"/>
                        <a:chExt cx="51" cy="24"/>
                      </a:xfrm>
                    </p:grpSpPr>
                    <p:grpSp>
                      <p:nvGrpSpPr>
                        <p:cNvPr id="642323" name="Group 275"/>
                        <p:cNvGrpSpPr/>
                        <p:nvPr/>
                      </p:nvGrpSpPr>
                      <p:grpSpPr bwMode="auto">
                        <a:xfrm>
                          <a:off x="2416" y="3082"/>
                          <a:ext cx="47" cy="24"/>
                          <a:chOff x="2416" y="3082"/>
                          <a:chExt cx="47" cy="24"/>
                        </a:xfrm>
                      </p:grpSpPr>
                      <p:sp>
                        <p:nvSpPr>
                          <p:cNvPr id="642324" name="Freeform 276"/>
                          <p:cNvSpPr/>
                          <p:nvPr/>
                        </p:nvSpPr>
                        <p:spPr bwMode="auto">
                          <a:xfrm>
                            <a:off x="2431" y="3097"/>
                            <a:ext cx="16" cy="9"/>
                          </a:xfrm>
                          <a:custGeom>
                            <a:avLst/>
                            <a:gdLst>
                              <a:gd name="T0" fmla="*/ 0 w 112"/>
                              <a:gd name="T1" fmla="*/ 0 h 69"/>
                              <a:gd name="T2" fmla="*/ 30 w 112"/>
                              <a:gd name="T3" fmla="*/ 24 h 69"/>
                              <a:gd name="T4" fmla="*/ 57 w 112"/>
                              <a:gd name="T5" fmla="*/ 41 h 69"/>
                              <a:gd name="T6" fmla="*/ 81 w 112"/>
                              <a:gd name="T7" fmla="*/ 51 h 69"/>
                              <a:gd name="T8" fmla="*/ 112 w 112"/>
                              <a:gd name="T9" fmla="*/ 61 h 69"/>
                              <a:gd name="T10" fmla="*/ 92 w 112"/>
                              <a:gd name="T11" fmla="*/ 69 h 69"/>
                              <a:gd name="T12" fmla="*/ 44 w 112"/>
                              <a:gd name="T13" fmla="*/ 51 h 69"/>
                              <a:gd name="T14" fmla="*/ 27 w 112"/>
                              <a:gd name="T15" fmla="*/ 40 h 69"/>
                              <a:gd name="T16" fmla="*/ 14 w 112"/>
                              <a:gd name="T17" fmla="*/ 23 h 69"/>
                              <a:gd name="T18" fmla="*/ 0 w 112"/>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69">
                                <a:moveTo>
                                  <a:pt x="0" y="0"/>
                                </a:moveTo>
                                <a:lnTo>
                                  <a:pt x="30" y="24"/>
                                </a:lnTo>
                                <a:lnTo>
                                  <a:pt x="57" y="41"/>
                                </a:lnTo>
                                <a:lnTo>
                                  <a:pt x="81" y="51"/>
                                </a:lnTo>
                                <a:lnTo>
                                  <a:pt x="112" y="61"/>
                                </a:lnTo>
                                <a:lnTo>
                                  <a:pt x="92" y="69"/>
                                </a:lnTo>
                                <a:lnTo>
                                  <a:pt x="44" y="51"/>
                                </a:lnTo>
                                <a:lnTo>
                                  <a:pt x="27" y="40"/>
                                </a:lnTo>
                                <a:lnTo>
                                  <a:pt x="14"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5" name="Freeform 277"/>
                          <p:cNvSpPr/>
                          <p:nvPr/>
                        </p:nvSpPr>
                        <p:spPr bwMode="auto">
                          <a:xfrm>
                            <a:off x="2416" y="3082"/>
                            <a:ext cx="16" cy="19"/>
                          </a:xfrm>
                          <a:custGeom>
                            <a:avLst/>
                            <a:gdLst>
                              <a:gd name="T0" fmla="*/ 0 w 115"/>
                              <a:gd name="T1" fmla="*/ 0 h 149"/>
                              <a:gd name="T2" fmla="*/ 14 w 115"/>
                              <a:gd name="T3" fmla="*/ 35 h 149"/>
                              <a:gd name="T4" fmla="*/ 23 w 115"/>
                              <a:gd name="T5" fmla="*/ 54 h 149"/>
                              <a:gd name="T6" fmla="*/ 38 w 115"/>
                              <a:gd name="T7" fmla="*/ 70 h 149"/>
                              <a:gd name="T8" fmla="*/ 57 w 115"/>
                              <a:gd name="T9" fmla="*/ 90 h 149"/>
                              <a:gd name="T10" fmla="*/ 80 w 115"/>
                              <a:gd name="T11" fmla="*/ 111 h 149"/>
                              <a:gd name="T12" fmla="*/ 100 w 115"/>
                              <a:gd name="T13" fmla="*/ 126 h 149"/>
                              <a:gd name="T14" fmla="*/ 115 w 115"/>
                              <a:gd name="T15" fmla="*/ 149 h 149"/>
                              <a:gd name="T16" fmla="*/ 81 w 115"/>
                              <a:gd name="T17" fmla="*/ 124 h 149"/>
                              <a:gd name="T18" fmla="*/ 57 w 115"/>
                              <a:gd name="T19" fmla="*/ 104 h 149"/>
                              <a:gd name="T20" fmla="*/ 27 w 115"/>
                              <a:gd name="T21" fmla="*/ 75 h 149"/>
                              <a:gd name="T22" fmla="*/ 11 w 115"/>
                              <a:gd name="T23" fmla="*/ 48 h 149"/>
                              <a:gd name="T24" fmla="*/ 3 w 115"/>
                              <a:gd name="T25" fmla="*/ 23 h 149"/>
                              <a:gd name="T26" fmla="*/ 0 w 115"/>
                              <a:gd name="T27"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49">
                                <a:moveTo>
                                  <a:pt x="0" y="0"/>
                                </a:moveTo>
                                <a:lnTo>
                                  <a:pt x="14" y="35"/>
                                </a:lnTo>
                                <a:lnTo>
                                  <a:pt x="23" y="54"/>
                                </a:lnTo>
                                <a:lnTo>
                                  <a:pt x="38" y="70"/>
                                </a:lnTo>
                                <a:lnTo>
                                  <a:pt x="57" y="90"/>
                                </a:lnTo>
                                <a:lnTo>
                                  <a:pt x="80" y="111"/>
                                </a:lnTo>
                                <a:lnTo>
                                  <a:pt x="100" y="126"/>
                                </a:lnTo>
                                <a:lnTo>
                                  <a:pt x="115" y="149"/>
                                </a:lnTo>
                                <a:lnTo>
                                  <a:pt x="81" y="124"/>
                                </a:lnTo>
                                <a:lnTo>
                                  <a:pt x="57" y="104"/>
                                </a:lnTo>
                                <a:lnTo>
                                  <a:pt x="27" y="75"/>
                                </a:lnTo>
                                <a:lnTo>
                                  <a:pt x="11" y="48"/>
                                </a:lnTo>
                                <a:lnTo>
                                  <a:pt x="3"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6" name="Freeform 278"/>
                          <p:cNvSpPr/>
                          <p:nvPr/>
                        </p:nvSpPr>
                        <p:spPr bwMode="auto">
                          <a:xfrm>
                            <a:off x="2448" y="3102"/>
                            <a:ext cx="15" cy="4"/>
                          </a:xfrm>
                          <a:custGeom>
                            <a:avLst/>
                            <a:gdLst>
                              <a:gd name="T0" fmla="*/ 0 w 103"/>
                              <a:gd name="T1" fmla="*/ 26 h 36"/>
                              <a:gd name="T2" fmla="*/ 17 w 103"/>
                              <a:gd name="T3" fmla="*/ 22 h 36"/>
                              <a:gd name="T4" fmla="*/ 34 w 103"/>
                              <a:gd name="T5" fmla="*/ 17 h 36"/>
                              <a:gd name="T6" fmla="*/ 47 w 103"/>
                              <a:gd name="T7" fmla="*/ 9 h 36"/>
                              <a:gd name="T8" fmla="*/ 57 w 103"/>
                              <a:gd name="T9" fmla="*/ 0 h 36"/>
                              <a:gd name="T10" fmla="*/ 64 w 103"/>
                              <a:gd name="T11" fmla="*/ 12 h 36"/>
                              <a:gd name="T12" fmla="*/ 76 w 103"/>
                              <a:gd name="T13" fmla="*/ 19 h 36"/>
                              <a:gd name="T14" fmla="*/ 87 w 103"/>
                              <a:gd name="T15" fmla="*/ 22 h 36"/>
                              <a:gd name="T16" fmla="*/ 103 w 103"/>
                              <a:gd name="T17" fmla="*/ 19 h 36"/>
                              <a:gd name="T18" fmla="*/ 96 w 103"/>
                              <a:gd name="T19" fmla="*/ 28 h 36"/>
                              <a:gd name="T20" fmla="*/ 86 w 103"/>
                              <a:gd name="T21" fmla="*/ 33 h 36"/>
                              <a:gd name="T22" fmla="*/ 74 w 103"/>
                              <a:gd name="T23" fmla="*/ 36 h 36"/>
                              <a:gd name="T24" fmla="*/ 54 w 103"/>
                              <a:gd name="T25" fmla="*/ 36 h 36"/>
                              <a:gd name="T26" fmla="*/ 35 w 103"/>
                              <a:gd name="T27" fmla="*/ 33 h 36"/>
                              <a:gd name="T28" fmla="*/ 15 w 103"/>
                              <a:gd name="T29" fmla="*/ 32 h 36"/>
                              <a:gd name="T30" fmla="*/ 0 w 103"/>
                              <a:gd name="T31"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36">
                                <a:moveTo>
                                  <a:pt x="0" y="26"/>
                                </a:moveTo>
                                <a:lnTo>
                                  <a:pt x="17" y="22"/>
                                </a:lnTo>
                                <a:lnTo>
                                  <a:pt x="34" y="17"/>
                                </a:lnTo>
                                <a:lnTo>
                                  <a:pt x="47" y="9"/>
                                </a:lnTo>
                                <a:lnTo>
                                  <a:pt x="57" y="0"/>
                                </a:lnTo>
                                <a:lnTo>
                                  <a:pt x="64" y="12"/>
                                </a:lnTo>
                                <a:lnTo>
                                  <a:pt x="76" y="19"/>
                                </a:lnTo>
                                <a:lnTo>
                                  <a:pt x="87" y="22"/>
                                </a:lnTo>
                                <a:lnTo>
                                  <a:pt x="103" y="19"/>
                                </a:lnTo>
                                <a:lnTo>
                                  <a:pt x="96" y="28"/>
                                </a:lnTo>
                                <a:lnTo>
                                  <a:pt x="86" y="33"/>
                                </a:lnTo>
                                <a:lnTo>
                                  <a:pt x="74" y="36"/>
                                </a:lnTo>
                                <a:lnTo>
                                  <a:pt x="54" y="36"/>
                                </a:lnTo>
                                <a:lnTo>
                                  <a:pt x="35" y="33"/>
                                </a:lnTo>
                                <a:lnTo>
                                  <a:pt x="15" y="32"/>
                                </a:lnTo>
                                <a:lnTo>
                                  <a:pt x="0" y="2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27" name="Group 279"/>
                        <p:cNvGrpSpPr/>
                        <p:nvPr/>
                      </p:nvGrpSpPr>
                      <p:grpSpPr bwMode="auto">
                        <a:xfrm>
                          <a:off x="2450" y="3087"/>
                          <a:ext cx="17" cy="11"/>
                          <a:chOff x="2450" y="3087"/>
                          <a:chExt cx="17" cy="11"/>
                        </a:xfrm>
                      </p:grpSpPr>
                      <p:sp>
                        <p:nvSpPr>
                          <p:cNvPr id="642328" name="Freeform 280"/>
                          <p:cNvSpPr/>
                          <p:nvPr/>
                        </p:nvSpPr>
                        <p:spPr bwMode="auto">
                          <a:xfrm>
                            <a:off x="2454" y="3092"/>
                            <a:ext cx="10" cy="6"/>
                          </a:xfrm>
                          <a:custGeom>
                            <a:avLst/>
                            <a:gdLst>
                              <a:gd name="T0" fmla="*/ 8 w 73"/>
                              <a:gd name="T1" fmla="*/ 0 h 49"/>
                              <a:gd name="T2" fmla="*/ 22 w 73"/>
                              <a:gd name="T3" fmla="*/ 7 h 49"/>
                              <a:gd name="T4" fmla="*/ 48 w 73"/>
                              <a:gd name="T5" fmla="*/ 19 h 49"/>
                              <a:gd name="T6" fmla="*/ 73 w 73"/>
                              <a:gd name="T7" fmla="*/ 21 h 49"/>
                              <a:gd name="T8" fmla="*/ 65 w 73"/>
                              <a:gd name="T9" fmla="*/ 36 h 49"/>
                              <a:gd name="T10" fmla="*/ 55 w 73"/>
                              <a:gd name="T11" fmla="*/ 38 h 49"/>
                              <a:gd name="T12" fmla="*/ 46 w 73"/>
                              <a:gd name="T13" fmla="*/ 37 h 49"/>
                              <a:gd name="T14" fmla="*/ 30 w 73"/>
                              <a:gd name="T15" fmla="*/ 32 h 49"/>
                              <a:gd name="T16" fmla="*/ 20 w 73"/>
                              <a:gd name="T17" fmla="*/ 34 h 49"/>
                              <a:gd name="T18" fmla="*/ 10 w 73"/>
                              <a:gd name="T19" fmla="*/ 40 h 49"/>
                              <a:gd name="T20" fmla="*/ 0 w 73"/>
                              <a:gd name="T21" fmla="*/ 49 h 49"/>
                              <a:gd name="T22" fmla="*/ 12 w 73"/>
                              <a:gd name="T23" fmla="*/ 30 h 49"/>
                              <a:gd name="T24" fmla="*/ 15 w 73"/>
                              <a:gd name="T25" fmla="*/ 19 h 49"/>
                              <a:gd name="T26" fmla="*/ 8 w 73"/>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9">
                                <a:moveTo>
                                  <a:pt x="8" y="0"/>
                                </a:moveTo>
                                <a:lnTo>
                                  <a:pt x="22" y="7"/>
                                </a:lnTo>
                                <a:lnTo>
                                  <a:pt x="48" y="19"/>
                                </a:lnTo>
                                <a:lnTo>
                                  <a:pt x="73" y="21"/>
                                </a:lnTo>
                                <a:lnTo>
                                  <a:pt x="65" y="36"/>
                                </a:lnTo>
                                <a:lnTo>
                                  <a:pt x="55" y="38"/>
                                </a:lnTo>
                                <a:lnTo>
                                  <a:pt x="46" y="37"/>
                                </a:lnTo>
                                <a:lnTo>
                                  <a:pt x="30" y="32"/>
                                </a:lnTo>
                                <a:lnTo>
                                  <a:pt x="20" y="34"/>
                                </a:lnTo>
                                <a:lnTo>
                                  <a:pt x="10" y="40"/>
                                </a:lnTo>
                                <a:lnTo>
                                  <a:pt x="0" y="49"/>
                                </a:lnTo>
                                <a:lnTo>
                                  <a:pt x="12" y="30"/>
                                </a:lnTo>
                                <a:lnTo>
                                  <a:pt x="15" y="19"/>
                                </a:lnTo>
                                <a:lnTo>
                                  <a:pt x="8" y="0"/>
                                </a:lnTo>
                                <a:close/>
                              </a:path>
                            </a:pathLst>
                          </a:custGeom>
                          <a:solidFill>
                            <a:srgbClr val="FF803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9" name="Freeform 281"/>
                          <p:cNvSpPr/>
                          <p:nvPr/>
                        </p:nvSpPr>
                        <p:spPr bwMode="auto">
                          <a:xfrm>
                            <a:off x="2451" y="3089"/>
                            <a:ext cx="13" cy="4"/>
                          </a:xfrm>
                          <a:custGeom>
                            <a:avLst/>
                            <a:gdLst>
                              <a:gd name="T0" fmla="*/ 0 w 95"/>
                              <a:gd name="T1" fmla="*/ 14 h 32"/>
                              <a:gd name="T2" fmla="*/ 41 w 95"/>
                              <a:gd name="T3" fmla="*/ 4 h 32"/>
                              <a:gd name="T4" fmla="*/ 73 w 95"/>
                              <a:gd name="T5" fmla="*/ 0 h 32"/>
                              <a:gd name="T6" fmla="*/ 95 w 95"/>
                              <a:gd name="T7" fmla="*/ 10 h 32"/>
                              <a:gd name="T8" fmla="*/ 95 w 95"/>
                              <a:gd name="T9" fmla="*/ 25 h 32"/>
                              <a:gd name="T10" fmla="*/ 90 w 95"/>
                              <a:gd name="T11" fmla="*/ 32 h 32"/>
                              <a:gd name="T12" fmla="*/ 64 w 95"/>
                              <a:gd name="T13" fmla="*/ 32 h 32"/>
                              <a:gd name="T14" fmla="*/ 0 w 95"/>
                              <a:gd name="T15" fmla="*/ 1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 h="32">
                                <a:moveTo>
                                  <a:pt x="0" y="14"/>
                                </a:moveTo>
                                <a:lnTo>
                                  <a:pt x="41" y="4"/>
                                </a:lnTo>
                                <a:lnTo>
                                  <a:pt x="73" y="0"/>
                                </a:lnTo>
                                <a:lnTo>
                                  <a:pt x="95" y="10"/>
                                </a:lnTo>
                                <a:lnTo>
                                  <a:pt x="95" y="25"/>
                                </a:lnTo>
                                <a:lnTo>
                                  <a:pt x="90" y="32"/>
                                </a:lnTo>
                                <a:lnTo>
                                  <a:pt x="64" y="32"/>
                                </a:lnTo>
                                <a:lnTo>
                                  <a:pt x="0" y="1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0" name="Freeform 282"/>
                          <p:cNvSpPr/>
                          <p:nvPr/>
                        </p:nvSpPr>
                        <p:spPr bwMode="auto">
                          <a:xfrm>
                            <a:off x="2450" y="3087"/>
                            <a:ext cx="17" cy="5"/>
                          </a:xfrm>
                          <a:custGeom>
                            <a:avLst/>
                            <a:gdLst>
                              <a:gd name="T0" fmla="*/ 0 w 121"/>
                              <a:gd name="T1" fmla="*/ 33 h 34"/>
                              <a:gd name="T2" fmla="*/ 16 w 121"/>
                              <a:gd name="T3" fmla="*/ 34 h 34"/>
                              <a:gd name="T4" fmla="*/ 35 w 121"/>
                              <a:gd name="T5" fmla="*/ 31 h 34"/>
                              <a:gd name="T6" fmla="*/ 59 w 121"/>
                              <a:gd name="T7" fmla="*/ 31 h 34"/>
                              <a:gd name="T8" fmla="*/ 77 w 121"/>
                              <a:gd name="T9" fmla="*/ 29 h 34"/>
                              <a:gd name="T10" fmla="*/ 88 w 121"/>
                              <a:gd name="T11" fmla="*/ 29 h 34"/>
                              <a:gd name="T12" fmla="*/ 105 w 121"/>
                              <a:gd name="T13" fmla="*/ 31 h 34"/>
                              <a:gd name="T14" fmla="*/ 112 w 121"/>
                              <a:gd name="T15" fmla="*/ 27 h 34"/>
                              <a:gd name="T16" fmla="*/ 117 w 121"/>
                              <a:gd name="T17" fmla="*/ 22 h 34"/>
                              <a:gd name="T18" fmla="*/ 121 w 121"/>
                              <a:gd name="T19" fmla="*/ 17 h 34"/>
                              <a:gd name="T20" fmla="*/ 113 w 121"/>
                              <a:gd name="T21" fmla="*/ 8 h 34"/>
                              <a:gd name="T22" fmla="*/ 101 w 121"/>
                              <a:gd name="T23" fmla="*/ 1 h 34"/>
                              <a:gd name="T24" fmla="*/ 90 w 121"/>
                              <a:gd name="T25" fmla="*/ 0 h 34"/>
                              <a:gd name="T26" fmla="*/ 76 w 121"/>
                              <a:gd name="T27" fmla="*/ 1 h 34"/>
                              <a:gd name="T28" fmla="*/ 55 w 121"/>
                              <a:gd name="T29" fmla="*/ 11 h 34"/>
                              <a:gd name="T30" fmla="*/ 37 w 121"/>
                              <a:gd name="T31" fmla="*/ 21 h 34"/>
                              <a:gd name="T32" fmla="*/ 16 w 121"/>
                              <a:gd name="T33" fmla="*/ 26 h 34"/>
                              <a:gd name="T34" fmla="*/ 0 w 121"/>
                              <a:gd name="T35"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 h="34">
                                <a:moveTo>
                                  <a:pt x="0" y="33"/>
                                </a:moveTo>
                                <a:lnTo>
                                  <a:pt x="16" y="34"/>
                                </a:lnTo>
                                <a:lnTo>
                                  <a:pt x="35" y="31"/>
                                </a:lnTo>
                                <a:lnTo>
                                  <a:pt x="59" y="31"/>
                                </a:lnTo>
                                <a:lnTo>
                                  <a:pt x="77" y="29"/>
                                </a:lnTo>
                                <a:lnTo>
                                  <a:pt x="88" y="29"/>
                                </a:lnTo>
                                <a:lnTo>
                                  <a:pt x="105" y="31"/>
                                </a:lnTo>
                                <a:lnTo>
                                  <a:pt x="112" y="27"/>
                                </a:lnTo>
                                <a:lnTo>
                                  <a:pt x="117" y="22"/>
                                </a:lnTo>
                                <a:lnTo>
                                  <a:pt x="121" y="17"/>
                                </a:lnTo>
                                <a:lnTo>
                                  <a:pt x="113" y="8"/>
                                </a:lnTo>
                                <a:lnTo>
                                  <a:pt x="101" y="1"/>
                                </a:lnTo>
                                <a:lnTo>
                                  <a:pt x="90" y="0"/>
                                </a:lnTo>
                                <a:lnTo>
                                  <a:pt x="76" y="1"/>
                                </a:lnTo>
                                <a:lnTo>
                                  <a:pt x="55" y="11"/>
                                </a:lnTo>
                                <a:lnTo>
                                  <a:pt x="37" y="21"/>
                                </a:lnTo>
                                <a:lnTo>
                                  <a:pt x="16" y="26"/>
                                </a:lnTo>
                                <a:lnTo>
                                  <a:pt x="0" y="3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1" name="Freeform 283"/>
                          <p:cNvSpPr/>
                          <p:nvPr/>
                        </p:nvSpPr>
                        <p:spPr bwMode="auto">
                          <a:xfrm>
                            <a:off x="2450" y="3090"/>
                            <a:ext cx="15" cy="6"/>
                          </a:xfrm>
                          <a:custGeom>
                            <a:avLst/>
                            <a:gdLst>
                              <a:gd name="T0" fmla="*/ 0 w 107"/>
                              <a:gd name="T1" fmla="*/ 0 h 43"/>
                              <a:gd name="T2" fmla="*/ 42 w 107"/>
                              <a:gd name="T3" fmla="*/ 10 h 43"/>
                              <a:gd name="T4" fmla="*/ 69 w 107"/>
                              <a:gd name="T5" fmla="*/ 12 h 43"/>
                              <a:gd name="T6" fmla="*/ 82 w 107"/>
                              <a:gd name="T7" fmla="*/ 12 h 43"/>
                              <a:gd name="T8" fmla="*/ 94 w 107"/>
                              <a:gd name="T9" fmla="*/ 10 h 43"/>
                              <a:gd name="T10" fmla="*/ 102 w 107"/>
                              <a:gd name="T11" fmla="*/ 5 h 43"/>
                              <a:gd name="T12" fmla="*/ 106 w 107"/>
                              <a:gd name="T13" fmla="*/ 14 h 43"/>
                              <a:gd name="T14" fmla="*/ 107 w 107"/>
                              <a:gd name="T15" fmla="*/ 23 h 43"/>
                              <a:gd name="T16" fmla="*/ 105 w 107"/>
                              <a:gd name="T17" fmla="*/ 36 h 43"/>
                              <a:gd name="T18" fmla="*/ 97 w 107"/>
                              <a:gd name="T19" fmla="*/ 41 h 43"/>
                              <a:gd name="T20" fmla="*/ 90 w 107"/>
                              <a:gd name="T21" fmla="*/ 43 h 43"/>
                              <a:gd name="T22" fmla="*/ 80 w 107"/>
                              <a:gd name="T23" fmla="*/ 42 h 43"/>
                              <a:gd name="T24" fmla="*/ 64 w 107"/>
                              <a:gd name="T25" fmla="*/ 36 h 43"/>
                              <a:gd name="T26" fmla="*/ 46 w 107"/>
                              <a:gd name="T27" fmla="*/ 29 h 43"/>
                              <a:gd name="T28" fmla="*/ 31 w 107"/>
                              <a:gd name="T29" fmla="*/ 20 h 43"/>
                              <a:gd name="T30" fmla="*/ 19 w 107"/>
                              <a:gd name="T31" fmla="*/ 12 h 43"/>
                              <a:gd name="T32" fmla="*/ 0 w 107"/>
                              <a:gd name="T3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 h="43">
                                <a:moveTo>
                                  <a:pt x="0" y="0"/>
                                </a:moveTo>
                                <a:lnTo>
                                  <a:pt x="42" y="10"/>
                                </a:lnTo>
                                <a:lnTo>
                                  <a:pt x="69" y="12"/>
                                </a:lnTo>
                                <a:lnTo>
                                  <a:pt x="82" y="12"/>
                                </a:lnTo>
                                <a:lnTo>
                                  <a:pt x="94" y="10"/>
                                </a:lnTo>
                                <a:lnTo>
                                  <a:pt x="102" y="5"/>
                                </a:lnTo>
                                <a:lnTo>
                                  <a:pt x="106" y="14"/>
                                </a:lnTo>
                                <a:lnTo>
                                  <a:pt x="107" y="23"/>
                                </a:lnTo>
                                <a:lnTo>
                                  <a:pt x="105" y="36"/>
                                </a:lnTo>
                                <a:lnTo>
                                  <a:pt x="97" y="41"/>
                                </a:lnTo>
                                <a:lnTo>
                                  <a:pt x="90" y="43"/>
                                </a:lnTo>
                                <a:lnTo>
                                  <a:pt x="80" y="42"/>
                                </a:lnTo>
                                <a:lnTo>
                                  <a:pt x="64" y="36"/>
                                </a:lnTo>
                                <a:lnTo>
                                  <a:pt x="46" y="29"/>
                                </a:lnTo>
                                <a:lnTo>
                                  <a:pt x="31" y="20"/>
                                </a:lnTo>
                                <a:lnTo>
                                  <a:pt x="19" y="12"/>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sp>
              <p:nvSpPr>
                <p:cNvPr id="642332" name="Freeform 284"/>
                <p:cNvSpPr/>
                <p:nvPr/>
              </p:nvSpPr>
              <p:spPr bwMode="auto">
                <a:xfrm>
                  <a:off x="2398" y="3018"/>
                  <a:ext cx="78" cy="63"/>
                </a:xfrm>
                <a:custGeom>
                  <a:avLst/>
                  <a:gdLst>
                    <a:gd name="T0" fmla="*/ 545 w 547"/>
                    <a:gd name="T1" fmla="*/ 229 h 502"/>
                    <a:gd name="T2" fmla="*/ 541 w 547"/>
                    <a:gd name="T3" fmla="*/ 166 h 502"/>
                    <a:gd name="T4" fmla="*/ 524 w 547"/>
                    <a:gd name="T5" fmla="*/ 146 h 502"/>
                    <a:gd name="T6" fmla="*/ 511 w 547"/>
                    <a:gd name="T7" fmla="*/ 112 h 502"/>
                    <a:gd name="T8" fmla="*/ 466 w 547"/>
                    <a:gd name="T9" fmla="*/ 86 h 502"/>
                    <a:gd name="T10" fmla="*/ 426 w 547"/>
                    <a:gd name="T11" fmla="*/ 52 h 502"/>
                    <a:gd name="T12" fmla="*/ 374 w 547"/>
                    <a:gd name="T13" fmla="*/ 22 h 502"/>
                    <a:gd name="T14" fmla="*/ 327 w 547"/>
                    <a:gd name="T15" fmla="*/ 9 h 502"/>
                    <a:gd name="T16" fmla="*/ 250 w 547"/>
                    <a:gd name="T17" fmla="*/ 3 h 502"/>
                    <a:gd name="T18" fmla="*/ 197 w 547"/>
                    <a:gd name="T19" fmla="*/ 15 h 502"/>
                    <a:gd name="T20" fmla="*/ 143 w 547"/>
                    <a:gd name="T21" fmla="*/ 20 h 502"/>
                    <a:gd name="T22" fmla="*/ 109 w 547"/>
                    <a:gd name="T23" fmla="*/ 51 h 502"/>
                    <a:gd name="T24" fmla="*/ 84 w 547"/>
                    <a:gd name="T25" fmla="*/ 76 h 502"/>
                    <a:gd name="T26" fmla="*/ 63 w 547"/>
                    <a:gd name="T27" fmla="*/ 101 h 502"/>
                    <a:gd name="T28" fmla="*/ 45 w 547"/>
                    <a:gd name="T29" fmla="*/ 153 h 502"/>
                    <a:gd name="T30" fmla="*/ 11 w 547"/>
                    <a:gd name="T31" fmla="*/ 178 h 502"/>
                    <a:gd name="T32" fmla="*/ 6 w 547"/>
                    <a:gd name="T33" fmla="*/ 229 h 502"/>
                    <a:gd name="T34" fmla="*/ 12 w 547"/>
                    <a:gd name="T35" fmla="*/ 293 h 502"/>
                    <a:gd name="T36" fmla="*/ 0 w 547"/>
                    <a:gd name="T37" fmla="*/ 357 h 502"/>
                    <a:gd name="T38" fmla="*/ 20 w 547"/>
                    <a:gd name="T39" fmla="*/ 432 h 502"/>
                    <a:gd name="T40" fmla="*/ 52 w 547"/>
                    <a:gd name="T41" fmla="*/ 476 h 502"/>
                    <a:gd name="T42" fmla="*/ 84 w 547"/>
                    <a:gd name="T43" fmla="*/ 500 h 502"/>
                    <a:gd name="T44" fmla="*/ 103 w 547"/>
                    <a:gd name="T45" fmla="*/ 469 h 502"/>
                    <a:gd name="T46" fmla="*/ 88 w 547"/>
                    <a:gd name="T47" fmla="*/ 435 h 502"/>
                    <a:gd name="T48" fmla="*/ 64 w 547"/>
                    <a:gd name="T49" fmla="*/ 404 h 502"/>
                    <a:gd name="T50" fmla="*/ 68 w 547"/>
                    <a:gd name="T51" fmla="*/ 359 h 502"/>
                    <a:gd name="T52" fmla="*/ 133 w 547"/>
                    <a:gd name="T53" fmla="*/ 348 h 502"/>
                    <a:gd name="T54" fmla="*/ 150 w 547"/>
                    <a:gd name="T55" fmla="*/ 389 h 502"/>
                    <a:gd name="T56" fmla="*/ 192 w 547"/>
                    <a:gd name="T57" fmla="*/ 389 h 502"/>
                    <a:gd name="T58" fmla="*/ 231 w 547"/>
                    <a:gd name="T59" fmla="*/ 362 h 502"/>
                    <a:gd name="T60" fmla="*/ 270 w 547"/>
                    <a:gd name="T61" fmla="*/ 332 h 502"/>
                    <a:gd name="T62" fmla="*/ 279 w 547"/>
                    <a:gd name="T63" fmla="*/ 274 h 502"/>
                    <a:gd name="T64" fmla="*/ 331 w 547"/>
                    <a:gd name="T65" fmla="*/ 276 h 502"/>
                    <a:gd name="T66" fmla="*/ 339 w 547"/>
                    <a:gd name="T67" fmla="*/ 287 h 502"/>
                    <a:gd name="T68" fmla="*/ 306 w 547"/>
                    <a:gd name="T69" fmla="*/ 308 h 502"/>
                    <a:gd name="T70" fmla="*/ 327 w 547"/>
                    <a:gd name="T71" fmla="*/ 322 h 502"/>
                    <a:gd name="T72" fmla="*/ 378 w 547"/>
                    <a:gd name="T73" fmla="*/ 319 h 502"/>
                    <a:gd name="T74" fmla="*/ 380 w 547"/>
                    <a:gd name="T75" fmla="*/ 335 h 502"/>
                    <a:gd name="T76" fmla="*/ 403 w 547"/>
                    <a:gd name="T77" fmla="*/ 342 h 502"/>
                    <a:gd name="T78" fmla="*/ 451 w 547"/>
                    <a:gd name="T79" fmla="*/ 317 h 502"/>
                    <a:gd name="T80" fmla="*/ 433 w 547"/>
                    <a:gd name="T81" fmla="*/ 348 h 502"/>
                    <a:gd name="T82" fmla="*/ 484 w 547"/>
                    <a:gd name="T83" fmla="*/ 340 h 502"/>
                    <a:gd name="T84" fmla="*/ 530 w 547"/>
                    <a:gd name="T85" fmla="*/ 280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47" h="502">
                      <a:moveTo>
                        <a:pt x="530" y="280"/>
                      </a:moveTo>
                      <a:lnTo>
                        <a:pt x="540" y="250"/>
                      </a:lnTo>
                      <a:lnTo>
                        <a:pt x="545" y="229"/>
                      </a:lnTo>
                      <a:lnTo>
                        <a:pt x="547" y="207"/>
                      </a:lnTo>
                      <a:lnTo>
                        <a:pt x="546" y="187"/>
                      </a:lnTo>
                      <a:lnTo>
                        <a:pt x="541" y="166"/>
                      </a:lnTo>
                      <a:lnTo>
                        <a:pt x="529" y="162"/>
                      </a:lnTo>
                      <a:lnTo>
                        <a:pt x="518" y="160"/>
                      </a:lnTo>
                      <a:lnTo>
                        <a:pt x="524" y="146"/>
                      </a:lnTo>
                      <a:lnTo>
                        <a:pt x="527" y="133"/>
                      </a:lnTo>
                      <a:lnTo>
                        <a:pt x="524" y="123"/>
                      </a:lnTo>
                      <a:lnTo>
                        <a:pt x="511" y="112"/>
                      </a:lnTo>
                      <a:lnTo>
                        <a:pt x="491" y="104"/>
                      </a:lnTo>
                      <a:lnTo>
                        <a:pt x="475" y="99"/>
                      </a:lnTo>
                      <a:lnTo>
                        <a:pt x="466" y="86"/>
                      </a:lnTo>
                      <a:lnTo>
                        <a:pt x="454" y="77"/>
                      </a:lnTo>
                      <a:lnTo>
                        <a:pt x="438" y="70"/>
                      </a:lnTo>
                      <a:lnTo>
                        <a:pt x="426" y="52"/>
                      </a:lnTo>
                      <a:lnTo>
                        <a:pt x="410" y="40"/>
                      </a:lnTo>
                      <a:lnTo>
                        <a:pt x="387" y="34"/>
                      </a:lnTo>
                      <a:lnTo>
                        <a:pt x="374" y="22"/>
                      </a:lnTo>
                      <a:lnTo>
                        <a:pt x="362" y="15"/>
                      </a:lnTo>
                      <a:lnTo>
                        <a:pt x="341" y="12"/>
                      </a:lnTo>
                      <a:lnTo>
                        <a:pt x="327" y="9"/>
                      </a:lnTo>
                      <a:lnTo>
                        <a:pt x="298" y="3"/>
                      </a:lnTo>
                      <a:lnTo>
                        <a:pt x="272" y="0"/>
                      </a:lnTo>
                      <a:lnTo>
                        <a:pt x="250" y="3"/>
                      </a:lnTo>
                      <a:lnTo>
                        <a:pt x="231" y="11"/>
                      </a:lnTo>
                      <a:lnTo>
                        <a:pt x="212" y="13"/>
                      </a:lnTo>
                      <a:lnTo>
                        <a:pt x="197" y="15"/>
                      </a:lnTo>
                      <a:lnTo>
                        <a:pt x="181" y="12"/>
                      </a:lnTo>
                      <a:lnTo>
                        <a:pt x="162" y="15"/>
                      </a:lnTo>
                      <a:lnTo>
                        <a:pt x="143" y="20"/>
                      </a:lnTo>
                      <a:lnTo>
                        <a:pt x="128" y="32"/>
                      </a:lnTo>
                      <a:lnTo>
                        <a:pt x="121" y="46"/>
                      </a:lnTo>
                      <a:lnTo>
                        <a:pt x="109" y="51"/>
                      </a:lnTo>
                      <a:lnTo>
                        <a:pt x="100" y="61"/>
                      </a:lnTo>
                      <a:lnTo>
                        <a:pt x="93" y="72"/>
                      </a:lnTo>
                      <a:lnTo>
                        <a:pt x="84" y="76"/>
                      </a:lnTo>
                      <a:lnTo>
                        <a:pt x="78" y="81"/>
                      </a:lnTo>
                      <a:lnTo>
                        <a:pt x="74" y="93"/>
                      </a:lnTo>
                      <a:lnTo>
                        <a:pt x="63" y="101"/>
                      </a:lnTo>
                      <a:lnTo>
                        <a:pt x="56" y="111"/>
                      </a:lnTo>
                      <a:lnTo>
                        <a:pt x="51" y="129"/>
                      </a:lnTo>
                      <a:lnTo>
                        <a:pt x="45" y="153"/>
                      </a:lnTo>
                      <a:lnTo>
                        <a:pt x="27" y="158"/>
                      </a:lnTo>
                      <a:lnTo>
                        <a:pt x="16" y="165"/>
                      </a:lnTo>
                      <a:lnTo>
                        <a:pt x="11" y="178"/>
                      </a:lnTo>
                      <a:lnTo>
                        <a:pt x="14" y="190"/>
                      </a:lnTo>
                      <a:lnTo>
                        <a:pt x="9" y="209"/>
                      </a:lnTo>
                      <a:lnTo>
                        <a:pt x="6" y="229"/>
                      </a:lnTo>
                      <a:lnTo>
                        <a:pt x="7" y="249"/>
                      </a:lnTo>
                      <a:lnTo>
                        <a:pt x="11" y="273"/>
                      </a:lnTo>
                      <a:lnTo>
                        <a:pt x="12" y="293"/>
                      </a:lnTo>
                      <a:lnTo>
                        <a:pt x="9" y="315"/>
                      </a:lnTo>
                      <a:lnTo>
                        <a:pt x="3" y="335"/>
                      </a:lnTo>
                      <a:lnTo>
                        <a:pt x="0" y="357"/>
                      </a:lnTo>
                      <a:lnTo>
                        <a:pt x="3" y="383"/>
                      </a:lnTo>
                      <a:lnTo>
                        <a:pt x="8" y="407"/>
                      </a:lnTo>
                      <a:lnTo>
                        <a:pt x="20" y="432"/>
                      </a:lnTo>
                      <a:lnTo>
                        <a:pt x="28" y="449"/>
                      </a:lnTo>
                      <a:lnTo>
                        <a:pt x="39" y="461"/>
                      </a:lnTo>
                      <a:lnTo>
                        <a:pt x="52" y="476"/>
                      </a:lnTo>
                      <a:lnTo>
                        <a:pt x="58" y="492"/>
                      </a:lnTo>
                      <a:lnTo>
                        <a:pt x="69" y="502"/>
                      </a:lnTo>
                      <a:lnTo>
                        <a:pt x="84" y="500"/>
                      </a:lnTo>
                      <a:lnTo>
                        <a:pt x="97" y="494"/>
                      </a:lnTo>
                      <a:lnTo>
                        <a:pt x="103" y="480"/>
                      </a:lnTo>
                      <a:lnTo>
                        <a:pt x="103" y="469"/>
                      </a:lnTo>
                      <a:lnTo>
                        <a:pt x="99" y="447"/>
                      </a:lnTo>
                      <a:lnTo>
                        <a:pt x="103" y="438"/>
                      </a:lnTo>
                      <a:lnTo>
                        <a:pt x="88" y="435"/>
                      </a:lnTo>
                      <a:lnTo>
                        <a:pt x="74" y="438"/>
                      </a:lnTo>
                      <a:lnTo>
                        <a:pt x="70" y="419"/>
                      </a:lnTo>
                      <a:lnTo>
                        <a:pt x="64" y="404"/>
                      </a:lnTo>
                      <a:lnTo>
                        <a:pt x="69" y="385"/>
                      </a:lnTo>
                      <a:lnTo>
                        <a:pt x="70" y="372"/>
                      </a:lnTo>
                      <a:lnTo>
                        <a:pt x="68" y="359"/>
                      </a:lnTo>
                      <a:lnTo>
                        <a:pt x="88" y="347"/>
                      </a:lnTo>
                      <a:lnTo>
                        <a:pt x="110" y="343"/>
                      </a:lnTo>
                      <a:lnTo>
                        <a:pt x="133" y="348"/>
                      </a:lnTo>
                      <a:lnTo>
                        <a:pt x="134" y="363"/>
                      </a:lnTo>
                      <a:lnTo>
                        <a:pt x="141" y="377"/>
                      </a:lnTo>
                      <a:lnTo>
                        <a:pt x="150" y="389"/>
                      </a:lnTo>
                      <a:lnTo>
                        <a:pt x="164" y="393"/>
                      </a:lnTo>
                      <a:lnTo>
                        <a:pt x="180" y="394"/>
                      </a:lnTo>
                      <a:lnTo>
                        <a:pt x="192" y="389"/>
                      </a:lnTo>
                      <a:lnTo>
                        <a:pt x="206" y="377"/>
                      </a:lnTo>
                      <a:lnTo>
                        <a:pt x="216" y="359"/>
                      </a:lnTo>
                      <a:lnTo>
                        <a:pt x="231" y="362"/>
                      </a:lnTo>
                      <a:lnTo>
                        <a:pt x="245" y="359"/>
                      </a:lnTo>
                      <a:lnTo>
                        <a:pt x="262" y="348"/>
                      </a:lnTo>
                      <a:lnTo>
                        <a:pt x="270" y="332"/>
                      </a:lnTo>
                      <a:lnTo>
                        <a:pt x="273" y="317"/>
                      </a:lnTo>
                      <a:lnTo>
                        <a:pt x="268" y="293"/>
                      </a:lnTo>
                      <a:lnTo>
                        <a:pt x="279" y="274"/>
                      </a:lnTo>
                      <a:lnTo>
                        <a:pt x="298" y="277"/>
                      </a:lnTo>
                      <a:lnTo>
                        <a:pt x="318" y="280"/>
                      </a:lnTo>
                      <a:lnTo>
                        <a:pt x="331" y="276"/>
                      </a:lnTo>
                      <a:lnTo>
                        <a:pt x="339" y="268"/>
                      </a:lnTo>
                      <a:lnTo>
                        <a:pt x="342" y="275"/>
                      </a:lnTo>
                      <a:lnTo>
                        <a:pt x="339" y="287"/>
                      </a:lnTo>
                      <a:lnTo>
                        <a:pt x="331" y="296"/>
                      </a:lnTo>
                      <a:lnTo>
                        <a:pt x="321" y="303"/>
                      </a:lnTo>
                      <a:lnTo>
                        <a:pt x="306" y="308"/>
                      </a:lnTo>
                      <a:lnTo>
                        <a:pt x="291" y="311"/>
                      </a:lnTo>
                      <a:lnTo>
                        <a:pt x="310" y="319"/>
                      </a:lnTo>
                      <a:lnTo>
                        <a:pt x="327" y="322"/>
                      </a:lnTo>
                      <a:lnTo>
                        <a:pt x="343" y="323"/>
                      </a:lnTo>
                      <a:lnTo>
                        <a:pt x="362" y="322"/>
                      </a:lnTo>
                      <a:lnTo>
                        <a:pt x="378" y="319"/>
                      </a:lnTo>
                      <a:lnTo>
                        <a:pt x="398" y="317"/>
                      </a:lnTo>
                      <a:lnTo>
                        <a:pt x="390" y="328"/>
                      </a:lnTo>
                      <a:lnTo>
                        <a:pt x="380" y="335"/>
                      </a:lnTo>
                      <a:lnTo>
                        <a:pt x="367" y="341"/>
                      </a:lnTo>
                      <a:lnTo>
                        <a:pt x="382" y="343"/>
                      </a:lnTo>
                      <a:lnTo>
                        <a:pt x="403" y="342"/>
                      </a:lnTo>
                      <a:lnTo>
                        <a:pt x="419" y="339"/>
                      </a:lnTo>
                      <a:lnTo>
                        <a:pt x="432" y="332"/>
                      </a:lnTo>
                      <a:lnTo>
                        <a:pt x="451" y="317"/>
                      </a:lnTo>
                      <a:lnTo>
                        <a:pt x="450" y="327"/>
                      </a:lnTo>
                      <a:lnTo>
                        <a:pt x="442" y="339"/>
                      </a:lnTo>
                      <a:lnTo>
                        <a:pt x="433" y="348"/>
                      </a:lnTo>
                      <a:lnTo>
                        <a:pt x="450" y="350"/>
                      </a:lnTo>
                      <a:lnTo>
                        <a:pt x="469" y="347"/>
                      </a:lnTo>
                      <a:lnTo>
                        <a:pt x="484" y="340"/>
                      </a:lnTo>
                      <a:lnTo>
                        <a:pt x="502" y="324"/>
                      </a:lnTo>
                      <a:lnTo>
                        <a:pt x="517" y="306"/>
                      </a:lnTo>
                      <a:lnTo>
                        <a:pt x="530" y="28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33" name="Group 285"/>
            <p:cNvGrpSpPr/>
            <p:nvPr/>
          </p:nvGrpSpPr>
          <p:grpSpPr bwMode="auto">
            <a:xfrm>
              <a:off x="2570" y="2934"/>
              <a:ext cx="238" cy="267"/>
              <a:chOff x="2570" y="2934"/>
              <a:chExt cx="238" cy="267"/>
            </a:xfrm>
          </p:grpSpPr>
          <p:grpSp>
            <p:nvGrpSpPr>
              <p:cNvPr id="642334" name="Group 286"/>
              <p:cNvGrpSpPr/>
              <p:nvPr/>
            </p:nvGrpSpPr>
            <p:grpSpPr bwMode="auto">
              <a:xfrm>
                <a:off x="2570" y="2992"/>
                <a:ext cx="154" cy="209"/>
                <a:chOff x="2570" y="2992"/>
                <a:chExt cx="154" cy="209"/>
              </a:xfrm>
            </p:grpSpPr>
            <p:grpSp>
              <p:nvGrpSpPr>
                <p:cNvPr id="642335" name="Group 287"/>
                <p:cNvGrpSpPr/>
                <p:nvPr/>
              </p:nvGrpSpPr>
              <p:grpSpPr bwMode="auto">
                <a:xfrm>
                  <a:off x="2570" y="2992"/>
                  <a:ext cx="154" cy="209"/>
                  <a:chOff x="2570" y="2992"/>
                  <a:chExt cx="154" cy="209"/>
                </a:xfrm>
              </p:grpSpPr>
              <p:grpSp>
                <p:nvGrpSpPr>
                  <p:cNvPr id="642336" name="Group 288"/>
                  <p:cNvGrpSpPr/>
                  <p:nvPr/>
                </p:nvGrpSpPr>
                <p:grpSpPr bwMode="auto">
                  <a:xfrm>
                    <a:off x="2570" y="3112"/>
                    <a:ext cx="67" cy="89"/>
                    <a:chOff x="2570" y="3112"/>
                    <a:chExt cx="67" cy="89"/>
                  </a:xfrm>
                </p:grpSpPr>
                <p:grpSp>
                  <p:nvGrpSpPr>
                    <p:cNvPr id="642337" name="Group 289"/>
                    <p:cNvGrpSpPr/>
                    <p:nvPr/>
                  </p:nvGrpSpPr>
                  <p:grpSpPr bwMode="auto">
                    <a:xfrm>
                      <a:off x="2570" y="3133"/>
                      <a:ext cx="51" cy="68"/>
                      <a:chOff x="2570" y="3133"/>
                      <a:chExt cx="51" cy="68"/>
                    </a:xfrm>
                  </p:grpSpPr>
                  <p:sp>
                    <p:nvSpPr>
                      <p:cNvPr id="642338" name="Freeform 290"/>
                      <p:cNvSpPr/>
                      <p:nvPr/>
                    </p:nvSpPr>
                    <p:spPr bwMode="auto">
                      <a:xfrm>
                        <a:off x="2587" y="3178"/>
                        <a:ext cx="16" cy="9"/>
                      </a:xfrm>
                      <a:custGeom>
                        <a:avLst/>
                        <a:gdLst>
                          <a:gd name="T0" fmla="*/ 0 w 116"/>
                          <a:gd name="T1" fmla="*/ 43 h 67"/>
                          <a:gd name="T2" fmla="*/ 26 w 116"/>
                          <a:gd name="T3" fmla="*/ 0 h 67"/>
                          <a:gd name="T4" fmla="*/ 52 w 116"/>
                          <a:gd name="T5" fmla="*/ 2 h 67"/>
                          <a:gd name="T6" fmla="*/ 75 w 116"/>
                          <a:gd name="T7" fmla="*/ 9 h 67"/>
                          <a:gd name="T8" fmla="*/ 116 w 116"/>
                          <a:gd name="T9" fmla="*/ 25 h 67"/>
                          <a:gd name="T10" fmla="*/ 103 w 116"/>
                          <a:gd name="T11" fmla="*/ 67 h 67"/>
                          <a:gd name="T12" fmla="*/ 0 w 116"/>
                          <a:gd name="T13" fmla="*/ 43 h 67"/>
                        </a:gdLst>
                        <a:ahLst/>
                        <a:cxnLst>
                          <a:cxn ang="0">
                            <a:pos x="T0" y="T1"/>
                          </a:cxn>
                          <a:cxn ang="0">
                            <a:pos x="T2" y="T3"/>
                          </a:cxn>
                          <a:cxn ang="0">
                            <a:pos x="T4" y="T5"/>
                          </a:cxn>
                          <a:cxn ang="0">
                            <a:pos x="T6" y="T7"/>
                          </a:cxn>
                          <a:cxn ang="0">
                            <a:pos x="T8" y="T9"/>
                          </a:cxn>
                          <a:cxn ang="0">
                            <a:pos x="T10" y="T11"/>
                          </a:cxn>
                          <a:cxn ang="0">
                            <a:pos x="T12" y="T13"/>
                          </a:cxn>
                        </a:cxnLst>
                        <a:rect l="0" t="0" r="r" b="b"/>
                        <a:pathLst>
                          <a:path w="116" h="67">
                            <a:moveTo>
                              <a:pt x="0" y="43"/>
                            </a:moveTo>
                            <a:lnTo>
                              <a:pt x="26" y="0"/>
                            </a:lnTo>
                            <a:lnTo>
                              <a:pt x="52" y="2"/>
                            </a:lnTo>
                            <a:lnTo>
                              <a:pt x="75" y="9"/>
                            </a:lnTo>
                            <a:lnTo>
                              <a:pt x="116" y="25"/>
                            </a:lnTo>
                            <a:lnTo>
                              <a:pt x="103" y="67"/>
                            </a:lnTo>
                            <a:lnTo>
                              <a:pt x="0" y="43"/>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9" name="Freeform 291"/>
                      <p:cNvSpPr/>
                      <p:nvPr/>
                    </p:nvSpPr>
                    <p:spPr bwMode="auto">
                      <a:xfrm>
                        <a:off x="2583" y="3183"/>
                        <a:ext cx="18" cy="7"/>
                      </a:xfrm>
                      <a:custGeom>
                        <a:avLst/>
                        <a:gdLst>
                          <a:gd name="T0" fmla="*/ 32 w 127"/>
                          <a:gd name="T1" fmla="*/ 0 h 61"/>
                          <a:gd name="T2" fmla="*/ 49 w 127"/>
                          <a:gd name="T3" fmla="*/ 1 h 61"/>
                          <a:gd name="T4" fmla="*/ 77 w 127"/>
                          <a:gd name="T5" fmla="*/ 8 h 61"/>
                          <a:gd name="T6" fmla="*/ 105 w 127"/>
                          <a:gd name="T7" fmla="*/ 16 h 61"/>
                          <a:gd name="T8" fmla="*/ 124 w 127"/>
                          <a:gd name="T9" fmla="*/ 20 h 61"/>
                          <a:gd name="T10" fmla="*/ 127 w 127"/>
                          <a:gd name="T11" fmla="*/ 29 h 61"/>
                          <a:gd name="T12" fmla="*/ 126 w 127"/>
                          <a:gd name="T13" fmla="*/ 41 h 61"/>
                          <a:gd name="T14" fmla="*/ 116 w 127"/>
                          <a:gd name="T15" fmla="*/ 54 h 61"/>
                          <a:gd name="T16" fmla="*/ 102 w 127"/>
                          <a:gd name="T17" fmla="*/ 61 h 61"/>
                          <a:gd name="T18" fmla="*/ 77 w 127"/>
                          <a:gd name="T19" fmla="*/ 56 h 61"/>
                          <a:gd name="T20" fmla="*/ 35 w 127"/>
                          <a:gd name="T21" fmla="*/ 44 h 61"/>
                          <a:gd name="T22" fmla="*/ 0 w 127"/>
                          <a:gd name="T23" fmla="*/ 22 h 61"/>
                          <a:gd name="T24" fmla="*/ 32 w 127"/>
                          <a:gd name="T25"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61">
                            <a:moveTo>
                              <a:pt x="32" y="0"/>
                            </a:moveTo>
                            <a:lnTo>
                              <a:pt x="49" y="1"/>
                            </a:lnTo>
                            <a:lnTo>
                              <a:pt x="77" y="8"/>
                            </a:lnTo>
                            <a:lnTo>
                              <a:pt x="105" y="16"/>
                            </a:lnTo>
                            <a:lnTo>
                              <a:pt x="124" y="20"/>
                            </a:lnTo>
                            <a:lnTo>
                              <a:pt x="127" y="29"/>
                            </a:lnTo>
                            <a:lnTo>
                              <a:pt x="126" y="41"/>
                            </a:lnTo>
                            <a:lnTo>
                              <a:pt x="116" y="54"/>
                            </a:lnTo>
                            <a:lnTo>
                              <a:pt x="102" y="61"/>
                            </a:lnTo>
                            <a:lnTo>
                              <a:pt x="77" y="56"/>
                            </a:lnTo>
                            <a:lnTo>
                              <a:pt x="35" y="44"/>
                            </a:lnTo>
                            <a:lnTo>
                              <a:pt x="0" y="22"/>
                            </a:lnTo>
                            <a:lnTo>
                              <a:pt x="32"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0" name="Freeform 292"/>
                      <p:cNvSpPr/>
                      <p:nvPr/>
                    </p:nvSpPr>
                    <p:spPr bwMode="auto">
                      <a:xfrm>
                        <a:off x="2570" y="3133"/>
                        <a:ext cx="51" cy="68"/>
                      </a:xfrm>
                      <a:custGeom>
                        <a:avLst/>
                        <a:gdLst>
                          <a:gd name="T0" fmla="*/ 250 w 352"/>
                          <a:gd name="T1" fmla="*/ 21 h 544"/>
                          <a:gd name="T2" fmla="*/ 231 w 352"/>
                          <a:gd name="T3" fmla="*/ 69 h 544"/>
                          <a:gd name="T4" fmla="*/ 211 w 352"/>
                          <a:gd name="T5" fmla="*/ 103 h 544"/>
                          <a:gd name="T6" fmla="*/ 177 w 352"/>
                          <a:gd name="T7" fmla="*/ 135 h 544"/>
                          <a:gd name="T8" fmla="*/ 170 w 352"/>
                          <a:gd name="T9" fmla="*/ 152 h 544"/>
                          <a:gd name="T10" fmla="*/ 161 w 352"/>
                          <a:gd name="T11" fmla="*/ 194 h 544"/>
                          <a:gd name="T12" fmla="*/ 134 w 352"/>
                          <a:gd name="T13" fmla="*/ 227 h 544"/>
                          <a:gd name="T14" fmla="*/ 108 w 352"/>
                          <a:gd name="T15" fmla="*/ 275 h 544"/>
                          <a:gd name="T16" fmla="*/ 86 w 352"/>
                          <a:gd name="T17" fmla="*/ 320 h 544"/>
                          <a:gd name="T18" fmla="*/ 84 w 352"/>
                          <a:gd name="T19" fmla="*/ 366 h 544"/>
                          <a:gd name="T20" fmla="*/ 87 w 352"/>
                          <a:gd name="T21" fmla="*/ 405 h 544"/>
                          <a:gd name="T22" fmla="*/ 72 w 352"/>
                          <a:gd name="T23" fmla="*/ 443 h 544"/>
                          <a:gd name="T24" fmla="*/ 0 w 352"/>
                          <a:gd name="T25" fmla="*/ 532 h 544"/>
                          <a:gd name="T26" fmla="*/ 60 w 352"/>
                          <a:gd name="T27" fmla="*/ 520 h 544"/>
                          <a:gd name="T28" fmla="*/ 113 w 352"/>
                          <a:gd name="T29" fmla="*/ 466 h 544"/>
                          <a:gd name="T30" fmla="*/ 147 w 352"/>
                          <a:gd name="T31" fmla="*/ 421 h 544"/>
                          <a:gd name="T32" fmla="*/ 183 w 352"/>
                          <a:gd name="T33" fmla="*/ 371 h 544"/>
                          <a:gd name="T34" fmla="*/ 210 w 352"/>
                          <a:gd name="T35" fmla="*/ 344 h 544"/>
                          <a:gd name="T36" fmla="*/ 196 w 352"/>
                          <a:gd name="T37" fmla="*/ 394 h 544"/>
                          <a:gd name="T38" fmla="*/ 194 w 352"/>
                          <a:gd name="T39" fmla="*/ 451 h 544"/>
                          <a:gd name="T40" fmla="*/ 209 w 352"/>
                          <a:gd name="T41" fmla="*/ 500 h 544"/>
                          <a:gd name="T42" fmla="*/ 226 w 352"/>
                          <a:gd name="T43" fmla="*/ 517 h 544"/>
                          <a:gd name="T44" fmla="*/ 249 w 352"/>
                          <a:gd name="T45" fmla="*/ 518 h 544"/>
                          <a:gd name="T46" fmla="*/ 261 w 352"/>
                          <a:gd name="T47" fmla="*/ 503 h 544"/>
                          <a:gd name="T48" fmla="*/ 248 w 352"/>
                          <a:gd name="T49" fmla="*/ 480 h 544"/>
                          <a:gd name="T50" fmla="*/ 237 w 352"/>
                          <a:gd name="T51" fmla="*/ 440 h 544"/>
                          <a:gd name="T52" fmla="*/ 246 w 352"/>
                          <a:gd name="T53" fmla="*/ 387 h 544"/>
                          <a:gd name="T54" fmla="*/ 261 w 352"/>
                          <a:gd name="T55" fmla="*/ 350 h 544"/>
                          <a:gd name="T56" fmla="*/ 274 w 352"/>
                          <a:gd name="T57" fmla="*/ 320 h 544"/>
                          <a:gd name="T58" fmla="*/ 280 w 352"/>
                          <a:gd name="T59" fmla="*/ 261 h 544"/>
                          <a:gd name="T60" fmla="*/ 317 w 352"/>
                          <a:gd name="T61" fmla="*/ 175 h 544"/>
                          <a:gd name="T62" fmla="*/ 345 w 352"/>
                          <a:gd name="T63" fmla="*/ 91 h 544"/>
                          <a:gd name="T64" fmla="*/ 262 w 352"/>
                          <a:gd name="T65" fmla="*/ 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2" h="544">
                            <a:moveTo>
                              <a:pt x="262" y="0"/>
                            </a:moveTo>
                            <a:lnTo>
                              <a:pt x="250" y="21"/>
                            </a:lnTo>
                            <a:lnTo>
                              <a:pt x="244" y="45"/>
                            </a:lnTo>
                            <a:lnTo>
                              <a:pt x="231" y="69"/>
                            </a:lnTo>
                            <a:lnTo>
                              <a:pt x="221" y="85"/>
                            </a:lnTo>
                            <a:lnTo>
                              <a:pt x="211" y="103"/>
                            </a:lnTo>
                            <a:lnTo>
                              <a:pt x="195" y="121"/>
                            </a:lnTo>
                            <a:lnTo>
                              <a:pt x="177" y="135"/>
                            </a:lnTo>
                            <a:lnTo>
                              <a:pt x="173" y="140"/>
                            </a:lnTo>
                            <a:lnTo>
                              <a:pt x="170" y="152"/>
                            </a:lnTo>
                            <a:lnTo>
                              <a:pt x="168" y="171"/>
                            </a:lnTo>
                            <a:lnTo>
                              <a:pt x="161" y="194"/>
                            </a:lnTo>
                            <a:lnTo>
                              <a:pt x="146" y="210"/>
                            </a:lnTo>
                            <a:lnTo>
                              <a:pt x="134" y="227"/>
                            </a:lnTo>
                            <a:lnTo>
                              <a:pt x="126" y="243"/>
                            </a:lnTo>
                            <a:lnTo>
                              <a:pt x="108" y="275"/>
                            </a:lnTo>
                            <a:lnTo>
                              <a:pt x="89" y="309"/>
                            </a:lnTo>
                            <a:lnTo>
                              <a:pt x="86" y="320"/>
                            </a:lnTo>
                            <a:lnTo>
                              <a:pt x="85" y="341"/>
                            </a:lnTo>
                            <a:lnTo>
                              <a:pt x="84" y="366"/>
                            </a:lnTo>
                            <a:lnTo>
                              <a:pt x="85" y="387"/>
                            </a:lnTo>
                            <a:lnTo>
                              <a:pt x="87" y="405"/>
                            </a:lnTo>
                            <a:lnTo>
                              <a:pt x="84" y="421"/>
                            </a:lnTo>
                            <a:lnTo>
                              <a:pt x="72" y="443"/>
                            </a:lnTo>
                            <a:lnTo>
                              <a:pt x="55" y="465"/>
                            </a:lnTo>
                            <a:lnTo>
                              <a:pt x="0" y="532"/>
                            </a:lnTo>
                            <a:lnTo>
                              <a:pt x="37" y="544"/>
                            </a:lnTo>
                            <a:lnTo>
                              <a:pt x="60" y="520"/>
                            </a:lnTo>
                            <a:lnTo>
                              <a:pt x="90" y="490"/>
                            </a:lnTo>
                            <a:lnTo>
                              <a:pt x="113" y="466"/>
                            </a:lnTo>
                            <a:lnTo>
                              <a:pt x="133" y="441"/>
                            </a:lnTo>
                            <a:lnTo>
                              <a:pt x="147" y="421"/>
                            </a:lnTo>
                            <a:lnTo>
                              <a:pt x="161" y="389"/>
                            </a:lnTo>
                            <a:lnTo>
                              <a:pt x="183" y="371"/>
                            </a:lnTo>
                            <a:lnTo>
                              <a:pt x="201" y="358"/>
                            </a:lnTo>
                            <a:lnTo>
                              <a:pt x="210" y="344"/>
                            </a:lnTo>
                            <a:lnTo>
                              <a:pt x="204" y="370"/>
                            </a:lnTo>
                            <a:lnTo>
                              <a:pt x="196" y="394"/>
                            </a:lnTo>
                            <a:lnTo>
                              <a:pt x="192" y="422"/>
                            </a:lnTo>
                            <a:lnTo>
                              <a:pt x="194" y="451"/>
                            </a:lnTo>
                            <a:lnTo>
                              <a:pt x="203" y="482"/>
                            </a:lnTo>
                            <a:lnTo>
                              <a:pt x="209" y="500"/>
                            </a:lnTo>
                            <a:lnTo>
                              <a:pt x="216" y="511"/>
                            </a:lnTo>
                            <a:lnTo>
                              <a:pt x="226" y="517"/>
                            </a:lnTo>
                            <a:lnTo>
                              <a:pt x="238" y="520"/>
                            </a:lnTo>
                            <a:lnTo>
                              <a:pt x="249" y="518"/>
                            </a:lnTo>
                            <a:lnTo>
                              <a:pt x="257" y="515"/>
                            </a:lnTo>
                            <a:lnTo>
                              <a:pt x="261" y="503"/>
                            </a:lnTo>
                            <a:lnTo>
                              <a:pt x="257" y="489"/>
                            </a:lnTo>
                            <a:lnTo>
                              <a:pt x="248" y="480"/>
                            </a:lnTo>
                            <a:lnTo>
                              <a:pt x="239" y="469"/>
                            </a:lnTo>
                            <a:lnTo>
                              <a:pt x="237" y="440"/>
                            </a:lnTo>
                            <a:lnTo>
                              <a:pt x="244" y="409"/>
                            </a:lnTo>
                            <a:lnTo>
                              <a:pt x="246" y="387"/>
                            </a:lnTo>
                            <a:lnTo>
                              <a:pt x="254" y="367"/>
                            </a:lnTo>
                            <a:lnTo>
                              <a:pt x="261" y="350"/>
                            </a:lnTo>
                            <a:lnTo>
                              <a:pt x="272" y="332"/>
                            </a:lnTo>
                            <a:lnTo>
                              <a:pt x="274" y="320"/>
                            </a:lnTo>
                            <a:lnTo>
                              <a:pt x="279" y="288"/>
                            </a:lnTo>
                            <a:lnTo>
                              <a:pt x="280" y="261"/>
                            </a:lnTo>
                            <a:lnTo>
                              <a:pt x="301" y="215"/>
                            </a:lnTo>
                            <a:lnTo>
                              <a:pt x="317" y="175"/>
                            </a:lnTo>
                            <a:lnTo>
                              <a:pt x="329" y="135"/>
                            </a:lnTo>
                            <a:lnTo>
                              <a:pt x="345" y="91"/>
                            </a:lnTo>
                            <a:lnTo>
                              <a:pt x="352" y="17"/>
                            </a:lnTo>
                            <a:lnTo>
                              <a:pt x="262" y="0"/>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1" name="Freeform 293"/>
                      <p:cNvSpPr/>
                      <p:nvPr/>
                    </p:nvSpPr>
                    <p:spPr bwMode="auto">
                      <a:xfrm>
                        <a:off x="2596" y="3174"/>
                        <a:ext cx="6" cy="9"/>
                      </a:xfrm>
                      <a:custGeom>
                        <a:avLst/>
                        <a:gdLst>
                          <a:gd name="T0" fmla="*/ 0 w 37"/>
                          <a:gd name="T1" fmla="*/ 38 h 71"/>
                          <a:gd name="T2" fmla="*/ 12 w 37"/>
                          <a:gd name="T3" fmla="*/ 30 h 71"/>
                          <a:gd name="T4" fmla="*/ 22 w 37"/>
                          <a:gd name="T5" fmla="*/ 20 h 71"/>
                          <a:gd name="T6" fmla="*/ 28 w 37"/>
                          <a:gd name="T7" fmla="*/ 12 h 71"/>
                          <a:gd name="T8" fmla="*/ 37 w 37"/>
                          <a:gd name="T9" fmla="*/ 0 h 71"/>
                          <a:gd name="T10" fmla="*/ 29 w 37"/>
                          <a:gd name="T11" fmla="*/ 23 h 71"/>
                          <a:gd name="T12" fmla="*/ 24 w 37"/>
                          <a:gd name="T13" fmla="*/ 35 h 71"/>
                          <a:gd name="T14" fmla="*/ 18 w 37"/>
                          <a:gd name="T15" fmla="*/ 54 h 71"/>
                          <a:gd name="T16" fmla="*/ 12 w 37"/>
                          <a:gd name="T17" fmla="*/ 71 h 71"/>
                          <a:gd name="T18" fmla="*/ 6 w 37"/>
                          <a:gd name="T19" fmla="*/ 49 h 71"/>
                          <a:gd name="T20" fmla="*/ 0 w 37"/>
                          <a:gd name="T21" fmla="*/ 3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71">
                            <a:moveTo>
                              <a:pt x="0" y="38"/>
                            </a:moveTo>
                            <a:lnTo>
                              <a:pt x="12" y="30"/>
                            </a:lnTo>
                            <a:lnTo>
                              <a:pt x="22" y="20"/>
                            </a:lnTo>
                            <a:lnTo>
                              <a:pt x="28" y="12"/>
                            </a:lnTo>
                            <a:lnTo>
                              <a:pt x="37" y="0"/>
                            </a:lnTo>
                            <a:lnTo>
                              <a:pt x="29" y="23"/>
                            </a:lnTo>
                            <a:lnTo>
                              <a:pt x="24" y="35"/>
                            </a:lnTo>
                            <a:lnTo>
                              <a:pt x="18" y="54"/>
                            </a:lnTo>
                            <a:lnTo>
                              <a:pt x="12" y="71"/>
                            </a:lnTo>
                            <a:lnTo>
                              <a:pt x="6" y="49"/>
                            </a:lnTo>
                            <a:lnTo>
                              <a:pt x="0" y="38"/>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2" name="Freeform 294"/>
                      <p:cNvSpPr/>
                      <p:nvPr/>
                    </p:nvSpPr>
                    <p:spPr bwMode="auto">
                      <a:xfrm>
                        <a:off x="2601" y="3180"/>
                        <a:ext cx="5" cy="15"/>
                      </a:xfrm>
                      <a:custGeom>
                        <a:avLst/>
                        <a:gdLst>
                          <a:gd name="T0" fmla="*/ 35 w 35"/>
                          <a:gd name="T1" fmla="*/ 107 h 126"/>
                          <a:gd name="T2" fmla="*/ 23 w 35"/>
                          <a:gd name="T3" fmla="*/ 106 h 126"/>
                          <a:gd name="T4" fmla="*/ 13 w 35"/>
                          <a:gd name="T5" fmla="*/ 110 h 126"/>
                          <a:gd name="T6" fmla="*/ 4 w 35"/>
                          <a:gd name="T7" fmla="*/ 120 h 126"/>
                          <a:gd name="T8" fmla="*/ 0 w 35"/>
                          <a:gd name="T9" fmla="*/ 126 h 126"/>
                          <a:gd name="T10" fmla="*/ 4 w 35"/>
                          <a:gd name="T11" fmla="*/ 114 h 126"/>
                          <a:gd name="T12" fmla="*/ 10 w 35"/>
                          <a:gd name="T13" fmla="*/ 105 h 126"/>
                          <a:gd name="T14" fmla="*/ 18 w 35"/>
                          <a:gd name="T15" fmla="*/ 98 h 126"/>
                          <a:gd name="T16" fmla="*/ 16 w 35"/>
                          <a:gd name="T17" fmla="*/ 86 h 126"/>
                          <a:gd name="T18" fmla="*/ 14 w 35"/>
                          <a:gd name="T19" fmla="*/ 63 h 126"/>
                          <a:gd name="T20" fmla="*/ 17 w 35"/>
                          <a:gd name="T21" fmla="*/ 44 h 126"/>
                          <a:gd name="T22" fmla="*/ 22 w 35"/>
                          <a:gd name="T23" fmla="*/ 27 h 126"/>
                          <a:gd name="T24" fmla="*/ 32 w 35"/>
                          <a:gd name="T25" fmla="*/ 0 h 126"/>
                          <a:gd name="T26" fmla="*/ 30 w 35"/>
                          <a:gd name="T27" fmla="*/ 20 h 126"/>
                          <a:gd name="T28" fmla="*/ 27 w 35"/>
                          <a:gd name="T29" fmla="*/ 38 h 126"/>
                          <a:gd name="T30" fmla="*/ 23 w 35"/>
                          <a:gd name="T31" fmla="*/ 58 h 126"/>
                          <a:gd name="T32" fmla="*/ 22 w 35"/>
                          <a:gd name="T33" fmla="*/ 68 h 126"/>
                          <a:gd name="T34" fmla="*/ 23 w 35"/>
                          <a:gd name="T35" fmla="*/ 80 h 126"/>
                          <a:gd name="T36" fmla="*/ 26 w 35"/>
                          <a:gd name="T37" fmla="*/ 93 h 126"/>
                          <a:gd name="T38" fmla="*/ 35 w 35"/>
                          <a:gd name="T39" fmla="*/ 107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126">
                            <a:moveTo>
                              <a:pt x="35" y="107"/>
                            </a:moveTo>
                            <a:lnTo>
                              <a:pt x="23" y="106"/>
                            </a:lnTo>
                            <a:lnTo>
                              <a:pt x="13" y="110"/>
                            </a:lnTo>
                            <a:lnTo>
                              <a:pt x="4" y="120"/>
                            </a:lnTo>
                            <a:lnTo>
                              <a:pt x="0" y="126"/>
                            </a:lnTo>
                            <a:lnTo>
                              <a:pt x="4" y="114"/>
                            </a:lnTo>
                            <a:lnTo>
                              <a:pt x="10" y="105"/>
                            </a:lnTo>
                            <a:lnTo>
                              <a:pt x="18" y="98"/>
                            </a:lnTo>
                            <a:lnTo>
                              <a:pt x="16" y="86"/>
                            </a:lnTo>
                            <a:lnTo>
                              <a:pt x="14" y="63"/>
                            </a:lnTo>
                            <a:lnTo>
                              <a:pt x="17" y="44"/>
                            </a:lnTo>
                            <a:lnTo>
                              <a:pt x="22" y="27"/>
                            </a:lnTo>
                            <a:lnTo>
                              <a:pt x="32" y="0"/>
                            </a:lnTo>
                            <a:lnTo>
                              <a:pt x="30" y="20"/>
                            </a:lnTo>
                            <a:lnTo>
                              <a:pt x="27" y="38"/>
                            </a:lnTo>
                            <a:lnTo>
                              <a:pt x="23" y="58"/>
                            </a:lnTo>
                            <a:lnTo>
                              <a:pt x="22" y="68"/>
                            </a:lnTo>
                            <a:lnTo>
                              <a:pt x="23" y="80"/>
                            </a:lnTo>
                            <a:lnTo>
                              <a:pt x="26" y="93"/>
                            </a:lnTo>
                            <a:lnTo>
                              <a:pt x="35" y="10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3" name="Freeform 295"/>
                      <p:cNvSpPr/>
                      <p:nvPr/>
                    </p:nvSpPr>
                    <p:spPr bwMode="auto">
                      <a:xfrm>
                        <a:off x="2582" y="3171"/>
                        <a:ext cx="8" cy="14"/>
                      </a:xfrm>
                      <a:custGeom>
                        <a:avLst/>
                        <a:gdLst>
                          <a:gd name="T0" fmla="*/ 1 w 54"/>
                          <a:gd name="T1" fmla="*/ 119 h 119"/>
                          <a:gd name="T2" fmla="*/ 8 w 54"/>
                          <a:gd name="T3" fmla="*/ 109 h 119"/>
                          <a:gd name="T4" fmla="*/ 15 w 54"/>
                          <a:gd name="T5" fmla="*/ 95 h 119"/>
                          <a:gd name="T6" fmla="*/ 19 w 54"/>
                          <a:gd name="T7" fmla="*/ 83 h 119"/>
                          <a:gd name="T8" fmla="*/ 18 w 54"/>
                          <a:gd name="T9" fmla="*/ 64 h 119"/>
                          <a:gd name="T10" fmla="*/ 18 w 54"/>
                          <a:gd name="T11" fmla="*/ 46 h 119"/>
                          <a:gd name="T12" fmla="*/ 20 w 54"/>
                          <a:gd name="T13" fmla="*/ 30 h 119"/>
                          <a:gd name="T14" fmla="*/ 22 w 54"/>
                          <a:gd name="T15" fmla="*/ 20 h 119"/>
                          <a:gd name="T16" fmla="*/ 29 w 54"/>
                          <a:gd name="T17" fmla="*/ 12 h 119"/>
                          <a:gd name="T18" fmla="*/ 41 w 54"/>
                          <a:gd name="T19" fmla="*/ 6 h 119"/>
                          <a:gd name="T20" fmla="*/ 54 w 54"/>
                          <a:gd name="T21" fmla="*/ 0 h 119"/>
                          <a:gd name="T22" fmla="*/ 36 w 54"/>
                          <a:gd name="T23" fmla="*/ 6 h 119"/>
                          <a:gd name="T24" fmla="*/ 23 w 54"/>
                          <a:gd name="T25" fmla="*/ 12 h 119"/>
                          <a:gd name="T26" fmla="*/ 12 w 54"/>
                          <a:gd name="T27" fmla="*/ 12 h 119"/>
                          <a:gd name="T28" fmla="*/ 5 w 54"/>
                          <a:gd name="T29" fmla="*/ 8 h 119"/>
                          <a:gd name="T30" fmla="*/ 2 w 54"/>
                          <a:gd name="T31" fmla="*/ 16 h 119"/>
                          <a:gd name="T32" fmla="*/ 1 w 54"/>
                          <a:gd name="T33" fmla="*/ 31 h 119"/>
                          <a:gd name="T34" fmla="*/ 1 w 54"/>
                          <a:gd name="T35" fmla="*/ 44 h 119"/>
                          <a:gd name="T36" fmla="*/ 0 w 54"/>
                          <a:gd name="T37" fmla="*/ 63 h 119"/>
                          <a:gd name="T38" fmla="*/ 1 w 54"/>
                          <a:gd name="T39" fmla="*/ 78 h 119"/>
                          <a:gd name="T40" fmla="*/ 2 w 54"/>
                          <a:gd name="T41" fmla="*/ 92 h 119"/>
                          <a:gd name="T42" fmla="*/ 4 w 54"/>
                          <a:gd name="T43" fmla="*/ 101 h 119"/>
                          <a:gd name="T44" fmla="*/ 1 w 54"/>
                          <a:gd name="T4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119">
                            <a:moveTo>
                              <a:pt x="1" y="119"/>
                            </a:moveTo>
                            <a:lnTo>
                              <a:pt x="8" y="109"/>
                            </a:lnTo>
                            <a:lnTo>
                              <a:pt x="15" y="95"/>
                            </a:lnTo>
                            <a:lnTo>
                              <a:pt x="19" y="83"/>
                            </a:lnTo>
                            <a:lnTo>
                              <a:pt x="18" y="64"/>
                            </a:lnTo>
                            <a:lnTo>
                              <a:pt x="18" y="46"/>
                            </a:lnTo>
                            <a:lnTo>
                              <a:pt x="20" y="30"/>
                            </a:lnTo>
                            <a:lnTo>
                              <a:pt x="22" y="20"/>
                            </a:lnTo>
                            <a:lnTo>
                              <a:pt x="29" y="12"/>
                            </a:lnTo>
                            <a:lnTo>
                              <a:pt x="41" y="6"/>
                            </a:lnTo>
                            <a:lnTo>
                              <a:pt x="54" y="0"/>
                            </a:lnTo>
                            <a:lnTo>
                              <a:pt x="36" y="6"/>
                            </a:lnTo>
                            <a:lnTo>
                              <a:pt x="23" y="12"/>
                            </a:lnTo>
                            <a:lnTo>
                              <a:pt x="12" y="12"/>
                            </a:lnTo>
                            <a:lnTo>
                              <a:pt x="5" y="8"/>
                            </a:lnTo>
                            <a:lnTo>
                              <a:pt x="2" y="16"/>
                            </a:lnTo>
                            <a:lnTo>
                              <a:pt x="1" y="31"/>
                            </a:lnTo>
                            <a:lnTo>
                              <a:pt x="1" y="44"/>
                            </a:lnTo>
                            <a:lnTo>
                              <a:pt x="0" y="63"/>
                            </a:lnTo>
                            <a:lnTo>
                              <a:pt x="1" y="78"/>
                            </a:lnTo>
                            <a:lnTo>
                              <a:pt x="2" y="92"/>
                            </a:lnTo>
                            <a:lnTo>
                              <a:pt x="4" y="101"/>
                            </a:lnTo>
                            <a:lnTo>
                              <a:pt x="1" y="11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44" name="Group 296"/>
                    <p:cNvGrpSpPr/>
                    <p:nvPr/>
                  </p:nvGrpSpPr>
                  <p:grpSpPr bwMode="auto">
                    <a:xfrm>
                      <a:off x="2605" y="3112"/>
                      <a:ext cx="32" cy="35"/>
                      <a:chOff x="2605" y="3112"/>
                      <a:chExt cx="32" cy="35"/>
                    </a:xfrm>
                  </p:grpSpPr>
                  <p:sp>
                    <p:nvSpPr>
                      <p:cNvPr id="642345" name="Freeform 297"/>
                      <p:cNvSpPr/>
                      <p:nvPr/>
                    </p:nvSpPr>
                    <p:spPr bwMode="auto">
                      <a:xfrm>
                        <a:off x="2605" y="3112"/>
                        <a:ext cx="32" cy="35"/>
                      </a:xfrm>
                      <a:custGeom>
                        <a:avLst/>
                        <a:gdLst>
                          <a:gd name="T0" fmla="*/ 67 w 229"/>
                          <a:gd name="T1" fmla="*/ 0 h 275"/>
                          <a:gd name="T2" fmla="*/ 102 w 229"/>
                          <a:gd name="T3" fmla="*/ 11 h 275"/>
                          <a:gd name="T4" fmla="*/ 167 w 229"/>
                          <a:gd name="T5" fmla="*/ 37 h 275"/>
                          <a:gd name="T6" fmla="*/ 209 w 229"/>
                          <a:gd name="T7" fmla="*/ 72 h 275"/>
                          <a:gd name="T8" fmla="*/ 229 w 229"/>
                          <a:gd name="T9" fmla="*/ 108 h 275"/>
                          <a:gd name="T10" fmla="*/ 223 w 229"/>
                          <a:gd name="T11" fmla="*/ 133 h 275"/>
                          <a:gd name="T12" fmla="*/ 208 w 229"/>
                          <a:gd name="T13" fmla="*/ 151 h 275"/>
                          <a:gd name="T14" fmla="*/ 196 w 229"/>
                          <a:gd name="T15" fmla="*/ 165 h 275"/>
                          <a:gd name="T16" fmla="*/ 180 w 229"/>
                          <a:gd name="T17" fmla="*/ 178 h 275"/>
                          <a:gd name="T18" fmla="*/ 164 w 229"/>
                          <a:gd name="T19" fmla="*/ 200 h 275"/>
                          <a:gd name="T20" fmla="*/ 150 w 229"/>
                          <a:gd name="T21" fmla="*/ 222 h 275"/>
                          <a:gd name="T22" fmla="*/ 140 w 229"/>
                          <a:gd name="T23" fmla="*/ 240 h 275"/>
                          <a:gd name="T24" fmla="*/ 132 w 229"/>
                          <a:gd name="T25" fmla="*/ 255 h 275"/>
                          <a:gd name="T26" fmla="*/ 119 w 229"/>
                          <a:gd name="T27" fmla="*/ 266 h 275"/>
                          <a:gd name="T28" fmla="*/ 109 w 229"/>
                          <a:gd name="T29" fmla="*/ 272 h 275"/>
                          <a:gd name="T30" fmla="*/ 96 w 229"/>
                          <a:gd name="T31" fmla="*/ 275 h 275"/>
                          <a:gd name="T32" fmla="*/ 99 w 229"/>
                          <a:gd name="T33" fmla="*/ 263 h 275"/>
                          <a:gd name="T34" fmla="*/ 103 w 229"/>
                          <a:gd name="T35" fmla="*/ 253 h 275"/>
                          <a:gd name="T36" fmla="*/ 99 w 229"/>
                          <a:gd name="T37" fmla="*/ 228 h 275"/>
                          <a:gd name="T38" fmla="*/ 81 w 229"/>
                          <a:gd name="T39" fmla="*/ 209 h 275"/>
                          <a:gd name="T40" fmla="*/ 45 w 229"/>
                          <a:gd name="T41" fmla="*/ 191 h 275"/>
                          <a:gd name="T42" fmla="*/ 13 w 229"/>
                          <a:gd name="T43" fmla="*/ 187 h 275"/>
                          <a:gd name="T44" fmla="*/ 5 w 229"/>
                          <a:gd name="T45" fmla="*/ 192 h 275"/>
                          <a:gd name="T46" fmla="*/ 0 w 229"/>
                          <a:gd name="T47" fmla="*/ 183 h 275"/>
                          <a:gd name="T48" fmla="*/ 1 w 229"/>
                          <a:gd name="T49" fmla="*/ 175 h 275"/>
                          <a:gd name="T50" fmla="*/ 3 w 229"/>
                          <a:gd name="T51" fmla="*/ 166 h 275"/>
                          <a:gd name="T52" fmla="*/ 9 w 229"/>
                          <a:gd name="T53" fmla="*/ 157 h 275"/>
                          <a:gd name="T54" fmla="*/ 22 w 229"/>
                          <a:gd name="T55" fmla="*/ 133 h 275"/>
                          <a:gd name="T56" fmla="*/ 29 w 229"/>
                          <a:gd name="T57" fmla="*/ 102 h 275"/>
                          <a:gd name="T58" fmla="*/ 44 w 229"/>
                          <a:gd name="T59" fmla="*/ 56 h 275"/>
                          <a:gd name="T60" fmla="*/ 60 w 229"/>
                          <a:gd name="T61" fmla="*/ 15 h 275"/>
                          <a:gd name="T62" fmla="*/ 67 w 229"/>
                          <a:gd name="T63"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9" h="275">
                            <a:moveTo>
                              <a:pt x="67" y="0"/>
                            </a:moveTo>
                            <a:lnTo>
                              <a:pt x="102" y="11"/>
                            </a:lnTo>
                            <a:lnTo>
                              <a:pt x="167" y="37"/>
                            </a:lnTo>
                            <a:lnTo>
                              <a:pt x="209" y="72"/>
                            </a:lnTo>
                            <a:lnTo>
                              <a:pt x="229" y="108"/>
                            </a:lnTo>
                            <a:lnTo>
                              <a:pt x="223" y="133"/>
                            </a:lnTo>
                            <a:lnTo>
                              <a:pt x="208" y="151"/>
                            </a:lnTo>
                            <a:lnTo>
                              <a:pt x="196" y="165"/>
                            </a:lnTo>
                            <a:lnTo>
                              <a:pt x="180" y="178"/>
                            </a:lnTo>
                            <a:lnTo>
                              <a:pt x="164" y="200"/>
                            </a:lnTo>
                            <a:lnTo>
                              <a:pt x="150" y="222"/>
                            </a:lnTo>
                            <a:lnTo>
                              <a:pt x="140" y="240"/>
                            </a:lnTo>
                            <a:lnTo>
                              <a:pt x="132" y="255"/>
                            </a:lnTo>
                            <a:lnTo>
                              <a:pt x="119" y="266"/>
                            </a:lnTo>
                            <a:lnTo>
                              <a:pt x="109" y="272"/>
                            </a:lnTo>
                            <a:lnTo>
                              <a:pt x="96" y="275"/>
                            </a:lnTo>
                            <a:lnTo>
                              <a:pt x="99" y="263"/>
                            </a:lnTo>
                            <a:lnTo>
                              <a:pt x="103" y="253"/>
                            </a:lnTo>
                            <a:lnTo>
                              <a:pt x="99" y="228"/>
                            </a:lnTo>
                            <a:lnTo>
                              <a:pt x="81" y="209"/>
                            </a:lnTo>
                            <a:lnTo>
                              <a:pt x="45" y="191"/>
                            </a:lnTo>
                            <a:lnTo>
                              <a:pt x="13" y="187"/>
                            </a:lnTo>
                            <a:lnTo>
                              <a:pt x="5" y="192"/>
                            </a:lnTo>
                            <a:lnTo>
                              <a:pt x="0" y="183"/>
                            </a:lnTo>
                            <a:lnTo>
                              <a:pt x="1" y="175"/>
                            </a:lnTo>
                            <a:lnTo>
                              <a:pt x="3" y="166"/>
                            </a:lnTo>
                            <a:lnTo>
                              <a:pt x="9" y="157"/>
                            </a:lnTo>
                            <a:lnTo>
                              <a:pt x="22" y="133"/>
                            </a:lnTo>
                            <a:lnTo>
                              <a:pt x="29" y="102"/>
                            </a:lnTo>
                            <a:lnTo>
                              <a:pt x="44" y="56"/>
                            </a:lnTo>
                            <a:lnTo>
                              <a:pt x="60" y="15"/>
                            </a:lnTo>
                            <a:lnTo>
                              <a:pt x="6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6" name="Freeform 298"/>
                      <p:cNvSpPr/>
                      <p:nvPr/>
                    </p:nvSpPr>
                    <p:spPr bwMode="auto">
                      <a:xfrm>
                        <a:off x="2605" y="3134"/>
                        <a:ext cx="16" cy="12"/>
                      </a:xfrm>
                      <a:custGeom>
                        <a:avLst/>
                        <a:gdLst>
                          <a:gd name="T0" fmla="*/ 0 w 106"/>
                          <a:gd name="T1" fmla="*/ 11 h 98"/>
                          <a:gd name="T2" fmla="*/ 3 w 106"/>
                          <a:gd name="T3" fmla="*/ 4 h 98"/>
                          <a:gd name="T4" fmla="*/ 9 w 106"/>
                          <a:gd name="T5" fmla="*/ 2 h 98"/>
                          <a:gd name="T6" fmla="*/ 23 w 106"/>
                          <a:gd name="T7" fmla="*/ 0 h 98"/>
                          <a:gd name="T8" fmla="*/ 35 w 106"/>
                          <a:gd name="T9" fmla="*/ 1 h 98"/>
                          <a:gd name="T10" fmla="*/ 50 w 106"/>
                          <a:gd name="T11" fmla="*/ 5 h 98"/>
                          <a:gd name="T12" fmla="*/ 63 w 106"/>
                          <a:gd name="T13" fmla="*/ 12 h 98"/>
                          <a:gd name="T14" fmla="*/ 77 w 106"/>
                          <a:gd name="T15" fmla="*/ 21 h 98"/>
                          <a:gd name="T16" fmla="*/ 89 w 106"/>
                          <a:gd name="T17" fmla="*/ 29 h 98"/>
                          <a:gd name="T18" fmla="*/ 98 w 106"/>
                          <a:gd name="T19" fmla="*/ 42 h 98"/>
                          <a:gd name="T20" fmla="*/ 105 w 106"/>
                          <a:gd name="T21" fmla="*/ 56 h 98"/>
                          <a:gd name="T22" fmla="*/ 106 w 106"/>
                          <a:gd name="T23" fmla="*/ 68 h 98"/>
                          <a:gd name="T24" fmla="*/ 104 w 106"/>
                          <a:gd name="T25" fmla="*/ 83 h 98"/>
                          <a:gd name="T26" fmla="*/ 100 w 106"/>
                          <a:gd name="T27" fmla="*/ 89 h 98"/>
                          <a:gd name="T28" fmla="*/ 94 w 106"/>
                          <a:gd name="T29" fmla="*/ 98 h 98"/>
                          <a:gd name="T30" fmla="*/ 98 w 106"/>
                          <a:gd name="T31" fmla="*/ 82 h 98"/>
                          <a:gd name="T32" fmla="*/ 100 w 106"/>
                          <a:gd name="T33" fmla="*/ 66 h 98"/>
                          <a:gd name="T34" fmla="*/ 94 w 106"/>
                          <a:gd name="T35" fmla="*/ 50 h 98"/>
                          <a:gd name="T36" fmla="*/ 85 w 106"/>
                          <a:gd name="T37" fmla="*/ 38 h 98"/>
                          <a:gd name="T38" fmla="*/ 69 w 106"/>
                          <a:gd name="T39" fmla="*/ 26 h 98"/>
                          <a:gd name="T40" fmla="*/ 53 w 106"/>
                          <a:gd name="T41" fmla="*/ 18 h 98"/>
                          <a:gd name="T42" fmla="*/ 36 w 106"/>
                          <a:gd name="T43" fmla="*/ 13 h 98"/>
                          <a:gd name="T44" fmla="*/ 21 w 106"/>
                          <a:gd name="T45" fmla="*/ 9 h 98"/>
                          <a:gd name="T46" fmla="*/ 0 w 106"/>
                          <a:gd name="T47" fmla="*/ 1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98">
                            <a:moveTo>
                              <a:pt x="0" y="11"/>
                            </a:moveTo>
                            <a:lnTo>
                              <a:pt x="3" y="4"/>
                            </a:lnTo>
                            <a:lnTo>
                              <a:pt x="9" y="2"/>
                            </a:lnTo>
                            <a:lnTo>
                              <a:pt x="23" y="0"/>
                            </a:lnTo>
                            <a:lnTo>
                              <a:pt x="35" y="1"/>
                            </a:lnTo>
                            <a:lnTo>
                              <a:pt x="50" y="5"/>
                            </a:lnTo>
                            <a:lnTo>
                              <a:pt x="63" y="12"/>
                            </a:lnTo>
                            <a:lnTo>
                              <a:pt x="77" y="21"/>
                            </a:lnTo>
                            <a:lnTo>
                              <a:pt x="89" y="29"/>
                            </a:lnTo>
                            <a:lnTo>
                              <a:pt x="98" y="42"/>
                            </a:lnTo>
                            <a:lnTo>
                              <a:pt x="105" y="56"/>
                            </a:lnTo>
                            <a:lnTo>
                              <a:pt x="106" y="68"/>
                            </a:lnTo>
                            <a:lnTo>
                              <a:pt x="104" y="83"/>
                            </a:lnTo>
                            <a:lnTo>
                              <a:pt x="100" y="89"/>
                            </a:lnTo>
                            <a:lnTo>
                              <a:pt x="94" y="98"/>
                            </a:lnTo>
                            <a:lnTo>
                              <a:pt x="98" y="82"/>
                            </a:lnTo>
                            <a:lnTo>
                              <a:pt x="100" y="66"/>
                            </a:lnTo>
                            <a:lnTo>
                              <a:pt x="94" y="50"/>
                            </a:lnTo>
                            <a:lnTo>
                              <a:pt x="85" y="38"/>
                            </a:lnTo>
                            <a:lnTo>
                              <a:pt x="69" y="26"/>
                            </a:lnTo>
                            <a:lnTo>
                              <a:pt x="53" y="18"/>
                            </a:lnTo>
                            <a:lnTo>
                              <a:pt x="36" y="13"/>
                            </a:lnTo>
                            <a:lnTo>
                              <a:pt x="21" y="9"/>
                            </a:lnTo>
                            <a:lnTo>
                              <a:pt x="0" y="1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47" name="Group 299"/>
                  <p:cNvGrpSpPr/>
                  <p:nvPr/>
                </p:nvGrpSpPr>
                <p:grpSpPr bwMode="auto">
                  <a:xfrm>
                    <a:off x="2613" y="2992"/>
                    <a:ext cx="111" cy="138"/>
                    <a:chOff x="2613" y="2992"/>
                    <a:chExt cx="111" cy="138"/>
                  </a:xfrm>
                </p:grpSpPr>
                <p:sp>
                  <p:nvSpPr>
                    <p:cNvPr id="642348" name="Freeform 300"/>
                    <p:cNvSpPr/>
                    <p:nvPr/>
                  </p:nvSpPr>
                  <p:spPr bwMode="auto">
                    <a:xfrm>
                      <a:off x="2613" y="2992"/>
                      <a:ext cx="111" cy="136"/>
                    </a:xfrm>
                    <a:custGeom>
                      <a:avLst/>
                      <a:gdLst>
                        <a:gd name="T0" fmla="*/ 618 w 777"/>
                        <a:gd name="T1" fmla="*/ 181 h 1093"/>
                        <a:gd name="T2" fmla="*/ 777 w 777"/>
                        <a:gd name="T3" fmla="*/ 553 h 1093"/>
                        <a:gd name="T4" fmla="*/ 701 w 777"/>
                        <a:gd name="T5" fmla="*/ 631 h 1093"/>
                        <a:gd name="T6" fmla="*/ 557 w 777"/>
                        <a:gd name="T7" fmla="*/ 564 h 1093"/>
                        <a:gd name="T8" fmla="*/ 505 w 777"/>
                        <a:gd name="T9" fmla="*/ 523 h 1093"/>
                        <a:gd name="T10" fmla="*/ 434 w 777"/>
                        <a:gd name="T11" fmla="*/ 667 h 1093"/>
                        <a:gd name="T12" fmla="*/ 383 w 777"/>
                        <a:gd name="T13" fmla="*/ 750 h 1093"/>
                        <a:gd name="T14" fmla="*/ 369 w 777"/>
                        <a:gd name="T15" fmla="*/ 764 h 1093"/>
                        <a:gd name="T16" fmla="*/ 352 w 777"/>
                        <a:gd name="T17" fmla="*/ 811 h 1093"/>
                        <a:gd name="T18" fmla="*/ 334 w 777"/>
                        <a:gd name="T19" fmla="*/ 839 h 1093"/>
                        <a:gd name="T20" fmla="*/ 315 w 777"/>
                        <a:gd name="T21" fmla="*/ 871 h 1093"/>
                        <a:gd name="T22" fmla="*/ 294 w 777"/>
                        <a:gd name="T23" fmla="*/ 917 h 1093"/>
                        <a:gd name="T24" fmla="*/ 265 w 777"/>
                        <a:gd name="T25" fmla="*/ 926 h 1093"/>
                        <a:gd name="T26" fmla="*/ 259 w 777"/>
                        <a:gd name="T27" fmla="*/ 968 h 1093"/>
                        <a:gd name="T28" fmla="*/ 228 w 777"/>
                        <a:gd name="T29" fmla="*/ 991 h 1093"/>
                        <a:gd name="T30" fmla="*/ 205 w 777"/>
                        <a:gd name="T31" fmla="*/ 1034 h 1093"/>
                        <a:gd name="T32" fmla="*/ 196 w 777"/>
                        <a:gd name="T33" fmla="*/ 1068 h 1093"/>
                        <a:gd name="T34" fmla="*/ 177 w 777"/>
                        <a:gd name="T35" fmla="*/ 1090 h 1093"/>
                        <a:gd name="T36" fmla="*/ 152 w 777"/>
                        <a:gd name="T37" fmla="*/ 1052 h 1093"/>
                        <a:gd name="T38" fmla="*/ 63 w 777"/>
                        <a:gd name="T39" fmla="*/ 993 h 1093"/>
                        <a:gd name="T40" fmla="*/ 0 w 777"/>
                        <a:gd name="T41" fmla="*/ 985 h 1093"/>
                        <a:gd name="T42" fmla="*/ 17 w 777"/>
                        <a:gd name="T43" fmla="*/ 914 h 1093"/>
                        <a:gd name="T44" fmla="*/ 31 w 777"/>
                        <a:gd name="T45" fmla="*/ 862 h 1093"/>
                        <a:gd name="T46" fmla="*/ 82 w 777"/>
                        <a:gd name="T47" fmla="*/ 818 h 1093"/>
                        <a:gd name="T48" fmla="*/ 82 w 777"/>
                        <a:gd name="T49" fmla="*/ 770 h 1093"/>
                        <a:gd name="T50" fmla="*/ 99 w 777"/>
                        <a:gd name="T51" fmla="*/ 721 h 1093"/>
                        <a:gd name="T52" fmla="*/ 128 w 777"/>
                        <a:gd name="T53" fmla="*/ 692 h 1093"/>
                        <a:gd name="T54" fmla="*/ 137 w 777"/>
                        <a:gd name="T55" fmla="*/ 672 h 1093"/>
                        <a:gd name="T56" fmla="*/ 131 w 777"/>
                        <a:gd name="T57" fmla="*/ 636 h 1093"/>
                        <a:gd name="T58" fmla="*/ 141 w 777"/>
                        <a:gd name="T59" fmla="*/ 602 h 1093"/>
                        <a:gd name="T60" fmla="*/ 165 w 777"/>
                        <a:gd name="T61" fmla="*/ 583 h 1093"/>
                        <a:gd name="T62" fmla="*/ 176 w 777"/>
                        <a:gd name="T63" fmla="*/ 562 h 1093"/>
                        <a:gd name="T64" fmla="*/ 191 w 777"/>
                        <a:gd name="T65" fmla="*/ 543 h 1093"/>
                        <a:gd name="T66" fmla="*/ 214 w 777"/>
                        <a:gd name="T67" fmla="*/ 525 h 1093"/>
                        <a:gd name="T68" fmla="*/ 227 w 777"/>
                        <a:gd name="T69" fmla="*/ 508 h 1093"/>
                        <a:gd name="T70" fmla="*/ 229 w 777"/>
                        <a:gd name="T71" fmla="*/ 483 h 1093"/>
                        <a:gd name="T72" fmla="*/ 223 w 777"/>
                        <a:gd name="T73" fmla="*/ 448 h 1093"/>
                        <a:gd name="T74" fmla="*/ 227 w 777"/>
                        <a:gd name="T75" fmla="*/ 419 h 1093"/>
                        <a:gd name="T76" fmla="*/ 245 w 777"/>
                        <a:gd name="T77" fmla="*/ 397 h 1093"/>
                        <a:gd name="T78" fmla="*/ 254 w 777"/>
                        <a:gd name="T79" fmla="*/ 374 h 1093"/>
                        <a:gd name="T80" fmla="*/ 253 w 777"/>
                        <a:gd name="T81" fmla="*/ 339 h 1093"/>
                        <a:gd name="T82" fmla="*/ 261 w 777"/>
                        <a:gd name="T83" fmla="*/ 281 h 1093"/>
                        <a:gd name="T84" fmla="*/ 283 w 777"/>
                        <a:gd name="T85" fmla="*/ 191 h 1093"/>
                        <a:gd name="T86" fmla="*/ 334 w 777"/>
                        <a:gd name="T87" fmla="*/ 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7" h="1093">
                          <a:moveTo>
                            <a:pt x="334" y="0"/>
                          </a:moveTo>
                          <a:lnTo>
                            <a:pt x="618" y="181"/>
                          </a:lnTo>
                          <a:lnTo>
                            <a:pt x="677" y="390"/>
                          </a:lnTo>
                          <a:lnTo>
                            <a:pt x="777" y="553"/>
                          </a:lnTo>
                          <a:lnTo>
                            <a:pt x="730" y="680"/>
                          </a:lnTo>
                          <a:lnTo>
                            <a:pt x="701" y="631"/>
                          </a:lnTo>
                          <a:lnTo>
                            <a:pt x="636" y="583"/>
                          </a:lnTo>
                          <a:lnTo>
                            <a:pt x="557" y="564"/>
                          </a:lnTo>
                          <a:lnTo>
                            <a:pt x="528" y="547"/>
                          </a:lnTo>
                          <a:lnTo>
                            <a:pt x="505" y="523"/>
                          </a:lnTo>
                          <a:lnTo>
                            <a:pt x="486" y="570"/>
                          </a:lnTo>
                          <a:lnTo>
                            <a:pt x="434" y="667"/>
                          </a:lnTo>
                          <a:lnTo>
                            <a:pt x="386" y="739"/>
                          </a:lnTo>
                          <a:lnTo>
                            <a:pt x="383" y="750"/>
                          </a:lnTo>
                          <a:lnTo>
                            <a:pt x="377" y="760"/>
                          </a:lnTo>
                          <a:lnTo>
                            <a:pt x="369" y="764"/>
                          </a:lnTo>
                          <a:lnTo>
                            <a:pt x="362" y="777"/>
                          </a:lnTo>
                          <a:lnTo>
                            <a:pt x="352" y="811"/>
                          </a:lnTo>
                          <a:lnTo>
                            <a:pt x="342" y="841"/>
                          </a:lnTo>
                          <a:lnTo>
                            <a:pt x="334" y="839"/>
                          </a:lnTo>
                          <a:lnTo>
                            <a:pt x="328" y="841"/>
                          </a:lnTo>
                          <a:lnTo>
                            <a:pt x="315" y="871"/>
                          </a:lnTo>
                          <a:lnTo>
                            <a:pt x="305" y="908"/>
                          </a:lnTo>
                          <a:lnTo>
                            <a:pt x="294" y="917"/>
                          </a:lnTo>
                          <a:lnTo>
                            <a:pt x="282" y="922"/>
                          </a:lnTo>
                          <a:lnTo>
                            <a:pt x="265" y="926"/>
                          </a:lnTo>
                          <a:lnTo>
                            <a:pt x="263" y="948"/>
                          </a:lnTo>
                          <a:lnTo>
                            <a:pt x="259" y="968"/>
                          </a:lnTo>
                          <a:lnTo>
                            <a:pt x="245" y="983"/>
                          </a:lnTo>
                          <a:lnTo>
                            <a:pt x="228" y="991"/>
                          </a:lnTo>
                          <a:lnTo>
                            <a:pt x="213" y="1014"/>
                          </a:lnTo>
                          <a:lnTo>
                            <a:pt x="205" y="1034"/>
                          </a:lnTo>
                          <a:lnTo>
                            <a:pt x="202" y="1051"/>
                          </a:lnTo>
                          <a:lnTo>
                            <a:pt x="196" y="1068"/>
                          </a:lnTo>
                          <a:lnTo>
                            <a:pt x="191" y="1084"/>
                          </a:lnTo>
                          <a:lnTo>
                            <a:pt x="177" y="1090"/>
                          </a:lnTo>
                          <a:lnTo>
                            <a:pt x="159" y="1093"/>
                          </a:lnTo>
                          <a:lnTo>
                            <a:pt x="152" y="1052"/>
                          </a:lnTo>
                          <a:lnTo>
                            <a:pt x="121" y="1013"/>
                          </a:lnTo>
                          <a:lnTo>
                            <a:pt x="63" y="993"/>
                          </a:lnTo>
                          <a:lnTo>
                            <a:pt x="36" y="981"/>
                          </a:lnTo>
                          <a:lnTo>
                            <a:pt x="0" y="985"/>
                          </a:lnTo>
                          <a:lnTo>
                            <a:pt x="13" y="941"/>
                          </a:lnTo>
                          <a:lnTo>
                            <a:pt x="17" y="914"/>
                          </a:lnTo>
                          <a:lnTo>
                            <a:pt x="22" y="885"/>
                          </a:lnTo>
                          <a:lnTo>
                            <a:pt x="31" y="862"/>
                          </a:lnTo>
                          <a:lnTo>
                            <a:pt x="40" y="848"/>
                          </a:lnTo>
                          <a:lnTo>
                            <a:pt x="82" y="818"/>
                          </a:lnTo>
                          <a:lnTo>
                            <a:pt x="79" y="792"/>
                          </a:lnTo>
                          <a:lnTo>
                            <a:pt x="82" y="770"/>
                          </a:lnTo>
                          <a:lnTo>
                            <a:pt x="88" y="746"/>
                          </a:lnTo>
                          <a:lnTo>
                            <a:pt x="99" y="721"/>
                          </a:lnTo>
                          <a:lnTo>
                            <a:pt x="111" y="707"/>
                          </a:lnTo>
                          <a:lnTo>
                            <a:pt x="128" y="692"/>
                          </a:lnTo>
                          <a:lnTo>
                            <a:pt x="146" y="685"/>
                          </a:lnTo>
                          <a:lnTo>
                            <a:pt x="137" y="672"/>
                          </a:lnTo>
                          <a:lnTo>
                            <a:pt x="134" y="655"/>
                          </a:lnTo>
                          <a:lnTo>
                            <a:pt x="131" y="636"/>
                          </a:lnTo>
                          <a:lnTo>
                            <a:pt x="134" y="619"/>
                          </a:lnTo>
                          <a:lnTo>
                            <a:pt x="141" y="602"/>
                          </a:lnTo>
                          <a:lnTo>
                            <a:pt x="153" y="591"/>
                          </a:lnTo>
                          <a:lnTo>
                            <a:pt x="165" y="583"/>
                          </a:lnTo>
                          <a:lnTo>
                            <a:pt x="168" y="570"/>
                          </a:lnTo>
                          <a:lnTo>
                            <a:pt x="176" y="562"/>
                          </a:lnTo>
                          <a:lnTo>
                            <a:pt x="188" y="559"/>
                          </a:lnTo>
                          <a:lnTo>
                            <a:pt x="191" y="543"/>
                          </a:lnTo>
                          <a:lnTo>
                            <a:pt x="203" y="529"/>
                          </a:lnTo>
                          <a:lnTo>
                            <a:pt x="214" y="525"/>
                          </a:lnTo>
                          <a:lnTo>
                            <a:pt x="225" y="522"/>
                          </a:lnTo>
                          <a:lnTo>
                            <a:pt x="227" y="508"/>
                          </a:lnTo>
                          <a:lnTo>
                            <a:pt x="231" y="499"/>
                          </a:lnTo>
                          <a:lnTo>
                            <a:pt x="229" y="483"/>
                          </a:lnTo>
                          <a:lnTo>
                            <a:pt x="225" y="468"/>
                          </a:lnTo>
                          <a:lnTo>
                            <a:pt x="223" y="448"/>
                          </a:lnTo>
                          <a:lnTo>
                            <a:pt x="222" y="433"/>
                          </a:lnTo>
                          <a:lnTo>
                            <a:pt x="227" y="419"/>
                          </a:lnTo>
                          <a:lnTo>
                            <a:pt x="236" y="406"/>
                          </a:lnTo>
                          <a:lnTo>
                            <a:pt x="245" y="397"/>
                          </a:lnTo>
                          <a:lnTo>
                            <a:pt x="253" y="390"/>
                          </a:lnTo>
                          <a:lnTo>
                            <a:pt x="254" y="374"/>
                          </a:lnTo>
                          <a:lnTo>
                            <a:pt x="256" y="359"/>
                          </a:lnTo>
                          <a:lnTo>
                            <a:pt x="253" y="339"/>
                          </a:lnTo>
                          <a:lnTo>
                            <a:pt x="247" y="324"/>
                          </a:lnTo>
                          <a:lnTo>
                            <a:pt x="261" y="281"/>
                          </a:lnTo>
                          <a:lnTo>
                            <a:pt x="276" y="241"/>
                          </a:lnTo>
                          <a:lnTo>
                            <a:pt x="283" y="191"/>
                          </a:lnTo>
                          <a:lnTo>
                            <a:pt x="293" y="148"/>
                          </a:lnTo>
                          <a:lnTo>
                            <a:pt x="334" y="0"/>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49" name="Group 301"/>
                    <p:cNvGrpSpPr/>
                    <p:nvPr/>
                  </p:nvGrpSpPr>
                  <p:grpSpPr bwMode="auto">
                    <a:xfrm>
                      <a:off x="2613" y="3011"/>
                      <a:ext cx="109" cy="119"/>
                      <a:chOff x="2613" y="3011"/>
                      <a:chExt cx="109" cy="119"/>
                    </a:xfrm>
                  </p:grpSpPr>
                  <p:sp>
                    <p:nvSpPr>
                      <p:cNvPr id="642350" name="Freeform 302"/>
                      <p:cNvSpPr/>
                      <p:nvPr/>
                    </p:nvSpPr>
                    <p:spPr bwMode="auto">
                      <a:xfrm>
                        <a:off x="2642" y="3011"/>
                        <a:ext cx="80" cy="70"/>
                      </a:xfrm>
                      <a:custGeom>
                        <a:avLst/>
                        <a:gdLst>
                          <a:gd name="T0" fmla="*/ 228 w 557"/>
                          <a:gd name="T1" fmla="*/ 518 h 558"/>
                          <a:gd name="T2" fmla="*/ 269 w 557"/>
                          <a:gd name="T3" fmla="*/ 444 h 558"/>
                          <a:gd name="T4" fmla="*/ 301 w 557"/>
                          <a:gd name="T5" fmla="*/ 373 h 558"/>
                          <a:gd name="T6" fmla="*/ 339 w 557"/>
                          <a:gd name="T7" fmla="*/ 406 h 558"/>
                          <a:gd name="T8" fmla="*/ 395 w 557"/>
                          <a:gd name="T9" fmla="*/ 423 h 558"/>
                          <a:gd name="T10" fmla="*/ 447 w 557"/>
                          <a:gd name="T11" fmla="*/ 441 h 558"/>
                          <a:gd name="T12" fmla="*/ 489 w 557"/>
                          <a:gd name="T13" fmla="*/ 473 h 558"/>
                          <a:gd name="T14" fmla="*/ 525 w 557"/>
                          <a:gd name="T15" fmla="*/ 525 h 558"/>
                          <a:gd name="T16" fmla="*/ 545 w 557"/>
                          <a:gd name="T17" fmla="*/ 526 h 558"/>
                          <a:gd name="T18" fmla="*/ 474 w 557"/>
                          <a:gd name="T19" fmla="*/ 277 h 558"/>
                          <a:gd name="T20" fmla="*/ 392 w 557"/>
                          <a:gd name="T21" fmla="*/ 121 h 558"/>
                          <a:gd name="T22" fmla="*/ 241 w 557"/>
                          <a:gd name="T23" fmla="*/ 11 h 558"/>
                          <a:gd name="T24" fmla="*/ 200 w 557"/>
                          <a:gd name="T25" fmla="*/ 114 h 558"/>
                          <a:gd name="T26" fmla="*/ 200 w 557"/>
                          <a:gd name="T27" fmla="*/ 210 h 558"/>
                          <a:gd name="T28" fmla="*/ 265 w 557"/>
                          <a:gd name="T29" fmla="*/ 325 h 558"/>
                          <a:gd name="T30" fmla="*/ 156 w 557"/>
                          <a:gd name="T31" fmla="*/ 246 h 558"/>
                          <a:gd name="T32" fmla="*/ 54 w 557"/>
                          <a:gd name="T33" fmla="*/ 180 h 558"/>
                          <a:gd name="T34" fmla="*/ 146 w 557"/>
                          <a:gd name="T35" fmla="*/ 272 h 558"/>
                          <a:gd name="T36" fmla="*/ 159 w 557"/>
                          <a:gd name="T37" fmla="*/ 311 h 558"/>
                          <a:gd name="T38" fmla="*/ 140 w 557"/>
                          <a:gd name="T39" fmla="*/ 329 h 558"/>
                          <a:gd name="T40" fmla="*/ 102 w 557"/>
                          <a:gd name="T41" fmla="*/ 324 h 558"/>
                          <a:gd name="T42" fmla="*/ 67 w 557"/>
                          <a:gd name="T43" fmla="*/ 320 h 558"/>
                          <a:gd name="T44" fmla="*/ 103 w 557"/>
                          <a:gd name="T45" fmla="*/ 364 h 558"/>
                          <a:gd name="T46" fmla="*/ 158 w 557"/>
                          <a:gd name="T47" fmla="*/ 409 h 558"/>
                          <a:gd name="T48" fmla="*/ 106 w 557"/>
                          <a:gd name="T49" fmla="*/ 396 h 558"/>
                          <a:gd name="T50" fmla="*/ 40 w 557"/>
                          <a:gd name="T51" fmla="*/ 400 h 558"/>
                          <a:gd name="T52" fmla="*/ 43 w 557"/>
                          <a:gd name="T53" fmla="*/ 413 h 558"/>
                          <a:gd name="T54" fmla="*/ 95 w 557"/>
                          <a:gd name="T55" fmla="*/ 436 h 558"/>
                          <a:gd name="T56" fmla="*/ 80 w 557"/>
                          <a:gd name="T57" fmla="*/ 445 h 558"/>
                          <a:gd name="T58" fmla="*/ 26 w 557"/>
                          <a:gd name="T59" fmla="*/ 450 h 558"/>
                          <a:gd name="T60" fmla="*/ 52 w 557"/>
                          <a:gd name="T61" fmla="*/ 470 h 558"/>
                          <a:gd name="T62" fmla="*/ 137 w 557"/>
                          <a:gd name="T63" fmla="*/ 500 h 558"/>
                          <a:gd name="T64" fmla="*/ 186 w 557"/>
                          <a:gd name="T65" fmla="*/ 537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57" h="558">
                            <a:moveTo>
                              <a:pt x="200" y="558"/>
                            </a:moveTo>
                            <a:lnTo>
                              <a:pt x="228" y="518"/>
                            </a:lnTo>
                            <a:lnTo>
                              <a:pt x="250" y="482"/>
                            </a:lnTo>
                            <a:lnTo>
                              <a:pt x="269" y="444"/>
                            </a:lnTo>
                            <a:lnTo>
                              <a:pt x="290" y="402"/>
                            </a:lnTo>
                            <a:lnTo>
                              <a:pt x="301" y="373"/>
                            </a:lnTo>
                            <a:lnTo>
                              <a:pt x="322" y="392"/>
                            </a:lnTo>
                            <a:lnTo>
                              <a:pt x="339" y="406"/>
                            </a:lnTo>
                            <a:lnTo>
                              <a:pt x="361" y="415"/>
                            </a:lnTo>
                            <a:lnTo>
                              <a:pt x="395" y="423"/>
                            </a:lnTo>
                            <a:lnTo>
                              <a:pt x="426" y="433"/>
                            </a:lnTo>
                            <a:lnTo>
                              <a:pt x="447" y="441"/>
                            </a:lnTo>
                            <a:lnTo>
                              <a:pt x="469" y="458"/>
                            </a:lnTo>
                            <a:lnTo>
                              <a:pt x="489" y="473"/>
                            </a:lnTo>
                            <a:lnTo>
                              <a:pt x="510" y="499"/>
                            </a:lnTo>
                            <a:lnTo>
                              <a:pt x="525" y="525"/>
                            </a:lnTo>
                            <a:lnTo>
                              <a:pt x="536" y="557"/>
                            </a:lnTo>
                            <a:lnTo>
                              <a:pt x="545" y="526"/>
                            </a:lnTo>
                            <a:lnTo>
                              <a:pt x="557" y="325"/>
                            </a:lnTo>
                            <a:lnTo>
                              <a:pt x="474" y="277"/>
                            </a:lnTo>
                            <a:lnTo>
                              <a:pt x="426" y="216"/>
                            </a:lnTo>
                            <a:lnTo>
                              <a:pt x="392" y="121"/>
                            </a:lnTo>
                            <a:lnTo>
                              <a:pt x="365" y="0"/>
                            </a:lnTo>
                            <a:lnTo>
                              <a:pt x="241" y="11"/>
                            </a:lnTo>
                            <a:lnTo>
                              <a:pt x="213" y="71"/>
                            </a:lnTo>
                            <a:lnTo>
                              <a:pt x="200" y="114"/>
                            </a:lnTo>
                            <a:lnTo>
                              <a:pt x="196" y="167"/>
                            </a:lnTo>
                            <a:lnTo>
                              <a:pt x="200" y="210"/>
                            </a:lnTo>
                            <a:lnTo>
                              <a:pt x="237" y="288"/>
                            </a:lnTo>
                            <a:lnTo>
                              <a:pt x="265" y="325"/>
                            </a:lnTo>
                            <a:lnTo>
                              <a:pt x="206" y="277"/>
                            </a:lnTo>
                            <a:lnTo>
                              <a:pt x="156" y="246"/>
                            </a:lnTo>
                            <a:lnTo>
                              <a:pt x="110" y="215"/>
                            </a:lnTo>
                            <a:lnTo>
                              <a:pt x="54" y="180"/>
                            </a:lnTo>
                            <a:lnTo>
                              <a:pt x="114" y="232"/>
                            </a:lnTo>
                            <a:lnTo>
                              <a:pt x="146" y="272"/>
                            </a:lnTo>
                            <a:lnTo>
                              <a:pt x="161" y="297"/>
                            </a:lnTo>
                            <a:lnTo>
                              <a:pt x="159" y="311"/>
                            </a:lnTo>
                            <a:lnTo>
                              <a:pt x="153" y="322"/>
                            </a:lnTo>
                            <a:lnTo>
                              <a:pt x="140" y="329"/>
                            </a:lnTo>
                            <a:lnTo>
                              <a:pt x="125" y="331"/>
                            </a:lnTo>
                            <a:lnTo>
                              <a:pt x="102" y="324"/>
                            </a:lnTo>
                            <a:lnTo>
                              <a:pt x="48" y="288"/>
                            </a:lnTo>
                            <a:lnTo>
                              <a:pt x="67" y="320"/>
                            </a:lnTo>
                            <a:lnTo>
                              <a:pt x="83" y="341"/>
                            </a:lnTo>
                            <a:lnTo>
                              <a:pt x="103" y="364"/>
                            </a:lnTo>
                            <a:lnTo>
                              <a:pt x="125" y="383"/>
                            </a:lnTo>
                            <a:lnTo>
                              <a:pt x="158" y="409"/>
                            </a:lnTo>
                            <a:lnTo>
                              <a:pt x="132" y="400"/>
                            </a:lnTo>
                            <a:lnTo>
                              <a:pt x="106" y="396"/>
                            </a:lnTo>
                            <a:lnTo>
                              <a:pt x="72" y="395"/>
                            </a:lnTo>
                            <a:lnTo>
                              <a:pt x="40" y="400"/>
                            </a:lnTo>
                            <a:lnTo>
                              <a:pt x="6" y="404"/>
                            </a:lnTo>
                            <a:lnTo>
                              <a:pt x="43" y="413"/>
                            </a:lnTo>
                            <a:lnTo>
                              <a:pt x="73" y="426"/>
                            </a:lnTo>
                            <a:lnTo>
                              <a:pt x="95" y="436"/>
                            </a:lnTo>
                            <a:lnTo>
                              <a:pt x="117" y="453"/>
                            </a:lnTo>
                            <a:lnTo>
                              <a:pt x="80" y="445"/>
                            </a:lnTo>
                            <a:lnTo>
                              <a:pt x="55" y="444"/>
                            </a:lnTo>
                            <a:lnTo>
                              <a:pt x="26" y="450"/>
                            </a:lnTo>
                            <a:lnTo>
                              <a:pt x="0" y="458"/>
                            </a:lnTo>
                            <a:lnTo>
                              <a:pt x="52" y="470"/>
                            </a:lnTo>
                            <a:lnTo>
                              <a:pt x="101" y="486"/>
                            </a:lnTo>
                            <a:lnTo>
                              <a:pt x="137" y="500"/>
                            </a:lnTo>
                            <a:lnTo>
                              <a:pt x="164" y="518"/>
                            </a:lnTo>
                            <a:lnTo>
                              <a:pt x="186" y="537"/>
                            </a:lnTo>
                            <a:lnTo>
                              <a:pt x="200" y="55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1" name="Freeform 303"/>
                      <p:cNvSpPr/>
                      <p:nvPr/>
                    </p:nvSpPr>
                    <p:spPr bwMode="auto">
                      <a:xfrm>
                        <a:off x="2616" y="3098"/>
                        <a:ext cx="34" cy="19"/>
                      </a:xfrm>
                      <a:custGeom>
                        <a:avLst/>
                        <a:gdLst>
                          <a:gd name="T0" fmla="*/ 0 w 238"/>
                          <a:gd name="T1" fmla="*/ 37 h 152"/>
                          <a:gd name="T2" fmla="*/ 26 w 238"/>
                          <a:gd name="T3" fmla="*/ 38 h 152"/>
                          <a:gd name="T4" fmla="*/ 58 w 238"/>
                          <a:gd name="T5" fmla="*/ 42 h 152"/>
                          <a:gd name="T6" fmla="*/ 92 w 238"/>
                          <a:gd name="T7" fmla="*/ 52 h 152"/>
                          <a:gd name="T8" fmla="*/ 113 w 238"/>
                          <a:gd name="T9" fmla="*/ 63 h 152"/>
                          <a:gd name="T10" fmla="*/ 140 w 238"/>
                          <a:gd name="T11" fmla="*/ 80 h 152"/>
                          <a:gd name="T12" fmla="*/ 168 w 238"/>
                          <a:gd name="T13" fmla="*/ 102 h 152"/>
                          <a:gd name="T14" fmla="*/ 186 w 238"/>
                          <a:gd name="T15" fmla="*/ 126 h 152"/>
                          <a:gd name="T16" fmla="*/ 205 w 238"/>
                          <a:gd name="T17" fmla="*/ 152 h 152"/>
                          <a:gd name="T18" fmla="*/ 214 w 238"/>
                          <a:gd name="T19" fmla="*/ 145 h 152"/>
                          <a:gd name="T20" fmla="*/ 225 w 238"/>
                          <a:gd name="T21" fmla="*/ 140 h 152"/>
                          <a:gd name="T22" fmla="*/ 238 w 238"/>
                          <a:gd name="T23" fmla="*/ 126 h 152"/>
                          <a:gd name="T24" fmla="*/ 230 w 238"/>
                          <a:gd name="T25" fmla="*/ 112 h 152"/>
                          <a:gd name="T26" fmla="*/ 204 w 238"/>
                          <a:gd name="T27" fmla="*/ 95 h 152"/>
                          <a:gd name="T28" fmla="*/ 182 w 238"/>
                          <a:gd name="T29" fmla="*/ 77 h 152"/>
                          <a:gd name="T30" fmla="*/ 168 w 238"/>
                          <a:gd name="T31" fmla="*/ 63 h 152"/>
                          <a:gd name="T32" fmla="*/ 138 w 238"/>
                          <a:gd name="T33" fmla="*/ 41 h 152"/>
                          <a:gd name="T34" fmla="*/ 106 w 238"/>
                          <a:gd name="T35" fmla="*/ 23 h 152"/>
                          <a:gd name="T36" fmla="*/ 73 w 238"/>
                          <a:gd name="T37" fmla="*/ 11 h 152"/>
                          <a:gd name="T38" fmla="*/ 42 w 238"/>
                          <a:gd name="T39" fmla="*/ 3 h 152"/>
                          <a:gd name="T40" fmla="*/ 14 w 238"/>
                          <a:gd name="T41" fmla="*/ 0 h 152"/>
                          <a:gd name="T42" fmla="*/ 9 w 238"/>
                          <a:gd name="T43" fmla="*/ 7 h 152"/>
                          <a:gd name="T44" fmla="*/ 3 w 238"/>
                          <a:gd name="T45" fmla="*/ 21 h 152"/>
                          <a:gd name="T46" fmla="*/ 0 w 238"/>
                          <a:gd name="T47" fmla="*/ 3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152">
                            <a:moveTo>
                              <a:pt x="0" y="37"/>
                            </a:moveTo>
                            <a:lnTo>
                              <a:pt x="26" y="38"/>
                            </a:lnTo>
                            <a:lnTo>
                              <a:pt x="58" y="42"/>
                            </a:lnTo>
                            <a:lnTo>
                              <a:pt x="92" y="52"/>
                            </a:lnTo>
                            <a:lnTo>
                              <a:pt x="113" y="63"/>
                            </a:lnTo>
                            <a:lnTo>
                              <a:pt x="140" y="80"/>
                            </a:lnTo>
                            <a:lnTo>
                              <a:pt x="168" y="102"/>
                            </a:lnTo>
                            <a:lnTo>
                              <a:pt x="186" y="126"/>
                            </a:lnTo>
                            <a:lnTo>
                              <a:pt x="205" y="152"/>
                            </a:lnTo>
                            <a:lnTo>
                              <a:pt x="214" y="145"/>
                            </a:lnTo>
                            <a:lnTo>
                              <a:pt x="225" y="140"/>
                            </a:lnTo>
                            <a:lnTo>
                              <a:pt x="238" y="126"/>
                            </a:lnTo>
                            <a:lnTo>
                              <a:pt x="230" y="112"/>
                            </a:lnTo>
                            <a:lnTo>
                              <a:pt x="204" y="95"/>
                            </a:lnTo>
                            <a:lnTo>
                              <a:pt x="182" y="77"/>
                            </a:lnTo>
                            <a:lnTo>
                              <a:pt x="168" y="63"/>
                            </a:lnTo>
                            <a:lnTo>
                              <a:pt x="138" y="41"/>
                            </a:lnTo>
                            <a:lnTo>
                              <a:pt x="106" y="23"/>
                            </a:lnTo>
                            <a:lnTo>
                              <a:pt x="73" y="11"/>
                            </a:lnTo>
                            <a:lnTo>
                              <a:pt x="42" y="3"/>
                            </a:lnTo>
                            <a:lnTo>
                              <a:pt x="14" y="0"/>
                            </a:lnTo>
                            <a:lnTo>
                              <a:pt x="9" y="7"/>
                            </a:lnTo>
                            <a:lnTo>
                              <a:pt x="3" y="21"/>
                            </a:lnTo>
                            <a:lnTo>
                              <a:pt x="0" y="37"/>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2" name="Freeform 304"/>
                      <p:cNvSpPr/>
                      <p:nvPr/>
                    </p:nvSpPr>
                    <p:spPr bwMode="auto">
                      <a:xfrm>
                        <a:off x="2631" y="3094"/>
                        <a:ext cx="27" cy="13"/>
                      </a:xfrm>
                      <a:custGeom>
                        <a:avLst/>
                        <a:gdLst>
                          <a:gd name="T0" fmla="*/ 0 w 189"/>
                          <a:gd name="T1" fmla="*/ 8 h 105"/>
                          <a:gd name="T2" fmla="*/ 33 w 189"/>
                          <a:gd name="T3" fmla="*/ 18 h 105"/>
                          <a:gd name="T4" fmla="*/ 64 w 189"/>
                          <a:gd name="T5" fmla="*/ 32 h 105"/>
                          <a:gd name="T6" fmla="*/ 88 w 189"/>
                          <a:gd name="T7" fmla="*/ 45 h 105"/>
                          <a:gd name="T8" fmla="*/ 115 w 189"/>
                          <a:gd name="T9" fmla="*/ 63 h 105"/>
                          <a:gd name="T10" fmla="*/ 137 w 189"/>
                          <a:gd name="T11" fmla="*/ 81 h 105"/>
                          <a:gd name="T12" fmla="*/ 160 w 189"/>
                          <a:gd name="T13" fmla="*/ 105 h 105"/>
                          <a:gd name="T14" fmla="*/ 172 w 189"/>
                          <a:gd name="T15" fmla="*/ 102 h 105"/>
                          <a:gd name="T16" fmla="*/ 183 w 189"/>
                          <a:gd name="T17" fmla="*/ 93 h 105"/>
                          <a:gd name="T18" fmla="*/ 188 w 189"/>
                          <a:gd name="T19" fmla="*/ 81 h 105"/>
                          <a:gd name="T20" fmla="*/ 189 w 189"/>
                          <a:gd name="T21" fmla="*/ 65 h 105"/>
                          <a:gd name="T22" fmla="*/ 176 w 189"/>
                          <a:gd name="T23" fmla="*/ 55 h 105"/>
                          <a:gd name="T24" fmla="*/ 162 w 189"/>
                          <a:gd name="T25" fmla="*/ 51 h 105"/>
                          <a:gd name="T26" fmla="*/ 145 w 189"/>
                          <a:gd name="T27" fmla="*/ 48 h 105"/>
                          <a:gd name="T28" fmla="*/ 127 w 189"/>
                          <a:gd name="T29" fmla="*/ 41 h 105"/>
                          <a:gd name="T30" fmla="*/ 110 w 189"/>
                          <a:gd name="T31" fmla="*/ 28 h 105"/>
                          <a:gd name="T32" fmla="*/ 93 w 189"/>
                          <a:gd name="T33" fmla="*/ 16 h 105"/>
                          <a:gd name="T34" fmla="*/ 71 w 189"/>
                          <a:gd name="T35" fmla="*/ 5 h 105"/>
                          <a:gd name="T36" fmla="*/ 53 w 189"/>
                          <a:gd name="T37" fmla="*/ 2 h 105"/>
                          <a:gd name="T38" fmla="*/ 38 w 189"/>
                          <a:gd name="T39" fmla="*/ 0 h 105"/>
                          <a:gd name="T40" fmla="*/ 18 w 189"/>
                          <a:gd name="T41" fmla="*/ 2 h 105"/>
                          <a:gd name="T42" fmla="*/ 0 w 189"/>
                          <a:gd name="T43" fmla="*/ 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9" h="105">
                            <a:moveTo>
                              <a:pt x="0" y="8"/>
                            </a:moveTo>
                            <a:lnTo>
                              <a:pt x="33" y="18"/>
                            </a:lnTo>
                            <a:lnTo>
                              <a:pt x="64" y="32"/>
                            </a:lnTo>
                            <a:lnTo>
                              <a:pt x="88" y="45"/>
                            </a:lnTo>
                            <a:lnTo>
                              <a:pt x="115" y="63"/>
                            </a:lnTo>
                            <a:lnTo>
                              <a:pt x="137" y="81"/>
                            </a:lnTo>
                            <a:lnTo>
                              <a:pt x="160" y="105"/>
                            </a:lnTo>
                            <a:lnTo>
                              <a:pt x="172" y="102"/>
                            </a:lnTo>
                            <a:lnTo>
                              <a:pt x="183" y="93"/>
                            </a:lnTo>
                            <a:lnTo>
                              <a:pt x="188" y="81"/>
                            </a:lnTo>
                            <a:lnTo>
                              <a:pt x="189" y="65"/>
                            </a:lnTo>
                            <a:lnTo>
                              <a:pt x="176" y="55"/>
                            </a:lnTo>
                            <a:lnTo>
                              <a:pt x="162" y="51"/>
                            </a:lnTo>
                            <a:lnTo>
                              <a:pt x="145" y="48"/>
                            </a:lnTo>
                            <a:lnTo>
                              <a:pt x="127" y="41"/>
                            </a:lnTo>
                            <a:lnTo>
                              <a:pt x="110" y="28"/>
                            </a:lnTo>
                            <a:lnTo>
                              <a:pt x="93" y="16"/>
                            </a:lnTo>
                            <a:lnTo>
                              <a:pt x="71" y="5"/>
                            </a:lnTo>
                            <a:lnTo>
                              <a:pt x="53" y="2"/>
                            </a:lnTo>
                            <a:lnTo>
                              <a:pt x="38" y="0"/>
                            </a:lnTo>
                            <a:lnTo>
                              <a:pt x="18" y="2"/>
                            </a:lnTo>
                            <a:lnTo>
                              <a:pt x="0" y="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3" name="Freeform 305"/>
                      <p:cNvSpPr/>
                      <p:nvPr/>
                    </p:nvSpPr>
                    <p:spPr bwMode="auto">
                      <a:xfrm>
                        <a:off x="2626" y="3080"/>
                        <a:ext cx="38" cy="17"/>
                      </a:xfrm>
                      <a:custGeom>
                        <a:avLst/>
                        <a:gdLst>
                          <a:gd name="T0" fmla="*/ 0 w 263"/>
                          <a:gd name="T1" fmla="*/ 59 h 129"/>
                          <a:gd name="T2" fmla="*/ 18 w 263"/>
                          <a:gd name="T3" fmla="*/ 50 h 129"/>
                          <a:gd name="T4" fmla="*/ 34 w 263"/>
                          <a:gd name="T5" fmla="*/ 42 h 129"/>
                          <a:gd name="T6" fmla="*/ 61 w 263"/>
                          <a:gd name="T7" fmla="*/ 34 h 129"/>
                          <a:gd name="T8" fmla="*/ 84 w 263"/>
                          <a:gd name="T9" fmla="*/ 37 h 129"/>
                          <a:gd name="T10" fmla="*/ 107 w 263"/>
                          <a:gd name="T11" fmla="*/ 52 h 129"/>
                          <a:gd name="T12" fmla="*/ 128 w 263"/>
                          <a:gd name="T13" fmla="*/ 66 h 129"/>
                          <a:gd name="T14" fmla="*/ 164 w 263"/>
                          <a:gd name="T15" fmla="*/ 85 h 129"/>
                          <a:gd name="T16" fmla="*/ 194 w 263"/>
                          <a:gd name="T17" fmla="*/ 106 h 129"/>
                          <a:gd name="T18" fmla="*/ 225 w 263"/>
                          <a:gd name="T19" fmla="*/ 129 h 129"/>
                          <a:gd name="T20" fmla="*/ 235 w 263"/>
                          <a:gd name="T21" fmla="*/ 124 h 129"/>
                          <a:gd name="T22" fmla="*/ 246 w 263"/>
                          <a:gd name="T23" fmla="*/ 123 h 129"/>
                          <a:gd name="T24" fmla="*/ 256 w 263"/>
                          <a:gd name="T25" fmla="*/ 126 h 129"/>
                          <a:gd name="T26" fmla="*/ 263 w 263"/>
                          <a:gd name="T27" fmla="*/ 97 h 129"/>
                          <a:gd name="T28" fmla="*/ 201 w 263"/>
                          <a:gd name="T29" fmla="*/ 56 h 129"/>
                          <a:gd name="T30" fmla="*/ 159 w 263"/>
                          <a:gd name="T31" fmla="*/ 32 h 129"/>
                          <a:gd name="T32" fmla="*/ 128 w 263"/>
                          <a:gd name="T33" fmla="*/ 17 h 129"/>
                          <a:gd name="T34" fmla="*/ 105 w 263"/>
                          <a:gd name="T35" fmla="*/ 5 h 129"/>
                          <a:gd name="T36" fmla="*/ 81 w 263"/>
                          <a:gd name="T37" fmla="*/ 0 h 129"/>
                          <a:gd name="T38" fmla="*/ 57 w 263"/>
                          <a:gd name="T39" fmla="*/ 3 h 129"/>
                          <a:gd name="T40" fmla="*/ 38 w 263"/>
                          <a:gd name="T41" fmla="*/ 13 h 129"/>
                          <a:gd name="T42" fmla="*/ 18 w 263"/>
                          <a:gd name="T43" fmla="*/ 32 h 129"/>
                          <a:gd name="T44" fmla="*/ 0 w 263"/>
                          <a:gd name="T45" fmla="*/ 5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3" h="129">
                            <a:moveTo>
                              <a:pt x="0" y="59"/>
                            </a:moveTo>
                            <a:lnTo>
                              <a:pt x="18" y="50"/>
                            </a:lnTo>
                            <a:lnTo>
                              <a:pt x="34" y="42"/>
                            </a:lnTo>
                            <a:lnTo>
                              <a:pt x="61" y="34"/>
                            </a:lnTo>
                            <a:lnTo>
                              <a:pt x="84" y="37"/>
                            </a:lnTo>
                            <a:lnTo>
                              <a:pt x="107" y="52"/>
                            </a:lnTo>
                            <a:lnTo>
                              <a:pt x="128" y="66"/>
                            </a:lnTo>
                            <a:lnTo>
                              <a:pt x="164" y="85"/>
                            </a:lnTo>
                            <a:lnTo>
                              <a:pt x="194" y="106"/>
                            </a:lnTo>
                            <a:lnTo>
                              <a:pt x="225" y="129"/>
                            </a:lnTo>
                            <a:lnTo>
                              <a:pt x="235" y="124"/>
                            </a:lnTo>
                            <a:lnTo>
                              <a:pt x="246" y="123"/>
                            </a:lnTo>
                            <a:lnTo>
                              <a:pt x="256" y="126"/>
                            </a:lnTo>
                            <a:lnTo>
                              <a:pt x="263" y="97"/>
                            </a:lnTo>
                            <a:lnTo>
                              <a:pt x="201" y="56"/>
                            </a:lnTo>
                            <a:lnTo>
                              <a:pt x="159" y="32"/>
                            </a:lnTo>
                            <a:lnTo>
                              <a:pt x="128" y="17"/>
                            </a:lnTo>
                            <a:lnTo>
                              <a:pt x="105" y="5"/>
                            </a:lnTo>
                            <a:lnTo>
                              <a:pt x="81" y="0"/>
                            </a:lnTo>
                            <a:lnTo>
                              <a:pt x="57" y="3"/>
                            </a:lnTo>
                            <a:lnTo>
                              <a:pt x="38" y="13"/>
                            </a:lnTo>
                            <a:lnTo>
                              <a:pt x="18" y="32"/>
                            </a:lnTo>
                            <a:lnTo>
                              <a:pt x="0" y="59"/>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4" name="Freeform 306"/>
                      <p:cNvSpPr/>
                      <p:nvPr/>
                    </p:nvSpPr>
                    <p:spPr bwMode="auto">
                      <a:xfrm>
                        <a:off x="2632" y="3068"/>
                        <a:ext cx="25" cy="15"/>
                      </a:xfrm>
                      <a:custGeom>
                        <a:avLst/>
                        <a:gdLst>
                          <a:gd name="T0" fmla="*/ 0 w 177"/>
                          <a:gd name="T1" fmla="*/ 18 h 122"/>
                          <a:gd name="T2" fmla="*/ 2 w 177"/>
                          <a:gd name="T3" fmla="*/ 40 h 122"/>
                          <a:gd name="T4" fmla="*/ 8 w 177"/>
                          <a:gd name="T5" fmla="*/ 58 h 122"/>
                          <a:gd name="T6" fmla="*/ 16 w 177"/>
                          <a:gd name="T7" fmla="*/ 70 h 122"/>
                          <a:gd name="T8" fmla="*/ 31 w 177"/>
                          <a:gd name="T9" fmla="*/ 76 h 122"/>
                          <a:gd name="T10" fmla="*/ 91 w 177"/>
                          <a:gd name="T11" fmla="*/ 71 h 122"/>
                          <a:gd name="T12" fmla="*/ 116 w 177"/>
                          <a:gd name="T13" fmla="*/ 90 h 122"/>
                          <a:gd name="T14" fmla="*/ 145 w 177"/>
                          <a:gd name="T15" fmla="*/ 106 h 122"/>
                          <a:gd name="T16" fmla="*/ 177 w 177"/>
                          <a:gd name="T17" fmla="*/ 122 h 122"/>
                          <a:gd name="T18" fmla="*/ 154 w 177"/>
                          <a:gd name="T19" fmla="*/ 93 h 122"/>
                          <a:gd name="T20" fmla="*/ 129 w 177"/>
                          <a:gd name="T21" fmla="*/ 70 h 122"/>
                          <a:gd name="T22" fmla="*/ 104 w 177"/>
                          <a:gd name="T23" fmla="*/ 47 h 122"/>
                          <a:gd name="T24" fmla="*/ 73 w 177"/>
                          <a:gd name="T25" fmla="*/ 31 h 122"/>
                          <a:gd name="T26" fmla="*/ 51 w 177"/>
                          <a:gd name="T27" fmla="*/ 13 h 122"/>
                          <a:gd name="T28" fmla="*/ 35 w 177"/>
                          <a:gd name="T29" fmla="*/ 3 h 122"/>
                          <a:gd name="T30" fmla="*/ 18 w 177"/>
                          <a:gd name="T31" fmla="*/ 0 h 122"/>
                          <a:gd name="T32" fmla="*/ 5 w 177"/>
                          <a:gd name="T33" fmla="*/ 4 h 122"/>
                          <a:gd name="T34" fmla="*/ 0 w 177"/>
                          <a:gd name="T35" fmla="*/ 1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7" h="122">
                            <a:moveTo>
                              <a:pt x="0" y="18"/>
                            </a:moveTo>
                            <a:lnTo>
                              <a:pt x="2" y="40"/>
                            </a:lnTo>
                            <a:lnTo>
                              <a:pt x="8" y="58"/>
                            </a:lnTo>
                            <a:lnTo>
                              <a:pt x="16" y="70"/>
                            </a:lnTo>
                            <a:lnTo>
                              <a:pt x="31" y="76"/>
                            </a:lnTo>
                            <a:lnTo>
                              <a:pt x="91" y="71"/>
                            </a:lnTo>
                            <a:lnTo>
                              <a:pt x="116" y="90"/>
                            </a:lnTo>
                            <a:lnTo>
                              <a:pt x="145" y="106"/>
                            </a:lnTo>
                            <a:lnTo>
                              <a:pt x="177" y="122"/>
                            </a:lnTo>
                            <a:lnTo>
                              <a:pt x="154" y="93"/>
                            </a:lnTo>
                            <a:lnTo>
                              <a:pt x="129" y="70"/>
                            </a:lnTo>
                            <a:lnTo>
                              <a:pt x="104" y="47"/>
                            </a:lnTo>
                            <a:lnTo>
                              <a:pt x="73" y="31"/>
                            </a:lnTo>
                            <a:lnTo>
                              <a:pt x="51" y="13"/>
                            </a:lnTo>
                            <a:lnTo>
                              <a:pt x="35" y="3"/>
                            </a:lnTo>
                            <a:lnTo>
                              <a:pt x="18" y="0"/>
                            </a:lnTo>
                            <a:lnTo>
                              <a:pt x="5" y="4"/>
                            </a:lnTo>
                            <a:lnTo>
                              <a:pt x="0" y="1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5" name="Freeform 307"/>
                      <p:cNvSpPr/>
                      <p:nvPr/>
                    </p:nvSpPr>
                    <p:spPr bwMode="auto">
                      <a:xfrm>
                        <a:off x="2613" y="3113"/>
                        <a:ext cx="25" cy="17"/>
                      </a:xfrm>
                      <a:custGeom>
                        <a:avLst/>
                        <a:gdLst>
                          <a:gd name="T0" fmla="*/ 0 w 175"/>
                          <a:gd name="T1" fmla="*/ 5 h 130"/>
                          <a:gd name="T2" fmla="*/ 16 w 175"/>
                          <a:gd name="T3" fmla="*/ 6 h 130"/>
                          <a:gd name="T4" fmla="*/ 37 w 175"/>
                          <a:gd name="T5" fmla="*/ 10 h 130"/>
                          <a:gd name="T6" fmla="*/ 60 w 175"/>
                          <a:gd name="T7" fmla="*/ 17 h 130"/>
                          <a:gd name="T8" fmla="*/ 82 w 175"/>
                          <a:gd name="T9" fmla="*/ 28 h 130"/>
                          <a:gd name="T10" fmla="*/ 113 w 175"/>
                          <a:gd name="T11" fmla="*/ 41 h 130"/>
                          <a:gd name="T12" fmla="*/ 130 w 175"/>
                          <a:gd name="T13" fmla="*/ 51 h 130"/>
                          <a:gd name="T14" fmla="*/ 145 w 175"/>
                          <a:gd name="T15" fmla="*/ 66 h 130"/>
                          <a:gd name="T16" fmla="*/ 155 w 175"/>
                          <a:gd name="T17" fmla="*/ 80 h 130"/>
                          <a:gd name="T18" fmla="*/ 159 w 175"/>
                          <a:gd name="T19" fmla="*/ 98 h 130"/>
                          <a:gd name="T20" fmla="*/ 162 w 175"/>
                          <a:gd name="T21" fmla="*/ 120 h 130"/>
                          <a:gd name="T22" fmla="*/ 161 w 175"/>
                          <a:gd name="T23" fmla="*/ 130 h 130"/>
                          <a:gd name="T24" fmla="*/ 171 w 175"/>
                          <a:gd name="T25" fmla="*/ 117 h 130"/>
                          <a:gd name="T26" fmla="*/ 175 w 175"/>
                          <a:gd name="T27" fmla="*/ 97 h 130"/>
                          <a:gd name="T28" fmla="*/ 173 w 175"/>
                          <a:gd name="T29" fmla="*/ 78 h 130"/>
                          <a:gd name="T30" fmla="*/ 162 w 175"/>
                          <a:gd name="T31" fmla="*/ 60 h 130"/>
                          <a:gd name="T32" fmla="*/ 146 w 175"/>
                          <a:gd name="T33" fmla="*/ 42 h 130"/>
                          <a:gd name="T34" fmla="*/ 126 w 175"/>
                          <a:gd name="T35" fmla="*/ 27 h 130"/>
                          <a:gd name="T36" fmla="*/ 95 w 175"/>
                          <a:gd name="T37" fmla="*/ 12 h 130"/>
                          <a:gd name="T38" fmla="*/ 63 w 175"/>
                          <a:gd name="T39" fmla="*/ 3 h 130"/>
                          <a:gd name="T40" fmla="*/ 44 w 175"/>
                          <a:gd name="T41" fmla="*/ 1 h 130"/>
                          <a:gd name="T42" fmla="*/ 19 w 175"/>
                          <a:gd name="T43" fmla="*/ 0 h 130"/>
                          <a:gd name="T44" fmla="*/ 0 w 175"/>
                          <a:gd name="T45" fmla="*/ 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5" h="130">
                            <a:moveTo>
                              <a:pt x="0" y="5"/>
                            </a:moveTo>
                            <a:lnTo>
                              <a:pt x="16" y="6"/>
                            </a:lnTo>
                            <a:lnTo>
                              <a:pt x="37" y="10"/>
                            </a:lnTo>
                            <a:lnTo>
                              <a:pt x="60" y="17"/>
                            </a:lnTo>
                            <a:lnTo>
                              <a:pt x="82" y="28"/>
                            </a:lnTo>
                            <a:lnTo>
                              <a:pt x="113" y="41"/>
                            </a:lnTo>
                            <a:lnTo>
                              <a:pt x="130" y="51"/>
                            </a:lnTo>
                            <a:lnTo>
                              <a:pt x="145" y="66"/>
                            </a:lnTo>
                            <a:lnTo>
                              <a:pt x="155" y="80"/>
                            </a:lnTo>
                            <a:lnTo>
                              <a:pt x="159" y="98"/>
                            </a:lnTo>
                            <a:lnTo>
                              <a:pt x="162" y="120"/>
                            </a:lnTo>
                            <a:lnTo>
                              <a:pt x="161" y="130"/>
                            </a:lnTo>
                            <a:lnTo>
                              <a:pt x="171" y="117"/>
                            </a:lnTo>
                            <a:lnTo>
                              <a:pt x="175" y="97"/>
                            </a:lnTo>
                            <a:lnTo>
                              <a:pt x="173" y="78"/>
                            </a:lnTo>
                            <a:lnTo>
                              <a:pt x="162" y="60"/>
                            </a:lnTo>
                            <a:lnTo>
                              <a:pt x="146" y="42"/>
                            </a:lnTo>
                            <a:lnTo>
                              <a:pt x="126" y="27"/>
                            </a:lnTo>
                            <a:lnTo>
                              <a:pt x="95" y="12"/>
                            </a:lnTo>
                            <a:lnTo>
                              <a:pt x="63" y="3"/>
                            </a:lnTo>
                            <a:lnTo>
                              <a:pt x="44" y="1"/>
                            </a:lnTo>
                            <a:lnTo>
                              <a:pt x="19" y="0"/>
                            </a:lnTo>
                            <a:lnTo>
                              <a:pt x="0" y="5"/>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6" name="Freeform 308"/>
                      <p:cNvSpPr/>
                      <p:nvPr/>
                    </p:nvSpPr>
                    <p:spPr bwMode="auto">
                      <a:xfrm>
                        <a:off x="2653" y="3019"/>
                        <a:ext cx="27" cy="33"/>
                      </a:xfrm>
                      <a:custGeom>
                        <a:avLst/>
                        <a:gdLst>
                          <a:gd name="T0" fmla="*/ 0 w 187"/>
                          <a:gd name="T1" fmla="*/ 0 h 264"/>
                          <a:gd name="T2" fmla="*/ 42 w 187"/>
                          <a:gd name="T3" fmla="*/ 41 h 264"/>
                          <a:gd name="T4" fmla="*/ 76 w 187"/>
                          <a:gd name="T5" fmla="*/ 92 h 264"/>
                          <a:gd name="T6" fmla="*/ 109 w 187"/>
                          <a:gd name="T7" fmla="*/ 155 h 264"/>
                          <a:gd name="T8" fmla="*/ 187 w 187"/>
                          <a:gd name="T9" fmla="*/ 259 h 264"/>
                          <a:gd name="T10" fmla="*/ 186 w 187"/>
                          <a:gd name="T11" fmla="*/ 264 h 264"/>
                          <a:gd name="T12" fmla="*/ 142 w 187"/>
                          <a:gd name="T13" fmla="*/ 224 h 264"/>
                          <a:gd name="T14" fmla="*/ 111 w 187"/>
                          <a:gd name="T15" fmla="*/ 191 h 264"/>
                          <a:gd name="T16" fmla="*/ 75 w 187"/>
                          <a:gd name="T17" fmla="*/ 151 h 264"/>
                          <a:gd name="T18" fmla="*/ 42 w 187"/>
                          <a:gd name="T19" fmla="*/ 97 h 264"/>
                          <a:gd name="T20" fmla="*/ 22 w 187"/>
                          <a:gd name="T21" fmla="*/ 51 h 264"/>
                          <a:gd name="T22" fmla="*/ 0 w 187"/>
                          <a:gd name="T23" fmla="*/ 0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 h="264">
                            <a:moveTo>
                              <a:pt x="0" y="0"/>
                            </a:moveTo>
                            <a:lnTo>
                              <a:pt x="42" y="41"/>
                            </a:lnTo>
                            <a:lnTo>
                              <a:pt x="76" y="92"/>
                            </a:lnTo>
                            <a:lnTo>
                              <a:pt x="109" y="155"/>
                            </a:lnTo>
                            <a:lnTo>
                              <a:pt x="187" y="259"/>
                            </a:lnTo>
                            <a:lnTo>
                              <a:pt x="186" y="264"/>
                            </a:lnTo>
                            <a:lnTo>
                              <a:pt x="142" y="224"/>
                            </a:lnTo>
                            <a:lnTo>
                              <a:pt x="111" y="191"/>
                            </a:lnTo>
                            <a:lnTo>
                              <a:pt x="75" y="151"/>
                            </a:lnTo>
                            <a:lnTo>
                              <a:pt x="42" y="97"/>
                            </a:lnTo>
                            <a:lnTo>
                              <a:pt x="22" y="51"/>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7" name="Freeform 309"/>
                      <p:cNvSpPr/>
                      <p:nvPr/>
                    </p:nvSpPr>
                    <p:spPr bwMode="auto">
                      <a:xfrm>
                        <a:off x="2624" y="3096"/>
                        <a:ext cx="27" cy="20"/>
                      </a:xfrm>
                      <a:custGeom>
                        <a:avLst/>
                        <a:gdLst>
                          <a:gd name="T0" fmla="*/ 194 w 194"/>
                          <a:gd name="T1" fmla="*/ 95 h 156"/>
                          <a:gd name="T2" fmla="*/ 163 w 194"/>
                          <a:gd name="T3" fmla="*/ 57 h 156"/>
                          <a:gd name="T4" fmla="*/ 141 w 194"/>
                          <a:gd name="T5" fmla="*/ 38 h 156"/>
                          <a:gd name="T6" fmla="*/ 107 w 194"/>
                          <a:gd name="T7" fmla="*/ 19 h 156"/>
                          <a:gd name="T8" fmla="*/ 78 w 194"/>
                          <a:gd name="T9" fmla="*/ 7 h 156"/>
                          <a:gd name="T10" fmla="*/ 44 w 194"/>
                          <a:gd name="T11" fmla="*/ 2 h 156"/>
                          <a:gd name="T12" fmla="*/ 21 w 194"/>
                          <a:gd name="T13" fmla="*/ 0 h 156"/>
                          <a:gd name="T14" fmla="*/ 8 w 194"/>
                          <a:gd name="T15" fmla="*/ 2 h 156"/>
                          <a:gd name="T16" fmla="*/ 0 w 194"/>
                          <a:gd name="T17" fmla="*/ 7 h 156"/>
                          <a:gd name="T18" fmla="*/ 2 w 194"/>
                          <a:gd name="T19" fmla="*/ 17 h 156"/>
                          <a:gd name="T20" fmla="*/ 13 w 194"/>
                          <a:gd name="T21" fmla="*/ 26 h 156"/>
                          <a:gd name="T22" fmla="*/ 44 w 194"/>
                          <a:gd name="T23" fmla="*/ 41 h 156"/>
                          <a:gd name="T24" fmla="*/ 74 w 194"/>
                          <a:gd name="T25" fmla="*/ 60 h 156"/>
                          <a:gd name="T26" fmla="*/ 110 w 194"/>
                          <a:gd name="T27" fmla="*/ 85 h 156"/>
                          <a:gd name="T28" fmla="*/ 135 w 194"/>
                          <a:gd name="T29" fmla="*/ 109 h 156"/>
                          <a:gd name="T30" fmla="*/ 154 w 194"/>
                          <a:gd name="T31" fmla="*/ 133 h 156"/>
                          <a:gd name="T32" fmla="*/ 171 w 194"/>
                          <a:gd name="T33" fmla="*/ 156 h 156"/>
                          <a:gd name="T34" fmla="*/ 180 w 194"/>
                          <a:gd name="T35" fmla="*/ 143 h 156"/>
                          <a:gd name="T36" fmla="*/ 189 w 194"/>
                          <a:gd name="T37" fmla="*/ 135 h 156"/>
                          <a:gd name="T38" fmla="*/ 193 w 194"/>
                          <a:gd name="T39" fmla="*/ 121 h 156"/>
                          <a:gd name="T40" fmla="*/ 194 w 194"/>
                          <a:gd name="T41" fmla="*/ 110 h 156"/>
                          <a:gd name="T42" fmla="*/ 194 w 194"/>
                          <a:gd name="T43" fmla="*/ 9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4" h="156">
                            <a:moveTo>
                              <a:pt x="194" y="95"/>
                            </a:moveTo>
                            <a:lnTo>
                              <a:pt x="163" y="57"/>
                            </a:lnTo>
                            <a:lnTo>
                              <a:pt x="141" y="38"/>
                            </a:lnTo>
                            <a:lnTo>
                              <a:pt x="107" y="19"/>
                            </a:lnTo>
                            <a:lnTo>
                              <a:pt x="78" y="7"/>
                            </a:lnTo>
                            <a:lnTo>
                              <a:pt x="44" y="2"/>
                            </a:lnTo>
                            <a:lnTo>
                              <a:pt x="21" y="0"/>
                            </a:lnTo>
                            <a:lnTo>
                              <a:pt x="8" y="2"/>
                            </a:lnTo>
                            <a:lnTo>
                              <a:pt x="0" y="7"/>
                            </a:lnTo>
                            <a:lnTo>
                              <a:pt x="2" y="17"/>
                            </a:lnTo>
                            <a:lnTo>
                              <a:pt x="13" y="26"/>
                            </a:lnTo>
                            <a:lnTo>
                              <a:pt x="44" y="41"/>
                            </a:lnTo>
                            <a:lnTo>
                              <a:pt x="74" y="60"/>
                            </a:lnTo>
                            <a:lnTo>
                              <a:pt x="110" y="85"/>
                            </a:lnTo>
                            <a:lnTo>
                              <a:pt x="135" y="109"/>
                            </a:lnTo>
                            <a:lnTo>
                              <a:pt x="154" y="133"/>
                            </a:lnTo>
                            <a:lnTo>
                              <a:pt x="171" y="156"/>
                            </a:lnTo>
                            <a:lnTo>
                              <a:pt x="180" y="143"/>
                            </a:lnTo>
                            <a:lnTo>
                              <a:pt x="189" y="135"/>
                            </a:lnTo>
                            <a:lnTo>
                              <a:pt x="193" y="121"/>
                            </a:lnTo>
                            <a:lnTo>
                              <a:pt x="194" y="110"/>
                            </a:lnTo>
                            <a:lnTo>
                              <a:pt x="194" y="95"/>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8" name="Freeform 310"/>
                      <p:cNvSpPr/>
                      <p:nvPr/>
                    </p:nvSpPr>
                    <p:spPr bwMode="auto">
                      <a:xfrm>
                        <a:off x="2630" y="3088"/>
                        <a:ext cx="30" cy="15"/>
                      </a:xfrm>
                      <a:custGeom>
                        <a:avLst/>
                        <a:gdLst>
                          <a:gd name="T0" fmla="*/ 0 w 215"/>
                          <a:gd name="T1" fmla="*/ 38 h 120"/>
                          <a:gd name="T2" fmla="*/ 25 w 215"/>
                          <a:gd name="T3" fmla="*/ 33 h 120"/>
                          <a:gd name="T4" fmla="*/ 49 w 215"/>
                          <a:gd name="T5" fmla="*/ 38 h 120"/>
                          <a:gd name="T6" fmla="*/ 76 w 215"/>
                          <a:gd name="T7" fmla="*/ 45 h 120"/>
                          <a:gd name="T8" fmla="*/ 99 w 215"/>
                          <a:gd name="T9" fmla="*/ 56 h 120"/>
                          <a:gd name="T10" fmla="*/ 122 w 215"/>
                          <a:gd name="T11" fmla="*/ 66 h 120"/>
                          <a:gd name="T12" fmla="*/ 146 w 215"/>
                          <a:gd name="T13" fmla="*/ 85 h 120"/>
                          <a:gd name="T14" fmla="*/ 154 w 215"/>
                          <a:gd name="T15" fmla="*/ 98 h 120"/>
                          <a:gd name="T16" fmla="*/ 169 w 215"/>
                          <a:gd name="T17" fmla="*/ 109 h 120"/>
                          <a:gd name="T18" fmla="*/ 183 w 215"/>
                          <a:gd name="T19" fmla="*/ 117 h 120"/>
                          <a:gd name="T20" fmla="*/ 197 w 215"/>
                          <a:gd name="T21" fmla="*/ 120 h 120"/>
                          <a:gd name="T22" fmla="*/ 207 w 215"/>
                          <a:gd name="T23" fmla="*/ 103 h 120"/>
                          <a:gd name="T24" fmla="*/ 212 w 215"/>
                          <a:gd name="T25" fmla="*/ 88 h 120"/>
                          <a:gd name="T26" fmla="*/ 215 w 215"/>
                          <a:gd name="T27" fmla="*/ 71 h 120"/>
                          <a:gd name="T28" fmla="*/ 160 w 215"/>
                          <a:gd name="T29" fmla="*/ 32 h 120"/>
                          <a:gd name="T30" fmla="*/ 131 w 215"/>
                          <a:gd name="T31" fmla="*/ 16 h 120"/>
                          <a:gd name="T32" fmla="*/ 99 w 215"/>
                          <a:gd name="T33" fmla="*/ 4 h 120"/>
                          <a:gd name="T34" fmla="*/ 73 w 215"/>
                          <a:gd name="T35" fmla="*/ 0 h 120"/>
                          <a:gd name="T36" fmla="*/ 56 w 215"/>
                          <a:gd name="T37" fmla="*/ 2 h 120"/>
                          <a:gd name="T38" fmla="*/ 37 w 215"/>
                          <a:gd name="T39" fmla="*/ 9 h 120"/>
                          <a:gd name="T40" fmla="*/ 20 w 215"/>
                          <a:gd name="T41" fmla="*/ 22 h 120"/>
                          <a:gd name="T42" fmla="*/ 0 w 215"/>
                          <a:gd name="T43" fmla="*/ 3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5" h="120">
                            <a:moveTo>
                              <a:pt x="0" y="38"/>
                            </a:moveTo>
                            <a:lnTo>
                              <a:pt x="25" y="33"/>
                            </a:lnTo>
                            <a:lnTo>
                              <a:pt x="49" y="38"/>
                            </a:lnTo>
                            <a:lnTo>
                              <a:pt x="76" y="45"/>
                            </a:lnTo>
                            <a:lnTo>
                              <a:pt x="99" y="56"/>
                            </a:lnTo>
                            <a:lnTo>
                              <a:pt x="122" y="66"/>
                            </a:lnTo>
                            <a:lnTo>
                              <a:pt x="146" y="85"/>
                            </a:lnTo>
                            <a:lnTo>
                              <a:pt x="154" y="98"/>
                            </a:lnTo>
                            <a:lnTo>
                              <a:pt x="169" y="109"/>
                            </a:lnTo>
                            <a:lnTo>
                              <a:pt x="183" y="117"/>
                            </a:lnTo>
                            <a:lnTo>
                              <a:pt x="197" y="120"/>
                            </a:lnTo>
                            <a:lnTo>
                              <a:pt x="207" y="103"/>
                            </a:lnTo>
                            <a:lnTo>
                              <a:pt x="212" y="88"/>
                            </a:lnTo>
                            <a:lnTo>
                              <a:pt x="215" y="71"/>
                            </a:lnTo>
                            <a:lnTo>
                              <a:pt x="160" y="32"/>
                            </a:lnTo>
                            <a:lnTo>
                              <a:pt x="131" y="16"/>
                            </a:lnTo>
                            <a:lnTo>
                              <a:pt x="99" y="4"/>
                            </a:lnTo>
                            <a:lnTo>
                              <a:pt x="73" y="0"/>
                            </a:lnTo>
                            <a:lnTo>
                              <a:pt x="56" y="2"/>
                            </a:lnTo>
                            <a:lnTo>
                              <a:pt x="37" y="9"/>
                            </a:lnTo>
                            <a:lnTo>
                              <a:pt x="20" y="22"/>
                            </a:lnTo>
                            <a:lnTo>
                              <a:pt x="0" y="38"/>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9" name="Freeform 311"/>
                      <p:cNvSpPr/>
                      <p:nvPr/>
                    </p:nvSpPr>
                    <p:spPr bwMode="auto">
                      <a:xfrm>
                        <a:off x="2628" y="3067"/>
                        <a:ext cx="37" cy="29"/>
                      </a:xfrm>
                      <a:custGeom>
                        <a:avLst/>
                        <a:gdLst>
                          <a:gd name="T0" fmla="*/ 0 w 263"/>
                          <a:gd name="T1" fmla="*/ 129 h 234"/>
                          <a:gd name="T2" fmla="*/ 27 w 263"/>
                          <a:gd name="T3" fmla="*/ 126 h 234"/>
                          <a:gd name="T4" fmla="*/ 50 w 263"/>
                          <a:gd name="T5" fmla="*/ 128 h 234"/>
                          <a:gd name="T6" fmla="*/ 85 w 263"/>
                          <a:gd name="T7" fmla="*/ 132 h 234"/>
                          <a:gd name="T8" fmla="*/ 118 w 263"/>
                          <a:gd name="T9" fmla="*/ 142 h 234"/>
                          <a:gd name="T10" fmla="*/ 152 w 263"/>
                          <a:gd name="T11" fmla="*/ 155 h 234"/>
                          <a:gd name="T12" fmla="*/ 185 w 263"/>
                          <a:gd name="T13" fmla="*/ 173 h 234"/>
                          <a:gd name="T14" fmla="*/ 211 w 263"/>
                          <a:gd name="T15" fmla="*/ 189 h 234"/>
                          <a:gd name="T16" fmla="*/ 232 w 263"/>
                          <a:gd name="T17" fmla="*/ 210 h 234"/>
                          <a:gd name="T18" fmla="*/ 245 w 263"/>
                          <a:gd name="T19" fmla="*/ 234 h 234"/>
                          <a:gd name="T20" fmla="*/ 256 w 263"/>
                          <a:gd name="T21" fmla="*/ 203 h 234"/>
                          <a:gd name="T22" fmla="*/ 263 w 263"/>
                          <a:gd name="T23" fmla="*/ 175 h 234"/>
                          <a:gd name="T24" fmla="*/ 262 w 263"/>
                          <a:gd name="T25" fmla="*/ 154 h 234"/>
                          <a:gd name="T26" fmla="*/ 257 w 263"/>
                          <a:gd name="T27" fmla="*/ 135 h 234"/>
                          <a:gd name="T28" fmla="*/ 245 w 263"/>
                          <a:gd name="T29" fmla="*/ 116 h 234"/>
                          <a:gd name="T30" fmla="*/ 251 w 263"/>
                          <a:gd name="T31" fmla="*/ 96 h 234"/>
                          <a:gd name="T32" fmla="*/ 248 w 263"/>
                          <a:gd name="T33" fmla="*/ 74 h 234"/>
                          <a:gd name="T34" fmla="*/ 223 w 263"/>
                          <a:gd name="T35" fmla="*/ 61 h 234"/>
                          <a:gd name="T36" fmla="*/ 192 w 263"/>
                          <a:gd name="T37" fmla="*/ 53 h 234"/>
                          <a:gd name="T38" fmla="*/ 159 w 263"/>
                          <a:gd name="T39" fmla="*/ 43 h 234"/>
                          <a:gd name="T40" fmla="*/ 129 w 263"/>
                          <a:gd name="T41" fmla="*/ 30 h 234"/>
                          <a:gd name="T42" fmla="*/ 94 w 263"/>
                          <a:gd name="T43" fmla="*/ 13 h 234"/>
                          <a:gd name="T44" fmla="*/ 72 w 263"/>
                          <a:gd name="T45" fmla="*/ 4 h 234"/>
                          <a:gd name="T46" fmla="*/ 58 w 263"/>
                          <a:gd name="T47" fmla="*/ 0 h 234"/>
                          <a:gd name="T48" fmla="*/ 47 w 263"/>
                          <a:gd name="T49" fmla="*/ 4 h 234"/>
                          <a:gd name="T50" fmla="*/ 39 w 263"/>
                          <a:gd name="T51" fmla="*/ 12 h 234"/>
                          <a:gd name="T52" fmla="*/ 36 w 263"/>
                          <a:gd name="T53" fmla="*/ 23 h 234"/>
                          <a:gd name="T54" fmla="*/ 36 w 263"/>
                          <a:gd name="T55" fmla="*/ 35 h 234"/>
                          <a:gd name="T56" fmla="*/ 42 w 263"/>
                          <a:gd name="T57" fmla="*/ 47 h 234"/>
                          <a:gd name="T58" fmla="*/ 65 w 263"/>
                          <a:gd name="T59" fmla="*/ 55 h 234"/>
                          <a:gd name="T60" fmla="*/ 95 w 263"/>
                          <a:gd name="T61" fmla="*/ 61 h 234"/>
                          <a:gd name="T62" fmla="*/ 144 w 263"/>
                          <a:gd name="T63" fmla="*/ 73 h 234"/>
                          <a:gd name="T64" fmla="*/ 175 w 263"/>
                          <a:gd name="T65" fmla="*/ 79 h 234"/>
                          <a:gd name="T66" fmla="*/ 215 w 263"/>
                          <a:gd name="T67" fmla="*/ 85 h 234"/>
                          <a:gd name="T68" fmla="*/ 179 w 263"/>
                          <a:gd name="T69" fmla="*/ 87 h 234"/>
                          <a:gd name="T70" fmla="*/ 141 w 263"/>
                          <a:gd name="T71" fmla="*/ 90 h 234"/>
                          <a:gd name="T72" fmla="*/ 104 w 263"/>
                          <a:gd name="T73" fmla="*/ 96 h 234"/>
                          <a:gd name="T74" fmla="*/ 74 w 263"/>
                          <a:gd name="T75" fmla="*/ 103 h 234"/>
                          <a:gd name="T76" fmla="*/ 37 w 263"/>
                          <a:gd name="T77" fmla="*/ 113 h 234"/>
                          <a:gd name="T78" fmla="*/ 0 w 263"/>
                          <a:gd name="T79" fmla="*/ 12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3" h="234">
                            <a:moveTo>
                              <a:pt x="0" y="129"/>
                            </a:moveTo>
                            <a:lnTo>
                              <a:pt x="27" y="126"/>
                            </a:lnTo>
                            <a:lnTo>
                              <a:pt x="50" y="128"/>
                            </a:lnTo>
                            <a:lnTo>
                              <a:pt x="85" y="132"/>
                            </a:lnTo>
                            <a:lnTo>
                              <a:pt x="118" y="142"/>
                            </a:lnTo>
                            <a:lnTo>
                              <a:pt x="152" y="155"/>
                            </a:lnTo>
                            <a:lnTo>
                              <a:pt x="185" y="173"/>
                            </a:lnTo>
                            <a:lnTo>
                              <a:pt x="211" y="189"/>
                            </a:lnTo>
                            <a:lnTo>
                              <a:pt x="232" y="210"/>
                            </a:lnTo>
                            <a:lnTo>
                              <a:pt x="245" y="234"/>
                            </a:lnTo>
                            <a:lnTo>
                              <a:pt x="256" y="203"/>
                            </a:lnTo>
                            <a:lnTo>
                              <a:pt x="263" y="175"/>
                            </a:lnTo>
                            <a:lnTo>
                              <a:pt x="262" y="154"/>
                            </a:lnTo>
                            <a:lnTo>
                              <a:pt x="257" y="135"/>
                            </a:lnTo>
                            <a:lnTo>
                              <a:pt x="245" y="116"/>
                            </a:lnTo>
                            <a:lnTo>
                              <a:pt x="251" y="96"/>
                            </a:lnTo>
                            <a:lnTo>
                              <a:pt x="248" y="74"/>
                            </a:lnTo>
                            <a:lnTo>
                              <a:pt x="223" y="61"/>
                            </a:lnTo>
                            <a:lnTo>
                              <a:pt x="192" y="53"/>
                            </a:lnTo>
                            <a:lnTo>
                              <a:pt x="159" y="43"/>
                            </a:lnTo>
                            <a:lnTo>
                              <a:pt x="129" y="30"/>
                            </a:lnTo>
                            <a:lnTo>
                              <a:pt x="94" y="13"/>
                            </a:lnTo>
                            <a:lnTo>
                              <a:pt x="72" y="4"/>
                            </a:lnTo>
                            <a:lnTo>
                              <a:pt x="58" y="0"/>
                            </a:lnTo>
                            <a:lnTo>
                              <a:pt x="47" y="4"/>
                            </a:lnTo>
                            <a:lnTo>
                              <a:pt x="39" y="12"/>
                            </a:lnTo>
                            <a:lnTo>
                              <a:pt x="36" y="23"/>
                            </a:lnTo>
                            <a:lnTo>
                              <a:pt x="36" y="35"/>
                            </a:lnTo>
                            <a:lnTo>
                              <a:pt x="42" y="47"/>
                            </a:lnTo>
                            <a:lnTo>
                              <a:pt x="65" y="55"/>
                            </a:lnTo>
                            <a:lnTo>
                              <a:pt x="95" y="61"/>
                            </a:lnTo>
                            <a:lnTo>
                              <a:pt x="144" y="73"/>
                            </a:lnTo>
                            <a:lnTo>
                              <a:pt x="175" y="79"/>
                            </a:lnTo>
                            <a:lnTo>
                              <a:pt x="215" y="85"/>
                            </a:lnTo>
                            <a:lnTo>
                              <a:pt x="179" y="87"/>
                            </a:lnTo>
                            <a:lnTo>
                              <a:pt x="141" y="90"/>
                            </a:lnTo>
                            <a:lnTo>
                              <a:pt x="104" y="96"/>
                            </a:lnTo>
                            <a:lnTo>
                              <a:pt x="74" y="103"/>
                            </a:lnTo>
                            <a:lnTo>
                              <a:pt x="37" y="113"/>
                            </a:lnTo>
                            <a:lnTo>
                              <a:pt x="0" y="12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sp>
              <p:nvSpPr>
                <p:cNvPr id="642360" name="Freeform 312"/>
                <p:cNvSpPr/>
                <p:nvPr/>
              </p:nvSpPr>
              <p:spPr bwMode="auto">
                <a:xfrm>
                  <a:off x="2674" y="3008"/>
                  <a:ext cx="46" cy="44"/>
                </a:xfrm>
                <a:custGeom>
                  <a:avLst/>
                  <a:gdLst>
                    <a:gd name="T0" fmla="*/ 0 w 320"/>
                    <a:gd name="T1" fmla="*/ 120 h 352"/>
                    <a:gd name="T2" fmla="*/ 5 w 320"/>
                    <a:gd name="T3" fmla="*/ 80 h 352"/>
                    <a:gd name="T4" fmla="*/ 13 w 320"/>
                    <a:gd name="T5" fmla="*/ 54 h 352"/>
                    <a:gd name="T6" fmla="*/ 61 w 320"/>
                    <a:gd name="T7" fmla="*/ 0 h 352"/>
                    <a:gd name="T8" fmla="*/ 200 w 320"/>
                    <a:gd name="T9" fmla="*/ 116 h 352"/>
                    <a:gd name="T10" fmla="*/ 230 w 320"/>
                    <a:gd name="T11" fmla="*/ 159 h 352"/>
                    <a:gd name="T12" fmla="*/ 254 w 320"/>
                    <a:gd name="T13" fmla="*/ 200 h 352"/>
                    <a:gd name="T14" fmla="*/ 314 w 320"/>
                    <a:gd name="T15" fmla="*/ 249 h 352"/>
                    <a:gd name="T16" fmla="*/ 320 w 320"/>
                    <a:gd name="T17" fmla="*/ 352 h 352"/>
                    <a:gd name="T18" fmla="*/ 290 w 320"/>
                    <a:gd name="T19" fmla="*/ 343 h 352"/>
                    <a:gd name="T20" fmla="*/ 265 w 320"/>
                    <a:gd name="T21" fmla="*/ 330 h 352"/>
                    <a:gd name="T22" fmla="*/ 242 w 320"/>
                    <a:gd name="T23" fmla="*/ 314 h 352"/>
                    <a:gd name="T24" fmla="*/ 222 w 320"/>
                    <a:gd name="T25" fmla="*/ 292 h 352"/>
                    <a:gd name="T26" fmla="*/ 206 w 320"/>
                    <a:gd name="T27" fmla="*/ 267 h 352"/>
                    <a:gd name="T28" fmla="*/ 189 w 320"/>
                    <a:gd name="T29" fmla="*/ 234 h 352"/>
                    <a:gd name="T30" fmla="*/ 175 w 320"/>
                    <a:gd name="T31" fmla="*/ 201 h 352"/>
                    <a:gd name="T32" fmla="*/ 162 w 320"/>
                    <a:gd name="T33" fmla="*/ 157 h 352"/>
                    <a:gd name="T34" fmla="*/ 151 w 320"/>
                    <a:gd name="T35" fmla="*/ 116 h 352"/>
                    <a:gd name="T36" fmla="*/ 71 w 320"/>
                    <a:gd name="T37" fmla="*/ 108 h 352"/>
                    <a:gd name="T38" fmla="*/ 14 w 320"/>
                    <a:gd name="T39" fmla="*/ 111 h 352"/>
                    <a:gd name="T40" fmla="*/ 0 w 320"/>
                    <a:gd name="T41" fmla="*/ 12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52">
                      <a:moveTo>
                        <a:pt x="0" y="120"/>
                      </a:moveTo>
                      <a:lnTo>
                        <a:pt x="5" y="80"/>
                      </a:lnTo>
                      <a:lnTo>
                        <a:pt x="13" y="54"/>
                      </a:lnTo>
                      <a:lnTo>
                        <a:pt x="61" y="0"/>
                      </a:lnTo>
                      <a:lnTo>
                        <a:pt x="200" y="116"/>
                      </a:lnTo>
                      <a:lnTo>
                        <a:pt x="230" y="159"/>
                      </a:lnTo>
                      <a:lnTo>
                        <a:pt x="254" y="200"/>
                      </a:lnTo>
                      <a:lnTo>
                        <a:pt x="314" y="249"/>
                      </a:lnTo>
                      <a:lnTo>
                        <a:pt x="320" y="352"/>
                      </a:lnTo>
                      <a:lnTo>
                        <a:pt x="290" y="343"/>
                      </a:lnTo>
                      <a:lnTo>
                        <a:pt x="265" y="330"/>
                      </a:lnTo>
                      <a:lnTo>
                        <a:pt x="242" y="314"/>
                      </a:lnTo>
                      <a:lnTo>
                        <a:pt x="222" y="292"/>
                      </a:lnTo>
                      <a:lnTo>
                        <a:pt x="206" y="267"/>
                      </a:lnTo>
                      <a:lnTo>
                        <a:pt x="189" y="234"/>
                      </a:lnTo>
                      <a:lnTo>
                        <a:pt x="175" y="201"/>
                      </a:lnTo>
                      <a:lnTo>
                        <a:pt x="162" y="157"/>
                      </a:lnTo>
                      <a:lnTo>
                        <a:pt x="151" y="116"/>
                      </a:lnTo>
                      <a:lnTo>
                        <a:pt x="71" y="108"/>
                      </a:lnTo>
                      <a:lnTo>
                        <a:pt x="14" y="111"/>
                      </a:lnTo>
                      <a:lnTo>
                        <a:pt x="0" y="12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61" name="Group 313"/>
              <p:cNvGrpSpPr/>
              <p:nvPr/>
            </p:nvGrpSpPr>
            <p:grpSpPr bwMode="auto">
              <a:xfrm>
                <a:off x="2686" y="2984"/>
                <a:ext cx="60" cy="54"/>
                <a:chOff x="2686" y="2984"/>
                <a:chExt cx="60" cy="54"/>
              </a:xfrm>
            </p:grpSpPr>
            <p:sp>
              <p:nvSpPr>
                <p:cNvPr id="642362" name="Freeform 314"/>
                <p:cNvSpPr/>
                <p:nvPr/>
              </p:nvSpPr>
              <p:spPr bwMode="auto">
                <a:xfrm>
                  <a:off x="2686" y="2984"/>
                  <a:ext cx="60" cy="53"/>
                </a:xfrm>
                <a:custGeom>
                  <a:avLst/>
                  <a:gdLst>
                    <a:gd name="T0" fmla="*/ 221 w 423"/>
                    <a:gd name="T1" fmla="*/ 425 h 425"/>
                    <a:gd name="T2" fmla="*/ 180 w 423"/>
                    <a:gd name="T3" fmla="*/ 402 h 425"/>
                    <a:gd name="T4" fmla="*/ 150 w 423"/>
                    <a:gd name="T5" fmla="*/ 359 h 425"/>
                    <a:gd name="T6" fmla="*/ 138 w 423"/>
                    <a:gd name="T7" fmla="*/ 329 h 425"/>
                    <a:gd name="T8" fmla="*/ 120 w 423"/>
                    <a:gd name="T9" fmla="*/ 328 h 425"/>
                    <a:gd name="T10" fmla="*/ 97 w 423"/>
                    <a:gd name="T11" fmla="*/ 323 h 425"/>
                    <a:gd name="T12" fmla="*/ 57 w 423"/>
                    <a:gd name="T13" fmla="*/ 308 h 425"/>
                    <a:gd name="T14" fmla="*/ 29 w 423"/>
                    <a:gd name="T15" fmla="*/ 289 h 425"/>
                    <a:gd name="T16" fmla="*/ 0 w 423"/>
                    <a:gd name="T17" fmla="*/ 268 h 425"/>
                    <a:gd name="T18" fmla="*/ 12 w 423"/>
                    <a:gd name="T19" fmla="*/ 260 h 425"/>
                    <a:gd name="T20" fmla="*/ 42 w 423"/>
                    <a:gd name="T21" fmla="*/ 225 h 425"/>
                    <a:gd name="T22" fmla="*/ 68 w 423"/>
                    <a:gd name="T23" fmla="*/ 193 h 425"/>
                    <a:gd name="T24" fmla="*/ 96 w 423"/>
                    <a:gd name="T25" fmla="*/ 154 h 425"/>
                    <a:gd name="T26" fmla="*/ 126 w 423"/>
                    <a:gd name="T27" fmla="*/ 109 h 425"/>
                    <a:gd name="T28" fmla="*/ 141 w 423"/>
                    <a:gd name="T29" fmla="*/ 72 h 425"/>
                    <a:gd name="T30" fmla="*/ 157 w 423"/>
                    <a:gd name="T31" fmla="*/ 0 h 425"/>
                    <a:gd name="T32" fmla="*/ 423 w 423"/>
                    <a:gd name="T33" fmla="*/ 43 h 425"/>
                    <a:gd name="T34" fmla="*/ 221 w 423"/>
                    <a:gd name="T35"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3" h="425">
                      <a:moveTo>
                        <a:pt x="221" y="425"/>
                      </a:moveTo>
                      <a:lnTo>
                        <a:pt x="180" y="402"/>
                      </a:lnTo>
                      <a:lnTo>
                        <a:pt x="150" y="359"/>
                      </a:lnTo>
                      <a:lnTo>
                        <a:pt x="138" y="329"/>
                      </a:lnTo>
                      <a:lnTo>
                        <a:pt x="120" y="328"/>
                      </a:lnTo>
                      <a:lnTo>
                        <a:pt x="97" y="323"/>
                      </a:lnTo>
                      <a:lnTo>
                        <a:pt x="57" y="308"/>
                      </a:lnTo>
                      <a:lnTo>
                        <a:pt x="29" y="289"/>
                      </a:lnTo>
                      <a:lnTo>
                        <a:pt x="0" y="268"/>
                      </a:lnTo>
                      <a:lnTo>
                        <a:pt x="12" y="260"/>
                      </a:lnTo>
                      <a:lnTo>
                        <a:pt x="42" y="225"/>
                      </a:lnTo>
                      <a:lnTo>
                        <a:pt x="68" y="193"/>
                      </a:lnTo>
                      <a:lnTo>
                        <a:pt x="96" y="154"/>
                      </a:lnTo>
                      <a:lnTo>
                        <a:pt x="126" y="109"/>
                      </a:lnTo>
                      <a:lnTo>
                        <a:pt x="141" y="72"/>
                      </a:lnTo>
                      <a:lnTo>
                        <a:pt x="157" y="0"/>
                      </a:lnTo>
                      <a:lnTo>
                        <a:pt x="423" y="43"/>
                      </a:lnTo>
                      <a:lnTo>
                        <a:pt x="221" y="42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3" name="Freeform 315"/>
                <p:cNvSpPr/>
                <p:nvPr/>
              </p:nvSpPr>
              <p:spPr bwMode="auto">
                <a:xfrm>
                  <a:off x="2700" y="3002"/>
                  <a:ext cx="22" cy="36"/>
                </a:xfrm>
                <a:custGeom>
                  <a:avLst/>
                  <a:gdLst>
                    <a:gd name="T0" fmla="*/ 119 w 160"/>
                    <a:gd name="T1" fmla="*/ 281 h 289"/>
                    <a:gd name="T2" fmla="*/ 137 w 160"/>
                    <a:gd name="T3" fmla="*/ 289 h 289"/>
                    <a:gd name="T4" fmla="*/ 122 w 160"/>
                    <a:gd name="T5" fmla="*/ 262 h 289"/>
                    <a:gd name="T6" fmla="*/ 117 w 160"/>
                    <a:gd name="T7" fmla="*/ 241 h 289"/>
                    <a:gd name="T8" fmla="*/ 114 w 160"/>
                    <a:gd name="T9" fmla="*/ 211 h 289"/>
                    <a:gd name="T10" fmla="*/ 117 w 160"/>
                    <a:gd name="T11" fmla="*/ 179 h 289"/>
                    <a:gd name="T12" fmla="*/ 121 w 160"/>
                    <a:gd name="T13" fmla="*/ 144 h 289"/>
                    <a:gd name="T14" fmla="*/ 128 w 160"/>
                    <a:gd name="T15" fmla="*/ 112 h 289"/>
                    <a:gd name="T16" fmla="*/ 137 w 160"/>
                    <a:gd name="T17" fmla="*/ 85 h 289"/>
                    <a:gd name="T18" fmla="*/ 147 w 160"/>
                    <a:gd name="T19" fmla="*/ 63 h 289"/>
                    <a:gd name="T20" fmla="*/ 153 w 160"/>
                    <a:gd name="T21" fmla="*/ 32 h 289"/>
                    <a:gd name="T22" fmla="*/ 160 w 160"/>
                    <a:gd name="T23" fmla="*/ 0 h 289"/>
                    <a:gd name="T24" fmla="*/ 135 w 160"/>
                    <a:gd name="T25" fmla="*/ 32 h 289"/>
                    <a:gd name="T26" fmla="*/ 117 w 160"/>
                    <a:gd name="T27" fmla="*/ 57 h 289"/>
                    <a:gd name="T28" fmla="*/ 101 w 160"/>
                    <a:gd name="T29" fmla="*/ 81 h 289"/>
                    <a:gd name="T30" fmla="*/ 86 w 160"/>
                    <a:gd name="T31" fmla="*/ 106 h 289"/>
                    <a:gd name="T32" fmla="*/ 66 w 160"/>
                    <a:gd name="T33" fmla="*/ 119 h 289"/>
                    <a:gd name="T34" fmla="*/ 44 w 160"/>
                    <a:gd name="T35" fmla="*/ 137 h 289"/>
                    <a:gd name="T36" fmla="*/ 21 w 160"/>
                    <a:gd name="T37" fmla="*/ 157 h 289"/>
                    <a:gd name="T38" fmla="*/ 0 w 160"/>
                    <a:gd name="T39" fmla="*/ 179 h 289"/>
                    <a:gd name="T40" fmla="*/ 29 w 160"/>
                    <a:gd name="T41" fmla="*/ 186 h 289"/>
                    <a:gd name="T42" fmla="*/ 38 w 160"/>
                    <a:gd name="T43" fmla="*/ 201 h 289"/>
                    <a:gd name="T44" fmla="*/ 47 w 160"/>
                    <a:gd name="T45" fmla="*/ 216 h 289"/>
                    <a:gd name="T46" fmla="*/ 59 w 160"/>
                    <a:gd name="T47" fmla="*/ 233 h 289"/>
                    <a:gd name="T48" fmla="*/ 73 w 160"/>
                    <a:gd name="T49" fmla="*/ 247 h 289"/>
                    <a:gd name="T50" fmla="*/ 86 w 160"/>
                    <a:gd name="T51" fmla="*/ 260 h 289"/>
                    <a:gd name="T52" fmla="*/ 103 w 160"/>
                    <a:gd name="T53" fmla="*/ 270 h 289"/>
                    <a:gd name="T54" fmla="*/ 119 w 160"/>
                    <a:gd name="T55" fmla="*/ 281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0" h="289">
                      <a:moveTo>
                        <a:pt x="119" y="281"/>
                      </a:moveTo>
                      <a:lnTo>
                        <a:pt x="137" y="289"/>
                      </a:lnTo>
                      <a:lnTo>
                        <a:pt x="122" y="262"/>
                      </a:lnTo>
                      <a:lnTo>
                        <a:pt x="117" y="241"/>
                      </a:lnTo>
                      <a:lnTo>
                        <a:pt x="114" y="211"/>
                      </a:lnTo>
                      <a:lnTo>
                        <a:pt x="117" y="179"/>
                      </a:lnTo>
                      <a:lnTo>
                        <a:pt x="121" y="144"/>
                      </a:lnTo>
                      <a:lnTo>
                        <a:pt x="128" y="112"/>
                      </a:lnTo>
                      <a:lnTo>
                        <a:pt x="137" y="85"/>
                      </a:lnTo>
                      <a:lnTo>
                        <a:pt x="147" y="63"/>
                      </a:lnTo>
                      <a:lnTo>
                        <a:pt x="153" y="32"/>
                      </a:lnTo>
                      <a:lnTo>
                        <a:pt x="160" y="0"/>
                      </a:lnTo>
                      <a:lnTo>
                        <a:pt x="135" y="32"/>
                      </a:lnTo>
                      <a:lnTo>
                        <a:pt x="117" y="57"/>
                      </a:lnTo>
                      <a:lnTo>
                        <a:pt x="101" y="81"/>
                      </a:lnTo>
                      <a:lnTo>
                        <a:pt x="86" y="106"/>
                      </a:lnTo>
                      <a:lnTo>
                        <a:pt x="66" y="119"/>
                      </a:lnTo>
                      <a:lnTo>
                        <a:pt x="44" y="137"/>
                      </a:lnTo>
                      <a:lnTo>
                        <a:pt x="21" y="157"/>
                      </a:lnTo>
                      <a:lnTo>
                        <a:pt x="0" y="179"/>
                      </a:lnTo>
                      <a:lnTo>
                        <a:pt x="29" y="186"/>
                      </a:lnTo>
                      <a:lnTo>
                        <a:pt x="38" y="201"/>
                      </a:lnTo>
                      <a:lnTo>
                        <a:pt x="47" y="216"/>
                      </a:lnTo>
                      <a:lnTo>
                        <a:pt x="59" y="233"/>
                      </a:lnTo>
                      <a:lnTo>
                        <a:pt x="73" y="247"/>
                      </a:lnTo>
                      <a:lnTo>
                        <a:pt x="86" y="260"/>
                      </a:lnTo>
                      <a:lnTo>
                        <a:pt x="103" y="270"/>
                      </a:lnTo>
                      <a:lnTo>
                        <a:pt x="119" y="28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4" name="Freeform 316"/>
                <p:cNvSpPr/>
                <p:nvPr/>
              </p:nvSpPr>
              <p:spPr bwMode="auto">
                <a:xfrm>
                  <a:off x="2698" y="2997"/>
                  <a:ext cx="17" cy="27"/>
                </a:xfrm>
                <a:custGeom>
                  <a:avLst/>
                  <a:gdLst>
                    <a:gd name="T0" fmla="*/ 115 w 115"/>
                    <a:gd name="T1" fmla="*/ 119 h 218"/>
                    <a:gd name="T2" fmla="*/ 99 w 115"/>
                    <a:gd name="T3" fmla="*/ 117 h 218"/>
                    <a:gd name="T4" fmla="*/ 84 w 115"/>
                    <a:gd name="T5" fmla="*/ 113 h 218"/>
                    <a:gd name="T6" fmla="*/ 80 w 115"/>
                    <a:gd name="T7" fmla="*/ 97 h 218"/>
                    <a:gd name="T8" fmla="*/ 82 w 115"/>
                    <a:gd name="T9" fmla="*/ 76 h 218"/>
                    <a:gd name="T10" fmla="*/ 86 w 115"/>
                    <a:gd name="T11" fmla="*/ 53 h 218"/>
                    <a:gd name="T12" fmla="*/ 90 w 115"/>
                    <a:gd name="T13" fmla="*/ 32 h 218"/>
                    <a:gd name="T14" fmla="*/ 93 w 115"/>
                    <a:gd name="T15" fmla="*/ 15 h 218"/>
                    <a:gd name="T16" fmla="*/ 97 w 115"/>
                    <a:gd name="T17" fmla="*/ 0 h 218"/>
                    <a:gd name="T18" fmla="*/ 84 w 115"/>
                    <a:gd name="T19" fmla="*/ 4 h 218"/>
                    <a:gd name="T20" fmla="*/ 72 w 115"/>
                    <a:gd name="T21" fmla="*/ 12 h 218"/>
                    <a:gd name="T22" fmla="*/ 60 w 115"/>
                    <a:gd name="T23" fmla="*/ 25 h 218"/>
                    <a:gd name="T24" fmla="*/ 52 w 115"/>
                    <a:gd name="T25" fmla="*/ 37 h 218"/>
                    <a:gd name="T26" fmla="*/ 47 w 115"/>
                    <a:gd name="T27" fmla="*/ 53 h 218"/>
                    <a:gd name="T28" fmla="*/ 46 w 115"/>
                    <a:gd name="T29" fmla="*/ 73 h 218"/>
                    <a:gd name="T30" fmla="*/ 33 w 115"/>
                    <a:gd name="T31" fmla="*/ 86 h 218"/>
                    <a:gd name="T32" fmla="*/ 22 w 115"/>
                    <a:gd name="T33" fmla="*/ 104 h 218"/>
                    <a:gd name="T34" fmla="*/ 11 w 115"/>
                    <a:gd name="T35" fmla="*/ 128 h 218"/>
                    <a:gd name="T36" fmla="*/ 5 w 115"/>
                    <a:gd name="T37" fmla="*/ 158 h 218"/>
                    <a:gd name="T38" fmla="*/ 2 w 115"/>
                    <a:gd name="T39" fmla="*/ 190 h 218"/>
                    <a:gd name="T40" fmla="*/ 0 w 115"/>
                    <a:gd name="T41" fmla="*/ 216 h 218"/>
                    <a:gd name="T42" fmla="*/ 11 w 115"/>
                    <a:gd name="T43" fmla="*/ 218 h 218"/>
                    <a:gd name="T44" fmla="*/ 97 w 115"/>
                    <a:gd name="T45" fmla="*/ 146 h 218"/>
                    <a:gd name="T46" fmla="*/ 115 w 115"/>
                    <a:gd name="T47" fmla="*/ 119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5" h="218">
                      <a:moveTo>
                        <a:pt x="115" y="119"/>
                      </a:moveTo>
                      <a:lnTo>
                        <a:pt x="99" y="117"/>
                      </a:lnTo>
                      <a:lnTo>
                        <a:pt x="84" y="113"/>
                      </a:lnTo>
                      <a:lnTo>
                        <a:pt x="80" y="97"/>
                      </a:lnTo>
                      <a:lnTo>
                        <a:pt x="82" y="76"/>
                      </a:lnTo>
                      <a:lnTo>
                        <a:pt x="86" y="53"/>
                      </a:lnTo>
                      <a:lnTo>
                        <a:pt x="90" y="32"/>
                      </a:lnTo>
                      <a:lnTo>
                        <a:pt x="93" y="15"/>
                      </a:lnTo>
                      <a:lnTo>
                        <a:pt x="97" y="0"/>
                      </a:lnTo>
                      <a:lnTo>
                        <a:pt x="84" y="4"/>
                      </a:lnTo>
                      <a:lnTo>
                        <a:pt x="72" y="12"/>
                      </a:lnTo>
                      <a:lnTo>
                        <a:pt x="60" y="25"/>
                      </a:lnTo>
                      <a:lnTo>
                        <a:pt x="52" y="37"/>
                      </a:lnTo>
                      <a:lnTo>
                        <a:pt x="47" y="53"/>
                      </a:lnTo>
                      <a:lnTo>
                        <a:pt x="46" y="73"/>
                      </a:lnTo>
                      <a:lnTo>
                        <a:pt x="33" y="86"/>
                      </a:lnTo>
                      <a:lnTo>
                        <a:pt x="22" y="104"/>
                      </a:lnTo>
                      <a:lnTo>
                        <a:pt x="11" y="128"/>
                      </a:lnTo>
                      <a:lnTo>
                        <a:pt x="5" y="158"/>
                      </a:lnTo>
                      <a:lnTo>
                        <a:pt x="2" y="190"/>
                      </a:lnTo>
                      <a:lnTo>
                        <a:pt x="0" y="216"/>
                      </a:lnTo>
                      <a:lnTo>
                        <a:pt x="11" y="218"/>
                      </a:lnTo>
                      <a:lnTo>
                        <a:pt x="97" y="146"/>
                      </a:lnTo>
                      <a:lnTo>
                        <a:pt x="115" y="119"/>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65" name="Group 317"/>
              <p:cNvGrpSpPr/>
              <p:nvPr/>
            </p:nvGrpSpPr>
            <p:grpSpPr bwMode="auto">
              <a:xfrm>
                <a:off x="2713" y="2975"/>
                <a:ext cx="95" cy="139"/>
                <a:chOff x="2713" y="2975"/>
                <a:chExt cx="95" cy="139"/>
              </a:xfrm>
            </p:grpSpPr>
            <p:sp>
              <p:nvSpPr>
                <p:cNvPr id="642366" name="Freeform 318"/>
                <p:cNvSpPr/>
                <p:nvPr/>
              </p:nvSpPr>
              <p:spPr bwMode="auto">
                <a:xfrm>
                  <a:off x="2713" y="2975"/>
                  <a:ext cx="95" cy="139"/>
                </a:xfrm>
                <a:custGeom>
                  <a:avLst/>
                  <a:gdLst>
                    <a:gd name="T0" fmla="*/ 43 w 670"/>
                    <a:gd name="T1" fmla="*/ 6 h 1116"/>
                    <a:gd name="T2" fmla="*/ 65 w 670"/>
                    <a:gd name="T3" fmla="*/ 99 h 1116"/>
                    <a:gd name="T4" fmla="*/ 68 w 670"/>
                    <a:gd name="T5" fmla="*/ 135 h 1116"/>
                    <a:gd name="T6" fmla="*/ 59 w 670"/>
                    <a:gd name="T7" fmla="*/ 241 h 1116"/>
                    <a:gd name="T8" fmla="*/ 33 w 670"/>
                    <a:gd name="T9" fmla="*/ 280 h 1116"/>
                    <a:gd name="T10" fmla="*/ 21 w 670"/>
                    <a:gd name="T11" fmla="*/ 324 h 1116"/>
                    <a:gd name="T12" fmla="*/ 17 w 670"/>
                    <a:gd name="T13" fmla="*/ 319 h 1116"/>
                    <a:gd name="T14" fmla="*/ 0 w 670"/>
                    <a:gd name="T15" fmla="*/ 377 h 1116"/>
                    <a:gd name="T16" fmla="*/ 13 w 670"/>
                    <a:gd name="T17" fmla="*/ 498 h 1116"/>
                    <a:gd name="T18" fmla="*/ 17 w 670"/>
                    <a:gd name="T19" fmla="*/ 635 h 1116"/>
                    <a:gd name="T20" fmla="*/ 13 w 670"/>
                    <a:gd name="T21" fmla="*/ 677 h 1116"/>
                    <a:gd name="T22" fmla="*/ 14 w 670"/>
                    <a:gd name="T23" fmla="*/ 728 h 1116"/>
                    <a:gd name="T24" fmla="*/ 19 w 670"/>
                    <a:gd name="T25" fmla="*/ 780 h 1116"/>
                    <a:gd name="T26" fmla="*/ 43 w 670"/>
                    <a:gd name="T27" fmla="*/ 894 h 1116"/>
                    <a:gd name="T28" fmla="*/ 78 w 670"/>
                    <a:gd name="T29" fmla="*/ 948 h 1116"/>
                    <a:gd name="T30" fmla="*/ 107 w 670"/>
                    <a:gd name="T31" fmla="*/ 972 h 1116"/>
                    <a:gd name="T32" fmla="*/ 101 w 670"/>
                    <a:gd name="T33" fmla="*/ 1038 h 1116"/>
                    <a:gd name="T34" fmla="*/ 154 w 670"/>
                    <a:gd name="T35" fmla="*/ 1068 h 1116"/>
                    <a:gd name="T36" fmla="*/ 218 w 670"/>
                    <a:gd name="T37" fmla="*/ 1087 h 1116"/>
                    <a:gd name="T38" fmla="*/ 295 w 670"/>
                    <a:gd name="T39" fmla="*/ 1075 h 1116"/>
                    <a:gd name="T40" fmla="*/ 331 w 670"/>
                    <a:gd name="T41" fmla="*/ 1057 h 1116"/>
                    <a:gd name="T42" fmla="*/ 342 w 670"/>
                    <a:gd name="T43" fmla="*/ 1092 h 1116"/>
                    <a:gd name="T44" fmla="*/ 425 w 670"/>
                    <a:gd name="T45" fmla="*/ 1098 h 1116"/>
                    <a:gd name="T46" fmla="*/ 525 w 670"/>
                    <a:gd name="T47" fmla="*/ 1116 h 1116"/>
                    <a:gd name="T48" fmla="*/ 611 w 670"/>
                    <a:gd name="T49" fmla="*/ 1098 h 1116"/>
                    <a:gd name="T50" fmla="*/ 670 w 670"/>
                    <a:gd name="T51" fmla="*/ 1063 h 1116"/>
                    <a:gd name="T52" fmla="*/ 670 w 670"/>
                    <a:gd name="T53" fmla="*/ 495 h 1116"/>
                    <a:gd name="T54" fmla="*/ 632 w 670"/>
                    <a:gd name="T55" fmla="*/ 449 h 1116"/>
                    <a:gd name="T56" fmla="*/ 605 w 670"/>
                    <a:gd name="T57" fmla="*/ 411 h 1116"/>
                    <a:gd name="T58" fmla="*/ 557 w 670"/>
                    <a:gd name="T59" fmla="*/ 325 h 1116"/>
                    <a:gd name="T60" fmla="*/ 546 w 670"/>
                    <a:gd name="T61" fmla="*/ 279 h 1116"/>
                    <a:gd name="T62" fmla="*/ 529 w 670"/>
                    <a:gd name="T63" fmla="*/ 229 h 1116"/>
                    <a:gd name="T64" fmla="*/ 504 w 670"/>
                    <a:gd name="T65" fmla="*/ 178 h 1116"/>
                    <a:gd name="T66" fmla="*/ 476 w 670"/>
                    <a:gd name="T67" fmla="*/ 135 h 1116"/>
                    <a:gd name="T68" fmla="*/ 438 w 670"/>
                    <a:gd name="T69" fmla="*/ 93 h 1116"/>
                    <a:gd name="T70" fmla="*/ 407 w 670"/>
                    <a:gd name="T71" fmla="*/ 65 h 1116"/>
                    <a:gd name="T72" fmla="*/ 370 w 670"/>
                    <a:gd name="T73" fmla="*/ 42 h 1116"/>
                    <a:gd name="T74" fmla="*/ 336 w 670"/>
                    <a:gd name="T75" fmla="*/ 25 h 1116"/>
                    <a:gd name="T76" fmla="*/ 285 w 670"/>
                    <a:gd name="T77" fmla="*/ 10 h 1116"/>
                    <a:gd name="T78" fmla="*/ 237 w 670"/>
                    <a:gd name="T79" fmla="*/ 1 h 1116"/>
                    <a:gd name="T80" fmla="*/ 190 w 670"/>
                    <a:gd name="T81" fmla="*/ 0 h 1116"/>
                    <a:gd name="T82" fmla="*/ 148 w 670"/>
                    <a:gd name="T83" fmla="*/ 1 h 1116"/>
                    <a:gd name="T84" fmla="*/ 43 w 670"/>
                    <a:gd name="T85" fmla="*/ 6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0" h="1116">
                      <a:moveTo>
                        <a:pt x="43" y="6"/>
                      </a:moveTo>
                      <a:lnTo>
                        <a:pt x="65" y="99"/>
                      </a:lnTo>
                      <a:lnTo>
                        <a:pt x="68" y="135"/>
                      </a:lnTo>
                      <a:lnTo>
                        <a:pt x="59" y="241"/>
                      </a:lnTo>
                      <a:lnTo>
                        <a:pt x="33" y="280"/>
                      </a:lnTo>
                      <a:lnTo>
                        <a:pt x="21" y="324"/>
                      </a:lnTo>
                      <a:lnTo>
                        <a:pt x="17" y="319"/>
                      </a:lnTo>
                      <a:lnTo>
                        <a:pt x="0" y="377"/>
                      </a:lnTo>
                      <a:lnTo>
                        <a:pt x="13" y="498"/>
                      </a:lnTo>
                      <a:lnTo>
                        <a:pt x="17" y="635"/>
                      </a:lnTo>
                      <a:lnTo>
                        <a:pt x="13" y="677"/>
                      </a:lnTo>
                      <a:lnTo>
                        <a:pt x="14" y="728"/>
                      </a:lnTo>
                      <a:lnTo>
                        <a:pt x="19" y="780"/>
                      </a:lnTo>
                      <a:lnTo>
                        <a:pt x="43" y="894"/>
                      </a:lnTo>
                      <a:lnTo>
                        <a:pt x="78" y="948"/>
                      </a:lnTo>
                      <a:lnTo>
                        <a:pt x="107" y="972"/>
                      </a:lnTo>
                      <a:lnTo>
                        <a:pt x="101" y="1038"/>
                      </a:lnTo>
                      <a:lnTo>
                        <a:pt x="154" y="1068"/>
                      </a:lnTo>
                      <a:lnTo>
                        <a:pt x="218" y="1087"/>
                      </a:lnTo>
                      <a:lnTo>
                        <a:pt x="295" y="1075"/>
                      </a:lnTo>
                      <a:lnTo>
                        <a:pt x="331" y="1057"/>
                      </a:lnTo>
                      <a:lnTo>
                        <a:pt x="342" y="1092"/>
                      </a:lnTo>
                      <a:lnTo>
                        <a:pt x="425" y="1098"/>
                      </a:lnTo>
                      <a:lnTo>
                        <a:pt x="525" y="1116"/>
                      </a:lnTo>
                      <a:lnTo>
                        <a:pt x="611" y="1098"/>
                      </a:lnTo>
                      <a:lnTo>
                        <a:pt x="670" y="1063"/>
                      </a:lnTo>
                      <a:lnTo>
                        <a:pt x="670" y="495"/>
                      </a:lnTo>
                      <a:lnTo>
                        <a:pt x="632" y="449"/>
                      </a:lnTo>
                      <a:lnTo>
                        <a:pt x="605" y="411"/>
                      </a:lnTo>
                      <a:lnTo>
                        <a:pt x="557" y="325"/>
                      </a:lnTo>
                      <a:lnTo>
                        <a:pt x="546" y="279"/>
                      </a:lnTo>
                      <a:lnTo>
                        <a:pt x="529" y="229"/>
                      </a:lnTo>
                      <a:lnTo>
                        <a:pt x="504" y="178"/>
                      </a:lnTo>
                      <a:lnTo>
                        <a:pt x="476" y="135"/>
                      </a:lnTo>
                      <a:lnTo>
                        <a:pt x="438" y="93"/>
                      </a:lnTo>
                      <a:lnTo>
                        <a:pt x="407" y="65"/>
                      </a:lnTo>
                      <a:lnTo>
                        <a:pt x="370" y="42"/>
                      </a:lnTo>
                      <a:lnTo>
                        <a:pt x="336" y="25"/>
                      </a:lnTo>
                      <a:lnTo>
                        <a:pt x="285" y="10"/>
                      </a:lnTo>
                      <a:lnTo>
                        <a:pt x="237" y="1"/>
                      </a:lnTo>
                      <a:lnTo>
                        <a:pt x="190" y="0"/>
                      </a:lnTo>
                      <a:lnTo>
                        <a:pt x="148" y="1"/>
                      </a:lnTo>
                      <a:lnTo>
                        <a:pt x="43" y="6"/>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67" name="Group 319"/>
                <p:cNvGrpSpPr/>
                <p:nvPr/>
              </p:nvGrpSpPr>
              <p:grpSpPr bwMode="auto">
                <a:xfrm>
                  <a:off x="2713" y="2976"/>
                  <a:ext cx="95" cy="135"/>
                  <a:chOff x="2713" y="2976"/>
                  <a:chExt cx="95" cy="135"/>
                </a:xfrm>
              </p:grpSpPr>
              <p:sp>
                <p:nvSpPr>
                  <p:cNvPr id="642368" name="Freeform 320"/>
                  <p:cNvSpPr/>
                  <p:nvPr/>
                </p:nvSpPr>
                <p:spPr bwMode="auto">
                  <a:xfrm>
                    <a:off x="2758" y="3063"/>
                    <a:ext cx="23" cy="43"/>
                  </a:xfrm>
                  <a:custGeom>
                    <a:avLst/>
                    <a:gdLst>
                      <a:gd name="T0" fmla="*/ 132 w 164"/>
                      <a:gd name="T1" fmla="*/ 32 h 342"/>
                      <a:gd name="T2" fmla="*/ 86 w 164"/>
                      <a:gd name="T3" fmla="*/ 74 h 342"/>
                      <a:gd name="T4" fmla="*/ 34 w 164"/>
                      <a:gd name="T5" fmla="*/ 138 h 342"/>
                      <a:gd name="T6" fmla="*/ 37 w 164"/>
                      <a:gd name="T7" fmla="*/ 167 h 342"/>
                      <a:gd name="T8" fmla="*/ 3 w 164"/>
                      <a:gd name="T9" fmla="*/ 236 h 342"/>
                      <a:gd name="T10" fmla="*/ 0 w 164"/>
                      <a:gd name="T11" fmla="*/ 312 h 342"/>
                      <a:gd name="T12" fmla="*/ 12 w 164"/>
                      <a:gd name="T13" fmla="*/ 342 h 342"/>
                      <a:gd name="T14" fmla="*/ 14 w 164"/>
                      <a:gd name="T15" fmla="*/ 316 h 342"/>
                      <a:gd name="T16" fmla="*/ 15 w 164"/>
                      <a:gd name="T17" fmla="*/ 293 h 342"/>
                      <a:gd name="T18" fmla="*/ 22 w 164"/>
                      <a:gd name="T19" fmla="*/ 269 h 342"/>
                      <a:gd name="T20" fmla="*/ 28 w 164"/>
                      <a:gd name="T21" fmla="*/ 247 h 342"/>
                      <a:gd name="T22" fmla="*/ 30 w 164"/>
                      <a:gd name="T23" fmla="*/ 233 h 342"/>
                      <a:gd name="T24" fmla="*/ 43 w 164"/>
                      <a:gd name="T25" fmla="*/ 223 h 342"/>
                      <a:gd name="T26" fmla="*/ 44 w 164"/>
                      <a:gd name="T27" fmla="*/ 205 h 342"/>
                      <a:gd name="T28" fmla="*/ 52 w 164"/>
                      <a:gd name="T29" fmla="*/ 187 h 342"/>
                      <a:gd name="T30" fmla="*/ 62 w 164"/>
                      <a:gd name="T31" fmla="*/ 171 h 342"/>
                      <a:gd name="T32" fmla="*/ 75 w 164"/>
                      <a:gd name="T33" fmla="*/ 162 h 342"/>
                      <a:gd name="T34" fmla="*/ 70 w 164"/>
                      <a:gd name="T35" fmla="*/ 146 h 342"/>
                      <a:gd name="T36" fmla="*/ 89 w 164"/>
                      <a:gd name="T37" fmla="*/ 132 h 342"/>
                      <a:gd name="T38" fmla="*/ 101 w 164"/>
                      <a:gd name="T39" fmla="*/ 113 h 342"/>
                      <a:gd name="T40" fmla="*/ 108 w 164"/>
                      <a:gd name="T41" fmla="*/ 92 h 342"/>
                      <a:gd name="T42" fmla="*/ 126 w 164"/>
                      <a:gd name="T43" fmla="*/ 82 h 342"/>
                      <a:gd name="T44" fmla="*/ 143 w 164"/>
                      <a:gd name="T45" fmla="*/ 68 h 342"/>
                      <a:gd name="T46" fmla="*/ 153 w 164"/>
                      <a:gd name="T47" fmla="*/ 48 h 342"/>
                      <a:gd name="T48" fmla="*/ 162 w 164"/>
                      <a:gd name="T49" fmla="*/ 24 h 342"/>
                      <a:gd name="T50" fmla="*/ 164 w 164"/>
                      <a:gd name="T51" fmla="*/ 0 h 342"/>
                      <a:gd name="T52" fmla="*/ 132 w 164"/>
                      <a:gd name="T53" fmla="*/ 32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4" h="342">
                        <a:moveTo>
                          <a:pt x="132" y="32"/>
                        </a:moveTo>
                        <a:lnTo>
                          <a:pt x="86" y="74"/>
                        </a:lnTo>
                        <a:lnTo>
                          <a:pt x="34" y="138"/>
                        </a:lnTo>
                        <a:lnTo>
                          <a:pt x="37" y="167"/>
                        </a:lnTo>
                        <a:lnTo>
                          <a:pt x="3" y="236"/>
                        </a:lnTo>
                        <a:lnTo>
                          <a:pt x="0" y="312"/>
                        </a:lnTo>
                        <a:lnTo>
                          <a:pt x="12" y="342"/>
                        </a:lnTo>
                        <a:lnTo>
                          <a:pt x="14" y="316"/>
                        </a:lnTo>
                        <a:lnTo>
                          <a:pt x="15" y="293"/>
                        </a:lnTo>
                        <a:lnTo>
                          <a:pt x="22" y="269"/>
                        </a:lnTo>
                        <a:lnTo>
                          <a:pt x="28" y="247"/>
                        </a:lnTo>
                        <a:lnTo>
                          <a:pt x="30" y="233"/>
                        </a:lnTo>
                        <a:lnTo>
                          <a:pt x="43" y="223"/>
                        </a:lnTo>
                        <a:lnTo>
                          <a:pt x="44" y="205"/>
                        </a:lnTo>
                        <a:lnTo>
                          <a:pt x="52" y="187"/>
                        </a:lnTo>
                        <a:lnTo>
                          <a:pt x="62" y="171"/>
                        </a:lnTo>
                        <a:lnTo>
                          <a:pt x="75" y="162"/>
                        </a:lnTo>
                        <a:lnTo>
                          <a:pt x="70" y="146"/>
                        </a:lnTo>
                        <a:lnTo>
                          <a:pt x="89" y="132"/>
                        </a:lnTo>
                        <a:lnTo>
                          <a:pt x="101" y="113"/>
                        </a:lnTo>
                        <a:lnTo>
                          <a:pt x="108" y="92"/>
                        </a:lnTo>
                        <a:lnTo>
                          <a:pt x="126" y="82"/>
                        </a:lnTo>
                        <a:lnTo>
                          <a:pt x="143" y="68"/>
                        </a:lnTo>
                        <a:lnTo>
                          <a:pt x="153" y="48"/>
                        </a:lnTo>
                        <a:lnTo>
                          <a:pt x="162" y="24"/>
                        </a:lnTo>
                        <a:lnTo>
                          <a:pt x="164" y="0"/>
                        </a:lnTo>
                        <a:lnTo>
                          <a:pt x="132" y="32"/>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9" name="Freeform 321"/>
                  <p:cNvSpPr/>
                  <p:nvPr/>
                </p:nvSpPr>
                <p:spPr bwMode="auto">
                  <a:xfrm>
                    <a:off x="2770" y="3015"/>
                    <a:ext cx="27" cy="45"/>
                  </a:xfrm>
                  <a:custGeom>
                    <a:avLst/>
                    <a:gdLst>
                      <a:gd name="T0" fmla="*/ 0 w 191"/>
                      <a:gd name="T1" fmla="*/ 278 h 358"/>
                      <a:gd name="T2" fmla="*/ 67 w 191"/>
                      <a:gd name="T3" fmla="*/ 199 h 358"/>
                      <a:gd name="T4" fmla="*/ 84 w 191"/>
                      <a:gd name="T5" fmla="*/ 159 h 358"/>
                      <a:gd name="T6" fmla="*/ 92 w 191"/>
                      <a:gd name="T7" fmla="*/ 126 h 358"/>
                      <a:gd name="T8" fmla="*/ 103 w 191"/>
                      <a:gd name="T9" fmla="*/ 80 h 358"/>
                      <a:gd name="T10" fmla="*/ 109 w 191"/>
                      <a:gd name="T11" fmla="*/ 37 h 358"/>
                      <a:gd name="T12" fmla="*/ 110 w 191"/>
                      <a:gd name="T13" fmla="*/ 0 h 358"/>
                      <a:gd name="T14" fmla="*/ 127 w 191"/>
                      <a:gd name="T15" fmla="*/ 30 h 358"/>
                      <a:gd name="T16" fmla="*/ 138 w 191"/>
                      <a:gd name="T17" fmla="*/ 60 h 358"/>
                      <a:gd name="T18" fmla="*/ 142 w 191"/>
                      <a:gd name="T19" fmla="*/ 89 h 358"/>
                      <a:gd name="T20" fmla="*/ 144 w 191"/>
                      <a:gd name="T21" fmla="*/ 114 h 358"/>
                      <a:gd name="T22" fmla="*/ 166 w 191"/>
                      <a:gd name="T23" fmla="*/ 118 h 358"/>
                      <a:gd name="T24" fmla="*/ 180 w 191"/>
                      <a:gd name="T25" fmla="*/ 125 h 358"/>
                      <a:gd name="T26" fmla="*/ 187 w 191"/>
                      <a:gd name="T27" fmla="*/ 139 h 358"/>
                      <a:gd name="T28" fmla="*/ 191 w 191"/>
                      <a:gd name="T29" fmla="*/ 155 h 358"/>
                      <a:gd name="T30" fmla="*/ 189 w 191"/>
                      <a:gd name="T31" fmla="*/ 172 h 358"/>
                      <a:gd name="T32" fmla="*/ 178 w 191"/>
                      <a:gd name="T33" fmla="*/ 193 h 358"/>
                      <a:gd name="T34" fmla="*/ 156 w 191"/>
                      <a:gd name="T35" fmla="*/ 225 h 358"/>
                      <a:gd name="T36" fmla="*/ 122 w 191"/>
                      <a:gd name="T37" fmla="*/ 267 h 358"/>
                      <a:gd name="T38" fmla="*/ 37 w 191"/>
                      <a:gd name="T39" fmla="*/ 358 h 358"/>
                      <a:gd name="T40" fmla="*/ 0 w 191"/>
                      <a:gd name="T41" fmla="*/ 278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1" h="358">
                        <a:moveTo>
                          <a:pt x="0" y="278"/>
                        </a:moveTo>
                        <a:lnTo>
                          <a:pt x="67" y="199"/>
                        </a:lnTo>
                        <a:lnTo>
                          <a:pt x="84" y="159"/>
                        </a:lnTo>
                        <a:lnTo>
                          <a:pt x="92" y="126"/>
                        </a:lnTo>
                        <a:lnTo>
                          <a:pt x="103" y="80"/>
                        </a:lnTo>
                        <a:lnTo>
                          <a:pt x="109" y="37"/>
                        </a:lnTo>
                        <a:lnTo>
                          <a:pt x="110" y="0"/>
                        </a:lnTo>
                        <a:lnTo>
                          <a:pt x="127" y="30"/>
                        </a:lnTo>
                        <a:lnTo>
                          <a:pt x="138" y="60"/>
                        </a:lnTo>
                        <a:lnTo>
                          <a:pt x="142" y="89"/>
                        </a:lnTo>
                        <a:lnTo>
                          <a:pt x="144" y="114"/>
                        </a:lnTo>
                        <a:lnTo>
                          <a:pt x="166" y="118"/>
                        </a:lnTo>
                        <a:lnTo>
                          <a:pt x="180" y="125"/>
                        </a:lnTo>
                        <a:lnTo>
                          <a:pt x="187" y="139"/>
                        </a:lnTo>
                        <a:lnTo>
                          <a:pt x="191" y="155"/>
                        </a:lnTo>
                        <a:lnTo>
                          <a:pt x="189" y="172"/>
                        </a:lnTo>
                        <a:lnTo>
                          <a:pt x="178" y="193"/>
                        </a:lnTo>
                        <a:lnTo>
                          <a:pt x="156" y="225"/>
                        </a:lnTo>
                        <a:lnTo>
                          <a:pt x="122" y="267"/>
                        </a:lnTo>
                        <a:lnTo>
                          <a:pt x="37" y="358"/>
                        </a:lnTo>
                        <a:lnTo>
                          <a:pt x="0" y="27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0" name="Freeform 322"/>
                  <p:cNvSpPr/>
                  <p:nvPr/>
                </p:nvSpPr>
                <p:spPr bwMode="auto">
                  <a:xfrm>
                    <a:off x="2784" y="3047"/>
                    <a:ext cx="24" cy="25"/>
                  </a:xfrm>
                  <a:custGeom>
                    <a:avLst/>
                    <a:gdLst>
                      <a:gd name="T0" fmla="*/ 13 w 168"/>
                      <a:gd name="T1" fmla="*/ 0 h 196"/>
                      <a:gd name="T2" fmla="*/ 168 w 168"/>
                      <a:gd name="T3" fmla="*/ 166 h 196"/>
                      <a:gd name="T4" fmla="*/ 168 w 168"/>
                      <a:gd name="T5" fmla="*/ 196 h 196"/>
                      <a:gd name="T6" fmla="*/ 0 w 168"/>
                      <a:gd name="T7" fmla="*/ 10 h 196"/>
                      <a:gd name="T8" fmla="*/ 13 w 168"/>
                      <a:gd name="T9" fmla="*/ 0 h 196"/>
                    </a:gdLst>
                    <a:ahLst/>
                    <a:cxnLst>
                      <a:cxn ang="0">
                        <a:pos x="T0" y="T1"/>
                      </a:cxn>
                      <a:cxn ang="0">
                        <a:pos x="T2" y="T3"/>
                      </a:cxn>
                      <a:cxn ang="0">
                        <a:pos x="T4" y="T5"/>
                      </a:cxn>
                      <a:cxn ang="0">
                        <a:pos x="T6" y="T7"/>
                      </a:cxn>
                      <a:cxn ang="0">
                        <a:pos x="T8" y="T9"/>
                      </a:cxn>
                    </a:cxnLst>
                    <a:rect l="0" t="0" r="r" b="b"/>
                    <a:pathLst>
                      <a:path w="168" h="196">
                        <a:moveTo>
                          <a:pt x="13" y="0"/>
                        </a:moveTo>
                        <a:lnTo>
                          <a:pt x="168" y="166"/>
                        </a:lnTo>
                        <a:lnTo>
                          <a:pt x="168" y="196"/>
                        </a:lnTo>
                        <a:lnTo>
                          <a:pt x="0" y="10"/>
                        </a:lnTo>
                        <a:lnTo>
                          <a:pt x="13"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1" name="Freeform 323"/>
                  <p:cNvSpPr/>
                  <p:nvPr/>
                </p:nvSpPr>
                <p:spPr bwMode="auto">
                  <a:xfrm>
                    <a:off x="2714" y="2977"/>
                    <a:ext cx="36" cy="50"/>
                  </a:xfrm>
                  <a:custGeom>
                    <a:avLst/>
                    <a:gdLst>
                      <a:gd name="T0" fmla="*/ 20 w 248"/>
                      <a:gd name="T1" fmla="*/ 403 h 403"/>
                      <a:gd name="T2" fmla="*/ 24 w 248"/>
                      <a:gd name="T3" fmla="*/ 358 h 403"/>
                      <a:gd name="T4" fmla="*/ 32 w 248"/>
                      <a:gd name="T5" fmla="*/ 317 h 403"/>
                      <a:gd name="T6" fmla="*/ 41 w 248"/>
                      <a:gd name="T7" fmla="*/ 288 h 403"/>
                      <a:gd name="T8" fmla="*/ 54 w 248"/>
                      <a:gd name="T9" fmla="*/ 264 h 403"/>
                      <a:gd name="T10" fmla="*/ 75 w 248"/>
                      <a:gd name="T11" fmla="*/ 234 h 403"/>
                      <a:gd name="T12" fmla="*/ 103 w 248"/>
                      <a:gd name="T13" fmla="*/ 207 h 403"/>
                      <a:gd name="T14" fmla="*/ 131 w 248"/>
                      <a:gd name="T15" fmla="*/ 188 h 403"/>
                      <a:gd name="T16" fmla="*/ 164 w 248"/>
                      <a:gd name="T17" fmla="*/ 162 h 403"/>
                      <a:gd name="T18" fmla="*/ 185 w 248"/>
                      <a:gd name="T19" fmla="*/ 136 h 403"/>
                      <a:gd name="T20" fmla="*/ 199 w 248"/>
                      <a:gd name="T21" fmla="*/ 110 h 403"/>
                      <a:gd name="T22" fmla="*/ 196 w 248"/>
                      <a:gd name="T23" fmla="*/ 82 h 403"/>
                      <a:gd name="T24" fmla="*/ 203 w 248"/>
                      <a:gd name="T25" fmla="*/ 53 h 403"/>
                      <a:gd name="T26" fmla="*/ 218 w 248"/>
                      <a:gd name="T27" fmla="*/ 26 h 403"/>
                      <a:gd name="T28" fmla="*/ 228 w 248"/>
                      <a:gd name="T29" fmla="*/ 13 h 403"/>
                      <a:gd name="T30" fmla="*/ 248 w 248"/>
                      <a:gd name="T31" fmla="*/ 2 h 403"/>
                      <a:gd name="T32" fmla="*/ 235 w 248"/>
                      <a:gd name="T33" fmla="*/ 0 h 403"/>
                      <a:gd name="T34" fmla="*/ 223 w 248"/>
                      <a:gd name="T35" fmla="*/ 2 h 403"/>
                      <a:gd name="T36" fmla="*/ 200 w 248"/>
                      <a:gd name="T37" fmla="*/ 9 h 403"/>
                      <a:gd name="T38" fmla="*/ 181 w 248"/>
                      <a:gd name="T39" fmla="*/ 21 h 403"/>
                      <a:gd name="T40" fmla="*/ 166 w 248"/>
                      <a:gd name="T41" fmla="*/ 40 h 403"/>
                      <a:gd name="T42" fmla="*/ 153 w 248"/>
                      <a:gd name="T43" fmla="*/ 65 h 403"/>
                      <a:gd name="T44" fmla="*/ 133 w 248"/>
                      <a:gd name="T45" fmla="*/ 93 h 403"/>
                      <a:gd name="T46" fmla="*/ 114 w 248"/>
                      <a:gd name="T47" fmla="*/ 115 h 403"/>
                      <a:gd name="T48" fmla="*/ 88 w 248"/>
                      <a:gd name="T49" fmla="*/ 132 h 403"/>
                      <a:gd name="T50" fmla="*/ 57 w 248"/>
                      <a:gd name="T51" fmla="*/ 143 h 403"/>
                      <a:gd name="T52" fmla="*/ 53 w 248"/>
                      <a:gd name="T53" fmla="*/ 186 h 403"/>
                      <a:gd name="T54" fmla="*/ 50 w 248"/>
                      <a:gd name="T55" fmla="*/ 225 h 403"/>
                      <a:gd name="T56" fmla="*/ 23 w 248"/>
                      <a:gd name="T57" fmla="*/ 263 h 403"/>
                      <a:gd name="T58" fmla="*/ 9 w 248"/>
                      <a:gd name="T59" fmla="*/ 294 h 403"/>
                      <a:gd name="T60" fmla="*/ 0 w 248"/>
                      <a:gd name="T61" fmla="*/ 337 h 403"/>
                      <a:gd name="T62" fmla="*/ 6 w 248"/>
                      <a:gd name="T63" fmla="*/ 368 h 403"/>
                      <a:gd name="T64" fmla="*/ 20 w 248"/>
                      <a:gd name="T65" fmla="*/ 40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8" h="403">
                        <a:moveTo>
                          <a:pt x="20" y="403"/>
                        </a:moveTo>
                        <a:lnTo>
                          <a:pt x="24" y="358"/>
                        </a:lnTo>
                        <a:lnTo>
                          <a:pt x="32" y="317"/>
                        </a:lnTo>
                        <a:lnTo>
                          <a:pt x="41" y="288"/>
                        </a:lnTo>
                        <a:lnTo>
                          <a:pt x="54" y="264"/>
                        </a:lnTo>
                        <a:lnTo>
                          <a:pt x="75" y="234"/>
                        </a:lnTo>
                        <a:lnTo>
                          <a:pt x="103" y="207"/>
                        </a:lnTo>
                        <a:lnTo>
                          <a:pt x="131" y="188"/>
                        </a:lnTo>
                        <a:lnTo>
                          <a:pt x="164" y="162"/>
                        </a:lnTo>
                        <a:lnTo>
                          <a:pt x="185" y="136"/>
                        </a:lnTo>
                        <a:lnTo>
                          <a:pt x="199" y="110"/>
                        </a:lnTo>
                        <a:lnTo>
                          <a:pt x="196" y="82"/>
                        </a:lnTo>
                        <a:lnTo>
                          <a:pt x="203" y="53"/>
                        </a:lnTo>
                        <a:lnTo>
                          <a:pt x="218" y="26"/>
                        </a:lnTo>
                        <a:lnTo>
                          <a:pt x="228" y="13"/>
                        </a:lnTo>
                        <a:lnTo>
                          <a:pt x="248" y="2"/>
                        </a:lnTo>
                        <a:lnTo>
                          <a:pt x="235" y="0"/>
                        </a:lnTo>
                        <a:lnTo>
                          <a:pt x="223" y="2"/>
                        </a:lnTo>
                        <a:lnTo>
                          <a:pt x="200" y="9"/>
                        </a:lnTo>
                        <a:lnTo>
                          <a:pt x="181" y="21"/>
                        </a:lnTo>
                        <a:lnTo>
                          <a:pt x="166" y="40"/>
                        </a:lnTo>
                        <a:lnTo>
                          <a:pt x="153" y="65"/>
                        </a:lnTo>
                        <a:lnTo>
                          <a:pt x="133" y="93"/>
                        </a:lnTo>
                        <a:lnTo>
                          <a:pt x="114" y="115"/>
                        </a:lnTo>
                        <a:lnTo>
                          <a:pt x="88" y="132"/>
                        </a:lnTo>
                        <a:lnTo>
                          <a:pt x="57" y="143"/>
                        </a:lnTo>
                        <a:lnTo>
                          <a:pt x="53" y="186"/>
                        </a:lnTo>
                        <a:lnTo>
                          <a:pt x="50" y="225"/>
                        </a:lnTo>
                        <a:lnTo>
                          <a:pt x="23" y="263"/>
                        </a:lnTo>
                        <a:lnTo>
                          <a:pt x="9" y="294"/>
                        </a:lnTo>
                        <a:lnTo>
                          <a:pt x="0" y="337"/>
                        </a:lnTo>
                        <a:lnTo>
                          <a:pt x="6" y="368"/>
                        </a:lnTo>
                        <a:lnTo>
                          <a:pt x="20" y="40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2" name="Freeform 324"/>
                  <p:cNvSpPr/>
                  <p:nvPr/>
                </p:nvSpPr>
                <p:spPr bwMode="auto">
                  <a:xfrm>
                    <a:off x="2713" y="3014"/>
                    <a:ext cx="18" cy="84"/>
                  </a:xfrm>
                  <a:custGeom>
                    <a:avLst/>
                    <a:gdLst>
                      <a:gd name="T0" fmla="*/ 129 w 129"/>
                      <a:gd name="T1" fmla="*/ 669 h 669"/>
                      <a:gd name="T2" fmla="*/ 112 w 129"/>
                      <a:gd name="T3" fmla="*/ 633 h 669"/>
                      <a:gd name="T4" fmla="*/ 103 w 129"/>
                      <a:gd name="T5" fmla="*/ 600 h 669"/>
                      <a:gd name="T6" fmla="*/ 99 w 129"/>
                      <a:gd name="T7" fmla="*/ 573 h 669"/>
                      <a:gd name="T8" fmla="*/ 83 w 129"/>
                      <a:gd name="T9" fmla="*/ 554 h 669"/>
                      <a:gd name="T10" fmla="*/ 75 w 129"/>
                      <a:gd name="T11" fmla="*/ 536 h 669"/>
                      <a:gd name="T12" fmla="*/ 68 w 129"/>
                      <a:gd name="T13" fmla="*/ 509 h 669"/>
                      <a:gd name="T14" fmla="*/ 70 w 129"/>
                      <a:gd name="T15" fmla="*/ 487 h 669"/>
                      <a:gd name="T16" fmla="*/ 75 w 129"/>
                      <a:gd name="T17" fmla="*/ 470 h 669"/>
                      <a:gd name="T18" fmla="*/ 63 w 129"/>
                      <a:gd name="T19" fmla="*/ 439 h 669"/>
                      <a:gd name="T20" fmla="*/ 58 w 129"/>
                      <a:gd name="T21" fmla="*/ 406 h 669"/>
                      <a:gd name="T22" fmla="*/ 60 w 129"/>
                      <a:gd name="T23" fmla="*/ 374 h 669"/>
                      <a:gd name="T24" fmla="*/ 69 w 129"/>
                      <a:gd name="T25" fmla="*/ 343 h 669"/>
                      <a:gd name="T26" fmla="*/ 83 w 129"/>
                      <a:gd name="T27" fmla="*/ 335 h 669"/>
                      <a:gd name="T28" fmla="*/ 94 w 129"/>
                      <a:gd name="T29" fmla="*/ 325 h 669"/>
                      <a:gd name="T30" fmla="*/ 99 w 129"/>
                      <a:gd name="T31" fmla="*/ 301 h 669"/>
                      <a:gd name="T32" fmla="*/ 98 w 129"/>
                      <a:gd name="T33" fmla="*/ 277 h 669"/>
                      <a:gd name="T34" fmla="*/ 94 w 129"/>
                      <a:gd name="T35" fmla="*/ 253 h 669"/>
                      <a:gd name="T36" fmla="*/ 106 w 129"/>
                      <a:gd name="T37" fmla="*/ 229 h 669"/>
                      <a:gd name="T38" fmla="*/ 112 w 129"/>
                      <a:gd name="T39" fmla="*/ 210 h 669"/>
                      <a:gd name="T40" fmla="*/ 106 w 129"/>
                      <a:gd name="T41" fmla="*/ 186 h 669"/>
                      <a:gd name="T42" fmla="*/ 94 w 129"/>
                      <a:gd name="T43" fmla="*/ 162 h 669"/>
                      <a:gd name="T44" fmla="*/ 81 w 129"/>
                      <a:gd name="T45" fmla="*/ 144 h 669"/>
                      <a:gd name="T46" fmla="*/ 88 w 129"/>
                      <a:gd name="T47" fmla="*/ 111 h 669"/>
                      <a:gd name="T48" fmla="*/ 94 w 129"/>
                      <a:gd name="T49" fmla="*/ 73 h 669"/>
                      <a:gd name="T50" fmla="*/ 90 w 129"/>
                      <a:gd name="T51" fmla="*/ 48 h 669"/>
                      <a:gd name="T52" fmla="*/ 93 w 129"/>
                      <a:gd name="T53" fmla="*/ 24 h 669"/>
                      <a:gd name="T54" fmla="*/ 99 w 129"/>
                      <a:gd name="T55" fmla="*/ 0 h 669"/>
                      <a:gd name="T56" fmla="*/ 80 w 129"/>
                      <a:gd name="T57" fmla="*/ 6 h 669"/>
                      <a:gd name="T58" fmla="*/ 65 w 129"/>
                      <a:gd name="T59" fmla="*/ 15 h 669"/>
                      <a:gd name="T60" fmla="*/ 51 w 129"/>
                      <a:gd name="T61" fmla="*/ 34 h 669"/>
                      <a:gd name="T62" fmla="*/ 44 w 129"/>
                      <a:gd name="T63" fmla="*/ 55 h 669"/>
                      <a:gd name="T64" fmla="*/ 42 w 129"/>
                      <a:gd name="T65" fmla="*/ 38 h 669"/>
                      <a:gd name="T66" fmla="*/ 35 w 129"/>
                      <a:gd name="T67" fmla="*/ 23 h 669"/>
                      <a:gd name="T68" fmla="*/ 26 w 129"/>
                      <a:gd name="T69" fmla="*/ 11 h 669"/>
                      <a:gd name="T70" fmla="*/ 17 w 129"/>
                      <a:gd name="T71" fmla="*/ 1 h 669"/>
                      <a:gd name="T72" fmla="*/ 11 w 129"/>
                      <a:gd name="T73" fmla="*/ 18 h 669"/>
                      <a:gd name="T74" fmla="*/ 3 w 129"/>
                      <a:gd name="T75" fmla="*/ 43 h 669"/>
                      <a:gd name="T76" fmla="*/ 0 w 129"/>
                      <a:gd name="T77" fmla="*/ 60 h 669"/>
                      <a:gd name="T78" fmla="*/ 16 w 129"/>
                      <a:gd name="T79" fmla="*/ 91 h 669"/>
                      <a:gd name="T80" fmla="*/ 25 w 129"/>
                      <a:gd name="T81" fmla="*/ 127 h 669"/>
                      <a:gd name="T82" fmla="*/ 27 w 129"/>
                      <a:gd name="T83" fmla="*/ 151 h 669"/>
                      <a:gd name="T84" fmla="*/ 31 w 129"/>
                      <a:gd name="T85" fmla="*/ 180 h 669"/>
                      <a:gd name="T86" fmla="*/ 38 w 129"/>
                      <a:gd name="T87" fmla="*/ 207 h 669"/>
                      <a:gd name="T88" fmla="*/ 49 w 129"/>
                      <a:gd name="T89" fmla="*/ 240 h 669"/>
                      <a:gd name="T90" fmla="*/ 52 w 129"/>
                      <a:gd name="T91" fmla="*/ 264 h 669"/>
                      <a:gd name="T92" fmla="*/ 49 w 129"/>
                      <a:gd name="T93" fmla="*/ 288 h 669"/>
                      <a:gd name="T94" fmla="*/ 37 w 129"/>
                      <a:gd name="T95" fmla="*/ 343 h 669"/>
                      <a:gd name="T96" fmla="*/ 31 w 129"/>
                      <a:gd name="T97" fmla="*/ 381 h 669"/>
                      <a:gd name="T98" fmla="*/ 29 w 129"/>
                      <a:gd name="T99" fmla="*/ 422 h 669"/>
                      <a:gd name="T100" fmla="*/ 34 w 129"/>
                      <a:gd name="T101" fmla="*/ 456 h 669"/>
                      <a:gd name="T102" fmla="*/ 44 w 129"/>
                      <a:gd name="T103" fmla="*/ 495 h 669"/>
                      <a:gd name="T104" fmla="*/ 34 w 129"/>
                      <a:gd name="T105" fmla="*/ 534 h 669"/>
                      <a:gd name="T106" fmla="*/ 37 w 129"/>
                      <a:gd name="T107" fmla="*/ 563 h 669"/>
                      <a:gd name="T108" fmla="*/ 46 w 129"/>
                      <a:gd name="T109" fmla="*/ 588 h 669"/>
                      <a:gd name="T110" fmla="*/ 61 w 129"/>
                      <a:gd name="T111" fmla="*/ 610 h 669"/>
                      <a:gd name="T112" fmla="*/ 79 w 129"/>
                      <a:gd name="T113" fmla="*/ 632 h 669"/>
                      <a:gd name="T114" fmla="*/ 111 w 129"/>
                      <a:gd name="T115" fmla="*/ 657 h 669"/>
                      <a:gd name="T116" fmla="*/ 129 w 129"/>
                      <a:gd name="T117" fmla="*/ 669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9" h="669">
                        <a:moveTo>
                          <a:pt x="129" y="669"/>
                        </a:moveTo>
                        <a:lnTo>
                          <a:pt x="112" y="633"/>
                        </a:lnTo>
                        <a:lnTo>
                          <a:pt x="103" y="600"/>
                        </a:lnTo>
                        <a:lnTo>
                          <a:pt x="99" y="573"/>
                        </a:lnTo>
                        <a:lnTo>
                          <a:pt x="83" y="554"/>
                        </a:lnTo>
                        <a:lnTo>
                          <a:pt x="75" y="536"/>
                        </a:lnTo>
                        <a:lnTo>
                          <a:pt x="68" y="509"/>
                        </a:lnTo>
                        <a:lnTo>
                          <a:pt x="70" y="487"/>
                        </a:lnTo>
                        <a:lnTo>
                          <a:pt x="75" y="470"/>
                        </a:lnTo>
                        <a:lnTo>
                          <a:pt x="63" y="439"/>
                        </a:lnTo>
                        <a:lnTo>
                          <a:pt x="58" y="406"/>
                        </a:lnTo>
                        <a:lnTo>
                          <a:pt x="60" y="374"/>
                        </a:lnTo>
                        <a:lnTo>
                          <a:pt x="69" y="343"/>
                        </a:lnTo>
                        <a:lnTo>
                          <a:pt x="83" y="335"/>
                        </a:lnTo>
                        <a:lnTo>
                          <a:pt x="94" y="325"/>
                        </a:lnTo>
                        <a:lnTo>
                          <a:pt x="99" y="301"/>
                        </a:lnTo>
                        <a:lnTo>
                          <a:pt x="98" y="277"/>
                        </a:lnTo>
                        <a:lnTo>
                          <a:pt x="94" y="253"/>
                        </a:lnTo>
                        <a:lnTo>
                          <a:pt x="106" y="229"/>
                        </a:lnTo>
                        <a:lnTo>
                          <a:pt x="112" y="210"/>
                        </a:lnTo>
                        <a:lnTo>
                          <a:pt x="106" y="186"/>
                        </a:lnTo>
                        <a:lnTo>
                          <a:pt x="94" y="162"/>
                        </a:lnTo>
                        <a:lnTo>
                          <a:pt x="81" y="144"/>
                        </a:lnTo>
                        <a:lnTo>
                          <a:pt x="88" y="111"/>
                        </a:lnTo>
                        <a:lnTo>
                          <a:pt x="94" y="73"/>
                        </a:lnTo>
                        <a:lnTo>
                          <a:pt x="90" y="48"/>
                        </a:lnTo>
                        <a:lnTo>
                          <a:pt x="93" y="24"/>
                        </a:lnTo>
                        <a:lnTo>
                          <a:pt x="99" y="0"/>
                        </a:lnTo>
                        <a:lnTo>
                          <a:pt x="80" y="6"/>
                        </a:lnTo>
                        <a:lnTo>
                          <a:pt x="65" y="15"/>
                        </a:lnTo>
                        <a:lnTo>
                          <a:pt x="51" y="34"/>
                        </a:lnTo>
                        <a:lnTo>
                          <a:pt x="44" y="55"/>
                        </a:lnTo>
                        <a:lnTo>
                          <a:pt x="42" y="38"/>
                        </a:lnTo>
                        <a:lnTo>
                          <a:pt x="35" y="23"/>
                        </a:lnTo>
                        <a:lnTo>
                          <a:pt x="26" y="11"/>
                        </a:lnTo>
                        <a:lnTo>
                          <a:pt x="17" y="1"/>
                        </a:lnTo>
                        <a:lnTo>
                          <a:pt x="11" y="18"/>
                        </a:lnTo>
                        <a:lnTo>
                          <a:pt x="3" y="43"/>
                        </a:lnTo>
                        <a:lnTo>
                          <a:pt x="0" y="60"/>
                        </a:lnTo>
                        <a:lnTo>
                          <a:pt x="16" y="91"/>
                        </a:lnTo>
                        <a:lnTo>
                          <a:pt x="25" y="127"/>
                        </a:lnTo>
                        <a:lnTo>
                          <a:pt x="27" y="151"/>
                        </a:lnTo>
                        <a:lnTo>
                          <a:pt x="31" y="180"/>
                        </a:lnTo>
                        <a:lnTo>
                          <a:pt x="38" y="207"/>
                        </a:lnTo>
                        <a:lnTo>
                          <a:pt x="49" y="240"/>
                        </a:lnTo>
                        <a:lnTo>
                          <a:pt x="52" y="264"/>
                        </a:lnTo>
                        <a:lnTo>
                          <a:pt x="49" y="288"/>
                        </a:lnTo>
                        <a:lnTo>
                          <a:pt x="37" y="343"/>
                        </a:lnTo>
                        <a:lnTo>
                          <a:pt x="31" y="381"/>
                        </a:lnTo>
                        <a:lnTo>
                          <a:pt x="29" y="422"/>
                        </a:lnTo>
                        <a:lnTo>
                          <a:pt x="34" y="456"/>
                        </a:lnTo>
                        <a:lnTo>
                          <a:pt x="44" y="495"/>
                        </a:lnTo>
                        <a:lnTo>
                          <a:pt x="34" y="534"/>
                        </a:lnTo>
                        <a:lnTo>
                          <a:pt x="37" y="563"/>
                        </a:lnTo>
                        <a:lnTo>
                          <a:pt x="46" y="588"/>
                        </a:lnTo>
                        <a:lnTo>
                          <a:pt x="61" y="610"/>
                        </a:lnTo>
                        <a:lnTo>
                          <a:pt x="79" y="632"/>
                        </a:lnTo>
                        <a:lnTo>
                          <a:pt x="111" y="657"/>
                        </a:lnTo>
                        <a:lnTo>
                          <a:pt x="129" y="669"/>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3" name="Freeform 325"/>
                  <p:cNvSpPr/>
                  <p:nvPr/>
                </p:nvSpPr>
                <p:spPr bwMode="auto">
                  <a:xfrm>
                    <a:off x="2721" y="3067"/>
                    <a:ext cx="41" cy="12"/>
                  </a:xfrm>
                  <a:custGeom>
                    <a:avLst/>
                    <a:gdLst>
                      <a:gd name="T0" fmla="*/ 0 w 286"/>
                      <a:gd name="T1" fmla="*/ 0 h 95"/>
                      <a:gd name="T2" fmla="*/ 22 w 286"/>
                      <a:gd name="T3" fmla="*/ 12 h 95"/>
                      <a:gd name="T4" fmla="*/ 51 w 286"/>
                      <a:gd name="T5" fmla="*/ 26 h 95"/>
                      <a:gd name="T6" fmla="*/ 82 w 286"/>
                      <a:gd name="T7" fmla="*/ 39 h 95"/>
                      <a:gd name="T8" fmla="*/ 108 w 286"/>
                      <a:gd name="T9" fmla="*/ 46 h 95"/>
                      <a:gd name="T10" fmla="*/ 142 w 286"/>
                      <a:gd name="T11" fmla="*/ 53 h 95"/>
                      <a:gd name="T12" fmla="*/ 174 w 286"/>
                      <a:gd name="T13" fmla="*/ 50 h 95"/>
                      <a:gd name="T14" fmla="*/ 208 w 286"/>
                      <a:gd name="T15" fmla="*/ 53 h 95"/>
                      <a:gd name="T16" fmla="*/ 237 w 286"/>
                      <a:gd name="T17" fmla="*/ 56 h 95"/>
                      <a:gd name="T18" fmla="*/ 269 w 286"/>
                      <a:gd name="T19" fmla="*/ 67 h 95"/>
                      <a:gd name="T20" fmla="*/ 279 w 286"/>
                      <a:gd name="T21" fmla="*/ 72 h 95"/>
                      <a:gd name="T22" fmla="*/ 286 w 286"/>
                      <a:gd name="T23" fmla="*/ 85 h 95"/>
                      <a:gd name="T24" fmla="*/ 258 w 286"/>
                      <a:gd name="T25" fmla="*/ 91 h 95"/>
                      <a:gd name="T26" fmla="*/ 223 w 286"/>
                      <a:gd name="T27" fmla="*/ 95 h 95"/>
                      <a:gd name="T28" fmla="*/ 185 w 286"/>
                      <a:gd name="T29" fmla="*/ 92 h 95"/>
                      <a:gd name="T30" fmla="*/ 143 w 286"/>
                      <a:gd name="T31" fmla="*/ 87 h 95"/>
                      <a:gd name="T32" fmla="*/ 100 w 286"/>
                      <a:gd name="T33" fmla="*/ 78 h 95"/>
                      <a:gd name="T34" fmla="*/ 71 w 286"/>
                      <a:gd name="T35" fmla="*/ 67 h 95"/>
                      <a:gd name="T36" fmla="*/ 42 w 286"/>
                      <a:gd name="T37" fmla="*/ 47 h 95"/>
                      <a:gd name="T38" fmla="*/ 22 w 286"/>
                      <a:gd name="T39" fmla="*/ 30 h 95"/>
                      <a:gd name="T40" fmla="*/ 0 w 286"/>
                      <a:gd name="T41"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6" h="95">
                        <a:moveTo>
                          <a:pt x="0" y="0"/>
                        </a:moveTo>
                        <a:lnTo>
                          <a:pt x="22" y="12"/>
                        </a:lnTo>
                        <a:lnTo>
                          <a:pt x="51" y="26"/>
                        </a:lnTo>
                        <a:lnTo>
                          <a:pt x="82" y="39"/>
                        </a:lnTo>
                        <a:lnTo>
                          <a:pt x="108" y="46"/>
                        </a:lnTo>
                        <a:lnTo>
                          <a:pt x="142" y="53"/>
                        </a:lnTo>
                        <a:lnTo>
                          <a:pt x="174" y="50"/>
                        </a:lnTo>
                        <a:lnTo>
                          <a:pt x="208" y="53"/>
                        </a:lnTo>
                        <a:lnTo>
                          <a:pt x="237" y="56"/>
                        </a:lnTo>
                        <a:lnTo>
                          <a:pt x="269" y="67"/>
                        </a:lnTo>
                        <a:lnTo>
                          <a:pt x="279" y="72"/>
                        </a:lnTo>
                        <a:lnTo>
                          <a:pt x="286" y="85"/>
                        </a:lnTo>
                        <a:lnTo>
                          <a:pt x="258" y="91"/>
                        </a:lnTo>
                        <a:lnTo>
                          <a:pt x="223" y="95"/>
                        </a:lnTo>
                        <a:lnTo>
                          <a:pt x="185" y="92"/>
                        </a:lnTo>
                        <a:lnTo>
                          <a:pt x="143" y="87"/>
                        </a:lnTo>
                        <a:lnTo>
                          <a:pt x="100" y="78"/>
                        </a:lnTo>
                        <a:lnTo>
                          <a:pt x="71" y="67"/>
                        </a:lnTo>
                        <a:lnTo>
                          <a:pt x="42" y="47"/>
                        </a:lnTo>
                        <a:lnTo>
                          <a:pt x="22" y="30"/>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4" name="Freeform 326"/>
                  <p:cNvSpPr/>
                  <p:nvPr/>
                </p:nvSpPr>
                <p:spPr bwMode="auto">
                  <a:xfrm>
                    <a:off x="2757" y="3101"/>
                    <a:ext cx="51" cy="9"/>
                  </a:xfrm>
                  <a:custGeom>
                    <a:avLst/>
                    <a:gdLst>
                      <a:gd name="T0" fmla="*/ 0 w 361"/>
                      <a:gd name="T1" fmla="*/ 3 h 71"/>
                      <a:gd name="T2" fmla="*/ 37 w 361"/>
                      <a:gd name="T3" fmla="*/ 20 h 71"/>
                      <a:gd name="T4" fmla="*/ 66 w 361"/>
                      <a:gd name="T5" fmla="*/ 30 h 71"/>
                      <a:gd name="T6" fmla="*/ 99 w 361"/>
                      <a:gd name="T7" fmla="*/ 42 h 71"/>
                      <a:gd name="T8" fmla="*/ 138 w 361"/>
                      <a:gd name="T9" fmla="*/ 48 h 71"/>
                      <a:gd name="T10" fmla="*/ 182 w 361"/>
                      <a:gd name="T11" fmla="*/ 53 h 71"/>
                      <a:gd name="T12" fmla="*/ 225 w 361"/>
                      <a:gd name="T13" fmla="*/ 51 h 71"/>
                      <a:gd name="T14" fmla="*/ 256 w 361"/>
                      <a:gd name="T15" fmla="*/ 46 h 71"/>
                      <a:gd name="T16" fmla="*/ 290 w 361"/>
                      <a:gd name="T17" fmla="*/ 37 h 71"/>
                      <a:gd name="T18" fmla="*/ 313 w 361"/>
                      <a:gd name="T19" fmla="*/ 27 h 71"/>
                      <a:gd name="T20" fmla="*/ 335 w 361"/>
                      <a:gd name="T21" fmla="*/ 16 h 71"/>
                      <a:gd name="T22" fmla="*/ 361 w 361"/>
                      <a:gd name="T23" fmla="*/ 0 h 71"/>
                      <a:gd name="T24" fmla="*/ 352 w 361"/>
                      <a:gd name="T25" fmla="*/ 17 h 71"/>
                      <a:gd name="T26" fmla="*/ 329 w 361"/>
                      <a:gd name="T27" fmla="*/ 37 h 71"/>
                      <a:gd name="T28" fmla="*/ 302 w 361"/>
                      <a:gd name="T29" fmla="*/ 51 h 71"/>
                      <a:gd name="T30" fmla="*/ 271 w 361"/>
                      <a:gd name="T31" fmla="*/ 60 h 71"/>
                      <a:gd name="T32" fmla="*/ 237 w 361"/>
                      <a:gd name="T33" fmla="*/ 66 h 71"/>
                      <a:gd name="T34" fmla="*/ 206 w 361"/>
                      <a:gd name="T35" fmla="*/ 70 h 71"/>
                      <a:gd name="T36" fmla="*/ 174 w 361"/>
                      <a:gd name="T37" fmla="*/ 71 h 71"/>
                      <a:gd name="T38" fmla="*/ 140 w 361"/>
                      <a:gd name="T39" fmla="*/ 68 h 71"/>
                      <a:gd name="T40" fmla="*/ 109 w 361"/>
                      <a:gd name="T41" fmla="*/ 60 h 71"/>
                      <a:gd name="T42" fmla="*/ 81 w 361"/>
                      <a:gd name="T43" fmla="*/ 52 h 71"/>
                      <a:gd name="T44" fmla="*/ 50 w 361"/>
                      <a:gd name="T45" fmla="*/ 37 h 71"/>
                      <a:gd name="T46" fmla="*/ 22 w 361"/>
                      <a:gd name="T47" fmla="*/ 20 h 71"/>
                      <a:gd name="T48" fmla="*/ 0 w 361"/>
                      <a:gd name="T49" fmla="*/ 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1" h="71">
                        <a:moveTo>
                          <a:pt x="0" y="3"/>
                        </a:moveTo>
                        <a:lnTo>
                          <a:pt x="37" y="20"/>
                        </a:lnTo>
                        <a:lnTo>
                          <a:pt x="66" y="30"/>
                        </a:lnTo>
                        <a:lnTo>
                          <a:pt x="99" y="42"/>
                        </a:lnTo>
                        <a:lnTo>
                          <a:pt x="138" y="48"/>
                        </a:lnTo>
                        <a:lnTo>
                          <a:pt x="182" y="53"/>
                        </a:lnTo>
                        <a:lnTo>
                          <a:pt x="225" y="51"/>
                        </a:lnTo>
                        <a:lnTo>
                          <a:pt x="256" y="46"/>
                        </a:lnTo>
                        <a:lnTo>
                          <a:pt x="290" y="37"/>
                        </a:lnTo>
                        <a:lnTo>
                          <a:pt x="313" y="27"/>
                        </a:lnTo>
                        <a:lnTo>
                          <a:pt x="335" y="16"/>
                        </a:lnTo>
                        <a:lnTo>
                          <a:pt x="361" y="0"/>
                        </a:lnTo>
                        <a:lnTo>
                          <a:pt x="352" y="17"/>
                        </a:lnTo>
                        <a:lnTo>
                          <a:pt x="329" y="37"/>
                        </a:lnTo>
                        <a:lnTo>
                          <a:pt x="302" y="51"/>
                        </a:lnTo>
                        <a:lnTo>
                          <a:pt x="271" y="60"/>
                        </a:lnTo>
                        <a:lnTo>
                          <a:pt x="237" y="66"/>
                        </a:lnTo>
                        <a:lnTo>
                          <a:pt x="206" y="70"/>
                        </a:lnTo>
                        <a:lnTo>
                          <a:pt x="174" y="71"/>
                        </a:lnTo>
                        <a:lnTo>
                          <a:pt x="140" y="68"/>
                        </a:lnTo>
                        <a:lnTo>
                          <a:pt x="109" y="60"/>
                        </a:lnTo>
                        <a:lnTo>
                          <a:pt x="81" y="52"/>
                        </a:lnTo>
                        <a:lnTo>
                          <a:pt x="50" y="37"/>
                        </a:lnTo>
                        <a:lnTo>
                          <a:pt x="22" y="20"/>
                        </a:lnTo>
                        <a:lnTo>
                          <a:pt x="0" y="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5" name="Freeform 327"/>
                  <p:cNvSpPr/>
                  <p:nvPr/>
                </p:nvSpPr>
                <p:spPr bwMode="auto">
                  <a:xfrm>
                    <a:off x="2725" y="3092"/>
                    <a:ext cx="35" cy="7"/>
                  </a:xfrm>
                  <a:custGeom>
                    <a:avLst/>
                    <a:gdLst>
                      <a:gd name="T0" fmla="*/ 246 w 246"/>
                      <a:gd name="T1" fmla="*/ 23 h 55"/>
                      <a:gd name="T2" fmla="*/ 205 w 246"/>
                      <a:gd name="T3" fmla="*/ 44 h 55"/>
                      <a:gd name="T4" fmla="*/ 167 w 246"/>
                      <a:gd name="T5" fmla="*/ 54 h 55"/>
                      <a:gd name="T6" fmla="*/ 130 w 246"/>
                      <a:gd name="T7" fmla="*/ 55 h 55"/>
                      <a:gd name="T8" fmla="*/ 95 w 246"/>
                      <a:gd name="T9" fmla="*/ 48 h 55"/>
                      <a:gd name="T10" fmla="*/ 61 w 246"/>
                      <a:gd name="T11" fmla="*/ 36 h 55"/>
                      <a:gd name="T12" fmla="*/ 32 w 246"/>
                      <a:gd name="T13" fmla="*/ 23 h 55"/>
                      <a:gd name="T14" fmla="*/ 0 w 246"/>
                      <a:gd name="T15" fmla="*/ 0 h 55"/>
                      <a:gd name="T16" fmla="*/ 34 w 246"/>
                      <a:gd name="T17" fmla="*/ 13 h 55"/>
                      <a:gd name="T18" fmla="*/ 60 w 246"/>
                      <a:gd name="T19" fmla="*/ 20 h 55"/>
                      <a:gd name="T20" fmla="*/ 103 w 246"/>
                      <a:gd name="T21" fmla="*/ 30 h 55"/>
                      <a:gd name="T22" fmla="*/ 131 w 246"/>
                      <a:gd name="T23" fmla="*/ 34 h 55"/>
                      <a:gd name="T24" fmla="*/ 167 w 246"/>
                      <a:gd name="T25" fmla="*/ 36 h 55"/>
                      <a:gd name="T26" fmla="*/ 206 w 246"/>
                      <a:gd name="T27" fmla="*/ 33 h 55"/>
                      <a:gd name="T28" fmla="*/ 246 w 246"/>
                      <a:gd name="T29"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6" h="55">
                        <a:moveTo>
                          <a:pt x="246" y="23"/>
                        </a:moveTo>
                        <a:lnTo>
                          <a:pt x="205" y="44"/>
                        </a:lnTo>
                        <a:lnTo>
                          <a:pt x="167" y="54"/>
                        </a:lnTo>
                        <a:lnTo>
                          <a:pt x="130" y="55"/>
                        </a:lnTo>
                        <a:lnTo>
                          <a:pt x="95" y="48"/>
                        </a:lnTo>
                        <a:lnTo>
                          <a:pt x="61" y="36"/>
                        </a:lnTo>
                        <a:lnTo>
                          <a:pt x="32" y="23"/>
                        </a:lnTo>
                        <a:lnTo>
                          <a:pt x="0" y="0"/>
                        </a:lnTo>
                        <a:lnTo>
                          <a:pt x="34" y="13"/>
                        </a:lnTo>
                        <a:lnTo>
                          <a:pt x="60" y="20"/>
                        </a:lnTo>
                        <a:lnTo>
                          <a:pt x="103" y="30"/>
                        </a:lnTo>
                        <a:lnTo>
                          <a:pt x="131" y="34"/>
                        </a:lnTo>
                        <a:lnTo>
                          <a:pt x="167" y="36"/>
                        </a:lnTo>
                        <a:lnTo>
                          <a:pt x="206" y="33"/>
                        </a:lnTo>
                        <a:lnTo>
                          <a:pt x="246" y="23"/>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6" name="Freeform 328"/>
                  <p:cNvSpPr/>
                  <p:nvPr/>
                </p:nvSpPr>
                <p:spPr bwMode="auto">
                  <a:xfrm>
                    <a:off x="2723" y="3078"/>
                    <a:ext cx="38" cy="16"/>
                  </a:xfrm>
                  <a:custGeom>
                    <a:avLst/>
                    <a:gdLst>
                      <a:gd name="T0" fmla="*/ 258 w 269"/>
                      <a:gd name="T1" fmla="*/ 14 h 134"/>
                      <a:gd name="T2" fmla="*/ 230 w 269"/>
                      <a:gd name="T3" fmla="*/ 20 h 134"/>
                      <a:gd name="T4" fmla="*/ 203 w 269"/>
                      <a:gd name="T5" fmla="*/ 26 h 134"/>
                      <a:gd name="T6" fmla="*/ 163 w 269"/>
                      <a:gd name="T7" fmla="*/ 30 h 134"/>
                      <a:gd name="T8" fmla="*/ 125 w 269"/>
                      <a:gd name="T9" fmla="*/ 29 h 134"/>
                      <a:gd name="T10" fmla="*/ 88 w 269"/>
                      <a:gd name="T11" fmla="*/ 24 h 134"/>
                      <a:gd name="T12" fmla="*/ 54 w 269"/>
                      <a:gd name="T13" fmla="*/ 19 h 134"/>
                      <a:gd name="T14" fmla="*/ 24 w 269"/>
                      <a:gd name="T15" fmla="*/ 12 h 134"/>
                      <a:gd name="T16" fmla="*/ 0 w 269"/>
                      <a:gd name="T17" fmla="*/ 0 h 134"/>
                      <a:gd name="T18" fmla="*/ 11 w 269"/>
                      <a:gd name="T19" fmla="*/ 24 h 134"/>
                      <a:gd name="T20" fmla="*/ 24 w 269"/>
                      <a:gd name="T21" fmla="*/ 51 h 134"/>
                      <a:gd name="T22" fmla="*/ 39 w 269"/>
                      <a:gd name="T23" fmla="*/ 75 h 134"/>
                      <a:gd name="T24" fmla="*/ 60 w 269"/>
                      <a:gd name="T25" fmla="*/ 102 h 134"/>
                      <a:gd name="T26" fmla="*/ 86 w 269"/>
                      <a:gd name="T27" fmla="*/ 120 h 134"/>
                      <a:gd name="T28" fmla="*/ 119 w 269"/>
                      <a:gd name="T29" fmla="*/ 134 h 134"/>
                      <a:gd name="T30" fmla="*/ 143 w 269"/>
                      <a:gd name="T31" fmla="*/ 129 h 134"/>
                      <a:gd name="T32" fmla="*/ 171 w 269"/>
                      <a:gd name="T33" fmla="*/ 126 h 134"/>
                      <a:gd name="T34" fmla="*/ 197 w 269"/>
                      <a:gd name="T35" fmla="*/ 127 h 134"/>
                      <a:gd name="T36" fmla="*/ 222 w 269"/>
                      <a:gd name="T37" fmla="*/ 120 h 134"/>
                      <a:gd name="T38" fmla="*/ 243 w 269"/>
                      <a:gd name="T39" fmla="*/ 113 h 134"/>
                      <a:gd name="T40" fmla="*/ 269 w 269"/>
                      <a:gd name="T41" fmla="*/ 96 h 134"/>
                      <a:gd name="T42" fmla="*/ 233 w 269"/>
                      <a:gd name="T43" fmla="*/ 90 h 134"/>
                      <a:gd name="T44" fmla="*/ 203 w 269"/>
                      <a:gd name="T45" fmla="*/ 89 h 134"/>
                      <a:gd name="T46" fmla="*/ 164 w 269"/>
                      <a:gd name="T47" fmla="*/ 94 h 134"/>
                      <a:gd name="T48" fmla="*/ 125 w 269"/>
                      <a:gd name="T49" fmla="*/ 102 h 134"/>
                      <a:gd name="T50" fmla="*/ 99 w 269"/>
                      <a:gd name="T51" fmla="*/ 74 h 134"/>
                      <a:gd name="T52" fmla="*/ 71 w 269"/>
                      <a:gd name="T53" fmla="*/ 51 h 134"/>
                      <a:gd name="T54" fmla="*/ 94 w 269"/>
                      <a:gd name="T55" fmla="*/ 57 h 134"/>
                      <a:gd name="T56" fmla="*/ 116 w 269"/>
                      <a:gd name="T57" fmla="*/ 62 h 134"/>
                      <a:gd name="T58" fmla="*/ 147 w 269"/>
                      <a:gd name="T59" fmla="*/ 66 h 134"/>
                      <a:gd name="T60" fmla="*/ 187 w 269"/>
                      <a:gd name="T61" fmla="*/ 64 h 134"/>
                      <a:gd name="T62" fmla="*/ 220 w 269"/>
                      <a:gd name="T63" fmla="*/ 59 h 134"/>
                      <a:gd name="T64" fmla="*/ 245 w 269"/>
                      <a:gd name="T65" fmla="*/ 51 h 134"/>
                      <a:gd name="T66" fmla="*/ 248 w 269"/>
                      <a:gd name="T67" fmla="*/ 32 h 134"/>
                      <a:gd name="T68" fmla="*/ 258 w 269"/>
                      <a:gd name="T69" fmla="*/ 1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9" h="134">
                        <a:moveTo>
                          <a:pt x="258" y="14"/>
                        </a:moveTo>
                        <a:lnTo>
                          <a:pt x="230" y="20"/>
                        </a:lnTo>
                        <a:lnTo>
                          <a:pt x="203" y="26"/>
                        </a:lnTo>
                        <a:lnTo>
                          <a:pt x="163" y="30"/>
                        </a:lnTo>
                        <a:lnTo>
                          <a:pt x="125" y="29"/>
                        </a:lnTo>
                        <a:lnTo>
                          <a:pt x="88" y="24"/>
                        </a:lnTo>
                        <a:lnTo>
                          <a:pt x="54" y="19"/>
                        </a:lnTo>
                        <a:lnTo>
                          <a:pt x="24" y="12"/>
                        </a:lnTo>
                        <a:lnTo>
                          <a:pt x="0" y="0"/>
                        </a:lnTo>
                        <a:lnTo>
                          <a:pt x="11" y="24"/>
                        </a:lnTo>
                        <a:lnTo>
                          <a:pt x="24" y="51"/>
                        </a:lnTo>
                        <a:lnTo>
                          <a:pt x="39" y="75"/>
                        </a:lnTo>
                        <a:lnTo>
                          <a:pt x="60" y="102"/>
                        </a:lnTo>
                        <a:lnTo>
                          <a:pt x="86" y="120"/>
                        </a:lnTo>
                        <a:lnTo>
                          <a:pt x="119" y="134"/>
                        </a:lnTo>
                        <a:lnTo>
                          <a:pt x="143" y="129"/>
                        </a:lnTo>
                        <a:lnTo>
                          <a:pt x="171" y="126"/>
                        </a:lnTo>
                        <a:lnTo>
                          <a:pt x="197" y="127"/>
                        </a:lnTo>
                        <a:lnTo>
                          <a:pt x="222" y="120"/>
                        </a:lnTo>
                        <a:lnTo>
                          <a:pt x="243" y="113"/>
                        </a:lnTo>
                        <a:lnTo>
                          <a:pt x="269" y="96"/>
                        </a:lnTo>
                        <a:lnTo>
                          <a:pt x="233" y="90"/>
                        </a:lnTo>
                        <a:lnTo>
                          <a:pt x="203" y="89"/>
                        </a:lnTo>
                        <a:lnTo>
                          <a:pt x="164" y="94"/>
                        </a:lnTo>
                        <a:lnTo>
                          <a:pt x="125" y="102"/>
                        </a:lnTo>
                        <a:lnTo>
                          <a:pt x="99" y="74"/>
                        </a:lnTo>
                        <a:lnTo>
                          <a:pt x="71" y="51"/>
                        </a:lnTo>
                        <a:lnTo>
                          <a:pt x="94" y="57"/>
                        </a:lnTo>
                        <a:lnTo>
                          <a:pt x="116" y="62"/>
                        </a:lnTo>
                        <a:lnTo>
                          <a:pt x="147" y="66"/>
                        </a:lnTo>
                        <a:lnTo>
                          <a:pt x="187" y="64"/>
                        </a:lnTo>
                        <a:lnTo>
                          <a:pt x="220" y="59"/>
                        </a:lnTo>
                        <a:lnTo>
                          <a:pt x="245" y="51"/>
                        </a:lnTo>
                        <a:lnTo>
                          <a:pt x="248" y="32"/>
                        </a:lnTo>
                        <a:lnTo>
                          <a:pt x="258" y="1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7" name="Freeform 329"/>
                  <p:cNvSpPr/>
                  <p:nvPr/>
                </p:nvSpPr>
                <p:spPr bwMode="auto">
                  <a:xfrm>
                    <a:off x="2723" y="3020"/>
                    <a:ext cx="56" cy="50"/>
                  </a:xfrm>
                  <a:custGeom>
                    <a:avLst/>
                    <a:gdLst>
                      <a:gd name="T0" fmla="*/ 0 w 391"/>
                      <a:gd name="T1" fmla="*/ 334 h 406"/>
                      <a:gd name="T2" fmla="*/ 33 w 391"/>
                      <a:gd name="T3" fmla="*/ 347 h 406"/>
                      <a:gd name="T4" fmla="*/ 65 w 391"/>
                      <a:gd name="T5" fmla="*/ 358 h 406"/>
                      <a:gd name="T6" fmla="*/ 94 w 391"/>
                      <a:gd name="T7" fmla="*/ 365 h 406"/>
                      <a:gd name="T8" fmla="*/ 130 w 391"/>
                      <a:gd name="T9" fmla="*/ 369 h 406"/>
                      <a:gd name="T10" fmla="*/ 120 w 391"/>
                      <a:gd name="T11" fmla="*/ 376 h 406"/>
                      <a:gd name="T12" fmla="*/ 108 w 391"/>
                      <a:gd name="T13" fmla="*/ 387 h 406"/>
                      <a:gd name="T14" fmla="*/ 94 w 391"/>
                      <a:gd name="T15" fmla="*/ 394 h 406"/>
                      <a:gd name="T16" fmla="*/ 116 w 391"/>
                      <a:gd name="T17" fmla="*/ 401 h 406"/>
                      <a:gd name="T18" fmla="*/ 145 w 391"/>
                      <a:gd name="T19" fmla="*/ 406 h 406"/>
                      <a:gd name="T20" fmla="*/ 178 w 391"/>
                      <a:gd name="T21" fmla="*/ 403 h 406"/>
                      <a:gd name="T22" fmla="*/ 207 w 391"/>
                      <a:gd name="T23" fmla="*/ 394 h 406"/>
                      <a:gd name="T24" fmla="*/ 243 w 391"/>
                      <a:gd name="T25" fmla="*/ 375 h 406"/>
                      <a:gd name="T26" fmla="*/ 308 w 391"/>
                      <a:gd name="T27" fmla="*/ 369 h 406"/>
                      <a:gd name="T28" fmla="*/ 361 w 391"/>
                      <a:gd name="T29" fmla="*/ 369 h 406"/>
                      <a:gd name="T30" fmla="*/ 391 w 391"/>
                      <a:gd name="T31" fmla="*/ 369 h 406"/>
                      <a:gd name="T32" fmla="*/ 391 w 391"/>
                      <a:gd name="T33" fmla="*/ 327 h 406"/>
                      <a:gd name="T34" fmla="*/ 380 w 391"/>
                      <a:gd name="T35" fmla="*/ 260 h 406"/>
                      <a:gd name="T36" fmla="*/ 385 w 391"/>
                      <a:gd name="T37" fmla="*/ 145 h 406"/>
                      <a:gd name="T38" fmla="*/ 368 w 391"/>
                      <a:gd name="T39" fmla="*/ 55 h 406"/>
                      <a:gd name="T40" fmla="*/ 352 w 391"/>
                      <a:gd name="T41" fmla="*/ 27 h 406"/>
                      <a:gd name="T42" fmla="*/ 333 w 391"/>
                      <a:gd name="T43" fmla="*/ 0 h 406"/>
                      <a:gd name="T44" fmla="*/ 326 w 391"/>
                      <a:gd name="T45" fmla="*/ 42 h 406"/>
                      <a:gd name="T46" fmla="*/ 318 w 391"/>
                      <a:gd name="T47" fmla="*/ 97 h 406"/>
                      <a:gd name="T48" fmla="*/ 315 w 391"/>
                      <a:gd name="T49" fmla="*/ 143 h 406"/>
                      <a:gd name="T50" fmla="*/ 320 w 391"/>
                      <a:gd name="T51" fmla="*/ 193 h 406"/>
                      <a:gd name="T52" fmla="*/ 296 w 391"/>
                      <a:gd name="T53" fmla="*/ 290 h 406"/>
                      <a:gd name="T54" fmla="*/ 273 w 391"/>
                      <a:gd name="T55" fmla="*/ 327 h 406"/>
                      <a:gd name="T56" fmla="*/ 246 w 391"/>
                      <a:gd name="T57" fmla="*/ 329 h 406"/>
                      <a:gd name="T58" fmla="*/ 221 w 391"/>
                      <a:gd name="T59" fmla="*/ 331 h 406"/>
                      <a:gd name="T60" fmla="*/ 189 w 391"/>
                      <a:gd name="T61" fmla="*/ 338 h 406"/>
                      <a:gd name="T62" fmla="*/ 160 w 391"/>
                      <a:gd name="T63" fmla="*/ 345 h 406"/>
                      <a:gd name="T64" fmla="*/ 128 w 391"/>
                      <a:gd name="T65" fmla="*/ 333 h 406"/>
                      <a:gd name="T66" fmla="*/ 100 w 391"/>
                      <a:gd name="T67" fmla="*/ 327 h 406"/>
                      <a:gd name="T68" fmla="*/ 62 w 391"/>
                      <a:gd name="T69" fmla="*/ 325 h 406"/>
                      <a:gd name="T70" fmla="*/ 33 w 391"/>
                      <a:gd name="T71" fmla="*/ 328 h 406"/>
                      <a:gd name="T72" fmla="*/ 0 w 391"/>
                      <a:gd name="T73" fmla="*/ 33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91" h="406">
                        <a:moveTo>
                          <a:pt x="0" y="334"/>
                        </a:moveTo>
                        <a:lnTo>
                          <a:pt x="33" y="347"/>
                        </a:lnTo>
                        <a:lnTo>
                          <a:pt x="65" y="358"/>
                        </a:lnTo>
                        <a:lnTo>
                          <a:pt x="94" y="365"/>
                        </a:lnTo>
                        <a:lnTo>
                          <a:pt x="130" y="369"/>
                        </a:lnTo>
                        <a:lnTo>
                          <a:pt x="120" y="376"/>
                        </a:lnTo>
                        <a:lnTo>
                          <a:pt x="108" y="387"/>
                        </a:lnTo>
                        <a:lnTo>
                          <a:pt x="94" y="394"/>
                        </a:lnTo>
                        <a:lnTo>
                          <a:pt x="116" y="401"/>
                        </a:lnTo>
                        <a:lnTo>
                          <a:pt x="145" y="406"/>
                        </a:lnTo>
                        <a:lnTo>
                          <a:pt x="178" y="403"/>
                        </a:lnTo>
                        <a:lnTo>
                          <a:pt x="207" y="394"/>
                        </a:lnTo>
                        <a:lnTo>
                          <a:pt x="243" y="375"/>
                        </a:lnTo>
                        <a:lnTo>
                          <a:pt x="308" y="369"/>
                        </a:lnTo>
                        <a:lnTo>
                          <a:pt x="361" y="369"/>
                        </a:lnTo>
                        <a:lnTo>
                          <a:pt x="391" y="369"/>
                        </a:lnTo>
                        <a:lnTo>
                          <a:pt x="391" y="327"/>
                        </a:lnTo>
                        <a:lnTo>
                          <a:pt x="380" y="260"/>
                        </a:lnTo>
                        <a:lnTo>
                          <a:pt x="385" y="145"/>
                        </a:lnTo>
                        <a:lnTo>
                          <a:pt x="368" y="55"/>
                        </a:lnTo>
                        <a:lnTo>
                          <a:pt x="352" y="27"/>
                        </a:lnTo>
                        <a:lnTo>
                          <a:pt x="333" y="0"/>
                        </a:lnTo>
                        <a:lnTo>
                          <a:pt x="326" y="42"/>
                        </a:lnTo>
                        <a:lnTo>
                          <a:pt x="318" y="97"/>
                        </a:lnTo>
                        <a:lnTo>
                          <a:pt x="315" y="143"/>
                        </a:lnTo>
                        <a:lnTo>
                          <a:pt x="320" y="193"/>
                        </a:lnTo>
                        <a:lnTo>
                          <a:pt x="296" y="290"/>
                        </a:lnTo>
                        <a:lnTo>
                          <a:pt x="273" y="327"/>
                        </a:lnTo>
                        <a:lnTo>
                          <a:pt x="246" y="329"/>
                        </a:lnTo>
                        <a:lnTo>
                          <a:pt x="221" y="331"/>
                        </a:lnTo>
                        <a:lnTo>
                          <a:pt x="189" y="338"/>
                        </a:lnTo>
                        <a:lnTo>
                          <a:pt x="160" y="345"/>
                        </a:lnTo>
                        <a:lnTo>
                          <a:pt x="128" y="333"/>
                        </a:lnTo>
                        <a:lnTo>
                          <a:pt x="100" y="327"/>
                        </a:lnTo>
                        <a:lnTo>
                          <a:pt x="62" y="325"/>
                        </a:lnTo>
                        <a:lnTo>
                          <a:pt x="33" y="328"/>
                        </a:lnTo>
                        <a:lnTo>
                          <a:pt x="0" y="33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8" name="Freeform 330"/>
                  <p:cNvSpPr/>
                  <p:nvPr/>
                </p:nvSpPr>
                <p:spPr bwMode="auto">
                  <a:xfrm>
                    <a:off x="2725" y="3011"/>
                    <a:ext cx="39" cy="44"/>
                  </a:xfrm>
                  <a:custGeom>
                    <a:avLst/>
                    <a:gdLst>
                      <a:gd name="T0" fmla="*/ 272 w 273"/>
                      <a:gd name="T1" fmla="*/ 0 h 346"/>
                      <a:gd name="T2" fmla="*/ 273 w 273"/>
                      <a:gd name="T3" fmla="*/ 33 h 346"/>
                      <a:gd name="T4" fmla="*/ 271 w 273"/>
                      <a:gd name="T5" fmla="*/ 60 h 346"/>
                      <a:gd name="T6" fmla="*/ 264 w 273"/>
                      <a:gd name="T7" fmla="*/ 94 h 346"/>
                      <a:gd name="T8" fmla="*/ 254 w 273"/>
                      <a:gd name="T9" fmla="*/ 128 h 346"/>
                      <a:gd name="T10" fmla="*/ 239 w 273"/>
                      <a:gd name="T11" fmla="*/ 163 h 346"/>
                      <a:gd name="T12" fmla="*/ 212 w 273"/>
                      <a:gd name="T13" fmla="*/ 196 h 346"/>
                      <a:gd name="T14" fmla="*/ 182 w 273"/>
                      <a:gd name="T15" fmla="*/ 219 h 346"/>
                      <a:gd name="T16" fmla="*/ 145 w 273"/>
                      <a:gd name="T17" fmla="*/ 247 h 346"/>
                      <a:gd name="T18" fmla="*/ 106 w 273"/>
                      <a:gd name="T19" fmla="*/ 267 h 346"/>
                      <a:gd name="T20" fmla="*/ 84 w 273"/>
                      <a:gd name="T21" fmla="*/ 290 h 346"/>
                      <a:gd name="T22" fmla="*/ 58 w 273"/>
                      <a:gd name="T23" fmla="*/ 310 h 346"/>
                      <a:gd name="T24" fmla="*/ 32 w 273"/>
                      <a:gd name="T25" fmla="*/ 329 h 346"/>
                      <a:gd name="T26" fmla="*/ 0 w 273"/>
                      <a:gd name="T27" fmla="*/ 346 h 346"/>
                      <a:gd name="T28" fmla="*/ 16 w 273"/>
                      <a:gd name="T29" fmla="*/ 317 h 346"/>
                      <a:gd name="T30" fmla="*/ 38 w 273"/>
                      <a:gd name="T31" fmla="*/ 289 h 346"/>
                      <a:gd name="T32" fmla="*/ 60 w 273"/>
                      <a:gd name="T33" fmla="*/ 270 h 346"/>
                      <a:gd name="T34" fmla="*/ 80 w 273"/>
                      <a:gd name="T35" fmla="*/ 243 h 346"/>
                      <a:gd name="T36" fmla="*/ 106 w 273"/>
                      <a:gd name="T37" fmla="*/ 218 h 346"/>
                      <a:gd name="T38" fmla="*/ 132 w 273"/>
                      <a:gd name="T39" fmla="*/ 197 h 346"/>
                      <a:gd name="T40" fmla="*/ 152 w 273"/>
                      <a:gd name="T41" fmla="*/ 173 h 346"/>
                      <a:gd name="T42" fmla="*/ 167 w 273"/>
                      <a:gd name="T43" fmla="*/ 151 h 346"/>
                      <a:gd name="T44" fmla="*/ 193 w 273"/>
                      <a:gd name="T45" fmla="*/ 136 h 346"/>
                      <a:gd name="T46" fmla="*/ 214 w 273"/>
                      <a:gd name="T47" fmla="*/ 122 h 346"/>
                      <a:gd name="T48" fmla="*/ 233 w 273"/>
                      <a:gd name="T49" fmla="*/ 95 h 346"/>
                      <a:gd name="T50" fmla="*/ 249 w 273"/>
                      <a:gd name="T51" fmla="*/ 63 h 346"/>
                      <a:gd name="T52" fmla="*/ 260 w 273"/>
                      <a:gd name="T53" fmla="*/ 36 h 346"/>
                      <a:gd name="T54" fmla="*/ 272 w 273"/>
                      <a:gd name="T55"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 h="346">
                        <a:moveTo>
                          <a:pt x="272" y="0"/>
                        </a:moveTo>
                        <a:lnTo>
                          <a:pt x="273" y="33"/>
                        </a:lnTo>
                        <a:lnTo>
                          <a:pt x="271" y="60"/>
                        </a:lnTo>
                        <a:lnTo>
                          <a:pt x="264" y="94"/>
                        </a:lnTo>
                        <a:lnTo>
                          <a:pt x="254" y="128"/>
                        </a:lnTo>
                        <a:lnTo>
                          <a:pt x="239" y="163"/>
                        </a:lnTo>
                        <a:lnTo>
                          <a:pt x="212" y="196"/>
                        </a:lnTo>
                        <a:lnTo>
                          <a:pt x="182" y="219"/>
                        </a:lnTo>
                        <a:lnTo>
                          <a:pt x="145" y="247"/>
                        </a:lnTo>
                        <a:lnTo>
                          <a:pt x="106" y="267"/>
                        </a:lnTo>
                        <a:lnTo>
                          <a:pt x="84" y="290"/>
                        </a:lnTo>
                        <a:lnTo>
                          <a:pt x="58" y="310"/>
                        </a:lnTo>
                        <a:lnTo>
                          <a:pt x="32" y="329"/>
                        </a:lnTo>
                        <a:lnTo>
                          <a:pt x="0" y="346"/>
                        </a:lnTo>
                        <a:lnTo>
                          <a:pt x="16" y="317"/>
                        </a:lnTo>
                        <a:lnTo>
                          <a:pt x="38" y="289"/>
                        </a:lnTo>
                        <a:lnTo>
                          <a:pt x="60" y="270"/>
                        </a:lnTo>
                        <a:lnTo>
                          <a:pt x="80" y="243"/>
                        </a:lnTo>
                        <a:lnTo>
                          <a:pt x="106" y="218"/>
                        </a:lnTo>
                        <a:lnTo>
                          <a:pt x="132" y="197"/>
                        </a:lnTo>
                        <a:lnTo>
                          <a:pt x="152" y="173"/>
                        </a:lnTo>
                        <a:lnTo>
                          <a:pt x="167" y="151"/>
                        </a:lnTo>
                        <a:lnTo>
                          <a:pt x="193" y="136"/>
                        </a:lnTo>
                        <a:lnTo>
                          <a:pt x="214" y="122"/>
                        </a:lnTo>
                        <a:lnTo>
                          <a:pt x="233" y="95"/>
                        </a:lnTo>
                        <a:lnTo>
                          <a:pt x="249" y="63"/>
                        </a:lnTo>
                        <a:lnTo>
                          <a:pt x="260" y="36"/>
                        </a:lnTo>
                        <a:lnTo>
                          <a:pt x="272"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9" name="Freeform 331"/>
                  <p:cNvSpPr/>
                  <p:nvPr/>
                </p:nvSpPr>
                <p:spPr bwMode="auto">
                  <a:xfrm>
                    <a:off x="2729" y="3006"/>
                    <a:ext cx="27" cy="41"/>
                  </a:xfrm>
                  <a:custGeom>
                    <a:avLst/>
                    <a:gdLst>
                      <a:gd name="T0" fmla="*/ 5 w 192"/>
                      <a:gd name="T1" fmla="*/ 328 h 328"/>
                      <a:gd name="T2" fmla="*/ 15 w 192"/>
                      <a:gd name="T3" fmla="*/ 303 h 328"/>
                      <a:gd name="T4" fmla="*/ 19 w 192"/>
                      <a:gd name="T5" fmla="*/ 286 h 328"/>
                      <a:gd name="T6" fmla="*/ 19 w 192"/>
                      <a:gd name="T7" fmla="*/ 266 h 328"/>
                      <a:gd name="T8" fmla="*/ 34 w 192"/>
                      <a:gd name="T9" fmla="*/ 263 h 328"/>
                      <a:gd name="T10" fmla="*/ 48 w 192"/>
                      <a:gd name="T11" fmla="*/ 255 h 328"/>
                      <a:gd name="T12" fmla="*/ 68 w 192"/>
                      <a:gd name="T13" fmla="*/ 229 h 328"/>
                      <a:gd name="T14" fmla="*/ 86 w 192"/>
                      <a:gd name="T15" fmla="*/ 201 h 328"/>
                      <a:gd name="T16" fmla="*/ 132 w 192"/>
                      <a:gd name="T17" fmla="*/ 121 h 328"/>
                      <a:gd name="T18" fmla="*/ 167 w 192"/>
                      <a:gd name="T19" fmla="*/ 77 h 328"/>
                      <a:gd name="T20" fmla="*/ 184 w 192"/>
                      <a:gd name="T21" fmla="*/ 48 h 328"/>
                      <a:gd name="T22" fmla="*/ 191 w 192"/>
                      <a:gd name="T23" fmla="*/ 31 h 328"/>
                      <a:gd name="T24" fmla="*/ 192 w 192"/>
                      <a:gd name="T25" fmla="*/ 16 h 328"/>
                      <a:gd name="T26" fmla="*/ 186 w 192"/>
                      <a:gd name="T27" fmla="*/ 5 h 328"/>
                      <a:gd name="T28" fmla="*/ 172 w 192"/>
                      <a:gd name="T29" fmla="*/ 0 h 328"/>
                      <a:gd name="T30" fmla="*/ 153 w 192"/>
                      <a:gd name="T31" fmla="*/ 5 h 328"/>
                      <a:gd name="T32" fmla="*/ 139 w 192"/>
                      <a:gd name="T33" fmla="*/ 17 h 328"/>
                      <a:gd name="T34" fmla="*/ 119 w 192"/>
                      <a:gd name="T35" fmla="*/ 54 h 328"/>
                      <a:gd name="T36" fmla="*/ 97 w 192"/>
                      <a:gd name="T37" fmla="*/ 95 h 328"/>
                      <a:gd name="T38" fmla="*/ 73 w 192"/>
                      <a:gd name="T39" fmla="*/ 149 h 328"/>
                      <a:gd name="T40" fmla="*/ 53 w 192"/>
                      <a:gd name="T41" fmla="*/ 188 h 328"/>
                      <a:gd name="T42" fmla="*/ 35 w 192"/>
                      <a:gd name="T43" fmla="*/ 220 h 328"/>
                      <a:gd name="T44" fmla="*/ 21 w 192"/>
                      <a:gd name="T45" fmla="*/ 240 h 328"/>
                      <a:gd name="T46" fmla="*/ 0 w 192"/>
                      <a:gd name="T47" fmla="*/ 255 h 328"/>
                      <a:gd name="T48" fmla="*/ 5 w 192"/>
                      <a:gd name="T49" fmla="*/ 276 h 328"/>
                      <a:gd name="T50" fmla="*/ 6 w 192"/>
                      <a:gd name="T51" fmla="*/ 297 h 328"/>
                      <a:gd name="T52" fmla="*/ 5 w 192"/>
                      <a:gd name="T53"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328">
                        <a:moveTo>
                          <a:pt x="5" y="328"/>
                        </a:moveTo>
                        <a:lnTo>
                          <a:pt x="15" y="303"/>
                        </a:lnTo>
                        <a:lnTo>
                          <a:pt x="19" y="286"/>
                        </a:lnTo>
                        <a:lnTo>
                          <a:pt x="19" y="266"/>
                        </a:lnTo>
                        <a:lnTo>
                          <a:pt x="34" y="263"/>
                        </a:lnTo>
                        <a:lnTo>
                          <a:pt x="48" y="255"/>
                        </a:lnTo>
                        <a:lnTo>
                          <a:pt x="68" y="229"/>
                        </a:lnTo>
                        <a:lnTo>
                          <a:pt x="86" y="201"/>
                        </a:lnTo>
                        <a:lnTo>
                          <a:pt x="132" y="121"/>
                        </a:lnTo>
                        <a:lnTo>
                          <a:pt x="167" y="77"/>
                        </a:lnTo>
                        <a:lnTo>
                          <a:pt x="184" y="48"/>
                        </a:lnTo>
                        <a:lnTo>
                          <a:pt x="191" y="31"/>
                        </a:lnTo>
                        <a:lnTo>
                          <a:pt x="192" y="16"/>
                        </a:lnTo>
                        <a:lnTo>
                          <a:pt x="186" y="5"/>
                        </a:lnTo>
                        <a:lnTo>
                          <a:pt x="172" y="0"/>
                        </a:lnTo>
                        <a:lnTo>
                          <a:pt x="153" y="5"/>
                        </a:lnTo>
                        <a:lnTo>
                          <a:pt x="139" y="17"/>
                        </a:lnTo>
                        <a:lnTo>
                          <a:pt x="119" y="54"/>
                        </a:lnTo>
                        <a:lnTo>
                          <a:pt x="97" y="95"/>
                        </a:lnTo>
                        <a:lnTo>
                          <a:pt x="73" y="149"/>
                        </a:lnTo>
                        <a:lnTo>
                          <a:pt x="53" y="188"/>
                        </a:lnTo>
                        <a:lnTo>
                          <a:pt x="35" y="220"/>
                        </a:lnTo>
                        <a:lnTo>
                          <a:pt x="21" y="240"/>
                        </a:lnTo>
                        <a:lnTo>
                          <a:pt x="0" y="255"/>
                        </a:lnTo>
                        <a:lnTo>
                          <a:pt x="5" y="276"/>
                        </a:lnTo>
                        <a:lnTo>
                          <a:pt x="6" y="297"/>
                        </a:lnTo>
                        <a:lnTo>
                          <a:pt x="5" y="32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0" name="Freeform 332"/>
                  <p:cNvSpPr/>
                  <p:nvPr/>
                </p:nvSpPr>
                <p:spPr bwMode="auto">
                  <a:xfrm>
                    <a:off x="2786" y="3048"/>
                    <a:ext cx="22" cy="20"/>
                  </a:xfrm>
                  <a:custGeom>
                    <a:avLst/>
                    <a:gdLst>
                      <a:gd name="T0" fmla="*/ 0 w 155"/>
                      <a:gd name="T1" fmla="*/ 0 h 163"/>
                      <a:gd name="T2" fmla="*/ 36 w 155"/>
                      <a:gd name="T3" fmla="*/ 38 h 163"/>
                      <a:gd name="T4" fmla="*/ 57 w 155"/>
                      <a:gd name="T5" fmla="*/ 60 h 163"/>
                      <a:gd name="T6" fmla="*/ 81 w 155"/>
                      <a:gd name="T7" fmla="*/ 99 h 163"/>
                      <a:gd name="T8" fmla="*/ 108 w 155"/>
                      <a:gd name="T9" fmla="*/ 124 h 163"/>
                      <a:gd name="T10" fmla="*/ 155 w 155"/>
                      <a:gd name="T11" fmla="*/ 163 h 163"/>
                      <a:gd name="T12" fmla="*/ 84 w 155"/>
                      <a:gd name="T13" fmla="*/ 69 h 163"/>
                      <a:gd name="T14" fmla="*/ 0 w 155"/>
                      <a:gd name="T15" fmla="*/ 0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 h="163">
                        <a:moveTo>
                          <a:pt x="0" y="0"/>
                        </a:moveTo>
                        <a:lnTo>
                          <a:pt x="36" y="38"/>
                        </a:lnTo>
                        <a:lnTo>
                          <a:pt x="57" y="60"/>
                        </a:lnTo>
                        <a:lnTo>
                          <a:pt x="81" y="99"/>
                        </a:lnTo>
                        <a:lnTo>
                          <a:pt x="108" y="124"/>
                        </a:lnTo>
                        <a:lnTo>
                          <a:pt x="155" y="163"/>
                        </a:lnTo>
                        <a:lnTo>
                          <a:pt x="84" y="69"/>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1" name="Freeform 333"/>
                  <p:cNvSpPr/>
                  <p:nvPr/>
                </p:nvSpPr>
                <p:spPr bwMode="auto">
                  <a:xfrm>
                    <a:off x="2728" y="2976"/>
                    <a:ext cx="5" cy="15"/>
                  </a:xfrm>
                  <a:custGeom>
                    <a:avLst/>
                    <a:gdLst>
                      <a:gd name="T0" fmla="*/ 0 w 36"/>
                      <a:gd name="T1" fmla="*/ 0 h 121"/>
                      <a:gd name="T2" fmla="*/ 12 w 36"/>
                      <a:gd name="T3" fmla="*/ 13 h 121"/>
                      <a:gd name="T4" fmla="*/ 23 w 36"/>
                      <a:gd name="T5" fmla="*/ 34 h 121"/>
                      <a:gd name="T6" fmla="*/ 31 w 36"/>
                      <a:gd name="T7" fmla="*/ 58 h 121"/>
                      <a:gd name="T8" fmla="*/ 36 w 36"/>
                      <a:gd name="T9" fmla="*/ 94 h 121"/>
                      <a:gd name="T10" fmla="*/ 30 w 36"/>
                      <a:gd name="T11" fmla="*/ 121 h 121"/>
                      <a:gd name="T12" fmla="*/ 22 w 36"/>
                      <a:gd name="T13" fmla="*/ 66 h 121"/>
                      <a:gd name="T14" fmla="*/ 12 w 36"/>
                      <a:gd name="T15" fmla="*/ 33 h 121"/>
                      <a:gd name="T16" fmla="*/ 0 w 36"/>
                      <a:gd name="T1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21">
                        <a:moveTo>
                          <a:pt x="0" y="0"/>
                        </a:moveTo>
                        <a:lnTo>
                          <a:pt x="12" y="13"/>
                        </a:lnTo>
                        <a:lnTo>
                          <a:pt x="23" y="34"/>
                        </a:lnTo>
                        <a:lnTo>
                          <a:pt x="31" y="58"/>
                        </a:lnTo>
                        <a:lnTo>
                          <a:pt x="36" y="94"/>
                        </a:lnTo>
                        <a:lnTo>
                          <a:pt x="30" y="121"/>
                        </a:lnTo>
                        <a:lnTo>
                          <a:pt x="22" y="66"/>
                        </a:lnTo>
                        <a:lnTo>
                          <a:pt x="12" y="33"/>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2" name="Freeform 334"/>
                  <p:cNvSpPr/>
                  <p:nvPr/>
                </p:nvSpPr>
                <p:spPr bwMode="auto">
                  <a:xfrm>
                    <a:off x="2737" y="3011"/>
                    <a:ext cx="45" cy="64"/>
                  </a:xfrm>
                  <a:custGeom>
                    <a:avLst/>
                    <a:gdLst>
                      <a:gd name="T0" fmla="*/ 0 w 317"/>
                      <a:gd name="T1" fmla="*/ 490 h 513"/>
                      <a:gd name="T2" fmla="*/ 41 w 317"/>
                      <a:gd name="T3" fmla="*/ 465 h 513"/>
                      <a:gd name="T4" fmla="*/ 84 w 317"/>
                      <a:gd name="T5" fmla="*/ 465 h 513"/>
                      <a:gd name="T6" fmla="*/ 125 w 317"/>
                      <a:gd name="T7" fmla="*/ 471 h 513"/>
                      <a:gd name="T8" fmla="*/ 134 w 317"/>
                      <a:gd name="T9" fmla="*/ 456 h 513"/>
                      <a:gd name="T10" fmla="*/ 154 w 317"/>
                      <a:gd name="T11" fmla="*/ 443 h 513"/>
                      <a:gd name="T12" fmla="*/ 183 w 317"/>
                      <a:gd name="T13" fmla="*/ 436 h 513"/>
                      <a:gd name="T14" fmla="*/ 209 w 317"/>
                      <a:gd name="T15" fmla="*/ 434 h 513"/>
                      <a:gd name="T16" fmla="*/ 238 w 317"/>
                      <a:gd name="T17" fmla="*/ 435 h 513"/>
                      <a:gd name="T18" fmla="*/ 269 w 317"/>
                      <a:gd name="T19" fmla="*/ 441 h 513"/>
                      <a:gd name="T20" fmla="*/ 286 w 317"/>
                      <a:gd name="T21" fmla="*/ 416 h 513"/>
                      <a:gd name="T22" fmla="*/ 282 w 317"/>
                      <a:gd name="T23" fmla="*/ 365 h 513"/>
                      <a:gd name="T24" fmla="*/ 280 w 317"/>
                      <a:gd name="T25" fmla="*/ 317 h 513"/>
                      <a:gd name="T26" fmla="*/ 282 w 317"/>
                      <a:gd name="T27" fmla="*/ 266 h 513"/>
                      <a:gd name="T28" fmla="*/ 285 w 317"/>
                      <a:gd name="T29" fmla="*/ 240 h 513"/>
                      <a:gd name="T30" fmla="*/ 284 w 317"/>
                      <a:gd name="T31" fmla="*/ 208 h 513"/>
                      <a:gd name="T32" fmla="*/ 275 w 317"/>
                      <a:gd name="T33" fmla="*/ 163 h 513"/>
                      <a:gd name="T34" fmla="*/ 263 w 317"/>
                      <a:gd name="T35" fmla="*/ 100 h 513"/>
                      <a:gd name="T36" fmla="*/ 258 w 317"/>
                      <a:gd name="T37" fmla="*/ 61 h 513"/>
                      <a:gd name="T38" fmla="*/ 251 w 317"/>
                      <a:gd name="T39" fmla="*/ 0 h 513"/>
                      <a:gd name="T40" fmla="*/ 273 w 317"/>
                      <a:gd name="T41" fmla="*/ 45 h 513"/>
                      <a:gd name="T42" fmla="*/ 286 w 317"/>
                      <a:gd name="T43" fmla="*/ 79 h 513"/>
                      <a:gd name="T44" fmla="*/ 298 w 317"/>
                      <a:gd name="T45" fmla="*/ 71 h 513"/>
                      <a:gd name="T46" fmla="*/ 311 w 317"/>
                      <a:gd name="T47" fmla="*/ 49 h 513"/>
                      <a:gd name="T48" fmla="*/ 314 w 317"/>
                      <a:gd name="T49" fmla="*/ 72 h 513"/>
                      <a:gd name="T50" fmla="*/ 310 w 317"/>
                      <a:gd name="T51" fmla="*/ 109 h 513"/>
                      <a:gd name="T52" fmla="*/ 305 w 317"/>
                      <a:gd name="T53" fmla="*/ 139 h 513"/>
                      <a:gd name="T54" fmla="*/ 303 w 317"/>
                      <a:gd name="T55" fmla="*/ 184 h 513"/>
                      <a:gd name="T56" fmla="*/ 305 w 317"/>
                      <a:gd name="T57" fmla="*/ 230 h 513"/>
                      <a:gd name="T58" fmla="*/ 317 w 317"/>
                      <a:gd name="T59" fmla="*/ 362 h 513"/>
                      <a:gd name="T60" fmla="*/ 311 w 317"/>
                      <a:gd name="T61" fmla="*/ 430 h 513"/>
                      <a:gd name="T62" fmla="*/ 300 w 317"/>
                      <a:gd name="T63" fmla="*/ 455 h 513"/>
                      <a:gd name="T64" fmla="*/ 281 w 317"/>
                      <a:gd name="T65" fmla="*/ 477 h 513"/>
                      <a:gd name="T66" fmla="*/ 260 w 317"/>
                      <a:gd name="T67" fmla="*/ 492 h 513"/>
                      <a:gd name="T68" fmla="*/ 239 w 317"/>
                      <a:gd name="T69" fmla="*/ 502 h 513"/>
                      <a:gd name="T70" fmla="*/ 208 w 317"/>
                      <a:gd name="T71" fmla="*/ 509 h 513"/>
                      <a:gd name="T72" fmla="*/ 180 w 317"/>
                      <a:gd name="T73" fmla="*/ 513 h 513"/>
                      <a:gd name="T74" fmla="*/ 151 w 317"/>
                      <a:gd name="T75" fmla="*/ 504 h 513"/>
                      <a:gd name="T76" fmla="*/ 117 w 317"/>
                      <a:gd name="T77" fmla="*/ 497 h 513"/>
                      <a:gd name="T78" fmla="*/ 78 w 317"/>
                      <a:gd name="T79" fmla="*/ 496 h 513"/>
                      <a:gd name="T80" fmla="*/ 0 w 317"/>
                      <a:gd name="T81" fmla="*/ 49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7" h="513">
                        <a:moveTo>
                          <a:pt x="0" y="490"/>
                        </a:moveTo>
                        <a:lnTo>
                          <a:pt x="41" y="465"/>
                        </a:lnTo>
                        <a:lnTo>
                          <a:pt x="84" y="465"/>
                        </a:lnTo>
                        <a:lnTo>
                          <a:pt x="125" y="471"/>
                        </a:lnTo>
                        <a:lnTo>
                          <a:pt x="134" y="456"/>
                        </a:lnTo>
                        <a:lnTo>
                          <a:pt x="154" y="443"/>
                        </a:lnTo>
                        <a:lnTo>
                          <a:pt x="183" y="436"/>
                        </a:lnTo>
                        <a:lnTo>
                          <a:pt x="209" y="434"/>
                        </a:lnTo>
                        <a:lnTo>
                          <a:pt x="238" y="435"/>
                        </a:lnTo>
                        <a:lnTo>
                          <a:pt x="269" y="441"/>
                        </a:lnTo>
                        <a:lnTo>
                          <a:pt x="286" y="416"/>
                        </a:lnTo>
                        <a:lnTo>
                          <a:pt x="282" y="365"/>
                        </a:lnTo>
                        <a:lnTo>
                          <a:pt x="280" y="317"/>
                        </a:lnTo>
                        <a:lnTo>
                          <a:pt x="282" y="266"/>
                        </a:lnTo>
                        <a:lnTo>
                          <a:pt x="285" y="240"/>
                        </a:lnTo>
                        <a:lnTo>
                          <a:pt x="284" y="208"/>
                        </a:lnTo>
                        <a:lnTo>
                          <a:pt x="275" y="163"/>
                        </a:lnTo>
                        <a:lnTo>
                          <a:pt x="263" y="100"/>
                        </a:lnTo>
                        <a:lnTo>
                          <a:pt x="258" y="61"/>
                        </a:lnTo>
                        <a:lnTo>
                          <a:pt x="251" y="0"/>
                        </a:lnTo>
                        <a:lnTo>
                          <a:pt x="273" y="45"/>
                        </a:lnTo>
                        <a:lnTo>
                          <a:pt x="286" y="79"/>
                        </a:lnTo>
                        <a:lnTo>
                          <a:pt x="298" y="71"/>
                        </a:lnTo>
                        <a:lnTo>
                          <a:pt x="311" y="49"/>
                        </a:lnTo>
                        <a:lnTo>
                          <a:pt x="314" y="72"/>
                        </a:lnTo>
                        <a:lnTo>
                          <a:pt x="310" y="109"/>
                        </a:lnTo>
                        <a:lnTo>
                          <a:pt x="305" y="139"/>
                        </a:lnTo>
                        <a:lnTo>
                          <a:pt x="303" y="184"/>
                        </a:lnTo>
                        <a:lnTo>
                          <a:pt x="305" y="230"/>
                        </a:lnTo>
                        <a:lnTo>
                          <a:pt x="317" y="362"/>
                        </a:lnTo>
                        <a:lnTo>
                          <a:pt x="311" y="430"/>
                        </a:lnTo>
                        <a:lnTo>
                          <a:pt x="300" y="455"/>
                        </a:lnTo>
                        <a:lnTo>
                          <a:pt x="281" y="477"/>
                        </a:lnTo>
                        <a:lnTo>
                          <a:pt x="260" y="492"/>
                        </a:lnTo>
                        <a:lnTo>
                          <a:pt x="239" y="502"/>
                        </a:lnTo>
                        <a:lnTo>
                          <a:pt x="208" y="509"/>
                        </a:lnTo>
                        <a:lnTo>
                          <a:pt x="180" y="513"/>
                        </a:lnTo>
                        <a:lnTo>
                          <a:pt x="151" y="504"/>
                        </a:lnTo>
                        <a:lnTo>
                          <a:pt x="117" y="497"/>
                        </a:lnTo>
                        <a:lnTo>
                          <a:pt x="78" y="496"/>
                        </a:lnTo>
                        <a:lnTo>
                          <a:pt x="0" y="49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3" name="Freeform 335"/>
                  <p:cNvSpPr/>
                  <p:nvPr/>
                </p:nvSpPr>
                <p:spPr bwMode="auto">
                  <a:xfrm>
                    <a:off x="2737" y="3072"/>
                    <a:ext cx="34" cy="39"/>
                  </a:xfrm>
                  <a:custGeom>
                    <a:avLst/>
                    <a:gdLst>
                      <a:gd name="T0" fmla="*/ 0 w 241"/>
                      <a:gd name="T1" fmla="*/ 49 h 312"/>
                      <a:gd name="T2" fmla="*/ 22 w 241"/>
                      <a:gd name="T3" fmla="*/ 45 h 312"/>
                      <a:gd name="T4" fmla="*/ 36 w 241"/>
                      <a:gd name="T5" fmla="*/ 37 h 312"/>
                      <a:gd name="T6" fmla="*/ 71 w 241"/>
                      <a:gd name="T7" fmla="*/ 41 h 312"/>
                      <a:gd name="T8" fmla="*/ 104 w 241"/>
                      <a:gd name="T9" fmla="*/ 43 h 312"/>
                      <a:gd name="T10" fmla="*/ 138 w 241"/>
                      <a:gd name="T11" fmla="*/ 41 h 312"/>
                      <a:gd name="T12" fmla="*/ 164 w 241"/>
                      <a:gd name="T13" fmla="*/ 39 h 312"/>
                      <a:gd name="T14" fmla="*/ 193 w 241"/>
                      <a:gd name="T15" fmla="*/ 32 h 312"/>
                      <a:gd name="T16" fmla="*/ 218 w 241"/>
                      <a:gd name="T17" fmla="*/ 16 h 312"/>
                      <a:gd name="T18" fmla="*/ 241 w 241"/>
                      <a:gd name="T19" fmla="*/ 0 h 312"/>
                      <a:gd name="T20" fmla="*/ 236 w 241"/>
                      <a:gd name="T21" fmla="*/ 22 h 312"/>
                      <a:gd name="T22" fmla="*/ 221 w 241"/>
                      <a:gd name="T23" fmla="*/ 44 h 312"/>
                      <a:gd name="T24" fmla="*/ 199 w 241"/>
                      <a:gd name="T25" fmla="*/ 62 h 312"/>
                      <a:gd name="T26" fmla="*/ 205 w 241"/>
                      <a:gd name="T27" fmla="*/ 86 h 312"/>
                      <a:gd name="T28" fmla="*/ 191 w 241"/>
                      <a:gd name="T29" fmla="*/ 103 h 312"/>
                      <a:gd name="T30" fmla="*/ 184 w 241"/>
                      <a:gd name="T31" fmla="*/ 120 h 312"/>
                      <a:gd name="T32" fmla="*/ 180 w 241"/>
                      <a:gd name="T33" fmla="*/ 138 h 312"/>
                      <a:gd name="T34" fmla="*/ 169 w 241"/>
                      <a:gd name="T35" fmla="*/ 154 h 312"/>
                      <a:gd name="T36" fmla="*/ 165 w 241"/>
                      <a:gd name="T37" fmla="*/ 182 h 312"/>
                      <a:gd name="T38" fmla="*/ 162 w 241"/>
                      <a:gd name="T39" fmla="*/ 200 h 312"/>
                      <a:gd name="T40" fmla="*/ 157 w 241"/>
                      <a:gd name="T41" fmla="*/ 231 h 312"/>
                      <a:gd name="T42" fmla="*/ 163 w 241"/>
                      <a:gd name="T43" fmla="*/ 264 h 312"/>
                      <a:gd name="T44" fmla="*/ 144 w 241"/>
                      <a:gd name="T45" fmla="*/ 280 h 312"/>
                      <a:gd name="T46" fmla="*/ 120 w 241"/>
                      <a:gd name="T47" fmla="*/ 295 h 312"/>
                      <a:gd name="T48" fmla="*/ 93 w 241"/>
                      <a:gd name="T49" fmla="*/ 306 h 312"/>
                      <a:gd name="T50" fmla="*/ 67 w 241"/>
                      <a:gd name="T51" fmla="*/ 312 h 312"/>
                      <a:gd name="T52" fmla="*/ 93 w 241"/>
                      <a:gd name="T53" fmla="*/ 294 h 312"/>
                      <a:gd name="T54" fmla="*/ 115 w 241"/>
                      <a:gd name="T55" fmla="*/ 274 h 312"/>
                      <a:gd name="T56" fmla="*/ 132 w 241"/>
                      <a:gd name="T57" fmla="*/ 256 h 312"/>
                      <a:gd name="T58" fmla="*/ 145 w 241"/>
                      <a:gd name="T59" fmla="*/ 234 h 312"/>
                      <a:gd name="T60" fmla="*/ 121 w 241"/>
                      <a:gd name="T61" fmla="*/ 240 h 312"/>
                      <a:gd name="T62" fmla="*/ 96 w 241"/>
                      <a:gd name="T63" fmla="*/ 241 h 312"/>
                      <a:gd name="T64" fmla="*/ 64 w 241"/>
                      <a:gd name="T65" fmla="*/ 238 h 312"/>
                      <a:gd name="T66" fmla="*/ 30 w 241"/>
                      <a:gd name="T67" fmla="*/ 234 h 312"/>
                      <a:gd name="T68" fmla="*/ 68 w 241"/>
                      <a:gd name="T69" fmla="*/ 228 h 312"/>
                      <a:gd name="T70" fmla="*/ 96 w 241"/>
                      <a:gd name="T71" fmla="*/ 220 h 312"/>
                      <a:gd name="T72" fmla="*/ 118 w 241"/>
                      <a:gd name="T73" fmla="*/ 210 h 312"/>
                      <a:gd name="T74" fmla="*/ 137 w 241"/>
                      <a:gd name="T75" fmla="*/ 196 h 312"/>
                      <a:gd name="T76" fmla="*/ 151 w 241"/>
                      <a:gd name="T77" fmla="*/ 179 h 312"/>
                      <a:gd name="T78" fmla="*/ 122 w 241"/>
                      <a:gd name="T79" fmla="*/ 174 h 312"/>
                      <a:gd name="T80" fmla="*/ 96 w 241"/>
                      <a:gd name="T81" fmla="*/ 165 h 312"/>
                      <a:gd name="T82" fmla="*/ 113 w 241"/>
                      <a:gd name="T83" fmla="*/ 150 h 312"/>
                      <a:gd name="T84" fmla="*/ 133 w 241"/>
                      <a:gd name="T85" fmla="*/ 134 h 312"/>
                      <a:gd name="T86" fmla="*/ 157 w 241"/>
                      <a:gd name="T87" fmla="*/ 120 h 312"/>
                      <a:gd name="T88" fmla="*/ 175 w 241"/>
                      <a:gd name="T89" fmla="*/ 110 h 312"/>
                      <a:gd name="T90" fmla="*/ 160 w 241"/>
                      <a:gd name="T91" fmla="*/ 104 h 312"/>
                      <a:gd name="T92" fmla="*/ 147 w 241"/>
                      <a:gd name="T93" fmla="*/ 98 h 312"/>
                      <a:gd name="T94" fmla="*/ 126 w 241"/>
                      <a:gd name="T95" fmla="*/ 92 h 312"/>
                      <a:gd name="T96" fmla="*/ 147 w 241"/>
                      <a:gd name="T97" fmla="*/ 80 h 312"/>
                      <a:gd name="T98" fmla="*/ 163 w 241"/>
                      <a:gd name="T99" fmla="*/ 68 h 312"/>
                      <a:gd name="T100" fmla="*/ 132 w 241"/>
                      <a:gd name="T101" fmla="*/ 69 h 312"/>
                      <a:gd name="T102" fmla="*/ 106 w 241"/>
                      <a:gd name="T103" fmla="*/ 68 h 312"/>
                      <a:gd name="T104" fmla="*/ 69 w 241"/>
                      <a:gd name="T105" fmla="*/ 64 h 312"/>
                      <a:gd name="T106" fmla="*/ 32 w 241"/>
                      <a:gd name="T107" fmla="*/ 57 h 312"/>
                      <a:gd name="T108" fmla="*/ 0 w 241"/>
                      <a:gd name="T109" fmla="*/ 4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41" h="312">
                        <a:moveTo>
                          <a:pt x="0" y="49"/>
                        </a:moveTo>
                        <a:lnTo>
                          <a:pt x="22" y="45"/>
                        </a:lnTo>
                        <a:lnTo>
                          <a:pt x="36" y="37"/>
                        </a:lnTo>
                        <a:lnTo>
                          <a:pt x="71" y="41"/>
                        </a:lnTo>
                        <a:lnTo>
                          <a:pt x="104" y="43"/>
                        </a:lnTo>
                        <a:lnTo>
                          <a:pt x="138" y="41"/>
                        </a:lnTo>
                        <a:lnTo>
                          <a:pt x="164" y="39"/>
                        </a:lnTo>
                        <a:lnTo>
                          <a:pt x="193" y="32"/>
                        </a:lnTo>
                        <a:lnTo>
                          <a:pt x="218" y="16"/>
                        </a:lnTo>
                        <a:lnTo>
                          <a:pt x="241" y="0"/>
                        </a:lnTo>
                        <a:lnTo>
                          <a:pt x="236" y="22"/>
                        </a:lnTo>
                        <a:lnTo>
                          <a:pt x="221" y="44"/>
                        </a:lnTo>
                        <a:lnTo>
                          <a:pt x="199" y="62"/>
                        </a:lnTo>
                        <a:lnTo>
                          <a:pt x="205" y="86"/>
                        </a:lnTo>
                        <a:lnTo>
                          <a:pt x="191" y="103"/>
                        </a:lnTo>
                        <a:lnTo>
                          <a:pt x="184" y="120"/>
                        </a:lnTo>
                        <a:lnTo>
                          <a:pt x="180" y="138"/>
                        </a:lnTo>
                        <a:lnTo>
                          <a:pt x="169" y="154"/>
                        </a:lnTo>
                        <a:lnTo>
                          <a:pt x="165" y="182"/>
                        </a:lnTo>
                        <a:lnTo>
                          <a:pt x="162" y="200"/>
                        </a:lnTo>
                        <a:lnTo>
                          <a:pt x="157" y="231"/>
                        </a:lnTo>
                        <a:lnTo>
                          <a:pt x="163" y="264"/>
                        </a:lnTo>
                        <a:lnTo>
                          <a:pt x="144" y="280"/>
                        </a:lnTo>
                        <a:lnTo>
                          <a:pt x="120" y="295"/>
                        </a:lnTo>
                        <a:lnTo>
                          <a:pt x="93" y="306"/>
                        </a:lnTo>
                        <a:lnTo>
                          <a:pt x="67" y="312"/>
                        </a:lnTo>
                        <a:lnTo>
                          <a:pt x="93" y="294"/>
                        </a:lnTo>
                        <a:lnTo>
                          <a:pt x="115" y="274"/>
                        </a:lnTo>
                        <a:lnTo>
                          <a:pt x="132" y="256"/>
                        </a:lnTo>
                        <a:lnTo>
                          <a:pt x="145" y="234"/>
                        </a:lnTo>
                        <a:lnTo>
                          <a:pt x="121" y="240"/>
                        </a:lnTo>
                        <a:lnTo>
                          <a:pt x="96" y="241"/>
                        </a:lnTo>
                        <a:lnTo>
                          <a:pt x="64" y="238"/>
                        </a:lnTo>
                        <a:lnTo>
                          <a:pt x="30" y="234"/>
                        </a:lnTo>
                        <a:lnTo>
                          <a:pt x="68" y="228"/>
                        </a:lnTo>
                        <a:lnTo>
                          <a:pt x="96" y="220"/>
                        </a:lnTo>
                        <a:lnTo>
                          <a:pt x="118" y="210"/>
                        </a:lnTo>
                        <a:lnTo>
                          <a:pt x="137" y="196"/>
                        </a:lnTo>
                        <a:lnTo>
                          <a:pt x="151" y="179"/>
                        </a:lnTo>
                        <a:lnTo>
                          <a:pt x="122" y="174"/>
                        </a:lnTo>
                        <a:lnTo>
                          <a:pt x="96" y="165"/>
                        </a:lnTo>
                        <a:lnTo>
                          <a:pt x="113" y="150"/>
                        </a:lnTo>
                        <a:lnTo>
                          <a:pt x="133" y="134"/>
                        </a:lnTo>
                        <a:lnTo>
                          <a:pt x="157" y="120"/>
                        </a:lnTo>
                        <a:lnTo>
                          <a:pt x="175" y="110"/>
                        </a:lnTo>
                        <a:lnTo>
                          <a:pt x="160" y="104"/>
                        </a:lnTo>
                        <a:lnTo>
                          <a:pt x="147" y="98"/>
                        </a:lnTo>
                        <a:lnTo>
                          <a:pt x="126" y="92"/>
                        </a:lnTo>
                        <a:lnTo>
                          <a:pt x="147" y="80"/>
                        </a:lnTo>
                        <a:lnTo>
                          <a:pt x="163" y="68"/>
                        </a:lnTo>
                        <a:lnTo>
                          <a:pt x="132" y="69"/>
                        </a:lnTo>
                        <a:lnTo>
                          <a:pt x="106" y="68"/>
                        </a:lnTo>
                        <a:lnTo>
                          <a:pt x="69" y="64"/>
                        </a:lnTo>
                        <a:lnTo>
                          <a:pt x="32" y="57"/>
                        </a:lnTo>
                        <a:lnTo>
                          <a:pt x="0" y="4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84" name="Group 336"/>
              <p:cNvGrpSpPr/>
              <p:nvPr/>
            </p:nvGrpSpPr>
            <p:grpSpPr bwMode="auto">
              <a:xfrm>
                <a:off x="2730" y="3133"/>
                <a:ext cx="42" cy="52"/>
                <a:chOff x="2730" y="3133"/>
                <a:chExt cx="42" cy="52"/>
              </a:xfrm>
            </p:grpSpPr>
            <p:sp>
              <p:nvSpPr>
                <p:cNvPr id="642385" name="Freeform 337"/>
                <p:cNvSpPr/>
                <p:nvPr/>
              </p:nvSpPr>
              <p:spPr bwMode="auto">
                <a:xfrm>
                  <a:off x="2731" y="3133"/>
                  <a:ext cx="41" cy="52"/>
                </a:xfrm>
                <a:custGeom>
                  <a:avLst/>
                  <a:gdLst>
                    <a:gd name="T0" fmla="*/ 143 w 288"/>
                    <a:gd name="T1" fmla="*/ 18 h 416"/>
                    <a:gd name="T2" fmla="*/ 133 w 288"/>
                    <a:gd name="T3" fmla="*/ 85 h 416"/>
                    <a:gd name="T4" fmla="*/ 132 w 288"/>
                    <a:gd name="T5" fmla="*/ 117 h 416"/>
                    <a:gd name="T6" fmla="*/ 138 w 288"/>
                    <a:gd name="T7" fmla="*/ 151 h 416"/>
                    <a:gd name="T8" fmla="*/ 148 w 288"/>
                    <a:gd name="T9" fmla="*/ 167 h 416"/>
                    <a:gd name="T10" fmla="*/ 159 w 288"/>
                    <a:gd name="T11" fmla="*/ 176 h 416"/>
                    <a:gd name="T12" fmla="*/ 179 w 288"/>
                    <a:gd name="T13" fmla="*/ 186 h 416"/>
                    <a:gd name="T14" fmla="*/ 210 w 288"/>
                    <a:gd name="T15" fmla="*/ 200 h 416"/>
                    <a:gd name="T16" fmla="*/ 222 w 288"/>
                    <a:gd name="T17" fmla="*/ 208 h 416"/>
                    <a:gd name="T18" fmla="*/ 238 w 288"/>
                    <a:gd name="T19" fmla="*/ 219 h 416"/>
                    <a:gd name="T20" fmla="*/ 243 w 288"/>
                    <a:gd name="T21" fmla="*/ 227 h 416"/>
                    <a:gd name="T22" fmla="*/ 249 w 288"/>
                    <a:gd name="T23" fmla="*/ 244 h 416"/>
                    <a:gd name="T24" fmla="*/ 261 w 288"/>
                    <a:gd name="T25" fmla="*/ 252 h 416"/>
                    <a:gd name="T26" fmla="*/ 274 w 288"/>
                    <a:gd name="T27" fmla="*/ 262 h 416"/>
                    <a:gd name="T28" fmla="*/ 278 w 288"/>
                    <a:gd name="T29" fmla="*/ 275 h 416"/>
                    <a:gd name="T30" fmla="*/ 280 w 288"/>
                    <a:gd name="T31" fmla="*/ 287 h 416"/>
                    <a:gd name="T32" fmla="*/ 274 w 288"/>
                    <a:gd name="T33" fmla="*/ 306 h 416"/>
                    <a:gd name="T34" fmla="*/ 267 w 288"/>
                    <a:gd name="T35" fmla="*/ 319 h 416"/>
                    <a:gd name="T36" fmla="*/ 258 w 288"/>
                    <a:gd name="T37" fmla="*/ 330 h 416"/>
                    <a:gd name="T38" fmla="*/ 249 w 288"/>
                    <a:gd name="T39" fmla="*/ 334 h 416"/>
                    <a:gd name="T40" fmla="*/ 262 w 288"/>
                    <a:gd name="T41" fmla="*/ 345 h 416"/>
                    <a:gd name="T42" fmla="*/ 276 w 288"/>
                    <a:gd name="T43" fmla="*/ 359 h 416"/>
                    <a:gd name="T44" fmla="*/ 284 w 288"/>
                    <a:gd name="T45" fmla="*/ 374 h 416"/>
                    <a:gd name="T46" fmla="*/ 288 w 288"/>
                    <a:gd name="T47" fmla="*/ 389 h 416"/>
                    <a:gd name="T48" fmla="*/ 285 w 288"/>
                    <a:gd name="T49" fmla="*/ 403 h 416"/>
                    <a:gd name="T50" fmla="*/ 282 w 288"/>
                    <a:gd name="T51" fmla="*/ 410 h 416"/>
                    <a:gd name="T52" fmla="*/ 276 w 288"/>
                    <a:gd name="T53" fmla="*/ 416 h 416"/>
                    <a:gd name="T54" fmla="*/ 266 w 288"/>
                    <a:gd name="T55" fmla="*/ 415 h 416"/>
                    <a:gd name="T56" fmla="*/ 255 w 288"/>
                    <a:gd name="T57" fmla="*/ 401 h 416"/>
                    <a:gd name="T58" fmla="*/ 243 w 288"/>
                    <a:gd name="T59" fmla="*/ 382 h 416"/>
                    <a:gd name="T60" fmla="*/ 202 w 288"/>
                    <a:gd name="T61" fmla="*/ 352 h 416"/>
                    <a:gd name="T62" fmla="*/ 171 w 288"/>
                    <a:gd name="T63" fmla="*/ 334 h 416"/>
                    <a:gd name="T64" fmla="*/ 145 w 288"/>
                    <a:gd name="T65" fmla="*/ 325 h 416"/>
                    <a:gd name="T66" fmla="*/ 123 w 288"/>
                    <a:gd name="T67" fmla="*/ 318 h 416"/>
                    <a:gd name="T68" fmla="*/ 99 w 288"/>
                    <a:gd name="T69" fmla="*/ 309 h 416"/>
                    <a:gd name="T70" fmla="*/ 77 w 288"/>
                    <a:gd name="T71" fmla="*/ 298 h 416"/>
                    <a:gd name="T72" fmla="*/ 48 w 288"/>
                    <a:gd name="T73" fmla="*/ 280 h 416"/>
                    <a:gd name="T74" fmla="*/ 12 w 288"/>
                    <a:gd name="T75" fmla="*/ 227 h 416"/>
                    <a:gd name="T76" fmla="*/ 2 w 288"/>
                    <a:gd name="T77" fmla="*/ 195 h 416"/>
                    <a:gd name="T78" fmla="*/ 0 w 288"/>
                    <a:gd name="T79" fmla="*/ 164 h 416"/>
                    <a:gd name="T80" fmla="*/ 4 w 288"/>
                    <a:gd name="T81" fmla="*/ 131 h 416"/>
                    <a:gd name="T82" fmla="*/ 13 w 288"/>
                    <a:gd name="T83" fmla="*/ 84 h 416"/>
                    <a:gd name="T84" fmla="*/ 27 w 288"/>
                    <a:gd name="T85" fmla="*/ 0 h 416"/>
                    <a:gd name="T86" fmla="*/ 143 w 288"/>
                    <a:gd name="T87" fmla="*/ 18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8" h="416">
                      <a:moveTo>
                        <a:pt x="143" y="18"/>
                      </a:moveTo>
                      <a:lnTo>
                        <a:pt x="133" y="85"/>
                      </a:lnTo>
                      <a:lnTo>
                        <a:pt x="132" y="117"/>
                      </a:lnTo>
                      <a:lnTo>
                        <a:pt x="138" y="151"/>
                      </a:lnTo>
                      <a:lnTo>
                        <a:pt x="148" y="167"/>
                      </a:lnTo>
                      <a:lnTo>
                        <a:pt x="159" y="176"/>
                      </a:lnTo>
                      <a:lnTo>
                        <a:pt x="179" y="186"/>
                      </a:lnTo>
                      <a:lnTo>
                        <a:pt x="210" y="200"/>
                      </a:lnTo>
                      <a:lnTo>
                        <a:pt x="222" y="208"/>
                      </a:lnTo>
                      <a:lnTo>
                        <a:pt x="238" y="219"/>
                      </a:lnTo>
                      <a:lnTo>
                        <a:pt x="243" y="227"/>
                      </a:lnTo>
                      <a:lnTo>
                        <a:pt x="249" y="244"/>
                      </a:lnTo>
                      <a:lnTo>
                        <a:pt x="261" y="252"/>
                      </a:lnTo>
                      <a:lnTo>
                        <a:pt x="274" y="262"/>
                      </a:lnTo>
                      <a:lnTo>
                        <a:pt x="278" y="275"/>
                      </a:lnTo>
                      <a:lnTo>
                        <a:pt x="280" y="287"/>
                      </a:lnTo>
                      <a:lnTo>
                        <a:pt x="274" y="306"/>
                      </a:lnTo>
                      <a:lnTo>
                        <a:pt x="267" y="319"/>
                      </a:lnTo>
                      <a:lnTo>
                        <a:pt x="258" y="330"/>
                      </a:lnTo>
                      <a:lnTo>
                        <a:pt x="249" y="334"/>
                      </a:lnTo>
                      <a:lnTo>
                        <a:pt x="262" y="345"/>
                      </a:lnTo>
                      <a:lnTo>
                        <a:pt x="276" y="359"/>
                      </a:lnTo>
                      <a:lnTo>
                        <a:pt x="284" y="374"/>
                      </a:lnTo>
                      <a:lnTo>
                        <a:pt x="288" y="389"/>
                      </a:lnTo>
                      <a:lnTo>
                        <a:pt x="285" y="403"/>
                      </a:lnTo>
                      <a:lnTo>
                        <a:pt x="282" y="410"/>
                      </a:lnTo>
                      <a:lnTo>
                        <a:pt x="276" y="416"/>
                      </a:lnTo>
                      <a:lnTo>
                        <a:pt x="266" y="415"/>
                      </a:lnTo>
                      <a:lnTo>
                        <a:pt x="255" y="401"/>
                      </a:lnTo>
                      <a:lnTo>
                        <a:pt x="243" y="382"/>
                      </a:lnTo>
                      <a:lnTo>
                        <a:pt x="202" y="352"/>
                      </a:lnTo>
                      <a:lnTo>
                        <a:pt x="171" y="334"/>
                      </a:lnTo>
                      <a:lnTo>
                        <a:pt x="145" y="325"/>
                      </a:lnTo>
                      <a:lnTo>
                        <a:pt x="123" y="318"/>
                      </a:lnTo>
                      <a:lnTo>
                        <a:pt x="99" y="309"/>
                      </a:lnTo>
                      <a:lnTo>
                        <a:pt x="77" y="298"/>
                      </a:lnTo>
                      <a:lnTo>
                        <a:pt x="48" y="280"/>
                      </a:lnTo>
                      <a:lnTo>
                        <a:pt x="12" y="227"/>
                      </a:lnTo>
                      <a:lnTo>
                        <a:pt x="2" y="195"/>
                      </a:lnTo>
                      <a:lnTo>
                        <a:pt x="0" y="164"/>
                      </a:lnTo>
                      <a:lnTo>
                        <a:pt x="4" y="131"/>
                      </a:lnTo>
                      <a:lnTo>
                        <a:pt x="13" y="84"/>
                      </a:lnTo>
                      <a:lnTo>
                        <a:pt x="27" y="0"/>
                      </a:lnTo>
                      <a:lnTo>
                        <a:pt x="143"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6" name="Freeform 338"/>
                <p:cNvSpPr/>
                <p:nvPr/>
              </p:nvSpPr>
              <p:spPr bwMode="auto">
                <a:xfrm>
                  <a:off x="2756" y="3168"/>
                  <a:ext cx="14" cy="7"/>
                </a:xfrm>
                <a:custGeom>
                  <a:avLst/>
                  <a:gdLst>
                    <a:gd name="T0" fmla="*/ 0 w 92"/>
                    <a:gd name="T1" fmla="*/ 0 h 52"/>
                    <a:gd name="T2" fmla="*/ 27 w 92"/>
                    <a:gd name="T3" fmla="*/ 12 h 52"/>
                    <a:gd name="T4" fmla="*/ 45 w 92"/>
                    <a:gd name="T5" fmla="*/ 19 h 52"/>
                    <a:gd name="T6" fmla="*/ 57 w 92"/>
                    <a:gd name="T7" fmla="*/ 18 h 52"/>
                    <a:gd name="T8" fmla="*/ 65 w 92"/>
                    <a:gd name="T9" fmla="*/ 12 h 52"/>
                    <a:gd name="T10" fmla="*/ 71 w 92"/>
                    <a:gd name="T11" fmla="*/ 16 h 52"/>
                    <a:gd name="T12" fmla="*/ 80 w 92"/>
                    <a:gd name="T13" fmla="*/ 21 h 52"/>
                    <a:gd name="T14" fmla="*/ 92 w 92"/>
                    <a:gd name="T15" fmla="*/ 22 h 52"/>
                    <a:gd name="T16" fmla="*/ 88 w 92"/>
                    <a:gd name="T17" fmla="*/ 34 h 52"/>
                    <a:gd name="T18" fmla="*/ 80 w 92"/>
                    <a:gd name="T19" fmla="*/ 46 h 52"/>
                    <a:gd name="T20" fmla="*/ 68 w 92"/>
                    <a:gd name="T21" fmla="*/ 52 h 52"/>
                    <a:gd name="T22" fmla="*/ 54 w 92"/>
                    <a:gd name="T23" fmla="*/ 38 h 52"/>
                    <a:gd name="T24" fmla="*/ 42 w 92"/>
                    <a:gd name="T25" fmla="*/ 27 h 52"/>
                    <a:gd name="T26" fmla="*/ 24 w 92"/>
                    <a:gd name="T27" fmla="*/ 16 h 52"/>
                    <a:gd name="T28" fmla="*/ 0 w 92"/>
                    <a:gd name="T29"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2" h="52">
                      <a:moveTo>
                        <a:pt x="0" y="0"/>
                      </a:moveTo>
                      <a:lnTo>
                        <a:pt x="27" y="12"/>
                      </a:lnTo>
                      <a:lnTo>
                        <a:pt x="45" y="19"/>
                      </a:lnTo>
                      <a:lnTo>
                        <a:pt x="57" y="18"/>
                      </a:lnTo>
                      <a:lnTo>
                        <a:pt x="65" y="12"/>
                      </a:lnTo>
                      <a:lnTo>
                        <a:pt x="71" y="16"/>
                      </a:lnTo>
                      <a:lnTo>
                        <a:pt x="80" y="21"/>
                      </a:lnTo>
                      <a:lnTo>
                        <a:pt x="92" y="22"/>
                      </a:lnTo>
                      <a:lnTo>
                        <a:pt x="88" y="34"/>
                      </a:lnTo>
                      <a:lnTo>
                        <a:pt x="80" y="46"/>
                      </a:lnTo>
                      <a:lnTo>
                        <a:pt x="68" y="52"/>
                      </a:lnTo>
                      <a:lnTo>
                        <a:pt x="54" y="38"/>
                      </a:lnTo>
                      <a:lnTo>
                        <a:pt x="42" y="27"/>
                      </a:lnTo>
                      <a:lnTo>
                        <a:pt x="24" y="16"/>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7" name="Freeform 339"/>
                <p:cNvSpPr/>
                <p:nvPr/>
              </p:nvSpPr>
              <p:spPr bwMode="auto">
                <a:xfrm>
                  <a:off x="2730" y="3138"/>
                  <a:ext cx="21" cy="32"/>
                </a:xfrm>
                <a:custGeom>
                  <a:avLst/>
                  <a:gdLst>
                    <a:gd name="T0" fmla="*/ 107 w 144"/>
                    <a:gd name="T1" fmla="*/ 139 h 258"/>
                    <a:gd name="T2" fmla="*/ 95 w 144"/>
                    <a:gd name="T3" fmla="*/ 119 h 258"/>
                    <a:gd name="T4" fmla="*/ 86 w 144"/>
                    <a:gd name="T5" fmla="*/ 96 h 258"/>
                    <a:gd name="T6" fmla="*/ 79 w 144"/>
                    <a:gd name="T7" fmla="*/ 73 h 258"/>
                    <a:gd name="T8" fmla="*/ 76 w 144"/>
                    <a:gd name="T9" fmla="*/ 53 h 258"/>
                    <a:gd name="T10" fmla="*/ 77 w 144"/>
                    <a:gd name="T11" fmla="*/ 40 h 258"/>
                    <a:gd name="T12" fmla="*/ 94 w 144"/>
                    <a:gd name="T13" fmla="*/ 42 h 258"/>
                    <a:gd name="T14" fmla="*/ 113 w 144"/>
                    <a:gd name="T15" fmla="*/ 39 h 258"/>
                    <a:gd name="T16" fmla="*/ 126 w 144"/>
                    <a:gd name="T17" fmla="*/ 36 h 258"/>
                    <a:gd name="T18" fmla="*/ 136 w 144"/>
                    <a:gd name="T19" fmla="*/ 32 h 258"/>
                    <a:gd name="T20" fmla="*/ 141 w 144"/>
                    <a:gd name="T21" fmla="*/ 25 h 258"/>
                    <a:gd name="T22" fmla="*/ 144 w 144"/>
                    <a:gd name="T23" fmla="*/ 7 h 258"/>
                    <a:gd name="T24" fmla="*/ 20 w 144"/>
                    <a:gd name="T25" fmla="*/ 0 h 258"/>
                    <a:gd name="T26" fmla="*/ 14 w 144"/>
                    <a:gd name="T27" fmla="*/ 37 h 258"/>
                    <a:gd name="T28" fmla="*/ 11 w 144"/>
                    <a:gd name="T29" fmla="*/ 58 h 258"/>
                    <a:gd name="T30" fmla="*/ 5 w 144"/>
                    <a:gd name="T31" fmla="*/ 83 h 258"/>
                    <a:gd name="T32" fmla="*/ 2 w 144"/>
                    <a:gd name="T33" fmla="*/ 103 h 258"/>
                    <a:gd name="T34" fmla="*/ 0 w 144"/>
                    <a:gd name="T35" fmla="*/ 124 h 258"/>
                    <a:gd name="T36" fmla="*/ 1 w 144"/>
                    <a:gd name="T37" fmla="*/ 144 h 258"/>
                    <a:gd name="T38" fmla="*/ 3 w 144"/>
                    <a:gd name="T39" fmla="*/ 159 h 258"/>
                    <a:gd name="T40" fmla="*/ 6 w 144"/>
                    <a:gd name="T41" fmla="*/ 173 h 258"/>
                    <a:gd name="T42" fmla="*/ 12 w 144"/>
                    <a:gd name="T43" fmla="*/ 187 h 258"/>
                    <a:gd name="T44" fmla="*/ 22 w 144"/>
                    <a:gd name="T45" fmla="*/ 202 h 258"/>
                    <a:gd name="T46" fmla="*/ 29 w 144"/>
                    <a:gd name="T47" fmla="*/ 214 h 258"/>
                    <a:gd name="T48" fmla="*/ 39 w 144"/>
                    <a:gd name="T49" fmla="*/ 229 h 258"/>
                    <a:gd name="T50" fmla="*/ 51 w 144"/>
                    <a:gd name="T51" fmla="*/ 242 h 258"/>
                    <a:gd name="T52" fmla="*/ 61 w 144"/>
                    <a:gd name="T53" fmla="*/ 249 h 258"/>
                    <a:gd name="T54" fmla="*/ 76 w 144"/>
                    <a:gd name="T55" fmla="*/ 258 h 258"/>
                    <a:gd name="T56" fmla="*/ 72 w 144"/>
                    <a:gd name="T57" fmla="*/ 244 h 258"/>
                    <a:gd name="T58" fmla="*/ 70 w 144"/>
                    <a:gd name="T59" fmla="*/ 223 h 258"/>
                    <a:gd name="T60" fmla="*/ 72 w 144"/>
                    <a:gd name="T61" fmla="*/ 205 h 258"/>
                    <a:gd name="T62" fmla="*/ 76 w 144"/>
                    <a:gd name="T63" fmla="*/ 187 h 258"/>
                    <a:gd name="T64" fmla="*/ 85 w 144"/>
                    <a:gd name="T65" fmla="*/ 169 h 258"/>
                    <a:gd name="T66" fmla="*/ 96 w 144"/>
                    <a:gd name="T67" fmla="*/ 152 h 258"/>
                    <a:gd name="T68" fmla="*/ 107 w 144"/>
                    <a:gd name="T69" fmla="*/ 139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258">
                      <a:moveTo>
                        <a:pt x="107" y="139"/>
                      </a:moveTo>
                      <a:lnTo>
                        <a:pt x="95" y="119"/>
                      </a:lnTo>
                      <a:lnTo>
                        <a:pt x="86" y="96"/>
                      </a:lnTo>
                      <a:lnTo>
                        <a:pt x="79" y="73"/>
                      </a:lnTo>
                      <a:lnTo>
                        <a:pt x="76" y="53"/>
                      </a:lnTo>
                      <a:lnTo>
                        <a:pt x="77" y="40"/>
                      </a:lnTo>
                      <a:lnTo>
                        <a:pt x="94" y="42"/>
                      </a:lnTo>
                      <a:lnTo>
                        <a:pt x="113" y="39"/>
                      </a:lnTo>
                      <a:lnTo>
                        <a:pt x="126" y="36"/>
                      </a:lnTo>
                      <a:lnTo>
                        <a:pt x="136" y="32"/>
                      </a:lnTo>
                      <a:lnTo>
                        <a:pt x="141" y="25"/>
                      </a:lnTo>
                      <a:lnTo>
                        <a:pt x="144" y="7"/>
                      </a:lnTo>
                      <a:lnTo>
                        <a:pt x="20" y="0"/>
                      </a:lnTo>
                      <a:lnTo>
                        <a:pt x="14" y="37"/>
                      </a:lnTo>
                      <a:lnTo>
                        <a:pt x="11" y="58"/>
                      </a:lnTo>
                      <a:lnTo>
                        <a:pt x="5" y="83"/>
                      </a:lnTo>
                      <a:lnTo>
                        <a:pt x="2" y="103"/>
                      </a:lnTo>
                      <a:lnTo>
                        <a:pt x="0" y="124"/>
                      </a:lnTo>
                      <a:lnTo>
                        <a:pt x="1" y="144"/>
                      </a:lnTo>
                      <a:lnTo>
                        <a:pt x="3" y="159"/>
                      </a:lnTo>
                      <a:lnTo>
                        <a:pt x="6" y="173"/>
                      </a:lnTo>
                      <a:lnTo>
                        <a:pt x="12" y="187"/>
                      </a:lnTo>
                      <a:lnTo>
                        <a:pt x="22" y="202"/>
                      </a:lnTo>
                      <a:lnTo>
                        <a:pt x="29" y="214"/>
                      </a:lnTo>
                      <a:lnTo>
                        <a:pt x="39" y="229"/>
                      </a:lnTo>
                      <a:lnTo>
                        <a:pt x="51" y="242"/>
                      </a:lnTo>
                      <a:lnTo>
                        <a:pt x="61" y="249"/>
                      </a:lnTo>
                      <a:lnTo>
                        <a:pt x="76" y="258"/>
                      </a:lnTo>
                      <a:lnTo>
                        <a:pt x="72" y="244"/>
                      </a:lnTo>
                      <a:lnTo>
                        <a:pt x="70" y="223"/>
                      </a:lnTo>
                      <a:lnTo>
                        <a:pt x="72" y="205"/>
                      </a:lnTo>
                      <a:lnTo>
                        <a:pt x="76" y="187"/>
                      </a:lnTo>
                      <a:lnTo>
                        <a:pt x="85" y="169"/>
                      </a:lnTo>
                      <a:lnTo>
                        <a:pt x="96" y="152"/>
                      </a:lnTo>
                      <a:lnTo>
                        <a:pt x="107" y="13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8" name="Freeform 340"/>
                <p:cNvSpPr/>
                <p:nvPr/>
              </p:nvSpPr>
              <p:spPr bwMode="auto">
                <a:xfrm>
                  <a:off x="2755" y="3159"/>
                  <a:ext cx="11" cy="4"/>
                </a:xfrm>
                <a:custGeom>
                  <a:avLst/>
                  <a:gdLst>
                    <a:gd name="T0" fmla="*/ 76 w 76"/>
                    <a:gd name="T1" fmla="*/ 37 h 37"/>
                    <a:gd name="T2" fmla="*/ 57 w 76"/>
                    <a:gd name="T3" fmla="*/ 24 h 37"/>
                    <a:gd name="T4" fmla="*/ 37 w 76"/>
                    <a:gd name="T5" fmla="*/ 12 h 37"/>
                    <a:gd name="T6" fmla="*/ 19 w 76"/>
                    <a:gd name="T7" fmla="*/ 5 h 37"/>
                    <a:gd name="T8" fmla="*/ 0 w 76"/>
                    <a:gd name="T9" fmla="*/ 0 h 37"/>
                    <a:gd name="T10" fmla="*/ 23 w 76"/>
                    <a:gd name="T11" fmla="*/ 4 h 37"/>
                    <a:gd name="T12" fmla="*/ 44 w 76"/>
                    <a:gd name="T13" fmla="*/ 10 h 37"/>
                    <a:gd name="T14" fmla="*/ 64 w 76"/>
                    <a:gd name="T15" fmla="*/ 19 h 37"/>
                    <a:gd name="T16" fmla="*/ 73 w 76"/>
                    <a:gd name="T17" fmla="*/ 24 h 37"/>
                    <a:gd name="T18" fmla="*/ 76 w 76"/>
                    <a:gd name="T19"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 h="37">
                      <a:moveTo>
                        <a:pt x="76" y="37"/>
                      </a:moveTo>
                      <a:lnTo>
                        <a:pt x="57" y="24"/>
                      </a:lnTo>
                      <a:lnTo>
                        <a:pt x="37" y="12"/>
                      </a:lnTo>
                      <a:lnTo>
                        <a:pt x="19" y="5"/>
                      </a:lnTo>
                      <a:lnTo>
                        <a:pt x="0" y="0"/>
                      </a:lnTo>
                      <a:lnTo>
                        <a:pt x="23" y="4"/>
                      </a:lnTo>
                      <a:lnTo>
                        <a:pt x="44" y="10"/>
                      </a:lnTo>
                      <a:lnTo>
                        <a:pt x="64" y="19"/>
                      </a:lnTo>
                      <a:lnTo>
                        <a:pt x="73" y="24"/>
                      </a:lnTo>
                      <a:lnTo>
                        <a:pt x="76"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9" name="Freeform 341"/>
                <p:cNvSpPr/>
                <p:nvPr/>
              </p:nvSpPr>
              <p:spPr bwMode="auto">
                <a:xfrm>
                  <a:off x="2755" y="3174"/>
                  <a:ext cx="13" cy="7"/>
                </a:xfrm>
                <a:custGeom>
                  <a:avLst/>
                  <a:gdLst>
                    <a:gd name="T0" fmla="*/ 97 w 97"/>
                    <a:gd name="T1" fmla="*/ 37 h 60"/>
                    <a:gd name="T2" fmla="*/ 89 w 97"/>
                    <a:gd name="T3" fmla="*/ 42 h 60"/>
                    <a:gd name="T4" fmla="*/ 84 w 97"/>
                    <a:gd name="T5" fmla="*/ 49 h 60"/>
                    <a:gd name="T6" fmla="*/ 77 w 97"/>
                    <a:gd name="T7" fmla="*/ 60 h 60"/>
                    <a:gd name="T8" fmla="*/ 74 w 97"/>
                    <a:gd name="T9" fmla="*/ 54 h 60"/>
                    <a:gd name="T10" fmla="*/ 68 w 97"/>
                    <a:gd name="T11" fmla="*/ 49 h 60"/>
                    <a:gd name="T12" fmla="*/ 53 w 97"/>
                    <a:gd name="T13" fmla="*/ 38 h 60"/>
                    <a:gd name="T14" fmla="*/ 40 w 97"/>
                    <a:gd name="T15" fmla="*/ 28 h 60"/>
                    <a:gd name="T16" fmla="*/ 27 w 97"/>
                    <a:gd name="T17" fmla="*/ 19 h 60"/>
                    <a:gd name="T18" fmla="*/ 13 w 97"/>
                    <a:gd name="T19" fmla="*/ 10 h 60"/>
                    <a:gd name="T20" fmla="*/ 0 w 97"/>
                    <a:gd name="T21" fmla="*/ 0 h 60"/>
                    <a:gd name="T22" fmla="*/ 18 w 97"/>
                    <a:gd name="T23" fmla="*/ 8 h 60"/>
                    <a:gd name="T24" fmla="*/ 30 w 97"/>
                    <a:gd name="T25" fmla="*/ 14 h 60"/>
                    <a:gd name="T26" fmla="*/ 47 w 97"/>
                    <a:gd name="T27" fmla="*/ 23 h 60"/>
                    <a:gd name="T28" fmla="*/ 62 w 97"/>
                    <a:gd name="T29" fmla="*/ 36 h 60"/>
                    <a:gd name="T30" fmla="*/ 72 w 97"/>
                    <a:gd name="T31" fmla="*/ 45 h 60"/>
                    <a:gd name="T32" fmla="*/ 78 w 97"/>
                    <a:gd name="T33" fmla="*/ 50 h 60"/>
                    <a:gd name="T34" fmla="*/ 84 w 97"/>
                    <a:gd name="T35" fmla="*/ 42 h 60"/>
                    <a:gd name="T36" fmla="*/ 97 w 97"/>
                    <a:gd name="T37" fmla="*/ 3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7" h="60">
                      <a:moveTo>
                        <a:pt x="97" y="37"/>
                      </a:moveTo>
                      <a:lnTo>
                        <a:pt x="89" y="42"/>
                      </a:lnTo>
                      <a:lnTo>
                        <a:pt x="84" y="49"/>
                      </a:lnTo>
                      <a:lnTo>
                        <a:pt x="77" y="60"/>
                      </a:lnTo>
                      <a:lnTo>
                        <a:pt x="74" y="54"/>
                      </a:lnTo>
                      <a:lnTo>
                        <a:pt x="68" y="49"/>
                      </a:lnTo>
                      <a:lnTo>
                        <a:pt x="53" y="38"/>
                      </a:lnTo>
                      <a:lnTo>
                        <a:pt x="40" y="28"/>
                      </a:lnTo>
                      <a:lnTo>
                        <a:pt x="27" y="19"/>
                      </a:lnTo>
                      <a:lnTo>
                        <a:pt x="13" y="10"/>
                      </a:lnTo>
                      <a:lnTo>
                        <a:pt x="0" y="0"/>
                      </a:lnTo>
                      <a:lnTo>
                        <a:pt x="18" y="8"/>
                      </a:lnTo>
                      <a:lnTo>
                        <a:pt x="30" y="14"/>
                      </a:lnTo>
                      <a:lnTo>
                        <a:pt x="47" y="23"/>
                      </a:lnTo>
                      <a:lnTo>
                        <a:pt x="62" y="36"/>
                      </a:lnTo>
                      <a:lnTo>
                        <a:pt x="72" y="45"/>
                      </a:lnTo>
                      <a:lnTo>
                        <a:pt x="78" y="50"/>
                      </a:lnTo>
                      <a:lnTo>
                        <a:pt x="84" y="42"/>
                      </a:lnTo>
                      <a:lnTo>
                        <a:pt x="97"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90" name="Group 342"/>
              <p:cNvGrpSpPr/>
              <p:nvPr/>
            </p:nvGrpSpPr>
            <p:grpSpPr bwMode="auto">
              <a:xfrm>
                <a:off x="2725" y="3103"/>
                <a:ext cx="38" cy="40"/>
                <a:chOff x="2725" y="3103"/>
                <a:chExt cx="38" cy="40"/>
              </a:xfrm>
            </p:grpSpPr>
            <p:sp>
              <p:nvSpPr>
                <p:cNvPr id="642391" name="Freeform 343"/>
                <p:cNvSpPr/>
                <p:nvPr/>
              </p:nvSpPr>
              <p:spPr bwMode="auto">
                <a:xfrm>
                  <a:off x="2725" y="3103"/>
                  <a:ext cx="38" cy="40"/>
                </a:xfrm>
                <a:custGeom>
                  <a:avLst/>
                  <a:gdLst>
                    <a:gd name="T0" fmla="*/ 17 w 265"/>
                    <a:gd name="T1" fmla="*/ 0 h 314"/>
                    <a:gd name="T2" fmla="*/ 9 w 265"/>
                    <a:gd name="T3" fmla="*/ 19 h 314"/>
                    <a:gd name="T4" fmla="*/ 3 w 265"/>
                    <a:gd name="T5" fmla="*/ 41 h 314"/>
                    <a:gd name="T6" fmla="*/ 0 w 265"/>
                    <a:gd name="T7" fmla="*/ 66 h 314"/>
                    <a:gd name="T8" fmla="*/ 3 w 265"/>
                    <a:gd name="T9" fmla="*/ 91 h 314"/>
                    <a:gd name="T10" fmla="*/ 5 w 265"/>
                    <a:gd name="T11" fmla="*/ 101 h 314"/>
                    <a:gd name="T12" fmla="*/ 15 w 265"/>
                    <a:gd name="T13" fmla="*/ 115 h 314"/>
                    <a:gd name="T14" fmla="*/ 29 w 265"/>
                    <a:gd name="T15" fmla="*/ 125 h 314"/>
                    <a:gd name="T16" fmla="*/ 46 w 265"/>
                    <a:gd name="T17" fmla="*/ 137 h 314"/>
                    <a:gd name="T18" fmla="*/ 40 w 265"/>
                    <a:gd name="T19" fmla="*/ 160 h 314"/>
                    <a:gd name="T20" fmla="*/ 37 w 265"/>
                    <a:gd name="T21" fmla="*/ 189 h 314"/>
                    <a:gd name="T22" fmla="*/ 35 w 265"/>
                    <a:gd name="T23" fmla="*/ 222 h 314"/>
                    <a:gd name="T24" fmla="*/ 38 w 265"/>
                    <a:gd name="T25" fmla="*/ 253 h 314"/>
                    <a:gd name="T26" fmla="*/ 40 w 265"/>
                    <a:gd name="T27" fmla="*/ 277 h 314"/>
                    <a:gd name="T28" fmla="*/ 46 w 265"/>
                    <a:gd name="T29" fmla="*/ 289 h 314"/>
                    <a:gd name="T30" fmla="*/ 64 w 265"/>
                    <a:gd name="T31" fmla="*/ 303 h 314"/>
                    <a:gd name="T32" fmla="*/ 91 w 265"/>
                    <a:gd name="T33" fmla="*/ 312 h 314"/>
                    <a:gd name="T34" fmla="*/ 119 w 265"/>
                    <a:gd name="T35" fmla="*/ 314 h 314"/>
                    <a:gd name="T36" fmla="*/ 146 w 265"/>
                    <a:gd name="T37" fmla="*/ 312 h 314"/>
                    <a:gd name="T38" fmla="*/ 162 w 265"/>
                    <a:gd name="T39" fmla="*/ 308 h 314"/>
                    <a:gd name="T40" fmla="*/ 175 w 265"/>
                    <a:gd name="T41" fmla="*/ 299 h 314"/>
                    <a:gd name="T42" fmla="*/ 189 w 265"/>
                    <a:gd name="T43" fmla="*/ 279 h 314"/>
                    <a:gd name="T44" fmla="*/ 196 w 265"/>
                    <a:gd name="T45" fmla="*/ 262 h 314"/>
                    <a:gd name="T46" fmla="*/ 202 w 265"/>
                    <a:gd name="T47" fmla="*/ 240 h 314"/>
                    <a:gd name="T48" fmla="*/ 204 w 265"/>
                    <a:gd name="T49" fmla="*/ 226 h 314"/>
                    <a:gd name="T50" fmla="*/ 202 w 265"/>
                    <a:gd name="T51" fmla="*/ 209 h 314"/>
                    <a:gd name="T52" fmla="*/ 210 w 265"/>
                    <a:gd name="T53" fmla="*/ 191 h 314"/>
                    <a:gd name="T54" fmla="*/ 213 w 265"/>
                    <a:gd name="T55" fmla="*/ 173 h 314"/>
                    <a:gd name="T56" fmla="*/ 237 w 265"/>
                    <a:gd name="T57" fmla="*/ 162 h 314"/>
                    <a:gd name="T58" fmla="*/ 252 w 265"/>
                    <a:gd name="T59" fmla="*/ 153 h 314"/>
                    <a:gd name="T60" fmla="*/ 256 w 265"/>
                    <a:gd name="T61" fmla="*/ 144 h 314"/>
                    <a:gd name="T62" fmla="*/ 254 w 265"/>
                    <a:gd name="T63" fmla="*/ 125 h 314"/>
                    <a:gd name="T64" fmla="*/ 256 w 265"/>
                    <a:gd name="T65" fmla="*/ 108 h 314"/>
                    <a:gd name="T66" fmla="*/ 260 w 265"/>
                    <a:gd name="T67" fmla="*/ 86 h 314"/>
                    <a:gd name="T68" fmla="*/ 265 w 265"/>
                    <a:gd name="T69" fmla="*/ 70 h 314"/>
                    <a:gd name="T70" fmla="*/ 264 w 265"/>
                    <a:gd name="T71" fmla="*/ 56 h 314"/>
                    <a:gd name="T72" fmla="*/ 259 w 265"/>
                    <a:gd name="T73" fmla="*/ 40 h 314"/>
                    <a:gd name="T74" fmla="*/ 253 w 265"/>
                    <a:gd name="T75" fmla="*/ 31 h 314"/>
                    <a:gd name="T76" fmla="*/ 250 w 265"/>
                    <a:gd name="T77" fmla="*/ 22 h 314"/>
                    <a:gd name="T78" fmla="*/ 230 w 265"/>
                    <a:gd name="T79" fmla="*/ 29 h 314"/>
                    <a:gd name="T80" fmla="*/ 206 w 265"/>
                    <a:gd name="T81" fmla="*/ 37 h 314"/>
                    <a:gd name="T82" fmla="*/ 190 w 265"/>
                    <a:gd name="T83" fmla="*/ 41 h 314"/>
                    <a:gd name="T84" fmla="*/ 171 w 265"/>
                    <a:gd name="T85" fmla="*/ 45 h 314"/>
                    <a:gd name="T86" fmla="*/ 146 w 265"/>
                    <a:gd name="T87" fmla="*/ 47 h 314"/>
                    <a:gd name="T88" fmla="*/ 122 w 265"/>
                    <a:gd name="T89" fmla="*/ 43 h 314"/>
                    <a:gd name="T90" fmla="*/ 100 w 265"/>
                    <a:gd name="T91" fmla="*/ 37 h 314"/>
                    <a:gd name="T92" fmla="*/ 78 w 265"/>
                    <a:gd name="T93" fmla="*/ 31 h 314"/>
                    <a:gd name="T94" fmla="*/ 57 w 265"/>
                    <a:gd name="T95" fmla="*/ 19 h 314"/>
                    <a:gd name="T96" fmla="*/ 35 w 265"/>
                    <a:gd name="T97" fmla="*/ 8 h 314"/>
                    <a:gd name="T98" fmla="*/ 17 w 265"/>
                    <a:gd name="T9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5" h="314">
                      <a:moveTo>
                        <a:pt x="17" y="0"/>
                      </a:moveTo>
                      <a:lnTo>
                        <a:pt x="9" y="19"/>
                      </a:lnTo>
                      <a:lnTo>
                        <a:pt x="3" y="41"/>
                      </a:lnTo>
                      <a:lnTo>
                        <a:pt x="0" y="66"/>
                      </a:lnTo>
                      <a:lnTo>
                        <a:pt x="3" y="91"/>
                      </a:lnTo>
                      <a:lnTo>
                        <a:pt x="5" y="101"/>
                      </a:lnTo>
                      <a:lnTo>
                        <a:pt x="15" y="115"/>
                      </a:lnTo>
                      <a:lnTo>
                        <a:pt x="29" y="125"/>
                      </a:lnTo>
                      <a:lnTo>
                        <a:pt x="46" y="137"/>
                      </a:lnTo>
                      <a:lnTo>
                        <a:pt x="40" y="160"/>
                      </a:lnTo>
                      <a:lnTo>
                        <a:pt x="37" y="189"/>
                      </a:lnTo>
                      <a:lnTo>
                        <a:pt x="35" y="222"/>
                      </a:lnTo>
                      <a:lnTo>
                        <a:pt x="38" y="253"/>
                      </a:lnTo>
                      <a:lnTo>
                        <a:pt x="40" y="277"/>
                      </a:lnTo>
                      <a:lnTo>
                        <a:pt x="46" y="289"/>
                      </a:lnTo>
                      <a:lnTo>
                        <a:pt x="64" y="303"/>
                      </a:lnTo>
                      <a:lnTo>
                        <a:pt x="91" y="312"/>
                      </a:lnTo>
                      <a:lnTo>
                        <a:pt x="119" y="314"/>
                      </a:lnTo>
                      <a:lnTo>
                        <a:pt x="146" y="312"/>
                      </a:lnTo>
                      <a:lnTo>
                        <a:pt x="162" y="308"/>
                      </a:lnTo>
                      <a:lnTo>
                        <a:pt x="175" y="299"/>
                      </a:lnTo>
                      <a:lnTo>
                        <a:pt x="189" y="279"/>
                      </a:lnTo>
                      <a:lnTo>
                        <a:pt x="196" y="262"/>
                      </a:lnTo>
                      <a:lnTo>
                        <a:pt x="202" y="240"/>
                      </a:lnTo>
                      <a:lnTo>
                        <a:pt x="204" y="226"/>
                      </a:lnTo>
                      <a:lnTo>
                        <a:pt x="202" y="209"/>
                      </a:lnTo>
                      <a:lnTo>
                        <a:pt x="210" y="191"/>
                      </a:lnTo>
                      <a:lnTo>
                        <a:pt x="213" y="173"/>
                      </a:lnTo>
                      <a:lnTo>
                        <a:pt x="237" y="162"/>
                      </a:lnTo>
                      <a:lnTo>
                        <a:pt x="252" y="153"/>
                      </a:lnTo>
                      <a:lnTo>
                        <a:pt x="256" y="144"/>
                      </a:lnTo>
                      <a:lnTo>
                        <a:pt x="254" y="125"/>
                      </a:lnTo>
                      <a:lnTo>
                        <a:pt x="256" y="108"/>
                      </a:lnTo>
                      <a:lnTo>
                        <a:pt x="260" y="86"/>
                      </a:lnTo>
                      <a:lnTo>
                        <a:pt x="265" y="70"/>
                      </a:lnTo>
                      <a:lnTo>
                        <a:pt x="264" y="56"/>
                      </a:lnTo>
                      <a:lnTo>
                        <a:pt x="259" y="40"/>
                      </a:lnTo>
                      <a:lnTo>
                        <a:pt x="253" y="31"/>
                      </a:lnTo>
                      <a:lnTo>
                        <a:pt x="250" y="22"/>
                      </a:lnTo>
                      <a:lnTo>
                        <a:pt x="230" y="29"/>
                      </a:lnTo>
                      <a:lnTo>
                        <a:pt x="206" y="37"/>
                      </a:lnTo>
                      <a:lnTo>
                        <a:pt x="190" y="41"/>
                      </a:lnTo>
                      <a:lnTo>
                        <a:pt x="171" y="45"/>
                      </a:lnTo>
                      <a:lnTo>
                        <a:pt x="146" y="47"/>
                      </a:lnTo>
                      <a:lnTo>
                        <a:pt x="122" y="43"/>
                      </a:lnTo>
                      <a:lnTo>
                        <a:pt x="100" y="37"/>
                      </a:lnTo>
                      <a:lnTo>
                        <a:pt x="78" y="31"/>
                      </a:lnTo>
                      <a:lnTo>
                        <a:pt x="57" y="19"/>
                      </a:lnTo>
                      <a:lnTo>
                        <a:pt x="35" y="8"/>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2" name="Freeform 344"/>
                <p:cNvSpPr/>
                <p:nvPr/>
              </p:nvSpPr>
              <p:spPr bwMode="auto">
                <a:xfrm>
                  <a:off x="2738" y="3120"/>
                  <a:ext cx="21" cy="10"/>
                </a:xfrm>
                <a:custGeom>
                  <a:avLst/>
                  <a:gdLst>
                    <a:gd name="T0" fmla="*/ 5 w 151"/>
                    <a:gd name="T1" fmla="*/ 2 h 81"/>
                    <a:gd name="T2" fmla="*/ 22 w 151"/>
                    <a:gd name="T3" fmla="*/ 0 h 81"/>
                    <a:gd name="T4" fmla="*/ 37 w 151"/>
                    <a:gd name="T5" fmla="*/ 5 h 81"/>
                    <a:gd name="T6" fmla="*/ 52 w 151"/>
                    <a:gd name="T7" fmla="*/ 10 h 81"/>
                    <a:gd name="T8" fmla="*/ 69 w 151"/>
                    <a:gd name="T9" fmla="*/ 17 h 81"/>
                    <a:gd name="T10" fmla="*/ 80 w 151"/>
                    <a:gd name="T11" fmla="*/ 20 h 81"/>
                    <a:gd name="T12" fmla="*/ 93 w 151"/>
                    <a:gd name="T13" fmla="*/ 17 h 81"/>
                    <a:gd name="T14" fmla="*/ 106 w 151"/>
                    <a:gd name="T15" fmla="*/ 10 h 81"/>
                    <a:gd name="T16" fmla="*/ 117 w 151"/>
                    <a:gd name="T17" fmla="*/ 8 h 81"/>
                    <a:gd name="T18" fmla="*/ 130 w 151"/>
                    <a:gd name="T19" fmla="*/ 10 h 81"/>
                    <a:gd name="T20" fmla="*/ 140 w 151"/>
                    <a:gd name="T21" fmla="*/ 12 h 81"/>
                    <a:gd name="T22" fmla="*/ 148 w 151"/>
                    <a:gd name="T23" fmla="*/ 19 h 81"/>
                    <a:gd name="T24" fmla="*/ 151 w 151"/>
                    <a:gd name="T25" fmla="*/ 30 h 81"/>
                    <a:gd name="T26" fmla="*/ 135 w 151"/>
                    <a:gd name="T27" fmla="*/ 37 h 81"/>
                    <a:gd name="T28" fmla="*/ 125 w 151"/>
                    <a:gd name="T29" fmla="*/ 41 h 81"/>
                    <a:gd name="T30" fmla="*/ 114 w 151"/>
                    <a:gd name="T31" fmla="*/ 49 h 81"/>
                    <a:gd name="T32" fmla="*/ 104 w 151"/>
                    <a:gd name="T33" fmla="*/ 52 h 81"/>
                    <a:gd name="T34" fmla="*/ 89 w 151"/>
                    <a:gd name="T35" fmla="*/ 53 h 81"/>
                    <a:gd name="T36" fmla="*/ 75 w 151"/>
                    <a:gd name="T37" fmla="*/ 59 h 81"/>
                    <a:gd name="T38" fmla="*/ 68 w 151"/>
                    <a:gd name="T39" fmla="*/ 68 h 81"/>
                    <a:gd name="T40" fmla="*/ 63 w 151"/>
                    <a:gd name="T41" fmla="*/ 81 h 81"/>
                    <a:gd name="T42" fmla="*/ 52 w 151"/>
                    <a:gd name="T43" fmla="*/ 67 h 81"/>
                    <a:gd name="T44" fmla="*/ 36 w 151"/>
                    <a:gd name="T45" fmla="*/ 54 h 81"/>
                    <a:gd name="T46" fmla="*/ 21 w 151"/>
                    <a:gd name="T47" fmla="*/ 44 h 81"/>
                    <a:gd name="T48" fmla="*/ 10 w 151"/>
                    <a:gd name="T49" fmla="*/ 37 h 81"/>
                    <a:gd name="T50" fmla="*/ 3 w 151"/>
                    <a:gd name="T51" fmla="*/ 28 h 81"/>
                    <a:gd name="T52" fmla="*/ 0 w 151"/>
                    <a:gd name="T53" fmla="*/ 19 h 81"/>
                    <a:gd name="T54" fmla="*/ 1 w 151"/>
                    <a:gd name="T55" fmla="*/ 10 h 81"/>
                    <a:gd name="T56" fmla="*/ 5 w 151"/>
                    <a:gd name="T57" fmla="*/ 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1" h="81">
                      <a:moveTo>
                        <a:pt x="5" y="2"/>
                      </a:moveTo>
                      <a:lnTo>
                        <a:pt x="22" y="0"/>
                      </a:lnTo>
                      <a:lnTo>
                        <a:pt x="37" y="5"/>
                      </a:lnTo>
                      <a:lnTo>
                        <a:pt x="52" y="10"/>
                      </a:lnTo>
                      <a:lnTo>
                        <a:pt x="69" y="17"/>
                      </a:lnTo>
                      <a:lnTo>
                        <a:pt x="80" y="20"/>
                      </a:lnTo>
                      <a:lnTo>
                        <a:pt x="93" y="17"/>
                      </a:lnTo>
                      <a:lnTo>
                        <a:pt x="106" y="10"/>
                      </a:lnTo>
                      <a:lnTo>
                        <a:pt x="117" y="8"/>
                      </a:lnTo>
                      <a:lnTo>
                        <a:pt x="130" y="10"/>
                      </a:lnTo>
                      <a:lnTo>
                        <a:pt x="140" y="12"/>
                      </a:lnTo>
                      <a:lnTo>
                        <a:pt x="148" y="19"/>
                      </a:lnTo>
                      <a:lnTo>
                        <a:pt x="151" y="30"/>
                      </a:lnTo>
                      <a:lnTo>
                        <a:pt x="135" y="37"/>
                      </a:lnTo>
                      <a:lnTo>
                        <a:pt x="125" y="41"/>
                      </a:lnTo>
                      <a:lnTo>
                        <a:pt x="114" y="49"/>
                      </a:lnTo>
                      <a:lnTo>
                        <a:pt x="104" y="52"/>
                      </a:lnTo>
                      <a:lnTo>
                        <a:pt x="89" y="53"/>
                      </a:lnTo>
                      <a:lnTo>
                        <a:pt x="75" y="59"/>
                      </a:lnTo>
                      <a:lnTo>
                        <a:pt x="68" y="68"/>
                      </a:lnTo>
                      <a:lnTo>
                        <a:pt x="63" y="81"/>
                      </a:lnTo>
                      <a:lnTo>
                        <a:pt x="52" y="67"/>
                      </a:lnTo>
                      <a:lnTo>
                        <a:pt x="36" y="54"/>
                      </a:lnTo>
                      <a:lnTo>
                        <a:pt x="21" y="44"/>
                      </a:lnTo>
                      <a:lnTo>
                        <a:pt x="10" y="37"/>
                      </a:lnTo>
                      <a:lnTo>
                        <a:pt x="3" y="28"/>
                      </a:lnTo>
                      <a:lnTo>
                        <a:pt x="0" y="19"/>
                      </a:lnTo>
                      <a:lnTo>
                        <a:pt x="1" y="10"/>
                      </a:lnTo>
                      <a:lnTo>
                        <a:pt x="5" y="2"/>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3" name="Freeform 345"/>
                <p:cNvSpPr/>
                <p:nvPr/>
              </p:nvSpPr>
              <p:spPr bwMode="auto">
                <a:xfrm>
                  <a:off x="2735" y="3108"/>
                  <a:ext cx="8" cy="12"/>
                </a:xfrm>
                <a:custGeom>
                  <a:avLst/>
                  <a:gdLst>
                    <a:gd name="T0" fmla="*/ 4 w 54"/>
                    <a:gd name="T1" fmla="*/ 0 h 91"/>
                    <a:gd name="T2" fmla="*/ 0 w 54"/>
                    <a:gd name="T3" fmla="*/ 25 h 91"/>
                    <a:gd name="T4" fmla="*/ 2 w 54"/>
                    <a:gd name="T5" fmla="*/ 46 h 91"/>
                    <a:gd name="T6" fmla="*/ 9 w 54"/>
                    <a:gd name="T7" fmla="*/ 67 h 91"/>
                    <a:gd name="T8" fmla="*/ 20 w 54"/>
                    <a:gd name="T9" fmla="*/ 82 h 91"/>
                    <a:gd name="T10" fmla="*/ 34 w 54"/>
                    <a:gd name="T11" fmla="*/ 91 h 91"/>
                    <a:gd name="T12" fmla="*/ 38 w 54"/>
                    <a:gd name="T13" fmla="*/ 76 h 91"/>
                    <a:gd name="T14" fmla="*/ 45 w 54"/>
                    <a:gd name="T15" fmla="*/ 63 h 91"/>
                    <a:gd name="T16" fmla="*/ 54 w 54"/>
                    <a:gd name="T17" fmla="*/ 52 h 91"/>
                    <a:gd name="T18" fmla="*/ 41 w 54"/>
                    <a:gd name="T19" fmla="*/ 49 h 91"/>
                    <a:gd name="T20" fmla="*/ 33 w 54"/>
                    <a:gd name="T21" fmla="*/ 45 h 91"/>
                    <a:gd name="T22" fmla="*/ 28 w 54"/>
                    <a:gd name="T23" fmla="*/ 26 h 91"/>
                    <a:gd name="T24" fmla="*/ 22 w 54"/>
                    <a:gd name="T25" fmla="*/ 13 h 91"/>
                    <a:gd name="T26" fmla="*/ 14 w 54"/>
                    <a:gd name="T27" fmla="*/ 2 h 91"/>
                    <a:gd name="T28" fmla="*/ 4 w 54"/>
                    <a:gd name="T2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 h="91">
                      <a:moveTo>
                        <a:pt x="4" y="0"/>
                      </a:moveTo>
                      <a:lnTo>
                        <a:pt x="0" y="25"/>
                      </a:lnTo>
                      <a:lnTo>
                        <a:pt x="2" y="46"/>
                      </a:lnTo>
                      <a:lnTo>
                        <a:pt x="9" y="67"/>
                      </a:lnTo>
                      <a:lnTo>
                        <a:pt x="20" y="82"/>
                      </a:lnTo>
                      <a:lnTo>
                        <a:pt x="34" y="91"/>
                      </a:lnTo>
                      <a:lnTo>
                        <a:pt x="38" y="76"/>
                      </a:lnTo>
                      <a:lnTo>
                        <a:pt x="45" y="63"/>
                      </a:lnTo>
                      <a:lnTo>
                        <a:pt x="54" y="52"/>
                      </a:lnTo>
                      <a:lnTo>
                        <a:pt x="41" y="49"/>
                      </a:lnTo>
                      <a:lnTo>
                        <a:pt x="33" y="45"/>
                      </a:lnTo>
                      <a:lnTo>
                        <a:pt x="28" y="26"/>
                      </a:lnTo>
                      <a:lnTo>
                        <a:pt x="22" y="13"/>
                      </a:lnTo>
                      <a:lnTo>
                        <a:pt x="14" y="2"/>
                      </a:lnTo>
                      <a:lnTo>
                        <a:pt x="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4" name="Freeform 346"/>
                <p:cNvSpPr/>
                <p:nvPr/>
              </p:nvSpPr>
              <p:spPr bwMode="auto">
                <a:xfrm>
                  <a:off x="2727" y="3105"/>
                  <a:ext cx="5" cy="12"/>
                </a:xfrm>
                <a:custGeom>
                  <a:avLst/>
                  <a:gdLst>
                    <a:gd name="T0" fmla="*/ 13 w 34"/>
                    <a:gd name="T1" fmla="*/ 0 h 95"/>
                    <a:gd name="T2" fmla="*/ 21 w 34"/>
                    <a:gd name="T3" fmla="*/ 13 h 95"/>
                    <a:gd name="T4" fmla="*/ 30 w 34"/>
                    <a:gd name="T5" fmla="*/ 30 h 95"/>
                    <a:gd name="T6" fmla="*/ 34 w 34"/>
                    <a:gd name="T7" fmla="*/ 45 h 95"/>
                    <a:gd name="T8" fmla="*/ 30 w 34"/>
                    <a:gd name="T9" fmla="*/ 57 h 95"/>
                    <a:gd name="T10" fmla="*/ 17 w 34"/>
                    <a:gd name="T11" fmla="*/ 76 h 95"/>
                    <a:gd name="T12" fmla="*/ 0 w 34"/>
                    <a:gd name="T13" fmla="*/ 95 h 95"/>
                    <a:gd name="T14" fmla="*/ 10 w 34"/>
                    <a:gd name="T15" fmla="*/ 73 h 95"/>
                    <a:gd name="T16" fmla="*/ 16 w 34"/>
                    <a:gd name="T17" fmla="*/ 56 h 95"/>
                    <a:gd name="T18" fmla="*/ 18 w 34"/>
                    <a:gd name="T19" fmla="*/ 38 h 95"/>
                    <a:gd name="T20" fmla="*/ 16 w 34"/>
                    <a:gd name="T21" fmla="*/ 21 h 95"/>
                    <a:gd name="T22" fmla="*/ 13 w 34"/>
                    <a:gd name="T2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95">
                      <a:moveTo>
                        <a:pt x="13" y="0"/>
                      </a:moveTo>
                      <a:lnTo>
                        <a:pt x="21" y="13"/>
                      </a:lnTo>
                      <a:lnTo>
                        <a:pt x="30" y="30"/>
                      </a:lnTo>
                      <a:lnTo>
                        <a:pt x="34" y="45"/>
                      </a:lnTo>
                      <a:lnTo>
                        <a:pt x="30" y="57"/>
                      </a:lnTo>
                      <a:lnTo>
                        <a:pt x="17" y="76"/>
                      </a:lnTo>
                      <a:lnTo>
                        <a:pt x="0" y="95"/>
                      </a:lnTo>
                      <a:lnTo>
                        <a:pt x="10" y="73"/>
                      </a:lnTo>
                      <a:lnTo>
                        <a:pt x="16" y="56"/>
                      </a:lnTo>
                      <a:lnTo>
                        <a:pt x="18" y="38"/>
                      </a:lnTo>
                      <a:lnTo>
                        <a:pt x="16" y="21"/>
                      </a:lnTo>
                      <a:lnTo>
                        <a:pt x="13"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5" name="Freeform 347"/>
                <p:cNvSpPr/>
                <p:nvPr/>
              </p:nvSpPr>
              <p:spPr bwMode="auto">
                <a:xfrm>
                  <a:off x="2729" y="3120"/>
                  <a:ext cx="16" cy="23"/>
                </a:xfrm>
                <a:custGeom>
                  <a:avLst/>
                  <a:gdLst>
                    <a:gd name="T0" fmla="*/ 14 w 108"/>
                    <a:gd name="T1" fmla="*/ 0 h 182"/>
                    <a:gd name="T2" fmla="*/ 32 w 108"/>
                    <a:gd name="T3" fmla="*/ 7 h 182"/>
                    <a:gd name="T4" fmla="*/ 53 w 108"/>
                    <a:gd name="T5" fmla="*/ 20 h 182"/>
                    <a:gd name="T6" fmla="*/ 73 w 108"/>
                    <a:gd name="T7" fmla="*/ 37 h 182"/>
                    <a:gd name="T8" fmla="*/ 87 w 108"/>
                    <a:gd name="T9" fmla="*/ 52 h 182"/>
                    <a:gd name="T10" fmla="*/ 95 w 108"/>
                    <a:gd name="T11" fmla="*/ 74 h 182"/>
                    <a:gd name="T12" fmla="*/ 98 w 108"/>
                    <a:gd name="T13" fmla="*/ 93 h 182"/>
                    <a:gd name="T14" fmla="*/ 95 w 108"/>
                    <a:gd name="T15" fmla="*/ 112 h 182"/>
                    <a:gd name="T16" fmla="*/ 94 w 108"/>
                    <a:gd name="T17" fmla="*/ 127 h 182"/>
                    <a:gd name="T18" fmla="*/ 96 w 108"/>
                    <a:gd name="T19" fmla="*/ 141 h 182"/>
                    <a:gd name="T20" fmla="*/ 102 w 108"/>
                    <a:gd name="T21" fmla="*/ 162 h 182"/>
                    <a:gd name="T22" fmla="*/ 108 w 108"/>
                    <a:gd name="T23" fmla="*/ 179 h 182"/>
                    <a:gd name="T24" fmla="*/ 97 w 108"/>
                    <a:gd name="T25" fmla="*/ 182 h 182"/>
                    <a:gd name="T26" fmla="*/ 81 w 108"/>
                    <a:gd name="T27" fmla="*/ 182 h 182"/>
                    <a:gd name="T28" fmla="*/ 64 w 108"/>
                    <a:gd name="T29" fmla="*/ 181 h 182"/>
                    <a:gd name="T30" fmla="*/ 50 w 108"/>
                    <a:gd name="T31" fmla="*/ 177 h 182"/>
                    <a:gd name="T32" fmla="*/ 38 w 108"/>
                    <a:gd name="T33" fmla="*/ 173 h 182"/>
                    <a:gd name="T34" fmla="*/ 25 w 108"/>
                    <a:gd name="T35" fmla="*/ 165 h 182"/>
                    <a:gd name="T36" fmla="*/ 13 w 108"/>
                    <a:gd name="T37" fmla="*/ 157 h 182"/>
                    <a:gd name="T38" fmla="*/ 6 w 108"/>
                    <a:gd name="T39" fmla="*/ 141 h 182"/>
                    <a:gd name="T40" fmla="*/ 2 w 108"/>
                    <a:gd name="T41" fmla="*/ 110 h 182"/>
                    <a:gd name="T42" fmla="*/ 0 w 108"/>
                    <a:gd name="T43" fmla="*/ 88 h 182"/>
                    <a:gd name="T44" fmla="*/ 2 w 108"/>
                    <a:gd name="T45" fmla="*/ 66 h 182"/>
                    <a:gd name="T46" fmla="*/ 4 w 108"/>
                    <a:gd name="T47" fmla="*/ 38 h 182"/>
                    <a:gd name="T48" fmla="*/ 9 w 108"/>
                    <a:gd name="T49" fmla="*/ 16 h 182"/>
                    <a:gd name="T50" fmla="*/ 14 w 108"/>
                    <a:gd name="T51"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8" h="182">
                      <a:moveTo>
                        <a:pt x="14" y="0"/>
                      </a:moveTo>
                      <a:lnTo>
                        <a:pt x="32" y="7"/>
                      </a:lnTo>
                      <a:lnTo>
                        <a:pt x="53" y="20"/>
                      </a:lnTo>
                      <a:lnTo>
                        <a:pt x="73" y="37"/>
                      </a:lnTo>
                      <a:lnTo>
                        <a:pt x="87" y="52"/>
                      </a:lnTo>
                      <a:lnTo>
                        <a:pt x="95" y="74"/>
                      </a:lnTo>
                      <a:lnTo>
                        <a:pt x="98" y="93"/>
                      </a:lnTo>
                      <a:lnTo>
                        <a:pt x="95" y="112"/>
                      </a:lnTo>
                      <a:lnTo>
                        <a:pt x="94" y="127"/>
                      </a:lnTo>
                      <a:lnTo>
                        <a:pt x="96" y="141"/>
                      </a:lnTo>
                      <a:lnTo>
                        <a:pt x="102" y="162"/>
                      </a:lnTo>
                      <a:lnTo>
                        <a:pt x="108" y="179"/>
                      </a:lnTo>
                      <a:lnTo>
                        <a:pt x="97" y="182"/>
                      </a:lnTo>
                      <a:lnTo>
                        <a:pt x="81" y="182"/>
                      </a:lnTo>
                      <a:lnTo>
                        <a:pt x="64" y="181"/>
                      </a:lnTo>
                      <a:lnTo>
                        <a:pt x="50" y="177"/>
                      </a:lnTo>
                      <a:lnTo>
                        <a:pt x="38" y="173"/>
                      </a:lnTo>
                      <a:lnTo>
                        <a:pt x="25" y="165"/>
                      </a:lnTo>
                      <a:lnTo>
                        <a:pt x="13" y="157"/>
                      </a:lnTo>
                      <a:lnTo>
                        <a:pt x="6" y="141"/>
                      </a:lnTo>
                      <a:lnTo>
                        <a:pt x="2" y="110"/>
                      </a:lnTo>
                      <a:lnTo>
                        <a:pt x="0" y="88"/>
                      </a:lnTo>
                      <a:lnTo>
                        <a:pt x="2" y="66"/>
                      </a:lnTo>
                      <a:lnTo>
                        <a:pt x="4" y="38"/>
                      </a:lnTo>
                      <a:lnTo>
                        <a:pt x="9" y="16"/>
                      </a:lnTo>
                      <a:lnTo>
                        <a:pt x="1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6" name="Freeform 348"/>
                <p:cNvSpPr/>
                <p:nvPr/>
              </p:nvSpPr>
              <p:spPr bwMode="auto">
                <a:xfrm>
                  <a:off x="2727" y="3103"/>
                  <a:ext cx="34" cy="8"/>
                </a:xfrm>
                <a:custGeom>
                  <a:avLst/>
                  <a:gdLst>
                    <a:gd name="T0" fmla="*/ 2 w 239"/>
                    <a:gd name="T1" fmla="*/ 0 h 62"/>
                    <a:gd name="T2" fmla="*/ 0 w 239"/>
                    <a:gd name="T3" fmla="*/ 5 h 62"/>
                    <a:gd name="T4" fmla="*/ 12 w 239"/>
                    <a:gd name="T5" fmla="*/ 15 h 62"/>
                    <a:gd name="T6" fmla="*/ 25 w 239"/>
                    <a:gd name="T7" fmla="*/ 23 h 62"/>
                    <a:gd name="T8" fmla="*/ 37 w 239"/>
                    <a:gd name="T9" fmla="*/ 30 h 62"/>
                    <a:gd name="T10" fmla="*/ 56 w 239"/>
                    <a:gd name="T11" fmla="*/ 39 h 62"/>
                    <a:gd name="T12" fmla="*/ 72 w 239"/>
                    <a:gd name="T13" fmla="*/ 48 h 62"/>
                    <a:gd name="T14" fmla="*/ 93 w 239"/>
                    <a:gd name="T15" fmla="*/ 55 h 62"/>
                    <a:gd name="T16" fmla="*/ 113 w 239"/>
                    <a:gd name="T17" fmla="*/ 60 h 62"/>
                    <a:gd name="T18" fmla="*/ 128 w 239"/>
                    <a:gd name="T19" fmla="*/ 61 h 62"/>
                    <a:gd name="T20" fmla="*/ 145 w 239"/>
                    <a:gd name="T21" fmla="*/ 62 h 62"/>
                    <a:gd name="T22" fmla="*/ 162 w 239"/>
                    <a:gd name="T23" fmla="*/ 60 h 62"/>
                    <a:gd name="T24" fmla="*/ 179 w 239"/>
                    <a:gd name="T25" fmla="*/ 56 h 62"/>
                    <a:gd name="T26" fmla="*/ 196 w 239"/>
                    <a:gd name="T27" fmla="*/ 53 h 62"/>
                    <a:gd name="T28" fmla="*/ 214 w 239"/>
                    <a:gd name="T29" fmla="*/ 48 h 62"/>
                    <a:gd name="T30" fmla="*/ 229 w 239"/>
                    <a:gd name="T31" fmla="*/ 41 h 62"/>
                    <a:gd name="T32" fmla="*/ 239 w 239"/>
                    <a:gd name="T33" fmla="*/ 36 h 62"/>
                    <a:gd name="T34" fmla="*/ 236 w 239"/>
                    <a:gd name="T35" fmla="*/ 24 h 62"/>
                    <a:gd name="T36" fmla="*/ 216 w 239"/>
                    <a:gd name="T37" fmla="*/ 32 h 62"/>
                    <a:gd name="T38" fmla="*/ 192 w 239"/>
                    <a:gd name="T39" fmla="*/ 41 h 62"/>
                    <a:gd name="T40" fmla="*/ 176 w 239"/>
                    <a:gd name="T41" fmla="*/ 47 h 62"/>
                    <a:gd name="T42" fmla="*/ 157 w 239"/>
                    <a:gd name="T43" fmla="*/ 50 h 62"/>
                    <a:gd name="T44" fmla="*/ 132 w 239"/>
                    <a:gd name="T45" fmla="*/ 53 h 62"/>
                    <a:gd name="T46" fmla="*/ 108 w 239"/>
                    <a:gd name="T47" fmla="*/ 49 h 62"/>
                    <a:gd name="T48" fmla="*/ 86 w 239"/>
                    <a:gd name="T49" fmla="*/ 41 h 62"/>
                    <a:gd name="T50" fmla="*/ 64 w 239"/>
                    <a:gd name="T51" fmla="*/ 34 h 62"/>
                    <a:gd name="T52" fmla="*/ 41 w 239"/>
                    <a:gd name="T53" fmla="*/ 22 h 62"/>
                    <a:gd name="T54" fmla="*/ 21 w 239"/>
                    <a:gd name="T55" fmla="*/ 9 h 62"/>
                    <a:gd name="T56" fmla="*/ 2 w 239"/>
                    <a:gd name="T5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9" h="62">
                      <a:moveTo>
                        <a:pt x="2" y="0"/>
                      </a:moveTo>
                      <a:lnTo>
                        <a:pt x="0" y="5"/>
                      </a:lnTo>
                      <a:lnTo>
                        <a:pt x="12" y="15"/>
                      </a:lnTo>
                      <a:lnTo>
                        <a:pt x="25" y="23"/>
                      </a:lnTo>
                      <a:lnTo>
                        <a:pt x="37" y="30"/>
                      </a:lnTo>
                      <a:lnTo>
                        <a:pt x="56" y="39"/>
                      </a:lnTo>
                      <a:lnTo>
                        <a:pt x="72" y="48"/>
                      </a:lnTo>
                      <a:lnTo>
                        <a:pt x="93" y="55"/>
                      </a:lnTo>
                      <a:lnTo>
                        <a:pt x="113" y="60"/>
                      </a:lnTo>
                      <a:lnTo>
                        <a:pt x="128" y="61"/>
                      </a:lnTo>
                      <a:lnTo>
                        <a:pt x="145" y="62"/>
                      </a:lnTo>
                      <a:lnTo>
                        <a:pt x="162" y="60"/>
                      </a:lnTo>
                      <a:lnTo>
                        <a:pt x="179" y="56"/>
                      </a:lnTo>
                      <a:lnTo>
                        <a:pt x="196" y="53"/>
                      </a:lnTo>
                      <a:lnTo>
                        <a:pt x="214" y="48"/>
                      </a:lnTo>
                      <a:lnTo>
                        <a:pt x="229" y="41"/>
                      </a:lnTo>
                      <a:lnTo>
                        <a:pt x="239" y="36"/>
                      </a:lnTo>
                      <a:lnTo>
                        <a:pt x="236" y="24"/>
                      </a:lnTo>
                      <a:lnTo>
                        <a:pt x="216" y="32"/>
                      </a:lnTo>
                      <a:lnTo>
                        <a:pt x="192" y="41"/>
                      </a:lnTo>
                      <a:lnTo>
                        <a:pt x="176" y="47"/>
                      </a:lnTo>
                      <a:lnTo>
                        <a:pt x="157" y="50"/>
                      </a:lnTo>
                      <a:lnTo>
                        <a:pt x="132" y="53"/>
                      </a:lnTo>
                      <a:lnTo>
                        <a:pt x="108" y="49"/>
                      </a:lnTo>
                      <a:lnTo>
                        <a:pt x="86" y="41"/>
                      </a:lnTo>
                      <a:lnTo>
                        <a:pt x="64" y="34"/>
                      </a:lnTo>
                      <a:lnTo>
                        <a:pt x="41" y="22"/>
                      </a:lnTo>
                      <a:lnTo>
                        <a:pt x="21" y="9"/>
                      </a:lnTo>
                      <a:lnTo>
                        <a:pt x="2"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97" name="Group 349"/>
              <p:cNvGrpSpPr/>
              <p:nvPr/>
            </p:nvGrpSpPr>
            <p:grpSpPr bwMode="auto">
              <a:xfrm>
                <a:off x="2624" y="2934"/>
                <a:ext cx="106" cy="87"/>
                <a:chOff x="2624" y="2934"/>
                <a:chExt cx="106" cy="87"/>
              </a:xfrm>
            </p:grpSpPr>
            <p:grpSp>
              <p:nvGrpSpPr>
                <p:cNvPr id="642398" name="Group 350"/>
                <p:cNvGrpSpPr/>
                <p:nvPr/>
              </p:nvGrpSpPr>
              <p:grpSpPr bwMode="auto">
                <a:xfrm>
                  <a:off x="2636" y="2956"/>
                  <a:ext cx="75" cy="65"/>
                  <a:chOff x="2636" y="2956"/>
                  <a:chExt cx="75" cy="65"/>
                </a:xfrm>
              </p:grpSpPr>
              <p:grpSp>
                <p:nvGrpSpPr>
                  <p:cNvPr id="642399" name="Group 351"/>
                  <p:cNvGrpSpPr/>
                  <p:nvPr/>
                </p:nvGrpSpPr>
                <p:grpSpPr bwMode="auto">
                  <a:xfrm>
                    <a:off x="2636" y="2956"/>
                    <a:ext cx="75" cy="65"/>
                    <a:chOff x="2636" y="2956"/>
                    <a:chExt cx="75" cy="65"/>
                  </a:xfrm>
                </p:grpSpPr>
                <p:grpSp>
                  <p:nvGrpSpPr>
                    <p:cNvPr id="642400" name="Group 352"/>
                    <p:cNvGrpSpPr/>
                    <p:nvPr/>
                  </p:nvGrpSpPr>
                  <p:grpSpPr bwMode="auto">
                    <a:xfrm>
                      <a:off x="2645" y="2983"/>
                      <a:ext cx="13" cy="10"/>
                      <a:chOff x="2645" y="2983"/>
                      <a:chExt cx="13" cy="10"/>
                    </a:xfrm>
                  </p:grpSpPr>
                  <p:sp>
                    <p:nvSpPr>
                      <p:cNvPr id="642401" name="Freeform 353"/>
                      <p:cNvSpPr/>
                      <p:nvPr/>
                    </p:nvSpPr>
                    <p:spPr bwMode="auto">
                      <a:xfrm>
                        <a:off x="2645" y="2983"/>
                        <a:ext cx="10" cy="8"/>
                      </a:xfrm>
                      <a:custGeom>
                        <a:avLst/>
                        <a:gdLst>
                          <a:gd name="T0" fmla="*/ 3 w 70"/>
                          <a:gd name="T1" fmla="*/ 0 h 62"/>
                          <a:gd name="T2" fmla="*/ 2 w 70"/>
                          <a:gd name="T3" fmla="*/ 31 h 62"/>
                          <a:gd name="T4" fmla="*/ 0 w 70"/>
                          <a:gd name="T5" fmla="*/ 44 h 62"/>
                          <a:gd name="T6" fmla="*/ 0 w 70"/>
                          <a:gd name="T7" fmla="*/ 50 h 62"/>
                          <a:gd name="T8" fmla="*/ 2 w 70"/>
                          <a:gd name="T9" fmla="*/ 56 h 62"/>
                          <a:gd name="T10" fmla="*/ 14 w 70"/>
                          <a:gd name="T11" fmla="*/ 57 h 62"/>
                          <a:gd name="T12" fmla="*/ 70 w 70"/>
                          <a:gd name="T13" fmla="*/ 62 h 62"/>
                          <a:gd name="T14" fmla="*/ 3 w 70"/>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2">
                            <a:moveTo>
                              <a:pt x="3" y="0"/>
                            </a:moveTo>
                            <a:lnTo>
                              <a:pt x="2" y="31"/>
                            </a:lnTo>
                            <a:lnTo>
                              <a:pt x="0" y="44"/>
                            </a:lnTo>
                            <a:lnTo>
                              <a:pt x="0" y="50"/>
                            </a:lnTo>
                            <a:lnTo>
                              <a:pt x="2" y="56"/>
                            </a:lnTo>
                            <a:lnTo>
                              <a:pt x="14" y="57"/>
                            </a:lnTo>
                            <a:lnTo>
                              <a:pt x="70" y="62"/>
                            </a:lnTo>
                            <a:lnTo>
                              <a:pt x="3" y="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2" name="Freeform 354"/>
                      <p:cNvSpPr/>
                      <p:nvPr/>
                    </p:nvSpPr>
                    <p:spPr bwMode="auto">
                      <a:xfrm>
                        <a:off x="2647" y="2987"/>
                        <a:ext cx="11" cy="6"/>
                      </a:xfrm>
                      <a:custGeom>
                        <a:avLst/>
                        <a:gdLst>
                          <a:gd name="T0" fmla="*/ 0 w 78"/>
                          <a:gd name="T1" fmla="*/ 0 h 52"/>
                          <a:gd name="T2" fmla="*/ 11 w 78"/>
                          <a:gd name="T3" fmla="*/ 30 h 52"/>
                          <a:gd name="T4" fmla="*/ 14 w 78"/>
                          <a:gd name="T5" fmla="*/ 41 h 52"/>
                          <a:gd name="T6" fmla="*/ 13 w 78"/>
                          <a:gd name="T7" fmla="*/ 52 h 52"/>
                          <a:gd name="T8" fmla="*/ 20 w 78"/>
                          <a:gd name="T9" fmla="*/ 40 h 52"/>
                          <a:gd name="T10" fmla="*/ 26 w 78"/>
                          <a:gd name="T11" fmla="*/ 38 h 52"/>
                          <a:gd name="T12" fmla="*/ 78 w 78"/>
                          <a:gd name="T13" fmla="*/ 28 h 52"/>
                          <a:gd name="T14" fmla="*/ 0 w 78"/>
                          <a:gd name="T15" fmla="*/ 0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52">
                            <a:moveTo>
                              <a:pt x="0" y="0"/>
                            </a:moveTo>
                            <a:lnTo>
                              <a:pt x="11" y="30"/>
                            </a:lnTo>
                            <a:lnTo>
                              <a:pt x="14" y="41"/>
                            </a:lnTo>
                            <a:lnTo>
                              <a:pt x="13" y="52"/>
                            </a:lnTo>
                            <a:lnTo>
                              <a:pt x="20" y="40"/>
                            </a:lnTo>
                            <a:lnTo>
                              <a:pt x="26" y="38"/>
                            </a:lnTo>
                            <a:lnTo>
                              <a:pt x="78" y="28"/>
                            </a:lnTo>
                            <a:lnTo>
                              <a:pt x="0" y="0"/>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403" name="Group 355"/>
                    <p:cNvGrpSpPr/>
                    <p:nvPr/>
                  </p:nvGrpSpPr>
                  <p:grpSpPr bwMode="auto">
                    <a:xfrm>
                      <a:off x="2636" y="2956"/>
                      <a:ext cx="75" cy="65"/>
                      <a:chOff x="2636" y="2956"/>
                      <a:chExt cx="75" cy="65"/>
                    </a:xfrm>
                  </p:grpSpPr>
                  <p:sp>
                    <p:nvSpPr>
                      <p:cNvPr id="642404" name="Freeform 356"/>
                      <p:cNvSpPr/>
                      <p:nvPr/>
                    </p:nvSpPr>
                    <p:spPr bwMode="auto">
                      <a:xfrm>
                        <a:off x="2636" y="2956"/>
                        <a:ext cx="73" cy="65"/>
                      </a:xfrm>
                      <a:custGeom>
                        <a:avLst/>
                        <a:gdLst>
                          <a:gd name="T0" fmla="*/ 0 w 511"/>
                          <a:gd name="T1" fmla="*/ 133 h 521"/>
                          <a:gd name="T2" fmla="*/ 35 w 511"/>
                          <a:gd name="T3" fmla="*/ 211 h 521"/>
                          <a:gd name="T4" fmla="*/ 58 w 511"/>
                          <a:gd name="T5" fmla="*/ 249 h 521"/>
                          <a:gd name="T6" fmla="*/ 79 w 511"/>
                          <a:gd name="T7" fmla="*/ 273 h 521"/>
                          <a:gd name="T8" fmla="*/ 106 w 511"/>
                          <a:gd name="T9" fmla="*/ 296 h 521"/>
                          <a:gd name="T10" fmla="*/ 108 w 511"/>
                          <a:gd name="T11" fmla="*/ 312 h 521"/>
                          <a:gd name="T12" fmla="*/ 106 w 511"/>
                          <a:gd name="T13" fmla="*/ 332 h 521"/>
                          <a:gd name="T14" fmla="*/ 102 w 511"/>
                          <a:gd name="T15" fmla="*/ 359 h 521"/>
                          <a:gd name="T16" fmla="*/ 99 w 511"/>
                          <a:gd name="T17" fmla="*/ 379 h 521"/>
                          <a:gd name="T18" fmla="*/ 100 w 511"/>
                          <a:gd name="T19" fmla="*/ 392 h 521"/>
                          <a:gd name="T20" fmla="*/ 106 w 511"/>
                          <a:gd name="T21" fmla="*/ 405 h 521"/>
                          <a:gd name="T22" fmla="*/ 116 w 511"/>
                          <a:gd name="T23" fmla="*/ 413 h 521"/>
                          <a:gd name="T24" fmla="*/ 129 w 511"/>
                          <a:gd name="T25" fmla="*/ 417 h 521"/>
                          <a:gd name="T26" fmla="*/ 146 w 511"/>
                          <a:gd name="T27" fmla="*/ 415 h 521"/>
                          <a:gd name="T28" fmla="*/ 157 w 511"/>
                          <a:gd name="T29" fmla="*/ 417 h 521"/>
                          <a:gd name="T30" fmla="*/ 174 w 511"/>
                          <a:gd name="T31" fmla="*/ 439 h 521"/>
                          <a:gd name="T32" fmla="*/ 178 w 511"/>
                          <a:gd name="T33" fmla="*/ 452 h 521"/>
                          <a:gd name="T34" fmla="*/ 187 w 511"/>
                          <a:gd name="T35" fmla="*/ 456 h 521"/>
                          <a:gd name="T36" fmla="*/ 198 w 511"/>
                          <a:gd name="T37" fmla="*/ 454 h 521"/>
                          <a:gd name="T38" fmla="*/ 204 w 511"/>
                          <a:gd name="T39" fmla="*/ 453 h 521"/>
                          <a:gd name="T40" fmla="*/ 207 w 511"/>
                          <a:gd name="T41" fmla="*/ 462 h 521"/>
                          <a:gd name="T42" fmla="*/ 210 w 511"/>
                          <a:gd name="T43" fmla="*/ 473 h 521"/>
                          <a:gd name="T44" fmla="*/ 219 w 511"/>
                          <a:gd name="T45" fmla="*/ 479 h 521"/>
                          <a:gd name="T46" fmla="*/ 231 w 511"/>
                          <a:gd name="T47" fmla="*/ 483 h 521"/>
                          <a:gd name="T48" fmla="*/ 240 w 511"/>
                          <a:gd name="T49" fmla="*/ 482 h 521"/>
                          <a:gd name="T50" fmla="*/ 252 w 511"/>
                          <a:gd name="T51" fmla="*/ 491 h 521"/>
                          <a:gd name="T52" fmla="*/ 262 w 511"/>
                          <a:gd name="T53" fmla="*/ 499 h 521"/>
                          <a:gd name="T54" fmla="*/ 268 w 511"/>
                          <a:gd name="T55" fmla="*/ 510 h 521"/>
                          <a:gd name="T56" fmla="*/ 287 w 511"/>
                          <a:gd name="T57" fmla="*/ 519 h 521"/>
                          <a:gd name="T58" fmla="*/ 303 w 511"/>
                          <a:gd name="T59" fmla="*/ 521 h 521"/>
                          <a:gd name="T60" fmla="*/ 323 w 511"/>
                          <a:gd name="T61" fmla="*/ 514 h 521"/>
                          <a:gd name="T62" fmla="*/ 343 w 511"/>
                          <a:gd name="T63" fmla="*/ 500 h 521"/>
                          <a:gd name="T64" fmla="*/ 360 w 511"/>
                          <a:gd name="T65" fmla="*/ 484 h 521"/>
                          <a:gd name="T66" fmla="*/ 377 w 511"/>
                          <a:gd name="T67" fmla="*/ 460 h 521"/>
                          <a:gd name="T68" fmla="*/ 395 w 511"/>
                          <a:gd name="T69" fmla="*/ 455 h 521"/>
                          <a:gd name="T70" fmla="*/ 436 w 511"/>
                          <a:gd name="T71" fmla="*/ 412 h 521"/>
                          <a:gd name="T72" fmla="*/ 511 w 511"/>
                          <a:gd name="T73" fmla="*/ 319 h 521"/>
                          <a:gd name="T74" fmla="*/ 497 w 511"/>
                          <a:gd name="T75" fmla="*/ 283 h 521"/>
                          <a:gd name="T76" fmla="*/ 473 w 511"/>
                          <a:gd name="T77" fmla="*/ 157 h 521"/>
                          <a:gd name="T78" fmla="*/ 412 w 511"/>
                          <a:gd name="T79" fmla="*/ 72 h 521"/>
                          <a:gd name="T80" fmla="*/ 318 w 511"/>
                          <a:gd name="T81" fmla="*/ 17 h 521"/>
                          <a:gd name="T82" fmla="*/ 199 w 511"/>
                          <a:gd name="T83" fmla="*/ 0 h 521"/>
                          <a:gd name="T84" fmla="*/ 64 w 511"/>
                          <a:gd name="T85" fmla="*/ 24 h 521"/>
                          <a:gd name="T86" fmla="*/ 17 w 511"/>
                          <a:gd name="T87" fmla="*/ 61 h 521"/>
                          <a:gd name="T88" fmla="*/ 0 w 511"/>
                          <a:gd name="T89" fmla="*/ 133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1" h="521">
                            <a:moveTo>
                              <a:pt x="0" y="133"/>
                            </a:moveTo>
                            <a:lnTo>
                              <a:pt x="35" y="211"/>
                            </a:lnTo>
                            <a:lnTo>
                              <a:pt x="58" y="249"/>
                            </a:lnTo>
                            <a:lnTo>
                              <a:pt x="79" y="273"/>
                            </a:lnTo>
                            <a:lnTo>
                              <a:pt x="106" y="296"/>
                            </a:lnTo>
                            <a:lnTo>
                              <a:pt x="108" y="312"/>
                            </a:lnTo>
                            <a:lnTo>
                              <a:pt x="106" y="332"/>
                            </a:lnTo>
                            <a:lnTo>
                              <a:pt x="102" y="359"/>
                            </a:lnTo>
                            <a:lnTo>
                              <a:pt x="99" y="379"/>
                            </a:lnTo>
                            <a:lnTo>
                              <a:pt x="100" y="392"/>
                            </a:lnTo>
                            <a:lnTo>
                              <a:pt x="106" y="405"/>
                            </a:lnTo>
                            <a:lnTo>
                              <a:pt x="116" y="413"/>
                            </a:lnTo>
                            <a:lnTo>
                              <a:pt x="129" y="417"/>
                            </a:lnTo>
                            <a:lnTo>
                              <a:pt x="146" y="415"/>
                            </a:lnTo>
                            <a:lnTo>
                              <a:pt x="157" y="417"/>
                            </a:lnTo>
                            <a:lnTo>
                              <a:pt x="174" y="439"/>
                            </a:lnTo>
                            <a:lnTo>
                              <a:pt x="178" y="452"/>
                            </a:lnTo>
                            <a:lnTo>
                              <a:pt x="187" y="456"/>
                            </a:lnTo>
                            <a:lnTo>
                              <a:pt x="198" y="454"/>
                            </a:lnTo>
                            <a:lnTo>
                              <a:pt x="204" y="453"/>
                            </a:lnTo>
                            <a:lnTo>
                              <a:pt x="207" y="462"/>
                            </a:lnTo>
                            <a:lnTo>
                              <a:pt x="210" y="473"/>
                            </a:lnTo>
                            <a:lnTo>
                              <a:pt x="219" y="479"/>
                            </a:lnTo>
                            <a:lnTo>
                              <a:pt x="231" y="483"/>
                            </a:lnTo>
                            <a:lnTo>
                              <a:pt x="240" y="482"/>
                            </a:lnTo>
                            <a:lnTo>
                              <a:pt x="252" y="491"/>
                            </a:lnTo>
                            <a:lnTo>
                              <a:pt x="262" y="499"/>
                            </a:lnTo>
                            <a:lnTo>
                              <a:pt x="268" y="510"/>
                            </a:lnTo>
                            <a:lnTo>
                              <a:pt x="287" y="519"/>
                            </a:lnTo>
                            <a:lnTo>
                              <a:pt x="303" y="521"/>
                            </a:lnTo>
                            <a:lnTo>
                              <a:pt x="323" y="514"/>
                            </a:lnTo>
                            <a:lnTo>
                              <a:pt x="343" y="500"/>
                            </a:lnTo>
                            <a:lnTo>
                              <a:pt x="360" y="484"/>
                            </a:lnTo>
                            <a:lnTo>
                              <a:pt x="377" y="460"/>
                            </a:lnTo>
                            <a:lnTo>
                              <a:pt x="395" y="455"/>
                            </a:lnTo>
                            <a:lnTo>
                              <a:pt x="436" y="412"/>
                            </a:lnTo>
                            <a:lnTo>
                              <a:pt x="511" y="319"/>
                            </a:lnTo>
                            <a:lnTo>
                              <a:pt x="497" y="283"/>
                            </a:lnTo>
                            <a:lnTo>
                              <a:pt x="473" y="157"/>
                            </a:lnTo>
                            <a:lnTo>
                              <a:pt x="412" y="72"/>
                            </a:lnTo>
                            <a:lnTo>
                              <a:pt x="318" y="17"/>
                            </a:lnTo>
                            <a:lnTo>
                              <a:pt x="199" y="0"/>
                            </a:lnTo>
                            <a:lnTo>
                              <a:pt x="64" y="24"/>
                            </a:lnTo>
                            <a:lnTo>
                              <a:pt x="17" y="61"/>
                            </a:lnTo>
                            <a:lnTo>
                              <a:pt x="0" y="133"/>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405" name="Group 357"/>
                      <p:cNvGrpSpPr/>
                      <p:nvPr/>
                    </p:nvGrpSpPr>
                    <p:grpSpPr bwMode="auto">
                      <a:xfrm>
                        <a:off x="2653" y="2965"/>
                        <a:ext cx="58" cy="56"/>
                        <a:chOff x="2653" y="2965"/>
                        <a:chExt cx="58" cy="56"/>
                      </a:xfrm>
                    </p:grpSpPr>
                    <p:sp>
                      <p:nvSpPr>
                        <p:cNvPr id="642406" name="Freeform 358"/>
                        <p:cNvSpPr/>
                        <p:nvPr/>
                      </p:nvSpPr>
                      <p:spPr bwMode="auto">
                        <a:xfrm>
                          <a:off x="2669" y="3012"/>
                          <a:ext cx="7" cy="5"/>
                        </a:xfrm>
                        <a:custGeom>
                          <a:avLst/>
                          <a:gdLst>
                            <a:gd name="T0" fmla="*/ 0 w 45"/>
                            <a:gd name="T1" fmla="*/ 29 h 40"/>
                            <a:gd name="T2" fmla="*/ 22 w 45"/>
                            <a:gd name="T3" fmla="*/ 3 h 40"/>
                            <a:gd name="T4" fmla="*/ 33 w 45"/>
                            <a:gd name="T5" fmla="*/ 4 h 40"/>
                            <a:gd name="T6" fmla="*/ 45 w 45"/>
                            <a:gd name="T7" fmla="*/ 0 h 40"/>
                            <a:gd name="T8" fmla="*/ 29 w 45"/>
                            <a:gd name="T9" fmla="*/ 22 h 40"/>
                            <a:gd name="T10" fmla="*/ 18 w 45"/>
                            <a:gd name="T11" fmla="*/ 40 h 40"/>
                            <a:gd name="T12" fmla="*/ 10 w 45"/>
                            <a:gd name="T13" fmla="*/ 34 h 40"/>
                            <a:gd name="T14" fmla="*/ 0 w 45"/>
                            <a:gd name="T15" fmla="*/ 29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40">
                              <a:moveTo>
                                <a:pt x="0" y="29"/>
                              </a:moveTo>
                              <a:lnTo>
                                <a:pt x="22" y="3"/>
                              </a:lnTo>
                              <a:lnTo>
                                <a:pt x="33" y="4"/>
                              </a:lnTo>
                              <a:lnTo>
                                <a:pt x="45" y="0"/>
                              </a:lnTo>
                              <a:lnTo>
                                <a:pt x="29" y="22"/>
                              </a:lnTo>
                              <a:lnTo>
                                <a:pt x="18" y="40"/>
                              </a:lnTo>
                              <a:lnTo>
                                <a:pt x="10" y="34"/>
                              </a:lnTo>
                              <a:lnTo>
                                <a:pt x="0" y="2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7" name="Freeform 359"/>
                        <p:cNvSpPr/>
                        <p:nvPr/>
                      </p:nvSpPr>
                      <p:spPr bwMode="auto">
                        <a:xfrm>
                          <a:off x="2655" y="2965"/>
                          <a:ext cx="56" cy="51"/>
                        </a:xfrm>
                        <a:custGeom>
                          <a:avLst/>
                          <a:gdLst>
                            <a:gd name="T0" fmla="*/ 0 w 389"/>
                            <a:gd name="T1" fmla="*/ 104 h 406"/>
                            <a:gd name="T2" fmla="*/ 52 w 389"/>
                            <a:gd name="T3" fmla="*/ 125 h 406"/>
                            <a:gd name="T4" fmla="*/ 79 w 389"/>
                            <a:gd name="T5" fmla="*/ 133 h 406"/>
                            <a:gd name="T6" fmla="*/ 111 w 389"/>
                            <a:gd name="T7" fmla="*/ 137 h 406"/>
                            <a:gd name="T8" fmla="*/ 142 w 389"/>
                            <a:gd name="T9" fmla="*/ 139 h 406"/>
                            <a:gd name="T10" fmla="*/ 135 w 389"/>
                            <a:gd name="T11" fmla="*/ 157 h 406"/>
                            <a:gd name="T12" fmla="*/ 129 w 389"/>
                            <a:gd name="T13" fmla="*/ 181 h 406"/>
                            <a:gd name="T14" fmla="*/ 125 w 389"/>
                            <a:gd name="T15" fmla="*/ 206 h 406"/>
                            <a:gd name="T16" fmla="*/ 116 w 389"/>
                            <a:gd name="T17" fmla="*/ 217 h 406"/>
                            <a:gd name="T18" fmla="*/ 100 w 389"/>
                            <a:gd name="T19" fmla="*/ 226 h 406"/>
                            <a:gd name="T20" fmla="*/ 77 w 389"/>
                            <a:gd name="T21" fmla="*/ 236 h 406"/>
                            <a:gd name="T22" fmla="*/ 67 w 389"/>
                            <a:gd name="T23" fmla="*/ 250 h 406"/>
                            <a:gd name="T24" fmla="*/ 64 w 389"/>
                            <a:gd name="T25" fmla="*/ 266 h 406"/>
                            <a:gd name="T26" fmla="*/ 67 w 389"/>
                            <a:gd name="T27" fmla="*/ 287 h 406"/>
                            <a:gd name="T28" fmla="*/ 76 w 389"/>
                            <a:gd name="T29" fmla="*/ 307 h 406"/>
                            <a:gd name="T30" fmla="*/ 85 w 389"/>
                            <a:gd name="T31" fmla="*/ 321 h 406"/>
                            <a:gd name="T32" fmla="*/ 100 w 389"/>
                            <a:gd name="T33" fmla="*/ 335 h 406"/>
                            <a:gd name="T34" fmla="*/ 108 w 389"/>
                            <a:gd name="T35" fmla="*/ 329 h 406"/>
                            <a:gd name="T36" fmla="*/ 120 w 389"/>
                            <a:gd name="T37" fmla="*/ 326 h 406"/>
                            <a:gd name="T38" fmla="*/ 131 w 389"/>
                            <a:gd name="T39" fmla="*/ 328 h 406"/>
                            <a:gd name="T40" fmla="*/ 125 w 389"/>
                            <a:gd name="T41" fmla="*/ 359 h 406"/>
                            <a:gd name="T42" fmla="*/ 138 w 389"/>
                            <a:gd name="T43" fmla="*/ 367 h 406"/>
                            <a:gd name="T44" fmla="*/ 150 w 389"/>
                            <a:gd name="T45" fmla="*/ 375 h 406"/>
                            <a:gd name="T46" fmla="*/ 159 w 389"/>
                            <a:gd name="T47" fmla="*/ 389 h 406"/>
                            <a:gd name="T48" fmla="*/ 164 w 389"/>
                            <a:gd name="T49" fmla="*/ 400 h 406"/>
                            <a:gd name="T50" fmla="*/ 175 w 389"/>
                            <a:gd name="T51" fmla="*/ 405 h 406"/>
                            <a:gd name="T52" fmla="*/ 187 w 389"/>
                            <a:gd name="T53" fmla="*/ 406 h 406"/>
                            <a:gd name="T54" fmla="*/ 205 w 389"/>
                            <a:gd name="T55" fmla="*/ 394 h 406"/>
                            <a:gd name="T56" fmla="*/ 219 w 389"/>
                            <a:gd name="T57" fmla="*/ 380 h 406"/>
                            <a:gd name="T58" fmla="*/ 227 w 389"/>
                            <a:gd name="T59" fmla="*/ 368 h 406"/>
                            <a:gd name="T60" fmla="*/ 232 w 389"/>
                            <a:gd name="T61" fmla="*/ 343 h 406"/>
                            <a:gd name="T62" fmla="*/ 237 w 389"/>
                            <a:gd name="T63" fmla="*/ 315 h 406"/>
                            <a:gd name="T64" fmla="*/ 249 w 389"/>
                            <a:gd name="T65" fmla="*/ 303 h 406"/>
                            <a:gd name="T66" fmla="*/ 296 w 389"/>
                            <a:gd name="T67" fmla="*/ 287 h 406"/>
                            <a:gd name="T68" fmla="*/ 338 w 389"/>
                            <a:gd name="T69" fmla="*/ 269 h 406"/>
                            <a:gd name="T70" fmla="*/ 368 w 389"/>
                            <a:gd name="T71" fmla="*/ 251 h 406"/>
                            <a:gd name="T72" fmla="*/ 389 w 389"/>
                            <a:gd name="T73" fmla="*/ 227 h 406"/>
                            <a:gd name="T74" fmla="*/ 352 w 389"/>
                            <a:gd name="T75" fmla="*/ 80 h 406"/>
                            <a:gd name="T76" fmla="*/ 125 w 389"/>
                            <a:gd name="T77" fmla="*/ 0 h 406"/>
                            <a:gd name="T78" fmla="*/ 0 w 389"/>
                            <a:gd name="T79" fmla="*/ 10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9" h="406">
                              <a:moveTo>
                                <a:pt x="0" y="104"/>
                              </a:moveTo>
                              <a:lnTo>
                                <a:pt x="52" y="125"/>
                              </a:lnTo>
                              <a:lnTo>
                                <a:pt x="79" y="133"/>
                              </a:lnTo>
                              <a:lnTo>
                                <a:pt x="111" y="137"/>
                              </a:lnTo>
                              <a:lnTo>
                                <a:pt x="142" y="139"/>
                              </a:lnTo>
                              <a:lnTo>
                                <a:pt x="135" y="157"/>
                              </a:lnTo>
                              <a:lnTo>
                                <a:pt x="129" y="181"/>
                              </a:lnTo>
                              <a:lnTo>
                                <a:pt x="125" y="206"/>
                              </a:lnTo>
                              <a:lnTo>
                                <a:pt x="116" y="217"/>
                              </a:lnTo>
                              <a:lnTo>
                                <a:pt x="100" y="226"/>
                              </a:lnTo>
                              <a:lnTo>
                                <a:pt x="77" y="236"/>
                              </a:lnTo>
                              <a:lnTo>
                                <a:pt x="67" y="250"/>
                              </a:lnTo>
                              <a:lnTo>
                                <a:pt x="64" y="266"/>
                              </a:lnTo>
                              <a:lnTo>
                                <a:pt x="67" y="287"/>
                              </a:lnTo>
                              <a:lnTo>
                                <a:pt x="76" y="307"/>
                              </a:lnTo>
                              <a:lnTo>
                                <a:pt x="85" y="321"/>
                              </a:lnTo>
                              <a:lnTo>
                                <a:pt x="100" y="335"/>
                              </a:lnTo>
                              <a:lnTo>
                                <a:pt x="108" y="329"/>
                              </a:lnTo>
                              <a:lnTo>
                                <a:pt x="120" y="326"/>
                              </a:lnTo>
                              <a:lnTo>
                                <a:pt x="131" y="328"/>
                              </a:lnTo>
                              <a:lnTo>
                                <a:pt x="125" y="359"/>
                              </a:lnTo>
                              <a:lnTo>
                                <a:pt x="138" y="367"/>
                              </a:lnTo>
                              <a:lnTo>
                                <a:pt x="150" y="375"/>
                              </a:lnTo>
                              <a:lnTo>
                                <a:pt x="159" y="389"/>
                              </a:lnTo>
                              <a:lnTo>
                                <a:pt x="164" y="400"/>
                              </a:lnTo>
                              <a:lnTo>
                                <a:pt x="175" y="405"/>
                              </a:lnTo>
                              <a:lnTo>
                                <a:pt x="187" y="406"/>
                              </a:lnTo>
                              <a:lnTo>
                                <a:pt x="205" y="394"/>
                              </a:lnTo>
                              <a:lnTo>
                                <a:pt x="219" y="380"/>
                              </a:lnTo>
                              <a:lnTo>
                                <a:pt x="227" y="368"/>
                              </a:lnTo>
                              <a:lnTo>
                                <a:pt x="232" y="343"/>
                              </a:lnTo>
                              <a:lnTo>
                                <a:pt x="237" y="315"/>
                              </a:lnTo>
                              <a:lnTo>
                                <a:pt x="249" y="303"/>
                              </a:lnTo>
                              <a:lnTo>
                                <a:pt x="296" y="287"/>
                              </a:lnTo>
                              <a:lnTo>
                                <a:pt x="338" y="269"/>
                              </a:lnTo>
                              <a:lnTo>
                                <a:pt x="368" y="251"/>
                              </a:lnTo>
                              <a:lnTo>
                                <a:pt x="389" y="227"/>
                              </a:lnTo>
                              <a:lnTo>
                                <a:pt x="352" y="80"/>
                              </a:lnTo>
                              <a:lnTo>
                                <a:pt x="125" y="0"/>
                              </a:lnTo>
                              <a:lnTo>
                                <a:pt x="0" y="104"/>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8" name="Freeform 360"/>
                        <p:cNvSpPr/>
                        <p:nvPr/>
                      </p:nvSpPr>
                      <p:spPr bwMode="auto">
                        <a:xfrm>
                          <a:off x="2653" y="3000"/>
                          <a:ext cx="12" cy="8"/>
                        </a:xfrm>
                        <a:custGeom>
                          <a:avLst/>
                          <a:gdLst>
                            <a:gd name="T0" fmla="*/ 9 w 79"/>
                            <a:gd name="T1" fmla="*/ 61 h 64"/>
                            <a:gd name="T2" fmla="*/ 0 w 79"/>
                            <a:gd name="T3" fmla="*/ 56 h 64"/>
                            <a:gd name="T4" fmla="*/ 0 w 79"/>
                            <a:gd name="T5" fmla="*/ 48 h 64"/>
                            <a:gd name="T6" fmla="*/ 8 w 79"/>
                            <a:gd name="T7" fmla="*/ 45 h 64"/>
                            <a:gd name="T8" fmla="*/ 22 w 79"/>
                            <a:gd name="T9" fmla="*/ 43 h 64"/>
                            <a:gd name="T10" fmla="*/ 35 w 79"/>
                            <a:gd name="T11" fmla="*/ 45 h 64"/>
                            <a:gd name="T12" fmla="*/ 51 w 79"/>
                            <a:gd name="T13" fmla="*/ 50 h 64"/>
                            <a:gd name="T14" fmla="*/ 60 w 79"/>
                            <a:gd name="T15" fmla="*/ 33 h 64"/>
                            <a:gd name="T16" fmla="*/ 60 w 79"/>
                            <a:gd name="T17" fmla="*/ 20 h 64"/>
                            <a:gd name="T18" fmla="*/ 56 w 79"/>
                            <a:gd name="T19" fmla="*/ 10 h 64"/>
                            <a:gd name="T20" fmla="*/ 46 w 79"/>
                            <a:gd name="T21" fmla="*/ 7 h 64"/>
                            <a:gd name="T22" fmla="*/ 36 w 79"/>
                            <a:gd name="T23" fmla="*/ 10 h 64"/>
                            <a:gd name="T24" fmla="*/ 29 w 79"/>
                            <a:gd name="T25" fmla="*/ 16 h 64"/>
                            <a:gd name="T26" fmla="*/ 31 w 79"/>
                            <a:gd name="T27" fmla="*/ 7 h 64"/>
                            <a:gd name="T28" fmla="*/ 40 w 79"/>
                            <a:gd name="T29" fmla="*/ 0 h 64"/>
                            <a:gd name="T30" fmla="*/ 54 w 79"/>
                            <a:gd name="T31" fmla="*/ 0 h 64"/>
                            <a:gd name="T32" fmla="*/ 70 w 79"/>
                            <a:gd name="T33" fmla="*/ 6 h 64"/>
                            <a:gd name="T34" fmla="*/ 77 w 79"/>
                            <a:gd name="T35" fmla="*/ 15 h 64"/>
                            <a:gd name="T36" fmla="*/ 79 w 79"/>
                            <a:gd name="T37" fmla="*/ 26 h 64"/>
                            <a:gd name="T38" fmla="*/ 77 w 79"/>
                            <a:gd name="T39" fmla="*/ 41 h 64"/>
                            <a:gd name="T40" fmla="*/ 69 w 79"/>
                            <a:gd name="T41" fmla="*/ 55 h 64"/>
                            <a:gd name="T42" fmla="*/ 59 w 79"/>
                            <a:gd name="T43" fmla="*/ 62 h 64"/>
                            <a:gd name="T44" fmla="*/ 42 w 79"/>
                            <a:gd name="T45" fmla="*/ 64 h 64"/>
                            <a:gd name="T46" fmla="*/ 32 w 79"/>
                            <a:gd name="T47" fmla="*/ 61 h 64"/>
                            <a:gd name="T48" fmla="*/ 22 w 79"/>
                            <a:gd name="T49" fmla="*/ 58 h 64"/>
                            <a:gd name="T50" fmla="*/ 9 w 79"/>
                            <a:gd name="T51"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4">
                              <a:moveTo>
                                <a:pt x="9" y="61"/>
                              </a:moveTo>
                              <a:lnTo>
                                <a:pt x="0" y="56"/>
                              </a:lnTo>
                              <a:lnTo>
                                <a:pt x="0" y="48"/>
                              </a:lnTo>
                              <a:lnTo>
                                <a:pt x="8" y="45"/>
                              </a:lnTo>
                              <a:lnTo>
                                <a:pt x="22" y="43"/>
                              </a:lnTo>
                              <a:lnTo>
                                <a:pt x="35" y="45"/>
                              </a:lnTo>
                              <a:lnTo>
                                <a:pt x="51" y="50"/>
                              </a:lnTo>
                              <a:lnTo>
                                <a:pt x="60" y="33"/>
                              </a:lnTo>
                              <a:lnTo>
                                <a:pt x="60" y="20"/>
                              </a:lnTo>
                              <a:lnTo>
                                <a:pt x="56" y="10"/>
                              </a:lnTo>
                              <a:lnTo>
                                <a:pt x="46" y="7"/>
                              </a:lnTo>
                              <a:lnTo>
                                <a:pt x="36" y="10"/>
                              </a:lnTo>
                              <a:lnTo>
                                <a:pt x="29" y="16"/>
                              </a:lnTo>
                              <a:lnTo>
                                <a:pt x="31" y="7"/>
                              </a:lnTo>
                              <a:lnTo>
                                <a:pt x="40" y="0"/>
                              </a:lnTo>
                              <a:lnTo>
                                <a:pt x="54" y="0"/>
                              </a:lnTo>
                              <a:lnTo>
                                <a:pt x="70" y="6"/>
                              </a:lnTo>
                              <a:lnTo>
                                <a:pt x="77" y="15"/>
                              </a:lnTo>
                              <a:lnTo>
                                <a:pt x="79" y="26"/>
                              </a:lnTo>
                              <a:lnTo>
                                <a:pt x="77" y="41"/>
                              </a:lnTo>
                              <a:lnTo>
                                <a:pt x="69" y="55"/>
                              </a:lnTo>
                              <a:lnTo>
                                <a:pt x="59" y="62"/>
                              </a:lnTo>
                              <a:lnTo>
                                <a:pt x="42" y="64"/>
                              </a:lnTo>
                              <a:lnTo>
                                <a:pt x="32" y="61"/>
                              </a:lnTo>
                              <a:lnTo>
                                <a:pt x="22" y="58"/>
                              </a:lnTo>
                              <a:lnTo>
                                <a:pt x="9"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9" name="Freeform 361"/>
                        <p:cNvSpPr/>
                        <p:nvPr/>
                      </p:nvSpPr>
                      <p:spPr bwMode="auto">
                        <a:xfrm>
                          <a:off x="2675" y="3017"/>
                          <a:ext cx="8" cy="4"/>
                        </a:xfrm>
                        <a:custGeom>
                          <a:avLst/>
                          <a:gdLst>
                            <a:gd name="T0" fmla="*/ 0 w 62"/>
                            <a:gd name="T1" fmla="*/ 20 h 31"/>
                            <a:gd name="T2" fmla="*/ 15 w 62"/>
                            <a:gd name="T3" fmla="*/ 13 h 31"/>
                            <a:gd name="T4" fmla="*/ 30 w 62"/>
                            <a:gd name="T5" fmla="*/ 0 h 31"/>
                            <a:gd name="T6" fmla="*/ 37 w 62"/>
                            <a:gd name="T7" fmla="*/ 5 h 31"/>
                            <a:gd name="T8" fmla="*/ 45 w 62"/>
                            <a:gd name="T9" fmla="*/ 12 h 31"/>
                            <a:gd name="T10" fmla="*/ 53 w 62"/>
                            <a:gd name="T11" fmla="*/ 15 h 31"/>
                            <a:gd name="T12" fmla="*/ 62 w 62"/>
                            <a:gd name="T13" fmla="*/ 17 h 31"/>
                            <a:gd name="T14" fmla="*/ 47 w 62"/>
                            <a:gd name="T15" fmla="*/ 26 h 31"/>
                            <a:gd name="T16" fmla="*/ 33 w 62"/>
                            <a:gd name="T17" fmla="*/ 31 h 31"/>
                            <a:gd name="T18" fmla="*/ 21 w 62"/>
                            <a:gd name="T19" fmla="*/ 30 h 31"/>
                            <a:gd name="T20" fmla="*/ 11 w 62"/>
                            <a:gd name="T21" fmla="*/ 27 h 31"/>
                            <a:gd name="T22" fmla="*/ 0 w 62"/>
                            <a:gd name="T23" fmla="*/ 2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31">
                              <a:moveTo>
                                <a:pt x="0" y="20"/>
                              </a:moveTo>
                              <a:lnTo>
                                <a:pt x="15" y="13"/>
                              </a:lnTo>
                              <a:lnTo>
                                <a:pt x="30" y="0"/>
                              </a:lnTo>
                              <a:lnTo>
                                <a:pt x="37" y="5"/>
                              </a:lnTo>
                              <a:lnTo>
                                <a:pt x="45" y="12"/>
                              </a:lnTo>
                              <a:lnTo>
                                <a:pt x="53" y="15"/>
                              </a:lnTo>
                              <a:lnTo>
                                <a:pt x="62" y="17"/>
                              </a:lnTo>
                              <a:lnTo>
                                <a:pt x="47" y="26"/>
                              </a:lnTo>
                              <a:lnTo>
                                <a:pt x="33" y="31"/>
                              </a:lnTo>
                              <a:lnTo>
                                <a:pt x="21" y="30"/>
                              </a:lnTo>
                              <a:lnTo>
                                <a:pt x="11" y="27"/>
                              </a:lnTo>
                              <a:lnTo>
                                <a:pt x="0" y="2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410" name="Group 362"/>
                  <p:cNvGrpSpPr/>
                  <p:nvPr/>
                </p:nvGrpSpPr>
                <p:grpSpPr bwMode="auto">
                  <a:xfrm>
                    <a:off x="2661" y="3006"/>
                    <a:ext cx="13" cy="10"/>
                    <a:chOff x="2661" y="3006"/>
                    <a:chExt cx="13" cy="10"/>
                  </a:xfrm>
                </p:grpSpPr>
                <p:sp>
                  <p:nvSpPr>
                    <p:cNvPr id="642411" name="Freeform 363"/>
                    <p:cNvSpPr/>
                    <p:nvPr/>
                  </p:nvSpPr>
                  <p:spPr bwMode="auto">
                    <a:xfrm>
                      <a:off x="2662" y="3006"/>
                      <a:ext cx="12" cy="8"/>
                    </a:xfrm>
                    <a:custGeom>
                      <a:avLst/>
                      <a:gdLst>
                        <a:gd name="T0" fmla="*/ 0 w 80"/>
                        <a:gd name="T1" fmla="*/ 44 h 65"/>
                        <a:gd name="T2" fmla="*/ 18 w 80"/>
                        <a:gd name="T3" fmla="*/ 47 h 65"/>
                        <a:gd name="T4" fmla="*/ 26 w 80"/>
                        <a:gd name="T5" fmla="*/ 59 h 65"/>
                        <a:gd name="T6" fmla="*/ 31 w 80"/>
                        <a:gd name="T7" fmla="*/ 65 h 65"/>
                        <a:gd name="T8" fmla="*/ 60 w 80"/>
                        <a:gd name="T9" fmla="*/ 54 h 65"/>
                        <a:gd name="T10" fmla="*/ 69 w 80"/>
                        <a:gd name="T11" fmla="*/ 39 h 65"/>
                        <a:gd name="T12" fmla="*/ 80 w 80"/>
                        <a:gd name="T13" fmla="*/ 0 h 65"/>
                        <a:gd name="T14" fmla="*/ 68 w 80"/>
                        <a:gd name="T15" fmla="*/ 7 h 65"/>
                        <a:gd name="T16" fmla="*/ 0 w 80"/>
                        <a:gd name="T17" fmla="*/ 4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5">
                          <a:moveTo>
                            <a:pt x="0" y="44"/>
                          </a:moveTo>
                          <a:lnTo>
                            <a:pt x="18" y="47"/>
                          </a:lnTo>
                          <a:lnTo>
                            <a:pt x="26" y="59"/>
                          </a:lnTo>
                          <a:lnTo>
                            <a:pt x="31" y="65"/>
                          </a:lnTo>
                          <a:lnTo>
                            <a:pt x="60" y="54"/>
                          </a:lnTo>
                          <a:lnTo>
                            <a:pt x="69" y="39"/>
                          </a:lnTo>
                          <a:lnTo>
                            <a:pt x="80" y="0"/>
                          </a:lnTo>
                          <a:lnTo>
                            <a:pt x="68" y="7"/>
                          </a:lnTo>
                          <a:lnTo>
                            <a:pt x="0" y="44"/>
                          </a:lnTo>
                          <a:close/>
                        </a:path>
                      </a:pathLst>
                    </a:custGeom>
                    <a:solidFill>
                      <a:srgbClr val="E04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2" name="Freeform 364"/>
                    <p:cNvSpPr/>
                    <p:nvPr/>
                  </p:nvSpPr>
                  <p:spPr bwMode="auto">
                    <a:xfrm>
                      <a:off x="2664" y="3006"/>
                      <a:ext cx="10" cy="8"/>
                    </a:xfrm>
                    <a:custGeom>
                      <a:avLst/>
                      <a:gdLst>
                        <a:gd name="T0" fmla="*/ 0 w 70"/>
                        <a:gd name="T1" fmla="*/ 42 h 59"/>
                        <a:gd name="T2" fmla="*/ 16 w 70"/>
                        <a:gd name="T3" fmla="*/ 59 h 59"/>
                        <a:gd name="T4" fmla="*/ 26 w 70"/>
                        <a:gd name="T5" fmla="*/ 56 h 59"/>
                        <a:gd name="T6" fmla="*/ 69 w 70"/>
                        <a:gd name="T7" fmla="*/ 6 h 59"/>
                        <a:gd name="T8" fmla="*/ 70 w 70"/>
                        <a:gd name="T9" fmla="*/ 0 h 59"/>
                        <a:gd name="T10" fmla="*/ 0 w 70"/>
                        <a:gd name="T11" fmla="*/ 42 h 59"/>
                      </a:gdLst>
                      <a:ahLst/>
                      <a:cxnLst>
                        <a:cxn ang="0">
                          <a:pos x="T0" y="T1"/>
                        </a:cxn>
                        <a:cxn ang="0">
                          <a:pos x="T2" y="T3"/>
                        </a:cxn>
                        <a:cxn ang="0">
                          <a:pos x="T4" y="T5"/>
                        </a:cxn>
                        <a:cxn ang="0">
                          <a:pos x="T6" y="T7"/>
                        </a:cxn>
                        <a:cxn ang="0">
                          <a:pos x="T8" y="T9"/>
                        </a:cxn>
                        <a:cxn ang="0">
                          <a:pos x="T10" y="T11"/>
                        </a:cxn>
                      </a:cxnLst>
                      <a:rect l="0" t="0" r="r" b="b"/>
                      <a:pathLst>
                        <a:path w="70" h="59">
                          <a:moveTo>
                            <a:pt x="0" y="42"/>
                          </a:moveTo>
                          <a:lnTo>
                            <a:pt x="16" y="59"/>
                          </a:lnTo>
                          <a:lnTo>
                            <a:pt x="26" y="56"/>
                          </a:lnTo>
                          <a:lnTo>
                            <a:pt x="69" y="6"/>
                          </a:lnTo>
                          <a:lnTo>
                            <a:pt x="70" y="0"/>
                          </a:lnTo>
                          <a:lnTo>
                            <a:pt x="0" y="4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3" name="Freeform 365"/>
                    <p:cNvSpPr/>
                    <p:nvPr/>
                  </p:nvSpPr>
                  <p:spPr bwMode="auto">
                    <a:xfrm>
                      <a:off x="2661" y="3006"/>
                      <a:ext cx="13" cy="7"/>
                    </a:xfrm>
                    <a:custGeom>
                      <a:avLst/>
                      <a:gdLst>
                        <a:gd name="T0" fmla="*/ 90 w 90"/>
                        <a:gd name="T1" fmla="*/ 0 h 54"/>
                        <a:gd name="T2" fmla="*/ 74 w 90"/>
                        <a:gd name="T3" fmla="*/ 9 h 54"/>
                        <a:gd name="T4" fmla="*/ 51 w 90"/>
                        <a:gd name="T5" fmla="*/ 18 h 54"/>
                        <a:gd name="T6" fmla="*/ 27 w 90"/>
                        <a:gd name="T7" fmla="*/ 22 h 54"/>
                        <a:gd name="T8" fmla="*/ 10 w 90"/>
                        <a:gd name="T9" fmla="*/ 32 h 54"/>
                        <a:gd name="T10" fmla="*/ 3 w 90"/>
                        <a:gd name="T11" fmla="*/ 39 h 54"/>
                        <a:gd name="T12" fmla="*/ 0 w 90"/>
                        <a:gd name="T13" fmla="*/ 49 h 54"/>
                        <a:gd name="T14" fmla="*/ 5 w 90"/>
                        <a:gd name="T15" fmla="*/ 54 h 54"/>
                        <a:gd name="T16" fmla="*/ 14 w 90"/>
                        <a:gd name="T17" fmla="*/ 54 h 54"/>
                        <a:gd name="T18" fmla="*/ 22 w 90"/>
                        <a:gd name="T19" fmla="*/ 53 h 54"/>
                        <a:gd name="T20" fmla="*/ 38 w 90"/>
                        <a:gd name="T21" fmla="*/ 45 h 54"/>
                        <a:gd name="T22" fmla="*/ 55 w 90"/>
                        <a:gd name="T23" fmla="*/ 31 h 54"/>
                        <a:gd name="T24" fmla="*/ 85 w 90"/>
                        <a:gd name="T25" fmla="*/ 9 h 54"/>
                        <a:gd name="T26" fmla="*/ 90 w 90"/>
                        <a:gd name="T2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54">
                          <a:moveTo>
                            <a:pt x="90" y="0"/>
                          </a:moveTo>
                          <a:lnTo>
                            <a:pt x="74" y="9"/>
                          </a:lnTo>
                          <a:lnTo>
                            <a:pt x="51" y="18"/>
                          </a:lnTo>
                          <a:lnTo>
                            <a:pt x="27" y="22"/>
                          </a:lnTo>
                          <a:lnTo>
                            <a:pt x="10" y="32"/>
                          </a:lnTo>
                          <a:lnTo>
                            <a:pt x="3" y="39"/>
                          </a:lnTo>
                          <a:lnTo>
                            <a:pt x="0" y="49"/>
                          </a:lnTo>
                          <a:lnTo>
                            <a:pt x="5" y="54"/>
                          </a:lnTo>
                          <a:lnTo>
                            <a:pt x="14" y="54"/>
                          </a:lnTo>
                          <a:lnTo>
                            <a:pt x="22" y="53"/>
                          </a:lnTo>
                          <a:lnTo>
                            <a:pt x="38" y="45"/>
                          </a:lnTo>
                          <a:lnTo>
                            <a:pt x="55" y="31"/>
                          </a:lnTo>
                          <a:lnTo>
                            <a:pt x="85" y="9"/>
                          </a:lnTo>
                          <a:lnTo>
                            <a:pt x="90"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4" name="Freeform 366"/>
                    <p:cNvSpPr/>
                    <p:nvPr/>
                  </p:nvSpPr>
                  <p:spPr bwMode="auto">
                    <a:xfrm>
                      <a:off x="2665" y="3006"/>
                      <a:ext cx="9" cy="10"/>
                    </a:xfrm>
                    <a:custGeom>
                      <a:avLst/>
                      <a:gdLst>
                        <a:gd name="T0" fmla="*/ 59 w 59"/>
                        <a:gd name="T1" fmla="*/ 0 h 80"/>
                        <a:gd name="T2" fmla="*/ 45 w 59"/>
                        <a:gd name="T3" fmla="*/ 28 h 80"/>
                        <a:gd name="T4" fmla="*/ 31 w 59"/>
                        <a:gd name="T5" fmla="*/ 44 h 80"/>
                        <a:gd name="T6" fmla="*/ 24 w 59"/>
                        <a:gd name="T7" fmla="*/ 56 h 80"/>
                        <a:gd name="T8" fmla="*/ 16 w 59"/>
                        <a:gd name="T9" fmla="*/ 60 h 80"/>
                        <a:gd name="T10" fmla="*/ 9 w 59"/>
                        <a:gd name="T11" fmla="*/ 60 h 80"/>
                        <a:gd name="T12" fmla="*/ 0 w 59"/>
                        <a:gd name="T13" fmla="*/ 57 h 80"/>
                        <a:gd name="T14" fmla="*/ 2 w 59"/>
                        <a:gd name="T15" fmla="*/ 66 h 80"/>
                        <a:gd name="T16" fmla="*/ 7 w 59"/>
                        <a:gd name="T17" fmla="*/ 71 h 80"/>
                        <a:gd name="T18" fmla="*/ 20 w 59"/>
                        <a:gd name="T19" fmla="*/ 78 h 80"/>
                        <a:gd name="T20" fmla="*/ 28 w 59"/>
                        <a:gd name="T21" fmla="*/ 80 h 80"/>
                        <a:gd name="T22" fmla="*/ 37 w 59"/>
                        <a:gd name="T23" fmla="*/ 79 h 80"/>
                        <a:gd name="T24" fmla="*/ 46 w 59"/>
                        <a:gd name="T25" fmla="*/ 71 h 80"/>
                        <a:gd name="T26" fmla="*/ 53 w 59"/>
                        <a:gd name="T27" fmla="*/ 60 h 80"/>
                        <a:gd name="T28" fmla="*/ 56 w 59"/>
                        <a:gd name="T29" fmla="*/ 47 h 80"/>
                        <a:gd name="T30" fmla="*/ 54 w 59"/>
                        <a:gd name="T31" fmla="*/ 31 h 80"/>
                        <a:gd name="T32" fmla="*/ 59 w 59"/>
                        <a:gd name="T3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80">
                          <a:moveTo>
                            <a:pt x="59" y="0"/>
                          </a:moveTo>
                          <a:lnTo>
                            <a:pt x="45" y="28"/>
                          </a:lnTo>
                          <a:lnTo>
                            <a:pt x="31" y="44"/>
                          </a:lnTo>
                          <a:lnTo>
                            <a:pt x="24" y="56"/>
                          </a:lnTo>
                          <a:lnTo>
                            <a:pt x="16" y="60"/>
                          </a:lnTo>
                          <a:lnTo>
                            <a:pt x="9" y="60"/>
                          </a:lnTo>
                          <a:lnTo>
                            <a:pt x="0" y="57"/>
                          </a:lnTo>
                          <a:lnTo>
                            <a:pt x="2" y="66"/>
                          </a:lnTo>
                          <a:lnTo>
                            <a:pt x="7" y="71"/>
                          </a:lnTo>
                          <a:lnTo>
                            <a:pt x="20" y="78"/>
                          </a:lnTo>
                          <a:lnTo>
                            <a:pt x="28" y="80"/>
                          </a:lnTo>
                          <a:lnTo>
                            <a:pt x="37" y="79"/>
                          </a:lnTo>
                          <a:lnTo>
                            <a:pt x="46" y="71"/>
                          </a:lnTo>
                          <a:lnTo>
                            <a:pt x="53" y="60"/>
                          </a:lnTo>
                          <a:lnTo>
                            <a:pt x="56" y="47"/>
                          </a:lnTo>
                          <a:lnTo>
                            <a:pt x="54" y="31"/>
                          </a:lnTo>
                          <a:lnTo>
                            <a:pt x="59"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415" name="Freeform 367"/>
                  <p:cNvSpPr/>
                  <p:nvPr/>
                </p:nvSpPr>
                <p:spPr bwMode="auto">
                  <a:xfrm>
                    <a:off x="2654" y="2986"/>
                    <a:ext cx="10" cy="8"/>
                  </a:xfrm>
                  <a:custGeom>
                    <a:avLst/>
                    <a:gdLst>
                      <a:gd name="T0" fmla="*/ 0 w 72"/>
                      <a:gd name="T1" fmla="*/ 36 h 67"/>
                      <a:gd name="T2" fmla="*/ 8 w 72"/>
                      <a:gd name="T3" fmla="*/ 25 h 67"/>
                      <a:gd name="T4" fmla="*/ 21 w 72"/>
                      <a:gd name="T5" fmla="*/ 15 h 67"/>
                      <a:gd name="T6" fmla="*/ 37 w 72"/>
                      <a:gd name="T7" fmla="*/ 7 h 67"/>
                      <a:gd name="T8" fmla="*/ 53 w 72"/>
                      <a:gd name="T9" fmla="*/ 3 h 67"/>
                      <a:gd name="T10" fmla="*/ 70 w 72"/>
                      <a:gd name="T11" fmla="*/ 0 h 67"/>
                      <a:gd name="T12" fmla="*/ 71 w 72"/>
                      <a:gd name="T13" fmla="*/ 10 h 67"/>
                      <a:gd name="T14" fmla="*/ 72 w 72"/>
                      <a:gd name="T15" fmla="*/ 24 h 67"/>
                      <a:gd name="T16" fmla="*/ 69 w 72"/>
                      <a:gd name="T17" fmla="*/ 39 h 67"/>
                      <a:gd name="T18" fmla="*/ 62 w 72"/>
                      <a:gd name="T19" fmla="*/ 53 h 67"/>
                      <a:gd name="T20" fmla="*/ 51 w 72"/>
                      <a:gd name="T21" fmla="*/ 62 h 67"/>
                      <a:gd name="T22" fmla="*/ 36 w 72"/>
                      <a:gd name="T23" fmla="*/ 67 h 67"/>
                      <a:gd name="T24" fmla="*/ 30 w 72"/>
                      <a:gd name="T25" fmla="*/ 56 h 67"/>
                      <a:gd name="T26" fmla="*/ 21 w 72"/>
                      <a:gd name="T27" fmla="*/ 49 h 67"/>
                      <a:gd name="T28" fmla="*/ 16 w 72"/>
                      <a:gd name="T29" fmla="*/ 44 h 67"/>
                      <a:gd name="T30" fmla="*/ 6 w 72"/>
                      <a:gd name="T31" fmla="*/ 41 h 67"/>
                      <a:gd name="T32" fmla="*/ 0 w 72"/>
                      <a:gd name="T33" fmla="*/ 3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67">
                        <a:moveTo>
                          <a:pt x="0" y="36"/>
                        </a:moveTo>
                        <a:lnTo>
                          <a:pt x="8" y="25"/>
                        </a:lnTo>
                        <a:lnTo>
                          <a:pt x="21" y="15"/>
                        </a:lnTo>
                        <a:lnTo>
                          <a:pt x="37" y="7"/>
                        </a:lnTo>
                        <a:lnTo>
                          <a:pt x="53" y="3"/>
                        </a:lnTo>
                        <a:lnTo>
                          <a:pt x="70" y="0"/>
                        </a:lnTo>
                        <a:lnTo>
                          <a:pt x="71" y="10"/>
                        </a:lnTo>
                        <a:lnTo>
                          <a:pt x="72" y="24"/>
                        </a:lnTo>
                        <a:lnTo>
                          <a:pt x="69" y="39"/>
                        </a:lnTo>
                        <a:lnTo>
                          <a:pt x="62" y="53"/>
                        </a:lnTo>
                        <a:lnTo>
                          <a:pt x="51" y="62"/>
                        </a:lnTo>
                        <a:lnTo>
                          <a:pt x="36" y="67"/>
                        </a:lnTo>
                        <a:lnTo>
                          <a:pt x="30" y="56"/>
                        </a:lnTo>
                        <a:lnTo>
                          <a:pt x="21" y="49"/>
                        </a:lnTo>
                        <a:lnTo>
                          <a:pt x="16" y="44"/>
                        </a:lnTo>
                        <a:lnTo>
                          <a:pt x="6" y="41"/>
                        </a:lnTo>
                        <a:lnTo>
                          <a:pt x="0" y="3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6" name="Freeform 368"/>
                  <p:cNvSpPr/>
                  <p:nvPr/>
                </p:nvSpPr>
                <p:spPr bwMode="auto">
                  <a:xfrm>
                    <a:off x="2659" y="2986"/>
                    <a:ext cx="5" cy="5"/>
                  </a:xfrm>
                  <a:custGeom>
                    <a:avLst/>
                    <a:gdLst>
                      <a:gd name="T0" fmla="*/ 0 w 37"/>
                      <a:gd name="T1" fmla="*/ 24 h 40"/>
                      <a:gd name="T2" fmla="*/ 16 w 37"/>
                      <a:gd name="T3" fmla="*/ 40 h 40"/>
                      <a:gd name="T4" fmla="*/ 27 w 37"/>
                      <a:gd name="T5" fmla="*/ 27 h 40"/>
                      <a:gd name="T6" fmla="*/ 36 w 37"/>
                      <a:gd name="T7" fmla="*/ 8 h 40"/>
                      <a:gd name="T8" fmla="*/ 37 w 37"/>
                      <a:gd name="T9" fmla="*/ 0 h 40"/>
                      <a:gd name="T10" fmla="*/ 24 w 37"/>
                      <a:gd name="T11" fmla="*/ 6 h 40"/>
                      <a:gd name="T12" fmla="*/ 0 w 37"/>
                      <a:gd name="T13" fmla="*/ 24 h 40"/>
                    </a:gdLst>
                    <a:ahLst/>
                    <a:cxnLst>
                      <a:cxn ang="0">
                        <a:pos x="T0" y="T1"/>
                      </a:cxn>
                      <a:cxn ang="0">
                        <a:pos x="T2" y="T3"/>
                      </a:cxn>
                      <a:cxn ang="0">
                        <a:pos x="T4" y="T5"/>
                      </a:cxn>
                      <a:cxn ang="0">
                        <a:pos x="T6" y="T7"/>
                      </a:cxn>
                      <a:cxn ang="0">
                        <a:pos x="T8" y="T9"/>
                      </a:cxn>
                      <a:cxn ang="0">
                        <a:pos x="T10" y="T11"/>
                      </a:cxn>
                      <a:cxn ang="0">
                        <a:pos x="T12" y="T13"/>
                      </a:cxn>
                    </a:cxnLst>
                    <a:rect l="0" t="0" r="r" b="b"/>
                    <a:pathLst>
                      <a:path w="37" h="40">
                        <a:moveTo>
                          <a:pt x="0" y="24"/>
                        </a:moveTo>
                        <a:lnTo>
                          <a:pt x="16" y="40"/>
                        </a:lnTo>
                        <a:lnTo>
                          <a:pt x="27" y="27"/>
                        </a:lnTo>
                        <a:lnTo>
                          <a:pt x="36" y="8"/>
                        </a:lnTo>
                        <a:lnTo>
                          <a:pt x="37" y="0"/>
                        </a:lnTo>
                        <a:lnTo>
                          <a:pt x="24" y="6"/>
                        </a:lnTo>
                        <a:lnTo>
                          <a:pt x="0" y="24"/>
                        </a:lnTo>
                        <a:close/>
                      </a:path>
                    </a:pathLst>
                  </a:custGeom>
                  <a:solidFill>
                    <a:srgbClr val="FFFF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7" name="Freeform 369"/>
                  <p:cNvSpPr/>
                  <p:nvPr/>
                </p:nvSpPr>
                <p:spPr bwMode="auto">
                  <a:xfrm>
                    <a:off x="2657" y="2986"/>
                    <a:ext cx="7" cy="7"/>
                  </a:xfrm>
                  <a:custGeom>
                    <a:avLst/>
                    <a:gdLst>
                      <a:gd name="T0" fmla="*/ 0 w 55"/>
                      <a:gd name="T1" fmla="*/ 53 h 63"/>
                      <a:gd name="T2" fmla="*/ 5 w 55"/>
                      <a:gd name="T3" fmla="*/ 47 h 63"/>
                      <a:gd name="T4" fmla="*/ 12 w 55"/>
                      <a:gd name="T5" fmla="*/ 34 h 63"/>
                      <a:gd name="T6" fmla="*/ 26 w 55"/>
                      <a:gd name="T7" fmla="*/ 24 h 63"/>
                      <a:gd name="T8" fmla="*/ 40 w 55"/>
                      <a:gd name="T9" fmla="*/ 13 h 63"/>
                      <a:gd name="T10" fmla="*/ 51 w 55"/>
                      <a:gd name="T11" fmla="*/ 5 h 63"/>
                      <a:gd name="T12" fmla="*/ 47 w 55"/>
                      <a:gd name="T13" fmla="*/ 17 h 63"/>
                      <a:gd name="T14" fmla="*/ 40 w 55"/>
                      <a:gd name="T15" fmla="*/ 30 h 63"/>
                      <a:gd name="T16" fmla="*/ 34 w 55"/>
                      <a:gd name="T17" fmla="*/ 37 h 63"/>
                      <a:gd name="T18" fmla="*/ 27 w 55"/>
                      <a:gd name="T19" fmla="*/ 53 h 63"/>
                      <a:gd name="T20" fmla="*/ 26 w 55"/>
                      <a:gd name="T21" fmla="*/ 63 h 63"/>
                      <a:gd name="T22" fmla="*/ 30 w 55"/>
                      <a:gd name="T23" fmla="*/ 50 h 63"/>
                      <a:gd name="T24" fmla="*/ 36 w 55"/>
                      <a:gd name="T25" fmla="*/ 41 h 63"/>
                      <a:gd name="T26" fmla="*/ 47 w 55"/>
                      <a:gd name="T27" fmla="*/ 27 h 63"/>
                      <a:gd name="T28" fmla="*/ 51 w 55"/>
                      <a:gd name="T29" fmla="*/ 15 h 63"/>
                      <a:gd name="T30" fmla="*/ 54 w 55"/>
                      <a:gd name="T31" fmla="*/ 7 h 63"/>
                      <a:gd name="T32" fmla="*/ 55 w 55"/>
                      <a:gd name="T33" fmla="*/ 0 h 63"/>
                      <a:gd name="T34" fmla="*/ 47 w 55"/>
                      <a:gd name="T35" fmla="*/ 6 h 63"/>
                      <a:gd name="T36" fmla="*/ 34 w 55"/>
                      <a:gd name="T37" fmla="*/ 12 h 63"/>
                      <a:gd name="T38" fmla="*/ 22 w 55"/>
                      <a:gd name="T39" fmla="*/ 21 h 63"/>
                      <a:gd name="T40" fmla="*/ 11 w 55"/>
                      <a:gd name="T41" fmla="*/ 30 h 63"/>
                      <a:gd name="T42" fmla="*/ 2 w 55"/>
                      <a:gd name="T43" fmla="*/ 41 h 63"/>
                      <a:gd name="T44" fmla="*/ 0 w 55"/>
                      <a:gd name="T45" fmla="*/ 5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63">
                        <a:moveTo>
                          <a:pt x="0" y="53"/>
                        </a:moveTo>
                        <a:lnTo>
                          <a:pt x="5" y="47"/>
                        </a:lnTo>
                        <a:lnTo>
                          <a:pt x="12" y="34"/>
                        </a:lnTo>
                        <a:lnTo>
                          <a:pt x="26" y="24"/>
                        </a:lnTo>
                        <a:lnTo>
                          <a:pt x="40" y="13"/>
                        </a:lnTo>
                        <a:lnTo>
                          <a:pt x="51" y="5"/>
                        </a:lnTo>
                        <a:lnTo>
                          <a:pt x="47" y="17"/>
                        </a:lnTo>
                        <a:lnTo>
                          <a:pt x="40" y="30"/>
                        </a:lnTo>
                        <a:lnTo>
                          <a:pt x="34" y="37"/>
                        </a:lnTo>
                        <a:lnTo>
                          <a:pt x="27" y="53"/>
                        </a:lnTo>
                        <a:lnTo>
                          <a:pt x="26" y="63"/>
                        </a:lnTo>
                        <a:lnTo>
                          <a:pt x="30" y="50"/>
                        </a:lnTo>
                        <a:lnTo>
                          <a:pt x="36" y="41"/>
                        </a:lnTo>
                        <a:lnTo>
                          <a:pt x="47" y="27"/>
                        </a:lnTo>
                        <a:lnTo>
                          <a:pt x="51" y="15"/>
                        </a:lnTo>
                        <a:lnTo>
                          <a:pt x="54" y="7"/>
                        </a:lnTo>
                        <a:lnTo>
                          <a:pt x="55" y="0"/>
                        </a:lnTo>
                        <a:lnTo>
                          <a:pt x="47" y="6"/>
                        </a:lnTo>
                        <a:lnTo>
                          <a:pt x="34" y="12"/>
                        </a:lnTo>
                        <a:lnTo>
                          <a:pt x="22" y="21"/>
                        </a:lnTo>
                        <a:lnTo>
                          <a:pt x="11" y="30"/>
                        </a:lnTo>
                        <a:lnTo>
                          <a:pt x="2" y="41"/>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8" name="Freeform 370"/>
                  <p:cNvSpPr/>
                  <p:nvPr/>
                </p:nvSpPr>
                <p:spPr bwMode="auto">
                  <a:xfrm>
                    <a:off x="2657" y="2988"/>
                    <a:ext cx="5" cy="4"/>
                  </a:xfrm>
                  <a:custGeom>
                    <a:avLst/>
                    <a:gdLst>
                      <a:gd name="T0" fmla="*/ 0 w 31"/>
                      <a:gd name="T1" fmla="*/ 17 h 35"/>
                      <a:gd name="T2" fmla="*/ 0 w 31"/>
                      <a:gd name="T3" fmla="*/ 29 h 35"/>
                      <a:gd name="T4" fmla="*/ 8 w 31"/>
                      <a:gd name="T5" fmla="*/ 35 h 35"/>
                      <a:gd name="T6" fmla="*/ 21 w 31"/>
                      <a:gd name="T7" fmla="*/ 31 h 35"/>
                      <a:gd name="T8" fmla="*/ 31 w 31"/>
                      <a:gd name="T9" fmla="*/ 19 h 35"/>
                      <a:gd name="T10" fmla="*/ 31 w 31"/>
                      <a:gd name="T11" fmla="*/ 10 h 35"/>
                      <a:gd name="T12" fmla="*/ 20 w 31"/>
                      <a:gd name="T13" fmla="*/ 0 h 35"/>
                      <a:gd name="T14" fmla="*/ 0 w 31"/>
                      <a:gd name="T15" fmla="*/ 17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5">
                        <a:moveTo>
                          <a:pt x="0" y="17"/>
                        </a:moveTo>
                        <a:lnTo>
                          <a:pt x="0" y="29"/>
                        </a:lnTo>
                        <a:lnTo>
                          <a:pt x="8" y="35"/>
                        </a:lnTo>
                        <a:lnTo>
                          <a:pt x="21" y="31"/>
                        </a:lnTo>
                        <a:lnTo>
                          <a:pt x="31" y="19"/>
                        </a:lnTo>
                        <a:lnTo>
                          <a:pt x="31" y="10"/>
                        </a:lnTo>
                        <a:lnTo>
                          <a:pt x="20" y="0"/>
                        </a:lnTo>
                        <a:lnTo>
                          <a:pt x="0" y="1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9" name="Freeform 371"/>
                  <p:cNvSpPr/>
                  <p:nvPr/>
                </p:nvSpPr>
                <p:spPr bwMode="auto">
                  <a:xfrm>
                    <a:off x="2658" y="2988"/>
                    <a:ext cx="5" cy="5"/>
                  </a:xfrm>
                  <a:custGeom>
                    <a:avLst/>
                    <a:gdLst>
                      <a:gd name="T0" fmla="*/ 0 w 37"/>
                      <a:gd name="T1" fmla="*/ 17 h 42"/>
                      <a:gd name="T2" fmla="*/ 0 w 37"/>
                      <a:gd name="T3" fmla="*/ 34 h 42"/>
                      <a:gd name="T4" fmla="*/ 9 w 37"/>
                      <a:gd name="T5" fmla="*/ 42 h 42"/>
                      <a:gd name="T6" fmla="*/ 25 w 37"/>
                      <a:gd name="T7" fmla="*/ 40 h 42"/>
                      <a:gd name="T8" fmla="*/ 37 w 37"/>
                      <a:gd name="T9" fmla="*/ 24 h 42"/>
                      <a:gd name="T10" fmla="*/ 37 w 37"/>
                      <a:gd name="T11" fmla="*/ 10 h 42"/>
                      <a:gd name="T12" fmla="*/ 27 w 37"/>
                      <a:gd name="T13" fmla="*/ 0 h 42"/>
                      <a:gd name="T14" fmla="*/ 0 w 37"/>
                      <a:gd name="T15" fmla="*/ 17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42">
                        <a:moveTo>
                          <a:pt x="0" y="17"/>
                        </a:moveTo>
                        <a:lnTo>
                          <a:pt x="0" y="34"/>
                        </a:lnTo>
                        <a:lnTo>
                          <a:pt x="9" y="42"/>
                        </a:lnTo>
                        <a:lnTo>
                          <a:pt x="25" y="40"/>
                        </a:lnTo>
                        <a:lnTo>
                          <a:pt x="37" y="24"/>
                        </a:lnTo>
                        <a:lnTo>
                          <a:pt x="37" y="10"/>
                        </a:lnTo>
                        <a:lnTo>
                          <a:pt x="27" y="0"/>
                        </a:lnTo>
                        <a:lnTo>
                          <a:pt x="0" y="1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0" name="Oval 372"/>
                  <p:cNvSpPr>
                    <a:spLocks noChangeArrowheads="1"/>
                  </p:cNvSpPr>
                  <p:nvPr/>
                </p:nvSpPr>
                <p:spPr bwMode="auto">
                  <a:xfrm>
                    <a:off x="2658" y="2989"/>
                    <a:ext cx="4" cy="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1" name="Freeform 373"/>
                  <p:cNvSpPr/>
                  <p:nvPr/>
                </p:nvSpPr>
                <p:spPr bwMode="auto">
                  <a:xfrm>
                    <a:off x="2655" y="2986"/>
                    <a:ext cx="9" cy="4"/>
                  </a:xfrm>
                  <a:custGeom>
                    <a:avLst/>
                    <a:gdLst>
                      <a:gd name="T0" fmla="*/ 0 w 66"/>
                      <a:gd name="T1" fmla="*/ 37 h 37"/>
                      <a:gd name="T2" fmla="*/ 1 w 66"/>
                      <a:gd name="T3" fmla="*/ 30 h 37"/>
                      <a:gd name="T4" fmla="*/ 6 w 66"/>
                      <a:gd name="T5" fmla="*/ 22 h 37"/>
                      <a:gd name="T6" fmla="*/ 13 w 66"/>
                      <a:gd name="T7" fmla="*/ 15 h 37"/>
                      <a:gd name="T8" fmla="*/ 23 w 66"/>
                      <a:gd name="T9" fmla="*/ 8 h 37"/>
                      <a:gd name="T10" fmla="*/ 37 w 66"/>
                      <a:gd name="T11" fmla="*/ 3 h 37"/>
                      <a:gd name="T12" fmla="*/ 51 w 66"/>
                      <a:gd name="T13" fmla="*/ 0 h 37"/>
                      <a:gd name="T14" fmla="*/ 66 w 66"/>
                      <a:gd name="T15" fmla="*/ 1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37">
                        <a:moveTo>
                          <a:pt x="0" y="37"/>
                        </a:moveTo>
                        <a:lnTo>
                          <a:pt x="1" y="30"/>
                        </a:lnTo>
                        <a:lnTo>
                          <a:pt x="6" y="22"/>
                        </a:lnTo>
                        <a:lnTo>
                          <a:pt x="13" y="15"/>
                        </a:lnTo>
                        <a:lnTo>
                          <a:pt x="23" y="8"/>
                        </a:lnTo>
                        <a:lnTo>
                          <a:pt x="37" y="3"/>
                        </a:lnTo>
                        <a:lnTo>
                          <a:pt x="51" y="0"/>
                        </a:lnTo>
                        <a:lnTo>
                          <a:pt x="66" y="1"/>
                        </a:lnTo>
                      </a:path>
                    </a:pathLst>
                  </a:custGeom>
                  <a:noFill/>
                  <a:ln w="1588">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2422" name="Freeform 374"/>
                  <p:cNvSpPr/>
                  <p:nvPr/>
                </p:nvSpPr>
                <p:spPr bwMode="auto">
                  <a:xfrm>
                    <a:off x="2651" y="2988"/>
                    <a:ext cx="7" cy="12"/>
                  </a:xfrm>
                  <a:custGeom>
                    <a:avLst/>
                    <a:gdLst>
                      <a:gd name="T0" fmla="*/ 0 w 44"/>
                      <a:gd name="T1" fmla="*/ 0 h 100"/>
                      <a:gd name="T2" fmla="*/ 18 w 44"/>
                      <a:gd name="T3" fmla="*/ 14 h 100"/>
                      <a:gd name="T4" fmla="*/ 44 w 44"/>
                      <a:gd name="T5" fmla="*/ 26 h 100"/>
                      <a:gd name="T6" fmla="*/ 32 w 44"/>
                      <a:gd name="T7" fmla="*/ 42 h 100"/>
                      <a:gd name="T8" fmla="*/ 28 w 44"/>
                      <a:gd name="T9" fmla="*/ 55 h 100"/>
                      <a:gd name="T10" fmla="*/ 31 w 44"/>
                      <a:gd name="T11" fmla="*/ 74 h 100"/>
                      <a:gd name="T12" fmla="*/ 42 w 44"/>
                      <a:gd name="T13" fmla="*/ 100 h 100"/>
                      <a:gd name="T14" fmla="*/ 33 w 44"/>
                      <a:gd name="T15" fmla="*/ 85 h 100"/>
                      <a:gd name="T16" fmla="*/ 23 w 44"/>
                      <a:gd name="T17" fmla="*/ 71 h 100"/>
                      <a:gd name="T18" fmla="*/ 15 w 44"/>
                      <a:gd name="T19" fmla="*/ 53 h 100"/>
                      <a:gd name="T20" fmla="*/ 7 w 44"/>
                      <a:gd name="T21" fmla="*/ 28 h 100"/>
                      <a:gd name="T22" fmla="*/ 0 w 44"/>
                      <a:gd name="T2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100">
                        <a:moveTo>
                          <a:pt x="0" y="0"/>
                        </a:moveTo>
                        <a:lnTo>
                          <a:pt x="18" y="14"/>
                        </a:lnTo>
                        <a:lnTo>
                          <a:pt x="44" y="26"/>
                        </a:lnTo>
                        <a:lnTo>
                          <a:pt x="32" y="42"/>
                        </a:lnTo>
                        <a:lnTo>
                          <a:pt x="28" y="55"/>
                        </a:lnTo>
                        <a:lnTo>
                          <a:pt x="31" y="74"/>
                        </a:lnTo>
                        <a:lnTo>
                          <a:pt x="42" y="100"/>
                        </a:lnTo>
                        <a:lnTo>
                          <a:pt x="33" y="85"/>
                        </a:lnTo>
                        <a:lnTo>
                          <a:pt x="23" y="71"/>
                        </a:lnTo>
                        <a:lnTo>
                          <a:pt x="15" y="53"/>
                        </a:lnTo>
                        <a:lnTo>
                          <a:pt x="7" y="28"/>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3" name="Freeform 375"/>
                  <p:cNvSpPr/>
                  <p:nvPr/>
                </p:nvSpPr>
                <p:spPr bwMode="auto">
                  <a:xfrm>
                    <a:off x="2650" y="2978"/>
                    <a:ext cx="12" cy="12"/>
                  </a:xfrm>
                  <a:custGeom>
                    <a:avLst/>
                    <a:gdLst>
                      <a:gd name="T0" fmla="*/ 22 w 85"/>
                      <a:gd name="T1" fmla="*/ 95 h 98"/>
                      <a:gd name="T2" fmla="*/ 23 w 85"/>
                      <a:gd name="T3" fmla="*/ 80 h 98"/>
                      <a:gd name="T4" fmla="*/ 24 w 85"/>
                      <a:gd name="T5" fmla="*/ 64 h 98"/>
                      <a:gd name="T6" fmla="*/ 32 w 85"/>
                      <a:gd name="T7" fmla="*/ 51 h 98"/>
                      <a:gd name="T8" fmla="*/ 56 w 85"/>
                      <a:gd name="T9" fmla="*/ 35 h 98"/>
                      <a:gd name="T10" fmla="*/ 81 w 85"/>
                      <a:gd name="T11" fmla="*/ 13 h 98"/>
                      <a:gd name="T12" fmla="*/ 85 w 85"/>
                      <a:gd name="T13" fmla="*/ 0 h 98"/>
                      <a:gd name="T14" fmla="*/ 51 w 85"/>
                      <a:gd name="T15" fmla="*/ 28 h 98"/>
                      <a:gd name="T16" fmla="*/ 17 w 85"/>
                      <a:gd name="T17" fmla="*/ 41 h 98"/>
                      <a:gd name="T18" fmla="*/ 4 w 85"/>
                      <a:gd name="T19" fmla="*/ 60 h 98"/>
                      <a:gd name="T20" fmla="*/ 0 w 85"/>
                      <a:gd name="T21" fmla="*/ 77 h 98"/>
                      <a:gd name="T22" fmla="*/ 0 w 85"/>
                      <a:gd name="T23" fmla="*/ 90 h 98"/>
                      <a:gd name="T24" fmla="*/ 4 w 85"/>
                      <a:gd name="T25" fmla="*/ 96 h 98"/>
                      <a:gd name="T26" fmla="*/ 12 w 85"/>
                      <a:gd name="T27" fmla="*/ 98 h 98"/>
                      <a:gd name="T28" fmla="*/ 22 w 85"/>
                      <a:gd name="T29" fmla="*/ 9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98">
                        <a:moveTo>
                          <a:pt x="22" y="95"/>
                        </a:moveTo>
                        <a:lnTo>
                          <a:pt x="23" y="80"/>
                        </a:lnTo>
                        <a:lnTo>
                          <a:pt x="24" y="64"/>
                        </a:lnTo>
                        <a:lnTo>
                          <a:pt x="32" y="51"/>
                        </a:lnTo>
                        <a:lnTo>
                          <a:pt x="56" y="35"/>
                        </a:lnTo>
                        <a:lnTo>
                          <a:pt x="81" y="13"/>
                        </a:lnTo>
                        <a:lnTo>
                          <a:pt x="85" y="0"/>
                        </a:lnTo>
                        <a:lnTo>
                          <a:pt x="51" y="28"/>
                        </a:lnTo>
                        <a:lnTo>
                          <a:pt x="17" y="41"/>
                        </a:lnTo>
                        <a:lnTo>
                          <a:pt x="4" y="60"/>
                        </a:lnTo>
                        <a:lnTo>
                          <a:pt x="0" y="77"/>
                        </a:lnTo>
                        <a:lnTo>
                          <a:pt x="0" y="90"/>
                        </a:lnTo>
                        <a:lnTo>
                          <a:pt x="4" y="96"/>
                        </a:lnTo>
                        <a:lnTo>
                          <a:pt x="12" y="98"/>
                        </a:lnTo>
                        <a:lnTo>
                          <a:pt x="22" y="95"/>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4" name="Oval 376"/>
                  <p:cNvSpPr>
                    <a:spLocks noChangeArrowheads="1"/>
                  </p:cNvSpPr>
                  <p:nvPr/>
                </p:nvSpPr>
                <p:spPr bwMode="auto">
                  <a:xfrm>
                    <a:off x="2659" y="2989"/>
                    <a:ext cx="2" cy="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425" name="Group 377"/>
                <p:cNvGrpSpPr/>
                <p:nvPr/>
              </p:nvGrpSpPr>
              <p:grpSpPr bwMode="auto">
                <a:xfrm>
                  <a:off x="2624" y="2934"/>
                  <a:ext cx="106" cy="69"/>
                  <a:chOff x="2624" y="2934"/>
                  <a:chExt cx="106" cy="69"/>
                </a:xfrm>
              </p:grpSpPr>
              <p:sp>
                <p:nvSpPr>
                  <p:cNvPr id="642426" name="Freeform 378"/>
                  <p:cNvSpPr/>
                  <p:nvPr/>
                </p:nvSpPr>
                <p:spPr bwMode="auto">
                  <a:xfrm>
                    <a:off x="2624" y="2934"/>
                    <a:ext cx="106" cy="69"/>
                  </a:xfrm>
                  <a:custGeom>
                    <a:avLst/>
                    <a:gdLst>
                      <a:gd name="T0" fmla="*/ 111 w 747"/>
                      <a:gd name="T1" fmla="*/ 98 h 555"/>
                      <a:gd name="T2" fmla="*/ 73 w 747"/>
                      <a:gd name="T3" fmla="*/ 138 h 555"/>
                      <a:gd name="T4" fmla="*/ 44 w 747"/>
                      <a:gd name="T5" fmla="*/ 168 h 555"/>
                      <a:gd name="T6" fmla="*/ 32 w 747"/>
                      <a:gd name="T7" fmla="*/ 196 h 555"/>
                      <a:gd name="T8" fmla="*/ 32 w 747"/>
                      <a:gd name="T9" fmla="*/ 223 h 555"/>
                      <a:gd name="T10" fmla="*/ 27 w 747"/>
                      <a:gd name="T11" fmla="*/ 255 h 555"/>
                      <a:gd name="T12" fmla="*/ 18 w 747"/>
                      <a:gd name="T13" fmla="*/ 278 h 555"/>
                      <a:gd name="T14" fmla="*/ 8 w 747"/>
                      <a:gd name="T15" fmla="*/ 314 h 555"/>
                      <a:gd name="T16" fmla="*/ 0 w 747"/>
                      <a:gd name="T17" fmla="*/ 347 h 555"/>
                      <a:gd name="T18" fmla="*/ 9 w 747"/>
                      <a:gd name="T19" fmla="*/ 391 h 555"/>
                      <a:gd name="T20" fmla="*/ 23 w 747"/>
                      <a:gd name="T21" fmla="*/ 421 h 555"/>
                      <a:gd name="T22" fmla="*/ 50 w 747"/>
                      <a:gd name="T23" fmla="*/ 442 h 555"/>
                      <a:gd name="T24" fmla="*/ 44 w 747"/>
                      <a:gd name="T25" fmla="*/ 426 h 555"/>
                      <a:gd name="T26" fmla="*/ 60 w 747"/>
                      <a:gd name="T27" fmla="*/ 423 h 555"/>
                      <a:gd name="T28" fmla="*/ 76 w 747"/>
                      <a:gd name="T29" fmla="*/ 436 h 555"/>
                      <a:gd name="T30" fmla="*/ 82 w 747"/>
                      <a:gd name="T31" fmla="*/ 434 h 555"/>
                      <a:gd name="T32" fmla="*/ 97 w 747"/>
                      <a:gd name="T33" fmla="*/ 428 h 555"/>
                      <a:gd name="T34" fmla="*/ 124 w 747"/>
                      <a:gd name="T35" fmla="*/ 419 h 555"/>
                      <a:gd name="T36" fmla="*/ 142 w 747"/>
                      <a:gd name="T37" fmla="*/ 394 h 555"/>
                      <a:gd name="T38" fmla="*/ 184 w 747"/>
                      <a:gd name="T39" fmla="*/ 400 h 555"/>
                      <a:gd name="T40" fmla="*/ 227 w 747"/>
                      <a:gd name="T41" fmla="*/ 391 h 555"/>
                      <a:gd name="T42" fmla="*/ 266 w 747"/>
                      <a:gd name="T43" fmla="*/ 365 h 555"/>
                      <a:gd name="T44" fmla="*/ 292 w 747"/>
                      <a:gd name="T45" fmla="*/ 341 h 555"/>
                      <a:gd name="T46" fmla="*/ 327 w 747"/>
                      <a:gd name="T47" fmla="*/ 337 h 555"/>
                      <a:gd name="T48" fmla="*/ 364 w 747"/>
                      <a:gd name="T49" fmla="*/ 356 h 555"/>
                      <a:gd name="T50" fmla="*/ 400 w 747"/>
                      <a:gd name="T51" fmla="*/ 391 h 555"/>
                      <a:gd name="T52" fmla="*/ 438 w 747"/>
                      <a:gd name="T53" fmla="*/ 417 h 555"/>
                      <a:gd name="T54" fmla="*/ 440 w 747"/>
                      <a:gd name="T55" fmla="*/ 446 h 555"/>
                      <a:gd name="T56" fmla="*/ 443 w 747"/>
                      <a:gd name="T57" fmla="*/ 468 h 555"/>
                      <a:gd name="T58" fmla="*/ 452 w 747"/>
                      <a:gd name="T59" fmla="*/ 501 h 555"/>
                      <a:gd name="T60" fmla="*/ 444 w 747"/>
                      <a:gd name="T61" fmla="*/ 555 h 555"/>
                      <a:gd name="T62" fmla="*/ 504 w 747"/>
                      <a:gd name="T63" fmla="*/ 536 h 555"/>
                      <a:gd name="T64" fmla="*/ 582 w 747"/>
                      <a:gd name="T65" fmla="*/ 503 h 555"/>
                      <a:gd name="T66" fmla="*/ 631 w 747"/>
                      <a:gd name="T67" fmla="*/ 467 h 555"/>
                      <a:gd name="T68" fmla="*/ 672 w 747"/>
                      <a:gd name="T69" fmla="*/ 451 h 555"/>
                      <a:gd name="T70" fmla="*/ 703 w 747"/>
                      <a:gd name="T71" fmla="*/ 417 h 555"/>
                      <a:gd name="T72" fmla="*/ 722 w 747"/>
                      <a:gd name="T73" fmla="*/ 374 h 555"/>
                      <a:gd name="T74" fmla="*/ 722 w 747"/>
                      <a:gd name="T75" fmla="*/ 332 h 555"/>
                      <a:gd name="T76" fmla="*/ 744 w 747"/>
                      <a:gd name="T77" fmla="*/ 292 h 555"/>
                      <a:gd name="T78" fmla="*/ 743 w 747"/>
                      <a:gd name="T79" fmla="*/ 248 h 555"/>
                      <a:gd name="T80" fmla="*/ 714 w 747"/>
                      <a:gd name="T81" fmla="*/ 188 h 555"/>
                      <a:gd name="T82" fmla="*/ 662 w 747"/>
                      <a:gd name="T83" fmla="*/ 120 h 555"/>
                      <a:gd name="T84" fmla="*/ 621 w 747"/>
                      <a:gd name="T85" fmla="*/ 78 h 555"/>
                      <a:gd name="T86" fmla="*/ 587 w 747"/>
                      <a:gd name="T87" fmla="*/ 59 h 555"/>
                      <a:gd name="T88" fmla="*/ 559 w 747"/>
                      <a:gd name="T89" fmla="*/ 24 h 555"/>
                      <a:gd name="T90" fmla="*/ 527 w 747"/>
                      <a:gd name="T91" fmla="*/ 3 h 555"/>
                      <a:gd name="T92" fmla="*/ 467 w 747"/>
                      <a:gd name="T93" fmla="*/ 2 h 555"/>
                      <a:gd name="T94" fmla="*/ 425 w 747"/>
                      <a:gd name="T95" fmla="*/ 10 h 555"/>
                      <a:gd name="T96" fmla="*/ 372 w 747"/>
                      <a:gd name="T97" fmla="*/ 10 h 555"/>
                      <a:gd name="T98" fmla="*/ 322 w 747"/>
                      <a:gd name="T99" fmla="*/ 2 h 555"/>
                      <a:gd name="T100" fmla="*/ 280 w 747"/>
                      <a:gd name="T101" fmla="*/ 5 h 555"/>
                      <a:gd name="T102" fmla="*/ 241 w 747"/>
                      <a:gd name="T103" fmla="*/ 19 h 555"/>
                      <a:gd name="T104" fmla="*/ 201 w 747"/>
                      <a:gd name="T105" fmla="*/ 30 h 555"/>
                      <a:gd name="T106" fmla="*/ 174 w 747"/>
                      <a:gd name="T107" fmla="*/ 61 h 555"/>
                      <a:gd name="T108" fmla="*/ 130 w 747"/>
                      <a:gd name="T109" fmla="*/ 87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7" h="555">
                        <a:moveTo>
                          <a:pt x="130" y="87"/>
                        </a:moveTo>
                        <a:lnTo>
                          <a:pt x="111" y="98"/>
                        </a:lnTo>
                        <a:lnTo>
                          <a:pt x="94" y="114"/>
                        </a:lnTo>
                        <a:lnTo>
                          <a:pt x="73" y="138"/>
                        </a:lnTo>
                        <a:lnTo>
                          <a:pt x="58" y="150"/>
                        </a:lnTo>
                        <a:lnTo>
                          <a:pt x="44" y="168"/>
                        </a:lnTo>
                        <a:lnTo>
                          <a:pt x="36" y="181"/>
                        </a:lnTo>
                        <a:lnTo>
                          <a:pt x="32" y="196"/>
                        </a:lnTo>
                        <a:lnTo>
                          <a:pt x="30" y="209"/>
                        </a:lnTo>
                        <a:lnTo>
                          <a:pt x="32" y="223"/>
                        </a:lnTo>
                        <a:lnTo>
                          <a:pt x="35" y="240"/>
                        </a:lnTo>
                        <a:lnTo>
                          <a:pt x="27" y="255"/>
                        </a:lnTo>
                        <a:lnTo>
                          <a:pt x="21" y="265"/>
                        </a:lnTo>
                        <a:lnTo>
                          <a:pt x="18" y="278"/>
                        </a:lnTo>
                        <a:lnTo>
                          <a:pt x="15" y="295"/>
                        </a:lnTo>
                        <a:lnTo>
                          <a:pt x="8" y="314"/>
                        </a:lnTo>
                        <a:lnTo>
                          <a:pt x="3" y="329"/>
                        </a:lnTo>
                        <a:lnTo>
                          <a:pt x="0" y="347"/>
                        </a:lnTo>
                        <a:lnTo>
                          <a:pt x="2" y="369"/>
                        </a:lnTo>
                        <a:lnTo>
                          <a:pt x="9" y="391"/>
                        </a:lnTo>
                        <a:lnTo>
                          <a:pt x="15" y="407"/>
                        </a:lnTo>
                        <a:lnTo>
                          <a:pt x="23" y="421"/>
                        </a:lnTo>
                        <a:lnTo>
                          <a:pt x="34" y="431"/>
                        </a:lnTo>
                        <a:lnTo>
                          <a:pt x="50" y="442"/>
                        </a:lnTo>
                        <a:lnTo>
                          <a:pt x="43" y="432"/>
                        </a:lnTo>
                        <a:lnTo>
                          <a:pt x="44" y="426"/>
                        </a:lnTo>
                        <a:lnTo>
                          <a:pt x="52" y="422"/>
                        </a:lnTo>
                        <a:lnTo>
                          <a:pt x="60" y="423"/>
                        </a:lnTo>
                        <a:lnTo>
                          <a:pt x="69" y="427"/>
                        </a:lnTo>
                        <a:lnTo>
                          <a:pt x="76" y="436"/>
                        </a:lnTo>
                        <a:lnTo>
                          <a:pt x="88" y="444"/>
                        </a:lnTo>
                        <a:lnTo>
                          <a:pt x="82" y="434"/>
                        </a:lnTo>
                        <a:lnTo>
                          <a:pt x="81" y="426"/>
                        </a:lnTo>
                        <a:lnTo>
                          <a:pt x="97" y="428"/>
                        </a:lnTo>
                        <a:lnTo>
                          <a:pt x="111" y="426"/>
                        </a:lnTo>
                        <a:lnTo>
                          <a:pt x="124" y="419"/>
                        </a:lnTo>
                        <a:lnTo>
                          <a:pt x="133" y="409"/>
                        </a:lnTo>
                        <a:lnTo>
                          <a:pt x="142" y="394"/>
                        </a:lnTo>
                        <a:lnTo>
                          <a:pt x="163" y="399"/>
                        </a:lnTo>
                        <a:lnTo>
                          <a:pt x="184" y="400"/>
                        </a:lnTo>
                        <a:lnTo>
                          <a:pt x="206" y="397"/>
                        </a:lnTo>
                        <a:lnTo>
                          <a:pt x="227" y="391"/>
                        </a:lnTo>
                        <a:lnTo>
                          <a:pt x="247" y="380"/>
                        </a:lnTo>
                        <a:lnTo>
                          <a:pt x="266" y="365"/>
                        </a:lnTo>
                        <a:lnTo>
                          <a:pt x="279" y="351"/>
                        </a:lnTo>
                        <a:lnTo>
                          <a:pt x="292" y="341"/>
                        </a:lnTo>
                        <a:lnTo>
                          <a:pt x="307" y="334"/>
                        </a:lnTo>
                        <a:lnTo>
                          <a:pt x="327" y="337"/>
                        </a:lnTo>
                        <a:lnTo>
                          <a:pt x="353" y="338"/>
                        </a:lnTo>
                        <a:lnTo>
                          <a:pt x="364" y="356"/>
                        </a:lnTo>
                        <a:lnTo>
                          <a:pt x="379" y="376"/>
                        </a:lnTo>
                        <a:lnTo>
                          <a:pt x="400" y="391"/>
                        </a:lnTo>
                        <a:lnTo>
                          <a:pt x="427" y="407"/>
                        </a:lnTo>
                        <a:lnTo>
                          <a:pt x="438" y="417"/>
                        </a:lnTo>
                        <a:lnTo>
                          <a:pt x="444" y="434"/>
                        </a:lnTo>
                        <a:lnTo>
                          <a:pt x="440" y="446"/>
                        </a:lnTo>
                        <a:lnTo>
                          <a:pt x="439" y="458"/>
                        </a:lnTo>
                        <a:lnTo>
                          <a:pt x="443" y="468"/>
                        </a:lnTo>
                        <a:lnTo>
                          <a:pt x="450" y="479"/>
                        </a:lnTo>
                        <a:lnTo>
                          <a:pt x="452" y="501"/>
                        </a:lnTo>
                        <a:lnTo>
                          <a:pt x="450" y="527"/>
                        </a:lnTo>
                        <a:lnTo>
                          <a:pt x="444" y="555"/>
                        </a:lnTo>
                        <a:lnTo>
                          <a:pt x="469" y="547"/>
                        </a:lnTo>
                        <a:lnTo>
                          <a:pt x="504" y="536"/>
                        </a:lnTo>
                        <a:lnTo>
                          <a:pt x="546" y="521"/>
                        </a:lnTo>
                        <a:lnTo>
                          <a:pt x="582" y="503"/>
                        </a:lnTo>
                        <a:lnTo>
                          <a:pt x="609" y="485"/>
                        </a:lnTo>
                        <a:lnTo>
                          <a:pt x="631" y="467"/>
                        </a:lnTo>
                        <a:lnTo>
                          <a:pt x="651" y="461"/>
                        </a:lnTo>
                        <a:lnTo>
                          <a:pt x="672" y="451"/>
                        </a:lnTo>
                        <a:lnTo>
                          <a:pt x="690" y="437"/>
                        </a:lnTo>
                        <a:lnTo>
                          <a:pt x="703" y="417"/>
                        </a:lnTo>
                        <a:lnTo>
                          <a:pt x="713" y="398"/>
                        </a:lnTo>
                        <a:lnTo>
                          <a:pt x="722" y="374"/>
                        </a:lnTo>
                        <a:lnTo>
                          <a:pt x="725" y="351"/>
                        </a:lnTo>
                        <a:lnTo>
                          <a:pt x="722" y="332"/>
                        </a:lnTo>
                        <a:lnTo>
                          <a:pt x="735" y="315"/>
                        </a:lnTo>
                        <a:lnTo>
                          <a:pt x="744" y="292"/>
                        </a:lnTo>
                        <a:lnTo>
                          <a:pt x="747" y="269"/>
                        </a:lnTo>
                        <a:lnTo>
                          <a:pt x="743" y="248"/>
                        </a:lnTo>
                        <a:lnTo>
                          <a:pt x="734" y="226"/>
                        </a:lnTo>
                        <a:lnTo>
                          <a:pt x="714" y="188"/>
                        </a:lnTo>
                        <a:lnTo>
                          <a:pt x="687" y="152"/>
                        </a:lnTo>
                        <a:lnTo>
                          <a:pt x="662" y="120"/>
                        </a:lnTo>
                        <a:lnTo>
                          <a:pt x="640" y="93"/>
                        </a:lnTo>
                        <a:lnTo>
                          <a:pt x="621" y="78"/>
                        </a:lnTo>
                        <a:lnTo>
                          <a:pt x="607" y="69"/>
                        </a:lnTo>
                        <a:lnTo>
                          <a:pt x="587" y="59"/>
                        </a:lnTo>
                        <a:lnTo>
                          <a:pt x="569" y="46"/>
                        </a:lnTo>
                        <a:lnTo>
                          <a:pt x="559" y="24"/>
                        </a:lnTo>
                        <a:lnTo>
                          <a:pt x="545" y="12"/>
                        </a:lnTo>
                        <a:lnTo>
                          <a:pt x="527" y="3"/>
                        </a:lnTo>
                        <a:lnTo>
                          <a:pt x="494" y="0"/>
                        </a:lnTo>
                        <a:lnTo>
                          <a:pt x="467" y="2"/>
                        </a:lnTo>
                        <a:lnTo>
                          <a:pt x="446" y="6"/>
                        </a:lnTo>
                        <a:lnTo>
                          <a:pt x="425" y="10"/>
                        </a:lnTo>
                        <a:lnTo>
                          <a:pt x="399" y="13"/>
                        </a:lnTo>
                        <a:lnTo>
                          <a:pt x="372" y="10"/>
                        </a:lnTo>
                        <a:lnTo>
                          <a:pt x="348" y="6"/>
                        </a:lnTo>
                        <a:lnTo>
                          <a:pt x="322" y="2"/>
                        </a:lnTo>
                        <a:lnTo>
                          <a:pt x="301" y="1"/>
                        </a:lnTo>
                        <a:lnTo>
                          <a:pt x="280" y="5"/>
                        </a:lnTo>
                        <a:lnTo>
                          <a:pt x="260" y="10"/>
                        </a:lnTo>
                        <a:lnTo>
                          <a:pt x="241" y="19"/>
                        </a:lnTo>
                        <a:lnTo>
                          <a:pt x="221" y="24"/>
                        </a:lnTo>
                        <a:lnTo>
                          <a:pt x="201" y="30"/>
                        </a:lnTo>
                        <a:lnTo>
                          <a:pt x="188" y="44"/>
                        </a:lnTo>
                        <a:lnTo>
                          <a:pt x="174" y="61"/>
                        </a:lnTo>
                        <a:lnTo>
                          <a:pt x="157" y="76"/>
                        </a:lnTo>
                        <a:lnTo>
                          <a:pt x="130" y="8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7" name="Freeform 379"/>
                  <p:cNvSpPr/>
                  <p:nvPr/>
                </p:nvSpPr>
                <p:spPr bwMode="auto">
                  <a:xfrm>
                    <a:off x="2678" y="2943"/>
                    <a:ext cx="51" cy="40"/>
                  </a:xfrm>
                  <a:custGeom>
                    <a:avLst/>
                    <a:gdLst>
                      <a:gd name="T0" fmla="*/ 21 w 356"/>
                      <a:gd name="T1" fmla="*/ 147 h 319"/>
                      <a:gd name="T2" fmla="*/ 62 w 356"/>
                      <a:gd name="T3" fmla="*/ 169 h 319"/>
                      <a:gd name="T4" fmla="*/ 94 w 356"/>
                      <a:gd name="T5" fmla="*/ 195 h 319"/>
                      <a:gd name="T6" fmla="*/ 116 w 356"/>
                      <a:gd name="T7" fmla="*/ 238 h 319"/>
                      <a:gd name="T8" fmla="*/ 139 w 356"/>
                      <a:gd name="T9" fmla="*/ 275 h 319"/>
                      <a:gd name="T10" fmla="*/ 133 w 356"/>
                      <a:gd name="T11" fmla="*/ 319 h 319"/>
                      <a:gd name="T12" fmla="*/ 156 w 356"/>
                      <a:gd name="T13" fmla="*/ 298 h 319"/>
                      <a:gd name="T14" fmla="*/ 163 w 356"/>
                      <a:gd name="T15" fmla="*/ 263 h 319"/>
                      <a:gd name="T16" fmla="*/ 172 w 356"/>
                      <a:gd name="T17" fmla="*/ 290 h 319"/>
                      <a:gd name="T18" fmla="*/ 180 w 356"/>
                      <a:gd name="T19" fmla="*/ 291 h 319"/>
                      <a:gd name="T20" fmla="*/ 207 w 356"/>
                      <a:gd name="T21" fmla="*/ 287 h 319"/>
                      <a:gd name="T22" fmla="*/ 204 w 356"/>
                      <a:gd name="T23" fmla="*/ 265 h 319"/>
                      <a:gd name="T24" fmla="*/ 219 w 356"/>
                      <a:gd name="T25" fmla="*/ 255 h 319"/>
                      <a:gd name="T26" fmla="*/ 224 w 356"/>
                      <a:gd name="T27" fmla="*/ 249 h 319"/>
                      <a:gd name="T28" fmla="*/ 222 w 356"/>
                      <a:gd name="T29" fmla="*/ 214 h 319"/>
                      <a:gd name="T30" fmla="*/ 251 w 356"/>
                      <a:gd name="T31" fmla="*/ 229 h 319"/>
                      <a:gd name="T32" fmla="*/ 258 w 356"/>
                      <a:gd name="T33" fmla="*/ 263 h 319"/>
                      <a:gd name="T34" fmla="*/ 272 w 356"/>
                      <a:gd name="T35" fmla="*/ 217 h 319"/>
                      <a:gd name="T36" fmla="*/ 261 w 356"/>
                      <a:gd name="T37" fmla="*/ 146 h 319"/>
                      <a:gd name="T38" fmla="*/ 287 w 356"/>
                      <a:gd name="T39" fmla="*/ 167 h 319"/>
                      <a:gd name="T40" fmla="*/ 304 w 356"/>
                      <a:gd name="T41" fmla="*/ 182 h 319"/>
                      <a:gd name="T42" fmla="*/ 311 w 356"/>
                      <a:gd name="T43" fmla="*/ 155 h 319"/>
                      <a:gd name="T44" fmla="*/ 304 w 356"/>
                      <a:gd name="T45" fmla="*/ 124 h 319"/>
                      <a:gd name="T46" fmla="*/ 308 w 356"/>
                      <a:gd name="T47" fmla="*/ 105 h 319"/>
                      <a:gd name="T48" fmla="*/ 323 w 356"/>
                      <a:gd name="T49" fmla="*/ 136 h 319"/>
                      <a:gd name="T50" fmla="*/ 343 w 356"/>
                      <a:gd name="T51" fmla="*/ 160 h 319"/>
                      <a:gd name="T52" fmla="*/ 341 w 356"/>
                      <a:gd name="T53" fmla="*/ 134 h 319"/>
                      <a:gd name="T54" fmla="*/ 296 w 356"/>
                      <a:gd name="T55" fmla="*/ 71 h 319"/>
                      <a:gd name="T56" fmla="*/ 247 w 356"/>
                      <a:gd name="T57" fmla="*/ 17 h 319"/>
                      <a:gd name="T58" fmla="*/ 213 w 356"/>
                      <a:gd name="T59" fmla="*/ 15 h 319"/>
                      <a:gd name="T60" fmla="*/ 226 w 356"/>
                      <a:gd name="T61" fmla="*/ 42 h 319"/>
                      <a:gd name="T62" fmla="*/ 254 w 356"/>
                      <a:gd name="T63" fmla="*/ 78 h 319"/>
                      <a:gd name="T64" fmla="*/ 270 w 356"/>
                      <a:gd name="T65" fmla="*/ 113 h 319"/>
                      <a:gd name="T66" fmla="*/ 264 w 356"/>
                      <a:gd name="T67" fmla="*/ 123 h 319"/>
                      <a:gd name="T68" fmla="*/ 243 w 356"/>
                      <a:gd name="T69" fmla="*/ 128 h 319"/>
                      <a:gd name="T70" fmla="*/ 210 w 356"/>
                      <a:gd name="T71" fmla="*/ 74 h 319"/>
                      <a:gd name="T72" fmla="*/ 160 w 356"/>
                      <a:gd name="T73" fmla="*/ 12 h 319"/>
                      <a:gd name="T74" fmla="*/ 197 w 356"/>
                      <a:gd name="T75" fmla="*/ 78 h 319"/>
                      <a:gd name="T76" fmla="*/ 226 w 356"/>
                      <a:gd name="T77" fmla="*/ 138 h 319"/>
                      <a:gd name="T78" fmla="*/ 227 w 356"/>
                      <a:gd name="T79" fmla="*/ 161 h 319"/>
                      <a:gd name="T80" fmla="*/ 215 w 356"/>
                      <a:gd name="T81" fmla="*/ 167 h 319"/>
                      <a:gd name="T82" fmla="*/ 204 w 356"/>
                      <a:gd name="T83" fmla="*/ 192 h 319"/>
                      <a:gd name="T84" fmla="*/ 188 w 356"/>
                      <a:gd name="T85" fmla="*/ 122 h 319"/>
                      <a:gd name="T86" fmla="*/ 159 w 356"/>
                      <a:gd name="T87" fmla="*/ 65 h 319"/>
                      <a:gd name="T88" fmla="*/ 123 w 356"/>
                      <a:gd name="T89" fmla="*/ 20 h 319"/>
                      <a:gd name="T90" fmla="*/ 114 w 356"/>
                      <a:gd name="T91" fmla="*/ 29 h 319"/>
                      <a:gd name="T92" fmla="*/ 143 w 356"/>
                      <a:gd name="T93" fmla="*/ 72 h 319"/>
                      <a:gd name="T94" fmla="*/ 171 w 356"/>
                      <a:gd name="T95" fmla="*/ 133 h 319"/>
                      <a:gd name="T96" fmla="*/ 183 w 356"/>
                      <a:gd name="T97" fmla="*/ 235 h 319"/>
                      <a:gd name="T98" fmla="*/ 153 w 356"/>
                      <a:gd name="T99" fmla="*/ 137 h 319"/>
                      <a:gd name="T100" fmla="*/ 153 w 356"/>
                      <a:gd name="T101" fmla="*/ 205 h 319"/>
                      <a:gd name="T102" fmla="*/ 144 w 356"/>
                      <a:gd name="T103" fmla="*/ 250 h 319"/>
                      <a:gd name="T104" fmla="*/ 130 w 356"/>
                      <a:gd name="T105" fmla="*/ 204 h 319"/>
                      <a:gd name="T106" fmla="*/ 123 w 356"/>
                      <a:gd name="T107" fmla="*/ 167 h 319"/>
                      <a:gd name="T108" fmla="*/ 122 w 356"/>
                      <a:gd name="T109" fmla="*/ 137 h 319"/>
                      <a:gd name="T110" fmla="*/ 115 w 356"/>
                      <a:gd name="T111" fmla="*/ 164 h 319"/>
                      <a:gd name="T112" fmla="*/ 90 w 356"/>
                      <a:gd name="T113" fmla="*/ 165 h 319"/>
                      <a:gd name="T114" fmla="*/ 56 w 356"/>
                      <a:gd name="T115" fmla="*/ 145 h 319"/>
                      <a:gd name="T116" fmla="*/ 18 w 356"/>
                      <a:gd name="T117" fmla="*/ 136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6" h="319">
                        <a:moveTo>
                          <a:pt x="0" y="137"/>
                        </a:moveTo>
                        <a:lnTo>
                          <a:pt x="21" y="147"/>
                        </a:lnTo>
                        <a:lnTo>
                          <a:pt x="42" y="157"/>
                        </a:lnTo>
                        <a:lnTo>
                          <a:pt x="62" y="169"/>
                        </a:lnTo>
                        <a:lnTo>
                          <a:pt x="80" y="183"/>
                        </a:lnTo>
                        <a:lnTo>
                          <a:pt x="94" y="195"/>
                        </a:lnTo>
                        <a:lnTo>
                          <a:pt x="103" y="207"/>
                        </a:lnTo>
                        <a:lnTo>
                          <a:pt x="116" y="238"/>
                        </a:lnTo>
                        <a:lnTo>
                          <a:pt x="130" y="292"/>
                        </a:lnTo>
                        <a:lnTo>
                          <a:pt x="139" y="275"/>
                        </a:lnTo>
                        <a:lnTo>
                          <a:pt x="138" y="293"/>
                        </a:lnTo>
                        <a:lnTo>
                          <a:pt x="133" y="319"/>
                        </a:lnTo>
                        <a:lnTo>
                          <a:pt x="148" y="310"/>
                        </a:lnTo>
                        <a:lnTo>
                          <a:pt x="156" y="298"/>
                        </a:lnTo>
                        <a:lnTo>
                          <a:pt x="161" y="283"/>
                        </a:lnTo>
                        <a:lnTo>
                          <a:pt x="163" y="263"/>
                        </a:lnTo>
                        <a:lnTo>
                          <a:pt x="170" y="276"/>
                        </a:lnTo>
                        <a:lnTo>
                          <a:pt x="172" y="290"/>
                        </a:lnTo>
                        <a:lnTo>
                          <a:pt x="169" y="298"/>
                        </a:lnTo>
                        <a:lnTo>
                          <a:pt x="180" y="291"/>
                        </a:lnTo>
                        <a:lnTo>
                          <a:pt x="189" y="281"/>
                        </a:lnTo>
                        <a:lnTo>
                          <a:pt x="207" y="287"/>
                        </a:lnTo>
                        <a:lnTo>
                          <a:pt x="203" y="277"/>
                        </a:lnTo>
                        <a:lnTo>
                          <a:pt x="204" y="265"/>
                        </a:lnTo>
                        <a:lnTo>
                          <a:pt x="207" y="253"/>
                        </a:lnTo>
                        <a:lnTo>
                          <a:pt x="219" y="255"/>
                        </a:lnTo>
                        <a:lnTo>
                          <a:pt x="231" y="263"/>
                        </a:lnTo>
                        <a:lnTo>
                          <a:pt x="224" y="249"/>
                        </a:lnTo>
                        <a:lnTo>
                          <a:pt x="220" y="232"/>
                        </a:lnTo>
                        <a:lnTo>
                          <a:pt x="222" y="214"/>
                        </a:lnTo>
                        <a:lnTo>
                          <a:pt x="236" y="220"/>
                        </a:lnTo>
                        <a:lnTo>
                          <a:pt x="251" y="229"/>
                        </a:lnTo>
                        <a:lnTo>
                          <a:pt x="261" y="242"/>
                        </a:lnTo>
                        <a:lnTo>
                          <a:pt x="258" y="263"/>
                        </a:lnTo>
                        <a:lnTo>
                          <a:pt x="272" y="235"/>
                        </a:lnTo>
                        <a:lnTo>
                          <a:pt x="272" y="217"/>
                        </a:lnTo>
                        <a:lnTo>
                          <a:pt x="275" y="187"/>
                        </a:lnTo>
                        <a:lnTo>
                          <a:pt x="261" y="146"/>
                        </a:lnTo>
                        <a:lnTo>
                          <a:pt x="274" y="156"/>
                        </a:lnTo>
                        <a:lnTo>
                          <a:pt x="287" y="167"/>
                        </a:lnTo>
                        <a:lnTo>
                          <a:pt x="294" y="187"/>
                        </a:lnTo>
                        <a:lnTo>
                          <a:pt x="304" y="182"/>
                        </a:lnTo>
                        <a:lnTo>
                          <a:pt x="309" y="170"/>
                        </a:lnTo>
                        <a:lnTo>
                          <a:pt x="311" y="155"/>
                        </a:lnTo>
                        <a:lnTo>
                          <a:pt x="309" y="143"/>
                        </a:lnTo>
                        <a:lnTo>
                          <a:pt x="304" y="124"/>
                        </a:lnTo>
                        <a:lnTo>
                          <a:pt x="294" y="101"/>
                        </a:lnTo>
                        <a:lnTo>
                          <a:pt x="308" y="105"/>
                        </a:lnTo>
                        <a:lnTo>
                          <a:pt x="318" y="119"/>
                        </a:lnTo>
                        <a:lnTo>
                          <a:pt x="323" y="136"/>
                        </a:lnTo>
                        <a:lnTo>
                          <a:pt x="332" y="153"/>
                        </a:lnTo>
                        <a:lnTo>
                          <a:pt x="343" y="160"/>
                        </a:lnTo>
                        <a:lnTo>
                          <a:pt x="356" y="165"/>
                        </a:lnTo>
                        <a:lnTo>
                          <a:pt x="341" y="134"/>
                        </a:lnTo>
                        <a:lnTo>
                          <a:pt x="324" y="107"/>
                        </a:lnTo>
                        <a:lnTo>
                          <a:pt x="296" y="71"/>
                        </a:lnTo>
                        <a:lnTo>
                          <a:pt x="273" y="41"/>
                        </a:lnTo>
                        <a:lnTo>
                          <a:pt x="247" y="17"/>
                        </a:lnTo>
                        <a:lnTo>
                          <a:pt x="222" y="0"/>
                        </a:lnTo>
                        <a:lnTo>
                          <a:pt x="213" y="15"/>
                        </a:lnTo>
                        <a:lnTo>
                          <a:pt x="200" y="24"/>
                        </a:lnTo>
                        <a:lnTo>
                          <a:pt x="226" y="42"/>
                        </a:lnTo>
                        <a:lnTo>
                          <a:pt x="240" y="59"/>
                        </a:lnTo>
                        <a:lnTo>
                          <a:pt x="254" y="78"/>
                        </a:lnTo>
                        <a:lnTo>
                          <a:pt x="263" y="95"/>
                        </a:lnTo>
                        <a:lnTo>
                          <a:pt x="270" y="113"/>
                        </a:lnTo>
                        <a:lnTo>
                          <a:pt x="275" y="131"/>
                        </a:lnTo>
                        <a:lnTo>
                          <a:pt x="264" y="123"/>
                        </a:lnTo>
                        <a:lnTo>
                          <a:pt x="249" y="116"/>
                        </a:lnTo>
                        <a:lnTo>
                          <a:pt x="243" y="128"/>
                        </a:lnTo>
                        <a:lnTo>
                          <a:pt x="227" y="98"/>
                        </a:lnTo>
                        <a:lnTo>
                          <a:pt x="210" y="74"/>
                        </a:lnTo>
                        <a:lnTo>
                          <a:pt x="185" y="41"/>
                        </a:lnTo>
                        <a:lnTo>
                          <a:pt x="160" y="12"/>
                        </a:lnTo>
                        <a:lnTo>
                          <a:pt x="184" y="52"/>
                        </a:lnTo>
                        <a:lnTo>
                          <a:pt x="197" y="78"/>
                        </a:lnTo>
                        <a:lnTo>
                          <a:pt x="210" y="105"/>
                        </a:lnTo>
                        <a:lnTo>
                          <a:pt x="226" y="138"/>
                        </a:lnTo>
                        <a:lnTo>
                          <a:pt x="243" y="181"/>
                        </a:lnTo>
                        <a:lnTo>
                          <a:pt x="227" y="161"/>
                        </a:lnTo>
                        <a:lnTo>
                          <a:pt x="210" y="150"/>
                        </a:lnTo>
                        <a:lnTo>
                          <a:pt x="215" y="167"/>
                        </a:lnTo>
                        <a:lnTo>
                          <a:pt x="210" y="183"/>
                        </a:lnTo>
                        <a:lnTo>
                          <a:pt x="204" y="192"/>
                        </a:lnTo>
                        <a:lnTo>
                          <a:pt x="197" y="155"/>
                        </a:lnTo>
                        <a:lnTo>
                          <a:pt x="188" y="122"/>
                        </a:lnTo>
                        <a:lnTo>
                          <a:pt x="175" y="92"/>
                        </a:lnTo>
                        <a:lnTo>
                          <a:pt x="159" y="65"/>
                        </a:lnTo>
                        <a:lnTo>
                          <a:pt x="144" y="43"/>
                        </a:lnTo>
                        <a:lnTo>
                          <a:pt x="123" y="20"/>
                        </a:lnTo>
                        <a:lnTo>
                          <a:pt x="95" y="0"/>
                        </a:lnTo>
                        <a:lnTo>
                          <a:pt x="114" y="29"/>
                        </a:lnTo>
                        <a:lnTo>
                          <a:pt x="128" y="48"/>
                        </a:lnTo>
                        <a:lnTo>
                          <a:pt x="143" y="72"/>
                        </a:lnTo>
                        <a:lnTo>
                          <a:pt x="159" y="102"/>
                        </a:lnTo>
                        <a:lnTo>
                          <a:pt x="171" y="133"/>
                        </a:lnTo>
                        <a:lnTo>
                          <a:pt x="180" y="173"/>
                        </a:lnTo>
                        <a:lnTo>
                          <a:pt x="183" y="235"/>
                        </a:lnTo>
                        <a:lnTo>
                          <a:pt x="169" y="192"/>
                        </a:lnTo>
                        <a:lnTo>
                          <a:pt x="153" y="137"/>
                        </a:lnTo>
                        <a:lnTo>
                          <a:pt x="155" y="172"/>
                        </a:lnTo>
                        <a:lnTo>
                          <a:pt x="153" y="205"/>
                        </a:lnTo>
                        <a:lnTo>
                          <a:pt x="149" y="228"/>
                        </a:lnTo>
                        <a:lnTo>
                          <a:pt x="144" y="250"/>
                        </a:lnTo>
                        <a:lnTo>
                          <a:pt x="137" y="225"/>
                        </a:lnTo>
                        <a:lnTo>
                          <a:pt x="130" y="204"/>
                        </a:lnTo>
                        <a:lnTo>
                          <a:pt x="119" y="181"/>
                        </a:lnTo>
                        <a:lnTo>
                          <a:pt x="123" y="167"/>
                        </a:lnTo>
                        <a:lnTo>
                          <a:pt x="126" y="154"/>
                        </a:lnTo>
                        <a:lnTo>
                          <a:pt x="122" y="137"/>
                        </a:lnTo>
                        <a:lnTo>
                          <a:pt x="118" y="154"/>
                        </a:lnTo>
                        <a:lnTo>
                          <a:pt x="115" y="164"/>
                        </a:lnTo>
                        <a:lnTo>
                          <a:pt x="106" y="176"/>
                        </a:lnTo>
                        <a:lnTo>
                          <a:pt x="90" y="165"/>
                        </a:lnTo>
                        <a:lnTo>
                          <a:pt x="74" y="154"/>
                        </a:lnTo>
                        <a:lnTo>
                          <a:pt x="56" y="145"/>
                        </a:lnTo>
                        <a:lnTo>
                          <a:pt x="38" y="140"/>
                        </a:lnTo>
                        <a:lnTo>
                          <a:pt x="18" y="136"/>
                        </a:lnTo>
                        <a:lnTo>
                          <a:pt x="0" y="137"/>
                        </a:lnTo>
                        <a:close/>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nvGrpSpPr>
          <p:cNvPr id="642428" name="Group 380"/>
          <p:cNvGrpSpPr/>
          <p:nvPr/>
        </p:nvGrpSpPr>
        <p:grpSpPr bwMode="auto">
          <a:xfrm>
            <a:off x="1600200" y="3886200"/>
            <a:ext cx="1143000" cy="762000"/>
            <a:chOff x="4560" y="518"/>
            <a:chExt cx="619" cy="924"/>
          </a:xfrm>
        </p:grpSpPr>
        <p:pic>
          <p:nvPicPr>
            <p:cNvPr id="642429" name="Picture 381"/>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815" y="614"/>
              <a:ext cx="364"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2430" name="Picture 38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60" y="518"/>
              <a:ext cx="491" cy="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42432" name="Group 384"/>
          <p:cNvGrpSpPr/>
          <p:nvPr/>
        </p:nvGrpSpPr>
        <p:grpSpPr bwMode="auto">
          <a:xfrm>
            <a:off x="3733807" y="3886200"/>
            <a:ext cx="974725" cy="685800"/>
            <a:chOff x="10295" y="7532"/>
            <a:chExt cx="498" cy="332"/>
          </a:xfrm>
        </p:grpSpPr>
        <p:sp>
          <p:nvSpPr>
            <p:cNvPr id="642433" name="Rectangle 385"/>
            <p:cNvSpPr>
              <a:spLocks noChangeArrowheads="1"/>
            </p:cNvSpPr>
            <p:nvPr/>
          </p:nvSpPr>
          <p:spPr bwMode="auto">
            <a:xfrm>
              <a:off x="10295" y="7568"/>
              <a:ext cx="441" cy="296"/>
            </a:xfrm>
            <a:prstGeom prst="rect">
              <a:avLst/>
            </a:prstGeom>
            <a:solidFill>
              <a:srgbClr val="009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2434" name="Rectangle 386"/>
            <p:cNvSpPr>
              <a:spLocks noChangeArrowheads="1"/>
            </p:cNvSpPr>
            <p:nvPr/>
          </p:nvSpPr>
          <p:spPr bwMode="auto">
            <a:xfrm>
              <a:off x="10297" y="7570"/>
              <a:ext cx="437" cy="292"/>
            </a:xfrm>
            <a:prstGeom prst="rect">
              <a:avLst/>
            </a:prstGeom>
            <a:solidFill>
              <a:srgbClr val="0096D5"/>
            </a:solidFill>
            <a:ln w="2540">
              <a:solidFill>
                <a:srgbClr val="AAE6FF"/>
              </a:solidFill>
              <a:miter lim="800000"/>
            </a:ln>
          </p:spPr>
          <p:txBody>
            <a:bodyPr/>
            <a:lstStyle/>
            <a:p>
              <a:endParaRPr lang="zh-CN" altLang="en-US"/>
            </a:p>
          </p:txBody>
        </p:sp>
        <p:sp>
          <p:nvSpPr>
            <p:cNvPr id="642435" name="Freeform 387"/>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6" name="Freeform 388"/>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w="2540">
              <a:solidFill>
                <a:srgbClr val="AAE6FF"/>
              </a:solidFill>
              <a:round/>
            </a:ln>
          </p:spPr>
          <p:txBody>
            <a:bodyPr/>
            <a:lstStyle/>
            <a:p>
              <a:endParaRPr lang="zh-CN" altLang="en-US"/>
            </a:p>
          </p:txBody>
        </p:sp>
        <p:sp>
          <p:nvSpPr>
            <p:cNvPr id="642437" name="Freeform 389"/>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8" name="Freeform 390"/>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w="2540">
              <a:solidFill>
                <a:srgbClr val="AAE6FF"/>
              </a:solidFill>
              <a:round/>
            </a:ln>
          </p:spPr>
          <p:txBody>
            <a:bodyPr/>
            <a:lstStyle/>
            <a:p>
              <a:endParaRPr lang="zh-CN" altLang="en-US"/>
            </a:p>
          </p:txBody>
        </p:sp>
        <p:grpSp>
          <p:nvGrpSpPr>
            <p:cNvPr id="642439" name="Group 391"/>
            <p:cNvGrpSpPr/>
            <p:nvPr/>
          </p:nvGrpSpPr>
          <p:grpSpPr bwMode="auto">
            <a:xfrm>
              <a:off x="10327" y="7595"/>
              <a:ext cx="389" cy="252"/>
              <a:chOff x="10327" y="7595"/>
              <a:chExt cx="389" cy="252"/>
            </a:xfrm>
          </p:grpSpPr>
          <p:sp>
            <p:nvSpPr>
              <p:cNvPr id="642440" name="Freeform 392"/>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1" name="Freeform 393"/>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2" name="Freeform 394"/>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3" name="Freeform 395"/>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cxnSp>
        <p:nvCxnSpPr>
          <p:cNvPr id="642444" name="AutoShape 396"/>
          <p:cNvCxnSpPr>
            <a:cxnSpLocks noChangeShapeType="1"/>
            <a:stCxn id="642430" idx="0"/>
            <a:endCxn id="642436" idx="1"/>
          </p:cNvCxnSpPr>
          <p:nvPr/>
        </p:nvCxnSpPr>
        <p:spPr bwMode="auto">
          <a:xfrm rot="5400000" flipV="1">
            <a:off x="2947989" y="2992445"/>
            <a:ext cx="1588" cy="1789113"/>
          </a:xfrm>
          <a:prstGeom prst="curvedConnector4">
            <a:avLst>
              <a:gd name="adj1" fmla="val -14400000"/>
              <a:gd name="adj2" fmla="val 59537"/>
            </a:avLst>
          </a:prstGeom>
          <a:noFill/>
          <a:ln w="5080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2445" name="AutoShape 397"/>
          <p:cNvCxnSpPr>
            <a:cxnSpLocks noChangeShapeType="1"/>
            <a:stCxn id="642443" idx="6"/>
            <a:endCxn id="642252" idx="1"/>
          </p:cNvCxnSpPr>
          <p:nvPr/>
        </p:nvCxnSpPr>
        <p:spPr bwMode="auto">
          <a:xfrm>
            <a:off x="4448176" y="4021139"/>
            <a:ext cx="1962151" cy="1270000"/>
          </a:xfrm>
          <a:prstGeom prst="curvedConnector3">
            <a:avLst>
              <a:gd name="adj1" fmla="val 52509"/>
            </a:avLst>
          </a:prstGeom>
          <a:noFill/>
          <a:ln w="508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10.6.1 </a:t>
            </a:r>
            <a:r>
              <a:rPr lang="zh-CN" altLang="en-US" sz="4400" b="1">
                <a:latin typeface="Times New Roman" panose="02020603050405020304" pitchFamily="18" charset="0"/>
                <a:ea typeface="隶书" panose="02010509060101010101" pitchFamily="49" charset="-122"/>
              </a:rPr>
              <a:t>函数对象</a:t>
            </a:r>
            <a:endParaRPr lang="zh-CN" altLang="en-US" sz="4400" b="1">
              <a:latin typeface="Times New Roman" panose="02020603050405020304" pitchFamily="18" charset="0"/>
              <a:ea typeface="隶书" panose="02010509060101010101" pitchFamily="49" charset="-122"/>
            </a:endParaRPr>
          </a:p>
        </p:txBody>
      </p:sp>
      <p:sp>
        <p:nvSpPr>
          <p:cNvPr id="63491" name="内容占位符 2"/>
          <p:cNvSpPr>
            <a:spLocks noGrp="1"/>
          </p:cNvSpPr>
          <p:nvPr>
            <p:ph idx="1"/>
          </p:nvPr>
        </p:nvSpPr>
        <p:spPr/>
        <p:txBody>
          <a:bodyPr/>
          <a:lstStyle/>
          <a:p>
            <a:pPr>
              <a:spcAft>
                <a:spcPct val="25000"/>
              </a:spcAft>
            </a:pPr>
            <a:r>
              <a:rPr lang="zh-CN" altLang="en-US" sz="2400" b="1">
                <a:ea typeface="华文楷体" panose="02010600040101010101" pitchFamily="2" charset="-122"/>
              </a:rPr>
              <a:t>函数对象</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一个行为类似函数的对象</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可以没有参数，也可以带有若干参数</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其功能是获取一个值，或者改变操作的状态。</a:t>
            </a:r>
            <a:endParaRPr lang="en-US" altLang="zh-CN" sz="2400" b="1">
              <a:ea typeface="华文楷体" panose="02010600040101010101" pitchFamily="2" charset="-122"/>
            </a:endParaRPr>
          </a:p>
          <a:p>
            <a:pPr>
              <a:spcAft>
                <a:spcPct val="25000"/>
              </a:spcAft>
            </a:pPr>
            <a:r>
              <a:rPr lang="zh-CN" altLang="en-US" sz="2400" b="1">
                <a:ea typeface="华文楷体" panose="02010600040101010101" pitchFamily="2" charset="-122"/>
              </a:rPr>
              <a:t>例</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普通函数就是函数对象</a:t>
            </a:r>
            <a:endParaRPr lang="en-US" altLang="zh-CN"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重载了“</a:t>
            </a:r>
            <a:r>
              <a:rPr lang="en-US" altLang="zh-CN" sz="2400" b="1">
                <a:ea typeface="华文楷体" panose="02010600040101010101" pitchFamily="2" charset="-122"/>
              </a:rPr>
              <a:t>()</a:t>
            </a:r>
            <a:r>
              <a:rPr lang="zh-CN" altLang="en-US" sz="2400" b="1">
                <a:ea typeface="华文楷体" panose="02010600040101010101" pitchFamily="2" charset="-122"/>
              </a:rPr>
              <a:t>”运算符的类的实例是函数对象</a:t>
            </a:r>
            <a:endParaRPr lang="zh-CN" altLang="en-US" sz="2400" b="1">
              <a:ea typeface="华文楷体" panose="02010600040101010101" pitchFamily="2" charset="-12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a:xfrm>
            <a:off x="899592" y="260648"/>
            <a:ext cx="7886700" cy="1325563"/>
          </a:xfrm>
        </p:spPr>
        <p:txBody>
          <a:bodyPr/>
          <a:lstStyle/>
          <a:p>
            <a:pPr algn="ctr"/>
            <a:r>
              <a:rPr lang="zh-CN" altLang="en-US" sz="4400" b="1">
                <a:latin typeface="Times New Roman" panose="02020603050405020304" pitchFamily="18" charset="0"/>
                <a:ea typeface="隶书" panose="02010509060101010101" pitchFamily="49" charset="-122"/>
              </a:rPr>
              <a:t>函数对象概念图</a:t>
            </a:r>
            <a:endParaRPr lang="zh-CN" altLang="en-US" sz="4400" b="1">
              <a:latin typeface="Times New Roman" panose="02020603050405020304" pitchFamily="18" charset="0"/>
              <a:ea typeface="隶书" panose="02010509060101010101" pitchFamily="49" charset="-122"/>
            </a:endParaRPr>
          </a:p>
        </p:txBody>
      </p:sp>
      <p:sp>
        <p:nvSpPr>
          <p:cNvPr id="6" name="Text Box 8"/>
          <p:cNvSpPr txBox="1">
            <a:spLocks noChangeArrowheads="1"/>
          </p:cNvSpPr>
          <p:nvPr/>
        </p:nvSpPr>
        <p:spPr bwMode="auto">
          <a:xfrm>
            <a:off x="2857500" y="2000250"/>
            <a:ext cx="1357313" cy="571500"/>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函数对象</a:t>
            </a:r>
            <a:endParaRPr lang="en-US" altLang="zh-CN" sz="1600" b="1" dirty="0">
              <a:solidFill>
                <a:schemeClr val="tx1"/>
              </a:solidFill>
              <a:ea typeface="华文楷体" panose="02010600040101010101" pitchFamily="2" charset="-122"/>
            </a:endParaRPr>
          </a:p>
          <a:p>
            <a:pPr algn="ctr">
              <a:defRPr/>
            </a:pPr>
            <a:r>
              <a:rPr lang="en-US" altLang="zh-CN" sz="1600" b="1" dirty="0">
                <a:solidFill>
                  <a:schemeClr val="tx1"/>
                </a:solidFill>
                <a:ea typeface="华文楷体" panose="02010600040101010101" pitchFamily="2" charset="-122"/>
              </a:rPr>
              <a:t>(Function)</a:t>
            </a:r>
            <a:endParaRPr lang="zh-CN" altLang="zh-CN" sz="1600" b="1" dirty="0">
              <a:solidFill>
                <a:schemeClr val="tx1"/>
              </a:solidFill>
              <a:ea typeface="华文楷体" panose="02010600040101010101" pitchFamily="2" charset="-122"/>
            </a:endParaRPr>
          </a:p>
        </p:txBody>
      </p:sp>
      <p:sp>
        <p:nvSpPr>
          <p:cNvPr id="7" name="Text Box 9"/>
          <p:cNvSpPr txBox="1">
            <a:spLocks noChangeArrowheads="1"/>
          </p:cNvSpPr>
          <p:nvPr/>
        </p:nvSpPr>
        <p:spPr bwMode="auto">
          <a:xfrm>
            <a:off x="2684463" y="3187700"/>
            <a:ext cx="1704975" cy="571500"/>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一元函数对象</a:t>
            </a:r>
            <a:r>
              <a:rPr lang="en-US" altLang="zh-CN" sz="1600" b="1" dirty="0">
                <a:solidFill>
                  <a:schemeClr val="tx1"/>
                </a:solidFill>
                <a:ea typeface="华文楷体" panose="02010600040101010101" pitchFamily="2" charset="-122"/>
              </a:rPr>
              <a:t>(Unary Function)</a:t>
            </a:r>
            <a:endParaRPr lang="zh-CN" altLang="zh-CN" sz="1600" b="1" dirty="0">
              <a:solidFill>
                <a:schemeClr val="tx1"/>
              </a:solidFill>
              <a:ea typeface="华文楷体" panose="02010600040101010101" pitchFamily="2" charset="-122"/>
            </a:endParaRPr>
          </a:p>
        </p:txBody>
      </p:sp>
      <p:cxnSp>
        <p:nvCxnSpPr>
          <p:cNvPr id="8" name="AutoShape 7"/>
          <p:cNvCxnSpPr>
            <a:cxnSpLocks noChangeShapeType="1"/>
            <a:stCxn id="6" idx="2"/>
            <a:endCxn id="7" idx="0"/>
          </p:cNvCxnSpPr>
          <p:nvPr/>
        </p:nvCxnSpPr>
        <p:spPr bwMode="auto">
          <a:xfrm rot="16200000" flipH="1">
            <a:off x="3228182" y="2878931"/>
            <a:ext cx="615950" cy="1587"/>
          </a:xfrm>
          <a:prstGeom prst="straightConnector1">
            <a:avLst/>
          </a:prstGeom>
          <a:ln>
            <a:solidFill>
              <a:schemeClr val="tx1"/>
            </a:solidFill>
            <a:tailEnd type="triangle" w="med" len="med"/>
          </a:ln>
        </p:spPr>
        <p:style>
          <a:lnRef idx="3">
            <a:schemeClr val="lt1"/>
          </a:lnRef>
          <a:fillRef idx="1">
            <a:schemeClr val="accent2"/>
          </a:fillRef>
          <a:effectRef idx="1">
            <a:schemeClr val="accent2"/>
          </a:effectRef>
          <a:fontRef idx="minor">
            <a:schemeClr val="lt1"/>
          </a:fontRef>
        </p:style>
      </p:cxnSp>
      <p:cxnSp>
        <p:nvCxnSpPr>
          <p:cNvPr id="9" name="AutoShape 11"/>
          <p:cNvCxnSpPr>
            <a:cxnSpLocks noChangeShapeType="1"/>
            <a:stCxn id="6" idx="2"/>
          </p:cNvCxnSpPr>
          <p:nvPr/>
        </p:nvCxnSpPr>
        <p:spPr bwMode="auto">
          <a:xfrm rot="5400000">
            <a:off x="2482057" y="2089943"/>
            <a:ext cx="571500" cy="1535113"/>
          </a:xfrm>
          <a:prstGeom prst="straightConnector1">
            <a:avLst/>
          </a:prstGeom>
          <a:ln>
            <a:solidFill>
              <a:schemeClr val="tx1"/>
            </a:solidFill>
            <a:tailEnd type="triangle" w="med" len="med"/>
          </a:ln>
        </p:spPr>
        <p:style>
          <a:lnRef idx="3">
            <a:schemeClr val="lt1"/>
          </a:lnRef>
          <a:fillRef idx="1">
            <a:schemeClr val="accent2"/>
          </a:fillRef>
          <a:effectRef idx="1">
            <a:schemeClr val="accent2"/>
          </a:effectRef>
          <a:fontRef idx="minor">
            <a:schemeClr val="lt1"/>
          </a:fontRef>
        </p:style>
      </p:cxnSp>
      <p:sp>
        <p:nvSpPr>
          <p:cNvPr id="10" name="Text Box 9"/>
          <p:cNvSpPr txBox="1">
            <a:spLocks noChangeArrowheads="1"/>
          </p:cNvSpPr>
          <p:nvPr/>
        </p:nvSpPr>
        <p:spPr bwMode="auto">
          <a:xfrm>
            <a:off x="4613275" y="3187700"/>
            <a:ext cx="1704975" cy="571500"/>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二元函数对象</a:t>
            </a:r>
            <a:r>
              <a:rPr lang="en-US" altLang="zh-CN" sz="1600" b="1" dirty="0">
                <a:solidFill>
                  <a:schemeClr val="tx1"/>
                </a:solidFill>
                <a:ea typeface="华文楷体" panose="02010600040101010101" pitchFamily="2" charset="-122"/>
              </a:rPr>
              <a:t>(Binary Function)</a:t>
            </a:r>
            <a:endParaRPr lang="zh-CN" altLang="zh-CN" sz="1600" b="1" dirty="0">
              <a:solidFill>
                <a:schemeClr val="tx1"/>
              </a:solidFill>
              <a:ea typeface="华文楷体" panose="02010600040101010101" pitchFamily="2" charset="-122"/>
            </a:endParaRPr>
          </a:p>
        </p:txBody>
      </p:sp>
      <p:sp>
        <p:nvSpPr>
          <p:cNvPr id="11" name="Text Box 9"/>
          <p:cNvSpPr txBox="1">
            <a:spLocks noChangeArrowheads="1"/>
          </p:cNvSpPr>
          <p:nvPr/>
        </p:nvSpPr>
        <p:spPr bwMode="auto">
          <a:xfrm>
            <a:off x="1184275" y="3187700"/>
            <a:ext cx="1276350" cy="571500"/>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产生器</a:t>
            </a:r>
            <a:endParaRPr lang="en-US" altLang="zh-CN" sz="1600" b="1" dirty="0">
              <a:solidFill>
                <a:schemeClr val="tx1"/>
              </a:solidFill>
              <a:ea typeface="华文楷体" panose="02010600040101010101" pitchFamily="2" charset="-122"/>
            </a:endParaRPr>
          </a:p>
          <a:p>
            <a:pPr algn="ctr">
              <a:defRPr/>
            </a:pPr>
            <a:r>
              <a:rPr lang="en-US" altLang="zh-CN" sz="1600" b="1" dirty="0">
                <a:solidFill>
                  <a:schemeClr val="tx1"/>
                </a:solidFill>
                <a:ea typeface="华文楷体" panose="02010600040101010101" pitchFamily="2" charset="-122"/>
              </a:rPr>
              <a:t>(Generator)</a:t>
            </a:r>
            <a:endParaRPr lang="zh-CN" altLang="zh-CN" sz="1600" b="1" dirty="0">
              <a:solidFill>
                <a:schemeClr val="tx1"/>
              </a:solidFill>
              <a:ea typeface="华文楷体" panose="02010600040101010101" pitchFamily="2" charset="-122"/>
            </a:endParaRPr>
          </a:p>
        </p:txBody>
      </p:sp>
      <p:sp>
        <p:nvSpPr>
          <p:cNvPr id="12" name="Text Box 9"/>
          <p:cNvSpPr txBox="1">
            <a:spLocks noChangeArrowheads="1"/>
          </p:cNvSpPr>
          <p:nvPr/>
        </p:nvSpPr>
        <p:spPr bwMode="auto">
          <a:xfrm>
            <a:off x="2684463" y="4259263"/>
            <a:ext cx="1704975" cy="571500"/>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一元谓词</a:t>
            </a:r>
            <a:endParaRPr lang="en-US" altLang="zh-CN" sz="1600" b="1" dirty="0">
              <a:solidFill>
                <a:schemeClr val="tx1"/>
              </a:solidFill>
              <a:ea typeface="华文楷体" panose="02010600040101010101" pitchFamily="2" charset="-122"/>
            </a:endParaRPr>
          </a:p>
          <a:p>
            <a:pPr algn="ctr">
              <a:defRPr/>
            </a:pPr>
            <a:r>
              <a:rPr lang="en-US" altLang="zh-CN" sz="1600" b="1" dirty="0">
                <a:solidFill>
                  <a:schemeClr val="tx1"/>
                </a:solidFill>
                <a:ea typeface="华文楷体" panose="02010600040101010101" pitchFamily="2" charset="-122"/>
              </a:rPr>
              <a:t>(Unary Predicate)</a:t>
            </a:r>
            <a:endParaRPr lang="zh-CN" altLang="zh-CN" sz="1600" b="1" dirty="0">
              <a:solidFill>
                <a:schemeClr val="tx1"/>
              </a:solidFill>
              <a:ea typeface="华文楷体" panose="02010600040101010101" pitchFamily="2" charset="-122"/>
            </a:endParaRPr>
          </a:p>
        </p:txBody>
      </p:sp>
      <p:sp>
        <p:nvSpPr>
          <p:cNvPr id="13" name="Text Box 9"/>
          <p:cNvSpPr txBox="1">
            <a:spLocks noChangeArrowheads="1"/>
          </p:cNvSpPr>
          <p:nvPr/>
        </p:nvSpPr>
        <p:spPr bwMode="auto">
          <a:xfrm>
            <a:off x="4613275" y="4259263"/>
            <a:ext cx="1704975" cy="571500"/>
          </a:xfrm>
          <a:prstGeom prst="rect">
            <a:avLst/>
          </a:prstGeom>
        </p:spPr>
        <p:style>
          <a:lnRef idx="3">
            <a:schemeClr val="lt1"/>
          </a:lnRef>
          <a:fillRef idx="1">
            <a:schemeClr val="accent2"/>
          </a:fillRef>
          <a:effectRef idx="1">
            <a:schemeClr val="accent2"/>
          </a:effectRef>
          <a:fontRef idx="minor">
            <a:schemeClr val="lt1"/>
          </a:fontRef>
        </p:style>
        <p:txBody>
          <a:bodyPr/>
          <a:lstStyle/>
          <a:p>
            <a:pPr algn="ctr">
              <a:defRPr/>
            </a:pPr>
            <a:r>
              <a:rPr lang="zh-CN" altLang="en-US" sz="1600" b="1" dirty="0">
                <a:solidFill>
                  <a:schemeClr val="tx1"/>
                </a:solidFill>
                <a:ea typeface="华文楷体" panose="02010600040101010101" pitchFamily="2" charset="-122"/>
              </a:rPr>
              <a:t>二元谓词</a:t>
            </a:r>
            <a:endParaRPr lang="en-US" altLang="zh-CN" sz="1600" b="1" dirty="0">
              <a:solidFill>
                <a:schemeClr val="tx1"/>
              </a:solidFill>
              <a:ea typeface="华文楷体" panose="02010600040101010101" pitchFamily="2" charset="-122"/>
            </a:endParaRPr>
          </a:p>
          <a:p>
            <a:pPr algn="ctr">
              <a:defRPr/>
            </a:pPr>
            <a:r>
              <a:rPr lang="en-US" altLang="zh-CN" sz="1600" b="1" dirty="0">
                <a:solidFill>
                  <a:schemeClr val="tx1"/>
                </a:solidFill>
                <a:ea typeface="华文楷体" panose="02010600040101010101" pitchFamily="2" charset="-122"/>
              </a:rPr>
              <a:t>(Binary Predicate)</a:t>
            </a:r>
            <a:endParaRPr lang="zh-CN" altLang="zh-CN" sz="1600" b="1" dirty="0">
              <a:solidFill>
                <a:schemeClr val="tx1"/>
              </a:solidFill>
              <a:ea typeface="华文楷体" panose="02010600040101010101" pitchFamily="2" charset="-122"/>
            </a:endParaRPr>
          </a:p>
        </p:txBody>
      </p:sp>
      <p:cxnSp>
        <p:nvCxnSpPr>
          <p:cNvPr id="14" name="AutoShape 7"/>
          <p:cNvCxnSpPr>
            <a:cxnSpLocks noChangeShapeType="1"/>
            <a:stCxn id="6" idx="2"/>
            <a:endCxn id="10" idx="0"/>
          </p:cNvCxnSpPr>
          <p:nvPr/>
        </p:nvCxnSpPr>
        <p:spPr bwMode="auto">
          <a:xfrm rot="16200000" flipH="1">
            <a:off x="4192588" y="1914525"/>
            <a:ext cx="615950" cy="1930400"/>
          </a:xfrm>
          <a:prstGeom prst="straightConnector1">
            <a:avLst/>
          </a:prstGeom>
          <a:ln>
            <a:solidFill>
              <a:schemeClr val="tx1"/>
            </a:solidFill>
            <a:tailEnd type="triangle" w="med" len="med"/>
          </a:ln>
        </p:spPr>
        <p:style>
          <a:lnRef idx="3">
            <a:schemeClr val="lt1"/>
          </a:lnRef>
          <a:fillRef idx="1">
            <a:schemeClr val="accent2"/>
          </a:fillRef>
          <a:effectRef idx="1">
            <a:schemeClr val="accent2"/>
          </a:effectRef>
          <a:fontRef idx="minor">
            <a:schemeClr val="lt1"/>
          </a:fontRef>
        </p:style>
      </p:cxnSp>
      <p:cxnSp>
        <p:nvCxnSpPr>
          <p:cNvPr id="15" name="AutoShape 7"/>
          <p:cNvCxnSpPr>
            <a:cxnSpLocks noChangeShapeType="1"/>
            <a:stCxn id="7" idx="2"/>
            <a:endCxn id="12" idx="0"/>
          </p:cNvCxnSpPr>
          <p:nvPr/>
        </p:nvCxnSpPr>
        <p:spPr bwMode="auto">
          <a:xfrm rot="5400000">
            <a:off x="3287713" y="4010025"/>
            <a:ext cx="500062" cy="1588"/>
          </a:xfrm>
          <a:prstGeom prst="straightConnector1">
            <a:avLst/>
          </a:prstGeom>
          <a:ln>
            <a:solidFill>
              <a:schemeClr val="tx1"/>
            </a:solidFill>
            <a:tailEnd type="triangle" w="med" len="med"/>
          </a:ln>
        </p:spPr>
        <p:style>
          <a:lnRef idx="3">
            <a:schemeClr val="lt1"/>
          </a:lnRef>
          <a:fillRef idx="1">
            <a:schemeClr val="accent2"/>
          </a:fillRef>
          <a:effectRef idx="1">
            <a:schemeClr val="accent2"/>
          </a:effectRef>
          <a:fontRef idx="minor">
            <a:schemeClr val="lt1"/>
          </a:fontRef>
        </p:style>
      </p:cxnSp>
      <p:cxnSp>
        <p:nvCxnSpPr>
          <p:cNvPr id="16" name="AutoShape 7"/>
          <p:cNvCxnSpPr>
            <a:cxnSpLocks noChangeShapeType="1"/>
            <a:stCxn id="10" idx="2"/>
            <a:endCxn id="13" idx="0"/>
          </p:cNvCxnSpPr>
          <p:nvPr/>
        </p:nvCxnSpPr>
        <p:spPr bwMode="auto">
          <a:xfrm rot="5400000">
            <a:off x="5216526" y="4010025"/>
            <a:ext cx="500062" cy="1587"/>
          </a:xfrm>
          <a:prstGeom prst="straightConnector1">
            <a:avLst/>
          </a:prstGeom>
          <a:ln>
            <a:solidFill>
              <a:schemeClr val="tx1"/>
            </a:solidFill>
            <a:tailEnd type="triangle" w="med" len="med"/>
          </a:ln>
        </p:spPr>
        <p:style>
          <a:lnRef idx="3">
            <a:schemeClr val="lt1"/>
          </a:lnRef>
          <a:fillRef idx="1">
            <a:schemeClr val="accent2"/>
          </a:fillRef>
          <a:effectRef idx="1">
            <a:schemeClr val="accent2"/>
          </a:effectRef>
          <a:fontRef idx="minor">
            <a:schemeClr val="lt1"/>
          </a:fontRef>
        </p:style>
      </p:cxn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xfrm>
            <a:off x="539552" y="332656"/>
            <a:ext cx="7886700" cy="1325563"/>
          </a:xfrm>
        </p:spPr>
        <p:txBody>
          <a:bodyPr/>
          <a:lstStyle/>
          <a:p>
            <a:pPr eaLnBrk="1" hangingPunct="1"/>
            <a:r>
              <a:rPr lang="zh-CN" altLang="en-US" b="1"/>
              <a:t>例</a:t>
            </a:r>
            <a:r>
              <a:rPr lang="en-US" altLang="zh-CN" b="1"/>
              <a:t>10-13</a:t>
            </a:r>
            <a:r>
              <a:rPr lang="zh-CN" altLang="en-US" b="1"/>
              <a:t>、例</a:t>
            </a:r>
            <a:r>
              <a:rPr lang="en-US" altLang="zh-CN" b="1"/>
              <a:t>10-14</a:t>
            </a:r>
            <a:endParaRPr lang="zh-CN" altLang="en-US" b="1"/>
          </a:p>
        </p:txBody>
      </p:sp>
      <p:sp>
        <p:nvSpPr>
          <p:cNvPr id="65539" name="内容占位符 2"/>
          <p:cNvSpPr>
            <a:spLocks noGrp="1"/>
          </p:cNvSpPr>
          <p:nvPr>
            <p:ph idx="1"/>
          </p:nvPr>
        </p:nvSpPr>
        <p:spPr>
          <a:xfrm>
            <a:off x="611560" y="1268760"/>
            <a:ext cx="7886700" cy="4351338"/>
          </a:xfrm>
        </p:spPr>
        <p:txBody>
          <a:bodyPr/>
          <a:lstStyle/>
          <a:p>
            <a:pPr>
              <a:spcAft>
                <a:spcPct val="25000"/>
              </a:spcAft>
            </a:pPr>
            <a:r>
              <a:rPr lang="zh-CN" altLang="en-US" sz="2400" b="1" dirty="0">
                <a:ea typeface="华文楷体" panose="02010600040101010101" pitchFamily="2" charset="-122"/>
              </a:rPr>
              <a:t>使用两种方式定义表示乘法的函数对象</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solidFill>
                  <a:srgbClr val="FFFF00"/>
                </a:solidFill>
                <a:ea typeface="华文楷体" panose="02010600040101010101" pitchFamily="2" charset="-122"/>
              </a:rPr>
              <a:t>通过定义普通函数（例</a:t>
            </a:r>
            <a:r>
              <a:rPr lang="en-US" altLang="zh-CN" sz="2400" b="1" dirty="0">
                <a:solidFill>
                  <a:srgbClr val="FFFF00"/>
                </a:solidFill>
                <a:ea typeface="华文楷体" panose="02010600040101010101" pitchFamily="2" charset="-122"/>
              </a:rPr>
              <a:t>10-13</a:t>
            </a:r>
            <a:r>
              <a:rPr lang="zh-CN" altLang="en-US" sz="2400" b="1" dirty="0">
                <a:solidFill>
                  <a:srgbClr val="FFFF00"/>
                </a:solidFill>
                <a:ea typeface="华文楷体" panose="02010600040101010101" pitchFamily="2" charset="-122"/>
              </a:rPr>
              <a:t>）</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solidFill>
                  <a:srgbClr val="FFFF00"/>
                </a:solidFill>
                <a:ea typeface="华文楷体" panose="02010600040101010101" pitchFamily="2" charset="-122"/>
              </a:rPr>
              <a:t>通过重载类的“</a:t>
            </a:r>
            <a:r>
              <a:rPr lang="en-US" altLang="zh-CN" sz="2400" b="1" dirty="0">
                <a:solidFill>
                  <a:srgbClr val="FFFF00"/>
                </a:solidFill>
                <a:ea typeface="华文楷体" panose="02010600040101010101" pitchFamily="2" charset="-122"/>
              </a:rPr>
              <a:t>()</a:t>
            </a:r>
            <a:r>
              <a:rPr lang="zh-CN" altLang="en-US" sz="2400" b="1" dirty="0">
                <a:solidFill>
                  <a:srgbClr val="FFFF00"/>
                </a:solidFill>
                <a:ea typeface="华文楷体" panose="02010600040101010101" pitchFamily="2" charset="-122"/>
              </a:rPr>
              <a:t>”运算符（例</a:t>
            </a:r>
            <a:r>
              <a:rPr lang="en-US" altLang="zh-CN" sz="2400" b="1" dirty="0">
                <a:solidFill>
                  <a:srgbClr val="FFFF00"/>
                </a:solidFill>
                <a:ea typeface="华文楷体" panose="02010600040101010101" pitchFamily="2" charset="-122"/>
              </a:rPr>
              <a:t>10-14</a:t>
            </a:r>
            <a:r>
              <a:rPr lang="zh-CN" altLang="en-US" sz="2400" b="1" dirty="0">
                <a:solidFill>
                  <a:srgbClr val="FFFF00"/>
                </a:solidFill>
                <a:ea typeface="华文楷体" panose="02010600040101010101" pitchFamily="2" charset="-122"/>
              </a:rPr>
              <a:t>）</a:t>
            </a:r>
            <a:endParaRPr lang="en-US" altLang="zh-CN" sz="2400" b="1" dirty="0">
              <a:solidFill>
                <a:srgbClr val="FFFF00"/>
              </a:solidFill>
              <a:ea typeface="华文楷体" panose="02010600040101010101" pitchFamily="2" charset="-122"/>
            </a:endParaRPr>
          </a:p>
          <a:p>
            <a:pPr>
              <a:spcAft>
                <a:spcPct val="25000"/>
              </a:spcAft>
            </a:pPr>
            <a:r>
              <a:rPr lang="zh-CN" altLang="en-US" sz="2400" b="1" dirty="0">
                <a:ea typeface="华文楷体" panose="02010600040101010101" pitchFamily="2" charset="-122"/>
              </a:rPr>
              <a:t>用到以下算法：</a:t>
            </a:r>
            <a:br>
              <a:rPr lang="en-US" altLang="zh-CN" sz="2400" b="1" dirty="0">
                <a:ea typeface="华文楷体" panose="02010600040101010101" pitchFamily="2" charset="-122"/>
              </a:rPr>
            </a:br>
            <a:r>
              <a:rPr lang="en-US" altLang="zh-CN" sz="2400" b="1" dirty="0">
                <a:ea typeface="华文楷体" panose="02010600040101010101" pitchFamily="2" charset="-122"/>
              </a:rPr>
              <a:t>template&lt;class </a:t>
            </a:r>
            <a:r>
              <a:rPr lang="en-US" altLang="zh-CN" sz="2400" b="1" dirty="0" err="1">
                <a:ea typeface="华文楷体" panose="02010600040101010101" pitchFamily="2" charset="-122"/>
              </a:rPr>
              <a:t>InputIterator</a:t>
            </a:r>
            <a:r>
              <a:rPr lang="en-US" altLang="zh-CN" sz="2400" b="1" dirty="0">
                <a:ea typeface="华文楷体" panose="02010600040101010101" pitchFamily="2" charset="-122"/>
              </a:rPr>
              <a:t>, class Type, class </a:t>
            </a:r>
            <a:r>
              <a:rPr lang="en-US" altLang="zh-CN" sz="2400" b="1" dirty="0" err="1">
                <a:ea typeface="华文楷体" panose="02010600040101010101" pitchFamily="2" charset="-122"/>
              </a:rPr>
              <a:t>BinaryFunction</a:t>
            </a:r>
            <a:r>
              <a:rPr lang="en-US" altLang="zh-CN" sz="2400" b="1" dirty="0">
                <a:ea typeface="华文楷体" panose="02010600040101010101" pitchFamily="2" charset="-122"/>
              </a:rPr>
              <a:t>&gt;</a:t>
            </a:r>
            <a:br>
              <a:rPr lang="en-US" altLang="zh-CN" sz="2400" b="1" dirty="0">
                <a:ea typeface="华文楷体" panose="02010600040101010101" pitchFamily="2" charset="-122"/>
              </a:rPr>
            </a:br>
            <a:r>
              <a:rPr lang="en-US" altLang="zh-CN" sz="2400" b="1" dirty="0">
                <a:ea typeface="华文楷体" panose="02010600040101010101" pitchFamily="2" charset="-122"/>
              </a:rPr>
              <a:t>Type accumulate(</a:t>
            </a:r>
            <a:r>
              <a:rPr lang="en-US" altLang="zh-CN" sz="2400" b="1" dirty="0" err="1">
                <a:ea typeface="华文楷体" panose="02010600040101010101" pitchFamily="2" charset="-122"/>
              </a:rPr>
              <a:t>InputIterator</a:t>
            </a:r>
            <a:r>
              <a:rPr lang="en-US" altLang="zh-CN" sz="2400" b="1" dirty="0">
                <a:ea typeface="华文楷体" panose="02010600040101010101" pitchFamily="2" charset="-122"/>
              </a:rPr>
              <a:t> first, </a:t>
            </a:r>
            <a:r>
              <a:rPr lang="en-US" altLang="zh-CN" sz="2400" b="1" dirty="0" err="1">
                <a:ea typeface="华文楷体" panose="02010600040101010101" pitchFamily="2" charset="-122"/>
              </a:rPr>
              <a:t>InputIterator</a:t>
            </a:r>
            <a:r>
              <a:rPr lang="en-US" altLang="zh-CN" sz="2400" b="1" dirty="0">
                <a:ea typeface="华文楷体" panose="02010600040101010101" pitchFamily="2" charset="-122"/>
              </a:rPr>
              <a:t> last, Type </a:t>
            </a:r>
            <a:r>
              <a:rPr lang="en-US" altLang="zh-CN" sz="2400" b="1" dirty="0" err="1">
                <a:ea typeface="华文楷体" panose="02010600040101010101" pitchFamily="2" charset="-122"/>
              </a:rPr>
              <a:t>val</a:t>
            </a:r>
            <a:r>
              <a:rPr lang="en-US" altLang="zh-CN" sz="2400" b="1" dirty="0">
                <a:ea typeface="华文楷体" panose="02010600040101010101" pitchFamily="2" charset="-122"/>
              </a:rPr>
              <a:t>, </a:t>
            </a:r>
            <a:r>
              <a:rPr lang="en-US" altLang="zh-CN" sz="2400" b="1" dirty="0" err="1">
                <a:ea typeface="华文楷体" panose="02010600040101010101" pitchFamily="2" charset="-122"/>
              </a:rPr>
              <a:t>BinaryFunction</a:t>
            </a:r>
            <a:r>
              <a:rPr lang="en-US" altLang="zh-CN" sz="2400" b="1" dirty="0">
                <a:ea typeface="华文楷体" panose="02010600040101010101" pitchFamily="2" charset="-122"/>
              </a:rPr>
              <a:t> </a:t>
            </a:r>
            <a:r>
              <a:rPr lang="en-US" altLang="zh-CN" sz="2400" b="1" dirty="0" err="1">
                <a:ea typeface="华文楷体" panose="02010600040101010101" pitchFamily="2" charset="-122"/>
              </a:rPr>
              <a:t>binaryOp</a:t>
            </a:r>
            <a:r>
              <a:rPr lang="en-US" altLang="zh-CN" sz="2400" b="1" dirty="0">
                <a:ea typeface="华文楷体" panose="02010600040101010101" pitchFamily="2" charset="-122"/>
              </a:rPr>
              <a:t>);</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对</a:t>
            </a:r>
            <a:r>
              <a:rPr lang="en-US" altLang="zh-CN" sz="2400" b="1" dirty="0">
                <a:ea typeface="华文楷体" panose="02010600040101010101" pitchFamily="2" charset="-122"/>
              </a:rPr>
              <a:t>[first, last)</a:t>
            </a:r>
            <a:r>
              <a:rPr lang="zh-CN" altLang="en-US" sz="2400" b="1" dirty="0">
                <a:ea typeface="华文楷体" panose="02010600040101010101" pitchFamily="2" charset="-122"/>
              </a:rPr>
              <a:t>区间内的数据进行累“加”，</a:t>
            </a:r>
            <a:r>
              <a:rPr lang="en-US" altLang="zh-CN" sz="2400" b="1" dirty="0" err="1">
                <a:ea typeface="华文楷体" panose="02010600040101010101" pitchFamily="2" charset="-122"/>
              </a:rPr>
              <a:t>binaryOp</a:t>
            </a:r>
            <a:r>
              <a:rPr lang="zh-CN" altLang="en-US" sz="2400" b="1" dirty="0">
                <a:ea typeface="华文楷体" panose="02010600040101010101" pitchFamily="2" charset="-122"/>
              </a:rPr>
              <a:t>为用二元函数对象表示的“加”运算符，</a:t>
            </a:r>
            <a:r>
              <a:rPr lang="en-US" altLang="zh-CN" sz="2400" b="1" dirty="0" err="1">
                <a:ea typeface="华文楷体" panose="02010600040101010101" pitchFamily="2" charset="-122"/>
              </a:rPr>
              <a:t>val</a:t>
            </a:r>
            <a:r>
              <a:rPr lang="zh-CN" altLang="en-US" sz="2400" b="1" dirty="0">
                <a:ea typeface="华文楷体" panose="02010600040101010101" pitchFamily="2" charset="-122"/>
              </a:rPr>
              <a:t>为累“加”的初值</a:t>
            </a:r>
            <a:endParaRPr lang="en-US" altLang="zh-CN" sz="2400" b="1" dirty="0">
              <a:ea typeface="华文楷体" panose="02010600040101010101" pitchFamily="2" charset="-122"/>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71500"/>
            <a:ext cx="8229600" cy="501675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iostream</a:t>
            </a:r>
            <a:r>
              <a:rPr lang="en-US" altLang="zh-CN" sz="2000" b="1" dirty="0">
                <a:solidFill>
                  <a:srgbClr val="000000"/>
                </a:solidFill>
                <a:latin typeface="Times New Roman" panose="02020603050405020304" pitchFamily="18" charset="0"/>
                <a:ea typeface="华文楷体" panose="02010600040101010101" pitchFamily="2" charset="-122"/>
              </a:rPr>
              <a:t>&gt;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&lt;numeric&gt;	//</a:t>
            </a:r>
            <a:r>
              <a:rPr lang="zh-CN" altLang="en-US" sz="2000" b="1" dirty="0">
                <a:solidFill>
                  <a:srgbClr val="000000"/>
                </a:solidFill>
                <a:latin typeface="Times New Roman" panose="02020603050405020304" pitchFamily="18" charset="0"/>
                <a:ea typeface="华文楷体" panose="02010600040101010101" pitchFamily="2" charset="-122"/>
              </a:rPr>
              <a:t>包含数值算法头文件</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using namespace std;</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定义一个普通函数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mult</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x,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y) { return x * y;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 = { 1, 2, 3, 4, 5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const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N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"The result by </a:t>
            </a:r>
            <a:r>
              <a:rPr lang="en-US" altLang="zh-CN" sz="2000" b="1" dirty="0" err="1">
                <a:solidFill>
                  <a:srgbClr val="000000"/>
                </a:solidFill>
                <a:latin typeface="Times New Roman" panose="02020603050405020304" pitchFamily="18" charset="0"/>
                <a:ea typeface="华文楷体" panose="02010600040101010101" pitchFamily="2" charset="-122"/>
              </a:rPr>
              <a:t>multipling</a:t>
            </a:r>
            <a:r>
              <a:rPr lang="en-US" altLang="zh-CN" sz="2000" b="1" dirty="0">
                <a:solidFill>
                  <a:srgbClr val="000000"/>
                </a:solidFill>
                <a:latin typeface="Times New Roman" panose="02020603050405020304" pitchFamily="18" charset="0"/>
                <a:ea typeface="华文楷体" panose="02010600040101010101" pitchFamily="2" charset="-122"/>
              </a:rPr>
              <a:t> all elements in a is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&lt;&lt; accumulate(a, a + N, 1, </a:t>
            </a:r>
            <a:r>
              <a:rPr lang="en-US" altLang="zh-CN" sz="2000" b="1" dirty="0" err="1">
                <a:solidFill>
                  <a:srgbClr val="000000"/>
                </a:solidFill>
                <a:latin typeface="Times New Roman" panose="02020603050405020304" pitchFamily="18" charset="0"/>
                <a:ea typeface="华文楷体" panose="02010600040101010101" pitchFamily="2" charset="-122"/>
              </a:rPr>
              <a:t>mult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
        <p:nvSpPr>
          <p:cNvPr id="66565" name="标题 1"/>
          <p:cNvSpPr>
            <a:spLocks noGrp="1"/>
          </p:cNvSpPr>
          <p:nvPr>
            <p:ph type="title"/>
          </p:nvPr>
        </p:nvSpPr>
        <p:spPr>
          <a:xfrm>
            <a:off x="5072063" y="5505450"/>
            <a:ext cx="3614737" cy="1066800"/>
          </a:xfrm>
          <a:solidFill>
            <a:schemeClr val="bg1"/>
          </a:solidFill>
        </p:spPr>
        <p:txBody>
          <a:bodyPr>
            <a:normAutofit/>
          </a:bodyPr>
          <a:lstStyle/>
          <a:p>
            <a:pPr fontAlgn="auto">
              <a:spcAft>
                <a:spcPts val="0"/>
              </a:spcAft>
            </a:pPr>
            <a:r>
              <a:rPr lang="zh-CN" altLang="en-US"/>
              <a:t>例</a:t>
            </a:r>
            <a:r>
              <a:rPr lang="en-US" altLang="zh-CN"/>
              <a:t>10-13</a:t>
            </a:r>
            <a:r>
              <a:rPr lang="zh-CN" altLang="en-US"/>
              <a:t>（续）</a:t>
            </a:r>
            <a:endParaRPr lang="zh-CN" altLang="en-US"/>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260648"/>
            <a:ext cx="8429625" cy="6247864"/>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//10_14.cpp</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iostream</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&lt;numeric&gt;	//</a:t>
            </a:r>
            <a:r>
              <a:rPr lang="zh-CN" altLang="en-US" sz="2000" b="1" dirty="0">
                <a:solidFill>
                  <a:srgbClr val="000000"/>
                </a:solidFill>
                <a:latin typeface="Times New Roman" panose="02020603050405020304" pitchFamily="18" charset="0"/>
                <a:ea typeface="华文楷体" panose="02010600040101010101" pitchFamily="2" charset="-122"/>
              </a:rPr>
              <a:t>包含数值算法头文件</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using namespace std;</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class </a:t>
            </a:r>
            <a:r>
              <a:rPr lang="en-US" altLang="zh-CN" sz="2000" b="1" dirty="0" err="1">
                <a:solidFill>
                  <a:srgbClr val="000000"/>
                </a:solidFill>
                <a:latin typeface="Times New Roman" panose="02020603050405020304" pitchFamily="18" charset="0"/>
                <a:ea typeface="华文楷体" panose="02010600040101010101" pitchFamily="2" charset="-122"/>
              </a:rPr>
              <a:t>MultClass</a:t>
            </a:r>
            <a:r>
              <a:rPr lang="en-US" altLang="zh-CN" sz="2000" b="1" dirty="0">
                <a:solidFill>
                  <a:srgbClr val="000000"/>
                </a:solidFill>
                <a:latin typeface="Times New Roman" panose="02020603050405020304" pitchFamily="18" charset="0"/>
                <a:ea typeface="华文楷体" panose="02010600040101010101" pitchFamily="2" charset="-122"/>
              </a:rPr>
              <a:t>	{  //</a:t>
            </a:r>
            <a:r>
              <a:rPr lang="zh-CN" altLang="en-US" sz="2000" b="1" dirty="0">
                <a:solidFill>
                  <a:srgbClr val="000000"/>
                </a:solidFill>
                <a:latin typeface="Times New Roman" panose="02020603050405020304" pitchFamily="18" charset="0"/>
                <a:ea typeface="华文楷体" panose="02010600040101010101" pitchFamily="2" charset="-122"/>
              </a:rPr>
              <a:t>定义</a:t>
            </a:r>
            <a:r>
              <a:rPr lang="en-US" altLang="zh-CN" sz="2000" b="1" dirty="0" err="1">
                <a:solidFill>
                  <a:srgbClr val="000000"/>
                </a:solidFill>
                <a:latin typeface="Times New Roman" panose="02020603050405020304" pitchFamily="18" charset="0"/>
                <a:ea typeface="华文楷体" panose="02010600040101010101" pitchFamily="2" charset="-122"/>
              </a:rPr>
              <a:t>MultClass</a:t>
            </a:r>
            <a:r>
              <a:rPr lang="zh-CN" altLang="en-US" sz="2000" b="1" dirty="0">
                <a:solidFill>
                  <a:srgbClr val="000000"/>
                </a:solidFill>
                <a:latin typeface="Times New Roman" panose="02020603050405020304" pitchFamily="18" charset="0"/>
                <a:ea typeface="华文楷体" panose="02010600040101010101" pitchFamily="2" charset="-122"/>
              </a:rPr>
              <a:t>类</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public:</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operator()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x,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y) const { return x * y;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重载操作符</a:t>
            </a:r>
            <a:r>
              <a:rPr lang="en-US" altLang="zh-CN" sz="2000" b="1" dirty="0">
                <a:solidFill>
                  <a:srgbClr val="000000"/>
                </a:solidFill>
                <a:latin typeface="Times New Roman" panose="02020603050405020304" pitchFamily="18" charset="0"/>
                <a:ea typeface="华文楷体" panose="02010600040101010101" pitchFamily="2" charset="-122"/>
              </a:rPr>
              <a:t>operator()</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 = { 1, 2, 3, 4, 5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const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N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"The result by </a:t>
            </a:r>
            <a:r>
              <a:rPr lang="en-US" altLang="zh-CN" sz="2000" b="1" dirty="0" err="1">
                <a:solidFill>
                  <a:srgbClr val="000000"/>
                </a:solidFill>
                <a:latin typeface="Times New Roman" panose="02020603050405020304" pitchFamily="18" charset="0"/>
                <a:ea typeface="华文楷体" panose="02010600040101010101" pitchFamily="2" charset="-122"/>
              </a:rPr>
              <a:t>multipling</a:t>
            </a:r>
            <a:r>
              <a:rPr lang="en-US" altLang="zh-CN" sz="2000" b="1" dirty="0">
                <a:solidFill>
                  <a:srgbClr val="000000"/>
                </a:solidFill>
                <a:latin typeface="Times New Roman" panose="02020603050405020304" pitchFamily="18" charset="0"/>
                <a:ea typeface="华文楷体" panose="02010600040101010101" pitchFamily="2" charset="-122"/>
              </a:rPr>
              <a:t> all elements in a is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None/>
            </a:pPr>
            <a:r>
              <a:rPr lang="en-US" altLang="zh-CN" sz="2000" b="1" dirty="0">
                <a:solidFill>
                  <a:srgbClr val="000000"/>
                </a:solidFill>
                <a:latin typeface="Times New Roman" panose="02020603050405020304" pitchFamily="18" charset="0"/>
                <a:ea typeface="华文楷体" panose="02010600040101010101" pitchFamily="2" charset="-122"/>
              </a:rPr>
              <a:t>		&lt;&lt; accumulate(a, a + N, 1, </a:t>
            </a:r>
            <a:r>
              <a:rPr lang="en-US" altLang="zh-CN" sz="2000" b="1" dirty="0" err="1">
                <a:solidFill>
                  <a:srgbClr val="000000"/>
                </a:solidFill>
                <a:latin typeface="Times New Roman" panose="02020603050405020304" pitchFamily="18" charset="0"/>
                <a:ea typeface="华文楷体" panose="02010600040101010101" pitchFamily="2" charset="-122"/>
              </a:rPr>
              <a:t>MultClass</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将类</a:t>
            </a:r>
            <a:r>
              <a:rPr lang="en-US" altLang="zh-CN" sz="2000" b="1" dirty="0" err="1">
                <a:solidFill>
                  <a:srgbClr val="000000"/>
                </a:solidFill>
                <a:latin typeface="Times New Roman" panose="02020603050405020304" pitchFamily="18" charset="0"/>
                <a:ea typeface="华文楷体" panose="02010600040101010101" pitchFamily="2" charset="-122"/>
              </a:rPr>
              <a:t>multclass</a:t>
            </a:r>
            <a:r>
              <a:rPr lang="zh-CN" altLang="en-US" sz="2000" b="1" dirty="0">
                <a:solidFill>
                  <a:srgbClr val="000000"/>
                </a:solidFill>
                <a:latin typeface="Times New Roman" panose="02020603050405020304" pitchFamily="18" charset="0"/>
                <a:ea typeface="华文楷体" panose="02010600040101010101" pitchFamily="2" charset="-122"/>
              </a:rPr>
              <a:t>传递给通用算法</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67589" name="标题 1"/>
          <p:cNvSpPr>
            <a:spLocks noGrp="1"/>
          </p:cNvSpPr>
          <p:nvPr>
            <p:ph type="title"/>
          </p:nvPr>
        </p:nvSpPr>
        <p:spPr>
          <a:xfrm>
            <a:off x="5143500" y="5500688"/>
            <a:ext cx="3614738" cy="1066800"/>
          </a:xfrm>
          <a:solidFill>
            <a:schemeClr val="bg1"/>
          </a:solidFill>
        </p:spPr>
        <p:txBody>
          <a:bodyPr>
            <a:normAutofit/>
          </a:bodyPr>
          <a:lstStyle/>
          <a:p>
            <a:pPr fontAlgn="auto">
              <a:spcAft>
                <a:spcPts val="0"/>
              </a:spcAft>
            </a:pPr>
            <a:r>
              <a:rPr lang="zh-CN" altLang="en-US"/>
              <a:t>例</a:t>
            </a:r>
            <a:r>
              <a:rPr lang="en-US" altLang="zh-CN"/>
              <a:t>10-14</a:t>
            </a:r>
            <a:r>
              <a:rPr lang="zh-CN" altLang="en-US"/>
              <a:t>（续）</a:t>
            </a:r>
            <a:endParaRPr lang="zh-CN" altLang="en-US"/>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STL</a:t>
            </a:r>
            <a:r>
              <a:rPr lang="zh-CN" altLang="en-US" sz="4400" b="1">
                <a:latin typeface="Times New Roman" panose="02020603050405020304" pitchFamily="18" charset="0"/>
                <a:ea typeface="隶书" panose="02010509060101010101" pitchFamily="49" charset="-122"/>
              </a:rPr>
              <a:t>提供的函数对象</a:t>
            </a:r>
            <a:endParaRPr lang="zh-CN" altLang="en-US" sz="4400" b="1">
              <a:latin typeface="Times New Roman" panose="02020603050405020304" pitchFamily="18" charset="0"/>
              <a:ea typeface="隶书" panose="02010509060101010101" pitchFamily="49" charset="-122"/>
            </a:endParaRPr>
          </a:p>
        </p:txBody>
      </p:sp>
      <p:sp>
        <p:nvSpPr>
          <p:cNvPr id="68611" name="内容占位符 2"/>
          <p:cNvSpPr>
            <a:spLocks noGrp="1"/>
          </p:cNvSpPr>
          <p:nvPr>
            <p:ph idx="1"/>
          </p:nvPr>
        </p:nvSpPr>
        <p:spPr/>
        <p:txBody>
          <a:bodyPr/>
          <a:lstStyle/>
          <a:p>
            <a:pPr>
              <a:spcAft>
                <a:spcPct val="25000"/>
              </a:spcAft>
            </a:pPr>
            <a:r>
              <a:rPr lang="zh-CN" altLang="en-US" sz="2400" b="1" dirty="0">
                <a:ea typeface="华文楷体" panose="02010600040101010101" pitchFamily="2" charset="-122"/>
              </a:rPr>
              <a:t>用于算术运算的函数对象：</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一元函数对象：</a:t>
            </a:r>
            <a:r>
              <a:rPr lang="en-US" altLang="zh-CN" sz="2400" b="1" dirty="0">
                <a:ea typeface="华文楷体" panose="02010600040101010101" pitchFamily="2" charset="-122"/>
              </a:rPr>
              <a:t>negate</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二元函数对象：</a:t>
            </a:r>
            <a:r>
              <a:rPr lang="en-US" altLang="zh-CN" sz="2400" b="1" dirty="0">
                <a:ea typeface="华文楷体" panose="02010600040101010101" pitchFamily="2" charset="-122"/>
              </a:rPr>
              <a:t>plus</a:t>
            </a:r>
            <a:r>
              <a:rPr lang="zh-CN" altLang="en-US" sz="2400" b="1" dirty="0">
                <a:ea typeface="华文楷体" panose="02010600040101010101" pitchFamily="2" charset="-122"/>
              </a:rPr>
              <a:t>、</a:t>
            </a:r>
            <a:r>
              <a:rPr lang="en-US" altLang="zh-CN" sz="2400" b="1" dirty="0">
                <a:ea typeface="华文楷体" panose="02010600040101010101" pitchFamily="2" charset="-122"/>
              </a:rPr>
              <a:t>minus</a:t>
            </a:r>
            <a:r>
              <a:rPr lang="zh-CN" altLang="en-US" sz="2400" b="1" dirty="0">
                <a:ea typeface="华文楷体" panose="02010600040101010101" pitchFamily="2" charset="-122"/>
              </a:rPr>
              <a:t>、</a:t>
            </a:r>
            <a:r>
              <a:rPr lang="en-US" altLang="zh-CN" sz="2400" b="1" dirty="0">
                <a:ea typeface="华文楷体" panose="02010600040101010101" pitchFamily="2" charset="-122"/>
              </a:rPr>
              <a:t>multiplies</a:t>
            </a:r>
            <a:r>
              <a:rPr lang="zh-CN" altLang="en-US" sz="2400" b="1" dirty="0">
                <a:ea typeface="华文楷体" panose="02010600040101010101" pitchFamily="2" charset="-122"/>
              </a:rPr>
              <a:t>、</a:t>
            </a:r>
            <a:r>
              <a:rPr lang="en-US" altLang="zh-CN" sz="2400" b="1" dirty="0">
                <a:ea typeface="华文楷体" panose="02010600040101010101" pitchFamily="2" charset="-122"/>
              </a:rPr>
              <a:t>divides</a:t>
            </a:r>
            <a:r>
              <a:rPr lang="zh-CN" altLang="en-US" sz="2400" b="1" dirty="0">
                <a:ea typeface="华文楷体" panose="02010600040101010101" pitchFamily="2" charset="-122"/>
              </a:rPr>
              <a:t>、</a:t>
            </a:r>
            <a:r>
              <a:rPr lang="en-US" altLang="zh-CN" sz="2400" b="1" dirty="0">
                <a:ea typeface="华文楷体" panose="02010600040101010101" pitchFamily="2" charset="-122"/>
              </a:rPr>
              <a:t>modulus</a:t>
            </a:r>
            <a:endParaRPr lang="en-US" altLang="zh-CN"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用于关系运算、逻辑运算的函数对象</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一元谓词：</a:t>
            </a:r>
            <a:r>
              <a:rPr lang="en-US" altLang="zh-CN" sz="2400" b="1" dirty="0" err="1">
                <a:ea typeface="华文楷体" panose="02010600040101010101" pitchFamily="2" charset="-122"/>
              </a:rPr>
              <a:t>logical_not</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二元谓词：</a:t>
            </a:r>
            <a:r>
              <a:rPr lang="en-US" altLang="zh-CN" sz="2400" b="1" dirty="0" err="1">
                <a:ea typeface="华文楷体" panose="02010600040101010101" pitchFamily="2" charset="-122"/>
              </a:rPr>
              <a:t>equal_to</a:t>
            </a:r>
            <a:r>
              <a:rPr lang="zh-CN" altLang="en-US" sz="2400" b="1" dirty="0">
                <a:ea typeface="华文楷体" panose="02010600040101010101" pitchFamily="2" charset="-122"/>
              </a:rPr>
              <a:t>、</a:t>
            </a:r>
            <a:r>
              <a:rPr lang="en-US" altLang="zh-CN" sz="2400" b="1" dirty="0" err="1">
                <a:ea typeface="华文楷体" panose="02010600040101010101" pitchFamily="2" charset="-122"/>
              </a:rPr>
              <a:t>not_equal_to</a:t>
            </a:r>
            <a:r>
              <a:rPr lang="zh-CN" altLang="en-US" sz="2400" b="1" dirty="0">
                <a:ea typeface="华文楷体" panose="02010600040101010101" pitchFamily="2" charset="-122"/>
              </a:rPr>
              <a:t>、</a:t>
            </a:r>
            <a:r>
              <a:rPr lang="en-US" altLang="zh-CN" sz="2400" b="1" dirty="0">
                <a:ea typeface="华文楷体" panose="02010600040101010101" pitchFamily="2" charset="-122"/>
              </a:rPr>
              <a:t>greater</a:t>
            </a:r>
            <a:r>
              <a:rPr lang="zh-CN" altLang="en-US" sz="2400" b="1" dirty="0">
                <a:ea typeface="华文楷体" panose="02010600040101010101" pitchFamily="2" charset="-122"/>
              </a:rPr>
              <a:t>、</a:t>
            </a:r>
            <a:r>
              <a:rPr lang="en-US" altLang="zh-CN" sz="2400" b="1" dirty="0">
                <a:ea typeface="华文楷体" panose="02010600040101010101" pitchFamily="2" charset="-122"/>
              </a:rPr>
              <a:t>less</a:t>
            </a:r>
            <a:r>
              <a:rPr lang="zh-CN" altLang="en-US" sz="2400" b="1" dirty="0">
                <a:ea typeface="华文楷体" panose="02010600040101010101" pitchFamily="2" charset="-122"/>
              </a:rPr>
              <a:t>、</a:t>
            </a:r>
            <a:r>
              <a:rPr lang="en-US" altLang="zh-CN" sz="2400" b="1" dirty="0" err="1">
                <a:ea typeface="华文楷体" panose="02010600040101010101" pitchFamily="2" charset="-122"/>
              </a:rPr>
              <a:t>greater_equal</a:t>
            </a:r>
            <a:r>
              <a:rPr lang="zh-CN" altLang="en-US" sz="2400" b="1" dirty="0">
                <a:ea typeface="华文楷体" panose="02010600040101010101" pitchFamily="2" charset="-122"/>
              </a:rPr>
              <a:t>、</a:t>
            </a:r>
            <a:r>
              <a:rPr lang="en-US" altLang="zh-CN" sz="2400" b="1" dirty="0" err="1">
                <a:ea typeface="华文楷体" panose="02010600040101010101" pitchFamily="2" charset="-122"/>
              </a:rPr>
              <a:t>less_equal</a:t>
            </a:r>
            <a:r>
              <a:rPr lang="zh-CN" altLang="en-US" sz="2400" b="1" dirty="0">
                <a:ea typeface="华文楷体" panose="02010600040101010101" pitchFamily="2" charset="-122"/>
              </a:rPr>
              <a:t>、</a:t>
            </a:r>
            <a:r>
              <a:rPr lang="en-US" altLang="zh-CN" sz="2400" b="1" dirty="0" err="1">
                <a:ea typeface="华文楷体" panose="02010600040101010101" pitchFamily="2" charset="-122"/>
              </a:rPr>
              <a:t>logical_and</a:t>
            </a:r>
            <a:r>
              <a:rPr lang="zh-CN" altLang="en-US" sz="2400" b="1" dirty="0">
                <a:ea typeface="华文楷体" panose="02010600040101010101" pitchFamily="2" charset="-122"/>
              </a:rPr>
              <a:t>、</a:t>
            </a:r>
            <a:r>
              <a:rPr lang="en-US" altLang="zh-CN" sz="2400" b="1" dirty="0" err="1">
                <a:ea typeface="华文楷体" panose="02010600040101010101" pitchFamily="2" charset="-122"/>
              </a:rPr>
              <a:t>logical_or</a:t>
            </a:r>
            <a:endParaRPr lang="zh-CN" altLang="en-US" sz="2400" b="1" dirty="0">
              <a:ea typeface="华文楷体" panose="02010600040101010101" pitchFamily="2" charset="-122"/>
            </a:endParaRPr>
          </a:p>
          <a:p>
            <a:pPr>
              <a:spcAft>
                <a:spcPct val="25000"/>
              </a:spcAft>
            </a:pPr>
            <a:endParaRPr lang="zh-CN" altLang="en-US" sz="2400" b="1" dirty="0">
              <a:ea typeface="华文楷体" panose="02010600040101010101" pitchFamily="2" charset="-122"/>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pPr eaLnBrk="1" hangingPunct="1"/>
            <a:r>
              <a:rPr lang="zh-CN" altLang="en-US" b="1"/>
              <a:t>例</a:t>
            </a:r>
            <a:r>
              <a:rPr lang="en-US" altLang="zh-CN" b="1"/>
              <a:t>10-15 </a:t>
            </a:r>
            <a:r>
              <a:rPr lang="zh-CN" altLang="en-US" b="1"/>
              <a:t>利用</a:t>
            </a:r>
            <a:r>
              <a:rPr lang="en-US" altLang="zh-CN" b="1"/>
              <a:t>STL</a:t>
            </a:r>
            <a:r>
              <a:rPr lang="zh-CN" altLang="en-US" b="1"/>
              <a:t>标准函数对象</a:t>
            </a:r>
            <a:endParaRPr lang="zh-CN" altLang="en-US" b="1"/>
          </a:p>
        </p:txBody>
      </p:sp>
      <p:sp>
        <p:nvSpPr>
          <p:cNvPr id="69635" name="内容占位符 2"/>
          <p:cNvSpPr>
            <a:spLocks noGrp="1"/>
          </p:cNvSpPr>
          <p:nvPr>
            <p:ph idx="1"/>
          </p:nvPr>
        </p:nvSpPr>
        <p:spPr>
          <a:xfrm>
            <a:off x="142875" y="1785938"/>
            <a:ext cx="8858250" cy="409342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//10_15.cpp</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a:t>
            </a:r>
            <a:r>
              <a:rPr lang="en-US" altLang="zh-CN" sz="2000" b="1" dirty="0" err="1">
                <a:solidFill>
                  <a:srgbClr val="000000"/>
                </a:solidFill>
                <a:latin typeface="Times New Roman" panose="02020603050405020304" pitchFamily="18" charset="0"/>
                <a:ea typeface="华文楷体" panose="02010600040101010101" pitchFamily="2" charset="-122"/>
              </a:rPr>
              <a:t>iostream</a:t>
            </a:r>
            <a:r>
              <a:rPr lang="en-US" altLang="zh-CN" sz="2000" b="1" dirty="0">
                <a:solidFill>
                  <a:srgbClr val="000000"/>
                </a:solidFill>
                <a:latin typeface="Times New Roman" panose="02020603050405020304" pitchFamily="18" charset="0"/>
                <a:ea typeface="华文楷体" panose="02010600040101010101" pitchFamily="2" charset="-122"/>
              </a:rPr>
              <a:t>&gt;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&lt;numeric&gt;   //</a:t>
            </a:r>
            <a:r>
              <a:rPr lang="zh-CN" altLang="en-US" sz="2000" b="1" dirty="0">
                <a:solidFill>
                  <a:srgbClr val="000000"/>
                </a:solidFill>
                <a:latin typeface="Times New Roman" panose="02020603050405020304" pitchFamily="18" charset="0"/>
                <a:ea typeface="华文楷体" panose="02010600040101010101" pitchFamily="2" charset="-122"/>
              </a:rPr>
              <a:t>包含数值算法头文件</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#include &lt;functional&gt;  //</a:t>
            </a:r>
            <a:r>
              <a:rPr lang="zh-CN" altLang="en-US" sz="2000" b="1" dirty="0">
                <a:solidFill>
                  <a:srgbClr val="000000"/>
                </a:solidFill>
                <a:latin typeface="Times New Roman" panose="02020603050405020304" pitchFamily="18" charset="0"/>
                <a:ea typeface="华文楷体" panose="02010600040101010101" pitchFamily="2" charset="-122"/>
              </a:rPr>
              <a:t>包含标准函数对象头文件</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using namespace </a:t>
            </a:r>
            <a:r>
              <a:rPr lang="en-US" altLang="zh-CN" sz="2000" b="1" dirty="0" err="1">
                <a:solidFill>
                  <a:srgbClr val="000000"/>
                </a:solidFill>
                <a:latin typeface="Times New Roman" panose="02020603050405020304" pitchFamily="18" charset="0"/>
                <a:ea typeface="华文楷体" panose="02010600040101010101" pitchFamily="2" charset="-122"/>
              </a:rPr>
              <a:t>std</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 = { 1, 2, 3, 4, 5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const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N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“The result by </a:t>
            </a:r>
            <a:r>
              <a:rPr lang="en-US" altLang="zh-CN" sz="2000" b="1" dirty="0" err="1">
                <a:solidFill>
                  <a:srgbClr val="000000"/>
                </a:solidFill>
                <a:latin typeface="Times New Roman" panose="02020603050405020304" pitchFamily="18" charset="0"/>
                <a:ea typeface="华文楷体" panose="02010600040101010101" pitchFamily="2" charset="-122"/>
              </a:rPr>
              <a:t>multipling</a:t>
            </a:r>
            <a:r>
              <a:rPr lang="en-US" altLang="zh-CN" sz="2000" b="1" dirty="0">
                <a:solidFill>
                  <a:srgbClr val="000000"/>
                </a:solidFill>
                <a:latin typeface="Times New Roman" panose="02020603050405020304" pitchFamily="18" charset="0"/>
                <a:ea typeface="华文楷体" panose="02010600040101010101" pitchFamily="2" charset="-122"/>
              </a:rPr>
              <a:t> all elements in A is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&lt;&lt; accumulate(a, a + N, 1, multiplies&lt;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将标准函数对象传递给通用算法</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eaLnBrk="1" fontAlgn="auto" hangingPunct="1">
              <a:spcAft>
                <a:spcPts val="0"/>
              </a:spcAft>
              <a:defRPr/>
            </a:pPr>
            <a:r>
              <a:rPr lang="zh-CN" altLang="en-US" sz="3200" b="1" dirty="0"/>
              <a:t>例</a:t>
            </a:r>
            <a:r>
              <a:rPr lang="en-US" altLang="zh-CN" sz="3200" b="1" dirty="0"/>
              <a:t>10-16</a:t>
            </a:r>
            <a:r>
              <a:rPr lang="zh-CN" altLang="en-US" sz="3200" b="1" dirty="0"/>
              <a:t>利用</a:t>
            </a:r>
            <a:r>
              <a:rPr lang="en-US" sz="3200" b="1" dirty="0"/>
              <a:t>STL</a:t>
            </a:r>
            <a:r>
              <a:rPr lang="zh-CN" altLang="en-US" sz="3200" b="1" dirty="0"/>
              <a:t>中的二元谓词函数对象</a:t>
            </a:r>
            <a:endParaRPr lang="zh-CN" altLang="en-US" sz="3200" b="1" dirty="0"/>
          </a:p>
        </p:txBody>
      </p:sp>
      <p:sp>
        <p:nvSpPr>
          <p:cNvPr id="70659" name="内容占位符 2"/>
          <p:cNvSpPr>
            <a:spLocks noGrp="1"/>
          </p:cNvSpPr>
          <p:nvPr>
            <p:ph idx="1"/>
          </p:nvPr>
        </p:nvSpPr>
        <p:spPr>
          <a:xfrm>
            <a:off x="179512" y="1124744"/>
            <a:ext cx="8858250" cy="532453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10_16.cpp, </a:t>
            </a:r>
            <a:r>
              <a:rPr lang="zh-CN" altLang="en-US" sz="2000" b="1">
                <a:solidFill>
                  <a:srgbClr val="000000"/>
                </a:solidFill>
                <a:latin typeface="Times New Roman" panose="02020603050405020304" pitchFamily="18" charset="0"/>
                <a:ea typeface="华文楷体" panose="02010600040101010101" pitchFamily="2" charset="-122"/>
              </a:rPr>
              <a:t>省略头部分</a:t>
            </a: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int main()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int intArr[] = { 30, 90, 10, 40, 70, 50, 20, 80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const int N = sizeof(intArr) / sizeof(int);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vector&lt;int&gt; a(intArr, intArr + N);</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cout &lt;&lt; "before sorting:" &lt;&lt; endl;</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copy(a.begin(), a.end(), ostream_iterator&lt;int&gt;(cout, "\t"));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cout &lt;&lt; endl;</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sort(a.begin(), a.end(), greater&lt;int&gt;());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cout &lt;&lt; "after sorting:" &lt;&lt; endl;</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copy(a.begin(), a.end(), ostream_iterator&lt;int&gt;(cout, "\t"));</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cout &lt;&lt; endl;</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	return 0;</a:t>
            </a:r>
            <a:endParaRPr lang="en-US" altLang="zh-CN" sz="2000" b="1">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p:txBody>
          <a:bodyPr/>
          <a:lstStyle/>
          <a:p>
            <a:r>
              <a:rPr lang="en-US" altLang="zh-CN" b="1" dirty="0"/>
              <a:t>10.6.2   lambda</a:t>
            </a:r>
            <a:r>
              <a:rPr lang="zh-CN" altLang="en-US" b="1" dirty="0"/>
              <a:t>表达式</a:t>
            </a:r>
            <a:r>
              <a:rPr lang="en-US" altLang="zh-CN" b="1" dirty="0"/>
              <a:t>(C++</a:t>
            </a:r>
            <a:r>
              <a:rPr lang="zh-CN" altLang="en-US" b="1" dirty="0"/>
              <a:t>新增</a:t>
            </a:r>
            <a:r>
              <a:rPr lang="zh-CN" altLang="en-US" b="1" dirty="0"/>
              <a:t>功能）</a:t>
            </a:r>
            <a:endParaRPr lang="zh-CN" altLang="en-US" b="1" dirty="0"/>
          </a:p>
        </p:txBody>
      </p:sp>
      <p:sp>
        <p:nvSpPr>
          <p:cNvPr id="82947" name="内容占位符 2"/>
          <p:cNvSpPr>
            <a:spLocks noGrp="1"/>
          </p:cNvSpPr>
          <p:nvPr>
            <p:ph idx="1"/>
          </p:nvPr>
        </p:nvSpPr>
        <p:spPr>
          <a:xfrm>
            <a:off x="656134" y="1340768"/>
            <a:ext cx="8230076" cy="3329003"/>
          </a:xfrm>
        </p:spPr>
        <p:txBody>
          <a:bodyPr/>
          <a:lstStyle/>
          <a:p>
            <a:r>
              <a:rPr lang="zh-CN" altLang="en-US" sz="2000" b="1">
                <a:ea typeface="微软雅黑" panose="020B0503020204020204" pitchFamily="34" charset="-122"/>
              </a:rPr>
              <a:t>定义：</a:t>
            </a:r>
            <a:r>
              <a:rPr lang="en-US" altLang="zh-CN" sz="2000" b="1">
                <a:ea typeface="微软雅黑" panose="020B0503020204020204" pitchFamily="34" charset="-122"/>
              </a:rPr>
              <a:t>[</a:t>
            </a:r>
            <a:r>
              <a:rPr lang="zh-CN" altLang="en-US" sz="2000" b="1">
                <a:ea typeface="微软雅黑" panose="020B0503020204020204" pitchFamily="34" charset="-122"/>
              </a:rPr>
              <a:t>捕获列表</a:t>
            </a:r>
            <a:r>
              <a:rPr lang="en-US" altLang="zh-CN" sz="2000" b="1">
                <a:ea typeface="微软雅黑" panose="020B0503020204020204" pitchFamily="34" charset="-122"/>
              </a:rPr>
              <a:t>] (</a:t>
            </a:r>
            <a:r>
              <a:rPr lang="zh-CN" altLang="en-US" sz="2000" b="1">
                <a:ea typeface="微软雅黑" panose="020B0503020204020204" pitchFamily="34" charset="-122"/>
              </a:rPr>
              <a:t>参数列表</a:t>
            </a:r>
            <a:r>
              <a:rPr lang="en-US" altLang="zh-CN" sz="2000" b="1">
                <a:ea typeface="微软雅黑" panose="020B0503020204020204" pitchFamily="34" charset="-122"/>
              </a:rPr>
              <a:t>) -&gt; </a:t>
            </a:r>
            <a:r>
              <a:rPr lang="zh-CN" altLang="en-US" sz="2000" b="1">
                <a:ea typeface="微软雅黑" panose="020B0503020204020204" pitchFamily="34" charset="-122"/>
              </a:rPr>
              <a:t>返回类型 </a:t>
            </a:r>
            <a:r>
              <a:rPr lang="en-US" altLang="zh-CN" sz="2000" b="1">
                <a:ea typeface="微软雅黑" panose="020B0503020204020204" pitchFamily="34" charset="-122"/>
              </a:rPr>
              <a:t>{</a:t>
            </a:r>
            <a:r>
              <a:rPr lang="zh-CN" altLang="en-US" sz="2000" b="1">
                <a:ea typeface="微软雅黑" panose="020B0503020204020204" pitchFamily="34" charset="-122"/>
              </a:rPr>
              <a:t>函数体</a:t>
            </a:r>
            <a:r>
              <a:rPr lang="en-US" altLang="zh-CN" sz="2000" b="1">
                <a:ea typeface="微软雅黑" panose="020B0503020204020204" pitchFamily="34" charset="-122"/>
              </a:rPr>
              <a:t>} </a:t>
            </a:r>
            <a:endParaRPr lang="en-US" altLang="zh-CN" sz="2000" b="1">
              <a:ea typeface="微软雅黑" panose="020B0503020204020204" pitchFamily="34" charset="-122"/>
            </a:endParaRPr>
          </a:p>
          <a:p>
            <a:pPr lvl="1"/>
            <a:r>
              <a:rPr lang="zh-CN" altLang="en-US" sz="2000" b="1">
                <a:ea typeface="微软雅黑" panose="020B0503020204020204" pitchFamily="34" charset="-122"/>
              </a:rPr>
              <a:t>捕获列表可捕获</a:t>
            </a:r>
            <a:r>
              <a:rPr lang="en-US" altLang="zh-CN" sz="2000" b="1">
                <a:ea typeface="微软雅黑" panose="020B0503020204020204" pitchFamily="34" charset="-122"/>
              </a:rPr>
              <a:t>lambda</a:t>
            </a:r>
            <a:r>
              <a:rPr lang="zh-CN" altLang="en-US" sz="2000" b="1">
                <a:ea typeface="微软雅黑" panose="020B0503020204020204" pitchFamily="34" charset="-122"/>
              </a:rPr>
              <a:t>所在函数的局部变量</a:t>
            </a:r>
            <a:endParaRPr lang="en-US" altLang="zh-CN" sz="2000" b="1">
              <a:ea typeface="微软雅黑" panose="020B0503020204020204" pitchFamily="34" charset="-122"/>
            </a:endParaRPr>
          </a:p>
          <a:p>
            <a:pPr lvl="1"/>
            <a:r>
              <a:rPr lang="zh-CN" altLang="en-US" sz="2000" b="1">
                <a:ea typeface="微软雅黑" panose="020B0503020204020204" pitchFamily="34" charset="-122"/>
              </a:rPr>
              <a:t>参数列表、返回类型和函数题与普通函数一致</a:t>
            </a:r>
            <a:endParaRPr lang="en-US" altLang="zh-CN" sz="2000" b="1">
              <a:ea typeface="微软雅黑" panose="020B0503020204020204" pitchFamily="34" charset="-122"/>
            </a:endParaRPr>
          </a:p>
          <a:p>
            <a:pPr lvl="1"/>
            <a:r>
              <a:rPr lang="zh-CN" altLang="en-US" sz="2000" b="1">
                <a:ea typeface="微软雅黑" panose="020B0503020204020204" pitchFamily="34" charset="-122"/>
              </a:rPr>
              <a:t>可定义在函数内部，理解为未命名的内联函数</a:t>
            </a:r>
            <a:endParaRPr lang="en-US" altLang="zh-CN" sz="2000" b="1">
              <a:ea typeface="微软雅黑" panose="020B0503020204020204" pitchFamily="34" charset="-122"/>
            </a:endParaRPr>
          </a:p>
          <a:p>
            <a:pPr lvl="1"/>
            <a:r>
              <a:rPr lang="en-US" altLang="zh-CN" sz="2000" b="1">
                <a:ea typeface="微软雅黑" panose="020B0503020204020204" pitchFamily="34" charset="-122"/>
              </a:rPr>
              <a:t>auto lmda = [] { return "Hello World!"; };</a:t>
            </a:r>
            <a:r>
              <a:rPr lang="zh-CN" altLang="zh-CN" sz="2000" b="1">
                <a:ea typeface="微软雅黑" panose="020B0503020204020204" pitchFamily="34" charset="-122"/>
              </a:rPr>
              <a:t> </a:t>
            </a:r>
            <a:endParaRPr lang="en-US" altLang="zh-CN" sz="2000" b="1">
              <a:ea typeface="微软雅黑" panose="020B0503020204020204" pitchFamily="34" charset="-122"/>
            </a:endParaRPr>
          </a:p>
          <a:p>
            <a:pPr lvl="1"/>
            <a:r>
              <a:rPr lang="en-US" altLang="zh-CN" sz="2000" b="1">
                <a:ea typeface="微软雅黑" panose="020B0503020204020204" pitchFamily="34" charset="-122"/>
              </a:rPr>
              <a:t>cout&lt;&lt;</a:t>
            </a:r>
            <a:r>
              <a:rPr lang="zh-CN" altLang="en-US" sz="2000" b="1">
                <a:ea typeface="微软雅黑" panose="020B0503020204020204" pitchFamily="34" charset="-122"/>
              </a:rPr>
              <a:t> </a:t>
            </a:r>
            <a:r>
              <a:rPr lang="en-US" altLang="zh-CN" sz="2000" b="1">
                <a:ea typeface="微软雅黑" panose="020B0503020204020204" pitchFamily="34" charset="-122"/>
              </a:rPr>
              <a:t>lmda()</a:t>
            </a:r>
            <a:r>
              <a:rPr lang="zh-CN" altLang="en-US" sz="2000" b="1">
                <a:ea typeface="微软雅黑" panose="020B0503020204020204" pitchFamily="34" charset="-122"/>
              </a:rPr>
              <a:t> </a:t>
            </a:r>
            <a:r>
              <a:rPr lang="en-US" altLang="zh-CN" sz="2000" b="1">
                <a:ea typeface="微软雅黑" panose="020B0503020204020204" pitchFamily="34" charset="-122"/>
              </a:rPr>
              <a:t>&lt;&lt;std::endl;</a:t>
            </a:r>
            <a:r>
              <a:rPr lang="zh-CN" altLang="en-US" sz="2000" b="1">
                <a:ea typeface="微软雅黑" panose="020B0503020204020204" pitchFamily="34" charset="-122"/>
              </a:rPr>
              <a:t> </a:t>
            </a:r>
            <a:r>
              <a:rPr lang="en-US" altLang="zh-CN" sz="2000" b="1">
                <a:ea typeface="微软雅黑" panose="020B0503020204020204" pitchFamily="34" charset="-122"/>
              </a:rPr>
              <a:t>//</a:t>
            </a:r>
            <a:r>
              <a:rPr lang="zh-CN" altLang="en-US" sz="2000" b="1">
                <a:ea typeface="微软雅黑" panose="020B0503020204020204" pitchFamily="34" charset="-122"/>
              </a:rPr>
              <a:t>执行与函数对象一致</a:t>
            </a:r>
            <a:endParaRPr lang="en-US" altLang="zh-CN" sz="2000" b="1">
              <a:ea typeface="微软雅黑" panose="020B0503020204020204" pitchFamily="34" charset="-122"/>
            </a:endParaRPr>
          </a:p>
          <a:p>
            <a:r>
              <a:rPr lang="zh-CN" altLang="en-US" sz="2000" b="1">
                <a:ea typeface="微软雅黑" panose="020B0503020204020204" pitchFamily="34" charset="-122"/>
              </a:rPr>
              <a:t>捕获列表有值捕获、引用捕获和隐式捕获方式</a:t>
            </a:r>
            <a:endParaRPr lang="en-US" altLang="zh-CN" sz="2000" b="1">
              <a:ea typeface="微软雅黑" panose="020B0503020204020204" pitchFamily="34" charset="-122"/>
            </a:endParaRPr>
          </a:p>
          <a:p>
            <a:pPr lvl="1"/>
            <a:r>
              <a:rPr lang="en-US" altLang="zh-CN" sz="2000" b="1">
                <a:ea typeface="微软雅黑" panose="020B0503020204020204" pitchFamily="34" charset="-122"/>
              </a:rPr>
              <a:t>int</a:t>
            </a:r>
            <a:r>
              <a:rPr lang="zh-CN" altLang="en-US" sz="2000" b="1">
                <a:ea typeface="微软雅黑" panose="020B0503020204020204" pitchFamily="34" charset="-122"/>
              </a:rPr>
              <a:t> </a:t>
            </a:r>
            <a:r>
              <a:rPr lang="en-US" altLang="zh-CN" sz="2000" b="1">
                <a:ea typeface="微软雅黑" panose="020B0503020204020204" pitchFamily="34" charset="-122"/>
              </a:rPr>
              <a:t>size</a:t>
            </a:r>
            <a:r>
              <a:rPr lang="zh-CN" altLang="en-US" sz="2000" b="1">
                <a:ea typeface="微软雅黑" panose="020B0503020204020204" pitchFamily="34" charset="-122"/>
              </a:rPr>
              <a:t> </a:t>
            </a:r>
            <a:r>
              <a:rPr lang="en-US" altLang="zh-CN" sz="2000" b="1">
                <a:ea typeface="微软雅黑" panose="020B0503020204020204" pitchFamily="34" charset="-122"/>
              </a:rPr>
              <a:t>=</a:t>
            </a:r>
            <a:r>
              <a:rPr lang="zh-CN" altLang="en-US" sz="2000" b="1">
                <a:ea typeface="微软雅黑" panose="020B0503020204020204" pitchFamily="34" charset="-122"/>
              </a:rPr>
              <a:t> </a:t>
            </a:r>
            <a:r>
              <a:rPr lang="en-US" altLang="zh-CN" sz="2000" b="1">
                <a:ea typeface="微软雅黑" panose="020B0503020204020204" pitchFamily="34" charset="-122"/>
              </a:rPr>
              <a:t>10,</a:t>
            </a:r>
            <a:r>
              <a:rPr lang="zh-CN" altLang="en-US" sz="2000" b="1">
                <a:ea typeface="微软雅黑" panose="020B0503020204020204" pitchFamily="34" charset="-122"/>
              </a:rPr>
              <a:t> </a:t>
            </a:r>
            <a:r>
              <a:rPr lang="en-US" altLang="zh-CN" sz="2000" b="1">
                <a:ea typeface="微软雅黑" panose="020B0503020204020204" pitchFamily="34" charset="-122"/>
              </a:rPr>
              <a:t>base</a:t>
            </a:r>
            <a:r>
              <a:rPr lang="zh-CN" altLang="en-US" sz="2000" b="1">
                <a:ea typeface="微软雅黑" panose="020B0503020204020204" pitchFamily="34" charset="-122"/>
              </a:rPr>
              <a:t> </a:t>
            </a:r>
            <a:r>
              <a:rPr lang="en-US" altLang="zh-CN" sz="2000" b="1">
                <a:ea typeface="微软雅黑" panose="020B0503020204020204" pitchFamily="34" charset="-122"/>
              </a:rPr>
              <a:t>=</a:t>
            </a:r>
            <a:r>
              <a:rPr lang="zh-CN" altLang="en-US" sz="2000" b="1">
                <a:ea typeface="微软雅黑" panose="020B0503020204020204" pitchFamily="34" charset="-122"/>
              </a:rPr>
              <a:t> </a:t>
            </a:r>
            <a:r>
              <a:rPr lang="en-US" altLang="zh-CN" sz="2000" b="1">
                <a:ea typeface="微软雅黑" panose="020B0503020204020204" pitchFamily="34" charset="-122"/>
              </a:rPr>
              <a:t>0;</a:t>
            </a:r>
            <a:r>
              <a:rPr lang="zh-CN" altLang="en-US" sz="2000" b="1">
                <a:ea typeface="微软雅黑" panose="020B0503020204020204" pitchFamily="34" charset="-122"/>
              </a:rPr>
              <a:t> </a:t>
            </a:r>
            <a:r>
              <a:rPr lang="en-US" altLang="zh-CN" sz="2000" b="1">
                <a:ea typeface="微软雅黑" panose="020B0503020204020204" pitchFamily="34" charset="-122"/>
              </a:rPr>
              <a:t>//</a:t>
            </a:r>
            <a:r>
              <a:rPr lang="zh-CN" altLang="en-US" sz="2000" b="1">
                <a:ea typeface="微软雅黑" panose="020B0503020204020204" pitchFamily="34" charset="-122"/>
              </a:rPr>
              <a:t>局部变量</a:t>
            </a:r>
            <a:endParaRPr lang="en-US" altLang="zh-CN" sz="2000" b="1">
              <a:ea typeface="微软雅黑" panose="020B0503020204020204" pitchFamily="34" charset="-122"/>
            </a:endParaRPr>
          </a:p>
          <a:p>
            <a:pPr lvl="1"/>
            <a:r>
              <a:rPr lang="en-US" altLang="zh-CN" sz="2000" b="1">
                <a:ea typeface="微软雅黑" panose="020B0503020204020204" pitchFamily="34" charset="-122"/>
              </a:rPr>
              <a:t>auto longer = [size](const string &amp;s){return s.size()&gt;size;} //</a:t>
            </a:r>
            <a:r>
              <a:rPr lang="zh-CN" altLang="en-US" sz="2000" b="1">
                <a:ea typeface="微软雅黑" panose="020B0503020204020204" pitchFamily="34" charset="-122"/>
              </a:rPr>
              <a:t>值捕获</a:t>
            </a:r>
            <a:endParaRPr lang="zh-CN" altLang="en-US" sz="2000" b="1">
              <a:ea typeface="微软雅黑" panose="020B0503020204020204" pitchFamily="34" charset="-122"/>
            </a:endParaRPr>
          </a:p>
          <a:p>
            <a:pPr lvl="1"/>
            <a:r>
              <a:rPr lang="en-US" altLang="zh-CN" sz="2000" b="1">
                <a:ea typeface="微软雅黑" panose="020B0503020204020204" pitchFamily="34" charset="-122"/>
              </a:rPr>
              <a:t>auto longer = [&amp;size](const string &amp;s){return s.size()&gt;size;}//</a:t>
            </a:r>
            <a:r>
              <a:rPr lang="zh-CN" altLang="en-US" sz="2000" b="1">
                <a:ea typeface="微软雅黑" panose="020B0503020204020204" pitchFamily="34" charset="-122"/>
              </a:rPr>
              <a:t>引用捕获</a:t>
            </a:r>
            <a:endParaRPr lang="en-US" altLang="zh-CN" sz="2000" b="1">
              <a:ea typeface="微软雅黑" panose="020B0503020204020204" pitchFamily="34" charset="-122"/>
            </a:endParaRPr>
          </a:p>
          <a:p>
            <a:pPr lvl="1"/>
            <a:r>
              <a:rPr lang="en-US" altLang="zh-CN" sz="2000" b="1">
                <a:ea typeface="微软雅黑" panose="020B0503020204020204" pitchFamily="34" charset="-122"/>
              </a:rPr>
              <a:t>auto longer =</a:t>
            </a:r>
            <a:r>
              <a:rPr lang="zh-CN" altLang="en-US" sz="2000" b="1">
                <a:ea typeface="微软雅黑" panose="020B0503020204020204" pitchFamily="34" charset="-122"/>
              </a:rPr>
              <a:t> </a:t>
            </a:r>
            <a:r>
              <a:rPr lang="en-US" altLang="zh-CN" sz="2000" b="1">
                <a:ea typeface="微软雅黑" panose="020B0503020204020204" pitchFamily="34" charset="-122"/>
              </a:rPr>
              <a:t>[=](const string &amp;s){return s.size()&gt;base;}//</a:t>
            </a:r>
            <a:r>
              <a:rPr lang="zh-CN" altLang="en-US" sz="2000" b="1">
                <a:ea typeface="微软雅黑" panose="020B0503020204020204" pitchFamily="34" charset="-122"/>
              </a:rPr>
              <a:t>隐式值捕获</a:t>
            </a:r>
            <a:endParaRPr lang="en-US" altLang="zh-CN" sz="2000" b="1">
              <a:ea typeface="微软雅黑" panose="020B0503020204020204" pitchFamily="34" charset="-122"/>
            </a:endParaRPr>
          </a:p>
          <a:p>
            <a:pPr lvl="1"/>
            <a:r>
              <a:rPr lang="en-US" altLang="zh-CN" sz="2000" b="1">
                <a:ea typeface="微软雅黑" panose="020B0503020204020204" pitchFamily="34" charset="-122"/>
              </a:rPr>
              <a:t>auto longer =</a:t>
            </a:r>
            <a:r>
              <a:rPr lang="zh-CN" altLang="en-US" sz="2000" b="1">
                <a:ea typeface="微软雅黑" panose="020B0503020204020204" pitchFamily="34" charset="-122"/>
              </a:rPr>
              <a:t> </a:t>
            </a:r>
            <a:r>
              <a:rPr lang="en-US" altLang="zh-CN" sz="2000" b="1">
                <a:ea typeface="微软雅黑" panose="020B0503020204020204" pitchFamily="34" charset="-122"/>
              </a:rPr>
              <a:t>[&amp;](const string &amp;s){return s.size()&gt;size;}//</a:t>
            </a:r>
            <a:r>
              <a:rPr lang="zh-CN" altLang="en-US" sz="2000" b="1">
                <a:ea typeface="微软雅黑" panose="020B0503020204020204" pitchFamily="34" charset="-122"/>
              </a:rPr>
              <a:t>隐式引用捕获</a:t>
            </a:r>
            <a:endParaRPr lang="zh-CN" altLang="en-US" sz="2000" b="1">
              <a:ea typeface="微软雅黑" panose="020B0503020204020204" pitchFamily="34" charset="-122"/>
            </a:endParaRPr>
          </a:p>
          <a:p>
            <a:pPr lvl="1"/>
            <a:endParaRPr lang="zh-CN" altLang="en-US" sz="2000" b="1">
              <a:ea typeface="微软雅黑" panose="020B0503020204020204" pitchFamily="34" charset="-122"/>
            </a:endParaRPr>
          </a:p>
          <a:p>
            <a:pPr lvl="1"/>
            <a:endParaRPr lang="zh-CN" altLang="en-US" sz="2000" b="1" dirty="0">
              <a:ea typeface="微软雅黑" panose="020B0503020204020204" pitchFamily="34" charset="-122"/>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10.6.3    </a:t>
            </a:r>
            <a:r>
              <a:rPr lang="zh-CN" altLang="en-US" b="1" dirty="0"/>
              <a:t>函数对象参数绑定</a:t>
            </a:r>
            <a:endParaRPr lang="zh-CN" altLang="en-US" b="1" dirty="0"/>
          </a:p>
        </p:txBody>
      </p:sp>
      <p:sp>
        <p:nvSpPr>
          <p:cNvPr id="3" name="内容占位符 2"/>
          <p:cNvSpPr>
            <a:spLocks noGrp="1"/>
          </p:cNvSpPr>
          <p:nvPr>
            <p:ph idx="1"/>
          </p:nvPr>
        </p:nvSpPr>
        <p:spPr>
          <a:xfrm>
            <a:off x="628650" y="1484784"/>
            <a:ext cx="7886700" cy="4351338"/>
          </a:xfrm>
        </p:spPr>
        <p:txBody>
          <a:bodyPr/>
          <a:lstStyle/>
          <a:p>
            <a:r>
              <a:rPr lang="zh-CN" altLang="en-US" sz="2800">
                <a:ea typeface="微软雅黑" panose="020B0503020204020204" pitchFamily="34" charset="-122"/>
              </a:rPr>
              <a:t>算法模板对作为参数的函数对象有严格要求</a:t>
            </a:r>
            <a:endParaRPr lang="en-US" altLang="zh-CN" sz="2800">
              <a:ea typeface="微软雅黑" panose="020B0503020204020204" pitchFamily="34" charset="-122"/>
            </a:endParaRPr>
          </a:p>
          <a:p>
            <a:r>
              <a:rPr lang="zh-CN" altLang="en-US" sz="2800">
                <a:ea typeface="微软雅黑" panose="020B0503020204020204" pitchFamily="34" charset="-122"/>
              </a:rPr>
              <a:t>通过</a:t>
            </a:r>
            <a:r>
              <a:rPr lang="en-US" altLang="zh-CN" sz="2800">
                <a:ea typeface="微软雅黑" panose="020B0503020204020204" pitchFamily="34" charset="-122"/>
              </a:rPr>
              <a:t>bind</a:t>
            </a:r>
            <a:r>
              <a:rPr lang="zh-CN" altLang="en-US" sz="2800">
                <a:ea typeface="微软雅黑" panose="020B0503020204020204" pitchFamily="34" charset="-122"/>
              </a:rPr>
              <a:t>参数绑定模板，实现将一种函数对象转化为另一种符合要求的函数对象。</a:t>
            </a:r>
            <a:endParaRPr lang="en-US" altLang="zh-CN" sz="2800">
              <a:ea typeface="微软雅黑" panose="020B0503020204020204" pitchFamily="34" charset="-122"/>
            </a:endParaRPr>
          </a:p>
          <a:p>
            <a:r>
              <a:rPr lang="zh-CN" altLang="en-US" sz="2800">
                <a:ea typeface="微软雅黑" panose="020B0503020204020204" pitchFamily="34" charset="-122"/>
              </a:rPr>
              <a:t>原型</a:t>
            </a:r>
            <a:endParaRPr lang="zh-CN" altLang="en-US" sz="2800">
              <a:ea typeface="微软雅黑" panose="020B0503020204020204" pitchFamily="34" charset="-122"/>
            </a:endParaRPr>
          </a:p>
          <a:p>
            <a:pPr marL="307975" lvl="1" indent="0">
              <a:buNone/>
            </a:pPr>
            <a:r>
              <a:rPr lang="en-US" altLang="zh-CN" sz="2400">
                <a:ea typeface="微软雅黑" panose="020B0503020204020204" pitchFamily="34" charset="-122"/>
              </a:rPr>
              <a:t>template&lt;class F, class... Args&gt;</a:t>
            </a:r>
            <a:endParaRPr lang="en-US" altLang="zh-CN" sz="2400">
              <a:ea typeface="微软雅黑" panose="020B0503020204020204" pitchFamily="34" charset="-122"/>
            </a:endParaRPr>
          </a:p>
          <a:p>
            <a:pPr marL="307975" lvl="1" indent="0">
              <a:buNone/>
            </a:pPr>
            <a:r>
              <a:rPr lang="en-US" altLang="zh-CN" sz="2400">
                <a:ea typeface="微软雅黑" panose="020B0503020204020204" pitchFamily="34" charset="-122"/>
              </a:rPr>
              <a:t>bind(F &amp;&amp; f, Args&amp;&amp;... args); </a:t>
            </a:r>
            <a:endParaRPr lang="en-US" altLang="zh-CN" sz="2400">
              <a:ea typeface="微软雅黑" panose="020B0503020204020204" pitchFamily="34" charset="-122"/>
            </a:endParaRPr>
          </a:p>
          <a:p>
            <a:pPr marL="346075" indent="-257175"/>
            <a:r>
              <a:rPr lang="zh-CN" altLang="en-US" sz="2800">
                <a:ea typeface="微软雅黑" panose="020B0503020204020204" pitchFamily="34" charset="-122"/>
              </a:rPr>
              <a:t>使用</a:t>
            </a:r>
            <a:endParaRPr lang="zh-CN" altLang="en-US" sz="2800">
              <a:ea typeface="微软雅黑" panose="020B0503020204020204" pitchFamily="34" charset="-122"/>
            </a:endParaRPr>
          </a:p>
          <a:p>
            <a:pPr marL="307975" lvl="1" indent="0">
              <a:buNone/>
            </a:pPr>
            <a:r>
              <a:rPr lang="en-US" altLang="zh-CN" sz="2400">
                <a:ea typeface="微软雅黑" panose="020B0503020204020204" pitchFamily="34" charset="-122"/>
              </a:rPr>
              <a:t>auto newFunc = bind(Func, arg_list); //</a:t>
            </a:r>
            <a:r>
              <a:rPr lang="zh-CN" altLang="en-US" sz="2400">
                <a:ea typeface="微软雅黑" panose="020B0503020204020204" pitchFamily="34" charset="-122"/>
              </a:rPr>
              <a:t>绑定</a:t>
            </a:r>
            <a:r>
              <a:rPr lang="en-US" altLang="zh-CN" sz="2400">
                <a:ea typeface="微软雅黑" panose="020B0503020204020204" pitchFamily="34" charset="-122"/>
              </a:rPr>
              <a:t>Func</a:t>
            </a:r>
            <a:r>
              <a:rPr lang="zh-CN" altLang="en-US" sz="2400">
                <a:ea typeface="微软雅黑" panose="020B0503020204020204" pitchFamily="34" charset="-122"/>
              </a:rPr>
              <a:t>与</a:t>
            </a:r>
            <a:r>
              <a:rPr lang="en-US" altLang="zh-CN" sz="2400">
                <a:ea typeface="微软雅黑" panose="020B0503020204020204" pitchFamily="34" charset="-122"/>
              </a:rPr>
              <a:t>arg_list</a:t>
            </a:r>
            <a:r>
              <a:rPr lang="zh-CN" altLang="en-US" sz="2400">
                <a:ea typeface="微软雅黑" panose="020B0503020204020204" pitchFamily="34" charset="-122"/>
              </a:rPr>
              <a:t>获得新函数</a:t>
            </a:r>
            <a:r>
              <a:rPr lang="en-US" altLang="zh-CN" sz="2400">
                <a:ea typeface="微软雅黑" panose="020B0503020204020204" pitchFamily="34" charset="-122"/>
              </a:rPr>
              <a:t>newFunc</a:t>
            </a:r>
            <a:endParaRPr lang="en-US" altLang="zh-CN" sz="2400">
              <a:ea typeface="微软雅黑" panose="020B0503020204020204" pitchFamily="34" charset="-122"/>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9" name="标题 1"/>
          <p:cNvSpPr>
            <a:spLocks noGrp="1"/>
          </p:cNvSpPr>
          <p:nvPr>
            <p:ph type="title"/>
          </p:nvPr>
        </p:nvSpPr>
        <p:spPr/>
        <p:txBody>
          <a:bodyPr/>
          <a:lstStyle/>
          <a:p>
            <a:pPr eaLnBrk="1" hangingPunct="1"/>
            <a:r>
              <a:rPr lang="zh-CN" altLang="en-US">
                <a:solidFill>
                  <a:schemeClr val="tx1"/>
                </a:solidFill>
              </a:rPr>
              <a:t>例</a:t>
            </a:r>
            <a:r>
              <a:rPr lang="en-US" altLang="zh-CN">
                <a:solidFill>
                  <a:schemeClr val="tx1"/>
                </a:solidFill>
              </a:rPr>
              <a:t>10-17 bind</a:t>
            </a:r>
            <a:r>
              <a:rPr lang="zh-CN" altLang="en-US">
                <a:solidFill>
                  <a:schemeClr val="tx1"/>
                </a:solidFill>
              </a:rPr>
              <a:t>参数绑定实例</a:t>
            </a:r>
            <a:endParaRPr lang="zh-CN" altLang="en-US">
              <a:solidFill>
                <a:schemeClr val="tx1"/>
              </a:solidFill>
            </a:endParaRPr>
          </a:p>
        </p:txBody>
      </p:sp>
      <p:sp>
        <p:nvSpPr>
          <p:cNvPr id="84995" name="内容占位符 2"/>
          <p:cNvSpPr>
            <a:spLocks noGrp="1"/>
          </p:cNvSpPr>
          <p:nvPr>
            <p:ph idx="1"/>
          </p:nvPr>
        </p:nvSpPr>
        <p:spPr>
          <a:xfrm>
            <a:off x="971600" y="1519786"/>
            <a:ext cx="7029844" cy="4138671"/>
          </a:xfrm>
        </p:spPr>
        <p:txBody>
          <a:bodyPr/>
          <a:lstStyle/>
          <a:p>
            <a:pPr eaLnBrk="1" hangingPunct="1">
              <a:spcBef>
                <a:spcPct val="0"/>
              </a:spcBef>
              <a:buNone/>
            </a:pPr>
            <a:r>
              <a:rPr lang="en-US" altLang="zh-CN" sz="1800" b="1" dirty="0"/>
              <a:t>//10_17.cpp</a:t>
            </a:r>
            <a:endParaRPr lang="en-US" altLang="zh-CN" sz="1800" b="1" dirty="0"/>
          </a:p>
          <a:p>
            <a:pPr eaLnBrk="1" hangingPunct="1">
              <a:spcBef>
                <a:spcPct val="0"/>
              </a:spcBef>
              <a:buNone/>
            </a:pPr>
            <a:r>
              <a:rPr lang="en-US" altLang="zh-CN" sz="1800" b="1" dirty="0"/>
              <a:t>#include &lt;functional&gt;</a:t>
            </a:r>
            <a:endParaRPr lang="en-US" altLang="zh-CN" sz="1800" b="1" dirty="0"/>
          </a:p>
          <a:p>
            <a:pPr eaLnBrk="1" hangingPunct="1">
              <a:spcBef>
                <a:spcPct val="0"/>
              </a:spcBef>
              <a:buNone/>
            </a:pPr>
            <a:r>
              <a:rPr lang="en-US" altLang="zh-CN" sz="1800" b="1" dirty="0"/>
              <a:t>#include&lt;iostream&gt;</a:t>
            </a:r>
            <a:endParaRPr lang="en-US" altLang="zh-CN" sz="1800" b="1" dirty="0"/>
          </a:p>
          <a:p>
            <a:pPr eaLnBrk="1" hangingPunct="1">
              <a:spcBef>
                <a:spcPct val="0"/>
              </a:spcBef>
              <a:buNone/>
            </a:pPr>
            <a:r>
              <a:rPr lang="en-US" altLang="zh-CN" sz="1800" b="1" dirty="0"/>
              <a:t>#include&lt;vector&gt;</a:t>
            </a:r>
            <a:endParaRPr lang="en-US" altLang="zh-CN" sz="1800" b="1" dirty="0"/>
          </a:p>
          <a:p>
            <a:pPr eaLnBrk="1" hangingPunct="1">
              <a:spcBef>
                <a:spcPct val="0"/>
              </a:spcBef>
              <a:buNone/>
            </a:pPr>
            <a:r>
              <a:rPr lang="en-US" altLang="zh-CN" sz="1800" b="1" dirty="0"/>
              <a:t>#include&lt;algorithm&gt;</a:t>
            </a:r>
            <a:endParaRPr lang="en-US" altLang="zh-CN" sz="1800" b="1" dirty="0"/>
          </a:p>
          <a:p>
            <a:pPr eaLnBrk="1" hangingPunct="1">
              <a:spcBef>
                <a:spcPct val="0"/>
              </a:spcBef>
              <a:buNone/>
            </a:pPr>
            <a:r>
              <a:rPr lang="en-US" altLang="zh-CN" sz="1800" b="1" dirty="0"/>
              <a:t>using namespace std;</a:t>
            </a:r>
            <a:endParaRPr lang="en-US" altLang="zh-CN" sz="1800" b="1" dirty="0"/>
          </a:p>
          <a:p>
            <a:pPr eaLnBrk="1" hangingPunct="1">
              <a:spcBef>
                <a:spcPct val="0"/>
              </a:spcBef>
              <a:buNone/>
            </a:pPr>
            <a:r>
              <a:rPr lang="en-US" altLang="zh-CN" sz="1800" b="1" dirty="0"/>
              <a:t>using namespace placeholders; //</a:t>
            </a:r>
            <a:r>
              <a:rPr lang="zh-CN" altLang="en-US" sz="1800" b="1" dirty="0"/>
              <a:t>占位符</a:t>
            </a:r>
            <a:r>
              <a:rPr lang="en-US" altLang="zh-CN" sz="1800" b="1" dirty="0"/>
              <a:t>_n</a:t>
            </a:r>
            <a:r>
              <a:rPr lang="zh-CN" altLang="en-US" sz="1800" b="1" dirty="0"/>
              <a:t>的命名空间</a:t>
            </a:r>
            <a:endParaRPr lang="zh-CN" altLang="en-US" sz="1800" b="1" dirty="0"/>
          </a:p>
          <a:p>
            <a:pPr eaLnBrk="1" hangingPunct="1">
              <a:spcBef>
                <a:spcPct val="0"/>
              </a:spcBef>
              <a:buNone/>
            </a:pPr>
            <a:r>
              <a:rPr lang="en-US" altLang="zh-CN" sz="1800" b="1" dirty="0"/>
              <a:t>int main() {</a:t>
            </a:r>
            <a:endParaRPr lang="en-US" altLang="zh-CN" sz="1800" b="1" dirty="0"/>
          </a:p>
          <a:p>
            <a:pPr eaLnBrk="1" hangingPunct="1">
              <a:spcBef>
                <a:spcPct val="0"/>
              </a:spcBef>
              <a:buNone/>
            </a:pPr>
            <a:r>
              <a:rPr lang="en-US" altLang="zh-CN" sz="1800" b="1" dirty="0"/>
              <a:t>	int </a:t>
            </a:r>
            <a:r>
              <a:rPr lang="en-US" altLang="zh-CN" sz="1800" b="1" dirty="0" err="1"/>
              <a:t>intArr</a:t>
            </a:r>
            <a:r>
              <a:rPr lang="en-US" altLang="zh-CN" sz="1800" b="1" dirty="0"/>
              <a:t>[] = { 30, 90, 10, 40, 70, 50, 20, 80 };</a:t>
            </a:r>
            <a:endParaRPr lang="en-US" altLang="zh-CN" sz="1800" b="1" dirty="0"/>
          </a:p>
          <a:p>
            <a:pPr eaLnBrk="1" hangingPunct="1">
              <a:spcBef>
                <a:spcPct val="0"/>
              </a:spcBef>
              <a:buNone/>
            </a:pPr>
            <a:r>
              <a:rPr lang="en-US" altLang="zh-CN" sz="1800" b="1" dirty="0"/>
              <a:t>	const int N = </a:t>
            </a:r>
            <a:r>
              <a:rPr lang="en-US" altLang="zh-CN" sz="1800" b="1" dirty="0" err="1"/>
              <a:t>sizeof</a:t>
            </a:r>
            <a:r>
              <a:rPr lang="en-US" altLang="zh-CN" sz="1800" b="1" dirty="0"/>
              <a:t>(</a:t>
            </a:r>
            <a:r>
              <a:rPr lang="en-US" altLang="zh-CN" sz="1800" b="1" dirty="0" err="1"/>
              <a:t>intArr</a:t>
            </a:r>
            <a:r>
              <a:rPr lang="en-US" altLang="zh-CN" sz="1800" b="1" dirty="0"/>
              <a:t>) / </a:t>
            </a:r>
            <a:r>
              <a:rPr lang="en-US" altLang="zh-CN" sz="1800" b="1" dirty="0" err="1"/>
              <a:t>sizeof</a:t>
            </a:r>
            <a:r>
              <a:rPr lang="en-US" altLang="zh-CN" sz="1800" b="1" dirty="0"/>
              <a:t>(int);</a:t>
            </a:r>
            <a:endParaRPr lang="en-US" altLang="zh-CN" sz="1800" b="1" dirty="0"/>
          </a:p>
          <a:p>
            <a:pPr eaLnBrk="1" hangingPunct="1">
              <a:spcBef>
                <a:spcPct val="0"/>
              </a:spcBef>
              <a:buNone/>
            </a:pPr>
            <a:r>
              <a:rPr lang="en-US" altLang="zh-CN" sz="1800" b="1" dirty="0"/>
              <a:t>	vector&lt;int&gt; a(</a:t>
            </a:r>
            <a:r>
              <a:rPr lang="en-US" altLang="zh-CN" sz="1800" b="1" dirty="0" err="1"/>
              <a:t>intArr</a:t>
            </a:r>
            <a:r>
              <a:rPr lang="en-US" altLang="zh-CN" sz="1800" b="1" dirty="0"/>
              <a:t>, </a:t>
            </a:r>
            <a:r>
              <a:rPr lang="en-US" altLang="zh-CN" sz="1800" b="1" dirty="0" err="1"/>
              <a:t>intArr</a:t>
            </a:r>
            <a:r>
              <a:rPr lang="en-US" altLang="zh-CN" sz="1800" b="1" dirty="0"/>
              <a:t> + N);</a:t>
            </a:r>
            <a:endParaRPr lang="en-US" altLang="zh-CN" sz="1800" b="1" dirty="0"/>
          </a:p>
          <a:p>
            <a:pPr eaLnBrk="1" hangingPunct="1">
              <a:spcBef>
                <a:spcPct val="0"/>
              </a:spcBef>
              <a:buNone/>
            </a:pPr>
            <a:r>
              <a:rPr lang="en-US" altLang="zh-CN" sz="1800" b="1" dirty="0"/>
              <a:t>	auto p = </a:t>
            </a:r>
            <a:r>
              <a:rPr lang="en-US" altLang="zh-CN" sz="1800" b="1" dirty="0" err="1"/>
              <a:t>find_if</a:t>
            </a:r>
            <a:r>
              <a:rPr lang="en-US" altLang="zh-CN" sz="1800" b="1" dirty="0"/>
              <a:t>(</a:t>
            </a:r>
            <a:r>
              <a:rPr lang="en-US" altLang="zh-CN" sz="1800" b="1" dirty="0" err="1"/>
              <a:t>a.begin</a:t>
            </a:r>
            <a:r>
              <a:rPr lang="en-US" altLang="zh-CN" sz="1800" b="1" dirty="0"/>
              <a:t>(), </a:t>
            </a:r>
            <a:r>
              <a:rPr lang="en-US" altLang="zh-CN" sz="1800" b="1" dirty="0" err="1"/>
              <a:t>a.end</a:t>
            </a:r>
            <a:r>
              <a:rPr lang="en-US" altLang="zh-CN" sz="1800" b="1" dirty="0"/>
              <a:t>(), </a:t>
            </a:r>
            <a:r>
              <a:rPr lang="en-US" altLang="zh-CN" sz="1800" b="1" dirty="0">
                <a:solidFill>
                  <a:srgbClr val="FFFF00"/>
                </a:solidFill>
              </a:rPr>
              <a:t>bind(greater&lt;&gt;(),_1, 40)</a:t>
            </a:r>
            <a:r>
              <a:rPr lang="en-US" altLang="zh-CN" sz="1800" b="1" dirty="0"/>
              <a:t>);</a:t>
            </a:r>
            <a:endParaRPr lang="en-US" altLang="zh-CN" sz="1800" b="1" dirty="0"/>
          </a:p>
          <a:p>
            <a:pPr eaLnBrk="1" hangingPunct="1">
              <a:spcBef>
                <a:spcPct val="0"/>
              </a:spcBef>
              <a:buNone/>
            </a:pPr>
            <a:r>
              <a:rPr lang="en-US" altLang="zh-CN" sz="1800" b="1" dirty="0"/>
              <a:t>	if (p == </a:t>
            </a:r>
            <a:r>
              <a:rPr lang="en-US" altLang="zh-CN" sz="1800" b="1" dirty="0" err="1"/>
              <a:t>a.end</a:t>
            </a:r>
            <a:r>
              <a:rPr lang="en-US" altLang="zh-CN" sz="1800" b="1" dirty="0"/>
              <a:t>())</a:t>
            </a:r>
            <a:endParaRPr lang="en-US" altLang="zh-CN" sz="1800" b="1" dirty="0"/>
          </a:p>
          <a:p>
            <a:pPr eaLnBrk="1" hangingPunct="1">
              <a:spcBef>
                <a:spcPct val="0"/>
              </a:spcBef>
              <a:buNone/>
            </a:pPr>
            <a:r>
              <a:rPr lang="en-US" altLang="zh-CN" sz="1800" b="1" dirty="0"/>
              <a:t>		</a:t>
            </a:r>
            <a:r>
              <a:rPr lang="en-US" altLang="zh-CN" sz="1800" b="1" dirty="0" err="1"/>
              <a:t>cout</a:t>
            </a:r>
            <a:r>
              <a:rPr lang="en-US" altLang="zh-CN" sz="1800" b="1" dirty="0"/>
              <a:t> &lt;&lt; "no element greater than 40" &lt;&lt; </a:t>
            </a:r>
            <a:r>
              <a:rPr lang="en-US" altLang="zh-CN" sz="1800" b="1" dirty="0" err="1"/>
              <a:t>endl</a:t>
            </a:r>
            <a:r>
              <a:rPr lang="en-US" altLang="zh-CN" sz="1800" b="1" dirty="0"/>
              <a:t>;</a:t>
            </a:r>
            <a:endParaRPr lang="en-US" altLang="zh-CN" sz="1800" b="1" dirty="0"/>
          </a:p>
          <a:p>
            <a:pPr eaLnBrk="1" hangingPunct="1">
              <a:spcBef>
                <a:spcPct val="0"/>
              </a:spcBef>
              <a:buNone/>
            </a:pPr>
            <a:r>
              <a:rPr lang="en-US" altLang="zh-CN" sz="1800" b="1" dirty="0"/>
              <a:t>	else</a:t>
            </a:r>
            <a:endParaRPr lang="en-US" altLang="zh-CN" sz="1800" b="1" dirty="0"/>
          </a:p>
          <a:p>
            <a:pPr eaLnBrk="1" hangingPunct="1">
              <a:spcBef>
                <a:spcPct val="0"/>
              </a:spcBef>
              <a:buNone/>
            </a:pPr>
            <a:r>
              <a:rPr lang="en-US" altLang="zh-CN" sz="1800" b="1" dirty="0"/>
              <a:t>		</a:t>
            </a:r>
            <a:r>
              <a:rPr lang="en-US" altLang="zh-CN" sz="1800" b="1" dirty="0" err="1"/>
              <a:t>cout</a:t>
            </a:r>
            <a:r>
              <a:rPr lang="en-US" altLang="zh-CN" sz="1800" b="1" dirty="0"/>
              <a:t> &lt;&lt; "first element greater than 40 is: " &lt;&lt; *p &lt;&lt; </a:t>
            </a:r>
            <a:r>
              <a:rPr lang="en-US" altLang="zh-CN" sz="1800" b="1" dirty="0" err="1"/>
              <a:t>endl</a:t>
            </a:r>
            <a:r>
              <a:rPr lang="en-US" altLang="zh-CN" sz="1800" b="1" dirty="0"/>
              <a:t>;</a:t>
            </a:r>
            <a:endParaRPr lang="en-US" altLang="zh-CN" sz="1800" b="1" dirty="0"/>
          </a:p>
          <a:p>
            <a:pPr eaLnBrk="1" hangingPunct="1">
              <a:spcBef>
                <a:spcPct val="0"/>
              </a:spcBef>
              <a:buNone/>
            </a:pPr>
            <a:r>
              <a:rPr lang="en-US" altLang="zh-CN" sz="1800" b="1" dirty="0"/>
              <a:t>	return 0;</a:t>
            </a:r>
            <a:endParaRPr lang="en-US" altLang="zh-CN" sz="1800" b="1" dirty="0"/>
          </a:p>
          <a:p>
            <a:pPr eaLnBrk="1" hangingPunct="1">
              <a:spcBef>
                <a:spcPct val="0"/>
              </a:spcBef>
              <a:buNone/>
            </a:pPr>
            <a:r>
              <a:rPr lang="en-US" altLang="zh-CN" sz="1800" b="1" dirty="0"/>
              <a:t>}</a:t>
            </a:r>
            <a:endParaRPr lang="en-US" altLang="zh-CN" sz="1800" b="1" dirty="0"/>
          </a:p>
          <a:p>
            <a:pPr eaLnBrk="1" hangingPunct="1">
              <a:spcBef>
                <a:spcPct val="0"/>
              </a:spcBef>
              <a:buNone/>
            </a:pPr>
            <a:endParaRPr lang="en-US" altLang="zh-CN" sz="1800" b="1" dirty="0"/>
          </a:p>
        </p:txBody>
      </p:sp>
      <p:sp>
        <p:nvSpPr>
          <p:cNvPr id="13" name="TextBox 6"/>
          <p:cNvSpPr txBox="1"/>
          <p:nvPr/>
        </p:nvSpPr>
        <p:spPr>
          <a:xfrm>
            <a:off x="3779912" y="6093296"/>
            <a:ext cx="3456384" cy="523220"/>
          </a:xfrm>
          <a:prstGeom prst="rect">
            <a:avLst/>
          </a:prstGeom>
          <a:solidFill>
            <a:srgbClr val="FFFF66"/>
          </a:solidFill>
        </p:spPr>
        <p:txBody>
          <a:bodyPr wrap="square">
            <a:spAutoFit/>
          </a:bodyPr>
          <a:lstStyle/>
          <a:p>
            <a:pPr>
              <a:defRPr/>
            </a:pPr>
            <a:r>
              <a:rPr lang="zh-CN" altLang="en-US" sz="1400" dirty="0">
                <a:solidFill>
                  <a:srgbClr val="000000"/>
                </a:solidFill>
                <a:latin typeface="微软雅黑" panose="020B0503020204020204" pitchFamily="34" charset="-122"/>
                <a:ea typeface="微软雅黑" panose="020B0503020204020204" pitchFamily="34" charset="-122"/>
              </a:rPr>
              <a:t>运行结果：</a:t>
            </a:r>
            <a:endParaRPr lang="en-US" altLang="zh-CN" sz="1400" dirty="0">
              <a:solidFill>
                <a:srgbClr val="000000"/>
              </a:solidFill>
              <a:latin typeface="微软雅黑" panose="020B0503020204020204" pitchFamily="34" charset="-122"/>
              <a:ea typeface="微软雅黑" panose="020B0503020204020204" pitchFamily="34" charset="-122"/>
            </a:endParaRPr>
          </a:p>
          <a:p>
            <a:pPr>
              <a:defRPr/>
            </a:pPr>
            <a:r>
              <a:rPr lang="en-US" sz="1400" dirty="0">
                <a:solidFill>
                  <a:srgbClr val="000000"/>
                </a:solidFill>
                <a:latin typeface="微软雅黑" panose="020B0503020204020204" pitchFamily="34" charset="-122"/>
                <a:ea typeface="微软雅黑" panose="020B0503020204020204" pitchFamily="34" charset="-122"/>
              </a:rPr>
              <a:t>first element greater than 40 is: 90</a:t>
            </a:r>
            <a:endParaRPr lang="en-US" sz="1400" dirty="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bwMode="auto">
          <a:xfrm>
            <a:off x="539552" y="2819400"/>
            <a:ext cx="8352928"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7"/>
            </a:pPr>
            <a:r>
              <a:rPr lang="en-US" altLang="zh-CN" sz="6600" b="1" dirty="0">
                <a:ea typeface="华文彩云" panose="02010800040101010101" pitchFamily="2" charset="-122"/>
              </a:rPr>
              <a:t>   </a:t>
            </a:r>
            <a:r>
              <a:rPr lang="zh-CN" altLang="en-US" sz="6600" b="1" dirty="0">
                <a:ea typeface="华文彩云" panose="02010800040101010101" pitchFamily="2" charset="-122"/>
              </a:rPr>
              <a:t>算法</a:t>
            </a:r>
            <a:endParaRPr lang="zh-CN" altLang="en-US" sz="6600" dirty="0">
              <a:solidFill>
                <a:srgbClr val="FFFF00"/>
              </a:solidFill>
            </a:endParaRPr>
          </a:p>
        </p:txBody>
      </p:sp>
      <p:grpSp>
        <p:nvGrpSpPr>
          <p:cNvPr id="689168" name="Group 16"/>
          <p:cNvGrpSpPr/>
          <p:nvPr/>
        </p:nvGrpSpPr>
        <p:grpSpPr bwMode="auto">
          <a:xfrm>
            <a:off x="4419600" y="609600"/>
            <a:ext cx="2438400" cy="1752600"/>
            <a:chOff x="2208" y="384"/>
            <a:chExt cx="1536" cy="1104"/>
          </a:xfrm>
        </p:grpSpPr>
        <p:sp>
          <p:nvSpPr>
            <p:cNvPr id="689157"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689158" name="Group 6"/>
            <p:cNvGrpSpPr/>
            <p:nvPr/>
          </p:nvGrpSpPr>
          <p:grpSpPr bwMode="auto">
            <a:xfrm>
              <a:off x="2592" y="384"/>
              <a:ext cx="820" cy="734"/>
              <a:chOff x="613" y="1858"/>
              <a:chExt cx="672" cy="686"/>
            </a:xfrm>
          </p:grpSpPr>
          <p:grpSp>
            <p:nvGrpSpPr>
              <p:cNvPr id="689159" name="Group 7"/>
              <p:cNvGrpSpPr/>
              <p:nvPr/>
            </p:nvGrpSpPr>
            <p:grpSpPr bwMode="auto">
              <a:xfrm>
                <a:off x="613" y="2062"/>
                <a:ext cx="216" cy="482"/>
                <a:chOff x="3064" y="2792"/>
                <a:chExt cx="281" cy="626"/>
              </a:xfrm>
            </p:grpSpPr>
            <p:sp>
              <p:nvSpPr>
                <p:cNvPr id="689160"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1"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2" name="Group 10"/>
              <p:cNvGrpSpPr/>
              <p:nvPr/>
            </p:nvGrpSpPr>
            <p:grpSpPr bwMode="auto">
              <a:xfrm>
                <a:off x="850" y="1858"/>
                <a:ext cx="183" cy="470"/>
                <a:chOff x="2073" y="2933"/>
                <a:chExt cx="238" cy="611"/>
              </a:xfrm>
            </p:grpSpPr>
            <p:sp>
              <p:nvSpPr>
                <p:cNvPr id="689163"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4"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5" name="Group 13"/>
              <p:cNvGrpSpPr/>
              <p:nvPr/>
            </p:nvGrpSpPr>
            <p:grpSpPr bwMode="auto">
              <a:xfrm>
                <a:off x="1069" y="1987"/>
                <a:ext cx="216" cy="482"/>
                <a:chOff x="2326" y="3101"/>
                <a:chExt cx="281" cy="626"/>
              </a:xfrm>
            </p:grpSpPr>
            <p:sp>
              <p:nvSpPr>
                <p:cNvPr id="689166"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7"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10.7.1 STL</a:t>
            </a:r>
            <a:r>
              <a:rPr lang="zh-CN" altLang="en-US" sz="4400" b="1">
                <a:latin typeface="Times New Roman" panose="02020603050405020304" pitchFamily="18" charset="0"/>
                <a:ea typeface="隶书" panose="02010509060101010101" pitchFamily="49" charset="-122"/>
              </a:rPr>
              <a:t>算法基础</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683568" y="1412776"/>
            <a:ext cx="7886700" cy="4351338"/>
          </a:xfrm>
        </p:spPr>
        <p:txBody>
          <a:bodyPr/>
          <a:lstStyle/>
          <a:p>
            <a:pPr>
              <a:spcAft>
                <a:spcPct val="25000"/>
              </a:spcAft>
            </a:pPr>
            <a:r>
              <a:rPr lang="en-US" altLang="zh-CN" sz="2400" b="1" dirty="0">
                <a:ea typeface="华文楷体" panose="02010600040101010101" pitchFamily="2" charset="-122"/>
              </a:rPr>
              <a:t>STL</a:t>
            </a:r>
            <a:r>
              <a:rPr lang="zh-CN" altLang="en-US" sz="2400" b="1" dirty="0">
                <a:ea typeface="华文楷体" panose="02010600040101010101" pitchFamily="2" charset="-122"/>
              </a:rPr>
              <a:t>算法本身是一种函数模版</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通过迭代器获得输入数据</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通过函数对象对数据进行处理</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通过迭代器将结果输出</a:t>
            </a:r>
            <a:endParaRPr lang="en-US" altLang="zh-CN" sz="2400" b="1" dirty="0">
              <a:ea typeface="华文楷体" panose="02010600040101010101" pitchFamily="2" charset="-122"/>
            </a:endParaRPr>
          </a:p>
          <a:p>
            <a:pPr>
              <a:spcAft>
                <a:spcPct val="25000"/>
              </a:spcAft>
            </a:pPr>
            <a:r>
              <a:rPr lang="en-US" altLang="zh-CN" sz="2400" b="1" dirty="0">
                <a:solidFill>
                  <a:srgbClr val="FFFF00"/>
                </a:solidFill>
                <a:ea typeface="华文楷体" panose="02010600040101010101" pitchFamily="2" charset="-122"/>
              </a:rPr>
              <a:t>STL</a:t>
            </a:r>
            <a:r>
              <a:rPr lang="zh-CN" altLang="en-US" sz="2400" b="1" dirty="0">
                <a:solidFill>
                  <a:srgbClr val="FFFF00"/>
                </a:solidFill>
                <a:ea typeface="华文楷体" panose="02010600040101010101" pitchFamily="2" charset="-122"/>
              </a:rPr>
              <a:t>算法是通用的，独立于具体的数据类型、容器类型</a:t>
            </a:r>
            <a:endParaRPr lang="zh-CN" altLang="en-US" sz="2400" b="1" dirty="0">
              <a:solidFill>
                <a:srgbClr val="FFFF00"/>
              </a:solidFill>
              <a:ea typeface="华文楷体" panose="02010600040101010101" pitchFamily="2" charset="-122"/>
            </a:endParaRPr>
          </a:p>
          <a:p>
            <a:pPr>
              <a:spcAft>
                <a:spcPct val="25000"/>
              </a:spcAft>
            </a:pPr>
            <a:r>
              <a:rPr lang="en-US" altLang="zh-CN" sz="2400" b="1" dirty="0">
                <a:ea typeface="华文楷体" panose="02010600040101010101" pitchFamily="2" charset="-122"/>
              </a:rPr>
              <a:t>STL</a:t>
            </a:r>
            <a:r>
              <a:rPr lang="zh-CN" altLang="en-US" sz="2400" b="1" dirty="0">
                <a:ea typeface="华文楷体" panose="02010600040101010101" pitchFamily="2" charset="-122"/>
              </a:rPr>
              <a:t>算法分类</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solidFill>
                  <a:srgbClr val="FFFF00"/>
                </a:solidFill>
                <a:ea typeface="华文楷体" panose="02010600040101010101" pitchFamily="2" charset="-122"/>
              </a:rPr>
              <a:t>不可变序列算法</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solidFill>
                  <a:srgbClr val="FFFF00"/>
                </a:solidFill>
                <a:ea typeface="华文楷体" panose="02010600040101010101" pitchFamily="2" charset="-122"/>
              </a:rPr>
              <a:t>可变序列算法</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solidFill>
                  <a:srgbClr val="FFFF00"/>
                </a:solidFill>
                <a:ea typeface="华文楷体" panose="02010600040101010101" pitchFamily="2" charset="-122"/>
              </a:rPr>
              <a:t>排序和搜索算法</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solidFill>
                  <a:srgbClr val="FFFF00"/>
                </a:solidFill>
                <a:ea typeface="华文楷体" panose="02010600040101010101" pitchFamily="2" charset="-122"/>
              </a:rPr>
              <a:t>数值算法</a:t>
            </a:r>
            <a:endParaRPr lang="zh-CN" altLang="en-US" sz="2400" b="1" dirty="0">
              <a:solidFill>
                <a:srgbClr val="FFFF00"/>
              </a:solidFill>
              <a:ea typeface="华文楷体" panose="02010600040101010101" pitchFamily="2" charset="-122"/>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10.7.2 </a:t>
            </a:r>
            <a:r>
              <a:rPr lang="zh-CN" altLang="en-US" sz="4400" b="1">
                <a:latin typeface="Times New Roman" panose="02020603050405020304" pitchFamily="18" charset="0"/>
                <a:ea typeface="隶书" panose="02010509060101010101" pitchFamily="49" charset="-122"/>
              </a:rPr>
              <a:t>不可变序列算法</a:t>
            </a:r>
            <a:endParaRPr lang="zh-CN" altLang="en-US" sz="4400" b="1">
              <a:latin typeface="Times New Roman" panose="02020603050405020304" pitchFamily="18" charset="0"/>
              <a:ea typeface="隶书" panose="02010509060101010101" pitchFamily="49" charset="-122"/>
            </a:endParaRPr>
          </a:p>
        </p:txBody>
      </p:sp>
      <p:sp>
        <p:nvSpPr>
          <p:cNvPr id="78851" name="内容占位符 2"/>
          <p:cNvSpPr>
            <a:spLocks noGrp="1"/>
          </p:cNvSpPr>
          <p:nvPr>
            <p:ph idx="1"/>
          </p:nvPr>
        </p:nvSpPr>
        <p:spPr/>
        <p:txBody>
          <a:bodyPr/>
          <a:lstStyle/>
          <a:p>
            <a:pPr>
              <a:spcAft>
                <a:spcPct val="25000"/>
              </a:spcAft>
            </a:pPr>
            <a:r>
              <a:rPr lang="zh-CN" altLang="en-US" sz="2400" b="1" dirty="0">
                <a:ea typeface="华文楷体" panose="02010600040101010101" pitchFamily="2" charset="-122"/>
              </a:rPr>
              <a:t>不可变序列算法</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不直接修改所操作的容器内容的算法</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用于查找指定元素、比较两个序列是否相等、对元素进行计数等</a:t>
            </a:r>
            <a:endParaRPr lang="en-US" altLang="zh-CN"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例：</a:t>
            </a:r>
            <a:endParaRPr lang="en-US" altLang="zh-CN" sz="2400" b="1" dirty="0">
              <a:ea typeface="华文楷体" panose="02010600040101010101" pitchFamily="2" charset="-122"/>
            </a:endParaRPr>
          </a:p>
          <a:p>
            <a:pPr marL="457200" lvl="1" indent="0">
              <a:buNone/>
            </a:pPr>
            <a:r>
              <a:rPr lang="en-US" altLang="zh-CN" sz="2400" b="1" dirty="0">
                <a:solidFill>
                  <a:srgbClr val="FFFF00"/>
                </a:solidFill>
                <a:ea typeface="华文楷体" panose="02010600040101010101" pitchFamily="2" charset="-122"/>
              </a:rPr>
              <a:t>template&lt;class </a:t>
            </a:r>
            <a:r>
              <a:rPr lang="en-US" altLang="zh-CN" sz="2400" b="1" dirty="0" err="1">
                <a:solidFill>
                  <a:srgbClr val="FFFF00"/>
                </a:solidFill>
                <a:ea typeface="华文楷体" panose="02010600040101010101" pitchFamily="2" charset="-122"/>
              </a:rPr>
              <a:t>InputIterator</a:t>
            </a:r>
            <a:r>
              <a:rPr lang="en-US" altLang="zh-CN" sz="2400" b="1" dirty="0">
                <a:solidFill>
                  <a:srgbClr val="FFFF00"/>
                </a:solidFill>
                <a:ea typeface="华文楷体" panose="02010600040101010101" pitchFamily="2" charset="-122"/>
              </a:rPr>
              <a:t>, class </a:t>
            </a:r>
            <a:r>
              <a:rPr lang="en-US" altLang="zh-CN" sz="2400" b="1" dirty="0" err="1">
                <a:solidFill>
                  <a:srgbClr val="FFFF00"/>
                </a:solidFill>
                <a:ea typeface="华文楷体" panose="02010600040101010101" pitchFamily="2" charset="-122"/>
              </a:rPr>
              <a:t>UnaryPredicate</a:t>
            </a:r>
            <a:r>
              <a:rPr lang="en-US" altLang="zh-CN" sz="2400" b="1" dirty="0">
                <a:solidFill>
                  <a:srgbClr val="FFFF00"/>
                </a:solidFill>
                <a:ea typeface="华文楷体" panose="02010600040101010101" pitchFamily="2" charset="-122"/>
              </a:rPr>
              <a:t>&gt;</a:t>
            </a:r>
            <a:endParaRPr lang="en-US" altLang="zh-CN" sz="2400" b="1" dirty="0">
              <a:solidFill>
                <a:srgbClr val="FFFF00"/>
              </a:solidFill>
              <a:ea typeface="华文楷体" panose="02010600040101010101" pitchFamily="2" charset="-122"/>
            </a:endParaRPr>
          </a:p>
          <a:p>
            <a:pPr marL="457200" lvl="1" indent="0">
              <a:buNone/>
            </a:pPr>
            <a:r>
              <a:rPr lang="en-US" altLang="zh-CN" sz="2400" b="1" dirty="0" err="1">
                <a:solidFill>
                  <a:srgbClr val="FFFF00"/>
                </a:solidFill>
                <a:ea typeface="华文楷体" panose="02010600040101010101" pitchFamily="2" charset="-122"/>
              </a:rPr>
              <a:t>InputIterator</a:t>
            </a:r>
            <a:r>
              <a:rPr lang="en-US" altLang="zh-CN" sz="2400" b="1" dirty="0">
                <a:solidFill>
                  <a:srgbClr val="FFFF00"/>
                </a:solidFill>
                <a:ea typeface="华文楷体" panose="02010600040101010101" pitchFamily="2" charset="-122"/>
              </a:rPr>
              <a:t> </a:t>
            </a:r>
            <a:r>
              <a:rPr lang="en-US" altLang="zh-CN" sz="2400" b="1" dirty="0" err="1">
                <a:solidFill>
                  <a:srgbClr val="FFFF00"/>
                </a:solidFill>
                <a:ea typeface="华文楷体" panose="02010600040101010101" pitchFamily="2" charset="-122"/>
              </a:rPr>
              <a:t>find_if</a:t>
            </a:r>
            <a:r>
              <a:rPr lang="en-US" altLang="zh-CN" sz="2400" b="1" dirty="0">
                <a:solidFill>
                  <a:srgbClr val="FFFF00"/>
                </a:solidFill>
                <a:ea typeface="华文楷体" panose="02010600040101010101" pitchFamily="2" charset="-122"/>
              </a:rPr>
              <a:t>(</a:t>
            </a:r>
            <a:r>
              <a:rPr lang="en-US" altLang="zh-CN" sz="2400" b="1" dirty="0" err="1">
                <a:solidFill>
                  <a:srgbClr val="FFFF00"/>
                </a:solidFill>
                <a:ea typeface="华文楷体" panose="02010600040101010101" pitchFamily="2" charset="-122"/>
              </a:rPr>
              <a:t>InputIterator</a:t>
            </a:r>
            <a:r>
              <a:rPr lang="en-US" altLang="zh-CN" sz="2400" b="1" dirty="0">
                <a:solidFill>
                  <a:srgbClr val="FFFF00"/>
                </a:solidFill>
                <a:ea typeface="华文楷体" panose="02010600040101010101" pitchFamily="2" charset="-122"/>
              </a:rPr>
              <a:t> first, </a:t>
            </a:r>
            <a:r>
              <a:rPr lang="en-US" altLang="zh-CN" sz="2400" b="1" dirty="0" err="1">
                <a:solidFill>
                  <a:srgbClr val="FFFF00"/>
                </a:solidFill>
                <a:ea typeface="华文楷体" panose="02010600040101010101" pitchFamily="2" charset="-122"/>
              </a:rPr>
              <a:t>InputIterator</a:t>
            </a:r>
            <a:r>
              <a:rPr lang="en-US" altLang="zh-CN" sz="2400" b="1" dirty="0">
                <a:solidFill>
                  <a:srgbClr val="FFFF00"/>
                </a:solidFill>
                <a:ea typeface="华文楷体" panose="02010600040101010101" pitchFamily="2" charset="-122"/>
              </a:rPr>
              <a:t> last, </a:t>
            </a:r>
            <a:r>
              <a:rPr lang="en-US" altLang="zh-CN" sz="2400" b="1" dirty="0" err="1">
                <a:solidFill>
                  <a:srgbClr val="FFFF00"/>
                </a:solidFill>
                <a:ea typeface="华文楷体" panose="02010600040101010101" pitchFamily="2" charset="-122"/>
              </a:rPr>
              <a:t>UnaryPredicate</a:t>
            </a:r>
            <a:r>
              <a:rPr lang="en-US" altLang="zh-CN" sz="2400" b="1" dirty="0">
                <a:solidFill>
                  <a:srgbClr val="FFFF00"/>
                </a:solidFill>
                <a:ea typeface="华文楷体" panose="02010600040101010101" pitchFamily="2" charset="-122"/>
              </a:rPr>
              <a:t> </a:t>
            </a:r>
            <a:r>
              <a:rPr lang="en-US" altLang="zh-CN" sz="2400" b="1" dirty="0" err="1">
                <a:solidFill>
                  <a:srgbClr val="FFFF00"/>
                </a:solidFill>
                <a:ea typeface="华文楷体" panose="02010600040101010101" pitchFamily="2" charset="-122"/>
              </a:rPr>
              <a:t>pred</a:t>
            </a:r>
            <a:r>
              <a:rPr lang="en-US" altLang="zh-CN" sz="2400" b="1" dirty="0">
                <a:solidFill>
                  <a:srgbClr val="FFFF00"/>
                </a:solidFill>
                <a:ea typeface="华文楷体" panose="02010600040101010101" pitchFamily="2" charset="-122"/>
              </a:rPr>
              <a:t>);</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用于查找</a:t>
            </a:r>
            <a:r>
              <a:rPr lang="en-US" altLang="zh-CN" sz="2400" b="1" dirty="0">
                <a:ea typeface="华文楷体" panose="02010600040101010101" pitchFamily="2" charset="-122"/>
              </a:rPr>
              <a:t>[first, last)</a:t>
            </a:r>
            <a:r>
              <a:rPr lang="zh-CN" altLang="en-US" sz="2400" b="1" dirty="0">
                <a:ea typeface="华文楷体" panose="02010600040101010101" pitchFamily="2" charset="-122"/>
              </a:rPr>
              <a:t>区间内</a:t>
            </a:r>
            <a:r>
              <a:rPr lang="en-US" altLang="zh-CN" sz="2400" b="1" dirty="0" err="1">
                <a:ea typeface="华文楷体" panose="02010600040101010101" pitchFamily="2" charset="-122"/>
              </a:rPr>
              <a:t>pred</a:t>
            </a:r>
            <a:r>
              <a:rPr lang="en-US" altLang="zh-CN" sz="2400" b="1" dirty="0">
                <a:ea typeface="华文楷体" panose="02010600040101010101" pitchFamily="2" charset="-122"/>
              </a:rPr>
              <a:t>(x)</a:t>
            </a:r>
            <a:r>
              <a:rPr lang="zh-CN" altLang="en-US" sz="2400" b="1" dirty="0">
                <a:ea typeface="华文楷体" panose="02010600040101010101" pitchFamily="2" charset="-122"/>
              </a:rPr>
              <a:t>为真的首个元素</a:t>
            </a:r>
            <a:endParaRPr lang="zh-CN" altLang="en-US" sz="2400" b="1" dirty="0">
              <a:ea typeface="华文楷体" panose="02010600040101010101" pitchFamily="2" charset="-122"/>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标题 1"/>
          <p:cNvSpPr>
            <a:spLocks noGrp="1"/>
          </p:cNvSpPr>
          <p:nvPr>
            <p:ph type="title"/>
          </p:nvPr>
        </p:nvSpPr>
        <p:spPr/>
        <p:txBody>
          <a:bodyPr/>
          <a:lstStyle/>
          <a:p>
            <a:pPr eaLnBrk="1" hangingPunct="1"/>
            <a:r>
              <a:rPr lang="zh-CN" altLang="en-US" b="1" dirty="0"/>
              <a:t>例</a:t>
            </a:r>
            <a:r>
              <a:rPr lang="en-US" altLang="zh-CN" b="1" dirty="0"/>
              <a:t>10-18 </a:t>
            </a:r>
            <a:r>
              <a:rPr lang="zh-CN" altLang="en-US" b="1" dirty="0"/>
              <a:t>不可变序列算法应用实例</a:t>
            </a:r>
            <a:endParaRPr lang="zh-CN" altLang="en-US" b="1" dirty="0"/>
          </a:p>
        </p:txBody>
      </p:sp>
      <p:sp>
        <p:nvSpPr>
          <p:cNvPr id="79875" name="内容占位符 2"/>
          <p:cNvSpPr>
            <a:spLocks noGrp="1"/>
          </p:cNvSpPr>
          <p:nvPr>
            <p:ph idx="1"/>
          </p:nvPr>
        </p:nvSpPr>
        <p:spPr>
          <a:xfrm>
            <a:off x="323528" y="1124744"/>
            <a:ext cx="8712968" cy="5324535"/>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//10_18.cpp</a:t>
            </a:r>
            <a:r>
              <a:rPr lang="zh-CN" altLang="en-US" sz="2000" b="1" dirty="0">
                <a:solidFill>
                  <a:srgbClr val="000000"/>
                </a:solidFill>
                <a:latin typeface="Times New Roman" panose="02020603050405020304" pitchFamily="18" charset="0"/>
                <a:ea typeface="华文楷体" panose="02010600040101010101" pitchFamily="2" charset="-122"/>
              </a:rPr>
              <a:t>， 头部分省略</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iarray</a:t>
            </a:r>
            <a:r>
              <a:rPr lang="en-US" altLang="zh-CN" sz="2000" b="1" dirty="0">
                <a:solidFill>
                  <a:srgbClr val="000000"/>
                </a:solidFill>
                <a:latin typeface="Times New Roman" panose="02020603050405020304" pitchFamily="18" charset="0"/>
                <a:ea typeface="华文楷体" panose="02010600040101010101" pitchFamily="2" charset="-122"/>
              </a:rPr>
              <a:t>[] = { 0, 1, 2, 3, 4, 5, 6, 6, 6, 7, 8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vector&lt;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a:t>
            </a:r>
            <a:r>
              <a:rPr lang="en-US" altLang="zh-CN" sz="2000" b="1" dirty="0" err="1">
                <a:solidFill>
                  <a:srgbClr val="000000"/>
                </a:solidFill>
                <a:latin typeface="Times New Roman" panose="02020603050405020304" pitchFamily="18" charset="0"/>
                <a:ea typeface="华文楷体" panose="02010600040101010101" pitchFamily="2" charset="-122"/>
              </a:rPr>
              <a:t>ivector</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iarray</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iarray</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iarray</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iarray1[] = { 6, 6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vector&lt;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ivector1(iarray1, iarray1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(iarray1)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iarray2[] = { 5, 6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vector&lt;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ivector2(iarray2, iarray2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(iarray2)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iarray3[] = { 0, 1, 2, 3, 4, 5, 7, 7, 7, 9, 7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vector&lt;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ivector3(iarray3, iarray3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(iarray3)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找出</a:t>
            </a:r>
            <a:r>
              <a:rPr lang="en-US" altLang="zh-CN" sz="2000" b="1" dirty="0" err="1">
                <a:solidFill>
                  <a:srgbClr val="000000"/>
                </a:solidFill>
                <a:latin typeface="Times New Roman" panose="02020603050405020304" pitchFamily="18" charset="0"/>
                <a:ea typeface="华文楷体" panose="02010600040101010101" pitchFamily="2" charset="-122"/>
              </a:rPr>
              <a:t>ivector</a:t>
            </a:r>
            <a:r>
              <a:rPr lang="zh-CN" altLang="en-US" sz="2000" b="1" dirty="0">
                <a:solidFill>
                  <a:srgbClr val="000000"/>
                </a:solidFill>
                <a:latin typeface="Times New Roman" panose="02020603050405020304" pitchFamily="18" charset="0"/>
                <a:ea typeface="华文楷体" panose="02010600040101010101" pitchFamily="2" charset="-122"/>
              </a:rPr>
              <a:t>之中相邻元素值相等的第一个元素</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adjacent_find</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找出</a:t>
            </a:r>
            <a:r>
              <a:rPr lang="en-US" altLang="zh-CN" sz="2000" b="1" dirty="0" err="1">
                <a:solidFill>
                  <a:srgbClr val="000000"/>
                </a:solidFill>
                <a:latin typeface="Times New Roman" panose="02020603050405020304" pitchFamily="18" charset="0"/>
                <a:ea typeface="华文楷体" panose="02010600040101010101" pitchFamily="2" charset="-122"/>
              </a:rPr>
              <a:t>ivector</a:t>
            </a:r>
            <a:r>
              <a:rPr lang="zh-CN" altLang="en-US" sz="2000" b="1" dirty="0">
                <a:solidFill>
                  <a:srgbClr val="000000"/>
                </a:solidFill>
                <a:latin typeface="Times New Roman" panose="02020603050405020304" pitchFamily="18" charset="0"/>
                <a:ea typeface="华文楷体" panose="02010600040101010101" pitchFamily="2" charset="-122"/>
              </a:rPr>
              <a:t>之中小于</a:t>
            </a:r>
            <a:r>
              <a:rPr lang="en-US" altLang="zh-CN" sz="2000" b="1" dirty="0">
                <a:solidFill>
                  <a:srgbClr val="000000"/>
                </a:solidFill>
                <a:latin typeface="Times New Roman" panose="02020603050405020304" pitchFamily="18" charset="0"/>
                <a:ea typeface="华文楷体" panose="02010600040101010101" pitchFamily="2" charset="-122"/>
              </a:rPr>
              <a:t>7</a:t>
            </a:r>
            <a:r>
              <a:rPr lang="zh-CN" altLang="en-US" sz="2000" b="1" dirty="0">
                <a:solidFill>
                  <a:srgbClr val="000000"/>
                </a:solidFill>
                <a:latin typeface="Times New Roman" panose="02020603050405020304" pitchFamily="18" charset="0"/>
                <a:ea typeface="华文楷体" panose="02010600040101010101" pitchFamily="2" charset="-122"/>
              </a:rPr>
              <a:t>的元素个数</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count_if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bind2nd(less&lt;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7))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16632"/>
            <a:ext cx="8568952" cy="6555641"/>
          </a:xfrm>
          <a:solidFill>
            <a:schemeClr val="tx1"/>
          </a:solidFill>
          <a:ln w="9525">
            <a:solidFill>
              <a:schemeClr val="tx1"/>
            </a:solidFill>
            <a:miter lim="800000"/>
          </a:ln>
        </p:spPr>
        <p:txBody>
          <a:bodyPr wrap="square">
            <a:spAutoFit/>
          </a:bodyPr>
          <a:lstStyle/>
          <a:p>
            <a:pPr marL="0" indent="0">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找出</a:t>
            </a:r>
            <a:r>
              <a:rPr lang="en-US" altLang="zh-CN" sz="2000" b="1" dirty="0" err="1">
                <a:solidFill>
                  <a:srgbClr val="000000"/>
                </a:solidFill>
                <a:latin typeface="Times New Roman" panose="02020603050405020304" pitchFamily="18" charset="0"/>
                <a:ea typeface="华文楷体" panose="02010600040101010101" pitchFamily="2" charset="-122"/>
              </a:rPr>
              <a:t>ivector</a:t>
            </a:r>
            <a:r>
              <a:rPr lang="zh-CN" altLang="en-US" sz="2000" b="1" dirty="0">
                <a:solidFill>
                  <a:srgbClr val="000000"/>
                </a:solidFill>
                <a:latin typeface="Times New Roman" panose="02020603050405020304" pitchFamily="18" charset="0"/>
                <a:ea typeface="华文楷体" panose="02010600040101010101" pitchFamily="2" charset="-122"/>
              </a:rPr>
              <a:t>之中大于</a:t>
            </a:r>
            <a:r>
              <a:rPr lang="en-US" altLang="zh-CN" sz="2000" b="1" dirty="0">
                <a:solidFill>
                  <a:srgbClr val="000000"/>
                </a:solidFill>
                <a:latin typeface="Times New Roman" panose="02020603050405020304" pitchFamily="18" charset="0"/>
                <a:ea typeface="华文楷体" panose="02010600040101010101" pitchFamily="2" charset="-122"/>
              </a:rPr>
              <a:t>2</a:t>
            </a:r>
            <a:r>
              <a:rPr lang="zh-CN" altLang="en-US" sz="2000" b="1" dirty="0">
                <a:solidFill>
                  <a:srgbClr val="000000"/>
                </a:solidFill>
                <a:latin typeface="Times New Roman" panose="02020603050405020304" pitchFamily="18" charset="0"/>
                <a:ea typeface="华文楷体" panose="02010600040101010101" pitchFamily="2" charset="-122"/>
              </a:rPr>
              <a:t>的第一个元素所在位置的元素</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FF0000"/>
                </a:solidFill>
                <a:latin typeface="Times New Roman" panose="02020603050405020304" pitchFamily="18" charset="0"/>
                <a:ea typeface="华文楷体" panose="02010600040101010101" pitchFamily="2" charset="-122"/>
              </a:rPr>
              <a:t>find_if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FF0000"/>
                </a:solidFill>
                <a:latin typeface="Times New Roman" panose="02020603050405020304" pitchFamily="18" charset="0"/>
                <a:ea typeface="华文楷体" panose="02010600040101010101" pitchFamily="2" charset="-122"/>
              </a:rPr>
              <a:t>bind2nd</a:t>
            </a:r>
            <a:r>
              <a:rPr lang="en-US" altLang="zh-CN" sz="2000" b="1" dirty="0">
                <a:solidFill>
                  <a:srgbClr val="000000"/>
                </a:solidFill>
                <a:latin typeface="Times New Roman" panose="02020603050405020304" pitchFamily="18" charset="0"/>
                <a:ea typeface="华文楷体" panose="02010600040101010101" pitchFamily="2" charset="-122"/>
              </a:rPr>
              <a:t>(greater&lt;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2))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子序列</a:t>
            </a:r>
            <a:r>
              <a:rPr lang="en-US" altLang="zh-CN" sz="2000" b="1" dirty="0">
                <a:solidFill>
                  <a:srgbClr val="000000"/>
                </a:solidFill>
                <a:latin typeface="Times New Roman" panose="02020603050405020304" pitchFamily="18" charset="0"/>
                <a:ea typeface="华文楷体" panose="02010600040101010101" pitchFamily="2" charset="-122"/>
              </a:rPr>
              <a:t>ivector2</a:t>
            </a:r>
            <a:r>
              <a:rPr lang="zh-CN" altLang="en-US" sz="2000" b="1" dirty="0">
                <a:solidFill>
                  <a:srgbClr val="000000"/>
                </a:solidFill>
                <a:latin typeface="Times New Roman" panose="02020603050405020304" pitchFamily="18" charset="0"/>
                <a:ea typeface="华文楷体" panose="02010600040101010101" pitchFamily="2" charset="-122"/>
              </a:rPr>
              <a:t>在</a:t>
            </a:r>
            <a:r>
              <a:rPr lang="en-US" altLang="zh-CN" sz="2000" b="1" dirty="0" err="1">
                <a:solidFill>
                  <a:srgbClr val="000000"/>
                </a:solidFill>
                <a:latin typeface="Times New Roman" panose="02020603050405020304" pitchFamily="18" charset="0"/>
                <a:ea typeface="华文楷体" panose="02010600040101010101" pitchFamily="2" charset="-122"/>
              </a:rPr>
              <a:t>ivector</a:t>
            </a:r>
            <a:r>
              <a:rPr lang="zh-CN" altLang="en-US" sz="2000" b="1" dirty="0">
                <a:solidFill>
                  <a:srgbClr val="000000"/>
                </a:solidFill>
                <a:latin typeface="Times New Roman" panose="02020603050405020304" pitchFamily="18" charset="0"/>
                <a:ea typeface="华文楷体" panose="02010600040101010101" pitchFamily="2" charset="-122"/>
              </a:rPr>
              <a:t>中出现的起点位置元素</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a:solidFill>
                  <a:srgbClr val="FF0000"/>
                </a:solidFill>
                <a:latin typeface="Times New Roman" panose="02020603050405020304" pitchFamily="18" charset="0"/>
                <a:ea typeface="华文楷体" panose="02010600040101010101" pitchFamily="2" charset="-122"/>
              </a:rPr>
              <a:t>search</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ivector2.begin(), ivector2.end())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查找连续出现</a:t>
            </a:r>
            <a:r>
              <a:rPr lang="en-US" altLang="zh-CN" sz="2000" b="1" dirty="0">
                <a:solidFill>
                  <a:srgbClr val="000000"/>
                </a:solidFill>
                <a:latin typeface="Times New Roman" panose="02020603050405020304" pitchFamily="18" charset="0"/>
                <a:ea typeface="华文楷体" panose="02010600040101010101" pitchFamily="2" charset="-122"/>
              </a:rPr>
              <a:t>3</a:t>
            </a:r>
            <a:r>
              <a:rPr lang="zh-CN" altLang="en-US" sz="2000" b="1" dirty="0">
                <a:solidFill>
                  <a:srgbClr val="000000"/>
                </a:solidFill>
                <a:latin typeface="Times New Roman" panose="02020603050405020304" pitchFamily="18" charset="0"/>
                <a:ea typeface="华文楷体" panose="02010600040101010101" pitchFamily="2" charset="-122"/>
              </a:rPr>
              <a:t>个</a:t>
            </a:r>
            <a:r>
              <a:rPr lang="en-US" altLang="zh-CN" sz="2000" b="1" dirty="0">
                <a:solidFill>
                  <a:srgbClr val="000000"/>
                </a:solidFill>
                <a:latin typeface="Times New Roman" panose="02020603050405020304" pitchFamily="18" charset="0"/>
                <a:ea typeface="华文楷体" panose="02010600040101010101" pitchFamily="2" charset="-122"/>
              </a:rPr>
              <a:t>6</a:t>
            </a:r>
            <a:r>
              <a:rPr lang="zh-CN" altLang="en-US" sz="2000" b="1" dirty="0">
                <a:solidFill>
                  <a:srgbClr val="000000"/>
                </a:solidFill>
                <a:latin typeface="Times New Roman" panose="02020603050405020304" pitchFamily="18" charset="0"/>
                <a:ea typeface="华文楷体" panose="02010600040101010101" pitchFamily="2" charset="-122"/>
              </a:rPr>
              <a:t>的起点位置元素</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FF0000"/>
                </a:solidFill>
                <a:latin typeface="Times New Roman" panose="02020603050405020304" pitchFamily="18" charset="0"/>
                <a:ea typeface="华文楷体" panose="02010600040101010101" pitchFamily="2" charset="-122"/>
              </a:rPr>
              <a:t>search_n</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3, 6, </a:t>
            </a:r>
            <a:r>
              <a:rPr lang="en-US" altLang="zh-CN" sz="2000" b="1" dirty="0" err="1">
                <a:solidFill>
                  <a:srgbClr val="000000"/>
                </a:solidFill>
                <a:latin typeface="Times New Roman" panose="02020603050405020304" pitchFamily="18" charset="0"/>
                <a:ea typeface="华文楷体" panose="02010600040101010101" pitchFamily="2" charset="-122"/>
              </a:rPr>
              <a:t>equal_to</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判断两个区间</a:t>
            </a:r>
            <a:r>
              <a:rPr lang="en-US" altLang="zh-CN" sz="2000" b="1" dirty="0" err="1">
                <a:solidFill>
                  <a:srgbClr val="000000"/>
                </a:solidFill>
                <a:latin typeface="Times New Roman" panose="02020603050405020304" pitchFamily="18" charset="0"/>
                <a:ea typeface="华文楷体" panose="02010600040101010101" pitchFamily="2" charset="-122"/>
              </a:rPr>
              <a:t>ivector</a:t>
            </a:r>
            <a:r>
              <a:rPr lang="zh-CN" altLang="en-US" sz="2000" b="1" dirty="0">
                <a:solidFill>
                  <a:srgbClr val="000000"/>
                </a:solidFill>
                <a:latin typeface="Times New Roman" panose="02020603050405020304" pitchFamily="18" charset="0"/>
                <a:ea typeface="华文楷体" panose="02010600040101010101" pitchFamily="2" charset="-122"/>
              </a:rPr>
              <a:t>和</a:t>
            </a:r>
            <a:r>
              <a:rPr lang="en-US" altLang="zh-CN" sz="2000" b="1" dirty="0">
                <a:solidFill>
                  <a:srgbClr val="000000"/>
                </a:solidFill>
                <a:latin typeface="Times New Roman" panose="02020603050405020304" pitchFamily="18" charset="0"/>
                <a:ea typeface="华文楷体" panose="02010600040101010101" pitchFamily="2" charset="-122"/>
              </a:rPr>
              <a:t>ivector3</a:t>
            </a:r>
            <a:r>
              <a:rPr lang="zh-CN" altLang="en-US" sz="2000" b="1" dirty="0">
                <a:solidFill>
                  <a:srgbClr val="000000"/>
                </a:solidFill>
                <a:latin typeface="Times New Roman" panose="02020603050405020304" pitchFamily="18" charset="0"/>
                <a:ea typeface="华文楷体" panose="02010600040101010101" pitchFamily="2" charset="-122"/>
              </a:rPr>
              <a:t>相等否</a:t>
            </a:r>
            <a:r>
              <a:rPr lang="en-US" altLang="zh-CN" sz="2000" b="1" dirty="0">
                <a:solidFill>
                  <a:srgbClr val="000000"/>
                </a:solidFill>
                <a:latin typeface="Times New Roman" panose="02020603050405020304" pitchFamily="18" charset="0"/>
                <a:ea typeface="华文楷体" panose="02010600040101010101" pitchFamily="2" charset="-122"/>
              </a:rPr>
              <a:t>(0</a:t>
            </a:r>
            <a:r>
              <a:rPr lang="zh-CN" altLang="en-US" sz="2000" b="1" dirty="0">
                <a:solidFill>
                  <a:srgbClr val="000000"/>
                </a:solidFill>
                <a:latin typeface="Times New Roman" panose="02020603050405020304" pitchFamily="18" charset="0"/>
                <a:ea typeface="华文楷体" panose="02010600040101010101" pitchFamily="2" charset="-122"/>
              </a:rPr>
              <a:t>为假，</a:t>
            </a:r>
            <a:r>
              <a:rPr lang="en-US" altLang="zh-CN" sz="2000" b="1" dirty="0">
                <a:solidFill>
                  <a:srgbClr val="000000"/>
                </a:solidFill>
                <a:latin typeface="Times New Roman" panose="02020603050405020304" pitchFamily="18" charset="0"/>
                <a:ea typeface="华文楷体" panose="02010600040101010101" pitchFamily="2" charset="-122"/>
              </a:rPr>
              <a:t>1</a:t>
            </a:r>
            <a:r>
              <a:rPr lang="zh-CN" altLang="en-US" sz="2000" b="1" dirty="0">
                <a:solidFill>
                  <a:srgbClr val="000000"/>
                </a:solidFill>
                <a:latin typeface="Times New Roman" panose="02020603050405020304" pitchFamily="18" charset="0"/>
                <a:ea typeface="华文楷体" panose="02010600040101010101" pitchFamily="2" charset="-122"/>
              </a:rPr>
              <a:t>为真</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a:solidFill>
                  <a:srgbClr val="FF0000"/>
                </a:solidFill>
                <a:latin typeface="Times New Roman" panose="02020603050405020304" pitchFamily="18" charset="0"/>
                <a:ea typeface="华文楷体" panose="02010600040101010101" pitchFamily="2" charset="-122"/>
              </a:rPr>
              <a:t>equal</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ivector3.begin())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查找区间</a:t>
            </a:r>
            <a:r>
              <a:rPr lang="en-US" altLang="zh-CN" sz="2000" b="1" dirty="0">
                <a:solidFill>
                  <a:srgbClr val="000000"/>
                </a:solidFill>
                <a:latin typeface="Times New Roman" panose="02020603050405020304" pitchFamily="18" charset="0"/>
                <a:ea typeface="华文楷体" panose="02010600040101010101" pitchFamily="2" charset="-122"/>
              </a:rPr>
              <a:t>ivector3</a:t>
            </a:r>
            <a:r>
              <a:rPr lang="zh-CN" altLang="en-US" sz="2000" b="1" dirty="0">
                <a:solidFill>
                  <a:srgbClr val="000000"/>
                </a:solidFill>
                <a:latin typeface="Times New Roman" panose="02020603050405020304" pitchFamily="18" charset="0"/>
                <a:ea typeface="华文楷体" panose="02010600040101010101" pitchFamily="2" charset="-122"/>
              </a:rPr>
              <a:t>在</a:t>
            </a:r>
            <a:r>
              <a:rPr lang="en-US" altLang="zh-CN" sz="2000" b="1" dirty="0" err="1">
                <a:solidFill>
                  <a:srgbClr val="000000"/>
                </a:solidFill>
                <a:latin typeface="Times New Roman" panose="02020603050405020304" pitchFamily="18" charset="0"/>
                <a:ea typeface="华文楷体" panose="02010600040101010101" pitchFamily="2" charset="-122"/>
              </a:rPr>
              <a:t>ivector</a:t>
            </a:r>
            <a:r>
              <a:rPr lang="zh-CN" altLang="en-US" sz="2000" b="1" dirty="0">
                <a:solidFill>
                  <a:srgbClr val="000000"/>
                </a:solidFill>
                <a:latin typeface="Times New Roman" panose="02020603050405020304" pitchFamily="18" charset="0"/>
                <a:ea typeface="华文楷体" panose="02010600040101010101" pitchFamily="2" charset="-122"/>
              </a:rPr>
              <a:t>中不匹配点的位置</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pair&lt;vector&lt;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iterator</a:t>
            </a:r>
            <a:r>
              <a:rPr lang="en-US" altLang="zh-CN" sz="2000" b="1" dirty="0">
                <a:solidFill>
                  <a:srgbClr val="000000"/>
                </a:solidFill>
                <a:latin typeface="Times New Roman" panose="02020603050405020304" pitchFamily="18" charset="0"/>
                <a:ea typeface="华文楷体" panose="02010600040101010101" pitchFamily="2" charset="-122"/>
              </a:rPr>
              <a:t>, vector&lt;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iterator</a:t>
            </a:r>
            <a:r>
              <a:rPr lang="en-US" altLang="zh-CN" sz="2000" b="1" dirty="0">
                <a:solidFill>
                  <a:srgbClr val="000000"/>
                </a:solidFill>
                <a:latin typeface="Times New Roman" panose="02020603050405020304" pitchFamily="18" charset="0"/>
                <a:ea typeface="华文楷体" panose="02010600040101010101" pitchFamily="2" charset="-122"/>
              </a:rPr>
              <a:t>&gt; result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FF0000"/>
                </a:solidFill>
                <a:latin typeface="Times New Roman" panose="02020603050405020304" pitchFamily="18" charset="0"/>
                <a:ea typeface="华文楷体" panose="02010600040101010101" pitchFamily="2" charset="-122"/>
              </a:rPr>
              <a:t>mismatch</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ivector3.begin());</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result.first</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80901" name="标题 1"/>
          <p:cNvSpPr>
            <a:spLocks noGrp="1"/>
          </p:cNvSpPr>
          <p:nvPr>
            <p:ph type="title"/>
          </p:nvPr>
        </p:nvSpPr>
        <p:spPr>
          <a:xfrm>
            <a:off x="5940152" y="6021288"/>
            <a:ext cx="3114675" cy="709613"/>
          </a:xfrm>
          <a:solidFill>
            <a:schemeClr val="bg1"/>
          </a:solidFill>
        </p:spPr>
        <p:txBody>
          <a:bodyPr/>
          <a:lstStyle/>
          <a:p>
            <a:pPr eaLnBrk="1" hangingPunct="1"/>
            <a:r>
              <a:rPr lang="zh-CN" altLang="en-US" dirty="0"/>
              <a:t>例</a:t>
            </a:r>
            <a:r>
              <a:rPr lang="en-US" altLang="zh-CN" dirty="0"/>
              <a:t>10-18</a:t>
            </a:r>
            <a:r>
              <a:rPr lang="zh-CN" altLang="en-US" dirty="0"/>
              <a:t>（续）</a:t>
            </a:r>
            <a:endParaRPr lang="zh-CN" altLang="en-US" dirty="0"/>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10.7.3</a:t>
            </a:r>
            <a:r>
              <a:rPr lang="zh-CN" altLang="en-US" sz="4400" b="1">
                <a:latin typeface="Times New Roman" panose="02020603050405020304" pitchFamily="18" charset="0"/>
                <a:ea typeface="隶书" panose="02010509060101010101" pitchFamily="49" charset="-122"/>
              </a:rPr>
              <a:t>可变序列算法</a:t>
            </a:r>
            <a:endParaRPr lang="zh-CN" altLang="en-US" sz="4400" b="1">
              <a:latin typeface="Times New Roman" panose="02020603050405020304" pitchFamily="18" charset="0"/>
              <a:ea typeface="隶书" panose="02010509060101010101" pitchFamily="49" charset="-122"/>
            </a:endParaRPr>
          </a:p>
        </p:txBody>
      </p:sp>
      <p:sp>
        <p:nvSpPr>
          <p:cNvPr id="81923" name="内容占位符 2"/>
          <p:cNvSpPr>
            <a:spLocks noGrp="1"/>
          </p:cNvSpPr>
          <p:nvPr>
            <p:ph idx="1"/>
          </p:nvPr>
        </p:nvSpPr>
        <p:spPr/>
        <p:txBody>
          <a:bodyPr/>
          <a:lstStyle/>
          <a:p>
            <a:pPr>
              <a:spcAft>
                <a:spcPct val="25000"/>
              </a:spcAft>
            </a:pPr>
            <a:r>
              <a:rPr lang="zh-CN" altLang="en-US" sz="2400" b="1" dirty="0">
                <a:ea typeface="华文楷体" panose="02010600040101010101" pitchFamily="2" charset="-122"/>
              </a:rPr>
              <a:t>可变序列算法</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可以修改它们所操作的容器对象</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包括对序列进行复制、删除、替换、倒序、旋转、交换、变换、分割、去重、填充、洗牌的算法及生成一个序列的算法</a:t>
            </a:r>
            <a:endParaRPr lang="en-US" altLang="zh-CN"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例：</a:t>
            </a:r>
            <a:endParaRPr lang="en-US" altLang="zh-CN" sz="2400" b="1" dirty="0">
              <a:ea typeface="华文楷体" panose="02010600040101010101" pitchFamily="2" charset="-122"/>
            </a:endParaRPr>
          </a:p>
          <a:p>
            <a:pPr marL="457200" lvl="1" indent="0">
              <a:buNone/>
            </a:pPr>
            <a:r>
              <a:rPr lang="en-US" altLang="zh-CN" sz="2400" b="1" dirty="0">
                <a:solidFill>
                  <a:srgbClr val="FFFF00"/>
                </a:solidFill>
                <a:ea typeface="华文楷体" panose="02010600040101010101" pitchFamily="2" charset="-122"/>
              </a:rPr>
              <a:t>template&lt;class </a:t>
            </a:r>
            <a:r>
              <a:rPr lang="en-US" altLang="zh-CN" sz="2400" b="1" dirty="0" err="1">
                <a:solidFill>
                  <a:srgbClr val="FFFF00"/>
                </a:solidFill>
                <a:ea typeface="华文楷体" panose="02010600040101010101" pitchFamily="2" charset="-122"/>
              </a:rPr>
              <a:t>ForwardIterator</a:t>
            </a:r>
            <a:r>
              <a:rPr lang="en-US" altLang="zh-CN" sz="2400" b="1" dirty="0">
                <a:solidFill>
                  <a:srgbClr val="FFFF00"/>
                </a:solidFill>
                <a:ea typeface="华文楷体" panose="02010600040101010101" pitchFamily="2" charset="-122"/>
              </a:rPr>
              <a:t>, class T&gt;</a:t>
            </a:r>
            <a:endParaRPr lang="en-US" altLang="zh-CN" sz="2400" b="1" dirty="0">
              <a:solidFill>
                <a:srgbClr val="FFFF00"/>
              </a:solidFill>
              <a:ea typeface="华文楷体" panose="02010600040101010101" pitchFamily="2" charset="-122"/>
            </a:endParaRPr>
          </a:p>
          <a:p>
            <a:pPr marL="457200" lvl="1" indent="0">
              <a:buNone/>
            </a:pPr>
            <a:r>
              <a:rPr lang="en-US" altLang="zh-CN" sz="2400" b="1" dirty="0" err="1">
                <a:solidFill>
                  <a:srgbClr val="FFFF00"/>
                </a:solidFill>
                <a:ea typeface="华文楷体" panose="02010600040101010101" pitchFamily="2" charset="-122"/>
              </a:rPr>
              <a:t>InputIterator</a:t>
            </a:r>
            <a:r>
              <a:rPr lang="en-US" altLang="zh-CN" sz="2400" b="1" dirty="0">
                <a:solidFill>
                  <a:srgbClr val="FFFF00"/>
                </a:solidFill>
                <a:ea typeface="华文楷体" panose="02010600040101010101" pitchFamily="2" charset="-122"/>
              </a:rPr>
              <a:t> </a:t>
            </a:r>
            <a:r>
              <a:rPr lang="en-US" altLang="zh-CN" sz="2400" b="1" dirty="0" err="1">
                <a:solidFill>
                  <a:srgbClr val="FFFF00"/>
                </a:solidFill>
                <a:ea typeface="华文楷体" panose="02010600040101010101" pitchFamily="2" charset="-122"/>
              </a:rPr>
              <a:t>find_if</a:t>
            </a:r>
            <a:r>
              <a:rPr lang="en-US" altLang="zh-CN" sz="2400" b="1" dirty="0">
                <a:solidFill>
                  <a:srgbClr val="FFFF00"/>
                </a:solidFill>
                <a:ea typeface="华文楷体" panose="02010600040101010101" pitchFamily="2" charset="-122"/>
              </a:rPr>
              <a:t>(</a:t>
            </a:r>
            <a:r>
              <a:rPr lang="en-US" altLang="zh-CN" sz="2400" b="1" dirty="0" err="1">
                <a:solidFill>
                  <a:srgbClr val="FFFF00"/>
                </a:solidFill>
                <a:ea typeface="华文楷体" panose="02010600040101010101" pitchFamily="2" charset="-122"/>
              </a:rPr>
              <a:t>ForwardIterator</a:t>
            </a:r>
            <a:r>
              <a:rPr lang="en-US" altLang="zh-CN" sz="2400" b="1" dirty="0">
                <a:solidFill>
                  <a:srgbClr val="FFFF00"/>
                </a:solidFill>
                <a:ea typeface="华文楷体" panose="02010600040101010101" pitchFamily="2" charset="-122"/>
              </a:rPr>
              <a:t> first, </a:t>
            </a:r>
            <a:r>
              <a:rPr lang="en-US" altLang="zh-CN" sz="2400" b="1" dirty="0" err="1">
                <a:solidFill>
                  <a:srgbClr val="FFFF00"/>
                </a:solidFill>
                <a:ea typeface="华文楷体" panose="02010600040101010101" pitchFamily="2" charset="-122"/>
              </a:rPr>
              <a:t>ForwardIterator</a:t>
            </a:r>
            <a:r>
              <a:rPr lang="en-US" altLang="zh-CN" sz="2400" b="1" dirty="0">
                <a:solidFill>
                  <a:srgbClr val="FFFF00"/>
                </a:solidFill>
                <a:ea typeface="华文楷体" panose="02010600040101010101" pitchFamily="2" charset="-122"/>
              </a:rPr>
              <a:t> last, </a:t>
            </a:r>
            <a:r>
              <a:rPr lang="en-US" altLang="zh-CN" sz="2400" b="1" dirty="0" err="1">
                <a:solidFill>
                  <a:srgbClr val="FFFF00"/>
                </a:solidFill>
                <a:ea typeface="华文楷体" panose="02010600040101010101" pitchFamily="2" charset="-122"/>
              </a:rPr>
              <a:t>const</a:t>
            </a:r>
            <a:r>
              <a:rPr lang="en-US" altLang="zh-CN" sz="2400" b="1" dirty="0">
                <a:solidFill>
                  <a:srgbClr val="FFFF00"/>
                </a:solidFill>
                <a:ea typeface="华文楷体" panose="02010600040101010101" pitchFamily="2" charset="-122"/>
              </a:rPr>
              <a:t> T&amp; x);</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把</a:t>
            </a:r>
            <a:r>
              <a:rPr lang="en-US" altLang="zh-CN" sz="2400" b="1" dirty="0">
                <a:ea typeface="华文楷体" panose="02010600040101010101" pitchFamily="2" charset="-122"/>
              </a:rPr>
              <a:t>[first, last)</a:t>
            </a:r>
            <a:r>
              <a:rPr lang="zh-CN" altLang="en-US" sz="2400" b="1" dirty="0">
                <a:ea typeface="华文楷体" panose="02010600040101010101" pitchFamily="2" charset="-122"/>
              </a:rPr>
              <a:t>区间内的元素全部改写为</a:t>
            </a:r>
            <a:r>
              <a:rPr lang="en-US" altLang="zh-CN" sz="2400" b="1" dirty="0">
                <a:ea typeface="华文楷体" panose="02010600040101010101" pitchFamily="2" charset="-122"/>
              </a:rPr>
              <a:t>x</a:t>
            </a:r>
            <a:endParaRPr lang="zh-CN" altLang="en-US" sz="2400" b="1" dirty="0">
              <a:ea typeface="华文楷体" panose="02010600040101010101" pitchFamily="2" charset="-122"/>
            </a:endParaRPr>
          </a:p>
          <a:p>
            <a:pPr>
              <a:spcAft>
                <a:spcPct val="25000"/>
              </a:spcAft>
            </a:pPr>
            <a:endParaRPr lang="zh-CN" altLang="en-US" sz="2400" b="1" dirty="0">
              <a:ea typeface="华文楷体" panose="02010600040101010101" pitchFamily="2" charset="-122"/>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标题 1"/>
          <p:cNvSpPr>
            <a:spLocks noGrp="1"/>
          </p:cNvSpPr>
          <p:nvPr>
            <p:ph type="title"/>
          </p:nvPr>
        </p:nvSpPr>
        <p:spPr/>
        <p:txBody>
          <a:bodyPr/>
          <a:lstStyle/>
          <a:p>
            <a:pPr eaLnBrk="1" hangingPunct="1"/>
            <a:r>
              <a:rPr lang="zh-CN" altLang="en-US" dirty="0"/>
              <a:t>例</a:t>
            </a:r>
            <a:r>
              <a:rPr lang="en-US" altLang="zh-CN" dirty="0"/>
              <a:t>10-19</a:t>
            </a:r>
            <a:endParaRPr lang="zh-CN" altLang="en-US" dirty="0"/>
          </a:p>
        </p:txBody>
      </p:sp>
      <p:sp>
        <p:nvSpPr>
          <p:cNvPr id="82947" name="内容占位符 2"/>
          <p:cNvSpPr>
            <a:spLocks noGrp="1"/>
          </p:cNvSpPr>
          <p:nvPr>
            <p:ph idx="1"/>
          </p:nvPr>
        </p:nvSpPr>
        <p:spPr/>
        <p:txBody>
          <a:bodyPr/>
          <a:lstStyle/>
          <a:p>
            <a:pPr marL="0" indent="0">
              <a:lnSpc>
                <a:spcPct val="200000"/>
              </a:lnSpc>
              <a:spcAft>
                <a:spcPct val="25000"/>
              </a:spcAft>
              <a:buNone/>
            </a:pPr>
            <a:r>
              <a:rPr lang="zh-CN" altLang="en-US" sz="2400" b="1" dirty="0">
                <a:solidFill>
                  <a:srgbClr val="FFFF00"/>
                </a:solidFill>
                <a:ea typeface="华文楷体" panose="02010600040101010101" pitchFamily="2" charset="-122"/>
              </a:rPr>
              <a:t>以可变序列算法对数据序列进行复制，生成，删除，替换，倒序，旋转等可变性操作</a:t>
            </a:r>
            <a:endParaRPr lang="en-US" altLang="zh-CN" sz="2400" b="1" dirty="0">
              <a:solidFill>
                <a:srgbClr val="FFFF00"/>
              </a:solidFill>
              <a:ea typeface="华文楷体" panose="02010600040101010101" pitchFamily="2" charset="-122"/>
            </a:endParaRPr>
          </a:p>
          <a:p>
            <a:pPr>
              <a:spcAft>
                <a:spcPct val="25000"/>
              </a:spcAft>
            </a:pPr>
            <a:endParaRPr lang="en-US" altLang="zh-CN" sz="2400" b="1" dirty="0">
              <a:ea typeface="华文楷体" panose="02010600040101010101" pitchFamily="2" charset="-122"/>
            </a:endParaRPr>
          </a:p>
          <a:p>
            <a:pPr>
              <a:spcAft>
                <a:spcPct val="25000"/>
              </a:spcAft>
            </a:pPr>
            <a:endParaRPr lang="zh-CN" altLang="en-US" sz="2400" b="1" dirty="0">
              <a:ea typeface="华文楷体" panose="02010600040101010101" pitchFamily="2" charset="-122"/>
            </a:endParaRP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内容占位符 2"/>
          <p:cNvSpPr>
            <a:spLocks noGrp="1"/>
          </p:cNvSpPr>
          <p:nvPr>
            <p:ph idx="1"/>
          </p:nvPr>
        </p:nvSpPr>
        <p:spPr>
          <a:xfrm>
            <a:off x="251520" y="188640"/>
            <a:ext cx="8712968" cy="6739255"/>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//10_21.cpp, </a:t>
            </a:r>
            <a:r>
              <a:rPr lang="zh-CN" altLang="en-US" sz="1800" b="1" dirty="0">
                <a:solidFill>
                  <a:srgbClr val="000000"/>
                </a:solidFill>
                <a:latin typeface="Times New Roman" panose="02020603050405020304" pitchFamily="18" charset="0"/>
                <a:ea typeface="华文楷体" panose="02010600040101010101" pitchFamily="2" charset="-122"/>
              </a:rPr>
              <a:t>头部分省略</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class </a:t>
            </a:r>
            <a:r>
              <a:rPr lang="en-US" altLang="zh-CN" sz="1800" b="1" dirty="0" err="1">
                <a:solidFill>
                  <a:srgbClr val="000000"/>
                </a:solidFill>
                <a:latin typeface="Times New Roman" panose="02020603050405020304" pitchFamily="18" charset="0"/>
                <a:ea typeface="华文楷体" panose="02010600040101010101" pitchFamily="2" charset="-122"/>
              </a:rPr>
              <a:t>evenByTwo</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private: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x;</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public:</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evenByTwo</a:t>
            </a:r>
            <a:r>
              <a:rPr lang="en-US" altLang="zh-CN" sz="1800" b="1" dirty="0">
                <a:solidFill>
                  <a:srgbClr val="000000"/>
                </a:solidFill>
                <a:latin typeface="Times New Roman" panose="02020603050405020304" pitchFamily="18" charset="0"/>
                <a:ea typeface="华文楷体" panose="02010600040101010101" pitchFamily="2" charset="-122"/>
              </a:rPr>
              <a:t>() : x(0) {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operator () () { return x += 2;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main()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iarray1[]= { 0, 1, 2, 3, 4, 4, 5, 5, 6, 6, 6, 6, 6, 7, 8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iarray2[] = { 0, 1, 2, 3, 4, 5, 6, 6, 6, 7, 8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vector&lt;</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&gt; ivector1(iarray1, iarray1 + </a:t>
            </a:r>
            <a:r>
              <a:rPr lang="en-US" altLang="zh-CN" sz="1800" b="1" dirty="0" err="1">
                <a:solidFill>
                  <a:srgbClr val="000000"/>
                </a:solidFill>
                <a:latin typeface="Times New Roman" panose="02020603050405020304" pitchFamily="18" charset="0"/>
                <a:ea typeface="华文楷体" panose="02010600040101010101" pitchFamily="2" charset="-122"/>
              </a:rPr>
              <a:t>sizeof</a:t>
            </a:r>
            <a:r>
              <a:rPr lang="en-US" altLang="zh-CN" sz="1800" b="1" dirty="0">
                <a:solidFill>
                  <a:srgbClr val="000000"/>
                </a:solidFill>
                <a:latin typeface="Times New Roman" panose="02020603050405020304" pitchFamily="18" charset="0"/>
                <a:ea typeface="华文楷体" panose="02010600040101010101" pitchFamily="2" charset="-122"/>
              </a:rPr>
              <a:t>(iarray1) / </a:t>
            </a:r>
            <a:r>
              <a:rPr lang="en-US" altLang="zh-CN" sz="1800" b="1" dirty="0" err="1">
                <a:solidFill>
                  <a:srgbClr val="000000"/>
                </a:solidFill>
                <a:latin typeface="Times New Roman" panose="02020603050405020304" pitchFamily="18" charset="0"/>
                <a:ea typeface="华文楷体" panose="02010600040101010101" pitchFamily="2" charset="-122"/>
              </a:rPr>
              <a:t>sizeof</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vector&lt;</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&gt; ivector2(iarray2, iarray2 + </a:t>
            </a:r>
            <a:r>
              <a:rPr lang="en-US" altLang="zh-CN" sz="1800" b="1" dirty="0" err="1">
                <a:solidFill>
                  <a:srgbClr val="000000"/>
                </a:solidFill>
                <a:latin typeface="Times New Roman" panose="02020603050405020304" pitchFamily="18" charset="0"/>
                <a:ea typeface="华文楷体" panose="02010600040101010101" pitchFamily="2" charset="-122"/>
              </a:rPr>
              <a:t>sizeof</a:t>
            </a:r>
            <a:r>
              <a:rPr lang="en-US" altLang="zh-CN" sz="1800" b="1" dirty="0">
                <a:solidFill>
                  <a:srgbClr val="000000"/>
                </a:solidFill>
                <a:latin typeface="Times New Roman" panose="02020603050405020304" pitchFamily="18" charset="0"/>
                <a:ea typeface="华文楷体" panose="02010600040101010101" pitchFamily="2" charset="-122"/>
              </a:rPr>
              <a:t>(iarray2) / </a:t>
            </a:r>
            <a:r>
              <a:rPr lang="en-US" altLang="zh-CN" sz="1800" b="1" dirty="0" err="1">
                <a:solidFill>
                  <a:srgbClr val="000000"/>
                </a:solidFill>
                <a:latin typeface="Times New Roman" panose="02020603050405020304" pitchFamily="18" charset="0"/>
                <a:ea typeface="华文楷体" panose="02010600040101010101" pitchFamily="2" charset="-122"/>
              </a:rPr>
              <a:t>sizeof</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vector&lt;</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&gt; ivector3(2);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ostream_iterator</a:t>
            </a:r>
            <a:r>
              <a:rPr lang="en-US" altLang="zh-CN" sz="1800" b="1" dirty="0">
                <a:solidFill>
                  <a:srgbClr val="000000"/>
                </a:solidFill>
                <a:latin typeface="Times New Roman" panose="02020603050405020304" pitchFamily="18" charset="0"/>
                <a:ea typeface="华文楷体" panose="02010600040101010101" pitchFamily="2" charset="-122"/>
              </a:rPr>
              <a:t>&lt;</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&gt; output(</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 ");   //</a:t>
            </a:r>
            <a:r>
              <a:rPr lang="zh-CN" altLang="en-US" sz="1800" b="1" dirty="0">
                <a:solidFill>
                  <a:srgbClr val="000000"/>
                </a:solidFill>
                <a:latin typeface="Times New Roman" panose="02020603050405020304" pitchFamily="18" charset="0"/>
                <a:ea typeface="华文楷体" panose="02010600040101010101" pitchFamily="2" charset="-122"/>
              </a:rPr>
              <a:t>定义流迭代器用于输出数据</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迭代遍历</a:t>
            </a:r>
            <a:r>
              <a:rPr lang="en-US" altLang="zh-CN" sz="1800" b="1" dirty="0">
                <a:solidFill>
                  <a:srgbClr val="000000"/>
                </a:solidFill>
                <a:latin typeface="Times New Roman" panose="02020603050405020304" pitchFamily="18" charset="0"/>
                <a:ea typeface="华文楷体" panose="02010600040101010101" pitchFamily="2" charset="-122"/>
              </a:rPr>
              <a:t>ivector3</a:t>
            </a:r>
            <a:r>
              <a:rPr lang="zh-CN" altLang="en-US" sz="1800" b="1" dirty="0">
                <a:solidFill>
                  <a:srgbClr val="000000"/>
                </a:solidFill>
                <a:latin typeface="Times New Roman" panose="02020603050405020304" pitchFamily="18" charset="0"/>
                <a:ea typeface="华文楷体" panose="02010600040101010101" pitchFamily="2" charset="-122"/>
              </a:rPr>
              <a:t>区间，每个元素填上</a:t>
            </a:r>
            <a:r>
              <a:rPr lang="en-US" altLang="zh-CN" sz="1800" b="1" dirty="0">
                <a:solidFill>
                  <a:srgbClr val="000000"/>
                </a:solidFill>
                <a:latin typeface="Times New Roman" panose="02020603050405020304" pitchFamily="18" charset="0"/>
                <a:ea typeface="华文楷体" panose="02010600040101010101" pitchFamily="2" charset="-122"/>
              </a:rPr>
              <a:t>-1</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FF0000"/>
                </a:solidFill>
                <a:latin typeface="Times New Roman" panose="02020603050405020304" pitchFamily="18" charset="0"/>
                <a:ea typeface="华文楷体" panose="02010600040101010101" pitchFamily="2" charset="-122"/>
              </a:rPr>
              <a:t>fill</a:t>
            </a:r>
            <a:r>
              <a:rPr lang="en-US" altLang="zh-CN" sz="1800" b="1" dirty="0">
                <a:solidFill>
                  <a:srgbClr val="000000"/>
                </a:solidFill>
                <a:latin typeface="Times New Roman" panose="02020603050405020304" pitchFamily="18" charset="0"/>
                <a:ea typeface="华文楷体" panose="02010600040101010101" pitchFamily="2" charset="-122"/>
              </a:rPr>
              <a:t>(ivector3.begin(), ivector3.end(), -1);</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FF0000"/>
                </a:solidFill>
                <a:latin typeface="Times New Roman" panose="02020603050405020304" pitchFamily="18" charset="0"/>
                <a:ea typeface="华文楷体" panose="02010600040101010101" pitchFamily="2" charset="-122"/>
              </a:rPr>
              <a:t>copy</a:t>
            </a:r>
            <a:r>
              <a:rPr lang="en-US" altLang="zh-CN" sz="1800" b="1" dirty="0">
                <a:solidFill>
                  <a:srgbClr val="000000"/>
                </a:solidFill>
                <a:latin typeface="Times New Roman" panose="02020603050405020304" pitchFamily="18" charset="0"/>
                <a:ea typeface="华文楷体" panose="02010600040101010101" pitchFamily="2" charset="-122"/>
              </a:rPr>
              <a:t>(ivector3.begin(), ivector3.end(), output);// </a:t>
            </a:r>
            <a:r>
              <a:rPr lang="zh-CN" altLang="en-US" sz="1800" b="1" dirty="0">
                <a:solidFill>
                  <a:srgbClr val="000000"/>
                </a:solidFill>
                <a:latin typeface="Times New Roman" panose="02020603050405020304" pitchFamily="18" charset="0"/>
                <a:ea typeface="华文楷体" panose="02010600040101010101" pitchFamily="2" charset="-122"/>
              </a:rPr>
              <a:t>使用</a:t>
            </a:r>
            <a:r>
              <a:rPr lang="en-US" altLang="zh-CN" sz="1800" b="1" dirty="0">
                <a:solidFill>
                  <a:srgbClr val="000000"/>
                </a:solidFill>
                <a:latin typeface="Times New Roman" panose="02020603050405020304" pitchFamily="18" charset="0"/>
                <a:ea typeface="华文楷体" panose="02010600040101010101" pitchFamily="2" charset="-122"/>
              </a:rPr>
              <a:t>copy</a:t>
            </a:r>
            <a:r>
              <a:rPr lang="zh-CN" altLang="en-US" sz="1800" b="1" dirty="0">
                <a:solidFill>
                  <a:srgbClr val="000000"/>
                </a:solidFill>
                <a:latin typeface="Times New Roman" panose="02020603050405020304" pitchFamily="18" charset="0"/>
                <a:ea typeface="华文楷体" panose="02010600040101010101" pitchFamily="2" charset="-122"/>
              </a:rPr>
              <a:t>进行输出</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迭代遍历</a:t>
            </a:r>
            <a:r>
              <a:rPr lang="en-US" altLang="zh-CN" sz="1800" b="1" dirty="0">
                <a:solidFill>
                  <a:srgbClr val="000000"/>
                </a:solidFill>
                <a:latin typeface="Times New Roman" panose="02020603050405020304" pitchFamily="18" charset="0"/>
                <a:ea typeface="华文楷体" panose="02010600040101010101" pitchFamily="2" charset="-122"/>
              </a:rPr>
              <a:t>ivector3</a:t>
            </a:r>
            <a:r>
              <a:rPr lang="zh-CN" altLang="en-US" sz="1800" b="1" dirty="0">
                <a:solidFill>
                  <a:srgbClr val="000000"/>
                </a:solidFill>
                <a:latin typeface="Times New Roman" panose="02020603050405020304" pitchFamily="18" charset="0"/>
                <a:ea typeface="华文楷体" panose="02010600040101010101" pitchFamily="2" charset="-122"/>
              </a:rPr>
              <a:t>区间，对每一个元素进行</a:t>
            </a:r>
            <a:r>
              <a:rPr lang="en-US" altLang="zh-CN" sz="1800" b="1" dirty="0" err="1">
                <a:solidFill>
                  <a:srgbClr val="000000"/>
                </a:solidFill>
                <a:latin typeface="Times New Roman" panose="02020603050405020304" pitchFamily="18" charset="0"/>
                <a:ea typeface="华文楷体" panose="02010600040101010101" pitchFamily="2" charset="-122"/>
              </a:rPr>
              <a:t>evenByTwo</a:t>
            </a:r>
            <a:r>
              <a:rPr lang="zh-CN" altLang="en-US" sz="1800" b="1" dirty="0">
                <a:solidFill>
                  <a:srgbClr val="000000"/>
                </a:solidFill>
                <a:latin typeface="Times New Roman" panose="02020603050405020304" pitchFamily="18" charset="0"/>
                <a:ea typeface="华文楷体" panose="02010600040101010101" pitchFamily="2" charset="-122"/>
              </a:rPr>
              <a:t>操作</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FF0000"/>
                </a:solidFill>
                <a:latin typeface="Times New Roman" panose="02020603050405020304" pitchFamily="18" charset="0"/>
                <a:ea typeface="华文楷体" panose="02010600040101010101" pitchFamily="2" charset="-122"/>
              </a:rPr>
              <a:t>generate</a:t>
            </a:r>
            <a:r>
              <a:rPr lang="en-US" altLang="zh-CN" sz="1800" b="1" dirty="0">
                <a:solidFill>
                  <a:srgbClr val="000000"/>
                </a:solidFill>
                <a:latin typeface="Times New Roman" panose="02020603050405020304" pitchFamily="18" charset="0"/>
                <a:ea typeface="华文楷体" panose="02010600040101010101" pitchFamily="2" charset="-122"/>
              </a:rPr>
              <a:t>(ivector3.begin(), ivector3.end(), </a:t>
            </a:r>
            <a:r>
              <a:rPr lang="en-US" altLang="zh-CN" sz="1800" b="1" dirty="0" err="1">
                <a:solidFill>
                  <a:srgbClr val="000000"/>
                </a:solidFill>
                <a:latin typeface="Times New Roman" panose="02020603050405020304" pitchFamily="18" charset="0"/>
                <a:ea typeface="华文楷体" panose="02010600040101010101" pitchFamily="2" charset="-122"/>
              </a:rPr>
              <a:t>evenByTwo</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copy(ivector3.begin(), ivector3.end(), output);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83973" name="标题 1"/>
          <p:cNvSpPr>
            <a:spLocks noGrp="1"/>
          </p:cNvSpPr>
          <p:nvPr>
            <p:ph type="title"/>
          </p:nvPr>
        </p:nvSpPr>
        <p:spPr>
          <a:xfrm>
            <a:off x="5357813" y="642938"/>
            <a:ext cx="3357562" cy="1066800"/>
          </a:xfrm>
          <a:solidFill>
            <a:schemeClr val="bg1"/>
          </a:solidFill>
        </p:spPr>
        <p:txBody>
          <a:bodyPr/>
          <a:lstStyle/>
          <a:p>
            <a:pPr eaLnBrk="1" hangingPunct="1"/>
            <a:r>
              <a:rPr lang="zh-CN" altLang="en-US" dirty="0"/>
              <a:t>例</a:t>
            </a:r>
            <a:r>
              <a:rPr lang="en-US" altLang="zh-CN" dirty="0"/>
              <a:t>10-21</a:t>
            </a:r>
            <a:r>
              <a:rPr lang="zh-CN" altLang="en-US" dirty="0"/>
              <a:t>（续）</a:t>
            </a:r>
            <a:endParaRPr lang="zh-CN" altLang="en-US" dirty="0"/>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内容占位符 2"/>
          <p:cNvSpPr>
            <a:spLocks noGrp="1"/>
          </p:cNvSpPr>
          <p:nvPr>
            <p:ph idx="1"/>
          </p:nvPr>
        </p:nvSpPr>
        <p:spPr>
          <a:xfrm>
            <a:off x="72008" y="2222"/>
            <a:ext cx="9036496" cy="6463308"/>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将删除元素</a:t>
            </a:r>
            <a:r>
              <a:rPr lang="en-US" altLang="zh-CN" sz="1800" b="1" dirty="0">
                <a:solidFill>
                  <a:srgbClr val="000000"/>
                </a:solidFill>
                <a:latin typeface="Times New Roman" panose="02020603050405020304" pitchFamily="18" charset="0"/>
                <a:ea typeface="华文楷体" panose="02010600040101010101" pitchFamily="2" charset="-122"/>
              </a:rPr>
              <a:t>6</a:t>
            </a:r>
            <a:r>
              <a:rPr lang="zh-CN" altLang="en-US" sz="1800" b="1" dirty="0">
                <a:solidFill>
                  <a:srgbClr val="000000"/>
                </a:solidFill>
                <a:latin typeface="Times New Roman" panose="02020603050405020304" pitchFamily="18" charset="0"/>
                <a:ea typeface="华文楷体" panose="02010600040101010101" pitchFamily="2" charset="-122"/>
              </a:rPr>
              <a:t>后的</a:t>
            </a:r>
            <a:r>
              <a:rPr lang="en-US" altLang="zh-CN" sz="1800" b="1" dirty="0">
                <a:solidFill>
                  <a:srgbClr val="000000"/>
                </a:solidFill>
                <a:latin typeface="Times New Roman" panose="02020603050405020304" pitchFamily="18" charset="0"/>
                <a:ea typeface="华文楷体" panose="02010600040101010101" pitchFamily="2" charset="-122"/>
              </a:rPr>
              <a:t>ivector2</a:t>
            </a:r>
            <a:r>
              <a:rPr lang="zh-CN" altLang="en-US" sz="1800" b="1" dirty="0">
                <a:solidFill>
                  <a:srgbClr val="000000"/>
                </a:solidFill>
                <a:latin typeface="Times New Roman" panose="02020603050405020304" pitchFamily="18" charset="0"/>
                <a:ea typeface="华文楷体" panose="02010600040101010101" pitchFamily="2" charset="-122"/>
              </a:rPr>
              <a:t>序列置于另一个容器</a:t>
            </a:r>
            <a:r>
              <a:rPr lang="en-US" altLang="zh-CN" sz="1800" b="1" dirty="0">
                <a:solidFill>
                  <a:srgbClr val="000000"/>
                </a:solidFill>
                <a:latin typeface="Times New Roman" panose="02020603050405020304" pitchFamily="18" charset="0"/>
                <a:ea typeface="华文楷体" panose="02010600040101010101" pitchFamily="2" charset="-122"/>
              </a:rPr>
              <a:t>ivector4</a:t>
            </a:r>
            <a:r>
              <a:rPr lang="zh-CN" altLang="en-US" sz="1800" b="1" dirty="0">
                <a:solidFill>
                  <a:srgbClr val="000000"/>
                </a:solidFill>
                <a:latin typeface="Times New Roman" panose="02020603050405020304" pitchFamily="18" charset="0"/>
                <a:ea typeface="华文楷体" panose="02010600040101010101" pitchFamily="2" charset="-122"/>
              </a:rPr>
              <a:t>之中</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vector&lt;</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&gt; ivector4;</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FF0000"/>
                </a:solidFill>
                <a:latin typeface="Times New Roman" panose="02020603050405020304" pitchFamily="18" charset="0"/>
                <a:ea typeface="华文楷体" panose="02010600040101010101" pitchFamily="2" charset="-122"/>
              </a:rPr>
              <a:t>remove_copy</a:t>
            </a:r>
            <a:r>
              <a:rPr lang="en-US" altLang="zh-CN" sz="1800" b="1" dirty="0">
                <a:solidFill>
                  <a:srgbClr val="000000"/>
                </a:solidFill>
                <a:latin typeface="Times New Roman" panose="02020603050405020304" pitchFamily="18" charset="0"/>
                <a:ea typeface="华文楷体" panose="02010600040101010101" pitchFamily="2" charset="-122"/>
              </a:rPr>
              <a:t>(ivector2.begin(), ivector2.end(), </a:t>
            </a:r>
            <a:r>
              <a:rPr lang="en-US" altLang="zh-CN" sz="1800" b="1" dirty="0" err="1">
                <a:solidFill>
                  <a:srgbClr val="000000"/>
                </a:solidFill>
                <a:latin typeface="Times New Roman" panose="02020603050405020304" pitchFamily="18" charset="0"/>
                <a:ea typeface="华文楷体" panose="02010600040101010101" pitchFamily="2" charset="-122"/>
              </a:rPr>
              <a:t>back_inserter</a:t>
            </a:r>
            <a:r>
              <a:rPr lang="en-US" altLang="zh-CN" sz="1800" b="1" dirty="0">
                <a:solidFill>
                  <a:srgbClr val="000000"/>
                </a:solidFill>
                <a:latin typeface="Times New Roman" panose="02020603050405020304" pitchFamily="18" charset="0"/>
                <a:ea typeface="华文楷体" panose="02010600040101010101" pitchFamily="2" charset="-122"/>
              </a:rPr>
              <a:t>(ivector4), 6);</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copy(ivector4.begin(), ivector4.end(), output);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删除小于</a:t>
            </a:r>
            <a:r>
              <a:rPr lang="en-US" altLang="zh-CN" sz="1800" b="1" dirty="0">
                <a:solidFill>
                  <a:srgbClr val="000000"/>
                </a:solidFill>
                <a:latin typeface="Times New Roman" panose="02020603050405020304" pitchFamily="18" charset="0"/>
                <a:ea typeface="华文楷体" panose="02010600040101010101" pitchFamily="2" charset="-122"/>
              </a:rPr>
              <a:t>6</a:t>
            </a:r>
            <a:r>
              <a:rPr lang="zh-CN" altLang="en-US" sz="1800" b="1" dirty="0">
                <a:solidFill>
                  <a:srgbClr val="000000"/>
                </a:solidFill>
                <a:latin typeface="Times New Roman" panose="02020603050405020304" pitchFamily="18" charset="0"/>
                <a:ea typeface="华文楷体" panose="02010600040101010101" pitchFamily="2" charset="-122"/>
              </a:rPr>
              <a:t>的元素</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ivector2.</a:t>
            </a:r>
            <a:r>
              <a:rPr lang="en-US" altLang="zh-CN" sz="1800" b="1" dirty="0">
                <a:solidFill>
                  <a:srgbClr val="FF0000"/>
                </a:solidFill>
                <a:latin typeface="Times New Roman" panose="02020603050405020304" pitchFamily="18" charset="0"/>
                <a:ea typeface="华文楷体" panose="02010600040101010101" pitchFamily="2" charset="-122"/>
              </a:rPr>
              <a:t>erase</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remove_if</a:t>
            </a:r>
            <a:r>
              <a:rPr lang="en-US" altLang="zh-CN" sz="1800" b="1" dirty="0">
                <a:solidFill>
                  <a:srgbClr val="000000"/>
                </a:solidFill>
                <a:latin typeface="Times New Roman" panose="02020603050405020304" pitchFamily="18" charset="0"/>
                <a:ea typeface="华文楷体" panose="02010600040101010101" pitchFamily="2" charset="-122"/>
              </a:rPr>
              <a:t>(ivector2.begin(), ivector2.end(), bind2nd(less&lt;</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&gt;(), 6)),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ivector2.end());</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copy(ivector2.begin(), ivector2.end(), output);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将所有的元素值</a:t>
            </a:r>
            <a:r>
              <a:rPr lang="en-US" altLang="zh-CN" sz="1800" b="1" dirty="0">
                <a:solidFill>
                  <a:srgbClr val="000000"/>
                </a:solidFill>
                <a:latin typeface="Times New Roman" panose="02020603050405020304" pitchFamily="18" charset="0"/>
                <a:ea typeface="华文楷体" panose="02010600040101010101" pitchFamily="2" charset="-122"/>
              </a:rPr>
              <a:t>6</a:t>
            </a:r>
            <a:r>
              <a:rPr lang="zh-CN" altLang="en-US" sz="1800" b="1" dirty="0">
                <a:solidFill>
                  <a:srgbClr val="000000"/>
                </a:solidFill>
                <a:latin typeface="Times New Roman" panose="02020603050405020304" pitchFamily="18" charset="0"/>
                <a:ea typeface="华文楷体" panose="02010600040101010101" pitchFamily="2" charset="-122"/>
              </a:rPr>
              <a:t>，改为元素值</a:t>
            </a:r>
            <a:r>
              <a:rPr lang="en-US" altLang="zh-CN" sz="1800" b="1" dirty="0">
                <a:solidFill>
                  <a:srgbClr val="000000"/>
                </a:solidFill>
                <a:latin typeface="Times New Roman" panose="02020603050405020304" pitchFamily="18" charset="0"/>
                <a:ea typeface="华文楷体" panose="02010600040101010101" pitchFamily="2" charset="-122"/>
              </a:rPr>
              <a:t>3</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FF0000"/>
                </a:solidFill>
                <a:latin typeface="Times New Roman" panose="02020603050405020304" pitchFamily="18" charset="0"/>
                <a:ea typeface="华文楷体" panose="02010600040101010101" pitchFamily="2" charset="-122"/>
              </a:rPr>
              <a:t>replace</a:t>
            </a:r>
            <a:r>
              <a:rPr lang="en-US" altLang="zh-CN" sz="1800" b="1" dirty="0">
                <a:solidFill>
                  <a:srgbClr val="000000"/>
                </a:solidFill>
                <a:latin typeface="Times New Roman" panose="02020603050405020304" pitchFamily="18" charset="0"/>
                <a:ea typeface="华文楷体" panose="02010600040101010101" pitchFamily="2" charset="-122"/>
              </a:rPr>
              <a:t>(ivector2.begin(), ivector2.end(), 6, 3);</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copy(ivector2.begin(), ivector2.end(), output);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逆向重排每一个元素</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FF0000"/>
                </a:solidFill>
                <a:latin typeface="Times New Roman" panose="02020603050405020304" pitchFamily="18" charset="0"/>
                <a:ea typeface="华文楷体" panose="02010600040101010101" pitchFamily="2" charset="-122"/>
              </a:rPr>
              <a:t>reverse</a:t>
            </a:r>
            <a:r>
              <a:rPr lang="en-US" altLang="zh-CN" sz="1800" b="1" dirty="0">
                <a:solidFill>
                  <a:srgbClr val="000000"/>
                </a:solidFill>
                <a:latin typeface="Times New Roman" panose="02020603050405020304" pitchFamily="18" charset="0"/>
                <a:ea typeface="华文楷体" panose="02010600040101010101" pitchFamily="2" charset="-122"/>
              </a:rPr>
              <a:t>(ivector2.begin(), ivector2.end());</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copy(ivector2.begin(), ivector2.end(), output);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旋转（互换元素）</a:t>
            </a:r>
            <a:r>
              <a:rPr lang="en-US" altLang="zh-CN" sz="1800" b="1" dirty="0">
                <a:solidFill>
                  <a:srgbClr val="000000"/>
                </a:solidFill>
                <a:latin typeface="Times New Roman" panose="02020603050405020304" pitchFamily="18" charset="0"/>
                <a:ea typeface="华文楷体" panose="02010600040101010101" pitchFamily="2" charset="-122"/>
              </a:rPr>
              <a:t>[first, middle),  </a:t>
            </a:r>
            <a:r>
              <a:rPr lang="zh-CN" altLang="en-US" sz="1800" b="1" dirty="0">
                <a:solidFill>
                  <a:srgbClr val="000000"/>
                </a:solidFill>
                <a:latin typeface="Times New Roman" panose="02020603050405020304" pitchFamily="18" charset="0"/>
                <a:ea typeface="华文楷体" panose="02010600040101010101" pitchFamily="2" charset="-122"/>
              </a:rPr>
              <a:t>和</a:t>
            </a:r>
            <a:r>
              <a:rPr lang="en-US" altLang="zh-CN" sz="1800" b="1" dirty="0">
                <a:solidFill>
                  <a:srgbClr val="000000"/>
                </a:solidFill>
                <a:latin typeface="Times New Roman" panose="02020603050405020304" pitchFamily="18" charset="0"/>
                <a:ea typeface="华文楷体" panose="02010600040101010101" pitchFamily="2" charset="-122"/>
              </a:rPr>
              <a:t>[middle, end)</a:t>
            </a:r>
            <a:r>
              <a:rPr lang="zh-CN" altLang="en-US" sz="1800" b="1" dirty="0">
                <a:solidFill>
                  <a:srgbClr val="000000"/>
                </a:solidFill>
                <a:latin typeface="Times New Roman" panose="02020603050405020304" pitchFamily="18" charset="0"/>
                <a:ea typeface="华文楷体" panose="02010600040101010101" pitchFamily="2" charset="-122"/>
              </a:rPr>
              <a:t>，结果直接输出</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FF0000"/>
                </a:solidFill>
                <a:latin typeface="Times New Roman" panose="02020603050405020304" pitchFamily="18" charset="0"/>
                <a:ea typeface="华文楷体" panose="02010600040101010101" pitchFamily="2" charset="-122"/>
              </a:rPr>
              <a:t>rotate_copy</a:t>
            </a:r>
            <a:r>
              <a:rPr lang="en-US" altLang="zh-CN" sz="1800" b="1" dirty="0">
                <a:solidFill>
                  <a:srgbClr val="000000"/>
                </a:solidFill>
                <a:latin typeface="Times New Roman" panose="02020603050405020304" pitchFamily="18" charset="0"/>
                <a:ea typeface="华文楷体" panose="02010600040101010101" pitchFamily="2" charset="-122"/>
              </a:rPr>
              <a:t>(ivector2.begin(), ivector2.begin() + 3, ivector2.end(), output);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return 0;</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84997" name="标题 1"/>
          <p:cNvSpPr>
            <a:spLocks noGrp="1"/>
          </p:cNvSpPr>
          <p:nvPr>
            <p:ph type="title"/>
          </p:nvPr>
        </p:nvSpPr>
        <p:spPr>
          <a:xfrm>
            <a:off x="5765163" y="5772855"/>
            <a:ext cx="3357562" cy="1066800"/>
          </a:xfrm>
          <a:solidFill>
            <a:schemeClr val="bg1"/>
          </a:solidFill>
        </p:spPr>
        <p:txBody>
          <a:bodyPr/>
          <a:lstStyle/>
          <a:p>
            <a:pPr eaLnBrk="1" hangingPunct="1"/>
            <a:r>
              <a:rPr lang="zh-CN" altLang="en-US" dirty="0"/>
              <a:t>例</a:t>
            </a:r>
            <a:r>
              <a:rPr lang="en-US" altLang="zh-CN" dirty="0"/>
              <a:t>10-21</a:t>
            </a:r>
            <a:r>
              <a:rPr lang="zh-CN" altLang="en-US" dirty="0"/>
              <a:t>（续）</a:t>
            </a:r>
            <a:endParaRPr lang="zh-CN" altLang="en-US" dirty="0"/>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p:cNvSpPr>
            <a:spLocks noGrp="1"/>
          </p:cNvSpPr>
          <p:nvPr>
            <p:ph type="title"/>
          </p:nvPr>
        </p:nvSpPr>
        <p:spPr/>
        <p:txBody>
          <a:bodyPr/>
          <a:lstStyle/>
          <a:p>
            <a:pPr eaLnBrk="1" hangingPunct="1"/>
            <a:r>
              <a:rPr lang="zh-CN" altLang="en-US" b="1" dirty="0"/>
              <a:t>例</a:t>
            </a:r>
            <a:r>
              <a:rPr lang="en-US" altLang="zh-CN" b="1" dirty="0"/>
              <a:t>10-21</a:t>
            </a:r>
            <a:r>
              <a:rPr lang="zh-CN" altLang="en-US" b="1" dirty="0"/>
              <a:t>（续）</a:t>
            </a:r>
            <a:endParaRPr lang="zh-CN" altLang="en-US" b="1" dirty="0"/>
          </a:p>
        </p:txBody>
      </p:sp>
      <p:sp>
        <p:nvSpPr>
          <p:cNvPr id="3" name="内容占位符 2"/>
          <p:cNvSpPr>
            <a:spLocks noGrp="1"/>
          </p:cNvSpPr>
          <p:nvPr>
            <p:ph idx="1"/>
          </p:nvPr>
        </p:nvSpPr>
        <p:spPr>
          <a:xfrm>
            <a:off x="628650" y="1825625"/>
            <a:ext cx="7886700" cy="3354765"/>
          </a:xfrm>
          <a:solidFill>
            <a:srgbClr val="000000"/>
          </a:solidFill>
          <a:ln w="9525">
            <a:noFill/>
            <a:miter lim="800000"/>
          </a:ln>
        </p:spPr>
        <p:txBody>
          <a:bodyPr>
            <a:spAutoFit/>
          </a:bodyPr>
          <a:lstStyle/>
          <a:p>
            <a:pPr marL="457200" indent="-457200">
              <a:buClr>
                <a:schemeClr val="accent2"/>
              </a:buClr>
              <a:buSzPct val="80000"/>
              <a:buFont typeface="Wingdings" panose="05000000000000000000" pitchFamily="2" charset="2"/>
              <a:buNone/>
            </a:pPr>
            <a:r>
              <a:rPr lang="zh-CN" altLang="en-US" sz="2000" b="1" dirty="0">
                <a:ea typeface="华文楷体" panose="02010600040101010101" pitchFamily="2" charset="-122"/>
              </a:rPr>
              <a:t>运行结果：</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-1 -1</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2 4</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0 1 2 3 4 5 7 8</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6 6 6 7 8</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3 3 3 7 8</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8 7 3 3 3</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3 3 8 7 3</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endParaRPr lang="zh-CN" altLang="en-US" sz="2000" b="1" dirty="0">
              <a:ea typeface="华文楷体" panose="02010600040101010101" pitchFamily="2" charset="-122"/>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a:xfrm>
            <a:off x="628650" y="44624"/>
            <a:ext cx="7886700" cy="1325563"/>
          </a:xfrm>
        </p:spPr>
        <p:txBody>
          <a:bodyPr/>
          <a:lstStyle/>
          <a:p>
            <a:pPr algn="ctr"/>
            <a:r>
              <a:rPr lang="en-US" altLang="zh-CN" sz="4400" b="1">
                <a:latin typeface="Times New Roman" panose="02020603050405020304" pitchFamily="18" charset="0"/>
                <a:ea typeface="隶书" panose="02010509060101010101" pitchFamily="49" charset="-122"/>
              </a:rPr>
              <a:t>10.7.4</a:t>
            </a:r>
            <a:r>
              <a:rPr lang="zh-CN" altLang="en-US" sz="4400" b="1">
                <a:latin typeface="Times New Roman" panose="02020603050405020304" pitchFamily="18" charset="0"/>
                <a:ea typeface="隶书" panose="02010509060101010101" pitchFamily="49" charset="-122"/>
              </a:rPr>
              <a:t>排序和搜索算法</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500063" y="980728"/>
            <a:ext cx="8643937" cy="4787900"/>
          </a:xfrm>
        </p:spPr>
        <p:txBody>
          <a:bodyPr/>
          <a:lstStyle/>
          <a:p>
            <a:pPr>
              <a:spcBef>
                <a:spcPts val="0"/>
              </a:spcBef>
              <a:spcAft>
                <a:spcPct val="25000"/>
              </a:spcAft>
            </a:pPr>
            <a:r>
              <a:rPr lang="zh-CN" altLang="en-US" sz="2400" b="1" dirty="0">
                <a:ea typeface="华文楷体" panose="02010600040101010101" pitchFamily="2" charset="-122"/>
              </a:rPr>
              <a:t>排序和搜索算法</a:t>
            </a:r>
            <a:endParaRPr lang="en-US" altLang="zh-CN" sz="2400" b="1" dirty="0">
              <a:ea typeface="华文楷体" panose="02010600040101010101" pitchFamily="2" charset="-122"/>
            </a:endParaRPr>
          </a:p>
          <a:p>
            <a:pPr lvl="1">
              <a:spcBef>
                <a:spcPts val="0"/>
              </a:spcBef>
              <a:buFont typeface="Wingdings" panose="05000000000000000000" pitchFamily="2" charset="2"/>
              <a:buChar char="ü"/>
            </a:pPr>
            <a:r>
              <a:rPr lang="zh-CN" altLang="en-US" sz="2400" b="1" dirty="0">
                <a:ea typeface="华文楷体" panose="02010600040101010101" pitchFamily="2" charset="-122"/>
              </a:rPr>
              <a:t>对序列进行排序</a:t>
            </a:r>
            <a:endParaRPr lang="en-US" altLang="zh-CN" sz="2400" b="1" dirty="0">
              <a:ea typeface="华文楷体" panose="02010600040101010101" pitchFamily="2" charset="-122"/>
            </a:endParaRPr>
          </a:p>
          <a:p>
            <a:pPr lvl="1">
              <a:spcBef>
                <a:spcPts val="0"/>
              </a:spcBef>
              <a:buFont typeface="Wingdings" panose="05000000000000000000" pitchFamily="2" charset="2"/>
              <a:buChar char="ü"/>
            </a:pPr>
            <a:r>
              <a:rPr lang="zh-CN" altLang="en-US" sz="2400" b="1" dirty="0">
                <a:ea typeface="华文楷体" panose="02010600040101010101" pitchFamily="2" charset="-122"/>
              </a:rPr>
              <a:t>对两有序序列进行合并</a:t>
            </a:r>
            <a:endParaRPr lang="en-US" altLang="zh-CN" sz="2400" b="1" dirty="0">
              <a:ea typeface="华文楷体" panose="02010600040101010101" pitchFamily="2" charset="-122"/>
            </a:endParaRPr>
          </a:p>
          <a:p>
            <a:pPr lvl="1">
              <a:spcBef>
                <a:spcPts val="0"/>
              </a:spcBef>
              <a:buFont typeface="Wingdings" panose="05000000000000000000" pitchFamily="2" charset="2"/>
              <a:buChar char="ü"/>
            </a:pPr>
            <a:r>
              <a:rPr lang="zh-CN" altLang="en-US" sz="2400" b="1" dirty="0">
                <a:ea typeface="华文楷体" panose="02010600040101010101" pitchFamily="2" charset="-122"/>
              </a:rPr>
              <a:t>对有序序列进行搜索</a:t>
            </a:r>
            <a:endParaRPr lang="en-US" altLang="zh-CN" sz="2400" b="1" dirty="0">
              <a:ea typeface="华文楷体" panose="02010600040101010101" pitchFamily="2" charset="-122"/>
            </a:endParaRPr>
          </a:p>
          <a:p>
            <a:pPr lvl="1">
              <a:spcBef>
                <a:spcPts val="0"/>
              </a:spcBef>
              <a:buFont typeface="Wingdings" panose="05000000000000000000" pitchFamily="2" charset="2"/>
              <a:buChar char="ü"/>
            </a:pPr>
            <a:r>
              <a:rPr lang="zh-CN" altLang="en-US" sz="2400" b="1" dirty="0">
                <a:ea typeface="华文楷体" panose="02010600040101010101" pitchFamily="2" charset="-122"/>
              </a:rPr>
              <a:t>有序序列的集合操作</a:t>
            </a:r>
            <a:endParaRPr lang="en-US" altLang="zh-CN" sz="2400" b="1" dirty="0">
              <a:ea typeface="华文楷体" panose="02010600040101010101" pitchFamily="2" charset="-122"/>
            </a:endParaRPr>
          </a:p>
          <a:p>
            <a:pPr lvl="1">
              <a:spcBef>
                <a:spcPts val="0"/>
              </a:spcBef>
              <a:buFont typeface="Wingdings" panose="05000000000000000000" pitchFamily="2" charset="2"/>
              <a:buChar char="ü"/>
            </a:pPr>
            <a:r>
              <a:rPr lang="zh-CN" altLang="en-US" sz="2400" b="1" dirty="0">
                <a:ea typeface="华文楷体" panose="02010600040101010101" pitchFamily="2" charset="-122"/>
              </a:rPr>
              <a:t>堆算法</a:t>
            </a:r>
            <a:endParaRPr lang="en-US" altLang="zh-CN" sz="2400" b="1" dirty="0">
              <a:ea typeface="华文楷体" panose="02010600040101010101" pitchFamily="2" charset="-122"/>
            </a:endParaRPr>
          </a:p>
          <a:p>
            <a:pPr>
              <a:spcBef>
                <a:spcPts val="0"/>
              </a:spcBef>
              <a:spcAft>
                <a:spcPct val="25000"/>
              </a:spcAft>
            </a:pPr>
            <a:r>
              <a:rPr lang="zh-CN" altLang="en-US" sz="2400" b="1" dirty="0">
                <a:ea typeface="华文楷体" panose="02010600040101010101" pitchFamily="2" charset="-122"/>
              </a:rPr>
              <a:t>例：</a:t>
            </a:r>
            <a:endParaRPr lang="en-US" altLang="zh-CN" sz="2400" b="1" dirty="0">
              <a:ea typeface="华文楷体" panose="02010600040101010101" pitchFamily="2" charset="-122"/>
            </a:endParaRPr>
          </a:p>
          <a:p>
            <a:pPr marL="457200" lvl="1" indent="0">
              <a:spcBef>
                <a:spcPts val="0"/>
              </a:spcBef>
              <a:buNone/>
            </a:pPr>
            <a:r>
              <a:rPr lang="en-US" altLang="zh-CN" sz="2400" b="1" dirty="0">
                <a:solidFill>
                  <a:srgbClr val="FFFF00"/>
                </a:solidFill>
                <a:ea typeface="华文楷体" panose="02010600040101010101" pitchFamily="2" charset="-122"/>
              </a:rPr>
              <a:t>template &lt;class </a:t>
            </a:r>
            <a:r>
              <a:rPr lang="en-US" altLang="zh-CN" sz="2400" b="1" dirty="0" err="1">
                <a:solidFill>
                  <a:srgbClr val="FFFF00"/>
                </a:solidFill>
                <a:ea typeface="华文楷体" panose="02010600040101010101" pitchFamily="2" charset="-122"/>
              </a:rPr>
              <a:t>RandomAccessIterator</a:t>
            </a:r>
            <a:r>
              <a:rPr lang="en-US" altLang="zh-CN" sz="2400" b="1" dirty="0">
                <a:solidFill>
                  <a:srgbClr val="FFFF00"/>
                </a:solidFill>
                <a:ea typeface="华文楷体" panose="02010600040101010101" pitchFamily="2" charset="-122"/>
              </a:rPr>
              <a:t> , class </a:t>
            </a:r>
            <a:r>
              <a:rPr lang="en-US" altLang="zh-CN" sz="2400" b="1" dirty="0" err="1">
                <a:solidFill>
                  <a:srgbClr val="FFFF00"/>
                </a:solidFill>
                <a:ea typeface="华文楷体" panose="02010600040101010101" pitchFamily="2" charset="-122"/>
              </a:rPr>
              <a:t>UnaryPredicate</a:t>
            </a:r>
            <a:r>
              <a:rPr lang="en-US" altLang="zh-CN" sz="2400" b="1" dirty="0">
                <a:solidFill>
                  <a:srgbClr val="FFFF00"/>
                </a:solidFill>
                <a:ea typeface="华文楷体" panose="02010600040101010101" pitchFamily="2" charset="-122"/>
              </a:rPr>
              <a:t>&gt;</a:t>
            </a:r>
            <a:endParaRPr lang="en-US" altLang="zh-CN" sz="2400" b="1" dirty="0">
              <a:solidFill>
                <a:srgbClr val="FFFF00"/>
              </a:solidFill>
              <a:ea typeface="华文楷体" panose="02010600040101010101" pitchFamily="2" charset="-122"/>
            </a:endParaRPr>
          </a:p>
          <a:p>
            <a:pPr marL="457200" lvl="1" indent="0">
              <a:spcBef>
                <a:spcPts val="0"/>
              </a:spcBef>
              <a:buNone/>
            </a:pPr>
            <a:r>
              <a:rPr lang="en-US" altLang="zh-CN" sz="2400" b="1" dirty="0">
                <a:solidFill>
                  <a:srgbClr val="FFFF00"/>
                </a:solidFill>
                <a:ea typeface="华文楷体" panose="02010600040101010101" pitchFamily="2" charset="-122"/>
              </a:rPr>
              <a:t>void sort(</a:t>
            </a:r>
            <a:r>
              <a:rPr lang="en-US" altLang="zh-CN" sz="2400" b="1" dirty="0" err="1">
                <a:solidFill>
                  <a:srgbClr val="FFFF00"/>
                </a:solidFill>
                <a:ea typeface="华文楷体" panose="02010600040101010101" pitchFamily="2" charset="-122"/>
              </a:rPr>
              <a:t>RandomAccessIterator</a:t>
            </a:r>
            <a:r>
              <a:rPr lang="en-US" altLang="zh-CN" sz="2400" b="1" dirty="0">
                <a:solidFill>
                  <a:srgbClr val="FFFF00"/>
                </a:solidFill>
                <a:ea typeface="华文楷体" panose="02010600040101010101" pitchFamily="2" charset="-122"/>
              </a:rPr>
              <a:t> first, </a:t>
            </a:r>
            <a:r>
              <a:rPr lang="en-US" altLang="zh-CN" sz="2400" b="1" dirty="0" err="1">
                <a:solidFill>
                  <a:srgbClr val="FFFF00"/>
                </a:solidFill>
                <a:ea typeface="华文楷体" panose="02010600040101010101" pitchFamily="2" charset="-122"/>
              </a:rPr>
              <a:t>RandomAccessIterator</a:t>
            </a:r>
            <a:r>
              <a:rPr lang="en-US" altLang="zh-CN" sz="2400" b="1" dirty="0">
                <a:solidFill>
                  <a:srgbClr val="FFFF00"/>
                </a:solidFill>
                <a:ea typeface="华文楷体" panose="02010600040101010101" pitchFamily="2" charset="-122"/>
              </a:rPr>
              <a:t> last, </a:t>
            </a:r>
            <a:r>
              <a:rPr lang="en-US" altLang="zh-CN" sz="2400" b="1" dirty="0" err="1">
                <a:solidFill>
                  <a:srgbClr val="FFFF00"/>
                </a:solidFill>
                <a:ea typeface="华文楷体" panose="02010600040101010101" pitchFamily="2" charset="-122"/>
              </a:rPr>
              <a:t>UnaryPredicate</a:t>
            </a:r>
            <a:r>
              <a:rPr lang="en-US" altLang="zh-CN" sz="2400" b="1" dirty="0">
                <a:solidFill>
                  <a:srgbClr val="FFFF00"/>
                </a:solidFill>
                <a:ea typeface="华文楷体" panose="02010600040101010101" pitchFamily="2" charset="-122"/>
              </a:rPr>
              <a:t> comp);</a:t>
            </a:r>
            <a:endParaRPr lang="en-US" altLang="zh-CN" sz="2400" b="1" dirty="0">
              <a:solidFill>
                <a:srgbClr val="FFFF00"/>
              </a:solidFill>
              <a:ea typeface="华文楷体" panose="02010600040101010101" pitchFamily="2" charset="-122"/>
            </a:endParaRPr>
          </a:p>
          <a:p>
            <a:pPr lvl="1">
              <a:spcBef>
                <a:spcPts val="0"/>
              </a:spcBef>
              <a:buFont typeface="Wingdings" panose="05000000000000000000" pitchFamily="2" charset="2"/>
              <a:buChar char="ü"/>
            </a:pPr>
            <a:r>
              <a:rPr lang="zh-CN" altLang="en-US" sz="2400" b="1" dirty="0">
                <a:ea typeface="华文楷体" panose="02010600040101010101" pitchFamily="2" charset="-122"/>
              </a:rPr>
              <a:t>以函数对象</a:t>
            </a:r>
            <a:r>
              <a:rPr lang="en-US" altLang="zh-CN" sz="2400" b="1" dirty="0">
                <a:ea typeface="华文楷体" panose="02010600040101010101" pitchFamily="2" charset="-122"/>
              </a:rPr>
              <a:t>comp</a:t>
            </a:r>
            <a:r>
              <a:rPr lang="zh-CN" altLang="en-US" sz="2400" b="1" dirty="0">
                <a:ea typeface="华文楷体" panose="02010600040101010101" pitchFamily="2" charset="-122"/>
              </a:rPr>
              <a:t>为“</a:t>
            </a:r>
            <a:r>
              <a:rPr lang="en-US" altLang="zh-CN" sz="2400" b="1" dirty="0">
                <a:ea typeface="华文楷体" panose="02010600040101010101" pitchFamily="2" charset="-122"/>
              </a:rPr>
              <a:t>&lt;</a:t>
            </a:r>
            <a:r>
              <a:rPr lang="zh-CN" altLang="en-US" sz="2400" b="1" dirty="0">
                <a:ea typeface="华文楷体" panose="02010600040101010101" pitchFamily="2" charset="-122"/>
              </a:rPr>
              <a:t>”，对 </a:t>
            </a:r>
            <a:r>
              <a:rPr lang="en-US" altLang="zh-CN" sz="2400" b="1" dirty="0">
                <a:ea typeface="华文楷体" panose="02010600040101010101" pitchFamily="2" charset="-122"/>
              </a:rPr>
              <a:t>[first, last)</a:t>
            </a:r>
            <a:r>
              <a:rPr lang="zh-CN" altLang="en-US" sz="2400" b="1" dirty="0">
                <a:ea typeface="华文楷体" panose="02010600040101010101" pitchFamily="2" charset="-122"/>
              </a:rPr>
              <a:t>区间内的数据进行排序</a:t>
            </a:r>
            <a:endParaRPr lang="en-US" altLang="zh-CN" sz="2400" b="1" dirty="0">
              <a:ea typeface="华文楷体" panose="02010600040101010101" pitchFamily="2" charset="-122"/>
            </a:endParaRP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a:xfrm>
            <a:off x="628650" y="188640"/>
            <a:ext cx="7886700" cy="1325563"/>
          </a:xfrm>
        </p:spPr>
        <p:txBody>
          <a:bodyPr/>
          <a:lstStyle/>
          <a:p>
            <a:r>
              <a:rPr lang="zh-CN" altLang="en-US" b="1" dirty="0">
                <a:latin typeface="Times New Roman" panose="02020603050405020304" pitchFamily="18" charset="0"/>
                <a:ea typeface="隶书" panose="02010509060101010101" pitchFamily="49" charset="-122"/>
              </a:rPr>
              <a:t>例</a:t>
            </a:r>
            <a:r>
              <a:rPr lang="en-US" altLang="zh-CN" b="1" dirty="0">
                <a:latin typeface="Times New Roman" panose="02020603050405020304" pitchFamily="18" charset="0"/>
                <a:ea typeface="隶书" panose="02010509060101010101" pitchFamily="49" charset="-122"/>
              </a:rPr>
              <a:t>10-20 </a:t>
            </a:r>
            <a:r>
              <a:rPr lang="zh-CN" altLang="en-US" b="1" dirty="0">
                <a:latin typeface="Times New Roman" panose="02020603050405020304" pitchFamily="18" charset="0"/>
                <a:ea typeface="隶书" panose="02010509060101010101" pitchFamily="49" charset="-122"/>
              </a:rPr>
              <a:t>排序与搜索算法示例</a:t>
            </a:r>
            <a:endParaRPr lang="zh-CN" altLang="en-US" b="1" dirty="0">
              <a:latin typeface="Times New Roman" panose="02020603050405020304" pitchFamily="18" charset="0"/>
              <a:ea typeface="隶书" panose="02010509060101010101" pitchFamily="49" charset="-122"/>
            </a:endParaRPr>
          </a:p>
        </p:txBody>
      </p:sp>
      <p:sp>
        <p:nvSpPr>
          <p:cNvPr id="88067" name="内容占位符 2"/>
          <p:cNvSpPr>
            <a:spLocks noGrp="1"/>
          </p:cNvSpPr>
          <p:nvPr>
            <p:ph idx="1"/>
          </p:nvPr>
        </p:nvSpPr>
        <p:spPr>
          <a:xfrm>
            <a:off x="71438" y="908720"/>
            <a:ext cx="9001125" cy="594008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10_20.cpp, </a:t>
            </a:r>
            <a:r>
              <a:rPr lang="zh-CN" altLang="en-US" sz="2000" b="1" dirty="0">
                <a:solidFill>
                  <a:srgbClr val="000000"/>
                </a:solidFill>
                <a:latin typeface="Times New Roman" panose="02020603050405020304" pitchFamily="18" charset="0"/>
                <a:ea typeface="华文楷体" panose="02010600040101010101" pitchFamily="2" charset="-122"/>
              </a:rPr>
              <a:t>头部分省略</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iarray</a:t>
            </a:r>
            <a:r>
              <a:rPr lang="en-US" altLang="zh-CN" sz="2000" b="1" dirty="0">
                <a:solidFill>
                  <a:srgbClr val="000000"/>
                </a:solidFill>
                <a:latin typeface="Times New Roman" panose="02020603050405020304" pitchFamily="18" charset="0"/>
                <a:ea typeface="华文楷体" panose="02010600040101010101" pitchFamily="2" charset="-122"/>
              </a:rPr>
              <a:t>[] = { 26, 17, 15, 22, 23, 33, 32, 40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vector&lt;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a:t>
            </a:r>
            <a:r>
              <a:rPr lang="en-US" altLang="zh-CN" sz="2000" b="1" dirty="0" err="1">
                <a:solidFill>
                  <a:srgbClr val="000000"/>
                </a:solidFill>
                <a:latin typeface="Times New Roman" panose="02020603050405020304" pitchFamily="18" charset="0"/>
                <a:ea typeface="华文楷体" panose="02010600040101010101" pitchFamily="2" charset="-122"/>
              </a:rPr>
              <a:t>ivector</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iarray</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iarray</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iarray</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 </a:t>
            </a:r>
            <a:r>
              <a:rPr lang="zh-CN" altLang="en-US" sz="2000" b="1" dirty="0">
                <a:solidFill>
                  <a:srgbClr val="000000"/>
                </a:solidFill>
                <a:latin typeface="Times New Roman" panose="02020603050405020304" pitchFamily="18" charset="0"/>
                <a:ea typeface="华文楷体" panose="02010600040101010101" pitchFamily="2" charset="-122"/>
              </a:rPr>
              <a:t>查找并输出第一个最大值元素及其位置</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vector&lt;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&gt;::iterator p = </a:t>
            </a:r>
            <a:r>
              <a:rPr lang="en-US" altLang="zh-CN" sz="2000" b="1" dirty="0" err="1">
                <a:solidFill>
                  <a:srgbClr val="000000"/>
                </a:solidFill>
                <a:latin typeface="Times New Roman" panose="02020603050405020304" pitchFamily="18" charset="0"/>
                <a:ea typeface="华文楷体" panose="02010600040101010101" pitchFamily="2" charset="-122"/>
              </a:rPr>
              <a:t>max_element</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n = p  - </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"max element: " &lt;&lt; *p &lt;&lt; " found at " &lt;&lt; n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vector&lt;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ivector1(5); //</a:t>
            </a:r>
            <a:r>
              <a:rPr lang="zh-CN" altLang="en-US" sz="2000" b="1" dirty="0">
                <a:solidFill>
                  <a:srgbClr val="000000"/>
                </a:solidFill>
                <a:latin typeface="Times New Roman" panose="02020603050405020304" pitchFamily="18" charset="0"/>
                <a:ea typeface="华文楷体" panose="02010600040101010101" pitchFamily="2" charset="-122"/>
              </a:rPr>
              <a:t>局部排序并复制到别处</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partial_sort_copy</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ivector1.begin(), ivector1.end());</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copy(ivector1.begin(),ivector1.end(),</a:t>
            </a:r>
            <a:r>
              <a:rPr lang="en-US" altLang="zh-CN" sz="2000" b="1" dirty="0" err="1">
                <a:solidFill>
                  <a:srgbClr val="000000"/>
                </a:solidFill>
                <a:latin typeface="Times New Roman" panose="02020603050405020304" pitchFamily="18" charset="0"/>
                <a:ea typeface="华文楷体" panose="02010600040101010101" pitchFamily="2" charset="-122"/>
              </a:rPr>
              <a:t>ostream_iterator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sort(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排序，缺省为递增。</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copy(</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ostream_iterator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116632"/>
            <a:ext cx="8784976" cy="6555641"/>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 </a:t>
            </a:r>
            <a:r>
              <a:rPr lang="zh-CN" altLang="en-US" sz="2000" b="1" dirty="0">
                <a:solidFill>
                  <a:srgbClr val="000000"/>
                </a:solidFill>
                <a:latin typeface="Times New Roman" panose="02020603050405020304" pitchFamily="18" charset="0"/>
                <a:ea typeface="华文楷体" panose="02010600040101010101" pitchFamily="2" charset="-122"/>
              </a:rPr>
              <a:t>返回小于等于</a:t>
            </a:r>
            <a:r>
              <a:rPr lang="en-US" altLang="zh-CN" sz="2000" b="1" dirty="0">
                <a:solidFill>
                  <a:srgbClr val="000000"/>
                </a:solidFill>
                <a:latin typeface="Times New Roman" panose="02020603050405020304" pitchFamily="18" charset="0"/>
                <a:ea typeface="华文楷体" panose="02010600040101010101" pitchFamily="2" charset="-122"/>
              </a:rPr>
              <a:t>24</a:t>
            </a:r>
            <a:r>
              <a:rPr lang="zh-CN" altLang="en-US" sz="2000" b="1" dirty="0">
                <a:solidFill>
                  <a:srgbClr val="000000"/>
                </a:solidFill>
                <a:latin typeface="Times New Roman" panose="02020603050405020304" pitchFamily="18" charset="0"/>
                <a:ea typeface="华文楷体" panose="02010600040101010101" pitchFamily="2" charset="-122"/>
              </a:rPr>
              <a:t>和大于等于</a:t>
            </a:r>
            <a:r>
              <a:rPr lang="en-US" altLang="zh-CN" sz="2000" b="1" dirty="0">
                <a:solidFill>
                  <a:srgbClr val="000000"/>
                </a:solidFill>
                <a:latin typeface="Times New Roman" panose="02020603050405020304" pitchFamily="18" charset="0"/>
                <a:ea typeface="华文楷体" panose="02010600040101010101" pitchFamily="2" charset="-122"/>
              </a:rPr>
              <a:t>24</a:t>
            </a:r>
            <a:r>
              <a:rPr lang="zh-CN" altLang="en-US" sz="2000" b="1" dirty="0">
                <a:solidFill>
                  <a:srgbClr val="000000"/>
                </a:solidFill>
                <a:latin typeface="Times New Roman" panose="02020603050405020304" pitchFamily="18" charset="0"/>
                <a:ea typeface="华文楷体" panose="02010600040101010101" pitchFamily="2" charset="-122"/>
              </a:rPr>
              <a:t>的元素的位置</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lower_bound</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24)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upper_bound</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24)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对于有序区间，可以用二分查找方法寻找某个元素</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binary_search</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33)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合并两个序列</a:t>
            </a:r>
            <a:r>
              <a:rPr lang="en-US" altLang="zh-CN" sz="2000" b="1" dirty="0" err="1">
                <a:solidFill>
                  <a:srgbClr val="000000"/>
                </a:solidFill>
                <a:latin typeface="Times New Roman" panose="02020603050405020304" pitchFamily="18" charset="0"/>
                <a:ea typeface="华文楷体" panose="02010600040101010101" pitchFamily="2" charset="-122"/>
              </a:rPr>
              <a:t>ivector</a:t>
            </a:r>
            <a:r>
              <a:rPr lang="zh-CN" altLang="en-US" sz="2000" b="1" dirty="0">
                <a:solidFill>
                  <a:srgbClr val="000000"/>
                </a:solidFill>
                <a:latin typeface="Times New Roman" panose="02020603050405020304" pitchFamily="18" charset="0"/>
                <a:ea typeface="华文楷体" panose="02010600040101010101" pitchFamily="2" charset="-122"/>
              </a:rPr>
              <a:t>和</a:t>
            </a:r>
            <a:r>
              <a:rPr lang="en-US" altLang="zh-CN" sz="2000" b="1" dirty="0">
                <a:solidFill>
                  <a:srgbClr val="000000"/>
                </a:solidFill>
                <a:latin typeface="Times New Roman" panose="02020603050405020304" pitchFamily="18" charset="0"/>
                <a:ea typeface="华文楷体" panose="02010600040101010101" pitchFamily="2" charset="-122"/>
              </a:rPr>
              <a:t>ivector1</a:t>
            </a:r>
            <a:r>
              <a:rPr lang="zh-CN" altLang="en-US" sz="2000" b="1" dirty="0">
                <a:solidFill>
                  <a:srgbClr val="000000"/>
                </a:solidFill>
                <a:latin typeface="Times New Roman" panose="02020603050405020304" pitchFamily="18" charset="0"/>
                <a:ea typeface="华文楷体" panose="02010600040101010101" pitchFamily="2" charset="-122"/>
              </a:rPr>
              <a:t>，并将结果放到</a:t>
            </a:r>
            <a:r>
              <a:rPr lang="en-US" altLang="zh-CN" sz="2000" b="1" dirty="0">
                <a:solidFill>
                  <a:srgbClr val="000000"/>
                </a:solidFill>
                <a:latin typeface="Times New Roman" panose="02020603050405020304" pitchFamily="18" charset="0"/>
                <a:ea typeface="华文楷体" panose="02010600040101010101" pitchFamily="2" charset="-122"/>
              </a:rPr>
              <a:t>ivector2</a:t>
            </a:r>
            <a:r>
              <a:rPr lang="zh-CN" altLang="en-US" sz="2000" b="1" dirty="0">
                <a:solidFill>
                  <a:srgbClr val="000000"/>
                </a:solidFill>
                <a:latin typeface="Times New Roman" panose="02020603050405020304" pitchFamily="18" charset="0"/>
                <a:ea typeface="华文楷体" panose="02010600040101010101" pitchFamily="2" charset="-122"/>
              </a:rPr>
              <a:t>中</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vector&lt;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ivector2(13);</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merge(</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ivector1.begin(), ivector1.end(),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ivector2.begin());</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copy(ivector2.begin(), ivector2.end(), </a:t>
            </a:r>
            <a:r>
              <a:rPr lang="en-US" altLang="zh-CN" sz="2000" b="1" dirty="0" err="1">
                <a:solidFill>
                  <a:srgbClr val="000000"/>
                </a:solidFill>
                <a:latin typeface="Times New Roman" panose="02020603050405020304" pitchFamily="18" charset="0"/>
                <a:ea typeface="华文楷体" panose="02010600040101010101" pitchFamily="2" charset="-122"/>
              </a:rPr>
              <a:t>ostream_iterator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将小于*</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()+5)</a:t>
            </a:r>
            <a:r>
              <a:rPr lang="zh-CN" altLang="en-US" sz="2000" b="1" dirty="0">
                <a:solidFill>
                  <a:srgbClr val="000000"/>
                </a:solidFill>
                <a:latin typeface="Times New Roman" panose="02020603050405020304" pitchFamily="18" charset="0"/>
                <a:ea typeface="华文楷体" panose="02010600040101010101" pitchFamily="2" charset="-122"/>
              </a:rPr>
              <a:t>的元素放置在该元素之左</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其余置于该元素之右。不保证维持原有的相对位置</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nth_element</a:t>
            </a:r>
            <a:r>
              <a:rPr lang="en-US" altLang="zh-CN" sz="2000" b="1" dirty="0">
                <a:solidFill>
                  <a:srgbClr val="000000"/>
                </a:solidFill>
                <a:latin typeface="Times New Roman" panose="02020603050405020304" pitchFamily="18" charset="0"/>
                <a:ea typeface="华文楷体" panose="02010600040101010101" pitchFamily="2" charset="-122"/>
              </a:rPr>
              <a:t>(ivector2.begin(), ivector2.begin() + 5, ivector2.end());</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copy(ivector2.begin(), ivector2.end(), </a:t>
            </a:r>
            <a:r>
              <a:rPr lang="en-US" altLang="zh-CN" sz="2000" b="1" dirty="0" err="1">
                <a:solidFill>
                  <a:srgbClr val="000000"/>
                </a:solidFill>
                <a:latin typeface="Times New Roman" panose="02020603050405020304" pitchFamily="18" charset="0"/>
                <a:ea typeface="华文楷体" panose="02010600040101010101" pitchFamily="2" charset="-122"/>
              </a:rPr>
              <a:t>ostream_iterator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排序，并保持原来相对位置</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stable_sort</a:t>
            </a:r>
            <a:r>
              <a:rPr lang="en-US" altLang="zh-CN" sz="2000" b="1" dirty="0">
                <a:solidFill>
                  <a:srgbClr val="000000"/>
                </a:solidFill>
                <a:latin typeface="Times New Roman" panose="02020603050405020304" pitchFamily="18" charset="0"/>
                <a:ea typeface="华文楷体" panose="02010600040101010101" pitchFamily="2" charset="-122"/>
              </a:rPr>
              <a:t>(ivector2.begin(), ivector2.end());</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copy(ivector2.begin(), ivector2.end(), </a:t>
            </a:r>
            <a:r>
              <a:rPr lang="en-US" altLang="zh-CN" sz="2000" b="1" dirty="0" err="1">
                <a:solidFill>
                  <a:srgbClr val="000000"/>
                </a:solidFill>
                <a:latin typeface="Times New Roman" panose="02020603050405020304" pitchFamily="18" charset="0"/>
                <a:ea typeface="华文楷体" panose="02010600040101010101" pitchFamily="2" charset="-122"/>
              </a:rPr>
              <a:t>ostream_iterator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
        <p:nvSpPr>
          <p:cNvPr id="89093" name="标题 1"/>
          <p:cNvSpPr>
            <a:spLocks noGrp="1"/>
          </p:cNvSpPr>
          <p:nvPr>
            <p:ph type="title"/>
          </p:nvPr>
        </p:nvSpPr>
        <p:spPr>
          <a:xfrm>
            <a:off x="6040324" y="5229200"/>
            <a:ext cx="3114675" cy="709613"/>
          </a:xfrm>
          <a:solidFill>
            <a:schemeClr val="bg1"/>
          </a:solidFill>
        </p:spPr>
        <p:txBody>
          <a:bodyPr/>
          <a:lstStyle/>
          <a:p>
            <a:pPr eaLnBrk="1" hangingPunct="1"/>
            <a:r>
              <a:rPr lang="zh-CN" altLang="en-US" dirty="0"/>
              <a:t>例</a:t>
            </a:r>
            <a:r>
              <a:rPr lang="en-US" altLang="zh-CN" dirty="0"/>
              <a:t>10-20</a:t>
            </a:r>
            <a:r>
              <a:rPr lang="zh-CN" altLang="en-US" dirty="0"/>
              <a:t>（续）</a:t>
            </a:r>
            <a:endParaRPr lang="zh-CN" altLang="en-US" dirty="0"/>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642938"/>
            <a:ext cx="8856984" cy="4401205"/>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合并两个有序序列，然后就地替换</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iarray3[] = { 1, 3, 5, 7, 2, 4, 6, 8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vector&lt;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ivector3(iarray3, iarray3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(iarray3)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inplace_merge</a:t>
            </a:r>
            <a:r>
              <a:rPr lang="en-US" altLang="zh-CN" sz="2000" b="1" dirty="0">
                <a:solidFill>
                  <a:srgbClr val="000000"/>
                </a:solidFill>
                <a:latin typeface="Times New Roman" panose="02020603050405020304" pitchFamily="18" charset="0"/>
                <a:ea typeface="华文楷体" panose="02010600040101010101" pitchFamily="2" charset="-122"/>
              </a:rPr>
              <a:t>(ivector3.begin(), ivector3.begin() + 4, ivector3.end());</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copy(ivector3.begin(), ivector3.end(), </a:t>
            </a:r>
            <a:r>
              <a:rPr lang="en-US" altLang="zh-CN" sz="2000" b="1" dirty="0" err="1">
                <a:solidFill>
                  <a:srgbClr val="000000"/>
                </a:solidFill>
                <a:latin typeface="Times New Roman" panose="02020603050405020304" pitchFamily="18" charset="0"/>
                <a:ea typeface="华文楷体" panose="02010600040101010101" pitchFamily="2" charset="-122"/>
              </a:rPr>
              <a:t>ostream_iterator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&lt;&lt;</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以字典顺序比较序列</a:t>
            </a:r>
            <a:r>
              <a:rPr lang="en-US" altLang="zh-CN" sz="2000" b="1" dirty="0">
                <a:solidFill>
                  <a:srgbClr val="000000"/>
                </a:solidFill>
                <a:latin typeface="Times New Roman" panose="02020603050405020304" pitchFamily="18" charset="0"/>
                <a:ea typeface="华文楷体" panose="02010600040101010101" pitchFamily="2" charset="-122"/>
              </a:rPr>
              <a:t>ivector3</a:t>
            </a:r>
            <a:r>
              <a:rPr lang="zh-CN" altLang="en-US" sz="2000" b="1" dirty="0">
                <a:solidFill>
                  <a:srgbClr val="000000"/>
                </a:solidFill>
                <a:latin typeface="Times New Roman" panose="02020603050405020304" pitchFamily="18" charset="0"/>
                <a:ea typeface="华文楷体" panose="02010600040101010101" pitchFamily="2" charset="-122"/>
              </a:rPr>
              <a:t>和</a:t>
            </a:r>
            <a:r>
              <a:rPr lang="en-US" altLang="zh-CN" sz="2000" b="1" dirty="0">
                <a:solidFill>
                  <a:srgbClr val="000000"/>
                </a:solidFill>
                <a:latin typeface="Times New Roman" panose="02020603050405020304" pitchFamily="18" charset="0"/>
                <a:ea typeface="华文楷体" panose="02010600040101010101" pitchFamily="2" charset="-122"/>
              </a:rPr>
              <a:t>ivector4</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iarray4[] = { 1, 3, 5, 7, 1, 5, 9, 3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vector&lt;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ivector4(iarray4, iarray4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(iarray4)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&lt;&lt; </a:t>
            </a:r>
            <a:r>
              <a:rPr lang="en-US" altLang="zh-CN" sz="2000" b="1" dirty="0" err="1">
                <a:solidFill>
                  <a:srgbClr val="000000"/>
                </a:solidFill>
                <a:latin typeface="Times New Roman" panose="02020603050405020304" pitchFamily="18" charset="0"/>
                <a:ea typeface="华文楷体" panose="02010600040101010101" pitchFamily="2" charset="-122"/>
              </a:rPr>
              <a:t>lexicographical_compare</a:t>
            </a:r>
            <a:r>
              <a:rPr lang="en-US" altLang="zh-CN" sz="2000" b="1" dirty="0">
                <a:solidFill>
                  <a:srgbClr val="000000"/>
                </a:solidFill>
                <a:latin typeface="Times New Roman" panose="02020603050405020304" pitchFamily="18" charset="0"/>
                <a:ea typeface="华文楷体" panose="02010600040101010101" pitchFamily="2" charset="-122"/>
              </a:rPr>
              <a:t>(ivector3.begin(), ivector3.end(),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ivector4.begin(), ivector4.end())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90117" name="标题 1"/>
          <p:cNvSpPr>
            <a:spLocks noGrp="1"/>
          </p:cNvSpPr>
          <p:nvPr>
            <p:ph type="title"/>
          </p:nvPr>
        </p:nvSpPr>
        <p:spPr>
          <a:xfrm>
            <a:off x="5600700" y="5857875"/>
            <a:ext cx="3114675" cy="709613"/>
          </a:xfrm>
          <a:solidFill>
            <a:schemeClr val="bg1"/>
          </a:solidFill>
        </p:spPr>
        <p:txBody>
          <a:bodyPr/>
          <a:lstStyle/>
          <a:p>
            <a:pPr eaLnBrk="1" hangingPunct="1"/>
            <a:r>
              <a:rPr lang="zh-CN" altLang="en-US" dirty="0"/>
              <a:t>例</a:t>
            </a:r>
            <a:r>
              <a:rPr lang="en-US" altLang="zh-CN" dirty="0"/>
              <a:t>10-20</a:t>
            </a:r>
            <a:r>
              <a:rPr lang="zh-CN" altLang="en-US" dirty="0"/>
              <a:t>（续）</a:t>
            </a:r>
            <a:endParaRPr lang="zh-CN" altLang="en-US" dirty="0"/>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10.7.5 </a:t>
            </a:r>
            <a:r>
              <a:rPr lang="zh-CN" altLang="en-US" sz="4400" b="1">
                <a:latin typeface="Times New Roman" panose="02020603050405020304" pitchFamily="18" charset="0"/>
                <a:ea typeface="隶书" panose="02010509060101010101" pitchFamily="49" charset="-122"/>
              </a:rPr>
              <a:t>数值算法</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251520" y="1196752"/>
            <a:ext cx="8715375" cy="4787900"/>
          </a:xfrm>
        </p:spPr>
        <p:txBody>
          <a:bodyPr/>
          <a:lstStyle/>
          <a:p>
            <a:pPr>
              <a:spcBef>
                <a:spcPts val="0"/>
              </a:spcBef>
              <a:spcAft>
                <a:spcPts val="0"/>
              </a:spcAft>
            </a:pPr>
            <a:r>
              <a:rPr lang="zh-CN" altLang="en-US" sz="2400" b="1" dirty="0">
                <a:ea typeface="华文楷体" panose="02010600040101010101" pitchFamily="2" charset="-122"/>
              </a:rPr>
              <a:t>数值算法</a:t>
            </a:r>
            <a:endParaRPr lang="en-US" altLang="zh-CN" sz="24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400" b="1" dirty="0">
                <a:ea typeface="华文楷体" panose="02010600040101010101" pitchFamily="2" charset="-122"/>
              </a:rPr>
              <a:t>求序列中元素的“和”、部分“和”、相邻元素的“差”或两序列的内积</a:t>
            </a:r>
            <a:endParaRPr lang="en-US" altLang="zh-CN" sz="2400" b="1" dirty="0">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400" b="1" dirty="0">
                <a:ea typeface="华文楷体" panose="02010600040101010101" pitchFamily="2" charset="-122"/>
              </a:rPr>
              <a:t>求“和”的“</a:t>
            </a:r>
            <a:r>
              <a:rPr lang="en-US" altLang="zh-CN" sz="2400" b="1" dirty="0">
                <a:ea typeface="华文楷体" panose="02010600040101010101" pitchFamily="2" charset="-122"/>
              </a:rPr>
              <a:t>+</a:t>
            </a:r>
            <a:r>
              <a:rPr lang="zh-CN" altLang="en-US" sz="2400" b="1" dirty="0">
                <a:ea typeface="华文楷体" panose="02010600040101010101" pitchFamily="2" charset="-122"/>
              </a:rPr>
              <a:t>”、求“差”的“</a:t>
            </a:r>
            <a:r>
              <a:rPr lang="en-US" altLang="zh-CN" sz="2400" b="1" dirty="0">
                <a:ea typeface="华文楷体" panose="02010600040101010101" pitchFamily="2" charset="-122"/>
              </a:rPr>
              <a:t>-</a:t>
            </a:r>
            <a:r>
              <a:rPr lang="zh-CN" altLang="en-US" sz="2400" b="1" dirty="0">
                <a:ea typeface="华文楷体" panose="02010600040101010101" pitchFamily="2" charset="-122"/>
              </a:rPr>
              <a:t>”以及求内积的“</a:t>
            </a:r>
            <a:r>
              <a:rPr lang="en-US" altLang="zh-CN" sz="2400" b="1" dirty="0">
                <a:ea typeface="华文楷体" panose="02010600040101010101" pitchFamily="2" charset="-122"/>
              </a:rPr>
              <a:t>+</a:t>
            </a:r>
            <a:r>
              <a:rPr lang="zh-CN" altLang="en-US" sz="2400" b="1" dirty="0">
                <a:ea typeface="华文楷体" panose="02010600040101010101" pitchFamily="2" charset="-122"/>
              </a:rPr>
              <a:t>”和“</a:t>
            </a:r>
            <a:r>
              <a:rPr lang="en-US" altLang="zh-CN" sz="2400" b="1" dirty="0">
                <a:ea typeface="华文楷体" panose="02010600040101010101" pitchFamily="2" charset="-122"/>
              </a:rPr>
              <a:t>·</a:t>
            </a:r>
            <a:r>
              <a:rPr lang="zh-CN" altLang="en-US" sz="2400" b="1" dirty="0">
                <a:ea typeface="华文楷体" panose="02010600040101010101" pitchFamily="2" charset="-122"/>
              </a:rPr>
              <a:t>”都可由函数对象指定</a:t>
            </a:r>
            <a:endParaRPr lang="zh-CN" altLang="en-US" sz="2400" b="1" dirty="0">
              <a:ea typeface="华文楷体" panose="02010600040101010101" pitchFamily="2" charset="-122"/>
            </a:endParaRPr>
          </a:p>
          <a:p>
            <a:pPr>
              <a:spcBef>
                <a:spcPts val="0"/>
              </a:spcBef>
              <a:spcAft>
                <a:spcPts val="0"/>
              </a:spcAft>
            </a:pPr>
            <a:r>
              <a:rPr lang="zh-CN" altLang="en-US" sz="2400" b="1" dirty="0">
                <a:ea typeface="华文楷体" panose="02010600040101010101" pitchFamily="2" charset="-122"/>
              </a:rPr>
              <a:t>例：</a:t>
            </a:r>
            <a:endParaRPr lang="en-US" altLang="zh-CN" sz="2400" b="1" dirty="0">
              <a:ea typeface="华文楷体" panose="02010600040101010101" pitchFamily="2" charset="-122"/>
            </a:endParaRPr>
          </a:p>
          <a:p>
            <a:pPr marL="457200" lvl="1" indent="0">
              <a:spcBef>
                <a:spcPts val="0"/>
              </a:spcBef>
              <a:spcAft>
                <a:spcPts val="0"/>
              </a:spcAft>
              <a:buNone/>
            </a:pPr>
            <a:r>
              <a:rPr lang="en-US" altLang="zh-CN" sz="2000" b="1" dirty="0">
                <a:solidFill>
                  <a:srgbClr val="FFFF00"/>
                </a:solidFill>
                <a:ea typeface="华文楷体" panose="02010600040101010101" pitchFamily="2" charset="-122"/>
              </a:rPr>
              <a:t>template&lt;class </a:t>
            </a:r>
            <a:r>
              <a:rPr lang="en-US" altLang="zh-CN" sz="2000" b="1" dirty="0" err="1">
                <a:solidFill>
                  <a:srgbClr val="FFFF00"/>
                </a:solidFill>
                <a:ea typeface="华文楷体" panose="02010600040101010101" pitchFamily="2" charset="-122"/>
              </a:rPr>
              <a:t>InputIterator</a:t>
            </a:r>
            <a:r>
              <a:rPr lang="en-US" altLang="zh-CN" sz="2000" b="1" dirty="0">
                <a:solidFill>
                  <a:srgbClr val="FFFF00"/>
                </a:solidFill>
                <a:ea typeface="华文楷体" panose="02010600040101010101" pitchFamily="2" charset="-122"/>
              </a:rPr>
              <a:t>, class </a:t>
            </a:r>
            <a:r>
              <a:rPr lang="en-US" altLang="zh-CN" sz="2000" b="1" dirty="0" err="1">
                <a:solidFill>
                  <a:srgbClr val="FFFF00"/>
                </a:solidFill>
                <a:ea typeface="华文楷体" panose="02010600040101010101" pitchFamily="2" charset="-122"/>
              </a:rPr>
              <a:t>OutputIterator</a:t>
            </a:r>
            <a:r>
              <a:rPr lang="en-US" altLang="zh-CN" sz="2000" b="1" dirty="0">
                <a:solidFill>
                  <a:srgbClr val="FFFF00"/>
                </a:solidFill>
                <a:ea typeface="华文楷体" panose="02010600040101010101" pitchFamily="2" charset="-122"/>
              </a:rPr>
              <a:t>, class </a:t>
            </a:r>
            <a:r>
              <a:rPr lang="en-US" altLang="zh-CN" sz="2000" b="1" dirty="0" err="1">
                <a:solidFill>
                  <a:srgbClr val="FFFF00"/>
                </a:solidFill>
                <a:ea typeface="华文楷体" panose="02010600040101010101" pitchFamily="2" charset="-122"/>
              </a:rPr>
              <a:t>BinaryFunction</a:t>
            </a:r>
            <a:r>
              <a:rPr lang="en-US" altLang="zh-CN" sz="2000" b="1" dirty="0">
                <a:solidFill>
                  <a:srgbClr val="FFFF00"/>
                </a:solidFill>
                <a:ea typeface="华文楷体" panose="02010600040101010101" pitchFamily="2" charset="-122"/>
              </a:rPr>
              <a:t>&gt;</a:t>
            </a:r>
            <a:endParaRPr lang="en-US" altLang="zh-CN" sz="2000" b="1" dirty="0">
              <a:solidFill>
                <a:srgbClr val="FFFF00"/>
              </a:solidFill>
              <a:ea typeface="华文楷体" panose="02010600040101010101" pitchFamily="2" charset="-122"/>
            </a:endParaRPr>
          </a:p>
          <a:p>
            <a:pPr marL="457200" lvl="1" indent="0">
              <a:spcBef>
                <a:spcPts val="0"/>
              </a:spcBef>
              <a:spcAft>
                <a:spcPts val="0"/>
              </a:spcAft>
              <a:buNone/>
            </a:pPr>
            <a:r>
              <a:rPr lang="en-US" altLang="zh-CN" sz="2000" b="1" dirty="0" err="1">
                <a:solidFill>
                  <a:srgbClr val="FFFF00"/>
                </a:solidFill>
                <a:ea typeface="华文楷体" panose="02010600040101010101" pitchFamily="2" charset="-122"/>
              </a:rPr>
              <a:t>OutputIterator</a:t>
            </a:r>
            <a:r>
              <a:rPr lang="en-US" altLang="zh-CN" sz="2000" b="1" dirty="0">
                <a:solidFill>
                  <a:srgbClr val="FFFF00"/>
                </a:solidFill>
                <a:ea typeface="华文楷体" panose="02010600040101010101" pitchFamily="2" charset="-122"/>
              </a:rPr>
              <a:t> </a:t>
            </a:r>
            <a:r>
              <a:rPr lang="en-US" altLang="zh-CN" sz="2000" b="1" dirty="0" err="1">
                <a:solidFill>
                  <a:srgbClr val="FFFF00"/>
                </a:solidFill>
                <a:ea typeface="华文楷体" panose="02010600040101010101" pitchFamily="2" charset="-122"/>
              </a:rPr>
              <a:t>partial_sum</a:t>
            </a:r>
            <a:r>
              <a:rPr lang="en-US" altLang="zh-CN" sz="2000" b="1" dirty="0">
                <a:solidFill>
                  <a:srgbClr val="FFFF00"/>
                </a:solidFill>
                <a:ea typeface="华文楷体" panose="02010600040101010101" pitchFamily="2" charset="-122"/>
              </a:rPr>
              <a:t>(</a:t>
            </a:r>
            <a:r>
              <a:rPr lang="en-US" altLang="zh-CN" sz="2000" b="1" dirty="0" err="1">
                <a:solidFill>
                  <a:srgbClr val="FFFF00"/>
                </a:solidFill>
                <a:ea typeface="华文楷体" panose="02010600040101010101" pitchFamily="2" charset="-122"/>
              </a:rPr>
              <a:t>InputIterator</a:t>
            </a:r>
            <a:r>
              <a:rPr lang="en-US" altLang="zh-CN" sz="2000" b="1" dirty="0">
                <a:solidFill>
                  <a:srgbClr val="FFFF00"/>
                </a:solidFill>
                <a:ea typeface="华文楷体" panose="02010600040101010101" pitchFamily="2" charset="-122"/>
              </a:rPr>
              <a:t> first, </a:t>
            </a:r>
            <a:r>
              <a:rPr lang="en-US" altLang="zh-CN" sz="2000" b="1" dirty="0" err="1">
                <a:solidFill>
                  <a:srgbClr val="FFFF00"/>
                </a:solidFill>
                <a:ea typeface="华文楷体" panose="02010600040101010101" pitchFamily="2" charset="-122"/>
              </a:rPr>
              <a:t>InputIterator</a:t>
            </a:r>
            <a:r>
              <a:rPr lang="en-US" altLang="zh-CN" sz="2000" b="1" dirty="0">
                <a:solidFill>
                  <a:srgbClr val="FFFF00"/>
                </a:solidFill>
                <a:ea typeface="华文楷体" panose="02010600040101010101" pitchFamily="2" charset="-122"/>
              </a:rPr>
              <a:t> last, </a:t>
            </a:r>
            <a:r>
              <a:rPr lang="en-US" altLang="zh-CN" sz="2000" b="1" dirty="0" err="1">
                <a:solidFill>
                  <a:srgbClr val="FFFF00"/>
                </a:solidFill>
                <a:ea typeface="华文楷体" panose="02010600040101010101" pitchFamily="2" charset="-122"/>
              </a:rPr>
              <a:t>OutputIterator</a:t>
            </a:r>
            <a:r>
              <a:rPr lang="en-US" altLang="zh-CN" sz="2000" b="1" dirty="0">
                <a:solidFill>
                  <a:srgbClr val="FFFF00"/>
                </a:solidFill>
                <a:ea typeface="华文楷体" panose="02010600040101010101" pitchFamily="2" charset="-122"/>
              </a:rPr>
              <a:t> result, </a:t>
            </a:r>
            <a:r>
              <a:rPr lang="en-US" altLang="zh-CN" sz="2000" b="1" dirty="0" err="1">
                <a:solidFill>
                  <a:srgbClr val="FFFF00"/>
                </a:solidFill>
                <a:ea typeface="华文楷体" panose="02010600040101010101" pitchFamily="2" charset="-122"/>
              </a:rPr>
              <a:t>BinaryFunction</a:t>
            </a:r>
            <a:r>
              <a:rPr lang="en-US" altLang="zh-CN" sz="2000" b="1" dirty="0">
                <a:solidFill>
                  <a:srgbClr val="FFFF00"/>
                </a:solidFill>
                <a:ea typeface="华文楷体" panose="02010600040101010101" pitchFamily="2" charset="-122"/>
              </a:rPr>
              <a:t> op);</a:t>
            </a:r>
            <a:endParaRPr lang="en-US" altLang="zh-CN" sz="2000" b="1" dirty="0">
              <a:solidFill>
                <a:srgbClr val="FFFF00"/>
              </a:solidFill>
              <a:ea typeface="华文楷体" panose="02010600040101010101" pitchFamily="2" charset="-122"/>
            </a:endParaRPr>
          </a:p>
          <a:p>
            <a:pPr lvl="1">
              <a:spcBef>
                <a:spcPts val="0"/>
              </a:spcBef>
              <a:spcAft>
                <a:spcPts val="0"/>
              </a:spcAft>
              <a:buFont typeface="Wingdings" panose="05000000000000000000" pitchFamily="2" charset="2"/>
              <a:buChar char="ü"/>
            </a:pPr>
            <a:r>
              <a:rPr lang="zh-CN" altLang="en-US" sz="2400" b="1" dirty="0">
                <a:ea typeface="华文楷体" panose="02010600040101010101" pitchFamily="2" charset="-122"/>
              </a:rPr>
              <a:t>对</a:t>
            </a:r>
            <a:r>
              <a:rPr lang="en-US" altLang="zh-CN" sz="2400" b="1" dirty="0">
                <a:ea typeface="华文楷体" panose="02010600040101010101" pitchFamily="2" charset="-122"/>
              </a:rPr>
              <a:t>[first, last)</a:t>
            </a:r>
            <a:r>
              <a:rPr lang="zh-CN" altLang="en-US" sz="2400" b="1" dirty="0">
                <a:ea typeface="华文楷体" panose="02010600040101010101" pitchFamily="2" charset="-122"/>
              </a:rPr>
              <a:t>内的元素求部分“和”（所谓部分“和”，是一个长度与输入序列相同的序列，其第</a:t>
            </a:r>
            <a:r>
              <a:rPr lang="en-US" altLang="zh-CN" sz="2400" b="1" dirty="0">
                <a:ea typeface="华文楷体" panose="02010600040101010101" pitchFamily="2" charset="-122"/>
              </a:rPr>
              <a:t>n</a:t>
            </a:r>
            <a:r>
              <a:rPr lang="zh-CN" altLang="en-US" sz="2400" b="1" dirty="0">
                <a:ea typeface="华文楷体" panose="02010600040101010101" pitchFamily="2" charset="-122"/>
              </a:rPr>
              <a:t>项为输入序列前</a:t>
            </a:r>
            <a:r>
              <a:rPr lang="en-US" altLang="zh-CN" sz="2400" b="1" dirty="0">
                <a:ea typeface="华文楷体" panose="02010600040101010101" pitchFamily="2" charset="-122"/>
              </a:rPr>
              <a:t>n</a:t>
            </a:r>
            <a:r>
              <a:rPr lang="zh-CN" altLang="en-US" sz="2400" b="1" dirty="0">
                <a:ea typeface="华文楷体" panose="02010600040101010101" pitchFamily="2" charset="-122"/>
              </a:rPr>
              <a:t>个元素的“和”），以函数对象</a:t>
            </a:r>
            <a:r>
              <a:rPr lang="en-US" altLang="zh-CN" sz="2400" b="1" dirty="0">
                <a:ea typeface="华文楷体" panose="02010600040101010101" pitchFamily="2" charset="-122"/>
              </a:rPr>
              <a:t>op</a:t>
            </a:r>
            <a:r>
              <a:rPr lang="zh-CN" altLang="en-US" sz="2400" b="1" dirty="0">
                <a:ea typeface="华文楷体" panose="02010600040101010101" pitchFamily="2" charset="-122"/>
              </a:rPr>
              <a:t>为“</a:t>
            </a:r>
            <a:r>
              <a:rPr lang="en-US" altLang="zh-CN" sz="2400" b="1" dirty="0">
                <a:ea typeface="华文楷体" panose="02010600040101010101" pitchFamily="2" charset="-122"/>
              </a:rPr>
              <a:t>+</a:t>
            </a:r>
            <a:r>
              <a:rPr lang="zh-CN" altLang="en-US" sz="2400" b="1" dirty="0">
                <a:ea typeface="华文楷体" panose="02010600040101010101" pitchFamily="2" charset="-122"/>
              </a:rPr>
              <a:t>”运算符，结果通过</a:t>
            </a:r>
            <a:r>
              <a:rPr lang="en-US" altLang="zh-CN" sz="2400" b="1" dirty="0">
                <a:ea typeface="华文楷体" panose="02010600040101010101" pitchFamily="2" charset="-122"/>
              </a:rPr>
              <a:t>result</a:t>
            </a:r>
            <a:r>
              <a:rPr lang="zh-CN" altLang="en-US" sz="2400" b="1" dirty="0">
                <a:ea typeface="华文楷体" panose="02010600040101010101" pitchFamily="2" charset="-122"/>
              </a:rPr>
              <a:t>输出，返回的迭代器指向输出序列最后一个元素的下一个元素</a:t>
            </a:r>
            <a:endParaRPr lang="zh-CN" altLang="en-US" sz="2400" b="1" dirty="0">
              <a:ea typeface="华文楷体" panose="02010600040101010101" pitchFamily="2" charset="-122"/>
            </a:endParaRP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1"/>
          <p:cNvSpPr>
            <a:spLocks noGrp="1"/>
          </p:cNvSpPr>
          <p:nvPr>
            <p:ph type="title"/>
          </p:nvPr>
        </p:nvSpPr>
        <p:spPr/>
        <p:txBody>
          <a:bodyPr/>
          <a:lstStyle/>
          <a:p>
            <a:pPr eaLnBrk="1" hangingPunct="1"/>
            <a:r>
              <a:rPr lang="zh-CN" altLang="en-US" b="1" dirty="0"/>
              <a:t>例</a:t>
            </a:r>
            <a:r>
              <a:rPr lang="en-US" altLang="zh-CN" b="1" dirty="0"/>
              <a:t>10-21 </a:t>
            </a:r>
            <a:r>
              <a:rPr lang="zh-CN" altLang="en-US" b="1" dirty="0"/>
              <a:t>数值算法示例</a:t>
            </a:r>
            <a:endParaRPr lang="zh-CN" altLang="en-US" b="1" dirty="0"/>
          </a:p>
        </p:txBody>
      </p:sp>
      <p:sp>
        <p:nvSpPr>
          <p:cNvPr id="3" name="内容占位符 2"/>
          <p:cNvSpPr>
            <a:spLocks noGrp="1"/>
          </p:cNvSpPr>
          <p:nvPr>
            <p:ph idx="1"/>
          </p:nvPr>
        </p:nvSpPr>
        <p:spPr>
          <a:xfrm>
            <a:off x="251520" y="1124744"/>
            <a:ext cx="8784976" cy="5632311"/>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10_21.cpp, </a:t>
            </a:r>
            <a:r>
              <a:rPr lang="zh-CN" altLang="en-US" sz="2000" b="1" dirty="0">
                <a:solidFill>
                  <a:srgbClr val="000000"/>
                </a:solidFill>
                <a:latin typeface="Times New Roman" panose="02020603050405020304" pitchFamily="18" charset="0"/>
                <a:ea typeface="华文楷体" panose="02010600040101010101" pitchFamily="2" charset="-122"/>
              </a:rPr>
              <a:t>头部分省略</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iarray</a:t>
            </a:r>
            <a:r>
              <a:rPr lang="en-US" altLang="zh-CN" sz="2000" b="1" dirty="0">
                <a:solidFill>
                  <a:srgbClr val="000000"/>
                </a:solidFill>
                <a:latin typeface="Times New Roman" panose="02020603050405020304" pitchFamily="18" charset="0"/>
                <a:ea typeface="华文楷体" panose="02010600040101010101" pitchFamily="2" charset="-122"/>
              </a:rPr>
              <a:t>[] = { 1, 2, 3, 4, 5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vector&lt;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a:t>
            </a:r>
            <a:r>
              <a:rPr lang="en-US" altLang="zh-CN" sz="2000" b="1" dirty="0" err="1">
                <a:solidFill>
                  <a:srgbClr val="000000"/>
                </a:solidFill>
                <a:latin typeface="Times New Roman" panose="02020603050405020304" pitchFamily="18" charset="0"/>
                <a:ea typeface="华文楷体" panose="02010600040101010101" pitchFamily="2" charset="-122"/>
              </a:rPr>
              <a:t>ivector</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iarray</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iarray</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iarray</a:t>
            </a:r>
            <a:r>
              <a:rPr lang="en-US" altLang="zh-CN" sz="2000" b="1" dirty="0">
                <a:solidFill>
                  <a:srgbClr val="000000"/>
                </a:solidFill>
                <a:latin typeface="Times New Roman" panose="02020603050405020304" pitchFamily="18" charset="0"/>
                <a:ea typeface="华文楷体" panose="02010600040101010101" pitchFamily="2" charset="-122"/>
              </a:rPr>
              <a:t>)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元素的累计</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accumulate(</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0)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向量的内积</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inner_product</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10)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向量容器中元素局部求和</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partial_sum</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ostream_iterator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向量容器中相邻元素的差值</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adjacent_difference</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ivector.begin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ivector.end</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ostream_iterator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  }</a:t>
            </a: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bwMode="auto">
          <a:xfrm>
            <a:off x="432656" y="764704"/>
            <a:ext cx="8583488" cy="124435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lnSpc>
                <a:spcPct val="200000"/>
              </a:lnSpc>
              <a:buFont typeface="+mj-lt"/>
              <a:buAutoNum type="arabicPeriod" startAt="8"/>
            </a:pPr>
            <a:r>
              <a:rPr lang="zh-CN" altLang="en-US" sz="5800" b="1" dirty="0">
                <a:ea typeface="华文彩云" panose="02010800040101010101" pitchFamily="2" charset="-122"/>
              </a:rPr>
              <a:t>综合实例</a:t>
            </a:r>
            <a:br>
              <a:rPr lang="en-US" altLang="zh-CN" sz="5800" b="1" dirty="0">
                <a:ea typeface="华文彩云" panose="02010800040101010101" pitchFamily="2" charset="-122"/>
              </a:rPr>
            </a:br>
            <a:r>
              <a:rPr lang="en-US" altLang="zh-CN" sz="3200" b="1" dirty="0">
                <a:ea typeface="华文彩云" panose="02010800040101010101" pitchFamily="2" charset="-122"/>
              </a:rPr>
              <a:t>——</a:t>
            </a:r>
            <a:r>
              <a:rPr lang="zh-CN" altLang="en-US" sz="3200" b="1" dirty="0">
                <a:ea typeface="华文彩云" panose="02010800040101010101" pitchFamily="2" charset="-122"/>
              </a:rPr>
              <a:t>对个人银行账户管理程序的改进</a:t>
            </a:r>
            <a:endParaRPr lang="zh-CN" altLang="en-US" sz="4400" dirty="0"/>
          </a:p>
        </p:txBody>
      </p:sp>
      <p:pic>
        <p:nvPicPr>
          <p:cNvPr id="612355" name="Picture 3" descr="BS00580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4038607"/>
            <a:ext cx="2590800" cy="2182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sz="4400" b="1" dirty="0">
                <a:latin typeface="Times New Roman" panose="02020603050405020304" pitchFamily="18" charset="0"/>
                <a:ea typeface="隶书" panose="02010509060101010101" pitchFamily="49" charset="-122"/>
              </a:rPr>
              <a:t>10.8</a:t>
            </a:r>
            <a:r>
              <a:rPr lang="zh-CN" altLang="en-US" sz="4400" b="1" dirty="0">
                <a:latin typeface="Times New Roman" panose="02020603050405020304" pitchFamily="18" charset="0"/>
                <a:ea typeface="隶书" panose="02010509060101010101" pitchFamily="49" charset="-122"/>
              </a:rPr>
              <a:t>综合实例</a:t>
            </a:r>
            <a:r>
              <a:rPr lang="en-US" altLang="zh-CN" sz="4400" b="1" dirty="0">
                <a:latin typeface="Times New Roman" panose="02020603050405020304" pitchFamily="18" charset="0"/>
                <a:ea typeface="隶书" panose="02010509060101010101" pitchFamily="49" charset="-122"/>
              </a:rPr>
              <a:t>——</a:t>
            </a:r>
            <a:r>
              <a:rPr lang="zh-CN" altLang="en-US" sz="4400" b="1" dirty="0">
                <a:latin typeface="Times New Roman" panose="02020603050405020304" pitchFamily="18" charset="0"/>
                <a:ea typeface="隶书" panose="02010509060101010101" pitchFamily="49" charset="-122"/>
              </a:rPr>
              <a:t>对个人银行账户管理程序的改进</a:t>
            </a:r>
            <a:endParaRPr lang="zh-CN" altLang="en-US" sz="4400" b="1" dirty="0">
              <a:latin typeface="Times New Roman" panose="02020603050405020304" pitchFamily="18" charset="0"/>
              <a:ea typeface="隶书" panose="02010509060101010101" pitchFamily="49" charset="-122"/>
            </a:endParaRPr>
          </a:p>
        </p:txBody>
      </p:sp>
      <p:sp>
        <p:nvSpPr>
          <p:cNvPr id="93187" name="内容占位符 2"/>
          <p:cNvSpPr>
            <a:spLocks noGrp="1"/>
          </p:cNvSpPr>
          <p:nvPr>
            <p:ph idx="1"/>
          </p:nvPr>
        </p:nvSpPr>
        <p:spPr/>
        <p:txBody>
          <a:bodyPr/>
          <a:lstStyle/>
          <a:p>
            <a:pPr>
              <a:spcBef>
                <a:spcPts val="0"/>
              </a:spcBef>
              <a:spcAft>
                <a:spcPct val="25000"/>
              </a:spcAft>
            </a:pPr>
            <a:r>
              <a:rPr lang="zh-CN" altLang="en-US" sz="2400" b="1" dirty="0">
                <a:ea typeface="华文楷体" panose="02010600040101010101" pitchFamily="2" charset="-122"/>
              </a:rPr>
              <a:t>使用向量容器</a:t>
            </a:r>
            <a:r>
              <a:rPr lang="en-US" altLang="zh-CN" sz="2400" b="1" dirty="0">
                <a:ea typeface="华文楷体" panose="02010600040101010101" pitchFamily="2" charset="-122"/>
              </a:rPr>
              <a:t>vector</a:t>
            </a:r>
            <a:r>
              <a:rPr lang="zh-CN" altLang="en-US" sz="2400" b="1" dirty="0">
                <a:ea typeface="华文楷体" panose="02010600040101010101" pitchFamily="2" charset="-122"/>
              </a:rPr>
              <a:t>来管理账户列表</a:t>
            </a:r>
            <a:endParaRPr lang="en-US" altLang="zh-CN" sz="2400" b="1" dirty="0">
              <a:ea typeface="华文楷体" panose="02010600040101010101" pitchFamily="2" charset="-122"/>
            </a:endParaRPr>
          </a:p>
          <a:p>
            <a:pPr>
              <a:spcBef>
                <a:spcPts val="0"/>
              </a:spcBef>
              <a:spcAft>
                <a:spcPct val="25000"/>
              </a:spcAft>
            </a:pPr>
            <a:r>
              <a:rPr lang="zh-CN" altLang="en-US" sz="2400" b="1" dirty="0">
                <a:ea typeface="华文楷体" panose="02010600040101010101" pitchFamily="2" charset="-122"/>
              </a:rPr>
              <a:t>本例还增加了一个多重映射来存储每一笔账目，该映射的键是账目的日期，附加数据是账目的详细内容。</a:t>
            </a:r>
            <a:endParaRPr lang="en-US" altLang="zh-CN" sz="2400" b="1" dirty="0">
              <a:ea typeface="华文楷体" panose="02010600040101010101" pitchFamily="2" charset="-122"/>
            </a:endParaRPr>
          </a:p>
          <a:p>
            <a:pPr>
              <a:spcBef>
                <a:spcPts val="0"/>
              </a:spcBef>
              <a:spcAft>
                <a:spcPct val="25000"/>
              </a:spcAft>
            </a:pPr>
            <a:r>
              <a:rPr lang="zh-CN" altLang="en-US" sz="2400" b="1" dirty="0">
                <a:ea typeface="华文楷体" panose="02010600040101010101" pitchFamily="2" charset="-122"/>
              </a:rPr>
              <a:t>例</a:t>
            </a:r>
            <a:r>
              <a:rPr lang="en-US" altLang="zh-CN" sz="2400" b="1" dirty="0">
                <a:ea typeface="华文楷体" panose="02010600040101010101" pitchFamily="2" charset="-122"/>
              </a:rPr>
              <a:t>10-22 </a:t>
            </a:r>
            <a:r>
              <a:rPr lang="zh-CN" altLang="en-US" sz="2400" b="1" dirty="0">
                <a:solidFill>
                  <a:srgbClr val="FFFF00"/>
                </a:solidFill>
                <a:ea typeface="华文楷体" panose="02010600040101010101" pitchFamily="2" charset="-122"/>
              </a:rPr>
              <a:t>个人银行账户管理程序</a:t>
            </a:r>
            <a:endParaRPr lang="zh-CN" altLang="en-US" sz="2400" b="1" dirty="0">
              <a:solidFill>
                <a:srgbClr val="FFFF00"/>
              </a:solidFill>
              <a:ea typeface="华文楷体" panose="02010600040101010101" pitchFamily="2" charset="-122"/>
            </a:endParaRPr>
          </a:p>
          <a:p>
            <a:pPr lvl="1">
              <a:spcBef>
                <a:spcPts val="0"/>
              </a:spcBef>
              <a:buFont typeface="Wingdings" panose="05000000000000000000" pitchFamily="2" charset="2"/>
              <a:buChar char="ü"/>
            </a:pPr>
            <a:r>
              <a:rPr lang="zh-CN" altLang="en-US" sz="2400" b="1" dirty="0">
                <a:ea typeface="华文楷体" panose="02010600040101010101" pitchFamily="2" charset="-122"/>
              </a:rPr>
              <a:t>程序分为</a:t>
            </a:r>
            <a:r>
              <a:rPr lang="en-US" altLang="zh-CN" sz="2400" b="1" dirty="0">
                <a:ea typeface="华文楷体" panose="02010600040101010101" pitchFamily="2" charset="-122"/>
              </a:rPr>
              <a:t>6</a:t>
            </a:r>
            <a:r>
              <a:rPr lang="zh-CN" altLang="en-US" sz="2400" b="1" dirty="0">
                <a:ea typeface="华文楷体" panose="02010600040101010101" pitchFamily="2" charset="-122"/>
              </a:rPr>
              <a:t>个文件：</a:t>
            </a:r>
            <a:br>
              <a:rPr lang="en-US" altLang="zh-CN" sz="2400" b="1" dirty="0">
                <a:ea typeface="华文楷体" panose="02010600040101010101" pitchFamily="2" charset="-122"/>
              </a:rPr>
            </a:br>
            <a:r>
              <a:rPr lang="en-US" altLang="zh-CN" sz="2000" b="1" dirty="0" err="1">
                <a:solidFill>
                  <a:srgbClr val="FFFF00"/>
                </a:solidFill>
                <a:ea typeface="华文楷体" panose="02010600040101010101" pitchFamily="2" charset="-122"/>
              </a:rPr>
              <a:t>date.h</a:t>
            </a:r>
            <a:r>
              <a:rPr lang="zh-CN" altLang="en-US" sz="2000" b="1" dirty="0">
                <a:solidFill>
                  <a:srgbClr val="FFFF00"/>
                </a:solidFill>
                <a:ea typeface="华文楷体" panose="02010600040101010101" pitchFamily="2" charset="-122"/>
              </a:rPr>
              <a:t>是日期类头文件</a:t>
            </a:r>
            <a:br>
              <a:rPr lang="en-US" altLang="zh-CN" sz="2000" b="1" dirty="0">
                <a:solidFill>
                  <a:srgbClr val="FFFF00"/>
                </a:solidFill>
                <a:ea typeface="华文楷体" panose="02010600040101010101" pitchFamily="2" charset="-122"/>
              </a:rPr>
            </a:br>
            <a:r>
              <a:rPr lang="en-US" altLang="zh-CN" sz="2000" b="1" dirty="0">
                <a:solidFill>
                  <a:srgbClr val="FFFF00"/>
                </a:solidFill>
                <a:ea typeface="华文楷体" panose="02010600040101010101" pitchFamily="2" charset="-122"/>
              </a:rPr>
              <a:t>date.cpp</a:t>
            </a:r>
            <a:r>
              <a:rPr lang="zh-CN" altLang="en-US" sz="2000" b="1" dirty="0">
                <a:solidFill>
                  <a:srgbClr val="FFFF00"/>
                </a:solidFill>
                <a:ea typeface="华文楷体" panose="02010600040101010101" pitchFamily="2" charset="-122"/>
              </a:rPr>
              <a:t>是日期类实现文件</a:t>
            </a:r>
            <a:br>
              <a:rPr lang="en-US" altLang="zh-CN" sz="2000" b="1" dirty="0">
                <a:solidFill>
                  <a:srgbClr val="FFFF00"/>
                </a:solidFill>
                <a:ea typeface="华文楷体" panose="02010600040101010101" pitchFamily="2" charset="-122"/>
              </a:rPr>
            </a:br>
            <a:r>
              <a:rPr lang="en-US" altLang="zh-CN" sz="2000" b="1" dirty="0" err="1">
                <a:solidFill>
                  <a:srgbClr val="FFFF00"/>
                </a:solidFill>
                <a:ea typeface="华文楷体" panose="02010600040101010101" pitchFamily="2" charset="-122"/>
              </a:rPr>
              <a:t>accumulator.h</a:t>
            </a:r>
            <a:r>
              <a:rPr lang="zh-CN" altLang="en-US" sz="2000" b="1" dirty="0">
                <a:solidFill>
                  <a:srgbClr val="FFFF00"/>
                </a:solidFill>
                <a:ea typeface="华文楷体" panose="02010600040101010101" pitchFamily="2" charset="-122"/>
              </a:rPr>
              <a:t>为按日将数值累加的</a:t>
            </a:r>
            <a:r>
              <a:rPr lang="en-US" altLang="zh-CN" sz="2000" b="1" dirty="0">
                <a:solidFill>
                  <a:srgbClr val="FFFF00"/>
                </a:solidFill>
                <a:ea typeface="华文楷体" panose="02010600040101010101" pitchFamily="2" charset="-122"/>
              </a:rPr>
              <a:t>Accumulator</a:t>
            </a:r>
            <a:r>
              <a:rPr lang="zh-CN" altLang="en-US" sz="2000" b="1" dirty="0">
                <a:solidFill>
                  <a:srgbClr val="FFFF00"/>
                </a:solidFill>
                <a:ea typeface="华文楷体" panose="02010600040101010101" pitchFamily="2" charset="-122"/>
              </a:rPr>
              <a:t>类的头文件</a:t>
            </a:r>
            <a:br>
              <a:rPr lang="en-US" altLang="zh-CN" sz="2000" b="1" dirty="0">
                <a:solidFill>
                  <a:srgbClr val="FFFF00"/>
                </a:solidFill>
                <a:ea typeface="华文楷体" panose="02010600040101010101" pitchFamily="2" charset="-122"/>
              </a:rPr>
            </a:br>
            <a:r>
              <a:rPr lang="en-US" altLang="zh-CN" sz="2000" b="1" dirty="0" err="1">
                <a:solidFill>
                  <a:srgbClr val="FFFF00"/>
                </a:solidFill>
                <a:ea typeface="华文楷体" panose="02010600040101010101" pitchFamily="2" charset="-122"/>
              </a:rPr>
              <a:t>account.h</a:t>
            </a:r>
            <a:r>
              <a:rPr lang="zh-CN" altLang="en-US" sz="2000" b="1" dirty="0">
                <a:solidFill>
                  <a:srgbClr val="FFFF00"/>
                </a:solidFill>
                <a:ea typeface="华文楷体" panose="02010600040101010101" pitchFamily="2" charset="-122"/>
              </a:rPr>
              <a:t>是各个储蓄账户类定义头文件，</a:t>
            </a:r>
            <a:r>
              <a:rPr lang="en-US" altLang="zh-CN" sz="2000" b="1" dirty="0">
                <a:solidFill>
                  <a:srgbClr val="FFFF00"/>
                </a:solidFill>
                <a:ea typeface="华文楷体" panose="02010600040101010101" pitchFamily="2" charset="-122"/>
              </a:rPr>
              <a:t>account.cpp</a:t>
            </a:r>
            <a:r>
              <a:rPr lang="zh-CN" altLang="en-US" sz="2000" b="1" dirty="0">
                <a:solidFill>
                  <a:srgbClr val="FFFF00"/>
                </a:solidFill>
                <a:ea typeface="华文楷体" panose="02010600040101010101" pitchFamily="2" charset="-122"/>
              </a:rPr>
              <a:t>是各个储蓄账户类实现文件</a:t>
            </a:r>
            <a:br>
              <a:rPr lang="en-US" altLang="zh-CN" sz="2000" b="1" dirty="0">
                <a:solidFill>
                  <a:srgbClr val="FFFF00"/>
                </a:solidFill>
                <a:ea typeface="华文楷体" panose="02010600040101010101" pitchFamily="2" charset="-122"/>
              </a:rPr>
            </a:br>
            <a:r>
              <a:rPr lang="en-US" altLang="zh-CN" sz="2000" b="1" dirty="0">
                <a:solidFill>
                  <a:srgbClr val="FFFF00"/>
                </a:solidFill>
                <a:ea typeface="华文楷体" panose="02010600040101010101" pitchFamily="2" charset="-122"/>
              </a:rPr>
              <a:t>10_24.cpp</a:t>
            </a:r>
            <a:r>
              <a:rPr lang="zh-CN" altLang="en-US" sz="2000" b="1" dirty="0">
                <a:solidFill>
                  <a:srgbClr val="FFFF00"/>
                </a:solidFill>
                <a:ea typeface="华文楷体" panose="02010600040101010101" pitchFamily="2" charset="-122"/>
              </a:rPr>
              <a:t>是主函数文件。</a:t>
            </a:r>
            <a:endParaRPr lang="zh-CN" altLang="en-US" sz="2000" b="1" dirty="0">
              <a:solidFill>
                <a:srgbClr val="FFFF00"/>
              </a:solidFill>
              <a:ea typeface="华文楷体" panose="02010600040101010101" pitchFamily="2" charset="-122"/>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210" name="内容占位符 2"/>
          <p:cNvSpPr>
            <a:spLocks noGrp="1"/>
          </p:cNvSpPr>
          <p:nvPr>
            <p:ph idx="1"/>
          </p:nvPr>
        </p:nvSpPr>
        <p:spPr>
          <a:xfrm>
            <a:off x="323528" y="0"/>
            <a:ext cx="8712968" cy="6740307"/>
          </a:xfrm>
          <a:solidFill>
            <a:schemeClr val="tx1"/>
          </a:solidFill>
          <a:ln w="9525">
            <a:solidFill>
              <a:schemeClr val="tx1"/>
            </a:solidFill>
            <a:miter lim="800000"/>
          </a:ln>
        </p:spPr>
        <p:txBody>
          <a:bodyPr wrap="square">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date.h</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ifndef</a:t>
            </a:r>
            <a:r>
              <a:rPr lang="en-US" altLang="zh-CN" sz="1800" b="1" dirty="0">
                <a:solidFill>
                  <a:srgbClr val="000000"/>
                </a:solidFill>
                <a:latin typeface="Times New Roman" panose="02020603050405020304" pitchFamily="18" charset="0"/>
                <a:ea typeface="华文楷体" panose="02010600040101010101" pitchFamily="2" charset="-122"/>
              </a:rPr>
              <a:t> __DATE_H__</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#define __DATE_H__</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class Date {	//</a:t>
            </a:r>
            <a:r>
              <a:rPr lang="zh-CN" altLang="en-US" sz="1800" b="1" dirty="0">
                <a:solidFill>
                  <a:srgbClr val="000000"/>
                </a:solidFill>
                <a:latin typeface="Times New Roman" panose="02020603050405020304" pitchFamily="18" charset="0"/>
                <a:ea typeface="华文楷体" panose="02010600040101010101" pitchFamily="2" charset="-122"/>
              </a:rPr>
              <a:t>日期类</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private: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year;		//</a:t>
            </a:r>
            <a:r>
              <a:rPr lang="zh-CN" altLang="en-US" sz="1800" b="1" dirty="0">
                <a:solidFill>
                  <a:srgbClr val="000000"/>
                </a:solidFill>
                <a:latin typeface="Times New Roman" panose="02020603050405020304" pitchFamily="18" charset="0"/>
                <a:ea typeface="华文楷体" panose="02010600040101010101" pitchFamily="2" charset="-122"/>
              </a:rPr>
              <a:t>年</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month;	//</a:t>
            </a:r>
            <a:r>
              <a:rPr lang="zh-CN" altLang="en-US" sz="1800" b="1" dirty="0">
                <a:solidFill>
                  <a:srgbClr val="000000"/>
                </a:solidFill>
                <a:latin typeface="Times New Roman" panose="02020603050405020304" pitchFamily="18" charset="0"/>
                <a:ea typeface="华文楷体" panose="02010600040101010101" pitchFamily="2" charset="-122"/>
              </a:rPr>
              <a:t>月</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day;		//</a:t>
            </a:r>
            <a:r>
              <a:rPr lang="zh-CN" altLang="en-US" sz="1800" b="1" dirty="0">
                <a:solidFill>
                  <a:srgbClr val="000000"/>
                </a:solidFill>
                <a:latin typeface="Times New Roman" panose="02020603050405020304" pitchFamily="18" charset="0"/>
                <a:ea typeface="华文楷体" panose="02010600040101010101" pitchFamily="2" charset="-122"/>
              </a:rPr>
              <a:t>日</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totalDays</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该日期是从公元元年</a:t>
            </a:r>
            <a:r>
              <a:rPr lang="en-US" altLang="zh-CN" sz="1800" b="1" dirty="0">
                <a:solidFill>
                  <a:srgbClr val="000000"/>
                </a:solidFill>
                <a:latin typeface="Times New Roman" panose="02020603050405020304" pitchFamily="18" charset="0"/>
                <a:ea typeface="华文楷体" panose="02010600040101010101" pitchFamily="2" charset="-122"/>
              </a:rPr>
              <a:t>1</a:t>
            </a:r>
            <a:r>
              <a:rPr lang="zh-CN" altLang="en-US" sz="1800" b="1" dirty="0">
                <a:solidFill>
                  <a:srgbClr val="000000"/>
                </a:solidFill>
                <a:latin typeface="Times New Roman" panose="02020603050405020304" pitchFamily="18" charset="0"/>
                <a:ea typeface="华文楷体" panose="02010600040101010101" pitchFamily="2" charset="-122"/>
              </a:rPr>
              <a:t>月</a:t>
            </a:r>
            <a:r>
              <a:rPr lang="en-US" altLang="zh-CN" sz="1800" b="1" dirty="0">
                <a:solidFill>
                  <a:srgbClr val="000000"/>
                </a:solidFill>
                <a:latin typeface="Times New Roman" panose="02020603050405020304" pitchFamily="18" charset="0"/>
                <a:ea typeface="华文楷体" panose="02010600040101010101" pitchFamily="2" charset="-122"/>
              </a:rPr>
              <a:t>1</a:t>
            </a:r>
            <a:r>
              <a:rPr lang="zh-CN" altLang="en-US" sz="1800" b="1" dirty="0">
                <a:solidFill>
                  <a:srgbClr val="000000"/>
                </a:solidFill>
                <a:latin typeface="Times New Roman" panose="02020603050405020304" pitchFamily="18" charset="0"/>
                <a:ea typeface="华文楷体" panose="02010600040101010101" pitchFamily="2" charset="-122"/>
              </a:rPr>
              <a:t>日开始的第几天</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public:	Date(</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year = 1,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month = 1,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day = 1);//</a:t>
            </a:r>
            <a:r>
              <a:rPr lang="zh-CN" altLang="en-US" sz="1800" b="1" dirty="0">
                <a:solidFill>
                  <a:srgbClr val="000000"/>
                </a:solidFill>
                <a:latin typeface="Times New Roman" panose="02020603050405020304" pitchFamily="18" charset="0"/>
                <a:ea typeface="华文楷体" panose="02010600040101010101" pitchFamily="2" charset="-122"/>
              </a:rPr>
              <a:t>用年、月、日构造日期</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static Date read();</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getYear</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 return year;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getMonth</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 return month;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getDay</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 return day;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getMaxDay</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获得当月有多少天</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bool </a:t>
            </a:r>
            <a:r>
              <a:rPr lang="en-US" altLang="zh-CN" sz="1800" b="1" dirty="0" err="1">
                <a:solidFill>
                  <a:srgbClr val="000000"/>
                </a:solidFill>
                <a:latin typeface="Times New Roman" panose="02020603050405020304" pitchFamily="18" charset="0"/>
                <a:ea typeface="华文楷体" panose="02010600040101010101" pitchFamily="2" charset="-122"/>
              </a:rPr>
              <a:t>isLeapYear</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	//</a:t>
            </a:r>
            <a:r>
              <a:rPr lang="zh-CN" altLang="en-US" sz="1800" b="1" dirty="0">
                <a:solidFill>
                  <a:srgbClr val="000000"/>
                </a:solidFill>
                <a:latin typeface="Times New Roman" panose="02020603050405020304" pitchFamily="18" charset="0"/>
                <a:ea typeface="华文楷体" panose="02010600040101010101" pitchFamily="2" charset="-122"/>
              </a:rPr>
              <a:t>判断当年是否为闰年</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return year % 4 == 0 &amp;&amp; year % 100 != 0 || year % 400 == 0;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void show()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输出当前日期</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operator -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Date&amp; date)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 //</a:t>
            </a:r>
            <a:r>
              <a:rPr lang="zh-CN" altLang="en-US" sz="1800" b="1" dirty="0">
                <a:solidFill>
                  <a:srgbClr val="000000"/>
                </a:solidFill>
                <a:latin typeface="Times New Roman" panose="02020603050405020304" pitchFamily="18" charset="0"/>
                <a:ea typeface="华文楷体" panose="02010600040101010101" pitchFamily="2" charset="-122"/>
              </a:rPr>
              <a:t>计算两个日期之间差多少天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return </a:t>
            </a:r>
            <a:r>
              <a:rPr lang="en-US" altLang="zh-CN" sz="1800" b="1" dirty="0" err="1">
                <a:solidFill>
                  <a:srgbClr val="000000"/>
                </a:solidFill>
                <a:latin typeface="Times New Roman" panose="02020603050405020304" pitchFamily="18" charset="0"/>
                <a:ea typeface="华文楷体" panose="02010600040101010101" pitchFamily="2" charset="-122"/>
              </a:rPr>
              <a:t>totalDays</a:t>
            </a:r>
            <a:r>
              <a:rPr lang="en-US" altLang="zh-CN" sz="1800" b="1" dirty="0">
                <a:solidFill>
                  <a:srgbClr val="000000"/>
                </a:solidFill>
                <a:latin typeface="Times New Roman" panose="02020603050405020304" pitchFamily="18" charset="0"/>
                <a:ea typeface="华文楷体" panose="02010600040101010101" pitchFamily="2" charset="-122"/>
              </a:rPr>
              <a:t> - </a:t>
            </a:r>
            <a:r>
              <a:rPr lang="en-US" altLang="zh-CN" sz="1800" b="1" dirty="0" err="1">
                <a:solidFill>
                  <a:srgbClr val="000000"/>
                </a:solidFill>
                <a:latin typeface="Times New Roman" panose="02020603050405020304" pitchFamily="18" charset="0"/>
                <a:ea typeface="华文楷体" panose="02010600040101010101" pitchFamily="2" charset="-122"/>
              </a:rPr>
              <a:t>date.totalDays</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bool operator &lt;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Date&amp; date)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 //</a:t>
            </a:r>
            <a:r>
              <a:rPr lang="zh-CN" altLang="en-US" sz="1800" b="1" dirty="0">
                <a:solidFill>
                  <a:srgbClr val="000000"/>
                </a:solidFill>
                <a:latin typeface="Times New Roman" panose="02020603050405020304" pitchFamily="18" charset="0"/>
                <a:ea typeface="华文楷体" panose="02010600040101010101" pitchFamily="2" charset="-122"/>
              </a:rPr>
              <a:t>判断两个日期的前后顺序</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return </a:t>
            </a:r>
            <a:r>
              <a:rPr lang="en-US" altLang="zh-CN" sz="1800" b="1" dirty="0" err="1">
                <a:solidFill>
                  <a:srgbClr val="000000"/>
                </a:solidFill>
                <a:latin typeface="Times New Roman" panose="02020603050405020304" pitchFamily="18" charset="0"/>
                <a:ea typeface="华文楷体" panose="02010600040101010101" pitchFamily="2" charset="-122"/>
              </a:rPr>
              <a:t>totalDays</a:t>
            </a:r>
            <a:r>
              <a:rPr lang="en-US" altLang="zh-CN" sz="1800" b="1" dirty="0">
                <a:solidFill>
                  <a:srgbClr val="000000"/>
                </a:solidFill>
                <a:latin typeface="Times New Roman" panose="02020603050405020304" pitchFamily="18" charset="0"/>
                <a:ea typeface="华文楷体" panose="02010600040101010101" pitchFamily="2" charset="-122"/>
              </a:rPr>
              <a:t> &lt; </a:t>
            </a:r>
            <a:r>
              <a:rPr lang="en-US" altLang="zh-CN" sz="1800" b="1" dirty="0" err="1">
                <a:solidFill>
                  <a:srgbClr val="000000"/>
                </a:solidFill>
                <a:latin typeface="Times New Roman" panose="02020603050405020304" pitchFamily="18" charset="0"/>
                <a:ea typeface="华文楷体" panose="02010600040101010101" pitchFamily="2" charset="-122"/>
              </a:rPr>
              <a:t>date.totalDays</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endif</a:t>
            </a:r>
            <a:r>
              <a:rPr lang="en-US" altLang="zh-CN" sz="1800" b="1" dirty="0">
                <a:solidFill>
                  <a:srgbClr val="000000"/>
                </a:solidFill>
                <a:latin typeface="Times New Roman" panose="02020603050405020304" pitchFamily="18" charset="0"/>
                <a:ea typeface="华文楷体" panose="02010600040101010101" pitchFamily="2" charset="-122"/>
              </a:rPr>
              <a:t> //__DATE_H_</a:t>
            </a:r>
            <a:endParaRPr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94213" name="标题 1"/>
          <p:cNvSpPr>
            <a:spLocks noGrp="1"/>
          </p:cNvSpPr>
          <p:nvPr>
            <p:ph type="title"/>
          </p:nvPr>
        </p:nvSpPr>
        <p:spPr>
          <a:xfrm>
            <a:off x="6429375" y="500063"/>
            <a:ext cx="2257425" cy="709612"/>
          </a:xfrm>
          <a:solidFill>
            <a:schemeClr val="bg1"/>
          </a:solidFill>
        </p:spPr>
        <p:txBody>
          <a:bodyPr/>
          <a:lstStyle/>
          <a:p>
            <a:pPr eaLnBrk="1" hangingPunct="1"/>
            <a:r>
              <a:rPr lang="zh-CN" altLang="en-US" sz="2800" dirty="0"/>
              <a:t>例</a:t>
            </a:r>
            <a:r>
              <a:rPr lang="en-US" altLang="zh-CN" sz="2800" dirty="0"/>
              <a:t>10-22</a:t>
            </a:r>
            <a:r>
              <a:rPr lang="zh-CN" altLang="en-US" sz="2800" dirty="0"/>
              <a:t>（续）</a:t>
            </a:r>
            <a:endParaRPr lang="zh-CN" altLang="en-US" sz="2800" dirty="0"/>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5234" name="内容占位符 2"/>
          <p:cNvSpPr>
            <a:spLocks noGrp="1"/>
          </p:cNvSpPr>
          <p:nvPr>
            <p:ph idx="1"/>
          </p:nvPr>
        </p:nvSpPr>
        <p:spPr>
          <a:xfrm>
            <a:off x="0" y="1268760"/>
            <a:ext cx="9001125" cy="2862322"/>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//date.cpp</a:t>
            </a:r>
            <a:r>
              <a:rPr lang="zh-CN" altLang="en-US" sz="2000" b="1" dirty="0">
                <a:solidFill>
                  <a:srgbClr val="000000"/>
                </a:solidFill>
                <a:latin typeface="Times New Roman" panose="02020603050405020304" pitchFamily="18" charset="0"/>
                <a:ea typeface="华文楷体" panose="02010600040101010101" pitchFamily="2" charset="-122"/>
              </a:rPr>
              <a:t>中仅</a:t>
            </a:r>
            <a:r>
              <a:rPr lang="en-US" altLang="zh-CN" sz="2000" b="1" dirty="0">
                <a:solidFill>
                  <a:srgbClr val="000000"/>
                </a:solidFill>
                <a:latin typeface="Times New Roman" panose="02020603050405020304" pitchFamily="18" charset="0"/>
                <a:ea typeface="华文楷体" panose="02010600040101010101" pitchFamily="2" charset="-122"/>
              </a:rPr>
              <a:t>Date::read</a:t>
            </a:r>
            <a:r>
              <a:rPr lang="zh-CN" altLang="en-US" sz="2000" b="1" dirty="0">
                <a:solidFill>
                  <a:srgbClr val="000000"/>
                </a:solidFill>
                <a:latin typeface="Times New Roman" panose="02020603050405020304" pitchFamily="18" charset="0"/>
                <a:ea typeface="华文楷体" panose="02010600040101010101" pitchFamily="2" charset="-122"/>
              </a:rPr>
              <a:t>的定义是新增的内容，其它内容与例</a:t>
            </a:r>
            <a:r>
              <a:rPr lang="en-US" altLang="zh-CN" sz="2000" b="1" dirty="0">
                <a:solidFill>
                  <a:srgbClr val="000000"/>
                </a:solidFill>
                <a:latin typeface="Times New Roman" panose="02020603050405020304" pitchFamily="18" charset="0"/>
                <a:ea typeface="华文楷体" panose="02010600040101010101" pitchFamily="2" charset="-122"/>
              </a:rPr>
              <a:t>6-25</a:t>
            </a:r>
            <a:r>
              <a:rPr lang="zh-CN" altLang="en-US" sz="2000" b="1" dirty="0">
                <a:solidFill>
                  <a:srgbClr val="000000"/>
                </a:solidFill>
                <a:latin typeface="Times New Roman" panose="02020603050405020304" pitchFamily="18" charset="0"/>
                <a:ea typeface="华文楷体" panose="02010600040101010101" pitchFamily="2" charset="-122"/>
              </a:rPr>
              <a:t>完全相同</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不再重复给出</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Date Date::read()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year, month, day;</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char c1, c2;</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cin</a:t>
            </a:r>
            <a:r>
              <a:rPr lang="en-US" altLang="zh-CN" sz="2000" b="1" dirty="0">
                <a:solidFill>
                  <a:srgbClr val="000000"/>
                </a:solidFill>
                <a:latin typeface="Times New Roman" panose="02020603050405020304" pitchFamily="18" charset="0"/>
                <a:ea typeface="华文楷体" panose="02010600040101010101" pitchFamily="2" charset="-122"/>
              </a:rPr>
              <a:t> &gt;&gt; year &gt;&gt; c1 &gt;&gt; month &gt;&gt; c2 &gt;&gt; day;</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Date(year, month, day);</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accumulator.h</a:t>
            </a:r>
            <a:r>
              <a:rPr lang="zh-CN" altLang="en-US" sz="2000" b="1" dirty="0">
                <a:solidFill>
                  <a:srgbClr val="000000"/>
                </a:solidFill>
                <a:latin typeface="Times New Roman" panose="02020603050405020304" pitchFamily="18" charset="0"/>
                <a:ea typeface="华文楷体" panose="02010600040101010101" pitchFamily="2" charset="-122"/>
              </a:rPr>
              <a:t>的内容与例</a:t>
            </a:r>
            <a:r>
              <a:rPr lang="en-US" altLang="zh-CN" sz="2000" b="1" dirty="0">
                <a:solidFill>
                  <a:srgbClr val="000000"/>
                </a:solidFill>
                <a:latin typeface="Times New Roman" panose="02020603050405020304" pitchFamily="18" charset="0"/>
                <a:ea typeface="华文楷体" panose="02010600040101010101" pitchFamily="2" charset="-122"/>
              </a:rPr>
              <a:t>8-8</a:t>
            </a:r>
            <a:r>
              <a:rPr lang="zh-CN" altLang="en-US" sz="2000" b="1" dirty="0">
                <a:solidFill>
                  <a:srgbClr val="000000"/>
                </a:solidFill>
                <a:latin typeface="Times New Roman" panose="02020603050405020304" pitchFamily="18" charset="0"/>
                <a:ea typeface="华文楷体" panose="02010600040101010101" pitchFamily="2" charset="-122"/>
              </a:rPr>
              <a:t>完全相同，不再重复给出</a:t>
            </a: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
        <p:nvSpPr>
          <p:cNvPr id="95237" name="标题 1"/>
          <p:cNvSpPr>
            <a:spLocks noGrp="1"/>
          </p:cNvSpPr>
          <p:nvPr>
            <p:ph type="title"/>
          </p:nvPr>
        </p:nvSpPr>
        <p:spPr>
          <a:xfrm>
            <a:off x="6929438" y="6072188"/>
            <a:ext cx="2214562" cy="566737"/>
          </a:xfrm>
          <a:solidFill>
            <a:schemeClr val="bg1"/>
          </a:solidFill>
        </p:spPr>
        <p:txBody>
          <a:bodyPr/>
          <a:lstStyle/>
          <a:p>
            <a:pPr eaLnBrk="1" hangingPunct="1"/>
            <a:r>
              <a:rPr lang="zh-CN" altLang="en-US" sz="2800" dirty="0"/>
              <a:t>例</a:t>
            </a:r>
            <a:r>
              <a:rPr lang="en-US" altLang="zh-CN" sz="2800" dirty="0"/>
              <a:t>10-22</a:t>
            </a:r>
            <a:r>
              <a:rPr lang="zh-CN" altLang="en-US" sz="2800" dirty="0"/>
              <a:t>（续）</a:t>
            </a:r>
            <a:endParaRPr lang="zh-CN" altLang="en-US" sz="2800" dirty="0"/>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5234" name="内容占位符 2"/>
          <p:cNvSpPr>
            <a:spLocks noGrp="1"/>
          </p:cNvSpPr>
          <p:nvPr>
            <p:ph idx="1"/>
          </p:nvPr>
        </p:nvSpPr>
        <p:spPr>
          <a:xfrm>
            <a:off x="142875" y="260648"/>
            <a:ext cx="9001125" cy="5632311"/>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account.h</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ifndef</a:t>
            </a:r>
            <a:r>
              <a:rPr lang="en-US" altLang="zh-CN" sz="1800" b="1" dirty="0">
                <a:solidFill>
                  <a:srgbClr val="000000"/>
                </a:solidFill>
                <a:latin typeface="Times New Roman" panose="02020603050405020304" pitchFamily="18" charset="0"/>
                <a:ea typeface="华文楷体" panose="02010600040101010101" pitchFamily="2" charset="-122"/>
              </a:rPr>
              <a:t> __ACCOUNT_H__</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#define __ACCOUNT_H__</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a:t>
            </a:r>
            <a:r>
              <a:rPr lang="en-US" altLang="zh-CN" sz="1800" b="1" dirty="0" err="1">
                <a:solidFill>
                  <a:srgbClr val="000000"/>
                </a:solidFill>
                <a:latin typeface="Times New Roman" panose="02020603050405020304" pitchFamily="18" charset="0"/>
                <a:ea typeface="华文楷体" panose="02010600040101010101" pitchFamily="2" charset="-122"/>
              </a:rPr>
              <a:t>date.h</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a:t>
            </a:r>
            <a:r>
              <a:rPr lang="en-US" altLang="zh-CN" sz="1800" b="1" dirty="0" err="1">
                <a:solidFill>
                  <a:srgbClr val="000000"/>
                </a:solidFill>
                <a:latin typeface="Times New Roman" panose="02020603050405020304" pitchFamily="18" charset="0"/>
                <a:ea typeface="华文楷体" panose="02010600040101010101" pitchFamily="2" charset="-122"/>
              </a:rPr>
              <a:t>accumulator.h</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&lt;string&gt;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&lt;map&gt;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class Account;	//</a:t>
            </a:r>
            <a:r>
              <a:rPr lang="zh-CN" altLang="en-US" sz="1800" b="1" dirty="0">
                <a:solidFill>
                  <a:srgbClr val="000000"/>
                </a:solidFill>
                <a:latin typeface="Times New Roman" panose="02020603050405020304" pitchFamily="18" charset="0"/>
                <a:ea typeface="华文楷体" panose="02010600040101010101" pitchFamily="2" charset="-122"/>
              </a:rPr>
              <a:t>前置声明</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class </a:t>
            </a:r>
            <a:r>
              <a:rPr lang="en-US" altLang="zh-CN" sz="1800" b="1" dirty="0" err="1">
                <a:solidFill>
                  <a:srgbClr val="000000"/>
                </a:solidFill>
                <a:latin typeface="Times New Roman" panose="02020603050405020304" pitchFamily="18" charset="0"/>
                <a:ea typeface="华文楷体" panose="02010600040101010101" pitchFamily="2" charset="-122"/>
              </a:rPr>
              <a:t>AccountRecord</a:t>
            </a:r>
            <a:r>
              <a:rPr lang="en-US" altLang="zh-CN" sz="1800" b="1" dirty="0">
                <a:solidFill>
                  <a:srgbClr val="000000"/>
                </a:solidFill>
                <a:latin typeface="Times New Roman" panose="02020603050405020304" pitchFamily="18" charset="0"/>
                <a:ea typeface="华文楷体" panose="02010600040101010101" pitchFamily="2" charset="-122"/>
              </a:rPr>
              <a:t> {	//</a:t>
            </a:r>
            <a:r>
              <a:rPr lang="zh-CN" altLang="en-US" sz="1800" b="1" dirty="0">
                <a:solidFill>
                  <a:srgbClr val="000000"/>
                </a:solidFill>
                <a:latin typeface="Times New Roman" panose="02020603050405020304" pitchFamily="18" charset="0"/>
                <a:ea typeface="华文楷体" panose="02010600040101010101" pitchFamily="2" charset="-122"/>
              </a:rPr>
              <a:t>账目记录</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private:	Date </a:t>
            </a:r>
            <a:r>
              <a:rPr lang="en-US" altLang="zh-CN" sz="1800" b="1" dirty="0" err="1">
                <a:solidFill>
                  <a:srgbClr val="000000"/>
                </a:solidFill>
                <a:latin typeface="Times New Roman" panose="02020603050405020304" pitchFamily="18" charset="0"/>
                <a:ea typeface="华文楷体" panose="02010600040101010101" pitchFamily="2" charset="-122"/>
              </a:rPr>
              <a:t>date</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日期</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Account *account;	//</a:t>
            </a:r>
            <a:r>
              <a:rPr lang="zh-CN" altLang="en-US" sz="1800" b="1" dirty="0">
                <a:solidFill>
                  <a:srgbClr val="000000"/>
                </a:solidFill>
                <a:latin typeface="Times New Roman" panose="02020603050405020304" pitchFamily="18" charset="0"/>
                <a:ea typeface="华文楷体" panose="02010600040101010101" pitchFamily="2" charset="-122"/>
              </a:rPr>
              <a:t>账户</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double amount;		//</a:t>
            </a:r>
            <a:r>
              <a:rPr lang="zh-CN" altLang="en-US" sz="1800" b="1" dirty="0">
                <a:solidFill>
                  <a:srgbClr val="000000"/>
                </a:solidFill>
                <a:latin typeface="Times New Roman" panose="02020603050405020304" pitchFamily="18" charset="0"/>
                <a:ea typeface="华文楷体" panose="02010600040101010101" pitchFamily="2" charset="-122"/>
              </a:rPr>
              <a:t>金额</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double balance;		//</a:t>
            </a:r>
            <a:r>
              <a:rPr lang="zh-CN" altLang="en-US" sz="1800" b="1" dirty="0">
                <a:solidFill>
                  <a:srgbClr val="000000"/>
                </a:solidFill>
                <a:latin typeface="Times New Roman" panose="02020603050405020304" pitchFamily="18" charset="0"/>
                <a:ea typeface="华文楷体" panose="02010600040101010101" pitchFamily="2" charset="-122"/>
              </a:rPr>
              <a:t>余额</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::string </a:t>
            </a:r>
            <a:r>
              <a:rPr lang="en-US" altLang="zh-CN" sz="1800" b="1" dirty="0" err="1">
                <a:solidFill>
                  <a:srgbClr val="000000"/>
                </a:solidFill>
                <a:latin typeface="Times New Roman" panose="02020603050405020304" pitchFamily="18" charset="0"/>
                <a:ea typeface="华文楷体" panose="02010600040101010101" pitchFamily="2" charset="-122"/>
              </a:rPr>
              <a:t>desc</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描述</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public:	//</a:t>
            </a:r>
            <a:r>
              <a:rPr lang="zh-CN" altLang="en-US" sz="1800" b="1" dirty="0">
                <a:solidFill>
                  <a:srgbClr val="000000"/>
                </a:solidFill>
                <a:latin typeface="Times New Roman" panose="02020603050405020304" pitchFamily="18" charset="0"/>
                <a:ea typeface="华文楷体" panose="02010600040101010101" pitchFamily="2" charset="-122"/>
              </a:rPr>
              <a:t>构造函数</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AccountRecord</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Date &amp;date,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Account *account, double amount,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double balance,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::string&amp; </a:t>
            </a:r>
            <a:r>
              <a:rPr lang="en-US" altLang="zh-CN" sz="1800" b="1" dirty="0" err="1">
                <a:solidFill>
                  <a:srgbClr val="000000"/>
                </a:solidFill>
                <a:latin typeface="Times New Roman" panose="02020603050405020304" pitchFamily="18" charset="0"/>
                <a:ea typeface="华文楷体" panose="02010600040101010101" pitchFamily="2" charset="-122"/>
              </a:rPr>
              <a:t>desc</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void show()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输出当前记录</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95237" name="标题 1"/>
          <p:cNvSpPr>
            <a:spLocks noGrp="1"/>
          </p:cNvSpPr>
          <p:nvPr>
            <p:ph type="title"/>
          </p:nvPr>
        </p:nvSpPr>
        <p:spPr>
          <a:xfrm>
            <a:off x="6929438" y="6072188"/>
            <a:ext cx="2214562" cy="566737"/>
          </a:xfrm>
          <a:solidFill>
            <a:schemeClr val="bg1"/>
          </a:solidFill>
        </p:spPr>
        <p:txBody>
          <a:bodyPr/>
          <a:lstStyle/>
          <a:p>
            <a:pPr eaLnBrk="1" hangingPunct="1"/>
            <a:r>
              <a:rPr lang="zh-CN" altLang="en-US" sz="2800" dirty="0"/>
              <a:t>例</a:t>
            </a:r>
            <a:r>
              <a:rPr lang="en-US" altLang="zh-CN" sz="2800" dirty="0"/>
              <a:t>10-22</a:t>
            </a:r>
            <a:r>
              <a:rPr lang="zh-CN" altLang="en-US" sz="2800" dirty="0"/>
              <a:t>（续）</a:t>
            </a:r>
            <a:endParaRPr lang="zh-CN" altLang="en-US" sz="2800" dirty="0"/>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258" name="内容占位符 2"/>
          <p:cNvSpPr>
            <a:spLocks noGrp="1"/>
          </p:cNvSpPr>
          <p:nvPr>
            <p:ph idx="1"/>
          </p:nvPr>
        </p:nvSpPr>
        <p:spPr>
          <a:xfrm>
            <a:off x="71438" y="-27384"/>
            <a:ext cx="9001125" cy="6740307"/>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zh-CN" altLang="en-US" sz="1800" b="1" dirty="0">
                <a:solidFill>
                  <a:srgbClr val="000000"/>
                </a:solidFill>
                <a:latin typeface="Times New Roman" panose="02020603050405020304" pitchFamily="18" charset="0"/>
                <a:ea typeface="华文楷体" panose="02010600040101010101" pitchFamily="2" charset="-122"/>
              </a:rPr>
              <a:t>定义用来存储账目记录的多重映射类型</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err="1">
                <a:solidFill>
                  <a:srgbClr val="000000"/>
                </a:solidFill>
                <a:latin typeface="Times New Roman" panose="02020603050405020304" pitchFamily="18" charset="0"/>
                <a:ea typeface="华文楷体" panose="02010600040101010101" pitchFamily="2" charset="-122"/>
              </a:rPr>
              <a:t>typedef</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multimap</a:t>
            </a:r>
            <a:r>
              <a:rPr lang="en-US" altLang="zh-CN" sz="1800" b="1" dirty="0">
                <a:solidFill>
                  <a:srgbClr val="000000"/>
                </a:solidFill>
                <a:latin typeface="Times New Roman" panose="02020603050405020304" pitchFamily="18" charset="0"/>
                <a:ea typeface="华文楷体" panose="02010600040101010101" pitchFamily="2" charset="-122"/>
              </a:rPr>
              <a:t>&lt;Date, </a:t>
            </a:r>
            <a:r>
              <a:rPr lang="en-US" altLang="zh-CN" sz="1800" b="1" dirty="0" err="1">
                <a:solidFill>
                  <a:srgbClr val="000000"/>
                </a:solidFill>
                <a:latin typeface="Times New Roman" panose="02020603050405020304" pitchFamily="18" charset="0"/>
                <a:ea typeface="华文楷体" panose="02010600040101010101" pitchFamily="2" charset="-122"/>
              </a:rPr>
              <a:t>AccountRecord</a:t>
            </a:r>
            <a:r>
              <a:rPr lang="en-US" altLang="zh-CN" sz="1800" b="1" dirty="0">
                <a:solidFill>
                  <a:srgbClr val="000000"/>
                </a:solidFill>
                <a:latin typeface="Times New Roman" panose="02020603050405020304" pitchFamily="18" charset="0"/>
                <a:ea typeface="华文楷体" panose="02010600040101010101" pitchFamily="2" charset="-122"/>
              </a:rPr>
              <a:t>&gt; </a:t>
            </a:r>
            <a:r>
              <a:rPr lang="en-US" altLang="zh-CN" sz="1800" b="1" dirty="0" err="1">
                <a:solidFill>
                  <a:srgbClr val="000000"/>
                </a:solidFill>
                <a:latin typeface="Times New Roman" panose="02020603050405020304" pitchFamily="18" charset="0"/>
                <a:ea typeface="华文楷体" panose="02010600040101010101" pitchFamily="2" charset="-122"/>
              </a:rPr>
              <a:t>RecordMap</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class Account { //</a:t>
            </a:r>
            <a:r>
              <a:rPr lang="zh-CN" altLang="en-US" sz="1800" b="1" dirty="0">
                <a:solidFill>
                  <a:srgbClr val="000000"/>
                </a:solidFill>
                <a:latin typeface="Times New Roman" panose="02020603050405020304" pitchFamily="18" charset="0"/>
                <a:ea typeface="华文楷体" panose="02010600040101010101" pitchFamily="2" charset="-122"/>
              </a:rPr>
              <a:t>账户类</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private: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::string id;	//</a:t>
            </a:r>
            <a:r>
              <a:rPr lang="zh-CN" altLang="en-US" sz="1800" b="1" dirty="0">
                <a:solidFill>
                  <a:srgbClr val="000000"/>
                </a:solidFill>
                <a:latin typeface="Times New Roman" panose="02020603050405020304" pitchFamily="18" charset="0"/>
                <a:ea typeface="华文楷体" panose="02010600040101010101" pitchFamily="2" charset="-122"/>
              </a:rPr>
              <a:t>帐号</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double balance;	//</a:t>
            </a:r>
            <a:r>
              <a:rPr lang="zh-CN" altLang="en-US" sz="1800" b="1" dirty="0">
                <a:solidFill>
                  <a:srgbClr val="000000"/>
                </a:solidFill>
                <a:latin typeface="Times New Roman" panose="02020603050405020304" pitchFamily="18" charset="0"/>
                <a:ea typeface="华文楷体" panose="02010600040101010101" pitchFamily="2" charset="-122"/>
              </a:rPr>
              <a:t>余额</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static double total; //</a:t>
            </a:r>
            <a:r>
              <a:rPr lang="zh-CN" altLang="en-US" sz="1800" b="1" dirty="0">
                <a:solidFill>
                  <a:srgbClr val="000000"/>
                </a:solidFill>
                <a:latin typeface="Times New Roman" panose="02020603050405020304" pitchFamily="18" charset="0"/>
                <a:ea typeface="华文楷体" panose="02010600040101010101" pitchFamily="2" charset="-122"/>
              </a:rPr>
              <a:t>所有账户的总金额</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static </a:t>
            </a:r>
            <a:r>
              <a:rPr lang="en-US" altLang="zh-CN" sz="1800" b="1" dirty="0" err="1">
                <a:solidFill>
                  <a:srgbClr val="000000"/>
                </a:solidFill>
                <a:latin typeface="Times New Roman" panose="02020603050405020304" pitchFamily="18" charset="0"/>
                <a:ea typeface="华文楷体" panose="02010600040101010101" pitchFamily="2" charset="-122"/>
              </a:rPr>
              <a:t>RecordMap</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recordMap</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账目记录</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protected://</a:t>
            </a:r>
            <a:r>
              <a:rPr lang="zh-CN" altLang="en-US" sz="1800" b="1" dirty="0">
                <a:solidFill>
                  <a:srgbClr val="000000"/>
                </a:solidFill>
                <a:latin typeface="Times New Roman" panose="02020603050405020304" pitchFamily="18" charset="0"/>
                <a:ea typeface="华文楷体" panose="02010600040101010101" pitchFamily="2" charset="-122"/>
              </a:rPr>
              <a:t>供派生类调用的构造函数，</a:t>
            </a:r>
            <a:r>
              <a:rPr lang="en-US" altLang="zh-CN" sz="1800" b="1" dirty="0">
                <a:solidFill>
                  <a:srgbClr val="000000"/>
                </a:solidFill>
                <a:latin typeface="Times New Roman" panose="02020603050405020304" pitchFamily="18" charset="0"/>
                <a:ea typeface="华文楷体" panose="02010600040101010101" pitchFamily="2" charset="-122"/>
              </a:rPr>
              <a:t>id</a:t>
            </a:r>
            <a:r>
              <a:rPr lang="zh-CN" altLang="en-US" sz="1800" b="1" dirty="0">
                <a:solidFill>
                  <a:srgbClr val="000000"/>
                </a:solidFill>
                <a:latin typeface="Times New Roman" panose="02020603050405020304" pitchFamily="18" charset="0"/>
                <a:ea typeface="华文楷体" panose="02010600040101010101" pitchFamily="2" charset="-122"/>
              </a:rPr>
              <a:t>为账户</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Account(</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Date &amp;date,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::string &amp;id);</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记录一笔帐，</a:t>
            </a:r>
            <a:r>
              <a:rPr lang="en-US" altLang="zh-CN" sz="1800" b="1" dirty="0">
                <a:solidFill>
                  <a:srgbClr val="000000"/>
                </a:solidFill>
                <a:latin typeface="Times New Roman" panose="02020603050405020304" pitchFamily="18" charset="0"/>
                <a:ea typeface="华文楷体" panose="02010600040101010101" pitchFamily="2" charset="-122"/>
              </a:rPr>
              <a:t>date</a:t>
            </a:r>
            <a:r>
              <a:rPr lang="zh-CN" altLang="en-US" sz="1800" b="1" dirty="0">
                <a:solidFill>
                  <a:srgbClr val="000000"/>
                </a:solidFill>
                <a:latin typeface="Times New Roman" panose="02020603050405020304" pitchFamily="18" charset="0"/>
                <a:ea typeface="华文楷体" panose="02010600040101010101" pitchFamily="2" charset="-122"/>
              </a:rPr>
              <a:t>为日期，</a:t>
            </a:r>
            <a:r>
              <a:rPr lang="en-US" altLang="zh-CN" sz="1800" b="1" dirty="0">
                <a:solidFill>
                  <a:srgbClr val="000000"/>
                </a:solidFill>
                <a:latin typeface="Times New Roman" panose="02020603050405020304" pitchFamily="18" charset="0"/>
                <a:ea typeface="华文楷体" panose="02010600040101010101" pitchFamily="2" charset="-122"/>
              </a:rPr>
              <a:t>amount</a:t>
            </a:r>
            <a:r>
              <a:rPr lang="zh-CN" altLang="en-US" sz="1800" b="1" dirty="0">
                <a:solidFill>
                  <a:srgbClr val="000000"/>
                </a:solidFill>
                <a:latin typeface="Times New Roman" panose="02020603050405020304" pitchFamily="18" charset="0"/>
                <a:ea typeface="华文楷体" panose="02010600040101010101" pitchFamily="2" charset="-122"/>
              </a:rPr>
              <a:t>为金额，</a:t>
            </a:r>
            <a:r>
              <a:rPr lang="en-US" altLang="zh-CN" sz="1800" b="1" dirty="0" err="1">
                <a:solidFill>
                  <a:srgbClr val="000000"/>
                </a:solidFill>
                <a:latin typeface="Times New Roman" panose="02020603050405020304" pitchFamily="18" charset="0"/>
                <a:ea typeface="华文楷体" panose="02010600040101010101" pitchFamily="2" charset="-122"/>
              </a:rPr>
              <a:t>desc</a:t>
            </a:r>
            <a:r>
              <a:rPr lang="zh-CN" altLang="en-US" sz="1800" b="1" dirty="0">
                <a:solidFill>
                  <a:srgbClr val="000000"/>
                </a:solidFill>
                <a:latin typeface="Times New Roman" panose="02020603050405020304" pitchFamily="18" charset="0"/>
                <a:ea typeface="华文楷体" panose="02010600040101010101" pitchFamily="2" charset="-122"/>
              </a:rPr>
              <a:t>为说明</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void record(</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Date &amp;date, double amount,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::string &amp;</a:t>
            </a:r>
            <a:r>
              <a:rPr lang="en-US" altLang="zh-CN" sz="1800" b="1" dirty="0" err="1">
                <a:solidFill>
                  <a:srgbClr val="000000"/>
                </a:solidFill>
                <a:latin typeface="Times New Roman" panose="02020603050405020304" pitchFamily="18" charset="0"/>
                <a:ea typeface="华文楷体" panose="02010600040101010101" pitchFamily="2" charset="-122"/>
              </a:rPr>
              <a:t>desc</a:t>
            </a:r>
            <a:r>
              <a:rPr lang="en-US" altLang="zh-CN" sz="1800" b="1" dirty="0">
                <a:solidFill>
                  <a:srgbClr val="000000"/>
                </a:solidFill>
                <a:latin typeface="Times New Roman" panose="02020603050405020304" pitchFamily="18" charset="0"/>
                <a:ea typeface="华文楷体" panose="02010600040101010101" pitchFamily="2" charset="-122"/>
              </a:rPr>
              <a:t>);</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void error(</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::string &amp;</a:t>
            </a:r>
            <a:r>
              <a:rPr lang="en-US" altLang="zh-CN" sz="1800" b="1" dirty="0" err="1">
                <a:solidFill>
                  <a:srgbClr val="000000"/>
                </a:solidFill>
                <a:latin typeface="Times New Roman" panose="02020603050405020304" pitchFamily="18" charset="0"/>
                <a:ea typeface="华文楷体" panose="02010600040101010101" pitchFamily="2" charset="-122"/>
              </a:rPr>
              <a:t>msg</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报告错误信息</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public: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::string &amp;</a:t>
            </a:r>
            <a:r>
              <a:rPr lang="en-US" altLang="zh-CN" sz="1800" b="1" dirty="0" err="1">
                <a:solidFill>
                  <a:srgbClr val="000000"/>
                </a:solidFill>
                <a:latin typeface="Times New Roman" panose="02020603050405020304" pitchFamily="18" charset="0"/>
                <a:ea typeface="华文楷体" panose="02010600040101010101" pitchFamily="2" charset="-122"/>
              </a:rPr>
              <a:t>getId</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 return id;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double </a:t>
            </a:r>
            <a:r>
              <a:rPr lang="en-US" altLang="zh-CN" sz="1800" b="1" dirty="0" err="1">
                <a:solidFill>
                  <a:srgbClr val="000000"/>
                </a:solidFill>
                <a:latin typeface="Times New Roman" panose="02020603050405020304" pitchFamily="18" charset="0"/>
                <a:ea typeface="华文楷体" panose="02010600040101010101" pitchFamily="2" charset="-122"/>
              </a:rPr>
              <a:t>getBalance</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 return balance;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static double </a:t>
            </a:r>
            <a:r>
              <a:rPr lang="en-US" altLang="zh-CN" sz="1800" b="1" dirty="0" err="1">
                <a:solidFill>
                  <a:srgbClr val="000000"/>
                </a:solidFill>
                <a:latin typeface="Times New Roman" panose="02020603050405020304" pitchFamily="18" charset="0"/>
                <a:ea typeface="华文楷体" panose="02010600040101010101" pitchFamily="2" charset="-122"/>
              </a:rPr>
              <a:t>getTotal</a:t>
            </a:r>
            <a:r>
              <a:rPr lang="en-US" altLang="zh-CN" sz="1800" b="1" dirty="0">
                <a:solidFill>
                  <a:srgbClr val="000000"/>
                </a:solidFill>
                <a:latin typeface="Times New Roman" panose="02020603050405020304" pitchFamily="18" charset="0"/>
                <a:ea typeface="华文楷体" panose="02010600040101010101" pitchFamily="2" charset="-122"/>
              </a:rPr>
              <a:t>() { return total;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a:t>
            </a:r>
            <a:r>
              <a:rPr lang="zh-CN" altLang="en-US" sz="1800" b="1" dirty="0">
                <a:solidFill>
                  <a:srgbClr val="000000"/>
                </a:solidFill>
                <a:latin typeface="Times New Roman" panose="02020603050405020304" pitchFamily="18" charset="0"/>
                <a:ea typeface="华文楷体" panose="02010600040101010101" pitchFamily="2" charset="-122"/>
              </a:rPr>
              <a:t>存入现金，</a:t>
            </a:r>
            <a:r>
              <a:rPr lang="en-US" altLang="zh-CN" sz="1800" b="1" dirty="0">
                <a:solidFill>
                  <a:srgbClr val="000000"/>
                </a:solidFill>
                <a:latin typeface="Times New Roman" panose="02020603050405020304" pitchFamily="18" charset="0"/>
                <a:ea typeface="华文楷体" panose="02010600040101010101" pitchFamily="2" charset="-122"/>
              </a:rPr>
              <a:t>date</a:t>
            </a:r>
            <a:r>
              <a:rPr lang="zh-CN" altLang="en-US" sz="1800" b="1" dirty="0">
                <a:solidFill>
                  <a:srgbClr val="000000"/>
                </a:solidFill>
                <a:latin typeface="Times New Roman" panose="02020603050405020304" pitchFamily="18" charset="0"/>
                <a:ea typeface="华文楷体" panose="02010600040101010101" pitchFamily="2" charset="-122"/>
              </a:rPr>
              <a:t>为日期，</a:t>
            </a:r>
            <a:r>
              <a:rPr lang="en-US" altLang="zh-CN" sz="1800" b="1" dirty="0">
                <a:solidFill>
                  <a:srgbClr val="000000"/>
                </a:solidFill>
                <a:latin typeface="Times New Roman" panose="02020603050405020304" pitchFamily="18" charset="0"/>
                <a:ea typeface="华文楷体" panose="02010600040101010101" pitchFamily="2" charset="-122"/>
              </a:rPr>
              <a:t>amount</a:t>
            </a:r>
            <a:r>
              <a:rPr lang="zh-CN" altLang="en-US" sz="1800" b="1" dirty="0">
                <a:solidFill>
                  <a:srgbClr val="000000"/>
                </a:solidFill>
                <a:latin typeface="Times New Roman" panose="02020603050405020304" pitchFamily="18" charset="0"/>
                <a:ea typeface="华文楷体" panose="02010600040101010101" pitchFamily="2" charset="-122"/>
              </a:rPr>
              <a:t>为金额，</a:t>
            </a:r>
            <a:r>
              <a:rPr lang="en-US" altLang="zh-CN" sz="1800" b="1" dirty="0" err="1">
                <a:solidFill>
                  <a:srgbClr val="000000"/>
                </a:solidFill>
                <a:latin typeface="Times New Roman" panose="02020603050405020304" pitchFamily="18" charset="0"/>
                <a:ea typeface="华文楷体" panose="02010600040101010101" pitchFamily="2" charset="-122"/>
              </a:rPr>
              <a:t>desc</a:t>
            </a:r>
            <a:r>
              <a:rPr lang="zh-CN" altLang="en-US" sz="1800" b="1" dirty="0">
                <a:solidFill>
                  <a:srgbClr val="000000"/>
                </a:solidFill>
                <a:latin typeface="Times New Roman" panose="02020603050405020304" pitchFamily="18" charset="0"/>
                <a:ea typeface="华文楷体" panose="02010600040101010101" pitchFamily="2" charset="-122"/>
              </a:rPr>
              <a:t>为款项说明</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virtual void deposit(</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Date &amp;date, double amount,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::string &amp;</a:t>
            </a:r>
            <a:r>
              <a:rPr lang="en-US" altLang="zh-CN" sz="1800" b="1" dirty="0" err="1">
                <a:solidFill>
                  <a:srgbClr val="000000"/>
                </a:solidFill>
                <a:latin typeface="Times New Roman" panose="02020603050405020304" pitchFamily="18" charset="0"/>
                <a:ea typeface="华文楷体" panose="02010600040101010101" pitchFamily="2" charset="-122"/>
              </a:rPr>
              <a:t>desc</a:t>
            </a:r>
            <a:r>
              <a:rPr lang="en-US" altLang="zh-CN" sz="1800" b="1" dirty="0">
                <a:solidFill>
                  <a:srgbClr val="000000"/>
                </a:solidFill>
                <a:latin typeface="Times New Roman" panose="02020603050405020304" pitchFamily="18" charset="0"/>
                <a:ea typeface="华文楷体" panose="02010600040101010101" pitchFamily="2" charset="-122"/>
              </a:rPr>
              <a:t>) = 0;</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取出现金，</a:t>
            </a:r>
            <a:r>
              <a:rPr lang="en-US" altLang="zh-CN" sz="1800" b="1" dirty="0">
                <a:solidFill>
                  <a:srgbClr val="000000"/>
                </a:solidFill>
                <a:latin typeface="Times New Roman" panose="02020603050405020304" pitchFamily="18" charset="0"/>
                <a:ea typeface="华文楷体" panose="02010600040101010101" pitchFamily="2" charset="-122"/>
              </a:rPr>
              <a:t>date</a:t>
            </a:r>
            <a:r>
              <a:rPr lang="zh-CN" altLang="en-US" sz="1800" b="1" dirty="0">
                <a:solidFill>
                  <a:srgbClr val="000000"/>
                </a:solidFill>
                <a:latin typeface="Times New Roman" panose="02020603050405020304" pitchFamily="18" charset="0"/>
                <a:ea typeface="华文楷体" panose="02010600040101010101" pitchFamily="2" charset="-122"/>
              </a:rPr>
              <a:t>为日期，</a:t>
            </a:r>
            <a:r>
              <a:rPr lang="en-US" altLang="zh-CN" sz="1800" b="1" dirty="0">
                <a:solidFill>
                  <a:srgbClr val="000000"/>
                </a:solidFill>
                <a:latin typeface="Times New Roman" panose="02020603050405020304" pitchFamily="18" charset="0"/>
                <a:ea typeface="华文楷体" panose="02010600040101010101" pitchFamily="2" charset="-122"/>
              </a:rPr>
              <a:t>amount</a:t>
            </a:r>
            <a:r>
              <a:rPr lang="zh-CN" altLang="en-US" sz="1800" b="1" dirty="0">
                <a:solidFill>
                  <a:srgbClr val="000000"/>
                </a:solidFill>
                <a:latin typeface="Times New Roman" panose="02020603050405020304" pitchFamily="18" charset="0"/>
                <a:ea typeface="华文楷体" panose="02010600040101010101" pitchFamily="2" charset="-122"/>
              </a:rPr>
              <a:t>为金额，</a:t>
            </a:r>
            <a:r>
              <a:rPr lang="en-US" altLang="zh-CN" sz="1800" b="1" dirty="0" err="1">
                <a:solidFill>
                  <a:srgbClr val="000000"/>
                </a:solidFill>
                <a:latin typeface="Times New Roman" panose="02020603050405020304" pitchFamily="18" charset="0"/>
                <a:ea typeface="华文楷体" panose="02010600040101010101" pitchFamily="2" charset="-122"/>
              </a:rPr>
              <a:t>desc</a:t>
            </a:r>
            <a:r>
              <a:rPr lang="zh-CN" altLang="en-US" sz="1800" b="1" dirty="0">
                <a:solidFill>
                  <a:srgbClr val="000000"/>
                </a:solidFill>
                <a:latin typeface="Times New Roman" panose="02020603050405020304" pitchFamily="18" charset="0"/>
                <a:ea typeface="华文楷体" panose="02010600040101010101" pitchFamily="2" charset="-122"/>
              </a:rPr>
              <a:t>为款项说明</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virtual void withdraw(</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Date &amp;date, double amount,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::string &amp;</a:t>
            </a:r>
            <a:r>
              <a:rPr lang="en-US" altLang="zh-CN" sz="1800" b="1" dirty="0" err="1">
                <a:solidFill>
                  <a:srgbClr val="000000"/>
                </a:solidFill>
                <a:latin typeface="Times New Roman" panose="02020603050405020304" pitchFamily="18" charset="0"/>
                <a:ea typeface="华文楷体" panose="02010600040101010101" pitchFamily="2" charset="-122"/>
              </a:rPr>
              <a:t>desc</a:t>
            </a:r>
            <a:r>
              <a:rPr lang="en-US" altLang="zh-CN" sz="1800" b="1" dirty="0">
                <a:solidFill>
                  <a:srgbClr val="000000"/>
                </a:solidFill>
                <a:latin typeface="Times New Roman" panose="02020603050405020304" pitchFamily="18" charset="0"/>
                <a:ea typeface="华文楷体" panose="02010600040101010101" pitchFamily="2" charset="-122"/>
              </a:rPr>
              <a:t>) = 0;</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结算（计算利息、年费等），每月结算一次，</a:t>
            </a:r>
            <a:r>
              <a:rPr lang="en-US" altLang="zh-CN" sz="1800" b="1" dirty="0">
                <a:solidFill>
                  <a:srgbClr val="000000"/>
                </a:solidFill>
                <a:latin typeface="Times New Roman" panose="02020603050405020304" pitchFamily="18" charset="0"/>
                <a:ea typeface="华文楷体" panose="02010600040101010101" pitchFamily="2" charset="-122"/>
              </a:rPr>
              <a:t>date</a:t>
            </a:r>
            <a:r>
              <a:rPr lang="zh-CN" altLang="en-US" sz="1800" b="1" dirty="0">
                <a:solidFill>
                  <a:srgbClr val="000000"/>
                </a:solidFill>
                <a:latin typeface="Times New Roman" panose="02020603050405020304" pitchFamily="18" charset="0"/>
                <a:ea typeface="华文楷体" panose="02010600040101010101" pitchFamily="2" charset="-122"/>
              </a:rPr>
              <a:t>为结算日期</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virtual void settle(</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Date &amp;date) = 0;</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virtual void show()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zh-CN" altLang="en-US" sz="1800" b="1" dirty="0">
                <a:solidFill>
                  <a:srgbClr val="000000"/>
                </a:solidFill>
                <a:latin typeface="Times New Roman" panose="02020603050405020304" pitchFamily="18" charset="0"/>
                <a:ea typeface="华文楷体" panose="02010600040101010101" pitchFamily="2" charset="-122"/>
              </a:rPr>
              <a:t>显示账户信息</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static void query(</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Date&amp; begin,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Date&amp; end);	//</a:t>
            </a:r>
            <a:r>
              <a:rPr lang="zh-CN" altLang="en-US" sz="1800" b="1" dirty="0">
                <a:solidFill>
                  <a:srgbClr val="000000"/>
                </a:solidFill>
                <a:latin typeface="Times New Roman" panose="02020603050405020304" pitchFamily="18" charset="0"/>
                <a:ea typeface="华文楷体" panose="02010600040101010101" pitchFamily="2" charset="-122"/>
              </a:rPr>
              <a:t>查询指定时间内     </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endif</a:t>
            </a:r>
            <a:r>
              <a:rPr lang="en-US" altLang="zh-CN" sz="1800" b="1" dirty="0">
                <a:solidFill>
                  <a:srgbClr val="000000"/>
                </a:solidFill>
                <a:latin typeface="Times New Roman" panose="02020603050405020304" pitchFamily="18" charset="0"/>
                <a:ea typeface="华文楷体" panose="02010600040101010101" pitchFamily="2" charset="-122"/>
              </a:rPr>
              <a:t> //__ACCOUNT_H__</a:t>
            </a:r>
            <a:endParaRPr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96261" name="标题 1"/>
          <p:cNvSpPr>
            <a:spLocks noGrp="1"/>
          </p:cNvSpPr>
          <p:nvPr>
            <p:ph type="title"/>
          </p:nvPr>
        </p:nvSpPr>
        <p:spPr>
          <a:xfrm>
            <a:off x="6858000" y="428625"/>
            <a:ext cx="2214563" cy="566738"/>
          </a:xfrm>
          <a:solidFill>
            <a:schemeClr val="bg1"/>
          </a:solidFill>
        </p:spPr>
        <p:txBody>
          <a:bodyPr/>
          <a:lstStyle/>
          <a:p>
            <a:pPr eaLnBrk="1" hangingPunct="1"/>
            <a:r>
              <a:rPr lang="zh-CN" altLang="en-US" sz="2800" dirty="0"/>
              <a:t>例</a:t>
            </a:r>
            <a:r>
              <a:rPr lang="en-US" altLang="zh-CN" sz="2800" dirty="0"/>
              <a:t>10-22</a:t>
            </a:r>
            <a:r>
              <a:rPr lang="zh-CN" altLang="en-US" sz="2800" dirty="0"/>
              <a:t>（续）</a:t>
            </a:r>
            <a:endParaRPr lang="zh-CN" altLang="en-US" sz="2800" dirty="0"/>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7282" name="内容占位符 2"/>
          <p:cNvSpPr>
            <a:spLocks noGrp="1"/>
          </p:cNvSpPr>
          <p:nvPr>
            <p:ph idx="1"/>
          </p:nvPr>
        </p:nvSpPr>
        <p:spPr>
          <a:xfrm>
            <a:off x="71438" y="-27384"/>
            <a:ext cx="9001125" cy="7017306"/>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SavingsAccount</a:t>
            </a:r>
            <a:r>
              <a:rPr lang="zh-CN" altLang="en-US" sz="1800" b="1" dirty="0">
                <a:solidFill>
                  <a:srgbClr val="000000"/>
                </a:solidFill>
                <a:latin typeface="Times New Roman" panose="02020603050405020304" pitchFamily="18" charset="0"/>
                <a:ea typeface="华文楷体" panose="02010600040101010101" pitchFamily="2" charset="-122"/>
              </a:rPr>
              <a:t>和</a:t>
            </a:r>
            <a:r>
              <a:rPr lang="en-US" altLang="zh-CN" sz="1800" b="1" dirty="0" err="1">
                <a:solidFill>
                  <a:srgbClr val="000000"/>
                </a:solidFill>
                <a:latin typeface="Times New Roman" panose="02020603050405020304" pitchFamily="18" charset="0"/>
                <a:ea typeface="华文楷体" panose="02010600040101010101" pitchFamily="2" charset="-122"/>
              </a:rPr>
              <a:t>CreditAccount</a:t>
            </a:r>
            <a:r>
              <a:rPr lang="zh-CN" altLang="en-US" sz="1800" b="1" dirty="0">
                <a:solidFill>
                  <a:srgbClr val="000000"/>
                </a:solidFill>
                <a:latin typeface="Times New Roman" panose="02020603050405020304" pitchFamily="18" charset="0"/>
                <a:ea typeface="华文楷体" panose="02010600040101010101" pitchFamily="2" charset="-122"/>
              </a:rPr>
              <a:t>两个类的定义与例</a:t>
            </a:r>
            <a:r>
              <a:rPr lang="en-US" altLang="zh-CN" sz="1800" b="1" dirty="0">
                <a:solidFill>
                  <a:srgbClr val="000000"/>
                </a:solidFill>
                <a:latin typeface="Times New Roman" panose="02020603050405020304" pitchFamily="18" charset="0"/>
                <a:ea typeface="华文楷体" panose="02010600040101010101" pitchFamily="2" charset="-122"/>
              </a:rPr>
              <a:t>7-10</a:t>
            </a:r>
            <a:r>
              <a:rPr lang="zh-CN" altLang="en-US" sz="1800" b="1" dirty="0">
                <a:solidFill>
                  <a:srgbClr val="000000"/>
                </a:solidFill>
                <a:latin typeface="Times New Roman" panose="02020603050405020304" pitchFamily="18" charset="0"/>
                <a:ea typeface="华文楷体" panose="02010600040101010101" pitchFamily="2" charset="-122"/>
              </a:rPr>
              <a:t>完全相同，不再重复给出</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//account.cpp</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a:t>
            </a:r>
            <a:r>
              <a:rPr lang="en-US" altLang="zh-CN" sz="1800" b="1" dirty="0" err="1">
                <a:solidFill>
                  <a:srgbClr val="000000"/>
                </a:solidFill>
                <a:latin typeface="Times New Roman" panose="02020603050405020304" pitchFamily="18" charset="0"/>
                <a:ea typeface="华文楷体" panose="02010600040101010101" pitchFamily="2" charset="-122"/>
              </a:rPr>
              <a:t>account.h</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&lt;</a:t>
            </a:r>
            <a:r>
              <a:rPr lang="en-US" altLang="zh-CN" sz="1800" b="1" dirty="0" err="1">
                <a:solidFill>
                  <a:srgbClr val="000000"/>
                </a:solidFill>
                <a:latin typeface="Times New Roman" panose="02020603050405020304" pitchFamily="18" charset="0"/>
                <a:ea typeface="华文楷体" panose="02010600040101010101" pitchFamily="2" charset="-122"/>
              </a:rPr>
              <a:t>cmath</a:t>
            </a:r>
            <a:r>
              <a:rPr lang="en-US" altLang="zh-CN" sz="1800" b="1" dirty="0">
                <a:solidFill>
                  <a:srgbClr val="000000"/>
                </a:solidFill>
                <a:latin typeface="Times New Roman" panose="02020603050405020304" pitchFamily="18" charset="0"/>
                <a:ea typeface="华文楷体" panose="02010600040101010101" pitchFamily="2" charset="-122"/>
              </a:rPr>
              <a:t>&gt;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&lt;</a:t>
            </a:r>
            <a:r>
              <a:rPr lang="en-US" altLang="zh-CN" sz="1800" b="1" dirty="0" err="1">
                <a:solidFill>
                  <a:srgbClr val="000000"/>
                </a:solidFill>
                <a:latin typeface="Times New Roman" panose="02020603050405020304" pitchFamily="18" charset="0"/>
                <a:ea typeface="华文楷体" panose="02010600040101010101" pitchFamily="2" charset="-122"/>
              </a:rPr>
              <a:t>iostream</a:t>
            </a:r>
            <a:r>
              <a:rPr lang="en-US" altLang="zh-CN" sz="1800" b="1" dirty="0">
                <a:solidFill>
                  <a:srgbClr val="000000"/>
                </a:solidFill>
                <a:latin typeface="Times New Roman" panose="02020603050405020304" pitchFamily="18" charset="0"/>
                <a:ea typeface="华文楷体" panose="02010600040101010101" pitchFamily="2" charset="-122"/>
              </a:rPr>
              <a:t>&gt;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&lt;utility&gt;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using namespace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using namespace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rel_ops</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AccountRecord</a:t>
            </a:r>
            <a:r>
              <a:rPr lang="zh-CN" altLang="en-US" sz="1800" b="1" dirty="0">
                <a:solidFill>
                  <a:srgbClr val="000000"/>
                </a:solidFill>
                <a:latin typeface="Times New Roman" panose="02020603050405020304" pitchFamily="18" charset="0"/>
                <a:ea typeface="华文楷体" panose="02010600040101010101" pitchFamily="2" charset="-122"/>
              </a:rPr>
              <a:t>类的实现</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err="1">
                <a:solidFill>
                  <a:srgbClr val="000000"/>
                </a:solidFill>
                <a:latin typeface="Times New Roman" panose="02020603050405020304" pitchFamily="18" charset="0"/>
                <a:ea typeface="华文楷体" panose="02010600040101010101" pitchFamily="2" charset="-122"/>
              </a:rPr>
              <a:t>AccountRecord</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AccountRecord</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Date &amp;date,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Account *account, double amount, double balance,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::string&amp; </a:t>
            </a:r>
            <a:r>
              <a:rPr lang="en-US" altLang="zh-CN" sz="1800" b="1" dirty="0" err="1">
                <a:solidFill>
                  <a:srgbClr val="000000"/>
                </a:solidFill>
                <a:latin typeface="Times New Roman" panose="02020603050405020304" pitchFamily="18" charset="0"/>
                <a:ea typeface="华文楷体" panose="02010600040101010101" pitchFamily="2" charset="-122"/>
              </a:rPr>
              <a:t>desc</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 date(date), account(account), amount(amount), balance(balance), </a:t>
            </a:r>
            <a:r>
              <a:rPr lang="en-US" altLang="zh-CN" sz="1800" b="1" dirty="0" err="1">
                <a:solidFill>
                  <a:srgbClr val="000000"/>
                </a:solidFill>
                <a:latin typeface="Times New Roman" panose="02020603050405020304" pitchFamily="18" charset="0"/>
                <a:ea typeface="华文楷体" panose="02010600040101010101" pitchFamily="2" charset="-122"/>
              </a:rPr>
              <a:t>desc</a:t>
            </a:r>
            <a:r>
              <a:rPr lang="en-US" altLang="zh-CN" sz="1800" b="1" dirty="0">
                <a:solidFill>
                  <a:srgbClr val="000000"/>
                </a:solidFill>
                <a:latin typeface="Times New Roman" panose="02020603050405020304" pitchFamily="18" charset="0"/>
                <a:ea typeface="华文楷体" panose="02010600040101010101" pitchFamily="2" charset="-122"/>
              </a:rPr>
              <a:t>(</a:t>
            </a:r>
            <a:r>
              <a:rPr lang="en-US" altLang="zh-CN" sz="1800" b="1" dirty="0" err="1">
                <a:solidFill>
                  <a:srgbClr val="000000"/>
                </a:solidFill>
                <a:latin typeface="Times New Roman" panose="02020603050405020304" pitchFamily="18" charset="0"/>
                <a:ea typeface="华文楷体" panose="02010600040101010101" pitchFamily="2" charset="-122"/>
              </a:rPr>
              <a:t>desc</a:t>
            </a:r>
            <a:r>
              <a:rPr lang="en-US" altLang="zh-CN" sz="1800" b="1" dirty="0">
                <a:solidFill>
                  <a:srgbClr val="000000"/>
                </a:solidFill>
                <a:latin typeface="Times New Roman" panose="02020603050405020304" pitchFamily="18" charset="0"/>
                <a:ea typeface="华文楷体" panose="02010600040101010101" pitchFamily="2" charset="-122"/>
              </a:rPr>
              <a:t>) {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void </a:t>
            </a:r>
            <a:r>
              <a:rPr lang="en-US" altLang="zh-CN" sz="1800" b="1" dirty="0" err="1">
                <a:solidFill>
                  <a:srgbClr val="000000"/>
                </a:solidFill>
                <a:latin typeface="Times New Roman" panose="02020603050405020304" pitchFamily="18" charset="0"/>
                <a:ea typeface="华文楷体" panose="02010600040101010101" pitchFamily="2" charset="-122"/>
              </a:rPr>
              <a:t>AccountRecord</a:t>
            </a:r>
            <a:r>
              <a:rPr lang="en-US" altLang="zh-CN" sz="1800" b="1" dirty="0">
                <a:solidFill>
                  <a:srgbClr val="000000"/>
                </a:solidFill>
                <a:latin typeface="Times New Roman" panose="02020603050405020304" pitchFamily="18" charset="0"/>
                <a:ea typeface="华文楷体" panose="02010600040101010101" pitchFamily="2" charset="-122"/>
              </a:rPr>
              <a:t>::show()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date.show</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"\t#" &lt;&lt; account-&gt;</a:t>
            </a:r>
            <a:r>
              <a:rPr lang="en-US" altLang="zh-CN" sz="1800" b="1" dirty="0" err="1">
                <a:solidFill>
                  <a:srgbClr val="000000"/>
                </a:solidFill>
                <a:latin typeface="Times New Roman" panose="02020603050405020304" pitchFamily="18" charset="0"/>
                <a:ea typeface="华文楷体" panose="02010600040101010101" pitchFamily="2" charset="-122"/>
              </a:rPr>
              <a:t>getId</a:t>
            </a:r>
            <a:r>
              <a:rPr lang="en-US" altLang="zh-CN" sz="1800" b="1" dirty="0">
                <a:solidFill>
                  <a:srgbClr val="000000"/>
                </a:solidFill>
                <a:latin typeface="Times New Roman" panose="02020603050405020304" pitchFamily="18" charset="0"/>
                <a:ea typeface="华文楷体" panose="02010600040101010101" pitchFamily="2" charset="-122"/>
              </a:rPr>
              <a:t>() &lt;&lt; "\t" &lt;&lt; amount &lt;&lt; "\t" &lt;&lt; balance &lt;&lt; "\t"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desc</a:t>
            </a: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//Account</a:t>
            </a:r>
            <a:r>
              <a:rPr lang="zh-CN" altLang="en-US" sz="1800" b="1" dirty="0">
                <a:solidFill>
                  <a:srgbClr val="000000"/>
                </a:solidFill>
                <a:latin typeface="Times New Roman" panose="02020603050405020304" pitchFamily="18" charset="0"/>
                <a:ea typeface="华文楷体" panose="02010600040101010101" pitchFamily="2" charset="-122"/>
              </a:rPr>
              <a:t>类的实现， 仅给出部分实现</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double Account::total = 0;</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err="1">
                <a:solidFill>
                  <a:srgbClr val="000000"/>
                </a:solidFill>
                <a:latin typeface="Times New Roman" panose="02020603050405020304" pitchFamily="18" charset="0"/>
                <a:ea typeface="华文楷体" panose="02010600040101010101" pitchFamily="2" charset="-122"/>
              </a:rPr>
              <a:t>RecordMap</a:t>
            </a:r>
            <a:r>
              <a:rPr lang="en-US" altLang="zh-CN" sz="1800" b="1" dirty="0">
                <a:solidFill>
                  <a:srgbClr val="000000"/>
                </a:solidFill>
                <a:latin typeface="Times New Roman" panose="02020603050405020304" pitchFamily="18" charset="0"/>
                <a:ea typeface="华文楷体" panose="02010600040101010101" pitchFamily="2" charset="-122"/>
              </a:rPr>
              <a:t> Account::</a:t>
            </a:r>
            <a:r>
              <a:rPr lang="en-US" altLang="zh-CN" sz="1800" b="1" dirty="0" err="1">
                <a:solidFill>
                  <a:srgbClr val="000000"/>
                </a:solidFill>
                <a:latin typeface="Times New Roman" panose="02020603050405020304" pitchFamily="18" charset="0"/>
                <a:ea typeface="华文楷体" panose="02010600040101010101" pitchFamily="2" charset="-122"/>
              </a:rPr>
              <a:t>recordMap</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void Account::query(</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Date&amp; begin, </a:t>
            </a:r>
            <a:r>
              <a:rPr lang="en-US" altLang="zh-CN" sz="1800" b="1" dirty="0" err="1">
                <a:solidFill>
                  <a:srgbClr val="000000"/>
                </a:solidFill>
                <a:latin typeface="Times New Roman" panose="02020603050405020304" pitchFamily="18" charset="0"/>
                <a:ea typeface="华文楷体" panose="02010600040101010101" pitchFamily="2" charset="-122"/>
              </a:rPr>
              <a:t>const</a:t>
            </a:r>
            <a:r>
              <a:rPr lang="en-US" altLang="zh-CN" sz="1800" b="1" dirty="0">
                <a:solidFill>
                  <a:srgbClr val="000000"/>
                </a:solidFill>
                <a:latin typeface="Times New Roman" panose="02020603050405020304" pitchFamily="18" charset="0"/>
                <a:ea typeface="华文楷体" panose="02010600040101010101" pitchFamily="2" charset="-122"/>
              </a:rPr>
              <a:t> Date&amp; end)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if (begin &lt;= end)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RecordMap</a:t>
            </a:r>
            <a:r>
              <a:rPr lang="en-US" altLang="zh-CN" sz="1800" b="1" dirty="0">
                <a:solidFill>
                  <a:srgbClr val="000000"/>
                </a:solidFill>
                <a:latin typeface="Times New Roman" panose="02020603050405020304" pitchFamily="18" charset="0"/>
                <a:ea typeface="华文楷体" panose="02010600040101010101" pitchFamily="2" charset="-122"/>
              </a:rPr>
              <a:t>::iterator iter1 = </a:t>
            </a:r>
            <a:r>
              <a:rPr lang="en-US" altLang="zh-CN" sz="1800" b="1" dirty="0" err="1">
                <a:solidFill>
                  <a:srgbClr val="000000"/>
                </a:solidFill>
                <a:latin typeface="Times New Roman" panose="02020603050405020304" pitchFamily="18" charset="0"/>
                <a:ea typeface="华文楷体" panose="02010600040101010101" pitchFamily="2" charset="-122"/>
              </a:rPr>
              <a:t>recordMap.lower_bound</a:t>
            </a:r>
            <a:r>
              <a:rPr lang="en-US" altLang="zh-CN" sz="1800" b="1" dirty="0">
                <a:solidFill>
                  <a:srgbClr val="000000"/>
                </a:solidFill>
                <a:latin typeface="Times New Roman" panose="02020603050405020304" pitchFamily="18" charset="0"/>
                <a:ea typeface="华文楷体" panose="02010600040101010101" pitchFamily="2" charset="-122"/>
              </a:rPr>
              <a:t>(begin);</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RecordMap</a:t>
            </a:r>
            <a:r>
              <a:rPr lang="en-US" altLang="zh-CN" sz="1800" b="1" dirty="0">
                <a:solidFill>
                  <a:srgbClr val="000000"/>
                </a:solidFill>
                <a:latin typeface="Times New Roman" panose="02020603050405020304" pitchFamily="18" charset="0"/>
                <a:ea typeface="华文楷体" panose="02010600040101010101" pitchFamily="2" charset="-122"/>
              </a:rPr>
              <a:t>::iterator iter2 = </a:t>
            </a:r>
            <a:r>
              <a:rPr lang="en-US" altLang="zh-CN" sz="1800" b="1" dirty="0" err="1">
                <a:solidFill>
                  <a:srgbClr val="000000"/>
                </a:solidFill>
                <a:latin typeface="Times New Roman" panose="02020603050405020304" pitchFamily="18" charset="0"/>
                <a:ea typeface="华文楷体" panose="02010600040101010101" pitchFamily="2" charset="-122"/>
              </a:rPr>
              <a:t>recordMap.upper_bound</a:t>
            </a:r>
            <a:r>
              <a:rPr lang="en-US" altLang="zh-CN" sz="1800" b="1" dirty="0">
                <a:solidFill>
                  <a:srgbClr val="000000"/>
                </a:solidFill>
                <a:latin typeface="Times New Roman" panose="02020603050405020304" pitchFamily="18" charset="0"/>
                <a:ea typeface="华文楷体" panose="02010600040101010101" pitchFamily="2" charset="-122"/>
              </a:rPr>
              <a:t>(end);</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for (</a:t>
            </a:r>
            <a:r>
              <a:rPr lang="en-US" altLang="zh-CN" sz="1800" b="1" dirty="0" err="1">
                <a:solidFill>
                  <a:srgbClr val="000000"/>
                </a:solidFill>
                <a:latin typeface="Times New Roman" panose="02020603050405020304" pitchFamily="18" charset="0"/>
                <a:ea typeface="华文楷体" panose="02010600040101010101" pitchFamily="2" charset="-122"/>
              </a:rPr>
              <a:t>RecordMap</a:t>
            </a:r>
            <a:r>
              <a:rPr lang="en-US" altLang="zh-CN" sz="1800" b="1" dirty="0">
                <a:solidFill>
                  <a:srgbClr val="000000"/>
                </a:solidFill>
                <a:latin typeface="Times New Roman" panose="02020603050405020304" pitchFamily="18" charset="0"/>
                <a:ea typeface="华文楷体" panose="02010600040101010101" pitchFamily="2" charset="-122"/>
              </a:rPr>
              <a:t>::iterator </a:t>
            </a:r>
            <a:r>
              <a:rPr lang="en-US" altLang="zh-CN" sz="1800" b="1" dirty="0" err="1">
                <a:solidFill>
                  <a:srgbClr val="000000"/>
                </a:solidFill>
                <a:latin typeface="Times New Roman" panose="02020603050405020304" pitchFamily="18" charset="0"/>
                <a:ea typeface="华文楷体" panose="02010600040101010101" pitchFamily="2" charset="-122"/>
              </a:rPr>
              <a:t>iter</a:t>
            </a:r>
            <a:r>
              <a:rPr lang="en-US" altLang="zh-CN" sz="1800" b="1" dirty="0">
                <a:solidFill>
                  <a:srgbClr val="000000"/>
                </a:solidFill>
                <a:latin typeface="Times New Roman" panose="02020603050405020304" pitchFamily="18" charset="0"/>
                <a:ea typeface="华文楷体" panose="02010600040101010101" pitchFamily="2" charset="-122"/>
              </a:rPr>
              <a:t> = iter1; </a:t>
            </a:r>
            <a:r>
              <a:rPr lang="en-US" altLang="zh-CN" sz="1800" b="1" dirty="0" err="1">
                <a:solidFill>
                  <a:srgbClr val="000000"/>
                </a:solidFill>
                <a:latin typeface="Times New Roman" panose="02020603050405020304" pitchFamily="18" charset="0"/>
                <a:ea typeface="华文楷体" panose="02010600040101010101" pitchFamily="2" charset="-122"/>
              </a:rPr>
              <a:t>iter</a:t>
            </a:r>
            <a:r>
              <a:rPr lang="en-US" altLang="zh-CN" sz="1800" b="1" dirty="0">
                <a:solidFill>
                  <a:srgbClr val="000000"/>
                </a:solidFill>
                <a:latin typeface="Times New Roman" panose="02020603050405020304" pitchFamily="18" charset="0"/>
                <a:ea typeface="华文楷体" panose="02010600040101010101" pitchFamily="2" charset="-122"/>
              </a:rPr>
              <a:t> != iter2; ++</a:t>
            </a:r>
            <a:r>
              <a:rPr lang="en-US" altLang="zh-CN" sz="1800" b="1" dirty="0" err="1">
                <a:solidFill>
                  <a:srgbClr val="000000"/>
                </a:solidFill>
                <a:latin typeface="Times New Roman" panose="02020603050405020304" pitchFamily="18" charset="0"/>
                <a:ea typeface="华文楷体" panose="02010600040101010101" pitchFamily="2" charset="-122"/>
              </a:rPr>
              <a:t>iter</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iter</a:t>
            </a:r>
            <a:r>
              <a:rPr lang="en-US" altLang="zh-CN" sz="1800" b="1" dirty="0">
                <a:solidFill>
                  <a:srgbClr val="000000"/>
                </a:solidFill>
                <a:latin typeface="Times New Roman" panose="02020603050405020304" pitchFamily="18" charset="0"/>
                <a:ea typeface="华文楷体" panose="02010600040101010101" pitchFamily="2" charset="-122"/>
              </a:rPr>
              <a:t>-&gt;</a:t>
            </a:r>
            <a:r>
              <a:rPr lang="en-US" altLang="zh-CN" sz="1800" b="1" dirty="0" err="1">
                <a:solidFill>
                  <a:srgbClr val="000000"/>
                </a:solidFill>
                <a:latin typeface="Times New Roman" panose="02020603050405020304" pitchFamily="18" charset="0"/>
                <a:ea typeface="华文楷体" panose="02010600040101010101" pitchFamily="2" charset="-122"/>
              </a:rPr>
              <a:t>second.show</a:t>
            </a:r>
            <a:r>
              <a:rPr lang="en-US" altLang="zh-CN" sz="1800" b="1" dirty="0">
                <a:solidFill>
                  <a:srgbClr val="000000"/>
                </a:solidFill>
                <a:latin typeface="Times New Roman" panose="02020603050405020304" pitchFamily="18" charset="0"/>
                <a:ea typeface="华文楷体" panose="02010600040101010101" pitchFamily="2" charset="-122"/>
              </a:rPr>
              <a:t>();	}        }</a:t>
            </a:r>
            <a:endParaRPr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97285" name="标题 1"/>
          <p:cNvSpPr>
            <a:spLocks noGrp="1"/>
          </p:cNvSpPr>
          <p:nvPr>
            <p:ph type="title"/>
          </p:nvPr>
        </p:nvSpPr>
        <p:spPr>
          <a:xfrm>
            <a:off x="6900702" y="4509120"/>
            <a:ext cx="2214563" cy="566737"/>
          </a:xfrm>
          <a:solidFill>
            <a:schemeClr val="bg1"/>
          </a:solidFill>
        </p:spPr>
        <p:txBody>
          <a:bodyPr/>
          <a:lstStyle/>
          <a:p>
            <a:pPr eaLnBrk="1" hangingPunct="1"/>
            <a:r>
              <a:rPr lang="zh-CN" altLang="en-US" sz="2800" dirty="0"/>
              <a:t>例</a:t>
            </a:r>
            <a:r>
              <a:rPr lang="en-US" altLang="zh-CN" sz="2800" dirty="0"/>
              <a:t>10-22</a:t>
            </a:r>
            <a:r>
              <a:rPr lang="zh-CN" altLang="en-US" sz="2800" dirty="0"/>
              <a:t>（续）</a:t>
            </a:r>
            <a:endParaRPr lang="zh-CN" altLang="en-US" sz="2800" dirty="0"/>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306" name="内容占位符 2"/>
          <p:cNvSpPr>
            <a:spLocks noGrp="1"/>
          </p:cNvSpPr>
          <p:nvPr>
            <p:ph idx="1"/>
          </p:nvPr>
        </p:nvSpPr>
        <p:spPr>
          <a:xfrm>
            <a:off x="84818" y="44624"/>
            <a:ext cx="9001125" cy="6740307"/>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//10_24.cpp</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a:t>
            </a:r>
            <a:r>
              <a:rPr lang="en-US" altLang="zh-CN" sz="1800" b="1" dirty="0" err="1">
                <a:solidFill>
                  <a:srgbClr val="000000"/>
                </a:solidFill>
                <a:latin typeface="Times New Roman" panose="02020603050405020304" pitchFamily="18" charset="0"/>
                <a:ea typeface="华文楷体" panose="02010600040101010101" pitchFamily="2" charset="-122"/>
              </a:rPr>
              <a:t>account.h</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&lt;</a:t>
            </a:r>
            <a:r>
              <a:rPr lang="en-US" altLang="zh-CN" sz="1800" b="1" dirty="0" err="1">
                <a:solidFill>
                  <a:srgbClr val="000000"/>
                </a:solidFill>
                <a:latin typeface="Times New Roman" panose="02020603050405020304" pitchFamily="18" charset="0"/>
                <a:ea typeface="华文楷体" panose="02010600040101010101" pitchFamily="2" charset="-122"/>
              </a:rPr>
              <a:t>iostream</a:t>
            </a:r>
            <a:r>
              <a:rPr lang="en-US" altLang="zh-CN" sz="1800" b="1" dirty="0">
                <a:solidFill>
                  <a:srgbClr val="000000"/>
                </a:solidFill>
                <a:latin typeface="Times New Roman" panose="02020603050405020304" pitchFamily="18" charset="0"/>
                <a:ea typeface="华文楷体" panose="02010600040101010101" pitchFamily="2" charset="-122"/>
              </a:rPr>
              <a:t>&gt;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&lt;vector&gt;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#include &lt;algorithm&gt;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using namespace </a:t>
            </a:r>
            <a:r>
              <a:rPr lang="en-US" altLang="zh-CN" sz="1800" b="1" dirty="0" err="1">
                <a:solidFill>
                  <a:srgbClr val="000000"/>
                </a:solidFill>
                <a:latin typeface="Times New Roman" panose="02020603050405020304" pitchFamily="18" charset="0"/>
                <a:ea typeface="华文楷体" panose="02010600040101010101" pitchFamily="2" charset="-122"/>
              </a:rPr>
              <a:t>std</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err="1">
                <a:solidFill>
                  <a:srgbClr val="000000"/>
                </a:solidFill>
                <a:latin typeface="Times New Roman" panose="02020603050405020304" pitchFamily="18" charset="0"/>
                <a:ea typeface="华文楷体" panose="02010600040101010101" pitchFamily="2" charset="-122"/>
              </a:rPr>
              <a:t>struct</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deleter</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template &lt;class T&gt; void operator () (T* p) { delete p; }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main()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Date date(2008, 11, 1);	//</a:t>
            </a:r>
            <a:r>
              <a:rPr lang="zh-CN" altLang="en-US" sz="1800" b="1" dirty="0">
                <a:solidFill>
                  <a:srgbClr val="000000"/>
                </a:solidFill>
                <a:latin typeface="Times New Roman" panose="02020603050405020304" pitchFamily="18" charset="0"/>
                <a:ea typeface="华文楷体" panose="02010600040101010101" pitchFamily="2" charset="-122"/>
              </a:rPr>
              <a:t>起始日期</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a:solidFill>
                  <a:srgbClr val="000000"/>
                </a:solidFill>
                <a:latin typeface="Times New Roman" panose="02020603050405020304" pitchFamily="18" charset="0"/>
                <a:ea typeface="华文楷体" panose="02010600040101010101" pitchFamily="2" charset="-122"/>
              </a:rPr>
              <a:t>vector&lt;Account *&gt; accounts;	//</a:t>
            </a:r>
            <a:r>
              <a:rPr lang="zh-CN" altLang="en-US" sz="1800" b="1" dirty="0">
                <a:solidFill>
                  <a:srgbClr val="000000"/>
                </a:solidFill>
                <a:latin typeface="Times New Roman" panose="02020603050405020304" pitchFamily="18" charset="0"/>
                <a:ea typeface="华文楷体" panose="02010600040101010101" pitchFamily="2" charset="-122"/>
              </a:rPr>
              <a:t>创建账户数组，元素个数为</a:t>
            </a:r>
            <a:r>
              <a:rPr lang="en-US" altLang="zh-CN" sz="1800" b="1" dirty="0">
                <a:solidFill>
                  <a:srgbClr val="000000"/>
                </a:solidFill>
                <a:latin typeface="Times New Roman" panose="02020603050405020304" pitchFamily="18" charset="0"/>
                <a:ea typeface="华文楷体" panose="02010600040101010101" pitchFamily="2" charset="-122"/>
              </a:rPr>
              <a:t>0</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"(a)add account (d)deposit (w)withdraw (s)show (c)change day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(n)next month (q)query (e)exit" &lt;&lt; </a:t>
            </a:r>
            <a:r>
              <a:rPr lang="en-US" altLang="zh-CN" sz="1800" b="1" dirty="0" err="1">
                <a:solidFill>
                  <a:srgbClr val="000000"/>
                </a:solidFill>
                <a:latin typeface="Times New Roman" panose="02020603050405020304" pitchFamily="18" charset="0"/>
                <a:ea typeface="华文楷体" panose="02010600040101010101" pitchFamily="2" charset="-122"/>
              </a:rPr>
              <a:t>endl</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char </a:t>
            </a:r>
            <a:r>
              <a:rPr lang="en-US" altLang="zh-CN" sz="1800" b="1" dirty="0" err="1">
                <a:solidFill>
                  <a:srgbClr val="000000"/>
                </a:solidFill>
                <a:latin typeface="Times New Roman" panose="02020603050405020304" pitchFamily="18" charset="0"/>
                <a:ea typeface="华文楷体" panose="02010600040101010101" pitchFamily="2" charset="-122"/>
              </a:rPr>
              <a:t>cmd</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do {	//</a:t>
            </a:r>
            <a:r>
              <a:rPr lang="zh-CN" altLang="en-US" sz="1800" b="1" dirty="0">
                <a:solidFill>
                  <a:srgbClr val="000000"/>
                </a:solidFill>
                <a:latin typeface="Times New Roman" panose="02020603050405020304" pitchFamily="18" charset="0"/>
                <a:ea typeface="华文楷体" panose="02010600040101010101" pitchFamily="2" charset="-122"/>
              </a:rPr>
              <a:t>显示日期和总金额</a:t>
            </a:r>
            <a:endParaRPr lang="zh-CN" altLang="en-US"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date.show</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cout</a:t>
            </a: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tTotal</a:t>
            </a:r>
            <a:r>
              <a:rPr lang="en-US" altLang="zh-CN" sz="1800" b="1" dirty="0">
                <a:solidFill>
                  <a:srgbClr val="000000"/>
                </a:solidFill>
                <a:latin typeface="Times New Roman" panose="02020603050405020304" pitchFamily="18" charset="0"/>
                <a:ea typeface="华文楷体" panose="02010600040101010101" pitchFamily="2" charset="-122"/>
              </a:rPr>
              <a:t>: " &lt;&lt; Account::</a:t>
            </a:r>
            <a:r>
              <a:rPr lang="en-US" altLang="zh-CN" sz="1800" b="1" dirty="0" err="1">
                <a:solidFill>
                  <a:srgbClr val="000000"/>
                </a:solidFill>
                <a:latin typeface="Times New Roman" panose="02020603050405020304" pitchFamily="18" charset="0"/>
                <a:ea typeface="华文楷体" panose="02010600040101010101" pitchFamily="2" charset="-122"/>
              </a:rPr>
              <a:t>getTotal</a:t>
            </a:r>
            <a:r>
              <a:rPr lang="en-US" altLang="zh-CN" sz="1800" b="1" dirty="0">
                <a:solidFill>
                  <a:srgbClr val="000000"/>
                </a:solidFill>
                <a:latin typeface="Times New Roman" panose="02020603050405020304" pitchFamily="18" charset="0"/>
                <a:ea typeface="华文楷体" panose="02010600040101010101" pitchFamily="2" charset="-122"/>
              </a:rPr>
              <a:t>() &lt;&lt; "\</a:t>
            </a:r>
            <a:r>
              <a:rPr lang="en-US" altLang="zh-CN" sz="1800" b="1" dirty="0" err="1">
                <a:solidFill>
                  <a:srgbClr val="000000"/>
                </a:solidFill>
                <a:latin typeface="Times New Roman" panose="02020603050405020304" pitchFamily="18" charset="0"/>
                <a:ea typeface="华文楷体" panose="02010600040101010101" pitchFamily="2" charset="-122"/>
              </a:rPr>
              <a:t>tcommand</a:t>
            </a:r>
            <a:r>
              <a:rPr lang="en-US" altLang="zh-CN" sz="1800" b="1" dirty="0">
                <a:solidFill>
                  <a:srgbClr val="000000"/>
                </a:solidFill>
                <a:latin typeface="Times New Roman" panose="02020603050405020304" pitchFamily="18" charset="0"/>
                <a:ea typeface="华文楷体" panose="02010600040101010101" pitchFamily="2" charset="-122"/>
              </a:rPr>
              <a:t>&gt;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char type;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index, day;</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double amount, credit, rate, fee;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string id, </a:t>
            </a:r>
            <a:r>
              <a:rPr lang="en-US" altLang="zh-CN" sz="1800" b="1" dirty="0" err="1">
                <a:solidFill>
                  <a:srgbClr val="000000"/>
                </a:solidFill>
                <a:latin typeface="Times New Roman" panose="02020603050405020304" pitchFamily="18" charset="0"/>
                <a:ea typeface="华文楷体" panose="02010600040101010101" pitchFamily="2" charset="-122"/>
              </a:rPr>
              <a:t>desc</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Account* account;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Date date1, date2;</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cin</a:t>
            </a:r>
            <a:r>
              <a:rPr lang="en-US" altLang="zh-CN" sz="1800" b="1" dirty="0">
                <a:solidFill>
                  <a:srgbClr val="000000"/>
                </a:solidFill>
                <a:latin typeface="Times New Roman" panose="02020603050405020304" pitchFamily="18" charset="0"/>
                <a:ea typeface="华文楷体" panose="02010600040101010101" pitchFamily="2" charset="-122"/>
              </a:rPr>
              <a:t> &gt;&gt; </a:t>
            </a:r>
            <a:r>
              <a:rPr lang="en-US" altLang="zh-CN" sz="1800" b="1" dirty="0" err="1">
                <a:solidFill>
                  <a:srgbClr val="000000"/>
                </a:solidFill>
                <a:latin typeface="Times New Roman" panose="02020603050405020304" pitchFamily="18" charset="0"/>
                <a:ea typeface="华文楷体" panose="02010600040101010101" pitchFamily="2" charset="-122"/>
              </a:rPr>
              <a:t>cmd</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98309" name="标题 1"/>
          <p:cNvSpPr>
            <a:spLocks noGrp="1"/>
          </p:cNvSpPr>
          <p:nvPr>
            <p:ph type="title"/>
          </p:nvPr>
        </p:nvSpPr>
        <p:spPr>
          <a:xfrm>
            <a:off x="6929437" y="260648"/>
            <a:ext cx="2214563" cy="566737"/>
          </a:xfrm>
          <a:solidFill>
            <a:schemeClr val="bg1"/>
          </a:solidFill>
        </p:spPr>
        <p:txBody>
          <a:bodyPr/>
          <a:lstStyle/>
          <a:p>
            <a:pPr eaLnBrk="1" hangingPunct="1"/>
            <a:r>
              <a:rPr lang="zh-CN" altLang="en-US" sz="2800" dirty="0"/>
              <a:t>例</a:t>
            </a:r>
            <a:r>
              <a:rPr lang="en-US" altLang="zh-CN" sz="2800" dirty="0"/>
              <a:t>10-22</a:t>
            </a:r>
            <a:r>
              <a:rPr lang="zh-CN" altLang="en-US" sz="2800" dirty="0"/>
              <a:t>（续）</a:t>
            </a:r>
            <a:endParaRPr lang="zh-CN" altLang="en-US" sz="2800" dirty="0"/>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9330" name="内容占位符 2"/>
          <p:cNvSpPr>
            <a:spLocks noGrp="1"/>
          </p:cNvSpPr>
          <p:nvPr>
            <p:ph idx="1"/>
          </p:nvPr>
        </p:nvSpPr>
        <p:spPr>
          <a:xfrm>
            <a:off x="134265" y="44624"/>
            <a:ext cx="9001125" cy="6740307"/>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switch (</a:t>
            </a:r>
            <a:r>
              <a:rPr lang="en-US" altLang="zh-CN" sz="1600" b="1" dirty="0" err="1">
                <a:solidFill>
                  <a:srgbClr val="000000"/>
                </a:solidFill>
                <a:latin typeface="Times New Roman" panose="02020603050405020304" pitchFamily="18" charset="0"/>
                <a:ea typeface="华文楷体" panose="02010600040101010101" pitchFamily="2" charset="-122"/>
              </a:rPr>
              <a:t>cmd</a:t>
            </a:r>
            <a:r>
              <a:rPr lang="en-US" altLang="zh-CN" sz="1600" b="1" dirty="0">
                <a:solidFill>
                  <a:srgbClr val="000000"/>
                </a:solidFill>
                <a:latin typeface="Times New Roman" panose="02020603050405020304" pitchFamily="18" charset="0"/>
                <a:ea typeface="华文楷体" panose="02010600040101010101" pitchFamily="2" charset="-122"/>
              </a:rPr>
              <a:t>) {</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case 'a':	//</a:t>
            </a:r>
            <a:r>
              <a:rPr lang="zh-CN" altLang="en-US" sz="1600" b="1" dirty="0">
                <a:solidFill>
                  <a:srgbClr val="000000"/>
                </a:solidFill>
                <a:latin typeface="Times New Roman" panose="02020603050405020304" pitchFamily="18" charset="0"/>
                <a:ea typeface="华文楷体" panose="02010600040101010101" pitchFamily="2" charset="-122"/>
              </a:rPr>
              <a:t>增加账户</a:t>
            </a:r>
            <a:endParaRPr lang="zh-CN" altLang="en-US"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cin</a:t>
            </a:r>
            <a:r>
              <a:rPr lang="en-US" altLang="zh-CN" sz="1600" b="1" dirty="0">
                <a:solidFill>
                  <a:srgbClr val="000000"/>
                </a:solidFill>
                <a:latin typeface="Times New Roman" panose="02020603050405020304" pitchFamily="18" charset="0"/>
                <a:ea typeface="华文楷体" panose="02010600040101010101" pitchFamily="2" charset="-122"/>
              </a:rPr>
              <a:t> &gt;&gt; type &gt;&gt; id;</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if (type == 's') {</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cin</a:t>
            </a:r>
            <a:r>
              <a:rPr lang="en-US" altLang="zh-CN" sz="1600" b="1" dirty="0">
                <a:solidFill>
                  <a:srgbClr val="000000"/>
                </a:solidFill>
                <a:latin typeface="Times New Roman" panose="02020603050405020304" pitchFamily="18" charset="0"/>
                <a:ea typeface="华文楷体" panose="02010600040101010101" pitchFamily="2" charset="-122"/>
              </a:rPr>
              <a:t> &gt;&gt; rate;</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account = new </a:t>
            </a:r>
            <a:r>
              <a:rPr lang="en-US" altLang="zh-CN" sz="1600" b="1" dirty="0" err="1">
                <a:solidFill>
                  <a:srgbClr val="000000"/>
                </a:solidFill>
                <a:latin typeface="Times New Roman" panose="02020603050405020304" pitchFamily="18" charset="0"/>
                <a:ea typeface="华文楷体" panose="02010600040101010101" pitchFamily="2" charset="-122"/>
              </a:rPr>
              <a:t>SavingsAccount</a:t>
            </a:r>
            <a:r>
              <a:rPr lang="en-US" altLang="zh-CN" sz="1600" b="1" dirty="0">
                <a:solidFill>
                  <a:srgbClr val="000000"/>
                </a:solidFill>
                <a:latin typeface="Times New Roman" panose="02020603050405020304" pitchFamily="18" charset="0"/>
                <a:ea typeface="华文楷体" panose="02010600040101010101" pitchFamily="2" charset="-122"/>
              </a:rPr>
              <a:t>(date, id, rate);</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 else {</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cin</a:t>
            </a:r>
            <a:r>
              <a:rPr lang="en-US" altLang="zh-CN" sz="1600" b="1" dirty="0">
                <a:solidFill>
                  <a:srgbClr val="000000"/>
                </a:solidFill>
                <a:latin typeface="Times New Roman" panose="02020603050405020304" pitchFamily="18" charset="0"/>
                <a:ea typeface="华文楷体" panose="02010600040101010101" pitchFamily="2" charset="-122"/>
              </a:rPr>
              <a:t> &gt;&gt; credit &gt;&gt; rate &gt;&gt; fee;</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account = new </a:t>
            </a:r>
            <a:r>
              <a:rPr lang="en-US" altLang="zh-CN" sz="1600" b="1" dirty="0" err="1">
                <a:solidFill>
                  <a:srgbClr val="000000"/>
                </a:solidFill>
                <a:latin typeface="Times New Roman" panose="02020603050405020304" pitchFamily="18" charset="0"/>
                <a:ea typeface="华文楷体" panose="02010600040101010101" pitchFamily="2" charset="-122"/>
              </a:rPr>
              <a:t>CreditAccount</a:t>
            </a:r>
            <a:r>
              <a:rPr lang="en-US" altLang="zh-CN" sz="1600" b="1" dirty="0">
                <a:solidFill>
                  <a:srgbClr val="000000"/>
                </a:solidFill>
                <a:latin typeface="Times New Roman" panose="02020603050405020304" pitchFamily="18" charset="0"/>
                <a:ea typeface="华文楷体" panose="02010600040101010101" pitchFamily="2" charset="-122"/>
              </a:rPr>
              <a:t>(date, id, credit, rate, fee);}</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accounts.push_back</a:t>
            </a:r>
            <a:r>
              <a:rPr lang="en-US" altLang="zh-CN" sz="1600" b="1" dirty="0">
                <a:solidFill>
                  <a:srgbClr val="000000"/>
                </a:solidFill>
                <a:latin typeface="Times New Roman" panose="02020603050405020304" pitchFamily="18" charset="0"/>
                <a:ea typeface="华文楷体" panose="02010600040101010101" pitchFamily="2" charset="-122"/>
              </a:rPr>
              <a:t>(account);</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break;</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case 'd':	//</a:t>
            </a:r>
            <a:r>
              <a:rPr lang="zh-CN" altLang="en-US" sz="1600" b="1" dirty="0">
                <a:solidFill>
                  <a:srgbClr val="000000"/>
                </a:solidFill>
                <a:latin typeface="Times New Roman" panose="02020603050405020304" pitchFamily="18" charset="0"/>
                <a:ea typeface="华文楷体" panose="02010600040101010101" pitchFamily="2" charset="-122"/>
              </a:rPr>
              <a:t>存入现金</a:t>
            </a:r>
            <a:endParaRPr lang="zh-CN" altLang="en-US"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cin</a:t>
            </a:r>
            <a:r>
              <a:rPr lang="en-US" altLang="zh-CN" sz="1600" b="1" dirty="0">
                <a:solidFill>
                  <a:srgbClr val="000000"/>
                </a:solidFill>
                <a:latin typeface="Times New Roman" panose="02020603050405020304" pitchFamily="18" charset="0"/>
                <a:ea typeface="华文楷体" panose="02010600040101010101" pitchFamily="2" charset="-122"/>
              </a:rPr>
              <a:t> &gt;&gt; index &gt;&gt; amount;</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getline</a:t>
            </a:r>
            <a:r>
              <a:rPr lang="en-US" altLang="zh-CN" sz="1600" b="1" dirty="0">
                <a:solidFill>
                  <a:srgbClr val="000000"/>
                </a:solidFill>
                <a:latin typeface="Times New Roman" panose="02020603050405020304" pitchFamily="18" charset="0"/>
                <a:ea typeface="华文楷体" panose="02010600040101010101" pitchFamily="2" charset="-122"/>
              </a:rPr>
              <a:t>(</a:t>
            </a:r>
            <a:r>
              <a:rPr lang="en-US" altLang="zh-CN" sz="1600" b="1" dirty="0" err="1">
                <a:solidFill>
                  <a:srgbClr val="000000"/>
                </a:solidFill>
                <a:latin typeface="Times New Roman" panose="02020603050405020304" pitchFamily="18" charset="0"/>
                <a:ea typeface="华文楷体" panose="02010600040101010101" pitchFamily="2" charset="-122"/>
              </a:rPr>
              <a:t>cin</a:t>
            </a: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desc</a:t>
            </a:r>
            <a:r>
              <a:rPr lang="en-US" altLang="zh-CN" sz="1600" b="1" dirty="0">
                <a:solidFill>
                  <a:srgbClr val="000000"/>
                </a:solidFill>
                <a:latin typeface="Times New Roman" panose="02020603050405020304" pitchFamily="18" charset="0"/>
                <a:ea typeface="华文楷体" panose="02010600040101010101" pitchFamily="2" charset="-122"/>
              </a:rPr>
              <a:t>);</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accounts[index]-&gt;deposit(date, amount, </a:t>
            </a:r>
            <a:r>
              <a:rPr lang="en-US" altLang="zh-CN" sz="1600" b="1" dirty="0" err="1">
                <a:solidFill>
                  <a:srgbClr val="000000"/>
                </a:solidFill>
                <a:latin typeface="Times New Roman" panose="02020603050405020304" pitchFamily="18" charset="0"/>
                <a:ea typeface="华文楷体" panose="02010600040101010101" pitchFamily="2" charset="-122"/>
              </a:rPr>
              <a:t>desc</a:t>
            </a:r>
            <a:r>
              <a:rPr lang="en-US" altLang="zh-CN" sz="1600" b="1" dirty="0">
                <a:solidFill>
                  <a:srgbClr val="000000"/>
                </a:solidFill>
                <a:latin typeface="Times New Roman" panose="02020603050405020304" pitchFamily="18" charset="0"/>
                <a:ea typeface="华文楷体" panose="02010600040101010101" pitchFamily="2" charset="-122"/>
              </a:rPr>
              <a:t>);</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break;</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case 'w':	//</a:t>
            </a:r>
            <a:r>
              <a:rPr lang="zh-CN" altLang="en-US" sz="1600" b="1" dirty="0">
                <a:solidFill>
                  <a:srgbClr val="000000"/>
                </a:solidFill>
                <a:latin typeface="Times New Roman" panose="02020603050405020304" pitchFamily="18" charset="0"/>
                <a:ea typeface="华文楷体" panose="02010600040101010101" pitchFamily="2" charset="-122"/>
              </a:rPr>
              <a:t>取出现金</a:t>
            </a:r>
            <a:endParaRPr lang="zh-CN" altLang="en-US"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cin</a:t>
            </a:r>
            <a:r>
              <a:rPr lang="en-US" altLang="zh-CN" sz="1600" b="1" dirty="0">
                <a:solidFill>
                  <a:srgbClr val="000000"/>
                </a:solidFill>
                <a:latin typeface="Times New Roman" panose="02020603050405020304" pitchFamily="18" charset="0"/>
                <a:ea typeface="华文楷体" panose="02010600040101010101" pitchFamily="2" charset="-122"/>
              </a:rPr>
              <a:t> &gt;&gt; index &gt;&gt; amount;</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getline</a:t>
            </a:r>
            <a:r>
              <a:rPr lang="en-US" altLang="zh-CN" sz="1600" b="1" dirty="0">
                <a:solidFill>
                  <a:srgbClr val="000000"/>
                </a:solidFill>
                <a:latin typeface="Times New Roman" panose="02020603050405020304" pitchFamily="18" charset="0"/>
                <a:ea typeface="华文楷体" panose="02010600040101010101" pitchFamily="2" charset="-122"/>
              </a:rPr>
              <a:t>(</a:t>
            </a:r>
            <a:r>
              <a:rPr lang="en-US" altLang="zh-CN" sz="1600" b="1" dirty="0" err="1">
                <a:solidFill>
                  <a:srgbClr val="000000"/>
                </a:solidFill>
                <a:latin typeface="Times New Roman" panose="02020603050405020304" pitchFamily="18" charset="0"/>
                <a:ea typeface="华文楷体" panose="02010600040101010101" pitchFamily="2" charset="-122"/>
              </a:rPr>
              <a:t>cin</a:t>
            </a: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desc</a:t>
            </a:r>
            <a:r>
              <a:rPr lang="en-US" altLang="zh-CN" sz="1600" b="1" dirty="0">
                <a:solidFill>
                  <a:srgbClr val="000000"/>
                </a:solidFill>
                <a:latin typeface="Times New Roman" panose="02020603050405020304" pitchFamily="18" charset="0"/>
                <a:ea typeface="华文楷体" panose="02010600040101010101" pitchFamily="2" charset="-122"/>
              </a:rPr>
              <a:t>);</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accounts[index]-&gt;withdraw(date, amount, </a:t>
            </a:r>
            <a:r>
              <a:rPr lang="en-US" altLang="zh-CN" sz="1600" b="1" dirty="0" err="1">
                <a:solidFill>
                  <a:srgbClr val="000000"/>
                </a:solidFill>
                <a:latin typeface="Times New Roman" panose="02020603050405020304" pitchFamily="18" charset="0"/>
                <a:ea typeface="华文楷体" panose="02010600040101010101" pitchFamily="2" charset="-122"/>
              </a:rPr>
              <a:t>desc</a:t>
            </a:r>
            <a:r>
              <a:rPr lang="en-US" altLang="zh-CN" sz="1600" b="1" dirty="0">
                <a:solidFill>
                  <a:srgbClr val="000000"/>
                </a:solidFill>
                <a:latin typeface="Times New Roman" panose="02020603050405020304" pitchFamily="18" charset="0"/>
                <a:ea typeface="华文楷体" panose="02010600040101010101" pitchFamily="2" charset="-122"/>
              </a:rPr>
              <a:t>);</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break;</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case 's':	//</a:t>
            </a:r>
            <a:r>
              <a:rPr lang="zh-CN" altLang="en-US" sz="1600" b="1" dirty="0">
                <a:solidFill>
                  <a:srgbClr val="000000"/>
                </a:solidFill>
                <a:latin typeface="Times New Roman" panose="02020603050405020304" pitchFamily="18" charset="0"/>
                <a:ea typeface="华文楷体" panose="02010600040101010101" pitchFamily="2" charset="-122"/>
              </a:rPr>
              <a:t>查询各账户信息</a:t>
            </a:r>
            <a:endParaRPr lang="zh-CN" altLang="en-US"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600" b="1" dirty="0">
                <a:solidFill>
                  <a:srgbClr val="000000"/>
                </a:solidFill>
                <a:latin typeface="Times New Roman" panose="02020603050405020304" pitchFamily="18" charset="0"/>
                <a:ea typeface="华文楷体" panose="02010600040101010101" pitchFamily="2" charset="-122"/>
              </a:rPr>
              <a:t>			</a:t>
            </a:r>
            <a:r>
              <a:rPr lang="en-US" altLang="zh-CN" sz="1600" b="1" dirty="0">
                <a:solidFill>
                  <a:srgbClr val="000000"/>
                </a:solidFill>
                <a:latin typeface="Times New Roman" panose="02020603050405020304" pitchFamily="18" charset="0"/>
                <a:ea typeface="华文楷体" panose="02010600040101010101" pitchFamily="2" charset="-122"/>
              </a:rPr>
              <a:t>for (</a:t>
            </a:r>
            <a:r>
              <a:rPr lang="en-US" altLang="zh-CN" sz="1600" b="1" dirty="0" err="1">
                <a:solidFill>
                  <a:srgbClr val="000000"/>
                </a:solidFill>
                <a:latin typeface="Times New Roman" panose="02020603050405020304" pitchFamily="18" charset="0"/>
                <a:ea typeface="华文楷体" panose="02010600040101010101" pitchFamily="2" charset="-122"/>
              </a:rPr>
              <a:t>size_t</a:t>
            </a: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i</a:t>
            </a:r>
            <a:r>
              <a:rPr lang="en-US" altLang="zh-CN" sz="1600" b="1" dirty="0">
                <a:solidFill>
                  <a:srgbClr val="000000"/>
                </a:solidFill>
                <a:latin typeface="Times New Roman" panose="02020603050405020304" pitchFamily="18" charset="0"/>
                <a:ea typeface="华文楷体" panose="02010600040101010101" pitchFamily="2" charset="-122"/>
              </a:rPr>
              <a:t> = 0; </a:t>
            </a:r>
            <a:r>
              <a:rPr lang="en-US" altLang="zh-CN" sz="1600" b="1" dirty="0" err="1">
                <a:solidFill>
                  <a:srgbClr val="000000"/>
                </a:solidFill>
                <a:latin typeface="Times New Roman" panose="02020603050405020304" pitchFamily="18" charset="0"/>
                <a:ea typeface="华文楷体" panose="02010600040101010101" pitchFamily="2" charset="-122"/>
              </a:rPr>
              <a:t>i</a:t>
            </a:r>
            <a:r>
              <a:rPr lang="en-US" altLang="zh-CN" sz="1600" b="1" dirty="0">
                <a:solidFill>
                  <a:srgbClr val="000000"/>
                </a:solidFill>
                <a:latin typeface="Times New Roman" panose="02020603050405020304" pitchFamily="18" charset="0"/>
                <a:ea typeface="华文楷体" panose="02010600040101010101" pitchFamily="2" charset="-122"/>
              </a:rPr>
              <a:t> &lt; </a:t>
            </a:r>
            <a:r>
              <a:rPr lang="en-US" altLang="zh-CN" sz="1600" b="1" dirty="0" err="1">
                <a:solidFill>
                  <a:srgbClr val="000000"/>
                </a:solidFill>
                <a:latin typeface="Times New Roman" panose="02020603050405020304" pitchFamily="18" charset="0"/>
                <a:ea typeface="华文楷体" panose="02010600040101010101" pitchFamily="2" charset="-122"/>
              </a:rPr>
              <a:t>accounts.size</a:t>
            </a: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i</a:t>
            </a:r>
            <a:r>
              <a:rPr lang="en-US" altLang="zh-CN" sz="1600" b="1" dirty="0">
                <a:solidFill>
                  <a:srgbClr val="000000"/>
                </a:solidFill>
                <a:latin typeface="Times New Roman" panose="02020603050405020304" pitchFamily="18" charset="0"/>
                <a:ea typeface="华文楷体" panose="02010600040101010101" pitchFamily="2" charset="-122"/>
              </a:rPr>
              <a:t>++) {</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cout</a:t>
            </a:r>
            <a:r>
              <a:rPr lang="en-US" altLang="zh-CN" sz="1600" b="1" dirty="0">
                <a:solidFill>
                  <a:srgbClr val="000000"/>
                </a:solidFill>
                <a:latin typeface="Times New Roman" panose="02020603050405020304" pitchFamily="18" charset="0"/>
                <a:ea typeface="华文楷体" panose="02010600040101010101" pitchFamily="2" charset="-122"/>
              </a:rPr>
              <a:t> &lt;&lt; "[" &lt;&lt; </a:t>
            </a:r>
            <a:r>
              <a:rPr lang="en-US" altLang="zh-CN" sz="1600" b="1" dirty="0" err="1">
                <a:solidFill>
                  <a:srgbClr val="000000"/>
                </a:solidFill>
                <a:latin typeface="Times New Roman" panose="02020603050405020304" pitchFamily="18" charset="0"/>
                <a:ea typeface="华文楷体" panose="02010600040101010101" pitchFamily="2" charset="-122"/>
              </a:rPr>
              <a:t>i</a:t>
            </a:r>
            <a:r>
              <a:rPr lang="en-US" altLang="zh-CN" sz="1600" b="1" dirty="0">
                <a:solidFill>
                  <a:srgbClr val="000000"/>
                </a:solidFill>
                <a:latin typeface="Times New Roman" panose="02020603050405020304" pitchFamily="18" charset="0"/>
                <a:ea typeface="华文楷体" panose="02010600040101010101" pitchFamily="2" charset="-122"/>
              </a:rPr>
              <a:t> &lt;&lt; "] ";</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accounts[</a:t>
            </a:r>
            <a:r>
              <a:rPr lang="en-US" altLang="zh-CN" sz="1600" b="1" dirty="0" err="1">
                <a:solidFill>
                  <a:srgbClr val="000000"/>
                </a:solidFill>
                <a:latin typeface="Times New Roman" panose="02020603050405020304" pitchFamily="18" charset="0"/>
                <a:ea typeface="华文楷体" panose="02010600040101010101" pitchFamily="2" charset="-122"/>
              </a:rPr>
              <a:t>i</a:t>
            </a:r>
            <a:r>
              <a:rPr lang="en-US" altLang="zh-CN" sz="1600" b="1" dirty="0">
                <a:solidFill>
                  <a:srgbClr val="000000"/>
                </a:solidFill>
                <a:latin typeface="Times New Roman" panose="02020603050405020304" pitchFamily="18" charset="0"/>
                <a:ea typeface="华文楷体" panose="02010600040101010101" pitchFamily="2" charset="-122"/>
              </a:rPr>
              <a:t>]-&gt;show();</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cout</a:t>
            </a:r>
            <a:r>
              <a:rPr lang="en-US" altLang="zh-CN" sz="1600" b="1" dirty="0">
                <a:solidFill>
                  <a:srgbClr val="000000"/>
                </a:solidFill>
                <a:latin typeface="Times New Roman" panose="02020603050405020304" pitchFamily="18" charset="0"/>
                <a:ea typeface="华文楷体" panose="02010600040101010101" pitchFamily="2" charset="-122"/>
              </a:rPr>
              <a:t> &lt;&lt; </a:t>
            </a:r>
            <a:r>
              <a:rPr lang="en-US" altLang="zh-CN" sz="1600" b="1" dirty="0" err="1">
                <a:solidFill>
                  <a:srgbClr val="000000"/>
                </a:solidFill>
                <a:latin typeface="Times New Roman" panose="02020603050405020304" pitchFamily="18" charset="0"/>
                <a:ea typeface="华文楷体" panose="02010600040101010101" pitchFamily="2" charset="-122"/>
              </a:rPr>
              <a:t>endl</a:t>
            </a:r>
            <a:r>
              <a:rPr lang="en-US" altLang="zh-CN" sz="1600" b="1" dirty="0">
                <a:solidFill>
                  <a:srgbClr val="000000"/>
                </a:solidFill>
                <a:latin typeface="Times New Roman" panose="02020603050405020304" pitchFamily="18" charset="0"/>
                <a:ea typeface="华文楷体" panose="02010600040101010101" pitchFamily="2" charset="-122"/>
              </a:rPr>
              <a:t>;             }</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break;</a:t>
            </a:r>
            <a:endParaRPr lang="en-US" altLang="zh-CN" sz="1600" b="1" dirty="0">
              <a:solidFill>
                <a:srgbClr val="000000"/>
              </a:solidFill>
              <a:latin typeface="Times New Roman" panose="02020603050405020304" pitchFamily="18" charset="0"/>
              <a:ea typeface="华文楷体" panose="02010600040101010101" pitchFamily="2" charset="-122"/>
            </a:endParaRPr>
          </a:p>
        </p:txBody>
      </p:sp>
      <p:sp>
        <p:nvSpPr>
          <p:cNvPr id="99333" name="标题 1"/>
          <p:cNvSpPr>
            <a:spLocks noGrp="1"/>
          </p:cNvSpPr>
          <p:nvPr>
            <p:ph type="title"/>
          </p:nvPr>
        </p:nvSpPr>
        <p:spPr>
          <a:xfrm>
            <a:off x="6858000" y="6072188"/>
            <a:ext cx="2214563" cy="566737"/>
          </a:xfrm>
          <a:solidFill>
            <a:schemeClr val="bg1"/>
          </a:solidFill>
        </p:spPr>
        <p:txBody>
          <a:bodyPr/>
          <a:lstStyle/>
          <a:p>
            <a:pPr eaLnBrk="1" hangingPunct="1"/>
            <a:r>
              <a:rPr lang="zh-CN" altLang="en-US" sz="2800" dirty="0"/>
              <a:t>例</a:t>
            </a:r>
            <a:r>
              <a:rPr lang="en-US" altLang="zh-CN" sz="2800" dirty="0"/>
              <a:t>10-22</a:t>
            </a:r>
            <a:r>
              <a:rPr lang="zh-CN" altLang="en-US" sz="2800" dirty="0"/>
              <a:t>（续）</a:t>
            </a:r>
            <a:endParaRPr lang="zh-CN" altLang="en-US" sz="2800" dirty="0"/>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0354" name="内容占位符 2"/>
          <p:cNvSpPr>
            <a:spLocks noGrp="1"/>
          </p:cNvSpPr>
          <p:nvPr>
            <p:ph idx="1"/>
          </p:nvPr>
        </p:nvSpPr>
        <p:spPr>
          <a:xfrm>
            <a:off x="142875" y="44624"/>
            <a:ext cx="9001125" cy="6494085"/>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case 'c':	//</a:t>
            </a:r>
            <a:r>
              <a:rPr lang="zh-CN" altLang="en-US" sz="1600" b="1" dirty="0">
                <a:solidFill>
                  <a:srgbClr val="000000"/>
                </a:solidFill>
                <a:latin typeface="Times New Roman" panose="02020603050405020304" pitchFamily="18" charset="0"/>
                <a:ea typeface="华文楷体" panose="02010600040101010101" pitchFamily="2" charset="-122"/>
              </a:rPr>
              <a:t>改变日期</a:t>
            </a:r>
            <a:endParaRPr lang="zh-CN" altLang="en-US"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cin</a:t>
            </a:r>
            <a:r>
              <a:rPr lang="en-US" altLang="zh-CN" sz="1600" b="1" dirty="0">
                <a:solidFill>
                  <a:srgbClr val="000000"/>
                </a:solidFill>
                <a:latin typeface="Times New Roman" panose="02020603050405020304" pitchFamily="18" charset="0"/>
                <a:ea typeface="华文楷体" panose="02010600040101010101" pitchFamily="2" charset="-122"/>
              </a:rPr>
              <a:t> &gt;&gt; day;</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if (day &lt; </a:t>
            </a:r>
            <a:r>
              <a:rPr lang="en-US" altLang="zh-CN" sz="1600" b="1" dirty="0" err="1">
                <a:solidFill>
                  <a:srgbClr val="000000"/>
                </a:solidFill>
                <a:latin typeface="Times New Roman" panose="02020603050405020304" pitchFamily="18" charset="0"/>
                <a:ea typeface="华文楷体" panose="02010600040101010101" pitchFamily="2" charset="-122"/>
              </a:rPr>
              <a:t>date.getDay</a:t>
            </a:r>
            <a:r>
              <a:rPr lang="en-US" altLang="zh-CN" sz="1600" b="1" dirty="0">
                <a:solidFill>
                  <a:srgbClr val="000000"/>
                </a:solidFill>
                <a:latin typeface="Times New Roman" panose="02020603050405020304" pitchFamily="18" charset="0"/>
                <a:ea typeface="华文楷体" panose="02010600040101010101" pitchFamily="2" charset="-122"/>
              </a:rPr>
              <a:t>())</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cout</a:t>
            </a:r>
            <a:r>
              <a:rPr lang="en-US" altLang="zh-CN" sz="1600" b="1" dirty="0">
                <a:solidFill>
                  <a:srgbClr val="000000"/>
                </a:solidFill>
                <a:latin typeface="Times New Roman" panose="02020603050405020304" pitchFamily="18" charset="0"/>
                <a:ea typeface="华文楷体" panose="02010600040101010101" pitchFamily="2" charset="-122"/>
              </a:rPr>
              <a:t> &lt;&lt; "You cannot specify a previous day";</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else if (day &gt; </a:t>
            </a:r>
            <a:r>
              <a:rPr lang="en-US" altLang="zh-CN" sz="1600" b="1" dirty="0" err="1">
                <a:solidFill>
                  <a:srgbClr val="000000"/>
                </a:solidFill>
                <a:latin typeface="Times New Roman" panose="02020603050405020304" pitchFamily="18" charset="0"/>
                <a:ea typeface="华文楷体" panose="02010600040101010101" pitchFamily="2" charset="-122"/>
              </a:rPr>
              <a:t>date.getMaxDay</a:t>
            </a:r>
            <a:r>
              <a:rPr lang="en-US" altLang="zh-CN" sz="1600" b="1" dirty="0">
                <a:solidFill>
                  <a:srgbClr val="000000"/>
                </a:solidFill>
                <a:latin typeface="Times New Roman" panose="02020603050405020304" pitchFamily="18" charset="0"/>
                <a:ea typeface="华文楷体" panose="02010600040101010101" pitchFamily="2" charset="-122"/>
              </a:rPr>
              <a:t>())</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cout</a:t>
            </a:r>
            <a:r>
              <a:rPr lang="en-US" altLang="zh-CN" sz="1600" b="1" dirty="0">
                <a:solidFill>
                  <a:srgbClr val="000000"/>
                </a:solidFill>
                <a:latin typeface="Times New Roman" panose="02020603050405020304" pitchFamily="18" charset="0"/>
                <a:ea typeface="华文楷体" panose="02010600040101010101" pitchFamily="2" charset="-122"/>
              </a:rPr>
              <a:t> &lt;&lt; "Invalid day";</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else	date = Date(</a:t>
            </a:r>
            <a:r>
              <a:rPr lang="en-US" altLang="zh-CN" sz="1600" b="1" dirty="0" err="1">
                <a:solidFill>
                  <a:srgbClr val="000000"/>
                </a:solidFill>
                <a:latin typeface="Times New Roman" panose="02020603050405020304" pitchFamily="18" charset="0"/>
                <a:ea typeface="华文楷体" panose="02010600040101010101" pitchFamily="2" charset="-122"/>
              </a:rPr>
              <a:t>date.getYear</a:t>
            </a: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date.getMonth</a:t>
            </a:r>
            <a:r>
              <a:rPr lang="en-US" altLang="zh-CN" sz="1600" b="1" dirty="0">
                <a:solidFill>
                  <a:srgbClr val="000000"/>
                </a:solidFill>
                <a:latin typeface="Times New Roman" panose="02020603050405020304" pitchFamily="18" charset="0"/>
                <a:ea typeface="华文楷体" panose="02010600040101010101" pitchFamily="2" charset="-122"/>
              </a:rPr>
              <a:t>(), day);</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break;</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case 'n':	//</a:t>
            </a:r>
            <a:r>
              <a:rPr lang="zh-CN" altLang="en-US" sz="1600" b="1" dirty="0">
                <a:solidFill>
                  <a:srgbClr val="000000"/>
                </a:solidFill>
                <a:latin typeface="Times New Roman" panose="02020603050405020304" pitchFamily="18" charset="0"/>
                <a:ea typeface="华文楷体" panose="02010600040101010101" pitchFamily="2" charset="-122"/>
              </a:rPr>
              <a:t>进入下个月</a:t>
            </a:r>
            <a:endParaRPr lang="zh-CN" altLang="en-US"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600" b="1" dirty="0">
                <a:solidFill>
                  <a:srgbClr val="000000"/>
                </a:solidFill>
                <a:latin typeface="Times New Roman" panose="02020603050405020304" pitchFamily="18" charset="0"/>
                <a:ea typeface="华文楷体" panose="02010600040101010101" pitchFamily="2" charset="-122"/>
              </a:rPr>
              <a:t>			</a:t>
            </a:r>
            <a:r>
              <a:rPr lang="en-US" altLang="zh-CN" sz="1600" b="1" dirty="0">
                <a:solidFill>
                  <a:srgbClr val="000000"/>
                </a:solidFill>
                <a:latin typeface="Times New Roman" panose="02020603050405020304" pitchFamily="18" charset="0"/>
                <a:ea typeface="华文楷体" panose="02010600040101010101" pitchFamily="2" charset="-122"/>
              </a:rPr>
              <a:t>if (</a:t>
            </a:r>
            <a:r>
              <a:rPr lang="en-US" altLang="zh-CN" sz="1600" b="1" dirty="0" err="1">
                <a:solidFill>
                  <a:srgbClr val="000000"/>
                </a:solidFill>
                <a:latin typeface="Times New Roman" panose="02020603050405020304" pitchFamily="18" charset="0"/>
                <a:ea typeface="华文楷体" panose="02010600040101010101" pitchFamily="2" charset="-122"/>
              </a:rPr>
              <a:t>date.getMonth</a:t>
            </a:r>
            <a:r>
              <a:rPr lang="en-US" altLang="zh-CN" sz="1600" b="1" dirty="0">
                <a:solidFill>
                  <a:srgbClr val="000000"/>
                </a:solidFill>
                <a:latin typeface="Times New Roman" panose="02020603050405020304" pitchFamily="18" charset="0"/>
                <a:ea typeface="华文楷体" panose="02010600040101010101" pitchFamily="2" charset="-122"/>
              </a:rPr>
              <a:t>() == 12)</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date = Date(</a:t>
            </a:r>
            <a:r>
              <a:rPr lang="en-US" altLang="zh-CN" sz="1600" b="1" dirty="0" err="1">
                <a:solidFill>
                  <a:srgbClr val="000000"/>
                </a:solidFill>
                <a:latin typeface="Times New Roman" panose="02020603050405020304" pitchFamily="18" charset="0"/>
                <a:ea typeface="华文楷体" panose="02010600040101010101" pitchFamily="2" charset="-122"/>
              </a:rPr>
              <a:t>date.getYear</a:t>
            </a:r>
            <a:r>
              <a:rPr lang="en-US" altLang="zh-CN" sz="1600" b="1" dirty="0">
                <a:solidFill>
                  <a:srgbClr val="000000"/>
                </a:solidFill>
                <a:latin typeface="Times New Roman" panose="02020603050405020304" pitchFamily="18" charset="0"/>
                <a:ea typeface="华文楷体" panose="02010600040101010101" pitchFamily="2" charset="-122"/>
              </a:rPr>
              <a:t>() + 1, 1, 1);</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else	date = Date(</a:t>
            </a:r>
            <a:r>
              <a:rPr lang="en-US" altLang="zh-CN" sz="1600" b="1" dirty="0" err="1">
                <a:solidFill>
                  <a:srgbClr val="000000"/>
                </a:solidFill>
                <a:latin typeface="Times New Roman" panose="02020603050405020304" pitchFamily="18" charset="0"/>
                <a:ea typeface="华文楷体" panose="02010600040101010101" pitchFamily="2" charset="-122"/>
              </a:rPr>
              <a:t>date.getYear</a:t>
            </a: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date.getMonth</a:t>
            </a:r>
            <a:r>
              <a:rPr lang="en-US" altLang="zh-CN" sz="1600" b="1" dirty="0">
                <a:solidFill>
                  <a:srgbClr val="000000"/>
                </a:solidFill>
                <a:latin typeface="Times New Roman" panose="02020603050405020304" pitchFamily="18" charset="0"/>
                <a:ea typeface="华文楷体" panose="02010600040101010101" pitchFamily="2" charset="-122"/>
              </a:rPr>
              <a:t>() + 1, 1);</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for (vector&lt;Account*&gt;::iterator </a:t>
            </a:r>
            <a:r>
              <a:rPr lang="en-US" altLang="zh-CN" sz="1600" b="1" dirty="0" err="1">
                <a:solidFill>
                  <a:srgbClr val="000000"/>
                </a:solidFill>
                <a:latin typeface="Times New Roman" panose="02020603050405020304" pitchFamily="18" charset="0"/>
                <a:ea typeface="华文楷体" panose="02010600040101010101" pitchFamily="2" charset="-122"/>
              </a:rPr>
              <a:t>iter</a:t>
            </a:r>
            <a:r>
              <a:rPr lang="en-US" altLang="zh-CN" sz="1600" b="1" dirty="0">
                <a:solidFill>
                  <a:srgbClr val="000000"/>
                </a:solidFill>
                <a:latin typeface="Times New Roman" panose="02020603050405020304" pitchFamily="18" charset="0"/>
                <a:ea typeface="华文楷体" panose="02010600040101010101" pitchFamily="2" charset="-122"/>
              </a:rPr>
              <a:t> = </a:t>
            </a:r>
            <a:r>
              <a:rPr lang="en-US" altLang="zh-CN" sz="1600" b="1" dirty="0" err="1">
                <a:solidFill>
                  <a:srgbClr val="000000"/>
                </a:solidFill>
                <a:latin typeface="Times New Roman" panose="02020603050405020304" pitchFamily="18" charset="0"/>
                <a:ea typeface="华文楷体" panose="02010600040101010101" pitchFamily="2" charset="-122"/>
              </a:rPr>
              <a:t>accounts.begin</a:t>
            </a:r>
            <a:r>
              <a:rPr lang="en-US" altLang="zh-CN" sz="1600" b="1" dirty="0">
                <a:solidFill>
                  <a:srgbClr val="000000"/>
                </a:solidFill>
                <a:latin typeface="Times New Roman" panose="02020603050405020304" pitchFamily="18" charset="0"/>
                <a:ea typeface="华文楷体" panose="02010600040101010101" pitchFamily="2" charset="-122"/>
              </a:rPr>
              <a:t>();</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iter</a:t>
            </a:r>
            <a:r>
              <a:rPr lang="en-US" altLang="zh-CN" sz="1600" b="1" dirty="0">
                <a:solidFill>
                  <a:srgbClr val="000000"/>
                </a:solidFill>
                <a:latin typeface="Times New Roman" panose="02020603050405020304" pitchFamily="18" charset="0"/>
                <a:ea typeface="华文楷体" panose="02010600040101010101" pitchFamily="2" charset="-122"/>
              </a:rPr>
              <a:t> != </a:t>
            </a:r>
            <a:r>
              <a:rPr lang="en-US" altLang="zh-CN" sz="1600" b="1" dirty="0" err="1">
                <a:solidFill>
                  <a:srgbClr val="000000"/>
                </a:solidFill>
                <a:latin typeface="Times New Roman" panose="02020603050405020304" pitchFamily="18" charset="0"/>
                <a:ea typeface="华文楷体" panose="02010600040101010101" pitchFamily="2" charset="-122"/>
              </a:rPr>
              <a:t>accounts.end</a:t>
            </a: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iter</a:t>
            </a:r>
            <a:r>
              <a:rPr lang="en-US" altLang="zh-CN" sz="1600" b="1" dirty="0">
                <a:solidFill>
                  <a:srgbClr val="000000"/>
                </a:solidFill>
                <a:latin typeface="Times New Roman" panose="02020603050405020304" pitchFamily="18" charset="0"/>
                <a:ea typeface="华文楷体" panose="02010600040101010101" pitchFamily="2" charset="-122"/>
              </a:rPr>
              <a:t>)</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iter</a:t>
            </a:r>
            <a:r>
              <a:rPr lang="en-US" altLang="zh-CN" sz="1600" b="1" dirty="0">
                <a:solidFill>
                  <a:srgbClr val="000000"/>
                </a:solidFill>
                <a:latin typeface="Times New Roman" panose="02020603050405020304" pitchFamily="18" charset="0"/>
                <a:ea typeface="华文楷体" panose="02010600040101010101" pitchFamily="2" charset="-122"/>
              </a:rPr>
              <a:t>)-&gt;settle(date);</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break;</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case 'q':	//</a:t>
            </a:r>
            <a:r>
              <a:rPr lang="zh-CN" altLang="en-US" sz="1600" b="1" dirty="0">
                <a:solidFill>
                  <a:srgbClr val="000000"/>
                </a:solidFill>
                <a:latin typeface="Times New Roman" panose="02020603050405020304" pitchFamily="18" charset="0"/>
                <a:ea typeface="华文楷体" panose="02010600040101010101" pitchFamily="2" charset="-122"/>
              </a:rPr>
              <a:t>查询一段时间内的账目</a:t>
            </a:r>
            <a:endParaRPr lang="zh-CN" altLang="en-US"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1600" b="1" dirty="0">
                <a:solidFill>
                  <a:srgbClr val="000000"/>
                </a:solidFill>
                <a:latin typeface="Times New Roman" panose="02020603050405020304" pitchFamily="18" charset="0"/>
                <a:ea typeface="华文楷体" panose="02010600040101010101" pitchFamily="2" charset="-122"/>
              </a:rPr>
              <a:t>			</a:t>
            </a:r>
            <a:r>
              <a:rPr lang="en-US" altLang="zh-CN" sz="1600" b="1" dirty="0">
                <a:solidFill>
                  <a:srgbClr val="000000"/>
                </a:solidFill>
                <a:latin typeface="Times New Roman" panose="02020603050405020304" pitchFamily="18" charset="0"/>
                <a:ea typeface="华文楷体" panose="02010600040101010101" pitchFamily="2" charset="-122"/>
              </a:rPr>
              <a:t>date1 = Date::read();</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date2 = Date::read();</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Account::query(date1, date2);</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break;</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 while (</a:t>
            </a:r>
            <a:r>
              <a:rPr lang="en-US" altLang="zh-CN" sz="1600" b="1" dirty="0" err="1">
                <a:solidFill>
                  <a:srgbClr val="000000"/>
                </a:solidFill>
                <a:latin typeface="Times New Roman" panose="02020603050405020304" pitchFamily="18" charset="0"/>
                <a:ea typeface="华文楷体" panose="02010600040101010101" pitchFamily="2" charset="-122"/>
              </a:rPr>
              <a:t>cmd</a:t>
            </a:r>
            <a:r>
              <a:rPr lang="en-US" altLang="zh-CN" sz="1600" b="1" dirty="0">
                <a:solidFill>
                  <a:srgbClr val="000000"/>
                </a:solidFill>
                <a:latin typeface="Times New Roman" panose="02020603050405020304" pitchFamily="18" charset="0"/>
                <a:ea typeface="华文楷体" panose="02010600040101010101" pitchFamily="2" charset="-122"/>
              </a:rPr>
              <a:t> != 'e');</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for_each</a:t>
            </a:r>
            <a:r>
              <a:rPr lang="en-US" altLang="zh-CN" sz="1600" b="1" dirty="0">
                <a:solidFill>
                  <a:srgbClr val="000000"/>
                </a:solidFill>
                <a:latin typeface="Times New Roman" panose="02020603050405020304" pitchFamily="18" charset="0"/>
                <a:ea typeface="华文楷体" panose="02010600040101010101" pitchFamily="2" charset="-122"/>
              </a:rPr>
              <a:t>(</a:t>
            </a:r>
            <a:r>
              <a:rPr lang="en-US" altLang="zh-CN" sz="1600" b="1" dirty="0" err="1">
                <a:solidFill>
                  <a:srgbClr val="000000"/>
                </a:solidFill>
                <a:latin typeface="Times New Roman" panose="02020603050405020304" pitchFamily="18" charset="0"/>
                <a:ea typeface="华文楷体" panose="02010600040101010101" pitchFamily="2" charset="-122"/>
              </a:rPr>
              <a:t>accounts.begin</a:t>
            </a: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accounts.end</a:t>
            </a:r>
            <a:r>
              <a:rPr lang="en-US" altLang="zh-CN" sz="1600" b="1" dirty="0">
                <a:solidFill>
                  <a:srgbClr val="000000"/>
                </a:solidFill>
                <a:latin typeface="Times New Roman" panose="02020603050405020304" pitchFamily="18" charset="0"/>
                <a:ea typeface="华文楷体" panose="02010600040101010101" pitchFamily="2" charset="-122"/>
              </a:rPr>
              <a:t>(), </a:t>
            </a:r>
            <a:r>
              <a:rPr lang="en-US" altLang="zh-CN" sz="1600" b="1" dirty="0" err="1">
                <a:solidFill>
                  <a:srgbClr val="000000"/>
                </a:solidFill>
                <a:latin typeface="Times New Roman" panose="02020603050405020304" pitchFamily="18" charset="0"/>
                <a:ea typeface="华文楷体" panose="02010600040101010101" pitchFamily="2" charset="-122"/>
              </a:rPr>
              <a:t>deleter</a:t>
            </a:r>
            <a:r>
              <a:rPr lang="en-US" altLang="zh-CN" sz="1600" b="1" dirty="0">
                <a:solidFill>
                  <a:srgbClr val="000000"/>
                </a:solidFill>
                <a:latin typeface="Times New Roman" panose="02020603050405020304" pitchFamily="18" charset="0"/>
                <a:ea typeface="华文楷体" panose="02010600040101010101" pitchFamily="2" charset="-122"/>
              </a:rPr>
              <a:t>());</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	return 0;</a:t>
            </a:r>
            <a:endParaRPr lang="en-US" altLang="zh-CN" sz="16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600" b="1" dirty="0">
                <a:solidFill>
                  <a:srgbClr val="000000"/>
                </a:solidFill>
                <a:latin typeface="Times New Roman" panose="02020603050405020304" pitchFamily="18" charset="0"/>
                <a:ea typeface="华文楷体" panose="02010600040101010101" pitchFamily="2" charset="-122"/>
              </a:rPr>
              <a:t>}</a:t>
            </a:r>
            <a:endParaRPr lang="en-US" altLang="zh-CN" sz="1600" b="1" dirty="0">
              <a:solidFill>
                <a:srgbClr val="000000"/>
              </a:solidFill>
              <a:latin typeface="Times New Roman" panose="02020603050405020304" pitchFamily="18" charset="0"/>
              <a:ea typeface="华文楷体" panose="02010600040101010101" pitchFamily="2" charset="-122"/>
            </a:endParaRPr>
          </a:p>
        </p:txBody>
      </p:sp>
      <p:sp>
        <p:nvSpPr>
          <p:cNvPr id="100357" name="标题 1"/>
          <p:cNvSpPr>
            <a:spLocks noGrp="1"/>
          </p:cNvSpPr>
          <p:nvPr>
            <p:ph type="title"/>
          </p:nvPr>
        </p:nvSpPr>
        <p:spPr>
          <a:xfrm>
            <a:off x="6858000" y="6072188"/>
            <a:ext cx="2214563" cy="566737"/>
          </a:xfrm>
          <a:solidFill>
            <a:schemeClr val="bg1"/>
          </a:solidFill>
        </p:spPr>
        <p:txBody>
          <a:bodyPr/>
          <a:lstStyle/>
          <a:p>
            <a:pPr eaLnBrk="1" hangingPunct="1"/>
            <a:r>
              <a:rPr lang="zh-CN" altLang="en-US" sz="2800" dirty="0"/>
              <a:t>例</a:t>
            </a:r>
            <a:r>
              <a:rPr lang="en-US" altLang="zh-CN" sz="2800" dirty="0"/>
              <a:t>10-22</a:t>
            </a:r>
            <a:r>
              <a:rPr lang="zh-CN" altLang="en-US" sz="2800" dirty="0"/>
              <a:t>（续）</a:t>
            </a:r>
            <a:endParaRPr lang="zh-CN" altLang="en-US" sz="2800" dirty="0"/>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1378" name="标题 1"/>
          <p:cNvSpPr>
            <a:spLocks noGrp="1"/>
          </p:cNvSpPr>
          <p:nvPr>
            <p:ph type="title"/>
          </p:nvPr>
        </p:nvSpPr>
        <p:spPr/>
        <p:txBody>
          <a:bodyPr/>
          <a:lstStyle/>
          <a:p>
            <a:pPr eaLnBrk="1" hangingPunct="1"/>
            <a:r>
              <a:rPr lang="zh-CN" altLang="en-US" b="1" dirty="0"/>
              <a:t>例</a:t>
            </a:r>
            <a:r>
              <a:rPr lang="en-US" altLang="zh-CN" b="1" dirty="0"/>
              <a:t>10-22</a:t>
            </a:r>
            <a:r>
              <a:rPr lang="zh-CN" altLang="en-US" b="1" dirty="0"/>
              <a:t>（续）</a:t>
            </a:r>
            <a:endParaRPr lang="zh-CN" altLang="en-US" b="1" dirty="0"/>
          </a:p>
        </p:txBody>
      </p:sp>
      <p:sp>
        <p:nvSpPr>
          <p:cNvPr id="3" name="内容占位符 2"/>
          <p:cNvSpPr>
            <a:spLocks noGrp="1"/>
          </p:cNvSpPr>
          <p:nvPr>
            <p:ph idx="1"/>
          </p:nvPr>
        </p:nvSpPr>
        <p:spPr>
          <a:xfrm>
            <a:off x="457200" y="1785938"/>
            <a:ext cx="8401050" cy="4462760"/>
          </a:xfrm>
          <a:solidFill>
            <a:srgbClr val="000000"/>
          </a:solidFill>
          <a:ln w="9525">
            <a:noFill/>
            <a:miter lim="800000"/>
          </a:ln>
        </p:spPr>
        <p:txBody>
          <a:bodyPr>
            <a:spAutoFit/>
          </a:bodyPr>
          <a:lstStyle/>
          <a:p>
            <a:pPr marL="457200" indent="-457200">
              <a:buClr>
                <a:schemeClr val="accent2"/>
              </a:buClr>
              <a:buSzPct val="80000"/>
              <a:buFont typeface="Wingdings" panose="05000000000000000000" pitchFamily="2" charset="2"/>
              <a:buNone/>
            </a:pPr>
            <a:r>
              <a:rPr lang="zh-CN" altLang="en-US" sz="2000" b="1" dirty="0">
                <a:ea typeface="华文楷体" panose="02010600040101010101" pitchFamily="2" charset="-122"/>
              </a:rPr>
              <a:t>运行结果如下：</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a:t>
            </a:r>
            <a:r>
              <a:rPr lang="zh-CN" altLang="en-US" sz="2000" b="1" dirty="0">
                <a:ea typeface="华文楷体" panose="02010600040101010101" pitchFamily="2" charset="-122"/>
              </a:rPr>
              <a:t>（前面的输入和输出与例</a:t>
            </a:r>
            <a:r>
              <a:rPr lang="en-US" altLang="zh-CN" sz="2000" b="1" dirty="0">
                <a:ea typeface="华文楷体" panose="02010600040101010101" pitchFamily="2" charset="-122"/>
              </a:rPr>
              <a:t>9-16</a:t>
            </a:r>
            <a:r>
              <a:rPr lang="zh-CN" altLang="en-US" sz="2000" b="1" dirty="0">
                <a:ea typeface="华文楷体" panose="02010600040101010101" pitchFamily="2" charset="-122"/>
              </a:rPr>
              <a:t>给出的完全相同，不再重复）</a:t>
            </a:r>
            <a:endParaRPr lang="zh-CN" altLang="en-US"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2009-1-1        Total: 20482.9  command&gt; q 2008-11-01 2008-11-30</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2008-11-5       #S3755217       5000    5000     salary</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2008-11-15      #C5392394       -2000   -2000    buy a cell</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2008-11-25      #02342342       10000   10000    sell stock 0323</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2009-1-1        Total: 20482.9  command&gt; q 2008-12-01 2008-12-31</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2008-12-1       #C5392394       -16     -2016    interest</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2008-12-1       #C5392394       2016    0        repay the credit</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2008-12-5       #S3755217       5500    10500    salary</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r>
              <a:rPr lang="en-US" altLang="zh-CN" sz="2000" b="1" dirty="0">
                <a:ea typeface="华文楷体" panose="02010600040101010101" pitchFamily="2" charset="-122"/>
              </a:rPr>
              <a:t>2009-1-1        Total: 20482.9  command&gt; e</a:t>
            </a:r>
            <a:endParaRPr lang="en-US" altLang="zh-CN" sz="2000" b="1" dirty="0">
              <a:ea typeface="华文楷体" panose="02010600040101010101" pitchFamily="2" charset="-122"/>
            </a:endParaRPr>
          </a:p>
          <a:p>
            <a:pPr marL="457200" indent="-457200">
              <a:buClr>
                <a:schemeClr val="accent2"/>
              </a:buClr>
              <a:buSzPct val="80000"/>
              <a:buFont typeface="Wingdings" panose="05000000000000000000" pitchFamily="2" charset="2"/>
              <a:buNone/>
            </a:pPr>
            <a:endParaRPr lang="zh-CN" altLang="en-US" sz="2000" b="1" dirty="0">
              <a:ea typeface="华文楷体" panose="02010600040101010101" pitchFamily="2" charset="-122"/>
            </a:endParaRPr>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bwMode="auto">
          <a:xfrm>
            <a:off x="432656" y="1052736"/>
            <a:ext cx="8583488" cy="187220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lnSpc>
                <a:spcPct val="150000"/>
              </a:lnSpc>
              <a:buFont typeface="+mj-lt"/>
              <a:buAutoNum type="arabicPeriod" startAt="9"/>
            </a:pPr>
            <a:r>
              <a:rPr lang="zh-CN" altLang="en-US" sz="6000" b="1" dirty="0">
                <a:solidFill>
                  <a:srgbClr val="FFFFFF"/>
                </a:solidFill>
                <a:ea typeface="华文彩云" panose="02010800040101010101" pitchFamily="2" charset="-122"/>
              </a:rPr>
              <a:t>深度探索</a:t>
            </a:r>
            <a:endParaRPr lang="zh-CN" altLang="en-US" sz="2800" dirty="0"/>
          </a:p>
        </p:txBody>
      </p:sp>
      <p:pic>
        <p:nvPicPr>
          <p:cNvPr id="612355" name="Picture 3" descr="BS00580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4038607"/>
            <a:ext cx="2590800" cy="2182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swap</a:t>
            </a:r>
            <a:r>
              <a:rPr lang="zh-CN" altLang="en-US" sz="4400" b="1">
                <a:latin typeface="Times New Roman" panose="02020603050405020304" pitchFamily="18" charset="0"/>
                <a:ea typeface="隶书" panose="02010509060101010101" pitchFamily="49" charset="-122"/>
              </a:rPr>
              <a:t>高效的执行方式</a:t>
            </a:r>
            <a:endParaRPr lang="zh-CN" altLang="en-US" sz="4400" b="1">
              <a:latin typeface="Times New Roman" panose="02020603050405020304" pitchFamily="18" charset="0"/>
              <a:ea typeface="隶书" panose="02010509060101010101" pitchFamily="49" charset="-122"/>
            </a:endParaRPr>
          </a:p>
        </p:txBody>
      </p:sp>
      <p:sp>
        <p:nvSpPr>
          <p:cNvPr id="25" name="Rectangle 21"/>
          <p:cNvSpPr>
            <a:spLocks noChangeArrowheads="1"/>
          </p:cNvSpPr>
          <p:nvPr/>
        </p:nvSpPr>
        <p:spPr bwMode="auto">
          <a:xfrm>
            <a:off x="4989513" y="6173788"/>
            <a:ext cx="476250" cy="327025"/>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tIns="18000" bIns="18000"/>
          <a:lstStyle/>
          <a:p>
            <a:pPr algn="ctr">
              <a:defRPr/>
            </a:pPr>
            <a:r>
              <a:rPr lang="en-US" altLang="zh-CN" sz="2200">
                <a:solidFill>
                  <a:schemeClr val="tx1"/>
                </a:solidFill>
                <a:latin typeface="Calibri" panose="020F0502020204030204" pitchFamily="34" charset="0"/>
              </a:rPr>
              <a:t>?</a:t>
            </a:r>
            <a:endParaRPr lang="zh-CN" altLang="zh-CN" sz="2200">
              <a:solidFill>
                <a:schemeClr val="tx1"/>
              </a:solidFill>
              <a:latin typeface="Times New Roman" panose="02020603050405020304" pitchFamily="18" charset="0"/>
            </a:endParaRPr>
          </a:p>
        </p:txBody>
      </p:sp>
      <p:grpSp>
        <p:nvGrpSpPr>
          <p:cNvPr id="4" name="组合 3"/>
          <p:cNvGrpSpPr/>
          <p:nvPr/>
        </p:nvGrpSpPr>
        <p:grpSpPr>
          <a:xfrm>
            <a:off x="2714625" y="1714500"/>
            <a:ext cx="5143500" cy="4459288"/>
            <a:chOff x="2714625" y="1714500"/>
            <a:chExt cx="5143500" cy="4459288"/>
          </a:xfrm>
        </p:grpSpPr>
        <p:sp>
          <p:nvSpPr>
            <p:cNvPr id="6" name="Rectangle 2"/>
            <p:cNvSpPr>
              <a:spLocks noChangeArrowheads="1"/>
            </p:cNvSpPr>
            <p:nvPr/>
          </p:nvSpPr>
          <p:spPr bwMode="auto">
            <a:xfrm>
              <a:off x="3792538" y="3089275"/>
              <a:ext cx="476250" cy="427038"/>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a:lstStyle/>
            <a:p>
              <a:pPr algn="ctr">
                <a:defRPr/>
              </a:pPr>
              <a:r>
                <a:rPr lang="en-US" altLang="zh-CN" sz="2200" b="1">
                  <a:solidFill>
                    <a:schemeClr val="tx1"/>
                  </a:solidFill>
                  <a:latin typeface="Calibri" panose="020F0502020204030204" pitchFamily="34" charset="0"/>
                </a:rPr>
                <a:t>3</a:t>
              </a:r>
              <a:endParaRPr lang="zh-CN" altLang="zh-CN" sz="2200" b="1">
                <a:solidFill>
                  <a:schemeClr val="tx1"/>
                </a:solidFill>
                <a:latin typeface="Times New Roman" panose="02020603050405020304" pitchFamily="18" charset="0"/>
              </a:endParaRPr>
            </a:p>
          </p:txBody>
        </p:sp>
        <p:sp>
          <p:nvSpPr>
            <p:cNvPr id="7" name="Rectangle 3"/>
            <p:cNvSpPr>
              <a:spLocks noChangeArrowheads="1"/>
            </p:cNvSpPr>
            <p:nvPr/>
          </p:nvSpPr>
          <p:spPr bwMode="auto">
            <a:xfrm>
              <a:off x="3792538" y="3516313"/>
              <a:ext cx="476250" cy="425450"/>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a:lstStyle/>
            <a:p>
              <a:pPr algn="ctr">
                <a:defRPr/>
              </a:pPr>
              <a:r>
                <a:rPr lang="en-US" altLang="zh-CN" sz="2200" b="1">
                  <a:solidFill>
                    <a:schemeClr val="tx1"/>
                  </a:solidFill>
                  <a:latin typeface="Calibri" panose="020F0502020204030204" pitchFamily="34" charset="0"/>
                </a:rPr>
                <a:t>4</a:t>
              </a:r>
              <a:endParaRPr lang="zh-CN" altLang="zh-CN" sz="2200" b="1">
                <a:solidFill>
                  <a:schemeClr val="tx1"/>
                </a:solidFill>
                <a:latin typeface="Times New Roman" panose="02020603050405020304" pitchFamily="18" charset="0"/>
              </a:endParaRPr>
            </a:p>
          </p:txBody>
        </p:sp>
        <p:sp>
          <p:nvSpPr>
            <p:cNvPr id="8" name="Rectangle 4"/>
            <p:cNvSpPr>
              <a:spLocks noChangeArrowheads="1"/>
            </p:cNvSpPr>
            <p:nvPr/>
          </p:nvSpPr>
          <p:spPr bwMode="auto">
            <a:xfrm>
              <a:off x="4989513" y="2209800"/>
              <a:ext cx="476250" cy="325438"/>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tIns="18000" bIns="18000"/>
            <a:lstStyle/>
            <a:p>
              <a:pPr algn="ctr">
                <a:defRPr/>
              </a:pPr>
              <a:r>
                <a:rPr lang="en-US" altLang="zh-CN" sz="2200" b="1">
                  <a:solidFill>
                    <a:schemeClr val="tx1"/>
                  </a:solidFill>
                  <a:latin typeface="Calibri" panose="020F0502020204030204" pitchFamily="34" charset="0"/>
                </a:rPr>
                <a:t>2</a:t>
              </a:r>
              <a:endParaRPr lang="zh-CN" altLang="zh-CN" sz="2200" b="1">
                <a:solidFill>
                  <a:schemeClr val="tx1"/>
                </a:solidFill>
                <a:latin typeface="Times New Roman" panose="02020603050405020304" pitchFamily="18" charset="0"/>
              </a:endParaRPr>
            </a:p>
          </p:txBody>
        </p:sp>
        <p:sp>
          <p:nvSpPr>
            <p:cNvPr id="103432" name="Text Box 5"/>
            <p:cNvSpPr txBox="1">
              <a:spLocks noChangeArrowheads="1"/>
            </p:cNvSpPr>
            <p:nvPr/>
          </p:nvSpPr>
          <p:spPr bwMode="auto">
            <a:xfrm>
              <a:off x="4767263" y="1714500"/>
              <a:ext cx="13049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zh-CN" altLang="en-US" b="1">
                  <a:latin typeface="Calibri" panose="020F0502020204030204" pitchFamily="34" charset="0"/>
                </a:rPr>
                <a:t>堆空间</a:t>
              </a:r>
              <a:endParaRPr lang="zh-CN" altLang="zh-CN" b="1"/>
            </a:p>
          </p:txBody>
        </p:sp>
        <p:sp>
          <p:nvSpPr>
            <p:cNvPr id="103433" name="Text Box 6"/>
            <p:cNvSpPr txBox="1">
              <a:spLocks noChangeArrowheads="1"/>
            </p:cNvSpPr>
            <p:nvPr/>
          </p:nvSpPr>
          <p:spPr bwMode="auto">
            <a:xfrm>
              <a:off x="3905250" y="2292350"/>
              <a:ext cx="5238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2200" b="1">
                  <a:latin typeface="Calibri" panose="020F0502020204030204" pitchFamily="34" charset="0"/>
                </a:rPr>
                <a:t>a</a:t>
              </a:r>
              <a:endParaRPr lang="zh-CN" altLang="zh-CN" sz="2200" b="1"/>
            </a:p>
          </p:txBody>
        </p:sp>
        <p:sp>
          <p:nvSpPr>
            <p:cNvPr id="103434" name="Text Box 7"/>
            <p:cNvSpPr txBox="1">
              <a:spLocks noChangeArrowheads="1"/>
            </p:cNvSpPr>
            <p:nvPr/>
          </p:nvSpPr>
          <p:spPr bwMode="auto">
            <a:xfrm>
              <a:off x="3152775" y="3089275"/>
              <a:ext cx="79375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2200" b="1">
                  <a:latin typeface="Calibri" panose="020F0502020204030204" pitchFamily="34" charset="0"/>
                </a:rPr>
                <a:t>size</a:t>
              </a:r>
              <a:endParaRPr lang="zh-CN" altLang="zh-CN" sz="2200" b="1"/>
            </a:p>
          </p:txBody>
        </p:sp>
        <p:sp>
          <p:nvSpPr>
            <p:cNvPr id="103435" name="Text Box 8"/>
            <p:cNvSpPr txBox="1">
              <a:spLocks noChangeArrowheads="1"/>
            </p:cNvSpPr>
            <p:nvPr/>
          </p:nvSpPr>
          <p:spPr bwMode="auto">
            <a:xfrm>
              <a:off x="2714625" y="3546475"/>
              <a:ext cx="116363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2200" b="1">
                  <a:latin typeface="Calibri" panose="020F0502020204030204" pitchFamily="34" charset="0"/>
                </a:rPr>
                <a:t>capacity</a:t>
              </a:r>
              <a:endParaRPr lang="zh-CN" altLang="zh-CN" sz="2200" b="1"/>
            </a:p>
          </p:txBody>
        </p:sp>
        <p:sp>
          <p:nvSpPr>
            <p:cNvPr id="13" name="Rectangle 9"/>
            <p:cNvSpPr>
              <a:spLocks noChangeArrowheads="1"/>
            </p:cNvSpPr>
            <p:nvPr/>
          </p:nvSpPr>
          <p:spPr bwMode="auto">
            <a:xfrm>
              <a:off x="3792538" y="2663825"/>
              <a:ext cx="476250" cy="425450"/>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a:lstStyle/>
            <a:p>
              <a:pPr>
                <a:defRPr/>
              </a:pPr>
              <a:endParaRPr lang="zh-CN" altLang="zh-CN" sz="2200" b="1">
                <a:solidFill>
                  <a:schemeClr val="tx1"/>
                </a:solidFill>
                <a:latin typeface="Times New Roman" panose="02020603050405020304" pitchFamily="18" charset="0"/>
              </a:endParaRPr>
            </a:p>
          </p:txBody>
        </p:sp>
        <p:sp>
          <p:nvSpPr>
            <p:cNvPr id="103437" name="Text Box 10"/>
            <p:cNvSpPr txBox="1">
              <a:spLocks noChangeArrowheads="1"/>
            </p:cNvSpPr>
            <p:nvPr/>
          </p:nvSpPr>
          <p:spPr bwMode="auto">
            <a:xfrm>
              <a:off x="3221038" y="2663825"/>
              <a:ext cx="7921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2200" b="1">
                  <a:latin typeface="Calibri" panose="020F0502020204030204" pitchFamily="34" charset="0"/>
                </a:rPr>
                <a:t>ptr</a:t>
              </a:r>
              <a:endParaRPr lang="zh-CN" altLang="zh-CN" sz="2200" b="1"/>
            </a:p>
          </p:txBody>
        </p:sp>
        <p:sp>
          <p:nvSpPr>
            <p:cNvPr id="15" name="Rectangle 11"/>
            <p:cNvSpPr>
              <a:spLocks noChangeArrowheads="1"/>
            </p:cNvSpPr>
            <p:nvPr/>
          </p:nvSpPr>
          <p:spPr bwMode="auto">
            <a:xfrm>
              <a:off x="4989513" y="2535238"/>
              <a:ext cx="476250" cy="327025"/>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tIns="18000" bIns="18000"/>
            <a:lstStyle/>
            <a:p>
              <a:pPr algn="ctr">
                <a:defRPr/>
              </a:pPr>
              <a:r>
                <a:rPr lang="en-US" altLang="zh-CN" sz="2200" b="1">
                  <a:solidFill>
                    <a:schemeClr val="tx1"/>
                  </a:solidFill>
                  <a:latin typeface="Calibri" panose="020F0502020204030204" pitchFamily="34" charset="0"/>
                </a:rPr>
                <a:t>1</a:t>
              </a:r>
              <a:endParaRPr lang="zh-CN" altLang="zh-CN" sz="2200" b="1">
                <a:solidFill>
                  <a:schemeClr val="tx1"/>
                </a:solidFill>
                <a:latin typeface="Times New Roman" panose="02020603050405020304" pitchFamily="18" charset="0"/>
              </a:endParaRPr>
            </a:p>
          </p:txBody>
        </p:sp>
        <p:sp>
          <p:nvSpPr>
            <p:cNvPr id="16" name="Rectangle 12"/>
            <p:cNvSpPr>
              <a:spLocks noChangeArrowheads="1"/>
            </p:cNvSpPr>
            <p:nvPr/>
          </p:nvSpPr>
          <p:spPr bwMode="auto">
            <a:xfrm>
              <a:off x="4989513" y="2862263"/>
              <a:ext cx="476250" cy="327025"/>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tIns="18000" bIns="18000"/>
            <a:lstStyle/>
            <a:p>
              <a:pPr algn="ctr">
                <a:defRPr/>
              </a:pPr>
              <a:r>
                <a:rPr lang="en-US" altLang="zh-CN" sz="2200" b="1">
                  <a:solidFill>
                    <a:schemeClr val="tx1"/>
                  </a:solidFill>
                  <a:latin typeface="Calibri" panose="020F0502020204030204" pitchFamily="34" charset="0"/>
                </a:rPr>
                <a:t>4</a:t>
              </a:r>
              <a:endParaRPr lang="zh-CN" altLang="zh-CN" sz="2200" b="1">
                <a:solidFill>
                  <a:schemeClr val="tx1"/>
                </a:solidFill>
                <a:latin typeface="Times New Roman" panose="02020603050405020304" pitchFamily="18" charset="0"/>
              </a:endParaRPr>
            </a:p>
          </p:txBody>
        </p:sp>
        <p:sp>
          <p:nvSpPr>
            <p:cNvPr id="17" name="Rectangle 13"/>
            <p:cNvSpPr>
              <a:spLocks noChangeArrowheads="1"/>
            </p:cNvSpPr>
            <p:nvPr/>
          </p:nvSpPr>
          <p:spPr bwMode="auto">
            <a:xfrm>
              <a:off x="4989513" y="3189288"/>
              <a:ext cx="476250" cy="327025"/>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tIns="18000" bIns="18000"/>
            <a:lstStyle/>
            <a:p>
              <a:pPr algn="ctr">
                <a:defRPr/>
              </a:pPr>
              <a:r>
                <a:rPr lang="en-US" altLang="zh-CN" sz="2200" b="1">
                  <a:solidFill>
                    <a:schemeClr val="tx1"/>
                  </a:solidFill>
                  <a:latin typeface="Calibri" panose="020F0502020204030204" pitchFamily="34" charset="0"/>
                </a:rPr>
                <a:t>?</a:t>
              </a:r>
              <a:endParaRPr lang="zh-CN" altLang="zh-CN" sz="2200" b="1">
                <a:solidFill>
                  <a:schemeClr val="tx1"/>
                </a:solidFill>
                <a:latin typeface="Times New Roman" panose="02020603050405020304" pitchFamily="18" charset="0"/>
              </a:endParaRPr>
            </a:p>
          </p:txBody>
        </p:sp>
        <p:sp>
          <p:nvSpPr>
            <p:cNvPr id="18" name="Rectangle 14"/>
            <p:cNvSpPr>
              <a:spLocks noChangeArrowheads="1"/>
            </p:cNvSpPr>
            <p:nvPr/>
          </p:nvSpPr>
          <p:spPr bwMode="auto">
            <a:xfrm>
              <a:off x="4989513" y="3887788"/>
              <a:ext cx="476250" cy="327025"/>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tIns="18000" bIns="18000"/>
            <a:lstStyle/>
            <a:p>
              <a:pPr algn="ctr">
                <a:defRPr/>
              </a:pPr>
              <a:r>
                <a:rPr lang="en-US" altLang="zh-CN" sz="2200" b="1">
                  <a:solidFill>
                    <a:schemeClr val="tx1"/>
                  </a:solidFill>
                  <a:latin typeface="Calibri" panose="020F0502020204030204" pitchFamily="34" charset="0"/>
                </a:rPr>
                <a:t>3</a:t>
              </a:r>
              <a:endParaRPr lang="zh-CN" altLang="zh-CN" sz="2200" b="1">
                <a:solidFill>
                  <a:schemeClr val="tx1"/>
                </a:solidFill>
                <a:latin typeface="Times New Roman" panose="02020603050405020304" pitchFamily="18" charset="0"/>
              </a:endParaRPr>
            </a:p>
          </p:txBody>
        </p:sp>
        <p:sp>
          <p:nvSpPr>
            <p:cNvPr id="19" name="Rectangle 15"/>
            <p:cNvSpPr>
              <a:spLocks noChangeArrowheads="1"/>
            </p:cNvSpPr>
            <p:nvPr/>
          </p:nvSpPr>
          <p:spPr bwMode="auto">
            <a:xfrm>
              <a:off x="4989513" y="4214813"/>
              <a:ext cx="476250" cy="325437"/>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tIns="18000" bIns="18000"/>
            <a:lstStyle/>
            <a:p>
              <a:pPr algn="ctr">
                <a:defRPr/>
              </a:pPr>
              <a:r>
                <a:rPr lang="en-US" altLang="zh-CN" sz="2200" b="1">
                  <a:solidFill>
                    <a:schemeClr val="tx1"/>
                  </a:solidFill>
                  <a:latin typeface="Calibri" panose="020F0502020204030204" pitchFamily="34" charset="0"/>
                </a:rPr>
                <a:t>1</a:t>
              </a:r>
              <a:endParaRPr lang="zh-CN" altLang="zh-CN" sz="2200" b="1">
                <a:solidFill>
                  <a:schemeClr val="tx1"/>
                </a:solidFill>
                <a:latin typeface="Times New Roman" panose="02020603050405020304" pitchFamily="18" charset="0"/>
              </a:endParaRPr>
            </a:p>
          </p:txBody>
        </p:sp>
        <p:sp>
          <p:nvSpPr>
            <p:cNvPr id="20" name="Rectangle 16"/>
            <p:cNvSpPr>
              <a:spLocks noChangeArrowheads="1"/>
            </p:cNvSpPr>
            <p:nvPr/>
          </p:nvSpPr>
          <p:spPr bwMode="auto">
            <a:xfrm>
              <a:off x="4989513" y="4540250"/>
              <a:ext cx="476250" cy="327025"/>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tIns="18000" bIns="18000"/>
            <a:lstStyle/>
            <a:p>
              <a:pPr algn="ctr">
                <a:defRPr/>
              </a:pPr>
              <a:r>
                <a:rPr lang="en-US" altLang="zh-CN" sz="2200" b="1">
                  <a:solidFill>
                    <a:schemeClr val="tx1"/>
                  </a:solidFill>
                  <a:latin typeface="Calibri" panose="020F0502020204030204" pitchFamily="34" charset="0"/>
                </a:rPr>
                <a:t>4</a:t>
              </a:r>
              <a:endParaRPr lang="zh-CN" altLang="zh-CN" sz="2200" b="1">
                <a:solidFill>
                  <a:schemeClr val="tx1"/>
                </a:solidFill>
                <a:latin typeface="Times New Roman" panose="02020603050405020304" pitchFamily="18" charset="0"/>
              </a:endParaRPr>
            </a:p>
          </p:txBody>
        </p:sp>
        <p:sp>
          <p:nvSpPr>
            <p:cNvPr id="21" name="Rectangle 17"/>
            <p:cNvSpPr>
              <a:spLocks noChangeArrowheads="1"/>
            </p:cNvSpPr>
            <p:nvPr/>
          </p:nvSpPr>
          <p:spPr bwMode="auto">
            <a:xfrm>
              <a:off x="4989513" y="4867275"/>
              <a:ext cx="476250" cy="327025"/>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tIns="18000" bIns="18000"/>
            <a:lstStyle/>
            <a:p>
              <a:pPr algn="ctr">
                <a:defRPr/>
              </a:pPr>
              <a:r>
                <a:rPr lang="en-US" altLang="zh-CN" sz="2200" b="1">
                  <a:solidFill>
                    <a:schemeClr val="tx1"/>
                  </a:solidFill>
                  <a:latin typeface="Calibri" panose="020F0502020204030204" pitchFamily="34" charset="0"/>
                </a:rPr>
                <a:t>2</a:t>
              </a:r>
              <a:endParaRPr lang="zh-CN" altLang="zh-CN" sz="2200" b="1">
                <a:solidFill>
                  <a:schemeClr val="tx1"/>
                </a:solidFill>
                <a:latin typeface="Times New Roman" panose="02020603050405020304" pitchFamily="18" charset="0"/>
              </a:endParaRPr>
            </a:p>
          </p:txBody>
        </p:sp>
        <p:sp>
          <p:nvSpPr>
            <p:cNvPr id="22" name="Rectangle 18"/>
            <p:cNvSpPr>
              <a:spLocks noChangeArrowheads="1"/>
            </p:cNvSpPr>
            <p:nvPr/>
          </p:nvSpPr>
          <p:spPr bwMode="auto">
            <a:xfrm>
              <a:off x="4989513" y="5194300"/>
              <a:ext cx="476250" cy="327025"/>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tIns="18000" bIns="18000"/>
            <a:lstStyle/>
            <a:p>
              <a:pPr algn="ctr">
                <a:defRPr/>
              </a:pPr>
              <a:r>
                <a:rPr lang="en-US" altLang="zh-CN" sz="2200" b="1">
                  <a:solidFill>
                    <a:schemeClr val="tx1"/>
                  </a:solidFill>
                  <a:latin typeface="Calibri" panose="020F0502020204030204" pitchFamily="34" charset="0"/>
                </a:rPr>
                <a:t>5</a:t>
              </a:r>
              <a:endParaRPr lang="zh-CN" altLang="zh-CN" sz="2200" b="1">
                <a:solidFill>
                  <a:schemeClr val="tx1"/>
                </a:solidFill>
                <a:latin typeface="Times New Roman" panose="02020603050405020304" pitchFamily="18" charset="0"/>
              </a:endParaRPr>
            </a:p>
          </p:txBody>
        </p:sp>
        <p:sp>
          <p:nvSpPr>
            <p:cNvPr id="23" name="Rectangle 19"/>
            <p:cNvSpPr>
              <a:spLocks noChangeArrowheads="1"/>
            </p:cNvSpPr>
            <p:nvPr/>
          </p:nvSpPr>
          <p:spPr bwMode="auto">
            <a:xfrm>
              <a:off x="4989513" y="5521325"/>
              <a:ext cx="476250" cy="325438"/>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tIns="18000" bIns="18000"/>
            <a:lstStyle/>
            <a:p>
              <a:pPr algn="ctr">
                <a:defRPr/>
              </a:pPr>
              <a:r>
                <a:rPr lang="en-US" altLang="zh-CN" sz="2200" b="1">
                  <a:solidFill>
                    <a:schemeClr val="tx1"/>
                  </a:solidFill>
                  <a:latin typeface="Calibri" panose="020F0502020204030204" pitchFamily="34" charset="0"/>
                </a:rPr>
                <a:t>7</a:t>
              </a:r>
              <a:endParaRPr lang="zh-CN" altLang="zh-CN" sz="2200" b="1">
                <a:solidFill>
                  <a:schemeClr val="tx1"/>
                </a:solidFill>
                <a:latin typeface="Times New Roman" panose="02020603050405020304" pitchFamily="18" charset="0"/>
              </a:endParaRPr>
            </a:p>
          </p:txBody>
        </p:sp>
        <p:sp>
          <p:nvSpPr>
            <p:cNvPr id="24" name="Rectangle 20"/>
            <p:cNvSpPr>
              <a:spLocks noChangeArrowheads="1"/>
            </p:cNvSpPr>
            <p:nvPr/>
          </p:nvSpPr>
          <p:spPr bwMode="auto">
            <a:xfrm>
              <a:off x="4989513" y="5846763"/>
              <a:ext cx="476250" cy="327025"/>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tIns="18000" bIns="18000"/>
            <a:lstStyle/>
            <a:p>
              <a:pPr algn="ctr">
                <a:defRPr/>
              </a:pPr>
              <a:r>
                <a:rPr lang="en-US" altLang="zh-CN" sz="2200" b="1">
                  <a:solidFill>
                    <a:schemeClr val="tx1"/>
                  </a:solidFill>
                  <a:latin typeface="Calibri" panose="020F0502020204030204" pitchFamily="34" charset="0"/>
                </a:rPr>
                <a:t>?</a:t>
              </a:r>
              <a:endParaRPr lang="zh-CN" altLang="zh-CN" sz="2200" b="1">
                <a:solidFill>
                  <a:schemeClr val="tx1"/>
                </a:solidFill>
                <a:latin typeface="Times New Roman" panose="02020603050405020304" pitchFamily="18" charset="0"/>
              </a:endParaRPr>
            </a:p>
          </p:txBody>
        </p:sp>
        <p:sp>
          <p:nvSpPr>
            <p:cNvPr id="26" name="Rectangle 22"/>
            <p:cNvSpPr>
              <a:spLocks noChangeArrowheads="1"/>
            </p:cNvSpPr>
            <p:nvPr/>
          </p:nvSpPr>
          <p:spPr bwMode="auto">
            <a:xfrm>
              <a:off x="3792538" y="5251450"/>
              <a:ext cx="476250" cy="425450"/>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a:lstStyle/>
            <a:p>
              <a:pPr algn="ctr">
                <a:defRPr/>
              </a:pPr>
              <a:r>
                <a:rPr lang="en-US" altLang="zh-CN" sz="2200" b="1">
                  <a:solidFill>
                    <a:schemeClr val="tx1"/>
                  </a:solidFill>
                  <a:latin typeface="Calibri" panose="020F0502020204030204" pitchFamily="34" charset="0"/>
                </a:rPr>
                <a:t>6</a:t>
              </a:r>
              <a:endParaRPr lang="zh-CN" altLang="zh-CN" sz="2200" b="1">
                <a:solidFill>
                  <a:schemeClr val="tx1"/>
                </a:solidFill>
                <a:latin typeface="Times New Roman" panose="02020603050405020304" pitchFamily="18" charset="0"/>
              </a:endParaRPr>
            </a:p>
          </p:txBody>
        </p:sp>
        <p:sp>
          <p:nvSpPr>
            <p:cNvPr id="27" name="Rectangle 23"/>
            <p:cNvSpPr>
              <a:spLocks noChangeArrowheads="1"/>
            </p:cNvSpPr>
            <p:nvPr/>
          </p:nvSpPr>
          <p:spPr bwMode="auto">
            <a:xfrm>
              <a:off x="3792538" y="5676900"/>
              <a:ext cx="476250" cy="427038"/>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a:lstStyle/>
            <a:p>
              <a:pPr algn="ctr">
                <a:defRPr/>
              </a:pPr>
              <a:r>
                <a:rPr lang="en-US" altLang="zh-CN" sz="2200" b="1">
                  <a:solidFill>
                    <a:schemeClr val="tx1"/>
                  </a:solidFill>
                  <a:latin typeface="Calibri" panose="020F0502020204030204" pitchFamily="34" charset="0"/>
                </a:rPr>
                <a:t>8</a:t>
              </a:r>
              <a:endParaRPr lang="zh-CN" altLang="zh-CN" sz="2200" b="1">
                <a:solidFill>
                  <a:schemeClr val="tx1"/>
                </a:solidFill>
                <a:latin typeface="Times New Roman" panose="02020603050405020304" pitchFamily="18" charset="0"/>
              </a:endParaRPr>
            </a:p>
          </p:txBody>
        </p:sp>
        <p:sp>
          <p:nvSpPr>
            <p:cNvPr id="103451" name="Text Box 24"/>
            <p:cNvSpPr txBox="1">
              <a:spLocks noChangeArrowheads="1"/>
            </p:cNvSpPr>
            <p:nvPr/>
          </p:nvSpPr>
          <p:spPr bwMode="auto">
            <a:xfrm>
              <a:off x="3905250" y="4452938"/>
              <a:ext cx="52387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2200" b="1">
                  <a:latin typeface="Calibri" panose="020F0502020204030204" pitchFamily="34" charset="0"/>
                </a:rPr>
                <a:t>b</a:t>
              </a:r>
              <a:endParaRPr lang="zh-CN" altLang="zh-CN" sz="2200" b="1"/>
            </a:p>
          </p:txBody>
        </p:sp>
        <p:sp>
          <p:nvSpPr>
            <p:cNvPr id="103452" name="Text Box 25"/>
            <p:cNvSpPr txBox="1">
              <a:spLocks noChangeArrowheads="1"/>
            </p:cNvSpPr>
            <p:nvPr/>
          </p:nvSpPr>
          <p:spPr bwMode="auto">
            <a:xfrm>
              <a:off x="3152775" y="5251450"/>
              <a:ext cx="7937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2200" b="1">
                  <a:latin typeface="Calibri" panose="020F0502020204030204" pitchFamily="34" charset="0"/>
                </a:rPr>
                <a:t>size</a:t>
              </a:r>
              <a:endParaRPr lang="zh-CN" altLang="zh-CN" sz="2200" b="1"/>
            </a:p>
          </p:txBody>
        </p:sp>
        <p:sp>
          <p:nvSpPr>
            <p:cNvPr id="103453" name="Text Box 26"/>
            <p:cNvSpPr txBox="1">
              <a:spLocks noChangeArrowheads="1"/>
            </p:cNvSpPr>
            <p:nvPr/>
          </p:nvSpPr>
          <p:spPr bwMode="auto">
            <a:xfrm>
              <a:off x="2714625" y="5707063"/>
              <a:ext cx="116363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2200" b="1">
                  <a:latin typeface="Calibri" panose="020F0502020204030204" pitchFamily="34" charset="0"/>
                </a:rPr>
                <a:t>capacity</a:t>
              </a:r>
              <a:endParaRPr lang="zh-CN" altLang="zh-CN" sz="2200" b="1"/>
            </a:p>
          </p:txBody>
        </p:sp>
        <p:sp>
          <p:nvSpPr>
            <p:cNvPr id="31" name="Rectangle 27"/>
            <p:cNvSpPr>
              <a:spLocks noChangeArrowheads="1"/>
            </p:cNvSpPr>
            <p:nvPr/>
          </p:nvSpPr>
          <p:spPr bwMode="auto">
            <a:xfrm>
              <a:off x="3792538" y="4824413"/>
              <a:ext cx="476250" cy="427037"/>
            </a:xfrm>
            <a:prstGeom prst="rect">
              <a:avLst/>
            </a:prstGeom>
            <a:solidFill>
              <a:srgbClr val="00CC99"/>
            </a:solidFill>
          </p:spPr>
          <p:style>
            <a:lnRef idx="3">
              <a:schemeClr val="lt1"/>
            </a:lnRef>
            <a:fillRef idx="1">
              <a:schemeClr val="accent2"/>
            </a:fillRef>
            <a:effectRef idx="1">
              <a:schemeClr val="accent2"/>
            </a:effectRef>
            <a:fontRef idx="minor">
              <a:schemeClr val="lt1"/>
            </a:fontRef>
          </p:style>
          <p:txBody>
            <a:bodyPr/>
            <a:lstStyle/>
            <a:p>
              <a:pPr>
                <a:defRPr/>
              </a:pPr>
              <a:endParaRPr lang="zh-CN" altLang="zh-CN" sz="2200" b="1">
                <a:solidFill>
                  <a:schemeClr val="tx1"/>
                </a:solidFill>
                <a:latin typeface="Times New Roman" panose="02020603050405020304" pitchFamily="18" charset="0"/>
              </a:endParaRPr>
            </a:p>
          </p:txBody>
        </p:sp>
        <p:sp>
          <p:nvSpPr>
            <p:cNvPr id="103455" name="Text Box 28"/>
            <p:cNvSpPr txBox="1">
              <a:spLocks noChangeArrowheads="1"/>
            </p:cNvSpPr>
            <p:nvPr/>
          </p:nvSpPr>
          <p:spPr bwMode="auto">
            <a:xfrm>
              <a:off x="3221038" y="4824413"/>
              <a:ext cx="792162"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隶书" panose="02010509060101010101" pitchFamily="49" charset="-122"/>
                </a:defRPr>
              </a:lvl1pPr>
              <a:lvl2pPr marL="742950" indent="-285750" eaLnBrk="0" hangingPunct="0">
                <a:defRPr kumimoji="1" sz="2400">
                  <a:solidFill>
                    <a:schemeClr val="tx1"/>
                  </a:solidFill>
                  <a:latin typeface="Times New Roman" panose="02020603050405020304" pitchFamily="18" charset="0"/>
                  <a:ea typeface="隶书" panose="02010509060101010101" pitchFamily="49" charset="-122"/>
                </a:defRPr>
              </a:lvl2pPr>
              <a:lvl3pPr marL="1143000" indent="-228600" eaLnBrk="0" hangingPunct="0">
                <a:defRPr kumimoji="1" sz="2400">
                  <a:solidFill>
                    <a:schemeClr val="tx1"/>
                  </a:solidFill>
                  <a:latin typeface="Times New Roman" panose="02020603050405020304" pitchFamily="18" charset="0"/>
                  <a:ea typeface="隶书" panose="02010509060101010101" pitchFamily="49" charset="-122"/>
                </a:defRPr>
              </a:lvl3pPr>
              <a:lvl4pPr marL="1600200" indent="-228600" eaLnBrk="0" hangingPunct="0">
                <a:defRPr kumimoji="1" sz="2400">
                  <a:solidFill>
                    <a:schemeClr val="tx1"/>
                  </a:solidFill>
                  <a:latin typeface="Times New Roman" panose="02020603050405020304" pitchFamily="18" charset="0"/>
                  <a:ea typeface="隶书" panose="02010509060101010101" pitchFamily="49" charset="-122"/>
                </a:defRPr>
              </a:lvl4pPr>
              <a:lvl5pPr marL="2057400" indent="-228600" eaLnBrk="0" hangingPunct="0">
                <a:defRPr kumimoji="1"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隶书" panose="02010509060101010101" pitchFamily="49" charset="-122"/>
                </a:defRPr>
              </a:lvl9pPr>
            </a:lstStyle>
            <a:p>
              <a:pPr algn="just" eaLnBrk="1" hangingPunct="1"/>
              <a:r>
                <a:rPr lang="en-US" altLang="zh-CN" sz="2200" b="1">
                  <a:latin typeface="Calibri" panose="020F0502020204030204" pitchFamily="34" charset="0"/>
                </a:rPr>
                <a:t>ptr</a:t>
              </a:r>
              <a:endParaRPr lang="zh-CN" altLang="zh-CN" sz="2200" b="1"/>
            </a:p>
          </p:txBody>
        </p:sp>
        <p:grpSp>
          <p:nvGrpSpPr>
            <p:cNvPr id="2" name="组合 35"/>
            <p:cNvGrpSpPr/>
            <p:nvPr/>
          </p:nvGrpSpPr>
          <p:grpSpPr bwMode="auto">
            <a:xfrm>
              <a:off x="3957638" y="2371725"/>
              <a:ext cx="976312" cy="2684463"/>
              <a:chOff x="4156663" y="2372551"/>
              <a:chExt cx="976503" cy="2684331"/>
            </a:xfrm>
          </p:grpSpPr>
          <p:cxnSp>
            <p:nvCxnSpPr>
              <p:cNvPr id="34" name="AutoShape 29"/>
              <p:cNvCxnSpPr>
                <a:cxnSpLocks noChangeShapeType="1"/>
              </p:cNvCxnSpPr>
              <p:nvPr/>
            </p:nvCxnSpPr>
            <p:spPr bwMode="auto">
              <a:xfrm flipV="1">
                <a:off x="4190007" y="2372551"/>
                <a:ext cx="943159" cy="504800"/>
              </a:xfrm>
              <a:prstGeom prst="bentConnector3">
                <a:avLst>
                  <a:gd name="adj1" fmla="val 50000"/>
                </a:avLst>
              </a:prstGeom>
              <a:ln>
                <a:solidFill>
                  <a:srgbClr val="00B0F0"/>
                </a:solidFill>
                <a:tailEnd type="triangle" w="med" len="med"/>
              </a:ln>
            </p:spPr>
            <p:style>
              <a:lnRef idx="3">
                <a:schemeClr val="lt1"/>
              </a:lnRef>
              <a:fillRef idx="1">
                <a:schemeClr val="accent2"/>
              </a:fillRef>
              <a:effectRef idx="1">
                <a:schemeClr val="accent2"/>
              </a:effectRef>
              <a:fontRef idx="minor">
                <a:schemeClr val="lt1"/>
              </a:fontRef>
            </p:style>
          </p:cxnSp>
          <p:cxnSp>
            <p:nvCxnSpPr>
              <p:cNvPr id="35" name="AutoShape 30"/>
              <p:cNvCxnSpPr>
                <a:cxnSpLocks noChangeShapeType="1"/>
              </p:cNvCxnSpPr>
              <p:nvPr/>
            </p:nvCxnSpPr>
            <p:spPr bwMode="auto">
              <a:xfrm flipV="1">
                <a:off x="4156663" y="4050456"/>
                <a:ext cx="976503" cy="1006426"/>
              </a:xfrm>
              <a:prstGeom prst="bentConnector3">
                <a:avLst>
                  <a:gd name="adj1" fmla="val 49884"/>
                </a:avLst>
              </a:prstGeom>
              <a:ln>
                <a:solidFill>
                  <a:srgbClr val="00B0F0"/>
                </a:solidFill>
                <a:tailEnd type="triangle" w="med" len="med"/>
              </a:ln>
            </p:spPr>
            <p:style>
              <a:lnRef idx="3">
                <a:schemeClr val="lt1"/>
              </a:lnRef>
              <a:fillRef idx="1">
                <a:schemeClr val="accent2"/>
              </a:fillRef>
              <a:effectRef idx="1">
                <a:schemeClr val="accent2"/>
              </a:effectRef>
              <a:fontRef idx="minor">
                <a:schemeClr val="lt1"/>
              </a:fontRef>
            </p:style>
          </p:cxnSp>
        </p:grpSp>
        <p:grpSp>
          <p:nvGrpSpPr>
            <p:cNvPr id="3" name="组合 49"/>
            <p:cNvGrpSpPr/>
            <p:nvPr/>
          </p:nvGrpSpPr>
          <p:grpSpPr bwMode="auto">
            <a:xfrm>
              <a:off x="4000500" y="2357438"/>
              <a:ext cx="1000125" cy="2657475"/>
              <a:chOff x="2571736" y="3286124"/>
              <a:chExt cx="547688" cy="1800225"/>
            </a:xfrm>
          </p:grpSpPr>
          <p:cxnSp>
            <p:nvCxnSpPr>
              <p:cNvPr id="37" name="AutoShape 31"/>
              <p:cNvCxnSpPr>
                <a:cxnSpLocks noChangeShapeType="1"/>
              </p:cNvCxnSpPr>
              <p:nvPr/>
            </p:nvCxnSpPr>
            <p:spPr bwMode="auto">
              <a:xfrm flipV="1">
                <a:off x="2571736" y="3286124"/>
                <a:ext cx="547688" cy="1800225"/>
              </a:xfrm>
              <a:prstGeom prst="bentConnector3">
                <a:avLst>
                  <a:gd name="adj1" fmla="val 69023"/>
                </a:avLst>
              </a:prstGeom>
              <a:ln>
                <a:solidFill>
                  <a:srgbClr val="00B0F0"/>
                </a:solidFill>
                <a:tailEnd type="triangle" w="med" len="med"/>
              </a:ln>
            </p:spPr>
            <p:style>
              <a:lnRef idx="3">
                <a:schemeClr val="accent2"/>
              </a:lnRef>
              <a:fillRef idx="0">
                <a:schemeClr val="accent2"/>
              </a:fillRef>
              <a:effectRef idx="2">
                <a:schemeClr val="accent2"/>
              </a:effectRef>
              <a:fontRef idx="minor">
                <a:schemeClr val="tx1"/>
              </a:fontRef>
            </p:style>
          </p:cxnSp>
          <p:cxnSp>
            <p:nvCxnSpPr>
              <p:cNvPr id="38" name="AutoShape 32"/>
              <p:cNvCxnSpPr>
                <a:cxnSpLocks noChangeShapeType="1"/>
              </p:cNvCxnSpPr>
              <p:nvPr/>
            </p:nvCxnSpPr>
            <p:spPr bwMode="auto">
              <a:xfrm>
                <a:off x="2571736" y="3638856"/>
                <a:ext cx="547688" cy="773215"/>
              </a:xfrm>
              <a:prstGeom prst="bentConnector3">
                <a:avLst>
                  <a:gd name="adj1" fmla="val 49884"/>
                </a:avLst>
              </a:prstGeom>
              <a:ln>
                <a:solidFill>
                  <a:srgbClr val="00B0F0"/>
                </a:solidFill>
                <a:tailEnd type="triangle" w="med" len="med"/>
              </a:ln>
            </p:spPr>
            <p:style>
              <a:lnRef idx="3">
                <a:schemeClr val="accent2"/>
              </a:lnRef>
              <a:fillRef idx="0">
                <a:schemeClr val="accent2"/>
              </a:fillRef>
              <a:effectRef idx="2">
                <a:schemeClr val="accent2"/>
              </a:effectRef>
              <a:fontRef idx="minor">
                <a:schemeClr val="tx1"/>
              </a:fontRef>
            </p:style>
          </p:cxnSp>
        </p:grpSp>
        <p:sp>
          <p:nvSpPr>
            <p:cNvPr id="39" name="TextBox 38"/>
            <p:cNvSpPr txBox="1"/>
            <p:nvPr/>
          </p:nvSpPr>
          <p:spPr>
            <a:xfrm>
              <a:off x="6715125" y="2357438"/>
              <a:ext cx="1143000" cy="461962"/>
            </a:xfrm>
            <a:prstGeom prst="rect">
              <a:avLst/>
            </a:prstGeom>
          </p:spPr>
          <p:style>
            <a:lnRef idx="3">
              <a:schemeClr val="lt1"/>
            </a:lnRef>
            <a:fillRef idx="1">
              <a:schemeClr val="accent2"/>
            </a:fillRef>
            <a:effectRef idx="1">
              <a:schemeClr val="accent2"/>
            </a:effectRef>
            <a:fontRef idx="minor">
              <a:schemeClr val="lt1"/>
            </a:fontRef>
          </p:style>
          <p:txBody>
            <a:bodyPr>
              <a:spAutoFit/>
            </a:bodyPr>
            <a:lstStyle/>
            <a:p>
              <a:pPr>
                <a:defRPr/>
              </a:pPr>
              <a:r>
                <a:rPr lang="zh-CN" altLang="en-US" b="1" dirty="0"/>
                <a:t>交换前</a:t>
              </a:r>
              <a:endParaRPr lang="zh-CN" altLang="en-US" b="1" dirty="0"/>
            </a:p>
          </p:txBody>
        </p:sp>
        <p:sp>
          <p:nvSpPr>
            <p:cNvPr id="40" name="TextBox 39"/>
            <p:cNvSpPr txBox="1"/>
            <p:nvPr/>
          </p:nvSpPr>
          <p:spPr>
            <a:xfrm>
              <a:off x="6715125" y="2357438"/>
              <a:ext cx="1143000" cy="461962"/>
            </a:xfrm>
            <a:prstGeom prst="rect">
              <a:avLst/>
            </a:prstGeom>
          </p:spPr>
          <p:style>
            <a:lnRef idx="3">
              <a:schemeClr val="lt1"/>
            </a:lnRef>
            <a:fillRef idx="1">
              <a:schemeClr val="accent2"/>
            </a:fillRef>
            <a:effectRef idx="1">
              <a:schemeClr val="accent2"/>
            </a:effectRef>
            <a:fontRef idx="minor">
              <a:schemeClr val="lt1"/>
            </a:fontRef>
          </p:style>
          <p:txBody>
            <a:bodyPr>
              <a:spAutoFit/>
            </a:bodyPr>
            <a:lstStyle/>
            <a:p>
              <a:pPr>
                <a:defRPr/>
              </a:pPr>
              <a:r>
                <a:rPr lang="zh-CN" altLang="en-US" b="1" dirty="0"/>
                <a:t>交换后</a:t>
              </a:r>
              <a:endParaRPr lang="zh-CN" altLang="en-US" b="1" dirty="0"/>
            </a:p>
          </p:txBody>
        </p:sp>
      </p:grpSp>
      <p:sp>
        <p:nvSpPr>
          <p:cNvPr id="41" name="TextBox 40"/>
          <p:cNvSpPr txBox="1"/>
          <p:nvPr/>
        </p:nvSpPr>
        <p:spPr>
          <a:xfrm>
            <a:off x="785813" y="1785938"/>
            <a:ext cx="2143125" cy="830262"/>
          </a:xfrm>
          <a:prstGeom prst="rect">
            <a:avLst/>
          </a:prstGeom>
        </p:spPr>
        <p:style>
          <a:lnRef idx="3">
            <a:schemeClr val="lt1"/>
          </a:lnRef>
          <a:fillRef idx="1">
            <a:schemeClr val="accent2"/>
          </a:fillRef>
          <a:effectRef idx="1">
            <a:schemeClr val="accent2"/>
          </a:effectRef>
          <a:fontRef idx="minor">
            <a:schemeClr val="lt1"/>
          </a:fontRef>
        </p:style>
        <p:txBody>
          <a:bodyPr>
            <a:spAutoFit/>
          </a:bodyPr>
          <a:lstStyle/>
          <a:p>
            <a:pPr algn="l">
              <a:defRPr/>
            </a:pPr>
            <a:r>
              <a:rPr lang="zh-CN" altLang="en-US" b="1" dirty="0"/>
              <a:t>以</a:t>
            </a:r>
            <a:r>
              <a:rPr lang="en-US" altLang="zh-CN" b="1" dirty="0"/>
              <a:t>vector&lt;</a:t>
            </a:r>
            <a:r>
              <a:rPr lang="en-US" altLang="zh-CN" b="1" dirty="0" err="1"/>
              <a:t>int</a:t>
            </a:r>
            <a:r>
              <a:rPr lang="en-US" altLang="zh-CN" b="1" dirty="0"/>
              <a:t>&gt;</a:t>
            </a:r>
            <a:r>
              <a:rPr lang="zh-CN" altLang="en-US" b="1" dirty="0"/>
              <a:t>型对象为例</a:t>
            </a:r>
            <a:endParaRPr lang="zh-CN" altLang="en-US" b="1" dirty="0"/>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对容器实现高效的</a:t>
            </a:r>
            <a:r>
              <a:rPr lang="en-US" altLang="zh-CN" sz="4400" b="1">
                <a:latin typeface="Times New Roman" panose="02020603050405020304" pitchFamily="18" charset="0"/>
                <a:ea typeface="隶书" panose="02010509060101010101" pitchFamily="49" charset="-122"/>
              </a:rPr>
              <a:t>swap</a:t>
            </a:r>
            <a:endParaRPr lang="zh-CN" altLang="en-US" sz="4400" b="1">
              <a:latin typeface="Times New Roman" panose="02020603050405020304" pitchFamily="18" charset="0"/>
              <a:ea typeface="隶书" panose="02010509060101010101" pitchFamily="49" charset="-122"/>
            </a:endParaRPr>
          </a:p>
        </p:txBody>
      </p:sp>
      <p:sp>
        <p:nvSpPr>
          <p:cNvPr id="104451" name="内容占位符 2"/>
          <p:cNvSpPr>
            <a:spLocks noGrp="1"/>
          </p:cNvSpPr>
          <p:nvPr>
            <p:ph idx="1"/>
          </p:nvPr>
        </p:nvSpPr>
        <p:spPr>
          <a:xfrm>
            <a:off x="683568" y="1340768"/>
            <a:ext cx="7886700" cy="4351338"/>
          </a:xfrm>
        </p:spPr>
        <p:txBody>
          <a:bodyPr/>
          <a:lstStyle/>
          <a:p>
            <a:pPr>
              <a:spcAft>
                <a:spcPct val="25000"/>
              </a:spcAft>
            </a:pPr>
            <a:r>
              <a:rPr lang="zh-CN" altLang="en-US" sz="2400" b="1" dirty="0">
                <a:ea typeface="华文楷体" panose="02010600040101010101" pitchFamily="2" charset="-122"/>
              </a:rPr>
              <a:t>每个容器都有一个成员函数</a:t>
            </a:r>
            <a:r>
              <a:rPr lang="en-US" altLang="zh-CN" sz="2400" b="1" dirty="0">
                <a:ea typeface="华文楷体" panose="02010600040101010101" pitchFamily="2" charset="-122"/>
              </a:rPr>
              <a:t>swap</a:t>
            </a:r>
            <a:r>
              <a:rPr lang="zh-CN" altLang="en-US" sz="2400" b="1" dirty="0">
                <a:ea typeface="华文楷体" panose="02010600040101010101" pitchFamily="2" charset="-122"/>
              </a:rPr>
              <a:t>，执行高效的交换操作</a:t>
            </a:r>
            <a:endParaRPr lang="en-US" altLang="zh-CN"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对于每个容器，</a:t>
            </a:r>
            <a:r>
              <a:rPr lang="en-US" altLang="zh-CN" sz="2400" b="1" dirty="0">
                <a:ea typeface="华文楷体" panose="02010600040101010101" pitchFamily="2" charset="-122"/>
              </a:rPr>
              <a:t>STL</a:t>
            </a:r>
            <a:r>
              <a:rPr lang="zh-CN" altLang="en-US" sz="2400" b="1" dirty="0">
                <a:ea typeface="华文楷体" panose="02010600040101010101" pitchFamily="2" charset="-122"/>
              </a:rPr>
              <a:t>都对</a:t>
            </a:r>
            <a:r>
              <a:rPr lang="en-US" altLang="zh-CN" sz="2400" b="1" dirty="0">
                <a:ea typeface="华文楷体" panose="02010600040101010101" pitchFamily="2" charset="-122"/>
              </a:rPr>
              <a:t>swap</a:t>
            </a:r>
            <a:r>
              <a:rPr lang="zh-CN" altLang="en-US" sz="2400" b="1" dirty="0">
                <a:ea typeface="华文楷体" panose="02010600040101010101" pitchFamily="2" charset="-122"/>
              </a:rPr>
              <a:t>函数模版进行了重载，使之调用容器的成员函数，从而在对容器使用</a:t>
            </a:r>
            <a:r>
              <a:rPr lang="en-US" altLang="zh-CN" sz="2400" b="1" dirty="0">
                <a:ea typeface="华文楷体" panose="02010600040101010101" pitchFamily="2" charset="-122"/>
              </a:rPr>
              <a:t>swap</a:t>
            </a:r>
            <a:r>
              <a:rPr lang="zh-CN" altLang="en-US" sz="2400" b="1" dirty="0">
                <a:ea typeface="华文楷体" panose="02010600040101010101" pitchFamily="2" charset="-122"/>
              </a:rPr>
              <a:t>函数时，执行的是高效的交换操作，如：</a:t>
            </a:r>
            <a:endParaRPr lang="en-US" altLang="zh-CN" sz="2400" b="1" dirty="0">
              <a:ea typeface="华文楷体" panose="02010600040101010101" pitchFamily="2" charset="-122"/>
            </a:endParaRPr>
          </a:p>
          <a:p>
            <a:pPr marL="457200" lvl="1" indent="0">
              <a:buNone/>
            </a:pPr>
            <a:r>
              <a:rPr lang="en-US" altLang="zh-CN" sz="2400" b="1" dirty="0">
                <a:solidFill>
                  <a:srgbClr val="FFFF00"/>
                </a:solidFill>
                <a:ea typeface="华文楷体" panose="02010600040101010101" pitchFamily="2" charset="-122"/>
              </a:rPr>
              <a:t>template &lt;class T&gt;</a:t>
            </a:r>
            <a:endParaRPr lang="en-US" altLang="zh-CN" sz="2400" b="1" dirty="0">
              <a:solidFill>
                <a:srgbClr val="FFFF00"/>
              </a:solidFill>
              <a:ea typeface="华文楷体" panose="02010600040101010101" pitchFamily="2" charset="-122"/>
            </a:endParaRPr>
          </a:p>
          <a:p>
            <a:pPr marL="457200" lvl="1" indent="0">
              <a:buNone/>
            </a:pPr>
            <a:r>
              <a:rPr lang="en-US" altLang="zh-CN" sz="2400" b="1" dirty="0">
                <a:solidFill>
                  <a:srgbClr val="FFFF00"/>
                </a:solidFill>
                <a:ea typeface="华文楷体" panose="02010600040101010101" pitchFamily="2" charset="-122"/>
              </a:rPr>
              <a:t>inline void swap(vector&lt;T&gt;&amp; a,</a:t>
            </a:r>
            <a:endParaRPr lang="en-US" altLang="zh-CN" sz="2400" b="1" dirty="0">
              <a:solidFill>
                <a:srgbClr val="FFFF00"/>
              </a:solidFill>
              <a:ea typeface="华文楷体" panose="02010600040101010101" pitchFamily="2" charset="-122"/>
            </a:endParaRPr>
          </a:p>
          <a:p>
            <a:pPr marL="457200" lvl="1" indent="0">
              <a:buNone/>
            </a:pPr>
            <a:r>
              <a:rPr lang="en-US" altLang="zh-CN" sz="2400" b="1" dirty="0">
                <a:solidFill>
                  <a:srgbClr val="FFFF00"/>
                </a:solidFill>
                <a:ea typeface="华文楷体" panose="02010600040101010101" pitchFamily="2" charset="-122"/>
              </a:rPr>
              <a:t>                 vector&lt;T&gt;&amp; b) {</a:t>
            </a:r>
            <a:endParaRPr lang="en-US" altLang="zh-CN" sz="2400" b="1" dirty="0">
              <a:solidFill>
                <a:srgbClr val="FFFF00"/>
              </a:solidFill>
              <a:ea typeface="华文楷体" panose="02010600040101010101" pitchFamily="2" charset="-122"/>
            </a:endParaRPr>
          </a:p>
          <a:p>
            <a:pPr marL="457200" lvl="1" indent="0">
              <a:buNone/>
            </a:pPr>
            <a:r>
              <a:rPr lang="en-US" altLang="zh-CN" sz="2400" b="1" dirty="0">
                <a:solidFill>
                  <a:srgbClr val="FFFF00"/>
                </a:solidFill>
                <a:ea typeface="华文楷体" panose="02010600040101010101" pitchFamily="2" charset="-122"/>
              </a:rPr>
              <a:t>	</a:t>
            </a:r>
            <a:r>
              <a:rPr lang="en-US" altLang="zh-CN" sz="2400" b="1" dirty="0" err="1">
                <a:solidFill>
                  <a:srgbClr val="FFFF00"/>
                </a:solidFill>
                <a:ea typeface="华文楷体" panose="02010600040101010101" pitchFamily="2" charset="-122"/>
              </a:rPr>
              <a:t>a.swap</a:t>
            </a:r>
            <a:r>
              <a:rPr lang="en-US" altLang="zh-CN" sz="2400" b="1" dirty="0">
                <a:solidFill>
                  <a:srgbClr val="FFFF00"/>
                </a:solidFill>
                <a:ea typeface="华文楷体" panose="02010600040101010101" pitchFamily="2" charset="-122"/>
              </a:rPr>
              <a:t>(b);</a:t>
            </a:r>
            <a:endParaRPr lang="en-US" altLang="zh-CN" sz="2400" b="1" dirty="0">
              <a:solidFill>
                <a:srgbClr val="FFFF00"/>
              </a:solidFill>
              <a:ea typeface="华文楷体" panose="02010600040101010101" pitchFamily="2" charset="-122"/>
            </a:endParaRPr>
          </a:p>
          <a:p>
            <a:pPr marL="457200" lvl="1" indent="0">
              <a:buNone/>
            </a:pPr>
            <a:r>
              <a:rPr lang="en-US" altLang="zh-CN" sz="2400" b="1" dirty="0">
                <a:solidFill>
                  <a:srgbClr val="FFFF00"/>
                </a:solidFill>
                <a:ea typeface="华文楷体" panose="02010600040101010101" pitchFamily="2" charset="-122"/>
              </a:rPr>
              <a:t>}</a:t>
            </a:r>
            <a:endParaRPr lang="en-US" altLang="zh-CN" sz="2400" b="1" dirty="0">
              <a:solidFill>
                <a:srgbClr val="FFFF00"/>
              </a:solidFill>
              <a:ea typeface="华文楷体" panose="02010600040101010101" pitchFamily="2" charset="-122"/>
            </a:endParaRP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sz="4400" b="1" dirty="0">
                <a:latin typeface="Times New Roman" panose="02020603050405020304" pitchFamily="18" charset="0"/>
                <a:ea typeface="隶书" panose="02010509060101010101" pitchFamily="49" charset="-122"/>
              </a:rPr>
              <a:t>10.9.2 </a:t>
            </a:r>
            <a:r>
              <a:rPr lang="en-US" sz="4400" b="1" dirty="0">
                <a:latin typeface="Times New Roman" panose="02020603050405020304" pitchFamily="18" charset="0"/>
                <a:ea typeface="隶书" panose="02010509060101010101" pitchFamily="49" charset="-122"/>
              </a:rPr>
              <a:t>STL</a:t>
            </a:r>
            <a:r>
              <a:rPr lang="zh-CN" altLang="en-US" sz="4400" b="1" dirty="0">
                <a:latin typeface="Times New Roman" panose="02020603050405020304" pitchFamily="18" charset="0"/>
                <a:ea typeface="隶书" panose="02010509060101010101" pitchFamily="49" charset="-122"/>
              </a:rPr>
              <a:t>组件的类型特征与</a:t>
            </a:r>
            <a:r>
              <a:rPr lang="en-US" sz="4400" b="1" dirty="0">
                <a:latin typeface="Times New Roman" panose="02020603050405020304" pitchFamily="18" charset="0"/>
                <a:ea typeface="隶书" panose="02010509060101010101" pitchFamily="49" charset="-122"/>
              </a:rPr>
              <a:t>STL</a:t>
            </a:r>
            <a:r>
              <a:rPr lang="zh-CN" altLang="en-US" sz="4400" b="1" dirty="0">
                <a:latin typeface="Times New Roman" panose="02020603050405020304" pitchFamily="18" charset="0"/>
                <a:ea typeface="隶书" panose="02010509060101010101" pitchFamily="49" charset="-122"/>
              </a:rPr>
              <a:t>的扩展</a:t>
            </a:r>
            <a:endParaRPr lang="zh-CN" altLang="en-US" sz="4400" b="1" dirty="0">
              <a:latin typeface="Times New Roman" panose="02020603050405020304" pitchFamily="18" charset="0"/>
              <a:ea typeface="隶书" panose="02010509060101010101" pitchFamily="49" charset="-122"/>
            </a:endParaRPr>
          </a:p>
        </p:txBody>
      </p:sp>
      <p:sp>
        <p:nvSpPr>
          <p:cNvPr id="105475" name="内容占位符 2"/>
          <p:cNvSpPr>
            <a:spLocks noGrp="1"/>
          </p:cNvSpPr>
          <p:nvPr>
            <p:ph idx="1"/>
          </p:nvPr>
        </p:nvSpPr>
        <p:spPr/>
        <p:txBody>
          <a:bodyPr/>
          <a:lstStyle/>
          <a:p>
            <a:pPr>
              <a:spcAft>
                <a:spcPct val="25000"/>
              </a:spcAft>
            </a:pPr>
            <a:r>
              <a:rPr lang="zh-CN" altLang="en-US" sz="2400" b="1" dirty="0">
                <a:ea typeface="华文楷体" panose="02010600040101010101" pitchFamily="2" charset="-122"/>
              </a:rPr>
              <a:t>思考</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solidFill>
                  <a:srgbClr val="FFFF00"/>
                </a:solidFill>
                <a:ea typeface="华文楷体" panose="02010600040101010101" pitchFamily="2" charset="-122"/>
              </a:rPr>
              <a:t>在一个以迭代器为输入的算法中，如何表示迭代器所指向元素的类型？</a:t>
            </a:r>
            <a:endParaRPr lang="en-US" altLang="zh-CN" sz="2400" b="1" dirty="0">
              <a:solidFill>
                <a:srgbClr val="FFFF00"/>
              </a:solidFill>
              <a:ea typeface="华文楷体" panose="02010600040101010101" pitchFamily="2" charset="-122"/>
            </a:endParaRPr>
          </a:p>
          <a:p>
            <a:pPr>
              <a:spcAft>
                <a:spcPct val="25000"/>
              </a:spcAft>
            </a:pPr>
            <a:r>
              <a:rPr lang="zh-CN" altLang="en-US" sz="2400" b="1" dirty="0">
                <a:ea typeface="华文楷体" panose="02010600040101010101" pitchFamily="2" charset="-122"/>
              </a:rPr>
              <a:t>类型特征</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通过类型特征可以获得与一个类型相关联的其它数据类型</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通过函数对象的类型特征可以得到函数对象的参数和返回值类型</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通过迭代器的类型特征可以得到迭代器指向元素的类型</a:t>
            </a:r>
            <a:endParaRPr lang="zh-CN" altLang="en-US" sz="2400" b="1" dirty="0">
              <a:ea typeface="华文楷体" panose="02010600040101010101" pitchFamily="2" charset="-122"/>
            </a:endParaRP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p:cNvSpPr>
          <p:nvPr>
            <p:ph type="title"/>
          </p:nvPr>
        </p:nvSpPr>
        <p:spPr>
          <a:xfrm>
            <a:off x="611560" y="260648"/>
            <a:ext cx="7886700" cy="1325563"/>
          </a:xfrm>
        </p:spPr>
        <p:txBody>
          <a:bodyPr/>
          <a:lstStyle/>
          <a:p>
            <a:pPr algn="ctr"/>
            <a:r>
              <a:rPr lang="zh-CN" altLang="en-US" sz="4400" b="1">
                <a:latin typeface="Times New Roman" panose="02020603050405020304" pitchFamily="18" charset="0"/>
                <a:ea typeface="隶书" panose="02010509060101010101" pitchFamily="49" charset="-122"/>
              </a:rPr>
              <a:t>函数对象的类型特征</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683568" y="1124744"/>
            <a:ext cx="7886700" cy="4351338"/>
          </a:xfrm>
        </p:spPr>
        <p:txBody>
          <a:bodyPr/>
          <a:lstStyle/>
          <a:p>
            <a:pPr>
              <a:spcAft>
                <a:spcPct val="25000"/>
              </a:spcAft>
            </a:pPr>
            <a:r>
              <a:rPr lang="en-US" altLang="zh-CN" sz="2400" b="1" dirty="0">
                <a:ea typeface="华文楷体" panose="02010600040101010101" pitchFamily="2" charset="-122"/>
              </a:rPr>
              <a:t>STL</a:t>
            </a:r>
            <a:r>
              <a:rPr lang="zh-CN" altLang="en-US" sz="2400" b="1" dirty="0">
                <a:ea typeface="华文楷体" panose="02010600040101010101" pitchFamily="2" charset="-122"/>
              </a:rPr>
              <a:t>提供的二元函数对象皆继承自以下结构体：</a:t>
            </a:r>
            <a:endParaRPr lang="en-US" altLang="zh-CN" sz="2400" b="1" dirty="0">
              <a:ea typeface="华文楷体" panose="02010600040101010101" pitchFamily="2" charset="-122"/>
            </a:endParaRPr>
          </a:p>
          <a:p>
            <a:pPr marL="457200" lvl="1" indent="0">
              <a:buNone/>
            </a:pPr>
            <a:r>
              <a:rPr lang="en-US" altLang="zh-CN" sz="2000" b="1" dirty="0">
                <a:solidFill>
                  <a:srgbClr val="FFFF00"/>
                </a:solidFill>
                <a:ea typeface="华文楷体" panose="02010600040101010101" pitchFamily="2" charset="-122"/>
              </a:rPr>
              <a:t>template&lt;class Arg1, class Arg2, class Result&gt;</a:t>
            </a:r>
            <a:endParaRPr lang="en-US" altLang="zh-CN" sz="2000" b="1" dirty="0">
              <a:solidFill>
                <a:srgbClr val="FFFF00"/>
              </a:solidFill>
              <a:ea typeface="华文楷体" panose="02010600040101010101" pitchFamily="2" charset="-122"/>
            </a:endParaRPr>
          </a:p>
          <a:p>
            <a:pPr marL="457200" lvl="1" indent="0">
              <a:buNone/>
            </a:pPr>
            <a:r>
              <a:rPr lang="en-US" altLang="zh-CN" sz="2000" b="1" dirty="0" err="1">
                <a:solidFill>
                  <a:srgbClr val="FFFF00"/>
                </a:solidFill>
                <a:ea typeface="华文楷体" panose="02010600040101010101" pitchFamily="2" charset="-122"/>
              </a:rPr>
              <a:t>struct</a:t>
            </a:r>
            <a:r>
              <a:rPr lang="en-US" altLang="zh-CN" sz="2000" b="1" dirty="0">
                <a:solidFill>
                  <a:srgbClr val="FFFF00"/>
                </a:solidFill>
                <a:ea typeface="华文楷体" panose="02010600040101010101" pitchFamily="2" charset="-122"/>
              </a:rPr>
              <a:t> </a:t>
            </a:r>
            <a:r>
              <a:rPr lang="en-US" altLang="zh-CN" sz="2000" b="1" dirty="0" err="1">
                <a:solidFill>
                  <a:srgbClr val="FFFF00"/>
                </a:solidFill>
                <a:ea typeface="华文楷体" panose="02010600040101010101" pitchFamily="2" charset="-122"/>
              </a:rPr>
              <a:t>binary_function</a:t>
            </a:r>
            <a:r>
              <a:rPr lang="en-US" altLang="zh-CN" sz="2000" b="1" dirty="0">
                <a:solidFill>
                  <a:srgbClr val="FFFF00"/>
                </a:solidFill>
                <a:ea typeface="华文楷体" panose="02010600040101010101" pitchFamily="2" charset="-122"/>
              </a:rPr>
              <a:t> {</a:t>
            </a:r>
            <a:endParaRPr lang="en-US" altLang="zh-CN" sz="2000" b="1" dirty="0">
              <a:solidFill>
                <a:srgbClr val="FFFF00"/>
              </a:solidFill>
              <a:ea typeface="华文楷体" panose="02010600040101010101" pitchFamily="2" charset="-122"/>
            </a:endParaRPr>
          </a:p>
          <a:p>
            <a:pPr marL="457200" lvl="1" indent="0">
              <a:buNone/>
            </a:pPr>
            <a:r>
              <a:rPr lang="en-US" altLang="zh-CN" sz="2000" b="1" dirty="0">
                <a:solidFill>
                  <a:srgbClr val="FFFF00"/>
                </a:solidFill>
                <a:ea typeface="华文楷体" panose="02010600040101010101" pitchFamily="2" charset="-122"/>
              </a:rPr>
              <a:t>	</a:t>
            </a:r>
            <a:r>
              <a:rPr lang="en-US" altLang="zh-CN" sz="2000" b="1" dirty="0" err="1">
                <a:solidFill>
                  <a:srgbClr val="FFFF00"/>
                </a:solidFill>
                <a:ea typeface="华文楷体" panose="02010600040101010101" pitchFamily="2" charset="-122"/>
              </a:rPr>
              <a:t>typedef</a:t>
            </a:r>
            <a:r>
              <a:rPr lang="en-US" altLang="zh-CN" sz="2000" b="1" dirty="0">
                <a:solidFill>
                  <a:srgbClr val="FFFF00"/>
                </a:solidFill>
                <a:ea typeface="华文楷体" panose="02010600040101010101" pitchFamily="2" charset="-122"/>
              </a:rPr>
              <a:t> Arg1 </a:t>
            </a:r>
            <a:r>
              <a:rPr lang="en-US" altLang="zh-CN" sz="2000" b="1" dirty="0" err="1">
                <a:solidFill>
                  <a:srgbClr val="FFFF00"/>
                </a:solidFill>
                <a:ea typeface="华文楷体" panose="02010600040101010101" pitchFamily="2" charset="-122"/>
              </a:rPr>
              <a:t>first_argument_type</a:t>
            </a:r>
            <a:r>
              <a:rPr lang="en-US" altLang="zh-CN" sz="2000" b="1" dirty="0">
                <a:solidFill>
                  <a:srgbClr val="FFFF00"/>
                </a:solidFill>
                <a:ea typeface="华文楷体" panose="02010600040101010101" pitchFamily="2" charset="-122"/>
              </a:rPr>
              <a:t>;</a:t>
            </a:r>
            <a:endParaRPr lang="en-US" altLang="zh-CN" sz="2000" b="1" dirty="0">
              <a:solidFill>
                <a:srgbClr val="FFFF00"/>
              </a:solidFill>
              <a:ea typeface="华文楷体" panose="02010600040101010101" pitchFamily="2" charset="-122"/>
            </a:endParaRPr>
          </a:p>
          <a:p>
            <a:pPr marL="457200" lvl="1" indent="0">
              <a:buNone/>
            </a:pPr>
            <a:r>
              <a:rPr lang="en-US" altLang="zh-CN" sz="2000" b="1" dirty="0">
                <a:solidFill>
                  <a:srgbClr val="FFFF00"/>
                </a:solidFill>
                <a:ea typeface="华文楷体" panose="02010600040101010101" pitchFamily="2" charset="-122"/>
              </a:rPr>
              <a:t>	</a:t>
            </a:r>
            <a:r>
              <a:rPr lang="en-US" altLang="zh-CN" sz="2000" b="1" dirty="0" err="1">
                <a:solidFill>
                  <a:srgbClr val="FFFF00"/>
                </a:solidFill>
                <a:ea typeface="华文楷体" panose="02010600040101010101" pitchFamily="2" charset="-122"/>
              </a:rPr>
              <a:t>typedef</a:t>
            </a:r>
            <a:r>
              <a:rPr lang="en-US" altLang="zh-CN" sz="2000" b="1" dirty="0">
                <a:solidFill>
                  <a:srgbClr val="FFFF00"/>
                </a:solidFill>
                <a:ea typeface="华文楷体" panose="02010600040101010101" pitchFamily="2" charset="-122"/>
              </a:rPr>
              <a:t> Arg2 </a:t>
            </a:r>
            <a:r>
              <a:rPr lang="en-US" altLang="zh-CN" sz="2000" b="1" dirty="0" err="1">
                <a:solidFill>
                  <a:srgbClr val="FFFF00"/>
                </a:solidFill>
                <a:ea typeface="华文楷体" panose="02010600040101010101" pitchFamily="2" charset="-122"/>
              </a:rPr>
              <a:t>second_argument_type</a:t>
            </a:r>
            <a:r>
              <a:rPr lang="en-US" altLang="zh-CN" sz="2000" b="1" dirty="0">
                <a:solidFill>
                  <a:srgbClr val="FFFF00"/>
                </a:solidFill>
                <a:ea typeface="华文楷体" panose="02010600040101010101" pitchFamily="2" charset="-122"/>
              </a:rPr>
              <a:t>;</a:t>
            </a:r>
            <a:endParaRPr lang="en-US" altLang="zh-CN" sz="2000" b="1" dirty="0">
              <a:solidFill>
                <a:srgbClr val="FFFF00"/>
              </a:solidFill>
              <a:ea typeface="华文楷体" panose="02010600040101010101" pitchFamily="2" charset="-122"/>
            </a:endParaRPr>
          </a:p>
          <a:p>
            <a:pPr marL="457200" lvl="1" indent="0">
              <a:buNone/>
            </a:pPr>
            <a:r>
              <a:rPr lang="en-US" altLang="zh-CN" sz="2000" b="1" dirty="0">
                <a:solidFill>
                  <a:srgbClr val="FFFF00"/>
                </a:solidFill>
                <a:ea typeface="华文楷体" panose="02010600040101010101" pitchFamily="2" charset="-122"/>
              </a:rPr>
              <a:t>	</a:t>
            </a:r>
            <a:r>
              <a:rPr lang="en-US" altLang="zh-CN" sz="2000" b="1" dirty="0" err="1">
                <a:solidFill>
                  <a:srgbClr val="FFFF00"/>
                </a:solidFill>
                <a:ea typeface="华文楷体" panose="02010600040101010101" pitchFamily="2" charset="-122"/>
              </a:rPr>
              <a:t>typedef</a:t>
            </a:r>
            <a:r>
              <a:rPr lang="en-US" altLang="zh-CN" sz="2000" b="1" dirty="0">
                <a:solidFill>
                  <a:srgbClr val="FFFF00"/>
                </a:solidFill>
                <a:ea typeface="华文楷体" panose="02010600040101010101" pitchFamily="2" charset="-122"/>
              </a:rPr>
              <a:t> Result </a:t>
            </a:r>
            <a:r>
              <a:rPr lang="en-US" altLang="zh-CN" sz="2000" b="1" dirty="0" err="1">
                <a:solidFill>
                  <a:srgbClr val="FFFF00"/>
                </a:solidFill>
                <a:ea typeface="华文楷体" panose="02010600040101010101" pitchFamily="2" charset="-122"/>
              </a:rPr>
              <a:t>result_type</a:t>
            </a:r>
            <a:r>
              <a:rPr lang="en-US" altLang="zh-CN" sz="2000" b="1" dirty="0">
                <a:solidFill>
                  <a:srgbClr val="FFFF00"/>
                </a:solidFill>
                <a:ea typeface="华文楷体" panose="02010600040101010101" pitchFamily="2" charset="-122"/>
              </a:rPr>
              <a:t>;</a:t>
            </a:r>
            <a:endParaRPr lang="en-US" altLang="zh-CN" sz="2000" b="1" dirty="0">
              <a:solidFill>
                <a:srgbClr val="FFFF00"/>
              </a:solidFill>
              <a:ea typeface="华文楷体" panose="02010600040101010101" pitchFamily="2" charset="-122"/>
            </a:endParaRPr>
          </a:p>
          <a:p>
            <a:pPr marL="457200" lvl="1" indent="0">
              <a:buNone/>
            </a:pPr>
            <a:r>
              <a:rPr lang="en-US" altLang="zh-CN" sz="2000" b="1" dirty="0">
                <a:solidFill>
                  <a:srgbClr val="FFFF00"/>
                </a:solidFill>
                <a:ea typeface="华文楷体" panose="02010600040101010101" pitchFamily="2" charset="-122"/>
              </a:rPr>
              <a:t>};</a:t>
            </a:r>
            <a:endParaRPr lang="en-US" altLang="zh-CN" sz="2000" b="1" dirty="0">
              <a:solidFill>
                <a:srgbClr val="FFFF00"/>
              </a:solidFill>
              <a:ea typeface="华文楷体" panose="02010600040101010101" pitchFamily="2" charset="-122"/>
            </a:endParaRPr>
          </a:p>
          <a:p>
            <a:pPr>
              <a:spcAft>
                <a:spcPct val="25000"/>
              </a:spcAft>
            </a:pPr>
            <a:r>
              <a:rPr lang="zh-CN" altLang="en-US" sz="2400" b="1" dirty="0">
                <a:ea typeface="华文楷体" panose="02010600040101010101" pitchFamily="2" charset="-122"/>
              </a:rPr>
              <a:t>若</a:t>
            </a:r>
            <a:r>
              <a:rPr lang="en-US" altLang="zh-CN" sz="2400" b="1" dirty="0">
                <a:ea typeface="华文楷体" panose="02010600040101010101" pitchFamily="2" charset="-122"/>
              </a:rPr>
              <a:t>Type</a:t>
            </a:r>
            <a:r>
              <a:rPr lang="zh-CN" altLang="en-US" sz="2400" b="1" dirty="0">
                <a:ea typeface="华文楷体" panose="02010600040101010101" pitchFamily="2" charset="-122"/>
              </a:rPr>
              <a:t>为一个符合二元函数对象的类型参数，则可通过</a:t>
            </a:r>
            <a:r>
              <a:rPr lang="en-US" altLang="zh-CN" sz="2400" b="1" dirty="0" err="1">
                <a:ea typeface="华文楷体" panose="02010600040101010101" pitchFamily="2" charset="-122"/>
              </a:rPr>
              <a:t>typename</a:t>
            </a:r>
            <a:r>
              <a:rPr lang="en-US" altLang="zh-CN" sz="2400" b="1" dirty="0">
                <a:ea typeface="华文楷体" panose="02010600040101010101" pitchFamily="2" charset="-122"/>
              </a:rPr>
              <a:t> Type::</a:t>
            </a:r>
            <a:r>
              <a:rPr lang="en-US" altLang="zh-CN" sz="2400" b="1" dirty="0" err="1">
                <a:ea typeface="华文楷体" panose="02010600040101010101" pitchFamily="2" charset="-122"/>
              </a:rPr>
              <a:t>first_argument_type</a:t>
            </a:r>
            <a:r>
              <a:rPr lang="zh-CN" altLang="en-US" sz="2400" b="1" dirty="0">
                <a:ea typeface="华文楷体" panose="02010600040101010101" pitchFamily="2" charset="-122"/>
              </a:rPr>
              <a:t>表示它的第一个参数类型</a:t>
            </a:r>
            <a:endParaRPr lang="en-US" altLang="zh-CN"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对于普通函数，使用</a:t>
            </a:r>
            <a:r>
              <a:rPr lang="en-US" altLang="zh-CN" sz="2400" b="1" dirty="0" err="1">
                <a:ea typeface="华文楷体" panose="02010600040101010101" pitchFamily="2" charset="-122"/>
              </a:rPr>
              <a:t>ptr_fun</a:t>
            </a:r>
            <a:r>
              <a:rPr lang="zh-CN" altLang="en-US" sz="2400" b="1" dirty="0">
                <a:ea typeface="华文楷体" panose="02010600040101010101" pitchFamily="2" charset="-122"/>
              </a:rPr>
              <a:t>也可得到具备类型参数的函数对象</a:t>
            </a:r>
            <a:endParaRPr lang="zh-CN" altLang="en-US" sz="2400" b="1" dirty="0">
              <a:ea typeface="华文楷体" panose="02010600040101010101" pitchFamily="2" charset="-122"/>
            </a:endParaRP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p:cNvSpPr>
            <a:spLocks noGrp="1"/>
          </p:cNvSpPr>
          <p:nvPr>
            <p:ph type="title"/>
          </p:nvPr>
        </p:nvSpPr>
        <p:spPr/>
        <p:txBody>
          <a:bodyPr/>
          <a:lstStyle/>
          <a:p>
            <a:pPr algn="ctr"/>
            <a:r>
              <a:rPr lang="zh-CN" altLang="en-US" sz="4400" b="1">
                <a:latin typeface="Times New Roman" panose="02020603050405020304" pitchFamily="18" charset="0"/>
                <a:ea typeface="隶书" panose="02010509060101010101" pitchFamily="49" charset="-122"/>
              </a:rPr>
              <a:t>迭代器的类型特征</a:t>
            </a:r>
            <a:endParaRPr lang="zh-CN" altLang="en-US" sz="4400" b="1">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p:txBody>
          <a:bodyPr/>
          <a:lstStyle/>
          <a:p>
            <a:pPr>
              <a:spcAft>
                <a:spcPct val="25000"/>
              </a:spcAft>
            </a:pPr>
            <a:r>
              <a:rPr lang="zh-CN" altLang="en-US" sz="2400" b="1" dirty="0">
                <a:ea typeface="华文楷体" panose="02010600040101010101" pitchFamily="2" charset="-122"/>
              </a:rPr>
              <a:t>若</a:t>
            </a:r>
            <a:r>
              <a:rPr lang="en-US" altLang="zh-CN" sz="2400" b="1" dirty="0">
                <a:ea typeface="华文楷体" panose="02010600040101010101" pitchFamily="2" charset="-122"/>
              </a:rPr>
              <a:t>T</a:t>
            </a:r>
            <a:r>
              <a:rPr lang="zh-CN" altLang="en-US" sz="2400" b="1" dirty="0">
                <a:ea typeface="华文楷体" panose="02010600040101010101" pitchFamily="2" charset="-122"/>
              </a:rPr>
              <a:t>为一迭代器类型，则可通过“</a:t>
            </a:r>
            <a:r>
              <a:rPr lang="en-US" altLang="zh-CN" sz="2400" b="1" dirty="0" err="1">
                <a:ea typeface="华文楷体" panose="02010600040101010101" pitchFamily="2" charset="-122"/>
              </a:rPr>
              <a:t>iterator_traits</a:t>
            </a:r>
            <a:r>
              <a:rPr lang="en-US" altLang="zh-CN" sz="2400" b="1" dirty="0">
                <a:ea typeface="华文楷体" panose="02010600040101010101" pitchFamily="2" charset="-122"/>
              </a:rPr>
              <a:t>&lt;T&gt;::</a:t>
            </a:r>
            <a:r>
              <a:rPr lang="zh-CN" altLang="en-US" sz="2400" b="1" dirty="0">
                <a:ea typeface="华文楷体" panose="02010600040101010101" pitchFamily="2" charset="-122"/>
              </a:rPr>
              <a:t>特征名”得到相关类型参数，迭代器有以下特征：</a:t>
            </a:r>
            <a:endParaRPr lang="en-US" altLang="zh-CN" sz="2400" b="1" dirty="0">
              <a:ea typeface="华文楷体" panose="02010600040101010101" pitchFamily="2" charset="-122"/>
            </a:endParaRPr>
          </a:p>
          <a:p>
            <a:pPr marL="457200" lvl="1" indent="0">
              <a:buNone/>
            </a:pPr>
            <a:r>
              <a:rPr lang="en-US" altLang="zh-CN" sz="2000" b="1" dirty="0" err="1">
                <a:solidFill>
                  <a:srgbClr val="FFFF00"/>
                </a:solidFill>
                <a:ea typeface="华文楷体" panose="02010600040101010101" pitchFamily="2" charset="-122"/>
              </a:rPr>
              <a:t>difference_type</a:t>
            </a:r>
            <a:r>
              <a:rPr lang="zh-CN" altLang="en-US" sz="2000" b="1" dirty="0">
                <a:solidFill>
                  <a:srgbClr val="FFFF00"/>
                </a:solidFill>
                <a:ea typeface="华文楷体" panose="02010600040101010101" pitchFamily="2" charset="-122"/>
              </a:rPr>
              <a:t>：表示两迭代器举例的类型</a:t>
            </a:r>
            <a:endParaRPr lang="en-US" altLang="zh-CN" sz="2000" b="1" dirty="0">
              <a:solidFill>
                <a:srgbClr val="FFFF00"/>
              </a:solidFill>
              <a:ea typeface="华文楷体" panose="02010600040101010101" pitchFamily="2" charset="-122"/>
            </a:endParaRPr>
          </a:p>
          <a:p>
            <a:pPr marL="457200" lvl="1" indent="0">
              <a:buNone/>
            </a:pPr>
            <a:r>
              <a:rPr lang="en-US" altLang="zh-CN" sz="2000" b="1" dirty="0" err="1">
                <a:solidFill>
                  <a:srgbClr val="FFFF00"/>
                </a:solidFill>
                <a:ea typeface="华文楷体" panose="02010600040101010101" pitchFamily="2" charset="-122"/>
              </a:rPr>
              <a:t>value_type</a:t>
            </a:r>
            <a:r>
              <a:rPr lang="zh-CN" altLang="en-US" sz="2000" b="1" dirty="0">
                <a:solidFill>
                  <a:srgbClr val="FFFF00"/>
                </a:solidFill>
                <a:ea typeface="华文楷体" panose="02010600040101010101" pitchFamily="2" charset="-122"/>
              </a:rPr>
              <a:t>：迭代器所指向数据的类型</a:t>
            </a:r>
            <a:endParaRPr lang="en-US" altLang="zh-CN" sz="2000" b="1" dirty="0">
              <a:solidFill>
                <a:srgbClr val="FFFF00"/>
              </a:solidFill>
              <a:ea typeface="华文楷体" panose="02010600040101010101" pitchFamily="2" charset="-122"/>
            </a:endParaRPr>
          </a:p>
          <a:p>
            <a:pPr marL="457200" lvl="1" indent="0">
              <a:buNone/>
            </a:pPr>
            <a:r>
              <a:rPr lang="en-US" altLang="zh-CN" sz="2000" b="1" dirty="0">
                <a:solidFill>
                  <a:srgbClr val="FFFF00"/>
                </a:solidFill>
                <a:ea typeface="华文楷体" panose="02010600040101010101" pitchFamily="2" charset="-122"/>
              </a:rPr>
              <a:t>pointer</a:t>
            </a:r>
            <a:r>
              <a:rPr lang="zh-CN" altLang="en-US" sz="2000" b="1" dirty="0">
                <a:solidFill>
                  <a:srgbClr val="FFFF00"/>
                </a:solidFill>
                <a:ea typeface="华文楷体" panose="02010600040101010101" pitchFamily="2" charset="-122"/>
              </a:rPr>
              <a:t>：迭代器所指向数据的指针类型</a:t>
            </a:r>
            <a:endParaRPr lang="en-US" altLang="zh-CN" sz="2000" b="1" dirty="0">
              <a:solidFill>
                <a:srgbClr val="FFFF00"/>
              </a:solidFill>
              <a:ea typeface="华文楷体" panose="02010600040101010101" pitchFamily="2" charset="-122"/>
            </a:endParaRPr>
          </a:p>
          <a:p>
            <a:pPr marL="457200" lvl="1" indent="0">
              <a:buNone/>
            </a:pPr>
            <a:r>
              <a:rPr lang="en-US" altLang="zh-CN" sz="2000" b="1" dirty="0">
                <a:solidFill>
                  <a:srgbClr val="FFFF00"/>
                </a:solidFill>
                <a:ea typeface="华文楷体" panose="02010600040101010101" pitchFamily="2" charset="-122"/>
              </a:rPr>
              <a:t>reference</a:t>
            </a:r>
            <a:r>
              <a:rPr lang="zh-CN" altLang="en-US" sz="2000" b="1" dirty="0">
                <a:solidFill>
                  <a:srgbClr val="FFFF00"/>
                </a:solidFill>
                <a:ea typeface="华文楷体" panose="02010600040101010101" pitchFamily="2" charset="-122"/>
              </a:rPr>
              <a:t>：迭代器所指向数据的引用类型</a:t>
            </a:r>
            <a:endParaRPr lang="en-US" altLang="zh-CN" sz="2000" b="1" dirty="0">
              <a:solidFill>
                <a:srgbClr val="FFFF00"/>
              </a:solidFill>
              <a:ea typeface="华文楷体" panose="02010600040101010101" pitchFamily="2" charset="-122"/>
            </a:endParaRPr>
          </a:p>
          <a:p>
            <a:pPr marL="457200" lvl="1" indent="0">
              <a:buNone/>
            </a:pPr>
            <a:r>
              <a:rPr lang="en-US" altLang="zh-CN" sz="2000" b="1" dirty="0" err="1">
                <a:solidFill>
                  <a:srgbClr val="FFFF00"/>
                </a:solidFill>
                <a:ea typeface="华文楷体" panose="02010600040101010101" pitchFamily="2" charset="-122"/>
              </a:rPr>
              <a:t>iterator_category</a:t>
            </a:r>
            <a:r>
              <a:rPr lang="zh-CN" altLang="en-US" sz="2000" b="1" dirty="0">
                <a:solidFill>
                  <a:srgbClr val="FFFF00"/>
                </a:solidFill>
                <a:ea typeface="华文楷体" panose="02010600040101010101" pitchFamily="2" charset="-122"/>
              </a:rPr>
              <a:t>：迭代器的分类标签</a:t>
            </a:r>
            <a:endParaRPr lang="en-US" altLang="zh-CN" sz="2000" b="1" dirty="0">
              <a:solidFill>
                <a:srgbClr val="FFFF00"/>
              </a:solidFill>
              <a:ea typeface="华文楷体" panose="02010600040101010101" pitchFamily="2" charset="-122"/>
            </a:endParaRP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116632"/>
            <a:ext cx="7886700" cy="1325563"/>
          </a:xfrm>
        </p:spPr>
        <p:txBody>
          <a:bodyPr>
            <a:normAutofit/>
          </a:bodyPr>
          <a:lstStyle/>
          <a:p>
            <a:pPr eaLnBrk="1" fontAlgn="auto" hangingPunct="1">
              <a:spcAft>
                <a:spcPts val="0"/>
              </a:spcAft>
              <a:defRPr/>
            </a:pPr>
            <a:r>
              <a:rPr lang="zh-CN" altLang="en-US" sz="3200" b="1" dirty="0"/>
              <a:t>例</a:t>
            </a:r>
            <a:r>
              <a:rPr lang="en-US" altLang="zh-CN" sz="3200" b="1" dirty="0"/>
              <a:t>10-23</a:t>
            </a:r>
            <a:r>
              <a:rPr lang="zh-CN" altLang="en-US" sz="3200" b="1" dirty="0"/>
              <a:t>自定义用来产生递增整数序列的迭代器</a:t>
            </a:r>
            <a:endParaRPr lang="zh-CN" altLang="en-US" sz="3200" b="1" dirty="0"/>
          </a:p>
        </p:txBody>
      </p:sp>
      <p:sp>
        <p:nvSpPr>
          <p:cNvPr id="3" name="内容占位符 2"/>
          <p:cNvSpPr>
            <a:spLocks noGrp="1"/>
          </p:cNvSpPr>
          <p:nvPr>
            <p:ph idx="1"/>
          </p:nvPr>
        </p:nvSpPr>
        <p:spPr>
          <a:xfrm>
            <a:off x="683568" y="1340768"/>
            <a:ext cx="7886700" cy="5078313"/>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//10_23.cpp, </a:t>
            </a:r>
            <a:r>
              <a:rPr lang="zh-CN" altLang="en-US" sz="1800" b="1" dirty="0">
                <a:solidFill>
                  <a:srgbClr val="000000"/>
                </a:solidFill>
                <a:latin typeface="Times New Roman" panose="02020603050405020304" pitchFamily="18" charset="0"/>
                <a:ea typeface="华文楷体" panose="02010600040101010101" pitchFamily="2" charset="-122"/>
              </a:rPr>
              <a:t>头部分省略</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template &lt;class T&gt;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class </a:t>
            </a:r>
            <a:r>
              <a:rPr lang="en-US" altLang="zh-CN" sz="1800" b="1" dirty="0" err="1">
                <a:solidFill>
                  <a:srgbClr val="000000"/>
                </a:solidFill>
                <a:latin typeface="Times New Roman" panose="02020603050405020304" pitchFamily="18" charset="0"/>
                <a:ea typeface="华文楷体" panose="02010600040101010101" pitchFamily="2" charset="-122"/>
              </a:rPr>
              <a:t>IncrementIterator</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 public </a:t>
            </a:r>
            <a:r>
              <a:rPr lang="en-US" altLang="zh-CN" sz="1800" b="1" dirty="0" err="1">
                <a:solidFill>
                  <a:srgbClr val="000000"/>
                </a:solidFill>
                <a:latin typeface="Times New Roman" panose="02020603050405020304" pitchFamily="18" charset="0"/>
                <a:ea typeface="华文楷体" panose="02010600040101010101" pitchFamily="2" charset="-122"/>
              </a:rPr>
              <a:t>iterator</a:t>
            </a:r>
            <a:r>
              <a:rPr lang="en-US" altLang="zh-CN" sz="1800" b="1" dirty="0">
                <a:solidFill>
                  <a:srgbClr val="000000"/>
                </a:solidFill>
                <a:latin typeface="Times New Roman" panose="02020603050405020304" pitchFamily="18" charset="0"/>
                <a:ea typeface="华文楷体" panose="02010600040101010101" pitchFamily="2" charset="-122"/>
              </a:rPr>
              <a:t>&lt;</a:t>
            </a:r>
            <a:r>
              <a:rPr lang="en-US" altLang="zh-CN" sz="1800" b="1" dirty="0" err="1">
                <a:solidFill>
                  <a:srgbClr val="000000"/>
                </a:solidFill>
                <a:latin typeface="Times New Roman" panose="02020603050405020304" pitchFamily="18" charset="0"/>
                <a:ea typeface="华文楷体" panose="02010600040101010101" pitchFamily="2" charset="-122"/>
              </a:rPr>
              <a:t>input_iterator_tag</a:t>
            </a:r>
            <a:r>
              <a:rPr lang="en-US" altLang="zh-CN" sz="1800" b="1" dirty="0">
                <a:solidFill>
                  <a:srgbClr val="000000"/>
                </a:solidFill>
                <a:latin typeface="Times New Roman" panose="02020603050405020304" pitchFamily="18" charset="0"/>
                <a:ea typeface="华文楷体" panose="02010600040101010101" pitchFamily="2" charset="-122"/>
              </a:rPr>
              <a:t>, T, </a:t>
            </a:r>
            <a:r>
              <a:rPr lang="en-US" altLang="zh-CN" sz="1800" b="1" dirty="0" err="1">
                <a:solidFill>
                  <a:srgbClr val="000000"/>
                </a:solidFill>
                <a:latin typeface="Times New Roman" panose="02020603050405020304" pitchFamily="18" charset="0"/>
                <a:ea typeface="华文楷体" panose="02010600040101010101" pitchFamily="2" charset="-122"/>
              </a:rPr>
              <a:t>ptrdiff_t</a:t>
            </a:r>
            <a:r>
              <a:rPr lang="en-US" altLang="zh-CN" sz="1800" b="1" dirty="0">
                <a:solidFill>
                  <a:srgbClr val="000000"/>
                </a:solidFill>
                <a:latin typeface="Times New Roman" panose="02020603050405020304" pitchFamily="18" charset="0"/>
                <a:ea typeface="华文楷体" panose="02010600040101010101" pitchFamily="2" charset="-122"/>
              </a:rPr>
              <a:t>, const T*, const T&amp;&gt;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private: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T value;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public:</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typedef</a:t>
            </a: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IncrementIterator</a:t>
            </a:r>
            <a:r>
              <a:rPr lang="en-US" altLang="zh-CN" sz="1800" b="1" dirty="0">
                <a:solidFill>
                  <a:srgbClr val="000000"/>
                </a:solidFill>
                <a:latin typeface="Times New Roman" panose="02020603050405020304" pitchFamily="18" charset="0"/>
                <a:ea typeface="华文楷体" panose="02010600040101010101" pitchFamily="2" charset="-122"/>
              </a:rPr>
              <a:t>&lt;T&gt; Self;</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IncrementIterator</a:t>
            </a:r>
            <a:r>
              <a:rPr lang="en-US" altLang="zh-CN" sz="1800" b="1" dirty="0">
                <a:solidFill>
                  <a:srgbClr val="000000"/>
                </a:solidFill>
                <a:latin typeface="Times New Roman" panose="02020603050405020304" pitchFamily="18" charset="0"/>
                <a:ea typeface="华文楷体" panose="02010600040101010101" pitchFamily="2" charset="-122"/>
              </a:rPr>
              <a:t>(const T&amp; value = T()) : value(value) {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bool</a:t>
            </a:r>
            <a:r>
              <a:rPr lang="en-US" altLang="zh-CN" sz="1800" b="1" dirty="0">
                <a:solidFill>
                  <a:srgbClr val="000000"/>
                </a:solidFill>
                <a:latin typeface="Times New Roman" panose="02020603050405020304" pitchFamily="18" charset="0"/>
                <a:ea typeface="华文楷体" panose="02010600040101010101" pitchFamily="2" charset="-122"/>
              </a:rPr>
              <a:t> operator == (const Self&amp; </a:t>
            </a:r>
            <a:r>
              <a:rPr lang="en-US" altLang="zh-CN" sz="1800" b="1" dirty="0" err="1">
                <a:solidFill>
                  <a:srgbClr val="000000"/>
                </a:solidFill>
                <a:latin typeface="Times New Roman" panose="02020603050405020304" pitchFamily="18" charset="0"/>
                <a:ea typeface="华文楷体" panose="02010600040101010101" pitchFamily="2" charset="-122"/>
              </a:rPr>
              <a:t>rhs</a:t>
            </a:r>
            <a:r>
              <a:rPr lang="en-US" altLang="zh-CN" sz="1800" b="1" dirty="0">
                <a:solidFill>
                  <a:srgbClr val="000000"/>
                </a:solidFill>
                <a:latin typeface="Times New Roman" panose="02020603050405020304" pitchFamily="18" charset="0"/>
                <a:ea typeface="华文楷体" panose="02010600040101010101" pitchFamily="2" charset="-122"/>
              </a:rPr>
              <a:t>) const { return value == </a:t>
            </a:r>
            <a:r>
              <a:rPr lang="en-US" altLang="zh-CN" sz="1800" b="1" dirty="0" err="1">
                <a:solidFill>
                  <a:srgbClr val="000000"/>
                </a:solidFill>
                <a:latin typeface="Times New Roman" panose="02020603050405020304" pitchFamily="18" charset="0"/>
                <a:ea typeface="华文楷体" panose="02010600040101010101" pitchFamily="2" charset="-122"/>
              </a:rPr>
              <a:t>rhs.value</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r>
              <a:rPr lang="en-US" altLang="zh-CN" sz="1800" b="1" dirty="0" err="1">
                <a:solidFill>
                  <a:srgbClr val="000000"/>
                </a:solidFill>
                <a:latin typeface="Times New Roman" panose="02020603050405020304" pitchFamily="18" charset="0"/>
                <a:ea typeface="华文楷体" panose="02010600040101010101" pitchFamily="2" charset="-122"/>
              </a:rPr>
              <a:t>bool</a:t>
            </a:r>
            <a:r>
              <a:rPr lang="en-US" altLang="zh-CN" sz="1800" b="1" dirty="0">
                <a:solidFill>
                  <a:srgbClr val="000000"/>
                </a:solidFill>
                <a:latin typeface="Times New Roman" panose="02020603050405020304" pitchFamily="18" charset="0"/>
                <a:ea typeface="华文楷体" panose="02010600040101010101" pitchFamily="2" charset="-122"/>
              </a:rPr>
              <a:t> operator != (const Self&amp; </a:t>
            </a:r>
            <a:r>
              <a:rPr lang="en-US" altLang="zh-CN" sz="1800" b="1" dirty="0" err="1">
                <a:solidFill>
                  <a:srgbClr val="000000"/>
                </a:solidFill>
                <a:latin typeface="Times New Roman" panose="02020603050405020304" pitchFamily="18" charset="0"/>
                <a:ea typeface="华文楷体" panose="02010600040101010101" pitchFamily="2" charset="-122"/>
              </a:rPr>
              <a:t>rhs</a:t>
            </a:r>
            <a:r>
              <a:rPr lang="en-US" altLang="zh-CN" sz="1800" b="1" dirty="0">
                <a:solidFill>
                  <a:srgbClr val="000000"/>
                </a:solidFill>
                <a:latin typeface="Times New Roman" panose="02020603050405020304" pitchFamily="18" charset="0"/>
                <a:ea typeface="华文楷体" panose="02010600040101010101" pitchFamily="2" charset="-122"/>
              </a:rPr>
              <a:t>) const { return value != </a:t>
            </a:r>
            <a:r>
              <a:rPr lang="en-US" altLang="zh-CN" sz="1800" b="1" dirty="0" err="1">
                <a:solidFill>
                  <a:srgbClr val="000000"/>
                </a:solidFill>
                <a:latin typeface="Times New Roman" panose="02020603050405020304" pitchFamily="18" charset="0"/>
                <a:ea typeface="华文楷体" panose="02010600040101010101" pitchFamily="2" charset="-122"/>
              </a:rPr>
              <a:t>rhs.value</a:t>
            </a: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Self&amp; operator ++ () { value++; return *this; } 	//</a:t>
            </a:r>
            <a:r>
              <a:rPr lang="zh-CN" altLang="en-US" sz="1800" b="1" dirty="0">
                <a:solidFill>
                  <a:srgbClr val="000000"/>
                </a:solidFill>
                <a:latin typeface="Times New Roman" panose="02020603050405020304" pitchFamily="18" charset="0"/>
                <a:ea typeface="华文楷体" panose="02010600040101010101" pitchFamily="2" charset="-122"/>
              </a:rPr>
              <a:t>前缀“</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Self operator ++ (</a:t>
            </a:r>
            <a:r>
              <a:rPr lang="en-US" altLang="zh-CN" sz="1800" b="1" dirty="0" err="1">
                <a:solidFill>
                  <a:srgbClr val="000000"/>
                </a:solidFill>
                <a:latin typeface="Times New Roman" panose="02020603050405020304" pitchFamily="18" charset="0"/>
                <a:ea typeface="华文楷体" panose="02010600040101010101" pitchFamily="2" charset="-122"/>
              </a:rPr>
              <a:t>int</a:t>
            </a:r>
            <a:r>
              <a:rPr lang="en-US" altLang="zh-CN" sz="1800" b="1" dirty="0">
                <a:solidFill>
                  <a:srgbClr val="000000"/>
                </a:solidFill>
                <a:latin typeface="Times New Roman" panose="02020603050405020304" pitchFamily="18" charset="0"/>
                <a:ea typeface="华文楷体" panose="02010600040101010101" pitchFamily="2" charset="-122"/>
              </a:rPr>
              <a:t>) {	//</a:t>
            </a:r>
            <a:r>
              <a:rPr lang="zh-CN" altLang="en-US" sz="1800" b="1" dirty="0">
                <a:solidFill>
                  <a:srgbClr val="000000"/>
                </a:solidFill>
                <a:latin typeface="Times New Roman" panose="02020603050405020304" pitchFamily="18" charset="0"/>
                <a:ea typeface="华文楷体" panose="02010600040101010101" pitchFamily="2" charset="-122"/>
              </a:rPr>
              <a:t>后缀“</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Self </a:t>
            </a:r>
            <a:r>
              <a:rPr lang="en-US" altLang="zh-CN" sz="1800" b="1" dirty="0" err="1">
                <a:solidFill>
                  <a:srgbClr val="000000"/>
                </a:solidFill>
                <a:latin typeface="Times New Roman" panose="02020603050405020304" pitchFamily="18" charset="0"/>
                <a:ea typeface="华文楷体" panose="02010600040101010101" pitchFamily="2" charset="-122"/>
              </a:rPr>
              <a:t>tmp</a:t>
            </a:r>
            <a:r>
              <a:rPr lang="en-US" altLang="zh-CN" sz="1800" b="1" dirty="0">
                <a:solidFill>
                  <a:srgbClr val="000000"/>
                </a:solidFill>
                <a:latin typeface="Times New Roman" panose="02020603050405020304" pitchFamily="18" charset="0"/>
                <a:ea typeface="华文楷体" panose="02010600040101010101" pitchFamily="2" charset="-122"/>
              </a:rPr>
              <a:t> = *this; value++;</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return </a:t>
            </a:r>
            <a:r>
              <a:rPr lang="en-US" altLang="zh-CN" sz="1800" b="1" dirty="0" err="1">
                <a:solidFill>
                  <a:srgbClr val="000000"/>
                </a:solidFill>
                <a:latin typeface="Times New Roman" panose="02020603050405020304" pitchFamily="18" charset="0"/>
                <a:ea typeface="华文楷体" panose="02010600040101010101" pitchFamily="2" charset="-122"/>
              </a:rPr>
              <a:t>tmp</a:t>
            </a:r>
            <a:r>
              <a:rPr lang="en-US" altLang="zh-CN" sz="1800" b="1" dirty="0">
                <a:solidFill>
                  <a:srgbClr val="000000"/>
                </a:solidFill>
                <a:latin typeface="Times New Roman" panose="02020603050405020304" pitchFamily="18" charset="0"/>
                <a:ea typeface="华文楷体" panose="02010600040101010101" pitchFamily="2" charset="-122"/>
              </a:rPr>
              <a:t>;</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1800" b="1" dirty="0">
                <a:solidFill>
                  <a:srgbClr val="000000"/>
                </a:solidFill>
                <a:latin typeface="Times New Roman" panose="02020603050405020304" pitchFamily="18" charset="0"/>
                <a:ea typeface="华文楷体" panose="02010600040101010101" pitchFamily="2" charset="-122"/>
              </a:rPr>
              <a:t>	}</a:t>
            </a:r>
            <a:endParaRPr lang="en-US" altLang="zh-CN" sz="18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zh-CN" altLang="en-US" sz="18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500063"/>
            <a:ext cx="8229600" cy="501675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const T &amp; operator * () const { return value;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const T * operator -&gt; () const { return &amp;value;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main()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将</a:t>
            </a:r>
            <a:r>
              <a:rPr lang="en-US" altLang="zh-CN" sz="2000" b="1" dirty="0">
                <a:solidFill>
                  <a:srgbClr val="000000"/>
                </a:solidFill>
                <a:latin typeface="Times New Roman" panose="02020603050405020304" pitchFamily="18" charset="0"/>
                <a:ea typeface="华文楷体" panose="02010600040101010101" pitchFamily="2" charset="-122"/>
              </a:rPr>
              <a:t>[0, 10)</a:t>
            </a:r>
            <a:r>
              <a:rPr lang="zh-CN" altLang="en-US" sz="2000" b="1" dirty="0">
                <a:solidFill>
                  <a:srgbClr val="000000"/>
                </a:solidFill>
                <a:latin typeface="Times New Roman" panose="02020603050405020304" pitchFamily="18" charset="0"/>
                <a:ea typeface="华文楷体" panose="02010600040101010101" pitchFamily="2" charset="-122"/>
              </a:rPr>
              <a:t>范围内的整数输出</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copy(</a:t>
            </a:r>
            <a:r>
              <a:rPr lang="en-US" altLang="zh-CN" sz="2000" b="1" dirty="0" err="1">
                <a:solidFill>
                  <a:srgbClr val="000000"/>
                </a:solidFill>
                <a:latin typeface="Times New Roman" panose="02020603050405020304" pitchFamily="18" charset="0"/>
                <a:ea typeface="华文楷体" panose="02010600040101010101" pitchFamily="2" charset="-122"/>
              </a:rPr>
              <a:t>IncrementIterator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 </a:t>
            </a:r>
            <a:r>
              <a:rPr lang="en-US" altLang="zh-CN" sz="2000" b="1" dirty="0" err="1">
                <a:solidFill>
                  <a:srgbClr val="000000"/>
                </a:solidFill>
                <a:latin typeface="Times New Roman" panose="02020603050405020304" pitchFamily="18" charset="0"/>
                <a:ea typeface="华文楷体" panose="02010600040101010101" pitchFamily="2" charset="-122"/>
              </a:rPr>
              <a:t>IncrementIterator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&gt;(10),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ostream_iterator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将下面数组中的数分别加上</a:t>
            </a:r>
            <a:r>
              <a:rPr lang="en-US" altLang="zh-CN" sz="2000" b="1" dirty="0">
                <a:solidFill>
                  <a:srgbClr val="000000"/>
                </a:solidFill>
                <a:latin typeface="Times New Roman" panose="02020603050405020304" pitchFamily="18" charset="0"/>
                <a:ea typeface="华文楷体" panose="02010600040101010101" pitchFamily="2" charset="-122"/>
              </a:rPr>
              <a:t>0</a:t>
            </a:r>
            <a:r>
              <a:rPr lang="zh-CN" altLang="en-US" sz="2000" b="1" dirty="0">
                <a:solidFill>
                  <a:srgbClr val="000000"/>
                </a:solidFill>
                <a:latin typeface="Times New Roman" panose="02020603050405020304" pitchFamily="18" charset="0"/>
                <a:ea typeface="华文楷体" panose="02010600040101010101" pitchFamily="2" charset="-122"/>
              </a:rPr>
              <a:t>、</a:t>
            </a:r>
            <a:r>
              <a:rPr lang="en-US" altLang="zh-CN" sz="2000" b="1" dirty="0">
                <a:solidFill>
                  <a:srgbClr val="000000"/>
                </a:solidFill>
                <a:latin typeface="Times New Roman" panose="02020603050405020304" pitchFamily="18" charset="0"/>
                <a:ea typeface="华文楷体" panose="02010600040101010101" pitchFamily="2" charset="-122"/>
              </a:rPr>
              <a:t>1</a:t>
            </a:r>
            <a:r>
              <a:rPr lang="zh-CN" altLang="en-US" sz="2000" b="1" dirty="0">
                <a:solidFill>
                  <a:srgbClr val="000000"/>
                </a:solidFill>
                <a:latin typeface="Times New Roman" panose="02020603050405020304" pitchFamily="18" charset="0"/>
                <a:ea typeface="华文楷体" panose="02010600040101010101" pitchFamily="2" charset="-122"/>
              </a:rPr>
              <a:t>、</a:t>
            </a:r>
            <a:r>
              <a:rPr lang="en-US" altLang="zh-CN" sz="2000" b="1" dirty="0">
                <a:solidFill>
                  <a:srgbClr val="000000"/>
                </a:solidFill>
                <a:latin typeface="Times New Roman" panose="02020603050405020304" pitchFamily="18" charset="0"/>
                <a:ea typeface="华文楷体" panose="02010600040101010101" pitchFamily="2" charset="-122"/>
              </a:rPr>
              <a:t>2</a:t>
            </a:r>
            <a:r>
              <a:rPr lang="zh-CN" altLang="en-US" sz="2000" b="1" dirty="0">
                <a:solidFill>
                  <a:srgbClr val="000000"/>
                </a:solidFill>
                <a:latin typeface="Times New Roman" panose="02020603050405020304" pitchFamily="18" charset="0"/>
                <a:ea typeface="华文楷体" panose="02010600040101010101" pitchFamily="2" charset="-122"/>
              </a:rPr>
              <a:t>、</a:t>
            </a:r>
            <a:r>
              <a:rPr lang="en-US" altLang="zh-CN" sz="2000" b="1" dirty="0">
                <a:solidFill>
                  <a:srgbClr val="000000"/>
                </a:solidFill>
                <a:latin typeface="Times New Roman" panose="02020603050405020304" pitchFamily="18" charset="0"/>
                <a:ea typeface="华文楷体" panose="02010600040101010101" pitchFamily="2" charset="-122"/>
              </a:rPr>
              <a:t>3</a:t>
            </a:r>
            <a:r>
              <a:rPr lang="zh-CN" altLang="en-US" sz="2000" b="1" dirty="0">
                <a:solidFill>
                  <a:srgbClr val="000000"/>
                </a:solidFill>
                <a:latin typeface="Times New Roman" panose="02020603050405020304" pitchFamily="18" charset="0"/>
                <a:ea typeface="华文楷体" panose="02010600040101010101" pitchFamily="2" charset="-122"/>
              </a:rPr>
              <a:t>、</a:t>
            </a: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，然后输出</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s[] = { 5, 8, 7, 4, 2, 6, 10, 3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transform(s, s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(s) / </a:t>
            </a:r>
            <a:r>
              <a:rPr lang="en-US" altLang="zh-CN" sz="2000" b="1" dirty="0" err="1">
                <a:solidFill>
                  <a:srgbClr val="000000"/>
                </a:solidFill>
                <a:latin typeface="Times New Roman" panose="02020603050405020304" pitchFamily="18" charset="0"/>
                <a:ea typeface="华文楷体" panose="02010600040101010101" pitchFamily="2" charset="-122"/>
              </a:rPr>
              <a:t>sizeof</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IncrementIterator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ostream_iterator</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 "), plus&lt;</a:t>
            </a:r>
            <a:r>
              <a:rPr lang="en-US" altLang="zh-CN" sz="2000" b="1" dirty="0" err="1">
                <a:solidFill>
                  <a:srgbClr val="000000"/>
                </a:solidFill>
                <a:latin typeface="Times New Roman" panose="02020603050405020304" pitchFamily="18" charset="0"/>
                <a:ea typeface="华文楷体" panose="02010600040101010101" pitchFamily="2" charset="-122"/>
              </a:rPr>
              <a:t>int</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cout</a:t>
            </a:r>
            <a:r>
              <a:rPr lang="en-US" altLang="zh-CN" sz="2000" b="1" dirty="0">
                <a:solidFill>
                  <a:srgbClr val="000000"/>
                </a:solidFill>
                <a:latin typeface="Times New Roman" panose="02020603050405020304" pitchFamily="18" charset="0"/>
                <a:ea typeface="华文楷体" panose="02010600040101010101" pitchFamily="2" charset="-122"/>
              </a:rPr>
              <a:t> &lt;&lt; </a:t>
            </a:r>
            <a:r>
              <a:rPr lang="en-US" altLang="zh-CN" sz="2000" b="1" dirty="0" err="1">
                <a:solidFill>
                  <a:srgbClr val="000000"/>
                </a:solidFill>
                <a:latin typeface="Times New Roman" panose="02020603050405020304" pitchFamily="18" charset="0"/>
                <a:ea typeface="华文楷体" panose="02010600040101010101" pitchFamily="2" charset="-122"/>
              </a:rPr>
              <a:t>endl</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return 0;</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
        <p:nvSpPr>
          <p:cNvPr id="2" name="标题 1"/>
          <p:cNvSpPr>
            <a:spLocks noGrp="1"/>
          </p:cNvSpPr>
          <p:nvPr>
            <p:ph type="title"/>
          </p:nvPr>
        </p:nvSpPr>
        <p:spPr>
          <a:xfrm>
            <a:off x="5886450" y="5505450"/>
            <a:ext cx="2828925" cy="1066800"/>
          </a:xfrm>
          <a:solidFill>
            <a:schemeClr val="bg1"/>
          </a:solidFill>
        </p:spPr>
        <p:txBody>
          <a:bodyPr>
            <a:normAutofit/>
          </a:bodyPr>
          <a:lstStyle/>
          <a:p>
            <a:pPr eaLnBrk="1" fontAlgn="auto" hangingPunct="1">
              <a:spcAft>
                <a:spcPts val="0"/>
              </a:spcAft>
              <a:defRPr/>
            </a:pPr>
            <a:r>
              <a:rPr lang="zh-CN" altLang="en-US" dirty="0"/>
              <a:t>例</a:t>
            </a:r>
            <a:r>
              <a:rPr lang="en-US" altLang="zh-CN" dirty="0"/>
              <a:t>10-23</a:t>
            </a:r>
            <a:r>
              <a:rPr lang="zh-CN" altLang="en-US" dirty="0"/>
              <a:t>（续）</a:t>
            </a:r>
            <a:endParaRPr lang="zh-CN" altLang="en-US" dirty="0"/>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0594" name="标题 1"/>
          <p:cNvSpPr>
            <a:spLocks noGrp="1"/>
          </p:cNvSpPr>
          <p:nvPr>
            <p:ph type="title"/>
          </p:nvPr>
        </p:nvSpPr>
        <p:spPr/>
        <p:txBody>
          <a:bodyPr/>
          <a:lstStyle/>
          <a:p>
            <a:pPr eaLnBrk="1" hangingPunct="1"/>
            <a:r>
              <a:rPr lang="zh-CN" altLang="en-US" b="1" dirty="0"/>
              <a:t>例</a:t>
            </a:r>
            <a:r>
              <a:rPr lang="en-US" altLang="zh-CN" b="1" dirty="0"/>
              <a:t>10-24 </a:t>
            </a:r>
            <a:r>
              <a:rPr lang="zh-CN" altLang="en-US" b="1" dirty="0"/>
              <a:t>利用类型特征实现算法：</a:t>
            </a:r>
            <a:endParaRPr lang="zh-CN" altLang="en-US" b="1" dirty="0"/>
          </a:p>
        </p:txBody>
      </p:sp>
      <p:sp>
        <p:nvSpPr>
          <p:cNvPr id="3" name="内容占位符 2"/>
          <p:cNvSpPr>
            <a:spLocks noGrp="1"/>
          </p:cNvSpPr>
          <p:nvPr>
            <p:ph idx="1"/>
          </p:nvPr>
        </p:nvSpPr>
        <p:spPr>
          <a:xfrm>
            <a:off x="285750" y="1785938"/>
            <a:ext cx="8643938" cy="4093428"/>
          </a:xfrm>
          <a:solidFill>
            <a:schemeClr val="tx1"/>
          </a:solidFill>
          <a:ln w="9525">
            <a:solidFill>
              <a:schemeClr val="tx1"/>
            </a:solidFill>
            <a:miter lim="800000"/>
          </a:ln>
        </p:spPr>
        <p:txBody>
          <a:bodyPr>
            <a:spAutoFit/>
          </a:bodyPr>
          <a:lstStyle/>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r>
              <a:rPr lang="zh-CN" altLang="en-US" sz="2000" b="1" dirty="0">
                <a:solidFill>
                  <a:srgbClr val="000000"/>
                </a:solidFill>
                <a:latin typeface="Times New Roman" panose="02020603050405020304" pitchFamily="18" charset="0"/>
                <a:ea typeface="华文楷体" panose="02010600040101010101" pitchFamily="2" charset="-122"/>
              </a:rPr>
              <a:t>将来自输入迭代器</a:t>
            </a:r>
            <a:r>
              <a:rPr lang="en-US" altLang="zh-CN" sz="2000" b="1" dirty="0">
                <a:solidFill>
                  <a:srgbClr val="000000"/>
                </a:solidFill>
                <a:latin typeface="Times New Roman" panose="02020603050405020304" pitchFamily="18" charset="0"/>
                <a:ea typeface="华文楷体" panose="02010600040101010101" pitchFamily="2" charset="-122"/>
              </a:rPr>
              <a:t>p</a:t>
            </a:r>
            <a:r>
              <a:rPr lang="zh-CN" altLang="en-US" sz="2000" b="1" dirty="0">
                <a:solidFill>
                  <a:srgbClr val="000000"/>
                </a:solidFill>
                <a:latin typeface="Times New Roman" panose="02020603050405020304" pitchFamily="18" charset="0"/>
                <a:ea typeface="华文楷体" panose="02010600040101010101" pitchFamily="2" charset="-122"/>
              </a:rPr>
              <a:t>的</a:t>
            </a:r>
            <a:r>
              <a:rPr lang="en-US" altLang="zh-CN" sz="2000" b="1" dirty="0">
                <a:solidFill>
                  <a:srgbClr val="000000"/>
                </a:solidFill>
                <a:latin typeface="Times New Roman" panose="02020603050405020304" pitchFamily="18" charset="0"/>
                <a:ea typeface="华文楷体" panose="02010600040101010101" pitchFamily="2" charset="-122"/>
              </a:rPr>
              <a:t>n</a:t>
            </a:r>
            <a:r>
              <a:rPr lang="zh-CN" altLang="en-US" sz="2000" b="1" dirty="0">
                <a:solidFill>
                  <a:srgbClr val="000000"/>
                </a:solidFill>
                <a:latin typeface="Times New Roman" panose="02020603050405020304" pitchFamily="18" charset="0"/>
                <a:ea typeface="华文楷体" panose="02010600040101010101" pitchFamily="2" charset="-122"/>
              </a:rPr>
              <a:t>个数值排序，将结果通过输出</a:t>
            </a:r>
            <a:r>
              <a:rPr lang="en-US" altLang="zh-CN" sz="2000" b="1" dirty="0">
                <a:solidFill>
                  <a:srgbClr val="000000"/>
                </a:solidFill>
                <a:latin typeface="Times New Roman" panose="02020603050405020304" pitchFamily="18" charset="0"/>
                <a:ea typeface="华文楷体" panose="02010600040101010101" pitchFamily="2" charset="-122"/>
              </a:rPr>
              <a:t>result</a:t>
            </a:r>
            <a:r>
              <a:rPr lang="zh-CN" altLang="en-US" sz="2000" b="1" dirty="0">
                <a:solidFill>
                  <a:srgbClr val="000000"/>
                </a:solidFill>
                <a:latin typeface="Times New Roman" panose="02020603050405020304" pitchFamily="18" charset="0"/>
                <a:ea typeface="华文楷体" panose="02010600040101010101" pitchFamily="2" charset="-122"/>
              </a:rPr>
              <a:t>输出</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template &lt;class </a:t>
            </a:r>
            <a:r>
              <a:rPr lang="en-US" altLang="zh-CN" sz="2000" b="1" dirty="0" err="1">
                <a:solidFill>
                  <a:srgbClr val="000000"/>
                </a:solidFill>
                <a:latin typeface="Times New Roman" panose="02020603050405020304" pitchFamily="18" charset="0"/>
                <a:ea typeface="华文楷体" panose="02010600040101010101" pitchFamily="2" charset="-122"/>
              </a:rPr>
              <a:t>InputIterator</a:t>
            </a:r>
            <a:r>
              <a:rPr lang="en-US" altLang="zh-CN" sz="2000" b="1" dirty="0">
                <a:solidFill>
                  <a:srgbClr val="000000"/>
                </a:solidFill>
                <a:latin typeface="Times New Roman" panose="02020603050405020304" pitchFamily="18" charset="0"/>
                <a:ea typeface="华文楷体" panose="02010600040101010101" pitchFamily="2" charset="-122"/>
              </a:rPr>
              <a:t>, class </a:t>
            </a:r>
            <a:r>
              <a:rPr lang="en-US" altLang="zh-CN" sz="2000" b="1" dirty="0" err="1">
                <a:solidFill>
                  <a:srgbClr val="000000"/>
                </a:solidFill>
                <a:latin typeface="Times New Roman" panose="02020603050405020304" pitchFamily="18" charset="0"/>
                <a:ea typeface="华文楷体" panose="02010600040101010101" pitchFamily="2" charset="-122"/>
              </a:rPr>
              <a:t>OutputIterator</a:t>
            </a:r>
            <a:r>
              <a:rPr lang="en-US" altLang="zh-CN" sz="2000" b="1" dirty="0">
                <a:solidFill>
                  <a:srgbClr val="000000"/>
                </a:solidFill>
                <a:latin typeface="Times New Roman" panose="02020603050405020304" pitchFamily="18" charset="0"/>
                <a:ea typeface="华文楷体" panose="02010600040101010101" pitchFamily="2" charset="-122"/>
              </a:rPr>
              <a:t>&gt;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void </a:t>
            </a:r>
            <a:r>
              <a:rPr lang="en-US" altLang="zh-CN" sz="2000" b="1" dirty="0" err="1">
                <a:solidFill>
                  <a:srgbClr val="000000"/>
                </a:solidFill>
                <a:latin typeface="Times New Roman" panose="02020603050405020304" pitchFamily="18" charset="0"/>
                <a:ea typeface="华文楷体" panose="02010600040101010101" pitchFamily="2" charset="-122"/>
              </a:rPr>
              <a:t>mySort</a:t>
            </a:r>
            <a:r>
              <a:rPr lang="en-US" altLang="zh-CN" sz="2000" b="1" dirty="0">
                <a:solidFill>
                  <a:srgbClr val="000000"/>
                </a:solidFill>
                <a:latin typeface="Times New Roman" panose="02020603050405020304" pitchFamily="18" charset="0"/>
                <a:ea typeface="华文楷体" panose="02010600040101010101" pitchFamily="2" charset="-122"/>
              </a:rPr>
              <a:t>(</a:t>
            </a:r>
            <a:r>
              <a:rPr lang="en-US" altLang="zh-CN" sz="2000" b="1" dirty="0" err="1">
                <a:solidFill>
                  <a:srgbClr val="000000"/>
                </a:solidFill>
                <a:latin typeface="Times New Roman" panose="02020603050405020304" pitchFamily="18" charset="0"/>
                <a:ea typeface="华文楷体" panose="02010600040101010101" pitchFamily="2" charset="-122"/>
              </a:rPr>
              <a:t>InputIterator</a:t>
            </a:r>
            <a:r>
              <a:rPr lang="en-US" altLang="zh-CN" sz="2000" b="1" dirty="0">
                <a:solidFill>
                  <a:srgbClr val="000000"/>
                </a:solidFill>
                <a:latin typeface="Times New Roman" panose="02020603050405020304" pitchFamily="18" charset="0"/>
                <a:ea typeface="华文楷体" panose="02010600040101010101" pitchFamily="2" charset="-122"/>
              </a:rPr>
              <a:t> first, </a:t>
            </a:r>
            <a:r>
              <a:rPr lang="en-US" altLang="zh-CN" sz="2000" b="1" dirty="0" err="1">
                <a:solidFill>
                  <a:srgbClr val="000000"/>
                </a:solidFill>
                <a:latin typeface="Times New Roman" panose="02020603050405020304" pitchFamily="18" charset="0"/>
                <a:ea typeface="华文楷体" panose="02010600040101010101" pitchFamily="2" charset="-122"/>
              </a:rPr>
              <a:t>InputIterator</a:t>
            </a:r>
            <a:r>
              <a:rPr lang="en-US" altLang="zh-CN" sz="2000" b="1" dirty="0">
                <a:solidFill>
                  <a:srgbClr val="000000"/>
                </a:solidFill>
                <a:latin typeface="Times New Roman" panose="02020603050405020304" pitchFamily="18" charset="0"/>
                <a:ea typeface="华文楷体" panose="02010600040101010101" pitchFamily="2" charset="-122"/>
              </a:rPr>
              <a:t> last,   		</a:t>
            </a:r>
            <a:r>
              <a:rPr lang="en-US" altLang="zh-CN" sz="2000" b="1" dirty="0" err="1">
                <a:solidFill>
                  <a:srgbClr val="000000"/>
                </a:solidFill>
                <a:latin typeface="Times New Roman" panose="02020603050405020304" pitchFamily="18" charset="0"/>
                <a:ea typeface="华文楷体" panose="02010600040101010101" pitchFamily="2" charset="-122"/>
              </a:rPr>
              <a:t>OutputIterator</a:t>
            </a:r>
            <a:r>
              <a:rPr lang="en-US" altLang="zh-CN" sz="2000" b="1" dirty="0">
                <a:solidFill>
                  <a:srgbClr val="000000"/>
                </a:solidFill>
                <a:latin typeface="Times New Roman" panose="02020603050405020304" pitchFamily="18" charset="0"/>
                <a:ea typeface="华文楷体" panose="02010600040101010101" pitchFamily="2" charset="-122"/>
              </a:rPr>
              <a:t> result) {</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通过输入迭代器</a:t>
            </a:r>
            <a:r>
              <a:rPr lang="en-US" altLang="zh-CN" sz="2000" b="1" dirty="0">
                <a:solidFill>
                  <a:srgbClr val="000000"/>
                </a:solidFill>
                <a:latin typeface="Times New Roman" panose="02020603050405020304" pitchFamily="18" charset="0"/>
                <a:ea typeface="华文楷体" panose="02010600040101010101" pitchFamily="2" charset="-122"/>
              </a:rPr>
              <a:t>p</a:t>
            </a:r>
            <a:r>
              <a:rPr lang="zh-CN" altLang="en-US" sz="2000" b="1" dirty="0">
                <a:solidFill>
                  <a:srgbClr val="000000"/>
                </a:solidFill>
                <a:latin typeface="Times New Roman" panose="02020603050405020304" pitchFamily="18" charset="0"/>
                <a:ea typeface="华文楷体" panose="02010600040101010101" pitchFamily="2" charset="-122"/>
              </a:rPr>
              <a:t>将输入数据存入向量容器</a:t>
            </a:r>
            <a:r>
              <a:rPr lang="en-US" altLang="zh-CN" sz="2000" b="1" dirty="0">
                <a:solidFill>
                  <a:srgbClr val="000000"/>
                </a:solidFill>
                <a:latin typeface="Times New Roman" panose="02020603050405020304" pitchFamily="18" charset="0"/>
                <a:ea typeface="华文楷体" panose="02010600040101010101" pitchFamily="2" charset="-122"/>
              </a:rPr>
              <a:t>s</a:t>
            </a:r>
            <a:r>
              <a:rPr lang="zh-CN" altLang="en-US" sz="2000" b="1" dirty="0">
                <a:solidFill>
                  <a:srgbClr val="000000"/>
                </a:solidFill>
                <a:latin typeface="Times New Roman" panose="02020603050405020304" pitchFamily="18" charset="0"/>
                <a:ea typeface="华文楷体" panose="02010600040101010101" pitchFamily="2" charset="-122"/>
              </a:rPr>
              <a:t>中</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vector&lt;</a:t>
            </a:r>
            <a:r>
              <a:rPr lang="en-US" altLang="zh-CN" sz="2000" b="1" dirty="0" err="1">
                <a:solidFill>
                  <a:srgbClr val="000000"/>
                </a:solidFill>
                <a:latin typeface="Times New Roman" panose="02020603050405020304" pitchFamily="18" charset="0"/>
                <a:ea typeface="华文楷体" panose="02010600040101010101" pitchFamily="2" charset="-122"/>
              </a:rPr>
              <a:t>typename</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iterator_traits</a:t>
            </a:r>
            <a:r>
              <a:rPr lang="en-US" altLang="zh-CN" sz="2000" b="1" dirty="0">
                <a:solidFill>
                  <a:srgbClr val="000000"/>
                </a:solidFill>
                <a:latin typeface="Times New Roman" panose="02020603050405020304" pitchFamily="18" charset="0"/>
                <a:ea typeface="华文楷体" panose="02010600040101010101" pitchFamily="2" charset="-122"/>
              </a:rPr>
              <a:t>&lt;</a:t>
            </a:r>
            <a:r>
              <a:rPr lang="en-US" altLang="zh-CN" sz="2000" b="1" dirty="0" err="1">
                <a:solidFill>
                  <a:srgbClr val="000000"/>
                </a:solidFill>
                <a:latin typeface="Times New Roman" panose="02020603050405020304" pitchFamily="18" charset="0"/>
                <a:ea typeface="华文楷体" panose="02010600040101010101" pitchFamily="2" charset="-122"/>
              </a:rPr>
              <a:t>InputIterator</a:t>
            </a:r>
            <a:r>
              <a:rPr lang="en-US" altLang="zh-CN" sz="2000" b="1" dirty="0">
                <a:solidFill>
                  <a:srgbClr val="000000"/>
                </a:solidFill>
                <a:latin typeface="Times New Roman" panose="02020603050405020304" pitchFamily="18" charset="0"/>
                <a:ea typeface="华文楷体" panose="02010600040101010101" pitchFamily="2" charset="-122"/>
              </a:rPr>
              <a:t>&gt;::</a:t>
            </a:r>
            <a:r>
              <a:rPr lang="en-US" altLang="zh-CN" sz="2000" b="1" dirty="0" err="1">
                <a:solidFill>
                  <a:srgbClr val="000000"/>
                </a:solidFill>
                <a:latin typeface="Times New Roman" panose="02020603050405020304" pitchFamily="18" charset="0"/>
                <a:ea typeface="华文楷体" panose="02010600040101010101" pitchFamily="2" charset="-122"/>
              </a:rPr>
              <a:t>value_type</a:t>
            </a:r>
            <a:r>
              <a:rPr lang="en-US" altLang="zh-CN" sz="2000" b="1" dirty="0">
                <a:solidFill>
                  <a:srgbClr val="000000"/>
                </a:solidFill>
                <a:latin typeface="Times New Roman" panose="02020603050405020304" pitchFamily="18" charset="0"/>
                <a:ea typeface="华文楷体" panose="02010600040101010101" pitchFamily="2" charset="-122"/>
              </a:rPr>
              <a:t>&gt; 		    s(first, last);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对</a:t>
            </a:r>
            <a:r>
              <a:rPr lang="en-US" altLang="zh-CN" sz="2000" b="1" dirty="0">
                <a:solidFill>
                  <a:srgbClr val="000000"/>
                </a:solidFill>
                <a:latin typeface="Times New Roman" panose="02020603050405020304" pitchFamily="18" charset="0"/>
                <a:ea typeface="华文楷体" panose="02010600040101010101" pitchFamily="2" charset="-122"/>
              </a:rPr>
              <a:t>s</a:t>
            </a:r>
            <a:r>
              <a:rPr lang="zh-CN" altLang="en-US" sz="2000" b="1" dirty="0">
                <a:solidFill>
                  <a:srgbClr val="000000"/>
                </a:solidFill>
                <a:latin typeface="Times New Roman" panose="02020603050405020304" pitchFamily="18" charset="0"/>
                <a:ea typeface="华文楷体" panose="02010600040101010101" pitchFamily="2" charset="-122"/>
              </a:rPr>
              <a:t>进行排序，</a:t>
            </a:r>
            <a:r>
              <a:rPr lang="en-US" altLang="zh-CN" sz="2000" b="1" dirty="0">
                <a:solidFill>
                  <a:srgbClr val="000000"/>
                </a:solidFill>
                <a:latin typeface="Times New Roman" panose="02020603050405020304" pitchFamily="18" charset="0"/>
                <a:ea typeface="华文楷体" panose="02010600040101010101" pitchFamily="2" charset="-122"/>
              </a:rPr>
              <a:t>sort</a:t>
            </a:r>
            <a:r>
              <a:rPr lang="zh-CN" altLang="en-US" sz="2000" b="1" dirty="0">
                <a:solidFill>
                  <a:srgbClr val="000000"/>
                </a:solidFill>
                <a:latin typeface="Times New Roman" panose="02020603050405020304" pitchFamily="18" charset="0"/>
                <a:ea typeface="华文楷体" panose="02010600040101010101" pitchFamily="2" charset="-122"/>
              </a:rPr>
              <a:t>函数的参数必须是随机访问迭代器</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sort(</a:t>
            </a:r>
            <a:r>
              <a:rPr lang="en-US" altLang="zh-CN" sz="2000" b="1" dirty="0" err="1">
                <a:solidFill>
                  <a:srgbClr val="000000"/>
                </a:solidFill>
                <a:latin typeface="Times New Roman" panose="02020603050405020304" pitchFamily="18" charset="0"/>
                <a:ea typeface="华文楷体" panose="02010600040101010101" pitchFamily="2" charset="-122"/>
              </a:rPr>
              <a:t>s.begin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s.end</a:t>
            </a: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	//</a:t>
            </a:r>
            <a:r>
              <a:rPr lang="zh-CN" altLang="en-US" sz="2000" b="1" dirty="0">
                <a:solidFill>
                  <a:srgbClr val="000000"/>
                </a:solidFill>
                <a:latin typeface="Times New Roman" panose="02020603050405020304" pitchFamily="18" charset="0"/>
                <a:ea typeface="华文楷体" panose="02010600040101010101" pitchFamily="2" charset="-122"/>
              </a:rPr>
              <a:t>将</a:t>
            </a:r>
            <a:r>
              <a:rPr lang="en-US" altLang="zh-CN" sz="2000" b="1" dirty="0">
                <a:solidFill>
                  <a:srgbClr val="000000"/>
                </a:solidFill>
                <a:latin typeface="Times New Roman" panose="02020603050405020304" pitchFamily="18" charset="0"/>
                <a:ea typeface="华文楷体" panose="02010600040101010101" pitchFamily="2" charset="-122"/>
              </a:rPr>
              <a:t>s</a:t>
            </a:r>
            <a:r>
              <a:rPr lang="zh-CN" altLang="en-US" sz="2000" b="1" dirty="0">
                <a:solidFill>
                  <a:srgbClr val="000000"/>
                </a:solidFill>
                <a:latin typeface="Times New Roman" panose="02020603050405020304" pitchFamily="18" charset="0"/>
                <a:ea typeface="华文楷体" panose="02010600040101010101" pitchFamily="2" charset="-122"/>
              </a:rPr>
              <a:t>序列通过输出迭代器输出</a:t>
            </a:r>
            <a:endParaRPr lang="zh-CN" altLang="en-US"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zh-CN" altLang="en-US" sz="2000" b="1" dirty="0">
                <a:solidFill>
                  <a:srgbClr val="000000"/>
                </a:solidFill>
                <a:latin typeface="Times New Roman" panose="02020603050405020304" pitchFamily="18" charset="0"/>
                <a:ea typeface="华文楷体" panose="02010600040101010101" pitchFamily="2" charset="-122"/>
              </a:rPr>
              <a:t>	</a:t>
            </a:r>
            <a:r>
              <a:rPr lang="en-US" altLang="zh-CN" sz="2000" b="1" dirty="0">
                <a:solidFill>
                  <a:srgbClr val="000000"/>
                </a:solidFill>
                <a:latin typeface="Times New Roman" panose="02020603050405020304" pitchFamily="18" charset="0"/>
                <a:ea typeface="华文楷体" panose="02010600040101010101" pitchFamily="2" charset="-122"/>
              </a:rPr>
              <a:t>copy(</a:t>
            </a:r>
            <a:r>
              <a:rPr lang="en-US" altLang="zh-CN" sz="2000" b="1" dirty="0" err="1">
                <a:solidFill>
                  <a:srgbClr val="000000"/>
                </a:solidFill>
                <a:latin typeface="Times New Roman" panose="02020603050405020304" pitchFamily="18" charset="0"/>
                <a:ea typeface="华文楷体" panose="02010600040101010101" pitchFamily="2" charset="-122"/>
              </a:rPr>
              <a:t>s.begin</a:t>
            </a:r>
            <a:r>
              <a:rPr lang="en-US" altLang="zh-CN" sz="2000" b="1" dirty="0">
                <a:solidFill>
                  <a:srgbClr val="000000"/>
                </a:solidFill>
                <a:latin typeface="Times New Roman" panose="02020603050405020304" pitchFamily="18" charset="0"/>
                <a:ea typeface="华文楷体" panose="02010600040101010101" pitchFamily="2" charset="-122"/>
              </a:rPr>
              <a:t>(), </a:t>
            </a:r>
            <a:r>
              <a:rPr lang="en-US" altLang="zh-CN" sz="2000" b="1" dirty="0" err="1">
                <a:solidFill>
                  <a:srgbClr val="000000"/>
                </a:solidFill>
                <a:latin typeface="Times New Roman" panose="02020603050405020304" pitchFamily="18" charset="0"/>
                <a:ea typeface="华文楷体" panose="02010600040101010101" pitchFamily="2" charset="-122"/>
              </a:rPr>
              <a:t>s.end</a:t>
            </a:r>
            <a:r>
              <a:rPr lang="en-US" altLang="zh-CN" sz="2000" b="1" dirty="0">
                <a:solidFill>
                  <a:srgbClr val="000000"/>
                </a:solidFill>
                <a:latin typeface="Times New Roman" panose="02020603050405020304" pitchFamily="18" charset="0"/>
                <a:ea typeface="华文楷体" panose="02010600040101010101" pitchFamily="2" charset="-122"/>
              </a:rPr>
              <a:t>(), result);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r>
              <a:rPr lang="en-US" altLang="zh-CN" sz="2000" b="1" dirty="0">
                <a:solidFill>
                  <a:srgbClr val="000000"/>
                </a:solidFill>
                <a:latin typeface="Times New Roman" panose="02020603050405020304" pitchFamily="18" charset="0"/>
                <a:ea typeface="华文楷体" panose="02010600040101010101" pitchFamily="2" charset="-122"/>
              </a:rPr>
              <a:t>}</a:t>
            </a:r>
            <a:endParaRPr lang="en-US" altLang="zh-CN" sz="2000" b="1" dirty="0">
              <a:solidFill>
                <a:srgbClr val="000000"/>
              </a:solidFill>
              <a:latin typeface="Times New Roman" panose="02020603050405020304" pitchFamily="18" charset="0"/>
              <a:ea typeface="华文楷体" panose="02010600040101010101" pitchFamily="2" charset="-122"/>
            </a:endParaRPr>
          </a:p>
          <a:p>
            <a:pPr marL="0" indent="0" algn="just">
              <a:spcBef>
                <a:spcPct val="0"/>
              </a:spcBef>
              <a:buClrTx/>
              <a:buSzTx/>
              <a:buFontTx/>
              <a:buNone/>
            </a:pPr>
            <a:endParaRPr lang="zh-CN" altLang="en-US"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p:cNvSpPr>
            <a:spLocks noGrp="1"/>
          </p:cNvSpPr>
          <p:nvPr>
            <p:ph type="title"/>
          </p:nvPr>
        </p:nvSpPr>
        <p:spPr/>
        <p:txBody>
          <a:bodyPr/>
          <a:lstStyle/>
          <a:p>
            <a:pPr algn="ctr"/>
            <a:r>
              <a:rPr lang="en-US" altLang="zh-CN" sz="4400" b="1">
                <a:latin typeface="Times New Roman" panose="02020603050405020304" pitchFamily="18" charset="0"/>
                <a:ea typeface="隶书" panose="02010509060101010101" pitchFamily="49" charset="-122"/>
              </a:rPr>
              <a:t>10.9.3 Boost</a:t>
            </a:r>
            <a:r>
              <a:rPr lang="zh-CN" altLang="en-US" sz="4400" b="1">
                <a:latin typeface="Times New Roman" panose="02020603050405020304" pitchFamily="18" charset="0"/>
                <a:ea typeface="隶书" panose="02010509060101010101" pitchFamily="49" charset="-122"/>
              </a:rPr>
              <a:t>简介</a:t>
            </a:r>
            <a:endParaRPr lang="zh-CN" altLang="en-US" sz="4400" b="1">
              <a:latin typeface="Times New Roman" panose="02020603050405020304" pitchFamily="18" charset="0"/>
              <a:ea typeface="隶书" panose="02010509060101010101" pitchFamily="49" charset="-122"/>
            </a:endParaRPr>
          </a:p>
        </p:txBody>
      </p:sp>
      <p:sp>
        <p:nvSpPr>
          <p:cNvPr id="111619" name="内容占位符 2"/>
          <p:cNvSpPr>
            <a:spLocks noGrp="1"/>
          </p:cNvSpPr>
          <p:nvPr>
            <p:ph idx="1"/>
          </p:nvPr>
        </p:nvSpPr>
        <p:spPr/>
        <p:txBody>
          <a:bodyPr/>
          <a:lstStyle/>
          <a:p>
            <a:pPr>
              <a:spcAft>
                <a:spcPct val="25000"/>
              </a:spcAft>
            </a:pPr>
            <a:r>
              <a:rPr lang="en-US" altLang="zh-CN" sz="2400" b="1">
                <a:ea typeface="华文楷体" panose="02010600040101010101" pitchFamily="2" charset="-122"/>
              </a:rPr>
              <a:t>Boost</a:t>
            </a:r>
            <a:r>
              <a:rPr lang="zh-CN" altLang="en-US" sz="2400" b="1">
                <a:ea typeface="华文楷体" panose="02010600040101010101" pitchFamily="2" charset="-122"/>
              </a:rPr>
              <a:t>是最具影响力的</a:t>
            </a:r>
            <a:r>
              <a:rPr lang="en-US" altLang="zh-CN" sz="2400" b="1">
                <a:ea typeface="华文楷体" panose="02010600040101010101" pitchFamily="2" charset="-122"/>
              </a:rPr>
              <a:t>C++</a:t>
            </a:r>
            <a:r>
              <a:rPr lang="zh-CN" altLang="en-US" sz="2400" b="1">
                <a:ea typeface="华文楷体" panose="02010600040101010101" pitchFamily="2" charset="-122"/>
              </a:rPr>
              <a:t>第三方程序库之一</a:t>
            </a:r>
            <a:endParaRPr lang="en-US" altLang="zh-CN" sz="2400" b="1">
              <a:ea typeface="华文楷体" panose="02010600040101010101" pitchFamily="2" charset="-122"/>
            </a:endParaRPr>
          </a:p>
          <a:p>
            <a:pPr>
              <a:spcAft>
                <a:spcPct val="25000"/>
              </a:spcAft>
            </a:pPr>
            <a:r>
              <a:rPr lang="zh-CN" altLang="en-US" sz="2400" b="1">
                <a:ea typeface="华文楷体" panose="02010600040101010101" pitchFamily="2" charset="-122"/>
              </a:rPr>
              <a:t>由几十个程序库构成</a:t>
            </a:r>
            <a:endParaRPr lang="en-US" altLang="zh-CN" sz="2400" b="1">
              <a:ea typeface="华文楷体" panose="02010600040101010101" pitchFamily="2" charset="-122"/>
            </a:endParaRPr>
          </a:p>
          <a:p>
            <a:pPr>
              <a:spcAft>
                <a:spcPct val="25000"/>
              </a:spcAft>
            </a:pPr>
            <a:r>
              <a:rPr lang="zh-CN" altLang="en-US" sz="2400" b="1">
                <a:ea typeface="华文楷体" panose="02010600040101010101" pitchFamily="2" charset="-122"/>
              </a:rPr>
              <a:t>一些程序库提供了</a:t>
            </a:r>
            <a:r>
              <a:rPr lang="en-US" altLang="zh-CN" sz="2400" b="1">
                <a:ea typeface="华文楷体" panose="02010600040101010101" pitchFamily="2" charset="-122"/>
              </a:rPr>
              <a:t>STL</a:t>
            </a:r>
            <a:r>
              <a:rPr lang="zh-CN" altLang="en-US" sz="2400" b="1">
                <a:ea typeface="华文楷体" panose="02010600040101010101" pitchFamily="2" charset="-122"/>
              </a:rPr>
              <a:t>之外的容器、函数对象和算法</a:t>
            </a:r>
            <a:endParaRPr lang="en-US" altLang="zh-CN" sz="2400" b="1">
              <a:ea typeface="华文楷体" panose="02010600040101010101" pitchFamily="2" charset="-122"/>
            </a:endParaRPr>
          </a:p>
          <a:p>
            <a:pPr>
              <a:spcAft>
                <a:spcPct val="25000"/>
              </a:spcAft>
            </a:pPr>
            <a:r>
              <a:rPr lang="zh-CN" altLang="en-US" sz="2400" b="1">
                <a:ea typeface="华文楷体" panose="02010600040101010101" pitchFamily="2" charset="-122"/>
              </a:rPr>
              <a:t>涉及到文本处理、数值计算、向量和矩阵计算、图像处理、内存管理、并行编程、分布式计算、模版元编程等方方面面</a:t>
            </a:r>
            <a:endParaRPr lang="zh-CN" altLang="en-US" sz="2400" b="1">
              <a:ea typeface="华文楷体" panose="02010600040101010101" pitchFamily="2" charset="-122"/>
            </a:endParaRP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81905" y="2924944"/>
            <a:ext cx="7313613" cy="1143000"/>
          </a:xfrm>
        </p:spPr>
        <p:txBody>
          <a:bodyPr/>
          <a:lstStyle/>
          <a:p>
            <a:pPr algn="ctr" eaLnBrk="1" hangingPunct="1"/>
            <a:r>
              <a:rPr lang="zh-CN" altLang="en-US" sz="5800" b="1" dirty="0">
                <a:ea typeface="华文彩云" panose="02010800040101010101" pitchFamily="2" charset="-122"/>
              </a:rPr>
              <a:t>本讲小结</a:t>
            </a:r>
            <a:endParaRPr lang="zh-CN" altLang="en-US" sz="5800" b="1" dirty="0">
              <a:ea typeface="华文彩云" panose="02010800040101010101" pitchFamily="2" charset="-122"/>
            </a:endParaRPr>
          </a:p>
        </p:txBody>
      </p:sp>
      <p:grpSp>
        <p:nvGrpSpPr>
          <p:cNvPr id="3" name="Group 16"/>
          <p:cNvGrpSpPr/>
          <p:nvPr/>
        </p:nvGrpSpPr>
        <p:grpSpPr bwMode="auto">
          <a:xfrm>
            <a:off x="6084168" y="332656"/>
            <a:ext cx="2438400" cy="1752600"/>
            <a:chOff x="2208" y="384"/>
            <a:chExt cx="1536" cy="1104"/>
          </a:xfrm>
        </p:grpSpPr>
        <p:sp>
          <p:nvSpPr>
            <p:cNvPr id="4"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5" name="Group 6"/>
            <p:cNvGrpSpPr/>
            <p:nvPr/>
          </p:nvGrpSpPr>
          <p:grpSpPr bwMode="auto">
            <a:xfrm>
              <a:off x="2592" y="384"/>
              <a:ext cx="820" cy="734"/>
              <a:chOff x="613" y="1858"/>
              <a:chExt cx="672" cy="686"/>
            </a:xfrm>
          </p:grpSpPr>
          <p:grpSp>
            <p:nvGrpSpPr>
              <p:cNvPr id="6" name="Group 7"/>
              <p:cNvGrpSpPr/>
              <p:nvPr/>
            </p:nvGrpSpPr>
            <p:grpSpPr bwMode="auto">
              <a:xfrm>
                <a:off x="613" y="2062"/>
                <a:ext cx="216" cy="482"/>
                <a:chOff x="3064" y="2792"/>
                <a:chExt cx="281" cy="626"/>
              </a:xfrm>
            </p:grpSpPr>
            <p:sp>
              <p:nvSpPr>
                <p:cNvPr id="13"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4"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7" name="Group 10"/>
              <p:cNvGrpSpPr/>
              <p:nvPr/>
            </p:nvGrpSpPr>
            <p:grpSpPr bwMode="auto">
              <a:xfrm>
                <a:off x="850" y="1858"/>
                <a:ext cx="183" cy="470"/>
                <a:chOff x="2073" y="2933"/>
                <a:chExt cx="238" cy="611"/>
              </a:xfrm>
            </p:grpSpPr>
            <p:sp>
              <p:nvSpPr>
                <p:cNvPr id="11"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2"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8" name="Group 13"/>
              <p:cNvGrpSpPr/>
              <p:nvPr/>
            </p:nvGrpSpPr>
            <p:grpSpPr bwMode="auto">
              <a:xfrm>
                <a:off x="1069" y="1987"/>
                <a:ext cx="216" cy="482"/>
                <a:chOff x="2326" y="3101"/>
                <a:chExt cx="281" cy="626"/>
              </a:xfrm>
            </p:grpSpPr>
            <p:sp>
              <p:nvSpPr>
                <p:cNvPr id="9"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0"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algn="ctr"/>
            <a:r>
              <a:rPr lang="zh-CN" altLang="en-US" sz="4400" b="1" dirty="0">
                <a:latin typeface="Times New Roman" panose="02020603050405020304" pitchFamily="18" charset="0"/>
                <a:ea typeface="隶书" panose="02010509060101010101" pitchFamily="49" charset="-122"/>
              </a:rPr>
              <a:t>本讲主要知识点</a:t>
            </a:r>
            <a:endParaRPr lang="zh-CN" altLang="en-US" sz="4400" b="1" dirty="0">
              <a:latin typeface="Times New Roman" panose="02020603050405020304" pitchFamily="18" charset="0"/>
              <a:ea typeface="隶书" panose="02010509060101010101" pitchFamily="49" charset="-122"/>
            </a:endParaRPr>
          </a:p>
        </p:txBody>
      </p:sp>
      <p:sp>
        <p:nvSpPr>
          <p:cNvPr id="6451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6" name="Rectangle 4"/>
          <p:cNvSpPr>
            <a:spLocks noChangeArrowheads="1"/>
          </p:cNvSpPr>
          <p:nvPr/>
        </p:nvSpPr>
        <p:spPr bwMode="auto">
          <a:xfrm>
            <a:off x="882293" y="1340768"/>
            <a:ext cx="8270875" cy="4445257"/>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lIns="0" rIns="0"/>
          <a:lstStyle>
            <a:lvl1pPr marL="552450" indent="-552450"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0" indent="0" algn="l" eaLnBrk="1" hangingPunct="1">
              <a:spcBef>
                <a:spcPct val="20000"/>
              </a:spcBef>
              <a:spcAft>
                <a:spcPts val="600"/>
              </a:spcAft>
              <a:buClr>
                <a:schemeClr val="tx2"/>
              </a:buClr>
              <a:buSzPct val="70000"/>
            </a:pPr>
            <a:r>
              <a:rPr lang="zh-CN" altLang="en-US" sz="2800" dirty="0">
                <a:solidFill>
                  <a:srgbClr val="FFFF00"/>
                </a:solidFill>
                <a:latin typeface="+mn-lt"/>
                <a:ea typeface="+mj-ea"/>
              </a:rPr>
              <a:t>主要内容</a:t>
            </a:r>
            <a:endParaRPr lang="en-US" altLang="zh-CN" sz="2800" dirty="0">
              <a:solidFill>
                <a:srgbClr val="FFFF00"/>
              </a:solidFill>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a:latin typeface="+mn-lt"/>
                <a:ea typeface="+mj-ea"/>
              </a:rPr>
              <a:t>泛型程序设计</a:t>
            </a:r>
            <a:endParaRPr lang="en-US" altLang="zh-CN" sz="2800" dirty="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a:latin typeface="+mn-lt"/>
                <a:ea typeface="+mj-ea"/>
              </a:rPr>
              <a:t>与标准模板库有关的概念和术语</a:t>
            </a:r>
            <a:endParaRPr lang="en-US" altLang="zh-CN" sz="2800" dirty="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a:latin typeface="+mn-lt"/>
                <a:ea typeface="+mj-ea"/>
              </a:rPr>
              <a:t>迭代器</a:t>
            </a:r>
            <a:endParaRPr lang="en-US" altLang="zh-CN" sz="2800" dirty="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a:latin typeface="+mn-lt"/>
                <a:ea typeface="+mj-ea"/>
              </a:rPr>
              <a:t>容器</a:t>
            </a:r>
            <a:endParaRPr lang="en-US" altLang="zh-CN" sz="2800" dirty="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a:latin typeface="+mn-lt"/>
                <a:ea typeface="+mj-ea"/>
              </a:rPr>
              <a:t>函数对象</a:t>
            </a:r>
            <a:endParaRPr lang="en-US" altLang="zh-CN" sz="2800" dirty="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a:latin typeface="+mn-lt"/>
                <a:ea typeface="+mj-ea"/>
              </a:rPr>
              <a:t>算法</a:t>
            </a:r>
            <a:endParaRPr lang="zh-CN" altLang="en-US" sz="2800" dirty="0">
              <a:latin typeface="+mn-lt"/>
              <a:ea typeface="+mj-ea"/>
            </a:endParaRPr>
          </a:p>
          <a:p>
            <a:pPr marL="0" lvl="1" indent="0" algn="l" eaLnBrk="1" hangingPunct="1"/>
            <a:r>
              <a:rPr lang="zh-CN" altLang="en-US" sz="2800" dirty="0">
                <a:solidFill>
                  <a:srgbClr val="FFFF00"/>
                </a:solidFill>
                <a:latin typeface="+mn-lt"/>
                <a:ea typeface="+mj-ea"/>
              </a:rPr>
              <a:t>达到的目标：初步了解泛型程序设计的概念，学会</a:t>
            </a:r>
            <a:r>
              <a:rPr lang="en-US" altLang="zh-CN" sz="2800" dirty="0">
                <a:solidFill>
                  <a:srgbClr val="FFFF00"/>
                </a:solidFill>
                <a:latin typeface="+mn-lt"/>
                <a:ea typeface="+mj-ea"/>
              </a:rPr>
              <a:t>C++</a:t>
            </a:r>
            <a:r>
              <a:rPr lang="zh-CN" altLang="en-US" sz="2800" dirty="0">
                <a:solidFill>
                  <a:srgbClr val="FFFF00"/>
                </a:solidFill>
                <a:latin typeface="+mn-lt"/>
                <a:ea typeface="+mj-ea"/>
              </a:rPr>
              <a:t>标准模板库（</a:t>
            </a:r>
            <a:r>
              <a:rPr lang="en-US" altLang="zh-CN" sz="2800" dirty="0">
                <a:solidFill>
                  <a:srgbClr val="FFFF00"/>
                </a:solidFill>
                <a:latin typeface="+mn-lt"/>
                <a:ea typeface="+mj-ea"/>
              </a:rPr>
              <a:t>STL</a:t>
            </a:r>
            <a:r>
              <a:rPr lang="zh-CN" altLang="en-US" sz="2800" dirty="0">
                <a:solidFill>
                  <a:srgbClr val="FFFF00"/>
                </a:solidFill>
                <a:latin typeface="+mn-lt"/>
                <a:ea typeface="+mj-ea"/>
              </a:rPr>
              <a:t>）的使用方法</a:t>
            </a:r>
            <a:r>
              <a:rPr lang="zh-CN" altLang="en-US" sz="2400" dirty="0">
                <a:latin typeface="+mn-lt"/>
                <a:ea typeface="+mj-ea"/>
              </a:rPr>
              <a:t>础</a:t>
            </a:r>
            <a:endParaRPr lang="zh-CN" altLang="en-US" sz="2400" dirty="0">
              <a:latin typeface="+mn-lt"/>
              <a:ea typeface="+mj-ea"/>
            </a:endParaRPr>
          </a:p>
        </p:txBody>
      </p:sp>
      <p:sp>
        <p:nvSpPr>
          <p:cNvPr id="64517"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8"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9"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971600" y="2745939"/>
            <a:ext cx="7956550" cy="744484"/>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50000"/>
              </a:lnSpc>
              <a:spcBef>
                <a:spcPct val="20000"/>
              </a:spcBef>
              <a:spcAft>
                <a:spcPct val="10000"/>
              </a:spcAft>
              <a:buSzPct val="70000"/>
            </a:pPr>
            <a:r>
              <a:rPr lang="zh-CN" altLang="en-US" sz="2400" dirty="0">
                <a:latin typeface="+mn-lt"/>
                <a:ea typeface="+mj-ea"/>
              </a:rPr>
              <a:t>学生用书，实验</a:t>
            </a:r>
            <a:r>
              <a:rPr lang="en-US" altLang="zh-CN" sz="2400" dirty="0">
                <a:latin typeface="+mn-lt"/>
                <a:ea typeface="+mj-ea"/>
              </a:rPr>
              <a:t>10</a:t>
            </a:r>
            <a:r>
              <a:rPr lang="zh-CN" altLang="en-US" sz="2400" dirty="0">
                <a:latin typeface="+mn-lt"/>
                <a:ea typeface="+mj-ea"/>
              </a:rPr>
              <a:t>，泛型程序设计与</a:t>
            </a:r>
            <a:r>
              <a:rPr lang="en-US" altLang="zh-CN" sz="2400" dirty="0">
                <a:latin typeface="+mn-lt"/>
                <a:ea typeface="+mj-ea"/>
              </a:rPr>
              <a:t>C++</a:t>
            </a:r>
            <a:r>
              <a:rPr lang="zh-CN" altLang="en-US" sz="2400" dirty="0">
                <a:latin typeface="+mn-lt"/>
                <a:ea typeface="+mj-ea"/>
              </a:rPr>
              <a:t>标准模板类</a:t>
            </a:r>
            <a:endParaRPr lang="en-US" altLang="zh-CN" dirty="0">
              <a:solidFill>
                <a:srgbClr val="FFFF00"/>
              </a:solidFill>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475656" y="225428"/>
            <a:ext cx="7313613" cy="725486"/>
          </a:xfrm>
          <a:prstGeom prst="rect">
            <a:avLst/>
          </a:prstGeom>
        </p:spPr>
        <p:txBody>
          <a:bodyPr/>
          <a:lstStyle/>
          <a:p>
            <a:r>
              <a:rPr lang="zh-CN" altLang="en-US" sz="4400" b="1" i="1" dirty="0">
                <a:effectLst>
                  <a:outerShdw blurRad="38100" dist="38100" dir="2700000" algn="tl">
                    <a:srgbClr val="000000"/>
                  </a:outerShdw>
                </a:effectLst>
                <a:ea typeface="隶书" panose="02010509060101010101" pitchFamily="49" charset="-122"/>
                <a:cs typeface="+mj-cs"/>
              </a:rPr>
              <a:t>第</a:t>
            </a:r>
            <a:r>
              <a:rPr lang="en-US" altLang="zh-CN" sz="4400" b="1" i="1" dirty="0">
                <a:effectLst>
                  <a:outerShdw blurRad="38100" dist="38100" dir="2700000" algn="tl">
                    <a:srgbClr val="000000"/>
                  </a:outerShdw>
                </a:effectLst>
                <a:ea typeface="隶书" panose="02010509060101010101" pitchFamily="49" charset="-122"/>
                <a:cs typeface="+mj-cs"/>
              </a:rPr>
              <a:t>10</a:t>
            </a:r>
            <a:r>
              <a:rPr lang="zh-CN" altLang="en-US" sz="4400" b="1" i="1" dirty="0">
                <a:effectLst>
                  <a:outerShdw blurRad="38100" dist="38100" dir="2700000" algn="tl">
                    <a:srgbClr val="000000"/>
                  </a:outerShdw>
                </a:effectLst>
                <a:ea typeface="隶书" panose="02010509060101010101" pitchFamily="49" charset="-122"/>
                <a:cs typeface="+mj-cs"/>
              </a:rPr>
              <a:t>讲上机练习</a:t>
            </a:r>
            <a:endParaRPr lang="zh-CN" altLang="en-US" sz="4400" b="1" i="1" dirty="0">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672518" y="734220"/>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algn="l"/>
            <a:r>
              <a:rPr lang="zh-CN" altLang="en-US" sz="3200" dirty="0">
                <a:solidFill>
                  <a:srgbClr val="FFFF00"/>
                </a:solidFill>
                <a:latin typeface="+mn-lt"/>
                <a:ea typeface="+mj-ea"/>
              </a:rPr>
              <a:t>作业：</a:t>
            </a:r>
            <a:endParaRPr lang="en-US" altLang="zh-CN" sz="3200" dirty="0">
              <a:solidFill>
                <a:srgbClr val="FFFF00"/>
              </a:solidFill>
              <a:latin typeface="+mn-lt"/>
              <a:ea typeface="+mj-ea"/>
            </a:endParaRPr>
          </a:p>
          <a:p>
            <a:pPr algn="l"/>
            <a:r>
              <a:rPr lang="en-US" altLang="zh-CN" dirty="0"/>
              <a:t>10-1/10-2 </a:t>
            </a:r>
            <a:r>
              <a:rPr lang="zh-CN" altLang="zh-CN" dirty="0"/>
              <a:t>简单说明插入排序的算法思想。初始化数组 </a:t>
            </a:r>
            <a:r>
              <a:rPr lang="en-US" altLang="zh-CN" dirty="0"/>
              <a:t>data[]={1,3,5,7,9,11,13,15,17,19,2,4,6,8,10,12,14,16,18,20},</a:t>
            </a:r>
            <a:r>
              <a:rPr lang="zh-CN" altLang="zh-CN" dirty="0"/>
              <a:t>调用教材中的直接插入排序函数模板进行排序。对此函数模板稍作修改，加入输出语句，在每输入一个待排序元素后显示整个数组，观测排序过程中数据的变化，加深对插入排序算法的理解。</a:t>
            </a:r>
            <a:endParaRPr lang="zh-CN" altLang="zh-CN" sz="2400" dirty="0"/>
          </a:p>
          <a:p>
            <a:pPr algn="l"/>
            <a:r>
              <a:rPr lang="en-US" altLang="zh-CN" dirty="0"/>
              <a:t> </a:t>
            </a:r>
            <a:endParaRPr lang="zh-CN" altLang="zh-CN" sz="2400" dirty="0"/>
          </a:p>
          <a:p>
            <a:pPr algn="l"/>
            <a:r>
              <a:rPr lang="en-US" altLang="zh-CN" dirty="0"/>
              <a:t>10-3/10-4 </a:t>
            </a:r>
            <a:r>
              <a:rPr lang="zh-CN" altLang="zh-CN" dirty="0"/>
              <a:t>简单说明选择排序的算法思想。初始化数组</a:t>
            </a:r>
            <a:r>
              <a:rPr lang="en-US" altLang="zh-CN" dirty="0"/>
              <a:t> data[]={1,3,5,7,9,11,13,15,17,19,2,4,6,8,10,12,14,16,18,20},</a:t>
            </a:r>
            <a:r>
              <a:rPr lang="zh-CN" altLang="zh-CN" dirty="0"/>
              <a:t>调用教材中的直接选择排序函数模板进行排序。对此函数模板稍作修改，加入输出语句，在每输入一个待排序元素后显示整个数组，观测排序过程中数据的变化，加深对选择排序算法的理解。</a:t>
            </a:r>
            <a:endParaRPr lang="zh-CN" altLang="zh-CN" sz="2400" dirty="0"/>
          </a:p>
          <a:p>
            <a:pPr algn="l"/>
            <a:r>
              <a:rPr lang="en-US" altLang="zh-CN" dirty="0"/>
              <a:t> </a:t>
            </a:r>
            <a:endParaRPr lang="zh-CN" altLang="zh-CN" sz="2400" dirty="0"/>
          </a:p>
          <a:p>
            <a:pPr algn="l"/>
            <a:r>
              <a:rPr lang="en-US" altLang="zh-CN" dirty="0"/>
              <a:t>10-5/10-6 </a:t>
            </a:r>
            <a:r>
              <a:rPr lang="zh-CN" altLang="zh-CN" dirty="0"/>
              <a:t>简单说明交换排序的算法思想。初始化数组</a:t>
            </a:r>
            <a:r>
              <a:rPr lang="en-US" altLang="zh-CN" dirty="0"/>
              <a:t> data[]={1,3,5,7,9,11,13,15,17,19,2,4,6,8,10,12,14,16,18,20},</a:t>
            </a:r>
            <a:r>
              <a:rPr lang="zh-CN" altLang="zh-CN" dirty="0"/>
              <a:t>调用教材中的直接起泡排序函数模板进行排序。对此函数模板稍作修改，加入输出语句，在每输入一个待排序元素后显示整个数组，观测排序过程中数据的变化，加深对起泡排序算法的理解。</a:t>
            </a:r>
            <a:endParaRPr lang="en-US" altLang="zh-CN" sz="6600" dirty="0">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p:spPr>
        <p:txBody>
          <a:bodyPr/>
          <a:lstStyle/>
          <a:p>
            <a:r>
              <a:rPr lang="zh-CN" altLang="en-US" sz="4400" b="1" i="1" dirty="0">
                <a:effectLst>
                  <a:outerShdw blurRad="38100" dist="38100" dir="2700000" algn="tl">
                    <a:srgbClr val="000000"/>
                  </a:outerShdw>
                </a:effectLst>
                <a:ea typeface="隶书" panose="02010509060101010101" pitchFamily="49" charset="-122"/>
                <a:cs typeface="+mj-cs"/>
              </a:rPr>
              <a:t>第</a:t>
            </a:r>
            <a:r>
              <a:rPr lang="en-US" altLang="zh-CN" sz="4400" b="1" i="1" dirty="0">
                <a:effectLst>
                  <a:outerShdw blurRad="38100" dist="38100" dir="2700000" algn="tl">
                    <a:srgbClr val="000000"/>
                  </a:outerShdw>
                </a:effectLst>
                <a:ea typeface="隶书" panose="02010509060101010101" pitchFamily="49" charset="-122"/>
                <a:cs typeface="+mj-cs"/>
              </a:rPr>
              <a:t>10</a:t>
            </a:r>
            <a:r>
              <a:rPr lang="zh-CN" altLang="en-US" sz="4400" b="1" i="1" dirty="0">
                <a:effectLst>
                  <a:outerShdw blurRad="38100" dist="38100" dir="2700000" algn="tl">
                    <a:srgbClr val="000000"/>
                  </a:outerShdw>
                </a:effectLst>
                <a:ea typeface="隶书" panose="02010509060101010101" pitchFamily="49" charset="-122"/>
                <a:cs typeface="+mj-cs"/>
              </a:rPr>
              <a:t>讲 课后练习</a:t>
            </a:r>
            <a:endParaRPr lang="zh-CN" altLang="en-US" sz="4400" b="1" i="1" dirty="0">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WordArt 2"/>
          <p:cNvSpPr>
            <a:spLocks noChangeArrowheads="1" noChangeShapeType="1" noTextEdit="1"/>
          </p:cNvSpPr>
          <p:nvPr/>
        </p:nvSpPr>
        <p:spPr bwMode="auto">
          <a:xfrm>
            <a:off x="4644008" y="5181600"/>
            <a:ext cx="3966592" cy="838200"/>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r>
              <a:rPr lang="zh-CN" altLang="en-US" sz="3600" kern="10" dirty="0">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华文彩云" panose="02010800040101010101" pitchFamily="2" charset="-122"/>
                <a:ea typeface="华文彩云" panose="02010800040101010101" pitchFamily="2" charset="-122"/>
              </a:rPr>
              <a:t>有问题吗？</a:t>
            </a:r>
            <a:endParaRPr lang="zh-CN" altLang="en-US" sz="3600" kern="10" dirty="0">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华文彩云" panose="02010800040101010101" pitchFamily="2" charset="-122"/>
              <a:ea typeface="华文彩云" panose="02010800040101010101" pitchFamily="2" charset="-122"/>
            </a:endParaRPr>
          </a:p>
        </p:txBody>
      </p:sp>
      <p:pic>
        <p:nvPicPr>
          <p:cNvPr id="635907" name="Picture 3"/>
          <p:cNvPicPr>
            <a:picLocks noChangeAspect="1" noChangeArrowheads="1"/>
          </p:cNvPicPr>
          <p:nvPr/>
        </p:nvPicPr>
        <p:blipFill>
          <a:blip r:embed="rId1" cstate="print">
            <a:clrChange>
              <a:clrFrom>
                <a:srgbClr val="FFFFFF"/>
              </a:clrFrom>
              <a:clrTo>
                <a:srgbClr val="FFFFFF">
                  <a:alpha val="0"/>
                </a:srgbClr>
              </a:clrTo>
            </a:clrChange>
            <a:biLevel thresh="50000"/>
            <a:grayscl/>
            <a:lum contrast="70000"/>
            <a:extLst>
              <a:ext uri="{28A0092B-C50C-407E-A947-70E740481C1C}">
                <a14:useLocalDpi xmlns:a14="http://schemas.microsoft.com/office/drawing/2010/main" val="0"/>
              </a:ext>
            </a:extLst>
          </a:blip>
          <a:srcRect/>
          <a:stretch>
            <a:fillRect/>
          </a:stretch>
        </p:blipFill>
        <p:spPr bwMode="auto">
          <a:xfrm>
            <a:off x="3505200" y="3048000"/>
            <a:ext cx="1828800" cy="1143000"/>
          </a:xfrm>
          <a:prstGeom prst="rect">
            <a:avLst/>
          </a:prstGeom>
          <a:noFill/>
          <a:effectLst>
            <a:prstShdw prst="shdw17">
              <a:srgbClr val="FFFFFF">
                <a:gamma/>
                <a:shade val="60000"/>
                <a:invGamma/>
              </a:srgbClr>
            </a:prstShdw>
          </a:effectLst>
          <a:extLst>
            <a:ext uri="{909E8E84-426E-40DD-AFC4-6F175D3DCCD1}">
              <a14:hiddenFill xmlns:a14="http://schemas.microsoft.com/office/drawing/2010/main">
                <a:solidFill>
                  <a:srgbClr val="FFFFFF"/>
                </a:solidFill>
              </a14:hiddenFill>
            </a:ext>
          </a:extLst>
        </p:spPr>
      </p:pic>
      <p:sp>
        <p:nvSpPr>
          <p:cNvPr id="635908" name="Text Box 4"/>
          <p:cNvSpPr txBox="1">
            <a:spLocks noChangeArrowheads="1"/>
          </p:cNvSpPr>
          <p:nvPr/>
        </p:nvSpPr>
        <p:spPr bwMode="auto">
          <a:xfrm>
            <a:off x="539552" y="1196752"/>
            <a:ext cx="8153400" cy="1142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dist">
              <a:lnSpc>
                <a:spcPct val="75000"/>
              </a:lnSpc>
              <a:spcBef>
                <a:spcPct val="50000"/>
              </a:spcBef>
            </a:pPr>
            <a:r>
              <a:rPr lang="zh-CN" altLang="en-US" sz="8800" dirty="0">
                <a:latin typeface="华文彩云" panose="02010800040101010101" pitchFamily="2" charset="-122"/>
                <a:ea typeface="华文彩云" panose="02010800040101010101" pitchFamily="2" charset="-122"/>
              </a:rPr>
              <a:t>本讲结束</a:t>
            </a:r>
            <a:endParaRPr lang="zh-CN" altLang="en-US" sz="8800" dirty="0">
              <a:ea typeface="华文行楷"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635906"/>
                                        </p:tgtEl>
                                        <p:attrNameLst>
                                          <p:attrName>style.visibility</p:attrName>
                                        </p:attrNameLst>
                                      </p:cBhvr>
                                      <p:to>
                                        <p:strVal val="visible"/>
                                      </p:to>
                                    </p:set>
                                    <p:anim calcmode="lin" valueType="num">
                                      <p:cBhvr>
                                        <p:cTn id="7" dur="500" fill="hold"/>
                                        <p:tgtEl>
                                          <p:spTgt spid="635906"/>
                                        </p:tgtEl>
                                        <p:attrNameLst>
                                          <p:attrName>ppt_w</p:attrName>
                                        </p:attrNameLst>
                                      </p:cBhvr>
                                      <p:tavLst>
                                        <p:tav tm="0">
                                          <p:val>
                                            <p:fltVal val="0"/>
                                          </p:val>
                                        </p:tav>
                                        <p:tav tm="100000">
                                          <p:val>
                                            <p:strVal val="#ppt_w"/>
                                          </p:val>
                                        </p:tav>
                                      </p:tavLst>
                                    </p:anim>
                                    <p:anim calcmode="lin" valueType="num">
                                      <p:cBhvr>
                                        <p:cTn id="8" dur="500" fill="hold"/>
                                        <p:tgtEl>
                                          <p:spTgt spid="635906"/>
                                        </p:tgtEl>
                                        <p:attrNameLst>
                                          <p:attrName>ppt_h</p:attrName>
                                        </p:attrNameLst>
                                      </p:cBhvr>
                                      <p:tavLst>
                                        <p:tav tm="0">
                                          <p:val>
                                            <p:fltVal val="0"/>
                                          </p:val>
                                        </p:tav>
                                        <p:tav tm="100000">
                                          <p:val>
                                            <p:strVal val="#ppt_h"/>
                                          </p:val>
                                        </p:tav>
                                      </p:tavLst>
                                    </p:anim>
                                    <p:anim calcmode="lin" valueType="num">
                                      <p:cBhvr>
                                        <p:cTn id="9" dur="500" fill="hold"/>
                                        <p:tgtEl>
                                          <p:spTgt spid="635906"/>
                                        </p:tgtEl>
                                        <p:attrNameLst>
                                          <p:attrName>ppt_x</p:attrName>
                                        </p:attrNameLst>
                                      </p:cBhvr>
                                      <p:tavLst>
                                        <p:tav tm="0">
                                          <p:val>
                                            <p:fltVal val="0.5"/>
                                          </p:val>
                                        </p:tav>
                                        <p:tav tm="100000">
                                          <p:val>
                                            <p:strVal val="#ppt_x"/>
                                          </p:val>
                                        </p:tav>
                                      </p:tavLst>
                                    </p:anim>
                                    <p:anim calcmode="lin" valueType="num">
                                      <p:cBhvr>
                                        <p:cTn id="10" dur="500" fill="hold"/>
                                        <p:tgtEl>
                                          <p:spTgt spid="63590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6" grpId="0" animBg="1"/>
    </p:bldLst>
  </p:timing>
</p:sld>
</file>

<file path=ppt/tags/tag1.xml><?xml version="1.0" encoding="utf-8"?>
<p:tagLst xmlns:p="http://schemas.openxmlformats.org/presentationml/2006/main">
  <p:tag name="RAINPROBLEM" val="ProblemBody"/>
</p:tagLst>
</file>

<file path=ppt/tags/tag2.xml><?xml version="1.0" encoding="utf-8"?>
<p:tagLst xmlns:p="http://schemas.openxmlformats.org/presentationml/2006/main">
  <p:tag name="RAINPROBLEM" val="ProblemItem"/>
</p:tagLst>
</file>

<file path=ppt/tags/tag3.xml><?xml version="1.0" encoding="utf-8"?>
<p:tagLst xmlns:p="http://schemas.openxmlformats.org/presentationml/2006/main">
  <p:tag name="RAINPROBLEM" val="ProblemItem"/>
</p:tagLst>
</file>

<file path=ppt/tags/tag4.xml><?xml version="1.0" encoding="utf-8"?>
<p:tagLst xmlns:p="http://schemas.openxmlformats.org/presentationml/2006/main">
  <p:tag name="RAINPROBLEM" val="ProblemItem"/>
</p:tagLst>
</file>

<file path=ppt/tags/tag5.xml><?xml version="1.0" encoding="utf-8"?>
<p:tagLst xmlns:p="http://schemas.openxmlformats.org/presentationml/2006/main">
  <p:tag name="RAINPROBLEM" val="ProblemItem"/>
</p:tagLst>
</file>

<file path=ppt/tags/tag6.xml><?xml version="1.0" encoding="utf-8"?>
<p:tagLst xmlns:p="http://schemas.openxmlformats.org/presentationml/2006/main">
  <p:tag name="RAINPROBLEM" val="ProblemBullet"/>
  <p:tag name="RAINPROBLEMTYPE" val="MultipleChoice"/>
  <p:tag name="RAINBULLET" val="Wrong"/>
</p:tagLst>
</file>

<file path=ppt/tags/tag7.xml><?xml version="1.0" encoding="utf-8"?>
<p:tagLst xmlns:p="http://schemas.openxmlformats.org/presentationml/2006/main">
  <p:tag name="RAINPROBLEM" val="ProblemBullet"/>
  <p:tag name="RAINPROBLEMTYPE" val="MultipleChoice"/>
  <p:tag name="RAINBULLET" val="Wrong"/>
</p:tagLst>
</file>

<file path=ppt/tags/tag8.xml><?xml version="1.0" encoding="utf-8"?>
<p:tagLst xmlns:p="http://schemas.openxmlformats.org/presentationml/2006/main">
  <p:tag name="RAINPROBLEM" val="ProblemBullet"/>
  <p:tag name="RAINPROBLEMTYPE" val="MultipleChoice"/>
  <p:tag name="RAINBULLET" val="Wrong"/>
</p:tagLst>
</file>

<file path=ppt/tags/tag9.xml><?xml version="1.0" encoding="utf-8"?>
<p:tagLst xmlns:p="http://schemas.openxmlformats.org/presentationml/2006/main">
  <p:tag name="RAINPROBLEM" val="ProblemBullet"/>
  <p:tag name="RAINPROBLEMTYPE" val="MultipleChoice"/>
  <p:tag name="RAINBULLET" val="Correct"/>
</p:tagLst>
</file>

<file path=ppt/tags/tag10.xml><?xml version="1.0" encoding="utf-8"?>
<p:tagLst xmlns:p="http://schemas.openxmlformats.org/presentationml/2006/main">
  <p:tag name="RAINPROBLEM" val="ProblemSubmit"/>
  <p:tag name="RAINPROBLEMTYPE" val="MultipleChoice"/>
</p:tagLst>
</file>

<file path=ppt/tags/tag11.xml><?xml version="1.0" encoding="utf-8"?>
<p:tagLst xmlns:p="http://schemas.openxmlformats.org/presentationml/2006/main">
  <p:tag name="RAINPROBLEMTYPE" val="ProblemTypeMarker"/>
</p:tagLst>
</file>

<file path=ppt/tags/tag12.xml><?xml version="1.0" encoding="utf-8"?>
<p:tagLst xmlns:p="http://schemas.openxmlformats.org/presentationml/2006/main">
  <p:tag name="RAINPROBLEMTYPE" val="ProblemTypeMarker"/>
</p:tagLst>
</file>

<file path=ppt/tags/tag13.xml><?xml version="1.0" encoding="utf-8"?>
<p:tagLst xmlns:p="http://schemas.openxmlformats.org/presentationml/2006/main">
  <p:tag name="RAINPROBLEMTYPE" val="ProblemTypeMarker"/>
</p:tagLst>
</file>

<file path=ppt/tags/tag14.xml><?xml version="1.0" encoding="utf-8"?>
<p:tagLst xmlns:p="http://schemas.openxmlformats.org/presentationml/2006/main">
  <p:tag name="RAINPROBLEMTYPE" val="ProblemTypeMarker"/>
</p:tagLst>
</file>

<file path=ppt/tags/tag15.xml><?xml version="1.0" encoding="utf-8"?>
<p:tagLst xmlns:p="http://schemas.openxmlformats.org/presentationml/2006/main">
  <p:tag name="RAINPROBLEMTYPE" val="ProblemTypeMarker"/>
</p:tagLst>
</file>

<file path=ppt/tags/tag16.xml><?xml version="1.0" encoding="utf-8"?>
<p:tagLst xmlns:p="http://schemas.openxmlformats.org/presentationml/2006/main">
  <p:tag name="RAINPROBLEM" val="ProblemSetting"/>
  <p:tag name="RAINPROBLEMTYPE" val="MultipleChoice"/>
</p:tagLst>
</file>

<file path=ppt/tags/tag17.xml><?xml version="1.0" encoding="utf-8"?>
<p:tagLst xmlns:p="http://schemas.openxmlformats.org/presentationml/2006/main">
  <p:tag name="RAINPROBLEM" val="MultipleChoice"/>
  <p:tag name="PROBLEMSCORE" val="1.0"/>
</p:tagLst>
</file>

<file path=ppt/tags/tag18.xml><?xml version="1.0" encoding="utf-8"?>
<p:tagLst xmlns:p="http://schemas.openxmlformats.org/presentationml/2006/main">
  <p:tag name="KSO_WPP_MARK_KEY" val="86159f3b-5c3d-40ea-9fd7-aefb2983f8b2"/>
  <p:tag name="COMMONDATA" val="eyJoZGlkIjoiYjE5NTMxMzVkMjIwM2E5N2RhNTBjOGFiMGNlN2E4NzUifQ=="/>
</p:tagLst>
</file>

<file path=ppt/theme/theme1.xml><?xml version="1.0" encoding="utf-8"?>
<a:theme xmlns:a="http://schemas.openxmlformats.org/drawingml/2006/main" name="Blank Presentation">
  <a:themeElements>
    <a:clrScheme name="Blank Presentation 1">
      <a:dk1>
        <a:srgbClr val="2A004E"/>
      </a:dk1>
      <a:lt1>
        <a:srgbClr val="FFFFFF"/>
      </a:lt1>
      <a:dk2>
        <a:srgbClr val="500093"/>
      </a:dk2>
      <a:lt2>
        <a:srgbClr val="00CCCC"/>
      </a:lt2>
      <a:accent1>
        <a:srgbClr val="D60093"/>
      </a:accent1>
      <a:accent2>
        <a:srgbClr val="0000FF"/>
      </a:accent2>
      <a:accent3>
        <a:srgbClr val="B3AAC8"/>
      </a:accent3>
      <a:accent4>
        <a:srgbClr val="DADADA"/>
      </a:accent4>
      <a:accent5>
        <a:srgbClr val="E8AAC8"/>
      </a:accent5>
      <a:accent6>
        <a:srgbClr val="0000E7"/>
      </a:accent6>
      <a:hlink>
        <a:srgbClr val="FFFF00"/>
      </a:hlink>
      <a:folHlink>
        <a:srgbClr val="7500D7"/>
      </a:folHlink>
    </a:clrScheme>
    <a:fontScheme name="Blank Presentation">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36000" tIns="0" rIns="36000" bIns="0" numCol="1" anchor="ctr" anchorCtr="1"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36000" tIns="0" rIns="36000" bIns="0" numCol="1" anchor="ctr" anchorCtr="1"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defRPr>
        </a:defPPr>
      </a:lstStyle>
    </a:lnDef>
    <a:txDef>
      <a:spPr bwMode="auto">
        <a:noFill/>
        <a:ln w="9525" algn="ctr">
          <a:noFill/>
          <a:miter lim="800000"/>
        </a:ln>
      </a:spPr>
      <a:bodyPr anchor="ctr"/>
      <a:lstStyle>
        <a:defPPr algn="l" eaLnBrk="1" hangingPunct="1">
          <a:lnSpc>
            <a:spcPct val="150000"/>
          </a:lnSpc>
          <a:spcBef>
            <a:spcPct val="50000"/>
          </a:spcBef>
          <a:defRPr sz="2400" dirty="0" smtClean="0"/>
        </a:defPPr>
      </a:lstStyle>
    </a:txDef>
  </a:objectDefaults>
  <a:extraClrSchemeLst>
    <a:extraClrScheme>
      <a:clrScheme name="Blank Presentation 1">
        <a:dk1>
          <a:srgbClr val="2A004E"/>
        </a:dk1>
        <a:lt1>
          <a:srgbClr val="FFFFFF"/>
        </a:lt1>
        <a:dk2>
          <a:srgbClr val="500093"/>
        </a:dk2>
        <a:lt2>
          <a:srgbClr val="00CCCC"/>
        </a:lt2>
        <a:accent1>
          <a:srgbClr val="D60093"/>
        </a:accent1>
        <a:accent2>
          <a:srgbClr val="0000FF"/>
        </a:accent2>
        <a:accent3>
          <a:srgbClr val="B3AAC8"/>
        </a:accent3>
        <a:accent4>
          <a:srgbClr val="DADADA"/>
        </a:accent4>
        <a:accent5>
          <a:srgbClr val="E8AAC8"/>
        </a:accent5>
        <a:accent6>
          <a:srgbClr val="0000E7"/>
        </a:accent6>
        <a:hlink>
          <a:srgbClr val="FFFF00"/>
        </a:hlink>
        <a:folHlink>
          <a:srgbClr val="7500D7"/>
        </a:folHlink>
      </a:clrScheme>
      <a:clrMap bg1="dk2" tx1="lt1" bg2="dk1" tx2="lt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CCECFF"/>
        </a:lt2>
        <a:accent1>
          <a:srgbClr val="CC99FF"/>
        </a:accent1>
        <a:accent2>
          <a:srgbClr val="3366FF"/>
        </a:accent2>
        <a:accent3>
          <a:srgbClr val="FFFFFF"/>
        </a:accent3>
        <a:accent4>
          <a:srgbClr val="000000"/>
        </a:accent4>
        <a:accent5>
          <a:srgbClr val="E2CAFF"/>
        </a:accent5>
        <a:accent6>
          <a:srgbClr val="2D5CE7"/>
        </a:accent6>
        <a:hlink>
          <a:srgbClr val="00CCFF"/>
        </a:hlink>
        <a:folHlink>
          <a:srgbClr val="99CCFF"/>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969696"/>
        </a:lt2>
        <a:accent1>
          <a:srgbClr val="777777"/>
        </a:accent1>
        <a:accent2>
          <a:srgbClr val="CBCBCB"/>
        </a:accent2>
        <a:accent3>
          <a:srgbClr val="FFFFFF"/>
        </a:accent3>
        <a:accent4>
          <a:srgbClr val="000000"/>
        </a:accent4>
        <a:accent5>
          <a:srgbClr val="BDBDBD"/>
        </a:accent5>
        <a:accent6>
          <a:srgbClr val="B8B8B8"/>
        </a:accent6>
        <a:hlink>
          <a:srgbClr val="4D4D4D"/>
        </a:hlink>
        <a:folHlink>
          <a:srgbClr val="DDDDDD"/>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00CCCC"/>
        </a:lt1>
        <a:dk2>
          <a:srgbClr val="FFFFCC"/>
        </a:dk2>
        <a:lt2>
          <a:srgbClr val="009999"/>
        </a:lt2>
        <a:accent1>
          <a:srgbClr val="CC99FF"/>
        </a:accent1>
        <a:accent2>
          <a:srgbClr val="3366FF"/>
        </a:accent2>
        <a:accent3>
          <a:srgbClr val="AAE2E2"/>
        </a:accent3>
        <a:accent4>
          <a:srgbClr val="000000"/>
        </a:accent4>
        <a:accent5>
          <a:srgbClr val="E2CAFF"/>
        </a:accent5>
        <a:accent6>
          <a:srgbClr val="2D5CE7"/>
        </a:accent6>
        <a:hlink>
          <a:srgbClr val="00CCFF"/>
        </a:hlink>
        <a:folHlink>
          <a:srgbClr val="00FFCC"/>
        </a:folHlink>
      </a:clrScheme>
      <a:clrMap bg1="lt1" tx1="dk1" bg2="lt2" tx2="dk2" accent1="accent1" accent2="accent2" accent3="accent3" accent4="accent4" accent5="accent5" accent6="accent6" hlink="hlink" folHlink="folHlink"/>
    </a:extraClrScheme>
    <a:extraClrScheme>
      <a:clrScheme name="Blank Presentation 5">
        <a:dk1>
          <a:srgbClr val="003300"/>
        </a:dk1>
        <a:lt1>
          <a:srgbClr val="FFFFFF"/>
        </a:lt1>
        <a:dk2>
          <a:srgbClr val="669900"/>
        </a:dk2>
        <a:lt2>
          <a:srgbClr val="FFCC66"/>
        </a:lt2>
        <a:accent1>
          <a:srgbClr val="990033"/>
        </a:accent1>
        <a:accent2>
          <a:srgbClr val="FF9933"/>
        </a:accent2>
        <a:accent3>
          <a:srgbClr val="B8CAAA"/>
        </a:accent3>
        <a:accent4>
          <a:srgbClr val="DADADA"/>
        </a:accent4>
        <a:accent5>
          <a:srgbClr val="CAAAAD"/>
        </a:accent5>
        <a:accent6>
          <a:srgbClr val="E78A2D"/>
        </a:accent6>
        <a:hlink>
          <a:srgbClr val="CCCC00"/>
        </a:hlink>
        <a:folHlink>
          <a:srgbClr val="009900"/>
        </a:folHlink>
      </a:clrScheme>
      <a:clrMap bg1="dk2" tx1="lt1" bg2="dk1" tx2="lt2" accent1="accent1" accent2="accent2" accent3="accent3" accent4="accent4" accent5="accent5" accent6="accent6" hlink="hlink" folHlink="folHlink"/>
    </a:extraClrScheme>
    <a:extraClrScheme>
      <a:clrScheme name="Blank Presentation 6">
        <a:dk1>
          <a:srgbClr val="663300"/>
        </a:dk1>
        <a:lt1>
          <a:srgbClr val="FFFFFF"/>
        </a:lt1>
        <a:dk2>
          <a:srgbClr val="CC6600"/>
        </a:dk2>
        <a:lt2>
          <a:srgbClr val="FFCC00"/>
        </a:lt2>
        <a:accent1>
          <a:srgbClr val="990033"/>
        </a:accent1>
        <a:accent2>
          <a:srgbClr val="FF0033"/>
        </a:accent2>
        <a:accent3>
          <a:srgbClr val="E2B8AA"/>
        </a:accent3>
        <a:accent4>
          <a:srgbClr val="DADADA"/>
        </a:accent4>
        <a:accent5>
          <a:srgbClr val="CAAAAD"/>
        </a:accent5>
        <a:accent6>
          <a:srgbClr val="E7002D"/>
        </a:accent6>
        <a:hlink>
          <a:srgbClr val="CCCC00"/>
        </a:hlink>
        <a:folHlink>
          <a:srgbClr val="FF9900"/>
        </a:folHlink>
      </a:clrScheme>
      <a:clrMap bg1="dk2" tx1="lt1" bg2="dk1" tx2="lt2" accent1="accent1" accent2="accent2" accent3="accent3" accent4="accent4" accent5="accent5" accent6="accent6" hlink="hlink" folHlink="folHlink"/>
    </a:extraClrScheme>
    <a:extraClrScheme>
      <a:clrScheme name="Blank Presentation 7">
        <a:dk1>
          <a:srgbClr val="660033"/>
        </a:dk1>
        <a:lt1>
          <a:srgbClr val="FFFFFF"/>
        </a:lt1>
        <a:dk2>
          <a:srgbClr val="990066"/>
        </a:dk2>
        <a:lt2>
          <a:srgbClr val="FFFF66"/>
        </a:lt2>
        <a:accent1>
          <a:srgbClr val="9933FF"/>
        </a:accent1>
        <a:accent2>
          <a:srgbClr val="00CCCC"/>
        </a:accent2>
        <a:accent3>
          <a:srgbClr val="CAAAB8"/>
        </a:accent3>
        <a:accent4>
          <a:srgbClr val="DADADA"/>
        </a:accent4>
        <a:accent5>
          <a:srgbClr val="CAADFF"/>
        </a:accent5>
        <a:accent6>
          <a:srgbClr val="00B9B9"/>
        </a:accent6>
        <a:hlink>
          <a:srgbClr val="CC66FF"/>
        </a:hlink>
        <a:folHlink>
          <a:srgbClr val="D6009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37305</Words>
  <Application>WPS 演示</Application>
  <PresentationFormat>全屏显示(4:3)</PresentationFormat>
  <Paragraphs>1790</Paragraphs>
  <Slides>128</Slides>
  <Notes>9</Notes>
  <HiddenSlides>12</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128</vt:i4>
      </vt:variant>
    </vt:vector>
  </HeadingPairs>
  <TitlesOfParts>
    <vt:vector size="148" baseType="lpstr">
      <vt:lpstr>Arial</vt:lpstr>
      <vt:lpstr>宋体</vt:lpstr>
      <vt:lpstr>Wingdings</vt:lpstr>
      <vt:lpstr>Times New Roman</vt:lpstr>
      <vt:lpstr>幼圆</vt:lpstr>
      <vt:lpstr>隶书</vt:lpstr>
      <vt:lpstr>Monotype Sorts</vt:lpstr>
      <vt:lpstr>Wingdings</vt:lpstr>
      <vt:lpstr>Book Antiqua</vt:lpstr>
      <vt:lpstr>黑体</vt:lpstr>
      <vt:lpstr>微软雅黑</vt:lpstr>
      <vt:lpstr>方正舒体</vt:lpstr>
      <vt:lpstr>华文中宋</vt:lpstr>
      <vt:lpstr>华文彩云</vt:lpstr>
      <vt:lpstr>Calibri</vt:lpstr>
      <vt:lpstr>Arial Unicode MS</vt:lpstr>
      <vt:lpstr>Georgia</vt:lpstr>
      <vt:lpstr>华文楷体</vt:lpstr>
      <vt:lpstr>华文行楷</vt:lpstr>
      <vt:lpstr>Blank Presentation</vt:lpstr>
      <vt:lpstr>PowerPoint 演示文稿</vt:lpstr>
      <vt:lpstr>PowerPoint 演示文稿</vt:lpstr>
      <vt:lpstr>泛型程序设计及STL的结构</vt:lpstr>
      <vt:lpstr>术语：概念</vt:lpstr>
      <vt:lpstr>术语：模型</vt:lpstr>
      <vt:lpstr>用概念做模板参数名</vt:lpstr>
      <vt:lpstr>STL简介</vt:lpstr>
      <vt:lpstr>STL简介</vt:lpstr>
      <vt:lpstr>STL的基本组件</vt:lpstr>
      <vt:lpstr>STL的基本组件</vt:lpstr>
      <vt:lpstr>STL的基本组件——容器（container）</vt:lpstr>
      <vt:lpstr>STL的基本组件——迭代器（iterator）</vt:lpstr>
      <vt:lpstr>STL的基本组件——函数对象（function object）</vt:lpstr>
      <vt:lpstr>STL的基本组件——算法（algorithms）</vt:lpstr>
      <vt:lpstr>算法举例——transform算法</vt:lpstr>
      <vt:lpstr>例10-1：从标准输入读入几个整数，存入向量容器，输出相反数</vt:lpstr>
      <vt:lpstr>PowerPoint 演示文稿</vt:lpstr>
      <vt:lpstr>10.2.1输入流迭代器和输出流迭代器</vt:lpstr>
      <vt:lpstr>例10-2从标准输入读入几个实数，分别将它们的平方输出</vt:lpstr>
      <vt:lpstr>10.2.2 迭代器的分类</vt:lpstr>
      <vt:lpstr>迭代器支持的操作</vt:lpstr>
      <vt:lpstr>10.2.3 迭代器的区间</vt:lpstr>
      <vt:lpstr>例10-3 综合运用几种迭代器的示例</vt:lpstr>
      <vt:lpstr>例10-3 （续）</vt:lpstr>
      <vt:lpstr>10.2.4 迭代器的辅助函数</vt:lpstr>
      <vt:lpstr>容器的基本功能 与分类</vt:lpstr>
      <vt:lpstr>10.3 容器的基本功能与分类</vt:lpstr>
      <vt:lpstr>10.3 容器的基本功能与分类（续）</vt:lpstr>
      <vt:lpstr>容器的通用功能</vt:lpstr>
      <vt:lpstr>可逆容器、随机访问容器</vt:lpstr>
      <vt:lpstr>顺序容器</vt:lpstr>
      <vt:lpstr>顺序容器的基本功能</vt:lpstr>
      <vt:lpstr>顺序容器</vt:lpstr>
      <vt:lpstr>顺序容器的接口（不包含单向链表（forward_list）和数组（array））</vt:lpstr>
      <vt:lpstr>顺序容器的接口（不包含单向链表（forward_list）和数组（array））</vt:lpstr>
      <vt:lpstr>例10-4 顺序容器的基本操作</vt:lpstr>
      <vt:lpstr>例10-4 （续）</vt:lpstr>
      <vt:lpstr>例10-4 （续）</vt:lpstr>
      <vt:lpstr>顺序容器的特性</vt:lpstr>
      <vt:lpstr>向量（Vector）</vt:lpstr>
      <vt:lpstr>双端队列（deque）</vt:lpstr>
      <vt:lpstr>例10-5 奇偶排序</vt:lpstr>
      <vt:lpstr>列表(list)</vt:lpstr>
      <vt:lpstr>例10-6列表容器的splice操作</vt:lpstr>
      <vt:lpstr>单向链表（forward_list）</vt:lpstr>
      <vt:lpstr>数组（array）</vt:lpstr>
      <vt:lpstr>顺序容器的比较</vt:lpstr>
      <vt:lpstr>顺序容器的插入迭代器与适配器</vt:lpstr>
      <vt:lpstr>10.4.3 顺序容器的插入迭代器</vt:lpstr>
      <vt:lpstr>10.4.4 顺序容器的适配器</vt:lpstr>
      <vt:lpstr>栈和队列模板</vt:lpstr>
      <vt:lpstr>栈和队列共同支持的操作</vt:lpstr>
      <vt:lpstr>栈和队列不同的操作</vt:lpstr>
      <vt:lpstr>例10-7 利用栈反向输出单词</vt:lpstr>
      <vt:lpstr>优先级队列</vt:lpstr>
      <vt:lpstr>例10-8（续）</vt:lpstr>
      <vt:lpstr>例10-8（续）</vt:lpstr>
      <vt:lpstr>例10-8（续）</vt:lpstr>
      <vt:lpstr>   关联容器</vt:lpstr>
      <vt:lpstr>10.5.1 关联容器分类和基本功能</vt:lpstr>
      <vt:lpstr>关联容器概念图</vt:lpstr>
      <vt:lpstr>四种关联容器</vt:lpstr>
      <vt:lpstr>无序关联容器</vt:lpstr>
      <vt:lpstr>10.5.2 集合（set）</vt:lpstr>
      <vt:lpstr>例10-9（续）</vt:lpstr>
      <vt:lpstr>例10-9（续）</vt:lpstr>
      <vt:lpstr>10.5.3 映射（map）</vt:lpstr>
      <vt:lpstr>例10-10（续）</vt:lpstr>
      <vt:lpstr>例10-10（续）</vt:lpstr>
      <vt:lpstr>例10-11统计一句话中每个字母出现的次数</vt:lpstr>
      <vt:lpstr>10.5.4 多重集合（multiset） 与多重映射（multimap）</vt:lpstr>
      <vt:lpstr>例10-12（续）</vt:lpstr>
      <vt:lpstr>例10-12（续）</vt:lpstr>
      <vt:lpstr>PowerPoint 演示文稿</vt:lpstr>
      <vt:lpstr>函数对象</vt:lpstr>
      <vt:lpstr>10.6.1 函数对象</vt:lpstr>
      <vt:lpstr>函数对象概念图</vt:lpstr>
      <vt:lpstr>例10-13、例10-14</vt:lpstr>
      <vt:lpstr>例10-13（续）</vt:lpstr>
      <vt:lpstr>例10-14（续）</vt:lpstr>
      <vt:lpstr>STL提供的函数对象</vt:lpstr>
      <vt:lpstr>例10-15 利用STL标准函数对象</vt:lpstr>
      <vt:lpstr>例10-16利用STL中的二元谓词函数对象</vt:lpstr>
      <vt:lpstr>10.6.2   lambda表达式(C++新增功能）</vt:lpstr>
      <vt:lpstr>10.6.3    函数对象参数绑定</vt:lpstr>
      <vt:lpstr>例10-17 bind参数绑定实例</vt:lpstr>
      <vt:lpstr>   算法</vt:lpstr>
      <vt:lpstr>10.7.1 STL算法基础</vt:lpstr>
      <vt:lpstr>10.7.2 不可变序列算法</vt:lpstr>
      <vt:lpstr>例10-18 不可变序列算法应用实例</vt:lpstr>
      <vt:lpstr>例10-18（续）</vt:lpstr>
      <vt:lpstr>10.7.3可变序列算法</vt:lpstr>
      <vt:lpstr>例10-19</vt:lpstr>
      <vt:lpstr>例10-21（续）</vt:lpstr>
      <vt:lpstr>例10-19（续）</vt:lpstr>
      <vt:lpstr>例10-19（续）</vt:lpstr>
      <vt:lpstr>10.7.4排序和搜索算法</vt:lpstr>
      <vt:lpstr>例10-20 排序与搜索算法示例</vt:lpstr>
      <vt:lpstr>例10-20（续）</vt:lpstr>
      <vt:lpstr>例10-20（续）</vt:lpstr>
      <vt:lpstr>10.7.5 数值算法</vt:lpstr>
      <vt:lpstr>例10-21 数值算法示例</vt:lpstr>
      <vt:lpstr>综合实例 ——对个人银行账户管理程序的改进</vt:lpstr>
      <vt:lpstr>10.8综合实例——对个人银行账户管理程序的改进</vt:lpstr>
      <vt:lpstr>例10-22（续）</vt:lpstr>
      <vt:lpstr>例10-22（续）</vt:lpstr>
      <vt:lpstr>例10-22（续）</vt:lpstr>
      <vt:lpstr>例10-22（续）</vt:lpstr>
      <vt:lpstr>例10-22（续）</vt:lpstr>
      <vt:lpstr>例10-22（续）</vt:lpstr>
      <vt:lpstr>例10-22（续）</vt:lpstr>
      <vt:lpstr>例10-22（续）</vt:lpstr>
      <vt:lpstr>例10-22（续）</vt:lpstr>
      <vt:lpstr>深度探索</vt:lpstr>
      <vt:lpstr>swap高效的执行方式</vt:lpstr>
      <vt:lpstr>对容器实现高效的swap</vt:lpstr>
      <vt:lpstr>10.9.2 STL组件的类型特征与STL的扩展</vt:lpstr>
      <vt:lpstr>函数对象的类型特征</vt:lpstr>
      <vt:lpstr>迭代器的类型特征</vt:lpstr>
      <vt:lpstr>例10-23自定义用来产生递增整数序列的迭代器</vt:lpstr>
      <vt:lpstr>例10-23（续）</vt:lpstr>
      <vt:lpstr>例10-24 利用类型特征实现算法：</vt:lpstr>
      <vt:lpstr>10.9.3 Boost简介</vt:lpstr>
      <vt:lpstr>本讲小结</vt:lpstr>
      <vt:lpstr>本讲主要知识点</vt:lpstr>
      <vt:lpstr>PowerPoint 演示文稿</vt:lpstr>
      <vt:lpstr>PowerPoint 演示文稿</vt:lpstr>
      <vt:lpstr>PowerPoint 演示文稿</vt:lpstr>
    </vt:vector>
  </TitlesOfParts>
  <Company>武汉大学</Company>
  <LinksUpToDate>false</LinksUpToDate>
  <SharedDoc>false</SharedDoc>
  <HyperlinksChanged>false</HyperlinksChanged>
  <AppVersion>14.0000</AppVersion>
  <Pages>3</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谭成予</dc:creator>
  <cp:lastModifiedBy>刘峰</cp:lastModifiedBy>
  <cp:revision>2017</cp:revision>
  <cp:lastPrinted>1996-09-12T11:44:00Z</cp:lastPrinted>
  <dcterms:created xsi:type="dcterms:W3CDTF">1999-08-09T22:53:00Z</dcterms:created>
  <dcterms:modified xsi:type="dcterms:W3CDTF">2023-12-29T03:32:48Z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060DE74D1C2F4A29B39751AF4C051876_13</vt:lpwstr>
  </property>
  <property fmtid="{D5CDD505-2E9C-101B-9397-08002B2CF9AE}" pid="3" name="KSOProductBuildVer">
    <vt:lpwstr>2052-11.1.0.14309</vt:lpwstr>
  </property>
</Properties>
</file>