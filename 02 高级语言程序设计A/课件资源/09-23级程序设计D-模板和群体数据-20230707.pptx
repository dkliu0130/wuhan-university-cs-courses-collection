
<file path=[Content_Types].xml><?xml version="1.0" encoding="utf-8"?>
<Types xmlns="http://schemas.openxmlformats.org/package/2006/content-types">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127"/>
  </p:handoutMasterIdLst>
  <p:sldIdLst>
    <p:sldId id="2275" r:id="rId3"/>
    <p:sldId id="1375" r:id="rId4"/>
    <p:sldId id="716" r:id="rId5"/>
    <p:sldId id="2269" r:id="rId6"/>
    <p:sldId id="2270" r:id="rId7"/>
    <p:sldId id="2271" r:id="rId9"/>
    <p:sldId id="2272" r:id="rId10"/>
    <p:sldId id="2273" r:id="rId11"/>
    <p:sldId id="2171" r:id="rId12"/>
    <p:sldId id="2172" r:id="rId13"/>
    <p:sldId id="2173" r:id="rId14"/>
    <p:sldId id="2174" r:id="rId15"/>
    <p:sldId id="2175" r:id="rId16"/>
    <p:sldId id="2176" r:id="rId17"/>
    <p:sldId id="2177" r:id="rId18"/>
    <p:sldId id="2178" r:id="rId19"/>
    <p:sldId id="2276" r:id="rId20"/>
    <p:sldId id="2179" r:id="rId21"/>
    <p:sldId id="2180" r:id="rId22"/>
    <p:sldId id="2181" r:id="rId23"/>
    <p:sldId id="2162" r:id="rId24"/>
    <p:sldId id="2274" r:id="rId25"/>
    <p:sldId id="2182" r:id="rId26"/>
    <p:sldId id="2184" r:id="rId27"/>
    <p:sldId id="2185" r:id="rId28"/>
    <p:sldId id="2186" r:id="rId29"/>
    <p:sldId id="2187" r:id="rId30"/>
    <p:sldId id="2188" r:id="rId31"/>
    <p:sldId id="2189" r:id="rId32"/>
    <p:sldId id="2190" r:id="rId33"/>
    <p:sldId id="2268" r:id="rId34"/>
    <p:sldId id="2191" r:id="rId35"/>
    <p:sldId id="2192" r:id="rId36"/>
    <p:sldId id="2193" r:id="rId37"/>
    <p:sldId id="2194" r:id="rId38"/>
    <p:sldId id="2195" r:id="rId39"/>
    <p:sldId id="2196" r:id="rId40"/>
    <p:sldId id="2197" r:id="rId41"/>
    <p:sldId id="2198" r:id="rId42"/>
    <p:sldId id="2199" r:id="rId43"/>
    <p:sldId id="2200" r:id="rId44"/>
    <p:sldId id="2201" r:id="rId45"/>
    <p:sldId id="2202" r:id="rId46"/>
    <p:sldId id="2203" r:id="rId47"/>
    <p:sldId id="2204" r:id="rId48"/>
    <p:sldId id="2205" r:id="rId49"/>
    <p:sldId id="2206" r:id="rId50"/>
    <p:sldId id="2207" r:id="rId51"/>
    <p:sldId id="2208" r:id="rId52"/>
    <p:sldId id="2209" r:id="rId53"/>
    <p:sldId id="2210" r:id="rId54"/>
    <p:sldId id="2211" r:id="rId55"/>
    <p:sldId id="2212" r:id="rId56"/>
    <p:sldId id="2213" r:id="rId57"/>
    <p:sldId id="2214" r:id="rId58"/>
    <p:sldId id="2215" r:id="rId59"/>
    <p:sldId id="2216" r:id="rId60"/>
    <p:sldId id="2217" r:id="rId61"/>
    <p:sldId id="2218" r:id="rId62"/>
    <p:sldId id="2219" r:id="rId63"/>
    <p:sldId id="2220" r:id="rId64"/>
    <p:sldId id="2221" r:id="rId65"/>
    <p:sldId id="2222" r:id="rId66"/>
    <p:sldId id="2223" r:id="rId67"/>
    <p:sldId id="2224" r:id="rId68"/>
    <p:sldId id="2225" r:id="rId69"/>
    <p:sldId id="2226" r:id="rId70"/>
    <p:sldId id="2227" r:id="rId71"/>
    <p:sldId id="2228" r:id="rId72"/>
    <p:sldId id="2229" r:id="rId73"/>
    <p:sldId id="2163" r:id="rId74"/>
    <p:sldId id="2230" r:id="rId75"/>
    <p:sldId id="2231" r:id="rId76"/>
    <p:sldId id="2232" r:id="rId77"/>
    <p:sldId id="2233" r:id="rId78"/>
    <p:sldId id="2234" r:id="rId79"/>
    <p:sldId id="2235" r:id="rId80"/>
    <p:sldId id="2236" r:id="rId81"/>
    <p:sldId id="2237" r:id="rId82"/>
    <p:sldId id="2238" r:id="rId83"/>
    <p:sldId id="2239" r:id="rId84"/>
    <p:sldId id="2240" r:id="rId85"/>
    <p:sldId id="2241" r:id="rId86"/>
    <p:sldId id="2242" r:id="rId87"/>
    <p:sldId id="2243" r:id="rId88"/>
    <p:sldId id="2244" r:id="rId89"/>
    <p:sldId id="2245" r:id="rId90"/>
    <p:sldId id="2164" r:id="rId91"/>
    <p:sldId id="2246" r:id="rId92"/>
    <p:sldId id="2247" r:id="rId93"/>
    <p:sldId id="2248" r:id="rId94"/>
    <p:sldId id="2249" r:id="rId95"/>
    <p:sldId id="2250" r:id="rId96"/>
    <p:sldId id="2251" r:id="rId97"/>
    <p:sldId id="2165" r:id="rId98"/>
    <p:sldId id="2252" r:id="rId99"/>
    <p:sldId id="2253" r:id="rId100"/>
    <p:sldId id="2254" r:id="rId101"/>
    <p:sldId id="2255" r:id="rId102"/>
    <p:sldId id="2256" r:id="rId103"/>
    <p:sldId id="2257" r:id="rId104"/>
    <p:sldId id="2258" r:id="rId105"/>
    <p:sldId id="2259" r:id="rId106"/>
    <p:sldId id="2260" r:id="rId107"/>
    <p:sldId id="2261" r:id="rId108"/>
    <p:sldId id="2262" r:id="rId109"/>
    <p:sldId id="2263" r:id="rId110"/>
    <p:sldId id="2277" r:id="rId111"/>
    <p:sldId id="2278" r:id="rId112"/>
    <p:sldId id="2264" r:id="rId113"/>
    <p:sldId id="2265" r:id="rId114"/>
    <p:sldId id="2266" r:id="rId115"/>
    <p:sldId id="2267" r:id="rId116"/>
    <p:sldId id="2279" r:id="rId117"/>
    <p:sldId id="2280" r:id="rId118"/>
    <p:sldId id="2281" r:id="rId119"/>
    <p:sldId id="2282" r:id="rId120"/>
    <p:sldId id="2166" r:id="rId121"/>
    <p:sldId id="2167" r:id="rId122"/>
    <p:sldId id="2168" r:id="rId123"/>
    <p:sldId id="2169" r:id="rId124"/>
    <p:sldId id="2283" r:id="rId125"/>
    <p:sldId id="2170" r:id="rId126"/>
  </p:sldIdLst>
  <p:sldSz cx="9144000" cy="6858000" type="screen4x3"/>
  <p:notesSz cx="6648450" cy="9782175"/>
  <p:custDataLst>
    <p:tags r:id="rId131"/>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24"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2F2FC5"/>
    <a:srgbClr val="CC0066"/>
    <a:srgbClr val="4B0064"/>
    <a:srgbClr val="FFFF99"/>
    <a:srgbClr val="E682E1"/>
    <a:srgbClr val="3030C7"/>
    <a:srgbClr val="740000"/>
    <a:srgbClr val="3333FF"/>
    <a:srgbClr val="CB1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92973" autoAdjust="0"/>
  </p:normalViewPr>
  <p:slideViewPr>
    <p:cSldViewPr showGuides="1">
      <p:cViewPr varScale="1">
        <p:scale>
          <a:sx n="106" d="100"/>
          <a:sy n="106" d="100"/>
        </p:scale>
        <p:origin x="1536" y="30"/>
      </p:cViewPr>
      <p:guideLst>
        <p:guide orient="horz" pos="1824"/>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5" d="100"/>
        <a:sy n="125" d="100"/>
      </p:scale>
      <p:origin x="0" y="0"/>
    </p:cViewPr>
  </p:sorterViewPr>
  <p:notesViewPr>
    <p:cSldViewPr>
      <p:cViewPr varScale="1">
        <p:scale>
          <a:sx n="50" d="100"/>
          <a:sy n="50" d="100"/>
        </p:scale>
        <p:origin x="2922" y="60"/>
      </p:cViewPr>
      <p:guideLst>
        <p:guide orient="horz" pos="3080"/>
        <p:guide pos="209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notesMaster" Target="notesMasters/notesMaster1.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1" Type="http://schemas.openxmlformats.org/officeDocument/2006/relationships/tags" Target="tags/tag1.xml"/><Relationship Id="rId130" Type="http://schemas.openxmlformats.org/officeDocument/2006/relationships/tableStyles" Target="tableStyles.xml"/><Relationship Id="rId13" Type="http://schemas.openxmlformats.org/officeDocument/2006/relationships/slide" Target="slides/slide10.xml"/><Relationship Id="rId129" Type="http://schemas.openxmlformats.org/officeDocument/2006/relationships/viewProps" Target="viewProps.xml"/><Relationship Id="rId128" Type="http://schemas.openxmlformats.org/officeDocument/2006/relationships/presProps" Target="presProps.xml"/><Relationship Id="rId127" Type="http://schemas.openxmlformats.org/officeDocument/2006/relationships/handoutMaster" Target="handoutMasters/handoutMaster1.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eaLnBrk="0" hangingPunct="0">
              <a:defRPr sz="10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eaLnBrk="0" hangingPunct="0">
              <a:defRPr sz="10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defTabSz="762000" eaLnBrk="0" hangingPunct="0">
              <a:defRPr sz="10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defTabSz="762000" eaLnBrk="0" hangingPunct="0">
              <a:defRPr sz="10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defTabSz="762000" eaLnBrk="0" hangingPunct="0">
              <a:defRPr sz="10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defTabSz="762000" eaLnBrk="0" hangingPunct="0">
              <a:defRPr sz="10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885825" y="4645025"/>
            <a:ext cx="4876800" cy="440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p>
            <a:pPr lvl="0"/>
            <a:r>
              <a:rPr lang="en-US" altLang="zh-CN"/>
              <a:t>Click to edit Master notes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2055" name="Rectangle 7"/>
          <p:cNvSpPr>
            <a:spLocks noGrp="1" noRot="1" noChangeAspect="1" noChangeArrowheads="1" noTextEdit="1"/>
          </p:cNvSpPr>
          <p:nvPr>
            <p:ph type="sldImg" idx="2"/>
          </p:nvPr>
        </p:nvSpPr>
        <p:spPr bwMode="auto">
          <a:xfrm>
            <a:off x="889000" y="739775"/>
            <a:ext cx="4872038" cy="3654425"/>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3580C26-4643-4587-8B88-FBF7CF03C1D3}"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fld>
            <a:endParaRPr lang="en-US" altLang="zh-CN" sz="1300"/>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fld>
            <a:endParaRPr lang="en-US" altLang="zh-CN" sz="1300"/>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86ED090-5307-4A85-827E-CA7CB121BDF7}" type="slidenum">
              <a:rPr lang="en-US" altLang="zh-CN" sz="1300"/>
            </a:fld>
            <a:endParaRPr lang="en-US" altLang="zh-CN" sz="1300"/>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CE74021A-1349-4CE7-B21D-CB9D5885322A}" type="slidenum">
              <a:rPr lang="en-US" altLang="zh-CN" sz="1200"/>
            </a:fld>
            <a:endParaRPr lang="en-US" altLang="zh-CN" sz="1200"/>
          </a:p>
        </p:txBody>
      </p:sp>
      <p:sp>
        <p:nvSpPr>
          <p:cNvPr id="118787" name="Rectangle 2"/>
          <p:cNvSpPr>
            <a:spLocks noGrp="1" noRot="1" noChangeAspect="1" noChangeArrowheads="1" noTextEdit="1"/>
          </p:cNvSpPr>
          <p:nvPr>
            <p:ph type="sldImg"/>
          </p:nvPr>
        </p:nvSpPr>
        <p:spPr>
          <a:xfrm>
            <a:off x="879475" y="735013"/>
            <a:ext cx="4889500" cy="3667125"/>
          </a:xfrm>
        </p:spPr>
      </p:sp>
      <p:sp>
        <p:nvSpPr>
          <p:cNvPr id="1187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D93021F-A440-4C14-BC38-5157354681F6}" type="slidenum">
              <a:rPr lang="en-US" altLang="zh-CN" sz="1200"/>
            </a:fld>
            <a:endParaRPr lang="en-US" altLang="zh-CN" sz="1200"/>
          </a:p>
        </p:txBody>
      </p:sp>
      <p:sp>
        <p:nvSpPr>
          <p:cNvPr id="119811" name="Rectangle 2"/>
          <p:cNvSpPr>
            <a:spLocks noGrp="1" noRot="1" noChangeAspect="1" noChangeArrowheads="1" noTextEdit="1"/>
          </p:cNvSpPr>
          <p:nvPr>
            <p:ph type="sldImg"/>
          </p:nvPr>
        </p:nvSpPr>
        <p:spPr>
          <a:xfrm>
            <a:off x="879475" y="735013"/>
            <a:ext cx="4889500" cy="3667125"/>
          </a:xfrm>
        </p:spPr>
      </p:sp>
      <p:sp>
        <p:nvSpPr>
          <p:cNvPr id="1198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7FC8D32-37DF-4671-A5CD-D0C13F13AD8E}" type="slidenum">
              <a:rPr lang="en-US" altLang="zh-CN" sz="1200"/>
            </a:fld>
            <a:endParaRPr lang="en-US" altLang="zh-CN" sz="1200"/>
          </a:p>
        </p:txBody>
      </p:sp>
      <p:sp>
        <p:nvSpPr>
          <p:cNvPr id="120835" name="Rectangle 2"/>
          <p:cNvSpPr>
            <a:spLocks noGrp="1" noRot="1" noChangeAspect="1" noChangeArrowheads="1" noTextEdit="1"/>
          </p:cNvSpPr>
          <p:nvPr>
            <p:ph type="sldImg"/>
          </p:nvPr>
        </p:nvSpPr>
        <p:spPr>
          <a:xfrm>
            <a:off x="879475" y="735013"/>
            <a:ext cx="4889500" cy="3667125"/>
          </a:xfrm>
        </p:spPr>
      </p:sp>
      <p:sp>
        <p:nvSpPr>
          <p:cNvPr id="1208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390EEC3-B142-4082-8F79-33DEE5BB071C}" type="slidenum">
              <a:rPr lang="en-US" altLang="zh-CN" sz="1200"/>
            </a:fld>
            <a:endParaRPr lang="en-US" altLang="zh-CN" sz="1200"/>
          </a:p>
        </p:txBody>
      </p:sp>
      <p:sp>
        <p:nvSpPr>
          <p:cNvPr id="121859" name="Rectangle 2"/>
          <p:cNvSpPr>
            <a:spLocks noGrp="1" noRot="1" noChangeAspect="1" noChangeArrowheads="1" noTextEdit="1"/>
          </p:cNvSpPr>
          <p:nvPr>
            <p:ph type="sldImg"/>
          </p:nvPr>
        </p:nvSpPr>
        <p:spPr>
          <a:xfrm>
            <a:off x="879475" y="735013"/>
            <a:ext cx="4889500" cy="3667125"/>
          </a:xfrm>
        </p:spPr>
      </p:sp>
      <p:sp>
        <p:nvSpPr>
          <p:cNvPr id="1218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p:sp>
      <p:sp>
        <p:nvSpPr>
          <p:cNvPr id="3789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3789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FCD2F81-CB51-4733-8BF3-166E98FA896F}" type="slidenum">
              <a:rPr lang="en-US" altLang="zh-CN" sz="1300">
                <a:ea typeface="隶书" panose="02010509060101010101" pitchFamily="49" charset="-122"/>
              </a:rPr>
            </a:fld>
            <a:endParaRPr lang="en-US" altLang="zh-CN" sz="1300">
              <a:ea typeface="隶书" panose="02010509060101010101" pitchFamily="49"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1AA4934B-F361-40F2-8C9C-6E3D25B2D12D}" type="slidenum">
              <a:rPr lang="en-US" altLang="zh-CN" sz="1200"/>
            </a:fld>
            <a:endParaRPr lang="en-US" altLang="zh-CN" sz="1200"/>
          </a:p>
        </p:txBody>
      </p:sp>
      <p:sp>
        <p:nvSpPr>
          <p:cNvPr id="122883" name="Rectangle 2"/>
          <p:cNvSpPr>
            <a:spLocks noGrp="1" noRot="1" noChangeAspect="1" noChangeArrowheads="1" noTextEdit="1"/>
          </p:cNvSpPr>
          <p:nvPr>
            <p:ph type="sldImg"/>
          </p:nvPr>
        </p:nvSpPr>
        <p:spPr>
          <a:xfrm>
            <a:off x="879475" y="735013"/>
            <a:ext cx="4889500" cy="3667125"/>
          </a:xfrm>
        </p:spPr>
      </p:sp>
      <p:sp>
        <p:nvSpPr>
          <p:cNvPr id="1228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DC497D67-C98E-414D-A5E7-18109C983493}" type="slidenum">
              <a:rPr lang="en-US" altLang="zh-CN" sz="1200"/>
            </a:fld>
            <a:endParaRPr lang="en-US" altLang="zh-CN" sz="1200"/>
          </a:p>
        </p:txBody>
      </p:sp>
      <p:sp>
        <p:nvSpPr>
          <p:cNvPr id="123907" name="Rectangle 2"/>
          <p:cNvSpPr>
            <a:spLocks noGrp="1" noRot="1" noChangeAspect="1" noChangeArrowheads="1" noTextEdit="1"/>
          </p:cNvSpPr>
          <p:nvPr>
            <p:ph type="sldImg"/>
          </p:nvPr>
        </p:nvSpPr>
        <p:spPr>
          <a:xfrm>
            <a:off x="879475" y="735013"/>
            <a:ext cx="4889500" cy="3667125"/>
          </a:xfrm>
        </p:spPr>
      </p:sp>
      <p:sp>
        <p:nvSpPr>
          <p:cNvPr id="1239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1603157-9749-4A44-BA20-EC7964D698F5}" type="slidenum">
              <a:rPr lang="en-US" altLang="zh-CN" sz="1200"/>
            </a:fld>
            <a:endParaRPr lang="en-US" altLang="zh-CN" sz="1200"/>
          </a:p>
        </p:txBody>
      </p:sp>
      <p:sp>
        <p:nvSpPr>
          <p:cNvPr id="124931" name="Rectangle 2"/>
          <p:cNvSpPr>
            <a:spLocks noGrp="1" noRot="1" noChangeAspect="1" noChangeArrowheads="1" noTextEdit="1"/>
          </p:cNvSpPr>
          <p:nvPr>
            <p:ph type="sldImg"/>
          </p:nvPr>
        </p:nvSpPr>
        <p:spPr>
          <a:xfrm>
            <a:off x="879475" y="735013"/>
            <a:ext cx="4889500" cy="3667125"/>
          </a:xfrm>
        </p:spPr>
      </p:sp>
      <p:sp>
        <p:nvSpPr>
          <p:cNvPr id="12493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0408EC2-F278-4CE1-B3FB-9651E20942CC}" type="slidenum">
              <a:rPr lang="en-US" altLang="zh-CN" sz="1200"/>
            </a:fld>
            <a:endParaRPr lang="en-US" altLang="zh-CN" sz="1200"/>
          </a:p>
        </p:txBody>
      </p:sp>
      <p:sp>
        <p:nvSpPr>
          <p:cNvPr id="125955" name="Rectangle 2"/>
          <p:cNvSpPr>
            <a:spLocks noGrp="1" noRot="1" noChangeAspect="1" noChangeArrowheads="1" noTextEdit="1"/>
          </p:cNvSpPr>
          <p:nvPr>
            <p:ph type="sldImg"/>
          </p:nvPr>
        </p:nvSpPr>
        <p:spPr>
          <a:xfrm>
            <a:off x="879475" y="735013"/>
            <a:ext cx="4889500" cy="3667125"/>
          </a:xfrm>
        </p:spPr>
      </p:sp>
      <p:sp>
        <p:nvSpPr>
          <p:cNvPr id="1259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p:sp>
      <p:sp>
        <p:nvSpPr>
          <p:cNvPr id="12697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2698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BBA8144-1B8F-460D-A87D-024FCE13DA44}" type="slidenum">
              <a:rPr lang="en-US" altLang="zh-CN" sz="1200">
                <a:ea typeface="隶书" panose="02010509060101010101" pitchFamily="49" charset="-122"/>
              </a:rPr>
            </a:fld>
            <a:endParaRPr lang="en-US" altLang="zh-CN" sz="1200">
              <a:ea typeface="隶书" panose="02010509060101010101" pitchFamily="49"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BFCA4E55-94A9-4B88-9D8A-4D551EF408F3}" type="slidenum">
              <a:rPr lang="en-US" altLang="zh-CN" sz="1200"/>
            </a:fld>
            <a:endParaRPr lang="en-US" altLang="zh-CN" sz="1200"/>
          </a:p>
        </p:txBody>
      </p:sp>
      <p:sp>
        <p:nvSpPr>
          <p:cNvPr id="128003" name="Rectangle 2"/>
          <p:cNvSpPr>
            <a:spLocks noGrp="1" noRot="1" noChangeAspect="1" noChangeArrowheads="1" noTextEdit="1"/>
          </p:cNvSpPr>
          <p:nvPr>
            <p:ph type="sldImg"/>
          </p:nvPr>
        </p:nvSpPr>
        <p:spPr>
          <a:xfrm>
            <a:off x="879475" y="735013"/>
            <a:ext cx="4889500" cy="3667125"/>
          </a:xfrm>
        </p:spPr>
      </p:sp>
      <p:sp>
        <p:nvSpPr>
          <p:cNvPr id="1280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C63104EF-5D1A-4C69-A014-D895B034F3EA}" type="slidenum">
              <a:rPr lang="en-US" altLang="zh-CN" sz="1200"/>
            </a:fld>
            <a:endParaRPr lang="en-US" altLang="zh-CN" sz="1200"/>
          </a:p>
        </p:txBody>
      </p:sp>
      <p:sp>
        <p:nvSpPr>
          <p:cNvPr id="129027" name="Rectangle 2"/>
          <p:cNvSpPr>
            <a:spLocks noGrp="1" noRot="1" noChangeAspect="1" noChangeArrowheads="1" noTextEdit="1"/>
          </p:cNvSpPr>
          <p:nvPr>
            <p:ph type="sldImg"/>
          </p:nvPr>
        </p:nvSpPr>
        <p:spPr>
          <a:xfrm>
            <a:off x="879475" y="735013"/>
            <a:ext cx="4889500" cy="3667125"/>
          </a:xfrm>
        </p:spPr>
      </p:sp>
      <p:sp>
        <p:nvSpPr>
          <p:cNvPr id="1290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4C711245-A86C-414A-88AA-93ED35DBF4A8}" type="slidenum">
              <a:rPr lang="en-US" altLang="zh-CN" sz="1200"/>
            </a:fld>
            <a:endParaRPr lang="en-US" altLang="zh-CN" sz="1200"/>
          </a:p>
        </p:txBody>
      </p:sp>
      <p:sp>
        <p:nvSpPr>
          <p:cNvPr id="130051" name="Rectangle 2"/>
          <p:cNvSpPr>
            <a:spLocks noGrp="1" noRot="1" noChangeAspect="1" noChangeArrowheads="1" noTextEdit="1"/>
          </p:cNvSpPr>
          <p:nvPr>
            <p:ph type="sldImg"/>
          </p:nvPr>
        </p:nvSpPr>
        <p:spPr>
          <a:xfrm>
            <a:off x="879475" y="735013"/>
            <a:ext cx="4889500" cy="3667125"/>
          </a:xfrm>
        </p:spPr>
      </p:sp>
      <p:sp>
        <p:nvSpPr>
          <p:cNvPr id="13005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2F17C546-D71A-4383-B54C-B79D9D18FBED}" type="slidenum">
              <a:rPr lang="en-US" altLang="zh-CN" sz="1200"/>
            </a:fld>
            <a:endParaRPr lang="en-US" altLang="zh-CN" sz="1200"/>
          </a:p>
        </p:txBody>
      </p:sp>
      <p:sp>
        <p:nvSpPr>
          <p:cNvPr id="131075" name="Rectangle 2"/>
          <p:cNvSpPr>
            <a:spLocks noGrp="1" noRot="1" noChangeAspect="1" noChangeArrowheads="1" noTextEdit="1"/>
          </p:cNvSpPr>
          <p:nvPr>
            <p:ph type="sldImg"/>
          </p:nvPr>
        </p:nvSpPr>
        <p:spPr>
          <a:xfrm>
            <a:off x="879475" y="735013"/>
            <a:ext cx="4889500" cy="3667125"/>
          </a:xfrm>
        </p:spPr>
      </p:sp>
      <p:sp>
        <p:nvSpPr>
          <p:cNvPr id="13107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32E13725-E710-4AE9-B62A-6A4E4BC9E0C9}" type="slidenum">
              <a:rPr lang="en-US" altLang="zh-CN" sz="1200"/>
            </a:fld>
            <a:endParaRPr lang="en-US" altLang="zh-CN" sz="1200"/>
          </a:p>
        </p:txBody>
      </p:sp>
      <p:sp>
        <p:nvSpPr>
          <p:cNvPr id="132099" name="Rectangle 2"/>
          <p:cNvSpPr>
            <a:spLocks noGrp="1" noRot="1" noChangeAspect="1" noChangeArrowheads="1" noTextEdit="1"/>
          </p:cNvSpPr>
          <p:nvPr>
            <p:ph type="sldImg"/>
          </p:nvPr>
        </p:nvSpPr>
        <p:spPr>
          <a:xfrm>
            <a:off x="879475" y="735013"/>
            <a:ext cx="4889500" cy="3667125"/>
          </a:xfrm>
        </p:spPr>
      </p:sp>
      <p:sp>
        <p:nvSpPr>
          <p:cNvPr id="13210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3BAA7275-75B1-402E-A4BC-C6AB54D6E93F}" type="slidenum">
              <a:rPr lang="en-US" altLang="zh-CN" sz="1200"/>
            </a:fld>
            <a:endParaRPr lang="en-US" altLang="zh-CN" sz="1200"/>
          </a:p>
        </p:txBody>
      </p:sp>
      <p:sp>
        <p:nvSpPr>
          <p:cNvPr id="133123" name="Rectangle 2"/>
          <p:cNvSpPr>
            <a:spLocks noGrp="1" noRot="1" noChangeAspect="1" noChangeArrowheads="1" noTextEdit="1"/>
          </p:cNvSpPr>
          <p:nvPr>
            <p:ph type="sldImg"/>
          </p:nvPr>
        </p:nvSpPr>
        <p:spPr>
          <a:xfrm>
            <a:off x="879475" y="735013"/>
            <a:ext cx="4889500" cy="3667125"/>
          </a:xfrm>
        </p:spPr>
      </p:sp>
      <p:sp>
        <p:nvSpPr>
          <p:cNvPr id="13312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zh-CN" altLang="en-US"/>
              <a:t>******************</a:t>
            </a:r>
            <a:r>
              <a:rPr lang="en-US" altLang="zh-CN"/>
              <a:t>2013/12/17</a:t>
            </a:r>
            <a:endParaRPr lang="zh-CN" altLang="en-US"/>
          </a:p>
        </p:txBody>
      </p:sp>
      <p:sp>
        <p:nvSpPr>
          <p:cNvPr id="134148"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F0FA894-1F14-40B6-A14E-ACB6C2884045}" type="slidenum">
              <a:rPr lang="en-US" altLang="zh-CN" sz="1200">
                <a:ea typeface="隶书" panose="02010509060101010101" pitchFamily="49" charset="-122"/>
              </a:rPr>
            </a:fld>
            <a:endParaRPr lang="en-US" altLang="zh-CN" sz="1200">
              <a:ea typeface="隶书" panose="02010509060101010101" pitchFamily="49"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p:sp>
      <p:sp>
        <p:nvSpPr>
          <p:cNvPr id="13517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35172"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120E0BD4-AFB8-480F-99D9-B64E97F7D493}" type="slidenum">
              <a:rPr lang="en-US" altLang="zh-CN" sz="1200">
                <a:ea typeface="隶书" panose="02010509060101010101" pitchFamily="49" charset="-122"/>
              </a:rPr>
            </a:fld>
            <a:endParaRPr lang="en-US" altLang="zh-CN" sz="1200">
              <a:ea typeface="隶书" panose="02010509060101010101" pitchFamily="49"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6369B15-2D3F-44C0-8350-C0F46B15AFC8}" type="slidenum">
              <a:rPr lang="en-US" altLang="zh-CN" sz="1200"/>
            </a:fld>
            <a:endParaRPr lang="en-US" altLang="zh-CN" sz="1200"/>
          </a:p>
        </p:txBody>
      </p:sp>
      <p:sp>
        <p:nvSpPr>
          <p:cNvPr id="136195" name="Rectangle 2"/>
          <p:cNvSpPr>
            <a:spLocks noGrp="1" noRot="1" noChangeAspect="1" noChangeArrowheads="1" noTextEdit="1"/>
          </p:cNvSpPr>
          <p:nvPr>
            <p:ph type="sldImg"/>
          </p:nvPr>
        </p:nvSpPr>
        <p:spPr>
          <a:xfrm>
            <a:off x="879475" y="735013"/>
            <a:ext cx="4889500" cy="3667125"/>
          </a:xfrm>
        </p:spPr>
      </p:sp>
      <p:sp>
        <p:nvSpPr>
          <p:cNvPr id="1361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p:sp>
      <p:sp>
        <p:nvSpPr>
          <p:cNvPr id="137219"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37220"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AAF2CD23-24AA-4963-A449-8A95FC867BA8}" type="slidenum">
              <a:rPr lang="en-US" altLang="zh-CN" sz="1200">
                <a:ea typeface="隶书" panose="02010509060101010101" pitchFamily="49" charset="-122"/>
              </a:rPr>
            </a:fld>
            <a:endParaRPr lang="en-US" altLang="zh-CN" sz="1200">
              <a:ea typeface="隶书" panose="02010509060101010101" pitchFamily="49"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4BB571A4-F901-4E2F-9E20-C58F49614CA9}" type="slidenum">
              <a:rPr lang="en-US" altLang="zh-CN" sz="1200"/>
            </a:fld>
            <a:endParaRPr lang="en-US" altLang="zh-CN" sz="1200"/>
          </a:p>
        </p:txBody>
      </p:sp>
      <p:sp>
        <p:nvSpPr>
          <p:cNvPr id="138243" name="Rectangle 2"/>
          <p:cNvSpPr>
            <a:spLocks noGrp="1" noRot="1" noChangeAspect="1" noChangeArrowheads="1" noTextEdit="1"/>
          </p:cNvSpPr>
          <p:nvPr>
            <p:ph type="sldImg"/>
          </p:nvPr>
        </p:nvSpPr>
        <p:spPr>
          <a:xfrm>
            <a:off x="879475" y="735013"/>
            <a:ext cx="4889500" cy="3667125"/>
          </a:xfrm>
        </p:spPr>
      </p:sp>
      <p:sp>
        <p:nvSpPr>
          <p:cNvPr id="13824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3F0482B-C73D-4F4A-83C3-552D1C44FB86}" type="slidenum">
              <a:rPr lang="en-US" altLang="zh-CN" sz="1200"/>
            </a:fld>
            <a:endParaRPr lang="en-US" altLang="zh-CN" sz="1200"/>
          </a:p>
        </p:txBody>
      </p:sp>
      <p:sp>
        <p:nvSpPr>
          <p:cNvPr id="139267" name="Rectangle 2"/>
          <p:cNvSpPr>
            <a:spLocks noGrp="1" noRot="1" noChangeAspect="1" noChangeArrowheads="1" noTextEdit="1"/>
          </p:cNvSpPr>
          <p:nvPr>
            <p:ph type="sldImg"/>
          </p:nvPr>
        </p:nvSpPr>
        <p:spPr>
          <a:xfrm>
            <a:off x="879475" y="735013"/>
            <a:ext cx="4889500" cy="3667125"/>
          </a:xfrm>
        </p:spPr>
      </p:sp>
      <p:sp>
        <p:nvSpPr>
          <p:cNvPr id="13926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DCDC72DB-DC44-416F-89C2-5BBEFA545588}" type="slidenum">
              <a:rPr lang="en-US" altLang="zh-CN" sz="1200"/>
            </a:fld>
            <a:endParaRPr lang="en-US" altLang="zh-CN" sz="1200"/>
          </a:p>
        </p:txBody>
      </p:sp>
      <p:sp>
        <p:nvSpPr>
          <p:cNvPr id="140291" name="Rectangle 2"/>
          <p:cNvSpPr>
            <a:spLocks noGrp="1" noRot="1" noChangeAspect="1" noChangeArrowheads="1" noTextEdit="1"/>
          </p:cNvSpPr>
          <p:nvPr>
            <p:ph type="sldImg"/>
          </p:nvPr>
        </p:nvSpPr>
        <p:spPr>
          <a:xfrm>
            <a:off x="879475" y="735013"/>
            <a:ext cx="4889500" cy="3667125"/>
          </a:xfrm>
        </p:spPr>
      </p:sp>
      <p:sp>
        <p:nvSpPr>
          <p:cNvPr id="14029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FC28EDB-5128-46C6-A45A-B0A26156AD66}" type="slidenum">
              <a:rPr lang="en-US" altLang="zh-CN" sz="1200"/>
            </a:fld>
            <a:endParaRPr lang="en-US" altLang="zh-CN" sz="1200"/>
          </a:p>
        </p:txBody>
      </p:sp>
      <p:sp>
        <p:nvSpPr>
          <p:cNvPr id="141315" name="Rectangle 2"/>
          <p:cNvSpPr>
            <a:spLocks noGrp="1" noRot="1" noChangeAspect="1" noChangeArrowheads="1" noTextEdit="1"/>
          </p:cNvSpPr>
          <p:nvPr>
            <p:ph type="sldImg"/>
          </p:nvPr>
        </p:nvSpPr>
        <p:spPr>
          <a:xfrm>
            <a:off x="879475" y="735013"/>
            <a:ext cx="4889500" cy="3667125"/>
          </a:xfrm>
        </p:spPr>
      </p:sp>
      <p:sp>
        <p:nvSpPr>
          <p:cNvPr id="14131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D26EF8E9-0684-4E99-8556-4E9E313AD623}" type="slidenum">
              <a:rPr lang="en-US" altLang="zh-CN" sz="1200"/>
            </a:fld>
            <a:endParaRPr lang="en-US" altLang="zh-CN" sz="1200"/>
          </a:p>
        </p:txBody>
      </p:sp>
      <p:sp>
        <p:nvSpPr>
          <p:cNvPr id="142339" name="Rectangle 2"/>
          <p:cNvSpPr>
            <a:spLocks noGrp="1" noRot="1" noChangeAspect="1" noChangeArrowheads="1" noTextEdit="1"/>
          </p:cNvSpPr>
          <p:nvPr>
            <p:ph type="sldImg"/>
          </p:nvPr>
        </p:nvSpPr>
        <p:spPr>
          <a:xfrm>
            <a:off x="879475" y="735013"/>
            <a:ext cx="4889500" cy="3667125"/>
          </a:xfrm>
        </p:spPr>
      </p:sp>
      <p:sp>
        <p:nvSpPr>
          <p:cNvPr id="14234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7F8E1D1-CC53-47E9-ACC0-3837E2DA7EEB}" type="slidenum">
              <a:rPr lang="en-US" altLang="zh-CN" sz="1200"/>
            </a:fld>
            <a:endParaRPr lang="en-US" altLang="zh-CN" sz="1200"/>
          </a:p>
        </p:txBody>
      </p:sp>
      <p:sp>
        <p:nvSpPr>
          <p:cNvPr id="143363" name="Rectangle 2"/>
          <p:cNvSpPr>
            <a:spLocks noGrp="1" noRot="1" noChangeAspect="1" noChangeArrowheads="1" noTextEdit="1"/>
          </p:cNvSpPr>
          <p:nvPr>
            <p:ph type="sldImg"/>
          </p:nvPr>
        </p:nvSpPr>
        <p:spPr>
          <a:xfrm>
            <a:off x="879475" y="735013"/>
            <a:ext cx="4889500" cy="3667125"/>
          </a:xfrm>
        </p:spPr>
      </p:sp>
      <p:sp>
        <p:nvSpPr>
          <p:cNvPr id="14336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8B09277-37C2-4919-8EE5-FB5FA45B9B61}" type="slidenum">
              <a:rPr lang="en-US" altLang="zh-CN" sz="1200"/>
            </a:fld>
            <a:endParaRPr lang="en-US" altLang="zh-CN" sz="1200"/>
          </a:p>
        </p:txBody>
      </p:sp>
      <p:sp>
        <p:nvSpPr>
          <p:cNvPr id="144387" name="Rectangle 2"/>
          <p:cNvSpPr>
            <a:spLocks noGrp="1" noRot="1" noChangeAspect="1" noChangeArrowheads="1" noTextEdit="1"/>
          </p:cNvSpPr>
          <p:nvPr>
            <p:ph type="sldImg"/>
          </p:nvPr>
        </p:nvSpPr>
        <p:spPr>
          <a:xfrm>
            <a:off x="879475" y="735013"/>
            <a:ext cx="4889500" cy="3667125"/>
          </a:xfrm>
        </p:spPr>
      </p:sp>
      <p:sp>
        <p:nvSpPr>
          <p:cNvPr id="1443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119AB865-71E4-4AFB-BCDE-7804C805B824}" type="slidenum">
              <a:rPr lang="en-US" altLang="zh-CN" sz="1200"/>
            </a:fld>
            <a:endParaRPr lang="en-US" altLang="zh-CN" sz="1200"/>
          </a:p>
        </p:txBody>
      </p:sp>
      <p:sp>
        <p:nvSpPr>
          <p:cNvPr id="145411" name="Rectangle 2"/>
          <p:cNvSpPr>
            <a:spLocks noGrp="1" noRot="1" noChangeAspect="1" noChangeArrowheads="1" noTextEdit="1"/>
          </p:cNvSpPr>
          <p:nvPr>
            <p:ph type="sldImg"/>
          </p:nvPr>
        </p:nvSpPr>
        <p:spPr>
          <a:xfrm>
            <a:off x="879475" y="735013"/>
            <a:ext cx="4889500" cy="3667125"/>
          </a:xfrm>
        </p:spPr>
      </p:sp>
      <p:sp>
        <p:nvSpPr>
          <p:cNvPr id="1454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CB4DF87-DF0E-4547-90A1-C947F43BD0B4}" type="slidenum">
              <a:rPr lang="en-US" altLang="zh-CN" sz="1200"/>
            </a:fld>
            <a:endParaRPr lang="en-US" altLang="zh-CN" sz="1200"/>
          </a:p>
        </p:txBody>
      </p:sp>
      <p:sp>
        <p:nvSpPr>
          <p:cNvPr id="146435" name="Rectangle 2"/>
          <p:cNvSpPr>
            <a:spLocks noGrp="1" noRot="1" noChangeAspect="1" noChangeArrowheads="1" noTextEdit="1"/>
          </p:cNvSpPr>
          <p:nvPr>
            <p:ph type="sldImg"/>
          </p:nvPr>
        </p:nvSpPr>
        <p:spPr>
          <a:xfrm>
            <a:off x="879475" y="735013"/>
            <a:ext cx="4889500" cy="3667125"/>
          </a:xfrm>
        </p:spPr>
      </p:sp>
      <p:sp>
        <p:nvSpPr>
          <p:cNvPr id="1464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21C31178-4964-4C3F-862C-78FC8173D2DE}" type="slidenum">
              <a:rPr lang="en-US" altLang="zh-CN" sz="1200"/>
            </a:fld>
            <a:endParaRPr lang="en-US" altLang="zh-CN" sz="1200"/>
          </a:p>
        </p:txBody>
      </p:sp>
      <p:sp>
        <p:nvSpPr>
          <p:cNvPr id="147459" name="Rectangle 2"/>
          <p:cNvSpPr>
            <a:spLocks noGrp="1" noRot="1" noChangeAspect="1" noChangeArrowheads="1" noTextEdit="1"/>
          </p:cNvSpPr>
          <p:nvPr>
            <p:ph type="sldImg"/>
          </p:nvPr>
        </p:nvSpPr>
        <p:spPr>
          <a:xfrm>
            <a:off x="879475" y="735013"/>
            <a:ext cx="4889500" cy="3667125"/>
          </a:xfrm>
        </p:spPr>
      </p:sp>
      <p:sp>
        <p:nvSpPr>
          <p:cNvPr id="1474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4827D12-6D24-45A2-8D3C-78DB50C49158}" type="slidenum">
              <a:rPr lang="en-US" altLang="zh-CN" sz="1200"/>
            </a:fld>
            <a:endParaRPr lang="en-US" altLang="zh-CN" sz="1200"/>
          </a:p>
        </p:txBody>
      </p:sp>
      <p:sp>
        <p:nvSpPr>
          <p:cNvPr id="148483" name="Rectangle 2"/>
          <p:cNvSpPr>
            <a:spLocks noGrp="1" noRot="1" noChangeAspect="1" noChangeArrowheads="1" noTextEdit="1"/>
          </p:cNvSpPr>
          <p:nvPr>
            <p:ph type="sldImg"/>
          </p:nvPr>
        </p:nvSpPr>
        <p:spPr>
          <a:xfrm>
            <a:off x="879475" y="735013"/>
            <a:ext cx="4889500" cy="3667125"/>
          </a:xfrm>
        </p:spPr>
      </p:sp>
      <p:sp>
        <p:nvSpPr>
          <p:cNvPr id="1484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F1394E1-D13E-459E-8ABF-9496F1C646E6}" type="slidenum">
              <a:rPr lang="en-US" altLang="zh-CN" sz="1200"/>
            </a:fld>
            <a:endParaRPr lang="en-US" altLang="zh-CN" sz="1200"/>
          </a:p>
        </p:txBody>
      </p:sp>
      <p:sp>
        <p:nvSpPr>
          <p:cNvPr id="149507" name="Rectangle 2"/>
          <p:cNvSpPr>
            <a:spLocks noGrp="1" noRot="1" noChangeAspect="1" noChangeArrowheads="1" noTextEdit="1"/>
          </p:cNvSpPr>
          <p:nvPr>
            <p:ph type="sldImg"/>
          </p:nvPr>
        </p:nvSpPr>
        <p:spPr>
          <a:xfrm>
            <a:off x="879475" y="735013"/>
            <a:ext cx="4889500" cy="3667125"/>
          </a:xfrm>
        </p:spPr>
      </p:sp>
      <p:sp>
        <p:nvSpPr>
          <p:cNvPr id="149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B33958E-AA12-4B1B-87FD-4845386254B2}" type="slidenum">
              <a:rPr lang="en-US" altLang="zh-CN" sz="1200"/>
            </a:fld>
            <a:endParaRPr lang="en-US" altLang="zh-CN" sz="1200"/>
          </a:p>
        </p:txBody>
      </p:sp>
      <p:sp>
        <p:nvSpPr>
          <p:cNvPr id="150531" name="Rectangle 2"/>
          <p:cNvSpPr>
            <a:spLocks noGrp="1" noRot="1" noChangeAspect="1" noChangeArrowheads="1" noTextEdit="1"/>
          </p:cNvSpPr>
          <p:nvPr>
            <p:ph type="sldImg"/>
          </p:nvPr>
        </p:nvSpPr>
        <p:spPr>
          <a:xfrm>
            <a:off x="879475" y="735013"/>
            <a:ext cx="4889500" cy="3667125"/>
          </a:xfrm>
        </p:spPr>
      </p:sp>
      <p:sp>
        <p:nvSpPr>
          <p:cNvPr id="15053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89DDEA6A-BC5D-4AE9-BF6C-DC05D01EBAF7}" type="slidenum">
              <a:rPr lang="en-US" altLang="zh-CN" sz="1200"/>
            </a:fld>
            <a:endParaRPr lang="en-US" altLang="zh-CN" sz="1200"/>
          </a:p>
        </p:txBody>
      </p:sp>
      <p:sp>
        <p:nvSpPr>
          <p:cNvPr id="151555" name="Rectangle 2"/>
          <p:cNvSpPr>
            <a:spLocks noGrp="1" noRot="1" noChangeAspect="1" noChangeArrowheads="1" noTextEdit="1"/>
          </p:cNvSpPr>
          <p:nvPr>
            <p:ph type="sldImg"/>
          </p:nvPr>
        </p:nvSpPr>
        <p:spPr>
          <a:xfrm>
            <a:off x="879475" y="735013"/>
            <a:ext cx="4889500" cy="3667125"/>
          </a:xfrm>
        </p:spPr>
      </p:sp>
      <p:sp>
        <p:nvSpPr>
          <p:cNvPr id="1515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BA45D3F-1538-4B1D-A412-49E94B0FA36C}" type="slidenum">
              <a:rPr lang="en-US" altLang="zh-CN" sz="1200"/>
            </a:fld>
            <a:endParaRPr lang="en-US" altLang="zh-CN" sz="1200"/>
          </a:p>
        </p:txBody>
      </p:sp>
      <p:sp>
        <p:nvSpPr>
          <p:cNvPr id="152579" name="Rectangle 2"/>
          <p:cNvSpPr>
            <a:spLocks noGrp="1" noRot="1" noChangeAspect="1" noChangeArrowheads="1" noTextEdit="1"/>
          </p:cNvSpPr>
          <p:nvPr>
            <p:ph type="sldImg"/>
          </p:nvPr>
        </p:nvSpPr>
        <p:spPr>
          <a:xfrm>
            <a:off x="879475" y="735013"/>
            <a:ext cx="4889500" cy="3667125"/>
          </a:xfrm>
        </p:spPr>
      </p:sp>
      <p:sp>
        <p:nvSpPr>
          <p:cNvPr id="1525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BA45D3F-1538-4B1D-A412-49E94B0FA36C}" type="slidenum">
              <a:rPr lang="en-US" altLang="zh-CN" sz="1200"/>
            </a:fld>
            <a:endParaRPr lang="en-US" altLang="zh-CN" sz="1200"/>
          </a:p>
        </p:txBody>
      </p:sp>
      <p:sp>
        <p:nvSpPr>
          <p:cNvPr id="152579" name="Rectangle 2"/>
          <p:cNvSpPr>
            <a:spLocks noGrp="1" noRot="1" noChangeAspect="1" noChangeArrowheads="1" noTextEdit="1"/>
          </p:cNvSpPr>
          <p:nvPr>
            <p:ph type="sldImg"/>
          </p:nvPr>
        </p:nvSpPr>
        <p:spPr>
          <a:xfrm>
            <a:off x="879475" y="735013"/>
            <a:ext cx="4889500" cy="3667125"/>
          </a:xfrm>
        </p:spPr>
      </p:sp>
      <p:sp>
        <p:nvSpPr>
          <p:cNvPr id="1525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BA45D3F-1538-4B1D-A412-49E94B0FA36C}" type="slidenum">
              <a:rPr lang="en-US" altLang="zh-CN" sz="1200"/>
            </a:fld>
            <a:endParaRPr lang="en-US" altLang="zh-CN" sz="1200"/>
          </a:p>
        </p:txBody>
      </p:sp>
      <p:sp>
        <p:nvSpPr>
          <p:cNvPr id="152579" name="Rectangle 2"/>
          <p:cNvSpPr>
            <a:spLocks noGrp="1" noRot="1" noChangeAspect="1" noChangeArrowheads="1" noTextEdit="1"/>
          </p:cNvSpPr>
          <p:nvPr>
            <p:ph type="sldImg"/>
          </p:nvPr>
        </p:nvSpPr>
        <p:spPr>
          <a:xfrm>
            <a:off x="879475" y="735013"/>
            <a:ext cx="4889500" cy="3667125"/>
          </a:xfrm>
        </p:spPr>
      </p:sp>
      <p:sp>
        <p:nvSpPr>
          <p:cNvPr id="1525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7110EC1-FAE7-47D4-85EC-87364FF09D25}" type="slidenum">
              <a:rPr lang="en-US" altLang="zh-CN" sz="1200"/>
            </a:fld>
            <a:endParaRPr lang="en-US" altLang="zh-CN" sz="1200"/>
          </a:p>
        </p:txBody>
      </p:sp>
      <p:sp>
        <p:nvSpPr>
          <p:cNvPr id="153603" name="Rectangle 2"/>
          <p:cNvSpPr>
            <a:spLocks noGrp="1" noRot="1" noChangeAspect="1" noChangeArrowheads="1" noTextEdit="1"/>
          </p:cNvSpPr>
          <p:nvPr>
            <p:ph type="sldImg"/>
          </p:nvPr>
        </p:nvSpPr>
        <p:spPr>
          <a:xfrm>
            <a:off x="879475" y="735013"/>
            <a:ext cx="4889500" cy="3667125"/>
          </a:xfrm>
        </p:spPr>
      </p:sp>
      <p:sp>
        <p:nvSpPr>
          <p:cNvPr id="1536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E54A055-5532-4DB6-AFB5-ED03ACE82AA9}" type="slidenum">
              <a:rPr lang="en-US" altLang="zh-CN" sz="1200"/>
            </a:fld>
            <a:endParaRPr lang="en-US" altLang="zh-CN" sz="1200"/>
          </a:p>
        </p:txBody>
      </p:sp>
      <p:sp>
        <p:nvSpPr>
          <p:cNvPr id="154627" name="Rectangle 2"/>
          <p:cNvSpPr>
            <a:spLocks noGrp="1" noRot="1" noChangeAspect="1" noChangeArrowheads="1" noTextEdit="1"/>
          </p:cNvSpPr>
          <p:nvPr>
            <p:ph type="sldImg"/>
          </p:nvPr>
        </p:nvSpPr>
        <p:spPr>
          <a:xfrm>
            <a:off x="879475" y="735013"/>
            <a:ext cx="4889500" cy="3667125"/>
          </a:xfrm>
        </p:spPr>
      </p:sp>
      <p:sp>
        <p:nvSpPr>
          <p:cNvPr id="1546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标题 2"/>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
        <p:nvSpPr>
          <p:cNvPr id="2" name="文本框 1"/>
          <p:cNvSpPr txBox="1"/>
          <p:nvPr userDrawn="1"/>
        </p:nvSpPr>
        <p:spPr>
          <a:xfrm>
            <a:off x="6294755" y="2143125"/>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w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image" Target="../media/image4.wm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wm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971600" y="2806484"/>
            <a:ext cx="7848872"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rPr>
              <a:t>UNIT 09      </a:t>
            </a:r>
            <a:r>
              <a:rPr lang="zh-CN" altLang="en-US" sz="4000" b="1" dirty="0">
                <a:effectLst>
                  <a:outerShdw blurRad="38100" dist="38100" dir="2700000" algn="tl">
                    <a:srgbClr val="000000"/>
                  </a:outerShdw>
                </a:effectLst>
                <a:latin typeface="+mn-lt"/>
                <a:ea typeface="微软雅黑" panose="020B0503020204020204" pitchFamily="34" charset="-122"/>
              </a:rPr>
              <a:t> 模板和群体数据</a:t>
            </a:r>
            <a:endParaRPr lang="zh-CN" altLang="en-US" sz="2800" b="1" dirty="0">
              <a:effectLst>
                <a:outerShdw blurRad="38100" dist="38100" dir="2700000" algn="tl">
                  <a:srgbClr val="000000"/>
                </a:outerShdw>
              </a:effectLst>
              <a:latin typeface="+mn-lt"/>
              <a:ea typeface="微软雅黑" panose="020B0503020204020204" pitchFamily="34" charset="-122"/>
            </a:endParaRPr>
          </a:p>
        </p:txBody>
      </p:sp>
      <p:sp>
        <p:nvSpPr>
          <p:cNvPr id="9" name="Rectangle 9"/>
          <p:cNvSpPr txBox="1">
            <a:spLocks noChangeArrowheads="1"/>
          </p:cNvSpPr>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dist"/>
            <a:r>
              <a:rPr lang="zh-CN" altLang="en-US" sz="4200" b="1" i="0" dirty="0">
                <a:solidFill>
                  <a:srgbClr val="FFFFFF"/>
                </a:solidFill>
                <a:latin typeface="方正舒体" panose="02010601030101010101" pitchFamily="2" charset="-122"/>
                <a:ea typeface="方正舒体" panose="02010601030101010101" pitchFamily="2" charset="-122"/>
              </a:rPr>
              <a:t>程序设计</a:t>
            </a:r>
            <a:r>
              <a:rPr lang="en-US" altLang="zh-CN" sz="4200" b="1" i="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212152" y="476672"/>
            <a:ext cx="6948264" cy="5400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Autofit/>
          </a:bodyPr>
          <a:lstStyle/>
          <a:p>
            <a:pPr>
              <a:lnSpc>
                <a:spcPct val="200000"/>
              </a:lnSpc>
              <a:spcBef>
                <a:spcPts val="600"/>
              </a:spcBef>
              <a:buClr>
                <a:schemeClr val="tx1"/>
              </a:buClr>
              <a:buFont typeface="Monotype Corsiva" panose="03010101010201010101" charset="0"/>
              <a:buChar char="&amp;"/>
            </a:pPr>
            <a:r>
              <a:rPr lang="zh-CN" altLang="en-US" b="1" dirty="0">
                <a:latin typeface="华文中宋" panose="02010600040101010101" pitchFamily="2" charset="-122"/>
                <a:ea typeface="华文中宋" panose="02010600040101010101" pitchFamily="2" charset="-122"/>
              </a:rPr>
              <a:t>  函数模板与类模板</a:t>
            </a:r>
            <a:endParaRPr lang="en-US" altLang="zh-CN" b="1" dirty="0">
              <a:latin typeface="华文中宋" panose="02010600040101010101" pitchFamily="2" charset="-122"/>
              <a:ea typeface="华文中宋" panose="02010600040101010101" pitchFamily="2" charset="-122"/>
            </a:endParaRPr>
          </a:p>
          <a:p>
            <a:pPr>
              <a:lnSpc>
                <a:spcPct val="200000"/>
              </a:lnSpc>
              <a:spcBef>
                <a:spcPts val="600"/>
              </a:spcBef>
              <a:buClr>
                <a:schemeClr val="tx1"/>
              </a:buClr>
              <a:buFont typeface="Monotype Corsiva" panose="03010101010201010101" charset="0"/>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线性群体</a:t>
            </a:r>
            <a:endParaRPr lang="en-US" altLang="zh-CN" b="1" dirty="0">
              <a:latin typeface="华文中宋" panose="02010600040101010101" pitchFamily="2" charset="-122"/>
              <a:ea typeface="华文中宋" panose="02010600040101010101" pitchFamily="2" charset="-122"/>
            </a:endParaRPr>
          </a:p>
          <a:p>
            <a:pPr>
              <a:lnSpc>
                <a:spcPct val="200000"/>
              </a:lnSpc>
              <a:spcBef>
                <a:spcPts val="600"/>
              </a:spcBef>
              <a:buClr>
                <a:schemeClr val="tx1"/>
              </a:buClr>
              <a:buFont typeface="Monotype Corsiva" panose="03010101010201010101" charset="0"/>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群体数据的组织</a:t>
            </a:r>
            <a:endParaRPr lang="en-US" altLang="zh-CN" b="1" dirty="0">
              <a:latin typeface="华文中宋" panose="02010600040101010101" pitchFamily="2" charset="-122"/>
              <a:ea typeface="华文中宋" panose="02010600040101010101" pitchFamily="2" charset="-122"/>
            </a:endParaRPr>
          </a:p>
          <a:p>
            <a:pPr>
              <a:lnSpc>
                <a:spcPct val="200000"/>
              </a:lnSpc>
              <a:spcBef>
                <a:spcPts val="600"/>
              </a:spcBef>
              <a:buClr>
                <a:schemeClr val="tx1"/>
              </a:buClr>
              <a:buFont typeface="Monotype Corsiva" panose="03010101010201010101" charset="0"/>
              <a:buChar char="&amp;"/>
            </a:pPr>
            <a:r>
              <a:rPr lang="en-US" altLang="zh-CN" b="1">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深度探索</a:t>
            </a:r>
            <a:r>
              <a:rPr lang="en-US" altLang="zh-CN" b="1" baseline="30000" dirty="0">
                <a:latin typeface="华文中宋" panose="02010600040101010101" pitchFamily="2" charset="-122"/>
                <a:ea typeface="华文中宋" panose="02010600040101010101" pitchFamily="2" charset="-122"/>
              </a:rPr>
              <a:t>*</a:t>
            </a:r>
            <a:endParaRPr lang="zh-CN" altLang="en-US" b="1" dirty="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188640"/>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a:pPr>
            <a:r>
              <a:rPr lang="zh-CN" altLang="en-US" sz="6000" b="1" dirty="0">
                <a:ea typeface="华文彩云" panose="02010800040101010101" pitchFamily="2" charset="-122"/>
              </a:rPr>
              <a:t>函数模板和类模板</a:t>
            </a:r>
            <a:endParaRPr lang="zh-CN" altLang="en-US" sz="6000" dirty="0"/>
          </a:p>
        </p:txBody>
      </p:sp>
      <p:pic>
        <p:nvPicPr>
          <p:cNvPr id="641032" name="Picture 8" descr="surfer4"/>
          <p:cNvPicPr>
            <a:picLocks noChangeAspect="1" noChangeArrowheads="1" noCrop="1"/>
          </p:cNvPicPr>
          <p:nvPr/>
        </p:nvPicPr>
        <p:blipFill>
          <a:blip r:embed="rId1"/>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611560"/>
            <a:ext cx="7886700" cy="2852737"/>
          </a:xfrm>
        </p:spPr>
        <p:txBody>
          <a:bodyPr/>
          <a:lstStyle/>
          <a:p>
            <a:r>
              <a:rPr lang="zh-CN" altLang="en-US" dirty="0"/>
              <a:t>函数模板</a:t>
            </a:r>
            <a:endParaRPr lang="zh-CN" altLang="en-US" dirty="0"/>
          </a:p>
        </p:txBody>
      </p:sp>
      <p:sp>
        <p:nvSpPr>
          <p:cNvPr id="3" name="文本占位符 2"/>
          <p:cNvSpPr>
            <a:spLocks noGrp="1"/>
          </p:cNvSpPr>
          <p:nvPr>
            <p:ph type="body" idx="1"/>
          </p:nvPr>
        </p:nvSpPr>
        <p:spPr>
          <a:xfrm>
            <a:off x="884734" y="2276872"/>
            <a:ext cx="7772400" cy="1504204"/>
          </a:xfrm>
        </p:spPr>
        <p:txBody>
          <a:bodyPr/>
          <a:lstStyle/>
          <a:p>
            <a:r>
              <a:rPr lang="zh-CN" altLang="en-US" b="1" dirty="0"/>
              <a:t>思考：如果重载的函数，其解决问题的逻辑是一致的、函数体语句相同，只是处理的数据类型不同，那么写多个相同的函数体，是重复劳动，而且还可能因为代码的冗余造成不一致性。</a:t>
            </a:r>
            <a:endParaRPr lang="zh-CN" altLang="en-US" b="1" dirty="0"/>
          </a:p>
          <a:p>
            <a:r>
              <a:rPr lang="zh-CN" altLang="en-US" b="1" dirty="0"/>
              <a:t>解决：使用模板</a:t>
            </a:r>
            <a:endParaRPr lang="zh-CN" altLang="en-US" b="1"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例：求绝对值函数的模板</a:t>
            </a:r>
            <a:endParaRPr lang="zh-CN" altLang="en-US"/>
          </a:p>
        </p:txBody>
      </p:sp>
      <p:sp>
        <p:nvSpPr>
          <p:cNvPr id="16" name="内容占位符 2"/>
          <p:cNvSpPr>
            <a:spLocks noGrp="1"/>
          </p:cNvSpPr>
          <p:nvPr>
            <p:ph sz="half" idx="1"/>
          </p:nvPr>
        </p:nvSpPr>
        <p:spPr>
          <a:xfrm>
            <a:off x="457201" y="2133194"/>
            <a:ext cx="4038601" cy="3588977"/>
          </a:xfrm>
        </p:spPr>
        <p:txBody>
          <a:bodyPr/>
          <a:lstStyle/>
          <a:p>
            <a:r>
              <a:rPr lang="zh-CN" altLang="en-US" sz="1800" dirty="0"/>
              <a:t>问题：整数类型和浮点数类型求绝对值的算法，需要写两种重载函数吗？</a:t>
            </a:r>
            <a:endParaRPr lang="en-US" altLang="zh-CN" sz="1800" dirty="0"/>
          </a:p>
          <a:p>
            <a:pPr marL="307975" lvl="1" indent="0">
              <a:buNone/>
            </a:pPr>
            <a:r>
              <a:rPr lang="en-US" altLang="zh-CN" sz="1500" dirty="0">
                <a:solidFill>
                  <a:srgbClr val="FFFF00"/>
                </a:solidFill>
              </a:rPr>
              <a:t>int</a:t>
            </a:r>
            <a:r>
              <a:rPr lang="en-US" altLang="zh-CN" sz="1500" dirty="0"/>
              <a:t> abs(</a:t>
            </a:r>
            <a:r>
              <a:rPr lang="en-US" altLang="zh-CN" sz="1500" dirty="0">
                <a:solidFill>
                  <a:srgbClr val="FFFF00"/>
                </a:solidFill>
              </a:rPr>
              <a:t>int</a:t>
            </a:r>
            <a:r>
              <a:rPr lang="en-US" altLang="zh-CN" sz="1500" dirty="0"/>
              <a:t> x) {</a:t>
            </a:r>
            <a:endParaRPr lang="en-US" altLang="zh-CN" sz="1500" dirty="0"/>
          </a:p>
          <a:p>
            <a:pPr marL="307975" lvl="1" indent="0">
              <a:buNone/>
            </a:pPr>
            <a:r>
              <a:rPr lang="en-US" altLang="zh-CN" sz="1500" dirty="0"/>
              <a:t>	return x &lt; 0? -x : x;</a:t>
            </a:r>
            <a:endParaRPr lang="en-US" altLang="zh-CN" sz="1500" dirty="0"/>
          </a:p>
          <a:p>
            <a:pPr marL="307975" lvl="1" indent="0">
              <a:buNone/>
            </a:pPr>
            <a:r>
              <a:rPr lang="en-US" altLang="zh-CN" sz="1500" dirty="0"/>
              <a:t>}</a:t>
            </a:r>
            <a:endParaRPr lang="en-US" altLang="zh-CN" sz="1500" dirty="0"/>
          </a:p>
          <a:p>
            <a:pPr marL="307975" lvl="1" indent="0">
              <a:buNone/>
            </a:pPr>
            <a:endParaRPr lang="en-US" altLang="zh-CN" sz="1500" dirty="0"/>
          </a:p>
          <a:p>
            <a:pPr marL="307975" lvl="1" indent="0">
              <a:buNone/>
            </a:pPr>
            <a:r>
              <a:rPr lang="en-US" altLang="zh-CN" sz="1500" dirty="0">
                <a:solidFill>
                  <a:srgbClr val="FFFF00"/>
                </a:solidFill>
              </a:rPr>
              <a:t>double</a:t>
            </a:r>
            <a:r>
              <a:rPr lang="en-US" altLang="zh-CN" sz="1500" dirty="0"/>
              <a:t> abs(</a:t>
            </a:r>
            <a:r>
              <a:rPr lang="en-US" altLang="zh-CN" sz="1500" dirty="0">
                <a:solidFill>
                  <a:srgbClr val="FFFF00"/>
                </a:solidFill>
              </a:rPr>
              <a:t>double</a:t>
            </a:r>
            <a:r>
              <a:rPr lang="en-US" altLang="zh-CN" sz="1500" dirty="0"/>
              <a:t> x) {</a:t>
            </a:r>
            <a:endParaRPr lang="en-US" altLang="zh-CN" sz="1500" dirty="0"/>
          </a:p>
          <a:p>
            <a:pPr marL="307975" lvl="1" indent="0">
              <a:buNone/>
            </a:pPr>
            <a:r>
              <a:rPr lang="en-US" altLang="zh-CN" sz="1500" dirty="0"/>
              <a:t>	return x &lt; 0? -x : x;</a:t>
            </a:r>
            <a:endParaRPr lang="en-US" altLang="zh-CN" sz="1500" dirty="0"/>
          </a:p>
          <a:p>
            <a:pPr marL="307975" lvl="1" indent="0">
              <a:buNone/>
            </a:pPr>
            <a:r>
              <a:rPr lang="en-US" altLang="zh-CN" sz="1500" dirty="0"/>
              <a:t>}</a:t>
            </a:r>
            <a:endParaRPr lang="en-US" altLang="zh-CN" sz="1500" dirty="0"/>
          </a:p>
        </p:txBody>
      </p:sp>
      <p:sp>
        <p:nvSpPr>
          <p:cNvPr id="17" name="内容占位符 4"/>
          <p:cNvSpPr txBox="1"/>
          <p:nvPr/>
        </p:nvSpPr>
        <p:spPr>
          <a:xfrm>
            <a:off x="4648201" y="2133194"/>
            <a:ext cx="4038601" cy="3588977"/>
          </a:xfrm>
          <a:prstGeom prst="rect">
            <a:avLst/>
          </a:prstGeom>
        </p:spPr>
        <p:txBody>
          <a:bodyPr/>
          <a:lstStyle>
            <a:lvl1pPr marL="365125" indent="-255905" algn="l" rtl="0" eaLnBrk="0" fontAlgn="base" hangingPunct="0">
              <a:spcBef>
                <a:spcPts val="300"/>
              </a:spcBef>
              <a:spcAft>
                <a:spcPct val="0"/>
              </a:spcAft>
              <a:buClr>
                <a:srgbClr val="A04DA3"/>
              </a:buClr>
              <a:buFont typeface="Georgia" panose="02040502050405020303" pitchFamily="18"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57225" indent="-246380" algn="l" rtl="0" eaLnBrk="0" fontAlgn="base" hangingPunct="0">
              <a:spcBef>
                <a:spcPts val="300"/>
              </a:spcBef>
              <a:spcAft>
                <a:spcPct val="0"/>
              </a:spcAft>
              <a:buClr>
                <a:schemeClr val="accent2"/>
              </a:buClr>
              <a:buFont typeface="Georgia" panose="02040502050405020303" pitchFamily="18" charset="0"/>
              <a:buChar char="▫"/>
              <a:defRPr sz="2200" kern="1200">
                <a:solidFill>
                  <a:schemeClr val="accent1"/>
                </a:solidFill>
                <a:latin typeface="微软雅黑" panose="020B0503020204020204" pitchFamily="34" charset="-122"/>
                <a:ea typeface="微软雅黑" panose="020B0503020204020204" pitchFamily="34" charset="-122"/>
                <a:cs typeface="+mn-cs"/>
              </a:defRPr>
            </a:lvl2pPr>
            <a:lvl3pPr marL="922655" indent="-21907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3pPr>
            <a:lvl4pPr marL="1179830" indent="-200025" algn="l" rtl="0" eaLnBrk="0" fontAlgn="base" hangingPunct="0">
              <a:spcBef>
                <a:spcPts val="300"/>
              </a:spcBef>
              <a:spcAft>
                <a:spcPct val="0"/>
              </a:spcAft>
              <a:buClr>
                <a:schemeClr val="accent1"/>
              </a:buClr>
              <a:buFont typeface="Wingdings 2" panose="05020102010507070707" pitchFamily="18" charset="2"/>
              <a:buChar char=""/>
              <a:defRPr sz="2000" kern="1200">
                <a:solidFill>
                  <a:schemeClr val="accent1"/>
                </a:solidFill>
                <a:latin typeface="微软雅黑" panose="020B0503020204020204" pitchFamily="34" charset="-122"/>
                <a:ea typeface="微软雅黑" panose="020B0503020204020204" pitchFamily="34" charset="-122"/>
                <a:cs typeface="+mn-cs"/>
              </a:defRPr>
            </a:lvl4pPr>
            <a:lvl5pPr marL="1389380" indent="-182880" algn="l" rtl="0" eaLnBrk="0" fontAlgn="base" hangingPunct="0">
              <a:spcBef>
                <a:spcPts val="300"/>
              </a:spcBef>
              <a:spcAft>
                <a:spcPct val="0"/>
              </a:spcAft>
              <a:buClr>
                <a:srgbClr val="A04DA3"/>
              </a:buClr>
              <a:buFont typeface="Georgia" panose="02040502050405020303" pitchFamily="18" charset="0"/>
              <a:buChar char="▫"/>
              <a:defRPr sz="2000" kern="1200">
                <a:solidFill>
                  <a:srgbClr val="A04DA3"/>
                </a:solidFill>
                <a:latin typeface="微软雅黑" panose="020B0503020204020204" pitchFamily="34" charset="-122"/>
                <a:ea typeface="微软雅黑" panose="020B0503020204020204" pitchFamily="34" charset="-122"/>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a:lstStyle>
          <a:p>
            <a:r>
              <a:rPr kumimoji="0" lang="zh-CN" altLang="en-US" sz="1800" dirty="0"/>
              <a:t>解决：函数模板</a:t>
            </a:r>
            <a:endParaRPr kumimoji="0" lang="en-US" altLang="zh-CN" sz="1800" dirty="0"/>
          </a:p>
          <a:p>
            <a:pPr lvl="1"/>
            <a:r>
              <a:rPr kumimoji="0" lang="zh-CN" altLang="en-US" sz="1500" dirty="0">
                <a:solidFill>
                  <a:srgbClr val="FFFF00"/>
                </a:solidFill>
              </a:rPr>
              <a:t>创建一个通用功能的函数；</a:t>
            </a:r>
            <a:endParaRPr kumimoji="0" lang="zh-CN" altLang="en-US" sz="1500" dirty="0">
              <a:solidFill>
                <a:srgbClr val="FFFF00"/>
              </a:solidFill>
            </a:endParaRPr>
          </a:p>
          <a:p>
            <a:pPr lvl="1"/>
            <a:r>
              <a:rPr kumimoji="0" lang="zh-CN" altLang="en-US" sz="1500" dirty="0">
                <a:solidFill>
                  <a:srgbClr val="FFFF00"/>
                </a:solidFill>
              </a:rPr>
              <a:t>支持多种不同形参；</a:t>
            </a:r>
            <a:endParaRPr kumimoji="0" lang="zh-CN" altLang="en-US" sz="1500" dirty="0">
              <a:solidFill>
                <a:srgbClr val="FFFF00"/>
              </a:solidFill>
            </a:endParaRPr>
          </a:p>
          <a:p>
            <a:pPr lvl="1"/>
            <a:r>
              <a:rPr kumimoji="0" lang="zh-CN" altLang="en-US" sz="1500" dirty="0">
                <a:solidFill>
                  <a:srgbClr val="FFFF00"/>
                </a:solidFill>
              </a:rPr>
              <a:t>简化重载函数的函数体设计。</a:t>
            </a:r>
            <a:endParaRPr kumimoji="0" lang="fr-FR" altLang="zh-CN" sz="1500" dirty="0">
              <a:solidFill>
                <a:srgbClr val="FFFF00"/>
              </a:solidFill>
            </a:endParaRPr>
          </a:p>
          <a:p>
            <a:pPr marL="307975" lvl="1" indent="0">
              <a:buNone/>
            </a:pPr>
            <a:endParaRPr kumimoji="0" lang="fr-FR" altLang="zh-CN" sz="1500" dirty="0">
              <a:solidFill>
                <a:srgbClr val="FFFF00"/>
              </a:solidFill>
            </a:endParaRPr>
          </a:p>
          <a:p>
            <a:pPr marL="307975" lvl="1" indent="0">
              <a:buNone/>
            </a:pPr>
            <a:r>
              <a:rPr kumimoji="0" lang="fr-FR" altLang="zh-CN" sz="1500" dirty="0">
                <a:solidFill>
                  <a:srgbClr val="FFFF00"/>
                </a:solidFill>
              </a:rPr>
              <a:t>template&lt;typename T&gt;</a:t>
            </a:r>
            <a:endParaRPr kumimoji="0" lang="fr-FR" altLang="zh-CN" sz="1500" dirty="0">
              <a:solidFill>
                <a:srgbClr val="FFFF00"/>
              </a:solidFill>
            </a:endParaRPr>
          </a:p>
          <a:p>
            <a:pPr marL="307975" lvl="1" indent="0">
              <a:buNone/>
            </a:pPr>
            <a:r>
              <a:rPr kumimoji="0" lang="fr-FR" altLang="zh-CN" sz="1500" dirty="0">
                <a:solidFill>
                  <a:srgbClr val="FFFF00"/>
                </a:solidFill>
              </a:rPr>
              <a:t>T abs(T x) {</a:t>
            </a:r>
            <a:endParaRPr kumimoji="0" lang="fr-FR" altLang="zh-CN" sz="1500" dirty="0">
              <a:solidFill>
                <a:srgbClr val="FFFF00"/>
              </a:solidFill>
            </a:endParaRPr>
          </a:p>
          <a:p>
            <a:pPr marL="307975" lvl="1" indent="0">
              <a:buNone/>
            </a:pPr>
            <a:r>
              <a:rPr kumimoji="0" lang="fr-FR" altLang="zh-CN" sz="1500" dirty="0">
                <a:solidFill>
                  <a:srgbClr val="FFFF00"/>
                </a:solidFill>
              </a:rPr>
              <a:t>	return x &lt; 0? -x : x;</a:t>
            </a:r>
            <a:endParaRPr kumimoji="0" lang="fr-FR" altLang="zh-CN" sz="1500" dirty="0">
              <a:solidFill>
                <a:srgbClr val="FFFF00"/>
              </a:solidFill>
            </a:endParaRPr>
          </a:p>
          <a:p>
            <a:pPr marL="307975" lvl="1" indent="0">
              <a:buNone/>
            </a:pPr>
            <a:r>
              <a:rPr kumimoji="0" lang="fr-FR" altLang="zh-CN" sz="1500" dirty="0">
                <a:solidFill>
                  <a:srgbClr val="FFFF00"/>
                </a:solidFill>
              </a:rPr>
              <a:t>}</a:t>
            </a:r>
            <a:endParaRPr kumimoji="0" lang="fr-FR" altLang="zh-CN" sz="1500" dirty="0">
              <a:solidFill>
                <a:srgbClr val="FFFF00"/>
              </a:solidFill>
            </a:endParaRPr>
          </a:p>
        </p:txBody>
      </p:sp>
      <p:cxnSp>
        <p:nvCxnSpPr>
          <p:cNvPr id="18" name="直接箭头连接符 17"/>
          <p:cNvCxnSpPr/>
          <p:nvPr/>
        </p:nvCxnSpPr>
        <p:spPr>
          <a:xfrm>
            <a:off x="1710427" y="3208038"/>
            <a:ext cx="3239516" cy="577173"/>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2358331" y="3894954"/>
            <a:ext cx="2591613" cy="181950"/>
          </a:xfrm>
          <a:prstGeom prst="straightConnector1">
            <a:avLst/>
          </a:prstGeom>
          <a:ln w="127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endParaRPr lang="zh-CN" altLang="en-US"/>
          </a:p>
        </p:txBody>
      </p:sp>
      <p:sp>
        <p:nvSpPr>
          <p:cNvPr id="15" name="内容占位符 2"/>
          <p:cNvSpPr>
            <a:spLocks noGrp="1"/>
          </p:cNvSpPr>
          <p:nvPr>
            <p:ph idx="1"/>
          </p:nvPr>
        </p:nvSpPr>
        <p:spPr>
          <a:xfrm>
            <a:off x="770227" y="1863234"/>
            <a:ext cx="4276894" cy="3589990"/>
          </a:xfrm>
        </p:spPr>
        <p:txBody>
          <a:bodyPr/>
          <a:lstStyle/>
          <a:p>
            <a:pPr marL="269240" indent="-187960">
              <a:spcBef>
                <a:spcPct val="0"/>
              </a:spcBef>
              <a:buNone/>
            </a:pPr>
            <a:r>
              <a:rPr lang="en-US" altLang="zh-CN" sz="1650" dirty="0"/>
              <a:t>#include &lt;</a:t>
            </a:r>
            <a:r>
              <a:rPr lang="en-US" altLang="zh-CN" sz="1650" dirty="0" err="1"/>
              <a:t>iostream</a:t>
            </a:r>
            <a:r>
              <a:rPr lang="en-US" altLang="zh-CN" sz="1650" dirty="0"/>
              <a:t>&gt;</a:t>
            </a:r>
            <a:endParaRPr lang="en-US" altLang="zh-CN" sz="1650" dirty="0"/>
          </a:p>
          <a:p>
            <a:pPr marL="269240" indent="-187960">
              <a:spcBef>
                <a:spcPct val="0"/>
              </a:spcBef>
              <a:buNone/>
            </a:pPr>
            <a:r>
              <a:rPr lang="en-US" altLang="zh-CN" sz="1650" dirty="0"/>
              <a:t>using namespace </a:t>
            </a:r>
            <a:r>
              <a:rPr lang="en-US" altLang="zh-CN" sz="1650" dirty="0" err="1"/>
              <a:t>std</a:t>
            </a:r>
            <a:r>
              <a:rPr lang="en-US" altLang="zh-CN" sz="1650" dirty="0"/>
              <a:t>;</a:t>
            </a:r>
            <a:endParaRPr lang="en-US" altLang="zh-CN" sz="1650" dirty="0"/>
          </a:p>
          <a:p>
            <a:pPr marL="269240" indent="-187960">
              <a:spcBef>
                <a:spcPct val="0"/>
              </a:spcBef>
              <a:buNone/>
            </a:pPr>
            <a:r>
              <a:rPr lang="en-US" altLang="zh-CN" sz="1650" dirty="0"/>
              <a:t>template&lt;</a:t>
            </a:r>
            <a:r>
              <a:rPr lang="en-US" altLang="zh-CN" sz="1650" dirty="0" err="1"/>
              <a:t>typename</a:t>
            </a:r>
            <a:r>
              <a:rPr lang="en-US" altLang="zh-CN" sz="1650" dirty="0"/>
              <a:t> T&gt;</a:t>
            </a:r>
            <a:endParaRPr lang="en-US" altLang="zh-CN" sz="1650" dirty="0"/>
          </a:p>
          <a:p>
            <a:pPr marL="269240" indent="-187960">
              <a:spcBef>
                <a:spcPct val="0"/>
              </a:spcBef>
              <a:buNone/>
            </a:pPr>
            <a:r>
              <a:rPr lang="en-US" altLang="zh-CN" sz="1650" dirty="0"/>
              <a:t>T abs(T x) {</a:t>
            </a:r>
            <a:endParaRPr lang="en-US" altLang="zh-CN" sz="1650" dirty="0"/>
          </a:p>
          <a:p>
            <a:pPr marL="269240" indent="-187960">
              <a:spcBef>
                <a:spcPct val="0"/>
              </a:spcBef>
              <a:buNone/>
            </a:pPr>
            <a:r>
              <a:rPr lang="en-US" altLang="zh-CN" sz="1650" dirty="0"/>
              <a:t>	return x &lt; 0? -x : x;</a:t>
            </a:r>
            <a:endParaRPr lang="en-US" altLang="zh-CN" sz="1650" dirty="0"/>
          </a:p>
          <a:p>
            <a:pPr marL="269240" indent="-187960">
              <a:spcBef>
                <a:spcPct val="0"/>
              </a:spcBef>
              <a:buNone/>
            </a:pPr>
            <a:r>
              <a:rPr lang="en-US" altLang="zh-CN" sz="1650" dirty="0"/>
              <a:t>}</a:t>
            </a:r>
            <a:endParaRPr lang="en-US" altLang="zh-CN" sz="1650" dirty="0"/>
          </a:p>
          <a:p>
            <a:pPr marL="269240" indent="-187960">
              <a:spcBef>
                <a:spcPct val="0"/>
              </a:spcBef>
              <a:buNone/>
            </a:pPr>
            <a:r>
              <a:rPr lang="en-US" altLang="zh-CN" sz="1650" dirty="0"/>
              <a:t>int main() {</a:t>
            </a:r>
            <a:endParaRPr lang="en-US" altLang="zh-CN" sz="1650" dirty="0"/>
          </a:p>
          <a:p>
            <a:pPr marL="269240" indent="-187960">
              <a:spcBef>
                <a:spcPct val="0"/>
              </a:spcBef>
              <a:buNone/>
            </a:pPr>
            <a:r>
              <a:rPr lang="en-US" altLang="zh-CN" sz="1650" dirty="0"/>
              <a:t>	int n = -5;</a:t>
            </a:r>
            <a:endParaRPr lang="en-US" altLang="zh-CN" sz="1650" dirty="0"/>
          </a:p>
          <a:p>
            <a:pPr marL="269240" indent="-187960">
              <a:spcBef>
                <a:spcPct val="0"/>
              </a:spcBef>
              <a:buNone/>
            </a:pPr>
            <a:r>
              <a:rPr lang="en-US" altLang="zh-CN" sz="1650" dirty="0"/>
              <a:t>	double d = -5.5;</a:t>
            </a:r>
            <a:endParaRPr lang="en-US" altLang="zh-CN" sz="1650" dirty="0"/>
          </a:p>
          <a:p>
            <a:pPr marL="269240" indent="-187960">
              <a:spcBef>
                <a:spcPct val="0"/>
              </a:spcBef>
              <a:buNone/>
            </a:pPr>
            <a:r>
              <a:rPr lang="en-US" altLang="zh-CN" sz="1650" dirty="0"/>
              <a:t>	</a:t>
            </a:r>
            <a:r>
              <a:rPr lang="en-US" altLang="zh-CN" sz="1650" dirty="0" err="1"/>
              <a:t>cout</a:t>
            </a:r>
            <a:r>
              <a:rPr lang="en-US" altLang="zh-CN" sz="1650" dirty="0"/>
              <a:t> &lt;&lt; abs(n) &lt;&lt; </a:t>
            </a:r>
            <a:r>
              <a:rPr lang="en-US" altLang="zh-CN" sz="1650" dirty="0" err="1"/>
              <a:t>endl</a:t>
            </a:r>
            <a:r>
              <a:rPr lang="en-US" altLang="zh-CN" sz="1650" dirty="0"/>
              <a:t>;</a:t>
            </a:r>
            <a:endParaRPr lang="en-US" altLang="zh-CN" sz="1650" dirty="0"/>
          </a:p>
          <a:p>
            <a:pPr marL="269240" indent="-187960">
              <a:spcBef>
                <a:spcPct val="0"/>
              </a:spcBef>
              <a:buNone/>
            </a:pPr>
            <a:r>
              <a:rPr lang="en-US" altLang="zh-CN" sz="1650" dirty="0"/>
              <a:t>	</a:t>
            </a:r>
            <a:r>
              <a:rPr lang="en-US" altLang="zh-CN" sz="1650" dirty="0" err="1"/>
              <a:t>cout</a:t>
            </a:r>
            <a:r>
              <a:rPr lang="en-US" altLang="zh-CN" sz="1650" dirty="0"/>
              <a:t> &lt;&lt; abs(d) &lt;&lt; </a:t>
            </a:r>
            <a:r>
              <a:rPr lang="en-US" altLang="zh-CN" sz="1650" dirty="0" err="1"/>
              <a:t>endl</a:t>
            </a:r>
            <a:r>
              <a:rPr lang="en-US" altLang="zh-CN" sz="1650" dirty="0"/>
              <a:t>;</a:t>
            </a:r>
            <a:endParaRPr lang="en-US" altLang="zh-CN" sz="1650" dirty="0"/>
          </a:p>
          <a:p>
            <a:pPr marL="269240" indent="-187960">
              <a:spcBef>
                <a:spcPct val="0"/>
              </a:spcBef>
              <a:buNone/>
            </a:pPr>
            <a:r>
              <a:rPr lang="en-US" altLang="zh-CN" sz="1650" dirty="0"/>
              <a:t>	return 0;</a:t>
            </a:r>
            <a:endParaRPr lang="en-US" altLang="zh-CN" sz="1650" dirty="0"/>
          </a:p>
          <a:p>
            <a:pPr marL="269240" indent="-187960">
              <a:spcBef>
                <a:spcPct val="0"/>
              </a:spcBef>
              <a:buNone/>
            </a:pPr>
            <a:r>
              <a:rPr lang="en-US" altLang="zh-CN" sz="1650" dirty="0"/>
              <a:t>}</a:t>
            </a:r>
            <a:endParaRPr lang="en-US" altLang="zh-CN" sz="1650" dirty="0"/>
          </a:p>
        </p:txBody>
      </p:sp>
      <p:sp>
        <p:nvSpPr>
          <p:cNvPr id="17" name="AutoShape 3"/>
          <p:cNvSpPr/>
          <p:nvPr/>
        </p:nvSpPr>
        <p:spPr bwMode="auto">
          <a:xfrm>
            <a:off x="4074542" y="2880800"/>
            <a:ext cx="1428470" cy="537139"/>
          </a:xfrm>
          <a:prstGeom prst="borderCallout2">
            <a:avLst>
              <a:gd name="adj1" fmla="val 23019"/>
              <a:gd name="adj2" fmla="val -6588"/>
              <a:gd name="adj3" fmla="val 23019"/>
              <a:gd name="adj4" fmla="val -65954"/>
              <a:gd name="adj5" fmla="val -5665"/>
              <a:gd name="adj6" fmla="val -173069"/>
            </a:avLst>
          </a:prstGeom>
          <a:noFill/>
          <a:ln w="9525">
            <a:solidFill>
              <a:srgbClr val="000000"/>
            </a:solidFill>
            <a:miter lim="800000"/>
          </a:ln>
        </p:spPr>
        <p:txBody>
          <a:bodyPr vert="horz" wrap="square" lIns="68562" tIns="34281" rIns="68562" bIns="34281" numCol="1" anchor="t" anchorCtr="0" compatLnSpc="1"/>
          <a:lstStyle/>
          <a:p>
            <a:pPr algn="just" defTabSz="685800" eaLnBrk="0" hangingPunct="0"/>
            <a:r>
              <a:rPr kumimoji="0" lang="zh-CN" altLang="en-US" sz="1350">
                <a:latin typeface="微软雅黑" panose="020B0503020204020204" pitchFamily="34" charset="-122"/>
                <a:ea typeface="微软雅黑" panose="020B0503020204020204" pitchFamily="34" charset="-122"/>
              </a:rPr>
              <a:t>在第一次调用时</a:t>
            </a:r>
            <a:r>
              <a:rPr kumimoji="0" lang="en-US" altLang="zh-CN" sz="1350">
                <a:latin typeface="微软雅黑" panose="020B0503020204020204" pitchFamily="34" charset="-122"/>
                <a:ea typeface="微软雅黑" panose="020B0503020204020204" pitchFamily="34" charset="-122"/>
              </a:rPr>
              <a:t>T</a:t>
            </a:r>
            <a:r>
              <a:rPr kumimoji="0" lang="zh-CN" altLang="en-US" sz="1350">
                <a:latin typeface="微软雅黑" panose="020B0503020204020204" pitchFamily="34" charset="-122"/>
                <a:ea typeface="微软雅黑" panose="020B0503020204020204" pitchFamily="34" charset="-122"/>
              </a:rPr>
              <a:t>类型应为</a:t>
            </a:r>
            <a:r>
              <a:rPr kumimoji="0" lang="en-US" altLang="zh-CN" sz="1350">
                <a:latin typeface="微软雅黑" panose="020B0503020204020204" pitchFamily="34" charset="-122"/>
                <a:ea typeface="微软雅黑" panose="020B0503020204020204" pitchFamily="34" charset="-122"/>
              </a:rPr>
              <a:t>int</a:t>
            </a:r>
            <a:endParaRPr kumimoji="0" lang="zh-CN" altLang="zh-CN" sz="3000">
              <a:latin typeface="微软雅黑" panose="020B0503020204020204" pitchFamily="34" charset="-122"/>
              <a:ea typeface="微软雅黑" panose="020B0503020204020204" pitchFamily="34" charset="-122"/>
            </a:endParaRPr>
          </a:p>
        </p:txBody>
      </p:sp>
      <p:sp>
        <p:nvSpPr>
          <p:cNvPr id="18" name="AutoShape 4"/>
          <p:cNvSpPr/>
          <p:nvPr/>
        </p:nvSpPr>
        <p:spPr bwMode="auto">
          <a:xfrm>
            <a:off x="4018257" y="3850669"/>
            <a:ext cx="1484754" cy="282532"/>
          </a:xfrm>
          <a:prstGeom prst="borderCallout2">
            <a:avLst>
              <a:gd name="adj1" fmla="val 37421"/>
              <a:gd name="adj2" fmla="val -7176"/>
              <a:gd name="adj3" fmla="val 37421"/>
              <a:gd name="adj4" fmla="val -38458"/>
              <a:gd name="adj5" fmla="val 135608"/>
              <a:gd name="adj6" fmla="val -102989"/>
            </a:avLst>
          </a:prstGeom>
          <a:noFill/>
          <a:ln w="9525">
            <a:solidFill>
              <a:srgbClr val="000000"/>
            </a:solidFill>
            <a:miter lim="800000"/>
          </a:ln>
        </p:spPr>
        <p:txBody>
          <a:bodyPr vert="horz" wrap="square" lIns="68562" tIns="34281" rIns="68562" bIns="34281" numCol="1" anchor="t" anchorCtr="0" compatLnSpc="1"/>
          <a:lstStyle/>
          <a:p>
            <a:pPr algn="just" defTabSz="685800" eaLnBrk="0" hangingPunct="0"/>
            <a:r>
              <a:rPr kumimoji="0" lang="en-US" altLang="zh-CN" sz="1350">
                <a:latin typeface="微软雅黑" panose="020B0503020204020204" pitchFamily="34" charset="-122"/>
                <a:ea typeface="微软雅黑" panose="020B0503020204020204" pitchFamily="34" charset="-122"/>
              </a:rPr>
              <a:t>int</a:t>
            </a:r>
            <a:r>
              <a:rPr kumimoji="0" lang="zh-CN" altLang="en-US" sz="1350">
                <a:latin typeface="微软雅黑" panose="020B0503020204020204" pitchFamily="34" charset="-122"/>
                <a:ea typeface="微软雅黑" panose="020B0503020204020204" pitchFamily="34" charset="-122"/>
              </a:rPr>
              <a:t>类型参数</a:t>
            </a:r>
            <a:endParaRPr kumimoji="0" lang="zh-CN" altLang="zh-CN" sz="3000">
              <a:latin typeface="微软雅黑" panose="020B0503020204020204" pitchFamily="34" charset="-122"/>
              <a:ea typeface="微软雅黑" panose="020B0503020204020204" pitchFamily="34" charset="-122"/>
            </a:endParaRPr>
          </a:p>
        </p:txBody>
      </p:sp>
      <p:sp>
        <p:nvSpPr>
          <p:cNvPr id="19" name="AutoShape 5"/>
          <p:cNvSpPr>
            <a:spLocks noChangeArrowheads="1"/>
          </p:cNvSpPr>
          <p:nvPr/>
        </p:nvSpPr>
        <p:spPr bwMode="auto">
          <a:xfrm rot="16200000">
            <a:off x="5214955" y="3290153"/>
            <a:ext cx="1030813" cy="454700"/>
          </a:xfrm>
          <a:prstGeom prst="curvedUpArrow">
            <a:avLst>
              <a:gd name="adj1" fmla="val 45340"/>
              <a:gd name="adj2" fmla="val 90681"/>
              <a:gd name="adj3" fmla="val 33333"/>
            </a:avLst>
          </a:prstGeom>
          <a:solidFill>
            <a:srgbClr val="FFFFFF"/>
          </a:solidFill>
          <a:ln w="9525">
            <a:solidFill>
              <a:srgbClr val="000000"/>
            </a:solidFill>
            <a:miter lim="800000"/>
          </a:ln>
        </p:spPr>
        <p:txBody>
          <a:bodyPr vert="horz" wrap="square" lIns="68562" tIns="34281" rIns="68562" bIns="34281" numCol="1" anchor="t" anchorCtr="0" compatLnSpc="1"/>
          <a:lstStyle/>
          <a:p>
            <a:endParaRPr lang="zh-CN" altLang="en-US" sz="1800"/>
          </a:p>
        </p:txBody>
      </p:sp>
      <p:sp>
        <p:nvSpPr>
          <p:cNvPr id="20" name="Text Box 6"/>
          <p:cNvSpPr txBox="1">
            <a:spLocks noChangeArrowheads="1"/>
          </p:cNvSpPr>
          <p:nvPr/>
        </p:nvSpPr>
        <p:spPr bwMode="auto">
          <a:xfrm>
            <a:off x="5964984" y="3418975"/>
            <a:ext cx="888541" cy="21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lstStyle/>
          <a:p>
            <a:pPr algn="just" defTabSz="685800" eaLnBrk="0" hangingPunct="0"/>
            <a:r>
              <a:rPr kumimoji="0" lang="zh-CN" altLang="en-US" sz="1350" dirty="0">
                <a:latin typeface="微软雅黑" panose="020B0503020204020204" pitchFamily="34" charset="-122"/>
                <a:ea typeface="微软雅黑" panose="020B0503020204020204" pitchFamily="34" charset="-122"/>
              </a:rPr>
              <a:t>推导出</a:t>
            </a:r>
            <a:endParaRPr kumimoji="0" lang="zh-CN" altLang="zh-CN" sz="3000" dirty="0">
              <a:latin typeface="微软雅黑" panose="020B0503020204020204" pitchFamily="34" charset="-122"/>
              <a:ea typeface="微软雅黑" panose="020B0503020204020204" pitchFamily="34" charset="-122"/>
            </a:endParaRPr>
          </a:p>
        </p:txBody>
      </p:sp>
      <p:sp>
        <p:nvSpPr>
          <p:cNvPr id="21" name="AutoShape 7"/>
          <p:cNvSpPr/>
          <p:nvPr/>
        </p:nvSpPr>
        <p:spPr bwMode="auto">
          <a:xfrm>
            <a:off x="6428477" y="2068935"/>
            <a:ext cx="1922959" cy="933160"/>
          </a:xfrm>
          <a:prstGeom prst="borderCallout2">
            <a:avLst>
              <a:gd name="adj1" fmla="val 12639"/>
              <a:gd name="adj2" fmla="val -4847"/>
              <a:gd name="adj3" fmla="val 12639"/>
              <a:gd name="adj4" fmla="val -25968"/>
              <a:gd name="adj5" fmla="val 79985"/>
              <a:gd name="adj6" fmla="val -52018"/>
            </a:avLst>
          </a:prstGeom>
          <a:noFill/>
          <a:ln w="9525">
            <a:solidFill>
              <a:srgbClr val="000000"/>
            </a:solidFill>
            <a:miter lim="800000"/>
          </a:ln>
        </p:spPr>
        <p:txBody>
          <a:bodyPr vert="horz" wrap="square" lIns="68562" tIns="34281" rIns="68562" bIns="34281" numCol="1" anchor="t" anchorCtr="0" compatLnSpc="1"/>
          <a:lstStyle/>
          <a:p>
            <a:pPr algn="l" defTabSz="685800" eaLnBrk="0" hangingPunct="0"/>
            <a:r>
              <a:rPr kumimoji="0" lang="zh-CN" altLang="en-US" sz="1350">
                <a:latin typeface="微软雅黑" panose="020B0503020204020204" pitchFamily="34" charset="-122"/>
                <a:ea typeface="微软雅黑" panose="020B0503020204020204" pitchFamily="34" charset="-122"/>
              </a:rPr>
              <a:t>调用的实际上是</a:t>
            </a:r>
            <a:endParaRPr kumimoji="0" lang="zh-CN" altLang="en-US" sz="1350">
              <a:latin typeface="微软雅黑" panose="020B0503020204020204" pitchFamily="34" charset="-122"/>
              <a:ea typeface="微软雅黑" panose="020B0503020204020204" pitchFamily="34" charset="-122"/>
            </a:endParaRPr>
          </a:p>
          <a:p>
            <a:pPr algn="l" defTabSz="685800" eaLnBrk="0" hangingPunct="0"/>
            <a:r>
              <a:rPr kumimoji="0" lang="en-US" altLang="zh-CN" sz="1350">
                <a:latin typeface="微软雅黑" panose="020B0503020204020204" pitchFamily="34" charset="-122"/>
                <a:ea typeface="微软雅黑" panose="020B0503020204020204" pitchFamily="34" charset="-122"/>
              </a:rPr>
              <a:t>int abs(int x) {</a:t>
            </a:r>
            <a:br>
              <a:rPr kumimoji="0" lang="en-US" altLang="zh-CN" sz="1350">
                <a:latin typeface="微软雅黑" panose="020B0503020204020204" pitchFamily="34" charset="-122"/>
                <a:ea typeface="微软雅黑" panose="020B0503020204020204" pitchFamily="34" charset="-122"/>
              </a:rPr>
            </a:br>
            <a:r>
              <a:rPr kumimoji="0" lang="en-US" altLang="zh-CN" sz="1350">
                <a:latin typeface="微软雅黑" panose="020B0503020204020204" pitchFamily="34" charset="-122"/>
                <a:ea typeface="微软雅黑" panose="020B0503020204020204" pitchFamily="34" charset="-122"/>
              </a:rPr>
              <a:t>  return x &lt; 0 ? –x : x;</a:t>
            </a:r>
            <a:br>
              <a:rPr kumimoji="0" lang="en-US" altLang="zh-CN" sz="1350">
                <a:latin typeface="微软雅黑" panose="020B0503020204020204" pitchFamily="34" charset="-122"/>
                <a:ea typeface="微软雅黑" panose="020B0503020204020204" pitchFamily="34" charset="-122"/>
              </a:rPr>
            </a:br>
            <a:r>
              <a:rPr kumimoji="0" lang="en-US" altLang="zh-CN" sz="1350">
                <a:latin typeface="微软雅黑" panose="020B0503020204020204" pitchFamily="34" charset="-122"/>
                <a:ea typeface="微软雅黑" panose="020B0503020204020204" pitchFamily="34" charset="-122"/>
              </a:rPr>
              <a:t>}</a:t>
            </a:r>
            <a:endParaRPr kumimoji="0" lang="en-US" altLang="zh-CN" sz="135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endParaRPr lang="zh-CN" altLang="en-US"/>
          </a:p>
        </p:txBody>
      </p:sp>
      <p:sp>
        <p:nvSpPr>
          <p:cNvPr id="15" name="内容占位符 2"/>
          <p:cNvSpPr>
            <a:spLocks noGrp="1"/>
          </p:cNvSpPr>
          <p:nvPr>
            <p:ph idx="1"/>
          </p:nvPr>
        </p:nvSpPr>
        <p:spPr>
          <a:xfrm>
            <a:off x="661518" y="1831615"/>
            <a:ext cx="4276894" cy="3589990"/>
          </a:xfrm>
        </p:spPr>
        <p:txBody>
          <a:bodyPr/>
          <a:lstStyle/>
          <a:p>
            <a:pPr marL="269240" indent="-187960">
              <a:spcBef>
                <a:spcPct val="0"/>
              </a:spcBef>
              <a:buNone/>
            </a:pPr>
            <a:r>
              <a:rPr lang="en-US" altLang="zh-CN" sz="1650" dirty="0"/>
              <a:t>#include &lt;iostream&gt;</a:t>
            </a:r>
            <a:endParaRPr lang="en-US" altLang="zh-CN" sz="1650" dirty="0"/>
          </a:p>
          <a:p>
            <a:pPr marL="269240" indent="-187960">
              <a:spcBef>
                <a:spcPct val="0"/>
              </a:spcBef>
              <a:buNone/>
            </a:pPr>
            <a:r>
              <a:rPr lang="en-US" altLang="zh-CN" sz="1650" dirty="0"/>
              <a:t>using namespace std;</a:t>
            </a:r>
            <a:endParaRPr lang="en-US" altLang="zh-CN" sz="1650" dirty="0"/>
          </a:p>
          <a:p>
            <a:pPr marL="269240" indent="-187960">
              <a:spcBef>
                <a:spcPct val="0"/>
              </a:spcBef>
              <a:buNone/>
            </a:pPr>
            <a:r>
              <a:rPr lang="en-US" altLang="zh-CN" sz="1650" dirty="0"/>
              <a:t>template&lt;</a:t>
            </a:r>
            <a:r>
              <a:rPr lang="en-US" altLang="zh-CN" sz="1650" dirty="0" err="1"/>
              <a:t>typename</a:t>
            </a:r>
            <a:r>
              <a:rPr lang="en-US" altLang="zh-CN" sz="1650" dirty="0"/>
              <a:t> T&gt;</a:t>
            </a:r>
            <a:endParaRPr lang="en-US" altLang="zh-CN" sz="1650" dirty="0"/>
          </a:p>
          <a:p>
            <a:pPr marL="269240" indent="-187960">
              <a:spcBef>
                <a:spcPct val="0"/>
              </a:spcBef>
              <a:buNone/>
            </a:pPr>
            <a:r>
              <a:rPr lang="en-US" altLang="zh-CN" sz="1650" dirty="0"/>
              <a:t>T abs(T x) {</a:t>
            </a:r>
            <a:endParaRPr lang="en-US" altLang="zh-CN" sz="1650" dirty="0"/>
          </a:p>
          <a:p>
            <a:pPr marL="269240" indent="-187960">
              <a:spcBef>
                <a:spcPct val="0"/>
              </a:spcBef>
              <a:buNone/>
            </a:pPr>
            <a:r>
              <a:rPr lang="en-US" altLang="zh-CN" sz="1650" dirty="0"/>
              <a:t>	return x &lt; 0? -x : x;</a:t>
            </a:r>
            <a:endParaRPr lang="en-US" altLang="zh-CN" sz="1650" dirty="0"/>
          </a:p>
          <a:p>
            <a:pPr marL="269240" indent="-187960">
              <a:spcBef>
                <a:spcPct val="0"/>
              </a:spcBef>
              <a:buNone/>
            </a:pPr>
            <a:r>
              <a:rPr lang="en-US" altLang="zh-CN" sz="1650" dirty="0"/>
              <a:t>}</a:t>
            </a:r>
            <a:endParaRPr lang="en-US" altLang="zh-CN" sz="1650" dirty="0"/>
          </a:p>
          <a:p>
            <a:pPr marL="269240" indent="-187960">
              <a:spcBef>
                <a:spcPct val="0"/>
              </a:spcBef>
              <a:buNone/>
            </a:pPr>
            <a:r>
              <a:rPr lang="en-US" altLang="zh-CN" sz="1650" dirty="0"/>
              <a:t>int main() {</a:t>
            </a:r>
            <a:endParaRPr lang="en-US" altLang="zh-CN" sz="1650" dirty="0"/>
          </a:p>
          <a:p>
            <a:pPr marL="269240" indent="-187960">
              <a:spcBef>
                <a:spcPct val="0"/>
              </a:spcBef>
              <a:buNone/>
            </a:pPr>
            <a:r>
              <a:rPr lang="en-US" altLang="zh-CN" sz="1650" dirty="0"/>
              <a:t>	int n = -5;</a:t>
            </a:r>
            <a:endParaRPr lang="en-US" altLang="zh-CN" sz="1650" dirty="0"/>
          </a:p>
          <a:p>
            <a:pPr marL="269240" indent="-187960">
              <a:spcBef>
                <a:spcPct val="0"/>
              </a:spcBef>
              <a:buNone/>
            </a:pPr>
            <a:r>
              <a:rPr lang="en-US" altLang="zh-CN" sz="1650" dirty="0"/>
              <a:t>	double d = -5.5;</a:t>
            </a:r>
            <a:endParaRPr lang="en-US" altLang="zh-CN" sz="1650" dirty="0"/>
          </a:p>
          <a:p>
            <a:pPr marL="269240" indent="-187960">
              <a:spcBef>
                <a:spcPct val="0"/>
              </a:spcBef>
              <a:buNone/>
            </a:pPr>
            <a:r>
              <a:rPr lang="en-US" altLang="zh-CN" sz="1650" dirty="0"/>
              <a:t>	</a:t>
            </a:r>
            <a:r>
              <a:rPr lang="en-US" altLang="zh-CN" sz="1650" dirty="0" err="1"/>
              <a:t>cout</a:t>
            </a:r>
            <a:r>
              <a:rPr lang="en-US" altLang="zh-CN" sz="1650" dirty="0"/>
              <a:t> &lt;&lt; abs(n) &lt;&lt; </a:t>
            </a:r>
            <a:r>
              <a:rPr lang="en-US" altLang="zh-CN" sz="1650" dirty="0" err="1"/>
              <a:t>endl</a:t>
            </a:r>
            <a:r>
              <a:rPr lang="en-US" altLang="zh-CN" sz="1650" dirty="0"/>
              <a:t>;</a:t>
            </a:r>
            <a:endParaRPr lang="en-US" altLang="zh-CN" sz="1650" dirty="0"/>
          </a:p>
          <a:p>
            <a:pPr marL="269240" indent="-187960">
              <a:spcBef>
                <a:spcPct val="0"/>
              </a:spcBef>
              <a:buNone/>
            </a:pPr>
            <a:r>
              <a:rPr lang="en-US" altLang="zh-CN" sz="1650" dirty="0"/>
              <a:t>	</a:t>
            </a:r>
            <a:r>
              <a:rPr lang="en-US" altLang="zh-CN" sz="1650" dirty="0" err="1"/>
              <a:t>cout</a:t>
            </a:r>
            <a:r>
              <a:rPr lang="en-US" altLang="zh-CN" sz="1650" dirty="0"/>
              <a:t> &lt;&lt; abs(d) &lt;&lt; </a:t>
            </a:r>
            <a:r>
              <a:rPr lang="en-US" altLang="zh-CN" sz="1650" dirty="0" err="1"/>
              <a:t>endl</a:t>
            </a:r>
            <a:r>
              <a:rPr lang="en-US" altLang="zh-CN" sz="1650" dirty="0"/>
              <a:t>;</a:t>
            </a:r>
            <a:endParaRPr lang="en-US" altLang="zh-CN" sz="1650" dirty="0"/>
          </a:p>
          <a:p>
            <a:pPr marL="269240" indent="-187960">
              <a:spcBef>
                <a:spcPct val="0"/>
              </a:spcBef>
              <a:buNone/>
            </a:pPr>
            <a:r>
              <a:rPr lang="en-US" altLang="zh-CN" sz="1650" dirty="0"/>
              <a:t>	return 0;</a:t>
            </a:r>
            <a:endParaRPr lang="en-US" altLang="zh-CN" sz="1650" dirty="0"/>
          </a:p>
          <a:p>
            <a:pPr marL="269240" indent="-187960">
              <a:spcBef>
                <a:spcPct val="0"/>
              </a:spcBef>
              <a:buNone/>
            </a:pPr>
            <a:r>
              <a:rPr lang="en-US" altLang="zh-CN" sz="1650" dirty="0"/>
              <a:t>}</a:t>
            </a:r>
            <a:endParaRPr lang="en-US" altLang="zh-CN" sz="1650" dirty="0"/>
          </a:p>
        </p:txBody>
      </p:sp>
      <p:sp>
        <p:nvSpPr>
          <p:cNvPr id="17" name="AutoShape 3"/>
          <p:cNvSpPr/>
          <p:nvPr/>
        </p:nvSpPr>
        <p:spPr bwMode="auto">
          <a:xfrm>
            <a:off x="3953238" y="2849181"/>
            <a:ext cx="1441065" cy="537139"/>
          </a:xfrm>
          <a:prstGeom prst="borderCallout2">
            <a:avLst>
              <a:gd name="adj1" fmla="val 23019"/>
              <a:gd name="adj2" fmla="val -6588"/>
              <a:gd name="adj3" fmla="val 23019"/>
              <a:gd name="adj4" fmla="val -65954"/>
              <a:gd name="adj5" fmla="val -5665"/>
              <a:gd name="adj6" fmla="val -173069"/>
            </a:avLst>
          </a:prstGeom>
          <a:noFill/>
          <a:ln w="9525">
            <a:solidFill>
              <a:srgbClr val="000000"/>
            </a:solidFill>
            <a:miter lim="800000"/>
          </a:ln>
        </p:spPr>
        <p:txBody>
          <a:bodyPr vert="horz" wrap="square" lIns="68562" tIns="34281" rIns="68562" bIns="34281" numCol="1" anchor="t" anchorCtr="0" compatLnSpc="1"/>
          <a:lstStyle/>
          <a:p>
            <a:pPr algn="just" defTabSz="685800" eaLnBrk="0" hangingPunct="0"/>
            <a:r>
              <a:rPr kumimoji="0" lang="zh-CN" altLang="en-US" sz="1350">
                <a:latin typeface="微软雅黑" panose="020B0503020204020204" pitchFamily="34" charset="-122"/>
                <a:ea typeface="微软雅黑" panose="020B0503020204020204" pitchFamily="34" charset="-122"/>
              </a:rPr>
              <a:t>在第二次调用时</a:t>
            </a:r>
            <a:r>
              <a:rPr kumimoji="0" lang="en-US" altLang="zh-CN" sz="1350">
                <a:latin typeface="微软雅黑" panose="020B0503020204020204" pitchFamily="34" charset="-122"/>
                <a:ea typeface="微软雅黑" panose="020B0503020204020204" pitchFamily="34" charset="-122"/>
              </a:rPr>
              <a:t>T</a:t>
            </a:r>
            <a:r>
              <a:rPr kumimoji="0" lang="zh-CN" altLang="en-US" sz="1350">
                <a:latin typeface="微软雅黑" panose="020B0503020204020204" pitchFamily="34" charset="-122"/>
                <a:ea typeface="微软雅黑" panose="020B0503020204020204" pitchFamily="34" charset="-122"/>
              </a:rPr>
              <a:t>类型应为</a:t>
            </a:r>
            <a:r>
              <a:rPr kumimoji="0" lang="en-US" altLang="zh-CN" sz="1350">
                <a:latin typeface="微软雅黑" panose="020B0503020204020204" pitchFamily="34" charset="-122"/>
                <a:ea typeface="微软雅黑" panose="020B0503020204020204" pitchFamily="34" charset="-122"/>
              </a:rPr>
              <a:t>double</a:t>
            </a:r>
            <a:endParaRPr kumimoji="0" lang="zh-CN" altLang="zh-CN" sz="3000">
              <a:latin typeface="微软雅黑" panose="020B0503020204020204" pitchFamily="34" charset="-122"/>
              <a:ea typeface="微软雅黑" panose="020B0503020204020204" pitchFamily="34" charset="-122"/>
            </a:endParaRPr>
          </a:p>
        </p:txBody>
      </p:sp>
      <p:sp>
        <p:nvSpPr>
          <p:cNvPr id="18" name="AutoShape 4"/>
          <p:cNvSpPr/>
          <p:nvPr/>
        </p:nvSpPr>
        <p:spPr bwMode="auto">
          <a:xfrm>
            <a:off x="3953238" y="4865841"/>
            <a:ext cx="1440081" cy="282532"/>
          </a:xfrm>
          <a:prstGeom prst="borderCallout2">
            <a:avLst>
              <a:gd name="adj1" fmla="val 37421"/>
              <a:gd name="adj2" fmla="val -7176"/>
              <a:gd name="adj3" fmla="val 37421"/>
              <a:gd name="adj4" fmla="val -38458"/>
              <a:gd name="adj5" fmla="val -91406"/>
              <a:gd name="adj6" fmla="val -104479"/>
            </a:avLst>
          </a:prstGeom>
          <a:noFill/>
          <a:ln w="9525">
            <a:solidFill>
              <a:srgbClr val="000000"/>
            </a:solidFill>
            <a:miter lim="800000"/>
          </a:ln>
        </p:spPr>
        <p:txBody>
          <a:bodyPr vert="horz" wrap="square" lIns="68562" tIns="34281" rIns="68562" bIns="34281" numCol="1" anchor="t" anchorCtr="0" compatLnSpc="1"/>
          <a:lstStyle/>
          <a:p>
            <a:pPr algn="just" defTabSz="685800" eaLnBrk="0" hangingPunct="0"/>
            <a:r>
              <a:rPr kumimoji="0" lang="en-US" altLang="zh-CN" sz="1350">
                <a:latin typeface="微软雅黑" panose="020B0503020204020204" pitchFamily="34" charset="-122"/>
                <a:ea typeface="微软雅黑" panose="020B0503020204020204" pitchFamily="34" charset="-122"/>
              </a:rPr>
              <a:t>double</a:t>
            </a:r>
            <a:r>
              <a:rPr kumimoji="0" lang="zh-CN" altLang="en-US" sz="1350">
                <a:latin typeface="微软雅黑" panose="020B0503020204020204" pitchFamily="34" charset="-122"/>
                <a:ea typeface="微软雅黑" panose="020B0503020204020204" pitchFamily="34" charset="-122"/>
              </a:rPr>
              <a:t>类型参数</a:t>
            </a:r>
            <a:endParaRPr kumimoji="0" lang="zh-CN" altLang="zh-CN" sz="3000">
              <a:latin typeface="微软雅黑" panose="020B0503020204020204" pitchFamily="34" charset="-122"/>
              <a:ea typeface="微软雅黑" panose="020B0503020204020204" pitchFamily="34" charset="-122"/>
            </a:endParaRPr>
          </a:p>
        </p:txBody>
      </p:sp>
      <p:sp>
        <p:nvSpPr>
          <p:cNvPr id="19" name="AutoShape 5"/>
          <p:cNvSpPr>
            <a:spLocks noChangeArrowheads="1"/>
          </p:cNvSpPr>
          <p:nvPr/>
        </p:nvSpPr>
        <p:spPr bwMode="auto">
          <a:xfrm rot="16200000">
            <a:off x="4532704" y="3832075"/>
            <a:ext cx="2177896" cy="454700"/>
          </a:xfrm>
          <a:prstGeom prst="curvedUpArrow">
            <a:avLst>
              <a:gd name="adj1" fmla="val 45340"/>
              <a:gd name="adj2" fmla="val 90681"/>
              <a:gd name="adj3" fmla="val 33333"/>
            </a:avLst>
          </a:prstGeom>
          <a:solidFill>
            <a:srgbClr val="FFFFFF"/>
          </a:solidFill>
          <a:ln w="9525">
            <a:solidFill>
              <a:srgbClr val="000000"/>
            </a:solidFill>
            <a:miter lim="800000"/>
          </a:ln>
        </p:spPr>
        <p:txBody>
          <a:bodyPr vert="horz" wrap="square" lIns="68562" tIns="34281" rIns="68562" bIns="34281" numCol="1" anchor="t" anchorCtr="0" compatLnSpc="1"/>
          <a:lstStyle/>
          <a:p>
            <a:endParaRPr lang="zh-CN" altLang="en-US" sz="1800"/>
          </a:p>
        </p:txBody>
      </p:sp>
      <p:sp>
        <p:nvSpPr>
          <p:cNvPr id="20" name="Text Box 6"/>
          <p:cNvSpPr txBox="1">
            <a:spLocks noChangeArrowheads="1"/>
          </p:cNvSpPr>
          <p:nvPr/>
        </p:nvSpPr>
        <p:spPr bwMode="auto">
          <a:xfrm>
            <a:off x="5860620" y="3951562"/>
            <a:ext cx="888541" cy="21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t" anchorCtr="0" compatLnSpc="1"/>
          <a:lstStyle/>
          <a:p>
            <a:pPr algn="just" defTabSz="685800" eaLnBrk="0" hangingPunct="0"/>
            <a:r>
              <a:rPr kumimoji="0" lang="zh-CN" altLang="en-US" sz="1350">
                <a:latin typeface="微软雅黑" panose="020B0503020204020204" pitchFamily="34" charset="-122"/>
                <a:ea typeface="微软雅黑" panose="020B0503020204020204" pitchFamily="34" charset="-122"/>
              </a:rPr>
              <a:t>推导出</a:t>
            </a:r>
            <a:endParaRPr kumimoji="0" lang="zh-CN" altLang="zh-CN" sz="3000">
              <a:latin typeface="微软雅黑" panose="020B0503020204020204" pitchFamily="34" charset="-122"/>
              <a:ea typeface="微软雅黑" panose="020B0503020204020204" pitchFamily="34" charset="-122"/>
            </a:endParaRPr>
          </a:p>
        </p:txBody>
      </p:sp>
      <p:sp>
        <p:nvSpPr>
          <p:cNvPr id="21" name="AutoShape 3"/>
          <p:cNvSpPr/>
          <p:nvPr/>
        </p:nvSpPr>
        <p:spPr bwMode="auto">
          <a:xfrm>
            <a:off x="6379476" y="2174254"/>
            <a:ext cx="2159678" cy="943497"/>
          </a:xfrm>
          <a:prstGeom prst="borderCallout2">
            <a:avLst>
              <a:gd name="adj1" fmla="val 12639"/>
              <a:gd name="adj2" fmla="val -4597"/>
              <a:gd name="adj3" fmla="val 12639"/>
              <a:gd name="adj4" fmla="val -24634"/>
              <a:gd name="adj5" fmla="val 70121"/>
              <a:gd name="adj6" fmla="val -63414"/>
            </a:avLst>
          </a:prstGeom>
          <a:noFill/>
          <a:ln w="9525">
            <a:solidFill>
              <a:srgbClr val="000000"/>
            </a:solidFill>
            <a:miter lim="800000"/>
          </a:ln>
        </p:spPr>
        <p:txBody>
          <a:bodyPr vert="horz" wrap="square" lIns="68562" tIns="34281" rIns="68562" bIns="34281" numCol="1" anchor="t" anchorCtr="0" compatLnSpc="1"/>
          <a:lstStyle/>
          <a:p>
            <a:pPr algn="l" defTabSz="685800" eaLnBrk="0" hangingPunct="0"/>
            <a:r>
              <a:rPr kumimoji="0" lang="zh-CN" altLang="en-US" sz="1350">
                <a:latin typeface="微软雅黑" panose="020B0503020204020204" pitchFamily="34" charset="-122"/>
                <a:ea typeface="微软雅黑" panose="020B0503020204020204" pitchFamily="34" charset="-122"/>
              </a:rPr>
              <a:t>调用的实际上是</a:t>
            </a:r>
            <a:endParaRPr kumimoji="0" lang="zh-CN" altLang="en-US" sz="1350">
              <a:latin typeface="微软雅黑" panose="020B0503020204020204" pitchFamily="34" charset="-122"/>
              <a:ea typeface="微软雅黑" panose="020B0503020204020204" pitchFamily="34" charset="-122"/>
            </a:endParaRPr>
          </a:p>
          <a:p>
            <a:pPr algn="l" defTabSz="685800" eaLnBrk="0" hangingPunct="0"/>
            <a:r>
              <a:rPr kumimoji="0" lang="en-US" altLang="zh-CN" sz="1350">
                <a:latin typeface="微软雅黑" panose="020B0503020204020204" pitchFamily="34" charset="-122"/>
                <a:ea typeface="微软雅黑" panose="020B0503020204020204" pitchFamily="34" charset="-122"/>
              </a:rPr>
              <a:t>double abs(double x) {</a:t>
            </a:r>
            <a:br>
              <a:rPr kumimoji="0" lang="en-US" altLang="zh-CN" sz="1350">
                <a:latin typeface="微软雅黑" panose="020B0503020204020204" pitchFamily="34" charset="-122"/>
                <a:ea typeface="微软雅黑" panose="020B0503020204020204" pitchFamily="34" charset="-122"/>
              </a:rPr>
            </a:br>
            <a:r>
              <a:rPr kumimoji="0" lang="en-US" altLang="zh-CN" sz="1350">
                <a:latin typeface="微软雅黑" panose="020B0503020204020204" pitchFamily="34" charset="-122"/>
                <a:ea typeface="微软雅黑" panose="020B0503020204020204" pitchFamily="34" charset="-122"/>
              </a:rPr>
              <a:t>  return x &lt; 0 ? –x : x;</a:t>
            </a:r>
            <a:br>
              <a:rPr kumimoji="0" lang="en-US" altLang="zh-CN" sz="1350">
                <a:latin typeface="微软雅黑" panose="020B0503020204020204" pitchFamily="34" charset="-122"/>
                <a:ea typeface="微软雅黑" panose="020B0503020204020204" pitchFamily="34" charset="-122"/>
              </a:rPr>
            </a:br>
            <a:r>
              <a:rPr kumimoji="0" lang="en-US" altLang="zh-CN" sz="1350">
                <a:latin typeface="微软雅黑" panose="020B0503020204020204" pitchFamily="34" charset="-122"/>
                <a:ea typeface="微软雅黑" panose="020B0503020204020204" pitchFamily="34" charset="-122"/>
              </a:rPr>
              <a:t>}</a:t>
            </a:r>
            <a:endParaRPr kumimoji="0" lang="en-US" altLang="zh-CN" sz="135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3" name="标题 1"/>
          <p:cNvSpPr>
            <a:spLocks noGrp="1"/>
          </p:cNvSpPr>
          <p:nvPr>
            <p:ph type="title"/>
          </p:nvPr>
        </p:nvSpPr>
        <p:spPr/>
        <p:txBody>
          <a:bodyPr/>
          <a:lstStyle/>
          <a:p>
            <a:r>
              <a:rPr lang="zh-CN" altLang="en-US"/>
              <a:t>例：求绝对值函数的模板</a:t>
            </a:r>
            <a:endParaRPr lang="zh-CN" altLang="en-US"/>
          </a:p>
        </p:txBody>
      </p:sp>
      <p:sp>
        <p:nvSpPr>
          <p:cNvPr id="20484" name="内容占位符 2"/>
          <p:cNvSpPr>
            <a:spLocks noGrp="1"/>
          </p:cNvSpPr>
          <p:nvPr>
            <p:ph idx="1"/>
          </p:nvPr>
        </p:nvSpPr>
        <p:spPr>
          <a:xfrm>
            <a:off x="1547664" y="1340768"/>
            <a:ext cx="6868508" cy="4031765"/>
          </a:xfrm>
        </p:spPr>
        <p:txBody>
          <a:bodyPr/>
          <a:lstStyle/>
          <a:p>
            <a:pPr marL="0" indent="0">
              <a:buNone/>
            </a:pPr>
            <a:r>
              <a:rPr lang="en-US" altLang="zh-CN" sz="2000" dirty="0"/>
              <a:t>#include &lt;iostream&gt;</a:t>
            </a:r>
            <a:endParaRPr lang="en-US" altLang="zh-CN" sz="2000" dirty="0"/>
          </a:p>
          <a:p>
            <a:pPr marL="0" indent="0">
              <a:buNone/>
            </a:pPr>
            <a:r>
              <a:rPr lang="en-US" altLang="zh-CN" sz="2000" dirty="0"/>
              <a:t>using namespace std;</a:t>
            </a:r>
            <a:endParaRPr lang="en-US" altLang="zh-CN" sz="2000" dirty="0"/>
          </a:p>
          <a:p>
            <a:pPr marL="0" indent="0">
              <a:buNone/>
            </a:pPr>
            <a:r>
              <a:rPr lang="en-US" altLang="zh-CN" sz="2000" dirty="0"/>
              <a:t>template&lt;</a:t>
            </a:r>
            <a:r>
              <a:rPr lang="en-US" altLang="zh-CN" sz="2000" dirty="0" err="1"/>
              <a:t>typename</a:t>
            </a:r>
            <a:r>
              <a:rPr lang="en-US" altLang="zh-CN" sz="2000" dirty="0"/>
              <a:t> T&gt;</a:t>
            </a:r>
            <a:endParaRPr lang="en-US" altLang="zh-CN" sz="2000" dirty="0"/>
          </a:p>
          <a:p>
            <a:pPr marL="0" indent="0">
              <a:buNone/>
            </a:pPr>
            <a:r>
              <a:rPr lang="en-US" altLang="zh-CN" sz="2000" dirty="0"/>
              <a:t>T abs(T x) {</a:t>
            </a:r>
            <a:endParaRPr lang="en-US" altLang="zh-CN" sz="2000" dirty="0"/>
          </a:p>
          <a:p>
            <a:pPr marL="0" indent="0">
              <a:buNone/>
            </a:pPr>
            <a:r>
              <a:rPr lang="en-US" altLang="zh-CN" sz="2000" dirty="0"/>
              <a:t>	return x &lt; 0? -x : x;</a:t>
            </a:r>
            <a:endParaRPr lang="en-US" altLang="zh-CN" sz="2000" dirty="0"/>
          </a:p>
          <a:p>
            <a:pPr marL="0" indent="0">
              <a:buNone/>
            </a:pPr>
            <a:r>
              <a:rPr lang="en-US" altLang="zh-CN" sz="2000" dirty="0"/>
              <a:t>}</a:t>
            </a:r>
            <a:endParaRPr lang="en-US" altLang="zh-CN" sz="2000" dirty="0"/>
          </a:p>
          <a:p>
            <a:pPr marL="0" indent="0">
              <a:buNone/>
            </a:pPr>
            <a:r>
              <a:rPr lang="en-US" altLang="zh-CN" sz="2000" dirty="0"/>
              <a:t>int main() {</a:t>
            </a:r>
            <a:endParaRPr lang="en-US" altLang="zh-CN" sz="2000" dirty="0"/>
          </a:p>
          <a:p>
            <a:pPr marL="0" indent="0">
              <a:buNone/>
            </a:pPr>
            <a:r>
              <a:rPr lang="en-US" altLang="zh-CN" sz="2000" dirty="0"/>
              <a:t>	int n = -5;</a:t>
            </a:r>
            <a:endParaRPr lang="en-US" altLang="zh-CN" sz="2000" dirty="0"/>
          </a:p>
          <a:p>
            <a:pPr marL="0" indent="0">
              <a:buNone/>
            </a:pPr>
            <a:r>
              <a:rPr lang="en-US" altLang="zh-CN" sz="2000" dirty="0"/>
              <a:t>	double d = -5.5;</a:t>
            </a:r>
            <a:endParaRPr lang="en-US" altLang="zh-CN" sz="2000" dirty="0"/>
          </a:p>
          <a:p>
            <a:pPr marL="0" indent="0">
              <a:buNone/>
            </a:pPr>
            <a:r>
              <a:rPr lang="en-US" altLang="zh-CN" sz="2000" dirty="0"/>
              <a:t>	</a:t>
            </a:r>
            <a:r>
              <a:rPr lang="en-US" altLang="zh-CN" sz="2000" dirty="0" err="1"/>
              <a:t>cout</a:t>
            </a:r>
            <a:r>
              <a:rPr lang="en-US" altLang="zh-CN" sz="2000" dirty="0"/>
              <a:t> &lt;&lt; abs(n) &lt;&lt; </a:t>
            </a:r>
            <a:r>
              <a:rPr lang="en-US" altLang="zh-CN" sz="2000" dirty="0" err="1"/>
              <a:t>endl</a:t>
            </a:r>
            <a:r>
              <a:rPr lang="en-US" altLang="zh-CN" sz="2000" dirty="0"/>
              <a:t>;</a:t>
            </a:r>
            <a:endParaRPr lang="en-US" altLang="zh-CN" sz="2000" dirty="0"/>
          </a:p>
          <a:p>
            <a:pPr marL="0" indent="0">
              <a:buNone/>
            </a:pPr>
            <a:r>
              <a:rPr lang="en-US" altLang="zh-CN" sz="2000" dirty="0"/>
              <a:t>	</a:t>
            </a:r>
            <a:r>
              <a:rPr lang="en-US" altLang="zh-CN" sz="2000" dirty="0" err="1"/>
              <a:t>cout</a:t>
            </a:r>
            <a:r>
              <a:rPr lang="en-US" altLang="zh-CN" sz="2000" dirty="0"/>
              <a:t> &lt;&lt; abs(d) &lt;&lt; </a:t>
            </a:r>
            <a:r>
              <a:rPr lang="en-US" altLang="zh-CN" sz="2000" dirty="0" err="1"/>
              <a:t>endl</a:t>
            </a:r>
            <a:r>
              <a:rPr lang="en-US" altLang="zh-CN" sz="2000" dirty="0"/>
              <a:t>;</a:t>
            </a:r>
            <a:endParaRPr lang="en-US" altLang="zh-CN" sz="2000" dirty="0"/>
          </a:p>
          <a:p>
            <a:pPr marL="0" indent="0">
              <a:buNone/>
            </a:pPr>
            <a:r>
              <a:rPr lang="en-US" altLang="zh-CN" sz="2000" dirty="0"/>
              <a:t>	return 0;</a:t>
            </a:r>
            <a:endParaRPr lang="en-US" altLang="zh-CN" sz="2000" dirty="0"/>
          </a:p>
          <a:p>
            <a:pPr marL="0" indent="0">
              <a:buNone/>
            </a:pPr>
            <a:r>
              <a:rPr lang="en-US" altLang="zh-CN" sz="2000" dirty="0"/>
              <a:t>}</a:t>
            </a:r>
            <a:endParaRPr lang="en-US" altLang="zh-CN" sz="2000" dirty="0"/>
          </a:p>
        </p:txBody>
      </p:sp>
      <p:sp>
        <p:nvSpPr>
          <p:cNvPr id="8" name="Text Box 6"/>
          <p:cNvSpPr txBox="1">
            <a:spLocks noChangeArrowheads="1"/>
          </p:cNvSpPr>
          <p:nvPr/>
        </p:nvSpPr>
        <p:spPr bwMode="auto">
          <a:xfrm>
            <a:off x="5921799" y="4292871"/>
            <a:ext cx="1943784" cy="877163"/>
          </a:xfrm>
          <a:prstGeom prst="rect">
            <a:avLst/>
          </a:prstGeom>
          <a:solidFill>
            <a:srgbClr val="000000"/>
          </a:solidFill>
          <a:ln w="9525">
            <a:solidFill>
              <a:schemeClr val="tx1"/>
            </a:solidFill>
            <a:miter lim="800000"/>
          </a:ln>
        </p:spPr>
        <p:txBody>
          <a:bodyPr>
            <a:spAutoFit/>
          </a:bodyPr>
          <a:lstStyle>
            <a:lvl1pPr marL="457200" indent="-457200" eaLnBrk="0" hangingPunct="0">
              <a:defRPr sz="2400" b="1">
                <a:solidFill>
                  <a:schemeClr val="bg2"/>
                </a:solidFill>
                <a:latin typeface="Times New Roman" panose="02020603050405020304" pitchFamily="18" charset="0"/>
                <a:ea typeface="宋体" panose="02010600030101010101" pitchFamily="2" charset="-122"/>
              </a:defRPr>
            </a:lvl1pPr>
            <a:lvl2pPr marL="914400" indent="-457200" eaLnBrk="0" hangingPunct="0">
              <a:defRPr sz="2400" b="1">
                <a:solidFill>
                  <a:schemeClr val="bg2"/>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bg2"/>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bg2"/>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9pPr>
          </a:lstStyle>
          <a:p>
            <a:pPr algn="l" eaLnBrk="1" hangingPunct="1">
              <a:spcBef>
                <a:spcPct val="20000"/>
              </a:spcBef>
              <a:buClr>
                <a:schemeClr val="accent2"/>
              </a:buClr>
              <a:buSzPct val="80000"/>
              <a:buFont typeface="Wingdings" panose="05000000000000000000" pitchFamily="2" charset="2"/>
              <a:buNone/>
              <a:defRPr/>
            </a:pPr>
            <a:r>
              <a:rPr lang="zh-CN" altLang="en-US" sz="1500" b="0" dirty="0">
                <a:solidFill>
                  <a:schemeClr val="tx1"/>
                </a:solidFill>
                <a:latin typeface="微软雅黑" panose="020B0503020204020204" pitchFamily="34" charset="-122"/>
                <a:ea typeface="微软雅黑" panose="020B0503020204020204" pitchFamily="34" charset="-122"/>
              </a:rPr>
              <a:t>运行结果：</a:t>
            </a:r>
            <a:endParaRPr lang="zh-CN" altLang="en-US" sz="1500" b="0" dirty="0">
              <a:solidFill>
                <a:schemeClr val="tx1"/>
              </a:solidFill>
              <a:latin typeface="微软雅黑" panose="020B0503020204020204" pitchFamily="34" charset="-122"/>
              <a:ea typeface="微软雅黑" panose="020B0503020204020204" pitchFamily="34" charset="-122"/>
            </a:endParaRPr>
          </a:p>
          <a:p>
            <a:pPr lvl="1" algn="l" eaLnBrk="1" hangingPunct="1">
              <a:spcBef>
                <a:spcPct val="20000"/>
              </a:spcBef>
              <a:buClr>
                <a:schemeClr val="accent2"/>
              </a:buClr>
              <a:defRPr/>
            </a:pPr>
            <a:r>
              <a:rPr lang="en-US" altLang="zh-CN" sz="1500" b="0" dirty="0">
                <a:solidFill>
                  <a:schemeClr val="tx1"/>
                </a:solidFill>
                <a:latin typeface="微软雅黑" panose="020B0503020204020204" pitchFamily="34" charset="-122"/>
                <a:ea typeface="微软雅黑" panose="020B0503020204020204" pitchFamily="34" charset="-122"/>
              </a:rPr>
              <a:t>5</a:t>
            </a:r>
            <a:endParaRPr lang="en-US" altLang="zh-CN" sz="1500" b="0" dirty="0">
              <a:solidFill>
                <a:schemeClr val="tx1"/>
              </a:solidFill>
              <a:latin typeface="微软雅黑" panose="020B0503020204020204" pitchFamily="34" charset="-122"/>
              <a:ea typeface="微软雅黑" panose="020B0503020204020204" pitchFamily="34" charset="-122"/>
            </a:endParaRPr>
          </a:p>
          <a:p>
            <a:pPr lvl="1" algn="l" eaLnBrk="1" hangingPunct="1">
              <a:spcBef>
                <a:spcPct val="20000"/>
              </a:spcBef>
              <a:buClr>
                <a:schemeClr val="accent2"/>
              </a:buClr>
              <a:defRPr/>
            </a:pPr>
            <a:r>
              <a:rPr lang="en-US" altLang="zh-CN" sz="1500" b="0" dirty="0">
                <a:solidFill>
                  <a:schemeClr val="tx1"/>
                </a:solidFill>
                <a:latin typeface="微软雅黑" panose="020B0503020204020204" pitchFamily="34" charset="-122"/>
                <a:ea typeface="微软雅黑" panose="020B0503020204020204" pitchFamily="34" charset="-122"/>
              </a:rPr>
              <a:t>5.5</a:t>
            </a:r>
            <a:endParaRPr lang="en-US" altLang="zh-CN" sz="1500" b="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9.1.1 </a:t>
            </a:r>
            <a:r>
              <a:rPr lang="zh-CN" altLang="en-US" sz="4400" b="1">
                <a:latin typeface="Times New Roman" panose="02020603050405020304" pitchFamily="18" charset="0"/>
                <a:ea typeface="隶书" panose="02010509060101010101" pitchFamily="49" charset="-122"/>
              </a:rPr>
              <a:t>函数模板</a:t>
            </a:r>
            <a:endParaRPr lang="zh-CN" altLang="en-US" sz="4400" b="1">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a:xfrm>
            <a:off x="611560" y="1556792"/>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函数模板可以用来创建一个通用功能的函数</a:t>
            </a:r>
            <a:r>
              <a:rPr lang="zh-CN" altLang="en-US" sz="2400" b="1" dirty="0">
                <a:ea typeface="华文楷体" panose="02010600040101010101" pitchFamily="2" charset="-122"/>
              </a:rPr>
              <a:t>，以支持多种不同形参，进一步简化重载函数的函数体设计。</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定义方法：</a:t>
            </a:r>
            <a:endParaRPr lang="zh-CN" altLang="en-US" sz="2400" b="1" dirty="0">
              <a:ea typeface="华文楷体" panose="02010600040101010101" pitchFamily="2" charset="-122"/>
            </a:endParaRPr>
          </a:p>
          <a:p>
            <a:pPr marL="857250" lvl="2" indent="0">
              <a:buNone/>
            </a:pPr>
            <a:r>
              <a:rPr lang="en-US" altLang="zh-CN" b="1" dirty="0">
                <a:solidFill>
                  <a:srgbClr val="FFFF00"/>
                </a:solidFill>
                <a:ea typeface="华文楷体" panose="02010600040101010101" pitchFamily="2" charset="-122"/>
              </a:rPr>
              <a:t>template &lt;</a:t>
            </a:r>
            <a:r>
              <a:rPr lang="zh-CN" altLang="en-US" b="1" dirty="0">
                <a:solidFill>
                  <a:srgbClr val="FFFF00"/>
                </a:solidFill>
                <a:ea typeface="华文楷体" panose="02010600040101010101" pitchFamily="2" charset="-122"/>
              </a:rPr>
              <a:t>模板参数表</a:t>
            </a:r>
            <a:r>
              <a:rPr lang="en-US" altLang="zh-CN" b="1" dirty="0">
                <a:solidFill>
                  <a:srgbClr val="FFFF00"/>
                </a:solidFill>
                <a:ea typeface="华文楷体" panose="02010600040101010101" pitchFamily="2" charset="-122"/>
              </a:rPr>
              <a:t>&gt; </a:t>
            </a:r>
            <a:endParaRPr lang="en-US" altLang="zh-CN" b="1" dirty="0">
              <a:solidFill>
                <a:srgbClr val="FFFF00"/>
              </a:solidFill>
              <a:ea typeface="华文楷体" panose="02010600040101010101" pitchFamily="2" charset="-122"/>
            </a:endParaRPr>
          </a:p>
          <a:p>
            <a:pPr marL="857250" lvl="2" indent="0">
              <a:buNone/>
            </a:pPr>
            <a:r>
              <a:rPr lang="zh-CN" altLang="en-US" b="1" dirty="0">
                <a:solidFill>
                  <a:srgbClr val="FFFF00"/>
                </a:solidFill>
                <a:ea typeface="华文楷体" panose="02010600040101010101" pitchFamily="2" charset="-122"/>
              </a:rPr>
              <a:t>函数定义</a:t>
            </a:r>
            <a:endParaRPr lang="zh-CN" altLang="en-US"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模板参数表的内容</a:t>
            </a:r>
            <a:endParaRPr lang="zh-CN" altLang="en-US" sz="2400" b="1" dirty="0">
              <a:ea typeface="华文楷体" panose="02010600040101010101" pitchFamily="2" charset="-122"/>
            </a:endParaRPr>
          </a:p>
          <a:p>
            <a:pPr lvl="1"/>
            <a:r>
              <a:rPr lang="zh-CN" altLang="en-US" sz="2400" b="1" dirty="0">
                <a:ea typeface="华文楷体" panose="02010600040101010101" pitchFamily="2" charset="-122"/>
              </a:rPr>
              <a:t>类型参数：</a:t>
            </a:r>
            <a:r>
              <a:rPr lang="en-US" altLang="zh-CN" sz="2400" b="1" dirty="0">
                <a:ea typeface="华文楷体" panose="02010600040101010101" pitchFamily="2" charset="-122"/>
              </a:rPr>
              <a:t>class</a:t>
            </a:r>
            <a:r>
              <a:rPr lang="zh-CN" altLang="en-US" sz="2400" b="1" dirty="0">
                <a:ea typeface="华文楷体" panose="02010600040101010101" pitchFamily="2" charset="-122"/>
              </a:rPr>
              <a:t>（或</a:t>
            </a:r>
            <a:r>
              <a:rPr lang="en-US" altLang="zh-CN" sz="2400" b="1" dirty="0" err="1">
                <a:ea typeface="华文楷体" panose="02010600040101010101" pitchFamily="2" charset="-122"/>
              </a:rPr>
              <a:t>typename</a:t>
            </a:r>
            <a:r>
              <a:rPr lang="zh-CN" altLang="en-US" sz="2400" b="1" dirty="0">
                <a:ea typeface="华文楷体" panose="02010600040101010101" pitchFamily="2" charset="-122"/>
              </a:rPr>
              <a:t>） 标识符</a:t>
            </a:r>
            <a:endParaRPr lang="zh-CN" altLang="en-US" sz="2400" b="1" dirty="0">
              <a:ea typeface="华文楷体" panose="02010600040101010101" pitchFamily="2" charset="-122"/>
            </a:endParaRPr>
          </a:p>
          <a:p>
            <a:pPr lvl="1"/>
            <a:r>
              <a:rPr lang="zh-CN" altLang="en-US" sz="2400" b="1" dirty="0">
                <a:ea typeface="华文楷体" panose="02010600040101010101" pitchFamily="2" charset="-122"/>
              </a:rPr>
              <a:t>常量参数：类型说明符  标识符</a:t>
            </a:r>
            <a:endParaRPr lang="zh-CN" altLang="en-US" sz="2400" b="1" dirty="0">
              <a:ea typeface="华文楷体" panose="02010600040101010101" pitchFamily="2" charset="-122"/>
            </a:endParaRPr>
          </a:p>
          <a:p>
            <a:pPr lvl="1"/>
            <a:r>
              <a:rPr lang="zh-CN" altLang="en-US" sz="2400" b="1" dirty="0">
                <a:ea typeface="华文楷体" panose="02010600040101010101" pitchFamily="2" charset="-122"/>
              </a:rPr>
              <a:t>模板参数：</a:t>
            </a:r>
            <a:r>
              <a:rPr lang="en-US" altLang="zh-CN" sz="2400" b="1" dirty="0">
                <a:ea typeface="华文楷体" panose="02010600040101010101" pitchFamily="2" charset="-122"/>
              </a:rPr>
              <a:t>template &lt;</a:t>
            </a:r>
            <a:r>
              <a:rPr lang="zh-CN" altLang="en-US" sz="2400" b="1" dirty="0">
                <a:ea typeface="华文楷体" panose="02010600040101010101" pitchFamily="2" charset="-122"/>
              </a:rPr>
              <a:t>参数表</a:t>
            </a:r>
            <a:r>
              <a:rPr lang="en-US" altLang="zh-CN" sz="2400" b="1" dirty="0">
                <a:ea typeface="华文楷体" panose="02010600040101010101" pitchFamily="2" charset="-122"/>
              </a:rPr>
              <a:t>&gt; class </a:t>
            </a:r>
            <a:r>
              <a:rPr lang="zh-CN" altLang="en-US" sz="2400" b="1" dirty="0">
                <a:ea typeface="华文楷体" panose="02010600040101010101" pitchFamily="2" charset="-122"/>
              </a:rPr>
              <a:t>标识符</a:t>
            </a:r>
            <a:endParaRPr lang="zh-CN" altLang="en-US" sz="2400" b="1" dirty="0">
              <a:ea typeface="华文楷体" panose="02010600040101010101" pitchFamily="2"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7" name="标题 1"/>
          <p:cNvSpPr>
            <a:spLocks noGrp="1"/>
          </p:cNvSpPr>
          <p:nvPr>
            <p:ph type="title"/>
          </p:nvPr>
        </p:nvSpPr>
        <p:spPr/>
        <p:txBody>
          <a:bodyPr/>
          <a:lstStyle/>
          <a:p>
            <a:r>
              <a:rPr lang="zh-CN" altLang="en-US" b="1" dirty="0"/>
              <a:t>例：求绝对值函数的模板</a:t>
            </a:r>
            <a:endParaRPr kumimoji="1" lang="zh-CN" altLang="en-US" b="1" dirty="0"/>
          </a:p>
        </p:txBody>
      </p:sp>
      <p:sp>
        <p:nvSpPr>
          <p:cNvPr id="16388" name="内容占位符 2"/>
          <p:cNvSpPr>
            <a:spLocks noGrp="1"/>
          </p:cNvSpPr>
          <p:nvPr>
            <p:ph idx="1"/>
          </p:nvPr>
        </p:nvSpPr>
        <p:spPr>
          <a:xfrm>
            <a:off x="683568" y="1601123"/>
            <a:ext cx="7886700" cy="440120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FF0000"/>
                </a:solidFill>
                <a:latin typeface="Times New Roman" panose="02020603050405020304" pitchFamily="18" charset="0"/>
                <a:ea typeface="华文楷体" panose="02010600040101010101" pitchFamily="2" charset="-122"/>
              </a:rPr>
              <a:t>template&lt;</a:t>
            </a:r>
            <a:r>
              <a:rPr lang="en-US" altLang="zh-CN" sz="2000" b="1" dirty="0" err="1">
                <a:solidFill>
                  <a:srgbClr val="FF0000"/>
                </a:solidFill>
                <a:latin typeface="Times New Roman" panose="02020603050405020304" pitchFamily="18" charset="0"/>
                <a:ea typeface="华文楷体" panose="02010600040101010101" pitchFamily="2" charset="-122"/>
              </a:rPr>
              <a:t>typename</a:t>
            </a:r>
            <a:r>
              <a:rPr lang="en-US" altLang="zh-CN" sz="2000" b="1" dirty="0">
                <a:solidFill>
                  <a:srgbClr val="FF0000"/>
                </a:solidFill>
                <a:latin typeface="Times New Roman" panose="02020603050405020304" pitchFamily="18" charset="0"/>
                <a:ea typeface="华文楷体" panose="02010600040101010101" pitchFamily="2" charset="-122"/>
              </a:rPr>
              <a:t> T&gt;</a:t>
            </a:r>
            <a:endParaRPr lang="en-US" altLang="zh-CN" sz="2000" b="1" dirty="0">
              <a:solidFill>
                <a:srgbClr val="FF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 abs(T x)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x &lt; 0? -x : 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-5;</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double d = -5.5;</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abs(n)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abs(d)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 name="Text Box 6"/>
          <p:cNvSpPr txBox="1">
            <a:spLocks noChangeArrowheads="1"/>
          </p:cNvSpPr>
          <p:nvPr/>
        </p:nvSpPr>
        <p:spPr bwMode="auto">
          <a:xfrm>
            <a:off x="6156325" y="4581525"/>
            <a:ext cx="1944688" cy="1136650"/>
          </a:xfrm>
          <a:prstGeom prst="rect">
            <a:avLst/>
          </a:prstGeom>
          <a:solidFill>
            <a:srgbClr val="000000"/>
          </a:solidFill>
          <a:ln w="9525">
            <a:solidFill>
              <a:schemeClr val="tx1"/>
            </a:solidFill>
            <a:miter lim="800000"/>
          </a:ln>
        </p:spPr>
        <p:txBody>
          <a:bodyPr>
            <a:spAutoFit/>
          </a:bodyPr>
          <a:lstStyle>
            <a:lvl1pPr marL="457200" indent="-457200" eaLnBrk="0" hangingPunct="0">
              <a:defRPr sz="2400" b="1">
                <a:solidFill>
                  <a:schemeClr val="bg2"/>
                </a:solidFill>
                <a:latin typeface="Times New Roman" panose="02020603050405020304" pitchFamily="18" charset="0"/>
                <a:ea typeface="宋体" panose="02010600030101010101" pitchFamily="2" charset="-122"/>
              </a:defRPr>
            </a:lvl1pPr>
            <a:lvl2pPr marL="914400" indent="-457200" eaLnBrk="0" hangingPunct="0">
              <a:defRPr sz="2400" b="1">
                <a:solidFill>
                  <a:schemeClr val="bg2"/>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bg2"/>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bg2"/>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9pPr>
          </a:lstStyle>
          <a:p>
            <a:pPr algn="l" eaLnBrk="1" hangingPunct="1">
              <a:spcBef>
                <a:spcPct val="20000"/>
              </a:spcBef>
              <a:buClr>
                <a:schemeClr val="accent2"/>
              </a:buClr>
              <a:buSzPct val="80000"/>
              <a:buFont typeface="Wingdings" panose="05000000000000000000" pitchFamily="2" charset="2"/>
              <a:buNone/>
              <a:defRPr/>
            </a:pPr>
            <a:r>
              <a:rPr lang="zh-CN" altLang="en-US" sz="2000" dirty="0">
                <a:solidFill>
                  <a:schemeClr val="tx1"/>
                </a:solidFill>
                <a:latin typeface="+mn-lt"/>
                <a:ea typeface="华文楷体" panose="02010600040101010101" pitchFamily="2" charset="-122"/>
              </a:rPr>
              <a:t>运行结果：</a:t>
            </a:r>
            <a:endParaRPr lang="zh-CN" altLang="en-US" sz="2000" dirty="0">
              <a:solidFill>
                <a:schemeClr val="tx1"/>
              </a:solidFill>
              <a:latin typeface="+mn-lt"/>
              <a:ea typeface="华文楷体" panose="02010600040101010101" pitchFamily="2" charset="-122"/>
            </a:endParaRPr>
          </a:p>
          <a:p>
            <a:pPr lvl="1" algn="l" eaLnBrk="1" hangingPunct="1">
              <a:spcBef>
                <a:spcPct val="20000"/>
              </a:spcBef>
              <a:buClr>
                <a:schemeClr val="accent2"/>
              </a:buClr>
              <a:defRPr/>
            </a:pPr>
            <a:r>
              <a:rPr lang="en-US" altLang="zh-CN" sz="2000" dirty="0">
                <a:solidFill>
                  <a:schemeClr val="tx1"/>
                </a:solidFill>
                <a:latin typeface="+mn-lt"/>
                <a:ea typeface="华文楷体" panose="02010600040101010101" pitchFamily="2" charset="-122"/>
              </a:rPr>
              <a:t>5</a:t>
            </a:r>
            <a:endParaRPr lang="en-US" altLang="zh-CN" sz="2000" dirty="0">
              <a:solidFill>
                <a:schemeClr val="tx1"/>
              </a:solidFill>
              <a:latin typeface="+mn-lt"/>
              <a:ea typeface="华文楷体" panose="02010600040101010101" pitchFamily="2" charset="-122"/>
            </a:endParaRPr>
          </a:p>
          <a:p>
            <a:pPr lvl="1" algn="l" eaLnBrk="1" hangingPunct="1">
              <a:spcBef>
                <a:spcPct val="20000"/>
              </a:spcBef>
              <a:buClr>
                <a:schemeClr val="accent2"/>
              </a:buClr>
              <a:defRPr/>
            </a:pPr>
            <a:r>
              <a:rPr lang="en-US" altLang="zh-CN" sz="2000" dirty="0">
                <a:solidFill>
                  <a:schemeClr val="tx1"/>
                </a:solidFill>
                <a:latin typeface="+mn-lt"/>
                <a:ea typeface="华文楷体" panose="02010600040101010101" pitchFamily="2" charset="-122"/>
              </a:rPr>
              <a:t>5.5</a:t>
            </a:r>
            <a:endParaRPr lang="en-US" altLang="zh-CN" sz="2000" dirty="0">
              <a:solidFill>
                <a:schemeClr val="tx1"/>
              </a:solidFill>
              <a:latin typeface="+mn-lt"/>
              <a:ea typeface="华文楷体" panose="02010600040101010101" pitchFamily="2"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求绝对值函数的模板分析</a:t>
            </a:r>
            <a:endParaRPr lang="zh-CN" altLang="en-US" sz="4400" b="1">
              <a:latin typeface="Times New Roman" panose="02020603050405020304" pitchFamily="18" charset="0"/>
              <a:ea typeface="隶书" panose="02010509060101010101" pitchFamily="49" charset="-122"/>
            </a:endParaRPr>
          </a:p>
        </p:txBody>
      </p:sp>
      <p:sp>
        <p:nvSpPr>
          <p:cNvPr id="17411" name="内容占位符 2"/>
          <p:cNvSpPr>
            <a:spLocks noGrp="1"/>
          </p:cNvSpPr>
          <p:nvPr>
            <p:ph idx="1"/>
          </p:nvPr>
        </p:nvSpPr>
        <p:spPr>
          <a:xfrm>
            <a:off x="683568" y="1340768"/>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编译器从调用</a:t>
            </a:r>
            <a:r>
              <a:rPr lang="en-US" altLang="zh-CN" sz="2400" b="1" dirty="0">
                <a:solidFill>
                  <a:srgbClr val="FFFF00"/>
                </a:solidFill>
                <a:ea typeface="华文楷体" panose="02010600040101010101" pitchFamily="2" charset="-122"/>
              </a:rPr>
              <a:t>abs()</a:t>
            </a:r>
            <a:r>
              <a:rPr lang="zh-CN" altLang="en-US" sz="2400" b="1" dirty="0">
                <a:solidFill>
                  <a:srgbClr val="FFFF00"/>
                </a:solidFill>
                <a:ea typeface="华文楷体" panose="02010600040101010101" pitchFamily="2" charset="-122"/>
              </a:rPr>
              <a:t>时实参的类型，推导出函数模板的类型参数。</a:t>
            </a:r>
            <a:r>
              <a:rPr lang="zh-CN" altLang="en-US" sz="2400" b="1" dirty="0">
                <a:ea typeface="华文楷体" panose="02010600040101010101" pitchFamily="2" charset="-122"/>
              </a:rPr>
              <a:t>例如，对于调用表达式</a:t>
            </a:r>
            <a:r>
              <a:rPr lang="en-US" altLang="zh-CN" sz="2400" b="1" dirty="0">
                <a:ea typeface="华文楷体" panose="02010600040101010101" pitchFamily="2" charset="-122"/>
              </a:rPr>
              <a:t>abs(n)</a:t>
            </a:r>
            <a:r>
              <a:rPr lang="zh-CN" altLang="en-US" sz="2400" b="1" dirty="0">
                <a:ea typeface="华文楷体" panose="02010600040101010101" pitchFamily="2" charset="-122"/>
              </a:rPr>
              <a:t>，由于实参</a:t>
            </a:r>
            <a:r>
              <a:rPr lang="en-US" altLang="zh-CN" sz="2400" b="1" dirty="0">
                <a:ea typeface="华文楷体" panose="02010600040101010101" pitchFamily="2" charset="-122"/>
              </a:rPr>
              <a:t>n</a:t>
            </a:r>
            <a:r>
              <a:rPr lang="zh-CN" altLang="en-US" sz="2400" b="1" dirty="0">
                <a:ea typeface="华文楷体" panose="02010600040101010101" pitchFamily="2" charset="-122"/>
              </a:rPr>
              <a:t>为</a:t>
            </a:r>
            <a:r>
              <a:rPr lang="en-US" altLang="zh-CN" sz="2400" b="1" dirty="0" err="1">
                <a:ea typeface="华文楷体" panose="02010600040101010101" pitchFamily="2" charset="-122"/>
              </a:rPr>
              <a:t>int</a:t>
            </a:r>
            <a:r>
              <a:rPr lang="zh-CN" altLang="en-US" sz="2400" b="1" dirty="0">
                <a:ea typeface="华文楷体" panose="02010600040101010101" pitchFamily="2" charset="-122"/>
              </a:rPr>
              <a:t>型，所以推导出模板中类型参数</a:t>
            </a:r>
            <a:r>
              <a:rPr lang="en-US" altLang="zh-CN" sz="2400" b="1" dirty="0">
                <a:ea typeface="华文楷体" panose="02010600040101010101" pitchFamily="2" charset="-122"/>
              </a:rPr>
              <a:t>T</a:t>
            </a:r>
            <a:r>
              <a:rPr lang="zh-CN" altLang="en-US" sz="2400" b="1" dirty="0">
                <a:ea typeface="华文楷体" panose="02010600040101010101" pitchFamily="2" charset="-122"/>
              </a:rPr>
              <a:t>为</a:t>
            </a:r>
            <a:r>
              <a:rPr lang="en-US" altLang="zh-CN" sz="2400" b="1" dirty="0" err="1">
                <a:ea typeface="华文楷体" panose="02010600040101010101" pitchFamily="2" charset="-122"/>
              </a:rPr>
              <a:t>int</a:t>
            </a:r>
            <a:r>
              <a:rPr lang="zh-CN" altLang="en-US" sz="2400" b="1" dirty="0">
                <a:ea typeface="华文楷体" panose="02010600040101010101" pitchFamily="2" charset="-122"/>
              </a:rPr>
              <a:t>。</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当类型参数的含义确定后，编译器将以函数模板为样板，生成一个函数：</a:t>
            </a:r>
            <a:br>
              <a:rPr lang="zh-CN" altLang="en-US" sz="2400" b="1" dirty="0">
                <a:solidFill>
                  <a:srgbClr val="FFFF00"/>
                </a:solidFill>
                <a:ea typeface="华文楷体" panose="02010600040101010101" pitchFamily="2" charset="-122"/>
              </a:rPr>
            </a:br>
            <a:r>
              <a:rPr lang="en-US" altLang="zh-CN" sz="2400" b="1" dirty="0" err="1">
                <a:ea typeface="华文楷体" panose="02010600040101010101" pitchFamily="2" charset="-122"/>
              </a:rPr>
              <a:t>int</a:t>
            </a:r>
            <a:r>
              <a:rPr lang="en-US" altLang="zh-CN" sz="2400" b="1" dirty="0">
                <a:ea typeface="华文楷体" panose="02010600040101010101" pitchFamily="2" charset="-122"/>
              </a:rPr>
              <a:t> abs(</a:t>
            </a:r>
            <a:r>
              <a:rPr lang="en-US" altLang="zh-CN" sz="2400" b="1" dirty="0" err="1">
                <a:ea typeface="华文楷体" panose="02010600040101010101" pitchFamily="2" charset="-122"/>
              </a:rPr>
              <a:t>int</a:t>
            </a:r>
            <a:r>
              <a:rPr lang="en-US" altLang="zh-CN" sz="2400" b="1" dirty="0">
                <a:ea typeface="华文楷体" panose="02010600040101010101" pitchFamily="2" charset="-122"/>
              </a:rPr>
              <a:t> x) {</a:t>
            </a:r>
            <a:br>
              <a:rPr lang="en-US" altLang="zh-CN" sz="2400" b="1" dirty="0">
                <a:ea typeface="华文楷体" panose="02010600040101010101" pitchFamily="2" charset="-122"/>
              </a:rPr>
            </a:br>
            <a:r>
              <a:rPr lang="en-US" altLang="zh-CN" sz="2400" b="1" dirty="0">
                <a:ea typeface="华文楷体" panose="02010600040101010101" pitchFamily="2" charset="-122"/>
              </a:rPr>
              <a:t>  return x &lt; 0 ? –x : x;</a:t>
            </a:r>
            <a:br>
              <a:rPr lang="en-US" altLang="zh-CN" sz="2400" b="1" dirty="0">
                <a:ea typeface="华文楷体" panose="02010600040101010101" pitchFamily="2" charset="-122"/>
              </a:rPr>
            </a:br>
            <a:r>
              <a:rPr lang="en-US" altLang="zh-CN" sz="2400" b="1" dirty="0">
                <a:ea typeface="华文楷体" panose="02010600040101010101" pitchFamily="2" charset="-122"/>
              </a:rPr>
              <a:t>}</a:t>
            </a:r>
            <a:endParaRPr lang="en-US" altLang="zh-CN" sz="2400" b="1" dirty="0">
              <a:ea typeface="华文楷体" panose="02010600040101010101" pitchFamily="2"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标题 1"/>
          <p:cNvSpPr>
            <a:spLocks noGrp="1"/>
          </p:cNvSpPr>
          <p:nvPr>
            <p:ph type="title"/>
          </p:nvPr>
        </p:nvSpPr>
        <p:spPr>
          <a:xfrm>
            <a:off x="683568" y="260648"/>
            <a:ext cx="7886700" cy="1325563"/>
          </a:xfrm>
        </p:spPr>
        <p:txBody>
          <a:bodyPr/>
          <a:lstStyle/>
          <a:p>
            <a:r>
              <a:rPr lang="zh-CN" altLang="en-US" b="1"/>
              <a:t>例</a:t>
            </a:r>
            <a:r>
              <a:rPr lang="en-US" altLang="zh-CN" b="1"/>
              <a:t>9-1</a:t>
            </a:r>
            <a:r>
              <a:rPr lang="zh-CN" altLang="en-US" b="1"/>
              <a:t>函数模板的示例</a:t>
            </a:r>
            <a:endParaRPr lang="zh-CN" altLang="en-US" b="1"/>
          </a:p>
        </p:txBody>
      </p:sp>
      <p:sp>
        <p:nvSpPr>
          <p:cNvPr id="18435" name="内容占位符 2"/>
          <p:cNvSpPr>
            <a:spLocks noGrp="1"/>
          </p:cNvSpPr>
          <p:nvPr>
            <p:ph idx="1"/>
          </p:nvPr>
        </p:nvSpPr>
        <p:spPr>
          <a:xfrm>
            <a:off x="611560" y="1700808"/>
            <a:ext cx="7886700" cy="3785652"/>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//9_1.cpp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FF0000"/>
                </a:solidFill>
                <a:latin typeface="Times New Roman" panose="02020603050405020304" pitchFamily="18" charset="0"/>
                <a:ea typeface="华文楷体" panose="02010600040101010101" pitchFamily="2" charset="-122"/>
              </a:rPr>
              <a:t>template &lt;class T&gt;	//</a:t>
            </a:r>
            <a:r>
              <a:rPr lang="zh-CN" altLang="en-US" sz="2000" b="1" dirty="0">
                <a:solidFill>
                  <a:srgbClr val="FF0000"/>
                </a:solidFill>
                <a:latin typeface="Times New Roman" panose="02020603050405020304" pitchFamily="18" charset="0"/>
                <a:ea typeface="华文楷体" panose="02010600040101010101" pitchFamily="2" charset="-122"/>
              </a:rPr>
              <a:t>定义函数模板</a:t>
            </a:r>
            <a:endParaRPr lang="zh-CN" altLang="en-US" sz="2000" b="1" dirty="0">
              <a:solidFill>
                <a:srgbClr val="FF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outputArray</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*array,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count)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count;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FF0000"/>
                </a:solidFill>
                <a:latin typeface="Times New Roman" panose="02020603050405020304" pitchFamily="18" charset="0"/>
                <a:ea typeface="华文楷体" panose="02010600040101010101" pitchFamily="2" charset="-122"/>
              </a:rPr>
              <a:t>		</a:t>
            </a:r>
            <a:r>
              <a:rPr lang="en-US" altLang="zh-CN" sz="2000" b="1" dirty="0" err="1">
                <a:solidFill>
                  <a:srgbClr val="FF0000"/>
                </a:solidFill>
                <a:latin typeface="Times New Roman" panose="02020603050405020304" pitchFamily="18" charset="0"/>
                <a:ea typeface="华文楷体" panose="02010600040101010101" pitchFamily="2" charset="-122"/>
              </a:rPr>
              <a:t>cout</a:t>
            </a:r>
            <a:r>
              <a:rPr lang="en-US" altLang="zh-CN" sz="2000" b="1" dirty="0">
                <a:solidFill>
                  <a:srgbClr val="FF0000"/>
                </a:solidFill>
                <a:latin typeface="Times New Roman" panose="02020603050405020304" pitchFamily="18" charset="0"/>
                <a:ea typeface="华文楷体" panose="02010600040101010101" pitchFamily="2" charset="-122"/>
              </a:rPr>
              <a:t> &lt;&lt; array[</a:t>
            </a:r>
            <a:r>
              <a:rPr lang="en-US" altLang="zh-CN" sz="2000" b="1" dirty="0" err="1">
                <a:solidFill>
                  <a:srgbClr val="FF0000"/>
                </a:solidFill>
                <a:latin typeface="Times New Roman" panose="02020603050405020304" pitchFamily="18" charset="0"/>
                <a:ea typeface="华文楷体" panose="02010600040101010101" pitchFamily="2" charset="-122"/>
              </a:rPr>
              <a:t>i</a:t>
            </a:r>
            <a:r>
              <a:rPr lang="en-US" altLang="zh-CN" sz="2000" b="1" dirty="0">
                <a:solidFill>
                  <a:srgbClr val="FF0000"/>
                </a:solidFill>
                <a:latin typeface="Times New Roman" panose="02020603050405020304" pitchFamily="18" charset="0"/>
                <a:ea typeface="华文楷体" panose="02010600040101010101" pitchFamily="2" charset="-122"/>
              </a:rPr>
              <a:t>] &lt;&lt; " ";</a:t>
            </a:r>
            <a:endParaRPr lang="en-US" altLang="zh-CN" sz="2000" b="1" dirty="0">
              <a:solidFill>
                <a:srgbClr val="FF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标题 1"/>
          <p:cNvSpPr>
            <a:spLocks noGrp="1"/>
          </p:cNvSpPr>
          <p:nvPr>
            <p:ph type="title"/>
          </p:nvPr>
        </p:nvSpPr>
        <p:spPr>
          <a:xfrm>
            <a:off x="428625" y="500063"/>
            <a:ext cx="8229600" cy="1066800"/>
          </a:xfrm>
        </p:spPr>
        <p:txBody>
          <a:bodyPr/>
          <a:lstStyle/>
          <a:p>
            <a:r>
              <a:rPr lang="zh-CN" altLang="en-US" b="1"/>
              <a:t>例</a:t>
            </a:r>
            <a:r>
              <a:rPr lang="en-US" altLang="zh-CN" b="1"/>
              <a:t>9-1</a:t>
            </a:r>
            <a:r>
              <a:rPr lang="zh-CN" altLang="en-US" b="1"/>
              <a:t>（续）</a:t>
            </a:r>
            <a:endParaRPr lang="zh-CN" altLang="en-US" b="1"/>
          </a:p>
        </p:txBody>
      </p:sp>
      <p:sp>
        <p:nvSpPr>
          <p:cNvPr id="19459" name="内容占位符 2"/>
          <p:cNvSpPr>
            <a:spLocks noGrp="1"/>
          </p:cNvSpPr>
          <p:nvPr>
            <p:ph idx="1"/>
          </p:nvPr>
        </p:nvSpPr>
        <p:spPr>
          <a:xfrm>
            <a:off x="457200" y="1571625"/>
            <a:ext cx="8229600" cy="470898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	 //</a:t>
            </a:r>
            <a:r>
              <a:rPr lang="zh-CN" altLang="en-US" sz="2000" b="1" dirty="0">
                <a:solidFill>
                  <a:srgbClr val="000000"/>
                </a:solidFill>
                <a:latin typeface="Times New Roman" panose="02020603050405020304" pitchFamily="18" charset="0"/>
                <a:ea typeface="华文楷体" panose="02010600040101010101" pitchFamily="2" charset="-122"/>
              </a:rPr>
              <a:t>主函数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A_COUNT = 8, B_COUNT = 8, C_COUNT = 20;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 [A_COUNT] = { 1, 2, 3, 4, 5, 6, 7, 8 };	//</a:t>
            </a:r>
            <a:r>
              <a:rPr lang="zh-CN" altLang="en-US" sz="2000" b="1" dirty="0">
                <a:solidFill>
                  <a:srgbClr val="000000"/>
                </a:solidFill>
                <a:latin typeface="Times New Roman" panose="02020603050405020304" pitchFamily="18" charset="0"/>
                <a:ea typeface="华文楷体" panose="02010600040101010101" pitchFamily="2" charset="-122"/>
              </a:rPr>
              <a:t>定义</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zh-CN" altLang="en-US" sz="2000" b="1" dirty="0">
                <a:solidFill>
                  <a:srgbClr val="000000"/>
                </a:solidFill>
                <a:latin typeface="Times New Roman" panose="02020603050405020304" pitchFamily="18" charset="0"/>
                <a:ea typeface="华文楷体" panose="02010600040101010101" pitchFamily="2" charset="-122"/>
              </a:rPr>
              <a:t>数组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定义</a:t>
            </a:r>
            <a:r>
              <a:rPr lang="en-US" altLang="zh-CN" sz="2000" b="1" dirty="0">
                <a:solidFill>
                  <a:srgbClr val="000000"/>
                </a:solidFill>
                <a:latin typeface="Times New Roman" panose="02020603050405020304" pitchFamily="18" charset="0"/>
                <a:ea typeface="华文楷体" panose="02010600040101010101" pitchFamily="2" charset="-122"/>
              </a:rPr>
              <a:t>double</a:t>
            </a:r>
            <a:r>
              <a:rPr lang="zh-CN" altLang="en-US" sz="2000" b="1" dirty="0">
                <a:solidFill>
                  <a:srgbClr val="000000"/>
                </a:solidFill>
                <a:latin typeface="Times New Roman" panose="02020603050405020304" pitchFamily="18" charset="0"/>
                <a:ea typeface="华文楷体" panose="02010600040101010101" pitchFamily="2" charset="-122"/>
              </a:rPr>
              <a:t>数组</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double b[B_COUNT] = { 1.1, 2.2, 3.3, 4.4, 5.5, 6.6, 7.7, 8.8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char c[C_COUNT] = "Welcome to see you!";//</a:t>
            </a:r>
            <a:r>
              <a:rPr lang="zh-CN" altLang="en-US" sz="2000" b="1" dirty="0">
                <a:solidFill>
                  <a:srgbClr val="000000"/>
                </a:solidFill>
                <a:latin typeface="Times New Roman" panose="02020603050405020304" pitchFamily="18" charset="0"/>
                <a:ea typeface="华文楷体" panose="02010600040101010101" pitchFamily="2" charset="-122"/>
              </a:rPr>
              <a:t>定义</a:t>
            </a:r>
            <a:r>
              <a:rPr lang="en-US" altLang="zh-CN" sz="2000" b="1" dirty="0">
                <a:solidFill>
                  <a:srgbClr val="000000"/>
                </a:solidFill>
                <a:latin typeface="Times New Roman" panose="02020603050405020304" pitchFamily="18" charset="0"/>
                <a:ea typeface="华文楷体" panose="02010600040101010101" pitchFamily="2" charset="-122"/>
              </a:rPr>
              <a:t>char</a:t>
            </a:r>
            <a:r>
              <a:rPr lang="zh-CN" altLang="en-US" sz="2000" b="1" dirty="0">
                <a:solidFill>
                  <a:srgbClr val="000000"/>
                </a:solidFill>
                <a:latin typeface="Times New Roman" panose="02020603050405020304" pitchFamily="18" charset="0"/>
                <a:ea typeface="华文楷体" panose="02010600040101010101" pitchFamily="2" charset="-122"/>
              </a:rPr>
              <a:t>数组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 a array contains:"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outputArray</a:t>
            </a:r>
            <a:r>
              <a:rPr lang="en-US" altLang="zh-CN" sz="2000" b="1" dirty="0">
                <a:solidFill>
                  <a:srgbClr val="000000"/>
                </a:solidFill>
                <a:latin typeface="Times New Roman" panose="02020603050405020304" pitchFamily="18" charset="0"/>
                <a:ea typeface="华文楷体" panose="02010600040101010101" pitchFamily="2" charset="-122"/>
              </a:rPr>
              <a:t>(a, A_COUNT);	//</a:t>
            </a:r>
            <a:r>
              <a:rPr lang="zh-CN" altLang="en-US" sz="2000" b="1" dirty="0">
                <a:solidFill>
                  <a:srgbClr val="000000"/>
                </a:solidFill>
                <a:latin typeface="Times New Roman" panose="02020603050405020304" pitchFamily="18" charset="0"/>
                <a:ea typeface="华文楷体" panose="02010600040101010101" pitchFamily="2" charset="-122"/>
              </a:rPr>
              <a:t>调用函数模板</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 b array contains:"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outputArray</a:t>
            </a:r>
            <a:r>
              <a:rPr lang="en-US" altLang="zh-CN" sz="2000" b="1" dirty="0">
                <a:solidFill>
                  <a:srgbClr val="000000"/>
                </a:solidFill>
                <a:latin typeface="Times New Roman" panose="02020603050405020304" pitchFamily="18" charset="0"/>
                <a:ea typeface="华文楷体" panose="02010600040101010101" pitchFamily="2" charset="-122"/>
              </a:rPr>
              <a:t>(b, B_COUNT);	//</a:t>
            </a:r>
            <a:r>
              <a:rPr lang="zh-CN" altLang="en-US" sz="2000" b="1" dirty="0">
                <a:solidFill>
                  <a:srgbClr val="000000"/>
                </a:solidFill>
                <a:latin typeface="Times New Roman" panose="02020603050405020304" pitchFamily="18" charset="0"/>
                <a:ea typeface="华文楷体" panose="02010600040101010101" pitchFamily="2" charset="-122"/>
              </a:rPr>
              <a:t>调用函数模板</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 c array contains:"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outputArray</a:t>
            </a:r>
            <a:r>
              <a:rPr lang="en-US" altLang="zh-CN" sz="2000" b="1" dirty="0">
                <a:solidFill>
                  <a:srgbClr val="000000"/>
                </a:solidFill>
                <a:latin typeface="Times New Roman" panose="02020603050405020304" pitchFamily="18" charset="0"/>
                <a:ea typeface="华文楷体" panose="02010600040101010101" pitchFamily="2" charset="-122"/>
              </a:rPr>
              <a:t>(c, C_COUNT);	//</a:t>
            </a:r>
            <a:r>
              <a:rPr lang="zh-CN" altLang="en-US" sz="2000" b="1" dirty="0">
                <a:solidFill>
                  <a:srgbClr val="000000"/>
                </a:solidFill>
                <a:latin typeface="Times New Roman" panose="02020603050405020304" pitchFamily="18" charset="0"/>
                <a:ea typeface="华文楷体" panose="02010600040101010101" pitchFamily="2" charset="-122"/>
              </a:rPr>
              <a:t>调用函数模板</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b="1"/>
              <a:t>例</a:t>
            </a:r>
            <a:r>
              <a:rPr lang="en-US" altLang="zh-CN" b="1"/>
              <a:t>9-1</a:t>
            </a:r>
            <a:r>
              <a:rPr lang="zh-CN" altLang="en-US" b="1"/>
              <a:t>（续）</a:t>
            </a:r>
            <a:endParaRPr lang="zh-CN" altLang="en-US" b="1"/>
          </a:p>
        </p:txBody>
      </p:sp>
      <p:sp>
        <p:nvSpPr>
          <p:cNvPr id="3" name="内容占位符 2"/>
          <p:cNvSpPr>
            <a:spLocks noGrp="1"/>
          </p:cNvSpPr>
          <p:nvPr>
            <p:ph idx="1"/>
          </p:nvPr>
        </p:nvSpPr>
        <p:spPr>
          <a:xfrm>
            <a:off x="628650" y="1825625"/>
            <a:ext cx="7886700" cy="3046988"/>
          </a:xfrm>
          <a:solidFill>
            <a:srgbClr val="000000"/>
          </a:solidFill>
          <a:ln>
            <a:noFill/>
          </a:ln>
        </p:spPr>
        <p:txBody>
          <a:bodyPr wrap="square">
            <a:spAutoFit/>
          </a:bodyPr>
          <a:lstStyle/>
          <a:p>
            <a:pPr marL="0" indent="0">
              <a:spcBef>
                <a:spcPct val="0"/>
              </a:spcBef>
              <a:buNone/>
            </a:pPr>
            <a:r>
              <a:rPr lang="zh-CN" altLang="en-US" sz="2400" b="1" dirty="0">
                <a:latin typeface="Times New Roman" panose="02020603050405020304" pitchFamily="18" charset="0"/>
                <a:ea typeface="隶书" panose="02010509060101010101" pitchFamily="49" charset="-122"/>
              </a:rPr>
              <a:t>运行结果如下：</a:t>
            </a:r>
            <a:endParaRPr lang="en-US"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a array contains:</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1 2 3 4 5 6 7 8</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b array contains:</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1.1 2.2 3.3 4.4 5.5 6.6 7.7 8.8 </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c array contains:</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r>
              <a:rPr lang="pt-BR" altLang="zh-CN" sz="2400" b="1" dirty="0">
                <a:latin typeface="Times New Roman" panose="02020603050405020304" pitchFamily="18" charset="0"/>
                <a:ea typeface="隶书" panose="02010509060101010101" pitchFamily="49" charset="-122"/>
              </a:rPr>
              <a:t>W e l c o m e   t o   s e e   y o u !</a:t>
            </a:r>
            <a:endParaRPr lang="pt-BR" altLang="zh-CN" sz="2400" b="1" dirty="0">
              <a:latin typeface="Times New Roman" panose="02020603050405020304" pitchFamily="18" charset="0"/>
              <a:ea typeface="隶书" panose="02010509060101010101" pitchFamily="49" charset="-122"/>
            </a:endParaRPr>
          </a:p>
          <a:p>
            <a:pPr marL="0" indent="0">
              <a:spcBef>
                <a:spcPct val="0"/>
              </a:spcBef>
              <a:buNone/>
            </a:pPr>
            <a:endParaRPr lang="zh-CN" altLang="en-US" sz="2400" b="1"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9.1.2 </a:t>
            </a:r>
            <a:r>
              <a:rPr lang="zh-CN" altLang="en-US" sz="4400" b="1">
                <a:latin typeface="Times New Roman" panose="02020603050405020304" pitchFamily="18" charset="0"/>
                <a:ea typeface="隶书" panose="02010509060101010101" pitchFamily="49" charset="-122"/>
              </a:rPr>
              <a:t>类模板</a:t>
            </a:r>
            <a:endParaRPr lang="zh-CN" altLang="en-US" sz="4400" b="1">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类模板的作用：</a:t>
            </a:r>
            <a:r>
              <a:rPr lang="zh-CN" altLang="en-US" sz="2400" b="1" dirty="0">
                <a:ea typeface="华文楷体" panose="02010600040101010101" pitchFamily="2" charset="-122"/>
              </a:rPr>
              <a:t>使用类模板使用户可以为类声明一种模式，使得类中的某些数据成员、某些成员函数的参数、某些成员函数的返回值，能取任意类型（包括基本类型的和用户自定义类型）。</a:t>
            </a:r>
            <a:endParaRPr lang="zh-CN" altLang="en-US" sz="2400" b="1" dirty="0">
              <a:ea typeface="华文楷体" panose="02010600040101010101" pitchFamily="2" charset="-122"/>
            </a:endParaRPr>
          </a:p>
          <a:p>
            <a:pPr lvl="1">
              <a:lnSpc>
                <a:spcPct val="150000"/>
              </a:lnSpc>
            </a:pPr>
            <a:endParaRPr lang="zh-CN" altLang="en-US" sz="2400" b="1" dirty="0">
              <a:ea typeface="华文楷体" panose="02010600040101010101" pitchFamily="2" charset="-122"/>
            </a:endParaRPr>
          </a:p>
          <a:p>
            <a:pPr lvl="1">
              <a:lnSpc>
                <a:spcPct val="150000"/>
              </a:lnSpc>
            </a:pPr>
            <a:endParaRPr lang="en-US" altLang="zh-CN" sz="2400" b="1" dirty="0">
              <a:ea typeface="华文楷体" panose="02010600040101010101" pitchFamily="2"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类模板的声明</a:t>
            </a:r>
            <a:endParaRPr lang="zh-CN" altLang="en-US" sz="4400" b="1">
              <a:latin typeface="Times New Roman" panose="02020603050405020304" pitchFamily="18" charset="0"/>
              <a:ea typeface="隶书" panose="02010509060101010101" pitchFamily="49" charset="-122"/>
            </a:endParaRPr>
          </a:p>
        </p:txBody>
      </p:sp>
      <p:sp>
        <p:nvSpPr>
          <p:cNvPr id="22531" name="内容占位符 2"/>
          <p:cNvSpPr>
            <a:spLocks noGrp="1"/>
          </p:cNvSpPr>
          <p:nvPr>
            <p:ph idx="1"/>
          </p:nvPr>
        </p:nvSpPr>
        <p:spPr>
          <a:xfrm>
            <a:off x="683568" y="1268760"/>
            <a:ext cx="8136904" cy="4351338"/>
          </a:xfrm>
        </p:spPr>
        <p:txBody>
          <a:bodyPr/>
          <a:lstStyle/>
          <a:p>
            <a:pPr>
              <a:lnSpc>
                <a:spcPct val="150000"/>
              </a:lnSpc>
              <a:spcAft>
                <a:spcPct val="25000"/>
              </a:spcAft>
            </a:pPr>
            <a:r>
              <a:rPr lang="zh-CN" altLang="en-US" sz="2400" b="1" dirty="0">
                <a:ea typeface="华文楷体" panose="02010600040101010101" pitchFamily="2" charset="-122"/>
              </a:rPr>
              <a:t>类模板：</a:t>
            </a:r>
            <a:endParaRPr lang="zh-CN" altLang="en-US" sz="2400" b="1" dirty="0">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	template &lt;</a:t>
            </a:r>
            <a:r>
              <a:rPr lang="zh-CN" altLang="en-US" sz="2400" b="1" dirty="0">
                <a:solidFill>
                  <a:srgbClr val="FFFF00"/>
                </a:solidFill>
                <a:ea typeface="华文楷体" panose="02010600040101010101" pitchFamily="2" charset="-122"/>
              </a:rPr>
              <a:t>模板参数表</a:t>
            </a:r>
            <a:r>
              <a:rPr lang="en-US" altLang="zh-CN" sz="2400" b="1" dirty="0">
                <a:solidFill>
                  <a:srgbClr val="FFFF00"/>
                </a:solidFill>
                <a:ea typeface="华文楷体" panose="02010600040101010101" pitchFamily="2" charset="-122"/>
              </a:rPr>
              <a:t>&gt;</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	class </a:t>
            </a:r>
            <a:r>
              <a:rPr lang="zh-CN" altLang="en-US" sz="2400" b="1" dirty="0">
                <a:solidFill>
                  <a:srgbClr val="FFFF00"/>
                </a:solidFill>
                <a:ea typeface="华文楷体" panose="02010600040101010101" pitchFamily="2" charset="-122"/>
              </a:rPr>
              <a:t>类名</a:t>
            </a:r>
            <a:endParaRPr lang="zh-CN" altLang="en-US"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类成员声明</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marL="457200" lvl="1" indent="0">
              <a:buNone/>
            </a:pP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如果需要在类模板以外定义其成员函数，则要采用以下的形式：</a:t>
            </a:r>
            <a:endParaRPr lang="zh-CN" altLang="en-US" sz="2400" b="1" dirty="0">
              <a:ea typeface="华文楷体" panose="02010600040101010101" pitchFamily="2" charset="-122"/>
            </a:endParaRPr>
          </a:p>
          <a:p>
            <a:pPr marL="857250" lvl="2" indent="0">
              <a:buNone/>
            </a:pPr>
            <a:r>
              <a:rPr lang="en-US" altLang="zh-CN" b="1" dirty="0">
                <a:solidFill>
                  <a:srgbClr val="FFFF00"/>
                </a:solidFill>
                <a:ea typeface="华文楷体" panose="02010600040101010101" pitchFamily="2" charset="-122"/>
              </a:rPr>
              <a:t>template &lt;</a:t>
            </a:r>
            <a:r>
              <a:rPr lang="zh-CN" altLang="en-US" b="1" dirty="0">
                <a:solidFill>
                  <a:srgbClr val="FFFF00"/>
                </a:solidFill>
                <a:ea typeface="华文楷体" panose="02010600040101010101" pitchFamily="2" charset="-122"/>
              </a:rPr>
              <a:t>模板参数表</a:t>
            </a:r>
            <a:r>
              <a:rPr lang="en-US" altLang="zh-CN" b="1" dirty="0">
                <a:solidFill>
                  <a:srgbClr val="FFFF00"/>
                </a:solidFill>
                <a:ea typeface="华文楷体" panose="02010600040101010101" pitchFamily="2" charset="-122"/>
              </a:rPr>
              <a:t>&gt;</a:t>
            </a:r>
            <a:endParaRPr lang="en-US" altLang="zh-CN" b="1" dirty="0">
              <a:solidFill>
                <a:srgbClr val="FFFF00"/>
              </a:solidFill>
              <a:ea typeface="华文楷体" panose="02010600040101010101" pitchFamily="2" charset="-122"/>
            </a:endParaRPr>
          </a:p>
          <a:p>
            <a:pPr marL="857250" lvl="2" indent="0">
              <a:buNone/>
            </a:pPr>
            <a:r>
              <a:rPr lang="zh-CN" altLang="en-US" b="1" dirty="0">
                <a:solidFill>
                  <a:srgbClr val="FFFF00"/>
                </a:solidFill>
                <a:ea typeface="华文楷体" panose="02010600040101010101" pitchFamily="2" charset="-122"/>
              </a:rPr>
              <a:t>类型名 类名</a:t>
            </a:r>
            <a:r>
              <a:rPr lang="en-US" altLang="zh-CN" b="1" dirty="0">
                <a:solidFill>
                  <a:srgbClr val="FFFF00"/>
                </a:solidFill>
                <a:ea typeface="华文楷体" panose="02010600040101010101" pitchFamily="2" charset="-122"/>
              </a:rPr>
              <a:t>&lt;</a:t>
            </a:r>
            <a:r>
              <a:rPr lang="zh-CN" altLang="en-US" b="1" dirty="0">
                <a:solidFill>
                  <a:srgbClr val="FFFF00"/>
                </a:solidFill>
                <a:ea typeface="华文楷体" panose="02010600040101010101" pitchFamily="2" charset="-122"/>
              </a:rPr>
              <a:t>模板参数标识符列表</a:t>
            </a:r>
            <a:r>
              <a:rPr lang="en-US" altLang="zh-CN" b="1" dirty="0">
                <a:solidFill>
                  <a:srgbClr val="FFFF00"/>
                </a:solidFill>
                <a:ea typeface="华文楷体" panose="02010600040101010101" pitchFamily="2" charset="-122"/>
              </a:rPr>
              <a:t>&gt;::</a:t>
            </a:r>
            <a:r>
              <a:rPr lang="zh-CN" altLang="en-US" b="1" dirty="0">
                <a:solidFill>
                  <a:srgbClr val="FFFF00"/>
                </a:solidFill>
                <a:ea typeface="华文楷体" panose="02010600040101010101" pitchFamily="2" charset="-122"/>
              </a:rPr>
              <a:t>函数名（参数表）</a:t>
            </a:r>
            <a:endParaRPr lang="zh-CN" altLang="en-US" b="1" dirty="0">
              <a:solidFill>
                <a:srgbClr val="FFFF00"/>
              </a:solidFill>
              <a:ea typeface="华文楷体" panose="0201060004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模板的默认实参</a:t>
            </a:r>
            <a:endParaRPr lang="zh-CN" altLang="en-US" b="1" dirty="0"/>
          </a:p>
        </p:txBody>
      </p:sp>
      <p:sp>
        <p:nvSpPr>
          <p:cNvPr id="3" name="内容占位符 2"/>
          <p:cNvSpPr>
            <a:spLocks noGrp="1"/>
          </p:cNvSpPr>
          <p:nvPr>
            <p:ph idx="1"/>
          </p:nvPr>
        </p:nvSpPr>
        <p:spPr>
          <a:xfrm>
            <a:off x="539552" y="1844824"/>
            <a:ext cx="8229838" cy="3339857"/>
          </a:xfrm>
        </p:spPr>
        <p:txBody>
          <a:bodyPr/>
          <a:lstStyle/>
          <a:p>
            <a:pPr marL="81915" indent="0">
              <a:buNone/>
            </a:pPr>
            <a:r>
              <a:rPr lang="zh-CN" altLang="en-US" sz="2000" b="1" dirty="0">
                <a:ea typeface="华文楷体" panose="02010600040101010101" pitchFamily="2" charset="-122"/>
              </a:rPr>
              <a:t>类似于函数形参可有默认实参，函数</a:t>
            </a:r>
            <a:r>
              <a:rPr lang="en-US" altLang="zh-CN" sz="2000" b="1" dirty="0">
                <a:ea typeface="华文楷体" panose="02010600040101010101" pitchFamily="2" charset="-122"/>
              </a:rPr>
              <a:t>/</a:t>
            </a:r>
            <a:r>
              <a:rPr lang="zh-CN" altLang="en-US" sz="2000" b="1" dirty="0">
                <a:ea typeface="华文楷体" panose="02010600040101010101" pitchFamily="2" charset="-122"/>
              </a:rPr>
              <a:t>类模板可有默认模板实参：</a:t>
            </a:r>
            <a:endParaRPr lang="zh-CN" altLang="en-US" sz="20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template &lt;</a:t>
            </a:r>
            <a:r>
              <a:rPr lang="en-US" altLang="zh-CN" sz="1800" b="1" dirty="0" err="1">
                <a:ea typeface="华文楷体" panose="02010600040101010101" pitchFamily="2" charset="-122"/>
              </a:rPr>
              <a:t>typename</a:t>
            </a:r>
            <a:r>
              <a:rPr lang="en-US" altLang="zh-CN" sz="1800" b="1" dirty="0">
                <a:ea typeface="华文楷体" panose="02010600040101010101" pitchFamily="2" charset="-122"/>
              </a:rPr>
              <a:t> T = double&gt;</a:t>
            </a:r>
            <a:endParaRPr lang="en-US"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class Point{</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public:</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	Point(T _x = 0, T _y = 0): x(_x), y(_y){}</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private:</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            T x;</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            T y;</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a:t>
            </a:r>
            <a:endParaRPr lang="en-US" altLang="zh-CN" sz="1800" b="1" dirty="0">
              <a:ea typeface="华文楷体" panose="02010600040101010101" pitchFamily="2" charset="-122"/>
            </a:endParaRPr>
          </a:p>
          <a:p>
            <a:pPr marL="300990" lvl="1" indent="0">
              <a:spcBef>
                <a:spcPts val="0"/>
              </a:spcBef>
              <a:buNone/>
            </a:pPr>
            <a:endParaRPr lang="en-US" altLang="zh-CN" sz="1800" b="1" dirty="0">
              <a:ea typeface="华文楷体" panose="02010600040101010101" pitchFamily="2" charset="-122"/>
            </a:endParaRPr>
          </a:p>
          <a:p>
            <a:pPr marL="81915" indent="0">
              <a:spcBef>
                <a:spcPts val="0"/>
              </a:spcBef>
              <a:buNone/>
            </a:pPr>
            <a:r>
              <a:rPr lang="zh-CN" altLang="en-US" sz="2000" b="1" dirty="0">
                <a:ea typeface="华文楷体" panose="02010600040101010101" pitchFamily="2" charset="-122"/>
              </a:rPr>
              <a:t>使用模板：</a:t>
            </a:r>
            <a:endParaRPr lang="zh-CN" altLang="zh-CN" sz="20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Point&lt;int&gt; point();	//</a:t>
            </a:r>
            <a:r>
              <a:rPr lang="zh-CN" altLang="zh-CN" sz="1800" b="1" dirty="0">
                <a:ea typeface="华文楷体" panose="02010600040101010101" pitchFamily="2" charset="-122"/>
              </a:rPr>
              <a:t>给定模板参数</a:t>
            </a:r>
            <a:r>
              <a:rPr lang="en-US" altLang="zh-CN" sz="1800" b="1" dirty="0">
                <a:ea typeface="华文楷体" panose="02010600040101010101" pitchFamily="2" charset="-122"/>
              </a:rPr>
              <a:t>int</a:t>
            </a:r>
            <a:r>
              <a:rPr lang="zh-CN" altLang="zh-CN" sz="1800" b="1" dirty="0">
                <a:ea typeface="华文楷体" panose="02010600040101010101" pitchFamily="2" charset="-122"/>
              </a:rPr>
              <a:t>，定义整数点对象</a:t>
            </a:r>
            <a:r>
              <a:rPr lang="en-US" altLang="zh-CN" sz="1800" b="1" dirty="0">
                <a:ea typeface="华文楷体" panose="02010600040101010101" pitchFamily="2" charset="-122"/>
              </a:rPr>
              <a:t>(0, 0)</a:t>
            </a:r>
            <a:endParaRPr lang="zh-CN" altLang="zh-CN" sz="1800" b="1" dirty="0">
              <a:ea typeface="华文楷体" panose="02010600040101010101" pitchFamily="2" charset="-122"/>
            </a:endParaRPr>
          </a:p>
          <a:p>
            <a:pPr marL="300990" lvl="1" indent="0">
              <a:spcBef>
                <a:spcPts val="0"/>
              </a:spcBef>
              <a:buNone/>
            </a:pPr>
            <a:r>
              <a:rPr lang="en-US" altLang="zh-CN" sz="1800" b="1" dirty="0">
                <a:ea typeface="华文楷体" panose="02010600040101010101" pitchFamily="2" charset="-122"/>
              </a:rPr>
              <a:t>Point&lt;&gt; point();	//</a:t>
            </a:r>
            <a:r>
              <a:rPr lang="zh-CN" altLang="zh-CN" sz="1800" b="1" dirty="0">
                <a:ea typeface="华文楷体" panose="02010600040101010101" pitchFamily="2" charset="-122"/>
              </a:rPr>
              <a:t>模板参数列表</a:t>
            </a:r>
            <a:r>
              <a:rPr lang="en-US" altLang="zh-CN" sz="1800" b="1" dirty="0">
                <a:ea typeface="华文楷体" panose="02010600040101010101" pitchFamily="2" charset="-122"/>
              </a:rPr>
              <a:t>&lt;&gt;</a:t>
            </a:r>
            <a:r>
              <a:rPr lang="zh-CN" altLang="zh-CN" sz="1800" b="1" dirty="0">
                <a:ea typeface="华文楷体" panose="02010600040101010101" pitchFamily="2" charset="-122"/>
              </a:rPr>
              <a:t>为空，默认</a:t>
            </a:r>
            <a:r>
              <a:rPr lang="en-US" altLang="zh-CN" sz="1800" b="1" dirty="0">
                <a:ea typeface="华文楷体" panose="02010600040101010101" pitchFamily="2" charset="-122"/>
              </a:rPr>
              <a:t>double</a:t>
            </a:r>
            <a:r>
              <a:rPr lang="zh-CN" altLang="zh-CN" sz="1800" b="1" dirty="0">
                <a:ea typeface="华文楷体" panose="02010600040101010101" pitchFamily="2" charset="-122"/>
              </a:rPr>
              <a:t>类型初始化 </a:t>
            </a:r>
            <a:endParaRPr lang="zh-CN" altLang="en-US" sz="1800" b="1" dirty="0">
              <a:ea typeface="华文楷体" panose="0201060004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标题 1"/>
          <p:cNvSpPr>
            <a:spLocks noGrp="1"/>
          </p:cNvSpPr>
          <p:nvPr>
            <p:ph type="title"/>
          </p:nvPr>
        </p:nvSpPr>
        <p:spPr>
          <a:xfrm>
            <a:off x="457200" y="260350"/>
            <a:ext cx="8229600" cy="1066800"/>
          </a:xfrm>
        </p:spPr>
        <p:txBody>
          <a:bodyPr/>
          <a:lstStyle/>
          <a:p>
            <a:r>
              <a:rPr lang="zh-CN" altLang="en-US" b="1" dirty="0"/>
              <a:t>例</a:t>
            </a:r>
            <a:r>
              <a:rPr lang="en-US" altLang="zh-CN" b="1" dirty="0"/>
              <a:t>9-2 </a:t>
            </a:r>
            <a:r>
              <a:rPr lang="zh-CN" altLang="en-US" b="1" dirty="0"/>
              <a:t>类模板示例</a:t>
            </a:r>
            <a:endParaRPr kumimoji="1" lang="zh-CN" altLang="en-US" b="1" dirty="0"/>
          </a:p>
        </p:txBody>
      </p:sp>
      <p:sp>
        <p:nvSpPr>
          <p:cNvPr id="23555" name="内容占位符 2"/>
          <p:cNvSpPr>
            <a:spLocks noGrp="1"/>
          </p:cNvSpPr>
          <p:nvPr>
            <p:ph idx="1"/>
          </p:nvPr>
        </p:nvSpPr>
        <p:spPr>
          <a:xfrm>
            <a:off x="457200" y="1268413"/>
            <a:ext cx="82296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cstdlib</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struct</a:t>
            </a:r>
            <a:r>
              <a:rPr lang="en-US" altLang="zh-CN" sz="2000" b="1" dirty="0">
                <a:solidFill>
                  <a:srgbClr val="000000"/>
                </a:solidFill>
                <a:latin typeface="Times New Roman" panose="02020603050405020304" pitchFamily="18" charset="0"/>
                <a:ea typeface="华文楷体" panose="02010600040101010101" pitchFamily="2" charset="-122"/>
              </a:rPr>
              <a:t> Student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id;  				//</a:t>
            </a:r>
            <a:r>
              <a:rPr lang="zh-CN" altLang="en-US" sz="2000" b="1" dirty="0">
                <a:solidFill>
                  <a:srgbClr val="000000"/>
                </a:solidFill>
                <a:latin typeface="Times New Roman" panose="02020603050405020304" pitchFamily="18" charset="0"/>
                <a:ea typeface="华文楷体" panose="02010600040101010101" pitchFamily="2" charset="-122"/>
              </a:rPr>
              <a:t>学号</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float </a:t>
            </a:r>
            <a:r>
              <a:rPr lang="en-US" altLang="zh-CN" sz="2000" b="1" dirty="0" err="1">
                <a:solidFill>
                  <a:srgbClr val="000000"/>
                </a:solidFill>
                <a:latin typeface="Times New Roman" panose="02020603050405020304" pitchFamily="18" charset="0"/>
                <a:ea typeface="华文楷体" panose="02010600040101010101" pitchFamily="2" charset="-122"/>
              </a:rPr>
              <a:t>gpa</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平均分</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Store {		//</a:t>
            </a:r>
            <a:r>
              <a:rPr lang="zh-CN" altLang="en-US" sz="2000" b="1" dirty="0">
                <a:solidFill>
                  <a:srgbClr val="000000"/>
                </a:solidFill>
                <a:latin typeface="Times New Roman" panose="02020603050405020304" pitchFamily="18" charset="0"/>
                <a:ea typeface="华文楷体" panose="02010600040101010101" pitchFamily="2" charset="-122"/>
              </a:rPr>
              <a:t>类模板：实现对任意类型数据进行存取</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item;			// item</a:t>
            </a:r>
            <a:r>
              <a:rPr lang="zh-CN" altLang="en-US" sz="2000" b="1" dirty="0">
                <a:solidFill>
                  <a:srgbClr val="000000"/>
                </a:solidFill>
                <a:latin typeface="Times New Roman" panose="02020603050405020304" pitchFamily="18" charset="0"/>
                <a:ea typeface="华文楷体" panose="02010600040101010101" pitchFamily="2" charset="-122"/>
              </a:rPr>
              <a:t>用于存放任意类型的数据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bool </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zh-CN" altLang="en-US" sz="2000" b="1" dirty="0">
                <a:solidFill>
                  <a:srgbClr val="000000"/>
                </a:solidFill>
                <a:latin typeface="Times New Roman" panose="02020603050405020304" pitchFamily="18" charset="0"/>
                <a:ea typeface="华文楷体" panose="02010600040101010101" pitchFamily="2" charset="-122"/>
              </a:rPr>
              <a:t>标记</a:t>
            </a:r>
            <a:r>
              <a:rPr lang="en-US" altLang="zh-CN" sz="2000" b="1" dirty="0">
                <a:solidFill>
                  <a:srgbClr val="000000"/>
                </a:solidFill>
                <a:latin typeface="Times New Roman" panose="02020603050405020304" pitchFamily="18" charset="0"/>
                <a:ea typeface="华文楷体" panose="02010600040101010101" pitchFamily="2" charset="-122"/>
              </a:rPr>
              <a:t>item</a:t>
            </a:r>
            <a:r>
              <a:rPr lang="zh-CN" altLang="en-US" sz="2000" b="1" dirty="0">
                <a:solidFill>
                  <a:srgbClr val="000000"/>
                </a:solidFill>
                <a:latin typeface="Times New Roman" panose="02020603050405020304" pitchFamily="18" charset="0"/>
                <a:ea typeface="华文楷体" panose="02010600040101010101" pitchFamily="2" charset="-122"/>
              </a:rPr>
              <a:t>是否已被存入内容</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Store();			// </a:t>
            </a:r>
            <a:r>
              <a:rPr lang="zh-CN" altLang="en-US" sz="2000" b="1" dirty="0">
                <a:solidFill>
                  <a:srgbClr val="000000"/>
                </a:solidFill>
                <a:latin typeface="Times New Roman" panose="02020603050405020304" pitchFamily="18" charset="0"/>
                <a:ea typeface="华文楷体" panose="02010600040101010101" pitchFamily="2" charset="-122"/>
              </a:rPr>
              <a:t>缺省形式（无形参）的构造函数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T &amp;</a:t>
            </a:r>
            <a:r>
              <a:rPr lang="en-US" altLang="zh-CN" sz="2000" b="1" dirty="0" err="1">
                <a:solidFill>
                  <a:srgbClr val="000000"/>
                </a:solidFill>
                <a:latin typeface="Times New Roman" panose="02020603050405020304" pitchFamily="18" charset="0"/>
                <a:ea typeface="华文楷体" panose="02010600040101010101" pitchFamily="2" charset="-122"/>
              </a:rPr>
              <a:t>getElem</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提取数据函数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putElem</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&amp;x);  	//</a:t>
            </a:r>
            <a:r>
              <a:rPr lang="zh-CN" altLang="en-US" sz="2000" b="1" dirty="0">
                <a:solidFill>
                  <a:srgbClr val="000000"/>
                </a:solidFill>
                <a:latin typeface="Times New Roman" panose="02020603050405020304" pitchFamily="18" charset="0"/>
                <a:ea typeface="华文楷体" panose="02010600040101010101" pitchFamily="2" charset="-122"/>
              </a:rPr>
              <a:t>存入数据函数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9" name="标题 1"/>
          <p:cNvSpPr>
            <a:spLocks noGrp="1"/>
          </p:cNvSpPr>
          <p:nvPr>
            <p:ph type="title"/>
          </p:nvPr>
        </p:nvSpPr>
        <p:spPr>
          <a:xfrm>
            <a:off x="457200" y="346075"/>
            <a:ext cx="8229600" cy="1066800"/>
          </a:xfrm>
        </p:spPr>
        <p:txBody>
          <a:bodyPr/>
          <a:lstStyle/>
          <a:p>
            <a:r>
              <a:rPr lang="zh-CN" altLang="en-US" b="1"/>
              <a:t>例</a:t>
            </a:r>
            <a:r>
              <a:rPr lang="en-US" altLang="zh-CN" b="1"/>
              <a:t>9-2 (</a:t>
            </a:r>
            <a:r>
              <a:rPr lang="zh-CN" altLang="en-US" b="1"/>
              <a:t>续</a:t>
            </a:r>
            <a:r>
              <a:rPr lang="en-US" altLang="zh-CN" b="1"/>
              <a:t>)</a:t>
            </a:r>
            <a:endParaRPr kumimoji="1" lang="zh-CN" altLang="en-US" b="1"/>
          </a:p>
        </p:txBody>
      </p:sp>
      <p:sp>
        <p:nvSpPr>
          <p:cNvPr id="24580" name="内容占位符 2"/>
          <p:cNvSpPr>
            <a:spLocks noGrp="1"/>
          </p:cNvSpPr>
          <p:nvPr>
            <p:ph idx="1"/>
          </p:nvPr>
        </p:nvSpPr>
        <p:spPr>
          <a:xfrm>
            <a:off x="467544" y="1225689"/>
            <a:ext cx="82296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r>
              <a:rPr lang="zh-CN" altLang="en-US" sz="2000" b="1" dirty="0">
                <a:solidFill>
                  <a:srgbClr val="000000"/>
                </a:solidFill>
                <a:latin typeface="Times New Roman" panose="02020603050405020304" pitchFamily="18" charset="0"/>
                <a:ea typeface="华文楷体" panose="02010600040101010101" pitchFamily="2" charset="-122"/>
              </a:rPr>
              <a:t>默认构造函数的实现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Store&lt;T&gt;::Store(): </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en-US" altLang="zh-CN" sz="2000" b="1" dirty="0">
                <a:solidFill>
                  <a:srgbClr val="000000"/>
                </a:solidFill>
                <a:latin typeface="Times New Roman" panose="02020603050405020304" pitchFamily="18" charset="0"/>
                <a:ea typeface="华文楷体" panose="02010600040101010101" pitchFamily="2" charset="-122"/>
              </a:rPr>
              <a:t>(false) {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r>
              <a:rPr lang="zh-CN" altLang="en-US" sz="2000" b="1" dirty="0">
                <a:solidFill>
                  <a:srgbClr val="000000"/>
                </a:solidFill>
                <a:latin typeface="Times New Roman" panose="02020603050405020304" pitchFamily="18" charset="0"/>
                <a:ea typeface="华文楷体" panose="02010600040101010101" pitchFamily="2" charset="-122"/>
              </a:rPr>
              <a:t>提取数据函数的实现</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None/>
            </a:pPr>
            <a:r>
              <a:rPr lang="en-US" altLang="zh-CN" sz="2000" b="1" dirty="0">
                <a:solidFill>
                  <a:srgbClr val="000000"/>
                </a:solidFill>
                <a:latin typeface="Times New Roman" panose="02020603050405020304" pitchFamily="18" charset="0"/>
                <a:ea typeface="华文楷体" panose="02010600040101010101" pitchFamily="2" charset="-122"/>
              </a:rPr>
              <a:t>T &amp;Store&lt;T&gt;::</a:t>
            </a:r>
            <a:r>
              <a:rPr lang="en-US" altLang="zh-CN" sz="2000" b="1" dirty="0" err="1">
                <a:solidFill>
                  <a:srgbClr val="000000"/>
                </a:solidFill>
                <a:latin typeface="Times New Roman" panose="02020603050405020304" pitchFamily="18" charset="0"/>
                <a:ea typeface="华文楷体" panose="02010600040101010101" pitchFamily="2" charset="-122"/>
              </a:rPr>
              <a:t>getElem</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如试图提取未初始化的数据，则终止程序</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if (!</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"No item present!"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exit(1);	//</a:t>
            </a:r>
            <a:r>
              <a:rPr lang="zh-CN" altLang="en-US" sz="2000" b="1" dirty="0">
                <a:solidFill>
                  <a:srgbClr val="000000"/>
                </a:solidFill>
                <a:latin typeface="Times New Roman" panose="02020603050405020304" pitchFamily="18" charset="0"/>
                <a:ea typeface="华文楷体" panose="02010600040101010101" pitchFamily="2" charset="-122"/>
              </a:rPr>
              <a:t>使程序完全退出，返回到操作系统。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item;    	// </a:t>
            </a:r>
            <a:r>
              <a:rPr lang="zh-CN" altLang="en-US" sz="2000" b="1" dirty="0">
                <a:solidFill>
                  <a:srgbClr val="000000"/>
                </a:solidFill>
                <a:latin typeface="Times New Roman" panose="02020603050405020304" pitchFamily="18" charset="0"/>
                <a:ea typeface="华文楷体" panose="02010600040101010101" pitchFamily="2" charset="-122"/>
              </a:rPr>
              <a:t>返回</a:t>
            </a:r>
            <a:r>
              <a:rPr lang="en-US" altLang="zh-CN" sz="2000" b="1" dirty="0">
                <a:solidFill>
                  <a:srgbClr val="000000"/>
                </a:solidFill>
                <a:latin typeface="Times New Roman" panose="02020603050405020304" pitchFamily="18" charset="0"/>
                <a:ea typeface="华文楷体" panose="02010600040101010101" pitchFamily="2" charset="-122"/>
              </a:rPr>
              <a:t>item</a:t>
            </a:r>
            <a:r>
              <a:rPr lang="zh-CN" altLang="en-US" sz="2000" b="1" dirty="0">
                <a:solidFill>
                  <a:srgbClr val="000000"/>
                </a:solidFill>
                <a:latin typeface="Times New Roman" panose="02020603050405020304" pitchFamily="18" charset="0"/>
                <a:ea typeface="华文楷体" panose="02010600040101010101" pitchFamily="2" charset="-122"/>
              </a:rPr>
              <a:t>中存放的数据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r>
              <a:rPr lang="zh-CN" altLang="en-US" sz="2000" b="1" dirty="0">
                <a:solidFill>
                  <a:srgbClr val="000000"/>
                </a:solidFill>
                <a:latin typeface="Times New Roman" panose="02020603050405020304" pitchFamily="18" charset="0"/>
                <a:ea typeface="华文楷体" panose="02010600040101010101" pitchFamily="2" charset="-122"/>
              </a:rPr>
              <a:t>存入数据函数的实现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Store&lt;T&gt;::</a:t>
            </a:r>
            <a:r>
              <a:rPr lang="en-US" altLang="zh-CN" sz="2000" b="1" dirty="0" err="1">
                <a:solidFill>
                  <a:srgbClr val="000000"/>
                </a:solidFill>
                <a:latin typeface="Times New Roman" panose="02020603050405020304" pitchFamily="18" charset="0"/>
                <a:ea typeface="华文楷体" panose="02010600040101010101" pitchFamily="2" charset="-122"/>
              </a:rPr>
              <a:t>putElem</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&amp;x)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置为</a:t>
            </a:r>
            <a:r>
              <a:rPr lang="en-US" altLang="zh-CN" sz="2000" b="1" dirty="0">
                <a:solidFill>
                  <a:srgbClr val="000000"/>
                </a:solidFill>
                <a:latin typeface="Times New Roman" panose="02020603050405020304" pitchFamily="18" charset="0"/>
                <a:ea typeface="华文楷体" panose="02010600040101010101" pitchFamily="2" charset="-122"/>
              </a:rPr>
              <a:t>true</a:t>
            </a:r>
            <a:r>
              <a:rPr lang="zh-CN" altLang="en-US" sz="2000" b="1" dirty="0">
                <a:solidFill>
                  <a:srgbClr val="000000"/>
                </a:solidFill>
                <a:latin typeface="Times New Roman" panose="02020603050405020304" pitchFamily="18" charset="0"/>
                <a:ea typeface="华文楷体" panose="02010600040101010101" pitchFamily="2" charset="-122"/>
              </a:rPr>
              <a:t>，表示</a:t>
            </a:r>
            <a:r>
              <a:rPr lang="en-US" altLang="zh-CN" sz="2000" b="1" dirty="0">
                <a:solidFill>
                  <a:srgbClr val="000000"/>
                </a:solidFill>
                <a:latin typeface="Times New Roman" panose="02020603050405020304" pitchFamily="18" charset="0"/>
                <a:ea typeface="华文楷体" panose="02010600040101010101" pitchFamily="2" charset="-122"/>
              </a:rPr>
              <a:t>item</a:t>
            </a:r>
            <a:r>
              <a:rPr lang="zh-CN" altLang="en-US" sz="2000" b="1" dirty="0">
                <a:solidFill>
                  <a:srgbClr val="000000"/>
                </a:solidFill>
                <a:latin typeface="Times New Roman" panose="02020603050405020304" pitchFamily="18" charset="0"/>
                <a:ea typeface="华文楷体" panose="02010600040101010101" pitchFamily="2" charset="-122"/>
              </a:rPr>
              <a:t>中已存入数值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haveValue</a:t>
            </a:r>
            <a:r>
              <a:rPr lang="en-US" altLang="zh-CN" sz="2000" b="1" dirty="0">
                <a:solidFill>
                  <a:srgbClr val="000000"/>
                </a:solidFill>
                <a:latin typeface="Times New Roman" panose="02020603050405020304" pitchFamily="18" charset="0"/>
                <a:ea typeface="华文楷体" panose="02010600040101010101" pitchFamily="2" charset="-122"/>
              </a:rPr>
              <a:t> = true;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item = x;			//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x</a:t>
            </a:r>
            <a:r>
              <a:rPr lang="zh-CN" altLang="en-US" sz="2000" b="1" dirty="0">
                <a:solidFill>
                  <a:srgbClr val="000000"/>
                </a:solidFill>
                <a:latin typeface="Times New Roman" panose="02020603050405020304" pitchFamily="18" charset="0"/>
                <a:ea typeface="华文楷体" panose="02010600040101010101" pitchFamily="2" charset="-122"/>
              </a:rPr>
              <a:t>值存入</a:t>
            </a:r>
            <a:r>
              <a:rPr lang="en-US" altLang="zh-CN" sz="2000" b="1" dirty="0">
                <a:solidFill>
                  <a:srgbClr val="000000"/>
                </a:solidFill>
                <a:latin typeface="Times New Roman" panose="02020603050405020304" pitchFamily="18" charset="0"/>
                <a:ea typeface="华文楷体" panose="02010600040101010101" pitchFamily="2" charset="-122"/>
              </a:rPr>
              <a:t>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5603" name="标题 1"/>
          <p:cNvSpPr>
            <a:spLocks noGrp="1"/>
          </p:cNvSpPr>
          <p:nvPr>
            <p:ph type="title"/>
          </p:nvPr>
        </p:nvSpPr>
        <p:spPr/>
        <p:txBody>
          <a:bodyPr/>
          <a:lstStyle/>
          <a:p>
            <a:r>
              <a:rPr lang="zh-CN" altLang="en-US" b="1"/>
              <a:t>例</a:t>
            </a:r>
            <a:r>
              <a:rPr lang="en-US" altLang="zh-CN" b="1"/>
              <a:t>9-2 (</a:t>
            </a:r>
            <a:r>
              <a:rPr lang="zh-CN" altLang="en-US" b="1"/>
              <a:t>续</a:t>
            </a:r>
            <a:r>
              <a:rPr lang="en-US" altLang="zh-CN" b="1"/>
              <a:t>)</a:t>
            </a:r>
            <a:endParaRPr kumimoji="1" lang="zh-CN" altLang="en-US" b="1"/>
          </a:p>
        </p:txBody>
      </p:sp>
      <p:sp>
        <p:nvSpPr>
          <p:cNvPr id="25604" name="内容占位符 2"/>
          <p:cNvSpPr>
            <a:spLocks noGrp="1"/>
          </p:cNvSpPr>
          <p:nvPr>
            <p:ph idx="1"/>
          </p:nvPr>
        </p:nvSpPr>
        <p:spPr>
          <a:xfrm>
            <a:off x="683568" y="1215033"/>
            <a:ext cx="78867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Store&lt;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s1, s2;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s1.putElem(3);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s2.putElem(-7);</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s1.getElem() &lt;&lt; "  " &lt;&lt; s2.getElem()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Student g = { 1000, 23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Store&lt;Student&gt; s3;</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s3.putElem(g);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"The student id is " &lt;&lt; s3.getElem().id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Store&lt;double&gt; 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"Retrieving object 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d.getElem</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由于</a:t>
            </a:r>
            <a:r>
              <a:rPr lang="en-US" altLang="zh-CN" sz="2000" b="1" dirty="0">
                <a:solidFill>
                  <a:srgbClr val="000000"/>
                </a:solidFill>
                <a:latin typeface="Times New Roman" panose="02020603050405020304" pitchFamily="18" charset="0"/>
                <a:ea typeface="华文楷体" panose="02010600040101010101" pitchFamily="2" charset="-122"/>
              </a:rPr>
              <a:t>d</a:t>
            </a:r>
            <a:r>
              <a:rPr lang="zh-CN" altLang="en-US" sz="2000" b="1" dirty="0">
                <a:solidFill>
                  <a:srgbClr val="000000"/>
                </a:solidFill>
                <a:latin typeface="Times New Roman" panose="02020603050405020304" pitchFamily="18" charset="0"/>
                <a:ea typeface="华文楷体" panose="02010600040101010101" pitchFamily="2" charset="-122"/>
              </a:rPr>
              <a:t>未经初始化</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在执行函数</a:t>
            </a:r>
            <a:r>
              <a:rPr lang="en-US" altLang="zh-CN" sz="2000" b="1" dirty="0" err="1">
                <a:solidFill>
                  <a:srgbClr val="000000"/>
                </a:solidFill>
                <a:latin typeface="Times New Roman" panose="02020603050405020304" pitchFamily="18" charset="0"/>
                <a:ea typeface="华文楷体" panose="02010600040101010101" pitchFamily="2" charset="-122"/>
              </a:rPr>
              <a:t>D.getElement</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过程中导致程序终止</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2"/>
            </a:pPr>
            <a:r>
              <a:rPr lang="en-US" altLang="zh-CN" sz="6600" b="1" dirty="0">
                <a:ea typeface="华文彩云" panose="02010800040101010101" pitchFamily="2" charset="-122"/>
              </a:rPr>
              <a:t>   </a:t>
            </a:r>
            <a:r>
              <a:rPr lang="zh-CN" altLang="en-US" sz="6600" b="1" dirty="0">
                <a:ea typeface="华文彩云" panose="02010800040101010101" pitchFamily="2" charset="-122"/>
              </a:rPr>
              <a:t>线性群体</a:t>
            </a:r>
            <a:endParaRPr lang="zh-CN" altLang="en-US" sz="6600" dirty="0">
              <a:solidFill>
                <a:srgbClr val="FFFF00"/>
              </a:solidFill>
            </a:endParaRPr>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标题 1"/>
          <p:cNvSpPr>
            <a:spLocks noGrp="1"/>
          </p:cNvSpPr>
          <p:nvPr>
            <p:ph type="title"/>
          </p:nvPr>
        </p:nvSpPr>
        <p:spPr>
          <a:xfrm>
            <a:off x="755576" y="764704"/>
            <a:ext cx="2561558" cy="799892"/>
          </a:xfrm>
        </p:spPr>
        <p:txBody>
          <a:bodyPr/>
          <a:lstStyle/>
          <a:p>
            <a:pPr eaLnBrk="1" hangingPunct="1"/>
            <a:r>
              <a:rPr lang="zh-CN" altLang="en-US"/>
              <a:t>群体的概念</a:t>
            </a:r>
            <a:endParaRPr lang="zh-CN" altLang="en-US"/>
          </a:p>
        </p:txBody>
      </p:sp>
      <p:sp>
        <p:nvSpPr>
          <p:cNvPr id="36867" name="内容占位符 2"/>
          <p:cNvSpPr>
            <a:spLocks noGrp="1"/>
          </p:cNvSpPr>
          <p:nvPr>
            <p:ph idx="1"/>
          </p:nvPr>
        </p:nvSpPr>
        <p:spPr>
          <a:xfrm>
            <a:off x="611560" y="2060848"/>
            <a:ext cx="8002488" cy="2196132"/>
          </a:xfrm>
        </p:spPr>
        <p:txBody>
          <a:bodyPr/>
          <a:lstStyle/>
          <a:p>
            <a:pPr>
              <a:spcAft>
                <a:spcPts val="900"/>
              </a:spcAft>
            </a:pPr>
            <a:r>
              <a:rPr lang="zh-CN" altLang="en-US" sz="2800" b="1" dirty="0">
                <a:solidFill>
                  <a:srgbClr val="FFFF00"/>
                </a:solidFill>
                <a:latin typeface="华文楷体" panose="02010600040101010101" pitchFamily="2" charset="-122"/>
                <a:ea typeface="华文楷体" panose="02010600040101010101" pitchFamily="2" charset="-122"/>
              </a:rPr>
              <a:t>群体</a:t>
            </a:r>
            <a:r>
              <a:rPr lang="zh-CN" altLang="en-US" sz="2800" b="1" dirty="0">
                <a:latin typeface="华文楷体" panose="02010600040101010101" pitchFamily="2" charset="-122"/>
                <a:ea typeface="华文楷体" panose="02010600040101010101" pitchFamily="2" charset="-122"/>
              </a:rPr>
              <a:t>是指由多个数据元素组成的集合体。群体可以分为两个大类：</a:t>
            </a:r>
            <a:r>
              <a:rPr lang="zh-CN" altLang="en-US" sz="2800" b="1" dirty="0">
                <a:solidFill>
                  <a:srgbClr val="FFFF00"/>
                </a:solidFill>
                <a:latin typeface="华文楷体" panose="02010600040101010101" pitchFamily="2" charset="-122"/>
                <a:ea typeface="华文楷体" panose="02010600040101010101" pitchFamily="2" charset="-122"/>
              </a:rPr>
              <a:t>线性群体</a:t>
            </a:r>
            <a:r>
              <a:rPr lang="zh-CN" altLang="en-US" sz="2800" b="1" dirty="0">
                <a:latin typeface="华文楷体" panose="02010600040101010101" pitchFamily="2" charset="-122"/>
                <a:ea typeface="华文楷体" panose="02010600040101010101" pitchFamily="2" charset="-122"/>
              </a:rPr>
              <a:t>和</a:t>
            </a:r>
            <a:r>
              <a:rPr lang="zh-CN" altLang="en-US" sz="2800" b="1" dirty="0">
                <a:solidFill>
                  <a:srgbClr val="FFFF00"/>
                </a:solidFill>
                <a:latin typeface="华文楷体" panose="02010600040101010101" pitchFamily="2" charset="-122"/>
                <a:ea typeface="华文楷体" panose="02010600040101010101" pitchFamily="2" charset="-122"/>
              </a:rPr>
              <a:t>非线性群体</a:t>
            </a:r>
            <a:r>
              <a:rPr lang="zh-CN" altLang="en-US" sz="2800" b="1" dirty="0">
                <a:latin typeface="华文楷体" panose="02010600040101010101" pitchFamily="2" charset="-122"/>
                <a:ea typeface="华文楷体" panose="02010600040101010101" pitchFamily="2" charset="-122"/>
              </a:rPr>
              <a:t>。</a:t>
            </a:r>
            <a:endParaRPr lang="zh-CN" altLang="en-US" sz="2800" b="1" dirty="0">
              <a:latin typeface="华文楷体" panose="02010600040101010101" pitchFamily="2" charset="-122"/>
              <a:ea typeface="华文楷体" panose="02010600040101010101" pitchFamily="2" charset="-122"/>
            </a:endParaRPr>
          </a:p>
          <a:p>
            <a:pPr>
              <a:spcAft>
                <a:spcPts val="900"/>
              </a:spcAft>
            </a:pPr>
            <a:r>
              <a:rPr lang="zh-CN" altLang="en-US" sz="2800" b="1" dirty="0">
                <a:latin typeface="华文楷体" panose="02010600040101010101" pitchFamily="2" charset="-122"/>
                <a:ea typeface="华文楷体" panose="02010600040101010101" pitchFamily="2" charset="-122"/>
              </a:rPr>
              <a:t>线性群体中的元素按位置排列有序，可以区分为第一个元素、第二个元素等。</a:t>
            </a:r>
            <a:endParaRPr lang="zh-CN" altLang="en-US" sz="2800" b="1" dirty="0">
              <a:latin typeface="华文楷体" panose="02010600040101010101" pitchFamily="2" charset="-122"/>
              <a:ea typeface="华文楷体" panose="02010600040101010101" pitchFamily="2" charset="-122"/>
            </a:endParaRPr>
          </a:p>
          <a:p>
            <a:pPr>
              <a:spcAft>
                <a:spcPts val="900"/>
              </a:spcAft>
            </a:pPr>
            <a:r>
              <a:rPr lang="zh-CN" altLang="en-US" sz="2800" b="1" dirty="0">
                <a:latin typeface="华文楷体" panose="02010600040101010101" pitchFamily="2" charset="-122"/>
                <a:ea typeface="华文楷体" panose="02010600040101010101" pitchFamily="2" charset="-122"/>
              </a:rPr>
              <a:t>非线性群体不用位置顺序来标识元素。</a:t>
            </a:r>
            <a:endParaRPr lang="zh-CN" altLang="en-US" sz="2800" b="1"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线性群体</a:t>
            </a:r>
            <a:endParaRPr lang="zh-CN" altLang="en-US" sz="4400" b="1">
              <a:latin typeface="Times New Roman" panose="02020603050405020304" pitchFamily="18" charset="0"/>
              <a:ea typeface="隶书" panose="02010509060101010101" pitchFamily="49" charset="-122"/>
            </a:endParaRPr>
          </a:p>
        </p:txBody>
      </p:sp>
      <p:sp>
        <p:nvSpPr>
          <p:cNvPr id="26627" name="内容占位符 2"/>
          <p:cNvSpPr>
            <a:spLocks noGrp="1"/>
          </p:cNvSpPr>
          <p:nvPr>
            <p:ph idx="1"/>
          </p:nvPr>
        </p:nvSpPr>
        <p:spPr>
          <a:xfrm>
            <a:off x="971600" y="1628800"/>
            <a:ext cx="7886700" cy="4351338"/>
          </a:xfrm>
        </p:spPr>
        <p:txBody>
          <a:bodyPr/>
          <a:lstStyle/>
          <a:p>
            <a:pPr>
              <a:lnSpc>
                <a:spcPct val="150000"/>
              </a:lnSpc>
              <a:spcAft>
                <a:spcPct val="25000"/>
              </a:spcAft>
            </a:pPr>
            <a:r>
              <a:rPr lang="zh-CN" altLang="en-US" sz="2400" b="1" dirty="0">
                <a:ea typeface="华文楷体" panose="02010600040101010101" pitchFamily="2" charset="-122"/>
              </a:rPr>
              <a:t>线性群体的概念</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直接访问群体</a:t>
            </a:r>
            <a:r>
              <a:rPr lang="en-US" altLang="zh-CN" sz="2400" b="1" dirty="0">
                <a:ea typeface="华文楷体" panose="02010600040101010101" pitchFamily="2" charset="-122"/>
              </a:rPr>
              <a:t>--</a:t>
            </a:r>
            <a:r>
              <a:rPr lang="zh-CN" altLang="en-US" sz="2400" b="1" dirty="0">
                <a:ea typeface="华文楷体" panose="02010600040101010101" pitchFamily="2" charset="-122"/>
              </a:rPr>
              <a:t>数组类</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顺序访问群体</a:t>
            </a:r>
            <a:r>
              <a:rPr lang="en-US" altLang="zh-CN" sz="2400" b="1" dirty="0">
                <a:ea typeface="华文楷体" panose="02010600040101010101" pitchFamily="2" charset="-122"/>
              </a:rPr>
              <a:t>--</a:t>
            </a:r>
            <a:r>
              <a:rPr lang="zh-CN" altLang="en-US" sz="2400" b="1" dirty="0">
                <a:ea typeface="华文楷体" panose="02010600040101010101" pitchFamily="2" charset="-122"/>
              </a:rPr>
              <a:t>链表类</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栈类</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队列类</a:t>
            </a:r>
            <a:endParaRPr lang="zh-CN" altLang="en-US" sz="2400" b="1" dirty="0">
              <a:ea typeface="华文楷体" panose="0201060004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9.2.1 </a:t>
            </a:r>
            <a:r>
              <a:rPr lang="zh-CN" altLang="en-US" sz="4400" b="1">
                <a:latin typeface="Times New Roman" panose="02020603050405020304" pitchFamily="18" charset="0"/>
                <a:ea typeface="隶书" panose="02010509060101010101" pitchFamily="49" charset="-122"/>
              </a:rPr>
              <a:t>线性群体的概念</a:t>
            </a:r>
            <a:endParaRPr lang="zh-CN" altLang="en-US" sz="4400" b="1">
              <a:latin typeface="Times New Roman" panose="02020603050405020304" pitchFamily="18" charset="0"/>
              <a:ea typeface="隶书" panose="02010509060101010101" pitchFamily="49" charset="-122"/>
            </a:endParaRPr>
          </a:p>
        </p:txBody>
      </p:sp>
      <p:sp>
        <p:nvSpPr>
          <p:cNvPr id="28675"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线性群体中的元素次序与其位置关系是对应的。</a:t>
            </a:r>
            <a:r>
              <a:rPr lang="zh-CN" altLang="en-US" sz="2400" b="1" dirty="0">
                <a:ea typeface="华文楷体" panose="02010600040101010101" pitchFamily="2" charset="-122"/>
              </a:rPr>
              <a:t>在线性群体中，又可按照访问元素的不同方法分为</a:t>
            </a:r>
            <a:r>
              <a:rPr lang="zh-CN" altLang="en-US" sz="2400" b="1" dirty="0">
                <a:solidFill>
                  <a:srgbClr val="FFFF00"/>
                </a:solidFill>
                <a:ea typeface="华文楷体" panose="02010600040101010101" pitchFamily="2" charset="-122"/>
              </a:rPr>
              <a:t>直接访问、顺序访问和索引访问。</a:t>
            </a:r>
            <a:endParaRPr lang="zh-CN" altLang="en-US" sz="2400" b="1" dirty="0">
              <a:solidFill>
                <a:srgbClr val="FFFF00"/>
              </a:solidFill>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在本章我们只介绍直接访问和顺序访问。</a:t>
            </a:r>
            <a:endParaRPr lang="zh-CN" altLang="en-US" sz="2400" b="1" dirty="0">
              <a:ea typeface="华文楷体" panose="02010600040101010101" pitchFamily="2" charset="-122"/>
            </a:endParaRPr>
          </a:p>
        </p:txBody>
      </p:sp>
      <p:grpSp>
        <p:nvGrpSpPr>
          <p:cNvPr id="28678" name="Group 18"/>
          <p:cNvGrpSpPr/>
          <p:nvPr/>
        </p:nvGrpSpPr>
        <p:grpSpPr bwMode="auto">
          <a:xfrm>
            <a:off x="1057275" y="4679950"/>
            <a:ext cx="7116763" cy="847725"/>
            <a:chOff x="845" y="2874"/>
            <a:chExt cx="4483" cy="534"/>
          </a:xfrm>
        </p:grpSpPr>
        <p:sp>
          <p:nvSpPr>
            <p:cNvPr id="28679" name="Oval 9"/>
            <p:cNvSpPr>
              <a:spLocks noChangeArrowheads="1"/>
            </p:cNvSpPr>
            <p:nvPr/>
          </p:nvSpPr>
          <p:spPr bwMode="auto">
            <a:xfrm>
              <a:off x="947" y="2891"/>
              <a:ext cx="665" cy="20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28680" name="Oval 10"/>
            <p:cNvSpPr>
              <a:spLocks noChangeArrowheads="1"/>
            </p:cNvSpPr>
            <p:nvPr/>
          </p:nvSpPr>
          <p:spPr bwMode="auto">
            <a:xfrm>
              <a:off x="1960" y="2891"/>
              <a:ext cx="665" cy="20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28681" name="Oval 11"/>
            <p:cNvSpPr>
              <a:spLocks noChangeArrowheads="1"/>
            </p:cNvSpPr>
            <p:nvPr/>
          </p:nvSpPr>
          <p:spPr bwMode="auto">
            <a:xfrm>
              <a:off x="2973" y="2891"/>
              <a:ext cx="665" cy="20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28682" name="Oval 12"/>
            <p:cNvSpPr>
              <a:spLocks noChangeArrowheads="1"/>
            </p:cNvSpPr>
            <p:nvPr/>
          </p:nvSpPr>
          <p:spPr bwMode="auto">
            <a:xfrm>
              <a:off x="4471" y="2891"/>
              <a:ext cx="665" cy="20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28683" name="Text Box 13"/>
            <p:cNvSpPr txBox="1">
              <a:spLocks noChangeArrowheads="1"/>
            </p:cNvSpPr>
            <p:nvPr/>
          </p:nvSpPr>
          <p:spPr bwMode="auto">
            <a:xfrm>
              <a:off x="3763" y="2874"/>
              <a:ext cx="59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latin typeface="+mn-lt"/>
                  <a:ea typeface="华文楷体" panose="02010600040101010101" pitchFamily="2" charset="-122"/>
                </a:rPr>
                <a:t>…</a:t>
              </a:r>
              <a:endParaRPr lang="en-US" altLang="zh-CN" sz="1600" b="1">
                <a:latin typeface="+mn-lt"/>
                <a:ea typeface="华文楷体" panose="02010600040101010101" pitchFamily="2" charset="-122"/>
              </a:endParaRPr>
            </a:p>
          </p:txBody>
        </p:sp>
        <p:sp>
          <p:nvSpPr>
            <p:cNvPr id="28684" name="Text Box 14"/>
            <p:cNvSpPr txBox="1">
              <a:spLocks noChangeArrowheads="1"/>
            </p:cNvSpPr>
            <p:nvPr/>
          </p:nvSpPr>
          <p:spPr bwMode="auto">
            <a:xfrm>
              <a:off x="845" y="3144"/>
              <a:ext cx="87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第一个元素</a:t>
              </a:r>
              <a:endParaRPr lang="zh-CN" altLang="en-US" sz="2000" b="1">
                <a:latin typeface="+mn-lt"/>
                <a:ea typeface="华文楷体" panose="02010600040101010101" pitchFamily="2" charset="-122"/>
              </a:endParaRPr>
            </a:p>
          </p:txBody>
        </p:sp>
        <p:sp>
          <p:nvSpPr>
            <p:cNvPr id="28685" name="Text Box 15"/>
            <p:cNvSpPr txBox="1">
              <a:spLocks noChangeArrowheads="1"/>
            </p:cNvSpPr>
            <p:nvPr/>
          </p:nvSpPr>
          <p:spPr bwMode="auto">
            <a:xfrm>
              <a:off x="1861"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第二个元素</a:t>
              </a:r>
              <a:endParaRPr lang="zh-CN" altLang="en-US" sz="2000" b="1">
                <a:latin typeface="+mn-lt"/>
                <a:ea typeface="华文楷体" panose="02010600040101010101" pitchFamily="2" charset="-122"/>
              </a:endParaRPr>
            </a:p>
          </p:txBody>
        </p:sp>
        <p:sp>
          <p:nvSpPr>
            <p:cNvPr id="28686" name="Text Box 16"/>
            <p:cNvSpPr txBox="1">
              <a:spLocks noChangeArrowheads="1"/>
            </p:cNvSpPr>
            <p:nvPr/>
          </p:nvSpPr>
          <p:spPr bwMode="auto">
            <a:xfrm>
              <a:off x="2880" y="3144"/>
              <a:ext cx="88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第三个元素</a:t>
              </a:r>
              <a:endParaRPr lang="zh-CN" altLang="en-US" sz="2000" b="1">
                <a:latin typeface="+mn-lt"/>
                <a:ea typeface="华文楷体" panose="02010600040101010101" pitchFamily="2" charset="-122"/>
              </a:endParaRPr>
            </a:p>
          </p:txBody>
        </p:sp>
        <p:sp>
          <p:nvSpPr>
            <p:cNvPr id="28687" name="Text Box 17"/>
            <p:cNvSpPr txBox="1">
              <a:spLocks noChangeArrowheads="1"/>
            </p:cNvSpPr>
            <p:nvPr/>
          </p:nvSpPr>
          <p:spPr bwMode="auto">
            <a:xfrm>
              <a:off x="4340" y="3144"/>
              <a:ext cx="9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最后一个元素</a:t>
              </a:r>
              <a:endParaRPr lang="zh-CN" altLang="en-US" sz="2000" b="1">
                <a:latin typeface="+mn-lt"/>
                <a:ea typeface="华文楷体" panose="02010600040101010101" pitchFamily="2" charset="-122"/>
              </a:endParaRPr>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9.2.2 </a:t>
            </a:r>
            <a:r>
              <a:rPr lang="zh-CN" altLang="en-US" sz="4400" b="1">
                <a:latin typeface="Times New Roman" panose="02020603050405020304" pitchFamily="18" charset="0"/>
                <a:ea typeface="隶书" panose="02010509060101010101" pitchFamily="49" charset="-122"/>
              </a:rPr>
              <a:t>直接访问群体</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数组类</a:t>
            </a:r>
            <a:endParaRPr lang="zh-CN" altLang="en-US" sz="4400" b="1">
              <a:latin typeface="Times New Roman" panose="02020603050405020304" pitchFamily="18" charset="0"/>
              <a:ea typeface="隶书" panose="02010509060101010101" pitchFamily="49" charset="-122"/>
            </a:endParaRPr>
          </a:p>
        </p:txBody>
      </p:sp>
      <p:sp>
        <p:nvSpPr>
          <p:cNvPr id="29699" name="内容占位符 2"/>
          <p:cNvSpPr>
            <a:spLocks noGrp="1"/>
          </p:cNvSpPr>
          <p:nvPr>
            <p:ph idx="1"/>
          </p:nvPr>
        </p:nvSpPr>
        <p:spPr>
          <a:xfrm>
            <a:off x="611560" y="1556792"/>
            <a:ext cx="7886700" cy="4351338"/>
          </a:xfrm>
        </p:spPr>
        <p:txBody>
          <a:bodyPr/>
          <a:lstStyle/>
          <a:p>
            <a:pPr>
              <a:spcAft>
                <a:spcPct val="25000"/>
              </a:spcAft>
            </a:pPr>
            <a:r>
              <a:rPr lang="zh-CN" altLang="en-US" sz="2400" b="1">
                <a:solidFill>
                  <a:srgbClr val="FFFF00"/>
                </a:solidFill>
                <a:ea typeface="华文楷体" panose="02010600040101010101" pitchFamily="2" charset="-122"/>
              </a:rPr>
              <a:t>静态数组是具有固定元素个数的群体，其中的元素可以通过下标直接访问。</a:t>
            </a:r>
            <a:endParaRPr lang="zh-CN" altLang="en-US" sz="2400" b="1">
              <a:solidFill>
                <a:srgbClr val="FFFF00"/>
              </a:solidFill>
              <a:ea typeface="华文楷体" panose="02010600040101010101" pitchFamily="2" charset="-122"/>
            </a:endParaRPr>
          </a:p>
          <a:p>
            <a:pPr lvl="1"/>
            <a:r>
              <a:rPr lang="zh-CN" altLang="en-US" sz="2400" b="1">
                <a:ea typeface="华文楷体" panose="02010600040101010101" pitchFamily="2" charset="-122"/>
              </a:rPr>
              <a:t>缺点：大小在编译时就已经确定，在运行时无法修改。</a:t>
            </a:r>
            <a:endParaRPr lang="zh-CN" altLang="en-US" sz="2400" b="1">
              <a:ea typeface="华文楷体" panose="02010600040101010101" pitchFamily="2" charset="-122"/>
            </a:endParaRPr>
          </a:p>
          <a:p>
            <a:pPr>
              <a:spcAft>
                <a:spcPct val="25000"/>
              </a:spcAft>
            </a:pPr>
            <a:r>
              <a:rPr lang="zh-CN" altLang="en-US" sz="2400" b="1">
                <a:solidFill>
                  <a:srgbClr val="FFFF00"/>
                </a:solidFill>
                <a:ea typeface="华文楷体" panose="02010600040101010101" pitchFamily="2" charset="-122"/>
              </a:rPr>
              <a:t>动态数组由一系列位置连续的，任意数量相同类型的元素组成。</a:t>
            </a:r>
            <a:endParaRPr lang="zh-CN" altLang="en-US" sz="2400" b="1">
              <a:solidFill>
                <a:srgbClr val="FFFF00"/>
              </a:solidFill>
              <a:ea typeface="华文楷体" panose="02010600040101010101" pitchFamily="2" charset="-122"/>
            </a:endParaRPr>
          </a:p>
          <a:p>
            <a:pPr lvl="1"/>
            <a:r>
              <a:rPr lang="zh-CN" altLang="en-US" sz="2400" b="1">
                <a:ea typeface="华文楷体" panose="02010600040101010101" pitchFamily="2" charset="-122"/>
              </a:rPr>
              <a:t>优点：其元素个数可在程序运行时改变。</a:t>
            </a:r>
            <a:endParaRPr lang="zh-CN" altLang="en-US" sz="2400" b="1">
              <a:ea typeface="华文楷体" panose="02010600040101010101" pitchFamily="2" charset="-122"/>
            </a:endParaRPr>
          </a:p>
          <a:p>
            <a:pPr>
              <a:spcAft>
                <a:spcPct val="25000"/>
              </a:spcAft>
            </a:pPr>
            <a:r>
              <a:rPr lang="en-US" altLang="zh-CN" sz="2400" b="1">
                <a:solidFill>
                  <a:srgbClr val="FFFF00"/>
                </a:solidFill>
                <a:ea typeface="华文楷体" panose="02010600040101010101" pitchFamily="2" charset="-122"/>
              </a:rPr>
              <a:t>vector</a:t>
            </a:r>
            <a:r>
              <a:rPr lang="zh-CN" altLang="en-US" sz="2400" b="1">
                <a:solidFill>
                  <a:srgbClr val="FFFF00"/>
                </a:solidFill>
                <a:ea typeface="华文楷体" panose="02010600040101010101" pitchFamily="2" charset="-122"/>
              </a:rPr>
              <a:t>就是用类模板实现的动态数组。</a:t>
            </a:r>
            <a:endParaRPr lang="zh-CN" altLang="en-US" sz="2400" b="1">
              <a:solidFill>
                <a:srgbClr val="FFFF00"/>
              </a:solidFill>
              <a:ea typeface="华文楷体" panose="02010600040101010101" pitchFamily="2" charset="-122"/>
            </a:endParaRPr>
          </a:p>
          <a:p>
            <a:pPr>
              <a:spcAft>
                <a:spcPct val="25000"/>
              </a:spcAft>
            </a:pPr>
            <a:r>
              <a:rPr lang="zh-CN" altLang="en-US" sz="2400" b="1">
                <a:solidFill>
                  <a:srgbClr val="FFFF00"/>
                </a:solidFill>
                <a:ea typeface="华文楷体" panose="02010600040101010101" pitchFamily="2" charset="-122"/>
              </a:rPr>
              <a:t>动态数组类模板：例</a:t>
            </a:r>
            <a:r>
              <a:rPr lang="en-US" altLang="zh-CN" sz="2400" b="1">
                <a:solidFill>
                  <a:srgbClr val="FFFF00"/>
                </a:solidFill>
                <a:ea typeface="华文楷体" panose="02010600040101010101" pitchFamily="2" charset="-122"/>
              </a:rPr>
              <a:t>9-3</a:t>
            </a:r>
            <a:r>
              <a:rPr lang="zh-CN" altLang="en-US" sz="2400" b="1">
                <a:solidFill>
                  <a:srgbClr val="FFFF00"/>
                </a:solidFill>
                <a:ea typeface="华文楷体" panose="02010600040101010101" pitchFamily="2" charset="-122"/>
              </a:rPr>
              <a:t>（</a:t>
            </a:r>
            <a:r>
              <a:rPr lang="en-US" altLang="zh-CN" sz="2400" b="1">
                <a:solidFill>
                  <a:srgbClr val="FFFF00"/>
                </a:solidFill>
                <a:ea typeface="华文楷体" panose="02010600040101010101" pitchFamily="2" charset="-122"/>
              </a:rPr>
              <a:t>Array.h</a:t>
            </a:r>
            <a:r>
              <a:rPr lang="zh-CN" altLang="en-US" sz="2400" b="1">
                <a:solidFill>
                  <a:srgbClr val="FFFF00"/>
                </a:solidFill>
                <a:ea typeface="华文楷体" panose="02010600040101010101" pitchFamily="2" charset="-122"/>
              </a:rPr>
              <a:t>）</a:t>
            </a:r>
            <a:endParaRPr lang="zh-CN" altLang="en-US" sz="2400" b="1">
              <a:solidFill>
                <a:srgbClr val="FFFF00"/>
              </a:solidFill>
              <a:ea typeface="华文楷体" panose="0201060004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3" name="标题 1"/>
          <p:cNvSpPr>
            <a:spLocks noGrp="1"/>
          </p:cNvSpPr>
          <p:nvPr>
            <p:ph type="title"/>
          </p:nvPr>
        </p:nvSpPr>
        <p:spPr>
          <a:xfrm>
            <a:off x="628650" y="-27384"/>
            <a:ext cx="7886700" cy="1325563"/>
          </a:xfrm>
        </p:spPr>
        <p:txBody>
          <a:bodyPr/>
          <a:lstStyle/>
          <a:p>
            <a:r>
              <a:rPr lang="zh-CN" altLang="en-US" b="1" dirty="0"/>
              <a:t>例</a:t>
            </a:r>
            <a:r>
              <a:rPr lang="en-US" altLang="zh-CN" b="1" dirty="0"/>
              <a:t>9-3 </a:t>
            </a:r>
            <a:r>
              <a:rPr lang="zh-CN" altLang="en-US" b="1" dirty="0"/>
              <a:t>动态数组类模板程序</a:t>
            </a:r>
            <a:endParaRPr kumimoji="1" lang="zh-CN" altLang="en-US" b="1" dirty="0"/>
          </a:p>
        </p:txBody>
      </p:sp>
      <p:sp>
        <p:nvSpPr>
          <p:cNvPr id="30724" name="内容占位符 2"/>
          <p:cNvSpPr>
            <a:spLocks noGrp="1"/>
          </p:cNvSpPr>
          <p:nvPr>
            <p:ph idx="1"/>
          </p:nvPr>
        </p:nvSpPr>
        <p:spPr>
          <a:xfrm>
            <a:off x="467544" y="610136"/>
            <a:ext cx="8229600" cy="6247864"/>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ifndef</a:t>
            </a:r>
            <a:r>
              <a:rPr lang="en-US" altLang="zh-CN" sz="2000" b="1" dirty="0">
                <a:solidFill>
                  <a:srgbClr val="000000"/>
                </a:solidFill>
                <a:latin typeface="Times New Roman" panose="02020603050405020304" pitchFamily="18" charset="0"/>
                <a:ea typeface="华文楷体" panose="02010600040101010101" pitchFamily="2" charset="-122"/>
              </a:rPr>
              <a:t> ARRAY_H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#define ARRAY_H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cassert</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r>
              <a:rPr lang="zh-CN" altLang="en-US" sz="2000" b="1" dirty="0">
                <a:solidFill>
                  <a:srgbClr val="000000"/>
                </a:solidFill>
                <a:latin typeface="Times New Roman" panose="02020603050405020304" pitchFamily="18" charset="0"/>
                <a:ea typeface="华文楷体" panose="02010600040101010101" pitchFamily="2" charset="-122"/>
              </a:rPr>
              <a:t>数组类模板定义</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Array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list;		//</a:t>
            </a:r>
            <a:r>
              <a:rPr lang="zh-CN" altLang="en-US" sz="2000" b="1" dirty="0">
                <a:solidFill>
                  <a:srgbClr val="000000"/>
                </a:solidFill>
                <a:latin typeface="Times New Roman" panose="02020603050405020304" pitchFamily="18" charset="0"/>
                <a:ea typeface="华文楷体" panose="02010600040101010101" pitchFamily="2" charset="-122"/>
              </a:rPr>
              <a:t>用于存放动态分配的数组内存首地址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size;				//</a:t>
            </a:r>
            <a:r>
              <a:rPr lang="zh-CN" altLang="en-US" sz="2000" b="1" dirty="0">
                <a:solidFill>
                  <a:srgbClr val="000000"/>
                </a:solidFill>
                <a:latin typeface="Times New Roman" panose="02020603050405020304" pitchFamily="18" charset="0"/>
                <a:ea typeface="华文楷体" panose="02010600040101010101" pitchFamily="2" charset="-122"/>
              </a:rPr>
              <a:t>数组大小（元素个数）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Array(</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 50);		//</a:t>
            </a:r>
            <a:r>
              <a:rPr lang="zh-CN" altLang="en-US" sz="2000" b="1" dirty="0">
                <a:solidFill>
                  <a:srgbClr val="000000"/>
                </a:solidFill>
                <a:latin typeface="Times New Roman" panose="02020603050405020304" pitchFamily="18" charset="0"/>
                <a:ea typeface="华文楷体" panose="02010600040101010101" pitchFamily="2" charset="-122"/>
              </a:rPr>
              <a:t>构造函数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Array(</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Array&lt;T&gt; &amp;a);	//</a:t>
            </a:r>
            <a:r>
              <a:rPr lang="zh-CN" altLang="en-US" sz="2000" b="1" dirty="0">
                <a:solidFill>
                  <a:srgbClr val="000000"/>
                </a:solidFill>
                <a:latin typeface="Times New Roman" panose="02020603050405020304" pitchFamily="18" charset="0"/>
                <a:ea typeface="华文楷体" panose="02010600040101010101" pitchFamily="2" charset="-122"/>
              </a:rPr>
              <a:t>拷贝构造函数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~Array();			//</a:t>
            </a:r>
            <a:r>
              <a:rPr lang="zh-CN" altLang="en-US" sz="2000" b="1" dirty="0">
                <a:solidFill>
                  <a:srgbClr val="000000"/>
                </a:solidFill>
                <a:latin typeface="Times New Roman" panose="02020603050405020304" pitchFamily="18" charset="0"/>
                <a:ea typeface="华文楷体" panose="02010600040101010101" pitchFamily="2" charset="-122"/>
              </a:rPr>
              <a:t>析构函数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Array&lt;T&gt; &amp; operator =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Array&lt;T&gt; &amp;</a:t>
            </a:r>
            <a:r>
              <a:rPr lang="en-US" altLang="zh-CN" sz="2000" b="1" dirty="0" err="1">
                <a:solidFill>
                  <a:srgbClr val="000000"/>
                </a:solidFill>
                <a:latin typeface="Times New Roman" panose="02020603050405020304" pitchFamily="18" charset="0"/>
                <a:ea typeface="华文楷体" panose="02010600040101010101" pitchFamily="2" charset="-122"/>
              </a:rPr>
              <a:t>rhs</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重载</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&amp; operator []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重载</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 operator []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operator T * ();			//</a:t>
            </a:r>
            <a:r>
              <a:rPr lang="zh-CN" altLang="en-US" sz="2000" b="1" dirty="0">
                <a:solidFill>
                  <a:srgbClr val="000000"/>
                </a:solidFill>
                <a:latin typeface="Times New Roman" panose="02020603050405020304" pitchFamily="18" charset="0"/>
                <a:ea typeface="华文楷体" panose="02010600040101010101" pitchFamily="2" charset="-122"/>
              </a:rPr>
              <a:t>重载到</a:t>
            </a:r>
            <a:r>
              <a:rPr lang="en-US" altLang="zh-CN" sz="2000" b="1" dirty="0">
                <a:solidFill>
                  <a:srgbClr val="000000"/>
                </a:solidFill>
                <a:latin typeface="Times New Roman" panose="02020603050405020304" pitchFamily="18" charset="0"/>
                <a:ea typeface="华文楷体" panose="02010600040101010101" pitchFamily="2" charset="-122"/>
              </a:rPr>
              <a:t>T*</a:t>
            </a:r>
            <a:r>
              <a:rPr lang="zh-CN" altLang="en-US" sz="2000" b="1" dirty="0">
                <a:solidFill>
                  <a:srgbClr val="000000"/>
                </a:solidFill>
                <a:latin typeface="Times New Roman" panose="02020603050405020304" pitchFamily="18" charset="0"/>
                <a:ea typeface="华文楷体" panose="02010600040101010101" pitchFamily="2" charset="-122"/>
              </a:rPr>
              <a:t>类型的转换</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operator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 ()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getSize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取数组的大小</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resize(</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修改数组的大小</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214313" y="642938"/>
            <a:ext cx="8786812" cy="594008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Array&lt;T&gt;::Array(</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构造函数</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assert(</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&gt;= 0);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zh-CN" altLang="en-US" sz="2000" b="1" dirty="0">
                <a:solidFill>
                  <a:srgbClr val="000000"/>
                </a:solidFill>
                <a:latin typeface="Times New Roman" panose="02020603050405020304" pitchFamily="18" charset="0"/>
                <a:ea typeface="华文楷体" panose="02010600040101010101" pitchFamily="2" charset="-122"/>
              </a:rPr>
              <a:t>为数组大小（元素个数），应当非负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size =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将元素个数赋值给变量</a:t>
            </a:r>
            <a:r>
              <a:rPr lang="en-US" altLang="zh-CN" sz="2000" b="1" dirty="0">
                <a:solidFill>
                  <a:srgbClr val="000000"/>
                </a:solidFill>
                <a:latin typeface="Times New Roman" panose="02020603050405020304" pitchFamily="18" charset="0"/>
                <a:ea typeface="华文楷体" panose="02010600040101010101" pitchFamily="2" charset="-122"/>
              </a:rPr>
              <a:t>size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 = new T [size];		//</a:t>
            </a:r>
            <a:r>
              <a:rPr lang="zh-CN" altLang="en-US" sz="2000" b="1" dirty="0">
                <a:solidFill>
                  <a:srgbClr val="000000"/>
                </a:solidFill>
                <a:latin typeface="Times New Roman" panose="02020603050405020304" pitchFamily="18" charset="0"/>
                <a:ea typeface="华文楷体" panose="02010600040101010101" pitchFamily="2" charset="-122"/>
              </a:rPr>
              <a:t>动态分配</a:t>
            </a:r>
            <a:r>
              <a:rPr lang="en-US" altLang="zh-CN" sz="2000" b="1" dirty="0">
                <a:solidFill>
                  <a:srgbClr val="000000"/>
                </a:solidFill>
                <a:latin typeface="Times New Roman" panose="02020603050405020304" pitchFamily="18" charset="0"/>
                <a:ea typeface="华文楷体" panose="02010600040101010101" pitchFamily="2" charset="-122"/>
              </a:rPr>
              <a:t>size</a:t>
            </a:r>
            <a:r>
              <a:rPr lang="zh-CN" altLang="en-US" sz="2000" b="1" dirty="0">
                <a:solidFill>
                  <a:srgbClr val="000000"/>
                </a:solidFill>
                <a:latin typeface="Times New Roman" panose="02020603050405020304" pitchFamily="18" charset="0"/>
                <a:ea typeface="华文楷体" panose="02010600040101010101" pitchFamily="2" charset="-122"/>
              </a:rPr>
              <a:t>个</a:t>
            </a:r>
            <a:r>
              <a:rPr lang="en-US" altLang="zh-CN" sz="2000" b="1" dirty="0">
                <a:solidFill>
                  <a:srgbClr val="000000"/>
                </a:solidFill>
                <a:latin typeface="Times New Roman" panose="02020603050405020304" pitchFamily="18" charset="0"/>
                <a:ea typeface="华文楷体" panose="02010600040101010101" pitchFamily="2" charset="-122"/>
              </a:rPr>
              <a:t>T</a:t>
            </a:r>
            <a:r>
              <a:rPr lang="zh-CN" altLang="en-US" sz="2000" b="1" dirty="0">
                <a:solidFill>
                  <a:srgbClr val="000000"/>
                </a:solidFill>
                <a:latin typeface="Times New Roman" panose="02020603050405020304" pitchFamily="18" charset="0"/>
                <a:ea typeface="华文楷体" panose="02010600040101010101" pitchFamily="2" charset="-122"/>
              </a:rPr>
              <a:t>类型的元素空间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Array&lt;T&gt;::~Array() { //</a:t>
            </a:r>
            <a:r>
              <a:rPr lang="zh-CN" altLang="en-US" sz="2000" b="1" dirty="0">
                <a:solidFill>
                  <a:srgbClr val="000000"/>
                </a:solidFill>
                <a:latin typeface="Times New Roman" panose="02020603050405020304" pitchFamily="18" charset="0"/>
                <a:ea typeface="华文楷体" panose="02010600040101010101" pitchFamily="2" charset="-122"/>
              </a:rPr>
              <a:t>析构函数</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delete [] list;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复制构造函数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Array&lt;T&gt;::Array(</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Array&lt;T&gt; &amp;a)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size = </a:t>
            </a:r>
            <a:r>
              <a:rPr lang="en-US" altLang="zh-CN" sz="2000" b="1" dirty="0" err="1">
                <a:solidFill>
                  <a:srgbClr val="000000"/>
                </a:solidFill>
                <a:latin typeface="Times New Roman" panose="02020603050405020304" pitchFamily="18" charset="0"/>
                <a:ea typeface="华文楷体" panose="02010600040101010101" pitchFamily="2" charset="-122"/>
              </a:rPr>
              <a:t>a.size</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从对象</a:t>
            </a:r>
            <a:r>
              <a:rPr lang="en-US" altLang="zh-CN" sz="2000" b="1" dirty="0">
                <a:solidFill>
                  <a:srgbClr val="000000"/>
                </a:solidFill>
                <a:latin typeface="Times New Roman" panose="02020603050405020304" pitchFamily="18" charset="0"/>
                <a:ea typeface="华文楷体" panose="02010600040101010101" pitchFamily="2" charset="-122"/>
              </a:rPr>
              <a:t>x</a:t>
            </a:r>
            <a:r>
              <a:rPr lang="zh-CN" altLang="en-US" sz="2000" b="1" dirty="0">
                <a:solidFill>
                  <a:srgbClr val="000000"/>
                </a:solidFill>
                <a:latin typeface="Times New Roman" panose="02020603050405020304" pitchFamily="18" charset="0"/>
                <a:ea typeface="华文楷体" panose="02010600040101010101" pitchFamily="2" charset="-122"/>
              </a:rPr>
              <a:t>取得数组大小，并赋值给当前对象的成员</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为对象申请内存并进行出错检查</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list = new T[size];		// </a:t>
            </a:r>
            <a:r>
              <a:rPr lang="zh-CN" altLang="en-US" sz="2000" b="1" dirty="0">
                <a:solidFill>
                  <a:srgbClr val="000000"/>
                </a:solidFill>
                <a:latin typeface="Times New Roman" panose="02020603050405020304" pitchFamily="18" charset="0"/>
                <a:ea typeface="华文楷体" panose="02010600040101010101" pitchFamily="2" charset="-122"/>
              </a:rPr>
              <a:t>动态分配</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个</a:t>
            </a:r>
            <a:r>
              <a:rPr lang="en-US" altLang="zh-CN" sz="2000" b="1" dirty="0">
                <a:solidFill>
                  <a:srgbClr val="000000"/>
                </a:solidFill>
                <a:latin typeface="Times New Roman" panose="02020603050405020304" pitchFamily="18" charset="0"/>
                <a:ea typeface="华文楷体" panose="02010600040101010101" pitchFamily="2" charset="-122"/>
              </a:rPr>
              <a:t>T</a:t>
            </a:r>
            <a:r>
              <a:rPr lang="zh-CN" altLang="en-US" sz="2000" b="1" dirty="0">
                <a:solidFill>
                  <a:srgbClr val="000000"/>
                </a:solidFill>
                <a:latin typeface="Times New Roman" panose="02020603050405020304" pitchFamily="18" charset="0"/>
                <a:ea typeface="华文楷体" panose="02010600040101010101" pitchFamily="2" charset="-122"/>
              </a:rPr>
              <a:t>类型的元素空间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size;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从对象</a:t>
            </a:r>
            <a:r>
              <a:rPr lang="en-US" altLang="zh-CN" sz="2000" b="1" dirty="0">
                <a:solidFill>
                  <a:srgbClr val="000000"/>
                </a:solidFill>
                <a:latin typeface="Times New Roman" panose="02020603050405020304" pitchFamily="18" charset="0"/>
                <a:ea typeface="华文楷体" panose="02010600040101010101" pitchFamily="2" charset="-122"/>
              </a:rPr>
              <a:t>X</a:t>
            </a:r>
            <a:r>
              <a:rPr lang="zh-CN" altLang="en-US" sz="2000" b="1" dirty="0">
                <a:solidFill>
                  <a:srgbClr val="000000"/>
                </a:solidFill>
                <a:latin typeface="Times New Roman" panose="02020603050405020304" pitchFamily="18" charset="0"/>
                <a:ea typeface="华文楷体" panose="02010600040101010101" pitchFamily="2" charset="-122"/>
              </a:rPr>
              <a:t>复制数组元素到本对象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a.list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31749" name="标题 1"/>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endParaRPr lang="zh-CN" alt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214313" y="642938"/>
            <a:ext cx="8786812" cy="501675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重载</a:t>
            </a: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运算符，将对象</a:t>
            </a:r>
            <a:r>
              <a:rPr lang="en-US" altLang="zh-CN" sz="2000" b="1">
                <a:solidFill>
                  <a:srgbClr val="000000"/>
                </a:solidFill>
                <a:latin typeface="Times New Roman" panose="02020603050405020304" pitchFamily="18" charset="0"/>
                <a:ea typeface="华文楷体" panose="02010600040101010101" pitchFamily="2" charset="-122"/>
              </a:rPr>
              <a:t>rhs</a:t>
            </a:r>
            <a:r>
              <a:rPr lang="zh-CN" altLang="en-US" sz="2000" b="1">
                <a:solidFill>
                  <a:srgbClr val="000000"/>
                </a:solidFill>
                <a:latin typeface="Times New Roman" panose="02020603050405020304" pitchFamily="18" charset="0"/>
                <a:ea typeface="华文楷体" panose="02010600040101010101" pitchFamily="2" charset="-122"/>
              </a:rPr>
              <a:t>赋值给本对象。实现对象之间的整体赋值</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Array&lt;T&gt; &amp;Array&lt;T&gt;::operator = (const Array&lt;T&gt;&amp; rhs)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if (&amp;rhs != this)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如果本对象中数组大小与</a:t>
            </a:r>
            <a:r>
              <a:rPr lang="en-US" altLang="zh-CN" sz="2000" b="1">
                <a:solidFill>
                  <a:srgbClr val="000000"/>
                </a:solidFill>
                <a:latin typeface="Times New Roman" panose="02020603050405020304" pitchFamily="18" charset="0"/>
                <a:ea typeface="华文楷体" panose="02010600040101010101" pitchFamily="2" charset="-122"/>
              </a:rPr>
              <a:t>rhs</a:t>
            </a:r>
            <a:r>
              <a:rPr lang="zh-CN" altLang="en-US" sz="2000" b="1">
                <a:solidFill>
                  <a:srgbClr val="000000"/>
                </a:solidFill>
                <a:latin typeface="Times New Roman" panose="02020603050405020304" pitchFamily="18" charset="0"/>
                <a:ea typeface="华文楷体" panose="02010600040101010101" pitchFamily="2" charset="-122"/>
              </a:rPr>
              <a:t>不同，则删除数组原有内存，然后重新分配</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if (size != rhs.size)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delete [] list;	//</a:t>
            </a:r>
            <a:r>
              <a:rPr lang="zh-CN" altLang="en-US" sz="2000" b="1">
                <a:solidFill>
                  <a:srgbClr val="000000"/>
                </a:solidFill>
                <a:latin typeface="Times New Roman" panose="02020603050405020304" pitchFamily="18" charset="0"/>
                <a:ea typeface="华文楷体" panose="02010600040101010101" pitchFamily="2" charset="-122"/>
              </a:rPr>
              <a:t>删除数组原有内存</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size = rhs.size;	//</a:t>
            </a:r>
            <a:r>
              <a:rPr lang="zh-CN" altLang="en-US" sz="2000" b="1">
                <a:solidFill>
                  <a:srgbClr val="000000"/>
                </a:solidFill>
                <a:latin typeface="Times New Roman" panose="02020603050405020304" pitchFamily="18" charset="0"/>
                <a:ea typeface="华文楷体" panose="02010600040101010101" pitchFamily="2" charset="-122"/>
              </a:rPr>
              <a:t>设置本对象的数组大小</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list = new T[size];	//</a:t>
            </a:r>
            <a:r>
              <a:rPr lang="zh-CN" altLang="en-US" sz="2000" b="1">
                <a:solidFill>
                  <a:srgbClr val="000000"/>
                </a:solidFill>
                <a:latin typeface="Times New Roman" panose="02020603050405020304" pitchFamily="18" charset="0"/>
                <a:ea typeface="华文楷体" panose="02010600040101010101" pitchFamily="2" charset="-122"/>
              </a:rPr>
              <a:t>重新分配</a:t>
            </a:r>
            <a:r>
              <a:rPr lang="en-US" altLang="zh-CN" sz="2000" b="1">
                <a:solidFill>
                  <a:srgbClr val="000000"/>
                </a:solidFill>
                <a:latin typeface="Times New Roman" panose="02020603050405020304" pitchFamily="18" charset="0"/>
                <a:ea typeface="华文楷体" panose="02010600040101010101" pitchFamily="2" charset="-122"/>
              </a:rPr>
              <a:t>n</a:t>
            </a:r>
            <a:r>
              <a:rPr lang="zh-CN" altLang="en-US" sz="2000" b="1">
                <a:solidFill>
                  <a:srgbClr val="000000"/>
                </a:solidFill>
                <a:latin typeface="Times New Roman" panose="02020603050405020304" pitchFamily="18" charset="0"/>
                <a:ea typeface="华文楷体" panose="02010600040101010101" pitchFamily="2" charset="-122"/>
              </a:rPr>
              <a:t>个元素的内存</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r>
              <a:rPr lang="zh-CN" altLang="en-US" sz="2000" b="1">
                <a:solidFill>
                  <a:srgbClr val="000000"/>
                </a:solidFill>
                <a:latin typeface="Times New Roman" panose="02020603050405020304" pitchFamily="18" charset="0"/>
                <a:ea typeface="华文楷体" panose="02010600040101010101" pitchFamily="2" charset="-122"/>
              </a:rPr>
              <a:t>从对象</a:t>
            </a:r>
            <a:r>
              <a:rPr lang="en-US" altLang="zh-CN" sz="2000" b="1">
                <a:solidFill>
                  <a:srgbClr val="000000"/>
                </a:solidFill>
                <a:latin typeface="Times New Roman" panose="02020603050405020304" pitchFamily="18" charset="0"/>
                <a:ea typeface="华文楷体" panose="02010600040101010101" pitchFamily="2" charset="-122"/>
              </a:rPr>
              <a:t>X</a:t>
            </a:r>
            <a:r>
              <a:rPr lang="zh-CN" altLang="en-US" sz="2000" b="1">
                <a:solidFill>
                  <a:srgbClr val="000000"/>
                </a:solidFill>
                <a:latin typeface="Times New Roman" panose="02020603050405020304" pitchFamily="18" charset="0"/>
                <a:ea typeface="华文楷体" panose="02010600040101010101" pitchFamily="2" charset="-122"/>
              </a:rPr>
              <a:t>复制数组元素到本对象  </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for (int i = 0; i &lt; size; 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list[i] = rhs.list[i];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*this;	//</a:t>
            </a:r>
            <a:r>
              <a:rPr lang="zh-CN" altLang="en-US" sz="2000" b="1">
                <a:solidFill>
                  <a:srgbClr val="000000"/>
                </a:solidFill>
                <a:latin typeface="Times New Roman" panose="02020603050405020304" pitchFamily="18" charset="0"/>
                <a:ea typeface="华文楷体" panose="02010600040101010101" pitchFamily="2" charset="-122"/>
              </a:rPr>
              <a:t>返回当前对象的引用</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
        <p:nvSpPr>
          <p:cNvPr id="32773" name="标题 1"/>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endParaRPr lang="zh-CN"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内容占位符 2"/>
          <p:cNvSpPr>
            <a:spLocks noGrp="1"/>
          </p:cNvSpPr>
          <p:nvPr>
            <p:ph idx="1"/>
          </p:nvPr>
        </p:nvSpPr>
        <p:spPr>
          <a:xfrm>
            <a:off x="179512" y="260648"/>
            <a:ext cx="8786812" cy="655564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重载下标运算符，实现与普通数组一样通过下标访问元素</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并且具有越界检查功能</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 &amp;Array&lt;T&gt;::operator[]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assert(n &gt;= 0 &amp;&amp; n &lt; size);	//</a:t>
            </a:r>
            <a:r>
              <a:rPr lang="zh-CN" altLang="en-US" sz="2000" b="1" dirty="0">
                <a:solidFill>
                  <a:srgbClr val="000000"/>
                </a:solidFill>
                <a:latin typeface="Times New Roman" panose="02020603050405020304" pitchFamily="18" charset="0"/>
                <a:ea typeface="华文楷体" panose="02010600040101010101" pitchFamily="2" charset="-122"/>
              </a:rPr>
              <a:t>检查下标是否越界</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list[n];			//</a:t>
            </a:r>
            <a:r>
              <a:rPr lang="zh-CN" altLang="en-US" sz="2000" b="1" dirty="0">
                <a:solidFill>
                  <a:srgbClr val="000000"/>
                </a:solidFill>
                <a:latin typeface="Times New Roman" panose="02020603050405020304" pitchFamily="18" charset="0"/>
                <a:ea typeface="华文楷体" panose="02010600040101010101" pitchFamily="2" charset="-122"/>
              </a:rPr>
              <a:t>返回下标为</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的数组元素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&amp;Array&lt;T&gt;::operator[]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assert(n &gt;= 0 &amp;&amp; n &lt; size);	//</a:t>
            </a:r>
            <a:r>
              <a:rPr lang="zh-CN" altLang="en-US" sz="2000" b="1" dirty="0">
                <a:solidFill>
                  <a:srgbClr val="000000"/>
                </a:solidFill>
                <a:latin typeface="Times New Roman" panose="02020603050405020304" pitchFamily="18" charset="0"/>
                <a:ea typeface="华文楷体" panose="02010600040101010101" pitchFamily="2" charset="-122"/>
              </a:rPr>
              <a:t>检查下标是否越界</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list[n];			//</a:t>
            </a:r>
            <a:r>
              <a:rPr lang="zh-CN" altLang="en-US" sz="2000" b="1" dirty="0">
                <a:solidFill>
                  <a:srgbClr val="000000"/>
                </a:solidFill>
                <a:latin typeface="Times New Roman" panose="02020603050405020304" pitchFamily="18" charset="0"/>
                <a:ea typeface="华文楷体" panose="02010600040101010101" pitchFamily="2" charset="-122"/>
              </a:rPr>
              <a:t>返回下标为</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的数组元素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重载指针转换运算符，将</a:t>
            </a:r>
            <a:r>
              <a:rPr lang="en-US" altLang="zh-CN" sz="2000" b="1" dirty="0">
                <a:solidFill>
                  <a:srgbClr val="000000"/>
                </a:solidFill>
                <a:latin typeface="Times New Roman" panose="02020603050405020304" pitchFamily="18" charset="0"/>
                <a:ea typeface="华文楷体" panose="02010600040101010101" pitchFamily="2" charset="-122"/>
              </a:rPr>
              <a:t>Array</a:t>
            </a:r>
            <a:r>
              <a:rPr lang="zh-CN" altLang="en-US" sz="2000" b="1" dirty="0">
                <a:solidFill>
                  <a:srgbClr val="000000"/>
                </a:solidFill>
                <a:latin typeface="Times New Roman" panose="02020603050405020304" pitchFamily="18" charset="0"/>
                <a:ea typeface="华文楷体" panose="02010600040101010101" pitchFamily="2" charset="-122"/>
              </a:rPr>
              <a:t>类的对象名转换为</a:t>
            </a:r>
            <a:r>
              <a:rPr lang="en-US" altLang="zh-CN" sz="2000" b="1" dirty="0">
                <a:solidFill>
                  <a:srgbClr val="000000"/>
                </a:solidFill>
                <a:latin typeface="Times New Roman" panose="02020603050405020304" pitchFamily="18" charset="0"/>
                <a:ea typeface="华文楷体" panose="02010600040101010101" pitchFamily="2" charset="-122"/>
              </a:rPr>
              <a:t>T</a:t>
            </a:r>
            <a:r>
              <a:rPr lang="zh-CN" altLang="en-US" sz="2000" b="1" dirty="0">
                <a:solidFill>
                  <a:srgbClr val="000000"/>
                </a:solidFill>
                <a:latin typeface="Times New Roman" panose="02020603050405020304" pitchFamily="18" charset="0"/>
                <a:ea typeface="华文楷体" panose="02010600040101010101" pitchFamily="2" charset="-122"/>
              </a:rPr>
              <a:t>类型的指针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Array&lt;T&gt;::operator T *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list;			//</a:t>
            </a:r>
            <a:r>
              <a:rPr lang="zh-CN" altLang="en-US" sz="2000" b="1" dirty="0">
                <a:solidFill>
                  <a:srgbClr val="000000"/>
                </a:solidFill>
                <a:latin typeface="Times New Roman" panose="02020603050405020304" pitchFamily="18" charset="0"/>
                <a:ea typeface="华文楷体" panose="02010600040101010101" pitchFamily="2" charset="-122"/>
              </a:rPr>
              <a:t>返回当前对象中私有数组的首地址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Array&lt;T&gt;::operator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 ()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list;	//</a:t>
            </a:r>
            <a:r>
              <a:rPr lang="zh-CN" altLang="en-US" sz="2000" b="1" dirty="0">
                <a:solidFill>
                  <a:srgbClr val="000000"/>
                </a:solidFill>
                <a:latin typeface="Times New Roman" panose="02020603050405020304" pitchFamily="18" charset="0"/>
                <a:ea typeface="华文楷体" panose="02010600040101010101" pitchFamily="2" charset="-122"/>
              </a:rPr>
              <a:t>返回当前对象中私有数组的首地址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3797" name="标题 1"/>
          <p:cNvSpPr>
            <a:spLocks noGrp="1"/>
          </p:cNvSpPr>
          <p:nvPr>
            <p:ph type="title"/>
          </p:nvPr>
        </p:nvSpPr>
        <p:spPr>
          <a:xfrm>
            <a:off x="6172200" y="692696"/>
            <a:ext cx="2971800" cy="709612"/>
          </a:xfrm>
          <a:solidFill>
            <a:schemeClr val="bg1"/>
          </a:solidFill>
        </p:spPr>
        <p:txBody>
          <a:bodyPr/>
          <a:lstStyle/>
          <a:p>
            <a:r>
              <a:rPr lang="zh-CN" altLang="en-US" dirty="0"/>
              <a:t>例</a:t>
            </a:r>
            <a:r>
              <a:rPr lang="en-US" altLang="zh-CN" dirty="0"/>
              <a:t>9-3</a:t>
            </a:r>
            <a:r>
              <a:rPr lang="zh-CN" altLang="en-US" dirty="0"/>
              <a:t>（续）</a:t>
            </a:r>
            <a:endParaRPr lang="zh-CN"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内容占位符 2"/>
          <p:cNvSpPr>
            <a:spLocks noGrp="1"/>
          </p:cNvSpPr>
          <p:nvPr>
            <p:ph idx="1"/>
          </p:nvPr>
        </p:nvSpPr>
        <p:spPr>
          <a:xfrm>
            <a:off x="179512" y="188640"/>
            <a:ext cx="8786812" cy="655564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取当前数组的大小</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Array&lt;T&gt;::</a:t>
            </a:r>
            <a:r>
              <a:rPr lang="en-US" altLang="zh-CN" sz="2000" b="1" dirty="0" err="1">
                <a:solidFill>
                  <a:srgbClr val="000000"/>
                </a:solidFill>
                <a:latin typeface="Times New Roman" panose="02020603050405020304" pitchFamily="18" charset="0"/>
                <a:ea typeface="华文楷体" panose="02010600040101010101" pitchFamily="2" charset="-122"/>
              </a:rPr>
              <a:t>getSize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size;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将数组大小修改为</a:t>
            </a:r>
            <a:r>
              <a:rPr lang="en-US" altLang="zh-CN" sz="2000" b="1" dirty="0" err="1">
                <a:solidFill>
                  <a:srgbClr val="000000"/>
                </a:solidFill>
                <a:latin typeface="Times New Roman" panose="02020603050405020304" pitchFamily="18" charset="0"/>
                <a:ea typeface="华文楷体" panose="02010600040101010101" pitchFamily="2" charset="-122"/>
              </a:rPr>
              <a:t>sz</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Array&lt;T&gt;::resize(</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assert(</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&gt;= 0);	//</a:t>
            </a:r>
            <a:r>
              <a:rPr lang="zh-CN" altLang="en-US" sz="2000" b="1" dirty="0">
                <a:solidFill>
                  <a:srgbClr val="000000"/>
                </a:solidFill>
                <a:latin typeface="Times New Roman" panose="02020603050405020304" pitchFamily="18" charset="0"/>
                <a:ea typeface="华文楷体" panose="02010600040101010101" pitchFamily="2" charset="-122"/>
              </a:rPr>
              <a:t>检查</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zh-CN" altLang="en-US" sz="2000" b="1" dirty="0">
                <a:solidFill>
                  <a:srgbClr val="000000"/>
                </a:solidFill>
                <a:latin typeface="Times New Roman" panose="02020603050405020304" pitchFamily="18" charset="0"/>
                <a:ea typeface="华文楷体" panose="02010600040101010101" pitchFamily="2" charset="-122"/>
              </a:rPr>
              <a:t>是否非负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if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 size)	//</a:t>
            </a:r>
            <a:r>
              <a:rPr lang="zh-CN" altLang="en-US" sz="2000" b="1" dirty="0">
                <a:solidFill>
                  <a:srgbClr val="000000"/>
                </a:solidFill>
                <a:latin typeface="Times New Roman" panose="02020603050405020304" pitchFamily="18" charset="0"/>
                <a:ea typeface="华文楷体" panose="02010600040101010101" pitchFamily="2" charset="-122"/>
              </a:rPr>
              <a:t>如果指定的大小与原有大小一样，什么也不做</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a:t>
            </a:r>
            <a:r>
              <a:rPr lang="en-US" altLang="zh-CN" sz="2000" b="1" dirty="0" err="1">
                <a:solidFill>
                  <a:srgbClr val="000000"/>
                </a:solidFill>
                <a:latin typeface="Times New Roman" panose="02020603050405020304" pitchFamily="18" charset="0"/>
                <a:ea typeface="华文楷体" panose="02010600040101010101" pitchFamily="2" charset="-122"/>
              </a:rPr>
              <a:t>newList</a:t>
            </a:r>
            <a:r>
              <a:rPr lang="en-US" altLang="zh-CN" sz="2000" b="1" dirty="0">
                <a:solidFill>
                  <a:srgbClr val="000000"/>
                </a:solidFill>
                <a:latin typeface="Times New Roman" panose="02020603050405020304" pitchFamily="18" charset="0"/>
                <a:ea typeface="华文楷体" panose="02010600040101010101" pitchFamily="2" charset="-122"/>
              </a:rPr>
              <a:t> = new T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申请新的数组内存</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&lt; size) ?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 size;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zh-CN" altLang="en-US" sz="2000" b="1" dirty="0">
                <a:solidFill>
                  <a:srgbClr val="000000"/>
                </a:solidFill>
                <a:latin typeface="Times New Roman" panose="02020603050405020304" pitchFamily="18" charset="0"/>
                <a:ea typeface="华文楷体" panose="02010600040101010101" pitchFamily="2" charset="-122"/>
              </a:rPr>
              <a:t>与</a:t>
            </a:r>
            <a:r>
              <a:rPr lang="en-US" altLang="zh-CN" sz="2000" b="1" dirty="0">
                <a:solidFill>
                  <a:srgbClr val="000000"/>
                </a:solidFill>
                <a:latin typeface="Times New Roman" panose="02020603050405020304" pitchFamily="18" charset="0"/>
                <a:ea typeface="华文楷体" panose="02010600040101010101" pitchFamily="2" charset="-122"/>
              </a:rPr>
              <a:t>size</a:t>
            </a:r>
            <a:r>
              <a:rPr lang="zh-CN" altLang="en-US" sz="2000" b="1" dirty="0">
                <a:solidFill>
                  <a:srgbClr val="000000"/>
                </a:solidFill>
                <a:latin typeface="Times New Roman" panose="02020603050405020304" pitchFamily="18" charset="0"/>
                <a:ea typeface="华文楷体" panose="02010600040101010101" pitchFamily="2" charset="-122"/>
              </a:rPr>
              <a:t>中较小的一个赋值给</a:t>
            </a:r>
            <a:r>
              <a:rPr lang="en-US" altLang="zh-CN" sz="2000" b="1" dirty="0">
                <a:solidFill>
                  <a:srgbClr val="000000"/>
                </a:solidFill>
                <a:latin typeface="Times New Roman" panose="02020603050405020304" pitchFamily="18" charset="0"/>
                <a:ea typeface="华文楷体" panose="02010600040101010101" pitchFamily="2" charset="-122"/>
              </a:rPr>
              <a:t>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将原有数组中前</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个元素复制到新数组中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n;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newList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list[</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delete[] list;		//</a:t>
            </a:r>
            <a:r>
              <a:rPr lang="zh-CN" altLang="en-US" sz="2000" b="1" dirty="0">
                <a:solidFill>
                  <a:srgbClr val="000000"/>
                </a:solidFill>
                <a:latin typeface="Times New Roman" panose="02020603050405020304" pitchFamily="18" charset="0"/>
                <a:ea typeface="华文楷体" panose="02010600040101010101" pitchFamily="2" charset="-122"/>
              </a:rPr>
              <a:t>删除原数组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list = </a:t>
            </a:r>
            <a:r>
              <a:rPr lang="en-US" altLang="zh-CN" sz="2000" b="1" dirty="0" err="1">
                <a:solidFill>
                  <a:srgbClr val="000000"/>
                </a:solidFill>
                <a:latin typeface="Times New Roman" panose="02020603050405020304" pitchFamily="18" charset="0"/>
                <a:ea typeface="华文楷体" panose="02010600040101010101" pitchFamily="2" charset="-122"/>
              </a:rPr>
              <a:t>newList</a:t>
            </a: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使</a:t>
            </a:r>
            <a:r>
              <a:rPr lang="en-US" altLang="zh-CN" sz="2000" b="1" dirty="0">
                <a:solidFill>
                  <a:srgbClr val="000000"/>
                </a:solidFill>
                <a:latin typeface="Times New Roman" panose="02020603050405020304" pitchFamily="18" charset="0"/>
                <a:ea typeface="华文楷体" panose="02010600040101010101" pitchFamily="2" charset="-122"/>
              </a:rPr>
              <a:t>list</a:t>
            </a:r>
            <a:r>
              <a:rPr lang="zh-CN" altLang="en-US" sz="2000" b="1" dirty="0">
                <a:solidFill>
                  <a:srgbClr val="000000"/>
                </a:solidFill>
                <a:latin typeface="Times New Roman" panose="02020603050405020304" pitchFamily="18" charset="0"/>
                <a:ea typeface="华文楷体" panose="02010600040101010101" pitchFamily="2" charset="-122"/>
              </a:rPr>
              <a:t>指向新数组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size = </a:t>
            </a:r>
            <a:r>
              <a:rPr lang="en-US" altLang="zh-CN" sz="2000" b="1" dirty="0" err="1">
                <a:solidFill>
                  <a:srgbClr val="000000"/>
                </a:solidFill>
                <a:latin typeface="Times New Roman" panose="02020603050405020304" pitchFamily="18" charset="0"/>
                <a:ea typeface="华文楷体" panose="02010600040101010101" pitchFamily="2" charset="-122"/>
              </a:rPr>
              <a:t>sz</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更新</a:t>
            </a:r>
            <a:r>
              <a:rPr lang="en-US" altLang="zh-CN" sz="2000" b="1" dirty="0">
                <a:solidFill>
                  <a:srgbClr val="000000"/>
                </a:solidFill>
                <a:latin typeface="Times New Roman" panose="02020603050405020304" pitchFamily="18" charset="0"/>
                <a:ea typeface="华文楷体" panose="02010600040101010101" pitchFamily="2" charset="-122"/>
              </a:rPr>
              <a:t>size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endif</a:t>
            </a:r>
            <a:r>
              <a:rPr lang="en-US" altLang="zh-CN" sz="2000" b="1" dirty="0">
                <a:solidFill>
                  <a:srgbClr val="000000"/>
                </a:solidFill>
                <a:latin typeface="Times New Roman" panose="02020603050405020304" pitchFamily="18" charset="0"/>
                <a:ea typeface="华文楷体" panose="02010600040101010101" pitchFamily="2" charset="-122"/>
              </a:rPr>
              <a:t>  //ARRAY_H</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4821" name="标题 1"/>
          <p:cNvSpPr>
            <a:spLocks noGrp="1"/>
          </p:cNvSpPr>
          <p:nvPr>
            <p:ph type="title"/>
          </p:nvPr>
        </p:nvSpPr>
        <p:spPr>
          <a:xfrm>
            <a:off x="6172200" y="5929313"/>
            <a:ext cx="2971800" cy="709612"/>
          </a:xfrm>
          <a:solidFill>
            <a:schemeClr val="bg1"/>
          </a:solidFill>
        </p:spPr>
        <p:txBody>
          <a:bodyPr/>
          <a:lstStyle/>
          <a:p>
            <a:r>
              <a:rPr lang="zh-CN" altLang="en-US"/>
              <a:t>例</a:t>
            </a:r>
            <a:r>
              <a:rPr lang="en-US" altLang="zh-CN"/>
              <a:t>9-3</a:t>
            </a:r>
            <a:r>
              <a:rPr lang="zh-CN" altLang="en-US"/>
              <a:t>（续）</a:t>
            </a:r>
            <a:endParaRPr lang="zh-CN"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611560" y="1556792"/>
            <a:ext cx="7886700" cy="4351338"/>
          </a:xfrm>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几个问题：</a:t>
            </a:r>
            <a:endParaRPr lang="en-US" altLang="zh-CN" sz="2400" b="1" dirty="0">
              <a:solidFill>
                <a:srgbClr val="FFFF00"/>
              </a:solidFill>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为什么例题</a:t>
            </a:r>
            <a:r>
              <a:rPr lang="en-US" altLang="zh-CN" sz="2400" b="1" dirty="0">
                <a:ea typeface="华文楷体" panose="02010600040101010101" pitchFamily="2" charset="-122"/>
              </a:rPr>
              <a:t>9-3</a:t>
            </a:r>
            <a:r>
              <a:rPr lang="zh-CN" altLang="en-US" sz="2400" b="1" dirty="0">
                <a:ea typeface="华文楷体" panose="02010600040101010101" pitchFamily="2" charset="-122"/>
              </a:rPr>
              <a:t>的复制</a:t>
            </a:r>
            <a:r>
              <a:rPr lang="zh-CN" altLang="en-US" sz="2400" b="1">
                <a:ea typeface="华文楷体" panose="02010600040101010101" pitchFamily="2" charset="-122"/>
              </a:rPr>
              <a:t>构造函数需要这么复杂</a:t>
            </a:r>
            <a:r>
              <a:rPr lang="zh-CN" altLang="en-US" sz="2400" b="1" dirty="0">
                <a:ea typeface="华文楷体" panose="02010600040101010101" pitchFamily="2" charset="-122"/>
              </a:rPr>
              <a:t>，而不是采用简单的赋值？</a:t>
            </a:r>
            <a:endParaRPr lang="en-US" altLang="zh-CN" sz="2400" b="1" dirty="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为什么有些函数，例如重载赋值运算符函数、重载下标运算符函数等，返回值类型是对象的引用？可以修改为返回对象类型吗？</a:t>
            </a:r>
            <a:endParaRPr lang="en-US" altLang="zh-CN" sz="2400" b="1" dirty="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为什么需要重载指针转换运算符？</a:t>
            </a:r>
            <a:endParaRPr lang="zh-CN" altLang="en-US" sz="2400" b="1" dirty="0">
              <a:ea typeface="华文楷体" panose="02010600040101010101" pitchFamily="2" charset="-122"/>
            </a:endParaRPr>
          </a:p>
        </p:txBody>
      </p:sp>
      <p:sp>
        <p:nvSpPr>
          <p:cNvPr id="5" name="标题 1"/>
          <p:cNvSpPr>
            <a:spLocks noGrp="1"/>
          </p:cNvSpPr>
          <p:nvPr>
            <p:ph type="title"/>
          </p:nvPr>
        </p:nvSpPr>
        <p:spPr>
          <a:xfrm>
            <a:off x="628650" y="519261"/>
            <a:ext cx="7886700" cy="1325563"/>
          </a:xfrm>
        </p:spPr>
        <p:txBody>
          <a:bodyPr/>
          <a:lstStyle/>
          <a:p>
            <a:r>
              <a:rPr lang="zh-CN" altLang="en-US" b="1" dirty="0"/>
              <a:t>例</a:t>
            </a:r>
            <a:r>
              <a:rPr lang="en-US" altLang="zh-CN" b="1" dirty="0"/>
              <a:t>9-3 </a:t>
            </a:r>
            <a:r>
              <a:rPr lang="zh-CN" altLang="en-US" b="1" dirty="0"/>
              <a:t>动态数组类模板程序</a:t>
            </a:r>
            <a:endParaRPr kumimoji="1" lang="zh-CN" altLang="en-US" b="1"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5843"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深拷贝</a:t>
            </a:r>
            <a:endParaRPr lang="zh-CN" altLang="en-US" sz="4400" b="1">
              <a:latin typeface="Times New Roman" panose="02020603050405020304" pitchFamily="18" charset="0"/>
              <a:ea typeface="隶书" panose="02010509060101010101" pitchFamily="49" charset="-122"/>
            </a:endParaRPr>
          </a:p>
        </p:txBody>
      </p:sp>
      <p:grpSp>
        <p:nvGrpSpPr>
          <p:cNvPr id="35845" name="Group 1082"/>
          <p:cNvGrpSpPr/>
          <p:nvPr/>
        </p:nvGrpSpPr>
        <p:grpSpPr bwMode="auto">
          <a:xfrm>
            <a:off x="1219200" y="1768475"/>
            <a:ext cx="6400800" cy="4632325"/>
            <a:chOff x="768" y="1114"/>
            <a:chExt cx="4032" cy="2918"/>
          </a:xfrm>
        </p:grpSpPr>
        <p:sp>
          <p:nvSpPr>
            <p:cNvPr id="45" name="Text Box 1030"/>
            <p:cNvSpPr txBox="1">
              <a:spLocks noChangeArrowheads="1"/>
            </p:cNvSpPr>
            <p:nvPr/>
          </p:nvSpPr>
          <p:spPr bwMode="auto">
            <a:xfrm>
              <a:off x="958" y="1960"/>
              <a:ext cx="371" cy="561"/>
            </a:xfrm>
            <a:prstGeom prst="rect">
              <a:avLst/>
            </a:prstGeom>
            <a:noFill/>
            <a:ln w="9525">
              <a:solidFill>
                <a:schemeClr val="accent3">
                  <a:lumMod val="75000"/>
                </a:schemeClr>
              </a:solidFill>
              <a:miter lim="800000"/>
            </a:ln>
          </p:spPr>
          <p:txBody>
            <a:bodyPr lIns="0" rIns="0"/>
            <a:lstStyle>
              <a:lvl1pPr eaLnBrk="0" hangingPunct="0">
                <a:defRPr sz="2400" b="1">
                  <a:solidFill>
                    <a:schemeClr val="bg2"/>
                  </a:solidFill>
                  <a:latin typeface="Times New Roman" panose="02020603050405020304" pitchFamily="18" charset="0"/>
                  <a:ea typeface="宋体" panose="02010600030101010101" pitchFamily="2" charset="-122"/>
                </a:defRPr>
              </a:lvl1pPr>
              <a:lvl2pPr marL="742950" indent="-285750" eaLnBrk="0" hangingPunct="0">
                <a:defRPr sz="2400" b="1">
                  <a:solidFill>
                    <a:schemeClr val="bg2"/>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bg2"/>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bg2"/>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9pPr>
            </a:lstStyle>
            <a:p>
              <a:pPr algn="just">
                <a:defRPr/>
              </a:pPr>
              <a:r>
                <a:rPr lang="en-US" altLang="zh-CN" sz="2000" dirty="0">
                  <a:solidFill>
                    <a:schemeClr val="tx1"/>
                  </a:solidFill>
                  <a:latin typeface="+mn-lt"/>
                  <a:ea typeface="华文楷体" panose="02010600040101010101" pitchFamily="2" charset="-122"/>
                </a:rPr>
                <a:t> list</a:t>
              </a:r>
              <a:endParaRPr lang="en-US" altLang="zh-CN" sz="2000" dirty="0">
                <a:solidFill>
                  <a:schemeClr val="tx1"/>
                </a:solidFill>
                <a:latin typeface="+mn-lt"/>
                <a:ea typeface="华文楷体" panose="02010600040101010101" pitchFamily="2" charset="-122"/>
              </a:endParaRPr>
            </a:p>
            <a:p>
              <a:pPr algn="just">
                <a:defRPr/>
              </a:pPr>
              <a:r>
                <a:rPr lang="en-US" altLang="zh-CN" sz="2000" dirty="0">
                  <a:solidFill>
                    <a:schemeClr val="tx1"/>
                  </a:solidFill>
                  <a:latin typeface="+mn-lt"/>
                  <a:ea typeface="华文楷体" panose="02010600040101010101" pitchFamily="2" charset="-122"/>
                </a:rPr>
                <a:t> size</a:t>
              </a:r>
              <a:endParaRPr lang="en-US" altLang="zh-CN" sz="2000" dirty="0">
                <a:solidFill>
                  <a:schemeClr val="tx1"/>
                </a:solidFill>
                <a:latin typeface="+mn-lt"/>
                <a:ea typeface="华文楷体" panose="02010600040101010101" pitchFamily="2" charset="-122"/>
              </a:endParaRPr>
            </a:p>
          </p:txBody>
        </p:sp>
        <p:sp>
          <p:nvSpPr>
            <p:cNvPr id="35847" name="Text Box 1031"/>
            <p:cNvSpPr txBox="1">
              <a:spLocks noChangeArrowheads="1"/>
            </p:cNvSpPr>
            <p:nvPr/>
          </p:nvSpPr>
          <p:spPr bwMode="auto">
            <a:xfrm>
              <a:off x="768" y="1926"/>
              <a:ext cx="13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b="1">
                  <a:latin typeface="+mn-lt"/>
                  <a:ea typeface="华文楷体" panose="02010600040101010101" pitchFamily="2" charset="-122"/>
                </a:rPr>
                <a:t>a</a:t>
              </a:r>
              <a:endParaRPr lang="en-US" altLang="zh-CN" sz="2000" b="1">
                <a:latin typeface="+mn-lt"/>
                <a:ea typeface="华文楷体" panose="02010600040101010101" pitchFamily="2" charset="-122"/>
              </a:endParaRPr>
            </a:p>
          </p:txBody>
        </p:sp>
        <p:grpSp>
          <p:nvGrpSpPr>
            <p:cNvPr id="35848" name="Group 1032"/>
            <p:cNvGrpSpPr/>
            <p:nvPr/>
          </p:nvGrpSpPr>
          <p:grpSpPr bwMode="auto">
            <a:xfrm>
              <a:off x="1709" y="2116"/>
              <a:ext cx="604" cy="829"/>
              <a:chOff x="3915" y="8565"/>
              <a:chExt cx="420" cy="2385"/>
            </a:xfrm>
          </p:grpSpPr>
          <p:sp>
            <p:nvSpPr>
              <p:cNvPr id="120" name="Rectangle 1033"/>
              <p:cNvSpPr>
                <a:spLocks noChangeArrowheads="1"/>
              </p:cNvSpPr>
              <p:nvPr/>
            </p:nvSpPr>
            <p:spPr bwMode="auto">
              <a:xfrm>
                <a:off x="3915" y="8565"/>
                <a:ext cx="420" cy="2385"/>
              </a:xfrm>
              <a:prstGeom prst="rect">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1" name="Line 1034"/>
              <p:cNvSpPr>
                <a:spLocks noChangeShapeType="1"/>
              </p:cNvSpPr>
              <p:nvPr/>
            </p:nvSpPr>
            <p:spPr bwMode="auto">
              <a:xfrm>
                <a:off x="3915" y="8804"/>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2" name="Line 1035"/>
              <p:cNvSpPr>
                <a:spLocks noChangeShapeType="1"/>
              </p:cNvSpPr>
              <p:nvPr/>
            </p:nvSpPr>
            <p:spPr bwMode="auto">
              <a:xfrm>
                <a:off x="3915" y="904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3" name="Line 1036"/>
              <p:cNvSpPr>
                <a:spLocks noChangeShapeType="1"/>
              </p:cNvSpPr>
              <p:nvPr/>
            </p:nvSpPr>
            <p:spPr bwMode="auto">
              <a:xfrm>
                <a:off x="3915" y="9284"/>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4" name="Line 1037"/>
              <p:cNvSpPr>
                <a:spLocks noChangeShapeType="1"/>
              </p:cNvSpPr>
              <p:nvPr/>
            </p:nvSpPr>
            <p:spPr bwMode="auto">
              <a:xfrm>
                <a:off x="3915" y="952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5" name="Line 1038"/>
              <p:cNvSpPr>
                <a:spLocks noChangeShapeType="1"/>
              </p:cNvSpPr>
              <p:nvPr/>
            </p:nvSpPr>
            <p:spPr bwMode="auto">
              <a:xfrm>
                <a:off x="3915" y="976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6" name="Line 1039"/>
              <p:cNvSpPr>
                <a:spLocks noChangeShapeType="1"/>
              </p:cNvSpPr>
              <p:nvPr/>
            </p:nvSpPr>
            <p:spPr bwMode="auto">
              <a:xfrm>
                <a:off x="3915" y="1000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7" name="Line 1040"/>
              <p:cNvSpPr>
                <a:spLocks noChangeShapeType="1"/>
              </p:cNvSpPr>
              <p:nvPr/>
            </p:nvSpPr>
            <p:spPr bwMode="auto">
              <a:xfrm>
                <a:off x="3915" y="1024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8" name="Line 1041"/>
              <p:cNvSpPr>
                <a:spLocks noChangeShapeType="1"/>
              </p:cNvSpPr>
              <p:nvPr/>
            </p:nvSpPr>
            <p:spPr bwMode="auto">
              <a:xfrm>
                <a:off x="3915" y="10484"/>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29" name="Line 1042"/>
              <p:cNvSpPr>
                <a:spLocks noChangeShapeType="1"/>
              </p:cNvSpPr>
              <p:nvPr/>
            </p:nvSpPr>
            <p:spPr bwMode="auto">
              <a:xfrm>
                <a:off x="3915" y="1072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grpSp>
        <p:sp>
          <p:nvSpPr>
            <p:cNvPr id="35849" name="Text Box 1043"/>
            <p:cNvSpPr txBox="1">
              <a:spLocks noChangeArrowheads="1"/>
            </p:cNvSpPr>
            <p:nvPr/>
          </p:nvSpPr>
          <p:spPr bwMode="auto">
            <a:xfrm>
              <a:off x="1709" y="1753"/>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b="1">
                  <a:latin typeface="+mn-lt"/>
                  <a:ea typeface="华文楷体" panose="02010600040101010101" pitchFamily="2" charset="-122"/>
                </a:rPr>
                <a:t>a</a:t>
              </a:r>
              <a:r>
                <a:rPr lang="zh-CN" altLang="en-US" sz="1400" b="1">
                  <a:latin typeface="+mn-lt"/>
                  <a:ea typeface="华文楷体" panose="02010600040101010101" pitchFamily="2" charset="-122"/>
                </a:rPr>
                <a:t>的数组元素</a:t>
              </a:r>
              <a:endParaRPr lang="zh-CN" altLang="en-US" sz="1400" b="1">
                <a:latin typeface="+mn-lt"/>
                <a:ea typeface="华文楷体" panose="02010600040101010101" pitchFamily="2" charset="-122"/>
              </a:endParaRPr>
            </a:p>
            <a:p>
              <a:pPr algn="just"/>
              <a:r>
                <a:rPr lang="zh-CN" altLang="en-US" sz="1400" b="1">
                  <a:latin typeface="+mn-lt"/>
                  <a:ea typeface="华文楷体" panose="02010600040101010101" pitchFamily="2" charset="-122"/>
                </a:rPr>
                <a:t>占用的内存</a:t>
              </a:r>
              <a:endParaRPr lang="zh-CN" altLang="en-US" sz="1400" b="1">
                <a:latin typeface="+mn-lt"/>
                <a:ea typeface="华文楷体" panose="02010600040101010101" pitchFamily="2" charset="-122"/>
              </a:endParaRPr>
            </a:p>
          </p:txBody>
        </p:sp>
        <p:sp>
          <p:nvSpPr>
            <p:cNvPr id="86" name="Line 1044"/>
            <p:cNvSpPr>
              <a:spLocks noChangeShapeType="1"/>
            </p:cNvSpPr>
            <p:nvPr/>
          </p:nvSpPr>
          <p:spPr bwMode="auto">
            <a:xfrm flipV="1">
              <a:off x="1329" y="2130"/>
              <a:ext cx="380" cy="0"/>
            </a:xfrm>
            <a:prstGeom prst="line">
              <a:avLst/>
            </a:prstGeom>
            <a:noFill/>
            <a:ln w="9525">
              <a:solidFill>
                <a:schemeClr val="accent3">
                  <a:lumMod val="75000"/>
                </a:schemeClr>
              </a:solidFill>
              <a:round/>
              <a:tailEnd type="triangle" w="sm" len="lg"/>
            </a:ln>
          </p:spPr>
          <p:txBody>
            <a:bodyPr/>
            <a:lstStyle/>
            <a:p>
              <a:pPr>
                <a:defRPr/>
              </a:pPr>
              <a:endParaRPr lang="zh-CN" altLang="en-US" b="1">
                <a:latin typeface="+mn-lt"/>
                <a:ea typeface="华文楷体" panose="02010600040101010101" pitchFamily="2" charset="-122"/>
              </a:endParaRPr>
            </a:p>
          </p:txBody>
        </p:sp>
        <p:sp>
          <p:nvSpPr>
            <p:cNvPr id="35851" name="Text Box 1045"/>
            <p:cNvSpPr txBox="1">
              <a:spLocks noChangeArrowheads="1"/>
            </p:cNvSpPr>
            <p:nvPr/>
          </p:nvSpPr>
          <p:spPr bwMode="auto">
            <a:xfrm>
              <a:off x="1044" y="3843"/>
              <a:ext cx="933"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000" b="1" dirty="0">
                  <a:solidFill>
                    <a:srgbClr val="FFFF00"/>
                  </a:solidFill>
                  <a:latin typeface="+mn-lt"/>
                  <a:ea typeface="华文楷体" panose="02010600040101010101" pitchFamily="2" charset="-122"/>
                </a:rPr>
                <a:t>拷贝前</a:t>
              </a:r>
              <a:endParaRPr lang="zh-CN" altLang="en-US" sz="2000" b="1" dirty="0">
                <a:solidFill>
                  <a:srgbClr val="FFFF00"/>
                </a:solidFill>
                <a:latin typeface="+mn-lt"/>
                <a:ea typeface="华文楷体" panose="02010600040101010101" pitchFamily="2" charset="-122"/>
              </a:endParaRPr>
            </a:p>
          </p:txBody>
        </p:sp>
        <p:sp>
          <p:nvSpPr>
            <p:cNvPr id="88" name="Text Box 1047"/>
            <p:cNvSpPr txBox="1">
              <a:spLocks noChangeArrowheads="1"/>
            </p:cNvSpPr>
            <p:nvPr/>
          </p:nvSpPr>
          <p:spPr bwMode="auto">
            <a:xfrm>
              <a:off x="3306" y="1322"/>
              <a:ext cx="372" cy="561"/>
            </a:xfrm>
            <a:prstGeom prst="rect">
              <a:avLst/>
            </a:prstGeom>
            <a:noFill/>
            <a:ln w="9525">
              <a:solidFill>
                <a:schemeClr val="accent3">
                  <a:lumMod val="75000"/>
                </a:schemeClr>
              </a:solidFill>
              <a:miter lim="800000"/>
            </a:ln>
          </p:spPr>
          <p:txBody>
            <a:bodyPr lIns="0" rIns="0"/>
            <a:lstStyle>
              <a:defPPr>
                <a:defRPr lang="zh-CN"/>
              </a:defPPr>
              <a:lvl1pPr algn="just" eaLnBrk="0" hangingPunct="0">
                <a:defRPr sz="1600">
                  <a:ea typeface="宋体" panose="02010600030101010101" pitchFamily="2" charset="-122"/>
                </a:defRPr>
              </a:lvl1pPr>
            </a:lstStyle>
            <a:p>
              <a:pPr>
                <a:defRPr/>
              </a:pPr>
              <a:r>
                <a:rPr lang="en-US" altLang="zh-CN" sz="2000" b="1" dirty="0">
                  <a:latin typeface="+mn-lt"/>
                  <a:ea typeface="华文楷体" panose="02010600040101010101" pitchFamily="2" charset="-122"/>
                </a:rPr>
                <a:t> list</a:t>
              </a:r>
              <a:endParaRPr lang="en-US" altLang="zh-CN" sz="2000" b="1" dirty="0">
                <a:latin typeface="+mn-lt"/>
                <a:ea typeface="华文楷体" panose="02010600040101010101" pitchFamily="2" charset="-122"/>
              </a:endParaRPr>
            </a:p>
            <a:p>
              <a:pPr>
                <a:defRPr/>
              </a:pPr>
              <a:r>
                <a:rPr lang="en-US" altLang="zh-CN" sz="2000" b="1" dirty="0">
                  <a:latin typeface="+mn-lt"/>
                  <a:ea typeface="华文楷体" panose="02010600040101010101" pitchFamily="2" charset="-122"/>
                </a:rPr>
                <a:t> size</a:t>
              </a:r>
              <a:endParaRPr lang="en-US" altLang="zh-CN" sz="2000" b="1" dirty="0">
                <a:latin typeface="+mn-lt"/>
                <a:ea typeface="华文楷体" panose="02010600040101010101" pitchFamily="2" charset="-122"/>
              </a:endParaRPr>
            </a:p>
          </p:txBody>
        </p:sp>
        <p:sp>
          <p:nvSpPr>
            <p:cNvPr id="35853" name="Text Box 1048"/>
            <p:cNvSpPr txBox="1">
              <a:spLocks noChangeArrowheads="1"/>
            </p:cNvSpPr>
            <p:nvPr/>
          </p:nvSpPr>
          <p:spPr bwMode="auto">
            <a:xfrm>
              <a:off x="3116" y="1287"/>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b="1">
                  <a:latin typeface="+mn-lt"/>
                  <a:ea typeface="华文楷体" panose="02010600040101010101" pitchFamily="2" charset="-122"/>
                </a:rPr>
                <a:t>a</a:t>
              </a:r>
              <a:endParaRPr lang="en-US" altLang="zh-CN" sz="2000" b="1">
                <a:latin typeface="+mn-lt"/>
                <a:ea typeface="华文楷体" panose="02010600040101010101" pitchFamily="2" charset="-122"/>
              </a:endParaRPr>
            </a:p>
          </p:txBody>
        </p:sp>
        <p:grpSp>
          <p:nvGrpSpPr>
            <p:cNvPr id="35854" name="Group 1049"/>
            <p:cNvGrpSpPr/>
            <p:nvPr/>
          </p:nvGrpSpPr>
          <p:grpSpPr bwMode="auto">
            <a:xfrm>
              <a:off x="4057" y="1477"/>
              <a:ext cx="605" cy="820"/>
              <a:chOff x="3915" y="8565"/>
              <a:chExt cx="420" cy="2385"/>
            </a:xfrm>
          </p:grpSpPr>
          <p:sp>
            <p:nvSpPr>
              <p:cNvPr id="110" name="Rectangle 1050"/>
              <p:cNvSpPr>
                <a:spLocks noChangeArrowheads="1"/>
              </p:cNvSpPr>
              <p:nvPr/>
            </p:nvSpPr>
            <p:spPr bwMode="auto">
              <a:xfrm>
                <a:off x="3915" y="8565"/>
                <a:ext cx="420" cy="2385"/>
              </a:xfrm>
              <a:prstGeom prst="rect">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1" name="Line 1051"/>
              <p:cNvSpPr>
                <a:spLocks noChangeShapeType="1"/>
              </p:cNvSpPr>
              <p:nvPr/>
            </p:nvSpPr>
            <p:spPr bwMode="auto">
              <a:xfrm>
                <a:off x="3915" y="880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2" name="Line 1052"/>
              <p:cNvSpPr>
                <a:spLocks noChangeShapeType="1"/>
              </p:cNvSpPr>
              <p:nvPr/>
            </p:nvSpPr>
            <p:spPr bwMode="auto">
              <a:xfrm>
                <a:off x="3915" y="904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3" name="Line 1053"/>
              <p:cNvSpPr>
                <a:spLocks noChangeShapeType="1"/>
              </p:cNvSpPr>
              <p:nvPr/>
            </p:nvSpPr>
            <p:spPr bwMode="auto">
              <a:xfrm>
                <a:off x="3915" y="928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4" name="Line 1054"/>
              <p:cNvSpPr>
                <a:spLocks noChangeShapeType="1"/>
              </p:cNvSpPr>
              <p:nvPr/>
            </p:nvSpPr>
            <p:spPr bwMode="auto">
              <a:xfrm>
                <a:off x="3915" y="952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5" name="Line 1055"/>
              <p:cNvSpPr>
                <a:spLocks noChangeShapeType="1"/>
              </p:cNvSpPr>
              <p:nvPr/>
            </p:nvSpPr>
            <p:spPr bwMode="auto">
              <a:xfrm>
                <a:off x="3915" y="976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6" name="Line 1056"/>
              <p:cNvSpPr>
                <a:spLocks noChangeShapeType="1"/>
              </p:cNvSpPr>
              <p:nvPr/>
            </p:nvSpPr>
            <p:spPr bwMode="auto">
              <a:xfrm>
                <a:off x="3915" y="1000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7" name="Line 1057"/>
              <p:cNvSpPr>
                <a:spLocks noChangeShapeType="1"/>
              </p:cNvSpPr>
              <p:nvPr/>
            </p:nvSpPr>
            <p:spPr bwMode="auto">
              <a:xfrm>
                <a:off x="3915" y="1024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8" name="Line 1058"/>
              <p:cNvSpPr>
                <a:spLocks noChangeShapeType="1"/>
              </p:cNvSpPr>
              <p:nvPr/>
            </p:nvSpPr>
            <p:spPr bwMode="auto">
              <a:xfrm>
                <a:off x="3915" y="1048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19" name="Line 1059"/>
              <p:cNvSpPr>
                <a:spLocks noChangeShapeType="1"/>
              </p:cNvSpPr>
              <p:nvPr/>
            </p:nvSpPr>
            <p:spPr bwMode="auto">
              <a:xfrm>
                <a:off x="3915" y="1072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grpSp>
        <p:sp>
          <p:nvSpPr>
            <p:cNvPr id="35855" name="Text Box 1060"/>
            <p:cNvSpPr txBox="1">
              <a:spLocks noChangeArrowheads="1"/>
            </p:cNvSpPr>
            <p:nvPr/>
          </p:nvSpPr>
          <p:spPr bwMode="auto">
            <a:xfrm>
              <a:off x="4057" y="1114"/>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b="1">
                  <a:latin typeface="+mn-lt"/>
                  <a:ea typeface="华文楷体" panose="02010600040101010101" pitchFamily="2" charset="-122"/>
                </a:rPr>
                <a:t>a</a:t>
              </a:r>
              <a:r>
                <a:rPr lang="zh-CN" altLang="en-US" sz="1400" b="1">
                  <a:latin typeface="+mn-lt"/>
                  <a:ea typeface="华文楷体" panose="02010600040101010101" pitchFamily="2" charset="-122"/>
                </a:rPr>
                <a:t>的数组元素</a:t>
              </a:r>
              <a:endParaRPr lang="zh-CN" altLang="en-US" sz="1400" b="1">
                <a:latin typeface="+mn-lt"/>
                <a:ea typeface="华文楷体" panose="02010600040101010101" pitchFamily="2" charset="-122"/>
              </a:endParaRPr>
            </a:p>
            <a:p>
              <a:pPr algn="just"/>
              <a:r>
                <a:rPr lang="zh-CN" altLang="en-US" sz="1400" b="1">
                  <a:latin typeface="+mn-lt"/>
                  <a:ea typeface="华文楷体" panose="02010600040101010101" pitchFamily="2" charset="-122"/>
                </a:rPr>
                <a:t>占用的内存</a:t>
              </a:r>
              <a:endParaRPr lang="zh-CN" altLang="en-US" sz="1400" b="1">
                <a:latin typeface="+mn-lt"/>
                <a:ea typeface="华文楷体" panose="02010600040101010101" pitchFamily="2" charset="-122"/>
              </a:endParaRPr>
            </a:p>
          </p:txBody>
        </p:sp>
        <p:sp>
          <p:nvSpPr>
            <p:cNvPr id="92" name="Line 1061"/>
            <p:cNvSpPr>
              <a:spLocks noChangeShapeType="1"/>
            </p:cNvSpPr>
            <p:nvPr/>
          </p:nvSpPr>
          <p:spPr bwMode="auto">
            <a:xfrm>
              <a:off x="3678" y="1485"/>
              <a:ext cx="379" cy="0"/>
            </a:xfrm>
            <a:prstGeom prst="line">
              <a:avLst/>
            </a:prstGeom>
            <a:noFill/>
            <a:ln w="9525">
              <a:solidFill>
                <a:schemeClr val="accent3">
                  <a:lumMod val="75000"/>
                </a:schemeClr>
              </a:solidFill>
              <a:round/>
              <a:tailEnd type="triangle" w="sm" len="lg"/>
            </a:ln>
          </p:spPr>
          <p:txBody>
            <a:bodyPr/>
            <a:lstStyle/>
            <a:p>
              <a:pPr>
                <a:defRPr/>
              </a:pPr>
              <a:endParaRPr lang="zh-CN" altLang="en-US" b="1">
                <a:latin typeface="+mn-lt"/>
                <a:ea typeface="华文楷体" panose="02010600040101010101" pitchFamily="2" charset="-122"/>
              </a:endParaRPr>
            </a:p>
          </p:txBody>
        </p:sp>
        <p:sp>
          <p:nvSpPr>
            <p:cNvPr id="35857" name="Text Box 1062"/>
            <p:cNvSpPr txBox="1">
              <a:spLocks noChangeArrowheads="1"/>
            </p:cNvSpPr>
            <p:nvPr/>
          </p:nvSpPr>
          <p:spPr bwMode="auto">
            <a:xfrm>
              <a:off x="3462" y="3843"/>
              <a:ext cx="932"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000" b="1" dirty="0">
                  <a:solidFill>
                    <a:srgbClr val="FFFF00"/>
                  </a:solidFill>
                  <a:latin typeface="+mn-lt"/>
                  <a:ea typeface="华文楷体" panose="02010600040101010101" pitchFamily="2" charset="-122"/>
                </a:rPr>
                <a:t>拷贝后</a:t>
              </a:r>
              <a:endParaRPr lang="zh-CN" altLang="en-US" sz="2000" b="1" dirty="0">
                <a:solidFill>
                  <a:srgbClr val="FFFF00"/>
                </a:solidFill>
                <a:latin typeface="+mn-lt"/>
                <a:ea typeface="华文楷体" panose="02010600040101010101" pitchFamily="2" charset="-122"/>
              </a:endParaRPr>
            </a:p>
          </p:txBody>
        </p:sp>
        <p:sp>
          <p:nvSpPr>
            <p:cNvPr id="94" name="Text Box 1064"/>
            <p:cNvSpPr txBox="1">
              <a:spLocks noChangeArrowheads="1"/>
            </p:cNvSpPr>
            <p:nvPr/>
          </p:nvSpPr>
          <p:spPr bwMode="auto">
            <a:xfrm>
              <a:off x="3306" y="2358"/>
              <a:ext cx="372" cy="561"/>
            </a:xfrm>
            <a:prstGeom prst="rect">
              <a:avLst/>
            </a:prstGeom>
            <a:noFill/>
            <a:ln w="9525">
              <a:solidFill>
                <a:schemeClr val="accent3">
                  <a:lumMod val="75000"/>
                </a:schemeClr>
              </a:solidFill>
              <a:miter lim="800000"/>
            </a:ln>
          </p:spPr>
          <p:txBody>
            <a:bodyPr lIns="0" rIns="0"/>
            <a:lstStyle>
              <a:defPPr>
                <a:defRPr lang="zh-CN"/>
              </a:defPPr>
              <a:lvl1pPr algn="just" eaLnBrk="0" hangingPunct="0">
                <a:defRPr sz="1600">
                  <a:ea typeface="宋体" panose="02010600030101010101" pitchFamily="2" charset="-122"/>
                </a:defRPr>
              </a:lvl1pPr>
            </a:lstStyle>
            <a:p>
              <a:pPr>
                <a:defRPr/>
              </a:pPr>
              <a:r>
                <a:rPr lang="en-US" altLang="zh-CN" sz="2000" b="1" dirty="0">
                  <a:latin typeface="+mn-lt"/>
                  <a:ea typeface="华文楷体" panose="02010600040101010101" pitchFamily="2" charset="-122"/>
                </a:rPr>
                <a:t> list</a:t>
              </a:r>
              <a:endParaRPr lang="en-US" altLang="zh-CN" sz="2000" b="1" dirty="0">
                <a:latin typeface="+mn-lt"/>
                <a:ea typeface="华文楷体" panose="02010600040101010101" pitchFamily="2" charset="-122"/>
              </a:endParaRPr>
            </a:p>
            <a:p>
              <a:pPr>
                <a:defRPr/>
              </a:pPr>
              <a:r>
                <a:rPr lang="en-US" altLang="zh-CN" sz="2000" b="1" dirty="0">
                  <a:latin typeface="+mn-lt"/>
                  <a:ea typeface="华文楷体" panose="02010600040101010101" pitchFamily="2" charset="-122"/>
                </a:rPr>
                <a:t> size</a:t>
              </a:r>
              <a:endParaRPr lang="en-US" altLang="zh-CN" sz="2000" b="1" dirty="0">
                <a:latin typeface="+mn-lt"/>
                <a:ea typeface="华文楷体" panose="02010600040101010101" pitchFamily="2" charset="-122"/>
              </a:endParaRPr>
            </a:p>
          </p:txBody>
        </p:sp>
        <p:sp>
          <p:nvSpPr>
            <p:cNvPr id="35859" name="Text Box 1065"/>
            <p:cNvSpPr txBox="1">
              <a:spLocks noChangeArrowheads="1"/>
            </p:cNvSpPr>
            <p:nvPr/>
          </p:nvSpPr>
          <p:spPr bwMode="auto">
            <a:xfrm>
              <a:off x="3116" y="2323"/>
              <a:ext cx="13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2000" b="1">
                  <a:latin typeface="+mn-lt"/>
                  <a:ea typeface="华文楷体" panose="02010600040101010101" pitchFamily="2" charset="-122"/>
                </a:rPr>
                <a:t>b</a:t>
              </a:r>
              <a:endParaRPr lang="en-US" altLang="zh-CN" sz="2000" b="1">
                <a:latin typeface="+mn-lt"/>
                <a:ea typeface="华文楷体" panose="02010600040101010101" pitchFamily="2" charset="-122"/>
              </a:endParaRPr>
            </a:p>
          </p:txBody>
        </p:sp>
        <p:grpSp>
          <p:nvGrpSpPr>
            <p:cNvPr id="35860" name="Group 1067"/>
            <p:cNvGrpSpPr/>
            <p:nvPr/>
          </p:nvGrpSpPr>
          <p:grpSpPr bwMode="auto">
            <a:xfrm>
              <a:off x="4057" y="2530"/>
              <a:ext cx="605" cy="820"/>
              <a:chOff x="3915" y="8565"/>
              <a:chExt cx="420" cy="2385"/>
            </a:xfrm>
          </p:grpSpPr>
          <p:sp>
            <p:nvSpPr>
              <p:cNvPr id="100" name="Rectangle 1068"/>
              <p:cNvSpPr>
                <a:spLocks noChangeArrowheads="1"/>
              </p:cNvSpPr>
              <p:nvPr/>
            </p:nvSpPr>
            <p:spPr bwMode="auto">
              <a:xfrm>
                <a:off x="3915" y="8565"/>
                <a:ext cx="420" cy="2385"/>
              </a:xfrm>
              <a:prstGeom prst="rect">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1" name="Line 1069"/>
              <p:cNvSpPr>
                <a:spLocks noChangeShapeType="1"/>
              </p:cNvSpPr>
              <p:nvPr/>
            </p:nvSpPr>
            <p:spPr bwMode="auto">
              <a:xfrm>
                <a:off x="3915" y="880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2" name="Line 1070"/>
              <p:cNvSpPr>
                <a:spLocks noChangeShapeType="1"/>
              </p:cNvSpPr>
              <p:nvPr/>
            </p:nvSpPr>
            <p:spPr bwMode="auto">
              <a:xfrm>
                <a:off x="3915" y="904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3" name="Line 1071"/>
              <p:cNvSpPr>
                <a:spLocks noChangeShapeType="1"/>
              </p:cNvSpPr>
              <p:nvPr/>
            </p:nvSpPr>
            <p:spPr bwMode="auto">
              <a:xfrm>
                <a:off x="3915" y="928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4" name="Line 1072"/>
              <p:cNvSpPr>
                <a:spLocks noChangeShapeType="1"/>
              </p:cNvSpPr>
              <p:nvPr/>
            </p:nvSpPr>
            <p:spPr bwMode="auto">
              <a:xfrm>
                <a:off x="3915" y="952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5" name="Line 1073"/>
              <p:cNvSpPr>
                <a:spLocks noChangeShapeType="1"/>
              </p:cNvSpPr>
              <p:nvPr/>
            </p:nvSpPr>
            <p:spPr bwMode="auto">
              <a:xfrm>
                <a:off x="3915" y="976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6" name="Line 1074"/>
              <p:cNvSpPr>
                <a:spLocks noChangeShapeType="1"/>
              </p:cNvSpPr>
              <p:nvPr/>
            </p:nvSpPr>
            <p:spPr bwMode="auto">
              <a:xfrm>
                <a:off x="3915" y="1000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7" name="Line 1075"/>
              <p:cNvSpPr>
                <a:spLocks noChangeShapeType="1"/>
              </p:cNvSpPr>
              <p:nvPr/>
            </p:nvSpPr>
            <p:spPr bwMode="auto">
              <a:xfrm>
                <a:off x="3915" y="1024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8" name="Line 1076"/>
              <p:cNvSpPr>
                <a:spLocks noChangeShapeType="1"/>
              </p:cNvSpPr>
              <p:nvPr/>
            </p:nvSpPr>
            <p:spPr bwMode="auto">
              <a:xfrm>
                <a:off x="3915" y="10485"/>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sp>
            <p:nvSpPr>
              <p:cNvPr id="109" name="Line 1077"/>
              <p:cNvSpPr>
                <a:spLocks noChangeShapeType="1"/>
              </p:cNvSpPr>
              <p:nvPr/>
            </p:nvSpPr>
            <p:spPr bwMode="auto">
              <a:xfrm>
                <a:off x="3915" y="10726"/>
                <a:ext cx="420" cy="0"/>
              </a:xfrm>
              <a:prstGeom prst="line">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grpSp>
        <p:sp>
          <p:nvSpPr>
            <p:cNvPr id="35861" name="Text Box 1078"/>
            <p:cNvSpPr txBox="1">
              <a:spLocks noChangeArrowheads="1"/>
            </p:cNvSpPr>
            <p:nvPr/>
          </p:nvSpPr>
          <p:spPr bwMode="auto">
            <a:xfrm>
              <a:off x="4057" y="3402"/>
              <a:ext cx="64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1400" b="1">
                  <a:latin typeface="+mn-lt"/>
                  <a:ea typeface="华文楷体" panose="02010600040101010101" pitchFamily="2" charset="-122"/>
                </a:rPr>
                <a:t>b</a:t>
              </a:r>
              <a:r>
                <a:rPr lang="zh-CN" altLang="en-US" sz="1400" b="1">
                  <a:latin typeface="+mn-lt"/>
                  <a:ea typeface="华文楷体" panose="02010600040101010101" pitchFamily="2" charset="-122"/>
                </a:rPr>
                <a:t>的数组元素</a:t>
              </a:r>
              <a:endParaRPr lang="zh-CN" altLang="en-US" sz="1400" b="1">
                <a:latin typeface="+mn-lt"/>
                <a:ea typeface="华文楷体" panose="02010600040101010101" pitchFamily="2" charset="-122"/>
              </a:endParaRPr>
            </a:p>
            <a:p>
              <a:pPr algn="just"/>
              <a:r>
                <a:rPr lang="zh-CN" altLang="en-US" sz="1400" b="1">
                  <a:latin typeface="+mn-lt"/>
                  <a:ea typeface="华文楷体" panose="02010600040101010101" pitchFamily="2" charset="-122"/>
                </a:rPr>
                <a:t>占用的内存</a:t>
              </a:r>
              <a:endParaRPr lang="zh-CN" altLang="en-US" sz="1400" b="1">
                <a:latin typeface="+mn-lt"/>
                <a:ea typeface="华文楷体" panose="02010600040101010101" pitchFamily="2" charset="-122"/>
              </a:endParaRPr>
            </a:p>
          </p:txBody>
        </p:sp>
        <p:sp>
          <p:nvSpPr>
            <p:cNvPr id="98" name="Line 1079"/>
            <p:cNvSpPr>
              <a:spLocks noChangeShapeType="1"/>
            </p:cNvSpPr>
            <p:nvPr/>
          </p:nvSpPr>
          <p:spPr bwMode="auto">
            <a:xfrm flipV="1">
              <a:off x="3678" y="2530"/>
              <a:ext cx="379" cy="3"/>
            </a:xfrm>
            <a:prstGeom prst="line">
              <a:avLst/>
            </a:prstGeom>
            <a:noFill/>
            <a:ln w="9525">
              <a:solidFill>
                <a:schemeClr val="accent3">
                  <a:lumMod val="75000"/>
                </a:schemeClr>
              </a:solidFill>
              <a:round/>
              <a:tailEnd type="triangle" w="sm" len="lg"/>
            </a:ln>
          </p:spPr>
          <p:txBody>
            <a:bodyPr/>
            <a:lstStyle/>
            <a:p>
              <a:pPr>
                <a:defRPr/>
              </a:pPr>
              <a:endParaRPr lang="zh-CN" altLang="en-US" b="1">
                <a:latin typeface="+mn-lt"/>
                <a:ea typeface="华文楷体" panose="02010600040101010101" pitchFamily="2" charset="-122"/>
              </a:endParaRPr>
            </a:p>
          </p:txBody>
        </p:sp>
        <p:sp>
          <p:nvSpPr>
            <p:cNvPr id="99" name="AutoShape 1080"/>
            <p:cNvSpPr>
              <a:spLocks noChangeArrowheads="1"/>
            </p:cNvSpPr>
            <p:nvPr/>
          </p:nvSpPr>
          <p:spPr bwMode="auto">
            <a:xfrm>
              <a:off x="4662" y="2219"/>
              <a:ext cx="138" cy="449"/>
            </a:xfrm>
            <a:prstGeom prst="curvedLeftArrow">
              <a:avLst>
                <a:gd name="adj1" fmla="val 65072"/>
                <a:gd name="adj2" fmla="val 130145"/>
                <a:gd name="adj3" fmla="val 33333"/>
              </a:avLst>
            </a:prstGeom>
            <a:noFill/>
            <a:ln w="9525">
              <a:solidFill>
                <a:schemeClr val="accent3">
                  <a:lumMod val="75000"/>
                </a:schemeClr>
              </a:solidFill>
              <a:miter lim="800000"/>
            </a:ln>
          </p:spPr>
          <p:txBody>
            <a:bodyPr lIns="0" rIns="0"/>
            <a:lstStyle/>
            <a:p>
              <a:pPr algn="just" eaLnBrk="0" hangingPunct="0">
                <a:defRPr/>
              </a:pPr>
              <a:endParaRPr lang="zh-CN" altLang="en-US" sz="1600" b="1">
                <a:latin typeface="+mn-lt"/>
                <a:ea typeface="华文楷体" panose="02010600040101010101" pitchFamily="2" charset="-122"/>
              </a:endParaRPr>
            </a:p>
          </p:txBody>
        </p:sp>
      </p:gr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为什么有的函数返回引用</a:t>
            </a:r>
            <a:endParaRPr lang="zh-CN" altLang="en-US" sz="4400" b="1">
              <a:latin typeface="Times New Roman" panose="02020603050405020304" pitchFamily="18" charset="0"/>
              <a:ea typeface="隶书" panose="02010509060101010101" pitchFamily="49" charset="-122"/>
            </a:endParaRPr>
          </a:p>
        </p:txBody>
      </p:sp>
      <p:sp>
        <p:nvSpPr>
          <p:cNvPr id="36867"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如果一个函数的返回值是一个对象的值，就不应成为左值。</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如果返回值为引用。由于引用是对象的别名，通过引用当然可以改变对象的值。</a:t>
            </a:r>
            <a:endParaRPr lang="zh-CN" altLang="en-US" sz="2400" b="1">
              <a:ea typeface="华文楷体" panose="02010600040101010101" pitchFamily="2"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指针转换运算符的作用</a:t>
            </a:r>
            <a:endParaRPr lang="zh-CN" altLang="en-US" sz="4400" b="1">
              <a:latin typeface="Times New Roman" panose="02020603050405020304" pitchFamily="18" charset="0"/>
              <a:ea typeface="隶书" panose="02010509060101010101" pitchFamily="49" charset="-122"/>
            </a:endParaRPr>
          </a:p>
        </p:txBody>
      </p:sp>
      <p:sp>
        <p:nvSpPr>
          <p:cNvPr id="37891" name="内容占位符 2"/>
          <p:cNvSpPr>
            <a:spLocks noGrp="1"/>
          </p:cNvSpPr>
          <p:nvPr>
            <p:ph sz="half" idx="1"/>
          </p:nvPr>
        </p:nvSpPr>
        <p:spPr>
          <a:xfrm>
            <a:off x="457200" y="1785938"/>
            <a:ext cx="4038600" cy="409342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read(</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*p,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n;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p[</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a[10];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read(a, 10);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7892" name="内容占位符 3"/>
          <p:cNvSpPr>
            <a:spLocks noGrp="1"/>
          </p:cNvSpPr>
          <p:nvPr>
            <p:ph sz="half" idx="2"/>
          </p:nvPr>
        </p:nvSpPr>
        <p:spPr>
          <a:xfrm>
            <a:off x="4648200" y="1785938"/>
            <a:ext cx="4038600" cy="409342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"Array.h"</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&lt;iostream&gt;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using namespace std;</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read(int *p, int 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for (int i = 0; i &lt; n; 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cin &gt;&gt; p[i];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int main()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Array&lt;int&gt; a(10);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read(a, 10);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
        <p:nvSpPr>
          <p:cNvPr id="37894" name="Line 5"/>
          <p:cNvSpPr>
            <a:spLocks noChangeShapeType="1"/>
          </p:cNvSpPr>
          <p:nvPr/>
        </p:nvSpPr>
        <p:spPr bwMode="auto">
          <a:xfrm>
            <a:off x="4572000" y="1700213"/>
            <a:ext cx="0" cy="4608512"/>
          </a:xfrm>
          <a:prstGeom prst="line">
            <a:avLst/>
          </a:prstGeom>
          <a:noFill/>
          <a:ln w="9525">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Array</a:t>
            </a:r>
            <a:r>
              <a:rPr lang="zh-CN" altLang="en-US" sz="4400" b="1">
                <a:latin typeface="Times New Roman" panose="02020603050405020304" pitchFamily="18" charset="0"/>
                <a:ea typeface="隶书" panose="02010509060101010101" pitchFamily="49" charset="-122"/>
              </a:rPr>
              <a:t>类的应用</a:t>
            </a:r>
            <a:endParaRPr lang="zh-CN" altLang="en-US" sz="4400" b="1">
              <a:latin typeface="Times New Roman" panose="02020603050405020304" pitchFamily="18" charset="0"/>
              <a:ea typeface="隶书" panose="02010509060101010101" pitchFamily="49" charset="-122"/>
            </a:endParaRPr>
          </a:p>
        </p:txBody>
      </p:sp>
      <p:sp>
        <p:nvSpPr>
          <p:cNvPr id="38915" name="内容占位符 2"/>
          <p:cNvSpPr>
            <a:spLocks noGrp="1"/>
          </p:cNvSpPr>
          <p:nvPr>
            <p:ph idx="1"/>
          </p:nvPr>
        </p:nvSpPr>
        <p:spPr>
          <a:xfrm>
            <a:off x="611560" y="2060848"/>
            <a:ext cx="7886700" cy="1656184"/>
          </a:xfrm>
        </p:spPr>
        <p:txBody>
          <a:bodyPr/>
          <a:lstStyle/>
          <a:p>
            <a:pPr marL="0" indent="0">
              <a:lnSpc>
                <a:spcPct val="200000"/>
              </a:lnSpc>
              <a:spcAft>
                <a:spcPct val="25000"/>
              </a:spcAft>
              <a:buNone/>
            </a:pPr>
            <a:r>
              <a:rPr lang="zh-CN" altLang="en-US" sz="2800" b="1" dirty="0">
                <a:ea typeface="华文楷体" panose="02010600040101010101" pitchFamily="2" charset="-122"/>
              </a:rPr>
              <a:t>例</a:t>
            </a:r>
            <a:r>
              <a:rPr lang="en-US" altLang="zh-CN" sz="2800" b="1" dirty="0">
                <a:ea typeface="华文楷体" panose="02010600040101010101" pitchFamily="2" charset="-122"/>
              </a:rPr>
              <a:t>9-4  </a:t>
            </a:r>
            <a:r>
              <a:rPr lang="zh-CN" altLang="en-US" sz="2800" b="1" dirty="0">
                <a:ea typeface="华文楷体" panose="02010600040101010101" pitchFamily="2" charset="-122"/>
              </a:rPr>
              <a:t>求范围</a:t>
            </a:r>
            <a:r>
              <a:rPr lang="en-US" altLang="zh-CN" sz="2800" b="1" dirty="0">
                <a:ea typeface="华文楷体" panose="02010600040101010101" pitchFamily="2" charset="-122"/>
              </a:rPr>
              <a:t>2~N</a:t>
            </a:r>
            <a:r>
              <a:rPr lang="zh-CN" altLang="en-US" sz="2800" b="1" dirty="0">
                <a:ea typeface="华文楷体" panose="02010600040101010101" pitchFamily="2" charset="-122"/>
              </a:rPr>
              <a:t>中的质数，</a:t>
            </a:r>
            <a:r>
              <a:rPr lang="en-US" altLang="zh-CN" sz="2800" b="1" dirty="0">
                <a:ea typeface="华文楷体" panose="02010600040101010101" pitchFamily="2" charset="-122"/>
              </a:rPr>
              <a:t>N</a:t>
            </a:r>
            <a:r>
              <a:rPr lang="zh-CN" altLang="en-US" sz="2800" b="1" dirty="0">
                <a:ea typeface="华文楷体" panose="02010600040101010101" pitchFamily="2" charset="-122"/>
              </a:rPr>
              <a:t>在程序运行时由键盘输入。</a:t>
            </a:r>
            <a:endParaRPr lang="zh-CN" altLang="en-US" sz="2800" b="1" dirty="0">
              <a:ea typeface="华文楷体" panose="0201060004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9939" name="内容占位符 2"/>
          <p:cNvSpPr>
            <a:spLocks noGrp="1"/>
          </p:cNvSpPr>
          <p:nvPr>
            <p:ph idx="1"/>
          </p:nvPr>
        </p:nvSpPr>
        <p:spPr>
          <a:xfrm>
            <a:off x="467544" y="188640"/>
            <a:ext cx="8496944" cy="674030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t>
            </a:r>
            <a:r>
              <a:rPr lang="en-US" altLang="zh-CN" sz="1800" b="1" dirty="0" err="1">
                <a:solidFill>
                  <a:srgbClr val="000000"/>
                </a:solidFill>
                <a:latin typeface="Times New Roman" panose="02020603050405020304" pitchFamily="18" charset="0"/>
                <a:ea typeface="华文楷体" panose="02010600040101010101" pitchFamily="2" charset="-122"/>
              </a:rPr>
              <a:t>iostream</a:t>
            </a:r>
            <a:r>
              <a:rPr lang="en-US" altLang="zh-CN" sz="1800" b="1" dirty="0">
                <a:solidFill>
                  <a:srgbClr val="000000"/>
                </a:solidFill>
                <a:latin typeface="Times New Roman" panose="02020603050405020304" pitchFamily="18" charset="0"/>
                <a:ea typeface="华文楷体" panose="02010600040101010101" pitchFamily="2" charset="-122"/>
              </a:rPr>
              <a: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t>
            </a:r>
            <a:r>
              <a:rPr lang="en-US" altLang="zh-CN" sz="1800" b="1" dirty="0" err="1">
                <a:solidFill>
                  <a:srgbClr val="000000"/>
                </a:solidFill>
                <a:latin typeface="Times New Roman" panose="02020603050405020304" pitchFamily="18" charset="0"/>
                <a:ea typeface="华文楷体" panose="02010600040101010101" pitchFamily="2" charset="-122"/>
              </a:rPr>
              <a:t>iomanip</a:t>
            </a:r>
            <a:r>
              <a:rPr lang="en-US" altLang="zh-CN" sz="1800" b="1" dirty="0">
                <a:solidFill>
                  <a:srgbClr val="000000"/>
                </a:solidFill>
                <a:latin typeface="Times New Roman" panose="02020603050405020304" pitchFamily="18" charset="0"/>
                <a:ea typeface="华文楷体" panose="02010600040101010101" pitchFamily="2" charset="-122"/>
              </a:rPr>
              <a: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Array.h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using namespace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main()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Array&lt;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a(10); 		 // </a:t>
            </a:r>
            <a:r>
              <a:rPr lang="zh-CN" altLang="en-US" sz="1800" b="1" dirty="0">
                <a:solidFill>
                  <a:srgbClr val="000000"/>
                </a:solidFill>
                <a:latin typeface="Times New Roman" panose="02020603050405020304" pitchFamily="18" charset="0"/>
                <a:ea typeface="华文楷体" panose="02010600040101010101" pitchFamily="2" charset="-122"/>
              </a:rPr>
              <a:t>用来存放质数的数组，初始状态有</a:t>
            </a:r>
            <a:r>
              <a:rPr lang="en-US" altLang="zh-CN" sz="1800" b="1" dirty="0">
                <a:solidFill>
                  <a:srgbClr val="000000"/>
                </a:solidFill>
                <a:latin typeface="Times New Roman" panose="02020603050405020304" pitchFamily="18" charset="0"/>
                <a:ea typeface="华文楷体" panose="02010600040101010101" pitchFamily="2" charset="-122"/>
              </a:rPr>
              <a:t>10</a:t>
            </a:r>
            <a:r>
              <a:rPr lang="zh-CN" altLang="en-US" sz="1800" b="1" dirty="0">
                <a:solidFill>
                  <a:srgbClr val="000000"/>
                </a:solidFill>
                <a:latin typeface="Times New Roman" panose="02020603050405020304" pitchFamily="18" charset="0"/>
                <a:ea typeface="华文楷体" panose="02010600040101010101" pitchFamily="2" charset="-122"/>
              </a:rPr>
              <a:t>个元素。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n, count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"Enter a value &gt;= 2 as upper limit for prime numbers: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cin</a:t>
            </a:r>
            <a:r>
              <a:rPr lang="en-US" altLang="zh-CN" sz="1800" b="1" dirty="0">
                <a:solidFill>
                  <a:srgbClr val="000000"/>
                </a:solidFill>
                <a:latin typeface="Times New Roman" panose="02020603050405020304" pitchFamily="18" charset="0"/>
                <a:ea typeface="华文楷体" panose="02010600040101010101" pitchFamily="2" charset="-122"/>
              </a:rPr>
              <a:t> &gt;&gt; n;</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for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 2;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&lt;= n;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a:t>
            </a:r>
            <a:r>
              <a:rPr lang="en-US" altLang="zh-CN" sz="1800" b="1" dirty="0" err="1">
                <a:solidFill>
                  <a:srgbClr val="000000"/>
                </a:solidFill>
                <a:latin typeface="Times New Roman" panose="02020603050405020304" pitchFamily="18" charset="0"/>
                <a:ea typeface="华文楷体" panose="02010600040101010101" pitchFamily="2" charset="-122"/>
              </a:rPr>
              <a:t>isPrime</a:t>
            </a:r>
            <a:r>
              <a:rPr lang="en-US" altLang="zh-CN" sz="1800" b="1" dirty="0">
                <a:solidFill>
                  <a:srgbClr val="000000"/>
                </a:solidFill>
                <a:latin typeface="Times New Roman" panose="02020603050405020304" pitchFamily="18" charset="0"/>
                <a:ea typeface="华文楷体" panose="02010600040101010101" pitchFamily="2" charset="-122"/>
              </a:rPr>
              <a:t> = true;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for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j = 0; j &lt; count; </a:t>
            </a:r>
            <a:r>
              <a:rPr lang="en-US" altLang="zh-CN" sz="1800" b="1" dirty="0" err="1">
                <a:solidFill>
                  <a:srgbClr val="000000"/>
                </a:solidFill>
                <a:latin typeface="Times New Roman" panose="02020603050405020304" pitchFamily="18" charset="0"/>
                <a:ea typeface="华文楷体" panose="02010600040101010101" pitchFamily="2" charset="-122"/>
              </a:rPr>
              <a:t>j++</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 a[j] == 0) {	      //</a:t>
            </a:r>
            <a:r>
              <a:rPr lang="zh-CN" altLang="en-US" sz="1800" b="1" dirty="0">
                <a:solidFill>
                  <a:srgbClr val="000000"/>
                </a:solidFill>
                <a:latin typeface="Times New Roman" panose="02020603050405020304" pitchFamily="18" charset="0"/>
                <a:ea typeface="华文楷体" panose="02010600040101010101" pitchFamily="2" charset="-122"/>
              </a:rPr>
              <a:t>若</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zh-CN" altLang="en-US" sz="1800" b="1" dirty="0">
                <a:solidFill>
                  <a:srgbClr val="000000"/>
                </a:solidFill>
                <a:latin typeface="Times New Roman" panose="02020603050405020304" pitchFamily="18" charset="0"/>
                <a:ea typeface="华文楷体" panose="02010600040101010101" pitchFamily="2" charset="-122"/>
              </a:rPr>
              <a:t>被</a:t>
            </a:r>
            <a:r>
              <a:rPr lang="en-US" altLang="zh-CN" sz="1800" b="1" dirty="0">
                <a:solidFill>
                  <a:srgbClr val="000000"/>
                </a:solidFill>
                <a:latin typeface="Times New Roman" panose="02020603050405020304" pitchFamily="18" charset="0"/>
                <a:ea typeface="华文楷体" panose="02010600040101010101" pitchFamily="2" charset="-122"/>
              </a:rPr>
              <a:t>a[j]</a:t>
            </a:r>
            <a:r>
              <a:rPr lang="zh-CN" altLang="en-US" sz="1800" b="1" dirty="0">
                <a:solidFill>
                  <a:srgbClr val="000000"/>
                </a:solidFill>
                <a:latin typeface="Times New Roman" panose="02020603050405020304" pitchFamily="18" charset="0"/>
                <a:ea typeface="华文楷体" panose="02010600040101010101" pitchFamily="2" charset="-122"/>
              </a:rPr>
              <a:t>整除，说明</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zh-CN" altLang="en-US" sz="1800" b="1" dirty="0">
                <a:solidFill>
                  <a:srgbClr val="000000"/>
                </a:solidFill>
                <a:latin typeface="Times New Roman" panose="02020603050405020304" pitchFamily="18" charset="0"/>
                <a:ea typeface="华文楷体" panose="02010600040101010101" pitchFamily="2" charset="-122"/>
              </a:rPr>
              <a:t>不是质数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isPrime</a:t>
            </a:r>
            <a:r>
              <a:rPr lang="en-US" altLang="zh-CN" sz="1800" b="1" dirty="0">
                <a:solidFill>
                  <a:srgbClr val="000000"/>
                </a:solidFill>
                <a:latin typeface="Times New Roman" panose="02020603050405020304" pitchFamily="18" charset="0"/>
                <a:ea typeface="华文楷体" panose="02010600040101010101" pitchFamily="2" charset="-122"/>
              </a:rPr>
              <a:t> = false;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a:t>
            </a:r>
            <a:r>
              <a:rPr lang="en-US" altLang="zh-CN" sz="1800" b="1" dirty="0" err="1">
                <a:solidFill>
                  <a:srgbClr val="000000"/>
                </a:solidFill>
                <a:latin typeface="Times New Roman" panose="02020603050405020304" pitchFamily="18" charset="0"/>
                <a:ea typeface="华文楷体" panose="02010600040101010101" pitchFamily="2" charset="-122"/>
              </a:rPr>
              <a:t>isPrime</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(count == </a:t>
            </a:r>
            <a:r>
              <a:rPr lang="en-US" altLang="zh-CN" sz="1800" b="1" dirty="0" err="1">
                <a:solidFill>
                  <a:srgbClr val="000000"/>
                </a:solidFill>
                <a:latin typeface="Times New Roman" panose="02020603050405020304" pitchFamily="18" charset="0"/>
                <a:ea typeface="华文楷体" panose="02010600040101010101" pitchFamily="2" charset="-122"/>
              </a:rPr>
              <a:t>a.getSize</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a.resize</a:t>
            </a:r>
            <a:r>
              <a:rPr lang="en-US" altLang="zh-CN" sz="1800" b="1" dirty="0">
                <a:solidFill>
                  <a:srgbClr val="000000"/>
                </a:solidFill>
                <a:latin typeface="Times New Roman" panose="02020603050405020304" pitchFamily="18" charset="0"/>
                <a:ea typeface="华文楷体" panose="02010600040101010101" pitchFamily="2" charset="-122"/>
              </a:rPr>
              <a:t>(count * 2);</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a[count++] =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for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 0;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&lt; count; </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setw</a:t>
            </a:r>
            <a:r>
              <a:rPr lang="en-US" altLang="zh-CN" sz="1800" b="1" dirty="0">
                <a:solidFill>
                  <a:srgbClr val="000000"/>
                </a:solidFill>
                <a:latin typeface="Times New Roman" panose="02020603050405020304" pitchFamily="18" charset="0"/>
                <a:ea typeface="华文楷体" panose="02010600040101010101" pitchFamily="2" charset="-122"/>
              </a:rPr>
              <a:t>(8) &lt;&lt; a[</a:t>
            </a:r>
            <a:r>
              <a:rPr lang="en-US" altLang="zh-CN" sz="1800" b="1" dirty="0" err="1">
                <a:solidFill>
                  <a:srgbClr val="000000"/>
                </a:solidFill>
                <a:latin typeface="Times New Roman" panose="02020603050405020304" pitchFamily="18" charset="0"/>
                <a:ea typeface="华文楷体" panose="02010600040101010101" pitchFamily="2" charset="-122"/>
              </a:rPr>
              <a:t>i</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39941" name="标题 1"/>
          <p:cNvSpPr>
            <a:spLocks noGrp="1"/>
          </p:cNvSpPr>
          <p:nvPr>
            <p:ph type="title"/>
          </p:nvPr>
        </p:nvSpPr>
        <p:spPr>
          <a:xfrm>
            <a:off x="5886450" y="576263"/>
            <a:ext cx="3043238" cy="852487"/>
          </a:xfrm>
          <a:solidFill>
            <a:schemeClr val="bg1"/>
          </a:solidFill>
        </p:spPr>
        <p:txBody>
          <a:bodyPr/>
          <a:lstStyle/>
          <a:p>
            <a:r>
              <a:rPr lang="zh-CN" altLang="en-US"/>
              <a:t>例</a:t>
            </a:r>
            <a:r>
              <a:rPr lang="en-US" altLang="zh-CN"/>
              <a:t>9-4</a:t>
            </a:r>
            <a:r>
              <a:rPr lang="zh-CN" altLang="en-US"/>
              <a:t>（续）</a:t>
            </a:r>
            <a:endParaRPr kumimoji="1" lang="zh-CN"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9.2.3 </a:t>
            </a:r>
            <a:r>
              <a:rPr lang="zh-CN" altLang="en-US" sz="4400" b="1">
                <a:latin typeface="Times New Roman" panose="02020603050405020304" pitchFamily="18" charset="0"/>
                <a:ea typeface="隶书" panose="02010509060101010101" pitchFamily="49" charset="-122"/>
              </a:rPr>
              <a:t>顺序访问群体</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链表类</a:t>
            </a:r>
            <a:endParaRPr lang="zh-CN" altLang="en-US" sz="4400" b="1">
              <a:latin typeface="Times New Roman" panose="02020603050405020304" pitchFamily="18" charset="0"/>
              <a:ea typeface="隶书" panose="02010509060101010101" pitchFamily="49" charset="-122"/>
            </a:endParaRPr>
          </a:p>
        </p:txBody>
      </p:sp>
      <p:sp>
        <p:nvSpPr>
          <p:cNvPr id="40963" name="内容占位符 2"/>
          <p:cNvSpPr>
            <a:spLocks noGrp="1"/>
          </p:cNvSpPr>
          <p:nvPr>
            <p:ph idx="1"/>
          </p:nvPr>
        </p:nvSpPr>
        <p:spPr/>
        <p:txBody>
          <a:bodyPr/>
          <a:lstStyle/>
          <a:p>
            <a:pPr>
              <a:lnSpc>
                <a:spcPct val="150000"/>
              </a:lnSpc>
              <a:spcAft>
                <a:spcPct val="25000"/>
              </a:spcAft>
            </a:pPr>
            <a:r>
              <a:rPr lang="zh-CN" altLang="en-US" sz="2400" b="1" dirty="0">
                <a:ea typeface="华文楷体" panose="02010600040101010101" pitchFamily="2" charset="-122"/>
              </a:rPr>
              <a:t>链表是一种动态数据结构，可以用来表示顺序访问的线性群体。</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链表是由系列结点组成的，结点可以在运行时动态生成。</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每一个结点包括数据域和指向链表中下一个结点的指针（即下一个结点的地址）。如果链表每个结点中只有一个指向后继结点的指针，则该链表称为单链表。</a:t>
            </a:r>
            <a:endParaRPr lang="zh-CN" altLang="en-US" sz="2400" b="1" dirty="0">
              <a:ea typeface="华文楷体" panose="0201060004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1987"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单链表</a:t>
            </a:r>
            <a:endParaRPr lang="zh-CN" altLang="en-US" sz="4400" b="1">
              <a:latin typeface="Times New Roman" panose="02020603050405020304" pitchFamily="18" charset="0"/>
              <a:ea typeface="隶书" panose="02010509060101010101" pitchFamily="49" charset="-122"/>
            </a:endParaRPr>
          </a:p>
        </p:txBody>
      </p:sp>
      <p:grpSp>
        <p:nvGrpSpPr>
          <p:cNvPr id="41989" name="Group 27"/>
          <p:cNvGrpSpPr/>
          <p:nvPr/>
        </p:nvGrpSpPr>
        <p:grpSpPr bwMode="auto">
          <a:xfrm>
            <a:off x="1042988" y="2779713"/>
            <a:ext cx="7620000" cy="1944687"/>
            <a:chOff x="768" y="1223"/>
            <a:chExt cx="4800" cy="1225"/>
          </a:xfrm>
        </p:grpSpPr>
        <p:grpSp>
          <p:nvGrpSpPr>
            <p:cNvPr id="41990" name="Group 6"/>
            <p:cNvGrpSpPr/>
            <p:nvPr/>
          </p:nvGrpSpPr>
          <p:grpSpPr bwMode="auto">
            <a:xfrm>
              <a:off x="930" y="1259"/>
              <a:ext cx="1023" cy="438"/>
              <a:chOff x="2505" y="2775"/>
              <a:chExt cx="1515" cy="360"/>
            </a:xfrm>
          </p:grpSpPr>
          <p:sp>
            <p:nvSpPr>
              <p:cNvPr id="42008" name="Text Box 7"/>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b="1">
                    <a:latin typeface="+mn-lt"/>
                  </a:rPr>
                  <a:t> data1</a:t>
                </a:r>
                <a:endParaRPr lang="en-US" altLang="zh-CN" sz="1600" b="1">
                  <a:latin typeface="+mn-lt"/>
                </a:endParaRPr>
              </a:p>
            </p:txBody>
          </p:sp>
          <p:sp>
            <p:nvSpPr>
              <p:cNvPr id="42009" name="Line 8"/>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sp>
            <p:nvSpPr>
              <p:cNvPr id="42010" name="Line 9"/>
              <p:cNvSpPr>
                <a:spLocks noChangeShapeType="1"/>
              </p:cNvSpPr>
              <p:nvPr/>
            </p:nvSpPr>
            <p:spPr bwMode="auto">
              <a:xfrm>
                <a:off x="3435" y="2970"/>
                <a:ext cx="58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grpSp>
        <p:grpSp>
          <p:nvGrpSpPr>
            <p:cNvPr id="41991" name="Group 10"/>
            <p:cNvGrpSpPr/>
            <p:nvPr/>
          </p:nvGrpSpPr>
          <p:grpSpPr bwMode="auto">
            <a:xfrm>
              <a:off x="1963" y="1259"/>
              <a:ext cx="1023" cy="438"/>
              <a:chOff x="2505" y="2775"/>
              <a:chExt cx="1515" cy="360"/>
            </a:xfrm>
          </p:grpSpPr>
          <p:sp>
            <p:nvSpPr>
              <p:cNvPr id="42005" name="Text Box 11"/>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b="1">
                    <a:latin typeface="+mn-lt"/>
                  </a:rPr>
                  <a:t> data2</a:t>
                </a:r>
                <a:endParaRPr lang="en-US" altLang="zh-CN" sz="1600" b="1">
                  <a:latin typeface="+mn-lt"/>
                </a:endParaRPr>
              </a:p>
            </p:txBody>
          </p:sp>
          <p:sp>
            <p:nvSpPr>
              <p:cNvPr id="42006" name="Line 12"/>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sp>
            <p:nvSpPr>
              <p:cNvPr id="42007" name="Line 13"/>
              <p:cNvSpPr>
                <a:spLocks noChangeShapeType="1"/>
              </p:cNvSpPr>
              <p:nvPr/>
            </p:nvSpPr>
            <p:spPr bwMode="auto">
              <a:xfrm>
                <a:off x="3435" y="2970"/>
                <a:ext cx="58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grpSp>
        <p:grpSp>
          <p:nvGrpSpPr>
            <p:cNvPr id="41992" name="Group 14"/>
            <p:cNvGrpSpPr/>
            <p:nvPr/>
          </p:nvGrpSpPr>
          <p:grpSpPr bwMode="auto">
            <a:xfrm>
              <a:off x="2986" y="1259"/>
              <a:ext cx="1023" cy="438"/>
              <a:chOff x="2505" y="2775"/>
              <a:chExt cx="1515" cy="360"/>
            </a:xfrm>
          </p:grpSpPr>
          <p:sp>
            <p:nvSpPr>
              <p:cNvPr id="42002" name="Text Box 15"/>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b="1">
                    <a:latin typeface="+mn-lt"/>
                  </a:rPr>
                  <a:t> data3</a:t>
                </a:r>
                <a:endParaRPr lang="en-US" altLang="zh-CN" sz="1600" b="1">
                  <a:latin typeface="+mn-lt"/>
                </a:endParaRPr>
              </a:p>
            </p:txBody>
          </p:sp>
          <p:sp>
            <p:nvSpPr>
              <p:cNvPr id="42003" name="Line 16"/>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sp>
            <p:nvSpPr>
              <p:cNvPr id="42004" name="Line 17"/>
              <p:cNvSpPr>
                <a:spLocks noChangeShapeType="1"/>
              </p:cNvSpPr>
              <p:nvPr/>
            </p:nvSpPr>
            <p:spPr bwMode="auto">
              <a:xfrm>
                <a:off x="3435" y="2970"/>
                <a:ext cx="58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grpSp>
        <p:grpSp>
          <p:nvGrpSpPr>
            <p:cNvPr id="41993" name="Group 18"/>
            <p:cNvGrpSpPr/>
            <p:nvPr/>
          </p:nvGrpSpPr>
          <p:grpSpPr bwMode="auto">
            <a:xfrm>
              <a:off x="4608" y="1259"/>
              <a:ext cx="960" cy="438"/>
              <a:chOff x="8235" y="2910"/>
              <a:chExt cx="1140" cy="360"/>
            </a:xfrm>
          </p:grpSpPr>
          <p:sp>
            <p:nvSpPr>
              <p:cNvPr id="42000" name="Text Box 19"/>
              <p:cNvSpPr txBox="1">
                <a:spLocks noChangeArrowheads="1"/>
              </p:cNvSpPr>
              <p:nvPr/>
            </p:nvSpPr>
            <p:spPr bwMode="auto">
              <a:xfrm>
                <a:off x="8235" y="2910"/>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latin typeface="+mn-lt"/>
                  </a:rPr>
                  <a:t> datan   NULL</a:t>
                </a:r>
                <a:endParaRPr lang="en-US" altLang="zh-CN" sz="1600" b="1">
                  <a:latin typeface="+mn-lt"/>
                </a:endParaRPr>
              </a:p>
            </p:txBody>
          </p:sp>
          <p:sp>
            <p:nvSpPr>
              <p:cNvPr id="42001" name="Line 20"/>
              <p:cNvSpPr>
                <a:spLocks noChangeShapeType="1"/>
              </p:cNvSpPr>
              <p:nvPr/>
            </p:nvSpPr>
            <p:spPr bwMode="auto">
              <a:xfrm>
                <a:off x="8805" y="2910"/>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nchor="ctr"/>
              <a:lstStyle/>
              <a:p>
                <a:endParaRPr lang="zh-CN" altLang="en-US" sz="2800" b="1">
                  <a:latin typeface="+mn-lt"/>
                </a:endParaRPr>
              </a:p>
            </p:txBody>
          </p:sp>
        </p:grpSp>
        <p:sp>
          <p:nvSpPr>
            <p:cNvPr id="41994" name="Text Box 21"/>
            <p:cNvSpPr txBox="1">
              <a:spLocks noChangeArrowheads="1"/>
            </p:cNvSpPr>
            <p:nvPr/>
          </p:nvSpPr>
          <p:spPr bwMode="auto">
            <a:xfrm>
              <a:off x="3936" y="1223"/>
              <a:ext cx="425" cy="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600" b="1">
                  <a:latin typeface="+mn-lt"/>
                </a:rPr>
                <a:t>…</a:t>
              </a:r>
              <a:endParaRPr lang="en-US" altLang="zh-CN" sz="1600" b="1">
                <a:latin typeface="+mn-lt"/>
              </a:endParaRPr>
            </a:p>
          </p:txBody>
        </p:sp>
        <p:sp>
          <p:nvSpPr>
            <p:cNvPr id="41995" name="Line 22"/>
            <p:cNvSpPr>
              <a:spLocks noChangeShapeType="1"/>
            </p:cNvSpPr>
            <p:nvPr/>
          </p:nvSpPr>
          <p:spPr bwMode="auto">
            <a:xfrm>
              <a:off x="4272" y="1496"/>
              <a:ext cx="283"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2800" b="1">
                <a:latin typeface="+mn-lt"/>
              </a:endParaRPr>
            </a:p>
          </p:txBody>
        </p:sp>
        <p:sp>
          <p:nvSpPr>
            <p:cNvPr id="41996" name="Text Box 23"/>
            <p:cNvSpPr txBox="1">
              <a:spLocks noChangeArrowheads="1"/>
            </p:cNvSpPr>
            <p:nvPr/>
          </p:nvSpPr>
          <p:spPr bwMode="auto">
            <a:xfrm>
              <a:off x="768"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b="1">
                  <a:latin typeface="+mn-lt"/>
                </a:rPr>
                <a:t>head</a:t>
              </a:r>
              <a:endParaRPr lang="en-US" altLang="zh-CN" sz="1600" b="1">
                <a:latin typeface="+mn-lt"/>
              </a:endParaRPr>
            </a:p>
          </p:txBody>
        </p:sp>
        <p:sp>
          <p:nvSpPr>
            <p:cNvPr id="41997" name="Text Box 24"/>
            <p:cNvSpPr txBox="1">
              <a:spLocks noChangeArrowheads="1"/>
            </p:cNvSpPr>
            <p:nvPr/>
          </p:nvSpPr>
          <p:spPr bwMode="auto">
            <a:xfrm>
              <a:off x="4596" y="2103"/>
              <a:ext cx="50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600" b="1">
                  <a:latin typeface="+mn-lt"/>
                </a:rPr>
                <a:t>rear</a:t>
              </a:r>
              <a:endParaRPr lang="en-US" altLang="zh-CN" sz="1600" b="1">
                <a:latin typeface="+mn-lt"/>
              </a:endParaRPr>
            </a:p>
          </p:txBody>
        </p:sp>
        <p:sp>
          <p:nvSpPr>
            <p:cNvPr id="41998" name="Line 25"/>
            <p:cNvSpPr>
              <a:spLocks noChangeShapeType="1"/>
            </p:cNvSpPr>
            <p:nvPr/>
          </p:nvSpPr>
          <p:spPr bwMode="auto">
            <a:xfrm flipV="1">
              <a:off x="930" y="1733"/>
              <a:ext cx="223" cy="40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2800" b="1">
                <a:latin typeface="+mn-lt"/>
              </a:endParaRPr>
            </a:p>
          </p:txBody>
        </p:sp>
        <p:sp>
          <p:nvSpPr>
            <p:cNvPr id="41999" name="Line 26"/>
            <p:cNvSpPr>
              <a:spLocks noChangeShapeType="1"/>
            </p:cNvSpPr>
            <p:nvPr/>
          </p:nvSpPr>
          <p:spPr bwMode="auto">
            <a:xfrm flipV="1">
              <a:off x="4727" y="1733"/>
              <a:ext cx="223" cy="40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sz="2800" b="1">
                <a:latin typeface="+mn-lt"/>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11"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单链表的结点类模板</a:t>
            </a:r>
            <a:endParaRPr lang="zh-CN" altLang="en-US" sz="4400" b="1">
              <a:latin typeface="Times New Roman" panose="02020603050405020304" pitchFamily="18" charset="0"/>
              <a:ea typeface="隶书" panose="02010509060101010101" pitchFamily="49" charset="-122"/>
            </a:endParaRPr>
          </a:p>
        </p:txBody>
      </p:sp>
      <p:sp>
        <p:nvSpPr>
          <p:cNvPr id="43012" name="内容占位符 2"/>
          <p:cNvSpPr>
            <a:spLocks noGrp="1"/>
          </p:cNvSpPr>
          <p:nvPr>
            <p:ph idx="1"/>
          </p:nvPr>
        </p:nvSpPr>
        <p:spPr>
          <a:xfrm>
            <a:off x="683568" y="1124744"/>
            <a:ext cx="7886700" cy="5115311"/>
          </a:xfrm>
          <a:solidFill>
            <a:schemeClr val="tx1"/>
          </a:solidFill>
          <a:ln w="9525">
            <a:solidFill>
              <a:schemeClr val="tx1"/>
            </a:solidFill>
            <a:miter lim="800000"/>
          </a:ln>
        </p:spPr>
        <p:txBody>
          <a:bodyPr>
            <a:spAutoFit/>
          </a:bodyPr>
          <a:lstStyle/>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Node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*next;	//</a:t>
            </a:r>
            <a:r>
              <a:rPr lang="zh-CN" altLang="en-US" sz="2000" b="1" dirty="0">
                <a:solidFill>
                  <a:srgbClr val="000000"/>
                </a:solidFill>
                <a:latin typeface="Times New Roman" panose="02020603050405020304" pitchFamily="18" charset="0"/>
                <a:ea typeface="华文楷体" panose="02010600040101010101" pitchFamily="2" charset="-122"/>
              </a:rPr>
              <a:t>指向后继结点的指针</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data; 		//</a:t>
            </a:r>
            <a:r>
              <a:rPr lang="zh-CN" altLang="en-US" sz="2000" b="1" dirty="0">
                <a:solidFill>
                  <a:srgbClr val="000000"/>
                </a:solidFill>
                <a:latin typeface="Times New Roman" panose="02020603050405020304" pitchFamily="18" charset="0"/>
                <a:ea typeface="华文楷体" panose="02010600040101010101" pitchFamily="2" charset="-122"/>
              </a:rPr>
              <a:t>数据域</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T&amp; </a:t>
            </a:r>
            <a:r>
              <a:rPr lang="en-US" altLang="zh-CN" sz="2000" b="1" dirty="0" err="1">
                <a:solidFill>
                  <a:srgbClr val="000000"/>
                </a:solidFill>
                <a:latin typeface="Times New Roman" panose="02020603050405020304" pitchFamily="18" charset="0"/>
                <a:ea typeface="华文楷体" panose="02010600040101010101" pitchFamily="2" charset="-122"/>
              </a:rPr>
              <a:t>item,Node</a:t>
            </a:r>
            <a:r>
              <a:rPr lang="en-US" altLang="zh-CN" sz="2000" b="1" dirty="0">
                <a:solidFill>
                  <a:srgbClr val="000000"/>
                </a:solidFill>
                <a:latin typeface="Times New Roman" panose="02020603050405020304" pitchFamily="18" charset="0"/>
                <a:ea typeface="华文楷体" panose="02010600040101010101" pitchFamily="2" charset="-122"/>
              </a:rPr>
              <a:t>&lt;T&gt;* next = 0);	//</a:t>
            </a:r>
            <a:r>
              <a:rPr lang="zh-CN" altLang="en-US" sz="2000" b="1" dirty="0">
                <a:solidFill>
                  <a:srgbClr val="000000"/>
                </a:solidFill>
                <a:latin typeface="Times New Roman" panose="02020603050405020304" pitchFamily="18" charset="0"/>
                <a:ea typeface="华文楷体" panose="02010600040101010101" pitchFamily="2" charset="-122"/>
              </a:rPr>
              <a:t>构造函数</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a:t>
            </a:r>
            <a:r>
              <a:rPr lang="en-US" altLang="zh-CN" sz="2000" b="1" dirty="0" err="1">
                <a:solidFill>
                  <a:srgbClr val="000000"/>
                </a:solidFill>
                <a:latin typeface="Times New Roman" panose="02020603050405020304" pitchFamily="18" charset="0"/>
                <a:ea typeface="华文楷体" panose="02010600040101010101" pitchFamily="2" charset="-122"/>
              </a:rPr>
              <a:t>insertAfter</a:t>
            </a:r>
            <a:r>
              <a:rPr lang="en-US" altLang="zh-CN" sz="2000" b="1" dirty="0">
                <a:solidFill>
                  <a:srgbClr val="000000"/>
                </a:solidFill>
                <a:latin typeface="Times New Roman" panose="02020603050405020304" pitchFamily="18" charset="0"/>
                <a:ea typeface="华文楷体" panose="02010600040101010101" pitchFamily="2" charset="-122"/>
              </a:rPr>
              <a:t>(Node&lt;T&gt; *p);		//</a:t>
            </a:r>
            <a:r>
              <a:rPr lang="zh-CN" altLang="en-US" sz="2000" b="1" dirty="0">
                <a:solidFill>
                  <a:srgbClr val="000000"/>
                </a:solidFill>
                <a:latin typeface="Times New Roman" panose="02020603050405020304" pitchFamily="18" charset="0"/>
                <a:ea typeface="华文楷体" panose="02010600040101010101" pitchFamily="2" charset="-122"/>
              </a:rPr>
              <a:t>在本结点之后插入新结点</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a:t>
            </a:r>
            <a:r>
              <a:rPr lang="en-US" altLang="zh-CN" sz="2000" b="1" dirty="0" err="1">
                <a:solidFill>
                  <a:srgbClr val="000000"/>
                </a:solidFill>
                <a:latin typeface="Times New Roman" panose="02020603050405020304" pitchFamily="18" charset="0"/>
                <a:ea typeface="华文楷体" panose="02010600040101010101" pitchFamily="2" charset="-122"/>
              </a:rPr>
              <a:t>deleteAfter</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删除本结点的后记结点</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a:t>
            </a:r>
            <a:r>
              <a:rPr lang="en-US" altLang="zh-CN" sz="2000" b="1" dirty="0" err="1">
                <a:solidFill>
                  <a:srgbClr val="000000"/>
                </a:solidFill>
                <a:latin typeface="Times New Roman" panose="02020603050405020304" pitchFamily="18" charset="0"/>
                <a:ea typeface="华文楷体" panose="02010600040101010101" pitchFamily="2" charset="-122"/>
              </a:rPr>
              <a:t>nextNode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获取后继结点的地址</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lnSpc>
                <a:spcPct val="150000"/>
              </a:lnSpc>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5" name="标题 1"/>
          <p:cNvSpPr>
            <a:spLocks noGrp="1"/>
          </p:cNvSpPr>
          <p:nvPr>
            <p:ph type="title"/>
          </p:nvPr>
        </p:nvSpPr>
        <p:spPr>
          <a:xfrm>
            <a:off x="428625" y="571500"/>
            <a:ext cx="8229600" cy="1066800"/>
          </a:xfrm>
        </p:spPr>
        <p:txBody>
          <a:bodyPr/>
          <a:lstStyle/>
          <a:p>
            <a:pPr algn="ctr"/>
            <a:r>
              <a:rPr lang="zh-CN" altLang="en-US" sz="4400" b="1">
                <a:latin typeface="Times New Roman" panose="02020603050405020304" pitchFamily="18" charset="0"/>
                <a:ea typeface="隶书" panose="02010509060101010101" pitchFamily="49" charset="-122"/>
              </a:rPr>
              <a:t>在结点之后插入一个结点</a:t>
            </a:r>
            <a:endParaRPr lang="zh-CN" altLang="en-US" sz="4400" b="1">
              <a:latin typeface="Times New Roman" panose="02020603050405020304" pitchFamily="18" charset="0"/>
              <a:ea typeface="隶书" panose="02010509060101010101" pitchFamily="49" charset="-122"/>
            </a:endParaRPr>
          </a:p>
        </p:txBody>
      </p:sp>
      <p:sp>
        <p:nvSpPr>
          <p:cNvPr id="44037" name="Text Box 7"/>
          <p:cNvSpPr txBox="1">
            <a:spLocks noChangeArrowheads="1"/>
          </p:cNvSpPr>
          <p:nvPr/>
        </p:nvSpPr>
        <p:spPr bwMode="auto">
          <a:xfrm>
            <a:off x="2032000" y="2005013"/>
            <a:ext cx="1598613" cy="5048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 data1</a:t>
            </a:r>
            <a:endParaRPr lang="en-US" altLang="zh-CN" sz="2000" b="1">
              <a:latin typeface="+mn-lt"/>
              <a:ea typeface="华文楷体" panose="02010600040101010101" pitchFamily="2" charset="-122"/>
            </a:endParaRPr>
          </a:p>
        </p:txBody>
      </p:sp>
      <p:sp>
        <p:nvSpPr>
          <p:cNvPr id="44038" name="Line 8"/>
          <p:cNvSpPr>
            <a:spLocks noChangeShapeType="1"/>
          </p:cNvSpPr>
          <p:nvPr/>
        </p:nvSpPr>
        <p:spPr bwMode="auto">
          <a:xfrm>
            <a:off x="2830513" y="2005013"/>
            <a:ext cx="0" cy="504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44039" name="Line 9"/>
          <p:cNvSpPr>
            <a:spLocks noChangeShapeType="1"/>
          </p:cNvSpPr>
          <p:nvPr/>
        </p:nvSpPr>
        <p:spPr bwMode="auto">
          <a:xfrm>
            <a:off x="3630613" y="2279650"/>
            <a:ext cx="1998662"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grpSp>
        <p:nvGrpSpPr>
          <p:cNvPr id="44040" name="Group 10"/>
          <p:cNvGrpSpPr/>
          <p:nvPr/>
        </p:nvGrpSpPr>
        <p:grpSpPr bwMode="auto">
          <a:xfrm>
            <a:off x="5607050" y="2005013"/>
            <a:ext cx="2206625" cy="504825"/>
            <a:chOff x="2505" y="2775"/>
            <a:chExt cx="1572" cy="360"/>
          </a:xfrm>
        </p:grpSpPr>
        <p:sp>
          <p:nvSpPr>
            <p:cNvPr id="44054" name="Text Box 11"/>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 data2</a:t>
              </a:r>
              <a:endParaRPr lang="en-US" altLang="zh-CN" sz="2000" b="1">
                <a:latin typeface="+mn-lt"/>
                <a:ea typeface="华文楷体" panose="02010600040101010101" pitchFamily="2" charset="-122"/>
              </a:endParaRPr>
            </a:p>
          </p:txBody>
        </p:sp>
        <p:sp>
          <p:nvSpPr>
            <p:cNvPr id="44055" name="Line 12"/>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44056" name="Line 13"/>
            <p:cNvSpPr>
              <a:spLocks noChangeShapeType="1"/>
            </p:cNvSpPr>
            <p:nvPr/>
          </p:nvSpPr>
          <p:spPr bwMode="auto">
            <a:xfrm>
              <a:off x="3645" y="2982"/>
              <a:ext cx="432"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grpSp>
      <p:sp>
        <p:nvSpPr>
          <p:cNvPr id="44041" name="Text Box 14"/>
          <p:cNvSpPr txBox="1">
            <a:spLocks noChangeArrowheads="1"/>
          </p:cNvSpPr>
          <p:nvPr/>
        </p:nvSpPr>
        <p:spPr bwMode="auto">
          <a:xfrm>
            <a:off x="7577138" y="1981200"/>
            <a:ext cx="88265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sp>
        <p:nvSpPr>
          <p:cNvPr id="44042" name="Text Box 15"/>
          <p:cNvSpPr txBox="1">
            <a:spLocks noChangeArrowheads="1"/>
          </p:cNvSpPr>
          <p:nvPr/>
        </p:nvSpPr>
        <p:spPr bwMode="auto">
          <a:xfrm>
            <a:off x="2398713" y="3317875"/>
            <a:ext cx="10509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   p</a:t>
            </a:r>
            <a:endParaRPr lang="en-US" altLang="zh-CN" sz="2000" b="1">
              <a:latin typeface="+mn-lt"/>
              <a:ea typeface="华文楷体" panose="02010600040101010101" pitchFamily="2" charset="-122"/>
            </a:endParaRPr>
          </a:p>
        </p:txBody>
      </p:sp>
      <p:sp>
        <p:nvSpPr>
          <p:cNvPr id="44043" name="Text Box 19"/>
          <p:cNvSpPr txBox="1">
            <a:spLocks noChangeArrowheads="1"/>
          </p:cNvSpPr>
          <p:nvPr/>
        </p:nvSpPr>
        <p:spPr bwMode="auto">
          <a:xfrm>
            <a:off x="3798888" y="3203575"/>
            <a:ext cx="1598612" cy="50482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 data</a:t>
            </a:r>
            <a:endParaRPr lang="en-US" altLang="zh-CN" sz="2000" b="1">
              <a:latin typeface="+mn-lt"/>
              <a:ea typeface="华文楷体" panose="02010600040101010101" pitchFamily="2" charset="-122"/>
            </a:endParaRPr>
          </a:p>
        </p:txBody>
      </p:sp>
      <p:sp>
        <p:nvSpPr>
          <p:cNvPr id="44044" name="Line 20"/>
          <p:cNvSpPr>
            <a:spLocks noChangeShapeType="1"/>
          </p:cNvSpPr>
          <p:nvPr/>
        </p:nvSpPr>
        <p:spPr bwMode="auto">
          <a:xfrm>
            <a:off x="4597400" y="3203575"/>
            <a:ext cx="0" cy="5048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44045" name="Freeform 21"/>
          <p:cNvSpPr/>
          <p:nvPr/>
        </p:nvSpPr>
        <p:spPr bwMode="auto">
          <a:xfrm>
            <a:off x="5397500" y="2514600"/>
            <a:ext cx="377825" cy="966788"/>
          </a:xfrm>
          <a:custGeom>
            <a:avLst/>
            <a:gdLst>
              <a:gd name="T0" fmla="*/ 0 w 540"/>
              <a:gd name="T1" fmla="*/ 2147483647 h 690"/>
              <a:gd name="T2" fmla="*/ 2147483647 w 540"/>
              <a:gd name="T3" fmla="*/ 2147483647 h 690"/>
              <a:gd name="T4" fmla="*/ 2147483647 w 540"/>
              <a:gd name="T5" fmla="*/ 0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540" y="690"/>
                </a:lnTo>
                <a:lnTo>
                  <a:pt x="540" y="0"/>
                </a:lnTo>
              </a:path>
            </a:pathLst>
          </a:custGeom>
          <a:noFill/>
          <a:ln w="9525">
            <a:solidFill>
              <a:srgbClr val="FFC000"/>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华文楷体" panose="02010600040101010101" pitchFamily="2" charset="-122"/>
            </a:endParaRPr>
          </a:p>
        </p:txBody>
      </p:sp>
      <p:sp>
        <p:nvSpPr>
          <p:cNvPr id="44046" name="Freeform 24"/>
          <p:cNvSpPr/>
          <p:nvPr/>
        </p:nvSpPr>
        <p:spPr bwMode="auto">
          <a:xfrm>
            <a:off x="3357563" y="2514600"/>
            <a:ext cx="441325" cy="946150"/>
          </a:xfrm>
          <a:custGeom>
            <a:avLst/>
            <a:gdLst>
              <a:gd name="T0" fmla="*/ 0 w 315"/>
              <a:gd name="T1" fmla="*/ 0 h 780"/>
              <a:gd name="T2" fmla="*/ 0 w 315"/>
              <a:gd name="T3" fmla="*/ 2147483647 h 780"/>
              <a:gd name="T4" fmla="*/ 2147483647 w 315"/>
              <a:gd name="T5" fmla="*/ 2147483647 h 780"/>
              <a:gd name="T6" fmla="*/ 0 60000 65536"/>
              <a:gd name="T7" fmla="*/ 0 60000 65536"/>
              <a:gd name="T8" fmla="*/ 0 60000 65536"/>
              <a:gd name="T9" fmla="*/ 0 w 315"/>
              <a:gd name="T10" fmla="*/ 0 h 780"/>
              <a:gd name="T11" fmla="*/ 315 w 315"/>
              <a:gd name="T12" fmla="*/ 780 h 780"/>
            </a:gdLst>
            <a:ahLst/>
            <a:cxnLst>
              <a:cxn ang="T6">
                <a:pos x="T0" y="T1"/>
              </a:cxn>
              <a:cxn ang="T7">
                <a:pos x="T2" y="T3"/>
              </a:cxn>
              <a:cxn ang="T8">
                <a:pos x="T4" y="T5"/>
              </a:cxn>
            </a:cxnLst>
            <a:rect l="T9" t="T10" r="T11" b="T12"/>
            <a:pathLst>
              <a:path w="315" h="780">
                <a:moveTo>
                  <a:pt x="0" y="0"/>
                </a:moveTo>
                <a:lnTo>
                  <a:pt x="0" y="780"/>
                </a:lnTo>
                <a:lnTo>
                  <a:pt x="315" y="780"/>
                </a:lnTo>
              </a:path>
            </a:pathLst>
          </a:custGeom>
          <a:noFill/>
          <a:ln w="9525">
            <a:solidFill>
              <a:srgbClr val="FFC000"/>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华文楷体" panose="02010600040101010101" pitchFamily="2" charset="-122"/>
            </a:endParaRPr>
          </a:p>
        </p:txBody>
      </p:sp>
      <p:sp>
        <p:nvSpPr>
          <p:cNvPr id="44047" name="Line 27"/>
          <p:cNvSpPr>
            <a:spLocks noChangeShapeType="1"/>
          </p:cNvSpPr>
          <p:nvPr/>
        </p:nvSpPr>
        <p:spPr bwMode="auto">
          <a:xfrm>
            <a:off x="1379538" y="2295525"/>
            <a:ext cx="652462"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44048" name="Text Box 28"/>
          <p:cNvSpPr txBox="1">
            <a:spLocks noChangeArrowheads="1"/>
          </p:cNvSpPr>
          <p:nvPr/>
        </p:nvSpPr>
        <p:spPr bwMode="auto">
          <a:xfrm>
            <a:off x="866775" y="2016125"/>
            <a:ext cx="60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grpSp>
        <p:nvGrpSpPr>
          <p:cNvPr id="44049" name="Group 31"/>
          <p:cNvGrpSpPr/>
          <p:nvPr/>
        </p:nvGrpSpPr>
        <p:grpSpPr bwMode="auto">
          <a:xfrm>
            <a:off x="4364038" y="2039938"/>
            <a:ext cx="381000" cy="457200"/>
            <a:chOff x="2976" y="1824"/>
            <a:chExt cx="240" cy="288"/>
          </a:xfrm>
        </p:grpSpPr>
        <p:sp>
          <p:nvSpPr>
            <p:cNvPr id="44052" name="Line 29"/>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44053" name="Line 30"/>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
        <p:nvSpPr>
          <p:cNvPr id="44050" name="Line 33"/>
          <p:cNvSpPr>
            <a:spLocks noChangeShapeType="1"/>
          </p:cNvSpPr>
          <p:nvPr/>
        </p:nvSpPr>
        <p:spPr bwMode="auto">
          <a:xfrm>
            <a:off x="2797175" y="3640138"/>
            <a:ext cx="990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0" name="Text Box 32"/>
          <p:cNvSpPr txBox="1">
            <a:spLocks noChangeArrowheads="1"/>
          </p:cNvSpPr>
          <p:nvPr/>
        </p:nvSpPr>
        <p:spPr bwMode="auto">
          <a:xfrm>
            <a:off x="1497013" y="4194175"/>
            <a:ext cx="7467600" cy="2308324"/>
          </a:xfrm>
          <a:prstGeom prst="rect">
            <a:avLst/>
          </a:prstGeom>
          <a:solidFill>
            <a:schemeClr val="tx1"/>
          </a:solidFill>
          <a:ln>
            <a:noFill/>
          </a:ln>
        </p:spPr>
        <p:txBody>
          <a:bodyPr>
            <a:spAutoFit/>
          </a:bodyPr>
          <a:lstStyle>
            <a:lvl1pPr eaLnBrk="0" hangingPunct="0">
              <a:defRPr sz="2400" b="1">
                <a:solidFill>
                  <a:schemeClr val="bg2"/>
                </a:solidFill>
                <a:latin typeface="Times New Roman" panose="02020603050405020304" pitchFamily="18" charset="0"/>
                <a:ea typeface="宋体" panose="02010600030101010101" pitchFamily="2" charset="-122"/>
              </a:defRPr>
            </a:lvl1pPr>
            <a:lvl2pPr marL="742950" indent="-285750" eaLnBrk="0" hangingPunct="0">
              <a:defRPr sz="2400" b="1">
                <a:solidFill>
                  <a:schemeClr val="bg2"/>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bg2"/>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bg2"/>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9pPr>
          </a:lstStyle>
          <a:p>
            <a:pPr algn="l" eaLnBrk="1" hangingPunct="1">
              <a:buClr>
                <a:schemeClr val="accent2"/>
              </a:buClr>
              <a:buSzPct val="80000"/>
              <a:buFont typeface="Wingdings" panose="05000000000000000000" pitchFamily="2" charset="2"/>
              <a:buNone/>
              <a:defRPr/>
            </a:pPr>
            <a:r>
              <a:rPr lang="en-US" altLang="zh-CN" dirty="0">
                <a:solidFill>
                  <a:srgbClr val="000000"/>
                </a:solidFill>
                <a:latin typeface="+mn-lt"/>
                <a:ea typeface="华文楷体" panose="02010600040101010101" pitchFamily="2" charset="-122"/>
                <a:cs typeface="Consolas" panose="020B0609020204030204" pitchFamily="49" charset="0"/>
              </a:rPr>
              <a:t>template &lt;class T&gt;</a:t>
            </a:r>
            <a:endParaRPr lang="en-US" altLang="zh-CN" dirty="0">
              <a:solidFill>
                <a:srgbClr val="000000"/>
              </a:solidFill>
              <a:latin typeface="+mn-lt"/>
              <a:ea typeface="华文楷体" panose="02010600040101010101" pitchFamily="2" charset="-122"/>
              <a:cs typeface="Consolas" panose="020B0609020204030204" pitchFamily="49" charset="0"/>
            </a:endParaRPr>
          </a:p>
          <a:p>
            <a:pPr algn="l" eaLnBrk="1" hangingPunct="1">
              <a:buClr>
                <a:schemeClr val="accent2"/>
              </a:buClr>
              <a:buSzPct val="80000"/>
              <a:buFont typeface="Wingdings" panose="05000000000000000000" pitchFamily="2" charset="2"/>
              <a:buNone/>
              <a:defRPr/>
            </a:pPr>
            <a:r>
              <a:rPr lang="en-US" altLang="zh-CN" dirty="0">
                <a:solidFill>
                  <a:srgbClr val="000000"/>
                </a:solidFill>
                <a:latin typeface="+mn-lt"/>
                <a:ea typeface="华文楷体" panose="02010600040101010101" pitchFamily="2" charset="-122"/>
                <a:cs typeface="Consolas" panose="020B0609020204030204" pitchFamily="49" charset="0"/>
              </a:rPr>
              <a:t>void Node&lt;T&gt;::</a:t>
            </a:r>
            <a:r>
              <a:rPr lang="en-US" altLang="zh-CN" dirty="0" err="1">
                <a:solidFill>
                  <a:srgbClr val="000000"/>
                </a:solidFill>
                <a:latin typeface="+mn-lt"/>
                <a:ea typeface="华文楷体" panose="02010600040101010101" pitchFamily="2" charset="-122"/>
                <a:cs typeface="Consolas" panose="020B0609020204030204" pitchFamily="49" charset="0"/>
              </a:rPr>
              <a:t>insertAfter</a:t>
            </a:r>
            <a:r>
              <a:rPr lang="en-US" altLang="zh-CN" dirty="0">
                <a:solidFill>
                  <a:srgbClr val="000000"/>
                </a:solidFill>
                <a:latin typeface="+mn-lt"/>
                <a:ea typeface="华文楷体" panose="02010600040101010101" pitchFamily="2" charset="-122"/>
                <a:cs typeface="Consolas" panose="020B0609020204030204" pitchFamily="49" charset="0"/>
              </a:rPr>
              <a:t>(Node&lt;T&gt; *p) {</a:t>
            </a:r>
            <a:endParaRPr lang="en-US" altLang="zh-CN" dirty="0">
              <a:solidFill>
                <a:srgbClr val="000000"/>
              </a:solidFill>
              <a:latin typeface="+mn-lt"/>
              <a:ea typeface="华文楷体" panose="02010600040101010101" pitchFamily="2" charset="-122"/>
              <a:cs typeface="Consolas" panose="020B0609020204030204" pitchFamily="49" charset="0"/>
            </a:endParaRPr>
          </a:p>
          <a:p>
            <a:pPr algn="l" eaLnBrk="1" hangingPunct="1">
              <a:buClr>
                <a:schemeClr val="accent2"/>
              </a:buClr>
              <a:buSzPct val="80000"/>
              <a:buFont typeface="Wingdings" panose="05000000000000000000" pitchFamily="2" charset="2"/>
              <a:buNone/>
              <a:defRPr/>
            </a:pPr>
            <a:r>
              <a:rPr lang="en-US" altLang="zh-CN" dirty="0">
                <a:solidFill>
                  <a:srgbClr val="000000"/>
                </a:solidFill>
                <a:latin typeface="+mn-lt"/>
                <a:ea typeface="华文楷体" panose="02010600040101010101" pitchFamily="2" charset="-122"/>
                <a:cs typeface="Consolas" panose="020B0609020204030204" pitchFamily="49" charset="0"/>
              </a:rPr>
              <a:t>  //p</a:t>
            </a:r>
            <a:r>
              <a:rPr lang="zh-CN" altLang="en-US" dirty="0">
                <a:solidFill>
                  <a:srgbClr val="000000"/>
                </a:solidFill>
                <a:latin typeface="+mn-lt"/>
                <a:ea typeface="华文楷体" panose="02010600040101010101" pitchFamily="2" charset="-122"/>
                <a:cs typeface="Consolas" panose="020B0609020204030204" pitchFamily="49" charset="0"/>
              </a:rPr>
              <a:t>节点指针域指向当前节点的后继节点</a:t>
            </a:r>
            <a:endParaRPr lang="zh-CN" altLang="en-US" dirty="0">
              <a:solidFill>
                <a:srgbClr val="000000"/>
              </a:solidFill>
              <a:latin typeface="+mn-lt"/>
              <a:ea typeface="华文楷体" panose="02010600040101010101" pitchFamily="2" charset="-122"/>
              <a:cs typeface="Consolas" panose="020B0609020204030204" pitchFamily="49" charset="0"/>
            </a:endParaRPr>
          </a:p>
          <a:p>
            <a:pPr algn="l" eaLnBrk="1" hangingPunct="1">
              <a:buClr>
                <a:schemeClr val="accent2"/>
              </a:buClr>
              <a:buSzPct val="80000"/>
              <a:buFont typeface="Wingdings" panose="05000000000000000000" pitchFamily="2" charset="2"/>
              <a:buNone/>
              <a:defRPr/>
            </a:pPr>
            <a:r>
              <a:rPr lang="zh-CN" altLang="en-US" dirty="0">
                <a:solidFill>
                  <a:srgbClr val="000000"/>
                </a:solidFill>
                <a:latin typeface="+mn-lt"/>
                <a:ea typeface="华文楷体" panose="02010600040101010101" pitchFamily="2" charset="-122"/>
                <a:cs typeface="Consolas" panose="020B0609020204030204" pitchFamily="49" charset="0"/>
              </a:rPr>
              <a:t>  </a:t>
            </a:r>
            <a:r>
              <a:rPr lang="en-US" altLang="zh-CN" dirty="0">
                <a:solidFill>
                  <a:srgbClr val="000000"/>
                </a:solidFill>
                <a:latin typeface="+mn-lt"/>
                <a:ea typeface="华文楷体" panose="02010600040101010101" pitchFamily="2" charset="-122"/>
                <a:cs typeface="Consolas" panose="020B0609020204030204" pitchFamily="49" charset="0"/>
              </a:rPr>
              <a:t>p-&gt;next = next;     </a:t>
            </a:r>
            <a:endParaRPr lang="en-US" altLang="zh-CN" dirty="0">
              <a:solidFill>
                <a:srgbClr val="000000"/>
              </a:solidFill>
              <a:latin typeface="+mn-lt"/>
              <a:ea typeface="华文楷体" panose="02010600040101010101" pitchFamily="2" charset="-122"/>
              <a:cs typeface="Consolas" panose="020B0609020204030204" pitchFamily="49" charset="0"/>
            </a:endParaRPr>
          </a:p>
          <a:p>
            <a:pPr algn="l" eaLnBrk="1" hangingPunct="1">
              <a:buClr>
                <a:schemeClr val="accent2"/>
              </a:buClr>
              <a:buSzPct val="80000"/>
              <a:buFont typeface="Wingdings" panose="05000000000000000000" pitchFamily="2" charset="2"/>
              <a:buNone/>
              <a:defRPr/>
            </a:pPr>
            <a:r>
              <a:rPr lang="en-US" altLang="zh-CN" dirty="0">
                <a:solidFill>
                  <a:srgbClr val="000000"/>
                </a:solidFill>
                <a:latin typeface="+mn-lt"/>
                <a:ea typeface="华文楷体" panose="02010600040101010101" pitchFamily="2" charset="-122"/>
                <a:cs typeface="Consolas" panose="020B0609020204030204" pitchFamily="49" charset="0"/>
              </a:rPr>
              <a:t>  next = p; //</a:t>
            </a:r>
            <a:r>
              <a:rPr lang="zh-CN" altLang="en-US" dirty="0">
                <a:solidFill>
                  <a:srgbClr val="000000"/>
                </a:solidFill>
                <a:latin typeface="+mn-lt"/>
                <a:ea typeface="华文楷体" panose="02010600040101010101" pitchFamily="2" charset="-122"/>
                <a:cs typeface="Consolas" panose="020B0609020204030204" pitchFamily="49" charset="0"/>
              </a:rPr>
              <a:t>当前节点的指针域指向</a:t>
            </a:r>
            <a:r>
              <a:rPr lang="en-US" altLang="zh-CN" dirty="0">
                <a:solidFill>
                  <a:srgbClr val="000000"/>
                </a:solidFill>
                <a:latin typeface="+mn-lt"/>
                <a:ea typeface="华文楷体" panose="02010600040101010101" pitchFamily="2" charset="-122"/>
                <a:cs typeface="Consolas" panose="020B0609020204030204" pitchFamily="49" charset="0"/>
              </a:rPr>
              <a:t>p </a:t>
            </a:r>
            <a:endParaRPr lang="en-US" altLang="zh-CN" dirty="0">
              <a:solidFill>
                <a:srgbClr val="000000"/>
              </a:solidFill>
              <a:latin typeface="+mn-lt"/>
              <a:ea typeface="华文楷体" panose="02010600040101010101" pitchFamily="2" charset="-122"/>
              <a:cs typeface="Consolas" panose="020B0609020204030204" pitchFamily="49" charset="0"/>
            </a:endParaRPr>
          </a:p>
          <a:p>
            <a:pPr algn="l" eaLnBrk="1" hangingPunct="1">
              <a:buClr>
                <a:schemeClr val="accent2"/>
              </a:buClr>
              <a:buSzPct val="80000"/>
              <a:buFont typeface="Wingdings" panose="05000000000000000000" pitchFamily="2" charset="2"/>
              <a:buNone/>
              <a:defRPr/>
            </a:pPr>
            <a:r>
              <a:rPr lang="en-US" altLang="zh-CN" dirty="0">
                <a:solidFill>
                  <a:srgbClr val="000000"/>
                </a:solidFill>
                <a:latin typeface="+mn-lt"/>
                <a:ea typeface="华文楷体" panose="02010600040101010101" pitchFamily="2" charset="-122"/>
                <a:cs typeface="Consolas" panose="020B0609020204030204" pitchFamily="49" charset="0"/>
              </a:rPr>
              <a:t>}</a:t>
            </a:r>
            <a:endParaRPr lang="en-US" altLang="zh-CN" dirty="0">
              <a:solidFill>
                <a:srgbClr val="000000"/>
              </a:solidFill>
              <a:latin typeface="+mn-lt"/>
              <a:ea typeface="华文楷体" panose="02010600040101010101" pitchFamily="2" charset="-122"/>
              <a:cs typeface="Consolas" panose="020B0609020204030204" pitchFamily="49"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9"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 </a:t>
            </a:r>
            <a:r>
              <a:rPr lang="zh-CN" altLang="en-US" sz="4400" b="1">
                <a:latin typeface="Times New Roman" panose="02020603050405020304" pitchFamily="18" charset="0"/>
                <a:ea typeface="隶书" panose="02010509060101010101" pitchFamily="49" charset="-122"/>
              </a:rPr>
              <a:t>删除结点之后的结点</a:t>
            </a:r>
            <a:endParaRPr lang="zh-CN" altLang="en-US" sz="4400" b="1">
              <a:latin typeface="Times New Roman" panose="02020603050405020304" pitchFamily="18" charset="0"/>
              <a:ea typeface="隶书" panose="02010509060101010101" pitchFamily="49" charset="-122"/>
            </a:endParaRPr>
          </a:p>
        </p:txBody>
      </p:sp>
      <p:grpSp>
        <p:nvGrpSpPr>
          <p:cNvPr id="2" name="组合 1"/>
          <p:cNvGrpSpPr/>
          <p:nvPr/>
        </p:nvGrpSpPr>
        <p:grpSpPr>
          <a:xfrm>
            <a:off x="1081088" y="1989138"/>
            <a:ext cx="6778625" cy="1530350"/>
            <a:chOff x="1081088" y="1989138"/>
            <a:chExt cx="6778625" cy="1530350"/>
          </a:xfrm>
        </p:grpSpPr>
        <p:sp>
          <p:nvSpPr>
            <p:cNvPr id="45061" name="Text Box 8"/>
            <p:cNvSpPr txBox="1">
              <a:spLocks noChangeArrowheads="1"/>
            </p:cNvSpPr>
            <p:nvPr/>
          </p:nvSpPr>
          <p:spPr bwMode="auto">
            <a:xfrm>
              <a:off x="1636713" y="1989138"/>
              <a:ext cx="1322387" cy="71437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t> data1</a:t>
              </a:r>
              <a:endParaRPr lang="en-US" altLang="zh-CN" sz="2000" b="1"/>
            </a:p>
          </p:txBody>
        </p:sp>
        <p:sp>
          <p:nvSpPr>
            <p:cNvPr id="45062" name="Line 9"/>
            <p:cNvSpPr>
              <a:spLocks noChangeShapeType="1"/>
            </p:cNvSpPr>
            <p:nvPr/>
          </p:nvSpPr>
          <p:spPr bwMode="auto">
            <a:xfrm>
              <a:off x="2298700" y="1989138"/>
              <a:ext cx="0" cy="7143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45063" name="Line 10"/>
            <p:cNvSpPr>
              <a:spLocks noChangeShapeType="1"/>
            </p:cNvSpPr>
            <p:nvPr/>
          </p:nvSpPr>
          <p:spPr bwMode="auto">
            <a:xfrm>
              <a:off x="2959100" y="2363788"/>
              <a:ext cx="76517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nvGrpSpPr>
            <p:cNvPr id="45064" name="Group 11"/>
            <p:cNvGrpSpPr/>
            <p:nvPr/>
          </p:nvGrpSpPr>
          <p:grpSpPr bwMode="auto">
            <a:xfrm>
              <a:off x="3724275" y="1989138"/>
              <a:ext cx="1757363" cy="714375"/>
              <a:chOff x="2505" y="2775"/>
              <a:chExt cx="1515" cy="360"/>
            </a:xfrm>
          </p:grpSpPr>
          <p:sp>
            <p:nvSpPr>
              <p:cNvPr id="45078" name="Text Box 12"/>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t> data2</a:t>
                </a:r>
                <a:endParaRPr lang="en-US" altLang="zh-CN" sz="2000" b="1"/>
              </a:p>
            </p:txBody>
          </p:sp>
          <p:sp>
            <p:nvSpPr>
              <p:cNvPr id="45079" name="Line 13"/>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45080" name="Line 14"/>
              <p:cNvSpPr>
                <a:spLocks noChangeShapeType="1"/>
              </p:cNvSpPr>
              <p:nvPr/>
            </p:nvSpPr>
            <p:spPr bwMode="auto">
              <a:xfrm flipV="1">
                <a:off x="3645" y="2964"/>
                <a:ext cx="37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grpSp>
          <p:nvGrpSpPr>
            <p:cNvPr id="45065" name="Group 15"/>
            <p:cNvGrpSpPr/>
            <p:nvPr/>
          </p:nvGrpSpPr>
          <p:grpSpPr bwMode="auto">
            <a:xfrm>
              <a:off x="5481638" y="1989138"/>
              <a:ext cx="1757362" cy="714375"/>
              <a:chOff x="2505" y="2775"/>
              <a:chExt cx="1515" cy="360"/>
            </a:xfrm>
          </p:grpSpPr>
          <p:sp>
            <p:nvSpPr>
              <p:cNvPr id="45075" name="Text Box 16"/>
              <p:cNvSpPr txBox="1">
                <a:spLocks noChangeArrowheads="1"/>
              </p:cNvSpPr>
              <p:nvPr/>
            </p:nvSpPr>
            <p:spPr bwMode="auto">
              <a:xfrm>
                <a:off x="2505" y="2775"/>
                <a:ext cx="1140" cy="36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t> data3</a:t>
                </a:r>
                <a:endParaRPr lang="en-US" altLang="zh-CN" sz="2000" b="1"/>
              </a:p>
            </p:txBody>
          </p:sp>
          <p:sp>
            <p:nvSpPr>
              <p:cNvPr id="45076" name="Line 17"/>
              <p:cNvSpPr>
                <a:spLocks noChangeShapeType="1"/>
              </p:cNvSpPr>
              <p:nvPr/>
            </p:nvSpPr>
            <p:spPr bwMode="auto">
              <a:xfrm>
                <a:off x="3075" y="2775"/>
                <a:ext cx="0" cy="3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p>
            </p:txBody>
          </p:sp>
          <p:sp>
            <p:nvSpPr>
              <p:cNvPr id="45077" name="Line 18"/>
              <p:cNvSpPr>
                <a:spLocks noChangeShapeType="1"/>
              </p:cNvSpPr>
              <p:nvPr/>
            </p:nvSpPr>
            <p:spPr bwMode="auto">
              <a:xfrm flipV="1">
                <a:off x="3645" y="2964"/>
                <a:ext cx="375"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sp>
          <p:nvSpPr>
            <p:cNvPr id="45066" name="Text Box 19"/>
            <p:cNvSpPr txBox="1">
              <a:spLocks noChangeArrowheads="1"/>
            </p:cNvSpPr>
            <p:nvPr/>
          </p:nvSpPr>
          <p:spPr bwMode="auto">
            <a:xfrm>
              <a:off x="7129463" y="2084388"/>
              <a:ext cx="730250" cy="77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t>…</a:t>
              </a:r>
              <a:endParaRPr lang="en-US" altLang="zh-CN" sz="2000" b="1"/>
            </a:p>
          </p:txBody>
        </p:sp>
        <p:sp>
          <p:nvSpPr>
            <p:cNvPr id="45067" name="Freeform 25"/>
            <p:cNvSpPr/>
            <p:nvPr/>
          </p:nvSpPr>
          <p:spPr bwMode="auto">
            <a:xfrm>
              <a:off x="2722563" y="2711450"/>
              <a:ext cx="2992437" cy="808038"/>
            </a:xfrm>
            <a:custGeom>
              <a:avLst/>
              <a:gdLst>
                <a:gd name="T0" fmla="*/ 0 w 2580"/>
                <a:gd name="T1" fmla="*/ 0 h 525"/>
                <a:gd name="T2" fmla="*/ 0 w 2580"/>
                <a:gd name="T3" fmla="*/ 2147483647 h 525"/>
                <a:gd name="T4" fmla="*/ 2147483647 w 2580"/>
                <a:gd name="T5" fmla="*/ 2147483647 h 525"/>
                <a:gd name="T6" fmla="*/ 2147483647 w 2580"/>
                <a:gd name="T7" fmla="*/ 2147483647 h 525"/>
                <a:gd name="T8" fmla="*/ 0 60000 65536"/>
                <a:gd name="T9" fmla="*/ 0 60000 65536"/>
                <a:gd name="T10" fmla="*/ 0 60000 65536"/>
                <a:gd name="T11" fmla="*/ 0 60000 65536"/>
                <a:gd name="T12" fmla="*/ 0 w 2580"/>
                <a:gd name="T13" fmla="*/ 0 h 525"/>
                <a:gd name="T14" fmla="*/ 2580 w 2580"/>
                <a:gd name="T15" fmla="*/ 525 h 525"/>
              </a:gdLst>
              <a:ahLst/>
              <a:cxnLst>
                <a:cxn ang="T8">
                  <a:pos x="T0" y="T1"/>
                </a:cxn>
                <a:cxn ang="T9">
                  <a:pos x="T2" y="T3"/>
                </a:cxn>
                <a:cxn ang="T10">
                  <a:pos x="T4" y="T5"/>
                </a:cxn>
                <a:cxn ang="T11">
                  <a:pos x="T6" y="T7"/>
                </a:cxn>
              </a:cxnLst>
              <a:rect l="T12" t="T13" r="T14" b="T15"/>
              <a:pathLst>
                <a:path w="2580" h="525">
                  <a:moveTo>
                    <a:pt x="0" y="0"/>
                  </a:moveTo>
                  <a:lnTo>
                    <a:pt x="0" y="525"/>
                  </a:lnTo>
                  <a:lnTo>
                    <a:pt x="2580" y="525"/>
                  </a:lnTo>
                  <a:lnTo>
                    <a:pt x="2580" y="120"/>
                  </a:lnTo>
                </a:path>
              </a:pathLst>
            </a:custGeom>
            <a:noFill/>
            <a:ln w="9525">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a:lstStyle/>
            <a:p>
              <a:endParaRPr lang="zh-CN" altLang="en-US" b="1"/>
            </a:p>
          </p:txBody>
        </p:sp>
        <p:sp>
          <p:nvSpPr>
            <p:cNvPr id="45068" name="Line 29"/>
            <p:cNvSpPr>
              <a:spLocks noChangeShapeType="1"/>
            </p:cNvSpPr>
            <p:nvPr/>
          </p:nvSpPr>
          <p:spPr bwMode="auto">
            <a:xfrm>
              <a:off x="1081088" y="2363788"/>
              <a:ext cx="538162"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p>
          </p:txBody>
        </p:sp>
        <p:grpSp>
          <p:nvGrpSpPr>
            <p:cNvPr id="45069" name="Group 31"/>
            <p:cNvGrpSpPr/>
            <p:nvPr/>
          </p:nvGrpSpPr>
          <p:grpSpPr bwMode="auto">
            <a:xfrm>
              <a:off x="3167063" y="2171700"/>
              <a:ext cx="381000" cy="457200"/>
              <a:chOff x="2976" y="1824"/>
              <a:chExt cx="240" cy="288"/>
            </a:xfrm>
          </p:grpSpPr>
          <p:sp>
            <p:nvSpPr>
              <p:cNvPr id="45073" name="Line 32"/>
              <p:cNvSpPr>
                <a:spLocks noChangeShapeType="1"/>
              </p:cNvSpPr>
              <p:nvPr/>
            </p:nvSpPr>
            <p:spPr bwMode="auto">
              <a:xfrm flipH="1">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p>
            </p:txBody>
          </p:sp>
          <p:sp>
            <p:nvSpPr>
              <p:cNvPr id="45074" name="Line 33"/>
              <p:cNvSpPr>
                <a:spLocks noChangeShapeType="1"/>
              </p:cNvSpPr>
              <p:nvPr/>
            </p:nvSpPr>
            <p:spPr bwMode="auto">
              <a:xfrm>
                <a:off x="2976" y="1824"/>
                <a:ext cx="240" cy="288"/>
              </a:xfrm>
              <a:prstGeom prst="line">
                <a:avLst/>
              </a:prstGeom>
              <a:noFill/>
              <a:ln w="38100" cap="sq">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p>
            </p:txBody>
          </p:sp>
        </p:grpSp>
        <p:sp>
          <p:nvSpPr>
            <p:cNvPr id="45070" name="Text Box 39"/>
            <p:cNvSpPr txBox="1">
              <a:spLocks noChangeArrowheads="1"/>
            </p:cNvSpPr>
            <p:nvPr/>
          </p:nvSpPr>
          <p:spPr bwMode="auto">
            <a:xfrm>
              <a:off x="3624262" y="3086100"/>
              <a:ext cx="12357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000" b="1"/>
                <a:t>tempPtr</a:t>
              </a:r>
              <a:endParaRPr lang="en-US" altLang="zh-CN" sz="2000" b="1"/>
            </a:p>
          </p:txBody>
        </p:sp>
        <p:sp>
          <p:nvSpPr>
            <p:cNvPr id="45071" name="Line 41"/>
            <p:cNvSpPr>
              <a:spLocks noChangeShapeType="1"/>
            </p:cNvSpPr>
            <p:nvPr/>
          </p:nvSpPr>
          <p:spPr bwMode="auto">
            <a:xfrm flipV="1">
              <a:off x="4157663" y="2705100"/>
              <a:ext cx="0" cy="4572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p>
          </p:txBody>
        </p:sp>
      </p:grpSp>
      <p:sp>
        <p:nvSpPr>
          <p:cNvPr id="83" name="Text Box 37"/>
          <p:cNvSpPr txBox="1">
            <a:spLocks noChangeArrowheads="1"/>
          </p:cNvSpPr>
          <p:nvPr/>
        </p:nvSpPr>
        <p:spPr bwMode="auto">
          <a:xfrm>
            <a:off x="1979613" y="3789363"/>
            <a:ext cx="6934200" cy="2677656"/>
          </a:xfrm>
          <a:prstGeom prst="rect">
            <a:avLst/>
          </a:prstGeom>
          <a:solidFill>
            <a:schemeClr val="tx1"/>
          </a:solidFill>
          <a:ln>
            <a:noFill/>
          </a:ln>
        </p:spPr>
        <p:txBody>
          <a:bodyPr>
            <a:spAutoFit/>
          </a:bodyPr>
          <a:lstStyle>
            <a:defPPr>
              <a:defRPr lang="zh-CN"/>
            </a:defPPr>
            <a:lvl1pPr algn="l" eaLnBrk="1" hangingPunct="1">
              <a:buClr>
                <a:schemeClr val="accent2"/>
              </a:buClr>
              <a:buSzPct val="80000"/>
              <a:buFont typeface="Wingdings" panose="05000000000000000000" pitchFamily="2" charset="2"/>
              <a:buNone/>
              <a:defRPr b="1">
                <a:solidFill>
                  <a:srgbClr val="000000"/>
                </a:solidFill>
                <a:latin typeface="+mn-lt"/>
                <a:ea typeface="华文楷体" panose="02010600040101010101" pitchFamily="2" charset="-122"/>
                <a:cs typeface="Consolas" panose="020B0609020204030204" pitchFamily="49" charset="0"/>
              </a:defRPr>
            </a:lvl1pPr>
            <a:lvl2pPr marL="742950" indent="-285750" eaLnBrk="0" hangingPunct="0">
              <a:defRPr b="1">
                <a:solidFill>
                  <a:schemeClr val="bg2"/>
                </a:solidFill>
                <a:ea typeface="宋体" panose="02010600030101010101" pitchFamily="2" charset="-122"/>
              </a:defRPr>
            </a:lvl2pPr>
            <a:lvl3pPr marL="1143000" indent="-228600" eaLnBrk="0" hangingPunct="0">
              <a:defRPr b="1">
                <a:solidFill>
                  <a:schemeClr val="bg2"/>
                </a:solidFill>
                <a:ea typeface="宋体" panose="02010600030101010101" pitchFamily="2" charset="-122"/>
              </a:defRPr>
            </a:lvl3pPr>
            <a:lvl4pPr marL="1600200" indent="-228600" eaLnBrk="0" hangingPunct="0">
              <a:defRPr b="1">
                <a:solidFill>
                  <a:schemeClr val="bg2"/>
                </a:solidFill>
                <a:ea typeface="宋体" panose="02010600030101010101" pitchFamily="2" charset="-122"/>
              </a:defRPr>
            </a:lvl4pPr>
            <a:lvl5pPr marL="2057400" indent="-228600" eaLnBrk="0" hangingPunct="0">
              <a:defRPr b="1">
                <a:solidFill>
                  <a:schemeClr val="bg2"/>
                </a:solidFill>
                <a:ea typeface="宋体" panose="02010600030101010101" pitchFamily="2" charset="-122"/>
              </a:defRPr>
            </a:lvl5pPr>
            <a:lvl6pPr marL="2514600" indent="-228600" eaLnBrk="0" fontAlgn="base" hangingPunct="0">
              <a:spcBef>
                <a:spcPct val="0"/>
              </a:spcBef>
              <a:spcAft>
                <a:spcPct val="0"/>
              </a:spcAft>
              <a:defRPr b="1">
                <a:solidFill>
                  <a:schemeClr val="bg2"/>
                </a:solidFill>
                <a:ea typeface="宋体" panose="02010600030101010101" pitchFamily="2" charset="-122"/>
              </a:defRPr>
            </a:lvl6pPr>
            <a:lvl7pPr marL="2971800" indent="-228600" eaLnBrk="0" fontAlgn="base" hangingPunct="0">
              <a:spcBef>
                <a:spcPct val="0"/>
              </a:spcBef>
              <a:spcAft>
                <a:spcPct val="0"/>
              </a:spcAft>
              <a:defRPr b="1">
                <a:solidFill>
                  <a:schemeClr val="bg2"/>
                </a:solidFill>
                <a:ea typeface="宋体" panose="02010600030101010101" pitchFamily="2" charset="-122"/>
              </a:defRPr>
            </a:lvl7pPr>
            <a:lvl8pPr marL="3429000" indent="-228600" eaLnBrk="0" fontAlgn="base" hangingPunct="0">
              <a:spcBef>
                <a:spcPct val="0"/>
              </a:spcBef>
              <a:spcAft>
                <a:spcPct val="0"/>
              </a:spcAft>
              <a:defRPr b="1">
                <a:solidFill>
                  <a:schemeClr val="bg2"/>
                </a:solidFill>
                <a:ea typeface="宋体" panose="02010600030101010101" pitchFamily="2" charset="-122"/>
              </a:defRPr>
            </a:lvl8pPr>
            <a:lvl9pPr marL="3886200" indent="-228600" eaLnBrk="0" fontAlgn="base" hangingPunct="0">
              <a:spcBef>
                <a:spcPct val="0"/>
              </a:spcBef>
              <a:spcAft>
                <a:spcPct val="0"/>
              </a:spcAft>
              <a:defRPr b="1">
                <a:solidFill>
                  <a:schemeClr val="bg2"/>
                </a:solidFill>
                <a:ea typeface="宋体" panose="02010600030101010101" pitchFamily="2" charset="-122"/>
              </a:defRPr>
            </a:lvl9pPr>
          </a:lstStyle>
          <a:p>
            <a:r>
              <a:rPr lang="en-US" altLang="zh-CN" dirty="0"/>
              <a:t>Node&lt;T&gt; *Node&lt;T&gt;::</a:t>
            </a:r>
            <a:r>
              <a:rPr lang="en-US" altLang="zh-CN" dirty="0" err="1"/>
              <a:t>deleteAfter</a:t>
            </a:r>
            <a:r>
              <a:rPr lang="en-US" altLang="zh-CN" dirty="0"/>
              <a:t>(void) {</a:t>
            </a:r>
            <a:endParaRPr lang="en-US" altLang="zh-CN" dirty="0"/>
          </a:p>
          <a:p>
            <a:r>
              <a:rPr lang="en-US" altLang="zh-CN" dirty="0"/>
              <a:t>  Node&lt;T&gt; *</a:t>
            </a:r>
            <a:r>
              <a:rPr lang="en-US" altLang="zh-CN" dirty="0" err="1"/>
              <a:t>tempPtr</a:t>
            </a:r>
            <a:r>
              <a:rPr lang="en-US" altLang="zh-CN" dirty="0"/>
              <a:t> = next;  </a:t>
            </a:r>
            <a:endParaRPr lang="en-US" altLang="zh-CN" dirty="0"/>
          </a:p>
          <a:p>
            <a:r>
              <a:rPr lang="en-US" altLang="zh-CN" dirty="0"/>
              <a:t>  if (next == 0) </a:t>
            </a:r>
            <a:endParaRPr lang="en-US" altLang="zh-CN" dirty="0"/>
          </a:p>
          <a:p>
            <a:r>
              <a:rPr lang="en-US" altLang="zh-CN" dirty="0"/>
              <a:t>     return 0;</a:t>
            </a:r>
            <a:endParaRPr lang="en-US" altLang="zh-CN" dirty="0"/>
          </a:p>
          <a:p>
            <a:r>
              <a:rPr lang="en-US" altLang="zh-CN" dirty="0"/>
              <a:t>  next = </a:t>
            </a:r>
            <a:r>
              <a:rPr lang="en-US" altLang="zh-CN" dirty="0" err="1"/>
              <a:t>tempPtr</a:t>
            </a:r>
            <a:r>
              <a:rPr lang="en-US" altLang="zh-CN" dirty="0"/>
              <a:t>-&gt;next; </a:t>
            </a:r>
            <a:endParaRPr lang="en-US" altLang="zh-CN" dirty="0"/>
          </a:p>
          <a:p>
            <a:r>
              <a:rPr lang="en-US" altLang="zh-CN" dirty="0"/>
              <a:t>  return </a:t>
            </a:r>
            <a:r>
              <a:rPr lang="en-US" altLang="zh-CN" dirty="0" err="1"/>
              <a:t>tempPtr</a:t>
            </a:r>
            <a:r>
              <a:rPr lang="en-US" altLang="zh-CN" dirty="0"/>
              <a:t>;   </a:t>
            </a:r>
            <a:endParaRPr lang="en-US" altLang="zh-CN" dirty="0"/>
          </a:p>
          <a:p>
            <a:r>
              <a:rPr lang="en-US" altLang="zh-CN" dirty="0"/>
              <a:t>}</a:t>
            </a:r>
            <a:endParaRPr lang="en-US" altLang="zh-CN" dirty="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标题 1"/>
          <p:cNvSpPr>
            <a:spLocks noGrp="1"/>
          </p:cNvSpPr>
          <p:nvPr>
            <p:ph type="title"/>
          </p:nvPr>
        </p:nvSpPr>
        <p:spPr>
          <a:xfrm>
            <a:off x="395536" y="260648"/>
            <a:ext cx="8229600" cy="857250"/>
          </a:xfrm>
        </p:spPr>
        <p:txBody>
          <a:bodyPr/>
          <a:lstStyle/>
          <a:p>
            <a:r>
              <a:rPr lang="zh-CN" altLang="en-US" b="1" dirty="0"/>
              <a:t>例</a:t>
            </a:r>
            <a:r>
              <a:rPr lang="en-US" altLang="zh-CN" b="1" dirty="0"/>
              <a:t>9-5</a:t>
            </a:r>
            <a:r>
              <a:rPr lang="zh-CN" altLang="en-US" b="1" dirty="0"/>
              <a:t>结点类模扳</a:t>
            </a:r>
            <a:endParaRPr lang="zh-CN" altLang="en-US" b="1" dirty="0"/>
          </a:p>
        </p:txBody>
      </p:sp>
      <p:sp>
        <p:nvSpPr>
          <p:cNvPr id="46083" name="内容占位符 2"/>
          <p:cNvSpPr>
            <a:spLocks noGrp="1"/>
          </p:cNvSpPr>
          <p:nvPr>
            <p:ph idx="1"/>
          </p:nvPr>
        </p:nvSpPr>
        <p:spPr>
          <a:xfrm>
            <a:off x="251520" y="980728"/>
            <a:ext cx="8786812"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Node.h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ifndef</a:t>
            </a:r>
            <a:r>
              <a:rPr lang="en-US" altLang="zh-CN" sz="2000" b="1" dirty="0">
                <a:solidFill>
                  <a:srgbClr val="000000"/>
                </a:solidFill>
                <a:latin typeface="Times New Roman" panose="02020603050405020304" pitchFamily="18" charset="0"/>
                <a:ea typeface="华文楷体" panose="02010600040101010101" pitchFamily="2" charset="-122"/>
              </a:rPr>
              <a:t> NODE_H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#define NODE_H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类模板的定义</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Node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*next;				//</a:t>
            </a:r>
            <a:r>
              <a:rPr lang="zh-CN" altLang="en-US" sz="2000" b="1" dirty="0">
                <a:solidFill>
                  <a:srgbClr val="000000"/>
                </a:solidFill>
                <a:latin typeface="Times New Roman" panose="02020603050405020304" pitchFamily="18" charset="0"/>
                <a:ea typeface="华文楷体" panose="02010600040101010101" pitchFamily="2" charset="-122"/>
              </a:rPr>
              <a:t>指向后继结点的指针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data;						//</a:t>
            </a:r>
            <a:r>
              <a:rPr lang="zh-CN" altLang="en-US" sz="2000" b="1" dirty="0">
                <a:solidFill>
                  <a:srgbClr val="000000"/>
                </a:solidFill>
                <a:latin typeface="Times New Roman" panose="02020603050405020304" pitchFamily="18" charset="0"/>
                <a:ea typeface="华文楷体" panose="02010600040101010101" pitchFamily="2" charset="-122"/>
              </a:rPr>
              <a:t>数据域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Node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&amp;data, Node&lt;T&gt; *next = 0);             //</a:t>
            </a:r>
            <a:r>
              <a:rPr lang="zh-CN" altLang="en-US" sz="2000" b="1" dirty="0">
                <a:solidFill>
                  <a:srgbClr val="000000"/>
                </a:solidFill>
                <a:latin typeface="Times New Roman" panose="02020603050405020304" pitchFamily="18" charset="0"/>
                <a:ea typeface="华文楷体" panose="02010600040101010101" pitchFamily="2" charset="-122"/>
              </a:rPr>
              <a:t>构造函数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insertAfter</a:t>
            </a:r>
            <a:r>
              <a:rPr lang="en-US" altLang="zh-CN" sz="2000" b="1" dirty="0">
                <a:solidFill>
                  <a:srgbClr val="000000"/>
                </a:solidFill>
                <a:latin typeface="Times New Roman" panose="02020603050405020304" pitchFamily="18" charset="0"/>
                <a:ea typeface="华文楷体" panose="02010600040101010101" pitchFamily="2" charset="-122"/>
              </a:rPr>
              <a:t>(Node&lt;T&gt; *p);	//</a:t>
            </a:r>
            <a:r>
              <a:rPr lang="zh-CN" altLang="en-US" sz="2000" b="1" dirty="0">
                <a:solidFill>
                  <a:srgbClr val="000000"/>
                </a:solidFill>
                <a:latin typeface="Times New Roman" panose="02020603050405020304" pitchFamily="18" charset="0"/>
                <a:ea typeface="华文楷体" panose="02010600040101010101" pitchFamily="2" charset="-122"/>
              </a:rPr>
              <a:t>在本结点之后插入一个同类结点</a:t>
            </a:r>
            <a:r>
              <a:rPr lang="en-US" altLang="zh-CN" sz="2000" b="1" dirty="0">
                <a:solidFill>
                  <a:srgbClr val="000000"/>
                </a:solidFill>
                <a:latin typeface="Times New Roman" panose="02020603050405020304" pitchFamily="18" charset="0"/>
                <a:ea typeface="华文楷体" panose="02010600040101010101" pitchFamily="2" charset="-122"/>
              </a:rPr>
              <a:t>p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a:t>
            </a:r>
            <a:r>
              <a:rPr lang="en-US" altLang="zh-CN" sz="2000" b="1" dirty="0" err="1">
                <a:solidFill>
                  <a:srgbClr val="000000"/>
                </a:solidFill>
                <a:latin typeface="Times New Roman" panose="02020603050405020304" pitchFamily="18" charset="0"/>
                <a:ea typeface="华文楷体" panose="02010600040101010101" pitchFamily="2" charset="-122"/>
              </a:rPr>
              <a:t>deleteAfter</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删除本结点的后继结点，并返回其地址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Node&lt;T&gt; *</a:t>
            </a:r>
            <a:r>
              <a:rPr lang="en-US" altLang="zh-CN" sz="2000" b="1" dirty="0" err="1">
                <a:solidFill>
                  <a:srgbClr val="000000"/>
                </a:solidFill>
                <a:latin typeface="Times New Roman" panose="02020603050405020304" pitchFamily="18" charset="0"/>
                <a:ea typeface="华文楷体" panose="02010600040101010101" pitchFamily="2" charset="-122"/>
              </a:rPr>
              <a:t>nextNode</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获取后继结点的地址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Node&lt;T&gt; *</a:t>
            </a:r>
            <a:r>
              <a:rPr lang="en-US" altLang="zh-CN" sz="2000" b="1" dirty="0" err="1">
                <a:solidFill>
                  <a:srgbClr val="000000"/>
                </a:solidFill>
                <a:latin typeface="Times New Roman" panose="02020603050405020304" pitchFamily="18" charset="0"/>
                <a:ea typeface="华文楷体" panose="02010600040101010101" pitchFamily="2" charset="-122"/>
              </a:rPr>
              <a:t>nextNode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获取后继结点的地址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内容占位符 2"/>
          <p:cNvSpPr>
            <a:spLocks noGrp="1"/>
          </p:cNvSpPr>
          <p:nvPr>
            <p:ph idx="1"/>
          </p:nvPr>
        </p:nvSpPr>
        <p:spPr>
          <a:xfrm>
            <a:off x="457200" y="642938"/>
            <a:ext cx="8229600" cy="563231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类的实现部分</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构造函数，初始化数据和指针成员</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Node&lt;T&gt;::Node(const T&amp; data, Node&lt;T&gt; *next/* = 0 */) : data(data), next(next) {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返回后继结点的指针</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Node&lt;T&gt; *Node&lt;T&gt;::nextNode()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next;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返回后继结点的指针</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const Node&lt;T&gt; *Node&lt;T&gt;::nextNode() const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next;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a:solidFill>
                <a:srgbClr val="000000"/>
              </a:solidFill>
              <a:latin typeface="Times New Roman" panose="02020603050405020304" pitchFamily="18" charset="0"/>
              <a:ea typeface="华文楷体" panose="02010600040101010101" pitchFamily="2" charset="-122"/>
            </a:endParaRPr>
          </a:p>
        </p:txBody>
      </p:sp>
      <p:sp>
        <p:nvSpPr>
          <p:cNvPr id="47109" name="标题 1"/>
          <p:cNvSpPr>
            <a:spLocks noGrp="1"/>
          </p:cNvSpPr>
          <p:nvPr>
            <p:ph type="title"/>
          </p:nvPr>
        </p:nvSpPr>
        <p:spPr>
          <a:xfrm>
            <a:off x="5715000" y="576263"/>
            <a:ext cx="2971800" cy="852487"/>
          </a:xfrm>
          <a:solidFill>
            <a:schemeClr val="bg1"/>
          </a:solidFill>
        </p:spPr>
        <p:txBody>
          <a:bodyPr/>
          <a:lstStyle/>
          <a:p>
            <a:r>
              <a:rPr lang="zh-CN" altLang="en-US"/>
              <a:t>例</a:t>
            </a:r>
            <a:r>
              <a:rPr lang="en-US" altLang="zh-CN"/>
              <a:t>9-5</a:t>
            </a:r>
            <a:r>
              <a:rPr lang="zh-CN" altLang="en-US"/>
              <a:t>（续）</a:t>
            </a:r>
            <a:endParaRPr lang="zh-CN"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内容占位符 2"/>
          <p:cNvSpPr>
            <a:spLocks noGrp="1"/>
          </p:cNvSpPr>
          <p:nvPr>
            <p:ph idx="1"/>
          </p:nvPr>
        </p:nvSpPr>
        <p:spPr>
          <a:xfrm>
            <a:off x="323528" y="642938"/>
            <a:ext cx="8686800" cy="532453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在当前结点之后插入一个结点</a:t>
            </a:r>
            <a:r>
              <a:rPr lang="en-US" altLang="zh-CN" sz="2000" b="1" dirty="0">
                <a:solidFill>
                  <a:srgbClr val="000000"/>
                </a:solidFill>
                <a:latin typeface="Times New Roman" panose="02020603050405020304" pitchFamily="18" charset="0"/>
                <a:ea typeface="华文楷体" panose="02010600040101010101" pitchFamily="2" charset="-122"/>
              </a:rPr>
              <a:t>p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Node&lt;T&gt;::</a:t>
            </a:r>
            <a:r>
              <a:rPr lang="en-US" altLang="zh-CN" sz="2000" b="1" dirty="0" err="1">
                <a:solidFill>
                  <a:srgbClr val="000000"/>
                </a:solidFill>
                <a:latin typeface="Times New Roman" panose="02020603050405020304" pitchFamily="18" charset="0"/>
                <a:ea typeface="华文楷体" panose="02010600040101010101" pitchFamily="2" charset="-122"/>
              </a:rPr>
              <a:t>insertAfter</a:t>
            </a:r>
            <a:r>
              <a:rPr lang="en-US" altLang="zh-CN" sz="2000" b="1" dirty="0">
                <a:solidFill>
                  <a:srgbClr val="000000"/>
                </a:solidFill>
                <a:latin typeface="Times New Roman" panose="02020603050405020304" pitchFamily="18" charset="0"/>
                <a:ea typeface="华文楷体" panose="02010600040101010101" pitchFamily="2" charset="-122"/>
              </a:rPr>
              <a:t>(Node&lt;T&gt; *p)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p-&gt;next = next; //p</a:t>
            </a:r>
            <a:r>
              <a:rPr lang="zh-CN" altLang="en-US" sz="2000" b="1" dirty="0">
                <a:solidFill>
                  <a:srgbClr val="000000"/>
                </a:solidFill>
                <a:latin typeface="Times New Roman" panose="02020603050405020304" pitchFamily="18" charset="0"/>
                <a:ea typeface="华文楷体" panose="02010600040101010101" pitchFamily="2" charset="-122"/>
              </a:rPr>
              <a:t>结点指针域指向当前结点的后继结点</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next = p;	 //</a:t>
            </a:r>
            <a:r>
              <a:rPr lang="zh-CN" altLang="en-US" sz="2000" b="1" dirty="0">
                <a:solidFill>
                  <a:srgbClr val="000000"/>
                </a:solidFill>
                <a:latin typeface="Times New Roman" panose="02020603050405020304" pitchFamily="18" charset="0"/>
                <a:ea typeface="华文楷体" panose="02010600040101010101" pitchFamily="2" charset="-122"/>
              </a:rPr>
              <a:t>当前结点的指针域指向</a:t>
            </a:r>
            <a:r>
              <a:rPr lang="en-US" altLang="zh-CN" sz="2000" b="1" dirty="0">
                <a:solidFill>
                  <a:srgbClr val="000000"/>
                </a:solidFill>
                <a:latin typeface="Times New Roman" panose="02020603050405020304" pitchFamily="18" charset="0"/>
                <a:ea typeface="华文楷体" panose="02010600040101010101" pitchFamily="2" charset="-122"/>
              </a:rPr>
              <a:t>p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删除当前结点的后继结点，并返回其地址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Node&lt;T&gt; *Node&lt;T&gt;::</a:t>
            </a:r>
            <a:r>
              <a:rPr lang="en-US" altLang="zh-CN" sz="2000" b="1" dirty="0" err="1">
                <a:solidFill>
                  <a:srgbClr val="000000"/>
                </a:solidFill>
                <a:latin typeface="Times New Roman" panose="02020603050405020304" pitchFamily="18" charset="0"/>
                <a:ea typeface="华文楷体" panose="02010600040101010101" pitchFamily="2" charset="-122"/>
              </a:rPr>
              <a:t>deleteAfter</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Node&lt;T&gt; *</a:t>
            </a:r>
            <a:r>
              <a:rPr lang="en-US" altLang="zh-CN" sz="2000" b="1" dirty="0" err="1">
                <a:solidFill>
                  <a:srgbClr val="000000"/>
                </a:solidFill>
                <a:latin typeface="Times New Roman" panose="02020603050405020304" pitchFamily="18" charset="0"/>
                <a:ea typeface="华文楷体" panose="02010600040101010101" pitchFamily="2" charset="-122"/>
              </a:rPr>
              <a:t>tempPtr</a:t>
            </a:r>
            <a:r>
              <a:rPr lang="en-US" altLang="zh-CN" sz="2000" b="1" dirty="0">
                <a:solidFill>
                  <a:srgbClr val="000000"/>
                </a:solidFill>
                <a:latin typeface="Times New Roman" panose="02020603050405020304" pitchFamily="18" charset="0"/>
                <a:ea typeface="华文楷体" panose="02010600040101010101" pitchFamily="2" charset="-122"/>
              </a:rPr>
              <a:t> = next;//</a:t>
            </a:r>
            <a:r>
              <a:rPr lang="zh-CN" altLang="en-US" sz="2000" b="1" dirty="0">
                <a:solidFill>
                  <a:srgbClr val="000000"/>
                </a:solidFill>
                <a:latin typeface="Times New Roman" panose="02020603050405020304" pitchFamily="18" charset="0"/>
                <a:ea typeface="华文楷体" panose="02010600040101010101" pitchFamily="2" charset="-122"/>
              </a:rPr>
              <a:t>将欲删除的结点地址存储到</a:t>
            </a:r>
            <a:r>
              <a:rPr lang="en-US" altLang="zh-CN" sz="2000" b="1" dirty="0" err="1">
                <a:solidFill>
                  <a:srgbClr val="000000"/>
                </a:solidFill>
                <a:latin typeface="Times New Roman" panose="02020603050405020304" pitchFamily="18" charset="0"/>
                <a:ea typeface="华文楷体" panose="02010600040101010101" pitchFamily="2" charset="-122"/>
              </a:rPr>
              <a:t>tempPtr</a:t>
            </a:r>
            <a:r>
              <a:rPr lang="zh-CN" altLang="en-US" sz="2000" b="1" dirty="0">
                <a:solidFill>
                  <a:srgbClr val="000000"/>
                </a:solidFill>
                <a:latin typeface="Times New Roman" panose="02020603050405020304" pitchFamily="18" charset="0"/>
                <a:ea typeface="华文楷体" panose="02010600040101010101" pitchFamily="2" charset="-122"/>
              </a:rPr>
              <a:t>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if (next == 0)	//</a:t>
            </a:r>
            <a:r>
              <a:rPr lang="zh-CN" altLang="en-US" sz="2000" b="1" dirty="0">
                <a:solidFill>
                  <a:srgbClr val="000000"/>
                </a:solidFill>
                <a:latin typeface="Times New Roman" panose="02020603050405020304" pitchFamily="18" charset="0"/>
                <a:ea typeface="华文楷体" panose="02010600040101010101" pitchFamily="2" charset="-122"/>
              </a:rPr>
              <a:t>如果当前结点没有后继结点，则返回空指针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next = </a:t>
            </a:r>
            <a:r>
              <a:rPr lang="en-US" altLang="zh-CN" sz="2000" b="1" dirty="0" err="1">
                <a:solidFill>
                  <a:srgbClr val="000000"/>
                </a:solidFill>
                <a:latin typeface="Times New Roman" panose="02020603050405020304" pitchFamily="18" charset="0"/>
                <a:ea typeface="华文楷体" panose="02010600040101010101" pitchFamily="2" charset="-122"/>
              </a:rPr>
              <a:t>tempPtr</a:t>
            </a:r>
            <a:r>
              <a:rPr lang="en-US" altLang="zh-CN" sz="2000" b="1" dirty="0">
                <a:solidFill>
                  <a:srgbClr val="000000"/>
                </a:solidFill>
                <a:latin typeface="Times New Roman" panose="02020603050405020304" pitchFamily="18" charset="0"/>
                <a:ea typeface="华文楷体" panose="02010600040101010101" pitchFamily="2" charset="-122"/>
              </a:rPr>
              <a:t>-&gt;next;//</a:t>
            </a:r>
            <a:r>
              <a:rPr lang="zh-CN" altLang="en-US" sz="2000" b="1" dirty="0">
                <a:solidFill>
                  <a:srgbClr val="000000"/>
                </a:solidFill>
                <a:latin typeface="Times New Roman" panose="02020603050405020304" pitchFamily="18" charset="0"/>
                <a:ea typeface="华文楷体" panose="02010600040101010101" pitchFamily="2" charset="-122"/>
              </a:rPr>
              <a:t>使当前结点的指针域指向</a:t>
            </a:r>
            <a:r>
              <a:rPr lang="en-US" altLang="zh-CN" sz="2000" b="1" dirty="0" err="1">
                <a:solidFill>
                  <a:srgbClr val="000000"/>
                </a:solidFill>
                <a:latin typeface="Times New Roman" panose="02020603050405020304" pitchFamily="18" charset="0"/>
                <a:ea typeface="华文楷体" panose="02010600040101010101" pitchFamily="2" charset="-122"/>
              </a:rPr>
              <a:t>tempPtr</a:t>
            </a:r>
            <a:r>
              <a:rPr lang="zh-CN" altLang="en-US" sz="2000" b="1" dirty="0">
                <a:solidFill>
                  <a:srgbClr val="000000"/>
                </a:solidFill>
                <a:latin typeface="Times New Roman" panose="02020603050405020304" pitchFamily="18" charset="0"/>
                <a:ea typeface="华文楷体" panose="02010600040101010101" pitchFamily="2" charset="-122"/>
              </a:rPr>
              <a:t>的后继结点</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a:t>
            </a:r>
            <a:r>
              <a:rPr lang="en-US" altLang="zh-CN" sz="2000" b="1" dirty="0" err="1">
                <a:solidFill>
                  <a:srgbClr val="000000"/>
                </a:solidFill>
                <a:latin typeface="Times New Roman" panose="02020603050405020304" pitchFamily="18" charset="0"/>
                <a:ea typeface="华文楷体" panose="02010600040101010101" pitchFamily="2" charset="-122"/>
              </a:rPr>
              <a:t>tempPtr</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返回被删除的结点的地址</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endif</a:t>
            </a:r>
            <a:r>
              <a:rPr lang="en-US" altLang="zh-CN" sz="2000" b="1" dirty="0">
                <a:solidFill>
                  <a:srgbClr val="000000"/>
                </a:solidFill>
                <a:latin typeface="Times New Roman" panose="02020603050405020304" pitchFamily="18" charset="0"/>
                <a:ea typeface="华文楷体" panose="02010600040101010101" pitchFamily="2" charset="-122"/>
              </a:rPr>
              <a:t> //NODE_H</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48133" name="标题 1"/>
          <p:cNvSpPr>
            <a:spLocks noGrp="1"/>
          </p:cNvSpPr>
          <p:nvPr>
            <p:ph type="title"/>
          </p:nvPr>
        </p:nvSpPr>
        <p:spPr>
          <a:xfrm>
            <a:off x="5572125" y="576263"/>
            <a:ext cx="3114675" cy="638175"/>
          </a:xfrm>
          <a:solidFill>
            <a:schemeClr val="bg1"/>
          </a:solidFill>
        </p:spPr>
        <p:txBody>
          <a:bodyPr/>
          <a:lstStyle/>
          <a:p>
            <a:r>
              <a:rPr lang="zh-CN" altLang="en-US"/>
              <a:t>例</a:t>
            </a:r>
            <a:r>
              <a:rPr lang="en-US" altLang="zh-CN"/>
              <a:t>9-5</a:t>
            </a:r>
            <a:r>
              <a:rPr lang="zh-CN" altLang="en-US"/>
              <a:t>（续）</a:t>
            </a:r>
            <a:endParaRPr lang="zh-CN"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链表的基本操作</a:t>
            </a:r>
            <a:endParaRPr lang="zh-CN" altLang="en-US" sz="4400" b="1">
              <a:latin typeface="Times New Roman" panose="02020603050405020304" pitchFamily="18" charset="0"/>
              <a:ea typeface="隶书" panose="02010509060101010101" pitchFamily="49" charset="-122"/>
            </a:endParaRPr>
          </a:p>
        </p:txBody>
      </p:sp>
      <p:sp>
        <p:nvSpPr>
          <p:cNvPr id="49155" name="内容占位符 2"/>
          <p:cNvSpPr>
            <a:spLocks noGrp="1"/>
          </p:cNvSpPr>
          <p:nvPr>
            <p:ph idx="1"/>
          </p:nvPr>
        </p:nvSpPr>
        <p:spPr>
          <a:xfrm>
            <a:off x="1115616" y="1556792"/>
            <a:ext cx="7886700" cy="4351338"/>
          </a:xfrm>
        </p:spPr>
        <p:txBody>
          <a:bodyPr/>
          <a:lstStyle/>
          <a:p>
            <a:pPr>
              <a:lnSpc>
                <a:spcPct val="150000"/>
              </a:lnSpc>
              <a:spcAft>
                <a:spcPct val="25000"/>
              </a:spcAft>
            </a:pPr>
            <a:r>
              <a:rPr lang="zh-CN" altLang="en-US" sz="2400" b="1" dirty="0">
                <a:ea typeface="华文楷体" panose="02010600040101010101" pitchFamily="2" charset="-122"/>
              </a:rPr>
              <a:t>生成结点</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插入结点</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查找结点</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删除结点</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遍历链表</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清空链表</a:t>
            </a:r>
            <a:endParaRPr lang="zh-CN" altLang="en-US" sz="2400" b="1" dirty="0">
              <a:ea typeface="华文楷体" panose="0201060004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b="1" dirty="0"/>
              <a:t>例</a:t>
            </a:r>
            <a:r>
              <a:rPr lang="en-US" altLang="zh-CN" b="1" dirty="0"/>
              <a:t>9-6 </a:t>
            </a:r>
            <a:r>
              <a:rPr lang="zh-CN" altLang="en-US" b="1" dirty="0"/>
              <a:t>链表类模板</a:t>
            </a:r>
            <a:endParaRPr kumimoji="1" lang="zh-CN" altLang="en-US" b="1" dirty="0"/>
          </a:p>
        </p:txBody>
      </p:sp>
      <p:sp>
        <p:nvSpPr>
          <p:cNvPr id="50179" name="内容占位符 2"/>
          <p:cNvSpPr>
            <a:spLocks noGrp="1"/>
          </p:cNvSpPr>
          <p:nvPr>
            <p:ph sz="half" idx="1"/>
          </p:nvPr>
        </p:nvSpPr>
        <p:spPr>
          <a:xfrm>
            <a:off x="107504" y="1107891"/>
            <a:ext cx="4388296" cy="563231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ifndef</a:t>
            </a:r>
            <a:r>
              <a:rPr lang="en-US" altLang="zh-CN" sz="1800" b="1" dirty="0">
                <a:solidFill>
                  <a:srgbClr val="000000"/>
                </a:solidFill>
                <a:latin typeface="Times New Roman" panose="02020603050405020304" pitchFamily="18" charset="0"/>
                <a:ea typeface="华文楷体" panose="02010600040101010101" pitchFamily="2" charset="-122"/>
              </a:rPr>
              <a:t> LINKEDLIST_H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#define LINKEDLIST_H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Node.h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数据成员：</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Node&lt;T&gt; *front, *rear</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Node&lt;T&gt;*</a:t>
            </a:r>
            <a:r>
              <a:rPr lang="en-US" altLang="zh-CN" sz="1800" b="1" dirty="0" err="1">
                <a:solidFill>
                  <a:srgbClr val="000000"/>
                </a:solidFill>
                <a:latin typeface="Times New Roman" panose="02020603050405020304" pitchFamily="18" charset="0"/>
                <a:ea typeface="华文楷体" panose="02010600040101010101" pitchFamily="2" charset="-122"/>
              </a:rPr>
              <a:t>prevPtr</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currPtr</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position;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Node&lt;T&gt; *</a:t>
            </a:r>
            <a:r>
              <a:rPr lang="en-US" altLang="zh-CN" sz="1800" b="1" dirty="0" err="1">
                <a:solidFill>
                  <a:srgbClr val="000000"/>
                </a:solidFill>
                <a:latin typeface="Times New Roman" panose="02020603050405020304" pitchFamily="18" charset="0"/>
                <a:ea typeface="华文楷体" panose="02010600040101010101" pitchFamily="2" charset="-122"/>
              </a:rPr>
              <a:t>newNode</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a:t>
            </a:r>
            <a:r>
              <a:rPr lang="en-US" altLang="zh-CN" sz="1800" b="1" dirty="0" err="1">
                <a:solidFill>
                  <a:srgbClr val="000000"/>
                </a:solidFill>
                <a:latin typeface="Times New Roman" panose="02020603050405020304" pitchFamily="18" charset="0"/>
                <a:ea typeface="华文楷体" panose="02010600040101010101" pitchFamily="2" charset="-122"/>
              </a:rPr>
              <a:t>item,Node</a:t>
            </a:r>
            <a:r>
              <a:rPr lang="en-US" altLang="zh-CN" sz="1800" b="1" dirty="0">
                <a:solidFill>
                  <a:srgbClr val="000000"/>
                </a:solidFill>
                <a:latin typeface="Times New Roman" panose="02020603050405020304" pitchFamily="18" charset="0"/>
                <a:ea typeface="华文楷体" panose="02010600040101010101" pitchFamily="2" charset="-122"/>
              </a:rPr>
              <a:t>&lt;T&gt; *</a:t>
            </a:r>
            <a:r>
              <a:rPr lang="en-US" altLang="zh-CN" sz="1800" b="1" dirty="0" err="1">
                <a:solidFill>
                  <a:srgbClr val="000000"/>
                </a:solidFill>
                <a:latin typeface="Times New Roman" panose="02020603050405020304" pitchFamily="18" charset="0"/>
                <a:ea typeface="华文楷体" panose="02010600040101010101" pitchFamily="2" charset="-122"/>
              </a:rPr>
              <a:t>ptrNext</a:t>
            </a:r>
            <a:r>
              <a:rPr lang="en-US" altLang="zh-CN" sz="1800" b="1" dirty="0">
                <a:solidFill>
                  <a:srgbClr val="000000"/>
                </a:solidFill>
                <a:latin typeface="Times New Roman" panose="02020603050405020304" pitchFamily="18" charset="0"/>
                <a:ea typeface="华文楷体" panose="02010600040101010101" pitchFamily="2" charset="-122"/>
              </a:rPr>
              <a:t>=NULL);</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freeNode</a:t>
            </a:r>
            <a:r>
              <a:rPr lang="en-US" altLang="zh-CN" sz="1800" b="1" dirty="0">
                <a:solidFill>
                  <a:srgbClr val="000000"/>
                </a:solidFill>
                <a:latin typeface="Times New Roman" panose="02020603050405020304" pitchFamily="18" charset="0"/>
                <a:ea typeface="华文楷体" panose="02010600040101010101" pitchFamily="2" charset="-122"/>
              </a:rPr>
              <a:t>(Node&lt;T&gt; *p);</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copy(</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&lt;T&gt;&amp; L);</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&lt;T&gt; &amp;L);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50180" name="内容占位符 3"/>
          <p:cNvSpPr>
            <a:spLocks noGrp="1"/>
          </p:cNvSpPr>
          <p:nvPr>
            <p:ph sz="half" idx="2"/>
          </p:nvPr>
        </p:nvSpPr>
        <p:spPr>
          <a:xfrm>
            <a:off x="4648200" y="1107891"/>
            <a:ext cx="4388296" cy="563231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&lt;T&gt; &amp; operator =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LinkedList</a:t>
            </a:r>
            <a:r>
              <a:rPr lang="en-US" altLang="zh-CN" sz="1800" b="1" dirty="0">
                <a:solidFill>
                  <a:srgbClr val="000000"/>
                </a:solidFill>
                <a:latin typeface="Times New Roman" panose="02020603050405020304" pitchFamily="18" charset="0"/>
                <a:ea typeface="华文楷体" panose="02010600040101010101" pitchFamily="2" charset="-122"/>
              </a:rPr>
              <a:t>&lt;T&gt; &amp;L);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getSize</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reset(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pos</a:t>
            </a:r>
            <a:r>
              <a:rPr lang="en-US" altLang="zh-CN" sz="1800" b="1" dirty="0">
                <a:solidFill>
                  <a:srgbClr val="000000"/>
                </a:solidFill>
                <a:latin typeface="Times New Roman" panose="02020603050405020304" pitchFamily="18" charset="0"/>
                <a:ea typeface="华文楷体" panose="02010600040101010101" pitchFamily="2" charset="-122"/>
              </a:rPr>
              <a: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next();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a:t>
            </a:r>
            <a:r>
              <a:rPr lang="en-US" altLang="zh-CN" sz="1800" b="1" dirty="0" err="1">
                <a:solidFill>
                  <a:srgbClr val="000000"/>
                </a:solidFill>
                <a:latin typeface="Times New Roman" panose="02020603050405020304" pitchFamily="18" charset="0"/>
                <a:ea typeface="华文楷体" panose="02010600040101010101" pitchFamily="2" charset="-122"/>
              </a:rPr>
              <a:t>endOfList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currentPosition</a:t>
            </a:r>
            <a:r>
              <a:rPr lang="en-US" altLang="zh-CN" sz="1800" b="1" dirty="0">
                <a:solidFill>
                  <a:srgbClr val="000000"/>
                </a:solidFill>
                <a:latin typeface="Times New Roman" panose="02020603050405020304" pitchFamily="18" charset="0"/>
                <a:ea typeface="华文楷体" panose="02010600040101010101" pitchFamily="2" charset="-122"/>
              </a:rPr>
              <a:t>(void)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insertFront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&amp;item);</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insertRear</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&amp;item);</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insertAt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&amp;item);</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insertAfter</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&amp;item);</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T </a:t>
            </a:r>
            <a:r>
              <a:rPr lang="en-US" altLang="zh-CN" sz="1800" b="1" dirty="0" err="1">
                <a:solidFill>
                  <a:srgbClr val="000000"/>
                </a:solidFill>
                <a:latin typeface="Times New Roman" panose="02020603050405020304" pitchFamily="18" charset="0"/>
                <a:ea typeface="华文楷体" panose="02010600040101010101" pitchFamily="2" charset="-122"/>
              </a:rPr>
              <a:t>deleteFront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a:t>
            </a:r>
            <a:r>
              <a:rPr lang="en-US" altLang="zh-CN" sz="1800" b="1" dirty="0" err="1">
                <a:solidFill>
                  <a:srgbClr val="000000"/>
                </a:solidFill>
                <a:latin typeface="Times New Roman" panose="02020603050405020304" pitchFamily="18" charset="0"/>
                <a:ea typeface="华文楷体" panose="02010600040101010101" pitchFamily="2" charset="-122"/>
              </a:rPr>
              <a:t>deleteCurrent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T&amp; data();</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T&amp; data() </a:t>
            </a:r>
            <a:r>
              <a:rPr lang="en-US" altLang="zh-CN" sz="1800" b="1" dirty="0" err="1">
                <a:solidFill>
                  <a:srgbClr val="000000"/>
                </a:solidFill>
                <a:latin typeface="Times New Roman" panose="02020603050405020304" pitchFamily="18" charset="0"/>
                <a:ea typeface="华文楷体" panose="02010600040101010101" pitchFamily="2" charset="-122"/>
              </a:rPr>
              <a:t>const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clear();</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endif</a:t>
            </a:r>
            <a:r>
              <a:rPr lang="en-US" altLang="zh-CN" sz="1800" b="1" dirty="0">
                <a:solidFill>
                  <a:srgbClr val="000000"/>
                </a:solidFill>
                <a:latin typeface="Times New Roman" panose="02020603050405020304" pitchFamily="18" charset="0"/>
                <a:ea typeface="华文楷体" panose="02010600040101010101" pitchFamily="2" charset="-122"/>
              </a:rPr>
              <a:t>  //LINKEDLIST_H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50182" name="Line 1029"/>
          <p:cNvSpPr>
            <a:spLocks noChangeShapeType="1"/>
          </p:cNvSpPr>
          <p:nvPr/>
        </p:nvSpPr>
        <p:spPr bwMode="auto">
          <a:xfrm>
            <a:off x="4572000" y="1055502"/>
            <a:ext cx="0" cy="5685865"/>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1202" name="标题 1"/>
          <p:cNvSpPr>
            <a:spLocks noGrp="1"/>
          </p:cNvSpPr>
          <p:nvPr>
            <p:ph type="title"/>
          </p:nvPr>
        </p:nvSpPr>
        <p:spPr>
          <a:xfrm>
            <a:off x="628650" y="-27384"/>
            <a:ext cx="7886700" cy="1325563"/>
          </a:xfrm>
        </p:spPr>
        <p:txBody>
          <a:bodyPr/>
          <a:lstStyle/>
          <a:p>
            <a:r>
              <a:rPr lang="zh-CN" altLang="en-US" b="1"/>
              <a:t>例</a:t>
            </a:r>
            <a:r>
              <a:rPr lang="en-US" altLang="zh-CN" b="1"/>
              <a:t>9-7 </a:t>
            </a:r>
            <a:r>
              <a:rPr lang="zh-CN" altLang="en-US" b="1"/>
              <a:t>链表类应用举例</a:t>
            </a:r>
            <a:endParaRPr kumimoji="1" lang="zh-CN" altLang="en-US" b="1"/>
          </a:p>
        </p:txBody>
      </p:sp>
      <p:sp>
        <p:nvSpPr>
          <p:cNvPr id="51203" name="内容占位符 2"/>
          <p:cNvSpPr>
            <a:spLocks noGrp="1"/>
          </p:cNvSpPr>
          <p:nvPr>
            <p:ph sz="half" idx="1"/>
          </p:nvPr>
        </p:nvSpPr>
        <p:spPr>
          <a:xfrm>
            <a:off x="457200" y="545767"/>
            <a:ext cx="4038600" cy="594008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//9_7.cpp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a:t>
            </a:r>
            <a:r>
              <a:rPr lang="en-US" altLang="zh-CN" sz="2000" b="1" dirty="0" err="1">
                <a:solidFill>
                  <a:srgbClr val="000000"/>
                </a:solidFill>
                <a:latin typeface="Times New Roman" panose="02020603050405020304" pitchFamily="18" charset="0"/>
                <a:ea typeface="华文楷体" panose="02010600040101010101" pitchFamily="2" charset="-122"/>
              </a:rPr>
              <a:t>LinkedList.h</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LinkedList</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list;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10;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list.insertFront</a:t>
            </a:r>
            <a:r>
              <a:rPr lang="en-US" altLang="zh-CN" sz="2000" b="1" dirty="0">
                <a:solidFill>
                  <a:srgbClr val="000000"/>
                </a:solidFill>
                <a:latin typeface="Times New Roman" panose="02020603050405020304" pitchFamily="18" charset="0"/>
                <a:ea typeface="华文楷体" panose="02010600040101010101" pitchFamily="2" charset="-122"/>
              </a:rPr>
              <a:t>(item);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"List: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list.reset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a:t>
            </a:r>
            <a:r>
              <a:rPr lang="en-US" altLang="zh-CN" sz="2000" b="1" dirty="0" err="1">
                <a:solidFill>
                  <a:srgbClr val="000000"/>
                </a:solidFill>
                <a:latin typeface="Times New Roman" panose="02020603050405020304" pitchFamily="18" charset="0"/>
                <a:ea typeface="华文楷体" panose="02010600040101010101" pitchFamily="2" charset="-122"/>
              </a:rPr>
              <a:t>list.endOfList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list.data</a:t>
            </a:r>
            <a:r>
              <a:rPr lang="en-US" altLang="zh-CN" sz="2000" b="1" dirty="0">
                <a:solidFill>
                  <a:srgbClr val="000000"/>
                </a:solidFill>
                <a:latin typeface="Times New Roman" panose="02020603050405020304" pitchFamily="18" charset="0"/>
                <a:ea typeface="华文楷体" panose="02010600040101010101" pitchFamily="2" charset="-122"/>
              </a:rPr>
              <a:t>() &lt;&lt;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list.next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51204" name="内容占位符 3"/>
          <p:cNvSpPr>
            <a:spLocks noGrp="1"/>
          </p:cNvSpPr>
          <p:nvPr>
            <p:ph sz="half" idx="2"/>
          </p:nvPr>
        </p:nvSpPr>
        <p:spPr>
          <a:xfrm>
            <a:off x="4648200" y="545767"/>
            <a:ext cx="4038600" cy="594008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key;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"Please enter some integer needed to be deleted: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key;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list.reset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a:t>
            </a:r>
            <a:r>
              <a:rPr lang="en-US" altLang="zh-CN" sz="2000" b="1" dirty="0" err="1">
                <a:solidFill>
                  <a:srgbClr val="000000"/>
                </a:solidFill>
                <a:latin typeface="Times New Roman" panose="02020603050405020304" pitchFamily="18" charset="0"/>
                <a:ea typeface="华文楷体" panose="02010600040101010101" pitchFamily="2" charset="-122"/>
              </a:rPr>
              <a:t>list.endOfList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if (</a:t>
            </a:r>
            <a:r>
              <a:rPr lang="en-US" altLang="zh-CN" sz="2000" b="1" dirty="0" err="1">
                <a:solidFill>
                  <a:srgbClr val="000000"/>
                </a:solidFill>
                <a:latin typeface="Times New Roman" panose="02020603050405020304" pitchFamily="18" charset="0"/>
                <a:ea typeface="华文楷体" panose="02010600040101010101" pitchFamily="2" charset="-122"/>
              </a:rPr>
              <a:t>list.data</a:t>
            </a:r>
            <a:r>
              <a:rPr lang="en-US" altLang="zh-CN" sz="2000" b="1" dirty="0">
                <a:solidFill>
                  <a:srgbClr val="000000"/>
                </a:solidFill>
                <a:latin typeface="Times New Roman" panose="02020603050405020304" pitchFamily="18" charset="0"/>
                <a:ea typeface="华文楷体" panose="02010600040101010101" pitchFamily="2" charset="-122"/>
              </a:rPr>
              <a:t>() == key)		          </a:t>
            </a:r>
            <a:r>
              <a:rPr lang="en-US" altLang="zh-CN" sz="2000" b="1" dirty="0" err="1">
                <a:solidFill>
                  <a:srgbClr val="000000"/>
                </a:solidFill>
                <a:latin typeface="Times New Roman" panose="02020603050405020304" pitchFamily="18" charset="0"/>
                <a:ea typeface="华文楷体" panose="02010600040101010101" pitchFamily="2" charset="-122"/>
              </a:rPr>
              <a:t>list.deleteCurrent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list.next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"List: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list.reset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a:t>
            </a:r>
            <a:r>
              <a:rPr lang="en-US" altLang="zh-CN" sz="2000" b="1" dirty="0" err="1">
                <a:solidFill>
                  <a:srgbClr val="000000"/>
                </a:solidFill>
                <a:latin typeface="Times New Roman" panose="02020603050405020304" pitchFamily="18" charset="0"/>
                <a:ea typeface="华文楷体" panose="02010600040101010101" pitchFamily="2" charset="-122"/>
              </a:rPr>
              <a:t>list.endOfList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list.data</a:t>
            </a:r>
            <a:r>
              <a:rPr lang="en-US" altLang="zh-CN" sz="2000" b="1" dirty="0">
                <a:solidFill>
                  <a:srgbClr val="000000"/>
                </a:solidFill>
                <a:latin typeface="Times New Roman" panose="02020603050405020304" pitchFamily="18" charset="0"/>
                <a:ea typeface="华文楷体" panose="02010600040101010101" pitchFamily="2" charset="-122"/>
              </a:rPr>
              <a:t>() &lt;&lt;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list.next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51206" name="Line 1029"/>
          <p:cNvSpPr>
            <a:spLocks noChangeShapeType="1"/>
          </p:cNvSpPr>
          <p:nvPr/>
        </p:nvSpPr>
        <p:spPr bwMode="auto">
          <a:xfrm>
            <a:off x="4572000" y="493378"/>
            <a:ext cx="0" cy="5959957"/>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标题 6"/>
          <p:cNvSpPr>
            <a:spLocks noGrp="1"/>
          </p:cNvSpPr>
          <p:nvPr>
            <p:ph type="title"/>
          </p:nvPr>
        </p:nvSpPr>
        <p:spPr/>
        <p:txBody>
          <a:bodyPr/>
          <a:lstStyle/>
          <a:p>
            <a:r>
              <a:rPr lang="zh-CN" altLang="en-US" b="1" dirty="0"/>
              <a:t>例</a:t>
            </a:r>
            <a:r>
              <a:rPr lang="en-US" altLang="zh-CN" b="1" dirty="0"/>
              <a:t>9-7</a:t>
            </a:r>
            <a:r>
              <a:rPr lang="zh-CN" altLang="en-US" b="1" dirty="0"/>
              <a:t>（续）</a:t>
            </a:r>
            <a:endParaRPr lang="zh-CN" altLang="en-US" b="1" dirty="0"/>
          </a:p>
        </p:txBody>
      </p:sp>
      <p:sp>
        <p:nvSpPr>
          <p:cNvPr id="8" name="内容占位符 7"/>
          <p:cNvSpPr>
            <a:spLocks noGrp="1"/>
          </p:cNvSpPr>
          <p:nvPr>
            <p:ph idx="1"/>
          </p:nvPr>
        </p:nvSpPr>
        <p:spPr>
          <a:xfrm>
            <a:off x="468313" y="1785938"/>
            <a:ext cx="8218487" cy="3349956"/>
          </a:xfrm>
          <a:solidFill>
            <a:srgbClr val="000000"/>
          </a:solidFill>
          <a:ln>
            <a:noFill/>
          </a:ln>
        </p:spPr>
        <p:txBody>
          <a:bodyPr wrap="square">
            <a:spAutoFit/>
          </a:bodyPr>
          <a:lstStyle/>
          <a:p>
            <a:pPr marL="0" indent="0">
              <a:lnSpc>
                <a:spcPct val="150000"/>
              </a:lnSpc>
              <a:spcBef>
                <a:spcPct val="0"/>
              </a:spcBef>
              <a:buNone/>
            </a:pPr>
            <a:r>
              <a:rPr lang="zh-CN" altLang="en-US" sz="2400" b="1" dirty="0">
                <a:latin typeface="Times New Roman" panose="02020603050405020304" pitchFamily="18" charset="0"/>
                <a:ea typeface="隶书" panose="02010509060101010101" pitchFamily="49" charset="-122"/>
              </a:rPr>
              <a:t>运行结果如下：</a:t>
            </a:r>
            <a:endParaRPr lang="en-US" altLang="zh-CN" sz="2400" b="1" dirty="0">
              <a:latin typeface="Times New Roman" panose="02020603050405020304" pitchFamily="18" charset="0"/>
              <a:ea typeface="隶书" panose="02010509060101010101" pitchFamily="49" charset="-122"/>
            </a:endParaRPr>
          </a:p>
          <a:p>
            <a:pPr marL="0" indent="0">
              <a:lnSpc>
                <a:spcPct val="150000"/>
              </a:lnSpc>
              <a:spcBef>
                <a:spcPct val="0"/>
              </a:spcBef>
              <a:buNone/>
            </a:pPr>
            <a:r>
              <a:rPr lang="en-US" altLang="zh-CN" sz="2400" b="1" dirty="0">
                <a:latin typeface="Times New Roman" panose="02020603050405020304" pitchFamily="18" charset="0"/>
                <a:ea typeface="隶书" panose="02010509060101010101" pitchFamily="49" charset="-122"/>
              </a:rPr>
              <a:t>3 6 5 7 5 2 4 5 9 10</a:t>
            </a:r>
            <a:endParaRPr lang="en-US" altLang="zh-CN" sz="2400" b="1" dirty="0">
              <a:latin typeface="Times New Roman" panose="02020603050405020304" pitchFamily="18" charset="0"/>
              <a:ea typeface="隶书" panose="02010509060101010101" pitchFamily="49" charset="-122"/>
            </a:endParaRPr>
          </a:p>
          <a:p>
            <a:pPr marL="0" indent="0">
              <a:lnSpc>
                <a:spcPct val="150000"/>
              </a:lnSpc>
              <a:spcBef>
                <a:spcPct val="0"/>
              </a:spcBef>
              <a:buNone/>
            </a:pPr>
            <a:r>
              <a:rPr lang="en-US" altLang="zh-CN" sz="2400" b="1" dirty="0">
                <a:latin typeface="Times New Roman" panose="02020603050405020304" pitchFamily="18" charset="0"/>
                <a:ea typeface="隶书" panose="02010509060101010101" pitchFamily="49" charset="-122"/>
              </a:rPr>
              <a:t>List: 10  9  5  4  2  5  7  5  6  3</a:t>
            </a:r>
            <a:endParaRPr lang="en-US" altLang="zh-CN" sz="2400" b="1" dirty="0">
              <a:latin typeface="Times New Roman" panose="02020603050405020304" pitchFamily="18" charset="0"/>
              <a:ea typeface="隶书" panose="02010509060101010101" pitchFamily="49" charset="-122"/>
            </a:endParaRPr>
          </a:p>
          <a:p>
            <a:pPr marL="0" indent="0">
              <a:lnSpc>
                <a:spcPct val="150000"/>
              </a:lnSpc>
              <a:spcBef>
                <a:spcPct val="0"/>
              </a:spcBef>
              <a:buNone/>
            </a:pPr>
            <a:r>
              <a:rPr lang="en-US" altLang="zh-CN" sz="2400" b="1" dirty="0">
                <a:latin typeface="Times New Roman" panose="02020603050405020304" pitchFamily="18" charset="0"/>
                <a:ea typeface="隶书" panose="02010509060101010101" pitchFamily="49" charset="-122"/>
              </a:rPr>
              <a:t>Please enter some integer needed to be deleted: 5</a:t>
            </a:r>
            <a:endParaRPr lang="en-US" altLang="zh-CN" sz="2400" b="1" dirty="0">
              <a:latin typeface="Times New Roman" panose="02020603050405020304" pitchFamily="18" charset="0"/>
              <a:ea typeface="隶书" panose="02010509060101010101" pitchFamily="49" charset="-122"/>
            </a:endParaRPr>
          </a:p>
          <a:p>
            <a:pPr marL="0" indent="0">
              <a:lnSpc>
                <a:spcPct val="150000"/>
              </a:lnSpc>
              <a:spcBef>
                <a:spcPct val="0"/>
              </a:spcBef>
              <a:buNone/>
            </a:pPr>
            <a:r>
              <a:rPr lang="en-US" altLang="zh-CN" sz="2400" b="1" dirty="0">
                <a:latin typeface="Times New Roman" panose="02020603050405020304" pitchFamily="18" charset="0"/>
                <a:ea typeface="隶书" panose="02010509060101010101" pitchFamily="49" charset="-122"/>
              </a:rPr>
              <a:t>List: 10  9  4  2  7  6  3</a:t>
            </a:r>
            <a:endParaRPr lang="en-US" altLang="zh-CN" sz="2400" b="1" dirty="0">
              <a:latin typeface="Times New Roman" panose="02020603050405020304" pitchFamily="18" charset="0"/>
              <a:ea typeface="隶书" panose="02010509060101010101" pitchFamily="49" charset="-122"/>
            </a:endParaRPr>
          </a:p>
          <a:p>
            <a:pPr marL="0" indent="0">
              <a:lnSpc>
                <a:spcPct val="150000"/>
              </a:lnSpc>
              <a:spcBef>
                <a:spcPct val="0"/>
              </a:spcBef>
              <a:buNone/>
            </a:pPr>
            <a:endParaRPr lang="zh-CN" altLang="en-US" sz="2400" b="1"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9.2.4 </a:t>
            </a:r>
            <a:r>
              <a:rPr lang="zh-CN" altLang="en-US" sz="4400" b="1">
                <a:latin typeface="Times New Roman" panose="02020603050405020304" pitchFamily="18" charset="0"/>
                <a:ea typeface="隶书" panose="02010509060101010101" pitchFamily="49" charset="-122"/>
              </a:rPr>
              <a:t>栈类</a:t>
            </a:r>
            <a:endParaRPr lang="zh-CN" altLang="en-US" sz="4400" b="1">
              <a:latin typeface="Times New Roman" panose="02020603050405020304" pitchFamily="18" charset="0"/>
              <a:ea typeface="隶书" panose="02010509060101010101" pitchFamily="49" charset="-122"/>
            </a:endParaRPr>
          </a:p>
        </p:txBody>
      </p:sp>
      <p:sp>
        <p:nvSpPr>
          <p:cNvPr id="53251" name="内容占位符 2"/>
          <p:cNvSpPr>
            <a:spLocks noGrp="1"/>
          </p:cNvSpPr>
          <p:nvPr>
            <p:ph idx="1"/>
          </p:nvPr>
        </p:nvSpPr>
        <p:spPr>
          <a:xfrm>
            <a:off x="779462" y="1596231"/>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栈是只能从一端访问的线性群体，可以访问的这一端称栈顶，另一端称栈底。</a:t>
            </a:r>
            <a:endParaRPr lang="zh-CN" altLang="en-US" sz="2400" b="1" dirty="0">
              <a:solidFill>
                <a:srgbClr val="FFFF00"/>
              </a:solidFill>
              <a:ea typeface="华文楷体" panose="02010600040101010101" pitchFamily="2" charset="-122"/>
            </a:endParaRPr>
          </a:p>
        </p:txBody>
      </p:sp>
      <p:grpSp>
        <p:nvGrpSpPr>
          <p:cNvPr id="53254" name="Group 5"/>
          <p:cNvGrpSpPr/>
          <p:nvPr/>
        </p:nvGrpSpPr>
        <p:grpSpPr bwMode="auto">
          <a:xfrm>
            <a:off x="2438400" y="3098006"/>
            <a:ext cx="4191000" cy="3100388"/>
            <a:chOff x="1536" y="2126"/>
            <a:chExt cx="2640" cy="1953"/>
          </a:xfrm>
        </p:grpSpPr>
        <p:sp>
          <p:nvSpPr>
            <p:cNvPr id="53255" name="Freeform 6"/>
            <p:cNvSpPr/>
            <p:nvPr/>
          </p:nvSpPr>
          <p:spPr bwMode="auto">
            <a:xfrm>
              <a:off x="1942" y="2598"/>
              <a:ext cx="792" cy="1479"/>
            </a:xfrm>
            <a:custGeom>
              <a:avLst/>
              <a:gdLst>
                <a:gd name="T0" fmla="*/ 0 w 900"/>
                <a:gd name="T1" fmla="*/ 1 h 1980"/>
                <a:gd name="T2" fmla="*/ 0 w 900"/>
                <a:gd name="T3" fmla="*/ 14 h 1980"/>
                <a:gd name="T4" fmla="*/ 102 w 900"/>
                <a:gd name="T5" fmla="*/ 14 h 1980"/>
                <a:gd name="T6" fmla="*/ 10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华文楷体" panose="02010600040101010101" pitchFamily="2" charset="-122"/>
              </a:endParaRPr>
            </a:p>
          </p:txBody>
        </p:sp>
        <p:sp>
          <p:nvSpPr>
            <p:cNvPr id="53256" name="Text Box 7"/>
            <p:cNvSpPr txBox="1">
              <a:spLocks noChangeArrowheads="1"/>
            </p:cNvSpPr>
            <p:nvPr/>
          </p:nvSpPr>
          <p:spPr bwMode="auto">
            <a:xfrm>
              <a:off x="1969" y="2928"/>
              <a:ext cx="713" cy="1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r>
                <a:rPr lang="en-US" altLang="zh-CN" sz="2200" b="1">
                  <a:latin typeface="+mn-lt"/>
                  <a:ea typeface="华文楷体" panose="02010600040101010101" pitchFamily="2" charset="-122"/>
                </a:rPr>
                <a:t>a</a:t>
              </a:r>
              <a:r>
                <a:rPr lang="en-US" altLang="zh-CN" sz="2200" b="1" baseline="-25000">
                  <a:latin typeface="+mn-lt"/>
                  <a:ea typeface="华文楷体" panose="02010600040101010101" pitchFamily="2" charset="-122"/>
                </a:rPr>
                <a:t>n</a:t>
              </a:r>
              <a:endParaRPr lang="en-US" altLang="zh-CN" sz="2200" b="1">
                <a:latin typeface="+mn-lt"/>
                <a:ea typeface="华文楷体" panose="02010600040101010101" pitchFamily="2" charset="-122"/>
              </a:endParaRPr>
            </a:p>
            <a:p>
              <a:pPr algn="ctr" eaLnBrk="1" hangingPunct="1">
                <a:lnSpc>
                  <a:spcPct val="130000"/>
                </a:lnSpc>
              </a:pPr>
              <a:r>
                <a:rPr lang="en-US" altLang="zh-CN" sz="2200" b="1">
                  <a:latin typeface="+mn-lt"/>
                  <a:ea typeface="华文楷体" panose="02010600040101010101" pitchFamily="2" charset="-122"/>
                </a:rPr>
                <a:t>┆</a:t>
              </a:r>
              <a:endParaRPr lang="en-US" altLang="zh-CN" sz="2200" b="1">
                <a:latin typeface="+mn-lt"/>
                <a:ea typeface="华文楷体" panose="02010600040101010101" pitchFamily="2" charset="-122"/>
              </a:endParaRPr>
            </a:p>
            <a:p>
              <a:pPr algn="ctr" eaLnBrk="1" hangingPunct="1">
                <a:lnSpc>
                  <a:spcPct val="130000"/>
                </a:lnSpc>
              </a:pPr>
              <a:r>
                <a:rPr lang="en-US" altLang="zh-CN" sz="2200" b="1">
                  <a:latin typeface="+mn-lt"/>
                  <a:ea typeface="华文楷体" panose="02010600040101010101" pitchFamily="2" charset="-122"/>
                </a:rPr>
                <a:t>a</a:t>
              </a:r>
              <a:r>
                <a:rPr lang="en-US" altLang="zh-CN" sz="2200" b="1" baseline="-25000">
                  <a:latin typeface="+mn-lt"/>
                  <a:ea typeface="华文楷体" panose="02010600040101010101" pitchFamily="2" charset="-122"/>
                </a:rPr>
                <a:t>2</a:t>
              </a:r>
              <a:endParaRPr lang="en-US" altLang="zh-CN" sz="2200" b="1">
                <a:latin typeface="+mn-lt"/>
                <a:ea typeface="华文楷体" panose="02010600040101010101" pitchFamily="2" charset="-122"/>
              </a:endParaRPr>
            </a:p>
            <a:p>
              <a:pPr algn="ctr" eaLnBrk="1" hangingPunct="1">
                <a:lnSpc>
                  <a:spcPct val="130000"/>
                </a:lnSpc>
              </a:pPr>
              <a:r>
                <a:rPr lang="en-US" altLang="zh-CN" sz="2200" b="1">
                  <a:latin typeface="+mn-lt"/>
                  <a:ea typeface="华文楷体" panose="02010600040101010101" pitchFamily="2" charset="-122"/>
                </a:rPr>
                <a:t>a</a:t>
              </a:r>
              <a:r>
                <a:rPr lang="en-US" altLang="zh-CN" sz="2200" b="1" baseline="-25000">
                  <a:latin typeface="+mn-lt"/>
                  <a:ea typeface="华文楷体" panose="02010600040101010101" pitchFamily="2" charset="-122"/>
                </a:rPr>
                <a:t>1</a:t>
              </a:r>
              <a:endParaRPr lang="en-US" altLang="zh-CN" sz="2200" b="1">
                <a:latin typeface="+mn-lt"/>
                <a:ea typeface="华文楷体" panose="02010600040101010101" pitchFamily="2" charset="-122"/>
              </a:endParaRPr>
            </a:p>
          </p:txBody>
        </p:sp>
        <p:sp>
          <p:nvSpPr>
            <p:cNvPr id="53257" name="Line 8"/>
            <p:cNvSpPr>
              <a:spLocks noChangeShapeType="1"/>
            </p:cNvSpPr>
            <p:nvPr/>
          </p:nvSpPr>
          <p:spPr bwMode="auto">
            <a:xfrm>
              <a:off x="1929" y="3816"/>
              <a:ext cx="7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58" name="Line 9"/>
            <p:cNvSpPr>
              <a:spLocks noChangeShapeType="1"/>
            </p:cNvSpPr>
            <p:nvPr/>
          </p:nvSpPr>
          <p:spPr bwMode="auto">
            <a:xfrm>
              <a:off x="1943" y="2984"/>
              <a:ext cx="7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59" name="Line 10"/>
            <p:cNvSpPr>
              <a:spLocks noChangeShapeType="1"/>
            </p:cNvSpPr>
            <p:nvPr/>
          </p:nvSpPr>
          <p:spPr bwMode="auto">
            <a:xfrm>
              <a:off x="1943" y="3235"/>
              <a:ext cx="7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60" name="Line 11"/>
            <p:cNvSpPr>
              <a:spLocks noChangeShapeType="1"/>
            </p:cNvSpPr>
            <p:nvPr/>
          </p:nvSpPr>
          <p:spPr bwMode="auto">
            <a:xfrm>
              <a:off x="1929" y="3552"/>
              <a:ext cx="792"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61" name="Freeform 12"/>
            <p:cNvSpPr/>
            <p:nvPr/>
          </p:nvSpPr>
          <p:spPr bwMode="auto">
            <a:xfrm>
              <a:off x="1536" y="2416"/>
              <a:ext cx="568" cy="410"/>
            </a:xfrm>
            <a:custGeom>
              <a:avLst/>
              <a:gdLst>
                <a:gd name="T0" fmla="*/ 0 w 645"/>
                <a:gd name="T1" fmla="*/ 0 h 465"/>
                <a:gd name="T2" fmla="*/ 74 w 645"/>
                <a:gd name="T3" fmla="*/ 0 h 465"/>
                <a:gd name="T4" fmla="*/ 74 w 645"/>
                <a:gd name="T5" fmla="*/ 55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华文楷体" panose="02010600040101010101" pitchFamily="2" charset="-122"/>
              </a:endParaRPr>
            </a:p>
          </p:txBody>
        </p:sp>
        <p:sp>
          <p:nvSpPr>
            <p:cNvPr id="53262" name="Freeform 13"/>
            <p:cNvSpPr/>
            <p:nvPr/>
          </p:nvSpPr>
          <p:spPr bwMode="auto">
            <a:xfrm flipH="1">
              <a:off x="2523" y="2416"/>
              <a:ext cx="568" cy="410"/>
            </a:xfrm>
            <a:custGeom>
              <a:avLst/>
              <a:gdLst>
                <a:gd name="T0" fmla="*/ 0 w 645"/>
                <a:gd name="T1" fmla="*/ 0 h 465"/>
                <a:gd name="T2" fmla="*/ 74 w 645"/>
                <a:gd name="T3" fmla="*/ 0 h 465"/>
                <a:gd name="T4" fmla="*/ 74 w 645"/>
                <a:gd name="T5" fmla="*/ 55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med" len="lg"/>
              <a:tailEnd type="none" w="sm" len="me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a typeface="华文楷体" panose="02010600040101010101" pitchFamily="2" charset="-122"/>
              </a:endParaRPr>
            </a:p>
          </p:txBody>
        </p:sp>
        <p:sp>
          <p:nvSpPr>
            <p:cNvPr id="53263" name="Text Box 14"/>
            <p:cNvSpPr txBox="1">
              <a:spLocks noChangeArrowheads="1"/>
            </p:cNvSpPr>
            <p:nvPr/>
          </p:nvSpPr>
          <p:spPr bwMode="auto">
            <a:xfrm>
              <a:off x="1536"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b="1">
                  <a:latin typeface="+mn-lt"/>
                  <a:ea typeface="华文楷体" panose="02010600040101010101" pitchFamily="2" charset="-122"/>
                </a:rPr>
                <a:t>入栈</a:t>
              </a:r>
              <a:endParaRPr lang="zh-CN" altLang="en-US" sz="2200" b="1">
                <a:latin typeface="+mn-lt"/>
                <a:ea typeface="华文楷体" panose="02010600040101010101" pitchFamily="2" charset="-122"/>
              </a:endParaRPr>
            </a:p>
          </p:txBody>
        </p:sp>
        <p:sp>
          <p:nvSpPr>
            <p:cNvPr id="53264" name="Text Box 15"/>
            <p:cNvSpPr txBox="1">
              <a:spLocks noChangeArrowheads="1"/>
            </p:cNvSpPr>
            <p:nvPr/>
          </p:nvSpPr>
          <p:spPr bwMode="auto">
            <a:xfrm>
              <a:off x="2705" y="2126"/>
              <a:ext cx="54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b="1">
                  <a:latin typeface="+mn-lt"/>
                  <a:ea typeface="华文楷体" panose="02010600040101010101" pitchFamily="2" charset="-122"/>
                </a:rPr>
                <a:t>出栈</a:t>
              </a:r>
              <a:endParaRPr lang="zh-CN" altLang="en-US" sz="2200" b="1">
                <a:latin typeface="+mn-lt"/>
                <a:ea typeface="华文楷体" panose="02010600040101010101" pitchFamily="2" charset="-122"/>
              </a:endParaRPr>
            </a:p>
          </p:txBody>
        </p:sp>
        <p:sp>
          <p:nvSpPr>
            <p:cNvPr id="53265" name="Line 16"/>
            <p:cNvSpPr>
              <a:spLocks noChangeShapeType="1"/>
            </p:cNvSpPr>
            <p:nvPr/>
          </p:nvSpPr>
          <p:spPr bwMode="auto">
            <a:xfrm flipH="1">
              <a:off x="2764" y="3103"/>
              <a:ext cx="422"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66" name="Line 17"/>
            <p:cNvSpPr>
              <a:spLocks noChangeShapeType="1"/>
            </p:cNvSpPr>
            <p:nvPr/>
          </p:nvSpPr>
          <p:spPr bwMode="auto">
            <a:xfrm flipH="1">
              <a:off x="2764" y="3961"/>
              <a:ext cx="422"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3267" name="Text Box 18"/>
            <p:cNvSpPr txBox="1">
              <a:spLocks noChangeArrowheads="1"/>
            </p:cNvSpPr>
            <p:nvPr/>
          </p:nvSpPr>
          <p:spPr bwMode="auto">
            <a:xfrm>
              <a:off x="3239" y="2971"/>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b="1">
                  <a:latin typeface="+mn-lt"/>
                  <a:ea typeface="华文楷体" panose="02010600040101010101" pitchFamily="2" charset="-122"/>
                </a:rPr>
                <a:t>栈顶</a:t>
              </a:r>
              <a:endParaRPr lang="zh-CN" altLang="en-US" sz="2200" b="1">
                <a:latin typeface="+mn-lt"/>
                <a:ea typeface="华文楷体" panose="02010600040101010101" pitchFamily="2" charset="-122"/>
              </a:endParaRPr>
            </a:p>
          </p:txBody>
        </p:sp>
        <p:sp>
          <p:nvSpPr>
            <p:cNvPr id="53268" name="Text Box 19"/>
            <p:cNvSpPr txBox="1">
              <a:spLocks noChangeArrowheads="1"/>
            </p:cNvSpPr>
            <p:nvPr/>
          </p:nvSpPr>
          <p:spPr bwMode="auto">
            <a:xfrm>
              <a:off x="3239" y="3816"/>
              <a:ext cx="937"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200" b="1">
                  <a:latin typeface="+mn-lt"/>
                  <a:ea typeface="华文楷体" panose="02010600040101010101" pitchFamily="2" charset="-122"/>
                </a:rPr>
                <a:t>栈底</a:t>
              </a:r>
              <a:endParaRPr lang="zh-CN" altLang="en-US" sz="2200" b="1">
                <a:latin typeface="+mn-lt"/>
                <a:ea typeface="华文楷体" panose="02010600040101010101" pitchFamily="2" charset="-122"/>
              </a:endParaRPr>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栈的应用举例</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表达式处理</a:t>
            </a:r>
            <a:endParaRPr lang="zh-CN" altLang="en-US" sz="4400" b="1">
              <a:latin typeface="Times New Roman" panose="02020603050405020304" pitchFamily="18" charset="0"/>
              <a:ea typeface="隶书" panose="02010509060101010101" pitchFamily="49" charset="-122"/>
            </a:endParaRPr>
          </a:p>
        </p:txBody>
      </p:sp>
      <p:grpSp>
        <p:nvGrpSpPr>
          <p:cNvPr id="54277" name="Group 3"/>
          <p:cNvGrpSpPr/>
          <p:nvPr/>
        </p:nvGrpSpPr>
        <p:grpSpPr bwMode="auto">
          <a:xfrm>
            <a:off x="1403350" y="1881188"/>
            <a:ext cx="1508125" cy="2185987"/>
            <a:chOff x="1002" y="1152"/>
            <a:chExt cx="950" cy="1377"/>
          </a:xfrm>
        </p:grpSpPr>
        <p:grpSp>
          <p:nvGrpSpPr>
            <p:cNvPr id="54349" name="Group 4"/>
            <p:cNvGrpSpPr/>
            <p:nvPr/>
          </p:nvGrpSpPr>
          <p:grpSpPr bwMode="auto">
            <a:xfrm>
              <a:off x="1002" y="1152"/>
              <a:ext cx="950" cy="1091"/>
              <a:chOff x="1002" y="1152"/>
              <a:chExt cx="950" cy="1091"/>
            </a:xfrm>
          </p:grpSpPr>
          <p:grpSp>
            <p:nvGrpSpPr>
              <p:cNvPr id="54351" name="Group 5"/>
              <p:cNvGrpSpPr/>
              <p:nvPr/>
            </p:nvGrpSpPr>
            <p:grpSpPr bwMode="auto">
              <a:xfrm>
                <a:off x="1002" y="1152"/>
                <a:ext cx="263" cy="818"/>
                <a:chOff x="1002" y="1152"/>
                <a:chExt cx="263" cy="818"/>
              </a:xfrm>
            </p:grpSpPr>
            <p:sp>
              <p:nvSpPr>
                <p:cNvPr id="54359" name="Freeform 6"/>
                <p:cNvSpPr/>
                <p:nvPr/>
              </p:nvSpPr>
              <p:spPr bwMode="auto">
                <a:xfrm>
                  <a:off x="1002" y="1152"/>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60" name="Text Box 7"/>
                <p:cNvSpPr txBox="1">
                  <a:spLocks noChangeArrowheads="1"/>
                </p:cNvSpPr>
                <p:nvPr/>
              </p:nvSpPr>
              <p:spPr bwMode="auto">
                <a:xfrm>
                  <a:off x="1030" y="1182"/>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b="1">
                    <a:latin typeface="+mn-lt"/>
                  </a:endParaRPr>
                </a:p>
                <a:p>
                  <a:pPr algn="ctr" eaLnBrk="1" hangingPunct="1">
                    <a:lnSpc>
                      <a:spcPct val="120000"/>
                    </a:lnSpc>
                  </a:pPr>
                  <a:endParaRPr lang="en-US" altLang="zh-CN" sz="1800" b="1">
                    <a:latin typeface="+mn-lt"/>
                  </a:endParaRPr>
                </a:p>
                <a:p>
                  <a:pPr algn="ctr" eaLnBrk="1" hangingPunct="1">
                    <a:lnSpc>
                      <a:spcPct val="120000"/>
                    </a:lnSpc>
                  </a:pPr>
                  <a:r>
                    <a:rPr lang="en-US" altLang="zh-CN" sz="1800" b="1">
                      <a:latin typeface="+mn-lt"/>
                    </a:rPr>
                    <a:t>b</a:t>
                  </a:r>
                  <a:endParaRPr lang="en-US" altLang="zh-CN" sz="1800" b="1">
                    <a:latin typeface="+mn-lt"/>
                  </a:endParaRPr>
                </a:p>
                <a:p>
                  <a:pPr algn="ctr" eaLnBrk="1" hangingPunct="1"/>
                  <a:r>
                    <a:rPr lang="en-US" altLang="zh-CN" sz="1800" b="1">
                      <a:latin typeface="+mn-lt"/>
                    </a:rPr>
                    <a:t>a</a:t>
                  </a:r>
                  <a:endParaRPr lang="en-US" altLang="zh-CN" sz="1800" b="1">
                    <a:latin typeface="+mn-lt"/>
                  </a:endParaRPr>
                </a:p>
              </p:txBody>
            </p:sp>
            <p:sp>
              <p:nvSpPr>
                <p:cNvPr id="54361" name="Line 8"/>
                <p:cNvSpPr>
                  <a:spLocks noChangeShapeType="1"/>
                </p:cNvSpPr>
                <p:nvPr/>
              </p:nvSpPr>
              <p:spPr bwMode="auto">
                <a:xfrm>
                  <a:off x="1002" y="1801"/>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62" name="Line 9"/>
                <p:cNvSpPr>
                  <a:spLocks noChangeShapeType="1"/>
                </p:cNvSpPr>
                <p:nvPr/>
              </p:nvSpPr>
              <p:spPr bwMode="auto">
                <a:xfrm>
                  <a:off x="1002" y="1613"/>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63" name="Line 10"/>
                <p:cNvSpPr>
                  <a:spLocks noChangeShapeType="1"/>
                </p:cNvSpPr>
                <p:nvPr/>
              </p:nvSpPr>
              <p:spPr bwMode="auto">
                <a:xfrm>
                  <a:off x="1011" y="1425"/>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grpSp>
            <p:nvGrpSpPr>
              <p:cNvPr id="54352" name="Group 11"/>
              <p:cNvGrpSpPr/>
              <p:nvPr/>
            </p:nvGrpSpPr>
            <p:grpSpPr bwMode="auto">
              <a:xfrm>
                <a:off x="1689" y="1152"/>
                <a:ext cx="263" cy="818"/>
                <a:chOff x="1689" y="1287"/>
                <a:chExt cx="263" cy="818"/>
              </a:xfrm>
            </p:grpSpPr>
            <p:sp>
              <p:nvSpPr>
                <p:cNvPr id="54354" name="Freeform 12"/>
                <p:cNvSpPr/>
                <p:nvPr/>
              </p:nvSpPr>
              <p:spPr bwMode="auto">
                <a:xfrm>
                  <a:off x="1689"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55" name="Text Box 13"/>
                <p:cNvSpPr txBox="1">
                  <a:spLocks noChangeArrowheads="1"/>
                </p:cNvSpPr>
                <p:nvPr/>
              </p:nvSpPr>
              <p:spPr bwMode="auto">
                <a:xfrm>
                  <a:off x="1717"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10000"/>
                    </a:lnSpc>
                  </a:pPr>
                  <a:r>
                    <a:rPr lang="en-US" altLang="zh-CN" sz="1800" b="1">
                      <a:latin typeface="+mn-lt"/>
                    </a:rPr>
                    <a:t>/</a:t>
                  </a:r>
                  <a:endParaRPr lang="en-US" altLang="zh-CN" sz="1800" b="1">
                    <a:latin typeface="+mn-lt"/>
                  </a:endParaRPr>
                </a:p>
              </p:txBody>
            </p:sp>
            <p:sp>
              <p:nvSpPr>
                <p:cNvPr id="54356" name="Line 14"/>
                <p:cNvSpPr>
                  <a:spLocks noChangeShapeType="1"/>
                </p:cNvSpPr>
                <p:nvPr/>
              </p:nvSpPr>
              <p:spPr bwMode="auto">
                <a:xfrm>
                  <a:off x="1689" y="193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57" name="Line 15"/>
                <p:cNvSpPr>
                  <a:spLocks noChangeShapeType="1"/>
                </p:cNvSpPr>
                <p:nvPr/>
              </p:nvSpPr>
              <p:spPr bwMode="auto">
                <a:xfrm>
                  <a:off x="1689" y="174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58" name="Line 16"/>
                <p:cNvSpPr>
                  <a:spLocks noChangeShapeType="1"/>
                </p:cNvSpPr>
                <p:nvPr/>
              </p:nvSpPr>
              <p:spPr bwMode="auto">
                <a:xfrm>
                  <a:off x="1698" y="1560"/>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sp>
            <p:nvSpPr>
              <p:cNvPr id="54353" name="Text Box 17"/>
              <p:cNvSpPr txBox="1">
                <a:spLocks noChangeArrowheads="1"/>
              </p:cNvSpPr>
              <p:nvPr/>
            </p:nvSpPr>
            <p:spPr bwMode="auto">
              <a:xfrm>
                <a:off x="1002"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u="sng">
                    <a:latin typeface="+mn-lt"/>
                  </a:rPr>
                  <a:t>a/b</a:t>
                </a:r>
                <a:r>
                  <a:rPr lang="en-US" altLang="zh-CN" b="1">
                    <a:latin typeface="+mn-lt"/>
                  </a:rPr>
                  <a:t>+c*d</a:t>
                </a:r>
                <a:endParaRPr lang="en-US" altLang="zh-CN" b="1">
                  <a:latin typeface="+mn-lt"/>
                </a:endParaRPr>
              </a:p>
            </p:txBody>
          </p:sp>
        </p:grpSp>
        <p:sp>
          <p:nvSpPr>
            <p:cNvPr id="54350" name="Text Box 18"/>
            <p:cNvSpPr txBox="1">
              <a:spLocks noChangeArrowheads="1"/>
            </p:cNvSpPr>
            <p:nvPr/>
          </p:nvSpPr>
          <p:spPr bwMode="auto">
            <a:xfrm>
              <a:off x="1383"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solidFill>
                    <a:srgbClr val="FFFF00"/>
                  </a:solidFill>
                  <a:latin typeface="+mn-lt"/>
                </a:rPr>
                <a:t>(a)</a:t>
              </a:r>
              <a:endParaRPr lang="en-US" altLang="zh-CN" sz="1800" b="1" dirty="0">
                <a:solidFill>
                  <a:srgbClr val="FFFF00"/>
                </a:solidFill>
                <a:latin typeface="+mn-lt"/>
              </a:endParaRPr>
            </a:p>
          </p:txBody>
        </p:sp>
      </p:grpSp>
      <p:grpSp>
        <p:nvGrpSpPr>
          <p:cNvPr id="54278" name="Group 19"/>
          <p:cNvGrpSpPr/>
          <p:nvPr/>
        </p:nvGrpSpPr>
        <p:grpSpPr bwMode="auto">
          <a:xfrm>
            <a:off x="3927475" y="1881188"/>
            <a:ext cx="1981200" cy="2185987"/>
            <a:chOff x="2592" y="1152"/>
            <a:chExt cx="1248" cy="1377"/>
          </a:xfrm>
        </p:grpSpPr>
        <p:grpSp>
          <p:nvGrpSpPr>
            <p:cNvPr id="54332" name="Group 20"/>
            <p:cNvGrpSpPr/>
            <p:nvPr/>
          </p:nvGrpSpPr>
          <p:grpSpPr bwMode="auto">
            <a:xfrm>
              <a:off x="2592" y="1152"/>
              <a:ext cx="1248" cy="1091"/>
              <a:chOff x="2592" y="1152"/>
              <a:chExt cx="1248" cy="1091"/>
            </a:xfrm>
          </p:grpSpPr>
          <p:grpSp>
            <p:nvGrpSpPr>
              <p:cNvPr id="54334" name="Group 21"/>
              <p:cNvGrpSpPr/>
              <p:nvPr/>
            </p:nvGrpSpPr>
            <p:grpSpPr bwMode="auto">
              <a:xfrm>
                <a:off x="2592" y="1152"/>
                <a:ext cx="1248" cy="1091"/>
                <a:chOff x="2592" y="1152"/>
                <a:chExt cx="1248" cy="1091"/>
              </a:xfrm>
            </p:grpSpPr>
            <p:grpSp>
              <p:nvGrpSpPr>
                <p:cNvPr id="54336" name="Group 22"/>
                <p:cNvGrpSpPr/>
                <p:nvPr/>
              </p:nvGrpSpPr>
              <p:grpSpPr bwMode="auto">
                <a:xfrm>
                  <a:off x="2592" y="1152"/>
                  <a:ext cx="263" cy="818"/>
                  <a:chOff x="2592" y="1287"/>
                  <a:chExt cx="263" cy="818"/>
                </a:xfrm>
              </p:grpSpPr>
              <p:sp>
                <p:nvSpPr>
                  <p:cNvPr id="54344" name="Freeform 23"/>
                  <p:cNvSpPr/>
                  <p:nvPr/>
                </p:nvSpPr>
                <p:spPr bwMode="auto">
                  <a:xfrm>
                    <a:off x="2592"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45" name="Text Box 24"/>
                  <p:cNvSpPr txBox="1">
                    <a:spLocks noChangeArrowheads="1"/>
                  </p:cNvSpPr>
                  <p:nvPr/>
                </p:nvSpPr>
                <p:spPr bwMode="auto">
                  <a:xfrm>
                    <a:off x="2620"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30000"/>
                      </a:lnSpc>
                    </a:pPr>
                    <a:r>
                      <a:rPr lang="en-US" altLang="zh-CN" sz="1800" b="1">
                        <a:latin typeface="+mn-lt"/>
                      </a:rPr>
                      <a:t>t1</a:t>
                    </a:r>
                    <a:endParaRPr lang="en-US" altLang="zh-CN" sz="1800" b="1">
                      <a:latin typeface="+mn-lt"/>
                    </a:endParaRPr>
                  </a:p>
                </p:txBody>
              </p:sp>
              <p:sp>
                <p:nvSpPr>
                  <p:cNvPr id="54346" name="Line 25"/>
                  <p:cNvSpPr>
                    <a:spLocks noChangeShapeType="1"/>
                  </p:cNvSpPr>
                  <p:nvPr/>
                </p:nvSpPr>
                <p:spPr bwMode="auto">
                  <a:xfrm>
                    <a:off x="2592" y="193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47" name="Line 26"/>
                  <p:cNvSpPr>
                    <a:spLocks noChangeShapeType="1"/>
                  </p:cNvSpPr>
                  <p:nvPr/>
                </p:nvSpPr>
                <p:spPr bwMode="auto">
                  <a:xfrm>
                    <a:off x="2592" y="174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48" name="Line 27"/>
                  <p:cNvSpPr>
                    <a:spLocks noChangeShapeType="1"/>
                  </p:cNvSpPr>
                  <p:nvPr/>
                </p:nvSpPr>
                <p:spPr bwMode="auto">
                  <a:xfrm>
                    <a:off x="2601" y="1560"/>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grpSp>
              <p:nvGrpSpPr>
                <p:cNvPr id="54337" name="Group 28"/>
                <p:cNvGrpSpPr/>
                <p:nvPr/>
              </p:nvGrpSpPr>
              <p:grpSpPr bwMode="auto">
                <a:xfrm>
                  <a:off x="3577" y="1152"/>
                  <a:ext cx="263" cy="818"/>
                  <a:chOff x="3577" y="1287"/>
                  <a:chExt cx="263" cy="818"/>
                </a:xfrm>
              </p:grpSpPr>
              <p:sp>
                <p:nvSpPr>
                  <p:cNvPr id="54339" name="Freeform 29"/>
                  <p:cNvSpPr/>
                  <p:nvPr/>
                </p:nvSpPr>
                <p:spPr bwMode="auto">
                  <a:xfrm>
                    <a:off x="3577"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40" name="Text Box 30"/>
                  <p:cNvSpPr txBox="1">
                    <a:spLocks noChangeArrowheads="1"/>
                  </p:cNvSpPr>
                  <p:nvPr/>
                </p:nvSpPr>
                <p:spPr bwMode="auto">
                  <a:xfrm>
                    <a:off x="3605"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30000"/>
                      </a:lnSpc>
                    </a:pPr>
                    <a:r>
                      <a:rPr lang="en-US" altLang="zh-CN" sz="1800" b="1">
                        <a:latin typeface="+mn-lt"/>
                      </a:rPr>
                      <a:t>+</a:t>
                    </a:r>
                    <a:endParaRPr lang="en-US" altLang="zh-CN" sz="1800" b="1">
                      <a:latin typeface="+mn-lt"/>
                    </a:endParaRPr>
                  </a:p>
                </p:txBody>
              </p:sp>
              <p:sp>
                <p:nvSpPr>
                  <p:cNvPr id="54341" name="Line 31"/>
                  <p:cNvSpPr>
                    <a:spLocks noChangeShapeType="1"/>
                  </p:cNvSpPr>
                  <p:nvPr/>
                </p:nvSpPr>
                <p:spPr bwMode="auto">
                  <a:xfrm>
                    <a:off x="3577" y="193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42" name="Line 32"/>
                  <p:cNvSpPr>
                    <a:spLocks noChangeShapeType="1"/>
                  </p:cNvSpPr>
                  <p:nvPr/>
                </p:nvSpPr>
                <p:spPr bwMode="auto">
                  <a:xfrm>
                    <a:off x="3577" y="174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43" name="Line 33"/>
                  <p:cNvSpPr>
                    <a:spLocks noChangeShapeType="1"/>
                  </p:cNvSpPr>
                  <p:nvPr/>
                </p:nvSpPr>
                <p:spPr bwMode="auto">
                  <a:xfrm>
                    <a:off x="3586" y="1560"/>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sp>
              <p:nvSpPr>
                <p:cNvPr id="54338" name="Text Box 34"/>
                <p:cNvSpPr txBox="1">
                  <a:spLocks noChangeArrowheads="1"/>
                </p:cNvSpPr>
                <p:nvPr/>
              </p:nvSpPr>
              <p:spPr bwMode="auto">
                <a:xfrm>
                  <a:off x="2690"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u="sng">
                      <a:latin typeface="+mn-lt"/>
                    </a:rPr>
                    <a:t>a/b</a:t>
                  </a:r>
                  <a:r>
                    <a:rPr lang="en-US" altLang="zh-CN" b="1">
                      <a:latin typeface="+mn-lt"/>
                    </a:rPr>
                    <a:t>+c*d</a:t>
                  </a:r>
                  <a:endParaRPr lang="en-US" altLang="zh-CN" b="1">
                    <a:latin typeface="+mn-lt"/>
                  </a:endParaRPr>
                </a:p>
              </p:txBody>
            </p:sp>
          </p:grpSp>
          <p:sp>
            <p:nvSpPr>
              <p:cNvPr id="54335" name="Text Box 35"/>
              <p:cNvSpPr txBox="1">
                <a:spLocks noChangeArrowheads="1"/>
              </p:cNvSpPr>
              <p:nvPr/>
            </p:nvSpPr>
            <p:spPr bwMode="auto">
              <a:xfrm>
                <a:off x="3000" y="1822"/>
                <a:ext cx="60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latin typeface="+mn-lt"/>
                  </a:rPr>
                  <a:t>t1=a/b</a:t>
                </a:r>
                <a:endParaRPr lang="en-US" altLang="zh-CN" sz="1800" b="1">
                  <a:latin typeface="+mn-lt"/>
                </a:endParaRPr>
              </a:p>
            </p:txBody>
          </p:sp>
        </p:grpSp>
        <p:sp>
          <p:nvSpPr>
            <p:cNvPr id="54333" name="Text Box 36"/>
            <p:cNvSpPr txBox="1">
              <a:spLocks noChangeArrowheads="1"/>
            </p:cNvSpPr>
            <p:nvPr/>
          </p:nvSpPr>
          <p:spPr bwMode="auto">
            <a:xfrm>
              <a:off x="3074"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solidFill>
                    <a:srgbClr val="FFFF00"/>
                  </a:solidFill>
                  <a:latin typeface="+mn-lt"/>
                </a:rPr>
                <a:t>(b)</a:t>
              </a:r>
              <a:endParaRPr lang="en-US" altLang="zh-CN" sz="1800" b="1" dirty="0">
                <a:solidFill>
                  <a:srgbClr val="FFFF00"/>
                </a:solidFill>
                <a:latin typeface="+mn-lt"/>
              </a:endParaRPr>
            </a:p>
          </p:txBody>
        </p:sp>
      </p:grpSp>
      <p:grpSp>
        <p:nvGrpSpPr>
          <p:cNvPr id="54279" name="Group 37"/>
          <p:cNvGrpSpPr/>
          <p:nvPr/>
        </p:nvGrpSpPr>
        <p:grpSpPr bwMode="auto">
          <a:xfrm>
            <a:off x="6762750" y="1881188"/>
            <a:ext cx="1508125" cy="2185987"/>
            <a:chOff x="4378" y="1152"/>
            <a:chExt cx="950" cy="1377"/>
          </a:xfrm>
        </p:grpSpPr>
        <p:grpSp>
          <p:nvGrpSpPr>
            <p:cNvPr id="54315" name="Group 38"/>
            <p:cNvGrpSpPr/>
            <p:nvPr/>
          </p:nvGrpSpPr>
          <p:grpSpPr bwMode="auto">
            <a:xfrm>
              <a:off x="4378" y="1152"/>
              <a:ext cx="950" cy="1091"/>
              <a:chOff x="4378" y="1152"/>
              <a:chExt cx="950" cy="1091"/>
            </a:xfrm>
          </p:grpSpPr>
          <p:grpSp>
            <p:nvGrpSpPr>
              <p:cNvPr id="54317" name="Group 39"/>
              <p:cNvGrpSpPr/>
              <p:nvPr/>
            </p:nvGrpSpPr>
            <p:grpSpPr bwMode="auto">
              <a:xfrm>
                <a:off x="4378" y="1152"/>
                <a:ext cx="950" cy="1091"/>
                <a:chOff x="4378" y="1152"/>
                <a:chExt cx="950" cy="1091"/>
              </a:xfrm>
            </p:grpSpPr>
            <p:grpSp>
              <p:nvGrpSpPr>
                <p:cNvPr id="54319" name="Group 40"/>
                <p:cNvGrpSpPr/>
                <p:nvPr/>
              </p:nvGrpSpPr>
              <p:grpSpPr bwMode="auto">
                <a:xfrm>
                  <a:off x="4378" y="1152"/>
                  <a:ext cx="263" cy="818"/>
                  <a:chOff x="4378" y="1287"/>
                  <a:chExt cx="263" cy="818"/>
                </a:xfrm>
              </p:grpSpPr>
              <p:sp>
                <p:nvSpPr>
                  <p:cNvPr id="54327" name="Freeform 41"/>
                  <p:cNvSpPr/>
                  <p:nvPr/>
                </p:nvSpPr>
                <p:spPr bwMode="auto">
                  <a:xfrm>
                    <a:off x="4378"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28" name="Text Box 42"/>
                  <p:cNvSpPr txBox="1">
                    <a:spLocks noChangeArrowheads="1"/>
                  </p:cNvSpPr>
                  <p:nvPr/>
                </p:nvSpPr>
                <p:spPr bwMode="auto">
                  <a:xfrm>
                    <a:off x="4406"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30000"/>
                      </a:lnSpc>
                    </a:pPr>
                    <a:endParaRPr lang="en-US" altLang="zh-CN" sz="1800" b="1">
                      <a:latin typeface="+mn-lt"/>
                    </a:endParaRPr>
                  </a:p>
                  <a:p>
                    <a:pPr algn="ctr" eaLnBrk="1" hangingPunct="1">
                      <a:lnSpc>
                        <a:spcPct val="130000"/>
                      </a:lnSpc>
                    </a:pPr>
                    <a:r>
                      <a:rPr lang="en-US" altLang="zh-CN" sz="1800" b="1">
                        <a:latin typeface="+mn-lt"/>
                      </a:rPr>
                      <a:t>d</a:t>
                    </a:r>
                    <a:endParaRPr lang="en-US" altLang="zh-CN" sz="1800" b="1">
                      <a:latin typeface="+mn-lt"/>
                    </a:endParaRPr>
                  </a:p>
                  <a:p>
                    <a:pPr algn="ctr" eaLnBrk="1" hangingPunct="1"/>
                    <a:r>
                      <a:rPr lang="en-US" altLang="zh-CN" sz="1800" b="1">
                        <a:latin typeface="+mn-lt"/>
                      </a:rPr>
                      <a:t>c</a:t>
                    </a:r>
                    <a:endParaRPr lang="en-US" altLang="zh-CN" sz="1800" b="1">
                      <a:latin typeface="+mn-lt"/>
                    </a:endParaRPr>
                  </a:p>
                  <a:p>
                    <a:pPr algn="ctr" eaLnBrk="1" hangingPunct="1"/>
                    <a:r>
                      <a:rPr lang="en-US" altLang="zh-CN" sz="1800" b="1">
                        <a:latin typeface="+mn-lt"/>
                      </a:rPr>
                      <a:t>t1</a:t>
                    </a:r>
                    <a:endParaRPr lang="en-US" altLang="zh-CN" sz="1800" b="1">
                      <a:latin typeface="+mn-lt"/>
                    </a:endParaRPr>
                  </a:p>
                </p:txBody>
              </p:sp>
              <p:sp>
                <p:nvSpPr>
                  <p:cNvPr id="54329" name="Line 43"/>
                  <p:cNvSpPr>
                    <a:spLocks noChangeShapeType="1"/>
                  </p:cNvSpPr>
                  <p:nvPr/>
                </p:nvSpPr>
                <p:spPr bwMode="auto">
                  <a:xfrm>
                    <a:off x="4378" y="193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30" name="Line 44"/>
                  <p:cNvSpPr>
                    <a:spLocks noChangeShapeType="1"/>
                  </p:cNvSpPr>
                  <p:nvPr/>
                </p:nvSpPr>
                <p:spPr bwMode="auto">
                  <a:xfrm>
                    <a:off x="4378" y="174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31" name="Line 45"/>
                  <p:cNvSpPr>
                    <a:spLocks noChangeShapeType="1"/>
                  </p:cNvSpPr>
                  <p:nvPr/>
                </p:nvSpPr>
                <p:spPr bwMode="auto">
                  <a:xfrm>
                    <a:off x="4387" y="1560"/>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grpSp>
              <p:nvGrpSpPr>
                <p:cNvPr id="54320" name="Group 46"/>
                <p:cNvGrpSpPr/>
                <p:nvPr/>
              </p:nvGrpSpPr>
              <p:grpSpPr bwMode="auto">
                <a:xfrm>
                  <a:off x="5065" y="1152"/>
                  <a:ext cx="263" cy="818"/>
                  <a:chOff x="5065" y="1287"/>
                  <a:chExt cx="263" cy="818"/>
                </a:xfrm>
              </p:grpSpPr>
              <p:sp>
                <p:nvSpPr>
                  <p:cNvPr id="54322" name="Freeform 47"/>
                  <p:cNvSpPr/>
                  <p:nvPr/>
                </p:nvSpPr>
                <p:spPr bwMode="auto">
                  <a:xfrm>
                    <a:off x="5065" y="1287"/>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23" name="Text Box 48"/>
                  <p:cNvSpPr txBox="1">
                    <a:spLocks noChangeArrowheads="1"/>
                  </p:cNvSpPr>
                  <p:nvPr/>
                </p:nvSpPr>
                <p:spPr bwMode="auto">
                  <a:xfrm>
                    <a:off x="5093" y="1317"/>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b="1">
                      <a:latin typeface="+mn-lt"/>
                    </a:endParaRPr>
                  </a:p>
                  <a:p>
                    <a:pPr algn="ctr" eaLnBrk="1" hangingPunct="1">
                      <a:lnSpc>
                        <a:spcPct val="120000"/>
                      </a:lnSpc>
                    </a:pPr>
                    <a:endParaRPr lang="en-US" altLang="zh-CN" sz="1800" b="1">
                      <a:latin typeface="+mn-lt"/>
                    </a:endParaRPr>
                  </a:p>
                  <a:p>
                    <a:pPr algn="ctr" eaLnBrk="1" hangingPunct="1">
                      <a:lnSpc>
                        <a:spcPct val="130000"/>
                      </a:lnSpc>
                    </a:pPr>
                    <a:r>
                      <a:rPr lang="en-US" altLang="zh-CN" sz="1800" b="1">
                        <a:latin typeface="+mn-lt"/>
                      </a:rPr>
                      <a:t>*</a:t>
                    </a:r>
                    <a:endParaRPr lang="en-US" altLang="zh-CN" sz="1800" b="1">
                      <a:latin typeface="+mn-lt"/>
                    </a:endParaRPr>
                  </a:p>
                  <a:p>
                    <a:pPr algn="ctr" eaLnBrk="1" hangingPunct="1"/>
                    <a:r>
                      <a:rPr lang="en-US" altLang="zh-CN" sz="1800" b="1">
                        <a:latin typeface="+mn-lt"/>
                      </a:rPr>
                      <a:t>+</a:t>
                    </a:r>
                    <a:endParaRPr lang="en-US" altLang="zh-CN" sz="1800" b="1">
                      <a:latin typeface="+mn-lt"/>
                    </a:endParaRPr>
                  </a:p>
                </p:txBody>
              </p:sp>
              <p:sp>
                <p:nvSpPr>
                  <p:cNvPr id="54324" name="Line 49"/>
                  <p:cNvSpPr>
                    <a:spLocks noChangeShapeType="1"/>
                  </p:cNvSpPr>
                  <p:nvPr/>
                </p:nvSpPr>
                <p:spPr bwMode="auto">
                  <a:xfrm>
                    <a:off x="5065" y="193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25" name="Line 50"/>
                  <p:cNvSpPr>
                    <a:spLocks noChangeShapeType="1"/>
                  </p:cNvSpPr>
                  <p:nvPr/>
                </p:nvSpPr>
                <p:spPr bwMode="auto">
                  <a:xfrm>
                    <a:off x="5065" y="174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26" name="Line 51"/>
                  <p:cNvSpPr>
                    <a:spLocks noChangeShapeType="1"/>
                  </p:cNvSpPr>
                  <p:nvPr/>
                </p:nvSpPr>
                <p:spPr bwMode="auto">
                  <a:xfrm>
                    <a:off x="5074" y="1560"/>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sp>
              <p:nvSpPr>
                <p:cNvPr id="54321" name="Text Box 52"/>
                <p:cNvSpPr txBox="1">
                  <a:spLocks noChangeArrowheads="1"/>
                </p:cNvSpPr>
                <p:nvPr/>
              </p:nvSpPr>
              <p:spPr bwMode="auto">
                <a:xfrm>
                  <a:off x="4378" y="2055"/>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u="sng">
                      <a:latin typeface="+mn-lt"/>
                    </a:rPr>
                    <a:t>a/b+c*d</a:t>
                  </a:r>
                  <a:endParaRPr lang="en-US" altLang="zh-CN" b="1">
                    <a:latin typeface="+mn-lt"/>
                  </a:endParaRPr>
                </a:p>
              </p:txBody>
            </p:sp>
          </p:grpSp>
          <p:sp>
            <p:nvSpPr>
              <p:cNvPr id="54318" name="Text Box 53"/>
              <p:cNvSpPr txBox="1">
                <a:spLocks noChangeArrowheads="1"/>
              </p:cNvSpPr>
              <p:nvPr/>
            </p:nvSpPr>
            <p:spPr bwMode="auto">
              <a:xfrm>
                <a:off x="4688" y="1822"/>
                <a:ext cx="34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endParaRPr lang="zh-CN" altLang="zh-CN" sz="1800" b="1">
                  <a:latin typeface="+mn-lt"/>
                </a:endParaRPr>
              </a:p>
            </p:txBody>
          </p:sp>
        </p:grpSp>
        <p:sp>
          <p:nvSpPr>
            <p:cNvPr id="54316" name="Text Box 54"/>
            <p:cNvSpPr txBox="1">
              <a:spLocks noChangeArrowheads="1"/>
            </p:cNvSpPr>
            <p:nvPr/>
          </p:nvSpPr>
          <p:spPr bwMode="auto">
            <a:xfrm>
              <a:off x="4767" y="2351"/>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rPr>
                <a:t>(c)</a:t>
              </a:r>
              <a:endParaRPr lang="en-US" altLang="zh-CN" sz="1800" b="1">
                <a:solidFill>
                  <a:srgbClr val="FFFF00"/>
                </a:solidFill>
                <a:latin typeface="+mn-lt"/>
              </a:endParaRPr>
            </a:p>
          </p:txBody>
        </p:sp>
      </p:grpSp>
      <p:grpSp>
        <p:nvGrpSpPr>
          <p:cNvPr id="54280" name="Group 55"/>
          <p:cNvGrpSpPr/>
          <p:nvPr/>
        </p:nvGrpSpPr>
        <p:grpSpPr bwMode="auto">
          <a:xfrm>
            <a:off x="4083050" y="4267200"/>
            <a:ext cx="1825625" cy="2185988"/>
            <a:chOff x="2690" y="2655"/>
            <a:chExt cx="1150" cy="1377"/>
          </a:xfrm>
        </p:grpSpPr>
        <p:grpSp>
          <p:nvGrpSpPr>
            <p:cNvPr id="54299" name="Group 56"/>
            <p:cNvGrpSpPr/>
            <p:nvPr/>
          </p:nvGrpSpPr>
          <p:grpSpPr bwMode="auto">
            <a:xfrm>
              <a:off x="2690" y="2655"/>
              <a:ext cx="1150" cy="1091"/>
              <a:chOff x="2690" y="2655"/>
              <a:chExt cx="1150" cy="1091"/>
            </a:xfrm>
          </p:grpSpPr>
          <p:grpSp>
            <p:nvGrpSpPr>
              <p:cNvPr id="54301" name="Group 57"/>
              <p:cNvGrpSpPr/>
              <p:nvPr/>
            </p:nvGrpSpPr>
            <p:grpSpPr bwMode="auto">
              <a:xfrm>
                <a:off x="2690" y="2655"/>
                <a:ext cx="263" cy="818"/>
                <a:chOff x="2690" y="2655"/>
                <a:chExt cx="263" cy="818"/>
              </a:xfrm>
            </p:grpSpPr>
            <p:sp>
              <p:nvSpPr>
                <p:cNvPr id="54310" name="Freeform 58"/>
                <p:cNvSpPr/>
                <p:nvPr/>
              </p:nvSpPr>
              <p:spPr bwMode="auto">
                <a:xfrm>
                  <a:off x="2690"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11" name="Text Box 59"/>
                <p:cNvSpPr txBox="1">
                  <a:spLocks noChangeArrowheads="1"/>
                </p:cNvSpPr>
                <p:nvPr/>
              </p:nvSpPr>
              <p:spPr bwMode="auto">
                <a:xfrm>
                  <a:off x="2718"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pPr>
                  <a:endParaRPr lang="en-US" altLang="zh-CN" sz="1800" b="1">
                    <a:latin typeface="+mn-lt"/>
                  </a:endParaRPr>
                </a:p>
                <a:p>
                  <a:pPr algn="ctr" eaLnBrk="1" hangingPunct="1">
                    <a:lnSpc>
                      <a:spcPct val="110000"/>
                    </a:lnSpc>
                  </a:pPr>
                  <a:endParaRPr lang="en-US" altLang="zh-CN" sz="1800" b="1">
                    <a:latin typeface="+mn-lt"/>
                  </a:endParaRPr>
                </a:p>
                <a:p>
                  <a:pPr algn="ctr" eaLnBrk="1" hangingPunct="1">
                    <a:lnSpc>
                      <a:spcPct val="130000"/>
                    </a:lnSpc>
                  </a:pPr>
                  <a:endParaRPr lang="en-US" altLang="zh-CN" sz="1800" b="1">
                    <a:latin typeface="+mn-lt"/>
                  </a:endParaRPr>
                </a:p>
                <a:p>
                  <a:pPr algn="ctr" eaLnBrk="1" hangingPunct="1">
                    <a:lnSpc>
                      <a:spcPct val="110000"/>
                    </a:lnSpc>
                  </a:pPr>
                  <a:r>
                    <a:rPr lang="en-US" altLang="zh-CN" sz="1800" b="1">
                      <a:latin typeface="+mn-lt"/>
                    </a:rPr>
                    <a:t>t3</a:t>
                  </a:r>
                  <a:endParaRPr lang="en-US" altLang="zh-CN" sz="1800" b="1">
                    <a:latin typeface="+mn-lt"/>
                  </a:endParaRPr>
                </a:p>
              </p:txBody>
            </p:sp>
            <p:sp>
              <p:nvSpPr>
                <p:cNvPr id="54312" name="Line 60"/>
                <p:cNvSpPr>
                  <a:spLocks noChangeShapeType="1"/>
                </p:cNvSpPr>
                <p:nvPr/>
              </p:nvSpPr>
              <p:spPr bwMode="auto">
                <a:xfrm>
                  <a:off x="2690" y="3304"/>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13" name="Line 61"/>
                <p:cNvSpPr>
                  <a:spLocks noChangeShapeType="1"/>
                </p:cNvSpPr>
                <p:nvPr/>
              </p:nvSpPr>
              <p:spPr bwMode="auto">
                <a:xfrm>
                  <a:off x="2690" y="311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14" name="Line 62"/>
                <p:cNvSpPr>
                  <a:spLocks noChangeShapeType="1"/>
                </p:cNvSpPr>
                <p:nvPr/>
              </p:nvSpPr>
              <p:spPr bwMode="auto">
                <a:xfrm>
                  <a:off x="2699" y="292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grpSp>
            <p:nvGrpSpPr>
              <p:cNvPr id="54302" name="Group 63"/>
              <p:cNvGrpSpPr/>
              <p:nvPr/>
            </p:nvGrpSpPr>
            <p:grpSpPr bwMode="auto">
              <a:xfrm>
                <a:off x="3577" y="2655"/>
                <a:ext cx="263" cy="818"/>
                <a:chOff x="3577" y="2655"/>
                <a:chExt cx="263" cy="818"/>
              </a:xfrm>
            </p:grpSpPr>
            <p:sp>
              <p:nvSpPr>
                <p:cNvPr id="54305" name="Freeform 64"/>
                <p:cNvSpPr/>
                <p:nvPr/>
              </p:nvSpPr>
              <p:spPr bwMode="auto">
                <a:xfrm>
                  <a:off x="3577"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306" name="Text Box 65"/>
                <p:cNvSpPr txBox="1">
                  <a:spLocks noChangeArrowheads="1"/>
                </p:cNvSpPr>
                <p:nvPr/>
              </p:nvSpPr>
              <p:spPr bwMode="auto">
                <a:xfrm>
                  <a:off x="3605"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1800" b="1">
                    <a:latin typeface="+mn-lt"/>
                  </a:endParaRPr>
                </a:p>
                <a:p>
                  <a:pPr algn="ctr" eaLnBrk="1" hangingPunct="1"/>
                  <a:endParaRPr lang="en-US" altLang="zh-CN" sz="1800" b="1">
                    <a:latin typeface="+mn-lt"/>
                  </a:endParaRPr>
                </a:p>
                <a:p>
                  <a:pPr algn="ctr" eaLnBrk="1" hangingPunct="1"/>
                  <a:endParaRPr lang="en-US" altLang="zh-CN" sz="1800" b="1">
                    <a:latin typeface="+mn-lt"/>
                  </a:endParaRPr>
                </a:p>
                <a:p>
                  <a:pPr algn="ctr" eaLnBrk="1" hangingPunct="1"/>
                  <a:endParaRPr lang="en-US" altLang="zh-CN" sz="1800" b="1">
                    <a:latin typeface="+mn-lt"/>
                  </a:endParaRPr>
                </a:p>
              </p:txBody>
            </p:sp>
            <p:sp>
              <p:nvSpPr>
                <p:cNvPr id="54307" name="Line 66"/>
                <p:cNvSpPr>
                  <a:spLocks noChangeShapeType="1"/>
                </p:cNvSpPr>
                <p:nvPr/>
              </p:nvSpPr>
              <p:spPr bwMode="auto">
                <a:xfrm>
                  <a:off x="3577" y="3304"/>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08" name="Line 67"/>
                <p:cNvSpPr>
                  <a:spLocks noChangeShapeType="1"/>
                </p:cNvSpPr>
                <p:nvPr/>
              </p:nvSpPr>
              <p:spPr bwMode="auto">
                <a:xfrm>
                  <a:off x="3577" y="311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309" name="Line 68"/>
                <p:cNvSpPr>
                  <a:spLocks noChangeShapeType="1"/>
                </p:cNvSpPr>
                <p:nvPr/>
              </p:nvSpPr>
              <p:spPr bwMode="auto">
                <a:xfrm>
                  <a:off x="3586" y="292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sp>
            <p:nvSpPr>
              <p:cNvPr id="54303" name="Text Box 69"/>
              <p:cNvSpPr txBox="1">
                <a:spLocks noChangeArrowheads="1"/>
              </p:cNvSpPr>
              <p:nvPr/>
            </p:nvSpPr>
            <p:spPr bwMode="auto">
              <a:xfrm>
                <a:off x="2690" y="3558"/>
                <a:ext cx="949"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u="sng">
                    <a:latin typeface="+mn-lt"/>
                  </a:rPr>
                  <a:t>a/b+c*d</a:t>
                </a:r>
                <a:endParaRPr lang="en-US" altLang="zh-CN" b="1">
                  <a:latin typeface="+mn-lt"/>
                </a:endParaRPr>
              </a:p>
            </p:txBody>
          </p:sp>
          <p:sp>
            <p:nvSpPr>
              <p:cNvPr id="54304" name="Text Box 70"/>
              <p:cNvSpPr txBox="1">
                <a:spLocks noChangeArrowheads="1"/>
              </p:cNvSpPr>
              <p:nvPr/>
            </p:nvSpPr>
            <p:spPr bwMode="auto">
              <a:xfrm>
                <a:off x="3000" y="3325"/>
                <a:ext cx="57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latin typeface="+mn-lt"/>
                  </a:rPr>
                  <a:t>t3=t1+t2</a:t>
                </a:r>
                <a:endParaRPr lang="en-US" altLang="zh-CN" sz="1800" b="1">
                  <a:latin typeface="+mn-lt"/>
                </a:endParaRPr>
              </a:p>
            </p:txBody>
          </p:sp>
        </p:grpSp>
        <p:sp>
          <p:nvSpPr>
            <p:cNvPr id="54300" name="Text Box 71"/>
            <p:cNvSpPr txBox="1">
              <a:spLocks noChangeArrowheads="1"/>
            </p:cNvSpPr>
            <p:nvPr/>
          </p:nvSpPr>
          <p:spPr bwMode="auto">
            <a:xfrm>
              <a:off x="3047"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solidFill>
                    <a:srgbClr val="FFFF00"/>
                  </a:solidFill>
                  <a:latin typeface="+mn-lt"/>
                </a:rPr>
                <a:t>(e)</a:t>
              </a:r>
              <a:endParaRPr lang="en-US" altLang="zh-CN" sz="1800" b="1" dirty="0">
                <a:solidFill>
                  <a:srgbClr val="FFFF00"/>
                </a:solidFill>
                <a:latin typeface="+mn-lt"/>
              </a:endParaRPr>
            </a:p>
          </p:txBody>
        </p:sp>
      </p:grpSp>
      <p:grpSp>
        <p:nvGrpSpPr>
          <p:cNvPr id="54281" name="Group 72"/>
          <p:cNvGrpSpPr/>
          <p:nvPr/>
        </p:nvGrpSpPr>
        <p:grpSpPr bwMode="auto">
          <a:xfrm>
            <a:off x="1403350" y="4267200"/>
            <a:ext cx="1609725" cy="2185988"/>
            <a:chOff x="1002" y="2655"/>
            <a:chExt cx="1014" cy="1377"/>
          </a:xfrm>
        </p:grpSpPr>
        <p:grpSp>
          <p:nvGrpSpPr>
            <p:cNvPr id="54282" name="Group 73"/>
            <p:cNvGrpSpPr/>
            <p:nvPr/>
          </p:nvGrpSpPr>
          <p:grpSpPr bwMode="auto">
            <a:xfrm>
              <a:off x="1002" y="2655"/>
              <a:ext cx="1014" cy="1091"/>
              <a:chOff x="1002" y="2655"/>
              <a:chExt cx="1014" cy="1091"/>
            </a:xfrm>
          </p:grpSpPr>
          <p:grpSp>
            <p:nvGrpSpPr>
              <p:cNvPr id="54284" name="Group 74"/>
              <p:cNvGrpSpPr/>
              <p:nvPr/>
            </p:nvGrpSpPr>
            <p:grpSpPr bwMode="auto">
              <a:xfrm>
                <a:off x="1002" y="2655"/>
                <a:ext cx="1014" cy="1091"/>
                <a:chOff x="1002" y="2655"/>
                <a:chExt cx="1014" cy="1091"/>
              </a:xfrm>
            </p:grpSpPr>
            <p:grpSp>
              <p:nvGrpSpPr>
                <p:cNvPr id="54286" name="Group 75"/>
                <p:cNvGrpSpPr/>
                <p:nvPr/>
              </p:nvGrpSpPr>
              <p:grpSpPr bwMode="auto">
                <a:xfrm>
                  <a:off x="1002" y="2655"/>
                  <a:ext cx="263" cy="818"/>
                  <a:chOff x="1002" y="2655"/>
                  <a:chExt cx="263" cy="818"/>
                </a:xfrm>
              </p:grpSpPr>
              <p:sp>
                <p:nvSpPr>
                  <p:cNvPr id="54294" name="Freeform 76"/>
                  <p:cNvSpPr/>
                  <p:nvPr/>
                </p:nvSpPr>
                <p:spPr bwMode="auto">
                  <a:xfrm>
                    <a:off x="1002"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295" name="Text Box 77"/>
                  <p:cNvSpPr txBox="1">
                    <a:spLocks noChangeArrowheads="1"/>
                  </p:cNvSpPr>
                  <p:nvPr/>
                </p:nvSpPr>
                <p:spPr bwMode="auto">
                  <a:xfrm>
                    <a:off x="1030"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b="1">
                      <a:latin typeface="+mn-lt"/>
                    </a:endParaRPr>
                  </a:p>
                  <a:p>
                    <a:pPr algn="ctr" eaLnBrk="1" hangingPunct="1">
                      <a:lnSpc>
                        <a:spcPct val="120000"/>
                      </a:lnSpc>
                    </a:pPr>
                    <a:endParaRPr lang="en-US" altLang="zh-CN" sz="1800" b="1">
                      <a:latin typeface="+mn-lt"/>
                    </a:endParaRPr>
                  </a:p>
                  <a:p>
                    <a:pPr algn="ctr" eaLnBrk="1" hangingPunct="1">
                      <a:lnSpc>
                        <a:spcPct val="110000"/>
                      </a:lnSpc>
                    </a:pPr>
                    <a:r>
                      <a:rPr lang="en-US" altLang="zh-CN" sz="1800" b="1">
                        <a:latin typeface="+mn-lt"/>
                      </a:rPr>
                      <a:t>t2</a:t>
                    </a:r>
                    <a:endParaRPr lang="en-US" altLang="zh-CN" sz="1800" b="1">
                      <a:latin typeface="+mn-lt"/>
                    </a:endParaRPr>
                  </a:p>
                  <a:p>
                    <a:pPr algn="ctr" eaLnBrk="1" hangingPunct="1">
                      <a:lnSpc>
                        <a:spcPct val="110000"/>
                      </a:lnSpc>
                    </a:pPr>
                    <a:r>
                      <a:rPr lang="en-US" altLang="zh-CN" sz="1800" b="1">
                        <a:latin typeface="+mn-lt"/>
                      </a:rPr>
                      <a:t>t1</a:t>
                    </a:r>
                    <a:endParaRPr lang="en-US" altLang="zh-CN" sz="1800" b="1">
                      <a:latin typeface="+mn-lt"/>
                    </a:endParaRPr>
                  </a:p>
                </p:txBody>
              </p:sp>
              <p:sp>
                <p:nvSpPr>
                  <p:cNvPr id="54296" name="Line 78"/>
                  <p:cNvSpPr>
                    <a:spLocks noChangeShapeType="1"/>
                  </p:cNvSpPr>
                  <p:nvPr/>
                </p:nvSpPr>
                <p:spPr bwMode="auto">
                  <a:xfrm>
                    <a:off x="1002" y="3304"/>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297" name="Line 79"/>
                  <p:cNvSpPr>
                    <a:spLocks noChangeShapeType="1"/>
                  </p:cNvSpPr>
                  <p:nvPr/>
                </p:nvSpPr>
                <p:spPr bwMode="auto">
                  <a:xfrm>
                    <a:off x="1002" y="311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298" name="Line 80"/>
                  <p:cNvSpPr>
                    <a:spLocks noChangeShapeType="1"/>
                  </p:cNvSpPr>
                  <p:nvPr/>
                </p:nvSpPr>
                <p:spPr bwMode="auto">
                  <a:xfrm>
                    <a:off x="1011" y="292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grpSp>
              <p:nvGrpSpPr>
                <p:cNvPr id="54287" name="Group 81"/>
                <p:cNvGrpSpPr/>
                <p:nvPr/>
              </p:nvGrpSpPr>
              <p:grpSpPr bwMode="auto">
                <a:xfrm>
                  <a:off x="1753" y="2655"/>
                  <a:ext cx="263" cy="818"/>
                  <a:chOff x="1753" y="2655"/>
                  <a:chExt cx="263" cy="818"/>
                </a:xfrm>
              </p:grpSpPr>
              <p:sp>
                <p:nvSpPr>
                  <p:cNvPr id="54289" name="Freeform 82"/>
                  <p:cNvSpPr/>
                  <p:nvPr/>
                </p:nvSpPr>
                <p:spPr bwMode="auto">
                  <a:xfrm>
                    <a:off x="1753" y="2655"/>
                    <a:ext cx="254" cy="818"/>
                  </a:xfrm>
                  <a:custGeom>
                    <a:avLst/>
                    <a:gdLst>
                      <a:gd name="T0" fmla="*/ 0 w 405"/>
                      <a:gd name="T1" fmla="*/ 0 h 1305"/>
                      <a:gd name="T2" fmla="*/ 0 w 405"/>
                      <a:gd name="T3" fmla="*/ 1 h 1305"/>
                      <a:gd name="T4" fmla="*/ 1 w 405"/>
                      <a:gd name="T5" fmla="*/ 1 h 1305"/>
                      <a:gd name="T6" fmla="*/ 1 w 405"/>
                      <a:gd name="T7" fmla="*/ 0 h 1305"/>
                      <a:gd name="T8" fmla="*/ 0 60000 65536"/>
                      <a:gd name="T9" fmla="*/ 0 60000 65536"/>
                      <a:gd name="T10" fmla="*/ 0 60000 65536"/>
                      <a:gd name="T11" fmla="*/ 0 60000 65536"/>
                      <a:gd name="T12" fmla="*/ 0 w 405"/>
                      <a:gd name="T13" fmla="*/ 0 h 1305"/>
                      <a:gd name="T14" fmla="*/ 405 w 405"/>
                      <a:gd name="T15" fmla="*/ 1305 h 1305"/>
                    </a:gdLst>
                    <a:ahLst/>
                    <a:cxnLst>
                      <a:cxn ang="T8">
                        <a:pos x="T0" y="T1"/>
                      </a:cxn>
                      <a:cxn ang="T9">
                        <a:pos x="T2" y="T3"/>
                      </a:cxn>
                      <a:cxn ang="T10">
                        <a:pos x="T4" y="T5"/>
                      </a:cxn>
                      <a:cxn ang="T11">
                        <a:pos x="T6" y="T7"/>
                      </a:cxn>
                    </a:cxnLst>
                    <a:rect l="T12" t="T13" r="T14" b="T15"/>
                    <a:pathLst>
                      <a:path w="405" h="1305">
                        <a:moveTo>
                          <a:pt x="0" y="0"/>
                        </a:moveTo>
                        <a:lnTo>
                          <a:pt x="0" y="1305"/>
                        </a:lnTo>
                        <a:lnTo>
                          <a:pt x="405" y="1305"/>
                        </a:lnTo>
                        <a:lnTo>
                          <a:pt x="405"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mn-lt"/>
                    </a:endParaRPr>
                  </a:p>
                </p:txBody>
              </p:sp>
              <p:sp>
                <p:nvSpPr>
                  <p:cNvPr id="54290" name="Text Box 83"/>
                  <p:cNvSpPr txBox="1">
                    <a:spLocks noChangeArrowheads="1"/>
                  </p:cNvSpPr>
                  <p:nvPr/>
                </p:nvSpPr>
                <p:spPr bwMode="auto">
                  <a:xfrm>
                    <a:off x="1781" y="2685"/>
                    <a:ext cx="207" cy="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endParaRPr lang="en-US" altLang="zh-CN" sz="1800" b="1">
                      <a:latin typeface="+mn-lt"/>
                    </a:endParaRPr>
                  </a:p>
                  <a:p>
                    <a:pPr algn="ctr" eaLnBrk="1" hangingPunct="1">
                      <a:lnSpc>
                        <a:spcPct val="120000"/>
                      </a:lnSpc>
                    </a:pPr>
                    <a:endParaRPr lang="en-US" altLang="zh-CN" sz="1800" b="1">
                      <a:latin typeface="+mn-lt"/>
                    </a:endParaRPr>
                  </a:p>
                  <a:p>
                    <a:pPr algn="ctr" eaLnBrk="1" hangingPunct="1">
                      <a:lnSpc>
                        <a:spcPct val="120000"/>
                      </a:lnSpc>
                    </a:pPr>
                    <a:endParaRPr lang="en-US" altLang="zh-CN" sz="1800" b="1">
                      <a:latin typeface="+mn-lt"/>
                    </a:endParaRPr>
                  </a:p>
                  <a:p>
                    <a:pPr algn="ctr" eaLnBrk="1" hangingPunct="1">
                      <a:lnSpc>
                        <a:spcPct val="120000"/>
                      </a:lnSpc>
                    </a:pPr>
                    <a:r>
                      <a:rPr lang="en-US" altLang="zh-CN" sz="1800" b="1">
                        <a:latin typeface="+mn-lt"/>
                      </a:rPr>
                      <a:t>+</a:t>
                    </a:r>
                    <a:endParaRPr lang="en-US" altLang="zh-CN" sz="1800" b="1">
                      <a:latin typeface="+mn-lt"/>
                    </a:endParaRPr>
                  </a:p>
                </p:txBody>
              </p:sp>
              <p:sp>
                <p:nvSpPr>
                  <p:cNvPr id="54291" name="Line 84"/>
                  <p:cNvSpPr>
                    <a:spLocks noChangeShapeType="1"/>
                  </p:cNvSpPr>
                  <p:nvPr/>
                </p:nvSpPr>
                <p:spPr bwMode="auto">
                  <a:xfrm>
                    <a:off x="1753" y="3304"/>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292" name="Line 85"/>
                  <p:cNvSpPr>
                    <a:spLocks noChangeShapeType="1"/>
                  </p:cNvSpPr>
                  <p:nvPr/>
                </p:nvSpPr>
                <p:spPr bwMode="auto">
                  <a:xfrm>
                    <a:off x="1753" y="3116"/>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sp>
                <p:nvSpPr>
                  <p:cNvPr id="54293" name="Line 86"/>
                  <p:cNvSpPr>
                    <a:spLocks noChangeShapeType="1"/>
                  </p:cNvSpPr>
                  <p:nvPr/>
                </p:nvSpPr>
                <p:spPr bwMode="auto">
                  <a:xfrm>
                    <a:off x="1762" y="2928"/>
                    <a:ext cx="2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ndParaRPr>
                  </a:p>
                </p:txBody>
              </p:sp>
            </p:grpSp>
            <p:sp>
              <p:nvSpPr>
                <p:cNvPr id="54288" name="Text Box 87"/>
                <p:cNvSpPr txBox="1">
                  <a:spLocks noChangeArrowheads="1"/>
                </p:cNvSpPr>
                <p:nvPr/>
              </p:nvSpPr>
              <p:spPr bwMode="auto">
                <a:xfrm>
                  <a:off x="1002" y="3558"/>
                  <a:ext cx="95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u="sng">
                      <a:latin typeface="+mn-lt"/>
                    </a:rPr>
                    <a:t>a/b+c*d</a:t>
                  </a:r>
                  <a:endParaRPr lang="en-US" altLang="zh-CN" b="1" u="sng">
                    <a:latin typeface="+mn-lt"/>
                  </a:endParaRPr>
                </a:p>
              </p:txBody>
            </p:sp>
          </p:grpSp>
          <p:sp>
            <p:nvSpPr>
              <p:cNvPr id="54285" name="Text Box 88"/>
              <p:cNvSpPr txBox="1">
                <a:spLocks noChangeArrowheads="1"/>
              </p:cNvSpPr>
              <p:nvPr/>
            </p:nvSpPr>
            <p:spPr bwMode="auto">
              <a:xfrm>
                <a:off x="1294" y="3146"/>
                <a:ext cx="404"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latin typeface="+mn-lt"/>
                  </a:rPr>
                  <a:t>t2=c*d</a:t>
                </a:r>
                <a:endParaRPr lang="en-US" altLang="zh-CN" sz="1800" b="1">
                  <a:latin typeface="+mn-lt"/>
                </a:endParaRPr>
              </a:p>
            </p:txBody>
          </p:sp>
        </p:grpSp>
        <p:sp>
          <p:nvSpPr>
            <p:cNvPr id="54283" name="Text Box 89"/>
            <p:cNvSpPr txBox="1">
              <a:spLocks noChangeArrowheads="1"/>
            </p:cNvSpPr>
            <p:nvPr/>
          </p:nvSpPr>
          <p:spPr bwMode="auto">
            <a:xfrm>
              <a:off x="1364" y="3854"/>
              <a:ext cx="188"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dirty="0">
                  <a:solidFill>
                    <a:srgbClr val="FFFF00"/>
                  </a:solidFill>
                  <a:latin typeface="+mn-lt"/>
                </a:rPr>
                <a:t>(d)</a:t>
              </a:r>
              <a:endParaRPr lang="en-US" altLang="zh-CN" sz="1800" b="1" dirty="0">
                <a:solidFill>
                  <a:srgbClr val="FFFF00"/>
                </a:solidFill>
                <a:latin typeface="+mn-lt"/>
              </a:endParaRPr>
            </a:p>
          </p:txBody>
        </p:sp>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栈的基本状态</a:t>
            </a:r>
            <a:endParaRPr lang="zh-CN" altLang="en-US" sz="4400" b="1">
              <a:latin typeface="Times New Roman" panose="02020603050405020304" pitchFamily="18" charset="0"/>
              <a:ea typeface="隶书" panose="02010509060101010101" pitchFamily="49" charset="-122"/>
            </a:endParaRPr>
          </a:p>
        </p:txBody>
      </p:sp>
      <p:sp>
        <p:nvSpPr>
          <p:cNvPr id="55299" name="内容占位符 2"/>
          <p:cNvSpPr>
            <a:spLocks noGrp="1"/>
          </p:cNvSpPr>
          <p:nvPr>
            <p:ph idx="1"/>
          </p:nvPr>
        </p:nvSpPr>
        <p:spPr>
          <a:xfrm>
            <a:off x="827584" y="1484784"/>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栈空</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栈中没有元素</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栈满</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栈中元素个数达到上限</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一般状态</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栈中有元素，但未达到栈满状态</a:t>
            </a:r>
            <a:endParaRPr lang="zh-CN" altLang="en-US" sz="2400" b="1" dirty="0">
              <a:ea typeface="华文楷体" panose="0201060004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6324" name="Group 58"/>
          <p:cNvGrpSpPr/>
          <p:nvPr/>
        </p:nvGrpSpPr>
        <p:grpSpPr bwMode="auto">
          <a:xfrm>
            <a:off x="4295775" y="792163"/>
            <a:ext cx="4848225" cy="3041650"/>
            <a:chOff x="2706" y="192"/>
            <a:chExt cx="3054" cy="1916"/>
          </a:xfrm>
        </p:grpSpPr>
        <p:sp>
          <p:nvSpPr>
            <p:cNvPr id="56361" name="Text Box 4"/>
            <p:cNvSpPr txBox="1">
              <a:spLocks noChangeArrowheads="1"/>
            </p:cNvSpPr>
            <p:nvPr/>
          </p:nvSpPr>
          <p:spPr bwMode="auto">
            <a:xfrm>
              <a:off x="4903" y="1044"/>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栈顶</a:t>
              </a:r>
              <a:endParaRPr lang="zh-CN" altLang="en-US" sz="2000" b="1">
                <a:latin typeface="+mn-lt"/>
                <a:ea typeface="华文楷体" panose="02010600040101010101" pitchFamily="2" charset="-122"/>
              </a:endParaRPr>
            </a:p>
          </p:txBody>
        </p:sp>
        <p:sp>
          <p:nvSpPr>
            <p:cNvPr id="56362" name="Freeform 5"/>
            <p:cNvSpPr/>
            <p:nvPr/>
          </p:nvSpPr>
          <p:spPr bwMode="auto">
            <a:xfrm>
              <a:off x="3705" y="707"/>
              <a:ext cx="725" cy="1038"/>
            </a:xfrm>
            <a:custGeom>
              <a:avLst/>
              <a:gdLst>
                <a:gd name="T0" fmla="*/ 0 w 900"/>
                <a:gd name="T1" fmla="*/ 1 h 1980"/>
                <a:gd name="T2" fmla="*/ 0 w 900"/>
                <a:gd name="T3" fmla="*/ 1 h 1980"/>
                <a:gd name="T4" fmla="*/ 23 w 900"/>
                <a:gd name="T5" fmla="*/ 1 h 1980"/>
                <a:gd name="T6" fmla="*/ 23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63" name="Text Box 6"/>
            <p:cNvSpPr txBox="1">
              <a:spLocks noChangeArrowheads="1"/>
            </p:cNvSpPr>
            <p:nvPr/>
          </p:nvSpPr>
          <p:spPr bwMode="auto">
            <a:xfrm>
              <a:off x="3742" y="864"/>
              <a:ext cx="652" cy="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n</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1</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0</a:t>
              </a:r>
              <a:endParaRPr lang="en-US" altLang="zh-CN" sz="2000" b="1">
                <a:latin typeface="+mn-lt"/>
                <a:ea typeface="华文楷体" panose="02010600040101010101" pitchFamily="2" charset="-122"/>
              </a:endParaRPr>
            </a:p>
          </p:txBody>
        </p:sp>
        <p:sp>
          <p:nvSpPr>
            <p:cNvPr id="56364" name="Line 7"/>
            <p:cNvSpPr>
              <a:spLocks noChangeShapeType="1"/>
            </p:cNvSpPr>
            <p:nvPr/>
          </p:nvSpPr>
          <p:spPr bwMode="auto">
            <a:xfrm>
              <a:off x="3705" y="1576"/>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65" name="Line 8"/>
            <p:cNvSpPr>
              <a:spLocks noChangeShapeType="1"/>
            </p:cNvSpPr>
            <p:nvPr/>
          </p:nvSpPr>
          <p:spPr bwMode="auto">
            <a:xfrm>
              <a:off x="3705" y="876"/>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66" name="Line 9"/>
            <p:cNvSpPr>
              <a:spLocks noChangeShapeType="1"/>
            </p:cNvSpPr>
            <p:nvPr/>
          </p:nvSpPr>
          <p:spPr bwMode="auto">
            <a:xfrm>
              <a:off x="3718" y="1044"/>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67" name="Line 10"/>
            <p:cNvSpPr>
              <a:spLocks noChangeShapeType="1"/>
            </p:cNvSpPr>
            <p:nvPr/>
          </p:nvSpPr>
          <p:spPr bwMode="auto">
            <a:xfrm>
              <a:off x="3718" y="1205"/>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68" name="Line 11"/>
            <p:cNvSpPr>
              <a:spLocks noChangeShapeType="1"/>
            </p:cNvSpPr>
            <p:nvPr/>
          </p:nvSpPr>
          <p:spPr bwMode="auto">
            <a:xfrm>
              <a:off x="3705" y="1407"/>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69" name="Freeform 12"/>
            <p:cNvSpPr/>
            <p:nvPr/>
          </p:nvSpPr>
          <p:spPr bwMode="auto">
            <a:xfrm>
              <a:off x="3346" y="378"/>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70" name="Freeform 13"/>
            <p:cNvSpPr/>
            <p:nvPr/>
          </p:nvSpPr>
          <p:spPr bwMode="auto">
            <a:xfrm flipH="1">
              <a:off x="4249" y="378"/>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71" name="Text Box 14"/>
            <p:cNvSpPr txBox="1">
              <a:spLocks noChangeArrowheads="1"/>
            </p:cNvSpPr>
            <p:nvPr/>
          </p:nvSpPr>
          <p:spPr bwMode="auto">
            <a:xfrm>
              <a:off x="334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入栈</a:t>
              </a:r>
              <a:endParaRPr lang="zh-CN" altLang="en-US" sz="2000" b="1">
                <a:latin typeface="+mn-lt"/>
                <a:ea typeface="华文楷体" panose="02010600040101010101" pitchFamily="2" charset="-122"/>
              </a:endParaRPr>
            </a:p>
          </p:txBody>
        </p:sp>
        <p:sp>
          <p:nvSpPr>
            <p:cNvPr id="56372" name="Text Box 15"/>
            <p:cNvSpPr txBox="1">
              <a:spLocks noChangeArrowheads="1"/>
            </p:cNvSpPr>
            <p:nvPr/>
          </p:nvSpPr>
          <p:spPr bwMode="auto">
            <a:xfrm>
              <a:off x="441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出栈</a:t>
              </a:r>
              <a:endParaRPr lang="zh-CN" altLang="en-US" sz="2000" b="1">
                <a:latin typeface="+mn-lt"/>
                <a:ea typeface="华文楷体" panose="02010600040101010101" pitchFamily="2" charset="-122"/>
              </a:endParaRPr>
            </a:p>
          </p:txBody>
        </p:sp>
        <p:sp>
          <p:nvSpPr>
            <p:cNvPr id="56373" name="Line 16"/>
            <p:cNvSpPr>
              <a:spLocks noChangeShapeType="1"/>
            </p:cNvSpPr>
            <p:nvPr/>
          </p:nvSpPr>
          <p:spPr bwMode="auto">
            <a:xfrm flipH="1">
              <a:off x="4468" y="1129"/>
              <a:ext cx="387"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74" name="Text Box 17"/>
            <p:cNvSpPr txBox="1">
              <a:spLocks noChangeArrowheads="1"/>
            </p:cNvSpPr>
            <p:nvPr/>
          </p:nvSpPr>
          <p:spPr bwMode="auto">
            <a:xfrm>
              <a:off x="270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b="1">
                  <a:latin typeface="+mn-lt"/>
                  <a:ea typeface="华文楷体" panose="02010600040101010101" pitchFamily="2" charset="-122"/>
                </a:rPr>
                <a:t>数组下标</a:t>
              </a:r>
              <a:endParaRPr lang="zh-CN" altLang="en-US" sz="2000" b="1">
                <a:latin typeface="+mn-lt"/>
                <a:ea typeface="华文楷体" panose="02010600040101010101" pitchFamily="2" charset="-122"/>
              </a:endParaRPr>
            </a:p>
          </p:txBody>
        </p:sp>
        <p:sp>
          <p:nvSpPr>
            <p:cNvPr id="56375" name="Text Box 18"/>
            <p:cNvSpPr txBox="1">
              <a:spLocks noChangeArrowheads="1"/>
            </p:cNvSpPr>
            <p:nvPr/>
          </p:nvSpPr>
          <p:spPr bwMode="auto">
            <a:xfrm>
              <a:off x="3307" y="720"/>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pPr>
              <a:r>
                <a:rPr lang="en-US" altLang="zh-CN" sz="2000" b="1">
                  <a:latin typeface="+mn-lt"/>
                  <a:ea typeface="华文楷体" panose="02010600040101010101" pitchFamily="2" charset="-122"/>
                </a:rPr>
                <a:t>max</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n</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1</a:t>
              </a: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0</a:t>
              </a:r>
              <a:endParaRPr lang="en-US" altLang="zh-CN" sz="2000" b="1">
                <a:latin typeface="+mn-lt"/>
                <a:ea typeface="华文楷体" panose="02010600040101010101" pitchFamily="2" charset="-122"/>
              </a:endParaRPr>
            </a:p>
          </p:txBody>
        </p:sp>
        <p:sp>
          <p:nvSpPr>
            <p:cNvPr id="56376" name="Text Box 19"/>
            <p:cNvSpPr txBox="1">
              <a:spLocks noChangeArrowheads="1"/>
            </p:cNvSpPr>
            <p:nvPr/>
          </p:nvSpPr>
          <p:spPr bwMode="auto">
            <a:xfrm>
              <a:off x="3466" y="1813"/>
              <a:ext cx="1220"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FFFF00"/>
                  </a:solidFill>
                  <a:latin typeface="+mn-lt"/>
                  <a:ea typeface="华文楷体" panose="02010600040101010101" pitchFamily="2" charset="-122"/>
                </a:rPr>
                <a:t>一般状态</a:t>
              </a:r>
              <a:endParaRPr lang="zh-CN" altLang="en-US" sz="1800" b="1" dirty="0">
                <a:solidFill>
                  <a:srgbClr val="FFFF00"/>
                </a:solidFill>
                <a:latin typeface="+mn-lt"/>
                <a:ea typeface="华文楷体" panose="02010600040101010101" pitchFamily="2" charset="-122"/>
              </a:endParaRPr>
            </a:p>
          </p:txBody>
        </p:sp>
        <p:sp>
          <p:nvSpPr>
            <p:cNvPr id="56377" name="Line 20"/>
            <p:cNvSpPr>
              <a:spLocks noChangeShapeType="1"/>
            </p:cNvSpPr>
            <p:nvPr/>
          </p:nvSpPr>
          <p:spPr bwMode="auto">
            <a:xfrm>
              <a:off x="3703" y="722"/>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grpSp>
      <p:grpSp>
        <p:nvGrpSpPr>
          <p:cNvPr id="56325" name="Group 57"/>
          <p:cNvGrpSpPr/>
          <p:nvPr/>
        </p:nvGrpSpPr>
        <p:grpSpPr bwMode="auto">
          <a:xfrm>
            <a:off x="231775" y="792163"/>
            <a:ext cx="4848225" cy="3041650"/>
            <a:chOff x="146" y="192"/>
            <a:chExt cx="3054" cy="1916"/>
          </a:xfrm>
        </p:grpSpPr>
        <p:sp>
          <p:nvSpPr>
            <p:cNvPr id="56344" name="Text Box 22"/>
            <p:cNvSpPr txBox="1">
              <a:spLocks noChangeArrowheads="1"/>
            </p:cNvSpPr>
            <p:nvPr/>
          </p:nvSpPr>
          <p:spPr bwMode="auto">
            <a:xfrm>
              <a:off x="2343" y="1635"/>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栈顶</a:t>
              </a:r>
              <a:endParaRPr lang="zh-CN" altLang="en-US" sz="2000" b="1">
                <a:latin typeface="+mn-lt"/>
                <a:ea typeface="华文楷体" panose="02010600040101010101" pitchFamily="2" charset="-122"/>
              </a:endParaRPr>
            </a:p>
          </p:txBody>
        </p:sp>
        <p:sp>
          <p:nvSpPr>
            <p:cNvPr id="56345" name="Freeform 23"/>
            <p:cNvSpPr/>
            <p:nvPr/>
          </p:nvSpPr>
          <p:spPr bwMode="auto">
            <a:xfrm>
              <a:off x="1145" y="715"/>
              <a:ext cx="725" cy="1030"/>
            </a:xfrm>
            <a:custGeom>
              <a:avLst/>
              <a:gdLst>
                <a:gd name="T0" fmla="*/ 0 w 900"/>
                <a:gd name="T1" fmla="*/ 1 h 1980"/>
                <a:gd name="T2" fmla="*/ 0 w 900"/>
                <a:gd name="T3" fmla="*/ 1 h 1980"/>
                <a:gd name="T4" fmla="*/ 23 w 900"/>
                <a:gd name="T5" fmla="*/ 1 h 1980"/>
                <a:gd name="T6" fmla="*/ 23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46" name="Text Box 24"/>
            <p:cNvSpPr txBox="1">
              <a:spLocks noChangeArrowheads="1"/>
            </p:cNvSpPr>
            <p:nvPr/>
          </p:nvSpPr>
          <p:spPr bwMode="auto">
            <a:xfrm>
              <a:off x="1182" y="1011"/>
              <a:ext cx="652" cy="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000" b="1">
                <a:latin typeface="+mn-lt"/>
                <a:ea typeface="华文楷体" panose="02010600040101010101" pitchFamily="2" charset="-122"/>
              </a:endParaRPr>
            </a:p>
          </p:txBody>
        </p:sp>
        <p:sp>
          <p:nvSpPr>
            <p:cNvPr id="56347" name="Line 25"/>
            <p:cNvSpPr>
              <a:spLocks noChangeShapeType="1"/>
            </p:cNvSpPr>
            <p:nvPr/>
          </p:nvSpPr>
          <p:spPr bwMode="auto">
            <a:xfrm>
              <a:off x="1145" y="1576"/>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48" name="Line 26"/>
            <p:cNvSpPr>
              <a:spLocks noChangeShapeType="1"/>
            </p:cNvSpPr>
            <p:nvPr/>
          </p:nvSpPr>
          <p:spPr bwMode="auto">
            <a:xfrm>
              <a:off x="1145" y="876"/>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49" name="Line 27"/>
            <p:cNvSpPr>
              <a:spLocks noChangeShapeType="1"/>
            </p:cNvSpPr>
            <p:nvPr/>
          </p:nvSpPr>
          <p:spPr bwMode="auto">
            <a:xfrm>
              <a:off x="1158" y="1044"/>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50" name="Line 28"/>
            <p:cNvSpPr>
              <a:spLocks noChangeShapeType="1"/>
            </p:cNvSpPr>
            <p:nvPr/>
          </p:nvSpPr>
          <p:spPr bwMode="auto">
            <a:xfrm>
              <a:off x="1158" y="1205"/>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51" name="Line 29"/>
            <p:cNvSpPr>
              <a:spLocks noChangeShapeType="1"/>
            </p:cNvSpPr>
            <p:nvPr/>
          </p:nvSpPr>
          <p:spPr bwMode="auto">
            <a:xfrm>
              <a:off x="1145" y="1407"/>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52" name="Freeform 30"/>
            <p:cNvSpPr/>
            <p:nvPr/>
          </p:nvSpPr>
          <p:spPr bwMode="auto">
            <a:xfrm>
              <a:off x="786" y="378"/>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53" name="Freeform 31"/>
            <p:cNvSpPr/>
            <p:nvPr/>
          </p:nvSpPr>
          <p:spPr bwMode="auto">
            <a:xfrm flipH="1">
              <a:off x="1689" y="378"/>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54" name="Text Box 32"/>
            <p:cNvSpPr txBox="1">
              <a:spLocks noChangeArrowheads="1"/>
            </p:cNvSpPr>
            <p:nvPr/>
          </p:nvSpPr>
          <p:spPr bwMode="auto">
            <a:xfrm>
              <a:off x="786"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入栈</a:t>
              </a:r>
              <a:endParaRPr lang="zh-CN" altLang="en-US" sz="2000" b="1">
                <a:latin typeface="+mn-lt"/>
                <a:ea typeface="华文楷体" panose="02010600040101010101" pitchFamily="2" charset="-122"/>
              </a:endParaRPr>
            </a:p>
          </p:txBody>
        </p:sp>
        <p:sp>
          <p:nvSpPr>
            <p:cNvPr id="56355" name="Text Box 33"/>
            <p:cNvSpPr txBox="1">
              <a:spLocks noChangeArrowheads="1"/>
            </p:cNvSpPr>
            <p:nvPr/>
          </p:nvSpPr>
          <p:spPr bwMode="auto">
            <a:xfrm>
              <a:off x="1854" y="192"/>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出栈</a:t>
              </a:r>
              <a:endParaRPr lang="zh-CN" altLang="en-US" sz="2000" b="1">
                <a:latin typeface="+mn-lt"/>
                <a:ea typeface="华文楷体" panose="02010600040101010101" pitchFamily="2" charset="-122"/>
              </a:endParaRPr>
            </a:p>
          </p:txBody>
        </p:sp>
        <p:sp>
          <p:nvSpPr>
            <p:cNvPr id="56356" name="Line 34"/>
            <p:cNvSpPr>
              <a:spLocks noChangeShapeType="1"/>
            </p:cNvSpPr>
            <p:nvPr/>
          </p:nvSpPr>
          <p:spPr bwMode="auto">
            <a:xfrm flipH="1">
              <a:off x="1908" y="1776"/>
              <a:ext cx="387"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57" name="Text Box 35"/>
            <p:cNvSpPr txBox="1">
              <a:spLocks noChangeArrowheads="1"/>
            </p:cNvSpPr>
            <p:nvPr/>
          </p:nvSpPr>
          <p:spPr bwMode="auto">
            <a:xfrm>
              <a:off x="146" y="52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b="1">
                  <a:latin typeface="+mn-lt"/>
                  <a:ea typeface="华文楷体" panose="02010600040101010101" pitchFamily="2" charset="-122"/>
                </a:rPr>
                <a:t>数组下标</a:t>
              </a:r>
              <a:endParaRPr lang="zh-CN" altLang="en-US" sz="2000" b="1">
                <a:latin typeface="+mn-lt"/>
                <a:ea typeface="华文楷体" panose="02010600040101010101" pitchFamily="2" charset="-122"/>
              </a:endParaRPr>
            </a:p>
          </p:txBody>
        </p:sp>
        <p:sp>
          <p:nvSpPr>
            <p:cNvPr id="56358" name="Text Box 36"/>
            <p:cNvSpPr txBox="1">
              <a:spLocks noChangeArrowheads="1"/>
            </p:cNvSpPr>
            <p:nvPr/>
          </p:nvSpPr>
          <p:spPr bwMode="auto">
            <a:xfrm>
              <a:off x="904" y="1813"/>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solidFill>
                    <a:srgbClr val="FFFF00"/>
                  </a:solidFill>
                  <a:latin typeface="+mn-lt"/>
                  <a:ea typeface="华文楷体" panose="02010600040101010101" pitchFamily="2" charset="-122"/>
                </a:rPr>
                <a:t>初始状态（栈空）</a:t>
              </a:r>
              <a:endParaRPr lang="zh-CN" altLang="en-US" sz="1800" b="1" dirty="0">
                <a:solidFill>
                  <a:srgbClr val="FFFF00"/>
                </a:solidFill>
                <a:latin typeface="+mn-lt"/>
                <a:ea typeface="华文楷体" panose="02010600040101010101" pitchFamily="2" charset="-122"/>
              </a:endParaRPr>
            </a:p>
          </p:txBody>
        </p:sp>
        <p:sp>
          <p:nvSpPr>
            <p:cNvPr id="56359" name="Line 37"/>
            <p:cNvSpPr>
              <a:spLocks noChangeShapeType="1"/>
            </p:cNvSpPr>
            <p:nvPr/>
          </p:nvSpPr>
          <p:spPr bwMode="auto">
            <a:xfrm>
              <a:off x="1143" y="714"/>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56360" name="Text Box 38"/>
            <p:cNvSpPr txBox="1">
              <a:spLocks noChangeArrowheads="1"/>
            </p:cNvSpPr>
            <p:nvPr/>
          </p:nvSpPr>
          <p:spPr bwMode="auto">
            <a:xfrm>
              <a:off x="747" y="682"/>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2000" b="1">
                  <a:latin typeface="+mn-lt"/>
                  <a:ea typeface="华文楷体" panose="02010600040101010101" pitchFamily="2" charset="-122"/>
                </a:rPr>
                <a:t>max</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n</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1</a:t>
              </a: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0</a:t>
              </a:r>
              <a:endParaRPr lang="en-US" altLang="zh-CN" sz="2000" b="1">
                <a:latin typeface="+mn-lt"/>
                <a:ea typeface="华文楷体" panose="02010600040101010101" pitchFamily="2" charset="-122"/>
              </a:endParaRPr>
            </a:p>
          </p:txBody>
        </p:sp>
      </p:grpSp>
      <p:grpSp>
        <p:nvGrpSpPr>
          <p:cNvPr id="56326" name="Group 59"/>
          <p:cNvGrpSpPr/>
          <p:nvPr/>
        </p:nvGrpSpPr>
        <p:grpSpPr bwMode="auto">
          <a:xfrm>
            <a:off x="2608263" y="3789363"/>
            <a:ext cx="4849812" cy="3041650"/>
            <a:chOff x="1643" y="2308"/>
            <a:chExt cx="3055" cy="1916"/>
          </a:xfrm>
        </p:grpSpPr>
        <p:sp>
          <p:nvSpPr>
            <p:cNvPr id="56327" name="Text Box 40"/>
            <p:cNvSpPr txBox="1">
              <a:spLocks noChangeArrowheads="1"/>
            </p:cNvSpPr>
            <p:nvPr/>
          </p:nvSpPr>
          <p:spPr bwMode="auto">
            <a:xfrm>
              <a:off x="3841" y="2831"/>
              <a:ext cx="85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栈顶</a:t>
              </a:r>
              <a:endParaRPr lang="zh-CN" altLang="en-US" sz="2000" b="1">
                <a:latin typeface="+mn-lt"/>
                <a:ea typeface="华文楷体" panose="02010600040101010101" pitchFamily="2" charset="-122"/>
              </a:endParaRPr>
            </a:p>
          </p:txBody>
        </p:sp>
        <p:sp>
          <p:nvSpPr>
            <p:cNvPr id="56328" name="Freeform 41"/>
            <p:cNvSpPr/>
            <p:nvPr/>
          </p:nvSpPr>
          <p:spPr bwMode="auto">
            <a:xfrm>
              <a:off x="2643" y="2823"/>
              <a:ext cx="724" cy="1038"/>
            </a:xfrm>
            <a:custGeom>
              <a:avLst/>
              <a:gdLst>
                <a:gd name="T0" fmla="*/ 0 w 900"/>
                <a:gd name="T1" fmla="*/ 1 h 1980"/>
                <a:gd name="T2" fmla="*/ 0 w 900"/>
                <a:gd name="T3" fmla="*/ 1 h 1980"/>
                <a:gd name="T4" fmla="*/ 22 w 900"/>
                <a:gd name="T5" fmla="*/ 1 h 1980"/>
                <a:gd name="T6" fmla="*/ 22 w 900"/>
                <a:gd name="T7" fmla="*/ 0 h 1980"/>
                <a:gd name="T8" fmla="*/ 0 60000 65536"/>
                <a:gd name="T9" fmla="*/ 0 60000 65536"/>
                <a:gd name="T10" fmla="*/ 0 60000 65536"/>
                <a:gd name="T11" fmla="*/ 0 60000 65536"/>
                <a:gd name="T12" fmla="*/ 0 w 900"/>
                <a:gd name="T13" fmla="*/ 0 h 1980"/>
                <a:gd name="T14" fmla="*/ 900 w 900"/>
                <a:gd name="T15" fmla="*/ 1980 h 1980"/>
              </a:gdLst>
              <a:ahLst/>
              <a:cxnLst>
                <a:cxn ang="T8">
                  <a:pos x="T0" y="T1"/>
                </a:cxn>
                <a:cxn ang="T9">
                  <a:pos x="T2" y="T3"/>
                </a:cxn>
                <a:cxn ang="T10">
                  <a:pos x="T4" y="T5"/>
                </a:cxn>
                <a:cxn ang="T11">
                  <a:pos x="T6" y="T7"/>
                </a:cxn>
              </a:cxnLst>
              <a:rect l="T12" t="T13" r="T14" b="T15"/>
              <a:pathLst>
                <a:path w="900" h="1980">
                  <a:moveTo>
                    <a:pt x="0" y="15"/>
                  </a:moveTo>
                  <a:lnTo>
                    <a:pt x="0" y="1980"/>
                  </a:lnTo>
                  <a:lnTo>
                    <a:pt x="900" y="1980"/>
                  </a:lnTo>
                  <a:lnTo>
                    <a:pt x="900"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29" name="Text Box 42"/>
            <p:cNvSpPr txBox="1">
              <a:spLocks noChangeArrowheads="1"/>
            </p:cNvSpPr>
            <p:nvPr/>
          </p:nvSpPr>
          <p:spPr bwMode="auto">
            <a:xfrm>
              <a:off x="2679" y="2789"/>
              <a:ext cx="652" cy="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max</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n</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1</a:t>
              </a:r>
              <a:endParaRPr lang="en-US" altLang="zh-CN" sz="2000" b="1">
                <a:latin typeface="+mn-lt"/>
                <a:ea typeface="华文楷体" panose="02010600040101010101" pitchFamily="2" charset="-122"/>
              </a:endParaRPr>
            </a:p>
            <a:p>
              <a:pPr algn="ctr" eaLnBrk="1" hangingPunct="1">
                <a:lnSpc>
                  <a:spcPct val="90000"/>
                </a:lnSpc>
              </a:pPr>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0</a:t>
              </a:r>
              <a:endParaRPr lang="en-US" altLang="zh-CN" sz="2000" b="1">
                <a:latin typeface="+mn-lt"/>
                <a:ea typeface="华文楷体" panose="02010600040101010101" pitchFamily="2" charset="-122"/>
              </a:endParaRPr>
            </a:p>
          </p:txBody>
        </p:sp>
        <p:sp>
          <p:nvSpPr>
            <p:cNvPr id="56330" name="Line 43"/>
            <p:cNvSpPr>
              <a:spLocks noChangeShapeType="1"/>
            </p:cNvSpPr>
            <p:nvPr/>
          </p:nvSpPr>
          <p:spPr bwMode="auto">
            <a:xfrm>
              <a:off x="2643" y="3692"/>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31" name="Line 44"/>
            <p:cNvSpPr>
              <a:spLocks noChangeShapeType="1"/>
            </p:cNvSpPr>
            <p:nvPr/>
          </p:nvSpPr>
          <p:spPr bwMode="auto">
            <a:xfrm>
              <a:off x="2643" y="2992"/>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32" name="Line 45"/>
            <p:cNvSpPr>
              <a:spLocks noChangeShapeType="1"/>
            </p:cNvSpPr>
            <p:nvPr/>
          </p:nvSpPr>
          <p:spPr bwMode="auto">
            <a:xfrm>
              <a:off x="2655" y="3160"/>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33" name="Line 46"/>
            <p:cNvSpPr>
              <a:spLocks noChangeShapeType="1"/>
            </p:cNvSpPr>
            <p:nvPr/>
          </p:nvSpPr>
          <p:spPr bwMode="auto">
            <a:xfrm>
              <a:off x="2655" y="3321"/>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34" name="Line 47"/>
            <p:cNvSpPr>
              <a:spLocks noChangeShapeType="1"/>
            </p:cNvSpPr>
            <p:nvPr/>
          </p:nvSpPr>
          <p:spPr bwMode="auto">
            <a:xfrm>
              <a:off x="2643" y="3523"/>
              <a:ext cx="7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35" name="Freeform 48"/>
            <p:cNvSpPr/>
            <p:nvPr/>
          </p:nvSpPr>
          <p:spPr bwMode="auto">
            <a:xfrm>
              <a:off x="2283" y="2494"/>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tailEnd type="triangl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36" name="Freeform 49"/>
            <p:cNvSpPr/>
            <p:nvPr/>
          </p:nvSpPr>
          <p:spPr bwMode="auto">
            <a:xfrm flipH="1">
              <a:off x="3186" y="2494"/>
              <a:ext cx="519" cy="261"/>
            </a:xfrm>
            <a:custGeom>
              <a:avLst/>
              <a:gdLst>
                <a:gd name="T0" fmla="*/ 0 w 645"/>
                <a:gd name="T1" fmla="*/ 0 h 465"/>
                <a:gd name="T2" fmla="*/ 16 w 645"/>
                <a:gd name="T3" fmla="*/ 0 h 465"/>
                <a:gd name="T4" fmla="*/ 16 w 645"/>
                <a:gd name="T5" fmla="*/ 1 h 465"/>
                <a:gd name="T6" fmla="*/ 0 60000 65536"/>
                <a:gd name="T7" fmla="*/ 0 60000 65536"/>
                <a:gd name="T8" fmla="*/ 0 60000 65536"/>
                <a:gd name="T9" fmla="*/ 0 w 645"/>
                <a:gd name="T10" fmla="*/ 0 h 465"/>
                <a:gd name="T11" fmla="*/ 645 w 645"/>
                <a:gd name="T12" fmla="*/ 465 h 465"/>
              </a:gdLst>
              <a:ahLst/>
              <a:cxnLst>
                <a:cxn ang="T6">
                  <a:pos x="T0" y="T1"/>
                </a:cxn>
                <a:cxn ang="T7">
                  <a:pos x="T2" y="T3"/>
                </a:cxn>
                <a:cxn ang="T8">
                  <a:pos x="T4" y="T5"/>
                </a:cxn>
              </a:cxnLst>
              <a:rect l="T9" t="T10" r="T11" b="T12"/>
              <a:pathLst>
                <a:path w="645" h="465">
                  <a:moveTo>
                    <a:pt x="0" y="0"/>
                  </a:moveTo>
                  <a:lnTo>
                    <a:pt x="645" y="0"/>
                  </a:lnTo>
                  <a:lnTo>
                    <a:pt x="645" y="465"/>
                  </a:lnTo>
                </a:path>
              </a:pathLst>
            </a:custGeom>
            <a:noFill/>
            <a:ln w="9525">
              <a:solidFill>
                <a:schemeClr val="tx1"/>
              </a:solidFill>
              <a:round/>
              <a:headEnd type="triangle" w="sm" len="med"/>
              <a:tailEnd type="none" w="sm" len="med"/>
            </a:ln>
            <a:extLst>
              <a:ext uri="{909E8E84-426E-40DD-AFC4-6F175D3DCCD1}">
                <a14:hiddenFill xmlns:a14="http://schemas.microsoft.com/office/drawing/2010/main">
                  <a:solidFill>
                    <a:srgbClr val="FFFFFF"/>
                  </a:solidFill>
                </a14:hiddenFill>
              </a:ext>
            </a:extLst>
          </p:spPr>
          <p:txBody>
            <a:bodyPr lIns="0" tIns="0" rIns="0" bIns="0"/>
            <a:lstStyle/>
            <a:p>
              <a:endParaRPr lang="zh-CN" altLang="en-US" b="1">
                <a:latin typeface="+mn-lt"/>
                <a:ea typeface="华文楷体" panose="02010600040101010101" pitchFamily="2" charset="-122"/>
              </a:endParaRPr>
            </a:p>
          </p:txBody>
        </p:sp>
        <p:sp>
          <p:nvSpPr>
            <p:cNvPr id="56337" name="Text Box 50"/>
            <p:cNvSpPr txBox="1">
              <a:spLocks noChangeArrowheads="1"/>
            </p:cNvSpPr>
            <p:nvPr/>
          </p:nvSpPr>
          <p:spPr bwMode="auto">
            <a:xfrm>
              <a:off x="2283"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入栈</a:t>
              </a:r>
              <a:endParaRPr lang="zh-CN" altLang="en-US" sz="2000" b="1">
                <a:latin typeface="+mn-lt"/>
                <a:ea typeface="华文楷体" panose="02010600040101010101" pitchFamily="2" charset="-122"/>
              </a:endParaRPr>
            </a:p>
          </p:txBody>
        </p:sp>
        <p:sp>
          <p:nvSpPr>
            <p:cNvPr id="56338" name="Text Box 51"/>
            <p:cNvSpPr txBox="1">
              <a:spLocks noChangeArrowheads="1"/>
            </p:cNvSpPr>
            <p:nvPr/>
          </p:nvSpPr>
          <p:spPr bwMode="auto">
            <a:xfrm>
              <a:off x="3352" y="2308"/>
              <a:ext cx="4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出栈</a:t>
              </a:r>
              <a:endParaRPr lang="zh-CN" altLang="en-US" sz="2000" b="1">
                <a:latin typeface="+mn-lt"/>
                <a:ea typeface="华文楷体" panose="02010600040101010101" pitchFamily="2" charset="-122"/>
              </a:endParaRPr>
            </a:p>
          </p:txBody>
        </p:sp>
        <p:sp>
          <p:nvSpPr>
            <p:cNvPr id="56339" name="Line 52"/>
            <p:cNvSpPr>
              <a:spLocks noChangeShapeType="1"/>
            </p:cNvSpPr>
            <p:nvPr/>
          </p:nvSpPr>
          <p:spPr bwMode="auto">
            <a:xfrm flipH="1">
              <a:off x="3406" y="2916"/>
              <a:ext cx="386" cy="0"/>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56340" name="Text Box 53"/>
            <p:cNvSpPr txBox="1">
              <a:spLocks noChangeArrowheads="1"/>
            </p:cNvSpPr>
            <p:nvPr/>
          </p:nvSpPr>
          <p:spPr bwMode="auto">
            <a:xfrm>
              <a:off x="1643" y="2688"/>
              <a:ext cx="857"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2000" b="1">
                  <a:latin typeface="+mn-lt"/>
                  <a:ea typeface="华文楷体" panose="02010600040101010101" pitchFamily="2" charset="-122"/>
                </a:rPr>
                <a:t>数组下标</a:t>
              </a:r>
              <a:endParaRPr lang="zh-CN" altLang="en-US" sz="2000" b="1">
                <a:latin typeface="+mn-lt"/>
                <a:ea typeface="华文楷体" panose="02010600040101010101" pitchFamily="2" charset="-122"/>
              </a:endParaRPr>
            </a:p>
          </p:txBody>
        </p:sp>
        <p:sp>
          <p:nvSpPr>
            <p:cNvPr id="56341" name="Text Box 54"/>
            <p:cNvSpPr txBox="1">
              <a:spLocks noChangeArrowheads="1"/>
            </p:cNvSpPr>
            <p:nvPr/>
          </p:nvSpPr>
          <p:spPr bwMode="auto">
            <a:xfrm>
              <a:off x="2244" y="2798"/>
              <a:ext cx="326" cy="1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lnSpc>
                  <a:spcPct val="120000"/>
                </a:lnSpc>
              </a:pPr>
              <a:r>
                <a:rPr lang="en-US" altLang="zh-CN" sz="2000" b="1">
                  <a:latin typeface="+mn-lt"/>
                  <a:ea typeface="华文楷体" panose="02010600040101010101" pitchFamily="2" charset="-122"/>
                </a:rPr>
                <a:t>max</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n</a:t>
              </a:r>
              <a:endParaRPr lang="en-US" altLang="zh-CN" sz="2000" b="1">
                <a:latin typeface="+mn-lt"/>
                <a:ea typeface="华文楷体" panose="02010600040101010101" pitchFamily="2" charset="-122"/>
              </a:endParaRPr>
            </a:p>
            <a:p>
              <a:pPr algn="r" eaLnBrk="1" hangingPunct="1">
                <a:lnSpc>
                  <a:spcPct val="90000"/>
                </a:lnSpc>
              </a:pP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1</a:t>
              </a:r>
              <a:endParaRPr lang="en-US" altLang="zh-CN" sz="2000" b="1">
                <a:latin typeface="+mn-lt"/>
                <a:ea typeface="华文楷体" panose="02010600040101010101" pitchFamily="2" charset="-122"/>
              </a:endParaRPr>
            </a:p>
            <a:p>
              <a:pPr algn="r" eaLnBrk="1" hangingPunct="1">
                <a:lnSpc>
                  <a:spcPct val="90000"/>
                </a:lnSpc>
              </a:pPr>
              <a:r>
                <a:rPr lang="en-US" altLang="zh-CN" sz="2000" b="1">
                  <a:latin typeface="+mn-lt"/>
                  <a:ea typeface="华文楷体" panose="02010600040101010101" pitchFamily="2" charset="-122"/>
                </a:rPr>
                <a:t>0</a:t>
              </a:r>
              <a:endParaRPr lang="en-US" altLang="zh-CN" sz="2000" b="1">
                <a:latin typeface="+mn-lt"/>
                <a:ea typeface="华文楷体" panose="02010600040101010101" pitchFamily="2" charset="-122"/>
              </a:endParaRPr>
            </a:p>
          </p:txBody>
        </p:sp>
        <p:sp>
          <p:nvSpPr>
            <p:cNvPr id="56342" name="Text Box 55"/>
            <p:cNvSpPr txBox="1">
              <a:spLocks noChangeArrowheads="1"/>
            </p:cNvSpPr>
            <p:nvPr/>
          </p:nvSpPr>
          <p:spPr bwMode="auto">
            <a:xfrm>
              <a:off x="2404" y="3929"/>
              <a:ext cx="1219" cy="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FFFF00"/>
                  </a:solidFill>
                  <a:latin typeface="+mn-lt"/>
                  <a:ea typeface="华文楷体" panose="02010600040101010101" pitchFamily="2" charset="-122"/>
                </a:rPr>
                <a:t>栈满状态</a:t>
              </a:r>
              <a:endParaRPr lang="zh-CN" altLang="en-US" sz="1800" b="1" dirty="0">
                <a:solidFill>
                  <a:srgbClr val="FFFF00"/>
                </a:solidFill>
                <a:latin typeface="+mn-lt"/>
                <a:ea typeface="华文楷体" panose="02010600040101010101" pitchFamily="2" charset="-122"/>
              </a:endParaRPr>
            </a:p>
          </p:txBody>
        </p:sp>
        <p:sp>
          <p:nvSpPr>
            <p:cNvPr id="56343" name="Line 56"/>
            <p:cNvSpPr>
              <a:spLocks noChangeShapeType="1"/>
            </p:cNvSpPr>
            <p:nvPr/>
          </p:nvSpPr>
          <p:spPr bwMode="auto">
            <a:xfrm>
              <a:off x="2640" y="2838"/>
              <a:ext cx="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栈的基本操作</a:t>
            </a:r>
            <a:endParaRPr lang="zh-CN" altLang="en-US" sz="4400" b="1">
              <a:latin typeface="Times New Roman" panose="02020603050405020304" pitchFamily="18" charset="0"/>
              <a:ea typeface="隶书" panose="02010509060101010101" pitchFamily="49" charset="-122"/>
            </a:endParaRPr>
          </a:p>
        </p:txBody>
      </p:sp>
      <p:sp>
        <p:nvSpPr>
          <p:cNvPr id="57347" name="内容占位符 2"/>
          <p:cNvSpPr>
            <a:spLocks noGrp="1"/>
          </p:cNvSpPr>
          <p:nvPr>
            <p:ph idx="1"/>
          </p:nvPr>
        </p:nvSpPr>
        <p:spPr>
          <a:xfrm>
            <a:off x="899592" y="1484784"/>
            <a:ext cx="7886700" cy="4351338"/>
          </a:xfrm>
        </p:spPr>
        <p:txBody>
          <a:bodyPr/>
          <a:lstStyle/>
          <a:p>
            <a:pPr>
              <a:lnSpc>
                <a:spcPct val="150000"/>
              </a:lnSpc>
              <a:spcAft>
                <a:spcPct val="25000"/>
              </a:spcAft>
            </a:pPr>
            <a:r>
              <a:rPr lang="zh-CN" altLang="en-US" sz="2400" b="1" dirty="0">
                <a:ea typeface="华文楷体" panose="02010600040101010101" pitchFamily="2" charset="-122"/>
              </a:rPr>
              <a:t>初始化</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入栈</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出栈</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清空栈</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访问栈顶元素</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检测栈的状态（满、空）</a:t>
            </a:r>
            <a:endParaRPr lang="zh-CN" altLang="en-US" sz="2400" b="1" dirty="0">
              <a:ea typeface="华文楷体" panose="0201060004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b="1"/>
              <a:t>例</a:t>
            </a:r>
            <a:r>
              <a:rPr lang="en-US" altLang="zh-CN" b="1"/>
              <a:t>9-8 </a:t>
            </a:r>
            <a:r>
              <a:rPr lang="zh-CN" altLang="en-US" b="1"/>
              <a:t>栈类模板</a:t>
            </a:r>
            <a:endParaRPr kumimoji="1" lang="zh-CN" altLang="en-US" b="1"/>
          </a:p>
        </p:txBody>
      </p:sp>
      <p:sp>
        <p:nvSpPr>
          <p:cNvPr id="58371" name="内容占位符 2"/>
          <p:cNvSpPr>
            <a:spLocks noGrp="1"/>
          </p:cNvSpPr>
          <p:nvPr>
            <p:ph sz="half" idx="1"/>
          </p:nvPr>
        </p:nvSpPr>
        <p:spPr>
          <a:xfrm>
            <a:off x="457200" y="1785938"/>
            <a:ext cx="4038600" cy="347787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Stack.h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ifndef</a:t>
            </a:r>
            <a:r>
              <a:rPr lang="en-US" altLang="zh-CN" sz="2000" b="1" dirty="0">
                <a:solidFill>
                  <a:srgbClr val="000000"/>
                </a:solidFill>
                <a:latin typeface="Times New Roman" panose="02020603050405020304" pitchFamily="18" charset="0"/>
                <a:ea typeface="华文楷体" panose="02010600040101010101" pitchFamily="2" charset="-122"/>
              </a:rPr>
              <a:t> STACK_H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#define STACK_H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cassert</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SIZE = 50&gt;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Stack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list[SIZE];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top;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58372" name="内容占位符 3"/>
          <p:cNvSpPr>
            <a:spLocks noGrp="1"/>
          </p:cNvSpPr>
          <p:nvPr>
            <p:ph sz="half" idx="2"/>
          </p:nvPr>
        </p:nvSpPr>
        <p:spPr>
          <a:xfrm>
            <a:off x="4648200" y="1785938"/>
            <a:ext cx="4038600" cy="347787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Stack();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push(</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pop();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clear();</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&amp;peek()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a:t>
            </a:r>
            <a:r>
              <a:rPr lang="en-US" altLang="zh-CN" sz="2000" b="1" dirty="0" err="1">
                <a:solidFill>
                  <a:srgbClr val="000000"/>
                </a:solidFill>
                <a:latin typeface="Times New Roman" panose="02020603050405020304" pitchFamily="18" charset="0"/>
                <a:ea typeface="华文楷体" panose="02010600040101010101" pitchFamily="2" charset="-122"/>
              </a:rPr>
              <a:t>isEmpty</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a:t>
            </a:r>
            <a:r>
              <a:rPr lang="en-US" altLang="zh-CN" sz="2000" b="1" dirty="0" err="1">
                <a:solidFill>
                  <a:srgbClr val="000000"/>
                </a:solidFill>
                <a:latin typeface="Times New Roman" panose="02020603050405020304" pitchFamily="18" charset="0"/>
                <a:ea typeface="华文楷体" panose="02010600040101010101" pitchFamily="2" charset="-122"/>
              </a:rPr>
              <a:t>isFull</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58374" name="Line 1029"/>
          <p:cNvSpPr>
            <a:spLocks noChangeShapeType="1"/>
          </p:cNvSpPr>
          <p:nvPr/>
        </p:nvSpPr>
        <p:spPr bwMode="auto">
          <a:xfrm>
            <a:off x="4572000" y="1733550"/>
            <a:ext cx="0" cy="356765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标题 1"/>
          <p:cNvSpPr>
            <a:spLocks noGrp="1"/>
          </p:cNvSpPr>
          <p:nvPr>
            <p:ph type="title"/>
          </p:nvPr>
        </p:nvSpPr>
        <p:spPr>
          <a:xfrm>
            <a:off x="457200" y="333375"/>
            <a:ext cx="8229600" cy="1066800"/>
          </a:xfrm>
        </p:spPr>
        <p:txBody>
          <a:bodyPr/>
          <a:lstStyle/>
          <a:p>
            <a:r>
              <a:rPr lang="zh-CN" altLang="en-US" b="1" dirty="0"/>
              <a:t>例</a:t>
            </a:r>
            <a:r>
              <a:rPr lang="en-US" altLang="zh-CN" b="1" dirty="0"/>
              <a:t>9-8 </a:t>
            </a:r>
            <a:r>
              <a:rPr lang="zh-CN" altLang="en-US" b="1" dirty="0"/>
              <a:t>（续）</a:t>
            </a:r>
            <a:endParaRPr lang="zh-CN" altLang="en-US" b="1" dirty="0"/>
          </a:p>
        </p:txBody>
      </p:sp>
      <p:sp>
        <p:nvSpPr>
          <p:cNvPr id="59395" name="内容占位符 2"/>
          <p:cNvSpPr>
            <a:spLocks noGrp="1"/>
          </p:cNvSpPr>
          <p:nvPr>
            <p:ph sz="half" idx="1"/>
          </p:nvPr>
        </p:nvSpPr>
        <p:spPr>
          <a:xfrm>
            <a:off x="251520" y="1268413"/>
            <a:ext cx="4215705" cy="5355312"/>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模板的实现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Stack&lt;T, SIZE&gt;::Stack() : top(-1) {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Stack&lt;T, SIZE&gt;::push(</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&amp;item)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assert(!</a:t>
            </a:r>
            <a:r>
              <a:rPr lang="en-US" altLang="zh-CN" sz="1800" b="1" dirty="0" err="1">
                <a:solidFill>
                  <a:srgbClr val="000000"/>
                </a:solidFill>
                <a:latin typeface="Times New Roman" panose="02020603050405020304" pitchFamily="18" charset="0"/>
                <a:ea typeface="华文楷体" panose="02010600040101010101" pitchFamily="2" charset="-122"/>
              </a:rPr>
              <a:t>isFull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list[++top] = item;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 Stack&lt;T, SIZE&gt;::pop()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assert(!</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list[top--];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&amp;Stack&lt;T, SIZE&gt;::peek()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assert(!</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list[top]; //</a:t>
            </a:r>
            <a:r>
              <a:rPr lang="zh-CN" altLang="en-US" sz="1800" b="1" dirty="0">
                <a:solidFill>
                  <a:srgbClr val="000000"/>
                </a:solidFill>
                <a:latin typeface="Times New Roman" panose="02020603050405020304" pitchFamily="18" charset="0"/>
                <a:ea typeface="华文楷体" panose="02010600040101010101" pitchFamily="2" charset="-122"/>
              </a:rPr>
              <a:t>返回栈顶元素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zh-CN" altLang="en-US" sz="1800" b="1" dirty="0">
              <a:solidFill>
                <a:srgbClr val="000000"/>
              </a:solidFill>
              <a:latin typeface="Times New Roman" panose="02020603050405020304" pitchFamily="18" charset="0"/>
              <a:ea typeface="华文楷体" panose="02010600040101010101" pitchFamily="2" charset="-122"/>
            </a:endParaRPr>
          </a:p>
        </p:txBody>
      </p:sp>
      <p:sp>
        <p:nvSpPr>
          <p:cNvPr id="59396" name="内容占位符 3"/>
          <p:cNvSpPr>
            <a:spLocks noGrp="1"/>
          </p:cNvSpPr>
          <p:nvPr>
            <p:ph sz="half" idx="2"/>
          </p:nvPr>
        </p:nvSpPr>
        <p:spPr>
          <a:xfrm>
            <a:off x="4572000" y="1268413"/>
            <a:ext cx="4320480" cy="452431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bool Stack&lt;T, SIZE&gt;::</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top == -1;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bool Stack&lt;T, SIZE&gt;::</a:t>
            </a:r>
            <a:r>
              <a:rPr lang="en-US" altLang="zh-CN" sz="1800" b="1" dirty="0" err="1">
                <a:solidFill>
                  <a:srgbClr val="000000"/>
                </a:solidFill>
                <a:latin typeface="Times New Roman" panose="02020603050405020304" pitchFamily="18" charset="0"/>
                <a:ea typeface="华文楷体" panose="02010600040101010101" pitchFamily="2" charset="-122"/>
              </a:rPr>
              <a:t>isFull</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top == SIZE - 1;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Stack&lt;T, SIZE&gt;::clear()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top = -1;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endif</a:t>
            </a:r>
            <a:r>
              <a:rPr lang="en-US" altLang="zh-CN" sz="1800" b="1" dirty="0">
                <a:solidFill>
                  <a:srgbClr val="000000"/>
                </a:solidFill>
                <a:latin typeface="Times New Roman" panose="02020603050405020304" pitchFamily="18" charset="0"/>
                <a:ea typeface="华文楷体" panose="02010600040101010101" pitchFamily="2" charset="-122"/>
              </a:rPr>
              <a:t>	//STACK_H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18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栈的应用</a:t>
            </a:r>
            <a:endParaRPr lang="zh-CN" altLang="en-US" sz="4400" b="1">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p:txBody>
          <a:bodyPr/>
          <a:lstStyle/>
          <a:p>
            <a:pPr eaLnBrk="1" hangingPunct="1">
              <a:spcAft>
                <a:spcPts val="1200"/>
              </a:spcAft>
              <a:buFont typeface="Wingdings" panose="05000000000000000000" pitchFamily="2" charset="2"/>
              <a:buChar char="u"/>
            </a:pPr>
            <a:r>
              <a:rPr lang="zh-CN" altLang="en-US" sz="2400" b="1" dirty="0">
                <a:ea typeface="华文楷体" panose="02010600040101010101" pitchFamily="2" charset="-122"/>
              </a:rPr>
              <a:t>例</a:t>
            </a:r>
            <a:r>
              <a:rPr lang="en-US" altLang="zh-CN" sz="2400" b="1" dirty="0">
                <a:ea typeface="华文楷体" panose="02010600040101010101" pitchFamily="2" charset="-122"/>
              </a:rPr>
              <a:t>9.9  </a:t>
            </a:r>
            <a:r>
              <a:rPr lang="zh-CN" altLang="en-US" sz="2400" b="1" dirty="0">
                <a:ea typeface="华文楷体" panose="02010600040101010101" pitchFamily="2" charset="-122"/>
              </a:rPr>
              <a:t>一个简单的整数计算器</a:t>
            </a:r>
            <a:endParaRPr lang="zh-CN" altLang="en-US" sz="2400" b="1" dirty="0">
              <a:ea typeface="华文楷体" panose="02010600040101010101" pitchFamily="2" charset="-122"/>
            </a:endParaRPr>
          </a:p>
          <a:p>
            <a:pPr marL="409575" lvl="1" indent="0" eaLnBrk="1" hangingPunct="1">
              <a:spcAft>
                <a:spcPts val="1200"/>
              </a:spcAft>
              <a:buFont typeface="Georgia" panose="02040502050405020303" pitchFamily="18" charset="0"/>
              <a:buNone/>
            </a:pPr>
            <a:r>
              <a:rPr lang="en-US" altLang="zh-CN" b="1" dirty="0">
                <a:ea typeface="华文楷体" panose="02010600040101010101" pitchFamily="2" charset="-122"/>
              </a:rPr>
              <a:t>	</a:t>
            </a:r>
            <a:r>
              <a:rPr lang="zh-CN" altLang="en-US" sz="2400" b="1" dirty="0">
                <a:ea typeface="华文楷体" panose="02010600040101010101" pitchFamily="2" charset="-122"/>
              </a:rPr>
              <a:t>实现一个简单的整数计算器，能够进行加、减、乘、除和乘方运算。使用时算式采用后缀输入法，每个操作数、操作符之间都以空白符分隔。例如，若要计算</a:t>
            </a:r>
            <a:r>
              <a:rPr lang="en-US" altLang="zh-CN" sz="2400" b="1" dirty="0">
                <a:ea typeface="华文楷体" panose="02010600040101010101" pitchFamily="2" charset="-122"/>
              </a:rPr>
              <a:t>"3+5"</a:t>
            </a:r>
            <a:r>
              <a:rPr lang="zh-CN" altLang="en-US" sz="2400" b="1" dirty="0">
                <a:ea typeface="华文楷体" panose="02010600040101010101" pitchFamily="2" charset="-122"/>
              </a:rPr>
              <a:t>则输入</a:t>
            </a:r>
            <a:r>
              <a:rPr lang="en-US" altLang="zh-CN" sz="2400" b="1" dirty="0">
                <a:ea typeface="华文楷体" panose="02010600040101010101" pitchFamily="2" charset="-122"/>
              </a:rPr>
              <a:t>"3  5  +"</a:t>
            </a:r>
            <a:r>
              <a:rPr lang="zh-CN" altLang="en-US" sz="2400" b="1" dirty="0">
                <a:ea typeface="华文楷体" panose="02010600040101010101" pitchFamily="2" charset="-122"/>
              </a:rPr>
              <a:t>。乘方运算符用</a:t>
            </a:r>
            <a:r>
              <a:rPr lang="en-US" altLang="zh-CN" sz="2400" b="1" dirty="0">
                <a:ea typeface="华文楷体" panose="02010600040101010101" pitchFamily="2" charset="-122"/>
              </a:rPr>
              <a:t>"^"</a:t>
            </a:r>
            <a:r>
              <a:rPr lang="zh-CN" altLang="en-US" sz="2400" b="1" dirty="0">
                <a:ea typeface="华文楷体" panose="02010600040101010101" pitchFamily="2" charset="-122"/>
              </a:rPr>
              <a:t>表示。每次运算在前次结果基础上进行，若要将前次运算结果清除，可键入</a:t>
            </a:r>
            <a:r>
              <a:rPr lang="en-US" altLang="zh-CN" sz="2400" b="1" dirty="0">
                <a:ea typeface="华文楷体" panose="02010600040101010101" pitchFamily="2" charset="-122"/>
              </a:rPr>
              <a:t>"c"</a:t>
            </a:r>
            <a:r>
              <a:rPr lang="zh-CN" altLang="en-US" sz="2400" b="1" dirty="0">
                <a:ea typeface="华文楷体" panose="02010600040101010101" pitchFamily="2" charset="-122"/>
              </a:rPr>
              <a:t>。当键入</a:t>
            </a:r>
            <a:r>
              <a:rPr lang="en-US" altLang="zh-CN" sz="2400" b="1" dirty="0">
                <a:ea typeface="华文楷体" panose="02010600040101010101" pitchFamily="2" charset="-122"/>
              </a:rPr>
              <a:t>"q"</a:t>
            </a:r>
            <a:r>
              <a:rPr lang="zh-CN" altLang="en-US" sz="2400" b="1" dirty="0">
                <a:ea typeface="华文楷体" panose="02010600040101010101" pitchFamily="2" charset="-122"/>
              </a:rPr>
              <a:t>时程序结束。</a:t>
            </a:r>
            <a:endParaRPr lang="zh-CN" altLang="en-US" sz="2400" b="1" dirty="0">
              <a:ea typeface="华文楷体" panose="02010600040101010101" pitchFamily="2" charset="-122"/>
            </a:endParaRPr>
          </a:p>
          <a:p>
            <a:pPr eaLnBrk="1" hangingPunct="1">
              <a:spcAft>
                <a:spcPts val="1200"/>
              </a:spcAft>
            </a:pPr>
            <a:r>
              <a:rPr lang="en-US" altLang="zh-CN" sz="2400" b="1" dirty="0" err="1">
                <a:solidFill>
                  <a:srgbClr val="FFFF00"/>
                </a:solidFill>
                <a:ea typeface="华文楷体" panose="02010600040101010101" pitchFamily="2" charset="-122"/>
                <a:cs typeface="Times New Roman" panose="02020603050405020304" pitchFamily="18" charset="0"/>
              </a:rPr>
              <a:t>Calculator.h</a:t>
            </a:r>
            <a:r>
              <a:rPr lang="en-US" altLang="zh-CN" sz="2400" b="1" dirty="0">
                <a:solidFill>
                  <a:srgbClr val="FFFF00"/>
                </a:solidFill>
                <a:ea typeface="华文楷体" panose="02010600040101010101" pitchFamily="2" charset="-122"/>
                <a:cs typeface="Times New Roman" panose="02020603050405020304" pitchFamily="18" charset="0"/>
              </a:rPr>
              <a:t>  Calculator.cpp 9_9.cpp</a:t>
            </a:r>
            <a:endParaRPr lang="en-US" altLang="zh-CN" sz="2400" b="1" dirty="0">
              <a:solidFill>
                <a:srgbClr val="FFFF00"/>
              </a:solidFill>
              <a:ea typeface="华文楷体" panose="02010600040101010101" pitchFamily="2" charset="-122"/>
              <a:cs typeface="Times New Roman" panose="020206030504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3" name="标题 1"/>
          <p:cNvSpPr>
            <a:spLocks noGrp="1"/>
          </p:cNvSpPr>
          <p:nvPr>
            <p:ph type="title"/>
          </p:nvPr>
        </p:nvSpPr>
        <p:spPr/>
        <p:txBody>
          <a:bodyPr/>
          <a:lstStyle/>
          <a:p>
            <a:r>
              <a:rPr lang="zh-CN" altLang="en-US" b="1" dirty="0"/>
              <a:t>例</a:t>
            </a:r>
            <a:r>
              <a:rPr lang="en-US" altLang="zh-CN" b="1" dirty="0"/>
              <a:t>9-9</a:t>
            </a:r>
            <a:endParaRPr kumimoji="1" lang="zh-CN" altLang="en-US" b="1" dirty="0"/>
          </a:p>
        </p:txBody>
      </p:sp>
      <p:sp>
        <p:nvSpPr>
          <p:cNvPr id="61444" name="内容占位符 2"/>
          <p:cNvSpPr>
            <a:spLocks noGrp="1"/>
          </p:cNvSpPr>
          <p:nvPr>
            <p:ph idx="1"/>
          </p:nvPr>
        </p:nvSpPr>
        <p:spPr>
          <a:xfrm>
            <a:off x="683568" y="1208740"/>
            <a:ext cx="78867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Calculator.h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ifndef</a:t>
            </a:r>
            <a:r>
              <a:rPr lang="en-US" altLang="zh-CN" sz="2000" b="1" dirty="0">
                <a:solidFill>
                  <a:srgbClr val="000000"/>
                </a:solidFill>
                <a:latin typeface="Times New Roman" panose="02020603050405020304" pitchFamily="18" charset="0"/>
                <a:ea typeface="华文楷体" panose="02010600040101010101" pitchFamily="2" charset="-122"/>
              </a:rPr>
              <a:t> CALCULATOR_H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#define CALCULATOR_H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a:t>
            </a:r>
            <a:r>
              <a:rPr lang="en-US" altLang="zh-CN" sz="2000" b="1" dirty="0" err="1">
                <a:solidFill>
                  <a:srgbClr val="000000"/>
                </a:solidFill>
                <a:latin typeface="Times New Roman" panose="02020603050405020304" pitchFamily="18" charset="0"/>
                <a:ea typeface="华文楷体" panose="02010600040101010101" pitchFamily="2" charset="-122"/>
              </a:rPr>
              <a:t>Stack.h</a:t>
            </a: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包含栈类模板定义文件</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Calculator {		//</a:t>
            </a:r>
            <a:r>
              <a:rPr lang="zh-CN" altLang="en-US" sz="2000" b="1" dirty="0">
                <a:solidFill>
                  <a:srgbClr val="000000"/>
                </a:solidFill>
                <a:latin typeface="Times New Roman" panose="02020603050405020304" pitchFamily="18" charset="0"/>
                <a:ea typeface="华文楷体" panose="02010600040101010101" pitchFamily="2" charset="-122"/>
              </a:rPr>
              <a:t>计算器类</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Stack&lt;double&gt; s;	// </a:t>
            </a:r>
            <a:r>
              <a:rPr lang="zh-CN" altLang="en-US" sz="2000" b="1" dirty="0">
                <a:solidFill>
                  <a:srgbClr val="000000"/>
                </a:solidFill>
                <a:latin typeface="Times New Roman" panose="02020603050405020304" pitchFamily="18" charset="0"/>
                <a:ea typeface="华文楷体" panose="02010600040101010101" pitchFamily="2" charset="-122"/>
              </a:rPr>
              <a:t>操作数栈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enter(double </a:t>
            </a:r>
            <a:r>
              <a:rPr lang="en-US" altLang="zh-CN" sz="2000" b="1" dirty="0" err="1">
                <a:solidFill>
                  <a:srgbClr val="000000"/>
                </a:solidFill>
                <a:latin typeface="Times New Roman" panose="02020603050405020304" pitchFamily="18" charset="0"/>
                <a:ea typeface="华文楷体" panose="02010600040101010101" pitchFamily="2" charset="-122"/>
              </a:rPr>
              <a:t>num</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将操作数</a:t>
            </a:r>
            <a:r>
              <a:rPr lang="en-US" altLang="zh-CN" sz="2000" b="1" dirty="0" err="1">
                <a:solidFill>
                  <a:srgbClr val="000000"/>
                </a:solidFill>
                <a:latin typeface="Times New Roman" panose="02020603050405020304" pitchFamily="18" charset="0"/>
                <a:ea typeface="华文楷体" panose="02010600040101010101" pitchFamily="2" charset="-122"/>
              </a:rPr>
              <a:t>num</a:t>
            </a:r>
            <a:r>
              <a:rPr lang="zh-CN" altLang="en-US" sz="2000" b="1" dirty="0">
                <a:solidFill>
                  <a:srgbClr val="000000"/>
                </a:solidFill>
                <a:latin typeface="Times New Roman" panose="02020603050405020304" pitchFamily="18" charset="0"/>
                <a:ea typeface="华文楷体" panose="02010600040101010101" pitchFamily="2" charset="-122"/>
              </a:rPr>
              <a:t>压入栈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连续将两个操作数弹出栈，放在</a:t>
            </a:r>
            <a:r>
              <a:rPr lang="en-US" altLang="zh-CN" sz="2000" b="1" dirty="0">
                <a:solidFill>
                  <a:srgbClr val="000000"/>
                </a:solidFill>
                <a:latin typeface="Times New Roman" panose="02020603050405020304" pitchFamily="18" charset="0"/>
                <a:ea typeface="华文楷体" panose="02010600040101010101" pitchFamily="2" charset="-122"/>
              </a:rPr>
              <a:t>opnd1</a:t>
            </a:r>
            <a:r>
              <a:rPr lang="zh-CN" altLang="en-US" sz="2000" b="1" dirty="0">
                <a:solidFill>
                  <a:srgbClr val="000000"/>
                </a:solidFill>
                <a:latin typeface="Times New Roman" panose="02020603050405020304" pitchFamily="18" charset="0"/>
                <a:ea typeface="华文楷体" panose="02010600040101010101" pitchFamily="2" charset="-122"/>
              </a:rPr>
              <a:t>和</a:t>
            </a:r>
            <a:r>
              <a:rPr lang="en-US" altLang="zh-CN" sz="2000" b="1" dirty="0">
                <a:solidFill>
                  <a:srgbClr val="000000"/>
                </a:solidFill>
                <a:latin typeface="Times New Roman" panose="02020603050405020304" pitchFamily="18" charset="0"/>
                <a:ea typeface="华文楷体" panose="02010600040101010101" pitchFamily="2" charset="-122"/>
              </a:rPr>
              <a:t>opnd2</a:t>
            </a:r>
            <a:r>
              <a:rPr lang="zh-CN" altLang="en-US" sz="2000" b="1" dirty="0">
                <a:solidFill>
                  <a:srgbClr val="000000"/>
                </a:solidFill>
                <a:latin typeface="Times New Roman" panose="02020603050405020304" pitchFamily="18" charset="0"/>
                <a:ea typeface="华文楷体" panose="02010600040101010101" pitchFamily="2" charset="-122"/>
              </a:rPr>
              <a:t>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bool </a:t>
            </a:r>
            <a:r>
              <a:rPr lang="en-US" altLang="zh-CN" sz="2000" b="1" dirty="0" err="1">
                <a:solidFill>
                  <a:srgbClr val="000000"/>
                </a:solidFill>
                <a:latin typeface="Times New Roman" panose="02020603050405020304" pitchFamily="18" charset="0"/>
                <a:ea typeface="华文楷体" panose="02010600040101010101" pitchFamily="2" charset="-122"/>
              </a:rPr>
              <a:t>getTwoOperands</a:t>
            </a:r>
            <a:r>
              <a:rPr lang="en-US" altLang="zh-CN" sz="2000" b="1" dirty="0">
                <a:solidFill>
                  <a:srgbClr val="000000"/>
                </a:solidFill>
                <a:latin typeface="Times New Roman" panose="02020603050405020304" pitchFamily="18" charset="0"/>
                <a:ea typeface="华文楷体" panose="02010600040101010101" pitchFamily="2" charset="-122"/>
              </a:rPr>
              <a:t>(double &amp;opnd1, double &amp;opnd2);</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compute(char op);	//</a:t>
            </a:r>
            <a:r>
              <a:rPr lang="zh-CN" altLang="en-US" sz="2000" b="1" dirty="0">
                <a:solidFill>
                  <a:srgbClr val="000000"/>
                </a:solidFill>
                <a:latin typeface="Times New Roman" panose="02020603050405020304" pitchFamily="18" charset="0"/>
                <a:ea typeface="华文楷体" panose="02010600040101010101" pitchFamily="2" charset="-122"/>
              </a:rPr>
              <a:t>执行由操作符</a:t>
            </a:r>
            <a:r>
              <a:rPr lang="en-US" altLang="zh-CN" sz="2000" b="1" dirty="0">
                <a:solidFill>
                  <a:srgbClr val="000000"/>
                </a:solidFill>
                <a:latin typeface="Times New Roman" panose="02020603050405020304" pitchFamily="18" charset="0"/>
                <a:ea typeface="华文楷体" panose="02010600040101010101" pitchFamily="2" charset="-122"/>
              </a:rPr>
              <a:t>op</a:t>
            </a:r>
            <a:r>
              <a:rPr lang="zh-CN" altLang="en-US" sz="2000" b="1" dirty="0">
                <a:solidFill>
                  <a:srgbClr val="000000"/>
                </a:solidFill>
                <a:latin typeface="Times New Roman" panose="02020603050405020304" pitchFamily="18" charset="0"/>
                <a:ea typeface="华文楷体" panose="02010600040101010101" pitchFamily="2" charset="-122"/>
              </a:rPr>
              <a:t>指定的运算</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run();		//</a:t>
            </a:r>
            <a:r>
              <a:rPr lang="zh-CN" altLang="en-US" sz="2000" b="1" dirty="0">
                <a:solidFill>
                  <a:srgbClr val="000000"/>
                </a:solidFill>
                <a:latin typeface="Times New Roman" panose="02020603050405020304" pitchFamily="18" charset="0"/>
                <a:ea typeface="华文楷体" panose="02010600040101010101" pitchFamily="2" charset="-122"/>
              </a:rPr>
              <a:t>运行计算器程序</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clear();		//</a:t>
            </a:r>
            <a:r>
              <a:rPr lang="zh-CN" altLang="en-US" sz="2000" b="1" dirty="0">
                <a:solidFill>
                  <a:srgbClr val="000000"/>
                </a:solidFill>
                <a:latin typeface="Times New Roman" panose="02020603050405020304" pitchFamily="18" charset="0"/>
                <a:ea typeface="华文楷体" panose="02010600040101010101" pitchFamily="2" charset="-122"/>
              </a:rPr>
              <a:t>清空操作数栈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endif</a:t>
            </a:r>
            <a:r>
              <a:rPr lang="en-US" altLang="zh-CN" sz="2000" b="1" dirty="0">
                <a:solidFill>
                  <a:srgbClr val="000000"/>
                </a:solidFill>
                <a:latin typeface="Times New Roman" panose="02020603050405020304" pitchFamily="18" charset="0"/>
                <a:ea typeface="华文楷体" panose="02010600040101010101" pitchFamily="2" charset="-122"/>
              </a:rPr>
              <a:t> //CALCULATOR_H</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2467" name="标题 1"/>
          <p:cNvSpPr>
            <a:spLocks noGrp="1"/>
          </p:cNvSpPr>
          <p:nvPr>
            <p:ph type="title"/>
          </p:nvPr>
        </p:nvSpPr>
        <p:spPr/>
        <p:txBody>
          <a:bodyPr/>
          <a:lstStyle/>
          <a:p>
            <a:r>
              <a:rPr lang="zh-CN" altLang="en-US" b="1"/>
              <a:t>例</a:t>
            </a:r>
            <a:r>
              <a:rPr lang="en-US" altLang="zh-CN" b="1"/>
              <a:t>9-9 (</a:t>
            </a:r>
            <a:r>
              <a:rPr lang="zh-CN" altLang="en-US" b="1"/>
              <a:t>续</a:t>
            </a:r>
            <a:r>
              <a:rPr lang="en-US" altLang="zh-CN" b="1"/>
              <a:t>)</a:t>
            </a:r>
            <a:endParaRPr kumimoji="1" lang="zh-CN" altLang="en-US" b="1"/>
          </a:p>
        </p:txBody>
      </p:sp>
      <p:sp>
        <p:nvSpPr>
          <p:cNvPr id="62468" name="内容占位符 2"/>
          <p:cNvSpPr>
            <a:spLocks noGrp="1"/>
          </p:cNvSpPr>
          <p:nvPr>
            <p:ph idx="1"/>
          </p:nvPr>
        </p:nvSpPr>
        <p:spPr>
          <a:xfrm>
            <a:off x="611560" y="1124744"/>
            <a:ext cx="7886700" cy="563231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//Calculator.cpp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"Calculator.h"</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&lt;iostream&gt;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&lt;sstream&gt;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&lt;cmath&gt;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using namespace std;</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工具函数，用于将字符串转换为实数</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inline double stringToDouble(const string &amp;str)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istringstream stream(str);	//</a:t>
            </a:r>
            <a:r>
              <a:rPr lang="zh-CN" altLang="en-US" sz="2000" b="1">
                <a:solidFill>
                  <a:srgbClr val="000000"/>
                </a:solidFill>
                <a:latin typeface="Times New Roman" panose="02020603050405020304" pitchFamily="18" charset="0"/>
                <a:ea typeface="华文楷体" panose="02010600040101010101" pitchFamily="2" charset="-122"/>
              </a:rPr>
              <a:t>字符串输入流</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double result;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stream &gt;&gt; result;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result;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Calculator::enter(double num) {	//</a:t>
            </a:r>
            <a:r>
              <a:rPr lang="zh-CN" altLang="en-US" sz="2000" b="1">
                <a:solidFill>
                  <a:srgbClr val="000000"/>
                </a:solidFill>
                <a:latin typeface="Times New Roman" panose="02020603050405020304" pitchFamily="18" charset="0"/>
                <a:ea typeface="华文楷体" panose="02010600040101010101" pitchFamily="2" charset="-122"/>
              </a:rPr>
              <a:t>将操作数</a:t>
            </a:r>
            <a:r>
              <a:rPr lang="en-US" altLang="zh-CN" sz="2000" b="1">
                <a:solidFill>
                  <a:srgbClr val="000000"/>
                </a:solidFill>
                <a:latin typeface="Times New Roman" panose="02020603050405020304" pitchFamily="18" charset="0"/>
                <a:ea typeface="华文楷体" panose="02010600040101010101" pitchFamily="2" charset="-122"/>
              </a:rPr>
              <a:t>num</a:t>
            </a:r>
            <a:r>
              <a:rPr lang="zh-CN" altLang="en-US" sz="2000" b="1">
                <a:solidFill>
                  <a:srgbClr val="000000"/>
                </a:solidFill>
                <a:latin typeface="Times New Roman" panose="02020603050405020304" pitchFamily="18" charset="0"/>
                <a:ea typeface="华文楷体" panose="02010600040101010101" pitchFamily="2" charset="-122"/>
              </a:rPr>
              <a:t>压入栈</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s.push(num);</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91" name="标题 1"/>
          <p:cNvSpPr>
            <a:spLocks noGrp="1"/>
          </p:cNvSpPr>
          <p:nvPr>
            <p:ph type="title"/>
          </p:nvPr>
        </p:nvSpPr>
        <p:spPr/>
        <p:txBody>
          <a:bodyPr/>
          <a:lstStyle/>
          <a:p>
            <a:r>
              <a:rPr lang="zh-CN" altLang="en-US" b="1" dirty="0"/>
              <a:t>例</a:t>
            </a:r>
            <a:r>
              <a:rPr lang="en-US" altLang="zh-CN" b="1" dirty="0"/>
              <a:t>9-9 (</a:t>
            </a:r>
            <a:r>
              <a:rPr lang="zh-CN" altLang="en-US" b="1" dirty="0"/>
              <a:t>续</a:t>
            </a:r>
            <a:r>
              <a:rPr lang="en-US" altLang="zh-CN" b="1" dirty="0"/>
              <a:t>)</a:t>
            </a:r>
            <a:endParaRPr kumimoji="1" lang="zh-CN" altLang="en-US" b="1" dirty="0"/>
          </a:p>
        </p:txBody>
      </p:sp>
      <p:sp>
        <p:nvSpPr>
          <p:cNvPr id="63492" name="内容占位符 2"/>
          <p:cNvSpPr>
            <a:spLocks noGrp="1"/>
          </p:cNvSpPr>
          <p:nvPr>
            <p:ph idx="1"/>
          </p:nvPr>
        </p:nvSpPr>
        <p:spPr>
          <a:xfrm>
            <a:off x="628650" y="1825625"/>
            <a:ext cx="7886700" cy="409342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bool Calculator::getTwoOperands(double &amp;opnd1, double &amp;opnd2)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if (s.isEmpty()) {	//</a:t>
            </a:r>
            <a:r>
              <a:rPr lang="zh-CN" altLang="en-US" sz="2000" b="1">
                <a:solidFill>
                  <a:srgbClr val="000000"/>
                </a:solidFill>
                <a:latin typeface="Times New Roman" panose="02020603050405020304" pitchFamily="18" charset="0"/>
                <a:ea typeface="华文楷体" panose="02010600040101010101" pitchFamily="2" charset="-122"/>
              </a:rPr>
              <a:t>检查栈是否空</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cerr &lt;&lt; "Missing operand!"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false;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opnd1 = s.pop();	//</a:t>
            </a:r>
            <a:r>
              <a:rPr lang="zh-CN" altLang="en-US" sz="2000" b="1">
                <a:solidFill>
                  <a:srgbClr val="000000"/>
                </a:solidFill>
                <a:latin typeface="Times New Roman" panose="02020603050405020304" pitchFamily="18" charset="0"/>
                <a:ea typeface="华文楷体" panose="02010600040101010101" pitchFamily="2" charset="-122"/>
              </a:rPr>
              <a:t>将右操作数弹出栈</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if (s.isEmpty()) {	//</a:t>
            </a:r>
            <a:r>
              <a:rPr lang="zh-CN" altLang="en-US" sz="2000" b="1">
                <a:solidFill>
                  <a:srgbClr val="000000"/>
                </a:solidFill>
                <a:latin typeface="Times New Roman" panose="02020603050405020304" pitchFamily="18" charset="0"/>
                <a:ea typeface="华文楷体" panose="02010600040101010101" pitchFamily="2" charset="-122"/>
              </a:rPr>
              <a:t>检查栈是否空</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cerr &lt;&lt; "Missing operand!"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false;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opnd2 = s.pop();	//</a:t>
            </a:r>
            <a:r>
              <a:rPr lang="zh-CN" altLang="en-US" sz="2000" b="1">
                <a:solidFill>
                  <a:srgbClr val="000000"/>
                </a:solidFill>
                <a:latin typeface="Times New Roman" panose="02020603050405020304" pitchFamily="18" charset="0"/>
                <a:ea typeface="华文楷体" panose="02010600040101010101" pitchFamily="2" charset="-122"/>
              </a:rPr>
              <a:t>将左操作数弹出栈</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return true;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4515" name="内容占位符 2"/>
          <p:cNvSpPr>
            <a:spLocks noGrp="1"/>
          </p:cNvSpPr>
          <p:nvPr>
            <p:ph idx="1"/>
          </p:nvPr>
        </p:nvSpPr>
        <p:spPr>
          <a:xfrm>
            <a:off x="539552" y="2637"/>
            <a:ext cx="8229600"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Calculator::compute(char op) {	//</a:t>
            </a:r>
            <a:r>
              <a:rPr lang="zh-CN" altLang="en-US" sz="1800" b="1" dirty="0">
                <a:solidFill>
                  <a:srgbClr val="000000"/>
                </a:solidFill>
                <a:latin typeface="Times New Roman" panose="02020603050405020304" pitchFamily="18" charset="0"/>
                <a:ea typeface="华文楷体" panose="02010600040101010101" pitchFamily="2" charset="-122"/>
              </a:rPr>
              <a:t>执行运算</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double operand1, operand2;</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result = </a:t>
            </a:r>
            <a:r>
              <a:rPr lang="en-US" altLang="zh-CN" sz="1800" b="1" dirty="0" err="1">
                <a:solidFill>
                  <a:srgbClr val="000000"/>
                </a:solidFill>
                <a:latin typeface="Times New Roman" panose="02020603050405020304" pitchFamily="18" charset="0"/>
                <a:ea typeface="华文楷体" panose="02010600040101010101" pitchFamily="2" charset="-122"/>
              </a:rPr>
              <a:t>getTwoOperands</a:t>
            </a:r>
            <a:r>
              <a:rPr lang="en-US" altLang="zh-CN" sz="1800" b="1" dirty="0">
                <a:solidFill>
                  <a:srgbClr val="000000"/>
                </a:solidFill>
                <a:latin typeface="Times New Roman" panose="02020603050405020304" pitchFamily="18" charset="0"/>
                <a:ea typeface="华文楷体" panose="02010600040101010101" pitchFamily="2" charset="-122"/>
              </a:rPr>
              <a:t>(operand1, operand2);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(result) {	//</a:t>
            </a:r>
            <a:r>
              <a:rPr lang="zh-CN" altLang="en-US" sz="1800" b="1" dirty="0">
                <a:solidFill>
                  <a:srgbClr val="000000"/>
                </a:solidFill>
                <a:latin typeface="Times New Roman" panose="02020603050405020304" pitchFamily="18" charset="0"/>
                <a:ea typeface="华文楷体" panose="02010600040101010101" pitchFamily="2" charset="-122"/>
              </a:rPr>
              <a:t>如果成功，执行运算并将运算结果压入栈</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switch(op)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case '+': </a:t>
            </a:r>
            <a:r>
              <a:rPr lang="en-US" altLang="zh-CN" sz="1800" b="1" dirty="0" err="1">
                <a:solidFill>
                  <a:srgbClr val="000000"/>
                </a:solidFill>
                <a:latin typeface="Times New Roman" panose="02020603050405020304" pitchFamily="18" charset="0"/>
                <a:ea typeface="华文楷体" panose="02010600040101010101" pitchFamily="2" charset="-122"/>
              </a:rPr>
              <a:t>s.push</a:t>
            </a:r>
            <a:r>
              <a:rPr lang="en-US" altLang="zh-CN" sz="1800" b="1" dirty="0">
                <a:solidFill>
                  <a:srgbClr val="000000"/>
                </a:solidFill>
                <a:latin typeface="Times New Roman" panose="02020603050405020304" pitchFamily="18" charset="0"/>
                <a:ea typeface="华文楷体" panose="02010600040101010101" pitchFamily="2" charset="-122"/>
              </a:rPr>
              <a:t>(operand2 + operand1);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case '-': </a:t>
            </a:r>
            <a:r>
              <a:rPr lang="en-US" altLang="zh-CN" sz="1800" b="1" dirty="0" err="1">
                <a:solidFill>
                  <a:srgbClr val="000000"/>
                </a:solidFill>
                <a:latin typeface="Times New Roman" panose="02020603050405020304" pitchFamily="18" charset="0"/>
                <a:ea typeface="华文楷体" panose="02010600040101010101" pitchFamily="2" charset="-122"/>
              </a:rPr>
              <a:t>s.push</a:t>
            </a:r>
            <a:r>
              <a:rPr lang="en-US" altLang="zh-CN" sz="1800" b="1" dirty="0">
                <a:solidFill>
                  <a:srgbClr val="000000"/>
                </a:solidFill>
                <a:latin typeface="Times New Roman" panose="02020603050405020304" pitchFamily="18" charset="0"/>
                <a:ea typeface="华文楷体" panose="02010600040101010101" pitchFamily="2" charset="-122"/>
              </a:rPr>
              <a:t>(operand2 - operand1);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case '*': </a:t>
            </a:r>
            <a:r>
              <a:rPr lang="en-US" altLang="zh-CN" sz="1800" b="1" dirty="0" err="1">
                <a:solidFill>
                  <a:srgbClr val="000000"/>
                </a:solidFill>
                <a:latin typeface="Times New Roman" panose="02020603050405020304" pitchFamily="18" charset="0"/>
                <a:ea typeface="华文楷体" panose="02010600040101010101" pitchFamily="2" charset="-122"/>
              </a:rPr>
              <a:t>s.push</a:t>
            </a:r>
            <a:r>
              <a:rPr lang="en-US" altLang="zh-CN" sz="1800" b="1" dirty="0">
                <a:solidFill>
                  <a:srgbClr val="000000"/>
                </a:solidFill>
                <a:latin typeface="Times New Roman" panose="02020603050405020304" pitchFamily="18" charset="0"/>
                <a:ea typeface="华文楷体" panose="02010600040101010101" pitchFamily="2" charset="-122"/>
              </a:rPr>
              <a:t>(operand2 * operand1);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case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(operand1 == 0) {	//</a:t>
            </a:r>
            <a:r>
              <a:rPr lang="zh-CN" altLang="en-US" sz="1800" b="1" dirty="0">
                <a:solidFill>
                  <a:srgbClr val="000000"/>
                </a:solidFill>
                <a:latin typeface="Times New Roman" panose="02020603050405020304" pitchFamily="18" charset="0"/>
                <a:ea typeface="华文楷体" panose="02010600040101010101" pitchFamily="2" charset="-122"/>
              </a:rPr>
              <a:t>检查除数是否为</a:t>
            </a:r>
            <a:r>
              <a:rPr lang="en-US" altLang="zh-CN" sz="1800" b="1" dirty="0">
                <a:solidFill>
                  <a:srgbClr val="000000"/>
                </a:solidFill>
                <a:latin typeface="Times New Roman" panose="02020603050405020304" pitchFamily="18" charset="0"/>
                <a:ea typeface="华文楷体" panose="02010600040101010101" pitchFamily="2" charset="-122"/>
              </a:rPr>
              <a:t>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cerr</a:t>
            </a:r>
            <a:r>
              <a:rPr lang="en-US" altLang="zh-CN" sz="1800" b="1" dirty="0">
                <a:solidFill>
                  <a:srgbClr val="000000"/>
                </a:solidFill>
                <a:latin typeface="Times New Roman" panose="02020603050405020304" pitchFamily="18" charset="0"/>
                <a:ea typeface="华文楷体" panose="02010600040101010101" pitchFamily="2" charset="-122"/>
              </a:rPr>
              <a:t> &lt;&lt; "Divided by 0!"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s.clear</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除数为</a:t>
            </a:r>
            <a:r>
              <a:rPr lang="en-US" altLang="zh-CN" sz="1800" b="1" dirty="0">
                <a:solidFill>
                  <a:srgbClr val="000000"/>
                </a:solidFill>
                <a:latin typeface="Times New Roman" panose="02020603050405020304" pitchFamily="18" charset="0"/>
                <a:ea typeface="华文楷体" panose="02010600040101010101" pitchFamily="2" charset="-122"/>
              </a:rPr>
              <a:t>0</a:t>
            </a:r>
            <a:r>
              <a:rPr lang="zh-CN" altLang="en-US" sz="1800" b="1" dirty="0">
                <a:solidFill>
                  <a:srgbClr val="000000"/>
                </a:solidFill>
                <a:latin typeface="Times New Roman" panose="02020603050405020304" pitchFamily="18" charset="0"/>
                <a:ea typeface="华文楷体" panose="02010600040101010101" pitchFamily="2" charset="-122"/>
              </a:rPr>
              <a:t>时清空栈</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 else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s.push</a:t>
            </a:r>
            <a:r>
              <a:rPr lang="en-US" altLang="zh-CN" sz="1800" b="1" dirty="0">
                <a:solidFill>
                  <a:srgbClr val="000000"/>
                </a:solidFill>
                <a:latin typeface="Times New Roman" panose="02020603050405020304" pitchFamily="18" charset="0"/>
                <a:ea typeface="华文楷体" panose="02010600040101010101" pitchFamily="2" charset="-122"/>
              </a:rPr>
              <a:t>(operand2 / operand1);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case '^': </a:t>
            </a:r>
            <a:r>
              <a:rPr lang="en-US" altLang="zh-CN" sz="1800" b="1" dirty="0" err="1">
                <a:solidFill>
                  <a:srgbClr val="000000"/>
                </a:solidFill>
                <a:latin typeface="Times New Roman" panose="02020603050405020304" pitchFamily="18" charset="0"/>
                <a:ea typeface="华文楷体" panose="02010600040101010101" pitchFamily="2" charset="-122"/>
              </a:rPr>
              <a:t>s.push</a:t>
            </a:r>
            <a:r>
              <a:rPr lang="en-US" altLang="zh-CN" sz="1800" b="1" dirty="0">
                <a:solidFill>
                  <a:srgbClr val="000000"/>
                </a:solidFill>
                <a:latin typeface="Times New Roman" panose="02020603050405020304" pitchFamily="18" charset="0"/>
                <a:ea typeface="华文楷体" panose="02010600040101010101" pitchFamily="2" charset="-122"/>
              </a:rPr>
              <a:t>(pow(operand2, operand1));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default: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cerr</a:t>
            </a:r>
            <a:r>
              <a:rPr lang="en-US" altLang="zh-CN" sz="1800" b="1" dirty="0">
                <a:solidFill>
                  <a:srgbClr val="000000"/>
                </a:solidFill>
                <a:latin typeface="Times New Roman" panose="02020603050405020304" pitchFamily="18" charset="0"/>
                <a:ea typeface="华文楷体" panose="02010600040101010101" pitchFamily="2" charset="-122"/>
              </a:rPr>
              <a:t> &lt;&lt; "Unrecognized operator!"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break;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 " &lt;&lt; </a:t>
            </a:r>
            <a:r>
              <a:rPr lang="en-US" altLang="zh-CN" sz="1800" b="1" dirty="0" err="1">
                <a:solidFill>
                  <a:srgbClr val="000000"/>
                </a:solidFill>
                <a:latin typeface="Times New Roman" panose="02020603050405020304" pitchFamily="18" charset="0"/>
                <a:ea typeface="华文楷体" panose="02010600040101010101" pitchFamily="2" charset="-122"/>
              </a:rPr>
              <a:t>s.peek</a:t>
            </a:r>
            <a:r>
              <a:rPr lang="en-US" altLang="zh-CN" sz="1800" b="1" dirty="0">
                <a:solidFill>
                  <a:srgbClr val="000000"/>
                </a:solidFill>
                <a:latin typeface="Times New Roman" panose="02020603050405020304" pitchFamily="18" charset="0"/>
                <a:ea typeface="华文楷体" panose="02010600040101010101" pitchFamily="2" charset="-122"/>
              </a:rPr>
              <a:t>() &lt;&lt; " ";	//</a:t>
            </a:r>
            <a:r>
              <a:rPr lang="zh-CN" altLang="en-US" sz="1800" b="1" dirty="0">
                <a:solidFill>
                  <a:srgbClr val="000000"/>
                </a:solidFill>
                <a:latin typeface="Times New Roman" panose="02020603050405020304" pitchFamily="18" charset="0"/>
                <a:ea typeface="华文楷体" panose="02010600040101010101" pitchFamily="2" charset="-122"/>
              </a:rPr>
              <a:t>输出本次运算结果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 else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s.clear</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操作数不够，清空栈</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64517" name="标题 1"/>
          <p:cNvSpPr>
            <a:spLocks noGrp="1"/>
          </p:cNvSpPr>
          <p:nvPr>
            <p:ph type="title"/>
          </p:nvPr>
        </p:nvSpPr>
        <p:spPr>
          <a:xfrm>
            <a:off x="6156176" y="5949280"/>
            <a:ext cx="2757487" cy="781050"/>
          </a:xfrm>
          <a:solidFill>
            <a:schemeClr val="bg1"/>
          </a:solidFill>
        </p:spPr>
        <p:txBody>
          <a:bodyPr/>
          <a:lstStyle/>
          <a:p>
            <a:r>
              <a:rPr lang="zh-CN" altLang="en-US" dirty="0"/>
              <a:t>例</a:t>
            </a:r>
            <a:r>
              <a:rPr lang="en-US" altLang="zh-CN" dirty="0"/>
              <a:t>9-9 (</a:t>
            </a:r>
            <a:r>
              <a:rPr lang="zh-CN" altLang="en-US" dirty="0"/>
              <a:t>续</a:t>
            </a:r>
            <a:r>
              <a:rPr lang="en-US" altLang="zh-CN" dirty="0"/>
              <a:t>)</a:t>
            </a:r>
            <a:endParaRPr kumimoji="1"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9" name="内容占位符 2"/>
          <p:cNvSpPr>
            <a:spLocks noGrp="1"/>
          </p:cNvSpPr>
          <p:nvPr>
            <p:ph idx="1"/>
          </p:nvPr>
        </p:nvSpPr>
        <p:spPr>
          <a:xfrm>
            <a:off x="539552" y="0"/>
            <a:ext cx="8229600"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void Calculator::run() { //</a:t>
            </a:r>
            <a:r>
              <a:rPr lang="zh-CN" altLang="en-US" sz="1800" b="1">
                <a:solidFill>
                  <a:srgbClr val="000000"/>
                </a:solidFill>
                <a:latin typeface="Times New Roman" panose="02020603050405020304" pitchFamily="18" charset="0"/>
                <a:ea typeface="华文楷体" panose="02010600040101010101" pitchFamily="2" charset="-122"/>
              </a:rPr>
              <a:t>读入并处理后缀表达式</a:t>
            </a:r>
            <a:endParaRPr lang="zh-CN" altLang="en-US"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a:solidFill>
                  <a:srgbClr val="000000"/>
                </a:solidFill>
                <a:latin typeface="Times New Roman" panose="02020603050405020304" pitchFamily="18" charset="0"/>
                <a:ea typeface="华文楷体" panose="02010600040101010101" pitchFamily="2" charset="-122"/>
              </a:rPr>
              <a:t>	</a:t>
            </a:r>
            <a:r>
              <a:rPr lang="en-US" altLang="zh-CN" sz="1800" b="1">
                <a:solidFill>
                  <a:srgbClr val="000000"/>
                </a:solidFill>
                <a:latin typeface="Times New Roman" panose="02020603050405020304" pitchFamily="18" charset="0"/>
                <a:ea typeface="华文楷体" panose="02010600040101010101" pitchFamily="2" charset="-122"/>
              </a:rPr>
              <a:t>string str;</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while (cin &gt;&gt; str, str != "q")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switch(str[0])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case 'c': s.clear(); break;</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case '-': //</a:t>
            </a:r>
            <a:r>
              <a:rPr lang="zh-CN" altLang="en-US" sz="1800" b="1">
                <a:solidFill>
                  <a:srgbClr val="000000"/>
                </a:solidFill>
                <a:latin typeface="Times New Roman" panose="02020603050405020304" pitchFamily="18" charset="0"/>
                <a:ea typeface="华文楷体" panose="02010600040101010101" pitchFamily="2" charset="-122"/>
              </a:rPr>
              <a:t>遇</a:t>
            </a:r>
            <a:r>
              <a:rPr lang="en-US" altLang="zh-CN" sz="1800" b="1">
                <a:solidFill>
                  <a:srgbClr val="000000"/>
                </a:solidFill>
                <a:latin typeface="Times New Roman" panose="02020603050405020304" pitchFamily="18" charset="0"/>
                <a:ea typeface="华文楷体" panose="02010600040101010101" pitchFamily="2" charset="-122"/>
              </a:rPr>
              <a:t>'-'</a:t>
            </a:r>
            <a:r>
              <a:rPr lang="zh-CN" altLang="en-US" sz="1800" b="1">
                <a:solidFill>
                  <a:srgbClr val="000000"/>
                </a:solidFill>
                <a:latin typeface="Times New Roman" panose="02020603050405020304" pitchFamily="18" charset="0"/>
                <a:ea typeface="华文楷体" panose="02010600040101010101" pitchFamily="2" charset="-122"/>
              </a:rPr>
              <a:t>需判断是减号还是负号</a:t>
            </a:r>
            <a:endParaRPr lang="zh-CN" altLang="en-US"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a:solidFill>
                  <a:srgbClr val="000000"/>
                </a:solidFill>
                <a:latin typeface="Times New Roman" panose="02020603050405020304" pitchFamily="18" charset="0"/>
                <a:ea typeface="华文楷体" panose="02010600040101010101" pitchFamily="2" charset="-122"/>
              </a:rPr>
              <a:t>			</a:t>
            </a:r>
            <a:r>
              <a:rPr lang="en-US" altLang="zh-CN" sz="1800" b="1">
                <a:solidFill>
                  <a:srgbClr val="000000"/>
                </a:solidFill>
                <a:latin typeface="Times New Roman" panose="02020603050405020304" pitchFamily="18" charset="0"/>
                <a:ea typeface="华文楷体" panose="02010600040101010101" pitchFamily="2" charset="-122"/>
              </a:rPr>
              <a:t>if (str.size() &gt; 1)</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enter(stringToDouble(str));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else</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compute(str[0]);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break;</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case '+':	//</a:t>
            </a:r>
            <a:r>
              <a:rPr lang="zh-CN" altLang="en-US" sz="1800" b="1">
                <a:solidFill>
                  <a:srgbClr val="000000"/>
                </a:solidFill>
                <a:latin typeface="Times New Roman" panose="02020603050405020304" pitchFamily="18" charset="0"/>
                <a:ea typeface="华文楷体" panose="02010600040101010101" pitchFamily="2" charset="-122"/>
              </a:rPr>
              <a:t>遇到其它操作符时</a:t>
            </a:r>
            <a:endParaRPr lang="zh-CN" altLang="en-US"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a:solidFill>
                  <a:srgbClr val="000000"/>
                </a:solidFill>
                <a:latin typeface="Times New Roman" panose="02020603050405020304" pitchFamily="18" charset="0"/>
                <a:ea typeface="华文楷体" panose="02010600040101010101" pitchFamily="2" charset="-122"/>
              </a:rPr>
              <a:t>		</a:t>
            </a:r>
            <a:r>
              <a:rPr lang="en-US" altLang="zh-CN" sz="1800" b="1">
                <a:solidFill>
                  <a:srgbClr val="000000"/>
                </a:solidFill>
                <a:latin typeface="Times New Roman" panose="02020603050405020304" pitchFamily="18" charset="0"/>
                <a:ea typeface="华文楷体" panose="02010600040101010101" pitchFamily="2" charset="-122"/>
              </a:rPr>
              <a:t>case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case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case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compute(str[0]);</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default: //</a:t>
            </a:r>
            <a:r>
              <a:rPr lang="zh-CN" altLang="en-US" sz="1800" b="1">
                <a:solidFill>
                  <a:srgbClr val="000000"/>
                </a:solidFill>
                <a:latin typeface="Times New Roman" panose="02020603050405020304" pitchFamily="18" charset="0"/>
                <a:ea typeface="华文楷体" panose="02010600040101010101" pitchFamily="2" charset="-122"/>
              </a:rPr>
              <a:t>若读入的是操作数，转换为整型后压入栈</a:t>
            </a:r>
            <a:endParaRPr lang="zh-CN" altLang="en-US"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a:solidFill>
                  <a:srgbClr val="000000"/>
                </a:solidFill>
                <a:latin typeface="Times New Roman" panose="02020603050405020304" pitchFamily="18" charset="0"/>
                <a:ea typeface="华文楷体" panose="02010600040101010101" pitchFamily="2" charset="-122"/>
              </a:rPr>
              <a:t>			</a:t>
            </a:r>
            <a:r>
              <a:rPr lang="en-US" altLang="zh-CN" sz="1800" b="1">
                <a:solidFill>
                  <a:srgbClr val="000000"/>
                </a:solidFill>
                <a:latin typeface="Times New Roman" panose="02020603050405020304" pitchFamily="18" charset="0"/>
                <a:ea typeface="华文楷体" panose="02010600040101010101" pitchFamily="2" charset="-122"/>
              </a:rPr>
              <a:t>enter(stringToDouble(str)); break;</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void Calculator::clear() {	//</a:t>
            </a:r>
            <a:r>
              <a:rPr lang="zh-CN" altLang="en-US" sz="1800" b="1">
                <a:solidFill>
                  <a:srgbClr val="000000"/>
                </a:solidFill>
                <a:latin typeface="Times New Roman" panose="02020603050405020304" pitchFamily="18" charset="0"/>
                <a:ea typeface="华文楷体" panose="02010600040101010101" pitchFamily="2" charset="-122"/>
              </a:rPr>
              <a:t>清空操作数栈</a:t>
            </a:r>
            <a:endParaRPr lang="zh-CN" altLang="en-US"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a:solidFill>
                  <a:srgbClr val="000000"/>
                </a:solidFill>
                <a:latin typeface="Times New Roman" panose="02020603050405020304" pitchFamily="18" charset="0"/>
                <a:ea typeface="华文楷体" panose="02010600040101010101" pitchFamily="2" charset="-122"/>
              </a:rPr>
              <a:t>	</a:t>
            </a:r>
            <a:r>
              <a:rPr lang="en-US" altLang="zh-CN" sz="1800" b="1">
                <a:solidFill>
                  <a:srgbClr val="000000"/>
                </a:solidFill>
                <a:latin typeface="Times New Roman" panose="02020603050405020304" pitchFamily="18" charset="0"/>
                <a:ea typeface="华文楷体" panose="02010600040101010101" pitchFamily="2" charset="-122"/>
              </a:rPr>
              <a:t>s.clear(); </a:t>
            </a:r>
            <a:endParaRPr lang="en-US" altLang="zh-CN" sz="18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a:solidFill>
                  <a:srgbClr val="000000"/>
                </a:solidFill>
                <a:latin typeface="Times New Roman" panose="02020603050405020304" pitchFamily="18" charset="0"/>
                <a:ea typeface="华文楷体" panose="02010600040101010101" pitchFamily="2" charset="-122"/>
              </a:rPr>
              <a:t>}</a:t>
            </a:r>
            <a:endParaRPr lang="en-US" altLang="zh-CN" sz="1800" b="1">
              <a:solidFill>
                <a:srgbClr val="000000"/>
              </a:solidFill>
              <a:latin typeface="Times New Roman" panose="02020603050405020304" pitchFamily="18" charset="0"/>
              <a:ea typeface="华文楷体" panose="02010600040101010101" pitchFamily="2" charset="-122"/>
            </a:endParaRPr>
          </a:p>
        </p:txBody>
      </p:sp>
      <p:sp>
        <p:nvSpPr>
          <p:cNvPr id="65541" name="标题 1"/>
          <p:cNvSpPr>
            <a:spLocks noGrp="1"/>
          </p:cNvSpPr>
          <p:nvPr>
            <p:ph type="title"/>
          </p:nvPr>
        </p:nvSpPr>
        <p:spPr>
          <a:xfrm>
            <a:off x="6084168" y="21658"/>
            <a:ext cx="2614612" cy="1066800"/>
          </a:xfrm>
          <a:solidFill>
            <a:schemeClr val="bg1"/>
          </a:solidFill>
        </p:spPr>
        <p:txBody>
          <a:bodyPr/>
          <a:lstStyle/>
          <a:p>
            <a:r>
              <a:rPr lang="zh-CN" altLang="en-US"/>
              <a:t>例</a:t>
            </a:r>
            <a:r>
              <a:rPr lang="en-US" altLang="zh-CN"/>
              <a:t>9-9 (</a:t>
            </a:r>
            <a:r>
              <a:rPr lang="zh-CN" altLang="en-US"/>
              <a:t>续</a:t>
            </a:r>
            <a:r>
              <a:rPr lang="en-US" altLang="zh-CN"/>
              <a:t>)</a:t>
            </a:r>
            <a:endParaRPr kumimoji="1" lang="zh-CN" altLang="en-US"/>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6563" name="标题 1"/>
          <p:cNvSpPr>
            <a:spLocks noGrp="1"/>
          </p:cNvSpPr>
          <p:nvPr>
            <p:ph type="title"/>
          </p:nvPr>
        </p:nvSpPr>
        <p:spPr/>
        <p:txBody>
          <a:bodyPr/>
          <a:lstStyle/>
          <a:p>
            <a:r>
              <a:rPr lang="zh-CN" altLang="en-US" b="1" dirty="0"/>
              <a:t>例</a:t>
            </a:r>
            <a:r>
              <a:rPr lang="en-US" altLang="zh-CN" b="1" dirty="0"/>
              <a:t>9-9 (</a:t>
            </a:r>
            <a:r>
              <a:rPr lang="zh-CN" altLang="en-US" b="1" dirty="0"/>
              <a:t>续</a:t>
            </a:r>
            <a:r>
              <a:rPr lang="en-US" altLang="zh-CN" b="1" dirty="0"/>
              <a:t>)</a:t>
            </a:r>
            <a:endParaRPr kumimoji="1" lang="zh-CN" altLang="en-US" b="1" dirty="0"/>
          </a:p>
        </p:txBody>
      </p:sp>
      <p:sp>
        <p:nvSpPr>
          <p:cNvPr id="66564" name="内容占位符 2"/>
          <p:cNvSpPr>
            <a:spLocks noGrp="1"/>
          </p:cNvSpPr>
          <p:nvPr>
            <p:ph idx="1"/>
          </p:nvPr>
        </p:nvSpPr>
        <p:spPr>
          <a:xfrm>
            <a:off x="628650" y="1825625"/>
            <a:ext cx="7886700" cy="255454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//9_9.cpp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"Calculator.h"</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int main()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Calculator c;</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c.run();</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9.2.5 </a:t>
            </a:r>
            <a:r>
              <a:rPr lang="zh-CN" altLang="en-US" sz="4400" b="1">
                <a:latin typeface="Times New Roman" panose="02020603050405020304" pitchFamily="18" charset="0"/>
                <a:ea typeface="隶书" panose="02010509060101010101" pitchFamily="49" charset="-122"/>
              </a:rPr>
              <a:t>队列类</a:t>
            </a:r>
            <a:endParaRPr lang="zh-CN" altLang="en-US" sz="4400" b="1">
              <a:latin typeface="Times New Roman" panose="02020603050405020304" pitchFamily="18" charset="0"/>
              <a:ea typeface="隶书" panose="02010509060101010101" pitchFamily="49" charset="-122"/>
            </a:endParaRPr>
          </a:p>
        </p:txBody>
      </p:sp>
      <p:sp>
        <p:nvSpPr>
          <p:cNvPr id="67587"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队列是只能向一端添加元素，从另一端删除元素的线性群体</a:t>
            </a:r>
            <a:endParaRPr lang="zh-CN" altLang="en-US" sz="2400" b="1" dirty="0">
              <a:solidFill>
                <a:srgbClr val="FFFF00"/>
              </a:solidFill>
              <a:ea typeface="华文楷体" panose="02010600040101010101" pitchFamily="2" charset="-122"/>
            </a:endParaRPr>
          </a:p>
        </p:txBody>
      </p:sp>
      <p:grpSp>
        <p:nvGrpSpPr>
          <p:cNvPr id="67590" name="Group 5"/>
          <p:cNvGrpSpPr/>
          <p:nvPr/>
        </p:nvGrpSpPr>
        <p:grpSpPr bwMode="auto">
          <a:xfrm>
            <a:off x="827088" y="3556000"/>
            <a:ext cx="7496175" cy="1528763"/>
            <a:chOff x="750" y="1917"/>
            <a:chExt cx="4722" cy="963"/>
          </a:xfrm>
        </p:grpSpPr>
        <p:sp>
          <p:nvSpPr>
            <p:cNvPr id="67591" name="Line 6"/>
            <p:cNvSpPr>
              <a:spLocks noChangeShapeType="1"/>
            </p:cNvSpPr>
            <p:nvPr/>
          </p:nvSpPr>
          <p:spPr bwMode="auto">
            <a:xfrm>
              <a:off x="1334" y="1917"/>
              <a:ext cx="363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2" name="Line 7"/>
            <p:cNvSpPr>
              <a:spLocks noChangeShapeType="1"/>
            </p:cNvSpPr>
            <p:nvPr/>
          </p:nvSpPr>
          <p:spPr bwMode="auto">
            <a:xfrm>
              <a:off x="1334" y="2326"/>
              <a:ext cx="363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3" name="Line 8"/>
            <p:cNvSpPr>
              <a:spLocks noChangeShapeType="1"/>
            </p:cNvSpPr>
            <p:nvPr/>
          </p:nvSpPr>
          <p:spPr bwMode="auto">
            <a:xfrm>
              <a:off x="1795"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4" name="Line 9"/>
            <p:cNvSpPr>
              <a:spLocks noChangeShapeType="1"/>
            </p:cNvSpPr>
            <p:nvPr/>
          </p:nvSpPr>
          <p:spPr bwMode="auto">
            <a:xfrm>
              <a:off x="2097"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5" name="Line 10"/>
            <p:cNvSpPr>
              <a:spLocks noChangeShapeType="1"/>
            </p:cNvSpPr>
            <p:nvPr/>
          </p:nvSpPr>
          <p:spPr bwMode="auto">
            <a:xfrm>
              <a:off x="2400"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6" name="Line 11"/>
            <p:cNvSpPr>
              <a:spLocks noChangeShapeType="1"/>
            </p:cNvSpPr>
            <p:nvPr/>
          </p:nvSpPr>
          <p:spPr bwMode="auto">
            <a:xfrm>
              <a:off x="2702"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7" name="Line 12"/>
            <p:cNvSpPr>
              <a:spLocks noChangeShapeType="1"/>
            </p:cNvSpPr>
            <p:nvPr/>
          </p:nvSpPr>
          <p:spPr bwMode="auto">
            <a:xfrm>
              <a:off x="3573"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8" name="Line 13"/>
            <p:cNvSpPr>
              <a:spLocks noChangeShapeType="1"/>
            </p:cNvSpPr>
            <p:nvPr/>
          </p:nvSpPr>
          <p:spPr bwMode="auto">
            <a:xfrm>
              <a:off x="3875"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599" name="Line 14"/>
            <p:cNvSpPr>
              <a:spLocks noChangeShapeType="1"/>
            </p:cNvSpPr>
            <p:nvPr/>
          </p:nvSpPr>
          <p:spPr bwMode="auto">
            <a:xfrm>
              <a:off x="4177"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00" name="Line 15"/>
            <p:cNvSpPr>
              <a:spLocks noChangeShapeType="1"/>
            </p:cNvSpPr>
            <p:nvPr/>
          </p:nvSpPr>
          <p:spPr bwMode="auto">
            <a:xfrm>
              <a:off x="4479" y="1917"/>
              <a:ext cx="0" cy="40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01" name="Text Box 16"/>
            <p:cNvSpPr txBox="1">
              <a:spLocks noChangeArrowheads="1"/>
            </p:cNvSpPr>
            <p:nvPr/>
          </p:nvSpPr>
          <p:spPr bwMode="auto">
            <a:xfrm>
              <a:off x="2109" y="1935"/>
              <a:ext cx="867"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1</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2</a:t>
              </a:r>
              <a:endParaRPr lang="en-US" altLang="zh-CN" sz="2000" b="1">
                <a:latin typeface="+mn-lt"/>
                <a:ea typeface="华文楷体" panose="02010600040101010101" pitchFamily="2" charset="-122"/>
              </a:endParaRPr>
            </a:p>
          </p:txBody>
        </p:sp>
        <p:sp>
          <p:nvSpPr>
            <p:cNvPr id="67602" name="Text Box 17"/>
            <p:cNvSpPr txBox="1">
              <a:spLocks noChangeArrowheads="1"/>
            </p:cNvSpPr>
            <p:nvPr/>
          </p:nvSpPr>
          <p:spPr bwMode="auto">
            <a:xfrm>
              <a:off x="3580" y="1935"/>
              <a:ext cx="8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n-1</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n</a:t>
              </a:r>
              <a:endParaRPr lang="en-US" altLang="zh-CN" sz="2000" b="1">
                <a:latin typeface="+mn-lt"/>
                <a:ea typeface="华文楷体" panose="02010600040101010101" pitchFamily="2" charset="-122"/>
              </a:endParaRPr>
            </a:p>
          </p:txBody>
        </p:sp>
        <p:sp>
          <p:nvSpPr>
            <p:cNvPr id="67603" name="Text Box 18"/>
            <p:cNvSpPr txBox="1">
              <a:spLocks noChangeArrowheads="1"/>
            </p:cNvSpPr>
            <p:nvPr/>
          </p:nvSpPr>
          <p:spPr bwMode="auto">
            <a:xfrm>
              <a:off x="2841" y="1944"/>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sp>
          <p:nvSpPr>
            <p:cNvPr id="67604" name="Line 19"/>
            <p:cNvSpPr>
              <a:spLocks noChangeShapeType="1"/>
            </p:cNvSpPr>
            <p:nvPr/>
          </p:nvSpPr>
          <p:spPr bwMode="auto">
            <a:xfrm flipV="1">
              <a:off x="1935" y="2326"/>
              <a:ext cx="0" cy="238"/>
            </a:xfrm>
            <a:prstGeom prst="line">
              <a:avLst/>
            </a:prstGeom>
            <a:noFill/>
            <a:ln w="9525">
              <a:solidFill>
                <a:schemeClr val="tx1"/>
              </a:solidFill>
              <a:round/>
              <a:tailEnd type="triangle" w="sm" len="sm"/>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05" name="Line 20"/>
            <p:cNvSpPr>
              <a:spLocks noChangeShapeType="1"/>
            </p:cNvSpPr>
            <p:nvPr/>
          </p:nvSpPr>
          <p:spPr bwMode="auto">
            <a:xfrm flipV="1">
              <a:off x="4339" y="2326"/>
              <a:ext cx="0" cy="238"/>
            </a:xfrm>
            <a:prstGeom prst="line">
              <a:avLst/>
            </a:prstGeom>
            <a:noFill/>
            <a:ln w="9525">
              <a:solidFill>
                <a:schemeClr val="tx1"/>
              </a:solidFill>
              <a:round/>
              <a:tailEnd type="triangle" w="sm" len="sm"/>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06" name="Text Box 21"/>
            <p:cNvSpPr txBox="1">
              <a:spLocks noChangeArrowheads="1"/>
            </p:cNvSpPr>
            <p:nvPr/>
          </p:nvSpPr>
          <p:spPr bwMode="auto">
            <a:xfrm>
              <a:off x="1647" y="251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000" b="1">
                  <a:latin typeface="+mn-lt"/>
                  <a:ea typeface="华文楷体" panose="02010600040101010101" pitchFamily="2" charset="-122"/>
                </a:rPr>
                <a:t>队头</a:t>
              </a:r>
              <a:endParaRPr lang="zh-CN" altLang="en-US" sz="2000" b="1">
                <a:latin typeface="+mn-lt"/>
                <a:ea typeface="华文楷体" panose="02010600040101010101" pitchFamily="2" charset="-122"/>
              </a:endParaRPr>
            </a:p>
          </p:txBody>
        </p:sp>
        <p:sp>
          <p:nvSpPr>
            <p:cNvPr id="67607" name="Text Box 22"/>
            <p:cNvSpPr txBox="1">
              <a:spLocks noChangeArrowheads="1"/>
            </p:cNvSpPr>
            <p:nvPr/>
          </p:nvSpPr>
          <p:spPr bwMode="auto">
            <a:xfrm>
              <a:off x="4061" y="2511"/>
              <a:ext cx="583"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000" b="1">
                  <a:latin typeface="+mn-lt"/>
                  <a:ea typeface="华文楷体" panose="02010600040101010101" pitchFamily="2" charset="-122"/>
                </a:rPr>
                <a:t>队尾</a:t>
              </a:r>
              <a:endParaRPr lang="zh-CN" altLang="en-US" sz="2000" b="1">
                <a:latin typeface="+mn-lt"/>
                <a:ea typeface="华文楷体" panose="02010600040101010101" pitchFamily="2" charset="-122"/>
              </a:endParaRPr>
            </a:p>
          </p:txBody>
        </p:sp>
        <p:sp>
          <p:nvSpPr>
            <p:cNvPr id="67608" name="Line 23"/>
            <p:cNvSpPr>
              <a:spLocks noChangeShapeType="1"/>
            </p:cNvSpPr>
            <p:nvPr/>
          </p:nvSpPr>
          <p:spPr bwMode="auto">
            <a:xfrm flipH="1">
              <a:off x="1212" y="2142"/>
              <a:ext cx="418" cy="0"/>
            </a:xfrm>
            <a:prstGeom prst="line">
              <a:avLst/>
            </a:prstGeom>
            <a:noFill/>
            <a:ln w="9525">
              <a:solidFill>
                <a:schemeClr val="tx1"/>
              </a:solidFill>
              <a:round/>
              <a:tailEnd type="triangle" w="sm" len="sm"/>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09" name="Line 24"/>
            <p:cNvSpPr>
              <a:spLocks noChangeShapeType="1"/>
            </p:cNvSpPr>
            <p:nvPr/>
          </p:nvSpPr>
          <p:spPr bwMode="auto">
            <a:xfrm flipH="1">
              <a:off x="4583" y="2142"/>
              <a:ext cx="419" cy="0"/>
            </a:xfrm>
            <a:prstGeom prst="line">
              <a:avLst/>
            </a:prstGeom>
            <a:noFill/>
            <a:ln w="9525">
              <a:solidFill>
                <a:schemeClr val="tx1"/>
              </a:solidFill>
              <a:round/>
              <a:tailEnd type="triangle" w="sm" len="sm"/>
            </a:ln>
            <a:extLst>
              <a:ext uri="{909E8E84-426E-40DD-AFC4-6F175D3DCCD1}">
                <a14:hiddenFill xmlns:a14="http://schemas.microsoft.com/office/drawing/2010/main">
                  <a:noFill/>
                </a14:hiddenFill>
              </a:ext>
            </a:extLst>
          </p:spPr>
          <p:txBody>
            <a:bodyPr/>
            <a:lstStyle/>
            <a:p>
              <a:pPr algn="l"/>
              <a:endParaRPr lang="zh-CN" altLang="en-US" b="1">
                <a:latin typeface="+mn-lt"/>
                <a:ea typeface="华文楷体" panose="02010600040101010101" pitchFamily="2" charset="-122"/>
              </a:endParaRPr>
            </a:p>
          </p:txBody>
        </p:sp>
        <p:sp>
          <p:nvSpPr>
            <p:cNvPr id="67610" name="Text Box 25"/>
            <p:cNvSpPr txBox="1">
              <a:spLocks noChangeArrowheads="1"/>
            </p:cNvSpPr>
            <p:nvPr/>
          </p:nvSpPr>
          <p:spPr bwMode="auto">
            <a:xfrm>
              <a:off x="4888" y="1931"/>
              <a:ext cx="58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000" b="1">
                  <a:latin typeface="+mn-lt"/>
                  <a:ea typeface="华文楷体" panose="02010600040101010101" pitchFamily="2" charset="-122"/>
                </a:rPr>
                <a:t>入队</a:t>
              </a:r>
              <a:endParaRPr lang="zh-CN" altLang="en-US" sz="2000" b="1">
                <a:latin typeface="+mn-lt"/>
                <a:ea typeface="华文楷体" panose="02010600040101010101" pitchFamily="2" charset="-122"/>
              </a:endParaRPr>
            </a:p>
          </p:txBody>
        </p:sp>
        <p:sp>
          <p:nvSpPr>
            <p:cNvPr id="67611" name="Text Box 26"/>
            <p:cNvSpPr txBox="1">
              <a:spLocks noChangeArrowheads="1"/>
            </p:cNvSpPr>
            <p:nvPr/>
          </p:nvSpPr>
          <p:spPr bwMode="auto">
            <a:xfrm>
              <a:off x="750" y="1917"/>
              <a:ext cx="58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000" b="1">
                  <a:latin typeface="+mn-lt"/>
                  <a:ea typeface="华文楷体" panose="02010600040101010101" pitchFamily="2" charset="-122"/>
                </a:rPr>
                <a:t>出队</a:t>
              </a:r>
              <a:endParaRPr lang="zh-CN" altLang="en-US" sz="2000" b="1">
                <a:latin typeface="+mn-lt"/>
                <a:ea typeface="华文楷体" panose="02010600040101010101" pitchFamily="2" charset="-122"/>
              </a:endParaRPr>
            </a:p>
          </p:txBody>
        </p:sp>
        <p:sp>
          <p:nvSpPr>
            <p:cNvPr id="67612" name="Text Box 27"/>
            <p:cNvSpPr txBox="1">
              <a:spLocks noChangeArrowheads="1"/>
            </p:cNvSpPr>
            <p:nvPr/>
          </p:nvSpPr>
          <p:spPr bwMode="auto">
            <a:xfrm>
              <a:off x="1830" y="1957"/>
              <a:ext cx="25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0</a:t>
              </a:r>
              <a:endParaRPr lang="en-US" altLang="zh-CN" sz="2000" b="1">
                <a:latin typeface="+mn-lt"/>
                <a:ea typeface="华文楷体" panose="02010600040101010101" pitchFamily="2" charset="-122"/>
              </a:endParaRPr>
            </a:p>
          </p:txBody>
        </p:sp>
      </p:gr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队列的基本状态</a:t>
            </a:r>
            <a:endParaRPr lang="zh-CN" altLang="en-US" sz="4400" b="1">
              <a:latin typeface="Times New Roman" panose="02020603050405020304" pitchFamily="18" charset="0"/>
              <a:ea typeface="隶书" panose="02010509060101010101" pitchFamily="49" charset="-122"/>
            </a:endParaRPr>
          </a:p>
        </p:txBody>
      </p:sp>
      <p:sp>
        <p:nvSpPr>
          <p:cNvPr id="68611" name="内容占位符 2"/>
          <p:cNvSpPr>
            <a:spLocks noGrp="1"/>
          </p:cNvSpPr>
          <p:nvPr>
            <p:ph idx="1"/>
          </p:nvPr>
        </p:nvSpPr>
        <p:spPr>
          <a:xfrm>
            <a:off x="744764" y="1477282"/>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队空</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队列中没有元素</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队满</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队列中元素个数达到上限</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一般状态</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队列中有元素，但未达到队满状态</a:t>
            </a:r>
            <a:endParaRPr lang="zh-CN" altLang="en-US" sz="2400" b="1" dirty="0">
              <a:ea typeface="华文楷体" panose="0201060004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69636" name="Group 81"/>
          <p:cNvGrpSpPr/>
          <p:nvPr/>
        </p:nvGrpSpPr>
        <p:grpSpPr bwMode="auto">
          <a:xfrm>
            <a:off x="304800" y="577850"/>
            <a:ext cx="8532813" cy="1987550"/>
            <a:chOff x="192" y="172"/>
            <a:chExt cx="5375" cy="1252"/>
          </a:xfrm>
        </p:grpSpPr>
        <p:sp>
          <p:nvSpPr>
            <p:cNvPr id="69688" name="Line 5"/>
            <p:cNvSpPr>
              <a:spLocks noChangeShapeType="1"/>
            </p:cNvSpPr>
            <p:nvPr/>
          </p:nvSpPr>
          <p:spPr bwMode="auto">
            <a:xfrm>
              <a:off x="1382" y="619"/>
              <a:ext cx="30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89" name="Line 6"/>
            <p:cNvSpPr>
              <a:spLocks noChangeShapeType="1"/>
            </p:cNvSpPr>
            <p:nvPr/>
          </p:nvSpPr>
          <p:spPr bwMode="auto">
            <a:xfrm>
              <a:off x="1371" y="896"/>
              <a:ext cx="30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0" name="Line 7"/>
            <p:cNvSpPr>
              <a:spLocks noChangeShapeType="1"/>
            </p:cNvSpPr>
            <p:nvPr/>
          </p:nvSpPr>
          <p:spPr bwMode="auto">
            <a:xfrm>
              <a:off x="1382"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1" name="Line 8"/>
            <p:cNvSpPr>
              <a:spLocks noChangeShapeType="1"/>
            </p:cNvSpPr>
            <p:nvPr/>
          </p:nvSpPr>
          <p:spPr bwMode="auto">
            <a:xfrm>
              <a:off x="1726"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2" name="Line 9"/>
            <p:cNvSpPr>
              <a:spLocks noChangeShapeType="1"/>
            </p:cNvSpPr>
            <p:nvPr/>
          </p:nvSpPr>
          <p:spPr bwMode="auto">
            <a:xfrm>
              <a:off x="2070"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3" name="Line 10"/>
            <p:cNvSpPr>
              <a:spLocks noChangeShapeType="1"/>
            </p:cNvSpPr>
            <p:nvPr/>
          </p:nvSpPr>
          <p:spPr bwMode="auto">
            <a:xfrm>
              <a:off x="3078" y="62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4" name="Line 11"/>
            <p:cNvSpPr>
              <a:spLocks noChangeShapeType="1"/>
            </p:cNvSpPr>
            <p:nvPr/>
          </p:nvSpPr>
          <p:spPr bwMode="auto">
            <a:xfrm>
              <a:off x="3405"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5" name="Line 12"/>
            <p:cNvSpPr>
              <a:spLocks noChangeShapeType="1"/>
            </p:cNvSpPr>
            <p:nvPr/>
          </p:nvSpPr>
          <p:spPr bwMode="auto">
            <a:xfrm>
              <a:off x="3749"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6" name="Line 13"/>
            <p:cNvSpPr>
              <a:spLocks noChangeShapeType="1"/>
            </p:cNvSpPr>
            <p:nvPr/>
          </p:nvSpPr>
          <p:spPr bwMode="auto">
            <a:xfrm>
              <a:off x="4093"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7" name="Line 14"/>
            <p:cNvSpPr>
              <a:spLocks noChangeShapeType="1"/>
            </p:cNvSpPr>
            <p:nvPr/>
          </p:nvSpPr>
          <p:spPr bwMode="auto">
            <a:xfrm>
              <a:off x="4436" y="619"/>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98" name="Text Box 15"/>
            <p:cNvSpPr txBox="1">
              <a:spLocks noChangeArrowheads="1"/>
            </p:cNvSpPr>
            <p:nvPr/>
          </p:nvSpPr>
          <p:spPr bwMode="auto">
            <a:xfrm>
              <a:off x="1402" y="610"/>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0</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1</a:t>
              </a:r>
              <a:endParaRPr lang="en-US" altLang="zh-CN" sz="2000" b="1">
                <a:latin typeface="+mn-lt"/>
                <a:ea typeface="华文楷体" panose="02010600040101010101" pitchFamily="2" charset="-122"/>
              </a:endParaRPr>
            </a:p>
          </p:txBody>
        </p:sp>
        <p:sp>
          <p:nvSpPr>
            <p:cNvPr id="69699" name="Text Box 16"/>
            <p:cNvSpPr txBox="1">
              <a:spLocks noChangeArrowheads="1"/>
            </p:cNvSpPr>
            <p:nvPr/>
          </p:nvSpPr>
          <p:spPr bwMode="auto">
            <a:xfrm>
              <a:off x="3076" y="601"/>
              <a:ext cx="134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a</a:t>
              </a:r>
              <a:r>
                <a:rPr lang="en-US" altLang="zh-CN" sz="2000" b="1" baseline="-25000">
                  <a:latin typeface="+mn-lt"/>
                  <a:ea typeface="华文楷体" panose="02010600040101010101" pitchFamily="2" charset="-122"/>
                </a:rPr>
                <a:t>n-1</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n</a:t>
              </a:r>
              <a:endParaRPr lang="en-US" altLang="zh-CN" sz="2000" b="1">
                <a:latin typeface="+mn-lt"/>
                <a:ea typeface="华文楷体" panose="02010600040101010101" pitchFamily="2" charset="-122"/>
              </a:endParaRPr>
            </a:p>
          </p:txBody>
        </p:sp>
        <p:sp>
          <p:nvSpPr>
            <p:cNvPr id="69700" name="Text Box 17"/>
            <p:cNvSpPr txBox="1">
              <a:spLocks noChangeArrowheads="1"/>
            </p:cNvSpPr>
            <p:nvPr/>
          </p:nvSpPr>
          <p:spPr bwMode="auto">
            <a:xfrm>
              <a:off x="2245"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sp>
          <p:nvSpPr>
            <p:cNvPr id="69701" name="Line 18"/>
            <p:cNvSpPr>
              <a:spLocks noChangeShapeType="1"/>
            </p:cNvSpPr>
            <p:nvPr/>
          </p:nvSpPr>
          <p:spPr bwMode="auto">
            <a:xfrm>
              <a:off x="1551" y="422"/>
              <a:ext cx="0" cy="161"/>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702" name="Line 19"/>
            <p:cNvSpPr>
              <a:spLocks noChangeShapeType="1"/>
            </p:cNvSpPr>
            <p:nvPr/>
          </p:nvSpPr>
          <p:spPr bwMode="auto">
            <a:xfrm>
              <a:off x="3584" y="422"/>
              <a:ext cx="0" cy="161"/>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703" name="Text Box 20"/>
            <p:cNvSpPr txBox="1">
              <a:spLocks noChangeArrowheads="1"/>
            </p:cNvSpPr>
            <p:nvPr/>
          </p:nvSpPr>
          <p:spPr bwMode="auto">
            <a:xfrm>
              <a:off x="1233" y="172"/>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队头</a:t>
              </a:r>
              <a:endParaRPr lang="zh-CN" altLang="en-US" sz="2000" b="1">
                <a:latin typeface="+mn-lt"/>
                <a:ea typeface="华文楷体" panose="02010600040101010101" pitchFamily="2" charset="-122"/>
              </a:endParaRPr>
            </a:p>
          </p:txBody>
        </p:sp>
        <p:sp>
          <p:nvSpPr>
            <p:cNvPr id="69704" name="Text Box 21"/>
            <p:cNvSpPr txBox="1">
              <a:spLocks noChangeArrowheads="1"/>
            </p:cNvSpPr>
            <p:nvPr/>
          </p:nvSpPr>
          <p:spPr bwMode="auto">
            <a:xfrm>
              <a:off x="3266" y="18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队尾</a:t>
              </a:r>
              <a:endParaRPr lang="zh-CN" altLang="en-US" sz="2000" b="1">
                <a:latin typeface="+mn-lt"/>
                <a:ea typeface="华文楷体" panose="02010600040101010101" pitchFamily="2" charset="-122"/>
              </a:endParaRPr>
            </a:p>
          </p:txBody>
        </p:sp>
        <p:sp>
          <p:nvSpPr>
            <p:cNvPr id="69705" name="Line 22"/>
            <p:cNvSpPr>
              <a:spLocks noChangeShapeType="1"/>
            </p:cNvSpPr>
            <p:nvPr/>
          </p:nvSpPr>
          <p:spPr bwMode="auto">
            <a:xfrm flipH="1">
              <a:off x="718" y="771"/>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706" name="Line 23"/>
            <p:cNvSpPr>
              <a:spLocks noChangeShapeType="1"/>
            </p:cNvSpPr>
            <p:nvPr/>
          </p:nvSpPr>
          <p:spPr bwMode="auto">
            <a:xfrm flipH="1">
              <a:off x="4555" y="771"/>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707" name="Text Box 24"/>
            <p:cNvSpPr txBox="1">
              <a:spLocks noChangeArrowheads="1"/>
            </p:cNvSpPr>
            <p:nvPr/>
          </p:nvSpPr>
          <p:spPr bwMode="auto">
            <a:xfrm>
              <a:off x="4903" y="628"/>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入队</a:t>
              </a:r>
              <a:endParaRPr lang="zh-CN" altLang="en-US" sz="2000" b="1">
                <a:latin typeface="+mn-lt"/>
                <a:ea typeface="华文楷体" panose="02010600040101010101" pitchFamily="2" charset="-122"/>
              </a:endParaRPr>
            </a:p>
          </p:txBody>
        </p:sp>
        <p:sp>
          <p:nvSpPr>
            <p:cNvPr id="69708" name="Text Box 25"/>
            <p:cNvSpPr txBox="1">
              <a:spLocks noChangeArrowheads="1"/>
            </p:cNvSpPr>
            <p:nvPr/>
          </p:nvSpPr>
          <p:spPr bwMode="auto">
            <a:xfrm>
              <a:off x="192" y="619"/>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出队</a:t>
              </a:r>
              <a:endParaRPr lang="zh-CN" altLang="en-US" sz="2000" b="1">
                <a:latin typeface="+mn-lt"/>
                <a:ea typeface="华文楷体" panose="02010600040101010101" pitchFamily="2" charset="-122"/>
              </a:endParaRPr>
            </a:p>
          </p:txBody>
        </p:sp>
        <p:sp>
          <p:nvSpPr>
            <p:cNvPr id="69709" name="Text Box 26"/>
            <p:cNvSpPr txBox="1">
              <a:spLocks noChangeArrowheads="1"/>
            </p:cNvSpPr>
            <p:nvPr/>
          </p:nvSpPr>
          <p:spPr bwMode="auto">
            <a:xfrm>
              <a:off x="728" y="948"/>
              <a:ext cx="44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数组下标 </a:t>
              </a:r>
              <a:r>
                <a:rPr lang="en-US" altLang="zh-CN" sz="2000" b="1">
                  <a:latin typeface="+mn-lt"/>
                  <a:ea typeface="华文楷体" panose="02010600040101010101" pitchFamily="2" charset="-122"/>
                </a:rPr>
                <a:t>0    1               n-1  n       max</a:t>
              </a:r>
              <a:endParaRPr lang="en-US" altLang="zh-CN" sz="2000" b="1">
                <a:latin typeface="+mn-lt"/>
                <a:ea typeface="华文楷体" panose="02010600040101010101" pitchFamily="2" charset="-122"/>
              </a:endParaRPr>
            </a:p>
          </p:txBody>
        </p:sp>
        <p:sp>
          <p:nvSpPr>
            <p:cNvPr id="69710" name="Text Box 27"/>
            <p:cNvSpPr txBox="1">
              <a:spLocks noChangeArrowheads="1"/>
            </p:cNvSpPr>
            <p:nvPr/>
          </p:nvSpPr>
          <p:spPr bwMode="auto">
            <a:xfrm>
              <a:off x="2423" y="1218"/>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solidFill>
                    <a:srgbClr val="FFFF00"/>
                  </a:solidFill>
                  <a:latin typeface="+mn-lt"/>
                  <a:ea typeface="华文楷体" panose="02010600040101010101" pitchFamily="2" charset="-122"/>
                </a:rPr>
                <a:t>(</a:t>
              </a:r>
              <a:r>
                <a:rPr lang="zh-CN" altLang="en-US" sz="2000" b="1">
                  <a:solidFill>
                    <a:srgbClr val="FFFF00"/>
                  </a:solidFill>
                  <a:latin typeface="+mn-lt"/>
                  <a:ea typeface="华文楷体" panose="02010600040101010101" pitchFamily="2" charset="-122"/>
                </a:rPr>
                <a:t>一般状态</a:t>
              </a:r>
              <a:r>
                <a:rPr lang="en-US" altLang="zh-CN" sz="2000" b="1">
                  <a:solidFill>
                    <a:srgbClr val="FFFF00"/>
                  </a:solidFill>
                  <a:latin typeface="+mn-lt"/>
                  <a:ea typeface="华文楷体" panose="02010600040101010101" pitchFamily="2" charset="-122"/>
                </a:rPr>
                <a:t>)</a:t>
              </a:r>
              <a:endParaRPr lang="en-US" altLang="zh-CN" sz="2000" b="1">
                <a:solidFill>
                  <a:srgbClr val="FFFF00"/>
                </a:solidFill>
                <a:latin typeface="+mn-lt"/>
                <a:ea typeface="华文楷体" panose="02010600040101010101" pitchFamily="2" charset="-122"/>
              </a:endParaRPr>
            </a:p>
          </p:txBody>
        </p:sp>
      </p:grpSp>
      <p:grpSp>
        <p:nvGrpSpPr>
          <p:cNvPr id="69637" name="Group 80"/>
          <p:cNvGrpSpPr/>
          <p:nvPr/>
        </p:nvGrpSpPr>
        <p:grpSpPr bwMode="auto">
          <a:xfrm>
            <a:off x="304800" y="2624138"/>
            <a:ext cx="8532813" cy="2001837"/>
            <a:chOff x="192" y="1527"/>
            <a:chExt cx="5375" cy="1261"/>
          </a:xfrm>
        </p:grpSpPr>
        <p:sp>
          <p:nvSpPr>
            <p:cNvPr id="69668" name="Line 29"/>
            <p:cNvSpPr>
              <a:spLocks noChangeShapeType="1"/>
            </p:cNvSpPr>
            <p:nvPr/>
          </p:nvSpPr>
          <p:spPr bwMode="auto">
            <a:xfrm>
              <a:off x="1382" y="1983"/>
              <a:ext cx="30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69" name="Line 30"/>
            <p:cNvSpPr>
              <a:spLocks noChangeShapeType="1"/>
            </p:cNvSpPr>
            <p:nvPr/>
          </p:nvSpPr>
          <p:spPr bwMode="auto">
            <a:xfrm>
              <a:off x="1371" y="2260"/>
              <a:ext cx="30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0" name="Line 31"/>
            <p:cNvSpPr>
              <a:spLocks noChangeShapeType="1"/>
            </p:cNvSpPr>
            <p:nvPr/>
          </p:nvSpPr>
          <p:spPr bwMode="auto">
            <a:xfrm>
              <a:off x="1382"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1" name="Line 32"/>
            <p:cNvSpPr>
              <a:spLocks noChangeShapeType="1"/>
            </p:cNvSpPr>
            <p:nvPr/>
          </p:nvSpPr>
          <p:spPr bwMode="auto">
            <a:xfrm>
              <a:off x="1726"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2" name="Line 33"/>
            <p:cNvSpPr>
              <a:spLocks noChangeShapeType="1"/>
            </p:cNvSpPr>
            <p:nvPr/>
          </p:nvSpPr>
          <p:spPr bwMode="auto">
            <a:xfrm>
              <a:off x="2070"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3" name="Line 34"/>
            <p:cNvSpPr>
              <a:spLocks noChangeShapeType="1"/>
            </p:cNvSpPr>
            <p:nvPr/>
          </p:nvSpPr>
          <p:spPr bwMode="auto">
            <a:xfrm>
              <a:off x="3078" y="1992"/>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4" name="Line 35"/>
            <p:cNvSpPr>
              <a:spLocks noChangeShapeType="1"/>
            </p:cNvSpPr>
            <p:nvPr/>
          </p:nvSpPr>
          <p:spPr bwMode="auto">
            <a:xfrm>
              <a:off x="3405"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5" name="Line 36"/>
            <p:cNvSpPr>
              <a:spLocks noChangeShapeType="1"/>
            </p:cNvSpPr>
            <p:nvPr/>
          </p:nvSpPr>
          <p:spPr bwMode="auto">
            <a:xfrm>
              <a:off x="3749"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6" name="Line 37"/>
            <p:cNvSpPr>
              <a:spLocks noChangeShapeType="1"/>
            </p:cNvSpPr>
            <p:nvPr/>
          </p:nvSpPr>
          <p:spPr bwMode="auto">
            <a:xfrm>
              <a:off x="4093"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7" name="Line 38"/>
            <p:cNvSpPr>
              <a:spLocks noChangeShapeType="1"/>
            </p:cNvSpPr>
            <p:nvPr/>
          </p:nvSpPr>
          <p:spPr bwMode="auto">
            <a:xfrm>
              <a:off x="4436" y="1983"/>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78" name="Text Box 41"/>
            <p:cNvSpPr txBox="1">
              <a:spLocks noChangeArrowheads="1"/>
            </p:cNvSpPr>
            <p:nvPr/>
          </p:nvSpPr>
          <p:spPr bwMode="auto">
            <a:xfrm>
              <a:off x="2245"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sp>
          <p:nvSpPr>
            <p:cNvPr id="69679" name="Line 42"/>
            <p:cNvSpPr>
              <a:spLocks noChangeShapeType="1"/>
            </p:cNvSpPr>
            <p:nvPr/>
          </p:nvSpPr>
          <p:spPr bwMode="auto">
            <a:xfrm>
              <a:off x="1551" y="1786"/>
              <a:ext cx="0" cy="161"/>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80" name="Text Box 43"/>
            <p:cNvSpPr txBox="1">
              <a:spLocks noChangeArrowheads="1"/>
            </p:cNvSpPr>
            <p:nvPr/>
          </p:nvSpPr>
          <p:spPr bwMode="auto">
            <a:xfrm>
              <a:off x="1233" y="1536"/>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队头</a:t>
              </a:r>
              <a:endParaRPr lang="zh-CN" altLang="en-US" sz="2000" b="1">
                <a:latin typeface="+mn-lt"/>
                <a:ea typeface="华文楷体" panose="02010600040101010101" pitchFamily="2" charset="-122"/>
              </a:endParaRPr>
            </a:p>
          </p:txBody>
        </p:sp>
        <p:sp>
          <p:nvSpPr>
            <p:cNvPr id="69681" name="Text Box 44"/>
            <p:cNvSpPr txBox="1">
              <a:spLocks noChangeArrowheads="1"/>
            </p:cNvSpPr>
            <p:nvPr/>
          </p:nvSpPr>
          <p:spPr bwMode="auto">
            <a:xfrm>
              <a:off x="1570" y="1527"/>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ts val="100"/>
                </a:spcBef>
              </a:pPr>
              <a:r>
                <a:rPr lang="zh-CN" altLang="en-US" sz="2000" b="1">
                  <a:latin typeface="+mn-lt"/>
                  <a:ea typeface="华文楷体" panose="02010600040101010101" pitchFamily="2" charset="-122"/>
                </a:rPr>
                <a:t>队尾</a:t>
              </a:r>
              <a:endParaRPr lang="zh-CN" altLang="en-US" sz="2000" b="1">
                <a:latin typeface="+mn-lt"/>
                <a:ea typeface="华文楷体" panose="02010600040101010101" pitchFamily="2" charset="-122"/>
              </a:endParaRPr>
            </a:p>
          </p:txBody>
        </p:sp>
        <p:sp>
          <p:nvSpPr>
            <p:cNvPr id="69682" name="Line 45"/>
            <p:cNvSpPr>
              <a:spLocks noChangeShapeType="1"/>
            </p:cNvSpPr>
            <p:nvPr/>
          </p:nvSpPr>
          <p:spPr bwMode="auto">
            <a:xfrm flipH="1">
              <a:off x="718" y="2135"/>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83" name="Line 46"/>
            <p:cNvSpPr>
              <a:spLocks noChangeShapeType="1"/>
            </p:cNvSpPr>
            <p:nvPr/>
          </p:nvSpPr>
          <p:spPr bwMode="auto">
            <a:xfrm flipH="1">
              <a:off x="4555" y="2135"/>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84" name="Text Box 47"/>
            <p:cNvSpPr txBox="1">
              <a:spLocks noChangeArrowheads="1"/>
            </p:cNvSpPr>
            <p:nvPr/>
          </p:nvSpPr>
          <p:spPr bwMode="auto">
            <a:xfrm>
              <a:off x="4903" y="1992"/>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入队</a:t>
              </a:r>
              <a:endParaRPr lang="zh-CN" altLang="en-US" sz="2000" b="1">
                <a:latin typeface="+mn-lt"/>
                <a:ea typeface="华文楷体" panose="02010600040101010101" pitchFamily="2" charset="-122"/>
              </a:endParaRPr>
            </a:p>
          </p:txBody>
        </p:sp>
        <p:sp>
          <p:nvSpPr>
            <p:cNvPr id="69685" name="Text Box 48"/>
            <p:cNvSpPr txBox="1">
              <a:spLocks noChangeArrowheads="1"/>
            </p:cNvSpPr>
            <p:nvPr/>
          </p:nvSpPr>
          <p:spPr bwMode="auto">
            <a:xfrm>
              <a:off x="192" y="1983"/>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出队</a:t>
              </a:r>
              <a:endParaRPr lang="zh-CN" altLang="en-US" sz="2000" b="1">
                <a:latin typeface="+mn-lt"/>
                <a:ea typeface="华文楷体" panose="02010600040101010101" pitchFamily="2" charset="-122"/>
              </a:endParaRPr>
            </a:p>
          </p:txBody>
        </p:sp>
        <p:sp>
          <p:nvSpPr>
            <p:cNvPr id="69686" name="Text Box 49"/>
            <p:cNvSpPr txBox="1">
              <a:spLocks noChangeArrowheads="1"/>
            </p:cNvSpPr>
            <p:nvPr/>
          </p:nvSpPr>
          <p:spPr bwMode="auto">
            <a:xfrm>
              <a:off x="542" y="2312"/>
              <a:ext cx="416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数组下标   </a:t>
              </a:r>
              <a:r>
                <a:rPr lang="en-US" altLang="zh-CN" sz="2000" b="1">
                  <a:latin typeface="+mn-lt"/>
                  <a:ea typeface="华文楷体" panose="02010600040101010101" pitchFamily="2" charset="-122"/>
                </a:rPr>
                <a:t>0    1               n-1  n       max</a:t>
              </a:r>
              <a:endParaRPr lang="en-US" altLang="zh-CN" sz="2000" b="1">
                <a:latin typeface="+mn-lt"/>
                <a:ea typeface="华文楷体" panose="02010600040101010101" pitchFamily="2" charset="-122"/>
              </a:endParaRPr>
            </a:p>
          </p:txBody>
        </p:sp>
        <p:sp>
          <p:nvSpPr>
            <p:cNvPr id="69687" name="Text Box 50"/>
            <p:cNvSpPr txBox="1">
              <a:spLocks noChangeArrowheads="1"/>
            </p:cNvSpPr>
            <p:nvPr/>
          </p:nvSpPr>
          <p:spPr bwMode="auto">
            <a:xfrm>
              <a:off x="2423" y="2582"/>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dirty="0">
                  <a:solidFill>
                    <a:srgbClr val="FFFF00"/>
                  </a:solidFill>
                  <a:latin typeface="+mn-lt"/>
                  <a:ea typeface="华文楷体" panose="02010600040101010101" pitchFamily="2" charset="-122"/>
                </a:rPr>
                <a:t>(</a:t>
              </a:r>
              <a:r>
                <a:rPr lang="zh-CN" altLang="en-US" sz="2000" b="1" dirty="0">
                  <a:solidFill>
                    <a:srgbClr val="FFFF00"/>
                  </a:solidFill>
                  <a:latin typeface="+mn-lt"/>
                  <a:ea typeface="华文楷体" panose="02010600040101010101" pitchFamily="2" charset="-122"/>
                </a:rPr>
                <a:t>队空状态</a:t>
              </a:r>
              <a:r>
                <a:rPr lang="en-US" altLang="zh-CN" sz="2000" b="1" dirty="0">
                  <a:solidFill>
                    <a:srgbClr val="FFFF00"/>
                  </a:solidFill>
                  <a:latin typeface="+mn-lt"/>
                  <a:ea typeface="华文楷体" panose="02010600040101010101" pitchFamily="2" charset="-122"/>
                </a:rPr>
                <a:t>)</a:t>
              </a:r>
              <a:endParaRPr lang="en-US" altLang="zh-CN" sz="2000" b="1" dirty="0">
                <a:solidFill>
                  <a:srgbClr val="FFFF00"/>
                </a:solidFill>
                <a:latin typeface="+mn-lt"/>
                <a:ea typeface="华文楷体" panose="02010600040101010101" pitchFamily="2" charset="-122"/>
              </a:endParaRPr>
            </a:p>
          </p:txBody>
        </p:sp>
      </p:grpSp>
      <p:grpSp>
        <p:nvGrpSpPr>
          <p:cNvPr id="69638" name="Group 82"/>
          <p:cNvGrpSpPr/>
          <p:nvPr/>
        </p:nvGrpSpPr>
        <p:grpSpPr bwMode="auto">
          <a:xfrm>
            <a:off x="306388" y="4652963"/>
            <a:ext cx="8532812" cy="1987550"/>
            <a:chOff x="193" y="2901"/>
            <a:chExt cx="5375" cy="1252"/>
          </a:xfrm>
        </p:grpSpPr>
        <p:sp>
          <p:nvSpPr>
            <p:cNvPr id="69645" name="Line 52"/>
            <p:cNvSpPr>
              <a:spLocks noChangeShapeType="1"/>
            </p:cNvSpPr>
            <p:nvPr/>
          </p:nvSpPr>
          <p:spPr bwMode="auto">
            <a:xfrm>
              <a:off x="1383" y="3348"/>
              <a:ext cx="305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46" name="Line 53"/>
            <p:cNvSpPr>
              <a:spLocks noChangeShapeType="1"/>
            </p:cNvSpPr>
            <p:nvPr/>
          </p:nvSpPr>
          <p:spPr bwMode="auto">
            <a:xfrm>
              <a:off x="1372" y="3625"/>
              <a:ext cx="30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47" name="Line 54"/>
            <p:cNvSpPr>
              <a:spLocks noChangeShapeType="1"/>
            </p:cNvSpPr>
            <p:nvPr/>
          </p:nvSpPr>
          <p:spPr bwMode="auto">
            <a:xfrm>
              <a:off x="1383"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48" name="Line 55"/>
            <p:cNvSpPr>
              <a:spLocks noChangeShapeType="1"/>
            </p:cNvSpPr>
            <p:nvPr/>
          </p:nvSpPr>
          <p:spPr bwMode="auto">
            <a:xfrm>
              <a:off x="1727"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49" name="Line 56"/>
            <p:cNvSpPr>
              <a:spLocks noChangeShapeType="1"/>
            </p:cNvSpPr>
            <p:nvPr/>
          </p:nvSpPr>
          <p:spPr bwMode="auto">
            <a:xfrm>
              <a:off x="2071"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0" name="Line 57"/>
            <p:cNvSpPr>
              <a:spLocks noChangeShapeType="1"/>
            </p:cNvSpPr>
            <p:nvPr/>
          </p:nvSpPr>
          <p:spPr bwMode="auto">
            <a:xfrm>
              <a:off x="3079" y="3357"/>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1" name="Line 58"/>
            <p:cNvSpPr>
              <a:spLocks noChangeShapeType="1"/>
            </p:cNvSpPr>
            <p:nvPr/>
          </p:nvSpPr>
          <p:spPr bwMode="auto">
            <a:xfrm>
              <a:off x="3406"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2" name="Line 59"/>
            <p:cNvSpPr>
              <a:spLocks noChangeShapeType="1"/>
            </p:cNvSpPr>
            <p:nvPr/>
          </p:nvSpPr>
          <p:spPr bwMode="auto">
            <a:xfrm>
              <a:off x="3750"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3" name="Line 60"/>
            <p:cNvSpPr>
              <a:spLocks noChangeShapeType="1"/>
            </p:cNvSpPr>
            <p:nvPr/>
          </p:nvSpPr>
          <p:spPr bwMode="auto">
            <a:xfrm>
              <a:off x="4094"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4" name="Line 61"/>
            <p:cNvSpPr>
              <a:spLocks noChangeShapeType="1"/>
            </p:cNvSpPr>
            <p:nvPr/>
          </p:nvSpPr>
          <p:spPr bwMode="auto">
            <a:xfrm>
              <a:off x="4437" y="3348"/>
              <a:ext cx="0" cy="2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5" name="Text Box 62"/>
            <p:cNvSpPr txBox="1">
              <a:spLocks noChangeArrowheads="1"/>
            </p:cNvSpPr>
            <p:nvPr/>
          </p:nvSpPr>
          <p:spPr bwMode="auto">
            <a:xfrm>
              <a:off x="1403" y="3339"/>
              <a:ext cx="10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0</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1</a:t>
              </a:r>
              <a:endParaRPr lang="en-US" altLang="zh-CN" sz="2000" b="1">
                <a:latin typeface="+mn-lt"/>
                <a:ea typeface="华文楷体" panose="02010600040101010101" pitchFamily="2" charset="-122"/>
              </a:endParaRPr>
            </a:p>
          </p:txBody>
        </p:sp>
        <p:sp>
          <p:nvSpPr>
            <p:cNvPr id="69656" name="Text Box 63"/>
            <p:cNvSpPr txBox="1">
              <a:spLocks noChangeArrowheads="1"/>
            </p:cNvSpPr>
            <p:nvPr/>
          </p:nvSpPr>
          <p:spPr bwMode="auto">
            <a:xfrm>
              <a:off x="3077" y="3330"/>
              <a:ext cx="1771"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n-1</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n</a:t>
              </a:r>
              <a:r>
                <a:rPr lang="en-US" altLang="zh-CN" sz="2000" b="1">
                  <a:latin typeface="+mn-lt"/>
                  <a:ea typeface="华文楷体" panose="02010600040101010101" pitchFamily="2" charset="-122"/>
                </a:rPr>
                <a:t>       a</a:t>
              </a:r>
              <a:r>
                <a:rPr lang="en-US" altLang="zh-CN" sz="2000" b="1" baseline="-25000">
                  <a:latin typeface="+mn-lt"/>
                  <a:ea typeface="华文楷体" panose="02010600040101010101" pitchFamily="2" charset="-122"/>
                </a:rPr>
                <a:t>max</a:t>
              </a:r>
              <a:endParaRPr lang="en-US" altLang="zh-CN" sz="2000" b="1">
                <a:latin typeface="+mn-lt"/>
                <a:ea typeface="华文楷体" panose="02010600040101010101" pitchFamily="2" charset="-122"/>
              </a:endParaRPr>
            </a:p>
          </p:txBody>
        </p:sp>
        <p:sp>
          <p:nvSpPr>
            <p:cNvPr id="69657" name="Text Box 64"/>
            <p:cNvSpPr txBox="1">
              <a:spLocks noChangeArrowheads="1"/>
            </p:cNvSpPr>
            <p:nvPr/>
          </p:nvSpPr>
          <p:spPr bwMode="auto">
            <a:xfrm>
              <a:off x="2246"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a:latin typeface="+mn-lt"/>
                  <a:ea typeface="华文楷体" panose="02010600040101010101" pitchFamily="2" charset="-122"/>
                </a:rPr>
                <a:t>……</a:t>
              </a:r>
              <a:endParaRPr lang="en-US" altLang="zh-CN" sz="2000" b="1">
                <a:latin typeface="+mn-lt"/>
                <a:ea typeface="华文楷体" panose="02010600040101010101" pitchFamily="2" charset="-122"/>
              </a:endParaRPr>
            </a:p>
          </p:txBody>
        </p:sp>
        <p:sp>
          <p:nvSpPr>
            <p:cNvPr id="69658" name="Line 65"/>
            <p:cNvSpPr>
              <a:spLocks noChangeShapeType="1"/>
            </p:cNvSpPr>
            <p:nvPr/>
          </p:nvSpPr>
          <p:spPr bwMode="auto">
            <a:xfrm>
              <a:off x="1552" y="3151"/>
              <a:ext cx="0" cy="161"/>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59" name="Line 66"/>
            <p:cNvSpPr>
              <a:spLocks noChangeShapeType="1"/>
            </p:cNvSpPr>
            <p:nvPr/>
          </p:nvSpPr>
          <p:spPr bwMode="auto">
            <a:xfrm>
              <a:off x="4249" y="3151"/>
              <a:ext cx="0" cy="161"/>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60" name="Text Box 67"/>
            <p:cNvSpPr txBox="1">
              <a:spLocks noChangeArrowheads="1"/>
            </p:cNvSpPr>
            <p:nvPr/>
          </p:nvSpPr>
          <p:spPr bwMode="auto">
            <a:xfrm>
              <a:off x="1234" y="2901"/>
              <a:ext cx="6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队头</a:t>
              </a:r>
              <a:endParaRPr lang="zh-CN" altLang="en-US" sz="2000" b="1">
                <a:latin typeface="+mn-lt"/>
                <a:ea typeface="华文楷体" panose="02010600040101010101" pitchFamily="2" charset="-122"/>
              </a:endParaRPr>
            </a:p>
          </p:txBody>
        </p:sp>
        <p:sp>
          <p:nvSpPr>
            <p:cNvPr id="69661" name="Text Box 68"/>
            <p:cNvSpPr txBox="1">
              <a:spLocks noChangeArrowheads="1"/>
            </p:cNvSpPr>
            <p:nvPr/>
          </p:nvSpPr>
          <p:spPr bwMode="auto">
            <a:xfrm>
              <a:off x="3932" y="2910"/>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队尾</a:t>
              </a:r>
              <a:endParaRPr lang="zh-CN" altLang="en-US" sz="2000" b="1">
                <a:latin typeface="+mn-lt"/>
                <a:ea typeface="华文楷体" panose="02010600040101010101" pitchFamily="2" charset="-122"/>
              </a:endParaRPr>
            </a:p>
          </p:txBody>
        </p:sp>
        <p:sp>
          <p:nvSpPr>
            <p:cNvPr id="69662" name="Line 69"/>
            <p:cNvSpPr>
              <a:spLocks noChangeShapeType="1"/>
            </p:cNvSpPr>
            <p:nvPr/>
          </p:nvSpPr>
          <p:spPr bwMode="auto">
            <a:xfrm flipH="1">
              <a:off x="719" y="3500"/>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63" name="Line 70"/>
            <p:cNvSpPr>
              <a:spLocks noChangeShapeType="1"/>
            </p:cNvSpPr>
            <p:nvPr/>
          </p:nvSpPr>
          <p:spPr bwMode="auto">
            <a:xfrm flipH="1">
              <a:off x="4556" y="3500"/>
              <a:ext cx="476"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lIns="0" tIns="0" rIns="0" bIns="0"/>
            <a:lstStyle/>
            <a:p>
              <a:endParaRPr lang="zh-CN" altLang="en-US" b="1">
                <a:latin typeface="+mn-lt"/>
                <a:ea typeface="华文楷体" panose="02010600040101010101" pitchFamily="2" charset="-122"/>
              </a:endParaRPr>
            </a:p>
          </p:txBody>
        </p:sp>
        <p:sp>
          <p:nvSpPr>
            <p:cNvPr id="69664" name="Text Box 71"/>
            <p:cNvSpPr txBox="1">
              <a:spLocks noChangeArrowheads="1"/>
            </p:cNvSpPr>
            <p:nvPr/>
          </p:nvSpPr>
          <p:spPr bwMode="auto">
            <a:xfrm>
              <a:off x="4904" y="3357"/>
              <a:ext cx="6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入队</a:t>
              </a:r>
              <a:endParaRPr lang="zh-CN" altLang="en-US" sz="2000" b="1">
                <a:latin typeface="+mn-lt"/>
                <a:ea typeface="华文楷体" panose="02010600040101010101" pitchFamily="2" charset="-122"/>
              </a:endParaRPr>
            </a:p>
          </p:txBody>
        </p:sp>
        <p:sp>
          <p:nvSpPr>
            <p:cNvPr id="69665" name="Text Box 72"/>
            <p:cNvSpPr txBox="1">
              <a:spLocks noChangeArrowheads="1"/>
            </p:cNvSpPr>
            <p:nvPr/>
          </p:nvSpPr>
          <p:spPr bwMode="auto">
            <a:xfrm>
              <a:off x="193" y="3348"/>
              <a:ext cx="664"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000" b="1">
                  <a:latin typeface="+mn-lt"/>
                  <a:ea typeface="华文楷体" panose="02010600040101010101" pitchFamily="2" charset="-122"/>
                </a:rPr>
                <a:t>出队</a:t>
              </a:r>
              <a:endParaRPr lang="zh-CN" altLang="en-US" sz="2000" b="1">
                <a:latin typeface="+mn-lt"/>
                <a:ea typeface="华文楷体" panose="02010600040101010101" pitchFamily="2" charset="-122"/>
              </a:endParaRPr>
            </a:p>
          </p:txBody>
        </p:sp>
        <p:sp>
          <p:nvSpPr>
            <p:cNvPr id="69666" name="Text Box 73"/>
            <p:cNvSpPr txBox="1">
              <a:spLocks noChangeArrowheads="1"/>
            </p:cNvSpPr>
            <p:nvPr/>
          </p:nvSpPr>
          <p:spPr bwMode="auto">
            <a:xfrm>
              <a:off x="729" y="3677"/>
              <a:ext cx="4647"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latin typeface="+mn-lt"/>
                  <a:ea typeface="华文楷体" panose="02010600040101010101" pitchFamily="2" charset="-122"/>
                </a:rPr>
                <a:t>数组下标  </a:t>
              </a:r>
              <a:r>
                <a:rPr lang="en-US" altLang="zh-CN" sz="2000" b="1">
                  <a:latin typeface="+mn-lt"/>
                  <a:ea typeface="华文楷体" panose="02010600040101010101" pitchFamily="2" charset="-122"/>
                </a:rPr>
                <a:t>0   1               n-1  n       max</a:t>
              </a:r>
              <a:endParaRPr lang="en-US" altLang="zh-CN" sz="2000" b="1">
                <a:latin typeface="+mn-lt"/>
                <a:ea typeface="华文楷体" panose="02010600040101010101" pitchFamily="2" charset="-122"/>
              </a:endParaRPr>
            </a:p>
          </p:txBody>
        </p:sp>
        <p:sp>
          <p:nvSpPr>
            <p:cNvPr id="69667" name="Text Box 74"/>
            <p:cNvSpPr txBox="1">
              <a:spLocks noChangeArrowheads="1"/>
            </p:cNvSpPr>
            <p:nvPr/>
          </p:nvSpPr>
          <p:spPr bwMode="auto">
            <a:xfrm>
              <a:off x="2424" y="3947"/>
              <a:ext cx="76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000" b="1" dirty="0">
                  <a:solidFill>
                    <a:srgbClr val="FFFF00"/>
                  </a:solidFill>
                  <a:latin typeface="+mn-lt"/>
                  <a:ea typeface="华文楷体" panose="02010600040101010101" pitchFamily="2" charset="-122"/>
                </a:rPr>
                <a:t>(</a:t>
              </a:r>
              <a:r>
                <a:rPr lang="zh-CN" altLang="en-US" sz="2000" b="1" dirty="0">
                  <a:solidFill>
                    <a:srgbClr val="FFFF00"/>
                  </a:solidFill>
                  <a:latin typeface="+mn-lt"/>
                  <a:ea typeface="华文楷体" panose="02010600040101010101" pitchFamily="2" charset="-122"/>
                </a:rPr>
                <a:t>队满状态</a:t>
              </a:r>
              <a:r>
                <a:rPr lang="en-US" altLang="zh-CN" sz="2000" b="1" dirty="0">
                  <a:solidFill>
                    <a:srgbClr val="FFFF00"/>
                  </a:solidFill>
                  <a:latin typeface="+mn-lt"/>
                  <a:ea typeface="华文楷体" panose="02010600040101010101" pitchFamily="2" charset="-122"/>
                </a:rPr>
                <a:t>)</a:t>
              </a:r>
              <a:endParaRPr lang="en-US" altLang="zh-CN" sz="2000" b="1" dirty="0">
                <a:solidFill>
                  <a:srgbClr val="FFFF00"/>
                </a:solidFill>
                <a:latin typeface="+mn-lt"/>
                <a:ea typeface="华文楷体" panose="02010600040101010101" pitchFamily="2" charset="-122"/>
              </a:endParaRPr>
            </a:p>
          </p:txBody>
        </p:sp>
      </p:grpSp>
      <p:sp>
        <p:nvSpPr>
          <p:cNvPr id="69639" name="Line 75"/>
          <p:cNvSpPr>
            <a:spLocks noChangeShapeType="1"/>
          </p:cNvSpPr>
          <p:nvPr/>
        </p:nvSpPr>
        <p:spPr bwMode="auto">
          <a:xfrm flipH="1">
            <a:off x="3097213" y="1163638"/>
            <a:ext cx="2171700"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40" name="Text Box 76"/>
          <p:cNvSpPr txBox="1">
            <a:spLocks noChangeArrowheads="1"/>
          </p:cNvSpPr>
          <p:nvPr/>
        </p:nvSpPr>
        <p:spPr bwMode="auto">
          <a:xfrm>
            <a:off x="3490913" y="836613"/>
            <a:ext cx="1716087"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元素移动方向</a:t>
            </a:r>
            <a:endParaRPr lang="zh-CN" altLang="en-US" sz="2000" b="1">
              <a:latin typeface="+mn-lt"/>
              <a:ea typeface="华文楷体" panose="02010600040101010101" pitchFamily="2" charset="-122"/>
            </a:endParaRPr>
          </a:p>
        </p:txBody>
      </p:sp>
      <p:sp>
        <p:nvSpPr>
          <p:cNvPr id="69641" name="Line 77"/>
          <p:cNvSpPr>
            <a:spLocks noChangeShapeType="1"/>
          </p:cNvSpPr>
          <p:nvPr/>
        </p:nvSpPr>
        <p:spPr bwMode="auto">
          <a:xfrm flipH="1">
            <a:off x="3159125" y="5229225"/>
            <a:ext cx="2944813" cy="0"/>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42" name="Text Box 78"/>
          <p:cNvSpPr txBox="1">
            <a:spLocks noChangeArrowheads="1"/>
          </p:cNvSpPr>
          <p:nvPr/>
        </p:nvSpPr>
        <p:spPr bwMode="auto">
          <a:xfrm>
            <a:off x="3725863" y="4902200"/>
            <a:ext cx="1716087" cy="26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000" b="1">
                <a:latin typeface="+mn-lt"/>
                <a:ea typeface="华文楷体" panose="02010600040101010101" pitchFamily="2" charset="-122"/>
              </a:rPr>
              <a:t>元素移动方向</a:t>
            </a:r>
            <a:endParaRPr lang="zh-CN" altLang="en-US" sz="2000" b="1">
              <a:latin typeface="+mn-lt"/>
              <a:ea typeface="华文楷体" panose="02010600040101010101" pitchFamily="2" charset="-122"/>
            </a:endParaRPr>
          </a:p>
        </p:txBody>
      </p:sp>
      <p:sp>
        <p:nvSpPr>
          <p:cNvPr id="69643" name="Line 79"/>
          <p:cNvSpPr>
            <a:spLocks noChangeShapeType="1"/>
          </p:cNvSpPr>
          <p:nvPr/>
        </p:nvSpPr>
        <p:spPr bwMode="auto">
          <a:xfrm>
            <a:off x="2636838" y="3014663"/>
            <a:ext cx="0" cy="284162"/>
          </a:xfrm>
          <a:prstGeom prst="line">
            <a:avLst/>
          </a:prstGeom>
          <a:noFill/>
          <a:ln w="9525">
            <a:solidFill>
              <a:schemeClr val="tx1"/>
            </a:solidFill>
            <a:round/>
            <a:tailEnd type="triangle" w="med" len="lg"/>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69644" name="Text Box 2054"/>
          <p:cNvSpPr txBox="1">
            <a:spLocks noChangeArrowheads="1"/>
          </p:cNvSpPr>
          <p:nvPr/>
        </p:nvSpPr>
        <p:spPr bwMode="auto">
          <a:xfrm>
            <a:off x="8650288" y="665321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66EA6AC9-2912-420A-8CB0-C39AF731896B}" type="slidenum">
              <a:rPr lang="en-US" altLang="zh-CN" sz="1400"/>
            </a:fld>
            <a:endParaRPr lang="en-US" altLang="zh-CN" sz="140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pPr algn="ctr" eaLnBrk="1" hangingPunct="1"/>
            <a:r>
              <a:rPr lang="zh-CN" altLang="en-US" b="1"/>
              <a:t>循环队列</a:t>
            </a:r>
            <a:endParaRPr lang="zh-CN" altLang="en-US" b="1"/>
          </a:p>
        </p:txBody>
      </p:sp>
      <p:sp>
        <p:nvSpPr>
          <p:cNvPr id="70659" name="内容占位符 2"/>
          <p:cNvSpPr>
            <a:spLocks noGrp="1"/>
          </p:cNvSpPr>
          <p:nvPr>
            <p:ph idx="1"/>
          </p:nvPr>
        </p:nvSpPr>
        <p:spPr>
          <a:xfrm>
            <a:off x="683568" y="1844824"/>
            <a:ext cx="7886700" cy="2664296"/>
          </a:xfrm>
        </p:spPr>
        <p:txBody>
          <a:bodyPr/>
          <a:lstStyle/>
          <a:p>
            <a:pPr>
              <a:lnSpc>
                <a:spcPct val="200000"/>
              </a:lnSpc>
              <a:spcAft>
                <a:spcPct val="25000"/>
              </a:spcAft>
            </a:pPr>
            <a:r>
              <a:rPr lang="zh-CN" altLang="en-US" sz="2400" b="1" dirty="0">
                <a:ea typeface="华文楷体" panose="02010600040101010101" pitchFamily="2" charset="-122"/>
              </a:rPr>
              <a:t>在想象中将数组弯曲成环形，元素出队时，后继元素不移动，每当队尾达到数组最后一个元素时，便再回到数组开头。</a:t>
            </a:r>
            <a:endParaRPr lang="zh-CN" altLang="en-US" sz="2400" b="1" dirty="0">
              <a:ea typeface="华文楷体" panose="02010600040101010101" pitchFamily="2"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71684" name="Group 1131"/>
          <p:cNvGrpSpPr/>
          <p:nvPr/>
        </p:nvGrpSpPr>
        <p:grpSpPr bwMode="auto">
          <a:xfrm>
            <a:off x="4916488" y="823913"/>
            <a:ext cx="3770312" cy="2932112"/>
            <a:chOff x="3097" y="317"/>
            <a:chExt cx="2375" cy="1847"/>
          </a:xfrm>
        </p:grpSpPr>
        <p:grpSp>
          <p:nvGrpSpPr>
            <p:cNvPr id="71748" name="Group 1130"/>
            <p:cNvGrpSpPr/>
            <p:nvPr/>
          </p:nvGrpSpPr>
          <p:grpSpPr bwMode="auto">
            <a:xfrm>
              <a:off x="3744" y="498"/>
              <a:ext cx="1324" cy="1324"/>
              <a:chOff x="3744" y="498"/>
              <a:chExt cx="1324" cy="1324"/>
            </a:xfrm>
          </p:grpSpPr>
          <p:sp>
            <p:nvSpPr>
              <p:cNvPr id="71771" name="Oval 1057"/>
              <p:cNvSpPr>
                <a:spLocks noChangeArrowheads="1"/>
              </p:cNvSpPr>
              <p:nvPr/>
            </p:nvSpPr>
            <p:spPr bwMode="auto">
              <a:xfrm>
                <a:off x="3744" y="498"/>
                <a:ext cx="1324" cy="1324"/>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71772" name="Line 1058"/>
              <p:cNvSpPr>
                <a:spLocks noChangeShapeType="1"/>
              </p:cNvSpPr>
              <p:nvPr/>
            </p:nvSpPr>
            <p:spPr bwMode="auto">
              <a:xfrm>
                <a:off x="4396" y="1160"/>
                <a:ext cx="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3" name="Line 1059"/>
              <p:cNvSpPr>
                <a:spLocks noChangeShapeType="1"/>
              </p:cNvSpPr>
              <p:nvPr/>
            </p:nvSpPr>
            <p:spPr bwMode="auto">
              <a:xfrm>
                <a:off x="4401" y="498"/>
                <a:ext cx="0" cy="6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4" name="Line 1060"/>
              <p:cNvSpPr>
                <a:spLocks noChangeShapeType="1"/>
              </p:cNvSpPr>
              <p:nvPr/>
            </p:nvSpPr>
            <p:spPr bwMode="auto">
              <a:xfrm>
                <a:off x="3744" y="1165"/>
                <a:ext cx="1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5" name="Line 1061"/>
              <p:cNvSpPr>
                <a:spLocks noChangeShapeType="1"/>
              </p:cNvSpPr>
              <p:nvPr/>
            </p:nvSpPr>
            <p:spPr bwMode="auto">
              <a:xfrm>
                <a:off x="4067" y="589"/>
                <a:ext cx="334"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6" name="Line 1062"/>
              <p:cNvSpPr>
                <a:spLocks noChangeShapeType="1"/>
              </p:cNvSpPr>
              <p:nvPr/>
            </p:nvSpPr>
            <p:spPr bwMode="auto">
              <a:xfrm>
                <a:off x="3825" y="832"/>
                <a:ext cx="1152" cy="6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7" name="Line 1063"/>
              <p:cNvSpPr>
                <a:spLocks noChangeShapeType="1"/>
              </p:cNvSpPr>
              <p:nvPr/>
            </p:nvSpPr>
            <p:spPr bwMode="auto">
              <a:xfrm flipV="1">
                <a:off x="3825" y="872"/>
                <a:ext cx="1182" cy="5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8" name="Line 1064"/>
              <p:cNvSpPr>
                <a:spLocks noChangeShapeType="1"/>
              </p:cNvSpPr>
              <p:nvPr/>
            </p:nvSpPr>
            <p:spPr bwMode="auto">
              <a:xfrm flipV="1">
                <a:off x="4391" y="609"/>
                <a:ext cx="384" cy="5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9" name="Oval 1065"/>
              <p:cNvSpPr>
                <a:spLocks noChangeArrowheads="1"/>
              </p:cNvSpPr>
              <p:nvPr/>
            </p:nvSpPr>
            <p:spPr bwMode="auto">
              <a:xfrm>
                <a:off x="4007" y="761"/>
                <a:ext cx="798" cy="798"/>
              </a:xfrm>
              <a:prstGeom prst="ellipse">
                <a:avLst/>
              </a:prstGeom>
              <a:solidFill>
                <a:schemeClr val="bg1"/>
              </a:solidFill>
              <a:ln w="9525">
                <a:solidFill>
                  <a:schemeClr val="tx1"/>
                </a:solidFill>
                <a:rou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grpSp>
        <p:sp>
          <p:nvSpPr>
            <p:cNvPr id="71749" name="Text Box 1066"/>
            <p:cNvSpPr txBox="1">
              <a:spLocks noChangeArrowheads="1"/>
            </p:cNvSpPr>
            <p:nvPr/>
          </p:nvSpPr>
          <p:spPr bwMode="auto">
            <a:xfrm>
              <a:off x="409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1</a:t>
              </a:r>
              <a:endParaRPr lang="en-US" altLang="zh-CN" sz="1800" b="1">
                <a:latin typeface="+mn-lt"/>
                <a:ea typeface="华文楷体" panose="02010600040101010101" pitchFamily="2" charset="-122"/>
              </a:endParaRPr>
            </a:p>
          </p:txBody>
        </p:sp>
        <p:sp>
          <p:nvSpPr>
            <p:cNvPr id="71750" name="Text Box 1067"/>
            <p:cNvSpPr txBox="1">
              <a:spLocks noChangeArrowheads="1"/>
            </p:cNvSpPr>
            <p:nvPr/>
          </p:nvSpPr>
          <p:spPr bwMode="auto">
            <a:xfrm>
              <a:off x="375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2</a:t>
              </a:r>
              <a:endParaRPr lang="en-US" altLang="zh-CN" sz="1800" b="1">
                <a:latin typeface="+mn-lt"/>
                <a:ea typeface="华文楷体" panose="02010600040101010101" pitchFamily="2" charset="-122"/>
              </a:endParaRPr>
            </a:p>
          </p:txBody>
        </p:sp>
        <p:sp>
          <p:nvSpPr>
            <p:cNvPr id="71751" name="Text Box 1068"/>
            <p:cNvSpPr txBox="1">
              <a:spLocks noChangeArrowheads="1"/>
            </p:cNvSpPr>
            <p:nvPr/>
          </p:nvSpPr>
          <p:spPr bwMode="auto">
            <a:xfrm>
              <a:off x="356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3</a:t>
              </a:r>
              <a:endParaRPr lang="en-US" altLang="zh-CN" sz="1800" b="1">
                <a:latin typeface="+mn-lt"/>
                <a:ea typeface="华文楷体" panose="02010600040101010101" pitchFamily="2" charset="-122"/>
              </a:endParaRPr>
            </a:p>
          </p:txBody>
        </p:sp>
        <p:sp>
          <p:nvSpPr>
            <p:cNvPr id="71752" name="Text Box 1069"/>
            <p:cNvSpPr txBox="1">
              <a:spLocks noChangeArrowheads="1"/>
            </p:cNvSpPr>
            <p:nvPr/>
          </p:nvSpPr>
          <p:spPr bwMode="auto">
            <a:xfrm>
              <a:off x="358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4</a:t>
              </a:r>
              <a:endParaRPr lang="en-US" altLang="zh-CN" sz="1800" b="1">
                <a:latin typeface="+mn-lt"/>
                <a:ea typeface="华文楷体" panose="02010600040101010101" pitchFamily="2" charset="-122"/>
              </a:endParaRPr>
            </a:p>
          </p:txBody>
        </p:sp>
        <p:sp>
          <p:nvSpPr>
            <p:cNvPr id="71753" name="Text Box 1070"/>
            <p:cNvSpPr txBox="1">
              <a:spLocks noChangeArrowheads="1"/>
            </p:cNvSpPr>
            <p:nvPr/>
          </p:nvSpPr>
          <p:spPr bwMode="auto">
            <a:xfrm>
              <a:off x="410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t>
              </a:r>
              <a:endParaRPr lang="en-US" altLang="zh-CN" sz="1800" b="1">
                <a:latin typeface="+mn-lt"/>
                <a:ea typeface="华文楷体" panose="02010600040101010101" pitchFamily="2" charset="-122"/>
              </a:endParaRPr>
            </a:p>
          </p:txBody>
        </p:sp>
        <p:sp>
          <p:nvSpPr>
            <p:cNvPr id="71754" name="Text Box 1071"/>
            <p:cNvSpPr txBox="1">
              <a:spLocks noChangeArrowheads="1"/>
            </p:cNvSpPr>
            <p:nvPr/>
          </p:nvSpPr>
          <p:spPr bwMode="auto">
            <a:xfrm>
              <a:off x="483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m-1</a:t>
              </a:r>
              <a:endParaRPr lang="en-US" altLang="zh-CN" sz="1800" b="1">
                <a:latin typeface="+mn-lt"/>
                <a:ea typeface="华文楷体" panose="02010600040101010101" pitchFamily="2" charset="-122"/>
              </a:endParaRPr>
            </a:p>
          </p:txBody>
        </p:sp>
        <p:sp>
          <p:nvSpPr>
            <p:cNvPr id="71755" name="Text Box 1072"/>
            <p:cNvSpPr txBox="1">
              <a:spLocks noChangeArrowheads="1"/>
            </p:cNvSpPr>
            <p:nvPr/>
          </p:nvSpPr>
          <p:spPr bwMode="auto">
            <a:xfrm>
              <a:off x="498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m-2</a:t>
              </a:r>
              <a:endParaRPr lang="en-US" altLang="zh-CN" sz="1800" b="1">
                <a:latin typeface="+mn-lt"/>
                <a:ea typeface="华文楷体" panose="02010600040101010101" pitchFamily="2" charset="-122"/>
              </a:endParaRPr>
            </a:p>
          </p:txBody>
        </p:sp>
        <p:sp>
          <p:nvSpPr>
            <p:cNvPr id="71756" name="Text Box 1073"/>
            <p:cNvSpPr txBox="1">
              <a:spLocks noChangeArrowheads="1"/>
            </p:cNvSpPr>
            <p:nvPr/>
          </p:nvSpPr>
          <p:spPr bwMode="auto">
            <a:xfrm>
              <a:off x="496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m-3</a:t>
              </a:r>
              <a:endParaRPr lang="en-US" altLang="zh-CN" sz="1800" b="1">
                <a:latin typeface="+mn-lt"/>
                <a:ea typeface="华文楷体" panose="02010600040101010101" pitchFamily="2" charset="-122"/>
              </a:endParaRPr>
            </a:p>
          </p:txBody>
        </p:sp>
        <p:sp>
          <p:nvSpPr>
            <p:cNvPr id="71757" name="Text Box 1074"/>
            <p:cNvSpPr txBox="1">
              <a:spLocks noChangeArrowheads="1"/>
            </p:cNvSpPr>
            <p:nvPr/>
          </p:nvSpPr>
          <p:spPr bwMode="auto">
            <a:xfrm>
              <a:off x="453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0</a:t>
              </a:r>
              <a:endParaRPr lang="en-US" altLang="zh-CN" sz="1800" b="1">
                <a:latin typeface="+mn-lt"/>
                <a:ea typeface="华文楷体" panose="02010600040101010101" pitchFamily="2" charset="-122"/>
              </a:endParaRPr>
            </a:p>
          </p:txBody>
        </p:sp>
        <p:sp>
          <p:nvSpPr>
            <p:cNvPr id="71758" name="Text Box 1075"/>
            <p:cNvSpPr txBox="1">
              <a:spLocks noChangeArrowheads="1"/>
            </p:cNvSpPr>
            <p:nvPr/>
          </p:nvSpPr>
          <p:spPr bwMode="auto">
            <a:xfrm>
              <a:off x="4459" y="559"/>
              <a:ext cx="2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a:t>
              </a:r>
              <a:endParaRPr lang="en-US" altLang="zh-CN" sz="1800" b="1">
                <a:latin typeface="+mn-lt"/>
                <a:ea typeface="华文楷体" panose="02010600040101010101" pitchFamily="2" charset="-122"/>
              </a:endParaRPr>
            </a:p>
          </p:txBody>
        </p:sp>
        <p:sp>
          <p:nvSpPr>
            <p:cNvPr id="71759" name="Text Box 1076"/>
            <p:cNvSpPr txBox="1">
              <a:spLocks noChangeArrowheads="1"/>
            </p:cNvSpPr>
            <p:nvPr/>
          </p:nvSpPr>
          <p:spPr bwMode="auto">
            <a:xfrm>
              <a:off x="4166" y="549"/>
              <a:ext cx="27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m+1</a:t>
              </a:r>
              <a:endParaRPr lang="en-US" altLang="zh-CN" sz="1800" b="1">
                <a:latin typeface="+mn-lt"/>
                <a:ea typeface="华文楷体" panose="02010600040101010101" pitchFamily="2" charset="-122"/>
              </a:endParaRPr>
            </a:p>
          </p:txBody>
        </p:sp>
        <p:sp>
          <p:nvSpPr>
            <p:cNvPr id="71760" name="Text Box 1077"/>
            <p:cNvSpPr txBox="1">
              <a:spLocks noChangeArrowheads="1"/>
            </p:cNvSpPr>
            <p:nvPr/>
          </p:nvSpPr>
          <p:spPr bwMode="auto">
            <a:xfrm>
              <a:off x="3903" y="69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m+2</a:t>
              </a:r>
              <a:endParaRPr lang="en-US" altLang="zh-CN" sz="1800" b="1">
                <a:latin typeface="+mn-lt"/>
                <a:ea typeface="华文楷体" panose="02010600040101010101" pitchFamily="2" charset="-122"/>
              </a:endParaRPr>
            </a:p>
          </p:txBody>
        </p:sp>
        <p:sp>
          <p:nvSpPr>
            <p:cNvPr id="71761" name="Text Box 1078"/>
            <p:cNvSpPr txBox="1">
              <a:spLocks noChangeArrowheads="1"/>
            </p:cNvSpPr>
            <p:nvPr/>
          </p:nvSpPr>
          <p:spPr bwMode="auto">
            <a:xfrm>
              <a:off x="3802" y="94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3</a:t>
              </a:r>
              <a:endParaRPr lang="en-US" altLang="zh-CN" sz="1800" b="1">
                <a:latin typeface="+mn-lt"/>
                <a:ea typeface="华文楷体" panose="02010600040101010101" pitchFamily="2" charset="-122"/>
              </a:endParaRPr>
            </a:p>
          </p:txBody>
        </p:sp>
        <p:sp>
          <p:nvSpPr>
            <p:cNvPr id="71762" name="Text Box 1079"/>
            <p:cNvSpPr txBox="1">
              <a:spLocks noChangeArrowheads="1"/>
            </p:cNvSpPr>
            <p:nvPr/>
          </p:nvSpPr>
          <p:spPr bwMode="auto">
            <a:xfrm>
              <a:off x="3097" y="1095"/>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队头</a:t>
              </a:r>
              <a:endParaRPr lang="zh-CN" altLang="en-US" sz="1800" b="1">
                <a:latin typeface="+mn-lt"/>
                <a:ea typeface="华文楷体" panose="02010600040101010101" pitchFamily="2" charset="-122"/>
              </a:endParaRPr>
            </a:p>
          </p:txBody>
        </p:sp>
        <p:sp>
          <p:nvSpPr>
            <p:cNvPr id="71763" name="Text Box 1080"/>
            <p:cNvSpPr txBox="1">
              <a:spLocks noChangeArrowheads="1"/>
            </p:cNvSpPr>
            <p:nvPr/>
          </p:nvSpPr>
          <p:spPr bwMode="auto">
            <a:xfrm>
              <a:off x="3137" y="640"/>
              <a:ext cx="506"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队尾</a:t>
              </a:r>
              <a:endParaRPr lang="zh-CN" altLang="en-US" sz="1800" b="1">
                <a:latin typeface="+mn-lt"/>
                <a:ea typeface="华文楷体" panose="02010600040101010101" pitchFamily="2" charset="-122"/>
              </a:endParaRPr>
            </a:p>
          </p:txBody>
        </p:sp>
        <p:sp>
          <p:nvSpPr>
            <p:cNvPr id="71764" name="Text Box 1081"/>
            <p:cNvSpPr txBox="1">
              <a:spLocks noChangeArrowheads="1"/>
            </p:cNvSpPr>
            <p:nvPr/>
          </p:nvSpPr>
          <p:spPr bwMode="auto">
            <a:xfrm>
              <a:off x="3792" y="1186"/>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4</a:t>
              </a:r>
              <a:endParaRPr lang="en-US" altLang="zh-CN" sz="1800" b="1">
                <a:latin typeface="+mn-lt"/>
                <a:ea typeface="华文楷体" panose="02010600040101010101" pitchFamily="2" charset="-122"/>
              </a:endParaRPr>
            </a:p>
          </p:txBody>
        </p:sp>
        <p:sp>
          <p:nvSpPr>
            <p:cNvPr id="71765" name="Text Box 1082"/>
            <p:cNvSpPr txBox="1">
              <a:spLocks noChangeArrowheads="1"/>
            </p:cNvSpPr>
            <p:nvPr/>
          </p:nvSpPr>
          <p:spPr bwMode="auto">
            <a:xfrm>
              <a:off x="4843" y="964"/>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m-2</a:t>
              </a:r>
              <a:endParaRPr lang="en-US" altLang="zh-CN" sz="1800" b="1">
                <a:latin typeface="+mn-lt"/>
                <a:ea typeface="华文楷体" panose="02010600040101010101" pitchFamily="2" charset="-122"/>
              </a:endParaRPr>
            </a:p>
          </p:txBody>
        </p:sp>
        <p:sp>
          <p:nvSpPr>
            <p:cNvPr id="71766" name="Text Box 1083"/>
            <p:cNvSpPr txBox="1">
              <a:spLocks noChangeArrowheads="1"/>
            </p:cNvSpPr>
            <p:nvPr/>
          </p:nvSpPr>
          <p:spPr bwMode="auto">
            <a:xfrm>
              <a:off x="4803" y="1206"/>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m-3</a:t>
              </a:r>
              <a:endParaRPr lang="en-US" altLang="zh-CN" sz="1800" b="1">
                <a:latin typeface="+mn-lt"/>
                <a:ea typeface="华文楷体" panose="02010600040101010101" pitchFamily="2" charset="-122"/>
              </a:endParaRPr>
            </a:p>
          </p:txBody>
        </p:sp>
        <p:sp>
          <p:nvSpPr>
            <p:cNvPr id="71767" name="Text Box 1084"/>
            <p:cNvSpPr txBox="1">
              <a:spLocks noChangeArrowheads="1"/>
            </p:cNvSpPr>
            <p:nvPr/>
          </p:nvSpPr>
          <p:spPr bwMode="auto">
            <a:xfrm>
              <a:off x="4722" y="721"/>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m-1</a:t>
              </a:r>
              <a:endParaRPr lang="en-US" altLang="zh-CN" sz="1800" b="1">
                <a:latin typeface="+mn-lt"/>
                <a:ea typeface="华文楷体" panose="02010600040101010101" pitchFamily="2" charset="-122"/>
              </a:endParaRPr>
            </a:p>
          </p:txBody>
        </p:sp>
        <p:sp>
          <p:nvSpPr>
            <p:cNvPr id="71768" name="Line 1085"/>
            <p:cNvSpPr>
              <a:spLocks noChangeShapeType="1"/>
            </p:cNvSpPr>
            <p:nvPr/>
          </p:nvSpPr>
          <p:spPr bwMode="auto">
            <a:xfrm>
              <a:off x="3562" y="832"/>
              <a:ext cx="212" cy="10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69" name="Line 1086"/>
            <p:cNvSpPr>
              <a:spLocks noChangeShapeType="1"/>
            </p:cNvSpPr>
            <p:nvPr/>
          </p:nvSpPr>
          <p:spPr bwMode="auto">
            <a:xfrm flipV="1">
              <a:off x="3521" y="1085"/>
              <a:ext cx="223" cy="8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70" name="Text Box 1120"/>
            <p:cNvSpPr txBox="1">
              <a:spLocks noChangeArrowheads="1"/>
            </p:cNvSpPr>
            <p:nvPr/>
          </p:nvSpPr>
          <p:spPr bwMode="auto">
            <a:xfrm>
              <a:off x="3501" y="1811"/>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FFFF00"/>
                  </a:solidFill>
                  <a:latin typeface="+mn-lt"/>
                  <a:ea typeface="华文楷体" panose="02010600040101010101" pitchFamily="2" charset="-122"/>
                </a:rPr>
                <a:t>队满状态   元素个数</a:t>
              </a:r>
              <a:r>
                <a:rPr lang="en-US" altLang="zh-CN" sz="1800" b="1" dirty="0">
                  <a:solidFill>
                    <a:srgbClr val="FFFF00"/>
                  </a:solidFill>
                  <a:latin typeface="+mn-lt"/>
                  <a:ea typeface="华文楷体" panose="02010600040101010101" pitchFamily="2" charset="-122"/>
                </a:rPr>
                <a:t>=m</a:t>
              </a:r>
              <a:endParaRPr lang="en-US" altLang="zh-CN" sz="1800" b="1" dirty="0">
                <a:solidFill>
                  <a:srgbClr val="FFFF00"/>
                </a:solidFill>
                <a:latin typeface="+mn-lt"/>
                <a:ea typeface="华文楷体" panose="02010600040101010101" pitchFamily="2" charset="-122"/>
              </a:endParaRPr>
            </a:p>
          </p:txBody>
        </p:sp>
      </p:grpSp>
      <p:grpSp>
        <p:nvGrpSpPr>
          <p:cNvPr id="71685" name="Group 1133"/>
          <p:cNvGrpSpPr/>
          <p:nvPr/>
        </p:nvGrpSpPr>
        <p:grpSpPr bwMode="auto">
          <a:xfrm>
            <a:off x="2590800" y="3860800"/>
            <a:ext cx="3770313" cy="2868613"/>
            <a:chOff x="1632" y="2358"/>
            <a:chExt cx="2375" cy="1807"/>
          </a:xfrm>
        </p:grpSpPr>
        <p:grpSp>
          <p:nvGrpSpPr>
            <p:cNvPr id="71716" name="Group 1132"/>
            <p:cNvGrpSpPr/>
            <p:nvPr/>
          </p:nvGrpSpPr>
          <p:grpSpPr bwMode="auto">
            <a:xfrm>
              <a:off x="2279" y="2539"/>
              <a:ext cx="1324" cy="1325"/>
              <a:chOff x="2279" y="2539"/>
              <a:chExt cx="1324" cy="1325"/>
            </a:xfrm>
          </p:grpSpPr>
          <p:sp>
            <p:nvSpPr>
              <p:cNvPr id="71739" name="Oval 1089"/>
              <p:cNvSpPr>
                <a:spLocks noChangeArrowheads="1"/>
              </p:cNvSpPr>
              <p:nvPr/>
            </p:nvSpPr>
            <p:spPr bwMode="auto">
              <a:xfrm>
                <a:off x="2279" y="2539"/>
                <a:ext cx="1324" cy="1325"/>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71740" name="Line 1090"/>
              <p:cNvSpPr>
                <a:spLocks noChangeShapeType="1"/>
              </p:cNvSpPr>
              <p:nvPr/>
            </p:nvSpPr>
            <p:spPr bwMode="auto">
              <a:xfrm>
                <a:off x="2931" y="3201"/>
                <a:ext cx="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1" name="Line 1091"/>
              <p:cNvSpPr>
                <a:spLocks noChangeShapeType="1"/>
              </p:cNvSpPr>
              <p:nvPr/>
            </p:nvSpPr>
            <p:spPr bwMode="auto">
              <a:xfrm>
                <a:off x="2936" y="2539"/>
                <a:ext cx="0" cy="67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2" name="Line 1092"/>
              <p:cNvSpPr>
                <a:spLocks noChangeShapeType="1"/>
              </p:cNvSpPr>
              <p:nvPr/>
            </p:nvSpPr>
            <p:spPr bwMode="auto">
              <a:xfrm>
                <a:off x="2279" y="3207"/>
                <a:ext cx="1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3" name="Line 1093"/>
              <p:cNvSpPr>
                <a:spLocks noChangeShapeType="1"/>
              </p:cNvSpPr>
              <p:nvPr/>
            </p:nvSpPr>
            <p:spPr bwMode="auto">
              <a:xfrm>
                <a:off x="2602" y="2630"/>
                <a:ext cx="334" cy="5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4" name="Line 1094"/>
              <p:cNvSpPr>
                <a:spLocks noChangeShapeType="1"/>
              </p:cNvSpPr>
              <p:nvPr/>
            </p:nvSpPr>
            <p:spPr bwMode="auto">
              <a:xfrm>
                <a:off x="2360" y="2873"/>
                <a:ext cx="1152" cy="6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5" name="Line 1095"/>
              <p:cNvSpPr>
                <a:spLocks noChangeShapeType="1"/>
              </p:cNvSpPr>
              <p:nvPr/>
            </p:nvSpPr>
            <p:spPr bwMode="auto">
              <a:xfrm flipV="1">
                <a:off x="2360" y="2913"/>
                <a:ext cx="1182" cy="59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6" name="Line 1096"/>
              <p:cNvSpPr>
                <a:spLocks noChangeShapeType="1"/>
              </p:cNvSpPr>
              <p:nvPr/>
            </p:nvSpPr>
            <p:spPr bwMode="auto">
              <a:xfrm flipV="1">
                <a:off x="2926" y="2650"/>
                <a:ext cx="384" cy="55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47" name="Oval 1097"/>
              <p:cNvSpPr>
                <a:spLocks noChangeArrowheads="1"/>
              </p:cNvSpPr>
              <p:nvPr/>
            </p:nvSpPr>
            <p:spPr bwMode="auto">
              <a:xfrm>
                <a:off x="2542" y="2802"/>
                <a:ext cx="798" cy="799"/>
              </a:xfrm>
              <a:prstGeom prst="ellipse">
                <a:avLst/>
              </a:prstGeom>
              <a:solidFill>
                <a:schemeClr val="bg1"/>
              </a:solidFill>
              <a:ln w="9525">
                <a:solidFill>
                  <a:schemeClr val="tx1"/>
                </a:solidFill>
                <a:rou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grpSp>
        <p:sp>
          <p:nvSpPr>
            <p:cNvPr id="71717" name="Text Box 1098"/>
            <p:cNvSpPr txBox="1">
              <a:spLocks noChangeArrowheads="1"/>
            </p:cNvSpPr>
            <p:nvPr/>
          </p:nvSpPr>
          <p:spPr bwMode="auto">
            <a:xfrm>
              <a:off x="2633" y="2368"/>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1</a:t>
              </a:r>
              <a:endParaRPr lang="en-US" altLang="zh-CN" sz="1800" b="1">
                <a:latin typeface="+mn-lt"/>
                <a:ea typeface="华文楷体" panose="02010600040101010101" pitchFamily="2" charset="-122"/>
              </a:endParaRPr>
            </a:p>
          </p:txBody>
        </p:sp>
        <p:sp>
          <p:nvSpPr>
            <p:cNvPr id="71718" name="Text Box 1099"/>
            <p:cNvSpPr txBox="1">
              <a:spLocks noChangeArrowheads="1"/>
            </p:cNvSpPr>
            <p:nvPr/>
          </p:nvSpPr>
          <p:spPr bwMode="auto">
            <a:xfrm>
              <a:off x="2289" y="2550"/>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2</a:t>
              </a:r>
              <a:endParaRPr lang="en-US" altLang="zh-CN" sz="1800" b="1">
                <a:latin typeface="+mn-lt"/>
                <a:ea typeface="华文楷体" panose="02010600040101010101" pitchFamily="2" charset="-122"/>
              </a:endParaRPr>
            </a:p>
          </p:txBody>
        </p:sp>
        <p:sp>
          <p:nvSpPr>
            <p:cNvPr id="71719" name="Text Box 1100"/>
            <p:cNvSpPr txBox="1">
              <a:spLocks noChangeArrowheads="1"/>
            </p:cNvSpPr>
            <p:nvPr/>
          </p:nvSpPr>
          <p:spPr bwMode="auto">
            <a:xfrm>
              <a:off x="2095" y="290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3</a:t>
              </a:r>
              <a:endParaRPr lang="en-US" altLang="zh-CN" sz="1800" b="1">
                <a:latin typeface="+mn-lt"/>
                <a:ea typeface="华文楷体" panose="02010600040101010101" pitchFamily="2" charset="-122"/>
              </a:endParaRPr>
            </a:p>
          </p:txBody>
        </p:sp>
        <p:sp>
          <p:nvSpPr>
            <p:cNvPr id="71720" name="Text Box 1101"/>
            <p:cNvSpPr txBox="1">
              <a:spLocks noChangeArrowheads="1"/>
            </p:cNvSpPr>
            <p:nvPr/>
          </p:nvSpPr>
          <p:spPr bwMode="auto">
            <a:xfrm>
              <a:off x="2115" y="3263"/>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4</a:t>
              </a:r>
              <a:endParaRPr lang="en-US" altLang="zh-CN" sz="1800" b="1">
                <a:latin typeface="+mn-lt"/>
                <a:ea typeface="华文楷体" panose="02010600040101010101" pitchFamily="2" charset="-122"/>
              </a:endParaRPr>
            </a:p>
          </p:txBody>
        </p:sp>
        <p:sp>
          <p:nvSpPr>
            <p:cNvPr id="71721" name="Text Box 1102"/>
            <p:cNvSpPr txBox="1">
              <a:spLocks noChangeArrowheads="1"/>
            </p:cNvSpPr>
            <p:nvPr/>
          </p:nvSpPr>
          <p:spPr bwMode="auto">
            <a:xfrm>
              <a:off x="2643" y="3582"/>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t>
              </a:r>
              <a:endParaRPr lang="en-US" altLang="zh-CN" sz="1800" b="1">
                <a:latin typeface="+mn-lt"/>
                <a:ea typeface="华文楷体" panose="02010600040101010101" pitchFamily="2" charset="-122"/>
              </a:endParaRPr>
            </a:p>
          </p:txBody>
        </p:sp>
        <p:sp>
          <p:nvSpPr>
            <p:cNvPr id="71722" name="Text Box 1103"/>
            <p:cNvSpPr txBox="1">
              <a:spLocks noChangeArrowheads="1"/>
            </p:cNvSpPr>
            <p:nvPr/>
          </p:nvSpPr>
          <p:spPr bwMode="auto">
            <a:xfrm>
              <a:off x="3370" y="2560"/>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m-1</a:t>
              </a:r>
              <a:endParaRPr lang="en-US" altLang="zh-CN" sz="1800" b="1">
                <a:latin typeface="+mn-lt"/>
                <a:ea typeface="华文楷体" panose="02010600040101010101" pitchFamily="2" charset="-122"/>
              </a:endParaRPr>
            </a:p>
          </p:txBody>
        </p:sp>
        <p:sp>
          <p:nvSpPr>
            <p:cNvPr id="71723" name="Text Box 1104"/>
            <p:cNvSpPr txBox="1">
              <a:spLocks noChangeArrowheads="1"/>
            </p:cNvSpPr>
            <p:nvPr/>
          </p:nvSpPr>
          <p:spPr bwMode="auto">
            <a:xfrm>
              <a:off x="3522" y="2904"/>
              <a:ext cx="47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m-2</a:t>
              </a:r>
              <a:endParaRPr lang="en-US" altLang="zh-CN" sz="1800" b="1">
                <a:latin typeface="+mn-lt"/>
                <a:ea typeface="华文楷体" panose="02010600040101010101" pitchFamily="2" charset="-122"/>
              </a:endParaRPr>
            </a:p>
          </p:txBody>
        </p:sp>
        <p:sp>
          <p:nvSpPr>
            <p:cNvPr id="71724" name="Text Box 1105"/>
            <p:cNvSpPr txBox="1">
              <a:spLocks noChangeArrowheads="1"/>
            </p:cNvSpPr>
            <p:nvPr/>
          </p:nvSpPr>
          <p:spPr bwMode="auto">
            <a:xfrm>
              <a:off x="3502" y="3248"/>
              <a:ext cx="50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m-3</a:t>
              </a:r>
              <a:endParaRPr lang="en-US" altLang="zh-CN" sz="1800" b="1">
                <a:latin typeface="+mn-lt"/>
                <a:ea typeface="华文楷体" panose="02010600040101010101" pitchFamily="2" charset="-122"/>
              </a:endParaRPr>
            </a:p>
          </p:txBody>
        </p:sp>
        <p:sp>
          <p:nvSpPr>
            <p:cNvPr id="71725" name="Text Box 1106"/>
            <p:cNvSpPr txBox="1">
              <a:spLocks noChangeArrowheads="1"/>
            </p:cNvSpPr>
            <p:nvPr/>
          </p:nvSpPr>
          <p:spPr bwMode="auto">
            <a:xfrm>
              <a:off x="3067" y="235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0</a:t>
              </a:r>
              <a:endParaRPr lang="en-US" altLang="zh-CN" sz="1800" b="1">
                <a:latin typeface="+mn-lt"/>
                <a:ea typeface="华文楷体" panose="02010600040101010101" pitchFamily="2" charset="-122"/>
              </a:endParaRPr>
            </a:p>
          </p:txBody>
        </p:sp>
        <p:sp>
          <p:nvSpPr>
            <p:cNvPr id="71726" name="Text Box 1107"/>
            <p:cNvSpPr txBox="1">
              <a:spLocks noChangeArrowheads="1"/>
            </p:cNvSpPr>
            <p:nvPr/>
          </p:nvSpPr>
          <p:spPr bwMode="auto">
            <a:xfrm>
              <a:off x="2994" y="2601"/>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27" name="Text Box 1108"/>
            <p:cNvSpPr txBox="1">
              <a:spLocks noChangeArrowheads="1"/>
            </p:cNvSpPr>
            <p:nvPr/>
          </p:nvSpPr>
          <p:spPr bwMode="auto">
            <a:xfrm>
              <a:off x="2701" y="2591"/>
              <a:ext cx="27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28" name="Text Box 1109"/>
            <p:cNvSpPr txBox="1">
              <a:spLocks noChangeArrowheads="1"/>
            </p:cNvSpPr>
            <p:nvPr/>
          </p:nvSpPr>
          <p:spPr bwMode="auto">
            <a:xfrm>
              <a:off x="2438" y="2732"/>
              <a:ext cx="25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29" name="Text Box 1110"/>
            <p:cNvSpPr txBox="1">
              <a:spLocks noChangeArrowheads="1"/>
            </p:cNvSpPr>
            <p:nvPr/>
          </p:nvSpPr>
          <p:spPr bwMode="auto">
            <a:xfrm>
              <a:off x="2337" y="2985"/>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30" name="Text Box 1111"/>
            <p:cNvSpPr txBox="1">
              <a:spLocks noChangeArrowheads="1"/>
            </p:cNvSpPr>
            <p:nvPr/>
          </p:nvSpPr>
          <p:spPr bwMode="auto">
            <a:xfrm>
              <a:off x="1632" y="313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队尾</a:t>
              </a:r>
              <a:endParaRPr lang="zh-CN" altLang="en-US" sz="1800" b="1">
                <a:latin typeface="+mn-lt"/>
                <a:ea typeface="华文楷体" panose="02010600040101010101" pitchFamily="2" charset="-122"/>
              </a:endParaRPr>
            </a:p>
          </p:txBody>
        </p:sp>
        <p:sp>
          <p:nvSpPr>
            <p:cNvPr id="71731" name="Text Box 1112"/>
            <p:cNvSpPr txBox="1">
              <a:spLocks noChangeArrowheads="1"/>
            </p:cNvSpPr>
            <p:nvPr/>
          </p:nvSpPr>
          <p:spPr bwMode="auto">
            <a:xfrm>
              <a:off x="1672" y="2682"/>
              <a:ext cx="50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队头</a:t>
              </a:r>
              <a:endParaRPr lang="zh-CN" altLang="en-US" sz="1800" b="1">
                <a:latin typeface="+mn-lt"/>
                <a:ea typeface="华文楷体" panose="02010600040101010101" pitchFamily="2" charset="-122"/>
              </a:endParaRPr>
            </a:p>
          </p:txBody>
        </p:sp>
        <p:sp>
          <p:nvSpPr>
            <p:cNvPr id="71732" name="Text Box 1113"/>
            <p:cNvSpPr txBox="1">
              <a:spLocks noChangeArrowheads="1"/>
            </p:cNvSpPr>
            <p:nvPr/>
          </p:nvSpPr>
          <p:spPr bwMode="auto">
            <a:xfrm>
              <a:off x="2327" y="3227"/>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33" name="Text Box 1114"/>
            <p:cNvSpPr txBox="1">
              <a:spLocks noChangeArrowheads="1"/>
            </p:cNvSpPr>
            <p:nvPr/>
          </p:nvSpPr>
          <p:spPr bwMode="auto">
            <a:xfrm>
              <a:off x="3378" y="3005"/>
              <a:ext cx="233"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34" name="Text Box 1115"/>
            <p:cNvSpPr txBox="1">
              <a:spLocks noChangeArrowheads="1"/>
            </p:cNvSpPr>
            <p:nvPr/>
          </p:nvSpPr>
          <p:spPr bwMode="auto">
            <a:xfrm>
              <a:off x="3338" y="3248"/>
              <a:ext cx="23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35" name="Text Box 1116"/>
            <p:cNvSpPr txBox="1">
              <a:spLocks noChangeArrowheads="1"/>
            </p:cNvSpPr>
            <p:nvPr/>
          </p:nvSpPr>
          <p:spPr bwMode="auto">
            <a:xfrm>
              <a:off x="3257" y="2762"/>
              <a:ext cx="23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1800" b="1">
                <a:latin typeface="+mn-lt"/>
                <a:ea typeface="华文楷体" panose="02010600040101010101" pitchFamily="2" charset="-122"/>
              </a:endParaRPr>
            </a:p>
          </p:txBody>
        </p:sp>
        <p:sp>
          <p:nvSpPr>
            <p:cNvPr id="71736" name="Line 1117"/>
            <p:cNvSpPr>
              <a:spLocks noChangeShapeType="1"/>
            </p:cNvSpPr>
            <p:nvPr/>
          </p:nvSpPr>
          <p:spPr bwMode="auto">
            <a:xfrm>
              <a:off x="2097" y="2874"/>
              <a:ext cx="212" cy="10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37" name="Line 1118"/>
            <p:cNvSpPr>
              <a:spLocks noChangeShapeType="1"/>
            </p:cNvSpPr>
            <p:nvPr/>
          </p:nvSpPr>
          <p:spPr bwMode="auto">
            <a:xfrm flipV="1">
              <a:off x="2056" y="3126"/>
              <a:ext cx="223" cy="81"/>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38" name="Text Box 1121"/>
            <p:cNvSpPr txBox="1">
              <a:spLocks noChangeArrowheads="1"/>
            </p:cNvSpPr>
            <p:nvPr/>
          </p:nvSpPr>
          <p:spPr bwMode="auto">
            <a:xfrm>
              <a:off x="2016" y="3812"/>
              <a:ext cx="1819"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FFFF00"/>
                  </a:solidFill>
                  <a:latin typeface="+mn-lt"/>
                  <a:ea typeface="华文楷体" panose="02010600040101010101" pitchFamily="2" charset="-122"/>
                </a:rPr>
                <a:t>队空状态   元素个数</a:t>
              </a:r>
              <a:r>
                <a:rPr lang="en-US" altLang="zh-CN" sz="1800" b="1" dirty="0">
                  <a:solidFill>
                    <a:srgbClr val="FFFF00"/>
                  </a:solidFill>
                  <a:latin typeface="+mn-lt"/>
                  <a:ea typeface="华文楷体" panose="02010600040101010101" pitchFamily="2" charset="-122"/>
                </a:rPr>
                <a:t>=0</a:t>
              </a:r>
              <a:endParaRPr lang="en-US" altLang="zh-CN" sz="1800" b="1" dirty="0">
                <a:solidFill>
                  <a:srgbClr val="FFFF00"/>
                </a:solidFill>
                <a:latin typeface="+mn-lt"/>
                <a:ea typeface="华文楷体" panose="02010600040101010101" pitchFamily="2" charset="-122"/>
              </a:endParaRPr>
            </a:p>
          </p:txBody>
        </p:sp>
      </p:grpSp>
      <p:grpSp>
        <p:nvGrpSpPr>
          <p:cNvPr id="71686" name="Group 1128"/>
          <p:cNvGrpSpPr/>
          <p:nvPr/>
        </p:nvGrpSpPr>
        <p:grpSpPr bwMode="auto">
          <a:xfrm>
            <a:off x="762000" y="549275"/>
            <a:ext cx="3400425" cy="3238500"/>
            <a:chOff x="480" y="144"/>
            <a:chExt cx="2142" cy="2040"/>
          </a:xfrm>
        </p:grpSpPr>
        <p:sp>
          <p:nvSpPr>
            <p:cNvPr id="71688" name="Text Box 1027"/>
            <p:cNvSpPr txBox="1">
              <a:spLocks noChangeArrowheads="1"/>
            </p:cNvSpPr>
            <p:nvPr/>
          </p:nvSpPr>
          <p:spPr bwMode="auto">
            <a:xfrm>
              <a:off x="480" y="1590"/>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队尾</a:t>
              </a:r>
              <a:endParaRPr lang="zh-CN" altLang="en-US" sz="1800" b="1">
                <a:latin typeface="+mn-lt"/>
                <a:ea typeface="华文楷体" panose="02010600040101010101" pitchFamily="2" charset="-122"/>
              </a:endParaRPr>
            </a:p>
          </p:txBody>
        </p:sp>
        <p:grpSp>
          <p:nvGrpSpPr>
            <p:cNvPr id="71689" name="Group 1127"/>
            <p:cNvGrpSpPr/>
            <p:nvPr/>
          </p:nvGrpSpPr>
          <p:grpSpPr bwMode="auto">
            <a:xfrm>
              <a:off x="894" y="498"/>
              <a:ext cx="1324" cy="1324"/>
              <a:chOff x="894" y="498"/>
              <a:chExt cx="1324" cy="1324"/>
            </a:xfrm>
          </p:grpSpPr>
          <p:sp>
            <p:nvSpPr>
              <p:cNvPr id="71707" name="Oval 1032"/>
              <p:cNvSpPr>
                <a:spLocks noChangeArrowheads="1"/>
              </p:cNvSpPr>
              <p:nvPr/>
            </p:nvSpPr>
            <p:spPr bwMode="auto">
              <a:xfrm>
                <a:off x="894" y="498"/>
                <a:ext cx="1324" cy="1324"/>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71708" name="Line 1033"/>
              <p:cNvSpPr>
                <a:spLocks noChangeShapeType="1"/>
              </p:cNvSpPr>
              <p:nvPr/>
            </p:nvSpPr>
            <p:spPr bwMode="auto">
              <a:xfrm>
                <a:off x="1546" y="1160"/>
                <a:ext cx="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09" name="Line 1034"/>
              <p:cNvSpPr>
                <a:spLocks noChangeShapeType="1"/>
              </p:cNvSpPr>
              <p:nvPr/>
            </p:nvSpPr>
            <p:spPr bwMode="auto">
              <a:xfrm>
                <a:off x="1551" y="498"/>
                <a:ext cx="0" cy="67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0" name="Line 1035"/>
              <p:cNvSpPr>
                <a:spLocks noChangeShapeType="1"/>
              </p:cNvSpPr>
              <p:nvPr/>
            </p:nvSpPr>
            <p:spPr bwMode="auto">
              <a:xfrm>
                <a:off x="894" y="1165"/>
                <a:ext cx="1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1" name="Line 1036"/>
              <p:cNvSpPr>
                <a:spLocks noChangeShapeType="1"/>
              </p:cNvSpPr>
              <p:nvPr/>
            </p:nvSpPr>
            <p:spPr bwMode="auto">
              <a:xfrm>
                <a:off x="1217" y="589"/>
                <a:ext cx="334" cy="57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2" name="Line 1037"/>
              <p:cNvSpPr>
                <a:spLocks noChangeShapeType="1"/>
              </p:cNvSpPr>
              <p:nvPr/>
            </p:nvSpPr>
            <p:spPr bwMode="auto">
              <a:xfrm>
                <a:off x="975" y="832"/>
                <a:ext cx="1152" cy="66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3" name="Line 1038"/>
              <p:cNvSpPr>
                <a:spLocks noChangeShapeType="1"/>
              </p:cNvSpPr>
              <p:nvPr/>
            </p:nvSpPr>
            <p:spPr bwMode="auto">
              <a:xfrm flipV="1">
                <a:off x="975" y="872"/>
                <a:ext cx="1182" cy="5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4" name="Line 1039"/>
              <p:cNvSpPr>
                <a:spLocks noChangeShapeType="1"/>
              </p:cNvSpPr>
              <p:nvPr/>
            </p:nvSpPr>
            <p:spPr bwMode="auto">
              <a:xfrm flipV="1">
                <a:off x="1541" y="609"/>
                <a:ext cx="384" cy="55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15" name="Oval 1040"/>
              <p:cNvSpPr>
                <a:spLocks noChangeArrowheads="1"/>
              </p:cNvSpPr>
              <p:nvPr/>
            </p:nvSpPr>
            <p:spPr bwMode="auto">
              <a:xfrm>
                <a:off x="1157" y="761"/>
                <a:ext cx="798" cy="798"/>
              </a:xfrm>
              <a:prstGeom prst="ellipse">
                <a:avLst/>
              </a:prstGeom>
              <a:solidFill>
                <a:schemeClr val="bg1"/>
              </a:solidFill>
              <a:ln w="9525">
                <a:solidFill>
                  <a:schemeClr val="tx1"/>
                </a:solidFill>
                <a:rou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grpSp>
        <p:sp>
          <p:nvSpPr>
            <p:cNvPr id="71690" name="Text Box 1041"/>
            <p:cNvSpPr txBox="1">
              <a:spLocks noChangeArrowheads="1"/>
            </p:cNvSpPr>
            <p:nvPr/>
          </p:nvSpPr>
          <p:spPr bwMode="auto">
            <a:xfrm>
              <a:off x="1248" y="327"/>
              <a:ext cx="171"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1</a:t>
              </a:r>
              <a:endParaRPr lang="en-US" altLang="zh-CN" sz="1800" b="1">
                <a:latin typeface="+mn-lt"/>
                <a:ea typeface="华文楷体" panose="02010600040101010101" pitchFamily="2" charset="-122"/>
              </a:endParaRPr>
            </a:p>
          </p:txBody>
        </p:sp>
        <p:sp>
          <p:nvSpPr>
            <p:cNvPr id="71691" name="Text Box 1042"/>
            <p:cNvSpPr txBox="1">
              <a:spLocks noChangeArrowheads="1"/>
            </p:cNvSpPr>
            <p:nvPr/>
          </p:nvSpPr>
          <p:spPr bwMode="auto">
            <a:xfrm>
              <a:off x="904" y="509"/>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2</a:t>
              </a:r>
              <a:endParaRPr lang="en-US" altLang="zh-CN" sz="1800" b="1">
                <a:latin typeface="+mn-lt"/>
                <a:ea typeface="华文楷体" panose="02010600040101010101" pitchFamily="2" charset="-122"/>
              </a:endParaRPr>
            </a:p>
          </p:txBody>
        </p:sp>
        <p:sp>
          <p:nvSpPr>
            <p:cNvPr id="71692" name="Text Box 1043"/>
            <p:cNvSpPr txBox="1">
              <a:spLocks noChangeArrowheads="1"/>
            </p:cNvSpPr>
            <p:nvPr/>
          </p:nvSpPr>
          <p:spPr bwMode="auto">
            <a:xfrm>
              <a:off x="710" y="868"/>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3</a:t>
              </a:r>
              <a:endParaRPr lang="en-US" altLang="zh-CN" sz="1800" b="1">
                <a:latin typeface="+mn-lt"/>
                <a:ea typeface="华文楷体" panose="02010600040101010101" pitchFamily="2" charset="-122"/>
              </a:endParaRPr>
            </a:p>
          </p:txBody>
        </p:sp>
        <p:sp>
          <p:nvSpPr>
            <p:cNvPr id="71693" name="Text Box 1044"/>
            <p:cNvSpPr txBox="1">
              <a:spLocks noChangeArrowheads="1"/>
            </p:cNvSpPr>
            <p:nvPr/>
          </p:nvSpPr>
          <p:spPr bwMode="auto">
            <a:xfrm>
              <a:off x="730" y="1222"/>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4</a:t>
              </a:r>
              <a:endParaRPr lang="en-US" altLang="zh-CN" sz="1800" b="1">
                <a:latin typeface="+mn-lt"/>
                <a:ea typeface="华文楷体" panose="02010600040101010101" pitchFamily="2" charset="-122"/>
              </a:endParaRPr>
            </a:p>
          </p:txBody>
        </p:sp>
        <p:sp>
          <p:nvSpPr>
            <p:cNvPr id="71694" name="Text Box 1045"/>
            <p:cNvSpPr txBox="1">
              <a:spLocks noChangeArrowheads="1"/>
            </p:cNvSpPr>
            <p:nvPr/>
          </p:nvSpPr>
          <p:spPr bwMode="auto">
            <a:xfrm>
              <a:off x="1258" y="1540"/>
              <a:ext cx="596"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t>
              </a:r>
              <a:endParaRPr lang="en-US" altLang="zh-CN" sz="1800" b="1">
                <a:latin typeface="+mn-lt"/>
                <a:ea typeface="华文楷体" panose="02010600040101010101" pitchFamily="2" charset="-122"/>
              </a:endParaRPr>
            </a:p>
          </p:txBody>
        </p:sp>
        <p:sp>
          <p:nvSpPr>
            <p:cNvPr id="71695" name="Text Box 1046"/>
            <p:cNvSpPr txBox="1">
              <a:spLocks noChangeArrowheads="1"/>
            </p:cNvSpPr>
            <p:nvPr/>
          </p:nvSpPr>
          <p:spPr bwMode="auto">
            <a:xfrm>
              <a:off x="1985" y="519"/>
              <a:ext cx="344"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m-1</a:t>
              </a:r>
              <a:endParaRPr lang="en-US" altLang="zh-CN" sz="1800" b="1">
                <a:latin typeface="+mn-lt"/>
                <a:ea typeface="华文楷体" panose="02010600040101010101" pitchFamily="2" charset="-122"/>
              </a:endParaRPr>
            </a:p>
          </p:txBody>
        </p:sp>
        <p:sp>
          <p:nvSpPr>
            <p:cNvPr id="71696" name="Text Box 1047"/>
            <p:cNvSpPr txBox="1">
              <a:spLocks noChangeArrowheads="1"/>
            </p:cNvSpPr>
            <p:nvPr/>
          </p:nvSpPr>
          <p:spPr bwMode="auto">
            <a:xfrm>
              <a:off x="2137" y="863"/>
              <a:ext cx="475"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m-2</a:t>
              </a:r>
              <a:endParaRPr lang="en-US" altLang="zh-CN" sz="1800" b="1">
                <a:latin typeface="+mn-lt"/>
                <a:ea typeface="华文楷体" panose="02010600040101010101" pitchFamily="2" charset="-122"/>
              </a:endParaRPr>
            </a:p>
          </p:txBody>
        </p:sp>
        <p:sp>
          <p:nvSpPr>
            <p:cNvPr id="71697" name="Text Box 1048"/>
            <p:cNvSpPr txBox="1">
              <a:spLocks noChangeArrowheads="1"/>
            </p:cNvSpPr>
            <p:nvPr/>
          </p:nvSpPr>
          <p:spPr bwMode="auto">
            <a:xfrm>
              <a:off x="2117" y="1206"/>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m-3</a:t>
              </a:r>
              <a:endParaRPr lang="en-US" altLang="zh-CN" sz="1800" b="1">
                <a:latin typeface="+mn-lt"/>
                <a:ea typeface="华文楷体" panose="02010600040101010101" pitchFamily="2" charset="-122"/>
              </a:endParaRPr>
            </a:p>
          </p:txBody>
        </p:sp>
        <p:sp>
          <p:nvSpPr>
            <p:cNvPr id="71698" name="Text Box 1049"/>
            <p:cNvSpPr txBox="1">
              <a:spLocks noChangeArrowheads="1"/>
            </p:cNvSpPr>
            <p:nvPr/>
          </p:nvSpPr>
          <p:spPr bwMode="auto">
            <a:xfrm>
              <a:off x="1682" y="317"/>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0</a:t>
              </a:r>
              <a:endParaRPr lang="en-US" altLang="zh-CN" sz="1800" b="1">
                <a:latin typeface="+mn-lt"/>
                <a:ea typeface="华文楷体" panose="02010600040101010101" pitchFamily="2" charset="-122"/>
              </a:endParaRPr>
            </a:p>
          </p:txBody>
        </p:sp>
        <p:sp>
          <p:nvSpPr>
            <p:cNvPr id="71699" name="Text Box 1050"/>
            <p:cNvSpPr txBox="1">
              <a:spLocks noChangeArrowheads="1"/>
            </p:cNvSpPr>
            <p:nvPr/>
          </p:nvSpPr>
          <p:spPr bwMode="auto">
            <a:xfrm>
              <a:off x="1609" y="55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0</a:t>
              </a:r>
              <a:endParaRPr lang="en-US" altLang="zh-CN" sz="1800" b="1">
                <a:latin typeface="+mn-lt"/>
                <a:ea typeface="华文楷体" panose="02010600040101010101" pitchFamily="2" charset="-122"/>
              </a:endParaRPr>
            </a:p>
          </p:txBody>
        </p:sp>
        <p:sp>
          <p:nvSpPr>
            <p:cNvPr id="71700" name="Text Box 1051"/>
            <p:cNvSpPr txBox="1">
              <a:spLocks noChangeArrowheads="1"/>
            </p:cNvSpPr>
            <p:nvPr/>
          </p:nvSpPr>
          <p:spPr bwMode="auto">
            <a:xfrm>
              <a:off x="1316" y="549"/>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1</a:t>
              </a:r>
              <a:endParaRPr lang="en-US" altLang="zh-CN" sz="1800" b="1">
                <a:latin typeface="+mn-lt"/>
                <a:ea typeface="华文楷体" panose="02010600040101010101" pitchFamily="2" charset="-122"/>
              </a:endParaRPr>
            </a:p>
          </p:txBody>
        </p:sp>
        <p:sp>
          <p:nvSpPr>
            <p:cNvPr id="71701" name="Text Box 1052"/>
            <p:cNvSpPr txBox="1">
              <a:spLocks noChangeArrowheads="1"/>
            </p:cNvSpPr>
            <p:nvPr/>
          </p:nvSpPr>
          <p:spPr bwMode="auto">
            <a:xfrm>
              <a:off x="1084" y="691"/>
              <a:ext cx="172"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2</a:t>
              </a:r>
              <a:endParaRPr lang="en-US" altLang="zh-CN" sz="1800" b="1">
                <a:latin typeface="+mn-lt"/>
                <a:ea typeface="华文楷体" panose="02010600040101010101" pitchFamily="2" charset="-122"/>
              </a:endParaRPr>
            </a:p>
          </p:txBody>
        </p:sp>
        <p:sp>
          <p:nvSpPr>
            <p:cNvPr id="71702" name="Text Box 1053"/>
            <p:cNvSpPr txBox="1">
              <a:spLocks noChangeArrowheads="1"/>
            </p:cNvSpPr>
            <p:nvPr/>
          </p:nvSpPr>
          <p:spPr bwMode="auto">
            <a:xfrm>
              <a:off x="953" y="943"/>
              <a:ext cx="17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latin typeface="+mn-lt"/>
                  <a:ea typeface="华文楷体" panose="02010600040101010101" pitchFamily="2" charset="-122"/>
                </a:rPr>
                <a:t>a</a:t>
              </a:r>
              <a:r>
                <a:rPr lang="en-US" altLang="zh-CN" sz="1800" b="1" baseline="-25000">
                  <a:latin typeface="+mn-lt"/>
                  <a:ea typeface="华文楷体" panose="02010600040101010101" pitchFamily="2" charset="-122"/>
                </a:rPr>
                <a:t>3</a:t>
              </a:r>
              <a:endParaRPr lang="en-US" altLang="zh-CN" sz="1800" b="1">
                <a:latin typeface="+mn-lt"/>
                <a:ea typeface="华文楷体" panose="02010600040101010101" pitchFamily="2" charset="-122"/>
              </a:endParaRPr>
            </a:p>
          </p:txBody>
        </p:sp>
        <p:sp>
          <p:nvSpPr>
            <p:cNvPr id="71703" name="Text Box 1054"/>
            <p:cNvSpPr txBox="1">
              <a:spLocks noChangeArrowheads="1"/>
            </p:cNvSpPr>
            <p:nvPr/>
          </p:nvSpPr>
          <p:spPr bwMode="auto">
            <a:xfrm>
              <a:off x="1945" y="144"/>
              <a:ext cx="50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a:latin typeface="+mn-lt"/>
                  <a:ea typeface="华文楷体" panose="02010600040101010101" pitchFamily="2" charset="-122"/>
                </a:rPr>
                <a:t>队头</a:t>
              </a:r>
              <a:endParaRPr lang="zh-CN" altLang="en-US" sz="1800" b="1">
                <a:latin typeface="+mn-lt"/>
                <a:ea typeface="华文楷体" panose="02010600040101010101" pitchFamily="2" charset="-122"/>
              </a:endParaRPr>
            </a:p>
          </p:txBody>
        </p:sp>
        <p:sp>
          <p:nvSpPr>
            <p:cNvPr id="71704" name="Text Box 1119"/>
            <p:cNvSpPr txBox="1">
              <a:spLocks noChangeArrowheads="1"/>
            </p:cNvSpPr>
            <p:nvPr/>
          </p:nvSpPr>
          <p:spPr bwMode="auto">
            <a:xfrm>
              <a:off x="803" y="1831"/>
              <a:ext cx="1475"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1800" b="1" dirty="0">
                  <a:solidFill>
                    <a:srgbClr val="FFFF00"/>
                  </a:solidFill>
                  <a:latin typeface="+mn-lt"/>
                  <a:ea typeface="华文楷体" panose="02010600040101010101" pitchFamily="2" charset="-122"/>
                </a:rPr>
                <a:t>一般状态</a:t>
              </a:r>
              <a:endParaRPr lang="zh-CN" altLang="en-US" sz="1800" b="1" dirty="0">
                <a:solidFill>
                  <a:srgbClr val="FFFF00"/>
                </a:solidFill>
                <a:latin typeface="+mn-lt"/>
                <a:ea typeface="华文楷体" panose="02010600040101010101" pitchFamily="2" charset="-122"/>
              </a:endParaRPr>
            </a:p>
          </p:txBody>
        </p:sp>
        <p:sp>
          <p:nvSpPr>
            <p:cNvPr id="71705" name="Line 1122"/>
            <p:cNvSpPr>
              <a:spLocks noChangeShapeType="1"/>
            </p:cNvSpPr>
            <p:nvPr/>
          </p:nvSpPr>
          <p:spPr bwMode="auto">
            <a:xfrm flipH="1">
              <a:off x="1872" y="288"/>
              <a:ext cx="192" cy="228"/>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sp>
          <p:nvSpPr>
            <p:cNvPr id="71706" name="Line 1123"/>
            <p:cNvSpPr>
              <a:spLocks noChangeShapeType="1"/>
            </p:cNvSpPr>
            <p:nvPr/>
          </p:nvSpPr>
          <p:spPr bwMode="auto">
            <a:xfrm flipV="1">
              <a:off x="720" y="1392"/>
              <a:ext cx="186" cy="144"/>
            </a:xfrm>
            <a:prstGeom prst="line">
              <a:avLst/>
            </a:prstGeom>
            <a:noFill/>
            <a:ln w="9525">
              <a:solidFill>
                <a:schemeClr val="tx1"/>
              </a:solidFill>
              <a:round/>
              <a:tailEnd type="triangle" w="sm" len="med"/>
            </a:ln>
            <a:extLst>
              <a:ext uri="{909E8E84-426E-40DD-AFC4-6F175D3DCCD1}">
                <a14:hiddenFill xmlns:a14="http://schemas.microsoft.com/office/drawing/2010/main">
                  <a:noFill/>
                </a14:hiddenFill>
              </a:ext>
            </a:extLst>
          </p:spPr>
          <p:txBody>
            <a:bodyPr/>
            <a:lstStyle/>
            <a:p>
              <a:endParaRPr lang="zh-CN" altLang="en-US" b="1">
                <a:latin typeface="+mn-lt"/>
                <a:ea typeface="华文楷体" panose="02010600040101010101" pitchFamily="2" charset="-122"/>
              </a:endParaRPr>
            </a:p>
          </p:txBody>
        </p:sp>
      </p:grpSp>
      <p:sp>
        <p:nvSpPr>
          <p:cNvPr id="71687" name="Text Box 18"/>
          <p:cNvSpPr txBox="1">
            <a:spLocks noChangeArrowheads="1"/>
          </p:cNvSpPr>
          <p:nvPr/>
        </p:nvSpPr>
        <p:spPr bwMode="auto">
          <a:xfrm>
            <a:off x="8650288" y="6773863"/>
            <a:ext cx="504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fld id="{523FF29E-6675-4F2A-94BE-2BEEA76685FE}" type="slidenum">
              <a:rPr lang="en-US" altLang="zh-CN" sz="1400"/>
            </a:fld>
            <a:endParaRPr lang="en-US" altLang="zh-CN" sz="1400"/>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b="1"/>
              <a:t>例</a:t>
            </a:r>
            <a:r>
              <a:rPr lang="en-US" altLang="zh-CN" b="1"/>
              <a:t>9-10 </a:t>
            </a:r>
            <a:r>
              <a:rPr lang="zh-CN" altLang="en-US" b="1"/>
              <a:t>队列类模板</a:t>
            </a:r>
            <a:endParaRPr lang="zh-CN" altLang="en-US" b="1"/>
          </a:p>
        </p:txBody>
      </p:sp>
      <p:sp>
        <p:nvSpPr>
          <p:cNvPr id="72707" name="内容占位符 2"/>
          <p:cNvSpPr>
            <a:spLocks noGrp="1"/>
          </p:cNvSpPr>
          <p:nvPr>
            <p:ph idx="1"/>
          </p:nvPr>
        </p:nvSpPr>
        <p:spPr>
          <a:xfrm>
            <a:off x="395536" y="1052736"/>
            <a:ext cx="8496944" cy="532453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Queue.h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ifndef</a:t>
            </a:r>
            <a:r>
              <a:rPr lang="en-US" altLang="zh-CN" sz="2000" b="1" dirty="0">
                <a:solidFill>
                  <a:srgbClr val="000000"/>
                </a:solidFill>
                <a:latin typeface="Times New Roman" panose="02020603050405020304" pitchFamily="18" charset="0"/>
                <a:ea typeface="华文楷体" panose="02010600040101010101" pitchFamily="2" charset="-122"/>
              </a:rPr>
              <a:t> QUEUE_H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#define QUEUE_H</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cassert</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类模板的定义</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SIZE = 50&gt;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Queue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front, rear, count;	//</a:t>
            </a:r>
            <a:r>
              <a:rPr lang="zh-CN" altLang="en-US" sz="2000" b="1" dirty="0">
                <a:solidFill>
                  <a:srgbClr val="000000"/>
                </a:solidFill>
                <a:latin typeface="Times New Roman" panose="02020603050405020304" pitchFamily="18" charset="0"/>
                <a:ea typeface="华文楷体" panose="02010600040101010101" pitchFamily="2" charset="-122"/>
              </a:rPr>
              <a:t>队头指针、队尾指针、元素个数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T list[SIZE];		//</a:t>
            </a:r>
            <a:r>
              <a:rPr lang="zh-CN" altLang="en-US" sz="2000" b="1" dirty="0">
                <a:solidFill>
                  <a:srgbClr val="000000"/>
                </a:solidFill>
                <a:latin typeface="Times New Roman" panose="02020603050405020304" pitchFamily="18" charset="0"/>
                <a:ea typeface="华文楷体" panose="02010600040101010101" pitchFamily="2" charset="-122"/>
              </a:rPr>
              <a:t>队列元素数组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Queue();          //</a:t>
            </a:r>
            <a:r>
              <a:rPr lang="zh-CN" altLang="en-US" sz="2000" b="1" dirty="0">
                <a:solidFill>
                  <a:srgbClr val="000000"/>
                </a:solidFill>
                <a:latin typeface="Times New Roman" panose="02020603050405020304" pitchFamily="18" charset="0"/>
                <a:ea typeface="华文楷体" panose="02010600040101010101" pitchFamily="2" charset="-122"/>
              </a:rPr>
              <a:t>构造函数，初始化队头指针、队尾指针、元素个数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insert(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&amp;item);	//</a:t>
            </a:r>
            <a:r>
              <a:rPr lang="zh-CN" altLang="en-US" sz="2000" b="1" dirty="0">
                <a:solidFill>
                  <a:srgbClr val="000000"/>
                </a:solidFill>
                <a:latin typeface="Times New Roman" panose="02020603050405020304" pitchFamily="18" charset="0"/>
                <a:ea typeface="华文楷体" panose="02010600040101010101" pitchFamily="2" charset="-122"/>
              </a:rPr>
              <a:t>新元素入队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T remove();			//</a:t>
            </a:r>
            <a:r>
              <a:rPr lang="zh-CN" altLang="en-US" sz="2000" b="1" dirty="0">
                <a:solidFill>
                  <a:srgbClr val="000000"/>
                </a:solidFill>
                <a:latin typeface="Times New Roman" panose="02020603050405020304" pitchFamily="18" charset="0"/>
                <a:ea typeface="华文楷体" panose="02010600040101010101" pitchFamily="2" charset="-122"/>
              </a:rPr>
              <a:t>元素出队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clear();			//</a:t>
            </a:r>
            <a:r>
              <a:rPr lang="zh-CN" altLang="en-US" sz="2000" b="1" dirty="0">
                <a:solidFill>
                  <a:srgbClr val="000000"/>
                </a:solidFill>
                <a:latin typeface="Times New Roman" panose="02020603050405020304" pitchFamily="18" charset="0"/>
                <a:ea typeface="华文楷体" panose="02010600040101010101" pitchFamily="2" charset="-122"/>
              </a:rPr>
              <a:t>清空队列</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a:t>
            </a:r>
            <a:r>
              <a:rPr lang="en-US" altLang="zh-CN" sz="2000" b="1" dirty="0" err="1">
                <a:solidFill>
                  <a:srgbClr val="000000"/>
                </a:solidFill>
                <a:latin typeface="Times New Roman" panose="02020603050405020304" pitchFamily="18" charset="0"/>
                <a:ea typeface="华文楷体" panose="02010600040101010101" pitchFamily="2" charset="-122"/>
              </a:rPr>
              <a:t>getFront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访问队首元素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内容占位符 2"/>
          <p:cNvSpPr>
            <a:spLocks noGrp="1"/>
          </p:cNvSpPr>
          <p:nvPr>
            <p:ph idx="1"/>
          </p:nvPr>
        </p:nvSpPr>
        <p:spPr>
          <a:xfrm>
            <a:off x="467544" y="188640"/>
            <a:ext cx="8229600" cy="646330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测试队列状态</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getLength</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求队列长度</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bool </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判队队列空否</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bool </a:t>
            </a:r>
            <a:r>
              <a:rPr lang="en-US" altLang="zh-CN" sz="1800" b="1" dirty="0" err="1">
                <a:solidFill>
                  <a:srgbClr val="000000"/>
                </a:solidFill>
                <a:latin typeface="Times New Roman" panose="02020603050405020304" pitchFamily="18" charset="0"/>
                <a:ea typeface="华文楷体" panose="02010600040101010101" pitchFamily="2" charset="-122"/>
              </a:rPr>
              <a:t>isFull</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判断队列满否</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构造函数，初始化队头指针、队尾指针、元素个数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Queue&lt;T, SIZE&gt;::Queue() : front(0), rear(0), count(0)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Queue&lt;T, SIZE&gt;::insert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T&amp; item) {//</a:t>
            </a:r>
            <a:r>
              <a:rPr lang="zh-CN" altLang="en-US" sz="1800" b="1" dirty="0">
                <a:solidFill>
                  <a:srgbClr val="000000"/>
                </a:solidFill>
                <a:latin typeface="Times New Roman" panose="02020603050405020304" pitchFamily="18" charset="0"/>
                <a:ea typeface="华文楷体" panose="02010600040101010101" pitchFamily="2" charset="-122"/>
              </a:rPr>
              <a:t>向队尾插入元素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assert(count != SIZE);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count++;	//</a:t>
            </a:r>
            <a:r>
              <a:rPr lang="zh-CN" altLang="en-US" sz="1800" b="1" dirty="0">
                <a:solidFill>
                  <a:srgbClr val="000000"/>
                </a:solidFill>
                <a:latin typeface="Times New Roman" panose="02020603050405020304" pitchFamily="18" charset="0"/>
                <a:ea typeface="华文楷体" panose="02010600040101010101" pitchFamily="2" charset="-122"/>
              </a:rPr>
              <a:t>元素个数增</a:t>
            </a:r>
            <a:r>
              <a:rPr lang="en-US" altLang="zh-CN" sz="1800" b="1" dirty="0">
                <a:solidFill>
                  <a:srgbClr val="000000"/>
                </a:solidFill>
                <a:latin typeface="Times New Roman" panose="02020603050405020304" pitchFamily="18" charset="0"/>
                <a:ea typeface="华文楷体" panose="02010600040101010101" pitchFamily="2" charset="-122"/>
              </a:rPr>
              <a:t>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list[rear] = item;	//</a:t>
            </a:r>
            <a:r>
              <a:rPr lang="zh-CN" altLang="en-US" sz="1800" b="1" dirty="0">
                <a:solidFill>
                  <a:srgbClr val="000000"/>
                </a:solidFill>
                <a:latin typeface="Times New Roman" panose="02020603050405020304" pitchFamily="18" charset="0"/>
                <a:ea typeface="华文楷体" panose="02010600040101010101" pitchFamily="2" charset="-122"/>
              </a:rPr>
              <a:t>向队尾插入元素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rear = (rear + 1) % SIZE;	//</a:t>
            </a:r>
            <a:r>
              <a:rPr lang="zh-CN" altLang="en-US" sz="1800" b="1" dirty="0">
                <a:solidFill>
                  <a:srgbClr val="000000"/>
                </a:solidFill>
                <a:latin typeface="Times New Roman" panose="02020603050405020304" pitchFamily="18" charset="0"/>
                <a:ea typeface="华文楷体" panose="02010600040101010101" pitchFamily="2" charset="-122"/>
              </a:rPr>
              <a:t>队尾指针增</a:t>
            </a:r>
            <a:r>
              <a:rPr lang="en-US" altLang="zh-CN" sz="1800" b="1" dirty="0">
                <a:solidFill>
                  <a:srgbClr val="000000"/>
                </a:solidFill>
                <a:latin typeface="Times New Roman" panose="02020603050405020304" pitchFamily="18" charset="0"/>
                <a:ea typeface="华文楷体" panose="02010600040101010101" pitchFamily="2" charset="-122"/>
              </a:rPr>
              <a:t>1</a:t>
            </a:r>
            <a:r>
              <a:rPr lang="zh-CN" altLang="en-US" sz="1800" b="1" dirty="0">
                <a:solidFill>
                  <a:srgbClr val="000000"/>
                </a:solidFill>
                <a:latin typeface="Times New Roman" panose="02020603050405020304" pitchFamily="18" charset="0"/>
                <a:ea typeface="华文楷体" panose="02010600040101010101" pitchFamily="2" charset="-122"/>
              </a:rPr>
              <a:t>，用取余运算实现循环队列</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 T Queue&lt;T, SIZE&gt;::remove()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assert(count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temp = front;	//</a:t>
            </a:r>
            <a:r>
              <a:rPr lang="zh-CN" altLang="en-US" sz="1800" b="1" dirty="0">
                <a:solidFill>
                  <a:srgbClr val="000000"/>
                </a:solidFill>
                <a:latin typeface="Times New Roman" panose="02020603050405020304" pitchFamily="18" charset="0"/>
                <a:ea typeface="华文楷体" panose="02010600040101010101" pitchFamily="2" charset="-122"/>
              </a:rPr>
              <a:t>记录下原先的队首指针</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count--;			//</a:t>
            </a:r>
            <a:r>
              <a:rPr lang="zh-CN" altLang="en-US" sz="1800" b="1" dirty="0">
                <a:solidFill>
                  <a:srgbClr val="000000"/>
                </a:solidFill>
                <a:latin typeface="Times New Roman" panose="02020603050405020304" pitchFamily="18" charset="0"/>
                <a:ea typeface="华文楷体" panose="02010600040101010101" pitchFamily="2" charset="-122"/>
              </a:rPr>
              <a:t>元素个数自减</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front = (front + 1) % SIZE;//</a:t>
            </a:r>
            <a:r>
              <a:rPr lang="zh-CN" altLang="en-US" sz="1800" b="1" dirty="0">
                <a:solidFill>
                  <a:srgbClr val="000000"/>
                </a:solidFill>
                <a:latin typeface="Times New Roman" panose="02020603050405020304" pitchFamily="18" charset="0"/>
                <a:ea typeface="华文楷体" panose="02010600040101010101" pitchFamily="2" charset="-122"/>
              </a:rPr>
              <a:t>队首指针增</a:t>
            </a:r>
            <a:r>
              <a:rPr lang="en-US" altLang="zh-CN" sz="1800" b="1" dirty="0">
                <a:solidFill>
                  <a:srgbClr val="000000"/>
                </a:solidFill>
                <a:latin typeface="Times New Roman" panose="02020603050405020304" pitchFamily="18" charset="0"/>
                <a:ea typeface="华文楷体" panose="02010600040101010101" pitchFamily="2" charset="-122"/>
              </a:rPr>
              <a:t>1</a:t>
            </a:r>
            <a:r>
              <a:rPr lang="zh-CN" altLang="en-US" sz="1800" b="1" dirty="0">
                <a:solidFill>
                  <a:srgbClr val="000000"/>
                </a:solidFill>
                <a:latin typeface="Times New Roman" panose="02020603050405020304" pitchFamily="18" charset="0"/>
                <a:ea typeface="华文楷体" panose="02010600040101010101" pitchFamily="2" charset="-122"/>
              </a:rPr>
              <a:t>。取余以实现循环队列</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list[temp];	//</a:t>
            </a:r>
            <a:r>
              <a:rPr lang="zh-CN" altLang="en-US" sz="1800" b="1" dirty="0">
                <a:solidFill>
                  <a:srgbClr val="000000"/>
                </a:solidFill>
                <a:latin typeface="Times New Roman" panose="02020603050405020304" pitchFamily="18" charset="0"/>
                <a:ea typeface="华文楷体" panose="02010600040101010101" pitchFamily="2" charset="-122"/>
              </a:rPr>
              <a:t>返回首元素值</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zh-CN" altLang="en-US" sz="1800" b="1" dirty="0">
              <a:solidFill>
                <a:srgbClr val="000000"/>
              </a:solidFill>
              <a:latin typeface="Times New Roman" panose="02020603050405020304" pitchFamily="18" charset="0"/>
              <a:ea typeface="华文楷体" panose="02010600040101010101" pitchFamily="2" charset="-122"/>
            </a:endParaRPr>
          </a:p>
        </p:txBody>
      </p:sp>
      <p:sp>
        <p:nvSpPr>
          <p:cNvPr id="73733" name="标题 1"/>
          <p:cNvSpPr>
            <a:spLocks noGrp="1"/>
          </p:cNvSpPr>
          <p:nvPr>
            <p:ph type="title"/>
          </p:nvPr>
        </p:nvSpPr>
        <p:spPr>
          <a:xfrm>
            <a:off x="5572125" y="576263"/>
            <a:ext cx="3114675" cy="781050"/>
          </a:xfrm>
          <a:solidFill>
            <a:schemeClr val="bg1"/>
          </a:solidFill>
        </p:spPr>
        <p:txBody>
          <a:bodyPr/>
          <a:lstStyle/>
          <a:p>
            <a:r>
              <a:rPr lang="zh-CN" altLang="en-US" sz="3600"/>
              <a:t>例</a:t>
            </a:r>
            <a:r>
              <a:rPr lang="en-US" altLang="zh-CN" sz="3600"/>
              <a:t>9-10</a:t>
            </a:r>
            <a:r>
              <a:rPr lang="zh-CN" altLang="en-US" sz="3600"/>
              <a:t>（续）</a:t>
            </a:r>
            <a:endParaRPr lang="zh-CN" altLang="en-US" sz="360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内容占位符 2"/>
          <p:cNvSpPr>
            <a:spLocks noGrp="1"/>
          </p:cNvSpPr>
          <p:nvPr>
            <p:ph idx="1"/>
          </p:nvPr>
        </p:nvSpPr>
        <p:spPr>
          <a:xfrm>
            <a:off x="467544" y="260648"/>
            <a:ext cx="8229600" cy="646330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T &amp;Queue&lt;T, SIZE&gt;::</a:t>
            </a:r>
            <a:r>
              <a:rPr lang="en-US" altLang="zh-CN" sz="1800" b="1" dirty="0" err="1">
                <a:solidFill>
                  <a:srgbClr val="000000"/>
                </a:solidFill>
                <a:latin typeface="Times New Roman" panose="02020603050405020304" pitchFamily="18" charset="0"/>
                <a:ea typeface="华文楷体" panose="02010600040101010101" pitchFamily="2" charset="-122"/>
              </a:rPr>
              <a:t>getFront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list[front];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Queue&lt;T, SIZE&gt;::</a:t>
            </a:r>
            <a:r>
              <a:rPr lang="en-US" altLang="zh-CN" sz="1800" b="1" dirty="0" err="1">
                <a:solidFill>
                  <a:srgbClr val="000000"/>
                </a:solidFill>
                <a:latin typeface="Times New Roman" panose="02020603050405020304" pitchFamily="18" charset="0"/>
                <a:ea typeface="华文楷体" panose="02010600040101010101" pitchFamily="2" charset="-122"/>
              </a:rPr>
              <a:t>getLength</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返回队列元素个数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count;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bool Queue&lt;T, SIZE&gt;::</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测试队空否</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count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bool Queue&lt;T, SIZE&gt;::</a:t>
            </a:r>
            <a:r>
              <a:rPr lang="en-US" altLang="zh-CN" sz="1800" b="1" dirty="0" err="1">
                <a:solidFill>
                  <a:srgbClr val="000000"/>
                </a:solidFill>
                <a:latin typeface="Times New Roman" panose="02020603050405020304" pitchFamily="18" charset="0"/>
                <a:ea typeface="华文楷体" panose="02010600040101010101" pitchFamily="2" charset="-122"/>
              </a:rPr>
              <a:t>isFull</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测试队满否</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count == SIZE;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Queue&lt;T, SIZE&gt;::clear() {		//</a:t>
            </a:r>
            <a:r>
              <a:rPr lang="zh-CN" altLang="en-US" sz="1800" b="1" dirty="0">
                <a:solidFill>
                  <a:srgbClr val="000000"/>
                </a:solidFill>
                <a:latin typeface="Times New Roman" panose="02020603050405020304" pitchFamily="18" charset="0"/>
                <a:ea typeface="华文楷体" panose="02010600040101010101" pitchFamily="2" charset="-122"/>
              </a:rPr>
              <a:t>清空队列</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count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front = 0;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rear = 0;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endif</a:t>
            </a:r>
            <a:r>
              <a:rPr lang="en-US" altLang="zh-CN" sz="1800" b="1" dirty="0">
                <a:solidFill>
                  <a:srgbClr val="000000"/>
                </a:solidFill>
                <a:latin typeface="Times New Roman" panose="02020603050405020304" pitchFamily="18" charset="0"/>
                <a:ea typeface="华文楷体" panose="02010600040101010101" pitchFamily="2" charset="-122"/>
              </a:rPr>
              <a:t>  //QUEUE_H</a:t>
            </a:r>
            <a:endParaRPr lang="zh-CN" altLang="en-US" sz="1800" b="1" dirty="0">
              <a:solidFill>
                <a:srgbClr val="000000"/>
              </a:solidFill>
              <a:latin typeface="Times New Roman" panose="02020603050405020304" pitchFamily="18" charset="0"/>
              <a:ea typeface="华文楷体" panose="02010600040101010101" pitchFamily="2" charset="-122"/>
            </a:endParaRPr>
          </a:p>
        </p:txBody>
      </p:sp>
      <p:sp>
        <p:nvSpPr>
          <p:cNvPr id="74757" name="标题 1"/>
          <p:cNvSpPr>
            <a:spLocks noGrp="1"/>
          </p:cNvSpPr>
          <p:nvPr>
            <p:ph type="title"/>
          </p:nvPr>
        </p:nvSpPr>
        <p:spPr>
          <a:xfrm>
            <a:off x="5715000" y="5786438"/>
            <a:ext cx="3114675" cy="781050"/>
          </a:xfrm>
          <a:solidFill>
            <a:schemeClr val="bg1"/>
          </a:solidFill>
        </p:spPr>
        <p:txBody>
          <a:bodyPr/>
          <a:lstStyle/>
          <a:p>
            <a:r>
              <a:rPr lang="zh-CN" altLang="en-US" sz="3600"/>
              <a:t>例</a:t>
            </a:r>
            <a:r>
              <a:rPr lang="en-US" altLang="zh-CN" sz="3600"/>
              <a:t>9-10</a:t>
            </a:r>
            <a:r>
              <a:rPr lang="zh-CN" altLang="en-US" sz="3600"/>
              <a:t>（续）</a:t>
            </a:r>
            <a:endParaRPr lang="zh-CN" altLang="en-US" sz="3600"/>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6000" b="1" dirty="0">
                <a:ea typeface="华文彩云" panose="02010800040101010101" pitchFamily="2" charset="-122"/>
              </a:rPr>
              <a:t>群体数据的组织</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9.3 </a:t>
            </a:r>
            <a:r>
              <a:rPr lang="zh-CN" altLang="en-US" sz="4400" b="1">
                <a:latin typeface="Times New Roman" panose="02020603050405020304" pitchFamily="18" charset="0"/>
                <a:ea typeface="隶书" panose="02010509060101010101" pitchFamily="49" charset="-122"/>
              </a:rPr>
              <a:t>群体数据的组织</a:t>
            </a:r>
            <a:endParaRPr lang="zh-CN" altLang="en-US" sz="4400" b="1">
              <a:latin typeface="Times New Roman" panose="02020603050405020304" pitchFamily="18" charset="0"/>
              <a:ea typeface="隶书" panose="02010509060101010101" pitchFamily="49" charset="-122"/>
            </a:endParaRPr>
          </a:p>
        </p:txBody>
      </p:sp>
      <p:sp>
        <p:nvSpPr>
          <p:cNvPr id="75779" name="内容占位符 2"/>
          <p:cNvSpPr>
            <a:spLocks noGrp="1"/>
          </p:cNvSpPr>
          <p:nvPr>
            <p:ph idx="1"/>
          </p:nvPr>
        </p:nvSpPr>
        <p:spPr>
          <a:xfrm>
            <a:off x="1403648" y="1628800"/>
            <a:ext cx="7886700" cy="4351338"/>
          </a:xfrm>
        </p:spPr>
        <p:txBody>
          <a:bodyPr/>
          <a:lstStyle/>
          <a:p>
            <a:pPr>
              <a:lnSpc>
                <a:spcPct val="150000"/>
              </a:lnSpc>
              <a:spcAft>
                <a:spcPct val="25000"/>
              </a:spcAft>
            </a:pPr>
            <a:r>
              <a:rPr lang="zh-CN" altLang="en-US" sz="2400" b="1" dirty="0">
                <a:ea typeface="华文楷体" panose="02010600040101010101" pitchFamily="2" charset="-122"/>
              </a:rPr>
              <a:t>插入排序</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选择排序</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交换排序</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顺序查找</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折半查找</a:t>
            </a:r>
            <a:endParaRPr lang="zh-CN" altLang="en-US" sz="2400" b="1" dirty="0">
              <a:ea typeface="华文楷体" panose="02010600040101010101" pitchFamily="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排序（</a:t>
            </a:r>
            <a:r>
              <a:rPr lang="en-US" altLang="zh-CN" sz="4400" b="1">
                <a:latin typeface="Times New Roman" panose="02020603050405020304" pitchFamily="18" charset="0"/>
                <a:ea typeface="隶书" panose="02010509060101010101" pitchFamily="49" charset="-122"/>
              </a:rPr>
              <a:t>sorting</a:t>
            </a:r>
            <a:r>
              <a:rPr lang="zh-CN" altLang="en-US"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76803" name="内容占位符 2"/>
          <p:cNvSpPr>
            <a:spLocks noGrp="1"/>
          </p:cNvSpPr>
          <p:nvPr>
            <p:ph idx="1"/>
          </p:nvPr>
        </p:nvSpPr>
        <p:spPr>
          <a:xfrm>
            <a:off x="683568" y="1340768"/>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排序</a:t>
            </a:r>
            <a:r>
              <a:rPr lang="zh-CN" altLang="en-US" sz="2400" b="1" dirty="0">
                <a:ea typeface="华文楷体" panose="02010600040101010101" pitchFamily="2" charset="-122"/>
              </a:rPr>
              <a:t>是计算机程序设计中的一种重要操作，它的功能是将一个数据元素的任意序列，</a:t>
            </a:r>
            <a:r>
              <a:rPr lang="zh-CN" altLang="en-US" sz="2400" b="1" dirty="0">
                <a:solidFill>
                  <a:srgbClr val="FFFF00"/>
                </a:solidFill>
                <a:ea typeface="华文楷体" panose="02010600040101010101" pitchFamily="2" charset="-122"/>
              </a:rPr>
              <a:t>重新排列成</a:t>
            </a:r>
            <a:r>
              <a:rPr lang="zh-CN" altLang="en-US" sz="2400" b="1" dirty="0">
                <a:ea typeface="华文楷体" panose="02010600040101010101" pitchFamily="2" charset="-122"/>
              </a:rPr>
              <a:t>一个按关键字</a:t>
            </a:r>
            <a:r>
              <a:rPr lang="zh-CN" altLang="en-US" sz="2400" b="1" dirty="0">
                <a:solidFill>
                  <a:srgbClr val="FFFF00"/>
                </a:solidFill>
                <a:ea typeface="华文楷体" panose="02010600040101010101" pitchFamily="2" charset="-122"/>
              </a:rPr>
              <a:t>有序的序列。</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数据元素</a:t>
            </a:r>
            <a:r>
              <a:rPr lang="zh-CN" altLang="en-US" sz="2400" b="1" dirty="0">
                <a:ea typeface="华文楷体" panose="02010600040101010101" pitchFamily="2" charset="-122"/>
              </a:rPr>
              <a:t>：数据的基本单位。在计算机中通常作为一个整体进行考虑。一个数据元素可由若干数据项组成。</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关键字</a:t>
            </a:r>
            <a:r>
              <a:rPr lang="zh-CN" altLang="en-US" sz="2400" b="1" dirty="0">
                <a:ea typeface="华文楷体" panose="02010600040101010101" pitchFamily="2" charset="-122"/>
              </a:rPr>
              <a:t>：数据元素中某个数据项的值，用它可以标识（识别）一个数据元素。</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在排序过程中需要完成两种基本操作：</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比较两个数的大小</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调整元素在序列中的位置</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内部排序与外部排序</a:t>
            </a:r>
            <a:endParaRPr lang="zh-CN" altLang="en-US" sz="4400" b="1">
              <a:latin typeface="Times New Roman" panose="02020603050405020304" pitchFamily="18" charset="0"/>
              <a:ea typeface="隶书" panose="02010509060101010101" pitchFamily="49" charset="-122"/>
            </a:endParaRPr>
          </a:p>
        </p:txBody>
      </p:sp>
      <p:sp>
        <p:nvSpPr>
          <p:cNvPr id="77827"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内部排序：</a:t>
            </a:r>
            <a:r>
              <a:rPr lang="zh-CN" altLang="en-US" sz="2400" b="1" dirty="0">
                <a:ea typeface="华文楷体" panose="02010600040101010101" pitchFamily="2" charset="-122"/>
              </a:rPr>
              <a:t>待排序的数据元素存放在计算机内存中进行的排序过程。</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外部排序：</a:t>
            </a:r>
            <a:r>
              <a:rPr lang="zh-CN" altLang="en-US" sz="2400" b="1" dirty="0">
                <a:ea typeface="华文楷体" panose="02010600040101010101" pitchFamily="2" charset="-122"/>
              </a:rPr>
              <a:t>待排序的数据元素数量很大，以致内存存中一次不能容纳全部数据，在排序过程中尚需对外存进行访问的排序过程。</a:t>
            </a:r>
            <a:endParaRPr lang="zh-CN" altLang="en-US" sz="2400" b="1" dirty="0">
              <a:ea typeface="华文楷体" panose="02010600040101010101" pitchFamily="2"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内部排序方法</a:t>
            </a:r>
            <a:endParaRPr lang="zh-CN" altLang="en-US" sz="4400" b="1">
              <a:latin typeface="Times New Roman" panose="02020603050405020304" pitchFamily="18" charset="0"/>
              <a:ea typeface="隶书" panose="02010509060101010101" pitchFamily="49" charset="-122"/>
            </a:endParaRPr>
          </a:p>
        </p:txBody>
      </p:sp>
      <p:sp>
        <p:nvSpPr>
          <p:cNvPr id="78851" name="内容占位符 2"/>
          <p:cNvSpPr>
            <a:spLocks noGrp="1"/>
          </p:cNvSpPr>
          <p:nvPr>
            <p:ph idx="1"/>
          </p:nvPr>
        </p:nvSpPr>
        <p:spPr>
          <a:xfrm>
            <a:off x="1763688" y="1916832"/>
            <a:ext cx="4248472" cy="2376264"/>
          </a:xfrm>
        </p:spPr>
        <p:txBody>
          <a:bodyPr/>
          <a:lstStyle/>
          <a:p>
            <a:pPr>
              <a:lnSpc>
                <a:spcPct val="150000"/>
              </a:lnSpc>
              <a:spcAft>
                <a:spcPct val="25000"/>
              </a:spcAft>
            </a:pPr>
            <a:r>
              <a:rPr lang="zh-CN" altLang="en-US" sz="2400" b="1">
                <a:ea typeface="华文楷体" panose="02010600040101010101" pitchFamily="2" charset="-122"/>
              </a:rPr>
              <a:t>插入排序</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选择排序</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交换排序</a:t>
            </a:r>
            <a:endParaRPr lang="zh-CN" altLang="en-US" sz="2400" b="1">
              <a:ea typeface="华文楷体" panose="02010600040101010101"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标题 1"/>
          <p:cNvSpPr>
            <a:spLocks noGrp="1"/>
          </p:cNvSpPr>
          <p:nvPr>
            <p:ph type="title"/>
          </p:nvPr>
        </p:nvSpPr>
        <p:spPr>
          <a:xfrm>
            <a:off x="614363" y="188640"/>
            <a:ext cx="7886700" cy="1325563"/>
          </a:xfrm>
        </p:spPr>
        <p:txBody>
          <a:bodyPr/>
          <a:lstStyle/>
          <a:p>
            <a:pPr algn="ctr"/>
            <a:r>
              <a:rPr lang="zh-CN" altLang="en-US" sz="4400" b="1">
                <a:latin typeface="Times New Roman" panose="02020603050405020304" pitchFamily="18" charset="0"/>
                <a:ea typeface="隶书" panose="02010509060101010101" pitchFamily="49" charset="-122"/>
              </a:rPr>
              <a:t>插入排序的基本思想</a:t>
            </a:r>
            <a:endParaRPr lang="zh-CN" altLang="en-US" sz="4400" b="1">
              <a:latin typeface="Times New Roman" panose="02020603050405020304" pitchFamily="18" charset="0"/>
              <a:ea typeface="隶书" panose="02010509060101010101" pitchFamily="49" charset="-122"/>
            </a:endParaRPr>
          </a:p>
        </p:txBody>
      </p:sp>
      <p:sp>
        <p:nvSpPr>
          <p:cNvPr id="79875" name="内容占位符 2"/>
          <p:cNvSpPr>
            <a:spLocks noGrp="1"/>
          </p:cNvSpPr>
          <p:nvPr>
            <p:ph idx="1"/>
          </p:nvPr>
        </p:nvSpPr>
        <p:spPr>
          <a:xfrm>
            <a:off x="702114" y="1383506"/>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每一步将一个待排序元素按其关键字值的大小插入到已排序序列的适当位置上，直到待排序元素插入完为止。</a:t>
            </a:r>
            <a:endParaRPr lang="zh-CN" altLang="en-US" sz="2400" b="1" dirty="0">
              <a:solidFill>
                <a:srgbClr val="FFFF00"/>
              </a:solidFill>
              <a:ea typeface="华文楷体" panose="02010600040101010101" pitchFamily="2" charset="-122"/>
            </a:endParaRPr>
          </a:p>
        </p:txBody>
      </p:sp>
      <p:sp>
        <p:nvSpPr>
          <p:cNvPr id="79878" name="Rectangle 4"/>
          <p:cNvSpPr>
            <a:spLocks noChangeArrowheads="1"/>
          </p:cNvSpPr>
          <p:nvPr/>
        </p:nvSpPr>
        <p:spPr bwMode="auto">
          <a:xfrm>
            <a:off x="920463" y="2790371"/>
            <a:ext cx="631583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mn-lt"/>
                <a:ea typeface="华文楷体" panose="02010600040101010101" pitchFamily="2" charset="-122"/>
              </a:rPr>
              <a:t>初始状态：                   </a:t>
            </a:r>
            <a:r>
              <a:rPr lang="en-US" altLang="zh-CN" b="1" dirty="0">
                <a:latin typeface="+mn-lt"/>
                <a:ea typeface="华文楷体" panose="02010600040101010101" pitchFamily="2" charset="-122"/>
              </a:rPr>
              <a:t>[5]    4    10    20    12    3</a:t>
            </a:r>
            <a:endParaRPr lang="en-US" altLang="zh-CN" b="1" dirty="0">
              <a:latin typeface="+mn-lt"/>
              <a:ea typeface="华文楷体" panose="02010600040101010101" pitchFamily="2" charset="-122"/>
            </a:endParaRPr>
          </a:p>
        </p:txBody>
      </p:sp>
      <p:grpSp>
        <p:nvGrpSpPr>
          <p:cNvPr id="79879" name="Group 33"/>
          <p:cNvGrpSpPr/>
          <p:nvPr/>
        </p:nvGrpSpPr>
        <p:grpSpPr bwMode="auto">
          <a:xfrm>
            <a:off x="909638" y="3449641"/>
            <a:ext cx="6281739" cy="479426"/>
            <a:chOff x="524" y="2091"/>
            <a:chExt cx="3957" cy="302"/>
          </a:xfrm>
        </p:grpSpPr>
        <p:sp>
          <p:nvSpPr>
            <p:cNvPr id="79901" name="Rectangle 6"/>
            <p:cNvSpPr>
              <a:spLocks noChangeArrowheads="1"/>
            </p:cNvSpPr>
            <p:nvPr/>
          </p:nvSpPr>
          <p:spPr bwMode="auto">
            <a:xfrm>
              <a:off x="524" y="2091"/>
              <a:ext cx="10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mn-lt"/>
                  <a:ea typeface="华文楷体" panose="02010600040101010101" pitchFamily="2" charset="-122"/>
                </a:rPr>
                <a:t>插入操作：</a:t>
              </a:r>
              <a:endParaRPr lang="zh-CN" altLang="en-US" b="1" dirty="0">
                <a:latin typeface="+mn-lt"/>
                <a:ea typeface="华文楷体" panose="02010600040101010101" pitchFamily="2" charset="-122"/>
              </a:endParaRPr>
            </a:p>
          </p:txBody>
        </p:sp>
        <p:sp>
          <p:nvSpPr>
            <p:cNvPr id="79902" name="Rectangle 7"/>
            <p:cNvSpPr>
              <a:spLocks noChangeArrowheads="1"/>
            </p:cNvSpPr>
            <p:nvPr/>
          </p:nvSpPr>
          <p:spPr bwMode="auto">
            <a:xfrm>
              <a:off x="1779" y="2102"/>
              <a:ext cx="2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1  </a:t>
              </a:r>
              <a:r>
                <a:rPr lang="en-US" altLang="zh-CN" b="1" dirty="0">
                  <a:solidFill>
                    <a:srgbClr val="FFFF00"/>
                  </a:solidFill>
                  <a:latin typeface="+mn-lt"/>
                  <a:ea typeface="华文楷体" panose="02010600040101010101" pitchFamily="2" charset="-122"/>
                </a:rPr>
                <a:t>[4]    </a:t>
              </a:r>
              <a:r>
                <a:rPr lang="en-US" altLang="zh-CN" b="1" dirty="0">
                  <a:latin typeface="+mn-lt"/>
                  <a:ea typeface="华文楷体" panose="02010600040101010101" pitchFamily="2" charset="-122"/>
                </a:rPr>
                <a:t>[4     5]   10    20    12    3</a:t>
              </a:r>
              <a:endParaRPr lang="en-US" altLang="zh-CN" b="1" dirty="0">
                <a:latin typeface="+mn-lt"/>
                <a:ea typeface="华文楷体" panose="02010600040101010101" pitchFamily="2" charset="-122"/>
              </a:endParaRPr>
            </a:p>
          </p:txBody>
        </p:sp>
      </p:grpSp>
      <p:grpSp>
        <p:nvGrpSpPr>
          <p:cNvPr id="79880" name="Group 8"/>
          <p:cNvGrpSpPr/>
          <p:nvPr/>
        </p:nvGrpSpPr>
        <p:grpSpPr bwMode="auto">
          <a:xfrm>
            <a:off x="3643313" y="3101975"/>
            <a:ext cx="914400" cy="457200"/>
            <a:chOff x="2592" y="1872"/>
            <a:chExt cx="576" cy="288"/>
          </a:xfrm>
        </p:grpSpPr>
        <p:sp>
          <p:nvSpPr>
            <p:cNvPr id="79898" name="Line 9"/>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899" name="Line 10"/>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900" name="Line 11"/>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nvGrpSpPr>
          <p:cNvPr id="79881" name="Group 12"/>
          <p:cNvGrpSpPr/>
          <p:nvPr/>
        </p:nvGrpSpPr>
        <p:grpSpPr bwMode="auto">
          <a:xfrm>
            <a:off x="2863850" y="3863975"/>
            <a:ext cx="4367213" cy="750888"/>
            <a:chOff x="2101" y="2352"/>
            <a:chExt cx="2751" cy="473"/>
          </a:xfrm>
        </p:grpSpPr>
        <p:sp>
          <p:nvSpPr>
            <p:cNvPr id="79896" name="Rectangle 13"/>
            <p:cNvSpPr>
              <a:spLocks noChangeArrowheads="1"/>
            </p:cNvSpPr>
            <p:nvPr/>
          </p:nvSpPr>
          <p:spPr bwMode="auto">
            <a:xfrm>
              <a:off x="2101" y="2534"/>
              <a:ext cx="27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2  </a:t>
              </a:r>
              <a:r>
                <a:rPr lang="en-US" altLang="zh-CN" b="1" dirty="0">
                  <a:solidFill>
                    <a:srgbClr val="FFFF00"/>
                  </a:solidFill>
                  <a:latin typeface="+mn-lt"/>
                  <a:ea typeface="华文楷体" panose="02010600040101010101" pitchFamily="2" charset="-122"/>
                </a:rPr>
                <a:t>[10]   </a:t>
              </a:r>
              <a:r>
                <a:rPr lang="en-US" altLang="zh-CN" b="1" dirty="0">
                  <a:latin typeface="+mn-lt"/>
                  <a:ea typeface="华文楷体" panose="02010600040101010101" pitchFamily="2" charset="-122"/>
                </a:rPr>
                <a:t>[4     5    10]   20    12    3</a:t>
              </a:r>
              <a:endParaRPr lang="en-US" altLang="zh-CN" b="1" dirty="0">
                <a:latin typeface="+mn-lt"/>
                <a:ea typeface="华文楷体" panose="02010600040101010101" pitchFamily="2" charset="-122"/>
              </a:endParaRPr>
            </a:p>
          </p:txBody>
        </p:sp>
        <p:sp>
          <p:nvSpPr>
            <p:cNvPr id="79897" name="Line 14"/>
            <p:cNvSpPr>
              <a:spLocks noChangeShapeType="1"/>
            </p:cNvSpPr>
            <p:nvPr/>
          </p:nvSpPr>
          <p:spPr bwMode="auto">
            <a:xfrm>
              <a:off x="3696" y="2352"/>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nvGrpSpPr>
          <p:cNvPr id="79882" name="Group 15"/>
          <p:cNvGrpSpPr/>
          <p:nvPr/>
        </p:nvGrpSpPr>
        <p:grpSpPr bwMode="auto">
          <a:xfrm>
            <a:off x="2863850" y="4549775"/>
            <a:ext cx="4367213" cy="674688"/>
            <a:chOff x="2101" y="2784"/>
            <a:chExt cx="2751" cy="425"/>
          </a:xfrm>
        </p:grpSpPr>
        <p:sp>
          <p:nvSpPr>
            <p:cNvPr id="79894" name="Rectangle 16"/>
            <p:cNvSpPr>
              <a:spLocks noChangeArrowheads="1"/>
            </p:cNvSpPr>
            <p:nvPr/>
          </p:nvSpPr>
          <p:spPr bwMode="auto">
            <a:xfrm>
              <a:off x="2101" y="2918"/>
              <a:ext cx="275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3  </a:t>
              </a:r>
              <a:r>
                <a:rPr lang="en-US" altLang="zh-CN" b="1" dirty="0">
                  <a:solidFill>
                    <a:srgbClr val="FFFF00"/>
                  </a:solidFill>
                  <a:latin typeface="+mn-lt"/>
                  <a:ea typeface="华文楷体" panose="02010600040101010101" pitchFamily="2" charset="-122"/>
                </a:rPr>
                <a:t>[20]   </a:t>
              </a:r>
              <a:r>
                <a:rPr lang="en-US" altLang="zh-CN" b="1" dirty="0">
                  <a:latin typeface="+mn-lt"/>
                  <a:ea typeface="华文楷体" panose="02010600040101010101" pitchFamily="2" charset="-122"/>
                </a:rPr>
                <a:t>[4     5    10    20]   12    3</a:t>
              </a:r>
              <a:endParaRPr lang="en-US" altLang="zh-CN" b="1" dirty="0">
                <a:latin typeface="+mn-lt"/>
                <a:ea typeface="华文楷体" panose="02010600040101010101" pitchFamily="2" charset="-122"/>
              </a:endParaRPr>
            </a:p>
          </p:txBody>
        </p:sp>
        <p:sp>
          <p:nvSpPr>
            <p:cNvPr id="79895" name="Line 17"/>
            <p:cNvSpPr>
              <a:spLocks noChangeShapeType="1"/>
            </p:cNvSpPr>
            <p:nvPr/>
          </p:nvSpPr>
          <p:spPr bwMode="auto">
            <a:xfrm>
              <a:off x="4272" y="2784"/>
              <a:ext cx="0" cy="192"/>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
        <p:nvSpPr>
          <p:cNvPr id="79883" name="Rectangle 19"/>
          <p:cNvSpPr>
            <a:spLocks noChangeArrowheads="1"/>
          </p:cNvSpPr>
          <p:nvPr/>
        </p:nvSpPr>
        <p:spPr bwMode="auto">
          <a:xfrm>
            <a:off x="2863373" y="5372100"/>
            <a:ext cx="436658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4  </a:t>
            </a:r>
            <a:r>
              <a:rPr lang="en-US" altLang="zh-CN" b="1" dirty="0">
                <a:solidFill>
                  <a:srgbClr val="FFFF00"/>
                </a:solidFill>
                <a:latin typeface="+mn-lt"/>
                <a:ea typeface="华文楷体" panose="02010600040101010101" pitchFamily="2" charset="-122"/>
              </a:rPr>
              <a:t>[12]   </a:t>
            </a:r>
            <a:r>
              <a:rPr lang="en-US" altLang="zh-CN" b="1" dirty="0">
                <a:latin typeface="+mn-lt"/>
                <a:ea typeface="华文楷体" panose="02010600040101010101" pitchFamily="2" charset="-122"/>
              </a:rPr>
              <a:t>[4     5    10    12    20]   3</a:t>
            </a:r>
            <a:endParaRPr lang="en-US" altLang="zh-CN" b="1" dirty="0">
              <a:latin typeface="+mn-lt"/>
              <a:ea typeface="华文楷体" panose="02010600040101010101" pitchFamily="2" charset="-122"/>
            </a:endParaRPr>
          </a:p>
        </p:txBody>
      </p:sp>
      <p:grpSp>
        <p:nvGrpSpPr>
          <p:cNvPr id="79884" name="Group 24"/>
          <p:cNvGrpSpPr/>
          <p:nvPr/>
        </p:nvGrpSpPr>
        <p:grpSpPr bwMode="auto">
          <a:xfrm>
            <a:off x="2865437" y="5692775"/>
            <a:ext cx="5197474" cy="827088"/>
            <a:chOff x="2102" y="3504"/>
            <a:chExt cx="3274" cy="521"/>
          </a:xfrm>
        </p:grpSpPr>
        <p:sp>
          <p:nvSpPr>
            <p:cNvPr id="79889" name="Rectangle 25"/>
            <p:cNvSpPr>
              <a:spLocks noChangeArrowheads="1"/>
            </p:cNvSpPr>
            <p:nvPr/>
          </p:nvSpPr>
          <p:spPr bwMode="auto">
            <a:xfrm>
              <a:off x="2102" y="3734"/>
              <a:ext cx="279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b="1" dirty="0">
                  <a:latin typeface="+mn-lt"/>
                  <a:ea typeface="华文楷体" panose="02010600040101010101" pitchFamily="2" charset="-122"/>
                </a:rPr>
                <a:t>5  </a:t>
              </a:r>
              <a:r>
                <a:rPr lang="en-US" altLang="zh-CN" b="1" dirty="0">
                  <a:solidFill>
                    <a:srgbClr val="FFFF00"/>
                  </a:solidFill>
                  <a:latin typeface="+mn-lt"/>
                  <a:ea typeface="华文楷体" panose="02010600040101010101" pitchFamily="2" charset="-122"/>
                </a:rPr>
                <a:t>[3]    </a:t>
              </a:r>
              <a:r>
                <a:rPr lang="en-US" altLang="zh-CN" b="1" dirty="0">
                  <a:latin typeface="+mn-lt"/>
                  <a:ea typeface="华文楷体" panose="02010600040101010101" pitchFamily="2" charset="-122"/>
                </a:rPr>
                <a:t>[3     4     5    10    12    20]</a:t>
              </a:r>
              <a:endParaRPr lang="en-US" altLang="zh-CN" b="1" dirty="0">
                <a:latin typeface="+mn-lt"/>
                <a:ea typeface="华文楷体" panose="02010600040101010101" pitchFamily="2" charset="-122"/>
              </a:endParaRPr>
            </a:p>
          </p:txBody>
        </p:sp>
        <p:grpSp>
          <p:nvGrpSpPr>
            <p:cNvPr id="79890" name="Group 26"/>
            <p:cNvGrpSpPr/>
            <p:nvPr/>
          </p:nvGrpSpPr>
          <p:grpSpPr bwMode="auto">
            <a:xfrm>
              <a:off x="2592" y="3504"/>
              <a:ext cx="2784" cy="288"/>
              <a:chOff x="2592" y="3504"/>
              <a:chExt cx="2784" cy="288"/>
            </a:xfrm>
          </p:grpSpPr>
          <p:sp>
            <p:nvSpPr>
              <p:cNvPr id="79891" name="Line 27"/>
              <p:cNvSpPr>
                <a:spLocks noChangeShapeType="1"/>
              </p:cNvSpPr>
              <p:nvPr/>
            </p:nvSpPr>
            <p:spPr bwMode="auto">
              <a:xfrm>
                <a:off x="5376" y="3504"/>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892" name="Line 28"/>
              <p:cNvSpPr>
                <a:spLocks noChangeShapeType="1"/>
              </p:cNvSpPr>
              <p:nvPr/>
            </p:nvSpPr>
            <p:spPr bwMode="auto">
              <a:xfrm flipH="1">
                <a:off x="2592" y="3648"/>
                <a:ext cx="2784"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893" name="Line 29"/>
              <p:cNvSpPr>
                <a:spLocks noChangeShapeType="1"/>
              </p:cNvSpPr>
              <p:nvPr/>
            </p:nvSpPr>
            <p:spPr bwMode="auto">
              <a:xfrm>
                <a:off x="2592" y="3648"/>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grpSp>
        <p:nvGrpSpPr>
          <p:cNvPr id="79885" name="Group 8"/>
          <p:cNvGrpSpPr/>
          <p:nvPr/>
        </p:nvGrpSpPr>
        <p:grpSpPr bwMode="auto">
          <a:xfrm>
            <a:off x="6321425" y="5084763"/>
            <a:ext cx="914400" cy="457200"/>
            <a:chOff x="2592" y="1872"/>
            <a:chExt cx="576" cy="288"/>
          </a:xfrm>
        </p:grpSpPr>
        <p:sp>
          <p:nvSpPr>
            <p:cNvPr id="79886" name="Line 9"/>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887" name="Line 10"/>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79888" name="Line 11"/>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9" name="标题 1"/>
          <p:cNvSpPr>
            <a:spLocks noGrp="1"/>
          </p:cNvSpPr>
          <p:nvPr>
            <p:ph type="title"/>
          </p:nvPr>
        </p:nvSpPr>
        <p:spPr/>
        <p:txBody>
          <a:bodyPr/>
          <a:lstStyle/>
          <a:p>
            <a:r>
              <a:rPr lang="zh-CN" altLang="en-US" b="1" dirty="0"/>
              <a:t>例</a:t>
            </a:r>
            <a:r>
              <a:rPr lang="en-US" altLang="zh-CN" b="1" dirty="0"/>
              <a:t>9-11 </a:t>
            </a:r>
            <a:r>
              <a:rPr lang="zh-CN" altLang="en-US" b="1" dirty="0"/>
              <a:t>直接插入排序函数模板</a:t>
            </a:r>
            <a:endParaRPr kumimoji="1" lang="zh-CN" altLang="en-US" b="1" dirty="0"/>
          </a:p>
        </p:txBody>
      </p:sp>
      <p:sp>
        <p:nvSpPr>
          <p:cNvPr id="80900" name="内容占位符 2"/>
          <p:cNvSpPr>
            <a:spLocks noGrp="1"/>
          </p:cNvSpPr>
          <p:nvPr>
            <p:ph idx="1"/>
          </p:nvPr>
        </p:nvSpPr>
        <p:spPr>
          <a:xfrm>
            <a:off x="611560" y="1484784"/>
            <a:ext cx="7886700" cy="470898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insertionSort(T a[], int 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i, j;</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T temp;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for (int i = 1; i &lt; n; i++) {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j = 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T temp = a[i];</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while (j &gt; 0 &amp;&amp; temp &lt; a[j - 1])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a[j] = a[j - 1];</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j--;</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a[j] = temp;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选择排序的基本思想</a:t>
            </a:r>
            <a:endParaRPr lang="zh-CN" altLang="en-US" sz="4400" b="1">
              <a:latin typeface="Times New Roman" panose="02020603050405020304" pitchFamily="18" charset="0"/>
              <a:ea typeface="隶书" panose="02010509060101010101" pitchFamily="49" charset="-122"/>
            </a:endParaRPr>
          </a:p>
        </p:txBody>
      </p:sp>
      <p:sp>
        <p:nvSpPr>
          <p:cNvPr id="81923" name="内容占位符 2"/>
          <p:cNvSpPr>
            <a:spLocks noGrp="1"/>
          </p:cNvSpPr>
          <p:nvPr>
            <p:ph idx="1"/>
          </p:nvPr>
        </p:nvSpPr>
        <p:spPr>
          <a:xfrm>
            <a:off x="711406" y="1233487"/>
            <a:ext cx="7886700" cy="4351338"/>
          </a:xfrm>
        </p:spPr>
        <p:txBody>
          <a:bodyPr/>
          <a:lstStyle/>
          <a:p>
            <a:pPr>
              <a:lnSpc>
                <a:spcPct val="150000"/>
              </a:lnSpc>
              <a:spcAft>
                <a:spcPct val="25000"/>
              </a:spcAft>
            </a:pPr>
            <a:r>
              <a:rPr lang="zh-CN" altLang="en-US" sz="2400" b="1">
                <a:solidFill>
                  <a:srgbClr val="FFFF00"/>
                </a:solidFill>
                <a:ea typeface="华文楷体" panose="02010600040101010101" pitchFamily="2" charset="-122"/>
              </a:rPr>
              <a:t>每次从待排序序列中选择一个关键字最小的元素，（当需要按关键字升序排列时），顺序排在已排序序列的最后，直至全部排完。</a:t>
            </a:r>
            <a:endParaRPr lang="zh-CN" altLang="en-US" sz="2400" b="1">
              <a:solidFill>
                <a:srgbClr val="FFFF00"/>
              </a:solidFill>
              <a:ea typeface="华文楷体" panose="02010600040101010101" pitchFamily="2" charset="-122"/>
            </a:endParaRPr>
          </a:p>
        </p:txBody>
      </p:sp>
      <p:sp>
        <p:nvSpPr>
          <p:cNvPr id="81929" name="Rectangle 9"/>
          <p:cNvSpPr>
            <a:spLocks noChangeArrowheads="1"/>
          </p:cNvSpPr>
          <p:nvPr/>
        </p:nvSpPr>
        <p:spPr bwMode="auto">
          <a:xfrm>
            <a:off x="620806" y="6053138"/>
            <a:ext cx="8188139" cy="46230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a:solidFill>
                  <a:srgbClr val="000000"/>
                </a:solidFill>
                <a:latin typeface="宋体" panose="02010600030101010101" pitchFamily="2" charset="-122"/>
                <a:ea typeface="隶书" panose="02010509060101010101" pitchFamily="49" charset="-122"/>
              </a:rPr>
              <a:t>第 </a:t>
            </a:r>
            <a:r>
              <a:rPr lang="en-US" altLang="zh-CN" b="1">
                <a:solidFill>
                  <a:srgbClr val="000000"/>
                </a:solidFill>
                <a:latin typeface="宋体" panose="02010600030101010101" pitchFamily="2" charset="-122"/>
                <a:ea typeface="隶书" panose="02010509060101010101" pitchFamily="49" charset="-122"/>
              </a:rPr>
              <a:t>i </a:t>
            </a:r>
            <a:r>
              <a:rPr lang="zh-CN" altLang="en-US" b="1">
                <a:solidFill>
                  <a:srgbClr val="000000"/>
                </a:solidFill>
                <a:latin typeface="宋体" panose="02010600030101010101" pitchFamily="2" charset="-122"/>
                <a:ea typeface="隶书" panose="02010509060101010101" pitchFamily="49" charset="-122"/>
              </a:rPr>
              <a:t>次选择后，将选出的那个记录与第 </a:t>
            </a:r>
            <a:r>
              <a:rPr lang="en-US" altLang="zh-CN" b="1">
                <a:solidFill>
                  <a:srgbClr val="000000"/>
                </a:solidFill>
                <a:latin typeface="宋体" panose="02010600030101010101" pitchFamily="2" charset="-122"/>
                <a:ea typeface="隶书" panose="02010509060101010101" pitchFamily="49" charset="-122"/>
              </a:rPr>
              <a:t>i </a:t>
            </a:r>
            <a:r>
              <a:rPr lang="zh-CN" altLang="en-US" b="1">
                <a:solidFill>
                  <a:srgbClr val="000000"/>
                </a:solidFill>
                <a:latin typeface="宋体" panose="02010600030101010101" pitchFamily="2" charset="-122"/>
                <a:ea typeface="隶书" panose="02010509060101010101" pitchFamily="49" charset="-122"/>
              </a:rPr>
              <a:t>个记录做交换。</a:t>
            </a:r>
            <a:endParaRPr lang="zh-CN" altLang="en-US" b="1">
              <a:solidFill>
                <a:srgbClr val="000000"/>
              </a:solidFill>
              <a:latin typeface="宋体" panose="02010600030101010101" pitchFamily="2" charset="-122"/>
              <a:ea typeface="隶书" panose="02010509060101010101" pitchFamily="49" charset="-122"/>
            </a:endParaRPr>
          </a:p>
        </p:txBody>
      </p:sp>
      <p:grpSp>
        <p:nvGrpSpPr>
          <p:cNvPr id="2" name="组合 1"/>
          <p:cNvGrpSpPr/>
          <p:nvPr/>
        </p:nvGrpSpPr>
        <p:grpSpPr>
          <a:xfrm>
            <a:off x="228600" y="3141663"/>
            <a:ext cx="8807896" cy="2916237"/>
            <a:chOff x="228600" y="3141663"/>
            <a:chExt cx="8807896" cy="2916237"/>
          </a:xfrm>
        </p:grpSpPr>
        <p:grpSp>
          <p:nvGrpSpPr>
            <p:cNvPr id="81926" name="Group 4"/>
            <p:cNvGrpSpPr/>
            <p:nvPr/>
          </p:nvGrpSpPr>
          <p:grpSpPr bwMode="auto">
            <a:xfrm>
              <a:off x="228600" y="3141663"/>
              <a:ext cx="8415338" cy="461962"/>
              <a:chOff x="470" y="1862"/>
              <a:chExt cx="5277" cy="291"/>
            </a:xfrm>
          </p:grpSpPr>
          <p:sp>
            <p:nvSpPr>
              <p:cNvPr id="81934" name="Rectangle 5"/>
              <p:cNvSpPr>
                <a:spLocks noChangeArrowheads="1"/>
              </p:cNvSpPr>
              <p:nvPr/>
            </p:nvSpPr>
            <p:spPr bwMode="auto">
              <a:xfrm>
                <a:off x="2246" y="1862"/>
                <a:ext cx="350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[5     4    10    20    12    </a:t>
                </a:r>
                <a:r>
                  <a:rPr lang="en-US" altLang="zh-CN" b="1" dirty="0">
                    <a:solidFill>
                      <a:srgbClr val="FFFF00"/>
                    </a:solidFill>
                    <a:latin typeface="+mn-lt"/>
                    <a:ea typeface="华文楷体" panose="02010600040101010101" pitchFamily="2" charset="-122"/>
                  </a:rPr>
                  <a:t>3</a:t>
                </a:r>
                <a:r>
                  <a:rPr lang="en-US" altLang="zh-CN" b="1" dirty="0">
                    <a:latin typeface="+mn-lt"/>
                    <a:ea typeface="华文楷体" panose="02010600040101010101" pitchFamily="2" charset="-122"/>
                  </a:rPr>
                  <a:t>]</a:t>
                </a:r>
                <a:endParaRPr lang="en-US" altLang="zh-CN" b="1" dirty="0">
                  <a:latin typeface="+mn-lt"/>
                  <a:ea typeface="华文楷体" panose="02010600040101010101" pitchFamily="2" charset="-122"/>
                </a:endParaRPr>
              </a:p>
            </p:txBody>
          </p:sp>
          <p:sp>
            <p:nvSpPr>
              <p:cNvPr id="81935" name="Rectangle 6"/>
              <p:cNvSpPr>
                <a:spLocks noChangeArrowheads="1"/>
              </p:cNvSpPr>
              <p:nvPr/>
            </p:nvSpPr>
            <p:spPr bwMode="auto">
              <a:xfrm>
                <a:off x="470" y="1862"/>
                <a:ext cx="108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b="1" dirty="0">
                    <a:latin typeface="+mn-lt"/>
                    <a:ea typeface="华文楷体" panose="02010600040101010101" pitchFamily="2" charset="-122"/>
                  </a:rPr>
                  <a:t>初始状态：</a:t>
                </a:r>
                <a:endParaRPr lang="zh-CN" altLang="en-US" b="1" dirty="0">
                  <a:latin typeface="+mn-lt"/>
                  <a:ea typeface="华文楷体" panose="02010600040101010101" pitchFamily="2" charset="-122"/>
                </a:endParaRPr>
              </a:p>
            </p:txBody>
          </p:sp>
        </p:grpSp>
        <p:sp>
          <p:nvSpPr>
            <p:cNvPr id="81927" name="Rectangle 7"/>
            <p:cNvSpPr>
              <a:spLocks noChangeArrowheads="1"/>
            </p:cNvSpPr>
            <p:nvPr/>
          </p:nvSpPr>
          <p:spPr bwMode="auto">
            <a:xfrm>
              <a:off x="2843808" y="3789040"/>
              <a:ext cx="60626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3    [</a:t>
              </a:r>
              <a:r>
                <a:rPr lang="en-US" altLang="zh-CN" b="1" dirty="0">
                  <a:solidFill>
                    <a:srgbClr val="FFFF00"/>
                  </a:solidFill>
                  <a:latin typeface="+mn-lt"/>
                  <a:ea typeface="华文楷体" panose="02010600040101010101" pitchFamily="2" charset="-122"/>
                </a:rPr>
                <a:t>4</a:t>
              </a:r>
              <a:r>
                <a:rPr lang="en-US" altLang="zh-CN" b="1" dirty="0">
                  <a:latin typeface="+mn-lt"/>
                  <a:ea typeface="华文楷体" panose="02010600040101010101" pitchFamily="2" charset="-122"/>
                </a:rPr>
                <a:t>    10    20    12    5]</a:t>
              </a:r>
              <a:endParaRPr lang="en-US" altLang="zh-CN" b="1" dirty="0">
                <a:latin typeface="+mn-lt"/>
                <a:ea typeface="华文楷体" panose="02010600040101010101" pitchFamily="2" charset="-122"/>
              </a:endParaRPr>
            </a:p>
          </p:txBody>
        </p:sp>
        <p:sp>
          <p:nvSpPr>
            <p:cNvPr id="81928" name="Rectangle 8"/>
            <p:cNvSpPr>
              <a:spLocks noChangeArrowheads="1"/>
            </p:cNvSpPr>
            <p:nvPr/>
          </p:nvSpPr>
          <p:spPr bwMode="auto">
            <a:xfrm>
              <a:off x="2667446" y="4437063"/>
              <a:ext cx="6369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3     4   [10    20    </a:t>
              </a:r>
              <a:r>
                <a:rPr lang="en-US" altLang="zh-CN" b="1" dirty="0">
                  <a:solidFill>
                    <a:srgbClr val="FFFF00"/>
                  </a:solidFill>
                  <a:latin typeface="+mn-lt"/>
                  <a:ea typeface="华文楷体" panose="02010600040101010101" pitchFamily="2" charset="-122"/>
                </a:rPr>
                <a:t>12    5</a:t>
              </a:r>
              <a:r>
                <a:rPr lang="en-US" altLang="zh-CN" b="1" dirty="0">
                  <a:latin typeface="+mn-lt"/>
                  <a:ea typeface="华文楷体" panose="02010600040101010101" pitchFamily="2" charset="-122"/>
                </a:rPr>
                <a:t>]</a:t>
              </a:r>
              <a:endParaRPr lang="en-US" altLang="zh-CN" b="1" dirty="0">
                <a:latin typeface="+mn-lt"/>
                <a:ea typeface="华文楷体" panose="02010600040101010101" pitchFamily="2" charset="-122"/>
              </a:endParaRPr>
            </a:p>
          </p:txBody>
        </p:sp>
        <p:grpSp>
          <p:nvGrpSpPr>
            <p:cNvPr id="81930" name="Group 10"/>
            <p:cNvGrpSpPr/>
            <p:nvPr/>
          </p:nvGrpSpPr>
          <p:grpSpPr bwMode="auto">
            <a:xfrm>
              <a:off x="2834009" y="5122863"/>
              <a:ext cx="5986463" cy="935037"/>
              <a:chOff x="2342" y="3110"/>
              <a:chExt cx="3754" cy="589"/>
            </a:xfrm>
          </p:grpSpPr>
          <p:sp>
            <p:nvSpPr>
              <p:cNvPr id="81931" name="Rectangle 11"/>
              <p:cNvSpPr>
                <a:spLocks noChangeArrowheads="1"/>
              </p:cNvSpPr>
              <p:nvPr/>
            </p:nvSpPr>
            <p:spPr bwMode="auto">
              <a:xfrm>
                <a:off x="2342" y="3110"/>
                <a:ext cx="375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3     4     5   [20    12   </a:t>
                </a:r>
                <a:r>
                  <a:rPr lang="en-US" altLang="zh-CN" b="1" dirty="0">
                    <a:solidFill>
                      <a:srgbClr val="FFFF00"/>
                    </a:solidFill>
                    <a:latin typeface="+mn-lt"/>
                    <a:ea typeface="华文楷体" panose="02010600040101010101" pitchFamily="2" charset="-122"/>
                  </a:rPr>
                  <a:t>10</a:t>
                </a:r>
                <a:r>
                  <a:rPr lang="en-US" altLang="zh-CN" b="1" dirty="0">
                    <a:latin typeface="+mn-lt"/>
                    <a:ea typeface="华文楷体" panose="02010600040101010101" pitchFamily="2" charset="-122"/>
                  </a:rPr>
                  <a:t>]</a:t>
                </a:r>
                <a:endParaRPr lang="en-US" altLang="zh-CN" b="1" dirty="0">
                  <a:latin typeface="+mn-lt"/>
                  <a:ea typeface="华文楷体" panose="02010600040101010101" pitchFamily="2" charset="-122"/>
                </a:endParaRPr>
              </a:p>
            </p:txBody>
          </p:sp>
          <p:sp>
            <p:nvSpPr>
              <p:cNvPr id="81932" name="Rectangle 12"/>
              <p:cNvSpPr>
                <a:spLocks noChangeArrowheads="1"/>
              </p:cNvSpPr>
              <p:nvPr/>
            </p:nvSpPr>
            <p:spPr bwMode="auto">
              <a:xfrm>
                <a:off x="3356" y="3369"/>
                <a:ext cx="28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latin typeface="+mn-lt"/>
                    <a:ea typeface="华文楷体" panose="02010600040101010101" pitchFamily="2" charset="-122"/>
                  </a:rPr>
                  <a:t>...</a:t>
                </a:r>
                <a:endParaRPr lang="en-US" altLang="zh-CN" sz="2800" b="1">
                  <a:latin typeface="+mn-lt"/>
                  <a:ea typeface="华文楷体" panose="02010600040101010101" pitchFamily="2" charset="-122"/>
                </a:endParaRPr>
              </a:p>
            </p:txBody>
          </p:sp>
          <p:sp>
            <p:nvSpPr>
              <p:cNvPr id="81933" name="Rectangle 13"/>
              <p:cNvSpPr>
                <a:spLocks noChangeArrowheads="1"/>
              </p:cNvSpPr>
              <p:nvPr/>
            </p:nvSpPr>
            <p:spPr bwMode="auto">
              <a:xfrm>
                <a:off x="3692" y="3369"/>
                <a:ext cx="28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800" b="1">
                    <a:latin typeface="+mn-lt"/>
                    <a:ea typeface="华文楷体" panose="02010600040101010101" pitchFamily="2" charset="-122"/>
                  </a:rPr>
                  <a:t>...</a:t>
                </a:r>
                <a:endParaRPr lang="en-US" altLang="zh-CN" sz="2800" b="1">
                  <a:latin typeface="+mn-lt"/>
                  <a:ea typeface="华文楷体" panose="02010600040101010101" pitchFamily="2" charset="-122"/>
                </a:endParaRPr>
              </a:p>
            </p:txBody>
          </p:sp>
        </p:grpSp>
      </p:gr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947" name="标题 1"/>
          <p:cNvSpPr>
            <a:spLocks noGrp="1"/>
          </p:cNvSpPr>
          <p:nvPr>
            <p:ph type="title"/>
          </p:nvPr>
        </p:nvSpPr>
        <p:spPr/>
        <p:txBody>
          <a:bodyPr/>
          <a:lstStyle/>
          <a:p>
            <a:r>
              <a:rPr lang="zh-CN" altLang="en-US" b="1"/>
              <a:t>例</a:t>
            </a:r>
            <a:r>
              <a:rPr lang="en-US" altLang="zh-CN" b="1"/>
              <a:t>9-12 </a:t>
            </a:r>
            <a:r>
              <a:rPr lang="zh-CN" altLang="en-US" b="1"/>
              <a:t>简单选择排序函数模板</a:t>
            </a:r>
            <a:endParaRPr kumimoji="1" lang="zh-CN" altLang="en-US" b="1"/>
          </a:p>
        </p:txBody>
      </p:sp>
      <p:sp>
        <p:nvSpPr>
          <p:cNvPr id="82948" name="内容占位符 2"/>
          <p:cNvSpPr>
            <a:spLocks noGrp="1"/>
          </p:cNvSpPr>
          <p:nvPr>
            <p:ph idx="1"/>
          </p:nvPr>
        </p:nvSpPr>
        <p:spPr>
          <a:xfrm>
            <a:off x="611560" y="1340768"/>
            <a:ext cx="78867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mySwap(T &amp;x, T &amp;y)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T temp = x;</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x = y;</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y = temp;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selectionSort(T a[], int 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for (int i = 0; i &lt; n - 1; i++)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leastIndex = i;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for (int j = i + 1; j &lt; n; j++)</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if (a[j] &lt; a[leastIndex])</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leastIndex = j;</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mySwap(a[i], a[leastIndex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交换排序的基本思想</a:t>
            </a:r>
            <a:endParaRPr lang="zh-CN" altLang="en-US" sz="4400" b="1">
              <a:latin typeface="Times New Roman" panose="02020603050405020304" pitchFamily="18" charset="0"/>
              <a:ea typeface="隶书" panose="02010509060101010101" pitchFamily="49" charset="-122"/>
            </a:endParaRPr>
          </a:p>
        </p:txBody>
      </p:sp>
      <p:sp>
        <p:nvSpPr>
          <p:cNvPr id="83971"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两两比较待排序序列中的元素，并交换不满足顺序要求的各对元素，直到全部满足顺序要求为止。</a:t>
            </a:r>
            <a:endParaRPr lang="zh-CN" altLang="en-US" sz="2400" b="1">
              <a:ea typeface="华文楷体" panose="02010600040101010101" pitchFamily="2" charset="-122"/>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4" name="标题 1"/>
          <p:cNvSpPr>
            <a:spLocks noGrp="1"/>
          </p:cNvSpPr>
          <p:nvPr>
            <p:ph type="title"/>
          </p:nvPr>
        </p:nvSpPr>
        <p:spPr>
          <a:xfrm>
            <a:off x="683568" y="188640"/>
            <a:ext cx="7886700" cy="1325563"/>
          </a:xfrm>
        </p:spPr>
        <p:txBody>
          <a:bodyPr/>
          <a:lstStyle/>
          <a:p>
            <a:pPr algn="ctr"/>
            <a:r>
              <a:rPr lang="zh-CN" altLang="en-US" sz="4400" b="1" dirty="0">
                <a:latin typeface="Times New Roman" panose="02020603050405020304" pitchFamily="18" charset="0"/>
                <a:ea typeface="隶书" panose="02010509060101010101" pitchFamily="49" charset="-122"/>
              </a:rPr>
              <a:t>最简单的交换排序方法</a:t>
            </a:r>
            <a:br>
              <a:rPr lang="en-US" altLang="zh-CN" sz="4400" b="1" dirty="0">
                <a:latin typeface="Times New Roman" panose="02020603050405020304" pitchFamily="18" charset="0"/>
                <a:ea typeface="隶书" panose="02010509060101010101" pitchFamily="49" charset="-122"/>
              </a:rPr>
            </a:br>
            <a:r>
              <a:rPr lang="en-US" altLang="zh-CN" sz="4400" b="1" dirty="0">
                <a:latin typeface="Times New Roman" panose="02020603050405020304" pitchFamily="18" charset="0"/>
                <a:ea typeface="隶书" panose="02010509060101010101" pitchFamily="49" charset="-122"/>
              </a:rPr>
              <a:t>——</a:t>
            </a:r>
            <a:r>
              <a:rPr lang="zh-CN" altLang="en-US" sz="4400" b="1" dirty="0">
                <a:latin typeface="Times New Roman" panose="02020603050405020304" pitchFamily="18" charset="0"/>
                <a:ea typeface="隶书" panose="02010509060101010101" pitchFamily="49" charset="-122"/>
              </a:rPr>
              <a:t>起泡排序</a:t>
            </a:r>
            <a:endParaRPr lang="zh-CN" altLang="en-US" sz="4400" b="1" dirty="0">
              <a:latin typeface="Times New Roman" panose="02020603050405020304" pitchFamily="18" charset="0"/>
              <a:ea typeface="隶书" panose="02010509060101010101" pitchFamily="49" charset="-122"/>
            </a:endParaRPr>
          </a:p>
        </p:txBody>
      </p:sp>
      <p:sp>
        <p:nvSpPr>
          <p:cNvPr id="84995"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对具有</a:t>
            </a:r>
            <a:r>
              <a:rPr lang="en-US" altLang="zh-CN" sz="2400" b="1" dirty="0">
                <a:ea typeface="华文楷体" panose="02010600040101010101" pitchFamily="2" charset="-122"/>
              </a:rPr>
              <a:t>n</a:t>
            </a:r>
            <a:r>
              <a:rPr lang="zh-CN" altLang="en-US" sz="2400" b="1" dirty="0">
                <a:ea typeface="华文楷体" panose="02010600040101010101" pitchFamily="2" charset="-122"/>
              </a:rPr>
              <a:t>个元素的序列按升序进行起泡排序的步骤：</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首先将第一个元素与第二个元素进行比较，若为逆序，</a:t>
            </a:r>
            <a:r>
              <a:rPr lang="en-US" altLang="zh-CN" sz="2400" b="1" dirty="0">
                <a:ea typeface="华文楷体" panose="02010600040101010101" pitchFamily="2" charset="-122"/>
              </a:rPr>
              <a:t>a</a:t>
            </a:r>
            <a:r>
              <a:rPr lang="zh-CN" altLang="en-US" sz="2400" b="1" dirty="0">
                <a:ea typeface="华文楷体" panose="02010600040101010101" pitchFamily="2" charset="-122"/>
              </a:rPr>
              <a:t>则将两元素交换。然后比较第二、第三个元素，依次类推，直到第</a:t>
            </a:r>
            <a:r>
              <a:rPr lang="en-US" altLang="zh-CN" sz="2400" b="1" dirty="0">
                <a:ea typeface="华文楷体" panose="02010600040101010101" pitchFamily="2" charset="-122"/>
              </a:rPr>
              <a:t>n-1</a:t>
            </a:r>
            <a:r>
              <a:rPr lang="zh-CN" altLang="en-US" sz="2400" b="1" dirty="0">
                <a:ea typeface="华文楷体" panose="02010600040101010101" pitchFamily="2" charset="-122"/>
              </a:rPr>
              <a:t>和第</a:t>
            </a:r>
            <a:r>
              <a:rPr lang="en-US" altLang="zh-CN" sz="2400" b="1" dirty="0">
                <a:ea typeface="华文楷体" panose="02010600040101010101" pitchFamily="2" charset="-122"/>
              </a:rPr>
              <a:t>n</a:t>
            </a:r>
            <a:r>
              <a:rPr lang="zh-CN" altLang="en-US" sz="2400" b="1" dirty="0">
                <a:ea typeface="华文楷体" panose="02010600040101010101" pitchFamily="2" charset="-122"/>
              </a:rPr>
              <a:t>个元素进行了比较和交换。此过程称为第一趟起泡排序。经过第一趟，最大的元素便被交换到第</a:t>
            </a:r>
            <a:r>
              <a:rPr lang="en-US" altLang="zh-CN" sz="2400" b="1" dirty="0">
                <a:ea typeface="华文楷体" panose="02010600040101010101" pitchFamily="2" charset="-122"/>
              </a:rPr>
              <a:t>n</a:t>
            </a:r>
            <a:r>
              <a:rPr lang="zh-CN" altLang="en-US" sz="2400" b="1" dirty="0">
                <a:ea typeface="华文楷体" panose="02010600040101010101" pitchFamily="2" charset="-122"/>
              </a:rPr>
              <a:t>个位置。</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对前</a:t>
            </a:r>
            <a:r>
              <a:rPr lang="en-US" altLang="zh-CN" sz="2400" b="1" dirty="0">
                <a:ea typeface="华文楷体" panose="02010600040101010101" pitchFamily="2" charset="-122"/>
              </a:rPr>
              <a:t>n-1</a:t>
            </a:r>
            <a:r>
              <a:rPr lang="zh-CN" altLang="en-US" sz="2400" b="1" dirty="0">
                <a:ea typeface="华文楷体" panose="02010600040101010101" pitchFamily="2" charset="-122"/>
              </a:rPr>
              <a:t>个元素进行第二趟起泡排序，将其中最大元素交换到第</a:t>
            </a:r>
            <a:r>
              <a:rPr lang="en-US" altLang="zh-CN" sz="2400" b="1" dirty="0">
                <a:ea typeface="华文楷体" panose="02010600040101010101" pitchFamily="2" charset="-122"/>
              </a:rPr>
              <a:t>n-1</a:t>
            </a:r>
            <a:r>
              <a:rPr lang="zh-CN" altLang="en-US" sz="2400" b="1" dirty="0">
                <a:ea typeface="华文楷体" panose="02010600040101010101" pitchFamily="2" charset="-122"/>
              </a:rPr>
              <a:t>个位置。</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如此继续，直到某一趟排序未发生任何交换时，排序完毕。对</a:t>
            </a:r>
            <a:r>
              <a:rPr lang="en-US" altLang="zh-CN" sz="2400" b="1" dirty="0">
                <a:ea typeface="华文楷体" panose="02010600040101010101" pitchFamily="2" charset="-122"/>
              </a:rPr>
              <a:t>n</a:t>
            </a:r>
            <a:r>
              <a:rPr lang="zh-CN" altLang="en-US" sz="2400" b="1" dirty="0">
                <a:ea typeface="华文楷体" panose="02010600040101010101" pitchFamily="2" charset="-122"/>
              </a:rPr>
              <a:t>个元素的序列，起泡排序最多需要进行</a:t>
            </a:r>
            <a:r>
              <a:rPr lang="en-US" altLang="zh-CN" sz="2400" b="1" dirty="0">
                <a:ea typeface="华文楷体" panose="02010600040101010101" pitchFamily="2" charset="-122"/>
              </a:rPr>
              <a:t>n-1</a:t>
            </a:r>
            <a:r>
              <a:rPr lang="zh-CN" altLang="en-US" sz="2400" b="1" dirty="0">
                <a:ea typeface="华文楷体" panose="02010600040101010101" pitchFamily="2" charset="-122"/>
              </a:rPr>
              <a:t>趟。</a:t>
            </a:r>
            <a:endParaRPr lang="zh-CN" altLang="en-US" sz="2400" b="1" dirty="0">
              <a:ea typeface="华文楷体" panose="02010600040101010101" pitchFamily="2"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起泡排序举例</a:t>
            </a:r>
            <a:endParaRPr lang="zh-CN" altLang="en-US" sz="4400" b="1">
              <a:latin typeface="Times New Roman" panose="02020603050405020304" pitchFamily="18" charset="0"/>
              <a:ea typeface="隶书" panose="02010509060101010101" pitchFamily="49" charset="-122"/>
            </a:endParaRPr>
          </a:p>
        </p:txBody>
      </p:sp>
      <p:sp>
        <p:nvSpPr>
          <p:cNvPr id="86019" name="内容占位符 2"/>
          <p:cNvSpPr>
            <a:spLocks noGrp="1"/>
          </p:cNvSpPr>
          <p:nvPr>
            <p:ph idx="1"/>
          </p:nvPr>
        </p:nvSpPr>
        <p:spPr>
          <a:xfrm>
            <a:off x="679450" y="1329531"/>
            <a:ext cx="7886700" cy="435133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对整数序列 </a:t>
            </a:r>
            <a:r>
              <a:rPr lang="en-US" altLang="zh-CN" sz="2400" b="1" dirty="0">
                <a:solidFill>
                  <a:srgbClr val="FFFF00"/>
                </a:solidFill>
                <a:ea typeface="华文楷体" panose="02010600040101010101" pitchFamily="2" charset="-122"/>
              </a:rPr>
              <a:t>8 5 2 4 3 </a:t>
            </a:r>
            <a:r>
              <a:rPr lang="zh-CN" altLang="en-US" sz="2400" b="1" dirty="0">
                <a:solidFill>
                  <a:srgbClr val="FFFF00"/>
                </a:solidFill>
                <a:ea typeface="华文楷体" panose="02010600040101010101" pitchFamily="2" charset="-122"/>
              </a:rPr>
              <a:t>按升序排序</a:t>
            </a:r>
            <a:endParaRPr lang="zh-CN" altLang="en-US" sz="2400" b="1" dirty="0">
              <a:solidFill>
                <a:srgbClr val="FFFF00"/>
              </a:solidFill>
              <a:ea typeface="华文楷体" panose="02010600040101010101" pitchFamily="2" charset="-122"/>
            </a:endParaRPr>
          </a:p>
        </p:txBody>
      </p:sp>
      <p:sp>
        <p:nvSpPr>
          <p:cNvPr id="86022" name="Rectangle 4"/>
          <p:cNvSpPr>
            <a:spLocks noChangeArrowheads="1"/>
          </p:cNvSpPr>
          <p:nvPr/>
        </p:nvSpPr>
        <p:spPr bwMode="auto">
          <a:xfrm>
            <a:off x="3533719" y="2349500"/>
            <a:ext cx="339837" cy="2862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b="1">
                <a:latin typeface="+mn-lt"/>
                <a:ea typeface="华文楷体" panose="02010600040101010101" pitchFamily="2" charset="-122"/>
              </a:rPr>
              <a:t>8</a:t>
            </a:r>
            <a:endParaRPr lang="en-US" altLang="zh-CN" b="1">
              <a:latin typeface="+mn-lt"/>
              <a:ea typeface="华文楷体" panose="02010600040101010101" pitchFamily="2" charset="-122"/>
            </a:endParaRPr>
          </a:p>
          <a:p>
            <a:pPr>
              <a:lnSpc>
                <a:spcPct val="150000"/>
              </a:lnSpc>
            </a:pPr>
            <a:r>
              <a:rPr lang="en-US" altLang="zh-CN" b="1">
                <a:latin typeface="+mn-lt"/>
                <a:ea typeface="华文楷体" panose="02010600040101010101" pitchFamily="2" charset="-122"/>
              </a:rPr>
              <a:t>5</a:t>
            </a:r>
            <a:endParaRPr lang="en-US" altLang="zh-CN" b="1">
              <a:latin typeface="+mn-lt"/>
              <a:ea typeface="华文楷体" panose="02010600040101010101" pitchFamily="2" charset="-122"/>
            </a:endParaRPr>
          </a:p>
          <a:p>
            <a:pPr>
              <a:lnSpc>
                <a:spcPct val="150000"/>
              </a:lnSpc>
            </a:pPr>
            <a:r>
              <a:rPr lang="en-US" altLang="zh-CN" b="1">
                <a:latin typeface="+mn-lt"/>
                <a:ea typeface="华文楷体" panose="02010600040101010101" pitchFamily="2" charset="-122"/>
              </a:rPr>
              <a:t>2</a:t>
            </a:r>
            <a:endParaRPr lang="en-US" altLang="zh-CN" b="1">
              <a:latin typeface="+mn-lt"/>
              <a:ea typeface="华文楷体" panose="02010600040101010101" pitchFamily="2" charset="-122"/>
            </a:endParaRPr>
          </a:p>
          <a:p>
            <a:pPr>
              <a:lnSpc>
                <a:spcPct val="150000"/>
              </a:lnSpc>
            </a:pPr>
            <a:r>
              <a:rPr lang="en-US" altLang="zh-CN" b="1">
                <a:latin typeface="+mn-lt"/>
                <a:ea typeface="华文楷体" panose="02010600040101010101" pitchFamily="2" charset="-122"/>
              </a:rPr>
              <a:t>4</a:t>
            </a:r>
            <a:endParaRPr lang="en-US" altLang="zh-CN" b="1">
              <a:latin typeface="+mn-lt"/>
              <a:ea typeface="华文楷体" panose="02010600040101010101" pitchFamily="2" charset="-122"/>
            </a:endParaRPr>
          </a:p>
          <a:p>
            <a:pPr>
              <a:lnSpc>
                <a:spcPct val="150000"/>
              </a:lnSpc>
            </a:pPr>
            <a:r>
              <a:rPr lang="en-US" altLang="zh-CN" b="1">
                <a:latin typeface="+mn-lt"/>
                <a:ea typeface="华文楷体" panose="02010600040101010101" pitchFamily="2" charset="-122"/>
              </a:rPr>
              <a:t>3</a:t>
            </a:r>
            <a:endParaRPr lang="en-US" altLang="zh-CN" b="1">
              <a:latin typeface="+mn-lt"/>
              <a:ea typeface="华文楷体" panose="02010600040101010101" pitchFamily="2" charset="-122"/>
            </a:endParaRPr>
          </a:p>
        </p:txBody>
      </p:sp>
      <p:sp>
        <p:nvSpPr>
          <p:cNvPr id="86023" name="Rectangle 5"/>
          <p:cNvSpPr>
            <a:spLocks noChangeArrowheads="1"/>
          </p:cNvSpPr>
          <p:nvPr/>
        </p:nvSpPr>
        <p:spPr bwMode="auto">
          <a:xfrm>
            <a:off x="40687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5</a:t>
            </a:r>
            <a:endParaRPr lang="en-US" altLang="zh-CN" b="1" dirty="0">
              <a:latin typeface="+mn-lt"/>
              <a:ea typeface="华文楷体" panose="02010600040101010101" pitchFamily="2" charset="-122"/>
            </a:endParaRPr>
          </a:p>
        </p:txBody>
      </p:sp>
      <p:sp>
        <p:nvSpPr>
          <p:cNvPr id="86024" name="Rectangle 6"/>
          <p:cNvSpPr>
            <a:spLocks noChangeArrowheads="1"/>
          </p:cNvSpPr>
          <p:nvPr/>
        </p:nvSpPr>
        <p:spPr bwMode="auto">
          <a:xfrm>
            <a:off x="40687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2</a:t>
            </a:r>
            <a:endParaRPr lang="en-US" altLang="zh-CN" b="1">
              <a:latin typeface="+mn-lt"/>
              <a:ea typeface="华文楷体" panose="02010600040101010101" pitchFamily="2" charset="-122"/>
            </a:endParaRPr>
          </a:p>
        </p:txBody>
      </p:sp>
      <p:sp>
        <p:nvSpPr>
          <p:cNvPr id="86025" name="Rectangle 7"/>
          <p:cNvSpPr>
            <a:spLocks noChangeArrowheads="1"/>
          </p:cNvSpPr>
          <p:nvPr/>
        </p:nvSpPr>
        <p:spPr bwMode="auto">
          <a:xfrm>
            <a:off x="40687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4</a:t>
            </a:r>
            <a:endParaRPr lang="en-US" altLang="zh-CN" b="1" dirty="0">
              <a:latin typeface="+mn-lt"/>
              <a:ea typeface="华文楷体" panose="02010600040101010101" pitchFamily="2" charset="-122"/>
            </a:endParaRPr>
          </a:p>
        </p:txBody>
      </p:sp>
      <p:sp>
        <p:nvSpPr>
          <p:cNvPr id="86026" name="Rectangle 8"/>
          <p:cNvSpPr>
            <a:spLocks noChangeArrowheads="1"/>
          </p:cNvSpPr>
          <p:nvPr/>
        </p:nvSpPr>
        <p:spPr bwMode="auto">
          <a:xfrm>
            <a:off x="40687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3</a:t>
            </a:r>
            <a:endParaRPr lang="en-US" altLang="zh-CN" b="1">
              <a:latin typeface="+mn-lt"/>
              <a:ea typeface="华文楷体" panose="02010600040101010101" pitchFamily="2" charset="-122"/>
            </a:endParaRPr>
          </a:p>
        </p:txBody>
      </p:sp>
      <p:sp>
        <p:nvSpPr>
          <p:cNvPr id="86027" name="Rectangle 9"/>
          <p:cNvSpPr>
            <a:spLocks noChangeArrowheads="1"/>
          </p:cNvSpPr>
          <p:nvPr/>
        </p:nvSpPr>
        <p:spPr bwMode="auto">
          <a:xfrm>
            <a:off x="40687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FFFF00"/>
                </a:solidFill>
                <a:latin typeface="+mn-lt"/>
                <a:ea typeface="华文楷体" panose="02010600040101010101" pitchFamily="2" charset="-122"/>
              </a:rPr>
              <a:t>8</a:t>
            </a:r>
            <a:endParaRPr lang="en-US" altLang="zh-CN" b="1" dirty="0">
              <a:solidFill>
                <a:srgbClr val="FFFF00"/>
              </a:solidFill>
              <a:latin typeface="+mn-lt"/>
              <a:ea typeface="华文楷体" panose="02010600040101010101" pitchFamily="2" charset="-122"/>
            </a:endParaRPr>
          </a:p>
        </p:txBody>
      </p:sp>
      <p:sp>
        <p:nvSpPr>
          <p:cNvPr id="86028" name="Rectangle 10"/>
          <p:cNvSpPr>
            <a:spLocks noChangeArrowheads="1"/>
          </p:cNvSpPr>
          <p:nvPr/>
        </p:nvSpPr>
        <p:spPr bwMode="auto">
          <a:xfrm>
            <a:off x="46021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2</a:t>
            </a:r>
            <a:endParaRPr lang="en-US" altLang="zh-CN" b="1" dirty="0">
              <a:latin typeface="+mn-lt"/>
              <a:ea typeface="华文楷体" panose="02010600040101010101" pitchFamily="2" charset="-122"/>
            </a:endParaRPr>
          </a:p>
        </p:txBody>
      </p:sp>
      <p:sp>
        <p:nvSpPr>
          <p:cNvPr id="86029" name="Rectangle 11"/>
          <p:cNvSpPr>
            <a:spLocks noChangeArrowheads="1"/>
          </p:cNvSpPr>
          <p:nvPr/>
        </p:nvSpPr>
        <p:spPr bwMode="auto">
          <a:xfrm>
            <a:off x="46021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4</a:t>
            </a:r>
            <a:endParaRPr lang="en-US" altLang="zh-CN" b="1" dirty="0">
              <a:latin typeface="+mn-lt"/>
              <a:ea typeface="华文楷体" panose="02010600040101010101" pitchFamily="2" charset="-122"/>
            </a:endParaRPr>
          </a:p>
        </p:txBody>
      </p:sp>
      <p:sp>
        <p:nvSpPr>
          <p:cNvPr id="86030" name="Rectangle 12"/>
          <p:cNvSpPr>
            <a:spLocks noChangeArrowheads="1"/>
          </p:cNvSpPr>
          <p:nvPr/>
        </p:nvSpPr>
        <p:spPr bwMode="auto">
          <a:xfrm>
            <a:off x="46021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3</a:t>
            </a:r>
            <a:endParaRPr lang="en-US" altLang="zh-CN" b="1">
              <a:latin typeface="+mn-lt"/>
              <a:ea typeface="华文楷体" panose="02010600040101010101" pitchFamily="2" charset="-122"/>
            </a:endParaRPr>
          </a:p>
        </p:txBody>
      </p:sp>
      <p:sp>
        <p:nvSpPr>
          <p:cNvPr id="86031" name="Rectangle 13"/>
          <p:cNvSpPr>
            <a:spLocks noChangeArrowheads="1"/>
          </p:cNvSpPr>
          <p:nvPr/>
        </p:nvSpPr>
        <p:spPr bwMode="auto">
          <a:xfrm>
            <a:off x="4572000" y="41910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FFFF00"/>
                </a:solidFill>
                <a:latin typeface="+mn-lt"/>
                <a:ea typeface="华文楷体" panose="02010600040101010101" pitchFamily="2" charset="-122"/>
              </a:rPr>
              <a:t>5</a:t>
            </a:r>
            <a:endParaRPr lang="en-US" altLang="zh-CN" b="1" dirty="0">
              <a:solidFill>
                <a:srgbClr val="FFFF00"/>
              </a:solidFill>
              <a:latin typeface="+mn-lt"/>
              <a:ea typeface="华文楷体" panose="02010600040101010101" pitchFamily="2" charset="-122"/>
            </a:endParaRPr>
          </a:p>
        </p:txBody>
      </p:sp>
      <p:sp>
        <p:nvSpPr>
          <p:cNvPr id="86032" name="Rectangle 14"/>
          <p:cNvSpPr>
            <a:spLocks noChangeArrowheads="1"/>
          </p:cNvSpPr>
          <p:nvPr/>
        </p:nvSpPr>
        <p:spPr bwMode="auto">
          <a:xfrm>
            <a:off x="46021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8</a:t>
            </a:r>
            <a:endParaRPr lang="en-US" altLang="zh-CN" b="1">
              <a:solidFill>
                <a:srgbClr val="FFFF00"/>
              </a:solidFill>
              <a:latin typeface="+mn-lt"/>
              <a:ea typeface="华文楷体" panose="02010600040101010101" pitchFamily="2" charset="-122"/>
            </a:endParaRPr>
          </a:p>
        </p:txBody>
      </p:sp>
      <p:sp>
        <p:nvSpPr>
          <p:cNvPr id="86033" name="Rectangle 15"/>
          <p:cNvSpPr>
            <a:spLocks noChangeArrowheads="1"/>
          </p:cNvSpPr>
          <p:nvPr/>
        </p:nvSpPr>
        <p:spPr bwMode="auto">
          <a:xfrm>
            <a:off x="51355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2</a:t>
            </a:r>
            <a:endParaRPr lang="en-US" altLang="zh-CN" b="1">
              <a:latin typeface="+mn-lt"/>
              <a:ea typeface="华文楷体" panose="02010600040101010101" pitchFamily="2" charset="-122"/>
            </a:endParaRPr>
          </a:p>
        </p:txBody>
      </p:sp>
      <p:sp>
        <p:nvSpPr>
          <p:cNvPr id="86034" name="Rectangle 16"/>
          <p:cNvSpPr>
            <a:spLocks noChangeArrowheads="1"/>
          </p:cNvSpPr>
          <p:nvPr/>
        </p:nvSpPr>
        <p:spPr bwMode="auto">
          <a:xfrm>
            <a:off x="51355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latin typeface="+mn-lt"/>
                <a:ea typeface="华文楷体" panose="02010600040101010101" pitchFamily="2" charset="-122"/>
              </a:rPr>
              <a:t>3</a:t>
            </a:r>
            <a:endParaRPr lang="en-US" altLang="zh-CN" b="1" dirty="0">
              <a:latin typeface="+mn-lt"/>
              <a:ea typeface="华文楷体" panose="02010600040101010101" pitchFamily="2" charset="-122"/>
            </a:endParaRPr>
          </a:p>
        </p:txBody>
      </p:sp>
      <p:sp>
        <p:nvSpPr>
          <p:cNvPr id="86035" name="Rectangle 17"/>
          <p:cNvSpPr>
            <a:spLocks noChangeArrowheads="1"/>
          </p:cNvSpPr>
          <p:nvPr/>
        </p:nvSpPr>
        <p:spPr bwMode="auto">
          <a:xfrm>
            <a:off x="51355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4</a:t>
            </a:r>
            <a:endParaRPr lang="en-US" altLang="zh-CN" b="1">
              <a:solidFill>
                <a:srgbClr val="FFFF00"/>
              </a:solidFill>
              <a:latin typeface="+mn-lt"/>
              <a:ea typeface="华文楷体" panose="02010600040101010101" pitchFamily="2" charset="-122"/>
            </a:endParaRPr>
          </a:p>
        </p:txBody>
      </p:sp>
      <p:sp>
        <p:nvSpPr>
          <p:cNvPr id="86036" name="Rectangle 18"/>
          <p:cNvSpPr>
            <a:spLocks noChangeArrowheads="1"/>
          </p:cNvSpPr>
          <p:nvPr/>
        </p:nvSpPr>
        <p:spPr bwMode="auto">
          <a:xfrm>
            <a:off x="51355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5</a:t>
            </a:r>
            <a:endParaRPr lang="en-US" altLang="zh-CN" b="1">
              <a:solidFill>
                <a:srgbClr val="FFFF00"/>
              </a:solidFill>
              <a:latin typeface="+mn-lt"/>
              <a:ea typeface="华文楷体" panose="02010600040101010101" pitchFamily="2" charset="-122"/>
            </a:endParaRPr>
          </a:p>
        </p:txBody>
      </p:sp>
      <p:sp>
        <p:nvSpPr>
          <p:cNvPr id="86037" name="Rectangle 19"/>
          <p:cNvSpPr>
            <a:spLocks noChangeArrowheads="1"/>
          </p:cNvSpPr>
          <p:nvPr/>
        </p:nvSpPr>
        <p:spPr bwMode="auto">
          <a:xfrm>
            <a:off x="51355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8</a:t>
            </a:r>
            <a:endParaRPr lang="en-US" altLang="zh-CN" b="1">
              <a:solidFill>
                <a:srgbClr val="FFFF00"/>
              </a:solidFill>
              <a:latin typeface="+mn-lt"/>
              <a:ea typeface="华文楷体" panose="02010600040101010101" pitchFamily="2" charset="-122"/>
            </a:endParaRPr>
          </a:p>
        </p:txBody>
      </p:sp>
      <p:sp>
        <p:nvSpPr>
          <p:cNvPr id="86038" name="Rectangle 20"/>
          <p:cNvSpPr>
            <a:spLocks noChangeArrowheads="1"/>
          </p:cNvSpPr>
          <p:nvPr/>
        </p:nvSpPr>
        <p:spPr bwMode="auto">
          <a:xfrm>
            <a:off x="5668963" y="24860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2</a:t>
            </a:r>
            <a:endParaRPr lang="en-US" altLang="zh-CN" b="1">
              <a:latin typeface="+mn-lt"/>
              <a:ea typeface="华文楷体" panose="02010600040101010101" pitchFamily="2" charset="-122"/>
            </a:endParaRPr>
          </a:p>
        </p:txBody>
      </p:sp>
      <p:sp>
        <p:nvSpPr>
          <p:cNvPr id="86039" name="Rectangle 21"/>
          <p:cNvSpPr>
            <a:spLocks noChangeArrowheads="1"/>
          </p:cNvSpPr>
          <p:nvPr/>
        </p:nvSpPr>
        <p:spPr bwMode="auto">
          <a:xfrm>
            <a:off x="5668963" y="3019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3</a:t>
            </a:r>
            <a:endParaRPr lang="en-US" altLang="zh-CN" b="1">
              <a:solidFill>
                <a:srgbClr val="FFFF00"/>
              </a:solidFill>
              <a:latin typeface="+mn-lt"/>
              <a:ea typeface="华文楷体" panose="02010600040101010101" pitchFamily="2" charset="-122"/>
            </a:endParaRPr>
          </a:p>
        </p:txBody>
      </p:sp>
      <p:sp>
        <p:nvSpPr>
          <p:cNvPr id="86040" name="Rectangle 22"/>
          <p:cNvSpPr>
            <a:spLocks noChangeArrowheads="1"/>
          </p:cNvSpPr>
          <p:nvPr/>
        </p:nvSpPr>
        <p:spPr bwMode="auto">
          <a:xfrm>
            <a:off x="5668963" y="3552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4</a:t>
            </a:r>
            <a:endParaRPr lang="en-US" altLang="zh-CN" b="1">
              <a:solidFill>
                <a:srgbClr val="FFFF00"/>
              </a:solidFill>
              <a:latin typeface="+mn-lt"/>
              <a:ea typeface="华文楷体" panose="02010600040101010101" pitchFamily="2" charset="-122"/>
            </a:endParaRPr>
          </a:p>
        </p:txBody>
      </p:sp>
      <p:sp>
        <p:nvSpPr>
          <p:cNvPr id="86041" name="Rectangle 23"/>
          <p:cNvSpPr>
            <a:spLocks noChangeArrowheads="1"/>
          </p:cNvSpPr>
          <p:nvPr/>
        </p:nvSpPr>
        <p:spPr bwMode="auto">
          <a:xfrm>
            <a:off x="5668963" y="41624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solidFill>
                  <a:srgbClr val="FFFF00"/>
                </a:solidFill>
                <a:latin typeface="+mn-lt"/>
                <a:ea typeface="华文楷体" panose="02010600040101010101" pitchFamily="2" charset="-122"/>
              </a:rPr>
              <a:t>5</a:t>
            </a:r>
            <a:endParaRPr lang="en-US" altLang="zh-CN" b="1">
              <a:solidFill>
                <a:srgbClr val="FFFF00"/>
              </a:solidFill>
              <a:latin typeface="+mn-lt"/>
              <a:ea typeface="华文楷体" panose="02010600040101010101" pitchFamily="2" charset="-122"/>
            </a:endParaRPr>
          </a:p>
        </p:txBody>
      </p:sp>
      <p:sp>
        <p:nvSpPr>
          <p:cNvPr id="86042" name="Rectangle 24"/>
          <p:cNvSpPr>
            <a:spLocks noChangeArrowheads="1"/>
          </p:cNvSpPr>
          <p:nvPr/>
        </p:nvSpPr>
        <p:spPr bwMode="auto">
          <a:xfrm>
            <a:off x="5668963" y="469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dirty="0">
                <a:solidFill>
                  <a:srgbClr val="FFFF00"/>
                </a:solidFill>
                <a:latin typeface="+mn-lt"/>
                <a:ea typeface="华文楷体" panose="02010600040101010101" pitchFamily="2" charset="-122"/>
              </a:rPr>
              <a:t>8</a:t>
            </a:r>
            <a:endParaRPr lang="en-US" altLang="zh-CN" b="1" dirty="0">
              <a:solidFill>
                <a:srgbClr val="FFFF00"/>
              </a:solidFill>
              <a:latin typeface="+mn-lt"/>
              <a:ea typeface="华文楷体" panose="02010600040101010101" pitchFamily="2" charset="-122"/>
            </a:endParaRPr>
          </a:p>
        </p:txBody>
      </p:sp>
      <p:sp>
        <p:nvSpPr>
          <p:cNvPr id="86043" name="Rectangle 25"/>
          <p:cNvSpPr>
            <a:spLocks noChangeArrowheads="1"/>
          </p:cNvSpPr>
          <p:nvPr/>
        </p:nvSpPr>
        <p:spPr bwMode="auto">
          <a:xfrm>
            <a:off x="3149600" y="2413000"/>
            <a:ext cx="2946400" cy="2768600"/>
          </a:xfrm>
          <a:prstGeom prst="rect">
            <a:avLst/>
          </a:prstGeom>
          <a:noFill/>
          <a:ln w="254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b="1">
              <a:latin typeface="+mn-lt"/>
              <a:ea typeface="华文楷体" panose="02010600040101010101" pitchFamily="2" charset="-122"/>
            </a:endParaRPr>
          </a:p>
        </p:txBody>
      </p:sp>
      <p:sp>
        <p:nvSpPr>
          <p:cNvPr id="80924" name="Text Box 26"/>
          <p:cNvSpPr txBox="1">
            <a:spLocks noChangeArrowheads="1"/>
          </p:cNvSpPr>
          <p:nvPr/>
        </p:nvSpPr>
        <p:spPr bwMode="auto">
          <a:xfrm>
            <a:off x="3505200" y="5257800"/>
            <a:ext cx="381000" cy="1084528"/>
          </a:xfrm>
          <a:prstGeom prst="rect">
            <a:avLst/>
          </a:prstGeom>
          <a:noFill/>
          <a:ln w="12699">
            <a:noFill/>
            <a:miter lim="800000"/>
            <a:headEnd type="none" w="sm" len="sm"/>
            <a:tailEnd type="none" w="sm" len="sm"/>
          </a:ln>
        </p:spPr>
        <p:txBody>
          <a:bodyPr>
            <a:spAutoFit/>
          </a:bodyPr>
          <a:lstStyle/>
          <a:p>
            <a:pPr>
              <a:lnSpc>
                <a:spcPct val="80000"/>
              </a:lnSpc>
              <a:spcBef>
                <a:spcPct val="50000"/>
              </a:spcBef>
              <a:defRPr/>
            </a:pPr>
            <a:r>
              <a:rPr lang="zh-CN" altLang="en-US" sz="2000" b="1" dirty="0">
                <a:solidFill>
                  <a:srgbClr val="FFFF00"/>
                </a:solidFill>
                <a:latin typeface="+mn-lt"/>
                <a:ea typeface="华文楷体" panose="02010600040101010101" pitchFamily="2" charset="-122"/>
              </a:rPr>
              <a:t>初始状态</a:t>
            </a:r>
            <a:endParaRPr lang="zh-CN" altLang="en-US" sz="2000" b="1" dirty="0">
              <a:solidFill>
                <a:srgbClr val="FFFF00"/>
              </a:solidFill>
              <a:latin typeface="+mn-lt"/>
              <a:ea typeface="华文楷体" panose="02010600040101010101" pitchFamily="2" charset="-122"/>
            </a:endParaRPr>
          </a:p>
        </p:txBody>
      </p:sp>
      <p:sp>
        <p:nvSpPr>
          <p:cNvPr id="80925" name="Text Box 27"/>
          <p:cNvSpPr txBox="1">
            <a:spLocks noChangeArrowheads="1"/>
          </p:cNvSpPr>
          <p:nvPr/>
        </p:nvSpPr>
        <p:spPr bwMode="auto">
          <a:xfrm>
            <a:off x="3997325" y="5268913"/>
            <a:ext cx="381000" cy="1330749"/>
          </a:xfrm>
          <a:prstGeom prst="rect">
            <a:avLst/>
          </a:prstGeom>
          <a:noFill/>
          <a:ln w="12699">
            <a:noFill/>
            <a:miter lim="800000"/>
            <a:headEnd type="none" w="sm" len="sm"/>
            <a:tailEnd type="none" w="sm" len="sm"/>
          </a:ln>
        </p:spPr>
        <p:txBody>
          <a:bodyPr>
            <a:spAutoFit/>
          </a:bodyPr>
          <a:lstStyle/>
          <a:p>
            <a:pPr>
              <a:lnSpc>
                <a:spcPct val="80000"/>
              </a:lnSpc>
              <a:spcBef>
                <a:spcPct val="50000"/>
              </a:spcBef>
              <a:defRPr/>
            </a:pPr>
            <a:r>
              <a:rPr lang="zh-CN" altLang="en-US" sz="2000" b="1" dirty="0">
                <a:solidFill>
                  <a:srgbClr val="FFFF00"/>
                </a:solidFill>
                <a:latin typeface="+mn-lt"/>
                <a:ea typeface="华文楷体" panose="02010600040101010101" pitchFamily="2" charset="-122"/>
              </a:rPr>
              <a:t>第一趟结果</a:t>
            </a:r>
            <a:endParaRPr lang="zh-CN" altLang="en-US" sz="2000" b="1" dirty="0">
              <a:solidFill>
                <a:srgbClr val="FFFF00"/>
              </a:solidFill>
              <a:latin typeface="+mn-lt"/>
              <a:ea typeface="华文楷体" panose="02010600040101010101" pitchFamily="2" charset="-122"/>
            </a:endParaRPr>
          </a:p>
        </p:txBody>
      </p:sp>
      <p:sp>
        <p:nvSpPr>
          <p:cNvPr id="80926" name="Text Box 28"/>
          <p:cNvSpPr txBox="1">
            <a:spLocks noChangeArrowheads="1"/>
          </p:cNvSpPr>
          <p:nvPr/>
        </p:nvSpPr>
        <p:spPr bwMode="auto">
          <a:xfrm>
            <a:off x="4530725" y="5278438"/>
            <a:ext cx="381000" cy="1330749"/>
          </a:xfrm>
          <a:prstGeom prst="rect">
            <a:avLst/>
          </a:prstGeom>
          <a:noFill/>
          <a:ln w="12699">
            <a:noFill/>
            <a:miter lim="800000"/>
            <a:headEnd type="none" w="sm" len="sm"/>
            <a:tailEnd type="none" w="sm" len="sm"/>
          </a:ln>
        </p:spPr>
        <p:txBody>
          <a:bodyPr>
            <a:spAutoFit/>
          </a:bodyPr>
          <a:lstStyle/>
          <a:p>
            <a:pPr>
              <a:lnSpc>
                <a:spcPct val="80000"/>
              </a:lnSpc>
              <a:spcBef>
                <a:spcPct val="50000"/>
              </a:spcBef>
              <a:defRPr/>
            </a:pPr>
            <a:r>
              <a:rPr lang="zh-CN" altLang="en-US" sz="2000" b="1" dirty="0">
                <a:solidFill>
                  <a:srgbClr val="FFFF00"/>
                </a:solidFill>
                <a:latin typeface="+mn-lt"/>
                <a:ea typeface="华文楷体" panose="02010600040101010101" pitchFamily="2" charset="-122"/>
              </a:rPr>
              <a:t>第二趟结果</a:t>
            </a:r>
            <a:endParaRPr lang="zh-CN" altLang="en-US" sz="2000" b="1" dirty="0">
              <a:solidFill>
                <a:srgbClr val="FFFF00"/>
              </a:solidFill>
              <a:latin typeface="+mn-lt"/>
              <a:ea typeface="华文楷体" panose="02010600040101010101" pitchFamily="2" charset="-122"/>
            </a:endParaRPr>
          </a:p>
        </p:txBody>
      </p:sp>
      <p:sp>
        <p:nvSpPr>
          <p:cNvPr id="80927" name="Text Box 29"/>
          <p:cNvSpPr txBox="1">
            <a:spLocks noChangeArrowheads="1"/>
          </p:cNvSpPr>
          <p:nvPr/>
        </p:nvSpPr>
        <p:spPr bwMode="auto">
          <a:xfrm>
            <a:off x="5064125" y="5278438"/>
            <a:ext cx="381000" cy="1330749"/>
          </a:xfrm>
          <a:prstGeom prst="rect">
            <a:avLst/>
          </a:prstGeom>
          <a:noFill/>
          <a:ln w="12699">
            <a:noFill/>
            <a:miter lim="800000"/>
            <a:headEnd type="none" w="sm" len="sm"/>
            <a:tailEnd type="none" w="sm" len="sm"/>
          </a:ln>
        </p:spPr>
        <p:txBody>
          <a:bodyPr>
            <a:spAutoFit/>
          </a:bodyPr>
          <a:lstStyle/>
          <a:p>
            <a:pPr>
              <a:lnSpc>
                <a:spcPct val="80000"/>
              </a:lnSpc>
              <a:spcBef>
                <a:spcPct val="50000"/>
              </a:spcBef>
              <a:defRPr/>
            </a:pPr>
            <a:r>
              <a:rPr lang="zh-CN" altLang="en-US" sz="2000" b="1" dirty="0">
                <a:solidFill>
                  <a:srgbClr val="FFFF00"/>
                </a:solidFill>
                <a:latin typeface="+mn-lt"/>
                <a:ea typeface="华文楷体" panose="02010600040101010101" pitchFamily="2" charset="-122"/>
              </a:rPr>
              <a:t>第三趟结果</a:t>
            </a:r>
            <a:endParaRPr lang="zh-CN" altLang="en-US" sz="2000" b="1" dirty="0">
              <a:solidFill>
                <a:srgbClr val="FFFF00"/>
              </a:solidFill>
              <a:latin typeface="+mn-lt"/>
              <a:ea typeface="华文楷体" panose="02010600040101010101" pitchFamily="2" charset="-122"/>
            </a:endParaRPr>
          </a:p>
        </p:txBody>
      </p:sp>
      <p:sp>
        <p:nvSpPr>
          <p:cNvPr id="80928" name="Text Box 30"/>
          <p:cNvSpPr txBox="1">
            <a:spLocks noChangeArrowheads="1"/>
          </p:cNvSpPr>
          <p:nvPr/>
        </p:nvSpPr>
        <p:spPr bwMode="auto">
          <a:xfrm>
            <a:off x="5597525" y="5278438"/>
            <a:ext cx="381000" cy="1330749"/>
          </a:xfrm>
          <a:prstGeom prst="rect">
            <a:avLst/>
          </a:prstGeom>
          <a:noFill/>
          <a:ln w="12699">
            <a:noFill/>
            <a:miter lim="800000"/>
            <a:headEnd type="none" w="sm" len="sm"/>
            <a:tailEnd type="none" w="sm" len="sm"/>
          </a:ln>
        </p:spPr>
        <p:txBody>
          <a:bodyPr>
            <a:spAutoFit/>
          </a:bodyPr>
          <a:lstStyle/>
          <a:p>
            <a:pPr>
              <a:lnSpc>
                <a:spcPct val="80000"/>
              </a:lnSpc>
              <a:spcBef>
                <a:spcPct val="50000"/>
              </a:spcBef>
              <a:defRPr/>
            </a:pPr>
            <a:r>
              <a:rPr lang="zh-CN" altLang="en-US" sz="2000" b="1" dirty="0">
                <a:solidFill>
                  <a:srgbClr val="FFFF00"/>
                </a:solidFill>
                <a:latin typeface="+mn-lt"/>
                <a:ea typeface="华文楷体" panose="02010600040101010101" pitchFamily="2" charset="-122"/>
              </a:rPr>
              <a:t>第四趟结果</a:t>
            </a:r>
            <a:endParaRPr lang="zh-CN" altLang="en-US" sz="2000" b="1" dirty="0">
              <a:solidFill>
                <a:srgbClr val="FFFF00"/>
              </a:solidFill>
              <a:latin typeface="+mn-lt"/>
              <a:ea typeface="华文楷体" panose="02010600040101010101" pitchFamily="2" charset="-122"/>
            </a:endParaRPr>
          </a:p>
        </p:txBody>
      </p:sp>
      <p:sp>
        <p:nvSpPr>
          <p:cNvPr id="34" name="Text Box 31"/>
          <p:cNvSpPr txBox="1">
            <a:spLocks noChangeArrowheads="1"/>
          </p:cNvSpPr>
          <p:nvPr/>
        </p:nvSpPr>
        <p:spPr bwMode="auto">
          <a:xfrm>
            <a:off x="1524000" y="2667000"/>
            <a:ext cx="609600" cy="2308225"/>
          </a:xfrm>
          <a:prstGeom prst="rect">
            <a:avLst/>
          </a:prstGeom>
          <a:noFill/>
          <a:ln>
            <a:noFill/>
          </a:ln>
        </p:spPr>
        <p:txBody>
          <a:bodyPr>
            <a:spAutoFit/>
          </a:bodyPr>
          <a:lstStyle>
            <a:lvl1pPr eaLnBrk="0" hangingPunct="0">
              <a:defRPr sz="2400" b="1">
                <a:solidFill>
                  <a:schemeClr val="bg2"/>
                </a:solidFill>
                <a:latin typeface="Times New Roman" panose="02020603050405020304" pitchFamily="18" charset="0"/>
                <a:ea typeface="宋体" panose="02010600030101010101" pitchFamily="2" charset="-122"/>
              </a:defRPr>
            </a:lvl1pPr>
            <a:lvl2pPr marL="742950" indent="-285750" eaLnBrk="0" hangingPunct="0">
              <a:defRPr sz="2400" b="1">
                <a:solidFill>
                  <a:schemeClr val="bg2"/>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bg2"/>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bg2"/>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bg2"/>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宋体" panose="02010600030101010101" pitchFamily="2" charset="-122"/>
              </a:defRPr>
            </a:lvl9pPr>
          </a:lstStyle>
          <a:p>
            <a:pPr eaLnBrk="1" hangingPunct="1">
              <a:spcBef>
                <a:spcPct val="50000"/>
              </a:spcBef>
              <a:defRPr/>
            </a:pPr>
            <a:r>
              <a:rPr lang="zh-CN" altLang="en-US" dirty="0">
                <a:solidFill>
                  <a:srgbClr val="FFFF00"/>
                </a:solidFill>
                <a:latin typeface="+mn-lt"/>
                <a:ea typeface="华文楷体" panose="02010600040101010101" pitchFamily="2" charset="-122"/>
              </a:rPr>
              <a:t>小的逐渐上升</a:t>
            </a:r>
            <a:endParaRPr lang="zh-CN" altLang="en-US" dirty="0">
              <a:solidFill>
                <a:srgbClr val="FFFF00"/>
              </a:solidFill>
              <a:latin typeface="+mn-lt"/>
              <a:ea typeface="华文楷体" panose="02010600040101010101" pitchFamily="2" charset="-122"/>
            </a:endParaRPr>
          </a:p>
        </p:txBody>
      </p:sp>
      <p:sp>
        <p:nvSpPr>
          <p:cNvPr id="35" name="Line 32"/>
          <p:cNvSpPr>
            <a:spLocks noChangeShapeType="1"/>
          </p:cNvSpPr>
          <p:nvPr/>
        </p:nvSpPr>
        <p:spPr bwMode="auto">
          <a:xfrm flipV="1">
            <a:off x="2667000" y="2590800"/>
            <a:ext cx="0" cy="2438400"/>
          </a:xfrm>
          <a:prstGeom prst="line">
            <a:avLst/>
          </a:prstGeom>
          <a:noFill/>
          <a:ln w="12700">
            <a:solidFill>
              <a:srgbClr val="FFFF00"/>
            </a:solidFill>
            <a:round/>
            <a:headEnd type="none" w="sm" len="sm"/>
            <a:tailEnd type="stealth" w="lg" len="lg"/>
          </a:ln>
        </p:spPr>
        <p:txBody>
          <a:bodyPr wrap="none" anchor="ctr"/>
          <a:lstStyle/>
          <a:p>
            <a:pPr>
              <a:defRPr/>
            </a:pPr>
            <a:endParaRPr lang="zh-CN" altLang="en-US" b="1">
              <a:latin typeface="+mn-lt"/>
              <a:ea typeface="华文楷体" panose="02010600040101010101" pitchFamily="2" charset="-122"/>
            </a:endParaRPr>
          </a:p>
        </p:txBody>
      </p:sp>
      <p:sp>
        <p:nvSpPr>
          <p:cNvPr id="86051" name="Line 33"/>
          <p:cNvSpPr>
            <a:spLocks noChangeShapeType="1"/>
          </p:cNvSpPr>
          <p:nvPr/>
        </p:nvSpPr>
        <p:spPr bwMode="auto">
          <a:xfrm flipV="1">
            <a:off x="6019800" y="3733800"/>
            <a:ext cx="1447800" cy="1219200"/>
          </a:xfrm>
          <a:prstGeom prst="line">
            <a:avLst/>
          </a:prstGeom>
          <a:noFill/>
          <a:ln w="12700">
            <a:solidFill>
              <a:srgbClr val="FFFF0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86052" name="Line 34"/>
          <p:cNvSpPr>
            <a:spLocks noChangeShapeType="1"/>
          </p:cNvSpPr>
          <p:nvPr/>
        </p:nvSpPr>
        <p:spPr bwMode="auto">
          <a:xfrm flipV="1">
            <a:off x="6019800" y="3733800"/>
            <a:ext cx="1447800" cy="685800"/>
          </a:xfrm>
          <a:prstGeom prst="line">
            <a:avLst/>
          </a:prstGeom>
          <a:noFill/>
          <a:ln w="12700">
            <a:solidFill>
              <a:srgbClr val="FFFF0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86053" name="Line 35"/>
          <p:cNvSpPr>
            <a:spLocks noChangeShapeType="1"/>
          </p:cNvSpPr>
          <p:nvPr/>
        </p:nvSpPr>
        <p:spPr bwMode="auto">
          <a:xfrm flipV="1">
            <a:off x="6019800" y="3733800"/>
            <a:ext cx="1447800" cy="76200"/>
          </a:xfrm>
          <a:prstGeom prst="line">
            <a:avLst/>
          </a:prstGeom>
          <a:noFill/>
          <a:ln w="12700">
            <a:solidFill>
              <a:srgbClr val="FFFF0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86054" name="Line 36"/>
          <p:cNvSpPr>
            <a:spLocks noChangeShapeType="1"/>
          </p:cNvSpPr>
          <p:nvPr/>
        </p:nvSpPr>
        <p:spPr bwMode="auto">
          <a:xfrm>
            <a:off x="6019800" y="3276600"/>
            <a:ext cx="1447800" cy="457200"/>
          </a:xfrm>
          <a:prstGeom prst="line">
            <a:avLst/>
          </a:prstGeom>
          <a:noFill/>
          <a:ln w="12700">
            <a:solidFill>
              <a:srgbClr val="FFFF00"/>
            </a:solidFill>
            <a:round/>
            <a:headEnd type="stealth" w="lg" len="lg"/>
            <a:tailEnd type="none" w="sm" len="sm"/>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86055" name="Text Box 37"/>
          <p:cNvSpPr txBox="1">
            <a:spLocks noChangeArrowheads="1"/>
          </p:cNvSpPr>
          <p:nvPr/>
        </p:nvSpPr>
        <p:spPr bwMode="auto">
          <a:xfrm>
            <a:off x="7467600" y="2032000"/>
            <a:ext cx="533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a:solidFill>
                  <a:srgbClr val="FFFF00"/>
                </a:solidFill>
                <a:latin typeface="+mn-lt"/>
                <a:ea typeface="华文楷体" panose="02010600040101010101" pitchFamily="2" charset="-122"/>
              </a:rPr>
              <a:t>每趟沉下一个最大的</a:t>
            </a:r>
            <a:endParaRPr lang="zh-CN" altLang="en-US" b="1">
              <a:solidFill>
                <a:srgbClr val="FFFF00"/>
              </a:solidFill>
              <a:latin typeface="+mn-lt"/>
              <a:ea typeface="华文楷体" panose="02010600040101010101" pitchFamily="2"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zh-CN" altLang="en-US" b="1" dirty="0"/>
              <a:t>例</a:t>
            </a:r>
            <a:r>
              <a:rPr lang="en-US" altLang="zh-CN" b="1" dirty="0"/>
              <a:t>9-13 </a:t>
            </a:r>
            <a:r>
              <a:rPr lang="zh-CN" altLang="en-US" b="1" dirty="0"/>
              <a:t>起泡排序函数模板</a:t>
            </a:r>
            <a:endParaRPr kumimoji="1" lang="zh-CN" altLang="en-US" b="1" dirty="0"/>
          </a:p>
        </p:txBody>
      </p:sp>
      <p:sp>
        <p:nvSpPr>
          <p:cNvPr id="87043" name="内容占位符 2"/>
          <p:cNvSpPr>
            <a:spLocks noGrp="1"/>
          </p:cNvSpPr>
          <p:nvPr>
            <p:ph sz="half" idx="1"/>
          </p:nvPr>
        </p:nvSpPr>
        <p:spPr>
          <a:xfrm>
            <a:off x="457200" y="1785938"/>
            <a:ext cx="4038600" cy="2246769"/>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template &lt;class T&gt;</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void mySwap(T &amp;x, T &amp;y) {</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	T temp = x;</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	x = y;</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	y = temp;</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fr-FR" altLang="zh-CN" sz="2000" b="1">
                <a:solidFill>
                  <a:srgbClr val="000000"/>
                </a:solidFill>
                <a:latin typeface="Times New Roman" panose="02020603050405020304" pitchFamily="18" charset="0"/>
                <a:ea typeface="华文楷体" panose="02010600040101010101" pitchFamily="2" charset="-122"/>
              </a:rPr>
              <a:t>}</a:t>
            </a:r>
            <a:endParaRPr lang="fr-FR"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fr-FR" altLang="zh-CN" sz="2000" b="1">
              <a:solidFill>
                <a:srgbClr val="000000"/>
              </a:solidFill>
              <a:latin typeface="Times New Roman" panose="02020603050405020304" pitchFamily="18" charset="0"/>
              <a:ea typeface="华文楷体" panose="02010600040101010101" pitchFamily="2" charset="-122"/>
            </a:endParaRPr>
          </a:p>
        </p:txBody>
      </p:sp>
      <p:sp>
        <p:nvSpPr>
          <p:cNvPr id="87044" name="内容占位符 3"/>
          <p:cNvSpPr>
            <a:spLocks noGrp="1"/>
          </p:cNvSpPr>
          <p:nvPr>
            <p:ph sz="half" idx="2"/>
          </p:nvPr>
        </p:nvSpPr>
        <p:spPr>
          <a:xfrm>
            <a:off x="4648200" y="1785938"/>
            <a:ext cx="4316288" cy="4093428"/>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bubbleSort</a:t>
            </a:r>
            <a:r>
              <a:rPr lang="en-US" altLang="zh-CN" sz="2000" b="1" dirty="0">
                <a:solidFill>
                  <a:srgbClr val="000000"/>
                </a:solidFill>
                <a:latin typeface="Times New Roman" panose="02020603050405020304" pitchFamily="18" charset="0"/>
                <a:ea typeface="华文楷体" panose="02010600040101010101" pitchFamily="2" charset="-122"/>
              </a:rPr>
              <a:t>(T a[],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n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&gt; 0)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lastExchangeIndex</a:t>
            </a:r>
            <a:r>
              <a:rPr lang="en-US" altLang="zh-CN" sz="2000" b="1" dirty="0">
                <a:solidFill>
                  <a:srgbClr val="000000"/>
                </a:solidFill>
                <a:latin typeface="Times New Roman" panose="02020603050405020304" pitchFamily="18" charset="0"/>
                <a:ea typeface="华文楷体" panose="02010600040101010101" pitchFamily="2" charset="-122"/>
              </a:rPr>
              <a:t> =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j = 0; j &lt;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j++</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if (a[j + 1] &lt; a[j])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mySwap</a:t>
            </a:r>
            <a:r>
              <a:rPr lang="en-US" altLang="zh-CN" sz="2000" b="1" dirty="0">
                <a:solidFill>
                  <a:srgbClr val="000000"/>
                </a:solidFill>
                <a:latin typeface="Times New Roman" panose="02020603050405020304" pitchFamily="18" charset="0"/>
                <a:ea typeface="华文楷体" panose="02010600040101010101" pitchFamily="2" charset="-122"/>
              </a:rPr>
              <a:t>(a[j], a[j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lastExchangeIndex</a:t>
            </a:r>
            <a:r>
              <a:rPr lang="en-US" altLang="zh-CN" sz="2000" b="1" dirty="0">
                <a:solidFill>
                  <a:srgbClr val="000000"/>
                </a:solidFill>
                <a:latin typeface="Times New Roman" panose="02020603050405020304" pitchFamily="18" charset="0"/>
                <a:ea typeface="华文楷体" panose="02010600040101010101" pitchFamily="2" charset="-122"/>
              </a:rPr>
              <a:t> = j;</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lastExchangeIndex</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7046" name="Line 1029"/>
          <p:cNvSpPr>
            <a:spLocks noChangeShapeType="1"/>
          </p:cNvSpPr>
          <p:nvPr/>
        </p:nvSpPr>
        <p:spPr bwMode="auto">
          <a:xfrm>
            <a:off x="4572000" y="1733550"/>
            <a:ext cx="0" cy="464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9.3.4 </a:t>
            </a:r>
            <a:r>
              <a:rPr lang="zh-CN" altLang="en-US" sz="4400" b="1">
                <a:latin typeface="Times New Roman" panose="02020603050405020304" pitchFamily="18" charset="0"/>
                <a:ea typeface="隶书" panose="02010509060101010101" pitchFamily="49" charset="-122"/>
              </a:rPr>
              <a:t>顺序查找</a:t>
            </a:r>
            <a:endParaRPr lang="zh-CN" altLang="en-US" sz="4400" b="1">
              <a:latin typeface="Times New Roman" panose="02020603050405020304" pitchFamily="18" charset="0"/>
              <a:ea typeface="隶书" panose="02010509060101010101" pitchFamily="49" charset="-122"/>
            </a:endParaRPr>
          </a:p>
        </p:txBody>
      </p:sp>
      <p:sp>
        <p:nvSpPr>
          <p:cNvPr id="88067" name="内容占位符 2"/>
          <p:cNvSpPr>
            <a:spLocks noGrp="1"/>
          </p:cNvSpPr>
          <p:nvPr>
            <p:ph idx="1"/>
          </p:nvPr>
        </p:nvSpPr>
        <p:spPr>
          <a:xfrm>
            <a:off x="468313" y="1196752"/>
            <a:ext cx="8229600" cy="2435225"/>
          </a:xfrm>
        </p:spPr>
        <p:txBody>
          <a:bodyPr/>
          <a:lstStyle/>
          <a:p>
            <a:pPr>
              <a:lnSpc>
                <a:spcPct val="150000"/>
              </a:lnSpc>
              <a:spcAft>
                <a:spcPct val="25000"/>
              </a:spcAft>
            </a:pPr>
            <a:r>
              <a:rPr lang="zh-CN" altLang="en-US" sz="2400" b="1">
                <a:ea typeface="华文楷体" panose="02010600040101010101" pitchFamily="2" charset="-122"/>
              </a:rPr>
              <a:t>其基本思想</a:t>
            </a:r>
            <a:endParaRPr lang="zh-CN" altLang="en-US" sz="2400" b="1">
              <a:ea typeface="华文楷体" panose="02010600040101010101" pitchFamily="2" charset="-122"/>
            </a:endParaRPr>
          </a:p>
          <a:p>
            <a:pPr lvl="1">
              <a:lnSpc>
                <a:spcPct val="150000"/>
              </a:lnSpc>
              <a:buFont typeface="Wingdings" panose="05000000000000000000" pitchFamily="2" charset="2"/>
              <a:buChar char="ü"/>
            </a:pPr>
            <a:r>
              <a:rPr lang="zh-CN" altLang="en-US" sz="2400" b="1">
                <a:ea typeface="华文楷体" panose="02010600040101010101" pitchFamily="2" charset="-122"/>
              </a:rPr>
              <a:t>从序列的首元素开始，逐个元素与待查找的关键字进行比较，直到找到相等的。若整个序列中没有与待查找关键字相等的元素，就是查找不成功。</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例</a:t>
            </a:r>
            <a:r>
              <a:rPr lang="en-US" altLang="zh-CN" sz="2400" b="1">
                <a:ea typeface="华文楷体" panose="02010600040101010101" pitchFamily="2" charset="-122"/>
              </a:rPr>
              <a:t>9-14</a:t>
            </a:r>
            <a:r>
              <a:rPr lang="zh-CN" altLang="en-US" sz="2400" b="1">
                <a:ea typeface="华文楷体" panose="02010600040101010101" pitchFamily="2" charset="-122"/>
              </a:rPr>
              <a:t>顺序查找函数模板</a:t>
            </a:r>
            <a:endParaRPr lang="zh-CN" altLang="en-US" sz="2400" b="1">
              <a:ea typeface="华文楷体" panose="02010600040101010101" pitchFamily="2" charset="-122"/>
            </a:endParaRPr>
          </a:p>
        </p:txBody>
      </p:sp>
      <p:sp>
        <p:nvSpPr>
          <p:cNvPr id="6" name="内容占位符 2"/>
          <p:cNvSpPr txBox="1"/>
          <p:nvPr/>
        </p:nvSpPr>
        <p:spPr bwMode="auto">
          <a:xfrm>
            <a:off x="468313" y="4292600"/>
            <a:ext cx="8229600" cy="2292350"/>
          </a:xfrm>
          <a:prstGeom prst="rect">
            <a:avLst/>
          </a:prstGeom>
          <a:solidFill>
            <a:schemeClr val="tx1"/>
          </a:solidFill>
          <a:ln w="9525">
            <a:solidFill>
              <a:schemeClr val="tx1"/>
            </a:solidFill>
            <a:miter lim="800000"/>
          </a:ln>
        </p:spPr>
        <p:txBody>
          <a:bodyPr>
            <a:spAutoFit/>
          </a:bodyPr>
          <a:lstStyle>
            <a:lvl1pPr marL="0" indent="0" algn="just">
              <a:buClrTx/>
              <a:buSzTx/>
              <a:buFontTx/>
              <a:buNone/>
              <a:defRPr sz="2000" b="1">
                <a:solidFill>
                  <a:srgbClr val="000000"/>
                </a:solidFill>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dirty="0"/>
              <a:t>template &lt;class T&gt;</a:t>
            </a:r>
            <a:endParaRPr lang="en-US" altLang="zh-CN" dirty="0"/>
          </a:p>
          <a:p>
            <a:r>
              <a:rPr lang="en-US" altLang="zh-CN" dirty="0" err="1"/>
              <a:t>int</a:t>
            </a:r>
            <a:r>
              <a:rPr lang="en-US" altLang="zh-CN" dirty="0"/>
              <a:t> </a:t>
            </a:r>
            <a:r>
              <a:rPr lang="en-US" altLang="zh-CN" dirty="0" err="1"/>
              <a:t>seqSearch</a:t>
            </a:r>
            <a:r>
              <a:rPr lang="en-US" altLang="zh-CN" dirty="0"/>
              <a:t>(</a:t>
            </a:r>
            <a:r>
              <a:rPr lang="en-US" altLang="zh-CN" dirty="0" err="1"/>
              <a:t>const</a:t>
            </a:r>
            <a:r>
              <a:rPr lang="en-US" altLang="zh-CN" dirty="0"/>
              <a:t> T list[], </a:t>
            </a:r>
            <a:r>
              <a:rPr lang="en-US" altLang="zh-CN" dirty="0" err="1"/>
              <a:t>int</a:t>
            </a:r>
            <a:r>
              <a:rPr lang="en-US" altLang="zh-CN" dirty="0"/>
              <a:t> n, </a:t>
            </a:r>
            <a:r>
              <a:rPr lang="en-US" altLang="zh-CN" dirty="0" err="1"/>
              <a:t>const</a:t>
            </a:r>
            <a:r>
              <a:rPr lang="en-US" altLang="zh-CN" dirty="0"/>
              <a:t> T &amp;key) {</a:t>
            </a:r>
            <a:endParaRPr lang="en-US" altLang="zh-CN" dirty="0"/>
          </a:p>
          <a:p>
            <a:r>
              <a:rPr lang="en-US" altLang="zh-CN" dirty="0"/>
              <a:t>	for(</a:t>
            </a:r>
            <a:r>
              <a:rPr lang="en-US" altLang="zh-CN" dirty="0" err="1"/>
              <a:t>int</a:t>
            </a:r>
            <a:r>
              <a:rPr lang="en-US" altLang="zh-CN" dirty="0"/>
              <a: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endParaRPr lang="en-US" altLang="zh-CN" dirty="0"/>
          </a:p>
          <a:p>
            <a:r>
              <a:rPr lang="en-US" altLang="zh-CN" dirty="0"/>
              <a:t>		if (list[</a:t>
            </a:r>
            <a:r>
              <a:rPr lang="en-US" altLang="zh-CN" dirty="0" err="1"/>
              <a:t>i</a:t>
            </a:r>
            <a:r>
              <a:rPr lang="en-US" altLang="zh-CN" dirty="0"/>
              <a:t>] == key)</a:t>
            </a:r>
            <a:endParaRPr lang="en-US" altLang="zh-CN" dirty="0"/>
          </a:p>
          <a:p>
            <a:r>
              <a:rPr lang="en-US" altLang="zh-CN" dirty="0"/>
              <a:t>			return </a:t>
            </a:r>
            <a:r>
              <a:rPr lang="en-US" altLang="zh-CN" dirty="0" err="1"/>
              <a:t>i</a:t>
            </a:r>
            <a:r>
              <a:rPr lang="en-US" altLang="zh-CN" dirty="0"/>
              <a:t>;            </a:t>
            </a:r>
            <a:endParaRPr lang="en-US" altLang="zh-CN" dirty="0"/>
          </a:p>
          <a:p>
            <a:r>
              <a:rPr lang="en-US" altLang="zh-CN" dirty="0"/>
              <a:t>	return -1;                 </a:t>
            </a:r>
            <a:endParaRPr lang="en-US" altLang="zh-CN" dirty="0"/>
          </a:p>
          <a:p>
            <a:r>
              <a:rPr lang="en-US" altLang="zh-CN" dirty="0"/>
              <a:t>}</a:t>
            </a:r>
            <a:endParaRPr lang="en-US" altLang="zh-CN" dirty="0"/>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折半查找（二分法查找）</a:t>
            </a:r>
            <a:endParaRPr lang="zh-CN" altLang="en-US" sz="4400" b="1">
              <a:latin typeface="Times New Roman" panose="02020603050405020304" pitchFamily="18" charset="0"/>
              <a:ea typeface="隶书" panose="02010509060101010101" pitchFamily="49" charset="-122"/>
            </a:endParaRPr>
          </a:p>
        </p:txBody>
      </p:sp>
      <p:sp>
        <p:nvSpPr>
          <p:cNvPr id="89091"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对于已按关键字排序的序列，经过一次比较，可将序列分割成两部分，然后只在有可能包含待查元素的一部分中继续查找，并根据试探结果继续分割，逐步缩小查找范围，直至找到或找不到为止。</a:t>
            </a:r>
            <a:endParaRPr lang="zh-CN" altLang="en-US" sz="2400" b="1">
              <a:ea typeface="华文楷体" panose="02010600040101010101" pitchFamily="2"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折半查找示例</a:t>
            </a:r>
            <a:endParaRPr lang="zh-CN" altLang="en-US" sz="4400" b="1">
              <a:latin typeface="Times New Roman" panose="02020603050405020304" pitchFamily="18" charset="0"/>
              <a:ea typeface="隶书" panose="02010509060101010101" pitchFamily="49" charset="-122"/>
            </a:endParaRPr>
          </a:p>
        </p:txBody>
      </p:sp>
      <p:sp>
        <p:nvSpPr>
          <p:cNvPr id="90115" name="内容占位符 2"/>
          <p:cNvSpPr>
            <a:spLocks noGrp="1"/>
          </p:cNvSpPr>
          <p:nvPr>
            <p:ph idx="1"/>
          </p:nvPr>
        </p:nvSpPr>
        <p:spPr>
          <a:xfrm>
            <a:off x="666750" y="1527097"/>
            <a:ext cx="7886700" cy="4351338"/>
          </a:xfrm>
        </p:spPr>
        <p:txBody>
          <a:bodyPr/>
          <a:lstStyle/>
          <a:p>
            <a:pPr>
              <a:lnSpc>
                <a:spcPct val="150000"/>
              </a:lnSpc>
              <a:spcAft>
                <a:spcPct val="25000"/>
              </a:spcAft>
            </a:pPr>
            <a:r>
              <a:rPr lang="zh-CN" altLang="en-US" sz="2400" b="1" dirty="0">
                <a:ea typeface="华文楷体" panose="02010600040101010101" pitchFamily="2" charset="-122"/>
              </a:rPr>
              <a:t>用折半查找法，在下列序列中查找值为</a:t>
            </a:r>
            <a:r>
              <a:rPr lang="en-US" altLang="zh-CN" sz="2400" b="1" dirty="0">
                <a:ea typeface="华文楷体" panose="02010600040101010101" pitchFamily="2" charset="-122"/>
              </a:rPr>
              <a:t>21</a:t>
            </a:r>
            <a:r>
              <a:rPr lang="zh-CN" altLang="en-US" sz="2400" b="1" dirty="0">
                <a:ea typeface="华文楷体" panose="02010600040101010101" pitchFamily="2" charset="-122"/>
              </a:rPr>
              <a:t>的元素：</a:t>
            </a:r>
            <a:endParaRPr lang="zh-CN" altLang="en-US" sz="2400" b="1" dirty="0">
              <a:ea typeface="华文楷体" panose="02010600040101010101" pitchFamily="2" charset="-122"/>
            </a:endParaRPr>
          </a:p>
        </p:txBody>
      </p:sp>
      <p:grpSp>
        <p:nvGrpSpPr>
          <p:cNvPr id="90118" name="Group 4"/>
          <p:cNvGrpSpPr/>
          <p:nvPr/>
        </p:nvGrpSpPr>
        <p:grpSpPr bwMode="auto">
          <a:xfrm>
            <a:off x="938213" y="2943225"/>
            <a:ext cx="719138" cy="674688"/>
            <a:chOff x="591" y="1584"/>
            <a:chExt cx="453" cy="425"/>
          </a:xfrm>
        </p:grpSpPr>
        <p:sp>
          <p:nvSpPr>
            <p:cNvPr id="90169" name="Rectangle 5"/>
            <p:cNvSpPr>
              <a:spLocks noChangeArrowheads="1"/>
            </p:cNvSpPr>
            <p:nvPr/>
          </p:nvSpPr>
          <p:spPr bwMode="auto">
            <a:xfrm>
              <a:off x="591" y="1718"/>
              <a:ext cx="4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L=1</a:t>
              </a:r>
              <a:endParaRPr lang="en-US" altLang="zh-CN" b="1">
                <a:latin typeface="+mn-lt"/>
                <a:ea typeface="华文楷体" panose="02010600040101010101" pitchFamily="2" charset="-122"/>
              </a:endParaRPr>
            </a:p>
          </p:txBody>
        </p:sp>
        <p:sp>
          <p:nvSpPr>
            <p:cNvPr id="90170" name="Line 6"/>
            <p:cNvSpPr>
              <a:spLocks noChangeShapeType="1"/>
            </p:cNvSpPr>
            <p:nvPr/>
          </p:nvSpPr>
          <p:spPr bwMode="auto">
            <a:xfrm flipV="1">
              <a:off x="624" y="1584"/>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nvGrpSpPr>
          <p:cNvPr id="90119" name="Group 7"/>
          <p:cNvGrpSpPr/>
          <p:nvPr/>
        </p:nvGrpSpPr>
        <p:grpSpPr bwMode="auto">
          <a:xfrm>
            <a:off x="844550" y="2416175"/>
            <a:ext cx="7531100" cy="368300"/>
            <a:chOff x="532" y="1252"/>
            <a:chExt cx="4744" cy="232"/>
          </a:xfrm>
        </p:grpSpPr>
        <p:grpSp>
          <p:nvGrpSpPr>
            <p:cNvPr id="90157" name="Group 8"/>
            <p:cNvGrpSpPr/>
            <p:nvPr/>
          </p:nvGrpSpPr>
          <p:grpSpPr bwMode="auto">
            <a:xfrm>
              <a:off x="532" y="1252"/>
              <a:ext cx="2584" cy="232"/>
              <a:chOff x="532" y="1252"/>
              <a:chExt cx="2584" cy="232"/>
            </a:xfrm>
          </p:grpSpPr>
          <p:sp>
            <p:nvSpPr>
              <p:cNvPr id="86067" name="Rectangle 9"/>
              <p:cNvSpPr>
                <a:spLocks noChangeArrowheads="1"/>
              </p:cNvSpPr>
              <p:nvPr/>
            </p:nvSpPr>
            <p:spPr bwMode="auto">
              <a:xfrm>
                <a:off x="532"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solidFill>
                      <a:srgbClr val="000000"/>
                    </a:solidFill>
                    <a:latin typeface="+mn-lt"/>
                    <a:ea typeface="华文楷体" panose="02010600040101010101" pitchFamily="2" charset="-122"/>
                  </a:rPr>
                  <a:t>5</a:t>
                </a:r>
                <a:endParaRPr lang="en-US" altLang="zh-CN" b="1">
                  <a:solidFill>
                    <a:srgbClr val="000000"/>
                  </a:solidFill>
                  <a:latin typeface="+mn-lt"/>
                  <a:ea typeface="华文楷体" panose="02010600040101010101" pitchFamily="2" charset="-122"/>
                </a:endParaRPr>
              </a:p>
            </p:txBody>
          </p:sp>
          <p:sp>
            <p:nvSpPr>
              <p:cNvPr id="86068" name="Rectangle 10"/>
              <p:cNvSpPr>
                <a:spLocks noChangeArrowheads="1"/>
              </p:cNvSpPr>
              <p:nvPr/>
            </p:nvSpPr>
            <p:spPr bwMode="auto">
              <a:xfrm>
                <a:off x="964"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13</a:t>
                </a:r>
                <a:endParaRPr lang="en-US" altLang="zh-CN" b="1">
                  <a:solidFill>
                    <a:srgbClr val="000000"/>
                  </a:solidFill>
                  <a:latin typeface="+mn-lt"/>
                  <a:ea typeface="华文楷体" panose="02010600040101010101" pitchFamily="2" charset="-122"/>
                </a:endParaRPr>
              </a:p>
            </p:txBody>
          </p:sp>
          <p:sp>
            <p:nvSpPr>
              <p:cNvPr id="86069" name="Rectangle 11"/>
              <p:cNvSpPr>
                <a:spLocks noChangeArrowheads="1"/>
              </p:cNvSpPr>
              <p:nvPr/>
            </p:nvSpPr>
            <p:spPr bwMode="auto">
              <a:xfrm>
                <a:off x="1396"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19</a:t>
                </a:r>
                <a:endParaRPr lang="en-US" altLang="zh-CN" b="1">
                  <a:solidFill>
                    <a:srgbClr val="000000"/>
                  </a:solidFill>
                  <a:latin typeface="+mn-lt"/>
                  <a:ea typeface="华文楷体" panose="02010600040101010101" pitchFamily="2" charset="-122"/>
                </a:endParaRPr>
              </a:p>
            </p:txBody>
          </p:sp>
          <p:sp>
            <p:nvSpPr>
              <p:cNvPr id="86070" name="Rectangle 12"/>
              <p:cNvSpPr>
                <a:spLocks noChangeArrowheads="1"/>
              </p:cNvSpPr>
              <p:nvPr/>
            </p:nvSpPr>
            <p:spPr bwMode="auto">
              <a:xfrm>
                <a:off x="1828"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21</a:t>
                </a:r>
                <a:endParaRPr lang="en-US" altLang="zh-CN" b="1">
                  <a:solidFill>
                    <a:srgbClr val="000000"/>
                  </a:solidFill>
                  <a:latin typeface="+mn-lt"/>
                  <a:ea typeface="华文楷体" panose="02010600040101010101" pitchFamily="2" charset="-122"/>
                </a:endParaRPr>
              </a:p>
            </p:txBody>
          </p:sp>
          <p:sp>
            <p:nvSpPr>
              <p:cNvPr id="86071" name="Rectangle 13"/>
              <p:cNvSpPr>
                <a:spLocks noChangeArrowheads="1"/>
              </p:cNvSpPr>
              <p:nvPr/>
            </p:nvSpPr>
            <p:spPr bwMode="auto">
              <a:xfrm>
                <a:off x="2260"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37</a:t>
                </a:r>
                <a:endParaRPr lang="en-US" altLang="zh-CN" b="1">
                  <a:solidFill>
                    <a:srgbClr val="000000"/>
                  </a:solidFill>
                  <a:latin typeface="+mn-lt"/>
                  <a:ea typeface="华文楷体" panose="02010600040101010101" pitchFamily="2" charset="-122"/>
                </a:endParaRPr>
              </a:p>
            </p:txBody>
          </p:sp>
          <p:sp>
            <p:nvSpPr>
              <p:cNvPr id="86072" name="Rectangle 14"/>
              <p:cNvSpPr>
                <a:spLocks noChangeArrowheads="1"/>
              </p:cNvSpPr>
              <p:nvPr/>
            </p:nvSpPr>
            <p:spPr bwMode="auto">
              <a:xfrm>
                <a:off x="2692"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56</a:t>
                </a:r>
                <a:endParaRPr lang="en-US" altLang="zh-CN" b="1">
                  <a:solidFill>
                    <a:srgbClr val="000000"/>
                  </a:solidFill>
                  <a:latin typeface="+mn-lt"/>
                  <a:ea typeface="华文楷体" panose="02010600040101010101" pitchFamily="2" charset="-122"/>
                </a:endParaRPr>
              </a:p>
            </p:txBody>
          </p:sp>
        </p:grpSp>
        <p:sp>
          <p:nvSpPr>
            <p:cNvPr id="86062" name="Rectangle 15"/>
            <p:cNvSpPr>
              <a:spLocks noChangeArrowheads="1"/>
            </p:cNvSpPr>
            <p:nvPr/>
          </p:nvSpPr>
          <p:spPr bwMode="auto">
            <a:xfrm>
              <a:off x="3124"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64</a:t>
              </a:r>
              <a:endParaRPr lang="en-US" altLang="zh-CN" b="1">
                <a:solidFill>
                  <a:srgbClr val="000000"/>
                </a:solidFill>
                <a:latin typeface="+mn-lt"/>
                <a:ea typeface="华文楷体" panose="02010600040101010101" pitchFamily="2" charset="-122"/>
              </a:endParaRPr>
            </a:p>
          </p:txBody>
        </p:sp>
        <p:sp>
          <p:nvSpPr>
            <p:cNvPr id="86063" name="Rectangle 16"/>
            <p:cNvSpPr>
              <a:spLocks noChangeArrowheads="1"/>
            </p:cNvSpPr>
            <p:nvPr/>
          </p:nvSpPr>
          <p:spPr bwMode="auto">
            <a:xfrm>
              <a:off x="3556"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75</a:t>
              </a:r>
              <a:endParaRPr lang="en-US" altLang="zh-CN" b="1">
                <a:solidFill>
                  <a:srgbClr val="000000"/>
                </a:solidFill>
                <a:latin typeface="+mn-lt"/>
                <a:ea typeface="华文楷体" panose="02010600040101010101" pitchFamily="2" charset="-122"/>
              </a:endParaRPr>
            </a:p>
          </p:txBody>
        </p:sp>
        <p:sp>
          <p:nvSpPr>
            <p:cNvPr id="86064" name="Rectangle 17"/>
            <p:cNvSpPr>
              <a:spLocks noChangeArrowheads="1"/>
            </p:cNvSpPr>
            <p:nvPr/>
          </p:nvSpPr>
          <p:spPr bwMode="auto">
            <a:xfrm>
              <a:off x="3988"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80</a:t>
              </a:r>
              <a:endParaRPr lang="en-US" altLang="zh-CN" b="1">
                <a:solidFill>
                  <a:srgbClr val="000000"/>
                </a:solidFill>
                <a:latin typeface="+mn-lt"/>
                <a:ea typeface="华文楷体" panose="02010600040101010101" pitchFamily="2" charset="-122"/>
              </a:endParaRPr>
            </a:p>
          </p:txBody>
        </p:sp>
        <p:sp>
          <p:nvSpPr>
            <p:cNvPr id="86065" name="Rectangle 18"/>
            <p:cNvSpPr>
              <a:spLocks noChangeArrowheads="1"/>
            </p:cNvSpPr>
            <p:nvPr/>
          </p:nvSpPr>
          <p:spPr bwMode="auto">
            <a:xfrm>
              <a:off x="4420"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88</a:t>
              </a:r>
              <a:endParaRPr lang="en-US" altLang="zh-CN" b="1">
                <a:solidFill>
                  <a:srgbClr val="000000"/>
                </a:solidFill>
                <a:latin typeface="+mn-lt"/>
                <a:ea typeface="华文楷体" panose="02010600040101010101" pitchFamily="2" charset="-122"/>
              </a:endParaRPr>
            </a:p>
          </p:txBody>
        </p:sp>
        <p:sp>
          <p:nvSpPr>
            <p:cNvPr id="86066" name="Rectangle 19"/>
            <p:cNvSpPr>
              <a:spLocks noChangeArrowheads="1"/>
            </p:cNvSpPr>
            <p:nvPr/>
          </p:nvSpPr>
          <p:spPr bwMode="auto">
            <a:xfrm>
              <a:off x="4852" y="125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92</a:t>
              </a:r>
              <a:endParaRPr lang="en-US" altLang="zh-CN" b="1">
                <a:solidFill>
                  <a:srgbClr val="000000"/>
                </a:solidFill>
                <a:latin typeface="+mn-lt"/>
                <a:ea typeface="华文楷体" panose="02010600040101010101" pitchFamily="2" charset="-122"/>
              </a:endParaRPr>
            </a:p>
          </p:txBody>
        </p:sp>
      </p:grpSp>
      <p:grpSp>
        <p:nvGrpSpPr>
          <p:cNvPr id="90120" name="Group 20"/>
          <p:cNvGrpSpPr/>
          <p:nvPr/>
        </p:nvGrpSpPr>
        <p:grpSpPr bwMode="auto">
          <a:xfrm>
            <a:off x="7853366" y="2943225"/>
            <a:ext cx="914401" cy="674688"/>
            <a:chOff x="4947" y="1584"/>
            <a:chExt cx="576" cy="425"/>
          </a:xfrm>
        </p:grpSpPr>
        <p:sp>
          <p:nvSpPr>
            <p:cNvPr id="90155" name="Rectangle 21"/>
            <p:cNvSpPr>
              <a:spLocks noChangeArrowheads="1"/>
            </p:cNvSpPr>
            <p:nvPr/>
          </p:nvSpPr>
          <p:spPr bwMode="auto">
            <a:xfrm>
              <a:off x="4947" y="1718"/>
              <a:ext cx="57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H=11</a:t>
              </a:r>
              <a:endParaRPr lang="en-US" altLang="zh-CN" b="1">
                <a:latin typeface="+mn-lt"/>
                <a:ea typeface="华文楷体" panose="02010600040101010101" pitchFamily="2" charset="-122"/>
              </a:endParaRPr>
            </a:p>
          </p:txBody>
        </p:sp>
        <p:sp>
          <p:nvSpPr>
            <p:cNvPr id="90156" name="Line 22"/>
            <p:cNvSpPr>
              <a:spLocks noChangeShapeType="1"/>
            </p:cNvSpPr>
            <p:nvPr/>
          </p:nvSpPr>
          <p:spPr bwMode="auto">
            <a:xfrm flipV="1">
              <a:off x="4992" y="1584"/>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nvGrpSpPr>
          <p:cNvPr id="90121" name="Group 23"/>
          <p:cNvGrpSpPr/>
          <p:nvPr/>
        </p:nvGrpSpPr>
        <p:grpSpPr bwMode="auto">
          <a:xfrm>
            <a:off x="4592638" y="2943225"/>
            <a:ext cx="2882901" cy="674688"/>
            <a:chOff x="2893" y="1584"/>
            <a:chExt cx="1816" cy="425"/>
          </a:xfrm>
        </p:grpSpPr>
        <p:sp>
          <p:nvSpPr>
            <p:cNvPr id="90153" name="Line 24"/>
            <p:cNvSpPr>
              <a:spLocks noChangeShapeType="1"/>
            </p:cNvSpPr>
            <p:nvPr/>
          </p:nvSpPr>
          <p:spPr bwMode="auto">
            <a:xfrm flipV="1">
              <a:off x="2928" y="1584"/>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28" name="Rectangle 25"/>
            <p:cNvSpPr>
              <a:spLocks noChangeArrowheads="1"/>
            </p:cNvSpPr>
            <p:nvPr/>
          </p:nvSpPr>
          <p:spPr bwMode="auto">
            <a:xfrm>
              <a:off x="2893" y="1718"/>
              <a:ext cx="1816" cy="291"/>
            </a:xfrm>
            <a:prstGeom prst="rect">
              <a:avLst/>
            </a:prstGeom>
            <a:noFill/>
            <a:ln>
              <a:noFill/>
            </a:ln>
          </p:spPr>
          <p:txBody>
            <a:bodyPr wrap="none" lIns="92075" tIns="46038" rIns="92075" bIns="46038">
              <a:spAutoFit/>
            </a:bodyPr>
            <a:lstStyle/>
            <a:p>
              <a:pPr defTabSz="762000" eaLnBrk="0" hangingPunct="0">
                <a:defRPr/>
              </a:pPr>
              <a:r>
                <a:rPr lang="en-US" altLang="zh-CN" b="1" dirty="0">
                  <a:solidFill>
                    <a:srgbClr val="FFFF00"/>
                  </a:solidFill>
                  <a:latin typeface="+mn-lt"/>
                  <a:ea typeface="华文楷体" panose="02010600040101010101" pitchFamily="2" charset="-122"/>
                </a:rPr>
                <a:t>M =INT((L+H)/2)=6</a:t>
              </a:r>
              <a:endParaRPr lang="en-US" altLang="zh-CN" b="1" dirty="0">
                <a:solidFill>
                  <a:srgbClr val="FFFF00"/>
                </a:solidFill>
                <a:latin typeface="+mn-lt"/>
                <a:ea typeface="华文楷体" panose="02010600040101010101" pitchFamily="2" charset="-122"/>
              </a:endParaRPr>
            </a:p>
          </p:txBody>
        </p:sp>
      </p:grpSp>
      <p:grpSp>
        <p:nvGrpSpPr>
          <p:cNvPr id="90122" name="Group 26"/>
          <p:cNvGrpSpPr/>
          <p:nvPr/>
        </p:nvGrpSpPr>
        <p:grpSpPr bwMode="auto">
          <a:xfrm>
            <a:off x="844550" y="3635375"/>
            <a:ext cx="3416300" cy="368300"/>
            <a:chOff x="532" y="2020"/>
            <a:chExt cx="2152" cy="232"/>
          </a:xfrm>
        </p:grpSpPr>
        <p:sp>
          <p:nvSpPr>
            <p:cNvPr id="86051" name="Rectangle 27"/>
            <p:cNvSpPr>
              <a:spLocks noChangeArrowheads="1"/>
            </p:cNvSpPr>
            <p:nvPr/>
          </p:nvSpPr>
          <p:spPr bwMode="auto">
            <a:xfrm>
              <a:off x="532" y="2020"/>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a:solidFill>
                    <a:srgbClr val="000000"/>
                  </a:solidFill>
                  <a:latin typeface="+mn-lt"/>
                  <a:ea typeface="华文楷体" panose="02010600040101010101" pitchFamily="2" charset="-122"/>
                </a:rPr>
                <a:t>5</a:t>
              </a:r>
              <a:endParaRPr lang="en-US" altLang="zh-CN" b="1">
                <a:solidFill>
                  <a:srgbClr val="000000"/>
                </a:solidFill>
                <a:latin typeface="+mn-lt"/>
                <a:ea typeface="华文楷体" panose="02010600040101010101" pitchFamily="2" charset="-122"/>
              </a:endParaRPr>
            </a:p>
          </p:txBody>
        </p:sp>
        <p:sp>
          <p:nvSpPr>
            <p:cNvPr id="86052" name="Rectangle 28"/>
            <p:cNvSpPr>
              <a:spLocks noChangeArrowheads="1"/>
            </p:cNvSpPr>
            <p:nvPr/>
          </p:nvSpPr>
          <p:spPr bwMode="auto">
            <a:xfrm>
              <a:off x="964" y="2020"/>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13</a:t>
              </a:r>
              <a:endParaRPr lang="en-US" altLang="zh-CN" b="1">
                <a:solidFill>
                  <a:srgbClr val="000000"/>
                </a:solidFill>
                <a:latin typeface="+mn-lt"/>
                <a:ea typeface="华文楷体" panose="02010600040101010101" pitchFamily="2" charset="-122"/>
              </a:endParaRPr>
            </a:p>
          </p:txBody>
        </p:sp>
        <p:sp>
          <p:nvSpPr>
            <p:cNvPr id="86053" name="Rectangle 29"/>
            <p:cNvSpPr>
              <a:spLocks noChangeArrowheads="1"/>
            </p:cNvSpPr>
            <p:nvPr/>
          </p:nvSpPr>
          <p:spPr bwMode="auto">
            <a:xfrm>
              <a:off x="1396" y="2020"/>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19</a:t>
              </a:r>
              <a:endParaRPr lang="en-US" altLang="zh-CN" b="1">
                <a:solidFill>
                  <a:srgbClr val="000000"/>
                </a:solidFill>
                <a:latin typeface="+mn-lt"/>
                <a:ea typeface="华文楷体" panose="02010600040101010101" pitchFamily="2" charset="-122"/>
              </a:endParaRPr>
            </a:p>
          </p:txBody>
        </p:sp>
        <p:grpSp>
          <p:nvGrpSpPr>
            <p:cNvPr id="90150" name="Group 30"/>
            <p:cNvGrpSpPr/>
            <p:nvPr/>
          </p:nvGrpSpPr>
          <p:grpSpPr bwMode="auto">
            <a:xfrm>
              <a:off x="1828" y="2020"/>
              <a:ext cx="856" cy="232"/>
              <a:chOff x="1828" y="2020"/>
              <a:chExt cx="856" cy="232"/>
            </a:xfrm>
          </p:grpSpPr>
          <p:sp>
            <p:nvSpPr>
              <p:cNvPr id="86055" name="Rectangle 31"/>
              <p:cNvSpPr>
                <a:spLocks noChangeArrowheads="1"/>
              </p:cNvSpPr>
              <p:nvPr/>
            </p:nvSpPr>
            <p:spPr bwMode="auto">
              <a:xfrm>
                <a:off x="1828" y="2020"/>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21</a:t>
                </a:r>
                <a:endParaRPr lang="en-US" altLang="zh-CN" b="1">
                  <a:solidFill>
                    <a:srgbClr val="000000"/>
                  </a:solidFill>
                  <a:latin typeface="+mn-lt"/>
                  <a:ea typeface="华文楷体" panose="02010600040101010101" pitchFamily="2" charset="-122"/>
                </a:endParaRPr>
              </a:p>
            </p:txBody>
          </p:sp>
          <p:sp>
            <p:nvSpPr>
              <p:cNvPr id="86056" name="Rectangle 32"/>
              <p:cNvSpPr>
                <a:spLocks noChangeArrowheads="1"/>
              </p:cNvSpPr>
              <p:nvPr/>
            </p:nvSpPr>
            <p:spPr bwMode="auto">
              <a:xfrm>
                <a:off x="2260" y="2020"/>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37</a:t>
                </a:r>
                <a:endParaRPr lang="en-US" altLang="zh-CN" b="1">
                  <a:solidFill>
                    <a:srgbClr val="000000"/>
                  </a:solidFill>
                  <a:latin typeface="+mn-lt"/>
                  <a:ea typeface="华文楷体" panose="02010600040101010101" pitchFamily="2" charset="-122"/>
                </a:endParaRPr>
              </a:p>
            </p:txBody>
          </p:sp>
        </p:grpSp>
      </p:grpSp>
      <p:grpSp>
        <p:nvGrpSpPr>
          <p:cNvPr id="90123" name="Group 33"/>
          <p:cNvGrpSpPr/>
          <p:nvPr/>
        </p:nvGrpSpPr>
        <p:grpSpPr bwMode="auto">
          <a:xfrm>
            <a:off x="938213" y="4162425"/>
            <a:ext cx="719138" cy="674688"/>
            <a:chOff x="591" y="2352"/>
            <a:chExt cx="453" cy="425"/>
          </a:xfrm>
        </p:grpSpPr>
        <p:sp>
          <p:nvSpPr>
            <p:cNvPr id="90145" name="Rectangle 34"/>
            <p:cNvSpPr>
              <a:spLocks noChangeArrowheads="1"/>
            </p:cNvSpPr>
            <p:nvPr/>
          </p:nvSpPr>
          <p:spPr bwMode="auto">
            <a:xfrm>
              <a:off x="591" y="2486"/>
              <a:ext cx="45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L=1</a:t>
              </a:r>
              <a:endParaRPr lang="en-US" altLang="zh-CN" b="1">
                <a:latin typeface="+mn-lt"/>
                <a:ea typeface="华文楷体" panose="02010600040101010101" pitchFamily="2" charset="-122"/>
              </a:endParaRPr>
            </a:p>
          </p:txBody>
        </p:sp>
        <p:sp>
          <p:nvSpPr>
            <p:cNvPr id="90146" name="Line 35"/>
            <p:cNvSpPr>
              <a:spLocks noChangeShapeType="1"/>
            </p:cNvSpPr>
            <p:nvPr/>
          </p:nvSpPr>
          <p:spPr bwMode="auto">
            <a:xfrm flipV="1">
              <a:off x="624" y="2352"/>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grpSp>
        <p:nvGrpSpPr>
          <p:cNvPr id="90124" name="Group 36"/>
          <p:cNvGrpSpPr/>
          <p:nvPr/>
        </p:nvGrpSpPr>
        <p:grpSpPr bwMode="auto">
          <a:xfrm>
            <a:off x="3767139" y="4162425"/>
            <a:ext cx="1471613" cy="674688"/>
            <a:chOff x="2373" y="2352"/>
            <a:chExt cx="927" cy="425"/>
          </a:xfrm>
        </p:grpSpPr>
        <p:sp>
          <p:nvSpPr>
            <p:cNvPr id="40" name="Rectangle 37"/>
            <p:cNvSpPr>
              <a:spLocks noChangeArrowheads="1"/>
            </p:cNvSpPr>
            <p:nvPr/>
          </p:nvSpPr>
          <p:spPr bwMode="auto">
            <a:xfrm>
              <a:off x="2373" y="2486"/>
              <a:ext cx="927" cy="291"/>
            </a:xfrm>
            <a:prstGeom prst="rect">
              <a:avLst/>
            </a:prstGeom>
            <a:noFill/>
            <a:ln>
              <a:noFill/>
            </a:ln>
          </p:spPr>
          <p:txBody>
            <a:bodyPr wrap="none" lIns="92075" tIns="46038" rIns="92075" bIns="46038">
              <a:spAutoFit/>
            </a:bodyPr>
            <a:lstStyle/>
            <a:p>
              <a:pPr defTabSz="762000" eaLnBrk="0" hangingPunct="0">
                <a:defRPr/>
              </a:pPr>
              <a:r>
                <a:rPr lang="en-US" altLang="zh-CN" b="1" dirty="0">
                  <a:latin typeface="+mn-lt"/>
                  <a:ea typeface="华文楷体" panose="02010600040101010101" pitchFamily="2" charset="-122"/>
                </a:rPr>
                <a:t>H=M-1=5</a:t>
              </a:r>
              <a:endParaRPr lang="en-US" altLang="zh-CN" b="1" dirty="0">
                <a:latin typeface="+mn-lt"/>
                <a:ea typeface="华文楷体" panose="02010600040101010101" pitchFamily="2" charset="-122"/>
              </a:endParaRPr>
            </a:p>
          </p:txBody>
        </p:sp>
        <p:sp>
          <p:nvSpPr>
            <p:cNvPr id="90144" name="Line 38"/>
            <p:cNvSpPr>
              <a:spLocks noChangeShapeType="1"/>
            </p:cNvSpPr>
            <p:nvPr/>
          </p:nvSpPr>
          <p:spPr bwMode="auto">
            <a:xfrm flipV="1">
              <a:off x="2448" y="2352"/>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
        <p:nvSpPr>
          <p:cNvPr id="42" name="Rectangle 39"/>
          <p:cNvSpPr>
            <a:spLocks noChangeArrowheads="1"/>
          </p:cNvSpPr>
          <p:nvPr/>
        </p:nvSpPr>
        <p:spPr bwMode="auto">
          <a:xfrm>
            <a:off x="5772872" y="4375150"/>
            <a:ext cx="2805256" cy="462307"/>
          </a:xfrm>
          <a:prstGeom prst="rect">
            <a:avLst/>
          </a:prstGeom>
          <a:noFill/>
          <a:ln>
            <a:noFill/>
          </a:ln>
        </p:spPr>
        <p:txBody>
          <a:bodyPr wrap="none" lIns="92075" tIns="46038" rIns="92075" bIns="46038">
            <a:spAutoFit/>
          </a:bodyPr>
          <a:lstStyle/>
          <a:p>
            <a:pPr defTabSz="762000" eaLnBrk="0" hangingPunct="0">
              <a:defRPr/>
            </a:pPr>
            <a:r>
              <a:rPr lang="en-US" altLang="zh-CN" b="1" dirty="0">
                <a:solidFill>
                  <a:srgbClr val="FFFF00"/>
                </a:solidFill>
                <a:latin typeface="+mn-lt"/>
                <a:ea typeface="华文楷体" panose="02010600040101010101" pitchFamily="2" charset="-122"/>
              </a:rPr>
              <a:t>M=INT((L+H)/2)=3</a:t>
            </a:r>
            <a:endParaRPr lang="en-US" altLang="zh-CN" b="1" dirty="0">
              <a:solidFill>
                <a:srgbClr val="FFFF00"/>
              </a:solidFill>
              <a:latin typeface="+mn-lt"/>
              <a:ea typeface="华文楷体" panose="02010600040101010101" pitchFamily="2" charset="-122"/>
            </a:endParaRPr>
          </a:p>
        </p:txBody>
      </p:sp>
      <p:grpSp>
        <p:nvGrpSpPr>
          <p:cNvPr id="90126" name="Group 40"/>
          <p:cNvGrpSpPr/>
          <p:nvPr/>
        </p:nvGrpSpPr>
        <p:grpSpPr bwMode="auto">
          <a:xfrm>
            <a:off x="2508255" y="4162425"/>
            <a:ext cx="476251" cy="674688"/>
            <a:chOff x="1580" y="2352"/>
            <a:chExt cx="300" cy="425"/>
          </a:xfrm>
        </p:grpSpPr>
        <p:sp>
          <p:nvSpPr>
            <p:cNvPr id="90141" name="Line 41"/>
            <p:cNvSpPr>
              <a:spLocks noChangeShapeType="1"/>
            </p:cNvSpPr>
            <p:nvPr/>
          </p:nvSpPr>
          <p:spPr bwMode="auto">
            <a:xfrm flipV="1">
              <a:off x="1632" y="2352"/>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90142" name="Rectangle 42"/>
            <p:cNvSpPr>
              <a:spLocks noChangeArrowheads="1"/>
            </p:cNvSpPr>
            <p:nvPr/>
          </p:nvSpPr>
          <p:spPr bwMode="auto">
            <a:xfrm>
              <a:off x="1580" y="2486"/>
              <a:ext cx="300" cy="29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M</a:t>
              </a:r>
              <a:endParaRPr lang="en-US" altLang="zh-CN" b="1">
                <a:latin typeface="+mn-lt"/>
                <a:ea typeface="华文楷体" panose="02010600040101010101" pitchFamily="2" charset="-122"/>
              </a:endParaRPr>
            </a:p>
          </p:txBody>
        </p:sp>
      </p:grpSp>
      <p:grpSp>
        <p:nvGrpSpPr>
          <p:cNvPr id="90127" name="Group 43"/>
          <p:cNvGrpSpPr/>
          <p:nvPr/>
        </p:nvGrpSpPr>
        <p:grpSpPr bwMode="auto">
          <a:xfrm>
            <a:off x="2901950" y="5083175"/>
            <a:ext cx="1358900" cy="368300"/>
            <a:chOff x="1828" y="2932"/>
            <a:chExt cx="856" cy="232"/>
          </a:xfrm>
        </p:grpSpPr>
        <p:sp>
          <p:nvSpPr>
            <p:cNvPr id="86043" name="Rectangle 44"/>
            <p:cNvSpPr>
              <a:spLocks noChangeArrowheads="1"/>
            </p:cNvSpPr>
            <p:nvPr/>
          </p:nvSpPr>
          <p:spPr bwMode="auto">
            <a:xfrm>
              <a:off x="1828" y="293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21</a:t>
              </a:r>
              <a:endParaRPr lang="en-US" altLang="zh-CN" b="1">
                <a:solidFill>
                  <a:srgbClr val="000000"/>
                </a:solidFill>
                <a:latin typeface="+mn-lt"/>
                <a:ea typeface="华文楷体" panose="02010600040101010101" pitchFamily="2" charset="-122"/>
              </a:endParaRPr>
            </a:p>
          </p:txBody>
        </p:sp>
        <p:sp>
          <p:nvSpPr>
            <p:cNvPr id="86044" name="Rectangle 45"/>
            <p:cNvSpPr>
              <a:spLocks noChangeArrowheads="1"/>
            </p:cNvSpPr>
            <p:nvPr/>
          </p:nvSpPr>
          <p:spPr bwMode="auto">
            <a:xfrm>
              <a:off x="2260" y="2932"/>
              <a:ext cx="424" cy="232"/>
            </a:xfrm>
            <a:prstGeom prst="rect">
              <a:avLst/>
            </a:prstGeom>
            <a:solidFill>
              <a:srgbClr val="FFFF99"/>
            </a:solidFill>
            <a:ln w="12700">
              <a:solidFill>
                <a:schemeClr val="bg2"/>
              </a:solidFill>
              <a:miter lim="800000"/>
            </a:ln>
            <a:effectLst>
              <a:outerShdw dist="107763" dir="2700000" algn="ctr" rotWithShape="0">
                <a:schemeClr val="bg2"/>
              </a:outerShdw>
            </a:effectLst>
          </p:spPr>
          <p:txBody>
            <a:bodyPr wrap="none" lIns="92075" tIns="46038" rIns="92075" bIns="46038" anchor="ctr"/>
            <a:lstStyle/>
            <a:p>
              <a:pPr algn="ctr" defTabSz="762000" eaLnBrk="0" hangingPunct="0">
                <a:defRPr/>
              </a:pPr>
              <a:r>
                <a:rPr lang="en-US" altLang="zh-CN" b="1">
                  <a:solidFill>
                    <a:srgbClr val="000000"/>
                  </a:solidFill>
                  <a:latin typeface="+mn-lt"/>
                  <a:ea typeface="华文楷体" panose="02010600040101010101" pitchFamily="2" charset="-122"/>
                </a:rPr>
                <a:t>37</a:t>
              </a:r>
              <a:endParaRPr lang="en-US" altLang="zh-CN" b="1">
                <a:solidFill>
                  <a:srgbClr val="000000"/>
                </a:solidFill>
                <a:latin typeface="+mn-lt"/>
                <a:ea typeface="华文楷体" panose="02010600040101010101" pitchFamily="2" charset="-122"/>
              </a:endParaRPr>
            </a:p>
          </p:txBody>
        </p:sp>
      </p:grpSp>
      <p:grpSp>
        <p:nvGrpSpPr>
          <p:cNvPr id="90128" name="Group 46"/>
          <p:cNvGrpSpPr/>
          <p:nvPr/>
        </p:nvGrpSpPr>
        <p:grpSpPr bwMode="auto">
          <a:xfrm>
            <a:off x="3830642" y="5610225"/>
            <a:ext cx="420688" cy="674688"/>
            <a:chOff x="2413" y="3264"/>
            <a:chExt cx="265" cy="425"/>
          </a:xfrm>
        </p:grpSpPr>
        <p:sp>
          <p:nvSpPr>
            <p:cNvPr id="90137" name="Rectangle 47"/>
            <p:cNvSpPr>
              <a:spLocks noChangeArrowheads="1"/>
            </p:cNvSpPr>
            <p:nvPr/>
          </p:nvSpPr>
          <p:spPr bwMode="auto">
            <a:xfrm>
              <a:off x="2413" y="3398"/>
              <a:ext cx="26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H</a:t>
              </a:r>
              <a:endParaRPr lang="en-US" altLang="zh-CN" b="1">
                <a:latin typeface="+mn-lt"/>
                <a:ea typeface="华文楷体" panose="02010600040101010101" pitchFamily="2" charset="-122"/>
              </a:endParaRPr>
            </a:p>
          </p:txBody>
        </p:sp>
        <p:sp>
          <p:nvSpPr>
            <p:cNvPr id="90138" name="Line 48"/>
            <p:cNvSpPr>
              <a:spLocks noChangeShapeType="1"/>
            </p:cNvSpPr>
            <p:nvPr/>
          </p:nvSpPr>
          <p:spPr bwMode="auto">
            <a:xfrm flipV="1">
              <a:off x="2448" y="3264"/>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
        <p:nvSpPr>
          <p:cNvPr id="52" name="Rectangle 49"/>
          <p:cNvSpPr>
            <a:spLocks noChangeArrowheads="1"/>
          </p:cNvSpPr>
          <p:nvPr/>
        </p:nvSpPr>
        <p:spPr bwMode="auto">
          <a:xfrm>
            <a:off x="616523" y="5060950"/>
            <a:ext cx="1522854" cy="462307"/>
          </a:xfrm>
          <a:prstGeom prst="rect">
            <a:avLst/>
          </a:prstGeom>
          <a:noFill/>
          <a:ln>
            <a:noFill/>
          </a:ln>
        </p:spPr>
        <p:txBody>
          <a:bodyPr wrap="none" lIns="92075" tIns="46038" rIns="92075" bIns="46038">
            <a:spAutoFit/>
          </a:bodyPr>
          <a:lstStyle/>
          <a:p>
            <a:pPr defTabSz="762000" eaLnBrk="0" hangingPunct="0">
              <a:defRPr/>
            </a:pPr>
            <a:r>
              <a:rPr lang="en-US" altLang="zh-CN" b="1" dirty="0">
                <a:latin typeface="+mn-lt"/>
                <a:ea typeface="华文楷体" panose="02010600040101010101" pitchFamily="2" charset="-122"/>
              </a:rPr>
              <a:t>L=M+1=4</a:t>
            </a:r>
            <a:endParaRPr lang="en-US" altLang="zh-CN" b="1" dirty="0">
              <a:latin typeface="+mn-lt"/>
              <a:ea typeface="华文楷体" panose="02010600040101010101" pitchFamily="2" charset="-122"/>
            </a:endParaRPr>
          </a:p>
        </p:txBody>
      </p:sp>
      <p:grpSp>
        <p:nvGrpSpPr>
          <p:cNvPr id="90130" name="Group 50"/>
          <p:cNvGrpSpPr/>
          <p:nvPr/>
        </p:nvGrpSpPr>
        <p:grpSpPr bwMode="auto">
          <a:xfrm>
            <a:off x="3082926" y="5610225"/>
            <a:ext cx="390525" cy="674688"/>
            <a:chOff x="1942" y="3264"/>
            <a:chExt cx="246" cy="425"/>
          </a:xfrm>
        </p:grpSpPr>
        <p:sp>
          <p:nvSpPr>
            <p:cNvPr id="90135" name="Rectangle 51"/>
            <p:cNvSpPr>
              <a:spLocks noChangeArrowheads="1"/>
            </p:cNvSpPr>
            <p:nvPr/>
          </p:nvSpPr>
          <p:spPr bwMode="auto">
            <a:xfrm>
              <a:off x="1942" y="3398"/>
              <a:ext cx="246" cy="291"/>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L</a:t>
              </a:r>
              <a:endParaRPr lang="en-US" altLang="zh-CN" b="1">
                <a:latin typeface="+mn-lt"/>
                <a:ea typeface="华文楷体" panose="02010600040101010101" pitchFamily="2" charset="-122"/>
              </a:endParaRPr>
            </a:p>
          </p:txBody>
        </p:sp>
        <p:sp>
          <p:nvSpPr>
            <p:cNvPr id="90136" name="Line 52"/>
            <p:cNvSpPr>
              <a:spLocks noChangeShapeType="1"/>
            </p:cNvSpPr>
            <p:nvPr/>
          </p:nvSpPr>
          <p:spPr bwMode="auto">
            <a:xfrm flipV="1">
              <a:off x="1968" y="3264"/>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grpSp>
      <p:sp>
        <p:nvSpPr>
          <p:cNvPr id="56" name="Rectangle 53"/>
          <p:cNvSpPr>
            <a:spLocks noChangeArrowheads="1"/>
          </p:cNvSpPr>
          <p:nvPr/>
        </p:nvSpPr>
        <p:spPr bwMode="auto">
          <a:xfrm>
            <a:off x="4477472" y="5060950"/>
            <a:ext cx="2805256" cy="462307"/>
          </a:xfrm>
          <a:prstGeom prst="rect">
            <a:avLst/>
          </a:prstGeom>
          <a:noFill/>
          <a:ln>
            <a:noFill/>
          </a:ln>
        </p:spPr>
        <p:txBody>
          <a:bodyPr wrap="none" lIns="92075" tIns="46038" rIns="92075" bIns="46038">
            <a:spAutoFit/>
          </a:bodyPr>
          <a:lstStyle/>
          <a:p>
            <a:pPr defTabSz="762000" eaLnBrk="0" hangingPunct="0">
              <a:defRPr/>
            </a:pPr>
            <a:r>
              <a:rPr lang="en-US" altLang="zh-CN" b="1" dirty="0">
                <a:solidFill>
                  <a:srgbClr val="FFFF00"/>
                </a:solidFill>
                <a:latin typeface="+mn-lt"/>
                <a:ea typeface="华文楷体" panose="02010600040101010101" pitchFamily="2" charset="-122"/>
              </a:rPr>
              <a:t>M=INT((L+H)/2)=4</a:t>
            </a:r>
            <a:endParaRPr lang="en-US" altLang="zh-CN" b="1" dirty="0">
              <a:solidFill>
                <a:srgbClr val="FFFF00"/>
              </a:solidFill>
              <a:latin typeface="+mn-lt"/>
              <a:ea typeface="华文楷体" panose="02010600040101010101" pitchFamily="2" charset="-122"/>
            </a:endParaRPr>
          </a:p>
        </p:txBody>
      </p:sp>
      <p:grpSp>
        <p:nvGrpSpPr>
          <p:cNvPr id="90132" name="Group 54"/>
          <p:cNvGrpSpPr/>
          <p:nvPr/>
        </p:nvGrpSpPr>
        <p:grpSpPr bwMode="auto">
          <a:xfrm>
            <a:off x="3041656" y="6143625"/>
            <a:ext cx="476251" cy="674688"/>
            <a:chOff x="1916" y="3600"/>
            <a:chExt cx="300" cy="425"/>
          </a:xfrm>
        </p:grpSpPr>
        <p:sp>
          <p:nvSpPr>
            <p:cNvPr id="90133" name="Line 55"/>
            <p:cNvSpPr>
              <a:spLocks noChangeShapeType="1"/>
            </p:cNvSpPr>
            <p:nvPr/>
          </p:nvSpPr>
          <p:spPr bwMode="auto">
            <a:xfrm flipV="1">
              <a:off x="1968" y="3600"/>
              <a:ext cx="0" cy="336"/>
            </a:xfrm>
            <a:prstGeom prst="line">
              <a:avLst/>
            </a:prstGeom>
            <a:noFill/>
            <a:ln w="25400">
              <a:solidFill>
                <a:srgbClr val="FFFF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90134" name="Rectangle 56"/>
            <p:cNvSpPr>
              <a:spLocks noChangeArrowheads="1"/>
            </p:cNvSpPr>
            <p:nvPr/>
          </p:nvSpPr>
          <p:spPr bwMode="auto">
            <a:xfrm>
              <a:off x="1916" y="3734"/>
              <a:ext cx="300"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b="1">
                  <a:latin typeface="+mn-lt"/>
                  <a:ea typeface="华文楷体" panose="02010600040101010101" pitchFamily="2" charset="-122"/>
                </a:rPr>
                <a:t>M</a:t>
              </a:r>
              <a:endParaRPr lang="en-US" altLang="zh-CN" b="1">
                <a:latin typeface="+mn-lt"/>
                <a:ea typeface="华文楷体" panose="02010600040101010101" pitchFamily="2" charset="-122"/>
              </a:endParaRPr>
            </a:p>
          </p:txBody>
        </p:sp>
      </p:gr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1139" name="标题 1"/>
          <p:cNvSpPr>
            <a:spLocks noGrp="1"/>
          </p:cNvSpPr>
          <p:nvPr>
            <p:ph type="title"/>
          </p:nvPr>
        </p:nvSpPr>
        <p:spPr/>
        <p:txBody>
          <a:bodyPr/>
          <a:lstStyle/>
          <a:p>
            <a:r>
              <a:rPr lang="zh-CN" altLang="en-US" b="1"/>
              <a:t>例</a:t>
            </a:r>
            <a:r>
              <a:rPr lang="en-US" altLang="zh-CN" b="1"/>
              <a:t>9-15 </a:t>
            </a:r>
            <a:r>
              <a:rPr lang="zh-CN" altLang="en-US" b="1"/>
              <a:t>折半查找函数模板</a:t>
            </a:r>
            <a:endParaRPr kumimoji="1" lang="zh-CN" altLang="en-US" b="1"/>
          </a:p>
        </p:txBody>
      </p:sp>
      <p:sp>
        <p:nvSpPr>
          <p:cNvPr id="91140" name="内容占位符 2"/>
          <p:cNvSpPr>
            <a:spLocks noGrp="1"/>
          </p:cNvSpPr>
          <p:nvPr>
            <p:ph idx="1"/>
          </p:nvPr>
        </p:nvSpPr>
        <p:spPr>
          <a:xfrm>
            <a:off x="683568" y="1412776"/>
            <a:ext cx="7886700" cy="470898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binSearch</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list[],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&amp;key)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low =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high = n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(low &lt;= high)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mid = (low + high) / 2;</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if (key == list[mid])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mid;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else if (key &lt; list[mid])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high = mid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else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low = mid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764704"/>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200000"/>
              </a:lnSpc>
              <a:buFont typeface="+mj-lt"/>
              <a:buAutoNum type="arabicPeriod" startAt="4"/>
            </a:pPr>
            <a:r>
              <a:rPr lang="zh-CN" altLang="en-US" sz="5800" b="1" dirty="0">
                <a:ea typeface="华文彩云" panose="02010800040101010101" pitchFamily="2" charset="-122"/>
              </a:rPr>
              <a:t>综合实例</a:t>
            </a:r>
            <a:br>
              <a:rPr lang="en-US" altLang="zh-CN" sz="5800" b="1" dirty="0">
                <a:ea typeface="华文彩云" panose="02010800040101010101" pitchFamily="2" charset="-122"/>
              </a:rPr>
            </a:br>
            <a:r>
              <a:rPr lang="en-US" altLang="zh-CN" sz="3200" b="1" dirty="0">
                <a:ea typeface="华文彩云" panose="02010800040101010101" pitchFamily="2" charset="-122"/>
              </a:rPr>
              <a:t>——</a:t>
            </a:r>
            <a:r>
              <a:rPr lang="zh-CN" altLang="en-US" sz="3200" b="1" dirty="0">
                <a:ea typeface="华文彩云" panose="02010800040101010101" pitchFamily="2" charset="-122"/>
              </a:rPr>
              <a:t>对个人银行账户管理程序的改进</a:t>
            </a:r>
            <a:endParaRPr lang="zh-CN" altLang="en-US" sz="44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9.4 </a:t>
            </a:r>
            <a:r>
              <a:rPr lang="zh-CN" altLang="en-US" sz="4400" b="1" dirty="0">
                <a:latin typeface="Times New Roman" panose="02020603050405020304" pitchFamily="18" charset="0"/>
                <a:ea typeface="隶书" panose="02010509060101010101" pitchFamily="49" charset="-122"/>
              </a:rPr>
              <a:t>综合实例</a:t>
            </a:r>
            <a:br>
              <a:rPr lang="en-US" altLang="zh-CN" b="1" dirty="0">
                <a:latin typeface="Times New Roman" panose="02020603050405020304" pitchFamily="18" charset="0"/>
                <a:ea typeface="隶书" panose="02010509060101010101" pitchFamily="49" charset="-122"/>
              </a:rPr>
            </a:br>
            <a:r>
              <a:rPr lang="en-US" altLang="zh-CN" b="1" dirty="0">
                <a:latin typeface="Times New Roman" panose="02020603050405020304" pitchFamily="18" charset="0"/>
                <a:ea typeface="隶书" panose="02010509060101010101" pitchFamily="49" charset="-122"/>
              </a:rPr>
              <a:t>——</a:t>
            </a:r>
            <a:r>
              <a:rPr lang="zh-CN" altLang="en-US" b="1" dirty="0">
                <a:latin typeface="Times New Roman" panose="02020603050405020304" pitchFamily="18" charset="0"/>
                <a:ea typeface="隶书" panose="02010509060101010101" pitchFamily="49" charset="-122"/>
              </a:rPr>
              <a:t>对个人银行账户管理程序的改进</a:t>
            </a:r>
            <a:endParaRPr lang="zh-CN" altLang="en-US" b="1" dirty="0">
              <a:latin typeface="Times New Roman" panose="02020603050405020304" pitchFamily="18" charset="0"/>
              <a:ea typeface="隶书" panose="02010509060101010101" pitchFamily="49" charset="-122"/>
            </a:endParaRPr>
          </a:p>
        </p:txBody>
      </p:sp>
      <p:sp>
        <p:nvSpPr>
          <p:cNvPr id="92163" name="内容占位符 2"/>
          <p:cNvSpPr>
            <a:spLocks noGrp="1"/>
          </p:cNvSpPr>
          <p:nvPr>
            <p:ph idx="1"/>
          </p:nvPr>
        </p:nvSpPr>
        <p:spPr/>
        <p:txBody>
          <a:bodyPr/>
          <a:lstStyle/>
          <a:p>
            <a:pPr>
              <a:lnSpc>
                <a:spcPct val="150000"/>
              </a:lnSpc>
              <a:spcAft>
                <a:spcPct val="25000"/>
              </a:spcAft>
            </a:pPr>
            <a:r>
              <a:rPr lang="zh-CN" altLang="en-US" sz="2400" b="1" dirty="0">
                <a:ea typeface="华文楷体" panose="02010600040101010101" pitchFamily="2" charset="-122"/>
              </a:rPr>
              <a:t>使用动态数组类模板</a:t>
            </a:r>
            <a:r>
              <a:rPr lang="en-US" altLang="zh-CN" sz="2400" b="1" dirty="0">
                <a:ea typeface="华文楷体" panose="02010600040101010101" pitchFamily="2" charset="-122"/>
              </a:rPr>
              <a:t>Array</a:t>
            </a:r>
            <a:r>
              <a:rPr lang="zh-CN" altLang="en-US" sz="2400" b="1" dirty="0">
                <a:ea typeface="华文楷体" panose="02010600040101010101" pitchFamily="2" charset="-122"/>
              </a:rPr>
              <a:t>来实现多态性调用</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此外，由于</a:t>
            </a:r>
            <a:r>
              <a:rPr lang="en-US" altLang="zh-CN" sz="2400" b="1" dirty="0">
                <a:ea typeface="华文楷体" panose="02010600040101010101" pitchFamily="2" charset="-122"/>
              </a:rPr>
              <a:t>Array</a:t>
            </a:r>
            <a:r>
              <a:rPr lang="zh-CN" altLang="en-US" sz="2400" b="1" dirty="0">
                <a:ea typeface="华文楷体" panose="02010600040101010101" pitchFamily="2" charset="-122"/>
              </a:rPr>
              <a:t>数组允许动态改变大小，因此可以向</a:t>
            </a:r>
            <a:r>
              <a:rPr lang="en-US" altLang="zh-CN" sz="2400" b="1" dirty="0">
                <a:ea typeface="华文楷体" panose="02010600040101010101" pitchFamily="2" charset="-122"/>
              </a:rPr>
              <a:t>Array</a:t>
            </a:r>
            <a:r>
              <a:rPr lang="zh-CN" altLang="en-US" sz="2400" b="1" dirty="0">
                <a:ea typeface="华文楷体" panose="02010600040101010101" pitchFamily="2" charset="-122"/>
              </a:rPr>
              <a:t>数组中动态添加新的元素，因此本例的主程序中允许用户随时动态添加新的账户。</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9-16 </a:t>
            </a:r>
            <a:r>
              <a:rPr lang="zh-CN" altLang="en-US" sz="2400" b="1" dirty="0">
                <a:ea typeface="华文楷体" panose="02010600040101010101" pitchFamily="2" charset="-122"/>
              </a:rPr>
              <a:t>个人银行账户管理程序</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只有</a:t>
            </a:r>
            <a:r>
              <a:rPr lang="en-US" altLang="zh-CN" sz="2400" b="1" dirty="0">
                <a:ea typeface="华文楷体" panose="02010600040101010101" pitchFamily="2" charset="-122"/>
              </a:rPr>
              <a:t>9_16.cpp</a:t>
            </a:r>
            <a:r>
              <a:rPr lang="zh-CN" altLang="en-US" sz="2400" b="1" dirty="0">
                <a:ea typeface="华文楷体" panose="02010600040101010101" pitchFamily="2" charset="-122"/>
              </a:rPr>
              <a:t>有所改动，其它文件未做任何修改，因此这里只将</a:t>
            </a:r>
            <a:r>
              <a:rPr lang="en-US" altLang="zh-CN" sz="2400" b="1" dirty="0">
                <a:ea typeface="华文楷体" panose="02010600040101010101" pitchFamily="2" charset="-122"/>
              </a:rPr>
              <a:t>9_16.cpp</a:t>
            </a:r>
            <a:r>
              <a:rPr lang="zh-CN" altLang="en-US" sz="2400" b="1" dirty="0">
                <a:ea typeface="华文楷体" panose="02010600040101010101" pitchFamily="2" charset="-122"/>
              </a:rPr>
              <a:t>列出。</a:t>
            </a:r>
            <a:endParaRPr lang="zh-CN" altLang="en-US" sz="2400" b="1" dirty="0">
              <a:ea typeface="华文楷体" panose="02010600040101010101" pitchFamily="2"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93186" name="内容占位符 2"/>
          <p:cNvSpPr>
            <a:spLocks noGrp="1"/>
          </p:cNvSpPr>
          <p:nvPr>
            <p:ph idx="1"/>
          </p:nvPr>
        </p:nvSpPr>
        <p:spPr>
          <a:xfrm>
            <a:off x="72008" y="332656"/>
            <a:ext cx="9036496" cy="655564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//9_16.cpp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a:t>
            </a:r>
            <a:r>
              <a:rPr lang="en-US" altLang="zh-CN" sz="2000" b="1" dirty="0" err="1">
                <a:solidFill>
                  <a:srgbClr val="000000"/>
                </a:solidFill>
                <a:latin typeface="Times New Roman" panose="02020603050405020304" pitchFamily="18" charset="0"/>
                <a:ea typeface="华文楷体" panose="02010600040101010101" pitchFamily="2" charset="-122"/>
              </a:rPr>
              <a:t>account.h</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a:t>
            </a:r>
            <a:r>
              <a:rPr lang="en-US" altLang="zh-CN" sz="2000" b="1" dirty="0" err="1">
                <a:solidFill>
                  <a:srgbClr val="000000"/>
                </a:solidFill>
                <a:latin typeface="Times New Roman" panose="02020603050405020304" pitchFamily="18" charset="0"/>
                <a:ea typeface="华文楷体" panose="02010600040101010101" pitchFamily="2" charset="-122"/>
              </a:rPr>
              <a:t>Array.h</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Date date(2008, 11, 1);		//</a:t>
            </a:r>
            <a:r>
              <a:rPr lang="zh-CN" altLang="en-US" sz="2000" b="1" dirty="0">
                <a:solidFill>
                  <a:srgbClr val="000000"/>
                </a:solidFill>
                <a:latin typeface="Times New Roman" panose="02020603050405020304" pitchFamily="18" charset="0"/>
                <a:ea typeface="华文楷体" panose="02010600040101010101" pitchFamily="2" charset="-122"/>
              </a:rPr>
              <a:t>起始日期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Array&lt;Account *&gt; accounts(0); 	//</a:t>
            </a:r>
            <a:r>
              <a:rPr lang="zh-CN" altLang="en-US" sz="2000" b="1" dirty="0">
                <a:solidFill>
                  <a:srgbClr val="000000"/>
                </a:solidFill>
                <a:latin typeface="Times New Roman" panose="02020603050405020304" pitchFamily="18" charset="0"/>
                <a:ea typeface="华文楷体" panose="02010600040101010101" pitchFamily="2" charset="-122"/>
              </a:rPr>
              <a:t>创建账户数组，元素个数为</a:t>
            </a:r>
            <a:r>
              <a:rPr lang="en-US" altLang="zh-CN" sz="2000" b="1" dirty="0">
                <a:solidFill>
                  <a:srgbClr val="000000"/>
                </a:solidFill>
                <a:latin typeface="Times New Roman" panose="02020603050405020304" pitchFamily="18" charset="0"/>
                <a:ea typeface="华文楷体" panose="02010600040101010101" pitchFamily="2" charset="-122"/>
              </a:rPr>
              <a:t>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"(a)add account (d)deposit (w)withdraw (s)show (c)change day (n)next month (e)exit"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char </a:t>
            </a:r>
            <a:r>
              <a:rPr lang="en-US" altLang="zh-CN" sz="2000" b="1" dirty="0" err="1">
                <a:solidFill>
                  <a:srgbClr val="000000"/>
                </a:solidFill>
                <a:latin typeface="Times New Roman" panose="02020603050405020304" pitchFamily="18" charset="0"/>
                <a:ea typeface="华文楷体" panose="02010600040101010101" pitchFamily="2" charset="-122"/>
              </a:rPr>
              <a:t>cmd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do {	//</a:t>
            </a:r>
            <a:r>
              <a:rPr lang="zh-CN" altLang="en-US" sz="2000" b="1" dirty="0">
                <a:solidFill>
                  <a:srgbClr val="000000"/>
                </a:solidFill>
                <a:latin typeface="Times New Roman" panose="02020603050405020304" pitchFamily="18" charset="0"/>
                <a:ea typeface="华文楷体" panose="02010600040101010101" pitchFamily="2" charset="-122"/>
              </a:rPr>
              <a:t>显示日期和总金额</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date.show</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tTotal</a:t>
            </a:r>
            <a:r>
              <a:rPr lang="en-US" altLang="zh-CN" sz="2000" b="1" dirty="0">
                <a:solidFill>
                  <a:srgbClr val="000000"/>
                </a:solidFill>
                <a:latin typeface="Times New Roman" panose="02020603050405020304" pitchFamily="18" charset="0"/>
                <a:ea typeface="华文楷体" panose="02010600040101010101" pitchFamily="2" charset="-122"/>
              </a:rPr>
              <a:t>: " &lt;&lt; Account::</a:t>
            </a:r>
            <a:r>
              <a:rPr lang="en-US" altLang="zh-CN" sz="2000" b="1" dirty="0" err="1">
                <a:solidFill>
                  <a:srgbClr val="000000"/>
                </a:solidFill>
                <a:latin typeface="Times New Roman" panose="02020603050405020304" pitchFamily="18" charset="0"/>
                <a:ea typeface="华文楷体" panose="02010600040101010101" pitchFamily="2" charset="-122"/>
              </a:rPr>
              <a:t>getTotal</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tcommand</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char type;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index,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double amount, credit, rate, fee;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string id, </a:t>
            </a:r>
            <a:r>
              <a:rPr lang="en-US" altLang="zh-CN" sz="2000" b="1" dirty="0" err="1">
                <a:solidFill>
                  <a:srgbClr val="000000"/>
                </a:solidFill>
                <a:latin typeface="Times New Roman" panose="02020603050405020304" pitchFamily="18" charset="0"/>
                <a:ea typeface="华文楷体" panose="02010600040101010101" pitchFamily="2" charset="-122"/>
              </a:rPr>
              <a:t>desc</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 account;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a:t>
            </a:r>
            <a:r>
              <a:rPr lang="en-US" altLang="zh-CN" sz="2000" b="1" dirty="0" err="1">
                <a:solidFill>
                  <a:srgbClr val="000000"/>
                </a:solidFill>
                <a:latin typeface="Times New Roman" panose="02020603050405020304" pitchFamily="18" charset="0"/>
                <a:ea typeface="华文楷体" panose="02010600040101010101" pitchFamily="2" charset="-122"/>
              </a:rPr>
              <a:t>cmd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switch (</a:t>
            </a:r>
            <a:r>
              <a:rPr lang="en-US" altLang="zh-CN" sz="2000" b="1" dirty="0" err="1">
                <a:solidFill>
                  <a:srgbClr val="000000"/>
                </a:solidFill>
                <a:latin typeface="Times New Roman" panose="02020603050405020304" pitchFamily="18" charset="0"/>
                <a:ea typeface="华文楷体" panose="02010600040101010101" pitchFamily="2" charset="-122"/>
              </a:rPr>
              <a:t>cmd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3188" name="标题 1"/>
          <p:cNvSpPr>
            <a:spLocks noGrp="1"/>
          </p:cNvSpPr>
          <p:nvPr>
            <p:ph type="title"/>
          </p:nvPr>
        </p:nvSpPr>
        <p:spPr>
          <a:xfrm>
            <a:off x="5429250" y="500063"/>
            <a:ext cx="3257550" cy="1066800"/>
          </a:xfrm>
          <a:solidFill>
            <a:schemeClr val="bg1"/>
          </a:solidFill>
        </p:spPr>
        <p:txBody>
          <a:bodyPr/>
          <a:lstStyle/>
          <a:p>
            <a:r>
              <a:rPr lang="zh-CN" altLang="en-US"/>
              <a:t>例</a:t>
            </a:r>
            <a:r>
              <a:rPr lang="en-US" altLang="zh-CN"/>
              <a:t>9-16</a:t>
            </a:r>
            <a:r>
              <a:rPr lang="zh-CN" altLang="en-US"/>
              <a:t>（续）</a:t>
            </a:r>
            <a:endParaRPr lang="zh-CN" altLang="en-US"/>
          </a:p>
        </p:txBody>
      </p:sp>
      <p:sp>
        <p:nvSpPr>
          <p:cNvPr id="6" name="标题 4"/>
          <p:cNvSpPr txBox="1"/>
          <p:nvPr/>
        </p:nvSpPr>
        <p:spPr>
          <a:xfrm>
            <a:off x="214313" y="0"/>
            <a:ext cx="8318500" cy="428625"/>
          </a:xfrm>
          <a:prstGeom prst="rect">
            <a:avLst/>
          </a:prstGeom>
        </p:spPr>
        <p:txBody>
          <a:bodyPr anchor="ctr">
            <a:normAutofit fontScale="92500" lnSpcReduction="20000"/>
          </a:bodyPr>
          <a:lstStyle/>
          <a:p>
            <a:pPr>
              <a:defRPr/>
            </a:pPr>
            <a:r>
              <a:rPr lang="en-US" sz="2800" dirty="0">
                <a:solidFill>
                  <a:prstClr val="white"/>
                </a:solidFill>
                <a:ea typeface="宋体" panose="02010600030101010101" pitchFamily="2" charset="-122"/>
              </a:rPr>
              <a:t>9.4 </a:t>
            </a:r>
            <a:r>
              <a:rPr lang="zh-CN" altLang="en-US" sz="2800" dirty="0">
                <a:solidFill>
                  <a:prstClr val="white"/>
                </a:solidFill>
                <a:latin typeface="方正姚体" panose="02010601030101010101" charset="-122"/>
                <a:ea typeface="方正姚体" panose="02010601030101010101" charset="-122"/>
              </a:rPr>
              <a:t>综合实例</a:t>
            </a:r>
            <a:r>
              <a:rPr lang="en-US" altLang="zh-CN" sz="2800" dirty="0">
                <a:solidFill>
                  <a:prstClr val="white"/>
                </a:solidFill>
                <a:latin typeface="方正姚体" panose="02010601030101010101" charset="-122"/>
                <a:ea typeface="方正姚体" panose="02010601030101010101" charset="-122"/>
              </a:rPr>
              <a:t>——</a:t>
            </a:r>
            <a:r>
              <a:rPr lang="zh-CN" altLang="en-US" sz="2800" dirty="0">
                <a:solidFill>
                  <a:prstClr val="white"/>
                </a:solidFill>
                <a:latin typeface="方正姚体" panose="02010601030101010101" charset="-122"/>
                <a:ea typeface="方正姚体" panose="02010601030101010101" charset="-122"/>
              </a:rPr>
              <a:t>对个人银行账户管理程序的改进</a:t>
            </a:r>
            <a:endParaRPr lang="zh-CN" altLang="en-US" sz="2800" dirty="0">
              <a:solidFill>
                <a:prstClr val="white"/>
              </a:solidFill>
              <a:latin typeface="方正姚体" panose="02010601030101010101" charset="-122"/>
              <a:ea typeface="方正姚体" panose="02010601030101010101"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94210" name="内容占位符 2"/>
          <p:cNvSpPr>
            <a:spLocks noGrp="1"/>
          </p:cNvSpPr>
          <p:nvPr>
            <p:ph idx="1"/>
          </p:nvPr>
        </p:nvSpPr>
        <p:spPr>
          <a:xfrm>
            <a:off x="1" y="21967"/>
            <a:ext cx="9144000" cy="686341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case 'a':	//</a:t>
            </a:r>
            <a:r>
              <a:rPr lang="zh-CN" altLang="en-US" sz="2000" b="1" dirty="0">
                <a:solidFill>
                  <a:srgbClr val="000000"/>
                </a:solidFill>
                <a:latin typeface="Times New Roman" panose="02020603050405020304" pitchFamily="18" charset="0"/>
                <a:ea typeface="华文楷体" panose="02010600040101010101" pitchFamily="2" charset="-122"/>
              </a:rPr>
              <a:t>增加账户</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type &gt;&gt; id;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if (type == 's')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rate;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 = new </a:t>
            </a:r>
            <a:r>
              <a:rPr lang="en-US" altLang="zh-CN" sz="2000" b="1" dirty="0" err="1">
                <a:solidFill>
                  <a:srgbClr val="000000"/>
                </a:solidFill>
                <a:latin typeface="Times New Roman" panose="02020603050405020304" pitchFamily="18" charset="0"/>
                <a:ea typeface="华文楷体" panose="02010600040101010101" pitchFamily="2" charset="-122"/>
              </a:rPr>
              <a:t>SavingsAccount</a:t>
            </a:r>
            <a:r>
              <a:rPr lang="en-US" altLang="zh-CN" sz="2000" b="1" dirty="0">
                <a:solidFill>
                  <a:srgbClr val="000000"/>
                </a:solidFill>
                <a:latin typeface="Times New Roman" panose="02020603050405020304" pitchFamily="18" charset="0"/>
                <a:ea typeface="华文楷体" panose="02010600040101010101" pitchFamily="2" charset="-122"/>
              </a:rPr>
              <a:t>(date, id, rate);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else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credit &gt;&gt; rate &gt;&gt; fee;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 = new </a:t>
            </a:r>
            <a:r>
              <a:rPr lang="en-US" altLang="zh-CN" sz="2000" b="1" dirty="0" err="1">
                <a:solidFill>
                  <a:srgbClr val="000000"/>
                </a:solidFill>
                <a:latin typeface="Times New Roman" panose="02020603050405020304" pitchFamily="18" charset="0"/>
                <a:ea typeface="华文楷体" panose="02010600040101010101" pitchFamily="2" charset="-122"/>
              </a:rPr>
              <a:t>CreditAccount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date,id</a:t>
            </a:r>
            <a:r>
              <a:rPr lang="en-US" altLang="zh-CN" sz="2000" b="1" dirty="0">
                <a:solidFill>
                  <a:srgbClr val="000000"/>
                </a:solidFill>
                <a:latin typeface="Times New Roman" panose="02020603050405020304" pitchFamily="18" charset="0"/>
                <a:ea typeface="华文楷体" panose="02010600040101010101" pitchFamily="2" charset="-122"/>
              </a:rPr>
              <a:t>, credit, rate, fee);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accounts.resize</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accounts.getSize</a:t>
            </a:r>
            <a:r>
              <a:rPr lang="en-US" altLang="zh-CN" sz="2000" b="1" dirty="0">
                <a:solidFill>
                  <a:srgbClr val="000000"/>
                </a:solidFill>
                <a:latin typeface="Times New Roman" panose="02020603050405020304" pitchFamily="18" charset="0"/>
                <a:ea typeface="华文楷体" panose="02010600040101010101" pitchFamily="2" charset="-122"/>
              </a:rPr>
              <a:t>() + 1);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accounts[</a:t>
            </a:r>
            <a:r>
              <a:rPr lang="en-US" altLang="zh-CN" sz="2000" b="1" dirty="0" err="1">
                <a:solidFill>
                  <a:srgbClr val="000000"/>
                </a:solidFill>
                <a:latin typeface="Times New Roman" panose="02020603050405020304" pitchFamily="18" charset="0"/>
                <a:ea typeface="华文楷体" panose="02010600040101010101" pitchFamily="2" charset="-122"/>
              </a:rPr>
              <a:t>accounts.getSize</a:t>
            </a:r>
            <a:r>
              <a:rPr lang="en-US" altLang="zh-CN" sz="2000" b="1" dirty="0">
                <a:solidFill>
                  <a:srgbClr val="000000"/>
                </a:solidFill>
                <a:latin typeface="Times New Roman" panose="02020603050405020304" pitchFamily="18" charset="0"/>
                <a:ea typeface="华文楷体" panose="02010600040101010101" pitchFamily="2" charset="-122"/>
              </a:rPr>
              <a:t>() - 1] = account;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break;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case 'd':	//</a:t>
            </a:r>
            <a:r>
              <a:rPr lang="zh-CN" altLang="en-US" sz="2000" b="1" dirty="0">
                <a:solidFill>
                  <a:srgbClr val="000000"/>
                </a:solidFill>
                <a:latin typeface="Times New Roman" panose="02020603050405020304" pitchFamily="18" charset="0"/>
                <a:ea typeface="华文楷体" panose="02010600040101010101" pitchFamily="2" charset="-122"/>
              </a:rPr>
              <a:t>存入现金</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index &gt;&gt; amount;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getline</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desc</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accounts[index]-&gt;deposit(date, amount, </a:t>
            </a:r>
            <a:r>
              <a:rPr lang="en-US" altLang="zh-CN" sz="2000" b="1" dirty="0" err="1">
                <a:solidFill>
                  <a:srgbClr val="000000"/>
                </a:solidFill>
                <a:latin typeface="Times New Roman" panose="02020603050405020304" pitchFamily="18" charset="0"/>
                <a:ea typeface="华文楷体" panose="02010600040101010101" pitchFamily="2" charset="-122"/>
              </a:rPr>
              <a:t>desc</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break;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case 'w':	//</a:t>
            </a:r>
            <a:r>
              <a:rPr lang="zh-CN" altLang="en-US" sz="2000" b="1" dirty="0">
                <a:solidFill>
                  <a:srgbClr val="000000"/>
                </a:solidFill>
                <a:latin typeface="Times New Roman" panose="02020603050405020304" pitchFamily="18" charset="0"/>
                <a:ea typeface="华文楷体" panose="02010600040101010101" pitchFamily="2" charset="-122"/>
              </a:rPr>
              <a:t>取出现金</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index &gt;&gt; amount;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getline</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desc</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accounts[index]-&gt;withdraw(date, amount, </a:t>
            </a:r>
            <a:r>
              <a:rPr lang="en-US" altLang="zh-CN" sz="2000" b="1" dirty="0" err="1">
                <a:solidFill>
                  <a:srgbClr val="000000"/>
                </a:solidFill>
                <a:latin typeface="Times New Roman" panose="02020603050405020304" pitchFamily="18" charset="0"/>
                <a:ea typeface="华文楷体" panose="02010600040101010101" pitchFamily="2" charset="-122"/>
              </a:rPr>
              <a:t>desc</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break;</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4212" name="标题 1"/>
          <p:cNvSpPr>
            <a:spLocks noGrp="1"/>
          </p:cNvSpPr>
          <p:nvPr>
            <p:ph type="title"/>
          </p:nvPr>
        </p:nvSpPr>
        <p:spPr>
          <a:xfrm>
            <a:off x="5886450" y="0"/>
            <a:ext cx="3257550" cy="1066800"/>
          </a:xfrm>
          <a:solidFill>
            <a:schemeClr val="bg1"/>
          </a:solidFill>
        </p:spPr>
        <p:txBody>
          <a:bodyPr/>
          <a:lstStyle/>
          <a:p>
            <a:r>
              <a:rPr lang="zh-CN" altLang="en-US" dirty="0"/>
              <a:t>例</a:t>
            </a:r>
            <a:r>
              <a:rPr lang="en-US" altLang="zh-CN" dirty="0"/>
              <a:t>9-16</a:t>
            </a:r>
            <a:r>
              <a:rPr lang="zh-CN" altLang="en-US" dirty="0"/>
              <a:t>（续）</a:t>
            </a:r>
            <a:endParaRPr lang="zh-CN" altLang="en-US" dirty="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179512" y="0"/>
            <a:ext cx="9143999" cy="686341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case 'c':	//</a:t>
            </a:r>
            <a:r>
              <a:rPr lang="zh-CN" altLang="en-US" sz="2000" b="1" dirty="0">
                <a:solidFill>
                  <a:srgbClr val="000000"/>
                </a:solidFill>
                <a:latin typeface="Times New Roman" panose="02020603050405020304" pitchFamily="18" charset="0"/>
                <a:ea typeface="华文楷体" panose="02010600040101010101" pitchFamily="2" charset="-122"/>
              </a:rPr>
              <a:t>改变日期</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if (day &lt; </a:t>
            </a:r>
            <a:r>
              <a:rPr lang="en-US" altLang="zh-CN" sz="2000" b="1" dirty="0" err="1">
                <a:solidFill>
                  <a:srgbClr val="000000"/>
                </a:solidFill>
                <a:latin typeface="Times New Roman" panose="02020603050405020304" pitchFamily="18" charset="0"/>
                <a:ea typeface="华文楷体" panose="02010600040101010101" pitchFamily="2" charset="-122"/>
              </a:rPr>
              <a:t>date.getDay</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"You cannot specify a previous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else if (day &gt; </a:t>
            </a:r>
            <a:r>
              <a:rPr lang="en-US" altLang="zh-CN" sz="2000" b="1" dirty="0" err="1">
                <a:solidFill>
                  <a:srgbClr val="000000"/>
                </a:solidFill>
                <a:latin typeface="Times New Roman" panose="02020603050405020304" pitchFamily="18" charset="0"/>
                <a:ea typeface="华文楷体" panose="02010600040101010101" pitchFamily="2" charset="-122"/>
              </a:rPr>
              <a:t>date.getMaxDay</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"Invalid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else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date = Date(</a:t>
            </a:r>
            <a:r>
              <a:rPr lang="en-US" altLang="zh-CN" sz="2000" b="1" dirty="0" err="1">
                <a:solidFill>
                  <a:srgbClr val="000000"/>
                </a:solidFill>
                <a:latin typeface="Times New Roman" panose="02020603050405020304" pitchFamily="18" charset="0"/>
                <a:ea typeface="华文楷体" panose="02010600040101010101" pitchFamily="2" charset="-122"/>
              </a:rPr>
              <a:t>date.getYear</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date.getMonth</a:t>
            </a:r>
            <a:r>
              <a:rPr lang="en-US" altLang="zh-CN" sz="2000" b="1" dirty="0">
                <a:solidFill>
                  <a:srgbClr val="000000"/>
                </a:solidFill>
                <a:latin typeface="Times New Roman" panose="02020603050405020304" pitchFamily="18" charset="0"/>
                <a:ea typeface="华文楷体" panose="02010600040101010101" pitchFamily="2" charset="-122"/>
              </a:rPr>
              <a:t>(),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break;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case 'n':	//</a:t>
            </a:r>
            <a:r>
              <a:rPr lang="zh-CN" altLang="en-US" sz="2000" b="1" dirty="0">
                <a:solidFill>
                  <a:srgbClr val="000000"/>
                </a:solidFill>
                <a:latin typeface="Times New Roman" panose="02020603050405020304" pitchFamily="18" charset="0"/>
                <a:ea typeface="华文楷体" panose="02010600040101010101" pitchFamily="2" charset="-122"/>
              </a:rPr>
              <a:t>进入下个月</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if (</a:t>
            </a:r>
            <a:r>
              <a:rPr lang="en-US" altLang="zh-CN" sz="2000" b="1" dirty="0" err="1">
                <a:solidFill>
                  <a:srgbClr val="000000"/>
                </a:solidFill>
                <a:latin typeface="Times New Roman" panose="02020603050405020304" pitchFamily="18" charset="0"/>
                <a:ea typeface="华文楷体" panose="02010600040101010101" pitchFamily="2" charset="-122"/>
              </a:rPr>
              <a:t>date.getMonth</a:t>
            </a:r>
            <a:r>
              <a:rPr lang="en-US" altLang="zh-CN" sz="2000" b="1" dirty="0">
                <a:solidFill>
                  <a:srgbClr val="000000"/>
                </a:solidFill>
                <a:latin typeface="Times New Roman" panose="02020603050405020304" pitchFamily="18" charset="0"/>
                <a:ea typeface="华文楷体" panose="02010600040101010101" pitchFamily="2" charset="-122"/>
              </a:rPr>
              <a:t>() == 12)</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date = Date(</a:t>
            </a:r>
            <a:r>
              <a:rPr lang="en-US" altLang="zh-CN" sz="2000" b="1" dirty="0" err="1">
                <a:solidFill>
                  <a:srgbClr val="000000"/>
                </a:solidFill>
                <a:latin typeface="Times New Roman" panose="02020603050405020304" pitchFamily="18" charset="0"/>
                <a:ea typeface="华文楷体" panose="02010600040101010101" pitchFamily="2" charset="-122"/>
              </a:rPr>
              <a:t>date.getYear</a:t>
            </a:r>
            <a:r>
              <a:rPr lang="en-US" altLang="zh-CN" sz="2000" b="1" dirty="0">
                <a:solidFill>
                  <a:srgbClr val="000000"/>
                </a:solidFill>
                <a:latin typeface="Times New Roman" panose="02020603050405020304" pitchFamily="18" charset="0"/>
                <a:ea typeface="华文楷体" panose="02010600040101010101" pitchFamily="2" charset="-122"/>
              </a:rPr>
              <a:t>() + 1, 1,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else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date = Date(</a:t>
            </a:r>
            <a:r>
              <a:rPr lang="en-US" altLang="zh-CN" sz="2000" b="1" dirty="0" err="1">
                <a:solidFill>
                  <a:srgbClr val="000000"/>
                </a:solidFill>
                <a:latin typeface="Times New Roman" panose="02020603050405020304" pitchFamily="18" charset="0"/>
                <a:ea typeface="华文楷体" panose="02010600040101010101" pitchFamily="2" charset="-122"/>
              </a:rPr>
              <a:t>date.getYear</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date.getMonth</a:t>
            </a:r>
            <a:r>
              <a:rPr lang="en-US" altLang="zh-CN" sz="2000" b="1" dirty="0">
                <a:solidFill>
                  <a:srgbClr val="000000"/>
                </a:solidFill>
                <a:latin typeface="Times New Roman" panose="02020603050405020304" pitchFamily="18" charset="0"/>
                <a:ea typeface="华文楷体" panose="02010600040101010101" pitchFamily="2" charset="-122"/>
              </a:rPr>
              <a:t>() + 1, 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a:t>
            </a:r>
            <a:r>
              <a:rPr lang="en-US" altLang="zh-CN" sz="2000" b="1" dirty="0" err="1">
                <a:solidFill>
                  <a:srgbClr val="000000"/>
                </a:solidFill>
                <a:latin typeface="Times New Roman" panose="02020603050405020304" pitchFamily="18" charset="0"/>
                <a:ea typeface="华文楷体" panose="02010600040101010101" pitchFamily="2" charset="-122"/>
              </a:rPr>
              <a:t>accounts.getSize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accounts[</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]-&gt;settle(date);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break;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while (</a:t>
            </a:r>
            <a:r>
              <a:rPr lang="en-US" altLang="zh-CN" sz="2000" b="1" dirty="0" err="1">
                <a:solidFill>
                  <a:srgbClr val="000000"/>
                </a:solidFill>
                <a:latin typeface="Times New Roman" panose="02020603050405020304" pitchFamily="18" charset="0"/>
                <a:ea typeface="华文楷体" panose="02010600040101010101" pitchFamily="2" charset="-122"/>
              </a:rPr>
              <a:t>cmd</a:t>
            </a:r>
            <a:r>
              <a:rPr lang="en-US" altLang="zh-CN" sz="2000" b="1" dirty="0">
                <a:solidFill>
                  <a:srgbClr val="000000"/>
                </a:solidFill>
                <a:latin typeface="Times New Roman" panose="02020603050405020304" pitchFamily="18" charset="0"/>
                <a:ea typeface="华文楷体" panose="02010600040101010101" pitchFamily="2" charset="-122"/>
              </a:rPr>
              <a:t> != 'e');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a:t>
            </a:r>
            <a:r>
              <a:rPr lang="en-US" altLang="zh-CN" sz="2000" b="1" dirty="0" err="1">
                <a:solidFill>
                  <a:srgbClr val="000000"/>
                </a:solidFill>
                <a:latin typeface="Times New Roman" panose="02020603050405020304" pitchFamily="18" charset="0"/>
                <a:ea typeface="华文楷体" panose="02010600040101010101" pitchFamily="2" charset="-122"/>
              </a:rPr>
              <a:t>accounts.getSize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delete accounts[</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5236" name="标题 1"/>
          <p:cNvSpPr>
            <a:spLocks noGrp="1"/>
          </p:cNvSpPr>
          <p:nvPr>
            <p:ph type="title"/>
          </p:nvPr>
        </p:nvSpPr>
        <p:spPr>
          <a:xfrm>
            <a:off x="5429250" y="500063"/>
            <a:ext cx="3500438" cy="785812"/>
          </a:xfrm>
          <a:solidFill>
            <a:schemeClr val="bg1"/>
          </a:solidFill>
        </p:spPr>
        <p:txBody>
          <a:bodyPr/>
          <a:lstStyle/>
          <a:p>
            <a:r>
              <a:rPr lang="zh-CN" altLang="en-US"/>
              <a:t>例</a:t>
            </a:r>
            <a:r>
              <a:rPr lang="en-US" altLang="zh-CN"/>
              <a:t>9-16</a:t>
            </a:r>
            <a:r>
              <a:rPr lang="zh-CN" altLang="en-US"/>
              <a:t>（续）</a:t>
            </a:r>
            <a:endParaRPr lang="zh-CN" altLang="en-US"/>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96258" name="标题 1"/>
          <p:cNvSpPr>
            <a:spLocks noGrp="1"/>
          </p:cNvSpPr>
          <p:nvPr>
            <p:ph type="title"/>
          </p:nvPr>
        </p:nvSpPr>
        <p:spPr>
          <a:xfrm>
            <a:off x="646113" y="428625"/>
            <a:ext cx="7886700" cy="1325563"/>
          </a:xfrm>
        </p:spPr>
        <p:txBody>
          <a:bodyPr/>
          <a:lstStyle/>
          <a:p>
            <a:r>
              <a:rPr lang="zh-CN" altLang="en-US" b="1" dirty="0"/>
              <a:t>例</a:t>
            </a:r>
            <a:r>
              <a:rPr lang="en-US" altLang="zh-CN" b="1" dirty="0"/>
              <a:t>9-16</a:t>
            </a:r>
            <a:r>
              <a:rPr lang="zh-CN" altLang="en-US" b="1" dirty="0"/>
              <a:t>（续）</a:t>
            </a:r>
            <a:endParaRPr lang="zh-CN" altLang="en-US" b="1" dirty="0"/>
          </a:p>
        </p:txBody>
      </p:sp>
      <p:sp>
        <p:nvSpPr>
          <p:cNvPr id="3" name="内容占位符 2"/>
          <p:cNvSpPr>
            <a:spLocks noGrp="1"/>
          </p:cNvSpPr>
          <p:nvPr>
            <p:ph idx="1"/>
          </p:nvPr>
        </p:nvSpPr>
        <p:spPr>
          <a:xfrm>
            <a:off x="467544" y="1124744"/>
            <a:ext cx="8229600" cy="5016758"/>
          </a:xfrm>
          <a:solidFill>
            <a:srgbClr val="000000"/>
          </a:solidFill>
          <a:ln>
            <a:noFill/>
          </a:ln>
        </p:spPr>
        <p:txBody>
          <a:bodyPr wrap="square">
            <a:spAutoFit/>
          </a:bodyPr>
          <a:lstStyle/>
          <a:p>
            <a:pPr marL="0" indent="0">
              <a:spcBef>
                <a:spcPct val="0"/>
              </a:spcBef>
              <a:buNone/>
            </a:pPr>
            <a:r>
              <a:rPr lang="zh-CN" altLang="en-US" sz="2000" b="1" dirty="0">
                <a:latin typeface="Times New Roman" panose="02020603050405020304" pitchFamily="18" charset="0"/>
                <a:ea typeface="隶书" panose="02010509060101010101" pitchFamily="49" charset="-122"/>
              </a:rPr>
              <a:t>运行结果如下：</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(a)add account (d)deposit (w)withdraw (s)show (c)change day (n)next month (e)exit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Total: 0        command&gt; a s S3755217 0.015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#S3755217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Total: 0        command&gt; a s 02342342 0.015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#02342342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Total: 0        command&gt; a c C5392394 10000 0.0005 50</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#C5392394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Total: 0        command&gt; c 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2008-11-5       Total: 0        command&gt; d 0 5000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2008-11-5       #S3755217       5000    5000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2008-11-5       Total: 5000     command&gt; c 15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2008-11-15      Total: 5000     command&gt; w 2 2000 buy a cell</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2008-11-15      #C5392394       -2000   -2000    buy a cell</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endParaRPr lang="zh-CN" altLang="en-US" sz="2000" b="1" dirty="0">
              <a:latin typeface="Times New Roman" panose="02020603050405020304" pitchFamily="18" charset="0"/>
              <a:ea typeface="隶书" panose="02010509060101010101" pitchFamily="49"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75" y="500063"/>
            <a:ext cx="8858250" cy="6073775"/>
          </a:xfrm>
          <a:solidFill>
            <a:srgbClr val="000000"/>
          </a:solidFill>
          <a:ln>
            <a:noFill/>
          </a:ln>
        </p:spPr>
        <p:txBody>
          <a:bodyPr wrap="square">
            <a:spAutoFit/>
          </a:bodyPr>
          <a:lstStyle/>
          <a:p>
            <a:pPr marL="0" indent="0">
              <a:spcBef>
                <a:spcPct val="0"/>
              </a:spcBef>
              <a:buNone/>
            </a:pPr>
            <a:r>
              <a:rPr lang="en-US" altLang="zh-CN" sz="2000" b="1" dirty="0">
                <a:latin typeface="Times New Roman" panose="02020603050405020304" pitchFamily="18" charset="0"/>
                <a:ea typeface="隶书" panose="02010509060101010101" pitchFamily="49" charset="-122"/>
              </a:rPr>
              <a:t>2008-11-15      Total: 3000     command&gt; c 25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2008-11-25      Total: 3000     command&gt; d 1 10000 sell stock 0323</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2008-11-25      #02342342       10000   10000    sell stock 0323</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2008-11-25      Total: 13000    command&gt; n</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#C5392394       -16     -2016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Total: 12984    command&gt; d 2 2016 repay the credit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#C5392394       2016    0        repay the credit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Total: 15000    command&gt; c 5</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2008-12-5       Total: 15000    command&gt; d 0 5500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2008-12-5       #S3755217       5500    10500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2008-12-5       Total: 20500    command&gt; n</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#S3755217       17.77   10517.8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#02342342       15.16   10015.2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#C5392394       -50     -50     annual fee</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Total: 20482.9  command&gt; s</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[0] S3755217    Balance: 10517.8</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[1] 02342342    Balance: 10015.2</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 C5392394    Balance: -50    Available credit:9950</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Total: 20482.9  command&gt; e</a:t>
            </a:r>
            <a:endParaRPr lang="en-US" altLang="zh-CN" sz="2000" b="1" dirty="0">
              <a:latin typeface="Times New Roman" panose="02020603050405020304" pitchFamily="18" charset="0"/>
              <a:ea typeface="隶书" panose="02010509060101010101" pitchFamily="49" charset="-122"/>
            </a:endParaRPr>
          </a:p>
        </p:txBody>
      </p:sp>
      <p:sp>
        <p:nvSpPr>
          <p:cNvPr id="97285" name="标题 1"/>
          <p:cNvSpPr>
            <a:spLocks noGrp="1"/>
          </p:cNvSpPr>
          <p:nvPr>
            <p:ph type="title"/>
          </p:nvPr>
        </p:nvSpPr>
        <p:spPr>
          <a:xfrm>
            <a:off x="5724128" y="5072063"/>
            <a:ext cx="3248422" cy="638175"/>
          </a:xfrm>
          <a:solidFill>
            <a:schemeClr val="bg1"/>
          </a:solidFill>
        </p:spPr>
        <p:txBody>
          <a:bodyPr/>
          <a:lstStyle/>
          <a:p>
            <a:r>
              <a:rPr lang="zh-CN" altLang="en-US" dirty="0"/>
              <a:t>运行结果（续）</a:t>
            </a:r>
            <a:endParaRPr lang="zh-CN" altLang="en-US" dirty="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052736"/>
            <a:ext cx="8583488" cy="187220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150000"/>
              </a:lnSpc>
              <a:buFont typeface="+mj-lt"/>
              <a:buAutoNum type="arabicPeriod" startAt="5"/>
            </a:pPr>
            <a:r>
              <a:rPr lang="zh-CN" altLang="en-US" sz="6000" b="1" dirty="0">
                <a:solidFill>
                  <a:srgbClr val="FFFFFF"/>
                </a:solidFill>
                <a:ea typeface="华文彩云" panose="02010800040101010101" pitchFamily="2" charset="-122"/>
              </a:rPr>
              <a:t>深度探索</a:t>
            </a:r>
            <a:endParaRPr lang="zh-CN" altLang="en-US" sz="2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标题 1"/>
          <p:cNvSpPr>
            <a:spLocks noGrp="1"/>
          </p:cNvSpPr>
          <p:nvPr>
            <p:ph type="title"/>
          </p:nvPr>
        </p:nvSpPr>
        <p:spPr>
          <a:xfrm>
            <a:off x="683568" y="116632"/>
            <a:ext cx="7886700" cy="1325563"/>
          </a:xfrm>
        </p:spPr>
        <p:txBody>
          <a:bodyPr/>
          <a:lstStyle/>
          <a:p>
            <a:pPr algn="ctr"/>
            <a:r>
              <a:rPr lang="en-US" altLang="zh-CN" sz="4400" b="1" dirty="0">
                <a:latin typeface="Times New Roman" panose="02020603050405020304" pitchFamily="18" charset="0"/>
                <a:ea typeface="隶书" panose="02010509060101010101" pitchFamily="49" charset="-122"/>
              </a:rPr>
              <a:t>9.5.1</a:t>
            </a:r>
            <a:r>
              <a:rPr lang="zh-CN" altLang="en-US" sz="4400" b="1" dirty="0">
                <a:latin typeface="Times New Roman" panose="02020603050405020304" pitchFamily="18" charset="0"/>
                <a:ea typeface="隶书" panose="02010509060101010101" pitchFamily="49" charset="-122"/>
              </a:rPr>
              <a:t>模板的实例化机制</a:t>
            </a:r>
            <a:br>
              <a:rPr lang="en-US" altLang="zh-CN" sz="4400" b="1" dirty="0">
                <a:latin typeface="Times New Roman" panose="02020603050405020304" pitchFamily="18" charset="0"/>
                <a:ea typeface="隶书" panose="02010509060101010101" pitchFamily="49" charset="-122"/>
              </a:rPr>
            </a:br>
            <a:r>
              <a:rPr lang="zh-CN" altLang="en-US" sz="4400" b="1" dirty="0">
                <a:latin typeface="Times New Roman" panose="02020603050405020304" pitchFamily="18" charset="0"/>
                <a:ea typeface="隶书" panose="02010509060101010101" pitchFamily="49" charset="-122"/>
              </a:rPr>
              <a:t>类模板 </a:t>
            </a:r>
            <a:r>
              <a:rPr lang="en-US" altLang="zh-CN" sz="4400" b="1" dirty="0">
                <a:latin typeface="Times New Roman" panose="02020603050405020304" pitchFamily="18" charset="0"/>
                <a:ea typeface="隶书" panose="02010509060101010101" pitchFamily="49" charset="-122"/>
              </a:rPr>
              <a:t>vs </a:t>
            </a:r>
            <a:r>
              <a:rPr lang="zh-CN" altLang="en-US" sz="4400" b="1" dirty="0">
                <a:latin typeface="Times New Roman" panose="02020603050405020304" pitchFamily="18" charset="0"/>
                <a:ea typeface="隶书" panose="02010509060101010101" pitchFamily="49" charset="-122"/>
              </a:rPr>
              <a:t>类</a:t>
            </a:r>
            <a:endParaRPr lang="zh-CN" altLang="en-US" sz="4400" b="1" dirty="0">
              <a:latin typeface="Times New Roman" panose="02020603050405020304" pitchFamily="18" charset="0"/>
              <a:ea typeface="隶书" panose="02010509060101010101" pitchFamily="49" charset="-122"/>
            </a:endParaRPr>
          </a:p>
        </p:txBody>
      </p:sp>
      <p:sp>
        <p:nvSpPr>
          <p:cNvPr id="98307" name="内容占位符 2"/>
          <p:cNvSpPr>
            <a:spLocks noGrp="1"/>
          </p:cNvSpPr>
          <p:nvPr>
            <p:ph idx="1"/>
          </p:nvPr>
        </p:nvSpPr>
        <p:spPr>
          <a:xfrm>
            <a:off x="683568" y="1442195"/>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类模板不能表示具体的数据类型，但类模板的实例化类是数据类型</a:t>
            </a:r>
            <a:endParaRPr lang="zh-CN" altLang="en-US" sz="2400" b="1" dirty="0">
              <a:solidFill>
                <a:srgbClr val="FFFF00"/>
              </a:solidFill>
              <a:ea typeface="华文楷体" panose="02010600040101010101" pitchFamily="2" charset="-122"/>
            </a:endParaRPr>
          </a:p>
          <a:p>
            <a:pPr marL="457200" lvl="1" indent="0">
              <a:buNone/>
            </a:pPr>
            <a:r>
              <a:rPr lang="zh-CN" altLang="en-US" sz="2000" b="1" dirty="0">
                <a:ea typeface="华文楷体" panose="02010600040101010101" pitchFamily="2" charset="-122"/>
              </a:rPr>
              <a:t>例：如要使</a:t>
            </a:r>
            <a:r>
              <a:rPr lang="en-US" altLang="zh-CN" sz="2000" b="1" dirty="0">
                <a:ea typeface="华文楷体" panose="02010600040101010101" pitchFamily="2" charset="-122"/>
              </a:rPr>
              <a:t>reverse</a:t>
            </a:r>
            <a:r>
              <a:rPr lang="zh-CN" altLang="en-US" sz="2000" b="1" dirty="0">
                <a:ea typeface="华文楷体" panose="02010600040101010101" pitchFamily="2" charset="-122"/>
              </a:rPr>
              <a:t>函数接收</a:t>
            </a:r>
            <a:r>
              <a:rPr lang="en-US" altLang="zh-CN" sz="2000" b="1" dirty="0">
                <a:ea typeface="华文楷体" panose="02010600040101010101" pitchFamily="2" charset="-122"/>
              </a:rPr>
              <a:t>Array</a:t>
            </a:r>
            <a:r>
              <a:rPr lang="zh-CN" altLang="en-US" sz="2000" b="1" dirty="0">
                <a:ea typeface="华文楷体" panose="02010600040101010101" pitchFamily="2" charset="-122"/>
              </a:rPr>
              <a:t>的参数</a:t>
            </a:r>
            <a:endParaRPr lang="zh-CN" altLang="en-US"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void reverse(Array &amp;</a:t>
            </a:r>
            <a:r>
              <a:rPr lang="en-US" altLang="zh-CN" sz="2000" b="1" dirty="0" err="1">
                <a:ea typeface="华文楷体" panose="02010600040101010101" pitchFamily="2" charset="-122"/>
              </a:rPr>
              <a:t>arr</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914400" lvl="2" indent="0">
              <a:buNone/>
            </a:pPr>
            <a:r>
              <a:rPr lang="zh-CN" altLang="en-US" sz="2000" b="1" dirty="0">
                <a:ea typeface="华文楷体" panose="02010600040101010101" pitchFamily="2" charset="-122"/>
              </a:rPr>
              <a:t>错误！</a:t>
            </a:r>
            <a:r>
              <a:rPr lang="en-US" altLang="zh-CN" sz="2000" b="1" dirty="0">
                <a:ea typeface="华文楷体" panose="02010600040101010101" pitchFamily="2" charset="-122"/>
              </a:rPr>
              <a:t>Array</a:t>
            </a:r>
            <a:r>
              <a:rPr lang="zh-CN" altLang="en-US" sz="2000" b="1" dirty="0">
                <a:ea typeface="华文楷体" panose="02010600040101010101" pitchFamily="2" charset="-122"/>
              </a:rPr>
              <a:t>是模板，不能当作一个数据类型。</a:t>
            </a:r>
            <a:endParaRPr lang="zh-CN" altLang="en-US"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void reverse(Array&lt;</a:t>
            </a:r>
            <a:r>
              <a:rPr lang="en-US" altLang="zh-CN" sz="2000" b="1" dirty="0" err="1">
                <a:ea typeface="华文楷体" panose="02010600040101010101" pitchFamily="2" charset="-122"/>
              </a:rPr>
              <a:t>int</a:t>
            </a:r>
            <a:r>
              <a:rPr lang="en-US" altLang="zh-CN" sz="2000" b="1" dirty="0">
                <a:ea typeface="华文楷体" panose="02010600040101010101" pitchFamily="2" charset="-122"/>
              </a:rPr>
              <a:t>&gt; &amp;</a:t>
            </a:r>
            <a:r>
              <a:rPr lang="en-US" altLang="zh-CN" sz="2000" b="1" dirty="0" err="1">
                <a:ea typeface="华文楷体" panose="02010600040101010101" pitchFamily="2" charset="-122"/>
              </a:rPr>
              <a:t>arr</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914400" lvl="2" indent="0">
              <a:buNone/>
            </a:pPr>
            <a:r>
              <a:rPr lang="zh-CN" altLang="en-US" sz="2000" b="1" dirty="0">
                <a:ea typeface="华文楷体" panose="02010600040101010101" pitchFamily="2" charset="-122"/>
              </a:rPr>
              <a:t>正确。</a:t>
            </a:r>
            <a:r>
              <a:rPr lang="en-US" altLang="zh-CN" sz="2000" b="1" dirty="0">
                <a:ea typeface="华文楷体" panose="02010600040101010101" pitchFamily="2" charset="-122"/>
              </a:rPr>
              <a:t>Array&lt;</a:t>
            </a:r>
            <a:r>
              <a:rPr lang="en-US" altLang="zh-CN" sz="2000" b="1" dirty="0" err="1">
                <a:ea typeface="华文楷体" panose="02010600040101010101" pitchFamily="2" charset="-122"/>
              </a:rPr>
              <a:t>int</a:t>
            </a:r>
            <a:r>
              <a:rPr lang="en-US" altLang="zh-CN" sz="2000" b="1" dirty="0">
                <a:ea typeface="华文楷体" panose="02010600040101010101" pitchFamily="2" charset="-122"/>
              </a:rPr>
              <a:t>&gt;</a:t>
            </a:r>
            <a:r>
              <a:rPr lang="zh-CN" altLang="en-US" sz="2000" b="1" dirty="0">
                <a:ea typeface="华文楷体" panose="02010600040101010101" pitchFamily="2" charset="-122"/>
              </a:rPr>
              <a:t>是数据类型。</a:t>
            </a:r>
            <a:endParaRPr lang="zh-CN" altLang="en-US"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template &lt;class T&gt; reverse (Array&lt;T&gt; &amp;</a:t>
            </a:r>
            <a:r>
              <a:rPr lang="en-US" altLang="zh-CN" sz="2000" b="1" dirty="0" err="1">
                <a:ea typeface="华文楷体" panose="02010600040101010101" pitchFamily="2" charset="-122"/>
              </a:rPr>
              <a:t>arr</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914400" lvl="2" indent="0">
              <a:buNone/>
            </a:pPr>
            <a:r>
              <a:rPr lang="zh-CN" altLang="en-US" sz="2000" b="1" dirty="0">
                <a:ea typeface="华文楷体" panose="02010600040101010101" pitchFamily="2" charset="-122"/>
              </a:rPr>
              <a:t>正确。</a:t>
            </a:r>
            <a:r>
              <a:rPr lang="en-US" altLang="zh-CN" sz="2000" b="1" dirty="0">
                <a:ea typeface="华文楷体" panose="02010600040101010101" pitchFamily="2" charset="-122"/>
              </a:rPr>
              <a:t>T</a:t>
            </a:r>
            <a:r>
              <a:rPr lang="zh-CN" altLang="en-US" sz="2000" b="1" dirty="0">
                <a:ea typeface="华文楷体" panose="02010600040101010101" pitchFamily="2" charset="-122"/>
              </a:rPr>
              <a:t>虽未定，但</a:t>
            </a:r>
            <a:r>
              <a:rPr lang="en-US" altLang="zh-CN" sz="2000" b="1" dirty="0">
                <a:ea typeface="华文楷体" panose="02010600040101010101" pitchFamily="2" charset="-122"/>
              </a:rPr>
              <a:t>Array&lt;T&gt;</a:t>
            </a:r>
            <a:r>
              <a:rPr lang="zh-CN" altLang="en-US" sz="2000" b="1" dirty="0">
                <a:ea typeface="华文楷体" panose="02010600040101010101" pitchFamily="2" charset="-122"/>
              </a:rPr>
              <a:t>表示的是一个类模板实例。</a:t>
            </a:r>
            <a:endParaRPr lang="zh-CN" altLang="en-US" sz="20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同一模板在不同参数下的实例是完全无关的类型</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彼此不兼容，无法相互赋值</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a:t>
            </a:r>
            <a:r>
              <a:rPr lang="en-US" altLang="zh-CN" sz="2400" b="1" dirty="0">
                <a:ea typeface="华文楷体" panose="02010600040101010101" pitchFamily="2" charset="-122"/>
              </a:rPr>
              <a:t>Store&lt;</a:t>
            </a:r>
            <a:r>
              <a:rPr lang="en-US" altLang="zh-CN" sz="2400" b="1" dirty="0" err="1">
                <a:ea typeface="华文楷体" panose="02010600040101010101" pitchFamily="2" charset="-122"/>
              </a:rPr>
              <a:t>int</a:t>
            </a:r>
            <a:r>
              <a:rPr lang="en-US" altLang="zh-CN" sz="2400" b="1" dirty="0">
                <a:ea typeface="华文楷体" panose="02010600040101010101" pitchFamily="2" charset="-122"/>
              </a:rPr>
              <a:t>&gt;</a:t>
            </a:r>
            <a:r>
              <a:rPr lang="zh-CN" altLang="en-US" sz="2400" b="1" dirty="0">
                <a:ea typeface="华文楷体" panose="02010600040101010101" pitchFamily="2" charset="-122"/>
              </a:rPr>
              <a:t>的对象调用的成员函数，无法直接访问</a:t>
            </a:r>
            <a:r>
              <a:rPr lang="en-US" altLang="zh-CN" sz="2400" b="1" dirty="0">
                <a:ea typeface="华文楷体" panose="02010600040101010101" pitchFamily="2" charset="-122"/>
              </a:rPr>
              <a:t>Store&lt;double&gt;</a:t>
            </a:r>
            <a:r>
              <a:rPr lang="zh-CN" altLang="en-US" sz="2400" b="1" dirty="0">
                <a:ea typeface="华文楷体" panose="02010600040101010101" pitchFamily="2" charset="-122"/>
              </a:rPr>
              <a:t>对象的私有成员</a:t>
            </a:r>
            <a:endParaRPr lang="zh-CN" altLang="en-US" sz="2400" b="1" dirty="0">
              <a:ea typeface="华文楷体" panose="02010600040101010101" pitchFamily="2"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函数模板 </a:t>
            </a:r>
            <a:r>
              <a:rPr lang="en-US" altLang="zh-CN" sz="4400" b="1">
                <a:latin typeface="Times New Roman" panose="02020603050405020304" pitchFamily="18" charset="0"/>
                <a:ea typeface="隶书" panose="02010509060101010101" pitchFamily="49" charset="-122"/>
              </a:rPr>
              <a:t>vs </a:t>
            </a:r>
            <a:r>
              <a:rPr lang="zh-CN" altLang="en-US" sz="4400" b="1">
                <a:latin typeface="Times New Roman" panose="02020603050405020304" pitchFamily="18" charset="0"/>
                <a:ea typeface="隶书" panose="02010509060101010101" pitchFamily="49" charset="-122"/>
              </a:rPr>
              <a:t>函数</a:t>
            </a:r>
            <a:endParaRPr lang="zh-CN" altLang="en-US" sz="4400" b="1">
              <a:latin typeface="Times New Roman" panose="02020603050405020304" pitchFamily="18" charset="0"/>
              <a:ea typeface="隶书" panose="02010509060101010101" pitchFamily="49" charset="-122"/>
            </a:endParaRPr>
          </a:p>
        </p:txBody>
      </p:sp>
      <p:sp>
        <p:nvSpPr>
          <p:cNvPr id="99331" name="内容占位符 2"/>
          <p:cNvSpPr>
            <a:spLocks noGrp="1"/>
          </p:cNvSpPr>
          <p:nvPr>
            <p:ph idx="1"/>
          </p:nvPr>
        </p:nvSpPr>
        <p:spPr>
          <a:xfrm>
            <a:off x="683568" y="1484784"/>
            <a:ext cx="7886700" cy="4752528"/>
          </a:xfrm>
        </p:spPr>
        <p:txBody>
          <a:bodyPr/>
          <a:lstStyle/>
          <a:p>
            <a:pPr>
              <a:spcAft>
                <a:spcPts val="600"/>
              </a:spcAft>
            </a:pPr>
            <a:r>
              <a:rPr lang="zh-CN" altLang="en-US" sz="2400" b="1" dirty="0">
                <a:solidFill>
                  <a:srgbClr val="FFFF00"/>
                </a:solidFill>
                <a:ea typeface="华文楷体" panose="02010600040101010101" pitchFamily="2" charset="-122"/>
              </a:rPr>
              <a:t>函数模板本身不是函数</a:t>
            </a:r>
            <a:endParaRPr lang="zh-CN" altLang="en-US" sz="2400" b="1" dirty="0">
              <a:solidFill>
                <a:srgbClr val="FFFF00"/>
              </a:solidFill>
              <a:ea typeface="华文楷体" panose="02010600040101010101" pitchFamily="2" charset="-122"/>
            </a:endParaRPr>
          </a:p>
          <a:p>
            <a:pPr lvl="1">
              <a:spcAft>
                <a:spcPts val="600"/>
              </a:spcAft>
              <a:buFont typeface="Wingdings" panose="05000000000000000000" pitchFamily="2" charset="2"/>
              <a:buChar char="ü"/>
            </a:pPr>
            <a:r>
              <a:rPr lang="zh-CN" altLang="en-US" sz="2400" b="1" dirty="0">
                <a:ea typeface="华文楷体" panose="02010600040101010101" pitchFamily="2" charset="-122"/>
              </a:rPr>
              <a:t>编译器不会为函数模板本身生成目标代码</a:t>
            </a:r>
            <a:endParaRPr lang="zh-CN" altLang="en-US" sz="2400" b="1" dirty="0">
              <a:ea typeface="华文楷体" panose="02010600040101010101" pitchFamily="2" charset="-122"/>
            </a:endParaRPr>
          </a:p>
          <a:p>
            <a:pPr lvl="1">
              <a:spcAft>
                <a:spcPts val="600"/>
              </a:spcAft>
              <a:buFont typeface="Wingdings" panose="05000000000000000000" pitchFamily="2" charset="2"/>
              <a:buChar char="ü"/>
            </a:pPr>
            <a:r>
              <a:rPr lang="zh-CN" altLang="en-US" sz="2400" b="1" dirty="0">
                <a:ea typeface="华文楷体" panose="02010600040101010101" pitchFamily="2" charset="-122"/>
              </a:rPr>
              <a:t>只有函数模板的实例能被调用</a:t>
            </a:r>
            <a:endParaRPr lang="zh-CN" altLang="en-US" sz="2400" b="1" dirty="0">
              <a:ea typeface="华文楷体" panose="02010600040101010101" pitchFamily="2" charset="-122"/>
            </a:endParaRPr>
          </a:p>
          <a:p>
            <a:pPr>
              <a:spcAft>
                <a:spcPts val="600"/>
              </a:spcAft>
            </a:pPr>
            <a:r>
              <a:rPr lang="zh-CN" altLang="en-US" sz="2400" b="1" dirty="0">
                <a:ea typeface="华文楷体" panose="02010600040101010101" pitchFamily="2" charset="-122"/>
              </a:rPr>
              <a:t>例：考虑下列模板</a:t>
            </a:r>
            <a:br>
              <a:rPr lang="zh-CN" altLang="en-US" sz="2400" b="1" dirty="0">
                <a:ea typeface="华文楷体" panose="02010600040101010101" pitchFamily="2" charset="-122"/>
              </a:rPr>
            </a:br>
            <a:r>
              <a:rPr lang="en-US" altLang="zh-CN" sz="2400" b="1" dirty="0">
                <a:ea typeface="华文楷体" panose="02010600040101010101" pitchFamily="2" charset="-122"/>
              </a:rPr>
              <a:t>template &lt;class T&gt;</a:t>
            </a:r>
            <a:br>
              <a:rPr lang="en-US" altLang="zh-CN" sz="2400" b="1" dirty="0">
                <a:ea typeface="华文楷体" panose="02010600040101010101" pitchFamily="2" charset="-122"/>
              </a:rPr>
            </a:br>
            <a:r>
              <a:rPr lang="en-US" altLang="zh-CN" sz="2400" b="1" dirty="0">
                <a:ea typeface="华文楷体" panose="02010600040101010101" pitchFamily="2" charset="-122"/>
              </a:rPr>
              <a:t>void </a:t>
            </a:r>
            <a:r>
              <a:rPr lang="en-US" altLang="zh-CN" sz="2400" b="1" dirty="0" err="1">
                <a:ea typeface="华文楷体" panose="02010600040101010101" pitchFamily="2" charset="-122"/>
              </a:rPr>
              <a:t>outputArray</a:t>
            </a:r>
            <a:r>
              <a:rPr lang="en-US" altLang="zh-CN" sz="2400" b="1" dirty="0">
                <a:ea typeface="华文楷体" panose="02010600040101010101" pitchFamily="2" charset="-122"/>
              </a:rPr>
              <a:t>(</a:t>
            </a:r>
            <a:r>
              <a:rPr lang="en-US" altLang="zh-CN" sz="2400" b="1" dirty="0" err="1">
                <a:ea typeface="华文楷体" panose="02010600040101010101" pitchFamily="2" charset="-122"/>
              </a:rPr>
              <a:t>const</a:t>
            </a:r>
            <a:r>
              <a:rPr lang="en-US" altLang="zh-CN" sz="2400" b="1" dirty="0">
                <a:ea typeface="华文楷体" panose="02010600040101010101" pitchFamily="2" charset="-122"/>
              </a:rPr>
              <a:t> T *array, </a:t>
            </a:r>
            <a:r>
              <a:rPr lang="en-US" altLang="zh-CN" sz="2400" b="1" dirty="0" err="1">
                <a:ea typeface="华文楷体" panose="02010600040101010101" pitchFamily="2" charset="-122"/>
              </a:rPr>
              <a:t>int</a:t>
            </a:r>
            <a:r>
              <a:rPr lang="en-US" altLang="zh-CN" sz="2400" b="1" dirty="0">
                <a:ea typeface="华文楷体" panose="02010600040101010101" pitchFamily="2" charset="-122"/>
              </a:rPr>
              <a:t> count);</a:t>
            </a:r>
            <a:endParaRPr lang="en-US" altLang="zh-CN" sz="2400" b="1" dirty="0">
              <a:ea typeface="华文楷体" panose="02010600040101010101" pitchFamily="2" charset="-122"/>
            </a:endParaRPr>
          </a:p>
          <a:p>
            <a:pPr lvl="1">
              <a:spcAft>
                <a:spcPts val="600"/>
              </a:spcAft>
              <a:buFont typeface="Wingdings" panose="05000000000000000000" pitchFamily="2" charset="2"/>
              <a:buChar char="ü"/>
            </a:pPr>
            <a:r>
              <a:rPr lang="zh-CN" altLang="en-US" sz="2400" b="1" dirty="0">
                <a:ea typeface="华文楷体" panose="02010600040101010101" pitchFamily="2" charset="-122"/>
              </a:rPr>
              <a:t>若</a:t>
            </a:r>
            <a:r>
              <a:rPr lang="en-US" altLang="zh-CN" sz="2400" b="1" dirty="0">
                <a:ea typeface="华文楷体" panose="02010600040101010101" pitchFamily="2" charset="-122"/>
              </a:rPr>
              <a:t>a</a:t>
            </a:r>
            <a:r>
              <a:rPr lang="zh-CN" altLang="en-US" sz="2400" b="1" dirty="0">
                <a:ea typeface="华文楷体" panose="02010600040101010101" pitchFamily="2" charset="-122"/>
              </a:rPr>
              <a:t>是</a:t>
            </a:r>
            <a:r>
              <a:rPr lang="en-US" altLang="zh-CN" sz="2400" b="1" dirty="0" err="1">
                <a:ea typeface="华文楷体" panose="02010600040101010101" pitchFamily="2" charset="-122"/>
              </a:rPr>
              <a:t>int</a:t>
            </a:r>
            <a:r>
              <a:rPr lang="zh-CN" altLang="en-US" sz="2400" b="1" dirty="0">
                <a:ea typeface="华文楷体" panose="02010600040101010101" pitchFamily="2" charset="-122"/>
              </a:rPr>
              <a:t>数组，</a:t>
            </a:r>
            <a:r>
              <a:rPr lang="en-US" altLang="zh-CN" sz="2400" b="1" dirty="0" err="1">
                <a:ea typeface="华文楷体" panose="02010600040101010101" pitchFamily="2" charset="-122"/>
              </a:rPr>
              <a:t>outputArray</a:t>
            </a:r>
            <a:r>
              <a:rPr lang="en-US" altLang="zh-CN" sz="2400" b="1" dirty="0">
                <a:ea typeface="华文楷体" panose="02010600040101010101" pitchFamily="2" charset="-122"/>
              </a:rPr>
              <a:t>(a, 10)</a:t>
            </a:r>
            <a:r>
              <a:rPr lang="zh-CN" altLang="en-US" sz="2400" b="1" dirty="0">
                <a:ea typeface="华文楷体" panose="02010600040101010101" pitchFamily="2" charset="-122"/>
              </a:rPr>
              <a:t>等价于</a:t>
            </a:r>
            <a:r>
              <a:rPr lang="en-US" altLang="zh-CN" sz="2400" b="1" dirty="0" err="1">
                <a:ea typeface="华文楷体" panose="02010600040101010101" pitchFamily="2" charset="-122"/>
              </a:rPr>
              <a:t>outputArray</a:t>
            </a:r>
            <a:r>
              <a:rPr lang="en-US" altLang="zh-CN" sz="2400" b="1" dirty="0">
                <a:ea typeface="华文楷体" panose="02010600040101010101" pitchFamily="2" charset="-122"/>
              </a:rPr>
              <a:t>&lt;</a:t>
            </a:r>
            <a:r>
              <a:rPr lang="en-US" altLang="zh-CN" sz="2400" b="1" dirty="0" err="1">
                <a:ea typeface="华文楷体" panose="02010600040101010101" pitchFamily="2" charset="-122"/>
              </a:rPr>
              <a:t>int</a:t>
            </a:r>
            <a:r>
              <a:rPr lang="en-US" altLang="zh-CN" sz="2400" b="1" dirty="0">
                <a:ea typeface="华文楷体" panose="02010600040101010101" pitchFamily="2" charset="-122"/>
              </a:rPr>
              <a:t>&gt;(a, 10)</a:t>
            </a:r>
            <a:r>
              <a:rPr lang="zh-CN" altLang="en-US" sz="2400" b="1" dirty="0">
                <a:ea typeface="华文楷体" panose="02010600040101010101" pitchFamily="2" charset="-122"/>
              </a:rPr>
              <a:t>，被调用的是</a:t>
            </a:r>
            <a:r>
              <a:rPr lang="en-US" altLang="zh-CN" sz="2400" b="1" dirty="0" err="1">
                <a:ea typeface="华文楷体" panose="02010600040101010101" pitchFamily="2" charset="-122"/>
              </a:rPr>
              <a:t>outputArray</a:t>
            </a:r>
            <a:r>
              <a:rPr lang="zh-CN" altLang="en-US" sz="2400" b="1" dirty="0">
                <a:ea typeface="华文楷体" panose="02010600040101010101" pitchFamily="2" charset="-122"/>
              </a:rPr>
              <a:t>实例</a:t>
            </a:r>
            <a:endParaRPr lang="zh-CN" altLang="en-US" sz="2400" b="1" dirty="0">
              <a:ea typeface="华文楷体" panose="02010600040101010101" pitchFamily="2" charset="-122"/>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隐含实例化</a:t>
            </a:r>
            <a:endParaRPr lang="zh-CN" altLang="en-US" sz="4400" b="1">
              <a:latin typeface="Times New Roman" panose="02020603050405020304" pitchFamily="18" charset="0"/>
              <a:ea typeface="隶书" panose="02010509060101010101" pitchFamily="49" charset="-122"/>
            </a:endParaRPr>
          </a:p>
        </p:txBody>
      </p:sp>
      <p:sp>
        <p:nvSpPr>
          <p:cNvPr id="100355" name="内容占位符 2"/>
          <p:cNvSpPr>
            <a:spLocks noGrp="1"/>
          </p:cNvSpPr>
          <p:nvPr>
            <p:ph idx="1"/>
          </p:nvPr>
        </p:nvSpPr>
        <p:spPr>
          <a:xfrm>
            <a:off x="755576" y="1196752"/>
            <a:ext cx="7886700" cy="4351338"/>
          </a:xfrm>
        </p:spPr>
        <p:txBody>
          <a:bodyPr/>
          <a:lstStyle/>
          <a:p>
            <a:pPr>
              <a:spcBef>
                <a:spcPts val="600"/>
              </a:spcBef>
              <a:spcAft>
                <a:spcPts val="1200"/>
              </a:spcAft>
            </a:pPr>
            <a:r>
              <a:rPr lang="zh-CN" altLang="en-US" sz="2400" b="1" dirty="0">
                <a:ea typeface="华文楷体" panose="02010600040101010101" pitchFamily="2" charset="-122"/>
              </a:rPr>
              <a:t>模板的实例化</a:t>
            </a:r>
            <a:endParaRPr lang="zh-CN" altLang="en-US" sz="2400" b="1" dirty="0">
              <a:ea typeface="华文楷体" panose="02010600040101010101" pitchFamily="2" charset="-122"/>
            </a:endParaRPr>
          </a:p>
          <a:p>
            <a:pPr lvl="1">
              <a:spcBef>
                <a:spcPts val="600"/>
              </a:spcBef>
              <a:spcAft>
                <a:spcPts val="1200"/>
              </a:spcAft>
              <a:buFont typeface="Wingdings" panose="05000000000000000000" pitchFamily="2" charset="2"/>
              <a:buChar char="ü"/>
            </a:pPr>
            <a:r>
              <a:rPr lang="zh-CN" altLang="en-US" sz="2400" b="1" dirty="0">
                <a:ea typeface="华文楷体" panose="02010600040101010101" pitchFamily="2" charset="-122"/>
              </a:rPr>
              <a:t>根据函数模板生成具体的函数、或根据类模板生成具体的类的过程</a:t>
            </a:r>
            <a:endParaRPr lang="zh-CN" altLang="en-US" sz="2400" b="1" dirty="0">
              <a:ea typeface="华文楷体" panose="02010600040101010101" pitchFamily="2" charset="-122"/>
            </a:endParaRPr>
          </a:p>
          <a:p>
            <a:pPr>
              <a:spcBef>
                <a:spcPts val="600"/>
              </a:spcBef>
              <a:spcAft>
                <a:spcPts val="1200"/>
              </a:spcAft>
            </a:pPr>
            <a:r>
              <a:rPr lang="zh-CN" altLang="en-US" sz="2400" b="1" dirty="0">
                <a:ea typeface="华文楷体" panose="02010600040101010101" pitchFamily="2" charset="-122"/>
              </a:rPr>
              <a:t>隐含实例化</a:t>
            </a:r>
            <a:endParaRPr lang="zh-CN" altLang="en-US" sz="2400" b="1" dirty="0">
              <a:ea typeface="华文楷体" panose="02010600040101010101" pitchFamily="2" charset="-122"/>
            </a:endParaRPr>
          </a:p>
          <a:p>
            <a:pPr lvl="1">
              <a:spcBef>
                <a:spcPts val="600"/>
              </a:spcBef>
              <a:spcAft>
                <a:spcPts val="1200"/>
              </a:spcAft>
              <a:buFont typeface="Wingdings" panose="05000000000000000000" pitchFamily="2" charset="2"/>
              <a:buChar char="ü"/>
            </a:pPr>
            <a:r>
              <a:rPr lang="zh-CN" altLang="en-US" sz="2400" b="1" dirty="0">
                <a:ea typeface="华文楷体" panose="02010600040101010101" pitchFamily="2" charset="-122"/>
              </a:rPr>
              <a:t>编译器会自动按需对模板实例化</a:t>
            </a:r>
            <a:endParaRPr lang="zh-CN" altLang="en-US" sz="2400" b="1" dirty="0">
              <a:ea typeface="华文楷体" panose="02010600040101010101" pitchFamily="2" charset="-122"/>
            </a:endParaRPr>
          </a:p>
          <a:p>
            <a:pPr lvl="1">
              <a:spcBef>
                <a:spcPts val="600"/>
              </a:spcBef>
              <a:spcAft>
                <a:spcPts val="1200"/>
              </a:spcAft>
              <a:buFont typeface="Wingdings" panose="05000000000000000000" pitchFamily="2" charset="2"/>
              <a:buChar char="ü"/>
            </a:pPr>
            <a:r>
              <a:rPr lang="zh-CN" altLang="en-US" sz="2400" b="1" dirty="0">
                <a:ea typeface="华文楷体" panose="02010600040101010101" pitchFamily="2" charset="-122"/>
              </a:rPr>
              <a:t>所有会被使用的模板实例会被生成</a:t>
            </a:r>
            <a:endParaRPr lang="zh-CN" altLang="en-US" sz="2400" b="1" dirty="0">
              <a:ea typeface="华文楷体" panose="02010600040101010101" pitchFamily="2" charset="-122"/>
            </a:endParaRPr>
          </a:p>
          <a:p>
            <a:pPr lvl="1">
              <a:spcBef>
                <a:spcPts val="600"/>
              </a:spcBef>
              <a:spcAft>
                <a:spcPts val="1200"/>
              </a:spcAft>
              <a:buFont typeface="Wingdings" panose="05000000000000000000" pitchFamily="2" charset="2"/>
              <a:buChar char="ü"/>
            </a:pPr>
            <a:r>
              <a:rPr lang="zh-CN" altLang="en-US" sz="2400" b="1" dirty="0">
                <a:ea typeface="华文楷体" panose="02010600040101010101" pitchFamily="2" charset="-122"/>
              </a:rPr>
              <a:t>对类模板的隐含实例化并不意味着对它成员函数的定义也进行实例化，当类模板成员函数会被使用时，才会被实例化</a:t>
            </a:r>
            <a:endParaRPr lang="zh-CN" altLang="en-US" sz="2400" b="1" dirty="0">
              <a:ea typeface="华文楷体" panose="02010600040101010101" pitchFamily="2"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多文件结构中模板的组织</a:t>
            </a:r>
            <a:endParaRPr lang="zh-CN" altLang="en-US" sz="4400" b="1">
              <a:latin typeface="Times New Roman" panose="02020603050405020304" pitchFamily="18" charset="0"/>
              <a:ea typeface="隶书" panose="02010509060101010101" pitchFamily="49" charset="-122"/>
            </a:endParaRPr>
          </a:p>
        </p:txBody>
      </p:sp>
      <p:sp>
        <p:nvSpPr>
          <p:cNvPr id="101379" name="内容占位符 2"/>
          <p:cNvSpPr>
            <a:spLocks noGrp="1"/>
          </p:cNvSpPr>
          <p:nvPr>
            <p:ph idx="1"/>
          </p:nvPr>
        </p:nvSpPr>
        <p:spPr>
          <a:xfrm>
            <a:off x="683568" y="1268760"/>
            <a:ext cx="7886700" cy="4351338"/>
          </a:xfrm>
        </p:spPr>
        <p:txBody>
          <a:bodyPr/>
          <a:lstStyle/>
          <a:p>
            <a:pPr>
              <a:spcAft>
                <a:spcPct val="25000"/>
              </a:spcAft>
            </a:pPr>
            <a:r>
              <a:rPr lang="zh-CN" altLang="en-US" sz="2400" b="1">
                <a:ea typeface="华文楷体" panose="02010600040101010101" pitchFamily="2" charset="-122"/>
              </a:rPr>
              <a:t>模板实例化机制带来的新问题</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不能把下面与模板相关的定义放在源文件中</a:t>
            </a:r>
            <a:endParaRPr lang="zh-CN" altLang="en-US" sz="2400"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函数模板的定义</a:t>
            </a:r>
            <a:endParaRPr lang="zh-CN" altLang="en-US"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类模板成员函数</a:t>
            </a:r>
            <a:endParaRPr lang="zh-CN" altLang="en-US"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类模板静态数据成员</a:t>
            </a:r>
            <a:endParaRPr lang="zh-CN" altLang="en-US" b="1">
              <a:ea typeface="华文楷体" panose="02010600040101010101" pitchFamily="2" charset="-122"/>
            </a:endParaRPr>
          </a:p>
          <a:p>
            <a:pPr>
              <a:spcAft>
                <a:spcPct val="25000"/>
              </a:spcAft>
            </a:pPr>
            <a:r>
              <a:rPr lang="zh-CN" altLang="en-US" sz="2400" b="1">
                <a:ea typeface="华文楷体" panose="02010600040101010101" pitchFamily="2" charset="-122"/>
              </a:rPr>
              <a:t>解决方法</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把与模板相关的定义放在头文件中</a:t>
            </a:r>
            <a:r>
              <a:rPr lang="en-US" altLang="zh-CN" sz="2400" b="1">
                <a:ea typeface="华文楷体" panose="02010600040101010101" pitchFamily="2" charset="-122"/>
              </a:rPr>
              <a:t>——</a:t>
            </a:r>
            <a:r>
              <a:rPr lang="zh-CN" altLang="en-US" sz="2400" b="1">
                <a:ea typeface="华文楷体" panose="02010600040101010101" pitchFamily="2" charset="-122"/>
              </a:rPr>
              <a:t>最通常的解决办法</a:t>
            </a:r>
            <a:endParaRPr lang="zh-CN" altLang="en-US" sz="2400" b="1">
              <a:ea typeface="华文楷体" panose="02010600040101010101" pitchFamily="2" charset="-122"/>
            </a:endParaRPr>
          </a:p>
          <a:p>
            <a:pPr lvl="2">
              <a:buFont typeface="Wingdings" panose="05000000000000000000" pitchFamily="2" charset="2"/>
              <a:buChar char="ü"/>
            </a:pPr>
            <a:r>
              <a:rPr lang="zh-CN" altLang="en-US" b="1">
                <a:ea typeface="华文楷体" panose="02010600040101010101" pitchFamily="2" charset="-122"/>
              </a:rPr>
              <a:t>编译器有特殊处理，保证不会有连接冲突</a:t>
            </a:r>
            <a:endParaRPr lang="zh-CN" altLang="en-US"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使用</a:t>
            </a:r>
            <a:r>
              <a:rPr lang="en-US" altLang="zh-CN" sz="2400" b="1">
                <a:ea typeface="华文楷体" panose="02010600040101010101" pitchFamily="2" charset="-122"/>
              </a:rPr>
              <a:t>export</a:t>
            </a:r>
            <a:r>
              <a:rPr lang="zh-CN" altLang="en-US" sz="2400" b="1">
                <a:ea typeface="华文楷体" panose="02010600040101010101" pitchFamily="2" charset="-122"/>
              </a:rPr>
              <a:t>关键字</a:t>
            </a:r>
            <a:r>
              <a:rPr lang="en-US" altLang="zh-CN" sz="2400" b="1">
                <a:ea typeface="华文楷体" panose="02010600040101010101" pitchFamily="2" charset="-122"/>
              </a:rPr>
              <a:t>——</a:t>
            </a:r>
            <a:r>
              <a:rPr lang="zh-CN" altLang="en-US" sz="2400" b="1">
                <a:ea typeface="华文楷体" panose="02010600040101010101" pitchFamily="2" charset="-122"/>
              </a:rPr>
              <a:t>编译器支持不好</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使用模板的显式实例化机制</a:t>
            </a:r>
            <a:endParaRPr lang="zh-CN" altLang="en-US" sz="2400" b="1">
              <a:ea typeface="华文楷体" panose="02010600040101010101" pitchFamily="2"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显式实例化</a:t>
            </a:r>
            <a:endParaRPr lang="zh-CN" altLang="en-US" sz="4400" b="1">
              <a:latin typeface="Times New Roman" panose="02020603050405020304" pitchFamily="18" charset="0"/>
              <a:ea typeface="隶书" panose="02010509060101010101" pitchFamily="49" charset="-122"/>
            </a:endParaRPr>
          </a:p>
        </p:txBody>
      </p:sp>
      <p:sp>
        <p:nvSpPr>
          <p:cNvPr id="102403" name="内容占位符 2"/>
          <p:cNvSpPr>
            <a:spLocks noGrp="1"/>
          </p:cNvSpPr>
          <p:nvPr>
            <p:ph idx="1"/>
          </p:nvPr>
        </p:nvSpPr>
        <p:spPr>
          <a:xfrm>
            <a:off x="683568" y="1268760"/>
            <a:ext cx="8280920" cy="4351338"/>
          </a:xfrm>
        </p:spPr>
        <p:txBody>
          <a:bodyPr/>
          <a:lstStyle/>
          <a:p>
            <a:pPr>
              <a:spcAft>
                <a:spcPct val="25000"/>
              </a:spcAft>
            </a:pPr>
            <a:r>
              <a:rPr lang="zh-CN" altLang="en-US" sz="2400" b="1" dirty="0">
                <a:ea typeface="华文楷体" panose="02010600040101010101" pitchFamily="2" charset="-122"/>
              </a:rPr>
              <a:t>语法形式：</a:t>
            </a:r>
            <a:r>
              <a:rPr lang="en-US" altLang="zh-CN" sz="2400" b="1" dirty="0">
                <a:solidFill>
                  <a:srgbClr val="FFFF00"/>
                </a:solidFill>
                <a:ea typeface="华文楷体" panose="02010600040101010101" pitchFamily="2" charset="-122"/>
              </a:rPr>
              <a:t>template </a:t>
            </a:r>
            <a:r>
              <a:rPr lang="zh-CN" altLang="en-US" sz="2400" b="1" dirty="0">
                <a:solidFill>
                  <a:srgbClr val="FFFF00"/>
                </a:solidFill>
                <a:ea typeface="华文楷体" panose="02010600040101010101" pitchFamily="2" charset="-122"/>
              </a:rPr>
              <a:t>实例化目标的声明</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作用：一个模板实例无论是否在本编译单元中被使用，都会被生成</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endParaRPr lang="zh-CN" altLang="en-US" sz="2400" b="1" dirty="0">
              <a:ea typeface="华文楷体" panose="02010600040101010101" pitchFamily="2" charset="-122"/>
            </a:endParaRPr>
          </a:p>
          <a:p>
            <a:pPr marL="857250" lvl="2" indent="0">
              <a:buNone/>
            </a:pPr>
            <a:r>
              <a:rPr lang="en-US" altLang="zh-CN" b="1" dirty="0">
                <a:ea typeface="华文楷体" panose="02010600040101010101" pitchFamily="2" charset="-122"/>
              </a:rPr>
              <a:t>template void </a:t>
            </a:r>
            <a:r>
              <a:rPr lang="en-US" altLang="zh-CN" b="1" dirty="0" err="1">
                <a:ea typeface="华文楷体" panose="02010600040101010101" pitchFamily="2" charset="-122"/>
              </a:rPr>
              <a:t>outputArray</a:t>
            </a:r>
            <a:r>
              <a:rPr lang="en-US" altLang="zh-CN" b="1" dirty="0">
                <a:ea typeface="华文楷体" panose="02010600040101010101" pitchFamily="2" charset="-122"/>
              </a:rPr>
              <a:t>(</a:t>
            </a:r>
            <a:r>
              <a:rPr lang="en-US" altLang="zh-CN" b="1" dirty="0" err="1">
                <a:ea typeface="华文楷体" panose="02010600040101010101" pitchFamily="2" charset="-122"/>
              </a:rPr>
              <a:t>const</a:t>
            </a:r>
            <a:r>
              <a:rPr lang="en-US" altLang="zh-CN" b="1" dirty="0">
                <a:ea typeface="华文楷体" panose="02010600040101010101" pitchFamily="2" charset="-122"/>
              </a:rPr>
              <a:t> </a:t>
            </a:r>
            <a:r>
              <a:rPr lang="en-US" altLang="zh-CN" b="1" dirty="0" err="1">
                <a:ea typeface="华文楷体" panose="02010600040101010101" pitchFamily="2" charset="-122"/>
              </a:rPr>
              <a:t>int</a:t>
            </a:r>
            <a:r>
              <a:rPr lang="en-US" altLang="zh-CN" b="1" dirty="0">
                <a:ea typeface="华文楷体" panose="02010600040101010101" pitchFamily="2" charset="-122"/>
              </a:rPr>
              <a:t> *array, </a:t>
            </a:r>
            <a:r>
              <a:rPr lang="en-US" altLang="zh-CN" b="1" dirty="0" err="1">
                <a:ea typeface="华文楷体" panose="02010600040101010101" pitchFamily="2" charset="-122"/>
              </a:rPr>
              <a:t>int</a:t>
            </a:r>
            <a:r>
              <a:rPr lang="en-US" altLang="zh-CN" b="1" dirty="0">
                <a:ea typeface="华文楷体" panose="02010600040101010101" pitchFamily="2" charset="-122"/>
              </a:rPr>
              <a:t> count);</a:t>
            </a:r>
            <a:endParaRPr lang="en-US" altLang="zh-CN" b="1" dirty="0">
              <a:ea typeface="华文楷体" panose="02010600040101010101" pitchFamily="2" charset="-122"/>
            </a:endParaRPr>
          </a:p>
          <a:p>
            <a:pPr marL="857250" lvl="2" indent="0">
              <a:buNone/>
            </a:pPr>
            <a:r>
              <a:rPr lang="en-US" altLang="zh-CN" b="1" dirty="0">
                <a:ea typeface="华文楷体" panose="02010600040101010101" pitchFamily="2" charset="-122"/>
              </a:rPr>
              <a:t>template class Store&lt;double&gt;;</a:t>
            </a:r>
            <a:endParaRPr lang="en-US" altLang="zh-CN" b="1" dirty="0">
              <a:ea typeface="华文楷体" panose="02010600040101010101" pitchFamily="2" charset="-122"/>
            </a:endParaRPr>
          </a:p>
          <a:p>
            <a:pPr>
              <a:spcAft>
                <a:spcPct val="25000"/>
              </a:spcAft>
            </a:pPr>
            <a:r>
              <a:rPr lang="zh-CN" altLang="en-US" sz="2400" b="1" dirty="0">
                <a:ea typeface="华文楷体" panose="02010600040101010101" pitchFamily="2" charset="-122"/>
              </a:rPr>
              <a:t>在多文件结构中的用途</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使用在程序中可能会被用到的各种参数对模板显式实例化，使得与模板相关的定义可以放在源文件中</a:t>
            </a:r>
            <a:endParaRPr lang="zh-CN" altLang="en-US" sz="2400" b="1" dirty="0">
              <a:ea typeface="华文楷体" panose="02010600040101010101" pitchFamily="2"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标题 1"/>
          <p:cNvSpPr>
            <a:spLocks noGrp="1"/>
          </p:cNvSpPr>
          <p:nvPr>
            <p:ph type="title"/>
          </p:nvPr>
        </p:nvSpPr>
        <p:spPr>
          <a:xfrm>
            <a:off x="611560" y="332656"/>
            <a:ext cx="7886700" cy="1325563"/>
          </a:xfrm>
        </p:spPr>
        <p:txBody>
          <a:bodyPr/>
          <a:lstStyle/>
          <a:p>
            <a:pPr algn="ctr"/>
            <a:r>
              <a:rPr lang="en-US" altLang="zh-CN" sz="4400" b="1">
                <a:latin typeface="Times New Roman" panose="02020603050405020304" pitchFamily="18" charset="0"/>
                <a:ea typeface="隶书" panose="02010509060101010101" pitchFamily="49" charset="-122"/>
              </a:rPr>
              <a:t>9.5.2 </a:t>
            </a:r>
            <a:r>
              <a:rPr lang="zh-CN" altLang="en-US" sz="4400" b="1">
                <a:latin typeface="Times New Roman" panose="02020603050405020304" pitchFamily="18" charset="0"/>
                <a:ea typeface="隶书" panose="02010509060101010101" pitchFamily="49" charset="-122"/>
              </a:rPr>
              <a:t>为模板定义特殊的实现</a:t>
            </a:r>
            <a:endParaRPr lang="zh-CN" altLang="en-US" sz="4400" b="1">
              <a:latin typeface="Times New Roman" panose="02020603050405020304" pitchFamily="18" charset="0"/>
              <a:ea typeface="隶书" panose="02010509060101010101" pitchFamily="49" charset="-122"/>
            </a:endParaRPr>
          </a:p>
        </p:txBody>
      </p:sp>
      <p:sp>
        <p:nvSpPr>
          <p:cNvPr id="103427" name="内容占位符 2"/>
          <p:cNvSpPr>
            <a:spLocks noGrp="1"/>
          </p:cNvSpPr>
          <p:nvPr>
            <p:ph idx="1"/>
          </p:nvPr>
        </p:nvSpPr>
        <p:spPr>
          <a:xfrm>
            <a:off x="683568" y="1484784"/>
            <a:ext cx="7886700" cy="4351338"/>
          </a:xfrm>
        </p:spPr>
        <p:txBody>
          <a:bodyPr/>
          <a:lstStyle/>
          <a:p>
            <a:pPr>
              <a:spcAft>
                <a:spcPct val="25000"/>
              </a:spcAft>
            </a:pPr>
            <a:r>
              <a:rPr lang="zh-CN" altLang="en-US" sz="2400" b="1" dirty="0">
                <a:ea typeface="华文楷体" panose="02010600040101010101" pitchFamily="2" charset="-122"/>
              </a:rPr>
              <a:t>为什么要定义特殊的实现？</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模板抓住了算法与数据结构上的共性，但忽略了类型的个性</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设计出的模板对于具体的数据类型而言未必具有最好的效率</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Stack</a:t>
            </a:r>
            <a:r>
              <a:rPr lang="zh-CN" altLang="en-US" sz="2400" b="1" dirty="0">
                <a:ea typeface="华文楷体" panose="02010600040101010101" pitchFamily="2" charset="-122"/>
              </a:rPr>
              <a:t>类模板</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如果以</a:t>
            </a:r>
            <a:r>
              <a:rPr lang="en-US" altLang="zh-CN" sz="2400" b="1" dirty="0">
                <a:ea typeface="华文楷体" panose="02010600040101010101" pitchFamily="2" charset="-122"/>
              </a:rPr>
              <a:t>bool</a:t>
            </a:r>
            <a:r>
              <a:rPr lang="zh-CN" altLang="en-US" sz="2400" b="1" dirty="0">
                <a:ea typeface="华文楷体" panose="02010600040101010101" pitchFamily="2" charset="-122"/>
              </a:rPr>
              <a:t>作为类型参数，则有</a:t>
            </a:r>
            <a:r>
              <a:rPr lang="en-US" altLang="zh-CN" sz="2400" b="1" dirty="0">
                <a:ea typeface="华文楷体" panose="02010600040101010101" pitchFamily="2" charset="-122"/>
              </a:rPr>
              <a:t>7/8</a:t>
            </a:r>
            <a:r>
              <a:rPr lang="zh-CN" altLang="en-US" sz="2400" b="1" dirty="0">
                <a:ea typeface="华文楷体" panose="02010600040101010101" pitchFamily="2" charset="-122"/>
              </a:rPr>
              <a:t>的空间浪费</a:t>
            </a:r>
            <a:endParaRPr lang="zh-CN" altLang="en-US" sz="2400" b="1" dirty="0">
              <a:ea typeface="华文楷体" panose="02010600040101010101" pitchFamily="2" charset="-122"/>
            </a:endParaRPr>
          </a:p>
          <a:p>
            <a:pPr lvl="1">
              <a:buFont typeface="Wingdings" panose="05000000000000000000" pitchFamily="2" charset="2"/>
              <a:buChar char="ü"/>
            </a:pPr>
            <a:r>
              <a:rPr lang="en-US" altLang="zh-CN" sz="2400" b="1" dirty="0">
                <a:ea typeface="华文楷体" panose="02010600040101010101" pitchFamily="2" charset="-122"/>
              </a:rPr>
              <a:t>Stack&lt;bool,32&gt;</a:t>
            </a:r>
            <a:r>
              <a:rPr lang="zh-CN" altLang="en-US" sz="2400" b="1" dirty="0">
                <a:ea typeface="华文楷体" panose="02010600040101010101" pitchFamily="2" charset="-122"/>
              </a:rPr>
              <a:t>中的</a:t>
            </a:r>
            <a:r>
              <a:rPr lang="en-US" altLang="zh-CN" sz="2400" b="1" dirty="0">
                <a:ea typeface="华文楷体" panose="02010600040101010101" pitchFamily="2" charset="-122"/>
              </a:rPr>
              <a:t>list</a:t>
            </a:r>
            <a:r>
              <a:rPr lang="zh-CN" altLang="en-US" sz="2400" b="1" dirty="0">
                <a:ea typeface="华文楷体" panose="02010600040101010101" pitchFamily="2" charset="-122"/>
              </a:rPr>
              <a:t>数组占</a:t>
            </a:r>
            <a:r>
              <a:rPr lang="en-US" altLang="zh-CN" sz="2400" b="1" dirty="0">
                <a:ea typeface="华文楷体" panose="02010600040101010101" pitchFamily="2" charset="-122"/>
              </a:rPr>
              <a:t>32</a:t>
            </a:r>
            <a:r>
              <a:rPr lang="zh-CN" altLang="en-US" sz="2400" b="1" dirty="0">
                <a:ea typeface="华文楷体" panose="02010600040101010101" pitchFamily="2" charset="-122"/>
              </a:rPr>
              <a:t>个字节，实际上</a:t>
            </a:r>
            <a:r>
              <a:rPr lang="en-US" altLang="zh-CN" sz="2400" b="1" dirty="0">
                <a:ea typeface="华文楷体" panose="02010600040101010101" pitchFamily="2" charset="-122"/>
              </a:rPr>
              <a:t>4</a:t>
            </a:r>
            <a:r>
              <a:rPr lang="zh-CN" altLang="en-US" sz="2400" b="1" dirty="0">
                <a:ea typeface="华文楷体" panose="02010600040101010101" pitchFamily="2" charset="-122"/>
              </a:rPr>
              <a:t>个字节就够</a:t>
            </a:r>
            <a:endParaRPr lang="zh-CN" altLang="en-US" sz="2400" b="1" dirty="0">
              <a:ea typeface="华文楷体" panose="02010600040101010101" pitchFamily="2"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模板的特化</a:t>
            </a:r>
            <a:endParaRPr lang="zh-CN" altLang="en-US" sz="4400" b="1">
              <a:latin typeface="Times New Roman" panose="02020603050405020304" pitchFamily="18" charset="0"/>
              <a:ea typeface="隶书" panose="02010509060101010101" pitchFamily="49" charset="-122"/>
            </a:endParaRPr>
          </a:p>
        </p:txBody>
      </p:sp>
      <p:sp>
        <p:nvSpPr>
          <p:cNvPr id="104451" name="内容占位符 2"/>
          <p:cNvSpPr>
            <a:spLocks noGrp="1"/>
          </p:cNvSpPr>
          <p:nvPr>
            <p:ph sz="half" idx="1"/>
          </p:nvPr>
        </p:nvSpPr>
        <p:spPr>
          <a:xfrm>
            <a:off x="457200" y="1785938"/>
            <a:ext cx="4038600" cy="4989512"/>
          </a:xfrm>
        </p:spPr>
        <p:txBody>
          <a:bodyPr/>
          <a:lstStyle/>
          <a:p>
            <a:pPr>
              <a:lnSpc>
                <a:spcPct val="150000"/>
              </a:lnSpc>
              <a:spcAft>
                <a:spcPct val="25000"/>
              </a:spcAft>
            </a:pPr>
            <a:r>
              <a:rPr lang="zh-CN" altLang="en-US" sz="2400" b="1" dirty="0">
                <a:ea typeface="华文楷体" panose="02010600040101010101" pitchFamily="2" charset="-122"/>
              </a:rPr>
              <a:t>什么是特化</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为一个模板在特定参数下提供特殊定义</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既适用于类模板，又适用于函数模板</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对</a:t>
            </a:r>
            <a:r>
              <a:rPr lang="en-US" altLang="zh-CN" sz="2400" b="1" dirty="0">
                <a:ea typeface="华文楷体" panose="02010600040101010101" pitchFamily="2" charset="-122"/>
              </a:rPr>
              <a:t>Stack&lt;bool, 32&gt;</a:t>
            </a:r>
            <a:r>
              <a:rPr lang="zh-CN" altLang="en-US" sz="2400" b="1" dirty="0">
                <a:ea typeface="华文楷体" panose="02010600040101010101" pitchFamily="2" charset="-122"/>
              </a:rPr>
              <a:t>特化的类定义</a:t>
            </a:r>
            <a:endParaRPr lang="zh-CN" altLang="en-US" sz="2400" b="1" dirty="0">
              <a:ea typeface="华文楷体" panose="02010600040101010101" pitchFamily="2" charset="-122"/>
            </a:endParaRPr>
          </a:p>
          <a:p>
            <a:pPr>
              <a:lnSpc>
                <a:spcPct val="150000"/>
              </a:lnSpc>
              <a:spcAft>
                <a:spcPct val="25000"/>
              </a:spcAft>
            </a:pPr>
            <a:endParaRPr lang="fr-FR" altLang="zh-CN" sz="2400" b="1" dirty="0">
              <a:ea typeface="华文楷体" panose="02010600040101010101" pitchFamily="2" charset="-122"/>
            </a:endParaRPr>
          </a:p>
        </p:txBody>
      </p:sp>
      <p:sp>
        <p:nvSpPr>
          <p:cNvPr id="104452" name="内容占位符 3"/>
          <p:cNvSpPr>
            <a:spLocks noGrp="1"/>
          </p:cNvSpPr>
          <p:nvPr>
            <p:ph sz="half" idx="2"/>
          </p:nvPr>
        </p:nvSpPr>
        <p:spPr>
          <a:xfrm>
            <a:off x="4648200" y="1785938"/>
            <a:ext cx="4038600" cy="470898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Stack&lt;bool, 32&gt;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unsigned list;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top;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Stack();</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push(bool item);</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pop();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void clear();</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peek()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a:t>
            </a:r>
            <a:r>
              <a:rPr lang="en-US" altLang="zh-CN" sz="2000" b="1" dirty="0" err="1">
                <a:solidFill>
                  <a:srgbClr val="000000"/>
                </a:solidFill>
                <a:latin typeface="Times New Roman" panose="02020603050405020304" pitchFamily="18" charset="0"/>
                <a:ea typeface="华文楷体" panose="02010600040101010101" pitchFamily="2" charset="-122"/>
              </a:rPr>
              <a:t>isEmpty</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bool </a:t>
            </a:r>
            <a:r>
              <a:rPr lang="en-US" altLang="zh-CN" sz="2000" b="1" dirty="0" err="1">
                <a:solidFill>
                  <a:srgbClr val="000000"/>
                </a:solidFill>
                <a:latin typeface="Times New Roman" panose="02020603050405020304" pitchFamily="18" charset="0"/>
                <a:ea typeface="华文楷体" panose="02010600040101010101" pitchFamily="2" charset="-122"/>
              </a:rPr>
              <a:t>isFull</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04454" name="Line 1029"/>
          <p:cNvSpPr>
            <a:spLocks noChangeShapeType="1"/>
          </p:cNvSpPr>
          <p:nvPr/>
        </p:nvSpPr>
        <p:spPr bwMode="auto">
          <a:xfrm>
            <a:off x="4572000" y="1733550"/>
            <a:ext cx="0" cy="464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5475"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模板的特化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105476" name="内容占位符 2"/>
          <p:cNvSpPr>
            <a:spLocks noGrp="1"/>
          </p:cNvSpPr>
          <p:nvPr>
            <p:ph idx="1"/>
          </p:nvPr>
        </p:nvSpPr>
        <p:spPr>
          <a:xfrm>
            <a:off x="628650" y="1825625"/>
            <a:ext cx="7886700" cy="440120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特化类的部分成员函数定义</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Stack&lt;bool, 32&gt;::push(bool item)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assert(!isFull());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++top;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list = (list &lt;&lt; 1) | (item ? 1 :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bool Stack&lt;bool, 32&gt;::pop()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assert(!isEmpty());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bool result = ((list &amp; 1) == 1);</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list &gt;&gt;= 1; --top;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result;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类模板的偏特化</a:t>
            </a:r>
            <a:endParaRPr lang="zh-CN" altLang="en-US" sz="4400" b="1">
              <a:latin typeface="Times New Roman" panose="02020603050405020304" pitchFamily="18" charset="0"/>
              <a:ea typeface="隶书" panose="02010509060101010101" pitchFamily="49" charset="-122"/>
            </a:endParaRPr>
          </a:p>
        </p:txBody>
      </p:sp>
      <p:sp>
        <p:nvSpPr>
          <p:cNvPr id="106499" name="内容占位符 2"/>
          <p:cNvSpPr>
            <a:spLocks noGrp="1"/>
          </p:cNvSpPr>
          <p:nvPr>
            <p:ph sz="half" idx="1"/>
          </p:nvPr>
        </p:nvSpPr>
        <p:spPr>
          <a:xfrm>
            <a:off x="461963" y="1733550"/>
            <a:ext cx="4038600" cy="4989512"/>
          </a:xfrm>
        </p:spPr>
        <p:txBody>
          <a:bodyPr/>
          <a:lstStyle/>
          <a:p>
            <a:pPr>
              <a:spcAft>
                <a:spcPct val="25000"/>
              </a:spcAft>
            </a:pPr>
            <a:r>
              <a:rPr lang="zh-CN" altLang="en-US" sz="2400" b="1">
                <a:ea typeface="华文楷体" panose="02010600040101010101" pitchFamily="2" charset="-122"/>
              </a:rPr>
              <a:t>对</a:t>
            </a:r>
            <a:r>
              <a:rPr lang="en-US" altLang="zh-CN" sz="2400" b="1">
                <a:ea typeface="华文楷体" panose="02010600040101010101" pitchFamily="2" charset="-122"/>
              </a:rPr>
              <a:t>Stack&lt;bool,32&gt;</a:t>
            </a:r>
            <a:r>
              <a:rPr lang="zh-CN" altLang="en-US" sz="2400" b="1">
                <a:ea typeface="华文楷体" panose="02010600040101010101" pitchFamily="2" charset="-122"/>
              </a:rPr>
              <a:t>特化的问题</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适用范围过窄，</a:t>
            </a:r>
            <a:r>
              <a:rPr lang="en-US" altLang="zh-CN" sz="2400" b="1">
                <a:ea typeface="华文楷体" panose="02010600040101010101" pitchFamily="2" charset="-122"/>
              </a:rPr>
              <a:t>SIZE</a:t>
            </a:r>
            <a:r>
              <a:rPr lang="zh-CN" altLang="en-US" sz="2400" b="1">
                <a:ea typeface="华文楷体" panose="02010600040101010101" pitchFamily="2" charset="-122"/>
              </a:rPr>
              <a:t>必须是</a:t>
            </a:r>
            <a:r>
              <a:rPr lang="en-US" altLang="zh-CN" sz="2400" b="1">
                <a:ea typeface="华文楷体" panose="02010600040101010101" pitchFamily="2" charset="-122"/>
              </a:rPr>
              <a:t>32</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类模板的偏特化</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将一部分参数固定，而使另一部分参数可变，设计特殊的定义</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只适用于类模板</a:t>
            </a:r>
            <a:endParaRPr lang="zh-CN" altLang="en-US" sz="2400" b="1">
              <a:ea typeface="华文楷体" panose="02010600040101010101" pitchFamily="2" charset="-122"/>
            </a:endParaRPr>
          </a:p>
          <a:p>
            <a:pPr>
              <a:spcAft>
                <a:spcPct val="25000"/>
              </a:spcAft>
            </a:pPr>
            <a:r>
              <a:rPr lang="zh-CN" altLang="en-US" sz="2400" b="1">
                <a:ea typeface="华文楷体" panose="02010600040101010101" pitchFamily="2" charset="-122"/>
              </a:rPr>
              <a:t>对</a:t>
            </a:r>
            <a:r>
              <a:rPr lang="en-US" altLang="zh-CN" sz="2400" b="1">
                <a:ea typeface="华文楷体" panose="02010600040101010101" pitchFamily="2" charset="-122"/>
              </a:rPr>
              <a:t>Stack</a:t>
            </a:r>
            <a:r>
              <a:rPr lang="zh-CN" altLang="en-US" sz="2400" b="1">
                <a:ea typeface="华文楷体" panose="02010600040101010101" pitchFamily="2" charset="-122"/>
              </a:rPr>
              <a:t>偏特化的类定义</a:t>
            </a:r>
            <a:endParaRPr lang="zh-CN" altLang="en-US" sz="2400" b="1">
              <a:ea typeface="华文楷体" panose="02010600040101010101" pitchFamily="2" charset="-122"/>
            </a:endParaRPr>
          </a:p>
          <a:p>
            <a:pPr>
              <a:spcAft>
                <a:spcPct val="25000"/>
              </a:spcAft>
            </a:pPr>
            <a:endParaRPr lang="zh-CN" altLang="en-US" sz="2400" b="1">
              <a:ea typeface="华文楷体" panose="02010600040101010101" pitchFamily="2" charset="-122"/>
            </a:endParaRPr>
          </a:p>
        </p:txBody>
      </p:sp>
      <p:sp>
        <p:nvSpPr>
          <p:cNvPr id="106500" name="内容占位符 3"/>
          <p:cNvSpPr>
            <a:spLocks noGrp="1"/>
          </p:cNvSpPr>
          <p:nvPr>
            <p:ph sz="half" idx="2"/>
          </p:nvPr>
        </p:nvSpPr>
        <p:spPr>
          <a:xfrm>
            <a:off x="4648200" y="1785938"/>
            <a:ext cx="4316288" cy="5078313"/>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SIZE&gt;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Stack&lt;bool, SIZE&gt;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enum</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UNIT_BITS = </a:t>
            </a:r>
            <a:r>
              <a:rPr lang="en-US" altLang="zh-CN" sz="1800" b="1" dirty="0" err="1">
                <a:solidFill>
                  <a:srgbClr val="000000"/>
                </a:solidFill>
                <a:latin typeface="Times New Roman" panose="02020603050405020304" pitchFamily="18" charset="0"/>
                <a:ea typeface="华文楷体" panose="02010600040101010101" pitchFamily="2" charset="-122"/>
              </a:rPr>
              <a:t>sizeof</a:t>
            </a:r>
            <a:r>
              <a:rPr lang="en-US" altLang="zh-CN" sz="1800" b="1" dirty="0">
                <a:solidFill>
                  <a:srgbClr val="000000"/>
                </a:solidFill>
                <a:latin typeface="Times New Roman" panose="02020603050405020304" pitchFamily="18" charset="0"/>
                <a:ea typeface="华文楷体" panose="02010600040101010101" pitchFamily="2" charset="-122"/>
              </a:rPr>
              <a:t>(unsigned) * 8,</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ARRAY_SIZE = (SIZE - 1) / UNIT_BITS + 1};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unsigned list[ARRAY_SIZE];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top;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Stack();</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push(bool item);</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pop();</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clear();</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peek()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a:t>
            </a:r>
            <a:r>
              <a:rPr lang="en-US" altLang="zh-CN" sz="1800" b="1" dirty="0" err="1">
                <a:solidFill>
                  <a:srgbClr val="000000"/>
                </a:solidFill>
                <a:latin typeface="Times New Roman" panose="02020603050405020304" pitchFamily="18" charset="0"/>
                <a:ea typeface="华文楷体" panose="02010600040101010101" pitchFamily="2" charset="-122"/>
              </a:rPr>
              <a:t>isEmpty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a:t>
            </a:r>
            <a:r>
              <a:rPr lang="en-US" altLang="zh-CN" sz="1800" b="1" dirty="0" err="1">
                <a:solidFill>
                  <a:srgbClr val="000000"/>
                </a:solidFill>
                <a:latin typeface="Times New Roman" panose="02020603050405020304" pitchFamily="18" charset="0"/>
                <a:ea typeface="华文楷体" panose="02010600040101010101" pitchFamily="2" charset="-122"/>
              </a:rPr>
              <a:t>isFull</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106502" name="Line 1029"/>
          <p:cNvSpPr>
            <a:spLocks noChangeShapeType="1"/>
          </p:cNvSpPr>
          <p:nvPr/>
        </p:nvSpPr>
        <p:spPr bwMode="auto">
          <a:xfrm>
            <a:off x="4500563" y="1733550"/>
            <a:ext cx="0" cy="5007818"/>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7523" name="标题 1"/>
          <p:cNvSpPr>
            <a:spLocks noGrp="1"/>
          </p:cNvSpPr>
          <p:nvPr>
            <p:ph type="title"/>
          </p:nvPr>
        </p:nvSpPr>
        <p:spPr>
          <a:xfrm>
            <a:off x="683568" y="0"/>
            <a:ext cx="7886700" cy="1325563"/>
          </a:xfrm>
        </p:spPr>
        <p:txBody>
          <a:bodyPr/>
          <a:lstStyle/>
          <a:p>
            <a:pPr algn="ctr"/>
            <a:r>
              <a:rPr lang="zh-CN" altLang="en-US" sz="4400" b="1">
                <a:latin typeface="Times New Roman" panose="02020603050405020304" pitchFamily="18" charset="0"/>
                <a:ea typeface="隶书" panose="02010509060101010101" pitchFamily="49" charset="-122"/>
              </a:rPr>
              <a:t>类模板的偏特化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107524" name="内容占位符 2"/>
          <p:cNvSpPr>
            <a:spLocks noGrp="1"/>
          </p:cNvSpPr>
          <p:nvPr>
            <p:ph idx="1"/>
          </p:nvPr>
        </p:nvSpPr>
        <p:spPr>
          <a:xfrm>
            <a:off x="683568" y="980728"/>
            <a:ext cx="7886700" cy="5632311"/>
          </a:xfrm>
          <a:solidFill>
            <a:schemeClr val="tx1"/>
          </a:solidFill>
          <a:ln w="9525">
            <a:solidFill>
              <a:schemeClr val="tx1"/>
            </a:solidFill>
            <a:miter lim="800000"/>
          </a:ln>
        </p:spPr>
        <p:txBody>
          <a:bodyPr>
            <a:spAutoFit/>
          </a:bodyPr>
          <a:lstStyle/>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r>
              <a:rPr lang="zh-CN" altLang="en-US" sz="2000" b="1">
                <a:solidFill>
                  <a:srgbClr val="000000"/>
                </a:solidFill>
                <a:latin typeface="Times New Roman" panose="02020603050405020304" pitchFamily="18" charset="0"/>
                <a:ea typeface="华文楷体" panose="02010600040101010101" pitchFamily="2" charset="-122"/>
              </a:rPr>
              <a:t>偏特化类的部分成员函数定义</a:t>
            </a:r>
            <a:endParaRPr lang="zh-CN" altLang="en-US"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zh-CN" altLang="en-US"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&lt;int SIZE&gt;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void Stack&lt;bool, SIZE&gt;::push(bool item)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assert(!isFull());</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index = ++top / UNIT_BITS;</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list[index] = (list[index] &lt;&lt; 1) | (item ? 1 : 0);</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&lt;int SIZE&gt;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bool Stack&lt;bool, SIZE&gt;::pop()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assert(!isEmpty());</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index = top-- / UNIT_BITS;</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bool result = ((list[index] &amp; 1) == 1);</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list[index] &gt;&gt;= 1;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result;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类模板的偏特化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108547" name="内容占位符 2"/>
          <p:cNvSpPr>
            <a:spLocks noGrp="1"/>
          </p:cNvSpPr>
          <p:nvPr>
            <p:ph idx="1"/>
          </p:nvPr>
        </p:nvSpPr>
        <p:spPr>
          <a:xfrm>
            <a:off x="683568" y="1412776"/>
            <a:ext cx="7886700" cy="4351338"/>
          </a:xfrm>
        </p:spPr>
        <p:txBody>
          <a:bodyPr/>
          <a:lstStyle/>
          <a:p>
            <a:pPr>
              <a:spcAft>
                <a:spcPct val="25000"/>
              </a:spcAft>
            </a:pPr>
            <a:r>
              <a:rPr lang="zh-CN" altLang="en-US" sz="2400" b="1" dirty="0">
                <a:ea typeface="华文楷体" panose="02010600040101010101" pitchFamily="2" charset="-122"/>
              </a:rPr>
              <a:t>偏特化不仅允许将一部分模板参数固定，还允许将某一个模板参数所能表示的类型范围缩窄，例</a:t>
            </a:r>
            <a:endParaRPr lang="zh-CN" altLang="en-US" sz="2400" b="1" dirty="0">
              <a:ea typeface="华文楷体" panose="02010600040101010101" pitchFamily="2" charset="-122"/>
            </a:endParaRPr>
          </a:p>
          <a:p>
            <a:pPr lvl="1">
              <a:buFont typeface="Wingdings" panose="05000000000000000000" pitchFamily="2" charset="2"/>
              <a:buChar char="ü"/>
            </a:pPr>
            <a:r>
              <a:rPr lang="en-US" altLang="zh-CN" sz="2400" b="1" dirty="0">
                <a:ea typeface="华文楷体" panose="02010600040101010101" pitchFamily="2" charset="-122"/>
              </a:rPr>
              <a:t>template &lt;class T&gt; class X { … };</a:t>
            </a:r>
            <a:endParaRPr lang="en-US" altLang="zh-CN"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原模板，</a:t>
            </a:r>
            <a:r>
              <a:rPr lang="en-US" altLang="zh-CN" b="1" dirty="0">
                <a:ea typeface="华文楷体" panose="02010600040101010101" pitchFamily="2" charset="-122"/>
              </a:rPr>
              <a:t>T</a:t>
            </a:r>
            <a:r>
              <a:rPr lang="zh-CN" altLang="en-US" b="1" dirty="0">
                <a:ea typeface="华文楷体" panose="02010600040101010101" pitchFamily="2" charset="-122"/>
              </a:rPr>
              <a:t>可以是所有类型参数</a:t>
            </a:r>
            <a:endParaRPr lang="zh-CN" altLang="en-US" b="1" dirty="0">
              <a:ea typeface="华文楷体" panose="02010600040101010101" pitchFamily="2" charset="-122"/>
            </a:endParaRPr>
          </a:p>
          <a:p>
            <a:pPr lvl="1">
              <a:buFont typeface="Wingdings" panose="05000000000000000000" pitchFamily="2" charset="2"/>
              <a:buChar char="ü"/>
            </a:pPr>
            <a:r>
              <a:rPr lang="en-US" altLang="zh-CN" sz="2400" b="1" dirty="0">
                <a:ea typeface="华文楷体" panose="02010600040101010101" pitchFamily="2" charset="-122"/>
              </a:rPr>
              <a:t>template &lt;class T&gt; class X&lt;T *&gt; { … };</a:t>
            </a:r>
            <a:endParaRPr lang="en-US" altLang="zh-CN"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针对指针类型进行偏特化</a:t>
            </a:r>
            <a:endParaRPr lang="zh-CN" altLang="en-US" b="1" dirty="0">
              <a:ea typeface="华文楷体" panose="02010600040101010101" pitchFamily="2" charset="-122"/>
            </a:endParaRPr>
          </a:p>
          <a:p>
            <a:pPr lvl="1">
              <a:buFont typeface="Wingdings" panose="05000000000000000000" pitchFamily="2" charset="2"/>
              <a:buChar char="ü"/>
            </a:pPr>
            <a:r>
              <a:rPr lang="en-US" altLang="zh-CN" sz="2400" b="1" dirty="0">
                <a:ea typeface="华文楷体" panose="02010600040101010101" pitchFamily="2" charset="-122"/>
              </a:rPr>
              <a:t>template &lt;class T&gt; class X&lt;</a:t>
            </a:r>
            <a:r>
              <a:rPr lang="en-US" altLang="zh-CN" sz="2400" b="1" dirty="0" err="1">
                <a:ea typeface="华文楷体" panose="02010600040101010101" pitchFamily="2" charset="-122"/>
              </a:rPr>
              <a:t>const</a:t>
            </a:r>
            <a:r>
              <a:rPr lang="en-US" altLang="zh-CN" sz="2400" b="1" dirty="0">
                <a:ea typeface="华文楷体" panose="02010600040101010101" pitchFamily="2" charset="-122"/>
              </a:rPr>
              <a:t> T *&gt; { … };</a:t>
            </a:r>
            <a:endParaRPr lang="en-US" altLang="zh-CN"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针对常指针类型进行偏特化</a:t>
            </a:r>
            <a:endParaRPr lang="zh-CN" altLang="en-US"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对于</a:t>
            </a:r>
            <a:r>
              <a:rPr lang="en-US" altLang="zh-CN" sz="2400" b="1" dirty="0">
                <a:ea typeface="华文楷体" panose="02010600040101010101" pitchFamily="2" charset="-122"/>
              </a:rPr>
              <a:t>X&lt;</a:t>
            </a:r>
            <a:r>
              <a:rPr lang="en-US" altLang="zh-CN" sz="2400" b="1" dirty="0" err="1">
                <a:ea typeface="华文楷体" panose="02010600040101010101" pitchFamily="2" charset="-122"/>
              </a:rPr>
              <a:t>const</a:t>
            </a:r>
            <a:r>
              <a:rPr lang="en-US" altLang="zh-CN" sz="2400" b="1" dirty="0">
                <a:ea typeface="华文楷体" panose="02010600040101010101" pitchFamily="2" charset="-122"/>
              </a:rPr>
              <a:t> </a:t>
            </a:r>
            <a:r>
              <a:rPr lang="en-US" altLang="zh-CN" sz="2400" b="1" dirty="0" err="1">
                <a:ea typeface="华文楷体" panose="02010600040101010101" pitchFamily="2" charset="-122"/>
              </a:rPr>
              <a:t>int</a:t>
            </a:r>
            <a:r>
              <a:rPr lang="en-US" altLang="zh-CN" sz="2400" b="1" dirty="0">
                <a:ea typeface="华文楷体" panose="02010600040101010101" pitchFamily="2" charset="-122"/>
              </a:rPr>
              <a:t> *&gt;</a:t>
            </a:r>
            <a:r>
              <a:rPr lang="zh-CN" altLang="en-US" sz="2400" b="1" dirty="0">
                <a:ea typeface="华文楷体" panose="02010600040101010101" pitchFamily="2" charset="-122"/>
              </a:rPr>
              <a:t>，后两个偏特化版本皆能匹配，但由于第二个更为特殊，会被选中</a:t>
            </a:r>
            <a:endParaRPr lang="zh-CN" altLang="en-US" sz="2400" b="1" dirty="0">
              <a:ea typeface="华文楷体" panose="02010600040101010101" pitchFamily="2"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957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函数模板的重载</a:t>
            </a:r>
            <a:endParaRPr lang="zh-CN" altLang="en-US" sz="4400" b="1">
              <a:latin typeface="Times New Roman" panose="02020603050405020304" pitchFamily="18" charset="0"/>
              <a:ea typeface="隶书" panose="02010509060101010101" pitchFamily="49" charset="-122"/>
            </a:endParaRPr>
          </a:p>
        </p:txBody>
      </p:sp>
      <p:sp>
        <p:nvSpPr>
          <p:cNvPr id="109571" name="内容占位符 2"/>
          <p:cNvSpPr>
            <a:spLocks noGrp="1"/>
          </p:cNvSpPr>
          <p:nvPr>
            <p:ph sz="half" idx="1"/>
          </p:nvPr>
        </p:nvSpPr>
        <p:spPr>
          <a:xfrm>
            <a:off x="457200" y="1785938"/>
            <a:ext cx="4038600" cy="4989512"/>
          </a:xfrm>
        </p:spPr>
        <p:txBody>
          <a:bodyPr/>
          <a:lstStyle/>
          <a:p>
            <a:pPr>
              <a:spcAft>
                <a:spcPct val="25000"/>
              </a:spcAft>
            </a:pPr>
            <a:r>
              <a:rPr lang="zh-CN" altLang="en-US" sz="2400" b="1">
                <a:ea typeface="华文楷体" panose="02010600040101010101" pitchFamily="2" charset="-122"/>
              </a:rPr>
              <a:t>函数模板不支持偏特化，但可重载，从而完成与类模板偏特化类似的功能</a:t>
            </a:r>
            <a:endParaRPr lang="zh-CN" altLang="en-US" sz="2400" b="1">
              <a:ea typeface="华文楷体" panose="02010600040101010101" pitchFamily="2" charset="-122"/>
            </a:endParaRPr>
          </a:p>
          <a:p>
            <a:pPr>
              <a:spcAft>
                <a:spcPct val="25000"/>
              </a:spcAft>
            </a:pPr>
            <a:r>
              <a:rPr lang="zh-CN" altLang="en-US" sz="2400" b="1">
                <a:ea typeface="华文楷体" panose="02010600040101010101" pitchFamily="2" charset="-122"/>
              </a:rPr>
              <a:t>若对函数模板的一次使用能与多个函数模板匹配，最特殊的那个会被选中</a:t>
            </a:r>
            <a:endParaRPr lang="zh-CN" altLang="en-US" sz="2400" b="1">
              <a:ea typeface="华文楷体" panose="02010600040101010101" pitchFamily="2" charset="-122"/>
            </a:endParaRPr>
          </a:p>
          <a:p>
            <a:pPr>
              <a:spcAft>
                <a:spcPct val="25000"/>
              </a:spcAft>
            </a:pPr>
            <a:r>
              <a:rPr lang="zh-CN" altLang="en-US" sz="2400" b="1">
                <a:ea typeface="华文楷体" panose="02010600040101010101" pitchFamily="2" charset="-122"/>
              </a:rPr>
              <a:t>例：针对参数为指针类型的情形，为</a:t>
            </a:r>
            <a:r>
              <a:rPr lang="en-US" altLang="zh-CN" sz="2400" b="1">
                <a:ea typeface="华文楷体" panose="02010600040101010101" pitchFamily="2" charset="-122"/>
              </a:rPr>
              <a:t>myMax</a:t>
            </a:r>
            <a:r>
              <a:rPr lang="zh-CN" altLang="en-US" sz="2400" b="1">
                <a:ea typeface="华文楷体" panose="02010600040101010101" pitchFamily="2" charset="-122"/>
              </a:rPr>
              <a:t>定义特殊实现</a:t>
            </a:r>
            <a:endParaRPr lang="zh-CN" altLang="en-US" sz="2400" b="1">
              <a:ea typeface="华文楷体" panose="02010600040101010101" pitchFamily="2" charset="-122"/>
            </a:endParaRPr>
          </a:p>
        </p:txBody>
      </p:sp>
      <p:sp>
        <p:nvSpPr>
          <p:cNvPr id="109572" name="内容占位符 3"/>
          <p:cNvSpPr>
            <a:spLocks noGrp="1"/>
          </p:cNvSpPr>
          <p:nvPr>
            <p:ph sz="half" idx="2"/>
          </p:nvPr>
        </p:nvSpPr>
        <p:spPr>
          <a:xfrm>
            <a:off x="4648200" y="1785938"/>
            <a:ext cx="4038600" cy="3477875"/>
          </a:xfrm>
          <a:solidFill>
            <a:schemeClr val="tx1"/>
          </a:solidFill>
          <a:ln w="9525">
            <a:solidFill>
              <a:schemeClr val="tx1"/>
            </a:solidFill>
            <a:miter lim="800000"/>
          </a:ln>
        </p:spPr>
        <p:txBody>
          <a:bodyPr>
            <a:spAutoFit/>
          </a:bodyPr>
          <a:lstStyle/>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 myMax(T a, T b)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(a &gt; b) ? a : b;</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&lt;class T&gt;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 *myMax(T *a, T *b)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(*a &gt; *b) ? a : b;</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p:txBody>
      </p:sp>
      <p:sp>
        <p:nvSpPr>
          <p:cNvPr id="109574" name="Line 1029"/>
          <p:cNvSpPr>
            <a:spLocks noChangeShapeType="1"/>
          </p:cNvSpPr>
          <p:nvPr/>
        </p:nvSpPr>
        <p:spPr bwMode="auto">
          <a:xfrm>
            <a:off x="4500563" y="1733550"/>
            <a:ext cx="0" cy="46482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9570" name="标题 1"/>
          <p:cNvSpPr>
            <a:spLocks noGrp="1"/>
          </p:cNvSpPr>
          <p:nvPr>
            <p:ph type="title"/>
          </p:nvPr>
        </p:nvSpPr>
        <p:spPr/>
        <p:txBody>
          <a:bodyPr/>
          <a:lstStyle/>
          <a:p>
            <a:pPr algn="ctr"/>
            <a:r>
              <a:rPr lang="zh-CN" altLang="en-US" sz="4400" b="1" dirty="0">
                <a:latin typeface="Times New Roman" panose="02020603050405020304" pitchFamily="18" charset="0"/>
                <a:ea typeface="隶书" panose="02010509060101010101" pitchFamily="49" charset="-122"/>
              </a:rPr>
              <a:t>类模板和函数模板的默认实参</a:t>
            </a:r>
            <a:endParaRPr lang="zh-CN" altLang="en-US" sz="4400" b="1" dirty="0">
              <a:latin typeface="Times New Roman" panose="02020603050405020304" pitchFamily="18" charset="0"/>
              <a:ea typeface="隶书" panose="02010509060101010101" pitchFamily="49" charset="-122"/>
            </a:endParaRPr>
          </a:p>
        </p:txBody>
      </p:sp>
      <p:sp>
        <p:nvSpPr>
          <p:cNvPr id="109572" name="内容占位符 3"/>
          <p:cNvSpPr>
            <a:spLocks noGrp="1"/>
          </p:cNvSpPr>
          <p:nvPr>
            <p:ph sz="half" idx="2"/>
          </p:nvPr>
        </p:nvSpPr>
        <p:spPr>
          <a:xfrm>
            <a:off x="1763688" y="1988840"/>
            <a:ext cx="5482952" cy="2554545"/>
          </a:xfrm>
          <a:solidFill>
            <a:schemeClr val="tx1"/>
          </a:solidFill>
          <a:ln w="9525">
            <a:solidFill>
              <a:schemeClr val="tx1"/>
            </a:solidFill>
            <a:miter lim="800000"/>
          </a:ln>
        </p:spPr>
        <p:txBody>
          <a:bodyPr wrap="square">
            <a:spAutoFit/>
          </a:bodyPr>
          <a:lstStyle/>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函数模板的默认实参</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 </a:t>
            </a:r>
            <a:r>
              <a:rPr lang="en-US" altLang="zh-CN" sz="2000" b="1" dirty="0" err="1">
                <a:solidFill>
                  <a:srgbClr val="000000"/>
                </a:solidFill>
                <a:latin typeface="Times New Roman" panose="02020603050405020304" pitchFamily="18" charset="0"/>
                <a:ea typeface="华文楷体" panose="02010600040101010101" pitchFamily="2" charset="-122"/>
              </a:rPr>
              <a:t>myMax</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T &amp;</a:t>
            </a:r>
            <a:r>
              <a:rPr lang="en-US" altLang="zh-CN" sz="2000" b="1" dirty="0" err="1">
                <a:solidFill>
                  <a:srgbClr val="000000"/>
                </a:solidFill>
                <a:latin typeface="Times New Roman" panose="02020603050405020304" pitchFamily="18" charset="0"/>
                <a:ea typeface="华文楷体" panose="02010600040101010101" pitchFamily="2" charset="-122"/>
              </a:rPr>
              <a:t>lhs,const</a:t>
            </a:r>
            <a:r>
              <a:rPr lang="en-US" altLang="zh-CN" sz="2000" b="1" dirty="0">
                <a:solidFill>
                  <a:srgbClr val="000000"/>
                </a:solidFill>
                <a:latin typeface="Times New Roman" panose="02020603050405020304" pitchFamily="18" charset="0"/>
                <a:ea typeface="华文楷体" panose="02010600040101010101" pitchFamily="2" charset="-122"/>
              </a:rPr>
              <a:t> T &amp;</a:t>
            </a:r>
            <a:r>
              <a:rPr lang="en-US" altLang="zh-CN" sz="2000" b="1" dirty="0" err="1">
                <a:solidFill>
                  <a:srgbClr val="000000"/>
                </a:solidFill>
                <a:latin typeface="Times New Roman" panose="02020603050405020304" pitchFamily="18" charset="0"/>
                <a:ea typeface="华文楷体" panose="02010600040101010101" pitchFamily="2" charset="-122"/>
              </a:rPr>
              <a:t>rhs</a:t>
            </a:r>
            <a:r>
              <a:rPr lang="en-US" altLang="zh-CN" sz="2000" b="1" dirty="0">
                <a:solidFill>
                  <a:srgbClr val="FF0000"/>
                </a:solidFill>
                <a:latin typeface="Times New Roman" panose="02020603050405020304" pitchFamily="18" charset="0"/>
                <a:ea typeface="华文楷体" panose="02010600040101010101" pitchFamily="2" charset="-122"/>
              </a:rPr>
              <a:t>=0</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(lhs &gt; </a:t>
            </a:r>
            <a:r>
              <a:rPr lang="en-US" altLang="zh-CN" sz="2000" b="1" dirty="0" err="1">
                <a:solidFill>
                  <a:srgbClr val="000000"/>
                </a:solidFill>
                <a:latin typeface="Times New Roman" panose="02020603050405020304" pitchFamily="18" charset="0"/>
                <a:ea typeface="华文楷体" panose="02010600040101010101" pitchFamily="2" charset="-122"/>
              </a:rPr>
              <a:t>rhs</a:t>
            </a:r>
            <a:r>
              <a:rPr lang="en-US" altLang="zh-CN" sz="2000" b="1" dirty="0">
                <a:solidFill>
                  <a:srgbClr val="000000"/>
                </a:solidFill>
                <a:latin typeface="Times New Roman" panose="02020603050405020304" pitchFamily="18" charset="0"/>
                <a:ea typeface="华文楷体" panose="02010600040101010101" pitchFamily="2" charset="-122"/>
              </a:rPr>
              <a:t>) ? lhs : </a:t>
            </a:r>
            <a:r>
              <a:rPr lang="en-US" altLang="zh-CN" sz="2000" b="1" dirty="0" err="1">
                <a:solidFill>
                  <a:srgbClr val="000000"/>
                </a:solidFill>
                <a:latin typeface="Times New Roman" panose="02020603050405020304" pitchFamily="18" charset="0"/>
                <a:ea typeface="华文楷体" panose="02010600040101010101" pitchFamily="2" charset="-122"/>
              </a:rPr>
              <a:t>rhs</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auto a=</a:t>
            </a:r>
            <a:r>
              <a:rPr lang="en-US" altLang="zh-CN" sz="2000" b="1" dirty="0" err="1">
                <a:solidFill>
                  <a:srgbClr val="000000"/>
                </a:solidFill>
                <a:latin typeface="Times New Roman" panose="02020603050405020304" pitchFamily="18" charset="0"/>
                <a:ea typeface="华文楷体" panose="02010600040101010101" pitchFamily="2" charset="-122"/>
              </a:rPr>
              <a:t>myMax</a:t>
            </a:r>
            <a:r>
              <a:rPr lang="en-US" altLang="zh-CN" sz="2000" b="1" dirty="0">
                <a:solidFill>
                  <a:srgbClr val="000000"/>
                </a:solidFill>
                <a:latin typeface="Times New Roman" panose="02020603050405020304" pitchFamily="18" charset="0"/>
                <a:ea typeface="华文楷体" panose="02010600040101010101" pitchFamily="2" charset="-122"/>
              </a:rPr>
              <a:t>(5,3);  //a</a:t>
            </a:r>
            <a:r>
              <a:rPr lang="zh-CN" altLang="en-US" sz="2000" b="1" dirty="0">
                <a:solidFill>
                  <a:srgbClr val="000000"/>
                </a:solidFill>
                <a:latin typeface="Times New Roman" panose="02020603050405020304" pitchFamily="18" charset="0"/>
                <a:ea typeface="华文楷体" panose="02010600040101010101" pitchFamily="2" charset="-122"/>
              </a:rPr>
              <a:t>的值是</a:t>
            </a:r>
            <a:r>
              <a:rPr lang="en-US" altLang="zh-CN" sz="2000" b="1" dirty="0">
                <a:solidFill>
                  <a:srgbClr val="000000"/>
                </a:solidFill>
                <a:latin typeface="Times New Roman" panose="02020603050405020304" pitchFamily="18" charset="0"/>
                <a:ea typeface="华文楷体" panose="02010600040101010101" pitchFamily="2" charset="-122"/>
              </a:rPr>
              <a:t>5</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auto b=</a:t>
            </a:r>
            <a:r>
              <a:rPr lang="en-US" altLang="zh-CN" sz="2000" b="1" dirty="0" err="1">
                <a:solidFill>
                  <a:srgbClr val="000000"/>
                </a:solidFill>
                <a:latin typeface="Times New Roman" panose="02020603050405020304" pitchFamily="18" charset="0"/>
                <a:ea typeface="华文楷体" panose="02010600040101010101" pitchFamily="2" charset="-122"/>
              </a:rPr>
              <a:t>myMax</a:t>
            </a:r>
            <a:r>
              <a:rPr lang="en-US" altLang="zh-CN" sz="2000" b="1" dirty="0">
                <a:solidFill>
                  <a:srgbClr val="000000"/>
                </a:solidFill>
                <a:latin typeface="Times New Roman" panose="02020603050405020304" pitchFamily="18" charset="0"/>
                <a:ea typeface="华文楷体" panose="02010600040101010101" pitchFamily="2" charset="-122"/>
              </a:rPr>
              <a:t>(-2);  //b</a:t>
            </a:r>
            <a:r>
              <a:rPr lang="zh-CN" altLang="en-US" sz="2000" b="1" dirty="0">
                <a:solidFill>
                  <a:srgbClr val="000000"/>
                </a:solidFill>
                <a:latin typeface="Times New Roman" panose="02020603050405020304" pitchFamily="18" charset="0"/>
                <a:ea typeface="华文楷体" panose="02010600040101010101" pitchFamily="2" charset="-122"/>
              </a:rPr>
              <a:t>的值是</a:t>
            </a:r>
            <a:r>
              <a:rPr lang="en-US" altLang="zh-CN" sz="2000" b="1" dirty="0">
                <a:solidFill>
                  <a:srgbClr val="000000"/>
                </a:solidFill>
                <a:latin typeface="Times New Roman" panose="02020603050405020304" pitchFamily="18" charset="0"/>
                <a:ea typeface="华文楷体" panose="02010600040101010101" pitchFamily="2" charset="-122"/>
              </a:rPr>
              <a:t>0</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9570" name="标题 1"/>
          <p:cNvSpPr>
            <a:spLocks noGrp="1"/>
          </p:cNvSpPr>
          <p:nvPr>
            <p:ph type="title"/>
          </p:nvPr>
        </p:nvSpPr>
        <p:spPr/>
        <p:txBody>
          <a:bodyPr/>
          <a:lstStyle/>
          <a:p>
            <a:pPr algn="ctr"/>
            <a:r>
              <a:rPr lang="zh-CN" altLang="en-US" sz="4400" b="1" dirty="0">
                <a:latin typeface="Times New Roman" panose="02020603050405020304" pitchFamily="18" charset="0"/>
                <a:ea typeface="隶书" panose="02010509060101010101" pitchFamily="49" charset="-122"/>
              </a:rPr>
              <a:t>类模板和函数模板的默认实参</a:t>
            </a:r>
            <a:endParaRPr lang="zh-CN" altLang="en-US" sz="4400" b="1" dirty="0">
              <a:latin typeface="Times New Roman" panose="02020603050405020304" pitchFamily="18" charset="0"/>
              <a:ea typeface="隶书" panose="02010509060101010101" pitchFamily="49" charset="-122"/>
            </a:endParaRPr>
          </a:p>
        </p:txBody>
      </p:sp>
      <p:sp>
        <p:nvSpPr>
          <p:cNvPr id="109572" name="内容占位符 3"/>
          <p:cNvSpPr>
            <a:spLocks noGrp="1"/>
          </p:cNvSpPr>
          <p:nvPr>
            <p:ph sz="half" idx="2"/>
          </p:nvPr>
        </p:nvSpPr>
        <p:spPr>
          <a:xfrm>
            <a:off x="1763688" y="1988840"/>
            <a:ext cx="6552728" cy="3477875"/>
          </a:xfrm>
          <a:solidFill>
            <a:schemeClr val="tx1"/>
          </a:solidFill>
          <a:ln w="9525">
            <a:solidFill>
              <a:schemeClr val="tx1"/>
            </a:solidFill>
            <a:miter lim="800000"/>
          </a:ln>
        </p:spPr>
        <p:txBody>
          <a:bodyPr wrap="square">
            <a:spAutoFit/>
          </a:bodyPr>
          <a:lstStyle/>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类模板的默认实参</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a:t>
            </a:r>
            <a:r>
              <a:rPr lang="en-US" altLang="zh-CN" sz="2000" b="1" dirty="0" err="1">
                <a:solidFill>
                  <a:srgbClr val="000000"/>
                </a:solidFill>
                <a:latin typeface="Times New Roman" panose="02020603050405020304" pitchFamily="18" charset="0"/>
                <a:ea typeface="华文楷体" panose="02010600040101010101" pitchFamily="2" charset="-122"/>
              </a:rPr>
              <a:t>typename</a:t>
            </a:r>
            <a:r>
              <a:rPr lang="en-US" altLang="zh-CN" sz="2000" b="1" dirty="0">
                <a:solidFill>
                  <a:srgbClr val="000000"/>
                </a:solidFill>
                <a:latin typeface="Times New Roman" panose="02020603050405020304" pitchFamily="18" charset="0"/>
                <a:ea typeface="华文楷体" panose="02010600040101010101" pitchFamily="2" charset="-122"/>
              </a:rPr>
              <a:t> T</a:t>
            </a:r>
            <a:r>
              <a:rPr lang="en-US" altLang="zh-CN" sz="2000" b="1" dirty="0">
                <a:solidFill>
                  <a:srgbClr val="FF0000"/>
                </a:solidFill>
                <a:latin typeface="Times New Roman" panose="02020603050405020304" pitchFamily="18" charset="0"/>
                <a:ea typeface="华文楷体" panose="02010600040101010101" pitchFamily="2" charset="-122"/>
              </a:rPr>
              <a:t>=double</a:t>
            </a:r>
            <a:r>
              <a:rPr lang="en-US" altLang="zh-CN" sz="2000" b="1" dirty="0">
                <a:solidFill>
                  <a:srgbClr val="000000"/>
                </a:solidFill>
                <a:latin typeface="Times New Roman" panose="02020603050405020304" pitchFamily="18" charset="0"/>
                <a:ea typeface="华文楷体" panose="02010600040101010101" pitchFamily="2" charset="-122"/>
              </a:rPr>
              <a:t>&gt;class Point {</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Point(T _x=0,T _y=0):x(_x),y(_y){}</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x;</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 y;</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Point&lt;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point();  //</a:t>
            </a:r>
            <a:r>
              <a:rPr lang="zh-CN" altLang="en-US" sz="2000" b="1" dirty="0">
                <a:solidFill>
                  <a:srgbClr val="000000"/>
                </a:solidFill>
                <a:latin typeface="Times New Roman" panose="02020603050405020304" pitchFamily="18" charset="0"/>
                <a:ea typeface="华文楷体" panose="02010600040101010101" pitchFamily="2" charset="-122"/>
              </a:rPr>
              <a:t>给定模板参数</a:t>
            </a:r>
            <a:r>
              <a:rPr lang="en-US" altLang="zh-CN" sz="2000" b="1" dirty="0" err="1">
                <a:solidFill>
                  <a:srgbClr val="000000"/>
                </a:solidFill>
                <a:latin typeface="Times New Roman" panose="02020603050405020304" pitchFamily="18" charset="0"/>
                <a:ea typeface="华文楷体" panose="02010600040101010101" pitchFamily="2" charset="-122"/>
              </a:rPr>
              <a:t>int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Point&lt;&gt; point();  //</a:t>
            </a:r>
            <a:r>
              <a:rPr lang="zh-CN" altLang="en-US" sz="2000" b="1" dirty="0">
                <a:solidFill>
                  <a:srgbClr val="000000"/>
                </a:solidFill>
                <a:latin typeface="Times New Roman" panose="02020603050405020304" pitchFamily="18" charset="0"/>
                <a:ea typeface="华文楷体" panose="02010600040101010101" pitchFamily="2" charset="-122"/>
              </a:rPr>
              <a:t>采用默认参数</a:t>
            </a:r>
            <a:r>
              <a:rPr lang="en-US" altLang="zh-CN" sz="2000" b="1" dirty="0">
                <a:solidFill>
                  <a:srgbClr val="000000"/>
                </a:solidFill>
                <a:latin typeface="Times New Roman" panose="02020603050405020304" pitchFamily="18" charset="0"/>
                <a:ea typeface="华文楷体" panose="02010600040101010101" pitchFamily="2" charset="-122"/>
              </a:rPr>
              <a:t>double</a:t>
            </a:r>
            <a:r>
              <a:rPr lang="zh-CN" altLang="en-US" sz="2000" b="1" dirty="0">
                <a:solidFill>
                  <a:srgbClr val="000000"/>
                </a:solidFill>
                <a:latin typeface="Times New Roman" panose="02020603050405020304" pitchFamily="18" charset="0"/>
                <a:ea typeface="华文楷体" panose="02010600040101010101" pitchFamily="2" charset="-122"/>
              </a:rPr>
              <a:t>类型初始化</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9.5.3 </a:t>
            </a:r>
            <a:r>
              <a:rPr lang="zh-CN" altLang="zh-CN" sz="4400" b="1">
                <a:latin typeface="Times New Roman" panose="02020603050405020304" pitchFamily="18" charset="0"/>
                <a:ea typeface="隶书" panose="02010509060101010101" pitchFamily="49" charset="-122"/>
              </a:rPr>
              <a:t>模板元编程简介</a:t>
            </a:r>
            <a:endParaRPr lang="zh-CN" altLang="en-US" sz="4400" b="1">
              <a:latin typeface="Times New Roman" panose="02020603050405020304" pitchFamily="18" charset="0"/>
              <a:ea typeface="隶书" panose="02010509060101010101" pitchFamily="49" charset="-122"/>
            </a:endParaRPr>
          </a:p>
        </p:txBody>
      </p:sp>
      <p:sp>
        <p:nvSpPr>
          <p:cNvPr id="110595" name="内容占位符 2"/>
          <p:cNvSpPr>
            <a:spLocks noGrp="1"/>
          </p:cNvSpPr>
          <p:nvPr>
            <p:ph idx="1"/>
          </p:nvPr>
        </p:nvSpPr>
        <p:spPr>
          <a:xfrm>
            <a:off x="755576" y="1340768"/>
            <a:ext cx="7886700" cy="4351338"/>
          </a:xfrm>
        </p:spPr>
        <p:txBody>
          <a:bodyPr/>
          <a:lstStyle/>
          <a:p>
            <a:pPr>
              <a:lnSpc>
                <a:spcPct val="150000"/>
              </a:lnSpc>
              <a:spcAft>
                <a:spcPct val="25000"/>
              </a:spcAft>
            </a:pPr>
            <a:r>
              <a:rPr lang="zh-CN" altLang="en-US" sz="2400" b="1" dirty="0">
                <a:ea typeface="华文楷体" panose="02010600040101010101" pitchFamily="2" charset="-122"/>
              </a:rPr>
              <a:t>什么是模板元编程</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在模板实例化的同时利用编译器完成一些计算任务</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模板元编程可以把一些通常在运行时才能计算的任务提前到编译时，从而：</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提高程序运行效率</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提供一些方便</a:t>
            </a:r>
            <a:endParaRPr lang="zh-CN" altLang="en-US" sz="2400" b="1" dirty="0">
              <a:ea typeface="华文楷体" panose="02010600040101010101" pitchFamily="2" charset="-122"/>
            </a:endParaRPr>
          </a:p>
          <a:p>
            <a:pPr lvl="2">
              <a:lnSpc>
                <a:spcPct val="150000"/>
              </a:lnSpc>
              <a:buFont typeface="Wingdings" panose="05000000000000000000" pitchFamily="2" charset="2"/>
              <a:buChar char="ü"/>
            </a:pPr>
            <a:r>
              <a:rPr lang="zh-CN" altLang="en-US" b="1" dirty="0">
                <a:ea typeface="华文楷体" panose="02010600040101010101" pitchFamily="2" charset="-122"/>
              </a:rPr>
              <a:t>例：模板元编程的计算结果可以作为静态数组的大小</a:t>
            </a:r>
            <a:endParaRPr lang="zh-CN" altLang="en-US" b="1" dirty="0">
              <a:ea typeface="华文楷体" panose="02010600040101010101" pitchFamily="2"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1619" name="标题 1"/>
          <p:cNvSpPr>
            <a:spLocks noGrp="1"/>
          </p:cNvSpPr>
          <p:nvPr>
            <p:ph type="title"/>
          </p:nvPr>
        </p:nvSpPr>
        <p:spPr/>
        <p:txBody>
          <a:bodyPr/>
          <a:lstStyle/>
          <a:p>
            <a:r>
              <a:rPr lang="zh-CN" altLang="en-US" b="1" dirty="0"/>
              <a:t>例：编译时计算</a:t>
            </a:r>
            <a:r>
              <a:rPr lang="en-US" altLang="zh-CN" b="1" dirty="0"/>
              <a:t>n!</a:t>
            </a:r>
            <a:endParaRPr kumimoji="1" lang="zh-CN" altLang="en-US" b="1" dirty="0"/>
          </a:p>
        </p:txBody>
      </p:sp>
      <p:sp>
        <p:nvSpPr>
          <p:cNvPr id="111620" name="内容占位符 2"/>
          <p:cNvSpPr>
            <a:spLocks noGrp="1"/>
          </p:cNvSpPr>
          <p:nvPr>
            <p:ph idx="1"/>
          </p:nvPr>
        </p:nvSpPr>
        <p:spPr>
          <a:xfrm>
            <a:off x="628650" y="1825625"/>
            <a:ext cx="7886700" cy="3170099"/>
          </a:xfrm>
          <a:solidFill>
            <a:schemeClr val="tx1"/>
          </a:solidFill>
          <a:ln w="9525">
            <a:solidFill>
              <a:schemeClr val="tx1"/>
            </a:solidFill>
            <a:miter lim="800000"/>
          </a:ln>
        </p:spPr>
        <p:txBody>
          <a:bodyPr>
            <a:spAutoFit/>
          </a:bodyPr>
          <a:lstStyle/>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&lt;unsigned N&gt;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struct Factorial { //</a:t>
            </a:r>
            <a:r>
              <a:rPr lang="zh-CN" altLang="en-US" sz="2000" b="1">
                <a:solidFill>
                  <a:srgbClr val="000000"/>
                </a:solidFill>
                <a:latin typeface="Times New Roman" panose="02020603050405020304" pitchFamily="18" charset="0"/>
                <a:ea typeface="华文楷体" panose="02010600040101010101" pitchFamily="2" charset="-122"/>
              </a:rPr>
              <a:t>计算</a:t>
            </a:r>
            <a:r>
              <a:rPr lang="en-US" altLang="zh-CN" sz="2000" b="1">
                <a:solidFill>
                  <a:srgbClr val="000000"/>
                </a:solidFill>
                <a:latin typeface="Times New Roman" panose="02020603050405020304" pitchFamily="18" charset="0"/>
                <a:ea typeface="华文楷体" panose="02010600040101010101" pitchFamily="2" charset="-122"/>
              </a:rPr>
              <a:t>N</a:t>
            </a:r>
            <a:r>
              <a:rPr lang="zh-CN" altLang="en-US" sz="2000" b="1">
                <a:solidFill>
                  <a:srgbClr val="000000"/>
                </a:solidFill>
                <a:latin typeface="Times New Roman" panose="02020603050405020304" pitchFamily="18" charset="0"/>
                <a:ea typeface="华文楷体" panose="02010600040101010101" pitchFamily="2" charset="-122"/>
              </a:rPr>
              <a:t>的阶乘</a:t>
            </a:r>
            <a:endParaRPr lang="zh-CN" altLang="en-US"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enum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VALUE = N * Factorial&lt;N – 1&gt;::VALUE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template &lt;&gt;</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struct Factorial&lt;0&gt; { //</a:t>
            </a:r>
            <a:r>
              <a:rPr lang="zh-CN" altLang="en-US" sz="2000" b="1">
                <a:solidFill>
                  <a:srgbClr val="000000"/>
                </a:solidFill>
                <a:latin typeface="Times New Roman" panose="02020603050405020304" pitchFamily="18" charset="0"/>
                <a:ea typeface="华文楷体" panose="02010600040101010101" pitchFamily="2" charset="-122"/>
              </a:rPr>
              <a:t>设定</a:t>
            </a:r>
            <a:r>
              <a:rPr lang="en-US" altLang="zh-CN" sz="2000" b="1">
                <a:solidFill>
                  <a:srgbClr val="000000"/>
                </a:solidFill>
                <a:latin typeface="Times New Roman" panose="02020603050405020304" pitchFamily="18" charset="0"/>
                <a:ea typeface="华文楷体" panose="02010600040101010101" pitchFamily="2" charset="-122"/>
              </a:rPr>
              <a:t>N = 0</a:t>
            </a:r>
            <a:r>
              <a:rPr lang="zh-CN" altLang="en-US" sz="2000" b="1">
                <a:solidFill>
                  <a:srgbClr val="000000"/>
                </a:solidFill>
                <a:latin typeface="Times New Roman" panose="02020603050405020304" pitchFamily="18" charset="0"/>
                <a:ea typeface="华文楷体" panose="02010600040101010101" pitchFamily="2" charset="-122"/>
              </a:rPr>
              <a:t>时</a:t>
            </a:r>
            <a:r>
              <a:rPr lang="en-US" altLang="zh-CN" sz="2000" b="1">
                <a:solidFill>
                  <a:srgbClr val="000000"/>
                </a:solidFill>
                <a:latin typeface="Times New Roman" panose="02020603050405020304" pitchFamily="18" charset="0"/>
                <a:ea typeface="华文楷体" panose="02010600040101010101" pitchFamily="2" charset="-122"/>
              </a:rPr>
              <a:t>N</a:t>
            </a:r>
            <a:r>
              <a:rPr lang="zh-CN" altLang="en-US" sz="2000" b="1">
                <a:solidFill>
                  <a:srgbClr val="000000"/>
                </a:solidFill>
                <a:latin typeface="Times New Roman" panose="02020603050405020304" pitchFamily="18" charset="0"/>
                <a:ea typeface="华文楷体" panose="02010600040101010101" pitchFamily="2" charset="-122"/>
              </a:rPr>
              <a:t>的阶乘</a:t>
            </a:r>
            <a:endParaRPr lang="zh-CN" altLang="en-US"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enum { VALUE = 1 };</a:t>
            </a:r>
            <a:endParaRPr lang="en-US" altLang="zh-CN" sz="2000" b="1">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Factorial</a:t>
            </a:r>
            <a:r>
              <a:rPr lang="zh-CN" altLang="en-US" sz="4400" b="1">
                <a:latin typeface="Times New Roman" panose="02020603050405020304" pitchFamily="18" charset="0"/>
                <a:ea typeface="隶书" panose="02010509060101010101" pitchFamily="49" charset="-122"/>
              </a:rPr>
              <a:t>的分析</a:t>
            </a:r>
            <a:endParaRPr lang="zh-CN" altLang="en-US" sz="4400" b="1">
              <a:latin typeface="Times New Roman" panose="02020603050405020304" pitchFamily="18" charset="0"/>
              <a:ea typeface="隶书" panose="02010509060101010101" pitchFamily="49" charset="-122"/>
            </a:endParaRPr>
          </a:p>
        </p:txBody>
      </p:sp>
      <p:sp>
        <p:nvSpPr>
          <p:cNvPr id="112643" name="内容占位符 2"/>
          <p:cNvSpPr>
            <a:spLocks noGrp="1"/>
          </p:cNvSpPr>
          <p:nvPr>
            <p:ph idx="1"/>
          </p:nvPr>
        </p:nvSpPr>
        <p:spPr>
          <a:xfrm>
            <a:off x="686707" y="1274082"/>
            <a:ext cx="7886700" cy="4351338"/>
          </a:xfrm>
        </p:spPr>
        <p:txBody>
          <a:bodyPr/>
          <a:lstStyle/>
          <a:p>
            <a:pPr>
              <a:spcAft>
                <a:spcPct val="25000"/>
              </a:spcAft>
            </a:pPr>
            <a:r>
              <a:rPr lang="en-US" altLang="zh-CN" sz="2400" b="1">
                <a:ea typeface="华文楷体" panose="02010600040101010101" pitchFamily="2" charset="-122"/>
              </a:rPr>
              <a:t>Factorial</a:t>
            </a:r>
            <a:r>
              <a:rPr lang="zh-CN" altLang="en-US" sz="2400" b="1">
                <a:ea typeface="华文楷体" panose="02010600040101010101" pitchFamily="2" charset="-122"/>
              </a:rPr>
              <a:t>的使用</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例：</a:t>
            </a:r>
            <a:r>
              <a:rPr lang="en-US" altLang="zh-CN" sz="2400" b="1">
                <a:ea typeface="华文楷体" panose="02010600040101010101" pitchFamily="2" charset="-122"/>
              </a:rPr>
              <a:t>int s[ Factorial&lt;6&gt;::VALUE ];</a:t>
            </a:r>
            <a:endParaRPr lang="en-US" altLang="zh-CN" sz="2400" b="1">
              <a:ea typeface="华文楷体" panose="02010600040101010101" pitchFamily="2" charset="-122"/>
            </a:endParaRPr>
          </a:p>
          <a:p>
            <a:pPr>
              <a:spcAft>
                <a:spcPct val="25000"/>
              </a:spcAft>
            </a:pPr>
            <a:r>
              <a:rPr lang="en-US" altLang="zh-CN" sz="2400" b="1">
                <a:ea typeface="华文楷体" panose="02010600040101010101" pitchFamily="2" charset="-122"/>
              </a:rPr>
              <a:t>Factorial::VALUE</a:t>
            </a:r>
            <a:r>
              <a:rPr lang="zh-CN" altLang="en-US" sz="2400" b="1">
                <a:ea typeface="华文楷体" panose="02010600040101010101" pitchFamily="2" charset="-122"/>
              </a:rPr>
              <a:t>的计算过程</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首先试图实例化</a:t>
            </a:r>
            <a:r>
              <a:rPr lang="en-US" altLang="zh-CN" sz="2400" b="1">
                <a:ea typeface="华文楷体" panose="02010600040101010101" pitchFamily="2" charset="-122"/>
              </a:rPr>
              <a:t>Factorial&lt;6&gt;</a:t>
            </a:r>
            <a:r>
              <a:rPr lang="zh-CN" altLang="en-US" sz="2400" b="1">
                <a:ea typeface="华文楷体" panose="02010600040101010101" pitchFamily="2" charset="-122"/>
              </a:rPr>
              <a:t>；</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要计算</a:t>
            </a:r>
            <a:r>
              <a:rPr lang="en-US" altLang="zh-CN" sz="2400" b="1">
                <a:ea typeface="华文楷体" panose="02010600040101010101" pitchFamily="2" charset="-122"/>
              </a:rPr>
              <a:t>Factorial&lt;6&gt;</a:t>
            </a:r>
            <a:r>
              <a:rPr lang="zh-CN" altLang="en-US" sz="2400" b="1">
                <a:ea typeface="华文楷体" panose="02010600040101010101" pitchFamily="2" charset="-122"/>
              </a:rPr>
              <a:t>的</a:t>
            </a:r>
            <a:r>
              <a:rPr lang="en-US" altLang="zh-CN" sz="2400" b="1">
                <a:ea typeface="华文楷体" panose="02010600040101010101" pitchFamily="2" charset="-122"/>
              </a:rPr>
              <a:t>VALUE</a:t>
            </a:r>
            <a:r>
              <a:rPr lang="zh-CN" altLang="en-US" sz="2400" b="1">
                <a:ea typeface="华文楷体" panose="02010600040101010101" pitchFamily="2" charset="-122"/>
              </a:rPr>
              <a:t>，需实例化</a:t>
            </a:r>
            <a:r>
              <a:rPr lang="en-US" altLang="zh-CN" sz="2400" b="1">
                <a:ea typeface="华文楷体" panose="02010600040101010101" pitchFamily="2" charset="-122"/>
              </a:rPr>
              <a:t>Factorial&lt;5&gt;</a:t>
            </a:r>
            <a:r>
              <a:rPr lang="zh-CN" altLang="en-US" sz="2400" b="1">
                <a:ea typeface="华文楷体" panose="02010600040101010101" pitchFamily="2" charset="-122"/>
              </a:rPr>
              <a:t>，然后是</a:t>
            </a:r>
            <a:r>
              <a:rPr lang="en-US" altLang="zh-CN" sz="2400" b="1">
                <a:ea typeface="华文楷体" panose="02010600040101010101" pitchFamily="2" charset="-122"/>
              </a:rPr>
              <a:t>Factorial&lt;4&gt;……</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实例化</a:t>
            </a:r>
            <a:r>
              <a:rPr lang="en-US" altLang="zh-CN" sz="2400" b="1">
                <a:ea typeface="华文楷体" panose="02010600040101010101" pitchFamily="2" charset="-122"/>
              </a:rPr>
              <a:t>Factorial&lt;1&gt;</a:t>
            </a:r>
            <a:r>
              <a:rPr lang="zh-CN" altLang="en-US" sz="2400" b="1">
                <a:ea typeface="华文楷体" panose="02010600040101010101" pitchFamily="2" charset="-122"/>
              </a:rPr>
              <a:t>时，由于</a:t>
            </a:r>
            <a:r>
              <a:rPr lang="en-US" altLang="zh-CN" sz="2400" b="1">
                <a:ea typeface="华文楷体" panose="02010600040101010101" pitchFamily="2" charset="-122"/>
              </a:rPr>
              <a:t>Factorial&lt;0&gt;::VALUE</a:t>
            </a:r>
            <a:r>
              <a:rPr lang="zh-CN" altLang="en-US" sz="2400" b="1">
                <a:ea typeface="华文楷体" panose="02010600040101010101" pitchFamily="2" charset="-122"/>
              </a:rPr>
              <a:t>的值已确定，</a:t>
            </a:r>
            <a:r>
              <a:rPr lang="en-US" altLang="zh-CN" sz="2400" b="1">
                <a:ea typeface="华文楷体" panose="02010600040101010101" pitchFamily="2" charset="-122"/>
              </a:rPr>
              <a:t>Factorial&lt;1&gt;</a:t>
            </a:r>
            <a:r>
              <a:rPr lang="zh-CN" altLang="en-US" sz="2400" b="1">
                <a:ea typeface="华文楷体" panose="02010600040101010101" pitchFamily="2" charset="-122"/>
              </a:rPr>
              <a:t>的</a:t>
            </a:r>
            <a:r>
              <a:rPr lang="en-US" altLang="zh-CN" sz="2400" b="1">
                <a:ea typeface="华文楷体" panose="02010600040101010101" pitchFamily="2" charset="-122"/>
              </a:rPr>
              <a:t>VALUE</a:t>
            </a:r>
            <a:r>
              <a:rPr lang="zh-CN" altLang="en-US" sz="2400" b="1">
                <a:ea typeface="华文楷体" panose="02010600040101010101" pitchFamily="2" charset="-122"/>
              </a:rPr>
              <a:t>值可计算，完成实例化；</a:t>
            </a:r>
            <a:endParaRPr lang="zh-CN" altLang="en-US" sz="2400" b="1">
              <a:ea typeface="华文楷体" panose="02010600040101010101" pitchFamily="2" charset="-122"/>
            </a:endParaRPr>
          </a:p>
          <a:p>
            <a:pPr lvl="1">
              <a:buFont typeface="Wingdings" panose="05000000000000000000" pitchFamily="2" charset="2"/>
              <a:buChar char="ü"/>
            </a:pPr>
            <a:r>
              <a:rPr lang="en-US" altLang="zh-CN" sz="2400" b="1">
                <a:ea typeface="华文楷体" panose="02010600040101010101" pitchFamily="2" charset="-122"/>
              </a:rPr>
              <a:t>Factorial&lt;2&gt;</a:t>
            </a:r>
            <a:r>
              <a:rPr lang="zh-CN" altLang="en-US" sz="2400" b="1">
                <a:ea typeface="华文楷体" panose="02010600040101010101" pitchFamily="2" charset="-122"/>
              </a:rPr>
              <a:t>到</a:t>
            </a:r>
            <a:r>
              <a:rPr lang="en-US" altLang="zh-CN" sz="2400" b="1">
                <a:ea typeface="华文楷体" panose="02010600040101010101" pitchFamily="2" charset="-122"/>
              </a:rPr>
              <a:t>Factorial&lt;6&gt;</a:t>
            </a:r>
            <a:r>
              <a:rPr lang="zh-CN" altLang="en-US" sz="2400" b="1">
                <a:ea typeface="华文楷体" panose="02010600040101010101" pitchFamily="2" charset="-122"/>
              </a:rPr>
              <a:t>的实例化相继完成</a:t>
            </a:r>
            <a:endParaRPr lang="zh-CN" altLang="en-US" sz="2400" b="1">
              <a:ea typeface="华文楷体" panose="02010600040101010101" pitchFamily="2"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3666" name="标题 1"/>
          <p:cNvSpPr>
            <a:spLocks noGrp="1"/>
          </p:cNvSpPr>
          <p:nvPr>
            <p:ph type="title"/>
          </p:nvPr>
        </p:nvSpPr>
        <p:spPr/>
        <p:txBody>
          <a:bodyPr/>
          <a:lstStyle/>
          <a:p>
            <a:r>
              <a:rPr lang="zh-CN" altLang="en-US" b="1"/>
              <a:t>例：整数次乘方的展开</a:t>
            </a:r>
            <a:endParaRPr kumimoji="1" lang="zh-CN" altLang="en-US" b="1"/>
          </a:p>
        </p:txBody>
      </p:sp>
      <p:sp>
        <p:nvSpPr>
          <p:cNvPr id="113667" name="内容占位符 2"/>
          <p:cNvSpPr>
            <a:spLocks noGrp="1"/>
          </p:cNvSpPr>
          <p:nvPr>
            <p:ph sz="half" idx="1"/>
          </p:nvPr>
        </p:nvSpPr>
        <p:spPr>
          <a:xfrm>
            <a:off x="457200" y="1785938"/>
            <a:ext cx="4038600" cy="4401205"/>
          </a:xfrm>
          <a:solidFill>
            <a:schemeClr val="tx1"/>
          </a:solidFill>
          <a:ln w="9525">
            <a:solidFill>
              <a:schemeClr val="tx1"/>
            </a:solidFill>
            <a:miter lim="800000"/>
          </a:ln>
        </p:spPr>
        <p:txBody>
          <a:bodyPr>
            <a:spAutoFit/>
          </a:bodyPr>
          <a:lstStyle/>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&lt;unsigned N&gt;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struct</a:t>
            </a:r>
            <a:r>
              <a:rPr lang="en-US" altLang="zh-CN" sz="2000" b="1" dirty="0">
                <a:solidFill>
                  <a:srgbClr val="000000"/>
                </a:solidFill>
                <a:latin typeface="Times New Roman" panose="02020603050405020304" pitchFamily="18" charset="0"/>
                <a:ea typeface="华文楷体" panose="02010600040101010101" pitchFamily="2" charset="-122"/>
              </a:rPr>
              <a:t> Power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static T value(T x)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x * Power&lt;N - 1&gt;::value(x);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struct</a:t>
            </a:r>
            <a:r>
              <a:rPr lang="en-US" altLang="zh-CN" sz="2000" b="1" dirty="0">
                <a:solidFill>
                  <a:srgbClr val="000000"/>
                </a:solidFill>
                <a:latin typeface="Times New Roman" panose="02020603050405020304" pitchFamily="18" charset="0"/>
                <a:ea typeface="华文楷体" panose="02010600040101010101" pitchFamily="2" charset="-122"/>
              </a:rPr>
              <a:t> Power&lt;1&gt;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static T value(T x)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13668" name="内容占位符 3"/>
          <p:cNvSpPr>
            <a:spLocks noGrp="1"/>
          </p:cNvSpPr>
          <p:nvPr>
            <p:ph sz="half" idx="2"/>
          </p:nvPr>
        </p:nvSpPr>
        <p:spPr>
          <a:xfrm>
            <a:off x="4648200" y="1785938"/>
            <a:ext cx="4038600" cy="1938992"/>
          </a:xfrm>
          <a:solidFill>
            <a:schemeClr val="tx1"/>
          </a:solidFill>
          <a:ln w="9525">
            <a:solidFill>
              <a:schemeClr val="tx1"/>
            </a:solidFill>
            <a:miter lim="800000"/>
          </a:ln>
        </p:spPr>
        <p:txBody>
          <a:bodyPr>
            <a:spAutoFit/>
          </a:bodyPr>
          <a:lstStyle/>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&lt;unsigned N, 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inline T power(T v)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Power&lt;N&gt;::value(v);</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26670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indent="26670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13670" name="Line 1029"/>
          <p:cNvSpPr>
            <a:spLocks noChangeShapeType="1"/>
          </p:cNvSpPr>
          <p:nvPr/>
        </p:nvSpPr>
        <p:spPr bwMode="auto">
          <a:xfrm>
            <a:off x="4572000" y="1733550"/>
            <a:ext cx="0" cy="464820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9.5.4 </a:t>
            </a:r>
            <a:r>
              <a:rPr lang="zh-CN" altLang="en-US" sz="4400" b="1" dirty="0">
                <a:latin typeface="Times New Roman" panose="02020603050405020304" pitchFamily="18" charset="0"/>
                <a:ea typeface="隶书" panose="02010509060101010101" pitchFamily="49" charset="-122"/>
              </a:rPr>
              <a:t>可变参数</a:t>
            </a:r>
            <a:r>
              <a:rPr lang="zh-CN" altLang="zh-CN" sz="4400" b="1" dirty="0">
                <a:latin typeface="Times New Roman" panose="02020603050405020304" pitchFamily="18" charset="0"/>
                <a:ea typeface="隶书" panose="02010509060101010101" pitchFamily="49" charset="-122"/>
              </a:rPr>
              <a:t>模板简介</a:t>
            </a:r>
            <a:endParaRPr lang="zh-CN" altLang="en-US" sz="4400" b="1" dirty="0">
              <a:latin typeface="Times New Roman" panose="02020603050405020304" pitchFamily="18" charset="0"/>
              <a:ea typeface="隶书" panose="02010509060101010101" pitchFamily="49" charset="-122"/>
            </a:endParaRPr>
          </a:p>
        </p:txBody>
      </p:sp>
      <p:sp>
        <p:nvSpPr>
          <p:cNvPr id="110595" name="内容占位符 2"/>
          <p:cNvSpPr>
            <a:spLocks noGrp="1"/>
          </p:cNvSpPr>
          <p:nvPr>
            <p:ph idx="1"/>
          </p:nvPr>
        </p:nvSpPr>
        <p:spPr>
          <a:xfrm>
            <a:off x="467544" y="1412776"/>
            <a:ext cx="8496944" cy="4351338"/>
          </a:xfrm>
        </p:spPr>
        <p:txBody>
          <a:bodyPr/>
          <a:lstStyle/>
          <a:p>
            <a:pPr>
              <a:lnSpc>
                <a:spcPct val="150000"/>
              </a:lnSpc>
              <a:spcAft>
                <a:spcPct val="25000"/>
              </a:spcAft>
            </a:pPr>
            <a:r>
              <a:rPr lang="zh-CN" altLang="en-US" sz="2000" b="1" dirty="0">
                <a:ea typeface="华文楷体" panose="02010600040101010101" pitchFamily="2" charset="-122"/>
              </a:rPr>
              <a:t>什么是可变参数模板</a:t>
            </a:r>
            <a:endParaRPr lang="zh-CN" altLang="en-US" sz="2000" b="1" dirty="0">
              <a:ea typeface="华文楷体" panose="02010600040101010101" pitchFamily="2" charset="-122"/>
            </a:endParaRPr>
          </a:p>
          <a:p>
            <a:pPr lvl="1">
              <a:lnSpc>
                <a:spcPct val="150000"/>
              </a:lnSpc>
              <a:buFont typeface="Wingdings" panose="05000000000000000000" pitchFamily="2" charset="2"/>
              <a:buChar char="ü"/>
            </a:pPr>
            <a:r>
              <a:rPr lang="zh-CN" altLang="en-US" sz="2000" b="1" dirty="0">
                <a:ea typeface="华文楷体" panose="02010600040101010101" pitchFamily="2" charset="-122"/>
              </a:rPr>
              <a:t>接受参数个数可变的模板</a:t>
            </a:r>
            <a:endParaRPr lang="en-US" altLang="zh-CN" sz="2000" b="1" dirty="0">
              <a:ea typeface="华文楷体" panose="02010600040101010101" pitchFamily="2" charset="-122"/>
            </a:endParaRPr>
          </a:p>
          <a:p>
            <a:pPr lvl="1">
              <a:lnSpc>
                <a:spcPct val="150000"/>
              </a:lnSpc>
              <a:buFont typeface="Wingdings" panose="05000000000000000000" pitchFamily="2" charset="2"/>
              <a:buChar char="ü"/>
            </a:pPr>
            <a:r>
              <a:rPr lang="zh-CN" altLang="en-US" sz="2000" b="1" dirty="0">
                <a:ea typeface="华文楷体" panose="02010600040101010101" pitchFamily="2" charset="-122"/>
              </a:rPr>
              <a:t>可变参数模板中的可变数目的参数称为参数包（</a:t>
            </a:r>
            <a:r>
              <a:rPr lang="en-US" altLang="zh-CN" sz="2000" b="1" dirty="0">
                <a:ea typeface="华文楷体" panose="02010600040101010101" pitchFamily="2" charset="-122"/>
              </a:rPr>
              <a:t>parameter packet</a:t>
            </a:r>
            <a:r>
              <a:rPr lang="zh-CN" altLang="en-US" sz="2000" b="1" dirty="0">
                <a:ea typeface="华文楷体" panose="02010600040101010101" pitchFamily="2" charset="-122"/>
              </a:rPr>
              <a:t>），它用省略号表示零个或多个模板参数，具体对应于模板和模板函数有模板参数包（</a:t>
            </a:r>
            <a:r>
              <a:rPr lang="en-US" altLang="zh-CN" sz="2000" b="1" dirty="0" err="1">
                <a:ea typeface="华文楷体" panose="02010600040101010101" pitchFamily="2" charset="-122"/>
              </a:rPr>
              <a:t>templte</a:t>
            </a:r>
            <a:r>
              <a:rPr lang="en-US" altLang="zh-CN" sz="2000" b="1" dirty="0">
                <a:ea typeface="华文楷体" panose="02010600040101010101" pitchFamily="2" charset="-122"/>
              </a:rPr>
              <a:t> parameter packet</a:t>
            </a:r>
            <a:r>
              <a:rPr lang="zh-CN" altLang="en-US" sz="2000" b="1" dirty="0">
                <a:ea typeface="华文楷体" panose="02010600040101010101" pitchFamily="2" charset="-122"/>
              </a:rPr>
              <a:t>）和函数参数包（</a:t>
            </a:r>
            <a:r>
              <a:rPr lang="en-US" altLang="zh-CN" sz="2000" b="1" dirty="0">
                <a:ea typeface="华文楷体" panose="02010600040101010101" pitchFamily="2" charset="-122"/>
              </a:rPr>
              <a:t>function parameter packet</a:t>
            </a:r>
            <a:r>
              <a:rPr lang="zh-CN" altLang="en-US" sz="2000" b="1" dirty="0">
                <a:ea typeface="华文楷体" panose="02010600040101010101" pitchFamily="2" charset="-122"/>
              </a:rPr>
              <a:t>）</a:t>
            </a:r>
            <a:br>
              <a:rPr lang="en-US" altLang="zh-CN" sz="2000" b="1" dirty="0">
                <a:ea typeface="华文楷体" panose="02010600040101010101" pitchFamily="2" charset="-122"/>
              </a:rPr>
            </a:br>
            <a:r>
              <a:rPr lang="en-US" altLang="zh-CN" sz="2000" b="1" dirty="0">
                <a:solidFill>
                  <a:srgbClr val="FFFF00"/>
                </a:solidFill>
                <a:ea typeface="华文楷体" panose="02010600040101010101" pitchFamily="2" charset="-122"/>
              </a:rPr>
              <a:t>template&lt;</a:t>
            </a:r>
            <a:r>
              <a:rPr lang="en-US" altLang="zh-CN" sz="2000" b="1" dirty="0" err="1">
                <a:solidFill>
                  <a:srgbClr val="FFFF00"/>
                </a:solidFill>
                <a:ea typeface="华文楷体" panose="02010600040101010101" pitchFamily="2" charset="-122"/>
              </a:rPr>
              <a:t>typename</a:t>
            </a: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T,typename</a:t>
            </a: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TypeArgs</a:t>
            </a:r>
            <a:r>
              <a:rPr lang="en-US" altLang="zh-CN" sz="2000" b="1" dirty="0">
                <a:solidFill>
                  <a:srgbClr val="FFFF00"/>
                </a:solidFill>
                <a:ea typeface="华文楷体" panose="02010600040101010101" pitchFamily="2" charset="-122"/>
              </a:rPr>
              <a:t>&gt;//</a:t>
            </a:r>
            <a:r>
              <a:rPr lang="en-US" altLang="zh-CN" sz="2000" b="1" dirty="0" err="1">
                <a:solidFill>
                  <a:srgbClr val="FFFF00"/>
                </a:solidFill>
                <a:ea typeface="华文楷体" panose="02010600040101010101" pitchFamily="2" charset="-122"/>
              </a:rPr>
              <a:t>TypeArgs</a:t>
            </a:r>
            <a:r>
              <a:rPr lang="zh-CN" altLang="en-US" sz="2000" b="1" dirty="0">
                <a:solidFill>
                  <a:srgbClr val="FFFF00"/>
                </a:solidFill>
                <a:ea typeface="华文楷体" panose="02010600040101010101" pitchFamily="2" charset="-122"/>
              </a:rPr>
              <a:t>模板参数包</a:t>
            </a:r>
            <a:br>
              <a:rPr lang="en-US" altLang="zh-CN" sz="2000" b="1" dirty="0">
                <a:solidFill>
                  <a:srgbClr val="FFFF00"/>
                </a:solidFill>
                <a:ea typeface="华文楷体" panose="02010600040101010101" pitchFamily="2" charset="-122"/>
              </a:rPr>
            </a:br>
            <a:r>
              <a:rPr lang="en-US" altLang="zh-CN" sz="2000" b="1" dirty="0">
                <a:solidFill>
                  <a:srgbClr val="FFFF00"/>
                </a:solidFill>
                <a:ea typeface="华文楷体" panose="02010600040101010101" pitchFamily="2" charset="-122"/>
              </a:rPr>
              <a:t>void </a:t>
            </a:r>
            <a:r>
              <a:rPr lang="en-US" altLang="zh-CN" sz="2000" b="1" dirty="0" err="1">
                <a:solidFill>
                  <a:srgbClr val="FFFF00"/>
                </a:solidFill>
                <a:ea typeface="华文楷体" panose="02010600040101010101" pitchFamily="2" charset="-122"/>
              </a:rPr>
              <a:t>func</a:t>
            </a:r>
            <a:r>
              <a:rPr lang="en-US" altLang="zh-CN" sz="2000" b="1" dirty="0">
                <a:solidFill>
                  <a:srgbClr val="FFFF00"/>
                </a:solidFill>
                <a:ea typeface="华文楷体" panose="02010600040101010101" pitchFamily="2" charset="-122"/>
              </a:rPr>
              <a:t>(T &amp;</a:t>
            </a:r>
            <a:r>
              <a:rPr lang="en-US" altLang="zh-CN" sz="2000" b="1" dirty="0" err="1">
                <a:solidFill>
                  <a:srgbClr val="FFFF00"/>
                </a:solidFill>
                <a:ea typeface="华文楷体" panose="02010600040101010101" pitchFamily="2" charset="-122"/>
              </a:rPr>
              <a:t>t,TypeArgs</a:t>
            </a:r>
            <a:r>
              <a:rPr lang="en-US" altLang="zh-CN" sz="2000" b="1" dirty="0">
                <a:solidFill>
                  <a:srgbClr val="FFFF00"/>
                </a:solidFill>
                <a:ea typeface="华文楷体" panose="02010600040101010101" pitchFamily="2" charset="-122"/>
              </a:rPr>
              <a:t>&amp;… </a:t>
            </a:r>
            <a:r>
              <a:rPr lang="en-US" altLang="zh-CN" sz="2000" b="1" dirty="0" err="1">
                <a:solidFill>
                  <a:srgbClr val="FFFF00"/>
                </a:solidFill>
                <a:ea typeface="华文楷体" panose="02010600040101010101" pitchFamily="2" charset="-122"/>
              </a:rPr>
              <a:t>args</a:t>
            </a: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args</a:t>
            </a:r>
            <a:r>
              <a:rPr lang="zh-CN" altLang="en-US" sz="2000" b="1" dirty="0">
                <a:solidFill>
                  <a:srgbClr val="FFFF00"/>
                </a:solidFill>
                <a:ea typeface="华文楷体" panose="02010600040101010101" pitchFamily="2" charset="-122"/>
              </a:rPr>
              <a:t>函数参数包</a:t>
            </a:r>
            <a:endParaRPr lang="en-US" altLang="zh-CN" sz="20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000" b="1" dirty="0">
                <a:ea typeface="华文楷体" panose="02010600040101010101" pitchFamily="2" charset="-122"/>
              </a:rPr>
              <a:t>可变参数模板功能实现上依赖于递归和测试包展开，终止条件对应于可变参数为</a:t>
            </a:r>
            <a:r>
              <a:rPr lang="en-US" altLang="zh-CN" sz="2000" b="1" dirty="0">
                <a:ea typeface="华文楷体" panose="02010600040101010101" pitchFamily="2" charset="-122"/>
              </a:rPr>
              <a:t>0</a:t>
            </a:r>
            <a:r>
              <a:rPr lang="zh-CN" altLang="en-US" sz="2000" b="1" dirty="0">
                <a:ea typeface="华文楷体" panose="02010600040101010101" pitchFamily="2" charset="-122"/>
              </a:rPr>
              <a:t>的情况。</a:t>
            </a:r>
            <a:endParaRPr lang="zh-CN" altLang="en-US" sz="2000" b="1" dirty="0">
              <a:ea typeface="华文楷体" panose="02010600040101010101" pitchFamily="2" charset="-122"/>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9.5.4 </a:t>
            </a:r>
            <a:r>
              <a:rPr lang="zh-CN" altLang="en-US" sz="4400" b="1" dirty="0">
                <a:latin typeface="Times New Roman" panose="02020603050405020304" pitchFamily="18" charset="0"/>
                <a:ea typeface="隶书" panose="02010509060101010101" pitchFamily="49" charset="-122"/>
              </a:rPr>
              <a:t>可变参数</a:t>
            </a:r>
            <a:r>
              <a:rPr lang="zh-CN" altLang="zh-CN" sz="4400" b="1" dirty="0">
                <a:latin typeface="Times New Roman" panose="02020603050405020304" pitchFamily="18" charset="0"/>
                <a:ea typeface="隶书" panose="02010509060101010101" pitchFamily="49" charset="-122"/>
              </a:rPr>
              <a:t>模板简介</a:t>
            </a:r>
            <a:endParaRPr lang="zh-CN" altLang="en-US" sz="4400" b="1" dirty="0">
              <a:latin typeface="Times New Roman" panose="02020603050405020304" pitchFamily="18" charset="0"/>
              <a:ea typeface="隶书" panose="02010509060101010101" pitchFamily="49" charset="-122"/>
            </a:endParaRPr>
          </a:p>
        </p:txBody>
      </p:sp>
      <p:sp>
        <p:nvSpPr>
          <p:cNvPr id="110595" name="内容占位符 2"/>
          <p:cNvSpPr>
            <a:spLocks noGrp="1"/>
          </p:cNvSpPr>
          <p:nvPr>
            <p:ph idx="1"/>
          </p:nvPr>
        </p:nvSpPr>
        <p:spPr>
          <a:xfrm>
            <a:off x="467544" y="1412776"/>
            <a:ext cx="8496944" cy="4351338"/>
          </a:xfrm>
          <a:solidFill>
            <a:schemeClr val="tx1"/>
          </a:solidFill>
        </p:spPr>
        <p:txBody>
          <a:bodyPr/>
          <a:lstStyle/>
          <a:p>
            <a:pPr marL="0" indent="0">
              <a:spcAft>
                <a:spcPct val="25000"/>
              </a:spcAft>
              <a:buNone/>
            </a:pPr>
            <a:r>
              <a:rPr lang="en-US" altLang="zh-CN" sz="2000" b="1" dirty="0">
                <a:solidFill>
                  <a:srgbClr val="000000"/>
                </a:solidFill>
                <a:ea typeface="华文楷体" panose="02010600040101010101" pitchFamily="2" charset="-122"/>
              </a:rPr>
              <a:t>#include &lt;</a:t>
            </a:r>
            <a:r>
              <a:rPr lang="en-US" altLang="zh-CN" sz="2000" b="1" dirty="0" err="1">
                <a:solidFill>
                  <a:srgbClr val="000000"/>
                </a:solidFill>
                <a:ea typeface="华文楷体" panose="02010600040101010101" pitchFamily="2" charset="-122"/>
              </a:rPr>
              <a:t>iostream</a:t>
            </a:r>
            <a:r>
              <a:rPr lang="en-US" altLang="zh-CN" sz="2000" b="1" dirty="0">
                <a:solidFill>
                  <a:srgbClr val="000000"/>
                </a:solidFill>
                <a:ea typeface="华文楷体" panose="02010600040101010101" pitchFamily="2" charset="-122"/>
              </a:rPr>
              <a:t>&gt;</a:t>
            </a:r>
            <a:endParaRPr lang="en-US" altLang="zh-CN" sz="2000" b="1" dirty="0">
              <a:solidFill>
                <a:srgbClr val="000000"/>
              </a:solidFill>
              <a:ea typeface="华文楷体" panose="02010600040101010101" pitchFamily="2" charset="-122"/>
            </a:endParaRPr>
          </a:p>
          <a:p>
            <a:pPr marL="0" indent="0">
              <a:spcAft>
                <a:spcPct val="25000"/>
              </a:spcAft>
              <a:buNone/>
            </a:pPr>
            <a:r>
              <a:rPr lang="en-US" altLang="zh-CN" sz="2000" b="1" dirty="0">
                <a:solidFill>
                  <a:srgbClr val="000000"/>
                </a:solidFill>
                <a:ea typeface="华文楷体" panose="02010600040101010101" pitchFamily="2" charset="-122"/>
              </a:rPr>
              <a:t>template</a:t>
            </a:r>
            <a:r>
              <a:rPr lang="en-US" altLang="zh-CN" sz="1800" b="1" dirty="0">
                <a:solidFill>
                  <a:srgbClr val="000000"/>
                </a:solidFill>
                <a:ea typeface="华文楷体" panose="02010600040101010101" pitchFamily="2" charset="-122"/>
              </a:rPr>
              <a:t>&lt;</a:t>
            </a:r>
            <a:r>
              <a:rPr lang="en-US" altLang="zh-CN" sz="1800" b="1" dirty="0" err="1">
                <a:solidFill>
                  <a:srgbClr val="000000"/>
                </a:solidFill>
                <a:ea typeface="华文楷体" panose="02010600040101010101" pitchFamily="2" charset="-122"/>
              </a:rPr>
              <a:t>typename</a:t>
            </a:r>
            <a:r>
              <a:rPr lang="en-US" altLang="zh-CN" sz="1800" b="1" dirty="0">
                <a:solidFill>
                  <a:srgbClr val="000000"/>
                </a:solidFill>
                <a:ea typeface="华文楷体" panose="02010600040101010101" pitchFamily="2" charset="-122"/>
              </a:rPr>
              <a:t> T&gt;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void print(</a:t>
            </a:r>
            <a:r>
              <a:rPr lang="en-US" altLang="zh-CN" sz="1800" b="1" dirty="0" err="1">
                <a:solidFill>
                  <a:srgbClr val="000000"/>
                </a:solidFill>
                <a:ea typeface="华文楷体" panose="02010600040101010101" pitchFamily="2" charset="-122"/>
              </a:rPr>
              <a:t>const</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T&amp;t</a:t>
            </a:r>
            <a:r>
              <a:rPr lang="en-US" altLang="zh-CN" sz="1800" b="1" dirty="0">
                <a:solidFill>
                  <a:srgbClr val="000000"/>
                </a:solidFill>
                <a:ea typeface="华文楷体" panose="02010600040101010101" pitchFamily="2" charset="-122"/>
              </a:rPr>
              <a: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std</a:t>
            </a:r>
            <a:r>
              <a:rPr lang="en-US" altLang="zh-CN" sz="1800" b="1" dirty="0">
                <a:solidFill>
                  <a:srgbClr val="000000"/>
                </a:solidFill>
                <a:ea typeface="华文楷体" panose="02010600040101010101" pitchFamily="2" charset="-122"/>
              </a:rPr>
              <a:t>::</a:t>
            </a:r>
            <a:r>
              <a:rPr lang="en-US" altLang="zh-CN" sz="1800" b="1" dirty="0" err="1">
                <a:solidFill>
                  <a:srgbClr val="000000"/>
                </a:solidFill>
                <a:ea typeface="华文楷体" panose="02010600040101010101" pitchFamily="2" charset="-122"/>
              </a:rPr>
              <a:t>cout</a:t>
            </a:r>
            <a:r>
              <a:rPr lang="en-US" altLang="zh-CN" sz="1800" b="1" dirty="0">
                <a:solidFill>
                  <a:srgbClr val="000000"/>
                </a:solidFill>
                <a:ea typeface="华文楷体" panose="02010600040101010101" pitchFamily="2" charset="-122"/>
              </a:rPr>
              <a:t>&lt;&lt;t&lt;&lt;</a:t>
            </a:r>
            <a:r>
              <a:rPr lang="en-US" altLang="zh-CN" sz="1800" b="1" dirty="0" err="1">
                <a:solidFill>
                  <a:srgbClr val="000000"/>
                </a:solidFill>
                <a:ea typeface="华文楷体" panose="02010600040101010101" pitchFamily="2" charset="-122"/>
              </a:rPr>
              <a:t>std</a:t>
            </a:r>
            <a:r>
              <a:rPr lang="en-US" altLang="zh-CN" sz="1800" b="1" dirty="0">
                <a:solidFill>
                  <a:srgbClr val="000000"/>
                </a:solidFill>
                <a:ea typeface="华文楷体" panose="02010600040101010101" pitchFamily="2" charset="-122"/>
              </a:rPr>
              <a:t>::</a:t>
            </a:r>
            <a:r>
              <a:rPr lang="en-US" altLang="zh-CN" sz="1800" b="1" dirty="0" err="1">
                <a:solidFill>
                  <a:srgbClr val="000000"/>
                </a:solidFill>
                <a:ea typeface="华文楷体" panose="02010600040101010101" pitchFamily="2" charset="-122"/>
              </a:rPr>
              <a:t>endl</a:t>
            </a:r>
            <a:r>
              <a:rPr lang="en-US" altLang="zh-CN" sz="1800" b="1" dirty="0">
                <a:solidFill>
                  <a:srgbClr val="000000"/>
                </a:solidFill>
                <a:ea typeface="华文楷体" panose="02010600040101010101" pitchFamily="2" charset="-122"/>
              </a:rPr>
              <a: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a:t>
            </a:r>
            <a:br>
              <a:rPr lang="en-US" altLang="zh-CN" sz="1800" b="1" dirty="0">
                <a:solidFill>
                  <a:srgbClr val="000000"/>
                </a:solidFill>
                <a:ea typeface="华文楷体" panose="02010600040101010101" pitchFamily="2" charset="-122"/>
              </a:rPr>
            </a:br>
            <a:r>
              <a:rPr lang="en-US" altLang="zh-CN" sz="1800" b="1" dirty="0">
                <a:solidFill>
                  <a:srgbClr val="000000"/>
                </a:solidFill>
                <a:ea typeface="华文楷体" panose="02010600040101010101" pitchFamily="2" charset="-122"/>
              </a:rPr>
              <a:t>template&lt;</a:t>
            </a:r>
            <a:r>
              <a:rPr lang="en-US" altLang="zh-CN" sz="1800" b="1" dirty="0" err="1">
                <a:solidFill>
                  <a:srgbClr val="000000"/>
                </a:solidFill>
                <a:ea typeface="华文楷体" panose="02010600040101010101" pitchFamily="2" charset="-122"/>
              </a:rPr>
              <a:t>typename</a:t>
            </a:r>
            <a:r>
              <a:rPr lang="en-US" altLang="zh-CN" sz="1800" b="1" dirty="0">
                <a:solidFill>
                  <a:srgbClr val="000000"/>
                </a:solidFill>
                <a:ea typeface="华文楷体" panose="02010600040101010101" pitchFamily="2" charset="-122"/>
              </a:rPr>
              <a:t> T, </a:t>
            </a:r>
            <a:r>
              <a:rPr lang="en-US" altLang="zh-CN" sz="1800" b="1" dirty="0" err="1">
                <a:solidFill>
                  <a:srgbClr val="000000"/>
                </a:solidFill>
                <a:ea typeface="华文楷体" panose="02010600040101010101" pitchFamily="2" charset="-122"/>
              </a:rPr>
              <a:t>typename</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TypeArgs</a:t>
            </a:r>
            <a:r>
              <a:rPr lang="en-US" altLang="zh-CN" sz="1800" b="1" dirty="0">
                <a:solidFill>
                  <a:srgbClr val="000000"/>
                </a:solidFill>
                <a:ea typeface="华文楷体" panose="02010600040101010101" pitchFamily="2" charset="-122"/>
              </a:rPr>
              <a:t>&gt;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void print(</a:t>
            </a:r>
            <a:r>
              <a:rPr lang="en-US" altLang="zh-CN" sz="1800" b="1" dirty="0" err="1">
                <a:solidFill>
                  <a:srgbClr val="000000"/>
                </a:solidFill>
                <a:ea typeface="华文楷体" panose="02010600040101010101" pitchFamily="2" charset="-122"/>
              </a:rPr>
              <a:t>const</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T&amp;t</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const</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TypeArgs</a:t>
            </a:r>
            <a:r>
              <a:rPr lang="en-US" altLang="zh-CN" sz="1800" b="1" dirty="0">
                <a:solidFill>
                  <a:srgbClr val="000000"/>
                </a:solidFill>
                <a:ea typeface="华文楷体" panose="02010600040101010101" pitchFamily="2" charset="-122"/>
              </a:rPr>
              <a:t>&amp;… </a:t>
            </a:r>
            <a:r>
              <a:rPr lang="en-US" altLang="zh-CN" sz="1800" b="1" dirty="0" err="1">
                <a:solidFill>
                  <a:srgbClr val="000000"/>
                </a:solidFill>
                <a:ea typeface="华文楷体" panose="02010600040101010101" pitchFamily="2" charset="-122"/>
              </a:rPr>
              <a:t>args</a:t>
            </a:r>
            <a:r>
              <a:rPr lang="en-US" altLang="zh-CN" sz="1800" b="1" dirty="0">
                <a:solidFill>
                  <a:srgbClr val="000000"/>
                </a:solidFill>
                <a:ea typeface="华文楷体" panose="02010600040101010101" pitchFamily="2" charset="-122"/>
              </a:rPr>
              <a: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std</a:t>
            </a:r>
            <a:r>
              <a:rPr lang="en-US" altLang="zh-CN" sz="1800" b="1" dirty="0">
                <a:solidFill>
                  <a:srgbClr val="000000"/>
                </a:solidFill>
                <a:ea typeface="华文楷体" panose="02010600040101010101" pitchFamily="2" charset="-122"/>
              </a:rPr>
              <a:t>::</a:t>
            </a:r>
            <a:r>
              <a:rPr lang="en-US" altLang="zh-CN" sz="1800" b="1" dirty="0" err="1">
                <a:solidFill>
                  <a:srgbClr val="000000"/>
                </a:solidFill>
                <a:ea typeface="华文楷体" panose="02010600040101010101" pitchFamily="2" charset="-122"/>
              </a:rPr>
              <a:t>cout</a:t>
            </a:r>
            <a:r>
              <a:rPr lang="en-US" altLang="zh-CN" sz="1800" b="1" dirty="0">
                <a:solidFill>
                  <a:srgbClr val="000000"/>
                </a:solidFill>
                <a:ea typeface="华文楷体" panose="02010600040101010101" pitchFamily="2" charset="-122"/>
              </a:rPr>
              <a:t>&lt;&lt;t&lt;&lt;</a:t>
            </a:r>
            <a:r>
              <a:rPr lang="en-US" altLang="zh-CN" sz="1800" b="1" dirty="0" err="1">
                <a:solidFill>
                  <a:srgbClr val="000000"/>
                </a:solidFill>
                <a:ea typeface="华文楷体" panose="02010600040101010101" pitchFamily="2" charset="-122"/>
              </a:rPr>
              <a:t>std</a:t>
            </a:r>
            <a:r>
              <a:rPr lang="en-US" altLang="zh-CN" sz="1800" b="1" dirty="0">
                <a:solidFill>
                  <a:srgbClr val="000000"/>
                </a:solidFill>
                <a:ea typeface="华文楷体" panose="02010600040101010101" pitchFamily="2" charset="-122"/>
              </a:rPr>
              <a:t>::</a:t>
            </a:r>
            <a:r>
              <a:rPr lang="en-US" altLang="zh-CN" sz="1800" b="1" dirty="0" err="1">
                <a:solidFill>
                  <a:srgbClr val="000000"/>
                </a:solidFill>
                <a:ea typeface="华文楷体" panose="02010600040101010101" pitchFamily="2" charset="-122"/>
              </a:rPr>
              <a:t>endl</a:t>
            </a:r>
            <a:r>
              <a:rPr lang="en-US" altLang="zh-CN" sz="1800" b="1" dirty="0">
                <a:solidFill>
                  <a:srgbClr val="000000"/>
                </a:solidFill>
                <a:ea typeface="华文楷体" panose="02010600040101010101" pitchFamily="2" charset="-122"/>
              </a:rPr>
              <a:t>;</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        return print(</a:t>
            </a:r>
            <a:r>
              <a:rPr lang="en-US" altLang="zh-CN" sz="1800" b="1" dirty="0" err="1">
                <a:solidFill>
                  <a:srgbClr val="000000"/>
                </a:solidFill>
                <a:ea typeface="华文楷体" panose="02010600040101010101" pitchFamily="2" charset="-122"/>
              </a:rPr>
              <a:t>args</a:t>
            </a:r>
            <a:r>
              <a:rPr lang="en-US" altLang="zh-CN" sz="1800" b="1" dirty="0">
                <a:solidFill>
                  <a:srgbClr val="000000"/>
                </a:solidFill>
                <a:ea typeface="华文楷体" panose="02010600040101010101" pitchFamily="2" charset="-122"/>
              </a:rPr>
              <a:t>…);   //</a:t>
            </a:r>
            <a:r>
              <a:rPr lang="en-US" altLang="zh-CN" sz="1800" b="1" dirty="0" err="1">
                <a:solidFill>
                  <a:srgbClr val="000000"/>
                </a:solidFill>
                <a:ea typeface="华文楷体" panose="02010600040101010101" pitchFamily="2" charset="-122"/>
              </a:rPr>
              <a:t>args</a:t>
            </a:r>
            <a:r>
              <a:rPr lang="en-US" altLang="zh-CN" sz="1800" b="1" dirty="0">
                <a:solidFill>
                  <a:srgbClr val="000000"/>
                </a:solidFill>
                <a:ea typeface="华文楷体" panose="02010600040101010101" pitchFamily="2" charset="-122"/>
              </a:rPr>
              <a:t>…</a:t>
            </a:r>
            <a:r>
              <a:rPr lang="zh-CN" altLang="en-US" sz="1800" b="1" dirty="0">
                <a:solidFill>
                  <a:srgbClr val="000000"/>
                </a:solidFill>
                <a:ea typeface="华文楷体" panose="02010600040101010101" pitchFamily="2" charset="-122"/>
              </a:rPr>
              <a:t>为参数包展开</a:t>
            </a:r>
            <a:endParaRPr lang="en-US" altLang="zh-CN" sz="1800" b="1" dirty="0">
              <a:solidFill>
                <a:srgbClr val="000000"/>
              </a:solidFill>
              <a:ea typeface="华文楷体" panose="02010600040101010101" pitchFamily="2" charset="-122"/>
            </a:endParaRPr>
          </a:p>
          <a:p>
            <a:pPr marL="0" indent="0">
              <a:spcAft>
                <a:spcPct val="25000"/>
              </a:spcAft>
              <a:buNone/>
            </a:pPr>
            <a:r>
              <a:rPr lang="en-US" altLang="zh-CN" sz="1800" b="1" dirty="0">
                <a:solidFill>
                  <a:srgbClr val="000000"/>
                </a:solidFill>
                <a:ea typeface="华文楷体" panose="02010600040101010101" pitchFamily="2" charset="-122"/>
              </a:rPr>
              <a:t>}</a:t>
            </a:r>
            <a:endParaRPr lang="zh-CN" altLang="en-US" sz="2000" b="1" dirty="0">
              <a:solidFill>
                <a:srgbClr val="000000"/>
              </a:solidFill>
              <a:ea typeface="华文楷体" panose="02010600040101010101" pitchFamily="2" charset="-122"/>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9.5.4 </a:t>
            </a:r>
            <a:r>
              <a:rPr lang="zh-CN" altLang="en-US" sz="4400" b="1" dirty="0">
                <a:latin typeface="Times New Roman" panose="02020603050405020304" pitchFamily="18" charset="0"/>
                <a:ea typeface="隶书" panose="02010509060101010101" pitchFamily="49" charset="-122"/>
              </a:rPr>
              <a:t>可变参数</a:t>
            </a:r>
            <a:r>
              <a:rPr lang="zh-CN" altLang="zh-CN" sz="4400" b="1" dirty="0">
                <a:latin typeface="Times New Roman" panose="02020603050405020304" pitchFamily="18" charset="0"/>
                <a:ea typeface="隶书" panose="02010509060101010101" pitchFamily="49" charset="-122"/>
              </a:rPr>
              <a:t>模板简介</a:t>
            </a:r>
            <a:endParaRPr lang="zh-CN" altLang="en-US" sz="4400" b="1" dirty="0">
              <a:latin typeface="Times New Roman" panose="02020603050405020304" pitchFamily="18" charset="0"/>
              <a:ea typeface="隶书" panose="02010509060101010101" pitchFamily="49" charset="-122"/>
            </a:endParaRPr>
          </a:p>
        </p:txBody>
      </p:sp>
      <p:graphicFrame>
        <p:nvGraphicFramePr>
          <p:cNvPr id="3" name="表格 2"/>
          <p:cNvGraphicFramePr>
            <a:graphicFrameLocks noGrp="1"/>
          </p:cNvGraphicFramePr>
          <p:nvPr/>
        </p:nvGraphicFramePr>
        <p:xfrm>
          <a:off x="539552" y="1988840"/>
          <a:ext cx="8496944" cy="1483360"/>
        </p:xfrm>
        <a:graphic>
          <a:graphicData uri="http://schemas.openxmlformats.org/drawingml/2006/table">
            <a:tbl>
              <a:tblPr firstRow="1" bandRow="1">
                <a:tableStyleId>{5C22544A-7EE6-4342-B048-85BDC9FD1C3A}</a:tableStyleId>
              </a:tblPr>
              <a:tblGrid>
                <a:gridCol w="1368152"/>
                <a:gridCol w="2880320"/>
                <a:gridCol w="1656184"/>
                <a:gridCol w="2592288"/>
              </a:tblGrid>
              <a:tr h="370840">
                <a:tc>
                  <a:txBody>
                    <a:bodyPr/>
                    <a:lstStyle/>
                    <a:p>
                      <a:r>
                        <a:rPr lang="zh-CN" altLang="en-US" b="1" dirty="0">
                          <a:solidFill>
                            <a:schemeClr val="tx1"/>
                          </a:solidFill>
                        </a:rPr>
                        <a:t>次数</a:t>
                      </a:r>
                      <a:endParaRPr lang="zh-CN" altLang="en-US" b="1" dirty="0">
                        <a:solidFill>
                          <a:schemeClr val="tx1"/>
                        </a:solidFill>
                      </a:endParaRPr>
                    </a:p>
                  </a:txBody>
                  <a:tcPr anchor="ctr">
                    <a:noFill/>
                  </a:tcPr>
                </a:tc>
                <a:tc>
                  <a:txBody>
                    <a:bodyPr/>
                    <a:lstStyle/>
                    <a:p>
                      <a:r>
                        <a:rPr lang="zh-CN" altLang="en-US" b="1" dirty="0">
                          <a:solidFill>
                            <a:schemeClr val="tx1"/>
                          </a:solidFill>
                        </a:rPr>
                        <a:t>递归调用</a:t>
                      </a:r>
                      <a:endParaRPr lang="zh-CN" altLang="en-US" b="1" dirty="0">
                        <a:solidFill>
                          <a:schemeClr val="tx1"/>
                        </a:solidFill>
                      </a:endParaRPr>
                    </a:p>
                  </a:txBody>
                  <a:tcPr anchor="ctr">
                    <a:noFill/>
                  </a:tcPr>
                </a:tc>
                <a:tc>
                  <a:txBody>
                    <a:bodyPr/>
                    <a:lstStyle/>
                    <a:p>
                      <a:r>
                        <a:rPr lang="en-US" altLang="zh-CN" b="1" dirty="0" err="1">
                          <a:solidFill>
                            <a:schemeClr val="tx1"/>
                          </a:solidFill>
                        </a:rPr>
                        <a:t>const</a:t>
                      </a:r>
                      <a:r>
                        <a:rPr lang="en-US" altLang="zh-CN" b="1" dirty="0">
                          <a:solidFill>
                            <a:schemeClr val="tx1"/>
                          </a:solidFill>
                        </a:rPr>
                        <a:t> T&amp;</a:t>
                      </a:r>
                      <a:r>
                        <a:rPr lang="zh-CN" altLang="en-US" b="1" dirty="0">
                          <a:solidFill>
                            <a:schemeClr val="tx1"/>
                          </a:solidFill>
                        </a:rPr>
                        <a:t>实参</a:t>
                      </a:r>
                      <a:endParaRPr lang="zh-CN" altLang="en-US" b="1" dirty="0">
                        <a:solidFill>
                          <a:schemeClr val="tx1"/>
                        </a:solidFill>
                      </a:endParaRPr>
                    </a:p>
                  </a:txBody>
                  <a:tcPr anchor="ctr">
                    <a:noFill/>
                  </a:tcPr>
                </a:tc>
                <a:tc>
                  <a:txBody>
                    <a:bodyPr/>
                    <a:lstStyle/>
                    <a:p>
                      <a:r>
                        <a:rPr lang="en-US" altLang="zh-CN" b="1" dirty="0" err="1">
                          <a:solidFill>
                            <a:schemeClr val="tx1"/>
                          </a:solidFill>
                        </a:rPr>
                        <a:t>const</a:t>
                      </a:r>
                      <a:r>
                        <a:rPr lang="en-US" altLang="zh-CN" b="1" dirty="0">
                          <a:solidFill>
                            <a:schemeClr val="tx1"/>
                          </a:solidFill>
                        </a:rPr>
                        <a:t> </a:t>
                      </a:r>
                      <a:r>
                        <a:rPr lang="en-US" altLang="zh-CN" b="1" dirty="0" err="1">
                          <a:solidFill>
                            <a:schemeClr val="tx1"/>
                          </a:solidFill>
                        </a:rPr>
                        <a:t>TpeArgs</a:t>
                      </a:r>
                      <a:r>
                        <a:rPr lang="en-US" altLang="zh-CN" b="1" dirty="0">
                          <a:solidFill>
                            <a:schemeClr val="tx1"/>
                          </a:solidFill>
                        </a:rPr>
                        <a:t>&amp;…</a:t>
                      </a:r>
                      <a:r>
                        <a:rPr lang="zh-CN" altLang="en-US" b="1" dirty="0">
                          <a:solidFill>
                            <a:schemeClr val="tx1"/>
                          </a:solidFill>
                        </a:rPr>
                        <a:t>实参</a:t>
                      </a:r>
                      <a:endParaRPr lang="zh-CN" altLang="en-US" b="1" dirty="0">
                        <a:solidFill>
                          <a:schemeClr val="tx1"/>
                        </a:solidFill>
                      </a:endParaRPr>
                    </a:p>
                  </a:txBody>
                  <a:tcPr anchor="ctr">
                    <a:noFill/>
                  </a:tcPr>
                </a:tc>
              </a:tr>
              <a:tr h="370840">
                <a:tc>
                  <a:txBody>
                    <a:bodyPr/>
                    <a:lstStyle/>
                    <a:p>
                      <a:r>
                        <a:rPr lang="en-US" altLang="zh-CN" b="1" dirty="0">
                          <a:solidFill>
                            <a:schemeClr val="tx1"/>
                          </a:solidFill>
                        </a:rPr>
                        <a:t>1</a:t>
                      </a:r>
                      <a:endParaRPr lang="zh-CN" altLang="en-US" b="1" dirty="0">
                        <a:solidFill>
                          <a:schemeClr val="tx1"/>
                        </a:solidFill>
                      </a:endParaRPr>
                    </a:p>
                  </a:txBody>
                  <a:tcPr anchor="ctr">
                    <a:noFill/>
                  </a:tcPr>
                </a:tc>
                <a:tc>
                  <a:txBody>
                    <a:bodyPr/>
                    <a:lstStyle/>
                    <a:p>
                      <a:r>
                        <a:rPr lang="en-US" altLang="zh-CN" b="1" dirty="0">
                          <a:solidFill>
                            <a:schemeClr val="tx1"/>
                          </a:solidFill>
                        </a:rPr>
                        <a:t>print(3,4.5,”hello world!”)</a:t>
                      </a:r>
                      <a:r>
                        <a:rPr lang="zh-CN" altLang="en-US" b="1" dirty="0">
                          <a:solidFill>
                            <a:schemeClr val="tx1"/>
                          </a:solidFill>
                        </a:rPr>
                        <a:t>；</a:t>
                      </a:r>
                      <a:endParaRPr lang="zh-CN" altLang="en-US" b="1" dirty="0">
                        <a:solidFill>
                          <a:schemeClr val="tx1"/>
                        </a:solidFill>
                      </a:endParaRPr>
                    </a:p>
                  </a:txBody>
                  <a:tcPr anchor="ctr">
                    <a:noFill/>
                  </a:tcPr>
                </a:tc>
                <a:tc>
                  <a:txBody>
                    <a:bodyPr/>
                    <a:lstStyle/>
                    <a:p>
                      <a:r>
                        <a:rPr lang="en-US" altLang="zh-CN" b="1" dirty="0">
                          <a:solidFill>
                            <a:schemeClr val="tx1"/>
                          </a:solidFill>
                        </a:rPr>
                        <a:t>3</a:t>
                      </a:r>
                      <a:endParaRPr lang="zh-CN" altLang="en-US" b="1" dirty="0">
                        <a:solidFill>
                          <a:schemeClr val="tx1"/>
                        </a:solidFill>
                      </a:endParaRPr>
                    </a:p>
                  </a:txBody>
                  <a:tcPr anchor="ctr">
                    <a:noFill/>
                  </a:tcPr>
                </a:tc>
                <a:tc>
                  <a:txBody>
                    <a:bodyPr/>
                    <a:lstStyle/>
                    <a:p>
                      <a:r>
                        <a:rPr lang="en-US" altLang="zh-CN" b="1" dirty="0">
                          <a:solidFill>
                            <a:schemeClr val="tx1"/>
                          </a:solidFill>
                        </a:rPr>
                        <a:t>4.5,”hello</a:t>
                      </a:r>
                      <a:r>
                        <a:rPr lang="en-US" altLang="zh-CN" b="1" baseline="0" dirty="0">
                          <a:solidFill>
                            <a:schemeClr val="tx1"/>
                          </a:solidFill>
                        </a:rPr>
                        <a:t> world!”</a:t>
                      </a:r>
                      <a:endParaRPr lang="zh-CN" altLang="en-US" b="1" dirty="0">
                        <a:solidFill>
                          <a:schemeClr val="tx1"/>
                        </a:solidFill>
                      </a:endParaRPr>
                    </a:p>
                  </a:txBody>
                  <a:tcPr anchor="ctr">
                    <a:noFill/>
                  </a:tcPr>
                </a:tc>
              </a:tr>
              <a:tr h="370840">
                <a:tc>
                  <a:txBody>
                    <a:bodyPr/>
                    <a:lstStyle/>
                    <a:p>
                      <a:r>
                        <a:rPr lang="en-US" altLang="zh-CN" b="1" dirty="0">
                          <a:solidFill>
                            <a:schemeClr val="tx1"/>
                          </a:solidFill>
                        </a:rPr>
                        <a:t>2</a:t>
                      </a:r>
                      <a:endParaRPr lang="zh-CN" altLang="en-US" b="1" dirty="0">
                        <a:solidFill>
                          <a:schemeClr val="tx1"/>
                        </a:solidFill>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solidFill>
                        </a:rPr>
                        <a:t>print(4.5,”hello world!”)</a:t>
                      </a:r>
                      <a:r>
                        <a:rPr lang="zh-CN" altLang="en-US" b="1" dirty="0">
                          <a:solidFill>
                            <a:schemeClr val="tx1"/>
                          </a:solidFill>
                        </a:rPr>
                        <a:t>；</a:t>
                      </a:r>
                      <a:endParaRPr lang="zh-CN" altLang="en-US" b="1" dirty="0">
                        <a:solidFill>
                          <a:schemeClr val="tx1"/>
                        </a:solidFill>
                      </a:endParaRPr>
                    </a:p>
                  </a:txBody>
                  <a:tcPr anchor="ctr">
                    <a:noFill/>
                  </a:tcPr>
                </a:tc>
                <a:tc>
                  <a:txBody>
                    <a:bodyPr/>
                    <a:lstStyle/>
                    <a:p>
                      <a:r>
                        <a:rPr lang="en-US" altLang="zh-CN" b="1" dirty="0">
                          <a:solidFill>
                            <a:schemeClr val="tx1"/>
                          </a:solidFill>
                        </a:rPr>
                        <a:t>4.5</a:t>
                      </a:r>
                      <a:endParaRPr lang="zh-CN" altLang="en-US" b="1" dirty="0">
                        <a:solidFill>
                          <a:schemeClr val="tx1"/>
                        </a:solidFill>
                      </a:endParaRPr>
                    </a:p>
                  </a:txBody>
                  <a:tcPr anchor="ctr">
                    <a:noFill/>
                  </a:tcPr>
                </a:tc>
                <a:tc>
                  <a:txBody>
                    <a:bodyPr/>
                    <a:lstStyle/>
                    <a:p>
                      <a:r>
                        <a:rPr lang="en-US" altLang="zh-CN" b="1" dirty="0">
                          <a:solidFill>
                            <a:schemeClr val="tx1"/>
                          </a:solidFill>
                        </a:rPr>
                        <a:t>”hello</a:t>
                      </a:r>
                      <a:r>
                        <a:rPr lang="en-US" altLang="zh-CN" b="1" baseline="0" dirty="0">
                          <a:solidFill>
                            <a:schemeClr val="tx1"/>
                          </a:solidFill>
                        </a:rPr>
                        <a:t> world!”</a:t>
                      </a:r>
                      <a:endParaRPr lang="zh-CN" altLang="en-US" b="1" dirty="0">
                        <a:solidFill>
                          <a:schemeClr val="tx1"/>
                        </a:solidFill>
                      </a:endParaRPr>
                    </a:p>
                  </a:txBody>
                  <a:tcPr anchor="ctr">
                    <a:noFill/>
                  </a:tcPr>
                </a:tc>
              </a:tr>
              <a:tr h="370840">
                <a:tc>
                  <a:txBody>
                    <a:bodyPr/>
                    <a:lstStyle/>
                    <a:p>
                      <a:r>
                        <a:rPr lang="en-US" altLang="zh-CN" b="1" dirty="0">
                          <a:solidFill>
                            <a:schemeClr val="tx1"/>
                          </a:solidFill>
                        </a:rPr>
                        <a:t>3</a:t>
                      </a:r>
                      <a:endParaRPr lang="zh-CN" altLang="en-US" b="1" dirty="0">
                        <a:solidFill>
                          <a:schemeClr val="tx1"/>
                        </a:solidFill>
                      </a:endParaRPr>
                    </a:p>
                  </a:txBody>
                  <a:tcPr anchor="c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b="1" dirty="0">
                          <a:solidFill>
                            <a:schemeClr val="tx1"/>
                          </a:solidFill>
                        </a:rPr>
                        <a:t>print(”hello world!”)</a:t>
                      </a:r>
                      <a:r>
                        <a:rPr lang="zh-CN" altLang="en-US" b="1" dirty="0">
                          <a:solidFill>
                            <a:schemeClr val="tx1"/>
                          </a:solidFill>
                        </a:rPr>
                        <a:t>；</a:t>
                      </a:r>
                      <a:endParaRPr lang="zh-CN" altLang="en-US" b="1" dirty="0">
                        <a:solidFill>
                          <a:schemeClr val="tx1"/>
                        </a:solidFill>
                      </a:endParaRPr>
                    </a:p>
                  </a:txBody>
                  <a:tcPr anchor="ctr">
                    <a:noFill/>
                  </a:tcPr>
                </a:tc>
                <a:tc>
                  <a:txBody>
                    <a:bodyPr/>
                    <a:lstStyle/>
                    <a:p>
                      <a:r>
                        <a:rPr lang="en-US" altLang="zh-CN" b="1" dirty="0">
                          <a:solidFill>
                            <a:schemeClr val="tx1"/>
                          </a:solidFill>
                        </a:rPr>
                        <a:t>“hello world!”</a:t>
                      </a:r>
                      <a:endParaRPr lang="zh-CN" altLang="en-US" b="1" dirty="0">
                        <a:solidFill>
                          <a:schemeClr val="tx1"/>
                        </a:solidFill>
                      </a:endParaRPr>
                    </a:p>
                  </a:txBody>
                  <a:tcPr anchor="ctr">
                    <a:noFill/>
                  </a:tcPr>
                </a:tc>
                <a:tc>
                  <a:txBody>
                    <a:bodyPr/>
                    <a:lstStyle/>
                    <a:p>
                      <a:endParaRPr lang="zh-CN" altLang="en-US" b="1" dirty="0">
                        <a:solidFill>
                          <a:schemeClr val="tx1"/>
                        </a:solidFill>
                      </a:endParaRPr>
                    </a:p>
                  </a:txBody>
                  <a:tcPr anchor="ctr">
                    <a:noFill/>
                  </a:tcPr>
                </a:tc>
              </a:tr>
            </a:tbl>
          </a:graphicData>
        </a:graphic>
      </p:graphicFrame>
      <p:sp>
        <p:nvSpPr>
          <p:cNvPr id="4" name="矩形 3"/>
          <p:cNvSpPr/>
          <p:nvPr/>
        </p:nvSpPr>
        <p:spPr>
          <a:xfrm>
            <a:off x="1043608" y="3645024"/>
            <a:ext cx="7992888" cy="1938992"/>
          </a:xfrm>
          <a:prstGeom prst="rect">
            <a:avLst/>
          </a:prstGeom>
        </p:spPr>
        <p:txBody>
          <a:bodyPr wrap="square">
            <a:spAutoFit/>
          </a:bodyPr>
          <a:lstStyle/>
          <a:p>
            <a:pPr algn="l">
              <a:lnSpc>
                <a:spcPct val="150000"/>
              </a:lnSpc>
            </a:pPr>
            <a:r>
              <a:rPr lang="zh-CN" altLang="en-US" sz="2000" b="1" dirty="0">
                <a:solidFill>
                  <a:srgbClr val="FFFF00"/>
                </a:solidFill>
                <a:latin typeface="+mn-lt"/>
                <a:ea typeface="华文楷体" panose="02010600040101010101" pitchFamily="2" charset="-122"/>
              </a:rPr>
              <a:t>实例化的函数如下：</a:t>
            </a:r>
            <a:endParaRPr lang="en-US" altLang="zh-CN" sz="2000" b="1" dirty="0">
              <a:solidFill>
                <a:srgbClr val="FFFF00"/>
              </a:solidFill>
              <a:latin typeface="+mn-lt"/>
              <a:ea typeface="华文楷体" panose="02010600040101010101" pitchFamily="2" charset="-122"/>
            </a:endParaRPr>
          </a:p>
          <a:p>
            <a:pPr marL="457200" indent="-457200" algn="l">
              <a:lnSpc>
                <a:spcPct val="150000"/>
              </a:lnSpc>
              <a:buFont typeface="+mj-lt"/>
              <a:buAutoNum type="arabicPeriod"/>
            </a:pPr>
            <a:r>
              <a:rPr lang="en-US" altLang="zh-CN" sz="2000" b="1" dirty="0">
                <a:solidFill>
                  <a:srgbClr val="FFFF00"/>
                </a:solidFill>
                <a:latin typeface="+mn-lt"/>
                <a:ea typeface="华文楷体" panose="02010600040101010101" pitchFamily="2" charset="-122"/>
              </a:rPr>
              <a:t>void print(</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a:t>
            </a:r>
            <a:r>
              <a:rPr lang="en-US" altLang="zh-CN" sz="2000" b="1" dirty="0" err="1">
                <a:solidFill>
                  <a:srgbClr val="FFFF00"/>
                </a:solidFill>
                <a:latin typeface="+mn-lt"/>
                <a:ea typeface="华文楷体" panose="02010600040101010101" pitchFamily="2" charset="-122"/>
              </a:rPr>
              <a:t>int</a:t>
            </a:r>
            <a:r>
              <a:rPr lang="en-US" altLang="zh-CN" sz="2000" b="1" dirty="0">
                <a:solidFill>
                  <a:srgbClr val="FFFF00"/>
                </a:solidFill>
                <a:latin typeface="+mn-lt"/>
                <a:ea typeface="华文楷体" panose="02010600040101010101" pitchFamily="2" charset="-122"/>
              </a:rPr>
              <a:t>&amp;, </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double&amp;, </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a:t>
            </a:r>
            <a:r>
              <a:rPr lang="en-US" altLang="zh-CN" sz="2000" b="1" dirty="0" err="1">
                <a:solidFill>
                  <a:srgbClr val="FFFF00"/>
                </a:solidFill>
                <a:latin typeface="+mn-lt"/>
                <a:ea typeface="华文楷体" panose="02010600040101010101" pitchFamily="2" charset="-122"/>
              </a:rPr>
              <a:t>std</a:t>
            </a:r>
            <a:r>
              <a:rPr lang="en-US" altLang="zh-CN" sz="2000" b="1" dirty="0">
                <a:solidFill>
                  <a:srgbClr val="FFFF00"/>
                </a:solidFill>
                <a:latin typeface="+mn-lt"/>
                <a:ea typeface="华文楷体" panose="02010600040101010101" pitchFamily="2" charset="-122"/>
              </a:rPr>
              <a:t>::string&amp;);</a:t>
            </a:r>
            <a:endParaRPr lang="en-US" altLang="zh-CN" sz="2000" b="1" dirty="0">
              <a:solidFill>
                <a:srgbClr val="FFFF00"/>
              </a:solidFill>
              <a:latin typeface="+mn-lt"/>
              <a:ea typeface="华文楷体" panose="02010600040101010101" pitchFamily="2" charset="-122"/>
            </a:endParaRPr>
          </a:p>
          <a:p>
            <a:pPr marL="457200" indent="-457200" algn="l">
              <a:lnSpc>
                <a:spcPct val="150000"/>
              </a:lnSpc>
              <a:buFont typeface="+mj-lt"/>
              <a:buAutoNum type="arabicPeriod"/>
            </a:pPr>
            <a:r>
              <a:rPr lang="en-US" altLang="zh-CN" sz="2000" b="1" dirty="0">
                <a:solidFill>
                  <a:srgbClr val="FFFF00"/>
                </a:solidFill>
                <a:latin typeface="+mn-lt"/>
                <a:ea typeface="华文楷体" panose="02010600040101010101" pitchFamily="2" charset="-122"/>
              </a:rPr>
              <a:t>void print(</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double&amp;, </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a:t>
            </a:r>
            <a:r>
              <a:rPr lang="en-US" altLang="zh-CN" sz="2000" b="1" dirty="0" err="1">
                <a:solidFill>
                  <a:srgbClr val="FFFF00"/>
                </a:solidFill>
                <a:latin typeface="+mn-lt"/>
                <a:ea typeface="华文楷体" panose="02010600040101010101" pitchFamily="2" charset="-122"/>
              </a:rPr>
              <a:t>std</a:t>
            </a:r>
            <a:r>
              <a:rPr lang="en-US" altLang="zh-CN" sz="2000" b="1" dirty="0">
                <a:solidFill>
                  <a:srgbClr val="FFFF00"/>
                </a:solidFill>
                <a:latin typeface="+mn-lt"/>
                <a:ea typeface="华文楷体" panose="02010600040101010101" pitchFamily="2" charset="-122"/>
              </a:rPr>
              <a:t>::string&amp;);</a:t>
            </a:r>
            <a:endParaRPr lang="zh-CN" altLang="en-US" sz="2000" b="1" dirty="0">
              <a:solidFill>
                <a:srgbClr val="FFFF00"/>
              </a:solidFill>
              <a:latin typeface="+mn-lt"/>
              <a:ea typeface="华文楷体" panose="02010600040101010101" pitchFamily="2" charset="-122"/>
            </a:endParaRPr>
          </a:p>
          <a:p>
            <a:pPr marL="457200" indent="-457200" algn="l">
              <a:lnSpc>
                <a:spcPct val="150000"/>
              </a:lnSpc>
              <a:buFont typeface="+mj-lt"/>
              <a:buAutoNum type="arabicPeriod"/>
            </a:pPr>
            <a:r>
              <a:rPr lang="en-US" altLang="zh-CN" sz="2000" b="1" dirty="0">
                <a:solidFill>
                  <a:srgbClr val="FFFF00"/>
                </a:solidFill>
                <a:latin typeface="+mn-lt"/>
                <a:ea typeface="华文楷体" panose="02010600040101010101" pitchFamily="2" charset="-122"/>
              </a:rPr>
              <a:t>void print(</a:t>
            </a:r>
            <a:r>
              <a:rPr lang="en-US" altLang="zh-CN" sz="2000" b="1" dirty="0" err="1">
                <a:solidFill>
                  <a:srgbClr val="FFFF00"/>
                </a:solidFill>
                <a:latin typeface="+mn-lt"/>
                <a:ea typeface="华文楷体" panose="02010600040101010101" pitchFamily="2" charset="-122"/>
              </a:rPr>
              <a:t>const</a:t>
            </a:r>
            <a:r>
              <a:rPr lang="en-US" altLang="zh-CN" sz="2000" b="1" dirty="0">
                <a:solidFill>
                  <a:srgbClr val="FFFF00"/>
                </a:solidFill>
                <a:latin typeface="+mn-lt"/>
                <a:ea typeface="华文楷体" panose="02010600040101010101" pitchFamily="2" charset="-122"/>
              </a:rPr>
              <a:t> </a:t>
            </a:r>
            <a:r>
              <a:rPr lang="en-US" altLang="zh-CN" sz="2000" b="1" dirty="0" err="1">
                <a:solidFill>
                  <a:srgbClr val="FFFF00"/>
                </a:solidFill>
                <a:latin typeface="+mn-lt"/>
                <a:ea typeface="华文楷体" panose="02010600040101010101" pitchFamily="2" charset="-122"/>
              </a:rPr>
              <a:t>std</a:t>
            </a:r>
            <a:r>
              <a:rPr lang="en-US" altLang="zh-CN" sz="2000" b="1" dirty="0">
                <a:solidFill>
                  <a:srgbClr val="FFFF00"/>
                </a:solidFill>
                <a:latin typeface="+mn-lt"/>
                <a:ea typeface="华文楷体" panose="02010600040101010101" pitchFamily="2" charset="-122"/>
              </a:rPr>
              <a:t>::string&amp;);</a:t>
            </a:r>
            <a:endParaRPr lang="zh-CN" altLang="en-US" sz="2000" b="1" dirty="0">
              <a:solidFill>
                <a:srgbClr val="FFFF00"/>
              </a:solidFill>
              <a:latin typeface="+mn-lt"/>
              <a:ea typeface="华文楷体" panose="02010600040101010101" pitchFamily="2" charset="-122"/>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9.5.4 </a:t>
            </a:r>
            <a:r>
              <a:rPr lang="zh-CN" altLang="en-US" sz="4400" b="1" dirty="0">
                <a:latin typeface="Times New Roman" panose="02020603050405020304" pitchFamily="18" charset="0"/>
                <a:ea typeface="隶书" panose="02010509060101010101" pitchFamily="49" charset="-122"/>
              </a:rPr>
              <a:t>可变参数</a:t>
            </a:r>
            <a:r>
              <a:rPr lang="zh-CN" altLang="zh-CN" sz="4400" b="1" dirty="0">
                <a:latin typeface="Times New Roman" panose="02020603050405020304" pitchFamily="18" charset="0"/>
                <a:ea typeface="隶书" panose="02010509060101010101" pitchFamily="49" charset="-122"/>
              </a:rPr>
              <a:t>模板简介</a:t>
            </a:r>
            <a:endParaRPr lang="zh-CN" altLang="en-US" sz="4400" b="1" dirty="0">
              <a:latin typeface="Times New Roman" panose="02020603050405020304" pitchFamily="18" charset="0"/>
              <a:ea typeface="隶书" panose="02010509060101010101" pitchFamily="49" charset="-122"/>
            </a:endParaRPr>
          </a:p>
        </p:txBody>
      </p:sp>
      <p:sp>
        <p:nvSpPr>
          <p:cNvPr id="4" name="矩形 3"/>
          <p:cNvSpPr/>
          <p:nvPr/>
        </p:nvSpPr>
        <p:spPr>
          <a:xfrm>
            <a:off x="827584" y="1690692"/>
            <a:ext cx="7992888" cy="4708981"/>
          </a:xfrm>
          <a:prstGeom prst="rect">
            <a:avLst/>
          </a:prstGeom>
        </p:spPr>
        <p:txBody>
          <a:bodyPr wrap="square">
            <a:spAutoFit/>
          </a:bodyPr>
          <a:lstStyle/>
          <a:p>
            <a:pPr algn="l">
              <a:lnSpc>
                <a:spcPct val="150000"/>
              </a:lnSpc>
            </a:pPr>
            <a:r>
              <a:rPr lang="zh-CN" altLang="en-US" sz="2000" b="1" dirty="0">
                <a:latin typeface="+mn-lt"/>
                <a:ea typeface="华文楷体" panose="02010600040101010101" pitchFamily="2" charset="-122"/>
              </a:rPr>
              <a:t>对于可变参数模板的使用，还可以确定参数个数（通过</a:t>
            </a:r>
            <a:r>
              <a:rPr lang="en-US" altLang="zh-CN" sz="2000" b="1" dirty="0" err="1">
                <a:latin typeface="+mn-lt"/>
                <a:ea typeface="华文楷体" panose="02010600040101010101" pitchFamily="2" charset="-122"/>
              </a:rPr>
              <a:t>sizeof</a:t>
            </a:r>
            <a:r>
              <a:rPr lang="zh-CN" altLang="en-US" sz="2000" b="1" dirty="0">
                <a:latin typeface="+mn-lt"/>
                <a:ea typeface="华文楷体" panose="02010600040101010101" pitchFamily="2" charset="-122"/>
              </a:rPr>
              <a:t>实现）；针对每个参数调用同一个函数的需求，通过指定每个扩展参数的模式来实现。例如：</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template &lt;</a:t>
            </a:r>
            <a:r>
              <a:rPr lang="en-US" altLang="zh-CN" sz="2000" b="1" dirty="0" err="1">
                <a:latin typeface="+mn-lt"/>
                <a:ea typeface="华文楷体" panose="02010600040101010101" pitchFamily="2" charset="-122"/>
              </a:rPr>
              <a:t>typename</a:t>
            </a:r>
            <a:r>
              <a:rPr lang="en-US" altLang="zh-CN" sz="2000" b="1" dirty="0">
                <a:latin typeface="+mn-lt"/>
                <a:ea typeface="华文楷体" panose="02010600040101010101" pitchFamily="2" charset="-122"/>
              </a:rPr>
              <a:t> T&gt;</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void </a:t>
            </a:r>
            <a:r>
              <a:rPr lang="en-US" altLang="zh-CN" sz="2000" b="1" dirty="0" err="1">
                <a:latin typeface="+mn-lt"/>
                <a:ea typeface="华文楷体" panose="02010600040101010101" pitchFamily="2" charset="-122"/>
              </a:rPr>
              <a:t>another_func</a:t>
            </a:r>
            <a:r>
              <a:rPr lang="en-US" altLang="zh-CN" sz="2000" b="1" dirty="0">
                <a:latin typeface="+mn-lt"/>
                <a:ea typeface="华文楷体" panose="02010600040101010101" pitchFamily="2" charset="-122"/>
              </a:rPr>
              <a:t>(T &amp;t);  //</a:t>
            </a:r>
            <a:r>
              <a:rPr lang="zh-CN" altLang="en-US" sz="2000" b="1" dirty="0">
                <a:latin typeface="+mn-lt"/>
                <a:ea typeface="华文楷体" panose="02010600040101010101" pitchFamily="2" charset="-122"/>
              </a:rPr>
              <a:t>此处为单个函数</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template&lt;</a:t>
            </a:r>
            <a:r>
              <a:rPr lang="en-US" altLang="zh-CN" sz="2000" b="1" dirty="0" err="1">
                <a:latin typeface="+mn-lt"/>
                <a:ea typeface="华文楷体" panose="02010600040101010101" pitchFamily="2" charset="-122"/>
              </a:rPr>
              <a:t>typename</a:t>
            </a:r>
            <a:r>
              <a:rPr lang="en-US" altLang="zh-CN" sz="2000" b="1" dirty="0">
                <a:latin typeface="+mn-lt"/>
                <a:ea typeface="华文楷体" panose="02010600040101010101" pitchFamily="2" charset="-122"/>
              </a:rPr>
              <a:t> T, </a:t>
            </a:r>
            <a:r>
              <a:rPr lang="en-US" altLang="zh-CN" sz="2000" b="1" dirty="0" err="1">
                <a:latin typeface="+mn-lt"/>
                <a:ea typeface="华文楷体" panose="02010600040101010101" pitchFamily="2" charset="-122"/>
              </a:rPr>
              <a:t>typename</a:t>
            </a:r>
            <a:r>
              <a:rPr lang="en-US" altLang="zh-CN" sz="2000" b="1" dirty="0">
                <a:latin typeface="+mn-lt"/>
                <a:ea typeface="华文楷体" panose="02010600040101010101" pitchFamily="2" charset="-122"/>
              </a:rPr>
              <a:t>… </a:t>
            </a:r>
            <a:r>
              <a:rPr lang="en-US" altLang="zh-CN" sz="2000" b="1" dirty="0" err="1">
                <a:latin typeface="+mn-lt"/>
                <a:ea typeface="华文楷体" panose="02010600040101010101" pitchFamily="2" charset="-122"/>
              </a:rPr>
              <a:t>TypeArgs</a:t>
            </a:r>
            <a:r>
              <a:rPr lang="en-US" altLang="zh-CN" sz="2000" b="1" dirty="0">
                <a:latin typeface="+mn-lt"/>
                <a:ea typeface="华文楷体" panose="02010600040101010101" pitchFamily="2" charset="-122"/>
              </a:rPr>
              <a:t>&gt;</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void </a:t>
            </a:r>
            <a:r>
              <a:rPr lang="en-US" altLang="zh-CN" sz="2000" b="1" dirty="0" err="1">
                <a:latin typeface="+mn-lt"/>
                <a:ea typeface="华文楷体" panose="02010600040101010101" pitchFamily="2" charset="-122"/>
              </a:rPr>
              <a:t>func</a:t>
            </a:r>
            <a:r>
              <a:rPr lang="en-US" altLang="zh-CN" sz="2000" b="1" dirty="0">
                <a:latin typeface="+mn-lt"/>
                <a:ea typeface="华文楷体" panose="02010600040101010101" pitchFamily="2" charset="-122"/>
              </a:rPr>
              <a:t>(</a:t>
            </a:r>
            <a:r>
              <a:rPr lang="en-US" altLang="zh-CN" sz="2000" b="1" dirty="0" err="1">
                <a:latin typeface="+mn-lt"/>
                <a:ea typeface="华文楷体" panose="02010600040101010101" pitchFamily="2" charset="-122"/>
              </a:rPr>
              <a:t>T&amp;t</a:t>
            </a:r>
            <a:r>
              <a:rPr lang="en-US" altLang="zh-CN" sz="2000" b="1" dirty="0">
                <a:latin typeface="+mn-lt"/>
                <a:ea typeface="华文楷体" panose="02010600040101010101" pitchFamily="2" charset="-122"/>
              </a:rPr>
              <a:t>, </a:t>
            </a:r>
            <a:r>
              <a:rPr lang="en-US" altLang="zh-CN" sz="2000" b="1" dirty="0" err="1">
                <a:latin typeface="+mn-lt"/>
                <a:ea typeface="华文楷体" panose="02010600040101010101" pitchFamily="2" charset="-122"/>
              </a:rPr>
              <a:t>TypeArgs</a:t>
            </a:r>
            <a:r>
              <a:rPr lang="en-US" altLang="zh-CN" sz="2000" b="1" dirty="0">
                <a:latin typeface="+mn-lt"/>
                <a:ea typeface="华文楷体" panose="02010600040101010101" pitchFamily="2" charset="-122"/>
              </a:rPr>
              <a:t>&amp;… </a:t>
            </a:r>
            <a:r>
              <a:rPr lang="en-US" altLang="zh-CN" sz="2000" b="1" dirty="0" err="1">
                <a:latin typeface="+mn-lt"/>
                <a:ea typeface="华文楷体" panose="02010600040101010101" pitchFamily="2" charset="-122"/>
              </a:rPr>
              <a:t>args</a:t>
            </a:r>
            <a:r>
              <a:rPr lang="en-US" altLang="zh-CN" sz="2000" b="1" dirty="0">
                <a:latin typeface="+mn-lt"/>
                <a:ea typeface="华文楷体" panose="02010600040101010101" pitchFamily="2" charset="-122"/>
              </a:rPr>
              <a:t>){</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    </a:t>
            </a:r>
            <a:r>
              <a:rPr lang="en-US" altLang="zh-CN" sz="2000" b="1" dirty="0" err="1">
                <a:latin typeface="+mn-lt"/>
                <a:ea typeface="华文楷体" panose="02010600040101010101" pitchFamily="2" charset="-122"/>
              </a:rPr>
              <a:t>std</a:t>
            </a:r>
            <a:r>
              <a:rPr lang="en-US" altLang="zh-CN" sz="2000" b="1" dirty="0">
                <a:latin typeface="+mn-lt"/>
                <a:ea typeface="华文楷体" panose="02010600040101010101" pitchFamily="2" charset="-122"/>
              </a:rPr>
              <a:t>::</a:t>
            </a:r>
            <a:r>
              <a:rPr lang="en-US" altLang="zh-CN" sz="2000" b="1" dirty="0" err="1">
                <a:latin typeface="+mn-lt"/>
                <a:ea typeface="华文楷体" panose="02010600040101010101" pitchFamily="2" charset="-122"/>
              </a:rPr>
              <a:t>cout</a:t>
            </a:r>
            <a:r>
              <a:rPr lang="en-US" altLang="zh-CN" sz="2000" b="1" dirty="0">
                <a:latin typeface="+mn-lt"/>
                <a:ea typeface="华文楷体" panose="02010600040101010101" pitchFamily="2" charset="-122"/>
              </a:rPr>
              <a:t>&lt;&lt;</a:t>
            </a:r>
            <a:r>
              <a:rPr lang="en-US" altLang="zh-CN" sz="2000" b="1" dirty="0" err="1">
                <a:latin typeface="+mn-lt"/>
                <a:ea typeface="华文楷体" panose="02010600040101010101" pitchFamily="2" charset="-122"/>
              </a:rPr>
              <a:t>sizeof</a:t>
            </a:r>
            <a:r>
              <a:rPr lang="en-US" altLang="zh-CN" sz="2000" b="1" dirty="0">
                <a:latin typeface="+mn-lt"/>
                <a:ea typeface="华文楷体" panose="02010600040101010101" pitchFamily="2" charset="-122"/>
              </a:rPr>
              <a:t>…(</a:t>
            </a:r>
            <a:r>
              <a:rPr lang="en-US" altLang="zh-CN" sz="2000" b="1" dirty="0" err="1">
                <a:latin typeface="+mn-lt"/>
                <a:ea typeface="华文楷体" panose="02010600040101010101" pitchFamily="2" charset="-122"/>
              </a:rPr>
              <a:t>args</a:t>
            </a:r>
            <a:r>
              <a:rPr lang="en-US" altLang="zh-CN" sz="2000" b="1" dirty="0">
                <a:latin typeface="+mn-lt"/>
                <a:ea typeface="华文楷体" panose="02010600040101010101" pitchFamily="2" charset="-122"/>
              </a:rPr>
              <a:t>)&lt;&lt;</a:t>
            </a:r>
            <a:r>
              <a:rPr lang="en-US" altLang="zh-CN" sz="2000" b="1" dirty="0" err="1">
                <a:latin typeface="+mn-lt"/>
                <a:ea typeface="华文楷体" panose="02010600040101010101" pitchFamily="2" charset="-122"/>
              </a:rPr>
              <a:t>std</a:t>
            </a:r>
            <a:r>
              <a:rPr lang="en-US" altLang="zh-CN" sz="2000" b="1" dirty="0">
                <a:latin typeface="+mn-lt"/>
                <a:ea typeface="华文楷体" panose="02010600040101010101" pitchFamily="2" charset="-122"/>
              </a:rPr>
              <a:t>::</a:t>
            </a:r>
            <a:r>
              <a:rPr lang="en-US" altLang="zh-CN" sz="2000" b="1" dirty="0" err="1">
                <a:latin typeface="+mn-lt"/>
                <a:ea typeface="华文楷体" panose="02010600040101010101" pitchFamily="2" charset="-122"/>
              </a:rPr>
              <a:t>endl</a:t>
            </a:r>
            <a:r>
              <a:rPr lang="en-US" altLang="zh-CN" sz="2000" b="1" dirty="0">
                <a:latin typeface="+mn-lt"/>
                <a:ea typeface="华文楷体" panose="02010600040101010101" pitchFamily="2" charset="-122"/>
              </a:rPr>
              <a:t>;  //</a:t>
            </a:r>
            <a:r>
              <a:rPr lang="zh-CN" altLang="en-US" sz="2000" b="1" dirty="0">
                <a:latin typeface="+mn-lt"/>
                <a:ea typeface="华文楷体" panose="02010600040101010101" pitchFamily="2" charset="-122"/>
              </a:rPr>
              <a:t>打印参数包</a:t>
            </a:r>
            <a:r>
              <a:rPr lang="en-US" altLang="zh-CN" sz="2000" b="1" dirty="0" err="1">
                <a:latin typeface="+mn-lt"/>
                <a:ea typeface="华文楷体" panose="02010600040101010101" pitchFamily="2" charset="-122"/>
              </a:rPr>
              <a:t>args</a:t>
            </a:r>
            <a:r>
              <a:rPr lang="zh-CN" altLang="en-US" sz="2000" b="1" dirty="0">
                <a:latin typeface="+mn-lt"/>
                <a:ea typeface="华文楷体" panose="02010600040101010101" pitchFamily="2" charset="-122"/>
              </a:rPr>
              <a:t>的参数个数</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    </a:t>
            </a:r>
            <a:r>
              <a:rPr lang="en-US" altLang="zh-CN" sz="2000" b="1" dirty="0" err="1">
                <a:latin typeface="+mn-lt"/>
                <a:ea typeface="华文楷体" panose="02010600040101010101" pitchFamily="2" charset="-122"/>
              </a:rPr>
              <a:t>another_func</a:t>
            </a:r>
            <a:r>
              <a:rPr lang="en-US" altLang="zh-CN" sz="2000" b="1" dirty="0">
                <a:latin typeface="+mn-lt"/>
                <a:ea typeface="华文楷体" panose="02010600040101010101" pitchFamily="2" charset="-122"/>
              </a:rPr>
              <a:t>(</a:t>
            </a:r>
            <a:r>
              <a:rPr lang="en-US" altLang="zh-CN" sz="2000" b="1" dirty="0" err="1">
                <a:latin typeface="+mn-lt"/>
                <a:ea typeface="华文楷体" panose="02010600040101010101" pitchFamily="2" charset="-122"/>
              </a:rPr>
              <a:t>args</a:t>
            </a:r>
            <a:r>
              <a:rPr lang="en-US" altLang="zh-CN" sz="2000" b="1" dirty="0">
                <a:latin typeface="+mn-lt"/>
                <a:ea typeface="华文楷体" panose="02010600040101010101" pitchFamily="2" charset="-122"/>
              </a:rPr>
              <a:t>)…;  //</a:t>
            </a:r>
            <a:r>
              <a:rPr lang="zh-CN" altLang="en-US" sz="2000" b="1" dirty="0">
                <a:latin typeface="+mn-lt"/>
                <a:ea typeface="华文楷体" panose="02010600040101010101" pitchFamily="2" charset="-122"/>
              </a:rPr>
              <a:t>对</a:t>
            </a:r>
            <a:r>
              <a:rPr lang="en-US" altLang="zh-CN" sz="2000" b="1" dirty="0" err="1">
                <a:latin typeface="+mn-lt"/>
                <a:ea typeface="华文楷体" panose="02010600040101010101" pitchFamily="2" charset="-122"/>
              </a:rPr>
              <a:t>args</a:t>
            </a:r>
            <a:r>
              <a:rPr lang="zh-CN" altLang="en-US" sz="2000" b="1" dirty="0">
                <a:latin typeface="+mn-lt"/>
                <a:ea typeface="华文楷体" panose="02010600040101010101" pitchFamily="2" charset="-122"/>
              </a:rPr>
              <a:t>每一个参数调用模式</a:t>
            </a:r>
            <a:r>
              <a:rPr lang="en-US" altLang="zh-CN" sz="2000" b="1" dirty="0" err="1">
                <a:latin typeface="+mn-lt"/>
                <a:ea typeface="华文楷体" panose="02010600040101010101" pitchFamily="2" charset="-122"/>
              </a:rPr>
              <a:t>anther_func</a:t>
            </a:r>
            <a:endParaRPr lang="en-US" altLang="zh-CN" sz="2000" b="1" dirty="0">
              <a:latin typeface="+mn-lt"/>
              <a:ea typeface="华文楷体" panose="02010600040101010101" pitchFamily="2" charset="-122"/>
            </a:endParaRPr>
          </a:p>
          <a:p>
            <a:pPr algn="l">
              <a:lnSpc>
                <a:spcPct val="150000"/>
              </a:lnSpc>
            </a:pPr>
            <a:r>
              <a:rPr lang="en-US" altLang="zh-CN" sz="2000" b="1" dirty="0">
                <a:latin typeface="+mn-lt"/>
                <a:ea typeface="华文楷体" panose="02010600040101010101" pitchFamily="2" charset="-122"/>
              </a:rPr>
              <a:t>}</a:t>
            </a:r>
            <a:endParaRPr lang="zh-CN" altLang="en-US" sz="2000" b="1" dirty="0">
              <a:latin typeface="+mn-lt"/>
              <a:ea typeface="华文楷体" panose="02010600040101010101" pitchFamily="2" charset="-122"/>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a:r>
              <a:rPr lang="zh-CN" altLang="en-US" sz="4400" b="1" dirty="0">
                <a:latin typeface="Times New Roman" panose="02020603050405020304" pitchFamily="18" charset="0"/>
                <a:ea typeface="隶书" panose="02010509060101010101" pitchFamily="49" charset="-122"/>
              </a:rPr>
              <a:t>本讲主要知识点</a:t>
            </a:r>
            <a:endParaRPr lang="zh-CN" altLang="en-US" sz="4400" b="1" dirty="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82293" y="1556792"/>
            <a:ext cx="8270875" cy="44452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20000"/>
              </a:spcBef>
              <a:spcAft>
                <a:spcPts val="600"/>
              </a:spcAft>
              <a:buClr>
                <a:schemeClr val="tx2"/>
              </a:buClr>
              <a:buSzPct val="70000"/>
            </a:pPr>
            <a:r>
              <a:rPr lang="zh-CN" altLang="en-US" sz="2800" dirty="0">
                <a:solidFill>
                  <a:srgbClr val="FFFF00"/>
                </a:solidFill>
                <a:latin typeface="+mn-lt"/>
                <a:ea typeface="+mj-ea"/>
              </a:rPr>
              <a:t>主要内容</a:t>
            </a:r>
            <a:endParaRPr lang="en-US" altLang="zh-CN" sz="2800" dirty="0">
              <a:solidFill>
                <a:srgbClr val="FFFF00"/>
              </a:solidFill>
              <a:latin typeface="+mn-lt"/>
              <a:ea typeface="+mj-ea"/>
            </a:endParaRPr>
          </a:p>
          <a:p>
            <a:pPr marL="0" indent="0" algn="l" eaLnBrk="1" hangingPunct="1">
              <a:spcBef>
                <a:spcPct val="20000"/>
              </a:spcBef>
              <a:spcAft>
                <a:spcPts val="600"/>
              </a:spcAft>
              <a:buClr>
                <a:schemeClr val="tx2"/>
              </a:buClr>
              <a:buSzPct val="70000"/>
            </a:pPr>
            <a:r>
              <a:rPr lang="zh-CN" altLang="en-US" sz="2800" dirty="0">
                <a:latin typeface="+mn-lt"/>
                <a:ea typeface="+mj-ea"/>
              </a:rPr>
              <a:t>模板</a:t>
            </a:r>
            <a:endParaRPr lang="en-US" altLang="zh-CN" sz="2800" dirty="0">
              <a:latin typeface="+mn-lt"/>
              <a:ea typeface="+mj-ea"/>
            </a:endParaRPr>
          </a:p>
          <a:p>
            <a:pPr marL="0" indent="0" algn="l" eaLnBrk="1" hangingPunct="1">
              <a:spcBef>
                <a:spcPct val="20000"/>
              </a:spcBef>
              <a:spcAft>
                <a:spcPts val="600"/>
              </a:spcAft>
              <a:buClr>
                <a:schemeClr val="tx2"/>
              </a:buClr>
              <a:buSzPct val="70000"/>
            </a:pPr>
            <a:r>
              <a:rPr lang="zh-CN" altLang="en-US" sz="2800" dirty="0">
                <a:latin typeface="+mn-lt"/>
                <a:ea typeface="+mj-ea"/>
              </a:rPr>
              <a:t>群体类和群体数据的组织</a:t>
            </a:r>
            <a:endParaRPr lang="zh-CN" altLang="en-US" sz="2800" dirty="0">
              <a:latin typeface="+mn-lt"/>
              <a:ea typeface="+mj-ea"/>
            </a:endParaRPr>
          </a:p>
          <a:p>
            <a:pPr marL="0" lvl="1" indent="0" algn="l" eaLnBrk="1" hangingPunct="1">
              <a:lnSpc>
                <a:spcPct val="150000"/>
              </a:lnSpc>
            </a:pPr>
            <a:r>
              <a:rPr lang="zh-CN" altLang="en-US" sz="2800" dirty="0">
                <a:solidFill>
                  <a:srgbClr val="FFFF00"/>
                </a:solidFill>
                <a:latin typeface="+mn-lt"/>
                <a:ea typeface="+mj-ea"/>
              </a:rPr>
              <a:t>达到的目标：</a:t>
            </a:r>
            <a:endParaRPr lang="en-US" altLang="zh-CN" sz="2800" dirty="0">
              <a:solidFill>
                <a:srgbClr val="FFFF00"/>
              </a:solidFill>
              <a:latin typeface="+mn-lt"/>
              <a:ea typeface="+mj-ea"/>
            </a:endParaRPr>
          </a:p>
          <a:p>
            <a:pPr marL="514350" indent="-514350" algn="l" eaLnBrk="1" hangingPunct="1">
              <a:spcAft>
                <a:spcPts val="300"/>
              </a:spcAft>
              <a:buClr>
                <a:srgbClr val="00B0F0"/>
              </a:buClr>
              <a:buSzPct val="79000"/>
              <a:buFont typeface="+mj-lt"/>
              <a:buAutoNum type="arabicPeriod"/>
            </a:pPr>
            <a:r>
              <a:rPr lang="zh-CN" altLang="en-US" sz="2400" dirty="0">
                <a:latin typeface="+mn-lt"/>
                <a:ea typeface="+mj-ea"/>
              </a:rPr>
              <a:t>理解模板的作用，学会简单的应用。</a:t>
            </a:r>
            <a:endParaRPr lang="en-US" altLang="zh-CN" sz="2400" dirty="0">
              <a:latin typeface="+mn-lt"/>
              <a:ea typeface="+mj-ea"/>
            </a:endParaRPr>
          </a:p>
          <a:p>
            <a:pPr marL="514350" indent="-514350" algn="l" eaLnBrk="1" hangingPunct="1">
              <a:spcAft>
                <a:spcPts val="300"/>
              </a:spcAft>
              <a:buClr>
                <a:srgbClr val="00B0F0"/>
              </a:buClr>
              <a:buSzPct val="79000"/>
              <a:buFont typeface="+mj-lt"/>
              <a:buAutoNum type="arabicPeriod"/>
            </a:pPr>
            <a:r>
              <a:rPr lang="zh-CN" altLang="en-US" sz="2400" dirty="0">
                <a:latin typeface="+mn-lt"/>
                <a:ea typeface="+mj-ea"/>
              </a:rPr>
              <a:t>以群体类以及查找、排序算法为综合例题，对前面章节的内容进行全面复习；</a:t>
            </a:r>
            <a:endParaRPr lang="en-US" altLang="zh-CN" sz="2400" dirty="0">
              <a:latin typeface="+mn-lt"/>
              <a:ea typeface="+mj-ea"/>
            </a:endParaRPr>
          </a:p>
          <a:p>
            <a:pPr marL="514350" indent="-514350" algn="l" eaLnBrk="1" hangingPunct="1">
              <a:spcAft>
                <a:spcPts val="300"/>
              </a:spcAft>
              <a:buClr>
                <a:srgbClr val="00B0F0"/>
              </a:buClr>
              <a:buSzPct val="79000"/>
              <a:buFont typeface="+mj-lt"/>
              <a:buAutoNum type="arabicPeriod"/>
            </a:pPr>
            <a:r>
              <a:rPr lang="zh-CN" altLang="en-US" sz="2400" dirty="0">
                <a:latin typeface="+mn-lt"/>
                <a:ea typeface="+mj-ea"/>
              </a:rPr>
              <a:t>掌握一些常用的数据结构和算法，能够解决一些略复杂的问题，也为下一章学习</a:t>
            </a:r>
            <a:r>
              <a:rPr lang="en-US" altLang="zh-CN" sz="2400" dirty="0">
                <a:latin typeface="+mn-lt"/>
                <a:ea typeface="+mj-ea"/>
              </a:rPr>
              <a:t>C++</a:t>
            </a:r>
            <a:r>
              <a:rPr lang="zh-CN" altLang="en-US" sz="2400" dirty="0">
                <a:latin typeface="+mn-lt"/>
                <a:ea typeface="+mj-ea"/>
              </a:rPr>
              <a:t>标准模板库打下基础</a:t>
            </a:r>
            <a:endParaRPr lang="zh-CN" altLang="en-US" sz="2400" dirty="0">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971600" y="2745939"/>
            <a:ext cx="7956550" cy="744484"/>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50000"/>
              </a:lnSpc>
              <a:spcBef>
                <a:spcPct val="20000"/>
              </a:spcBef>
              <a:spcAft>
                <a:spcPct val="10000"/>
              </a:spcAft>
              <a:buSzPct val="70000"/>
            </a:pPr>
            <a:r>
              <a:rPr lang="zh-CN" altLang="en-US" sz="2400" dirty="0">
                <a:latin typeface="+mn-lt"/>
                <a:ea typeface="+mj-ea"/>
              </a:rPr>
              <a:t>学生用书，实验</a:t>
            </a:r>
            <a:r>
              <a:rPr lang="en-US" altLang="zh-CN" sz="2400" dirty="0">
                <a:latin typeface="+mn-lt"/>
                <a:ea typeface="+mj-ea"/>
              </a:rPr>
              <a:t>9</a:t>
            </a:r>
            <a:r>
              <a:rPr lang="zh-CN" altLang="en-US" sz="2400" dirty="0">
                <a:latin typeface="+mn-lt"/>
                <a:ea typeface="+mj-ea"/>
              </a:rPr>
              <a:t>，群体类和群体数据的组织</a:t>
            </a:r>
            <a:endParaRPr lang="en-US" altLang="zh-CN"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475656" y="225428"/>
            <a:ext cx="7313613" cy="725486"/>
          </a:xfrm>
          <a:prstGeom prst="rect">
            <a:avLst/>
          </a:prstGeom>
        </p:spPr>
        <p:txBody>
          <a:bodyPr/>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9</a:t>
            </a:r>
            <a:r>
              <a:rPr lang="zh-CN" altLang="en-US" sz="4400" b="1" i="1" dirty="0">
                <a:effectLst>
                  <a:outerShdw blurRad="38100" dist="38100" dir="2700000" algn="tl">
                    <a:srgbClr val="000000"/>
                  </a:outerShdw>
                </a:effectLst>
                <a:ea typeface="隶书" panose="02010509060101010101" pitchFamily="49" charset="-122"/>
                <a:cs typeface="+mj-cs"/>
              </a:rPr>
              <a:t>讲上机练习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650081" y="1470026"/>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a:r>
              <a:rPr lang="zh-CN" altLang="en-US" dirty="0">
                <a:solidFill>
                  <a:srgbClr val="FFFF00"/>
                </a:solidFill>
                <a:latin typeface="+mn-lt"/>
                <a:ea typeface="+mj-ea"/>
              </a:rPr>
              <a:t>作业：</a:t>
            </a:r>
            <a:endParaRPr lang="en-US" altLang="zh-CN">
              <a:solidFill>
                <a:srgbClr val="FFFF00"/>
              </a:solidFill>
              <a:latin typeface="+mn-lt"/>
              <a:ea typeface="+mj-ea"/>
            </a:endParaRPr>
          </a:p>
          <a:p>
            <a:pPr algn="l"/>
            <a:r>
              <a:rPr lang="en-US" altLang="zh-CN">
                <a:solidFill>
                  <a:srgbClr val="FFFF00"/>
                </a:solidFill>
                <a:latin typeface="+mn-lt"/>
                <a:ea typeface="+mj-ea"/>
              </a:rPr>
              <a:t>9-1 </a:t>
            </a:r>
            <a:r>
              <a:rPr lang="zh-CN" altLang="zh-CN" dirty="0">
                <a:solidFill>
                  <a:srgbClr val="FFFF00"/>
                </a:solidFill>
                <a:latin typeface="+mn-lt"/>
                <a:ea typeface="+mj-ea"/>
              </a:rPr>
              <a:t>程序中提示输入班级中的学生人数 </a:t>
            </a:r>
            <a:r>
              <a:rPr lang="en-US" altLang="zh-CN" dirty="0">
                <a:solidFill>
                  <a:srgbClr val="FFFF00"/>
                </a:solidFill>
                <a:latin typeface="+mn-lt"/>
                <a:ea typeface="+mj-ea"/>
              </a:rPr>
              <a:t>N</a:t>
            </a:r>
            <a:r>
              <a:rPr lang="zh-CN" altLang="zh-CN" dirty="0">
                <a:solidFill>
                  <a:srgbClr val="FFFF00"/>
                </a:solidFill>
                <a:latin typeface="+mn-lt"/>
                <a:ea typeface="+mj-ea"/>
              </a:rPr>
              <a:t>，再依次提示用户输入</a:t>
            </a:r>
            <a:r>
              <a:rPr lang="en-US" altLang="zh-CN" dirty="0">
                <a:solidFill>
                  <a:srgbClr val="FFFF00"/>
                </a:solidFill>
                <a:latin typeface="+mn-lt"/>
                <a:ea typeface="+mj-ea"/>
              </a:rPr>
              <a:t>N</a:t>
            </a:r>
            <a:r>
              <a:rPr lang="zh-CN" altLang="zh-CN" dirty="0">
                <a:solidFill>
                  <a:srgbClr val="FFFF00"/>
                </a:solidFill>
                <a:latin typeface="+mn-lt"/>
                <a:ea typeface="+mj-ea"/>
              </a:rPr>
              <a:t>个人在课程</a:t>
            </a:r>
            <a:r>
              <a:rPr lang="en-US" altLang="zh-CN" dirty="0">
                <a:solidFill>
                  <a:srgbClr val="FFFF00"/>
                </a:solidFill>
                <a:latin typeface="+mn-lt"/>
                <a:ea typeface="+mj-ea"/>
              </a:rPr>
              <a:t>A</a:t>
            </a:r>
            <a:r>
              <a:rPr lang="zh-CN" altLang="zh-CN" dirty="0">
                <a:solidFill>
                  <a:srgbClr val="FFFF00"/>
                </a:solidFill>
                <a:latin typeface="+mn-lt"/>
                <a:ea typeface="+mj-ea"/>
              </a:rPr>
              <a:t>中的考试成绩，然后计算出平均成绩，显示出来。请使用本章中的数组类模板</a:t>
            </a:r>
            <a:r>
              <a:rPr lang="en-US" altLang="zh-CN" dirty="0">
                <a:solidFill>
                  <a:srgbClr val="FFFF00"/>
                </a:solidFill>
                <a:latin typeface="+mn-lt"/>
                <a:ea typeface="+mj-ea"/>
              </a:rPr>
              <a:t>Array</a:t>
            </a:r>
            <a:r>
              <a:rPr lang="zh-CN" altLang="zh-CN" dirty="0">
                <a:solidFill>
                  <a:srgbClr val="FFFF00"/>
                </a:solidFill>
                <a:latin typeface="+mn-lt"/>
                <a:ea typeface="+mj-ea"/>
              </a:rPr>
              <a:t>定义浮点型数组存储考试成绩。</a:t>
            </a:r>
            <a:endParaRPr lang="zh-CN" altLang="zh-CN" dirty="0">
              <a:solidFill>
                <a:srgbClr val="FFFF00"/>
              </a:solidFill>
              <a:latin typeface="+mn-lt"/>
              <a:ea typeface="+mj-ea"/>
            </a:endParaRPr>
          </a:p>
          <a:p>
            <a:pPr algn="l"/>
            <a:r>
              <a:rPr lang="en-US" altLang="zh-CN" dirty="0">
                <a:solidFill>
                  <a:srgbClr val="FFFF00"/>
                </a:solidFill>
                <a:latin typeface="+mn-lt"/>
                <a:ea typeface="+mj-ea"/>
              </a:rPr>
              <a:t>9-4 </a:t>
            </a:r>
            <a:r>
              <a:rPr lang="zh-CN" altLang="zh-CN" dirty="0">
                <a:solidFill>
                  <a:srgbClr val="FFFF00"/>
                </a:solidFill>
                <a:latin typeface="+mn-lt"/>
                <a:ea typeface="+mj-ea"/>
              </a:rPr>
              <a:t>在双向链表中使用的结点类与单链表中使用的结点类相比，应有何不同？请声明并实现双向链表中使用的结点类</a:t>
            </a:r>
            <a:r>
              <a:rPr lang="en-US" altLang="zh-CN" dirty="0" err="1">
                <a:solidFill>
                  <a:srgbClr val="FFFF00"/>
                </a:solidFill>
                <a:latin typeface="+mn-lt"/>
                <a:ea typeface="+mj-ea"/>
              </a:rPr>
              <a:t>DNode</a:t>
            </a:r>
            <a:r>
              <a:rPr lang="zh-CN" altLang="zh-CN" dirty="0">
                <a:solidFill>
                  <a:srgbClr val="FFFF00"/>
                </a:solidFill>
                <a:latin typeface="+mn-lt"/>
                <a:ea typeface="+mj-ea"/>
              </a:rPr>
              <a:t>。</a:t>
            </a:r>
            <a:endParaRPr lang="zh-CN" altLang="zh-CN" dirty="0">
              <a:solidFill>
                <a:srgbClr val="FFFF00"/>
              </a:solidFill>
              <a:latin typeface="+mn-lt"/>
              <a:ea typeface="+mj-ea"/>
            </a:endParaRPr>
          </a:p>
          <a:p>
            <a:pPr algn="l"/>
            <a:r>
              <a:rPr lang="en-US" altLang="zh-CN" dirty="0">
                <a:solidFill>
                  <a:srgbClr val="FFFF00"/>
                </a:solidFill>
                <a:latin typeface="+mn-lt"/>
                <a:ea typeface="+mj-ea"/>
              </a:rPr>
              <a:t> </a:t>
            </a:r>
            <a:endParaRPr lang="zh-CN" altLang="zh-CN" dirty="0">
              <a:solidFill>
                <a:srgbClr val="FFFF00"/>
              </a:solidFill>
              <a:latin typeface="+mn-lt"/>
              <a:ea typeface="+mj-ea"/>
            </a:endParaRPr>
          </a:p>
          <a:p>
            <a:pPr algn="l"/>
            <a:r>
              <a:rPr lang="en-US" altLang="zh-CN" dirty="0">
                <a:solidFill>
                  <a:srgbClr val="FFFF00"/>
                </a:solidFill>
                <a:latin typeface="+mn-lt"/>
                <a:ea typeface="+mj-ea"/>
              </a:rPr>
              <a:t>9-9 </a:t>
            </a:r>
            <a:r>
              <a:rPr lang="zh-CN" altLang="zh-CN" dirty="0">
                <a:solidFill>
                  <a:srgbClr val="FFFF00"/>
                </a:solidFill>
                <a:latin typeface="+mn-lt"/>
                <a:ea typeface="+mj-ea"/>
              </a:rPr>
              <a:t>在标准</a:t>
            </a:r>
            <a:r>
              <a:rPr lang="en-US" altLang="zh-CN" dirty="0">
                <a:solidFill>
                  <a:srgbClr val="FFFF00"/>
                </a:solidFill>
                <a:latin typeface="+mn-lt"/>
                <a:ea typeface="+mj-ea"/>
              </a:rPr>
              <a:t>C++</a:t>
            </a:r>
            <a:r>
              <a:rPr lang="zh-CN" altLang="zh-CN" dirty="0">
                <a:solidFill>
                  <a:srgbClr val="FFFF00"/>
                </a:solidFill>
                <a:latin typeface="+mn-lt"/>
                <a:ea typeface="+mj-ea"/>
              </a:rPr>
              <a:t>类库中，对栈类（</a:t>
            </a:r>
            <a:r>
              <a:rPr lang="en-US" altLang="zh-CN" dirty="0">
                <a:solidFill>
                  <a:srgbClr val="FFFF00"/>
                </a:solidFill>
                <a:latin typeface="+mn-lt"/>
                <a:ea typeface="+mj-ea"/>
              </a:rPr>
              <a:t>stack</a:t>
            </a:r>
            <a:r>
              <a:rPr lang="zh-CN" altLang="zh-CN" dirty="0">
                <a:solidFill>
                  <a:srgbClr val="FFFF00"/>
                </a:solidFill>
                <a:latin typeface="+mn-lt"/>
                <a:ea typeface="+mj-ea"/>
              </a:rPr>
              <a:t>）重载了</a:t>
            </a:r>
            <a:r>
              <a:rPr lang="en-US" altLang="zh-CN" dirty="0">
                <a:solidFill>
                  <a:srgbClr val="FFFF00"/>
                </a:solidFill>
                <a:latin typeface="+mn-lt"/>
                <a:ea typeface="+mj-ea"/>
              </a:rPr>
              <a:t>==</a:t>
            </a:r>
            <a:r>
              <a:rPr lang="zh-CN" altLang="zh-CN" dirty="0">
                <a:solidFill>
                  <a:srgbClr val="FFFF00"/>
                </a:solidFill>
                <a:latin typeface="+mn-lt"/>
                <a:ea typeface="+mj-ea"/>
              </a:rPr>
              <a:t>、</a:t>
            </a:r>
            <a:r>
              <a:rPr lang="en-US" altLang="zh-CN" dirty="0">
                <a:solidFill>
                  <a:srgbClr val="FFFF00"/>
                </a:solidFill>
                <a:latin typeface="+mn-lt"/>
                <a:ea typeface="+mj-ea"/>
              </a:rPr>
              <a:t>!=</a:t>
            </a:r>
            <a:r>
              <a:rPr lang="zh-CN" altLang="zh-CN" dirty="0">
                <a:solidFill>
                  <a:srgbClr val="FFFF00"/>
                </a:solidFill>
                <a:latin typeface="+mn-lt"/>
                <a:ea typeface="+mj-ea"/>
              </a:rPr>
              <a:t>、</a:t>
            </a:r>
            <a:r>
              <a:rPr lang="en-US" altLang="zh-CN" dirty="0">
                <a:solidFill>
                  <a:srgbClr val="FFFF00"/>
                </a:solidFill>
                <a:latin typeface="+mn-lt"/>
                <a:ea typeface="+mj-ea"/>
              </a:rPr>
              <a:t>&gt;</a:t>
            </a:r>
            <a:r>
              <a:rPr lang="zh-CN" altLang="zh-CN" dirty="0">
                <a:solidFill>
                  <a:srgbClr val="FFFF00"/>
                </a:solidFill>
                <a:latin typeface="+mn-lt"/>
                <a:ea typeface="+mj-ea"/>
              </a:rPr>
              <a:t>、</a:t>
            </a:r>
            <a:r>
              <a:rPr lang="en-US" altLang="zh-CN" dirty="0">
                <a:solidFill>
                  <a:srgbClr val="FFFF00"/>
                </a:solidFill>
                <a:latin typeface="+mn-lt"/>
                <a:ea typeface="+mj-ea"/>
              </a:rPr>
              <a:t>&gt;=</a:t>
            </a:r>
            <a:r>
              <a:rPr lang="zh-CN" altLang="zh-CN" dirty="0">
                <a:solidFill>
                  <a:srgbClr val="FFFF00"/>
                </a:solidFill>
                <a:latin typeface="+mn-lt"/>
                <a:ea typeface="+mj-ea"/>
              </a:rPr>
              <a:t>、</a:t>
            </a:r>
            <a:r>
              <a:rPr lang="en-US" altLang="zh-CN" dirty="0">
                <a:solidFill>
                  <a:srgbClr val="FFFF00"/>
                </a:solidFill>
                <a:latin typeface="+mn-lt"/>
                <a:ea typeface="+mj-ea"/>
              </a:rPr>
              <a:t>&lt;</a:t>
            </a:r>
            <a:r>
              <a:rPr lang="zh-CN" altLang="zh-CN" dirty="0">
                <a:solidFill>
                  <a:srgbClr val="FFFF00"/>
                </a:solidFill>
                <a:latin typeface="+mn-lt"/>
                <a:ea typeface="+mj-ea"/>
              </a:rPr>
              <a:t>、</a:t>
            </a:r>
            <a:r>
              <a:rPr lang="en-US" altLang="zh-CN" dirty="0">
                <a:solidFill>
                  <a:srgbClr val="FFFF00"/>
                </a:solidFill>
                <a:latin typeface="+mn-lt"/>
                <a:ea typeface="+mj-ea"/>
              </a:rPr>
              <a:t>&lt;=</a:t>
            </a:r>
            <a:r>
              <a:rPr lang="zh-CN" altLang="zh-CN" dirty="0">
                <a:solidFill>
                  <a:srgbClr val="FFFF00"/>
                </a:solidFill>
                <a:latin typeface="+mn-lt"/>
                <a:ea typeface="+mj-ea"/>
              </a:rPr>
              <a:t>等运算符，以对两个不同的栈进行算术比较运算操作。请构造一个整型栈，以</a:t>
            </a:r>
            <a:r>
              <a:rPr lang="en-US" altLang="zh-CN" dirty="0">
                <a:solidFill>
                  <a:srgbClr val="FFFF00"/>
                </a:solidFill>
                <a:latin typeface="+mn-lt"/>
                <a:ea typeface="+mj-ea"/>
              </a:rPr>
              <a:t>=</a:t>
            </a:r>
            <a:r>
              <a:rPr lang="zh-CN" altLang="zh-CN" dirty="0">
                <a:solidFill>
                  <a:srgbClr val="FFFF00"/>
                </a:solidFill>
                <a:latin typeface="+mn-lt"/>
                <a:ea typeface="+mj-ea"/>
              </a:rPr>
              <a:t>、</a:t>
            </a:r>
            <a:r>
              <a:rPr lang="en-US" altLang="zh-CN" dirty="0">
                <a:solidFill>
                  <a:srgbClr val="FFFF00"/>
                </a:solidFill>
                <a:latin typeface="+mn-lt"/>
                <a:ea typeface="+mj-ea"/>
              </a:rPr>
              <a:t>&lt;</a:t>
            </a:r>
            <a:r>
              <a:rPr lang="zh-CN" altLang="zh-CN" dirty="0">
                <a:solidFill>
                  <a:srgbClr val="FFFF00"/>
                </a:solidFill>
                <a:latin typeface="+mn-lt"/>
                <a:ea typeface="+mj-ea"/>
              </a:rPr>
              <a:t>运算为例，对两个栈进行算术比较运算，体会其比较规则，运行程序，观测其输出。</a:t>
            </a:r>
            <a:endParaRPr lang="zh-CN" altLang="zh-CN" dirty="0">
              <a:solidFill>
                <a:srgbClr val="FFFF00"/>
              </a:solidFill>
              <a:latin typeface="+mn-lt"/>
              <a:ea typeface="+mj-ea"/>
            </a:endParaRPr>
          </a:p>
          <a:p>
            <a:pPr algn="l"/>
            <a:r>
              <a:rPr lang="en-US" altLang="zh-CN" dirty="0">
                <a:solidFill>
                  <a:srgbClr val="FFFF00"/>
                </a:solidFill>
                <a:latin typeface="+mn-lt"/>
                <a:ea typeface="+mj-ea"/>
              </a:rPr>
              <a:t>9-13 </a:t>
            </a:r>
            <a:r>
              <a:rPr lang="zh-CN" altLang="zh-CN" dirty="0">
                <a:solidFill>
                  <a:srgbClr val="FFFF00"/>
                </a:solidFill>
                <a:latin typeface="+mn-lt"/>
                <a:ea typeface="+mj-ea"/>
              </a:rPr>
              <a:t>在标准</a:t>
            </a:r>
            <a:r>
              <a:rPr lang="en-US" altLang="zh-CN" dirty="0">
                <a:solidFill>
                  <a:srgbClr val="FFFF00"/>
                </a:solidFill>
                <a:latin typeface="+mn-lt"/>
                <a:ea typeface="+mj-ea"/>
              </a:rPr>
              <a:t>C++</a:t>
            </a:r>
            <a:r>
              <a:rPr lang="zh-CN" altLang="zh-CN" dirty="0">
                <a:solidFill>
                  <a:srgbClr val="FFFF00"/>
                </a:solidFill>
                <a:latin typeface="+mn-lt"/>
                <a:ea typeface="+mj-ea"/>
              </a:rPr>
              <a:t>类库中，双向队列类（</a:t>
            </a:r>
            <a:r>
              <a:rPr lang="en-US" altLang="zh-CN" dirty="0">
                <a:solidFill>
                  <a:srgbClr val="FFFF00"/>
                </a:solidFill>
                <a:latin typeface="+mn-lt"/>
                <a:ea typeface="+mj-ea"/>
              </a:rPr>
              <a:t>deque</a:t>
            </a:r>
            <a:r>
              <a:rPr lang="zh-CN" altLang="zh-CN" dirty="0">
                <a:solidFill>
                  <a:srgbClr val="FFFF00"/>
                </a:solidFill>
                <a:latin typeface="+mn-lt"/>
                <a:ea typeface="+mj-ea"/>
              </a:rPr>
              <a:t>）的成员函数</a:t>
            </a:r>
            <a:r>
              <a:rPr lang="en-US" altLang="zh-CN" dirty="0">
                <a:solidFill>
                  <a:srgbClr val="FFFF00"/>
                </a:solidFill>
                <a:latin typeface="+mn-lt"/>
                <a:ea typeface="+mj-ea"/>
              </a:rPr>
              <a:t>deque::front()</a:t>
            </a:r>
            <a:r>
              <a:rPr lang="zh-CN" altLang="zh-CN" dirty="0">
                <a:solidFill>
                  <a:srgbClr val="FFFF00"/>
                </a:solidFill>
                <a:latin typeface="+mn-lt"/>
                <a:ea typeface="+mj-ea"/>
              </a:rPr>
              <a:t>返回一个非空双向队列的第一个元素，</a:t>
            </a:r>
            <a:r>
              <a:rPr lang="en-US" altLang="zh-CN" dirty="0">
                <a:solidFill>
                  <a:srgbClr val="FFFF00"/>
                </a:solidFill>
                <a:latin typeface="+mn-lt"/>
                <a:ea typeface="+mj-ea"/>
              </a:rPr>
              <a:t>deque::back()</a:t>
            </a:r>
            <a:r>
              <a:rPr lang="zh-CN" altLang="zh-CN" dirty="0">
                <a:solidFill>
                  <a:srgbClr val="FFFF00"/>
                </a:solidFill>
                <a:latin typeface="+mn-lt"/>
                <a:ea typeface="+mj-ea"/>
              </a:rPr>
              <a:t>返回一个非空双向队列的最后一个元素。请构造一个字符型双向队列，体会上述几个成员函数的用法。</a:t>
            </a:r>
            <a:endParaRPr lang="zh-CN" altLang="zh-CN"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sz="32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p:spPr>
        <p:txBody>
          <a:bodyPr/>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9</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650081" y="2392046"/>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3200" dirty="0">
                <a:latin typeface="+mn-lt"/>
                <a:ea typeface="+mj-ea"/>
              </a:rPr>
              <a:t>建议自学的课后练习：</a:t>
            </a:r>
            <a:r>
              <a:rPr lang="en-US" altLang="zh-CN" sz="3200" dirty="0">
                <a:latin typeface="+mn-lt"/>
                <a:ea typeface="+mj-ea"/>
              </a:rPr>
              <a:t>9-5</a:t>
            </a:r>
            <a:r>
              <a:rPr lang="zh-CN" altLang="en-US" sz="3200" dirty="0">
                <a:latin typeface="+mn-lt"/>
                <a:ea typeface="+mj-ea"/>
              </a:rPr>
              <a:t>、</a:t>
            </a:r>
            <a:r>
              <a:rPr lang="en-US" altLang="zh-CN" sz="3200" dirty="0">
                <a:latin typeface="+mn-lt"/>
                <a:ea typeface="+mj-ea"/>
              </a:rPr>
              <a:t>9-10</a:t>
            </a:r>
            <a:r>
              <a:rPr lang="zh-CN" altLang="en-US" sz="3200" dirty="0">
                <a:latin typeface="+mn-lt"/>
                <a:ea typeface="+mj-ea"/>
              </a:rPr>
              <a:t>、</a:t>
            </a:r>
            <a:r>
              <a:rPr lang="en-US" altLang="zh-CN" sz="3200" dirty="0">
                <a:latin typeface="+mn-lt"/>
                <a:ea typeface="+mj-ea"/>
              </a:rPr>
              <a:t>9-12</a:t>
            </a:r>
            <a:r>
              <a:rPr lang="zh-CN" altLang="en-US" sz="3200" dirty="0">
                <a:latin typeface="+mn-lt"/>
                <a:ea typeface="+mj-ea"/>
              </a:rPr>
              <a:t>、</a:t>
            </a:r>
            <a:r>
              <a:rPr lang="en-US" altLang="zh-CN" sz="3200" dirty="0">
                <a:latin typeface="+mn-lt"/>
                <a:ea typeface="+mj-ea"/>
              </a:rPr>
              <a:t>9-15</a:t>
            </a:r>
            <a:r>
              <a:rPr lang="zh-CN" altLang="en-US" sz="3200" dirty="0">
                <a:latin typeface="+mn-lt"/>
                <a:ea typeface="+mj-ea"/>
              </a:rPr>
              <a:t>、</a:t>
            </a:r>
            <a:r>
              <a:rPr lang="en-US" altLang="zh-CN" sz="3200" dirty="0">
                <a:latin typeface="+mn-lt"/>
                <a:ea typeface="+mj-ea"/>
              </a:rPr>
              <a:t>9-17</a:t>
            </a:r>
            <a:r>
              <a:rPr lang="zh-CN" altLang="en-US" sz="3200" dirty="0">
                <a:latin typeface="+mn-lt"/>
                <a:ea typeface="+mj-ea"/>
              </a:rPr>
              <a:t>、</a:t>
            </a:r>
            <a:r>
              <a:rPr lang="en-US" altLang="zh-CN" sz="3200" dirty="0">
                <a:latin typeface="+mn-lt"/>
                <a:ea typeface="+mj-ea"/>
              </a:rPr>
              <a:t>9-19</a:t>
            </a:r>
            <a:endParaRPr lang="zh-CN" altLang="en-US" sz="32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p:spPr>
        <p:txBody>
          <a:bodyPr/>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9</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PP_MARK_KEY" val="17e3741b-6417-4760-b9ea-c38806562286"/>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30031</Words>
  <Application>WPS 演示</Application>
  <PresentationFormat>全屏显示(4:3)</PresentationFormat>
  <Paragraphs>2186</Paragraphs>
  <Slides>123</Slides>
  <Notes>43</Notes>
  <HiddenSlides>7</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123</vt:i4>
      </vt:variant>
    </vt:vector>
  </HeadingPairs>
  <TitlesOfParts>
    <vt:vector size="147" baseType="lpstr">
      <vt:lpstr>Arial</vt:lpstr>
      <vt:lpstr>宋体</vt:lpstr>
      <vt:lpstr>Wingdings</vt:lpstr>
      <vt:lpstr>Times New Roman</vt:lpstr>
      <vt:lpstr>幼圆</vt:lpstr>
      <vt:lpstr>隶书</vt:lpstr>
      <vt:lpstr>Monotype Sorts</vt:lpstr>
      <vt:lpstr>Wingdings</vt:lpstr>
      <vt:lpstr>Book Antiqua</vt:lpstr>
      <vt:lpstr>黑体</vt:lpstr>
      <vt:lpstr>微软雅黑</vt:lpstr>
      <vt:lpstr>方正舒体</vt:lpstr>
      <vt:lpstr>华文中宋</vt:lpstr>
      <vt:lpstr>华文彩云</vt:lpstr>
      <vt:lpstr>Georgia</vt:lpstr>
      <vt:lpstr>Wingdings 2</vt:lpstr>
      <vt:lpstr>Georgia</vt:lpstr>
      <vt:lpstr>华文楷体</vt:lpstr>
      <vt:lpstr>Arial Unicode MS</vt:lpstr>
      <vt:lpstr>Consolas</vt:lpstr>
      <vt:lpstr>方正姚体</vt:lpstr>
      <vt:lpstr>华文行楷</vt:lpstr>
      <vt:lpstr>Monotype Corsiva</vt:lpstr>
      <vt:lpstr>Blank Presentation</vt:lpstr>
      <vt:lpstr>PowerPoint 演示文稿</vt:lpstr>
      <vt:lpstr>PowerPoint 演示文稿</vt:lpstr>
      <vt:lpstr>函数模板和类模板</vt:lpstr>
      <vt:lpstr>函数模板</vt:lpstr>
      <vt:lpstr>例：求绝对值函数的模板</vt:lpstr>
      <vt:lpstr>例：求绝对值函数的模板</vt:lpstr>
      <vt:lpstr>例：求绝对值函数的模板</vt:lpstr>
      <vt:lpstr>例：求绝对值函数的模板</vt:lpstr>
      <vt:lpstr>9.1.1 函数模板</vt:lpstr>
      <vt:lpstr>例：求绝对值函数的模板</vt:lpstr>
      <vt:lpstr>求绝对值函数的模板分析</vt:lpstr>
      <vt:lpstr>例9-1函数模板的示例</vt:lpstr>
      <vt:lpstr>例9-1（续）</vt:lpstr>
      <vt:lpstr>例9-1（续）</vt:lpstr>
      <vt:lpstr>9.1.2 类模板</vt:lpstr>
      <vt:lpstr>类模板的声明</vt:lpstr>
      <vt:lpstr>模板的默认实参</vt:lpstr>
      <vt:lpstr>例9-2 类模板示例</vt:lpstr>
      <vt:lpstr>例9-2 (续)</vt:lpstr>
      <vt:lpstr>例9-2 (续)</vt:lpstr>
      <vt:lpstr>   线性群体</vt:lpstr>
      <vt:lpstr>群体的概念</vt:lpstr>
      <vt:lpstr>线性群体</vt:lpstr>
      <vt:lpstr>9.2.1 线性群体的概念</vt:lpstr>
      <vt:lpstr>9.2.2 直接访问群体——数组类</vt:lpstr>
      <vt:lpstr>例9-3 动态数组类模板程序</vt:lpstr>
      <vt:lpstr>例9-3（续）</vt:lpstr>
      <vt:lpstr>例9-3（续）</vt:lpstr>
      <vt:lpstr>例9-3（续）</vt:lpstr>
      <vt:lpstr>例9-3（续）</vt:lpstr>
      <vt:lpstr>例9-3 动态数组类模板程序</vt:lpstr>
      <vt:lpstr>深拷贝</vt:lpstr>
      <vt:lpstr>为什么有的函数返回引用</vt:lpstr>
      <vt:lpstr>指针转换运算符的作用</vt:lpstr>
      <vt:lpstr>Array类的应用</vt:lpstr>
      <vt:lpstr>例9-4（续）</vt:lpstr>
      <vt:lpstr>9.2.3 顺序访问群体——链表类</vt:lpstr>
      <vt:lpstr>单链表</vt:lpstr>
      <vt:lpstr>单链表的结点类模板</vt:lpstr>
      <vt:lpstr>在结点之后插入一个结点</vt:lpstr>
      <vt:lpstr> 删除结点之后的结点</vt:lpstr>
      <vt:lpstr>例9-5结点类模扳</vt:lpstr>
      <vt:lpstr>例9-5（续）</vt:lpstr>
      <vt:lpstr>例9-5（续）</vt:lpstr>
      <vt:lpstr>链表的基本操作</vt:lpstr>
      <vt:lpstr>例9-6 链表类模板</vt:lpstr>
      <vt:lpstr>例9-7 链表类应用举例</vt:lpstr>
      <vt:lpstr>例9-7（续）</vt:lpstr>
      <vt:lpstr>9.2.4 栈类</vt:lpstr>
      <vt:lpstr>栈的应用举例——表达式处理</vt:lpstr>
      <vt:lpstr>栈的基本状态</vt:lpstr>
      <vt:lpstr>PowerPoint 演示文稿</vt:lpstr>
      <vt:lpstr>栈的基本操作</vt:lpstr>
      <vt:lpstr>例9-8 栈类模板</vt:lpstr>
      <vt:lpstr>例9-8 （续）</vt:lpstr>
      <vt:lpstr>栈的应用</vt:lpstr>
      <vt:lpstr>例9-9</vt:lpstr>
      <vt:lpstr>例9-9 (续)</vt:lpstr>
      <vt:lpstr>例9-9 (续)</vt:lpstr>
      <vt:lpstr>例9-9 (续)</vt:lpstr>
      <vt:lpstr>例9-9 (续)</vt:lpstr>
      <vt:lpstr>例9-9 (续)</vt:lpstr>
      <vt:lpstr>9.2.5 队列类</vt:lpstr>
      <vt:lpstr>队列的基本状态</vt:lpstr>
      <vt:lpstr>PowerPoint 演示文稿</vt:lpstr>
      <vt:lpstr>循环队列</vt:lpstr>
      <vt:lpstr>PowerPoint 演示文稿</vt:lpstr>
      <vt:lpstr>例9-10 队列类模板</vt:lpstr>
      <vt:lpstr>例9-10（续）</vt:lpstr>
      <vt:lpstr>例9-10（续）</vt:lpstr>
      <vt:lpstr>群体数据的组织</vt:lpstr>
      <vt:lpstr>9.3 群体数据的组织</vt:lpstr>
      <vt:lpstr>排序（sorting）</vt:lpstr>
      <vt:lpstr>内部排序与外部排序</vt:lpstr>
      <vt:lpstr>内部排序方法</vt:lpstr>
      <vt:lpstr>插入排序的基本思想</vt:lpstr>
      <vt:lpstr>例9-11 直接插入排序函数模板</vt:lpstr>
      <vt:lpstr>选择排序的基本思想</vt:lpstr>
      <vt:lpstr>例9-12 简单选择排序函数模板</vt:lpstr>
      <vt:lpstr>交换排序的基本思想</vt:lpstr>
      <vt:lpstr>最简单的交换排序方法 ——起泡排序</vt:lpstr>
      <vt:lpstr>起泡排序举例</vt:lpstr>
      <vt:lpstr>例9-13 起泡排序函数模板</vt:lpstr>
      <vt:lpstr>9.3.4 顺序查找</vt:lpstr>
      <vt:lpstr>折半查找（二分法查找）</vt:lpstr>
      <vt:lpstr>折半查找示例</vt:lpstr>
      <vt:lpstr>例9-15 折半查找函数模板</vt:lpstr>
      <vt:lpstr>综合实例 ——对个人银行账户管理程序的改进</vt:lpstr>
      <vt:lpstr>9.4 综合实例 ——对个人银行账户管理程序的改进</vt:lpstr>
      <vt:lpstr>例9-16（续）</vt:lpstr>
      <vt:lpstr>例9-16（续）</vt:lpstr>
      <vt:lpstr>例9-16（续）</vt:lpstr>
      <vt:lpstr>例9-16（续）</vt:lpstr>
      <vt:lpstr>运行结果（续）</vt:lpstr>
      <vt:lpstr>深度探索</vt:lpstr>
      <vt:lpstr>9.5.1模板的实例化机制 类模板 vs 类</vt:lpstr>
      <vt:lpstr>函数模板 vs 函数</vt:lpstr>
      <vt:lpstr>隐含实例化</vt:lpstr>
      <vt:lpstr>多文件结构中模板的组织</vt:lpstr>
      <vt:lpstr>显式实例化</vt:lpstr>
      <vt:lpstr>9.5.2 为模板定义特殊的实现</vt:lpstr>
      <vt:lpstr>模板的特化</vt:lpstr>
      <vt:lpstr>模板的特化 (续)</vt:lpstr>
      <vt:lpstr>类模板的偏特化</vt:lpstr>
      <vt:lpstr>类模板的偏特化 (续)</vt:lpstr>
      <vt:lpstr>类模板的偏特化 (续)</vt:lpstr>
      <vt:lpstr>函数模板的重载</vt:lpstr>
      <vt:lpstr>类模板和函数模板的默认实参</vt:lpstr>
      <vt:lpstr>类模板和函数模板的默认实参</vt:lpstr>
      <vt:lpstr>9.5.3 模板元编程简介</vt:lpstr>
      <vt:lpstr>例：编译时计算n!</vt:lpstr>
      <vt:lpstr>Factorial的分析</vt:lpstr>
      <vt:lpstr>例：整数次乘方的展开</vt:lpstr>
      <vt:lpstr>9.5.4 可变参数模板简介</vt:lpstr>
      <vt:lpstr>9.5.4 可变参数模板简介</vt:lpstr>
      <vt:lpstr>9.5.4 可变参数模板简介</vt:lpstr>
      <vt:lpstr>9.5.4 可变参数模板简介</vt:lpstr>
      <vt:lpstr>本讲小结</vt:lpstr>
      <vt:lpstr>本讲主要知识点</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1971</cp:revision>
  <cp:lastPrinted>1996-09-12T11:44:00Z</cp:lastPrinted>
  <dcterms:created xsi:type="dcterms:W3CDTF">1999-08-09T22:53:00Z</dcterms:created>
  <dcterms:modified xsi:type="dcterms:W3CDTF">2023-12-11T02:52:56Z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831EDD7450214997804DC63C00F3ED68_12</vt:lpwstr>
  </property>
  <property fmtid="{D5CDD505-2E9C-101B-9397-08002B2CF9AE}" pid="3" name="KSOProductBuildVer">
    <vt:lpwstr>2052-11.1.0.14309</vt:lpwstr>
  </property>
</Properties>
</file>