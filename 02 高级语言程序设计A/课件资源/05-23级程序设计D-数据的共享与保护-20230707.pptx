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132"/>
  </p:handoutMasterIdLst>
  <p:sldIdLst>
    <p:sldId id="880" r:id="rId3"/>
    <p:sldId id="1375" r:id="rId4"/>
    <p:sldId id="1694" r:id="rId5"/>
    <p:sldId id="716" r:id="rId6"/>
    <p:sldId id="1585" r:id="rId7"/>
    <p:sldId id="1586" r:id="rId8"/>
    <p:sldId id="1530" r:id="rId9"/>
    <p:sldId id="1531" r:id="rId10"/>
    <p:sldId id="1532" r:id="rId11"/>
    <p:sldId id="1533" r:id="rId12"/>
    <p:sldId id="1534" r:id="rId13"/>
    <p:sldId id="1610" r:id="rId14"/>
    <p:sldId id="1611" r:id="rId15"/>
    <p:sldId id="1612" r:id="rId16"/>
    <p:sldId id="1613" r:id="rId17"/>
    <p:sldId id="1614" r:id="rId18"/>
    <p:sldId id="1615" r:id="rId19"/>
    <p:sldId id="1616" r:id="rId20"/>
    <p:sldId id="1617" r:id="rId21"/>
    <p:sldId id="1618" r:id="rId22"/>
    <p:sldId id="1695" r:id="rId23"/>
    <p:sldId id="1535" r:id="rId24"/>
    <p:sldId id="1536" r:id="rId25"/>
    <p:sldId id="1537" r:id="rId27"/>
    <p:sldId id="1378" r:id="rId28"/>
    <p:sldId id="1538" r:id="rId29"/>
    <p:sldId id="1539" r:id="rId30"/>
    <p:sldId id="1540" r:id="rId31"/>
    <p:sldId id="1541" r:id="rId32"/>
    <p:sldId id="1542" r:id="rId33"/>
    <p:sldId id="1543" r:id="rId34"/>
    <p:sldId id="1587" r:id="rId35"/>
    <p:sldId id="1590" r:id="rId36"/>
    <p:sldId id="1588" r:id="rId37"/>
    <p:sldId id="1589" r:id="rId38"/>
    <p:sldId id="1521" r:id="rId39"/>
    <p:sldId id="1619" r:id="rId40"/>
    <p:sldId id="1544" r:id="rId41"/>
    <p:sldId id="1620" r:id="rId42"/>
    <p:sldId id="1545" r:id="rId43"/>
    <p:sldId id="1546" r:id="rId44"/>
    <p:sldId id="1547" r:id="rId45"/>
    <p:sldId id="1548" r:id="rId46"/>
    <p:sldId id="1549" r:id="rId47"/>
    <p:sldId id="1621" r:id="rId48"/>
    <p:sldId id="1550" r:id="rId49"/>
    <p:sldId id="1551" r:id="rId50"/>
    <p:sldId id="1552" r:id="rId51"/>
    <p:sldId id="1522" r:id="rId52"/>
    <p:sldId id="1553" r:id="rId53"/>
    <p:sldId id="1647" r:id="rId54"/>
    <p:sldId id="1648" r:id="rId55"/>
    <p:sldId id="1649" r:id="rId56"/>
    <p:sldId id="1555" r:id="rId57"/>
    <p:sldId id="1556" r:id="rId58"/>
    <p:sldId id="1650" r:id="rId59"/>
    <p:sldId id="1651" r:id="rId60"/>
    <p:sldId id="1652" r:id="rId61"/>
    <p:sldId id="1653" r:id="rId62"/>
    <p:sldId id="1654" r:id="rId63"/>
    <p:sldId id="1655" r:id="rId64"/>
    <p:sldId id="1656" r:id="rId65"/>
    <p:sldId id="1559" r:id="rId66"/>
    <p:sldId id="1523" r:id="rId67"/>
    <p:sldId id="1560" r:id="rId68"/>
    <p:sldId id="1657" r:id="rId69"/>
    <p:sldId id="1658" r:id="rId70"/>
    <p:sldId id="1659" r:id="rId71"/>
    <p:sldId id="1561" r:id="rId72"/>
    <p:sldId id="1562" r:id="rId73"/>
    <p:sldId id="1666" r:id="rId74"/>
    <p:sldId id="1563" r:id="rId75"/>
    <p:sldId id="1564" r:id="rId76"/>
    <p:sldId id="1663" r:id="rId77"/>
    <p:sldId id="1565" r:id="rId78"/>
    <p:sldId id="1566" r:id="rId79"/>
    <p:sldId id="1665" r:id="rId80"/>
    <p:sldId id="1567" r:id="rId81"/>
    <p:sldId id="1568" r:id="rId82"/>
    <p:sldId id="1569" r:id="rId83"/>
    <p:sldId id="1524" r:id="rId84"/>
    <p:sldId id="1570" r:id="rId85"/>
    <p:sldId id="1571" r:id="rId86"/>
    <p:sldId id="1572" r:id="rId87"/>
    <p:sldId id="1573" r:id="rId88"/>
    <p:sldId id="1574" r:id="rId89"/>
    <p:sldId id="1575" r:id="rId90"/>
    <p:sldId id="1576" r:id="rId91"/>
    <p:sldId id="1577" r:id="rId92"/>
    <p:sldId id="1578" r:id="rId93"/>
    <p:sldId id="1579" r:id="rId94"/>
    <p:sldId id="1667" r:id="rId95"/>
    <p:sldId id="1668" r:id="rId96"/>
    <p:sldId id="1669" r:id="rId97"/>
    <p:sldId id="1670" r:id="rId98"/>
    <p:sldId id="1671" r:id="rId99"/>
    <p:sldId id="1672" r:id="rId100"/>
    <p:sldId id="1673" r:id="rId101"/>
    <p:sldId id="1674" r:id="rId102"/>
    <p:sldId id="1675" r:id="rId103"/>
    <p:sldId id="1676" r:id="rId104"/>
    <p:sldId id="1580" r:id="rId105"/>
    <p:sldId id="1581" r:id="rId106"/>
    <p:sldId id="1582" r:id="rId107"/>
    <p:sldId id="1583" r:id="rId108"/>
    <p:sldId id="1584" r:id="rId109"/>
    <p:sldId id="1679" r:id="rId110"/>
    <p:sldId id="1680" r:id="rId111"/>
    <p:sldId id="1681" r:id="rId112"/>
    <p:sldId id="1682" r:id="rId113"/>
    <p:sldId id="1683" r:id="rId114"/>
    <p:sldId id="1684" r:id="rId115"/>
    <p:sldId id="1685" r:id="rId116"/>
    <p:sldId id="1686" r:id="rId117"/>
    <p:sldId id="1687" r:id="rId118"/>
    <p:sldId id="1678" r:id="rId119"/>
    <p:sldId id="1688" r:id="rId120"/>
    <p:sldId id="1689" r:id="rId121"/>
    <p:sldId id="1690" r:id="rId122"/>
    <p:sldId id="1691" r:id="rId123"/>
    <p:sldId id="1692" r:id="rId124"/>
    <p:sldId id="1693" r:id="rId125"/>
    <p:sldId id="1525" r:id="rId126"/>
    <p:sldId id="1526" r:id="rId127"/>
    <p:sldId id="1528" r:id="rId128"/>
    <p:sldId id="1696" r:id="rId129"/>
    <p:sldId id="1697" r:id="rId130"/>
    <p:sldId id="1529" r:id="rId131"/>
  </p:sldIdLst>
  <p:sldSz cx="9144000" cy="6858000" type="screen4x3"/>
  <p:notesSz cx="6648450" cy="9782175"/>
  <p:custDataLst>
    <p:tags r:id="rId136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FFF99"/>
    <a:srgbClr val="E682E1"/>
    <a:srgbClr val="3030C7"/>
    <a:srgbClr val="2F2FC5"/>
    <a:srgbClr val="740000"/>
    <a:srgbClr val="4B0064"/>
    <a:srgbClr val="3333FF"/>
    <a:srgbClr val="CB1522"/>
    <a:srgbClr val="C17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47" autoAdjust="0"/>
    <p:restoredTop sz="88581" autoAdjust="0"/>
  </p:normalViewPr>
  <p:slideViewPr>
    <p:cSldViewPr showGuides="1">
      <p:cViewPr varScale="1">
        <p:scale>
          <a:sx n="99" d="100"/>
          <a:sy n="99" d="100"/>
        </p:scale>
        <p:origin x="1452" y="72"/>
      </p:cViewPr>
      <p:guideLst>
        <p:guide orient="horz" pos="182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922" y="60"/>
      </p:cViewPr>
      <p:guideLst>
        <p:guide orient="horz" pos="3083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6" Type="http://schemas.openxmlformats.org/officeDocument/2006/relationships/tags" Target="tags/tag2.xml"/><Relationship Id="rId135" Type="http://schemas.openxmlformats.org/officeDocument/2006/relationships/tableStyles" Target="tableStyles.xml"/><Relationship Id="rId134" Type="http://schemas.openxmlformats.org/officeDocument/2006/relationships/viewProps" Target="viewProps.xml"/><Relationship Id="rId133" Type="http://schemas.openxmlformats.org/officeDocument/2006/relationships/presProps" Target="presProps.xml"/><Relationship Id="rId132" Type="http://schemas.openxmlformats.org/officeDocument/2006/relationships/handoutMaster" Target="handoutMasters/handoutMaster1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1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10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8813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/>
          <a:lstStyle>
            <a:lvl1pPr algn="l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网站建设与网络安全</a:t>
            </a: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-1588"/>
            <a:ext cx="28813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/>
          <a:lstStyle>
            <a:lvl1pPr algn="r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1638"/>
            <a:ext cx="28813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/>
          <a:lstStyle>
            <a:lvl1pPr algn="l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武汉大学计算机学院 梁意文</a:t>
            </a:r>
            <a:endParaRPr lang="zh-CN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1638"/>
            <a:ext cx="28813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/>
          <a:lstStyle>
            <a:lvl1pPr algn="r" eaLnBrk="0" hangingPunct="0">
              <a:defRPr sz="1000" i="1">
                <a:latin typeface="Book Antiqua" panose="02040602050305030304" pitchFamily="18" charset="0"/>
                <a:ea typeface="宋体" panose="02010600030101010101" pitchFamily="2" charset="-122"/>
              </a:defRPr>
            </a:lvl1pPr>
          </a:lstStyle>
          <a:p>
            <a:fld id="{06F2D5D5-3B16-43CA-8995-8BE81CB6B1A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28813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/>
          <a:lstStyle>
            <a:lvl1pPr algn="l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-1588"/>
            <a:ext cx="28813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/>
          <a:lstStyle>
            <a:lvl1pPr algn="r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1638"/>
            <a:ext cx="28813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/>
          <a:lstStyle>
            <a:lvl1pPr algn="l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1638"/>
            <a:ext cx="28813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/>
          <a:lstStyle>
            <a:lvl1pPr algn="r" defTabSz="762000" eaLnBrk="0" hangingPunct="0">
              <a:defRPr sz="1000" i="1">
                <a:ea typeface="宋体" panose="02010600030101010101" pitchFamily="2" charset="-122"/>
              </a:defRPr>
            </a:lvl1pPr>
          </a:lstStyle>
          <a:p>
            <a:fld id="{2294745A-D51A-4D6A-8042-2BC64911E49A}" type="slidenum">
              <a:rPr lang="en-US" altLang="zh-CN"/>
            </a:fld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5025"/>
            <a:ext cx="4876800" cy="440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/>
          <a:lstStyle/>
          <a:p>
            <a:pPr lvl="0"/>
            <a:r>
              <a:rPr lang="en-US" altLang="zh-CN" smtClean="0"/>
              <a:t>Click to edit Master notes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205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739775"/>
            <a:ext cx="4872038" cy="3654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04215" indent="-27114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8331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51638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950085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8315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81686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24993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68363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5CBFED0-6C5D-4229-98AC-D5371B1F6781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04215" indent="-27114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8331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51638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950085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8315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81686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24993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68363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A4CD0A5-B2E5-4644-BCEB-3857087C8464}" type="slidenum">
              <a:rPr lang="en-US" altLang="zh-CN" sz="1200"/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04215" indent="-27114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8331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51638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950085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8315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81686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24993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68363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A4CD0A5-B2E5-4644-BCEB-3857087C8464}" type="slidenum">
              <a:rPr lang="en-US" altLang="zh-CN" sz="1200"/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04215" indent="-27114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8331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51638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950085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8315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81686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24993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68363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8D51D3C-C5DB-4010-8909-A816C46B6A86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fld id="{FDEA24FF-1ACA-477D-9AFE-B4BAA0EB6D4E}" type="slidenum">
              <a:rPr lang="en-US" altLang="zh-CN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友元函数是在类声明中由关键字</a:t>
            </a:r>
            <a:r>
              <a:rPr lang="en-US" altLang="zh-CN" sz="1600" smtClean="0">
                <a:latin typeface="Arial" panose="020B0604020202020204" pitchFamily="34" charset="0"/>
              </a:rPr>
              <a:t>friend</a:t>
            </a:r>
            <a:r>
              <a:rPr lang="zh-CN" altLang="en-US" sz="1600" smtClean="0">
                <a:latin typeface="Arial" panose="020B0604020202020204" pitchFamily="34" charset="0"/>
              </a:rPr>
              <a:t>修饰说明的非成员函数，在它的函数体中能够通过对象名访问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和</a:t>
            </a:r>
            <a:r>
              <a:rPr lang="en-US" altLang="zh-CN" sz="1600" smtClean="0">
                <a:latin typeface="Arial" panose="020B0604020202020204" pitchFamily="34" charset="0"/>
              </a:rPr>
              <a:t>protected</a:t>
            </a:r>
            <a:r>
              <a:rPr lang="zh-CN" altLang="en-US" sz="1600" smtClean="0">
                <a:latin typeface="Arial" panose="020B0604020202020204" pitchFamily="34" charset="0"/>
              </a:rPr>
              <a:t>成员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作用：增加灵活性，使程序员可以在封装和快速性方面做合理选择。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类的主要特点是实现数据隐藏，即不允许非成员函数对它访问，但在某些场合下，非成员函数中需要通过对象名访问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成员，这可以通过友元函数来实现；有些函数需要放在类的外面，或者类设计完后补充的，不能成为成员函数，但又需要访问类中的私有成员。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zh-CN" sz="16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fld id="{2190362E-A62D-48EC-BEE9-9528AA5920BD}" type="slidenum">
              <a:rPr lang="en-US" altLang="zh-CN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友元函数是在类声明中由关键字</a:t>
            </a:r>
            <a:r>
              <a:rPr lang="en-US" altLang="zh-CN" sz="1600" smtClean="0">
                <a:latin typeface="Arial" panose="020B0604020202020204" pitchFamily="34" charset="0"/>
              </a:rPr>
              <a:t>friend</a:t>
            </a:r>
            <a:r>
              <a:rPr lang="zh-CN" altLang="en-US" sz="1600" smtClean="0">
                <a:latin typeface="Arial" panose="020B0604020202020204" pitchFamily="34" charset="0"/>
              </a:rPr>
              <a:t>修饰说明的非成员函数，在它的函数体中能够通过对象名访问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和</a:t>
            </a:r>
            <a:r>
              <a:rPr lang="en-US" altLang="zh-CN" sz="1600" smtClean="0">
                <a:latin typeface="Arial" panose="020B0604020202020204" pitchFamily="34" charset="0"/>
              </a:rPr>
              <a:t>protected</a:t>
            </a:r>
            <a:r>
              <a:rPr lang="zh-CN" altLang="en-US" sz="1600" smtClean="0">
                <a:latin typeface="Arial" panose="020B0604020202020204" pitchFamily="34" charset="0"/>
              </a:rPr>
              <a:t>成员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作用：增加灵活性，使程序员可以在封装和快速性方面做合理选择。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类的主要特点是实现数据隐藏，即不允许非成员函数对它访问，但在某些场合下，非成员函数中需要通过对象名访问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成员，这可以通过友元函数来实现；有些函数需要放在类的外面，或者类设计完后补充的，不能成为成员函数，但又需要访问类中的私有成员。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zh-CN" sz="16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fld id="{AEAFE6EA-A8A4-43BD-8DF5-D7545A2F4CAD}" type="slidenum">
              <a:rPr lang="en-US" altLang="zh-CN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友元函数是在类声明中由关键字</a:t>
            </a:r>
            <a:r>
              <a:rPr lang="en-US" altLang="zh-CN" sz="1600" smtClean="0">
                <a:latin typeface="Arial" panose="020B0604020202020204" pitchFamily="34" charset="0"/>
              </a:rPr>
              <a:t>friend</a:t>
            </a:r>
            <a:r>
              <a:rPr lang="zh-CN" altLang="en-US" sz="1600" smtClean="0">
                <a:latin typeface="Arial" panose="020B0604020202020204" pitchFamily="34" charset="0"/>
              </a:rPr>
              <a:t>修饰说明的非成员函数，在它的函数体中能够通过对象名访问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和</a:t>
            </a:r>
            <a:r>
              <a:rPr lang="en-US" altLang="zh-CN" sz="1600" smtClean="0">
                <a:latin typeface="Arial" panose="020B0604020202020204" pitchFamily="34" charset="0"/>
              </a:rPr>
              <a:t>protected</a:t>
            </a:r>
            <a:r>
              <a:rPr lang="zh-CN" altLang="en-US" sz="1600" smtClean="0">
                <a:latin typeface="Arial" panose="020B0604020202020204" pitchFamily="34" charset="0"/>
              </a:rPr>
              <a:t>成员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作用：增加灵活性，使程序员可以在封装和快速性方面做合理选择。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类的主要特点是实现数据隐藏，即不允许非成员函数对它访问，但在某些场合下，非成员函数中需要通过对象名访问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成员，这可以通过友元函数来实现；有些函数需要放在类的外面，或者类设计完后补充的，不能成为成员函数，但又需要访问类中的私有成员。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zh-CN" sz="16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04215" indent="-27114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8331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51638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950085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8315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81686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24993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68363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0F5CD65-0B5A-45D2-A104-BE02386B99C0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fld id="{7C12D035-B091-4931-B480-F14703FC1CFA}" type="slidenum">
              <a:rPr lang="en-US" altLang="zh-CN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友元函数是在类声明中由关键字</a:t>
            </a:r>
            <a:r>
              <a:rPr lang="en-US" altLang="zh-CN" sz="1600" smtClean="0">
                <a:latin typeface="Arial" panose="020B0604020202020204" pitchFamily="34" charset="0"/>
              </a:rPr>
              <a:t>friend</a:t>
            </a:r>
            <a:r>
              <a:rPr lang="zh-CN" altLang="en-US" sz="1600" smtClean="0">
                <a:latin typeface="Arial" panose="020B0604020202020204" pitchFamily="34" charset="0"/>
              </a:rPr>
              <a:t>修饰说明的非成员函数，在它的函数体中能够通过对象名访问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和</a:t>
            </a:r>
            <a:r>
              <a:rPr lang="en-US" altLang="zh-CN" sz="1600" smtClean="0">
                <a:latin typeface="Arial" panose="020B0604020202020204" pitchFamily="34" charset="0"/>
              </a:rPr>
              <a:t>protected</a:t>
            </a:r>
            <a:r>
              <a:rPr lang="zh-CN" altLang="en-US" sz="1600" smtClean="0">
                <a:latin typeface="Arial" panose="020B0604020202020204" pitchFamily="34" charset="0"/>
              </a:rPr>
              <a:t>成员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作用：增加灵活性，使程序员可以在封装和快速性方面做合理选择。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1600" smtClean="0">
                <a:latin typeface="Arial" panose="020B0604020202020204" pitchFamily="34" charset="0"/>
              </a:rPr>
              <a:t>    类的主要特点是实现数据隐藏，即不允许非成员函数对它访问，但在某些场合下，非成员函数中需要通过对象名访问</a:t>
            </a:r>
            <a:r>
              <a:rPr lang="en-US" altLang="zh-CN" sz="1600" smtClean="0">
                <a:latin typeface="Arial" panose="020B0604020202020204" pitchFamily="34" charset="0"/>
              </a:rPr>
              <a:t>private</a:t>
            </a:r>
            <a:r>
              <a:rPr lang="zh-CN" altLang="en-US" sz="1600" smtClean="0">
                <a:latin typeface="Arial" panose="020B0604020202020204" pitchFamily="34" charset="0"/>
              </a:rPr>
              <a:t>成员，这可以通过友元函数来实现；有些函数需要放在类的外面，或者类设计完后补充的，不能成为成员函数，但又需要访问类中的私有成员。</a:t>
            </a:r>
            <a:endParaRPr lang="zh-CN" altLang="en-US" sz="16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zh-CN" sz="16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fld id="{D64FAEF7-9DFB-450C-AB2C-7B0B29E2B01E}" type="slidenum">
              <a:rPr lang="en-US" altLang="zh-CN"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zh-CN" sz="2000" smtClean="0">
                <a:latin typeface="Arial" panose="020B0604020202020204" pitchFamily="34" charset="0"/>
              </a:rPr>
              <a:t>    </a:t>
            </a:r>
            <a:r>
              <a:rPr lang="zh-CN" altLang="en-US" sz="2000" smtClean="0">
                <a:latin typeface="Arial" panose="020B0604020202020204" pitchFamily="34" charset="0"/>
              </a:rPr>
              <a:t>一个类可以被声明为另一个类的友元。</a:t>
            </a:r>
            <a:endParaRPr lang="zh-CN" altLang="en-US" sz="20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2000" smtClean="0">
                <a:latin typeface="Arial" panose="020B0604020202020204" pitchFamily="34" charset="0"/>
              </a:rPr>
              <a:t>    若声明</a:t>
            </a:r>
            <a:r>
              <a:rPr lang="en-US" altLang="zh-CN" sz="2000" smtClean="0">
                <a:latin typeface="Arial" panose="020B0604020202020204" pitchFamily="34" charset="0"/>
              </a:rPr>
              <a:t>B</a:t>
            </a:r>
            <a:r>
              <a:rPr lang="zh-CN" altLang="en-US" sz="2000" smtClean="0">
                <a:latin typeface="Arial" panose="020B0604020202020204" pitchFamily="34" charset="0"/>
              </a:rPr>
              <a:t>类为</a:t>
            </a:r>
            <a:r>
              <a:rPr lang="en-US" altLang="zh-CN" sz="2000" smtClean="0">
                <a:latin typeface="Arial" panose="020B0604020202020204" pitchFamily="34" charset="0"/>
              </a:rPr>
              <a:t>A</a:t>
            </a:r>
            <a:r>
              <a:rPr lang="zh-CN" altLang="en-US" sz="2000" smtClean="0">
                <a:latin typeface="Arial" panose="020B0604020202020204" pitchFamily="34" charset="0"/>
              </a:rPr>
              <a:t>类的友元，意味着</a:t>
            </a:r>
            <a:r>
              <a:rPr lang="en-US" altLang="zh-CN" sz="2000" smtClean="0">
                <a:latin typeface="Arial" panose="020B0604020202020204" pitchFamily="34" charset="0"/>
              </a:rPr>
              <a:t>B</a:t>
            </a:r>
            <a:r>
              <a:rPr lang="zh-CN" altLang="en-US" sz="2000" smtClean="0">
                <a:latin typeface="Arial" panose="020B0604020202020204" pitchFamily="34" charset="0"/>
              </a:rPr>
              <a:t>类的所有成员函数（包括构造函数和析构函数）将成为</a:t>
            </a:r>
            <a:r>
              <a:rPr lang="en-US" altLang="zh-CN" sz="2000" smtClean="0">
                <a:latin typeface="Arial" panose="020B0604020202020204" pitchFamily="34" charset="0"/>
              </a:rPr>
              <a:t>A</a:t>
            </a:r>
            <a:r>
              <a:rPr lang="zh-CN" altLang="en-US" sz="2000" smtClean="0">
                <a:latin typeface="Arial" panose="020B0604020202020204" pitchFamily="34" charset="0"/>
              </a:rPr>
              <a:t>类的友元。</a:t>
            </a:r>
            <a:endParaRPr lang="zh-CN" altLang="en-US" sz="20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zh-CN" altLang="en-US" sz="2000" smtClean="0">
                <a:latin typeface="Arial" panose="020B0604020202020204" pitchFamily="34" charset="0"/>
              </a:rPr>
              <a:t>声明语法：在</a:t>
            </a:r>
            <a:r>
              <a:rPr lang="en-US" altLang="zh-CN" sz="2000" smtClean="0">
                <a:latin typeface="Arial" panose="020B0604020202020204" pitchFamily="34" charset="0"/>
              </a:rPr>
              <a:t>A</a:t>
            </a:r>
            <a:r>
              <a:rPr lang="zh-CN" altLang="en-US" sz="2000" smtClean="0">
                <a:latin typeface="Arial" panose="020B0604020202020204" pitchFamily="34" charset="0"/>
              </a:rPr>
              <a:t>类中用</a:t>
            </a:r>
            <a:r>
              <a:rPr lang="en-US" altLang="zh-CN" sz="2000" smtClean="0">
                <a:latin typeface="Arial" panose="020B0604020202020204" pitchFamily="34" charset="0"/>
              </a:rPr>
              <a:t>friend</a:t>
            </a:r>
            <a:r>
              <a:rPr lang="zh-CN" altLang="en-US" sz="2000" smtClean="0">
                <a:latin typeface="Arial" panose="020B0604020202020204" pitchFamily="34" charset="0"/>
              </a:rPr>
              <a:t>修饰说明</a:t>
            </a:r>
            <a:r>
              <a:rPr lang="en-US" altLang="zh-CN" sz="2000" smtClean="0">
                <a:latin typeface="Arial" panose="020B0604020202020204" pitchFamily="34" charset="0"/>
              </a:rPr>
              <a:t>B</a:t>
            </a:r>
            <a:r>
              <a:rPr lang="zh-CN" altLang="en-US" sz="2000" smtClean="0">
                <a:latin typeface="Arial" panose="020B0604020202020204" pitchFamily="34" charset="0"/>
              </a:rPr>
              <a:t>类。</a:t>
            </a:r>
            <a:endParaRPr lang="zh-CN" altLang="en-US" sz="2000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zh-CN" sz="20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fld id="{0B4CCABD-6177-462A-8CC0-3F8D5CBE9EE9}" type="slidenum">
              <a:rPr kumimoji="0"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kumimoji="0"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fld id="{4EE5F4F9-1116-4148-8BA4-57DA961F6008}" type="slidenum">
              <a:rPr kumimoji="0"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kumimoji="0"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04215" indent="-27114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8331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51638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950085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8315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81686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24993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68363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A6B08DFD-FF6C-40CD-839E-7D2AADCCF84B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04215" indent="-27114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08331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516380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1950085" indent="-216535" defTabSz="939165" eaLnBrk="0" hangingPunct="0"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38315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81686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249930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683635" indent="-216535" defTabSz="939165" eaLnBrk="0" fontAlgn="base" hangingPunct="0">
              <a:spcBef>
                <a:spcPct val="0"/>
              </a:spcBef>
              <a:spcAft>
                <a:spcPct val="0"/>
              </a:spcAft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E6CD6B5-A5B5-4085-9027-12A888FE1CA6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9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9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B6E3E-291E-4599-A7C6-42DD2A4CDF73}" type="datetime1">
              <a:rPr lang="zh-CN" altLang="en-US"/>
            </a:fld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D93F86F-4456-4A2F-971B-4345979D2996}" type="slidenum">
              <a:rPr lang="en-US" altLang="zh-CN"/>
            </a:fld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EA2D810-021F-4C52-ABAA-D885BF0F55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over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Text Box 61"/>
          <p:cNvSpPr txBox="1">
            <a:spLocks noChangeArrowheads="1"/>
          </p:cNvSpPr>
          <p:nvPr userDrawn="1"/>
        </p:nvSpPr>
        <p:spPr bwMode="auto">
          <a:xfrm>
            <a:off x="152400" y="6461129"/>
            <a:ext cx="76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Ctr="1">
            <a:spAutoFit/>
          </a:bodyPr>
          <a:lstStyle/>
          <a:p>
            <a:pPr algn="l">
              <a:spcBef>
                <a:spcPct val="50000"/>
              </a:spcBef>
            </a:pPr>
            <a:fld id="{99C448A4-D7FD-43EA-A557-CF9710A29668}" type="slidenum"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</a:fld>
            <a:endParaRPr lang="en-US" altLang="zh-CN" sz="2000"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kumimoji="1" sz="3600" i="1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i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Monotype Sorts" pitchFamily="2" charset="2"/>
        <a:buChar char="u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2000"/>
        <a:buFont typeface="Monotype Sorts" pitchFamily="2" charset="2"/>
        <a:buChar char="u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2000"/>
        <a:buFont typeface="Monotype Sorts" pitchFamily="2" charset="2"/>
        <a:buChar char="u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2000"/>
        <a:buFont typeface="Monotype Sorts" pitchFamily="2" charset="2"/>
        <a:buChar char="u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GI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GIF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0066" name="Object 2"/>
          <p:cNvGraphicFramePr>
            <a:graphicFrameLocks noChangeAspect="1"/>
          </p:cNvGraphicFramePr>
          <p:nvPr/>
        </p:nvGraphicFramePr>
        <p:xfrm>
          <a:off x="0" y="5486400"/>
          <a:ext cx="15240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22" name="剪辑" r:id="rId1" imgW="685800" imgH="586740" progId="">
                  <p:embed/>
                </p:oleObj>
              </mc:Choice>
              <mc:Fallback>
                <p:oleObj name="剪辑" r:id="rId1" imgW="685800" imgH="586740" progId="">
                  <p:embed/>
                  <p:pic>
                    <p:nvPicPr>
                      <p:cNvPr id="0" name="Picture 9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86400"/>
                        <a:ext cx="15240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0068" name="Rectangle 4"/>
          <p:cNvSpPr>
            <a:spLocks noChangeArrowheads="1"/>
          </p:cNvSpPr>
          <p:nvPr/>
        </p:nvSpPr>
        <p:spPr bwMode="auto">
          <a:xfrm>
            <a:off x="533400" y="1219200"/>
            <a:ext cx="7848600" cy="76200"/>
          </a:xfrm>
          <a:prstGeom prst="rect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2225">
                <a:solidFill>
                  <a:schemeClr val="tx1"/>
                </a:solidFill>
                <a:miter lim="800000"/>
                <a:headEnd type="none" w="sm" len="med"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sy="50000" rotWithShape="0">
                    <a:srgbClr val="875B0D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600069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grayscl/>
            <a:lum contras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388939"/>
            <a:ext cx="1219200" cy="754063"/>
          </a:xfrm>
          <a:prstGeom prst="rect">
            <a:avLst/>
          </a:prstGeom>
          <a:noFill/>
          <a:effectLst>
            <a:prstShdw prst="shdw17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0070" name="Text Box 6"/>
          <p:cNvSpPr txBox="1">
            <a:spLocks noChangeArrowheads="1"/>
          </p:cNvSpPr>
          <p:nvPr/>
        </p:nvSpPr>
        <p:spPr bwMode="auto">
          <a:xfrm>
            <a:off x="971600" y="2113988"/>
            <a:ext cx="7848872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sy="50000" rotWithShape="0">
                    <a:srgbClr val="875B0D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anose="02010609060101010101" pitchFamily="49" charset="-122"/>
              </a:rPr>
              <a:t>UNIT </a:t>
            </a:r>
            <a:r>
              <a:rPr lang="en-US" altLang="zh-CN" sz="4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anose="02010609060101010101" pitchFamily="49" charset="-122"/>
              </a:rPr>
              <a:t>05      </a:t>
            </a:r>
            <a:endParaRPr lang="en-US" altLang="zh-CN" sz="4400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60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数据的共享与保护</a:t>
            </a:r>
            <a:endParaRPr lang="zh-CN" altLang="en-US" sz="4000" b="1" dirty="0">
              <a:effectLst>
                <a:outerShdw blurRad="38100" dist="38100" dir="2700000" algn="tl">
                  <a:srgbClr val="000000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" name="Rectangle 9"/>
          <p:cNvSpPr txBox="1">
            <a:spLocks noChangeArrowheads="1"/>
          </p:cNvSpPr>
          <p:nvPr/>
        </p:nvSpPr>
        <p:spPr bwMode="auto">
          <a:xfrm>
            <a:off x="1611660" y="461170"/>
            <a:ext cx="54102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600" i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dist"/>
            <a:r>
              <a:rPr lang="zh-CN" altLang="en-US" sz="4200" b="1" i="0" dirty="0" smtClean="0">
                <a:solidFill>
                  <a:srgbClr val="FFFFFF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程序设计</a:t>
            </a:r>
            <a:r>
              <a:rPr lang="en-US" altLang="zh-CN" sz="4200" b="1" i="0" smtClean="0">
                <a:solidFill>
                  <a:srgbClr val="FFFFFF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D</a:t>
            </a:r>
            <a:endParaRPr lang="zh-CN" altLang="en-US" sz="2400" i="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67744" y="402920"/>
            <a:ext cx="6400800" cy="54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normAutofit fontScale="85000" lnSpcReduction="20000"/>
          </a:bodyPr>
          <a:lstStyle/>
          <a:p>
            <a:pPr>
              <a:lnSpc>
                <a:spcPct val="160000"/>
              </a:lnSpc>
              <a:spcBef>
                <a:spcPts val="600"/>
              </a:spcBef>
              <a:buClr>
                <a:schemeClr val="tx1"/>
              </a:buClr>
              <a:buFont typeface="Monotype Sorts" pitchFamily="2" charset="2"/>
              <a:buChar char="&amp;"/>
            </a:pP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标识符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的作用域与</a:t>
            </a: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可见性</a:t>
            </a:r>
            <a:endParaRPr lang="en-US" altLang="zh-CN" sz="3600" b="1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  <a:buClr>
                <a:schemeClr val="tx1"/>
              </a:buClr>
              <a:buFont typeface="Monotype Sorts" pitchFamily="2" charset="2"/>
              <a:buChar char="&amp;"/>
            </a:pPr>
            <a:r>
              <a:rPr lang="en-US" altLang="zh-CN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对象的</a:t>
            </a: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生存期</a:t>
            </a:r>
            <a:endParaRPr lang="en-US" altLang="zh-CN" sz="3600" b="1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  <a:buClr>
                <a:schemeClr val="tx1"/>
              </a:buClr>
              <a:buFont typeface="Monotype Sorts" pitchFamily="2" charset="2"/>
              <a:buChar char="&amp;"/>
            </a:pPr>
            <a:r>
              <a:rPr lang="en-US" altLang="zh-CN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类的静态</a:t>
            </a: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成员</a:t>
            </a:r>
            <a:endParaRPr lang="en-US" altLang="zh-CN" sz="3600" b="1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  <a:buClr>
                <a:schemeClr val="tx1"/>
              </a:buClr>
              <a:buFont typeface="Monotype Sorts" pitchFamily="2" charset="2"/>
              <a:buChar char="&amp;"/>
            </a:pPr>
            <a:r>
              <a:rPr lang="en-US" altLang="zh-CN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类的友</a:t>
            </a: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元</a:t>
            </a:r>
            <a:endParaRPr lang="en-US" altLang="zh-CN" sz="3600" b="1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  <a:buClr>
                <a:schemeClr val="tx1"/>
              </a:buClr>
              <a:buFont typeface="Monotype Sorts" pitchFamily="2" charset="2"/>
              <a:buChar char="&amp;"/>
            </a:pPr>
            <a:r>
              <a:rPr lang="en-US" altLang="zh-CN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共享数据的</a:t>
            </a: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保护</a:t>
            </a:r>
            <a:endParaRPr lang="en-US" altLang="zh-CN" sz="3600" b="1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  <a:buClr>
                <a:schemeClr val="tx1"/>
              </a:buClr>
              <a:buFont typeface="Monotype Sorts" pitchFamily="2" charset="2"/>
              <a:buChar char="&amp;"/>
            </a:pPr>
            <a:r>
              <a:rPr lang="en-US" altLang="zh-CN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多文件结构和编译预处理</a:t>
            </a: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命令</a:t>
            </a:r>
            <a:endParaRPr lang="en-US" altLang="zh-CN" sz="3600" b="1" dirty="0" smtClean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  <a:buClr>
                <a:schemeClr val="tx1"/>
              </a:buClr>
              <a:buFont typeface="Monotype Sorts" pitchFamily="2" charset="2"/>
              <a:buChar char="&amp;"/>
            </a:pPr>
            <a:r>
              <a:rPr lang="en-US" altLang="zh-CN" sz="3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36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深度探索</a:t>
            </a:r>
            <a:endParaRPr lang="en-US" altLang="zh-CN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87107" name="WordArt 3"/>
          <p:cNvSpPr>
            <a:spLocks noChangeArrowheads="1" noChangeShapeType="1" noTextEdit="1"/>
          </p:cNvSpPr>
          <p:nvPr/>
        </p:nvSpPr>
        <p:spPr bwMode="auto">
          <a:xfrm rot="5373304">
            <a:off x="-1257300" y="2857500"/>
            <a:ext cx="4876800" cy="8382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vert="eaVert" wrap="none" fromWordArt="1">
            <a:prstTxWarp prst="textPlain">
              <a:avLst>
                <a:gd name="adj" fmla="val 50000"/>
              </a:avLst>
            </a:prstTxWarp>
            <a:scene3d>
              <a:camera prst="legacyPerspectiveFront">
                <a:rot lat="20639999" lon="20699999" rev="0"/>
              </a:camera>
              <a:lightRig rig="legacyFlat4" dir="b"/>
            </a:scene3d>
            <a:sp3d extrusionH="201600" prstMaterial="legacyPlastic">
              <a:extrusionClr>
                <a:srgbClr val="FF9966"/>
              </a:extrusionClr>
              <a:contourClr>
                <a:schemeClr val="tx1"/>
              </a:contourClr>
            </a:sp3d>
          </a:bodyPr>
          <a:lstStyle/>
          <a:p>
            <a:pPr fontAlgn="auto"/>
            <a:r>
              <a:rPr lang="zh-CN" altLang="en-US" sz="3600" kern="10" spc="1800" dirty="0">
                <a:ln w="9525">
                  <a:round/>
                </a:ln>
                <a:latin typeface="隶书" panose="02010509060101010101" pitchFamily="49" charset="-122"/>
                <a:ea typeface="隶书" panose="02010509060101010101" pitchFamily="49" charset="-122"/>
              </a:rPr>
              <a:t>本讲提纲</a:t>
            </a:r>
            <a:endParaRPr lang="zh-CN" altLang="en-US" sz="3600" kern="10" spc="1800" dirty="0">
              <a:ln w="9525">
                <a:round/>
              </a:ln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687109" name="Picture 5" descr="BS00975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88640"/>
            <a:ext cx="1295400" cy="112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1953230"/>
            <a:ext cx="7990656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cene3d>
              <a:camera prst="orthographicFront"/>
              <a:lightRig rig="threePt" dir="t"/>
            </a:scene3d>
            <a:sp3d extrusionH="57150">
              <a:bevelT w="31750" prst="riblet"/>
              <a:bevelB w="38100" h="38100" prst="angle"/>
            </a:sp3d>
          </a:bodyPr>
          <a:lstStyle/>
          <a:p>
            <a:pPr algn="ctr">
              <a:buSzPct val="250000"/>
            </a:pPr>
            <a:r>
              <a:rPr lang="en-US" altLang="zh-CN" sz="6000" b="1" dirty="0" smtClean="0">
                <a:ea typeface="华文彩云" panose="02010800040101010101" pitchFamily="2" charset="-122"/>
              </a:rPr>
              <a:t> </a:t>
            </a:r>
            <a:br>
              <a:rPr lang="en-US" altLang="zh-CN" sz="6000" b="1" dirty="0" smtClean="0">
                <a:ea typeface="华文彩云" panose="02010800040101010101" pitchFamily="2" charset="-122"/>
              </a:rPr>
            </a:br>
            <a:r>
              <a:rPr lang="zh-CN" altLang="en-US" sz="6000" b="1" dirty="0" smtClean="0">
                <a:ea typeface="华文彩云" panose="02010800040101010101" pitchFamily="2" charset="-122"/>
              </a:rPr>
              <a:t>数据的共享、保护 </a:t>
            </a:r>
            <a:endParaRPr lang="zh-CN" altLang="en-US" sz="6000" dirty="0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 rot="21208637">
            <a:off x="2094848" y="1579332"/>
            <a:ext cx="6835373" cy="7826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 eaLnBrk="1" hangingPunct="1"/>
            <a:r>
              <a:rPr lang="zh-CN" altLang="en-US" sz="4000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全局变量、类的静态成员、</a:t>
            </a:r>
            <a:br>
              <a:rPr lang="en-US" altLang="zh-CN" sz="4000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</a:br>
            <a:r>
              <a:rPr lang="zh-CN" altLang="en-US" sz="4000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友元、函数参数传递</a:t>
            </a:r>
            <a:endParaRPr lang="zh-CN" altLang="en-US" sz="40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98601" y="692696"/>
            <a:ext cx="6061206" cy="7826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l" eaLnBrk="1" hangingPunct="1"/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如何共享？</a:t>
            </a:r>
            <a:endParaRPr lang="zh-CN" altLang="en-US" sz="40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下箭头 1"/>
          <p:cNvSpPr/>
          <p:nvPr/>
        </p:nvSpPr>
        <p:spPr bwMode="auto">
          <a:xfrm>
            <a:off x="5436096" y="3892249"/>
            <a:ext cx="2448272" cy="1142986"/>
          </a:xfrm>
          <a:prstGeom prst="downArrow">
            <a:avLst>
              <a:gd name="adj1" fmla="val 45850"/>
              <a:gd name="adj2" fmla="val 1837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70712" y="5665521"/>
            <a:ext cx="6835373" cy="7826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 eaLnBrk="1" hangingPunct="1"/>
            <a:r>
              <a:rPr lang="zh-CN" altLang="en-US" sz="4000" b="1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控制作用域和生存期</a:t>
            </a:r>
            <a:endParaRPr lang="en-US" altLang="zh-CN" sz="4000" b="1" dirty="0" smtClean="0">
              <a:latin typeface="方正舒体" panose="02010601030101010101" pitchFamily="2" charset="-122"/>
              <a:ea typeface="方正舒体" panose="02010601030101010101" pitchFamily="2" charset="-122"/>
            </a:endParaRPr>
          </a:p>
          <a:p>
            <a:pPr algn="r" eaLnBrk="1" hangingPunct="1"/>
            <a:r>
              <a:rPr lang="en-US" altLang="zh-CN" sz="4000" b="1" dirty="0" err="1" smtClean="0">
                <a:latin typeface="方正舒体" panose="02010601030101010101" pitchFamily="2" charset="-122"/>
                <a:ea typeface="方正舒体" panose="02010601030101010101" pitchFamily="2" charset="-122"/>
              </a:rPr>
              <a:t>const</a:t>
            </a:r>
            <a:r>
              <a:rPr lang="zh-CN" altLang="en-US" sz="4000" b="1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防止错误修改</a:t>
            </a:r>
            <a:endParaRPr lang="zh-CN" altLang="en-US" sz="4000" b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242545" y="3751469"/>
            <a:ext cx="6835373" cy="7826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 eaLnBrk="1" hangingPunct="1"/>
            <a:r>
              <a:rPr lang="zh-CN" altLang="en-US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如何防止共享中被滥用？</a:t>
            </a:r>
            <a:endParaRPr lang="zh-CN" altLang="en-US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560" y="2060848"/>
            <a:ext cx="7990656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buFont typeface="+mj-lt"/>
              <a:buAutoNum type="arabicPeriod"/>
            </a:pPr>
            <a:r>
              <a:rPr lang="zh-CN" altLang="en-US" sz="6000" b="1" dirty="0" smtClean="0">
                <a:ea typeface="华文彩云" panose="02010800040101010101" pitchFamily="2" charset="-122"/>
              </a:rPr>
              <a:t>标识符的作用域和可见性</a:t>
            </a:r>
            <a:endParaRPr lang="zh-CN" altLang="en-US" sz="6000" dirty="0"/>
          </a:p>
        </p:txBody>
      </p:sp>
      <p:pic>
        <p:nvPicPr>
          <p:cNvPr id="641032" name="Picture 8" descr="surfer4"/>
          <p:cNvPicPr>
            <a:picLocks noChangeAspect="1" noChangeArrowheads="1" noCrop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933056"/>
            <a:ext cx="200025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1116013" y="980157"/>
            <a:ext cx="7704137" cy="237648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   </a:t>
            </a: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大型程序的</a:t>
            </a:r>
            <a:r>
              <a:rPr lang="zh-CN" altLang="en-US" sz="2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命名污染</a:t>
            </a:r>
            <a:r>
              <a:rPr lang="zh-CN" altLang="en-US" sz="2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现象</a:t>
            </a:r>
            <a:endParaRPr lang="zh-CN" altLang="en-US" sz="28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 algn="l" eaLnBrk="1" hangingPunct="1">
              <a:spcBef>
                <a:spcPct val="35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ea typeface="华文楷体" panose="02010600040101010101" pitchFamily="2" charset="-122"/>
              </a:rPr>
              <a:t>数目众多：包含成千上万的对象（函数、变量、常量和数据类型）；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 algn="l" eaLnBrk="1" hangingPunct="1">
              <a:spcBef>
                <a:spcPct val="35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ea typeface="华文楷体" panose="02010600040101010101" pitchFamily="2" charset="-122"/>
              </a:rPr>
              <a:t>记忆困难：多个程序员往往会给不同用途的数据取相同的标识符名，从而造成数据访问的混乱</a:t>
            </a:r>
            <a:r>
              <a:rPr lang="zh-CN" altLang="en-US" b="1" dirty="0">
                <a:ea typeface="华文楷体" panose="02010600040101010101" pitchFamily="2" charset="-122"/>
              </a:rPr>
              <a:t>。</a:t>
            </a:r>
            <a:r>
              <a:rPr lang="zh-CN" altLang="en-US" sz="2900" b="1" dirty="0"/>
              <a:t> </a:t>
            </a:r>
            <a:endParaRPr lang="zh-CN" altLang="en-US" b="1" dirty="0">
              <a:ea typeface="华文楷体" panose="02010600040101010101" pitchFamily="2" charset="-122"/>
            </a:endParaRPr>
          </a:p>
        </p:txBody>
      </p:sp>
      <p:cxnSp>
        <p:nvCxnSpPr>
          <p:cNvPr id="24580" name="AutoShape 5"/>
          <p:cNvCxnSpPr>
            <a:cxnSpLocks noChangeShapeType="1"/>
            <a:stCxn id="24579" idx="1"/>
            <a:endCxn id="24581" idx="1"/>
          </p:cNvCxnSpPr>
          <p:nvPr/>
        </p:nvCxnSpPr>
        <p:spPr bwMode="auto">
          <a:xfrm rot="10800000" flipH="1" flipV="1">
            <a:off x="1116013" y="2169194"/>
            <a:ext cx="1587" cy="2520950"/>
          </a:xfrm>
          <a:prstGeom prst="bentConnector3">
            <a:avLst>
              <a:gd name="adj1" fmla="val -54100014"/>
            </a:avLst>
          </a:prstGeom>
          <a:noFill/>
          <a:ln w="57150">
            <a:solidFill>
              <a:srgbClr val="0000CC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1116013" y="3861469"/>
            <a:ext cx="7704137" cy="165576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350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   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数据模块化：最小权限原则，信息隐藏</a:t>
            </a:r>
            <a:endParaRPr lang="zh-CN" altLang="en-US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 algn="l" eaLnBrk="1" hangingPunct="1">
              <a:spcBef>
                <a:spcPct val="35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ea typeface="华文楷体" panose="02010600040101010101" pitchFamily="2" charset="-122"/>
              </a:rPr>
              <a:t>每个模块都有自己独立的对象集合；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 algn="l" eaLnBrk="1" hangingPunct="1">
              <a:spcBef>
                <a:spcPct val="35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ea typeface="华文楷体" panose="02010600040101010101" pitchFamily="2" charset="-122"/>
              </a:rPr>
              <a:t>严格控制模块之间的信息交互。</a:t>
            </a:r>
            <a:r>
              <a:rPr lang="zh-CN" altLang="en-US" b="1" dirty="0">
                <a:solidFill>
                  <a:srgbClr val="CC0000"/>
                </a:solidFill>
                <a:ea typeface="华文楷体" panose="02010600040101010101" pitchFamily="2" charset="-122"/>
              </a:rPr>
              <a:t>  </a:t>
            </a:r>
            <a:endParaRPr lang="zh-CN" altLang="en-US" b="1" dirty="0">
              <a:solidFill>
                <a:srgbClr val="CC0000"/>
              </a:solidFill>
              <a:ea typeface="华文楷体" panose="02010600040101010101" pitchFamily="2" charset="-122"/>
            </a:endParaRPr>
          </a:p>
        </p:txBody>
      </p:sp>
      <p:sp>
        <p:nvSpPr>
          <p:cNvPr id="24582" name="Text Box 7"/>
          <p:cNvSpPr txBox="1">
            <a:spLocks noChangeArrowheads="1"/>
          </p:cNvSpPr>
          <p:nvPr/>
        </p:nvSpPr>
        <p:spPr bwMode="auto">
          <a:xfrm>
            <a:off x="179388" y="2493044"/>
            <a:ext cx="431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marL="179705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解决办法</a:t>
            </a:r>
            <a:endParaRPr lang="zh-CN" altLang="en-US" sz="2000" b="1" dirty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116013" y="1700213"/>
            <a:ext cx="7704137" cy="18002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作用域：可视性</a:t>
            </a:r>
            <a:endParaRPr lang="zh-CN" altLang="en-US" sz="28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636905" lvl="1" indent="-457200" algn="l" eaLnBrk="1" hangingPunct="1">
              <a:spcBef>
                <a:spcPct val="1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ea typeface="华文楷体" panose="02010600040101010101" pitchFamily="2" charset="-122"/>
              </a:rPr>
              <a:t>一个标识符的作用域指程序中可以访问（可见到）该标识符所代表的变量的区域。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marL="636905" lvl="1" indent="-457200" algn="l" eaLnBrk="1" hangingPunct="1">
              <a:spcBef>
                <a:spcPct val="1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ea typeface="华文楷体" panose="02010600040101010101" pitchFamily="2" charset="-122"/>
              </a:rPr>
              <a:t>作用域：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局部可视、全局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可视 等；</a:t>
            </a:r>
            <a:r>
              <a:rPr lang="zh-CN" altLang="en-US" sz="2900" b="1" dirty="0" smtClean="0">
                <a:solidFill>
                  <a:srgbClr val="FFFF00"/>
                </a:solidFill>
              </a:rPr>
              <a:t> </a:t>
            </a:r>
            <a:endParaRPr lang="zh-CN" altLang="en-US" b="1" dirty="0">
              <a:solidFill>
                <a:srgbClr val="FFFF00"/>
              </a:solidFill>
              <a:ea typeface="华文楷体" panose="02010600040101010101" pitchFamily="2" charset="-122"/>
            </a:endParaRPr>
          </a:p>
        </p:txBody>
      </p:sp>
      <p:sp>
        <p:nvSpPr>
          <p:cNvPr id="25604" name="Rectangle 7"/>
          <p:cNvSpPr>
            <a:spLocks noChangeArrowheads="1"/>
          </p:cNvSpPr>
          <p:nvPr/>
        </p:nvSpPr>
        <p:spPr bwMode="auto">
          <a:xfrm>
            <a:off x="1116013" y="3933825"/>
            <a:ext cx="7704137" cy="18002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17970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存储周期：</a:t>
            </a:r>
            <a:r>
              <a:rPr lang="zh-CN" altLang="en-US" sz="28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生存期</a:t>
            </a: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，或指存在时间</a:t>
            </a:r>
            <a:endParaRPr lang="zh-CN" altLang="en-US" sz="28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522605" lvl="1" indent="-342900" algn="l" eaLnBrk="1" hangingPunct="1">
              <a:spcBef>
                <a:spcPct val="1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ea typeface="华文楷体" panose="02010600040101010101" pitchFamily="2" charset="-122"/>
              </a:rPr>
              <a:t>标识符所代表的变量存在于内存中的时间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；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522605" lvl="1" indent="-342900" algn="l" eaLnBrk="1" hangingPunct="1">
              <a:spcBef>
                <a:spcPct val="1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b="1" dirty="0">
                <a:ea typeface="华文楷体" panose="02010600040101010101" pitchFamily="2" charset="-122"/>
              </a:rPr>
              <a:t>存储周期：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程序的整个执行时间存在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；</a:t>
            </a:r>
            <a:br>
              <a:rPr lang="en-US" altLang="zh-CN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</a:br>
            <a:r>
              <a:rPr lang="en-US" altLang="zh-CN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               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需要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时创建，存在时间很短。</a:t>
            </a:r>
            <a:endParaRPr lang="zh-CN" altLang="en-US" b="1" dirty="0">
              <a:solidFill>
                <a:srgbClr val="FFFF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5.1.1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作用域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683568" y="1340768"/>
            <a:ext cx="8229600" cy="508518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作用域是一个标识符在程序正文中有效的区域，即程序中可以使用该标识符的区域。</a:t>
            </a:r>
            <a:endParaRPr lang="en-US" altLang="zh-CN" sz="2800" b="1" dirty="0" smtClean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函数原型作用域</a:t>
            </a:r>
            <a:endParaRPr lang="en-US" altLang="zh-CN" sz="2800" b="1" dirty="0" smtClean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局部作用域</a:t>
            </a:r>
            <a:r>
              <a:rPr lang="en-US" altLang="zh-CN" sz="2800" b="1" dirty="0" smtClean="0">
                <a:ea typeface="华文楷体" panose="02010600040101010101" pitchFamily="2" charset="-122"/>
              </a:rPr>
              <a:t>(</a:t>
            </a:r>
            <a:r>
              <a:rPr lang="zh-CN" altLang="en-US" sz="2800" b="1" dirty="0" smtClean="0">
                <a:ea typeface="华文楷体" panose="02010600040101010101" pitchFamily="2" charset="-122"/>
              </a:rPr>
              <a:t>块作用域</a:t>
            </a:r>
            <a:r>
              <a:rPr lang="en-US" altLang="zh-CN" sz="2800" b="1" dirty="0" smtClean="0">
                <a:ea typeface="华文楷体" panose="02010600040101010101" pitchFamily="2" charset="-122"/>
              </a:rPr>
              <a:t>)</a:t>
            </a:r>
            <a:endParaRPr lang="en-US" altLang="zh-CN" sz="2800" b="1" dirty="0" smtClean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类作用域</a:t>
            </a:r>
            <a:endParaRPr lang="en-US" altLang="zh-CN" sz="2800" b="1" dirty="0" smtClean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文件作用域</a:t>
            </a:r>
            <a:endParaRPr lang="en-US" altLang="zh-CN" sz="2800" b="1" dirty="0" smtClean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命名空间作用域</a:t>
            </a:r>
            <a:endParaRPr lang="en-US" altLang="zh-CN" sz="2800" b="1" dirty="0" smtClean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endParaRPr lang="zh-CN" altLang="en-US" sz="2400" b="1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函数</a:t>
            </a:r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原型的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作用域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指函数</a:t>
            </a:r>
            <a:r>
              <a:rPr lang="zh-CN" altLang="en-US" sz="2800" b="1" dirty="0">
                <a:ea typeface="华文楷体" panose="02010600040101010101" pitchFamily="2" charset="-122"/>
              </a:rPr>
              <a:t>原型中的参数，其作用域始于</a:t>
            </a:r>
            <a:r>
              <a:rPr lang="en-US" altLang="zh-CN" sz="2800" b="1" dirty="0">
                <a:ea typeface="华文楷体" panose="02010600040101010101" pitchFamily="2" charset="-122"/>
              </a:rPr>
              <a:t>"("</a:t>
            </a:r>
            <a:r>
              <a:rPr lang="zh-CN" altLang="en-US" sz="2800" b="1" dirty="0">
                <a:ea typeface="华文楷体" panose="02010600040101010101" pitchFamily="2" charset="-122"/>
              </a:rPr>
              <a:t>，结束于</a:t>
            </a:r>
            <a:r>
              <a:rPr lang="en-US" altLang="zh-CN" sz="2800" b="1" dirty="0">
                <a:ea typeface="华文楷体" panose="02010600040101010101" pitchFamily="2" charset="-122"/>
              </a:rPr>
              <a:t>")"</a:t>
            </a:r>
            <a:r>
              <a:rPr lang="zh-CN" altLang="en-US" sz="2800" b="1" dirty="0" smtClean="0">
                <a:ea typeface="华文楷体" panose="02010600040101010101" pitchFamily="2" charset="-122"/>
              </a:rPr>
              <a:t>。</a:t>
            </a:r>
            <a:endParaRPr lang="en-US" altLang="zh-CN" sz="2800" b="1" dirty="0" smtClean="0">
              <a:ea typeface="华文楷体" panose="02010600040101010101" pitchFamily="2" charset="-122"/>
            </a:endParaRPr>
          </a:p>
          <a:p>
            <a:pPr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这个区域说明的形参标识符，仅在此处可用，与函数定义时说明的形参不属于同一个可视化区域。</a:t>
            </a:r>
            <a:endParaRPr lang="zh-CN" altLang="en-US" sz="28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spcAft>
                <a:spcPts val="1200"/>
              </a:spcAft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例如</a:t>
            </a:r>
            <a:r>
              <a:rPr lang="zh-CN" altLang="en-US" sz="2800" b="1" dirty="0">
                <a:ea typeface="华文楷体" panose="02010600040101010101" pitchFamily="2" charset="-122"/>
              </a:rPr>
              <a:t>，设有下列原型声明：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 marL="457200" lvl="1" indent="0">
              <a:spcAft>
                <a:spcPts val="1200"/>
              </a:spcAft>
              <a:buClr>
                <a:srgbClr val="00B0F0"/>
              </a:buClr>
              <a:buNone/>
            </a:pPr>
            <a:r>
              <a:rPr lang="en-US" altLang="zh-CN" sz="2400" b="1" dirty="0">
                <a:ea typeface="华文楷体" panose="02010600040101010101" pitchFamily="2" charset="-122"/>
              </a:rPr>
              <a:t>double area(double radius);</a:t>
            </a:r>
            <a:endParaRPr lang="en-US" altLang="zh-CN" sz="2400" b="1" dirty="0">
              <a:ea typeface="华文楷体" panose="02010600040101010101" pitchFamily="2" charset="-122"/>
            </a:endParaRPr>
          </a:p>
        </p:txBody>
      </p:sp>
      <p:sp>
        <p:nvSpPr>
          <p:cNvPr id="16389" name="AutoShape 4"/>
          <p:cNvSpPr/>
          <p:nvPr/>
        </p:nvSpPr>
        <p:spPr bwMode="auto">
          <a:xfrm rot="-5400000">
            <a:off x="3606823" y="4423444"/>
            <a:ext cx="258763" cy="1928813"/>
          </a:xfrm>
          <a:prstGeom prst="leftBrace">
            <a:avLst>
              <a:gd name="adj1" fmla="val 7271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flipV="1">
            <a:off x="4326731" y="5641816"/>
            <a:ext cx="3733800" cy="1219200"/>
          </a:xfrm>
          <a:prstGeom prst="wedgeRoundRectCallout">
            <a:avLst>
              <a:gd name="adj1" fmla="val -45880"/>
              <a:gd name="adj2" fmla="val 65102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</p:spPr>
        <p:txBody>
          <a:bodyPr rot="10800000" anchor="ctr"/>
          <a:lstStyle/>
          <a:p>
            <a:pPr algn="l">
              <a:defRPr/>
            </a:pPr>
            <a:r>
              <a:rPr lang="en-US" altLang="zh-CN" b="1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radius </a:t>
            </a:r>
            <a:r>
              <a:rPr lang="zh-CN" altLang="zh-CN" b="1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的作用域仅在于此，不能用于程序正文其他地方，因而可有可无。</a:t>
            </a:r>
            <a:endParaRPr lang="zh-CN" altLang="en-US" b="1" dirty="0">
              <a:solidFill>
                <a:srgbClr val="000000"/>
              </a:solidFill>
              <a:latin typeface="+mn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局部作用域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函数的形参，在块中声明的标识符，其作用域自声明处起，限于块中，例如：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void fun(</a:t>
            </a:r>
            <a:r>
              <a:rPr lang="en-US" altLang="zh-CN" b="1" dirty="0" err="1">
                <a:ea typeface="华文楷体" panose="02010600040101010101" pitchFamily="2" charset="-122"/>
              </a:rPr>
              <a:t>int</a:t>
            </a:r>
            <a:r>
              <a:rPr lang="en-US" altLang="zh-CN" b="1" dirty="0">
                <a:ea typeface="华文楷体" panose="02010600040101010101" pitchFamily="2" charset="-122"/>
              </a:rPr>
              <a:t> a) {</a:t>
            </a: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   </a:t>
            </a:r>
            <a:r>
              <a:rPr lang="en-US" altLang="zh-CN" b="1" dirty="0" err="1">
                <a:ea typeface="华文楷体" panose="02010600040101010101" pitchFamily="2" charset="-122"/>
              </a:rPr>
              <a:t>int</a:t>
            </a:r>
            <a:r>
              <a:rPr lang="en-US" altLang="zh-CN" b="1" dirty="0">
                <a:ea typeface="华文楷体" panose="02010600040101010101" pitchFamily="2" charset="-122"/>
              </a:rPr>
              <a:t> b = a;</a:t>
            </a: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   </a:t>
            </a:r>
            <a:r>
              <a:rPr lang="en-US" altLang="zh-CN" b="1" dirty="0" err="1">
                <a:ea typeface="华文楷体" panose="02010600040101010101" pitchFamily="2" charset="-122"/>
              </a:rPr>
              <a:t>cin</a:t>
            </a:r>
            <a:r>
              <a:rPr lang="en-US" altLang="zh-CN" b="1" dirty="0">
                <a:ea typeface="华文楷体" panose="02010600040101010101" pitchFamily="2" charset="-122"/>
              </a:rPr>
              <a:t> &gt;&gt; b;</a:t>
            </a: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   if (b &gt; 0) {</a:t>
            </a: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     </a:t>
            </a:r>
            <a:r>
              <a:rPr lang="en-US" altLang="zh-CN" b="1" dirty="0" err="1">
                <a:ea typeface="华文楷体" panose="02010600040101010101" pitchFamily="2" charset="-122"/>
              </a:rPr>
              <a:t>int</a:t>
            </a:r>
            <a:r>
              <a:rPr lang="en-US" altLang="zh-CN" b="1" dirty="0">
                <a:ea typeface="华文楷体" panose="02010600040101010101" pitchFamily="2" charset="-122"/>
              </a:rPr>
              <a:t> c;</a:t>
            </a: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     ......</a:t>
            </a: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   }</a:t>
            </a:r>
            <a:endParaRPr lang="en-US" altLang="zh-CN" b="1" dirty="0">
              <a:ea typeface="华文楷体" panose="02010600040101010101" pitchFamily="2" charset="-122"/>
            </a:endParaRPr>
          </a:p>
          <a:p>
            <a:pPr lvl="1" eaLnBrk="1" hangingPunct="1">
              <a:lnSpc>
                <a:spcPct val="65000"/>
              </a:lnSpc>
              <a:buFont typeface="Georgia" panose="02040502050405020303" pitchFamily="18" charset="0"/>
              <a:buNone/>
            </a:pPr>
            <a:r>
              <a:rPr lang="en-US" altLang="zh-CN" b="1" dirty="0">
                <a:ea typeface="华文楷体" panose="02010600040101010101" pitchFamily="2" charset="-122"/>
              </a:rPr>
              <a:t>}</a:t>
            </a:r>
            <a:endParaRPr lang="zh-CN" altLang="en-US" b="1" dirty="0">
              <a:ea typeface="华文楷体" panose="02010600040101010101" pitchFamily="2" charset="-122"/>
            </a:endParaRPr>
          </a:p>
        </p:txBody>
      </p:sp>
      <p:grpSp>
        <p:nvGrpSpPr>
          <p:cNvPr id="17414" name="Group 7"/>
          <p:cNvGrpSpPr/>
          <p:nvPr/>
        </p:nvGrpSpPr>
        <p:grpSpPr bwMode="auto">
          <a:xfrm>
            <a:off x="2928938" y="4371380"/>
            <a:ext cx="2200275" cy="785812"/>
            <a:chOff x="2304" y="3168"/>
            <a:chExt cx="1386" cy="528"/>
          </a:xfrm>
        </p:grpSpPr>
        <p:sp>
          <p:nvSpPr>
            <p:cNvPr id="17420" name="AutoShape 5"/>
            <p:cNvSpPr>
              <a:spLocks noChangeArrowheads="1"/>
            </p:cNvSpPr>
            <p:nvPr/>
          </p:nvSpPr>
          <p:spPr bwMode="auto">
            <a:xfrm>
              <a:off x="2394" y="3168"/>
              <a:ext cx="1296" cy="384"/>
            </a:xfrm>
            <a:prstGeom prst="cloudCallout">
              <a:avLst>
                <a:gd name="adj1" fmla="val -43750"/>
                <a:gd name="adj2" fmla="val 70000"/>
              </a:avLst>
            </a:prstGeom>
            <a:solidFill>
              <a:srgbClr val="66FFFF"/>
            </a:solidFill>
            <a:ln w="9525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+mn-lt"/>
                </a:rPr>
                <a:t>c</a:t>
              </a:r>
              <a:r>
                <a:rPr lang="zh-CN" altLang="en-US" b="1">
                  <a:solidFill>
                    <a:srgbClr val="000000"/>
                  </a:solidFill>
                  <a:latin typeface="+mn-lt"/>
                </a:rPr>
                <a:t>的作用域</a:t>
              </a:r>
              <a:endParaRPr lang="zh-CN" altLang="en-US" b="1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17421" name="AutoShape 6"/>
            <p:cNvSpPr/>
            <p:nvPr/>
          </p:nvSpPr>
          <p:spPr bwMode="auto">
            <a:xfrm>
              <a:off x="2304" y="3168"/>
              <a:ext cx="48" cy="528"/>
            </a:xfrm>
            <a:prstGeom prst="rightBracket">
              <a:avLst>
                <a:gd name="adj" fmla="val 91667"/>
              </a:avLst>
            </a:prstGeom>
            <a:noFill/>
            <a:ln w="38100">
              <a:solidFill>
                <a:schemeClr val="tx2">
                  <a:lumMod val="40000"/>
                  <a:lumOff val="60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b="1">
                <a:solidFill>
                  <a:srgbClr val="000000"/>
                </a:solidFill>
                <a:latin typeface="+mn-lt"/>
              </a:endParaRPr>
            </a:p>
          </p:txBody>
        </p:sp>
      </p:grpSp>
      <p:sp>
        <p:nvSpPr>
          <p:cNvPr id="17415" name="Freeform 8"/>
          <p:cNvSpPr/>
          <p:nvPr/>
        </p:nvSpPr>
        <p:spPr bwMode="auto">
          <a:xfrm>
            <a:off x="1214438" y="2928938"/>
            <a:ext cx="4572000" cy="2428875"/>
          </a:xfrm>
          <a:custGeom>
            <a:avLst/>
            <a:gdLst>
              <a:gd name="T0" fmla="*/ 2147483647 w 2928"/>
              <a:gd name="T1" fmla="*/ 0 h 1632"/>
              <a:gd name="T2" fmla="*/ 2147483647 w 2928"/>
              <a:gd name="T3" fmla="*/ 0 h 1632"/>
              <a:gd name="T4" fmla="*/ 2147483647 w 2928"/>
              <a:gd name="T5" fmla="*/ 2147483647 h 1632"/>
              <a:gd name="T6" fmla="*/ 0 w 2928"/>
              <a:gd name="T7" fmla="*/ 2147483647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950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AutoShape 9"/>
          <p:cNvSpPr>
            <a:spLocks noChangeArrowheads="1"/>
          </p:cNvSpPr>
          <p:nvPr/>
        </p:nvSpPr>
        <p:spPr bwMode="auto">
          <a:xfrm>
            <a:off x="6000750" y="2714625"/>
            <a:ext cx="2133600" cy="781050"/>
          </a:xfrm>
          <a:prstGeom prst="cloudCallout">
            <a:avLst>
              <a:gd name="adj1" fmla="val -54000"/>
              <a:gd name="adj2" fmla="val 13588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000000"/>
                </a:solidFill>
                <a:latin typeface="+mn-lt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的作用域</a:t>
            </a:r>
            <a:endParaRPr lang="zh-CN" altLang="en-US" b="1" dirty="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17417" name="Group 10"/>
          <p:cNvGrpSpPr/>
          <p:nvPr/>
        </p:nvGrpSpPr>
        <p:grpSpPr bwMode="auto">
          <a:xfrm>
            <a:off x="1214438" y="3286125"/>
            <a:ext cx="6943725" cy="2000250"/>
            <a:chOff x="960" y="2256"/>
            <a:chExt cx="4374" cy="1632"/>
          </a:xfrm>
        </p:grpSpPr>
        <p:sp>
          <p:nvSpPr>
            <p:cNvPr id="17418" name="Freeform 8"/>
            <p:cNvSpPr/>
            <p:nvPr/>
          </p:nvSpPr>
          <p:spPr bwMode="auto">
            <a:xfrm>
              <a:off x="960" y="2256"/>
              <a:ext cx="2715" cy="1632"/>
            </a:xfrm>
            <a:custGeom>
              <a:avLst/>
              <a:gdLst>
                <a:gd name="T0" fmla="*/ 301 w 2928"/>
                <a:gd name="T1" fmla="*/ 0 h 1632"/>
                <a:gd name="T2" fmla="*/ 554 w 2928"/>
                <a:gd name="T3" fmla="*/ 0 h 1632"/>
                <a:gd name="T4" fmla="*/ 554 w 2928"/>
                <a:gd name="T5" fmla="*/ 1632 h 1632"/>
                <a:gd name="T6" fmla="*/ 0 w 2928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8"/>
                <a:gd name="T13" fmla="*/ 0 h 1632"/>
                <a:gd name="T14" fmla="*/ 2928 w 2928"/>
                <a:gd name="T15" fmla="*/ 1632 h 1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8" h="1632">
                  <a:moveTo>
                    <a:pt x="1584" y="0"/>
                  </a:moveTo>
                  <a:lnTo>
                    <a:pt x="2928" y="0"/>
                  </a:lnTo>
                  <a:lnTo>
                    <a:pt x="2928" y="1632"/>
                  </a:lnTo>
                  <a:lnTo>
                    <a:pt x="0" y="1632"/>
                  </a:lnTo>
                </a:path>
              </a:pathLst>
            </a:custGeom>
            <a:noFill/>
            <a:ln w="38100">
              <a:solidFill>
                <a:srgbClr val="FFC000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" name="AutoShape 9"/>
            <p:cNvSpPr>
              <a:spLocks noChangeArrowheads="1"/>
            </p:cNvSpPr>
            <p:nvPr/>
          </p:nvSpPr>
          <p:spPr bwMode="auto">
            <a:xfrm>
              <a:off x="3990" y="2982"/>
              <a:ext cx="1344" cy="432"/>
            </a:xfrm>
            <a:prstGeom prst="cloudCallout">
              <a:avLst>
                <a:gd name="adj1" fmla="val -70343"/>
                <a:gd name="adj2" fmla="val 80991"/>
              </a:avLst>
            </a:prstGeom>
            <a:solidFill>
              <a:srgbClr val="FFC000"/>
            </a:solidFill>
            <a:ln w="9525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b="1" dirty="0">
                  <a:solidFill>
                    <a:srgbClr val="000000"/>
                  </a:solidFill>
                  <a:latin typeface="+mn-lt"/>
                </a:rPr>
                <a:t>b</a:t>
              </a:r>
              <a:r>
                <a:rPr lang="zh-CN" altLang="en-US" b="1" dirty="0">
                  <a:solidFill>
                    <a:srgbClr val="000000"/>
                  </a:solidFill>
                  <a:latin typeface="+mn-lt"/>
                </a:rPr>
                <a:t>的作用域</a:t>
              </a:r>
              <a:endParaRPr lang="zh-CN" altLang="en-US" b="1" dirty="0">
                <a:solidFill>
                  <a:srgbClr val="000000"/>
                </a:solidFill>
                <a:latin typeface="+mn-lt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类作用域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类的成员具有类作用域，其范围包括类体和非内联成员函数的函数体。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如果在类作用域以外访问类的成员，要通过类名（访问静态成员），或者该类的对象名、对象引用、对象指针（访问非静态成员）。</a:t>
            </a:r>
            <a:endParaRPr lang="en-US" altLang="zh-CN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628650" y="44624"/>
            <a:ext cx="7886700" cy="13255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文件作用域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609600" y="980728"/>
            <a:ext cx="8229600" cy="857250"/>
          </a:xfrm>
        </p:spPr>
        <p:txBody>
          <a:bodyPr/>
          <a:lstStyle/>
          <a:p>
            <a:pPr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不在前述各个作用域中出现的声明，就具有文件作用域，这样声明的标识符其作用域开始于声明点，结束于文件尾。</a:t>
            </a:r>
            <a:endParaRPr lang="zh-CN" altLang="en-US" sz="2400" b="1" dirty="0">
              <a:ea typeface="华文楷体" panose="02010600040101010101" pitchFamily="2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28650" y="1988840"/>
            <a:ext cx="8229600" cy="440120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marL="0" indent="0" algn="l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tabLst>
                <a:tab pos="228600" algn="l"/>
                <a:tab pos="457200" algn="l"/>
              </a:tabLst>
              <a:defRPr kumimoji="0" b="1">
                <a:solidFill>
                  <a:srgbClr val="000000"/>
                </a:solidFill>
                <a:ea typeface="华文楷体" panose="0201060004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1"/>
              </a:buClr>
              <a:buSzPct val="75000"/>
              <a:buFont typeface="Monotype Sorts" pitchFamily="2" charset="2"/>
              <a:buChar char="u"/>
              <a:defRPr sz="2800">
                <a:latin typeface="+mn-lt"/>
                <a:ea typeface="+mn-ea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62000"/>
              <a:buFont typeface="Monotype Sorts" pitchFamily="2" charset="2"/>
              <a:buChar char="u"/>
              <a:defRPr>
                <a:latin typeface="+mn-lt"/>
                <a:ea typeface="+mn-ea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SzPct val="62000"/>
              <a:buFont typeface="Monotype Sorts" pitchFamily="2" charset="2"/>
              <a:buChar char="u"/>
              <a:defRPr sz="2000">
                <a:latin typeface="+mn-lt"/>
                <a:ea typeface="+mn-ea"/>
              </a:defRPr>
            </a:lvl4pPr>
            <a:lvl5pPr marL="2057400" indent="-228600" algn="l">
              <a:spcBef>
                <a:spcPct val="20000"/>
              </a:spcBef>
              <a:buClr>
                <a:schemeClr val="tx2"/>
              </a:buClr>
              <a:buSzPct val="62000"/>
              <a:buFont typeface="Monotype Sorts" pitchFamily="2" charset="2"/>
              <a:buChar char="u"/>
              <a:defRPr sz="2000"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r>
              <a:rPr lang="en-US" sz="2000" dirty="0"/>
              <a:t>//5_1.cpp</a:t>
            </a:r>
            <a:endParaRPr lang="zh-CN" altLang="en-US" sz="2000" dirty="0"/>
          </a:p>
          <a:p>
            <a:r>
              <a:rPr lang="en-US" sz="2000" dirty="0"/>
              <a:t>#include &lt;</a:t>
            </a:r>
            <a:r>
              <a:rPr lang="en-US" sz="2000" dirty="0" err="1"/>
              <a:t>iostream</a:t>
            </a:r>
            <a:r>
              <a:rPr lang="en-US" sz="2000" dirty="0"/>
              <a:t>&gt;</a:t>
            </a:r>
            <a:endParaRPr lang="zh-CN" altLang="en-US" sz="2000" dirty="0"/>
          </a:p>
          <a:p>
            <a:r>
              <a:rPr lang="en-US" sz="2000" dirty="0"/>
              <a:t>using namespace std;</a:t>
            </a:r>
            <a:endParaRPr lang="zh-CN" altLang="en-US" sz="2000" dirty="0"/>
          </a:p>
          <a:p>
            <a:r>
              <a:rPr lang="en-US" sz="2000" dirty="0" err="1" smtClean="0">
                <a:solidFill>
                  <a:srgbClr val="FF0000"/>
                </a:solidFill>
              </a:rPr>
              <a:t>int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;				//</a:t>
            </a:r>
            <a:r>
              <a:rPr lang="zh-CN" altLang="en-US" sz="2000" dirty="0">
                <a:solidFill>
                  <a:srgbClr val="FF0000"/>
                </a:solidFill>
              </a:rPr>
              <a:t>全局变量，文件作用域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en-US" sz="2000" dirty="0" err="1"/>
              <a:t>int</a:t>
            </a:r>
            <a:r>
              <a:rPr lang="en-US" sz="2000" dirty="0"/>
              <a:t> main() { </a:t>
            </a:r>
            <a:endParaRPr lang="zh-CN" altLang="en-US" sz="2000" dirty="0"/>
          </a:p>
          <a:p>
            <a:r>
              <a:rPr lang="en-US" sz="2000" dirty="0"/>
              <a:t>     </a:t>
            </a:r>
            <a:r>
              <a:rPr lang="en-US" sz="2000" dirty="0" err="1"/>
              <a:t>i</a:t>
            </a:r>
            <a:r>
              <a:rPr lang="en-US" sz="2000" dirty="0"/>
              <a:t> = 5;			</a:t>
            </a:r>
            <a:r>
              <a:rPr lang="en-US" sz="2000" dirty="0" smtClean="0"/>
              <a:t>	//</a:t>
            </a:r>
            <a:r>
              <a:rPr lang="zh-CN" altLang="en-US" sz="2000" dirty="0"/>
              <a:t>为全局变量</a:t>
            </a:r>
            <a:r>
              <a:rPr lang="en-US" sz="2000" dirty="0" err="1"/>
              <a:t>i</a:t>
            </a:r>
            <a:r>
              <a:rPr lang="zh-CN" altLang="en-US" sz="2000" dirty="0"/>
              <a:t>赋值</a:t>
            </a:r>
            <a:endParaRPr lang="zh-CN" altLang="en-US" sz="2000" dirty="0"/>
          </a:p>
          <a:p>
            <a:r>
              <a:rPr lang="en-US" sz="2000" dirty="0"/>
              <a:t>     {				</a:t>
            </a:r>
            <a:r>
              <a:rPr lang="en-US" sz="2000" dirty="0" smtClean="0"/>
              <a:t>	//</a:t>
            </a:r>
            <a:r>
              <a:rPr lang="zh-CN" altLang="en-US" sz="2000" dirty="0"/>
              <a:t>子块</a:t>
            </a:r>
            <a:r>
              <a:rPr lang="en-US" sz="2000" dirty="0"/>
              <a:t>1</a:t>
            </a:r>
            <a:endParaRPr lang="zh-CN" alt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         </a:t>
            </a:r>
            <a:r>
              <a:rPr lang="en-US" sz="2000" dirty="0" err="1">
                <a:solidFill>
                  <a:srgbClr val="FF0000"/>
                </a:solidFill>
              </a:rPr>
              <a:t>int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;		</a:t>
            </a:r>
            <a:r>
              <a:rPr lang="en-US" sz="2000" dirty="0" smtClean="0">
                <a:solidFill>
                  <a:srgbClr val="FF0000"/>
                </a:solidFill>
              </a:rPr>
              <a:t>	//</a:t>
            </a:r>
            <a:r>
              <a:rPr lang="zh-CN" altLang="en-US" sz="2000" dirty="0">
                <a:solidFill>
                  <a:srgbClr val="FF0000"/>
                </a:solidFill>
              </a:rPr>
              <a:t>局部变量，局部作用域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         </a:t>
            </a:r>
            <a:r>
              <a:rPr lang="en-US" sz="2000" dirty="0" err="1"/>
              <a:t>i</a:t>
            </a:r>
            <a:r>
              <a:rPr lang="en-US" sz="2000" dirty="0"/>
              <a:t> = 7;</a:t>
            </a:r>
            <a:endParaRPr lang="zh-CN" altLang="en-US" sz="2000" dirty="0"/>
          </a:p>
          <a:p>
            <a:r>
              <a:rPr lang="en-US" sz="2000" dirty="0"/>
              <a:t>         </a:t>
            </a:r>
            <a:r>
              <a:rPr lang="en-US" sz="2000" dirty="0" err="1"/>
              <a:t>cout</a:t>
            </a:r>
            <a:r>
              <a:rPr lang="en-US" sz="2000" dirty="0"/>
              <a:t> &lt;&lt; "</a:t>
            </a:r>
            <a:r>
              <a:rPr lang="en-US" sz="2000" dirty="0" err="1"/>
              <a:t>i</a:t>
            </a:r>
            <a:r>
              <a:rPr lang="en-US" sz="2000" dirty="0"/>
              <a:t> = " &lt;&lt; </a:t>
            </a:r>
            <a:r>
              <a:rPr lang="en-US" sz="2000" dirty="0" err="1"/>
              <a:t>i</a:t>
            </a:r>
            <a:r>
              <a:rPr lang="en-US" sz="2000" dirty="0"/>
              <a:t> &lt;&lt; </a:t>
            </a:r>
            <a:r>
              <a:rPr lang="en-US" sz="2000" dirty="0" err="1"/>
              <a:t>endl</a:t>
            </a:r>
            <a:r>
              <a:rPr lang="en-US" sz="2000" dirty="0" smtClean="0"/>
              <a:t>;	//</a:t>
            </a:r>
            <a:r>
              <a:rPr lang="zh-CN" altLang="en-US" sz="2000" dirty="0"/>
              <a:t>输出</a:t>
            </a:r>
            <a:r>
              <a:rPr lang="en-US" sz="2000" dirty="0"/>
              <a:t>7</a:t>
            </a:r>
            <a:endParaRPr lang="zh-CN" altLang="en-US" sz="2000" dirty="0"/>
          </a:p>
          <a:p>
            <a:r>
              <a:rPr lang="en-US" sz="2000" dirty="0"/>
              <a:t>      }</a:t>
            </a:r>
            <a:endParaRPr lang="zh-CN" altLang="en-US" sz="2000" dirty="0"/>
          </a:p>
          <a:p>
            <a:r>
              <a:rPr lang="en-US" sz="2000" dirty="0"/>
              <a:t>      </a:t>
            </a:r>
            <a:r>
              <a:rPr lang="en-US" sz="2000" dirty="0" err="1"/>
              <a:t>cout</a:t>
            </a:r>
            <a:r>
              <a:rPr lang="en-US" sz="2000" dirty="0"/>
              <a:t> &lt;&lt; “</a:t>
            </a:r>
            <a:r>
              <a:rPr lang="en-US" sz="2000" dirty="0" err="1"/>
              <a:t>i</a:t>
            </a:r>
            <a:r>
              <a:rPr lang="en-US" sz="2000" dirty="0"/>
              <a:t> = ” &lt;&lt; </a:t>
            </a:r>
            <a:r>
              <a:rPr lang="en-US" sz="2000" dirty="0" err="1"/>
              <a:t>i</a:t>
            </a:r>
            <a:r>
              <a:rPr lang="en-US" sz="2000" dirty="0"/>
              <a:t> &lt;&lt; </a:t>
            </a:r>
            <a:r>
              <a:rPr lang="en-US" sz="2000" dirty="0" err="1"/>
              <a:t>endl</a:t>
            </a:r>
            <a:r>
              <a:rPr lang="en-US" sz="2000" dirty="0" smtClean="0"/>
              <a:t>;	//</a:t>
            </a:r>
            <a:r>
              <a:rPr lang="zh-CN" altLang="en-US" sz="2000" dirty="0"/>
              <a:t>输出</a:t>
            </a:r>
            <a:r>
              <a:rPr lang="en-US" sz="2000" dirty="0"/>
              <a:t>5</a:t>
            </a:r>
            <a:endParaRPr lang="zh-CN" altLang="en-US" sz="2000" dirty="0"/>
          </a:p>
          <a:p>
            <a:r>
              <a:rPr lang="en-US" sz="2000" dirty="0"/>
              <a:t>      return 0;</a:t>
            </a:r>
            <a:endParaRPr lang="zh-CN" altLang="en-US" sz="2000" dirty="0"/>
          </a:p>
          <a:p>
            <a:r>
              <a:rPr lang="en-US" sz="2000" dirty="0"/>
              <a:t>}</a:t>
            </a:r>
            <a:endParaRPr lang="zh-CN" altLang="en-US" sz="2000" dirty="0"/>
          </a:p>
        </p:txBody>
      </p:sp>
      <p:sp>
        <p:nvSpPr>
          <p:cNvPr id="19463" name="TextBox 6"/>
          <p:cNvSpPr txBox="1">
            <a:spLocks noChangeArrowheads="1"/>
          </p:cNvSpPr>
          <p:nvPr/>
        </p:nvSpPr>
        <p:spPr bwMode="auto">
          <a:xfrm>
            <a:off x="6643688" y="5443538"/>
            <a:ext cx="2214562" cy="1200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latin typeface="+mn-lt"/>
                <a:ea typeface="华文楷体" panose="02010600040101010101" pitchFamily="2" charset="-122"/>
              </a:rPr>
              <a:t>运行结果：</a:t>
            </a:r>
            <a:endParaRPr lang="en-US" altLang="zh-CN" b="1">
              <a:latin typeface="+mn-lt"/>
              <a:ea typeface="华文楷体" panose="02010600040101010101" pitchFamily="2" charset="-122"/>
            </a:endParaRPr>
          </a:p>
          <a:p>
            <a:pPr algn="l" eaLnBrk="1" hangingPunct="1"/>
            <a:r>
              <a:rPr lang="en-US" altLang="zh-CN" b="1">
                <a:latin typeface="+mn-lt"/>
                <a:ea typeface="华文楷体" panose="02010600040101010101" pitchFamily="2" charset="-122"/>
              </a:rPr>
              <a:t>i = 7</a:t>
            </a:r>
            <a:endParaRPr lang="en-US" altLang="zh-CN" b="1">
              <a:latin typeface="+mn-lt"/>
              <a:ea typeface="华文楷体" panose="02010600040101010101" pitchFamily="2" charset="-122"/>
            </a:endParaRPr>
          </a:p>
          <a:p>
            <a:pPr algn="l" eaLnBrk="1" hangingPunct="1"/>
            <a:r>
              <a:rPr lang="en-US" altLang="zh-CN" b="1">
                <a:latin typeface="+mn-lt"/>
                <a:ea typeface="华文楷体" panose="02010600040101010101" pitchFamily="2" charset="-122"/>
              </a:rPr>
              <a:t>i = 5</a:t>
            </a:r>
            <a:endParaRPr lang="en-US" altLang="zh-CN" b="1">
              <a:latin typeface="+mn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539750" y="549275"/>
            <a:ext cx="807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4400" b="1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defRPr>
            </a:lvl1pPr>
            <a:lvl2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2pPr>
            <a:lvl3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3pPr>
            <a:lvl4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4pPr>
            <a:lvl5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命名空间</a:t>
            </a:r>
            <a:r>
              <a:rPr lang="zh-CN" altLang="en-US" dirty="0"/>
              <a:t>作用域</a:t>
            </a:r>
            <a:endParaRPr lang="zh-CN" altLang="en-US" dirty="0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042988" y="3716338"/>
            <a:ext cx="7777162" cy="2109787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>
                <a:solidFill>
                  <a:srgbClr val="FF0000"/>
                </a:solidFill>
              </a:rPr>
              <a:t>namespace </a:t>
            </a:r>
            <a:r>
              <a:rPr kumimoji="0" lang="zh-CN" altLang="en-US" sz="2400" dirty="0">
                <a:solidFill>
                  <a:srgbClr val="000000"/>
                </a:solidFill>
              </a:rPr>
              <a:t>命名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空间</a:t>
            </a:r>
            <a:r>
              <a:rPr kumimoji="0" lang="zh-CN" altLang="en-US" sz="2400" dirty="0">
                <a:solidFill>
                  <a:srgbClr val="000000"/>
                </a:solidFill>
              </a:rPr>
              <a:t>名  </a:t>
            </a:r>
            <a:endParaRPr kumimoji="0" lang="zh-CN" altLang="en-US" sz="2400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>
                <a:solidFill>
                  <a:srgbClr val="000000"/>
                </a:solidFill>
              </a:rPr>
              <a:t>{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>
                <a:solidFill>
                  <a:srgbClr val="000000"/>
                </a:solidFill>
              </a:rPr>
              <a:t>       </a:t>
            </a:r>
            <a:r>
              <a:rPr kumimoji="0" lang="zh-CN" altLang="en-US" sz="2400" dirty="0">
                <a:solidFill>
                  <a:srgbClr val="000000"/>
                </a:solidFill>
              </a:rPr>
              <a:t>成员的声明</a:t>
            </a:r>
            <a:endParaRPr kumimoji="0" lang="zh-CN" altLang="en-US" sz="2400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>
                <a:solidFill>
                  <a:srgbClr val="000000"/>
                </a:solidFill>
              </a:rPr>
              <a:t>}</a:t>
            </a:r>
            <a:endParaRPr kumimoji="0"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042988" y="1700213"/>
            <a:ext cx="77771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C++</a:t>
            </a:r>
            <a:r>
              <a:rPr kumimoji="0" lang="zh-CN" altLang="en-US" sz="2400" dirty="0"/>
              <a:t>中采用的是单一的</a:t>
            </a:r>
            <a:r>
              <a:rPr kumimoji="0" lang="zh-CN" altLang="en-US" sz="2400" dirty="0">
                <a:solidFill>
                  <a:srgbClr val="FFFF00"/>
                </a:solidFill>
              </a:rPr>
              <a:t>全局变量命名空间</a:t>
            </a:r>
            <a:r>
              <a:rPr kumimoji="0" lang="zh-CN" altLang="en-US" sz="2400" dirty="0"/>
              <a:t>。有时为了程序的方便，必须使用统一名字。解决的方法就是将变量定义在一个不同名字</a:t>
            </a:r>
            <a:r>
              <a:rPr kumimoji="0" lang="zh-CN" altLang="en-US" sz="2400" dirty="0" smtClean="0"/>
              <a:t>的命名空间</a:t>
            </a:r>
            <a:r>
              <a:rPr kumimoji="0" lang="zh-CN" altLang="en-US" sz="2400" dirty="0"/>
              <a:t>中。</a:t>
            </a:r>
            <a:endParaRPr kumimoji="0" lang="zh-CN" altLang="en-US" sz="2400" dirty="0"/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1042988" y="3141663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 smtClean="0">
                <a:solidFill>
                  <a:srgbClr val="FFFF00"/>
                </a:solidFill>
              </a:rPr>
              <a:t>命名空间</a:t>
            </a:r>
            <a:r>
              <a:rPr kumimoji="0" lang="zh-CN" altLang="en-US" sz="2400" dirty="0">
                <a:solidFill>
                  <a:srgbClr val="FFFF00"/>
                </a:solidFill>
              </a:rPr>
              <a:t>的定义：</a:t>
            </a:r>
            <a:endParaRPr kumimoji="0"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539750" y="549275"/>
            <a:ext cx="807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defPPr>
              <a:defRPr lang="zh-CN"/>
            </a:defPPr>
            <a:lvl1pPr>
              <a:defRPr sz="4400" b="1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defRPr>
            </a:lvl1pPr>
            <a:lvl2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2pPr>
            <a:lvl3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3pPr>
            <a:lvl4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4pPr>
            <a:lvl5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9pPr>
          </a:lstStyle>
          <a:p>
            <a:r>
              <a:rPr lang="zh-CN" altLang="en-US" dirty="0"/>
              <a:t>命名空间作用域</a:t>
            </a:r>
            <a:endParaRPr lang="zh-CN" altLang="en-US" dirty="0"/>
          </a:p>
        </p:txBody>
      </p:sp>
      <p:grpSp>
        <p:nvGrpSpPr>
          <p:cNvPr id="15363" name="Group 11"/>
          <p:cNvGrpSpPr/>
          <p:nvPr/>
        </p:nvGrpSpPr>
        <p:grpSpPr bwMode="auto">
          <a:xfrm>
            <a:off x="1042988" y="2276475"/>
            <a:ext cx="7777162" cy="1479550"/>
            <a:chOff x="657" y="1434"/>
            <a:chExt cx="4899" cy="932"/>
          </a:xfrm>
        </p:grpSpPr>
        <p:sp>
          <p:nvSpPr>
            <p:cNvPr id="15369" name="Text Box 3"/>
            <p:cNvSpPr txBox="1">
              <a:spLocks noChangeArrowheads="1"/>
            </p:cNvSpPr>
            <p:nvPr/>
          </p:nvSpPr>
          <p:spPr bwMode="auto">
            <a:xfrm>
              <a:off x="657" y="1434"/>
              <a:ext cx="4899" cy="40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70000"/>
              </a:pPr>
              <a:r>
                <a:rPr kumimoji="0" lang="zh-CN" altLang="en-US" sz="2400" dirty="0">
                  <a:solidFill>
                    <a:srgbClr val="740000"/>
                  </a:solidFill>
                </a:rPr>
                <a:t>命名</a:t>
              </a:r>
              <a:r>
                <a:rPr kumimoji="0" lang="zh-CN" altLang="en-US" sz="2400" dirty="0" smtClean="0">
                  <a:solidFill>
                    <a:srgbClr val="740000"/>
                  </a:solidFill>
                </a:rPr>
                <a:t>空间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名 </a:t>
              </a:r>
              <a:r>
                <a:rPr kumimoji="0" lang="en-US" altLang="zh-CN" sz="2400" dirty="0">
                  <a:solidFill>
                    <a:srgbClr val="740000"/>
                  </a:solidFill>
                </a:rPr>
                <a:t>::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局部内容名</a:t>
              </a:r>
              <a:endParaRPr kumimoji="0" lang="zh-CN" altLang="en-US" sz="2400" dirty="0">
                <a:solidFill>
                  <a:srgbClr val="740000"/>
                </a:solidFill>
              </a:endParaRPr>
            </a:p>
          </p:txBody>
        </p:sp>
        <p:sp>
          <p:nvSpPr>
            <p:cNvPr id="15370" name="Text Box 4"/>
            <p:cNvSpPr txBox="1">
              <a:spLocks noChangeArrowheads="1"/>
            </p:cNvSpPr>
            <p:nvPr/>
          </p:nvSpPr>
          <p:spPr bwMode="auto">
            <a:xfrm>
              <a:off x="657" y="1842"/>
              <a:ext cx="4899" cy="5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/>
                <a:t>::   </a:t>
              </a:r>
              <a:r>
                <a:rPr kumimoji="0" lang="zh-CN" altLang="en-US" sz="2400" dirty="0"/>
                <a:t>作用域运算符，或称域解析运算符：用于指明局部内容来自于哪一</a:t>
              </a:r>
              <a:r>
                <a:rPr kumimoji="0" lang="zh-CN" altLang="en-US" sz="2400" dirty="0" smtClean="0"/>
                <a:t>个</a:t>
              </a:r>
              <a:r>
                <a:rPr kumimoji="0" lang="zh-CN" altLang="en-US" sz="2400" dirty="0"/>
                <a:t>命名</a:t>
              </a:r>
              <a:r>
                <a:rPr kumimoji="0" lang="zh-CN" altLang="en-US" sz="2400" dirty="0" smtClean="0"/>
                <a:t>空间</a:t>
              </a:r>
              <a:endParaRPr kumimoji="0" lang="zh-CN" altLang="en-US" sz="2400" dirty="0"/>
            </a:p>
          </p:txBody>
        </p:sp>
      </p:grpSp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971550" y="1700213"/>
            <a:ext cx="66479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rgbClr val="FFFF00"/>
                </a:solidFill>
              </a:rPr>
              <a:t>命名</a:t>
            </a:r>
            <a:r>
              <a:rPr kumimoji="0" lang="zh-CN" altLang="en-US" sz="2400" dirty="0" smtClean="0">
                <a:solidFill>
                  <a:srgbClr val="FFFF00"/>
                </a:solidFill>
              </a:rPr>
              <a:t>空间</a:t>
            </a:r>
            <a:r>
              <a:rPr kumimoji="0" lang="zh-CN" altLang="en-US" sz="2400" dirty="0">
                <a:solidFill>
                  <a:srgbClr val="FFFF00"/>
                </a:solidFill>
              </a:rPr>
              <a:t>中内容的使用方法一，直接使用内容：</a:t>
            </a:r>
            <a:endParaRPr kumimoji="0" lang="zh-CN" altLang="en-US" sz="2400" dirty="0">
              <a:solidFill>
                <a:srgbClr val="FFFF00"/>
              </a:solidFill>
            </a:endParaRPr>
          </a:p>
        </p:txBody>
      </p:sp>
      <p:grpSp>
        <p:nvGrpSpPr>
          <p:cNvPr id="15365" name="Group 10"/>
          <p:cNvGrpSpPr/>
          <p:nvPr/>
        </p:nvGrpSpPr>
        <p:grpSpPr bwMode="auto">
          <a:xfrm>
            <a:off x="1042988" y="4652964"/>
            <a:ext cx="7777162" cy="1477963"/>
            <a:chOff x="657" y="2931"/>
            <a:chExt cx="4899" cy="931"/>
          </a:xfrm>
        </p:grpSpPr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657" y="2931"/>
              <a:ext cx="4899" cy="40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70000"/>
              </a:pPr>
              <a:r>
                <a:rPr kumimoji="0" lang="en-US" altLang="zh-CN" sz="2400" dirty="0">
                  <a:solidFill>
                    <a:srgbClr val="740000"/>
                  </a:solidFill>
                </a:rPr>
                <a:t>using namespace 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命名</a:t>
              </a:r>
              <a:r>
                <a:rPr kumimoji="0" lang="zh-CN" altLang="en-US" sz="2400" dirty="0" smtClean="0">
                  <a:solidFill>
                    <a:srgbClr val="740000"/>
                  </a:solidFill>
                </a:rPr>
                <a:t>空间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名</a:t>
              </a:r>
              <a:r>
                <a:rPr kumimoji="0" lang="en-US" altLang="zh-CN" sz="2400" dirty="0">
                  <a:solidFill>
                    <a:srgbClr val="740000"/>
                  </a:solidFill>
                </a:rPr>
                <a:t>;</a:t>
              </a:r>
              <a:endParaRPr kumimoji="0" lang="en-US" altLang="zh-CN" sz="2400" dirty="0">
                <a:solidFill>
                  <a:srgbClr val="740000"/>
                </a:solidFill>
              </a:endParaRPr>
            </a:p>
          </p:txBody>
        </p:sp>
        <p:sp>
          <p:nvSpPr>
            <p:cNvPr id="15368" name="Text Box 8"/>
            <p:cNvSpPr txBox="1">
              <a:spLocks noChangeArrowheads="1"/>
            </p:cNvSpPr>
            <p:nvPr/>
          </p:nvSpPr>
          <p:spPr bwMode="auto">
            <a:xfrm>
              <a:off x="657" y="3339"/>
              <a:ext cx="4899" cy="5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/>
                <a:t>using</a:t>
              </a:r>
              <a:r>
                <a:rPr kumimoji="0" lang="zh-CN" altLang="en-US" sz="2400" dirty="0"/>
                <a:t>指令</a:t>
              </a:r>
              <a:r>
                <a:rPr kumimoji="0" lang="zh-CN" altLang="en-US" sz="2400" dirty="0" smtClean="0"/>
                <a:t>引入</a:t>
              </a:r>
              <a:r>
                <a:rPr kumimoji="0" lang="zh-CN" altLang="en-US" sz="2400" dirty="0"/>
                <a:t>命名</a:t>
              </a:r>
              <a:r>
                <a:rPr kumimoji="0" lang="zh-CN" altLang="en-US" sz="2400" dirty="0" smtClean="0"/>
                <a:t>空间</a:t>
              </a:r>
              <a:r>
                <a:rPr kumimoji="0" lang="zh-CN" altLang="en-US" sz="2400" dirty="0"/>
                <a:t>后，可直接使用</a:t>
              </a:r>
              <a:r>
                <a:rPr kumimoji="0" lang="zh-CN" altLang="en-US" sz="2400" dirty="0" smtClean="0"/>
                <a:t>该</a:t>
              </a:r>
              <a:r>
                <a:rPr kumimoji="0" lang="zh-CN" altLang="en-US" sz="2400" dirty="0"/>
                <a:t>命名</a:t>
              </a:r>
              <a:r>
                <a:rPr kumimoji="0" lang="zh-CN" altLang="en-US" sz="2400" dirty="0" smtClean="0"/>
                <a:t>空间</a:t>
              </a:r>
              <a:r>
                <a:rPr kumimoji="0" lang="zh-CN" altLang="en-US" sz="2400" dirty="0"/>
                <a:t>中的内容</a:t>
              </a:r>
              <a:endParaRPr kumimoji="0" lang="zh-CN" altLang="en-US" sz="2400" dirty="0"/>
            </a:p>
          </p:txBody>
        </p:sp>
      </p:grpSp>
      <p:sp>
        <p:nvSpPr>
          <p:cNvPr id="15366" name="Rectangle 9"/>
          <p:cNvSpPr>
            <a:spLocks noChangeArrowheads="1"/>
          </p:cNvSpPr>
          <p:nvPr/>
        </p:nvSpPr>
        <p:spPr bwMode="auto">
          <a:xfrm>
            <a:off x="971550" y="4075113"/>
            <a:ext cx="67345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rgbClr val="FFFF00"/>
                </a:solidFill>
              </a:rPr>
              <a:t>命名</a:t>
            </a:r>
            <a:r>
              <a:rPr kumimoji="0" lang="zh-CN" altLang="en-US" sz="2400" dirty="0" smtClean="0">
                <a:solidFill>
                  <a:srgbClr val="FFFF00"/>
                </a:solidFill>
              </a:rPr>
              <a:t>空间</a:t>
            </a:r>
            <a:r>
              <a:rPr kumimoji="0" lang="zh-CN" altLang="en-US" sz="2400" dirty="0">
                <a:solidFill>
                  <a:srgbClr val="FFFF00"/>
                </a:solidFill>
              </a:rPr>
              <a:t>中内容的使用方法二，使用</a:t>
            </a:r>
            <a:r>
              <a:rPr kumimoji="0" lang="en-US" altLang="zh-CN" sz="2400" dirty="0">
                <a:solidFill>
                  <a:srgbClr val="FFFF00"/>
                </a:solidFill>
              </a:rPr>
              <a:t>using</a:t>
            </a:r>
            <a:r>
              <a:rPr kumimoji="0" lang="zh-CN" altLang="en-US" sz="2400" dirty="0">
                <a:solidFill>
                  <a:srgbClr val="FFFF00"/>
                </a:solidFill>
              </a:rPr>
              <a:t>指令：</a:t>
            </a:r>
            <a:endParaRPr kumimoji="0"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539750" y="549275"/>
            <a:ext cx="807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defPPr>
              <a:defRPr lang="zh-CN"/>
            </a:defPPr>
            <a:lvl1pPr>
              <a:defRPr sz="4400" b="1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defRPr>
            </a:lvl1pPr>
            <a:lvl2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2pPr>
            <a:lvl3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3pPr>
            <a:lvl4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4pPr>
            <a:lvl5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9pPr>
          </a:lstStyle>
          <a:p>
            <a:r>
              <a:rPr lang="zh-CN" altLang="en-US" dirty="0"/>
              <a:t>命名空间作用域</a:t>
            </a:r>
            <a:endParaRPr lang="zh-CN" altLang="en-US" dirty="0"/>
          </a:p>
        </p:txBody>
      </p:sp>
      <p:grpSp>
        <p:nvGrpSpPr>
          <p:cNvPr id="16387" name="Group 3"/>
          <p:cNvGrpSpPr/>
          <p:nvPr/>
        </p:nvGrpSpPr>
        <p:grpSpPr bwMode="auto">
          <a:xfrm>
            <a:off x="1042988" y="2781300"/>
            <a:ext cx="7777162" cy="2392363"/>
            <a:chOff x="657" y="1434"/>
            <a:chExt cx="4899" cy="1507"/>
          </a:xfrm>
        </p:grpSpPr>
        <p:sp>
          <p:nvSpPr>
            <p:cNvPr id="16389" name="Text Box 4"/>
            <p:cNvSpPr txBox="1">
              <a:spLocks noChangeArrowheads="1"/>
            </p:cNvSpPr>
            <p:nvPr/>
          </p:nvSpPr>
          <p:spPr bwMode="auto">
            <a:xfrm>
              <a:off x="657" y="1434"/>
              <a:ext cx="4899" cy="40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70000"/>
              </a:pPr>
              <a:r>
                <a:rPr kumimoji="0" lang="en-US" altLang="zh-CN" sz="2400" dirty="0">
                  <a:solidFill>
                    <a:srgbClr val="740000"/>
                  </a:solidFill>
                </a:rPr>
                <a:t>using 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命名</a:t>
              </a:r>
              <a:r>
                <a:rPr kumimoji="0" lang="zh-CN" altLang="en-US" sz="2400" dirty="0" smtClean="0">
                  <a:solidFill>
                    <a:srgbClr val="740000"/>
                  </a:solidFill>
                </a:rPr>
                <a:t>空间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名 </a:t>
              </a:r>
              <a:r>
                <a:rPr kumimoji="0" lang="en-US" altLang="zh-CN" sz="2400" dirty="0">
                  <a:solidFill>
                    <a:srgbClr val="740000"/>
                  </a:solidFill>
                </a:rPr>
                <a:t>::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局部内容名</a:t>
              </a:r>
              <a:endParaRPr kumimoji="0" lang="zh-CN" altLang="en-US" sz="2400" dirty="0">
                <a:solidFill>
                  <a:srgbClr val="740000"/>
                </a:solidFill>
              </a:endParaRPr>
            </a:p>
          </p:txBody>
        </p:sp>
        <p:sp>
          <p:nvSpPr>
            <p:cNvPr id="16390" name="Text Box 5"/>
            <p:cNvSpPr txBox="1">
              <a:spLocks noChangeArrowheads="1"/>
            </p:cNvSpPr>
            <p:nvPr/>
          </p:nvSpPr>
          <p:spPr bwMode="auto">
            <a:xfrm>
              <a:off x="657" y="1842"/>
              <a:ext cx="4899" cy="109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400" dirty="0"/>
                <a:t>使用</a:t>
              </a:r>
              <a:r>
                <a:rPr kumimoji="0" lang="zh-CN" altLang="en-US" sz="2400" dirty="0" smtClean="0"/>
                <a:t>某</a:t>
              </a:r>
              <a:r>
                <a:rPr kumimoji="0" lang="zh-CN" altLang="en-US" sz="2400" dirty="0"/>
                <a:t>命名</a:t>
              </a:r>
              <a:r>
                <a:rPr kumimoji="0" lang="zh-CN" altLang="en-US" sz="2400" dirty="0" smtClean="0"/>
                <a:t>空间</a:t>
              </a:r>
              <a:r>
                <a:rPr kumimoji="0" lang="zh-CN" altLang="en-US" sz="2400" dirty="0"/>
                <a:t>的局部内容名之前，使用</a:t>
              </a:r>
              <a:r>
                <a:rPr kumimoji="0" lang="en-US" altLang="zh-CN" sz="2400" dirty="0"/>
                <a:t>using</a:t>
              </a:r>
              <a:r>
                <a:rPr kumimoji="0" lang="zh-CN" altLang="en-US" sz="2400" dirty="0"/>
                <a:t>指令先声明该局部内容名</a:t>
              </a:r>
              <a:endParaRPr kumimoji="0" lang="zh-CN" altLang="en-US" sz="2400" dirty="0"/>
            </a:p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400" dirty="0"/>
                <a:t>注意，同一</a:t>
              </a:r>
              <a:r>
                <a:rPr kumimoji="0" lang="zh-CN" altLang="en-US" sz="2400" dirty="0" smtClean="0"/>
                <a:t>个</a:t>
              </a:r>
              <a:r>
                <a:rPr kumimoji="0" lang="zh-CN" altLang="en-US" sz="2400" dirty="0"/>
                <a:t>命名</a:t>
              </a:r>
              <a:r>
                <a:rPr kumimoji="0" lang="zh-CN" altLang="en-US" sz="2400" dirty="0" smtClean="0"/>
                <a:t>空间</a:t>
              </a:r>
              <a:r>
                <a:rPr kumimoji="0" lang="zh-CN" altLang="en-US" sz="2400" dirty="0"/>
                <a:t>的其他内容名如需在使用前先附加声明</a:t>
              </a:r>
              <a:endParaRPr kumimoji="0" lang="zh-CN" altLang="en-US" sz="2400" dirty="0"/>
            </a:p>
          </p:txBody>
        </p:sp>
      </p:grpSp>
      <p:sp>
        <p:nvSpPr>
          <p:cNvPr id="16388" name="Rectangle 6"/>
          <p:cNvSpPr>
            <a:spLocks noChangeArrowheads="1"/>
          </p:cNvSpPr>
          <p:nvPr/>
        </p:nvSpPr>
        <p:spPr bwMode="auto">
          <a:xfrm>
            <a:off x="971550" y="2060575"/>
            <a:ext cx="75713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rgbClr val="FFFF00"/>
                </a:solidFill>
              </a:rPr>
              <a:t>命名</a:t>
            </a:r>
            <a:r>
              <a:rPr kumimoji="0" lang="zh-CN" altLang="en-US" sz="2400" dirty="0" smtClean="0">
                <a:solidFill>
                  <a:srgbClr val="FFFF00"/>
                </a:solidFill>
              </a:rPr>
              <a:t>空间</a:t>
            </a:r>
            <a:r>
              <a:rPr kumimoji="0" lang="zh-CN" altLang="en-US" sz="2400" dirty="0">
                <a:solidFill>
                  <a:srgbClr val="FFFF00"/>
                </a:solidFill>
              </a:rPr>
              <a:t>使用方法三，使用内容前先声明局部内容名：</a:t>
            </a:r>
            <a:endParaRPr kumimoji="0"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23850" y="765175"/>
            <a:ext cx="8763000" cy="55784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indent="2667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FF0000"/>
                </a:solidFill>
              </a:rPr>
              <a:t>#include &lt;</a:t>
            </a:r>
            <a:r>
              <a:rPr kumimoji="0" lang="en-US" altLang="zh-CN" sz="2400" dirty="0" err="1">
                <a:solidFill>
                  <a:srgbClr val="FF0000"/>
                </a:solidFill>
              </a:rPr>
              <a:t>iostream</a:t>
            </a:r>
            <a:r>
              <a:rPr kumimoji="0" lang="en-US" altLang="zh-CN" sz="2400" dirty="0">
                <a:solidFill>
                  <a:srgbClr val="FF0000"/>
                </a:solidFill>
              </a:rPr>
              <a:t>&gt;</a:t>
            </a:r>
            <a:endParaRPr kumimoji="0"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FF0000"/>
                </a:solidFill>
              </a:rPr>
              <a:t>#include &lt;</a:t>
            </a:r>
            <a:r>
              <a:rPr kumimoji="0" lang="en-US" altLang="zh-CN" sz="2400" dirty="0" err="1">
                <a:solidFill>
                  <a:srgbClr val="FF0000"/>
                </a:solidFill>
              </a:rPr>
              <a:t>string.h</a:t>
            </a:r>
            <a:r>
              <a:rPr kumimoji="0" lang="en-US" altLang="zh-CN" sz="2400" dirty="0">
                <a:solidFill>
                  <a:srgbClr val="FF0000"/>
                </a:solidFill>
              </a:rPr>
              <a:t>&gt;</a:t>
            </a:r>
            <a:endParaRPr kumimoji="0" lang="en-US" altLang="zh-CN" sz="2400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FF0000"/>
                </a:solidFill>
              </a:rPr>
              <a:t>using namespace </a:t>
            </a:r>
            <a:r>
              <a:rPr kumimoji="0" lang="en-US" altLang="zh-CN" sz="2400" dirty="0" err="1">
                <a:solidFill>
                  <a:srgbClr val="FF0000"/>
                </a:solidFill>
              </a:rPr>
              <a:t>std</a:t>
            </a:r>
            <a:r>
              <a:rPr kumimoji="0" lang="en-US" altLang="zh-CN" sz="2400" dirty="0">
                <a:solidFill>
                  <a:srgbClr val="FF0000"/>
                </a:solidFill>
              </a:rPr>
              <a:t>;</a:t>
            </a:r>
            <a:endParaRPr kumimoji="0" lang="en-US" altLang="zh-CN" sz="2400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99"/>
                </a:solidFill>
              </a:rPr>
              <a:t>//using namespace</a:t>
            </a:r>
            <a:r>
              <a:rPr kumimoji="0" lang="zh-CN" altLang="en-US" sz="2400" dirty="0">
                <a:solidFill>
                  <a:srgbClr val="000099"/>
                </a:solidFill>
              </a:rPr>
              <a:t>编译指示，在本程序中可以使用</a:t>
            </a:r>
            <a:r>
              <a:rPr kumimoji="0" lang="en-US" altLang="zh-CN" sz="2400" dirty="0">
                <a:solidFill>
                  <a:srgbClr val="000099"/>
                </a:solidFill>
              </a:rPr>
              <a:t>C++</a:t>
            </a:r>
            <a:r>
              <a:rPr kumimoji="0" lang="zh-CN" altLang="en-US" sz="2400" dirty="0">
                <a:solidFill>
                  <a:srgbClr val="000099"/>
                </a:solidFill>
              </a:rPr>
              <a:t>标准类</a:t>
            </a:r>
            <a:endParaRPr kumimoji="0" lang="zh-CN" altLang="en-US" sz="2400" dirty="0">
              <a:solidFill>
                <a:srgbClr val="000099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99"/>
                </a:solidFill>
              </a:rPr>
              <a:t>//</a:t>
            </a:r>
            <a:r>
              <a:rPr kumimoji="0" lang="zh-CN" altLang="en-US" sz="2400" dirty="0">
                <a:solidFill>
                  <a:srgbClr val="000099"/>
                </a:solidFill>
              </a:rPr>
              <a:t>库中定义的名字。</a:t>
            </a:r>
            <a:endParaRPr kumimoji="0" lang="zh-CN" altLang="en-US" sz="2400" dirty="0">
              <a:solidFill>
                <a:srgbClr val="000099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99"/>
                </a:solidFill>
              </a:rPr>
              <a:t>//</a:t>
            </a:r>
            <a:r>
              <a:rPr kumimoji="0" lang="en-US" altLang="zh-CN" sz="2400" dirty="0" err="1">
                <a:solidFill>
                  <a:srgbClr val="000099"/>
                </a:solidFill>
              </a:rPr>
              <a:t>std</a:t>
            </a:r>
            <a:r>
              <a:rPr kumimoji="0" lang="zh-CN" altLang="en-US" sz="2400" dirty="0">
                <a:solidFill>
                  <a:srgbClr val="000099"/>
                </a:solidFill>
              </a:rPr>
              <a:t>是标准名字空间名，在标准头文件中声明的函数、对象和</a:t>
            </a:r>
            <a:endParaRPr kumimoji="0" lang="zh-CN" altLang="en-US" sz="2400" dirty="0">
              <a:solidFill>
                <a:srgbClr val="000099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99"/>
                </a:solidFill>
              </a:rPr>
              <a:t>//</a:t>
            </a:r>
            <a:r>
              <a:rPr kumimoji="0" lang="zh-CN" altLang="en-US" sz="2400" dirty="0">
                <a:solidFill>
                  <a:srgbClr val="000099"/>
                </a:solidFill>
              </a:rPr>
              <a:t>类模板，都声明在名字空间</a:t>
            </a:r>
            <a:r>
              <a:rPr kumimoji="0" lang="en-US" altLang="zh-CN" sz="2400" dirty="0" err="1">
                <a:solidFill>
                  <a:srgbClr val="000099"/>
                </a:solidFill>
              </a:rPr>
              <a:t>std</a:t>
            </a:r>
            <a:r>
              <a:rPr kumimoji="0" lang="zh-CN" altLang="en-US" sz="2400" dirty="0">
                <a:solidFill>
                  <a:srgbClr val="000099"/>
                </a:solidFill>
              </a:rPr>
              <a:t>中</a:t>
            </a:r>
            <a:endParaRPr kumimoji="0" lang="zh-CN" altLang="en-US" sz="2400" dirty="0">
              <a:solidFill>
                <a:srgbClr val="000099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namespace myown1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{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  string </a:t>
            </a:r>
            <a:r>
              <a:rPr kumimoji="0" lang="en-US" altLang="zh-CN" sz="2400" dirty="0" err="1">
                <a:solidFill>
                  <a:srgbClr val="000000"/>
                </a:solidFill>
              </a:rPr>
              <a:t>user_name</a:t>
            </a:r>
            <a:r>
              <a:rPr kumimoji="0" lang="en-US" altLang="zh-CN" sz="2400" dirty="0">
                <a:solidFill>
                  <a:srgbClr val="000000"/>
                </a:solidFill>
              </a:rPr>
              <a:t>="myown1";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}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namespace myown2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{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  string </a:t>
            </a:r>
            <a:r>
              <a:rPr kumimoji="0" lang="en-US" altLang="zh-CN" sz="2400" dirty="0" err="1">
                <a:solidFill>
                  <a:srgbClr val="000000"/>
                </a:solidFill>
              </a:rPr>
              <a:t>user_name</a:t>
            </a:r>
            <a:r>
              <a:rPr kumimoji="0" lang="en-US" altLang="zh-CN" sz="2400" dirty="0">
                <a:solidFill>
                  <a:srgbClr val="000000"/>
                </a:solidFill>
              </a:rPr>
              <a:t>="myown2";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000000"/>
                </a:solidFill>
              </a:rPr>
              <a:t>}</a:t>
            </a:r>
            <a:endParaRPr kumimoji="0" lang="en-US" altLang="zh-CN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323528" y="908720"/>
            <a:ext cx="8667750" cy="378618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 err="1">
                <a:solidFill>
                  <a:srgbClr val="000000"/>
                </a:solidFill>
              </a:rPr>
              <a:t>int</a:t>
            </a:r>
            <a:r>
              <a:rPr kumimoji="0" lang="en-US" altLang="zh-CN" sz="2200" dirty="0">
                <a:solidFill>
                  <a:srgbClr val="000000"/>
                </a:solidFill>
              </a:rPr>
              <a:t> main()</a:t>
            </a:r>
            <a:endParaRPr kumimoji="0" lang="en-US" altLang="zh-CN" sz="22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{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     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cout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&lt;&lt;"Hello, " 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	&lt;&lt;</a:t>
            </a:r>
            <a:r>
              <a:rPr kumimoji="0" lang="en-US" altLang="zh-CN" sz="2200" dirty="0">
                <a:solidFill>
                  <a:srgbClr val="FF0000"/>
                </a:solidFill>
              </a:rPr>
              <a:t>myown1::</a:t>
            </a:r>
            <a:r>
              <a:rPr kumimoji="0" lang="en-US" altLang="zh-CN" sz="2200" dirty="0" err="1">
                <a:solidFill>
                  <a:srgbClr val="FF0000"/>
                </a:solidFill>
              </a:rPr>
              <a:t>user_name</a:t>
            </a:r>
            <a:r>
              <a:rPr kumimoji="0" lang="en-US" altLang="zh-CN" sz="2200" dirty="0"/>
              <a:t>	</a:t>
            </a:r>
            <a:r>
              <a:rPr kumimoji="0" lang="en-US" altLang="zh-CN" sz="2200" dirty="0">
                <a:solidFill>
                  <a:schemeClr val="accent6">
                    <a:lumMod val="75000"/>
                  </a:schemeClr>
                </a:solidFill>
              </a:rPr>
              <a:t>//</a:t>
            </a:r>
            <a:r>
              <a:rPr kumimoji="0" lang="zh-CN" altLang="en-US" sz="2200" dirty="0" smtClean="0">
                <a:solidFill>
                  <a:schemeClr val="accent6">
                    <a:lumMod val="75000"/>
                  </a:schemeClr>
                </a:solidFill>
              </a:rPr>
              <a:t>用</a:t>
            </a:r>
            <a:r>
              <a:rPr kumimoji="0" lang="zh-CN" altLang="en-US" sz="2200" dirty="0">
                <a:solidFill>
                  <a:schemeClr val="accent6">
                    <a:lumMod val="75000"/>
                  </a:schemeClr>
                </a:solidFill>
              </a:rPr>
              <a:t>命名</a:t>
            </a:r>
            <a:r>
              <a:rPr kumimoji="0" lang="zh-CN" altLang="en-US" sz="2200" dirty="0" smtClean="0">
                <a:solidFill>
                  <a:schemeClr val="accent6">
                    <a:lumMod val="75000"/>
                  </a:schemeClr>
                </a:solidFill>
              </a:rPr>
              <a:t>空间</a:t>
            </a:r>
            <a:r>
              <a:rPr kumimoji="0" lang="zh-CN" altLang="en-US" sz="2200" dirty="0">
                <a:solidFill>
                  <a:schemeClr val="accent6">
                    <a:lumMod val="75000"/>
                  </a:schemeClr>
                </a:solidFill>
              </a:rPr>
              <a:t>限制符访问变量</a:t>
            </a:r>
            <a:r>
              <a:rPr kumimoji="0" lang="zh-CN" altLang="en-US" sz="2200" dirty="0">
                <a:solidFill>
                  <a:schemeClr val="hlink"/>
                </a:solidFill>
              </a:rPr>
              <a:t>	</a:t>
            </a:r>
            <a:endParaRPr kumimoji="0" lang="zh-CN" altLang="en-US" sz="2200" dirty="0"/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2200" dirty="0">
                <a:solidFill>
                  <a:srgbClr val="000000"/>
                </a:solidFill>
              </a:rPr>
              <a:t>	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&lt;&lt;"... and goodbye!"&lt;&lt;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endl</a:t>
            </a:r>
            <a:r>
              <a:rPr kumimoji="0" lang="en-US" altLang="zh-CN" sz="2200" dirty="0">
                <a:solidFill>
                  <a:srgbClr val="000000"/>
                </a:solidFill>
              </a:rPr>
              <a:t>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     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cout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endl</a:t>
            </a:r>
            <a:r>
              <a:rPr kumimoji="0" lang="en-US" altLang="zh-CN" sz="2200" dirty="0">
                <a:solidFill>
                  <a:srgbClr val="000000"/>
                </a:solidFill>
              </a:rPr>
              <a:t>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     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cout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&lt;&lt;"Hello, " 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	&lt;&lt;</a:t>
            </a:r>
            <a:r>
              <a:rPr kumimoji="0" lang="en-US" altLang="zh-CN" sz="2200" dirty="0">
                <a:solidFill>
                  <a:srgbClr val="FF0000"/>
                </a:solidFill>
              </a:rPr>
              <a:t>myown2::</a:t>
            </a:r>
            <a:r>
              <a:rPr kumimoji="0" lang="en-US" altLang="zh-CN" sz="2200" dirty="0" err="1" smtClean="0">
                <a:solidFill>
                  <a:srgbClr val="FF0000"/>
                </a:solidFill>
              </a:rPr>
              <a:t>user_name</a:t>
            </a:r>
            <a:r>
              <a:rPr kumimoji="0" lang="en-US" altLang="zh-CN" sz="2200" dirty="0" smtClean="0">
                <a:solidFill>
                  <a:srgbClr val="FF0000"/>
                </a:solidFill>
              </a:rPr>
              <a:t>          </a:t>
            </a:r>
            <a:r>
              <a:rPr kumimoji="0" lang="en-US" altLang="zh-CN" sz="2200" dirty="0" smtClean="0"/>
              <a:t> </a:t>
            </a:r>
            <a:r>
              <a:rPr kumimoji="0" lang="en-US" altLang="zh-CN" sz="2200" dirty="0">
                <a:solidFill>
                  <a:schemeClr val="accent6">
                    <a:lumMod val="75000"/>
                  </a:schemeClr>
                </a:solidFill>
              </a:rPr>
              <a:t>//</a:t>
            </a:r>
            <a:r>
              <a:rPr kumimoji="0" lang="zh-CN" altLang="en-US" sz="2200" dirty="0" smtClean="0">
                <a:solidFill>
                  <a:schemeClr val="accent6">
                    <a:lumMod val="75000"/>
                  </a:schemeClr>
                </a:solidFill>
              </a:rPr>
              <a:t>用</a:t>
            </a:r>
            <a:r>
              <a:rPr kumimoji="0" lang="zh-CN" altLang="en-US" sz="2200" dirty="0">
                <a:solidFill>
                  <a:schemeClr val="accent6">
                    <a:lumMod val="75000"/>
                  </a:schemeClr>
                </a:solidFill>
              </a:rPr>
              <a:t>命名</a:t>
            </a:r>
            <a:r>
              <a:rPr kumimoji="0" lang="zh-CN" altLang="en-US" sz="2200" dirty="0" smtClean="0">
                <a:solidFill>
                  <a:schemeClr val="accent6">
                    <a:lumMod val="75000"/>
                  </a:schemeClr>
                </a:solidFill>
              </a:rPr>
              <a:t>空间</a:t>
            </a:r>
            <a:r>
              <a:rPr kumimoji="0" lang="zh-CN" altLang="en-US" sz="2200" dirty="0">
                <a:solidFill>
                  <a:schemeClr val="accent6">
                    <a:lumMod val="75000"/>
                  </a:schemeClr>
                </a:solidFill>
              </a:rPr>
              <a:t>限制符访问变量</a:t>
            </a:r>
            <a:endParaRPr kumimoji="0" lang="en-US" altLang="zh-CN" sz="22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	&lt;&lt;"... and goodbye!"&lt;&lt;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endl</a:t>
            </a:r>
            <a:r>
              <a:rPr kumimoji="0" lang="en-US" altLang="zh-CN" sz="2200" dirty="0">
                <a:solidFill>
                  <a:srgbClr val="000000"/>
                </a:solidFill>
              </a:rPr>
              <a:t>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     return 0;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}</a:t>
            </a:r>
            <a:endParaRPr kumimoji="0" lang="en-US" altLang="zh-CN" sz="2200" dirty="0">
              <a:solidFill>
                <a:srgbClr val="000000"/>
              </a:solidFill>
            </a:endParaRPr>
          </a:p>
        </p:txBody>
      </p:sp>
      <p:sp>
        <p:nvSpPr>
          <p:cNvPr id="180227" name="Text Box 3"/>
          <p:cNvSpPr txBox="1">
            <a:spLocks noChangeArrowheads="1"/>
          </p:cNvSpPr>
          <p:nvPr/>
        </p:nvSpPr>
        <p:spPr bwMode="auto">
          <a:xfrm>
            <a:off x="755650" y="5013325"/>
            <a:ext cx="6629400" cy="13112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>
                <a:solidFill>
                  <a:srgbClr val="000000"/>
                </a:solidFill>
              </a:rPr>
              <a:t>运行结果：</a:t>
            </a:r>
            <a:endParaRPr kumimoji="0" lang="zh-CN" altLang="en-US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Hello,myown1…and goodbye!</a:t>
            </a:r>
            <a:endParaRPr kumimoji="0" lang="en-US" altLang="zh-CN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Hello,myown2…and goodbye!</a:t>
            </a:r>
            <a:endParaRPr kumimoji="0"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7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42875" y="1295400"/>
            <a:ext cx="8893175" cy="47910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indent="2667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 err="1">
                <a:solidFill>
                  <a:srgbClr val="000000"/>
                </a:solidFill>
              </a:rPr>
              <a:t>int</a:t>
            </a:r>
            <a:r>
              <a:rPr kumimoji="0" lang="en-US" altLang="zh-CN" sz="2200" dirty="0">
                <a:solidFill>
                  <a:srgbClr val="000000"/>
                </a:solidFill>
              </a:rPr>
              <a:t> main()</a:t>
            </a:r>
            <a:endParaRPr kumimoji="0" lang="en-US" altLang="zh-CN" sz="22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{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using namespace myown1;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 err="1">
                <a:solidFill>
                  <a:srgbClr val="000000"/>
                </a:solidFill>
              </a:rPr>
              <a:t>cout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&lt;&lt;"Hello, " 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	&lt;&lt;</a:t>
            </a:r>
            <a:r>
              <a:rPr kumimoji="0" lang="en-US" altLang="zh-CN" sz="2200" dirty="0" err="1">
                <a:solidFill>
                  <a:srgbClr val="FF0000"/>
                </a:solidFill>
              </a:rPr>
              <a:t>user_name</a:t>
            </a:r>
            <a:r>
              <a:rPr kumimoji="0" lang="en-US" altLang="zh-CN" sz="2200" dirty="0"/>
              <a:t>	</a:t>
            </a:r>
            <a:r>
              <a:rPr kumimoji="0" lang="en-US" altLang="zh-CN" sz="2200" dirty="0" smtClean="0">
                <a:solidFill>
                  <a:srgbClr val="4B0064"/>
                </a:solidFill>
              </a:rPr>
              <a:t>               //</a:t>
            </a:r>
            <a:r>
              <a:rPr kumimoji="0" lang="zh-CN" altLang="en-US" sz="2200" dirty="0">
                <a:solidFill>
                  <a:srgbClr val="4B0064"/>
                </a:solidFill>
              </a:rPr>
              <a:t>此时用的是</a:t>
            </a:r>
            <a:r>
              <a:rPr kumimoji="0" lang="en-US" altLang="zh-CN" sz="2200" dirty="0">
                <a:solidFill>
                  <a:srgbClr val="4B0064"/>
                </a:solidFill>
              </a:rPr>
              <a:t>myown1</a:t>
            </a:r>
            <a:r>
              <a:rPr kumimoji="0" lang="zh-CN" altLang="en-US" sz="2200" dirty="0">
                <a:solidFill>
                  <a:srgbClr val="4B0064"/>
                </a:solidFill>
              </a:rPr>
              <a:t>的名字空间</a:t>
            </a:r>
            <a:endParaRPr kumimoji="0" lang="zh-CN" altLang="en-US" sz="2200" dirty="0">
              <a:solidFill>
                <a:srgbClr val="4B0064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sz="2200" dirty="0">
                <a:solidFill>
                  <a:srgbClr val="000000"/>
                </a:solidFill>
              </a:rPr>
              <a:t>	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&lt;&lt;"... and goodbye!"&lt;&lt;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endl</a:t>
            </a:r>
            <a:r>
              <a:rPr kumimoji="0" lang="en-US" altLang="zh-CN" sz="2200" dirty="0">
                <a:solidFill>
                  <a:srgbClr val="000000"/>
                </a:solidFill>
              </a:rPr>
              <a:t>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800000"/>
                </a:solidFill>
              </a:rPr>
              <a:t>//using namespace myown2</a:t>
            </a:r>
            <a:endParaRPr kumimoji="0" lang="en-US" altLang="zh-CN" sz="2200" dirty="0">
              <a:solidFill>
                <a:srgbClr val="8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 err="1">
                <a:solidFill>
                  <a:srgbClr val="000000"/>
                </a:solidFill>
              </a:rPr>
              <a:t>cout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endl</a:t>
            </a:r>
            <a:r>
              <a:rPr kumimoji="0" lang="en-US" altLang="zh-CN" sz="2200" dirty="0">
                <a:solidFill>
                  <a:srgbClr val="000000"/>
                </a:solidFill>
              </a:rPr>
              <a:t>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 err="1">
                <a:solidFill>
                  <a:srgbClr val="000000"/>
                </a:solidFill>
              </a:rPr>
              <a:t>cout</a:t>
            </a:r>
            <a:r>
              <a:rPr kumimoji="0" lang="en-US" altLang="zh-CN" sz="2200" dirty="0">
                <a:solidFill>
                  <a:srgbClr val="000000"/>
                </a:solidFill>
              </a:rPr>
              <a:t>&lt;&lt;"Hello, " 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	&lt;&lt;</a:t>
            </a:r>
            <a:r>
              <a:rPr kumimoji="0" lang="en-US" altLang="zh-CN" sz="2200" dirty="0">
                <a:solidFill>
                  <a:srgbClr val="FF0000"/>
                </a:solidFill>
              </a:rPr>
              <a:t>myown2::</a:t>
            </a:r>
            <a:r>
              <a:rPr kumimoji="0" lang="en-US" altLang="zh-CN" sz="2200" dirty="0" err="1" smtClean="0">
                <a:solidFill>
                  <a:srgbClr val="FF0000"/>
                </a:solidFill>
              </a:rPr>
              <a:t>user_name</a:t>
            </a:r>
            <a:r>
              <a:rPr kumimoji="0" lang="en-US" altLang="zh-CN" sz="2200" dirty="0" smtClean="0"/>
              <a:t> </a:t>
            </a:r>
            <a:r>
              <a:rPr kumimoji="0" lang="en-US" altLang="zh-CN" sz="2200" dirty="0">
                <a:solidFill>
                  <a:srgbClr val="4B0064"/>
                </a:solidFill>
              </a:rPr>
              <a:t>//</a:t>
            </a:r>
            <a:r>
              <a:rPr kumimoji="0" lang="zh-CN" altLang="en-US" sz="2200" dirty="0" smtClean="0">
                <a:solidFill>
                  <a:srgbClr val="4B0064"/>
                </a:solidFill>
              </a:rPr>
              <a:t>用</a:t>
            </a:r>
            <a:r>
              <a:rPr kumimoji="0" lang="zh-CN" altLang="en-US" sz="2200" dirty="0">
                <a:solidFill>
                  <a:srgbClr val="4B0064"/>
                </a:solidFill>
              </a:rPr>
              <a:t>命名</a:t>
            </a:r>
            <a:r>
              <a:rPr kumimoji="0" lang="zh-CN" altLang="en-US" sz="2200" dirty="0" smtClean="0">
                <a:solidFill>
                  <a:srgbClr val="4B0064"/>
                </a:solidFill>
              </a:rPr>
              <a:t>空间</a:t>
            </a:r>
            <a:r>
              <a:rPr kumimoji="0" lang="zh-CN" altLang="en-US" sz="2200" dirty="0">
                <a:solidFill>
                  <a:srgbClr val="4B0064"/>
                </a:solidFill>
              </a:rPr>
              <a:t>限制符访问变量</a:t>
            </a:r>
            <a:r>
              <a:rPr kumimoji="0" lang="en-US" altLang="zh-CN" sz="2200" dirty="0" err="1">
                <a:solidFill>
                  <a:srgbClr val="4B0064"/>
                </a:solidFill>
              </a:rPr>
              <a:t>user_name</a:t>
            </a:r>
            <a:endParaRPr kumimoji="0" lang="en-US" altLang="zh-CN" sz="2200" dirty="0">
              <a:solidFill>
                <a:srgbClr val="4B0064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	&lt;&lt;"... and goodbye!"&lt;&lt;</a:t>
            </a:r>
            <a:r>
              <a:rPr kumimoji="0" lang="en-US" altLang="zh-CN" sz="2200" dirty="0" err="1">
                <a:solidFill>
                  <a:srgbClr val="000000"/>
                </a:solidFill>
              </a:rPr>
              <a:t>endl</a:t>
            </a:r>
            <a:r>
              <a:rPr kumimoji="0" lang="en-US" altLang="zh-CN" sz="2200" dirty="0">
                <a:solidFill>
                  <a:srgbClr val="000000"/>
                </a:solidFill>
              </a:rPr>
              <a:t>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return 0;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200" dirty="0">
                <a:solidFill>
                  <a:srgbClr val="000000"/>
                </a:solidFill>
              </a:rPr>
              <a:t>}</a:t>
            </a:r>
            <a:endParaRPr kumimoji="0" lang="en-US" altLang="zh-CN" sz="22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endParaRPr kumimoji="0" lang="en-US" altLang="zh-CN" sz="2200" dirty="0">
              <a:solidFill>
                <a:srgbClr val="000000"/>
              </a:solidFill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971550" y="404813"/>
            <a:ext cx="7559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也可使用预编译指示来使</a:t>
            </a:r>
            <a:r>
              <a:rPr kumimoji="0" lang="zh-CN" altLang="en-US" sz="2800" dirty="0" smtClean="0">
                <a:solidFill>
                  <a:srgbClr val="FFFF00"/>
                </a:solidFill>
                <a:latin typeface="Arial" panose="020B0604020202020204" pitchFamily="34" charset="0"/>
              </a:rPr>
              <a:t>用</a:t>
            </a:r>
            <a:r>
              <a:rPr kumimoji="0" lang="zh-CN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命名</a:t>
            </a:r>
            <a:r>
              <a:rPr kumimoji="0" lang="zh-CN" altLang="en-US" sz="2800" dirty="0" smtClean="0">
                <a:solidFill>
                  <a:srgbClr val="FFFF00"/>
                </a:solidFill>
                <a:latin typeface="Arial" panose="020B0604020202020204" pitchFamily="34" charset="0"/>
              </a:rPr>
              <a:t>空间</a:t>
            </a:r>
            <a:r>
              <a:rPr kumimoji="0" lang="zh-CN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中的名字</a:t>
            </a:r>
            <a:endParaRPr kumimoji="0" lang="zh-CN" altLang="en-US" sz="2800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3" name="Group 3"/>
          <p:cNvGrpSpPr/>
          <p:nvPr/>
        </p:nvGrpSpPr>
        <p:grpSpPr bwMode="auto">
          <a:xfrm>
            <a:off x="1042988" y="1412776"/>
            <a:ext cx="7777162" cy="5318125"/>
            <a:chOff x="657" y="1434"/>
            <a:chExt cx="4899" cy="3350"/>
          </a:xfrm>
        </p:grpSpPr>
        <p:sp>
          <p:nvSpPr>
            <p:cNvPr id="20484" name="Text Box 4"/>
            <p:cNvSpPr txBox="1">
              <a:spLocks noChangeArrowheads="1"/>
            </p:cNvSpPr>
            <p:nvPr/>
          </p:nvSpPr>
          <p:spPr bwMode="auto">
            <a:xfrm>
              <a:off x="657" y="1434"/>
              <a:ext cx="4899" cy="40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miter lim="800000"/>
            </a:ln>
          </p:spPr>
          <p:txBody>
            <a:bodyPr anchor="ctr"/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10000"/>
                </a:lnSpc>
                <a:spcBef>
                  <a:spcPct val="20000"/>
                </a:spcBef>
                <a:buClr>
                  <a:schemeClr val="tx2"/>
                </a:buClr>
                <a:buSzPct val="70000"/>
              </a:pPr>
              <a:r>
                <a:rPr kumimoji="0" lang="zh-CN" altLang="en-US" sz="2400" dirty="0" smtClean="0">
                  <a:solidFill>
                    <a:srgbClr val="740000"/>
                  </a:solidFill>
                </a:rPr>
                <a:t>例题   </a:t>
              </a:r>
              <a:r>
                <a:rPr kumimoji="0" lang="en-US" altLang="zh-CN" sz="2400" dirty="0" smtClean="0">
                  <a:solidFill>
                    <a:srgbClr val="740000"/>
                  </a:solidFill>
                </a:rPr>
                <a:t>  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命名</a:t>
              </a:r>
              <a:r>
                <a:rPr kumimoji="0" lang="zh-CN" altLang="en-US" sz="2400" dirty="0" smtClean="0">
                  <a:solidFill>
                    <a:srgbClr val="740000"/>
                  </a:solidFill>
                </a:rPr>
                <a:t>空间</a:t>
              </a:r>
              <a:r>
                <a:rPr kumimoji="0" lang="zh-CN" altLang="en-US" sz="2400" dirty="0">
                  <a:solidFill>
                    <a:srgbClr val="740000"/>
                  </a:solidFill>
                </a:rPr>
                <a:t>的使用示例</a:t>
              </a:r>
              <a:endParaRPr kumimoji="0" lang="zh-CN" altLang="en-US" sz="2400" dirty="0">
                <a:solidFill>
                  <a:srgbClr val="740000"/>
                </a:solidFill>
              </a:endParaRPr>
            </a:p>
          </p:txBody>
        </p:sp>
        <p:sp>
          <p:nvSpPr>
            <p:cNvPr id="20485" name="Text Box 5"/>
            <p:cNvSpPr txBox="1">
              <a:spLocks noChangeArrowheads="1"/>
            </p:cNvSpPr>
            <p:nvPr/>
          </p:nvSpPr>
          <p:spPr bwMode="auto">
            <a:xfrm>
              <a:off x="657" y="1842"/>
              <a:ext cx="4899" cy="29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 smtClean="0">
                  <a:solidFill>
                    <a:srgbClr val="000000"/>
                  </a:solidFill>
                </a:rPr>
                <a:t>include 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&lt;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iostream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&gt;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>
                  <a:solidFill>
                    <a:srgbClr val="000000"/>
                  </a:solidFill>
                </a:rPr>
                <a:t>using namespace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std</a:t>
              </a:r>
              <a:r>
                <a:rPr kumimoji="0"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;    //</a:t>
              </a:r>
              <a:r>
                <a:rPr kumimoji="0" lang="zh-CN" altLang="en-US" dirty="0" smtClean="0">
                  <a:solidFill>
                    <a:schemeClr val="accent6">
                      <a:lumMod val="50000"/>
                    </a:schemeClr>
                  </a:solidFill>
                </a:rPr>
                <a:t>引入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命名</a:t>
              </a:r>
              <a:r>
                <a:rPr kumimoji="0" lang="zh-CN" altLang="en-US" dirty="0" smtClean="0">
                  <a:solidFill>
                    <a:schemeClr val="accent6">
                      <a:lumMod val="50000"/>
                    </a:schemeClr>
                  </a:solidFill>
                </a:rPr>
                <a:t>空间</a:t>
              </a:r>
              <a:r>
                <a:rPr kumimoji="0" lang="en-US" altLang="zh-CN" dirty="0" err="1">
                  <a:solidFill>
                    <a:schemeClr val="accent6">
                      <a:lumMod val="50000"/>
                    </a:schemeClr>
                  </a:solidFill>
                </a:rPr>
                <a:t>std</a:t>
              </a:r>
              <a:endParaRPr kumimoji="0" lang="en-US" altLang="zh-CN" dirty="0">
                <a:solidFill>
                  <a:schemeClr val="accent6">
                    <a:lumMod val="50000"/>
                  </a:schemeClr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                                        //</a:t>
              </a:r>
              <a:r>
                <a:rPr kumimoji="0" lang="en-US" altLang="zh-CN" dirty="0" err="1">
                  <a:solidFill>
                    <a:schemeClr val="accent6">
                      <a:lumMod val="50000"/>
                    </a:schemeClr>
                  </a:solidFill>
                </a:rPr>
                <a:t>std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覆盖了</a:t>
              </a:r>
              <a:r>
                <a:rPr kumimoji="0"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C++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所有的定义和声明</a:t>
              </a:r>
              <a:endParaRPr kumimoji="0" lang="zh-CN" altLang="en-US" dirty="0">
                <a:solidFill>
                  <a:schemeClr val="accent6">
                    <a:lumMod val="50000"/>
                  </a:schemeClr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>
                  <a:solidFill>
                    <a:srgbClr val="000000"/>
                  </a:solidFill>
                </a:rPr>
                <a:t>namespace one    </a:t>
              </a:r>
              <a:r>
                <a:rPr kumimoji="0" lang="en-US" altLang="zh-CN" dirty="0" smtClean="0">
                  <a:solidFill>
                    <a:srgbClr val="000000"/>
                  </a:solidFill>
                </a:rPr>
                <a:t>          </a:t>
              </a:r>
              <a:r>
                <a:rPr kumimoji="0" lang="en-US" altLang="zh-CN" dirty="0" smtClean="0">
                  <a:solidFill>
                    <a:schemeClr val="accent6">
                      <a:lumMod val="50000"/>
                    </a:schemeClr>
                  </a:solidFill>
                </a:rPr>
                <a:t>//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定义</a:t>
              </a:r>
              <a:r>
                <a:rPr kumimoji="0" lang="zh-CN" altLang="en-US" dirty="0" smtClean="0">
                  <a:solidFill>
                    <a:schemeClr val="accent6">
                      <a:lumMod val="50000"/>
                    </a:schemeClr>
                  </a:solidFill>
                </a:rPr>
                <a:t>名命名空间</a:t>
              </a:r>
              <a:r>
                <a:rPr kumimoji="0"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one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，包含</a:t>
              </a:r>
              <a:r>
                <a:rPr kumimoji="0"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M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和</a:t>
              </a:r>
              <a:r>
                <a:rPr kumimoji="0" lang="en-US" altLang="zh-CN" dirty="0" err="1">
                  <a:solidFill>
                    <a:schemeClr val="accent6">
                      <a:lumMod val="50000"/>
                    </a:schemeClr>
                  </a:solidFill>
                </a:rPr>
                <a:t>inf</a:t>
              </a:r>
              <a:endParaRPr kumimoji="0" lang="en-US" altLang="zh-CN" dirty="0">
                <a:solidFill>
                  <a:schemeClr val="accent6">
                    <a:lumMod val="50000"/>
                  </a:schemeClr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>
                  <a:solidFill>
                    <a:srgbClr val="000000"/>
                  </a:solidFill>
                </a:rPr>
                <a:t>{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>
                  <a:solidFill>
                    <a:srgbClr val="000000"/>
                  </a:solidFill>
                </a:rPr>
                <a:t>    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const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int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 M=200;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>
                  <a:solidFill>
                    <a:srgbClr val="000000"/>
                  </a:solidFill>
                </a:rPr>
                <a:t>    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int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inf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=10;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kumimoji="0" lang="en-US" altLang="zh-CN" dirty="0">
                  <a:solidFill>
                    <a:srgbClr val="000000"/>
                  </a:solidFill>
                </a:rPr>
                <a:t>}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20000"/>
                </a:spcBef>
              </a:pPr>
              <a:r>
                <a:rPr kumimoji="0" lang="en-US" altLang="zh-CN" dirty="0">
                  <a:solidFill>
                    <a:srgbClr val="000000"/>
                  </a:solidFill>
                </a:rPr>
                <a:t>namespace two</a:t>
              </a:r>
              <a:r>
                <a:rPr kumimoji="0" lang="en-US" altLang="zh-CN" dirty="0"/>
                <a:t>    </a:t>
              </a:r>
              <a:r>
                <a:rPr kumimoji="0" lang="en-US" altLang="zh-CN" dirty="0" smtClean="0"/>
                <a:t>        </a:t>
              </a:r>
              <a:r>
                <a:rPr kumimoji="0" lang="en-US" altLang="zh-CN" dirty="0" smtClean="0">
                  <a:solidFill>
                    <a:schemeClr val="accent6">
                      <a:lumMod val="50000"/>
                    </a:schemeClr>
                  </a:solidFill>
                </a:rPr>
                <a:t>//</a:t>
              </a:r>
              <a:r>
                <a:rPr kumimoji="0" lang="zh-CN" altLang="en-US" dirty="0" smtClean="0">
                  <a:solidFill>
                    <a:schemeClr val="accent6">
                      <a:lumMod val="50000"/>
                    </a:schemeClr>
                  </a:solidFill>
                </a:rPr>
                <a:t>定义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命名</a:t>
              </a:r>
              <a:r>
                <a:rPr kumimoji="0" lang="zh-CN" altLang="en-US" dirty="0" smtClean="0">
                  <a:solidFill>
                    <a:schemeClr val="accent6">
                      <a:lumMod val="50000"/>
                    </a:schemeClr>
                  </a:solidFill>
                </a:rPr>
                <a:t>空间</a:t>
              </a:r>
              <a:r>
                <a:rPr kumimoji="0"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two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，包含</a:t>
              </a:r>
              <a:r>
                <a:rPr kumimoji="0" lang="en-US" altLang="zh-CN" dirty="0">
                  <a:solidFill>
                    <a:schemeClr val="accent6">
                      <a:lumMod val="50000"/>
                    </a:schemeClr>
                  </a:solidFill>
                </a:rPr>
                <a:t>x</a:t>
              </a:r>
              <a:r>
                <a:rPr kumimoji="0" lang="zh-CN" altLang="en-US" dirty="0">
                  <a:solidFill>
                    <a:schemeClr val="accent6">
                      <a:lumMod val="50000"/>
                    </a:schemeClr>
                  </a:solidFill>
                </a:rPr>
                <a:t>和</a:t>
              </a:r>
              <a:r>
                <a:rPr kumimoji="0" lang="en-US" altLang="zh-CN" dirty="0" err="1">
                  <a:solidFill>
                    <a:schemeClr val="accent6">
                      <a:lumMod val="50000"/>
                    </a:schemeClr>
                  </a:solidFill>
                </a:rPr>
                <a:t>inf</a:t>
              </a:r>
              <a:endParaRPr kumimoji="0" lang="en-US" altLang="zh-CN" dirty="0">
                <a:solidFill>
                  <a:schemeClr val="accent6">
                    <a:lumMod val="50000"/>
                  </a:schemeClr>
                </a:solidFill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20000"/>
                </a:spcBef>
              </a:pPr>
              <a:r>
                <a:rPr kumimoji="0" lang="en-US" altLang="zh-CN" dirty="0">
                  <a:solidFill>
                    <a:srgbClr val="000000"/>
                  </a:solidFill>
                </a:rPr>
                <a:t>{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20000"/>
                </a:spcBef>
              </a:pPr>
              <a:r>
                <a:rPr kumimoji="0" lang="en-US" altLang="zh-CN" dirty="0">
                  <a:solidFill>
                    <a:srgbClr val="000000"/>
                  </a:solidFill>
                </a:rPr>
                <a:t>    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int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 x;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20000"/>
                </a:spcBef>
              </a:pPr>
              <a:r>
                <a:rPr kumimoji="0" lang="en-US" altLang="zh-CN" dirty="0">
                  <a:solidFill>
                    <a:srgbClr val="000000"/>
                  </a:solidFill>
                </a:rPr>
                <a:t>    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int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 </a:t>
              </a:r>
              <a:r>
                <a:rPr kumimoji="0" lang="en-US" altLang="zh-CN" dirty="0" err="1">
                  <a:solidFill>
                    <a:srgbClr val="000000"/>
                  </a:solidFill>
                </a:rPr>
                <a:t>inf</a:t>
              </a:r>
              <a:r>
                <a:rPr kumimoji="0" lang="en-US" altLang="zh-CN" dirty="0">
                  <a:solidFill>
                    <a:srgbClr val="000000"/>
                  </a:solidFill>
                </a:rPr>
                <a:t>=-100;</a:t>
              </a:r>
              <a:endParaRPr kumimoji="0" lang="en-US" altLang="zh-CN" dirty="0">
                <a:solidFill>
                  <a:srgbClr val="000000"/>
                </a:solidFill>
              </a:endParaRPr>
            </a:p>
            <a:p>
              <a:pPr algn="l" eaLnBrk="1" hangingPunct="1">
                <a:lnSpc>
                  <a:spcPct val="100000"/>
                </a:lnSpc>
                <a:spcBef>
                  <a:spcPct val="20000"/>
                </a:spcBef>
              </a:pPr>
              <a:r>
                <a:rPr kumimoji="0" lang="en-US" altLang="zh-CN" dirty="0">
                  <a:solidFill>
                    <a:srgbClr val="000000"/>
                  </a:solidFill>
                </a:rPr>
                <a:t>}</a:t>
              </a:r>
              <a:endParaRPr kumimoji="0" lang="en-US" altLang="zh-CN" sz="1800" dirty="0">
                <a:solidFill>
                  <a:srgbClr val="000000"/>
                </a:solidFill>
              </a:endParaRPr>
            </a:p>
          </p:txBody>
        </p:sp>
      </p:grp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9750" y="549275"/>
            <a:ext cx="807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defPPr>
              <a:defRPr lang="zh-CN"/>
            </a:defPPr>
            <a:lvl1pPr>
              <a:defRPr sz="4400" b="1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defRPr>
            </a:lvl1pPr>
            <a:lvl2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2pPr>
            <a:lvl3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3pPr>
            <a:lvl4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4pPr>
            <a:lvl5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9pPr>
          </a:lstStyle>
          <a:p>
            <a:r>
              <a:rPr lang="zh-CN" altLang="en-US" dirty="0"/>
              <a:t>命名空间作用域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5"/>
          <p:cNvSpPr txBox="1">
            <a:spLocks noChangeArrowheads="1"/>
          </p:cNvSpPr>
          <p:nvPr/>
        </p:nvSpPr>
        <p:spPr bwMode="auto">
          <a:xfrm>
            <a:off x="1042988" y="1700213"/>
            <a:ext cx="7777162" cy="466725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dirty="0">
                <a:solidFill>
                  <a:srgbClr val="000000"/>
                </a:solidFill>
              </a:rPr>
              <a:t>using namespace one;    </a:t>
            </a:r>
            <a:r>
              <a:rPr kumimoji="0" lang="en-US" altLang="zh-CN" dirty="0">
                <a:solidFill>
                  <a:schemeClr val="accent6">
                    <a:lumMod val="50000"/>
                  </a:schemeClr>
                </a:solidFill>
              </a:rPr>
              <a:t>//</a:t>
            </a:r>
            <a:r>
              <a:rPr kumimoji="0"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引入</a:t>
            </a:r>
            <a:r>
              <a:rPr kumimoji="0" lang="zh-CN" altLang="en-US" dirty="0">
                <a:solidFill>
                  <a:schemeClr val="accent6">
                    <a:lumMod val="50000"/>
                  </a:schemeClr>
                </a:solidFill>
              </a:rPr>
              <a:t>命名</a:t>
            </a:r>
            <a:r>
              <a:rPr kumimoji="0" lang="zh-CN" altLang="en-US" dirty="0" smtClean="0">
                <a:solidFill>
                  <a:schemeClr val="accent6">
                    <a:lumMod val="50000"/>
                  </a:schemeClr>
                </a:solidFill>
              </a:rPr>
              <a:t>空间</a:t>
            </a:r>
            <a:r>
              <a:rPr kumimoji="0" lang="en-US" altLang="zh-CN" dirty="0">
                <a:solidFill>
                  <a:schemeClr val="accent6">
                    <a:lumMod val="50000"/>
                  </a:schemeClr>
                </a:solidFill>
              </a:rPr>
              <a:t>one</a:t>
            </a:r>
            <a:endParaRPr kumimoji="0" lang="en-US" altLang="zh-CN" dirty="0">
              <a:solidFill>
                <a:schemeClr val="accent6">
                  <a:lumMod val="50000"/>
                </a:schemeClr>
              </a:solidFill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FontTx/>
              <a:buNone/>
            </a:pP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dirty="0" err="1">
                <a:solidFill>
                  <a:srgbClr val="000000"/>
                </a:solidFill>
              </a:rPr>
              <a:t>int</a:t>
            </a:r>
            <a:r>
              <a:rPr kumimoji="0" lang="en-US" altLang="zh-CN" dirty="0">
                <a:solidFill>
                  <a:srgbClr val="000000"/>
                </a:solidFill>
              </a:rPr>
              <a:t> main()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{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using two::x;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x=-100;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</a:t>
            </a:r>
            <a:r>
              <a:rPr kumimoji="0" lang="en-US" altLang="zh-CN" dirty="0" err="1">
                <a:solidFill>
                  <a:srgbClr val="000000"/>
                </a:solidFill>
              </a:rPr>
              <a:t>cout</a:t>
            </a:r>
            <a:r>
              <a:rPr kumimoji="0" lang="en-US" altLang="zh-CN" dirty="0">
                <a:solidFill>
                  <a:srgbClr val="000000"/>
                </a:solidFill>
              </a:rPr>
              <a:t>&lt;&lt;</a:t>
            </a:r>
            <a:r>
              <a:rPr kumimoji="0" lang="en-US" altLang="zh-CN" dirty="0" err="1">
                <a:solidFill>
                  <a:srgbClr val="000000"/>
                </a:solidFill>
              </a:rPr>
              <a:t>inf</a:t>
            </a:r>
            <a:r>
              <a:rPr kumimoji="0" lang="en-US" altLang="zh-CN" dirty="0">
                <a:solidFill>
                  <a:srgbClr val="000000"/>
                </a:solidFill>
              </a:rPr>
              <a:t>&lt;&lt;</a:t>
            </a:r>
            <a:r>
              <a:rPr kumimoji="0" lang="en-US" altLang="zh-CN" dirty="0" err="1">
                <a:solidFill>
                  <a:srgbClr val="000000"/>
                </a:solidFill>
              </a:rPr>
              <a:t>endl</a:t>
            </a:r>
            <a:r>
              <a:rPr kumimoji="0" lang="en-US" altLang="zh-CN" dirty="0">
                <a:solidFill>
                  <a:srgbClr val="000000"/>
                </a:solidFill>
              </a:rPr>
              <a:t>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</a:t>
            </a:r>
            <a:r>
              <a:rPr kumimoji="0" lang="en-US" altLang="zh-CN" dirty="0" err="1">
                <a:solidFill>
                  <a:srgbClr val="000000"/>
                </a:solidFill>
              </a:rPr>
              <a:t>cout</a:t>
            </a:r>
            <a:r>
              <a:rPr kumimoji="0" lang="en-US" altLang="zh-CN" dirty="0">
                <a:solidFill>
                  <a:srgbClr val="000000"/>
                </a:solidFill>
              </a:rPr>
              <a:t>&lt;&lt;M&lt;&lt;</a:t>
            </a:r>
            <a:r>
              <a:rPr kumimoji="0" lang="en-US" altLang="zh-CN" dirty="0" err="1">
                <a:solidFill>
                  <a:srgbClr val="000000"/>
                </a:solidFill>
              </a:rPr>
              <a:t>endl</a:t>
            </a:r>
            <a:r>
              <a:rPr kumimoji="0" lang="en-US" altLang="zh-CN" dirty="0">
                <a:solidFill>
                  <a:srgbClr val="000000"/>
                </a:solidFill>
              </a:rPr>
              <a:t>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two::</a:t>
            </a:r>
            <a:r>
              <a:rPr kumimoji="0" lang="en-US" altLang="zh-CN" dirty="0" err="1">
                <a:solidFill>
                  <a:srgbClr val="000000"/>
                </a:solidFill>
              </a:rPr>
              <a:t>inf</a:t>
            </a:r>
            <a:r>
              <a:rPr kumimoji="0" lang="en-US" altLang="zh-CN" dirty="0">
                <a:solidFill>
                  <a:srgbClr val="000000"/>
                </a:solidFill>
              </a:rPr>
              <a:t> *= 2;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</a:t>
            </a:r>
            <a:r>
              <a:rPr kumimoji="0" lang="en-US" altLang="zh-CN" dirty="0" err="1">
                <a:solidFill>
                  <a:srgbClr val="000000"/>
                </a:solidFill>
              </a:rPr>
              <a:t>cout</a:t>
            </a:r>
            <a:r>
              <a:rPr kumimoji="0" lang="en-US" altLang="zh-CN" dirty="0">
                <a:solidFill>
                  <a:srgbClr val="000000"/>
                </a:solidFill>
              </a:rPr>
              <a:t>&lt;&lt;two::</a:t>
            </a:r>
            <a:r>
              <a:rPr kumimoji="0" lang="en-US" altLang="zh-CN" dirty="0" err="1">
                <a:solidFill>
                  <a:srgbClr val="000000"/>
                </a:solidFill>
              </a:rPr>
              <a:t>inf</a:t>
            </a:r>
            <a:r>
              <a:rPr kumimoji="0" lang="en-US" altLang="zh-CN" dirty="0">
                <a:solidFill>
                  <a:srgbClr val="000000"/>
                </a:solidFill>
              </a:rPr>
              <a:t>&lt;&lt;</a:t>
            </a:r>
            <a:r>
              <a:rPr kumimoji="0" lang="en-US" altLang="zh-CN" dirty="0" err="1">
                <a:solidFill>
                  <a:srgbClr val="000000"/>
                </a:solidFill>
              </a:rPr>
              <a:t>endl</a:t>
            </a:r>
            <a:r>
              <a:rPr kumimoji="0" lang="en-US" altLang="zh-CN" dirty="0">
                <a:solidFill>
                  <a:srgbClr val="000000"/>
                </a:solidFill>
              </a:rPr>
              <a:t>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</a:t>
            </a:r>
            <a:r>
              <a:rPr kumimoji="0" lang="en-US" altLang="zh-CN" dirty="0" err="1">
                <a:solidFill>
                  <a:srgbClr val="000000"/>
                </a:solidFill>
              </a:rPr>
              <a:t>cout</a:t>
            </a:r>
            <a:r>
              <a:rPr kumimoji="0" lang="en-US" altLang="zh-CN" dirty="0">
                <a:solidFill>
                  <a:srgbClr val="000000"/>
                </a:solidFill>
              </a:rPr>
              <a:t>&lt;&lt;x&lt;&lt;</a:t>
            </a:r>
            <a:r>
              <a:rPr kumimoji="0" lang="en-US" altLang="zh-CN" dirty="0" err="1">
                <a:solidFill>
                  <a:srgbClr val="000000"/>
                </a:solidFill>
              </a:rPr>
              <a:t>endl</a:t>
            </a:r>
            <a:r>
              <a:rPr kumimoji="0" lang="en-US" altLang="zh-CN" dirty="0">
                <a:solidFill>
                  <a:srgbClr val="000000"/>
                </a:solidFill>
              </a:rPr>
              <a:t>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     return 0;</a:t>
            </a:r>
            <a:endParaRPr kumimoji="0" lang="en-US" altLang="zh-CN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dirty="0">
                <a:solidFill>
                  <a:srgbClr val="000000"/>
                </a:solidFill>
              </a:rPr>
              <a:t>}</a:t>
            </a:r>
            <a:endParaRPr kumimoji="0"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6659563" y="2816101"/>
            <a:ext cx="2087562" cy="3968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dirty="0"/>
              <a:t>运行结果是</a:t>
            </a:r>
            <a:endParaRPr kumimoji="0" lang="zh-CN" altLang="en-US" dirty="0"/>
          </a:p>
        </p:txBody>
      </p: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6659563" y="3213100"/>
            <a:ext cx="2087562" cy="17684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10</a:t>
            </a:r>
            <a:endParaRPr kumimoji="0" lang="en-US" altLang="zh-CN"/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200</a:t>
            </a:r>
            <a:endParaRPr kumimoji="0" lang="en-US" altLang="zh-CN"/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-200</a:t>
            </a:r>
            <a:endParaRPr kumimoji="0" lang="en-US" altLang="zh-CN"/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/>
              <a:t>-100</a:t>
            </a:r>
            <a:endParaRPr kumimoji="0" lang="en-US" altLang="zh-CN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9750" y="549275"/>
            <a:ext cx="807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defPPr>
              <a:defRPr lang="zh-CN"/>
            </a:defPPr>
            <a:lvl1pPr>
              <a:defRPr sz="4400" b="1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defRPr>
            </a:lvl1pPr>
            <a:lvl2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2pPr>
            <a:lvl3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3pPr>
            <a:lvl4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4pPr>
            <a:lvl5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9pPr>
          </a:lstStyle>
          <a:p>
            <a:r>
              <a:rPr lang="zh-CN" altLang="en-US" dirty="0"/>
              <a:t>命名空间作用域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1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539750" y="549275"/>
            <a:ext cx="807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4400" b="1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defRPr>
            </a:lvl1pPr>
            <a:lvl2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2pPr>
            <a:lvl3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3pPr>
            <a:lvl4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4pPr>
            <a:lvl5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命名空间</a:t>
            </a:r>
            <a:r>
              <a:rPr lang="zh-CN" altLang="en-US" dirty="0"/>
              <a:t>作用域</a:t>
            </a:r>
            <a:endParaRPr lang="zh-CN" altLang="en-US" dirty="0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042988" y="4487565"/>
            <a:ext cx="7777162" cy="2109787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smtClean="0">
                <a:solidFill>
                  <a:srgbClr val="FF0000"/>
                </a:solidFill>
              </a:rPr>
              <a:t>namespace</a:t>
            </a:r>
            <a:endParaRPr kumimoji="0" lang="zh-CN" altLang="en-US" sz="2400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>
                <a:solidFill>
                  <a:srgbClr val="000000"/>
                </a:solidFill>
              </a:rPr>
              <a:t>{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>
                <a:solidFill>
                  <a:srgbClr val="000000"/>
                </a:solidFill>
              </a:rPr>
              <a:t>       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匿名命名空间内的各种声明（函数声明、类声明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……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）</a:t>
            </a:r>
            <a:endParaRPr kumimoji="0" lang="zh-CN" altLang="en-US" sz="2400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>
                <a:solidFill>
                  <a:srgbClr val="000000"/>
                </a:solidFill>
              </a:rPr>
              <a:t>}</a:t>
            </a:r>
            <a:endParaRPr kumimoji="0"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042988" y="1484784"/>
            <a:ext cx="7777162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 smtClean="0">
                <a:solidFill>
                  <a:srgbClr val="FFFF00"/>
                </a:solidFill>
              </a:rPr>
              <a:t>全局命名空间</a:t>
            </a:r>
            <a:r>
              <a:rPr kumimoji="0" lang="zh-CN" altLang="en-US" sz="2400" dirty="0" smtClean="0"/>
              <a:t>：默认的命名空间，在显式声明的命名空间之外声明的标识符都在一个全局命名空间中。</a:t>
            </a:r>
            <a:endParaRPr kumimoji="0" lang="en-US" altLang="zh-CN" sz="2400" dirty="0" smtClean="0"/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 smtClean="0">
                <a:solidFill>
                  <a:srgbClr val="FFFF00"/>
                </a:solidFill>
              </a:rPr>
              <a:t>匿名命名空间</a:t>
            </a:r>
            <a:r>
              <a:rPr kumimoji="0" lang="zh-CN" altLang="en-US" sz="2400" dirty="0" smtClean="0"/>
              <a:t>：是一个需要显式声明的没有名字的命名空间。匿名命名空间常被用来屏蔽不希望暴露给其他源文件的标识符，因为每个源文件的匿名命名空间是不同的。</a:t>
            </a:r>
            <a:endParaRPr kumimoji="0" lang="zh-CN" altLang="en-US" sz="2400" dirty="0"/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1042988" y="3912890"/>
            <a:ext cx="32624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 smtClean="0">
                <a:solidFill>
                  <a:srgbClr val="FFFF00"/>
                </a:solidFill>
              </a:rPr>
              <a:t>匿名命名空间</a:t>
            </a:r>
            <a:r>
              <a:rPr kumimoji="0" lang="zh-CN" altLang="en-US" sz="2400" dirty="0">
                <a:solidFill>
                  <a:srgbClr val="FFFF00"/>
                </a:solidFill>
              </a:rPr>
              <a:t>的定义：</a:t>
            </a:r>
            <a:endParaRPr kumimoji="0"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539750" y="549275"/>
            <a:ext cx="80772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4400" b="1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defRPr>
            </a:lvl1pPr>
            <a:lvl2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2pPr>
            <a:lvl3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3pPr>
            <a:lvl4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4pPr>
            <a:lvl5pPr algn="l"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i="1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defRPr>
            </a:lvl9pPr>
          </a:lstStyle>
          <a:p>
            <a:r>
              <a:rPr lang="zh-CN" altLang="en-US" dirty="0" smtClean="0"/>
              <a:t>限定作用域的</a:t>
            </a:r>
            <a:r>
              <a:rPr lang="en-US" altLang="zh-CN" dirty="0" err="1" smtClean="0"/>
              <a:t>enum</a:t>
            </a:r>
            <a:r>
              <a:rPr lang="zh-CN" altLang="en-US" dirty="0" smtClean="0"/>
              <a:t>枚举类</a:t>
            </a:r>
            <a:endParaRPr lang="zh-CN" altLang="en-US" dirty="0"/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042988" y="2333983"/>
            <a:ext cx="7777162" cy="4191361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err="1" smtClean="0">
                <a:solidFill>
                  <a:srgbClr val="000000"/>
                </a:solidFill>
              </a:rPr>
              <a:t>enum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 color{</a:t>
            </a:r>
            <a:r>
              <a:rPr kumimoji="0" lang="en-US" altLang="zh-CN" sz="2400" dirty="0" err="1" smtClean="0">
                <a:solidFill>
                  <a:srgbClr val="000000"/>
                </a:solidFill>
              </a:rPr>
              <a:t>red,yellow,green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};//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不限定作用域的枚举类型</a:t>
            </a:r>
            <a:endParaRPr kumimoji="0" lang="en-US" altLang="zh-CN" sz="24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err="1">
                <a:solidFill>
                  <a:srgbClr val="000000"/>
                </a:solidFill>
              </a:rPr>
              <a:t>enum</a:t>
            </a:r>
            <a:r>
              <a:rPr kumimoji="0" lang="en-US" altLang="zh-CN" sz="2400" dirty="0">
                <a:solidFill>
                  <a:srgbClr val="000000"/>
                </a:solidFill>
              </a:rPr>
              <a:t> 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color1{</a:t>
            </a:r>
            <a:r>
              <a:rPr kumimoji="0" lang="en-US" altLang="zh-CN" sz="2400" dirty="0" err="1" smtClean="0">
                <a:solidFill>
                  <a:srgbClr val="000000"/>
                </a:solidFill>
              </a:rPr>
              <a:t>red,yellow,green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};//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错误：重复定义</a:t>
            </a:r>
            <a:endParaRPr kumimoji="0" lang="en-US" altLang="zh-CN" sz="24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err="1" smtClean="0">
                <a:solidFill>
                  <a:srgbClr val="000000"/>
                </a:solidFill>
              </a:rPr>
              <a:t>enum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 class color2{</a:t>
            </a:r>
            <a:r>
              <a:rPr kumimoji="0" lang="en-US" altLang="zh-CN" sz="2400" dirty="0" err="1" smtClean="0">
                <a:solidFill>
                  <a:srgbClr val="000000"/>
                </a:solidFill>
              </a:rPr>
              <a:t>red,yellow,green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};</a:t>
            </a:r>
            <a:endParaRPr kumimoji="0" lang="en-US" altLang="zh-CN" sz="24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smtClean="0">
                <a:solidFill>
                  <a:srgbClr val="000000"/>
                </a:solidFill>
              </a:rPr>
              <a:t>//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正确：限定作用域的枚举元素被隐藏了</a:t>
            </a:r>
            <a:endParaRPr kumimoji="0" lang="en-US" altLang="zh-CN" sz="24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smtClean="0">
                <a:solidFill>
                  <a:srgbClr val="000000"/>
                </a:solidFill>
              </a:rPr>
              <a:t>color c=red;  //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正确，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color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的枚举元素在有效的作用域内</a:t>
            </a:r>
            <a:endParaRPr kumimoji="0" lang="en-US" altLang="zh-CN" sz="24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smtClean="0">
                <a:solidFill>
                  <a:srgbClr val="000000"/>
                </a:solidFill>
              </a:rPr>
              <a:t>color2 c1=red;//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错误，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color2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的枚举元素不在有效作用域</a:t>
            </a:r>
            <a:endParaRPr kumimoji="0" lang="en-US" altLang="zh-CN" sz="24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smtClean="0">
                <a:solidFill>
                  <a:srgbClr val="000000"/>
                </a:solidFill>
              </a:rPr>
              <a:t>color c2=color::red;//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正确，允许显式访问枚举元素</a:t>
            </a:r>
            <a:endParaRPr kumimoji="0" lang="en-US" altLang="zh-CN" sz="2400" dirty="0" smtClean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kumimoji="0" lang="en-US" altLang="zh-CN" sz="2400" dirty="0" smtClean="0">
                <a:solidFill>
                  <a:srgbClr val="000000"/>
                </a:solidFill>
              </a:rPr>
              <a:t>color2 c3=color2::red;//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正确，使用了</a:t>
            </a:r>
            <a:r>
              <a:rPr kumimoji="0" lang="en-US" altLang="zh-CN" sz="2400" dirty="0" smtClean="0">
                <a:solidFill>
                  <a:srgbClr val="000000"/>
                </a:solidFill>
              </a:rPr>
              <a:t>color2</a:t>
            </a:r>
            <a:r>
              <a:rPr kumimoji="0" lang="zh-CN" altLang="en-US" sz="2400" dirty="0" smtClean="0">
                <a:solidFill>
                  <a:srgbClr val="000000"/>
                </a:solidFill>
              </a:rPr>
              <a:t>的枚举元素</a:t>
            </a:r>
            <a:endParaRPr kumimoji="0" lang="en-US" altLang="zh-CN" sz="2400" dirty="0">
              <a:solidFill>
                <a:srgbClr val="000000"/>
              </a:solidFill>
            </a:endParaRP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endParaRPr kumimoji="0"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042988" y="1484784"/>
            <a:ext cx="77771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 smtClean="0"/>
              <a:t>定义限定作用域的枚举类型的方式是</a:t>
            </a:r>
            <a:r>
              <a:rPr kumimoji="0" lang="en-US" altLang="zh-CN" sz="2400" dirty="0" err="1" smtClean="0"/>
              <a:t>enum</a:t>
            </a:r>
            <a:r>
              <a:rPr kumimoji="0" lang="en-US" altLang="zh-CN" sz="2400" dirty="0" smtClean="0"/>
              <a:t> class{…}</a:t>
            </a:r>
            <a:r>
              <a:rPr kumimoji="0" lang="zh-CN" altLang="en-US" sz="2400" dirty="0" smtClean="0"/>
              <a:t>。例如：</a:t>
            </a:r>
            <a:endParaRPr kumimoji="0" lang="zh-CN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5.1.2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可见性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2786062"/>
          </a:xfrm>
        </p:spPr>
        <p:txBody>
          <a:bodyPr/>
          <a:lstStyle/>
          <a:p>
            <a:pPr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可见性是从对标识符的引用的角度来谈的概念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可见性表示从内层作用域向外层作用域“看”时能看见什么。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如果标识在某处可见，则就可以在该处引用此标识符。</a:t>
            </a:r>
            <a:endParaRPr lang="zh-CN" altLang="en-US" sz="2800" b="1" dirty="0">
              <a:ea typeface="华文楷体" panose="02010600040101010101" pitchFamily="2" charset="-122"/>
            </a:endParaRPr>
          </a:p>
        </p:txBody>
      </p:sp>
      <p:grpSp>
        <p:nvGrpSpPr>
          <p:cNvPr id="20486" name="Group 10"/>
          <p:cNvGrpSpPr/>
          <p:nvPr/>
        </p:nvGrpSpPr>
        <p:grpSpPr bwMode="auto">
          <a:xfrm>
            <a:off x="2646784" y="4429125"/>
            <a:ext cx="3581400" cy="1752600"/>
            <a:chOff x="1776" y="2928"/>
            <a:chExt cx="2256" cy="1104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1776" y="40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8" name="Freeform 5"/>
            <p:cNvSpPr/>
            <p:nvPr/>
          </p:nvSpPr>
          <p:spPr bwMode="auto">
            <a:xfrm>
              <a:off x="2112" y="3216"/>
              <a:ext cx="1536" cy="816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2448" y="3504"/>
              <a:ext cx="864" cy="528"/>
            </a:xfrm>
            <a:custGeom>
              <a:avLst/>
              <a:gdLst>
                <a:gd name="T0" fmla="*/ 0 w 864"/>
                <a:gd name="T1" fmla="*/ 528 h 528"/>
                <a:gd name="T2" fmla="*/ 0 w 864"/>
                <a:gd name="T3" fmla="*/ 0 h 528"/>
                <a:gd name="T4" fmla="*/ 864 w 864"/>
                <a:gd name="T5" fmla="*/ 0 h 528"/>
                <a:gd name="T6" fmla="*/ 864 w 864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528"/>
                <a:gd name="T14" fmla="*/ 864 w 864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528">
                  <a:moveTo>
                    <a:pt x="0" y="528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5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b="1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496" y="3648"/>
              <a:ext cx="768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块作用域</a:t>
              </a:r>
              <a:endPara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496" y="3264"/>
              <a:ext cx="912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类作用域</a:t>
              </a:r>
              <a:endPara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295" y="2928"/>
              <a:ext cx="1260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命名空间作用域</a:t>
              </a:r>
              <a:endPara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5.1.2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可见性（续）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4429125"/>
          </a:xfrm>
        </p:spPr>
        <p:txBody>
          <a:bodyPr/>
          <a:lstStyle/>
          <a:p>
            <a:pPr>
              <a:spcAft>
                <a:spcPct val="25000"/>
              </a:spcAft>
            </a:pP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标识符应声明在先，引用在后。</a:t>
            </a:r>
            <a:endParaRPr lang="zh-CN" altLang="en-US" sz="28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如果某个标识符在外层中声明，且在内层中没有同一标识符的声明，则该标识符在内层可见。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对于两个嵌套的作用域，</a:t>
            </a:r>
            <a:r>
              <a:rPr lang="zh-CN" altLang="en-US" sz="2800" b="1" dirty="0">
                <a:solidFill>
                  <a:srgbClr val="FFFF00"/>
                </a:solidFill>
                <a:ea typeface="华文楷体" panose="02010600040101010101" pitchFamily="2" charset="-122"/>
              </a:rPr>
              <a:t>如果在内层作用域内声明了与外层作用域中同名的标识符，则外层作用域的标识符在内层不可见</a:t>
            </a:r>
            <a:r>
              <a:rPr lang="zh-CN" altLang="en-US" sz="28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。</a:t>
            </a:r>
            <a:endParaRPr lang="zh-CN" altLang="en-US" sz="28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同一作用域中的同名标识符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611560" y="2348880"/>
            <a:ext cx="7886700" cy="1747391"/>
          </a:xfrm>
        </p:spPr>
        <p:txBody>
          <a:bodyPr/>
          <a:lstStyle/>
          <a:p>
            <a:pPr>
              <a:spcAft>
                <a:spcPct val="25000"/>
              </a:spcAft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在同一作用域内的对象名、函数名、枚举常量名会隐藏同名的类名或枚举类型名。</a:t>
            </a:r>
            <a:endParaRPr lang="zh-CN" altLang="en-US" sz="2800" b="1" dirty="0" smtClean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重载的函数可以有相同的函数名。</a:t>
            </a:r>
            <a:endParaRPr lang="zh-CN" altLang="en-US" sz="2800" b="1" dirty="0" smtClean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endParaRPr lang="zh-CN" altLang="en-US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552" y="2819400"/>
            <a:ext cx="8352928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buFont typeface="+mj-lt"/>
              <a:buAutoNum type="arabicPeriod" startAt="2"/>
            </a:pPr>
            <a:r>
              <a:rPr lang="en-US" altLang="zh-CN" sz="6600" b="1" dirty="0" smtClean="0">
                <a:ea typeface="华文彩云" panose="02010800040101010101" pitchFamily="2" charset="-122"/>
              </a:rPr>
              <a:t>   </a:t>
            </a:r>
            <a:r>
              <a:rPr lang="zh-CN" altLang="en-US" sz="6600" b="1" dirty="0" smtClean="0">
                <a:ea typeface="华文彩云" panose="02010800040101010101" pitchFamily="2" charset="-122"/>
              </a:rPr>
              <a:t>对象的生存期</a:t>
            </a:r>
            <a:endParaRPr lang="zh-CN" altLang="en-US" sz="6600" dirty="0">
              <a:solidFill>
                <a:srgbClr val="FFFF00"/>
              </a:solidFill>
            </a:endParaRPr>
          </a:p>
        </p:txBody>
      </p:sp>
      <p:grpSp>
        <p:nvGrpSpPr>
          <p:cNvPr id="689168" name="Group 16"/>
          <p:cNvGrpSpPr/>
          <p:nvPr/>
        </p:nvGrpSpPr>
        <p:grpSpPr bwMode="auto">
          <a:xfrm>
            <a:off x="4419600" y="609600"/>
            <a:ext cx="2438400" cy="1752600"/>
            <a:chOff x="2208" y="384"/>
            <a:chExt cx="1536" cy="1104"/>
          </a:xfrm>
        </p:grpSpPr>
        <p:sp>
          <p:nvSpPr>
            <p:cNvPr id="689157" name="Oval 5"/>
            <p:cNvSpPr>
              <a:spLocks noChangeArrowheads="1"/>
            </p:cNvSpPr>
            <p:nvPr/>
          </p:nvSpPr>
          <p:spPr bwMode="auto">
            <a:xfrm>
              <a:off x="2208" y="576"/>
              <a:ext cx="1536" cy="91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hlink"/>
              </a:solidFill>
              <a:round/>
            </a:ln>
            <a:effectLst>
              <a:outerShdw dist="53882" dir="2700000" algn="ctr" rotWithShape="0">
                <a:srgbClr val="DDDDDD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9158" name="Group 6"/>
            <p:cNvGrpSpPr/>
            <p:nvPr/>
          </p:nvGrpSpPr>
          <p:grpSpPr bwMode="auto">
            <a:xfrm>
              <a:off x="2592" y="384"/>
              <a:ext cx="820" cy="734"/>
              <a:chOff x="613" y="1858"/>
              <a:chExt cx="672" cy="686"/>
            </a:xfrm>
          </p:grpSpPr>
          <p:grpSp>
            <p:nvGrpSpPr>
              <p:cNvPr id="689159" name="Group 7"/>
              <p:cNvGrpSpPr/>
              <p:nvPr/>
            </p:nvGrpSpPr>
            <p:grpSpPr bwMode="auto">
              <a:xfrm>
                <a:off x="613" y="2062"/>
                <a:ext cx="216" cy="482"/>
                <a:chOff x="3064" y="2792"/>
                <a:chExt cx="281" cy="626"/>
              </a:xfrm>
            </p:grpSpPr>
            <p:sp>
              <p:nvSpPr>
                <p:cNvPr id="689160" name="Oval 8"/>
                <p:cNvSpPr>
                  <a:spLocks noChangeArrowheads="1"/>
                </p:cNvSpPr>
                <p:nvPr/>
              </p:nvSpPr>
              <p:spPr bwMode="auto">
                <a:xfrm>
                  <a:off x="3156" y="2792"/>
                  <a:ext cx="95" cy="10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234DB">
                        <a:gamma/>
                        <a:tint val="33333"/>
                        <a:invGamma/>
                      </a:srgbClr>
                    </a:gs>
                    <a:gs pos="100000">
                      <a:srgbClr val="9234DB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9161" name="Freeform 9"/>
                <p:cNvSpPr/>
                <p:nvPr/>
              </p:nvSpPr>
              <p:spPr bwMode="auto">
                <a:xfrm>
                  <a:off x="3064" y="2914"/>
                  <a:ext cx="281" cy="504"/>
                </a:xfrm>
                <a:custGeom>
                  <a:avLst/>
                  <a:gdLst>
                    <a:gd name="T0" fmla="*/ 208 w 281"/>
                    <a:gd name="T1" fmla="*/ 0 h 504"/>
                    <a:gd name="T2" fmla="*/ 217 w 281"/>
                    <a:gd name="T3" fmla="*/ 3 h 504"/>
                    <a:gd name="T4" fmla="*/ 228 w 281"/>
                    <a:gd name="T5" fmla="*/ 9 h 504"/>
                    <a:gd name="T6" fmla="*/ 232 w 281"/>
                    <a:gd name="T7" fmla="*/ 16 h 504"/>
                    <a:gd name="T8" fmla="*/ 237 w 281"/>
                    <a:gd name="T9" fmla="*/ 24 h 504"/>
                    <a:gd name="T10" fmla="*/ 241 w 281"/>
                    <a:gd name="T11" fmla="*/ 35 h 504"/>
                    <a:gd name="T12" fmla="*/ 280 w 281"/>
                    <a:gd name="T13" fmla="*/ 189 h 504"/>
                    <a:gd name="T14" fmla="*/ 280 w 281"/>
                    <a:gd name="T15" fmla="*/ 201 h 504"/>
                    <a:gd name="T16" fmla="*/ 276 w 281"/>
                    <a:gd name="T17" fmla="*/ 208 h 504"/>
                    <a:gd name="T18" fmla="*/ 268 w 281"/>
                    <a:gd name="T19" fmla="*/ 214 h 504"/>
                    <a:gd name="T20" fmla="*/ 258 w 281"/>
                    <a:gd name="T21" fmla="*/ 214 h 504"/>
                    <a:gd name="T22" fmla="*/ 252 w 281"/>
                    <a:gd name="T23" fmla="*/ 212 h 504"/>
                    <a:gd name="T24" fmla="*/ 244 w 281"/>
                    <a:gd name="T25" fmla="*/ 208 h 504"/>
                    <a:gd name="T26" fmla="*/ 240 w 281"/>
                    <a:gd name="T27" fmla="*/ 201 h 504"/>
                    <a:gd name="T28" fmla="*/ 253 w 281"/>
                    <a:gd name="T29" fmla="*/ 310 h 504"/>
                    <a:gd name="T30" fmla="*/ 202 w 281"/>
                    <a:gd name="T31" fmla="*/ 484 h 504"/>
                    <a:gd name="T32" fmla="*/ 198 w 281"/>
                    <a:gd name="T33" fmla="*/ 494 h 504"/>
                    <a:gd name="T34" fmla="*/ 190 w 281"/>
                    <a:gd name="T35" fmla="*/ 499 h 504"/>
                    <a:gd name="T36" fmla="*/ 184 w 281"/>
                    <a:gd name="T37" fmla="*/ 503 h 504"/>
                    <a:gd name="T38" fmla="*/ 174 w 281"/>
                    <a:gd name="T39" fmla="*/ 503 h 504"/>
                    <a:gd name="T40" fmla="*/ 166 w 281"/>
                    <a:gd name="T41" fmla="*/ 500 h 504"/>
                    <a:gd name="T42" fmla="*/ 159 w 281"/>
                    <a:gd name="T43" fmla="*/ 494 h 504"/>
                    <a:gd name="T44" fmla="*/ 154 w 281"/>
                    <a:gd name="T45" fmla="*/ 487 h 504"/>
                    <a:gd name="T46" fmla="*/ 153 w 281"/>
                    <a:gd name="T47" fmla="*/ 479 h 504"/>
                    <a:gd name="T48" fmla="*/ 127 w 281"/>
                    <a:gd name="T49" fmla="*/ 479 h 504"/>
                    <a:gd name="T50" fmla="*/ 126 w 281"/>
                    <a:gd name="T51" fmla="*/ 487 h 504"/>
                    <a:gd name="T52" fmla="*/ 121 w 281"/>
                    <a:gd name="T53" fmla="*/ 496 h 504"/>
                    <a:gd name="T54" fmla="*/ 114 w 281"/>
                    <a:gd name="T55" fmla="*/ 500 h 504"/>
                    <a:gd name="T56" fmla="*/ 106 w 281"/>
                    <a:gd name="T57" fmla="*/ 503 h 504"/>
                    <a:gd name="T58" fmla="*/ 96 w 281"/>
                    <a:gd name="T59" fmla="*/ 503 h 504"/>
                    <a:gd name="T60" fmla="*/ 90 w 281"/>
                    <a:gd name="T61" fmla="*/ 499 h 504"/>
                    <a:gd name="T62" fmla="*/ 82 w 281"/>
                    <a:gd name="T63" fmla="*/ 494 h 504"/>
                    <a:gd name="T64" fmla="*/ 78 w 281"/>
                    <a:gd name="T65" fmla="*/ 484 h 504"/>
                    <a:gd name="T66" fmla="*/ 78 w 281"/>
                    <a:gd name="T67" fmla="*/ 313 h 504"/>
                    <a:gd name="T68" fmla="*/ 78 w 281"/>
                    <a:gd name="T69" fmla="*/ 71 h 504"/>
                    <a:gd name="T70" fmla="*/ 39 w 281"/>
                    <a:gd name="T71" fmla="*/ 209 h 504"/>
                    <a:gd name="T72" fmla="*/ 31 w 281"/>
                    <a:gd name="T73" fmla="*/ 217 h 504"/>
                    <a:gd name="T74" fmla="*/ 22 w 281"/>
                    <a:gd name="T75" fmla="*/ 220 h 504"/>
                    <a:gd name="T76" fmla="*/ 15 w 281"/>
                    <a:gd name="T77" fmla="*/ 220 h 504"/>
                    <a:gd name="T78" fmla="*/ 4 w 281"/>
                    <a:gd name="T79" fmla="*/ 212 h 504"/>
                    <a:gd name="T80" fmla="*/ 0 w 281"/>
                    <a:gd name="T81" fmla="*/ 202 h 504"/>
                    <a:gd name="T82" fmla="*/ 0 w 281"/>
                    <a:gd name="T83" fmla="*/ 196 h 504"/>
                    <a:gd name="T84" fmla="*/ 40 w 281"/>
                    <a:gd name="T85" fmla="*/ 38 h 504"/>
                    <a:gd name="T86" fmla="*/ 43 w 281"/>
                    <a:gd name="T87" fmla="*/ 28 h 504"/>
                    <a:gd name="T88" fmla="*/ 46 w 281"/>
                    <a:gd name="T89" fmla="*/ 19 h 504"/>
                    <a:gd name="T90" fmla="*/ 52 w 281"/>
                    <a:gd name="T91" fmla="*/ 12 h 504"/>
                    <a:gd name="T92" fmla="*/ 60 w 281"/>
                    <a:gd name="T93" fmla="*/ 4 h 504"/>
                    <a:gd name="T94" fmla="*/ 72 w 281"/>
                    <a:gd name="T95" fmla="*/ 0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81" h="504">
                      <a:moveTo>
                        <a:pt x="78" y="0"/>
                      </a:moveTo>
                      <a:lnTo>
                        <a:pt x="205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4" y="3"/>
                      </a:lnTo>
                      <a:lnTo>
                        <a:pt x="217" y="3"/>
                      </a:lnTo>
                      <a:lnTo>
                        <a:pt x="220" y="4"/>
                      </a:lnTo>
                      <a:lnTo>
                        <a:pt x="222" y="7"/>
                      </a:lnTo>
                      <a:lnTo>
                        <a:pt x="228" y="9"/>
                      </a:lnTo>
                      <a:lnTo>
                        <a:pt x="229" y="12"/>
                      </a:lnTo>
                      <a:lnTo>
                        <a:pt x="229" y="15"/>
                      </a:lnTo>
                      <a:lnTo>
                        <a:pt x="232" y="16"/>
                      </a:lnTo>
                      <a:lnTo>
                        <a:pt x="234" y="19"/>
                      </a:lnTo>
                      <a:lnTo>
                        <a:pt x="237" y="22"/>
                      </a:lnTo>
                      <a:lnTo>
                        <a:pt x="237" y="24"/>
                      </a:lnTo>
                      <a:lnTo>
                        <a:pt x="240" y="27"/>
                      </a:lnTo>
                      <a:lnTo>
                        <a:pt x="240" y="31"/>
                      </a:lnTo>
                      <a:lnTo>
                        <a:pt x="241" y="35"/>
                      </a:lnTo>
                      <a:lnTo>
                        <a:pt x="241" y="38"/>
                      </a:lnTo>
                      <a:lnTo>
                        <a:pt x="241" y="43"/>
                      </a:lnTo>
                      <a:lnTo>
                        <a:pt x="280" y="189"/>
                      </a:lnTo>
                      <a:lnTo>
                        <a:pt x="280" y="193"/>
                      </a:lnTo>
                      <a:lnTo>
                        <a:pt x="280" y="196"/>
                      </a:lnTo>
                      <a:lnTo>
                        <a:pt x="280" y="201"/>
                      </a:lnTo>
                      <a:lnTo>
                        <a:pt x="280" y="202"/>
                      </a:lnTo>
                      <a:lnTo>
                        <a:pt x="277" y="205"/>
                      </a:lnTo>
                      <a:lnTo>
                        <a:pt x="276" y="208"/>
                      </a:lnTo>
                      <a:lnTo>
                        <a:pt x="273" y="209"/>
                      </a:lnTo>
                      <a:lnTo>
                        <a:pt x="271" y="212"/>
                      </a:lnTo>
                      <a:lnTo>
                        <a:pt x="268" y="214"/>
                      </a:lnTo>
                      <a:lnTo>
                        <a:pt x="265" y="214"/>
                      </a:lnTo>
                      <a:lnTo>
                        <a:pt x="261" y="214"/>
                      </a:lnTo>
                      <a:lnTo>
                        <a:pt x="258" y="214"/>
                      </a:lnTo>
                      <a:lnTo>
                        <a:pt x="256" y="214"/>
                      </a:lnTo>
                      <a:lnTo>
                        <a:pt x="253" y="214"/>
                      </a:lnTo>
                      <a:lnTo>
                        <a:pt x="252" y="212"/>
                      </a:lnTo>
                      <a:lnTo>
                        <a:pt x="249" y="212"/>
                      </a:lnTo>
                      <a:lnTo>
                        <a:pt x="246" y="209"/>
                      </a:lnTo>
                      <a:lnTo>
                        <a:pt x="244" y="208"/>
                      </a:lnTo>
                      <a:lnTo>
                        <a:pt x="241" y="205"/>
                      </a:lnTo>
                      <a:lnTo>
                        <a:pt x="241" y="202"/>
                      </a:lnTo>
                      <a:lnTo>
                        <a:pt x="240" y="201"/>
                      </a:lnTo>
                      <a:lnTo>
                        <a:pt x="202" y="71"/>
                      </a:lnTo>
                      <a:lnTo>
                        <a:pt x="190" y="71"/>
                      </a:lnTo>
                      <a:lnTo>
                        <a:pt x="253" y="310"/>
                      </a:lnTo>
                      <a:lnTo>
                        <a:pt x="202" y="310"/>
                      </a:lnTo>
                      <a:lnTo>
                        <a:pt x="202" y="479"/>
                      </a:lnTo>
                      <a:lnTo>
                        <a:pt x="202" y="484"/>
                      </a:lnTo>
                      <a:lnTo>
                        <a:pt x="202" y="487"/>
                      </a:lnTo>
                      <a:lnTo>
                        <a:pt x="201" y="488"/>
                      </a:lnTo>
                      <a:lnTo>
                        <a:pt x="198" y="494"/>
                      </a:lnTo>
                      <a:lnTo>
                        <a:pt x="196" y="496"/>
                      </a:lnTo>
                      <a:lnTo>
                        <a:pt x="196" y="499"/>
                      </a:lnTo>
                      <a:lnTo>
                        <a:pt x="190" y="499"/>
                      </a:lnTo>
                      <a:lnTo>
                        <a:pt x="189" y="500"/>
                      </a:lnTo>
                      <a:lnTo>
                        <a:pt x="186" y="503"/>
                      </a:lnTo>
                      <a:lnTo>
                        <a:pt x="184" y="503"/>
                      </a:lnTo>
                      <a:lnTo>
                        <a:pt x="181" y="503"/>
                      </a:lnTo>
                      <a:lnTo>
                        <a:pt x="178" y="503"/>
                      </a:lnTo>
                      <a:lnTo>
                        <a:pt x="174" y="503"/>
                      </a:lnTo>
                      <a:lnTo>
                        <a:pt x="171" y="503"/>
                      </a:lnTo>
                      <a:lnTo>
                        <a:pt x="169" y="500"/>
                      </a:lnTo>
                      <a:lnTo>
                        <a:pt x="166" y="500"/>
                      </a:lnTo>
                      <a:lnTo>
                        <a:pt x="165" y="499"/>
                      </a:lnTo>
                      <a:lnTo>
                        <a:pt x="162" y="496"/>
                      </a:lnTo>
                      <a:lnTo>
                        <a:pt x="159" y="494"/>
                      </a:lnTo>
                      <a:lnTo>
                        <a:pt x="157" y="494"/>
                      </a:lnTo>
                      <a:lnTo>
                        <a:pt x="157" y="488"/>
                      </a:lnTo>
                      <a:lnTo>
                        <a:pt x="154" y="487"/>
                      </a:lnTo>
                      <a:lnTo>
                        <a:pt x="154" y="484"/>
                      </a:lnTo>
                      <a:lnTo>
                        <a:pt x="153" y="481"/>
                      </a:lnTo>
                      <a:lnTo>
                        <a:pt x="153" y="479"/>
                      </a:lnTo>
                      <a:lnTo>
                        <a:pt x="153" y="313"/>
                      </a:lnTo>
                      <a:lnTo>
                        <a:pt x="127" y="313"/>
                      </a:lnTo>
                      <a:lnTo>
                        <a:pt x="127" y="479"/>
                      </a:lnTo>
                      <a:lnTo>
                        <a:pt x="127" y="481"/>
                      </a:lnTo>
                      <a:lnTo>
                        <a:pt x="127" y="484"/>
                      </a:lnTo>
                      <a:lnTo>
                        <a:pt x="126" y="487"/>
                      </a:lnTo>
                      <a:lnTo>
                        <a:pt x="126" y="488"/>
                      </a:lnTo>
                      <a:lnTo>
                        <a:pt x="123" y="494"/>
                      </a:lnTo>
                      <a:lnTo>
                        <a:pt x="121" y="496"/>
                      </a:lnTo>
                      <a:lnTo>
                        <a:pt x="118" y="499"/>
                      </a:lnTo>
                      <a:lnTo>
                        <a:pt x="115" y="499"/>
                      </a:lnTo>
                      <a:lnTo>
                        <a:pt x="114" y="500"/>
                      </a:lnTo>
                      <a:lnTo>
                        <a:pt x="111" y="503"/>
                      </a:lnTo>
                      <a:lnTo>
                        <a:pt x="109" y="503"/>
                      </a:lnTo>
                      <a:lnTo>
                        <a:pt x="106" y="503"/>
                      </a:lnTo>
                      <a:lnTo>
                        <a:pt x="102" y="503"/>
                      </a:lnTo>
                      <a:lnTo>
                        <a:pt x="99" y="503"/>
                      </a:lnTo>
                      <a:lnTo>
                        <a:pt x="96" y="503"/>
                      </a:lnTo>
                      <a:lnTo>
                        <a:pt x="94" y="500"/>
                      </a:lnTo>
                      <a:lnTo>
                        <a:pt x="91" y="500"/>
                      </a:lnTo>
                      <a:lnTo>
                        <a:pt x="90" y="499"/>
                      </a:lnTo>
                      <a:lnTo>
                        <a:pt x="87" y="499"/>
                      </a:lnTo>
                      <a:lnTo>
                        <a:pt x="84" y="496"/>
                      </a:lnTo>
                      <a:lnTo>
                        <a:pt x="82" y="494"/>
                      </a:lnTo>
                      <a:lnTo>
                        <a:pt x="79" y="491"/>
                      </a:lnTo>
                      <a:lnTo>
                        <a:pt x="79" y="488"/>
                      </a:lnTo>
                      <a:lnTo>
                        <a:pt x="78" y="484"/>
                      </a:lnTo>
                      <a:lnTo>
                        <a:pt x="78" y="481"/>
                      </a:lnTo>
                      <a:lnTo>
                        <a:pt x="78" y="479"/>
                      </a:lnTo>
                      <a:lnTo>
                        <a:pt x="78" y="313"/>
                      </a:lnTo>
                      <a:lnTo>
                        <a:pt x="28" y="313"/>
                      </a:lnTo>
                      <a:lnTo>
                        <a:pt x="90" y="71"/>
                      </a:lnTo>
                      <a:lnTo>
                        <a:pt x="78" y="71"/>
                      </a:lnTo>
                      <a:lnTo>
                        <a:pt x="40" y="202"/>
                      </a:lnTo>
                      <a:lnTo>
                        <a:pt x="39" y="205"/>
                      </a:lnTo>
                      <a:lnTo>
                        <a:pt x="39" y="209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1" y="217"/>
                      </a:lnTo>
                      <a:lnTo>
                        <a:pt x="28" y="217"/>
                      </a:lnTo>
                      <a:lnTo>
                        <a:pt x="27" y="220"/>
                      </a:lnTo>
                      <a:lnTo>
                        <a:pt x="22" y="220"/>
                      </a:lnTo>
                      <a:lnTo>
                        <a:pt x="19" y="220"/>
                      </a:lnTo>
                      <a:lnTo>
                        <a:pt x="16" y="220"/>
                      </a:lnTo>
                      <a:lnTo>
                        <a:pt x="15" y="220"/>
                      </a:lnTo>
                      <a:lnTo>
                        <a:pt x="9" y="217"/>
                      </a:lnTo>
                      <a:lnTo>
                        <a:pt x="7" y="214"/>
                      </a:lnTo>
                      <a:lnTo>
                        <a:pt x="4" y="212"/>
                      </a:lnTo>
                      <a:lnTo>
                        <a:pt x="3" y="208"/>
                      </a:lnTo>
                      <a:lnTo>
                        <a:pt x="0" y="205"/>
                      </a:lnTo>
                      <a:lnTo>
                        <a:pt x="0" y="202"/>
                      </a:lnTo>
                      <a:lnTo>
                        <a:pt x="0" y="201"/>
                      </a:lnTo>
                      <a:lnTo>
                        <a:pt x="0" y="198"/>
                      </a:lnTo>
                      <a:lnTo>
                        <a:pt x="0" y="196"/>
                      </a:lnTo>
                      <a:lnTo>
                        <a:pt x="0" y="193"/>
                      </a:lnTo>
                      <a:lnTo>
                        <a:pt x="39" y="40"/>
                      </a:lnTo>
                      <a:lnTo>
                        <a:pt x="40" y="38"/>
                      </a:lnTo>
                      <a:lnTo>
                        <a:pt x="40" y="34"/>
                      </a:lnTo>
                      <a:lnTo>
                        <a:pt x="40" y="31"/>
                      </a:lnTo>
                      <a:lnTo>
                        <a:pt x="43" y="28"/>
                      </a:lnTo>
                      <a:lnTo>
                        <a:pt x="43" y="27"/>
                      </a:lnTo>
                      <a:lnTo>
                        <a:pt x="43" y="24"/>
                      </a:lnTo>
                      <a:lnTo>
                        <a:pt x="46" y="19"/>
                      </a:lnTo>
                      <a:lnTo>
                        <a:pt x="48" y="16"/>
                      </a:lnTo>
                      <a:lnTo>
                        <a:pt x="51" y="15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8" y="7"/>
                      </a:lnTo>
                      <a:lnTo>
                        <a:pt x="60" y="4"/>
                      </a:lnTo>
                      <a:lnTo>
                        <a:pt x="63" y="3"/>
                      </a:lnTo>
                      <a:lnTo>
                        <a:pt x="67" y="3"/>
                      </a:lnTo>
                      <a:lnTo>
                        <a:pt x="72" y="0"/>
                      </a:lnTo>
                      <a:lnTo>
                        <a:pt x="78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234DB">
                        <a:gamma/>
                        <a:tint val="33333"/>
                        <a:invGamma/>
                      </a:srgbClr>
                    </a:gs>
                    <a:gs pos="100000">
                      <a:srgbClr val="9234DB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89162" name="Group 10"/>
              <p:cNvGrpSpPr/>
              <p:nvPr/>
            </p:nvGrpSpPr>
            <p:grpSpPr bwMode="auto">
              <a:xfrm>
                <a:off x="850" y="1858"/>
                <a:ext cx="183" cy="470"/>
                <a:chOff x="2073" y="2933"/>
                <a:chExt cx="238" cy="611"/>
              </a:xfrm>
            </p:grpSpPr>
            <p:sp>
              <p:nvSpPr>
                <p:cNvPr id="689163" name="Oval 11"/>
                <p:cNvSpPr>
                  <a:spLocks noChangeArrowheads="1"/>
                </p:cNvSpPr>
                <p:nvPr/>
              </p:nvSpPr>
              <p:spPr bwMode="auto">
                <a:xfrm>
                  <a:off x="2139" y="2933"/>
                  <a:ext cx="99" cy="10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95AB7">
                        <a:gamma/>
                        <a:tint val="52549"/>
                        <a:invGamma/>
                      </a:srgbClr>
                    </a:gs>
                    <a:gs pos="100000">
                      <a:srgbClr val="F95AB7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9164" name="Freeform 12"/>
                <p:cNvSpPr/>
                <p:nvPr/>
              </p:nvSpPr>
              <p:spPr bwMode="auto">
                <a:xfrm>
                  <a:off x="2073" y="3048"/>
                  <a:ext cx="238" cy="496"/>
                </a:xfrm>
                <a:custGeom>
                  <a:avLst/>
                  <a:gdLst>
                    <a:gd name="T0" fmla="*/ 186 w 238"/>
                    <a:gd name="T1" fmla="*/ 0 h 496"/>
                    <a:gd name="T2" fmla="*/ 195 w 238"/>
                    <a:gd name="T3" fmla="*/ 3 h 496"/>
                    <a:gd name="T4" fmla="*/ 204 w 238"/>
                    <a:gd name="T5" fmla="*/ 4 h 496"/>
                    <a:gd name="T6" fmla="*/ 212 w 238"/>
                    <a:gd name="T7" fmla="*/ 9 h 496"/>
                    <a:gd name="T8" fmla="*/ 224 w 238"/>
                    <a:gd name="T9" fmla="*/ 13 h 496"/>
                    <a:gd name="T10" fmla="*/ 230 w 238"/>
                    <a:gd name="T11" fmla="*/ 24 h 496"/>
                    <a:gd name="T12" fmla="*/ 237 w 238"/>
                    <a:gd name="T13" fmla="*/ 34 h 496"/>
                    <a:gd name="T14" fmla="*/ 237 w 238"/>
                    <a:gd name="T15" fmla="*/ 226 h 496"/>
                    <a:gd name="T16" fmla="*/ 234 w 238"/>
                    <a:gd name="T17" fmla="*/ 232 h 496"/>
                    <a:gd name="T18" fmla="*/ 230 w 238"/>
                    <a:gd name="T19" fmla="*/ 239 h 496"/>
                    <a:gd name="T20" fmla="*/ 221 w 238"/>
                    <a:gd name="T21" fmla="*/ 242 h 496"/>
                    <a:gd name="T22" fmla="*/ 212 w 238"/>
                    <a:gd name="T23" fmla="*/ 244 h 496"/>
                    <a:gd name="T24" fmla="*/ 204 w 238"/>
                    <a:gd name="T25" fmla="*/ 242 h 496"/>
                    <a:gd name="T26" fmla="*/ 200 w 238"/>
                    <a:gd name="T27" fmla="*/ 235 h 496"/>
                    <a:gd name="T28" fmla="*/ 195 w 238"/>
                    <a:gd name="T29" fmla="*/ 230 h 496"/>
                    <a:gd name="T30" fmla="*/ 195 w 238"/>
                    <a:gd name="T31" fmla="*/ 84 h 496"/>
                    <a:gd name="T32" fmla="*/ 182 w 238"/>
                    <a:gd name="T33" fmla="*/ 471 h 496"/>
                    <a:gd name="T34" fmla="*/ 177 w 238"/>
                    <a:gd name="T35" fmla="*/ 483 h 496"/>
                    <a:gd name="T36" fmla="*/ 170 w 238"/>
                    <a:gd name="T37" fmla="*/ 491 h 496"/>
                    <a:gd name="T38" fmla="*/ 161 w 238"/>
                    <a:gd name="T39" fmla="*/ 495 h 496"/>
                    <a:gd name="T40" fmla="*/ 152 w 238"/>
                    <a:gd name="T41" fmla="*/ 495 h 496"/>
                    <a:gd name="T42" fmla="*/ 140 w 238"/>
                    <a:gd name="T43" fmla="*/ 492 h 496"/>
                    <a:gd name="T44" fmla="*/ 132 w 238"/>
                    <a:gd name="T45" fmla="*/ 486 h 496"/>
                    <a:gd name="T46" fmla="*/ 128 w 238"/>
                    <a:gd name="T47" fmla="*/ 479 h 496"/>
                    <a:gd name="T48" fmla="*/ 126 w 238"/>
                    <a:gd name="T49" fmla="*/ 470 h 496"/>
                    <a:gd name="T50" fmla="*/ 111 w 238"/>
                    <a:gd name="T51" fmla="*/ 470 h 496"/>
                    <a:gd name="T52" fmla="*/ 107 w 238"/>
                    <a:gd name="T53" fmla="*/ 479 h 496"/>
                    <a:gd name="T54" fmla="*/ 101 w 238"/>
                    <a:gd name="T55" fmla="*/ 491 h 496"/>
                    <a:gd name="T56" fmla="*/ 89 w 238"/>
                    <a:gd name="T57" fmla="*/ 495 h 496"/>
                    <a:gd name="T58" fmla="*/ 77 w 238"/>
                    <a:gd name="T59" fmla="*/ 495 h 496"/>
                    <a:gd name="T60" fmla="*/ 69 w 238"/>
                    <a:gd name="T61" fmla="*/ 491 h 496"/>
                    <a:gd name="T62" fmla="*/ 60 w 238"/>
                    <a:gd name="T63" fmla="*/ 486 h 496"/>
                    <a:gd name="T64" fmla="*/ 56 w 238"/>
                    <a:gd name="T65" fmla="*/ 477 h 496"/>
                    <a:gd name="T66" fmla="*/ 56 w 238"/>
                    <a:gd name="T67" fmla="*/ 84 h 496"/>
                    <a:gd name="T68" fmla="*/ 42 w 238"/>
                    <a:gd name="T69" fmla="*/ 227 h 496"/>
                    <a:gd name="T70" fmla="*/ 38 w 238"/>
                    <a:gd name="T71" fmla="*/ 235 h 496"/>
                    <a:gd name="T72" fmla="*/ 33 w 238"/>
                    <a:gd name="T73" fmla="*/ 239 h 496"/>
                    <a:gd name="T74" fmla="*/ 26 w 238"/>
                    <a:gd name="T75" fmla="*/ 244 h 496"/>
                    <a:gd name="T76" fmla="*/ 17 w 238"/>
                    <a:gd name="T77" fmla="*/ 244 h 496"/>
                    <a:gd name="T78" fmla="*/ 9 w 238"/>
                    <a:gd name="T79" fmla="*/ 239 h 496"/>
                    <a:gd name="T80" fmla="*/ 5 w 238"/>
                    <a:gd name="T81" fmla="*/ 238 h 496"/>
                    <a:gd name="T82" fmla="*/ 0 w 238"/>
                    <a:gd name="T83" fmla="*/ 230 h 496"/>
                    <a:gd name="T84" fmla="*/ 0 w 238"/>
                    <a:gd name="T85" fmla="*/ 39 h 496"/>
                    <a:gd name="T86" fmla="*/ 5 w 238"/>
                    <a:gd name="T87" fmla="*/ 25 h 496"/>
                    <a:gd name="T88" fmla="*/ 14 w 238"/>
                    <a:gd name="T89" fmla="*/ 13 h 496"/>
                    <a:gd name="T90" fmla="*/ 30 w 238"/>
                    <a:gd name="T91" fmla="*/ 7 h 496"/>
                    <a:gd name="T92" fmla="*/ 44 w 238"/>
                    <a:gd name="T93" fmla="*/ 3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38" h="496">
                      <a:moveTo>
                        <a:pt x="56" y="0"/>
                      </a:moveTo>
                      <a:lnTo>
                        <a:pt x="182" y="0"/>
                      </a:lnTo>
                      <a:lnTo>
                        <a:pt x="186" y="0"/>
                      </a:lnTo>
                      <a:lnTo>
                        <a:pt x="188" y="0"/>
                      </a:lnTo>
                      <a:lnTo>
                        <a:pt x="191" y="0"/>
                      </a:lnTo>
                      <a:lnTo>
                        <a:pt x="195" y="3"/>
                      </a:lnTo>
                      <a:lnTo>
                        <a:pt x="198" y="3"/>
                      </a:lnTo>
                      <a:lnTo>
                        <a:pt x="200" y="3"/>
                      </a:lnTo>
                      <a:lnTo>
                        <a:pt x="204" y="4"/>
                      </a:lnTo>
                      <a:lnTo>
                        <a:pt x="207" y="4"/>
                      </a:lnTo>
                      <a:lnTo>
                        <a:pt x="209" y="7"/>
                      </a:lnTo>
                      <a:lnTo>
                        <a:pt x="212" y="9"/>
                      </a:lnTo>
                      <a:lnTo>
                        <a:pt x="216" y="9"/>
                      </a:lnTo>
                      <a:lnTo>
                        <a:pt x="219" y="12"/>
                      </a:lnTo>
                      <a:lnTo>
                        <a:pt x="224" y="13"/>
                      </a:lnTo>
                      <a:lnTo>
                        <a:pt x="225" y="18"/>
                      </a:lnTo>
                      <a:lnTo>
                        <a:pt x="228" y="21"/>
                      </a:lnTo>
                      <a:lnTo>
                        <a:pt x="230" y="24"/>
                      </a:lnTo>
                      <a:lnTo>
                        <a:pt x="234" y="28"/>
                      </a:lnTo>
                      <a:lnTo>
                        <a:pt x="234" y="30"/>
                      </a:lnTo>
                      <a:lnTo>
                        <a:pt x="237" y="34"/>
                      </a:lnTo>
                      <a:lnTo>
                        <a:pt x="237" y="39"/>
                      </a:lnTo>
                      <a:lnTo>
                        <a:pt x="237" y="42"/>
                      </a:lnTo>
                      <a:lnTo>
                        <a:pt x="237" y="226"/>
                      </a:lnTo>
                      <a:lnTo>
                        <a:pt x="237" y="227"/>
                      </a:lnTo>
                      <a:lnTo>
                        <a:pt x="234" y="230"/>
                      </a:lnTo>
                      <a:lnTo>
                        <a:pt x="234" y="232"/>
                      </a:lnTo>
                      <a:lnTo>
                        <a:pt x="234" y="235"/>
                      </a:lnTo>
                      <a:lnTo>
                        <a:pt x="233" y="238"/>
                      </a:lnTo>
                      <a:lnTo>
                        <a:pt x="230" y="239"/>
                      </a:lnTo>
                      <a:lnTo>
                        <a:pt x="228" y="239"/>
                      </a:lnTo>
                      <a:lnTo>
                        <a:pt x="224" y="242"/>
                      </a:lnTo>
                      <a:lnTo>
                        <a:pt x="221" y="242"/>
                      </a:lnTo>
                      <a:lnTo>
                        <a:pt x="219" y="244"/>
                      </a:lnTo>
                      <a:lnTo>
                        <a:pt x="216" y="244"/>
                      </a:lnTo>
                      <a:lnTo>
                        <a:pt x="212" y="244"/>
                      </a:lnTo>
                      <a:lnTo>
                        <a:pt x="209" y="242"/>
                      </a:lnTo>
                      <a:lnTo>
                        <a:pt x="207" y="242"/>
                      </a:lnTo>
                      <a:lnTo>
                        <a:pt x="204" y="242"/>
                      </a:lnTo>
                      <a:lnTo>
                        <a:pt x="203" y="239"/>
                      </a:lnTo>
                      <a:lnTo>
                        <a:pt x="200" y="238"/>
                      </a:lnTo>
                      <a:lnTo>
                        <a:pt x="200" y="235"/>
                      </a:lnTo>
                      <a:lnTo>
                        <a:pt x="198" y="235"/>
                      </a:lnTo>
                      <a:lnTo>
                        <a:pt x="195" y="232"/>
                      </a:lnTo>
                      <a:lnTo>
                        <a:pt x="195" y="230"/>
                      </a:lnTo>
                      <a:lnTo>
                        <a:pt x="195" y="227"/>
                      </a:lnTo>
                      <a:lnTo>
                        <a:pt x="195" y="226"/>
                      </a:lnTo>
                      <a:lnTo>
                        <a:pt x="195" y="84"/>
                      </a:lnTo>
                      <a:lnTo>
                        <a:pt x="182" y="84"/>
                      </a:lnTo>
                      <a:lnTo>
                        <a:pt x="182" y="467"/>
                      </a:lnTo>
                      <a:lnTo>
                        <a:pt x="182" y="471"/>
                      </a:lnTo>
                      <a:lnTo>
                        <a:pt x="182" y="474"/>
                      </a:lnTo>
                      <a:lnTo>
                        <a:pt x="179" y="479"/>
                      </a:lnTo>
                      <a:lnTo>
                        <a:pt x="177" y="483"/>
                      </a:lnTo>
                      <a:lnTo>
                        <a:pt x="174" y="486"/>
                      </a:lnTo>
                      <a:lnTo>
                        <a:pt x="173" y="488"/>
                      </a:lnTo>
                      <a:lnTo>
                        <a:pt x="170" y="491"/>
                      </a:lnTo>
                      <a:lnTo>
                        <a:pt x="165" y="492"/>
                      </a:lnTo>
                      <a:lnTo>
                        <a:pt x="162" y="492"/>
                      </a:lnTo>
                      <a:lnTo>
                        <a:pt x="161" y="495"/>
                      </a:lnTo>
                      <a:lnTo>
                        <a:pt x="156" y="495"/>
                      </a:lnTo>
                      <a:lnTo>
                        <a:pt x="153" y="495"/>
                      </a:lnTo>
                      <a:lnTo>
                        <a:pt x="152" y="495"/>
                      </a:lnTo>
                      <a:lnTo>
                        <a:pt x="147" y="495"/>
                      </a:lnTo>
                      <a:lnTo>
                        <a:pt x="144" y="492"/>
                      </a:lnTo>
                      <a:lnTo>
                        <a:pt x="140" y="492"/>
                      </a:lnTo>
                      <a:lnTo>
                        <a:pt x="137" y="491"/>
                      </a:lnTo>
                      <a:lnTo>
                        <a:pt x="135" y="488"/>
                      </a:lnTo>
                      <a:lnTo>
                        <a:pt x="132" y="486"/>
                      </a:lnTo>
                      <a:lnTo>
                        <a:pt x="131" y="483"/>
                      </a:lnTo>
                      <a:lnTo>
                        <a:pt x="128" y="482"/>
                      </a:lnTo>
                      <a:lnTo>
                        <a:pt x="128" y="479"/>
                      </a:lnTo>
                      <a:lnTo>
                        <a:pt x="126" y="477"/>
                      </a:lnTo>
                      <a:lnTo>
                        <a:pt x="126" y="474"/>
                      </a:lnTo>
                      <a:lnTo>
                        <a:pt x="126" y="470"/>
                      </a:lnTo>
                      <a:lnTo>
                        <a:pt x="126" y="238"/>
                      </a:lnTo>
                      <a:lnTo>
                        <a:pt x="111" y="238"/>
                      </a:lnTo>
                      <a:lnTo>
                        <a:pt x="111" y="470"/>
                      </a:lnTo>
                      <a:lnTo>
                        <a:pt x="111" y="471"/>
                      </a:lnTo>
                      <a:lnTo>
                        <a:pt x="110" y="477"/>
                      </a:lnTo>
                      <a:lnTo>
                        <a:pt x="107" y="479"/>
                      </a:lnTo>
                      <a:lnTo>
                        <a:pt x="107" y="483"/>
                      </a:lnTo>
                      <a:lnTo>
                        <a:pt x="105" y="486"/>
                      </a:lnTo>
                      <a:lnTo>
                        <a:pt x="101" y="491"/>
                      </a:lnTo>
                      <a:lnTo>
                        <a:pt x="98" y="491"/>
                      </a:lnTo>
                      <a:lnTo>
                        <a:pt x="93" y="492"/>
                      </a:lnTo>
                      <a:lnTo>
                        <a:pt x="89" y="495"/>
                      </a:lnTo>
                      <a:lnTo>
                        <a:pt x="86" y="495"/>
                      </a:lnTo>
                      <a:lnTo>
                        <a:pt x="81" y="495"/>
                      </a:lnTo>
                      <a:lnTo>
                        <a:pt x="77" y="495"/>
                      </a:lnTo>
                      <a:lnTo>
                        <a:pt x="75" y="495"/>
                      </a:lnTo>
                      <a:lnTo>
                        <a:pt x="72" y="492"/>
                      </a:lnTo>
                      <a:lnTo>
                        <a:pt x="69" y="491"/>
                      </a:lnTo>
                      <a:lnTo>
                        <a:pt x="65" y="491"/>
                      </a:lnTo>
                      <a:lnTo>
                        <a:pt x="63" y="486"/>
                      </a:lnTo>
                      <a:lnTo>
                        <a:pt x="60" y="486"/>
                      </a:lnTo>
                      <a:lnTo>
                        <a:pt x="59" y="482"/>
                      </a:lnTo>
                      <a:lnTo>
                        <a:pt x="59" y="479"/>
                      </a:lnTo>
                      <a:lnTo>
                        <a:pt x="56" y="477"/>
                      </a:lnTo>
                      <a:lnTo>
                        <a:pt x="56" y="474"/>
                      </a:lnTo>
                      <a:lnTo>
                        <a:pt x="56" y="470"/>
                      </a:lnTo>
                      <a:lnTo>
                        <a:pt x="56" y="84"/>
                      </a:lnTo>
                      <a:lnTo>
                        <a:pt x="42" y="84"/>
                      </a:lnTo>
                      <a:lnTo>
                        <a:pt x="42" y="226"/>
                      </a:lnTo>
                      <a:lnTo>
                        <a:pt x="42" y="227"/>
                      </a:lnTo>
                      <a:lnTo>
                        <a:pt x="39" y="230"/>
                      </a:lnTo>
                      <a:lnTo>
                        <a:pt x="39" y="232"/>
                      </a:lnTo>
                      <a:lnTo>
                        <a:pt x="38" y="235"/>
                      </a:lnTo>
                      <a:lnTo>
                        <a:pt x="35" y="238"/>
                      </a:lnTo>
                      <a:lnTo>
                        <a:pt x="35" y="239"/>
                      </a:lnTo>
                      <a:lnTo>
                        <a:pt x="33" y="239"/>
                      </a:lnTo>
                      <a:lnTo>
                        <a:pt x="30" y="242"/>
                      </a:lnTo>
                      <a:lnTo>
                        <a:pt x="29" y="242"/>
                      </a:lnTo>
                      <a:lnTo>
                        <a:pt x="26" y="244"/>
                      </a:lnTo>
                      <a:lnTo>
                        <a:pt x="23" y="244"/>
                      </a:lnTo>
                      <a:lnTo>
                        <a:pt x="18" y="244"/>
                      </a:lnTo>
                      <a:lnTo>
                        <a:pt x="17" y="244"/>
                      </a:lnTo>
                      <a:lnTo>
                        <a:pt x="14" y="242"/>
                      </a:lnTo>
                      <a:lnTo>
                        <a:pt x="12" y="242"/>
                      </a:lnTo>
                      <a:lnTo>
                        <a:pt x="9" y="239"/>
                      </a:lnTo>
                      <a:lnTo>
                        <a:pt x="8" y="239"/>
                      </a:lnTo>
                      <a:lnTo>
                        <a:pt x="8" y="238"/>
                      </a:lnTo>
                      <a:lnTo>
                        <a:pt x="5" y="238"/>
                      </a:lnTo>
                      <a:lnTo>
                        <a:pt x="3" y="235"/>
                      </a:lnTo>
                      <a:lnTo>
                        <a:pt x="3" y="232"/>
                      </a:lnTo>
                      <a:lnTo>
                        <a:pt x="0" y="230"/>
                      </a:lnTo>
                      <a:lnTo>
                        <a:pt x="0" y="227"/>
                      </a:lnTo>
                      <a:lnTo>
                        <a:pt x="0" y="226"/>
                      </a:lnTo>
                      <a:lnTo>
                        <a:pt x="0" y="39"/>
                      </a:lnTo>
                      <a:lnTo>
                        <a:pt x="0" y="34"/>
                      </a:lnTo>
                      <a:lnTo>
                        <a:pt x="3" y="30"/>
                      </a:lnTo>
                      <a:lnTo>
                        <a:pt x="5" y="25"/>
                      </a:lnTo>
                      <a:lnTo>
                        <a:pt x="8" y="21"/>
                      </a:lnTo>
                      <a:lnTo>
                        <a:pt x="12" y="18"/>
                      </a:lnTo>
                      <a:lnTo>
                        <a:pt x="14" y="13"/>
                      </a:lnTo>
                      <a:lnTo>
                        <a:pt x="18" y="12"/>
                      </a:lnTo>
                      <a:lnTo>
                        <a:pt x="26" y="9"/>
                      </a:lnTo>
                      <a:lnTo>
                        <a:pt x="30" y="7"/>
                      </a:lnTo>
                      <a:lnTo>
                        <a:pt x="33" y="4"/>
                      </a:lnTo>
                      <a:lnTo>
                        <a:pt x="39" y="3"/>
                      </a:lnTo>
                      <a:lnTo>
                        <a:pt x="44" y="3"/>
                      </a:lnTo>
                      <a:lnTo>
                        <a:pt x="51" y="0"/>
                      </a:lnTo>
                      <a:lnTo>
                        <a:pt x="56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95AB7">
                        <a:gamma/>
                        <a:tint val="52549"/>
                        <a:invGamma/>
                      </a:srgbClr>
                    </a:gs>
                    <a:gs pos="100000">
                      <a:srgbClr val="F95AB7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89165" name="Group 13"/>
              <p:cNvGrpSpPr/>
              <p:nvPr/>
            </p:nvGrpSpPr>
            <p:grpSpPr bwMode="auto">
              <a:xfrm>
                <a:off x="1069" y="1987"/>
                <a:ext cx="216" cy="482"/>
                <a:chOff x="2326" y="3101"/>
                <a:chExt cx="281" cy="626"/>
              </a:xfrm>
            </p:grpSpPr>
            <p:sp>
              <p:nvSpPr>
                <p:cNvPr id="689166" name="Oval 14"/>
                <p:cNvSpPr>
                  <a:spLocks noChangeArrowheads="1"/>
                </p:cNvSpPr>
                <p:nvPr/>
              </p:nvSpPr>
              <p:spPr bwMode="auto">
                <a:xfrm>
                  <a:off x="2418" y="3101"/>
                  <a:ext cx="95" cy="10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>
                        <a:gamma/>
                        <a:tint val="54902"/>
                        <a:invGamma/>
                      </a:srgbClr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9167" name="Freeform 15"/>
                <p:cNvSpPr/>
                <p:nvPr/>
              </p:nvSpPr>
              <p:spPr bwMode="auto">
                <a:xfrm>
                  <a:off x="2326" y="3223"/>
                  <a:ext cx="281" cy="504"/>
                </a:xfrm>
                <a:custGeom>
                  <a:avLst/>
                  <a:gdLst>
                    <a:gd name="T0" fmla="*/ 208 w 281"/>
                    <a:gd name="T1" fmla="*/ 0 h 504"/>
                    <a:gd name="T2" fmla="*/ 217 w 281"/>
                    <a:gd name="T3" fmla="*/ 3 h 504"/>
                    <a:gd name="T4" fmla="*/ 228 w 281"/>
                    <a:gd name="T5" fmla="*/ 9 h 504"/>
                    <a:gd name="T6" fmla="*/ 232 w 281"/>
                    <a:gd name="T7" fmla="*/ 16 h 504"/>
                    <a:gd name="T8" fmla="*/ 237 w 281"/>
                    <a:gd name="T9" fmla="*/ 24 h 504"/>
                    <a:gd name="T10" fmla="*/ 241 w 281"/>
                    <a:gd name="T11" fmla="*/ 35 h 504"/>
                    <a:gd name="T12" fmla="*/ 280 w 281"/>
                    <a:gd name="T13" fmla="*/ 189 h 504"/>
                    <a:gd name="T14" fmla="*/ 280 w 281"/>
                    <a:gd name="T15" fmla="*/ 201 h 504"/>
                    <a:gd name="T16" fmla="*/ 276 w 281"/>
                    <a:gd name="T17" fmla="*/ 208 h 504"/>
                    <a:gd name="T18" fmla="*/ 268 w 281"/>
                    <a:gd name="T19" fmla="*/ 214 h 504"/>
                    <a:gd name="T20" fmla="*/ 258 w 281"/>
                    <a:gd name="T21" fmla="*/ 214 h 504"/>
                    <a:gd name="T22" fmla="*/ 252 w 281"/>
                    <a:gd name="T23" fmla="*/ 212 h 504"/>
                    <a:gd name="T24" fmla="*/ 244 w 281"/>
                    <a:gd name="T25" fmla="*/ 208 h 504"/>
                    <a:gd name="T26" fmla="*/ 240 w 281"/>
                    <a:gd name="T27" fmla="*/ 201 h 504"/>
                    <a:gd name="T28" fmla="*/ 253 w 281"/>
                    <a:gd name="T29" fmla="*/ 310 h 504"/>
                    <a:gd name="T30" fmla="*/ 202 w 281"/>
                    <a:gd name="T31" fmla="*/ 484 h 504"/>
                    <a:gd name="T32" fmla="*/ 198 w 281"/>
                    <a:gd name="T33" fmla="*/ 494 h 504"/>
                    <a:gd name="T34" fmla="*/ 190 w 281"/>
                    <a:gd name="T35" fmla="*/ 499 h 504"/>
                    <a:gd name="T36" fmla="*/ 184 w 281"/>
                    <a:gd name="T37" fmla="*/ 503 h 504"/>
                    <a:gd name="T38" fmla="*/ 174 w 281"/>
                    <a:gd name="T39" fmla="*/ 503 h 504"/>
                    <a:gd name="T40" fmla="*/ 166 w 281"/>
                    <a:gd name="T41" fmla="*/ 500 h 504"/>
                    <a:gd name="T42" fmla="*/ 159 w 281"/>
                    <a:gd name="T43" fmla="*/ 494 h 504"/>
                    <a:gd name="T44" fmla="*/ 154 w 281"/>
                    <a:gd name="T45" fmla="*/ 487 h 504"/>
                    <a:gd name="T46" fmla="*/ 153 w 281"/>
                    <a:gd name="T47" fmla="*/ 479 h 504"/>
                    <a:gd name="T48" fmla="*/ 127 w 281"/>
                    <a:gd name="T49" fmla="*/ 479 h 504"/>
                    <a:gd name="T50" fmla="*/ 126 w 281"/>
                    <a:gd name="T51" fmla="*/ 487 h 504"/>
                    <a:gd name="T52" fmla="*/ 121 w 281"/>
                    <a:gd name="T53" fmla="*/ 496 h 504"/>
                    <a:gd name="T54" fmla="*/ 114 w 281"/>
                    <a:gd name="T55" fmla="*/ 500 h 504"/>
                    <a:gd name="T56" fmla="*/ 106 w 281"/>
                    <a:gd name="T57" fmla="*/ 503 h 504"/>
                    <a:gd name="T58" fmla="*/ 96 w 281"/>
                    <a:gd name="T59" fmla="*/ 503 h 504"/>
                    <a:gd name="T60" fmla="*/ 90 w 281"/>
                    <a:gd name="T61" fmla="*/ 499 h 504"/>
                    <a:gd name="T62" fmla="*/ 82 w 281"/>
                    <a:gd name="T63" fmla="*/ 494 h 504"/>
                    <a:gd name="T64" fmla="*/ 78 w 281"/>
                    <a:gd name="T65" fmla="*/ 484 h 504"/>
                    <a:gd name="T66" fmla="*/ 78 w 281"/>
                    <a:gd name="T67" fmla="*/ 313 h 504"/>
                    <a:gd name="T68" fmla="*/ 78 w 281"/>
                    <a:gd name="T69" fmla="*/ 71 h 504"/>
                    <a:gd name="T70" fmla="*/ 39 w 281"/>
                    <a:gd name="T71" fmla="*/ 209 h 504"/>
                    <a:gd name="T72" fmla="*/ 31 w 281"/>
                    <a:gd name="T73" fmla="*/ 217 h 504"/>
                    <a:gd name="T74" fmla="*/ 22 w 281"/>
                    <a:gd name="T75" fmla="*/ 220 h 504"/>
                    <a:gd name="T76" fmla="*/ 15 w 281"/>
                    <a:gd name="T77" fmla="*/ 220 h 504"/>
                    <a:gd name="T78" fmla="*/ 4 w 281"/>
                    <a:gd name="T79" fmla="*/ 212 h 504"/>
                    <a:gd name="T80" fmla="*/ 0 w 281"/>
                    <a:gd name="T81" fmla="*/ 202 h 504"/>
                    <a:gd name="T82" fmla="*/ 0 w 281"/>
                    <a:gd name="T83" fmla="*/ 196 h 504"/>
                    <a:gd name="T84" fmla="*/ 40 w 281"/>
                    <a:gd name="T85" fmla="*/ 38 h 504"/>
                    <a:gd name="T86" fmla="*/ 43 w 281"/>
                    <a:gd name="T87" fmla="*/ 28 h 504"/>
                    <a:gd name="T88" fmla="*/ 46 w 281"/>
                    <a:gd name="T89" fmla="*/ 19 h 504"/>
                    <a:gd name="T90" fmla="*/ 52 w 281"/>
                    <a:gd name="T91" fmla="*/ 12 h 504"/>
                    <a:gd name="T92" fmla="*/ 60 w 281"/>
                    <a:gd name="T93" fmla="*/ 4 h 504"/>
                    <a:gd name="T94" fmla="*/ 72 w 281"/>
                    <a:gd name="T95" fmla="*/ 0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81" h="504">
                      <a:moveTo>
                        <a:pt x="78" y="0"/>
                      </a:moveTo>
                      <a:lnTo>
                        <a:pt x="205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4" y="3"/>
                      </a:lnTo>
                      <a:lnTo>
                        <a:pt x="217" y="3"/>
                      </a:lnTo>
                      <a:lnTo>
                        <a:pt x="220" y="4"/>
                      </a:lnTo>
                      <a:lnTo>
                        <a:pt x="222" y="7"/>
                      </a:lnTo>
                      <a:lnTo>
                        <a:pt x="228" y="9"/>
                      </a:lnTo>
                      <a:lnTo>
                        <a:pt x="229" y="12"/>
                      </a:lnTo>
                      <a:lnTo>
                        <a:pt x="229" y="15"/>
                      </a:lnTo>
                      <a:lnTo>
                        <a:pt x="232" y="16"/>
                      </a:lnTo>
                      <a:lnTo>
                        <a:pt x="234" y="19"/>
                      </a:lnTo>
                      <a:lnTo>
                        <a:pt x="237" y="22"/>
                      </a:lnTo>
                      <a:lnTo>
                        <a:pt x="237" y="24"/>
                      </a:lnTo>
                      <a:lnTo>
                        <a:pt x="240" y="27"/>
                      </a:lnTo>
                      <a:lnTo>
                        <a:pt x="240" y="31"/>
                      </a:lnTo>
                      <a:lnTo>
                        <a:pt x="241" y="35"/>
                      </a:lnTo>
                      <a:lnTo>
                        <a:pt x="241" y="38"/>
                      </a:lnTo>
                      <a:lnTo>
                        <a:pt x="241" y="43"/>
                      </a:lnTo>
                      <a:lnTo>
                        <a:pt x="280" y="189"/>
                      </a:lnTo>
                      <a:lnTo>
                        <a:pt x="280" y="193"/>
                      </a:lnTo>
                      <a:lnTo>
                        <a:pt x="280" y="196"/>
                      </a:lnTo>
                      <a:lnTo>
                        <a:pt x="280" y="201"/>
                      </a:lnTo>
                      <a:lnTo>
                        <a:pt x="280" y="202"/>
                      </a:lnTo>
                      <a:lnTo>
                        <a:pt x="277" y="205"/>
                      </a:lnTo>
                      <a:lnTo>
                        <a:pt x="276" y="208"/>
                      </a:lnTo>
                      <a:lnTo>
                        <a:pt x="273" y="209"/>
                      </a:lnTo>
                      <a:lnTo>
                        <a:pt x="271" y="212"/>
                      </a:lnTo>
                      <a:lnTo>
                        <a:pt x="268" y="214"/>
                      </a:lnTo>
                      <a:lnTo>
                        <a:pt x="265" y="214"/>
                      </a:lnTo>
                      <a:lnTo>
                        <a:pt x="261" y="214"/>
                      </a:lnTo>
                      <a:lnTo>
                        <a:pt x="258" y="214"/>
                      </a:lnTo>
                      <a:lnTo>
                        <a:pt x="256" y="214"/>
                      </a:lnTo>
                      <a:lnTo>
                        <a:pt x="253" y="214"/>
                      </a:lnTo>
                      <a:lnTo>
                        <a:pt x="252" y="212"/>
                      </a:lnTo>
                      <a:lnTo>
                        <a:pt x="249" y="212"/>
                      </a:lnTo>
                      <a:lnTo>
                        <a:pt x="246" y="209"/>
                      </a:lnTo>
                      <a:lnTo>
                        <a:pt x="244" y="208"/>
                      </a:lnTo>
                      <a:lnTo>
                        <a:pt x="241" y="205"/>
                      </a:lnTo>
                      <a:lnTo>
                        <a:pt x="241" y="202"/>
                      </a:lnTo>
                      <a:lnTo>
                        <a:pt x="240" y="201"/>
                      </a:lnTo>
                      <a:lnTo>
                        <a:pt x="202" y="71"/>
                      </a:lnTo>
                      <a:lnTo>
                        <a:pt x="190" y="71"/>
                      </a:lnTo>
                      <a:lnTo>
                        <a:pt x="253" y="310"/>
                      </a:lnTo>
                      <a:lnTo>
                        <a:pt x="202" y="310"/>
                      </a:lnTo>
                      <a:lnTo>
                        <a:pt x="202" y="479"/>
                      </a:lnTo>
                      <a:lnTo>
                        <a:pt x="202" y="484"/>
                      </a:lnTo>
                      <a:lnTo>
                        <a:pt x="202" y="487"/>
                      </a:lnTo>
                      <a:lnTo>
                        <a:pt x="201" y="488"/>
                      </a:lnTo>
                      <a:lnTo>
                        <a:pt x="198" y="494"/>
                      </a:lnTo>
                      <a:lnTo>
                        <a:pt x="196" y="496"/>
                      </a:lnTo>
                      <a:lnTo>
                        <a:pt x="196" y="499"/>
                      </a:lnTo>
                      <a:lnTo>
                        <a:pt x="190" y="499"/>
                      </a:lnTo>
                      <a:lnTo>
                        <a:pt x="189" y="500"/>
                      </a:lnTo>
                      <a:lnTo>
                        <a:pt x="186" y="503"/>
                      </a:lnTo>
                      <a:lnTo>
                        <a:pt x="184" y="503"/>
                      </a:lnTo>
                      <a:lnTo>
                        <a:pt x="181" y="503"/>
                      </a:lnTo>
                      <a:lnTo>
                        <a:pt x="178" y="503"/>
                      </a:lnTo>
                      <a:lnTo>
                        <a:pt x="174" y="503"/>
                      </a:lnTo>
                      <a:lnTo>
                        <a:pt x="171" y="503"/>
                      </a:lnTo>
                      <a:lnTo>
                        <a:pt x="169" y="500"/>
                      </a:lnTo>
                      <a:lnTo>
                        <a:pt x="166" y="500"/>
                      </a:lnTo>
                      <a:lnTo>
                        <a:pt x="165" y="499"/>
                      </a:lnTo>
                      <a:lnTo>
                        <a:pt x="162" y="496"/>
                      </a:lnTo>
                      <a:lnTo>
                        <a:pt x="159" y="494"/>
                      </a:lnTo>
                      <a:lnTo>
                        <a:pt x="157" y="494"/>
                      </a:lnTo>
                      <a:lnTo>
                        <a:pt x="157" y="488"/>
                      </a:lnTo>
                      <a:lnTo>
                        <a:pt x="154" y="487"/>
                      </a:lnTo>
                      <a:lnTo>
                        <a:pt x="154" y="484"/>
                      </a:lnTo>
                      <a:lnTo>
                        <a:pt x="153" y="481"/>
                      </a:lnTo>
                      <a:lnTo>
                        <a:pt x="153" y="479"/>
                      </a:lnTo>
                      <a:lnTo>
                        <a:pt x="153" y="313"/>
                      </a:lnTo>
                      <a:lnTo>
                        <a:pt x="127" y="313"/>
                      </a:lnTo>
                      <a:lnTo>
                        <a:pt x="127" y="479"/>
                      </a:lnTo>
                      <a:lnTo>
                        <a:pt x="127" y="481"/>
                      </a:lnTo>
                      <a:lnTo>
                        <a:pt x="127" y="484"/>
                      </a:lnTo>
                      <a:lnTo>
                        <a:pt x="126" y="487"/>
                      </a:lnTo>
                      <a:lnTo>
                        <a:pt x="126" y="488"/>
                      </a:lnTo>
                      <a:lnTo>
                        <a:pt x="123" y="494"/>
                      </a:lnTo>
                      <a:lnTo>
                        <a:pt x="121" y="496"/>
                      </a:lnTo>
                      <a:lnTo>
                        <a:pt x="118" y="499"/>
                      </a:lnTo>
                      <a:lnTo>
                        <a:pt x="115" y="499"/>
                      </a:lnTo>
                      <a:lnTo>
                        <a:pt x="114" y="500"/>
                      </a:lnTo>
                      <a:lnTo>
                        <a:pt x="111" y="503"/>
                      </a:lnTo>
                      <a:lnTo>
                        <a:pt x="109" y="503"/>
                      </a:lnTo>
                      <a:lnTo>
                        <a:pt x="106" y="503"/>
                      </a:lnTo>
                      <a:lnTo>
                        <a:pt x="102" y="503"/>
                      </a:lnTo>
                      <a:lnTo>
                        <a:pt x="99" y="503"/>
                      </a:lnTo>
                      <a:lnTo>
                        <a:pt x="96" y="503"/>
                      </a:lnTo>
                      <a:lnTo>
                        <a:pt x="94" y="500"/>
                      </a:lnTo>
                      <a:lnTo>
                        <a:pt x="91" y="500"/>
                      </a:lnTo>
                      <a:lnTo>
                        <a:pt x="90" y="499"/>
                      </a:lnTo>
                      <a:lnTo>
                        <a:pt x="87" y="499"/>
                      </a:lnTo>
                      <a:lnTo>
                        <a:pt x="84" y="496"/>
                      </a:lnTo>
                      <a:lnTo>
                        <a:pt x="82" y="494"/>
                      </a:lnTo>
                      <a:lnTo>
                        <a:pt x="79" y="491"/>
                      </a:lnTo>
                      <a:lnTo>
                        <a:pt x="79" y="488"/>
                      </a:lnTo>
                      <a:lnTo>
                        <a:pt x="78" y="484"/>
                      </a:lnTo>
                      <a:lnTo>
                        <a:pt x="78" y="481"/>
                      </a:lnTo>
                      <a:lnTo>
                        <a:pt x="78" y="479"/>
                      </a:lnTo>
                      <a:lnTo>
                        <a:pt x="78" y="313"/>
                      </a:lnTo>
                      <a:lnTo>
                        <a:pt x="28" y="313"/>
                      </a:lnTo>
                      <a:lnTo>
                        <a:pt x="90" y="71"/>
                      </a:lnTo>
                      <a:lnTo>
                        <a:pt x="78" y="71"/>
                      </a:lnTo>
                      <a:lnTo>
                        <a:pt x="40" y="202"/>
                      </a:lnTo>
                      <a:lnTo>
                        <a:pt x="39" y="205"/>
                      </a:lnTo>
                      <a:lnTo>
                        <a:pt x="39" y="209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1" y="217"/>
                      </a:lnTo>
                      <a:lnTo>
                        <a:pt x="28" y="217"/>
                      </a:lnTo>
                      <a:lnTo>
                        <a:pt x="27" y="220"/>
                      </a:lnTo>
                      <a:lnTo>
                        <a:pt x="22" y="220"/>
                      </a:lnTo>
                      <a:lnTo>
                        <a:pt x="19" y="220"/>
                      </a:lnTo>
                      <a:lnTo>
                        <a:pt x="16" y="220"/>
                      </a:lnTo>
                      <a:lnTo>
                        <a:pt x="15" y="220"/>
                      </a:lnTo>
                      <a:lnTo>
                        <a:pt x="9" y="217"/>
                      </a:lnTo>
                      <a:lnTo>
                        <a:pt x="7" y="214"/>
                      </a:lnTo>
                      <a:lnTo>
                        <a:pt x="4" y="212"/>
                      </a:lnTo>
                      <a:lnTo>
                        <a:pt x="3" y="208"/>
                      </a:lnTo>
                      <a:lnTo>
                        <a:pt x="0" y="205"/>
                      </a:lnTo>
                      <a:lnTo>
                        <a:pt x="0" y="202"/>
                      </a:lnTo>
                      <a:lnTo>
                        <a:pt x="0" y="201"/>
                      </a:lnTo>
                      <a:lnTo>
                        <a:pt x="0" y="198"/>
                      </a:lnTo>
                      <a:lnTo>
                        <a:pt x="0" y="196"/>
                      </a:lnTo>
                      <a:lnTo>
                        <a:pt x="0" y="193"/>
                      </a:lnTo>
                      <a:lnTo>
                        <a:pt x="39" y="40"/>
                      </a:lnTo>
                      <a:lnTo>
                        <a:pt x="40" y="38"/>
                      </a:lnTo>
                      <a:lnTo>
                        <a:pt x="40" y="34"/>
                      </a:lnTo>
                      <a:lnTo>
                        <a:pt x="40" y="31"/>
                      </a:lnTo>
                      <a:lnTo>
                        <a:pt x="43" y="28"/>
                      </a:lnTo>
                      <a:lnTo>
                        <a:pt x="43" y="27"/>
                      </a:lnTo>
                      <a:lnTo>
                        <a:pt x="43" y="24"/>
                      </a:lnTo>
                      <a:lnTo>
                        <a:pt x="46" y="19"/>
                      </a:lnTo>
                      <a:lnTo>
                        <a:pt x="48" y="16"/>
                      </a:lnTo>
                      <a:lnTo>
                        <a:pt x="51" y="15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8" y="7"/>
                      </a:lnTo>
                      <a:lnTo>
                        <a:pt x="60" y="4"/>
                      </a:lnTo>
                      <a:lnTo>
                        <a:pt x="63" y="3"/>
                      </a:lnTo>
                      <a:lnTo>
                        <a:pt x="67" y="3"/>
                      </a:lnTo>
                      <a:lnTo>
                        <a:pt x="72" y="0"/>
                      </a:lnTo>
                      <a:lnTo>
                        <a:pt x="78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9900">
                        <a:gamma/>
                        <a:tint val="54902"/>
                        <a:invGamma/>
                      </a:srgbClr>
                    </a:gs>
                    <a:gs pos="100000">
                      <a:srgbClr val="FF9900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5.2 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对象的生存期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539479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对象</a:t>
            </a:r>
            <a:r>
              <a:rPr lang="zh-CN" altLang="en-US" sz="2800" b="1" dirty="0">
                <a:ea typeface="华文楷体" panose="02010600040101010101" pitchFamily="2" charset="-122"/>
              </a:rPr>
              <a:t>从产生到结束的这段时间就是它的生存期。在对象生存期内，对象将保持它的值，直到被更新为止。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endParaRPr lang="zh-CN" altLang="en-US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5.2.1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静态生存期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611560" y="1196752"/>
            <a:ext cx="7886700" cy="3763615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这种生存期与程序的运行期相同。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在文件作用域中声明的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对象（习惯称全局变量）具有</a:t>
            </a:r>
            <a:r>
              <a:rPr lang="zh-CN" altLang="en-US" sz="2400" b="1" dirty="0">
                <a:ea typeface="华文楷体" panose="02010600040101010101" pitchFamily="2" charset="-122"/>
              </a:rPr>
              <a:t>这种生存期。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在函数内部声明静态生存期对象，要冠以关键字</a:t>
            </a:r>
            <a:r>
              <a:rPr lang="en-US" altLang="zh-CN" sz="2400" b="1" dirty="0">
                <a:ea typeface="华文楷体" panose="02010600040101010101" pitchFamily="2" charset="-122"/>
              </a:rPr>
              <a:t>static 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。静态局部变量具有全局寿命，局部可见性。</a:t>
            </a:r>
            <a:br>
              <a:rPr lang="en-US" altLang="zh-CN" sz="2400" b="1" dirty="0" smtClean="0">
                <a:ea typeface="华文楷体" panose="02010600040101010101" pitchFamily="2" charset="-122"/>
              </a:rPr>
            </a:br>
            <a:r>
              <a:rPr lang="zh-CN" altLang="en-US" sz="2400" b="1" dirty="0" smtClean="0">
                <a:ea typeface="华文楷体" panose="02010600040101010101" pitchFamily="2" charset="-122"/>
              </a:rPr>
              <a:t>例如：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static </a:t>
            </a:r>
            <a:r>
              <a:rPr lang="en-US" altLang="zh-CN" sz="2400" b="1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b="1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;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静态生存期的变量未被初始化时，会被以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0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值初始化。</a:t>
            </a:r>
            <a:endParaRPr lang="zh-CN" altLang="en-US" sz="24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5.2.2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动态生存期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611560" y="1700808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块作用域中声明的，没有用</a:t>
            </a:r>
            <a:r>
              <a:rPr lang="en-US" altLang="zh-CN" sz="2800" b="1" dirty="0">
                <a:ea typeface="华文楷体" panose="02010600040101010101" pitchFamily="2" charset="-122"/>
              </a:rPr>
              <a:t>static</a:t>
            </a:r>
            <a:r>
              <a:rPr lang="zh-CN" altLang="en-US" sz="2800" b="1" dirty="0">
                <a:ea typeface="华文楷体" panose="02010600040101010101" pitchFamily="2" charset="-122"/>
              </a:rPr>
              <a:t>修饰的对象是动态生存期的对象（习惯称局部生存期对象）。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开始于程序执行到声明点时，结束于命名该标识符的作用域结束处</a:t>
            </a:r>
            <a:r>
              <a:rPr lang="zh-CN" altLang="en-US" sz="2800" b="1" dirty="0" smtClean="0">
                <a:ea typeface="华文楷体" panose="02010600040101010101" pitchFamily="2" charset="-122"/>
              </a:rPr>
              <a:t>。</a:t>
            </a:r>
            <a:endParaRPr lang="en-US" altLang="zh-CN" sz="28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局部生存期变量不指定初值时，初值将不确定。</a:t>
            </a:r>
            <a:endParaRPr lang="zh-CN" altLang="en-US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例</a:t>
            </a:r>
            <a:r>
              <a:rPr lang="en-US" altLang="zh-CN" b="1" smtClean="0"/>
              <a:t>5-2</a:t>
            </a:r>
            <a:r>
              <a:rPr lang="zh-CN" altLang="en-US" b="1" smtClean="0"/>
              <a:t> 变量的生存期与可见性</a:t>
            </a:r>
            <a:endParaRPr lang="zh-CN" altLang="en-US" b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7886700" cy="4708981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#include&lt;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std;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1; </a:t>
            </a:r>
            <a:r>
              <a:rPr kumimoji="0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// 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为全局变量，具有静态生存期。</a:t>
            </a:r>
            <a:endParaRPr kumimoji="0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other() {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static 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 = 2;</a:t>
            </a:r>
            <a:endParaRPr kumimoji="0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static 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b;</a:t>
            </a:r>
            <a:endParaRPr kumimoji="0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// 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a,b</a:t>
            </a:r>
            <a:r>
              <a:rPr kumimoji="0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为静态局部变量，具有全局寿命，局部可见。</a:t>
            </a:r>
            <a:endParaRPr kumimoji="0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只第一次进入函数时被初始化。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c = 10; 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// c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局部变量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，具有动态生存期，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每次进入函数时都初始化。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 += 2;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+= 32; c += 5;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&lt;&lt;"---OTHER---\n";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: "&lt;&lt;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 a: "&lt;&lt;a&lt;&lt;" b: "&lt;&lt;b&lt;&lt;" c: "&lt;&lt;c&lt;&lt;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b = a;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313" y="500063"/>
            <a:ext cx="8929687" cy="4524315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main()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static 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</a:t>
            </a:r>
            <a:r>
              <a:rPr kumimoji="0"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	//</a:t>
            </a:r>
            <a:r>
              <a:rPr kumimoji="0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静态局部变量，有全局寿命，局部可见。</a:t>
            </a:r>
            <a:endParaRPr kumimoji="0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b = -10; 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// 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b, c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为局部变量，具有动态生存期。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c =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"---MAIN---\n";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 i: "&lt;&lt;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 a: "&lt;&lt;a&lt;&lt;" b: "&lt;&lt;b&lt;&lt;" c: "&lt;&lt;c&lt;&lt;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c += 8; other();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&lt;&lt;"---MAIN---\n";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: "&lt;&lt;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 a: "&lt;&lt;a&lt;&lt;" b: "&lt;&lt;b&lt;&lt;" c: "&lt;&lt;c&lt;&lt;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+= 10; other();  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7653" name="标题 1"/>
          <p:cNvSpPr>
            <a:spLocks noGrp="1"/>
          </p:cNvSpPr>
          <p:nvPr>
            <p:ph type="title"/>
          </p:nvPr>
        </p:nvSpPr>
        <p:spPr>
          <a:xfrm>
            <a:off x="6572250" y="5572125"/>
            <a:ext cx="2571750" cy="1066800"/>
          </a:xfrm>
          <a:solidFill>
            <a:schemeClr val="accent6">
              <a:lumMod val="50000"/>
            </a:schemeClr>
          </a:solidFill>
        </p:spPr>
        <p:txBody>
          <a:bodyPr/>
          <a:lstStyle/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5-2</a:t>
            </a:r>
            <a:r>
              <a:rPr lang="zh-CN" altLang="en-US" dirty="0" smtClean="0"/>
              <a:t> 续</a:t>
            </a: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solidFill>
            <a:srgbClr val="000000"/>
          </a:solidFill>
        </p:spPr>
        <p:txBody>
          <a:bodyPr>
            <a:noAutofit/>
          </a:bodyPr>
          <a:lstStyle/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运行结果：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---MAIN---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b="1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: 1 a: 0 b: -10 c: 0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---OTHER---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b="1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: 33 a: 4 b: 0 c: 15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---MAIN---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b="1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: 33 a: 0 b: -10 c: 8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---OTHER---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b="1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: 75 a: 6 b: 4 c: 15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endParaRPr lang="zh-CN" altLang="en-US" sz="2400" b="1" dirty="0">
              <a:ea typeface="华文楷体" panose="02010600040101010101" pitchFamily="2" charset="-122"/>
            </a:endParaRPr>
          </a:p>
        </p:txBody>
      </p:sp>
      <p:sp>
        <p:nvSpPr>
          <p:cNvPr id="28675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例</a:t>
            </a:r>
            <a:r>
              <a:rPr lang="en-US" altLang="zh-CN" b="1" smtClean="0"/>
              <a:t>5-2</a:t>
            </a:r>
            <a:r>
              <a:rPr lang="zh-CN" altLang="en-US" b="1" smtClean="0"/>
              <a:t>（续）</a:t>
            </a:r>
            <a:endParaRPr lang="zh-CN" altLang="en-US" b="1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sz="3200" b="1" dirty="0" smtClean="0"/>
              <a:t>例</a:t>
            </a:r>
            <a:r>
              <a:rPr lang="en-US" altLang="zh-CN" sz="3200" b="1" dirty="0" smtClean="0"/>
              <a:t>5-3</a:t>
            </a:r>
            <a:r>
              <a:rPr lang="zh-CN" altLang="en-US" sz="3200" b="1" dirty="0" smtClean="0"/>
              <a:t> 具有静态和动态生存期的时钟程序。</a:t>
            </a:r>
            <a:endParaRPr lang="zh-CN" altLang="en-US" sz="32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844824"/>
            <a:ext cx="7886700" cy="4093428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5_3.cpp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#include&lt;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std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Clock {	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时钟类定义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	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外部接口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Clock();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void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setTime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newH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newM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newS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);  </a:t>
            </a:r>
            <a:endParaRPr kumimoji="0"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三个形参均具有函数原型作用域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showTime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	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私有数据成员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hour, minute, second;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sz="3200" b="1" dirty="0" smtClean="0"/>
              <a:t>例</a:t>
            </a:r>
            <a:r>
              <a:rPr lang="en-US" altLang="zh-CN" sz="3200" b="1" dirty="0" smtClean="0"/>
              <a:t>5-3</a:t>
            </a:r>
            <a:r>
              <a:rPr lang="zh-CN" altLang="en-US" sz="3200" b="1" dirty="0" smtClean="0"/>
              <a:t> 具有静态和动态生存期的时钟程序。</a:t>
            </a:r>
            <a:endParaRPr lang="zh-CN" altLang="en-US" sz="3200" b="1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268760"/>
            <a:ext cx="7886700" cy="5324535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时钟类成员函数实现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Clock::Clock() : hour(0), minute(0), second(0) { }	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构造函数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Clock::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setTime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newH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newM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newS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kumimoji="0"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三个形参均具有局部作用域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hour =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newH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minute =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newM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second =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newS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Clock::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showTime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hour &lt;&lt; ":" &lt;&lt; minute &lt;&lt; ":" &lt;&lt; second &lt;&lt;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Clock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globClock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  </a:t>
            </a:r>
            <a:endParaRPr kumimoji="0"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声明对象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globClock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，具有静态生存期，命名空间作用域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由缺省构造函数初始化为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0:0:0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576" y="260648"/>
            <a:ext cx="8929687" cy="5632311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main() {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主函数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"First time output:"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	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引用具有命名空间作用域的对象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globClock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globClock.showTime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对象的成员函数具有类作用域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显示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0:0:0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globClock.setTime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(8,30,30);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将时间设置为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8:30:30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Clock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myClock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globClock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);//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声明具有局部作用域的对象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myClock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调用拷贝构造函数，以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globClock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为初始值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&lt;&lt;"Second time output:"&lt;&lt;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	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myClock.showTime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引用具有局部作用域的对象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myClock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8:30:30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7653" name="标题 1"/>
          <p:cNvSpPr>
            <a:spLocks noGrp="1"/>
          </p:cNvSpPr>
          <p:nvPr>
            <p:ph type="title"/>
          </p:nvPr>
        </p:nvSpPr>
        <p:spPr>
          <a:xfrm>
            <a:off x="6572250" y="5572125"/>
            <a:ext cx="2571750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5-3</a:t>
            </a:r>
            <a:r>
              <a:rPr lang="zh-CN" altLang="en-US" dirty="0" smtClean="0"/>
              <a:t> 续</a:t>
            </a: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539479"/>
          </a:xfrm>
          <a:solidFill>
            <a:srgbClr val="000000"/>
          </a:solidFill>
        </p:spPr>
        <p:txBody>
          <a:bodyPr>
            <a:noAutofit/>
          </a:bodyPr>
          <a:lstStyle/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运行结果：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First time output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：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0:0:0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Second time output: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8:30:30</a:t>
            </a:r>
            <a:endParaRPr lang="zh-CN" altLang="en-US" sz="2400" b="1" dirty="0">
              <a:ea typeface="华文楷体" panose="02010600040101010101" pitchFamily="2" charset="-122"/>
            </a:endParaRPr>
          </a:p>
        </p:txBody>
      </p:sp>
      <p:sp>
        <p:nvSpPr>
          <p:cNvPr id="28675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例</a:t>
            </a:r>
            <a:r>
              <a:rPr lang="en-US" altLang="zh-CN" b="1" dirty="0" smtClean="0"/>
              <a:t>5-3</a:t>
            </a:r>
            <a:r>
              <a:rPr lang="zh-CN" altLang="en-US" b="1" dirty="0" smtClean="0"/>
              <a:t>（续）</a:t>
            </a:r>
            <a:endParaRPr lang="zh-CN" altLang="en-US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2057400"/>
            <a:ext cx="8712968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buFont typeface="+mj-lt"/>
              <a:buAutoNum type="arabicPeriod" startAt="3"/>
            </a:pPr>
            <a:r>
              <a:rPr lang="zh-CN" altLang="en-US" sz="6000" b="1" dirty="0" smtClean="0">
                <a:ea typeface="华文彩云" panose="02010800040101010101" pitchFamily="2" charset="-122"/>
              </a:rPr>
              <a:t>类的静态成员</a:t>
            </a:r>
            <a:endParaRPr lang="zh-CN" altLang="en-US" sz="6000" dirty="0"/>
          </a:p>
        </p:txBody>
      </p:sp>
      <p:grpSp>
        <p:nvGrpSpPr>
          <p:cNvPr id="642052" name="Group 4"/>
          <p:cNvGrpSpPr/>
          <p:nvPr/>
        </p:nvGrpSpPr>
        <p:grpSpPr bwMode="auto">
          <a:xfrm>
            <a:off x="5181600" y="4800600"/>
            <a:ext cx="2438400" cy="1219200"/>
            <a:chOff x="2358" y="2934"/>
            <a:chExt cx="450" cy="283"/>
          </a:xfrm>
        </p:grpSpPr>
        <p:grpSp>
          <p:nvGrpSpPr>
            <p:cNvPr id="642053" name="Group 5"/>
            <p:cNvGrpSpPr/>
            <p:nvPr/>
          </p:nvGrpSpPr>
          <p:grpSpPr bwMode="auto">
            <a:xfrm>
              <a:off x="2401" y="2996"/>
              <a:ext cx="407" cy="221"/>
              <a:chOff x="2401" y="2996"/>
              <a:chExt cx="407" cy="221"/>
            </a:xfrm>
          </p:grpSpPr>
          <p:grpSp>
            <p:nvGrpSpPr>
              <p:cNvPr id="642054" name="Group 6"/>
              <p:cNvGrpSpPr/>
              <p:nvPr/>
            </p:nvGrpSpPr>
            <p:grpSpPr bwMode="auto">
              <a:xfrm>
                <a:off x="2733" y="3096"/>
                <a:ext cx="75" cy="121"/>
                <a:chOff x="2733" y="3096"/>
                <a:chExt cx="75" cy="121"/>
              </a:xfrm>
            </p:grpSpPr>
            <p:sp>
              <p:nvSpPr>
                <p:cNvPr id="642055" name="Freeform 7"/>
                <p:cNvSpPr/>
                <p:nvPr/>
              </p:nvSpPr>
              <p:spPr bwMode="auto">
                <a:xfrm>
                  <a:off x="2733" y="3096"/>
                  <a:ext cx="75" cy="121"/>
                </a:xfrm>
                <a:custGeom>
                  <a:avLst/>
                  <a:gdLst>
                    <a:gd name="T0" fmla="*/ 531 w 531"/>
                    <a:gd name="T1" fmla="*/ 54 h 967"/>
                    <a:gd name="T2" fmla="*/ 531 w 531"/>
                    <a:gd name="T3" fmla="*/ 967 h 967"/>
                    <a:gd name="T4" fmla="*/ 154 w 531"/>
                    <a:gd name="T5" fmla="*/ 967 h 967"/>
                    <a:gd name="T6" fmla="*/ 0 w 531"/>
                    <a:gd name="T7" fmla="*/ 330 h 967"/>
                    <a:gd name="T8" fmla="*/ 120 w 531"/>
                    <a:gd name="T9" fmla="*/ 0 h 967"/>
                    <a:gd name="T10" fmla="*/ 531 w 531"/>
                    <a:gd name="T11" fmla="*/ 54 h 9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31" h="967">
                      <a:moveTo>
                        <a:pt x="531" y="54"/>
                      </a:moveTo>
                      <a:lnTo>
                        <a:pt x="531" y="967"/>
                      </a:lnTo>
                      <a:lnTo>
                        <a:pt x="154" y="967"/>
                      </a:lnTo>
                      <a:lnTo>
                        <a:pt x="0" y="330"/>
                      </a:lnTo>
                      <a:lnTo>
                        <a:pt x="120" y="0"/>
                      </a:lnTo>
                      <a:lnTo>
                        <a:pt x="531" y="54"/>
                      </a:lnTo>
                      <a:close/>
                    </a:path>
                  </a:pathLst>
                </a:custGeom>
                <a:solidFill>
                  <a:srgbClr val="A04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56" name="Freeform 8"/>
                <p:cNvSpPr/>
                <p:nvPr/>
              </p:nvSpPr>
              <p:spPr bwMode="auto">
                <a:xfrm>
                  <a:off x="2739" y="3106"/>
                  <a:ext cx="36" cy="111"/>
                </a:xfrm>
                <a:custGeom>
                  <a:avLst/>
                  <a:gdLst>
                    <a:gd name="T0" fmla="*/ 55 w 253"/>
                    <a:gd name="T1" fmla="*/ 142 h 889"/>
                    <a:gd name="T2" fmla="*/ 121 w 253"/>
                    <a:gd name="T3" fmla="*/ 209 h 889"/>
                    <a:gd name="T4" fmla="*/ 146 w 253"/>
                    <a:gd name="T5" fmla="*/ 232 h 889"/>
                    <a:gd name="T6" fmla="*/ 181 w 253"/>
                    <a:gd name="T7" fmla="*/ 0 h 889"/>
                    <a:gd name="T8" fmla="*/ 175 w 253"/>
                    <a:gd name="T9" fmla="*/ 256 h 889"/>
                    <a:gd name="T10" fmla="*/ 242 w 253"/>
                    <a:gd name="T11" fmla="*/ 360 h 889"/>
                    <a:gd name="T12" fmla="*/ 235 w 253"/>
                    <a:gd name="T13" fmla="*/ 683 h 889"/>
                    <a:gd name="T14" fmla="*/ 253 w 253"/>
                    <a:gd name="T15" fmla="*/ 889 h 889"/>
                    <a:gd name="T16" fmla="*/ 36 w 253"/>
                    <a:gd name="T17" fmla="*/ 889 h 889"/>
                    <a:gd name="T18" fmla="*/ 0 w 253"/>
                    <a:gd name="T19" fmla="*/ 383 h 889"/>
                    <a:gd name="T20" fmla="*/ 55 w 253"/>
                    <a:gd name="T21" fmla="*/ 142 h 8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53" h="889">
                      <a:moveTo>
                        <a:pt x="55" y="142"/>
                      </a:moveTo>
                      <a:lnTo>
                        <a:pt x="121" y="209"/>
                      </a:lnTo>
                      <a:lnTo>
                        <a:pt x="146" y="232"/>
                      </a:lnTo>
                      <a:lnTo>
                        <a:pt x="181" y="0"/>
                      </a:lnTo>
                      <a:lnTo>
                        <a:pt x="175" y="256"/>
                      </a:lnTo>
                      <a:lnTo>
                        <a:pt x="242" y="360"/>
                      </a:lnTo>
                      <a:lnTo>
                        <a:pt x="235" y="683"/>
                      </a:lnTo>
                      <a:lnTo>
                        <a:pt x="253" y="889"/>
                      </a:lnTo>
                      <a:lnTo>
                        <a:pt x="36" y="889"/>
                      </a:lnTo>
                      <a:lnTo>
                        <a:pt x="0" y="383"/>
                      </a:lnTo>
                      <a:lnTo>
                        <a:pt x="55" y="142"/>
                      </a:lnTo>
                      <a:close/>
                    </a:path>
                  </a:pathLst>
                </a:custGeom>
                <a:solidFill>
                  <a:srgbClr val="600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57" name="Freeform 9"/>
                <p:cNvSpPr/>
                <p:nvPr/>
              </p:nvSpPr>
              <p:spPr bwMode="auto">
                <a:xfrm>
                  <a:off x="2785" y="3107"/>
                  <a:ext cx="22" cy="110"/>
                </a:xfrm>
                <a:custGeom>
                  <a:avLst/>
                  <a:gdLst>
                    <a:gd name="T0" fmla="*/ 18 w 152"/>
                    <a:gd name="T1" fmla="*/ 0 h 883"/>
                    <a:gd name="T2" fmla="*/ 6 w 152"/>
                    <a:gd name="T3" fmla="*/ 179 h 883"/>
                    <a:gd name="T4" fmla="*/ 0 w 152"/>
                    <a:gd name="T5" fmla="*/ 287 h 883"/>
                    <a:gd name="T6" fmla="*/ 29 w 152"/>
                    <a:gd name="T7" fmla="*/ 305 h 883"/>
                    <a:gd name="T8" fmla="*/ 40 w 152"/>
                    <a:gd name="T9" fmla="*/ 546 h 883"/>
                    <a:gd name="T10" fmla="*/ 90 w 152"/>
                    <a:gd name="T11" fmla="*/ 768 h 883"/>
                    <a:gd name="T12" fmla="*/ 109 w 152"/>
                    <a:gd name="T13" fmla="*/ 883 h 883"/>
                    <a:gd name="T14" fmla="*/ 136 w 152"/>
                    <a:gd name="T15" fmla="*/ 883 h 883"/>
                    <a:gd name="T16" fmla="*/ 138 w 152"/>
                    <a:gd name="T17" fmla="*/ 762 h 883"/>
                    <a:gd name="T18" fmla="*/ 152 w 152"/>
                    <a:gd name="T19" fmla="*/ 647 h 883"/>
                    <a:gd name="T20" fmla="*/ 133 w 152"/>
                    <a:gd name="T21" fmla="*/ 510 h 883"/>
                    <a:gd name="T22" fmla="*/ 102 w 152"/>
                    <a:gd name="T23" fmla="*/ 445 h 883"/>
                    <a:gd name="T24" fmla="*/ 78 w 152"/>
                    <a:gd name="T25" fmla="*/ 402 h 883"/>
                    <a:gd name="T26" fmla="*/ 53 w 152"/>
                    <a:gd name="T27" fmla="*/ 239 h 883"/>
                    <a:gd name="T28" fmla="*/ 18 w 152"/>
                    <a:gd name="T29" fmla="*/ 0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52" h="883">
                      <a:moveTo>
                        <a:pt x="18" y="0"/>
                      </a:moveTo>
                      <a:lnTo>
                        <a:pt x="6" y="179"/>
                      </a:lnTo>
                      <a:lnTo>
                        <a:pt x="0" y="287"/>
                      </a:lnTo>
                      <a:lnTo>
                        <a:pt x="29" y="305"/>
                      </a:lnTo>
                      <a:lnTo>
                        <a:pt x="40" y="546"/>
                      </a:lnTo>
                      <a:lnTo>
                        <a:pt x="90" y="768"/>
                      </a:lnTo>
                      <a:lnTo>
                        <a:pt x="109" y="883"/>
                      </a:lnTo>
                      <a:lnTo>
                        <a:pt x="136" y="883"/>
                      </a:lnTo>
                      <a:lnTo>
                        <a:pt x="138" y="762"/>
                      </a:lnTo>
                      <a:lnTo>
                        <a:pt x="152" y="647"/>
                      </a:lnTo>
                      <a:lnTo>
                        <a:pt x="133" y="510"/>
                      </a:lnTo>
                      <a:lnTo>
                        <a:pt x="102" y="445"/>
                      </a:lnTo>
                      <a:lnTo>
                        <a:pt x="78" y="402"/>
                      </a:lnTo>
                      <a:lnTo>
                        <a:pt x="53" y="239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600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58" name="Freeform 10"/>
                <p:cNvSpPr/>
                <p:nvPr/>
              </p:nvSpPr>
              <p:spPr bwMode="auto">
                <a:xfrm>
                  <a:off x="2791" y="3100"/>
                  <a:ext cx="13" cy="53"/>
                </a:xfrm>
                <a:custGeom>
                  <a:avLst/>
                  <a:gdLst>
                    <a:gd name="T0" fmla="*/ 0 w 90"/>
                    <a:gd name="T1" fmla="*/ 79 h 425"/>
                    <a:gd name="T2" fmla="*/ 90 w 90"/>
                    <a:gd name="T3" fmla="*/ 425 h 425"/>
                    <a:gd name="T4" fmla="*/ 13 w 90"/>
                    <a:gd name="T5" fmla="*/ 0 h 425"/>
                    <a:gd name="T6" fmla="*/ 0 w 90"/>
                    <a:gd name="T7" fmla="*/ 79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0" h="425">
                      <a:moveTo>
                        <a:pt x="0" y="79"/>
                      </a:moveTo>
                      <a:lnTo>
                        <a:pt x="90" y="425"/>
                      </a:lnTo>
                      <a:lnTo>
                        <a:pt x="13" y="0"/>
                      </a:lnTo>
                      <a:lnTo>
                        <a:pt x="0" y="79"/>
                      </a:lnTo>
                      <a:close/>
                    </a:path>
                  </a:pathLst>
                </a:custGeom>
                <a:solidFill>
                  <a:srgbClr val="600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59" name="Freeform 11"/>
                <p:cNvSpPr/>
                <p:nvPr/>
              </p:nvSpPr>
              <p:spPr bwMode="auto">
                <a:xfrm>
                  <a:off x="2775" y="3110"/>
                  <a:ext cx="20" cy="107"/>
                </a:xfrm>
                <a:custGeom>
                  <a:avLst/>
                  <a:gdLst>
                    <a:gd name="T0" fmla="*/ 18 w 140"/>
                    <a:gd name="T1" fmla="*/ 0 h 859"/>
                    <a:gd name="T2" fmla="*/ 31 w 140"/>
                    <a:gd name="T3" fmla="*/ 232 h 859"/>
                    <a:gd name="T4" fmla="*/ 42 w 140"/>
                    <a:gd name="T5" fmla="*/ 366 h 859"/>
                    <a:gd name="T6" fmla="*/ 74 w 140"/>
                    <a:gd name="T7" fmla="*/ 402 h 859"/>
                    <a:gd name="T8" fmla="*/ 87 w 140"/>
                    <a:gd name="T9" fmla="*/ 462 h 859"/>
                    <a:gd name="T10" fmla="*/ 140 w 140"/>
                    <a:gd name="T11" fmla="*/ 859 h 859"/>
                    <a:gd name="T12" fmla="*/ 37 w 140"/>
                    <a:gd name="T13" fmla="*/ 856 h 859"/>
                    <a:gd name="T14" fmla="*/ 0 w 140"/>
                    <a:gd name="T15" fmla="*/ 421 h 859"/>
                    <a:gd name="T16" fmla="*/ 6 w 140"/>
                    <a:gd name="T17" fmla="*/ 179 h 859"/>
                    <a:gd name="T18" fmla="*/ 18 w 140"/>
                    <a:gd name="T19" fmla="*/ 0 h 8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0" h="859">
                      <a:moveTo>
                        <a:pt x="18" y="0"/>
                      </a:moveTo>
                      <a:lnTo>
                        <a:pt x="31" y="232"/>
                      </a:lnTo>
                      <a:lnTo>
                        <a:pt x="42" y="366"/>
                      </a:lnTo>
                      <a:lnTo>
                        <a:pt x="74" y="402"/>
                      </a:lnTo>
                      <a:lnTo>
                        <a:pt x="87" y="462"/>
                      </a:lnTo>
                      <a:lnTo>
                        <a:pt x="140" y="859"/>
                      </a:lnTo>
                      <a:lnTo>
                        <a:pt x="37" y="856"/>
                      </a:lnTo>
                      <a:lnTo>
                        <a:pt x="0" y="421"/>
                      </a:lnTo>
                      <a:lnTo>
                        <a:pt x="6" y="179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600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60" name="Freeform 12"/>
                <p:cNvSpPr/>
                <p:nvPr/>
              </p:nvSpPr>
              <p:spPr bwMode="auto">
                <a:xfrm>
                  <a:off x="2794" y="3105"/>
                  <a:ext cx="13" cy="51"/>
                </a:xfrm>
                <a:custGeom>
                  <a:avLst/>
                  <a:gdLst>
                    <a:gd name="T0" fmla="*/ 0 w 90"/>
                    <a:gd name="T1" fmla="*/ 17 h 407"/>
                    <a:gd name="T2" fmla="*/ 45 w 90"/>
                    <a:gd name="T3" fmla="*/ 217 h 407"/>
                    <a:gd name="T4" fmla="*/ 90 w 90"/>
                    <a:gd name="T5" fmla="*/ 407 h 407"/>
                    <a:gd name="T6" fmla="*/ 70 w 90"/>
                    <a:gd name="T7" fmla="*/ 0 h 407"/>
                    <a:gd name="T8" fmla="*/ 0 w 90"/>
                    <a:gd name="T9" fmla="*/ 17 h 4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07">
                      <a:moveTo>
                        <a:pt x="0" y="17"/>
                      </a:moveTo>
                      <a:lnTo>
                        <a:pt x="45" y="217"/>
                      </a:lnTo>
                      <a:lnTo>
                        <a:pt x="90" y="407"/>
                      </a:lnTo>
                      <a:lnTo>
                        <a:pt x="70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06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61" name="Freeform 13"/>
                <p:cNvSpPr/>
                <p:nvPr/>
              </p:nvSpPr>
              <p:spPr bwMode="auto">
                <a:xfrm>
                  <a:off x="2796" y="3163"/>
                  <a:ext cx="9" cy="54"/>
                </a:xfrm>
                <a:custGeom>
                  <a:avLst/>
                  <a:gdLst>
                    <a:gd name="T0" fmla="*/ 0 w 65"/>
                    <a:gd name="T1" fmla="*/ 0 h 431"/>
                    <a:gd name="T2" fmla="*/ 26 w 65"/>
                    <a:gd name="T3" fmla="*/ 187 h 431"/>
                    <a:gd name="T4" fmla="*/ 52 w 65"/>
                    <a:gd name="T5" fmla="*/ 393 h 431"/>
                    <a:gd name="T6" fmla="*/ 65 w 65"/>
                    <a:gd name="T7" fmla="*/ 431 h 431"/>
                    <a:gd name="T8" fmla="*/ 65 w 65"/>
                    <a:gd name="T9" fmla="*/ 296 h 431"/>
                    <a:gd name="T10" fmla="*/ 59 w 65"/>
                    <a:gd name="T11" fmla="*/ 175 h 431"/>
                    <a:gd name="T12" fmla="*/ 39 w 65"/>
                    <a:gd name="T13" fmla="*/ 91 h 431"/>
                    <a:gd name="T14" fmla="*/ 0 w 65"/>
                    <a:gd name="T15" fmla="*/ 0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5" h="431">
                      <a:moveTo>
                        <a:pt x="0" y="0"/>
                      </a:moveTo>
                      <a:lnTo>
                        <a:pt x="26" y="187"/>
                      </a:lnTo>
                      <a:lnTo>
                        <a:pt x="52" y="393"/>
                      </a:lnTo>
                      <a:lnTo>
                        <a:pt x="65" y="431"/>
                      </a:lnTo>
                      <a:lnTo>
                        <a:pt x="65" y="296"/>
                      </a:lnTo>
                      <a:lnTo>
                        <a:pt x="59" y="175"/>
                      </a:lnTo>
                      <a:lnTo>
                        <a:pt x="39" y="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A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62" name="Freeform 14"/>
                <p:cNvSpPr/>
                <p:nvPr/>
              </p:nvSpPr>
              <p:spPr bwMode="auto">
                <a:xfrm>
                  <a:off x="2773" y="3108"/>
                  <a:ext cx="6" cy="47"/>
                </a:xfrm>
                <a:custGeom>
                  <a:avLst/>
                  <a:gdLst>
                    <a:gd name="T0" fmla="*/ 42 w 42"/>
                    <a:gd name="T1" fmla="*/ 0 h 372"/>
                    <a:gd name="T2" fmla="*/ 28 w 42"/>
                    <a:gd name="T3" fmla="*/ 206 h 372"/>
                    <a:gd name="T4" fmla="*/ 28 w 42"/>
                    <a:gd name="T5" fmla="*/ 372 h 372"/>
                    <a:gd name="T6" fmla="*/ 0 w 42"/>
                    <a:gd name="T7" fmla="*/ 262 h 372"/>
                    <a:gd name="T8" fmla="*/ 42 w 42"/>
                    <a:gd name="T9" fmla="*/ 0 h 3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72">
                      <a:moveTo>
                        <a:pt x="42" y="0"/>
                      </a:moveTo>
                      <a:lnTo>
                        <a:pt x="28" y="206"/>
                      </a:lnTo>
                      <a:lnTo>
                        <a:pt x="28" y="372"/>
                      </a:lnTo>
                      <a:lnTo>
                        <a:pt x="0" y="262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E0A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63" name="Freeform 15"/>
                <p:cNvSpPr/>
                <p:nvPr/>
              </p:nvSpPr>
              <p:spPr bwMode="auto">
                <a:xfrm>
                  <a:off x="2774" y="3161"/>
                  <a:ext cx="11" cy="56"/>
                </a:xfrm>
                <a:custGeom>
                  <a:avLst/>
                  <a:gdLst>
                    <a:gd name="T0" fmla="*/ 13 w 78"/>
                    <a:gd name="T1" fmla="*/ 0 h 449"/>
                    <a:gd name="T2" fmla="*/ 32 w 78"/>
                    <a:gd name="T3" fmla="*/ 181 h 449"/>
                    <a:gd name="T4" fmla="*/ 46 w 78"/>
                    <a:gd name="T5" fmla="*/ 309 h 449"/>
                    <a:gd name="T6" fmla="*/ 78 w 78"/>
                    <a:gd name="T7" fmla="*/ 449 h 449"/>
                    <a:gd name="T8" fmla="*/ 39 w 78"/>
                    <a:gd name="T9" fmla="*/ 449 h 449"/>
                    <a:gd name="T10" fmla="*/ 7 w 78"/>
                    <a:gd name="T11" fmla="*/ 255 h 449"/>
                    <a:gd name="T12" fmla="*/ 0 w 78"/>
                    <a:gd name="T13" fmla="*/ 120 h 449"/>
                    <a:gd name="T14" fmla="*/ 13 w 78"/>
                    <a:gd name="T15" fmla="*/ 0 h 4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8" h="449">
                      <a:moveTo>
                        <a:pt x="13" y="0"/>
                      </a:moveTo>
                      <a:lnTo>
                        <a:pt x="32" y="181"/>
                      </a:lnTo>
                      <a:lnTo>
                        <a:pt x="46" y="309"/>
                      </a:lnTo>
                      <a:lnTo>
                        <a:pt x="78" y="449"/>
                      </a:lnTo>
                      <a:lnTo>
                        <a:pt x="39" y="449"/>
                      </a:lnTo>
                      <a:lnTo>
                        <a:pt x="7" y="255"/>
                      </a:lnTo>
                      <a:lnTo>
                        <a:pt x="0" y="120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E0A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64" name="Freeform 16"/>
                <p:cNvSpPr/>
                <p:nvPr/>
              </p:nvSpPr>
              <p:spPr bwMode="auto">
                <a:xfrm>
                  <a:off x="2755" y="3172"/>
                  <a:ext cx="12" cy="45"/>
                </a:xfrm>
                <a:custGeom>
                  <a:avLst/>
                  <a:gdLst>
                    <a:gd name="T0" fmla="*/ 0 w 84"/>
                    <a:gd name="T1" fmla="*/ 0 h 359"/>
                    <a:gd name="T2" fmla="*/ 59 w 84"/>
                    <a:gd name="T3" fmla="*/ 221 h 359"/>
                    <a:gd name="T4" fmla="*/ 84 w 84"/>
                    <a:gd name="T5" fmla="*/ 359 h 359"/>
                    <a:gd name="T6" fmla="*/ 0 w 84"/>
                    <a:gd name="T7" fmla="*/ 0 h 3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4" h="359">
                      <a:moveTo>
                        <a:pt x="0" y="0"/>
                      </a:moveTo>
                      <a:lnTo>
                        <a:pt x="59" y="221"/>
                      </a:lnTo>
                      <a:lnTo>
                        <a:pt x="84" y="3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A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65" name="Freeform 17"/>
                <p:cNvSpPr/>
                <p:nvPr/>
              </p:nvSpPr>
              <p:spPr bwMode="auto">
                <a:xfrm>
                  <a:off x="2789" y="3113"/>
                  <a:ext cx="9" cy="49"/>
                </a:xfrm>
                <a:custGeom>
                  <a:avLst/>
                  <a:gdLst>
                    <a:gd name="T0" fmla="*/ 0 w 61"/>
                    <a:gd name="T1" fmla="*/ 0 h 390"/>
                    <a:gd name="T2" fmla="*/ 13 w 61"/>
                    <a:gd name="T3" fmla="*/ 163 h 390"/>
                    <a:gd name="T4" fmla="*/ 40 w 61"/>
                    <a:gd name="T5" fmla="*/ 292 h 390"/>
                    <a:gd name="T6" fmla="*/ 61 w 61"/>
                    <a:gd name="T7" fmla="*/ 390 h 390"/>
                    <a:gd name="T8" fmla="*/ 54 w 61"/>
                    <a:gd name="T9" fmla="*/ 219 h 390"/>
                    <a:gd name="T10" fmla="*/ 40 w 61"/>
                    <a:gd name="T11" fmla="*/ 127 h 390"/>
                    <a:gd name="T12" fmla="*/ 0 w 61"/>
                    <a:gd name="T13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1" h="390">
                      <a:moveTo>
                        <a:pt x="0" y="0"/>
                      </a:moveTo>
                      <a:lnTo>
                        <a:pt x="13" y="163"/>
                      </a:lnTo>
                      <a:lnTo>
                        <a:pt x="40" y="292"/>
                      </a:lnTo>
                      <a:lnTo>
                        <a:pt x="61" y="390"/>
                      </a:lnTo>
                      <a:lnTo>
                        <a:pt x="54" y="219"/>
                      </a:lnTo>
                      <a:lnTo>
                        <a:pt x="40" y="1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6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066" name="Freeform 18"/>
                <p:cNvSpPr/>
                <p:nvPr/>
              </p:nvSpPr>
              <p:spPr bwMode="auto">
                <a:xfrm>
                  <a:off x="2754" y="3108"/>
                  <a:ext cx="11" cy="56"/>
                </a:xfrm>
                <a:custGeom>
                  <a:avLst/>
                  <a:gdLst>
                    <a:gd name="T0" fmla="*/ 72 w 72"/>
                    <a:gd name="T1" fmla="*/ 0 h 449"/>
                    <a:gd name="T2" fmla="*/ 53 w 72"/>
                    <a:gd name="T3" fmla="*/ 133 h 449"/>
                    <a:gd name="T4" fmla="*/ 46 w 72"/>
                    <a:gd name="T5" fmla="*/ 247 h 449"/>
                    <a:gd name="T6" fmla="*/ 34 w 72"/>
                    <a:gd name="T7" fmla="*/ 371 h 449"/>
                    <a:gd name="T8" fmla="*/ 34 w 72"/>
                    <a:gd name="T9" fmla="*/ 449 h 449"/>
                    <a:gd name="T10" fmla="*/ 0 w 72"/>
                    <a:gd name="T11" fmla="*/ 279 h 449"/>
                    <a:gd name="T12" fmla="*/ 14 w 72"/>
                    <a:gd name="T13" fmla="*/ 151 h 449"/>
                    <a:gd name="T14" fmla="*/ 72 w 72"/>
                    <a:gd name="T15" fmla="*/ 0 h 4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2" h="449">
                      <a:moveTo>
                        <a:pt x="72" y="0"/>
                      </a:moveTo>
                      <a:lnTo>
                        <a:pt x="53" y="133"/>
                      </a:lnTo>
                      <a:lnTo>
                        <a:pt x="46" y="247"/>
                      </a:lnTo>
                      <a:lnTo>
                        <a:pt x="34" y="371"/>
                      </a:lnTo>
                      <a:lnTo>
                        <a:pt x="34" y="449"/>
                      </a:lnTo>
                      <a:lnTo>
                        <a:pt x="0" y="279"/>
                      </a:lnTo>
                      <a:lnTo>
                        <a:pt x="14" y="151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C06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2067" name="Group 19"/>
              <p:cNvGrpSpPr/>
              <p:nvPr/>
            </p:nvGrpSpPr>
            <p:grpSpPr bwMode="auto">
              <a:xfrm>
                <a:off x="2401" y="2996"/>
                <a:ext cx="365" cy="221"/>
                <a:chOff x="2401" y="2996"/>
                <a:chExt cx="365" cy="221"/>
              </a:xfrm>
            </p:grpSpPr>
            <p:sp>
              <p:nvSpPr>
                <p:cNvPr id="642068" name="Freeform 20"/>
                <p:cNvSpPr/>
                <p:nvPr/>
              </p:nvSpPr>
              <p:spPr bwMode="auto">
                <a:xfrm>
                  <a:off x="2401" y="3053"/>
                  <a:ext cx="365" cy="164"/>
                </a:xfrm>
                <a:custGeom>
                  <a:avLst/>
                  <a:gdLst>
                    <a:gd name="T0" fmla="*/ 0 w 2559"/>
                    <a:gd name="T1" fmla="*/ 1310 h 1310"/>
                    <a:gd name="T2" fmla="*/ 1081 w 2559"/>
                    <a:gd name="T3" fmla="*/ 0 h 1310"/>
                    <a:gd name="T4" fmla="*/ 2308 w 2559"/>
                    <a:gd name="T5" fmla="*/ 0 h 1310"/>
                    <a:gd name="T6" fmla="*/ 2559 w 2559"/>
                    <a:gd name="T7" fmla="*/ 1310 h 1310"/>
                    <a:gd name="T8" fmla="*/ 0 w 2559"/>
                    <a:gd name="T9" fmla="*/ 1310 h 1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59" h="1310">
                      <a:moveTo>
                        <a:pt x="0" y="1310"/>
                      </a:moveTo>
                      <a:lnTo>
                        <a:pt x="1081" y="0"/>
                      </a:lnTo>
                      <a:lnTo>
                        <a:pt x="2308" y="0"/>
                      </a:lnTo>
                      <a:lnTo>
                        <a:pt x="2559" y="1310"/>
                      </a:lnTo>
                      <a:lnTo>
                        <a:pt x="0" y="1310"/>
                      </a:lnTo>
                      <a:close/>
                    </a:path>
                  </a:pathLst>
                </a:custGeom>
                <a:solidFill>
                  <a:srgbClr val="A04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42069" name="Group 21"/>
                <p:cNvGrpSpPr/>
                <p:nvPr/>
              </p:nvGrpSpPr>
              <p:grpSpPr bwMode="auto">
                <a:xfrm>
                  <a:off x="2506" y="2996"/>
                  <a:ext cx="212" cy="221"/>
                  <a:chOff x="2506" y="2996"/>
                  <a:chExt cx="212" cy="221"/>
                </a:xfrm>
              </p:grpSpPr>
              <p:grpSp>
                <p:nvGrpSpPr>
                  <p:cNvPr id="642070" name="Group 22"/>
                  <p:cNvGrpSpPr/>
                  <p:nvPr/>
                </p:nvGrpSpPr>
                <p:grpSpPr bwMode="auto">
                  <a:xfrm>
                    <a:off x="2509" y="3148"/>
                    <a:ext cx="118" cy="69"/>
                    <a:chOff x="2509" y="3148"/>
                    <a:chExt cx="118" cy="69"/>
                  </a:xfrm>
                </p:grpSpPr>
                <p:sp>
                  <p:nvSpPr>
                    <p:cNvPr id="642071" name="Freeform 23"/>
                    <p:cNvSpPr/>
                    <p:nvPr/>
                  </p:nvSpPr>
                  <p:spPr bwMode="auto">
                    <a:xfrm>
                      <a:off x="2509" y="3148"/>
                      <a:ext cx="118" cy="69"/>
                    </a:xfrm>
                    <a:custGeom>
                      <a:avLst/>
                      <a:gdLst>
                        <a:gd name="T0" fmla="*/ 183 w 824"/>
                        <a:gd name="T1" fmla="*/ 0 h 550"/>
                        <a:gd name="T2" fmla="*/ 824 w 824"/>
                        <a:gd name="T3" fmla="*/ 0 h 550"/>
                        <a:gd name="T4" fmla="*/ 801 w 824"/>
                        <a:gd name="T5" fmla="*/ 550 h 550"/>
                        <a:gd name="T6" fmla="*/ 0 w 824"/>
                        <a:gd name="T7" fmla="*/ 550 h 550"/>
                        <a:gd name="T8" fmla="*/ 183 w 824"/>
                        <a:gd name="T9" fmla="*/ 0 h 5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4" h="550">
                          <a:moveTo>
                            <a:pt x="183" y="0"/>
                          </a:moveTo>
                          <a:lnTo>
                            <a:pt x="824" y="0"/>
                          </a:lnTo>
                          <a:lnTo>
                            <a:pt x="801" y="550"/>
                          </a:lnTo>
                          <a:lnTo>
                            <a:pt x="0" y="550"/>
                          </a:lnTo>
                          <a:lnTo>
                            <a:pt x="183" y="0"/>
                          </a:lnTo>
                          <a:close/>
                        </a:path>
                      </a:pathLst>
                    </a:custGeom>
                    <a:solidFill>
                      <a:srgbClr val="C0E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072" name="Freeform 24"/>
                    <p:cNvSpPr/>
                    <p:nvPr/>
                  </p:nvSpPr>
                  <p:spPr bwMode="auto">
                    <a:xfrm>
                      <a:off x="2532" y="3148"/>
                      <a:ext cx="95" cy="8"/>
                    </a:xfrm>
                    <a:custGeom>
                      <a:avLst/>
                      <a:gdLst>
                        <a:gd name="T0" fmla="*/ 17 w 661"/>
                        <a:gd name="T1" fmla="*/ 0 h 63"/>
                        <a:gd name="T2" fmla="*/ 0 w 661"/>
                        <a:gd name="T3" fmla="*/ 63 h 63"/>
                        <a:gd name="T4" fmla="*/ 659 w 661"/>
                        <a:gd name="T5" fmla="*/ 63 h 63"/>
                        <a:gd name="T6" fmla="*/ 661 w 661"/>
                        <a:gd name="T7" fmla="*/ 0 h 63"/>
                        <a:gd name="T8" fmla="*/ 17 w 661"/>
                        <a:gd name="T9" fmla="*/ 0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61" h="63">
                          <a:moveTo>
                            <a:pt x="17" y="0"/>
                          </a:moveTo>
                          <a:lnTo>
                            <a:pt x="0" y="63"/>
                          </a:lnTo>
                          <a:lnTo>
                            <a:pt x="659" y="63"/>
                          </a:lnTo>
                          <a:lnTo>
                            <a:pt x="661" y="0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642073" name="Group 25"/>
                  <p:cNvGrpSpPr/>
                  <p:nvPr/>
                </p:nvGrpSpPr>
                <p:grpSpPr bwMode="auto">
                  <a:xfrm>
                    <a:off x="2506" y="2996"/>
                    <a:ext cx="212" cy="148"/>
                    <a:chOff x="2506" y="2996"/>
                    <a:chExt cx="212" cy="148"/>
                  </a:xfrm>
                </p:grpSpPr>
                <p:grpSp>
                  <p:nvGrpSpPr>
                    <p:cNvPr id="642074" name="Group 26"/>
                    <p:cNvGrpSpPr/>
                    <p:nvPr/>
                  </p:nvGrpSpPr>
                  <p:grpSpPr bwMode="auto">
                    <a:xfrm>
                      <a:off x="2506" y="2996"/>
                      <a:ext cx="203" cy="135"/>
                      <a:chOff x="2506" y="2996"/>
                      <a:chExt cx="203" cy="135"/>
                    </a:xfrm>
                  </p:grpSpPr>
                  <p:grpSp>
                    <p:nvGrpSpPr>
                      <p:cNvPr id="642075" name="Group 27"/>
                      <p:cNvGrpSpPr/>
                      <p:nvPr/>
                    </p:nvGrpSpPr>
                    <p:grpSpPr bwMode="auto">
                      <a:xfrm>
                        <a:off x="2506" y="3042"/>
                        <a:ext cx="203" cy="89"/>
                        <a:chOff x="2506" y="3042"/>
                        <a:chExt cx="203" cy="89"/>
                      </a:xfrm>
                    </p:grpSpPr>
                    <p:grpSp>
                      <p:nvGrpSpPr>
                        <p:cNvPr id="642076" name="Group 28"/>
                        <p:cNvGrpSpPr/>
                        <p:nvPr/>
                      </p:nvGrpSpPr>
                      <p:grpSpPr bwMode="auto">
                        <a:xfrm>
                          <a:off x="2508" y="3042"/>
                          <a:ext cx="201" cy="89"/>
                          <a:chOff x="2508" y="3042"/>
                          <a:chExt cx="201" cy="89"/>
                        </a:xfrm>
                      </p:grpSpPr>
                      <p:sp>
                        <p:nvSpPr>
                          <p:cNvPr id="642077" name="Freeform 29"/>
                          <p:cNvSpPr/>
                          <p:nvPr/>
                        </p:nvSpPr>
                        <p:spPr bwMode="auto">
                          <a:xfrm>
                            <a:off x="2508" y="3061"/>
                            <a:ext cx="71" cy="25"/>
                          </a:xfrm>
                          <a:custGeom>
                            <a:avLst/>
                            <a:gdLst>
                              <a:gd name="T0" fmla="*/ 0 w 501"/>
                              <a:gd name="T1" fmla="*/ 194 h 194"/>
                              <a:gd name="T2" fmla="*/ 33 w 501"/>
                              <a:gd name="T3" fmla="*/ 194 h 194"/>
                              <a:gd name="T4" fmla="*/ 501 w 501"/>
                              <a:gd name="T5" fmla="*/ 7 h 194"/>
                              <a:gd name="T6" fmla="*/ 486 w 501"/>
                              <a:gd name="T7" fmla="*/ 0 h 194"/>
                              <a:gd name="T8" fmla="*/ 0 w 501"/>
                              <a:gd name="T9" fmla="*/ 194 h 19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</a:cxnLst>
                            <a:rect l="0" t="0" r="r" b="b"/>
                            <a:pathLst>
                              <a:path w="501" h="194">
                                <a:moveTo>
                                  <a:pt x="0" y="194"/>
                                </a:moveTo>
                                <a:lnTo>
                                  <a:pt x="33" y="194"/>
                                </a:lnTo>
                                <a:lnTo>
                                  <a:pt x="501" y="7"/>
                                </a:lnTo>
                                <a:lnTo>
                                  <a:pt x="486" y="0"/>
                                </a:lnTo>
                                <a:lnTo>
                                  <a:pt x="0" y="19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A0A0A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642078" name="Group 30"/>
                          <p:cNvGrpSpPr/>
                          <p:nvPr/>
                        </p:nvGrpSpPr>
                        <p:grpSpPr bwMode="auto">
                          <a:xfrm>
                            <a:off x="2525" y="3042"/>
                            <a:ext cx="184" cy="89"/>
                            <a:chOff x="2525" y="3042"/>
                            <a:chExt cx="184" cy="89"/>
                          </a:xfrm>
                        </p:grpSpPr>
                        <p:sp>
                          <p:nvSpPr>
                            <p:cNvPr id="642079" name="Freeform 31"/>
                            <p:cNvSpPr/>
                            <p:nvPr/>
                          </p:nvSpPr>
                          <p:spPr bwMode="auto">
                            <a:xfrm>
                              <a:off x="2598" y="3078"/>
                              <a:ext cx="109" cy="53"/>
                            </a:xfrm>
                            <a:custGeom>
                              <a:avLst/>
                              <a:gdLst>
                                <a:gd name="T0" fmla="*/ 759 w 759"/>
                                <a:gd name="T1" fmla="*/ 0 h 424"/>
                                <a:gd name="T2" fmla="*/ 332 w 759"/>
                                <a:gd name="T3" fmla="*/ 171 h 424"/>
                                <a:gd name="T4" fmla="*/ 332 w 759"/>
                                <a:gd name="T5" fmla="*/ 192 h 424"/>
                                <a:gd name="T6" fmla="*/ 328 w 759"/>
                                <a:gd name="T7" fmla="*/ 204 h 424"/>
                                <a:gd name="T8" fmla="*/ 326 w 759"/>
                                <a:gd name="T9" fmla="*/ 209 h 424"/>
                                <a:gd name="T10" fmla="*/ 320 w 759"/>
                                <a:gd name="T11" fmla="*/ 218 h 424"/>
                                <a:gd name="T12" fmla="*/ 239 w 759"/>
                                <a:gd name="T13" fmla="*/ 256 h 424"/>
                                <a:gd name="T14" fmla="*/ 235 w 759"/>
                                <a:gd name="T15" fmla="*/ 267 h 424"/>
                                <a:gd name="T16" fmla="*/ 0 w 759"/>
                                <a:gd name="T17" fmla="*/ 369 h 424"/>
                                <a:gd name="T18" fmla="*/ 0 w 759"/>
                                <a:gd name="T19" fmla="*/ 424 h 424"/>
                                <a:gd name="T20" fmla="*/ 9 w 759"/>
                                <a:gd name="T21" fmla="*/ 424 h 424"/>
                                <a:gd name="T22" fmla="*/ 751 w 759"/>
                                <a:gd name="T23" fmla="*/ 93 h 424"/>
                                <a:gd name="T24" fmla="*/ 754 w 759"/>
                                <a:gd name="T25" fmla="*/ 91 h 424"/>
                                <a:gd name="T26" fmla="*/ 757 w 759"/>
                                <a:gd name="T27" fmla="*/ 87 h 424"/>
                                <a:gd name="T28" fmla="*/ 759 w 759"/>
                                <a:gd name="T29" fmla="*/ 79 h 424"/>
                                <a:gd name="T30" fmla="*/ 759 w 759"/>
                                <a:gd name="T31" fmla="*/ 0 h 42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</a:cxnLst>
                              <a:rect l="0" t="0" r="r" b="b"/>
                              <a:pathLst>
                                <a:path w="759" h="424">
                                  <a:moveTo>
                                    <a:pt x="759" y="0"/>
                                  </a:moveTo>
                                  <a:lnTo>
                                    <a:pt x="332" y="171"/>
                                  </a:lnTo>
                                  <a:lnTo>
                                    <a:pt x="332" y="192"/>
                                  </a:lnTo>
                                  <a:lnTo>
                                    <a:pt x="328" y="204"/>
                                  </a:lnTo>
                                  <a:lnTo>
                                    <a:pt x="326" y="209"/>
                                  </a:lnTo>
                                  <a:lnTo>
                                    <a:pt x="320" y="218"/>
                                  </a:lnTo>
                                  <a:lnTo>
                                    <a:pt x="239" y="256"/>
                                  </a:lnTo>
                                  <a:lnTo>
                                    <a:pt x="235" y="267"/>
                                  </a:lnTo>
                                  <a:lnTo>
                                    <a:pt x="0" y="369"/>
                                  </a:lnTo>
                                  <a:lnTo>
                                    <a:pt x="0" y="424"/>
                                  </a:lnTo>
                                  <a:lnTo>
                                    <a:pt x="9" y="424"/>
                                  </a:lnTo>
                                  <a:lnTo>
                                    <a:pt x="751" y="93"/>
                                  </a:lnTo>
                                  <a:lnTo>
                                    <a:pt x="754" y="91"/>
                                  </a:lnTo>
                                  <a:lnTo>
                                    <a:pt x="757" y="87"/>
                                  </a:lnTo>
                                  <a:lnTo>
                                    <a:pt x="759" y="79"/>
                                  </a:lnTo>
                                  <a:lnTo>
                                    <a:pt x="75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60606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080" name="Freeform 32"/>
                            <p:cNvSpPr/>
                            <p:nvPr/>
                          </p:nvSpPr>
                          <p:spPr bwMode="auto">
                            <a:xfrm>
                              <a:off x="2694" y="3082"/>
                              <a:ext cx="7" cy="7"/>
                            </a:xfrm>
                            <a:custGeom>
                              <a:avLst/>
                              <a:gdLst>
                                <a:gd name="T0" fmla="*/ 0 w 53"/>
                                <a:gd name="T1" fmla="*/ 23 h 57"/>
                                <a:gd name="T2" fmla="*/ 53 w 53"/>
                                <a:gd name="T3" fmla="*/ 0 h 57"/>
                                <a:gd name="T4" fmla="*/ 53 w 53"/>
                                <a:gd name="T5" fmla="*/ 33 h 57"/>
                                <a:gd name="T6" fmla="*/ 0 w 53"/>
                                <a:gd name="T7" fmla="*/ 57 h 57"/>
                                <a:gd name="T8" fmla="*/ 0 w 53"/>
                                <a:gd name="T9" fmla="*/ 23 h 5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3" h="57">
                                  <a:moveTo>
                                    <a:pt x="0" y="23"/>
                                  </a:moveTo>
                                  <a:lnTo>
                                    <a:pt x="53" y="0"/>
                                  </a:lnTo>
                                  <a:lnTo>
                                    <a:pt x="53" y="33"/>
                                  </a:lnTo>
                                  <a:lnTo>
                                    <a:pt x="0" y="57"/>
                                  </a:lnTo>
                                  <a:lnTo>
                                    <a:pt x="0" y="2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000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grpSp>
                          <p:nvGrpSpPr>
                            <p:cNvPr id="642081" name="Group 33"/>
                            <p:cNvGrpSpPr/>
                            <p:nvPr/>
                          </p:nvGrpSpPr>
                          <p:grpSpPr bwMode="auto">
                            <a:xfrm>
                              <a:off x="2525" y="3042"/>
                              <a:ext cx="184" cy="89"/>
                              <a:chOff x="2525" y="3042"/>
                              <a:chExt cx="184" cy="89"/>
                            </a:xfrm>
                          </p:grpSpPr>
                          <p:sp>
                            <p:nvSpPr>
                              <p:cNvPr id="642082" name="Freeform 34"/>
                              <p:cNvSpPr/>
                              <p:nvPr/>
                            </p:nvSpPr>
                            <p:spPr bwMode="auto">
                              <a:xfrm>
                                <a:off x="2570" y="3049"/>
                                <a:ext cx="12" cy="16"/>
                              </a:xfrm>
                              <a:custGeom>
                                <a:avLst/>
                                <a:gdLst>
                                  <a:gd name="T0" fmla="*/ 68 w 85"/>
                                  <a:gd name="T1" fmla="*/ 0 h 129"/>
                                  <a:gd name="T2" fmla="*/ 85 w 85"/>
                                  <a:gd name="T3" fmla="*/ 129 h 129"/>
                                  <a:gd name="T4" fmla="*/ 0 w 85"/>
                                  <a:gd name="T5" fmla="*/ 97 h 129"/>
                                  <a:gd name="T6" fmla="*/ 68 w 85"/>
                                  <a:gd name="T7" fmla="*/ 0 h 129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</a:cxnLst>
                                <a:rect l="0" t="0" r="r" b="b"/>
                                <a:pathLst>
                                  <a:path w="85" h="129">
                                    <a:moveTo>
                                      <a:pt x="68" y="0"/>
                                    </a:moveTo>
                                    <a:lnTo>
                                      <a:pt x="85" y="129"/>
                                    </a:lnTo>
                                    <a:lnTo>
                                      <a:pt x="0" y="97"/>
                                    </a:lnTo>
                                    <a:lnTo>
                                      <a:pt x="68" y="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40404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83" name="Freeform 35"/>
                              <p:cNvSpPr/>
                              <p:nvPr/>
                            </p:nvSpPr>
                            <p:spPr bwMode="auto">
                              <a:xfrm>
                                <a:off x="2525" y="3079"/>
                                <a:ext cx="75" cy="46"/>
                              </a:xfrm>
                              <a:custGeom>
                                <a:avLst/>
                                <a:gdLst>
                                  <a:gd name="T0" fmla="*/ 0 w 523"/>
                                  <a:gd name="T1" fmla="*/ 21 h 367"/>
                                  <a:gd name="T2" fmla="*/ 523 w 523"/>
                                  <a:gd name="T3" fmla="*/ 367 h 367"/>
                                  <a:gd name="T4" fmla="*/ 523 w 523"/>
                                  <a:gd name="T5" fmla="*/ 316 h 367"/>
                                  <a:gd name="T6" fmla="*/ 16 w 523"/>
                                  <a:gd name="T7" fmla="*/ 0 h 367"/>
                                  <a:gd name="T8" fmla="*/ 0 w 523"/>
                                  <a:gd name="T9" fmla="*/ 21 h 367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523" h="367">
                                    <a:moveTo>
                                      <a:pt x="0" y="21"/>
                                    </a:moveTo>
                                    <a:lnTo>
                                      <a:pt x="523" y="367"/>
                                    </a:lnTo>
                                    <a:lnTo>
                                      <a:pt x="523" y="316"/>
                                    </a:lnTo>
                                    <a:lnTo>
                                      <a:pt x="16" y="0"/>
                                    </a:lnTo>
                                    <a:lnTo>
                                      <a:pt x="0" y="21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A0A0A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84" name="Freeform 36"/>
                              <p:cNvSpPr/>
                              <p:nvPr/>
                            </p:nvSpPr>
                            <p:spPr bwMode="auto">
                              <a:xfrm>
                                <a:off x="2598" y="3097"/>
                                <a:ext cx="49" cy="28"/>
                              </a:xfrm>
                              <a:custGeom>
                                <a:avLst/>
                                <a:gdLst>
                                  <a:gd name="T0" fmla="*/ 0 w 340"/>
                                  <a:gd name="T1" fmla="*/ 230 h 230"/>
                                  <a:gd name="T2" fmla="*/ 0 w 340"/>
                                  <a:gd name="T3" fmla="*/ 167 h 230"/>
                                  <a:gd name="T4" fmla="*/ 340 w 340"/>
                                  <a:gd name="T5" fmla="*/ 0 h 230"/>
                                  <a:gd name="T6" fmla="*/ 340 w 340"/>
                                  <a:gd name="T7" fmla="*/ 82 h 230"/>
                                  <a:gd name="T8" fmla="*/ 0 w 340"/>
                                  <a:gd name="T9" fmla="*/ 230 h 230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340" h="230">
                                    <a:moveTo>
                                      <a:pt x="0" y="230"/>
                                    </a:moveTo>
                                    <a:lnTo>
                                      <a:pt x="0" y="167"/>
                                    </a:lnTo>
                                    <a:lnTo>
                                      <a:pt x="340" y="0"/>
                                    </a:lnTo>
                                    <a:lnTo>
                                      <a:pt x="340" y="82"/>
                                    </a:lnTo>
                                    <a:lnTo>
                                      <a:pt x="0" y="23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85" name="Freeform 37"/>
                              <p:cNvSpPr/>
                              <p:nvPr/>
                            </p:nvSpPr>
                            <p:spPr bwMode="auto">
                              <a:xfrm>
                                <a:off x="2623" y="3067"/>
                                <a:ext cx="31" cy="30"/>
                              </a:xfrm>
                              <a:custGeom>
                                <a:avLst/>
                                <a:gdLst>
                                  <a:gd name="T0" fmla="*/ 6 w 219"/>
                                  <a:gd name="T1" fmla="*/ 0 h 234"/>
                                  <a:gd name="T2" fmla="*/ 0 w 219"/>
                                  <a:gd name="T3" fmla="*/ 164 h 234"/>
                                  <a:gd name="T4" fmla="*/ 165 w 219"/>
                                  <a:gd name="T5" fmla="*/ 234 h 234"/>
                                  <a:gd name="T6" fmla="*/ 219 w 219"/>
                                  <a:gd name="T7" fmla="*/ 105 h 234"/>
                                  <a:gd name="T8" fmla="*/ 6 w 219"/>
                                  <a:gd name="T9" fmla="*/ 0 h 234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219" h="234">
                                    <a:moveTo>
                                      <a:pt x="6" y="0"/>
                                    </a:moveTo>
                                    <a:lnTo>
                                      <a:pt x="0" y="164"/>
                                    </a:lnTo>
                                    <a:lnTo>
                                      <a:pt x="165" y="234"/>
                                    </a:lnTo>
                                    <a:lnTo>
                                      <a:pt x="219" y="105"/>
                                    </a:lnTo>
                                    <a:lnTo>
                                      <a:pt x="6" y="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86" name="Freeform 38"/>
                              <p:cNvSpPr/>
                              <p:nvPr/>
                            </p:nvSpPr>
                            <p:spPr bwMode="auto">
                              <a:xfrm>
                                <a:off x="2577" y="3050"/>
                                <a:ext cx="28" cy="25"/>
                              </a:xfrm>
                              <a:custGeom>
                                <a:avLst/>
                                <a:gdLst>
                                  <a:gd name="T0" fmla="*/ 14 w 197"/>
                                  <a:gd name="T1" fmla="*/ 0 h 199"/>
                                  <a:gd name="T2" fmla="*/ 0 w 197"/>
                                  <a:gd name="T3" fmla="*/ 133 h 199"/>
                                  <a:gd name="T4" fmla="*/ 136 w 197"/>
                                  <a:gd name="T5" fmla="*/ 199 h 199"/>
                                  <a:gd name="T6" fmla="*/ 197 w 197"/>
                                  <a:gd name="T7" fmla="*/ 88 h 199"/>
                                  <a:gd name="T8" fmla="*/ 14 w 197"/>
                                  <a:gd name="T9" fmla="*/ 0 h 199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197" h="199">
                                    <a:moveTo>
                                      <a:pt x="14" y="0"/>
                                    </a:moveTo>
                                    <a:lnTo>
                                      <a:pt x="0" y="133"/>
                                    </a:lnTo>
                                    <a:lnTo>
                                      <a:pt x="136" y="199"/>
                                    </a:lnTo>
                                    <a:lnTo>
                                      <a:pt x="197" y="88"/>
                                    </a:lnTo>
                                    <a:lnTo>
                                      <a:pt x="14" y="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00000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87" name="Freeform 39"/>
                              <p:cNvSpPr/>
                              <p:nvPr/>
                            </p:nvSpPr>
                            <p:spPr bwMode="auto">
                              <a:xfrm>
                                <a:off x="2615" y="3070"/>
                                <a:ext cx="10" cy="17"/>
                              </a:xfrm>
                              <a:custGeom>
                                <a:avLst/>
                                <a:gdLst>
                                  <a:gd name="T0" fmla="*/ 70 w 70"/>
                                  <a:gd name="T1" fmla="*/ 0 h 135"/>
                                  <a:gd name="T2" fmla="*/ 70 w 70"/>
                                  <a:gd name="T3" fmla="*/ 135 h 135"/>
                                  <a:gd name="T4" fmla="*/ 0 w 70"/>
                                  <a:gd name="T5" fmla="*/ 97 h 135"/>
                                  <a:gd name="T6" fmla="*/ 70 w 70"/>
                                  <a:gd name="T7" fmla="*/ 0 h 135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</a:cxnLst>
                                <a:rect l="0" t="0" r="r" b="b"/>
                                <a:pathLst>
                                  <a:path w="70" h="135">
                                    <a:moveTo>
                                      <a:pt x="70" y="0"/>
                                    </a:moveTo>
                                    <a:lnTo>
                                      <a:pt x="70" y="135"/>
                                    </a:lnTo>
                                    <a:lnTo>
                                      <a:pt x="0" y="97"/>
                                    </a:lnTo>
                                    <a:lnTo>
                                      <a:pt x="70" y="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40404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88" name="Freeform 40"/>
                              <p:cNvSpPr/>
                              <p:nvPr/>
                            </p:nvSpPr>
                            <p:spPr bwMode="auto">
                              <a:xfrm>
                                <a:off x="2525" y="3082"/>
                                <a:ext cx="75" cy="49"/>
                              </a:xfrm>
                              <a:custGeom>
                                <a:avLst/>
                                <a:gdLst>
                                  <a:gd name="T0" fmla="*/ 523 w 523"/>
                                  <a:gd name="T1" fmla="*/ 340 h 394"/>
                                  <a:gd name="T2" fmla="*/ 523 w 523"/>
                                  <a:gd name="T3" fmla="*/ 394 h 394"/>
                                  <a:gd name="T4" fmla="*/ 0 w 523"/>
                                  <a:gd name="T5" fmla="*/ 51 h 394"/>
                                  <a:gd name="T6" fmla="*/ 0 w 523"/>
                                  <a:gd name="T7" fmla="*/ 0 h 394"/>
                                  <a:gd name="T8" fmla="*/ 523 w 523"/>
                                  <a:gd name="T9" fmla="*/ 340 h 394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523" h="394">
                                    <a:moveTo>
                                      <a:pt x="523" y="340"/>
                                    </a:moveTo>
                                    <a:lnTo>
                                      <a:pt x="523" y="394"/>
                                    </a:lnTo>
                                    <a:lnTo>
                                      <a:pt x="0" y="51"/>
                                    </a:lnTo>
                                    <a:lnTo>
                                      <a:pt x="0" y="0"/>
                                    </a:lnTo>
                                    <a:lnTo>
                                      <a:pt x="523" y="34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80808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89" name="Freeform 41"/>
                              <p:cNvSpPr/>
                              <p:nvPr/>
                            </p:nvSpPr>
                            <p:spPr bwMode="auto">
                              <a:xfrm>
                                <a:off x="2624" y="3042"/>
                                <a:ext cx="85" cy="30"/>
                              </a:xfrm>
                              <a:custGeom>
                                <a:avLst/>
                                <a:gdLst>
                                  <a:gd name="T0" fmla="*/ 0 w 589"/>
                                  <a:gd name="T1" fmla="*/ 19 h 243"/>
                                  <a:gd name="T2" fmla="*/ 503 w 589"/>
                                  <a:gd name="T3" fmla="*/ 243 h 243"/>
                                  <a:gd name="T4" fmla="*/ 589 w 589"/>
                                  <a:gd name="T5" fmla="*/ 213 h 243"/>
                                  <a:gd name="T6" fmla="*/ 104 w 589"/>
                                  <a:gd name="T7" fmla="*/ 0 h 243"/>
                                  <a:gd name="T8" fmla="*/ 0 w 589"/>
                                  <a:gd name="T9" fmla="*/ 19 h 243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589" h="243">
                                    <a:moveTo>
                                      <a:pt x="0" y="19"/>
                                    </a:moveTo>
                                    <a:lnTo>
                                      <a:pt x="503" y="243"/>
                                    </a:lnTo>
                                    <a:lnTo>
                                      <a:pt x="589" y="213"/>
                                    </a:lnTo>
                                    <a:lnTo>
                                      <a:pt x="104" y="0"/>
                                    </a:lnTo>
                                    <a:lnTo>
                                      <a:pt x="0" y="19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A0A0A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90" name="Freeform 42"/>
                              <p:cNvSpPr/>
                              <p:nvPr/>
                            </p:nvSpPr>
                            <p:spPr bwMode="auto">
                              <a:xfrm>
                                <a:off x="2690" y="3067"/>
                                <a:ext cx="19" cy="18"/>
                              </a:xfrm>
                              <a:custGeom>
                                <a:avLst/>
                                <a:gdLst>
                                  <a:gd name="T0" fmla="*/ 131 w 131"/>
                                  <a:gd name="T1" fmla="*/ 0 h 136"/>
                                  <a:gd name="T2" fmla="*/ 37 w 131"/>
                                  <a:gd name="T3" fmla="*/ 31 h 136"/>
                                  <a:gd name="T4" fmla="*/ 0 w 131"/>
                                  <a:gd name="T5" fmla="*/ 136 h 136"/>
                                  <a:gd name="T6" fmla="*/ 131 w 131"/>
                                  <a:gd name="T7" fmla="*/ 86 h 136"/>
                                  <a:gd name="T8" fmla="*/ 131 w 131"/>
                                  <a:gd name="T9" fmla="*/ 0 h 136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131" h="136">
                                    <a:moveTo>
                                      <a:pt x="131" y="0"/>
                                    </a:moveTo>
                                    <a:lnTo>
                                      <a:pt x="37" y="31"/>
                                    </a:lnTo>
                                    <a:lnTo>
                                      <a:pt x="0" y="136"/>
                                    </a:lnTo>
                                    <a:lnTo>
                                      <a:pt x="131" y="86"/>
                                    </a:lnTo>
                                    <a:lnTo>
                                      <a:pt x="131" y="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80808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91" name="Freeform 43"/>
                              <p:cNvSpPr/>
                              <p:nvPr/>
                            </p:nvSpPr>
                            <p:spPr bwMode="auto">
                              <a:xfrm>
                                <a:off x="2568" y="3044"/>
                                <a:ext cx="129" cy="39"/>
                              </a:xfrm>
                              <a:custGeom>
                                <a:avLst/>
                                <a:gdLst>
                                  <a:gd name="T0" fmla="*/ 402 w 898"/>
                                  <a:gd name="T1" fmla="*/ 0 h 312"/>
                                  <a:gd name="T2" fmla="*/ 53 w 898"/>
                                  <a:gd name="T3" fmla="*/ 42 h 312"/>
                                  <a:gd name="T4" fmla="*/ 0 w 898"/>
                                  <a:gd name="T5" fmla="*/ 120 h 312"/>
                                  <a:gd name="T6" fmla="*/ 12 w 898"/>
                                  <a:gd name="T7" fmla="*/ 143 h 312"/>
                                  <a:gd name="T8" fmla="*/ 73 w 898"/>
                                  <a:gd name="T9" fmla="*/ 51 h 312"/>
                                  <a:gd name="T10" fmla="*/ 232 w 898"/>
                                  <a:gd name="T11" fmla="*/ 134 h 312"/>
                                  <a:gd name="T12" fmla="*/ 175 w 898"/>
                                  <a:gd name="T13" fmla="*/ 220 h 312"/>
                                  <a:gd name="T14" fmla="*/ 337 w 898"/>
                                  <a:gd name="T15" fmla="*/ 309 h 312"/>
                                  <a:gd name="T16" fmla="*/ 396 w 898"/>
                                  <a:gd name="T17" fmla="*/ 218 h 312"/>
                                  <a:gd name="T18" fmla="*/ 576 w 898"/>
                                  <a:gd name="T19" fmla="*/ 312 h 312"/>
                                  <a:gd name="T20" fmla="*/ 898 w 898"/>
                                  <a:gd name="T21" fmla="*/ 223 h 312"/>
                                  <a:gd name="T22" fmla="*/ 402 w 898"/>
                                  <a:gd name="T23" fmla="*/ 0 h 312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  <a:cxn ang="0">
                                    <a:pos x="T10" y="T11"/>
                                  </a:cxn>
                                  <a:cxn ang="0">
                                    <a:pos x="T12" y="T13"/>
                                  </a:cxn>
                                  <a:cxn ang="0">
                                    <a:pos x="T14" y="T15"/>
                                  </a:cxn>
                                  <a:cxn ang="0">
                                    <a:pos x="T16" y="T17"/>
                                  </a:cxn>
                                  <a:cxn ang="0">
                                    <a:pos x="T18" y="T19"/>
                                  </a:cxn>
                                  <a:cxn ang="0">
                                    <a:pos x="T20" y="T21"/>
                                  </a:cxn>
                                  <a:cxn ang="0">
                                    <a:pos x="T22" y="T23"/>
                                  </a:cxn>
                                </a:cxnLst>
                                <a:rect l="0" t="0" r="r" b="b"/>
                                <a:pathLst>
                                  <a:path w="898" h="312">
                                    <a:moveTo>
                                      <a:pt x="402" y="0"/>
                                    </a:moveTo>
                                    <a:lnTo>
                                      <a:pt x="53" y="42"/>
                                    </a:lnTo>
                                    <a:lnTo>
                                      <a:pt x="0" y="120"/>
                                    </a:lnTo>
                                    <a:lnTo>
                                      <a:pt x="12" y="143"/>
                                    </a:lnTo>
                                    <a:lnTo>
                                      <a:pt x="73" y="51"/>
                                    </a:lnTo>
                                    <a:lnTo>
                                      <a:pt x="232" y="134"/>
                                    </a:lnTo>
                                    <a:lnTo>
                                      <a:pt x="175" y="220"/>
                                    </a:lnTo>
                                    <a:lnTo>
                                      <a:pt x="337" y="309"/>
                                    </a:lnTo>
                                    <a:lnTo>
                                      <a:pt x="396" y="218"/>
                                    </a:lnTo>
                                    <a:lnTo>
                                      <a:pt x="576" y="312"/>
                                    </a:lnTo>
                                    <a:lnTo>
                                      <a:pt x="898" y="223"/>
                                    </a:lnTo>
                                    <a:lnTo>
                                      <a:pt x="402" y="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0C0C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92" name="Freeform 44"/>
                              <p:cNvSpPr/>
                              <p:nvPr/>
                            </p:nvSpPr>
                            <p:spPr bwMode="auto">
                              <a:xfrm>
                                <a:off x="2645" y="3071"/>
                                <a:ext cx="51" cy="25"/>
                              </a:xfrm>
                              <a:custGeom>
                                <a:avLst/>
                                <a:gdLst>
                                  <a:gd name="T0" fmla="*/ 359 w 359"/>
                                  <a:gd name="T1" fmla="*/ 0 h 198"/>
                                  <a:gd name="T2" fmla="*/ 322 w 359"/>
                                  <a:gd name="T3" fmla="*/ 104 h 198"/>
                                  <a:gd name="T4" fmla="*/ 0 w 359"/>
                                  <a:gd name="T5" fmla="*/ 198 h 198"/>
                                  <a:gd name="T6" fmla="*/ 34 w 359"/>
                                  <a:gd name="T7" fmla="*/ 91 h 198"/>
                                  <a:gd name="T8" fmla="*/ 359 w 359"/>
                                  <a:gd name="T9" fmla="*/ 0 h 198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359" h="198">
                                    <a:moveTo>
                                      <a:pt x="359" y="0"/>
                                    </a:moveTo>
                                    <a:lnTo>
                                      <a:pt x="322" y="104"/>
                                    </a:lnTo>
                                    <a:lnTo>
                                      <a:pt x="0" y="198"/>
                                    </a:lnTo>
                                    <a:lnTo>
                                      <a:pt x="34" y="91"/>
                                    </a:lnTo>
                                    <a:lnTo>
                                      <a:pt x="359" y="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A0A0A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93" name="Freeform 45"/>
                              <p:cNvSpPr/>
                              <p:nvPr/>
                            </p:nvSpPr>
                            <p:spPr bwMode="auto">
                              <a:xfrm>
                                <a:off x="2645" y="3083"/>
                                <a:ext cx="47" cy="18"/>
                              </a:xfrm>
                              <a:custGeom>
                                <a:avLst/>
                                <a:gdLst>
                                  <a:gd name="T0" fmla="*/ 0 w 326"/>
                                  <a:gd name="T1" fmla="*/ 96 h 142"/>
                                  <a:gd name="T2" fmla="*/ 0 w 326"/>
                                  <a:gd name="T3" fmla="*/ 142 h 142"/>
                                  <a:gd name="T4" fmla="*/ 326 w 326"/>
                                  <a:gd name="T5" fmla="*/ 0 h 142"/>
                                  <a:gd name="T6" fmla="*/ 0 w 326"/>
                                  <a:gd name="T7" fmla="*/ 96 h 142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</a:cxnLst>
                                <a:rect l="0" t="0" r="r" b="b"/>
                                <a:pathLst>
                                  <a:path w="326" h="142">
                                    <a:moveTo>
                                      <a:pt x="0" y="96"/>
                                    </a:moveTo>
                                    <a:lnTo>
                                      <a:pt x="0" y="142"/>
                                    </a:lnTo>
                                    <a:lnTo>
                                      <a:pt x="326" y="0"/>
                                    </a:lnTo>
                                    <a:lnTo>
                                      <a:pt x="0" y="96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40404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94" name="Freeform 46"/>
                              <p:cNvSpPr/>
                              <p:nvPr/>
                            </p:nvSpPr>
                            <p:spPr bwMode="auto">
                              <a:xfrm>
                                <a:off x="2527" y="3063"/>
                                <a:ext cx="119" cy="56"/>
                              </a:xfrm>
                              <a:custGeom>
                                <a:avLst/>
                                <a:gdLst>
                                  <a:gd name="T0" fmla="*/ 0 w 836"/>
                                  <a:gd name="T1" fmla="*/ 136 h 453"/>
                                  <a:gd name="T2" fmla="*/ 506 w 836"/>
                                  <a:gd name="T3" fmla="*/ 453 h 453"/>
                                  <a:gd name="T4" fmla="*/ 810 w 836"/>
                                  <a:gd name="T5" fmla="*/ 273 h 453"/>
                                  <a:gd name="T6" fmla="*/ 836 w 836"/>
                                  <a:gd name="T7" fmla="*/ 262 h 453"/>
                                  <a:gd name="T8" fmla="*/ 351 w 836"/>
                                  <a:gd name="T9" fmla="*/ 0 h 453"/>
                                  <a:gd name="T10" fmla="*/ 0 w 836"/>
                                  <a:gd name="T11" fmla="*/ 136 h 453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  <a:cxn ang="0">
                                    <a:pos x="T10" y="T11"/>
                                  </a:cxn>
                                </a:cxnLst>
                                <a:rect l="0" t="0" r="r" b="b"/>
                                <a:pathLst>
                                  <a:path w="836" h="453">
                                    <a:moveTo>
                                      <a:pt x="0" y="136"/>
                                    </a:moveTo>
                                    <a:lnTo>
                                      <a:pt x="506" y="453"/>
                                    </a:lnTo>
                                    <a:lnTo>
                                      <a:pt x="810" y="273"/>
                                    </a:lnTo>
                                    <a:lnTo>
                                      <a:pt x="836" y="262"/>
                                    </a:lnTo>
                                    <a:lnTo>
                                      <a:pt x="351" y="0"/>
                                    </a:lnTo>
                                    <a:lnTo>
                                      <a:pt x="0" y="136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0C0C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642095" name="Freeform 47"/>
                              <p:cNvSpPr/>
                              <p:nvPr/>
                            </p:nvSpPr>
                            <p:spPr bwMode="auto">
                              <a:xfrm>
                                <a:off x="2598" y="3094"/>
                                <a:ext cx="48" cy="25"/>
                              </a:xfrm>
                              <a:custGeom>
                                <a:avLst/>
                                <a:gdLst>
                                  <a:gd name="T0" fmla="*/ 0 w 336"/>
                                  <a:gd name="T1" fmla="*/ 197 h 197"/>
                                  <a:gd name="T2" fmla="*/ 308 w 336"/>
                                  <a:gd name="T3" fmla="*/ 11 h 197"/>
                                  <a:gd name="T4" fmla="*/ 336 w 336"/>
                                  <a:gd name="T5" fmla="*/ 0 h 197"/>
                                  <a:gd name="T6" fmla="*/ 336 w 336"/>
                                  <a:gd name="T7" fmla="*/ 22 h 197"/>
                                  <a:gd name="T8" fmla="*/ 0 w 336"/>
                                  <a:gd name="T9" fmla="*/ 197 h 197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</a:cxnLst>
                                <a:rect l="0" t="0" r="r" b="b"/>
                                <a:pathLst>
                                  <a:path w="336" h="197">
                                    <a:moveTo>
                                      <a:pt x="0" y="197"/>
                                    </a:moveTo>
                                    <a:lnTo>
                                      <a:pt x="308" y="11"/>
                                    </a:lnTo>
                                    <a:lnTo>
                                      <a:pt x="336" y="0"/>
                                    </a:lnTo>
                                    <a:lnTo>
                                      <a:pt x="336" y="22"/>
                                    </a:lnTo>
                                    <a:lnTo>
                                      <a:pt x="0" y="19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A0A0A0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/>
                              </a:p>
                            </p:txBody>
                          </p:sp>
                        </p:grpSp>
                        <p:sp>
                          <p:nvSpPr>
                            <p:cNvPr id="642096" name="Line 4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2598" y="3068"/>
                              <a:ext cx="20" cy="10"/>
                            </a:xfrm>
                            <a:prstGeom prst="line">
                              <a:avLst/>
                            </a:prstGeom>
                            <a:noFill/>
                            <a:ln w="1588">
                              <a:solidFill>
                                <a:srgbClr val="000000"/>
                              </a:solidFill>
                              <a:rou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642097" name="Group 49"/>
                        <p:cNvGrpSpPr/>
                        <p:nvPr/>
                      </p:nvGrpSpPr>
                      <p:grpSpPr bwMode="auto">
                        <a:xfrm>
                          <a:off x="2533" y="3064"/>
                          <a:ext cx="107" cy="50"/>
                          <a:chOff x="2533" y="3064"/>
                          <a:chExt cx="107" cy="50"/>
                        </a:xfrm>
                      </p:grpSpPr>
                      <p:grpSp>
                        <p:nvGrpSpPr>
                          <p:cNvPr id="642098" name="Group 50"/>
                          <p:cNvGrpSpPr/>
                          <p:nvPr/>
                        </p:nvGrpSpPr>
                        <p:grpSpPr bwMode="auto">
                          <a:xfrm>
                            <a:off x="2533" y="3065"/>
                            <a:ext cx="107" cy="49"/>
                            <a:chOff x="2533" y="3065"/>
                            <a:chExt cx="107" cy="49"/>
                          </a:xfrm>
                        </p:grpSpPr>
                        <p:sp>
                          <p:nvSpPr>
                            <p:cNvPr id="642099" name="Freeform 51"/>
                            <p:cNvSpPr/>
                            <p:nvPr/>
                          </p:nvSpPr>
                          <p:spPr bwMode="auto">
                            <a:xfrm>
                              <a:off x="2558" y="3085"/>
                              <a:ext cx="29" cy="16"/>
                            </a:xfrm>
                            <a:custGeom>
                              <a:avLst/>
                              <a:gdLst>
                                <a:gd name="T0" fmla="*/ 35 w 202"/>
                                <a:gd name="T1" fmla="*/ 0 h 121"/>
                                <a:gd name="T2" fmla="*/ 202 w 202"/>
                                <a:gd name="T3" fmla="*/ 104 h 121"/>
                                <a:gd name="T4" fmla="*/ 167 w 202"/>
                                <a:gd name="T5" fmla="*/ 121 h 121"/>
                                <a:gd name="T6" fmla="*/ 0 w 202"/>
                                <a:gd name="T7" fmla="*/ 17 h 121"/>
                                <a:gd name="T8" fmla="*/ 35 w 202"/>
                                <a:gd name="T9" fmla="*/ 0 h 12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202" h="121">
                                  <a:moveTo>
                                    <a:pt x="35" y="0"/>
                                  </a:moveTo>
                                  <a:lnTo>
                                    <a:pt x="202" y="104"/>
                                  </a:lnTo>
                                  <a:lnTo>
                                    <a:pt x="167" y="121"/>
                                  </a:lnTo>
                                  <a:lnTo>
                                    <a:pt x="0" y="17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0" name="Freeform 52"/>
                            <p:cNvSpPr/>
                            <p:nvPr/>
                          </p:nvSpPr>
                          <p:spPr bwMode="auto">
                            <a:xfrm>
                              <a:off x="2582" y="3098"/>
                              <a:ext cx="14" cy="7"/>
                            </a:xfrm>
                            <a:custGeom>
                              <a:avLst/>
                              <a:gdLst>
                                <a:gd name="T0" fmla="*/ 37 w 98"/>
                                <a:gd name="T1" fmla="*/ 0 h 60"/>
                                <a:gd name="T2" fmla="*/ 98 w 98"/>
                                <a:gd name="T3" fmla="*/ 38 h 60"/>
                                <a:gd name="T4" fmla="*/ 64 w 98"/>
                                <a:gd name="T5" fmla="*/ 60 h 60"/>
                                <a:gd name="T6" fmla="*/ 0 w 98"/>
                                <a:gd name="T7" fmla="*/ 17 h 60"/>
                                <a:gd name="T8" fmla="*/ 37 w 98"/>
                                <a:gd name="T9" fmla="*/ 0 h 6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98" h="60">
                                  <a:moveTo>
                                    <a:pt x="37" y="0"/>
                                  </a:moveTo>
                                  <a:lnTo>
                                    <a:pt x="98" y="38"/>
                                  </a:lnTo>
                                  <a:lnTo>
                                    <a:pt x="64" y="60"/>
                                  </a:lnTo>
                                  <a:lnTo>
                                    <a:pt x="0" y="17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1" name="Freeform 53"/>
                            <p:cNvSpPr/>
                            <p:nvPr/>
                          </p:nvSpPr>
                          <p:spPr bwMode="auto">
                            <a:xfrm>
                              <a:off x="2587" y="3102"/>
                              <a:ext cx="15" cy="8"/>
                            </a:xfrm>
                            <a:custGeom>
                              <a:avLst/>
                              <a:gdLst>
                                <a:gd name="T0" fmla="*/ 63 w 107"/>
                                <a:gd name="T1" fmla="*/ 0 h 64"/>
                                <a:gd name="T2" fmla="*/ 107 w 107"/>
                                <a:gd name="T3" fmla="*/ 30 h 64"/>
                                <a:gd name="T4" fmla="*/ 70 w 107"/>
                                <a:gd name="T5" fmla="*/ 54 h 64"/>
                                <a:gd name="T6" fmla="*/ 64 w 107"/>
                                <a:gd name="T7" fmla="*/ 47 h 64"/>
                                <a:gd name="T8" fmla="*/ 39 w 107"/>
                                <a:gd name="T9" fmla="*/ 64 h 64"/>
                                <a:gd name="T10" fmla="*/ 0 w 107"/>
                                <a:gd name="T11" fmla="*/ 38 h 64"/>
                                <a:gd name="T12" fmla="*/ 63 w 107"/>
                                <a:gd name="T13" fmla="*/ 0 h 6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</a:cxnLst>
                              <a:rect l="0" t="0" r="r" b="b"/>
                              <a:pathLst>
                                <a:path w="107" h="64">
                                  <a:moveTo>
                                    <a:pt x="63" y="0"/>
                                  </a:moveTo>
                                  <a:lnTo>
                                    <a:pt x="107" y="30"/>
                                  </a:lnTo>
                                  <a:lnTo>
                                    <a:pt x="70" y="54"/>
                                  </a:lnTo>
                                  <a:lnTo>
                                    <a:pt x="64" y="47"/>
                                  </a:lnTo>
                                  <a:lnTo>
                                    <a:pt x="39" y="64"/>
                                  </a:lnTo>
                                  <a:lnTo>
                                    <a:pt x="0" y="38"/>
                                  </a:lnTo>
                                  <a:lnTo>
                                    <a:pt x="63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2" name="Freeform 54"/>
                            <p:cNvSpPr/>
                            <p:nvPr/>
                          </p:nvSpPr>
                          <p:spPr bwMode="auto">
                            <a:xfrm>
                              <a:off x="2597" y="3106"/>
                              <a:ext cx="15" cy="8"/>
                            </a:xfrm>
                            <a:custGeom>
                              <a:avLst/>
                              <a:gdLst>
                                <a:gd name="T0" fmla="*/ 35 w 103"/>
                                <a:gd name="T1" fmla="*/ 0 h 65"/>
                                <a:gd name="T2" fmla="*/ 103 w 103"/>
                                <a:gd name="T3" fmla="*/ 45 h 65"/>
                                <a:gd name="T4" fmla="*/ 66 w 103"/>
                                <a:gd name="T5" fmla="*/ 65 h 65"/>
                                <a:gd name="T6" fmla="*/ 0 w 103"/>
                                <a:gd name="T7" fmla="*/ 21 h 65"/>
                                <a:gd name="T8" fmla="*/ 35 w 103"/>
                                <a:gd name="T9" fmla="*/ 0 h 6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3" h="65">
                                  <a:moveTo>
                                    <a:pt x="35" y="0"/>
                                  </a:moveTo>
                                  <a:lnTo>
                                    <a:pt x="103" y="45"/>
                                  </a:lnTo>
                                  <a:lnTo>
                                    <a:pt x="66" y="65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3" name="Freeform 55"/>
                            <p:cNvSpPr/>
                            <p:nvPr/>
                          </p:nvSpPr>
                          <p:spPr bwMode="auto">
                            <a:xfrm>
                              <a:off x="2551" y="3081"/>
                              <a:ext cx="12" cy="7"/>
                            </a:xfrm>
                            <a:custGeom>
                              <a:avLst/>
                              <a:gdLst>
                                <a:gd name="T0" fmla="*/ 34 w 86"/>
                                <a:gd name="T1" fmla="*/ 0 h 52"/>
                                <a:gd name="T2" fmla="*/ 86 w 86"/>
                                <a:gd name="T3" fmla="*/ 34 h 52"/>
                                <a:gd name="T4" fmla="*/ 50 w 86"/>
                                <a:gd name="T5" fmla="*/ 52 h 52"/>
                                <a:gd name="T6" fmla="*/ 0 w 86"/>
                                <a:gd name="T7" fmla="*/ 19 h 52"/>
                                <a:gd name="T8" fmla="*/ 34 w 86"/>
                                <a:gd name="T9" fmla="*/ 0 h 5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86" h="52">
                                  <a:moveTo>
                                    <a:pt x="34" y="0"/>
                                  </a:moveTo>
                                  <a:lnTo>
                                    <a:pt x="86" y="34"/>
                                  </a:lnTo>
                                  <a:lnTo>
                                    <a:pt x="50" y="52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4" name="Freeform 56"/>
                            <p:cNvSpPr/>
                            <p:nvPr/>
                          </p:nvSpPr>
                          <p:spPr bwMode="auto">
                            <a:xfrm>
                              <a:off x="2542" y="3077"/>
                              <a:ext cx="11" cy="5"/>
                            </a:xfrm>
                            <a:custGeom>
                              <a:avLst/>
                              <a:gdLst>
                                <a:gd name="T0" fmla="*/ 39 w 78"/>
                                <a:gd name="T1" fmla="*/ 0 h 45"/>
                                <a:gd name="T2" fmla="*/ 78 w 78"/>
                                <a:gd name="T3" fmla="*/ 25 h 45"/>
                                <a:gd name="T4" fmla="*/ 39 w 78"/>
                                <a:gd name="T5" fmla="*/ 45 h 45"/>
                                <a:gd name="T6" fmla="*/ 0 w 78"/>
                                <a:gd name="T7" fmla="*/ 19 h 45"/>
                                <a:gd name="T8" fmla="*/ 39 w 78"/>
                                <a:gd name="T9" fmla="*/ 0 h 4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8" h="45">
                                  <a:moveTo>
                                    <a:pt x="39" y="0"/>
                                  </a:moveTo>
                                  <a:lnTo>
                                    <a:pt x="78" y="25"/>
                                  </a:lnTo>
                                  <a:lnTo>
                                    <a:pt x="39" y="45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5" name="Freeform 57"/>
                            <p:cNvSpPr/>
                            <p:nvPr/>
                          </p:nvSpPr>
                          <p:spPr bwMode="auto">
                            <a:xfrm>
                              <a:off x="2536" y="3079"/>
                              <a:ext cx="10" cy="6"/>
                            </a:xfrm>
                            <a:custGeom>
                              <a:avLst/>
                              <a:gdLst>
                                <a:gd name="T0" fmla="*/ 36 w 72"/>
                                <a:gd name="T1" fmla="*/ 0 h 42"/>
                                <a:gd name="T2" fmla="*/ 72 w 72"/>
                                <a:gd name="T3" fmla="*/ 25 h 42"/>
                                <a:gd name="T4" fmla="*/ 35 w 72"/>
                                <a:gd name="T5" fmla="*/ 42 h 42"/>
                                <a:gd name="T6" fmla="*/ 0 w 72"/>
                                <a:gd name="T7" fmla="*/ 15 h 42"/>
                                <a:gd name="T8" fmla="*/ 36 w 72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2" h="42">
                                  <a:moveTo>
                                    <a:pt x="36" y="0"/>
                                  </a:moveTo>
                                  <a:lnTo>
                                    <a:pt x="72" y="25"/>
                                  </a:lnTo>
                                  <a:lnTo>
                                    <a:pt x="35" y="42"/>
                                  </a:lnTo>
                                  <a:lnTo>
                                    <a:pt x="0" y="15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6" name="Freeform 58"/>
                            <p:cNvSpPr/>
                            <p:nvPr/>
                          </p:nvSpPr>
                          <p:spPr bwMode="auto">
                            <a:xfrm>
                              <a:off x="2541" y="3082"/>
                              <a:ext cx="9" cy="5"/>
                            </a:xfrm>
                            <a:custGeom>
                              <a:avLst/>
                              <a:gdLst>
                                <a:gd name="T0" fmla="*/ 36 w 63"/>
                                <a:gd name="T1" fmla="*/ 0 h 41"/>
                                <a:gd name="T2" fmla="*/ 63 w 63"/>
                                <a:gd name="T3" fmla="*/ 21 h 41"/>
                                <a:gd name="T4" fmla="*/ 32 w 63"/>
                                <a:gd name="T5" fmla="*/ 41 h 41"/>
                                <a:gd name="T6" fmla="*/ 0 w 63"/>
                                <a:gd name="T7" fmla="*/ 19 h 41"/>
                                <a:gd name="T8" fmla="*/ 36 w 63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3" h="41">
                                  <a:moveTo>
                                    <a:pt x="36" y="0"/>
                                  </a:moveTo>
                                  <a:lnTo>
                                    <a:pt x="63" y="21"/>
                                  </a:lnTo>
                                  <a:lnTo>
                                    <a:pt x="32" y="41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7" name="Freeform 59"/>
                            <p:cNvSpPr/>
                            <p:nvPr/>
                          </p:nvSpPr>
                          <p:spPr bwMode="auto">
                            <a:xfrm>
                              <a:off x="2533" y="3078"/>
                              <a:ext cx="8" cy="4"/>
                            </a:xfrm>
                            <a:custGeom>
                              <a:avLst/>
                              <a:gdLst>
                                <a:gd name="T0" fmla="*/ 37 w 58"/>
                                <a:gd name="T1" fmla="*/ 0 h 33"/>
                                <a:gd name="T2" fmla="*/ 58 w 58"/>
                                <a:gd name="T3" fmla="*/ 16 h 33"/>
                                <a:gd name="T4" fmla="*/ 21 w 58"/>
                                <a:gd name="T5" fmla="*/ 33 h 33"/>
                                <a:gd name="T6" fmla="*/ 0 w 58"/>
                                <a:gd name="T7" fmla="*/ 17 h 33"/>
                                <a:gd name="T8" fmla="*/ 37 w 58"/>
                                <a:gd name="T9" fmla="*/ 0 h 3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8" h="33">
                                  <a:moveTo>
                                    <a:pt x="37" y="0"/>
                                  </a:moveTo>
                                  <a:lnTo>
                                    <a:pt x="58" y="16"/>
                                  </a:lnTo>
                                  <a:lnTo>
                                    <a:pt x="21" y="33"/>
                                  </a:lnTo>
                                  <a:lnTo>
                                    <a:pt x="0" y="17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8" name="Freeform 60"/>
                            <p:cNvSpPr/>
                            <p:nvPr/>
                          </p:nvSpPr>
                          <p:spPr bwMode="auto">
                            <a:xfrm>
                              <a:off x="2603" y="3103"/>
                              <a:ext cx="15" cy="8"/>
                            </a:xfrm>
                            <a:custGeom>
                              <a:avLst/>
                              <a:gdLst>
                                <a:gd name="T0" fmla="*/ 34 w 102"/>
                                <a:gd name="T1" fmla="*/ 0 h 64"/>
                                <a:gd name="T2" fmla="*/ 102 w 102"/>
                                <a:gd name="T3" fmla="*/ 42 h 64"/>
                                <a:gd name="T4" fmla="*/ 66 w 102"/>
                                <a:gd name="T5" fmla="*/ 64 h 64"/>
                                <a:gd name="T6" fmla="*/ 0 w 102"/>
                                <a:gd name="T7" fmla="*/ 22 h 64"/>
                                <a:gd name="T8" fmla="*/ 34 w 102"/>
                                <a:gd name="T9" fmla="*/ 0 h 6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2" h="64">
                                  <a:moveTo>
                                    <a:pt x="34" y="0"/>
                                  </a:moveTo>
                                  <a:lnTo>
                                    <a:pt x="102" y="42"/>
                                  </a:lnTo>
                                  <a:lnTo>
                                    <a:pt x="66" y="64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09" name="Freeform 61"/>
                            <p:cNvSpPr/>
                            <p:nvPr/>
                          </p:nvSpPr>
                          <p:spPr bwMode="auto">
                            <a:xfrm>
                              <a:off x="2609" y="3100"/>
                              <a:ext cx="15" cy="8"/>
                            </a:xfrm>
                            <a:custGeom>
                              <a:avLst/>
                              <a:gdLst>
                                <a:gd name="T0" fmla="*/ 34 w 101"/>
                                <a:gd name="T1" fmla="*/ 0 h 63"/>
                                <a:gd name="T2" fmla="*/ 101 w 101"/>
                                <a:gd name="T3" fmla="*/ 43 h 63"/>
                                <a:gd name="T4" fmla="*/ 66 w 101"/>
                                <a:gd name="T5" fmla="*/ 63 h 63"/>
                                <a:gd name="T6" fmla="*/ 0 w 101"/>
                                <a:gd name="T7" fmla="*/ 21 h 63"/>
                                <a:gd name="T8" fmla="*/ 34 w 101"/>
                                <a:gd name="T9" fmla="*/ 0 h 6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1" h="63">
                                  <a:moveTo>
                                    <a:pt x="34" y="0"/>
                                  </a:moveTo>
                                  <a:lnTo>
                                    <a:pt x="101" y="43"/>
                                  </a:lnTo>
                                  <a:lnTo>
                                    <a:pt x="66" y="6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0" name="Freeform 62"/>
                            <p:cNvSpPr/>
                            <p:nvPr/>
                          </p:nvSpPr>
                          <p:spPr bwMode="auto">
                            <a:xfrm>
                              <a:off x="2615" y="3097"/>
                              <a:ext cx="15" cy="8"/>
                            </a:xfrm>
                            <a:custGeom>
                              <a:avLst/>
                              <a:gdLst>
                                <a:gd name="T0" fmla="*/ 31 w 102"/>
                                <a:gd name="T1" fmla="*/ 0 h 61"/>
                                <a:gd name="T2" fmla="*/ 102 w 102"/>
                                <a:gd name="T3" fmla="*/ 42 h 61"/>
                                <a:gd name="T4" fmla="*/ 65 w 102"/>
                                <a:gd name="T5" fmla="*/ 61 h 61"/>
                                <a:gd name="T6" fmla="*/ 0 w 102"/>
                                <a:gd name="T7" fmla="*/ 21 h 61"/>
                                <a:gd name="T8" fmla="*/ 31 w 102"/>
                                <a:gd name="T9" fmla="*/ 0 h 6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2" h="61">
                                  <a:moveTo>
                                    <a:pt x="31" y="0"/>
                                  </a:moveTo>
                                  <a:lnTo>
                                    <a:pt x="102" y="42"/>
                                  </a:lnTo>
                                  <a:lnTo>
                                    <a:pt x="65" y="6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1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1" name="Freeform 63"/>
                            <p:cNvSpPr/>
                            <p:nvPr/>
                          </p:nvSpPr>
                          <p:spPr bwMode="auto">
                            <a:xfrm>
                              <a:off x="2598" y="3100"/>
                              <a:ext cx="10" cy="6"/>
                            </a:xfrm>
                            <a:custGeom>
                              <a:avLst/>
                              <a:gdLst>
                                <a:gd name="T0" fmla="*/ 38 w 71"/>
                                <a:gd name="T1" fmla="*/ 0 h 45"/>
                                <a:gd name="T2" fmla="*/ 71 w 71"/>
                                <a:gd name="T3" fmla="*/ 22 h 45"/>
                                <a:gd name="T4" fmla="*/ 35 w 71"/>
                                <a:gd name="T5" fmla="*/ 45 h 45"/>
                                <a:gd name="T6" fmla="*/ 0 w 71"/>
                                <a:gd name="T7" fmla="*/ 22 h 45"/>
                                <a:gd name="T8" fmla="*/ 38 w 71"/>
                                <a:gd name="T9" fmla="*/ 0 h 4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1" h="45">
                                  <a:moveTo>
                                    <a:pt x="38" y="0"/>
                                  </a:moveTo>
                                  <a:lnTo>
                                    <a:pt x="71" y="22"/>
                                  </a:lnTo>
                                  <a:lnTo>
                                    <a:pt x="35" y="45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2" name="Freeform 64"/>
                            <p:cNvSpPr/>
                            <p:nvPr/>
                          </p:nvSpPr>
                          <p:spPr bwMode="auto">
                            <a:xfrm>
                              <a:off x="2604" y="3097"/>
                              <a:ext cx="10" cy="6"/>
                            </a:xfrm>
                            <a:custGeom>
                              <a:avLst/>
                              <a:gdLst>
                                <a:gd name="T0" fmla="*/ 34 w 68"/>
                                <a:gd name="T1" fmla="*/ 0 h 45"/>
                                <a:gd name="T2" fmla="*/ 68 w 68"/>
                                <a:gd name="T3" fmla="*/ 22 h 45"/>
                                <a:gd name="T4" fmla="*/ 31 w 68"/>
                                <a:gd name="T5" fmla="*/ 45 h 45"/>
                                <a:gd name="T6" fmla="*/ 0 w 68"/>
                                <a:gd name="T7" fmla="*/ 22 h 45"/>
                                <a:gd name="T8" fmla="*/ 34 w 68"/>
                                <a:gd name="T9" fmla="*/ 0 h 4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5">
                                  <a:moveTo>
                                    <a:pt x="34" y="0"/>
                                  </a:moveTo>
                                  <a:lnTo>
                                    <a:pt x="68" y="2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3" name="Freeform 65"/>
                            <p:cNvSpPr/>
                            <p:nvPr/>
                          </p:nvSpPr>
                          <p:spPr bwMode="auto">
                            <a:xfrm>
                              <a:off x="2610" y="3094"/>
                              <a:ext cx="10" cy="6"/>
                            </a:xfrm>
                            <a:custGeom>
                              <a:avLst/>
                              <a:gdLst>
                                <a:gd name="T0" fmla="*/ 36 w 69"/>
                                <a:gd name="T1" fmla="*/ 0 h 41"/>
                                <a:gd name="T2" fmla="*/ 69 w 69"/>
                                <a:gd name="T3" fmla="*/ 20 h 41"/>
                                <a:gd name="T4" fmla="*/ 34 w 69"/>
                                <a:gd name="T5" fmla="*/ 41 h 41"/>
                                <a:gd name="T6" fmla="*/ 0 w 69"/>
                                <a:gd name="T7" fmla="*/ 21 h 41"/>
                                <a:gd name="T8" fmla="*/ 36 w 69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1">
                                  <a:moveTo>
                                    <a:pt x="36" y="0"/>
                                  </a:moveTo>
                                  <a:lnTo>
                                    <a:pt x="69" y="20"/>
                                  </a:lnTo>
                                  <a:lnTo>
                                    <a:pt x="34" y="4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4" name="Freeform 66"/>
                            <p:cNvSpPr/>
                            <p:nvPr/>
                          </p:nvSpPr>
                          <p:spPr bwMode="auto">
                            <a:xfrm>
                              <a:off x="2616" y="3091"/>
                              <a:ext cx="10" cy="6"/>
                            </a:xfrm>
                            <a:custGeom>
                              <a:avLst/>
                              <a:gdLst>
                                <a:gd name="T0" fmla="*/ 35 w 68"/>
                                <a:gd name="T1" fmla="*/ 0 h 41"/>
                                <a:gd name="T2" fmla="*/ 68 w 68"/>
                                <a:gd name="T3" fmla="*/ 20 h 41"/>
                                <a:gd name="T4" fmla="*/ 32 w 68"/>
                                <a:gd name="T5" fmla="*/ 41 h 41"/>
                                <a:gd name="T6" fmla="*/ 0 w 68"/>
                                <a:gd name="T7" fmla="*/ 24 h 41"/>
                                <a:gd name="T8" fmla="*/ 35 w 68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1">
                                  <a:moveTo>
                                    <a:pt x="35" y="0"/>
                                  </a:moveTo>
                                  <a:lnTo>
                                    <a:pt x="68" y="20"/>
                                  </a:lnTo>
                                  <a:lnTo>
                                    <a:pt x="32" y="41"/>
                                  </a:lnTo>
                                  <a:lnTo>
                                    <a:pt x="0" y="24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5" name="Freeform 67"/>
                            <p:cNvSpPr/>
                            <p:nvPr/>
                          </p:nvSpPr>
                          <p:spPr bwMode="auto">
                            <a:xfrm>
                              <a:off x="2622" y="3089"/>
                              <a:ext cx="8" cy="5"/>
                            </a:xfrm>
                            <a:custGeom>
                              <a:avLst/>
                              <a:gdLst>
                                <a:gd name="T0" fmla="*/ 28 w 59"/>
                                <a:gd name="T1" fmla="*/ 0 h 38"/>
                                <a:gd name="T2" fmla="*/ 59 w 59"/>
                                <a:gd name="T3" fmla="*/ 20 h 38"/>
                                <a:gd name="T4" fmla="*/ 32 w 59"/>
                                <a:gd name="T5" fmla="*/ 38 h 38"/>
                                <a:gd name="T6" fmla="*/ 0 w 59"/>
                                <a:gd name="T7" fmla="*/ 16 h 38"/>
                                <a:gd name="T8" fmla="*/ 28 w 59"/>
                                <a:gd name="T9" fmla="*/ 0 h 3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9" h="38">
                                  <a:moveTo>
                                    <a:pt x="28" y="0"/>
                                  </a:moveTo>
                                  <a:lnTo>
                                    <a:pt x="59" y="20"/>
                                  </a:lnTo>
                                  <a:lnTo>
                                    <a:pt x="32" y="38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2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6" name="Freeform 68"/>
                            <p:cNvSpPr/>
                            <p:nvPr/>
                          </p:nvSpPr>
                          <p:spPr bwMode="auto">
                            <a:xfrm>
                              <a:off x="2627" y="3092"/>
                              <a:ext cx="8" cy="4"/>
                            </a:xfrm>
                            <a:custGeom>
                              <a:avLst/>
                              <a:gdLst>
                                <a:gd name="T0" fmla="*/ 29 w 61"/>
                                <a:gd name="T1" fmla="*/ 0 h 38"/>
                                <a:gd name="T2" fmla="*/ 61 w 61"/>
                                <a:gd name="T3" fmla="*/ 19 h 38"/>
                                <a:gd name="T4" fmla="*/ 32 w 61"/>
                                <a:gd name="T5" fmla="*/ 38 h 38"/>
                                <a:gd name="T6" fmla="*/ 0 w 61"/>
                                <a:gd name="T7" fmla="*/ 19 h 38"/>
                                <a:gd name="T8" fmla="*/ 29 w 61"/>
                                <a:gd name="T9" fmla="*/ 0 h 3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1" h="38">
                                  <a:moveTo>
                                    <a:pt x="29" y="0"/>
                                  </a:moveTo>
                                  <a:lnTo>
                                    <a:pt x="61" y="19"/>
                                  </a:lnTo>
                                  <a:lnTo>
                                    <a:pt x="32" y="38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2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7" name="Freeform 69"/>
                            <p:cNvSpPr/>
                            <p:nvPr/>
                          </p:nvSpPr>
                          <p:spPr bwMode="auto">
                            <a:xfrm>
                              <a:off x="2621" y="3094"/>
                              <a:ext cx="10" cy="5"/>
                            </a:xfrm>
                            <a:custGeom>
                              <a:avLst/>
                              <a:gdLst>
                                <a:gd name="T0" fmla="*/ 37 w 69"/>
                                <a:gd name="T1" fmla="*/ 0 h 41"/>
                                <a:gd name="T2" fmla="*/ 69 w 69"/>
                                <a:gd name="T3" fmla="*/ 18 h 41"/>
                                <a:gd name="T4" fmla="*/ 33 w 69"/>
                                <a:gd name="T5" fmla="*/ 41 h 41"/>
                                <a:gd name="T6" fmla="*/ 0 w 69"/>
                                <a:gd name="T7" fmla="*/ 20 h 41"/>
                                <a:gd name="T8" fmla="*/ 37 w 69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1">
                                  <a:moveTo>
                                    <a:pt x="37" y="0"/>
                                  </a:moveTo>
                                  <a:lnTo>
                                    <a:pt x="69" y="18"/>
                                  </a:lnTo>
                                  <a:lnTo>
                                    <a:pt x="33" y="41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8" name="Freeform 70"/>
                            <p:cNvSpPr/>
                            <p:nvPr/>
                          </p:nvSpPr>
                          <p:spPr bwMode="auto">
                            <a:xfrm>
                              <a:off x="2632" y="3094"/>
                              <a:ext cx="8" cy="5"/>
                            </a:xfrm>
                            <a:custGeom>
                              <a:avLst/>
                              <a:gdLst>
                                <a:gd name="T0" fmla="*/ 28 w 60"/>
                                <a:gd name="T1" fmla="*/ 0 h 39"/>
                                <a:gd name="T2" fmla="*/ 60 w 60"/>
                                <a:gd name="T3" fmla="*/ 19 h 39"/>
                                <a:gd name="T4" fmla="*/ 32 w 60"/>
                                <a:gd name="T5" fmla="*/ 39 h 39"/>
                                <a:gd name="T6" fmla="*/ 0 w 60"/>
                                <a:gd name="T7" fmla="*/ 18 h 39"/>
                                <a:gd name="T8" fmla="*/ 28 w 60"/>
                                <a:gd name="T9" fmla="*/ 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0" h="39">
                                  <a:moveTo>
                                    <a:pt x="28" y="0"/>
                                  </a:moveTo>
                                  <a:lnTo>
                                    <a:pt x="60" y="19"/>
                                  </a:lnTo>
                                  <a:lnTo>
                                    <a:pt x="32" y="39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2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19" name="Freeform 71"/>
                            <p:cNvSpPr/>
                            <p:nvPr/>
                          </p:nvSpPr>
                          <p:spPr bwMode="auto">
                            <a:xfrm>
                              <a:off x="2626" y="3096"/>
                              <a:ext cx="10" cy="6"/>
                            </a:xfrm>
                            <a:custGeom>
                              <a:avLst/>
                              <a:gdLst>
                                <a:gd name="T0" fmla="*/ 35 w 69"/>
                                <a:gd name="T1" fmla="*/ 0 h 44"/>
                                <a:gd name="T2" fmla="*/ 69 w 69"/>
                                <a:gd name="T3" fmla="*/ 21 h 44"/>
                                <a:gd name="T4" fmla="*/ 31 w 69"/>
                                <a:gd name="T5" fmla="*/ 44 h 44"/>
                                <a:gd name="T6" fmla="*/ 0 w 69"/>
                                <a:gd name="T7" fmla="*/ 23 h 44"/>
                                <a:gd name="T8" fmla="*/ 35 w 69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4">
                                  <a:moveTo>
                                    <a:pt x="35" y="0"/>
                                  </a:moveTo>
                                  <a:lnTo>
                                    <a:pt x="69" y="21"/>
                                  </a:lnTo>
                                  <a:lnTo>
                                    <a:pt x="31" y="44"/>
                                  </a:lnTo>
                                  <a:lnTo>
                                    <a:pt x="0" y="23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0" name="Freeform 72"/>
                            <p:cNvSpPr/>
                            <p:nvPr/>
                          </p:nvSpPr>
                          <p:spPr bwMode="auto">
                            <a:xfrm>
                              <a:off x="2599" y="3095"/>
                              <a:ext cx="10" cy="5"/>
                            </a:xfrm>
                            <a:custGeom>
                              <a:avLst/>
                              <a:gdLst>
                                <a:gd name="T0" fmla="*/ 35 w 69"/>
                                <a:gd name="T1" fmla="*/ 0 h 43"/>
                                <a:gd name="T2" fmla="*/ 69 w 69"/>
                                <a:gd name="T3" fmla="*/ 21 h 43"/>
                                <a:gd name="T4" fmla="*/ 34 w 69"/>
                                <a:gd name="T5" fmla="*/ 43 h 43"/>
                                <a:gd name="T6" fmla="*/ 0 w 69"/>
                                <a:gd name="T7" fmla="*/ 21 h 43"/>
                                <a:gd name="T8" fmla="*/ 35 w 69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3">
                                  <a:moveTo>
                                    <a:pt x="35" y="0"/>
                                  </a:moveTo>
                                  <a:lnTo>
                                    <a:pt x="69" y="21"/>
                                  </a:lnTo>
                                  <a:lnTo>
                                    <a:pt x="34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1" name="Freeform 73"/>
                            <p:cNvSpPr/>
                            <p:nvPr/>
                          </p:nvSpPr>
                          <p:spPr bwMode="auto">
                            <a:xfrm>
                              <a:off x="2605" y="3092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70"/>
                                <a:gd name="T1" fmla="*/ 0 h 42"/>
                                <a:gd name="T2" fmla="*/ 70 w 70"/>
                                <a:gd name="T3" fmla="*/ 22 h 42"/>
                                <a:gd name="T4" fmla="*/ 34 w 70"/>
                                <a:gd name="T5" fmla="*/ 42 h 42"/>
                                <a:gd name="T6" fmla="*/ 0 w 70"/>
                                <a:gd name="T7" fmla="*/ 22 h 42"/>
                                <a:gd name="T8" fmla="*/ 36 w 70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2">
                                  <a:moveTo>
                                    <a:pt x="36" y="0"/>
                                  </a:moveTo>
                                  <a:lnTo>
                                    <a:pt x="70" y="22"/>
                                  </a:lnTo>
                                  <a:lnTo>
                                    <a:pt x="34" y="42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2" name="Freeform 74"/>
                            <p:cNvSpPr/>
                            <p:nvPr/>
                          </p:nvSpPr>
                          <p:spPr bwMode="auto">
                            <a:xfrm>
                              <a:off x="2612" y="3089"/>
                              <a:ext cx="9" cy="5"/>
                            </a:xfrm>
                            <a:custGeom>
                              <a:avLst/>
                              <a:gdLst>
                                <a:gd name="T0" fmla="*/ 35 w 67"/>
                                <a:gd name="T1" fmla="*/ 0 h 42"/>
                                <a:gd name="T2" fmla="*/ 67 w 67"/>
                                <a:gd name="T3" fmla="*/ 19 h 42"/>
                                <a:gd name="T4" fmla="*/ 31 w 67"/>
                                <a:gd name="T5" fmla="*/ 42 h 42"/>
                                <a:gd name="T6" fmla="*/ 0 w 67"/>
                                <a:gd name="T7" fmla="*/ 22 h 42"/>
                                <a:gd name="T8" fmla="*/ 35 w 67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2">
                                  <a:moveTo>
                                    <a:pt x="35" y="0"/>
                                  </a:moveTo>
                                  <a:lnTo>
                                    <a:pt x="67" y="19"/>
                                  </a:lnTo>
                                  <a:lnTo>
                                    <a:pt x="31" y="42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3" name="Freeform 75"/>
                            <p:cNvSpPr/>
                            <p:nvPr/>
                          </p:nvSpPr>
                          <p:spPr bwMode="auto">
                            <a:xfrm>
                              <a:off x="2617" y="3087"/>
                              <a:ext cx="9" cy="5"/>
                            </a:xfrm>
                            <a:custGeom>
                              <a:avLst/>
                              <a:gdLst>
                                <a:gd name="T0" fmla="*/ 26 w 58"/>
                                <a:gd name="T1" fmla="*/ 0 h 36"/>
                                <a:gd name="T2" fmla="*/ 58 w 58"/>
                                <a:gd name="T3" fmla="*/ 19 h 36"/>
                                <a:gd name="T4" fmla="*/ 29 w 58"/>
                                <a:gd name="T5" fmla="*/ 36 h 36"/>
                                <a:gd name="T6" fmla="*/ 0 w 58"/>
                                <a:gd name="T7" fmla="*/ 17 h 36"/>
                                <a:gd name="T8" fmla="*/ 26 w 58"/>
                                <a:gd name="T9" fmla="*/ 0 h 3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8" h="36">
                                  <a:moveTo>
                                    <a:pt x="26" y="0"/>
                                  </a:moveTo>
                                  <a:lnTo>
                                    <a:pt x="58" y="19"/>
                                  </a:lnTo>
                                  <a:lnTo>
                                    <a:pt x="29" y="36"/>
                                  </a:lnTo>
                                  <a:lnTo>
                                    <a:pt x="0" y="17"/>
                                  </a:lnTo>
                                  <a:lnTo>
                                    <a:pt x="2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4" name="Freeform 76"/>
                            <p:cNvSpPr/>
                            <p:nvPr/>
                          </p:nvSpPr>
                          <p:spPr bwMode="auto">
                            <a:xfrm>
                              <a:off x="2593" y="3097"/>
                              <a:ext cx="10" cy="6"/>
                            </a:xfrm>
                            <a:custGeom>
                              <a:avLst/>
                              <a:gdLst>
                                <a:gd name="T0" fmla="*/ 36 w 72"/>
                                <a:gd name="T1" fmla="*/ 0 h 46"/>
                                <a:gd name="T2" fmla="*/ 72 w 72"/>
                                <a:gd name="T3" fmla="*/ 23 h 46"/>
                                <a:gd name="T4" fmla="*/ 35 w 72"/>
                                <a:gd name="T5" fmla="*/ 46 h 46"/>
                                <a:gd name="T6" fmla="*/ 0 w 72"/>
                                <a:gd name="T7" fmla="*/ 22 h 46"/>
                                <a:gd name="T8" fmla="*/ 36 w 72"/>
                                <a:gd name="T9" fmla="*/ 0 h 4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2" h="46">
                                  <a:moveTo>
                                    <a:pt x="36" y="0"/>
                                  </a:moveTo>
                                  <a:lnTo>
                                    <a:pt x="72" y="23"/>
                                  </a:lnTo>
                                  <a:lnTo>
                                    <a:pt x="35" y="46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5" name="Freeform 77"/>
                            <p:cNvSpPr/>
                            <p:nvPr/>
                          </p:nvSpPr>
                          <p:spPr bwMode="auto">
                            <a:xfrm>
                              <a:off x="2588" y="3095"/>
                              <a:ext cx="10" cy="5"/>
                            </a:xfrm>
                            <a:custGeom>
                              <a:avLst/>
                              <a:gdLst>
                                <a:gd name="T0" fmla="*/ 37 w 70"/>
                                <a:gd name="T1" fmla="*/ 0 h 45"/>
                                <a:gd name="T2" fmla="*/ 70 w 70"/>
                                <a:gd name="T3" fmla="*/ 22 h 45"/>
                                <a:gd name="T4" fmla="*/ 35 w 70"/>
                                <a:gd name="T5" fmla="*/ 45 h 45"/>
                                <a:gd name="T6" fmla="*/ 0 w 70"/>
                                <a:gd name="T7" fmla="*/ 22 h 45"/>
                                <a:gd name="T8" fmla="*/ 37 w 70"/>
                                <a:gd name="T9" fmla="*/ 0 h 4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5">
                                  <a:moveTo>
                                    <a:pt x="37" y="0"/>
                                  </a:moveTo>
                                  <a:lnTo>
                                    <a:pt x="70" y="22"/>
                                  </a:lnTo>
                                  <a:lnTo>
                                    <a:pt x="35" y="45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6" name="Freeform 78"/>
                            <p:cNvSpPr/>
                            <p:nvPr/>
                          </p:nvSpPr>
                          <p:spPr bwMode="auto">
                            <a:xfrm>
                              <a:off x="2594" y="3092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69"/>
                                <a:gd name="T1" fmla="*/ 0 h 44"/>
                                <a:gd name="T2" fmla="*/ 69 w 69"/>
                                <a:gd name="T3" fmla="*/ 23 h 44"/>
                                <a:gd name="T4" fmla="*/ 33 w 69"/>
                                <a:gd name="T5" fmla="*/ 44 h 44"/>
                                <a:gd name="T6" fmla="*/ 0 w 69"/>
                                <a:gd name="T7" fmla="*/ 23 h 44"/>
                                <a:gd name="T8" fmla="*/ 37 w 69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4">
                                  <a:moveTo>
                                    <a:pt x="37" y="0"/>
                                  </a:moveTo>
                                  <a:lnTo>
                                    <a:pt x="69" y="23"/>
                                  </a:lnTo>
                                  <a:lnTo>
                                    <a:pt x="33" y="44"/>
                                  </a:lnTo>
                                  <a:lnTo>
                                    <a:pt x="0" y="23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7" name="Freeform 79"/>
                            <p:cNvSpPr/>
                            <p:nvPr/>
                          </p:nvSpPr>
                          <p:spPr bwMode="auto">
                            <a:xfrm>
                              <a:off x="2601" y="3090"/>
                              <a:ext cx="9" cy="5"/>
                            </a:xfrm>
                            <a:custGeom>
                              <a:avLst/>
                              <a:gdLst>
                                <a:gd name="T0" fmla="*/ 35 w 67"/>
                                <a:gd name="T1" fmla="*/ 0 h 44"/>
                                <a:gd name="T2" fmla="*/ 67 w 67"/>
                                <a:gd name="T3" fmla="*/ 21 h 44"/>
                                <a:gd name="T4" fmla="*/ 33 w 67"/>
                                <a:gd name="T5" fmla="*/ 44 h 44"/>
                                <a:gd name="T6" fmla="*/ 0 w 67"/>
                                <a:gd name="T7" fmla="*/ 22 h 44"/>
                                <a:gd name="T8" fmla="*/ 35 w 67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4">
                                  <a:moveTo>
                                    <a:pt x="35" y="0"/>
                                  </a:moveTo>
                                  <a:lnTo>
                                    <a:pt x="67" y="21"/>
                                  </a:lnTo>
                                  <a:lnTo>
                                    <a:pt x="33" y="44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8" name="Freeform 80"/>
                            <p:cNvSpPr/>
                            <p:nvPr/>
                          </p:nvSpPr>
                          <p:spPr bwMode="auto">
                            <a:xfrm>
                              <a:off x="2607" y="3087"/>
                              <a:ext cx="9" cy="5"/>
                            </a:xfrm>
                            <a:custGeom>
                              <a:avLst/>
                              <a:gdLst>
                                <a:gd name="T0" fmla="*/ 36 w 67"/>
                                <a:gd name="T1" fmla="*/ 0 h 41"/>
                                <a:gd name="T2" fmla="*/ 67 w 67"/>
                                <a:gd name="T3" fmla="*/ 18 h 41"/>
                                <a:gd name="T4" fmla="*/ 32 w 67"/>
                                <a:gd name="T5" fmla="*/ 41 h 41"/>
                                <a:gd name="T6" fmla="*/ 0 w 67"/>
                                <a:gd name="T7" fmla="*/ 21 h 41"/>
                                <a:gd name="T8" fmla="*/ 36 w 67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1">
                                  <a:moveTo>
                                    <a:pt x="36" y="0"/>
                                  </a:moveTo>
                                  <a:lnTo>
                                    <a:pt x="67" y="18"/>
                                  </a:lnTo>
                                  <a:lnTo>
                                    <a:pt x="32" y="4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29" name="Freeform 81"/>
                            <p:cNvSpPr/>
                            <p:nvPr/>
                          </p:nvSpPr>
                          <p:spPr bwMode="auto">
                            <a:xfrm>
                              <a:off x="2612" y="3085"/>
                              <a:ext cx="9" cy="4"/>
                            </a:xfrm>
                            <a:custGeom>
                              <a:avLst/>
                              <a:gdLst>
                                <a:gd name="T0" fmla="*/ 27 w 57"/>
                                <a:gd name="T1" fmla="*/ 0 h 36"/>
                                <a:gd name="T2" fmla="*/ 57 w 57"/>
                                <a:gd name="T3" fmla="*/ 20 h 36"/>
                                <a:gd name="T4" fmla="*/ 31 w 57"/>
                                <a:gd name="T5" fmla="*/ 36 h 36"/>
                                <a:gd name="T6" fmla="*/ 0 w 57"/>
                                <a:gd name="T7" fmla="*/ 17 h 36"/>
                                <a:gd name="T8" fmla="*/ 27 w 57"/>
                                <a:gd name="T9" fmla="*/ 0 h 3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6">
                                  <a:moveTo>
                                    <a:pt x="27" y="0"/>
                                  </a:moveTo>
                                  <a:lnTo>
                                    <a:pt x="57" y="20"/>
                                  </a:lnTo>
                                  <a:lnTo>
                                    <a:pt x="31" y="36"/>
                                  </a:lnTo>
                                  <a:lnTo>
                                    <a:pt x="0" y="17"/>
                                  </a:lnTo>
                                  <a:lnTo>
                                    <a:pt x="2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0" name="Freeform 82"/>
                            <p:cNvSpPr/>
                            <p:nvPr/>
                          </p:nvSpPr>
                          <p:spPr bwMode="auto">
                            <a:xfrm>
                              <a:off x="2589" y="3090"/>
                              <a:ext cx="10" cy="5"/>
                            </a:xfrm>
                            <a:custGeom>
                              <a:avLst/>
                              <a:gdLst>
                                <a:gd name="T0" fmla="*/ 35 w 69"/>
                                <a:gd name="T1" fmla="*/ 0 h 44"/>
                                <a:gd name="T2" fmla="*/ 69 w 69"/>
                                <a:gd name="T3" fmla="*/ 22 h 44"/>
                                <a:gd name="T4" fmla="*/ 34 w 69"/>
                                <a:gd name="T5" fmla="*/ 44 h 44"/>
                                <a:gd name="T6" fmla="*/ 0 w 69"/>
                                <a:gd name="T7" fmla="*/ 22 h 44"/>
                                <a:gd name="T8" fmla="*/ 35 w 69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4">
                                  <a:moveTo>
                                    <a:pt x="35" y="0"/>
                                  </a:moveTo>
                                  <a:lnTo>
                                    <a:pt x="69" y="22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1" name="Freeform 83"/>
                            <p:cNvSpPr/>
                            <p:nvPr/>
                          </p:nvSpPr>
                          <p:spPr bwMode="auto">
                            <a:xfrm>
                              <a:off x="2595" y="3087"/>
                              <a:ext cx="11" cy="5"/>
                            </a:xfrm>
                            <a:custGeom>
                              <a:avLst/>
                              <a:gdLst>
                                <a:gd name="T0" fmla="*/ 38 w 71"/>
                                <a:gd name="T1" fmla="*/ 0 h 43"/>
                                <a:gd name="T2" fmla="*/ 71 w 71"/>
                                <a:gd name="T3" fmla="*/ 20 h 43"/>
                                <a:gd name="T4" fmla="*/ 34 w 71"/>
                                <a:gd name="T5" fmla="*/ 43 h 43"/>
                                <a:gd name="T6" fmla="*/ 0 w 71"/>
                                <a:gd name="T7" fmla="*/ 20 h 43"/>
                                <a:gd name="T8" fmla="*/ 38 w 71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1" h="43">
                                  <a:moveTo>
                                    <a:pt x="38" y="0"/>
                                  </a:moveTo>
                                  <a:lnTo>
                                    <a:pt x="71" y="20"/>
                                  </a:lnTo>
                                  <a:lnTo>
                                    <a:pt x="34" y="43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2" name="Freeform 84"/>
                            <p:cNvSpPr/>
                            <p:nvPr/>
                          </p:nvSpPr>
                          <p:spPr bwMode="auto">
                            <a:xfrm>
                              <a:off x="2602" y="3084"/>
                              <a:ext cx="10" cy="5"/>
                            </a:xfrm>
                            <a:custGeom>
                              <a:avLst/>
                              <a:gdLst>
                                <a:gd name="T0" fmla="*/ 35 w 68"/>
                                <a:gd name="T1" fmla="*/ 0 h 40"/>
                                <a:gd name="T2" fmla="*/ 68 w 68"/>
                                <a:gd name="T3" fmla="*/ 20 h 40"/>
                                <a:gd name="T4" fmla="*/ 32 w 68"/>
                                <a:gd name="T5" fmla="*/ 40 h 40"/>
                                <a:gd name="T6" fmla="*/ 0 w 68"/>
                                <a:gd name="T7" fmla="*/ 22 h 40"/>
                                <a:gd name="T8" fmla="*/ 35 w 68"/>
                                <a:gd name="T9" fmla="*/ 0 h 4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0">
                                  <a:moveTo>
                                    <a:pt x="35" y="0"/>
                                  </a:moveTo>
                                  <a:lnTo>
                                    <a:pt x="68" y="20"/>
                                  </a:lnTo>
                                  <a:lnTo>
                                    <a:pt x="32" y="40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3" name="Freeform 85"/>
                            <p:cNvSpPr/>
                            <p:nvPr/>
                          </p:nvSpPr>
                          <p:spPr bwMode="auto">
                            <a:xfrm>
                              <a:off x="2608" y="3083"/>
                              <a:ext cx="8" cy="4"/>
                            </a:xfrm>
                            <a:custGeom>
                              <a:avLst/>
                              <a:gdLst>
                                <a:gd name="T0" fmla="*/ 27 w 57"/>
                                <a:gd name="T1" fmla="*/ 0 h 33"/>
                                <a:gd name="T2" fmla="*/ 57 w 57"/>
                                <a:gd name="T3" fmla="*/ 17 h 33"/>
                                <a:gd name="T4" fmla="*/ 31 w 57"/>
                                <a:gd name="T5" fmla="*/ 33 h 33"/>
                                <a:gd name="T6" fmla="*/ 0 w 57"/>
                                <a:gd name="T7" fmla="*/ 13 h 33"/>
                                <a:gd name="T8" fmla="*/ 27 w 57"/>
                                <a:gd name="T9" fmla="*/ 0 h 3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3">
                                  <a:moveTo>
                                    <a:pt x="27" y="0"/>
                                  </a:moveTo>
                                  <a:lnTo>
                                    <a:pt x="57" y="17"/>
                                  </a:lnTo>
                                  <a:lnTo>
                                    <a:pt x="31" y="33"/>
                                  </a:lnTo>
                                  <a:lnTo>
                                    <a:pt x="0" y="13"/>
                                  </a:lnTo>
                                  <a:lnTo>
                                    <a:pt x="2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4" name="Freeform 86"/>
                            <p:cNvSpPr/>
                            <p:nvPr/>
                          </p:nvSpPr>
                          <p:spPr bwMode="auto">
                            <a:xfrm>
                              <a:off x="2583" y="3092"/>
                              <a:ext cx="10" cy="6"/>
                            </a:xfrm>
                            <a:custGeom>
                              <a:avLst/>
                              <a:gdLst>
                                <a:gd name="T0" fmla="*/ 39 w 73"/>
                                <a:gd name="T1" fmla="*/ 0 h 45"/>
                                <a:gd name="T2" fmla="*/ 73 w 73"/>
                                <a:gd name="T3" fmla="*/ 22 h 45"/>
                                <a:gd name="T4" fmla="*/ 38 w 73"/>
                                <a:gd name="T5" fmla="*/ 45 h 45"/>
                                <a:gd name="T6" fmla="*/ 0 w 73"/>
                                <a:gd name="T7" fmla="*/ 22 h 45"/>
                                <a:gd name="T8" fmla="*/ 39 w 73"/>
                                <a:gd name="T9" fmla="*/ 0 h 4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3" h="45">
                                  <a:moveTo>
                                    <a:pt x="39" y="0"/>
                                  </a:moveTo>
                                  <a:lnTo>
                                    <a:pt x="73" y="22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5" name="Freeform 87"/>
                            <p:cNvSpPr/>
                            <p:nvPr/>
                          </p:nvSpPr>
                          <p:spPr bwMode="auto">
                            <a:xfrm>
                              <a:off x="2578" y="3090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8"/>
                                <a:gd name="T1" fmla="*/ 0 h 44"/>
                                <a:gd name="T2" fmla="*/ 68 w 68"/>
                                <a:gd name="T3" fmla="*/ 21 h 44"/>
                                <a:gd name="T4" fmla="*/ 32 w 68"/>
                                <a:gd name="T5" fmla="*/ 44 h 44"/>
                                <a:gd name="T6" fmla="*/ 0 w 68"/>
                                <a:gd name="T7" fmla="*/ 22 h 44"/>
                                <a:gd name="T8" fmla="*/ 36 w 68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4">
                                  <a:moveTo>
                                    <a:pt x="36" y="0"/>
                                  </a:moveTo>
                                  <a:lnTo>
                                    <a:pt x="68" y="21"/>
                                  </a:lnTo>
                                  <a:lnTo>
                                    <a:pt x="32" y="44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6" name="Freeform 88"/>
                            <p:cNvSpPr/>
                            <p:nvPr/>
                          </p:nvSpPr>
                          <p:spPr bwMode="auto">
                            <a:xfrm>
                              <a:off x="2584" y="3087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70"/>
                                <a:gd name="T1" fmla="*/ 0 h 43"/>
                                <a:gd name="T2" fmla="*/ 70 w 70"/>
                                <a:gd name="T3" fmla="*/ 21 h 43"/>
                                <a:gd name="T4" fmla="*/ 34 w 70"/>
                                <a:gd name="T5" fmla="*/ 43 h 43"/>
                                <a:gd name="T6" fmla="*/ 0 w 70"/>
                                <a:gd name="T7" fmla="*/ 21 h 43"/>
                                <a:gd name="T8" fmla="*/ 37 w 70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3">
                                  <a:moveTo>
                                    <a:pt x="37" y="0"/>
                                  </a:moveTo>
                                  <a:lnTo>
                                    <a:pt x="70" y="21"/>
                                  </a:lnTo>
                                  <a:lnTo>
                                    <a:pt x="34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7" name="Freeform 89"/>
                            <p:cNvSpPr/>
                            <p:nvPr/>
                          </p:nvSpPr>
                          <p:spPr bwMode="auto">
                            <a:xfrm>
                              <a:off x="2591" y="3085"/>
                              <a:ext cx="9" cy="5"/>
                            </a:xfrm>
                            <a:custGeom>
                              <a:avLst/>
                              <a:gdLst>
                                <a:gd name="T0" fmla="*/ 35 w 68"/>
                                <a:gd name="T1" fmla="*/ 0 h 43"/>
                                <a:gd name="T2" fmla="*/ 68 w 68"/>
                                <a:gd name="T3" fmla="*/ 21 h 43"/>
                                <a:gd name="T4" fmla="*/ 33 w 68"/>
                                <a:gd name="T5" fmla="*/ 43 h 43"/>
                                <a:gd name="T6" fmla="*/ 0 w 68"/>
                                <a:gd name="T7" fmla="*/ 22 h 43"/>
                                <a:gd name="T8" fmla="*/ 35 w 68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3">
                                  <a:moveTo>
                                    <a:pt x="35" y="0"/>
                                  </a:moveTo>
                                  <a:lnTo>
                                    <a:pt x="68" y="21"/>
                                  </a:lnTo>
                                  <a:lnTo>
                                    <a:pt x="33" y="43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8" name="Freeform 90"/>
                            <p:cNvSpPr/>
                            <p:nvPr/>
                          </p:nvSpPr>
                          <p:spPr bwMode="auto">
                            <a:xfrm>
                              <a:off x="2597" y="3082"/>
                              <a:ext cx="9" cy="5"/>
                            </a:xfrm>
                            <a:custGeom>
                              <a:avLst/>
                              <a:gdLst>
                                <a:gd name="T0" fmla="*/ 36 w 67"/>
                                <a:gd name="T1" fmla="*/ 0 h 41"/>
                                <a:gd name="T2" fmla="*/ 67 w 67"/>
                                <a:gd name="T3" fmla="*/ 20 h 41"/>
                                <a:gd name="T4" fmla="*/ 32 w 67"/>
                                <a:gd name="T5" fmla="*/ 41 h 41"/>
                                <a:gd name="T6" fmla="*/ 0 w 67"/>
                                <a:gd name="T7" fmla="*/ 22 h 41"/>
                                <a:gd name="T8" fmla="*/ 36 w 67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1">
                                  <a:moveTo>
                                    <a:pt x="36" y="0"/>
                                  </a:moveTo>
                                  <a:lnTo>
                                    <a:pt x="67" y="20"/>
                                  </a:lnTo>
                                  <a:lnTo>
                                    <a:pt x="32" y="41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39" name="Freeform 91"/>
                            <p:cNvSpPr/>
                            <p:nvPr/>
                          </p:nvSpPr>
                          <p:spPr bwMode="auto">
                            <a:xfrm>
                              <a:off x="2603" y="3080"/>
                              <a:ext cx="8" cy="5"/>
                            </a:xfrm>
                            <a:custGeom>
                              <a:avLst/>
                              <a:gdLst>
                                <a:gd name="T0" fmla="*/ 26 w 56"/>
                                <a:gd name="T1" fmla="*/ 0 h 34"/>
                                <a:gd name="T2" fmla="*/ 56 w 56"/>
                                <a:gd name="T3" fmla="*/ 19 h 34"/>
                                <a:gd name="T4" fmla="*/ 29 w 56"/>
                                <a:gd name="T5" fmla="*/ 34 h 34"/>
                                <a:gd name="T6" fmla="*/ 0 w 56"/>
                                <a:gd name="T7" fmla="*/ 15 h 34"/>
                                <a:gd name="T8" fmla="*/ 26 w 56"/>
                                <a:gd name="T9" fmla="*/ 0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6" h="34">
                                  <a:moveTo>
                                    <a:pt x="26" y="0"/>
                                  </a:moveTo>
                                  <a:lnTo>
                                    <a:pt x="56" y="19"/>
                                  </a:lnTo>
                                  <a:lnTo>
                                    <a:pt x="29" y="34"/>
                                  </a:lnTo>
                                  <a:lnTo>
                                    <a:pt x="0" y="15"/>
                                  </a:lnTo>
                                  <a:lnTo>
                                    <a:pt x="2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0" name="Freeform 92"/>
                            <p:cNvSpPr/>
                            <p:nvPr/>
                          </p:nvSpPr>
                          <p:spPr bwMode="auto">
                            <a:xfrm>
                              <a:off x="2580" y="3085"/>
                              <a:ext cx="9" cy="5"/>
                            </a:xfrm>
                            <a:custGeom>
                              <a:avLst/>
                              <a:gdLst>
                                <a:gd name="T0" fmla="*/ 35 w 67"/>
                                <a:gd name="T1" fmla="*/ 0 h 43"/>
                                <a:gd name="T2" fmla="*/ 67 w 67"/>
                                <a:gd name="T3" fmla="*/ 21 h 43"/>
                                <a:gd name="T4" fmla="*/ 31 w 67"/>
                                <a:gd name="T5" fmla="*/ 43 h 43"/>
                                <a:gd name="T6" fmla="*/ 0 w 67"/>
                                <a:gd name="T7" fmla="*/ 21 h 43"/>
                                <a:gd name="T8" fmla="*/ 35 w 67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3">
                                  <a:moveTo>
                                    <a:pt x="35" y="0"/>
                                  </a:moveTo>
                                  <a:lnTo>
                                    <a:pt x="67" y="21"/>
                                  </a:lnTo>
                                  <a:lnTo>
                                    <a:pt x="31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1" name="Freeform 93"/>
                            <p:cNvSpPr/>
                            <p:nvPr/>
                          </p:nvSpPr>
                          <p:spPr bwMode="auto">
                            <a:xfrm>
                              <a:off x="2586" y="3082"/>
                              <a:ext cx="9" cy="5"/>
                            </a:xfrm>
                            <a:custGeom>
                              <a:avLst/>
                              <a:gdLst>
                                <a:gd name="T0" fmla="*/ 37 w 66"/>
                                <a:gd name="T1" fmla="*/ 0 h 42"/>
                                <a:gd name="T2" fmla="*/ 66 w 66"/>
                                <a:gd name="T3" fmla="*/ 20 h 42"/>
                                <a:gd name="T4" fmla="*/ 31 w 66"/>
                                <a:gd name="T5" fmla="*/ 42 h 42"/>
                                <a:gd name="T6" fmla="*/ 0 w 66"/>
                                <a:gd name="T7" fmla="*/ 21 h 42"/>
                                <a:gd name="T8" fmla="*/ 37 w 66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6" h="42">
                                  <a:moveTo>
                                    <a:pt x="37" y="0"/>
                                  </a:moveTo>
                                  <a:lnTo>
                                    <a:pt x="66" y="20"/>
                                  </a:lnTo>
                                  <a:lnTo>
                                    <a:pt x="31" y="42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2" name="Freeform 94"/>
                            <p:cNvSpPr/>
                            <p:nvPr/>
                          </p:nvSpPr>
                          <p:spPr bwMode="auto">
                            <a:xfrm>
                              <a:off x="2592" y="3080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8"/>
                                <a:gd name="T1" fmla="*/ 0 h 41"/>
                                <a:gd name="T2" fmla="*/ 68 w 68"/>
                                <a:gd name="T3" fmla="*/ 19 h 41"/>
                                <a:gd name="T4" fmla="*/ 31 w 68"/>
                                <a:gd name="T5" fmla="*/ 41 h 41"/>
                                <a:gd name="T6" fmla="*/ 0 w 68"/>
                                <a:gd name="T7" fmla="*/ 20 h 41"/>
                                <a:gd name="T8" fmla="*/ 36 w 68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1">
                                  <a:moveTo>
                                    <a:pt x="36" y="0"/>
                                  </a:moveTo>
                                  <a:lnTo>
                                    <a:pt x="68" y="19"/>
                                  </a:lnTo>
                                  <a:lnTo>
                                    <a:pt x="31" y="41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3" name="Freeform 95"/>
                            <p:cNvSpPr/>
                            <p:nvPr/>
                          </p:nvSpPr>
                          <p:spPr bwMode="auto">
                            <a:xfrm>
                              <a:off x="2598" y="3078"/>
                              <a:ext cx="8" cy="4"/>
                            </a:xfrm>
                            <a:custGeom>
                              <a:avLst/>
                              <a:gdLst>
                                <a:gd name="T0" fmla="*/ 26 w 57"/>
                                <a:gd name="T1" fmla="*/ 0 h 35"/>
                                <a:gd name="T2" fmla="*/ 57 w 57"/>
                                <a:gd name="T3" fmla="*/ 19 h 35"/>
                                <a:gd name="T4" fmla="*/ 33 w 57"/>
                                <a:gd name="T5" fmla="*/ 35 h 35"/>
                                <a:gd name="T6" fmla="*/ 0 w 57"/>
                                <a:gd name="T7" fmla="*/ 14 h 35"/>
                                <a:gd name="T8" fmla="*/ 26 w 57"/>
                                <a:gd name="T9" fmla="*/ 0 h 3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5">
                                  <a:moveTo>
                                    <a:pt x="26" y="0"/>
                                  </a:moveTo>
                                  <a:lnTo>
                                    <a:pt x="57" y="19"/>
                                  </a:lnTo>
                                  <a:lnTo>
                                    <a:pt x="33" y="35"/>
                                  </a:lnTo>
                                  <a:lnTo>
                                    <a:pt x="0" y="14"/>
                                  </a:lnTo>
                                  <a:lnTo>
                                    <a:pt x="2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4" name="Freeform 96"/>
                            <p:cNvSpPr/>
                            <p:nvPr/>
                          </p:nvSpPr>
                          <p:spPr bwMode="auto">
                            <a:xfrm>
                              <a:off x="2573" y="3087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70"/>
                                <a:gd name="T1" fmla="*/ 0 h 42"/>
                                <a:gd name="T2" fmla="*/ 70 w 70"/>
                                <a:gd name="T3" fmla="*/ 22 h 42"/>
                                <a:gd name="T4" fmla="*/ 30 w 70"/>
                                <a:gd name="T5" fmla="*/ 42 h 42"/>
                                <a:gd name="T6" fmla="*/ 0 w 70"/>
                                <a:gd name="T7" fmla="*/ 20 h 42"/>
                                <a:gd name="T8" fmla="*/ 37 w 70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2">
                                  <a:moveTo>
                                    <a:pt x="37" y="0"/>
                                  </a:moveTo>
                                  <a:lnTo>
                                    <a:pt x="70" y="22"/>
                                  </a:lnTo>
                                  <a:lnTo>
                                    <a:pt x="30" y="42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5" name="Freeform 97"/>
                            <p:cNvSpPr/>
                            <p:nvPr/>
                          </p:nvSpPr>
                          <p:spPr bwMode="auto">
                            <a:xfrm>
                              <a:off x="2568" y="3085"/>
                              <a:ext cx="10" cy="5"/>
                            </a:xfrm>
                            <a:custGeom>
                              <a:avLst/>
                              <a:gdLst>
                                <a:gd name="T0" fmla="*/ 41 w 70"/>
                                <a:gd name="T1" fmla="*/ 0 h 43"/>
                                <a:gd name="T2" fmla="*/ 70 w 70"/>
                                <a:gd name="T3" fmla="*/ 21 h 43"/>
                                <a:gd name="T4" fmla="*/ 33 w 70"/>
                                <a:gd name="T5" fmla="*/ 43 h 43"/>
                                <a:gd name="T6" fmla="*/ 0 w 70"/>
                                <a:gd name="T7" fmla="*/ 21 h 43"/>
                                <a:gd name="T8" fmla="*/ 41 w 70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3">
                                  <a:moveTo>
                                    <a:pt x="41" y="0"/>
                                  </a:moveTo>
                                  <a:lnTo>
                                    <a:pt x="70" y="21"/>
                                  </a:lnTo>
                                  <a:lnTo>
                                    <a:pt x="33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41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6" name="Freeform 98"/>
                            <p:cNvSpPr/>
                            <p:nvPr/>
                          </p:nvSpPr>
                          <p:spPr bwMode="auto">
                            <a:xfrm>
                              <a:off x="2575" y="3083"/>
                              <a:ext cx="10" cy="4"/>
                            </a:xfrm>
                            <a:custGeom>
                              <a:avLst/>
                              <a:gdLst>
                                <a:gd name="T0" fmla="*/ 37 w 69"/>
                                <a:gd name="T1" fmla="*/ 0 h 39"/>
                                <a:gd name="T2" fmla="*/ 69 w 69"/>
                                <a:gd name="T3" fmla="*/ 18 h 39"/>
                                <a:gd name="T4" fmla="*/ 32 w 69"/>
                                <a:gd name="T5" fmla="*/ 39 h 39"/>
                                <a:gd name="T6" fmla="*/ 0 w 69"/>
                                <a:gd name="T7" fmla="*/ 18 h 39"/>
                                <a:gd name="T8" fmla="*/ 37 w 69"/>
                                <a:gd name="T9" fmla="*/ 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39">
                                  <a:moveTo>
                                    <a:pt x="37" y="0"/>
                                  </a:moveTo>
                                  <a:lnTo>
                                    <a:pt x="69" y="18"/>
                                  </a:lnTo>
                                  <a:lnTo>
                                    <a:pt x="32" y="39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7" name="Freeform 99"/>
                            <p:cNvSpPr/>
                            <p:nvPr/>
                          </p:nvSpPr>
                          <p:spPr bwMode="auto">
                            <a:xfrm>
                              <a:off x="2581" y="3080"/>
                              <a:ext cx="10" cy="5"/>
                            </a:xfrm>
                            <a:custGeom>
                              <a:avLst/>
                              <a:gdLst>
                                <a:gd name="T0" fmla="*/ 37 w 69"/>
                                <a:gd name="T1" fmla="*/ 0 h 42"/>
                                <a:gd name="T2" fmla="*/ 69 w 69"/>
                                <a:gd name="T3" fmla="*/ 20 h 42"/>
                                <a:gd name="T4" fmla="*/ 33 w 69"/>
                                <a:gd name="T5" fmla="*/ 42 h 42"/>
                                <a:gd name="T6" fmla="*/ 0 w 69"/>
                                <a:gd name="T7" fmla="*/ 20 h 42"/>
                                <a:gd name="T8" fmla="*/ 37 w 69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2">
                                  <a:moveTo>
                                    <a:pt x="37" y="0"/>
                                  </a:moveTo>
                                  <a:lnTo>
                                    <a:pt x="69" y="20"/>
                                  </a:lnTo>
                                  <a:lnTo>
                                    <a:pt x="33" y="42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8" name="Freeform 100"/>
                            <p:cNvSpPr/>
                            <p:nvPr/>
                          </p:nvSpPr>
                          <p:spPr bwMode="auto">
                            <a:xfrm>
                              <a:off x="2587" y="3077"/>
                              <a:ext cx="10" cy="5"/>
                            </a:xfrm>
                            <a:custGeom>
                              <a:avLst/>
                              <a:gdLst>
                                <a:gd name="T0" fmla="*/ 38 w 70"/>
                                <a:gd name="T1" fmla="*/ 0 h 40"/>
                                <a:gd name="T2" fmla="*/ 70 w 70"/>
                                <a:gd name="T3" fmla="*/ 19 h 40"/>
                                <a:gd name="T4" fmla="*/ 32 w 70"/>
                                <a:gd name="T5" fmla="*/ 40 h 40"/>
                                <a:gd name="T6" fmla="*/ 0 w 70"/>
                                <a:gd name="T7" fmla="*/ 20 h 40"/>
                                <a:gd name="T8" fmla="*/ 38 w 70"/>
                                <a:gd name="T9" fmla="*/ 0 h 4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0">
                                  <a:moveTo>
                                    <a:pt x="38" y="0"/>
                                  </a:moveTo>
                                  <a:lnTo>
                                    <a:pt x="70" y="19"/>
                                  </a:lnTo>
                                  <a:lnTo>
                                    <a:pt x="32" y="40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49" name="Freeform 101"/>
                            <p:cNvSpPr/>
                            <p:nvPr/>
                          </p:nvSpPr>
                          <p:spPr bwMode="auto">
                            <a:xfrm>
                              <a:off x="2593" y="3076"/>
                              <a:ext cx="8" cy="4"/>
                            </a:xfrm>
                            <a:custGeom>
                              <a:avLst/>
                              <a:gdLst>
                                <a:gd name="T0" fmla="*/ 23 w 56"/>
                                <a:gd name="T1" fmla="*/ 0 h 34"/>
                                <a:gd name="T2" fmla="*/ 56 w 56"/>
                                <a:gd name="T3" fmla="*/ 20 h 34"/>
                                <a:gd name="T4" fmla="*/ 32 w 56"/>
                                <a:gd name="T5" fmla="*/ 34 h 34"/>
                                <a:gd name="T6" fmla="*/ 0 w 56"/>
                                <a:gd name="T7" fmla="*/ 12 h 34"/>
                                <a:gd name="T8" fmla="*/ 23 w 56"/>
                                <a:gd name="T9" fmla="*/ 0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6" h="34">
                                  <a:moveTo>
                                    <a:pt x="23" y="0"/>
                                  </a:moveTo>
                                  <a:lnTo>
                                    <a:pt x="56" y="20"/>
                                  </a:lnTo>
                                  <a:lnTo>
                                    <a:pt x="32" y="34"/>
                                  </a:lnTo>
                                  <a:lnTo>
                                    <a:pt x="0" y="12"/>
                                  </a:lnTo>
                                  <a:lnTo>
                                    <a:pt x="23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0" name="Freeform 102"/>
                            <p:cNvSpPr/>
                            <p:nvPr/>
                          </p:nvSpPr>
                          <p:spPr bwMode="auto">
                            <a:xfrm>
                              <a:off x="2571" y="3080"/>
                              <a:ext cx="9" cy="5"/>
                            </a:xfrm>
                            <a:custGeom>
                              <a:avLst/>
                              <a:gdLst>
                                <a:gd name="T0" fmla="*/ 39 w 64"/>
                                <a:gd name="T1" fmla="*/ 0 h 38"/>
                                <a:gd name="T2" fmla="*/ 64 w 64"/>
                                <a:gd name="T3" fmla="*/ 19 h 38"/>
                                <a:gd name="T4" fmla="*/ 27 w 64"/>
                                <a:gd name="T5" fmla="*/ 38 h 38"/>
                                <a:gd name="T6" fmla="*/ 0 w 64"/>
                                <a:gd name="T7" fmla="*/ 20 h 38"/>
                                <a:gd name="T8" fmla="*/ 39 w 64"/>
                                <a:gd name="T9" fmla="*/ 0 h 3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4" h="38">
                                  <a:moveTo>
                                    <a:pt x="39" y="0"/>
                                  </a:moveTo>
                                  <a:lnTo>
                                    <a:pt x="64" y="19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1" name="Freeform 103"/>
                            <p:cNvSpPr/>
                            <p:nvPr/>
                          </p:nvSpPr>
                          <p:spPr bwMode="auto">
                            <a:xfrm>
                              <a:off x="2577" y="3078"/>
                              <a:ext cx="9" cy="4"/>
                            </a:xfrm>
                            <a:custGeom>
                              <a:avLst/>
                              <a:gdLst>
                                <a:gd name="T0" fmla="*/ 37 w 64"/>
                                <a:gd name="T1" fmla="*/ 0 h 37"/>
                                <a:gd name="T2" fmla="*/ 64 w 64"/>
                                <a:gd name="T3" fmla="*/ 18 h 37"/>
                                <a:gd name="T4" fmla="*/ 26 w 64"/>
                                <a:gd name="T5" fmla="*/ 37 h 37"/>
                                <a:gd name="T6" fmla="*/ 0 w 64"/>
                                <a:gd name="T7" fmla="*/ 20 h 37"/>
                                <a:gd name="T8" fmla="*/ 37 w 64"/>
                                <a:gd name="T9" fmla="*/ 0 h 3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4" h="37">
                                  <a:moveTo>
                                    <a:pt x="37" y="0"/>
                                  </a:moveTo>
                                  <a:lnTo>
                                    <a:pt x="64" y="18"/>
                                  </a:lnTo>
                                  <a:lnTo>
                                    <a:pt x="26" y="37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2" name="Freeform 104"/>
                            <p:cNvSpPr/>
                            <p:nvPr/>
                          </p:nvSpPr>
                          <p:spPr bwMode="auto">
                            <a:xfrm>
                              <a:off x="2583" y="3075"/>
                              <a:ext cx="9" cy="5"/>
                            </a:xfrm>
                            <a:custGeom>
                              <a:avLst/>
                              <a:gdLst>
                                <a:gd name="T0" fmla="*/ 42 w 68"/>
                                <a:gd name="T1" fmla="*/ 0 h 39"/>
                                <a:gd name="T2" fmla="*/ 68 w 68"/>
                                <a:gd name="T3" fmla="*/ 17 h 39"/>
                                <a:gd name="T4" fmla="*/ 30 w 68"/>
                                <a:gd name="T5" fmla="*/ 39 h 39"/>
                                <a:gd name="T6" fmla="*/ 0 w 68"/>
                                <a:gd name="T7" fmla="*/ 20 h 39"/>
                                <a:gd name="T8" fmla="*/ 42 w 68"/>
                                <a:gd name="T9" fmla="*/ 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39">
                                  <a:moveTo>
                                    <a:pt x="42" y="0"/>
                                  </a:moveTo>
                                  <a:lnTo>
                                    <a:pt x="68" y="17"/>
                                  </a:lnTo>
                                  <a:lnTo>
                                    <a:pt x="30" y="39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4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3" name="Freeform 105"/>
                            <p:cNvSpPr/>
                            <p:nvPr/>
                          </p:nvSpPr>
                          <p:spPr bwMode="auto">
                            <a:xfrm>
                              <a:off x="2589" y="3073"/>
                              <a:ext cx="7" cy="5"/>
                            </a:xfrm>
                            <a:custGeom>
                              <a:avLst/>
                              <a:gdLst>
                                <a:gd name="T0" fmla="*/ 25 w 54"/>
                                <a:gd name="T1" fmla="*/ 0 h 34"/>
                                <a:gd name="T2" fmla="*/ 54 w 54"/>
                                <a:gd name="T3" fmla="*/ 22 h 34"/>
                                <a:gd name="T4" fmla="*/ 31 w 54"/>
                                <a:gd name="T5" fmla="*/ 34 h 34"/>
                                <a:gd name="T6" fmla="*/ 0 w 54"/>
                                <a:gd name="T7" fmla="*/ 13 h 34"/>
                                <a:gd name="T8" fmla="*/ 25 w 54"/>
                                <a:gd name="T9" fmla="*/ 0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4" h="34">
                                  <a:moveTo>
                                    <a:pt x="25" y="0"/>
                                  </a:moveTo>
                                  <a:lnTo>
                                    <a:pt x="54" y="22"/>
                                  </a:lnTo>
                                  <a:lnTo>
                                    <a:pt x="31" y="34"/>
                                  </a:lnTo>
                                  <a:lnTo>
                                    <a:pt x="0" y="13"/>
                                  </a:lnTo>
                                  <a:lnTo>
                                    <a:pt x="2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4" name="Freeform 106"/>
                            <p:cNvSpPr/>
                            <p:nvPr/>
                          </p:nvSpPr>
                          <p:spPr bwMode="auto">
                            <a:xfrm>
                              <a:off x="2564" y="3083"/>
                              <a:ext cx="10" cy="4"/>
                            </a:xfrm>
                            <a:custGeom>
                              <a:avLst/>
                              <a:gdLst>
                                <a:gd name="T0" fmla="*/ 40 w 64"/>
                                <a:gd name="T1" fmla="*/ 0 h 37"/>
                                <a:gd name="T2" fmla="*/ 64 w 64"/>
                                <a:gd name="T3" fmla="*/ 15 h 37"/>
                                <a:gd name="T4" fmla="*/ 25 w 64"/>
                                <a:gd name="T5" fmla="*/ 37 h 37"/>
                                <a:gd name="T6" fmla="*/ 0 w 64"/>
                                <a:gd name="T7" fmla="*/ 19 h 37"/>
                                <a:gd name="T8" fmla="*/ 40 w 64"/>
                                <a:gd name="T9" fmla="*/ 0 h 3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4" h="37">
                                  <a:moveTo>
                                    <a:pt x="40" y="0"/>
                                  </a:moveTo>
                                  <a:lnTo>
                                    <a:pt x="64" y="15"/>
                                  </a:lnTo>
                                  <a:lnTo>
                                    <a:pt x="25" y="37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4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5" name="Freeform 107"/>
                            <p:cNvSpPr/>
                            <p:nvPr/>
                          </p:nvSpPr>
                          <p:spPr bwMode="auto">
                            <a:xfrm>
                              <a:off x="2565" y="3077"/>
                              <a:ext cx="11" cy="6"/>
                            </a:xfrm>
                            <a:custGeom>
                              <a:avLst/>
                              <a:gdLst>
                                <a:gd name="T0" fmla="*/ 38 w 74"/>
                                <a:gd name="T1" fmla="*/ 0 h 44"/>
                                <a:gd name="T2" fmla="*/ 74 w 74"/>
                                <a:gd name="T3" fmla="*/ 23 h 44"/>
                                <a:gd name="T4" fmla="*/ 38 w 74"/>
                                <a:gd name="T5" fmla="*/ 44 h 44"/>
                                <a:gd name="T6" fmla="*/ 0 w 74"/>
                                <a:gd name="T7" fmla="*/ 18 h 44"/>
                                <a:gd name="T8" fmla="*/ 38 w 74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4" h="44">
                                  <a:moveTo>
                                    <a:pt x="38" y="0"/>
                                  </a:moveTo>
                                  <a:lnTo>
                                    <a:pt x="74" y="23"/>
                                  </a:lnTo>
                                  <a:lnTo>
                                    <a:pt x="38" y="44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6" name="Freeform 108"/>
                            <p:cNvSpPr/>
                            <p:nvPr/>
                          </p:nvSpPr>
                          <p:spPr bwMode="auto">
                            <a:xfrm>
                              <a:off x="2571" y="3075"/>
                              <a:ext cx="11" cy="5"/>
                            </a:xfrm>
                            <a:custGeom>
                              <a:avLst/>
                              <a:gdLst>
                                <a:gd name="T0" fmla="*/ 40 w 75"/>
                                <a:gd name="T1" fmla="*/ 0 h 43"/>
                                <a:gd name="T2" fmla="*/ 75 w 75"/>
                                <a:gd name="T3" fmla="*/ 24 h 43"/>
                                <a:gd name="T4" fmla="*/ 37 w 75"/>
                                <a:gd name="T5" fmla="*/ 43 h 43"/>
                                <a:gd name="T6" fmla="*/ 0 w 75"/>
                                <a:gd name="T7" fmla="*/ 19 h 43"/>
                                <a:gd name="T8" fmla="*/ 40 w 75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5" h="43">
                                  <a:moveTo>
                                    <a:pt x="40" y="0"/>
                                  </a:moveTo>
                                  <a:lnTo>
                                    <a:pt x="75" y="24"/>
                                  </a:lnTo>
                                  <a:lnTo>
                                    <a:pt x="37" y="43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4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7" name="Freeform 109"/>
                            <p:cNvSpPr/>
                            <p:nvPr/>
                          </p:nvSpPr>
                          <p:spPr bwMode="auto">
                            <a:xfrm>
                              <a:off x="2577" y="3072"/>
                              <a:ext cx="11" cy="6"/>
                            </a:xfrm>
                            <a:custGeom>
                              <a:avLst/>
                              <a:gdLst>
                                <a:gd name="T0" fmla="*/ 38 w 74"/>
                                <a:gd name="T1" fmla="*/ 0 h 42"/>
                                <a:gd name="T2" fmla="*/ 74 w 74"/>
                                <a:gd name="T3" fmla="*/ 21 h 42"/>
                                <a:gd name="T4" fmla="*/ 36 w 74"/>
                                <a:gd name="T5" fmla="*/ 42 h 42"/>
                                <a:gd name="T6" fmla="*/ 0 w 74"/>
                                <a:gd name="T7" fmla="*/ 19 h 42"/>
                                <a:gd name="T8" fmla="*/ 38 w 74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4" h="42">
                                  <a:moveTo>
                                    <a:pt x="38" y="0"/>
                                  </a:moveTo>
                                  <a:lnTo>
                                    <a:pt x="74" y="21"/>
                                  </a:lnTo>
                                  <a:lnTo>
                                    <a:pt x="36" y="42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8" name="Freeform 110"/>
                            <p:cNvSpPr/>
                            <p:nvPr/>
                          </p:nvSpPr>
                          <p:spPr bwMode="auto">
                            <a:xfrm>
                              <a:off x="2584" y="3071"/>
                              <a:ext cx="8" cy="4"/>
                            </a:xfrm>
                            <a:custGeom>
                              <a:avLst/>
                              <a:gdLst>
                                <a:gd name="T0" fmla="*/ 26 w 57"/>
                                <a:gd name="T1" fmla="*/ 0 h 34"/>
                                <a:gd name="T2" fmla="*/ 57 w 57"/>
                                <a:gd name="T3" fmla="*/ 20 h 34"/>
                                <a:gd name="T4" fmla="*/ 35 w 57"/>
                                <a:gd name="T5" fmla="*/ 34 h 34"/>
                                <a:gd name="T6" fmla="*/ 0 w 57"/>
                                <a:gd name="T7" fmla="*/ 13 h 34"/>
                                <a:gd name="T8" fmla="*/ 26 w 57"/>
                                <a:gd name="T9" fmla="*/ 0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4">
                                  <a:moveTo>
                                    <a:pt x="26" y="0"/>
                                  </a:moveTo>
                                  <a:lnTo>
                                    <a:pt x="57" y="20"/>
                                  </a:lnTo>
                                  <a:lnTo>
                                    <a:pt x="35" y="34"/>
                                  </a:lnTo>
                                  <a:lnTo>
                                    <a:pt x="0" y="13"/>
                                  </a:lnTo>
                                  <a:lnTo>
                                    <a:pt x="2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59" name="Freeform 111"/>
                            <p:cNvSpPr/>
                            <p:nvPr/>
                          </p:nvSpPr>
                          <p:spPr bwMode="auto">
                            <a:xfrm>
                              <a:off x="2558" y="3080"/>
                              <a:ext cx="12" cy="5"/>
                            </a:xfrm>
                            <a:custGeom>
                              <a:avLst/>
                              <a:gdLst>
                                <a:gd name="T0" fmla="*/ 41 w 79"/>
                                <a:gd name="T1" fmla="*/ 0 h 45"/>
                                <a:gd name="T2" fmla="*/ 79 w 79"/>
                                <a:gd name="T3" fmla="*/ 24 h 45"/>
                                <a:gd name="T4" fmla="*/ 42 w 79"/>
                                <a:gd name="T5" fmla="*/ 45 h 45"/>
                                <a:gd name="T6" fmla="*/ 0 w 79"/>
                                <a:gd name="T7" fmla="*/ 18 h 45"/>
                                <a:gd name="T8" fmla="*/ 41 w 79"/>
                                <a:gd name="T9" fmla="*/ 0 h 4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9" h="45">
                                  <a:moveTo>
                                    <a:pt x="41" y="0"/>
                                  </a:moveTo>
                                  <a:lnTo>
                                    <a:pt x="79" y="24"/>
                                  </a:lnTo>
                                  <a:lnTo>
                                    <a:pt x="42" y="45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41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0" name="Freeform 112"/>
                            <p:cNvSpPr/>
                            <p:nvPr/>
                          </p:nvSpPr>
                          <p:spPr bwMode="auto">
                            <a:xfrm>
                              <a:off x="2550" y="3075"/>
                              <a:ext cx="14" cy="7"/>
                            </a:xfrm>
                            <a:custGeom>
                              <a:avLst/>
                              <a:gdLst>
                                <a:gd name="T0" fmla="*/ 38 w 99"/>
                                <a:gd name="T1" fmla="*/ 0 h 57"/>
                                <a:gd name="T2" fmla="*/ 99 w 99"/>
                                <a:gd name="T3" fmla="*/ 39 h 57"/>
                                <a:gd name="T4" fmla="*/ 60 w 99"/>
                                <a:gd name="T5" fmla="*/ 57 h 57"/>
                                <a:gd name="T6" fmla="*/ 0 w 99"/>
                                <a:gd name="T7" fmla="*/ 17 h 57"/>
                                <a:gd name="T8" fmla="*/ 38 w 99"/>
                                <a:gd name="T9" fmla="*/ 0 h 5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99" h="57">
                                  <a:moveTo>
                                    <a:pt x="38" y="0"/>
                                  </a:moveTo>
                                  <a:lnTo>
                                    <a:pt x="99" y="39"/>
                                  </a:lnTo>
                                  <a:lnTo>
                                    <a:pt x="60" y="57"/>
                                  </a:lnTo>
                                  <a:lnTo>
                                    <a:pt x="0" y="17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1" name="Freeform 113"/>
                            <p:cNvSpPr/>
                            <p:nvPr/>
                          </p:nvSpPr>
                          <p:spPr bwMode="auto">
                            <a:xfrm>
                              <a:off x="2551" y="3068"/>
                              <a:ext cx="19" cy="12"/>
                            </a:xfrm>
                            <a:custGeom>
                              <a:avLst/>
                              <a:gdLst>
                                <a:gd name="T0" fmla="*/ 0 w 130"/>
                                <a:gd name="T1" fmla="*/ 33 h 91"/>
                                <a:gd name="T2" fmla="*/ 94 w 130"/>
                                <a:gd name="T3" fmla="*/ 91 h 91"/>
                                <a:gd name="T4" fmla="*/ 130 w 130"/>
                                <a:gd name="T5" fmla="*/ 73 h 91"/>
                                <a:gd name="T6" fmla="*/ 64 w 130"/>
                                <a:gd name="T7" fmla="*/ 33 h 91"/>
                                <a:gd name="T8" fmla="*/ 110 w 130"/>
                                <a:gd name="T9" fmla="*/ 12 h 91"/>
                                <a:gd name="T10" fmla="*/ 88 w 130"/>
                                <a:gd name="T11" fmla="*/ 0 h 91"/>
                                <a:gd name="T12" fmla="*/ 0 w 130"/>
                                <a:gd name="T13" fmla="*/ 33 h 9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</a:cxnLst>
                              <a:rect l="0" t="0" r="r" b="b"/>
                              <a:pathLst>
                                <a:path w="130" h="91">
                                  <a:moveTo>
                                    <a:pt x="0" y="33"/>
                                  </a:moveTo>
                                  <a:lnTo>
                                    <a:pt x="94" y="91"/>
                                  </a:lnTo>
                                  <a:lnTo>
                                    <a:pt x="130" y="73"/>
                                  </a:lnTo>
                                  <a:lnTo>
                                    <a:pt x="64" y="33"/>
                                  </a:lnTo>
                                  <a:lnTo>
                                    <a:pt x="110" y="12"/>
                                  </a:lnTo>
                                  <a:lnTo>
                                    <a:pt x="88" y="0"/>
                                  </a:lnTo>
                                  <a:lnTo>
                                    <a:pt x="0" y="3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2" name="Freeform 114"/>
                            <p:cNvSpPr/>
                            <p:nvPr/>
                          </p:nvSpPr>
                          <p:spPr bwMode="auto">
                            <a:xfrm>
                              <a:off x="2562" y="3070"/>
                              <a:ext cx="15" cy="8"/>
                            </a:xfrm>
                            <a:custGeom>
                              <a:avLst/>
                              <a:gdLst>
                                <a:gd name="T0" fmla="*/ 0 w 100"/>
                                <a:gd name="T1" fmla="*/ 19 h 58"/>
                                <a:gd name="T2" fmla="*/ 61 w 100"/>
                                <a:gd name="T3" fmla="*/ 58 h 58"/>
                                <a:gd name="T4" fmla="*/ 100 w 100"/>
                                <a:gd name="T5" fmla="*/ 40 h 58"/>
                                <a:gd name="T6" fmla="*/ 37 w 100"/>
                                <a:gd name="T7" fmla="*/ 0 h 58"/>
                                <a:gd name="T8" fmla="*/ 0 w 100"/>
                                <a:gd name="T9" fmla="*/ 19 h 5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0" h="58">
                                  <a:moveTo>
                                    <a:pt x="0" y="19"/>
                                  </a:moveTo>
                                  <a:lnTo>
                                    <a:pt x="61" y="58"/>
                                  </a:lnTo>
                                  <a:lnTo>
                                    <a:pt x="100" y="40"/>
                                  </a:lnTo>
                                  <a:lnTo>
                                    <a:pt x="37" y="0"/>
                                  </a:lnTo>
                                  <a:lnTo>
                                    <a:pt x="0" y="1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3" name="Freeform 115"/>
                            <p:cNvSpPr/>
                            <p:nvPr/>
                          </p:nvSpPr>
                          <p:spPr bwMode="auto">
                            <a:xfrm>
                              <a:off x="2573" y="3070"/>
                              <a:ext cx="10" cy="5"/>
                            </a:xfrm>
                            <a:custGeom>
                              <a:avLst/>
                              <a:gdLst>
                                <a:gd name="T0" fmla="*/ 0 w 67"/>
                                <a:gd name="T1" fmla="*/ 20 h 39"/>
                                <a:gd name="T2" fmla="*/ 28 w 67"/>
                                <a:gd name="T3" fmla="*/ 39 h 39"/>
                                <a:gd name="T4" fmla="*/ 67 w 67"/>
                                <a:gd name="T5" fmla="*/ 19 h 39"/>
                                <a:gd name="T6" fmla="*/ 40 w 67"/>
                                <a:gd name="T7" fmla="*/ 0 h 39"/>
                                <a:gd name="T8" fmla="*/ 0 w 67"/>
                                <a:gd name="T9" fmla="*/ 2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39">
                                  <a:moveTo>
                                    <a:pt x="0" y="20"/>
                                  </a:moveTo>
                                  <a:lnTo>
                                    <a:pt x="28" y="39"/>
                                  </a:lnTo>
                                  <a:lnTo>
                                    <a:pt x="67" y="19"/>
                                  </a:lnTo>
                                  <a:lnTo>
                                    <a:pt x="40" y="0"/>
                                  </a:lnTo>
                                  <a:lnTo>
                                    <a:pt x="0" y="2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4" name="Freeform 116"/>
                            <p:cNvSpPr/>
                            <p:nvPr/>
                          </p:nvSpPr>
                          <p:spPr bwMode="auto">
                            <a:xfrm>
                              <a:off x="2568" y="3068"/>
                              <a:ext cx="10" cy="5"/>
                            </a:xfrm>
                            <a:custGeom>
                              <a:avLst/>
                              <a:gdLst>
                                <a:gd name="T0" fmla="*/ 0 w 70"/>
                                <a:gd name="T1" fmla="*/ 20 h 39"/>
                                <a:gd name="T2" fmla="*/ 32 w 70"/>
                                <a:gd name="T3" fmla="*/ 39 h 39"/>
                                <a:gd name="T4" fmla="*/ 70 w 70"/>
                                <a:gd name="T5" fmla="*/ 20 h 39"/>
                                <a:gd name="T6" fmla="*/ 38 w 70"/>
                                <a:gd name="T7" fmla="*/ 0 h 39"/>
                                <a:gd name="T8" fmla="*/ 0 w 70"/>
                                <a:gd name="T9" fmla="*/ 2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39">
                                  <a:moveTo>
                                    <a:pt x="0" y="20"/>
                                  </a:moveTo>
                                  <a:lnTo>
                                    <a:pt x="32" y="39"/>
                                  </a:lnTo>
                                  <a:lnTo>
                                    <a:pt x="70" y="20"/>
                                  </a:lnTo>
                                  <a:lnTo>
                                    <a:pt x="38" y="0"/>
                                  </a:lnTo>
                                  <a:lnTo>
                                    <a:pt x="0" y="2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5" name="Freeform 117"/>
                            <p:cNvSpPr/>
                            <p:nvPr/>
                          </p:nvSpPr>
                          <p:spPr bwMode="auto">
                            <a:xfrm>
                              <a:off x="2564" y="3066"/>
                              <a:ext cx="9" cy="4"/>
                            </a:xfrm>
                            <a:custGeom>
                              <a:avLst/>
                              <a:gdLst>
                                <a:gd name="T0" fmla="*/ 0 w 66"/>
                                <a:gd name="T1" fmla="*/ 18 h 34"/>
                                <a:gd name="T2" fmla="*/ 26 w 66"/>
                                <a:gd name="T3" fmla="*/ 34 h 34"/>
                                <a:gd name="T4" fmla="*/ 66 w 66"/>
                                <a:gd name="T5" fmla="*/ 16 h 34"/>
                                <a:gd name="T6" fmla="*/ 43 w 66"/>
                                <a:gd name="T7" fmla="*/ 0 h 34"/>
                                <a:gd name="T8" fmla="*/ 0 w 66"/>
                                <a:gd name="T9" fmla="*/ 18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6" h="34">
                                  <a:moveTo>
                                    <a:pt x="0" y="18"/>
                                  </a:moveTo>
                                  <a:lnTo>
                                    <a:pt x="26" y="34"/>
                                  </a:lnTo>
                                  <a:lnTo>
                                    <a:pt x="66" y="16"/>
                                  </a:lnTo>
                                  <a:lnTo>
                                    <a:pt x="43" y="0"/>
                                  </a:lnTo>
                                  <a:lnTo>
                                    <a:pt x="0" y="18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6" name="Freeform 118"/>
                            <p:cNvSpPr/>
                            <p:nvPr/>
                          </p:nvSpPr>
                          <p:spPr bwMode="auto">
                            <a:xfrm>
                              <a:off x="2571" y="3065"/>
                              <a:ext cx="7" cy="3"/>
                            </a:xfrm>
                            <a:custGeom>
                              <a:avLst/>
                              <a:gdLst>
                                <a:gd name="T0" fmla="*/ 0 w 48"/>
                                <a:gd name="T1" fmla="*/ 10 h 28"/>
                                <a:gd name="T2" fmla="*/ 26 w 48"/>
                                <a:gd name="T3" fmla="*/ 28 h 28"/>
                                <a:gd name="T4" fmla="*/ 48 w 48"/>
                                <a:gd name="T5" fmla="*/ 16 h 28"/>
                                <a:gd name="T6" fmla="*/ 23 w 48"/>
                                <a:gd name="T7" fmla="*/ 0 h 28"/>
                                <a:gd name="T8" fmla="*/ 0 w 48"/>
                                <a:gd name="T9" fmla="*/ 10 h 2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48" h="28">
                                  <a:moveTo>
                                    <a:pt x="0" y="10"/>
                                  </a:moveTo>
                                  <a:lnTo>
                                    <a:pt x="26" y="28"/>
                                  </a:lnTo>
                                  <a:lnTo>
                                    <a:pt x="48" y="16"/>
                                  </a:lnTo>
                                  <a:lnTo>
                                    <a:pt x="23" y="0"/>
                                  </a:lnTo>
                                  <a:lnTo>
                                    <a:pt x="0" y="1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7" name="Freeform 119"/>
                            <p:cNvSpPr/>
                            <p:nvPr/>
                          </p:nvSpPr>
                          <p:spPr bwMode="auto">
                            <a:xfrm>
                              <a:off x="2574" y="3066"/>
                              <a:ext cx="8" cy="4"/>
                            </a:xfrm>
                            <a:custGeom>
                              <a:avLst/>
                              <a:gdLst>
                                <a:gd name="T0" fmla="*/ 0 w 54"/>
                                <a:gd name="T1" fmla="*/ 13 h 32"/>
                                <a:gd name="T2" fmla="*/ 33 w 54"/>
                                <a:gd name="T3" fmla="*/ 32 h 32"/>
                                <a:gd name="T4" fmla="*/ 54 w 54"/>
                                <a:gd name="T5" fmla="*/ 23 h 32"/>
                                <a:gd name="T6" fmla="*/ 23 w 54"/>
                                <a:gd name="T7" fmla="*/ 0 h 32"/>
                                <a:gd name="T8" fmla="*/ 0 w 54"/>
                                <a:gd name="T9" fmla="*/ 13 h 3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4" h="32">
                                  <a:moveTo>
                                    <a:pt x="0" y="13"/>
                                  </a:moveTo>
                                  <a:lnTo>
                                    <a:pt x="33" y="32"/>
                                  </a:lnTo>
                                  <a:lnTo>
                                    <a:pt x="54" y="23"/>
                                  </a:lnTo>
                                  <a:lnTo>
                                    <a:pt x="23" y="0"/>
                                  </a:lnTo>
                                  <a:lnTo>
                                    <a:pt x="0" y="1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8" name="Freeform 120"/>
                            <p:cNvSpPr/>
                            <p:nvPr/>
                          </p:nvSpPr>
                          <p:spPr bwMode="auto">
                            <a:xfrm>
                              <a:off x="2545" y="3073"/>
                              <a:ext cx="10" cy="5"/>
                            </a:xfrm>
                            <a:custGeom>
                              <a:avLst/>
                              <a:gdLst>
                                <a:gd name="T0" fmla="*/ 0 w 68"/>
                                <a:gd name="T1" fmla="*/ 17 h 39"/>
                                <a:gd name="T2" fmla="*/ 28 w 68"/>
                                <a:gd name="T3" fmla="*/ 39 h 39"/>
                                <a:gd name="T4" fmla="*/ 68 w 68"/>
                                <a:gd name="T5" fmla="*/ 19 h 39"/>
                                <a:gd name="T6" fmla="*/ 43 w 68"/>
                                <a:gd name="T7" fmla="*/ 0 h 39"/>
                                <a:gd name="T8" fmla="*/ 0 w 68"/>
                                <a:gd name="T9" fmla="*/ 17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39">
                                  <a:moveTo>
                                    <a:pt x="0" y="17"/>
                                  </a:moveTo>
                                  <a:lnTo>
                                    <a:pt x="28" y="39"/>
                                  </a:lnTo>
                                  <a:lnTo>
                                    <a:pt x="68" y="19"/>
                                  </a:lnTo>
                                  <a:lnTo>
                                    <a:pt x="43" y="0"/>
                                  </a:lnTo>
                                  <a:lnTo>
                                    <a:pt x="0" y="17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69" name="Freeform 121"/>
                            <p:cNvSpPr/>
                            <p:nvPr/>
                          </p:nvSpPr>
                          <p:spPr bwMode="auto">
                            <a:xfrm>
                              <a:off x="2579" y="3069"/>
                              <a:ext cx="8" cy="4"/>
                            </a:xfrm>
                            <a:custGeom>
                              <a:avLst/>
                              <a:gdLst>
                                <a:gd name="T0" fmla="*/ 0 w 54"/>
                                <a:gd name="T1" fmla="*/ 12 h 32"/>
                                <a:gd name="T2" fmla="*/ 31 w 54"/>
                                <a:gd name="T3" fmla="*/ 32 h 32"/>
                                <a:gd name="T4" fmla="*/ 54 w 54"/>
                                <a:gd name="T5" fmla="*/ 20 h 32"/>
                                <a:gd name="T6" fmla="*/ 22 w 54"/>
                                <a:gd name="T7" fmla="*/ 0 h 32"/>
                                <a:gd name="T8" fmla="*/ 0 w 54"/>
                                <a:gd name="T9" fmla="*/ 12 h 3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4" h="32">
                                  <a:moveTo>
                                    <a:pt x="0" y="12"/>
                                  </a:moveTo>
                                  <a:lnTo>
                                    <a:pt x="31" y="32"/>
                                  </a:lnTo>
                                  <a:lnTo>
                                    <a:pt x="54" y="20"/>
                                  </a:lnTo>
                                  <a:lnTo>
                                    <a:pt x="22" y="0"/>
                                  </a:lnTo>
                                  <a:lnTo>
                                    <a:pt x="0" y="1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808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  <p:grpSp>
                        <p:nvGrpSpPr>
                          <p:cNvPr id="642170" name="Group 122"/>
                          <p:cNvGrpSpPr/>
                          <p:nvPr/>
                        </p:nvGrpSpPr>
                        <p:grpSpPr bwMode="auto">
                          <a:xfrm>
                            <a:off x="2533" y="3064"/>
                            <a:ext cx="107" cy="49"/>
                            <a:chOff x="2533" y="3064"/>
                            <a:chExt cx="107" cy="49"/>
                          </a:xfrm>
                        </p:grpSpPr>
                        <p:sp>
                          <p:nvSpPr>
                            <p:cNvPr id="642171" name="Freeform 123"/>
                            <p:cNvSpPr/>
                            <p:nvPr/>
                          </p:nvSpPr>
                          <p:spPr bwMode="auto">
                            <a:xfrm>
                              <a:off x="2558" y="3085"/>
                              <a:ext cx="29" cy="15"/>
                            </a:xfrm>
                            <a:custGeom>
                              <a:avLst/>
                              <a:gdLst>
                                <a:gd name="T0" fmla="*/ 35 w 202"/>
                                <a:gd name="T1" fmla="*/ 0 h 123"/>
                                <a:gd name="T2" fmla="*/ 202 w 202"/>
                                <a:gd name="T3" fmla="*/ 105 h 123"/>
                                <a:gd name="T4" fmla="*/ 167 w 202"/>
                                <a:gd name="T5" fmla="*/ 123 h 123"/>
                                <a:gd name="T6" fmla="*/ 0 w 202"/>
                                <a:gd name="T7" fmla="*/ 18 h 123"/>
                                <a:gd name="T8" fmla="*/ 35 w 202"/>
                                <a:gd name="T9" fmla="*/ 0 h 12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202" h="123">
                                  <a:moveTo>
                                    <a:pt x="35" y="0"/>
                                  </a:moveTo>
                                  <a:lnTo>
                                    <a:pt x="202" y="105"/>
                                  </a:lnTo>
                                  <a:lnTo>
                                    <a:pt x="167" y="123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2" name="Freeform 124"/>
                            <p:cNvSpPr/>
                            <p:nvPr/>
                          </p:nvSpPr>
                          <p:spPr bwMode="auto">
                            <a:xfrm>
                              <a:off x="2582" y="3097"/>
                              <a:ext cx="14" cy="8"/>
                            </a:xfrm>
                            <a:custGeom>
                              <a:avLst/>
                              <a:gdLst>
                                <a:gd name="T0" fmla="*/ 37 w 98"/>
                                <a:gd name="T1" fmla="*/ 0 h 60"/>
                                <a:gd name="T2" fmla="*/ 98 w 98"/>
                                <a:gd name="T3" fmla="*/ 41 h 60"/>
                                <a:gd name="T4" fmla="*/ 64 w 98"/>
                                <a:gd name="T5" fmla="*/ 60 h 60"/>
                                <a:gd name="T6" fmla="*/ 0 w 98"/>
                                <a:gd name="T7" fmla="*/ 20 h 60"/>
                                <a:gd name="T8" fmla="*/ 37 w 98"/>
                                <a:gd name="T9" fmla="*/ 0 h 6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98" h="60">
                                  <a:moveTo>
                                    <a:pt x="37" y="0"/>
                                  </a:moveTo>
                                  <a:lnTo>
                                    <a:pt x="98" y="41"/>
                                  </a:lnTo>
                                  <a:lnTo>
                                    <a:pt x="64" y="60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3" name="Freeform 125"/>
                            <p:cNvSpPr/>
                            <p:nvPr/>
                          </p:nvSpPr>
                          <p:spPr bwMode="auto">
                            <a:xfrm>
                              <a:off x="2587" y="3102"/>
                              <a:ext cx="15" cy="8"/>
                            </a:xfrm>
                            <a:custGeom>
                              <a:avLst/>
                              <a:gdLst>
                                <a:gd name="T0" fmla="*/ 63 w 107"/>
                                <a:gd name="T1" fmla="*/ 0 h 64"/>
                                <a:gd name="T2" fmla="*/ 107 w 107"/>
                                <a:gd name="T3" fmla="*/ 29 h 64"/>
                                <a:gd name="T4" fmla="*/ 70 w 107"/>
                                <a:gd name="T5" fmla="*/ 52 h 64"/>
                                <a:gd name="T6" fmla="*/ 65 w 107"/>
                                <a:gd name="T7" fmla="*/ 48 h 64"/>
                                <a:gd name="T8" fmla="*/ 40 w 107"/>
                                <a:gd name="T9" fmla="*/ 64 h 64"/>
                                <a:gd name="T10" fmla="*/ 0 w 107"/>
                                <a:gd name="T11" fmla="*/ 38 h 64"/>
                                <a:gd name="T12" fmla="*/ 63 w 107"/>
                                <a:gd name="T13" fmla="*/ 0 h 6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</a:cxnLst>
                              <a:rect l="0" t="0" r="r" b="b"/>
                              <a:pathLst>
                                <a:path w="107" h="64">
                                  <a:moveTo>
                                    <a:pt x="63" y="0"/>
                                  </a:moveTo>
                                  <a:lnTo>
                                    <a:pt x="107" y="29"/>
                                  </a:lnTo>
                                  <a:lnTo>
                                    <a:pt x="70" y="52"/>
                                  </a:lnTo>
                                  <a:lnTo>
                                    <a:pt x="65" y="48"/>
                                  </a:lnTo>
                                  <a:lnTo>
                                    <a:pt x="40" y="64"/>
                                  </a:lnTo>
                                  <a:lnTo>
                                    <a:pt x="0" y="38"/>
                                  </a:lnTo>
                                  <a:lnTo>
                                    <a:pt x="63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4" name="Freeform 126"/>
                            <p:cNvSpPr/>
                            <p:nvPr/>
                          </p:nvSpPr>
                          <p:spPr bwMode="auto">
                            <a:xfrm>
                              <a:off x="2597" y="3105"/>
                              <a:ext cx="15" cy="8"/>
                            </a:xfrm>
                            <a:custGeom>
                              <a:avLst/>
                              <a:gdLst>
                                <a:gd name="T0" fmla="*/ 34 w 103"/>
                                <a:gd name="T1" fmla="*/ 0 h 65"/>
                                <a:gd name="T2" fmla="*/ 103 w 103"/>
                                <a:gd name="T3" fmla="*/ 43 h 65"/>
                                <a:gd name="T4" fmla="*/ 66 w 103"/>
                                <a:gd name="T5" fmla="*/ 65 h 65"/>
                                <a:gd name="T6" fmla="*/ 0 w 103"/>
                                <a:gd name="T7" fmla="*/ 21 h 65"/>
                                <a:gd name="T8" fmla="*/ 34 w 103"/>
                                <a:gd name="T9" fmla="*/ 0 h 6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3" h="65">
                                  <a:moveTo>
                                    <a:pt x="34" y="0"/>
                                  </a:moveTo>
                                  <a:lnTo>
                                    <a:pt x="103" y="43"/>
                                  </a:lnTo>
                                  <a:lnTo>
                                    <a:pt x="66" y="65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5" name="Freeform 127"/>
                            <p:cNvSpPr/>
                            <p:nvPr/>
                          </p:nvSpPr>
                          <p:spPr bwMode="auto">
                            <a:xfrm>
                              <a:off x="2551" y="3081"/>
                              <a:ext cx="13" cy="6"/>
                            </a:xfrm>
                            <a:custGeom>
                              <a:avLst/>
                              <a:gdLst>
                                <a:gd name="T0" fmla="*/ 34 w 86"/>
                                <a:gd name="T1" fmla="*/ 0 h 53"/>
                                <a:gd name="T2" fmla="*/ 86 w 86"/>
                                <a:gd name="T3" fmla="*/ 33 h 53"/>
                                <a:gd name="T4" fmla="*/ 49 w 86"/>
                                <a:gd name="T5" fmla="*/ 53 h 53"/>
                                <a:gd name="T6" fmla="*/ 0 w 86"/>
                                <a:gd name="T7" fmla="*/ 19 h 53"/>
                                <a:gd name="T8" fmla="*/ 34 w 86"/>
                                <a:gd name="T9" fmla="*/ 0 h 5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86" h="53">
                                  <a:moveTo>
                                    <a:pt x="34" y="0"/>
                                  </a:moveTo>
                                  <a:lnTo>
                                    <a:pt x="86" y="33"/>
                                  </a:lnTo>
                                  <a:lnTo>
                                    <a:pt x="49" y="53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6" name="Freeform 128"/>
                            <p:cNvSpPr/>
                            <p:nvPr/>
                          </p:nvSpPr>
                          <p:spPr bwMode="auto">
                            <a:xfrm>
                              <a:off x="2542" y="3076"/>
                              <a:ext cx="12" cy="6"/>
                            </a:xfrm>
                            <a:custGeom>
                              <a:avLst/>
                              <a:gdLst>
                                <a:gd name="T0" fmla="*/ 40 w 80"/>
                                <a:gd name="T1" fmla="*/ 0 h 46"/>
                                <a:gd name="T2" fmla="*/ 80 w 80"/>
                                <a:gd name="T3" fmla="*/ 28 h 46"/>
                                <a:gd name="T4" fmla="*/ 40 w 80"/>
                                <a:gd name="T5" fmla="*/ 46 h 46"/>
                                <a:gd name="T6" fmla="*/ 0 w 80"/>
                                <a:gd name="T7" fmla="*/ 18 h 46"/>
                                <a:gd name="T8" fmla="*/ 40 w 80"/>
                                <a:gd name="T9" fmla="*/ 0 h 4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80" h="46">
                                  <a:moveTo>
                                    <a:pt x="40" y="0"/>
                                  </a:moveTo>
                                  <a:lnTo>
                                    <a:pt x="80" y="28"/>
                                  </a:lnTo>
                                  <a:lnTo>
                                    <a:pt x="40" y="46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4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7" name="Freeform 129"/>
                            <p:cNvSpPr/>
                            <p:nvPr/>
                          </p:nvSpPr>
                          <p:spPr bwMode="auto">
                            <a:xfrm>
                              <a:off x="2536" y="3079"/>
                              <a:ext cx="10" cy="5"/>
                            </a:xfrm>
                            <a:custGeom>
                              <a:avLst/>
                              <a:gdLst>
                                <a:gd name="T0" fmla="*/ 37 w 72"/>
                                <a:gd name="T1" fmla="*/ 0 h 41"/>
                                <a:gd name="T2" fmla="*/ 72 w 72"/>
                                <a:gd name="T3" fmla="*/ 24 h 41"/>
                                <a:gd name="T4" fmla="*/ 36 w 72"/>
                                <a:gd name="T5" fmla="*/ 41 h 41"/>
                                <a:gd name="T6" fmla="*/ 0 w 72"/>
                                <a:gd name="T7" fmla="*/ 15 h 41"/>
                                <a:gd name="T8" fmla="*/ 37 w 72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2" h="41">
                                  <a:moveTo>
                                    <a:pt x="37" y="0"/>
                                  </a:moveTo>
                                  <a:lnTo>
                                    <a:pt x="72" y="24"/>
                                  </a:lnTo>
                                  <a:lnTo>
                                    <a:pt x="36" y="41"/>
                                  </a:lnTo>
                                  <a:lnTo>
                                    <a:pt x="0" y="15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8" name="Freeform 130"/>
                            <p:cNvSpPr/>
                            <p:nvPr/>
                          </p:nvSpPr>
                          <p:spPr bwMode="auto">
                            <a:xfrm>
                              <a:off x="2542" y="3082"/>
                              <a:ext cx="9" cy="5"/>
                            </a:xfrm>
                            <a:custGeom>
                              <a:avLst/>
                              <a:gdLst>
                                <a:gd name="T0" fmla="*/ 36 w 64"/>
                                <a:gd name="T1" fmla="*/ 0 h 40"/>
                                <a:gd name="T2" fmla="*/ 64 w 64"/>
                                <a:gd name="T3" fmla="*/ 20 h 40"/>
                                <a:gd name="T4" fmla="*/ 32 w 64"/>
                                <a:gd name="T5" fmla="*/ 40 h 40"/>
                                <a:gd name="T6" fmla="*/ 0 w 64"/>
                                <a:gd name="T7" fmla="*/ 16 h 40"/>
                                <a:gd name="T8" fmla="*/ 36 w 64"/>
                                <a:gd name="T9" fmla="*/ 0 h 4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4" h="40">
                                  <a:moveTo>
                                    <a:pt x="36" y="0"/>
                                  </a:moveTo>
                                  <a:lnTo>
                                    <a:pt x="64" y="20"/>
                                  </a:lnTo>
                                  <a:lnTo>
                                    <a:pt x="32" y="40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79" name="Freeform 131"/>
                            <p:cNvSpPr/>
                            <p:nvPr/>
                          </p:nvSpPr>
                          <p:spPr bwMode="auto">
                            <a:xfrm>
                              <a:off x="2533" y="3077"/>
                              <a:ext cx="8" cy="4"/>
                            </a:xfrm>
                            <a:custGeom>
                              <a:avLst/>
                              <a:gdLst>
                                <a:gd name="T0" fmla="*/ 38 w 59"/>
                                <a:gd name="T1" fmla="*/ 0 h 34"/>
                                <a:gd name="T2" fmla="*/ 59 w 59"/>
                                <a:gd name="T3" fmla="*/ 16 h 34"/>
                                <a:gd name="T4" fmla="*/ 22 w 59"/>
                                <a:gd name="T5" fmla="*/ 34 h 34"/>
                                <a:gd name="T6" fmla="*/ 0 w 59"/>
                                <a:gd name="T7" fmla="*/ 19 h 34"/>
                                <a:gd name="T8" fmla="*/ 38 w 59"/>
                                <a:gd name="T9" fmla="*/ 0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9" h="34">
                                  <a:moveTo>
                                    <a:pt x="38" y="0"/>
                                  </a:moveTo>
                                  <a:lnTo>
                                    <a:pt x="59" y="16"/>
                                  </a:lnTo>
                                  <a:lnTo>
                                    <a:pt x="22" y="34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0" name="Freeform 132"/>
                            <p:cNvSpPr/>
                            <p:nvPr/>
                          </p:nvSpPr>
                          <p:spPr bwMode="auto">
                            <a:xfrm>
                              <a:off x="2603" y="3102"/>
                              <a:ext cx="15" cy="8"/>
                            </a:xfrm>
                            <a:custGeom>
                              <a:avLst/>
                              <a:gdLst>
                                <a:gd name="T0" fmla="*/ 34 w 102"/>
                                <a:gd name="T1" fmla="*/ 0 h 65"/>
                                <a:gd name="T2" fmla="*/ 102 w 102"/>
                                <a:gd name="T3" fmla="*/ 45 h 65"/>
                                <a:gd name="T4" fmla="*/ 65 w 102"/>
                                <a:gd name="T5" fmla="*/ 65 h 65"/>
                                <a:gd name="T6" fmla="*/ 0 w 102"/>
                                <a:gd name="T7" fmla="*/ 22 h 65"/>
                                <a:gd name="T8" fmla="*/ 34 w 102"/>
                                <a:gd name="T9" fmla="*/ 0 h 6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2" h="65">
                                  <a:moveTo>
                                    <a:pt x="34" y="0"/>
                                  </a:moveTo>
                                  <a:lnTo>
                                    <a:pt x="102" y="45"/>
                                  </a:lnTo>
                                  <a:lnTo>
                                    <a:pt x="65" y="65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1" name="Freeform 133"/>
                            <p:cNvSpPr/>
                            <p:nvPr/>
                          </p:nvSpPr>
                          <p:spPr bwMode="auto">
                            <a:xfrm>
                              <a:off x="2609" y="3099"/>
                              <a:ext cx="15" cy="8"/>
                            </a:xfrm>
                            <a:custGeom>
                              <a:avLst/>
                              <a:gdLst>
                                <a:gd name="T0" fmla="*/ 34 w 103"/>
                                <a:gd name="T1" fmla="*/ 0 h 62"/>
                                <a:gd name="T2" fmla="*/ 103 w 103"/>
                                <a:gd name="T3" fmla="*/ 44 h 62"/>
                                <a:gd name="T4" fmla="*/ 66 w 103"/>
                                <a:gd name="T5" fmla="*/ 62 h 62"/>
                                <a:gd name="T6" fmla="*/ 0 w 103"/>
                                <a:gd name="T7" fmla="*/ 22 h 62"/>
                                <a:gd name="T8" fmla="*/ 34 w 103"/>
                                <a:gd name="T9" fmla="*/ 0 h 6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3" h="62">
                                  <a:moveTo>
                                    <a:pt x="34" y="0"/>
                                  </a:moveTo>
                                  <a:lnTo>
                                    <a:pt x="103" y="44"/>
                                  </a:lnTo>
                                  <a:lnTo>
                                    <a:pt x="66" y="62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2" name="Freeform 134"/>
                            <p:cNvSpPr/>
                            <p:nvPr/>
                          </p:nvSpPr>
                          <p:spPr bwMode="auto">
                            <a:xfrm>
                              <a:off x="2615" y="3096"/>
                              <a:ext cx="15" cy="8"/>
                            </a:xfrm>
                            <a:custGeom>
                              <a:avLst/>
                              <a:gdLst>
                                <a:gd name="T0" fmla="*/ 32 w 101"/>
                                <a:gd name="T1" fmla="*/ 0 h 62"/>
                                <a:gd name="T2" fmla="*/ 101 w 101"/>
                                <a:gd name="T3" fmla="*/ 41 h 62"/>
                                <a:gd name="T4" fmla="*/ 64 w 101"/>
                                <a:gd name="T5" fmla="*/ 62 h 62"/>
                                <a:gd name="T6" fmla="*/ 0 w 101"/>
                                <a:gd name="T7" fmla="*/ 22 h 62"/>
                                <a:gd name="T8" fmla="*/ 32 w 101"/>
                                <a:gd name="T9" fmla="*/ 0 h 6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1" h="62">
                                  <a:moveTo>
                                    <a:pt x="32" y="0"/>
                                  </a:moveTo>
                                  <a:lnTo>
                                    <a:pt x="101" y="41"/>
                                  </a:lnTo>
                                  <a:lnTo>
                                    <a:pt x="64" y="62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3" name="Freeform 135"/>
                            <p:cNvSpPr/>
                            <p:nvPr/>
                          </p:nvSpPr>
                          <p:spPr bwMode="auto">
                            <a:xfrm>
                              <a:off x="2598" y="3100"/>
                              <a:ext cx="10" cy="5"/>
                            </a:xfrm>
                            <a:custGeom>
                              <a:avLst/>
                              <a:gdLst>
                                <a:gd name="T0" fmla="*/ 38 w 73"/>
                                <a:gd name="T1" fmla="*/ 0 h 46"/>
                                <a:gd name="T2" fmla="*/ 73 w 73"/>
                                <a:gd name="T3" fmla="*/ 23 h 46"/>
                                <a:gd name="T4" fmla="*/ 36 w 73"/>
                                <a:gd name="T5" fmla="*/ 46 h 46"/>
                                <a:gd name="T6" fmla="*/ 0 w 73"/>
                                <a:gd name="T7" fmla="*/ 23 h 46"/>
                                <a:gd name="T8" fmla="*/ 38 w 73"/>
                                <a:gd name="T9" fmla="*/ 0 h 4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3" h="46">
                                  <a:moveTo>
                                    <a:pt x="38" y="0"/>
                                  </a:moveTo>
                                  <a:lnTo>
                                    <a:pt x="73" y="23"/>
                                  </a:lnTo>
                                  <a:lnTo>
                                    <a:pt x="36" y="46"/>
                                  </a:lnTo>
                                  <a:lnTo>
                                    <a:pt x="0" y="23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4" name="Freeform 136"/>
                            <p:cNvSpPr/>
                            <p:nvPr/>
                          </p:nvSpPr>
                          <p:spPr bwMode="auto">
                            <a:xfrm>
                              <a:off x="2604" y="3097"/>
                              <a:ext cx="10" cy="5"/>
                            </a:xfrm>
                            <a:custGeom>
                              <a:avLst/>
                              <a:gdLst>
                                <a:gd name="T0" fmla="*/ 35 w 69"/>
                                <a:gd name="T1" fmla="*/ 0 h 43"/>
                                <a:gd name="T2" fmla="*/ 69 w 69"/>
                                <a:gd name="T3" fmla="*/ 22 h 43"/>
                                <a:gd name="T4" fmla="*/ 31 w 69"/>
                                <a:gd name="T5" fmla="*/ 43 h 43"/>
                                <a:gd name="T6" fmla="*/ 0 w 69"/>
                                <a:gd name="T7" fmla="*/ 22 h 43"/>
                                <a:gd name="T8" fmla="*/ 35 w 69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3">
                                  <a:moveTo>
                                    <a:pt x="35" y="0"/>
                                  </a:moveTo>
                                  <a:lnTo>
                                    <a:pt x="69" y="22"/>
                                  </a:lnTo>
                                  <a:lnTo>
                                    <a:pt x="31" y="43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5" name="Freeform 137"/>
                            <p:cNvSpPr/>
                            <p:nvPr/>
                          </p:nvSpPr>
                          <p:spPr bwMode="auto">
                            <a:xfrm>
                              <a:off x="2610" y="3094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8"/>
                                <a:gd name="T1" fmla="*/ 0 h 43"/>
                                <a:gd name="T2" fmla="*/ 68 w 68"/>
                                <a:gd name="T3" fmla="*/ 20 h 43"/>
                                <a:gd name="T4" fmla="*/ 34 w 68"/>
                                <a:gd name="T5" fmla="*/ 43 h 43"/>
                                <a:gd name="T6" fmla="*/ 0 w 68"/>
                                <a:gd name="T7" fmla="*/ 21 h 43"/>
                                <a:gd name="T8" fmla="*/ 36 w 68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3">
                                  <a:moveTo>
                                    <a:pt x="36" y="0"/>
                                  </a:moveTo>
                                  <a:lnTo>
                                    <a:pt x="68" y="20"/>
                                  </a:lnTo>
                                  <a:lnTo>
                                    <a:pt x="34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6" name="Freeform 138"/>
                            <p:cNvSpPr/>
                            <p:nvPr/>
                          </p:nvSpPr>
                          <p:spPr bwMode="auto">
                            <a:xfrm>
                              <a:off x="2616" y="3091"/>
                              <a:ext cx="10" cy="5"/>
                            </a:xfrm>
                            <a:custGeom>
                              <a:avLst/>
                              <a:gdLst>
                                <a:gd name="T0" fmla="*/ 35 w 67"/>
                                <a:gd name="T1" fmla="*/ 0 h 42"/>
                                <a:gd name="T2" fmla="*/ 67 w 67"/>
                                <a:gd name="T3" fmla="*/ 19 h 42"/>
                                <a:gd name="T4" fmla="*/ 31 w 67"/>
                                <a:gd name="T5" fmla="*/ 42 h 42"/>
                                <a:gd name="T6" fmla="*/ 0 w 67"/>
                                <a:gd name="T7" fmla="*/ 21 h 42"/>
                                <a:gd name="T8" fmla="*/ 35 w 67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2">
                                  <a:moveTo>
                                    <a:pt x="35" y="0"/>
                                  </a:moveTo>
                                  <a:lnTo>
                                    <a:pt x="67" y="19"/>
                                  </a:lnTo>
                                  <a:lnTo>
                                    <a:pt x="31" y="42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7" name="Freeform 139"/>
                            <p:cNvSpPr/>
                            <p:nvPr/>
                          </p:nvSpPr>
                          <p:spPr bwMode="auto">
                            <a:xfrm>
                              <a:off x="2622" y="3089"/>
                              <a:ext cx="8" cy="4"/>
                            </a:xfrm>
                            <a:custGeom>
                              <a:avLst/>
                              <a:gdLst>
                                <a:gd name="T0" fmla="*/ 28 w 59"/>
                                <a:gd name="T1" fmla="*/ 0 h 36"/>
                                <a:gd name="T2" fmla="*/ 59 w 59"/>
                                <a:gd name="T3" fmla="*/ 19 h 36"/>
                                <a:gd name="T4" fmla="*/ 32 w 59"/>
                                <a:gd name="T5" fmla="*/ 36 h 36"/>
                                <a:gd name="T6" fmla="*/ 0 w 59"/>
                                <a:gd name="T7" fmla="*/ 18 h 36"/>
                                <a:gd name="T8" fmla="*/ 28 w 59"/>
                                <a:gd name="T9" fmla="*/ 0 h 3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9" h="36">
                                  <a:moveTo>
                                    <a:pt x="28" y="0"/>
                                  </a:moveTo>
                                  <a:lnTo>
                                    <a:pt x="59" y="19"/>
                                  </a:lnTo>
                                  <a:lnTo>
                                    <a:pt x="32" y="36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2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8" name="Freeform 140"/>
                            <p:cNvSpPr/>
                            <p:nvPr/>
                          </p:nvSpPr>
                          <p:spPr bwMode="auto">
                            <a:xfrm>
                              <a:off x="2627" y="3091"/>
                              <a:ext cx="8" cy="5"/>
                            </a:xfrm>
                            <a:custGeom>
                              <a:avLst/>
                              <a:gdLst>
                                <a:gd name="T0" fmla="*/ 28 w 61"/>
                                <a:gd name="T1" fmla="*/ 0 h 39"/>
                                <a:gd name="T2" fmla="*/ 61 w 61"/>
                                <a:gd name="T3" fmla="*/ 20 h 39"/>
                                <a:gd name="T4" fmla="*/ 31 w 61"/>
                                <a:gd name="T5" fmla="*/ 39 h 39"/>
                                <a:gd name="T6" fmla="*/ 0 w 61"/>
                                <a:gd name="T7" fmla="*/ 19 h 39"/>
                                <a:gd name="T8" fmla="*/ 28 w 61"/>
                                <a:gd name="T9" fmla="*/ 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1" h="39">
                                  <a:moveTo>
                                    <a:pt x="28" y="0"/>
                                  </a:moveTo>
                                  <a:lnTo>
                                    <a:pt x="61" y="20"/>
                                  </a:lnTo>
                                  <a:lnTo>
                                    <a:pt x="31" y="39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2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89" name="Freeform 141"/>
                            <p:cNvSpPr/>
                            <p:nvPr/>
                          </p:nvSpPr>
                          <p:spPr bwMode="auto">
                            <a:xfrm>
                              <a:off x="2621" y="3093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8"/>
                                <a:gd name="T1" fmla="*/ 0 h 42"/>
                                <a:gd name="T2" fmla="*/ 68 w 68"/>
                                <a:gd name="T3" fmla="*/ 21 h 42"/>
                                <a:gd name="T4" fmla="*/ 32 w 68"/>
                                <a:gd name="T5" fmla="*/ 42 h 42"/>
                                <a:gd name="T6" fmla="*/ 0 w 68"/>
                                <a:gd name="T7" fmla="*/ 24 h 42"/>
                                <a:gd name="T8" fmla="*/ 36 w 68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2">
                                  <a:moveTo>
                                    <a:pt x="36" y="0"/>
                                  </a:moveTo>
                                  <a:lnTo>
                                    <a:pt x="68" y="21"/>
                                  </a:lnTo>
                                  <a:lnTo>
                                    <a:pt x="32" y="42"/>
                                  </a:lnTo>
                                  <a:lnTo>
                                    <a:pt x="0" y="24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0" name="Freeform 142"/>
                            <p:cNvSpPr/>
                            <p:nvPr/>
                          </p:nvSpPr>
                          <p:spPr bwMode="auto">
                            <a:xfrm>
                              <a:off x="2632" y="3093"/>
                              <a:ext cx="8" cy="5"/>
                            </a:xfrm>
                            <a:custGeom>
                              <a:avLst/>
                              <a:gdLst>
                                <a:gd name="T0" fmla="*/ 29 w 61"/>
                                <a:gd name="T1" fmla="*/ 0 h 39"/>
                                <a:gd name="T2" fmla="*/ 61 w 61"/>
                                <a:gd name="T3" fmla="*/ 20 h 39"/>
                                <a:gd name="T4" fmla="*/ 32 w 61"/>
                                <a:gd name="T5" fmla="*/ 39 h 39"/>
                                <a:gd name="T6" fmla="*/ 0 w 61"/>
                                <a:gd name="T7" fmla="*/ 20 h 39"/>
                                <a:gd name="T8" fmla="*/ 29 w 61"/>
                                <a:gd name="T9" fmla="*/ 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1" h="39">
                                  <a:moveTo>
                                    <a:pt x="29" y="0"/>
                                  </a:moveTo>
                                  <a:lnTo>
                                    <a:pt x="61" y="20"/>
                                  </a:lnTo>
                                  <a:lnTo>
                                    <a:pt x="32" y="39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2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1" name="Freeform 143"/>
                            <p:cNvSpPr/>
                            <p:nvPr/>
                          </p:nvSpPr>
                          <p:spPr bwMode="auto">
                            <a:xfrm>
                              <a:off x="2626" y="3095"/>
                              <a:ext cx="10" cy="6"/>
                            </a:xfrm>
                            <a:custGeom>
                              <a:avLst/>
                              <a:gdLst>
                                <a:gd name="T0" fmla="*/ 36 w 69"/>
                                <a:gd name="T1" fmla="*/ 0 h 42"/>
                                <a:gd name="T2" fmla="*/ 69 w 69"/>
                                <a:gd name="T3" fmla="*/ 20 h 42"/>
                                <a:gd name="T4" fmla="*/ 32 w 69"/>
                                <a:gd name="T5" fmla="*/ 42 h 42"/>
                                <a:gd name="T6" fmla="*/ 0 w 69"/>
                                <a:gd name="T7" fmla="*/ 23 h 42"/>
                                <a:gd name="T8" fmla="*/ 36 w 69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2">
                                  <a:moveTo>
                                    <a:pt x="36" y="0"/>
                                  </a:moveTo>
                                  <a:lnTo>
                                    <a:pt x="69" y="20"/>
                                  </a:lnTo>
                                  <a:lnTo>
                                    <a:pt x="32" y="42"/>
                                  </a:lnTo>
                                  <a:lnTo>
                                    <a:pt x="0" y="23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2" name="Freeform 144"/>
                            <p:cNvSpPr/>
                            <p:nvPr/>
                          </p:nvSpPr>
                          <p:spPr bwMode="auto">
                            <a:xfrm>
                              <a:off x="2599" y="3094"/>
                              <a:ext cx="10" cy="6"/>
                            </a:xfrm>
                            <a:custGeom>
                              <a:avLst/>
                              <a:gdLst>
                                <a:gd name="T0" fmla="*/ 35 w 68"/>
                                <a:gd name="T1" fmla="*/ 0 h 42"/>
                                <a:gd name="T2" fmla="*/ 68 w 68"/>
                                <a:gd name="T3" fmla="*/ 21 h 42"/>
                                <a:gd name="T4" fmla="*/ 33 w 68"/>
                                <a:gd name="T5" fmla="*/ 42 h 42"/>
                                <a:gd name="T6" fmla="*/ 0 w 68"/>
                                <a:gd name="T7" fmla="*/ 19 h 42"/>
                                <a:gd name="T8" fmla="*/ 35 w 68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2">
                                  <a:moveTo>
                                    <a:pt x="35" y="0"/>
                                  </a:moveTo>
                                  <a:lnTo>
                                    <a:pt x="68" y="21"/>
                                  </a:lnTo>
                                  <a:lnTo>
                                    <a:pt x="33" y="42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3" name="Freeform 145"/>
                            <p:cNvSpPr/>
                            <p:nvPr/>
                          </p:nvSpPr>
                          <p:spPr bwMode="auto">
                            <a:xfrm>
                              <a:off x="2605" y="3091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69"/>
                                <a:gd name="T1" fmla="*/ 0 h 42"/>
                                <a:gd name="T2" fmla="*/ 69 w 69"/>
                                <a:gd name="T3" fmla="*/ 21 h 42"/>
                                <a:gd name="T4" fmla="*/ 33 w 69"/>
                                <a:gd name="T5" fmla="*/ 42 h 42"/>
                                <a:gd name="T6" fmla="*/ 0 w 69"/>
                                <a:gd name="T7" fmla="*/ 21 h 42"/>
                                <a:gd name="T8" fmla="*/ 37 w 69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2">
                                  <a:moveTo>
                                    <a:pt x="37" y="0"/>
                                  </a:moveTo>
                                  <a:lnTo>
                                    <a:pt x="69" y="21"/>
                                  </a:lnTo>
                                  <a:lnTo>
                                    <a:pt x="33" y="42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4" name="Freeform 146"/>
                            <p:cNvSpPr/>
                            <p:nvPr/>
                          </p:nvSpPr>
                          <p:spPr bwMode="auto">
                            <a:xfrm>
                              <a:off x="2612" y="3088"/>
                              <a:ext cx="9" cy="6"/>
                            </a:xfrm>
                            <a:custGeom>
                              <a:avLst/>
                              <a:gdLst>
                                <a:gd name="T0" fmla="*/ 35 w 66"/>
                                <a:gd name="T1" fmla="*/ 0 h 42"/>
                                <a:gd name="T2" fmla="*/ 66 w 66"/>
                                <a:gd name="T3" fmla="*/ 21 h 42"/>
                                <a:gd name="T4" fmla="*/ 30 w 66"/>
                                <a:gd name="T5" fmla="*/ 42 h 42"/>
                                <a:gd name="T6" fmla="*/ 0 w 66"/>
                                <a:gd name="T7" fmla="*/ 22 h 42"/>
                                <a:gd name="T8" fmla="*/ 35 w 66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6" h="42">
                                  <a:moveTo>
                                    <a:pt x="35" y="0"/>
                                  </a:moveTo>
                                  <a:lnTo>
                                    <a:pt x="66" y="21"/>
                                  </a:lnTo>
                                  <a:lnTo>
                                    <a:pt x="30" y="42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5" name="Freeform 147"/>
                            <p:cNvSpPr/>
                            <p:nvPr/>
                          </p:nvSpPr>
                          <p:spPr bwMode="auto">
                            <a:xfrm>
                              <a:off x="2617" y="3086"/>
                              <a:ext cx="9" cy="5"/>
                            </a:xfrm>
                            <a:custGeom>
                              <a:avLst/>
                              <a:gdLst>
                                <a:gd name="T0" fmla="*/ 25 w 57"/>
                                <a:gd name="T1" fmla="*/ 0 h 35"/>
                                <a:gd name="T2" fmla="*/ 57 w 57"/>
                                <a:gd name="T3" fmla="*/ 20 h 35"/>
                                <a:gd name="T4" fmla="*/ 29 w 57"/>
                                <a:gd name="T5" fmla="*/ 35 h 35"/>
                                <a:gd name="T6" fmla="*/ 0 w 57"/>
                                <a:gd name="T7" fmla="*/ 16 h 35"/>
                                <a:gd name="T8" fmla="*/ 25 w 57"/>
                                <a:gd name="T9" fmla="*/ 0 h 3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5">
                                  <a:moveTo>
                                    <a:pt x="25" y="0"/>
                                  </a:moveTo>
                                  <a:lnTo>
                                    <a:pt x="57" y="20"/>
                                  </a:lnTo>
                                  <a:lnTo>
                                    <a:pt x="29" y="35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2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6" name="Freeform 148"/>
                            <p:cNvSpPr/>
                            <p:nvPr/>
                          </p:nvSpPr>
                          <p:spPr bwMode="auto">
                            <a:xfrm>
                              <a:off x="2593" y="3097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72"/>
                                <a:gd name="T1" fmla="*/ 0 h 46"/>
                                <a:gd name="T2" fmla="*/ 72 w 72"/>
                                <a:gd name="T3" fmla="*/ 23 h 46"/>
                                <a:gd name="T4" fmla="*/ 36 w 72"/>
                                <a:gd name="T5" fmla="*/ 46 h 46"/>
                                <a:gd name="T6" fmla="*/ 0 w 72"/>
                                <a:gd name="T7" fmla="*/ 22 h 46"/>
                                <a:gd name="T8" fmla="*/ 37 w 72"/>
                                <a:gd name="T9" fmla="*/ 0 h 4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2" h="46">
                                  <a:moveTo>
                                    <a:pt x="37" y="0"/>
                                  </a:moveTo>
                                  <a:lnTo>
                                    <a:pt x="72" y="23"/>
                                  </a:lnTo>
                                  <a:lnTo>
                                    <a:pt x="36" y="46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7" name="Freeform 149"/>
                            <p:cNvSpPr/>
                            <p:nvPr/>
                          </p:nvSpPr>
                          <p:spPr bwMode="auto">
                            <a:xfrm>
                              <a:off x="2588" y="3094"/>
                              <a:ext cx="10" cy="6"/>
                            </a:xfrm>
                            <a:custGeom>
                              <a:avLst/>
                              <a:gdLst>
                                <a:gd name="T0" fmla="*/ 38 w 71"/>
                                <a:gd name="T1" fmla="*/ 0 h 43"/>
                                <a:gd name="T2" fmla="*/ 71 w 71"/>
                                <a:gd name="T3" fmla="*/ 21 h 43"/>
                                <a:gd name="T4" fmla="*/ 35 w 71"/>
                                <a:gd name="T5" fmla="*/ 43 h 43"/>
                                <a:gd name="T6" fmla="*/ 0 w 71"/>
                                <a:gd name="T7" fmla="*/ 21 h 43"/>
                                <a:gd name="T8" fmla="*/ 38 w 71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1" h="43">
                                  <a:moveTo>
                                    <a:pt x="38" y="0"/>
                                  </a:moveTo>
                                  <a:lnTo>
                                    <a:pt x="71" y="21"/>
                                  </a:lnTo>
                                  <a:lnTo>
                                    <a:pt x="35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8" name="Freeform 150"/>
                            <p:cNvSpPr/>
                            <p:nvPr/>
                          </p:nvSpPr>
                          <p:spPr bwMode="auto">
                            <a:xfrm>
                              <a:off x="2594" y="3091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70"/>
                                <a:gd name="T1" fmla="*/ 0 h 43"/>
                                <a:gd name="T2" fmla="*/ 70 w 70"/>
                                <a:gd name="T3" fmla="*/ 21 h 43"/>
                                <a:gd name="T4" fmla="*/ 33 w 70"/>
                                <a:gd name="T5" fmla="*/ 43 h 43"/>
                                <a:gd name="T6" fmla="*/ 0 w 70"/>
                                <a:gd name="T7" fmla="*/ 21 h 43"/>
                                <a:gd name="T8" fmla="*/ 37 w 70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3">
                                  <a:moveTo>
                                    <a:pt x="37" y="0"/>
                                  </a:moveTo>
                                  <a:lnTo>
                                    <a:pt x="70" y="21"/>
                                  </a:lnTo>
                                  <a:lnTo>
                                    <a:pt x="33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199" name="Freeform 151"/>
                            <p:cNvSpPr/>
                            <p:nvPr/>
                          </p:nvSpPr>
                          <p:spPr bwMode="auto">
                            <a:xfrm>
                              <a:off x="2601" y="3089"/>
                              <a:ext cx="9" cy="5"/>
                            </a:xfrm>
                            <a:custGeom>
                              <a:avLst/>
                              <a:gdLst>
                                <a:gd name="T0" fmla="*/ 34 w 67"/>
                                <a:gd name="T1" fmla="*/ 0 h 43"/>
                                <a:gd name="T2" fmla="*/ 67 w 67"/>
                                <a:gd name="T3" fmla="*/ 20 h 43"/>
                                <a:gd name="T4" fmla="*/ 32 w 67"/>
                                <a:gd name="T5" fmla="*/ 43 h 43"/>
                                <a:gd name="T6" fmla="*/ 0 w 67"/>
                                <a:gd name="T7" fmla="*/ 21 h 43"/>
                                <a:gd name="T8" fmla="*/ 34 w 67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3">
                                  <a:moveTo>
                                    <a:pt x="34" y="0"/>
                                  </a:moveTo>
                                  <a:lnTo>
                                    <a:pt x="67" y="20"/>
                                  </a:lnTo>
                                  <a:lnTo>
                                    <a:pt x="32" y="43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0" name="Freeform 152"/>
                            <p:cNvSpPr/>
                            <p:nvPr/>
                          </p:nvSpPr>
                          <p:spPr bwMode="auto">
                            <a:xfrm>
                              <a:off x="2607" y="3086"/>
                              <a:ext cx="9" cy="5"/>
                            </a:xfrm>
                            <a:custGeom>
                              <a:avLst/>
                              <a:gdLst>
                                <a:gd name="T0" fmla="*/ 38 w 68"/>
                                <a:gd name="T1" fmla="*/ 0 h 43"/>
                                <a:gd name="T2" fmla="*/ 68 w 68"/>
                                <a:gd name="T3" fmla="*/ 20 h 43"/>
                                <a:gd name="T4" fmla="*/ 33 w 68"/>
                                <a:gd name="T5" fmla="*/ 43 h 43"/>
                                <a:gd name="T6" fmla="*/ 0 w 68"/>
                                <a:gd name="T7" fmla="*/ 22 h 43"/>
                                <a:gd name="T8" fmla="*/ 38 w 68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3">
                                  <a:moveTo>
                                    <a:pt x="38" y="0"/>
                                  </a:moveTo>
                                  <a:lnTo>
                                    <a:pt x="68" y="20"/>
                                  </a:lnTo>
                                  <a:lnTo>
                                    <a:pt x="33" y="43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1" name="Freeform 153"/>
                            <p:cNvSpPr/>
                            <p:nvPr/>
                          </p:nvSpPr>
                          <p:spPr bwMode="auto">
                            <a:xfrm>
                              <a:off x="2612" y="3084"/>
                              <a:ext cx="9" cy="5"/>
                            </a:xfrm>
                            <a:custGeom>
                              <a:avLst/>
                              <a:gdLst>
                                <a:gd name="T0" fmla="*/ 27 w 57"/>
                                <a:gd name="T1" fmla="*/ 0 h 36"/>
                                <a:gd name="T2" fmla="*/ 57 w 57"/>
                                <a:gd name="T3" fmla="*/ 19 h 36"/>
                                <a:gd name="T4" fmla="*/ 31 w 57"/>
                                <a:gd name="T5" fmla="*/ 36 h 36"/>
                                <a:gd name="T6" fmla="*/ 0 w 57"/>
                                <a:gd name="T7" fmla="*/ 16 h 36"/>
                                <a:gd name="T8" fmla="*/ 27 w 57"/>
                                <a:gd name="T9" fmla="*/ 0 h 3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6">
                                  <a:moveTo>
                                    <a:pt x="27" y="0"/>
                                  </a:moveTo>
                                  <a:lnTo>
                                    <a:pt x="57" y="19"/>
                                  </a:lnTo>
                                  <a:lnTo>
                                    <a:pt x="31" y="3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2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2" name="Freeform 154"/>
                            <p:cNvSpPr/>
                            <p:nvPr/>
                          </p:nvSpPr>
                          <p:spPr bwMode="auto">
                            <a:xfrm>
                              <a:off x="2590" y="3089"/>
                              <a:ext cx="9" cy="5"/>
                            </a:xfrm>
                            <a:custGeom>
                              <a:avLst/>
                              <a:gdLst>
                                <a:gd name="T0" fmla="*/ 35 w 69"/>
                                <a:gd name="T1" fmla="*/ 0 h 44"/>
                                <a:gd name="T2" fmla="*/ 69 w 69"/>
                                <a:gd name="T3" fmla="*/ 23 h 44"/>
                                <a:gd name="T4" fmla="*/ 33 w 69"/>
                                <a:gd name="T5" fmla="*/ 44 h 44"/>
                                <a:gd name="T6" fmla="*/ 0 w 69"/>
                                <a:gd name="T7" fmla="*/ 21 h 44"/>
                                <a:gd name="T8" fmla="*/ 35 w 69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4">
                                  <a:moveTo>
                                    <a:pt x="35" y="0"/>
                                  </a:moveTo>
                                  <a:lnTo>
                                    <a:pt x="69" y="23"/>
                                  </a:lnTo>
                                  <a:lnTo>
                                    <a:pt x="33" y="44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3" name="Freeform 155"/>
                            <p:cNvSpPr/>
                            <p:nvPr/>
                          </p:nvSpPr>
                          <p:spPr bwMode="auto">
                            <a:xfrm>
                              <a:off x="2596" y="3086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70"/>
                                <a:gd name="T1" fmla="*/ 0 h 42"/>
                                <a:gd name="T2" fmla="*/ 70 w 70"/>
                                <a:gd name="T3" fmla="*/ 20 h 42"/>
                                <a:gd name="T4" fmla="*/ 34 w 70"/>
                                <a:gd name="T5" fmla="*/ 42 h 42"/>
                                <a:gd name="T6" fmla="*/ 0 w 70"/>
                                <a:gd name="T7" fmla="*/ 20 h 42"/>
                                <a:gd name="T8" fmla="*/ 37 w 70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2">
                                  <a:moveTo>
                                    <a:pt x="37" y="0"/>
                                  </a:moveTo>
                                  <a:lnTo>
                                    <a:pt x="70" y="20"/>
                                  </a:lnTo>
                                  <a:lnTo>
                                    <a:pt x="34" y="42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4" name="Freeform 156"/>
                            <p:cNvSpPr/>
                            <p:nvPr/>
                          </p:nvSpPr>
                          <p:spPr bwMode="auto">
                            <a:xfrm>
                              <a:off x="2602" y="3084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8"/>
                                <a:gd name="T1" fmla="*/ 0 h 41"/>
                                <a:gd name="T2" fmla="*/ 68 w 68"/>
                                <a:gd name="T3" fmla="*/ 19 h 41"/>
                                <a:gd name="T4" fmla="*/ 32 w 68"/>
                                <a:gd name="T5" fmla="*/ 41 h 41"/>
                                <a:gd name="T6" fmla="*/ 0 w 68"/>
                                <a:gd name="T7" fmla="*/ 21 h 41"/>
                                <a:gd name="T8" fmla="*/ 36 w 68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1">
                                  <a:moveTo>
                                    <a:pt x="36" y="0"/>
                                  </a:moveTo>
                                  <a:lnTo>
                                    <a:pt x="68" y="19"/>
                                  </a:lnTo>
                                  <a:lnTo>
                                    <a:pt x="32" y="4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5" name="Freeform 157"/>
                            <p:cNvSpPr/>
                            <p:nvPr/>
                          </p:nvSpPr>
                          <p:spPr bwMode="auto">
                            <a:xfrm>
                              <a:off x="2608" y="3082"/>
                              <a:ext cx="8" cy="4"/>
                            </a:xfrm>
                            <a:custGeom>
                              <a:avLst/>
                              <a:gdLst>
                                <a:gd name="T0" fmla="*/ 27 w 57"/>
                                <a:gd name="T1" fmla="*/ 0 h 36"/>
                                <a:gd name="T2" fmla="*/ 57 w 57"/>
                                <a:gd name="T3" fmla="*/ 21 h 36"/>
                                <a:gd name="T4" fmla="*/ 33 w 57"/>
                                <a:gd name="T5" fmla="*/ 36 h 36"/>
                                <a:gd name="T6" fmla="*/ 0 w 57"/>
                                <a:gd name="T7" fmla="*/ 15 h 36"/>
                                <a:gd name="T8" fmla="*/ 27 w 57"/>
                                <a:gd name="T9" fmla="*/ 0 h 3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6">
                                  <a:moveTo>
                                    <a:pt x="27" y="0"/>
                                  </a:moveTo>
                                  <a:lnTo>
                                    <a:pt x="57" y="21"/>
                                  </a:lnTo>
                                  <a:lnTo>
                                    <a:pt x="33" y="36"/>
                                  </a:lnTo>
                                  <a:lnTo>
                                    <a:pt x="0" y="15"/>
                                  </a:lnTo>
                                  <a:lnTo>
                                    <a:pt x="2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6" name="Freeform 158"/>
                            <p:cNvSpPr/>
                            <p:nvPr/>
                          </p:nvSpPr>
                          <p:spPr bwMode="auto">
                            <a:xfrm>
                              <a:off x="2583" y="3092"/>
                              <a:ext cx="10" cy="5"/>
                            </a:xfrm>
                            <a:custGeom>
                              <a:avLst/>
                              <a:gdLst>
                                <a:gd name="T0" fmla="*/ 38 w 73"/>
                                <a:gd name="T1" fmla="*/ 0 h 44"/>
                                <a:gd name="T2" fmla="*/ 73 w 73"/>
                                <a:gd name="T3" fmla="*/ 23 h 44"/>
                                <a:gd name="T4" fmla="*/ 37 w 73"/>
                                <a:gd name="T5" fmla="*/ 44 h 44"/>
                                <a:gd name="T6" fmla="*/ 0 w 73"/>
                                <a:gd name="T7" fmla="*/ 22 h 44"/>
                                <a:gd name="T8" fmla="*/ 38 w 73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3" h="44">
                                  <a:moveTo>
                                    <a:pt x="38" y="0"/>
                                  </a:moveTo>
                                  <a:lnTo>
                                    <a:pt x="73" y="23"/>
                                  </a:lnTo>
                                  <a:lnTo>
                                    <a:pt x="37" y="44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7" name="Freeform 159"/>
                            <p:cNvSpPr/>
                            <p:nvPr/>
                          </p:nvSpPr>
                          <p:spPr bwMode="auto">
                            <a:xfrm>
                              <a:off x="2578" y="3089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8"/>
                                <a:gd name="T1" fmla="*/ 0 h 43"/>
                                <a:gd name="T2" fmla="*/ 68 w 68"/>
                                <a:gd name="T3" fmla="*/ 22 h 43"/>
                                <a:gd name="T4" fmla="*/ 31 w 68"/>
                                <a:gd name="T5" fmla="*/ 43 h 43"/>
                                <a:gd name="T6" fmla="*/ 0 w 68"/>
                                <a:gd name="T7" fmla="*/ 23 h 43"/>
                                <a:gd name="T8" fmla="*/ 36 w 68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3">
                                  <a:moveTo>
                                    <a:pt x="36" y="0"/>
                                  </a:moveTo>
                                  <a:lnTo>
                                    <a:pt x="68" y="22"/>
                                  </a:lnTo>
                                  <a:lnTo>
                                    <a:pt x="31" y="43"/>
                                  </a:lnTo>
                                  <a:lnTo>
                                    <a:pt x="0" y="23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8" name="Freeform 160"/>
                            <p:cNvSpPr/>
                            <p:nvPr/>
                          </p:nvSpPr>
                          <p:spPr bwMode="auto">
                            <a:xfrm>
                              <a:off x="2584" y="3086"/>
                              <a:ext cx="10" cy="6"/>
                            </a:xfrm>
                            <a:custGeom>
                              <a:avLst/>
                              <a:gdLst>
                                <a:gd name="T0" fmla="*/ 37 w 70"/>
                                <a:gd name="T1" fmla="*/ 0 h 43"/>
                                <a:gd name="T2" fmla="*/ 70 w 70"/>
                                <a:gd name="T3" fmla="*/ 20 h 43"/>
                                <a:gd name="T4" fmla="*/ 33 w 70"/>
                                <a:gd name="T5" fmla="*/ 43 h 43"/>
                                <a:gd name="T6" fmla="*/ 0 w 70"/>
                                <a:gd name="T7" fmla="*/ 20 h 43"/>
                                <a:gd name="T8" fmla="*/ 37 w 70"/>
                                <a:gd name="T9" fmla="*/ 0 h 4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3">
                                  <a:moveTo>
                                    <a:pt x="37" y="0"/>
                                  </a:moveTo>
                                  <a:lnTo>
                                    <a:pt x="70" y="20"/>
                                  </a:lnTo>
                                  <a:lnTo>
                                    <a:pt x="33" y="43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09" name="Freeform 161"/>
                            <p:cNvSpPr/>
                            <p:nvPr/>
                          </p:nvSpPr>
                          <p:spPr bwMode="auto">
                            <a:xfrm>
                              <a:off x="2591" y="3084"/>
                              <a:ext cx="10" cy="5"/>
                            </a:xfrm>
                            <a:custGeom>
                              <a:avLst/>
                              <a:gdLst>
                                <a:gd name="T0" fmla="*/ 34 w 68"/>
                                <a:gd name="T1" fmla="*/ 0 h 42"/>
                                <a:gd name="T2" fmla="*/ 68 w 68"/>
                                <a:gd name="T3" fmla="*/ 20 h 42"/>
                                <a:gd name="T4" fmla="*/ 32 w 68"/>
                                <a:gd name="T5" fmla="*/ 42 h 42"/>
                                <a:gd name="T6" fmla="*/ 0 w 68"/>
                                <a:gd name="T7" fmla="*/ 21 h 42"/>
                                <a:gd name="T8" fmla="*/ 34 w 68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2">
                                  <a:moveTo>
                                    <a:pt x="34" y="0"/>
                                  </a:moveTo>
                                  <a:lnTo>
                                    <a:pt x="68" y="20"/>
                                  </a:lnTo>
                                  <a:lnTo>
                                    <a:pt x="32" y="42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0" name="Freeform 162"/>
                            <p:cNvSpPr/>
                            <p:nvPr/>
                          </p:nvSpPr>
                          <p:spPr bwMode="auto">
                            <a:xfrm>
                              <a:off x="2597" y="3081"/>
                              <a:ext cx="10" cy="6"/>
                            </a:xfrm>
                            <a:custGeom>
                              <a:avLst/>
                              <a:gdLst>
                                <a:gd name="T0" fmla="*/ 38 w 68"/>
                                <a:gd name="T1" fmla="*/ 0 h 42"/>
                                <a:gd name="T2" fmla="*/ 68 w 68"/>
                                <a:gd name="T3" fmla="*/ 19 h 42"/>
                                <a:gd name="T4" fmla="*/ 33 w 68"/>
                                <a:gd name="T5" fmla="*/ 42 h 42"/>
                                <a:gd name="T6" fmla="*/ 0 w 68"/>
                                <a:gd name="T7" fmla="*/ 21 h 42"/>
                                <a:gd name="T8" fmla="*/ 38 w 68"/>
                                <a:gd name="T9" fmla="*/ 0 h 4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2">
                                  <a:moveTo>
                                    <a:pt x="38" y="0"/>
                                  </a:moveTo>
                                  <a:lnTo>
                                    <a:pt x="68" y="19"/>
                                  </a:lnTo>
                                  <a:lnTo>
                                    <a:pt x="33" y="42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1" name="Freeform 163"/>
                            <p:cNvSpPr/>
                            <p:nvPr/>
                          </p:nvSpPr>
                          <p:spPr bwMode="auto">
                            <a:xfrm>
                              <a:off x="2603" y="3080"/>
                              <a:ext cx="8" cy="4"/>
                            </a:xfrm>
                            <a:custGeom>
                              <a:avLst/>
                              <a:gdLst>
                                <a:gd name="T0" fmla="*/ 25 w 57"/>
                                <a:gd name="T1" fmla="*/ 0 h 34"/>
                                <a:gd name="T2" fmla="*/ 57 w 57"/>
                                <a:gd name="T3" fmla="*/ 18 h 34"/>
                                <a:gd name="T4" fmla="*/ 29 w 57"/>
                                <a:gd name="T5" fmla="*/ 34 h 34"/>
                                <a:gd name="T6" fmla="*/ 0 w 57"/>
                                <a:gd name="T7" fmla="*/ 15 h 34"/>
                                <a:gd name="T8" fmla="*/ 25 w 57"/>
                                <a:gd name="T9" fmla="*/ 0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7" h="34">
                                  <a:moveTo>
                                    <a:pt x="25" y="0"/>
                                  </a:moveTo>
                                  <a:lnTo>
                                    <a:pt x="57" y="18"/>
                                  </a:lnTo>
                                  <a:lnTo>
                                    <a:pt x="29" y="34"/>
                                  </a:lnTo>
                                  <a:lnTo>
                                    <a:pt x="0" y="15"/>
                                  </a:lnTo>
                                  <a:lnTo>
                                    <a:pt x="2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2" name="Freeform 164"/>
                            <p:cNvSpPr/>
                            <p:nvPr/>
                          </p:nvSpPr>
                          <p:spPr bwMode="auto">
                            <a:xfrm>
                              <a:off x="2580" y="3084"/>
                              <a:ext cx="9" cy="5"/>
                            </a:xfrm>
                            <a:custGeom>
                              <a:avLst/>
                              <a:gdLst>
                                <a:gd name="T0" fmla="*/ 36 w 67"/>
                                <a:gd name="T1" fmla="*/ 0 h 41"/>
                                <a:gd name="T2" fmla="*/ 67 w 67"/>
                                <a:gd name="T3" fmla="*/ 19 h 41"/>
                                <a:gd name="T4" fmla="*/ 32 w 67"/>
                                <a:gd name="T5" fmla="*/ 41 h 41"/>
                                <a:gd name="T6" fmla="*/ 0 w 67"/>
                                <a:gd name="T7" fmla="*/ 21 h 41"/>
                                <a:gd name="T8" fmla="*/ 36 w 67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1">
                                  <a:moveTo>
                                    <a:pt x="36" y="0"/>
                                  </a:moveTo>
                                  <a:lnTo>
                                    <a:pt x="67" y="19"/>
                                  </a:lnTo>
                                  <a:lnTo>
                                    <a:pt x="32" y="4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3" name="Freeform 165"/>
                            <p:cNvSpPr/>
                            <p:nvPr/>
                          </p:nvSpPr>
                          <p:spPr bwMode="auto">
                            <a:xfrm>
                              <a:off x="2586" y="3082"/>
                              <a:ext cx="10" cy="5"/>
                            </a:xfrm>
                            <a:custGeom>
                              <a:avLst/>
                              <a:gdLst>
                                <a:gd name="T0" fmla="*/ 37 w 67"/>
                                <a:gd name="T1" fmla="*/ 0 h 41"/>
                                <a:gd name="T2" fmla="*/ 67 w 67"/>
                                <a:gd name="T3" fmla="*/ 19 h 41"/>
                                <a:gd name="T4" fmla="*/ 29 w 67"/>
                                <a:gd name="T5" fmla="*/ 41 h 41"/>
                                <a:gd name="T6" fmla="*/ 0 w 67"/>
                                <a:gd name="T7" fmla="*/ 21 h 41"/>
                                <a:gd name="T8" fmla="*/ 37 w 67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7" h="41">
                                  <a:moveTo>
                                    <a:pt x="37" y="0"/>
                                  </a:moveTo>
                                  <a:lnTo>
                                    <a:pt x="67" y="19"/>
                                  </a:lnTo>
                                  <a:lnTo>
                                    <a:pt x="29" y="4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4" name="Freeform 166"/>
                            <p:cNvSpPr/>
                            <p:nvPr/>
                          </p:nvSpPr>
                          <p:spPr bwMode="auto">
                            <a:xfrm>
                              <a:off x="2592" y="3079"/>
                              <a:ext cx="10" cy="5"/>
                            </a:xfrm>
                            <a:custGeom>
                              <a:avLst/>
                              <a:gdLst>
                                <a:gd name="T0" fmla="*/ 37 w 69"/>
                                <a:gd name="T1" fmla="*/ 0 h 40"/>
                                <a:gd name="T2" fmla="*/ 69 w 69"/>
                                <a:gd name="T3" fmla="*/ 19 h 40"/>
                                <a:gd name="T4" fmla="*/ 32 w 69"/>
                                <a:gd name="T5" fmla="*/ 40 h 40"/>
                                <a:gd name="T6" fmla="*/ 0 w 69"/>
                                <a:gd name="T7" fmla="*/ 21 h 40"/>
                                <a:gd name="T8" fmla="*/ 37 w 69"/>
                                <a:gd name="T9" fmla="*/ 0 h 4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0">
                                  <a:moveTo>
                                    <a:pt x="37" y="0"/>
                                  </a:moveTo>
                                  <a:lnTo>
                                    <a:pt x="69" y="19"/>
                                  </a:lnTo>
                                  <a:lnTo>
                                    <a:pt x="32" y="40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7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5" name="Freeform 167"/>
                            <p:cNvSpPr/>
                            <p:nvPr/>
                          </p:nvSpPr>
                          <p:spPr bwMode="auto">
                            <a:xfrm>
                              <a:off x="2598" y="3077"/>
                              <a:ext cx="8" cy="5"/>
                            </a:xfrm>
                            <a:custGeom>
                              <a:avLst/>
                              <a:gdLst>
                                <a:gd name="T0" fmla="*/ 24 w 56"/>
                                <a:gd name="T1" fmla="*/ 0 h 34"/>
                                <a:gd name="T2" fmla="*/ 56 w 56"/>
                                <a:gd name="T3" fmla="*/ 19 h 34"/>
                                <a:gd name="T4" fmla="*/ 33 w 56"/>
                                <a:gd name="T5" fmla="*/ 34 h 34"/>
                                <a:gd name="T6" fmla="*/ 0 w 56"/>
                                <a:gd name="T7" fmla="*/ 14 h 34"/>
                                <a:gd name="T8" fmla="*/ 24 w 56"/>
                                <a:gd name="T9" fmla="*/ 0 h 3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6" h="34">
                                  <a:moveTo>
                                    <a:pt x="24" y="0"/>
                                  </a:moveTo>
                                  <a:lnTo>
                                    <a:pt x="56" y="19"/>
                                  </a:lnTo>
                                  <a:lnTo>
                                    <a:pt x="33" y="34"/>
                                  </a:lnTo>
                                  <a:lnTo>
                                    <a:pt x="0" y="14"/>
                                  </a:lnTo>
                                  <a:lnTo>
                                    <a:pt x="24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6" name="Freeform 168"/>
                            <p:cNvSpPr/>
                            <p:nvPr/>
                          </p:nvSpPr>
                          <p:spPr bwMode="auto">
                            <a:xfrm>
                              <a:off x="2573" y="3087"/>
                              <a:ext cx="10" cy="5"/>
                            </a:xfrm>
                            <a:custGeom>
                              <a:avLst/>
                              <a:gdLst>
                                <a:gd name="T0" fmla="*/ 38 w 70"/>
                                <a:gd name="T1" fmla="*/ 0 h 41"/>
                                <a:gd name="T2" fmla="*/ 70 w 70"/>
                                <a:gd name="T3" fmla="*/ 21 h 41"/>
                                <a:gd name="T4" fmla="*/ 32 w 70"/>
                                <a:gd name="T5" fmla="*/ 41 h 41"/>
                                <a:gd name="T6" fmla="*/ 0 w 70"/>
                                <a:gd name="T7" fmla="*/ 21 h 41"/>
                                <a:gd name="T8" fmla="*/ 38 w 70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1">
                                  <a:moveTo>
                                    <a:pt x="38" y="0"/>
                                  </a:moveTo>
                                  <a:lnTo>
                                    <a:pt x="70" y="21"/>
                                  </a:lnTo>
                                  <a:lnTo>
                                    <a:pt x="32" y="4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7" name="Freeform 169"/>
                            <p:cNvSpPr/>
                            <p:nvPr/>
                          </p:nvSpPr>
                          <p:spPr bwMode="auto">
                            <a:xfrm>
                              <a:off x="2568" y="3084"/>
                              <a:ext cx="10" cy="5"/>
                            </a:xfrm>
                            <a:custGeom>
                              <a:avLst/>
                              <a:gdLst>
                                <a:gd name="T0" fmla="*/ 40 w 70"/>
                                <a:gd name="T1" fmla="*/ 0 h 41"/>
                                <a:gd name="T2" fmla="*/ 70 w 70"/>
                                <a:gd name="T3" fmla="*/ 21 h 41"/>
                                <a:gd name="T4" fmla="*/ 33 w 70"/>
                                <a:gd name="T5" fmla="*/ 41 h 41"/>
                                <a:gd name="T6" fmla="*/ 0 w 70"/>
                                <a:gd name="T7" fmla="*/ 21 h 41"/>
                                <a:gd name="T8" fmla="*/ 40 w 70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1">
                                  <a:moveTo>
                                    <a:pt x="40" y="0"/>
                                  </a:moveTo>
                                  <a:lnTo>
                                    <a:pt x="70" y="21"/>
                                  </a:lnTo>
                                  <a:lnTo>
                                    <a:pt x="33" y="41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4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8" name="Freeform 170"/>
                            <p:cNvSpPr/>
                            <p:nvPr/>
                          </p:nvSpPr>
                          <p:spPr bwMode="auto">
                            <a:xfrm>
                              <a:off x="2575" y="3082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8"/>
                                <a:gd name="T1" fmla="*/ 0 h 41"/>
                                <a:gd name="T2" fmla="*/ 68 w 68"/>
                                <a:gd name="T3" fmla="*/ 21 h 41"/>
                                <a:gd name="T4" fmla="*/ 30 w 68"/>
                                <a:gd name="T5" fmla="*/ 41 h 41"/>
                                <a:gd name="T6" fmla="*/ 0 w 68"/>
                                <a:gd name="T7" fmla="*/ 20 h 41"/>
                                <a:gd name="T8" fmla="*/ 36 w 68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41">
                                  <a:moveTo>
                                    <a:pt x="36" y="0"/>
                                  </a:moveTo>
                                  <a:lnTo>
                                    <a:pt x="68" y="21"/>
                                  </a:lnTo>
                                  <a:lnTo>
                                    <a:pt x="30" y="41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19" name="Freeform 171"/>
                            <p:cNvSpPr/>
                            <p:nvPr/>
                          </p:nvSpPr>
                          <p:spPr bwMode="auto">
                            <a:xfrm>
                              <a:off x="2581" y="3079"/>
                              <a:ext cx="10" cy="5"/>
                            </a:xfrm>
                            <a:custGeom>
                              <a:avLst/>
                              <a:gdLst>
                                <a:gd name="T0" fmla="*/ 36 w 69"/>
                                <a:gd name="T1" fmla="*/ 0 h 40"/>
                                <a:gd name="T2" fmla="*/ 69 w 69"/>
                                <a:gd name="T3" fmla="*/ 20 h 40"/>
                                <a:gd name="T4" fmla="*/ 33 w 69"/>
                                <a:gd name="T5" fmla="*/ 40 h 40"/>
                                <a:gd name="T6" fmla="*/ 0 w 69"/>
                                <a:gd name="T7" fmla="*/ 20 h 40"/>
                                <a:gd name="T8" fmla="*/ 36 w 69"/>
                                <a:gd name="T9" fmla="*/ 0 h 4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40">
                                  <a:moveTo>
                                    <a:pt x="36" y="0"/>
                                  </a:moveTo>
                                  <a:lnTo>
                                    <a:pt x="69" y="20"/>
                                  </a:lnTo>
                                  <a:lnTo>
                                    <a:pt x="33" y="40"/>
                                  </a:lnTo>
                                  <a:lnTo>
                                    <a:pt x="0" y="20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0" name="Freeform 172"/>
                            <p:cNvSpPr/>
                            <p:nvPr/>
                          </p:nvSpPr>
                          <p:spPr bwMode="auto">
                            <a:xfrm>
                              <a:off x="2587" y="3077"/>
                              <a:ext cx="10" cy="5"/>
                            </a:xfrm>
                            <a:custGeom>
                              <a:avLst/>
                              <a:gdLst>
                                <a:gd name="T0" fmla="*/ 38 w 70"/>
                                <a:gd name="T1" fmla="*/ 0 h 40"/>
                                <a:gd name="T2" fmla="*/ 70 w 70"/>
                                <a:gd name="T3" fmla="*/ 20 h 40"/>
                                <a:gd name="T4" fmla="*/ 32 w 70"/>
                                <a:gd name="T5" fmla="*/ 40 h 40"/>
                                <a:gd name="T6" fmla="*/ 0 w 70"/>
                                <a:gd name="T7" fmla="*/ 21 h 40"/>
                                <a:gd name="T8" fmla="*/ 38 w 70"/>
                                <a:gd name="T9" fmla="*/ 0 h 40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40">
                                  <a:moveTo>
                                    <a:pt x="38" y="0"/>
                                  </a:moveTo>
                                  <a:lnTo>
                                    <a:pt x="70" y="20"/>
                                  </a:lnTo>
                                  <a:lnTo>
                                    <a:pt x="32" y="40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1" name="Freeform 173"/>
                            <p:cNvSpPr/>
                            <p:nvPr/>
                          </p:nvSpPr>
                          <p:spPr bwMode="auto">
                            <a:xfrm>
                              <a:off x="2594" y="3075"/>
                              <a:ext cx="8" cy="4"/>
                            </a:xfrm>
                            <a:custGeom>
                              <a:avLst/>
                              <a:gdLst>
                                <a:gd name="T0" fmla="*/ 23 w 56"/>
                                <a:gd name="T1" fmla="*/ 0 h 35"/>
                                <a:gd name="T2" fmla="*/ 56 w 56"/>
                                <a:gd name="T3" fmla="*/ 21 h 35"/>
                                <a:gd name="T4" fmla="*/ 32 w 56"/>
                                <a:gd name="T5" fmla="*/ 35 h 35"/>
                                <a:gd name="T6" fmla="*/ 0 w 56"/>
                                <a:gd name="T7" fmla="*/ 15 h 35"/>
                                <a:gd name="T8" fmla="*/ 23 w 56"/>
                                <a:gd name="T9" fmla="*/ 0 h 3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6" h="35">
                                  <a:moveTo>
                                    <a:pt x="23" y="0"/>
                                  </a:moveTo>
                                  <a:lnTo>
                                    <a:pt x="56" y="21"/>
                                  </a:lnTo>
                                  <a:lnTo>
                                    <a:pt x="32" y="35"/>
                                  </a:lnTo>
                                  <a:lnTo>
                                    <a:pt x="0" y="15"/>
                                  </a:lnTo>
                                  <a:lnTo>
                                    <a:pt x="23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2" name="Freeform 174"/>
                            <p:cNvSpPr/>
                            <p:nvPr/>
                          </p:nvSpPr>
                          <p:spPr bwMode="auto">
                            <a:xfrm>
                              <a:off x="2571" y="3080"/>
                              <a:ext cx="9" cy="4"/>
                            </a:xfrm>
                            <a:custGeom>
                              <a:avLst/>
                              <a:gdLst>
                                <a:gd name="T0" fmla="*/ 40 w 65"/>
                                <a:gd name="T1" fmla="*/ 0 h 37"/>
                                <a:gd name="T2" fmla="*/ 65 w 65"/>
                                <a:gd name="T3" fmla="*/ 18 h 37"/>
                                <a:gd name="T4" fmla="*/ 28 w 65"/>
                                <a:gd name="T5" fmla="*/ 37 h 37"/>
                                <a:gd name="T6" fmla="*/ 0 w 65"/>
                                <a:gd name="T7" fmla="*/ 19 h 37"/>
                                <a:gd name="T8" fmla="*/ 40 w 65"/>
                                <a:gd name="T9" fmla="*/ 0 h 3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5" h="37">
                                  <a:moveTo>
                                    <a:pt x="40" y="0"/>
                                  </a:moveTo>
                                  <a:lnTo>
                                    <a:pt x="65" y="18"/>
                                  </a:lnTo>
                                  <a:lnTo>
                                    <a:pt x="28" y="37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4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3" name="Freeform 175"/>
                            <p:cNvSpPr/>
                            <p:nvPr/>
                          </p:nvSpPr>
                          <p:spPr bwMode="auto">
                            <a:xfrm>
                              <a:off x="2577" y="3077"/>
                              <a:ext cx="9" cy="5"/>
                            </a:xfrm>
                            <a:custGeom>
                              <a:avLst/>
                              <a:gdLst>
                                <a:gd name="T0" fmla="*/ 36 w 64"/>
                                <a:gd name="T1" fmla="*/ 0 h 38"/>
                                <a:gd name="T2" fmla="*/ 64 w 64"/>
                                <a:gd name="T3" fmla="*/ 19 h 38"/>
                                <a:gd name="T4" fmla="*/ 25 w 64"/>
                                <a:gd name="T5" fmla="*/ 38 h 38"/>
                                <a:gd name="T6" fmla="*/ 0 w 64"/>
                                <a:gd name="T7" fmla="*/ 21 h 38"/>
                                <a:gd name="T8" fmla="*/ 36 w 64"/>
                                <a:gd name="T9" fmla="*/ 0 h 3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4" h="38">
                                  <a:moveTo>
                                    <a:pt x="36" y="0"/>
                                  </a:moveTo>
                                  <a:lnTo>
                                    <a:pt x="64" y="19"/>
                                  </a:lnTo>
                                  <a:lnTo>
                                    <a:pt x="25" y="38"/>
                                  </a:lnTo>
                                  <a:lnTo>
                                    <a:pt x="0" y="21"/>
                                  </a:lnTo>
                                  <a:lnTo>
                                    <a:pt x="3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4" name="Freeform 176"/>
                            <p:cNvSpPr/>
                            <p:nvPr/>
                          </p:nvSpPr>
                          <p:spPr bwMode="auto">
                            <a:xfrm>
                              <a:off x="2583" y="3074"/>
                              <a:ext cx="9" cy="5"/>
                            </a:xfrm>
                            <a:custGeom>
                              <a:avLst/>
                              <a:gdLst>
                                <a:gd name="T0" fmla="*/ 43 w 69"/>
                                <a:gd name="T1" fmla="*/ 0 h 39"/>
                                <a:gd name="T2" fmla="*/ 69 w 69"/>
                                <a:gd name="T3" fmla="*/ 20 h 39"/>
                                <a:gd name="T4" fmla="*/ 30 w 69"/>
                                <a:gd name="T5" fmla="*/ 39 h 39"/>
                                <a:gd name="T6" fmla="*/ 0 w 69"/>
                                <a:gd name="T7" fmla="*/ 22 h 39"/>
                                <a:gd name="T8" fmla="*/ 43 w 69"/>
                                <a:gd name="T9" fmla="*/ 0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9" h="39">
                                  <a:moveTo>
                                    <a:pt x="43" y="0"/>
                                  </a:moveTo>
                                  <a:lnTo>
                                    <a:pt x="69" y="20"/>
                                  </a:lnTo>
                                  <a:lnTo>
                                    <a:pt x="30" y="39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43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5" name="Freeform 177"/>
                            <p:cNvSpPr/>
                            <p:nvPr/>
                          </p:nvSpPr>
                          <p:spPr bwMode="auto">
                            <a:xfrm>
                              <a:off x="2589" y="3073"/>
                              <a:ext cx="8" cy="4"/>
                            </a:xfrm>
                            <a:custGeom>
                              <a:avLst/>
                              <a:gdLst>
                                <a:gd name="T0" fmla="*/ 26 w 55"/>
                                <a:gd name="T1" fmla="*/ 0 h 33"/>
                                <a:gd name="T2" fmla="*/ 55 w 55"/>
                                <a:gd name="T3" fmla="*/ 19 h 33"/>
                                <a:gd name="T4" fmla="*/ 30 w 55"/>
                                <a:gd name="T5" fmla="*/ 33 h 33"/>
                                <a:gd name="T6" fmla="*/ 0 w 55"/>
                                <a:gd name="T7" fmla="*/ 12 h 33"/>
                                <a:gd name="T8" fmla="*/ 26 w 55"/>
                                <a:gd name="T9" fmla="*/ 0 h 3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5" h="33">
                                  <a:moveTo>
                                    <a:pt x="26" y="0"/>
                                  </a:moveTo>
                                  <a:lnTo>
                                    <a:pt x="55" y="19"/>
                                  </a:lnTo>
                                  <a:lnTo>
                                    <a:pt x="30" y="33"/>
                                  </a:lnTo>
                                  <a:lnTo>
                                    <a:pt x="0" y="12"/>
                                  </a:lnTo>
                                  <a:lnTo>
                                    <a:pt x="26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6" name="Freeform 178"/>
                            <p:cNvSpPr/>
                            <p:nvPr/>
                          </p:nvSpPr>
                          <p:spPr bwMode="auto">
                            <a:xfrm>
                              <a:off x="2564" y="3082"/>
                              <a:ext cx="10" cy="5"/>
                            </a:xfrm>
                            <a:custGeom>
                              <a:avLst/>
                              <a:gdLst>
                                <a:gd name="T0" fmla="*/ 40 w 65"/>
                                <a:gd name="T1" fmla="*/ 0 h 38"/>
                                <a:gd name="T2" fmla="*/ 65 w 65"/>
                                <a:gd name="T3" fmla="*/ 18 h 38"/>
                                <a:gd name="T4" fmla="*/ 27 w 65"/>
                                <a:gd name="T5" fmla="*/ 38 h 38"/>
                                <a:gd name="T6" fmla="*/ 0 w 65"/>
                                <a:gd name="T7" fmla="*/ 22 h 38"/>
                                <a:gd name="T8" fmla="*/ 40 w 65"/>
                                <a:gd name="T9" fmla="*/ 0 h 3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5" h="38">
                                  <a:moveTo>
                                    <a:pt x="40" y="0"/>
                                  </a:moveTo>
                                  <a:lnTo>
                                    <a:pt x="65" y="18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0" y="22"/>
                                  </a:lnTo>
                                  <a:lnTo>
                                    <a:pt x="4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7" name="Freeform 179"/>
                            <p:cNvSpPr/>
                            <p:nvPr/>
                          </p:nvSpPr>
                          <p:spPr bwMode="auto">
                            <a:xfrm>
                              <a:off x="2565" y="3077"/>
                              <a:ext cx="11" cy="5"/>
                            </a:xfrm>
                            <a:custGeom>
                              <a:avLst/>
                              <a:gdLst>
                                <a:gd name="T0" fmla="*/ 38 w 74"/>
                                <a:gd name="T1" fmla="*/ 0 h 44"/>
                                <a:gd name="T2" fmla="*/ 74 w 74"/>
                                <a:gd name="T3" fmla="*/ 24 h 44"/>
                                <a:gd name="T4" fmla="*/ 37 w 74"/>
                                <a:gd name="T5" fmla="*/ 44 h 44"/>
                                <a:gd name="T6" fmla="*/ 0 w 74"/>
                                <a:gd name="T7" fmla="*/ 19 h 44"/>
                                <a:gd name="T8" fmla="*/ 38 w 74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4" h="44">
                                  <a:moveTo>
                                    <a:pt x="38" y="0"/>
                                  </a:moveTo>
                                  <a:lnTo>
                                    <a:pt x="74" y="24"/>
                                  </a:lnTo>
                                  <a:lnTo>
                                    <a:pt x="37" y="44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8" name="Freeform 180"/>
                            <p:cNvSpPr/>
                            <p:nvPr/>
                          </p:nvSpPr>
                          <p:spPr bwMode="auto">
                            <a:xfrm>
                              <a:off x="2571" y="3074"/>
                              <a:ext cx="11" cy="6"/>
                            </a:xfrm>
                            <a:custGeom>
                              <a:avLst/>
                              <a:gdLst>
                                <a:gd name="T0" fmla="*/ 39 w 75"/>
                                <a:gd name="T1" fmla="*/ 0 h 44"/>
                                <a:gd name="T2" fmla="*/ 75 w 75"/>
                                <a:gd name="T3" fmla="*/ 24 h 44"/>
                                <a:gd name="T4" fmla="*/ 37 w 75"/>
                                <a:gd name="T5" fmla="*/ 44 h 44"/>
                                <a:gd name="T6" fmla="*/ 0 w 75"/>
                                <a:gd name="T7" fmla="*/ 19 h 44"/>
                                <a:gd name="T8" fmla="*/ 39 w 75"/>
                                <a:gd name="T9" fmla="*/ 0 h 4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5" h="44">
                                  <a:moveTo>
                                    <a:pt x="39" y="0"/>
                                  </a:moveTo>
                                  <a:lnTo>
                                    <a:pt x="75" y="24"/>
                                  </a:lnTo>
                                  <a:lnTo>
                                    <a:pt x="37" y="44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9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29" name="Freeform 181"/>
                            <p:cNvSpPr/>
                            <p:nvPr/>
                          </p:nvSpPr>
                          <p:spPr bwMode="auto">
                            <a:xfrm>
                              <a:off x="2578" y="3072"/>
                              <a:ext cx="10" cy="5"/>
                            </a:xfrm>
                            <a:custGeom>
                              <a:avLst/>
                              <a:gdLst>
                                <a:gd name="T0" fmla="*/ 38 w 72"/>
                                <a:gd name="T1" fmla="*/ 0 h 41"/>
                                <a:gd name="T2" fmla="*/ 72 w 72"/>
                                <a:gd name="T3" fmla="*/ 22 h 41"/>
                                <a:gd name="T4" fmla="*/ 34 w 72"/>
                                <a:gd name="T5" fmla="*/ 41 h 41"/>
                                <a:gd name="T6" fmla="*/ 0 w 72"/>
                                <a:gd name="T7" fmla="*/ 19 h 41"/>
                                <a:gd name="T8" fmla="*/ 38 w 72"/>
                                <a:gd name="T9" fmla="*/ 0 h 41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2" h="41">
                                  <a:moveTo>
                                    <a:pt x="38" y="0"/>
                                  </a:moveTo>
                                  <a:lnTo>
                                    <a:pt x="72" y="22"/>
                                  </a:lnTo>
                                  <a:lnTo>
                                    <a:pt x="34" y="41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0" name="Freeform 182"/>
                            <p:cNvSpPr/>
                            <p:nvPr/>
                          </p:nvSpPr>
                          <p:spPr bwMode="auto">
                            <a:xfrm>
                              <a:off x="2584" y="3070"/>
                              <a:ext cx="8" cy="5"/>
                            </a:xfrm>
                            <a:custGeom>
                              <a:avLst/>
                              <a:gdLst>
                                <a:gd name="T0" fmla="*/ 25 w 58"/>
                                <a:gd name="T1" fmla="*/ 0 h 33"/>
                                <a:gd name="T2" fmla="*/ 58 w 58"/>
                                <a:gd name="T3" fmla="*/ 21 h 33"/>
                                <a:gd name="T4" fmla="*/ 36 w 58"/>
                                <a:gd name="T5" fmla="*/ 33 h 33"/>
                                <a:gd name="T6" fmla="*/ 0 w 58"/>
                                <a:gd name="T7" fmla="*/ 12 h 33"/>
                                <a:gd name="T8" fmla="*/ 25 w 58"/>
                                <a:gd name="T9" fmla="*/ 0 h 3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8" h="33">
                                  <a:moveTo>
                                    <a:pt x="25" y="0"/>
                                  </a:moveTo>
                                  <a:lnTo>
                                    <a:pt x="58" y="21"/>
                                  </a:lnTo>
                                  <a:lnTo>
                                    <a:pt x="36" y="33"/>
                                  </a:lnTo>
                                  <a:lnTo>
                                    <a:pt x="0" y="12"/>
                                  </a:lnTo>
                                  <a:lnTo>
                                    <a:pt x="25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1" name="Freeform 183"/>
                            <p:cNvSpPr/>
                            <p:nvPr/>
                          </p:nvSpPr>
                          <p:spPr bwMode="auto">
                            <a:xfrm>
                              <a:off x="2559" y="3079"/>
                              <a:ext cx="11" cy="6"/>
                            </a:xfrm>
                            <a:custGeom>
                              <a:avLst/>
                              <a:gdLst>
                                <a:gd name="T0" fmla="*/ 40 w 79"/>
                                <a:gd name="T1" fmla="*/ 0 h 45"/>
                                <a:gd name="T2" fmla="*/ 79 w 79"/>
                                <a:gd name="T3" fmla="*/ 24 h 45"/>
                                <a:gd name="T4" fmla="*/ 41 w 79"/>
                                <a:gd name="T5" fmla="*/ 45 h 45"/>
                                <a:gd name="T6" fmla="*/ 0 w 79"/>
                                <a:gd name="T7" fmla="*/ 18 h 45"/>
                                <a:gd name="T8" fmla="*/ 40 w 79"/>
                                <a:gd name="T9" fmla="*/ 0 h 45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9" h="45">
                                  <a:moveTo>
                                    <a:pt x="40" y="0"/>
                                  </a:moveTo>
                                  <a:lnTo>
                                    <a:pt x="79" y="24"/>
                                  </a:lnTo>
                                  <a:lnTo>
                                    <a:pt x="41" y="45"/>
                                  </a:lnTo>
                                  <a:lnTo>
                                    <a:pt x="0" y="18"/>
                                  </a:lnTo>
                                  <a:lnTo>
                                    <a:pt x="4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2" name="Freeform 184"/>
                            <p:cNvSpPr/>
                            <p:nvPr/>
                          </p:nvSpPr>
                          <p:spPr bwMode="auto">
                            <a:xfrm>
                              <a:off x="2550" y="3074"/>
                              <a:ext cx="14" cy="8"/>
                            </a:xfrm>
                            <a:custGeom>
                              <a:avLst/>
                              <a:gdLst>
                                <a:gd name="T0" fmla="*/ 38 w 98"/>
                                <a:gd name="T1" fmla="*/ 0 h 58"/>
                                <a:gd name="T2" fmla="*/ 98 w 98"/>
                                <a:gd name="T3" fmla="*/ 43 h 58"/>
                                <a:gd name="T4" fmla="*/ 60 w 98"/>
                                <a:gd name="T5" fmla="*/ 58 h 58"/>
                                <a:gd name="T6" fmla="*/ 0 w 98"/>
                                <a:gd name="T7" fmla="*/ 19 h 58"/>
                                <a:gd name="T8" fmla="*/ 38 w 98"/>
                                <a:gd name="T9" fmla="*/ 0 h 5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98" h="58">
                                  <a:moveTo>
                                    <a:pt x="38" y="0"/>
                                  </a:moveTo>
                                  <a:lnTo>
                                    <a:pt x="98" y="43"/>
                                  </a:lnTo>
                                  <a:lnTo>
                                    <a:pt x="60" y="58"/>
                                  </a:lnTo>
                                  <a:lnTo>
                                    <a:pt x="0" y="19"/>
                                  </a:lnTo>
                                  <a:lnTo>
                                    <a:pt x="3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3" name="Freeform 185"/>
                            <p:cNvSpPr/>
                            <p:nvPr/>
                          </p:nvSpPr>
                          <p:spPr bwMode="auto">
                            <a:xfrm>
                              <a:off x="2551" y="3068"/>
                              <a:ext cx="19" cy="11"/>
                            </a:xfrm>
                            <a:custGeom>
                              <a:avLst/>
                              <a:gdLst>
                                <a:gd name="T0" fmla="*/ 0 w 130"/>
                                <a:gd name="T1" fmla="*/ 33 h 92"/>
                                <a:gd name="T2" fmla="*/ 95 w 130"/>
                                <a:gd name="T3" fmla="*/ 92 h 92"/>
                                <a:gd name="T4" fmla="*/ 130 w 130"/>
                                <a:gd name="T5" fmla="*/ 76 h 92"/>
                                <a:gd name="T6" fmla="*/ 64 w 130"/>
                                <a:gd name="T7" fmla="*/ 33 h 92"/>
                                <a:gd name="T8" fmla="*/ 112 w 130"/>
                                <a:gd name="T9" fmla="*/ 13 h 92"/>
                                <a:gd name="T10" fmla="*/ 88 w 130"/>
                                <a:gd name="T11" fmla="*/ 0 h 92"/>
                                <a:gd name="T12" fmla="*/ 0 w 130"/>
                                <a:gd name="T13" fmla="*/ 33 h 92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</a:cxnLst>
                              <a:rect l="0" t="0" r="r" b="b"/>
                              <a:pathLst>
                                <a:path w="130" h="92">
                                  <a:moveTo>
                                    <a:pt x="0" y="33"/>
                                  </a:moveTo>
                                  <a:lnTo>
                                    <a:pt x="95" y="92"/>
                                  </a:lnTo>
                                  <a:lnTo>
                                    <a:pt x="130" y="76"/>
                                  </a:lnTo>
                                  <a:lnTo>
                                    <a:pt x="64" y="33"/>
                                  </a:lnTo>
                                  <a:lnTo>
                                    <a:pt x="112" y="13"/>
                                  </a:lnTo>
                                  <a:lnTo>
                                    <a:pt x="88" y="0"/>
                                  </a:lnTo>
                                  <a:lnTo>
                                    <a:pt x="0" y="3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4" name="Freeform 186"/>
                            <p:cNvSpPr/>
                            <p:nvPr/>
                          </p:nvSpPr>
                          <p:spPr bwMode="auto">
                            <a:xfrm>
                              <a:off x="2562" y="3070"/>
                              <a:ext cx="15" cy="7"/>
                            </a:xfrm>
                            <a:custGeom>
                              <a:avLst/>
                              <a:gdLst>
                                <a:gd name="T0" fmla="*/ 0 w 100"/>
                                <a:gd name="T1" fmla="*/ 19 h 59"/>
                                <a:gd name="T2" fmla="*/ 61 w 100"/>
                                <a:gd name="T3" fmla="*/ 59 h 59"/>
                                <a:gd name="T4" fmla="*/ 100 w 100"/>
                                <a:gd name="T5" fmla="*/ 41 h 59"/>
                                <a:gd name="T6" fmla="*/ 37 w 100"/>
                                <a:gd name="T7" fmla="*/ 0 h 59"/>
                                <a:gd name="T8" fmla="*/ 0 w 100"/>
                                <a:gd name="T9" fmla="*/ 19 h 5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100" h="59">
                                  <a:moveTo>
                                    <a:pt x="0" y="19"/>
                                  </a:moveTo>
                                  <a:lnTo>
                                    <a:pt x="61" y="59"/>
                                  </a:lnTo>
                                  <a:lnTo>
                                    <a:pt x="100" y="41"/>
                                  </a:lnTo>
                                  <a:lnTo>
                                    <a:pt x="37" y="0"/>
                                  </a:lnTo>
                                  <a:lnTo>
                                    <a:pt x="0" y="1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5" name="Freeform 187"/>
                            <p:cNvSpPr/>
                            <p:nvPr/>
                          </p:nvSpPr>
                          <p:spPr bwMode="auto">
                            <a:xfrm>
                              <a:off x="2573" y="3070"/>
                              <a:ext cx="10" cy="5"/>
                            </a:xfrm>
                            <a:custGeom>
                              <a:avLst/>
                              <a:gdLst>
                                <a:gd name="T0" fmla="*/ 0 w 70"/>
                                <a:gd name="T1" fmla="*/ 20 h 38"/>
                                <a:gd name="T2" fmla="*/ 29 w 70"/>
                                <a:gd name="T3" fmla="*/ 38 h 38"/>
                                <a:gd name="T4" fmla="*/ 70 w 70"/>
                                <a:gd name="T5" fmla="*/ 18 h 38"/>
                                <a:gd name="T6" fmla="*/ 40 w 70"/>
                                <a:gd name="T7" fmla="*/ 0 h 38"/>
                                <a:gd name="T8" fmla="*/ 0 w 70"/>
                                <a:gd name="T9" fmla="*/ 20 h 38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38">
                                  <a:moveTo>
                                    <a:pt x="0" y="20"/>
                                  </a:moveTo>
                                  <a:lnTo>
                                    <a:pt x="29" y="38"/>
                                  </a:lnTo>
                                  <a:lnTo>
                                    <a:pt x="70" y="18"/>
                                  </a:lnTo>
                                  <a:lnTo>
                                    <a:pt x="40" y="0"/>
                                  </a:lnTo>
                                  <a:lnTo>
                                    <a:pt x="0" y="2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6" name="Freeform 188"/>
                            <p:cNvSpPr/>
                            <p:nvPr/>
                          </p:nvSpPr>
                          <p:spPr bwMode="auto">
                            <a:xfrm>
                              <a:off x="2568" y="3067"/>
                              <a:ext cx="10" cy="5"/>
                            </a:xfrm>
                            <a:custGeom>
                              <a:avLst/>
                              <a:gdLst>
                                <a:gd name="T0" fmla="*/ 0 w 70"/>
                                <a:gd name="T1" fmla="*/ 18 h 39"/>
                                <a:gd name="T2" fmla="*/ 32 w 70"/>
                                <a:gd name="T3" fmla="*/ 39 h 39"/>
                                <a:gd name="T4" fmla="*/ 70 w 70"/>
                                <a:gd name="T5" fmla="*/ 18 h 39"/>
                                <a:gd name="T6" fmla="*/ 38 w 70"/>
                                <a:gd name="T7" fmla="*/ 0 h 39"/>
                                <a:gd name="T8" fmla="*/ 0 w 70"/>
                                <a:gd name="T9" fmla="*/ 18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70" h="39">
                                  <a:moveTo>
                                    <a:pt x="0" y="18"/>
                                  </a:moveTo>
                                  <a:lnTo>
                                    <a:pt x="32" y="39"/>
                                  </a:lnTo>
                                  <a:lnTo>
                                    <a:pt x="70" y="18"/>
                                  </a:lnTo>
                                  <a:lnTo>
                                    <a:pt x="38" y="0"/>
                                  </a:lnTo>
                                  <a:lnTo>
                                    <a:pt x="0" y="18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7" name="Freeform 189"/>
                            <p:cNvSpPr/>
                            <p:nvPr/>
                          </p:nvSpPr>
                          <p:spPr bwMode="auto">
                            <a:xfrm>
                              <a:off x="2564" y="3065"/>
                              <a:ext cx="9" cy="5"/>
                            </a:xfrm>
                            <a:custGeom>
                              <a:avLst/>
                              <a:gdLst>
                                <a:gd name="T0" fmla="*/ 0 w 65"/>
                                <a:gd name="T1" fmla="*/ 19 h 36"/>
                                <a:gd name="T2" fmla="*/ 26 w 65"/>
                                <a:gd name="T3" fmla="*/ 36 h 36"/>
                                <a:gd name="T4" fmla="*/ 65 w 65"/>
                                <a:gd name="T5" fmla="*/ 17 h 36"/>
                                <a:gd name="T6" fmla="*/ 42 w 65"/>
                                <a:gd name="T7" fmla="*/ 0 h 36"/>
                                <a:gd name="T8" fmla="*/ 0 w 65"/>
                                <a:gd name="T9" fmla="*/ 19 h 36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5" h="36">
                                  <a:moveTo>
                                    <a:pt x="0" y="19"/>
                                  </a:moveTo>
                                  <a:lnTo>
                                    <a:pt x="26" y="36"/>
                                  </a:lnTo>
                                  <a:lnTo>
                                    <a:pt x="65" y="17"/>
                                  </a:lnTo>
                                  <a:lnTo>
                                    <a:pt x="42" y="0"/>
                                  </a:lnTo>
                                  <a:lnTo>
                                    <a:pt x="0" y="1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8" name="Freeform 190"/>
                            <p:cNvSpPr/>
                            <p:nvPr/>
                          </p:nvSpPr>
                          <p:spPr bwMode="auto">
                            <a:xfrm>
                              <a:off x="2571" y="3064"/>
                              <a:ext cx="7" cy="3"/>
                            </a:xfrm>
                            <a:custGeom>
                              <a:avLst/>
                              <a:gdLst>
                                <a:gd name="T0" fmla="*/ 0 w 47"/>
                                <a:gd name="T1" fmla="*/ 12 h 27"/>
                                <a:gd name="T2" fmla="*/ 25 w 47"/>
                                <a:gd name="T3" fmla="*/ 27 h 27"/>
                                <a:gd name="T4" fmla="*/ 47 w 47"/>
                                <a:gd name="T5" fmla="*/ 14 h 27"/>
                                <a:gd name="T6" fmla="*/ 22 w 47"/>
                                <a:gd name="T7" fmla="*/ 0 h 27"/>
                                <a:gd name="T8" fmla="*/ 0 w 47"/>
                                <a:gd name="T9" fmla="*/ 12 h 2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47" h="27">
                                  <a:moveTo>
                                    <a:pt x="0" y="12"/>
                                  </a:moveTo>
                                  <a:lnTo>
                                    <a:pt x="25" y="27"/>
                                  </a:lnTo>
                                  <a:lnTo>
                                    <a:pt x="47" y="14"/>
                                  </a:lnTo>
                                  <a:lnTo>
                                    <a:pt x="22" y="0"/>
                                  </a:lnTo>
                                  <a:lnTo>
                                    <a:pt x="0" y="1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39" name="Freeform 191"/>
                            <p:cNvSpPr/>
                            <p:nvPr/>
                          </p:nvSpPr>
                          <p:spPr bwMode="auto">
                            <a:xfrm>
                              <a:off x="2575" y="3066"/>
                              <a:ext cx="7" cy="4"/>
                            </a:xfrm>
                            <a:custGeom>
                              <a:avLst/>
                              <a:gdLst>
                                <a:gd name="T0" fmla="*/ 0 w 53"/>
                                <a:gd name="T1" fmla="*/ 12 h 33"/>
                                <a:gd name="T2" fmla="*/ 32 w 53"/>
                                <a:gd name="T3" fmla="*/ 33 h 33"/>
                                <a:gd name="T4" fmla="*/ 53 w 53"/>
                                <a:gd name="T5" fmla="*/ 21 h 33"/>
                                <a:gd name="T6" fmla="*/ 22 w 53"/>
                                <a:gd name="T7" fmla="*/ 0 h 33"/>
                                <a:gd name="T8" fmla="*/ 0 w 53"/>
                                <a:gd name="T9" fmla="*/ 12 h 3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3" h="33">
                                  <a:moveTo>
                                    <a:pt x="0" y="12"/>
                                  </a:moveTo>
                                  <a:lnTo>
                                    <a:pt x="32" y="33"/>
                                  </a:lnTo>
                                  <a:lnTo>
                                    <a:pt x="53" y="21"/>
                                  </a:lnTo>
                                  <a:lnTo>
                                    <a:pt x="22" y="0"/>
                                  </a:lnTo>
                                  <a:lnTo>
                                    <a:pt x="0" y="1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40" name="Freeform 192"/>
                            <p:cNvSpPr/>
                            <p:nvPr/>
                          </p:nvSpPr>
                          <p:spPr bwMode="auto">
                            <a:xfrm>
                              <a:off x="2545" y="3072"/>
                              <a:ext cx="10" cy="5"/>
                            </a:xfrm>
                            <a:custGeom>
                              <a:avLst/>
                              <a:gdLst>
                                <a:gd name="T0" fmla="*/ 0 w 68"/>
                                <a:gd name="T1" fmla="*/ 19 h 39"/>
                                <a:gd name="T2" fmla="*/ 27 w 68"/>
                                <a:gd name="T3" fmla="*/ 39 h 39"/>
                                <a:gd name="T4" fmla="*/ 68 w 68"/>
                                <a:gd name="T5" fmla="*/ 19 h 39"/>
                                <a:gd name="T6" fmla="*/ 41 w 68"/>
                                <a:gd name="T7" fmla="*/ 0 h 39"/>
                                <a:gd name="T8" fmla="*/ 0 w 68"/>
                                <a:gd name="T9" fmla="*/ 19 h 3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68" h="39">
                                  <a:moveTo>
                                    <a:pt x="0" y="19"/>
                                  </a:moveTo>
                                  <a:lnTo>
                                    <a:pt x="27" y="39"/>
                                  </a:lnTo>
                                  <a:lnTo>
                                    <a:pt x="68" y="19"/>
                                  </a:lnTo>
                                  <a:lnTo>
                                    <a:pt x="41" y="0"/>
                                  </a:lnTo>
                                  <a:lnTo>
                                    <a:pt x="0" y="1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642241" name="Freeform 193"/>
                            <p:cNvSpPr/>
                            <p:nvPr/>
                          </p:nvSpPr>
                          <p:spPr bwMode="auto">
                            <a:xfrm>
                              <a:off x="2579" y="3068"/>
                              <a:ext cx="8" cy="4"/>
                            </a:xfrm>
                            <a:custGeom>
                              <a:avLst/>
                              <a:gdLst>
                                <a:gd name="T0" fmla="*/ 0 w 54"/>
                                <a:gd name="T1" fmla="*/ 13 h 33"/>
                                <a:gd name="T2" fmla="*/ 31 w 54"/>
                                <a:gd name="T3" fmla="*/ 33 h 33"/>
                                <a:gd name="T4" fmla="*/ 54 w 54"/>
                                <a:gd name="T5" fmla="*/ 21 h 33"/>
                                <a:gd name="T6" fmla="*/ 22 w 54"/>
                                <a:gd name="T7" fmla="*/ 0 h 33"/>
                                <a:gd name="T8" fmla="*/ 0 w 54"/>
                                <a:gd name="T9" fmla="*/ 13 h 33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</a:cxnLst>
                              <a:rect l="0" t="0" r="r" b="b"/>
                              <a:pathLst>
                                <a:path w="54" h="33">
                                  <a:moveTo>
                                    <a:pt x="0" y="13"/>
                                  </a:moveTo>
                                  <a:lnTo>
                                    <a:pt x="31" y="33"/>
                                  </a:lnTo>
                                  <a:lnTo>
                                    <a:pt x="54" y="21"/>
                                  </a:lnTo>
                                  <a:lnTo>
                                    <a:pt x="22" y="0"/>
                                  </a:lnTo>
                                  <a:lnTo>
                                    <a:pt x="0" y="1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  <p:grpSp>
                      <p:nvGrpSpPr>
                        <p:cNvPr id="642242" name="Group 194"/>
                        <p:cNvGrpSpPr/>
                        <p:nvPr/>
                      </p:nvGrpSpPr>
                      <p:grpSpPr bwMode="auto">
                        <a:xfrm>
                          <a:off x="2506" y="3084"/>
                          <a:ext cx="128" cy="47"/>
                          <a:chOff x="2506" y="3084"/>
                          <a:chExt cx="128" cy="47"/>
                        </a:xfrm>
                      </p:grpSpPr>
                      <p:sp>
                        <p:nvSpPr>
                          <p:cNvPr id="642243" name="Freeform 195"/>
                          <p:cNvSpPr/>
                          <p:nvPr/>
                        </p:nvSpPr>
                        <p:spPr bwMode="auto">
                          <a:xfrm>
                            <a:off x="2578" y="3106"/>
                            <a:ext cx="56" cy="25"/>
                          </a:xfrm>
                          <a:custGeom>
                            <a:avLst/>
                            <a:gdLst>
                              <a:gd name="T0" fmla="*/ 393 w 393"/>
                              <a:gd name="T1" fmla="*/ 0 h 204"/>
                              <a:gd name="T2" fmla="*/ 11 w 393"/>
                              <a:gd name="T3" fmla="*/ 162 h 204"/>
                              <a:gd name="T4" fmla="*/ 3 w 393"/>
                              <a:gd name="T5" fmla="*/ 172 h 204"/>
                              <a:gd name="T6" fmla="*/ 0 w 393"/>
                              <a:gd name="T7" fmla="*/ 183 h 204"/>
                              <a:gd name="T8" fmla="*/ 3 w 393"/>
                              <a:gd name="T9" fmla="*/ 190 h 204"/>
                              <a:gd name="T10" fmla="*/ 7 w 393"/>
                              <a:gd name="T11" fmla="*/ 200 h 204"/>
                              <a:gd name="T12" fmla="*/ 14 w 393"/>
                              <a:gd name="T13" fmla="*/ 204 h 204"/>
                              <a:gd name="T14" fmla="*/ 384 w 393"/>
                              <a:gd name="T15" fmla="*/ 42 h 204"/>
                              <a:gd name="T16" fmla="*/ 393 w 393"/>
                              <a:gd name="T17" fmla="*/ 0 h 20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</a:cxnLst>
                            <a:rect l="0" t="0" r="r" b="b"/>
                            <a:pathLst>
                              <a:path w="393" h="204">
                                <a:moveTo>
                                  <a:pt x="393" y="0"/>
                                </a:moveTo>
                                <a:lnTo>
                                  <a:pt x="11" y="162"/>
                                </a:lnTo>
                                <a:lnTo>
                                  <a:pt x="3" y="172"/>
                                </a:lnTo>
                                <a:lnTo>
                                  <a:pt x="0" y="183"/>
                                </a:lnTo>
                                <a:lnTo>
                                  <a:pt x="3" y="190"/>
                                </a:lnTo>
                                <a:lnTo>
                                  <a:pt x="7" y="200"/>
                                </a:lnTo>
                                <a:lnTo>
                                  <a:pt x="14" y="204"/>
                                </a:lnTo>
                                <a:lnTo>
                                  <a:pt x="384" y="42"/>
                                </a:lnTo>
                                <a:lnTo>
                                  <a:pt x="393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C0C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42244" name="Freeform 196"/>
                          <p:cNvSpPr/>
                          <p:nvPr/>
                        </p:nvSpPr>
                        <p:spPr bwMode="auto">
                          <a:xfrm>
                            <a:off x="2507" y="3084"/>
                            <a:ext cx="76" cy="43"/>
                          </a:xfrm>
                          <a:custGeom>
                            <a:avLst/>
                            <a:gdLst>
                              <a:gd name="T0" fmla="*/ 535 w 535"/>
                              <a:gd name="T1" fmla="*/ 329 h 343"/>
                              <a:gd name="T2" fmla="*/ 515 w 535"/>
                              <a:gd name="T3" fmla="*/ 336 h 343"/>
                              <a:gd name="T4" fmla="*/ 507 w 535"/>
                              <a:gd name="T5" fmla="*/ 343 h 343"/>
                              <a:gd name="T6" fmla="*/ 0 w 535"/>
                              <a:gd name="T7" fmla="*/ 3 h 343"/>
                              <a:gd name="T8" fmla="*/ 12 w 535"/>
                              <a:gd name="T9" fmla="*/ 1 h 343"/>
                              <a:gd name="T10" fmla="*/ 23 w 535"/>
                              <a:gd name="T11" fmla="*/ 0 h 343"/>
                              <a:gd name="T12" fmla="*/ 35 w 535"/>
                              <a:gd name="T13" fmla="*/ 0 h 343"/>
                              <a:gd name="T14" fmla="*/ 49 w 535"/>
                              <a:gd name="T15" fmla="*/ 2 h 343"/>
                              <a:gd name="T16" fmla="*/ 535 w 535"/>
                              <a:gd name="T17" fmla="*/ 329 h 34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</a:cxnLst>
                            <a:rect l="0" t="0" r="r" b="b"/>
                            <a:pathLst>
                              <a:path w="535" h="343">
                                <a:moveTo>
                                  <a:pt x="535" y="329"/>
                                </a:moveTo>
                                <a:lnTo>
                                  <a:pt x="515" y="336"/>
                                </a:lnTo>
                                <a:lnTo>
                                  <a:pt x="507" y="343"/>
                                </a:lnTo>
                                <a:lnTo>
                                  <a:pt x="0" y="3"/>
                                </a:lnTo>
                                <a:lnTo>
                                  <a:pt x="12" y="1"/>
                                </a:lnTo>
                                <a:lnTo>
                                  <a:pt x="23" y="0"/>
                                </a:lnTo>
                                <a:lnTo>
                                  <a:pt x="35" y="0"/>
                                </a:lnTo>
                                <a:lnTo>
                                  <a:pt x="49" y="2"/>
                                </a:lnTo>
                                <a:lnTo>
                                  <a:pt x="535" y="32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A0A0A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42245" name="Freeform 197"/>
                          <p:cNvSpPr/>
                          <p:nvPr/>
                        </p:nvSpPr>
                        <p:spPr bwMode="auto">
                          <a:xfrm>
                            <a:off x="2506" y="3085"/>
                            <a:ext cx="74" cy="46"/>
                          </a:xfrm>
                          <a:custGeom>
                            <a:avLst/>
                            <a:gdLst>
                              <a:gd name="T0" fmla="*/ 8 w 518"/>
                              <a:gd name="T1" fmla="*/ 0 h 368"/>
                              <a:gd name="T2" fmla="*/ 514 w 518"/>
                              <a:gd name="T3" fmla="*/ 339 h 368"/>
                              <a:gd name="T4" fmla="*/ 512 w 518"/>
                              <a:gd name="T5" fmla="*/ 354 h 368"/>
                              <a:gd name="T6" fmla="*/ 518 w 518"/>
                              <a:gd name="T7" fmla="*/ 368 h 368"/>
                              <a:gd name="T8" fmla="*/ 0 w 518"/>
                              <a:gd name="T9" fmla="*/ 17 h 368"/>
                              <a:gd name="T10" fmla="*/ 0 w 518"/>
                              <a:gd name="T11" fmla="*/ 7 h 368"/>
                              <a:gd name="T12" fmla="*/ 8 w 518"/>
                              <a:gd name="T13" fmla="*/ 0 h 36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</a:cxnLst>
                            <a:rect l="0" t="0" r="r" b="b"/>
                            <a:pathLst>
                              <a:path w="518" h="368">
                                <a:moveTo>
                                  <a:pt x="8" y="0"/>
                                </a:moveTo>
                                <a:lnTo>
                                  <a:pt x="514" y="339"/>
                                </a:lnTo>
                                <a:lnTo>
                                  <a:pt x="512" y="354"/>
                                </a:lnTo>
                                <a:lnTo>
                                  <a:pt x="518" y="368"/>
                                </a:lnTo>
                                <a:lnTo>
                                  <a:pt x="0" y="17"/>
                                </a:lnTo>
                                <a:lnTo>
                                  <a:pt x="0" y="7"/>
                                </a:lnTo>
                                <a:lnTo>
                                  <a:pt x="8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0808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  <p:grpSp>
                    <p:nvGrpSpPr>
                      <p:cNvPr id="642246" name="Group 198"/>
                      <p:cNvGrpSpPr/>
                      <p:nvPr/>
                    </p:nvGrpSpPr>
                    <p:grpSpPr bwMode="auto">
                      <a:xfrm>
                        <a:off x="2582" y="2996"/>
                        <a:ext cx="100" cy="84"/>
                        <a:chOff x="2582" y="2996"/>
                        <a:chExt cx="100" cy="84"/>
                      </a:xfrm>
                    </p:grpSpPr>
                    <p:sp>
                      <p:nvSpPr>
                        <p:cNvPr id="642247" name="Freeform 199"/>
                        <p:cNvSpPr/>
                        <p:nvPr/>
                      </p:nvSpPr>
                      <p:spPr bwMode="auto">
                        <a:xfrm>
                          <a:off x="2653" y="3028"/>
                          <a:ext cx="29" cy="52"/>
                        </a:xfrm>
                        <a:custGeom>
                          <a:avLst/>
                          <a:gdLst>
                            <a:gd name="T0" fmla="*/ 194 w 208"/>
                            <a:gd name="T1" fmla="*/ 0 h 419"/>
                            <a:gd name="T2" fmla="*/ 208 w 208"/>
                            <a:gd name="T3" fmla="*/ 28 h 419"/>
                            <a:gd name="T4" fmla="*/ 15 w 208"/>
                            <a:gd name="T5" fmla="*/ 419 h 419"/>
                            <a:gd name="T6" fmla="*/ 0 w 208"/>
                            <a:gd name="T7" fmla="*/ 389 h 419"/>
                            <a:gd name="T8" fmla="*/ 194 w 208"/>
                            <a:gd name="T9" fmla="*/ 0 h 41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208" h="419">
                              <a:moveTo>
                                <a:pt x="194" y="0"/>
                              </a:moveTo>
                              <a:lnTo>
                                <a:pt x="208" y="28"/>
                              </a:lnTo>
                              <a:lnTo>
                                <a:pt x="15" y="419"/>
                              </a:lnTo>
                              <a:lnTo>
                                <a:pt x="0" y="389"/>
                              </a:lnTo>
                              <a:lnTo>
                                <a:pt x="19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0808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48" name="Freeform 200"/>
                        <p:cNvSpPr/>
                        <p:nvPr/>
                      </p:nvSpPr>
                      <p:spPr bwMode="auto">
                        <a:xfrm>
                          <a:off x="2582" y="2996"/>
                          <a:ext cx="99" cy="81"/>
                        </a:xfrm>
                        <a:custGeom>
                          <a:avLst/>
                          <a:gdLst>
                            <a:gd name="T0" fmla="*/ 188 w 690"/>
                            <a:gd name="T1" fmla="*/ 0 h 644"/>
                            <a:gd name="T2" fmla="*/ 690 w 690"/>
                            <a:gd name="T3" fmla="*/ 256 h 644"/>
                            <a:gd name="T4" fmla="*/ 501 w 690"/>
                            <a:gd name="T5" fmla="*/ 644 h 644"/>
                            <a:gd name="T6" fmla="*/ 0 w 690"/>
                            <a:gd name="T7" fmla="*/ 385 h 644"/>
                            <a:gd name="T8" fmla="*/ 188 w 690"/>
                            <a:gd name="T9" fmla="*/ 0 h 64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690" h="644">
                              <a:moveTo>
                                <a:pt x="188" y="0"/>
                              </a:moveTo>
                              <a:lnTo>
                                <a:pt x="690" y="256"/>
                              </a:lnTo>
                              <a:lnTo>
                                <a:pt x="501" y="644"/>
                              </a:lnTo>
                              <a:lnTo>
                                <a:pt x="0" y="385"/>
                              </a:lnTo>
                              <a:lnTo>
                                <a:pt x="188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49" name="Freeform 201"/>
                        <p:cNvSpPr/>
                        <p:nvPr/>
                      </p:nvSpPr>
                      <p:spPr bwMode="auto">
                        <a:xfrm>
                          <a:off x="2588" y="3002"/>
                          <a:ext cx="88" cy="69"/>
                        </a:xfrm>
                        <a:custGeom>
                          <a:avLst/>
                          <a:gdLst>
                            <a:gd name="T0" fmla="*/ 614 w 614"/>
                            <a:gd name="T1" fmla="*/ 235 h 554"/>
                            <a:gd name="T2" fmla="*/ 457 w 614"/>
                            <a:gd name="T3" fmla="*/ 554 h 554"/>
                            <a:gd name="T4" fmla="*/ 0 w 614"/>
                            <a:gd name="T5" fmla="*/ 322 h 554"/>
                            <a:gd name="T6" fmla="*/ 155 w 614"/>
                            <a:gd name="T7" fmla="*/ 0 h 554"/>
                            <a:gd name="T8" fmla="*/ 614 w 614"/>
                            <a:gd name="T9" fmla="*/ 235 h 55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614" h="554">
                              <a:moveTo>
                                <a:pt x="614" y="235"/>
                              </a:moveTo>
                              <a:lnTo>
                                <a:pt x="457" y="554"/>
                              </a:lnTo>
                              <a:lnTo>
                                <a:pt x="0" y="322"/>
                              </a:lnTo>
                              <a:lnTo>
                                <a:pt x="155" y="0"/>
                              </a:lnTo>
                              <a:lnTo>
                                <a:pt x="614" y="23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60606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50" name="Freeform 202"/>
                        <p:cNvSpPr/>
                        <p:nvPr/>
                      </p:nvSpPr>
                      <p:spPr bwMode="auto">
                        <a:xfrm>
                          <a:off x="2592" y="3005"/>
                          <a:ext cx="80" cy="63"/>
                        </a:xfrm>
                        <a:custGeom>
                          <a:avLst/>
                          <a:gdLst>
                            <a:gd name="T0" fmla="*/ 560 w 560"/>
                            <a:gd name="T1" fmla="*/ 214 h 502"/>
                            <a:gd name="T2" fmla="*/ 423 w 560"/>
                            <a:gd name="T3" fmla="*/ 502 h 502"/>
                            <a:gd name="T4" fmla="*/ 0 w 560"/>
                            <a:gd name="T5" fmla="*/ 286 h 502"/>
                            <a:gd name="T6" fmla="*/ 140 w 560"/>
                            <a:gd name="T7" fmla="*/ 0 h 502"/>
                            <a:gd name="T8" fmla="*/ 560 w 560"/>
                            <a:gd name="T9" fmla="*/ 214 h 50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560" h="502">
                              <a:moveTo>
                                <a:pt x="560" y="214"/>
                              </a:moveTo>
                              <a:lnTo>
                                <a:pt x="423" y="502"/>
                              </a:lnTo>
                              <a:lnTo>
                                <a:pt x="0" y="286"/>
                              </a:lnTo>
                              <a:lnTo>
                                <a:pt x="140" y="0"/>
                              </a:lnTo>
                              <a:lnTo>
                                <a:pt x="560" y="21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51" name="Freeform 203"/>
                        <p:cNvSpPr/>
                        <p:nvPr/>
                      </p:nvSpPr>
                      <p:spPr bwMode="auto">
                        <a:xfrm>
                          <a:off x="2646" y="3069"/>
                          <a:ext cx="7" cy="6"/>
                        </a:xfrm>
                        <a:custGeom>
                          <a:avLst/>
                          <a:gdLst>
                            <a:gd name="T0" fmla="*/ 15 w 52"/>
                            <a:gd name="T1" fmla="*/ 0 h 47"/>
                            <a:gd name="T2" fmla="*/ 52 w 52"/>
                            <a:gd name="T3" fmla="*/ 19 h 47"/>
                            <a:gd name="T4" fmla="*/ 38 w 52"/>
                            <a:gd name="T5" fmla="*/ 47 h 47"/>
                            <a:gd name="T6" fmla="*/ 0 w 52"/>
                            <a:gd name="T7" fmla="*/ 28 h 47"/>
                            <a:gd name="T8" fmla="*/ 15 w 52"/>
                            <a:gd name="T9" fmla="*/ 0 h 4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52" h="47">
                              <a:moveTo>
                                <a:pt x="15" y="0"/>
                              </a:moveTo>
                              <a:lnTo>
                                <a:pt x="52" y="19"/>
                              </a:lnTo>
                              <a:lnTo>
                                <a:pt x="38" y="47"/>
                              </a:lnTo>
                              <a:lnTo>
                                <a:pt x="0" y="28"/>
                              </a:lnTo>
                              <a:lnTo>
                                <a:pt x="1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52" name="Freeform 204"/>
                        <p:cNvSpPr/>
                        <p:nvPr/>
                      </p:nvSpPr>
                      <p:spPr bwMode="auto">
                        <a:xfrm>
                          <a:off x="2583" y="3044"/>
                          <a:ext cx="73" cy="36"/>
                        </a:xfrm>
                        <a:custGeom>
                          <a:avLst/>
                          <a:gdLst>
                            <a:gd name="T0" fmla="*/ 511 w 511"/>
                            <a:gd name="T1" fmla="*/ 291 h 291"/>
                            <a:gd name="T2" fmla="*/ 15 w 511"/>
                            <a:gd name="T3" fmla="*/ 33 h 291"/>
                            <a:gd name="T4" fmla="*/ 0 w 511"/>
                            <a:gd name="T5" fmla="*/ 0 h 291"/>
                            <a:gd name="T6" fmla="*/ 502 w 511"/>
                            <a:gd name="T7" fmla="*/ 262 h 291"/>
                            <a:gd name="T8" fmla="*/ 511 w 511"/>
                            <a:gd name="T9" fmla="*/ 291 h 29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511" h="291">
                              <a:moveTo>
                                <a:pt x="511" y="291"/>
                              </a:moveTo>
                              <a:lnTo>
                                <a:pt x="15" y="33"/>
                              </a:lnTo>
                              <a:lnTo>
                                <a:pt x="0" y="0"/>
                              </a:lnTo>
                              <a:lnTo>
                                <a:pt x="502" y="262"/>
                              </a:lnTo>
                              <a:lnTo>
                                <a:pt x="511" y="29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60606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53" name="Freeform 205"/>
                        <p:cNvSpPr/>
                        <p:nvPr/>
                      </p:nvSpPr>
                      <p:spPr bwMode="auto">
                        <a:xfrm>
                          <a:off x="2600" y="3053"/>
                          <a:ext cx="31" cy="21"/>
                        </a:xfrm>
                        <a:custGeom>
                          <a:avLst/>
                          <a:gdLst>
                            <a:gd name="T0" fmla="*/ 0 w 222"/>
                            <a:gd name="T1" fmla="*/ 83 h 172"/>
                            <a:gd name="T2" fmla="*/ 57 w 222"/>
                            <a:gd name="T3" fmla="*/ 0 h 172"/>
                            <a:gd name="T4" fmla="*/ 222 w 222"/>
                            <a:gd name="T5" fmla="*/ 84 h 172"/>
                            <a:gd name="T6" fmla="*/ 165 w 222"/>
                            <a:gd name="T7" fmla="*/ 172 h 172"/>
                            <a:gd name="T8" fmla="*/ 0 w 222"/>
                            <a:gd name="T9" fmla="*/ 83 h 17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222" h="172">
                              <a:moveTo>
                                <a:pt x="0" y="83"/>
                              </a:moveTo>
                              <a:lnTo>
                                <a:pt x="57" y="0"/>
                              </a:lnTo>
                              <a:lnTo>
                                <a:pt x="222" y="84"/>
                              </a:lnTo>
                              <a:lnTo>
                                <a:pt x="165" y="172"/>
                              </a:lnTo>
                              <a:lnTo>
                                <a:pt x="0" y="8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grpSp>
                  <p:nvGrpSpPr>
                    <p:cNvPr id="642254" name="Group 206"/>
                    <p:cNvGrpSpPr/>
                    <p:nvPr/>
                  </p:nvGrpSpPr>
                  <p:grpSpPr bwMode="auto">
                    <a:xfrm>
                      <a:off x="2644" y="3109"/>
                      <a:ext cx="74" cy="35"/>
                      <a:chOff x="2644" y="3109"/>
                      <a:chExt cx="74" cy="35"/>
                    </a:xfrm>
                  </p:grpSpPr>
                  <p:sp>
                    <p:nvSpPr>
                      <p:cNvPr id="642255" name="Freeform 207"/>
                      <p:cNvSpPr/>
                      <p:nvPr/>
                    </p:nvSpPr>
                    <p:spPr bwMode="auto">
                      <a:xfrm>
                        <a:off x="2645" y="3112"/>
                        <a:ext cx="59" cy="32"/>
                      </a:xfrm>
                      <a:custGeom>
                        <a:avLst/>
                        <a:gdLst>
                          <a:gd name="T0" fmla="*/ 0 w 412"/>
                          <a:gd name="T1" fmla="*/ 147 h 252"/>
                          <a:gd name="T2" fmla="*/ 266 w 412"/>
                          <a:gd name="T3" fmla="*/ 252 h 252"/>
                          <a:gd name="T4" fmla="*/ 412 w 412"/>
                          <a:gd name="T5" fmla="*/ 111 h 252"/>
                          <a:gd name="T6" fmla="*/ 148 w 412"/>
                          <a:gd name="T7" fmla="*/ 0 h 252"/>
                          <a:gd name="T8" fmla="*/ 0 w 412"/>
                          <a:gd name="T9" fmla="*/ 147 h 25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12" h="252">
                            <a:moveTo>
                              <a:pt x="0" y="147"/>
                            </a:moveTo>
                            <a:lnTo>
                              <a:pt x="266" y="252"/>
                            </a:lnTo>
                            <a:lnTo>
                              <a:pt x="412" y="111"/>
                            </a:lnTo>
                            <a:lnTo>
                              <a:pt x="148" y="0"/>
                            </a:lnTo>
                            <a:lnTo>
                              <a:pt x="0" y="147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642256" name="Group 208"/>
                      <p:cNvGrpSpPr/>
                      <p:nvPr/>
                    </p:nvGrpSpPr>
                    <p:grpSpPr bwMode="auto">
                      <a:xfrm>
                        <a:off x="2644" y="3109"/>
                        <a:ext cx="61" cy="28"/>
                        <a:chOff x="2644" y="3109"/>
                        <a:chExt cx="61" cy="28"/>
                      </a:xfrm>
                    </p:grpSpPr>
                    <p:sp>
                      <p:nvSpPr>
                        <p:cNvPr id="642257" name="Freeform 209"/>
                        <p:cNvSpPr/>
                        <p:nvPr/>
                      </p:nvSpPr>
                      <p:spPr bwMode="auto">
                        <a:xfrm>
                          <a:off x="2644" y="3109"/>
                          <a:ext cx="61" cy="28"/>
                        </a:xfrm>
                        <a:custGeom>
                          <a:avLst/>
                          <a:gdLst>
                            <a:gd name="T0" fmla="*/ 0 w 431"/>
                            <a:gd name="T1" fmla="*/ 68 h 221"/>
                            <a:gd name="T2" fmla="*/ 165 w 431"/>
                            <a:gd name="T3" fmla="*/ 221 h 221"/>
                            <a:gd name="T4" fmla="*/ 431 w 431"/>
                            <a:gd name="T5" fmla="*/ 150 h 221"/>
                            <a:gd name="T6" fmla="*/ 266 w 431"/>
                            <a:gd name="T7" fmla="*/ 0 h 221"/>
                            <a:gd name="T8" fmla="*/ 0 w 431"/>
                            <a:gd name="T9" fmla="*/ 68 h 22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431" h="221">
                              <a:moveTo>
                                <a:pt x="0" y="68"/>
                              </a:moveTo>
                              <a:lnTo>
                                <a:pt x="165" y="221"/>
                              </a:lnTo>
                              <a:lnTo>
                                <a:pt x="431" y="150"/>
                              </a:lnTo>
                              <a:lnTo>
                                <a:pt x="266" y="0"/>
                              </a:lnTo>
                              <a:lnTo>
                                <a:pt x="0" y="6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404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58" name="Freeform 210"/>
                        <p:cNvSpPr/>
                        <p:nvPr/>
                      </p:nvSpPr>
                      <p:spPr bwMode="auto">
                        <a:xfrm>
                          <a:off x="2646" y="3114"/>
                          <a:ext cx="21" cy="9"/>
                        </a:xfrm>
                        <a:custGeom>
                          <a:avLst/>
                          <a:gdLst>
                            <a:gd name="T0" fmla="*/ 0 w 147"/>
                            <a:gd name="T1" fmla="*/ 31 h 67"/>
                            <a:gd name="T2" fmla="*/ 37 w 147"/>
                            <a:gd name="T3" fmla="*/ 67 h 67"/>
                            <a:gd name="T4" fmla="*/ 147 w 147"/>
                            <a:gd name="T5" fmla="*/ 35 h 67"/>
                            <a:gd name="T6" fmla="*/ 112 w 147"/>
                            <a:gd name="T7" fmla="*/ 0 h 67"/>
                            <a:gd name="T8" fmla="*/ 0 w 147"/>
                            <a:gd name="T9" fmla="*/ 31 h 67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147" h="67">
                              <a:moveTo>
                                <a:pt x="0" y="31"/>
                              </a:moveTo>
                              <a:lnTo>
                                <a:pt x="37" y="67"/>
                              </a:lnTo>
                              <a:lnTo>
                                <a:pt x="147" y="35"/>
                              </a:lnTo>
                              <a:lnTo>
                                <a:pt x="112" y="0"/>
                              </a:lnTo>
                              <a:lnTo>
                                <a:pt x="0" y="3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642259" name="Group 211"/>
                      <p:cNvGrpSpPr/>
                      <p:nvPr/>
                    </p:nvGrpSpPr>
                    <p:grpSpPr bwMode="auto">
                      <a:xfrm>
                        <a:off x="2657" y="3114"/>
                        <a:ext cx="61" cy="28"/>
                        <a:chOff x="2657" y="3114"/>
                        <a:chExt cx="61" cy="28"/>
                      </a:xfrm>
                    </p:grpSpPr>
                    <p:sp>
                      <p:nvSpPr>
                        <p:cNvPr id="642260" name="Freeform 212"/>
                        <p:cNvSpPr/>
                        <p:nvPr/>
                      </p:nvSpPr>
                      <p:spPr bwMode="auto">
                        <a:xfrm>
                          <a:off x="2657" y="3114"/>
                          <a:ext cx="61" cy="28"/>
                        </a:xfrm>
                        <a:custGeom>
                          <a:avLst/>
                          <a:gdLst>
                            <a:gd name="T0" fmla="*/ 0 w 427"/>
                            <a:gd name="T1" fmla="*/ 67 h 220"/>
                            <a:gd name="T2" fmla="*/ 164 w 427"/>
                            <a:gd name="T3" fmla="*/ 220 h 220"/>
                            <a:gd name="T4" fmla="*/ 427 w 427"/>
                            <a:gd name="T5" fmla="*/ 153 h 220"/>
                            <a:gd name="T6" fmla="*/ 260 w 427"/>
                            <a:gd name="T7" fmla="*/ 0 h 220"/>
                            <a:gd name="T8" fmla="*/ 0 w 427"/>
                            <a:gd name="T9" fmla="*/ 67 h 22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427" h="220">
                              <a:moveTo>
                                <a:pt x="0" y="67"/>
                              </a:moveTo>
                              <a:lnTo>
                                <a:pt x="164" y="220"/>
                              </a:lnTo>
                              <a:lnTo>
                                <a:pt x="427" y="153"/>
                              </a:lnTo>
                              <a:lnTo>
                                <a:pt x="260" y="0"/>
                              </a:lnTo>
                              <a:lnTo>
                                <a:pt x="0" y="6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60606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61" name="Oval 2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681" y="3123"/>
                          <a:ext cx="14" cy="9"/>
                        </a:xfrm>
                        <a:prstGeom prst="ellipse">
                          <a:avLst/>
                        </a:prstGeom>
                        <a:solidFill>
                          <a:srgbClr val="404040"/>
                        </a:solidFill>
                        <a:ln w="1588">
                          <a:solidFill>
                            <a:srgbClr val="000000"/>
                          </a:solidFill>
                          <a:round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262" name="Freeform 214"/>
                        <p:cNvSpPr/>
                        <p:nvPr/>
                      </p:nvSpPr>
                      <p:spPr bwMode="auto">
                        <a:xfrm>
                          <a:off x="2658" y="3119"/>
                          <a:ext cx="21" cy="8"/>
                        </a:xfrm>
                        <a:custGeom>
                          <a:avLst/>
                          <a:gdLst>
                            <a:gd name="T0" fmla="*/ 0 w 148"/>
                            <a:gd name="T1" fmla="*/ 31 h 66"/>
                            <a:gd name="T2" fmla="*/ 37 w 148"/>
                            <a:gd name="T3" fmla="*/ 66 h 66"/>
                            <a:gd name="T4" fmla="*/ 148 w 148"/>
                            <a:gd name="T5" fmla="*/ 34 h 66"/>
                            <a:gd name="T6" fmla="*/ 113 w 148"/>
                            <a:gd name="T7" fmla="*/ 0 h 66"/>
                            <a:gd name="T8" fmla="*/ 0 w 148"/>
                            <a:gd name="T9" fmla="*/ 31 h 6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148" h="66">
                              <a:moveTo>
                                <a:pt x="0" y="31"/>
                              </a:moveTo>
                              <a:lnTo>
                                <a:pt x="37" y="66"/>
                              </a:lnTo>
                              <a:lnTo>
                                <a:pt x="148" y="34"/>
                              </a:lnTo>
                              <a:lnTo>
                                <a:pt x="113" y="0"/>
                              </a:lnTo>
                              <a:lnTo>
                                <a:pt x="0" y="3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642263" name="Group 215"/>
            <p:cNvGrpSpPr/>
            <p:nvPr/>
          </p:nvGrpSpPr>
          <p:grpSpPr bwMode="auto">
            <a:xfrm>
              <a:off x="2358" y="3018"/>
              <a:ext cx="168" cy="199"/>
              <a:chOff x="2358" y="3018"/>
              <a:chExt cx="168" cy="199"/>
            </a:xfrm>
          </p:grpSpPr>
          <p:grpSp>
            <p:nvGrpSpPr>
              <p:cNvPr id="642264" name="Group 216"/>
              <p:cNvGrpSpPr/>
              <p:nvPr/>
            </p:nvGrpSpPr>
            <p:grpSpPr bwMode="auto">
              <a:xfrm>
                <a:off x="2358" y="3075"/>
                <a:ext cx="168" cy="142"/>
                <a:chOff x="2358" y="3075"/>
                <a:chExt cx="168" cy="142"/>
              </a:xfrm>
            </p:grpSpPr>
            <p:grpSp>
              <p:nvGrpSpPr>
                <p:cNvPr id="642265" name="Group 217"/>
                <p:cNvGrpSpPr/>
                <p:nvPr/>
              </p:nvGrpSpPr>
              <p:grpSpPr bwMode="auto">
                <a:xfrm>
                  <a:off x="2451" y="3129"/>
                  <a:ext cx="56" cy="62"/>
                  <a:chOff x="2451" y="3129"/>
                  <a:chExt cx="56" cy="62"/>
                </a:xfrm>
              </p:grpSpPr>
              <p:sp>
                <p:nvSpPr>
                  <p:cNvPr id="642266" name="Freeform 218"/>
                  <p:cNvSpPr/>
                  <p:nvPr/>
                </p:nvSpPr>
                <p:spPr bwMode="auto">
                  <a:xfrm>
                    <a:off x="2458" y="3129"/>
                    <a:ext cx="48" cy="31"/>
                  </a:xfrm>
                  <a:custGeom>
                    <a:avLst/>
                    <a:gdLst>
                      <a:gd name="T0" fmla="*/ 334 w 334"/>
                      <a:gd name="T1" fmla="*/ 49 h 252"/>
                      <a:gd name="T2" fmla="*/ 320 w 334"/>
                      <a:gd name="T3" fmla="*/ 104 h 252"/>
                      <a:gd name="T4" fmla="*/ 307 w 334"/>
                      <a:gd name="T5" fmla="*/ 122 h 252"/>
                      <a:gd name="T6" fmla="*/ 303 w 334"/>
                      <a:gd name="T7" fmla="*/ 129 h 252"/>
                      <a:gd name="T8" fmla="*/ 305 w 334"/>
                      <a:gd name="T9" fmla="*/ 145 h 252"/>
                      <a:gd name="T10" fmla="*/ 309 w 334"/>
                      <a:gd name="T11" fmla="*/ 160 h 252"/>
                      <a:gd name="T12" fmla="*/ 310 w 334"/>
                      <a:gd name="T13" fmla="*/ 177 h 252"/>
                      <a:gd name="T14" fmla="*/ 292 w 334"/>
                      <a:gd name="T15" fmla="*/ 204 h 252"/>
                      <a:gd name="T16" fmla="*/ 113 w 334"/>
                      <a:gd name="T17" fmla="*/ 167 h 252"/>
                      <a:gd name="T18" fmla="*/ 58 w 334"/>
                      <a:gd name="T19" fmla="*/ 209 h 252"/>
                      <a:gd name="T20" fmla="*/ 42 w 334"/>
                      <a:gd name="T21" fmla="*/ 227 h 252"/>
                      <a:gd name="T22" fmla="*/ 30 w 334"/>
                      <a:gd name="T23" fmla="*/ 245 h 252"/>
                      <a:gd name="T24" fmla="*/ 16 w 334"/>
                      <a:gd name="T25" fmla="*/ 252 h 252"/>
                      <a:gd name="T26" fmla="*/ 7 w 334"/>
                      <a:gd name="T27" fmla="*/ 251 h 252"/>
                      <a:gd name="T28" fmla="*/ 2 w 334"/>
                      <a:gd name="T29" fmla="*/ 246 h 252"/>
                      <a:gd name="T30" fmla="*/ 0 w 334"/>
                      <a:gd name="T31" fmla="*/ 236 h 252"/>
                      <a:gd name="T32" fmla="*/ 2 w 334"/>
                      <a:gd name="T33" fmla="*/ 224 h 252"/>
                      <a:gd name="T34" fmla="*/ 7 w 334"/>
                      <a:gd name="T35" fmla="*/ 215 h 252"/>
                      <a:gd name="T36" fmla="*/ 22 w 334"/>
                      <a:gd name="T37" fmla="*/ 192 h 252"/>
                      <a:gd name="T38" fmla="*/ 33 w 334"/>
                      <a:gd name="T39" fmla="*/ 182 h 252"/>
                      <a:gd name="T40" fmla="*/ 46 w 334"/>
                      <a:gd name="T41" fmla="*/ 170 h 252"/>
                      <a:gd name="T42" fmla="*/ 59 w 334"/>
                      <a:gd name="T43" fmla="*/ 151 h 252"/>
                      <a:gd name="T44" fmla="*/ 69 w 334"/>
                      <a:gd name="T45" fmla="*/ 135 h 252"/>
                      <a:gd name="T46" fmla="*/ 80 w 334"/>
                      <a:gd name="T47" fmla="*/ 124 h 252"/>
                      <a:gd name="T48" fmla="*/ 91 w 334"/>
                      <a:gd name="T49" fmla="*/ 117 h 252"/>
                      <a:gd name="T50" fmla="*/ 125 w 334"/>
                      <a:gd name="T51" fmla="*/ 93 h 252"/>
                      <a:gd name="T52" fmla="*/ 153 w 334"/>
                      <a:gd name="T53" fmla="*/ 73 h 252"/>
                      <a:gd name="T54" fmla="*/ 178 w 334"/>
                      <a:gd name="T55" fmla="*/ 59 h 252"/>
                      <a:gd name="T56" fmla="*/ 197 w 334"/>
                      <a:gd name="T57" fmla="*/ 48 h 252"/>
                      <a:gd name="T58" fmla="*/ 193 w 334"/>
                      <a:gd name="T59" fmla="*/ 37 h 252"/>
                      <a:gd name="T60" fmla="*/ 197 w 334"/>
                      <a:gd name="T61" fmla="*/ 23 h 252"/>
                      <a:gd name="T62" fmla="*/ 221 w 334"/>
                      <a:gd name="T63" fmla="*/ 0 h 252"/>
                      <a:gd name="T64" fmla="*/ 334 w 334"/>
                      <a:gd name="T65" fmla="*/ 49 h 2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334" h="252">
                        <a:moveTo>
                          <a:pt x="334" y="49"/>
                        </a:moveTo>
                        <a:lnTo>
                          <a:pt x="320" y="104"/>
                        </a:lnTo>
                        <a:lnTo>
                          <a:pt x="307" y="122"/>
                        </a:lnTo>
                        <a:lnTo>
                          <a:pt x="303" y="129"/>
                        </a:lnTo>
                        <a:lnTo>
                          <a:pt x="305" y="145"/>
                        </a:lnTo>
                        <a:lnTo>
                          <a:pt x="309" y="160"/>
                        </a:lnTo>
                        <a:lnTo>
                          <a:pt x="310" y="177"/>
                        </a:lnTo>
                        <a:lnTo>
                          <a:pt x="292" y="204"/>
                        </a:lnTo>
                        <a:lnTo>
                          <a:pt x="113" y="167"/>
                        </a:lnTo>
                        <a:lnTo>
                          <a:pt x="58" y="209"/>
                        </a:lnTo>
                        <a:lnTo>
                          <a:pt x="42" y="227"/>
                        </a:lnTo>
                        <a:lnTo>
                          <a:pt x="30" y="245"/>
                        </a:lnTo>
                        <a:lnTo>
                          <a:pt x="16" y="252"/>
                        </a:lnTo>
                        <a:lnTo>
                          <a:pt x="7" y="251"/>
                        </a:lnTo>
                        <a:lnTo>
                          <a:pt x="2" y="246"/>
                        </a:lnTo>
                        <a:lnTo>
                          <a:pt x="0" y="236"/>
                        </a:lnTo>
                        <a:lnTo>
                          <a:pt x="2" y="224"/>
                        </a:lnTo>
                        <a:lnTo>
                          <a:pt x="7" y="215"/>
                        </a:lnTo>
                        <a:lnTo>
                          <a:pt x="22" y="192"/>
                        </a:lnTo>
                        <a:lnTo>
                          <a:pt x="33" y="182"/>
                        </a:lnTo>
                        <a:lnTo>
                          <a:pt x="46" y="170"/>
                        </a:lnTo>
                        <a:lnTo>
                          <a:pt x="59" y="151"/>
                        </a:lnTo>
                        <a:lnTo>
                          <a:pt x="69" y="135"/>
                        </a:lnTo>
                        <a:lnTo>
                          <a:pt x="80" y="124"/>
                        </a:lnTo>
                        <a:lnTo>
                          <a:pt x="91" y="117"/>
                        </a:lnTo>
                        <a:lnTo>
                          <a:pt x="125" y="93"/>
                        </a:lnTo>
                        <a:lnTo>
                          <a:pt x="153" y="73"/>
                        </a:lnTo>
                        <a:lnTo>
                          <a:pt x="178" y="59"/>
                        </a:lnTo>
                        <a:lnTo>
                          <a:pt x="197" y="48"/>
                        </a:lnTo>
                        <a:lnTo>
                          <a:pt x="193" y="37"/>
                        </a:lnTo>
                        <a:lnTo>
                          <a:pt x="197" y="23"/>
                        </a:lnTo>
                        <a:lnTo>
                          <a:pt x="221" y="0"/>
                        </a:lnTo>
                        <a:lnTo>
                          <a:pt x="334" y="49"/>
                        </a:lnTo>
                        <a:close/>
                      </a:path>
                    </a:pathLst>
                  </a:custGeom>
                  <a:solidFill>
                    <a:srgbClr val="FF8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267" name="Freeform 219"/>
                  <p:cNvSpPr/>
                  <p:nvPr/>
                </p:nvSpPr>
                <p:spPr bwMode="auto">
                  <a:xfrm>
                    <a:off x="2451" y="3140"/>
                    <a:ext cx="56" cy="51"/>
                  </a:xfrm>
                  <a:custGeom>
                    <a:avLst/>
                    <a:gdLst>
                      <a:gd name="T0" fmla="*/ 0 w 389"/>
                      <a:gd name="T1" fmla="*/ 301 h 409"/>
                      <a:gd name="T2" fmla="*/ 22 w 389"/>
                      <a:gd name="T3" fmla="*/ 275 h 409"/>
                      <a:gd name="T4" fmla="*/ 42 w 389"/>
                      <a:gd name="T5" fmla="*/ 259 h 409"/>
                      <a:gd name="T6" fmla="*/ 81 w 389"/>
                      <a:gd name="T7" fmla="*/ 232 h 409"/>
                      <a:gd name="T8" fmla="*/ 80 w 389"/>
                      <a:gd name="T9" fmla="*/ 204 h 409"/>
                      <a:gd name="T10" fmla="*/ 79 w 389"/>
                      <a:gd name="T11" fmla="*/ 171 h 409"/>
                      <a:gd name="T12" fmla="*/ 81 w 389"/>
                      <a:gd name="T13" fmla="*/ 142 h 409"/>
                      <a:gd name="T14" fmla="*/ 84 w 389"/>
                      <a:gd name="T15" fmla="*/ 112 h 409"/>
                      <a:gd name="T16" fmla="*/ 89 w 389"/>
                      <a:gd name="T17" fmla="*/ 102 h 409"/>
                      <a:gd name="T18" fmla="*/ 99 w 389"/>
                      <a:gd name="T19" fmla="*/ 94 h 409"/>
                      <a:gd name="T20" fmla="*/ 113 w 389"/>
                      <a:gd name="T21" fmla="*/ 84 h 409"/>
                      <a:gd name="T22" fmla="*/ 127 w 389"/>
                      <a:gd name="T23" fmla="*/ 74 h 409"/>
                      <a:gd name="T24" fmla="*/ 138 w 389"/>
                      <a:gd name="T25" fmla="*/ 62 h 409"/>
                      <a:gd name="T26" fmla="*/ 141 w 389"/>
                      <a:gd name="T27" fmla="*/ 52 h 409"/>
                      <a:gd name="T28" fmla="*/ 147 w 389"/>
                      <a:gd name="T29" fmla="*/ 43 h 409"/>
                      <a:gd name="T30" fmla="*/ 159 w 389"/>
                      <a:gd name="T31" fmla="*/ 18 h 409"/>
                      <a:gd name="T32" fmla="*/ 165 w 389"/>
                      <a:gd name="T33" fmla="*/ 14 h 409"/>
                      <a:gd name="T34" fmla="*/ 174 w 389"/>
                      <a:gd name="T35" fmla="*/ 12 h 409"/>
                      <a:gd name="T36" fmla="*/ 182 w 389"/>
                      <a:gd name="T37" fmla="*/ 14 h 409"/>
                      <a:gd name="T38" fmla="*/ 185 w 389"/>
                      <a:gd name="T39" fmla="*/ 22 h 409"/>
                      <a:gd name="T40" fmla="*/ 188 w 389"/>
                      <a:gd name="T41" fmla="*/ 38 h 409"/>
                      <a:gd name="T42" fmla="*/ 186 w 389"/>
                      <a:gd name="T43" fmla="*/ 57 h 409"/>
                      <a:gd name="T44" fmla="*/ 181 w 389"/>
                      <a:gd name="T45" fmla="*/ 73 h 409"/>
                      <a:gd name="T46" fmla="*/ 202 w 389"/>
                      <a:gd name="T47" fmla="*/ 45 h 409"/>
                      <a:gd name="T48" fmla="*/ 224 w 389"/>
                      <a:gd name="T49" fmla="*/ 22 h 409"/>
                      <a:gd name="T50" fmla="*/ 251 w 389"/>
                      <a:gd name="T51" fmla="*/ 5 h 409"/>
                      <a:gd name="T52" fmla="*/ 265 w 389"/>
                      <a:gd name="T53" fmla="*/ 0 h 409"/>
                      <a:gd name="T54" fmla="*/ 281 w 389"/>
                      <a:gd name="T55" fmla="*/ 3 h 409"/>
                      <a:gd name="T56" fmla="*/ 295 w 389"/>
                      <a:gd name="T57" fmla="*/ 8 h 409"/>
                      <a:gd name="T58" fmla="*/ 308 w 389"/>
                      <a:gd name="T59" fmla="*/ 14 h 409"/>
                      <a:gd name="T60" fmla="*/ 324 w 389"/>
                      <a:gd name="T61" fmla="*/ 22 h 409"/>
                      <a:gd name="T62" fmla="*/ 330 w 389"/>
                      <a:gd name="T63" fmla="*/ 29 h 409"/>
                      <a:gd name="T64" fmla="*/ 337 w 389"/>
                      <a:gd name="T65" fmla="*/ 41 h 409"/>
                      <a:gd name="T66" fmla="*/ 339 w 389"/>
                      <a:gd name="T67" fmla="*/ 56 h 409"/>
                      <a:gd name="T68" fmla="*/ 347 w 389"/>
                      <a:gd name="T69" fmla="*/ 62 h 409"/>
                      <a:gd name="T70" fmla="*/ 354 w 389"/>
                      <a:gd name="T71" fmla="*/ 70 h 409"/>
                      <a:gd name="T72" fmla="*/ 359 w 389"/>
                      <a:gd name="T73" fmla="*/ 86 h 409"/>
                      <a:gd name="T74" fmla="*/ 362 w 389"/>
                      <a:gd name="T75" fmla="*/ 97 h 409"/>
                      <a:gd name="T76" fmla="*/ 359 w 389"/>
                      <a:gd name="T77" fmla="*/ 107 h 409"/>
                      <a:gd name="T78" fmla="*/ 369 w 389"/>
                      <a:gd name="T79" fmla="*/ 112 h 409"/>
                      <a:gd name="T80" fmla="*/ 373 w 389"/>
                      <a:gd name="T81" fmla="*/ 120 h 409"/>
                      <a:gd name="T82" fmla="*/ 370 w 389"/>
                      <a:gd name="T83" fmla="*/ 135 h 409"/>
                      <a:gd name="T84" fmla="*/ 359 w 389"/>
                      <a:gd name="T85" fmla="*/ 150 h 409"/>
                      <a:gd name="T86" fmla="*/ 371 w 389"/>
                      <a:gd name="T87" fmla="*/ 166 h 409"/>
                      <a:gd name="T88" fmla="*/ 381 w 389"/>
                      <a:gd name="T89" fmla="*/ 181 h 409"/>
                      <a:gd name="T90" fmla="*/ 389 w 389"/>
                      <a:gd name="T91" fmla="*/ 204 h 409"/>
                      <a:gd name="T92" fmla="*/ 384 w 389"/>
                      <a:gd name="T93" fmla="*/ 210 h 409"/>
                      <a:gd name="T94" fmla="*/ 371 w 389"/>
                      <a:gd name="T95" fmla="*/ 211 h 409"/>
                      <a:gd name="T96" fmla="*/ 360 w 389"/>
                      <a:gd name="T97" fmla="*/ 202 h 409"/>
                      <a:gd name="T98" fmla="*/ 348 w 389"/>
                      <a:gd name="T99" fmla="*/ 197 h 409"/>
                      <a:gd name="T100" fmla="*/ 337 w 389"/>
                      <a:gd name="T101" fmla="*/ 196 h 409"/>
                      <a:gd name="T102" fmla="*/ 326 w 389"/>
                      <a:gd name="T103" fmla="*/ 198 h 409"/>
                      <a:gd name="T104" fmla="*/ 311 w 389"/>
                      <a:gd name="T105" fmla="*/ 212 h 409"/>
                      <a:gd name="T106" fmla="*/ 302 w 389"/>
                      <a:gd name="T107" fmla="*/ 231 h 409"/>
                      <a:gd name="T108" fmla="*/ 291 w 389"/>
                      <a:gd name="T109" fmla="*/ 255 h 409"/>
                      <a:gd name="T110" fmla="*/ 275 w 389"/>
                      <a:gd name="T111" fmla="*/ 273 h 409"/>
                      <a:gd name="T112" fmla="*/ 256 w 389"/>
                      <a:gd name="T113" fmla="*/ 283 h 409"/>
                      <a:gd name="T114" fmla="*/ 230 w 389"/>
                      <a:gd name="T115" fmla="*/ 305 h 409"/>
                      <a:gd name="T116" fmla="*/ 209 w 389"/>
                      <a:gd name="T117" fmla="*/ 323 h 409"/>
                      <a:gd name="T118" fmla="*/ 168 w 389"/>
                      <a:gd name="T119" fmla="*/ 349 h 409"/>
                      <a:gd name="T120" fmla="*/ 71 w 389"/>
                      <a:gd name="T121" fmla="*/ 409 h 409"/>
                      <a:gd name="T122" fmla="*/ 0 w 389"/>
                      <a:gd name="T123" fmla="*/ 301 h 4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389" h="409">
                        <a:moveTo>
                          <a:pt x="0" y="301"/>
                        </a:moveTo>
                        <a:lnTo>
                          <a:pt x="22" y="275"/>
                        </a:lnTo>
                        <a:lnTo>
                          <a:pt x="42" y="259"/>
                        </a:lnTo>
                        <a:lnTo>
                          <a:pt x="81" y="232"/>
                        </a:lnTo>
                        <a:lnTo>
                          <a:pt x="80" y="204"/>
                        </a:lnTo>
                        <a:lnTo>
                          <a:pt x="79" y="171"/>
                        </a:lnTo>
                        <a:lnTo>
                          <a:pt x="81" y="142"/>
                        </a:lnTo>
                        <a:lnTo>
                          <a:pt x="84" y="112"/>
                        </a:lnTo>
                        <a:lnTo>
                          <a:pt x="89" y="102"/>
                        </a:lnTo>
                        <a:lnTo>
                          <a:pt x="99" y="94"/>
                        </a:lnTo>
                        <a:lnTo>
                          <a:pt x="113" y="84"/>
                        </a:lnTo>
                        <a:lnTo>
                          <a:pt x="127" y="74"/>
                        </a:lnTo>
                        <a:lnTo>
                          <a:pt x="138" y="62"/>
                        </a:lnTo>
                        <a:lnTo>
                          <a:pt x="141" y="52"/>
                        </a:lnTo>
                        <a:lnTo>
                          <a:pt x="147" y="43"/>
                        </a:lnTo>
                        <a:lnTo>
                          <a:pt x="159" y="18"/>
                        </a:lnTo>
                        <a:lnTo>
                          <a:pt x="165" y="14"/>
                        </a:lnTo>
                        <a:lnTo>
                          <a:pt x="174" y="12"/>
                        </a:lnTo>
                        <a:lnTo>
                          <a:pt x="182" y="14"/>
                        </a:lnTo>
                        <a:lnTo>
                          <a:pt x="185" y="22"/>
                        </a:lnTo>
                        <a:lnTo>
                          <a:pt x="188" y="38"/>
                        </a:lnTo>
                        <a:lnTo>
                          <a:pt x="186" y="57"/>
                        </a:lnTo>
                        <a:lnTo>
                          <a:pt x="181" y="73"/>
                        </a:lnTo>
                        <a:lnTo>
                          <a:pt x="202" y="45"/>
                        </a:lnTo>
                        <a:lnTo>
                          <a:pt x="224" y="22"/>
                        </a:lnTo>
                        <a:lnTo>
                          <a:pt x="251" y="5"/>
                        </a:lnTo>
                        <a:lnTo>
                          <a:pt x="265" y="0"/>
                        </a:lnTo>
                        <a:lnTo>
                          <a:pt x="281" y="3"/>
                        </a:lnTo>
                        <a:lnTo>
                          <a:pt x="295" y="8"/>
                        </a:lnTo>
                        <a:lnTo>
                          <a:pt x="308" y="14"/>
                        </a:lnTo>
                        <a:lnTo>
                          <a:pt x="324" y="22"/>
                        </a:lnTo>
                        <a:lnTo>
                          <a:pt x="330" y="29"/>
                        </a:lnTo>
                        <a:lnTo>
                          <a:pt x="337" y="41"/>
                        </a:lnTo>
                        <a:lnTo>
                          <a:pt x="339" y="56"/>
                        </a:lnTo>
                        <a:lnTo>
                          <a:pt x="347" y="62"/>
                        </a:lnTo>
                        <a:lnTo>
                          <a:pt x="354" y="70"/>
                        </a:lnTo>
                        <a:lnTo>
                          <a:pt x="359" y="86"/>
                        </a:lnTo>
                        <a:lnTo>
                          <a:pt x="362" y="97"/>
                        </a:lnTo>
                        <a:lnTo>
                          <a:pt x="359" y="107"/>
                        </a:lnTo>
                        <a:lnTo>
                          <a:pt x="369" y="112"/>
                        </a:lnTo>
                        <a:lnTo>
                          <a:pt x="373" y="120"/>
                        </a:lnTo>
                        <a:lnTo>
                          <a:pt x="370" y="135"/>
                        </a:lnTo>
                        <a:lnTo>
                          <a:pt x="359" y="150"/>
                        </a:lnTo>
                        <a:lnTo>
                          <a:pt x="371" y="166"/>
                        </a:lnTo>
                        <a:lnTo>
                          <a:pt x="381" y="181"/>
                        </a:lnTo>
                        <a:lnTo>
                          <a:pt x="389" y="204"/>
                        </a:lnTo>
                        <a:lnTo>
                          <a:pt x="384" y="210"/>
                        </a:lnTo>
                        <a:lnTo>
                          <a:pt x="371" y="211"/>
                        </a:lnTo>
                        <a:lnTo>
                          <a:pt x="360" y="202"/>
                        </a:lnTo>
                        <a:lnTo>
                          <a:pt x="348" y="197"/>
                        </a:lnTo>
                        <a:lnTo>
                          <a:pt x="337" y="196"/>
                        </a:lnTo>
                        <a:lnTo>
                          <a:pt x="326" y="198"/>
                        </a:lnTo>
                        <a:lnTo>
                          <a:pt x="311" y="212"/>
                        </a:lnTo>
                        <a:lnTo>
                          <a:pt x="302" y="231"/>
                        </a:lnTo>
                        <a:lnTo>
                          <a:pt x="291" y="255"/>
                        </a:lnTo>
                        <a:lnTo>
                          <a:pt x="275" y="273"/>
                        </a:lnTo>
                        <a:lnTo>
                          <a:pt x="256" y="283"/>
                        </a:lnTo>
                        <a:lnTo>
                          <a:pt x="230" y="305"/>
                        </a:lnTo>
                        <a:lnTo>
                          <a:pt x="209" y="323"/>
                        </a:lnTo>
                        <a:lnTo>
                          <a:pt x="168" y="349"/>
                        </a:lnTo>
                        <a:lnTo>
                          <a:pt x="71" y="409"/>
                        </a:lnTo>
                        <a:lnTo>
                          <a:pt x="0" y="301"/>
                        </a:lnTo>
                        <a:close/>
                      </a:path>
                    </a:pathLst>
                  </a:custGeom>
                  <a:solidFill>
                    <a:srgbClr val="FFA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268" name="Freeform 220"/>
                  <p:cNvSpPr/>
                  <p:nvPr/>
                </p:nvSpPr>
                <p:spPr bwMode="auto">
                  <a:xfrm>
                    <a:off x="2455" y="3148"/>
                    <a:ext cx="26" cy="40"/>
                  </a:xfrm>
                  <a:custGeom>
                    <a:avLst/>
                    <a:gdLst>
                      <a:gd name="T0" fmla="*/ 88 w 185"/>
                      <a:gd name="T1" fmla="*/ 67 h 319"/>
                      <a:gd name="T2" fmla="*/ 96 w 185"/>
                      <a:gd name="T3" fmla="*/ 55 h 319"/>
                      <a:gd name="T4" fmla="*/ 113 w 185"/>
                      <a:gd name="T5" fmla="*/ 49 h 319"/>
                      <a:gd name="T6" fmla="*/ 128 w 185"/>
                      <a:gd name="T7" fmla="*/ 38 h 319"/>
                      <a:gd name="T8" fmla="*/ 140 w 185"/>
                      <a:gd name="T9" fmla="*/ 24 h 319"/>
                      <a:gd name="T10" fmla="*/ 156 w 185"/>
                      <a:gd name="T11" fmla="*/ 0 h 319"/>
                      <a:gd name="T12" fmla="*/ 139 w 185"/>
                      <a:gd name="T13" fmla="*/ 33 h 319"/>
                      <a:gd name="T14" fmla="*/ 129 w 185"/>
                      <a:gd name="T15" fmla="*/ 46 h 319"/>
                      <a:gd name="T16" fmla="*/ 117 w 185"/>
                      <a:gd name="T17" fmla="*/ 65 h 319"/>
                      <a:gd name="T18" fmla="*/ 109 w 185"/>
                      <a:gd name="T19" fmla="*/ 82 h 319"/>
                      <a:gd name="T20" fmla="*/ 105 w 185"/>
                      <a:gd name="T21" fmla="*/ 104 h 319"/>
                      <a:gd name="T22" fmla="*/ 112 w 185"/>
                      <a:gd name="T23" fmla="*/ 119 h 319"/>
                      <a:gd name="T24" fmla="*/ 129 w 185"/>
                      <a:gd name="T25" fmla="*/ 121 h 319"/>
                      <a:gd name="T26" fmla="*/ 147 w 185"/>
                      <a:gd name="T27" fmla="*/ 118 h 319"/>
                      <a:gd name="T28" fmla="*/ 166 w 185"/>
                      <a:gd name="T29" fmla="*/ 114 h 319"/>
                      <a:gd name="T30" fmla="*/ 172 w 185"/>
                      <a:gd name="T31" fmla="*/ 125 h 319"/>
                      <a:gd name="T32" fmla="*/ 175 w 185"/>
                      <a:gd name="T33" fmla="*/ 141 h 319"/>
                      <a:gd name="T34" fmla="*/ 170 w 185"/>
                      <a:gd name="T35" fmla="*/ 156 h 319"/>
                      <a:gd name="T36" fmla="*/ 161 w 185"/>
                      <a:gd name="T37" fmla="*/ 174 h 319"/>
                      <a:gd name="T38" fmla="*/ 166 w 185"/>
                      <a:gd name="T39" fmla="*/ 185 h 319"/>
                      <a:gd name="T40" fmla="*/ 173 w 185"/>
                      <a:gd name="T41" fmla="*/ 196 h 319"/>
                      <a:gd name="T42" fmla="*/ 185 w 185"/>
                      <a:gd name="T43" fmla="*/ 204 h 319"/>
                      <a:gd name="T44" fmla="*/ 170 w 185"/>
                      <a:gd name="T45" fmla="*/ 205 h 319"/>
                      <a:gd name="T46" fmla="*/ 158 w 185"/>
                      <a:gd name="T47" fmla="*/ 208 h 319"/>
                      <a:gd name="T48" fmla="*/ 144 w 185"/>
                      <a:gd name="T49" fmla="*/ 216 h 319"/>
                      <a:gd name="T50" fmla="*/ 139 w 185"/>
                      <a:gd name="T51" fmla="*/ 230 h 319"/>
                      <a:gd name="T52" fmla="*/ 140 w 185"/>
                      <a:gd name="T53" fmla="*/ 247 h 319"/>
                      <a:gd name="T54" fmla="*/ 143 w 185"/>
                      <a:gd name="T55" fmla="*/ 266 h 319"/>
                      <a:gd name="T56" fmla="*/ 147 w 185"/>
                      <a:gd name="T57" fmla="*/ 282 h 319"/>
                      <a:gd name="T58" fmla="*/ 91 w 185"/>
                      <a:gd name="T59" fmla="*/ 319 h 319"/>
                      <a:gd name="T60" fmla="*/ 24 w 185"/>
                      <a:gd name="T61" fmla="*/ 246 h 319"/>
                      <a:gd name="T62" fmla="*/ 0 w 185"/>
                      <a:gd name="T63" fmla="*/ 204 h 319"/>
                      <a:gd name="T64" fmla="*/ 31 w 185"/>
                      <a:gd name="T65" fmla="*/ 182 h 319"/>
                      <a:gd name="T66" fmla="*/ 59 w 185"/>
                      <a:gd name="T67" fmla="*/ 163 h 319"/>
                      <a:gd name="T68" fmla="*/ 68 w 185"/>
                      <a:gd name="T69" fmla="*/ 148 h 319"/>
                      <a:gd name="T70" fmla="*/ 73 w 185"/>
                      <a:gd name="T71" fmla="*/ 118 h 319"/>
                      <a:gd name="T72" fmla="*/ 76 w 185"/>
                      <a:gd name="T73" fmla="*/ 87 h 319"/>
                      <a:gd name="T74" fmla="*/ 88 w 185"/>
                      <a:gd name="T75" fmla="*/ 67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85" h="319">
                        <a:moveTo>
                          <a:pt x="88" y="67"/>
                        </a:moveTo>
                        <a:lnTo>
                          <a:pt x="96" y="55"/>
                        </a:lnTo>
                        <a:lnTo>
                          <a:pt x="113" y="49"/>
                        </a:lnTo>
                        <a:lnTo>
                          <a:pt x="128" y="38"/>
                        </a:lnTo>
                        <a:lnTo>
                          <a:pt x="140" y="24"/>
                        </a:lnTo>
                        <a:lnTo>
                          <a:pt x="156" y="0"/>
                        </a:lnTo>
                        <a:lnTo>
                          <a:pt x="139" y="33"/>
                        </a:lnTo>
                        <a:lnTo>
                          <a:pt x="129" y="46"/>
                        </a:lnTo>
                        <a:lnTo>
                          <a:pt x="117" y="65"/>
                        </a:lnTo>
                        <a:lnTo>
                          <a:pt x="109" y="82"/>
                        </a:lnTo>
                        <a:lnTo>
                          <a:pt x="105" y="104"/>
                        </a:lnTo>
                        <a:lnTo>
                          <a:pt x="112" y="119"/>
                        </a:lnTo>
                        <a:lnTo>
                          <a:pt x="129" y="121"/>
                        </a:lnTo>
                        <a:lnTo>
                          <a:pt x="147" y="118"/>
                        </a:lnTo>
                        <a:lnTo>
                          <a:pt x="166" y="114"/>
                        </a:lnTo>
                        <a:lnTo>
                          <a:pt x="172" y="125"/>
                        </a:lnTo>
                        <a:lnTo>
                          <a:pt x="175" y="141"/>
                        </a:lnTo>
                        <a:lnTo>
                          <a:pt x="170" y="156"/>
                        </a:lnTo>
                        <a:lnTo>
                          <a:pt x="161" y="174"/>
                        </a:lnTo>
                        <a:lnTo>
                          <a:pt x="166" y="185"/>
                        </a:lnTo>
                        <a:lnTo>
                          <a:pt x="173" y="196"/>
                        </a:lnTo>
                        <a:lnTo>
                          <a:pt x="185" y="204"/>
                        </a:lnTo>
                        <a:lnTo>
                          <a:pt x="170" y="205"/>
                        </a:lnTo>
                        <a:lnTo>
                          <a:pt x="158" y="208"/>
                        </a:lnTo>
                        <a:lnTo>
                          <a:pt x="144" y="216"/>
                        </a:lnTo>
                        <a:lnTo>
                          <a:pt x="139" y="230"/>
                        </a:lnTo>
                        <a:lnTo>
                          <a:pt x="140" y="247"/>
                        </a:lnTo>
                        <a:lnTo>
                          <a:pt x="143" y="266"/>
                        </a:lnTo>
                        <a:lnTo>
                          <a:pt x="147" y="282"/>
                        </a:lnTo>
                        <a:lnTo>
                          <a:pt x="91" y="319"/>
                        </a:lnTo>
                        <a:lnTo>
                          <a:pt x="24" y="246"/>
                        </a:lnTo>
                        <a:lnTo>
                          <a:pt x="0" y="204"/>
                        </a:lnTo>
                        <a:lnTo>
                          <a:pt x="31" y="182"/>
                        </a:lnTo>
                        <a:lnTo>
                          <a:pt x="59" y="163"/>
                        </a:lnTo>
                        <a:lnTo>
                          <a:pt x="68" y="148"/>
                        </a:lnTo>
                        <a:lnTo>
                          <a:pt x="73" y="118"/>
                        </a:lnTo>
                        <a:lnTo>
                          <a:pt x="76" y="87"/>
                        </a:lnTo>
                        <a:lnTo>
                          <a:pt x="88" y="67"/>
                        </a:lnTo>
                        <a:close/>
                      </a:path>
                    </a:pathLst>
                  </a:custGeom>
                  <a:solidFill>
                    <a:srgbClr val="FF8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269" name="Freeform 221"/>
                  <p:cNvSpPr/>
                  <p:nvPr/>
                </p:nvSpPr>
                <p:spPr bwMode="auto">
                  <a:xfrm>
                    <a:off x="2491" y="3157"/>
                    <a:ext cx="12" cy="5"/>
                  </a:xfrm>
                  <a:custGeom>
                    <a:avLst/>
                    <a:gdLst>
                      <a:gd name="T0" fmla="*/ 79 w 79"/>
                      <a:gd name="T1" fmla="*/ 12 h 41"/>
                      <a:gd name="T2" fmla="*/ 61 w 79"/>
                      <a:gd name="T3" fmla="*/ 9 h 41"/>
                      <a:gd name="T4" fmla="*/ 46 w 79"/>
                      <a:gd name="T5" fmla="*/ 10 h 41"/>
                      <a:gd name="T6" fmla="*/ 29 w 79"/>
                      <a:gd name="T7" fmla="*/ 20 h 41"/>
                      <a:gd name="T8" fmla="*/ 0 w 79"/>
                      <a:gd name="T9" fmla="*/ 41 h 41"/>
                      <a:gd name="T10" fmla="*/ 16 w 79"/>
                      <a:gd name="T11" fmla="*/ 25 h 41"/>
                      <a:gd name="T12" fmla="*/ 30 w 79"/>
                      <a:gd name="T13" fmla="*/ 11 h 41"/>
                      <a:gd name="T14" fmla="*/ 47 w 79"/>
                      <a:gd name="T15" fmla="*/ 1 h 41"/>
                      <a:gd name="T16" fmla="*/ 59 w 79"/>
                      <a:gd name="T17" fmla="*/ 0 h 41"/>
                      <a:gd name="T18" fmla="*/ 73 w 79"/>
                      <a:gd name="T19" fmla="*/ 4 h 41"/>
                      <a:gd name="T20" fmla="*/ 79 w 79"/>
                      <a:gd name="T21" fmla="*/ 12 h 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9" h="41">
                        <a:moveTo>
                          <a:pt x="79" y="12"/>
                        </a:moveTo>
                        <a:lnTo>
                          <a:pt x="61" y="9"/>
                        </a:lnTo>
                        <a:lnTo>
                          <a:pt x="46" y="10"/>
                        </a:lnTo>
                        <a:lnTo>
                          <a:pt x="29" y="20"/>
                        </a:lnTo>
                        <a:lnTo>
                          <a:pt x="0" y="41"/>
                        </a:lnTo>
                        <a:lnTo>
                          <a:pt x="16" y="25"/>
                        </a:lnTo>
                        <a:lnTo>
                          <a:pt x="30" y="11"/>
                        </a:lnTo>
                        <a:lnTo>
                          <a:pt x="47" y="1"/>
                        </a:lnTo>
                        <a:lnTo>
                          <a:pt x="59" y="0"/>
                        </a:lnTo>
                        <a:lnTo>
                          <a:pt x="73" y="4"/>
                        </a:lnTo>
                        <a:lnTo>
                          <a:pt x="79" y="12"/>
                        </a:lnTo>
                        <a:close/>
                      </a:path>
                    </a:pathLst>
                  </a:custGeom>
                  <a:solidFill>
                    <a:srgbClr val="FF8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270" name="Freeform 222"/>
                  <p:cNvSpPr/>
                  <p:nvPr/>
                </p:nvSpPr>
                <p:spPr bwMode="auto">
                  <a:xfrm>
                    <a:off x="2489" y="3152"/>
                    <a:ext cx="14" cy="5"/>
                  </a:xfrm>
                  <a:custGeom>
                    <a:avLst/>
                    <a:gdLst>
                      <a:gd name="T0" fmla="*/ 93 w 93"/>
                      <a:gd name="T1" fmla="*/ 13 h 39"/>
                      <a:gd name="T2" fmla="*/ 77 w 93"/>
                      <a:gd name="T3" fmla="*/ 8 h 39"/>
                      <a:gd name="T4" fmla="*/ 61 w 93"/>
                      <a:gd name="T5" fmla="*/ 5 h 39"/>
                      <a:gd name="T6" fmla="*/ 42 w 93"/>
                      <a:gd name="T7" fmla="*/ 11 h 39"/>
                      <a:gd name="T8" fmla="*/ 15 w 93"/>
                      <a:gd name="T9" fmla="*/ 31 h 39"/>
                      <a:gd name="T10" fmla="*/ 0 w 93"/>
                      <a:gd name="T11" fmla="*/ 39 h 39"/>
                      <a:gd name="T12" fmla="*/ 21 w 93"/>
                      <a:gd name="T13" fmla="*/ 24 h 39"/>
                      <a:gd name="T14" fmla="*/ 34 w 93"/>
                      <a:gd name="T15" fmla="*/ 11 h 39"/>
                      <a:gd name="T16" fmla="*/ 45 w 93"/>
                      <a:gd name="T17" fmla="*/ 5 h 39"/>
                      <a:gd name="T18" fmla="*/ 59 w 93"/>
                      <a:gd name="T19" fmla="*/ 0 h 39"/>
                      <a:gd name="T20" fmla="*/ 71 w 93"/>
                      <a:gd name="T21" fmla="*/ 1 h 39"/>
                      <a:gd name="T22" fmla="*/ 93 w 93"/>
                      <a:gd name="T23" fmla="*/ 13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93" h="39">
                        <a:moveTo>
                          <a:pt x="93" y="13"/>
                        </a:moveTo>
                        <a:lnTo>
                          <a:pt x="77" y="8"/>
                        </a:lnTo>
                        <a:lnTo>
                          <a:pt x="61" y="5"/>
                        </a:lnTo>
                        <a:lnTo>
                          <a:pt x="42" y="11"/>
                        </a:lnTo>
                        <a:lnTo>
                          <a:pt x="15" y="31"/>
                        </a:lnTo>
                        <a:lnTo>
                          <a:pt x="0" y="39"/>
                        </a:lnTo>
                        <a:lnTo>
                          <a:pt x="21" y="24"/>
                        </a:lnTo>
                        <a:lnTo>
                          <a:pt x="34" y="11"/>
                        </a:lnTo>
                        <a:lnTo>
                          <a:pt x="45" y="5"/>
                        </a:lnTo>
                        <a:lnTo>
                          <a:pt x="59" y="0"/>
                        </a:lnTo>
                        <a:lnTo>
                          <a:pt x="71" y="1"/>
                        </a:lnTo>
                        <a:lnTo>
                          <a:pt x="93" y="13"/>
                        </a:lnTo>
                        <a:close/>
                      </a:path>
                    </a:pathLst>
                  </a:custGeom>
                  <a:solidFill>
                    <a:srgbClr val="FF8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271" name="Freeform 223"/>
                  <p:cNvSpPr/>
                  <p:nvPr/>
                </p:nvSpPr>
                <p:spPr bwMode="auto">
                  <a:xfrm>
                    <a:off x="2486" y="3145"/>
                    <a:ext cx="14" cy="8"/>
                  </a:xfrm>
                  <a:custGeom>
                    <a:avLst/>
                    <a:gdLst>
                      <a:gd name="T0" fmla="*/ 93 w 93"/>
                      <a:gd name="T1" fmla="*/ 17 h 64"/>
                      <a:gd name="T2" fmla="*/ 82 w 93"/>
                      <a:gd name="T3" fmla="*/ 20 h 64"/>
                      <a:gd name="T4" fmla="*/ 73 w 93"/>
                      <a:gd name="T5" fmla="*/ 20 h 64"/>
                      <a:gd name="T6" fmla="*/ 63 w 93"/>
                      <a:gd name="T7" fmla="*/ 17 h 64"/>
                      <a:gd name="T8" fmla="*/ 55 w 93"/>
                      <a:gd name="T9" fmla="*/ 8 h 64"/>
                      <a:gd name="T10" fmla="*/ 36 w 93"/>
                      <a:gd name="T11" fmla="*/ 20 h 64"/>
                      <a:gd name="T12" fmla="*/ 24 w 93"/>
                      <a:gd name="T13" fmla="*/ 32 h 64"/>
                      <a:gd name="T14" fmla="*/ 10 w 93"/>
                      <a:gd name="T15" fmla="*/ 49 h 64"/>
                      <a:gd name="T16" fmla="*/ 0 w 93"/>
                      <a:gd name="T17" fmla="*/ 64 h 64"/>
                      <a:gd name="T18" fmla="*/ 12 w 93"/>
                      <a:gd name="T19" fmla="*/ 40 h 64"/>
                      <a:gd name="T20" fmla="*/ 27 w 93"/>
                      <a:gd name="T21" fmla="*/ 20 h 64"/>
                      <a:gd name="T22" fmla="*/ 39 w 93"/>
                      <a:gd name="T23" fmla="*/ 8 h 64"/>
                      <a:gd name="T24" fmla="*/ 51 w 93"/>
                      <a:gd name="T25" fmla="*/ 3 h 64"/>
                      <a:gd name="T26" fmla="*/ 57 w 93"/>
                      <a:gd name="T27" fmla="*/ 0 h 64"/>
                      <a:gd name="T28" fmla="*/ 66 w 93"/>
                      <a:gd name="T29" fmla="*/ 9 h 64"/>
                      <a:gd name="T30" fmla="*/ 73 w 93"/>
                      <a:gd name="T31" fmla="*/ 14 h 64"/>
                      <a:gd name="T32" fmla="*/ 82 w 93"/>
                      <a:gd name="T33" fmla="*/ 17 h 64"/>
                      <a:gd name="T34" fmla="*/ 93 w 93"/>
                      <a:gd name="T35" fmla="*/ 17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93" h="64">
                        <a:moveTo>
                          <a:pt x="93" y="17"/>
                        </a:moveTo>
                        <a:lnTo>
                          <a:pt x="82" y="20"/>
                        </a:lnTo>
                        <a:lnTo>
                          <a:pt x="73" y="20"/>
                        </a:lnTo>
                        <a:lnTo>
                          <a:pt x="63" y="17"/>
                        </a:lnTo>
                        <a:lnTo>
                          <a:pt x="55" y="8"/>
                        </a:lnTo>
                        <a:lnTo>
                          <a:pt x="36" y="20"/>
                        </a:lnTo>
                        <a:lnTo>
                          <a:pt x="24" y="32"/>
                        </a:lnTo>
                        <a:lnTo>
                          <a:pt x="10" y="49"/>
                        </a:lnTo>
                        <a:lnTo>
                          <a:pt x="0" y="64"/>
                        </a:lnTo>
                        <a:lnTo>
                          <a:pt x="12" y="40"/>
                        </a:lnTo>
                        <a:lnTo>
                          <a:pt x="27" y="20"/>
                        </a:lnTo>
                        <a:lnTo>
                          <a:pt x="39" y="8"/>
                        </a:lnTo>
                        <a:lnTo>
                          <a:pt x="51" y="3"/>
                        </a:lnTo>
                        <a:lnTo>
                          <a:pt x="57" y="0"/>
                        </a:lnTo>
                        <a:lnTo>
                          <a:pt x="66" y="9"/>
                        </a:lnTo>
                        <a:lnTo>
                          <a:pt x="73" y="14"/>
                        </a:lnTo>
                        <a:lnTo>
                          <a:pt x="82" y="17"/>
                        </a:lnTo>
                        <a:lnTo>
                          <a:pt x="93" y="17"/>
                        </a:lnTo>
                        <a:close/>
                      </a:path>
                    </a:pathLst>
                  </a:custGeom>
                  <a:solidFill>
                    <a:srgbClr val="FF8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42272" name="Group 224"/>
                <p:cNvGrpSpPr/>
                <p:nvPr/>
              </p:nvGrpSpPr>
              <p:grpSpPr bwMode="auto">
                <a:xfrm>
                  <a:off x="2358" y="3075"/>
                  <a:ext cx="168" cy="142"/>
                  <a:chOff x="2358" y="3075"/>
                  <a:chExt cx="168" cy="142"/>
                </a:xfrm>
              </p:grpSpPr>
              <p:grpSp>
                <p:nvGrpSpPr>
                  <p:cNvPr id="642273" name="Group 225"/>
                  <p:cNvGrpSpPr/>
                  <p:nvPr/>
                </p:nvGrpSpPr>
                <p:grpSpPr bwMode="auto">
                  <a:xfrm>
                    <a:off x="2358" y="3075"/>
                    <a:ext cx="168" cy="142"/>
                    <a:chOff x="2358" y="3075"/>
                    <a:chExt cx="168" cy="142"/>
                  </a:xfrm>
                </p:grpSpPr>
                <p:sp>
                  <p:nvSpPr>
                    <p:cNvPr id="642274" name="Freeform 226"/>
                    <p:cNvSpPr/>
                    <p:nvPr/>
                  </p:nvSpPr>
                  <p:spPr bwMode="auto">
                    <a:xfrm>
                      <a:off x="2358" y="3075"/>
                      <a:ext cx="168" cy="142"/>
                    </a:xfrm>
                    <a:custGeom>
                      <a:avLst/>
                      <a:gdLst>
                        <a:gd name="T0" fmla="*/ 314 w 1177"/>
                        <a:gd name="T1" fmla="*/ 24 h 1140"/>
                        <a:gd name="T2" fmla="*/ 275 w 1177"/>
                        <a:gd name="T3" fmla="*/ 40 h 1140"/>
                        <a:gd name="T4" fmla="*/ 218 w 1177"/>
                        <a:gd name="T5" fmla="*/ 85 h 1140"/>
                        <a:gd name="T6" fmla="*/ 165 w 1177"/>
                        <a:gd name="T7" fmla="*/ 149 h 1140"/>
                        <a:gd name="T8" fmla="*/ 119 w 1177"/>
                        <a:gd name="T9" fmla="*/ 202 h 1140"/>
                        <a:gd name="T10" fmla="*/ 77 w 1177"/>
                        <a:gd name="T11" fmla="*/ 267 h 1140"/>
                        <a:gd name="T12" fmla="*/ 43 w 1177"/>
                        <a:gd name="T13" fmla="*/ 354 h 1140"/>
                        <a:gd name="T14" fmla="*/ 32 w 1177"/>
                        <a:gd name="T15" fmla="*/ 397 h 1140"/>
                        <a:gd name="T16" fmla="*/ 25 w 1177"/>
                        <a:gd name="T17" fmla="*/ 458 h 1140"/>
                        <a:gd name="T18" fmla="*/ 12 w 1177"/>
                        <a:gd name="T19" fmla="*/ 504 h 1140"/>
                        <a:gd name="T20" fmla="*/ 0 w 1177"/>
                        <a:gd name="T21" fmla="*/ 569 h 1140"/>
                        <a:gd name="T22" fmla="*/ 2 w 1177"/>
                        <a:gd name="T23" fmla="*/ 695 h 1140"/>
                        <a:gd name="T24" fmla="*/ 4 w 1177"/>
                        <a:gd name="T25" fmla="*/ 809 h 1140"/>
                        <a:gd name="T26" fmla="*/ 14 w 1177"/>
                        <a:gd name="T27" fmla="*/ 852 h 1140"/>
                        <a:gd name="T28" fmla="*/ 13 w 1177"/>
                        <a:gd name="T29" fmla="*/ 944 h 1140"/>
                        <a:gd name="T30" fmla="*/ 33 w 1177"/>
                        <a:gd name="T31" fmla="*/ 1025 h 1140"/>
                        <a:gd name="T32" fmla="*/ 69 w 1177"/>
                        <a:gd name="T33" fmla="*/ 1092 h 1140"/>
                        <a:gd name="T34" fmla="*/ 130 w 1177"/>
                        <a:gd name="T35" fmla="*/ 1140 h 1140"/>
                        <a:gd name="T36" fmla="*/ 630 w 1177"/>
                        <a:gd name="T37" fmla="*/ 1109 h 1140"/>
                        <a:gd name="T38" fmla="*/ 659 w 1177"/>
                        <a:gd name="T39" fmla="*/ 1067 h 1140"/>
                        <a:gd name="T40" fmla="*/ 707 w 1177"/>
                        <a:gd name="T41" fmla="*/ 1031 h 1140"/>
                        <a:gd name="T42" fmla="*/ 745 w 1177"/>
                        <a:gd name="T43" fmla="*/ 1000 h 1140"/>
                        <a:gd name="T44" fmla="*/ 782 w 1177"/>
                        <a:gd name="T45" fmla="*/ 974 h 1140"/>
                        <a:gd name="T46" fmla="*/ 784 w 1177"/>
                        <a:gd name="T47" fmla="*/ 912 h 1140"/>
                        <a:gd name="T48" fmla="*/ 772 w 1177"/>
                        <a:gd name="T49" fmla="*/ 841 h 1140"/>
                        <a:gd name="T50" fmla="*/ 719 w 1177"/>
                        <a:gd name="T51" fmla="*/ 796 h 1140"/>
                        <a:gd name="T52" fmla="*/ 667 w 1177"/>
                        <a:gd name="T53" fmla="*/ 792 h 1140"/>
                        <a:gd name="T54" fmla="*/ 630 w 1177"/>
                        <a:gd name="T55" fmla="*/ 822 h 1140"/>
                        <a:gd name="T56" fmla="*/ 604 w 1177"/>
                        <a:gd name="T57" fmla="*/ 842 h 1140"/>
                        <a:gd name="T58" fmla="*/ 572 w 1177"/>
                        <a:gd name="T59" fmla="*/ 857 h 1140"/>
                        <a:gd name="T60" fmla="*/ 548 w 1177"/>
                        <a:gd name="T61" fmla="*/ 872 h 1140"/>
                        <a:gd name="T62" fmla="*/ 564 w 1177"/>
                        <a:gd name="T63" fmla="*/ 827 h 1140"/>
                        <a:gd name="T64" fmla="*/ 768 w 1177"/>
                        <a:gd name="T65" fmla="*/ 565 h 1140"/>
                        <a:gd name="T66" fmla="*/ 783 w 1177"/>
                        <a:gd name="T67" fmla="*/ 504 h 1140"/>
                        <a:gd name="T68" fmla="*/ 785 w 1177"/>
                        <a:gd name="T69" fmla="*/ 458 h 1140"/>
                        <a:gd name="T70" fmla="*/ 784 w 1177"/>
                        <a:gd name="T71" fmla="*/ 369 h 1140"/>
                        <a:gd name="T72" fmla="*/ 820 w 1177"/>
                        <a:gd name="T73" fmla="*/ 367 h 1140"/>
                        <a:gd name="T74" fmla="*/ 881 w 1177"/>
                        <a:gd name="T75" fmla="*/ 374 h 1140"/>
                        <a:gd name="T76" fmla="*/ 949 w 1177"/>
                        <a:gd name="T77" fmla="*/ 361 h 1140"/>
                        <a:gd name="T78" fmla="*/ 920 w 1177"/>
                        <a:gd name="T79" fmla="*/ 423 h 1140"/>
                        <a:gd name="T80" fmla="*/ 894 w 1177"/>
                        <a:gd name="T81" fmla="*/ 464 h 1140"/>
                        <a:gd name="T82" fmla="*/ 900 w 1177"/>
                        <a:gd name="T83" fmla="*/ 473 h 1140"/>
                        <a:gd name="T84" fmla="*/ 928 w 1177"/>
                        <a:gd name="T85" fmla="*/ 461 h 1140"/>
                        <a:gd name="T86" fmla="*/ 977 w 1177"/>
                        <a:gd name="T87" fmla="*/ 476 h 1140"/>
                        <a:gd name="T88" fmla="*/ 1018 w 1177"/>
                        <a:gd name="T89" fmla="*/ 518 h 1140"/>
                        <a:gd name="T90" fmla="*/ 1015 w 1177"/>
                        <a:gd name="T91" fmla="*/ 547 h 1140"/>
                        <a:gd name="T92" fmla="*/ 1041 w 1177"/>
                        <a:gd name="T93" fmla="*/ 540 h 1140"/>
                        <a:gd name="T94" fmla="*/ 1068 w 1177"/>
                        <a:gd name="T95" fmla="*/ 499 h 1140"/>
                        <a:gd name="T96" fmla="*/ 1108 w 1177"/>
                        <a:gd name="T97" fmla="*/ 482 h 1140"/>
                        <a:gd name="T98" fmla="*/ 1142 w 1177"/>
                        <a:gd name="T99" fmla="*/ 437 h 1140"/>
                        <a:gd name="T100" fmla="*/ 1165 w 1177"/>
                        <a:gd name="T101" fmla="*/ 385 h 1140"/>
                        <a:gd name="T102" fmla="*/ 1175 w 1177"/>
                        <a:gd name="T103" fmla="*/ 285 h 1140"/>
                        <a:gd name="T104" fmla="*/ 1153 w 1177"/>
                        <a:gd name="T105" fmla="*/ 223 h 1140"/>
                        <a:gd name="T106" fmla="*/ 1117 w 1177"/>
                        <a:gd name="T107" fmla="*/ 176 h 1140"/>
                        <a:gd name="T108" fmla="*/ 963 w 1177"/>
                        <a:gd name="T109" fmla="*/ 101 h 1140"/>
                        <a:gd name="T110" fmla="*/ 813 w 1177"/>
                        <a:gd name="T111" fmla="*/ 26 h 1140"/>
                        <a:gd name="T112" fmla="*/ 590 w 1177"/>
                        <a:gd name="T113" fmla="*/ 235 h 1140"/>
                        <a:gd name="T114" fmla="*/ 476 w 1177"/>
                        <a:gd name="T115" fmla="*/ 185 h 1140"/>
                        <a:gd name="T116" fmla="*/ 397 w 1177"/>
                        <a:gd name="T117" fmla="*/ 103 h 11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</a:cxnLst>
                      <a:rect l="0" t="0" r="r" b="b"/>
                      <a:pathLst>
                        <a:path w="1177" h="1140">
                          <a:moveTo>
                            <a:pt x="333" y="13"/>
                          </a:moveTo>
                          <a:lnTo>
                            <a:pt x="323" y="15"/>
                          </a:lnTo>
                          <a:lnTo>
                            <a:pt x="314" y="24"/>
                          </a:lnTo>
                          <a:lnTo>
                            <a:pt x="305" y="31"/>
                          </a:lnTo>
                          <a:lnTo>
                            <a:pt x="291" y="37"/>
                          </a:lnTo>
                          <a:lnTo>
                            <a:pt x="275" y="40"/>
                          </a:lnTo>
                          <a:lnTo>
                            <a:pt x="262" y="46"/>
                          </a:lnTo>
                          <a:lnTo>
                            <a:pt x="243" y="64"/>
                          </a:lnTo>
                          <a:lnTo>
                            <a:pt x="218" y="85"/>
                          </a:lnTo>
                          <a:lnTo>
                            <a:pt x="194" y="109"/>
                          </a:lnTo>
                          <a:lnTo>
                            <a:pt x="174" y="133"/>
                          </a:lnTo>
                          <a:lnTo>
                            <a:pt x="165" y="149"/>
                          </a:lnTo>
                          <a:lnTo>
                            <a:pt x="153" y="165"/>
                          </a:lnTo>
                          <a:lnTo>
                            <a:pt x="138" y="180"/>
                          </a:lnTo>
                          <a:lnTo>
                            <a:pt x="119" y="202"/>
                          </a:lnTo>
                          <a:lnTo>
                            <a:pt x="104" y="223"/>
                          </a:lnTo>
                          <a:lnTo>
                            <a:pt x="89" y="245"/>
                          </a:lnTo>
                          <a:lnTo>
                            <a:pt x="77" y="267"/>
                          </a:lnTo>
                          <a:lnTo>
                            <a:pt x="63" y="295"/>
                          </a:lnTo>
                          <a:lnTo>
                            <a:pt x="51" y="326"/>
                          </a:lnTo>
                          <a:lnTo>
                            <a:pt x="43" y="354"/>
                          </a:lnTo>
                          <a:lnTo>
                            <a:pt x="37" y="368"/>
                          </a:lnTo>
                          <a:lnTo>
                            <a:pt x="39" y="379"/>
                          </a:lnTo>
                          <a:lnTo>
                            <a:pt x="32" y="397"/>
                          </a:lnTo>
                          <a:lnTo>
                            <a:pt x="26" y="413"/>
                          </a:lnTo>
                          <a:lnTo>
                            <a:pt x="22" y="437"/>
                          </a:lnTo>
                          <a:lnTo>
                            <a:pt x="25" y="458"/>
                          </a:lnTo>
                          <a:lnTo>
                            <a:pt x="27" y="478"/>
                          </a:lnTo>
                          <a:lnTo>
                            <a:pt x="22" y="497"/>
                          </a:lnTo>
                          <a:lnTo>
                            <a:pt x="12" y="504"/>
                          </a:lnTo>
                          <a:lnTo>
                            <a:pt x="5" y="518"/>
                          </a:lnTo>
                          <a:lnTo>
                            <a:pt x="2" y="538"/>
                          </a:lnTo>
                          <a:lnTo>
                            <a:pt x="0" y="569"/>
                          </a:lnTo>
                          <a:lnTo>
                            <a:pt x="1" y="609"/>
                          </a:lnTo>
                          <a:lnTo>
                            <a:pt x="4" y="660"/>
                          </a:lnTo>
                          <a:lnTo>
                            <a:pt x="2" y="695"/>
                          </a:lnTo>
                          <a:lnTo>
                            <a:pt x="1" y="733"/>
                          </a:lnTo>
                          <a:lnTo>
                            <a:pt x="2" y="767"/>
                          </a:lnTo>
                          <a:lnTo>
                            <a:pt x="4" y="809"/>
                          </a:lnTo>
                          <a:lnTo>
                            <a:pt x="9" y="820"/>
                          </a:lnTo>
                          <a:lnTo>
                            <a:pt x="16" y="828"/>
                          </a:lnTo>
                          <a:lnTo>
                            <a:pt x="14" y="852"/>
                          </a:lnTo>
                          <a:lnTo>
                            <a:pt x="12" y="887"/>
                          </a:lnTo>
                          <a:lnTo>
                            <a:pt x="16" y="911"/>
                          </a:lnTo>
                          <a:lnTo>
                            <a:pt x="13" y="944"/>
                          </a:lnTo>
                          <a:lnTo>
                            <a:pt x="16" y="974"/>
                          </a:lnTo>
                          <a:lnTo>
                            <a:pt x="24" y="1002"/>
                          </a:lnTo>
                          <a:lnTo>
                            <a:pt x="33" y="1025"/>
                          </a:lnTo>
                          <a:lnTo>
                            <a:pt x="45" y="1052"/>
                          </a:lnTo>
                          <a:lnTo>
                            <a:pt x="56" y="1073"/>
                          </a:lnTo>
                          <a:lnTo>
                            <a:pt x="69" y="1092"/>
                          </a:lnTo>
                          <a:lnTo>
                            <a:pt x="88" y="1106"/>
                          </a:lnTo>
                          <a:lnTo>
                            <a:pt x="110" y="1124"/>
                          </a:lnTo>
                          <a:lnTo>
                            <a:pt x="130" y="1140"/>
                          </a:lnTo>
                          <a:lnTo>
                            <a:pt x="590" y="1140"/>
                          </a:lnTo>
                          <a:lnTo>
                            <a:pt x="607" y="1122"/>
                          </a:lnTo>
                          <a:lnTo>
                            <a:pt x="630" y="1109"/>
                          </a:lnTo>
                          <a:lnTo>
                            <a:pt x="642" y="1103"/>
                          </a:lnTo>
                          <a:lnTo>
                            <a:pt x="647" y="1098"/>
                          </a:lnTo>
                          <a:lnTo>
                            <a:pt x="659" y="1067"/>
                          </a:lnTo>
                          <a:lnTo>
                            <a:pt x="672" y="1049"/>
                          </a:lnTo>
                          <a:lnTo>
                            <a:pt x="691" y="1036"/>
                          </a:lnTo>
                          <a:lnTo>
                            <a:pt x="707" y="1031"/>
                          </a:lnTo>
                          <a:lnTo>
                            <a:pt x="717" y="1020"/>
                          </a:lnTo>
                          <a:lnTo>
                            <a:pt x="724" y="1007"/>
                          </a:lnTo>
                          <a:lnTo>
                            <a:pt x="745" y="1000"/>
                          </a:lnTo>
                          <a:lnTo>
                            <a:pt x="762" y="990"/>
                          </a:lnTo>
                          <a:lnTo>
                            <a:pt x="771" y="978"/>
                          </a:lnTo>
                          <a:lnTo>
                            <a:pt x="782" y="974"/>
                          </a:lnTo>
                          <a:lnTo>
                            <a:pt x="787" y="964"/>
                          </a:lnTo>
                          <a:lnTo>
                            <a:pt x="785" y="948"/>
                          </a:lnTo>
                          <a:lnTo>
                            <a:pt x="784" y="912"/>
                          </a:lnTo>
                          <a:lnTo>
                            <a:pt x="787" y="890"/>
                          </a:lnTo>
                          <a:lnTo>
                            <a:pt x="785" y="864"/>
                          </a:lnTo>
                          <a:lnTo>
                            <a:pt x="772" y="841"/>
                          </a:lnTo>
                          <a:lnTo>
                            <a:pt x="754" y="822"/>
                          </a:lnTo>
                          <a:lnTo>
                            <a:pt x="738" y="808"/>
                          </a:lnTo>
                          <a:lnTo>
                            <a:pt x="719" y="796"/>
                          </a:lnTo>
                          <a:lnTo>
                            <a:pt x="701" y="784"/>
                          </a:lnTo>
                          <a:lnTo>
                            <a:pt x="683" y="785"/>
                          </a:lnTo>
                          <a:lnTo>
                            <a:pt x="667" y="792"/>
                          </a:lnTo>
                          <a:lnTo>
                            <a:pt x="654" y="804"/>
                          </a:lnTo>
                          <a:lnTo>
                            <a:pt x="644" y="811"/>
                          </a:lnTo>
                          <a:lnTo>
                            <a:pt x="630" y="822"/>
                          </a:lnTo>
                          <a:lnTo>
                            <a:pt x="623" y="831"/>
                          </a:lnTo>
                          <a:lnTo>
                            <a:pt x="613" y="833"/>
                          </a:lnTo>
                          <a:lnTo>
                            <a:pt x="604" y="842"/>
                          </a:lnTo>
                          <a:lnTo>
                            <a:pt x="596" y="857"/>
                          </a:lnTo>
                          <a:lnTo>
                            <a:pt x="583" y="854"/>
                          </a:lnTo>
                          <a:lnTo>
                            <a:pt x="572" y="857"/>
                          </a:lnTo>
                          <a:lnTo>
                            <a:pt x="567" y="865"/>
                          </a:lnTo>
                          <a:lnTo>
                            <a:pt x="560" y="869"/>
                          </a:lnTo>
                          <a:lnTo>
                            <a:pt x="548" y="872"/>
                          </a:lnTo>
                          <a:lnTo>
                            <a:pt x="537" y="869"/>
                          </a:lnTo>
                          <a:lnTo>
                            <a:pt x="526" y="852"/>
                          </a:lnTo>
                          <a:lnTo>
                            <a:pt x="564" y="827"/>
                          </a:lnTo>
                          <a:lnTo>
                            <a:pt x="637" y="740"/>
                          </a:lnTo>
                          <a:lnTo>
                            <a:pt x="761" y="588"/>
                          </a:lnTo>
                          <a:lnTo>
                            <a:pt x="768" y="565"/>
                          </a:lnTo>
                          <a:lnTo>
                            <a:pt x="770" y="539"/>
                          </a:lnTo>
                          <a:lnTo>
                            <a:pt x="766" y="509"/>
                          </a:lnTo>
                          <a:lnTo>
                            <a:pt x="783" y="504"/>
                          </a:lnTo>
                          <a:lnTo>
                            <a:pt x="799" y="493"/>
                          </a:lnTo>
                          <a:lnTo>
                            <a:pt x="798" y="483"/>
                          </a:lnTo>
                          <a:lnTo>
                            <a:pt x="785" y="458"/>
                          </a:lnTo>
                          <a:lnTo>
                            <a:pt x="777" y="437"/>
                          </a:lnTo>
                          <a:lnTo>
                            <a:pt x="782" y="396"/>
                          </a:lnTo>
                          <a:lnTo>
                            <a:pt x="784" y="369"/>
                          </a:lnTo>
                          <a:lnTo>
                            <a:pt x="783" y="342"/>
                          </a:lnTo>
                          <a:lnTo>
                            <a:pt x="804" y="353"/>
                          </a:lnTo>
                          <a:lnTo>
                            <a:pt x="820" y="367"/>
                          </a:lnTo>
                          <a:lnTo>
                            <a:pt x="839" y="373"/>
                          </a:lnTo>
                          <a:lnTo>
                            <a:pt x="861" y="376"/>
                          </a:lnTo>
                          <a:lnTo>
                            <a:pt x="881" y="374"/>
                          </a:lnTo>
                          <a:lnTo>
                            <a:pt x="910" y="368"/>
                          </a:lnTo>
                          <a:lnTo>
                            <a:pt x="930" y="362"/>
                          </a:lnTo>
                          <a:lnTo>
                            <a:pt x="949" y="361"/>
                          </a:lnTo>
                          <a:lnTo>
                            <a:pt x="939" y="385"/>
                          </a:lnTo>
                          <a:lnTo>
                            <a:pt x="933" y="407"/>
                          </a:lnTo>
                          <a:lnTo>
                            <a:pt x="920" y="423"/>
                          </a:lnTo>
                          <a:lnTo>
                            <a:pt x="907" y="439"/>
                          </a:lnTo>
                          <a:lnTo>
                            <a:pt x="899" y="451"/>
                          </a:lnTo>
                          <a:lnTo>
                            <a:pt x="894" y="464"/>
                          </a:lnTo>
                          <a:lnTo>
                            <a:pt x="896" y="472"/>
                          </a:lnTo>
                          <a:lnTo>
                            <a:pt x="903" y="484"/>
                          </a:lnTo>
                          <a:lnTo>
                            <a:pt x="900" y="473"/>
                          </a:lnTo>
                          <a:lnTo>
                            <a:pt x="905" y="465"/>
                          </a:lnTo>
                          <a:lnTo>
                            <a:pt x="915" y="462"/>
                          </a:lnTo>
                          <a:lnTo>
                            <a:pt x="928" y="461"/>
                          </a:lnTo>
                          <a:lnTo>
                            <a:pt x="944" y="463"/>
                          </a:lnTo>
                          <a:lnTo>
                            <a:pt x="961" y="468"/>
                          </a:lnTo>
                          <a:lnTo>
                            <a:pt x="977" y="476"/>
                          </a:lnTo>
                          <a:lnTo>
                            <a:pt x="992" y="487"/>
                          </a:lnTo>
                          <a:lnTo>
                            <a:pt x="1005" y="500"/>
                          </a:lnTo>
                          <a:lnTo>
                            <a:pt x="1018" y="518"/>
                          </a:lnTo>
                          <a:lnTo>
                            <a:pt x="1023" y="533"/>
                          </a:lnTo>
                          <a:lnTo>
                            <a:pt x="1019" y="540"/>
                          </a:lnTo>
                          <a:lnTo>
                            <a:pt x="1015" y="547"/>
                          </a:lnTo>
                          <a:lnTo>
                            <a:pt x="1024" y="547"/>
                          </a:lnTo>
                          <a:lnTo>
                            <a:pt x="1034" y="543"/>
                          </a:lnTo>
                          <a:lnTo>
                            <a:pt x="1041" y="540"/>
                          </a:lnTo>
                          <a:lnTo>
                            <a:pt x="1049" y="528"/>
                          </a:lnTo>
                          <a:lnTo>
                            <a:pt x="1055" y="513"/>
                          </a:lnTo>
                          <a:lnTo>
                            <a:pt x="1068" y="499"/>
                          </a:lnTo>
                          <a:lnTo>
                            <a:pt x="1077" y="484"/>
                          </a:lnTo>
                          <a:lnTo>
                            <a:pt x="1093" y="482"/>
                          </a:lnTo>
                          <a:lnTo>
                            <a:pt x="1108" y="482"/>
                          </a:lnTo>
                          <a:lnTo>
                            <a:pt x="1119" y="479"/>
                          </a:lnTo>
                          <a:lnTo>
                            <a:pt x="1130" y="461"/>
                          </a:lnTo>
                          <a:lnTo>
                            <a:pt x="1142" y="437"/>
                          </a:lnTo>
                          <a:lnTo>
                            <a:pt x="1153" y="413"/>
                          </a:lnTo>
                          <a:lnTo>
                            <a:pt x="1163" y="397"/>
                          </a:lnTo>
                          <a:lnTo>
                            <a:pt x="1165" y="385"/>
                          </a:lnTo>
                          <a:lnTo>
                            <a:pt x="1173" y="345"/>
                          </a:lnTo>
                          <a:lnTo>
                            <a:pt x="1177" y="312"/>
                          </a:lnTo>
                          <a:lnTo>
                            <a:pt x="1175" y="285"/>
                          </a:lnTo>
                          <a:lnTo>
                            <a:pt x="1171" y="259"/>
                          </a:lnTo>
                          <a:lnTo>
                            <a:pt x="1167" y="246"/>
                          </a:lnTo>
                          <a:lnTo>
                            <a:pt x="1153" y="223"/>
                          </a:lnTo>
                          <a:lnTo>
                            <a:pt x="1138" y="198"/>
                          </a:lnTo>
                          <a:lnTo>
                            <a:pt x="1125" y="180"/>
                          </a:lnTo>
                          <a:lnTo>
                            <a:pt x="1117" y="176"/>
                          </a:lnTo>
                          <a:lnTo>
                            <a:pt x="1067" y="162"/>
                          </a:lnTo>
                          <a:lnTo>
                            <a:pt x="1025" y="135"/>
                          </a:lnTo>
                          <a:lnTo>
                            <a:pt x="963" y="101"/>
                          </a:lnTo>
                          <a:lnTo>
                            <a:pt x="875" y="62"/>
                          </a:lnTo>
                          <a:lnTo>
                            <a:pt x="844" y="47"/>
                          </a:lnTo>
                          <a:lnTo>
                            <a:pt x="813" y="26"/>
                          </a:lnTo>
                          <a:lnTo>
                            <a:pt x="781" y="0"/>
                          </a:lnTo>
                          <a:lnTo>
                            <a:pt x="730" y="5"/>
                          </a:lnTo>
                          <a:lnTo>
                            <a:pt x="590" y="235"/>
                          </a:lnTo>
                          <a:lnTo>
                            <a:pt x="523" y="210"/>
                          </a:lnTo>
                          <a:lnTo>
                            <a:pt x="498" y="198"/>
                          </a:lnTo>
                          <a:lnTo>
                            <a:pt x="476" y="185"/>
                          </a:lnTo>
                          <a:lnTo>
                            <a:pt x="452" y="165"/>
                          </a:lnTo>
                          <a:lnTo>
                            <a:pt x="427" y="139"/>
                          </a:lnTo>
                          <a:lnTo>
                            <a:pt x="397" y="103"/>
                          </a:lnTo>
                          <a:lnTo>
                            <a:pt x="333" y="1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642275" name="Group 227"/>
                    <p:cNvGrpSpPr/>
                    <p:nvPr/>
                  </p:nvGrpSpPr>
                  <p:grpSpPr bwMode="auto">
                    <a:xfrm>
                      <a:off x="2360" y="3075"/>
                      <a:ext cx="162" cy="142"/>
                      <a:chOff x="2360" y="3075"/>
                      <a:chExt cx="162" cy="142"/>
                    </a:xfrm>
                  </p:grpSpPr>
                  <p:sp>
                    <p:nvSpPr>
                      <p:cNvPr id="642276" name="Freeform 228"/>
                      <p:cNvSpPr/>
                      <p:nvPr/>
                    </p:nvSpPr>
                    <p:spPr bwMode="auto">
                      <a:xfrm>
                        <a:off x="2469" y="3098"/>
                        <a:ext cx="19" cy="20"/>
                      </a:xfrm>
                      <a:custGeom>
                        <a:avLst/>
                        <a:gdLst>
                          <a:gd name="T0" fmla="*/ 0 w 129"/>
                          <a:gd name="T1" fmla="*/ 154 h 156"/>
                          <a:gd name="T2" fmla="*/ 7 w 129"/>
                          <a:gd name="T3" fmla="*/ 121 h 156"/>
                          <a:gd name="T4" fmla="*/ 13 w 129"/>
                          <a:gd name="T5" fmla="*/ 91 h 156"/>
                          <a:gd name="T6" fmla="*/ 12 w 129"/>
                          <a:gd name="T7" fmla="*/ 59 h 156"/>
                          <a:gd name="T8" fmla="*/ 7 w 129"/>
                          <a:gd name="T9" fmla="*/ 25 h 156"/>
                          <a:gd name="T10" fmla="*/ 4 w 129"/>
                          <a:gd name="T11" fmla="*/ 0 h 156"/>
                          <a:gd name="T12" fmla="*/ 17 w 129"/>
                          <a:gd name="T13" fmla="*/ 27 h 156"/>
                          <a:gd name="T14" fmla="*/ 24 w 129"/>
                          <a:gd name="T15" fmla="*/ 49 h 156"/>
                          <a:gd name="T16" fmla="*/ 39 w 129"/>
                          <a:gd name="T17" fmla="*/ 64 h 156"/>
                          <a:gd name="T18" fmla="*/ 59 w 129"/>
                          <a:gd name="T19" fmla="*/ 72 h 156"/>
                          <a:gd name="T20" fmla="*/ 80 w 129"/>
                          <a:gd name="T21" fmla="*/ 74 h 156"/>
                          <a:gd name="T22" fmla="*/ 98 w 129"/>
                          <a:gd name="T23" fmla="*/ 75 h 156"/>
                          <a:gd name="T24" fmla="*/ 129 w 129"/>
                          <a:gd name="T25" fmla="*/ 81 h 156"/>
                          <a:gd name="T26" fmla="*/ 112 w 129"/>
                          <a:gd name="T27" fmla="*/ 85 h 156"/>
                          <a:gd name="T28" fmla="*/ 93 w 129"/>
                          <a:gd name="T29" fmla="*/ 90 h 156"/>
                          <a:gd name="T30" fmla="*/ 79 w 129"/>
                          <a:gd name="T31" fmla="*/ 92 h 156"/>
                          <a:gd name="T32" fmla="*/ 62 w 129"/>
                          <a:gd name="T33" fmla="*/ 93 h 156"/>
                          <a:gd name="T34" fmla="*/ 38 w 129"/>
                          <a:gd name="T35" fmla="*/ 92 h 156"/>
                          <a:gd name="T36" fmla="*/ 54 w 129"/>
                          <a:gd name="T37" fmla="*/ 99 h 156"/>
                          <a:gd name="T38" fmla="*/ 76 w 129"/>
                          <a:gd name="T39" fmla="*/ 102 h 156"/>
                          <a:gd name="T40" fmla="*/ 94 w 129"/>
                          <a:gd name="T41" fmla="*/ 103 h 156"/>
                          <a:gd name="T42" fmla="*/ 129 w 129"/>
                          <a:gd name="T43" fmla="*/ 110 h 156"/>
                          <a:gd name="T44" fmla="*/ 110 w 129"/>
                          <a:gd name="T45" fmla="*/ 115 h 156"/>
                          <a:gd name="T46" fmla="*/ 94 w 129"/>
                          <a:gd name="T47" fmla="*/ 118 h 156"/>
                          <a:gd name="T48" fmla="*/ 75 w 129"/>
                          <a:gd name="T49" fmla="*/ 119 h 156"/>
                          <a:gd name="T50" fmla="*/ 57 w 129"/>
                          <a:gd name="T51" fmla="*/ 120 h 156"/>
                          <a:gd name="T52" fmla="*/ 70 w 129"/>
                          <a:gd name="T53" fmla="*/ 126 h 156"/>
                          <a:gd name="T54" fmla="*/ 85 w 129"/>
                          <a:gd name="T55" fmla="*/ 133 h 156"/>
                          <a:gd name="T56" fmla="*/ 101 w 129"/>
                          <a:gd name="T57" fmla="*/ 137 h 156"/>
                          <a:gd name="T58" fmla="*/ 124 w 129"/>
                          <a:gd name="T59" fmla="*/ 142 h 156"/>
                          <a:gd name="T60" fmla="*/ 104 w 129"/>
                          <a:gd name="T61" fmla="*/ 148 h 156"/>
                          <a:gd name="T62" fmla="*/ 85 w 129"/>
                          <a:gd name="T63" fmla="*/ 144 h 156"/>
                          <a:gd name="T64" fmla="*/ 69 w 129"/>
                          <a:gd name="T65" fmla="*/ 139 h 156"/>
                          <a:gd name="T66" fmla="*/ 57 w 129"/>
                          <a:gd name="T67" fmla="*/ 150 h 156"/>
                          <a:gd name="T68" fmla="*/ 40 w 129"/>
                          <a:gd name="T69" fmla="*/ 155 h 156"/>
                          <a:gd name="T70" fmla="*/ 22 w 129"/>
                          <a:gd name="T71" fmla="*/ 156 h 156"/>
                          <a:gd name="T72" fmla="*/ 0 w 129"/>
                          <a:gd name="T73" fmla="*/ 154 h 15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</a:cxnLst>
                        <a:rect l="0" t="0" r="r" b="b"/>
                        <a:pathLst>
                          <a:path w="129" h="156">
                            <a:moveTo>
                              <a:pt x="0" y="154"/>
                            </a:moveTo>
                            <a:lnTo>
                              <a:pt x="7" y="121"/>
                            </a:lnTo>
                            <a:lnTo>
                              <a:pt x="13" y="91"/>
                            </a:lnTo>
                            <a:lnTo>
                              <a:pt x="12" y="59"/>
                            </a:lnTo>
                            <a:lnTo>
                              <a:pt x="7" y="25"/>
                            </a:lnTo>
                            <a:lnTo>
                              <a:pt x="4" y="0"/>
                            </a:lnTo>
                            <a:lnTo>
                              <a:pt x="17" y="27"/>
                            </a:lnTo>
                            <a:lnTo>
                              <a:pt x="24" y="49"/>
                            </a:lnTo>
                            <a:lnTo>
                              <a:pt x="39" y="64"/>
                            </a:lnTo>
                            <a:lnTo>
                              <a:pt x="59" y="72"/>
                            </a:lnTo>
                            <a:lnTo>
                              <a:pt x="80" y="74"/>
                            </a:lnTo>
                            <a:lnTo>
                              <a:pt x="98" y="75"/>
                            </a:lnTo>
                            <a:lnTo>
                              <a:pt x="129" y="81"/>
                            </a:lnTo>
                            <a:lnTo>
                              <a:pt x="112" y="85"/>
                            </a:lnTo>
                            <a:lnTo>
                              <a:pt x="93" y="90"/>
                            </a:lnTo>
                            <a:lnTo>
                              <a:pt x="79" y="92"/>
                            </a:lnTo>
                            <a:lnTo>
                              <a:pt x="62" y="93"/>
                            </a:lnTo>
                            <a:lnTo>
                              <a:pt x="38" y="92"/>
                            </a:lnTo>
                            <a:lnTo>
                              <a:pt x="54" y="99"/>
                            </a:lnTo>
                            <a:lnTo>
                              <a:pt x="76" y="102"/>
                            </a:lnTo>
                            <a:lnTo>
                              <a:pt x="94" y="103"/>
                            </a:lnTo>
                            <a:lnTo>
                              <a:pt x="129" y="110"/>
                            </a:lnTo>
                            <a:lnTo>
                              <a:pt x="110" y="115"/>
                            </a:lnTo>
                            <a:lnTo>
                              <a:pt x="94" y="118"/>
                            </a:lnTo>
                            <a:lnTo>
                              <a:pt x="75" y="119"/>
                            </a:lnTo>
                            <a:lnTo>
                              <a:pt x="57" y="120"/>
                            </a:lnTo>
                            <a:lnTo>
                              <a:pt x="70" y="126"/>
                            </a:lnTo>
                            <a:lnTo>
                              <a:pt x="85" y="133"/>
                            </a:lnTo>
                            <a:lnTo>
                              <a:pt x="101" y="137"/>
                            </a:lnTo>
                            <a:lnTo>
                              <a:pt x="124" y="142"/>
                            </a:lnTo>
                            <a:lnTo>
                              <a:pt x="104" y="148"/>
                            </a:lnTo>
                            <a:lnTo>
                              <a:pt x="85" y="144"/>
                            </a:lnTo>
                            <a:lnTo>
                              <a:pt x="69" y="139"/>
                            </a:lnTo>
                            <a:lnTo>
                              <a:pt x="57" y="150"/>
                            </a:lnTo>
                            <a:lnTo>
                              <a:pt x="40" y="155"/>
                            </a:lnTo>
                            <a:lnTo>
                              <a:pt x="22" y="156"/>
                            </a:lnTo>
                            <a:lnTo>
                              <a:pt x="0" y="154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77" name="Freeform 229"/>
                      <p:cNvSpPr/>
                      <p:nvPr/>
                    </p:nvSpPr>
                    <p:spPr bwMode="auto">
                      <a:xfrm>
                        <a:off x="2463" y="3097"/>
                        <a:ext cx="10" cy="42"/>
                      </a:xfrm>
                      <a:custGeom>
                        <a:avLst/>
                        <a:gdLst>
                          <a:gd name="T0" fmla="*/ 20 w 69"/>
                          <a:gd name="T1" fmla="*/ 0 h 338"/>
                          <a:gd name="T2" fmla="*/ 29 w 69"/>
                          <a:gd name="T3" fmla="*/ 97 h 338"/>
                          <a:gd name="T4" fmla="*/ 26 w 69"/>
                          <a:gd name="T5" fmla="*/ 177 h 338"/>
                          <a:gd name="T6" fmla="*/ 29 w 69"/>
                          <a:gd name="T7" fmla="*/ 197 h 338"/>
                          <a:gd name="T8" fmla="*/ 26 w 69"/>
                          <a:gd name="T9" fmla="*/ 231 h 338"/>
                          <a:gd name="T10" fmla="*/ 40 w 69"/>
                          <a:gd name="T11" fmla="*/ 243 h 338"/>
                          <a:gd name="T12" fmla="*/ 37 w 69"/>
                          <a:gd name="T13" fmla="*/ 265 h 338"/>
                          <a:gd name="T14" fmla="*/ 48 w 69"/>
                          <a:gd name="T15" fmla="*/ 278 h 338"/>
                          <a:gd name="T16" fmla="*/ 59 w 69"/>
                          <a:gd name="T17" fmla="*/ 293 h 338"/>
                          <a:gd name="T18" fmla="*/ 68 w 69"/>
                          <a:gd name="T19" fmla="*/ 307 h 338"/>
                          <a:gd name="T20" fmla="*/ 69 w 69"/>
                          <a:gd name="T21" fmla="*/ 317 h 338"/>
                          <a:gd name="T22" fmla="*/ 66 w 69"/>
                          <a:gd name="T23" fmla="*/ 328 h 338"/>
                          <a:gd name="T24" fmla="*/ 55 w 69"/>
                          <a:gd name="T25" fmla="*/ 334 h 338"/>
                          <a:gd name="T26" fmla="*/ 45 w 69"/>
                          <a:gd name="T27" fmla="*/ 338 h 338"/>
                          <a:gd name="T28" fmla="*/ 34 w 69"/>
                          <a:gd name="T29" fmla="*/ 338 h 338"/>
                          <a:gd name="T30" fmla="*/ 24 w 69"/>
                          <a:gd name="T31" fmla="*/ 337 h 338"/>
                          <a:gd name="T32" fmla="*/ 0 w 69"/>
                          <a:gd name="T33" fmla="*/ 329 h 338"/>
                          <a:gd name="T34" fmla="*/ 23 w 69"/>
                          <a:gd name="T35" fmla="*/ 327 h 338"/>
                          <a:gd name="T36" fmla="*/ 33 w 69"/>
                          <a:gd name="T37" fmla="*/ 324 h 338"/>
                          <a:gd name="T38" fmla="*/ 40 w 69"/>
                          <a:gd name="T39" fmla="*/ 317 h 338"/>
                          <a:gd name="T40" fmla="*/ 33 w 69"/>
                          <a:gd name="T41" fmla="*/ 305 h 338"/>
                          <a:gd name="T42" fmla="*/ 20 w 69"/>
                          <a:gd name="T43" fmla="*/ 293 h 338"/>
                          <a:gd name="T44" fmla="*/ 6 w 69"/>
                          <a:gd name="T45" fmla="*/ 287 h 338"/>
                          <a:gd name="T46" fmla="*/ 12 w 69"/>
                          <a:gd name="T47" fmla="*/ 272 h 338"/>
                          <a:gd name="T48" fmla="*/ 14 w 69"/>
                          <a:gd name="T49" fmla="*/ 259 h 338"/>
                          <a:gd name="T50" fmla="*/ 10 w 69"/>
                          <a:gd name="T51" fmla="*/ 215 h 338"/>
                          <a:gd name="T52" fmla="*/ 6 w 69"/>
                          <a:gd name="T53" fmla="*/ 135 h 338"/>
                          <a:gd name="T54" fmla="*/ 17 w 69"/>
                          <a:gd name="T55" fmla="*/ 77 h 338"/>
                          <a:gd name="T56" fmla="*/ 20 w 69"/>
                          <a:gd name="T57" fmla="*/ 0 h 33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</a:cxnLst>
                        <a:rect l="0" t="0" r="r" b="b"/>
                        <a:pathLst>
                          <a:path w="69" h="338">
                            <a:moveTo>
                              <a:pt x="20" y="0"/>
                            </a:moveTo>
                            <a:lnTo>
                              <a:pt x="29" y="97"/>
                            </a:lnTo>
                            <a:lnTo>
                              <a:pt x="26" y="177"/>
                            </a:lnTo>
                            <a:lnTo>
                              <a:pt x="29" y="197"/>
                            </a:lnTo>
                            <a:lnTo>
                              <a:pt x="26" y="231"/>
                            </a:lnTo>
                            <a:lnTo>
                              <a:pt x="40" y="243"/>
                            </a:lnTo>
                            <a:lnTo>
                              <a:pt x="37" y="265"/>
                            </a:lnTo>
                            <a:lnTo>
                              <a:pt x="48" y="278"/>
                            </a:lnTo>
                            <a:lnTo>
                              <a:pt x="59" y="293"/>
                            </a:lnTo>
                            <a:lnTo>
                              <a:pt x="68" y="307"/>
                            </a:lnTo>
                            <a:lnTo>
                              <a:pt x="69" y="317"/>
                            </a:lnTo>
                            <a:lnTo>
                              <a:pt x="66" y="328"/>
                            </a:lnTo>
                            <a:lnTo>
                              <a:pt x="55" y="334"/>
                            </a:lnTo>
                            <a:lnTo>
                              <a:pt x="45" y="338"/>
                            </a:lnTo>
                            <a:lnTo>
                              <a:pt x="34" y="338"/>
                            </a:lnTo>
                            <a:lnTo>
                              <a:pt x="24" y="337"/>
                            </a:lnTo>
                            <a:lnTo>
                              <a:pt x="0" y="329"/>
                            </a:lnTo>
                            <a:lnTo>
                              <a:pt x="23" y="327"/>
                            </a:lnTo>
                            <a:lnTo>
                              <a:pt x="33" y="324"/>
                            </a:lnTo>
                            <a:lnTo>
                              <a:pt x="40" y="317"/>
                            </a:lnTo>
                            <a:lnTo>
                              <a:pt x="33" y="305"/>
                            </a:lnTo>
                            <a:lnTo>
                              <a:pt x="20" y="293"/>
                            </a:lnTo>
                            <a:lnTo>
                              <a:pt x="6" y="287"/>
                            </a:lnTo>
                            <a:lnTo>
                              <a:pt x="12" y="272"/>
                            </a:lnTo>
                            <a:lnTo>
                              <a:pt x="14" y="259"/>
                            </a:lnTo>
                            <a:lnTo>
                              <a:pt x="10" y="215"/>
                            </a:lnTo>
                            <a:lnTo>
                              <a:pt x="6" y="135"/>
                            </a:lnTo>
                            <a:lnTo>
                              <a:pt x="17" y="77"/>
                            </a:lnTo>
                            <a:lnTo>
                              <a:pt x="20" y="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78" name="Freeform 230"/>
                      <p:cNvSpPr/>
                      <p:nvPr/>
                    </p:nvSpPr>
                    <p:spPr bwMode="auto">
                      <a:xfrm>
                        <a:off x="2454" y="3138"/>
                        <a:ext cx="14" cy="18"/>
                      </a:xfrm>
                      <a:custGeom>
                        <a:avLst/>
                        <a:gdLst>
                          <a:gd name="T0" fmla="*/ 28 w 95"/>
                          <a:gd name="T1" fmla="*/ 0 h 146"/>
                          <a:gd name="T2" fmla="*/ 38 w 95"/>
                          <a:gd name="T3" fmla="*/ 17 h 146"/>
                          <a:gd name="T4" fmla="*/ 44 w 95"/>
                          <a:gd name="T5" fmla="*/ 34 h 146"/>
                          <a:gd name="T6" fmla="*/ 47 w 95"/>
                          <a:gd name="T7" fmla="*/ 52 h 146"/>
                          <a:gd name="T8" fmla="*/ 48 w 95"/>
                          <a:gd name="T9" fmla="*/ 74 h 146"/>
                          <a:gd name="T10" fmla="*/ 59 w 95"/>
                          <a:gd name="T11" fmla="*/ 78 h 146"/>
                          <a:gd name="T12" fmla="*/ 74 w 95"/>
                          <a:gd name="T13" fmla="*/ 77 h 146"/>
                          <a:gd name="T14" fmla="*/ 85 w 95"/>
                          <a:gd name="T15" fmla="*/ 69 h 146"/>
                          <a:gd name="T16" fmla="*/ 95 w 95"/>
                          <a:gd name="T17" fmla="*/ 56 h 146"/>
                          <a:gd name="T18" fmla="*/ 92 w 95"/>
                          <a:gd name="T19" fmla="*/ 73 h 146"/>
                          <a:gd name="T20" fmla="*/ 87 w 95"/>
                          <a:gd name="T21" fmla="*/ 85 h 146"/>
                          <a:gd name="T22" fmla="*/ 68 w 95"/>
                          <a:gd name="T23" fmla="*/ 107 h 146"/>
                          <a:gd name="T24" fmla="*/ 35 w 95"/>
                          <a:gd name="T25" fmla="*/ 146 h 146"/>
                          <a:gd name="T26" fmla="*/ 0 w 95"/>
                          <a:gd name="T27" fmla="*/ 74 h 146"/>
                          <a:gd name="T28" fmla="*/ 28 w 95"/>
                          <a:gd name="T29" fmla="*/ 0 h 14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</a:cxnLst>
                        <a:rect l="0" t="0" r="r" b="b"/>
                        <a:pathLst>
                          <a:path w="95" h="146">
                            <a:moveTo>
                              <a:pt x="28" y="0"/>
                            </a:moveTo>
                            <a:lnTo>
                              <a:pt x="38" y="17"/>
                            </a:lnTo>
                            <a:lnTo>
                              <a:pt x="44" y="34"/>
                            </a:lnTo>
                            <a:lnTo>
                              <a:pt x="47" y="52"/>
                            </a:lnTo>
                            <a:lnTo>
                              <a:pt x="48" y="74"/>
                            </a:lnTo>
                            <a:lnTo>
                              <a:pt x="59" y="78"/>
                            </a:lnTo>
                            <a:lnTo>
                              <a:pt x="74" y="77"/>
                            </a:lnTo>
                            <a:lnTo>
                              <a:pt x="85" y="69"/>
                            </a:lnTo>
                            <a:lnTo>
                              <a:pt x="95" y="56"/>
                            </a:lnTo>
                            <a:lnTo>
                              <a:pt x="92" y="73"/>
                            </a:lnTo>
                            <a:lnTo>
                              <a:pt x="87" y="85"/>
                            </a:lnTo>
                            <a:lnTo>
                              <a:pt x="68" y="107"/>
                            </a:lnTo>
                            <a:lnTo>
                              <a:pt x="35" y="146"/>
                            </a:lnTo>
                            <a:lnTo>
                              <a:pt x="0" y="74"/>
                            </a:lnTo>
                            <a:lnTo>
                              <a:pt x="28" y="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79" name="Freeform 231"/>
                      <p:cNvSpPr/>
                      <p:nvPr/>
                    </p:nvSpPr>
                    <p:spPr bwMode="auto">
                      <a:xfrm>
                        <a:off x="2426" y="3162"/>
                        <a:ext cx="25" cy="33"/>
                      </a:xfrm>
                      <a:custGeom>
                        <a:avLst/>
                        <a:gdLst>
                          <a:gd name="T0" fmla="*/ 0 w 176"/>
                          <a:gd name="T1" fmla="*/ 105 h 263"/>
                          <a:gd name="T2" fmla="*/ 23 w 176"/>
                          <a:gd name="T3" fmla="*/ 111 h 263"/>
                          <a:gd name="T4" fmla="*/ 41 w 176"/>
                          <a:gd name="T5" fmla="*/ 98 h 263"/>
                          <a:gd name="T6" fmla="*/ 58 w 176"/>
                          <a:gd name="T7" fmla="*/ 77 h 263"/>
                          <a:gd name="T8" fmla="*/ 73 w 176"/>
                          <a:gd name="T9" fmla="*/ 59 h 263"/>
                          <a:gd name="T10" fmla="*/ 83 w 176"/>
                          <a:gd name="T11" fmla="*/ 39 h 263"/>
                          <a:gd name="T12" fmla="*/ 94 w 176"/>
                          <a:gd name="T13" fmla="*/ 0 h 263"/>
                          <a:gd name="T14" fmla="*/ 95 w 176"/>
                          <a:gd name="T15" fmla="*/ 20 h 263"/>
                          <a:gd name="T16" fmla="*/ 92 w 176"/>
                          <a:gd name="T17" fmla="*/ 46 h 263"/>
                          <a:gd name="T18" fmla="*/ 83 w 176"/>
                          <a:gd name="T19" fmla="*/ 75 h 263"/>
                          <a:gd name="T20" fmla="*/ 73 w 176"/>
                          <a:gd name="T21" fmla="*/ 102 h 263"/>
                          <a:gd name="T22" fmla="*/ 79 w 176"/>
                          <a:gd name="T23" fmla="*/ 119 h 263"/>
                          <a:gd name="T24" fmla="*/ 91 w 176"/>
                          <a:gd name="T25" fmla="*/ 100 h 263"/>
                          <a:gd name="T26" fmla="*/ 108 w 176"/>
                          <a:gd name="T27" fmla="*/ 77 h 263"/>
                          <a:gd name="T28" fmla="*/ 130 w 176"/>
                          <a:gd name="T29" fmla="*/ 53 h 263"/>
                          <a:gd name="T30" fmla="*/ 153 w 176"/>
                          <a:gd name="T31" fmla="*/ 39 h 263"/>
                          <a:gd name="T32" fmla="*/ 176 w 176"/>
                          <a:gd name="T33" fmla="*/ 23 h 263"/>
                          <a:gd name="T34" fmla="*/ 51 w 176"/>
                          <a:gd name="T35" fmla="*/ 169 h 263"/>
                          <a:gd name="T36" fmla="*/ 50 w 176"/>
                          <a:gd name="T37" fmla="*/ 184 h 263"/>
                          <a:gd name="T38" fmla="*/ 47 w 176"/>
                          <a:gd name="T39" fmla="*/ 199 h 263"/>
                          <a:gd name="T40" fmla="*/ 40 w 176"/>
                          <a:gd name="T41" fmla="*/ 211 h 263"/>
                          <a:gd name="T42" fmla="*/ 31 w 176"/>
                          <a:gd name="T43" fmla="*/ 231 h 263"/>
                          <a:gd name="T44" fmla="*/ 26 w 176"/>
                          <a:gd name="T45" fmla="*/ 263 h 263"/>
                          <a:gd name="T46" fmla="*/ 23 w 176"/>
                          <a:gd name="T47" fmla="*/ 210 h 263"/>
                          <a:gd name="T48" fmla="*/ 18 w 176"/>
                          <a:gd name="T49" fmla="*/ 169 h 263"/>
                          <a:gd name="T50" fmla="*/ 8 w 176"/>
                          <a:gd name="T51" fmla="*/ 133 h 263"/>
                          <a:gd name="T52" fmla="*/ 0 w 176"/>
                          <a:gd name="T53" fmla="*/ 105 h 26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</a:cxnLst>
                        <a:rect l="0" t="0" r="r" b="b"/>
                        <a:pathLst>
                          <a:path w="176" h="263">
                            <a:moveTo>
                              <a:pt x="0" y="105"/>
                            </a:moveTo>
                            <a:lnTo>
                              <a:pt x="23" y="111"/>
                            </a:lnTo>
                            <a:lnTo>
                              <a:pt x="41" y="98"/>
                            </a:lnTo>
                            <a:lnTo>
                              <a:pt x="58" y="77"/>
                            </a:lnTo>
                            <a:lnTo>
                              <a:pt x="73" y="59"/>
                            </a:lnTo>
                            <a:lnTo>
                              <a:pt x="83" y="39"/>
                            </a:lnTo>
                            <a:lnTo>
                              <a:pt x="94" y="0"/>
                            </a:lnTo>
                            <a:lnTo>
                              <a:pt x="95" y="20"/>
                            </a:lnTo>
                            <a:lnTo>
                              <a:pt x="92" y="46"/>
                            </a:lnTo>
                            <a:lnTo>
                              <a:pt x="83" y="75"/>
                            </a:lnTo>
                            <a:lnTo>
                              <a:pt x="73" y="102"/>
                            </a:lnTo>
                            <a:lnTo>
                              <a:pt x="79" y="119"/>
                            </a:lnTo>
                            <a:lnTo>
                              <a:pt x="91" y="100"/>
                            </a:lnTo>
                            <a:lnTo>
                              <a:pt x="108" y="77"/>
                            </a:lnTo>
                            <a:lnTo>
                              <a:pt x="130" y="53"/>
                            </a:lnTo>
                            <a:lnTo>
                              <a:pt x="153" y="39"/>
                            </a:lnTo>
                            <a:lnTo>
                              <a:pt x="176" y="23"/>
                            </a:lnTo>
                            <a:lnTo>
                              <a:pt x="51" y="169"/>
                            </a:lnTo>
                            <a:lnTo>
                              <a:pt x="50" y="184"/>
                            </a:lnTo>
                            <a:lnTo>
                              <a:pt x="47" y="199"/>
                            </a:lnTo>
                            <a:lnTo>
                              <a:pt x="40" y="211"/>
                            </a:lnTo>
                            <a:lnTo>
                              <a:pt x="31" y="231"/>
                            </a:lnTo>
                            <a:lnTo>
                              <a:pt x="26" y="263"/>
                            </a:lnTo>
                            <a:lnTo>
                              <a:pt x="23" y="210"/>
                            </a:lnTo>
                            <a:lnTo>
                              <a:pt x="18" y="169"/>
                            </a:lnTo>
                            <a:lnTo>
                              <a:pt x="8" y="133"/>
                            </a:lnTo>
                            <a:lnTo>
                              <a:pt x="0" y="105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0" name="Freeform 232"/>
                      <p:cNvSpPr/>
                      <p:nvPr/>
                    </p:nvSpPr>
                    <p:spPr bwMode="auto">
                      <a:xfrm>
                        <a:off x="2415" y="3135"/>
                        <a:ext cx="14" cy="42"/>
                      </a:xfrm>
                      <a:custGeom>
                        <a:avLst/>
                        <a:gdLst>
                          <a:gd name="T0" fmla="*/ 21 w 102"/>
                          <a:gd name="T1" fmla="*/ 263 h 337"/>
                          <a:gd name="T2" fmla="*/ 39 w 102"/>
                          <a:gd name="T3" fmla="*/ 281 h 337"/>
                          <a:gd name="T4" fmla="*/ 53 w 102"/>
                          <a:gd name="T5" fmla="*/ 294 h 337"/>
                          <a:gd name="T6" fmla="*/ 69 w 102"/>
                          <a:gd name="T7" fmla="*/ 309 h 337"/>
                          <a:gd name="T8" fmla="*/ 87 w 102"/>
                          <a:gd name="T9" fmla="*/ 337 h 337"/>
                          <a:gd name="T10" fmla="*/ 95 w 102"/>
                          <a:gd name="T11" fmla="*/ 313 h 337"/>
                          <a:gd name="T12" fmla="*/ 100 w 102"/>
                          <a:gd name="T13" fmla="*/ 283 h 337"/>
                          <a:gd name="T14" fmla="*/ 102 w 102"/>
                          <a:gd name="T15" fmla="*/ 235 h 337"/>
                          <a:gd name="T16" fmla="*/ 98 w 102"/>
                          <a:gd name="T17" fmla="*/ 202 h 337"/>
                          <a:gd name="T18" fmla="*/ 87 w 102"/>
                          <a:gd name="T19" fmla="*/ 151 h 337"/>
                          <a:gd name="T20" fmla="*/ 75 w 102"/>
                          <a:gd name="T21" fmla="*/ 101 h 337"/>
                          <a:gd name="T22" fmla="*/ 65 w 102"/>
                          <a:gd name="T23" fmla="*/ 69 h 337"/>
                          <a:gd name="T24" fmla="*/ 52 w 102"/>
                          <a:gd name="T25" fmla="*/ 38 h 337"/>
                          <a:gd name="T26" fmla="*/ 31 w 102"/>
                          <a:gd name="T27" fmla="*/ 0 h 337"/>
                          <a:gd name="T28" fmla="*/ 42 w 102"/>
                          <a:gd name="T29" fmla="*/ 38 h 337"/>
                          <a:gd name="T30" fmla="*/ 50 w 102"/>
                          <a:gd name="T31" fmla="*/ 69 h 337"/>
                          <a:gd name="T32" fmla="*/ 54 w 102"/>
                          <a:gd name="T33" fmla="*/ 102 h 337"/>
                          <a:gd name="T34" fmla="*/ 59 w 102"/>
                          <a:gd name="T35" fmla="*/ 143 h 337"/>
                          <a:gd name="T36" fmla="*/ 61 w 102"/>
                          <a:gd name="T37" fmla="*/ 194 h 337"/>
                          <a:gd name="T38" fmla="*/ 58 w 102"/>
                          <a:gd name="T39" fmla="*/ 234 h 337"/>
                          <a:gd name="T40" fmla="*/ 50 w 102"/>
                          <a:gd name="T41" fmla="*/ 243 h 337"/>
                          <a:gd name="T42" fmla="*/ 39 w 102"/>
                          <a:gd name="T43" fmla="*/ 249 h 337"/>
                          <a:gd name="T44" fmla="*/ 24 w 102"/>
                          <a:gd name="T45" fmla="*/ 251 h 337"/>
                          <a:gd name="T46" fmla="*/ 0 w 102"/>
                          <a:gd name="T47" fmla="*/ 248 h 337"/>
                          <a:gd name="T48" fmla="*/ 21 w 102"/>
                          <a:gd name="T49" fmla="*/ 263 h 33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</a:cxnLst>
                        <a:rect l="0" t="0" r="r" b="b"/>
                        <a:pathLst>
                          <a:path w="102" h="337">
                            <a:moveTo>
                              <a:pt x="21" y="263"/>
                            </a:moveTo>
                            <a:lnTo>
                              <a:pt x="39" y="281"/>
                            </a:lnTo>
                            <a:lnTo>
                              <a:pt x="53" y="294"/>
                            </a:lnTo>
                            <a:lnTo>
                              <a:pt x="69" y="309"/>
                            </a:lnTo>
                            <a:lnTo>
                              <a:pt x="87" y="337"/>
                            </a:lnTo>
                            <a:lnTo>
                              <a:pt x="95" y="313"/>
                            </a:lnTo>
                            <a:lnTo>
                              <a:pt x="100" y="283"/>
                            </a:lnTo>
                            <a:lnTo>
                              <a:pt x="102" y="235"/>
                            </a:lnTo>
                            <a:lnTo>
                              <a:pt x="98" y="202"/>
                            </a:lnTo>
                            <a:lnTo>
                              <a:pt x="87" y="151"/>
                            </a:lnTo>
                            <a:lnTo>
                              <a:pt x="75" y="101"/>
                            </a:lnTo>
                            <a:lnTo>
                              <a:pt x="65" y="69"/>
                            </a:lnTo>
                            <a:lnTo>
                              <a:pt x="52" y="38"/>
                            </a:lnTo>
                            <a:lnTo>
                              <a:pt x="31" y="0"/>
                            </a:lnTo>
                            <a:lnTo>
                              <a:pt x="42" y="38"/>
                            </a:lnTo>
                            <a:lnTo>
                              <a:pt x="50" y="69"/>
                            </a:lnTo>
                            <a:lnTo>
                              <a:pt x="54" y="102"/>
                            </a:lnTo>
                            <a:lnTo>
                              <a:pt x="59" y="143"/>
                            </a:lnTo>
                            <a:lnTo>
                              <a:pt x="61" y="194"/>
                            </a:lnTo>
                            <a:lnTo>
                              <a:pt x="58" y="234"/>
                            </a:lnTo>
                            <a:lnTo>
                              <a:pt x="50" y="243"/>
                            </a:lnTo>
                            <a:lnTo>
                              <a:pt x="39" y="249"/>
                            </a:lnTo>
                            <a:lnTo>
                              <a:pt x="24" y="251"/>
                            </a:lnTo>
                            <a:lnTo>
                              <a:pt x="0" y="248"/>
                            </a:lnTo>
                            <a:lnTo>
                              <a:pt x="21" y="263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1" name="Freeform 233"/>
                      <p:cNvSpPr/>
                      <p:nvPr/>
                    </p:nvSpPr>
                    <p:spPr bwMode="auto">
                      <a:xfrm>
                        <a:off x="2396" y="3078"/>
                        <a:ext cx="49" cy="39"/>
                      </a:xfrm>
                      <a:custGeom>
                        <a:avLst/>
                        <a:gdLst>
                          <a:gd name="T0" fmla="*/ 81 w 340"/>
                          <a:gd name="T1" fmla="*/ 10 h 316"/>
                          <a:gd name="T2" fmla="*/ 69 w 340"/>
                          <a:gd name="T3" fmla="*/ 0 h 316"/>
                          <a:gd name="T4" fmla="*/ 55 w 340"/>
                          <a:gd name="T5" fmla="*/ 1 h 316"/>
                          <a:gd name="T6" fmla="*/ 37 w 340"/>
                          <a:gd name="T7" fmla="*/ 11 h 316"/>
                          <a:gd name="T8" fmla="*/ 24 w 340"/>
                          <a:gd name="T9" fmla="*/ 22 h 316"/>
                          <a:gd name="T10" fmla="*/ 10 w 340"/>
                          <a:gd name="T11" fmla="*/ 39 h 316"/>
                          <a:gd name="T12" fmla="*/ 3 w 340"/>
                          <a:gd name="T13" fmla="*/ 55 h 316"/>
                          <a:gd name="T14" fmla="*/ 0 w 340"/>
                          <a:gd name="T15" fmla="*/ 72 h 316"/>
                          <a:gd name="T16" fmla="*/ 7 w 340"/>
                          <a:gd name="T17" fmla="*/ 77 h 316"/>
                          <a:gd name="T18" fmla="*/ 20 w 340"/>
                          <a:gd name="T19" fmla="*/ 81 h 316"/>
                          <a:gd name="T20" fmla="*/ 35 w 340"/>
                          <a:gd name="T21" fmla="*/ 82 h 316"/>
                          <a:gd name="T22" fmla="*/ 44 w 340"/>
                          <a:gd name="T23" fmla="*/ 80 h 316"/>
                          <a:gd name="T24" fmla="*/ 47 w 340"/>
                          <a:gd name="T25" fmla="*/ 94 h 316"/>
                          <a:gd name="T26" fmla="*/ 54 w 340"/>
                          <a:gd name="T27" fmla="*/ 112 h 316"/>
                          <a:gd name="T28" fmla="*/ 66 w 340"/>
                          <a:gd name="T29" fmla="*/ 127 h 316"/>
                          <a:gd name="T30" fmla="*/ 87 w 340"/>
                          <a:gd name="T31" fmla="*/ 147 h 316"/>
                          <a:gd name="T32" fmla="*/ 108 w 340"/>
                          <a:gd name="T33" fmla="*/ 163 h 316"/>
                          <a:gd name="T34" fmla="*/ 131 w 340"/>
                          <a:gd name="T35" fmla="*/ 184 h 316"/>
                          <a:gd name="T36" fmla="*/ 147 w 340"/>
                          <a:gd name="T37" fmla="*/ 208 h 316"/>
                          <a:gd name="T38" fmla="*/ 161 w 340"/>
                          <a:gd name="T39" fmla="*/ 231 h 316"/>
                          <a:gd name="T40" fmla="*/ 187 w 340"/>
                          <a:gd name="T41" fmla="*/ 244 h 316"/>
                          <a:gd name="T42" fmla="*/ 217 w 340"/>
                          <a:gd name="T43" fmla="*/ 267 h 316"/>
                          <a:gd name="T44" fmla="*/ 242 w 340"/>
                          <a:gd name="T45" fmla="*/ 282 h 316"/>
                          <a:gd name="T46" fmla="*/ 270 w 340"/>
                          <a:gd name="T47" fmla="*/ 288 h 316"/>
                          <a:gd name="T48" fmla="*/ 298 w 340"/>
                          <a:gd name="T49" fmla="*/ 298 h 316"/>
                          <a:gd name="T50" fmla="*/ 324 w 340"/>
                          <a:gd name="T51" fmla="*/ 305 h 316"/>
                          <a:gd name="T52" fmla="*/ 340 w 340"/>
                          <a:gd name="T53" fmla="*/ 316 h 316"/>
                          <a:gd name="T54" fmla="*/ 324 w 340"/>
                          <a:gd name="T55" fmla="*/ 300 h 316"/>
                          <a:gd name="T56" fmla="*/ 298 w 340"/>
                          <a:gd name="T57" fmla="*/ 288 h 316"/>
                          <a:gd name="T58" fmla="*/ 266 w 340"/>
                          <a:gd name="T59" fmla="*/ 276 h 316"/>
                          <a:gd name="T60" fmla="*/ 239 w 340"/>
                          <a:gd name="T61" fmla="*/ 267 h 316"/>
                          <a:gd name="T62" fmla="*/ 217 w 340"/>
                          <a:gd name="T63" fmla="*/ 247 h 316"/>
                          <a:gd name="T64" fmla="*/ 194 w 340"/>
                          <a:gd name="T65" fmla="*/ 233 h 316"/>
                          <a:gd name="T66" fmla="*/ 173 w 340"/>
                          <a:gd name="T67" fmla="*/ 221 h 316"/>
                          <a:gd name="T68" fmla="*/ 164 w 340"/>
                          <a:gd name="T69" fmla="*/ 199 h 316"/>
                          <a:gd name="T70" fmla="*/ 138 w 340"/>
                          <a:gd name="T71" fmla="*/ 166 h 316"/>
                          <a:gd name="T72" fmla="*/ 116 w 340"/>
                          <a:gd name="T73" fmla="*/ 150 h 316"/>
                          <a:gd name="T74" fmla="*/ 101 w 340"/>
                          <a:gd name="T75" fmla="*/ 139 h 316"/>
                          <a:gd name="T76" fmla="*/ 84 w 340"/>
                          <a:gd name="T77" fmla="*/ 122 h 316"/>
                          <a:gd name="T78" fmla="*/ 70 w 340"/>
                          <a:gd name="T79" fmla="*/ 105 h 316"/>
                          <a:gd name="T80" fmla="*/ 63 w 340"/>
                          <a:gd name="T81" fmla="*/ 86 h 316"/>
                          <a:gd name="T82" fmla="*/ 60 w 340"/>
                          <a:gd name="T83" fmla="*/ 64 h 316"/>
                          <a:gd name="T84" fmla="*/ 63 w 340"/>
                          <a:gd name="T85" fmla="*/ 45 h 316"/>
                          <a:gd name="T86" fmla="*/ 72 w 340"/>
                          <a:gd name="T87" fmla="*/ 25 h 316"/>
                          <a:gd name="T88" fmla="*/ 81 w 340"/>
                          <a:gd name="T89" fmla="*/ 10 h 31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</a:cxnLst>
                        <a:rect l="0" t="0" r="r" b="b"/>
                        <a:pathLst>
                          <a:path w="340" h="316">
                            <a:moveTo>
                              <a:pt x="81" y="10"/>
                            </a:moveTo>
                            <a:lnTo>
                              <a:pt x="69" y="0"/>
                            </a:lnTo>
                            <a:lnTo>
                              <a:pt x="55" y="1"/>
                            </a:lnTo>
                            <a:lnTo>
                              <a:pt x="37" y="11"/>
                            </a:lnTo>
                            <a:lnTo>
                              <a:pt x="24" y="22"/>
                            </a:lnTo>
                            <a:lnTo>
                              <a:pt x="10" y="39"/>
                            </a:lnTo>
                            <a:lnTo>
                              <a:pt x="3" y="55"/>
                            </a:lnTo>
                            <a:lnTo>
                              <a:pt x="0" y="72"/>
                            </a:lnTo>
                            <a:lnTo>
                              <a:pt x="7" y="77"/>
                            </a:lnTo>
                            <a:lnTo>
                              <a:pt x="20" y="81"/>
                            </a:lnTo>
                            <a:lnTo>
                              <a:pt x="35" y="82"/>
                            </a:lnTo>
                            <a:lnTo>
                              <a:pt x="44" y="80"/>
                            </a:lnTo>
                            <a:lnTo>
                              <a:pt x="47" y="94"/>
                            </a:lnTo>
                            <a:lnTo>
                              <a:pt x="54" y="112"/>
                            </a:lnTo>
                            <a:lnTo>
                              <a:pt x="66" y="127"/>
                            </a:lnTo>
                            <a:lnTo>
                              <a:pt x="87" y="147"/>
                            </a:lnTo>
                            <a:lnTo>
                              <a:pt x="108" y="163"/>
                            </a:lnTo>
                            <a:lnTo>
                              <a:pt x="131" y="184"/>
                            </a:lnTo>
                            <a:lnTo>
                              <a:pt x="147" y="208"/>
                            </a:lnTo>
                            <a:lnTo>
                              <a:pt x="161" y="231"/>
                            </a:lnTo>
                            <a:lnTo>
                              <a:pt x="187" y="244"/>
                            </a:lnTo>
                            <a:lnTo>
                              <a:pt x="217" y="267"/>
                            </a:lnTo>
                            <a:lnTo>
                              <a:pt x="242" y="282"/>
                            </a:lnTo>
                            <a:lnTo>
                              <a:pt x="270" y="288"/>
                            </a:lnTo>
                            <a:lnTo>
                              <a:pt x="298" y="298"/>
                            </a:lnTo>
                            <a:lnTo>
                              <a:pt x="324" y="305"/>
                            </a:lnTo>
                            <a:lnTo>
                              <a:pt x="340" y="316"/>
                            </a:lnTo>
                            <a:lnTo>
                              <a:pt x="324" y="300"/>
                            </a:lnTo>
                            <a:lnTo>
                              <a:pt x="298" y="288"/>
                            </a:lnTo>
                            <a:lnTo>
                              <a:pt x="266" y="276"/>
                            </a:lnTo>
                            <a:lnTo>
                              <a:pt x="239" y="267"/>
                            </a:lnTo>
                            <a:lnTo>
                              <a:pt x="217" y="247"/>
                            </a:lnTo>
                            <a:lnTo>
                              <a:pt x="194" y="233"/>
                            </a:lnTo>
                            <a:lnTo>
                              <a:pt x="173" y="221"/>
                            </a:lnTo>
                            <a:lnTo>
                              <a:pt x="164" y="199"/>
                            </a:lnTo>
                            <a:lnTo>
                              <a:pt x="138" y="166"/>
                            </a:lnTo>
                            <a:lnTo>
                              <a:pt x="116" y="150"/>
                            </a:lnTo>
                            <a:lnTo>
                              <a:pt x="101" y="139"/>
                            </a:lnTo>
                            <a:lnTo>
                              <a:pt x="84" y="122"/>
                            </a:lnTo>
                            <a:lnTo>
                              <a:pt x="70" y="105"/>
                            </a:lnTo>
                            <a:lnTo>
                              <a:pt x="63" y="86"/>
                            </a:lnTo>
                            <a:lnTo>
                              <a:pt x="60" y="64"/>
                            </a:lnTo>
                            <a:lnTo>
                              <a:pt x="63" y="45"/>
                            </a:lnTo>
                            <a:lnTo>
                              <a:pt x="72" y="25"/>
                            </a:lnTo>
                            <a:lnTo>
                              <a:pt x="81" y="1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2" name="Freeform 234"/>
                      <p:cNvSpPr/>
                      <p:nvPr/>
                    </p:nvSpPr>
                    <p:spPr bwMode="auto">
                      <a:xfrm>
                        <a:off x="2429" y="3101"/>
                        <a:ext cx="17" cy="10"/>
                      </a:xfrm>
                      <a:custGeom>
                        <a:avLst/>
                        <a:gdLst>
                          <a:gd name="T0" fmla="*/ 0 w 120"/>
                          <a:gd name="T1" fmla="*/ 0 h 83"/>
                          <a:gd name="T2" fmla="*/ 24 w 120"/>
                          <a:gd name="T3" fmla="*/ 20 h 83"/>
                          <a:gd name="T4" fmla="*/ 45 w 120"/>
                          <a:gd name="T5" fmla="*/ 32 h 83"/>
                          <a:gd name="T6" fmla="*/ 66 w 120"/>
                          <a:gd name="T7" fmla="*/ 42 h 83"/>
                          <a:gd name="T8" fmla="*/ 90 w 120"/>
                          <a:gd name="T9" fmla="*/ 45 h 83"/>
                          <a:gd name="T10" fmla="*/ 117 w 120"/>
                          <a:gd name="T11" fmla="*/ 43 h 83"/>
                          <a:gd name="T12" fmla="*/ 120 w 120"/>
                          <a:gd name="T13" fmla="*/ 83 h 83"/>
                          <a:gd name="T14" fmla="*/ 95 w 120"/>
                          <a:gd name="T15" fmla="*/ 81 h 83"/>
                          <a:gd name="T16" fmla="*/ 69 w 120"/>
                          <a:gd name="T17" fmla="*/ 73 h 83"/>
                          <a:gd name="T18" fmla="*/ 48 w 120"/>
                          <a:gd name="T19" fmla="*/ 60 h 83"/>
                          <a:gd name="T20" fmla="*/ 32 w 120"/>
                          <a:gd name="T21" fmla="*/ 46 h 83"/>
                          <a:gd name="T22" fmla="*/ 15 w 120"/>
                          <a:gd name="T23" fmla="*/ 23 h 83"/>
                          <a:gd name="T24" fmla="*/ 0 w 120"/>
                          <a:gd name="T25" fmla="*/ 0 h 8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120" h="83">
                            <a:moveTo>
                              <a:pt x="0" y="0"/>
                            </a:moveTo>
                            <a:lnTo>
                              <a:pt x="24" y="20"/>
                            </a:lnTo>
                            <a:lnTo>
                              <a:pt x="45" y="32"/>
                            </a:lnTo>
                            <a:lnTo>
                              <a:pt x="66" y="42"/>
                            </a:lnTo>
                            <a:lnTo>
                              <a:pt x="90" y="45"/>
                            </a:lnTo>
                            <a:lnTo>
                              <a:pt x="117" y="43"/>
                            </a:lnTo>
                            <a:lnTo>
                              <a:pt x="120" y="83"/>
                            </a:lnTo>
                            <a:lnTo>
                              <a:pt x="95" y="81"/>
                            </a:lnTo>
                            <a:lnTo>
                              <a:pt x="69" y="73"/>
                            </a:lnTo>
                            <a:lnTo>
                              <a:pt x="48" y="60"/>
                            </a:lnTo>
                            <a:lnTo>
                              <a:pt x="32" y="46"/>
                            </a:lnTo>
                            <a:lnTo>
                              <a:pt x="15" y="23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3" name="Freeform 235"/>
                      <p:cNvSpPr/>
                      <p:nvPr/>
                    </p:nvSpPr>
                    <p:spPr bwMode="auto">
                      <a:xfrm>
                        <a:off x="2360" y="3155"/>
                        <a:ext cx="16" cy="21"/>
                      </a:xfrm>
                      <a:custGeom>
                        <a:avLst/>
                        <a:gdLst>
                          <a:gd name="T0" fmla="*/ 0 w 114"/>
                          <a:gd name="T1" fmla="*/ 0 h 167"/>
                          <a:gd name="T2" fmla="*/ 37 w 114"/>
                          <a:gd name="T3" fmla="*/ 16 h 167"/>
                          <a:gd name="T4" fmla="*/ 82 w 114"/>
                          <a:gd name="T5" fmla="*/ 39 h 167"/>
                          <a:gd name="T6" fmla="*/ 114 w 114"/>
                          <a:gd name="T7" fmla="*/ 63 h 167"/>
                          <a:gd name="T8" fmla="*/ 108 w 114"/>
                          <a:gd name="T9" fmla="*/ 108 h 167"/>
                          <a:gd name="T10" fmla="*/ 112 w 114"/>
                          <a:gd name="T11" fmla="*/ 167 h 167"/>
                          <a:gd name="T12" fmla="*/ 87 w 114"/>
                          <a:gd name="T13" fmla="*/ 161 h 167"/>
                          <a:gd name="T14" fmla="*/ 69 w 114"/>
                          <a:gd name="T15" fmla="*/ 148 h 167"/>
                          <a:gd name="T16" fmla="*/ 47 w 114"/>
                          <a:gd name="T17" fmla="*/ 120 h 167"/>
                          <a:gd name="T18" fmla="*/ 33 w 114"/>
                          <a:gd name="T19" fmla="*/ 92 h 167"/>
                          <a:gd name="T20" fmla="*/ 27 w 114"/>
                          <a:gd name="T21" fmla="*/ 61 h 167"/>
                          <a:gd name="T22" fmla="*/ 16 w 114"/>
                          <a:gd name="T23" fmla="*/ 25 h 167"/>
                          <a:gd name="T24" fmla="*/ 0 w 114"/>
                          <a:gd name="T25" fmla="*/ 0 h 16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114" h="167">
                            <a:moveTo>
                              <a:pt x="0" y="0"/>
                            </a:moveTo>
                            <a:lnTo>
                              <a:pt x="37" y="16"/>
                            </a:lnTo>
                            <a:lnTo>
                              <a:pt x="82" y="39"/>
                            </a:lnTo>
                            <a:lnTo>
                              <a:pt x="114" y="63"/>
                            </a:lnTo>
                            <a:lnTo>
                              <a:pt x="108" y="108"/>
                            </a:lnTo>
                            <a:lnTo>
                              <a:pt x="112" y="167"/>
                            </a:lnTo>
                            <a:lnTo>
                              <a:pt x="87" y="161"/>
                            </a:lnTo>
                            <a:lnTo>
                              <a:pt x="69" y="148"/>
                            </a:lnTo>
                            <a:lnTo>
                              <a:pt x="47" y="120"/>
                            </a:lnTo>
                            <a:lnTo>
                              <a:pt x="33" y="92"/>
                            </a:lnTo>
                            <a:lnTo>
                              <a:pt x="27" y="61"/>
                            </a:lnTo>
                            <a:lnTo>
                              <a:pt x="16" y="2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4" name="Freeform 236"/>
                      <p:cNvSpPr/>
                      <p:nvPr/>
                    </p:nvSpPr>
                    <p:spPr bwMode="auto">
                      <a:xfrm>
                        <a:off x="2404" y="3160"/>
                        <a:ext cx="23" cy="30"/>
                      </a:xfrm>
                      <a:custGeom>
                        <a:avLst/>
                        <a:gdLst>
                          <a:gd name="T0" fmla="*/ 0 w 161"/>
                          <a:gd name="T1" fmla="*/ 0 h 245"/>
                          <a:gd name="T2" fmla="*/ 29 w 161"/>
                          <a:gd name="T3" fmla="*/ 19 h 245"/>
                          <a:gd name="T4" fmla="*/ 54 w 161"/>
                          <a:gd name="T5" fmla="*/ 36 h 245"/>
                          <a:gd name="T6" fmla="*/ 79 w 161"/>
                          <a:gd name="T7" fmla="*/ 59 h 245"/>
                          <a:gd name="T8" fmla="*/ 101 w 161"/>
                          <a:gd name="T9" fmla="*/ 80 h 245"/>
                          <a:gd name="T10" fmla="*/ 119 w 161"/>
                          <a:gd name="T11" fmla="*/ 101 h 245"/>
                          <a:gd name="T12" fmla="*/ 133 w 161"/>
                          <a:gd name="T13" fmla="*/ 130 h 245"/>
                          <a:gd name="T14" fmla="*/ 139 w 161"/>
                          <a:gd name="T15" fmla="*/ 163 h 245"/>
                          <a:gd name="T16" fmla="*/ 136 w 161"/>
                          <a:gd name="T17" fmla="*/ 210 h 245"/>
                          <a:gd name="T18" fmla="*/ 128 w 161"/>
                          <a:gd name="T19" fmla="*/ 245 h 245"/>
                          <a:gd name="T20" fmla="*/ 156 w 161"/>
                          <a:gd name="T21" fmla="*/ 234 h 245"/>
                          <a:gd name="T22" fmla="*/ 160 w 161"/>
                          <a:gd name="T23" fmla="*/ 203 h 245"/>
                          <a:gd name="T24" fmla="*/ 161 w 161"/>
                          <a:gd name="T25" fmla="*/ 172 h 245"/>
                          <a:gd name="T26" fmla="*/ 158 w 161"/>
                          <a:gd name="T27" fmla="*/ 143 h 245"/>
                          <a:gd name="T28" fmla="*/ 149 w 161"/>
                          <a:gd name="T29" fmla="*/ 119 h 245"/>
                          <a:gd name="T30" fmla="*/ 137 w 161"/>
                          <a:gd name="T31" fmla="*/ 95 h 245"/>
                          <a:gd name="T32" fmla="*/ 118 w 161"/>
                          <a:gd name="T33" fmla="*/ 73 h 245"/>
                          <a:gd name="T34" fmla="*/ 97 w 161"/>
                          <a:gd name="T35" fmla="*/ 55 h 245"/>
                          <a:gd name="T36" fmla="*/ 73 w 161"/>
                          <a:gd name="T37" fmla="*/ 36 h 245"/>
                          <a:gd name="T38" fmla="*/ 49 w 161"/>
                          <a:gd name="T39" fmla="*/ 20 h 245"/>
                          <a:gd name="T40" fmla="*/ 24 w 161"/>
                          <a:gd name="T41" fmla="*/ 7 h 245"/>
                          <a:gd name="T42" fmla="*/ 0 w 161"/>
                          <a:gd name="T43" fmla="*/ 0 h 24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161" h="245">
                            <a:moveTo>
                              <a:pt x="0" y="0"/>
                            </a:moveTo>
                            <a:lnTo>
                              <a:pt x="29" y="19"/>
                            </a:lnTo>
                            <a:lnTo>
                              <a:pt x="54" y="36"/>
                            </a:lnTo>
                            <a:lnTo>
                              <a:pt x="79" y="59"/>
                            </a:lnTo>
                            <a:lnTo>
                              <a:pt x="101" y="80"/>
                            </a:lnTo>
                            <a:lnTo>
                              <a:pt x="119" y="101"/>
                            </a:lnTo>
                            <a:lnTo>
                              <a:pt x="133" y="130"/>
                            </a:lnTo>
                            <a:lnTo>
                              <a:pt x="139" y="163"/>
                            </a:lnTo>
                            <a:lnTo>
                              <a:pt x="136" y="210"/>
                            </a:lnTo>
                            <a:lnTo>
                              <a:pt x="128" y="245"/>
                            </a:lnTo>
                            <a:lnTo>
                              <a:pt x="156" y="234"/>
                            </a:lnTo>
                            <a:lnTo>
                              <a:pt x="160" y="203"/>
                            </a:lnTo>
                            <a:lnTo>
                              <a:pt x="161" y="172"/>
                            </a:lnTo>
                            <a:lnTo>
                              <a:pt x="158" y="143"/>
                            </a:lnTo>
                            <a:lnTo>
                              <a:pt x="149" y="119"/>
                            </a:lnTo>
                            <a:lnTo>
                              <a:pt x="137" y="95"/>
                            </a:lnTo>
                            <a:lnTo>
                              <a:pt x="118" y="73"/>
                            </a:lnTo>
                            <a:lnTo>
                              <a:pt x="97" y="55"/>
                            </a:lnTo>
                            <a:lnTo>
                              <a:pt x="73" y="36"/>
                            </a:lnTo>
                            <a:lnTo>
                              <a:pt x="49" y="20"/>
                            </a:lnTo>
                            <a:lnTo>
                              <a:pt x="24" y="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5" name="Freeform 237"/>
                      <p:cNvSpPr/>
                      <p:nvPr/>
                    </p:nvSpPr>
                    <p:spPr bwMode="auto">
                      <a:xfrm>
                        <a:off x="2436" y="3125"/>
                        <a:ext cx="14" cy="20"/>
                      </a:xfrm>
                      <a:custGeom>
                        <a:avLst/>
                        <a:gdLst>
                          <a:gd name="T0" fmla="*/ 0 w 96"/>
                          <a:gd name="T1" fmla="*/ 0 h 160"/>
                          <a:gd name="T2" fmla="*/ 16 w 96"/>
                          <a:gd name="T3" fmla="*/ 31 h 160"/>
                          <a:gd name="T4" fmla="*/ 27 w 96"/>
                          <a:gd name="T5" fmla="*/ 51 h 160"/>
                          <a:gd name="T6" fmla="*/ 45 w 96"/>
                          <a:gd name="T7" fmla="*/ 71 h 160"/>
                          <a:gd name="T8" fmla="*/ 69 w 96"/>
                          <a:gd name="T9" fmla="*/ 97 h 160"/>
                          <a:gd name="T10" fmla="*/ 96 w 96"/>
                          <a:gd name="T11" fmla="*/ 122 h 160"/>
                          <a:gd name="T12" fmla="*/ 93 w 96"/>
                          <a:gd name="T13" fmla="*/ 160 h 160"/>
                          <a:gd name="T14" fmla="*/ 74 w 96"/>
                          <a:gd name="T15" fmla="*/ 153 h 160"/>
                          <a:gd name="T16" fmla="*/ 50 w 96"/>
                          <a:gd name="T17" fmla="*/ 132 h 160"/>
                          <a:gd name="T18" fmla="*/ 28 w 96"/>
                          <a:gd name="T19" fmla="*/ 104 h 160"/>
                          <a:gd name="T20" fmla="*/ 14 w 96"/>
                          <a:gd name="T21" fmla="*/ 69 h 160"/>
                          <a:gd name="T22" fmla="*/ 7 w 96"/>
                          <a:gd name="T23" fmla="*/ 42 h 160"/>
                          <a:gd name="T24" fmla="*/ 0 w 96"/>
                          <a:gd name="T25" fmla="*/ 0 h 16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96" h="160">
                            <a:moveTo>
                              <a:pt x="0" y="0"/>
                            </a:moveTo>
                            <a:lnTo>
                              <a:pt x="16" y="31"/>
                            </a:lnTo>
                            <a:lnTo>
                              <a:pt x="27" y="51"/>
                            </a:lnTo>
                            <a:lnTo>
                              <a:pt x="45" y="71"/>
                            </a:lnTo>
                            <a:lnTo>
                              <a:pt x="69" y="97"/>
                            </a:lnTo>
                            <a:lnTo>
                              <a:pt x="96" y="122"/>
                            </a:lnTo>
                            <a:lnTo>
                              <a:pt x="93" y="160"/>
                            </a:lnTo>
                            <a:lnTo>
                              <a:pt x="74" y="153"/>
                            </a:lnTo>
                            <a:lnTo>
                              <a:pt x="50" y="132"/>
                            </a:lnTo>
                            <a:lnTo>
                              <a:pt x="28" y="104"/>
                            </a:lnTo>
                            <a:lnTo>
                              <a:pt x="14" y="69"/>
                            </a:lnTo>
                            <a:lnTo>
                              <a:pt x="7" y="4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6" name="Freeform 238"/>
                      <p:cNvSpPr/>
                      <p:nvPr/>
                    </p:nvSpPr>
                    <p:spPr bwMode="auto">
                      <a:xfrm>
                        <a:off x="2446" y="3146"/>
                        <a:ext cx="9" cy="23"/>
                      </a:xfrm>
                      <a:custGeom>
                        <a:avLst/>
                        <a:gdLst>
                          <a:gd name="T0" fmla="*/ 7 w 63"/>
                          <a:gd name="T1" fmla="*/ 0 h 182"/>
                          <a:gd name="T2" fmla="*/ 3 w 63"/>
                          <a:gd name="T3" fmla="*/ 52 h 182"/>
                          <a:gd name="T4" fmla="*/ 1 w 63"/>
                          <a:gd name="T5" fmla="*/ 87 h 182"/>
                          <a:gd name="T6" fmla="*/ 0 w 63"/>
                          <a:gd name="T7" fmla="*/ 121 h 182"/>
                          <a:gd name="T8" fmla="*/ 2 w 63"/>
                          <a:gd name="T9" fmla="*/ 150 h 182"/>
                          <a:gd name="T10" fmla="*/ 5 w 63"/>
                          <a:gd name="T11" fmla="*/ 182 h 182"/>
                          <a:gd name="T12" fmla="*/ 26 w 63"/>
                          <a:gd name="T13" fmla="*/ 157 h 182"/>
                          <a:gd name="T14" fmla="*/ 63 w 63"/>
                          <a:gd name="T15" fmla="*/ 62 h 182"/>
                          <a:gd name="T16" fmla="*/ 7 w 63"/>
                          <a:gd name="T17" fmla="*/ 0 h 1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</a:cxnLst>
                        <a:rect l="0" t="0" r="r" b="b"/>
                        <a:pathLst>
                          <a:path w="63" h="182">
                            <a:moveTo>
                              <a:pt x="7" y="0"/>
                            </a:moveTo>
                            <a:lnTo>
                              <a:pt x="3" y="52"/>
                            </a:lnTo>
                            <a:lnTo>
                              <a:pt x="1" y="87"/>
                            </a:lnTo>
                            <a:lnTo>
                              <a:pt x="0" y="121"/>
                            </a:lnTo>
                            <a:lnTo>
                              <a:pt x="2" y="150"/>
                            </a:lnTo>
                            <a:lnTo>
                              <a:pt x="5" y="182"/>
                            </a:lnTo>
                            <a:lnTo>
                              <a:pt x="26" y="157"/>
                            </a:lnTo>
                            <a:lnTo>
                              <a:pt x="63" y="62"/>
                            </a:lnTo>
                            <a:lnTo>
                              <a:pt x="7" y="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7" name="Freeform 239"/>
                      <p:cNvSpPr/>
                      <p:nvPr/>
                    </p:nvSpPr>
                    <p:spPr bwMode="auto">
                      <a:xfrm>
                        <a:off x="2492" y="3100"/>
                        <a:ext cx="30" cy="21"/>
                      </a:xfrm>
                      <a:custGeom>
                        <a:avLst/>
                        <a:gdLst>
                          <a:gd name="T0" fmla="*/ 0 w 211"/>
                          <a:gd name="T1" fmla="*/ 163 h 165"/>
                          <a:gd name="T2" fmla="*/ 12 w 211"/>
                          <a:gd name="T3" fmla="*/ 143 h 165"/>
                          <a:gd name="T4" fmla="*/ 25 w 211"/>
                          <a:gd name="T5" fmla="*/ 120 h 165"/>
                          <a:gd name="T6" fmla="*/ 41 w 211"/>
                          <a:gd name="T7" fmla="*/ 99 h 165"/>
                          <a:gd name="T8" fmla="*/ 58 w 211"/>
                          <a:gd name="T9" fmla="*/ 88 h 165"/>
                          <a:gd name="T10" fmla="*/ 81 w 211"/>
                          <a:gd name="T11" fmla="*/ 75 h 165"/>
                          <a:gd name="T12" fmla="*/ 91 w 211"/>
                          <a:gd name="T13" fmla="*/ 64 h 165"/>
                          <a:gd name="T14" fmla="*/ 97 w 211"/>
                          <a:gd name="T15" fmla="*/ 45 h 165"/>
                          <a:gd name="T16" fmla="*/ 110 w 211"/>
                          <a:gd name="T17" fmla="*/ 37 h 165"/>
                          <a:gd name="T18" fmla="*/ 125 w 211"/>
                          <a:gd name="T19" fmla="*/ 28 h 165"/>
                          <a:gd name="T20" fmla="*/ 142 w 211"/>
                          <a:gd name="T21" fmla="*/ 18 h 165"/>
                          <a:gd name="T22" fmla="*/ 176 w 211"/>
                          <a:gd name="T23" fmla="*/ 0 h 165"/>
                          <a:gd name="T24" fmla="*/ 151 w 211"/>
                          <a:gd name="T25" fmla="*/ 20 h 165"/>
                          <a:gd name="T26" fmla="*/ 132 w 211"/>
                          <a:gd name="T27" fmla="*/ 33 h 165"/>
                          <a:gd name="T28" fmla="*/ 120 w 211"/>
                          <a:gd name="T29" fmla="*/ 46 h 165"/>
                          <a:gd name="T30" fmla="*/ 109 w 211"/>
                          <a:gd name="T31" fmla="*/ 60 h 165"/>
                          <a:gd name="T32" fmla="*/ 124 w 211"/>
                          <a:gd name="T33" fmla="*/ 59 h 165"/>
                          <a:gd name="T34" fmla="*/ 149 w 211"/>
                          <a:gd name="T35" fmla="*/ 60 h 165"/>
                          <a:gd name="T36" fmla="*/ 173 w 211"/>
                          <a:gd name="T37" fmla="*/ 65 h 165"/>
                          <a:gd name="T38" fmla="*/ 190 w 211"/>
                          <a:gd name="T39" fmla="*/ 75 h 165"/>
                          <a:gd name="T40" fmla="*/ 201 w 211"/>
                          <a:gd name="T41" fmla="*/ 82 h 165"/>
                          <a:gd name="T42" fmla="*/ 209 w 211"/>
                          <a:gd name="T43" fmla="*/ 96 h 165"/>
                          <a:gd name="T44" fmla="*/ 211 w 211"/>
                          <a:gd name="T45" fmla="*/ 117 h 165"/>
                          <a:gd name="T46" fmla="*/ 202 w 211"/>
                          <a:gd name="T47" fmla="*/ 101 h 165"/>
                          <a:gd name="T48" fmla="*/ 188 w 211"/>
                          <a:gd name="T49" fmla="*/ 87 h 165"/>
                          <a:gd name="T50" fmla="*/ 174 w 211"/>
                          <a:gd name="T51" fmla="*/ 80 h 165"/>
                          <a:gd name="T52" fmla="*/ 157 w 211"/>
                          <a:gd name="T53" fmla="*/ 76 h 165"/>
                          <a:gd name="T54" fmla="*/ 138 w 211"/>
                          <a:gd name="T55" fmla="*/ 74 h 165"/>
                          <a:gd name="T56" fmla="*/ 120 w 211"/>
                          <a:gd name="T57" fmla="*/ 75 h 165"/>
                          <a:gd name="T58" fmla="*/ 104 w 211"/>
                          <a:gd name="T59" fmla="*/ 78 h 165"/>
                          <a:gd name="T60" fmla="*/ 88 w 211"/>
                          <a:gd name="T61" fmla="*/ 85 h 165"/>
                          <a:gd name="T62" fmla="*/ 77 w 211"/>
                          <a:gd name="T63" fmla="*/ 95 h 165"/>
                          <a:gd name="T64" fmla="*/ 82 w 211"/>
                          <a:gd name="T65" fmla="*/ 103 h 165"/>
                          <a:gd name="T66" fmla="*/ 86 w 211"/>
                          <a:gd name="T67" fmla="*/ 114 h 165"/>
                          <a:gd name="T68" fmla="*/ 76 w 211"/>
                          <a:gd name="T69" fmla="*/ 111 h 165"/>
                          <a:gd name="T70" fmla="*/ 64 w 211"/>
                          <a:gd name="T71" fmla="*/ 105 h 165"/>
                          <a:gd name="T72" fmla="*/ 71 w 211"/>
                          <a:gd name="T73" fmla="*/ 116 h 165"/>
                          <a:gd name="T74" fmla="*/ 74 w 211"/>
                          <a:gd name="T75" fmla="*/ 126 h 165"/>
                          <a:gd name="T76" fmla="*/ 58 w 211"/>
                          <a:gd name="T77" fmla="*/ 125 h 165"/>
                          <a:gd name="T78" fmla="*/ 46 w 211"/>
                          <a:gd name="T79" fmla="*/ 123 h 165"/>
                          <a:gd name="T80" fmla="*/ 37 w 211"/>
                          <a:gd name="T81" fmla="*/ 137 h 165"/>
                          <a:gd name="T82" fmla="*/ 20 w 211"/>
                          <a:gd name="T83" fmla="*/ 145 h 165"/>
                          <a:gd name="T84" fmla="*/ 4 w 211"/>
                          <a:gd name="T85" fmla="*/ 165 h 165"/>
                          <a:gd name="T86" fmla="*/ 0 w 211"/>
                          <a:gd name="T87" fmla="*/ 163 h 16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</a:cxnLst>
                        <a:rect l="0" t="0" r="r" b="b"/>
                        <a:pathLst>
                          <a:path w="211" h="165">
                            <a:moveTo>
                              <a:pt x="0" y="163"/>
                            </a:moveTo>
                            <a:lnTo>
                              <a:pt x="12" y="143"/>
                            </a:lnTo>
                            <a:lnTo>
                              <a:pt x="25" y="120"/>
                            </a:lnTo>
                            <a:lnTo>
                              <a:pt x="41" y="99"/>
                            </a:lnTo>
                            <a:lnTo>
                              <a:pt x="58" y="88"/>
                            </a:lnTo>
                            <a:lnTo>
                              <a:pt x="81" y="75"/>
                            </a:lnTo>
                            <a:lnTo>
                              <a:pt x="91" y="64"/>
                            </a:lnTo>
                            <a:lnTo>
                              <a:pt x="97" y="45"/>
                            </a:lnTo>
                            <a:lnTo>
                              <a:pt x="110" y="37"/>
                            </a:lnTo>
                            <a:lnTo>
                              <a:pt x="125" y="28"/>
                            </a:lnTo>
                            <a:lnTo>
                              <a:pt x="142" y="18"/>
                            </a:lnTo>
                            <a:lnTo>
                              <a:pt x="176" y="0"/>
                            </a:lnTo>
                            <a:lnTo>
                              <a:pt x="151" y="20"/>
                            </a:lnTo>
                            <a:lnTo>
                              <a:pt x="132" y="33"/>
                            </a:lnTo>
                            <a:lnTo>
                              <a:pt x="120" y="46"/>
                            </a:lnTo>
                            <a:lnTo>
                              <a:pt x="109" y="60"/>
                            </a:lnTo>
                            <a:lnTo>
                              <a:pt x="124" y="59"/>
                            </a:lnTo>
                            <a:lnTo>
                              <a:pt x="149" y="60"/>
                            </a:lnTo>
                            <a:lnTo>
                              <a:pt x="173" y="65"/>
                            </a:lnTo>
                            <a:lnTo>
                              <a:pt x="190" y="75"/>
                            </a:lnTo>
                            <a:lnTo>
                              <a:pt x="201" y="82"/>
                            </a:lnTo>
                            <a:lnTo>
                              <a:pt x="209" y="96"/>
                            </a:lnTo>
                            <a:lnTo>
                              <a:pt x="211" y="117"/>
                            </a:lnTo>
                            <a:lnTo>
                              <a:pt x="202" y="101"/>
                            </a:lnTo>
                            <a:lnTo>
                              <a:pt x="188" y="87"/>
                            </a:lnTo>
                            <a:lnTo>
                              <a:pt x="174" y="80"/>
                            </a:lnTo>
                            <a:lnTo>
                              <a:pt x="157" y="76"/>
                            </a:lnTo>
                            <a:lnTo>
                              <a:pt x="138" y="74"/>
                            </a:lnTo>
                            <a:lnTo>
                              <a:pt x="120" y="75"/>
                            </a:lnTo>
                            <a:lnTo>
                              <a:pt x="104" y="78"/>
                            </a:lnTo>
                            <a:lnTo>
                              <a:pt x="88" y="85"/>
                            </a:lnTo>
                            <a:lnTo>
                              <a:pt x="77" y="95"/>
                            </a:lnTo>
                            <a:lnTo>
                              <a:pt x="82" y="103"/>
                            </a:lnTo>
                            <a:lnTo>
                              <a:pt x="86" y="114"/>
                            </a:lnTo>
                            <a:lnTo>
                              <a:pt x="76" y="111"/>
                            </a:lnTo>
                            <a:lnTo>
                              <a:pt x="64" y="105"/>
                            </a:lnTo>
                            <a:lnTo>
                              <a:pt x="71" y="116"/>
                            </a:lnTo>
                            <a:lnTo>
                              <a:pt x="74" y="126"/>
                            </a:lnTo>
                            <a:lnTo>
                              <a:pt x="58" y="125"/>
                            </a:lnTo>
                            <a:lnTo>
                              <a:pt x="46" y="123"/>
                            </a:lnTo>
                            <a:lnTo>
                              <a:pt x="37" y="137"/>
                            </a:lnTo>
                            <a:lnTo>
                              <a:pt x="20" y="145"/>
                            </a:lnTo>
                            <a:lnTo>
                              <a:pt x="4" y="165"/>
                            </a:lnTo>
                            <a:lnTo>
                              <a:pt x="0" y="163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8" name="Freeform 240"/>
                      <p:cNvSpPr/>
                      <p:nvPr/>
                    </p:nvSpPr>
                    <p:spPr bwMode="auto">
                      <a:xfrm>
                        <a:off x="2488" y="3120"/>
                        <a:ext cx="14" cy="8"/>
                      </a:xfrm>
                      <a:custGeom>
                        <a:avLst/>
                        <a:gdLst>
                          <a:gd name="T0" fmla="*/ 26 w 93"/>
                          <a:gd name="T1" fmla="*/ 4 h 64"/>
                          <a:gd name="T2" fmla="*/ 20 w 93"/>
                          <a:gd name="T3" fmla="*/ 21 h 64"/>
                          <a:gd name="T4" fmla="*/ 16 w 93"/>
                          <a:gd name="T5" fmla="*/ 34 h 64"/>
                          <a:gd name="T6" fmla="*/ 14 w 93"/>
                          <a:gd name="T7" fmla="*/ 47 h 64"/>
                          <a:gd name="T8" fmla="*/ 0 w 93"/>
                          <a:gd name="T9" fmla="*/ 64 h 64"/>
                          <a:gd name="T10" fmla="*/ 14 w 93"/>
                          <a:gd name="T11" fmla="*/ 61 h 64"/>
                          <a:gd name="T12" fmla="*/ 25 w 93"/>
                          <a:gd name="T13" fmla="*/ 54 h 64"/>
                          <a:gd name="T14" fmla="*/ 38 w 93"/>
                          <a:gd name="T15" fmla="*/ 34 h 64"/>
                          <a:gd name="T16" fmla="*/ 54 w 93"/>
                          <a:gd name="T17" fmla="*/ 24 h 64"/>
                          <a:gd name="T18" fmla="*/ 72 w 93"/>
                          <a:gd name="T19" fmla="*/ 19 h 64"/>
                          <a:gd name="T20" fmla="*/ 93 w 93"/>
                          <a:gd name="T21" fmla="*/ 22 h 64"/>
                          <a:gd name="T22" fmla="*/ 79 w 93"/>
                          <a:gd name="T23" fmla="*/ 11 h 64"/>
                          <a:gd name="T24" fmla="*/ 60 w 93"/>
                          <a:gd name="T25" fmla="*/ 1 h 64"/>
                          <a:gd name="T26" fmla="*/ 42 w 93"/>
                          <a:gd name="T27" fmla="*/ 0 h 64"/>
                          <a:gd name="T28" fmla="*/ 26 w 93"/>
                          <a:gd name="T29" fmla="*/ 4 h 6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</a:cxnLst>
                        <a:rect l="0" t="0" r="r" b="b"/>
                        <a:pathLst>
                          <a:path w="93" h="64">
                            <a:moveTo>
                              <a:pt x="26" y="4"/>
                            </a:moveTo>
                            <a:lnTo>
                              <a:pt x="20" y="21"/>
                            </a:lnTo>
                            <a:lnTo>
                              <a:pt x="16" y="34"/>
                            </a:lnTo>
                            <a:lnTo>
                              <a:pt x="14" y="47"/>
                            </a:lnTo>
                            <a:lnTo>
                              <a:pt x="0" y="64"/>
                            </a:lnTo>
                            <a:lnTo>
                              <a:pt x="14" y="61"/>
                            </a:lnTo>
                            <a:lnTo>
                              <a:pt x="25" y="54"/>
                            </a:lnTo>
                            <a:lnTo>
                              <a:pt x="38" y="34"/>
                            </a:lnTo>
                            <a:lnTo>
                              <a:pt x="54" y="24"/>
                            </a:lnTo>
                            <a:lnTo>
                              <a:pt x="72" y="19"/>
                            </a:lnTo>
                            <a:lnTo>
                              <a:pt x="93" y="22"/>
                            </a:lnTo>
                            <a:lnTo>
                              <a:pt x="79" y="11"/>
                            </a:lnTo>
                            <a:lnTo>
                              <a:pt x="60" y="1"/>
                            </a:lnTo>
                            <a:lnTo>
                              <a:pt x="42" y="0"/>
                            </a:lnTo>
                            <a:lnTo>
                              <a:pt x="26" y="4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89" name="Freeform 241"/>
                      <p:cNvSpPr/>
                      <p:nvPr/>
                    </p:nvSpPr>
                    <p:spPr bwMode="auto">
                      <a:xfrm>
                        <a:off x="2469" y="3075"/>
                        <a:ext cx="47" cy="29"/>
                      </a:xfrm>
                      <a:custGeom>
                        <a:avLst/>
                        <a:gdLst>
                          <a:gd name="T0" fmla="*/ 10 w 332"/>
                          <a:gd name="T1" fmla="*/ 195 h 230"/>
                          <a:gd name="T2" fmla="*/ 6 w 332"/>
                          <a:gd name="T3" fmla="*/ 168 h 230"/>
                          <a:gd name="T4" fmla="*/ 7 w 332"/>
                          <a:gd name="T5" fmla="*/ 138 h 230"/>
                          <a:gd name="T6" fmla="*/ 12 w 332"/>
                          <a:gd name="T7" fmla="*/ 104 h 230"/>
                          <a:gd name="T8" fmla="*/ 17 w 332"/>
                          <a:gd name="T9" fmla="*/ 78 h 230"/>
                          <a:gd name="T10" fmla="*/ 18 w 332"/>
                          <a:gd name="T11" fmla="*/ 50 h 230"/>
                          <a:gd name="T12" fmla="*/ 12 w 332"/>
                          <a:gd name="T13" fmla="*/ 29 h 230"/>
                          <a:gd name="T14" fmla="*/ 0 w 332"/>
                          <a:gd name="T15" fmla="*/ 0 h 230"/>
                          <a:gd name="T16" fmla="*/ 32 w 332"/>
                          <a:gd name="T17" fmla="*/ 26 h 230"/>
                          <a:gd name="T18" fmla="*/ 62 w 332"/>
                          <a:gd name="T19" fmla="*/ 48 h 230"/>
                          <a:gd name="T20" fmla="*/ 91 w 332"/>
                          <a:gd name="T21" fmla="*/ 60 h 230"/>
                          <a:gd name="T22" fmla="*/ 126 w 332"/>
                          <a:gd name="T23" fmla="*/ 77 h 230"/>
                          <a:gd name="T24" fmla="*/ 165 w 332"/>
                          <a:gd name="T25" fmla="*/ 93 h 230"/>
                          <a:gd name="T26" fmla="*/ 201 w 332"/>
                          <a:gd name="T27" fmla="*/ 111 h 230"/>
                          <a:gd name="T28" fmla="*/ 232 w 332"/>
                          <a:gd name="T29" fmla="*/ 128 h 230"/>
                          <a:gd name="T30" fmla="*/ 277 w 332"/>
                          <a:gd name="T31" fmla="*/ 155 h 230"/>
                          <a:gd name="T32" fmla="*/ 292 w 332"/>
                          <a:gd name="T33" fmla="*/ 167 h 230"/>
                          <a:gd name="T34" fmla="*/ 306 w 332"/>
                          <a:gd name="T35" fmla="*/ 171 h 230"/>
                          <a:gd name="T36" fmla="*/ 318 w 332"/>
                          <a:gd name="T37" fmla="*/ 180 h 230"/>
                          <a:gd name="T38" fmla="*/ 332 w 332"/>
                          <a:gd name="T39" fmla="*/ 187 h 230"/>
                          <a:gd name="T40" fmla="*/ 309 w 332"/>
                          <a:gd name="T41" fmla="*/ 195 h 230"/>
                          <a:gd name="T42" fmla="*/ 290 w 332"/>
                          <a:gd name="T43" fmla="*/ 197 h 230"/>
                          <a:gd name="T44" fmla="*/ 274 w 332"/>
                          <a:gd name="T45" fmla="*/ 196 h 230"/>
                          <a:gd name="T46" fmla="*/ 254 w 332"/>
                          <a:gd name="T47" fmla="*/ 210 h 230"/>
                          <a:gd name="T48" fmla="*/ 233 w 332"/>
                          <a:gd name="T49" fmla="*/ 224 h 230"/>
                          <a:gd name="T50" fmla="*/ 208 w 332"/>
                          <a:gd name="T51" fmla="*/ 229 h 230"/>
                          <a:gd name="T52" fmla="*/ 180 w 332"/>
                          <a:gd name="T53" fmla="*/ 230 h 230"/>
                          <a:gd name="T54" fmla="*/ 150 w 332"/>
                          <a:gd name="T55" fmla="*/ 229 h 230"/>
                          <a:gd name="T56" fmla="*/ 114 w 332"/>
                          <a:gd name="T57" fmla="*/ 226 h 230"/>
                          <a:gd name="T58" fmla="*/ 83 w 332"/>
                          <a:gd name="T59" fmla="*/ 222 h 230"/>
                          <a:gd name="T60" fmla="*/ 53 w 332"/>
                          <a:gd name="T61" fmla="*/ 215 h 230"/>
                          <a:gd name="T62" fmla="*/ 29 w 332"/>
                          <a:gd name="T63" fmla="*/ 205 h 230"/>
                          <a:gd name="T64" fmla="*/ 10 w 332"/>
                          <a:gd name="T65" fmla="*/ 195 h 2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</a:cxnLst>
                        <a:rect l="0" t="0" r="r" b="b"/>
                        <a:pathLst>
                          <a:path w="332" h="230">
                            <a:moveTo>
                              <a:pt x="10" y="195"/>
                            </a:moveTo>
                            <a:lnTo>
                              <a:pt x="6" y="168"/>
                            </a:lnTo>
                            <a:lnTo>
                              <a:pt x="7" y="138"/>
                            </a:lnTo>
                            <a:lnTo>
                              <a:pt x="12" y="104"/>
                            </a:lnTo>
                            <a:lnTo>
                              <a:pt x="17" y="78"/>
                            </a:lnTo>
                            <a:lnTo>
                              <a:pt x="18" y="50"/>
                            </a:lnTo>
                            <a:lnTo>
                              <a:pt x="12" y="29"/>
                            </a:lnTo>
                            <a:lnTo>
                              <a:pt x="0" y="0"/>
                            </a:lnTo>
                            <a:lnTo>
                              <a:pt x="32" y="26"/>
                            </a:lnTo>
                            <a:lnTo>
                              <a:pt x="62" y="48"/>
                            </a:lnTo>
                            <a:lnTo>
                              <a:pt x="91" y="60"/>
                            </a:lnTo>
                            <a:lnTo>
                              <a:pt x="126" y="77"/>
                            </a:lnTo>
                            <a:lnTo>
                              <a:pt x="165" y="93"/>
                            </a:lnTo>
                            <a:lnTo>
                              <a:pt x="201" y="111"/>
                            </a:lnTo>
                            <a:lnTo>
                              <a:pt x="232" y="128"/>
                            </a:lnTo>
                            <a:lnTo>
                              <a:pt x="277" y="155"/>
                            </a:lnTo>
                            <a:lnTo>
                              <a:pt x="292" y="167"/>
                            </a:lnTo>
                            <a:lnTo>
                              <a:pt x="306" y="171"/>
                            </a:lnTo>
                            <a:lnTo>
                              <a:pt x="318" y="180"/>
                            </a:lnTo>
                            <a:lnTo>
                              <a:pt x="332" y="187"/>
                            </a:lnTo>
                            <a:lnTo>
                              <a:pt x="309" y="195"/>
                            </a:lnTo>
                            <a:lnTo>
                              <a:pt x="290" y="197"/>
                            </a:lnTo>
                            <a:lnTo>
                              <a:pt x="274" y="196"/>
                            </a:lnTo>
                            <a:lnTo>
                              <a:pt x="254" y="210"/>
                            </a:lnTo>
                            <a:lnTo>
                              <a:pt x="233" y="224"/>
                            </a:lnTo>
                            <a:lnTo>
                              <a:pt x="208" y="229"/>
                            </a:lnTo>
                            <a:lnTo>
                              <a:pt x="180" y="230"/>
                            </a:lnTo>
                            <a:lnTo>
                              <a:pt x="150" y="229"/>
                            </a:lnTo>
                            <a:lnTo>
                              <a:pt x="114" y="226"/>
                            </a:lnTo>
                            <a:lnTo>
                              <a:pt x="83" y="222"/>
                            </a:lnTo>
                            <a:lnTo>
                              <a:pt x="53" y="215"/>
                            </a:lnTo>
                            <a:lnTo>
                              <a:pt x="29" y="205"/>
                            </a:lnTo>
                            <a:lnTo>
                              <a:pt x="10" y="195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0" name="Freeform 242"/>
                      <p:cNvSpPr/>
                      <p:nvPr/>
                    </p:nvSpPr>
                    <p:spPr bwMode="auto">
                      <a:xfrm>
                        <a:off x="2505" y="3130"/>
                        <a:ext cx="14" cy="11"/>
                      </a:xfrm>
                      <a:custGeom>
                        <a:avLst/>
                        <a:gdLst>
                          <a:gd name="T0" fmla="*/ 0 w 95"/>
                          <a:gd name="T1" fmla="*/ 83 h 83"/>
                          <a:gd name="T2" fmla="*/ 10 w 95"/>
                          <a:gd name="T3" fmla="*/ 56 h 83"/>
                          <a:gd name="T4" fmla="*/ 27 w 95"/>
                          <a:gd name="T5" fmla="*/ 39 h 83"/>
                          <a:gd name="T6" fmla="*/ 31 w 95"/>
                          <a:gd name="T7" fmla="*/ 20 h 83"/>
                          <a:gd name="T8" fmla="*/ 49 w 95"/>
                          <a:gd name="T9" fmla="*/ 33 h 83"/>
                          <a:gd name="T10" fmla="*/ 72 w 95"/>
                          <a:gd name="T11" fmla="*/ 20 h 83"/>
                          <a:gd name="T12" fmla="*/ 95 w 95"/>
                          <a:gd name="T13" fmla="*/ 0 h 83"/>
                          <a:gd name="T14" fmla="*/ 75 w 95"/>
                          <a:gd name="T15" fmla="*/ 30 h 83"/>
                          <a:gd name="T16" fmla="*/ 60 w 95"/>
                          <a:gd name="T17" fmla="*/ 43 h 83"/>
                          <a:gd name="T18" fmla="*/ 43 w 95"/>
                          <a:gd name="T19" fmla="*/ 50 h 83"/>
                          <a:gd name="T20" fmla="*/ 0 w 95"/>
                          <a:gd name="T21" fmla="*/ 83 h 8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</a:cxnLst>
                        <a:rect l="0" t="0" r="r" b="b"/>
                        <a:pathLst>
                          <a:path w="95" h="83">
                            <a:moveTo>
                              <a:pt x="0" y="83"/>
                            </a:moveTo>
                            <a:lnTo>
                              <a:pt x="10" y="56"/>
                            </a:lnTo>
                            <a:lnTo>
                              <a:pt x="27" y="39"/>
                            </a:lnTo>
                            <a:lnTo>
                              <a:pt x="31" y="20"/>
                            </a:lnTo>
                            <a:lnTo>
                              <a:pt x="49" y="33"/>
                            </a:lnTo>
                            <a:lnTo>
                              <a:pt x="72" y="20"/>
                            </a:lnTo>
                            <a:lnTo>
                              <a:pt x="95" y="0"/>
                            </a:lnTo>
                            <a:lnTo>
                              <a:pt x="75" y="30"/>
                            </a:lnTo>
                            <a:lnTo>
                              <a:pt x="60" y="43"/>
                            </a:lnTo>
                            <a:lnTo>
                              <a:pt x="43" y="50"/>
                            </a:lnTo>
                            <a:lnTo>
                              <a:pt x="0" y="83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1" name="Freeform 243"/>
                      <p:cNvSpPr/>
                      <p:nvPr/>
                    </p:nvSpPr>
                    <p:spPr bwMode="auto">
                      <a:xfrm>
                        <a:off x="2446" y="3175"/>
                        <a:ext cx="12" cy="9"/>
                      </a:xfrm>
                      <a:custGeom>
                        <a:avLst/>
                        <a:gdLst>
                          <a:gd name="T0" fmla="*/ 85 w 85"/>
                          <a:gd name="T1" fmla="*/ 7 h 71"/>
                          <a:gd name="T2" fmla="*/ 70 w 85"/>
                          <a:gd name="T3" fmla="*/ 8 h 71"/>
                          <a:gd name="T4" fmla="*/ 54 w 85"/>
                          <a:gd name="T5" fmla="*/ 3 h 71"/>
                          <a:gd name="T6" fmla="*/ 39 w 85"/>
                          <a:gd name="T7" fmla="*/ 1 h 71"/>
                          <a:gd name="T8" fmla="*/ 28 w 85"/>
                          <a:gd name="T9" fmla="*/ 0 h 71"/>
                          <a:gd name="T10" fmla="*/ 15 w 85"/>
                          <a:gd name="T11" fmla="*/ 9 h 71"/>
                          <a:gd name="T12" fmla="*/ 9 w 85"/>
                          <a:gd name="T13" fmla="*/ 15 h 71"/>
                          <a:gd name="T14" fmla="*/ 2 w 85"/>
                          <a:gd name="T15" fmla="*/ 27 h 71"/>
                          <a:gd name="T16" fmla="*/ 0 w 85"/>
                          <a:gd name="T17" fmla="*/ 44 h 71"/>
                          <a:gd name="T18" fmla="*/ 15 w 85"/>
                          <a:gd name="T19" fmla="*/ 50 h 71"/>
                          <a:gd name="T20" fmla="*/ 30 w 85"/>
                          <a:gd name="T21" fmla="*/ 57 h 71"/>
                          <a:gd name="T22" fmla="*/ 40 w 85"/>
                          <a:gd name="T23" fmla="*/ 71 h 71"/>
                          <a:gd name="T24" fmla="*/ 53 w 85"/>
                          <a:gd name="T25" fmla="*/ 65 h 71"/>
                          <a:gd name="T26" fmla="*/ 62 w 85"/>
                          <a:gd name="T27" fmla="*/ 56 h 71"/>
                          <a:gd name="T28" fmla="*/ 70 w 85"/>
                          <a:gd name="T29" fmla="*/ 41 h 71"/>
                          <a:gd name="T30" fmla="*/ 77 w 85"/>
                          <a:gd name="T31" fmla="*/ 25 h 71"/>
                          <a:gd name="T32" fmla="*/ 85 w 85"/>
                          <a:gd name="T33" fmla="*/ 7 h 7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</a:cxnLst>
                        <a:rect l="0" t="0" r="r" b="b"/>
                        <a:pathLst>
                          <a:path w="85" h="71">
                            <a:moveTo>
                              <a:pt x="85" y="7"/>
                            </a:moveTo>
                            <a:lnTo>
                              <a:pt x="70" y="8"/>
                            </a:lnTo>
                            <a:lnTo>
                              <a:pt x="54" y="3"/>
                            </a:lnTo>
                            <a:lnTo>
                              <a:pt x="39" y="1"/>
                            </a:lnTo>
                            <a:lnTo>
                              <a:pt x="28" y="0"/>
                            </a:lnTo>
                            <a:lnTo>
                              <a:pt x="15" y="9"/>
                            </a:lnTo>
                            <a:lnTo>
                              <a:pt x="9" y="15"/>
                            </a:lnTo>
                            <a:lnTo>
                              <a:pt x="2" y="27"/>
                            </a:lnTo>
                            <a:lnTo>
                              <a:pt x="0" y="44"/>
                            </a:lnTo>
                            <a:lnTo>
                              <a:pt x="15" y="50"/>
                            </a:lnTo>
                            <a:lnTo>
                              <a:pt x="30" y="57"/>
                            </a:lnTo>
                            <a:lnTo>
                              <a:pt x="40" y="71"/>
                            </a:lnTo>
                            <a:lnTo>
                              <a:pt x="53" y="65"/>
                            </a:lnTo>
                            <a:lnTo>
                              <a:pt x="62" y="56"/>
                            </a:lnTo>
                            <a:lnTo>
                              <a:pt x="70" y="41"/>
                            </a:lnTo>
                            <a:lnTo>
                              <a:pt x="77" y="25"/>
                            </a:lnTo>
                            <a:lnTo>
                              <a:pt x="85" y="7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2" name="Freeform 244"/>
                      <p:cNvSpPr/>
                      <p:nvPr/>
                    </p:nvSpPr>
                    <p:spPr bwMode="auto">
                      <a:xfrm>
                        <a:off x="2362" y="3176"/>
                        <a:ext cx="24" cy="41"/>
                      </a:xfrm>
                      <a:custGeom>
                        <a:avLst/>
                        <a:gdLst>
                          <a:gd name="T0" fmla="*/ 0 w 171"/>
                          <a:gd name="T1" fmla="*/ 0 h 330"/>
                          <a:gd name="T2" fmla="*/ 46 w 171"/>
                          <a:gd name="T3" fmla="*/ 9 h 330"/>
                          <a:gd name="T4" fmla="*/ 73 w 171"/>
                          <a:gd name="T5" fmla="*/ 28 h 330"/>
                          <a:gd name="T6" fmla="*/ 87 w 171"/>
                          <a:gd name="T7" fmla="*/ 52 h 330"/>
                          <a:gd name="T8" fmla="*/ 100 w 171"/>
                          <a:gd name="T9" fmla="*/ 28 h 330"/>
                          <a:gd name="T10" fmla="*/ 110 w 171"/>
                          <a:gd name="T11" fmla="*/ 128 h 330"/>
                          <a:gd name="T12" fmla="*/ 119 w 171"/>
                          <a:gd name="T13" fmla="*/ 199 h 330"/>
                          <a:gd name="T14" fmla="*/ 132 w 171"/>
                          <a:gd name="T15" fmla="*/ 254 h 330"/>
                          <a:gd name="T16" fmla="*/ 171 w 171"/>
                          <a:gd name="T17" fmla="*/ 330 h 330"/>
                          <a:gd name="T18" fmla="*/ 146 w 171"/>
                          <a:gd name="T19" fmla="*/ 315 h 330"/>
                          <a:gd name="T20" fmla="*/ 123 w 171"/>
                          <a:gd name="T21" fmla="*/ 296 h 330"/>
                          <a:gd name="T22" fmla="*/ 98 w 171"/>
                          <a:gd name="T23" fmla="*/ 278 h 330"/>
                          <a:gd name="T24" fmla="*/ 69 w 171"/>
                          <a:gd name="T25" fmla="*/ 268 h 330"/>
                          <a:gd name="T26" fmla="*/ 39 w 171"/>
                          <a:gd name="T27" fmla="*/ 262 h 330"/>
                          <a:gd name="T28" fmla="*/ 64 w 171"/>
                          <a:gd name="T29" fmla="*/ 253 h 330"/>
                          <a:gd name="T30" fmla="*/ 87 w 171"/>
                          <a:gd name="T31" fmla="*/ 252 h 330"/>
                          <a:gd name="T32" fmla="*/ 109 w 171"/>
                          <a:gd name="T33" fmla="*/ 258 h 330"/>
                          <a:gd name="T34" fmla="*/ 126 w 171"/>
                          <a:gd name="T35" fmla="*/ 272 h 330"/>
                          <a:gd name="T36" fmla="*/ 110 w 171"/>
                          <a:gd name="T37" fmla="*/ 219 h 330"/>
                          <a:gd name="T38" fmla="*/ 104 w 171"/>
                          <a:gd name="T39" fmla="*/ 174 h 330"/>
                          <a:gd name="T40" fmla="*/ 72 w 171"/>
                          <a:gd name="T41" fmla="*/ 159 h 330"/>
                          <a:gd name="T42" fmla="*/ 52 w 171"/>
                          <a:gd name="T43" fmla="*/ 143 h 330"/>
                          <a:gd name="T44" fmla="*/ 43 w 171"/>
                          <a:gd name="T45" fmla="*/ 128 h 330"/>
                          <a:gd name="T46" fmla="*/ 49 w 171"/>
                          <a:gd name="T47" fmla="*/ 114 h 330"/>
                          <a:gd name="T48" fmla="*/ 61 w 171"/>
                          <a:gd name="T49" fmla="*/ 108 h 330"/>
                          <a:gd name="T50" fmla="*/ 77 w 171"/>
                          <a:gd name="T51" fmla="*/ 103 h 330"/>
                          <a:gd name="T52" fmla="*/ 90 w 171"/>
                          <a:gd name="T53" fmla="*/ 105 h 330"/>
                          <a:gd name="T54" fmla="*/ 89 w 171"/>
                          <a:gd name="T55" fmla="*/ 86 h 330"/>
                          <a:gd name="T56" fmla="*/ 66 w 171"/>
                          <a:gd name="T57" fmla="*/ 82 h 330"/>
                          <a:gd name="T58" fmla="*/ 46 w 171"/>
                          <a:gd name="T59" fmla="*/ 71 h 330"/>
                          <a:gd name="T60" fmla="*/ 31 w 171"/>
                          <a:gd name="T61" fmla="*/ 49 h 330"/>
                          <a:gd name="T62" fmla="*/ 27 w 171"/>
                          <a:gd name="T63" fmla="*/ 18 h 330"/>
                          <a:gd name="T64" fmla="*/ 0 w 171"/>
                          <a:gd name="T65" fmla="*/ 0 h 3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</a:cxnLst>
                        <a:rect l="0" t="0" r="r" b="b"/>
                        <a:pathLst>
                          <a:path w="171" h="330">
                            <a:moveTo>
                              <a:pt x="0" y="0"/>
                            </a:moveTo>
                            <a:lnTo>
                              <a:pt x="46" y="9"/>
                            </a:lnTo>
                            <a:lnTo>
                              <a:pt x="73" y="28"/>
                            </a:lnTo>
                            <a:lnTo>
                              <a:pt x="87" y="52"/>
                            </a:lnTo>
                            <a:lnTo>
                              <a:pt x="100" y="28"/>
                            </a:lnTo>
                            <a:lnTo>
                              <a:pt x="110" y="128"/>
                            </a:lnTo>
                            <a:lnTo>
                              <a:pt x="119" y="199"/>
                            </a:lnTo>
                            <a:lnTo>
                              <a:pt x="132" y="254"/>
                            </a:lnTo>
                            <a:lnTo>
                              <a:pt x="171" y="330"/>
                            </a:lnTo>
                            <a:lnTo>
                              <a:pt x="146" y="315"/>
                            </a:lnTo>
                            <a:lnTo>
                              <a:pt x="123" y="296"/>
                            </a:lnTo>
                            <a:lnTo>
                              <a:pt x="98" y="278"/>
                            </a:lnTo>
                            <a:lnTo>
                              <a:pt x="69" y="268"/>
                            </a:lnTo>
                            <a:lnTo>
                              <a:pt x="39" y="262"/>
                            </a:lnTo>
                            <a:lnTo>
                              <a:pt x="64" y="253"/>
                            </a:lnTo>
                            <a:lnTo>
                              <a:pt x="87" y="252"/>
                            </a:lnTo>
                            <a:lnTo>
                              <a:pt x="109" y="258"/>
                            </a:lnTo>
                            <a:lnTo>
                              <a:pt x="126" y="272"/>
                            </a:lnTo>
                            <a:lnTo>
                              <a:pt x="110" y="219"/>
                            </a:lnTo>
                            <a:lnTo>
                              <a:pt x="104" y="174"/>
                            </a:lnTo>
                            <a:lnTo>
                              <a:pt x="72" y="159"/>
                            </a:lnTo>
                            <a:lnTo>
                              <a:pt x="52" y="143"/>
                            </a:lnTo>
                            <a:lnTo>
                              <a:pt x="43" y="128"/>
                            </a:lnTo>
                            <a:lnTo>
                              <a:pt x="49" y="114"/>
                            </a:lnTo>
                            <a:lnTo>
                              <a:pt x="61" y="108"/>
                            </a:lnTo>
                            <a:lnTo>
                              <a:pt x="77" y="103"/>
                            </a:lnTo>
                            <a:lnTo>
                              <a:pt x="90" y="105"/>
                            </a:lnTo>
                            <a:lnTo>
                              <a:pt x="89" y="86"/>
                            </a:lnTo>
                            <a:lnTo>
                              <a:pt x="66" y="82"/>
                            </a:lnTo>
                            <a:lnTo>
                              <a:pt x="46" y="71"/>
                            </a:lnTo>
                            <a:lnTo>
                              <a:pt x="31" y="49"/>
                            </a:lnTo>
                            <a:lnTo>
                              <a:pt x="27" y="1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3" name="Freeform 245"/>
                      <p:cNvSpPr/>
                      <p:nvPr/>
                    </p:nvSpPr>
                    <p:spPr bwMode="auto">
                      <a:xfrm>
                        <a:off x="2401" y="3190"/>
                        <a:ext cx="16" cy="20"/>
                      </a:xfrm>
                      <a:custGeom>
                        <a:avLst/>
                        <a:gdLst>
                          <a:gd name="T0" fmla="*/ 0 w 113"/>
                          <a:gd name="T1" fmla="*/ 157 h 157"/>
                          <a:gd name="T2" fmla="*/ 11 w 113"/>
                          <a:gd name="T3" fmla="*/ 120 h 157"/>
                          <a:gd name="T4" fmla="*/ 14 w 113"/>
                          <a:gd name="T5" fmla="*/ 91 h 157"/>
                          <a:gd name="T6" fmla="*/ 19 w 113"/>
                          <a:gd name="T7" fmla="*/ 66 h 157"/>
                          <a:gd name="T8" fmla="*/ 25 w 113"/>
                          <a:gd name="T9" fmla="*/ 53 h 157"/>
                          <a:gd name="T10" fmla="*/ 34 w 113"/>
                          <a:gd name="T11" fmla="*/ 38 h 157"/>
                          <a:gd name="T12" fmla="*/ 47 w 113"/>
                          <a:gd name="T13" fmla="*/ 27 h 157"/>
                          <a:gd name="T14" fmla="*/ 68 w 113"/>
                          <a:gd name="T15" fmla="*/ 18 h 157"/>
                          <a:gd name="T16" fmla="*/ 88 w 113"/>
                          <a:gd name="T17" fmla="*/ 10 h 157"/>
                          <a:gd name="T18" fmla="*/ 113 w 113"/>
                          <a:gd name="T19" fmla="*/ 0 h 157"/>
                          <a:gd name="T20" fmla="*/ 92 w 113"/>
                          <a:gd name="T21" fmla="*/ 23 h 157"/>
                          <a:gd name="T22" fmla="*/ 78 w 113"/>
                          <a:gd name="T23" fmla="*/ 34 h 157"/>
                          <a:gd name="T24" fmla="*/ 60 w 113"/>
                          <a:gd name="T25" fmla="*/ 51 h 157"/>
                          <a:gd name="T26" fmla="*/ 51 w 113"/>
                          <a:gd name="T27" fmla="*/ 76 h 157"/>
                          <a:gd name="T28" fmla="*/ 44 w 113"/>
                          <a:gd name="T29" fmla="*/ 100 h 157"/>
                          <a:gd name="T30" fmla="*/ 33 w 113"/>
                          <a:gd name="T31" fmla="*/ 121 h 157"/>
                          <a:gd name="T32" fmla="*/ 21 w 113"/>
                          <a:gd name="T33" fmla="*/ 138 h 157"/>
                          <a:gd name="T34" fmla="*/ 0 w 113"/>
                          <a:gd name="T35" fmla="*/ 157 h 15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113" h="157">
                            <a:moveTo>
                              <a:pt x="0" y="157"/>
                            </a:moveTo>
                            <a:lnTo>
                              <a:pt x="11" y="120"/>
                            </a:lnTo>
                            <a:lnTo>
                              <a:pt x="14" y="91"/>
                            </a:lnTo>
                            <a:lnTo>
                              <a:pt x="19" y="66"/>
                            </a:lnTo>
                            <a:lnTo>
                              <a:pt x="25" y="53"/>
                            </a:lnTo>
                            <a:lnTo>
                              <a:pt x="34" y="38"/>
                            </a:lnTo>
                            <a:lnTo>
                              <a:pt x="47" y="27"/>
                            </a:lnTo>
                            <a:lnTo>
                              <a:pt x="68" y="18"/>
                            </a:lnTo>
                            <a:lnTo>
                              <a:pt x="88" y="10"/>
                            </a:lnTo>
                            <a:lnTo>
                              <a:pt x="113" y="0"/>
                            </a:lnTo>
                            <a:lnTo>
                              <a:pt x="92" y="23"/>
                            </a:lnTo>
                            <a:lnTo>
                              <a:pt x="78" y="34"/>
                            </a:lnTo>
                            <a:lnTo>
                              <a:pt x="60" y="51"/>
                            </a:lnTo>
                            <a:lnTo>
                              <a:pt x="51" y="76"/>
                            </a:lnTo>
                            <a:lnTo>
                              <a:pt x="44" y="100"/>
                            </a:lnTo>
                            <a:lnTo>
                              <a:pt x="33" y="121"/>
                            </a:lnTo>
                            <a:lnTo>
                              <a:pt x="21" y="138"/>
                            </a:lnTo>
                            <a:lnTo>
                              <a:pt x="0" y="157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4" name="Freeform 246"/>
                      <p:cNvSpPr/>
                      <p:nvPr/>
                    </p:nvSpPr>
                    <p:spPr bwMode="auto">
                      <a:xfrm>
                        <a:off x="2415" y="3188"/>
                        <a:ext cx="12" cy="10"/>
                      </a:xfrm>
                      <a:custGeom>
                        <a:avLst/>
                        <a:gdLst>
                          <a:gd name="T0" fmla="*/ 10 w 83"/>
                          <a:gd name="T1" fmla="*/ 23 h 83"/>
                          <a:gd name="T2" fmla="*/ 17 w 83"/>
                          <a:gd name="T3" fmla="*/ 34 h 83"/>
                          <a:gd name="T4" fmla="*/ 19 w 83"/>
                          <a:gd name="T5" fmla="*/ 52 h 83"/>
                          <a:gd name="T6" fmla="*/ 14 w 83"/>
                          <a:gd name="T7" fmla="*/ 67 h 83"/>
                          <a:gd name="T8" fmla="*/ 0 w 83"/>
                          <a:gd name="T9" fmla="*/ 83 h 83"/>
                          <a:gd name="T10" fmla="*/ 21 w 83"/>
                          <a:gd name="T11" fmla="*/ 79 h 83"/>
                          <a:gd name="T12" fmla="*/ 36 w 83"/>
                          <a:gd name="T13" fmla="*/ 72 h 83"/>
                          <a:gd name="T14" fmla="*/ 49 w 83"/>
                          <a:gd name="T15" fmla="*/ 61 h 83"/>
                          <a:gd name="T16" fmla="*/ 58 w 83"/>
                          <a:gd name="T17" fmla="*/ 50 h 83"/>
                          <a:gd name="T18" fmla="*/ 66 w 83"/>
                          <a:gd name="T19" fmla="*/ 58 h 83"/>
                          <a:gd name="T20" fmla="*/ 72 w 83"/>
                          <a:gd name="T21" fmla="*/ 65 h 83"/>
                          <a:gd name="T22" fmla="*/ 74 w 83"/>
                          <a:gd name="T23" fmla="*/ 83 h 83"/>
                          <a:gd name="T24" fmla="*/ 81 w 83"/>
                          <a:gd name="T25" fmla="*/ 53 h 83"/>
                          <a:gd name="T26" fmla="*/ 83 w 83"/>
                          <a:gd name="T27" fmla="*/ 30 h 83"/>
                          <a:gd name="T28" fmla="*/ 80 w 83"/>
                          <a:gd name="T29" fmla="*/ 11 h 83"/>
                          <a:gd name="T30" fmla="*/ 74 w 83"/>
                          <a:gd name="T31" fmla="*/ 0 h 83"/>
                          <a:gd name="T32" fmla="*/ 59 w 83"/>
                          <a:gd name="T33" fmla="*/ 0 h 83"/>
                          <a:gd name="T34" fmla="*/ 38 w 83"/>
                          <a:gd name="T35" fmla="*/ 7 h 83"/>
                          <a:gd name="T36" fmla="*/ 21 w 83"/>
                          <a:gd name="T37" fmla="*/ 14 h 83"/>
                          <a:gd name="T38" fmla="*/ 10 w 83"/>
                          <a:gd name="T39" fmla="*/ 23 h 8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83" h="83">
                            <a:moveTo>
                              <a:pt x="10" y="23"/>
                            </a:moveTo>
                            <a:lnTo>
                              <a:pt x="17" y="34"/>
                            </a:lnTo>
                            <a:lnTo>
                              <a:pt x="19" y="52"/>
                            </a:lnTo>
                            <a:lnTo>
                              <a:pt x="14" y="67"/>
                            </a:lnTo>
                            <a:lnTo>
                              <a:pt x="0" y="83"/>
                            </a:lnTo>
                            <a:lnTo>
                              <a:pt x="21" y="79"/>
                            </a:lnTo>
                            <a:lnTo>
                              <a:pt x="36" y="72"/>
                            </a:lnTo>
                            <a:lnTo>
                              <a:pt x="49" y="61"/>
                            </a:lnTo>
                            <a:lnTo>
                              <a:pt x="58" y="50"/>
                            </a:lnTo>
                            <a:lnTo>
                              <a:pt x="66" y="58"/>
                            </a:lnTo>
                            <a:lnTo>
                              <a:pt x="72" y="65"/>
                            </a:lnTo>
                            <a:lnTo>
                              <a:pt x="74" y="83"/>
                            </a:lnTo>
                            <a:lnTo>
                              <a:pt x="81" y="53"/>
                            </a:lnTo>
                            <a:lnTo>
                              <a:pt x="83" y="30"/>
                            </a:lnTo>
                            <a:lnTo>
                              <a:pt x="80" y="11"/>
                            </a:lnTo>
                            <a:lnTo>
                              <a:pt x="74" y="0"/>
                            </a:lnTo>
                            <a:lnTo>
                              <a:pt x="59" y="0"/>
                            </a:lnTo>
                            <a:lnTo>
                              <a:pt x="38" y="7"/>
                            </a:lnTo>
                            <a:lnTo>
                              <a:pt x="21" y="14"/>
                            </a:lnTo>
                            <a:lnTo>
                              <a:pt x="10" y="23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5" name="Freeform 247"/>
                      <p:cNvSpPr/>
                      <p:nvPr/>
                    </p:nvSpPr>
                    <p:spPr bwMode="auto">
                      <a:xfrm>
                        <a:off x="2427" y="3193"/>
                        <a:ext cx="11" cy="23"/>
                      </a:xfrm>
                      <a:custGeom>
                        <a:avLst/>
                        <a:gdLst>
                          <a:gd name="T0" fmla="*/ 0 w 72"/>
                          <a:gd name="T1" fmla="*/ 0 h 186"/>
                          <a:gd name="T2" fmla="*/ 27 w 72"/>
                          <a:gd name="T3" fmla="*/ 22 h 186"/>
                          <a:gd name="T4" fmla="*/ 40 w 72"/>
                          <a:gd name="T5" fmla="*/ 44 h 186"/>
                          <a:gd name="T6" fmla="*/ 47 w 72"/>
                          <a:gd name="T7" fmla="*/ 74 h 186"/>
                          <a:gd name="T8" fmla="*/ 48 w 72"/>
                          <a:gd name="T9" fmla="*/ 106 h 186"/>
                          <a:gd name="T10" fmla="*/ 45 w 72"/>
                          <a:gd name="T11" fmla="*/ 134 h 186"/>
                          <a:gd name="T12" fmla="*/ 36 w 72"/>
                          <a:gd name="T13" fmla="*/ 158 h 186"/>
                          <a:gd name="T14" fmla="*/ 15 w 72"/>
                          <a:gd name="T15" fmla="*/ 186 h 186"/>
                          <a:gd name="T16" fmla="*/ 39 w 72"/>
                          <a:gd name="T17" fmla="*/ 171 h 186"/>
                          <a:gd name="T18" fmla="*/ 58 w 72"/>
                          <a:gd name="T19" fmla="*/ 148 h 186"/>
                          <a:gd name="T20" fmla="*/ 70 w 72"/>
                          <a:gd name="T21" fmla="*/ 118 h 186"/>
                          <a:gd name="T22" fmla="*/ 72 w 72"/>
                          <a:gd name="T23" fmla="*/ 82 h 186"/>
                          <a:gd name="T24" fmla="*/ 66 w 72"/>
                          <a:gd name="T25" fmla="*/ 50 h 186"/>
                          <a:gd name="T26" fmla="*/ 48 w 72"/>
                          <a:gd name="T27" fmla="*/ 26 h 186"/>
                          <a:gd name="T28" fmla="*/ 28 w 72"/>
                          <a:gd name="T29" fmla="*/ 10 h 186"/>
                          <a:gd name="T30" fmla="*/ 0 w 72"/>
                          <a:gd name="T31" fmla="*/ 0 h 18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72" h="186">
                            <a:moveTo>
                              <a:pt x="0" y="0"/>
                            </a:moveTo>
                            <a:lnTo>
                              <a:pt x="27" y="22"/>
                            </a:lnTo>
                            <a:lnTo>
                              <a:pt x="40" y="44"/>
                            </a:lnTo>
                            <a:lnTo>
                              <a:pt x="47" y="74"/>
                            </a:lnTo>
                            <a:lnTo>
                              <a:pt x="48" y="106"/>
                            </a:lnTo>
                            <a:lnTo>
                              <a:pt x="45" y="134"/>
                            </a:lnTo>
                            <a:lnTo>
                              <a:pt x="36" y="158"/>
                            </a:lnTo>
                            <a:lnTo>
                              <a:pt x="15" y="186"/>
                            </a:lnTo>
                            <a:lnTo>
                              <a:pt x="39" y="171"/>
                            </a:lnTo>
                            <a:lnTo>
                              <a:pt x="58" y="148"/>
                            </a:lnTo>
                            <a:lnTo>
                              <a:pt x="70" y="118"/>
                            </a:lnTo>
                            <a:lnTo>
                              <a:pt x="72" y="82"/>
                            </a:lnTo>
                            <a:lnTo>
                              <a:pt x="66" y="50"/>
                            </a:lnTo>
                            <a:lnTo>
                              <a:pt x="48" y="26"/>
                            </a:lnTo>
                            <a:lnTo>
                              <a:pt x="28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6" name="Freeform 248"/>
                      <p:cNvSpPr/>
                      <p:nvPr/>
                    </p:nvSpPr>
                    <p:spPr bwMode="auto">
                      <a:xfrm>
                        <a:off x="2458" y="3188"/>
                        <a:ext cx="11" cy="12"/>
                      </a:xfrm>
                      <a:custGeom>
                        <a:avLst/>
                        <a:gdLst>
                          <a:gd name="T0" fmla="*/ 0 w 75"/>
                          <a:gd name="T1" fmla="*/ 94 h 94"/>
                          <a:gd name="T2" fmla="*/ 26 w 75"/>
                          <a:gd name="T3" fmla="*/ 68 h 94"/>
                          <a:gd name="T4" fmla="*/ 49 w 75"/>
                          <a:gd name="T5" fmla="*/ 45 h 94"/>
                          <a:gd name="T6" fmla="*/ 75 w 75"/>
                          <a:gd name="T7" fmla="*/ 0 h 94"/>
                          <a:gd name="T8" fmla="*/ 49 w 75"/>
                          <a:gd name="T9" fmla="*/ 19 h 94"/>
                          <a:gd name="T10" fmla="*/ 26 w 75"/>
                          <a:gd name="T11" fmla="*/ 51 h 94"/>
                          <a:gd name="T12" fmla="*/ 0 w 75"/>
                          <a:gd name="T13" fmla="*/ 94 h 9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75" h="94">
                            <a:moveTo>
                              <a:pt x="0" y="94"/>
                            </a:moveTo>
                            <a:lnTo>
                              <a:pt x="26" y="68"/>
                            </a:lnTo>
                            <a:lnTo>
                              <a:pt x="49" y="45"/>
                            </a:lnTo>
                            <a:lnTo>
                              <a:pt x="75" y="0"/>
                            </a:lnTo>
                            <a:lnTo>
                              <a:pt x="49" y="19"/>
                            </a:lnTo>
                            <a:lnTo>
                              <a:pt x="26" y="51"/>
                            </a:lnTo>
                            <a:lnTo>
                              <a:pt x="0" y="94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7" name="Freeform 249"/>
                      <p:cNvSpPr/>
                      <p:nvPr/>
                    </p:nvSpPr>
                    <p:spPr bwMode="auto">
                      <a:xfrm>
                        <a:off x="2413" y="3198"/>
                        <a:ext cx="7" cy="19"/>
                      </a:xfrm>
                      <a:custGeom>
                        <a:avLst/>
                        <a:gdLst>
                          <a:gd name="T0" fmla="*/ 31 w 50"/>
                          <a:gd name="T1" fmla="*/ 152 h 152"/>
                          <a:gd name="T2" fmla="*/ 37 w 50"/>
                          <a:gd name="T3" fmla="*/ 128 h 152"/>
                          <a:gd name="T4" fmla="*/ 46 w 50"/>
                          <a:gd name="T5" fmla="*/ 108 h 152"/>
                          <a:gd name="T6" fmla="*/ 37 w 50"/>
                          <a:gd name="T7" fmla="*/ 89 h 152"/>
                          <a:gd name="T8" fmla="*/ 31 w 50"/>
                          <a:gd name="T9" fmla="*/ 68 h 152"/>
                          <a:gd name="T10" fmla="*/ 33 w 50"/>
                          <a:gd name="T11" fmla="*/ 41 h 152"/>
                          <a:gd name="T12" fmla="*/ 38 w 50"/>
                          <a:gd name="T13" fmla="*/ 24 h 152"/>
                          <a:gd name="T14" fmla="*/ 50 w 50"/>
                          <a:gd name="T15" fmla="*/ 0 h 152"/>
                          <a:gd name="T16" fmla="*/ 30 w 50"/>
                          <a:gd name="T17" fmla="*/ 19 h 152"/>
                          <a:gd name="T18" fmla="*/ 14 w 50"/>
                          <a:gd name="T19" fmla="*/ 37 h 152"/>
                          <a:gd name="T20" fmla="*/ 6 w 50"/>
                          <a:gd name="T21" fmla="*/ 56 h 152"/>
                          <a:gd name="T22" fmla="*/ 0 w 50"/>
                          <a:gd name="T23" fmla="*/ 88 h 152"/>
                          <a:gd name="T24" fmla="*/ 6 w 50"/>
                          <a:gd name="T25" fmla="*/ 113 h 152"/>
                          <a:gd name="T26" fmla="*/ 17 w 50"/>
                          <a:gd name="T27" fmla="*/ 135 h 152"/>
                          <a:gd name="T28" fmla="*/ 31 w 50"/>
                          <a:gd name="T29" fmla="*/ 152 h 15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</a:cxnLst>
                        <a:rect l="0" t="0" r="r" b="b"/>
                        <a:pathLst>
                          <a:path w="50" h="152">
                            <a:moveTo>
                              <a:pt x="31" y="152"/>
                            </a:moveTo>
                            <a:lnTo>
                              <a:pt x="37" y="128"/>
                            </a:lnTo>
                            <a:lnTo>
                              <a:pt x="46" y="108"/>
                            </a:lnTo>
                            <a:lnTo>
                              <a:pt x="37" y="89"/>
                            </a:lnTo>
                            <a:lnTo>
                              <a:pt x="31" y="68"/>
                            </a:lnTo>
                            <a:lnTo>
                              <a:pt x="33" y="41"/>
                            </a:lnTo>
                            <a:lnTo>
                              <a:pt x="38" y="24"/>
                            </a:lnTo>
                            <a:lnTo>
                              <a:pt x="50" y="0"/>
                            </a:lnTo>
                            <a:lnTo>
                              <a:pt x="30" y="19"/>
                            </a:lnTo>
                            <a:lnTo>
                              <a:pt x="14" y="37"/>
                            </a:lnTo>
                            <a:lnTo>
                              <a:pt x="6" y="56"/>
                            </a:lnTo>
                            <a:lnTo>
                              <a:pt x="0" y="88"/>
                            </a:lnTo>
                            <a:lnTo>
                              <a:pt x="6" y="113"/>
                            </a:lnTo>
                            <a:lnTo>
                              <a:pt x="17" y="135"/>
                            </a:lnTo>
                            <a:lnTo>
                              <a:pt x="31" y="152"/>
                            </a:lnTo>
                            <a:close/>
                          </a:path>
                        </a:pathLst>
                      </a:custGeom>
                      <a:solidFill>
                        <a:srgbClr val="F0F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298" name="Freeform 250"/>
                      <p:cNvSpPr/>
                      <p:nvPr/>
                    </p:nvSpPr>
                    <p:spPr bwMode="auto">
                      <a:xfrm>
                        <a:off x="2403" y="3080"/>
                        <a:ext cx="5" cy="10"/>
                      </a:xfrm>
                      <a:custGeom>
                        <a:avLst/>
                        <a:gdLst>
                          <a:gd name="T0" fmla="*/ 37 w 37"/>
                          <a:gd name="T1" fmla="*/ 0 h 81"/>
                          <a:gd name="T2" fmla="*/ 28 w 37"/>
                          <a:gd name="T3" fmla="*/ 14 h 81"/>
                          <a:gd name="T4" fmla="*/ 23 w 37"/>
                          <a:gd name="T5" fmla="*/ 27 h 81"/>
                          <a:gd name="T6" fmla="*/ 18 w 37"/>
                          <a:gd name="T7" fmla="*/ 39 h 81"/>
                          <a:gd name="T8" fmla="*/ 16 w 37"/>
                          <a:gd name="T9" fmla="*/ 52 h 81"/>
                          <a:gd name="T10" fmla="*/ 18 w 37"/>
                          <a:gd name="T11" fmla="*/ 65 h 81"/>
                          <a:gd name="T12" fmla="*/ 20 w 37"/>
                          <a:gd name="T13" fmla="*/ 81 h 81"/>
                          <a:gd name="T14" fmla="*/ 14 w 37"/>
                          <a:gd name="T15" fmla="*/ 69 h 81"/>
                          <a:gd name="T16" fmla="*/ 10 w 37"/>
                          <a:gd name="T17" fmla="*/ 52 h 81"/>
                          <a:gd name="T18" fmla="*/ 7 w 37"/>
                          <a:gd name="T19" fmla="*/ 43 h 81"/>
                          <a:gd name="T20" fmla="*/ 0 w 37"/>
                          <a:gd name="T21" fmla="*/ 33 h 81"/>
                          <a:gd name="T22" fmla="*/ 10 w 37"/>
                          <a:gd name="T23" fmla="*/ 32 h 81"/>
                          <a:gd name="T24" fmla="*/ 18 w 37"/>
                          <a:gd name="T25" fmla="*/ 22 h 81"/>
                          <a:gd name="T26" fmla="*/ 27 w 37"/>
                          <a:gd name="T27" fmla="*/ 11 h 81"/>
                          <a:gd name="T28" fmla="*/ 37 w 37"/>
                          <a:gd name="T29" fmla="*/ 0 h 8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</a:cxnLst>
                        <a:rect l="0" t="0" r="r" b="b"/>
                        <a:pathLst>
                          <a:path w="37" h="81">
                            <a:moveTo>
                              <a:pt x="37" y="0"/>
                            </a:moveTo>
                            <a:lnTo>
                              <a:pt x="28" y="14"/>
                            </a:lnTo>
                            <a:lnTo>
                              <a:pt x="23" y="27"/>
                            </a:lnTo>
                            <a:lnTo>
                              <a:pt x="18" y="39"/>
                            </a:lnTo>
                            <a:lnTo>
                              <a:pt x="16" y="52"/>
                            </a:lnTo>
                            <a:lnTo>
                              <a:pt x="18" y="65"/>
                            </a:lnTo>
                            <a:lnTo>
                              <a:pt x="20" y="81"/>
                            </a:lnTo>
                            <a:lnTo>
                              <a:pt x="14" y="69"/>
                            </a:lnTo>
                            <a:lnTo>
                              <a:pt x="10" y="52"/>
                            </a:lnTo>
                            <a:lnTo>
                              <a:pt x="7" y="43"/>
                            </a:lnTo>
                            <a:lnTo>
                              <a:pt x="0" y="33"/>
                            </a:lnTo>
                            <a:lnTo>
                              <a:pt x="10" y="32"/>
                            </a:lnTo>
                            <a:lnTo>
                              <a:pt x="18" y="22"/>
                            </a:lnTo>
                            <a:lnTo>
                              <a:pt x="27" y="11"/>
                            </a:lnTo>
                            <a:lnTo>
                              <a:pt x="37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642299" name="Group 251"/>
                  <p:cNvGrpSpPr/>
                  <p:nvPr/>
                </p:nvGrpSpPr>
                <p:grpSpPr bwMode="auto">
                  <a:xfrm>
                    <a:off x="2442" y="3102"/>
                    <a:ext cx="18" cy="67"/>
                    <a:chOff x="2442" y="3102"/>
                    <a:chExt cx="18" cy="67"/>
                  </a:xfrm>
                </p:grpSpPr>
                <p:sp>
                  <p:nvSpPr>
                    <p:cNvPr id="642300" name="Freeform 252"/>
                    <p:cNvSpPr/>
                    <p:nvPr/>
                  </p:nvSpPr>
                  <p:spPr bwMode="auto">
                    <a:xfrm>
                      <a:off x="2442" y="3102"/>
                      <a:ext cx="18" cy="67"/>
                    </a:xfrm>
                    <a:custGeom>
                      <a:avLst/>
                      <a:gdLst>
                        <a:gd name="T0" fmla="*/ 5 w 131"/>
                        <a:gd name="T1" fmla="*/ 0 h 528"/>
                        <a:gd name="T2" fmla="*/ 3 w 131"/>
                        <a:gd name="T3" fmla="*/ 10 h 528"/>
                        <a:gd name="T4" fmla="*/ 7 w 131"/>
                        <a:gd name="T5" fmla="*/ 28 h 528"/>
                        <a:gd name="T6" fmla="*/ 9 w 131"/>
                        <a:gd name="T7" fmla="*/ 48 h 528"/>
                        <a:gd name="T8" fmla="*/ 5 w 131"/>
                        <a:gd name="T9" fmla="*/ 68 h 528"/>
                        <a:gd name="T10" fmla="*/ 0 w 131"/>
                        <a:gd name="T11" fmla="*/ 78 h 528"/>
                        <a:gd name="T12" fmla="*/ 3 w 131"/>
                        <a:gd name="T13" fmla="*/ 90 h 528"/>
                        <a:gd name="T14" fmla="*/ 11 w 131"/>
                        <a:gd name="T15" fmla="*/ 96 h 528"/>
                        <a:gd name="T16" fmla="*/ 15 w 131"/>
                        <a:gd name="T17" fmla="*/ 117 h 528"/>
                        <a:gd name="T18" fmla="*/ 16 w 131"/>
                        <a:gd name="T19" fmla="*/ 139 h 528"/>
                        <a:gd name="T20" fmla="*/ 10 w 131"/>
                        <a:gd name="T21" fmla="*/ 150 h 528"/>
                        <a:gd name="T22" fmla="*/ 5 w 131"/>
                        <a:gd name="T23" fmla="*/ 162 h 528"/>
                        <a:gd name="T24" fmla="*/ 9 w 131"/>
                        <a:gd name="T25" fmla="*/ 186 h 528"/>
                        <a:gd name="T26" fmla="*/ 16 w 131"/>
                        <a:gd name="T27" fmla="*/ 208 h 528"/>
                        <a:gd name="T28" fmla="*/ 26 w 131"/>
                        <a:gd name="T29" fmla="*/ 222 h 528"/>
                        <a:gd name="T30" fmla="*/ 34 w 131"/>
                        <a:gd name="T31" fmla="*/ 251 h 528"/>
                        <a:gd name="T32" fmla="*/ 38 w 131"/>
                        <a:gd name="T33" fmla="*/ 284 h 528"/>
                        <a:gd name="T34" fmla="*/ 33 w 131"/>
                        <a:gd name="T35" fmla="*/ 300 h 528"/>
                        <a:gd name="T36" fmla="*/ 30 w 131"/>
                        <a:gd name="T37" fmla="*/ 314 h 528"/>
                        <a:gd name="T38" fmla="*/ 32 w 131"/>
                        <a:gd name="T39" fmla="*/ 330 h 528"/>
                        <a:gd name="T40" fmla="*/ 37 w 131"/>
                        <a:gd name="T41" fmla="*/ 345 h 528"/>
                        <a:gd name="T42" fmla="*/ 42 w 131"/>
                        <a:gd name="T43" fmla="*/ 363 h 528"/>
                        <a:gd name="T44" fmla="*/ 39 w 131"/>
                        <a:gd name="T45" fmla="*/ 445 h 528"/>
                        <a:gd name="T46" fmla="*/ 43 w 131"/>
                        <a:gd name="T47" fmla="*/ 528 h 528"/>
                        <a:gd name="T48" fmla="*/ 129 w 131"/>
                        <a:gd name="T49" fmla="*/ 428 h 528"/>
                        <a:gd name="T50" fmla="*/ 122 w 131"/>
                        <a:gd name="T51" fmla="*/ 375 h 528"/>
                        <a:gd name="T52" fmla="*/ 129 w 131"/>
                        <a:gd name="T53" fmla="*/ 308 h 528"/>
                        <a:gd name="T54" fmla="*/ 131 w 131"/>
                        <a:gd name="T55" fmla="*/ 241 h 528"/>
                        <a:gd name="T56" fmla="*/ 122 w 131"/>
                        <a:gd name="T57" fmla="*/ 162 h 528"/>
                        <a:gd name="T58" fmla="*/ 104 w 131"/>
                        <a:gd name="T59" fmla="*/ 135 h 528"/>
                        <a:gd name="T60" fmla="*/ 88 w 131"/>
                        <a:gd name="T61" fmla="*/ 117 h 528"/>
                        <a:gd name="T62" fmla="*/ 76 w 131"/>
                        <a:gd name="T63" fmla="*/ 101 h 528"/>
                        <a:gd name="T64" fmla="*/ 86 w 131"/>
                        <a:gd name="T65" fmla="*/ 96 h 528"/>
                        <a:gd name="T66" fmla="*/ 92 w 131"/>
                        <a:gd name="T67" fmla="*/ 90 h 528"/>
                        <a:gd name="T68" fmla="*/ 86 w 131"/>
                        <a:gd name="T69" fmla="*/ 68 h 528"/>
                        <a:gd name="T70" fmla="*/ 79 w 131"/>
                        <a:gd name="T71" fmla="*/ 45 h 528"/>
                        <a:gd name="T72" fmla="*/ 70 w 131"/>
                        <a:gd name="T73" fmla="*/ 23 h 528"/>
                        <a:gd name="T74" fmla="*/ 60 w 131"/>
                        <a:gd name="T75" fmla="*/ 0 h 528"/>
                        <a:gd name="T76" fmla="*/ 5 w 131"/>
                        <a:gd name="T77" fmla="*/ 0 h 5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</a:cxnLst>
                      <a:rect l="0" t="0" r="r" b="b"/>
                      <a:pathLst>
                        <a:path w="131" h="528">
                          <a:moveTo>
                            <a:pt x="5" y="0"/>
                          </a:moveTo>
                          <a:lnTo>
                            <a:pt x="3" y="10"/>
                          </a:lnTo>
                          <a:lnTo>
                            <a:pt x="7" y="28"/>
                          </a:lnTo>
                          <a:lnTo>
                            <a:pt x="9" y="48"/>
                          </a:lnTo>
                          <a:lnTo>
                            <a:pt x="5" y="68"/>
                          </a:lnTo>
                          <a:lnTo>
                            <a:pt x="0" y="78"/>
                          </a:lnTo>
                          <a:lnTo>
                            <a:pt x="3" y="90"/>
                          </a:lnTo>
                          <a:lnTo>
                            <a:pt x="11" y="96"/>
                          </a:lnTo>
                          <a:lnTo>
                            <a:pt x="15" y="117"/>
                          </a:lnTo>
                          <a:lnTo>
                            <a:pt x="16" y="139"/>
                          </a:lnTo>
                          <a:lnTo>
                            <a:pt x="10" y="150"/>
                          </a:lnTo>
                          <a:lnTo>
                            <a:pt x="5" y="162"/>
                          </a:lnTo>
                          <a:lnTo>
                            <a:pt x="9" y="186"/>
                          </a:lnTo>
                          <a:lnTo>
                            <a:pt x="16" y="208"/>
                          </a:lnTo>
                          <a:lnTo>
                            <a:pt x="26" y="222"/>
                          </a:lnTo>
                          <a:lnTo>
                            <a:pt x="34" y="251"/>
                          </a:lnTo>
                          <a:lnTo>
                            <a:pt x="38" y="284"/>
                          </a:lnTo>
                          <a:lnTo>
                            <a:pt x="33" y="300"/>
                          </a:lnTo>
                          <a:lnTo>
                            <a:pt x="30" y="314"/>
                          </a:lnTo>
                          <a:lnTo>
                            <a:pt x="32" y="330"/>
                          </a:lnTo>
                          <a:lnTo>
                            <a:pt x="37" y="345"/>
                          </a:lnTo>
                          <a:lnTo>
                            <a:pt x="42" y="363"/>
                          </a:lnTo>
                          <a:lnTo>
                            <a:pt x="39" y="445"/>
                          </a:lnTo>
                          <a:lnTo>
                            <a:pt x="43" y="528"/>
                          </a:lnTo>
                          <a:lnTo>
                            <a:pt x="129" y="428"/>
                          </a:lnTo>
                          <a:lnTo>
                            <a:pt x="122" y="375"/>
                          </a:lnTo>
                          <a:lnTo>
                            <a:pt x="129" y="308"/>
                          </a:lnTo>
                          <a:lnTo>
                            <a:pt x="131" y="241"/>
                          </a:lnTo>
                          <a:lnTo>
                            <a:pt x="122" y="162"/>
                          </a:lnTo>
                          <a:lnTo>
                            <a:pt x="104" y="135"/>
                          </a:lnTo>
                          <a:lnTo>
                            <a:pt x="88" y="117"/>
                          </a:lnTo>
                          <a:lnTo>
                            <a:pt x="76" y="101"/>
                          </a:lnTo>
                          <a:lnTo>
                            <a:pt x="86" y="96"/>
                          </a:lnTo>
                          <a:lnTo>
                            <a:pt x="92" y="90"/>
                          </a:lnTo>
                          <a:lnTo>
                            <a:pt x="86" y="68"/>
                          </a:lnTo>
                          <a:lnTo>
                            <a:pt x="79" y="45"/>
                          </a:lnTo>
                          <a:lnTo>
                            <a:pt x="70" y="23"/>
                          </a:lnTo>
                          <a:lnTo>
                            <a:pt x="60" y="0"/>
                          </a:lnTo>
                          <a:lnTo>
                            <a:pt x="5" y="0"/>
                          </a:lnTo>
                          <a:close/>
                        </a:path>
                      </a:pathLst>
                    </a:custGeom>
                    <a:solidFill>
                      <a:srgbClr val="0000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301" name="Freeform 253"/>
                    <p:cNvSpPr/>
                    <p:nvPr/>
                  </p:nvSpPr>
                  <p:spPr bwMode="auto">
                    <a:xfrm>
                      <a:off x="2449" y="3114"/>
                      <a:ext cx="9" cy="8"/>
                    </a:xfrm>
                    <a:custGeom>
                      <a:avLst/>
                      <a:gdLst>
                        <a:gd name="T0" fmla="*/ 68 w 68"/>
                        <a:gd name="T1" fmla="*/ 69 h 69"/>
                        <a:gd name="T2" fmla="*/ 33 w 68"/>
                        <a:gd name="T3" fmla="*/ 45 h 69"/>
                        <a:gd name="T4" fmla="*/ 0 w 68"/>
                        <a:gd name="T5" fmla="*/ 27 h 69"/>
                        <a:gd name="T6" fmla="*/ 8 w 68"/>
                        <a:gd name="T7" fmla="*/ 0 h 69"/>
                        <a:gd name="T8" fmla="*/ 27 w 68"/>
                        <a:gd name="T9" fmla="*/ 14 h 69"/>
                        <a:gd name="T10" fmla="*/ 37 w 68"/>
                        <a:gd name="T11" fmla="*/ 25 h 69"/>
                        <a:gd name="T12" fmla="*/ 56 w 68"/>
                        <a:gd name="T13" fmla="*/ 46 h 69"/>
                        <a:gd name="T14" fmla="*/ 68 w 68"/>
                        <a:gd name="T15" fmla="*/ 69 h 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8" h="69">
                          <a:moveTo>
                            <a:pt x="68" y="69"/>
                          </a:moveTo>
                          <a:lnTo>
                            <a:pt x="33" y="45"/>
                          </a:lnTo>
                          <a:lnTo>
                            <a:pt x="0" y="27"/>
                          </a:lnTo>
                          <a:lnTo>
                            <a:pt x="8" y="0"/>
                          </a:lnTo>
                          <a:lnTo>
                            <a:pt x="27" y="14"/>
                          </a:lnTo>
                          <a:lnTo>
                            <a:pt x="37" y="25"/>
                          </a:lnTo>
                          <a:lnTo>
                            <a:pt x="56" y="46"/>
                          </a:lnTo>
                          <a:lnTo>
                            <a:pt x="68" y="69"/>
                          </a:lnTo>
                          <a:close/>
                        </a:path>
                      </a:pathLst>
                    </a:custGeom>
                    <a:solidFill>
                      <a:srgbClr val="000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302" name="Freeform 254"/>
                    <p:cNvSpPr/>
                    <p:nvPr/>
                  </p:nvSpPr>
                  <p:spPr bwMode="auto">
                    <a:xfrm>
                      <a:off x="2443" y="3114"/>
                      <a:ext cx="17" cy="23"/>
                    </a:xfrm>
                    <a:custGeom>
                      <a:avLst/>
                      <a:gdLst>
                        <a:gd name="T0" fmla="*/ 5 w 121"/>
                        <a:gd name="T1" fmla="*/ 48 h 189"/>
                        <a:gd name="T2" fmla="*/ 3 w 121"/>
                        <a:gd name="T3" fmla="*/ 30 h 189"/>
                        <a:gd name="T4" fmla="*/ 0 w 121"/>
                        <a:gd name="T5" fmla="*/ 0 h 189"/>
                        <a:gd name="T6" fmla="*/ 10 w 121"/>
                        <a:gd name="T7" fmla="*/ 32 h 189"/>
                        <a:gd name="T8" fmla="*/ 19 w 121"/>
                        <a:gd name="T9" fmla="*/ 51 h 189"/>
                        <a:gd name="T10" fmla="*/ 41 w 121"/>
                        <a:gd name="T11" fmla="*/ 80 h 189"/>
                        <a:gd name="T12" fmla="*/ 59 w 121"/>
                        <a:gd name="T13" fmla="*/ 98 h 189"/>
                        <a:gd name="T14" fmla="*/ 91 w 121"/>
                        <a:gd name="T15" fmla="*/ 125 h 189"/>
                        <a:gd name="T16" fmla="*/ 121 w 121"/>
                        <a:gd name="T17" fmla="*/ 150 h 189"/>
                        <a:gd name="T18" fmla="*/ 121 w 121"/>
                        <a:gd name="T19" fmla="*/ 189 h 189"/>
                        <a:gd name="T20" fmla="*/ 90 w 121"/>
                        <a:gd name="T21" fmla="*/ 162 h 189"/>
                        <a:gd name="T22" fmla="*/ 59 w 121"/>
                        <a:gd name="T23" fmla="*/ 138 h 189"/>
                        <a:gd name="T24" fmla="*/ 39 w 121"/>
                        <a:gd name="T25" fmla="*/ 123 h 189"/>
                        <a:gd name="T26" fmla="*/ 41 w 121"/>
                        <a:gd name="T27" fmla="*/ 108 h 189"/>
                        <a:gd name="T28" fmla="*/ 38 w 121"/>
                        <a:gd name="T29" fmla="*/ 88 h 189"/>
                        <a:gd name="T30" fmla="*/ 23 w 121"/>
                        <a:gd name="T31" fmla="*/ 72 h 189"/>
                        <a:gd name="T32" fmla="*/ 5 w 121"/>
                        <a:gd name="T33" fmla="*/ 48 h 18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21" h="189">
                          <a:moveTo>
                            <a:pt x="5" y="48"/>
                          </a:moveTo>
                          <a:lnTo>
                            <a:pt x="3" y="30"/>
                          </a:lnTo>
                          <a:lnTo>
                            <a:pt x="0" y="0"/>
                          </a:lnTo>
                          <a:lnTo>
                            <a:pt x="10" y="32"/>
                          </a:lnTo>
                          <a:lnTo>
                            <a:pt x="19" y="51"/>
                          </a:lnTo>
                          <a:lnTo>
                            <a:pt x="41" y="80"/>
                          </a:lnTo>
                          <a:lnTo>
                            <a:pt x="59" y="98"/>
                          </a:lnTo>
                          <a:lnTo>
                            <a:pt x="91" y="125"/>
                          </a:lnTo>
                          <a:lnTo>
                            <a:pt x="121" y="150"/>
                          </a:lnTo>
                          <a:lnTo>
                            <a:pt x="121" y="189"/>
                          </a:lnTo>
                          <a:lnTo>
                            <a:pt x="90" y="162"/>
                          </a:lnTo>
                          <a:lnTo>
                            <a:pt x="59" y="138"/>
                          </a:lnTo>
                          <a:lnTo>
                            <a:pt x="39" y="123"/>
                          </a:lnTo>
                          <a:lnTo>
                            <a:pt x="41" y="108"/>
                          </a:lnTo>
                          <a:lnTo>
                            <a:pt x="38" y="88"/>
                          </a:lnTo>
                          <a:lnTo>
                            <a:pt x="23" y="72"/>
                          </a:lnTo>
                          <a:lnTo>
                            <a:pt x="5" y="48"/>
                          </a:lnTo>
                          <a:close/>
                        </a:path>
                      </a:pathLst>
                    </a:custGeom>
                    <a:solidFill>
                      <a:srgbClr val="000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303" name="Freeform 255"/>
                    <p:cNvSpPr/>
                    <p:nvPr/>
                  </p:nvSpPr>
                  <p:spPr bwMode="auto">
                    <a:xfrm>
                      <a:off x="2445" y="3138"/>
                      <a:ext cx="15" cy="17"/>
                    </a:xfrm>
                    <a:custGeom>
                      <a:avLst/>
                      <a:gdLst>
                        <a:gd name="T0" fmla="*/ 9 w 101"/>
                        <a:gd name="T1" fmla="*/ 0 h 133"/>
                        <a:gd name="T2" fmla="*/ 3 w 101"/>
                        <a:gd name="T3" fmla="*/ 12 h 133"/>
                        <a:gd name="T4" fmla="*/ 0 w 101"/>
                        <a:gd name="T5" fmla="*/ 26 h 133"/>
                        <a:gd name="T6" fmla="*/ 20 w 101"/>
                        <a:gd name="T7" fmla="*/ 31 h 133"/>
                        <a:gd name="T8" fmla="*/ 15 w 101"/>
                        <a:gd name="T9" fmla="*/ 64 h 133"/>
                        <a:gd name="T10" fmla="*/ 56 w 101"/>
                        <a:gd name="T11" fmla="*/ 93 h 133"/>
                        <a:gd name="T12" fmla="*/ 101 w 101"/>
                        <a:gd name="T13" fmla="*/ 133 h 133"/>
                        <a:gd name="T14" fmla="*/ 97 w 101"/>
                        <a:gd name="T15" fmla="*/ 89 h 133"/>
                        <a:gd name="T16" fmla="*/ 98 w 101"/>
                        <a:gd name="T17" fmla="*/ 73 h 133"/>
                        <a:gd name="T18" fmla="*/ 59 w 101"/>
                        <a:gd name="T19" fmla="*/ 41 h 133"/>
                        <a:gd name="T20" fmla="*/ 9 w 101"/>
                        <a:gd name="T21" fmla="*/ 0 h 1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01" h="133">
                          <a:moveTo>
                            <a:pt x="9" y="0"/>
                          </a:moveTo>
                          <a:lnTo>
                            <a:pt x="3" y="12"/>
                          </a:lnTo>
                          <a:lnTo>
                            <a:pt x="0" y="26"/>
                          </a:lnTo>
                          <a:lnTo>
                            <a:pt x="20" y="31"/>
                          </a:lnTo>
                          <a:lnTo>
                            <a:pt x="15" y="64"/>
                          </a:lnTo>
                          <a:lnTo>
                            <a:pt x="56" y="93"/>
                          </a:lnTo>
                          <a:lnTo>
                            <a:pt x="101" y="133"/>
                          </a:lnTo>
                          <a:lnTo>
                            <a:pt x="97" y="89"/>
                          </a:lnTo>
                          <a:lnTo>
                            <a:pt x="98" y="73"/>
                          </a:lnTo>
                          <a:lnTo>
                            <a:pt x="59" y="41"/>
                          </a:lnTo>
                          <a:lnTo>
                            <a:pt x="9" y="0"/>
                          </a:lnTo>
                          <a:close/>
                        </a:path>
                      </a:pathLst>
                    </a:custGeom>
                    <a:solidFill>
                      <a:srgbClr val="000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304" name="Freeform 256"/>
                    <p:cNvSpPr/>
                    <p:nvPr/>
                  </p:nvSpPr>
                  <p:spPr bwMode="auto">
                    <a:xfrm>
                      <a:off x="2443" y="3114"/>
                      <a:ext cx="8" cy="3"/>
                    </a:xfrm>
                    <a:custGeom>
                      <a:avLst/>
                      <a:gdLst>
                        <a:gd name="T0" fmla="*/ 0 w 54"/>
                        <a:gd name="T1" fmla="*/ 5 h 23"/>
                        <a:gd name="T2" fmla="*/ 25 w 54"/>
                        <a:gd name="T3" fmla="*/ 11 h 23"/>
                        <a:gd name="T4" fmla="*/ 40 w 54"/>
                        <a:gd name="T5" fmla="*/ 9 h 23"/>
                        <a:gd name="T6" fmla="*/ 54 w 54"/>
                        <a:gd name="T7" fmla="*/ 0 h 23"/>
                        <a:gd name="T8" fmla="*/ 45 w 54"/>
                        <a:gd name="T9" fmla="*/ 13 h 23"/>
                        <a:gd name="T10" fmla="*/ 36 w 54"/>
                        <a:gd name="T11" fmla="*/ 20 h 23"/>
                        <a:gd name="T12" fmla="*/ 23 w 54"/>
                        <a:gd name="T13" fmla="*/ 23 h 23"/>
                        <a:gd name="T14" fmla="*/ 0 w 54"/>
                        <a:gd name="T15" fmla="*/ 5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54" h="23">
                          <a:moveTo>
                            <a:pt x="0" y="5"/>
                          </a:moveTo>
                          <a:lnTo>
                            <a:pt x="25" y="11"/>
                          </a:lnTo>
                          <a:lnTo>
                            <a:pt x="40" y="9"/>
                          </a:lnTo>
                          <a:lnTo>
                            <a:pt x="54" y="0"/>
                          </a:lnTo>
                          <a:lnTo>
                            <a:pt x="45" y="13"/>
                          </a:lnTo>
                          <a:lnTo>
                            <a:pt x="36" y="20"/>
                          </a:lnTo>
                          <a:lnTo>
                            <a:pt x="23" y="23"/>
                          </a:lnTo>
                          <a:lnTo>
                            <a:pt x="0" y="5"/>
                          </a:lnTo>
                          <a:close/>
                        </a:path>
                      </a:pathLst>
                    </a:custGeom>
                    <a:solidFill>
                      <a:srgbClr val="000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642305" name="Group 257"/>
              <p:cNvGrpSpPr/>
              <p:nvPr/>
            </p:nvGrpSpPr>
            <p:grpSpPr bwMode="auto">
              <a:xfrm>
                <a:off x="2398" y="3018"/>
                <a:ext cx="78" cy="88"/>
                <a:chOff x="2398" y="3018"/>
                <a:chExt cx="78" cy="88"/>
              </a:xfrm>
            </p:grpSpPr>
            <p:grpSp>
              <p:nvGrpSpPr>
                <p:cNvPr id="642306" name="Group 258"/>
                <p:cNvGrpSpPr/>
                <p:nvPr/>
              </p:nvGrpSpPr>
              <p:grpSpPr bwMode="auto">
                <a:xfrm>
                  <a:off x="2405" y="3044"/>
                  <a:ext cx="70" cy="62"/>
                  <a:chOff x="2405" y="3044"/>
                  <a:chExt cx="70" cy="62"/>
                </a:xfrm>
              </p:grpSpPr>
              <p:sp>
                <p:nvSpPr>
                  <p:cNvPr id="642307" name="Freeform 259"/>
                  <p:cNvSpPr/>
                  <p:nvPr/>
                </p:nvSpPr>
                <p:spPr bwMode="auto">
                  <a:xfrm>
                    <a:off x="2405" y="3044"/>
                    <a:ext cx="70" cy="62"/>
                  </a:xfrm>
                  <a:custGeom>
                    <a:avLst/>
                    <a:gdLst>
                      <a:gd name="T0" fmla="*/ 445 w 496"/>
                      <a:gd name="T1" fmla="*/ 18 h 497"/>
                      <a:gd name="T2" fmla="*/ 476 w 496"/>
                      <a:gd name="T3" fmla="*/ 47 h 497"/>
                      <a:gd name="T4" fmla="*/ 482 w 496"/>
                      <a:gd name="T5" fmla="*/ 60 h 497"/>
                      <a:gd name="T6" fmla="*/ 490 w 496"/>
                      <a:gd name="T7" fmla="*/ 88 h 497"/>
                      <a:gd name="T8" fmla="*/ 496 w 496"/>
                      <a:gd name="T9" fmla="*/ 116 h 497"/>
                      <a:gd name="T10" fmla="*/ 494 w 496"/>
                      <a:gd name="T11" fmla="*/ 143 h 497"/>
                      <a:gd name="T12" fmla="*/ 486 w 496"/>
                      <a:gd name="T13" fmla="*/ 156 h 497"/>
                      <a:gd name="T14" fmla="*/ 481 w 496"/>
                      <a:gd name="T15" fmla="*/ 166 h 497"/>
                      <a:gd name="T16" fmla="*/ 483 w 496"/>
                      <a:gd name="T17" fmla="*/ 186 h 497"/>
                      <a:gd name="T18" fmla="*/ 486 w 496"/>
                      <a:gd name="T19" fmla="*/ 199 h 497"/>
                      <a:gd name="T20" fmla="*/ 483 w 496"/>
                      <a:gd name="T21" fmla="*/ 219 h 497"/>
                      <a:gd name="T22" fmla="*/ 478 w 496"/>
                      <a:gd name="T23" fmla="*/ 233 h 497"/>
                      <a:gd name="T24" fmla="*/ 468 w 496"/>
                      <a:gd name="T25" fmla="*/ 247 h 497"/>
                      <a:gd name="T26" fmla="*/ 462 w 496"/>
                      <a:gd name="T27" fmla="*/ 256 h 497"/>
                      <a:gd name="T28" fmla="*/ 462 w 496"/>
                      <a:gd name="T29" fmla="*/ 287 h 497"/>
                      <a:gd name="T30" fmla="*/ 466 w 496"/>
                      <a:gd name="T31" fmla="*/ 308 h 497"/>
                      <a:gd name="T32" fmla="*/ 466 w 496"/>
                      <a:gd name="T33" fmla="*/ 319 h 497"/>
                      <a:gd name="T34" fmla="*/ 448 w 496"/>
                      <a:gd name="T35" fmla="*/ 325 h 497"/>
                      <a:gd name="T36" fmla="*/ 440 w 496"/>
                      <a:gd name="T37" fmla="*/ 328 h 497"/>
                      <a:gd name="T38" fmla="*/ 437 w 496"/>
                      <a:gd name="T39" fmla="*/ 353 h 497"/>
                      <a:gd name="T40" fmla="*/ 437 w 496"/>
                      <a:gd name="T41" fmla="*/ 365 h 497"/>
                      <a:gd name="T42" fmla="*/ 418 w 496"/>
                      <a:gd name="T43" fmla="*/ 377 h 497"/>
                      <a:gd name="T44" fmla="*/ 418 w 496"/>
                      <a:gd name="T45" fmla="*/ 383 h 497"/>
                      <a:gd name="T46" fmla="*/ 422 w 496"/>
                      <a:gd name="T47" fmla="*/ 398 h 497"/>
                      <a:gd name="T48" fmla="*/ 416 w 496"/>
                      <a:gd name="T49" fmla="*/ 410 h 497"/>
                      <a:gd name="T50" fmla="*/ 413 w 496"/>
                      <a:gd name="T51" fmla="*/ 416 h 497"/>
                      <a:gd name="T52" fmla="*/ 411 w 496"/>
                      <a:gd name="T53" fmla="*/ 430 h 497"/>
                      <a:gd name="T54" fmla="*/ 416 w 496"/>
                      <a:gd name="T55" fmla="*/ 446 h 497"/>
                      <a:gd name="T56" fmla="*/ 418 w 496"/>
                      <a:gd name="T57" fmla="*/ 463 h 497"/>
                      <a:gd name="T58" fmla="*/ 416 w 496"/>
                      <a:gd name="T59" fmla="*/ 474 h 497"/>
                      <a:gd name="T60" fmla="*/ 410 w 496"/>
                      <a:gd name="T61" fmla="*/ 483 h 497"/>
                      <a:gd name="T62" fmla="*/ 399 w 496"/>
                      <a:gd name="T63" fmla="*/ 491 h 497"/>
                      <a:gd name="T64" fmla="*/ 382 w 496"/>
                      <a:gd name="T65" fmla="*/ 493 h 497"/>
                      <a:gd name="T66" fmla="*/ 354 w 496"/>
                      <a:gd name="T67" fmla="*/ 494 h 497"/>
                      <a:gd name="T68" fmla="*/ 321 w 496"/>
                      <a:gd name="T69" fmla="*/ 497 h 497"/>
                      <a:gd name="T70" fmla="*/ 295 w 496"/>
                      <a:gd name="T71" fmla="*/ 491 h 497"/>
                      <a:gd name="T72" fmla="*/ 269 w 496"/>
                      <a:gd name="T73" fmla="*/ 490 h 497"/>
                      <a:gd name="T74" fmla="*/ 237 w 496"/>
                      <a:gd name="T75" fmla="*/ 479 h 497"/>
                      <a:gd name="T76" fmla="*/ 193 w 496"/>
                      <a:gd name="T77" fmla="*/ 460 h 497"/>
                      <a:gd name="T78" fmla="*/ 158 w 496"/>
                      <a:gd name="T79" fmla="*/ 442 h 497"/>
                      <a:gd name="T80" fmla="*/ 123 w 496"/>
                      <a:gd name="T81" fmla="*/ 416 h 497"/>
                      <a:gd name="T82" fmla="*/ 92 w 496"/>
                      <a:gd name="T83" fmla="*/ 384 h 497"/>
                      <a:gd name="T84" fmla="*/ 62 w 496"/>
                      <a:gd name="T85" fmla="*/ 347 h 497"/>
                      <a:gd name="T86" fmla="*/ 24 w 496"/>
                      <a:gd name="T87" fmla="*/ 293 h 497"/>
                      <a:gd name="T88" fmla="*/ 20 w 496"/>
                      <a:gd name="T89" fmla="*/ 273 h 497"/>
                      <a:gd name="T90" fmla="*/ 35 w 496"/>
                      <a:gd name="T91" fmla="*/ 245 h 497"/>
                      <a:gd name="T92" fmla="*/ 0 w 496"/>
                      <a:gd name="T93" fmla="*/ 173 h 497"/>
                      <a:gd name="T94" fmla="*/ 32 w 496"/>
                      <a:gd name="T95" fmla="*/ 113 h 497"/>
                      <a:gd name="T96" fmla="*/ 121 w 496"/>
                      <a:gd name="T97" fmla="*/ 137 h 497"/>
                      <a:gd name="T98" fmla="*/ 195 w 496"/>
                      <a:gd name="T99" fmla="*/ 98 h 497"/>
                      <a:gd name="T100" fmla="*/ 197 w 496"/>
                      <a:gd name="T101" fmla="*/ 38 h 497"/>
                      <a:gd name="T102" fmla="*/ 295 w 496"/>
                      <a:gd name="T103" fmla="*/ 0 h 497"/>
                      <a:gd name="T104" fmla="*/ 371 w 496"/>
                      <a:gd name="T105" fmla="*/ 0 h 497"/>
                      <a:gd name="T106" fmla="*/ 445 w 496"/>
                      <a:gd name="T107" fmla="*/ 18 h 4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</a:cxnLst>
                    <a:rect l="0" t="0" r="r" b="b"/>
                    <a:pathLst>
                      <a:path w="496" h="497">
                        <a:moveTo>
                          <a:pt x="445" y="18"/>
                        </a:moveTo>
                        <a:lnTo>
                          <a:pt x="476" y="47"/>
                        </a:lnTo>
                        <a:lnTo>
                          <a:pt x="482" y="60"/>
                        </a:lnTo>
                        <a:lnTo>
                          <a:pt x="490" y="88"/>
                        </a:lnTo>
                        <a:lnTo>
                          <a:pt x="496" y="116"/>
                        </a:lnTo>
                        <a:lnTo>
                          <a:pt x="494" y="143"/>
                        </a:lnTo>
                        <a:lnTo>
                          <a:pt x="486" y="156"/>
                        </a:lnTo>
                        <a:lnTo>
                          <a:pt x="481" y="166"/>
                        </a:lnTo>
                        <a:lnTo>
                          <a:pt x="483" y="186"/>
                        </a:lnTo>
                        <a:lnTo>
                          <a:pt x="486" y="199"/>
                        </a:lnTo>
                        <a:lnTo>
                          <a:pt x="483" y="219"/>
                        </a:lnTo>
                        <a:lnTo>
                          <a:pt x="478" y="233"/>
                        </a:lnTo>
                        <a:lnTo>
                          <a:pt x="468" y="247"/>
                        </a:lnTo>
                        <a:lnTo>
                          <a:pt x="462" y="256"/>
                        </a:lnTo>
                        <a:lnTo>
                          <a:pt x="462" y="287"/>
                        </a:lnTo>
                        <a:lnTo>
                          <a:pt x="466" y="308"/>
                        </a:lnTo>
                        <a:lnTo>
                          <a:pt x="466" y="319"/>
                        </a:lnTo>
                        <a:lnTo>
                          <a:pt x="448" y="325"/>
                        </a:lnTo>
                        <a:lnTo>
                          <a:pt x="440" y="328"/>
                        </a:lnTo>
                        <a:lnTo>
                          <a:pt x="437" y="353"/>
                        </a:lnTo>
                        <a:lnTo>
                          <a:pt x="437" y="365"/>
                        </a:lnTo>
                        <a:lnTo>
                          <a:pt x="418" y="377"/>
                        </a:lnTo>
                        <a:lnTo>
                          <a:pt x="418" y="383"/>
                        </a:lnTo>
                        <a:lnTo>
                          <a:pt x="422" y="398"/>
                        </a:lnTo>
                        <a:lnTo>
                          <a:pt x="416" y="410"/>
                        </a:lnTo>
                        <a:lnTo>
                          <a:pt x="413" y="416"/>
                        </a:lnTo>
                        <a:lnTo>
                          <a:pt x="411" y="430"/>
                        </a:lnTo>
                        <a:lnTo>
                          <a:pt x="416" y="446"/>
                        </a:lnTo>
                        <a:lnTo>
                          <a:pt x="418" y="463"/>
                        </a:lnTo>
                        <a:lnTo>
                          <a:pt x="416" y="474"/>
                        </a:lnTo>
                        <a:lnTo>
                          <a:pt x="410" y="483"/>
                        </a:lnTo>
                        <a:lnTo>
                          <a:pt x="399" y="491"/>
                        </a:lnTo>
                        <a:lnTo>
                          <a:pt x="382" y="493"/>
                        </a:lnTo>
                        <a:lnTo>
                          <a:pt x="354" y="494"/>
                        </a:lnTo>
                        <a:lnTo>
                          <a:pt x="321" y="497"/>
                        </a:lnTo>
                        <a:lnTo>
                          <a:pt x="295" y="491"/>
                        </a:lnTo>
                        <a:lnTo>
                          <a:pt x="269" y="490"/>
                        </a:lnTo>
                        <a:lnTo>
                          <a:pt x="237" y="479"/>
                        </a:lnTo>
                        <a:lnTo>
                          <a:pt x="193" y="460"/>
                        </a:lnTo>
                        <a:lnTo>
                          <a:pt x="158" y="442"/>
                        </a:lnTo>
                        <a:lnTo>
                          <a:pt x="123" y="416"/>
                        </a:lnTo>
                        <a:lnTo>
                          <a:pt x="92" y="384"/>
                        </a:lnTo>
                        <a:lnTo>
                          <a:pt x="62" y="347"/>
                        </a:lnTo>
                        <a:lnTo>
                          <a:pt x="24" y="293"/>
                        </a:lnTo>
                        <a:lnTo>
                          <a:pt x="20" y="273"/>
                        </a:lnTo>
                        <a:lnTo>
                          <a:pt x="35" y="245"/>
                        </a:lnTo>
                        <a:lnTo>
                          <a:pt x="0" y="173"/>
                        </a:lnTo>
                        <a:lnTo>
                          <a:pt x="32" y="113"/>
                        </a:lnTo>
                        <a:lnTo>
                          <a:pt x="121" y="137"/>
                        </a:lnTo>
                        <a:lnTo>
                          <a:pt x="195" y="98"/>
                        </a:lnTo>
                        <a:lnTo>
                          <a:pt x="197" y="38"/>
                        </a:lnTo>
                        <a:lnTo>
                          <a:pt x="295" y="0"/>
                        </a:lnTo>
                        <a:lnTo>
                          <a:pt x="371" y="0"/>
                        </a:lnTo>
                        <a:lnTo>
                          <a:pt x="445" y="18"/>
                        </a:lnTo>
                        <a:close/>
                      </a:path>
                    </a:pathLst>
                  </a:custGeom>
                  <a:solidFill>
                    <a:srgbClr val="FFA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642308" name="Group 260"/>
                  <p:cNvGrpSpPr/>
                  <p:nvPr/>
                </p:nvGrpSpPr>
                <p:grpSpPr bwMode="auto">
                  <a:xfrm>
                    <a:off x="2416" y="3061"/>
                    <a:ext cx="59" cy="45"/>
                    <a:chOff x="2416" y="3061"/>
                    <a:chExt cx="59" cy="45"/>
                  </a:xfrm>
                </p:grpSpPr>
                <p:grpSp>
                  <p:nvGrpSpPr>
                    <p:cNvPr id="642309" name="Group 261"/>
                    <p:cNvGrpSpPr/>
                    <p:nvPr/>
                  </p:nvGrpSpPr>
                  <p:grpSpPr bwMode="auto">
                    <a:xfrm>
                      <a:off x="2438" y="3061"/>
                      <a:ext cx="37" cy="15"/>
                      <a:chOff x="2438" y="3061"/>
                      <a:chExt cx="37" cy="15"/>
                    </a:xfrm>
                  </p:grpSpPr>
                  <p:grpSp>
                    <p:nvGrpSpPr>
                      <p:cNvPr id="642310" name="Group 262"/>
                      <p:cNvGrpSpPr/>
                      <p:nvPr/>
                    </p:nvGrpSpPr>
                    <p:grpSpPr bwMode="auto">
                      <a:xfrm>
                        <a:off x="2465" y="3061"/>
                        <a:ext cx="10" cy="11"/>
                        <a:chOff x="2465" y="3061"/>
                        <a:chExt cx="10" cy="11"/>
                      </a:xfrm>
                    </p:grpSpPr>
                    <p:sp>
                      <p:nvSpPr>
                        <p:cNvPr id="642311" name="Freeform 263"/>
                        <p:cNvSpPr/>
                        <p:nvPr/>
                      </p:nvSpPr>
                      <p:spPr bwMode="auto">
                        <a:xfrm>
                          <a:off x="2465" y="3061"/>
                          <a:ext cx="10" cy="11"/>
                        </a:xfrm>
                        <a:custGeom>
                          <a:avLst/>
                          <a:gdLst>
                            <a:gd name="T0" fmla="*/ 19 w 69"/>
                            <a:gd name="T1" fmla="*/ 82 h 84"/>
                            <a:gd name="T2" fmla="*/ 6 w 69"/>
                            <a:gd name="T3" fmla="*/ 84 h 84"/>
                            <a:gd name="T4" fmla="*/ 0 w 69"/>
                            <a:gd name="T5" fmla="*/ 70 h 84"/>
                            <a:gd name="T6" fmla="*/ 0 w 69"/>
                            <a:gd name="T7" fmla="*/ 50 h 84"/>
                            <a:gd name="T8" fmla="*/ 6 w 69"/>
                            <a:gd name="T9" fmla="*/ 28 h 84"/>
                            <a:gd name="T10" fmla="*/ 16 w 69"/>
                            <a:gd name="T11" fmla="*/ 12 h 84"/>
                            <a:gd name="T12" fmla="*/ 33 w 69"/>
                            <a:gd name="T13" fmla="*/ 3 h 84"/>
                            <a:gd name="T14" fmla="*/ 51 w 69"/>
                            <a:gd name="T15" fmla="*/ 0 h 84"/>
                            <a:gd name="T16" fmla="*/ 69 w 69"/>
                            <a:gd name="T17" fmla="*/ 4 h 84"/>
                            <a:gd name="T18" fmla="*/ 62 w 69"/>
                            <a:gd name="T19" fmla="*/ 16 h 84"/>
                            <a:gd name="T20" fmla="*/ 54 w 69"/>
                            <a:gd name="T21" fmla="*/ 30 h 84"/>
                            <a:gd name="T22" fmla="*/ 57 w 69"/>
                            <a:gd name="T23" fmla="*/ 52 h 84"/>
                            <a:gd name="T24" fmla="*/ 42 w 69"/>
                            <a:gd name="T25" fmla="*/ 57 h 84"/>
                            <a:gd name="T26" fmla="*/ 27 w 69"/>
                            <a:gd name="T27" fmla="*/ 69 h 84"/>
                            <a:gd name="T28" fmla="*/ 19 w 69"/>
                            <a:gd name="T29" fmla="*/ 82 h 8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</a:cxnLst>
                          <a:rect l="0" t="0" r="r" b="b"/>
                          <a:pathLst>
                            <a:path w="69" h="84">
                              <a:moveTo>
                                <a:pt x="19" y="82"/>
                              </a:moveTo>
                              <a:lnTo>
                                <a:pt x="6" y="84"/>
                              </a:lnTo>
                              <a:lnTo>
                                <a:pt x="0" y="70"/>
                              </a:lnTo>
                              <a:lnTo>
                                <a:pt x="0" y="50"/>
                              </a:lnTo>
                              <a:lnTo>
                                <a:pt x="6" y="28"/>
                              </a:lnTo>
                              <a:lnTo>
                                <a:pt x="16" y="12"/>
                              </a:lnTo>
                              <a:lnTo>
                                <a:pt x="33" y="3"/>
                              </a:lnTo>
                              <a:lnTo>
                                <a:pt x="51" y="0"/>
                              </a:lnTo>
                              <a:lnTo>
                                <a:pt x="69" y="4"/>
                              </a:lnTo>
                              <a:lnTo>
                                <a:pt x="62" y="16"/>
                              </a:lnTo>
                              <a:lnTo>
                                <a:pt x="54" y="30"/>
                              </a:lnTo>
                              <a:lnTo>
                                <a:pt x="57" y="52"/>
                              </a:lnTo>
                              <a:lnTo>
                                <a:pt x="42" y="57"/>
                              </a:lnTo>
                              <a:lnTo>
                                <a:pt x="27" y="69"/>
                              </a:lnTo>
                              <a:lnTo>
                                <a:pt x="19" y="8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312" name="Freeform 264"/>
                        <p:cNvSpPr/>
                        <p:nvPr/>
                      </p:nvSpPr>
                      <p:spPr bwMode="auto">
                        <a:xfrm>
                          <a:off x="2466" y="3067"/>
                          <a:ext cx="9" cy="4"/>
                        </a:xfrm>
                        <a:custGeom>
                          <a:avLst/>
                          <a:gdLst>
                            <a:gd name="T0" fmla="*/ 0 w 61"/>
                            <a:gd name="T1" fmla="*/ 4 h 30"/>
                            <a:gd name="T2" fmla="*/ 17 w 61"/>
                            <a:gd name="T3" fmla="*/ 11 h 30"/>
                            <a:gd name="T4" fmla="*/ 34 w 61"/>
                            <a:gd name="T5" fmla="*/ 18 h 30"/>
                            <a:gd name="T6" fmla="*/ 47 w 61"/>
                            <a:gd name="T7" fmla="*/ 22 h 30"/>
                            <a:gd name="T8" fmla="*/ 61 w 61"/>
                            <a:gd name="T9" fmla="*/ 30 h 30"/>
                            <a:gd name="T10" fmla="*/ 54 w 61"/>
                            <a:gd name="T11" fmla="*/ 13 h 30"/>
                            <a:gd name="T12" fmla="*/ 52 w 61"/>
                            <a:gd name="T13" fmla="*/ 0 h 30"/>
                            <a:gd name="T14" fmla="*/ 44 w 61"/>
                            <a:gd name="T15" fmla="*/ 4 h 30"/>
                            <a:gd name="T16" fmla="*/ 32 w 61"/>
                            <a:gd name="T17" fmla="*/ 9 h 30"/>
                            <a:gd name="T18" fmla="*/ 21 w 61"/>
                            <a:gd name="T19" fmla="*/ 8 h 30"/>
                            <a:gd name="T20" fmla="*/ 0 w 61"/>
                            <a:gd name="T21" fmla="*/ 4 h 3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</a:cxnLst>
                          <a:rect l="0" t="0" r="r" b="b"/>
                          <a:pathLst>
                            <a:path w="61" h="30">
                              <a:moveTo>
                                <a:pt x="0" y="4"/>
                              </a:moveTo>
                              <a:lnTo>
                                <a:pt x="17" y="11"/>
                              </a:lnTo>
                              <a:lnTo>
                                <a:pt x="34" y="18"/>
                              </a:lnTo>
                              <a:lnTo>
                                <a:pt x="47" y="22"/>
                              </a:lnTo>
                              <a:lnTo>
                                <a:pt x="61" y="30"/>
                              </a:lnTo>
                              <a:lnTo>
                                <a:pt x="54" y="13"/>
                              </a:lnTo>
                              <a:lnTo>
                                <a:pt x="52" y="0"/>
                              </a:lnTo>
                              <a:lnTo>
                                <a:pt x="44" y="4"/>
                              </a:lnTo>
                              <a:lnTo>
                                <a:pt x="32" y="9"/>
                              </a:lnTo>
                              <a:lnTo>
                                <a:pt x="21" y="8"/>
                              </a:lnTo>
                              <a:lnTo>
                                <a:pt x="0" y="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4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313" name="Freeform 265"/>
                        <p:cNvSpPr/>
                        <p:nvPr/>
                      </p:nvSpPr>
                      <p:spPr bwMode="auto">
                        <a:xfrm>
                          <a:off x="2466" y="3061"/>
                          <a:ext cx="9" cy="5"/>
                        </a:xfrm>
                        <a:custGeom>
                          <a:avLst/>
                          <a:gdLst>
                            <a:gd name="T0" fmla="*/ 67 w 67"/>
                            <a:gd name="T1" fmla="*/ 4 h 36"/>
                            <a:gd name="T2" fmla="*/ 53 w 67"/>
                            <a:gd name="T3" fmla="*/ 0 h 36"/>
                            <a:gd name="T4" fmla="*/ 41 w 67"/>
                            <a:gd name="T5" fmla="*/ 0 h 36"/>
                            <a:gd name="T6" fmla="*/ 24 w 67"/>
                            <a:gd name="T7" fmla="*/ 5 h 36"/>
                            <a:gd name="T8" fmla="*/ 13 w 67"/>
                            <a:gd name="T9" fmla="*/ 13 h 36"/>
                            <a:gd name="T10" fmla="*/ 5 w 67"/>
                            <a:gd name="T11" fmla="*/ 24 h 36"/>
                            <a:gd name="T12" fmla="*/ 0 w 67"/>
                            <a:gd name="T13" fmla="*/ 36 h 36"/>
                            <a:gd name="T14" fmla="*/ 10 w 67"/>
                            <a:gd name="T15" fmla="*/ 26 h 36"/>
                            <a:gd name="T16" fmla="*/ 22 w 67"/>
                            <a:gd name="T17" fmla="*/ 17 h 36"/>
                            <a:gd name="T18" fmla="*/ 38 w 67"/>
                            <a:gd name="T19" fmla="*/ 13 h 36"/>
                            <a:gd name="T20" fmla="*/ 49 w 67"/>
                            <a:gd name="T21" fmla="*/ 14 h 36"/>
                            <a:gd name="T22" fmla="*/ 60 w 67"/>
                            <a:gd name="T23" fmla="*/ 20 h 36"/>
                            <a:gd name="T24" fmla="*/ 62 w 67"/>
                            <a:gd name="T25" fmla="*/ 12 h 36"/>
                            <a:gd name="T26" fmla="*/ 67 w 67"/>
                            <a:gd name="T27" fmla="*/ 4 h 3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</a:cxnLst>
                          <a:rect l="0" t="0" r="r" b="b"/>
                          <a:pathLst>
                            <a:path w="67" h="36">
                              <a:moveTo>
                                <a:pt x="67" y="4"/>
                              </a:moveTo>
                              <a:lnTo>
                                <a:pt x="53" y="0"/>
                              </a:lnTo>
                              <a:lnTo>
                                <a:pt x="41" y="0"/>
                              </a:lnTo>
                              <a:lnTo>
                                <a:pt x="24" y="5"/>
                              </a:lnTo>
                              <a:lnTo>
                                <a:pt x="13" y="13"/>
                              </a:lnTo>
                              <a:lnTo>
                                <a:pt x="5" y="24"/>
                              </a:lnTo>
                              <a:lnTo>
                                <a:pt x="0" y="36"/>
                              </a:lnTo>
                              <a:lnTo>
                                <a:pt x="10" y="26"/>
                              </a:lnTo>
                              <a:lnTo>
                                <a:pt x="22" y="17"/>
                              </a:lnTo>
                              <a:lnTo>
                                <a:pt x="38" y="13"/>
                              </a:lnTo>
                              <a:lnTo>
                                <a:pt x="49" y="14"/>
                              </a:lnTo>
                              <a:lnTo>
                                <a:pt x="60" y="20"/>
                              </a:lnTo>
                              <a:lnTo>
                                <a:pt x="62" y="12"/>
                              </a:lnTo>
                              <a:lnTo>
                                <a:pt x="67" y="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0806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642314" name="Group 266"/>
                      <p:cNvGrpSpPr/>
                      <p:nvPr/>
                    </p:nvGrpSpPr>
                    <p:grpSpPr bwMode="auto">
                      <a:xfrm>
                        <a:off x="2438" y="3062"/>
                        <a:ext cx="26" cy="14"/>
                        <a:chOff x="2438" y="3062"/>
                        <a:chExt cx="26" cy="14"/>
                      </a:xfrm>
                    </p:grpSpPr>
                    <p:sp>
                      <p:nvSpPr>
                        <p:cNvPr id="642315" name="Freeform 267"/>
                        <p:cNvSpPr/>
                        <p:nvPr/>
                      </p:nvSpPr>
                      <p:spPr bwMode="auto">
                        <a:xfrm>
                          <a:off x="2438" y="3062"/>
                          <a:ext cx="26" cy="14"/>
                        </a:xfrm>
                        <a:custGeom>
                          <a:avLst/>
                          <a:gdLst>
                            <a:gd name="T0" fmla="*/ 0 w 179"/>
                            <a:gd name="T1" fmla="*/ 61 h 114"/>
                            <a:gd name="T2" fmla="*/ 20 w 179"/>
                            <a:gd name="T3" fmla="*/ 38 h 114"/>
                            <a:gd name="T4" fmla="*/ 37 w 179"/>
                            <a:gd name="T5" fmla="*/ 23 h 114"/>
                            <a:gd name="T6" fmla="*/ 53 w 179"/>
                            <a:gd name="T7" fmla="*/ 12 h 114"/>
                            <a:gd name="T8" fmla="*/ 73 w 179"/>
                            <a:gd name="T9" fmla="*/ 3 h 114"/>
                            <a:gd name="T10" fmla="*/ 93 w 179"/>
                            <a:gd name="T11" fmla="*/ 0 h 114"/>
                            <a:gd name="T12" fmla="*/ 114 w 179"/>
                            <a:gd name="T13" fmla="*/ 0 h 114"/>
                            <a:gd name="T14" fmla="*/ 133 w 179"/>
                            <a:gd name="T15" fmla="*/ 3 h 114"/>
                            <a:gd name="T16" fmla="*/ 153 w 179"/>
                            <a:gd name="T17" fmla="*/ 10 h 114"/>
                            <a:gd name="T18" fmla="*/ 164 w 179"/>
                            <a:gd name="T19" fmla="*/ 14 h 114"/>
                            <a:gd name="T20" fmla="*/ 179 w 179"/>
                            <a:gd name="T21" fmla="*/ 8 h 114"/>
                            <a:gd name="T22" fmla="*/ 175 w 179"/>
                            <a:gd name="T23" fmla="*/ 23 h 114"/>
                            <a:gd name="T24" fmla="*/ 174 w 179"/>
                            <a:gd name="T25" fmla="*/ 37 h 114"/>
                            <a:gd name="T26" fmla="*/ 176 w 179"/>
                            <a:gd name="T27" fmla="*/ 56 h 114"/>
                            <a:gd name="T28" fmla="*/ 178 w 179"/>
                            <a:gd name="T29" fmla="*/ 75 h 114"/>
                            <a:gd name="T30" fmla="*/ 175 w 179"/>
                            <a:gd name="T31" fmla="*/ 94 h 114"/>
                            <a:gd name="T32" fmla="*/ 167 w 179"/>
                            <a:gd name="T33" fmla="*/ 104 h 114"/>
                            <a:gd name="T34" fmla="*/ 156 w 179"/>
                            <a:gd name="T35" fmla="*/ 114 h 114"/>
                            <a:gd name="T36" fmla="*/ 160 w 179"/>
                            <a:gd name="T37" fmla="*/ 96 h 114"/>
                            <a:gd name="T38" fmla="*/ 162 w 179"/>
                            <a:gd name="T39" fmla="*/ 81 h 114"/>
                            <a:gd name="T40" fmla="*/ 158 w 179"/>
                            <a:gd name="T41" fmla="*/ 70 h 114"/>
                            <a:gd name="T42" fmla="*/ 151 w 179"/>
                            <a:gd name="T43" fmla="*/ 62 h 114"/>
                            <a:gd name="T44" fmla="*/ 137 w 179"/>
                            <a:gd name="T45" fmla="*/ 76 h 114"/>
                            <a:gd name="T46" fmla="*/ 123 w 179"/>
                            <a:gd name="T47" fmla="*/ 83 h 114"/>
                            <a:gd name="T48" fmla="*/ 107 w 179"/>
                            <a:gd name="T49" fmla="*/ 86 h 114"/>
                            <a:gd name="T50" fmla="*/ 88 w 179"/>
                            <a:gd name="T51" fmla="*/ 85 h 114"/>
                            <a:gd name="T52" fmla="*/ 71 w 179"/>
                            <a:gd name="T53" fmla="*/ 76 h 114"/>
                            <a:gd name="T54" fmla="*/ 55 w 179"/>
                            <a:gd name="T55" fmla="*/ 62 h 114"/>
                            <a:gd name="T56" fmla="*/ 43 w 179"/>
                            <a:gd name="T57" fmla="*/ 55 h 114"/>
                            <a:gd name="T58" fmla="*/ 0 w 179"/>
                            <a:gd name="T59" fmla="*/ 61 h 11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</a:cxnLst>
                          <a:rect l="0" t="0" r="r" b="b"/>
                          <a:pathLst>
                            <a:path w="179" h="114">
                              <a:moveTo>
                                <a:pt x="0" y="61"/>
                              </a:moveTo>
                              <a:lnTo>
                                <a:pt x="20" y="38"/>
                              </a:lnTo>
                              <a:lnTo>
                                <a:pt x="37" y="23"/>
                              </a:lnTo>
                              <a:lnTo>
                                <a:pt x="53" y="12"/>
                              </a:lnTo>
                              <a:lnTo>
                                <a:pt x="73" y="3"/>
                              </a:lnTo>
                              <a:lnTo>
                                <a:pt x="93" y="0"/>
                              </a:lnTo>
                              <a:lnTo>
                                <a:pt x="114" y="0"/>
                              </a:lnTo>
                              <a:lnTo>
                                <a:pt x="133" y="3"/>
                              </a:lnTo>
                              <a:lnTo>
                                <a:pt x="153" y="10"/>
                              </a:lnTo>
                              <a:lnTo>
                                <a:pt x="164" y="14"/>
                              </a:lnTo>
                              <a:lnTo>
                                <a:pt x="179" y="8"/>
                              </a:lnTo>
                              <a:lnTo>
                                <a:pt x="175" y="23"/>
                              </a:lnTo>
                              <a:lnTo>
                                <a:pt x="174" y="37"/>
                              </a:lnTo>
                              <a:lnTo>
                                <a:pt x="176" y="56"/>
                              </a:lnTo>
                              <a:lnTo>
                                <a:pt x="178" y="75"/>
                              </a:lnTo>
                              <a:lnTo>
                                <a:pt x="175" y="94"/>
                              </a:lnTo>
                              <a:lnTo>
                                <a:pt x="167" y="104"/>
                              </a:lnTo>
                              <a:lnTo>
                                <a:pt x="156" y="114"/>
                              </a:lnTo>
                              <a:lnTo>
                                <a:pt x="160" y="96"/>
                              </a:lnTo>
                              <a:lnTo>
                                <a:pt x="162" y="81"/>
                              </a:lnTo>
                              <a:lnTo>
                                <a:pt x="158" y="70"/>
                              </a:lnTo>
                              <a:lnTo>
                                <a:pt x="151" y="62"/>
                              </a:lnTo>
                              <a:lnTo>
                                <a:pt x="137" y="76"/>
                              </a:lnTo>
                              <a:lnTo>
                                <a:pt x="123" y="83"/>
                              </a:lnTo>
                              <a:lnTo>
                                <a:pt x="107" y="86"/>
                              </a:lnTo>
                              <a:lnTo>
                                <a:pt x="88" y="85"/>
                              </a:lnTo>
                              <a:lnTo>
                                <a:pt x="71" y="76"/>
                              </a:lnTo>
                              <a:lnTo>
                                <a:pt x="55" y="62"/>
                              </a:lnTo>
                              <a:lnTo>
                                <a:pt x="43" y="55"/>
                              </a:lnTo>
                              <a:lnTo>
                                <a:pt x="0" y="6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316" name="Freeform 268"/>
                        <p:cNvSpPr/>
                        <p:nvPr/>
                      </p:nvSpPr>
                      <p:spPr bwMode="auto">
                        <a:xfrm>
                          <a:off x="2445" y="3067"/>
                          <a:ext cx="13" cy="6"/>
                        </a:xfrm>
                        <a:custGeom>
                          <a:avLst/>
                          <a:gdLst>
                            <a:gd name="T0" fmla="*/ 0 w 93"/>
                            <a:gd name="T1" fmla="*/ 0 h 43"/>
                            <a:gd name="T2" fmla="*/ 14 w 93"/>
                            <a:gd name="T3" fmla="*/ 12 h 43"/>
                            <a:gd name="T4" fmla="*/ 28 w 93"/>
                            <a:gd name="T5" fmla="*/ 20 h 43"/>
                            <a:gd name="T6" fmla="*/ 46 w 93"/>
                            <a:gd name="T7" fmla="*/ 23 h 43"/>
                            <a:gd name="T8" fmla="*/ 57 w 93"/>
                            <a:gd name="T9" fmla="*/ 23 h 43"/>
                            <a:gd name="T10" fmla="*/ 68 w 93"/>
                            <a:gd name="T11" fmla="*/ 20 h 43"/>
                            <a:gd name="T12" fmla="*/ 85 w 93"/>
                            <a:gd name="T13" fmla="*/ 8 h 43"/>
                            <a:gd name="T14" fmla="*/ 74 w 93"/>
                            <a:gd name="T15" fmla="*/ 21 h 43"/>
                            <a:gd name="T16" fmla="*/ 93 w 93"/>
                            <a:gd name="T17" fmla="*/ 32 h 43"/>
                            <a:gd name="T18" fmla="*/ 75 w 93"/>
                            <a:gd name="T19" fmla="*/ 38 h 43"/>
                            <a:gd name="T20" fmla="*/ 61 w 93"/>
                            <a:gd name="T21" fmla="*/ 43 h 43"/>
                            <a:gd name="T22" fmla="*/ 41 w 93"/>
                            <a:gd name="T23" fmla="*/ 42 h 43"/>
                            <a:gd name="T24" fmla="*/ 26 w 93"/>
                            <a:gd name="T25" fmla="*/ 34 h 43"/>
                            <a:gd name="T26" fmla="*/ 12 w 93"/>
                            <a:gd name="T27" fmla="*/ 20 h 43"/>
                            <a:gd name="T28" fmla="*/ 0 w 93"/>
                            <a:gd name="T29" fmla="*/ 0 h 4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</a:cxnLst>
                          <a:rect l="0" t="0" r="r" b="b"/>
                          <a:pathLst>
                            <a:path w="93" h="43">
                              <a:moveTo>
                                <a:pt x="0" y="0"/>
                              </a:moveTo>
                              <a:lnTo>
                                <a:pt x="14" y="12"/>
                              </a:lnTo>
                              <a:lnTo>
                                <a:pt x="28" y="20"/>
                              </a:lnTo>
                              <a:lnTo>
                                <a:pt x="46" y="23"/>
                              </a:lnTo>
                              <a:lnTo>
                                <a:pt x="57" y="23"/>
                              </a:lnTo>
                              <a:lnTo>
                                <a:pt x="68" y="20"/>
                              </a:lnTo>
                              <a:lnTo>
                                <a:pt x="85" y="8"/>
                              </a:lnTo>
                              <a:lnTo>
                                <a:pt x="74" y="21"/>
                              </a:lnTo>
                              <a:lnTo>
                                <a:pt x="93" y="32"/>
                              </a:lnTo>
                              <a:lnTo>
                                <a:pt x="75" y="38"/>
                              </a:lnTo>
                              <a:lnTo>
                                <a:pt x="61" y="43"/>
                              </a:lnTo>
                              <a:lnTo>
                                <a:pt x="41" y="42"/>
                              </a:lnTo>
                              <a:lnTo>
                                <a:pt x="26" y="34"/>
                              </a:lnTo>
                              <a:lnTo>
                                <a:pt x="12" y="2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4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317" name="Freeform 269"/>
                        <p:cNvSpPr/>
                        <p:nvPr/>
                      </p:nvSpPr>
                      <p:spPr bwMode="auto">
                        <a:xfrm>
                          <a:off x="2441" y="3062"/>
                          <a:ext cx="22" cy="6"/>
                        </a:xfrm>
                        <a:custGeom>
                          <a:avLst/>
                          <a:gdLst>
                            <a:gd name="T0" fmla="*/ 0 w 158"/>
                            <a:gd name="T1" fmla="*/ 47 h 48"/>
                            <a:gd name="T2" fmla="*/ 13 w 158"/>
                            <a:gd name="T3" fmla="*/ 31 h 48"/>
                            <a:gd name="T4" fmla="*/ 18 w 158"/>
                            <a:gd name="T5" fmla="*/ 24 h 48"/>
                            <a:gd name="T6" fmla="*/ 26 w 158"/>
                            <a:gd name="T7" fmla="*/ 19 h 48"/>
                            <a:gd name="T8" fmla="*/ 33 w 158"/>
                            <a:gd name="T9" fmla="*/ 12 h 48"/>
                            <a:gd name="T10" fmla="*/ 42 w 158"/>
                            <a:gd name="T11" fmla="*/ 8 h 48"/>
                            <a:gd name="T12" fmla="*/ 51 w 158"/>
                            <a:gd name="T13" fmla="*/ 5 h 48"/>
                            <a:gd name="T14" fmla="*/ 64 w 158"/>
                            <a:gd name="T15" fmla="*/ 1 h 48"/>
                            <a:gd name="T16" fmla="*/ 77 w 158"/>
                            <a:gd name="T17" fmla="*/ 0 h 48"/>
                            <a:gd name="T18" fmla="*/ 93 w 158"/>
                            <a:gd name="T19" fmla="*/ 1 h 48"/>
                            <a:gd name="T20" fmla="*/ 106 w 158"/>
                            <a:gd name="T21" fmla="*/ 5 h 48"/>
                            <a:gd name="T22" fmla="*/ 119 w 158"/>
                            <a:gd name="T23" fmla="*/ 8 h 48"/>
                            <a:gd name="T24" fmla="*/ 136 w 158"/>
                            <a:gd name="T25" fmla="*/ 13 h 48"/>
                            <a:gd name="T26" fmla="*/ 145 w 158"/>
                            <a:gd name="T27" fmla="*/ 12 h 48"/>
                            <a:gd name="T28" fmla="*/ 154 w 158"/>
                            <a:gd name="T29" fmla="*/ 11 h 48"/>
                            <a:gd name="T30" fmla="*/ 157 w 158"/>
                            <a:gd name="T31" fmla="*/ 16 h 48"/>
                            <a:gd name="T32" fmla="*/ 158 w 158"/>
                            <a:gd name="T33" fmla="*/ 22 h 48"/>
                            <a:gd name="T34" fmla="*/ 156 w 158"/>
                            <a:gd name="T35" fmla="*/ 31 h 48"/>
                            <a:gd name="T36" fmla="*/ 152 w 158"/>
                            <a:gd name="T37" fmla="*/ 37 h 48"/>
                            <a:gd name="T38" fmla="*/ 145 w 158"/>
                            <a:gd name="T39" fmla="*/ 35 h 48"/>
                            <a:gd name="T40" fmla="*/ 135 w 158"/>
                            <a:gd name="T41" fmla="*/ 36 h 48"/>
                            <a:gd name="T42" fmla="*/ 125 w 158"/>
                            <a:gd name="T43" fmla="*/ 32 h 48"/>
                            <a:gd name="T44" fmla="*/ 116 w 158"/>
                            <a:gd name="T45" fmla="*/ 30 h 48"/>
                            <a:gd name="T46" fmla="*/ 106 w 158"/>
                            <a:gd name="T47" fmla="*/ 30 h 48"/>
                            <a:gd name="T48" fmla="*/ 100 w 158"/>
                            <a:gd name="T49" fmla="*/ 26 h 48"/>
                            <a:gd name="T50" fmla="*/ 93 w 158"/>
                            <a:gd name="T51" fmla="*/ 24 h 48"/>
                            <a:gd name="T52" fmla="*/ 84 w 158"/>
                            <a:gd name="T53" fmla="*/ 22 h 48"/>
                            <a:gd name="T54" fmla="*/ 74 w 158"/>
                            <a:gd name="T55" fmla="*/ 22 h 48"/>
                            <a:gd name="T56" fmla="*/ 64 w 158"/>
                            <a:gd name="T57" fmla="*/ 24 h 48"/>
                            <a:gd name="T58" fmla="*/ 55 w 158"/>
                            <a:gd name="T59" fmla="*/ 23 h 48"/>
                            <a:gd name="T60" fmla="*/ 44 w 158"/>
                            <a:gd name="T61" fmla="*/ 22 h 48"/>
                            <a:gd name="T62" fmla="*/ 34 w 158"/>
                            <a:gd name="T63" fmla="*/ 26 h 48"/>
                            <a:gd name="T64" fmla="*/ 23 w 158"/>
                            <a:gd name="T65" fmla="*/ 32 h 48"/>
                            <a:gd name="T66" fmla="*/ 14 w 158"/>
                            <a:gd name="T67" fmla="*/ 39 h 48"/>
                            <a:gd name="T68" fmla="*/ 9 w 158"/>
                            <a:gd name="T69" fmla="*/ 48 h 48"/>
                            <a:gd name="T70" fmla="*/ 0 w 158"/>
                            <a:gd name="T71" fmla="*/ 47 h 4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  <a:cxn ang="0">
                              <a:pos x="T70" y="T71"/>
                            </a:cxn>
                          </a:cxnLst>
                          <a:rect l="0" t="0" r="r" b="b"/>
                          <a:pathLst>
                            <a:path w="158" h="48">
                              <a:moveTo>
                                <a:pt x="0" y="47"/>
                              </a:moveTo>
                              <a:lnTo>
                                <a:pt x="13" y="31"/>
                              </a:lnTo>
                              <a:lnTo>
                                <a:pt x="18" y="24"/>
                              </a:lnTo>
                              <a:lnTo>
                                <a:pt x="26" y="19"/>
                              </a:lnTo>
                              <a:lnTo>
                                <a:pt x="33" y="12"/>
                              </a:lnTo>
                              <a:lnTo>
                                <a:pt x="42" y="8"/>
                              </a:lnTo>
                              <a:lnTo>
                                <a:pt x="51" y="5"/>
                              </a:lnTo>
                              <a:lnTo>
                                <a:pt x="64" y="1"/>
                              </a:lnTo>
                              <a:lnTo>
                                <a:pt x="77" y="0"/>
                              </a:lnTo>
                              <a:lnTo>
                                <a:pt x="93" y="1"/>
                              </a:lnTo>
                              <a:lnTo>
                                <a:pt x="106" y="5"/>
                              </a:lnTo>
                              <a:lnTo>
                                <a:pt x="119" y="8"/>
                              </a:lnTo>
                              <a:lnTo>
                                <a:pt x="136" y="13"/>
                              </a:lnTo>
                              <a:lnTo>
                                <a:pt x="145" y="12"/>
                              </a:lnTo>
                              <a:lnTo>
                                <a:pt x="154" y="11"/>
                              </a:lnTo>
                              <a:lnTo>
                                <a:pt x="157" y="16"/>
                              </a:lnTo>
                              <a:lnTo>
                                <a:pt x="158" y="22"/>
                              </a:lnTo>
                              <a:lnTo>
                                <a:pt x="156" y="31"/>
                              </a:lnTo>
                              <a:lnTo>
                                <a:pt x="152" y="37"/>
                              </a:lnTo>
                              <a:lnTo>
                                <a:pt x="145" y="35"/>
                              </a:lnTo>
                              <a:lnTo>
                                <a:pt x="135" y="36"/>
                              </a:lnTo>
                              <a:lnTo>
                                <a:pt x="125" y="32"/>
                              </a:lnTo>
                              <a:lnTo>
                                <a:pt x="116" y="30"/>
                              </a:lnTo>
                              <a:lnTo>
                                <a:pt x="106" y="30"/>
                              </a:lnTo>
                              <a:lnTo>
                                <a:pt x="100" y="26"/>
                              </a:lnTo>
                              <a:lnTo>
                                <a:pt x="93" y="24"/>
                              </a:lnTo>
                              <a:lnTo>
                                <a:pt x="84" y="22"/>
                              </a:lnTo>
                              <a:lnTo>
                                <a:pt x="74" y="22"/>
                              </a:lnTo>
                              <a:lnTo>
                                <a:pt x="64" y="24"/>
                              </a:lnTo>
                              <a:lnTo>
                                <a:pt x="55" y="23"/>
                              </a:lnTo>
                              <a:lnTo>
                                <a:pt x="44" y="22"/>
                              </a:lnTo>
                              <a:lnTo>
                                <a:pt x="34" y="26"/>
                              </a:lnTo>
                              <a:lnTo>
                                <a:pt x="23" y="32"/>
                              </a:lnTo>
                              <a:lnTo>
                                <a:pt x="14" y="39"/>
                              </a:lnTo>
                              <a:lnTo>
                                <a:pt x="9" y="48"/>
                              </a:lnTo>
                              <a:lnTo>
                                <a:pt x="0" y="4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A0806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grpSp>
                  <p:nvGrpSpPr>
                    <p:cNvPr id="642318" name="Group 270"/>
                    <p:cNvGrpSpPr/>
                    <p:nvPr/>
                  </p:nvGrpSpPr>
                  <p:grpSpPr bwMode="auto">
                    <a:xfrm>
                      <a:off x="2416" y="3070"/>
                      <a:ext cx="56" cy="36"/>
                      <a:chOff x="2416" y="3070"/>
                      <a:chExt cx="56" cy="36"/>
                    </a:xfrm>
                  </p:grpSpPr>
                  <p:grpSp>
                    <p:nvGrpSpPr>
                      <p:cNvPr id="642319" name="Group 271"/>
                      <p:cNvGrpSpPr/>
                      <p:nvPr/>
                    </p:nvGrpSpPr>
                    <p:grpSpPr bwMode="auto">
                      <a:xfrm>
                        <a:off x="2457" y="3070"/>
                        <a:ext cx="15" cy="20"/>
                        <a:chOff x="2457" y="3070"/>
                        <a:chExt cx="15" cy="20"/>
                      </a:xfrm>
                    </p:grpSpPr>
                    <p:sp>
                      <p:nvSpPr>
                        <p:cNvPr id="642320" name="Freeform 272"/>
                        <p:cNvSpPr/>
                        <p:nvPr/>
                      </p:nvSpPr>
                      <p:spPr bwMode="auto">
                        <a:xfrm>
                          <a:off x="2457" y="3073"/>
                          <a:ext cx="9" cy="14"/>
                        </a:xfrm>
                        <a:custGeom>
                          <a:avLst/>
                          <a:gdLst>
                            <a:gd name="T0" fmla="*/ 29 w 66"/>
                            <a:gd name="T1" fmla="*/ 0 h 109"/>
                            <a:gd name="T2" fmla="*/ 19 w 66"/>
                            <a:gd name="T3" fmla="*/ 24 h 109"/>
                            <a:gd name="T4" fmla="*/ 13 w 66"/>
                            <a:gd name="T5" fmla="*/ 46 h 109"/>
                            <a:gd name="T6" fmla="*/ 23 w 66"/>
                            <a:gd name="T7" fmla="*/ 38 h 109"/>
                            <a:gd name="T8" fmla="*/ 34 w 66"/>
                            <a:gd name="T9" fmla="*/ 34 h 109"/>
                            <a:gd name="T10" fmla="*/ 43 w 66"/>
                            <a:gd name="T11" fmla="*/ 37 h 109"/>
                            <a:gd name="T12" fmla="*/ 50 w 66"/>
                            <a:gd name="T13" fmla="*/ 45 h 109"/>
                            <a:gd name="T14" fmla="*/ 51 w 66"/>
                            <a:gd name="T15" fmla="*/ 55 h 109"/>
                            <a:gd name="T16" fmla="*/ 44 w 66"/>
                            <a:gd name="T17" fmla="*/ 51 h 109"/>
                            <a:gd name="T18" fmla="*/ 35 w 66"/>
                            <a:gd name="T19" fmla="*/ 47 h 109"/>
                            <a:gd name="T20" fmla="*/ 23 w 66"/>
                            <a:gd name="T21" fmla="*/ 46 h 109"/>
                            <a:gd name="T22" fmla="*/ 14 w 66"/>
                            <a:gd name="T23" fmla="*/ 50 h 109"/>
                            <a:gd name="T24" fmla="*/ 9 w 66"/>
                            <a:gd name="T25" fmla="*/ 61 h 109"/>
                            <a:gd name="T26" fmla="*/ 10 w 66"/>
                            <a:gd name="T27" fmla="*/ 74 h 109"/>
                            <a:gd name="T28" fmla="*/ 17 w 66"/>
                            <a:gd name="T29" fmla="*/ 82 h 109"/>
                            <a:gd name="T30" fmla="*/ 31 w 66"/>
                            <a:gd name="T31" fmla="*/ 83 h 109"/>
                            <a:gd name="T32" fmla="*/ 47 w 66"/>
                            <a:gd name="T33" fmla="*/ 85 h 109"/>
                            <a:gd name="T34" fmla="*/ 58 w 66"/>
                            <a:gd name="T35" fmla="*/ 90 h 109"/>
                            <a:gd name="T36" fmla="*/ 66 w 66"/>
                            <a:gd name="T37" fmla="*/ 100 h 109"/>
                            <a:gd name="T38" fmla="*/ 60 w 66"/>
                            <a:gd name="T39" fmla="*/ 108 h 109"/>
                            <a:gd name="T40" fmla="*/ 44 w 66"/>
                            <a:gd name="T41" fmla="*/ 109 h 109"/>
                            <a:gd name="T42" fmla="*/ 29 w 66"/>
                            <a:gd name="T43" fmla="*/ 105 h 109"/>
                            <a:gd name="T44" fmla="*/ 13 w 66"/>
                            <a:gd name="T45" fmla="*/ 94 h 109"/>
                            <a:gd name="T46" fmla="*/ 3 w 66"/>
                            <a:gd name="T47" fmla="*/ 85 h 109"/>
                            <a:gd name="T48" fmla="*/ 0 w 66"/>
                            <a:gd name="T49" fmla="*/ 70 h 109"/>
                            <a:gd name="T50" fmla="*/ 1 w 66"/>
                            <a:gd name="T51" fmla="*/ 59 h 109"/>
                            <a:gd name="T52" fmla="*/ 7 w 66"/>
                            <a:gd name="T53" fmla="*/ 44 h 109"/>
                            <a:gd name="T54" fmla="*/ 29 w 66"/>
                            <a:gd name="T55" fmla="*/ 0 h 10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</a:cxnLst>
                          <a:rect l="0" t="0" r="r" b="b"/>
                          <a:pathLst>
                            <a:path w="66" h="109">
                              <a:moveTo>
                                <a:pt x="29" y="0"/>
                              </a:moveTo>
                              <a:lnTo>
                                <a:pt x="19" y="24"/>
                              </a:lnTo>
                              <a:lnTo>
                                <a:pt x="13" y="46"/>
                              </a:lnTo>
                              <a:lnTo>
                                <a:pt x="23" y="38"/>
                              </a:lnTo>
                              <a:lnTo>
                                <a:pt x="34" y="34"/>
                              </a:lnTo>
                              <a:lnTo>
                                <a:pt x="43" y="37"/>
                              </a:lnTo>
                              <a:lnTo>
                                <a:pt x="50" y="45"/>
                              </a:lnTo>
                              <a:lnTo>
                                <a:pt x="51" y="55"/>
                              </a:lnTo>
                              <a:lnTo>
                                <a:pt x="44" y="51"/>
                              </a:lnTo>
                              <a:lnTo>
                                <a:pt x="35" y="47"/>
                              </a:lnTo>
                              <a:lnTo>
                                <a:pt x="23" y="46"/>
                              </a:lnTo>
                              <a:lnTo>
                                <a:pt x="14" y="50"/>
                              </a:lnTo>
                              <a:lnTo>
                                <a:pt x="9" y="61"/>
                              </a:lnTo>
                              <a:lnTo>
                                <a:pt x="10" y="74"/>
                              </a:lnTo>
                              <a:lnTo>
                                <a:pt x="17" y="82"/>
                              </a:lnTo>
                              <a:lnTo>
                                <a:pt x="31" y="83"/>
                              </a:lnTo>
                              <a:lnTo>
                                <a:pt x="47" y="85"/>
                              </a:lnTo>
                              <a:lnTo>
                                <a:pt x="58" y="90"/>
                              </a:lnTo>
                              <a:lnTo>
                                <a:pt x="66" y="100"/>
                              </a:lnTo>
                              <a:lnTo>
                                <a:pt x="60" y="108"/>
                              </a:lnTo>
                              <a:lnTo>
                                <a:pt x="44" y="109"/>
                              </a:lnTo>
                              <a:lnTo>
                                <a:pt x="29" y="105"/>
                              </a:lnTo>
                              <a:lnTo>
                                <a:pt x="13" y="94"/>
                              </a:lnTo>
                              <a:lnTo>
                                <a:pt x="3" y="85"/>
                              </a:lnTo>
                              <a:lnTo>
                                <a:pt x="0" y="70"/>
                              </a:lnTo>
                              <a:lnTo>
                                <a:pt x="1" y="59"/>
                              </a:lnTo>
                              <a:lnTo>
                                <a:pt x="7" y="44"/>
                              </a:lnTo>
                              <a:lnTo>
                                <a:pt x="29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321" name="Freeform 273"/>
                        <p:cNvSpPr/>
                        <p:nvPr/>
                      </p:nvSpPr>
                      <p:spPr bwMode="auto">
                        <a:xfrm>
                          <a:off x="2465" y="3070"/>
                          <a:ext cx="7" cy="20"/>
                        </a:xfrm>
                        <a:custGeom>
                          <a:avLst/>
                          <a:gdLst>
                            <a:gd name="T0" fmla="*/ 7 w 50"/>
                            <a:gd name="T1" fmla="*/ 0 h 159"/>
                            <a:gd name="T2" fmla="*/ 28 w 50"/>
                            <a:gd name="T3" fmla="*/ 34 h 159"/>
                            <a:gd name="T4" fmla="*/ 35 w 50"/>
                            <a:gd name="T5" fmla="*/ 50 h 159"/>
                            <a:gd name="T6" fmla="*/ 43 w 50"/>
                            <a:gd name="T7" fmla="*/ 72 h 159"/>
                            <a:gd name="T8" fmla="*/ 48 w 50"/>
                            <a:gd name="T9" fmla="*/ 86 h 159"/>
                            <a:gd name="T10" fmla="*/ 50 w 50"/>
                            <a:gd name="T11" fmla="*/ 102 h 159"/>
                            <a:gd name="T12" fmla="*/ 45 w 50"/>
                            <a:gd name="T13" fmla="*/ 114 h 159"/>
                            <a:gd name="T14" fmla="*/ 36 w 50"/>
                            <a:gd name="T15" fmla="*/ 119 h 159"/>
                            <a:gd name="T16" fmla="*/ 24 w 50"/>
                            <a:gd name="T17" fmla="*/ 122 h 159"/>
                            <a:gd name="T18" fmla="*/ 14 w 50"/>
                            <a:gd name="T19" fmla="*/ 125 h 159"/>
                            <a:gd name="T20" fmla="*/ 11 w 50"/>
                            <a:gd name="T21" fmla="*/ 159 h 159"/>
                            <a:gd name="T22" fmla="*/ 7 w 50"/>
                            <a:gd name="T23" fmla="*/ 139 h 159"/>
                            <a:gd name="T24" fmla="*/ 0 w 50"/>
                            <a:gd name="T25" fmla="*/ 126 h 159"/>
                            <a:gd name="T26" fmla="*/ 16 w 50"/>
                            <a:gd name="T27" fmla="*/ 119 h 159"/>
                            <a:gd name="T28" fmla="*/ 29 w 50"/>
                            <a:gd name="T29" fmla="*/ 112 h 159"/>
                            <a:gd name="T30" fmla="*/ 38 w 50"/>
                            <a:gd name="T31" fmla="*/ 99 h 159"/>
                            <a:gd name="T32" fmla="*/ 35 w 50"/>
                            <a:gd name="T33" fmla="*/ 77 h 159"/>
                            <a:gd name="T34" fmla="*/ 28 w 50"/>
                            <a:gd name="T35" fmla="*/ 54 h 159"/>
                            <a:gd name="T36" fmla="*/ 22 w 50"/>
                            <a:gd name="T37" fmla="*/ 33 h 159"/>
                            <a:gd name="T38" fmla="*/ 7 w 50"/>
                            <a:gd name="T39" fmla="*/ 0 h 15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</a:cxnLst>
                          <a:rect l="0" t="0" r="r" b="b"/>
                          <a:pathLst>
                            <a:path w="50" h="159">
                              <a:moveTo>
                                <a:pt x="7" y="0"/>
                              </a:moveTo>
                              <a:lnTo>
                                <a:pt x="28" y="34"/>
                              </a:lnTo>
                              <a:lnTo>
                                <a:pt x="35" y="50"/>
                              </a:lnTo>
                              <a:lnTo>
                                <a:pt x="43" y="72"/>
                              </a:lnTo>
                              <a:lnTo>
                                <a:pt x="48" y="86"/>
                              </a:lnTo>
                              <a:lnTo>
                                <a:pt x="50" y="102"/>
                              </a:lnTo>
                              <a:lnTo>
                                <a:pt x="45" y="114"/>
                              </a:lnTo>
                              <a:lnTo>
                                <a:pt x="36" y="119"/>
                              </a:lnTo>
                              <a:lnTo>
                                <a:pt x="24" y="122"/>
                              </a:lnTo>
                              <a:lnTo>
                                <a:pt x="14" y="125"/>
                              </a:lnTo>
                              <a:lnTo>
                                <a:pt x="11" y="159"/>
                              </a:lnTo>
                              <a:lnTo>
                                <a:pt x="7" y="139"/>
                              </a:lnTo>
                              <a:lnTo>
                                <a:pt x="0" y="126"/>
                              </a:lnTo>
                              <a:lnTo>
                                <a:pt x="16" y="119"/>
                              </a:lnTo>
                              <a:lnTo>
                                <a:pt x="29" y="112"/>
                              </a:lnTo>
                              <a:lnTo>
                                <a:pt x="38" y="99"/>
                              </a:lnTo>
                              <a:lnTo>
                                <a:pt x="35" y="77"/>
                              </a:lnTo>
                              <a:lnTo>
                                <a:pt x="28" y="54"/>
                              </a:lnTo>
                              <a:lnTo>
                                <a:pt x="22" y="33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642322" name="Group 274"/>
                      <p:cNvGrpSpPr/>
                      <p:nvPr/>
                    </p:nvGrpSpPr>
                    <p:grpSpPr bwMode="auto">
                      <a:xfrm>
                        <a:off x="2416" y="3082"/>
                        <a:ext cx="51" cy="24"/>
                        <a:chOff x="2416" y="3082"/>
                        <a:chExt cx="51" cy="24"/>
                      </a:xfrm>
                    </p:grpSpPr>
                    <p:grpSp>
                      <p:nvGrpSpPr>
                        <p:cNvPr id="642323" name="Group 275"/>
                        <p:cNvGrpSpPr/>
                        <p:nvPr/>
                      </p:nvGrpSpPr>
                      <p:grpSpPr bwMode="auto">
                        <a:xfrm>
                          <a:off x="2416" y="3082"/>
                          <a:ext cx="47" cy="24"/>
                          <a:chOff x="2416" y="3082"/>
                          <a:chExt cx="47" cy="24"/>
                        </a:xfrm>
                      </p:grpSpPr>
                      <p:sp>
                        <p:nvSpPr>
                          <p:cNvPr id="642324" name="Freeform 276"/>
                          <p:cNvSpPr/>
                          <p:nvPr/>
                        </p:nvSpPr>
                        <p:spPr bwMode="auto">
                          <a:xfrm>
                            <a:off x="2431" y="3097"/>
                            <a:ext cx="16" cy="9"/>
                          </a:xfrm>
                          <a:custGeom>
                            <a:avLst/>
                            <a:gdLst>
                              <a:gd name="T0" fmla="*/ 0 w 112"/>
                              <a:gd name="T1" fmla="*/ 0 h 69"/>
                              <a:gd name="T2" fmla="*/ 30 w 112"/>
                              <a:gd name="T3" fmla="*/ 24 h 69"/>
                              <a:gd name="T4" fmla="*/ 57 w 112"/>
                              <a:gd name="T5" fmla="*/ 41 h 69"/>
                              <a:gd name="T6" fmla="*/ 81 w 112"/>
                              <a:gd name="T7" fmla="*/ 51 h 69"/>
                              <a:gd name="T8" fmla="*/ 112 w 112"/>
                              <a:gd name="T9" fmla="*/ 61 h 69"/>
                              <a:gd name="T10" fmla="*/ 92 w 112"/>
                              <a:gd name="T11" fmla="*/ 69 h 69"/>
                              <a:gd name="T12" fmla="*/ 44 w 112"/>
                              <a:gd name="T13" fmla="*/ 51 h 69"/>
                              <a:gd name="T14" fmla="*/ 27 w 112"/>
                              <a:gd name="T15" fmla="*/ 40 h 69"/>
                              <a:gd name="T16" fmla="*/ 14 w 112"/>
                              <a:gd name="T17" fmla="*/ 23 h 69"/>
                              <a:gd name="T18" fmla="*/ 0 w 112"/>
                              <a:gd name="T19" fmla="*/ 0 h 6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</a:cxnLst>
                            <a:rect l="0" t="0" r="r" b="b"/>
                            <a:pathLst>
                              <a:path w="112" h="69">
                                <a:moveTo>
                                  <a:pt x="0" y="0"/>
                                </a:moveTo>
                                <a:lnTo>
                                  <a:pt x="30" y="24"/>
                                </a:lnTo>
                                <a:lnTo>
                                  <a:pt x="57" y="41"/>
                                </a:lnTo>
                                <a:lnTo>
                                  <a:pt x="81" y="51"/>
                                </a:lnTo>
                                <a:lnTo>
                                  <a:pt x="112" y="61"/>
                                </a:lnTo>
                                <a:lnTo>
                                  <a:pt x="92" y="69"/>
                                </a:lnTo>
                                <a:lnTo>
                                  <a:pt x="44" y="51"/>
                                </a:lnTo>
                                <a:lnTo>
                                  <a:pt x="27" y="40"/>
                                </a:lnTo>
                                <a:lnTo>
                                  <a:pt x="14" y="2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804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42325" name="Freeform 277"/>
                          <p:cNvSpPr/>
                          <p:nvPr/>
                        </p:nvSpPr>
                        <p:spPr bwMode="auto">
                          <a:xfrm>
                            <a:off x="2416" y="3082"/>
                            <a:ext cx="16" cy="19"/>
                          </a:xfrm>
                          <a:custGeom>
                            <a:avLst/>
                            <a:gdLst>
                              <a:gd name="T0" fmla="*/ 0 w 115"/>
                              <a:gd name="T1" fmla="*/ 0 h 149"/>
                              <a:gd name="T2" fmla="*/ 14 w 115"/>
                              <a:gd name="T3" fmla="*/ 35 h 149"/>
                              <a:gd name="T4" fmla="*/ 23 w 115"/>
                              <a:gd name="T5" fmla="*/ 54 h 149"/>
                              <a:gd name="T6" fmla="*/ 38 w 115"/>
                              <a:gd name="T7" fmla="*/ 70 h 149"/>
                              <a:gd name="T8" fmla="*/ 57 w 115"/>
                              <a:gd name="T9" fmla="*/ 90 h 149"/>
                              <a:gd name="T10" fmla="*/ 80 w 115"/>
                              <a:gd name="T11" fmla="*/ 111 h 149"/>
                              <a:gd name="T12" fmla="*/ 100 w 115"/>
                              <a:gd name="T13" fmla="*/ 126 h 149"/>
                              <a:gd name="T14" fmla="*/ 115 w 115"/>
                              <a:gd name="T15" fmla="*/ 149 h 149"/>
                              <a:gd name="T16" fmla="*/ 81 w 115"/>
                              <a:gd name="T17" fmla="*/ 124 h 149"/>
                              <a:gd name="T18" fmla="*/ 57 w 115"/>
                              <a:gd name="T19" fmla="*/ 104 h 149"/>
                              <a:gd name="T20" fmla="*/ 27 w 115"/>
                              <a:gd name="T21" fmla="*/ 75 h 149"/>
                              <a:gd name="T22" fmla="*/ 11 w 115"/>
                              <a:gd name="T23" fmla="*/ 48 h 149"/>
                              <a:gd name="T24" fmla="*/ 3 w 115"/>
                              <a:gd name="T25" fmla="*/ 23 h 149"/>
                              <a:gd name="T26" fmla="*/ 0 w 115"/>
                              <a:gd name="T27" fmla="*/ 0 h 14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</a:cxnLst>
                            <a:rect l="0" t="0" r="r" b="b"/>
                            <a:pathLst>
                              <a:path w="115" h="149">
                                <a:moveTo>
                                  <a:pt x="0" y="0"/>
                                </a:moveTo>
                                <a:lnTo>
                                  <a:pt x="14" y="35"/>
                                </a:lnTo>
                                <a:lnTo>
                                  <a:pt x="23" y="54"/>
                                </a:lnTo>
                                <a:lnTo>
                                  <a:pt x="38" y="70"/>
                                </a:lnTo>
                                <a:lnTo>
                                  <a:pt x="57" y="90"/>
                                </a:lnTo>
                                <a:lnTo>
                                  <a:pt x="80" y="111"/>
                                </a:lnTo>
                                <a:lnTo>
                                  <a:pt x="100" y="126"/>
                                </a:lnTo>
                                <a:lnTo>
                                  <a:pt x="115" y="149"/>
                                </a:lnTo>
                                <a:lnTo>
                                  <a:pt x="81" y="124"/>
                                </a:lnTo>
                                <a:lnTo>
                                  <a:pt x="57" y="104"/>
                                </a:lnTo>
                                <a:lnTo>
                                  <a:pt x="27" y="75"/>
                                </a:lnTo>
                                <a:lnTo>
                                  <a:pt x="11" y="48"/>
                                </a:lnTo>
                                <a:lnTo>
                                  <a:pt x="3" y="2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804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42326" name="Freeform 278"/>
                          <p:cNvSpPr/>
                          <p:nvPr/>
                        </p:nvSpPr>
                        <p:spPr bwMode="auto">
                          <a:xfrm>
                            <a:off x="2448" y="3102"/>
                            <a:ext cx="15" cy="4"/>
                          </a:xfrm>
                          <a:custGeom>
                            <a:avLst/>
                            <a:gdLst>
                              <a:gd name="T0" fmla="*/ 0 w 103"/>
                              <a:gd name="T1" fmla="*/ 26 h 36"/>
                              <a:gd name="T2" fmla="*/ 17 w 103"/>
                              <a:gd name="T3" fmla="*/ 22 h 36"/>
                              <a:gd name="T4" fmla="*/ 34 w 103"/>
                              <a:gd name="T5" fmla="*/ 17 h 36"/>
                              <a:gd name="T6" fmla="*/ 47 w 103"/>
                              <a:gd name="T7" fmla="*/ 9 h 36"/>
                              <a:gd name="T8" fmla="*/ 57 w 103"/>
                              <a:gd name="T9" fmla="*/ 0 h 36"/>
                              <a:gd name="T10" fmla="*/ 64 w 103"/>
                              <a:gd name="T11" fmla="*/ 12 h 36"/>
                              <a:gd name="T12" fmla="*/ 76 w 103"/>
                              <a:gd name="T13" fmla="*/ 19 h 36"/>
                              <a:gd name="T14" fmla="*/ 87 w 103"/>
                              <a:gd name="T15" fmla="*/ 22 h 36"/>
                              <a:gd name="T16" fmla="*/ 103 w 103"/>
                              <a:gd name="T17" fmla="*/ 19 h 36"/>
                              <a:gd name="T18" fmla="*/ 96 w 103"/>
                              <a:gd name="T19" fmla="*/ 28 h 36"/>
                              <a:gd name="T20" fmla="*/ 86 w 103"/>
                              <a:gd name="T21" fmla="*/ 33 h 36"/>
                              <a:gd name="T22" fmla="*/ 74 w 103"/>
                              <a:gd name="T23" fmla="*/ 36 h 36"/>
                              <a:gd name="T24" fmla="*/ 54 w 103"/>
                              <a:gd name="T25" fmla="*/ 36 h 36"/>
                              <a:gd name="T26" fmla="*/ 35 w 103"/>
                              <a:gd name="T27" fmla="*/ 33 h 36"/>
                              <a:gd name="T28" fmla="*/ 15 w 103"/>
                              <a:gd name="T29" fmla="*/ 32 h 36"/>
                              <a:gd name="T30" fmla="*/ 0 w 103"/>
                              <a:gd name="T31" fmla="*/ 26 h 36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</a:cxnLst>
                            <a:rect l="0" t="0" r="r" b="b"/>
                            <a:pathLst>
                              <a:path w="103" h="36">
                                <a:moveTo>
                                  <a:pt x="0" y="26"/>
                                </a:moveTo>
                                <a:lnTo>
                                  <a:pt x="17" y="22"/>
                                </a:lnTo>
                                <a:lnTo>
                                  <a:pt x="34" y="17"/>
                                </a:lnTo>
                                <a:lnTo>
                                  <a:pt x="47" y="9"/>
                                </a:lnTo>
                                <a:lnTo>
                                  <a:pt x="57" y="0"/>
                                </a:lnTo>
                                <a:lnTo>
                                  <a:pt x="64" y="12"/>
                                </a:lnTo>
                                <a:lnTo>
                                  <a:pt x="76" y="19"/>
                                </a:lnTo>
                                <a:lnTo>
                                  <a:pt x="87" y="22"/>
                                </a:lnTo>
                                <a:lnTo>
                                  <a:pt x="103" y="19"/>
                                </a:lnTo>
                                <a:lnTo>
                                  <a:pt x="96" y="28"/>
                                </a:lnTo>
                                <a:lnTo>
                                  <a:pt x="86" y="33"/>
                                </a:lnTo>
                                <a:lnTo>
                                  <a:pt x="74" y="36"/>
                                </a:lnTo>
                                <a:lnTo>
                                  <a:pt x="54" y="36"/>
                                </a:lnTo>
                                <a:lnTo>
                                  <a:pt x="35" y="33"/>
                                </a:lnTo>
                                <a:lnTo>
                                  <a:pt x="15" y="32"/>
                                </a:lnTo>
                                <a:lnTo>
                                  <a:pt x="0" y="2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804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642327" name="Group 279"/>
                        <p:cNvGrpSpPr/>
                        <p:nvPr/>
                      </p:nvGrpSpPr>
                      <p:grpSpPr bwMode="auto">
                        <a:xfrm>
                          <a:off x="2450" y="3087"/>
                          <a:ext cx="17" cy="11"/>
                          <a:chOff x="2450" y="3087"/>
                          <a:chExt cx="17" cy="11"/>
                        </a:xfrm>
                      </p:grpSpPr>
                      <p:sp>
                        <p:nvSpPr>
                          <p:cNvPr id="642328" name="Freeform 280"/>
                          <p:cNvSpPr/>
                          <p:nvPr/>
                        </p:nvSpPr>
                        <p:spPr bwMode="auto">
                          <a:xfrm>
                            <a:off x="2454" y="3092"/>
                            <a:ext cx="10" cy="6"/>
                          </a:xfrm>
                          <a:custGeom>
                            <a:avLst/>
                            <a:gdLst>
                              <a:gd name="T0" fmla="*/ 8 w 73"/>
                              <a:gd name="T1" fmla="*/ 0 h 49"/>
                              <a:gd name="T2" fmla="*/ 22 w 73"/>
                              <a:gd name="T3" fmla="*/ 7 h 49"/>
                              <a:gd name="T4" fmla="*/ 48 w 73"/>
                              <a:gd name="T5" fmla="*/ 19 h 49"/>
                              <a:gd name="T6" fmla="*/ 73 w 73"/>
                              <a:gd name="T7" fmla="*/ 21 h 49"/>
                              <a:gd name="T8" fmla="*/ 65 w 73"/>
                              <a:gd name="T9" fmla="*/ 36 h 49"/>
                              <a:gd name="T10" fmla="*/ 55 w 73"/>
                              <a:gd name="T11" fmla="*/ 38 h 49"/>
                              <a:gd name="T12" fmla="*/ 46 w 73"/>
                              <a:gd name="T13" fmla="*/ 37 h 49"/>
                              <a:gd name="T14" fmla="*/ 30 w 73"/>
                              <a:gd name="T15" fmla="*/ 32 h 49"/>
                              <a:gd name="T16" fmla="*/ 20 w 73"/>
                              <a:gd name="T17" fmla="*/ 34 h 49"/>
                              <a:gd name="T18" fmla="*/ 10 w 73"/>
                              <a:gd name="T19" fmla="*/ 40 h 49"/>
                              <a:gd name="T20" fmla="*/ 0 w 73"/>
                              <a:gd name="T21" fmla="*/ 49 h 49"/>
                              <a:gd name="T22" fmla="*/ 12 w 73"/>
                              <a:gd name="T23" fmla="*/ 30 h 49"/>
                              <a:gd name="T24" fmla="*/ 15 w 73"/>
                              <a:gd name="T25" fmla="*/ 19 h 49"/>
                              <a:gd name="T26" fmla="*/ 8 w 73"/>
                              <a:gd name="T27" fmla="*/ 0 h 4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</a:cxnLst>
                            <a:rect l="0" t="0" r="r" b="b"/>
                            <a:pathLst>
                              <a:path w="73" h="49">
                                <a:moveTo>
                                  <a:pt x="8" y="0"/>
                                </a:moveTo>
                                <a:lnTo>
                                  <a:pt x="22" y="7"/>
                                </a:lnTo>
                                <a:lnTo>
                                  <a:pt x="48" y="19"/>
                                </a:lnTo>
                                <a:lnTo>
                                  <a:pt x="73" y="21"/>
                                </a:lnTo>
                                <a:lnTo>
                                  <a:pt x="65" y="36"/>
                                </a:lnTo>
                                <a:lnTo>
                                  <a:pt x="55" y="38"/>
                                </a:lnTo>
                                <a:lnTo>
                                  <a:pt x="46" y="37"/>
                                </a:lnTo>
                                <a:lnTo>
                                  <a:pt x="30" y="32"/>
                                </a:lnTo>
                                <a:lnTo>
                                  <a:pt x="20" y="34"/>
                                </a:lnTo>
                                <a:lnTo>
                                  <a:pt x="10" y="40"/>
                                </a:lnTo>
                                <a:lnTo>
                                  <a:pt x="0" y="49"/>
                                </a:lnTo>
                                <a:lnTo>
                                  <a:pt x="12" y="30"/>
                                </a:lnTo>
                                <a:lnTo>
                                  <a:pt x="15" y="19"/>
                                </a:lnTo>
                                <a:lnTo>
                                  <a:pt x="8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803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42329" name="Freeform 281"/>
                          <p:cNvSpPr/>
                          <p:nvPr/>
                        </p:nvSpPr>
                        <p:spPr bwMode="auto">
                          <a:xfrm>
                            <a:off x="2451" y="3089"/>
                            <a:ext cx="13" cy="4"/>
                          </a:xfrm>
                          <a:custGeom>
                            <a:avLst/>
                            <a:gdLst>
                              <a:gd name="T0" fmla="*/ 0 w 95"/>
                              <a:gd name="T1" fmla="*/ 14 h 32"/>
                              <a:gd name="T2" fmla="*/ 41 w 95"/>
                              <a:gd name="T3" fmla="*/ 4 h 32"/>
                              <a:gd name="T4" fmla="*/ 73 w 95"/>
                              <a:gd name="T5" fmla="*/ 0 h 32"/>
                              <a:gd name="T6" fmla="*/ 95 w 95"/>
                              <a:gd name="T7" fmla="*/ 10 h 32"/>
                              <a:gd name="T8" fmla="*/ 95 w 95"/>
                              <a:gd name="T9" fmla="*/ 25 h 32"/>
                              <a:gd name="T10" fmla="*/ 90 w 95"/>
                              <a:gd name="T11" fmla="*/ 32 h 32"/>
                              <a:gd name="T12" fmla="*/ 64 w 95"/>
                              <a:gd name="T13" fmla="*/ 32 h 32"/>
                              <a:gd name="T14" fmla="*/ 0 w 95"/>
                              <a:gd name="T15" fmla="*/ 14 h 32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</a:cxnLst>
                            <a:rect l="0" t="0" r="r" b="b"/>
                            <a:pathLst>
                              <a:path w="95" h="32">
                                <a:moveTo>
                                  <a:pt x="0" y="14"/>
                                </a:moveTo>
                                <a:lnTo>
                                  <a:pt x="41" y="4"/>
                                </a:lnTo>
                                <a:lnTo>
                                  <a:pt x="73" y="0"/>
                                </a:lnTo>
                                <a:lnTo>
                                  <a:pt x="95" y="10"/>
                                </a:lnTo>
                                <a:lnTo>
                                  <a:pt x="95" y="25"/>
                                </a:lnTo>
                                <a:lnTo>
                                  <a:pt x="90" y="32"/>
                                </a:lnTo>
                                <a:lnTo>
                                  <a:pt x="64" y="32"/>
                                </a:lnTo>
                                <a:lnTo>
                                  <a:pt x="0" y="1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4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42330" name="Freeform 282"/>
                          <p:cNvSpPr/>
                          <p:nvPr/>
                        </p:nvSpPr>
                        <p:spPr bwMode="auto">
                          <a:xfrm>
                            <a:off x="2450" y="3087"/>
                            <a:ext cx="17" cy="5"/>
                          </a:xfrm>
                          <a:custGeom>
                            <a:avLst/>
                            <a:gdLst>
                              <a:gd name="T0" fmla="*/ 0 w 121"/>
                              <a:gd name="T1" fmla="*/ 33 h 34"/>
                              <a:gd name="T2" fmla="*/ 16 w 121"/>
                              <a:gd name="T3" fmla="*/ 34 h 34"/>
                              <a:gd name="T4" fmla="*/ 35 w 121"/>
                              <a:gd name="T5" fmla="*/ 31 h 34"/>
                              <a:gd name="T6" fmla="*/ 59 w 121"/>
                              <a:gd name="T7" fmla="*/ 31 h 34"/>
                              <a:gd name="T8" fmla="*/ 77 w 121"/>
                              <a:gd name="T9" fmla="*/ 29 h 34"/>
                              <a:gd name="T10" fmla="*/ 88 w 121"/>
                              <a:gd name="T11" fmla="*/ 29 h 34"/>
                              <a:gd name="T12" fmla="*/ 105 w 121"/>
                              <a:gd name="T13" fmla="*/ 31 h 34"/>
                              <a:gd name="T14" fmla="*/ 112 w 121"/>
                              <a:gd name="T15" fmla="*/ 27 h 34"/>
                              <a:gd name="T16" fmla="*/ 117 w 121"/>
                              <a:gd name="T17" fmla="*/ 22 h 34"/>
                              <a:gd name="T18" fmla="*/ 121 w 121"/>
                              <a:gd name="T19" fmla="*/ 17 h 34"/>
                              <a:gd name="T20" fmla="*/ 113 w 121"/>
                              <a:gd name="T21" fmla="*/ 8 h 34"/>
                              <a:gd name="T22" fmla="*/ 101 w 121"/>
                              <a:gd name="T23" fmla="*/ 1 h 34"/>
                              <a:gd name="T24" fmla="*/ 90 w 121"/>
                              <a:gd name="T25" fmla="*/ 0 h 34"/>
                              <a:gd name="T26" fmla="*/ 76 w 121"/>
                              <a:gd name="T27" fmla="*/ 1 h 34"/>
                              <a:gd name="T28" fmla="*/ 55 w 121"/>
                              <a:gd name="T29" fmla="*/ 11 h 34"/>
                              <a:gd name="T30" fmla="*/ 37 w 121"/>
                              <a:gd name="T31" fmla="*/ 21 h 34"/>
                              <a:gd name="T32" fmla="*/ 16 w 121"/>
                              <a:gd name="T33" fmla="*/ 26 h 34"/>
                              <a:gd name="T34" fmla="*/ 0 w 121"/>
                              <a:gd name="T35" fmla="*/ 33 h 34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</a:cxnLst>
                            <a:rect l="0" t="0" r="r" b="b"/>
                            <a:pathLst>
                              <a:path w="121" h="34">
                                <a:moveTo>
                                  <a:pt x="0" y="33"/>
                                </a:moveTo>
                                <a:lnTo>
                                  <a:pt x="16" y="34"/>
                                </a:lnTo>
                                <a:lnTo>
                                  <a:pt x="35" y="31"/>
                                </a:lnTo>
                                <a:lnTo>
                                  <a:pt x="59" y="31"/>
                                </a:lnTo>
                                <a:lnTo>
                                  <a:pt x="77" y="29"/>
                                </a:lnTo>
                                <a:lnTo>
                                  <a:pt x="88" y="29"/>
                                </a:lnTo>
                                <a:lnTo>
                                  <a:pt x="105" y="31"/>
                                </a:lnTo>
                                <a:lnTo>
                                  <a:pt x="112" y="27"/>
                                </a:lnTo>
                                <a:lnTo>
                                  <a:pt x="117" y="22"/>
                                </a:lnTo>
                                <a:lnTo>
                                  <a:pt x="121" y="17"/>
                                </a:lnTo>
                                <a:lnTo>
                                  <a:pt x="113" y="8"/>
                                </a:lnTo>
                                <a:lnTo>
                                  <a:pt x="101" y="1"/>
                                </a:lnTo>
                                <a:lnTo>
                                  <a:pt x="90" y="0"/>
                                </a:lnTo>
                                <a:lnTo>
                                  <a:pt x="76" y="1"/>
                                </a:lnTo>
                                <a:lnTo>
                                  <a:pt x="55" y="11"/>
                                </a:lnTo>
                                <a:lnTo>
                                  <a:pt x="37" y="21"/>
                                </a:lnTo>
                                <a:lnTo>
                                  <a:pt x="16" y="26"/>
                                </a:lnTo>
                                <a:lnTo>
                                  <a:pt x="0" y="3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804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42331" name="Freeform 283"/>
                          <p:cNvSpPr/>
                          <p:nvPr/>
                        </p:nvSpPr>
                        <p:spPr bwMode="auto">
                          <a:xfrm>
                            <a:off x="2450" y="3090"/>
                            <a:ext cx="15" cy="6"/>
                          </a:xfrm>
                          <a:custGeom>
                            <a:avLst/>
                            <a:gdLst>
                              <a:gd name="T0" fmla="*/ 0 w 107"/>
                              <a:gd name="T1" fmla="*/ 0 h 43"/>
                              <a:gd name="T2" fmla="*/ 42 w 107"/>
                              <a:gd name="T3" fmla="*/ 10 h 43"/>
                              <a:gd name="T4" fmla="*/ 69 w 107"/>
                              <a:gd name="T5" fmla="*/ 12 h 43"/>
                              <a:gd name="T6" fmla="*/ 82 w 107"/>
                              <a:gd name="T7" fmla="*/ 12 h 43"/>
                              <a:gd name="T8" fmla="*/ 94 w 107"/>
                              <a:gd name="T9" fmla="*/ 10 h 43"/>
                              <a:gd name="T10" fmla="*/ 102 w 107"/>
                              <a:gd name="T11" fmla="*/ 5 h 43"/>
                              <a:gd name="T12" fmla="*/ 106 w 107"/>
                              <a:gd name="T13" fmla="*/ 14 h 43"/>
                              <a:gd name="T14" fmla="*/ 107 w 107"/>
                              <a:gd name="T15" fmla="*/ 23 h 43"/>
                              <a:gd name="T16" fmla="*/ 105 w 107"/>
                              <a:gd name="T17" fmla="*/ 36 h 43"/>
                              <a:gd name="T18" fmla="*/ 97 w 107"/>
                              <a:gd name="T19" fmla="*/ 41 h 43"/>
                              <a:gd name="T20" fmla="*/ 90 w 107"/>
                              <a:gd name="T21" fmla="*/ 43 h 43"/>
                              <a:gd name="T22" fmla="*/ 80 w 107"/>
                              <a:gd name="T23" fmla="*/ 42 h 43"/>
                              <a:gd name="T24" fmla="*/ 64 w 107"/>
                              <a:gd name="T25" fmla="*/ 36 h 43"/>
                              <a:gd name="T26" fmla="*/ 46 w 107"/>
                              <a:gd name="T27" fmla="*/ 29 h 43"/>
                              <a:gd name="T28" fmla="*/ 31 w 107"/>
                              <a:gd name="T29" fmla="*/ 20 h 43"/>
                              <a:gd name="T30" fmla="*/ 19 w 107"/>
                              <a:gd name="T31" fmla="*/ 12 h 43"/>
                              <a:gd name="T32" fmla="*/ 0 w 107"/>
                              <a:gd name="T33" fmla="*/ 0 h 4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</a:cxnLst>
                            <a:rect l="0" t="0" r="r" b="b"/>
                            <a:pathLst>
                              <a:path w="107" h="43">
                                <a:moveTo>
                                  <a:pt x="0" y="0"/>
                                </a:moveTo>
                                <a:lnTo>
                                  <a:pt x="42" y="10"/>
                                </a:lnTo>
                                <a:lnTo>
                                  <a:pt x="69" y="12"/>
                                </a:lnTo>
                                <a:lnTo>
                                  <a:pt x="82" y="12"/>
                                </a:lnTo>
                                <a:lnTo>
                                  <a:pt x="94" y="10"/>
                                </a:lnTo>
                                <a:lnTo>
                                  <a:pt x="102" y="5"/>
                                </a:lnTo>
                                <a:lnTo>
                                  <a:pt x="106" y="14"/>
                                </a:lnTo>
                                <a:lnTo>
                                  <a:pt x="107" y="23"/>
                                </a:lnTo>
                                <a:lnTo>
                                  <a:pt x="105" y="36"/>
                                </a:lnTo>
                                <a:lnTo>
                                  <a:pt x="97" y="41"/>
                                </a:lnTo>
                                <a:lnTo>
                                  <a:pt x="90" y="43"/>
                                </a:lnTo>
                                <a:lnTo>
                                  <a:pt x="80" y="42"/>
                                </a:lnTo>
                                <a:lnTo>
                                  <a:pt x="64" y="36"/>
                                </a:lnTo>
                                <a:lnTo>
                                  <a:pt x="46" y="29"/>
                                </a:lnTo>
                                <a:lnTo>
                                  <a:pt x="31" y="20"/>
                                </a:lnTo>
                                <a:lnTo>
                                  <a:pt x="19" y="12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804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</p:grpSp>
              </p:grpSp>
            </p:grpSp>
            <p:sp>
              <p:nvSpPr>
                <p:cNvPr id="642332" name="Freeform 284"/>
                <p:cNvSpPr/>
                <p:nvPr/>
              </p:nvSpPr>
              <p:spPr bwMode="auto">
                <a:xfrm>
                  <a:off x="2398" y="3018"/>
                  <a:ext cx="78" cy="63"/>
                </a:xfrm>
                <a:custGeom>
                  <a:avLst/>
                  <a:gdLst>
                    <a:gd name="T0" fmla="*/ 545 w 547"/>
                    <a:gd name="T1" fmla="*/ 229 h 502"/>
                    <a:gd name="T2" fmla="*/ 541 w 547"/>
                    <a:gd name="T3" fmla="*/ 166 h 502"/>
                    <a:gd name="T4" fmla="*/ 524 w 547"/>
                    <a:gd name="T5" fmla="*/ 146 h 502"/>
                    <a:gd name="T6" fmla="*/ 511 w 547"/>
                    <a:gd name="T7" fmla="*/ 112 h 502"/>
                    <a:gd name="T8" fmla="*/ 466 w 547"/>
                    <a:gd name="T9" fmla="*/ 86 h 502"/>
                    <a:gd name="T10" fmla="*/ 426 w 547"/>
                    <a:gd name="T11" fmla="*/ 52 h 502"/>
                    <a:gd name="T12" fmla="*/ 374 w 547"/>
                    <a:gd name="T13" fmla="*/ 22 h 502"/>
                    <a:gd name="T14" fmla="*/ 327 w 547"/>
                    <a:gd name="T15" fmla="*/ 9 h 502"/>
                    <a:gd name="T16" fmla="*/ 250 w 547"/>
                    <a:gd name="T17" fmla="*/ 3 h 502"/>
                    <a:gd name="T18" fmla="*/ 197 w 547"/>
                    <a:gd name="T19" fmla="*/ 15 h 502"/>
                    <a:gd name="T20" fmla="*/ 143 w 547"/>
                    <a:gd name="T21" fmla="*/ 20 h 502"/>
                    <a:gd name="T22" fmla="*/ 109 w 547"/>
                    <a:gd name="T23" fmla="*/ 51 h 502"/>
                    <a:gd name="T24" fmla="*/ 84 w 547"/>
                    <a:gd name="T25" fmla="*/ 76 h 502"/>
                    <a:gd name="T26" fmla="*/ 63 w 547"/>
                    <a:gd name="T27" fmla="*/ 101 h 502"/>
                    <a:gd name="T28" fmla="*/ 45 w 547"/>
                    <a:gd name="T29" fmla="*/ 153 h 502"/>
                    <a:gd name="T30" fmla="*/ 11 w 547"/>
                    <a:gd name="T31" fmla="*/ 178 h 502"/>
                    <a:gd name="T32" fmla="*/ 6 w 547"/>
                    <a:gd name="T33" fmla="*/ 229 h 502"/>
                    <a:gd name="T34" fmla="*/ 12 w 547"/>
                    <a:gd name="T35" fmla="*/ 293 h 502"/>
                    <a:gd name="T36" fmla="*/ 0 w 547"/>
                    <a:gd name="T37" fmla="*/ 357 h 502"/>
                    <a:gd name="T38" fmla="*/ 20 w 547"/>
                    <a:gd name="T39" fmla="*/ 432 h 502"/>
                    <a:gd name="T40" fmla="*/ 52 w 547"/>
                    <a:gd name="T41" fmla="*/ 476 h 502"/>
                    <a:gd name="T42" fmla="*/ 84 w 547"/>
                    <a:gd name="T43" fmla="*/ 500 h 502"/>
                    <a:gd name="T44" fmla="*/ 103 w 547"/>
                    <a:gd name="T45" fmla="*/ 469 h 502"/>
                    <a:gd name="T46" fmla="*/ 88 w 547"/>
                    <a:gd name="T47" fmla="*/ 435 h 502"/>
                    <a:gd name="T48" fmla="*/ 64 w 547"/>
                    <a:gd name="T49" fmla="*/ 404 h 502"/>
                    <a:gd name="T50" fmla="*/ 68 w 547"/>
                    <a:gd name="T51" fmla="*/ 359 h 502"/>
                    <a:gd name="T52" fmla="*/ 133 w 547"/>
                    <a:gd name="T53" fmla="*/ 348 h 502"/>
                    <a:gd name="T54" fmla="*/ 150 w 547"/>
                    <a:gd name="T55" fmla="*/ 389 h 502"/>
                    <a:gd name="T56" fmla="*/ 192 w 547"/>
                    <a:gd name="T57" fmla="*/ 389 h 502"/>
                    <a:gd name="T58" fmla="*/ 231 w 547"/>
                    <a:gd name="T59" fmla="*/ 362 h 502"/>
                    <a:gd name="T60" fmla="*/ 270 w 547"/>
                    <a:gd name="T61" fmla="*/ 332 h 502"/>
                    <a:gd name="T62" fmla="*/ 279 w 547"/>
                    <a:gd name="T63" fmla="*/ 274 h 502"/>
                    <a:gd name="T64" fmla="*/ 331 w 547"/>
                    <a:gd name="T65" fmla="*/ 276 h 502"/>
                    <a:gd name="T66" fmla="*/ 339 w 547"/>
                    <a:gd name="T67" fmla="*/ 287 h 502"/>
                    <a:gd name="T68" fmla="*/ 306 w 547"/>
                    <a:gd name="T69" fmla="*/ 308 h 502"/>
                    <a:gd name="T70" fmla="*/ 327 w 547"/>
                    <a:gd name="T71" fmla="*/ 322 h 502"/>
                    <a:gd name="T72" fmla="*/ 378 w 547"/>
                    <a:gd name="T73" fmla="*/ 319 h 502"/>
                    <a:gd name="T74" fmla="*/ 380 w 547"/>
                    <a:gd name="T75" fmla="*/ 335 h 502"/>
                    <a:gd name="T76" fmla="*/ 403 w 547"/>
                    <a:gd name="T77" fmla="*/ 342 h 502"/>
                    <a:gd name="T78" fmla="*/ 451 w 547"/>
                    <a:gd name="T79" fmla="*/ 317 h 502"/>
                    <a:gd name="T80" fmla="*/ 433 w 547"/>
                    <a:gd name="T81" fmla="*/ 348 h 502"/>
                    <a:gd name="T82" fmla="*/ 484 w 547"/>
                    <a:gd name="T83" fmla="*/ 340 h 502"/>
                    <a:gd name="T84" fmla="*/ 530 w 547"/>
                    <a:gd name="T85" fmla="*/ 280 h 5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547" h="502">
                      <a:moveTo>
                        <a:pt x="530" y="280"/>
                      </a:moveTo>
                      <a:lnTo>
                        <a:pt x="540" y="250"/>
                      </a:lnTo>
                      <a:lnTo>
                        <a:pt x="545" y="229"/>
                      </a:lnTo>
                      <a:lnTo>
                        <a:pt x="547" y="207"/>
                      </a:lnTo>
                      <a:lnTo>
                        <a:pt x="546" y="187"/>
                      </a:lnTo>
                      <a:lnTo>
                        <a:pt x="541" y="166"/>
                      </a:lnTo>
                      <a:lnTo>
                        <a:pt x="529" y="162"/>
                      </a:lnTo>
                      <a:lnTo>
                        <a:pt x="518" y="160"/>
                      </a:lnTo>
                      <a:lnTo>
                        <a:pt x="524" y="146"/>
                      </a:lnTo>
                      <a:lnTo>
                        <a:pt x="527" y="133"/>
                      </a:lnTo>
                      <a:lnTo>
                        <a:pt x="524" y="123"/>
                      </a:lnTo>
                      <a:lnTo>
                        <a:pt x="511" y="112"/>
                      </a:lnTo>
                      <a:lnTo>
                        <a:pt x="491" y="104"/>
                      </a:lnTo>
                      <a:lnTo>
                        <a:pt x="475" y="99"/>
                      </a:lnTo>
                      <a:lnTo>
                        <a:pt x="466" y="86"/>
                      </a:lnTo>
                      <a:lnTo>
                        <a:pt x="454" y="77"/>
                      </a:lnTo>
                      <a:lnTo>
                        <a:pt x="438" y="70"/>
                      </a:lnTo>
                      <a:lnTo>
                        <a:pt x="426" y="52"/>
                      </a:lnTo>
                      <a:lnTo>
                        <a:pt x="410" y="40"/>
                      </a:lnTo>
                      <a:lnTo>
                        <a:pt x="387" y="34"/>
                      </a:lnTo>
                      <a:lnTo>
                        <a:pt x="374" y="22"/>
                      </a:lnTo>
                      <a:lnTo>
                        <a:pt x="362" y="15"/>
                      </a:lnTo>
                      <a:lnTo>
                        <a:pt x="341" y="12"/>
                      </a:lnTo>
                      <a:lnTo>
                        <a:pt x="327" y="9"/>
                      </a:lnTo>
                      <a:lnTo>
                        <a:pt x="298" y="3"/>
                      </a:lnTo>
                      <a:lnTo>
                        <a:pt x="272" y="0"/>
                      </a:lnTo>
                      <a:lnTo>
                        <a:pt x="250" y="3"/>
                      </a:lnTo>
                      <a:lnTo>
                        <a:pt x="231" y="11"/>
                      </a:lnTo>
                      <a:lnTo>
                        <a:pt x="212" y="13"/>
                      </a:lnTo>
                      <a:lnTo>
                        <a:pt x="197" y="15"/>
                      </a:lnTo>
                      <a:lnTo>
                        <a:pt x="181" y="12"/>
                      </a:lnTo>
                      <a:lnTo>
                        <a:pt x="162" y="15"/>
                      </a:lnTo>
                      <a:lnTo>
                        <a:pt x="143" y="20"/>
                      </a:lnTo>
                      <a:lnTo>
                        <a:pt x="128" y="32"/>
                      </a:lnTo>
                      <a:lnTo>
                        <a:pt x="121" y="46"/>
                      </a:lnTo>
                      <a:lnTo>
                        <a:pt x="109" y="51"/>
                      </a:lnTo>
                      <a:lnTo>
                        <a:pt x="100" y="61"/>
                      </a:lnTo>
                      <a:lnTo>
                        <a:pt x="93" y="72"/>
                      </a:lnTo>
                      <a:lnTo>
                        <a:pt x="84" y="76"/>
                      </a:lnTo>
                      <a:lnTo>
                        <a:pt x="78" y="81"/>
                      </a:lnTo>
                      <a:lnTo>
                        <a:pt x="74" y="93"/>
                      </a:lnTo>
                      <a:lnTo>
                        <a:pt x="63" y="101"/>
                      </a:lnTo>
                      <a:lnTo>
                        <a:pt x="56" y="111"/>
                      </a:lnTo>
                      <a:lnTo>
                        <a:pt x="51" y="129"/>
                      </a:lnTo>
                      <a:lnTo>
                        <a:pt x="45" y="153"/>
                      </a:lnTo>
                      <a:lnTo>
                        <a:pt x="27" y="158"/>
                      </a:lnTo>
                      <a:lnTo>
                        <a:pt x="16" y="165"/>
                      </a:lnTo>
                      <a:lnTo>
                        <a:pt x="11" y="178"/>
                      </a:lnTo>
                      <a:lnTo>
                        <a:pt x="14" y="190"/>
                      </a:lnTo>
                      <a:lnTo>
                        <a:pt x="9" y="209"/>
                      </a:lnTo>
                      <a:lnTo>
                        <a:pt x="6" y="229"/>
                      </a:lnTo>
                      <a:lnTo>
                        <a:pt x="7" y="249"/>
                      </a:lnTo>
                      <a:lnTo>
                        <a:pt x="11" y="273"/>
                      </a:lnTo>
                      <a:lnTo>
                        <a:pt x="12" y="293"/>
                      </a:lnTo>
                      <a:lnTo>
                        <a:pt x="9" y="315"/>
                      </a:lnTo>
                      <a:lnTo>
                        <a:pt x="3" y="335"/>
                      </a:lnTo>
                      <a:lnTo>
                        <a:pt x="0" y="357"/>
                      </a:lnTo>
                      <a:lnTo>
                        <a:pt x="3" y="383"/>
                      </a:lnTo>
                      <a:lnTo>
                        <a:pt x="8" y="407"/>
                      </a:lnTo>
                      <a:lnTo>
                        <a:pt x="20" y="432"/>
                      </a:lnTo>
                      <a:lnTo>
                        <a:pt x="28" y="449"/>
                      </a:lnTo>
                      <a:lnTo>
                        <a:pt x="39" y="461"/>
                      </a:lnTo>
                      <a:lnTo>
                        <a:pt x="52" y="476"/>
                      </a:lnTo>
                      <a:lnTo>
                        <a:pt x="58" y="492"/>
                      </a:lnTo>
                      <a:lnTo>
                        <a:pt x="69" y="502"/>
                      </a:lnTo>
                      <a:lnTo>
                        <a:pt x="84" y="500"/>
                      </a:lnTo>
                      <a:lnTo>
                        <a:pt x="97" y="494"/>
                      </a:lnTo>
                      <a:lnTo>
                        <a:pt x="103" y="480"/>
                      </a:lnTo>
                      <a:lnTo>
                        <a:pt x="103" y="469"/>
                      </a:lnTo>
                      <a:lnTo>
                        <a:pt x="99" y="447"/>
                      </a:lnTo>
                      <a:lnTo>
                        <a:pt x="103" y="438"/>
                      </a:lnTo>
                      <a:lnTo>
                        <a:pt x="88" y="435"/>
                      </a:lnTo>
                      <a:lnTo>
                        <a:pt x="74" y="438"/>
                      </a:lnTo>
                      <a:lnTo>
                        <a:pt x="70" y="419"/>
                      </a:lnTo>
                      <a:lnTo>
                        <a:pt x="64" y="404"/>
                      </a:lnTo>
                      <a:lnTo>
                        <a:pt x="69" y="385"/>
                      </a:lnTo>
                      <a:lnTo>
                        <a:pt x="70" y="372"/>
                      </a:lnTo>
                      <a:lnTo>
                        <a:pt x="68" y="359"/>
                      </a:lnTo>
                      <a:lnTo>
                        <a:pt x="88" y="347"/>
                      </a:lnTo>
                      <a:lnTo>
                        <a:pt x="110" y="343"/>
                      </a:lnTo>
                      <a:lnTo>
                        <a:pt x="133" y="348"/>
                      </a:lnTo>
                      <a:lnTo>
                        <a:pt x="134" y="363"/>
                      </a:lnTo>
                      <a:lnTo>
                        <a:pt x="141" y="377"/>
                      </a:lnTo>
                      <a:lnTo>
                        <a:pt x="150" y="389"/>
                      </a:lnTo>
                      <a:lnTo>
                        <a:pt x="164" y="393"/>
                      </a:lnTo>
                      <a:lnTo>
                        <a:pt x="180" y="394"/>
                      </a:lnTo>
                      <a:lnTo>
                        <a:pt x="192" y="389"/>
                      </a:lnTo>
                      <a:lnTo>
                        <a:pt x="206" y="377"/>
                      </a:lnTo>
                      <a:lnTo>
                        <a:pt x="216" y="359"/>
                      </a:lnTo>
                      <a:lnTo>
                        <a:pt x="231" y="362"/>
                      </a:lnTo>
                      <a:lnTo>
                        <a:pt x="245" y="359"/>
                      </a:lnTo>
                      <a:lnTo>
                        <a:pt x="262" y="348"/>
                      </a:lnTo>
                      <a:lnTo>
                        <a:pt x="270" y="332"/>
                      </a:lnTo>
                      <a:lnTo>
                        <a:pt x="273" y="317"/>
                      </a:lnTo>
                      <a:lnTo>
                        <a:pt x="268" y="293"/>
                      </a:lnTo>
                      <a:lnTo>
                        <a:pt x="279" y="274"/>
                      </a:lnTo>
                      <a:lnTo>
                        <a:pt x="298" y="277"/>
                      </a:lnTo>
                      <a:lnTo>
                        <a:pt x="318" y="280"/>
                      </a:lnTo>
                      <a:lnTo>
                        <a:pt x="331" y="276"/>
                      </a:lnTo>
                      <a:lnTo>
                        <a:pt x="339" y="268"/>
                      </a:lnTo>
                      <a:lnTo>
                        <a:pt x="342" y="275"/>
                      </a:lnTo>
                      <a:lnTo>
                        <a:pt x="339" y="287"/>
                      </a:lnTo>
                      <a:lnTo>
                        <a:pt x="331" y="296"/>
                      </a:lnTo>
                      <a:lnTo>
                        <a:pt x="321" y="303"/>
                      </a:lnTo>
                      <a:lnTo>
                        <a:pt x="306" y="308"/>
                      </a:lnTo>
                      <a:lnTo>
                        <a:pt x="291" y="311"/>
                      </a:lnTo>
                      <a:lnTo>
                        <a:pt x="310" y="319"/>
                      </a:lnTo>
                      <a:lnTo>
                        <a:pt x="327" y="322"/>
                      </a:lnTo>
                      <a:lnTo>
                        <a:pt x="343" y="323"/>
                      </a:lnTo>
                      <a:lnTo>
                        <a:pt x="362" y="322"/>
                      </a:lnTo>
                      <a:lnTo>
                        <a:pt x="378" y="319"/>
                      </a:lnTo>
                      <a:lnTo>
                        <a:pt x="398" y="317"/>
                      </a:lnTo>
                      <a:lnTo>
                        <a:pt x="390" y="328"/>
                      </a:lnTo>
                      <a:lnTo>
                        <a:pt x="380" y="335"/>
                      </a:lnTo>
                      <a:lnTo>
                        <a:pt x="367" y="341"/>
                      </a:lnTo>
                      <a:lnTo>
                        <a:pt x="382" y="343"/>
                      </a:lnTo>
                      <a:lnTo>
                        <a:pt x="403" y="342"/>
                      </a:lnTo>
                      <a:lnTo>
                        <a:pt x="419" y="339"/>
                      </a:lnTo>
                      <a:lnTo>
                        <a:pt x="432" y="332"/>
                      </a:lnTo>
                      <a:lnTo>
                        <a:pt x="451" y="317"/>
                      </a:lnTo>
                      <a:lnTo>
                        <a:pt x="450" y="327"/>
                      </a:lnTo>
                      <a:lnTo>
                        <a:pt x="442" y="339"/>
                      </a:lnTo>
                      <a:lnTo>
                        <a:pt x="433" y="348"/>
                      </a:lnTo>
                      <a:lnTo>
                        <a:pt x="450" y="350"/>
                      </a:lnTo>
                      <a:lnTo>
                        <a:pt x="469" y="347"/>
                      </a:lnTo>
                      <a:lnTo>
                        <a:pt x="484" y="340"/>
                      </a:lnTo>
                      <a:lnTo>
                        <a:pt x="502" y="324"/>
                      </a:lnTo>
                      <a:lnTo>
                        <a:pt x="517" y="306"/>
                      </a:lnTo>
                      <a:lnTo>
                        <a:pt x="530" y="280"/>
                      </a:lnTo>
                      <a:close/>
                    </a:path>
                  </a:pathLst>
                </a:custGeom>
                <a:solidFill>
                  <a:srgbClr val="A08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42333" name="Group 285"/>
            <p:cNvGrpSpPr/>
            <p:nvPr/>
          </p:nvGrpSpPr>
          <p:grpSpPr bwMode="auto">
            <a:xfrm>
              <a:off x="2570" y="2934"/>
              <a:ext cx="238" cy="267"/>
              <a:chOff x="2570" y="2934"/>
              <a:chExt cx="238" cy="267"/>
            </a:xfrm>
          </p:grpSpPr>
          <p:grpSp>
            <p:nvGrpSpPr>
              <p:cNvPr id="642334" name="Group 286"/>
              <p:cNvGrpSpPr/>
              <p:nvPr/>
            </p:nvGrpSpPr>
            <p:grpSpPr bwMode="auto">
              <a:xfrm>
                <a:off x="2570" y="2992"/>
                <a:ext cx="154" cy="209"/>
                <a:chOff x="2570" y="2992"/>
                <a:chExt cx="154" cy="209"/>
              </a:xfrm>
            </p:grpSpPr>
            <p:grpSp>
              <p:nvGrpSpPr>
                <p:cNvPr id="642335" name="Group 287"/>
                <p:cNvGrpSpPr/>
                <p:nvPr/>
              </p:nvGrpSpPr>
              <p:grpSpPr bwMode="auto">
                <a:xfrm>
                  <a:off x="2570" y="2992"/>
                  <a:ext cx="154" cy="209"/>
                  <a:chOff x="2570" y="2992"/>
                  <a:chExt cx="154" cy="209"/>
                </a:xfrm>
              </p:grpSpPr>
              <p:grpSp>
                <p:nvGrpSpPr>
                  <p:cNvPr id="642336" name="Group 288"/>
                  <p:cNvGrpSpPr/>
                  <p:nvPr/>
                </p:nvGrpSpPr>
                <p:grpSpPr bwMode="auto">
                  <a:xfrm>
                    <a:off x="2570" y="3112"/>
                    <a:ext cx="67" cy="89"/>
                    <a:chOff x="2570" y="3112"/>
                    <a:chExt cx="67" cy="89"/>
                  </a:xfrm>
                </p:grpSpPr>
                <p:grpSp>
                  <p:nvGrpSpPr>
                    <p:cNvPr id="642337" name="Group 289"/>
                    <p:cNvGrpSpPr/>
                    <p:nvPr/>
                  </p:nvGrpSpPr>
                  <p:grpSpPr bwMode="auto">
                    <a:xfrm>
                      <a:off x="2570" y="3133"/>
                      <a:ext cx="51" cy="68"/>
                      <a:chOff x="2570" y="3133"/>
                      <a:chExt cx="51" cy="68"/>
                    </a:xfrm>
                  </p:grpSpPr>
                  <p:sp>
                    <p:nvSpPr>
                      <p:cNvPr id="642338" name="Freeform 290"/>
                      <p:cNvSpPr/>
                      <p:nvPr/>
                    </p:nvSpPr>
                    <p:spPr bwMode="auto">
                      <a:xfrm>
                        <a:off x="2587" y="3178"/>
                        <a:ext cx="16" cy="9"/>
                      </a:xfrm>
                      <a:custGeom>
                        <a:avLst/>
                        <a:gdLst>
                          <a:gd name="T0" fmla="*/ 0 w 116"/>
                          <a:gd name="T1" fmla="*/ 43 h 67"/>
                          <a:gd name="T2" fmla="*/ 26 w 116"/>
                          <a:gd name="T3" fmla="*/ 0 h 67"/>
                          <a:gd name="T4" fmla="*/ 52 w 116"/>
                          <a:gd name="T5" fmla="*/ 2 h 67"/>
                          <a:gd name="T6" fmla="*/ 75 w 116"/>
                          <a:gd name="T7" fmla="*/ 9 h 67"/>
                          <a:gd name="T8" fmla="*/ 116 w 116"/>
                          <a:gd name="T9" fmla="*/ 25 h 67"/>
                          <a:gd name="T10" fmla="*/ 103 w 116"/>
                          <a:gd name="T11" fmla="*/ 67 h 67"/>
                          <a:gd name="T12" fmla="*/ 0 w 116"/>
                          <a:gd name="T13" fmla="*/ 43 h 6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16" h="67">
                            <a:moveTo>
                              <a:pt x="0" y="43"/>
                            </a:moveTo>
                            <a:lnTo>
                              <a:pt x="26" y="0"/>
                            </a:lnTo>
                            <a:lnTo>
                              <a:pt x="52" y="2"/>
                            </a:lnTo>
                            <a:lnTo>
                              <a:pt x="75" y="9"/>
                            </a:lnTo>
                            <a:lnTo>
                              <a:pt x="116" y="25"/>
                            </a:lnTo>
                            <a:lnTo>
                              <a:pt x="103" y="67"/>
                            </a:lnTo>
                            <a:lnTo>
                              <a:pt x="0" y="43"/>
                            </a:lnTo>
                            <a:close/>
                          </a:path>
                        </a:pathLst>
                      </a:custGeom>
                      <a:solidFill>
                        <a:srgbClr val="C04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39" name="Freeform 291"/>
                      <p:cNvSpPr/>
                      <p:nvPr/>
                    </p:nvSpPr>
                    <p:spPr bwMode="auto">
                      <a:xfrm>
                        <a:off x="2583" y="3183"/>
                        <a:ext cx="18" cy="7"/>
                      </a:xfrm>
                      <a:custGeom>
                        <a:avLst/>
                        <a:gdLst>
                          <a:gd name="T0" fmla="*/ 32 w 127"/>
                          <a:gd name="T1" fmla="*/ 0 h 61"/>
                          <a:gd name="T2" fmla="*/ 49 w 127"/>
                          <a:gd name="T3" fmla="*/ 1 h 61"/>
                          <a:gd name="T4" fmla="*/ 77 w 127"/>
                          <a:gd name="T5" fmla="*/ 8 h 61"/>
                          <a:gd name="T6" fmla="*/ 105 w 127"/>
                          <a:gd name="T7" fmla="*/ 16 h 61"/>
                          <a:gd name="T8" fmla="*/ 124 w 127"/>
                          <a:gd name="T9" fmla="*/ 20 h 61"/>
                          <a:gd name="T10" fmla="*/ 127 w 127"/>
                          <a:gd name="T11" fmla="*/ 29 h 61"/>
                          <a:gd name="T12" fmla="*/ 126 w 127"/>
                          <a:gd name="T13" fmla="*/ 41 h 61"/>
                          <a:gd name="T14" fmla="*/ 116 w 127"/>
                          <a:gd name="T15" fmla="*/ 54 h 61"/>
                          <a:gd name="T16" fmla="*/ 102 w 127"/>
                          <a:gd name="T17" fmla="*/ 61 h 61"/>
                          <a:gd name="T18" fmla="*/ 77 w 127"/>
                          <a:gd name="T19" fmla="*/ 56 h 61"/>
                          <a:gd name="T20" fmla="*/ 35 w 127"/>
                          <a:gd name="T21" fmla="*/ 44 h 61"/>
                          <a:gd name="T22" fmla="*/ 0 w 127"/>
                          <a:gd name="T23" fmla="*/ 22 h 61"/>
                          <a:gd name="T24" fmla="*/ 32 w 127"/>
                          <a:gd name="T25" fmla="*/ 0 h 6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127" h="61">
                            <a:moveTo>
                              <a:pt x="32" y="0"/>
                            </a:moveTo>
                            <a:lnTo>
                              <a:pt x="49" y="1"/>
                            </a:lnTo>
                            <a:lnTo>
                              <a:pt x="77" y="8"/>
                            </a:lnTo>
                            <a:lnTo>
                              <a:pt x="105" y="16"/>
                            </a:lnTo>
                            <a:lnTo>
                              <a:pt x="124" y="20"/>
                            </a:lnTo>
                            <a:lnTo>
                              <a:pt x="127" y="29"/>
                            </a:lnTo>
                            <a:lnTo>
                              <a:pt x="126" y="41"/>
                            </a:lnTo>
                            <a:lnTo>
                              <a:pt x="116" y="54"/>
                            </a:lnTo>
                            <a:lnTo>
                              <a:pt x="102" y="61"/>
                            </a:lnTo>
                            <a:lnTo>
                              <a:pt x="77" y="56"/>
                            </a:lnTo>
                            <a:lnTo>
                              <a:pt x="35" y="44"/>
                            </a:lnTo>
                            <a:lnTo>
                              <a:pt x="0" y="22"/>
                            </a:lnTo>
                            <a:lnTo>
                              <a:pt x="32" y="0"/>
                            </a:lnTo>
                            <a:close/>
                          </a:path>
                        </a:pathLst>
                      </a:custGeom>
                      <a:solidFill>
                        <a:srgbClr val="FF804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40" name="Freeform 292"/>
                      <p:cNvSpPr/>
                      <p:nvPr/>
                    </p:nvSpPr>
                    <p:spPr bwMode="auto">
                      <a:xfrm>
                        <a:off x="2570" y="3133"/>
                        <a:ext cx="51" cy="68"/>
                      </a:xfrm>
                      <a:custGeom>
                        <a:avLst/>
                        <a:gdLst>
                          <a:gd name="T0" fmla="*/ 250 w 352"/>
                          <a:gd name="T1" fmla="*/ 21 h 544"/>
                          <a:gd name="T2" fmla="*/ 231 w 352"/>
                          <a:gd name="T3" fmla="*/ 69 h 544"/>
                          <a:gd name="T4" fmla="*/ 211 w 352"/>
                          <a:gd name="T5" fmla="*/ 103 h 544"/>
                          <a:gd name="T6" fmla="*/ 177 w 352"/>
                          <a:gd name="T7" fmla="*/ 135 h 544"/>
                          <a:gd name="T8" fmla="*/ 170 w 352"/>
                          <a:gd name="T9" fmla="*/ 152 h 544"/>
                          <a:gd name="T10" fmla="*/ 161 w 352"/>
                          <a:gd name="T11" fmla="*/ 194 h 544"/>
                          <a:gd name="T12" fmla="*/ 134 w 352"/>
                          <a:gd name="T13" fmla="*/ 227 h 544"/>
                          <a:gd name="T14" fmla="*/ 108 w 352"/>
                          <a:gd name="T15" fmla="*/ 275 h 544"/>
                          <a:gd name="T16" fmla="*/ 86 w 352"/>
                          <a:gd name="T17" fmla="*/ 320 h 544"/>
                          <a:gd name="T18" fmla="*/ 84 w 352"/>
                          <a:gd name="T19" fmla="*/ 366 h 544"/>
                          <a:gd name="T20" fmla="*/ 87 w 352"/>
                          <a:gd name="T21" fmla="*/ 405 h 544"/>
                          <a:gd name="T22" fmla="*/ 72 w 352"/>
                          <a:gd name="T23" fmla="*/ 443 h 544"/>
                          <a:gd name="T24" fmla="*/ 0 w 352"/>
                          <a:gd name="T25" fmla="*/ 532 h 544"/>
                          <a:gd name="T26" fmla="*/ 60 w 352"/>
                          <a:gd name="T27" fmla="*/ 520 h 544"/>
                          <a:gd name="T28" fmla="*/ 113 w 352"/>
                          <a:gd name="T29" fmla="*/ 466 h 544"/>
                          <a:gd name="T30" fmla="*/ 147 w 352"/>
                          <a:gd name="T31" fmla="*/ 421 h 544"/>
                          <a:gd name="T32" fmla="*/ 183 w 352"/>
                          <a:gd name="T33" fmla="*/ 371 h 544"/>
                          <a:gd name="T34" fmla="*/ 210 w 352"/>
                          <a:gd name="T35" fmla="*/ 344 h 544"/>
                          <a:gd name="T36" fmla="*/ 196 w 352"/>
                          <a:gd name="T37" fmla="*/ 394 h 544"/>
                          <a:gd name="T38" fmla="*/ 194 w 352"/>
                          <a:gd name="T39" fmla="*/ 451 h 544"/>
                          <a:gd name="T40" fmla="*/ 209 w 352"/>
                          <a:gd name="T41" fmla="*/ 500 h 544"/>
                          <a:gd name="T42" fmla="*/ 226 w 352"/>
                          <a:gd name="T43" fmla="*/ 517 h 544"/>
                          <a:gd name="T44" fmla="*/ 249 w 352"/>
                          <a:gd name="T45" fmla="*/ 518 h 544"/>
                          <a:gd name="T46" fmla="*/ 261 w 352"/>
                          <a:gd name="T47" fmla="*/ 503 h 544"/>
                          <a:gd name="T48" fmla="*/ 248 w 352"/>
                          <a:gd name="T49" fmla="*/ 480 h 544"/>
                          <a:gd name="T50" fmla="*/ 237 w 352"/>
                          <a:gd name="T51" fmla="*/ 440 h 544"/>
                          <a:gd name="T52" fmla="*/ 246 w 352"/>
                          <a:gd name="T53" fmla="*/ 387 h 544"/>
                          <a:gd name="T54" fmla="*/ 261 w 352"/>
                          <a:gd name="T55" fmla="*/ 350 h 544"/>
                          <a:gd name="T56" fmla="*/ 274 w 352"/>
                          <a:gd name="T57" fmla="*/ 320 h 544"/>
                          <a:gd name="T58" fmla="*/ 280 w 352"/>
                          <a:gd name="T59" fmla="*/ 261 h 544"/>
                          <a:gd name="T60" fmla="*/ 317 w 352"/>
                          <a:gd name="T61" fmla="*/ 175 h 544"/>
                          <a:gd name="T62" fmla="*/ 345 w 352"/>
                          <a:gd name="T63" fmla="*/ 91 h 544"/>
                          <a:gd name="T64" fmla="*/ 262 w 352"/>
                          <a:gd name="T65" fmla="*/ 0 h 54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</a:cxnLst>
                        <a:rect l="0" t="0" r="r" b="b"/>
                        <a:pathLst>
                          <a:path w="352" h="544">
                            <a:moveTo>
                              <a:pt x="262" y="0"/>
                            </a:moveTo>
                            <a:lnTo>
                              <a:pt x="250" y="21"/>
                            </a:lnTo>
                            <a:lnTo>
                              <a:pt x="244" y="45"/>
                            </a:lnTo>
                            <a:lnTo>
                              <a:pt x="231" y="69"/>
                            </a:lnTo>
                            <a:lnTo>
                              <a:pt x="221" y="85"/>
                            </a:lnTo>
                            <a:lnTo>
                              <a:pt x="211" y="103"/>
                            </a:lnTo>
                            <a:lnTo>
                              <a:pt x="195" y="121"/>
                            </a:lnTo>
                            <a:lnTo>
                              <a:pt x="177" y="135"/>
                            </a:lnTo>
                            <a:lnTo>
                              <a:pt x="173" y="140"/>
                            </a:lnTo>
                            <a:lnTo>
                              <a:pt x="170" y="152"/>
                            </a:lnTo>
                            <a:lnTo>
                              <a:pt x="168" y="171"/>
                            </a:lnTo>
                            <a:lnTo>
                              <a:pt x="161" y="194"/>
                            </a:lnTo>
                            <a:lnTo>
                              <a:pt x="146" y="210"/>
                            </a:lnTo>
                            <a:lnTo>
                              <a:pt x="134" y="227"/>
                            </a:lnTo>
                            <a:lnTo>
                              <a:pt x="126" y="243"/>
                            </a:lnTo>
                            <a:lnTo>
                              <a:pt x="108" y="275"/>
                            </a:lnTo>
                            <a:lnTo>
                              <a:pt x="89" y="309"/>
                            </a:lnTo>
                            <a:lnTo>
                              <a:pt x="86" y="320"/>
                            </a:lnTo>
                            <a:lnTo>
                              <a:pt x="85" y="341"/>
                            </a:lnTo>
                            <a:lnTo>
                              <a:pt x="84" y="366"/>
                            </a:lnTo>
                            <a:lnTo>
                              <a:pt x="85" y="387"/>
                            </a:lnTo>
                            <a:lnTo>
                              <a:pt x="87" y="405"/>
                            </a:lnTo>
                            <a:lnTo>
                              <a:pt x="84" y="421"/>
                            </a:lnTo>
                            <a:lnTo>
                              <a:pt x="72" y="443"/>
                            </a:lnTo>
                            <a:lnTo>
                              <a:pt x="55" y="465"/>
                            </a:lnTo>
                            <a:lnTo>
                              <a:pt x="0" y="532"/>
                            </a:lnTo>
                            <a:lnTo>
                              <a:pt x="37" y="544"/>
                            </a:lnTo>
                            <a:lnTo>
                              <a:pt x="60" y="520"/>
                            </a:lnTo>
                            <a:lnTo>
                              <a:pt x="90" y="490"/>
                            </a:lnTo>
                            <a:lnTo>
                              <a:pt x="113" y="466"/>
                            </a:lnTo>
                            <a:lnTo>
                              <a:pt x="133" y="441"/>
                            </a:lnTo>
                            <a:lnTo>
                              <a:pt x="147" y="421"/>
                            </a:lnTo>
                            <a:lnTo>
                              <a:pt x="161" y="389"/>
                            </a:lnTo>
                            <a:lnTo>
                              <a:pt x="183" y="371"/>
                            </a:lnTo>
                            <a:lnTo>
                              <a:pt x="201" y="358"/>
                            </a:lnTo>
                            <a:lnTo>
                              <a:pt x="210" y="344"/>
                            </a:lnTo>
                            <a:lnTo>
                              <a:pt x="204" y="370"/>
                            </a:lnTo>
                            <a:lnTo>
                              <a:pt x="196" y="394"/>
                            </a:lnTo>
                            <a:lnTo>
                              <a:pt x="192" y="422"/>
                            </a:lnTo>
                            <a:lnTo>
                              <a:pt x="194" y="451"/>
                            </a:lnTo>
                            <a:lnTo>
                              <a:pt x="203" y="482"/>
                            </a:lnTo>
                            <a:lnTo>
                              <a:pt x="209" y="500"/>
                            </a:lnTo>
                            <a:lnTo>
                              <a:pt x="216" y="511"/>
                            </a:lnTo>
                            <a:lnTo>
                              <a:pt x="226" y="517"/>
                            </a:lnTo>
                            <a:lnTo>
                              <a:pt x="238" y="520"/>
                            </a:lnTo>
                            <a:lnTo>
                              <a:pt x="249" y="518"/>
                            </a:lnTo>
                            <a:lnTo>
                              <a:pt x="257" y="515"/>
                            </a:lnTo>
                            <a:lnTo>
                              <a:pt x="261" y="503"/>
                            </a:lnTo>
                            <a:lnTo>
                              <a:pt x="257" y="489"/>
                            </a:lnTo>
                            <a:lnTo>
                              <a:pt x="248" y="480"/>
                            </a:lnTo>
                            <a:lnTo>
                              <a:pt x="239" y="469"/>
                            </a:lnTo>
                            <a:lnTo>
                              <a:pt x="237" y="440"/>
                            </a:lnTo>
                            <a:lnTo>
                              <a:pt x="244" y="409"/>
                            </a:lnTo>
                            <a:lnTo>
                              <a:pt x="246" y="387"/>
                            </a:lnTo>
                            <a:lnTo>
                              <a:pt x="254" y="367"/>
                            </a:lnTo>
                            <a:lnTo>
                              <a:pt x="261" y="350"/>
                            </a:lnTo>
                            <a:lnTo>
                              <a:pt x="272" y="332"/>
                            </a:lnTo>
                            <a:lnTo>
                              <a:pt x="274" y="320"/>
                            </a:lnTo>
                            <a:lnTo>
                              <a:pt x="279" y="288"/>
                            </a:lnTo>
                            <a:lnTo>
                              <a:pt x="280" y="261"/>
                            </a:lnTo>
                            <a:lnTo>
                              <a:pt x="301" y="215"/>
                            </a:lnTo>
                            <a:lnTo>
                              <a:pt x="317" y="175"/>
                            </a:lnTo>
                            <a:lnTo>
                              <a:pt x="329" y="135"/>
                            </a:lnTo>
                            <a:lnTo>
                              <a:pt x="345" y="91"/>
                            </a:lnTo>
                            <a:lnTo>
                              <a:pt x="352" y="17"/>
                            </a:lnTo>
                            <a:lnTo>
                              <a:pt x="262" y="0"/>
                            </a:lnTo>
                            <a:close/>
                          </a:path>
                        </a:pathLst>
                      </a:custGeom>
                      <a:solidFill>
                        <a:srgbClr val="FFA08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41" name="Freeform 293"/>
                      <p:cNvSpPr/>
                      <p:nvPr/>
                    </p:nvSpPr>
                    <p:spPr bwMode="auto">
                      <a:xfrm>
                        <a:off x="2596" y="3174"/>
                        <a:ext cx="6" cy="9"/>
                      </a:xfrm>
                      <a:custGeom>
                        <a:avLst/>
                        <a:gdLst>
                          <a:gd name="T0" fmla="*/ 0 w 37"/>
                          <a:gd name="T1" fmla="*/ 38 h 71"/>
                          <a:gd name="T2" fmla="*/ 12 w 37"/>
                          <a:gd name="T3" fmla="*/ 30 h 71"/>
                          <a:gd name="T4" fmla="*/ 22 w 37"/>
                          <a:gd name="T5" fmla="*/ 20 h 71"/>
                          <a:gd name="T6" fmla="*/ 28 w 37"/>
                          <a:gd name="T7" fmla="*/ 12 h 71"/>
                          <a:gd name="T8" fmla="*/ 37 w 37"/>
                          <a:gd name="T9" fmla="*/ 0 h 71"/>
                          <a:gd name="T10" fmla="*/ 29 w 37"/>
                          <a:gd name="T11" fmla="*/ 23 h 71"/>
                          <a:gd name="T12" fmla="*/ 24 w 37"/>
                          <a:gd name="T13" fmla="*/ 35 h 71"/>
                          <a:gd name="T14" fmla="*/ 18 w 37"/>
                          <a:gd name="T15" fmla="*/ 54 h 71"/>
                          <a:gd name="T16" fmla="*/ 12 w 37"/>
                          <a:gd name="T17" fmla="*/ 71 h 71"/>
                          <a:gd name="T18" fmla="*/ 6 w 37"/>
                          <a:gd name="T19" fmla="*/ 49 h 71"/>
                          <a:gd name="T20" fmla="*/ 0 w 37"/>
                          <a:gd name="T21" fmla="*/ 38 h 7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</a:cxnLst>
                        <a:rect l="0" t="0" r="r" b="b"/>
                        <a:pathLst>
                          <a:path w="37" h="71">
                            <a:moveTo>
                              <a:pt x="0" y="38"/>
                            </a:moveTo>
                            <a:lnTo>
                              <a:pt x="12" y="30"/>
                            </a:lnTo>
                            <a:lnTo>
                              <a:pt x="22" y="20"/>
                            </a:lnTo>
                            <a:lnTo>
                              <a:pt x="28" y="12"/>
                            </a:lnTo>
                            <a:lnTo>
                              <a:pt x="37" y="0"/>
                            </a:lnTo>
                            <a:lnTo>
                              <a:pt x="29" y="23"/>
                            </a:lnTo>
                            <a:lnTo>
                              <a:pt x="24" y="35"/>
                            </a:lnTo>
                            <a:lnTo>
                              <a:pt x="18" y="54"/>
                            </a:lnTo>
                            <a:lnTo>
                              <a:pt x="12" y="71"/>
                            </a:lnTo>
                            <a:lnTo>
                              <a:pt x="6" y="49"/>
                            </a:ln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FF804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42" name="Freeform 294"/>
                      <p:cNvSpPr/>
                      <p:nvPr/>
                    </p:nvSpPr>
                    <p:spPr bwMode="auto">
                      <a:xfrm>
                        <a:off x="2601" y="3180"/>
                        <a:ext cx="5" cy="15"/>
                      </a:xfrm>
                      <a:custGeom>
                        <a:avLst/>
                        <a:gdLst>
                          <a:gd name="T0" fmla="*/ 35 w 35"/>
                          <a:gd name="T1" fmla="*/ 107 h 126"/>
                          <a:gd name="T2" fmla="*/ 23 w 35"/>
                          <a:gd name="T3" fmla="*/ 106 h 126"/>
                          <a:gd name="T4" fmla="*/ 13 w 35"/>
                          <a:gd name="T5" fmla="*/ 110 h 126"/>
                          <a:gd name="T6" fmla="*/ 4 w 35"/>
                          <a:gd name="T7" fmla="*/ 120 h 126"/>
                          <a:gd name="T8" fmla="*/ 0 w 35"/>
                          <a:gd name="T9" fmla="*/ 126 h 126"/>
                          <a:gd name="T10" fmla="*/ 4 w 35"/>
                          <a:gd name="T11" fmla="*/ 114 h 126"/>
                          <a:gd name="T12" fmla="*/ 10 w 35"/>
                          <a:gd name="T13" fmla="*/ 105 h 126"/>
                          <a:gd name="T14" fmla="*/ 18 w 35"/>
                          <a:gd name="T15" fmla="*/ 98 h 126"/>
                          <a:gd name="T16" fmla="*/ 16 w 35"/>
                          <a:gd name="T17" fmla="*/ 86 h 126"/>
                          <a:gd name="T18" fmla="*/ 14 w 35"/>
                          <a:gd name="T19" fmla="*/ 63 h 126"/>
                          <a:gd name="T20" fmla="*/ 17 w 35"/>
                          <a:gd name="T21" fmla="*/ 44 h 126"/>
                          <a:gd name="T22" fmla="*/ 22 w 35"/>
                          <a:gd name="T23" fmla="*/ 27 h 126"/>
                          <a:gd name="T24" fmla="*/ 32 w 35"/>
                          <a:gd name="T25" fmla="*/ 0 h 126"/>
                          <a:gd name="T26" fmla="*/ 30 w 35"/>
                          <a:gd name="T27" fmla="*/ 20 h 126"/>
                          <a:gd name="T28" fmla="*/ 27 w 35"/>
                          <a:gd name="T29" fmla="*/ 38 h 126"/>
                          <a:gd name="T30" fmla="*/ 23 w 35"/>
                          <a:gd name="T31" fmla="*/ 58 h 126"/>
                          <a:gd name="T32" fmla="*/ 22 w 35"/>
                          <a:gd name="T33" fmla="*/ 68 h 126"/>
                          <a:gd name="T34" fmla="*/ 23 w 35"/>
                          <a:gd name="T35" fmla="*/ 80 h 126"/>
                          <a:gd name="T36" fmla="*/ 26 w 35"/>
                          <a:gd name="T37" fmla="*/ 93 h 126"/>
                          <a:gd name="T38" fmla="*/ 35 w 35"/>
                          <a:gd name="T39" fmla="*/ 107 h 12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</a:cxnLst>
                        <a:rect l="0" t="0" r="r" b="b"/>
                        <a:pathLst>
                          <a:path w="35" h="126">
                            <a:moveTo>
                              <a:pt x="35" y="107"/>
                            </a:moveTo>
                            <a:lnTo>
                              <a:pt x="23" y="106"/>
                            </a:lnTo>
                            <a:lnTo>
                              <a:pt x="13" y="110"/>
                            </a:lnTo>
                            <a:lnTo>
                              <a:pt x="4" y="120"/>
                            </a:lnTo>
                            <a:lnTo>
                              <a:pt x="0" y="126"/>
                            </a:lnTo>
                            <a:lnTo>
                              <a:pt x="4" y="114"/>
                            </a:lnTo>
                            <a:lnTo>
                              <a:pt x="10" y="105"/>
                            </a:lnTo>
                            <a:lnTo>
                              <a:pt x="18" y="98"/>
                            </a:lnTo>
                            <a:lnTo>
                              <a:pt x="16" y="86"/>
                            </a:lnTo>
                            <a:lnTo>
                              <a:pt x="14" y="63"/>
                            </a:lnTo>
                            <a:lnTo>
                              <a:pt x="17" y="44"/>
                            </a:lnTo>
                            <a:lnTo>
                              <a:pt x="22" y="27"/>
                            </a:lnTo>
                            <a:lnTo>
                              <a:pt x="32" y="0"/>
                            </a:lnTo>
                            <a:lnTo>
                              <a:pt x="30" y="20"/>
                            </a:lnTo>
                            <a:lnTo>
                              <a:pt x="27" y="38"/>
                            </a:lnTo>
                            <a:lnTo>
                              <a:pt x="23" y="58"/>
                            </a:lnTo>
                            <a:lnTo>
                              <a:pt x="22" y="68"/>
                            </a:lnTo>
                            <a:lnTo>
                              <a:pt x="23" y="80"/>
                            </a:lnTo>
                            <a:lnTo>
                              <a:pt x="26" y="93"/>
                            </a:lnTo>
                            <a:lnTo>
                              <a:pt x="35" y="107"/>
                            </a:lnTo>
                            <a:close/>
                          </a:path>
                        </a:pathLst>
                      </a:custGeom>
                      <a:solidFill>
                        <a:srgbClr val="FF804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43" name="Freeform 295"/>
                      <p:cNvSpPr/>
                      <p:nvPr/>
                    </p:nvSpPr>
                    <p:spPr bwMode="auto">
                      <a:xfrm>
                        <a:off x="2582" y="3171"/>
                        <a:ext cx="8" cy="14"/>
                      </a:xfrm>
                      <a:custGeom>
                        <a:avLst/>
                        <a:gdLst>
                          <a:gd name="T0" fmla="*/ 1 w 54"/>
                          <a:gd name="T1" fmla="*/ 119 h 119"/>
                          <a:gd name="T2" fmla="*/ 8 w 54"/>
                          <a:gd name="T3" fmla="*/ 109 h 119"/>
                          <a:gd name="T4" fmla="*/ 15 w 54"/>
                          <a:gd name="T5" fmla="*/ 95 h 119"/>
                          <a:gd name="T6" fmla="*/ 19 w 54"/>
                          <a:gd name="T7" fmla="*/ 83 h 119"/>
                          <a:gd name="T8" fmla="*/ 18 w 54"/>
                          <a:gd name="T9" fmla="*/ 64 h 119"/>
                          <a:gd name="T10" fmla="*/ 18 w 54"/>
                          <a:gd name="T11" fmla="*/ 46 h 119"/>
                          <a:gd name="T12" fmla="*/ 20 w 54"/>
                          <a:gd name="T13" fmla="*/ 30 h 119"/>
                          <a:gd name="T14" fmla="*/ 22 w 54"/>
                          <a:gd name="T15" fmla="*/ 20 h 119"/>
                          <a:gd name="T16" fmla="*/ 29 w 54"/>
                          <a:gd name="T17" fmla="*/ 12 h 119"/>
                          <a:gd name="T18" fmla="*/ 41 w 54"/>
                          <a:gd name="T19" fmla="*/ 6 h 119"/>
                          <a:gd name="T20" fmla="*/ 54 w 54"/>
                          <a:gd name="T21" fmla="*/ 0 h 119"/>
                          <a:gd name="T22" fmla="*/ 36 w 54"/>
                          <a:gd name="T23" fmla="*/ 6 h 119"/>
                          <a:gd name="T24" fmla="*/ 23 w 54"/>
                          <a:gd name="T25" fmla="*/ 12 h 119"/>
                          <a:gd name="T26" fmla="*/ 12 w 54"/>
                          <a:gd name="T27" fmla="*/ 12 h 119"/>
                          <a:gd name="T28" fmla="*/ 5 w 54"/>
                          <a:gd name="T29" fmla="*/ 8 h 119"/>
                          <a:gd name="T30" fmla="*/ 2 w 54"/>
                          <a:gd name="T31" fmla="*/ 16 h 119"/>
                          <a:gd name="T32" fmla="*/ 1 w 54"/>
                          <a:gd name="T33" fmla="*/ 31 h 119"/>
                          <a:gd name="T34" fmla="*/ 1 w 54"/>
                          <a:gd name="T35" fmla="*/ 44 h 119"/>
                          <a:gd name="T36" fmla="*/ 0 w 54"/>
                          <a:gd name="T37" fmla="*/ 63 h 119"/>
                          <a:gd name="T38" fmla="*/ 1 w 54"/>
                          <a:gd name="T39" fmla="*/ 78 h 119"/>
                          <a:gd name="T40" fmla="*/ 2 w 54"/>
                          <a:gd name="T41" fmla="*/ 92 h 119"/>
                          <a:gd name="T42" fmla="*/ 4 w 54"/>
                          <a:gd name="T43" fmla="*/ 101 h 119"/>
                          <a:gd name="T44" fmla="*/ 1 w 54"/>
                          <a:gd name="T45" fmla="*/ 119 h 11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54" h="119">
                            <a:moveTo>
                              <a:pt x="1" y="119"/>
                            </a:moveTo>
                            <a:lnTo>
                              <a:pt x="8" y="109"/>
                            </a:lnTo>
                            <a:lnTo>
                              <a:pt x="15" y="95"/>
                            </a:lnTo>
                            <a:lnTo>
                              <a:pt x="19" y="83"/>
                            </a:lnTo>
                            <a:lnTo>
                              <a:pt x="18" y="64"/>
                            </a:lnTo>
                            <a:lnTo>
                              <a:pt x="18" y="46"/>
                            </a:lnTo>
                            <a:lnTo>
                              <a:pt x="20" y="30"/>
                            </a:lnTo>
                            <a:lnTo>
                              <a:pt x="22" y="20"/>
                            </a:lnTo>
                            <a:lnTo>
                              <a:pt x="29" y="12"/>
                            </a:lnTo>
                            <a:lnTo>
                              <a:pt x="41" y="6"/>
                            </a:lnTo>
                            <a:lnTo>
                              <a:pt x="54" y="0"/>
                            </a:lnTo>
                            <a:lnTo>
                              <a:pt x="36" y="6"/>
                            </a:lnTo>
                            <a:lnTo>
                              <a:pt x="23" y="12"/>
                            </a:lnTo>
                            <a:lnTo>
                              <a:pt x="12" y="12"/>
                            </a:lnTo>
                            <a:lnTo>
                              <a:pt x="5" y="8"/>
                            </a:lnTo>
                            <a:lnTo>
                              <a:pt x="2" y="16"/>
                            </a:lnTo>
                            <a:lnTo>
                              <a:pt x="1" y="31"/>
                            </a:lnTo>
                            <a:lnTo>
                              <a:pt x="1" y="44"/>
                            </a:lnTo>
                            <a:lnTo>
                              <a:pt x="0" y="63"/>
                            </a:lnTo>
                            <a:lnTo>
                              <a:pt x="1" y="78"/>
                            </a:lnTo>
                            <a:lnTo>
                              <a:pt x="2" y="92"/>
                            </a:lnTo>
                            <a:lnTo>
                              <a:pt x="4" y="101"/>
                            </a:lnTo>
                            <a:lnTo>
                              <a:pt x="1" y="119"/>
                            </a:lnTo>
                            <a:close/>
                          </a:path>
                        </a:pathLst>
                      </a:custGeom>
                      <a:solidFill>
                        <a:srgbClr val="FF804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642344" name="Group 296"/>
                    <p:cNvGrpSpPr/>
                    <p:nvPr/>
                  </p:nvGrpSpPr>
                  <p:grpSpPr bwMode="auto">
                    <a:xfrm>
                      <a:off x="2605" y="3112"/>
                      <a:ext cx="32" cy="35"/>
                      <a:chOff x="2605" y="3112"/>
                      <a:chExt cx="32" cy="35"/>
                    </a:xfrm>
                  </p:grpSpPr>
                  <p:sp>
                    <p:nvSpPr>
                      <p:cNvPr id="642345" name="Freeform 297"/>
                      <p:cNvSpPr/>
                      <p:nvPr/>
                    </p:nvSpPr>
                    <p:spPr bwMode="auto">
                      <a:xfrm>
                        <a:off x="2605" y="3112"/>
                        <a:ext cx="32" cy="35"/>
                      </a:xfrm>
                      <a:custGeom>
                        <a:avLst/>
                        <a:gdLst>
                          <a:gd name="T0" fmla="*/ 67 w 229"/>
                          <a:gd name="T1" fmla="*/ 0 h 275"/>
                          <a:gd name="T2" fmla="*/ 102 w 229"/>
                          <a:gd name="T3" fmla="*/ 11 h 275"/>
                          <a:gd name="T4" fmla="*/ 167 w 229"/>
                          <a:gd name="T5" fmla="*/ 37 h 275"/>
                          <a:gd name="T6" fmla="*/ 209 w 229"/>
                          <a:gd name="T7" fmla="*/ 72 h 275"/>
                          <a:gd name="T8" fmla="*/ 229 w 229"/>
                          <a:gd name="T9" fmla="*/ 108 h 275"/>
                          <a:gd name="T10" fmla="*/ 223 w 229"/>
                          <a:gd name="T11" fmla="*/ 133 h 275"/>
                          <a:gd name="T12" fmla="*/ 208 w 229"/>
                          <a:gd name="T13" fmla="*/ 151 h 275"/>
                          <a:gd name="T14" fmla="*/ 196 w 229"/>
                          <a:gd name="T15" fmla="*/ 165 h 275"/>
                          <a:gd name="T16" fmla="*/ 180 w 229"/>
                          <a:gd name="T17" fmla="*/ 178 h 275"/>
                          <a:gd name="T18" fmla="*/ 164 w 229"/>
                          <a:gd name="T19" fmla="*/ 200 h 275"/>
                          <a:gd name="T20" fmla="*/ 150 w 229"/>
                          <a:gd name="T21" fmla="*/ 222 h 275"/>
                          <a:gd name="T22" fmla="*/ 140 w 229"/>
                          <a:gd name="T23" fmla="*/ 240 h 275"/>
                          <a:gd name="T24" fmla="*/ 132 w 229"/>
                          <a:gd name="T25" fmla="*/ 255 h 275"/>
                          <a:gd name="T26" fmla="*/ 119 w 229"/>
                          <a:gd name="T27" fmla="*/ 266 h 275"/>
                          <a:gd name="T28" fmla="*/ 109 w 229"/>
                          <a:gd name="T29" fmla="*/ 272 h 275"/>
                          <a:gd name="T30" fmla="*/ 96 w 229"/>
                          <a:gd name="T31" fmla="*/ 275 h 275"/>
                          <a:gd name="T32" fmla="*/ 99 w 229"/>
                          <a:gd name="T33" fmla="*/ 263 h 275"/>
                          <a:gd name="T34" fmla="*/ 103 w 229"/>
                          <a:gd name="T35" fmla="*/ 253 h 275"/>
                          <a:gd name="T36" fmla="*/ 99 w 229"/>
                          <a:gd name="T37" fmla="*/ 228 h 275"/>
                          <a:gd name="T38" fmla="*/ 81 w 229"/>
                          <a:gd name="T39" fmla="*/ 209 h 275"/>
                          <a:gd name="T40" fmla="*/ 45 w 229"/>
                          <a:gd name="T41" fmla="*/ 191 h 275"/>
                          <a:gd name="T42" fmla="*/ 13 w 229"/>
                          <a:gd name="T43" fmla="*/ 187 h 275"/>
                          <a:gd name="T44" fmla="*/ 5 w 229"/>
                          <a:gd name="T45" fmla="*/ 192 h 275"/>
                          <a:gd name="T46" fmla="*/ 0 w 229"/>
                          <a:gd name="T47" fmla="*/ 183 h 275"/>
                          <a:gd name="T48" fmla="*/ 1 w 229"/>
                          <a:gd name="T49" fmla="*/ 175 h 275"/>
                          <a:gd name="T50" fmla="*/ 3 w 229"/>
                          <a:gd name="T51" fmla="*/ 166 h 275"/>
                          <a:gd name="T52" fmla="*/ 9 w 229"/>
                          <a:gd name="T53" fmla="*/ 157 h 275"/>
                          <a:gd name="T54" fmla="*/ 22 w 229"/>
                          <a:gd name="T55" fmla="*/ 133 h 275"/>
                          <a:gd name="T56" fmla="*/ 29 w 229"/>
                          <a:gd name="T57" fmla="*/ 102 h 275"/>
                          <a:gd name="T58" fmla="*/ 44 w 229"/>
                          <a:gd name="T59" fmla="*/ 56 h 275"/>
                          <a:gd name="T60" fmla="*/ 60 w 229"/>
                          <a:gd name="T61" fmla="*/ 15 h 275"/>
                          <a:gd name="T62" fmla="*/ 67 w 229"/>
                          <a:gd name="T63" fmla="*/ 0 h 27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229" h="275">
                            <a:moveTo>
                              <a:pt x="67" y="0"/>
                            </a:moveTo>
                            <a:lnTo>
                              <a:pt x="102" y="11"/>
                            </a:lnTo>
                            <a:lnTo>
                              <a:pt x="167" y="37"/>
                            </a:lnTo>
                            <a:lnTo>
                              <a:pt x="209" y="72"/>
                            </a:lnTo>
                            <a:lnTo>
                              <a:pt x="229" y="108"/>
                            </a:lnTo>
                            <a:lnTo>
                              <a:pt x="223" y="133"/>
                            </a:lnTo>
                            <a:lnTo>
                              <a:pt x="208" y="151"/>
                            </a:lnTo>
                            <a:lnTo>
                              <a:pt x="196" y="165"/>
                            </a:lnTo>
                            <a:lnTo>
                              <a:pt x="180" y="178"/>
                            </a:lnTo>
                            <a:lnTo>
                              <a:pt x="164" y="200"/>
                            </a:lnTo>
                            <a:lnTo>
                              <a:pt x="150" y="222"/>
                            </a:lnTo>
                            <a:lnTo>
                              <a:pt x="140" y="240"/>
                            </a:lnTo>
                            <a:lnTo>
                              <a:pt x="132" y="255"/>
                            </a:lnTo>
                            <a:lnTo>
                              <a:pt x="119" y="266"/>
                            </a:lnTo>
                            <a:lnTo>
                              <a:pt x="109" y="272"/>
                            </a:lnTo>
                            <a:lnTo>
                              <a:pt x="96" y="275"/>
                            </a:lnTo>
                            <a:lnTo>
                              <a:pt x="99" y="263"/>
                            </a:lnTo>
                            <a:lnTo>
                              <a:pt x="103" y="253"/>
                            </a:lnTo>
                            <a:lnTo>
                              <a:pt x="99" y="228"/>
                            </a:lnTo>
                            <a:lnTo>
                              <a:pt x="81" y="209"/>
                            </a:lnTo>
                            <a:lnTo>
                              <a:pt x="45" y="191"/>
                            </a:lnTo>
                            <a:lnTo>
                              <a:pt x="13" y="187"/>
                            </a:lnTo>
                            <a:lnTo>
                              <a:pt x="5" y="192"/>
                            </a:lnTo>
                            <a:lnTo>
                              <a:pt x="0" y="183"/>
                            </a:lnTo>
                            <a:lnTo>
                              <a:pt x="1" y="175"/>
                            </a:lnTo>
                            <a:lnTo>
                              <a:pt x="3" y="166"/>
                            </a:lnTo>
                            <a:lnTo>
                              <a:pt x="9" y="157"/>
                            </a:lnTo>
                            <a:lnTo>
                              <a:pt x="22" y="133"/>
                            </a:lnTo>
                            <a:lnTo>
                              <a:pt x="29" y="102"/>
                            </a:lnTo>
                            <a:lnTo>
                              <a:pt x="44" y="56"/>
                            </a:lnTo>
                            <a:lnTo>
                              <a:pt x="60" y="15"/>
                            </a:lnTo>
                            <a:lnTo>
                              <a:pt x="67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46" name="Freeform 298"/>
                      <p:cNvSpPr/>
                      <p:nvPr/>
                    </p:nvSpPr>
                    <p:spPr bwMode="auto">
                      <a:xfrm>
                        <a:off x="2605" y="3134"/>
                        <a:ext cx="16" cy="12"/>
                      </a:xfrm>
                      <a:custGeom>
                        <a:avLst/>
                        <a:gdLst>
                          <a:gd name="T0" fmla="*/ 0 w 106"/>
                          <a:gd name="T1" fmla="*/ 11 h 98"/>
                          <a:gd name="T2" fmla="*/ 3 w 106"/>
                          <a:gd name="T3" fmla="*/ 4 h 98"/>
                          <a:gd name="T4" fmla="*/ 9 w 106"/>
                          <a:gd name="T5" fmla="*/ 2 h 98"/>
                          <a:gd name="T6" fmla="*/ 23 w 106"/>
                          <a:gd name="T7" fmla="*/ 0 h 98"/>
                          <a:gd name="T8" fmla="*/ 35 w 106"/>
                          <a:gd name="T9" fmla="*/ 1 h 98"/>
                          <a:gd name="T10" fmla="*/ 50 w 106"/>
                          <a:gd name="T11" fmla="*/ 5 h 98"/>
                          <a:gd name="T12" fmla="*/ 63 w 106"/>
                          <a:gd name="T13" fmla="*/ 12 h 98"/>
                          <a:gd name="T14" fmla="*/ 77 w 106"/>
                          <a:gd name="T15" fmla="*/ 21 h 98"/>
                          <a:gd name="T16" fmla="*/ 89 w 106"/>
                          <a:gd name="T17" fmla="*/ 29 h 98"/>
                          <a:gd name="T18" fmla="*/ 98 w 106"/>
                          <a:gd name="T19" fmla="*/ 42 h 98"/>
                          <a:gd name="T20" fmla="*/ 105 w 106"/>
                          <a:gd name="T21" fmla="*/ 56 h 98"/>
                          <a:gd name="T22" fmla="*/ 106 w 106"/>
                          <a:gd name="T23" fmla="*/ 68 h 98"/>
                          <a:gd name="T24" fmla="*/ 104 w 106"/>
                          <a:gd name="T25" fmla="*/ 83 h 98"/>
                          <a:gd name="T26" fmla="*/ 100 w 106"/>
                          <a:gd name="T27" fmla="*/ 89 h 98"/>
                          <a:gd name="T28" fmla="*/ 94 w 106"/>
                          <a:gd name="T29" fmla="*/ 98 h 98"/>
                          <a:gd name="T30" fmla="*/ 98 w 106"/>
                          <a:gd name="T31" fmla="*/ 82 h 98"/>
                          <a:gd name="T32" fmla="*/ 100 w 106"/>
                          <a:gd name="T33" fmla="*/ 66 h 98"/>
                          <a:gd name="T34" fmla="*/ 94 w 106"/>
                          <a:gd name="T35" fmla="*/ 50 h 98"/>
                          <a:gd name="T36" fmla="*/ 85 w 106"/>
                          <a:gd name="T37" fmla="*/ 38 h 98"/>
                          <a:gd name="T38" fmla="*/ 69 w 106"/>
                          <a:gd name="T39" fmla="*/ 26 h 98"/>
                          <a:gd name="T40" fmla="*/ 53 w 106"/>
                          <a:gd name="T41" fmla="*/ 18 h 98"/>
                          <a:gd name="T42" fmla="*/ 36 w 106"/>
                          <a:gd name="T43" fmla="*/ 13 h 98"/>
                          <a:gd name="T44" fmla="*/ 21 w 106"/>
                          <a:gd name="T45" fmla="*/ 9 h 98"/>
                          <a:gd name="T46" fmla="*/ 0 w 106"/>
                          <a:gd name="T47" fmla="*/ 11 h 9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</a:cxnLst>
                        <a:rect l="0" t="0" r="r" b="b"/>
                        <a:pathLst>
                          <a:path w="106" h="98">
                            <a:moveTo>
                              <a:pt x="0" y="11"/>
                            </a:moveTo>
                            <a:lnTo>
                              <a:pt x="3" y="4"/>
                            </a:lnTo>
                            <a:lnTo>
                              <a:pt x="9" y="2"/>
                            </a:lnTo>
                            <a:lnTo>
                              <a:pt x="23" y="0"/>
                            </a:lnTo>
                            <a:lnTo>
                              <a:pt x="35" y="1"/>
                            </a:lnTo>
                            <a:lnTo>
                              <a:pt x="50" y="5"/>
                            </a:lnTo>
                            <a:lnTo>
                              <a:pt x="63" y="12"/>
                            </a:lnTo>
                            <a:lnTo>
                              <a:pt x="77" y="21"/>
                            </a:lnTo>
                            <a:lnTo>
                              <a:pt x="89" y="29"/>
                            </a:lnTo>
                            <a:lnTo>
                              <a:pt x="98" y="42"/>
                            </a:lnTo>
                            <a:lnTo>
                              <a:pt x="105" y="56"/>
                            </a:lnTo>
                            <a:lnTo>
                              <a:pt x="106" y="68"/>
                            </a:lnTo>
                            <a:lnTo>
                              <a:pt x="104" y="83"/>
                            </a:lnTo>
                            <a:lnTo>
                              <a:pt x="100" y="89"/>
                            </a:lnTo>
                            <a:lnTo>
                              <a:pt x="94" y="98"/>
                            </a:lnTo>
                            <a:lnTo>
                              <a:pt x="98" y="82"/>
                            </a:lnTo>
                            <a:lnTo>
                              <a:pt x="100" y="66"/>
                            </a:lnTo>
                            <a:lnTo>
                              <a:pt x="94" y="50"/>
                            </a:lnTo>
                            <a:lnTo>
                              <a:pt x="85" y="38"/>
                            </a:lnTo>
                            <a:lnTo>
                              <a:pt x="69" y="26"/>
                            </a:lnTo>
                            <a:lnTo>
                              <a:pt x="53" y="18"/>
                            </a:lnTo>
                            <a:lnTo>
                              <a:pt x="36" y="13"/>
                            </a:lnTo>
                            <a:lnTo>
                              <a:pt x="21" y="9"/>
                            </a:lnTo>
                            <a:lnTo>
                              <a:pt x="0" y="11"/>
                            </a:lnTo>
                            <a:close/>
                          </a:path>
                        </a:pathLst>
                      </a:custGeom>
                      <a:solidFill>
                        <a:srgbClr val="D0D0D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642347" name="Group 299"/>
                  <p:cNvGrpSpPr/>
                  <p:nvPr/>
                </p:nvGrpSpPr>
                <p:grpSpPr bwMode="auto">
                  <a:xfrm>
                    <a:off x="2613" y="2992"/>
                    <a:ext cx="111" cy="138"/>
                    <a:chOff x="2613" y="2992"/>
                    <a:chExt cx="111" cy="138"/>
                  </a:xfrm>
                </p:grpSpPr>
                <p:sp>
                  <p:nvSpPr>
                    <p:cNvPr id="642348" name="Freeform 300"/>
                    <p:cNvSpPr/>
                    <p:nvPr/>
                  </p:nvSpPr>
                  <p:spPr bwMode="auto">
                    <a:xfrm>
                      <a:off x="2613" y="2992"/>
                      <a:ext cx="111" cy="136"/>
                    </a:xfrm>
                    <a:custGeom>
                      <a:avLst/>
                      <a:gdLst>
                        <a:gd name="T0" fmla="*/ 618 w 777"/>
                        <a:gd name="T1" fmla="*/ 181 h 1093"/>
                        <a:gd name="T2" fmla="*/ 777 w 777"/>
                        <a:gd name="T3" fmla="*/ 553 h 1093"/>
                        <a:gd name="T4" fmla="*/ 701 w 777"/>
                        <a:gd name="T5" fmla="*/ 631 h 1093"/>
                        <a:gd name="T6" fmla="*/ 557 w 777"/>
                        <a:gd name="T7" fmla="*/ 564 h 1093"/>
                        <a:gd name="T8" fmla="*/ 505 w 777"/>
                        <a:gd name="T9" fmla="*/ 523 h 1093"/>
                        <a:gd name="T10" fmla="*/ 434 w 777"/>
                        <a:gd name="T11" fmla="*/ 667 h 1093"/>
                        <a:gd name="T12" fmla="*/ 383 w 777"/>
                        <a:gd name="T13" fmla="*/ 750 h 1093"/>
                        <a:gd name="T14" fmla="*/ 369 w 777"/>
                        <a:gd name="T15" fmla="*/ 764 h 1093"/>
                        <a:gd name="T16" fmla="*/ 352 w 777"/>
                        <a:gd name="T17" fmla="*/ 811 h 1093"/>
                        <a:gd name="T18" fmla="*/ 334 w 777"/>
                        <a:gd name="T19" fmla="*/ 839 h 1093"/>
                        <a:gd name="T20" fmla="*/ 315 w 777"/>
                        <a:gd name="T21" fmla="*/ 871 h 1093"/>
                        <a:gd name="T22" fmla="*/ 294 w 777"/>
                        <a:gd name="T23" fmla="*/ 917 h 1093"/>
                        <a:gd name="T24" fmla="*/ 265 w 777"/>
                        <a:gd name="T25" fmla="*/ 926 h 1093"/>
                        <a:gd name="T26" fmla="*/ 259 w 777"/>
                        <a:gd name="T27" fmla="*/ 968 h 1093"/>
                        <a:gd name="T28" fmla="*/ 228 w 777"/>
                        <a:gd name="T29" fmla="*/ 991 h 1093"/>
                        <a:gd name="T30" fmla="*/ 205 w 777"/>
                        <a:gd name="T31" fmla="*/ 1034 h 1093"/>
                        <a:gd name="T32" fmla="*/ 196 w 777"/>
                        <a:gd name="T33" fmla="*/ 1068 h 1093"/>
                        <a:gd name="T34" fmla="*/ 177 w 777"/>
                        <a:gd name="T35" fmla="*/ 1090 h 1093"/>
                        <a:gd name="T36" fmla="*/ 152 w 777"/>
                        <a:gd name="T37" fmla="*/ 1052 h 1093"/>
                        <a:gd name="T38" fmla="*/ 63 w 777"/>
                        <a:gd name="T39" fmla="*/ 993 h 1093"/>
                        <a:gd name="T40" fmla="*/ 0 w 777"/>
                        <a:gd name="T41" fmla="*/ 985 h 1093"/>
                        <a:gd name="T42" fmla="*/ 17 w 777"/>
                        <a:gd name="T43" fmla="*/ 914 h 1093"/>
                        <a:gd name="T44" fmla="*/ 31 w 777"/>
                        <a:gd name="T45" fmla="*/ 862 h 1093"/>
                        <a:gd name="T46" fmla="*/ 82 w 777"/>
                        <a:gd name="T47" fmla="*/ 818 h 1093"/>
                        <a:gd name="T48" fmla="*/ 82 w 777"/>
                        <a:gd name="T49" fmla="*/ 770 h 1093"/>
                        <a:gd name="T50" fmla="*/ 99 w 777"/>
                        <a:gd name="T51" fmla="*/ 721 h 1093"/>
                        <a:gd name="T52" fmla="*/ 128 w 777"/>
                        <a:gd name="T53" fmla="*/ 692 h 1093"/>
                        <a:gd name="T54" fmla="*/ 137 w 777"/>
                        <a:gd name="T55" fmla="*/ 672 h 1093"/>
                        <a:gd name="T56" fmla="*/ 131 w 777"/>
                        <a:gd name="T57" fmla="*/ 636 h 1093"/>
                        <a:gd name="T58" fmla="*/ 141 w 777"/>
                        <a:gd name="T59" fmla="*/ 602 h 1093"/>
                        <a:gd name="T60" fmla="*/ 165 w 777"/>
                        <a:gd name="T61" fmla="*/ 583 h 1093"/>
                        <a:gd name="T62" fmla="*/ 176 w 777"/>
                        <a:gd name="T63" fmla="*/ 562 h 1093"/>
                        <a:gd name="T64" fmla="*/ 191 w 777"/>
                        <a:gd name="T65" fmla="*/ 543 h 1093"/>
                        <a:gd name="T66" fmla="*/ 214 w 777"/>
                        <a:gd name="T67" fmla="*/ 525 h 1093"/>
                        <a:gd name="T68" fmla="*/ 227 w 777"/>
                        <a:gd name="T69" fmla="*/ 508 h 1093"/>
                        <a:gd name="T70" fmla="*/ 229 w 777"/>
                        <a:gd name="T71" fmla="*/ 483 h 1093"/>
                        <a:gd name="T72" fmla="*/ 223 w 777"/>
                        <a:gd name="T73" fmla="*/ 448 h 1093"/>
                        <a:gd name="T74" fmla="*/ 227 w 777"/>
                        <a:gd name="T75" fmla="*/ 419 h 1093"/>
                        <a:gd name="T76" fmla="*/ 245 w 777"/>
                        <a:gd name="T77" fmla="*/ 397 h 1093"/>
                        <a:gd name="T78" fmla="*/ 254 w 777"/>
                        <a:gd name="T79" fmla="*/ 374 h 1093"/>
                        <a:gd name="T80" fmla="*/ 253 w 777"/>
                        <a:gd name="T81" fmla="*/ 339 h 1093"/>
                        <a:gd name="T82" fmla="*/ 261 w 777"/>
                        <a:gd name="T83" fmla="*/ 281 h 1093"/>
                        <a:gd name="T84" fmla="*/ 283 w 777"/>
                        <a:gd name="T85" fmla="*/ 191 h 1093"/>
                        <a:gd name="T86" fmla="*/ 334 w 777"/>
                        <a:gd name="T87" fmla="*/ 0 h 10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777" h="1093">
                          <a:moveTo>
                            <a:pt x="334" y="0"/>
                          </a:moveTo>
                          <a:lnTo>
                            <a:pt x="618" y="181"/>
                          </a:lnTo>
                          <a:lnTo>
                            <a:pt x="677" y="390"/>
                          </a:lnTo>
                          <a:lnTo>
                            <a:pt x="777" y="553"/>
                          </a:lnTo>
                          <a:lnTo>
                            <a:pt x="730" y="680"/>
                          </a:lnTo>
                          <a:lnTo>
                            <a:pt x="701" y="631"/>
                          </a:lnTo>
                          <a:lnTo>
                            <a:pt x="636" y="583"/>
                          </a:lnTo>
                          <a:lnTo>
                            <a:pt x="557" y="564"/>
                          </a:lnTo>
                          <a:lnTo>
                            <a:pt x="528" y="547"/>
                          </a:lnTo>
                          <a:lnTo>
                            <a:pt x="505" y="523"/>
                          </a:lnTo>
                          <a:lnTo>
                            <a:pt x="486" y="570"/>
                          </a:lnTo>
                          <a:lnTo>
                            <a:pt x="434" y="667"/>
                          </a:lnTo>
                          <a:lnTo>
                            <a:pt x="386" y="739"/>
                          </a:lnTo>
                          <a:lnTo>
                            <a:pt x="383" y="750"/>
                          </a:lnTo>
                          <a:lnTo>
                            <a:pt x="377" y="760"/>
                          </a:lnTo>
                          <a:lnTo>
                            <a:pt x="369" y="764"/>
                          </a:lnTo>
                          <a:lnTo>
                            <a:pt x="362" y="777"/>
                          </a:lnTo>
                          <a:lnTo>
                            <a:pt x="352" y="811"/>
                          </a:lnTo>
                          <a:lnTo>
                            <a:pt x="342" y="841"/>
                          </a:lnTo>
                          <a:lnTo>
                            <a:pt x="334" y="839"/>
                          </a:lnTo>
                          <a:lnTo>
                            <a:pt x="328" y="841"/>
                          </a:lnTo>
                          <a:lnTo>
                            <a:pt x="315" y="871"/>
                          </a:lnTo>
                          <a:lnTo>
                            <a:pt x="305" y="908"/>
                          </a:lnTo>
                          <a:lnTo>
                            <a:pt x="294" y="917"/>
                          </a:lnTo>
                          <a:lnTo>
                            <a:pt x="282" y="922"/>
                          </a:lnTo>
                          <a:lnTo>
                            <a:pt x="265" y="926"/>
                          </a:lnTo>
                          <a:lnTo>
                            <a:pt x="263" y="948"/>
                          </a:lnTo>
                          <a:lnTo>
                            <a:pt x="259" y="968"/>
                          </a:lnTo>
                          <a:lnTo>
                            <a:pt x="245" y="983"/>
                          </a:lnTo>
                          <a:lnTo>
                            <a:pt x="228" y="991"/>
                          </a:lnTo>
                          <a:lnTo>
                            <a:pt x="213" y="1014"/>
                          </a:lnTo>
                          <a:lnTo>
                            <a:pt x="205" y="1034"/>
                          </a:lnTo>
                          <a:lnTo>
                            <a:pt x="202" y="1051"/>
                          </a:lnTo>
                          <a:lnTo>
                            <a:pt x="196" y="1068"/>
                          </a:lnTo>
                          <a:lnTo>
                            <a:pt x="191" y="1084"/>
                          </a:lnTo>
                          <a:lnTo>
                            <a:pt x="177" y="1090"/>
                          </a:lnTo>
                          <a:lnTo>
                            <a:pt x="159" y="1093"/>
                          </a:lnTo>
                          <a:lnTo>
                            <a:pt x="152" y="1052"/>
                          </a:lnTo>
                          <a:lnTo>
                            <a:pt x="121" y="1013"/>
                          </a:lnTo>
                          <a:lnTo>
                            <a:pt x="63" y="993"/>
                          </a:lnTo>
                          <a:lnTo>
                            <a:pt x="36" y="981"/>
                          </a:lnTo>
                          <a:lnTo>
                            <a:pt x="0" y="985"/>
                          </a:lnTo>
                          <a:lnTo>
                            <a:pt x="13" y="941"/>
                          </a:lnTo>
                          <a:lnTo>
                            <a:pt x="17" y="914"/>
                          </a:lnTo>
                          <a:lnTo>
                            <a:pt x="22" y="885"/>
                          </a:lnTo>
                          <a:lnTo>
                            <a:pt x="31" y="862"/>
                          </a:lnTo>
                          <a:lnTo>
                            <a:pt x="40" y="848"/>
                          </a:lnTo>
                          <a:lnTo>
                            <a:pt x="82" y="818"/>
                          </a:lnTo>
                          <a:lnTo>
                            <a:pt x="79" y="792"/>
                          </a:lnTo>
                          <a:lnTo>
                            <a:pt x="82" y="770"/>
                          </a:lnTo>
                          <a:lnTo>
                            <a:pt x="88" y="746"/>
                          </a:lnTo>
                          <a:lnTo>
                            <a:pt x="99" y="721"/>
                          </a:lnTo>
                          <a:lnTo>
                            <a:pt x="111" y="707"/>
                          </a:lnTo>
                          <a:lnTo>
                            <a:pt x="128" y="692"/>
                          </a:lnTo>
                          <a:lnTo>
                            <a:pt x="146" y="685"/>
                          </a:lnTo>
                          <a:lnTo>
                            <a:pt x="137" y="672"/>
                          </a:lnTo>
                          <a:lnTo>
                            <a:pt x="134" y="655"/>
                          </a:lnTo>
                          <a:lnTo>
                            <a:pt x="131" y="636"/>
                          </a:lnTo>
                          <a:lnTo>
                            <a:pt x="134" y="619"/>
                          </a:lnTo>
                          <a:lnTo>
                            <a:pt x="141" y="602"/>
                          </a:lnTo>
                          <a:lnTo>
                            <a:pt x="153" y="591"/>
                          </a:lnTo>
                          <a:lnTo>
                            <a:pt x="165" y="583"/>
                          </a:lnTo>
                          <a:lnTo>
                            <a:pt x="168" y="570"/>
                          </a:lnTo>
                          <a:lnTo>
                            <a:pt x="176" y="562"/>
                          </a:lnTo>
                          <a:lnTo>
                            <a:pt x="188" y="559"/>
                          </a:lnTo>
                          <a:lnTo>
                            <a:pt x="191" y="543"/>
                          </a:lnTo>
                          <a:lnTo>
                            <a:pt x="203" y="529"/>
                          </a:lnTo>
                          <a:lnTo>
                            <a:pt x="214" y="525"/>
                          </a:lnTo>
                          <a:lnTo>
                            <a:pt x="225" y="522"/>
                          </a:lnTo>
                          <a:lnTo>
                            <a:pt x="227" y="508"/>
                          </a:lnTo>
                          <a:lnTo>
                            <a:pt x="231" y="499"/>
                          </a:lnTo>
                          <a:lnTo>
                            <a:pt x="229" y="483"/>
                          </a:lnTo>
                          <a:lnTo>
                            <a:pt x="225" y="468"/>
                          </a:lnTo>
                          <a:lnTo>
                            <a:pt x="223" y="448"/>
                          </a:lnTo>
                          <a:lnTo>
                            <a:pt x="222" y="433"/>
                          </a:lnTo>
                          <a:lnTo>
                            <a:pt x="227" y="419"/>
                          </a:lnTo>
                          <a:lnTo>
                            <a:pt x="236" y="406"/>
                          </a:lnTo>
                          <a:lnTo>
                            <a:pt x="245" y="397"/>
                          </a:lnTo>
                          <a:lnTo>
                            <a:pt x="253" y="390"/>
                          </a:lnTo>
                          <a:lnTo>
                            <a:pt x="254" y="374"/>
                          </a:lnTo>
                          <a:lnTo>
                            <a:pt x="256" y="359"/>
                          </a:lnTo>
                          <a:lnTo>
                            <a:pt x="253" y="339"/>
                          </a:lnTo>
                          <a:lnTo>
                            <a:pt x="247" y="324"/>
                          </a:lnTo>
                          <a:lnTo>
                            <a:pt x="261" y="281"/>
                          </a:lnTo>
                          <a:lnTo>
                            <a:pt x="276" y="241"/>
                          </a:lnTo>
                          <a:lnTo>
                            <a:pt x="283" y="191"/>
                          </a:lnTo>
                          <a:lnTo>
                            <a:pt x="293" y="148"/>
                          </a:lnTo>
                          <a:lnTo>
                            <a:pt x="334" y="0"/>
                          </a:lnTo>
                          <a:close/>
                        </a:path>
                      </a:pathLst>
                    </a:custGeom>
                    <a:solidFill>
                      <a:srgbClr val="A0A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642349" name="Group 301"/>
                    <p:cNvGrpSpPr/>
                    <p:nvPr/>
                  </p:nvGrpSpPr>
                  <p:grpSpPr bwMode="auto">
                    <a:xfrm>
                      <a:off x="2613" y="3011"/>
                      <a:ext cx="109" cy="119"/>
                      <a:chOff x="2613" y="3011"/>
                      <a:chExt cx="109" cy="119"/>
                    </a:xfrm>
                  </p:grpSpPr>
                  <p:sp>
                    <p:nvSpPr>
                      <p:cNvPr id="642350" name="Freeform 302"/>
                      <p:cNvSpPr/>
                      <p:nvPr/>
                    </p:nvSpPr>
                    <p:spPr bwMode="auto">
                      <a:xfrm>
                        <a:off x="2642" y="3011"/>
                        <a:ext cx="80" cy="70"/>
                      </a:xfrm>
                      <a:custGeom>
                        <a:avLst/>
                        <a:gdLst>
                          <a:gd name="T0" fmla="*/ 228 w 557"/>
                          <a:gd name="T1" fmla="*/ 518 h 558"/>
                          <a:gd name="T2" fmla="*/ 269 w 557"/>
                          <a:gd name="T3" fmla="*/ 444 h 558"/>
                          <a:gd name="T4" fmla="*/ 301 w 557"/>
                          <a:gd name="T5" fmla="*/ 373 h 558"/>
                          <a:gd name="T6" fmla="*/ 339 w 557"/>
                          <a:gd name="T7" fmla="*/ 406 h 558"/>
                          <a:gd name="T8" fmla="*/ 395 w 557"/>
                          <a:gd name="T9" fmla="*/ 423 h 558"/>
                          <a:gd name="T10" fmla="*/ 447 w 557"/>
                          <a:gd name="T11" fmla="*/ 441 h 558"/>
                          <a:gd name="T12" fmla="*/ 489 w 557"/>
                          <a:gd name="T13" fmla="*/ 473 h 558"/>
                          <a:gd name="T14" fmla="*/ 525 w 557"/>
                          <a:gd name="T15" fmla="*/ 525 h 558"/>
                          <a:gd name="T16" fmla="*/ 545 w 557"/>
                          <a:gd name="T17" fmla="*/ 526 h 558"/>
                          <a:gd name="T18" fmla="*/ 474 w 557"/>
                          <a:gd name="T19" fmla="*/ 277 h 558"/>
                          <a:gd name="T20" fmla="*/ 392 w 557"/>
                          <a:gd name="T21" fmla="*/ 121 h 558"/>
                          <a:gd name="T22" fmla="*/ 241 w 557"/>
                          <a:gd name="T23" fmla="*/ 11 h 558"/>
                          <a:gd name="T24" fmla="*/ 200 w 557"/>
                          <a:gd name="T25" fmla="*/ 114 h 558"/>
                          <a:gd name="T26" fmla="*/ 200 w 557"/>
                          <a:gd name="T27" fmla="*/ 210 h 558"/>
                          <a:gd name="T28" fmla="*/ 265 w 557"/>
                          <a:gd name="T29" fmla="*/ 325 h 558"/>
                          <a:gd name="T30" fmla="*/ 156 w 557"/>
                          <a:gd name="T31" fmla="*/ 246 h 558"/>
                          <a:gd name="T32" fmla="*/ 54 w 557"/>
                          <a:gd name="T33" fmla="*/ 180 h 558"/>
                          <a:gd name="T34" fmla="*/ 146 w 557"/>
                          <a:gd name="T35" fmla="*/ 272 h 558"/>
                          <a:gd name="T36" fmla="*/ 159 w 557"/>
                          <a:gd name="T37" fmla="*/ 311 h 558"/>
                          <a:gd name="T38" fmla="*/ 140 w 557"/>
                          <a:gd name="T39" fmla="*/ 329 h 558"/>
                          <a:gd name="T40" fmla="*/ 102 w 557"/>
                          <a:gd name="T41" fmla="*/ 324 h 558"/>
                          <a:gd name="T42" fmla="*/ 67 w 557"/>
                          <a:gd name="T43" fmla="*/ 320 h 558"/>
                          <a:gd name="T44" fmla="*/ 103 w 557"/>
                          <a:gd name="T45" fmla="*/ 364 h 558"/>
                          <a:gd name="T46" fmla="*/ 158 w 557"/>
                          <a:gd name="T47" fmla="*/ 409 h 558"/>
                          <a:gd name="T48" fmla="*/ 106 w 557"/>
                          <a:gd name="T49" fmla="*/ 396 h 558"/>
                          <a:gd name="T50" fmla="*/ 40 w 557"/>
                          <a:gd name="T51" fmla="*/ 400 h 558"/>
                          <a:gd name="T52" fmla="*/ 43 w 557"/>
                          <a:gd name="T53" fmla="*/ 413 h 558"/>
                          <a:gd name="T54" fmla="*/ 95 w 557"/>
                          <a:gd name="T55" fmla="*/ 436 h 558"/>
                          <a:gd name="T56" fmla="*/ 80 w 557"/>
                          <a:gd name="T57" fmla="*/ 445 h 558"/>
                          <a:gd name="T58" fmla="*/ 26 w 557"/>
                          <a:gd name="T59" fmla="*/ 450 h 558"/>
                          <a:gd name="T60" fmla="*/ 52 w 557"/>
                          <a:gd name="T61" fmla="*/ 470 h 558"/>
                          <a:gd name="T62" fmla="*/ 137 w 557"/>
                          <a:gd name="T63" fmla="*/ 500 h 558"/>
                          <a:gd name="T64" fmla="*/ 186 w 557"/>
                          <a:gd name="T65" fmla="*/ 537 h 55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</a:cxnLst>
                        <a:rect l="0" t="0" r="r" b="b"/>
                        <a:pathLst>
                          <a:path w="557" h="558">
                            <a:moveTo>
                              <a:pt x="200" y="558"/>
                            </a:moveTo>
                            <a:lnTo>
                              <a:pt x="228" y="518"/>
                            </a:lnTo>
                            <a:lnTo>
                              <a:pt x="250" y="482"/>
                            </a:lnTo>
                            <a:lnTo>
                              <a:pt x="269" y="444"/>
                            </a:lnTo>
                            <a:lnTo>
                              <a:pt x="290" y="402"/>
                            </a:lnTo>
                            <a:lnTo>
                              <a:pt x="301" y="373"/>
                            </a:lnTo>
                            <a:lnTo>
                              <a:pt x="322" y="392"/>
                            </a:lnTo>
                            <a:lnTo>
                              <a:pt x="339" y="406"/>
                            </a:lnTo>
                            <a:lnTo>
                              <a:pt x="361" y="415"/>
                            </a:lnTo>
                            <a:lnTo>
                              <a:pt x="395" y="423"/>
                            </a:lnTo>
                            <a:lnTo>
                              <a:pt x="426" y="433"/>
                            </a:lnTo>
                            <a:lnTo>
                              <a:pt x="447" y="441"/>
                            </a:lnTo>
                            <a:lnTo>
                              <a:pt x="469" y="458"/>
                            </a:lnTo>
                            <a:lnTo>
                              <a:pt x="489" y="473"/>
                            </a:lnTo>
                            <a:lnTo>
                              <a:pt x="510" y="499"/>
                            </a:lnTo>
                            <a:lnTo>
                              <a:pt x="525" y="525"/>
                            </a:lnTo>
                            <a:lnTo>
                              <a:pt x="536" y="557"/>
                            </a:lnTo>
                            <a:lnTo>
                              <a:pt x="545" y="526"/>
                            </a:lnTo>
                            <a:lnTo>
                              <a:pt x="557" y="325"/>
                            </a:lnTo>
                            <a:lnTo>
                              <a:pt x="474" y="277"/>
                            </a:lnTo>
                            <a:lnTo>
                              <a:pt x="426" y="216"/>
                            </a:lnTo>
                            <a:lnTo>
                              <a:pt x="392" y="121"/>
                            </a:lnTo>
                            <a:lnTo>
                              <a:pt x="365" y="0"/>
                            </a:lnTo>
                            <a:lnTo>
                              <a:pt x="241" y="11"/>
                            </a:lnTo>
                            <a:lnTo>
                              <a:pt x="213" y="71"/>
                            </a:lnTo>
                            <a:lnTo>
                              <a:pt x="200" y="114"/>
                            </a:lnTo>
                            <a:lnTo>
                              <a:pt x="196" y="167"/>
                            </a:lnTo>
                            <a:lnTo>
                              <a:pt x="200" y="210"/>
                            </a:lnTo>
                            <a:lnTo>
                              <a:pt x="237" y="288"/>
                            </a:lnTo>
                            <a:lnTo>
                              <a:pt x="265" y="325"/>
                            </a:lnTo>
                            <a:lnTo>
                              <a:pt x="206" y="277"/>
                            </a:lnTo>
                            <a:lnTo>
                              <a:pt x="156" y="246"/>
                            </a:lnTo>
                            <a:lnTo>
                              <a:pt x="110" y="215"/>
                            </a:lnTo>
                            <a:lnTo>
                              <a:pt x="54" y="180"/>
                            </a:lnTo>
                            <a:lnTo>
                              <a:pt x="114" y="232"/>
                            </a:lnTo>
                            <a:lnTo>
                              <a:pt x="146" y="272"/>
                            </a:lnTo>
                            <a:lnTo>
                              <a:pt x="161" y="297"/>
                            </a:lnTo>
                            <a:lnTo>
                              <a:pt x="159" y="311"/>
                            </a:lnTo>
                            <a:lnTo>
                              <a:pt x="153" y="322"/>
                            </a:lnTo>
                            <a:lnTo>
                              <a:pt x="140" y="329"/>
                            </a:lnTo>
                            <a:lnTo>
                              <a:pt x="125" y="331"/>
                            </a:lnTo>
                            <a:lnTo>
                              <a:pt x="102" y="324"/>
                            </a:lnTo>
                            <a:lnTo>
                              <a:pt x="48" y="288"/>
                            </a:lnTo>
                            <a:lnTo>
                              <a:pt x="67" y="320"/>
                            </a:lnTo>
                            <a:lnTo>
                              <a:pt x="83" y="341"/>
                            </a:lnTo>
                            <a:lnTo>
                              <a:pt x="103" y="364"/>
                            </a:lnTo>
                            <a:lnTo>
                              <a:pt x="125" y="383"/>
                            </a:lnTo>
                            <a:lnTo>
                              <a:pt x="158" y="409"/>
                            </a:lnTo>
                            <a:lnTo>
                              <a:pt x="132" y="400"/>
                            </a:lnTo>
                            <a:lnTo>
                              <a:pt x="106" y="396"/>
                            </a:lnTo>
                            <a:lnTo>
                              <a:pt x="72" y="395"/>
                            </a:lnTo>
                            <a:lnTo>
                              <a:pt x="40" y="400"/>
                            </a:lnTo>
                            <a:lnTo>
                              <a:pt x="6" y="404"/>
                            </a:lnTo>
                            <a:lnTo>
                              <a:pt x="43" y="413"/>
                            </a:lnTo>
                            <a:lnTo>
                              <a:pt x="73" y="426"/>
                            </a:lnTo>
                            <a:lnTo>
                              <a:pt x="95" y="436"/>
                            </a:lnTo>
                            <a:lnTo>
                              <a:pt x="117" y="453"/>
                            </a:lnTo>
                            <a:lnTo>
                              <a:pt x="80" y="445"/>
                            </a:lnTo>
                            <a:lnTo>
                              <a:pt x="55" y="444"/>
                            </a:lnTo>
                            <a:lnTo>
                              <a:pt x="26" y="450"/>
                            </a:lnTo>
                            <a:lnTo>
                              <a:pt x="0" y="458"/>
                            </a:lnTo>
                            <a:lnTo>
                              <a:pt x="52" y="470"/>
                            </a:lnTo>
                            <a:lnTo>
                              <a:pt x="101" y="486"/>
                            </a:lnTo>
                            <a:lnTo>
                              <a:pt x="137" y="500"/>
                            </a:lnTo>
                            <a:lnTo>
                              <a:pt x="164" y="518"/>
                            </a:lnTo>
                            <a:lnTo>
                              <a:pt x="186" y="537"/>
                            </a:lnTo>
                            <a:lnTo>
                              <a:pt x="200" y="558"/>
                            </a:lnTo>
                            <a:close/>
                          </a:path>
                        </a:pathLst>
                      </a:custGeom>
                      <a:solidFill>
                        <a:srgbClr val="8080A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1" name="Freeform 303"/>
                      <p:cNvSpPr/>
                      <p:nvPr/>
                    </p:nvSpPr>
                    <p:spPr bwMode="auto">
                      <a:xfrm>
                        <a:off x="2616" y="3098"/>
                        <a:ext cx="34" cy="19"/>
                      </a:xfrm>
                      <a:custGeom>
                        <a:avLst/>
                        <a:gdLst>
                          <a:gd name="T0" fmla="*/ 0 w 238"/>
                          <a:gd name="T1" fmla="*/ 37 h 152"/>
                          <a:gd name="T2" fmla="*/ 26 w 238"/>
                          <a:gd name="T3" fmla="*/ 38 h 152"/>
                          <a:gd name="T4" fmla="*/ 58 w 238"/>
                          <a:gd name="T5" fmla="*/ 42 h 152"/>
                          <a:gd name="T6" fmla="*/ 92 w 238"/>
                          <a:gd name="T7" fmla="*/ 52 h 152"/>
                          <a:gd name="T8" fmla="*/ 113 w 238"/>
                          <a:gd name="T9" fmla="*/ 63 h 152"/>
                          <a:gd name="T10" fmla="*/ 140 w 238"/>
                          <a:gd name="T11" fmla="*/ 80 h 152"/>
                          <a:gd name="T12" fmla="*/ 168 w 238"/>
                          <a:gd name="T13" fmla="*/ 102 h 152"/>
                          <a:gd name="T14" fmla="*/ 186 w 238"/>
                          <a:gd name="T15" fmla="*/ 126 h 152"/>
                          <a:gd name="T16" fmla="*/ 205 w 238"/>
                          <a:gd name="T17" fmla="*/ 152 h 152"/>
                          <a:gd name="T18" fmla="*/ 214 w 238"/>
                          <a:gd name="T19" fmla="*/ 145 h 152"/>
                          <a:gd name="T20" fmla="*/ 225 w 238"/>
                          <a:gd name="T21" fmla="*/ 140 h 152"/>
                          <a:gd name="T22" fmla="*/ 238 w 238"/>
                          <a:gd name="T23" fmla="*/ 126 h 152"/>
                          <a:gd name="T24" fmla="*/ 230 w 238"/>
                          <a:gd name="T25" fmla="*/ 112 h 152"/>
                          <a:gd name="T26" fmla="*/ 204 w 238"/>
                          <a:gd name="T27" fmla="*/ 95 h 152"/>
                          <a:gd name="T28" fmla="*/ 182 w 238"/>
                          <a:gd name="T29" fmla="*/ 77 h 152"/>
                          <a:gd name="T30" fmla="*/ 168 w 238"/>
                          <a:gd name="T31" fmla="*/ 63 h 152"/>
                          <a:gd name="T32" fmla="*/ 138 w 238"/>
                          <a:gd name="T33" fmla="*/ 41 h 152"/>
                          <a:gd name="T34" fmla="*/ 106 w 238"/>
                          <a:gd name="T35" fmla="*/ 23 h 152"/>
                          <a:gd name="T36" fmla="*/ 73 w 238"/>
                          <a:gd name="T37" fmla="*/ 11 h 152"/>
                          <a:gd name="T38" fmla="*/ 42 w 238"/>
                          <a:gd name="T39" fmla="*/ 3 h 152"/>
                          <a:gd name="T40" fmla="*/ 14 w 238"/>
                          <a:gd name="T41" fmla="*/ 0 h 152"/>
                          <a:gd name="T42" fmla="*/ 9 w 238"/>
                          <a:gd name="T43" fmla="*/ 7 h 152"/>
                          <a:gd name="T44" fmla="*/ 3 w 238"/>
                          <a:gd name="T45" fmla="*/ 21 h 152"/>
                          <a:gd name="T46" fmla="*/ 0 w 238"/>
                          <a:gd name="T47" fmla="*/ 37 h 15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</a:cxnLst>
                        <a:rect l="0" t="0" r="r" b="b"/>
                        <a:pathLst>
                          <a:path w="238" h="152">
                            <a:moveTo>
                              <a:pt x="0" y="37"/>
                            </a:moveTo>
                            <a:lnTo>
                              <a:pt x="26" y="38"/>
                            </a:lnTo>
                            <a:lnTo>
                              <a:pt x="58" y="42"/>
                            </a:lnTo>
                            <a:lnTo>
                              <a:pt x="92" y="52"/>
                            </a:lnTo>
                            <a:lnTo>
                              <a:pt x="113" y="63"/>
                            </a:lnTo>
                            <a:lnTo>
                              <a:pt x="140" y="80"/>
                            </a:lnTo>
                            <a:lnTo>
                              <a:pt x="168" y="102"/>
                            </a:lnTo>
                            <a:lnTo>
                              <a:pt x="186" y="126"/>
                            </a:lnTo>
                            <a:lnTo>
                              <a:pt x="205" y="152"/>
                            </a:lnTo>
                            <a:lnTo>
                              <a:pt x="214" y="145"/>
                            </a:lnTo>
                            <a:lnTo>
                              <a:pt x="225" y="140"/>
                            </a:lnTo>
                            <a:lnTo>
                              <a:pt x="238" y="126"/>
                            </a:lnTo>
                            <a:lnTo>
                              <a:pt x="230" y="112"/>
                            </a:lnTo>
                            <a:lnTo>
                              <a:pt x="204" y="95"/>
                            </a:lnTo>
                            <a:lnTo>
                              <a:pt x="182" y="77"/>
                            </a:lnTo>
                            <a:lnTo>
                              <a:pt x="168" y="63"/>
                            </a:lnTo>
                            <a:lnTo>
                              <a:pt x="138" y="41"/>
                            </a:lnTo>
                            <a:lnTo>
                              <a:pt x="106" y="23"/>
                            </a:lnTo>
                            <a:lnTo>
                              <a:pt x="73" y="11"/>
                            </a:lnTo>
                            <a:lnTo>
                              <a:pt x="42" y="3"/>
                            </a:lnTo>
                            <a:lnTo>
                              <a:pt x="14" y="0"/>
                            </a:lnTo>
                            <a:lnTo>
                              <a:pt x="9" y="7"/>
                            </a:lnTo>
                            <a:lnTo>
                              <a:pt x="3" y="21"/>
                            </a:lnTo>
                            <a:lnTo>
                              <a:pt x="0" y="37"/>
                            </a:lnTo>
                            <a:close/>
                          </a:path>
                        </a:pathLst>
                      </a:custGeom>
                      <a:solidFill>
                        <a:srgbClr val="8080A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2" name="Freeform 304"/>
                      <p:cNvSpPr/>
                      <p:nvPr/>
                    </p:nvSpPr>
                    <p:spPr bwMode="auto">
                      <a:xfrm>
                        <a:off x="2631" y="3094"/>
                        <a:ext cx="27" cy="13"/>
                      </a:xfrm>
                      <a:custGeom>
                        <a:avLst/>
                        <a:gdLst>
                          <a:gd name="T0" fmla="*/ 0 w 189"/>
                          <a:gd name="T1" fmla="*/ 8 h 105"/>
                          <a:gd name="T2" fmla="*/ 33 w 189"/>
                          <a:gd name="T3" fmla="*/ 18 h 105"/>
                          <a:gd name="T4" fmla="*/ 64 w 189"/>
                          <a:gd name="T5" fmla="*/ 32 h 105"/>
                          <a:gd name="T6" fmla="*/ 88 w 189"/>
                          <a:gd name="T7" fmla="*/ 45 h 105"/>
                          <a:gd name="T8" fmla="*/ 115 w 189"/>
                          <a:gd name="T9" fmla="*/ 63 h 105"/>
                          <a:gd name="T10" fmla="*/ 137 w 189"/>
                          <a:gd name="T11" fmla="*/ 81 h 105"/>
                          <a:gd name="T12" fmla="*/ 160 w 189"/>
                          <a:gd name="T13" fmla="*/ 105 h 105"/>
                          <a:gd name="T14" fmla="*/ 172 w 189"/>
                          <a:gd name="T15" fmla="*/ 102 h 105"/>
                          <a:gd name="T16" fmla="*/ 183 w 189"/>
                          <a:gd name="T17" fmla="*/ 93 h 105"/>
                          <a:gd name="T18" fmla="*/ 188 w 189"/>
                          <a:gd name="T19" fmla="*/ 81 h 105"/>
                          <a:gd name="T20" fmla="*/ 189 w 189"/>
                          <a:gd name="T21" fmla="*/ 65 h 105"/>
                          <a:gd name="T22" fmla="*/ 176 w 189"/>
                          <a:gd name="T23" fmla="*/ 55 h 105"/>
                          <a:gd name="T24" fmla="*/ 162 w 189"/>
                          <a:gd name="T25" fmla="*/ 51 h 105"/>
                          <a:gd name="T26" fmla="*/ 145 w 189"/>
                          <a:gd name="T27" fmla="*/ 48 h 105"/>
                          <a:gd name="T28" fmla="*/ 127 w 189"/>
                          <a:gd name="T29" fmla="*/ 41 h 105"/>
                          <a:gd name="T30" fmla="*/ 110 w 189"/>
                          <a:gd name="T31" fmla="*/ 28 h 105"/>
                          <a:gd name="T32" fmla="*/ 93 w 189"/>
                          <a:gd name="T33" fmla="*/ 16 h 105"/>
                          <a:gd name="T34" fmla="*/ 71 w 189"/>
                          <a:gd name="T35" fmla="*/ 5 h 105"/>
                          <a:gd name="T36" fmla="*/ 53 w 189"/>
                          <a:gd name="T37" fmla="*/ 2 h 105"/>
                          <a:gd name="T38" fmla="*/ 38 w 189"/>
                          <a:gd name="T39" fmla="*/ 0 h 105"/>
                          <a:gd name="T40" fmla="*/ 18 w 189"/>
                          <a:gd name="T41" fmla="*/ 2 h 105"/>
                          <a:gd name="T42" fmla="*/ 0 w 189"/>
                          <a:gd name="T43" fmla="*/ 8 h 10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189" h="105">
                            <a:moveTo>
                              <a:pt x="0" y="8"/>
                            </a:moveTo>
                            <a:lnTo>
                              <a:pt x="33" y="18"/>
                            </a:lnTo>
                            <a:lnTo>
                              <a:pt x="64" y="32"/>
                            </a:lnTo>
                            <a:lnTo>
                              <a:pt x="88" y="45"/>
                            </a:lnTo>
                            <a:lnTo>
                              <a:pt x="115" y="63"/>
                            </a:lnTo>
                            <a:lnTo>
                              <a:pt x="137" y="81"/>
                            </a:lnTo>
                            <a:lnTo>
                              <a:pt x="160" y="105"/>
                            </a:lnTo>
                            <a:lnTo>
                              <a:pt x="172" y="102"/>
                            </a:lnTo>
                            <a:lnTo>
                              <a:pt x="183" y="93"/>
                            </a:lnTo>
                            <a:lnTo>
                              <a:pt x="188" y="81"/>
                            </a:lnTo>
                            <a:lnTo>
                              <a:pt x="189" y="65"/>
                            </a:lnTo>
                            <a:lnTo>
                              <a:pt x="176" y="55"/>
                            </a:lnTo>
                            <a:lnTo>
                              <a:pt x="162" y="51"/>
                            </a:lnTo>
                            <a:lnTo>
                              <a:pt x="145" y="48"/>
                            </a:lnTo>
                            <a:lnTo>
                              <a:pt x="127" y="41"/>
                            </a:lnTo>
                            <a:lnTo>
                              <a:pt x="110" y="28"/>
                            </a:lnTo>
                            <a:lnTo>
                              <a:pt x="93" y="16"/>
                            </a:lnTo>
                            <a:lnTo>
                              <a:pt x="71" y="5"/>
                            </a:lnTo>
                            <a:lnTo>
                              <a:pt x="53" y="2"/>
                            </a:lnTo>
                            <a:lnTo>
                              <a:pt x="38" y="0"/>
                            </a:lnTo>
                            <a:lnTo>
                              <a:pt x="18" y="2"/>
                            </a:lnTo>
                            <a:lnTo>
                              <a:pt x="0" y="8"/>
                            </a:lnTo>
                            <a:close/>
                          </a:path>
                        </a:pathLst>
                      </a:custGeom>
                      <a:solidFill>
                        <a:srgbClr val="8080A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3" name="Freeform 305"/>
                      <p:cNvSpPr/>
                      <p:nvPr/>
                    </p:nvSpPr>
                    <p:spPr bwMode="auto">
                      <a:xfrm>
                        <a:off x="2626" y="3080"/>
                        <a:ext cx="38" cy="17"/>
                      </a:xfrm>
                      <a:custGeom>
                        <a:avLst/>
                        <a:gdLst>
                          <a:gd name="T0" fmla="*/ 0 w 263"/>
                          <a:gd name="T1" fmla="*/ 59 h 129"/>
                          <a:gd name="T2" fmla="*/ 18 w 263"/>
                          <a:gd name="T3" fmla="*/ 50 h 129"/>
                          <a:gd name="T4" fmla="*/ 34 w 263"/>
                          <a:gd name="T5" fmla="*/ 42 h 129"/>
                          <a:gd name="T6" fmla="*/ 61 w 263"/>
                          <a:gd name="T7" fmla="*/ 34 h 129"/>
                          <a:gd name="T8" fmla="*/ 84 w 263"/>
                          <a:gd name="T9" fmla="*/ 37 h 129"/>
                          <a:gd name="T10" fmla="*/ 107 w 263"/>
                          <a:gd name="T11" fmla="*/ 52 h 129"/>
                          <a:gd name="T12" fmla="*/ 128 w 263"/>
                          <a:gd name="T13" fmla="*/ 66 h 129"/>
                          <a:gd name="T14" fmla="*/ 164 w 263"/>
                          <a:gd name="T15" fmla="*/ 85 h 129"/>
                          <a:gd name="T16" fmla="*/ 194 w 263"/>
                          <a:gd name="T17" fmla="*/ 106 h 129"/>
                          <a:gd name="T18" fmla="*/ 225 w 263"/>
                          <a:gd name="T19" fmla="*/ 129 h 129"/>
                          <a:gd name="T20" fmla="*/ 235 w 263"/>
                          <a:gd name="T21" fmla="*/ 124 h 129"/>
                          <a:gd name="T22" fmla="*/ 246 w 263"/>
                          <a:gd name="T23" fmla="*/ 123 h 129"/>
                          <a:gd name="T24" fmla="*/ 256 w 263"/>
                          <a:gd name="T25" fmla="*/ 126 h 129"/>
                          <a:gd name="T26" fmla="*/ 263 w 263"/>
                          <a:gd name="T27" fmla="*/ 97 h 129"/>
                          <a:gd name="T28" fmla="*/ 201 w 263"/>
                          <a:gd name="T29" fmla="*/ 56 h 129"/>
                          <a:gd name="T30" fmla="*/ 159 w 263"/>
                          <a:gd name="T31" fmla="*/ 32 h 129"/>
                          <a:gd name="T32" fmla="*/ 128 w 263"/>
                          <a:gd name="T33" fmla="*/ 17 h 129"/>
                          <a:gd name="T34" fmla="*/ 105 w 263"/>
                          <a:gd name="T35" fmla="*/ 5 h 129"/>
                          <a:gd name="T36" fmla="*/ 81 w 263"/>
                          <a:gd name="T37" fmla="*/ 0 h 129"/>
                          <a:gd name="T38" fmla="*/ 57 w 263"/>
                          <a:gd name="T39" fmla="*/ 3 h 129"/>
                          <a:gd name="T40" fmla="*/ 38 w 263"/>
                          <a:gd name="T41" fmla="*/ 13 h 129"/>
                          <a:gd name="T42" fmla="*/ 18 w 263"/>
                          <a:gd name="T43" fmla="*/ 32 h 129"/>
                          <a:gd name="T44" fmla="*/ 0 w 263"/>
                          <a:gd name="T45" fmla="*/ 59 h 12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263" h="129">
                            <a:moveTo>
                              <a:pt x="0" y="59"/>
                            </a:moveTo>
                            <a:lnTo>
                              <a:pt x="18" y="50"/>
                            </a:lnTo>
                            <a:lnTo>
                              <a:pt x="34" y="42"/>
                            </a:lnTo>
                            <a:lnTo>
                              <a:pt x="61" y="34"/>
                            </a:lnTo>
                            <a:lnTo>
                              <a:pt x="84" y="37"/>
                            </a:lnTo>
                            <a:lnTo>
                              <a:pt x="107" y="52"/>
                            </a:lnTo>
                            <a:lnTo>
                              <a:pt x="128" y="66"/>
                            </a:lnTo>
                            <a:lnTo>
                              <a:pt x="164" y="85"/>
                            </a:lnTo>
                            <a:lnTo>
                              <a:pt x="194" y="106"/>
                            </a:lnTo>
                            <a:lnTo>
                              <a:pt x="225" y="129"/>
                            </a:lnTo>
                            <a:lnTo>
                              <a:pt x="235" y="124"/>
                            </a:lnTo>
                            <a:lnTo>
                              <a:pt x="246" y="123"/>
                            </a:lnTo>
                            <a:lnTo>
                              <a:pt x="256" y="126"/>
                            </a:lnTo>
                            <a:lnTo>
                              <a:pt x="263" y="97"/>
                            </a:lnTo>
                            <a:lnTo>
                              <a:pt x="201" y="56"/>
                            </a:lnTo>
                            <a:lnTo>
                              <a:pt x="159" y="32"/>
                            </a:lnTo>
                            <a:lnTo>
                              <a:pt x="128" y="17"/>
                            </a:lnTo>
                            <a:lnTo>
                              <a:pt x="105" y="5"/>
                            </a:lnTo>
                            <a:lnTo>
                              <a:pt x="81" y="0"/>
                            </a:lnTo>
                            <a:lnTo>
                              <a:pt x="57" y="3"/>
                            </a:lnTo>
                            <a:lnTo>
                              <a:pt x="38" y="13"/>
                            </a:lnTo>
                            <a:lnTo>
                              <a:pt x="18" y="32"/>
                            </a:lnTo>
                            <a:lnTo>
                              <a:pt x="0" y="59"/>
                            </a:lnTo>
                            <a:close/>
                          </a:path>
                        </a:pathLst>
                      </a:custGeom>
                      <a:solidFill>
                        <a:srgbClr val="8080A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4" name="Freeform 306"/>
                      <p:cNvSpPr/>
                      <p:nvPr/>
                    </p:nvSpPr>
                    <p:spPr bwMode="auto">
                      <a:xfrm>
                        <a:off x="2632" y="3068"/>
                        <a:ext cx="25" cy="15"/>
                      </a:xfrm>
                      <a:custGeom>
                        <a:avLst/>
                        <a:gdLst>
                          <a:gd name="T0" fmla="*/ 0 w 177"/>
                          <a:gd name="T1" fmla="*/ 18 h 122"/>
                          <a:gd name="T2" fmla="*/ 2 w 177"/>
                          <a:gd name="T3" fmla="*/ 40 h 122"/>
                          <a:gd name="T4" fmla="*/ 8 w 177"/>
                          <a:gd name="T5" fmla="*/ 58 h 122"/>
                          <a:gd name="T6" fmla="*/ 16 w 177"/>
                          <a:gd name="T7" fmla="*/ 70 h 122"/>
                          <a:gd name="T8" fmla="*/ 31 w 177"/>
                          <a:gd name="T9" fmla="*/ 76 h 122"/>
                          <a:gd name="T10" fmla="*/ 91 w 177"/>
                          <a:gd name="T11" fmla="*/ 71 h 122"/>
                          <a:gd name="T12" fmla="*/ 116 w 177"/>
                          <a:gd name="T13" fmla="*/ 90 h 122"/>
                          <a:gd name="T14" fmla="*/ 145 w 177"/>
                          <a:gd name="T15" fmla="*/ 106 h 122"/>
                          <a:gd name="T16" fmla="*/ 177 w 177"/>
                          <a:gd name="T17" fmla="*/ 122 h 122"/>
                          <a:gd name="T18" fmla="*/ 154 w 177"/>
                          <a:gd name="T19" fmla="*/ 93 h 122"/>
                          <a:gd name="T20" fmla="*/ 129 w 177"/>
                          <a:gd name="T21" fmla="*/ 70 h 122"/>
                          <a:gd name="T22" fmla="*/ 104 w 177"/>
                          <a:gd name="T23" fmla="*/ 47 h 122"/>
                          <a:gd name="T24" fmla="*/ 73 w 177"/>
                          <a:gd name="T25" fmla="*/ 31 h 122"/>
                          <a:gd name="T26" fmla="*/ 51 w 177"/>
                          <a:gd name="T27" fmla="*/ 13 h 122"/>
                          <a:gd name="T28" fmla="*/ 35 w 177"/>
                          <a:gd name="T29" fmla="*/ 3 h 122"/>
                          <a:gd name="T30" fmla="*/ 18 w 177"/>
                          <a:gd name="T31" fmla="*/ 0 h 122"/>
                          <a:gd name="T32" fmla="*/ 5 w 177"/>
                          <a:gd name="T33" fmla="*/ 4 h 122"/>
                          <a:gd name="T34" fmla="*/ 0 w 177"/>
                          <a:gd name="T35" fmla="*/ 18 h 12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177" h="122">
                            <a:moveTo>
                              <a:pt x="0" y="18"/>
                            </a:moveTo>
                            <a:lnTo>
                              <a:pt x="2" y="40"/>
                            </a:lnTo>
                            <a:lnTo>
                              <a:pt x="8" y="58"/>
                            </a:lnTo>
                            <a:lnTo>
                              <a:pt x="16" y="70"/>
                            </a:lnTo>
                            <a:lnTo>
                              <a:pt x="31" y="76"/>
                            </a:lnTo>
                            <a:lnTo>
                              <a:pt x="91" y="71"/>
                            </a:lnTo>
                            <a:lnTo>
                              <a:pt x="116" y="90"/>
                            </a:lnTo>
                            <a:lnTo>
                              <a:pt x="145" y="106"/>
                            </a:lnTo>
                            <a:lnTo>
                              <a:pt x="177" y="122"/>
                            </a:lnTo>
                            <a:lnTo>
                              <a:pt x="154" y="93"/>
                            </a:lnTo>
                            <a:lnTo>
                              <a:pt x="129" y="70"/>
                            </a:lnTo>
                            <a:lnTo>
                              <a:pt x="104" y="47"/>
                            </a:lnTo>
                            <a:lnTo>
                              <a:pt x="73" y="31"/>
                            </a:lnTo>
                            <a:lnTo>
                              <a:pt x="51" y="13"/>
                            </a:lnTo>
                            <a:lnTo>
                              <a:pt x="35" y="3"/>
                            </a:lnTo>
                            <a:lnTo>
                              <a:pt x="18" y="0"/>
                            </a:lnTo>
                            <a:lnTo>
                              <a:pt x="5" y="4"/>
                            </a:lnTo>
                            <a:lnTo>
                              <a:pt x="0" y="18"/>
                            </a:lnTo>
                            <a:close/>
                          </a:path>
                        </a:pathLst>
                      </a:custGeom>
                      <a:solidFill>
                        <a:srgbClr val="8080A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5" name="Freeform 307"/>
                      <p:cNvSpPr/>
                      <p:nvPr/>
                    </p:nvSpPr>
                    <p:spPr bwMode="auto">
                      <a:xfrm>
                        <a:off x="2613" y="3113"/>
                        <a:ext cx="25" cy="17"/>
                      </a:xfrm>
                      <a:custGeom>
                        <a:avLst/>
                        <a:gdLst>
                          <a:gd name="T0" fmla="*/ 0 w 175"/>
                          <a:gd name="T1" fmla="*/ 5 h 130"/>
                          <a:gd name="T2" fmla="*/ 16 w 175"/>
                          <a:gd name="T3" fmla="*/ 6 h 130"/>
                          <a:gd name="T4" fmla="*/ 37 w 175"/>
                          <a:gd name="T5" fmla="*/ 10 h 130"/>
                          <a:gd name="T6" fmla="*/ 60 w 175"/>
                          <a:gd name="T7" fmla="*/ 17 h 130"/>
                          <a:gd name="T8" fmla="*/ 82 w 175"/>
                          <a:gd name="T9" fmla="*/ 28 h 130"/>
                          <a:gd name="T10" fmla="*/ 113 w 175"/>
                          <a:gd name="T11" fmla="*/ 41 h 130"/>
                          <a:gd name="T12" fmla="*/ 130 w 175"/>
                          <a:gd name="T13" fmla="*/ 51 h 130"/>
                          <a:gd name="T14" fmla="*/ 145 w 175"/>
                          <a:gd name="T15" fmla="*/ 66 h 130"/>
                          <a:gd name="T16" fmla="*/ 155 w 175"/>
                          <a:gd name="T17" fmla="*/ 80 h 130"/>
                          <a:gd name="T18" fmla="*/ 159 w 175"/>
                          <a:gd name="T19" fmla="*/ 98 h 130"/>
                          <a:gd name="T20" fmla="*/ 162 w 175"/>
                          <a:gd name="T21" fmla="*/ 120 h 130"/>
                          <a:gd name="T22" fmla="*/ 161 w 175"/>
                          <a:gd name="T23" fmla="*/ 130 h 130"/>
                          <a:gd name="T24" fmla="*/ 171 w 175"/>
                          <a:gd name="T25" fmla="*/ 117 h 130"/>
                          <a:gd name="T26" fmla="*/ 175 w 175"/>
                          <a:gd name="T27" fmla="*/ 97 h 130"/>
                          <a:gd name="T28" fmla="*/ 173 w 175"/>
                          <a:gd name="T29" fmla="*/ 78 h 130"/>
                          <a:gd name="T30" fmla="*/ 162 w 175"/>
                          <a:gd name="T31" fmla="*/ 60 h 130"/>
                          <a:gd name="T32" fmla="*/ 146 w 175"/>
                          <a:gd name="T33" fmla="*/ 42 h 130"/>
                          <a:gd name="T34" fmla="*/ 126 w 175"/>
                          <a:gd name="T35" fmla="*/ 27 h 130"/>
                          <a:gd name="T36" fmla="*/ 95 w 175"/>
                          <a:gd name="T37" fmla="*/ 12 h 130"/>
                          <a:gd name="T38" fmla="*/ 63 w 175"/>
                          <a:gd name="T39" fmla="*/ 3 h 130"/>
                          <a:gd name="T40" fmla="*/ 44 w 175"/>
                          <a:gd name="T41" fmla="*/ 1 h 130"/>
                          <a:gd name="T42" fmla="*/ 19 w 175"/>
                          <a:gd name="T43" fmla="*/ 0 h 130"/>
                          <a:gd name="T44" fmla="*/ 0 w 175"/>
                          <a:gd name="T45" fmla="*/ 5 h 1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175" h="130">
                            <a:moveTo>
                              <a:pt x="0" y="5"/>
                            </a:moveTo>
                            <a:lnTo>
                              <a:pt x="16" y="6"/>
                            </a:lnTo>
                            <a:lnTo>
                              <a:pt x="37" y="10"/>
                            </a:lnTo>
                            <a:lnTo>
                              <a:pt x="60" y="17"/>
                            </a:lnTo>
                            <a:lnTo>
                              <a:pt x="82" y="28"/>
                            </a:lnTo>
                            <a:lnTo>
                              <a:pt x="113" y="41"/>
                            </a:lnTo>
                            <a:lnTo>
                              <a:pt x="130" y="51"/>
                            </a:lnTo>
                            <a:lnTo>
                              <a:pt x="145" y="66"/>
                            </a:lnTo>
                            <a:lnTo>
                              <a:pt x="155" y="80"/>
                            </a:lnTo>
                            <a:lnTo>
                              <a:pt x="159" y="98"/>
                            </a:lnTo>
                            <a:lnTo>
                              <a:pt x="162" y="120"/>
                            </a:lnTo>
                            <a:lnTo>
                              <a:pt x="161" y="130"/>
                            </a:lnTo>
                            <a:lnTo>
                              <a:pt x="171" y="117"/>
                            </a:lnTo>
                            <a:lnTo>
                              <a:pt x="175" y="97"/>
                            </a:lnTo>
                            <a:lnTo>
                              <a:pt x="173" y="78"/>
                            </a:lnTo>
                            <a:lnTo>
                              <a:pt x="162" y="60"/>
                            </a:lnTo>
                            <a:lnTo>
                              <a:pt x="146" y="42"/>
                            </a:lnTo>
                            <a:lnTo>
                              <a:pt x="126" y="27"/>
                            </a:lnTo>
                            <a:lnTo>
                              <a:pt x="95" y="12"/>
                            </a:lnTo>
                            <a:lnTo>
                              <a:pt x="63" y="3"/>
                            </a:lnTo>
                            <a:lnTo>
                              <a:pt x="44" y="1"/>
                            </a:lnTo>
                            <a:lnTo>
                              <a:pt x="19" y="0"/>
                            </a:lnTo>
                            <a:lnTo>
                              <a:pt x="0" y="5"/>
                            </a:lnTo>
                            <a:close/>
                          </a:path>
                        </a:pathLst>
                      </a:custGeom>
                      <a:solidFill>
                        <a:srgbClr val="60608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6" name="Freeform 308"/>
                      <p:cNvSpPr/>
                      <p:nvPr/>
                    </p:nvSpPr>
                    <p:spPr bwMode="auto">
                      <a:xfrm>
                        <a:off x="2653" y="3019"/>
                        <a:ext cx="27" cy="33"/>
                      </a:xfrm>
                      <a:custGeom>
                        <a:avLst/>
                        <a:gdLst>
                          <a:gd name="T0" fmla="*/ 0 w 187"/>
                          <a:gd name="T1" fmla="*/ 0 h 264"/>
                          <a:gd name="T2" fmla="*/ 42 w 187"/>
                          <a:gd name="T3" fmla="*/ 41 h 264"/>
                          <a:gd name="T4" fmla="*/ 76 w 187"/>
                          <a:gd name="T5" fmla="*/ 92 h 264"/>
                          <a:gd name="T6" fmla="*/ 109 w 187"/>
                          <a:gd name="T7" fmla="*/ 155 h 264"/>
                          <a:gd name="T8" fmla="*/ 187 w 187"/>
                          <a:gd name="T9" fmla="*/ 259 h 264"/>
                          <a:gd name="T10" fmla="*/ 186 w 187"/>
                          <a:gd name="T11" fmla="*/ 264 h 264"/>
                          <a:gd name="T12" fmla="*/ 142 w 187"/>
                          <a:gd name="T13" fmla="*/ 224 h 264"/>
                          <a:gd name="T14" fmla="*/ 111 w 187"/>
                          <a:gd name="T15" fmla="*/ 191 h 264"/>
                          <a:gd name="T16" fmla="*/ 75 w 187"/>
                          <a:gd name="T17" fmla="*/ 151 h 264"/>
                          <a:gd name="T18" fmla="*/ 42 w 187"/>
                          <a:gd name="T19" fmla="*/ 97 h 264"/>
                          <a:gd name="T20" fmla="*/ 22 w 187"/>
                          <a:gd name="T21" fmla="*/ 51 h 264"/>
                          <a:gd name="T22" fmla="*/ 0 w 187"/>
                          <a:gd name="T23" fmla="*/ 0 h 26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</a:cxnLst>
                        <a:rect l="0" t="0" r="r" b="b"/>
                        <a:pathLst>
                          <a:path w="187" h="264">
                            <a:moveTo>
                              <a:pt x="0" y="0"/>
                            </a:moveTo>
                            <a:lnTo>
                              <a:pt x="42" y="41"/>
                            </a:lnTo>
                            <a:lnTo>
                              <a:pt x="76" y="92"/>
                            </a:lnTo>
                            <a:lnTo>
                              <a:pt x="109" y="155"/>
                            </a:lnTo>
                            <a:lnTo>
                              <a:pt x="187" y="259"/>
                            </a:lnTo>
                            <a:lnTo>
                              <a:pt x="186" y="264"/>
                            </a:lnTo>
                            <a:lnTo>
                              <a:pt x="142" y="224"/>
                            </a:lnTo>
                            <a:lnTo>
                              <a:pt x="111" y="191"/>
                            </a:lnTo>
                            <a:lnTo>
                              <a:pt x="75" y="151"/>
                            </a:lnTo>
                            <a:lnTo>
                              <a:pt x="42" y="97"/>
                            </a:lnTo>
                            <a:lnTo>
                              <a:pt x="22" y="5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60608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7" name="Freeform 309"/>
                      <p:cNvSpPr/>
                      <p:nvPr/>
                    </p:nvSpPr>
                    <p:spPr bwMode="auto">
                      <a:xfrm>
                        <a:off x="2624" y="3096"/>
                        <a:ext cx="27" cy="20"/>
                      </a:xfrm>
                      <a:custGeom>
                        <a:avLst/>
                        <a:gdLst>
                          <a:gd name="T0" fmla="*/ 194 w 194"/>
                          <a:gd name="T1" fmla="*/ 95 h 156"/>
                          <a:gd name="T2" fmla="*/ 163 w 194"/>
                          <a:gd name="T3" fmla="*/ 57 h 156"/>
                          <a:gd name="T4" fmla="*/ 141 w 194"/>
                          <a:gd name="T5" fmla="*/ 38 h 156"/>
                          <a:gd name="T6" fmla="*/ 107 w 194"/>
                          <a:gd name="T7" fmla="*/ 19 h 156"/>
                          <a:gd name="T8" fmla="*/ 78 w 194"/>
                          <a:gd name="T9" fmla="*/ 7 h 156"/>
                          <a:gd name="T10" fmla="*/ 44 w 194"/>
                          <a:gd name="T11" fmla="*/ 2 h 156"/>
                          <a:gd name="T12" fmla="*/ 21 w 194"/>
                          <a:gd name="T13" fmla="*/ 0 h 156"/>
                          <a:gd name="T14" fmla="*/ 8 w 194"/>
                          <a:gd name="T15" fmla="*/ 2 h 156"/>
                          <a:gd name="T16" fmla="*/ 0 w 194"/>
                          <a:gd name="T17" fmla="*/ 7 h 156"/>
                          <a:gd name="T18" fmla="*/ 2 w 194"/>
                          <a:gd name="T19" fmla="*/ 17 h 156"/>
                          <a:gd name="T20" fmla="*/ 13 w 194"/>
                          <a:gd name="T21" fmla="*/ 26 h 156"/>
                          <a:gd name="T22" fmla="*/ 44 w 194"/>
                          <a:gd name="T23" fmla="*/ 41 h 156"/>
                          <a:gd name="T24" fmla="*/ 74 w 194"/>
                          <a:gd name="T25" fmla="*/ 60 h 156"/>
                          <a:gd name="T26" fmla="*/ 110 w 194"/>
                          <a:gd name="T27" fmla="*/ 85 h 156"/>
                          <a:gd name="T28" fmla="*/ 135 w 194"/>
                          <a:gd name="T29" fmla="*/ 109 h 156"/>
                          <a:gd name="T30" fmla="*/ 154 w 194"/>
                          <a:gd name="T31" fmla="*/ 133 h 156"/>
                          <a:gd name="T32" fmla="*/ 171 w 194"/>
                          <a:gd name="T33" fmla="*/ 156 h 156"/>
                          <a:gd name="T34" fmla="*/ 180 w 194"/>
                          <a:gd name="T35" fmla="*/ 143 h 156"/>
                          <a:gd name="T36" fmla="*/ 189 w 194"/>
                          <a:gd name="T37" fmla="*/ 135 h 156"/>
                          <a:gd name="T38" fmla="*/ 193 w 194"/>
                          <a:gd name="T39" fmla="*/ 121 h 156"/>
                          <a:gd name="T40" fmla="*/ 194 w 194"/>
                          <a:gd name="T41" fmla="*/ 110 h 156"/>
                          <a:gd name="T42" fmla="*/ 194 w 194"/>
                          <a:gd name="T43" fmla="*/ 95 h 15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194" h="156">
                            <a:moveTo>
                              <a:pt x="194" y="95"/>
                            </a:moveTo>
                            <a:lnTo>
                              <a:pt x="163" y="57"/>
                            </a:lnTo>
                            <a:lnTo>
                              <a:pt x="141" y="38"/>
                            </a:lnTo>
                            <a:lnTo>
                              <a:pt x="107" y="19"/>
                            </a:lnTo>
                            <a:lnTo>
                              <a:pt x="78" y="7"/>
                            </a:lnTo>
                            <a:lnTo>
                              <a:pt x="44" y="2"/>
                            </a:lnTo>
                            <a:lnTo>
                              <a:pt x="21" y="0"/>
                            </a:lnTo>
                            <a:lnTo>
                              <a:pt x="8" y="2"/>
                            </a:lnTo>
                            <a:lnTo>
                              <a:pt x="0" y="7"/>
                            </a:lnTo>
                            <a:lnTo>
                              <a:pt x="2" y="17"/>
                            </a:lnTo>
                            <a:lnTo>
                              <a:pt x="13" y="26"/>
                            </a:lnTo>
                            <a:lnTo>
                              <a:pt x="44" y="41"/>
                            </a:lnTo>
                            <a:lnTo>
                              <a:pt x="74" y="60"/>
                            </a:lnTo>
                            <a:lnTo>
                              <a:pt x="110" y="85"/>
                            </a:lnTo>
                            <a:lnTo>
                              <a:pt x="135" y="109"/>
                            </a:lnTo>
                            <a:lnTo>
                              <a:pt x="154" y="133"/>
                            </a:lnTo>
                            <a:lnTo>
                              <a:pt x="171" y="156"/>
                            </a:lnTo>
                            <a:lnTo>
                              <a:pt x="180" y="143"/>
                            </a:lnTo>
                            <a:lnTo>
                              <a:pt x="189" y="135"/>
                            </a:lnTo>
                            <a:lnTo>
                              <a:pt x="193" y="121"/>
                            </a:lnTo>
                            <a:lnTo>
                              <a:pt x="194" y="110"/>
                            </a:lnTo>
                            <a:lnTo>
                              <a:pt x="194" y="95"/>
                            </a:lnTo>
                            <a:close/>
                          </a:path>
                        </a:pathLst>
                      </a:custGeom>
                      <a:solidFill>
                        <a:srgbClr val="C0C0E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8" name="Freeform 310"/>
                      <p:cNvSpPr/>
                      <p:nvPr/>
                    </p:nvSpPr>
                    <p:spPr bwMode="auto">
                      <a:xfrm>
                        <a:off x="2630" y="3088"/>
                        <a:ext cx="30" cy="15"/>
                      </a:xfrm>
                      <a:custGeom>
                        <a:avLst/>
                        <a:gdLst>
                          <a:gd name="T0" fmla="*/ 0 w 215"/>
                          <a:gd name="T1" fmla="*/ 38 h 120"/>
                          <a:gd name="T2" fmla="*/ 25 w 215"/>
                          <a:gd name="T3" fmla="*/ 33 h 120"/>
                          <a:gd name="T4" fmla="*/ 49 w 215"/>
                          <a:gd name="T5" fmla="*/ 38 h 120"/>
                          <a:gd name="T6" fmla="*/ 76 w 215"/>
                          <a:gd name="T7" fmla="*/ 45 h 120"/>
                          <a:gd name="T8" fmla="*/ 99 w 215"/>
                          <a:gd name="T9" fmla="*/ 56 h 120"/>
                          <a:gd name="T10" fmla="*/ 122 w 215"/>
                          <a:gd name="T11" fmla="*/ 66 h 120"/>
                          <a:gd name="T12" fmla="*/ 146 w 215"/>
                          <a:gd name="T13" fmla="*/ 85 h 120"/>
                          <a:gd name="T14" fmla="*/ 154 w 215"/>
                          <a:gd name="T15" fmla="*/ 98 h 120"/>
                          <a:gd name="T16" fmla="*/ 169 w 215"/>
                          <a:gd name="T17" fmla="*/ 109 h 120"/>
                          <a:gd name="T18" fmla="*/ 183 w 215"/>
                          <a:gd name="T19" fmla="*/ 117 h 120"/>
                          <a:gd name="T20" fmla="*/ 197 w 215"/>
                          <a:gd name="T21" fmla="*/ 120 h 120"/>
                          <a:gd name="T22" fmla="*/ 207 w 215"/>
                          <a:gd name="T23" fmla="*/ 103 h 120"/>
                          <a:gd name="T24" fmla="*/ 212 w 215"/>
                          <a:gd name="T25" fmla="*/ 88 h 120"/>
                          <a:gd name="T26" fmla="*/ 215 w 215"/>
                          <a:gd name="T27" fmla="*/ 71 h 120"/>
                          <a:gd name="T28" fmla="*/ 160 w 215"/>
                          <a:gd name="T29" fmla="*/ 32 h 120"/>
                          <a:gd name="T30" fmla="*/ 131 w 215"/>
                          <a:gd name="T31" fmla="*/ 16 h 120"/>
                          <a:gd name="T32" fmla="*/ 99 w 215"/>
                          <a:gd name="T33" fmla="*/ 4 h 120"/>
                          <a:gd name="T34" fmla="*/ 73 w 215"/>
                          <a:gd name="T35" fmla="*/ 0 h 120"/>
                          <a:gd name="T36" fmla="*/ 56 w 215"/>
                          <a:gd name="T37" fmla="*/ 2 h 120"/>
                          <a:gd name="T38" fmla="*/ 37 w 215"/>
                          <a:gd name="T39" fmla="*/ 9 h 120"/>
                          <a:gd name="T40" fmla="*/ 20 w 215"/>
                          <a:gd name="T41" fmla="*/ 22 h 120"/>
                          <a:gd name="T42" fmla="*/ 0 w 215"/>
                          <a:gd name="T43" fmla="*/ 38 h 12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215" h="120">
                            <a:moveTo>
                              <a:pt x="0" y="38"/>
                            </a:moveTo>
                            <a:lnTo>
                              <a:pt x="25" y="33"/>
                            </a:lnTo>
                            <a:lnTo>
                              <a:pt x="49" y="38"/>
                            </a:lnTo>
                            <a:lnTo>
                              <a:pt x="76" y="45"/>
                            </a:lnTo>
                            <a:lnTo>
                              <a:pt x="99" y="56"/>
                            </a:lnTo>
                            <a:lnTo>
                              <a:pt x="122" y="66"/>
                            </a:lnTo>
                            <a:lnTo>
                              <a:pt x="146" y="85"/>
                            </a:lnTo>
                            <a:lnTo>
                              <a:pt x="154" y="98"/>
                            </a:lnTo>
                            <a:lnTo>
                              <a:pt x="169" y="109"/>
                            </a:lnTo>
                            <a:lnTo>
                              <a:pt x="183" y="117"/>
                            </a:lnTo>
                            <a:lnTo>
                              <a:pt x="197" y="120"/>
                            </a:lnTo>
                            <a:lnTo>
                              <a:pt x="207" y="103"/>
                            </a:lnTo>
                            <a:lnTo>
                              <a:pt x="212" y="88"/>
                            </a:lnTo>
                            <a:lnTo>
                              <a:pt x="215" y="71"/>
                            </a:lnTo>
                            <a:lnTo>
                              <a:pt x="160" y="32"/>
                            </a:lnTo>
                            <a:lnTo>
                              <a:pt x="131" y="16"/>
                            </a:lnTo>
                            <a:lnTo>
                              <a:pt x="99" y="4"/>
                            </a:lnTo>
                            <a:lnTo>
                              <a:pt x="73" y="0"/>
                            </a:lnTo>
                            <a:lnTo>
                              <a:pt x="56" y="2"/>
                            </a:lnTo>
                            <a:lnTo>
                              <a:pt x="37" y="9"/>
                            </a:lnTo>
                            <a:lnTo>
                              <a:pt x="20" y="22"/>
                            </a:lnTo>
                            <a:lnTo>
                              <a:pt x="0" y="38"/>
                            </a:lnTo>
                            <a:close/>
                          </a:path>
                        </a:pathLst>
                      </a:custGeom>
                      <a:solidFill>
                        <a:srgbClr val="C0C0E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359" name="Freeform 311"/>
                      <p:cNvSpPr/>
                      <p:nvPr/>
                    </p:nvSpPr>
                    <p:spPr bwMode="auto">
                      <a:xfrm>
                        <a:off x="2628" y="3067"/>
                        <a:ext cx="37" cy="29"/>
                      </a:xfrm>
                      <a:custGeom>
                        <a:avLst/>
                        <a:gdLst>
                          <a:gd name="T0" fmla="*/ 0 w 263"/>
                          <a:gd name="T1" fmla="*/ 129 h 234"/>
                          <a:gd name="T2" fmla="*/ 27 w 263"/>
                          <a:gd name="T3" fmla="*/ 126 h 234"/>
                          <a:gd name="T4" fmla="*/ 50 w 263"/>
                          <a:gd name="T5" fmla="*/ 128 h 234"/>
                          <a:gd name="T6" fmla="*/ 85 w 263"/>
                          <a:gd name="T7" fmla="*/ 132 h 234"/>
                          <a:gd name="T8" fmla="*/ 118 w 263"/>
                          <a:gd name="T9" fmla="*/ 142 h 234"/>
                          <a:gd name="T10" fmla="*/ 152 w 263"/>
                          <a:gd name="T11" fmla="*/ 155 h 234"/>
                          <a:gd name="T12" fmla="*/ 185 w 263"/>
                          <a:gd name="T13" fmla="*/ 173 h 234"/>
                          <a:gd name="T14" fmla="*/ 211 w 263"/>
                          <a:gd name="T15" fmla="*/ 189 h 234"/>
                          <a:gd name="T16" fmla="*/ 232 w 263"/>
                          <a:gd name="T17" fmla="*/ 210 h 234"/>
                          <a:gd name="T18" fmla="*/ 245 w 263"/>
                          <a:gd name="T19" fmla="*/ 234 h 234"/>
                          <a:gd name="T20" fmla="*/ 256 w 263"/>
                          <a:gd name="T21" fmla="*/ 203 h 234"/>
                          <a:gd name="T22" fmla="*/ 263 w 263"/>
                          <a:gd name="T23" fmla="*/ 175 h 234"/>
                          <a:gd name="T24" fmla="*/ 262 w 263"/>
                          <a:gd name="T25" fmla="*/ 154 h 234"/>
                          <a:gd name="T26" fmla="*/ 257 w 263"/>
                          <a:gd name="T27" fmla="*/ 135 h 234"/>
                          <a:gd name="T28" fmla="*/ 245 w 263"/>
                          <a:gd name="T29" fmla="*/ 116 h 234"/>
                          <a:gd name="T30" fmla="*/ 251 w 263"/>
                          <a:gd name="T31" fmla="*/ 96 h 234"/>
                          <a:gd name="T32" fmla="*/ 248 w 263"/>
                          <a:gd name="T33" fmla="*/ 74 h 234"/>
                          <a:gd name="T34" fmla="*/ 223 w 263"/>
                          <a:gd name="T35" fmla="*/ 61 h 234"/>
                          <a:gd name="T36" fmla="*/ 192 w 263"/>
                          <a:gd name="T37" fmla="*/ 53 h 234"/>
                          <a:gd name="T38" fmla="*/ 159 w 263"/>
                          <a:gd name="T39" fmla="*/ 43 h 234"/>
                          <a:gd name="T40" fmla="*/ 129 w 263"/>
                          <a:gd name="T41" fmla="*/ 30 h 234"/>
                          <a:gd name="T42" fmla="*/ 94 w 263"/>
                          <a:gd name="T43" fmla="*/ 13 h 234"/>
                          <a:gd name="T44" fmla="*/ 72 w 263"/>
                          <a:gd name="T45" fmla="*/ 4 h 234"/>
                          <a:gd name="T46" fmla="*/ 58 w 263"/>
                          <a:gd name="T47" fmla="*/ 0 h 234"/>
                          <a:gd name="T48" fmla="*/ 47 w 263"/>
                          <a:gd name="T49" fmla="*/ 4 h 234"/>
                          <a:gd name="T50" fmla="*/ 39 w 263"/>
                          <a:gd name="T51" fmla="*/ 12 h 234"/>
                          <a:gd name="T52" fmla="*/ 36 w 263"/>
                          <a:gd name="T53" fmla="*/ 23 h 234"/>
                          <a:gd name="T54" fmla="*/ 36 w 263"/>
                          <a:gd name="T55" fmla="*/ 35 h 234"/>
                          <a:gd name="T56" fmla="*/ 42 w 263"/>
                          <a:gd name="T57" fmla="*/ 47 h 234"/>
                          <a:gd name="T58" fmla="*/ 65 w 263"/>
                          <a:gd name="T59" fmla="*/ 55 h 234"/>
                          <a:gd name="T60" fmla="*/ 95 w 263"/>
                          <a:gd name="T61" fmla="*/ 61 h 234"/>
                          <a:gd name="T62" fmla="*/ 144 w 263"/>
                          <a:gd name="T63" fmla="*/ 73 h 234"/>
                          <a:gd name="T64" fmla="*/ 175 w 263"/>
                          <a:gd name="T65" fmla="*/ 79 h 234"/>
                          <a:gd name="T66" fmla="*/ 215 w 263"/>
                          <a:gd name="T67" fmla="*/ 85 h 234"/>
                          <a:gd name="T68" fmla="*/ 179 w 263"/>
                          <a:gd name="T69" fmla="*/ 87 h 234"/>
                          <a:gd name="T70" fmla="*/ 141 w 263"/>
                          <a:gd name="T71" fmla="*/ 90 h 234"/>
                          <a:gd name="T72" fmla="*/ 104 w 263"/>
                          <a:gd name="T73" fmla="*/ 96 h 234"/>
                          <a:gd name="T74" fmla="*/ 74 w 263"/>
                          <a:gd name="T75" fmla="*/ 103 h 234"/>
                          <a:gd name="T76" fmla="*/ 37 w 263"/>
                          <a:gd name="T77" fmla="*/ 113 h 234"/>
                          <a:gd name="T78" fmla="*/ 0 w 263"/>
                          <a:gd name="T79" fmla="*/ 129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</a:cxnLst>
                        <a:rect l="0" t="0" r="r" b="b"/>
                        <a:pathLst>
                          <a:path w="263" h="234">
                            <a:moveTo>
                              <a:pt x="0" y="129"/>
                            </a:moveTo>
                            <a:lnTo>
                              <a:pt x="27" y="126"/>
                            </a:lnTo>
                            <a:lnTo>
                              <a:pt x="50" y="128"/>
                            </a:lnTo>
                            <a:lnTo>
                              <a:pt x="85" y="132"/>
                            </a:lnTo>
                            <a:lnTo>
                              <a:pt x="118" y="142"/>
                            </a:lnTo>
                            <a:lnTo>
                              <a:pt x="152" y="155"/>
                            </a:lnTo>
                            <a:lnTo>
                              <a:pt x="185" y="173"/>
                            </a:lnTo>
                            <a:lnTo>
                              <a:pt x="211" y="189"/>
                            </a:lnTo>
                            <a:lnTo>
                              <a:pt x="232" y="210"/>
                            </a:lnTo>
                            <a:lnTo>
                              <a:pt x="245" y="234"/>
                            </a:lnTo>
                            <a:lnTo>
                              <a:pt x="256" y="203"/>
                            </a:lnTo>
                            <a:lnTo>
                              <a:pt x="263" y="175"/>
                            </a:lnTo>
                            <a:lnTo>
                              <a:pt x="262" y="154"/>
                            </a:lnTo>
                            <a:lnTo>
                              <a:pt x="257" y="135"/>
                            </a:lnTo>
                            <a:lnTo>
                              <a:pt x="245" y="116"/>
                            </a:lnTo>
                            <a:lnTo>
                              <a:pt x="251" y="96"/>
                            </a:lnTo>
                            <a:lnTo>
                              <a:pt x="248" y="74"/>
                            </a:lnTo>
                            <a:lnTo>
                              <a:pt x="223" y="61"/>
                            </a:lnTo>
                            <a:lnTo>
                              <a:pt x="192" y="53"/>
                            </a:lnTo>
                            <a:lnTo>
                              <a:pt x="159" y="43"/>
                            </a:lnTo>
                            <a:lnTo>
                              <a:pt x="129" y="30"/>
                            </a:lnTo>
                            <a:lnTo>
                              <a:pt x="94" y="13"/>
                            </a:lnTo>
                            <a:lnTo>
                              <a:pt x="72" y="4"/>
                            </a:lnTo>
                            <a:lnTo>
                              <a:pt x="58" y="0"/>
                            </a:lnTo>
                            <a:lnTo>
                              <a:pt x="47" y="4"/>
                            </a:lnTo>
                            <a:lnTo>
                              <a:pt x="39" y="12"/>
                            </a:lnTo>
                            <a:lnTo>
                              <a:pt x="36" y="23"/>
                            </a:lnTo>
                            <a:lnTo>
                              <a:pt x="36" y="35"/>
                            </a:lnTo>
                            <a:lnTo>
                              <a:pt x="42" y="47"/>
                            </a:lnTo>
                            <a:lnTo>
                              <a:pt x="65" y="55"/>
                            </a:lnTo>
                            <a:lnTo>
                              <a:pt x="95" y="61"/>
                            </a:lnTo>
                            <a:lnTo>
                              <a:pt x="144" y="73"/>
                            </a:lnTo>
                            <a:lnTo>
                              <a:pt x="175" y="79"/>
                            </a:lnTo>
                            <a:lnTo>
                              <a:pt x="215" y="85"/>
                            </a:lnTo>
                            <a:lnTo>
                              <a:pt x="179" y="87"/>
                            </a:lnTo>
                            <a:lnTo>
                              <a:pt x="141" y="90"/>
                            </a:lnTo>
                            <a:lnTo>
                              <a:pt x="104" y="96"/>
                            </a:lnTo>
                            <a:lnTo>
                              <a:pt x="74" y="103"/>
                            </a:lnTo>
                            <a:lnTo>
                              <a:pt x="37" y="113"/>
                            </a:lnTo>
                            <a:lnTo>
                              <a:pt x="0" y="129"/>
                            </a:lnTo>
                            <a:close/>
                          </a:path>
                        </a:pathLst>
                      </a:custGeom>
                      <a:solidFill>
                        <a:srgbClr val="C0C0E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642360" name="Freeform 312"/>
                <p:cNvSpPr/>
                <p:nvPr/>
              </p:nvSpPr>
              <p:spPr bwMode="auto">
                <a:xfrm>
                  <a:off x="2674" y="3008"/>
                  <a:ext cx="46" cy="44"/>
                </a:xfrm>
                <a:custGeom>
                  <a:avLst/>
                  <a:gdLst>
                    <a:gd name="T0" fmla="*/ 0 w 320"/>
                    <a:gd name="T1" fmla="*/ 120 h 352"/>
                    <a:gd name="T2" fmla="*/ 5 w 320"/>
                    <a:gd name="T3" fmla="*/ 80 h 352"/>
                    <a:gd name="T4" fmla="*/ 13 w 320"/>
                    <a:gd name="T5" fmla="*/ 54 h 352"/>
                    <a:gd name="T6" fmla="*/ 61 w 320"/>
                    <a:gd name="T7" fmla="*/ 0 h 352"/>
                    <a:gd name="T8" fmla="*/ 200 w 320"/>
                    <a:gd name="T9" fmla="*/ 116 h 352"/>
                    <a:gd name="T10" fmla="*/ 230 w 320"/>
                    <a:gd name="T11" fmla="*/ 159 h 352"/>
                    <a:gd name="T12" fmla="*/ 254 w 320"/>
                    <a:gd name="T13" fmla="*/ 200 h 352"/>
                    <a:gd name="T14" fmla="*/ 314 w 320"/>
                    <a:gd name="T15" fmla="*/ 249 h 352"/>
                    <a:gd name="T16" fmla="*/ 320 w 320"/>
                    <a:gd name="T17" fmla="*/ 352 h 352"/>
                    <a:gd name="T18" fmla="*/ 290 w 320"/>
                    <a:gd name="T19" fmla="*/ 343 h 352"/>
                    <a:gd name="T20" fmla="*/ 265 w 320"/>
                    <a:gd name="T21" fmla="*/ 330 h 352"/>
                    <a:gd name="T22" fmla="*/ 242 w 320"/>
                    <a:gd name="T23" fmla="*/ 314 h 352"/>
                    <a:gd name="T24" fmla="*/ 222 w 320"/>
                    <a:gd name="T25" fmla="*/ 292 h 352"/>
                    <a:gd name="T26" fmla="*/ 206 w 320"/>
                    <a:gd name="T27" fmla="*/ 267 h 352"/>
                    <a:gd name="T28" fmla="*/ 189 w 320"/>
                    <a:gd name="T29" fmla="*/ 234 h 352"/>
                    <a:gd name="T30" fmla="*/ 175 w 320"/>
                    <a:gd name="T31" fmla="*/ 201 h 352"/>
                    <a:gd name="T32" fmla="*/ 162 w 320"/>
                    <a:gd name="T33" fmla="*/ 157 h 352"/>
                    <a:gd name="T34" fmla="*/ 151 w 320"/>
                    <a:gd name="T35" fmla="*/ 116 h 352"/>
                    <a:gd name="T36" fmla="*/ 71 w 320"/>
                    <a:gd name="T37" fmla="*/ 108 h 352"/>
                    <a:gd name="T38" fmla="*/ 14 w 320"/>
                    <a:gd name="T39" fmla="*/ 111 h 352"/>
                    <a:gd name="T40" fmla="*/ 0 w 320"/>
                    <a:gd name="T41" fmla="*/ 120 h 3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320" h="352">
                      <a:moveTo>
                        <a:pt x="0" y="120"/>
                      </a:moveTo>
                      <a:lnTo>
                        <a:pt x="5" y="80"/>
                      </a:lnTo>
                      <a:lnTo>
                        <a:pt x="13" y="54"/>
                      </a:lnTo>
                      <a:lnTo>
                        <a:pt x="61" y="0"/>
                      </a:lnTo>
                      <a:lnTo>
                        <a:pt x="200" y="116"/>
                      </a:lnTo>
                      <a:lnTo>
                        <a:pt x="230" y="159"/>
                      </a:lnTo>
                      <a:lnTo>
                        <a:pt x="254" y="200"/>
                      </a:lnTo>
                      <a:lnTo>
                        <a:pt x="314" y="249"/>
                      </a:lnTo>
                      <a:lnTo>
                        <a:pt x="320" y="352"/>
                      </a:lnTo>
                      <a:lnTo>
                        <a:pt x="290" y="343"/>
                      </a:lnTo>
                      <a:lnTo>
                        <a:pt x="265" y="330"/>
                      </a:lnTo>
                      <a:lnTo>
                        <a:pt x="242" y="314"/>
                      </a:lnTo>
                      <a:lnTo>
                        <a:pt x="222" y="292"/>
                      </a:lnTo>
                      <a:lnTo>
                        <a:pt x="206" y="267"/>
                      </a:lnTo>
                      <a:lnTo>
                        <a:pt x="189" y="234"/>
                      </a:lnTo>
                      <a:lnTo>
                        <a:pt x="175" y="201"/>
                      </a:lnTo>
                      <a:lnTo>
                        <a:pt x="162" y="157"/>
                      </a:lnTo>
                      <a:lnTo>
                        <a:pt x="151" y="116"/>
                      </a:lnTo>
                      <a:lnTo>
                        <a:pt x="71" y="108"/>
                      </a:lnTo>
                      <a:lnTo>
                        <a:pt x="14" y="111"/>
                      </a:lnTo>
                      <a:lnTo>
                        <a:pt x="0" y="120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2361" name="Group 313"/>
              <p:cNvGrpSpPr/>
              <p:nvPr/>
            </p:nvGrpSpPr>
            <p:grpSpPr bwMode="auto">
              <a:xfrm>
                <a:off x="2686" y="2984"/>
                <a:ext cx="60" cy="54"/>
                <a:chOff x="2686" y="2984"/>
                <a:chExt cx="60" cy="54"/>
              </a:xfrm>
            </p:grpSpPr>
            <p:sp>
              <p:nvSpPr>
                <p:cNvPr id="642362" name="Freeform 314"/>
                <p:cNvSpPr/>
                <p:nvPr/>
              </p:nvSpPr>
              <p:spPr bwMode="auto">
                <a:xfrm>
                  <a:off x="2686" y="2984"/>
                  <a:ext cx="60" cy="53"/>
                </a:xfrm>
                <a:custGeom>
                  <a:avLst/>
                  <a:gdLst>
                    <a:gd name="T0" fmla="*/ 221 w 423"/>
                    <a:gd name="T1" fmla="*/ 425 h 425"/>
                    <a:gd name="T2" fmla="*/ 180 w 423"/>
                    <a:gd name="T3" fmla="*/ 402 h 425"/>
                    <a:gd name="T4" fmla="*/ 150 w 423"/>
                    <a:gd name="T5" fmla="*/ 359 h 425"/>
                    <a:gd name="T6" fmla="*/ 138 w 423"/>
                    <a:gd name="T7" fmla="*/ 329 h 425"/>
                    <a:gd name="T8" fmla="*/ 120 w 423"/>
                    <a:gd name="T9" fmla="*/ 328 h 425"/>
                    <a:gd name="T10" fmla="*/ 97 w 423"/>
                    <a:gd name="T11" fmla="*/ 323 h 425"/>
                    <a:gd name="T12" fmla="*/ 57 w 423"/>
                    <a:gd name="T13" fmla="*/ 308 h 425"/>
                    <a:gd name="T14" fmla="*/ 29 w 423"/>
                    <a:gd name="T15" fmla="*/ 289 h 425"/>
                    <a:gd name="T16" fmla="*/ 0 w 423"/>
                    <a:gd name="T17" fmla="*/ 268 h 425"/>
                    <a:gd name="T18" fmla="*/ 12 w 423"/>
                    <a:gd name="T19" fmla="*/ 260 h 425"/>
                    <a:gd name="T20" fmla="*/ 42 w 423"/>
                    <a:gd name="T21" fmla="*/ 225 h 425"/>
                    <a:gd name="T22" fmla="*/ 68 w 423"/>
                    <a:gd name="T23" fmla="*/ 193 h 425"/>
                    <a:gd name="T24" fmla="*/ 96 w 423"/>
                    <a:gd name="T25" fmla="*/ 154 h 425"/>
                    <a:gd name="T26" fmla="*/ 126 w 423"/>
                    <a:gd name="T27" fmla="*/ 109 h 425"/>
                    <a:gd name="T28" fmla="*/ 141 w 423"/>
                    <a:gd name="T29" fmla="*/ 72 h 425"/>
                    <a:gd name="T30" fmla="*/ 157 w 423"/>
                    <a:gd name="T31" fmla="*/ 0 h 425"/>
                    <a:gd name="T32" fmla="*/ 423 w 423"/>
                    <a:gd name="T33" fmla="*/ 43 h 425"/>
                    <a:gd name="T34" fmla="*/ 221 w 423"/>
                    <a:gd name="T35" fmla="*/ 425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23" h="425">
                      <a:moveTo>
                        <a:pt x="221" y="425"/>
                      </a:moveTo>
                      <a:lnTo>
                        <a:pt x="180" y="402"/>
                      </a:lnTo>
                      <a:lnTo>
                        <a:pt x="150" y="359"/>
                      </a:lnTo>
                      <a:lnTo>
                        <a:pt x="138" y="329"/>
                      </a:lnTo>
                      <a:lnTo>
                        <a:pt x="120" y="328"/>
                      </a:lnTo>
                      <a:lnTo>
                        <a:pt x="97" y="323"/>
                      </a:lnTo>
                      <a:lnTo>
                        <a:pt x="57" y="308"/>
                      </a:lnTo>
                      <a:lnTo>
                        <a:pt x="29" y="289"/>
                      </a:lnTo>
                      <a:lnTo>
                        <a:pt x="0" y="268"/>
                      </a:lnTo>
                      <a:lnTo>
                        <a:pt x="12" y="260"/>
                      </a:lnTo>
                      <a:lnTo>
                        <a:pt x="42" y="225"/>
                      </a:lnTo>
                      <a:lnTo>
                        <a:pt x="68" y="193"/>
                      </a:lnTo>
                      <a:lnTo>
                        <a:pt x="96" y="154"/>
                      </a:lnTo>
                      <a:lnTo>
                        <a:pt x="126" y="109"/>
                      </a:lnTo>
                      <a:lnTo>
                        <a:pt x="141" y="72"/>
                      </a:lnTo>
                      <a:lnTo>
                        <a:pt x="157" y="0"/>
                      </a:lnTo>
                      <a:lnTo>
                        <a:pt x="423" y="43"/>
                      </a:lnTo>
                      <a:lnTo>
                        <a:pt x="221" y="42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63" name="Freeform 315"/>
                <p:cNvSpPr/>
                <p:nvPr/>
              </p:nvSpPr>
              <p:spPr bwMode="auto">
                <a:xfrm>
                  <a:off x="2700" y="3002"/>
                  <a:ext cx="22" cy="36"/>
                </a:xfrm>
                <a:custGeom>
                  <a:avLst/>
                  <a:gdLst>
                    <a:gd name="T0" fmla="*/ 119 w 160"/>
                    <a:gd name="T1" fmla="*/ 281 h 289"/>
                    <a:gd name="T2" fmla="*/ 137 w 160"/>
                    <a:gd name="T3" fmla="*/ 289 h 289"/>
                    <a:gd name="T4" fmla="*/ 122 w 160"/>
                    <a:gd name="T5" fmla="*/ 262 h 289"/>
                    <a:gd name="T6" fmla="*/ 117 w 160"/>
                    <a:gd name="T7" fmla="*/ 241 h 289"/>
                    <a:gd name="T8" fmla="*/ 114 w 160"/>
                    <a:gd name="T9" fmla="*/ 211 h 289"/>
                    <a:gd name="T10" fmla="*/ 117 w 160"/>
                    <a:gd name="T11" fmla="*/ 179 h 289"/>
                    <a:gd name="T12" fmla="*/ 121 w 160"/>
                    <a:gd name="T13" fmla="*/ 144 h 289"/>
                    <a:gd name="T14" fmla="*/ 128 w 160"/>
                    <a:gd name="T15" fmla="*/ 112 h 289"/>
                    <a:gd name="T16" fmla="*/ 137 w 160"/>
                    <a:gd name="T17" fmla="*/ 85 h 289"/>
                    <a:gd name="T18" fmla="*/ 147 w 160"/>
                    <a:gd name="T19" fmla="*/ 63 h 289"/>
                    <a:gd name="T20" fmla="*/ 153 w 160"/>
                    <a:gd name="T21" fmla="*/ 32 h 289"/>
                    <a:gd name="T22" fmla="*/ 160 w 160"/>
                    <a:gd name="T23" fmla="*/ 0 h 289"/>
                    <a:gd name="T24" fmla="*/ 135 w 160"/>
                    <a:gd name="T25" fmla="*/ 32 h 289"/>
                    <a:gd name="T26" fmla="*/ 117 w 160"/>
                    <a:gd name="T27" fmla="*/ 57 h 289"/>
                    <a:gd name="T28" fmla="*/ 101 w 160"/>
                    <a:gd name="T29" fmla="*/ 81 h 289"/>
                    <a:gd name="T30" fmla="*/ 86 w 160"/>
                    <a:gd name="T31" fmla="*/ 106 h 289"/>
                    <a:gd name="T32" fmla="*/ 66 w 160"/>
                    <a:gd name="T33" fmla="*/ 119 h 289"/>
                    <a:gd name="T34" fmla="*/ 44 w 160"/>
                    <a:gd name="T35" fmla="*/ 137 h 289"/>
                    <a:gd name="T36" fmla="*/ 21 w 160"/>
                    <a:gd name="T37" fmla="*/ 157 h 289"/>
                    <a:gd name="T38" fmla="*/ 0 w 160"/>
                    <a:gd name="T39" fmla="*/ 179 h 289"/>
                    <a:gd name="T40" fmla="*/ 29 w 160"/>
                    <a:gd name="T41" fmla="*/ 186 h 289"/>
                    <a:gd name="T42" fmla="*/ 38 w 160"/>
                    <a:gd name="T43" fmla="*/ 201 h 289"/>
                    <a:gd name="T44" fmla="*/ 47 w 160"/>
                    <a:gd name="T45" fmla="*/ 216 h 289"/>
                    <a:gd name="T46" fmla="*/ 59 w 160"/>
                    <a:gd name="T47" fmla="*/ 233 h 289"/>
                    <a:gd name="T48" fmla="*/ 73 w 160"/>
                    <a:gd name="T49" fmla="*/ 247 h 289"/>
                    <a:gd name="T50" fmla="*/ 86 w 160"/>
                    <a:gd name="T51" fmla="*/ 260 h 289"/>
                    <a:gd name="T52" fmla="*/ 103 w 160"/>
                    <a:gd name="T53" fmla="*/ 270 h 289"/>
                    <a:gd name="T54" fmla="*/ 119 w 160"/>
                    <a:gd name="T55" fmla="*/ 281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60" h="289">
                      <a:moveTo>
                        <a:pt x="119" y="281"/>
                      </a:moveTo>
                      <a:lnTo>
                        <a:pt x="137" y="289"/>
                      </a:lnTo>
                      <a:lnTo>
                        <a:pt x="122" y="262"/>
                      </a:lnTo>
                      <a:lnTo>
                        <a:pt x="117" y="241"/>
                      </a:lnTo>
                      <a:lnTo>
                        <a:pt x="114" y="211"/>
                      </a:lnTo>
                      <a:lnTo>
                        <a:pt x="117" y="179"/>
                      </a:lnTo>
                      <a:lnTo>
                        <a:pt x="121" y="144"/>
                      </a:lnTo>
                      <a:lnTo>
                        <a:pt x="128" y="112"/>
                      </a:lnTo>
                      <a:lnTo>
                        <a:pt x="137" y="85"/>
                      </a:lnTo>
                      <a:lnTo>
                        <a:pt x="147" y="63"/>
                      </a:lnTo>
                      <a:lnTo>
                        <a:pt x="153" y="32"/>
                      </a:lnTo>
                      <a:lnTo>
                        <a:pt x="160" y="0"/>
                      </a:lnTo>
                      <a:lnTo>
                        <a:pt x="135" y="32"/>
                      </a:lnTo>
                      <a:lnTo>
                        <a:pt x="117" y="57"/>
                      </a:lnTo>
                      <a:lnTo>
                        <a:pt x="101" y="81"/>
                      </a:lnTo>
                      <a:lnTo>
                        <a:pt x="86" y="106"/>
                      </a:lnTo>
                      <a:lnTo>
                        <a:pt x="66" y="119"/>
                      </a:lnTo>
                      <a:lnTo>
                        <a:pt x="44" y="137"/>
                      </a:lnTo>
                      <a:lnTo>
                        <a:pt x="21" y="157"/>
                      </a:lnTo>
                      <a:lnTo>
                        <a:pt x="0" y="179"/>
                      </a:lnTo>
                      <a:lnTo>
                        <a:pt x="29" y="186"/>
                      </a:lnTo>
                      <a:lnTo>
                        <a:pt x="38" y="201"/>
                      </a:lnTo>
                      <a:lnTo>
                        <a:pt x="47" y="216"/>
                      </a:lnTo>
                      <a:lnTo>
                        <a:pt x="59" y="233"/>
                      </a:lnTo>
                      <a:lnTo>
                        <a:pt x="73" y="247"/>
                      </a:lnTo>
                      <a:lnTo>
                        <a:pt x="86" y="260"/>
                      </a:lnTo>
                      <a:lnTo>
                        <a:pt x="103" y="270"/>
                      </a:lnTo>
                      <a:lnTo>
                        <a:pt x="119" y="281"/>
                      </a:lnTo>
                      <a:close/>
                    </a:path>
                  </a:pathLst>
                </a:custGeom>
                <a:solidFill>
                  <a:srgbClr val="D0D0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64" name="Freeform 316"/>
                <p:cNvSpPr/>
                <p:nvPr/>
              </p:nvSpPr>
              <p:spPr bwMode="auto">
                <a:xfrm>
                  <a:off x="2698" y="2997"/>
                  <a:ext cx="17" cy="27"/>
                </a:xfrm>
                <a:custGeom>
                  <a:avLst/>
                  <a:gdLst>
                    <a:gd name="T0" fmla="*/ 115 w 115"/>
                    <a:gd name="T1" fmla="*/ 119 h 218"/>
                    <a:gd name="T2" fmla="*/ 99 w 115"/>
                    <a:gd name="T3" fmla="*/ 117 h 218"/>
                    <a:gd name="T4" fmla="*/ 84 w 115"/>
                    <a:gd name="T5" fmla="*/ 113 h 218"/>
                    <a:gd name="T6" fmla="*/ 80 w 115"/>
                    <a:gd name="T7" fmla="*/ 97 h 218"/>
                    <a:gd name="T8" fmla="*/ 82 w 115"/>
                    <a:gd name="T9" fmla="*/ 76 h 218"/>
                    <a:gd name="T10" fmla="*/ 86 w 115"/>
                    <a:gd name="T11" fmla="*/ 53 h 218"/>
                    <a:gd name="T12" fmla="*/ 90 w 115"/>
                    <a:gd name="T13" fmla="*/ 32 h 218"/>
                    <a:gd name="T14" fmla="*/ 93 w 115"/>
                    <a:gd name="T15" fmla="*/ 15 h 218"/>
                    <a:gd name="T16" fmla="*/ 97 w 115"/>
                    <a:gd name="T17" fmla="*/ 0 h 218"/>
                    <a:gd name="T18" fmla="*/ 84 w 115"/>
                    <a:gd name="T19" fmla="*/ 4 h 218"/>
                    <a:gd name="T20" fmla="*/ 72 w 115"/>
                    <a:gd name="T21" fmla="*/ 12 h 218"/>
                    <a:gd name="T22" fmla="*/ 60 w 115"/>
                    <a:gd name="T23" fmla="*/ 25 h 218"/>
                    <a:gd name="T24" fmla="*/ 52 w 115"/>
                    <a:gd name="T25" fmla="*/ 37 h 218"/>
                    <a:gd name="T26" fmla="*/ 47 w 115"/>
                    <a:gd name="T27" fmla="*/ 53 h 218"/>
                    <a:gd name="T28" fmla="*/ 46 w 115"/>
                    <a:gd name="T29" fmla="*/ 73 h 218"/>
                    <a:gd name="T30" fmla="*/ 33 w 115"/>
                    <a:gd name="T31" fmla="*/ 86 h 218"/>
                    <a:gd name="T32" fmla="*/ 22 w 115"/>
                    <a:gd name="T33" fmla="*/ 104 h 218"/>
                    <a:gd name="T34" fmla="*/ 11 w 115"/>
                    <a:gd name="T35" fmla="*/ 128 h 218"/>
                    <a:gd name="T36" fmla="*/ 5 w 115"/>
                    <a:gd name="T37" fmla="*/ 158 h 218"/>
                    <a:gd name="T38" fmla="*/ 2 w 115"/>
                    <a:gd name="T39" fmla="*/ 190 h 218"/>
                    <a:gd name="T40" fmla="*/ 0 w 115"/>
                    <a:gd name="T41" fmla="*/ 216 h 218"/>
                    <a:gd name="T42" fmla="*/ 11 w 115"/>
                    <a:gd name="T43" fmla="*/ 218 h 218"/>
                    <a:gd name="T44" fmla="*/ 97 w 115"/>
                    <a:gd name="T45" fmla="*/ 146 h 218"/>
                    <a:gd name="T46" fmla="*/ 115 w 115"/>
                    <a:gd name="T47" fmla="*/ 119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15" h="218">
                      <a:moveTo>
                        <a:pt x="115" y="119"/>
                      </a:moveTo>
                      <a:lnTo>
                        <a:pt x="99" y="117"/>
                      </a:lnTo>
                      <a:lnTo>
                        <a:pt x="84" y="113"/>
                      </a:lnTo>
                      <a:lnTo>
                        <a:pt x="80" y="97"/>
                      </a:lnTo>
                      <a:lnTo>
                        <a:pt x="82" y="76"/>
                      </a:lnTo>
                      <a:lnTo>
                        <a:pt x="86" y="53"/>
                      </a:lnTo>
                      <a:lnTo>
                        <a:pt x="90" y="32"/>
                      </a:lnTo>
                      <a:lnTo>
                        <a:pt x="93" y="15"/>
                      </a:lnTo>
                      <a:lnTo>
                        <a:pt x="97" y="0"/>
                      </a:lnTo>
                      <a:lnTo>
                        <a:pt x="84" y="4"/>
                      </a:lnTo>
                      <a:lnTo>
                        <a:pt x="72" y="12"/>
                      </a:lnTo>
                      <a:lnTo>
                        <a:pt x="60" y="25"/>
                      </a:lnTo>
                      <a:lnTo>
                        <a:pt x="52" y="37"/>
                      </a:lnTo>
                      <a:lnTo>
                        <a:pt x="47" y="53"/>
                      </a:lnTo>
                      <a:lnTo>
                        <a:pt x="46" y="73"/>
                      </a:lnTo>
                      <a:lnTo>
                        <a:pt x="33" y="86"/>
                      </a:lnTo>
                      <a:lnTo>
                        <a:pt x="22" y="104"/>
                      </a:lnTo>
                      <a:lnTo>
                        <a:pt x="11" y="128"/>
                      </a:lnTo>
                      <a:lnTo>
                        <a:pt x="5" y="158"/>
                      </a:lnTo>
                      <a:lnTo>
                        <a:pt x="2" y="190"/>
                      </a:lnTo>
                      <a:lnTo>
                        <a:pt x="0" y="216"/>
                      </a:lnTo>
                      <a:lnTo>
                        <a:pt x="11" y="218"/>
                      </a:lnTo>
                      <a:lnTo>
                        <a:pt x="97" y="146"/>
                      </a:lnTo>
                      <a:lnTo>
                        <a:pt x="115" y="119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2365" name="Group 317"/>
              <p:cNvGrpSpPr/>
              <p:nvPr/>
            </p:nvGrpSpPr>
            <p:grpSpPr bwMode="auto">
              <a:xfrm>
                <a:off x="2713" y="2975"/>
                <a:ext cx="95" cy="139"/>
                <a:chOff x="2713" y="2975"/>
                <a:chExt cx="95" cy="139"/>
              </a:xfrm>
            </p:grpSpPr>
            <p:sp>
              <p:nvSpPr>
                <p:cNvPr id="642366" name="Freeform 318"/>
                <p:cNvSpPr/>
                <p:nvPr/>
              </p:nvSpPr>
              <p:spPr bwMode="auto">
                <a:xfrm>
                  <a:off x="2713" y="2975"/>
                  <a:ext cx="95" cy="139"/>
                </a:xfrm>
                <a:custGeom>
                  <a:avLst/>
                  <a:gdLst>
                    <a:gd name="T0" fmla="*/ 43 w 670"/>
                    <a:gd name="T1" fmla="*/ 6 h 1116"/>
                    <a:gd name="T2" fmla="*/ 65 w 670"/>
                    <a:gd name="T3" fmla="*/ 99 h 1116"/>
                    <a:gd name="T4" fmla="*/ 68 w 670"/>
                    <a:gd name="T5" fmla="*/ 135 h 1116"/>
                    <a:gd name="T6" fmla="*/ 59 w 670"/>
                    <a:gd name="T7" fmla="*/ 241 h 1116"/>
                    <a:gd name="T8" fmla="*/ 33 w 670"/>
                    <a:gd name="T9" fmla="*/ 280 h 1116"/>
                    <a:gd name="T10" fmla="*/ 21 w 670"/>
                    <a:gd name="T11" fmla="*/ 324 h 1116"/>
                    <a:gd name="T12" fmla="*/ 17 w 670"/>
                    <a:gd name="T13" fmla="*/ 319 h 1116"/>
                    <a:gd name="T14" fmla="*/ 0 w 670"/>
                    <a:gd name="T15" fmla="*/ 377 h 1116"/>
                    <a:gd name="T16" fmla="*/ 13 w 670"/>
                    <a:gd name="T17" fmla="*/ 498 h 1116"/>
                    <a:gd name="T18" fmla="*/ 17 w 670"/>
                    <a:gd name="T19" fmla="*/ 635 h 1116"/>
                    <a:gd name="T20" fmla="*/ 13 w 670"/>
                    <a:gd name="T21" fmla="*/ 677 h 1116"/>
                    <a:gd name="T22" fmla="*/ 14 w 670"/>
                    <a:gd name="T23" fmla="*/ 728 h 1116"/>
                    <a:gd name="T24" fmla="*/ 19 w 670"/>
                    <a:gd name="T25" fmla="*/ 780 h 1116"/>
                    <a:gd name="T26" fmla="*/ 43 w 670"/>
                    <a:gd name="T27" fmla="*/ 894 h 1116"/>
                    <a:gd name="T28" fmla="*/ 78 w 670"/>
                    <a:gd name="T29" fmla="*/ 948 h 1116"/>
                    <a:gd name="T30" fmla="*/ 107 w 670"/>
                    <a:gd name="T31" fmla="*/ 972 h 1116"/>
                    <a:gd name="T32" fmla="*/ 101 w 670"/>
                    <a:gd name="T33" fmla="*/ 1038 h 1116"/>
                    <a:gd name="T34" fmla="*/ 154 w 670"/>
                    <a:gd name="T35" fmla="*/ 1068 h 1116"/>
                    <a:gd name="T36" fmla="*/ 218 w 670"/>
                    <a:gd name="T37" fmla="*/ 1087 h 1116"/>
                    <a:gd name="T38" fmla="*/ 295 w 670"/>
                    <a:gd name="T39" fmla="*/ 1075 h 1116"/>
                    <a:gd name="T40" fmla="*/ 331 w 670"/>
                    <a:gd name="T41" fmla="*/ 1057 h 1116"/>
                    <a:gd name="T42" fmla="*/ 342 w 670"/>
                    <a:gd name="T43" fmla="*/ 1092 h 1116"/>
                    <a:gd name="T44" fmla="*/ 425 w 670"/>
                    <a:gd name="T45" fmla="*/ 1098 h 1116"/>
                    <a:gd name="T46" fmla="*/ 525 w 670"/>
                    <a:gd name="T47" fmla="*/ 1116 h 1116"/>
                    <a:gd name="T48" fmla="*/ 611 w 670"/>
                    <a:gd name="T49" fmla="*/ 1098 h 1116"/>
                    <a:gd name="T50" fmla="*/ 670 w 670"/>
                    <a:gd name="T51" fmla="*/ 1063 h 1116"/>
                    <a:gd name="T52" fmla="*/ 670 w 670"/>
                    <a:gd name="T53" fmla="*/ 495 h 1116"/>
                    <a:gd name="T54" fmla="*/ 632 w 670"/>
                    <a:gd name="T55" fmla="*/ 449 h 1116"/>
                    <a:gd name="T56" fmla="*/ 605 w 670"/>
                    <a:gd name="T57" fmla="*/ 411 h 1116"/>
                    <a:gd name="T58" fmla="*/ 557 w 670"/>
                    <a:gd name="T59" fmla="*/ 325 h 1116"/>
                    <a:gd name="T60" fmla="*/ 546 w 670"/>
                    <a:gd name="T61" fmla="*/ 279 h 1116"/>
                    <a:gd name="T62" fmla="*/ 529 w 670"/>
                    <a:gd name="T63" fmla="*/ 229 h 1116"/>
                    <a:gd name="T64" fmla="*/ 504 w 670"/>
                    <a:gd name="T65" fmla="*/ 178 h 1116"/>
                    <a:gd name="T66" fmla="*/ 476 w 670"/>
                    <a:gd name="T67" fmla="*/ 135 h 1116"/>
                    <a:gd name="T68" fmla="*/ 438 w 670"/>
                    <a:gd name="T69" fmla="*/ 93 h 1116"/>
                    <a:gd name="T70" fmla="*/ 407 w 670"/>
                    <a:gd name="T71" fmla="*/ 65 h 1116"/>
                    <a:gd name="T72" fmla="*/ 370 w 670"/>
                    <a:gd name="T73" fmla="*/ 42 h 1116"/>
                    <a:gd name="T74" fmla="*/ 336 w 670"/>
                    <a:gd name="T75" fmla="*/ 25 h 1116"/>
                    <a:gd name="T76" fmla="*/ 285 w 670"/>
                    <a:gd name="T77" fmla="*/ 10 h 1116"/>
                    <a:gd name="T78" fmla="*/ 237 w 670"/>
                    <a:gd name="T79" fmla="*/ 1 h 1116"/>
                    <a:gd name="T80" fmla="*/ 190 w 670"/>
                    <a:gd name="T81" fmla="*/ 0 h 1116"/>
                    <a:gd name="T82" fmla="*/ 148 w 670"/>
                    <a:gd name="T83" fmla="*/ 1 h 1116"/>
                    <a:gd name="T84" fmla="*/ 43 w 670"/>
                    <a:gd name="T85" fmla="*/ 6 h 1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670" h="1116">
                      <a:moveTo>
                        <a:pt x="43" y="6"/>
                      </a:moveTo>
                      <a:lnTo>
                        <a:pt x="65" y="99"/>
                      </a:lnTo>
                      <a:lnTo>
                        <a:pt x="68" y="135"/>
                      </a:lnTo>
                      <a:lnTo>
                        <a:pt x="59" y="241"/>
                      </a:lnTo>
                      <a:lnTo>
                        <a:pt x="33" y="280"/>
                      </a:lnTo>
                      <a:lnTo>
                        <a:pt x="21" y="324"/>
                      </a:lnTo>
                      <a:lnTo>
                        <a:pt x="17" y="319"/>
                      </a:lnTo>
                      <a:lnTo>
                        <a:pt x="0" y="377"/>
                      </a:lnTo>
                      <a:lnTo>
                        <a:pt x="13" y="498"/>
                      </a:lnTo>
                      <a:lnTo>
                        <a:pt x="17" y="635"/>
                      </a:lnTo>
                      <a:lnTo>
                        <a:pt x="13" y="677"/>
                      </a:lnTo>
                      <a:lnTo>
                        <a:pt x="14" y="728"/>
                      </a:lnTo>
                      <a:lnTo>
                        <a:pt x="19" y="780"/>
                      </a:lnTo>
                      <a:lnTo>
                        <a:pt x="43" y="894"/>
                      </a:lnTo>
                      <a:lnTo>
                        <a:pt x="78" y="948"/>
                      </a:lnTo>
                      <a:lnTo>
                        <a:pt x="107" y="972"/>
                      </a:lnTo>
                      <a:lnTo>
                        <a:pt x="101" y="1038"/>
                      </a:lnTo>
                      <a:lnTo>
                        <a:pt x="154" y="1068"/>
                      </a:lnTo>
                      <a:lnTo>
                        <a:pt x="218" y="1087"/>
                      </a:lnTo>
                      <a:lnTo>
                        <a:pt x="295" y="1075"/>
                      </a:lnTo>
                      <a:lnTo>
                        <a:pt x="331" y="1057"/>
                      </a:lnTo>
                      <a:lnTo>
                        <a:pt x="342" y="1092"/>
                      </a:lnTo>
                      <a:lnTo>
                        <a:pt x="425" y="1098"/>
                      </a:lnTo>
                      <a:lnTo>
                        <a:pt x="525" y="1116"/>
                      </a:lnTo>
                      <a:lnTo>
                        <a:pt x="611" y="1098"/>
                      </a:lnTo>
                      <a:lnTo>
                        <a:pt x="670" y="1063"/>
                      </a:lnTo>
                      <a:lnTo>
                        <a:pt x="670" y="495"/>
                      </a:lnTo>
                      <a:lnTo>
                        <a:pt x="632" y="449"/>
                      </a:lnTo>
                      <a:lnTo>
                        <a:pt x="605" y="411"/>
                      </a:lnTo>
                      <a:lnTo>
                        <a:pt x="557" y="325"/>
                      </a:lnTo>
                      <a:lnTo>
                        <a:pt x="546" y="279"/>
                      </a:lnTo>
                      <a:lnTo>
                        <a:pt x="529" y="229"/>
                      </a:lnTo>
                      <a:lnTo>
                        <a:pt x="504" y="178"/>
                      </a:lnTo>
                      <a:lnTo>
                        <a:pt x="476" y="135"/>
                      </a:lnTo>
                      <a:lnTo>
                        <a:pt x="438" y="93"/>
                      </a:lnTo>
                      <a:lnTo>
                        <a:pt x="407" y="65"/>
                      </a:lnTo>
                      <a:lnTo>
                        <a:pt x="370" y="42"/>
                      </a:lnTo>
                      <a:lnTo>
                        <a:pt x="336" y="25"/>
                      </a:lnTo>
                      <a:lnTo>
                        <a:pt x="285" y="10"/>
                      </a:lnTo>
                      <a:lnTo>
                        <a:pt x="237" y="1"/>
                      </a:lnTo>
                      <a:lnTo>
                        <a:pt x="190" y="0"/>
                      </a:lnTo>
                      <a:lnTo>
                        <a:pt x="148" y="1"/>
                      </a:lnTo>
                      <a:lnTo>
                        <a:pt x="43" y="6"/>
                      </a:lnTo>
                      <a:close/>
                    </a:path>
                  </a:pathLst>
                </a:custGeom>
                <a:solidFill>
                  <a:srgbClr val="A0A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42367" name="Group 319"/>
                <p:cNvGrpSpPr/>
                <p:nvPr/>
              </p:nvGrpSpPr>
              <p:grpSpPr bwMode="auto">
                <a:xfrm>
                  <a:off x="2713" y="2976"/>
                  <a:ext cx="95" cy="135"/>
                  <a:chOff x="2713" y="2976"/>
                  <a:chExt cx="95" cy="135"/>
                </a:xfrm>
              </p:grpSpPr>
              <p:sp>
                <p:nvSpPr>
                  <p:cNvPr id="642368" name="Freeform 320"/>
                  <p:cNvSpPr/>
                  <p:nvPr/>
                </p:nvSpPr>
                <p:spPr bwMode="auto">
                  <a:xfrm>
                    <a:off x="2758" y="3063"/>
                    <a:ext cx="23" cy="43"/>
                  </a:xfrm>
                  <a:custGeom>
                    <a:avLst/>
                    <a:gdLst>
                      <a:gd name="T0" fmla="*/ 132 w 164"/>
                      <a:gd name="T1" fmla="*/ 32 h 342"/>
                      <a:gd name="T2" fmla="*/ 86 w 164"/>
                      <a:gd name="T3" fmla="*/ 74 h 342"/>
                      <a:gd name="T4" fmla="*/ 34 w 164"/>
                      <a:gd name="T5" fmla="*/ 138 h 342"/>
                      <a:gd name="T6" fmla="*/ 37 w 164"/>
                      <a:gd name="T7" fmla="*/ 167 h 342"/>
                      <a:gd name="T8" fmla="*/ 3 w 164"/>
                      <a:gd name="T9" fmla="*/ 236 h 342"/>
                      <a:gd name="T10" fmla="*/ 0 w 164"/>
                      <a:gd name="T11" fmla="*/ 312 h 342"/>
                      <a:gd name="T12" fmla="*/ 12 w 164"/>
                      <a:gd name="T13" fmla="*/ 342 h 342"/>
                      <a:gd name="T14" fmla="*/ 14 w 164"/>
                      <a:gd name="T15" fmla="*/ 316 h 342"/>
                      <a:gd name="T16" fmla="*/ 15 w 164"/>
                      <a:gd name="T17" fmla="*/ 293 h 342"/>
                      <a:gd name="T18" fmla="*/ 22 w 164"/>
                      <a:gd name="T19" fmla="*/ 269 h 342"/>
                      <a:gd name="T20" fmla="*/ 28 w 164"/>
                      <a:gd name="T21" fmla="*/ 247 h 342"/>
                      <a:gd name="T22" fmla="*/ 30 w 164"/>
                      <a:gd name="T23" fmla="*/ 233 h 342"/>
                      <a:gd name="T24" fmla="*/ 43 w 164"/>
                      <a:gd name="T25" fmla="*/ 223 h 342"/>
                      <a:gd name="T26" fmla="*/ 44 w 164"/>
                      <a:gd name="T27" fmla="*/ 205 h 342"/>
                      <a:gd name="T28" fmla="*/ 52 w 164"/>
                      <a:gd name="T29" fmla="*/ 187 h 342"/>
                      <a:gd name="T30" fmla="*/ 62 w 164"/>
                      <a:gd name="T31" fmla="*/ 171 h 342"/>
                      <a:gd name="T32" fmla="*/ 75 w 164"/>
                      <a:gd name="T33" fmla="*/ 162 h 342"/>
                      <a:gd name="T34" fmla="*/ 70 w 164"/>
                      <a:gd name="T35" fmla="*/ 146 h 342"/>
                      <a:gd name="T36" fmla="*/ 89 w 164"/>
                      <a:gd name="T37" fmla="*/ 132 h 342"/>
                      <a:gd name="T38" fmla="*/ 101 w 164"/>
                      <a:gd name="T39" fmla="*/ 113 h 342"/>
                      <a:gd name="T40" fmla="*/ 108 w 164"/>
                      <a:gd name="T41" fmla="*/ 92 h 342"/>
                      <a:gd name="T42" fmla="*/ 126 w 164"/>
                      <a:gd name="T43" fmla="*/ 82 h 342"/>
                      <a:gd name="T44" fmla="*/ 143 w 164"/>
                      <a:gd name="T45" fmla="*/ 68 h 342"/>
                      <a:gd name="T46" fmla="*/ 153 w 164"/>
                      <a:gd name="T47" fmla="*/ 48 h 342"/>
                      <a:gd name="T48" fmla="*/ 162 w 164"/>
                      <a:gd name="T49" fmla="*/ 24 h 342"/>
                      <a:gd name="T50" fmla="*/ 164 w 164"/>
                      <a:gd name="T51" fmla="*/ 0 h 342"/>
                      <a:gd name="T52" fmla="*/ 132 w 164"/>
                      <a:gd name="T53" fmla="*/ 32 h 3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164" h="342">
                        <a:moveTo>
                          <a:pt x="132" y="32"/>
                        </a:moveTo>
                        <a:lnTo>
                          <a:pt x="86" y="74"/>
                        </a:lnTo>
                        <a:lnTo>
                          <a:pt x="34" y="138"/>
                        </a:lnTo>
                        <a:lnTo>
                          <a:pt x="37" y="167"/>
                        </a:lnTo>
                        <a:lnTo>
                          <a:pt x="3" y="236"/>
                        </a:lnTo>
                        <a:lnTo>
                          <a:pt x="0" y="312"/>
                        </a:lnTo>
                        <a:lnTo>
                          <a:pt x="12" y="342"/>
                        </a:lnTo>
                        <a:lnTo>
                          <a:pt x="14" y="316"/>
                        </a:lnTo>
                        <a:lnTo>
                          <a:pt x="15" y="293"/>
                        </a:lnTo>
                        <a:lnTo>
                          <a:pt x="22" y="269"/>
                        </a:lnTo>
                        <a:lnTo>
                          <a:pt x="28" y="247"/>
                        </a:lnTo>
                        <a:lnTo>
                          <a:pt x="30" y="233"/>
                        </a:lnTo>
                        <a:lnTo>
                          <a:pt x="43" y="223"/>
                        </a:lnTo>
                        <a:lnTo>
                          <a:pt x="44" y="205"/>
                        </a:lnTo>
                        <a:lnTo>
                          <a:pt x="52" y="187"/>
                        </a:lnTo>
                        <a:lnTo>
                          <a:pt x="62" y="171"/>
                        </a:lnTo>
                        <a:lnTo>
                          <a:pt x="75" y="162"/>
                        </a:lnTo>
                        <a:lnTo>
                          <a:pt x="70" y="146"/>
                        </a:lnTo>
                        <a:lnTo>
                          <a:pt x="89" y="132"/>
                        </a:lnTo>
                        <a:lnTo>
                          <a:pt x="101" y="113"/>
                        </a:lnTo>
                        <a:lnTo>
                          <a:pt x="108" y="92"/>
                        </a:lnTo>
                        <a:lnTo>
                          <a:pt x="126" y="82"/>
                        </a:lnTo>
                        <a:lnTo>
                          <a:pt x="143" y="68"/>
                        </a:lnTo>
                        <a:lnTo>
                          <a:pt x="153" y="48"/>
                        </a:lnTo>
                        <a:lnTo>
                          <a:pt x="162" y="24"/>
                        </a:lnTo>
                        <a:lnTo>
                          <a:pt x="164" y="0"/>
                        </a:lnTo>
                        <a:lnTo>
                          <a:pt x="132" y="32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69" name="Freeform 321"/>
                  <p:cNvSpPr/>
                  <p:nvPr/>
                </p:nvSpPr>
                <p:spPr bwMode="auto">
                  <a:xfrm>
                    <a:off x="2770" y="3015"/>
                    <a:ext cx="27" cy="45"/>
                  </a:xfrm>
                  <a:custGeom>
                    <a:avLst/>
                    <a:gdLst>
                      <a:gd name="T0" fmla="*/ 0 w 191"/>
                      <a:gd name="T1" fmla="*/ 278 h 358"/>
                      <a:gd name="T2" fmla="*/ 67 w 191"/>
                      <a:gd name="T3" fmla="*/ 199 h 358"/>
                      <a:gd name="T4" fmla="*/ 84 w 191"/>
                      <a:gd name="T5" fmla="*/ 159 h 358"/>
                      <a:gd name="T6" fmla="*/ 92 w 191"/>
                      <a:gd name="T7" fmla="*/ 126 h 358"/>
                      <a:gd name="T8" fmla="*/ 103 w 191"/>
                      <a:gd name="T9" fmla="*/ 80 h 358"/>
                      <a:gd name="T10" fmla="*/ 109 w 191"/>
                      <a:gd name="T11" fmla="*/ 37 h 358"/>
                      <a:gd name="T12" fmla="*/ 110 w 191"/>
                      <a:gd name="T13" fmla="*/ 0 h 358"/>
                      <a:gd name="T14" fmla="*/ 127 w 191"/>
                      <a:gd name="T15" fmla="*/ 30 h 358"/>
                      <a:gd name="T16" fmla="*/ 138 w 191"/>
                      <a:gd name="T17" fmla="*/ 60 h 358"/>
                      <a:gd name="T18" fmla="*/ 142 w 191"/>
                      <a:gd name="T19" fmla="*/ 89 h 358"/>
                      <a:gd name="T20" fmla="*/ 144 w 191"/>
                      <a:gd name="T21" fmla="*/ 114 h 358"/>
                      <a:gd name="T22" fmla="*/ 166 w 191"/>
                      <a:gd name="T23" fmla="*/ 118 h 358"/>
                      <a:gd name="T24" fmla="*/ 180 w 191"/>
                      <a:gd name="T25" fmla="*/ 125 h 358"/>
                      <a:gd name="T26" fmla="*/ 187 w 191"/>
                      <a:gd name="T27" fmla="*/ 139 h 358"/>
                      <a:gd name="T28" fmla="*/ 191 w 191"/>
                      <a:gd name="T29" fmla="*/ 155 h 358"/>
                      <a:gd name="T30" fmla="*/ 189 w 191"/>
                      <a:gd name="T31" fmla="*/ 172 h 358"/>
                      <a:gd name="T32" fmla="*/ 178 w 191"/>
                      <a:gd name="T33" fmla="*/ 193 h 358"/>
                      <a:gd name="T34" fmla="*/ 156 w 191"/>
                      <a:gd name="T35" fmla="*/ 225 h 358"/>
                      <a:gd name="T36" fmla="*/ 122 w 191"/>
                      <a:gd name="T37" fmla="*/ 267 h 358"/>
                      <a:gd name="T38" fmla="*/ 37 w 191"/>
                      <a:gd name="T39" fmla="*/ 358 h 358"/>
                      <a:gd name="T40" fmla="*/ 0 w 191"/>
                      <a:gd name="T41" fmla="*/ 278 h 3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91" h="358">
                        <a:moveTo>
                          <a:pt x="0" y="278"/>
                        </a:moveTo>
                        <a:lnTo>
                          <a:pt x="67" y="199"/>
                        </a:lnTo>
                        <a:lnTo>
                          <a:pt x="84" y="159"/>
                        </a:lnTo>
                        <a:lnTo>
                          <a:pt x="92" y="126"/>
                        </a:lnTo>
                        <a:lnTo>
                          <a:pt x="103" y="80"/>
                        </a:lnTo>
                        <a:lnTo>
                          <a:pt x="109" y="37"/>
                        </a:lnTo>
                        <a:lnTo>
                          <a:pt x="110" y="0"/>
                        </a:lnTo>
                        <a:lnTo>
                          <a:pt x="127" y="30"/>
                        </a:lnTo>
                        <a:lnTo>
                          <a:pt x="138" y="60"/>
                        </a:lnTo>
                        <a:lnTo>
                          <a:pt x="142" y="89"/>
                        </a:lnTo>
                        <a:lnTo>
                          <a:pt x="144" y="114"/>
                        </a:lnTo>
                        <a:lnTo>
                          <a:pt x="166" y="118"/>
                        </a:lnTo>
                        <a:lnTo>
                          <a:pt x="180" y="125"/>
                        </a:lnTo>
                        <a:lnTo>
                          <a:pt x="187" y="139"/>
                        </a:lnTo>
                        <a:lnTo>
                          <a:pt x="191" y="155"/>
                        </a:lnTo>
                        <a:lnTo>
                          <a:pt x="189" y="172"/>
                        </a:lnTo>
                        <a:lnTo>
                          <a:pt x="178" y="193"/>
                        </a:lnTo>
                        <a:lnTo>
                          <a:pt x="156" y="225"/>
                        </a:lnTo>
                        <a:lnTo>
                          <a:pt x="122" y="267"/>
                        </a:lnTo>
                        <a:lnTo>
                          <a:pt x="37" y="358"/>
                        </a:lnTo>
                        <a:lnTo>
                          <a:pt x="0" y="278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0" name="Freeform 322"/>
                  <p:cNvSpPr/>
                  <p:nvPr/>
                </p:nvSpPr>
                <p:spPr bwMode="auto">
                  <a:xfrm>
                    <a:off x="2784" y="3047"/>
                    <a:ext cx="24" cy="25"/>
                  </a:xfrm>
                  <a:custGeom>
                    <a:avLst/>
                    <a:gdLst>
                      <a:gd name="T0" fmla="*/ 13 w 168"/>
                      <a:gd name="T1" fmla="*/ 0 h 196"/>
                      <a:gd name="T2" fmla="*/ 168 w 168"/>
                      <a:gd name="T3" fmla="*/ 166 h 196"/>
                      <a:gd name="T4" fmla="*/ 168 w 168"/>
                      <a:gd name="T5" fmla="*/ 196 h 196"/>
                      <a:gd name="T6" fmla="*/ 0 w 168"/>
                      <a:gd name="T7" fmla="*/ 10 h 196"/>
                      <a:gd name="T8" fmla="*/ 13 w 168"/>
                      <a:gd name="T9" fmla="*/ 0 h 19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68" h="196">
                        <a:moveTo>
                          <a:pt x="13" y="0"/>
                        </a:moveTo>
                        <a:lnTo>
                          <a:pt x="168" y="166"/>
                        </a:lnTo>
                        <a:lnTo>
                          <a:pt x="168" y="196"/>
                        </a:lnTo>
                        <a:lnTo>
                          <a:pt x="0" y="10"/>
                        </a:lnTo>
                        <a:lnTo>
                          <a:pt x="13" y="0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1" name="Freeform 323"/>
                  <p:cNvSpPr/>
                  <p:nvPr/>
                </p:nvSpPr>
                <p:spPr bwMode="auto">
                  <a:xfrm>
                    <a:off x="2714" y="2977"/>
                    <a:ext cx="36" cy="50"/>
                  </a:xfrm>
                  <a:custGeom>
                    <a:avLst/>
                    <a:gdLst>
                      <a:gd name="T0" fmla="*/ 20 w 248"/>
                      <a:gd name="T1" fmla="*/ 403 h 403"/>
                      <a:gd name="T2" fmla="*/ 24 w 248"/>
                      <a:gd name="T3" fmla="*/ 358 h 403"/>
                      <a:gd name="T4" fmla="*/ 32 w 248"/>
                      <a:gd name="T5" fmla="*/ 317 h 403"/>
                      <a:gd name="T6" fmla="*/ 41 w 248"/>
                      <a:gd name="T7" fmla="*/ 288 h 403"/>
                      <a:gd name="T8" fmla="*/ 54 w 248"/>
                      <a:gd name="T9" fmla="*/ 264 h 403"/>
                      <a:gd name="T10" fmla="*/ 75 w 248"/>
                      <a:gd name="T11" fmla="*/ 234 h 403"/>
                      <a:gd name="T12" fmla="*/ 103 w 248"/>
                      <a:gd name="T13" fmla="*/ 207 h 403"/>
                      <a:gd name="T14" fmla="*/ 131 w 248"/>
                      <a:gd name="T15" fmla="*/ 188 h 403"/>
                      <a:gd name="T16" fmla="*/ 164 w 248"/>
                      <a:gd name="T17" fmla="*/ 162 h 403"/>
                      <a:gd name="T18" fmla="*/ 185 w 248"/>
                      <a:gd name="T19" fmla="*/ 136 h 403"/>
                      <a:gd name="T20" fmla="*/ 199 w 248"/>
                      <a:gd name="T21" fmla="*/ 110 h 403"/>
                      <a:gd name="T22" fmla="*/ 196 w 248"/>
                      <a:gd name="T23" fmla="*/ 82 h 403"/>
                      <a:gd name="T24" fmla="*/ 203 w 248"/>
                      <a:gd name="T25" fmla="*/ 53 h 403"/>
                      <a:gd name="T26" fmla="*/ 218 w 248"/>
                      <a:gd name="T27" fmla="*/ 26 h 403"/>
                      <a:gd name="T28" fmla="*/ 228 w 248"/>
                      <a:gd name="T29" fmla="*/ 13 h 403"/>
                      <a:gd name="T30" fmla="*/ 248 w 248"/>
                      <a:gd name="T31" fmla="*/ 2 h 403"/>
                      <a:gd name="T32" fmla="*/ 235 w 248"/>
                      <a:gd name="T33" fmla="*/ 0 h 403"/>
                      <a:gd name="T34" fmla="*/ 223 w 248"/>
                      <a:gd name="T35" fmla="*/ 2 h 403"/>
                      <a:gd name="T36" fmla="*/ 200 w 248"/>
                      <a:gd name="T37" fmla="*/ 9 h 403"/>
                      <a:gd name="T38" fmla="*/ 181 w 248"/>
                      <a:gd name="T39" fmla="*/ 21 h 403"/>
                      <a:gd name="T40" fmla="*/ 166 w 248"/>
                      <a:gd name="T41" fmla="*/ 40 h 403"/>
                      <a:gd name="T42" fmla="*/ 153 w 248"/>
                      <a:gd name="T43" fmla="*/ 65 h 403"/>
                      <a:gd name="T44" fmla="*/ 133 w 248"/>
                      <a:gd name="T45" fmla="*/ 93 h 403"/>
                      <a:gd name="T46" fmla="*/ 114 w 248"/>
                      <a:gd name="T47" fmla="*/ 115 h 403"/>
                      <a:gd name="T48" fmla="*/ 88 w 248"/>
                      <a:gd name="T49" fmla="*/ 132 h 403"/>
                      <a:gd name="T50" fmla="*/ 57 w 248"/>
                      <a:gd name="T51" fmla="*/ 143 h 403"/>
                      <a:gd name="T52" fmla="*/ 53 w 248"/>
                      <a:gd name="T53" fmla="*/ 186 h 403"/>
                      <a:gd name="T54" fmla="*/ 50 w 248"/>
                      <a:gd name="T55" fmla="*/ 225 h 403"/>
                      <a:gd name="T56" fmla="*/ 23 w 248"/>
                      <a:gd name="T57" fmla="*/ 263 h 403"/>
                      <a:gd name="T58" fmla="*/ 9 w 248"/>
                      <a:gd name="T59" fmla="*/ 294 h 403"/>
                      <a:gd name="T60" fmla="*/ 0 w 248"/>
                      <a:gd name="T61" fmla="*/ 337 h 403"/>
                      <a:gd name="T62" fmla="*/ 6 w 248"/>
                      <a:gd name="T63" fmla="*/ 368 h 403"/>
                      <a:gd name="T64" fmla="*/ 20 w 248"/>
                      <a:gd name="T65" fmla="*/ 403 h 4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248" h="403">
                        <a:moveTo>
                          <a:pt x="20" y="403"/>
                        </a:moveTo>
                        <a:lnTo>
                          <a:pt x="24" y="358"/>
                        </a:lnTo>
                        <a:lnTo>
                          <a:pt x="32" y="317"/>
                        </a:lnTo>
                        <a:lnTo>
                          <a:pt x="41" y="288"/>
                        </a:lnTo>
                        <a:lnTo>
                          <a:pt x="54" y="264"/>
                        </a:lnTo>
                        <a:lnTo>
                          <a:pt x="75" y="234"/>
                        </a:lnTo>
                        <a:lnTo>
                          <a:pt x="103" y="207"/>
                        </a:lnTo>
                        <a:lnTo>
                          <a:pt x="131" y="188"/>
                        </a:lnTo>
                        <a:lnTo>
                          <a:pt x="164" y="162"/>
                        </a:lnTo>
                        <a:lnTo>
                          <a:pt x="185" y="136"/>
                        </a:lnTo>
                        <a:lnTo>
                          <a:pt x="199" y="110"/>
                        </a:lnTo>
                        <a:lnTo>
                          <a:pt x="196" y="82"/>
                        </a:lnTo>
                        <a:lnTo>
                          <a:pt x="203" y="53"/>
                        </a:lnTo>
                        <a:lnTo>
                          <a:pt x="218" y="26"/>
                        </a:lnTo>
                        <a:lnTo>
                          <a:pt x="228" y="13"/>
                        </a:lnTo>
                        <a:lnTo>
                          <a:pt x="248" y="2"/>
                        </a:lnTo>
                        <a:lnTo>
                          <a:pt x="235" y="0"/>
                        </a:lnTo>
                        <a:lnTo>
                          <a:pt x="223" y="2"/>
                        </a:lnTo>
                        <a:lnTo>
                          <a:pt x="200" y="9"/>
                        </a:lnTo>
                        <a:lnTo>
                          <a:pt x="181" y="21"/>
                        </a:lnTo>
                        <a:lnTo>
                          <a:pt x="166" y="40"/>
                        </a:lnTo>
                        <a:lnTo>
                          <a:pt x="153" y="65"/>
                        </a:lnTo>
                        <a:lnTo>
                          <a:pt x="133" y="93"/>
                        </a:lnTo>
                        <a:lnTo>
                          <a:pt x="114" y="115"/>
                        </a:lnTo>
                        <a:lnTo>
                          <a:pt x="88" y="132"/>
                        </a:lnTo>
                        <a:lnTo>
                          <a:pt x="57" y="143"/>
                        </a:lnTo>
                        <a:lnTo>
                          <a:pt x="53" y="186"/>
                        </a:lnTo>
                        <a:lnTo>
                          <a:pt x="50" y="225"/>
                        </a:lnTo>
                        <a:lnTo>
                          <a:pt x="23" y="263"/>
                        </a:lnTo>
                        <a:lnTo>
                          <a:pt x="9" y="294"/>
                        </a:lnTo>
                        <a:lnTo>
                          <a:pt x="0" y="337"/>
                        </a:lnTo>
                        <a:lnTo>
                          <a:pt x="6" y="368"/>
                        </a:lnTo>
                        <a:lnTo>
                          <a:pt x="20" y="403"/>
                        </a:lnTo>
                        <a:close/>
                      </a:path>
                    </a:pathLst>
                  </a:custGeom>
                  <a:solidFill>
                    <a:srgbClr val="606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2" name="Freeform 324"/>
                  <p:cNvSpPr/>
                  <p:nvPr/>
                </p:nvSpPr>
                <p:spPr bwMode="auto">
                  <a:xfrm>
                    <a:off x="2713" y="3014"/>
                    <a:ext cx="18" cy="84"/>
                  </a:xfrm>
                  <a:custGeom>
                    <a:avLst/>
                    <a:gdLst>
                      <a:gd name="T0" fmla="*/ 129 w 129"/>
                      <a:gd name="T1" fmla="*/ 669 h 669"/>
                      <a:gd name="T2" fmla="*/ 112 w 129"/>
                      <a:gd name="T3" fmla="*/ 633 h 669"/>
                      <a:gd name="T4" fmla="*/ 103 w 129"/>
                      <a:gd name="T5" fmla="*/ 600 h 669"/>
                      <a:gd name="T6" fmla="*/ 99 w 129"/>
                      <a:gd name="T7" fmla="*/ 573 h 669"/>
                      <a:gd name="T8" fmla="*/ 83 w 129"/>
                      <a:gd name="T9" fmla="*/ 554 h 669"/>
                      <a:gd name="T10" fmla="*/ 75 w 129"/>
                      <a:gd name="T11" fmla="*/ 536 h 669"/>
                      <a:gd name="T12" fmla="*/ 68 w 129"/>
                      <a:gd name="T13" fmla="*/ 509 h 669"/>
                      <a:gd name="T14" fmla="*/ 70 w 129"/>
                      <a:gd name="T15" fmla="*/ 487 h 669"/>
                      <a:gd name="T16" fmla="*/ 75 w 129"/>
                      <a:gd name="T17" fmla="*/ 470 h 669"/>
                      <a:gd name="T18" fmla="*/ 63 w 129"/>
                      <a:gd name="T19" fmla="*/ 439 h 669"/>
                      <a:gd name="T20" fmla="*/ 58 w 129"/>
                      <a:gd name="T21" fmla="*/ 406 h 669"/>
                      <a:gd name="T22" fmla="*/ 60 w 129"/>
                      <a:gd name="T23" fmla="*/ 374 h 669"/>
                      <a:gd name="T24" fmla="*/ 69 w 129"/>
                      <a:gd name="T25" fmla="*/ 343 h 669"/>
                      <a:gd name="T26" fmla="*/ 83 w 129"/>
                      <a:gd name="T27" fmla="*/ 335 h 669"/>
                      <a:gd name="T28" fmla="*/ 94 w 129"/>
                      <a:gd name="T29" fmla="*/ 325 h 669"/>
                      <a:gd name="T30" fmla="*/ 99 w 129"/>
                      <a:gd name="T31" fmla="*/ 301 h 669"/>
                      <a:gd name="T32" fmla="*/ 98 w 129"/>
                      <a:gd name="T33" fmla="*/ 277 h 669"/>
                      <a:gd name="T34" fmla="*/ 94 w 129"/>
                      <a:gd name="T35" fmla="*/ 253 h 669"/>
                      <a:gd name="T36" fmla="*/ 106 w 129"/>
                      <a:gd name="T37" fmla="*/ 229 h 669"/>
                      <a:gd name="T38" fmla="*/ 112 w 129"/>
                      <a:gd name="T39" fmla="*/ 210 h 669"/>
                      <a:gd name="T40" fmla="*/ 106 w 129"/>
                      <a:gd name="T41" fmla="*/ 186 h 669"/>
                      <a:gd name="T42" fmla="*/ 94 w 129"/>
                      <a:gd name="T43" fmla="*/ 162 h 669"/>
                      <a:gd name="T44" fmla="*/ 81 w 129"/>
                      <a:gd name="T45" fmla="*/ 144 h 669"/>
                      <a:gd name="T46" fmla="*/ 88 w 129"/>
                      <a:gd name="T47" fmla="*/ 111 h 669"/>
                      <a:gd name="T48" fmla="*/ 94 w 129"/>
                      <a:gd name="T49" fmla="*/ 73 h 669"/>
                      <a:gd name="T50" fmla="*/ 90 w 129"/>
                      <a:gd name="T51" fmla="*/ 48 h 669"/>
                      <a:gd name="T52" fmla="*/ 93 w 129"/>
                      <a:gd name="T53" fmla="*/ 24 h 669"/>
                      <a:gd name="T54" fmla="*/ 99 w 129"/>
                      <a:gd name="T55" fmla="*/ 0 h 669"/>
                      <a:gd name="T56" fmla="*/ 80 w 129"/>
                      <a:gd name="T57" fmla="*/ 6 h 669"/>
                      <a:gd name="T58" fmla="*/ 65 w 129"/>
                      <a:gd name="T59" fmla="*/ 15 h 669"/>
                      <a:gd name="T60" fmla="*/ 51 w 129"/>
                      <a:gd name="T61" fmla="*/ 34 h 669"/>
                      <a:gd name="T62" fmla="*/ 44 w 129"/>
                      <a:gd name="T63" fmla="*/ 55 h 669"/>
                      <a:gd name="T64" fmla="*/ 42 w 129"/>
                      <a:gd name="T65" fmla="*/ 38 h 669"/>
                      <a:gd name="T66" fmla="*/ 35 w 129"/>
                      <a:gd name="T67" fmla="*/ 23 h 669"/>
                      <a:gd name="T68" fmla="*/ 26 w 129"/>
                      <a:gd name="T69" fmla="*/ 11 h 669"/>
                      <a:gd name="T70" fmla="*/ 17 w 129"/>
                      <a:gd name="T71" fmla="*/ 1 h 669"/>
                      <a:gd name="T72" fmla="*/ 11 w 129"/>
                      <a:gd name="T73" fmla="*/ 18 h 669"/>
                      <a:gd name="T74" fmla="*/ 3 w 129"/>
                      <a:gd name="T75" fmla="*/ 43 h 669"/>
                      <a:gd name="T76" fmla="*/ 0 w 129"/>
                      <a:gd name="T77" fmla="*/ 60 h 669"/>
                      <a:gd name="T78" fmla="*/ 16 w 129"/>
                      <a:gd name="T79" fmla="*/ 91 h 669"/>
                      <a:gd name="T80" fmla="*/ 25 w 129"/>
                      <a:gd name="T81" fmla="*/ 127 h 669"/>
                      <a:gd name="T82" fmla="*/ 27 w 129"/>
                      <a:gd name="T83" fmla="*/ 151 h 669"/>
                      <a:gd name="T84" fmla="*/ 31 w 129"/>
                      <a:gd name="T85" fmla="*/ 180 h 669"/>
                      <a:gd name="T86" fmla="*/ 38 w 129"/>
                      <a:gd name="T87" fmla="*/ 207 h 669"/>
                      <a:gd name="T88" fmla="*/ 49 w 129"/>
                      <a:gd name="T89" fmla="*/ 240 h 669"/>
                      <a:gd name="T90" fmla="*/ 52 w 129"/>
                      <a:gd name="T91" fmla="*/ 264 h 669"/>
                      <a:gd name="T92" fmla="*/ 49 w 129"/>
                      <a:gd name="T93" fmla="*/ 288 h 669"/>
                      <a:gd name="T94" fmla="*/ 37 w 129"/>
                      <a:gd name="T95" fmla="*/ 343 h 669"/>
                      <a:gd name="T96" fmla="*/ 31 w 129"/>
                      <a:gd name="T97" fmla="*/ 381 h 669"/>
                      <a:gd name="T98" fmla="*/ 29 w 129"/>
                      <a:gd name="T99" fmla="*/ 422 h 669"/>
                      <a:gd name="T100" fmla="*/ 34 w 129"/>
                      <a:gd name="T101" fmla="*/ 456 h 669"/>
                      <a:gd name="T102" fmla="*/ 44 w 129"/>
                      <a:gd name="T103" fmla="*/ 495 h 669"/>
                      <a:gd name="T104" fmla="*/ 34 w 129"/>
                      <a:gd name="T105" fmla="*/ 534 h 669"/>
                      <a:gd name="T106" fmla="*/ 37 w 129"/>
                      <a:gd name="T107" fmla="*/ 563 h 669"/>
                      <a:gd name="T108" fmla="*/ 46 w 129"/>
                      <a:gd name="T109" fmla="*/ 588 h 669"/>
                      <a:gd name="T110" fmla="*/ 61 w 129"/>
                      <a:gd name="T111" fmla="*/ 610 h 669"/>
                      <a:gd name="T112" fmla="*/ 79 w 129"/>
                      <a:gd name="T113" fmla="*/ 632 h 669"/>
                      <a:gd name="T114" fmla="*/ 111 w 129"/>
                      <a:gd name="T115" fmla="*/ 657 h 669"/>
                      <a:gd name="T116" fmla="*/ 129 w 129"/>
                      <a:gd name="T117" fmla="*/ 669 h 6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29" h="669">
                        <a:moveTo>
                          <a:pt x="129" y="669"/>
                        </a:moveTo>
                        <a:lnTo>
                          <a:pt x="112" y="633"/>
                        </a:lnTo>
                        <a:lnTo>
                          <a:pt x="103" y="600"/>
                        </a:lnTo>
                        <a:lnTo>
                          <a:pt x="99" y="573"/>
                        </a:lnTo>
                        <a:lnTo>
                          <a:pt x="83" y="554"/>
                        </a:lnTo>
                        <a:lnTo>
                          <a:pt x="75" y="536"/>
                        </a:lnTo>
                        <a:lnTo>
                          <a:pt x="68" y="509"/>
                        </a:lnTo>
                        <a:lnTo>
                          <a:pt x="70" y="487"/>
                        </a:lnTo>
                        <a:lnTo>
                          <a:pt x="75" y="470"/>
                        </a:lnTo>
                        <a:lnTo>
                          <a:pt x="63" y="439"/>
                        </a:lnTo>
                        <a:lnTo>
                          <a:pt x="58" y="406"/>
                        </a:lnTo>
                        <a:lnTo>
                          <a:pt x="60" y="374"/>
                        </a:lnTo>
                        <a:lnTo>
                          <a:pt x="69" y="343"/>
                        </a:lnTo>
                        <a:lnTo>
                          <a:pt x="83" y="335"/>
                        </a:lnTo>
                        <a:lnTo>
                          <a:pt x="94" y="325"/>
                        </a:lnTo>
                        <a:lnTo>
                          <a:pt x="99" y="301"/>
                        </a:lnTo>
                        <a:lnTo>
                          <a:pt x="98" y="277"/>
                        </a:lnTo>
                        <a:lnTo>
                          <a:pt x="94" y="253"/>
                        </a:lnTo>
                        <a:lnTo>
                          <a:pt x="106" y="229"/>
                        </a:lnTo>
                        <a:lnTo>
                          <a:pt x="112" y="210"/>
                        </a:lnTo>
                        <a:lnTo>
                          <a:pt x="106" y="186"/>
                        </a:lnTo>
                        <a:lnTo>
                          <a:pt x="94" y="162"/>
                        </a:lnTo>
                        <a:lnTo>
                          <a:pt x="81" y="144"/>
                        </a:lnTo>
                        <a:lnTo>
                          <a:pt x="88" y="111"/>
                        </a:lnTo>
                        <a:lnTo>
                          <a:pt x="94" y="73"/>
                        </a:lnTo>
                        <a:lnTo>
                          <a:pt x="90" y="48"/>
                        </a:lnTo>
                        <a:lnTo>
                          <a:pt x="93" y="24"/>
                        </a:lnTo>
                        <a:lnTo>
                          <a:pt x="99" y="0"/>
                        </a:lnTo>
                        <a:lnTo>
                          <a:pt x="80" y="6"/>
                        </a:lnTo>
                        <a:lnTo>
                          <a:pt x="65" y="15"/>
                        </a:lnTo>
                        <a:lnTo>
                          <a:pt x="51" y="34"/>
                        </a:lnTo>
                        <a:lnTo>
                          <a:pt x="44" y="55"/>
                        </a:lnTo>
                        <a:lnTo>
                          <a:pt x="42" y="38"/>
                        </a:lnTo>
                        <a:lnTo>
                          <a:pt x="35" y="23"/>
                        </a:lnTo>
                        <a:lnTo>
                          <a:pt x="26" y="11"/>
                        </a:lnTo>
                        <a:lnTo>
                          <a:pt x="17" y="1"/>
                        </a:lnTo>
                        <a:lnTo>
                          <a:pt x="11" y="18"/>
                        </a:lnTo>
                        <a:lnTo>
                          <a:pt x="3" y="43"/>
                        </a:lnTo>
                        <a:lnTo>
                          <a:pt x="0" y="60"/>
                        </a:lnTo>
                        <a:lnTo>
                          <a:pt x="16" y="91"/>
                        </a:lnTo>
                        <a:lnTo>
                          <a:pt x="25" y="127"/>
                        </a:lnTo>
                        <a:lnTo>
                          <a:pt x="27" y="151"/>
                        </a:lnTo>
                        <a:lnTo>
                          <a:pt x="31" y="180"/>
                        </a:lnTo>
                        <a:lnTo>
                          <a:pt x="38" y="207"/>
                        </a:lnTo>
                        <a:lnTo>
                          <a:pt x="49" y="240"/>
                        </a:lnTo>
                        <a:lnTo>
                          <a:pt x="52" y="264"/>
                        </a:lnTo>
                        <a:lnTo>
                          <a:pt x="49" y="288"/>
                        </a:lnTo>
                        <a:lnTo>
                          <a:pt x="37" y="343"/>
                        </a:lnTo>
                        <a:lnTo>
                          <a:pt x="31" y="381"/>
                        </a:lnTo>
                        <a:lnTo>
                          <a:pt x="29" y="422"/>
                        </a:lnTo>
                        <a:lnTo>
                          <a:pt x="34" y="456"/>
                        </a:lnTo>
                        <a:lnTo>
                          <a:pt x="44" y="495"/>
                        </a:lnTo>
                        <a:lnTo>
                          <a:pt x="34" y="534"/>
                        </a:lnTo>
                        <a:lnTo>
                          <a:pt x="37" y="563"/>
                        </a:lnTo>
                        <a:lnTo>
                          <a:pt x="46" y="588"/>
                        </a:lnTo>
                        <a:lnTo>
                          <a:pt x="61" y="610"/>
                        </a:lnTo>
                        <a:lnTo>
                          <a:pt x="79" y="632"/>
                        </a:lnTo>
                        <a:lnTo>
                          <a:pt x="111" y="657"/>
                        </a:lnTo>
                        <a:lnTo>
                          <a:pt x="129" y="669"/>
                        </a:lnTo>
                        <a:close/>
                      </a:path>
                    </a:pathLst>
                  </a:custGeom>
                  <a:solidFill>
                    <a:srgbClr val="606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3" name="Freeform 325"/>
                  <p:cNvSpPr/>
                  <p:nvPr/>
                </p:nvSpPr>
                <p:spPr bwMode="auto">
                  <a:xfrm>
                    <a:off x="2721" y="3067"/>
                    <a:ext cx="41" cy="12"/>
                  </a:xfrm>
                  <a:custGeom>
                    <a:avLst/>
                    <a:gdLst>
                      <a:gd name="T0" fmla="*/ 0 w 286"/>
                      <a:gd name="T1" fmla="*/ 0 h 95"/>
                      <a:gd name="T2" fmla="*/ 22 w 286"/>
                      <a:gd name="T3" fmla="*/ 12 h 95"/>
                      <a:gd name="T4" fmla="*/ 51 w 286"/>
                      <a:gd name="T5" fmla="*/ 26 h 95"/>
                      <a:gd name="T6" fmla="*/ 82 w 286"/>
                      <a:gd name="T7" fmla="*/ 39 h 95"/>
                      <a:gd name="T8" fmla="*/ 108 w 286"/>
                      <a:gd name="T9" fmla="*/ 46 h 95"/>
                      <a:gd name="T10" fmla="*/ 142 w 286"/>
                      <a:gd name="T11" fmla="*/ 53 h 95"/>
                      <a:gd name="T12" fmla="*/ 174 w 286"/>
                      <a:gd name="T13" fmla="*/ 50 h 95"/>
                      <a:gd name="T14" fmla="*/ 208 w 286"/>
                      <a:gd name="T15" fmla="*/ 53 h 95"/>
                      <a:gd name="T16" fmla="*/ 237 w 286"/>
                      <a:gd name="T17" fmla="*/ 56 h 95"/>
                      <a:gd name="T18" fmla="*/ 269 w 286"/>
                      <a:gd name="T19" fmla="*/ 67 h 95"/>
                      <a:gd name="T20" fmla="*/ 279 w 286"/>
                      <a:gd name="T21" fmla="*/ 72 h 95"/>
                      <a:gd name="T22" fmla="*/ 286 w 286"/>
                      <a:gd name="T23" fmla="*/ 85 h 95"/>
                      <a:gd name="T24" fmla="*/ 258 w 286"/>
                      <a:gd name="T25" fmla="*/ 91 h 95"/>
                      <a:gd name="T26" fmla="*/ 223 w 286"/>
                      <a:gd name="T27" fmla="*/ 95 h 95"/>
                      <a:gd name="T28" fmla="*/ 185 w 286"/>
                      <a:gd name="T29" fmla="*/ 92 h 95"/>
                      <a:gd name="T30" fmla="*/ 143 w 286"/>
                      <a:gd name="T31" fmla="*/ 87 h 95"/>
                      <a:gd name="T32" fmla="*/ 100 w 286"/>
                      <a:gd name="T33" fmla="*/ 78 h 95"/>
                      <a:gd name="T34" fmla="*/ 71 w 286"/>
                      <a:gd name="T35" fmla="*/ 67 h 95"/>
                      <a:gd name="T36" fmla="*/ 42 w 286"/>
                      <a:gd name="T37" fmla="*/ 47 h 95"/>
                      <a:gd name="T38" fmla="*/ 22 w 286"/>
                      <a:gd name="T39" fmla="*/ 30 h 95"/>
                      <a:gd name="T40" fmla="*/ 0 w 286"/>
                      <a:gd name="T41" fmla="*/ 0 h 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286" h="95">
                        <a:moveTo>
                          <a:pt x="0" y="0"/>
                        </a:moveTo>
                        <a:lnTo>
                          <a:pt x="22" y="12"/>
                        </a:lnTo>
                        <a:lnTo>
                          <a:pt x="51" y="26"/>
                        </a:lnTo>
                        <a:lnTo>
                          <a:pt x="82" y="39"/>
                        </a:lnTo>
                        <a:lnTo>
                          <a:pt x="108" y="46"/>
                        </a:lnTo>
                        <a:lnTo>
                          <a:pt x="142" y="53"/>
                        </a:lnTo>
                        <a:lnTo>
                          <a:pt x="174" y="50"/>
                        </a:lnTo>
                        <a:lnTo>
                          <a:pt x="208" y="53"/>
                        </a:lnTo>
                        <a:lnTo>
                          <a:pt x="237" y="56"/>
                        </a:lnTo>
                        <a:lnTo>
                          <a:pt x="269" y="67"/>
                        </a:lnTo>
                        <a:lnTo>
                          <a:pt x="279" y="72"/>
                        </a:lnTo>
                        <a:lnTo>
                          <a:pt x="286" y="85"/>
                        </a:lnTo>
                        <a:lnTo>
                          <a:pt x="258" y="91"/>
                        </a:lnTo>
                        <a:lnTo>
                          <a:pt x="223" y="95"/>
                        </a:lnTo>
                        <a:lnTo>
                          <a:pt x="185" y="92"/>
                        </a:lnTo>
                        <a:lnTo>
                          <a:pt x="143" y="87"/>
                        </a:lnTo>
                        <a:lnTo>
                          <a:pt x="100" y="78"/>
                        </a:lnTo>
                        <a:lnTo>
                          <a:pt x="71" y="67"/>
                        </a:lnTo>
                        <a:lnTo>
                          <a:pt x="42" y="47"/>
                        </a:lnTo>
                        <a:lnTo>
                          <a:pt x="22" y="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4" name="Freeform 326"/>
                  <p:cNvSpPr/>
                  <p:nvPr/>
                </p:nvSpPr>
                <p:spPr bwMode="auto">
                  <a:xfrm>
                    <a:off x="2757" y="3101"/>
                    <a:ext cx="51" cy="9"/>
                  </a:xfrm>
                  <a:custGeom>
                    <a:avLst/>
                    <a:gdLst>
                      <a:gd name="T0" fmla="*/ 0 w 361"/>
                      <a:gd name="T1" fmla="*/ 3 h 71"/>
                      <a:gd name="T2" fmla="*/ 37 w 361"/>
                      <a:gd name="T3" fmla="*/ 20 h 71"/>
                      <a:gd name="T4" fmla="*/ 66 w 361"/>
                      <a:gd name="T5" fmla="*/ 30 h 71"/>
                      <a:gd name="T6" fmla="*/ 99 w 361"/>
                      <a:gd name="T7" fmla="*/ 42 h 71"/>
                      <a:gd name="T8" fmla="*/ 138 w 361"/>
                      <a:gd name="T9" fmla="*/ 48 h 71"/>
                      <a:gd name="T10" fmla="*/ 182 w 361"/>
                      <a:gd name="T11" fmla="*/ 53 h 71"/>
                      <a:gd name="T12" fmla="*/ 225 w 361"/>
                      <a:gd name="T13" fmla="*/ 51 h 71"/>
                      <a:gd name="T14" fmla="*/ 256 w 361"/>
                      <a:gd name="T15" fmla="*/ 46 h 71"/>
                      <a:gd name="T16" fmla="*/ 290 w 361"/>
                      <a:gd name="T17" fmla="*/ 37 h 71"/>
                      <a:gd name="T18" fmla="*/ 313 w 361"/>
                      <a:gd name="T19" fmla="*/ 27 h 71"/>
                      <a:gd name="T20" fmla="*/ 335 w 361"/>
                      <a:gd name="T21" fmla="*/ 16 h 71"/>
                      <a:gd name="T22" fmla="*/ 361 w 361"/>
                      <a:gd name="T23" fmla="*/ 0 h 71"/>
                      <a:gd name="T24" fmla="*/ 352 w 361"/>
                      <a:gd name="T25" fmla="*/ 17 h 71"/>
                      <a:gd name="T26" fmla="*/ 329 w 361"/>
                      <a:gd name="T27" fmla="*/ 37 h 71"/>
                      <a:gd name="T28" fmla="*/ 302 w 361"/>
                      <a:gd name="T29" fmla="*/ 51 h 71"/>
                      <a:gd name="T30" fmla="*/ 271 w 361"/>
                      <a:gd name="T31" fmla="*/ 60 h 71"/>
                      <a:gd name="T32" fmla="*/ 237 w 361"/>
                      <a:gd name="T33" fmla="*/ 66 h 71"/>
                      <a:gd name="T34" fmla="*/ 206 w 361"/>
                      <a:gd name="T35" fmla="*/ 70 h 71"/>
                      <a:gd name="T36" fmla="*/ 174 w 361"/>
                      <a:gd name="T37" fmla="*/ 71 h 71"/>
                      <a:gd name="T38" fmla="*/ 140 w 361"/>
                      <a:gd name="T39" fmla="*/ 68 h 71"/>
                      <a:gd name="T40" fmla="*/ 109 w 361"/>
                      <a:gd name="T41" fmla="*/ 60 h 71"/>
                      <a:gd name="T42" fmla="*/ 81 w 361"/>
                      <a:gd name="T43" fmla="*/ 52 h 71"/>
                      <a:gd name="T44" fmla="*/ 50 w 361"/>
                      <a:gd name="T45" fmla="*/ 37 h 71"/>
                      <a:gd name="T46" fmla="*/ 22 w 361"/>
                      <a:gd name="T47" fmla="*/ 20 h 71"/>
                      <a:gd name="T48" fmla="*/ 0 w 361"/>
                      <a:gd name="T49" fmla="*/ 3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361" h="71">
                        <a:moveTo>
                          <a:pt x="0" y="3"/>
                        </a:moveTo>
                        <a:lnTo>
                          <a:pt x="37" y="20"/>
                        </a:lnTo>
                        <a:lnTo>
                          <a:pt x="66" y="30"/>
                        </a:lnTo>
                        <a:lnTo>
                          <a:pt x="99" y="42"/>
                        </a:lnTo>
                        <a:lnTo>
                          <a:pt x="138" y="48"/>
                        </a:lnTo>
                        <a:lnTo>
                          <a:pt x="182" y="53"/>
                        </a:lnTo>
                        <a:lnTo>
                          <a:pt x="225" y="51"/>
                        </a:lnTo>
                        <a:lnTo>
                          <a:pt x="256" y="46"/>
                        </a:lnTo>
                        <a:lnTo>
                          <a:pt x="290" y="37"/>
                        </a:lnTo>
                        <a:lnTo>
                          <a:pt x="313" y="27"/>
                        </a:lnTo>
                        <a:lnTo>
                          <a:pt x="335" y="16"/>
                        </a:lnTo>
                        <a:lnTo>
                          <a:pt x="361" y="0"/>
                        </a:lnTo>
                        <a:lnTo>
                          <a:pt x="352" y="17"/>
                        </a:lnTo>
                        <a:lnTo>
                          <a:pt x="329" y="37"/>
                        </a:lnTo>
                        <a:lnTo>
                          <a:pt x="302" y="51"/>
                        </a:lnTo>
                        <a:lnTo>
                          <a:pt x="271" y="60"/>
                        </a:lnTo>
                        <a:lnTo>
                          <a:pt x="237" y="66"/>
                        </a:lnTo>
                        <a:lnTo>
                          <a:pt x="206" y="70"/>
                        </a:lnTo>
                        <a:lnTo>
                          <a:pt x="174" y="71"/>
                        </a:lnTo>
                        <a:lnTo>
                          <a:pt x="140" y="68"/>
                        </a:lnTo>
                        <a:lnTo>
                          <a:pt x="109" y="60"/>
                        </a:lnTo>
                        <a:lnTo>
                          <a:pt x="81" y="52"/>
                        </a:lnTo>
                        <a:lnTo>
                          <a:pt x="50" y="37"/>
                        </a:lnTo>
                        <a:lnTo>
                          <a:pt x="22" y="2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606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5" name="Freeform 327"/>
                  <p:cNvSpPr/>
                  <p:nvPr/>
                </p:nvSpPr>
                <p:spPr bwMode="auto">
                  <a:xfrm>
                    <a:off x="2725" y="3092"/>
                    <a:ext cx="35" cy="7"/>
                  </a:xfrm>
                  <a:custGeom>
                    <a:avLst/>
                    <a:gdLst>
                      <a:gd name="T0" fmla="*/ 246 w 246"/>
                      <a:gd name="T1" fmla="*/ 23 h 55"/>
                      <a:gd name="T2" fmla="*/ 205 w 246"/>
                      <a:gd name="T3" fmla="*/ 44 h 55"/>
                      <a:gd name="T4" fmla="*/ 167 w 246"/>
                      <a:gd name="T5" fmla="*/ 54 h 55"/>
                      <a:gd name="T6" fmla="*/ 130 w 246"/>
                      <a:gd name="T7" fmla="*/ 55 h 55"/>
                      <a:gd name="T8" fmla="*/ 95 w 246"/>
                      <a:gd name="T9" fmla="*/ 48 h 55"/>
                      <a:gd name="T10" fmla="*/ 61 w 246"/>
                      <a:gd name="T11" fmla="*/ 36 h 55"/>
                      <a:gd name="T12" fmla="*/ 32 w 246"/>
                      <a:gd name="T13" fmla="*/ 23 h 55"/>
                      <a:gd name="T14" fmla="*/ 0 w 246"/>
                      <a:gd name="T15" fmla="*/ 0 h 55"/>
                      <a:gd name="T16" fmla="*/ 34 w 246"/>
                      <a:gd name="T17" fmla="*/ 13 h 55"/>
                      <a:gd name="T18" fmla="*/ 60 w 246"/>
                      <a:gd name="T19" fmla="*/ 20 h 55"/>
                      <a:gd name="T20" fmla="*/ 103 w 246"/>
                      <a:gd name="T21" fmla="*/ 30 h 55"/>
                      <a:gd name="T22" fmla="*/ 131 w 246"/>
                      <a:gd name="T23" fmla="*/ 34 h 55"/>
                      <a:gd name="T24" fmla="*/ 167 w 246"/>
                      <a:gd name="T25" fmla="*/ 36 h 55"/>
                      <a:gd name="T26" fmla="*/ 206 w 246"/>
                      <a:gd name="T27" fmla="*/ 33 h 55"/>
                      <a:gd name="T28" fmla="*/ 246 w 246"/>
                      <a:gd name="T29" fmla="*/ 23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46" h="55">
                        <a:moveTo>
                          <a:pt x="246" y="23"/>
                        </a:moveTo>
                        <a:lnTo>
                          <a:pt x="205" y="44"/>
                        </a:lnTo>
                        <a:lnTo>
                          <a:pt x="167" y="54"/>
                        </a:lnTo>
                        <a:lnTo>
                          <a:pt x="130" y="55"/>
                        </a:lnTo>
                        <a:lnTo>
                          <a:pt x="95" y="48"/>
                        </a:lnTo>
                        <a:lnTo>
                          <a:pt x="61" y="36"/>
                        </a:lnTo>
                        <a:lnTo>
                          <a:pt x="32" y="23"/>
                        </a:lnTo>
                        <a:lnTo>
                          <a:pt x="0" y="0"/>
                        </a:lnTo>
                        <a:lnTo>
                          <a:pt x="34" y="13"/>
                        </a:lnTo>
                        <a:lnTo>
                          <a:pt x="60" y="20"/>
                        </a:lnTo>
                        <a:lnTo>
                          <a:pt x="103" y="30"/>
                        </a:lnTo>
                        <a:lnTo>
                          <a:pt x="131" y="34"/>
                        </a:lnTo>
                        <a:lnTo>
                          <a:pt x="167" y="36"/>
                        </a:lnTo>
                        <a:lnTo>
                          <a:pt x="206" y="33"/>
                        </a:lnTo>
                        <a:lnTo>
                          <a:pt x="246" y="23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6" name="Freeform 328"/>
                  <p:cNvSpPr/>
                  <p:nvPr/>
                </p:nvSpPr>
                <p:spPr bwMode="auto">
                  <a:xfrm>
                    <a:off x="2723" y="3078"/>
                    <a:ext cx="38" cy="16"/>
                  </a:xfrm>
                  <a:custGeom>
                    <a:avLst/>
                    <a:gdLst>
                      <a:gd name="T0" fmla="*/ 258 w 269"/>
                      <a:gd name="T1" fmla="*/ 14 h 134"/>
                      <a:gd name="T2" fmla="*/ 230 w 269"/>
                      <a:gd name="T3" fmla="*/ 20 h 134"/>
                      <a:gd name="T4" fmla="*/ 203 w 269"/>
                      <a:gd name="T5" fmla="*/ 26 h 134"/>
                      <a:gd name="T6" fmla="*/ 163 w 269"/>
                      <a:gd name="T7" fmla="*/ 30 h 134"/>
                      <a:gd name="T8" fmla="*/ 125 w 269"/>
                      <a:gd name="T9" fmla="*/ 29 h 134"/>
                      <a:gd name="T10" fmla="*/ 88 w 269"/>
                      <a:gd name="T11" fmla="*/ 24 h 134"/>
                      <a:gd name="T12" fmla="*/ 54 w 269"/>
                      <a:gd name="T13" fmla="*/ 19 h 134"/>
                      <a:gd name="T14" fmla="*/ 24 w 269"/>
                      <a:gd name="T15" fmla="*/ 12 h 134"/>
                      <a:gd name="T16" fmla="*/ 0 w 269"/>
                      <a:gd name="T17" fmla="*/ 0 h 134"/>
                      <a:gd name="T18" fmla="*/ 11 w 269"/>
                      <a:gd name="T19" fmla="*/ 24 h 134"/>
                      <a:gd name="T20" fmla="*/ 24 w 269"/>
                      <a:gd name="T21" fmla="*/ 51 h 134"/>
                      <a:gd name="T22" fmla="*/ 39 w 269"/>
                      <a:gd name="T23" fmla="*/ 75 h 134"/>
                      <a:gd name="T24" fmla="*/ 60 w 269"/>
                      <a:gd name="T25" fmla="*/ 102 h 134"/>
                      <a:gd name="T26" fmla="*/ 86 w 269"/>
                      <a:gd name="T27" fmla="*/ 120 h 134"/>
                      <a:gd name="T28" fmla="*/ 119 w 269"/>
                      <a:gd name="T29" fmla="*/ 134 h 134"/>
                      <a:gd name="T30" fmla="*/ 143 w 269"/>
                      <a:gd name="T31" fmla="*/ 129 h 134"/>
                      <a:gd name="T32" fmla="*/ 171 w 269"/>
                      <a:gd name="T33" fmla="*/ 126 h 134"/>
                      <a:gd name="T34" fmla="*/ 197 w 269"/>
                      <a:gd name="T35" fmla="*/ 127 h 134"/>
                      <a:gd name="T36" fmla="*/ 222 w 269"/>
                      <a:gd name="T37" fmla="*/ 120 h 134"/>
                      <a:gd name="T38" fmla="*/ 243 w 269"/>
                      <a:gd name="T39" fmla="*/ 113 h 134"/>
                      <a:gd name="T40" fmla="*/ 269 w 269"/>
                      <a:gd name="T41" fmla="*/ 96 h 134"/>
                      <a:gd name="T42" fmla="*/ 233 w 269"/>
                      <a:gd name="T43" fmla="*/ 90 h 134"/>
                      <a:gd name="T44" fmla="*/ 203 w 269"/>
                      <a:gd name="T45" fmla="*/ 89 h 134"/>
                      <a:gd name="T46" fmla="*/ 164 w 269"/>
                      <a:gd name="T47" fmla="*/ 94 h 134"/>
                      <a:gd name="T48" fmla="*/ 125 w 269"/>
                      <a:gd name="T49" fmla="*/ 102 h 134"/>
                      <a:gd name="T50" fmla="*/ 99 w 269"/>
                      <a:gd name="T51" fmla="*/ 74 h 134"/>
                      <a:gd name="T52" fmla="*/ 71 w 269"/>
                      <a:gd name="T53" fmla="*/ 51 h 134"/>
                      <a:gd name="T54" fmla="*/ 94 w 269"/>
                      <a:gd name="T55" fmla="*/ 57 h 134"/>
                      <a:gd name="T56" fmla="*/ 116 w 269"/>
                      <a:gd name="T57" fmla="*/ 62 h 134"/>
                      <a:gd name="T58" fmla="*/ 147 w 269"/>
                      <a:gd name="T59" fmla="*/ 66 h 134"/>
                      <a:gd name="T60" fmla="*/ 187 w 269"/>
                      <a:gd name="T61" fmla="*/ 64 h 134"/>
                      <a:gd name="T62" fmla="*/ 220 w 269"/>
                      <a:gd name="T63" fmla="*/ 59 h 134"/>
                      <a:gd name="T64" fmla="*/ 245 w 269"/>
                      <a:gd name="T65" fmla="*/ 51 h 134"/>
                      <a:gd name="T66" fmla="*/ 248 w 269"/>
                      <a:gd name="T67" fmla="*/ 32 h 134"/>
                      <a:gd name="T68" fmla="*/ 258 w 269"/>
                      <a:gd name="T69" fmla="*/ 14 h 1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269" h="134">
                        <a:moveTo>
                          <a:pt x="258" y="14"/>
                        </a:moveTo>
                        <a:lnTo>
                          <a:pt x="230" y="20"/>
                        </a:lnTo>
                        <a:lnTo>
                          <a:pt x="203" y="26"/>
                        </a:lnTo>
                        <a:lnTo>
                          <a:pt x="163" y="30"/>
                        </a:lnTo>
                        <a:lnTo>
                          <a:pt x="125" y="29"/>
                        </a:lnTo>
                        <a:lnTo>
                          <a:pt x="88" y="24"/>
                        </a:lnTo>
                        <a:lnTo>
                          <a:pt x="54" y="19"/>
                        </a:lnTo>
                        <a:lnTo>
                          <a:pt x="24" y="12"/>
                        </a:lnTo>
                        <a:lnTo>
                          <a:pt x="0" y="0"/>
                        </a:lnTo>
                        <a:lnTo>
                          <a:pt x="11" y="24"/>
                        </a:lnTo>
                        <a:lnTo>
                          <a:pt x="24" y="51"/>
                        </a:lnTo>
                        <a:lnTo>
                          <a:pt x="39" y="75"/>
                        </a:lnTo>
                        <a:lnTo>
                          <a:pt x="60" y="102"/>
                        </a:lnTo>
                        <a:lnTo>
                          <a:pt x="86" y="120"/>
                        </a:lnTo>
                        <a:lnTo>
                          <a:pt x="119" y="134"/>
                        </a:lnTo>
                        <a:lnTo>
                          <a:pt x="143" y="129"/>
                        </a:lnTo>
                        <a:lnTo>
                          <a:pt x="171" y="126"/>
                        </a:lnTo>
                        <a:lnTo>
                          <a:pt x="197" y="127"/>
                        </a:lnTo>
                        <a:lnTo>
                          <a:pt x="222" y="120"/>
                        </a:lnTo>
                        <a:lnTo>
                          <a:pt x="243" y="113"/>
                        </a:lnTo>
                        <a:lnTo>
                          <a:pt x="269" y="96"/>
                        </a:lnTo>
                        <a:lnTo>
                          <a:pt x="233" y="90"/>
                        </a:lnTo>
                        <a:lnTo>
                          <a:pt x="203" y="89"/>
                        </a:lnTo>
                        <a:lnTo>
                          <a:pt x="164" y="94"/>
                        </a:lnTo>
                        <a:lnTo>
                          <a:pt x="125" y="102"/>
                        </a:lnTo>
                        <a:lnTo>
                          <a:pt x="99" y="74"/>
                        </a:lnTo>
                        <a:lnTo>
                          <a:pt x="71" y="51"/>
                        </a:lnTo>
                        <a:lnTo>
                          <a:pt x="94" y="57"/>
                        </a:lnTo>
                        <a:lnTo>
                          <a:pt x="116" y="62"/>
                        </a:lnTo>
                        <a:lnTo>
                          <a:pt x="147" y="66"/>
                        </a:lnTo>
                        <a:lnTo>
                          <a:pt x="187" y="64"/>
                        </a:lnTo>
                        <a:lnTo>
                          <a:pt x="220" y="59"/>
                        </a:lnTo>
                        <a:lnTo>
                          <a:pt x="245" y="51"/>
                        </a:lnTo>
                        <a:lnTo>
                          <a:pt x="248" y="32"/>
                        </a:lnTo>
                        <a:lnTo>
                          <a:pt x="258" y="14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7" name="Freeform 329"/>
                  <p:cNvSpPr/>
                  <p:nvPr/>
                </p:nvSpPr>
                <p:spPr bwMode="auto">
                  <a:xfrm>
                    <a:off x="2723" y="3020"/>
                    <a:ext cx="56" cy="50"/>
                  </a:xfrm>
                  <a:custGeom>
                    <a:avLst/>
                    <a:gdLst>
                      <a:gd name="T0" fmla="*/ 0 w 391"/>
                      <a:gd name="T1" fmla="*/ 334 h 406"/>
                      <a:gd name="T2" fmla="*/ 33 w 391"/>
                      <a:gd name="T3" fmla="*/ 347 h 406"/>
                      <a:gd name="T4" fmla="*/ 65 w 391"/>
                      <a:gd name="T5" fmla="*/ 358 h 406"/>
                      <a:gd name="T6" fmla="*/ 94 w 391"/>
                      <a:gd name="T7" fmla="*/ 365 h 406"/>
                      <a:gd name="T8" fmla="*/ 130 w 391"/>
                      <a:gd name="T9" fmla="*/ 369 h 406"/>
                      <a:gd name="T10" fmla="*/ 120 w 391"/>
                      <a:gd name="T11" fmla="*/ 376 h 406"/>
                      <a:gd name="T12" fmla="*/ 108 w 391"/>
                      <a:gd name="T13" fmla="*/ 387 h 406"/>
                      <a:gd name="T14" fmla="*/ 94 w 391"/>
                      <a:gd name="T15" fmla="*/ 394 h 406"/>
                      <a:gd name="T16" fmla="*/ 116 w 391"/>
                      <a:gd name="T17" fmla="*/ 401 h 406"/>
                      <a:gd name="T18" fmla="*/ 145 w 391"/>
                      <a:gd name="T19" fmla="*/ 406 h 406"/>
                      <a:gd name="T20" fmla="*/ 178 w 391"/>
                      <a:gd name="T21" fmla="*/ 403 h 406"/>
                      <a:gd name="T22" fmla="*/ 207 w 391"/>
                      <a:gd name="T23" fmla="*/ 394 h 406"/>
                      <a:gd name="T24" fmla="*/ 243 w 391"/>
                      <a:gd name="T25" fmla="*/ 375 h 406"/>
                      <a:gd name="T26" fmla="*/ 308 w 391"/>
                      <a:gd name="T27" fmla="*/ 369 h 406"/>
                      <a:gd name="T28" fmla="*/ 361 w 391"/>
                      <a:gd name="T29" fmla="*/ 369 h 406"/>
                      <a:gd name="T30" fmla="*/ 391 w 391"/>
                      <a:gd name="T31" fmla="*/ 369 h 406"/>
                      <a:gd name="T32" fmla="*/ 391 w 391"/>
                      <a:gd name="T33" fmla="*/ 327 h 406"/>
                      <a:gd name="T34" fmla="*/ 380 w 391"/>
                      <a:gd name="T35" fmla="*/ 260 h 406"/>
                      <a:gd name="T36" fmla="*/ 385 w 391"/>
                      <a:gd name="T37" fmla="*/ 145 h 406"/>
                      <a:gd name="T38" fmla="*/ 368 w 391"/>
                      <a:gd name="T39" fmla="*/ 55 h 406"/>
                      <a:gd name="T40" fmla="*/ 352 w 391"/>
                      <a:gd name="T41" fmla="*/ 27 h 406"/>
                      <a:gd name="T42" fmla="*/ 333 w 391"/>
                      <a:gd name="T43" fmla="*/ 0 h 406"/>
                      <a:gd name="T44" fmla="*/ 326 w 391"/>
                      <a:gd name="T45" fmla="*/ 42 h 406"/>
                      <a:gd name="T46" fmla="*/ 318 w 391"/>
                      <a:gd name="T47" fmla="*/ 97 h 406"/>
                      <a:gd name="T48" fmla="*/ 315 w 391"/>
                      <a:gd name="T49" fmla="*/ 143 h 406"/>
                      <a:gd name="T50" fmla="*/ 320 w 391"/>
                      <a:gd name="T51" fmla="*/ 193 h 406"/>
                      <a:gd name="T52" fmla="*/ 296 w 391"/>
                      <a:gd name="T53" fmla="*/ 290 h 406"/>
                      <a:gd name="T54" fmla="*/ 273 w 391"/>
                      <a:gd name="T55" fmla="*/ 327 h 406"/>
                      <a:gd name="T56" fmla="*/ 246 w 391"/>
                      <a:gd name="T57" fmla="*/ 329 h 406"/>
                      <a:gd name="T58" fmla="*/ 221 w 391"/>
                      <a:gd name="T59" fmla="*/ 331 h 406"/>
                      <a:gd name="T60" fmla="*/ 189 w 391"/>
                      <a:gd name="T61" fmla="*/ 338 h 406"/>
                      <a:gd name="T62" fmla="*/ 160 w 391"/>
                      <a:gd name="T63" fmla="*/ 345 h 406"/>
                      <a:gd name="T64" fmla="*/ 128 w 391"/>
                      <a:gd name="T65" fmla="*/ 333 h 406"/>
                      <a:gd name="T66" fmla="*/ 100 w 391"/>
                      <a:gd name="T67" fmla="*/ 327 h 406"/>
                      <a:gd name="T68" fmla="*/ 62 w 391"/>
                      <a:gd name="T69" fmla="*/ 325 h 406"/>
                      <a:gd name="T70" fmla="*/ 33 w 391"/>
                      <a:gd name="T71" fmla="*/ 328 h 406"/>
                      <a:gd name="T72" fmla="*/ 0 w 391"/>
                      <a:gd name="T73" fmla="*/ 334 h 4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391" h="406">
                        <a:moveTo>
                          <a:pt x="0" y="334"/>
                        </a:moveTo>
                        <a:lnTo>
                          <a:pt x="33" y="347"/>
                        </a:lnTo>
                        <a:lnTo>
                          <a:pt x="65" y="358"/>
                        </a:lnTo>
                        <a:lnTo>
                          <a:pt x="94" y="365"/>
                        </a:lnTo>
                        <a:lnTo>
                          <a:pt x="130" y="369"/>
                        </a:lnTo>
                        <a:lnTo>
                          <a:pt x="120" y="376"/>
                        </a:lnTo>
                        <a:lnTo>
                          <a:pt x="108" y="387"/>
                        </a:lnTo>
                        <a:lnTo>
                          <a:pt x="94" y="394"/>
                        </a:lnTo>
                        <a:lnTo>
                          <a:pt x="116" y="401"/>
                        </a:lnTo>
                        <a:lnTo>
                          <a:pt x="145" y="406"/>
                        </a:lnTo>
                        <a:lnTo>
                          <a:pt x="178" y="403"/>
                        </a:lnTo>
                        <a:lnTo>
                          <a:pt x="207" y="394"/>
                        </a:lnTo>
                        <a:lnTo>
                          <a:pt x="243" y="375"/>
                        </a:lnTo>
                        <a:lnTo>
                          <a:pt x="308" y="369"/>
                        </a:lnTo>
                        <a:lnTo>
                          <a:pt x="361" y="369"/>
                        </a:lnTo>
                        <a:lnTo>
                          <a:pt x="391" y="369"/>
                        </a:lnTo>
                        <a:lnTo>
                          <a:pt x="391" y="327"/>
                        </a:lnTo>
                        <a:lnTo>
                          <a:pt x="380" y="260"/>
                        </a:lnTo>
                        <a:lnTo>
                          <a:pt x="385" y="145"/>
                        </a:lnTo>
                        <a:lnTo>
                          <a:pt x="368" y="55"/>
                        </a:lnTo>
                        <a:lnTo>
                          <a:pt x="352" y="27"/>
                        </a:lnTo>
                        <a:lnTo>
                          <a:pt x="333" y="0"/>
                        </a:lnTo>
                        <a:lnTo>
                          <a:pt x="326" y="42"/>
                        </a:lnTo>
                        <a:lnTo>
                          <a:pt x="318" y="97"/>
                        </a:lnTo>
                        <a:lnTo>
                          <a:pt x="315" y="143"/>
                        </a:lnTo>
                        <a:lnTo>
                          <a:pt x="320" y="193"/>
                        </a:lnTo>
                        <a:lnTo>
                          <a:pt x="296" y="290"/>
                        </a:lnTo>
                        <a:lnTo>
                          <a:pt x="273" y="327"/>
                        </a:lnTo>
                        <a:lnTo>
                          <a:pt x="246" y="329"/>
                        </a:lnTo>
                        <a:lnTo>
                          <a:pt x="221" y="331"/>
                        </a:lnTo>
                        <a:lnTo>
                          <a:pt x="189" y="338"/>
                        </a:lnTo>
                        <a:lnTo>
                          <a:pt x="160" y="345"/>
                        </a:lnTo>
                        <a:lnTo>
                          <a:pt x="128" y="333"/>
                        </a:lnTo>
                        <a:lnTo>
                          <a:pt x="100" y="327"/>
                        </a:lnTo>
                        <a:lnTo>
                          <a:pt x="62" y="325"/>
                        </a:lnTo>
                        <a:lnTo>
                          <a:pt x="33" y="328"/>
                        </a:lnTo>
                        <a:lnTo>
                          <a:pt x="0" y="334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8" name="Freeform 330"/>
                  <p:cNvSpPr/>
                  <p:nvPr/>
                </p:nvSpPr>
                <p:spPr bwMode="auto">
                  <a:xfrm>
                    <a:off x="2725" y="3011"/>
                    <a:ext cx="39" cy="44"/>
                  </a:xfrm>
                  <a:custGeom>
                    <a:avLst/>
                    <a:gdLst>
                      <a:gd name="T0" fmla="*/ 272 w 273"/>
                      <a:gd name="T1" fmla="*/ 0 h 346"/>
                      <a:gd name="T2" fmla="*/ 273 w 273"/>
                      <a:gd name="T3" fmla="*/ 33 h 346"/>
                      <a:gd name="T4" fmla="*/ 271 w 273"/>
                      <a:gd name="T5" fmla="*/ 60 h 346"/>
                      <a:gd name="T6" fmla="*/ 264 w 273"/>
                      <a:gd name="T7" fmla="*/ 94 h 346"/>
                      <a:gd name="T8" fmla="*/ 254 w 273"/>
                      <a:gd name="T9" fmla="*/ 128 h 346"/>
                      <a:gd name="T10" fmla="*/ 239 w 273"/>
                      <a:gd name="T11" fmla="*/ 163 h 346"/>
                      <a:gd name="T12" fmla="*/ 212 w 273"/>
                      <a:gd name="T13" fmla="*/ 196 h 346"/>
                      <a:gd name="T14" fmla="*/ 182 w 273"/>
                      <a:gd name="T15" fmla="*/ 219 h 346"/>
                      <a:gd name="T16" fmla="*/ 145 w 273"/>
                      <a:gd name="T17" fmla="*/ 247 h 346"/>
                      <a:gd name="T18" fmla="*/ 106 w 273"/>
                      <a:gd name="T19" fmla="*/ 267 h 346"/>
                      <a:gd name="T20" fmla="*/ 84 w 273"/>
                      <a:gd name="T21" fmla="*/ 290 h 346"/>
                      <a:gd name="T22" fmla="*/ 58 w 273"/>
                      <a:gd name="T23" fmla="*/ 310 h 346"/>
                      <a:gd name="T24" fmla="*/ 32 w 273"/>
                      <a:gd name="T25" fmla="*/ 329 h 346"/>
                      <a:gd name="T26" fmla="*/ 0 w 273"/>
                      <a:gd name="T27" fmla="*/ 346 h 346"/>
                      <a:gd name="T28" fmla="*/ 16 w 273"/>
                      <a:gd name="T29" fmla="*/ 317 h 346"/>
                      <a:gd name="T30" fmla="*/ 38 w 273"/>
                      <a:gd name="T31" fmla="*/ 289 h 346"/>
                      <a:gd name="T32" fmla="*/ 60 w 273"/>
                      <a:gd name="T33" fmla="*/ 270 h 346"/>
                      <a:gd name="T34" fmla="*/ 80 w 273"/>
                      <a:gd name="T35" fmla="*/ 243 h 346"/>
                      <a:gd name="T36" fmla="*/ 106 w 273"/>
                      <a:gd name="T37" fmla="*/ 218 h 346"/>
                      <a:gd name="T38" fmla="*/ 132 w 273"/>
                      <a:gd name="T39" fmla="*/ 197 h 346"/>
                      <a:gd name="T40" fmla="*/ 152 w 273"/>
                      <a:gd name="T41" fmla="*/ 173 h 346"/>
                      <a:gd name="T42" fmla="*/ 167 w 273"/>
                      <a:gd name="T43" fmla="*/ 151 h 346"/>
                      <a:gd name="T44" fmla="*/ 193 w 273"/>
                      <a:gd name="T45" fmla="*/ 136 h 346"/>
                      <a:gd name="T46" fmla="*/ 214 w 273"/>
                      <a:gd name="T47" fmla="*/ 122 h 346"/>
                      <a:gd name="T48" fmla="*/ 233 w 273"/>
                      <a:gd name="T49" fmla="*/ 95 h 346"/>
                      <a:gd name="T50" fmla="*/ 249 w 273"/>
                      <a:gd name="T51" fmla="*/ 63 h 346"/>
                      <a:gd name="T52" fmla="*/ 260 w 273"/>
                      <a:gd name="T53" fmla="*/ 36 h 346"/>
                      <a:gd name="T54" fmla="*/ 272 w 273"/>
                      <a:gd name="T55" fmla="*/ 0 h 3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273" h="346">
                        <a:moveTo>
                          <a:pt x="272" y="0"/>
                        </a:moveTo>
                        <a:lnTo>
                          <a:pt x="273" y="33"/>
                        </a:lnTo>
                        <a:lnTo>
                          <a:pt x="271" y="60"/>
                        </a:lnTo>
                        <a:lnTo>
                          <a:pt x="264" y="94"/>
                        </a:lnTo>
                        <a:lnTo>
                          <a:pt x="254" y="128"/>
                        </a:lnTo>
                        <a:lnTo>
                          <a:pt x="239" y="163"/>
                        </a:lnTo>
                        <a:lnTo>
                          <a:pt x="212" y="196"/>
                        </a:lnTo>
                        <a:lnTo>
                          <a:pt x="182" y="219"/>
                        </a:lnTo>
                        <a:lnTo>
                          <a:pt x="145" y="247"/>
                        </a:lnTo>
                        <a:lnTo>
                          <a:pt x="106" y="267"/>
                        </a:lnTo>
                        <a:lnTo>
                          <a:pt x="84" y="290"/>
                        </a:lnTo>
                        <a:lnTo>
                          <a:pt x="58" y="310"/>
                        </a:lnTo>
                        <a:lnTo>
                          <a:pt x="32" y="329"/>
                        </a:lnTo>
                        <a:lnTo>
                          <a:pt x="0" y="346"/>
                        </a:lnTo>
                        <a:lnTo>
                          <a:pt x="16" y="317"/>
                        </a:lnTo>
                        <a:lnTo>
                          <a:pt x="38" y="289"/>
                        </a:lnTo>
                        <a:lnTo>
                          <a:pt x="60" y="270"/>
                        </a:lnTo>
                        <a:lnTo>
                          <a:pt x="80" y="243"/>
                        </a:lnTo>
                        <a:lnTo>
                          <a:pt x="106" y="218"/>
                        </a:lnTo>
                        <a:lnTo>
                          <a:pt x="132" y="197"/>
                        </a:lnTo>
                        <a:lnTo>
                          <a:pt x="152" y="173"/>
                        </a:lnTo>
                        <a:lnTo>
                          <a:pt x="167" y="151"/>
                        </a:lnTo>
                        <a:lnTo>
                          <a:pt x="193" y="136"/>
                        </a:lnTo>
                        <a:lnTo>
                          <a:pt x="214" y="122"/>
                        </a:lnTo>
                        <a:lnTo>
                          <a:pt x="233" y="95"/>
                        </a:lnTo>
                        <a:lnTo>
                          <a:pt x="249" y="63"/>
                        </a:lnTo>
                        <a:lnTo>
                          <a:pt x="260" y="36"/>
                        </a:lnTo>
                        <a:lnTo>
                          <a:pt x="272" y="0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79" name="Freeform 331"/>
                  <p:cNvSpPr/>
                  <p:nvPr/>
                </p:nvSpPr>
                <p:spPr bwMode="auto">
                  <a:xfrm>
                    <a:off x="2729" y="3006"/>
                    <a:ext cx="27" cy="41"/>
                  </a:xfrm>
                  <a:custGeom>
                    <a:avLst/>
                    <a:gdLst>
                      <a:gd name="T0" fmla="*/ 5 w 192"/>
                      <a:gd name="T1" fmla="*/ 328 h 328"/>
                      <a:gd name="T2" fmla="*/ 15 w 192"/>
                      <a:gd name="T3" fmla="*/ 303 h 328"/>
                      <a:gd name="T4" fmla="*/ 19 w 192"/>
                      <a:gd name="T5" fmla="*/ 286 h 328"/>
                      <a:gd name="T6" fmla="*/ 19 w 192"/>
                      <a:gd name="T7" fmla="*/ 266 h 328"/>
                      <a:gd name="T8" fmla="*/ 34 w 192"/>
                      <a:gd name="T9" fmla="*/ 263 h 328"/>
                      <a:gd name="T10" fmla="*/ 48 w 192"/>
                      <a:gd name="T11" fmla="*/ 255 h 328"/>
                      <a:gd name="T12" fmla="*/ 68 w 192"/>
                      <a:gd name="T13" fmla="*/ 229 h 328"/>
                      <a:gd name="T14" fmla="*/ 86 w 192"/>
                      <a:gd name="T15" fmla="*/ 201 h 328"/>
                      <a:gd name="T16" fmla="*/ 132 w 192"/>
                      <a:gd name="T17" fmla="*/ 121 h 328"/>
                      <a:gd name="T18" fmla="*/ 167 w 192"/>
                      <a:gd name="T19" fmla="*/ 77 h 328"/>
                      <a:gd name="T20" fmla="*/ 184 w 192"/>
                      <a:gd name="T21" fmla="*/ 48 h 328"/>
                      <a:gd name="T22" fmla="*/ 191 w 192"/>
                      <a:gd name="T23" fmla="*/ 31 h 328"/>
                      <a:gd name="T24" fmla="*/ 192 w 192"/>
                      <a:gd name="T25" fmla="*/ 16 h 328"/>
                      <a:gd name="T26" fmla="*/ 186 w 192"/>
                      <a:gd name="T27" fmla="*/ 5 h 328"/>
                      <a:gd name="T28" fmla="*/ 172 w 192"/>
                      <a:gd name="T29" fmla="*/ 0 h 328"/>
                      <a:gd name="T30" fmla="*/ 153 w 192"/>
                      <a:gd name="T31" fmla="*/ 5 h 328"/>
                      <a:gd name="T32" fmla="*/ 139 w 192"/>
                      <a:gd name="T33" fmla="*/ 17 h 328"/>
                      <a:gd name="T34" fmla="*/ 119 w 192"/>
                      <a:gd name="T35" fmla="*/ 54 h 328"/>
                      <a:gd name="T36" fmla="*/ 97 w 192"/>
                      <a:gd name="T37" fmla="*/ 95 h 328"/>
                      <a:gd name="T38" fmla="*/ 73 w 192"/>
                      <a:gd name="T39" fmla="*/ 149 h 328"/>
                      <a:gd name="T40" fmla="*/ 53 w 192"/>
                      <a:gd name="T41" fmla="*/ 188 h 328"/>
                      <a:gd name="T42" fmla="*/ 35 w 192"/>
                      <a:gd name="T43" fmla="*/ 220 h 328"/>
                      <a:gd name="T44" fmla="*/ 21 w 192"/>
                      <a:gd name="T45" fmla="*/ 240 h 328"/>
                      <a:gd name="T46" fmla="*/ 0 w 192"/>
                      <a:gd name="T47" fmla="*/ 255 h 328"/>
                      <a:gd name="T48" fmla="*/ 5 w 192"/>
                      <a:gd name="T49" fmla="*/ 276 h 328"/>
                      <a:gd name="T50" fmla="*/ 6 w 192"/>
                      <a:gd name="T51" fmla="*/ 297 h 328"/>
                      <a:gd name="T52" fmla="*/ 5 w 192"/>
                      <a:gd name="T53" fmla="*/ 328 h 3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192" h="328">
                        <a:moveTo>
                          <a:pt x="5" y="328"/>
                        </a:moveTo>
                        <a:lnTo>
                          <a:pt x="15" y="303"/>
                        </a:lnTo>
                        <a:lnTo>
                          <a:pt x="19" y="286"/>
                        </a:lnTo>
                        <a:lnTo>
                          <a:pt x="19" y="266"/>
                        </a:lnTo>
                        <a:lnTo>
                          <a:pt x="34" y="263"/>
                        </a:lnTo>
                        <a:lnTo>
                          <a:pt x="48" y="255"/>
                        </a:lnTo>
                        <a:lnTo>
                          <a:pt x="68" y="229"/>
                        </a:lnTo>
                        <a:lnTo>
                          <a:pt x="86" y="201"/>
                        </a:lnTo>
                        <a:lnTo>
                          <a:pt x="132" y="121"/>
                        </a:lnTo>
                        <a:lnTo>
                          <a:pt x="167" y="77"/>
                        </a:lnTo>
                        <a:lnTo>
                          <a:pt x="184" y="48"/>
                        </a:lnTo>
                        <a:lnTo>
                          <a:pt x="191" y="31"/>
                        </a:lnTo>
                        <a:lnTo>
                          <a:pt x="192" y="16"/>
                        </a:lnTo>
                        <a:lnTo>
                          <a:pt x="186" y="5"/>
                        </a:lnTo>
                        <a:lnTo>
                          <a:pt x="172" y="0"/>
                        </a:lnTo>
                        <a:lnTo>
                          <a:pt x="153" y="5"/>
                        </a:lnTo>
                        <a:lnTo>
                          <a:pt x="139" y="17"/>
                        </a:lnTo>
                        <a:lnTo>
                          <a:pt x="119" y="54"/>
                        </a:lnTo>
                        <a:lnTo>
                          <a:pt x="97" y="95"/>
                        </a:lnTo>
                        <a:lnTo>
                          <a:pt x="73" y="149"/>
                        </a:lnTo>
                        <a:lnTo>
                          <a:pt x="53" y="188"/>
                        </a:lnTo>
                        <a:lnTo>
                          <a:pt x="35" y="220"/>
                        </a:lnTo>
                        <a:lnTo>
                          <a:pt x="21" y="240"/>
                        </a:lnTo>
                        <a:lnTo>
                          <a:pt x="0" y="255"/>
                        </a:lnTo>
                        <a:lnTo>
                          <a:pt x="5" y="276"/>
                        </a:lnTo>
                        <a:lnTo>
                          <a:pt x="6" y="297"/>
                        </a:lnTo>
                        <a:lnTo>
                          <a:pt x="5" y="328"/>
                        </a:lnTo>
                        <a:close/>
                      </a:path>
                    </a:pathLst>
                  </a:custGeom>
                  <a:solidFill>
                    <a:srgbClr val="808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80" name="Freeform 332"/>
                  <p:cNvSpPr/>
                  <p:nvPr/>
                </p:nvSpPr>
                <p:spPr bwMode="auto">
                  <a:xfrm>
                    <a:off x="2786" y="3048"/>
                    <a:ext cx="22" cy="20"/>
                  </a:xfrm>
                  <a:custGeom>
                    <a:avLst/>
                    <a:gdLst>
                      <a:gd name="T0" fmla="*/ 0 w 155"/>
                      <a:gd name="T1" fmla="*/ 0 h 163"/>
                      <a:gd name="T2" fmla="*/ 36 w 155"/>
                      <a:gd name="T3" fmla="*/ 38 h 163"/>
                      <a:gd name="T4" fmla="*/ 57 w 155"/>
                      <a:gd name="T5" fmla="*/ 60 h 163"/>
                      <a:gd name="T6" fmla="*/ 81 w 155"/>
                      <a:gd name="T7" fmla="*/ 99 h 163"/>
                      <a:gd name="T8" fmla="*/ 108 w 155"/>
                      <a:gd name="T9" fmla="*/ 124 h 163"/>
                      <a:gd name="T10" fmla="*/ 155 w 155"/>
                      <a:gd name="T11" fmla="*/ 163 h 163"/>
                      <a:gd name="T12" fmla="*/ 84 w 155"/>
                      <a:gd name="T13" fmla="*/ 69 h 163"/>
                      <a:gd name="T14" fmla="*/ 0 w 155"/>
                      <a:gd name="T15" fmla="*/ 0 h 1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55" h="163">
                        <a:moveTo>
                          <a:pt x="0" y="0"/>
                        </a:moveTo>
                        <a:lnTo>
                          <a:pt x="36" y="38"/>
                        </a:lnTo>
                        <a:lnTo>
                          <a:pt x="57" y="60"/>
                        </a:lnTo>
                        <a:lnTo>
                          <a:pt x="81" y="99"/>
                        </a:lnTo>
                        <a:lnTo>
                          <a:pt x="108" y="124"/>
                        </a:lnTo>
                        <a:lnTo>
                          <a:pt x="155" y="163"/>
                        </a:lnTo>
                        <a:lnTo>
                          <a:pt x="84" y="6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81" name="Freeform 333"/>
                  <p:cNvSpPr/>
                  <p:nvPr/>
                </p:nvSpPr>
                <p:spPr bwMode="auto">
                  <a:xfrm>
                    <a:off x="2728" y="2976"/>
                    <a:ext cx="5" cy="15"/>
                  </a:xfrm>
                  <a:custGeom>
                    <a:avLst/>
                    <a:gdLst>
                      <a:gd name="T0" fmla="*/ 0 w 36"/>
                      <a:gd name="T1" fmla="*/ 0 h 121"/>
                      <a:gd name="T2" fmla="*/ 12 w 36"/>
                      <a:gd name="T3" fmla="*/ 13 h 121"/>
                      <a:gd name="T4" fmla="*/ 23 w 36"/>
                      <a:gd name="T5" fmla="*/ 34 h 121"/>
                      <a:gd name="T6" fmla="*/ 31 w 36"/>
                      <a:gd name="T7" fmla="*/ 58 h 121"/>
                      <a:gd name="T8" fmla="*/ 36 w 36"/>
                      <a:gd name="T9" fmla="*/ 94 h 121"/>
                      <a:gd name="T10" fmla="*/ 30 w 36"/>
                      <a:gd name="T11" fmla="*/ 121 h 121"/>
                      <a:gd name="T12" fmla="*/ 22 w 36"/>
                      <a:gd name="T13" fmla="*/ 66 h 121"/>
                      <a:gd name="T14" fmla="*/ 12 w 36"/>
                      <a:gd name="T15" fmla="*/ 33 h 121"/>
                      <a:gd name="T16" fmla="*/ 0 w 36"/>
                      <a:gd name="T17" fmla="*/ 0 h 1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36" h="121">
                        <a:moveTo>
                          <a:pt x="0" y="0"/>
                        </a:moveTo>
                        <a:lnTo>
                          <a:pt x="12" y="13"/>
                        </a:lnTo>
                        <a:lnTo>
                          <a:pt x="23" y="34"/>
                        </a:lnTo>
                        <a:lnTo>
                          <a:pt x="31" y="58"/>
                        </a:lnTo>
                        <a:lnTo>
                          <a:pt x="36" y="94"/>
                        </a:lnTo>
                        <a:lnTo>
                          <a:pt x="30" y="121"/>
                        </a:lnTo>
                        <a:lnTo>
                          <a:pt x="22" y="66"/>
                        </a:lnTo>
                        <a:lnTo>
                          <a:pt x="12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C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82" name="Freeform 334"/>
                  <p:cNvSpPr/>
                  <p:nvPr/>
                </p:nvSpPr>
                <p:spPr bwMode="auto">
                  <a:xfrm>
                    <a:off x="2737" y="3011"/>
                    <a:ext cx="45" cy="64"/>
                  </a:xfrm>
                  <a:custGeom>
                    <a:avLst/>
                    <a:gdLst>
                      <a:gd name="T0" fmla="*/ 0 w 317"/>
                      <a:gd name="T1" fmla="*/ 490 h 513"/>
                      <a:gd name="T2" fmla="*/ 41 w 317"/>
                      <a:gd name="T3" fmla="*/ 465 h 513"/>
                      <a:gd name="T4" fmla="*/ 84 w 317"/>
                      <a:gd name="T5" fmla="*/ 465 h 513"/>
                      <a:gd name="T6" fmla="*/ 125 w 317"/>
                      <a:gd name="T7" fmla="*/ 471 h 513"/>
                      <a:gd name="T8" fmla="*/ 134 w 317"/>
                      <a:gd name="T9" fmla="*/ 456 h 513"/>
                      <a:gd name="T10" fmla="*/ 154 w 317"/>
                      <a:gd name="T11" fmla="*/ 443 h 513"/>
                      <a:gd name="T12" fmla="*/ 183 w 317"/>
                      <a:gd name="T13" fmla="*/ 436 h 513"/>
                      <a:gd name="T14" fmla="*/ 209 w 317"/>
                      <a:gd name="T15" fmla="*/ 434 h 513"/>
                      <a:gd name="T16" fmla="*/ 238 w 317"/>
                      <a:gd name="T17" fmla="*/ 435 h 513"/>
                      <a:gd name="T18" fmla="*/ 269 w 317"/>
                      <a:gd name="T19" fmla="*/ 441 h 513"/>
                      <a:gd name="T20" fmla="*/ 286 w 317"/>
                      <a:gd name="T21" fmla="*/ 416 h 513"/>
                      <a:gd name="T22" fmla="*/ 282 w 317"/>
                      <a:gd name="T23" fmla="*/ 365 h 513"/>
                      <a:gd name="T24" fmla="*/ 280 w 317"/>
                      <a:gd name="T25" fmla="*/ 317 h 513"/>
                      <a:gd name="T26" fmla="*/ 282 w 317"/>
                      <a:gd name="T27" fmla="*/ 266 h 513"/>
                      <a:gd name="T28" fmla="*/ 285 w 317"/>
                      <a:gd name="T29" fmla="*/ 240 h 513"/>
                      <a:gd name="T30" fmla="*/ 284 w 317"/>
                      <a:gd name="T31" fmla="*/ 208 h 513"/>
                      <a:gd name="T32" fmla="*/ 275 w 317"/>
                      <a:gd name="T33" fmla="*/ 163 h 513"/>
                      <a:gd name="T34" fmla="*/ 263 w 317"/>
                      <a:gd name="T35" fmla="*/ 100 h 513"/>
                      <a:gd name="T36" fmla="*/ 258 w 317"/>
                      <a:gd name="T37" fmla="*/ 61 h 513"/>
                      <a:gd name="T38" fmla="*/ 251 w 317"/>
                      <a:gd name="T39" fmla="*/ 0 h 513"/>
                      <a:gd name="T40" fmla="*/ 273 w 317"/>
                      <a:gd name="T41" fmla="*/ 45 h 513"/>
                      <a:gd name="T42" fmla="*/ 286 w 317"/>
                      <a:gd name="T43" fmla="*/ 79 h 513"/>
                      <a:gd name="T44" fmla="*/ 298 w 317"/>
                      <a:gd name="T45" fmla="*/ 71 h 513"/>
                      <a:gd name="T46" fmla="*/ 311 w 317"/>
                      <a:gd name="T47" fmla="*/ 49 h 513"/>
                      <a:gd name="T48" fmla="*/ 314 w 317"/>
                      <a:gd name="T49" fmla="*/ 72 h 513"/>
                      <a:gd name="T50" fmla="*/ 310 w 317"/>
                      <a:gd name="T51" fmla="*/ 109 h 513"/>
                      <a:gd name="T52" fmla="*/ 305 w 317"/>
                      <a:gd name="T53" fmla="*/ 139 h 513"/>
                      <a:gd name="T54" fmla="*/ 303 w 317"/>
                      <a:gd name="T55" fmla="*/ 184 h 513"/>
                      <a:gd name="T56" fmla="*/ 305 w 317"/>
                      <a:gd name="T57" fmla="*/ 230 h 513"/>
                      <a:gd name="T58" fmla="*/ 317 w 317"/>
                      <a:gd name="T59" fmla="*/ 362 h 513"/>
                      <a:gd name="T60" fmla="*/ 311 w 317"/>
                      <a:gd name="T61" fmla="*/ 430 h 513"/>
                      <a:gd name="T62" fmla="*/ 300 w 317"/>
                      <a:gd name="T63" fmla="*/ 455 h 513"/>
                      <a:gd name="T64" fmla="*/ 281 w 317"/>
                      <a:gd name="T65" fmla="*/ 477 h 513"/>
                      <a:gd name="T66" fmla="*/ 260 w 317"/>
                      <a:gd name="T67" fmla="*/ 492 h 513"/>
                      <a:gd name="T68" fmla="*/ 239 w 317"/>
                      <a:gd name="T69" fmla="*/ 502 h 513"/>
                      <a:gd name="T70" fmla="*/ 208 w 317"/>
                      <a:gd name="T71" fmla="*/ 509 h 513"/>
                      <a:gd name="T72" fmla="*/ 180 w 317"/>
                      <a:gd name="T73" fmla="*/ 513 h 513"/>
                      <a:gd name="T74" fmla="*/ 151 w 317"/>
                      <a:gd name="T75" fmla="*/ 504 h 513"/>
                      <a:gd name="T76" fmla="*/ 117 w 317"/>
                      <a:gd name="T77" fmla="*/ 497 h 513"/>
                      <a:gd name="T78" fmla="*/ 78 w 317"/>
                      <a:gd name="T79" fmla="*/ 496 h 513"/>
                      <a:gd name="T80" fmla="*/ 0 w 317"/>
                      <a:gd name="T81" fmla="*/ 490 h 5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317" h="513">
                        <a:moveTo>
                          <a:pt x="0" y="490"/>
                        </a:moveTo>
                        <a:lnTo>
                          <a:pt x="41" y="465"/>
                        </a:lnTo>
                        <a:lnTo>
                          <a:pt x="84" y="465"/>
                        </a:lnTo>
                        <a:lnTo>
                          <a:pt x="125" y="471"/>
                        </a:lnTo>
                        <a:lnTo>
                          <a:pt x="134" y="456"/>
                        </a:lnTo>
                        <a:lnTo>
                          <a:pt x="154" y="443"/>
                        </a:lnTo>
                        <a:lnTo>
                          <a:pt x="183" y="436"/>
                        </a:lnTo>
                        <a:lnTo>
                          <a:pt x="209" y="434"/>
                        </a:lnTo>
                        <a:lnTo>
                          <a:pt x="238" y="435"/>
                        </a:lnTo>
                        <a:lnTo>
                          <a:pt x="269" y="441"/>
                        </a:lnTo>
                        <a:lnTo>
                          <a:pt x="286" y="416"/>
                        </a:lnTo>
                        <a:lnTo>
                          <a:pt x="282" y="365"/>
                        </a:lnTo>
                        <a:lnTo>
                          <a:pt x="280" y="317"/>
                        </a:lnTo>
                        <a:lnTo>
                          <a:pt x="282" y="266"/>
                        </a:lnTo>
                        <a:lnTo>
                          <a:pt x="285" y="240"/>
                        </a:lnTo>
                        <a:lnTo>
                          <a:pt x="284" y="208"/>
                        </a:lnTo>
                        <a:lnTo>
                          <a:pt x="275" y="163"/>
                        </a:lnTo>
                        <a:lnTo>
                          <a:pt x="263" y="100"/>
                        </a:lnTo>
                        <a:lnTo>
                          <a:pt x="258" y="61"/>
                        </a:lnTo>
                        <a:lnTo>
                          <a:pt x="251" y="0"/>
                        </a:lnTo>
                        <a:lnTo>
                          <a:pt x="273" y="45"/>
                        </a:lnTo>
                        <a:lnTo>
                          <a:pt x="286" y="79"/>
                        </a:lnTo>
                        <a:lnTo>
                          <a:pt x="298" y="71"/>
                        </a:lnTo>
                        <a:lnTo>
                          <a:pt x="311" y="49"/>
                        </a:lnTo>
                        <a:lnTo>
                          <a:pt x="314" y="72"/>
                        </a:lnTo>
                        <a:lnTo>
                          <a:pt x="310" y="109"/>
                        </a:lnTo>
                        <a:lnTo>
                          <a:pt x="305" y="139"/>
                        </a:lnTo>
                        <a:lnTo>
                          <a:pt x="303" y="184"/>
                        </a:lnTo>
                        <a:lnTo>
                          <a:pt x="305" y="230"/>
                        </a:lnTo>
                        <a:lnTo>
                          <a:pt x="317" y="362"/>
                        </a:lnTo>
                        <a:lnTo>
                          <a:pt x="311" y="430"/>
                        </a:lnTo>
                        <a:lnTo>
                          <a:pt x="300" y="455"/>
                        </a:lnTo>
                        <a:lnTo>
                          <a:pt x="281" y="477"/>
                        </a:lnTo>
                        <a:lnTo>
                          <a:pt x="260" y="492"/>
                        </a:lnTo>
                        <a:lnTo>
                          <a:pt x="239" y="502"/>
                        </a:lnTo>
                        <a:lnTo>
                          <a:pt x="208" y="509"/>
                        </a:lnTo>
                        <a:lnTo>
                          <a:pt x="180" y="513"/>
                        </a:lnTo>
                        <a:lnTo>
                          <a:pt x="151" y="504"/>
                        </a:lnTo>
                        <a:lnTo>
                          <a:pt x="117" y="497"/>
                        </a:lnTo>
                        <a:lnTo>
                          <a:pt x="78" y="496"/>
                        </a:lnTo>
                        <a:lnTo>
                          <a:pt x="0" y="490"/>
                        </a:lnTo>
                        <a:close/>
                      </a:path>
                    </a:pathLst>
                  </a:custGeom>
                  <a:solidFill>
                    <a:srgbClr val="C0C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383" name="Freeform 335"/>
                  <p:cNvSpPr/>
                  <p:nvPr/>
                </p:nvSpPr>
                <p:spPr bwMode="auto">
                  <a:xfrm>
                    <a:off x="2737" y="3072"/>
                    <a:ext cx="34" cy="39"/>
                  </a:xfrm>
                  <a:custGeom>
                    <a:avLst/>
                    <a:gdLst>
                      <a:gd name="T0" fmla="*/ 0 w 241"/>
                      <a:gd name="T1" fmla="*/ 49 h 312"/>
                      <a:gd name="T2" fmla="*/ 22 w 241"/>
                      <a:gd name="T3" fmla="*/ 45 h 312"/>
                      <a:gd name="T4" fmla="*/ 36 w 241"/>
                      <a:gd name="T5" fmla="*/ 37 h 312"/>
                      <a:gd name="T6" fmla="*/ 71 w 241"/>
                      <a:gd name="T7" fmla="*/ 41 h 312"/>
                      <a:gd name="T8" fmla="*/ 104 w 241"/>
                      <a:gd name="T9" fmla="*/ 43 h 312"/>
                      <a:gd name="T10" fmla="*/ 138 w 241"/>
                      <a:gd name="T11" fmla="*/ 41 h 312"/>
                      <a:gd name="T12" fmla="*/ 164 w 241"/>
                      <a:gd name="T13" fmla="*/ 39 h 312"/>
                      <a:gd name="T14" fmla="*/ 193 w 241"/>
                      <a:gd name="T15" fmla="*/ 32 h 312"/>
                      <a:gd name="T16" fmla="*/ 218 w 241"/>
                      <a:gd name="T17" fmla="*/ 16 h 312"/>
                      <a:gd name="T18" fmla="*/ 241 w 241"/>
                      <a:gd name="T19" fmla="*/ 0 h 312"/>
                      <a:gd name="T20" fmla="*/ 236 w 241"/>
                      <a:gd name="T21" fmla="*/ 22 h 312"/>
                      <a:gd name="T22" fmla="*/ 221 w 241"/>
                      <a:gd name="T23" fmla="*/ 44 h 312"/>
                      <a:gd name="T24" fmla="*/ 199 w 241"/>
                      <a:gd name="T25" fmla="*/ 62 h 312"/>
                      <a:gd name="T26" fmla="*/ 205 w 241"/>
                      <a:gd name="T27" fmla="*/ 86 h 312"/>
                      <a:gd name="T28" fmla="*/ 191 w 241"/>
                      <a:gd name="T29" fmla="*/ 103 h 312"/>
                      <a:gd name="T30" fmla="*/ 184 w 241"/>
                      <a:gd name="T31" fmla="*/ 120 h 312"/>
                      <a:gd name="T32" fmla="*/ 180 w 241"/>
                      <a:gd name="T33" fmla="*/ 138 h 312"/>
                      <a:gd name="T34" fmla="*/ 169 w 241"/>
                      <a:gd name="T35" fmla="*/ 154 h 312"/>
                      <a:gd name="T36" fmla="*/ 165 w 241"/>
                      <a:gd name="T37" fmla="*/ 182 h 312"/>
                      <a:gd name="T38" fmla="*/ 162 w 241"/>
                      <a:gd name="T39" fmla="*/ 200 h 312"/>
                      <a:gd name="T40" fmla="*/ 157 w 241"/>
                      <a:gd name="T41" fmla="*/ 231 h 312"/>
                      <a:gd name="T42" fmla="*/ 163 w 241"/>
                      <a:gd name="T43" fmla="*/ 264 h 312"/>
                      <a:gd name="T44" fmla="*/ 144 w 241"/>
                      <a:gd name="T45" fmla="*/ 280 h 312"/>
                      <a:gd name="T46" fmla="*/ 120 w 241"/>
                      <a:gd name="T47" fmla="*/ 295 h 312"/>
                      <a:gd name="T48" fmla="*/ 93 w 241"/>
                      <a:gd name="T49" fmla="*/ 306 h 312"/>
                      <a:gd name="T50" fmla="*/ 67 w 241"/>
                      <a:gd name="T51" fmla="*/ 312 h 312"/>
                      <a:gd name="T52" fmla="*/ 93 w 241"/>
                      <a:gd name="T53" fmla="*/ 294 h 312"/>
                      <a:gd name="T54" fmla="*/ 115 w 241"/>
                      <a:gd name="T55" fmla="*/ 274 h 312"/>
                      <a:gd name="T56" fmla="*/ 132 w 241"/>
                      <a:gd name="T57" fmla="*/ 256 h 312"/>
                      <a:gd name="T58" fmla="*/ 145 w 241"/>
                      <a:gd name="T59" fmla="*/ 234 h 312"/>
                      <a:gd name="T60" fmla="*/ 121 w 241"/>
                      <a:gd name="T61" fmla="*/ 240 h 312"/>
                      <a:gd name="T62" fmla="*/ 96 w 241"/>
                      <a:gd name="T63" fmla="*/ 241 h 312"/>
                      <a:gd name="T64" fmla="*/ 64 w 241"/>
                      <a:gd name="T65" fmla="*/ 238 h 312"/>
                      <a:gd name="T66" fmla="*/ 30 w 241"/>
                      <a:gd name="T67" fmla="*/ 234 h 312"/>
                      <a:gd name="T68" fmla="*/ 68 w 241"/>
                      <a:gd name="T69" fmla="*/ 228 h 312"/>
                      <a:gd name="T70" fmla="*/ 96 w 241"/>
                      <a:gd name="T71" fmla="*/ 220 h 312"/>
                      <a:gd name="T72" fmla="*/ 118 w 241"/>
                      <a:gd name="T73" fmla="*/ 210 h 312"/>
                      <a:gd name="T74" fmla="*/ 137 w 241"/>
                      <a:gd name="T75" fmla="*/ 196 h 312"/>
                      <a:gd name="T76" fmla="*/ 151 w 241"/>
                      <a:gd name="T77" fmla="*/ 179 h 312"/>
                      <a:gd name="T78" fmla="*/ 122 w 241"/>
                      <a:gd name="T79" fmla="*/ 174 h 312"/>
                      <a:gd name="T80" fmla="*/ 96 w 241"/>
                      <a:gd name="T81" fmla="*/ 165 h 312"/>
                      <a:gd name="T82" fmla="*/ 113 w 241"/>
                      <a:gd name="T83" fmla="*/ 150 h 312"/>
                      <a:gd name="T84" fmla="*/ 133 w 241"/>
                      <a:gd name="T85" fmla="*/ 134 h 312"/>
                      <a:gd name="T86" fmla="*/ 157 w 241"/>
                      <a:gd name="T87" fmla="*/ 120 h 312"/>
                      <a:gd name="T88" fmla="*/ 175 w 241"/>
                      <a:gd name="T89" fmla="*/ 110 h 312"/>
                      <a:gd name="T90" fmla="*/ 160 w 241"/>
                      <a:gd name="T91" fmla="*/ 104 h 312"/>
                      <a:gd name="T92" fmla="*/ 147 w 241"/>
                      <a:gd name="T93" fmla="*/ 98 h 312"/>
                      <a:gd name="T94" fmla="*/ 126 w 241"/>
                      <a:gd name="T95" fmla="*/ 92 h 312"/>
                      <a:gd name="T96" fmla="*/ 147 w 241"/>
                      <a:gd name="T97" fmla="*/ 80 h 312"/>
                      <a:gd name="T98" fmla="*/ 163 w 241"/>
                      <a:gd name="T99" fmla="*/ 68 h 312"/>
                      <a:gd name="T100" fmla="*/ 132 w 241"/>
                      <a:gd name="T101" fmla="*/ 69 h 312"/>
                      <a:gd name="T102" fmla="*/ 106 w 241"/>
                      <a:gd name="T103" fmla="*/ 68 h 312"/>
                      <a:gd name="T104" fmla="*/ 69 w 241"/>
                      <a:gd name="T105" fmla="*/ 64 h 312"/>
                      <a:gd name="T106" fmla="*/ 32 w 241"/>
                      <a:gd name="T107" fmla="*/ 57 h 312"/>
                      <a:gd name="T108" fmla="*/ 0 w 241"/>
                      <a:gd name="T109" fmla="*/ 49 h 3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241" h="312">
                        <a:moveTo>
                          <a:pt x="0" y="49"/>
                        </a:moveTo>
                        <a:lnTo>
                          <a:pt x="22" y="45"/>
                        </a:lnTo>
                        <a:lnTo>
                          <a:pt x="36" y="37"/>
                        </a:lnTo>
                        <a:lnTo>
                          <a:pt x="71" y="41"/>
                        </a:lnTo>
                        <a:lnTo>
                          <a:pt x="104" y="43"/>
                        </a:lnTo>
                        <a:lnTo>
                          <a:pt x="138" y="41"/>
                        </a:lnTo>
                        <a:lnTo>
                          <a:pt x="164" y="39"/>
                        </a:lnTo>
                        <a:lnTo>
                          <a:pt x="193" y="32"/>
                        </a:lnTo>
                        <a:lnTo>
                          <a:pt x="218" y="16"/>
                        </a:lnTo>
                        <a:lnTo>
                          <a:pt x="241" y="0"/>
                        </a:lnTo>
                        <a:lnTo>
                          <a:pt x="236" y="22"/>
                        </a:lnTo>
                        <a:lnTo>
                          <a:pt x="221" y="44"/>
                        </a:lnTo>
                        <a:lnTo>
                          <a:pt x="199" y="62"/>
                        </a:lnTo>
                        <a:lnTo>
                          <a:pt x="205" y="86"/>
                        </a:lnTo>
                        <a:lnTo>
                          <a:pt x="191" y="103"/>
                        </a:lnTo>
                        <a:lnTo>
                          <a:pt x="184" y="120"/>
                        </a:lnTo>
                        <a:lnTo>
                          <a:pt x="180" y="138"/>
                        </a:lnTo>
                        <a:lnTo>
                          <a:pt x="169" y="154"/>
                        </a:lnTo>
                        <a:lnTo>
                          <a:pt x="165" y="182"/>
                        </a:lnTo>
                        <a:lnTo>
                          <a:pt x="162" y="200"/>
                        </a:lnTo>
                        <a:lnTo>
                          <a:pt x="157" y="231"/>
                        </a:lnTo>
                        <a:lnTo>
                          <a:pt x="163" y="264"/>
                        </a:lnTo>
                        <a:lnTo>
                          <a:pt x="144" y="280"/>
                        </a:lnTo>
                        <a:lnTo>
                          <a:pt x="120" y="295"/>
                        </a:lnTo>
                        <a:lnTo>
                          <a:pt x="93" y="306"/>
                        </a:lnTo>
                        <a:lnTo>
                          <a:pt x="67" y="312"/>
                        </a:lnTo>
                        <a:lnTo>
                          <a:pt x="93" y="294"/>
                        </a:lnTo>
                        <a:lnTo>
                          <a:pt x="115" y="274"/>
                        </a:lnTo>
                        <a:lnTo>
                          <a:pt x="132" y="256"/>
                        </a:lnTo>
                        <a:lnTo>
                          <a:pt x="145" y="234"/>
                        </a:lnTo>
                        <a:lnTo>
                          <a:pt x="121" y="240"/>
                        </a:lnTo>
                        <a:lnTo>
                          <a:pt x="96" y="241"/>
                        </a:lnTo>
                        <a:lnTo>
                          <a:pt x="64" y="238"/>
                        </a:lnTo>
                        <a:lnTo>
                          <a:pt x="30" y="234"/>
                        </a:lnTo>
                        <a:lnTo>
                          <a:pt x="68" y="228"/>
                        </a:lnTo>
                        <a:lnTo>
                          <a:pt x="96" y="220"/>
                        </a:lnTo>
                        <a:lnTo>
                          <a:pt x="118" y="210"/>
                        </a:lnTo>
                        <a:lnTo>
                          <a:pt x="137" y="196"/>
                        </a:lnTo>
                        <a:lnTo>
                          <a:pt x="151" y="179"/>
                        </a:lnTo>
                        <a:lnTo>
                          <a:pt x="122" y="174"/>
                        </a:lnTo>
                        <a:lnTo>
                          <a:pt x="96" y="165"/>
                        </a:lnTo>
                        <a:lnTo>
                          <a:pt x="113" y="150"/>
                        </a:lnTo>
                        <a:lnTo>
                          <a:pt x="133" y="134"/>
                        </a:lnTo>
                        <a:lnTo>
                          <a:pt x="157" y="120"/>
                        </a:lnTo>
                        <a:lnTo>
                          <a:pt x="175" y="110"/>
                        </a:lnTo>
                        <a:lnTo>
                          <a:pt x="160" y="104"/>
                        </a:lnTo>
                        <a:lnTo>
                          <a:pt x="147" y="98"/>
                        </a:lnTo>
                        <a:lnTo>
                          <a:pt x="126" y="92"/>
                        </a:lnTo>
                        <a:lnTo>
                          <a:pt x="147" y="80"/>
                        </a:lnTo>
                        <a:lnTo>
                          <a:pt x="163" y="68"/>
                        </a:lnTo>
                        <a:lnTo>
                          <a:pt x="132" y="69"/>
                        </a:lnTo>
                        <a:lnTo>
                          <a:pt x="106" y="68"/>
                        </a:lnTo>
                        <a:lnTo>
                          <a:pt x="69" y="64"/>
                        </a:lnTo>
                        <a:lnTo>
                          <a:pt x="32" y="57"/>
                        </a:lnTo>
                        <a:lnTo>
                          <a:pt x="0" y="49"/>
                        </a:lnTo>
                        <a:close/>
                      </a:path>
                    </a:pathLst>
                  </a:custGeom>
                  <a:solidFill>
                    <a:srgbClr val="C0C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42384" name="Group 336"/>
              <p:cNvGrpSpPr/>
              <p:nvPr/>
            </p:nvGrpSpPr>
            <p:grpSpPr bwMode="auto">
              <a:xfrm>
                <a:off x="2730" y="3133"/>
                <a:ext cx="42" cy="52"/>
                <a:chOff x="2730" y="3133"/>
                <a:chExt cx="42" cy="52"/>
              </a:xfrm>
            </p:grpSpPr>
            <p:sp>
              <p:nvSpPr>
                <p:cNvPr id="642385" name="Freeform 337"/>
                <p:cNvSpPr/>
                <p:nvPr/>
              </p:nvSpPr>
              <p:spPr bwMode="auto">
                <a:xfrm>
                  <a:off x="2731" y="3133"/>
                  <a:ext cx="41" cy="52"/>
                </a:xfrm>
                <a:custGeom>
                  <a:avLst/>
                  <a:gdLst>
                    <a:gd name="T0" fmla="*/ 143 w 288"/>
                    <a:gd name="T1" fmla="*/ 18 h 416"/>
                    <a:gd name="T2" fmla="*/ 133 w 288"/>
                    <a:gd name="T3" fmla="*/ 85 h 416"/>
                    <a:gd name="T4" fmla="*/ 132 w 288"/>
                    <a:gd name="T5" fmla="*/ 117 h 416"/>
                    <a:gd name="T6" fmla="*/ 138 w 288"/>
                    <a:gd name="T7" fmla="*/ 151 h 416"/>
                    <a:gd name="T8" fmla="*/ 148 w 288"/>
                    <a:gd name="T9" fmla="*/ 167 h 416"/>
                    <a:gd name="T10" fmla="*/ 159 w 288"/>
                    <a:gd name="T11" fmla="*/ 176 h 416"/>
                    <a:gd name="T12" fmla="*/ 179 w 288"/>
                    <a:gd name="T13" fmla="*/ 186 h 416"/>
                    <a:gd name="T14" fmla="*/ 210 w 288"/>
                    <a:gd name="T15" fmla="*/ 200 h 416"/>
                    <a:gd name="T16" fmla="*/ 222 w 288"/>
                    <a:gd name="T17" fmla="*/ 208 h 416"/>
                    <a:gd name="T18" fmla="*/ 238 w 288"/>
                    <a:gd name="T19" fmla="*/ 219 h 416"/>
                    <a:gd name="T20" fmla="*/ 243 w 288"/>
                    <a:gd name="T21" fmla="*/ 227 h 416"/>
                    <a:gd name="T22" fmla="*/ 249 w 288"/>
                    <a:gd name="T23" fmla="*/ 244 h 416"/>
                    <a:gd name="T24" fmla="*/ 261 w 288"/>
                    <a:gd name="T25" fmla="*/ 252 h 416"/>
                    <a:gd name="T26" fmla="*/ 274 w 288"/>
                    <a:gd name="T27" fmla="*/ 262 h 416"/>
                    <a:gd name="T28" fmla="*/ 278 w 288"/>
                    <a:gd name="T29" fmla="*/ 275 h 416"/>
                    <a:gd name="T30" fmla="*/ 280 w 288"/>
                    <a:gd name="T31" fmla="*/ 287 h 416"/>
                    <a:gd name="T32" fmla="*/ 274 w 288"/>
                    <a:gd name="T33" fmla="*/ 306 h 416"/>
                    <a:gd name="T34" fmla="*/ 267 w 288"/>
                    <a:gd name="T35" fmla="*/ 319 h 416"/>
                    <a:gd name="T36" fmla="*/ 258 w 288"/>
                    <a:gd name="T37" fmla="*/ 330 h 416"/>
                    <a:gd name="T38" fmla="*/ 249 w 288"/>
                    <a:gd name="T39" fmla="*/ 334 h 416"/>
                    <a:gd name="T40" fmla="*/ 262 w 288"/>
                    <a:gd name="T41" fmla="*/ 345 h 416"/>
                    <a:gd name="T42" fmla="*/ 276 w 288"/>
                    <a:gd name="T43" fmla="*/ 359 h 416"/>
                    <a:gd name="T44" fmla="*/ 284 w 288"/>
                    <a:gd name="T45" fmla="*/ 374 h 416"/>
                    <a:gd name="T46" fmla="*/ 288 w 288"/>
                    <a:gd name="T47" fmla="*/ 389 h 416"/>
                    <a:gd name="T48" fmla="*/ 285 w 288"/>
                    <a:gd name="T49" fmla="*/ 403 h 416"/>
                    <a:gd name="T50" fmla="*/ 282 w 288"/>
                    <a:gd name="T51" fmla="*/ 410 h 416"/>
                    <a:gd name="T52" fmla="*/ 276 w 288"/>
                    <a:gd name="T53" fmla="*/ 416 h 416"/>
                    <a:gd name="T54" fmla="*/ 266 w 288"/>
                    <a:gd name="T55" fmla="*/ 415 h 416"/>
                    <a:gd name="T56" fmla="*/ 255 w 288"/>
                    <a:gd name="T57" fmla="*/ 401 h 416"/>
                    <a:gd name="T58" fmla="*/ 243 w 288"/>
                    <a:gd name="T59" fmla="*/ 382 h 416"/>
                    <a:gd name="T60" fmla="*/ 202 w 288"/>
                    <a:gd name="T61" fmla="*/ 352 h 416"/>
                    <a:gd name="T62" fmla="*/ 171 w 288"/>
                    <a:gd name="T63" fmla="*/ 334 h 416"/>
                    <a:gd name="T64" fmla="*/ 145 w 288"/>
                    <a:gd name="T65" fmla="*/ 325 h 416"/>
                    <a:gd name="T66" fmla="*/ 123 w 288"/>
                    <a:gd name="T67" fmla="*/ 318 h 416"/>
                    <a:gd name="T68" fmla="*/ 99 w 288"/>
                    <a:gd name="T69" fmla="*/ 309 h 416"/>
                    <a:gd name="T70" fmla="*/ 77 w 288"/>
                    <a:gd name="T71" fmla="*/ 298 h 416"/>
                    <a:gd name="T72" fmla="*/ 48 w 288"/>
                    <a:gd name="T73" fmla="*/ 280 h 416"/>
                    <a:gd name="T74" fmla="*/ 12 w 288"/>
                    <a:gd name="T75" fmla="*/ 227 h 416"/>
                    <a:gd name="T76" fmla="*/ 2 w 288"/>
                    <a:gd name="T77" fmla="*/ 195 h 416"/>
                    <a:gd name="T78" fmla="*/ 0 w 288"/>
                    <a:gd name="T79" fmla="*/ 164 h 416"/>
                    <a:gd name="T80" fmla="*/ 4 w 288"/>
                    <a:gd name="T81" fmla="*/ 131 h 416"/>
                    <a:gd name="T82" fmla="*/ 13 w 288"/>
                    <a:gd name="T83" fmla="*/ 84 h 416"/>
                    <a:gd name="T84" fmla="*/ 27 w 288"/>
                    <a:gd name="T85" fmla="*/ 0 h 416"/>
                    <a:gd name="T86" fmla="*/ 143 w 288"/>
                    <a:gd name="T87" fmla="*/ 18 h 4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88" h="416">
                      <a:moveTo>
                        <a:pt x="143" y="18"/>
                      </a:moveTo>
                      <a:lnTo>
                        <a:pt x="133" y="85"/>
                      </a:lnTo>
                      <a:lnTo>
                        <a:pt x="132" y="117"/>
                      </a:lnTo>
                      <a:lnTo>
                        <a:pt x="138" y="151"/>
                      </a:lnTo>
                      <a:lnTo>
                        <a:pt x="148" y="167"/>
                      </a:lnTo>
                      <a:lnTo>
                        <a:pt x="159" y="176"/>
                      </a:lnTo>
                      <a:lnTo>
                        <a:pt x="179" y="186"/>
                      </a:lnTo>
                      <a:lnTo>
                        <a:pt x="210" y="200"/>
                      </a:lnTo>
                      <a:lnTo>
                        <a:pt x="222" y="208"/>
                      </a:lnTo>
                      <a:lnTo>
                        <a:pt x="238" y="219"/>
                      </a:lnTo>
                      <a:lnTo>
                        <a:pt x="243" y="227"/>
                      </a:lnTo>
                      <a:lnTo>
                        <a:pt x="249" y="244"/>
                      </a:lnTo>
                      <a:lnTo>
                        <a:pt x="261" y="252"/>
                      </a:lnTo>
                      <a:lnTo>
                        <a:pt x="274" y="262"/>
                      </a:lnTo>
                      <a:lnTo>
                        <a:pt x="278" y="275"/>
                      </a:lnTo>
                      <a:lnTo>
                        <a:pt x="280" y="287"/>
                      </a:lnTo>
                      <a:lnTo>
                        <a:pt x="274" y="306"/>
                      </a:lnTo>
                      <a:lnTo>
                        <a:pt x="267" y="319"/>
                      </a:lnTo>
                      <a:lnTo>
                        <a:pt x="258" y="330"/>
                      </a:lnTo>
                      <a:lnTo>
                        <a:pt x="249" y="334"/>
                      </a:lnTo>
                      <a:lnTo>
                        <a:pt x="262" y="345"/>
                      </a:lnTo>
                      <a:lnTo>
                        <a:pt x="276" y="359"/>
                      </a:lnTo>
                      <a:lnTo>
                        <a:pt x="284" y="374"/>
                      </a:lnTo>
                      <a:lnTo>
                        <a:pt x="288" y="389"/>
                      </a:lnTo>
                      <a:lnTo>
                        <a:pt x="285" y="403"/>
                      </a:lnTo>
                      <a:lnTo>
                        <a:pt x="282" y="410"/>
                      </a:lnTo>
                      <a:lnTo>
                        <a:pt x="276" y="416"/>
                      </a:lnTo>
                      <a:lnTo>
                        <a:pt x="266" y="415"/>
                      </a:lnTo>
                      <a:lnTo>
                        <a:pt x="255" y="401"/>
                      </a:lnTo>
                      <a:lnTo>
                        <a:pt x="243" y="382"/>
                      </a:lnTo>
                      <a:lnTo>
                        <a:pt x="202" y="352"/>
                      </a:lnTo>
                      <a:lnTo>
                        <a:pt x="171" y="334"/>
                      </a:lnTo>
                      <a:lnTo>
                        <a:pt x="145" y="325"/>
                      </a:lnTo>
                      <a:lnTo>
                        <a:pt x="123" y="318"/>
                      </a:lnTo>
                      <a:lnTo>
                        <a:pt x="99" y="309"/>
                      </a:lnTo>
                      <a:lnTo>
                        <a:pt x="77" y="298"/>
                      </a:lnTo>
                      <a:lnTo>
                        <a:pt x="48" y="280"/>
                      </a:lnTo>
                      <a:lnTo>
                        <a:pt x="12" y="227"/>
                      </a:lnTo>
                      <a:lnTo>
                        <a:pt x="2" y="195"/>
                      </a:lnTo>
                      <a:lnTo>
                        <a:pt x="0" y="164"/>
                      </a:lnTo>
                      <a:lnTo>
                        <a:pt x="4" y="131"/>
                      </a:lnTo>
                      <a:lnTo>
                        <a:pt x="13" y="84"/>
                      </a:lnTo>
                      <a:lnTo>
                        <a:pt x="27" y="0"/>
                      </a:lnTo>
                      <a:lnTo>
                        <a:pt x="143" y="18"/>
                      </a:lnTo>
                      <a:close/>
                    </a:path>
                  </a:pathLst>
                </a:custGeom>
                <a:solidFill>
                  <a:srgbClr val="FFA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86" name="Freeform 338"/>
                <p:cNvSpPr/>
                <p:nvPr/>
              </p:nvSpPr>
              <p:spPr bwMode="auto">
                <a:xfrm>
                  <a:off x="2756" y="3168"/>
                  <a:ext cx="14" cy="7"/>
                </a:xfrm>
                <a:custGeom>
                  <a:avLst/>
                  <a:gdLst>
                    <a:gd name="T0" fmla="*/ 0 w 92"/>
                    <a:gd name="T1" fmla="*/ 0 h 52"/>
                    <a:gd name="T2" fmla="*/ 27 w 92"/>
                    <a:gd name="T3" fmla="*/ 12 h 52"/>
                    <a:gd name="T4" fmla="*/ 45 w 92"/>
                    <a:gd name="T5" fmla="*/ 19 h 52"/>
                    <a:gd name="T6" fmla="*/ 57 w 92"/>
                    <a:gd name="T7" fmla="*/ 18 h 52"/>
                    <a:gd name="T8" fmla="*/ 65 w 92"/>
                    <a:gd name="T9" fmla="*/ 12 h 52"/>
                    <a:gd name="T10" fmla="*/ 71 w 92"/>
                    <a:gd name="T11" fmla="*/ 16 h 52"/>
                    <a:gd name="T12" fmla="*/ 80 w 92"/>
                    <a:gd name="T13" fmla="*/ 21 h 52"/>
                    <a:gd name="T14" fmla="*/ 92 w 92"/>
                    <a:gd name="T15" fmla="*/ 22 h 52"/>
                    <a:gd name="T16" fmla="*/ 88 w 92"/>
                    <a:gd name="T17" fmla="*/ 34 h 52"/>
                    <a:gd name="T18" fmla="*/ 80 w 92"/>
                    <a:gd name="T19" fmla="*/ 46 h 52"/>
                    <a:gd name="T20" fmla="*/ 68 w 92"/>
                    <a:gd name="T21" fmla="*/ 52 h 52"/>
                    <a:gd name="T22" fmla="*/ 54 w 92"/>
                    <a:gd name="T23" fmla="*/ 38 h 52"/>
                    <a:gd name="T24" fmla="*/ 42 w 92"/>
                    <a:gd name="T25" fmla="*/ 27 h 52"/>
                    <a:gd name="T26" fmla="*/ 24 w 92"/>
                    <a:gd name="T27" fmla="*/ 16 h 52"/>
                    <a:gd name="T28" fmla="*/ 0 w 92"/>
                    <a:gd name="T29" fmla="*/ 0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2" h="52">
                      <a:moveTo>
                        <a:pt x="0" y="0"/>
                      </a:moveTo>
                      <a:lnTo>
                        <a:pt x="27" y="12"/>
                      </a:lnTo>
                      <a:lnTo>
                        <a:pt x="45" y="19"/>
                      </a:lnTo>
                      <a:lnTo>
                        <a:pt x="57" y="18"/>
                      </a:lnTo>
                      <a:lnTo>
                        <a:pt x="65" y="12"/>
                      </a:lnTo>
                      <a:lnTo>
                        <a:pt x="71" y="16"/>
                      </a:lnTo>
                      <a:lnTo>
                        <a:pt x="80" y="21"/>
                      </a:lnTo>
                      <a:lnTo>
                        <a:pt x="92" y="22"/>
                      </a:lnTo>
                      <a:lnTo>
                        <a:pt x="88" y="34"/>
                      </a:lnTo>
                      <a:lnTo>
                        <a:pt x="80" y="46"/>
                      </a:lnTo>
                      <a:lnTo>
                        <a:pt x="68" y="52"/>
                      </a:lnTo>
                      <a:lnTo>
                        <a:pt x="54" y="38"/>
                      </a:lnTo>
                      <a:lnTo>
                        <a:pt x="42" y="27"/>
                      </a:lnTo>
                      <a:lnTo>
                        <a:pt x="24" y="1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8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87" name="Freeform 339"/>
                <p:cNvSpPr/>
                <p:nvPr/>
              </p:nvSpPr>
              <p:spPr bwMode="auto">
                <a:xfrm>
                  <a:off x="2730" y="3138"/>
                  <a:ext cx="21" cy="32"/>
                </a:xfrm>
                <a:custGeom>
                  <a:avLst/>
                  <a:gdLst>
                    <a:gd name="T0" fmla="*/ 107 w 144"/>
                    <a:gd name="T1" fmla="*/ 139 h 258"/>
                    <a:gd name="T2" fmla="*/ 95 w 144"/>
                    <a:gd name="T3" fmla="*/ 119 h 258"/>
                    <a:gd name="T4" fmla="*/ 86 w 144"/>
                    <a:gd name="T5" fmla="*/ 96 h 258"/>
                    <a:gd name="T6" fmla="*/ 79 w 144"/>
                    <a:gd name="T7" fmla="*/ 73 h 258"/>
                    <a:gd name="T8" fmla="*/ 76 w 144"/>
                    <a:gd name="T9" fmla="*/ 53 h 258"/>
                    <a:gd name="T10" fmla="*/ 77 w 144"/>
                    <a:gd name="T11" fmla="*/ 40 h 258"/>
                    <a:gd name="T12" fmla="*/ 94 w 144"/>
                    <a:gd name="T13" fmla="*/ 42 h 258"/>
                    <a:gd name="T14" fmla="*/ 113 w 144"/>
                    <a:gd name="T15" fmla="*/ 39 h 258"/>
                    <a:gd name="T16" fmla="*/ 126 w 144"/>
                    <a:gd name="T17" fmla="*/ 36 h 258"/>
                    <a:gd name="T18" fmla="*/ 136 w 144"/>
                    <a:gd name="T19" fmla="*/ 32 h 258"/>
                    <a:gd name="T20" fmla="*/ 141 w 144"/>
                    <a:gd name="T21" fmla="*/ 25 h 258"/>
                    <a:gd name="T22" fmla="*/ 144 w 144"/>
                    <a:gd name="T23" fmla="*/ 7 h 258"/>
                    <a:gd name="T24" fmla="*/ 20 w 144"/>
                    <a:gd name="T25" fmla="*/ 0 h 258"/>
                    <a:gd name="T26" fmla="*/ 14 w 144"/>
                    <a:gd name="T27" fmla="*/ 37 h 258"/>
                    <a:gd name="T28" fmla="*/ 11 w 144"/>
                    <a:gd name="T29" fmla="*/ 58 h 258"/>
                    <a:gd name="T30" fmla="*/ 5 w 144"/>
                    <a:gd name="T31" fmla="*/ 83 h 258"/>
                    <a:gd name="T32" fmla="*/ 2 w 144"/>
                    <a:gd name="T33" fmla="*/ 103 h 258"/>
                    <a:gd name="T34" fmla="*/ 0 w 144"/>
                    <a:gd name="T35" fmla="*/ 124 h 258"/>
                    <a:gd name="T36" fmla="*/ 1 w 144"/>
                    <a:gd name="T37" fmla="*/ 144 h 258"/>
                    <a:gd name="T38" fmla="*/ 3 w 144"/>
                    <a:gd name="T39" fmla="*/ 159 h 258"/>
                    <a:gd name="T40" fmla="*/ 6 w 144"/>
                    <a:gd name="T41" fmla="*/ 173 h 258"/>
                    <a:gd name="T42" fmla="*/ 12 w 144"/>
                    <a:gd name="T43" fmla="*/ 187 h 258"/>
                    <a:gd name="T44" fmla="*/ 22 w 144"/>
                    <a:gd name="T45" fmla="*/ 202 h 258"/>
                    <a:gd name="T46" fmla="*/ 29 w 144"/>
                    <a:gd name="T47" fmla="*/ 214 h 258"/>
                    <a:gd name="T48" fmla="*/ 39 w 144"/>
                    <a:gd name="T49" fmla="*/ 229 h 258"/>
                    <a:gd name="T50" fmla="*/ 51 w 144"/>
                    <a:gd name="T51" fmla="*/ 242 h 258"/>
                    <a:gd name="T52" fmla="*/ 61 w 144"/>
                    <a:gd name="T53" fmla="*/ 249 h 258"/>
                    <a:gd name="T54" fmla="*/ 76 w 144"/>
                    <a:gd name="T55" fmla="*/ 258 h 258"/>
                    <a:gd name="T56" fmla="*/ 72 w 144"/>
                    <a:gd name="T57" fmla="*/ 244 h 258"/>
                    <a:gd name="T58" fmla="*/ 70 w 144"/>
                    <a:gd name="T59" fmla="*/ 223 h 258"/>
                    <a:gd name="T60" fmla="*/ 72 w 144"/>
                    <a:gd name="T61" fmla="*/ 205 h 258"/>
                    <a:gd name="T62" fmla="*/ 76 w 144"/>
                    <a:gd name="T63" fmla="*/ 187 h 258"/>
                    <a:gd name="T64" fmla="*/ 85 w 144"/>
                    <a:gd name="T65" fmla="*/ 169 h 258"/>
                    <a:gd name="T66" fmla="*/ 96 w 144"/>
                    <a:gd name="T67" fmla="*/ 152 h 258"/>
                    <a:gd name="T68" fmla="*/ 107 w 144"/>
                    <a:gd name="T69" fmla="*/ 139 h 2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4" h="258">
                      <a:moveTo>
                        <a:pt x="107" y="139"/>
                      </a:moveTo>
                      <a:lnTo>
                        <a:pt x="95" y="119"/>
                      </a:lnTo>
                      <a:lnTo>
                        <a:pt x="86" y="96"/>
                      </a:lnTo>
                      <a:lnTo>
                        <a:pt x="79" y="73"/>
                      </a:lnTo>
                      <a:lnTo>
                        <a:pt x="76" y="53"/>
                      </a:lnTo>
                      <a:lnTo>
                        <a:pt x="77" y="40"/>
                      </a:lnTo>
                      <a:lnTo>
                        <a:pt x="94" y="42"/>
                      </a:lnTo>
                      <a:lnTo>
                        <a:pt x="113" y="39"/>
                      </a:lnTo>
                      <a:lnTo>
                        <a:pt x="126" y="36"/>
                      </a:lnTo>
                      <a:lnTo>
                        <a:pt x="136" y="32"/>
                      </a:lnTo>
                      <a:lnTo>
                        <a:pt x="141" y="25"/>
                      </a:lnTo>
                      <a:lnTo>
                        <a:pt x="144" y="7"/>
                      </a:lnTo>
                      <a:lnTo>
                        <a:pt x="20" y="0"/>
                      </a:lnTo>
                      <a:lnTo>
                        <a:pt x="14" y="37"/>
                      </a:lnTo>
                      <a:lnTo>
                        <a:pt x="11" y="58"/>
                      </a:lnTo>
                      <a:lnTo>
                        <a:pt x="5" y="83"/>
                      </a:lnTo>
                      <a:lnTo>
                        <a:pt x="2" y="103"/>
                      </a:lnTo>
                      <a:lnTo>
                        <a:pt x="0" y="124"/>
                      </a:lnTo>
                      <a:lnTo>
                        <a:pt x="1" y="144"/>
                      </a:lnTo>
                      <a:lnTo>
                        <a:pt x="3" y="159"/>
                      </a:lnTo>
                      <a:lnTo>
                        <a:pt x="6" y="173"/>
                      </a:lnTo>
                      <a:lnTo>
                        <a:pt x="12" y="187"/>
                      </a:lnTo>
                      <a:lnTo>
                        <a:pt x="22" y="202"/>
                      </a:lnTo>
                      <a:lnTo>
                        <a:pt x="29" y="214"/>
                      </a:lnTo>
                      <a:lnTo>
                        <a:pt x="39" y="229"/>
                      </a:lnTo>
                      <a:lnTo>
                        <a:pt x="51" y="242"/>
                      </a:lnTo>
                      <a:lnTo>
                        <a:pt x="61" y="249"/>
                      </a:lnTo>
                      <a:lnTo>
                        <a:pt x="76" y="258"/>
                      </a:lnTo>
                      <a:lnTo>
                        <a:pt x="72" y="244"/>
                      </a:lnTo>
                      <a:lnTo>
                        <a:pt x="70" y="223"/>
                      </a:lnTo>
                      <a:lnTo>
                        <a:pt x="72" y="205"/>
                      </a:lnTo>
                      <a:lnTo>
                        <a:pt x="76" y="187"/>
                      </a:lnTo>
                      <a:lnTo>
                        <a:pt x="85" y="169"/>
                      </a:lnTo>
                      <a:lnTo>
                        <a:pt x="96" y="152"/>
                      </a:lnTo>
                      <a:lnTo>
                        <a:pt x="107" y="139"/>
                      </a:lnTo>
                      <a:close/>
                    </a:path>
                  </a:pathLst>
                </a:custGeom>
                <a:solidFill>
                  <a:srgbClr val="FF8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88" name="Freeform 340"/>
                <p:cNvSpPr/>
                <p:nvPr/>
              </p:nvSpPr>
              <p:spPr bwMode="auto">
                <a:xfrm>
                  <a:off x="2755" y="3159"/>
                  <a:ext cx="11" cy="4"/>
                </a:xfrm>
                <a:custGeom>
                  <a:avLst/>
                  <a:gdLst>
                    <a:gd name="T0" fmla="*/ 76 w 76"/>
                    <a:gd name="T1" fmla="*/ 37 h 37"/>
                    <a:gd name="T2" fmla="*/ 57 w 76"/>
                    <a:gd name="T3" fmla="*/ 24 h 37"/>
                    <a:gd name="T4" fmla="*/ 37 w 76"/>
                    <a:gd name="T5" fmla="*/ 12 h 37"/>
                    <a:gd name="T6" fmla="*/ 19 w 76"/>
                    <a:gd name="T7" fmla="*/ 5 h 37"/>
                    <a:gd name="T8" fmla="*/ 0 w 76"/>
                    <a:gd name="T9" fmla="*/ 0 h 37"/>
                    <a:gd name="T10" fmla="*/ 23 w 76"/>
                    <a:gd name="T11" fmla="*/ 4 h 37"/>
                    <a:gd name="T12" fmla="*/ 44 w 76"/>
                    <a:gd name="T13" fmla="*/ 10 h 37"/>
                    <a:gd name="T14" fmla="*/ 64 w 76"/>
                    <a:gd name="T15" fmla="*/ 19 h 37"/>
                    <a:gd name="T16" fmla="*/ 73 w 76"/>
                    <a:gd name="T17" fmla="*/ 24 h 37"/>
                    <a:gd name="T18" fmla="*/ 76 w 76"/>
                    <a:gd name="T19" fmla="*/ 3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6" h="37">
                      <a:moveTo>
                        <a:pt x="76" y="37"/>
                      </a:moveTo>
                      <a:lnTo>
                        <a:pt x="57" y="24"/>
                      </a:lnTo>
                      <a:lnTo>
                        <a:pt x="37" y="12"/>
                      </a:lnTo>
                      <a:lnTo>
                        <a:pt x="19" y="5"/>
                      </a:lnTo>
                      <a:lnTo>
                        <a:pt x="0" y="0"/>
                      </a:lnTo>
                      <a:lnTo>
                        <a:pt x="23" y="4"/>
                      </a:lnTo>
                      <a:lnTo>
                        <a:pt x="44" y="10"/>
                      </a:lnTo>
                      <a:lnTo>
                        <a:pt x="64" y="19"/>
                      </a:lnTo>
                      <a:lnTo>
                        <a:pt x="73" y="24"/>
                      </a:lnTo>
                      <a:lnTo>
                        <a:pt x="76" y="37"/>
                      </a:lnTo>
                      <a:close/>
                    </a:path>
                  </a:pathLst>
                </a:custGeom>
                <a:solidFill>
                  <a:srgbClr val="FF8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89" name="Freeform 341"/>
                <p:cNvSpPr/>
                <p:nvPr/>
              </p:nvSpPr>
              <p:spPr bwMode="auto">
                <a:xfrm>
                  <a:off x="2755" y="3174"/>
                  <a:ext cx="13" cy="7"/>
                </a:xfrm>
                <a:custGeom>
                  <a:avLst/>
                  <a:gdLst>
                    <a:gd name="T0" fmla="*/ 97 w 97"/>
                    <a:gd name="T1" fmla="*/ 37 h 60"/>
                    <a:gd name="T2" fmla="*/ 89 w 97"/>
                    <a:gd name="T3" fmla="*/ 42 h 60"/>
                    <a:gd name="T4" fmla="*/ 84 w 97"/>
                    <a:gd name="T5" fmla="*/ 49 h 60"/>
                    <a:gd name="T6" fmla="*/ 77 w 97"/>
                    <a:gd name="T7" fmla="*/ 60 h 60"/>
                    <a:gd name="T8" fmla="*/ 74 w 97"/>
                    <a:gd name="T9" fmla="*/ 54 h 60"/>
                    <a:gd name="T10" fmla="*/ 68 w 97"/>
                    <a:gd name="T11" fmla="*/ 49 h 60"/>
                    <a:gd name="T12" fmla="*/ 53 w 97"/>
                    <a:gd name="T13" fmla="*/ 38 h 60"/>
                    <a:gd name="T14" fmla="*/ 40 w 97"/>
                    <a:gd name="T15" fmla="*/ 28 h 60"/>
                    <a:gd name="T16" fmla="*/ 27 w 97"/>
                    <a:gd name="T17" fmla="*/ 19 h 60"/>
                    <a:gd name="T18" fmla="*/ 13 w 97"/>
                    <a:gd name="T19" fmla="*/ 10 h 60"/>
                    <a:gd name="T20" fmla="*/ 0 w 97"/>
                    <a:gd name="T21" fmla="*/ 0 h 60"/>
                    <a:gd name="T22" fmla="*/ 18 w 97"/>
                    <a:gd name="T23" fmla="*/ 8 h 60"/>
                    <a:gd name="T24" fmla="*/ 30 w 97"/>
                    <a:gd name="T25" fmla="*/ 14 h 60"/>
                    <a:gd name="T26" fmla="*/ 47 w 97"/>
                    <a:gd name="T27" fmla="*/ 23 h 60"/>
                    <a:gd name="T28" fmla="*/ 62 w 97"/>
                    <a:gd name="T29" fmla="*/ 36 h 60"/>
                    <a:gd name="T30" fmla="*/ 72 w 97"/>
                    <a:gd name="T31" fmla="*/ 45 h 60"/>
                    <a:gd name="T32" fmla="*/ 78 w 97"/>
                    <a:gd name="T33" fmla="*/ 50 h 60"/>
                    <a:gd name="T34" fmla="*/ 84 w 97"/>
                    <a:gd name="T35" fmla="*/ 42 h 60"/>
                    <a:gd name="T36" fmla="*/ 97 w 97"/>
                    <a:gd name="T37" fmla="*/ 37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7" h="60">
                      <a:moveTo>
                        <a:pt x="97" y="37"/>
                      </a:moveTo>
                      <a:lnTo>
                        <a:pt x="89" y="42"/>
                      </a:lnTo>
                      <a:lnTo>
                        <a:pt x="84" y="49"/>
                      </a:lnTo>
                      <a:lnTo>
                        <a:pt x="77" y="60"/>
                      </a:lnTo>
                      <a:lnTo>
                        <a:pt x="74" y="54"/>
                      </a:lnTo>
                      <a:lnTo>
                        <a:pt x="68" y="49"/>
                      </a:lnTo>
                      <a:lnTo>
                        <a:pt x="53" y="38"/>
                      </a:lnTo>
                      <a:lnTo>
                        <a:pt x="40" y="28"/>
                      </a:lnTo>
                      <a:lnTo>
                        <a:pt x="27" y="19"/>
                      </a:lnTo>
                      <a:lnTo>
                        <a:pt x="13" y="10"/>
                      </a:lnTo>
                      <a:lnTo>
                        <a:pt x="0" y="0"/>
                      </a:lnTo>
                      <a:lnTo>
                        <a:pt x="18" y="8"/>
                      </a:lnTo>
                      <a:lnTo>
                        <a:pt x="30" y="14"/>
                      </a:lnTo>
                      <a:lnTo>
                        <a:pt x="47" y="23"/>
                      </a:lnTo>
                      <a:lnTo>
                        <a:pt x="62" y="36"/>
                      </a:lnTo>
                      <a:lnTo>
                        <a:pt x="72" y="45"/>
                      </a:lnTo>
                      <a:lnTo>
                        <a:pt x="78" y="50"/>
                      </a:lnTo>
                      <a:lnTo>
                        <a:pt x="84" y="42"/>
                      </a:lnTo>
                      <a:lnTo>
                        <a:pt x="97" y="37"/>
                      </a:lnTo>
                      <a:close/>
                    </a:path>
                  </a:pathLst>
                </a:custGeom>
                <a:solidFill>
                  <a:srgbClr val="FF8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2390" name="Group 342"/>
              <p:cNvGrpSpPr/>
              <p:nvPr/>
            </p:nvGrpSpPr>
            <p:grpSpPr bwMode="auto">
              <a:xfrm>
                <a:off x="2725" y="3103"/>
                <a:ext cx="38" cy="40"/>
                <a:chOff x="2725" y="3103"/>
                <a:chExt cx="38" cy="40"/>
              </a:xfrm>
            </p:grpSpPr>
            <p:sp>
              <p:nvSpPr>
                <p:cNvPr id="642391" name="Freeform 343"/>
                <p:cNvSpPr/>
                <p:nvPr/>
              </p:nvSpPr>
              <p:spPr bwMode="auto">
                <a:xfrm>
                  <a:off x="2725" y="3103"/>
                  <a:ext cx="38" cy="40"/>
                </a:xfrm>
                <a:custGeom>
                  <a:avLst/>
                  <a:gdLst>
                    <a:gd name="T0" fmla="*/ 17 w 265"/>
                    <a:gd name="T1" fmla="*/ 0 h 314"/>
                    <a:gd name="T2" fmla="*/ 9 w 265"/>
                    <a:gd name="T3" fmla="*/ 19 h 314"/>
                    <a:gd name="T4" fmla="*/ 3 w 265"/>
                    <a:gd name="T5" fmla="*/ 41 h 314"/>
                    <a:gd name="T6" fmla="*/ 0 w 265"/>
                    <a:gd name="T7" fmla="*/ 66 h 314"/>
                    <a:gd name="T8" fmla="*/ 3 w 265"/>
                    <a:gd name="T9" fmla="*/ 91 h 314"/>
                    <a:gd name="T10" fmla="*/ 5 w 265"/>
                    <a:gd name="T11" fmla="*/ 101 h 314"/>
                    <a:gd name="T12" fmla="*/ 15 w 265"/>
                    <a:gd name="T13" fmla="*/ 115 h 314"/>
                    <a:gd name="T14" fmla="*/ 29 w 265"/>
                    <a:gd name="T15" fmla="*/ 125 h 314"/>
                    <a:gd name="T16" fmla="*/ 46 w 265"/>
                    <a:gd name="T17" fmla="*/ 137 h 314"/>
                    <a:gd name="T18" fmla="*/ 40 w 265"/>
                    <a:gd name="T19" fmla="*/ 160 h 314"/>
                    <a:gd name="T20" fmla="*/ 37 w 265"/>
                    <a:gd name="T21" fmla="*/ 189 h 314"/>
                    <a:gd name="T22" fmla="*/ 35 w 265"/>
                    <a:gd name="T23" fmla="*/ 222 h 314"/>
                    <a:gd name="T24" fmla="*/ 38 w 265"/>
                    <a:gd name="T25" fmla="*/ 253 h 314"/>
                    <a:gd name="T26" fmla="*/ 40 w 265"/>
                    <a:gd name="T27" fmla="*/ 277 h 314"/>
                    <a:gd name="T28" fmla="*/ 46 w 265"/>
                    <a:gd name="T29" fmla="*/ 289 h 314"/>
                    <a:gd name="T30" fmla="*/ 64 w 265"/>
                    <a:gd name="T31" fmla="*/ 303 h 314"/>
                    <a:gd name="T32" fmla="*/ 91 w 265"/>
                    <a:gd name="T33" fmla="*/ 312 h 314"/>
                    <a:gd name="T34" fmla="*/ 119 w 265"/>
                    <a:gd name="T35" fmla="*/ 314 h 314"/>
                    <a:gd name="T36" fmla="*/ 146 w 265"/>
                    <a:gd name="T37" fmla="*/ 312 h 314"/>
                    <a:gd name="T38" fmla="*/ 162 w 265"/>
                    <a:gd name="T39" fmla="*/ 308 h 314"/>
                    <a:gd name="T40" fmla="*/ 175 w 265"/>
                    <a:gd name="T41" fmla="*/ 299 h 314"/>
                    <a:gd name="T42" fmla="*/ 189 w 265"/>
                    <a:gd name="T43" fmla="*/ 279 h 314"/>
                    <a:gd name="T44" fmla="*/ 196 w 265"/>
                    <a:gd name="T45" fmla="*/ 262 h 314"/>
                    <a:gd name="T46" fmla="*/ 202 w 265"/>
                    <a:gd name="T47" fmla="*/ 240 h 314"/>
                    <a:gd name="T48" fmla="*/ 204 w 265"/>
                    <a:gd name="T49" fmla="*/ 226 h 314"/>
                    <a:gd name="T50" fmla="*/ 202 w 265"/>
                    <a:gd name="T51" fmla="*/ 209 h 314"/>
                    <a:gd name="T52" fmla="*/ 210 w 265"/>
                    <a:gd name="T53" fmla="*/ 191 h 314"/>
                    <a:gd name="T54" fmla="*/ 213 w 265"/>
                    <a:gd name="T55" fmla="*/ 173 h 314"/>
                    <a:gd name="T56" fmla="*/ 237 w 265"/>
                    <a:gd name="T57" fmla="*/ 162 h 314"/>
                    <a:gd name="T58" fmla="*/ 252 w 265"/>
                    <a:gd name="T59" fmla="*/ 153 h 314"/>
                    <a:gd name="T60" fmla="*/ 256 w 265"/>
                    <a:gd name="T61" fmla="*/ 144 h 314"/>
                    <a:gd name="T62" fmla="*/ 254 w 265"/>
                    <a:gd name="T63" fmla="*/ 125 h 314"/>
                    <a:gd name="T64" fmla="*/ 256 w 265"/>
                    <a:gd name="T65" fmla="*/ 108 h 314"/>
                    <a:gd name="T66" fmla="*/ 260 w 265"/>
                    <a:gd name="T67" fmla="*/ 86 h 314"/>
                    <a:gd name="T68" fmla="*/ 265 w 265"/>
                    <a:gd name="T69" fmla="*/ 70 h 314"/>
                    <a:gd name="T70" fmla="*/ 264 w 265"/>
                    <a:gd name="T71" fmla="*/ 56 h 314"/>
                    <a:gd name="T72" fmla="*/ 259 w 265"/>
                    <a:gd name="T73" fmla="*/ 40 h 314"/>
                    <a:gd name="T74" fmla="*/ 253 w 265"/>
                    <a:gd name="T75" fmla="*/ 31 h 314"/>
                    <a:gd name="T76" fmla="*/ 250 w 265"/>
                    <a:gd name="T77" fmla="*/ 22 h 314"/>
                    <a:gd name="T78" fmla="*/ 230 w 265"/>
                    <a:gd name="T79" fmla="*/ 29 h 314"/>
                    <a:gd name="T80" fmla="*/ 206 w 265"/>
                    <a:gd name="T81" fmla="*/ 37 h 314"/>
                    <a:gd name="T82" fmla="*/ 190 w 265"/>
                    <a:gd name="T83" fmla="*/ 41 h 314"/>
                    <a:gd name="T84" fmla="*/ 171 w 265"/>
                    <a:gd name="T85" fmla="*/ 45 h 314"/>
                    <a:gd name="T86" fmla="*/ 146 w 265"/>
                    <a:gd name="T87" fmla="*/ 47 h 314"/>
                    <a:gd name="T88" fmla="*/ 122 w 265"/>
                    <a:gd name="T89" fmla="*/ 43 h 314"/>
                    <a:gd name="T90" fmla="*/ 100 w 265"/>
                    <a:gd name="T91" fmla="*/ 37 h 314"/>
                    <a:gd name="T92" fmla="*/ 78 w 265"/>
                    <a:gd name="T93" fmla="*/ 31 h 314"/>
                    <a:gd name="T94" fmla="*/ 57 w 265"/>
                    <a:gd name="T95" fmla="*/ 19 h 314"/>
                    <a:gd name="T96" fmla="*/ 35 w 265"/>
                    <a:gd name="T97" fmla="*/ 8 h 314"/>
                    <a:gd name="T98" fmla="*/ 17 w 265"/>
                    <a:gd name="T99" fmla="*/ 0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265" h="314">
                      <a:moveTo>
                        <a:pt x="17" y="0"/>
                      </a:moveTo>
                      <a:lnTo>
                        <a:pt x="9" y="19"/>
                      </a:lnTo>
                      <a:lnTo>
                        <a:pt x="3" y="41"/>
                      </a:lnTo>
                      <a:lnTo>
                        <a:pt x="0" y="66"/>
                      </a:lnTo>
                      <a:lnTo>
                        <a:pt x="3" y="91"/>
                      </a:lnTo>
                      <a:lnTo>
                        <a:pt x="5" y="101"/>
                      </a:lnTo>
                      <a:lnTo>
                        <a:pt x="15" y="115"/>
                      </a:lnTo>
                      <a:lnTo>
                        <a:pt x="29" y="125"/>
                      </a:lnTo>
                      <a:lnTo>
                        <a:pt x="46" y="137"/>
                      </a:lnTo>
                      <a:lnTo>
                        <a:pt x="40" y="160"/>
                      </a:lnTo>
                      <a:lnTo>
                        <a:pt x="37" y="189"/>
                      </a:lnTo>
                      <a:lnTo>
                        <a:pt x="35" y="222"/>
                      </a:lnTo>
                      <a:lnTo>
                        <a:pt x="38" y="253"/>
                      </a:lnTo>
                      <a:lnTo>
                        <a:pt x="40" y="277"/>
                      </a:lnTo>
                      <a:lnTo>
                        <a:pt x="46" y="289"/>
                      </a:lnTo>
                      <a:lnTo>
                        <a:pt x="64" y="303"/>
                      </a:lnTo>
                      <a:lnTo>
                        <a:pt x="91" y="312"/>
                      </a:lnTo>
                      <a:lnTo>
                        <a:pt x="119" y="314"/>
                      </a:lnTo>
                      <a:lnTo>
                        <a:pt x="146" y="312"/>
                      </a:lnTo>
                      <a:lnTo>
                        <a:pt x="162" y="308"/>
                      </a:lnTo>
                      <a:lnTo>
                        <a:pt x="175" y="299"/>
                      </a:lnTo>
                      <a:lnTo>
                        <a:pt x="189" y="279"/>
                      </a:lnTo>
                      <a:lnTo>
                        <a:pt x="196" y="262"/>
                      </a:lnTo>
                      <a:lnTo>
                        <a:pt x="202" y="240"/>
                      </a:lnTo>
                      <a:lnTo>
                        <a:pt x="204" y="226"/>
                      </a:lnTo>
                      <a:lnTo>
                        <a:pt x="202" y="209"/>
                      </a:lnTo>
                      <a:lnTo>
                        <a:pt x="210" y="191"/>
                      </a:lnTo>
                      <a:lnTo>
                        <a:pt x="213" y="173"/>
                      </a:lnTo>
                      <a:lnTo>
                        <a:pt x="237" y="162"/>
                      </a:lnTo>
                      <a:lnTo>
                        <a:pt x="252" y="153"/>
                      </a:lnTo>
                      <a:lnTo>
                        <a:pt x="256" y="144"/>
                      </a:lnTo>
                      <a:lnTo>
                        <a:pt x="254" y="125"/>
                      </a:lnTo>
                      <a:lnTo>
                        <a:pt x="256" y="108"/>
                      </a:lnTo>
                      <a:lnTo>
                        <a:pt x="260" y="86"/>
                      </a:lnTo>
                      <a:lnTo>
                        <a:pt x="265" y="70"/>
                      </a:lnTo>
                      <a:lnTo>
                        <a:pt x="264" y="56"/>
                      </a:lnTo>
                      <a:lnTo>
                        <a:pt x="259" y="40"/>
                      </a:lnTo>
                      <a:lnTo>
                        <a:pt x="253" y="31"/>
                      </a:lnTo>
                      <a:lnTo>
                        <a:pt x="250" y="22"/>
                      </a:lnTo>
                      <a:lnTo>
                        <a:pt x="230" y="29"/>
                      </a:lnTo>
                      <a:lnTo>
                        <a:pt x="206" y="37"/>
                      </a:lnTo>
                      <a:lnTo>
                        <a:pt x="190" y="41"/>
                      </a:lnTo>
                      <a:lnTo>
                        <a:pt x="171" y="45"/>
                      </a:lnTo>
                      <a:lnTo>
                        <a:pt x="146" y="47"/>
                      </a:lnTo>
                      <a:lnTo>
                        <a:pt x="122" y="43"/>
                      </a:lnTo>
                      <a:lnTo>
                        <a:pt x="100" y="37"/>
                      </a:lnTo>
                      <a:lnTo>
                        <a:pt x="78" y="31"/>
                      </a:lnTo>
                      <a:lnTo>
                        <a:pt x="57" y="19"/>
                      </a:lnTo>
                      <a:lnTo>
                        <a:pt x="35" y="8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92" name="Freeform 344"/>
                <p:cNvSpPr/>
                <p:nvPr/>
              </p:nvSpPr>
              <p:spPr bwMode="auto">
                <a:xfrm>
                  <a:off x="2738" y="3120"/>
                  <a:ext cx="21" cy="10"/>
                </a:xfrm>
                <a:custGeom>
                  <a:avLst/>
                  <a:gdLst>
                    <a:gd name="T0" fmla="*/ 5 w 151"/>
                    <a:gd name="T1" fmla="*/ 2 h 81"/>
                    <a:gd name="T2" fmla="*/ 22 w 151"/>
                    <a:gd name="T3" fmla="*/ 0 h 81"/>
                    <a:gd name="T4" fmla="*/ 37 w 151"/>
                    <a:gd name="T5" fmla="*/ 5 h 81"/>
                    <a:gd name="T6" fmla="*/ 52 w 151"/>
                    <a:gd name="T7" fmla="*/ 10 h 81"/>
                    <a:gd name="T8" fmla="*/ 69 w 151"/>
                    <a:gd name="T9" fmla="*/ 17 h 81"/>
                    <a:gd name="T10" fmla="*/ 80 w 151"/>
                    <a:gd name="T11" fmla="*/ 20 h 81"/>
                    <a:gd name="T12" fmla="*/ 93 w 151"/>
                    <a:gd name="T13" fmla="*/ 17 h 81"/>
                    <a:gd name="T14" fmla="*/ 106 w 151"/>
                    <a:gd name="T15" fmla="*/ 10 h 81"/>
                    <a:gd name="T16" fmla="*/ 117 w 151"/>
                    <a:gd name="T17" fmla="*/ 8 h 81"/>
                    <a:gd name="T18" fmla="*/ 130 w 151"/>
                    <a:gd name="T19" fmla="*/ 10 h 81"/>
                    <a:gd name="T20" fmla="*/ 140 w 151"/>
                    <a:gd name="T21" fmla="*/ 12 h 81"/>
                    <a:gd name="T22" fmla="*/ 148 w 151"/>
                    <a:gd name="T23" fmla="*/ 19 h 81"/>
                    <a:gd name="T24" fmla="*/ 151 w 151"/>
                    <a:gd name="T25" fmla="*/ 30 h 81"/>
                    <a:gd name="T26" fmla="*/ 135 w 151"/>
                    <a:gd name="T27" fmla="*/ 37 h 81"/>
                    <a:gd name="T28" fmla="*/ 125 w 151"/>
                    <a:gd name="T29" fmla="*/ 41 h 81"/>
                    <a:gd name="T30" fmla="*/ 114 w 151"/>
                    <a:gd name="T31" fmla="*/ 49 h 81"/>
                    <a:gd name="T32" fmla="*/ 104 w 151"/>
                    <a:gd name="T33" fmla="*/ 52 h 81"/>
                    <a:gd name="T34" fmla="*/ 89 w 151"/>
                    <a:gd name="T35" fmla="*/ 53 h 81"/>
                    <a:gd name="T36" fmla="*/ 75 w 151"/>
                    <a:gd name="T37" fmla="*/ 59 h 81"/>
                    <a:gd name="T38" fmla="*/ 68 w 151"/>
                    <a:gd name="T39" fmla="*/ 68 h 81"/>
                    <a:gd name="T40" fmla="*/ 63 w 151"/>
                    <a:gd name="T41" fmla="*/ 81 h 81"/>
                    <a:gd name="T42" fmla="*/ 52 w 151"/>
                    <a:gd name="T43" fmla="*/ 67 h 81"/>
                    <a:gd name="T44" fmla="*/ 36 w 151"/>
                    <a:gd name="T45" fmla="*/ 54 h 81"/>
                    <a:gd name="T46" fmla="*/ 21 w 151"/>
                    <a:gd name="T47" fmla="*/ 44 h 81"/>
                    <a:gd name="T48" fmla="*/ 10 w 151"/>
                    <a:gd name="T49" fmla="*/ 37 h 81"/>
                    <a:gd name="T50" fmla="*/ 3 w 151"/>
                    <a:gd name="T51" fmla="*/ 28 h 81"/>
                    <a:gd name="T52" fmla="*/ 0 w 151"/>
                    <a:gd name="T53" fmla="*/ 19 h 81"/>
                    <a:gd name="T54" fmla="*/ 1 w 151"/>
                    <a:gd name="T55" fmla="*/ 10 h 81"/>
                    <a:gd name="T56" fmla="*/ 5 w 151"/>
                    <a:gd name="T57" fmla="*/ 2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51" h="81">
                      <a:moveTo>
                        <a:pt x="5" y="2"/>
                      </a:moveTo>
                      <a:lnTo>
                        <a:pt x="22" y="0"/>
                      </a:lnTo>
                      <a:lnTo>
                        <a:pt x="37" y="5"/>
                      </a:lnTo>
                      <a:lnTo>
                        <a:pt x="52" y="10"/>
                      </a:lnTo>
                      <a:lnTo>
                        <a:pt x="69" y="17"/>
                      </a:lnTo>
                      <a:lnTo>
                        <a:pt x="80" y="20"/>
                      </a:lnTo>
                      <a:lnTo>
                        <a:pt x="93" y="17"/>
                      </a:lnTo>
                      <a:lnTo>
                        <a:pt x="106" y="10"/>
                      </a:lnTo>
                      <a:lnTo>
                        <a:pt x="117" y="8"/>
                      </a:lnTo>
                      <a:lnTo>
                        <a:pt x="130" y="10"/>
                      </a:lnTo>
                      <a:lnTo>
                        <a:pt x="140" y="12"/>
                      </a:lnTo>
                      <a:lnTo>
                        <a:pt x="148" y="19"/>
                      </a:lnTo>
                      <a:lnTo>
                        <a:pt x="151" y="30"/>
                      </a:lnTo>
                      <a:lnTo>
                        <a:pt x="135" y="37"/>
                      </a:lnTo>
                      <a:lnTo>
                        <a:pt x="125" y="41"/>
                      </a:lnTo>
                      <a:lnTo>
                        <a:pt x="114" y="49"/>
                      </a:lnTo>
                      <a:lnTo>
                        <a:pt x="104" y="52"/>
                      </a:lnTo>
                      <a:lnTo>
                        <a:pt x="89" y="53"/>
                      </a:lnTo>
                      <a:lnTo>
                        <a:pt x="75" y="59"/>
                      </a:lnTo>
                      <a:lnTo>
                        <a:pt x="68" y="68"/>
                      </a:lnTo>
                      <a:lnTo>
                        <a:pt x="63" y="81"/>
                      </a:lnTo>
                      <a:lnTo>
                        <a:pt x="52" y="67"/>
                      </a:lnTo>
                      <a:lnTo>
                        <a:pt x="36" y="54"/>
                      </a:lnTo>
                      <a:lnTo>
                        <a:pt x="21" y="44"/>
                      </a:lnTo>
                      <a:lnTo>
                        <a:pt x="10" y="37"/>
                      </a:lnTo>
                      <a:lnTo>
                        <a:pt x="3" y="28"/>
                      </a:lnTo>
                      <a:lnTo>
                        <a:pt x="0" y="19"/>
                      </a:lnTo>
                      <a:lnTo>
                        <a:pt x="1" y="10"/>
                      </a:lnTo>
                      <a:lnTo>
                        <a:pt x="5" y="2"/>
                      </a:lnTo>
                      <a:close/>
                    </a:path>
                  </a:pathLst>
                </a:custGeom>
                <a:solidFill>
                  <a:srgbClr val="D0D0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93" name="Freeform 345"/>
                <p:cNvSpPr/>
                <p:nvPr/>
              </p:nvSpPr>
              <p:spPr bwMode="auto">
                <a:xfrm>
                  <a:off x="2735" y="3108"/>
                  <a:ext cx="8" cy="12"/>
                </a:xfrm>
                <a:custGeom>
                  <a:avLst/>
                  <a:gdLst>
                    <a:gd name="T0" fmla="*/ 4 w 54"/>
                    <a:gd name="T1" fmla="*/ 0 h 91"/>
                    <a:gd name="T2" fmla="*/ 0 w 54"/>
                    <a:gd name="T3" fmla="*/ 25 h 91"/>
                    <a:gd name="T4" fmla="*/ 2 w 54"/>
                    <a:gd name="T5" fmla="*/ 46 h 91"/>
                    <a:gd name="T6" fmla="*/ 9 w 54"/>
                    <a:gd name="T7" fmla="*/ 67 h 91"/>
                    <a:gd name="T8" fmla="*/ 20 w 54"/>
                    <a:gd name="T9" fmla="*/ 82 h 91"/>
                    <a:gd name="T10" fmla="*/ 34 w 54"/>
                    <a:gd name="T11" fmla="*/ 91 h 91"/>
                    <a:gd name="T12" fmla="*/ 38 w 54"/>
                    <a:gd name="T13" fmla="*/ 76 h 91"/>
                    <a:gd name="T14" fmla="*/ 45 w 54"/>
                    <a:gd name="T15" fmla="*/ 63 h 91"/>
                    <a:gd name="T16" fmla="*/ 54 w 54"/>
                    <a:gd name="T17" fmla="*/ 52 h 91"/>
                    <a:gd name="T18" fmla="*/ 41 w 54"/>
                    <a:gd name="T19" fmla="*/ 49 h 91"/>
                    <a:gd name="T20" fmla="*/ 33 w 54"/>
                    <a:gd name="T21" fmla="*/ 45 h 91"/>
                    <a:gd name="T22" fmla="*/ 28 w 54"/>
                    <a:gd name="T23" fmla="*/ 26 h 91"/>
                    <a:gd name="T24" fmla="*/ 22 w 54"/>
                    <a:gd name="T25" fmla="*/ 13 h 91"/>
                    <a:gd name="T26" fmla="*/ 14 w 54"/>
                    <a:gd name="T27" fmla="*/ 2 h 91"/>
                    <a:gd name="T28" fmla="*/ 4 w 54"/>
                    <a:gd name="T29" fmla="*/ 0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4" h="91">
                      <a:moveTo>
                        <a:pt x="4" y="0"/>
                      </a:moveTo>
                      <a:lnTo>
                        <a:pt x="0" y="25"/>
                      </a:lnTo>
                      <a:lnTo>
                        <a:pt x="2" y="46"/>
                      </a:lnTo>
                      <a:lnTo>
                        <a:pt x="9" y="67"/>
                      </a:lnTo>
                      <a:lnTo>
                        <a:pt x="20" y="82"/>
                      </a:lnTo>
                      <a:lnTo>
                        <a:pt x="34" y="91"/>
                      </a:lnTo>
                      <a:lnTo>
                        <a:pt x="38" y="76"/>
                      </a:lnTo>
                      <a:lnTo>
                        <a:pt x="45" y="63"/>
                      </a:lnTo>
                      <a:lnTo>
                        <a:pt x="54" y="52"/>
                      </a:lnTo>
                      <a:lnTo>
                        <a:pt x="41" y="49"/>
                      </a:lnTo>
                      <a:lnTo>
                        <a:pt x="33" y="45"/>
                      </a:lnTo>
                      <a:lnTo>
                        <a:pt x="28" y="26"/>
                      </a:lnTo>
                      <a:lnTo>
                        <a:pt x="22" y="13"/>
                      </a:lnTo>
                      <a:lnTo>
                        <a:pt x="14" y="2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94" name="Freeform 346"/>
                <p:cNvSpPr/>
                <p:nvPr/>
              </p:nvSpPr>
              <p:spPr bwMode="auto">
                <a:xfrm>
                  <a:off x="2727" y="3105"/>
                  <a:ext cx="5" cy="12"/>
                </a:xfrm>
                <a:custGeom>
                  <a:avLst/>
                  <a:gdLst>
                    <a:gd name="T0" fmla="*/ 13 w 34"/>
                    <a:gd name="T1" fmla="*/ 0 h 95"/>
                    <a:gd name="T2" fmla="*/ 21 w 34"/>
                    <a:gd name="T3" fmla="*/ 13 h 95"/>
                    <a:gd name="T4" fmla="*/ 30 w 34"/>
                    <a:gd name="T5" fmla="*/ 30 h 95"/>
                    <a:gd name="T6" fmla="*/ 34 w 34"/>
                    <a:gd name="T7" fmla="*/ 45 h 95"/>
                    <a:gd name="T8" fmla="*/ 30 w 34"/>
                    <a:gd name="T9" fmla="*/ 57 h 95"/>
                    <a:gd name="T10" fmla="*/ 17 w 34"/>
                    <a:gd name="T11" fmla="*/ 76 h 95"/>
                    <a:gd name="T12" fmla="*/ 0 w 34"/>
                    <a:gd name="T13" fmla="*/ 95 h 95"/>
                    <a:gd name="T14" fmla="*/ 10 w 34"/>
                    <a:gd name="T15" fmla="*/ 73 h 95"/>
                    <a:gd name="T16" fmla="*/ 16 w 34"/>
                    <a:gd name="T17" fmla="*/ 56 h 95"/>
                    <a:gd name="T18" fmla="*/ 18 w 34"/>
                    <a:gd name="T19" fmla="*/ 38 h 95"/>
                    <a:gd name="T20" fmla="*/ 16 w 34"/>
                    <a:gd name="T21" fmla="*/ 21 h 95"/>
                    <a:gd name="T22" fmla="*/ 13 w 34"/>
                    <a:gd name="T23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4" h="95">
                      <a:moveTo>
                        <a:pt x="13" y="0"/>
                      </a:moveTo>
                      <a:lnTo>
                        <a:pt x="21" y="13"/>
                      </a:lnTo>
                      <a:lnTo>
                        <a:pt x="30" y="30"/>
                      </a:lnTo>
                      <a:lnTo>
                        <a:pt x="34" y="45"/>
                      </a:lnTo>
                      <a:lnTo>
                        <a:pt x="30" y="57"/>
                      </a:lnTo>
                      <a:lnTo>
                        <a:pt x="17" y="76"/>
                      </a:lnTo>
                      <a:lnTo>
                        <a:pt x="0" y="95"/>
                      </a:lnTo>
                      <a:lnTo>
                        <a:pt x="10" y="73"/>
                      </a:lnTo>
                      <a:lnTo>
                        <a:pt x="16" y="56"/>
                      </a:lnTo>
                      <a:lnTo>
                        <a:pt x="18" y="38"/>
                      </a:lnTo>
                      <a:lnTo>
                        <a:pt x="16" y="21"/>
                      </a:lnTo>
                      <a:lnTo>
                        <a:pt x="13" y="0"/>
                      </a:lnTo>
                      <a:close/>
                    </a:path>
                  </a:pathLst>
                </a:custGeom>
                <a:solidFill>
                  <a:srgbClr val="D0D0D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95" name="Freeform 347"/>
                <p:cNvSpPr/>
                <p:nvPr/>
              </p:nvSpPr>
              <p:spPr bwMode="auto">
                <a:xfrm>
                  <a:off x="2729" y="3120"/>
                  <a:ext cx="16" cy="23"/>
                </a:xfrm>
                <a:custGeom>
                  <a:avLst/>
                  <a:gdLst>
                    <a:gd name="T0" fmla="*/ 14 w 108"/>
                    <a:gd name="T1" fmla="*/ 0 h 182"/>
                    <a:gd name="T2" fmla="*/ 32 w 108"/>
                    <a:gd name="T3" fmla="*/ 7 h 182"/>
                    <a:gd name="T4" fmla="*/ 53 w 108"/>
                    <a:gd name="T5" fmla="*/ 20 h 182"/>
                    <a:gd name="T6" fmla="*/ 73 w 108"/>
                    <a:gd name="T7" fmla="*/ 37 h 182"/>
                    <a:gd name="T8" fmla="*/ 87 w 108"/>
                    <a:gd name="T9" fmla="*/ 52 h 182"/>
                    <a:gd name="T10" fmla="*/ 95 w 108"/>
                    <a:gd name="T11" fmla="*/ 74 h 182"/>
                    <a:gd name="T12" fmla="*/ 98 w 108"/>
                    <a:gd name="T13" fmla="*/ 93 h 182"/>
                    <a:gd name="T14" fmla="*/ 95 w 108"/>
                    <a:gd name="T15" fmla="*/ 112 h 182"/>
                    <a:gd name="T16" fmla="*/ 94 w 108"/>
                    <a:gd name="T17" fmla="*/ 127 h 182"/>
                    <a:gd name="T18" fmla="*/ 96 w 108"/>
                    <a:gd name="T19" fmla="*/ 141 h 182"/>
                    <a:gd name="T20" fmla="*/ 102 w 108"/>
                    <a:gd name="T21" fmla="*/ 162 h 182"/>
                    <a:gd name="T22" fmla="*/ 108 w 108"/>
                    <a:gd name="T23" fmla="*/ 179 h 182"/>
                    <a:gd name="T24" fmla="*/ 97 w 108"/>
                    <a:gd name="T25" fmla="*/ 182 h 182"/>
                    <a:gd name="T26" fmla="*/ 81 w 108"/>
                    <a:gd name="T27" fmla="*/ 182 h 182"/>
                    <a:gd name="T28" fmla="*/ 64 w 108"/>
                    <a:gd name="T29" fmla="*/ 181 h 182"/>
                    <a:gd name="T30" fmla="*/ 50 w 108"/>
                    <a:gd name="T31" fmla="*/ 177 h 182"/>
                    <a:gd name="T32" fmla="*/ 38 w 108"/>
                    <a:gd name="T33" fmla="*/ 173 h 182"/>
                    <a:gd name="T34" fmla="*/ 25 w 108"/>
                    <a:gd name="T35" fmla="*/ 165 h 182"/>
                    <a:gd name="T36" fmla="*/ 13 w 108"/>
                    <a:gd name="T37" fmla="*/ 157 h 182"/>
                    <a:gd name="T38" fmla="*/ 6 w 108"/>
                    <a:gd name="T39" fmla="*/ 141 h 182"/>
                    <a:gd name="T40" fmla="*/ 2 w 108"/>
                    <a:gd name="T41" fmla="*/ 110 h 182"/>
                    <a:gd name="T42" fmla="*/ 0 w 108"/>
                    <a:gd name="T43" fmla="*/ 88 h 182"/>
                    <a:gd name="T44" fmla="*/ 2 w 108"/>
                    <a:gd name="T45" fmla="*/ 66 h 182"/>
                    <a:gd name="T46" fmla="*/ 4 w 108"/>
                    <a:gd name="T47" fmla="*/ 38 h 182"/>
                    <a:gd name="T48" fmla="*/ 9 w 108"/>
                    <a:gd name="T49" fmla="*/ 16 h 182"/>
                    <a:gd name="T50" fmla="*/ 14 w 108"/>
                    <a:gd name="T51" fmla="*/ 0 h 1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08" h="182">
                      <a:moveTo>
                        <a:pt x="14" y="0"/>
                      </a:moveTo>
                      <a:lnTo>
                        <a:pt x="32" y="7"/>
                      </a:lnTo>
                      <a:lnTo>
                        <a:pt x="53" y="20"/>
                      </a:lnTo>
                      <a:lnTo>
                        <a:pt x="73" y="37"/>
                      </a:lnTo>
                      <a:lnTo>
                        <a:pt x="87" y="52"/>
                      </a:lnTo>
                      <a:lnTo>
                        <a:pt x="95" y="74"/>
                      </a:lnTo>
                      <a:lnTo>
                        <a:pt x="98" y="93"/>
                      </a:lnTo>
                      <a:lnTo>
                        <a:pt x="95" y="112"/>
                      </a:lnTo>
                      <a:lnTo>
                        <a:pt x="94" y="127"/>
                      </a:lnTo>
                      <a:lnTo>
                        <a:pt x="96" y="141"/>
                      </a:lnTo>
                      <a:lnTo>
                        <a:pt x="102" y="162"/>
                      </a:lnTo>
                      <a:lnTo>
                        <a:pt x="108" y="179"/>
                      </a:lnTo>
                      <a:lnTo>
                        <a:pt x="97" y="182"/>
                      </a:lnTo>
                      <a:lnTo>
                        <a:pt x="81" y="182"/>
                      </a:lnTo>
                      <a:lnTo>
                        <a:pt x="64" y="181"/>
                      </a:lnTo>
                      <a:lnTo>
                        <a:pt x="50" y="177"/>
                      </a:lnTo>
                      <a:lnTo>
                        <a:pt x="38" y="173"/>
                      </a:lnTo>
                      <a:lnTo>
                        <a:pt x="25" y="165"/>
                      </a:lnTo>
                      <a:lnTo>
                        <a:pt x="13" y="157"/>
                      </a:lnTo>
                      <a:lnTo>
                        <a:pt x="6" y="141"/>
                      </a:lnTo>
                      <a:lnTo>
                        <a:pt x="2" y="110"/>
                      </a:lnTo>
                      <a:lnTo>
                        <a:pt x="0" y="88"/>
                      </a:lnTo>
                      <a:lnTo>
                        <a:pt x="2" y="66"/>
                      </a:lnTo>
                      <a:lnTo>
                        <a:pt x="4" y="38"/>
                      </a:lnTo>
                      <a:lnTo>
                        <a:pt x="9" y="1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2396" name="Freeform 348"/>
                <p:cNvSpPr/>
                <p:nvPr/>
              </p:nvSpPr>
              <p:spPr bwMode="auto">
                <a:xfrm>
                  <a:off x="2727" y="3103"/>
                  <a:ext cx="34" cy="8"/>
                </a:xfrm>
                <a:custGeom>
                  <a:avLst/>
                  <a:gdLst>
                    <a:gd name="T0" fmla="*/ 2 w 239"/>
                    <a:gd name="T1" fmla="*/ 0 h 62"/>
                    <a:gd name="T2" fmla="*/ 0 w 239"/>
                    <a:gd name="T3" fmla="*/ 5 h 62"/>
                    <a:gd name="T4" fmla="*/ 12 w 239"/>
                    <a:gd name="T5" fmla="*/ 15 h 62"/>
                    <a:gd name="T6" fmla="*/ 25 w 239"/>
                    <a:gd name="T7" fmla="*/ 23 h 62"/>
                    <a:gd name="T8" fmla="*/ 37 w 239"/>
                    <a:gd name="T9" fmla="*/ 30 h 62"/>
                    <a:gd name="T10" fmla="*/ 56 w 239"/>
                    <a:gd name="T11" fmla="*/ 39 h 62"/>
                    <a:gd name="T12" fmla="*/ 72 w 239"/>
                    <a:gd name="T13" fmla="*/ 48 h 62"/>
                    <a:gd name="T14" fmla="*/ 93 w 239"/>
                    <a:gd name="T15" fmla="*/ 55 h 62"/>
                    <a:gd name="T16" fmla="*/ 113 w 239"/>
                    <a:gd name="T17" fmla="*/ 60 h 62"/>
                    <a:gd name="T18" fmla="*/ 128 w 239"/>
                    <a:gd name="T19" fmla="*/ 61 h 62"/>
                    <a:gd name="T20" fmla="*/ 145 w 239"/>
                    <a:gd name="T21" fmla="*/ 62 h 62"/>
                    <a:gd name="T22" fmla="*/ 162 w 239"/>
                    <a:gd name="T23" fmla="*/ 60 h 62"/>
                    <a:gd name="T24" fmla="*/ 179 w 239"/>
                    <a:gd name="T25" fmla="*/ 56 h 62"/>
                    <a:gd name="T26" fmla="*/ 196 w 239"/>
                    <a:gd name="T27" fmla="*/ 53 h 62"/>
                    <a:gd name="T28" fmla="*/ 214 w 239"/>
                    <a:gd name="T29" fmla="*/ 48 h 62"/>
                    <a:gd name="T30" fmla="*/ 229 w 239"/>
                    <a:gd name="T31" fmla="*/ 41 h 62"/>
                    <a:gd name="T32" fmla="*/ 239 w 239"/>
                    <a:gd name="T33" fmla="*/ 36 h 62"/>
                    <a:gd name="T34" fmla="*/ 236 w 239"/>
                    <a:gd name="T35" fmla="*/ 24 h 62"/>
                    <a:gd name="T36" fmla="*/ 216 w 239"/>
                    <a:gd name="T37" fmla="*/ 32 h 62"/>
                    <a:gd name="T38" fmla="*/ 192 w 239"/>
                    <a:gd name="T39" fmla="*/ 41 h 62"/>
                    <a:gd name="T40" fmla="*/ 176 w 239"/>
                    <a:gd name="T41" fmla="*/ 47 h 62"/>
                    <a:gd name="T42" fmla="*/ 157 w 239"/>
                    <a:gd name="T43" fmla="*/ 50 h 62"/>
                    <a:gd name="T44" fmla="*/ 132 w 239"/>
                    <a:gd name="T45" fmla="*/ 53 h 62"/>
                    <a:gd name="T46" fmla="*/ 108 w 239"/>
                    <a:gd name="T47" fmla="*/ 49 h 62"/>
                    <a:gd name="T48" fmla="*/ 86 w 239"/>
                    <a:gd name="T49" fmla="*/ 41 h 62"/>
                    <a:gd name="T50" fmla="*/ 64 w 239"/>
                    <a:gd name="T51" fmla="*/ 34 h 62"/>
                    <a:gd name="T52" fmla="*/ 41 w 239"/>
                    <a:gd name="T53" fmla="*/ 22 h 62"/>
                    <a:gd name="T54" fmla="*/ 21 w 239"/>
                    <a:gd name="T55" fmla="*/ 9 h 62"/>
                    <a:gd name="T56" fmla="*/ 2 w 239"/>
                    <a:gd name="T57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239" h="62">
                      <a:moveTo>
                        <a:pt x="2" y="0"/>
                      </a:moveTo>
                      <a:lnTo>
                        <a:pt x="0" y="5"/>
                      </a:lnTo>
                      <a:lnTo>
                        <a:pt x="12" y="15"/>
                      </a:lnTo>
                      <a:lnTo>
                        <a:pt x="25" y="23"/>
                      </a:lnTo>
                      <a:lnTo>
                        <a:pt x="37" y="30"/>
                      </a:lnTo>
                      <a:lnTo>
                        <a:pt x="56" y="39"/>
                      </a:lnTo>
                      <a:lnTo>
                        <a:pt x="72" y="48"/>
                      </a:lnTo>
                      <a:lnTo>
                        <a:pt x="93" y="55"/>
                      </a:lnTo>
                      <a:lnTo>
                        <a:pt x="113" y="60"/>
                      </a:lnTo>
                      <a:lnTo>
                        <a:pt x="128" y="61"/>
                      </a:lnTo>
                      <a:lnTo>
                        <a:pt x="145" y="62"/>
                      </a:lnTo>
                      <a:lnTo>
                        <a:pt x="162" y="60"/>
                      </a:lnTo>
                      <a:lnTo>
                        <a:pt x="179" y="56"/>
                      </a:lnTo>
                      <a:lnTo>
                        <a:pt x="196" y="53"/>
                      </a:lnTo>
                      <a:lnTo>
                        <a:pt x="214" y="48"/>
                      </a:lnTo>
                      <a:lnTo>
                        <a:pt x="229" y="41"/>
                      </a:lnTo>
                      <a:lnTo>
                        <a:pt x="239" y="36"/>
                      </a:lnTo>
                      <a:lnTo>
                        <a:pt x="236" y="24"/>
                      </a:lnTo>
                      <a:lnTo>
                        <a:pt x="216" y="32"/>
                      </a:lnTo>
                      <a:lnTo>
                        <a:pt x="192" y="41"/>
                      </a:lnTo>
                      <a:lnTo>
                        <a:pt x="176" y="47"/>
                      </a:lnTo>
                      <a:lnTo>
                        <a:pt x="157" y="50"/>
                      </a:lnTo>
                      <a:lnTo>
                        <a:pt x="132" y="53"/>
                      </a:lnTo>
                      <a:lnTo>
                        <a:pt x="108" y="49"/>
                      </a:lnTo>
                      <a:lnTo>
                        <a:pt x="86" y="41"/>
                      </a:lnTo>
                      <a:lnTo>
                        <a:pt x="64" y="34"/>
                      </a:lnTo>
                      <a:lnTo>
                        <a:pt x="41" y="22"/>
                      </a:lnTo>
                      <a:lnTo>
                        <a:pt x="21" y="9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606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42397" name="Group 349"/>
              <p:cNvGrpSpPr/>
              <p:nvPr/>
            </p:nvGrpSpPr>
            <p:grpSpPr bwMode="auto">
              <a:xfrm>
                <a:off x="2624" y="2934"/>
                <a:ext cx="106" cy="87"/>
                <a:chOff x="2624" y="2934"/>
                <a:chExt cx="106" cy="87"/>
              </a:xfrm>
            </p:grpSpPr>
            <p:grpSp>
              <p:nvGrpSpPr>
                <p:cNvPr id="642398" name="Group 350"/>
                <p:cNvGrpSpPr/>
                <p:nvPr/>
              </p:nvGrpSpPr>
              <p:grpSpPr bwMode="auto">
                <a:xfrm>
                  <a:off x="2636" y="2956"/>
                  <a:ext cx="75" cy="65"/>
                  <a:chOff x="2636" y="2956"/>
                  <a:chExt cx="75" cy="65"/>
                </a:xfrm>
              </p:grpSpPr>
              <p:grpSp>
                <p:nvGrpSpPr>
                  <p:cNvPr id="642399" name="Group 351"/>
                  <p:cNvGrpSpPr/>
                  <p:nvPr/>
                </p:nvGrpSpPr>
                <p:grpSpPr bwMode="auto">
                  <a:xfrm>
                    <a:off x="2636" y="2956"/>
                    <a:ext cx="75" cy="65"/>
                    <a:chOff x="2636" y="2956"/>
                    <a:chExt cx="75" cy="65"/>
                  </a:xfrm>
                </p:grpSpPr>
                <p:grpSp>
                  <p:nvGrpSpPr>
                    <p:cNvPr id="642400" name="Group 352"/>
                    <p:cNvGrpSpPr/>
                    <p:nvPr/>
                  </p:nvGrpSpPr>
                  <p:grpSpPr bwMode="auto">
                    <a:xfrm>
                      <a:off x="2645" y="2983"/>
                      <a:ext cx="13" cy="10"/>
                      <a:chOff x="2645" y="2983"/>
                      <a:chExt cx="13" cy="10"/>
                    </a:xfrm>
                  </p:grpSpPr>
                  <p:sp>
                    <p:nvSpPr>
                      <p:cNvPr id="642401" name="Freeform 353"/>
                      <p:cNvSpPr/>
                      <p:nvPr/>
                    </p:nvSpPr>
                    <p:spPr bwMode="auto">
                      <a:xfrm>
                        <a:off x="2645" y="2983"/>
                        <a:ext cx="10" cy="8"/>
                      </a:xfrm>
                      <a:custGeom>
                        <a:avLst/>
                        <a:gdLst>
                          <a:gd name="T0" fmla="*/ 3 w 70"/>
                          <a:gd name="T1" fmla="*/ 0 h 62"/>
                          <a:gd name="T2" fmla="*/ 2 w 70"/>
                          <a:gd name="T3" fmla="*/ 31 h 62"/>
                          <a:gd name="T4" fmla="*/ 0 w 70"/>
                          <a:gd name="T5" fmla="*/ 44 h 62"/>
                          <a:gd name="T6" fmla="*/ 0 w 70"/>
                          <a:gd name="T7" fmla="*/ 50 h 62"/>
                          <a:gd name="T8" fmla="*/ 2 w 70"/>
                          <a:gd name="T9" fmla="*/ 56 h 62"/>
                          <a:gd name="T10" fmla="*/ 14 w 70"/>
                          <a:gd name="T11" fmla="*/ 57 h 62"/>
                          <a:gd name="T12" fmla="*/ 70 w 70"/>
                          <a:gd name="T13" fmla="*/ 62 h 62"/>
                          <a:gd name="T14" fmla="*/ 3 w 70"/>
                          <a:gd name="T15" fmla="*/ 0 h 6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70" h="62">
                            <a:moveTo>
                              <a:pt x="3" y="0"/>
                            </a:moveTo>
                            <a:lnTo>
                              <a:pt x="2" y="31"/>
                            </a:lnTo>
                            <a:lnTo>
                              <a:pt x="0" y="44"/>
                            </a:lnTo>
                            <a:lnTo>
                              <a:pt x="0" y="50"/>
                            </a:lnTo>
                            <a:lnTo>
                              <a:pt x="2" y="56"/>
                            </a:lnTo>
                            <a:lnTo>
                              <a:pt x="14" y="57"/>
                            </a:lnTo>
                            <a:lnTo>
                              <a:pt x="70" y="62"/>
                            </a:lnTo>
                            <a:lnTo>
                              <a:pt x="3" y="0"/>
                            </a:lnTo>
                            <a:close/>
                          </a:path>
                        </a:pathLst>
                      </a:custGeom>
                      <a:solidFill>
                        <a:srgbClr val="A0806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2402" name="Freeform 354"/>
                      <p:cNvSpPr/>
                      <p:nvPr/>
                    </p:nvSpPr>
                    <p:spPr bwMode="auto">
                      <a:xfrm>
                        <a:off x="2647" y="2987"/>
                        <a:ext cx="11" cy="6"/>
                      </a:xfrm>
                      <a:custGeom>
                        <a:avLst/>
                        <a:gdLst>
                          <a:gd name="T0" fmla="*/ 0 w 78"/>
                          <a:gd name="T1" fmla="*/ 0 h 52"/>
                          <a:gd name="T2" fmla="*/ 11 w 78"/>
                          <a:gd name="T3" fmla="*/ 30 h 52"/>
                          <a:gd name="T4" fmla="*/ 14 w 78"/>
                          <a:gd name="T5" fmla="*/ 41 h 52"/>
                          <a:gd name="T6" fmla="*/ 13 w 78"/>
                          <a:gd name="T7" fmla="*/ 52 h 52"/>
                          <a:gd name="T8" fmla="*/ 20 w 78"/>
                          <a:gd name="T9" fmla="*/ 40 h 52"/>
                          <a:gd name="T10" fmla="*/ 26 w 78"/>
                          <a:gd name="T11" fmla="*/ 38 h 52"/>
                          <a:gd name="T12" fmla="*/ 78 w 78"/>
                          <a:gd name="T13" fmla="*/ 28 h 52"/>
                          <a:gd name="T14" fmla="*/ 0 w 78"/>
                          <a:gd name="T15" fmla="*/ 0 h 5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78" h="52">
                            <a:moveTo>
                              <a:pt x="0" y="0"/>
                            </a:moveTo>
                            <a:lnTo>
                              <a:pt x="11" y="30"/>
                            </a:lnTo>
                            <a:lnTo>
                              <a:pt x="14" y="41"/>
                            </a:lnTo>
                            <a:lnTo>
                              <a:pt x="13" y="52"/>
                            </a:lnTo>
                            <a:lnTo>
                              <a:pt x="20" y="40"/>
                            </a:lnTo>
                            <a:lnTo>
                              <a:pt x="26" y="38"/>
                            </a:lnTo>
                            <a:lnTo>
                              <a:pt x="78" y="2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60402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642403" name="Group 355"/>
                    <p:cNvGrpSpPr/>
                    <p:nvPr/>
                  </p:nvGrpSpPr>
                  <p:grpSpPr bwMode="auto">
                    <a:xfrm>
                      <a:off x="2636" y="2956"/>
                      <a:ext cx="75" cy="65"/>
                      <a:chOff x="2636" y="2956"/>
                      <a:chExt cx="75" cy="65"/>
                    </a:xfrm>
                  </p:grpSpPr>
                  <p:sp>
                    <p:nvSpPr>
                      <p:cNvPr id="642404" name="Freeform 356"/>
                      <p:cNvSpPr/>
                      <p:nvPr/>
                    </p:nvSpPr>
                    <p:spPr bwMode="auto">
                      <a:xfrm>
                        <a:off x="2636" y="2956"/>
                        <a:ext cx="73" cy="65"/>
                      </a:xfrm>
                      <a:custGeom>
                        <a:avLst/>
                        <a:gdLst>
                          <a:gd name="T0" fmla="*/ 0 w 511"/>
                          <a:gd name="T1" fmla="*/ 133 h 521"/>
                          <a:gd name="T2" fmla="*/ 35 w 511"/>
                          <a:gd name="T3" fmla="*/ 211 h 521"/>
                          <a:gd name="T4" fmla="*/ 58 w 511"/>
                          <a:gd name="T5" fmla="*/ 249 h 521"/>
                          <a:gd name="T6" fmla="*/ 79 w 511"/>
                          <a:gd name="T7" fmla="*/ 273 h 521"/>
                          <a:gd name="T8" fmla="*/ 106 w 511"/>
                          <a:gd name="T9" fmla="*/ 296 h 521"/>
                          <a:gd name="T10" fmla="*/ 108 w 511"/>
                          <a:gd name="T11" fmla="*/ 312 h 521"/>
                          <a:gd name="T12" fmla="*/ 106 w 511"/>
                          <a:gd name="T13" fmla="*/ 332 h 521"/>
                          <a:gd name="T14" fmla="*/ 102 w 511"/>
                          <a:gd name="T15" fmla="*/ 359 h 521"/>
                          <a:gd name="T16" fmla="*/ 99 w 511"/>
                          <a:gd name="T17" fmla="*/ 379 h 521"/>
                          <a:gd name="T18" fmla="*/ 100 w 511"/>
                          <a:gd name="T19" fmla="*/ 392 h 521"/>
                          <a:gd name="T20" fmla="*/ 106 w 511"/>
                          <a:gd name="T21" fmla="*/ 405 h 521"/>
                          <a:gd name="T22" fmla="*/ 116 w 511"/>
                          <a:gd name="T23" fmla="*/ 413 h 521"/>
                          <a:gd name="T24" fmla="*/ 129 w 511"/>
                          <a:gd name="T25" fmla="*/ 417 h 521"/>
                          <a:gd name="T26" fmla="*/ 146 w 511"/>
                          <a:gd name="T27" fmla="*/ 415 h 521"/>
                          <a:gd name="T28" fmla="*/ 157 w 511"/>
                          <a:gd name="T29" fmla="*/ 417 h 521"/>
                          <a:gd name="T30" fmla="*/ 174 w 511"/>
                          <a:gd name="T31" fmla="*/ 439 h 521"/>
                          <a:gd name="T32" fmla="*/ 178 w 511"/>
                          <a:gd name="T33" fmla="*/ 452 h 521"/>
                          <a:gd name="T34" fmla="*/ 187 w 511"/>
                          <a:gd name="T35" fmla="*/ 456 h 521"/>
                          <a:gd name="T36" fmla="*/ 198 w 511"/>
                          <a:gd name="T37" fmla="*/ 454 h 521"/>
                          <a:gd name="T38" fmla="*/ 204 w 511"/>
                          <a:gd name="T39" fmla="*/ 453 h 521"/>
                          <a:gd name="T40" fmla="*/ 207 w 511"/>
                          <a:gd name="T41" fmla="*/ 462 h 521"/>
                          <a:gd name="T42" fmla="*/ 210 w 511"/>
                          <a:gd name="T43" fmla="*/ 473 h 521"/>
                          <a:gd name="T44" fmla="*/ 219 w 511"/>
                          <a:gd name="T45" fmla="*/ 479 h 521"/>
                          <a:gd name="T46" fmla="*/ 231 w 511"/>
                          <a:gd name="T47" fmla="*/ 483 h 521"/>
                          <a:gd name="T48" fmla="*/ 240 w 511"/>
                          <a:gd name="T49" fmla="*/ 482 h 521"/>
                          <a:gd name="T50" fmla="*/ 252 w 511"/>
                          <a:gd name="T51" fmla="*/ 491 h 521"/>
                          <a:gd name="T52" fmla="*/ 262 w 511"/>
                          <a:gd name="T53" fmla="*/ 499 h 521"/>
                          <a:gd name="T54" fmla="*/ 268 w 511"/>
                          <a:gd name="T55" fmla="*/ 510 h 521"/>
                          <a:gd name="T56" fmla="*/ 287 w 511"/>
                          <a:gd name="T57" fmla="*/ 519 h 521"/>
                          <a:gd name="T58" fmla="*/ 303 w 511"/>
                          <a:gd name="T59" fmla="*/ 521 h 521"/>
                          <a:gd name="T60" fmla="*/ 323 w 511"/>
                          <a:gd name="T61" fmla="*/ 514 h 521"/>
                          <a:gd name="T62" fmla="*/ 343 w 511"/>
                          <a:gd name="T63" fmla="*/ 500 h 521"/>
                          <a:gd name="T64" fmla="*/ 360 w 511"/>
                          <a:gd name="T65" fmla="*/ 484 h 521"/>
                          <a:gd name="T66" fmla="*/ 377 w 511"/>
                          <a:gd name="T67" fmla="*/ 460 h 521"/>
                          <a:gd name="T68" fmla="*/ 395 w 511"/>
                          <a:gd name="T69" fmla="*/ 455 h 521"/>
                          <a:gd name="T70" fmla="*/ 436 w 511"/>
                          <a:gd name="T71" fmla="*/ 412 h 521"/>
                          <a:gd name="T72" fmla="*/ 511 w 511"/>
                          <a:gd name="T73" fmla="*/ 319 h 521"/>
                          <a:gd name="T74" fmla="*/ 497 w 511"/>
                          <a:gd name="T75" fmla="*/ 283 h 521"/>
                          <a:gd name="T76" fmla="*/ 473 w 511"/>
                          <a:gd name="T77" fmla="*/ 157 h 521"/>
                          <a:gd name="T78" fmla="*/ 412 w 511"/>
                          <a:gd name="T79" fmla="*/ 72 h 521"/>
                          <a:gd name="T80" fmla="*/ 318 w 511"/>
                          <a:gd name="T81" fmla="*/ 17 h 521"/>
                          <a:gd name="T82" fmla="*/ 199 w 511"/>
                          <a:gd name="T83" fmla="*/ 0 h 521"/>
                          <a:gd name="T84" fmla="*/ 64 w 511"/>
                          <a:gd name="T85" fmla="*/ 24 h 521"/>
                          <a:gd name="T86" fmla="*/ 17 w 511"/>
                          <a:gd name="T87" fmla="*/ 61 h 521"/>
                          <a:gd name="T88" fmla="*/ 0 w 511"/>
                          <a:gd name="T89" fmla="*/ 133 h 5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</a:cxnLst>
                        <a:rect l="0" t="0" r="r" b="b"/>
                        <a:pathLst>
                          <a:path w="511" h="521">
                            <a:moveTo>
                              <a:pt x="0" y="133"/>
                            </a:moveTo>
                            <a:lnTo>
                              <a:pt x="35" y="211"/>
                            </a:lnTo>
                            <a:lnTo>
                              <a:pt x="58" y="249"/>
                            </a:lnTo>
                            <a:lnTo>
                              <a:pt x="79" y="273"/>
                            </a:lnTo>
                            <a:lnTo>
                              <a:pt x="106" y="296"/>
                            </a:lnTo>
                            <a:lnTo>
                              <a:pt x="108" y="312"/>
                            </a:lnTo>
                            <a:lnTo>
                              <a:pt x="106" y="332"/>
                            </a:lnTo>
                            <a:lnTo>
                              <a:pt x="102" y="359"/>
                            </a:lnTo>
                            <a:lnTo>
                              <a:pt x="99" y="379"/>
                            </a:lnTo>
                            <a:lnTo>
                              <a:pt x="100" y="392"/>
                            </a:lnTo>
                            <a:lnTo>
                              <a:pt x="106" y="405"/>
                            </a:lnTo>
                            <a:lnTo>
                              <a:pt x="116" y="413"/>
                            </a:lnTo>
                            <a:lnTo>
                              <a:pt x="129" y="417"/>
                            </a:lnTo>
                            <a:lnTo>
                              <a:pt x="146" y="415"/>
                            </a:lnTo>
                            <a:lnTo>
                              <a:pt x="157" y="417"/>
                            </a:lnTo>
                            <a:lnTo>
                              <a:pt x="174" y="439"/>
                            </a:lnTo>
                            <a:lnTo>
                              <a:pt x="178" y="452"/>
                            </a:lnTo>
                            <a:lnTo>
                              <a:pt x="187" y="456"/>
                            </a:lnTo>
                            <a:lnTo>
                              <a:pt x="198" y="454"/>
                            </a:lnTo>
                            <a:lnTo>
                              <a:pt x="204" y="453"/>
                            </a:lnTo>
                            <a:lnTo>
                              <a:pt x="207" y="462"/>
                            </a:lnTo>
                            <a:lnTo>
                              <a:pt x="210" y="473"/>
                            </a:lnTo>
                            <a:lnTo>
                              <a:pt x="219" y="479"/>
                            </a:lnTo>
                            <a:lnTo>
                              <a:pt x="231" y="483"/>
                            </a:lnTo>
                            <a:lnTo>
                              <a:pt x="240" y="482"/>
                            </a:lnTo>
                            <a:lnTo>
                              <a:pt x="252" y="491"/>
                            </a:lnTo>
                            <a:lnTo>
                              <a:pt x="262" y="499"/>
                            </a:lnTo>
                            <a:lnTo>
                              <a:pt x="268" y="510"/>
                            </a:lnTo>
                            <a:lnTo>
                              <a:pt x="287" y="519"/>
                            </a:lnTo>
                            <a:lnTo>
                              <a:pt x="303" y="521"/>
                            </a:lnTo>
                            <a:lnTo>
                              <a:pt x="323" y="514"/>
                            </a:lnTo>
                            <a:lnTo>
                              <a:pt x="343" y="500"/>
                            </a:lnTo>
                            <a:lnTo>
                              <a:pt x="360" y="484"/>
                            </a:lnTo>
                            <a:lnTo>
                              <a:pt x="377" y="460"/>
                            </a:lnTo>
                            <a:lnTo>
                              <a:pt x="395" y="455"/>
                            </a:lnTo>
                            <a:lnTo>
                              <a:pt x="436" y="412"/>
                            </a:lnTo>
                            <a:lnTo>
                              <a:pt x="511" y="319"/>
                            </a:lnTo>
                            <a:lnTo>
                              <a:pt x="497" y="283"/>
                            </a:lnTo>
                            <a:lnTo>
                              <a:pt x="473" y="157"/>
                            </a:lnTo>
                            <a:lnTo>
                              <a:pt x="412" y="72"/>
                            </a:lnTo>
                            <a:lnTo>
                              <a:pt x="318" y="17"/>
                            </a:lnTo>
                            <a:lnTo>
                              <a:pt x="199" y="0"/>
                            </a:lnTo>
                            <a:lnTo>
                              <a:pt x="64" y="24"/>
                            </a:lnTo>
                            <a:lnTo>
                              <a:pt x="17" y="61"/>
                            </a:lnTo>
                            <a:lnTo>
                              <a:pt x="0" y="133"/>
                            </a:lnTo>
                            <a:close/>
                          </a:path>
                        </a:pathLst>
                      </a:custGeom>
                      <a:solidFill>
                        <a:srgbClr val="FFA08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642405" name="Group 357"/>
                      <p:cNvGrpSpPr/>
                      <p:nvPr/>
                    </p:nvGrpSpPr>
                    <p:grpSpPr bwMode="auto">
                      <a:xfrm>
                        <a:off x="2653" y="2965"/>
                        <a:ext cx="58" cy="56"/>
                        <a:chOff x="2653" y="2965"/>
                        <a:chExt cx="58" cy="56"/>
                      </a:xfrm>
                    </p:grpSpPr>
                    <p:sp>
                      <p:nvSpPr>
                        <p:cNvPr id="642406" name="Freeform 358"/>
                        <p:cNvSpPr/>
                        <p:nvPr/>
                      </p:nvSpPr>
                      <p:spPr bwMode="auto">
                        <a:xfrm>
                          <a:off x="2669" y="3012"/>
                          <a:ext cx="7" cy="5"/>
                        </a:xfrm>
                        <a:custGeom>
                          <a:avLst/>
                          <a:gdLst>
                            <a:gd name="T0" fmla="*/ 0 w 45"/>
                            <a:gd name="T1" fmla="*/ 29 h 40"/>
                            <a:gd name="T2" fmla="*/ 22 w 45"/>
                            <a:gd name="T3" fmla="*/ 3 h 40"/>
                            <a:gd name="T4" fmla="*/ 33 w 45"/>
                            <a:gd name="T5" fmla="*/ 4 h 40"/>
                            <a:gd name="T6" fmla="*/ 45 w 45"/>
                            <a:gd name="T7" fmla="*/ 0 h 40"/>
                            <a:gd name="T8" fmla="*/ 29 w 45"/>
                            <a:gd name="T9" fmla="*/ 22 h 40"/>
                            <a:gd name="T10" fmla="*/ 18 w 45"/>
                            <a:gd name="T11" fmla="*/ 40 h 40"/>
                            <a:gd name="T12" fmla="*/ 10 w 45"/>
                            <a:gd name="T13" fmla="*/ 34 h 40"/>
                            <a:gd name="T14" fmla="*/ 0 w 45"/>
                            <a:gd name="T15" fmla="*/ 29 h 4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</a:cxnLst>
                          <a:rect l="0" t="0" r="r" b="b"/>
                          <a:pathLst>
                            <a:path w="45" h="40">
                              <a:moveTo>
                                <a:pt x="0" y="29"/>
                              </a:moveTo>
                              <a:lnTo>
                                <a:pt x="22" y="3"/>
                              </a:lnTo>
                              <a:lnTo>
                                <a:pt x="33" y="4"/>
                              </a:lnTo>
                              <a:lnTo>
                                <a:pt x="45" y="0"/>
                              </a:lnTo>
                              <a:lnTo>
                                <a:pt x="29" y="22"/>
                              </a:lnTo>
                              <a:lnTo>
                                <a:pt x="18" y="40"/>
                              </a:lnTo>
                              <a:lnTo>
                                <a:pt x="10" y="34"/>
                              </a:lnTo>
                              <a:lnTo>
                                <a:pt x="0" y="2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407" name="Freeform 359"/>
                        <p:cNvSpPr/>
                        <p:nvPr/>
                      </p:nvSpPr>
                      <p:spPr bwMode="auto">
                        <a:xfrm>
                          <a:off x="2655" y="2965"/>
                          <a:ext cx="56" cy="51"/>
                        </a:xfrm>
                        <a:custGeom>
                          <a:avLst/>
                          <a:gdLst>
                            <a:gd name="T0" fmla="*/ 0 w 389"/>
                            <a:gd name="T1" fmla="*/ 104 h 406"/>
                            <a:gd name="T2" fmla="*/ 52 w 389"/>
                            <a:gd name="T3" fmla="*/ 125 h 406"/>
                            <a:gd name="T4" fmla="*/ 79 w 389"/>
                            <a:gd name="T5" fmla="*/ 133 h 406"/>
                            <a:gd name="T6" fmla="*/ 111 w 389"/>
                            <a:gd name="T7" fmla="*/ 137 h 406"/>
                            <a:gd name="T8" fmla="*/ 142 w 389"/>
                            <a:gd name="T9" fmla="*/ 139 h 406"/>
                            <a:gd name="T10" fmla="*/ 135 w 389"/>
                            <a:gd name="T11" fmla="*/ 157 h 406"/>
                            <a:gd name="T12" fmla="*/ 129 w 389"/>
                            <a:gd name="T13" fmla="*/ 181 h 406"/>
                            <a:gd name="T14" fmla="*/ 125 w 389"/>
                            <a:gd name="T15" fmla="*/ 206 h 406"/>
                            <a:gd name="T16" fmla="*/ 116 w 389"/>
                            <a:gd name="T17" fmla="*/ 217 h 406"/>
                            <a:gd name="T18" fmla="*/ 100 w 389"/>
                            <a:gd name="T19" fmla="*/ 226 h 406"/>
                            <a:gd name="T20" fmla="*/ 77 w 389"/>
                            <a:gd name="T21" fmla="*/ 236 h 406"/>
                            <a:gd name="T22" fmla="*/ 67 w 389"/>
                            <a:gd name="T23" fmla="*/ 250 h 406"/>
                            <a:gd name="T24" fmla="*/ 64 w 389"/>
                            <a:gd name="T25" fmla="*/ 266 h 406"/>
                            <a:gd name="T26" fmla="*/ 67 w 389"/>
                            <a:gd name="T27" fmla="*/ 287 h 406"/>
                            <a:gd name="T28" fmla="*/ 76 w 389"/>
                            <a:gd name="T29" fmla="*/ 307 h 406"/>
                            <a:gd name="T30" fmla="*/ 85 w 389"/>
                            <a:gd name="T31" fmla="*/ 321 h 406"/>
                            <a:gd name="T32" fmla="*/ 100 w 389"/>
                            <a:gd name="T33" fmla="*/ 335 h 406"/>
                            <a:gd name="T34" fmla="*/ 108 w 389"/>
                            <a:gd name="T35" fmla="*/ 329 h 406"/>
                            <a:gd name="T36" fmla="*/ 120 w 389"/>
                            <a:gd name="T37" fmla="*/ 326 h 406"/>
                            <a:gd name="T38" fmla="*/ 131 w 389"/>
                            <a:gd name="T39" fmla="*/ 328 h 406"/>
                            <a:gd name="T40" fmla="*/ 125 w 389"/>
                            <a:gd name="T41" fmla="*/ 359 h 406"/>
                            <a:gd name="T42" fmla="*/ 138 w 389"/>
                            <a:gd name="T43" fmla="*/ 367 h 406"/>
                            <a:gd name="T44" fmla="*/ 150 w 389"/>
                            <a:gd name="T45" fmla="*/ 375 h 406"/>
                            <a:gd name="T46" fmla="*/ 159 w 389"/>
                            <a:gd name="T47" fmla="*/ 389 h 406"/>
                            <a:gd name="T48" fmla="*/ 164 w 389"/>
                            <a:gd name="T49" fmla="*/ 400 h 406"/>
                            <a:gd name="T50" fmla="*/ 175 w 389"/>
                            <a:gd name="T51" fmla="*/ 405 h 406"/>
                            <a:gd name="T52" fmla="*/ 187 w 389"/>
                            <a:gd name="T53" fmla="*/ 406 h 406"/>
                            <a:gd name="T54" fmla="*/ 205 w 389"/>
                            <a:gd name="T55" fmla="*/ 394 h 406"/>
                            <a:gd name="T56" fmla="*/ 219 w 389"/>
                            <a:gd name="T57" fmla="*/ 380 h 406"/>
                            <a:gd name="T58" fmla="*/ 227 w 389"/>
                            <a:gd name="T59" fmla="*/ 368 h 406"/>
                            <a:gd name="T60" fmla="*/ 232 w 389"/>
                            <a:gd name="T61" fmla="*/ 343 h 406"/>
                            <a:gd name="T62" fmla="*/ 237 w 389"/>
                            <a:gd name="T63" fmla="*/ 315 h 406"/>
                            <a:gd name="T64" fmla="*/ 249 w 389"/>
                            <a:gd name="T65" fmla="*/ 303 h 406"/>
                            <a:gd name="T66" fmla="*/ 296 w 389"/>
                            <a:gd name="T67" fmla="*/ 287 h 406"/>
                            <a:gd name="T68" fmla="*/ 338 w 389"/>
                            <a:gd name="T69" fmla="*/ 269 h 406"/>
                            <a:gd name="T70" fmla="*/ 368 w 389"/>
                            <a:gd name="T71" fmla="*/ 251 h 406"/>
                            <a:gd name="T72" fmla="*/ 389 w 389"/>
                            <a:gd name="T73" fmla="*/ 227 h 406"/>
                            <a:gd name="T74" fmla="*/ 352 w 389"/>
                            <a:gd name="T75" fmla="*/ 80 h 406"/>
                            <a:gd name="T76" fmla="*/ 125 w 389"/>
                            <a:gd name="T77" fmla="*/ 0 h 406"/>
                            <a:gd name="T78" fmla="*/ 0 w 389"/>
                            <a:gd name="T79" fmla="*/ 104 h 40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  <a:cxn ang="0">
                              <a:pos x="T70" y="T71"/>
                            </a:cxn>
                            <a:cxn ang="0">
                              <a:pos x="T72" y="T73"/>
                            </a:cxn>
                            <a:cxn ang="0">
                              <a:pos x="T74" y="T75"/>
                            </a:cxn>
                            <a:cxn ang="0">
                              <a:pos x="T76" y="T77"/>
                            </a:cxn>
                            <a:cxn ang="0">
                              <a:pos x="T78" y="T79"/>
                            </a:cxn>
                          </a:cxnLst>
                          <a:rect l="0" t="0" r="r" b="b"/>
                          <a:pathLst>
                            <a:path w="389" h="406">
                              <a:moveTo>
                                <a:pt x="0" y="104"/>
                              </a:moveTo>
                              <a:lnTo>
                                <a:pt x="52" y="125"/>
                              </a:lnTo>
                              <a:lnTo>
                                <a:pt x="79" y="133"/>
                              </a:lnTo>
                              <a:lnTo>
                                <a:pt x="111" y="137"/>
                              </a:lnTo>
                              <a:lnTo>
                                <a:pt x="142" y="139"/>
                              </a:lnTo>
                              <a:lnTo>
                                <a:pt x="135" y="157"/>
                              </a:lnTo>
                              <a:lnTo>
                                <a:pt x="129" y="181"/>
                              </a:lnTo>
                              <a:lnTo>
                                <a:pt x="125" y="206"/>
                              </a:lnTo>
                              <a:lnTo>
                                <a:pt x="116" y="217"/>
                              </a:lnTo>
                              <a:lnTo>
                                <a:pt x="100" y="226"/>
                              </a:lnTo>
                              <a:lnTo>
                                <a:pt x="77" y="236"/>
                              </a:lnTo>
                              <a:lnTo>
                                <a:pt x="67" y="250"/>
                              </a:lnTo>
                              <a:lnTo>
                                <a:pt x="64" y="266"/>
                              </a:lnTo>
                              <a:lnTo>
                                <a:pt x="67" y="287"/>
                              </a:lnTo>
                              <a:lnTo>
                                <a:pt x="76" y="307"/>
                              </a:lnTo>
                              <a:lnTo>
                                <a:pt x="85" y="321"/>
                              </a:lnTo>
                              <a:lnTo>
                                <a:pt x="100" y="335"/>
                              </a:lnTo>
                              <a:lnTo>
                                <a:pt x="108" y="329"/>
                              </a:lnTo>
                              <a:lnTo>
                                <a:pt x="120" y="326"/>
                              </a:lnTo>
                              <a:lnTo>
                                <a:pt x="131" y="328"/>
                              </a:lnTo>
                              <a:lnTo>
                                <a:pt x="125" y="359"/>
                              </a:lnTo>
                              <a:lnTo>
                                <a:pt x="138" y="367"/>
                              </a:lnTo>
                              <a:lnTo>
                                <a:pt x="150" y="375"/>
                              </a:lnTo>
                              <a:lnTo>
                                <a:pt x="159" y="389"/>
                              </a:lnTo>
                              <a:lnTo>
                                <a:pt x="164" y="400"/>
                              </a:lnTo>
                              <a:lnTo>
                                <a:pt x="175" y="405"/>
                              </a:lnTo>
                              <a:lnTo>
                                <a:pt x="187" y="406"/>
                              </a:lnTo>
                              <a:lnTo>
                                <a:pt x="205" y="394"/>
                              </a:lnTo>
                              <a:lnTo>
                                <a:pt x="219" y="380"/>
                              </a:lnTo>
                              <a:lnTo>
                                <a:pt x="227" y="368"/>
                              </a:lnTo>
                              <a:lnTo>
                                <a:pt x="232" y="343"/>
                              </a:lnTo>
                              <a:lnTo>
                                <a:pt x="237" y="315"/>
                              </a:lnTo>
                              <a:lnTo>
                                <a:pt x="249" y="303"/>
                              </a:lnTo>
                              <a:lnTo>
                                <a:pt x="296" y="287"/>
                              </a:lnTo>
                              <a:lnTo>
                                <a:pt x="338" y="269"/>
                              </a:lnTo>
                              <a:lnTo>
                                <a:pt x="368" y="251"/>
                              </a:lnTo>
                              <a:lnTo>
                                <a:pt x="389" y="227"/>
                              </a:lnTo>
                              <a:lnTo>
                                <a:pt x="352" y="80"/>
                              </a:lnTo>
                              <a:lnTo>
                                <a:pt x="125" y="0"/>
                              </a:lnTo>
                              <a:lnTo>
                                <a:pt x="0" y="104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408" name="Freeform 360"/>
                        <p:cNvSpPr/>
                        <p:nvPr/>
                      </p:nvSpPr>
                      <p:spPr bwMode="auto">
                        <a:xfrm>
                          <a:off x="2653" y="3000"/>
                          <a:ext cx="12" cy="8"/>
                        </a:xfrm>
                        <a:custGeom>
                          <a:avLst/>
                          <a:gdLst>
                            <a:gd name="T0" fmla="*/ 9 w 79"/>
                            <a:gd name="T1" fmla="*/ 61 h 64"/>
                            <a:gd name="T2" fmla="*/ 0 w 79"/>
                            <a:gd name="T3" fmla="*/ 56 h 64"/>
                            <a:gd name="T4" fmla="*/ 0 w 79"/>
                            <a:gd name="T5" fmla="*/ 48 h 64"/>
                            <a:gd name="T6" fmla="*/ 8 w 79"/>
                            <a:gd name="T7" fmla="*/ 45 h 64"/>
                            <a:gd name="T8" fmla="*/ 22 w 79"/>
                            <a:gd name="T9" fmla="*/ 43 h 64"/>
                            <a:gd name="T10" fmla="*/ 35 w 79"/>
                            <a:gd name="T11" fmla="*/ 45 h 64"/>
                            <a:gd name="T12" fmla="*/ 51 w 79"/>
                            <a:gd name="T13" fmla="*/ 50 h 64"/>
                            <a:gd name="T14" fmla="*/ 60 w 79"/>
                            <a:gd name="T15" fmla="*/ 33 h 64"/>
                            <a:gd name="T16" fmla="*/ 60 w 79"/>
                            <a:gd name="T17" fmla="*/ 20 h 64"/>
                            <a:gd name="T18" fmla="*/ 56 w 79"/>
                            <a:gd name="T19" fmla="*/ 10 h 64"/>
                            <a:gd name="T20" fmla="*/ 46 w 79"/>
                            <a:gd name="T21" fmla="*/ 7 h 64"/>
                            <a:gd name="T22" fmla="*/ 36 w 79"/>
                            <a:gd name="T23" fmla="*/ 10 h 64"/>
                            <a:gd name="T24" fmla="*/ 29 w 79"/>
                            <a:gd name="T25" fmla="*/ 16 h 64"/>
                            <a:gd name="T26" fmla="*/ 31 w 79"/>
                            <a:gd name="T27" fmla="*/ 7 h 64"/>
                            <a:gd name="T28" fmla="*/ 40 w 79"/>
                            <a:gd name="T29" fmla="*/ 0 h 64"/>
                            <a:gd name="T30" fmla="*/ 54 w 79"/>
                            <a:gd name="T31" fmla="*/ 0 h 64"/>
                            <a:gd name="T32" fmla="*/ 70 w 79"/>
                            <a:gd name="T33" fmla="*/ 6 h 64"/>
                            <a:gd name="T34" fmla="*/ 77 w 79"/>
                            <a:gd name="T35" fmla="*/ 15 h 64"/>
                            <a:gd name="T36" fmla="*/ 79 w 79"/>
                            <a:gd name="T37" fmla="*/ 26 h 64"/>
                            <a:gd name="T38" fmla="*/ 77 w 79"/>
                            <a:gd name="T39" fmla="*/ 41 h 64"/>
                            <a:gd name="T40" fmla="*/ 69 w 79"/>
                            <a:gd name="T41" fmla="*/ 55 h 64"/>
                            <a:gd name="T42" fmla="*/ 59 w 79"/>
                            <a:gd name="T43" fmla="*/ 62 h 64"/>
                            <a:gd name="T44" fmla="*/ 42 w 79"/>
                            <a:gd name="T45" fmla="*/ 64 h 64"/>
                            <a:gd name="T46" fmla="*/ 32 w 79"/>
                            <a:gd name="T47" fmla="*/ 61 h 64"/>
                            <a:gd name="T48" fmla="*/ 22 w 79"/>
                            <a:gd name="T49" fmla="*/ 58 h 64"/>
                            <a:gd name="T50" fmla="*/ 9 w 79"/>
                            <a:gd name="T51" fmla="*/ 61 h 6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</a:cxnLst>
                          <a:rect l="0" t="0" r="r" b="b"/>
                          <a:pathLst>
                            <a:path w="79" h="64">
                              <a:moveTo>
                                <a:pt x="9" y="61"/>
                              </a:moveTo>
                              <a:lnTo>
                                <a:pt x="0" y="56"/>
                              </a:lnTo>
                              <a:lnTo>
                                <a:pt x="0" y="48"/>
                              </a:lnTo>
                              <a:lnTo>
                                <a:pt x="8" y="45"/>
                              </a:lnTo>
                              <a:lnTo>
                                <a:pt x="22" y="43"/>
                              </a:lnTo>
                              <a:lnTo>
                                <a:pt x="35" y="45"/>
                              </a:lnTo>
                              <a:lnTo>
                                <a:pt x="51" y="50"/>
                              </a:lnTo>
                              <a:lnTo>
                                <a:pt x="60" y="33"/>
                              </a:lnTo>
                              <a:lnTo>
                                <a:pt x="60" y="20"/>
                              </a:lnTo>
                              <a:lnTo>
                                <a:pt x="56" y="10"/>
                              </a:lnTo>
                              <a:lnTo>
                                <a:pt x="46" y="7"/>
                              </a:lnTo>
                              <a:lnTo>
                                <a:pt x="36" y="10"/>
                              </a:lnTo>
                              <a:lnTo>
                                <a:pt x="29" y="16"/>
                              </a:lnTo>
                              <a:lnTo>
                                <a:pt x="31" y="7"/>
                              </a:lnTo>
                              <a:lnTo>
                                <a:pt x="40" y="0"/>
                              </a:lnTo>
                              <a:lnTo>
                                <a:pt x="54" y="0"/>
                              </a:lnTo>
                              <a:lnTo>
                                <a:pt x="70" y="6"/>
                              </a:lnTo>
                              <a:lnTo>
                                <a:pt x="77" y="15"/>
                              </a:lnTo>
                              <a:lnTo>
                                <a:pt x="79" y="26"/>
                              </a:lnTo>
                              <a:lnTo>
                                <a:pt x="77" y="41"/>
                              </a:lnTo>
                              <a:lnTo>
                                <a:pt x="69" y="55"/>
                              </a:lnTo>
                              <a:lnTo>
                                <a:pt x="59" y="62"/>
                              </a:lnTo>
                              <a:lnTo>
                                <a:pt x="42" y="64"/>
                              </a:lnTo>
                              <a:lnTo>
                                <a:pt x="32" y="61"/>
                              </a:lnTo>
                              <a:lnTo>
                                <a:pt x="22" y="58"/>
                              </a:lnTo>
                              <a:lnTo>
                                <a:pt x="9" y="6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42409" name="Freeform 361"/>
                        <p:cNvSpPr/>
                        <p:nvPr/>
                      </p:nvSpPr>
                      <p:spPr bwMode="auto">
                        <a:xfrm>
                          <a:off x="2675" y="3017"/>
                          <a:ext cx="8" cy="4"/>
                        </a:xfrm>
                        <a:custGeom>
                          <a:avLst/>
                          <a:gdLst>
                            <a:gd name="T0" fmla="*/ 0 w 62"/>
                            <a:gd name="T1" fmla="*/ 20 h 31"/>
                            <a:gd name="T2" fmla="*/ 15 w 62"/>
                            <a:gd name="T3" fmla="*/ 13 h 31"/>
                            <a:gd name="T4" fmla="*/ 30 w 62"/>
                            <a:gd name="T5" fmla="*/ 0 h 31"/>
                            <a:gd name="T6" fmla="*/ 37 w 62"/>
                            <a:gd name="T7" fmla="*/ 5 h 31"/>
                            <a:gd name="T8" fmla="*/ 45 w 62"/>
                            <a:gd name="T9" fmla="*/ 12 h 31"/>
                            <a:gd name="T10" fmla="*/ 53 w 62"/>
                            <a:gd name="T11" fmla="*/ 15 h 31"/>
                            <a:gd name="T12" fmla="*/ 62 w 62"/>
                            <a:gd name="T13" fmla="*/ 17 h 31"/>
                            <a:gd name="T14" fmla="*/ 47 w 62"/>
                            <a:gd name="T15" fmla="*/ 26 h 31"/>
                            <a:gd name="T16" fmla="*/ 33 w 62"/>
                            <a:gd name="T17" fmla="*/ 31 h 31"/>
                            <a:gd name="T18" fmla="*/ 21 w 62"/>
                            <a:gd name="T19" fmla="*/ 30 h 31"/>
                            <a:gd name="T20" fmla="*/ 11 w 62"/>
                            <a:gd name="T21" fmla="*/ 27 h 31"/>
                            <a:gd name="T22" fmla="*/ 0 w 62"/>
                            <a:gd name="T23" fmla="*/ 20 h 3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</a:cxnLst>
                          <a:rect l="0" t="0" r="r" b="b"/>
                          <a:pathLst>
                            <a:path w="62" h="31">
                              <a:moveTo>
                                <a:pt x="0" y="20"/>
                              </a:moveTo>
                              <a:lnTo>
                                <a:pt x="15" y="13"/>
                              </a:lnTo>
                              <a:lnTo>
                                <a:pt x="30" y="0"/>
                              </a:lnTo>
                              <a:lnTo>
                                <a:pt x="37" y="5"/>
                              </a:lnTo>
                              <a:lnTo>
                                <a:pt x="45" y="12"/>
                              </a:lnTo>
                              <a:lnTo>
                                <a:pt x="53" y="15"/>
                              </a:lnTo>
                              <a:lnTo>
                                <a:pt x="62" y="17"/>
                              </a:lnTo>
                              <a:lnTo>
                                <a:pt x="47" y="26"/>
                              </a:lnTo>
                              <a:lnTo>
                                <a:pt x="33" y="31"/>
                              </a:lnTo>
                              <a:lnTo>
                                <a:pt x="21" y="30"/>
                              </a:lnTo>
                              <a:lnTo>
                                <a:pt x="11" y="27"/>
                              </a:lnTo>
                              <a:lnTo>
                                <a:pt x="0" y="2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804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  <p:grpSp>
                <p:nvGrpSpPr>
                  <p:cNvPr id="642410" name="Group 362"/>
                  <p:cNvGrpSpPr/>
                  <p:nvPr/>
                </p:nvGrpSpPr>
                <p:grpSpPr bwMode="auto">
                  <a:xfrm>
                    <a:off x="2661" y="3006"/>
                    <a:ext cx="13" cy="10"/>
                    <a:chOff x="2661" y="3006"/>
                    <a:chExt cx="13" cy="10"/>
                  </a:xfrm>
                </p:grpSpPr>
                <p:sp>
                  <p:nvSpPr>
                    <p:cNvPr id="642411" name="Freeform 363"/>
                    <p:cNvSpPr/>
                    <p:nvPr/>
                  </p:nvSpPr>
                  <p:spPr bwMode="auto">
                    <a:xfrm>
                      <a:off x="2662" y="3006"/>
                      <a:ext cx="12" cy="8"/>
                    </a:xfrm>
                    <a:custGeom>
                      <a:avLst/>
                      <a:gdLst>
                        <a:gd name="T0" fmla="*/ 0 w 80"/>
                        <a:gd name="T1" fmla="*/ 44 h 65"/>
                        <a:gd name="T2" fmla="*/ 18 w 80"/>
                        <a:gd name="T3" fmla="*/ 47 h 65"/>
                        <a:gd name="T4" fmla="*/ 26 w 80"/>
                        <a:gd name="T5" fmla="*/ 59 h 65"/>
                        <a:gd name="T6" fmla="*/ 31 w 80"/>
                        <a:gd name="T7" fmla="*/ 65 h 65"/>
                        <a:gd name="T8" fmla="*/ 60 w 80"/>
                        <a:gd name="T9" fmla="*/ 54 h 65"/>
                        <a:gd name="T10" fmla="*/ 69 w 80"/>
                        <a:gd name="T11" fmla="*/ 39 h 65"/>
                        <a:gd name="T12" fmla="*/ 80 w 80"/>
                        <a:gd name="T13" fmla="*/ 0 h 65"/>
                        <a:gd name="T14" fmla="*/ 68 w 80"/>
                        <a:gd name="T15" fmla="*/ 7 h 65"/>
                        <a:gd name="T16" fmla="*/ 0 w 80"/>
                        <a:gd name="T17" fmla="*/ 44 h 6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80" h="65">
                          <a:moveTo>
                            <a:pt x="0" y="44"/>
                          </a:moveTo>
                          <a:lnTo>
                            <a:pt x="18" y="47"/>
                          </a:lnTo>
                          <a:lnTo>
                            <a:pt x="26" y="59"/>
                          </a:lnTo>
                          <a:lnTo>
                            <a:pt x="31" y="65"/>
                          </a:lnTo>
                          <a:lnTo>
                            <a:pt x="60" y="54"/>
                          </a:lnTo>
                          <a:lnTo>
                            <a:pt x="69" y="39"/>
                          </a:lnTo>
                          <a:lnTo>
                            <a:pt x="80" y="0"/>
                          </a:lnTo>
                          <a:lnTo>
                            <a:pt x="68" y="7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rgbClr val="E0406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412" name="Freeform 364"/>
                    <p:cNvSpPr/>
                    <p:nvPr/>
                  </p:nvSpPr>
                  <p:spPr bwMode="auto">
                    <a:xfrm>
                      <a:off x="2664" y="3006"/>
                      <a:ext cx="10" cy="8"/>
                    </a:xfrm>
                    <a:custGeom>
                      <a:avLst/>
                      <a:gdLst>
                        <a:gd name="T0" fmla="*/ 0 w 70"/>
                        <a:gd name="T1" fmla="*/ 42 h 59"/>
                        <a:gd name="T2" fmla="*/ 16 w 70"/>
                        <a:gd name="T3" fmla="*/ 59 h 59"/>
                        <a:gd name="T4" fmla="*/ 26 w 70"/>
                        <a:gd name="T5" fmla="*/ 56 h 59"/>
                        <a:gd name="T6" fmla="*/ 69 w 70"/>
                        <a:gd name="T7" fmla="*/ 6 h 59"/>
                        <a:gd name="T8" fmla="*/ 70 w 70"/>
                        <a:gd name="T9" fmla="*/ 0 h 59"/>
                        <a:gd name="T10" fmla="*/ 0 w 70"/>
                        <a:gd name="T11" fmla="*/ 42 h 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0" h="59">
                          <a:moveTo>
                            <a:pt x="0" y="42"/>
                          </a:moveTo>
                          <a:lnTo>
                            <a:pt x="16" y="59"/>
                          </a:lnTo>
                          <a:lnTo>
                            <a:pt x="26" y="56"/>
                          </a:lnTo>
                          <a:lnTo>
                            <a:pt x="69" y="6"/>
                          </a:lnTo>
                          <a:lnTo>
                            <a:pt x="70" y="0"/>
                          </a:lnTo>
                          <a:lnTo>
                            <a:pt x="0" y="42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413" name="Freeform 365"/>
                    <p:cNvSpPr/>
                    <p:nvPr/>
                  </p:nvSpPr>
                  <p:spPr bwMode="auto">
                    <a:xfrm>
                      <a:off x="2661" y="3006"/>
                      <a:ext cx="13" cy="7"/>
                    </a:xfrm>
                    <a:custGeom>
                      <a:avLst/>
                      <a:gdLst>
                        <a:gd name="T0" fmla="*/ 90 w 90"/>
                        <a:gd name="T1" fmla="*/ 0 h 54"/>
                        <a:gd name="T2" fmla="*/ 74 w 90"/>
                        <a:gd name="T3" fmla="*/ 9 h 54"/>
                        <a:gd name="T4" fmla="*/ 51 w 90"/>
                        <a:gd name="T5" fmla="*/ 18 h 54"/>
                        <a:gd name="T6" fmla="*/ 27 w 90"/>
                        <a:gd name="T7" fmla="*/ 22 h 54"/>
                        <a:gd name="T8" fmla="*/ 10 w 90"/>
                        <a:gd name="T9" fmla="*/ 32 h 54"/>
                        <a:gd name="T10" fmla="*/ 3 w 90"/>
                        <a:gd name="T11" fmla="*/ 39 h 54"/>
                        <a:gd name="T12" fmla="*/ 0 w 90"/>
                        <a:gd name="T13" fmla="*/ 49 h 54"/>
                        <a:gd name="T14" fmla="*/ 5 w 90"/>
                        <a:gd name="T15" fmla="*/ 54 h 54"/>
                        <a:gd name="T16" fmla="*/ 14 w 90"/>
                        <a:gd name="T17" fmla="*/ 54 h 54"/>
                        <a:gd name="T18" fmla="*/ 22 w 90"/>
                        <a:gd name="T19" fmla="*/ 53 h 54"/>
                        <a:gd name="T20" fmla="*/ 38 w 90"/>
                        <a:gd name="T21" fmla="*/ 45 h 54"/>
                        <a:gd name="T22" fmla="*/ 55 w 90"/>
                        <a:gd name="T23" fmla="*/ 31 h 54"/>
                        <a:gd name="T24" fmla="*/ 85 w 90"/>
                        <a:gd name="T25" fmla="*/ 9 h 54"/>
                        <a:gd name="T26" fmla="*/ 90 w 90"/>
                        <a:gd name="T27" fmla="*/ 0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90" h="54">
                          <a:moveTo>
                            <a:pt x="90" y="0"/>
                          </a:moveTo>
                          <a:lnTo>
                            <a:pt x="74" y="9"/>
                          </a:lnTo>
                          <a:lnTo>
                            <a:pt x="51" y="18"/>
                          </a:lnTo>
                          <a:lnTo>
                            <a:pt x="27" y="22"/>
                          </a:lnTo>
                          <a:lnTo>
                            <a:pt x="10" y="32"/>
                          </a:lnTo>
                          <a:lnTo>
                            <a:pt x="3" y="39"/>
                          </a:lnTo>
                          <a:lnTo>
                            <a:pt x="0" y="49"/>
                          </a:lnTo>
                          <a:lnTo>
                            <a:pt x="5" y="54"/>
                          </a:lnTo>
                          <a:lnTo>
                            <a:pt x="14" y="54"/>
                          </a:lnTo>
                          <a:lnTo>
                            <a:pt x="22" y="53"/>
                          </a:lnTo>
                          <a:lnTo>
                            <a:pt x="38" y="45"/>
                          </a:lnTo>
                          <a:lnTo>
                            <a:pt x="55" y="31"/>
                          </a:lnTo>
                          <a:lnTo>
                            <a:pt x="85" y="9"/>
                          </a:lnTo>
                          <a:lnTo>
                            <a:pt x="90" y="0"/>
                          </a:lnTo>
                          <a:close/>
                        </a:path>
                      </a:pathLst>
                    </a:custGeom>
                    <a:solidFill>
                      <a:srgbClr val="FF8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42414" name="Freeform 366"/>
                    <p:cNvSpPr/>
                    <p:nvPr/>
                  </p:nvSpPr>
                  <p:spPr bwMode="auto">
                    <a:xfrm>
                      <a:off x="2665" y="3006"/>
                      <a:ext cx="9" cy="10"/>
                    </a:xfrm>
                    <a:custGeom>
                      <a:avLst/>
                      <a:gdLst>
                        <a:gd name="T0" fmla="*/ 59 w 59"/>
                        <a:gd name="T1" fmla="*/ 0 h 80"/>
                        <a:gd name="T2" fmla="*/ 45 w 59"/>
                        <a:gd name="T3" fmla="*/ 28 h 80"/>
                        <a:gd name="T4" fmla="*/ 31 w 59"/>
                        <a:gd name="T5" fmla="*/ 44 h 80"/>
                        <a:gd name="T6" fmla="*/ 24 w 59"/>
                        <a:gd name="T7" fmla="*/ 56 h 80"/>
                        <a:gd name="T8" fmla="*/ 16 w 59"/>
                        <a:gd name="T9" fmla="*/ 60 h 80"/>
                        <a:gd name="T10" fmla="*/ 9 w 59"/>
                        <a:gd name="T11" fmla="*/ 60 h 80"/>
                        <a:gd name="T12" fmla="*/ 0 w 59"/>
                        <a:gd name="T13" fmla="*/ 57 h 80"/>
                        <a:gd name="T14" fmla="*/ 2 w 59"/>
                        <a:gd name="T15" fmla="*/ 66 h 80"/>
                        <a:gd name="T16" fmla="*/ 7 w 59"/>
                        <a:gd name="T17" fmla="*/ 71 h 80"/>
                        <a:gd name="T18" fmla="*/ 20 w 59"/>
                        <a:gd name="T19" fmla="*/ 78 h 80"/>
                        <a:gd name="T20" fmla="*/ 28 w 59"/>
                        <a:gd name="T21" fmla="*/ 80 h 80"/>
                        <a:gd name="T22" fmla="*/ 37 w 59"/>
                        <a:gd name="T23" fmla="*/ 79 h 80"/>
                        <a:gd name="T24" fmla="*/ 46 w 59"/>
                        <a:gd name="T25" fmla="*/ 71 h 80"/>
                        <a:gd name="T26" fmla="*/ 53 w 59"/>
                        <a:gd name="T27" fmla="*/ 60 h 80"/>
                        <a:gd name="T28" fmla="*/ 56 w 59"/>
                        <a:gd name="T29" fmla="*/ 47 h 80"/>
                        <a:gd name="T30" fmla="*/ 54 w 59"/>
                        <a:gd name="T31" fmla="*/ 31 h 80"/>
                        <a:gd name="T32" fmla="*/ 59 w 59"/>
                        <a:gd name="T33" fmla="*/ 0 h 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59" h="80">
                          <a:moveTo>
                            <a:pt x="59" y="0"/>
                          </a:moveTo>
                          <a:lnTo>
                            <a:pt x="45" y="28"/>
                          </a:lnTo>
                          <a:lnTo>
                            <a:pt x="31" y="44"/>
                          </a:lnTo>
                          <a:lnTo>
                            <a:pt x="24" y="56"/>
                          </a:lnTo>
                          <a:lnTo>
                            <a:pt x="16" y="60"/>
                          </a:lnTo>
                          <a:lnTo>
                            <a:pt x="9" y="60"/>
                          </a:lnTo>
                          <a:lnTo>
                            <a:pt x="0" y="57"/>
                          </a:lnTo>
                          <a:lnTo>
                            <a:pt x="2" y="66"/>
                          </a:lnTo>
                          <a:lnTo>
                            <a:pt x="7" y="71"/>
                          </a:lnTo>
                          <a:lnTo>
                            <a:pt x="20" y="78"/>
                          </a:lnTo>
                          <a:lnTo>
                            <a:pt x="28" y="80"/>
                          </a:lnTo>
                          <a:lnTo>
                            <a:pt x="37" y="79"/>
                          </a:lnTo>
                          <a:lnTo>
                            <a:pt x="46" y="71"/>
                          </a:lnTo>
                          <a:lnTo>
                            <a:pt x="53" y="60"/>
                          </a:lnTo>
                          <a:lnTo>
                            <a:pt x="56" y="47"/>
                          </a:lnTo>
                          <a:lnTo>
                            <a:pt x="54" y="31"/>
                          </a:lnTo>
                          <a:lnTo>
                            <a:pt x="59" y="0"/>
                          </a:lnTo>
                          <a:close/>
                        </a:path>
                      </a:pathLst>
                    </a:custGeom>
                    <a:solidFill>
                      <a:srgbClr val="FF80A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642415" name="Freeform 367"/>
                  <p:cNvSpPr/>
                  <p:nvPr/>
                </p:nvSpPr>
                <p:spPr bwMode="auto">
                  <a:xfrm>
                    <a:off x="2654" y="2986"/>
                    <a:ext cx="10" cy="8"/>
                  </a:xfrm>
                  <a:custGeom>
                    <a:avLst/>
                    <a:gdLst>
                      <a:gd name="T0" fmla="*/ 0 w 72"/>
                      <a:gd name="T1" fmla="*/ 36 h 67"/>
                      <a:gd name="T2" fmla="*/ 8 w 72"/>
                      <a:gd name="T3" fmla="*/ 25 h 67"/>
                      <a:gd name="T4" fmla="*/ 21 w 72"/>
                      <a:gd name="T5" fmla="*/ 15 h 67"/>
                      <a:gd name="T6" fmla="*/ 37 w 72"/>
                      <a:gd name="T7" fmla="*/ 7 h 67"/>
                      <a:gd name="T8" fmla="*/ 53 w 72"/>
                      <a:gd name="T9" fmla="*/ 3 h 67"/>
                      <a:gd name="T10" fmla="*/ 70 w 72"/>
                      <a:gd name="T11" fmla="*/ 0 h 67"/>
                      <a:gd name="T12" fmla="*/ 71 w 72"/>
                      <a:gd name="T13" fmla="*/ 10 h 67"/>
                      <a:gd name="T14" fmla="*/ 72 w 72"/>
                      <a:gd name="T15" fmla="*/ 24 h 67"/>
                      <a:gd name="T16" fmla="*/ 69 w 72"/>
                      <a:gd name="T17" fmla="*/ 39 h 67"/>
                      <a:gd name="T18" fmla="*/ 62 w 72"/>
                      <a:gd name="T19" fmla="*/ 53 h 67"/>
                      <a:gd name="T20" fmla="*/ 51 w 72"/>
                      <a:gd name="T21" fmla="*/ 62 h 67"/>
                      <a:gd name="T22" fmla="*/ 36 w 72"/>
                      <a:gd name="T23" fmla="*/ 67 h 67"/>
                      <a:gd name="T24" fmla="*/ 30 w 72"/>
                      <a:gd name="T25" fmla="*/ 56 h 67"/>
                      <a:gd name="T26" fmla="*/ 21 w 72"/>
                      <a:gd name="T27" fmla="*/ 49 h 67"/>
                      <a:gd name="T28" fmla="*/ 16 w 72"/>
                      <a:gd name="T29" fmla="*/ 44 h 67"/>
                      <a:gd name="T30" fmla="*/ 6 w 72"/>
                      <a:gd name="T31" fmla="*/ 41 h 67"/>
                      <a:gd name="T32" fmla="*/ 0 w 72"/>
                      <a:gd name="T33" fmla="*/ 36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72" h="67">
                        <a:moveTo>
                          <a:pt x="0" y="36"/>
                        </a:moveTo>
                        <a:lnTo>
                          <a:pt x="8" y="25"/>
                        </a:lnTo>
                        <a:lnTo>
                          <a:pt x="21" y="15"/>
                        </a:lnTo>
                        <a:lnTo>
                          <a:pt x="37" y="7"/>
                        </a:lnTo>
                        <a:lnTo>
                          <a:pt x="53" y="3"/>
                        </a:lnTo>
                        <a:lnTo>
                          <a:pt x="70" y="0"/>
                        </a:lnTo>
                        <a:lnTo>
                          <a:pt x="71" y="10"/>
                        </a:lnTo>
                        <a:lnTo>
                          <a:pt x="72" y="24"/>
                        </a:lnTo>
                        <a:lnTo>
                          <a:pt x="69" y="39"/>
                        </a:lnTo>
                        <a:lnTo>
                          <a:pt x="62" y="53"/>
                        </a:lnTo>
                        <a:lnTo>
                          <a:pt x="51" y="62"/>
                        </a:lnTo>
                        <a:lnTo>
                          <a:pt x="36" y="67"/>
                        </a:lnTo>
                        <a:lnTo>
                          <a:pt x="30" y="56"/>
                        </a:lnTo>
                        <a:lnTo>
                          <a:pt x="21" y="49"/>
                        </a:lnTo>
                        <a:lnTo>
                          <a:pt x="16" y="44"/>
                        </a:lnTo>
                        <a:lnTo>
                          <a:pt x="6" y="41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FF8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16" name="Freeform 368"/>
                  <p:cNvSpPr/>
                  <p:nvPr/>
                </p:nvSpPr>
                <p:spPr bwMode="auto">
                  <a:xfrm>
                    <a:off x="2659" y="2986"/>
                    <a:ext cx="5" cy="5"/>
                  </a:xfrm>
                  <a:custGeom>
                    <a:avLst/>
                    <a:gdLst>
                      <a:gd name="T0" fmla="*/ 0 w 37"/>
                      <a:gd name="T1" fmla="*/ 24 h 40"/>
                      <a:gd name="T2" fmla="*/ 16 w 37"/>
                      <a:gd name="T3" fmla="*/ 40 h 40"/>
                      <a:gd name="T4" fmla="*/ 27 w 37"/>
                      <a:gd name="T5" fmla="*/ 27 h 40"/>
                      <a:gd name="T6" fmla="*/ 36 w 37"/>
                      <a:gd name="T7" fmla="*/ 8 h 40"/>
                      <a:gd name="T8" fmla="*/ 37 w 37"/>
                      <a:gd name="T9" fmla="*/ 0 h 40"/>
                      <a:gd name="T10" fmla="*/ 24 w 37"/>
                      <a:gd name="T11" fmla="*/ 6 h 40"/>
                      <a:gd name="T12" fmla="*/ 0 w 37"/>
                      <a:gd name="T13" fmla="*/ 24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7" h="40">
                        <a:moveTo>
                          <a:pt x="0" y="24"/>
                        </a:moveTo>
                        <a:lnTo>
                          <a:pt x="16" y="40"/>
                        </a:lnTo>
                        <a:lnTo>
                          <a:pt x="27" y="27"/>
                        </a:lnTo>
                        <a:lnTo>
                          <a:pt x="36" y="8"/>
                        </a:lnTo>
                        <a:lnTo>
                          <a:pt x="37" y="0"/>
                        </a:lnTo>
                        <a:lnTo>
                          <a:pt x="24" y="6"/>
                        </a:lnTo>
                        <a:lnTo>
                          <a:pt x="0" y="24"/>
                        </a:lnTo>
                        <a:close/>
                      </a:path>
                    </a:pathLst>
                  </a:custGeom>
                  <a:solidFill>
                    <a:srgbClr val="FFFF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17" name="Freeform 369"/>
                  <p:cNvSpPr/>
                  <p:nvPr/>
                </p:nvSpPr>
                <p:spPr bwMode="auto">
                  <a:xfrm>
                    <a:off x="2657" y="2986"/>
                    <a:ext cx="7" cy="7"/>
                  </a:xfrm>
                  <a:custGeom>
                    <a:avLst/>
                    <a:gdLst>
                      <a:gd name="T0" fmla="*/ 0 w 55"/>
                      <a:gd name="T1" fmla="*/ 53 h 63"/>
                      <a:gd name="T2" fmla="*/ 5 w 55"/>
                      <a:gd name="T3" fmla="*/ 47 h 63"/>
                      <a:gd name="T4" fmla="*/ 12 w 55"/>
                      <a:gd name="T5" fmla="*/ 34 h 63"/>
                      <a:gd name="T6" fmla="*/ 26 w 55"/>
                      <a:gd name="T7" fmla="*/ 24 h 63"/>
                      <a:gd name="T8" fmla="*/ 40 w 55"/>
                      <a:gd name="T9" fmla="*/ 13 h 63"/>
                      <a:gd name="T10" fmla="*/ 51 w 55"/>
                      <a:gd name="T11" fmla="*/ 5 h 63"/>
                      <a:gd name="T12" fmla="*/ 47 w 55"/>
                      <a:gd name="T13" fmla="*/ 17 h 63"/>
                      <a:gd name="T14" fmla="*/ 40 w 55"/>
                      <a:gd name="T15" fmla="*/ 30 h 63"/>
                      <a:gd name="T16" fmla="*/ 34 w 55"/>
                      <a:gd name="T17" fmla="*/ 37 h 63"/>
                      <a:gd name="T18" fmla="*/ 27 w 55"/>
                      <a:gd name="T19" fmla="*/ 53 h 63"/>
                      <a:gd name="T20" fmla="*/ 26 w 55"/>
                      <a:gd name="T21" fmla="*/ 63 h 63"/>
                      <a:gd name="T22" fmla="*/ 30 w 55"/>
                      <a:gd name="T23" fmla="*/ 50 h 63"/>
                      <a:gd name="T24" fmla="*/ 36 w 55"/>
                      <a:gd name="T25" fmla="*/ 41 h 63"/>
                      <a:gd name="T26" fmla="*/ 47 w 55"/>
                      <a:gd name="T27" fmla="*/ 27 h 63"/>
                      <a:gd name="T28" fmla="*/ 51 w 55"/>
                      <a:gd name="T29" fmla="*/ 15 h 63"/>
                      <a:gd name="T30" fmla="*/ 54 w 55"/>
                      <a:gd name="T31" fmla="*/ 7 h 63"/>
                      <a:gd name="T32" fmla="*/ 55 w 55"/>
                      <a:gd name="T33" fmla="*/ 0 h 63"/>
                      <a:gd name="T34" fmla="*/ 47 w 55"/>
                      <a:gd name="T35" fmla="*/ 6 h 63"/>
                      <a:gd name="T36" fmla="*/ 34 w 55"/>
                      <a:gd name="T37" fmla="*/ 12 h 63"/>
                      <a:gd name="T38" fmla="*/ 22 w 55"/>
                      <a:gd name="T39" fmla="*/ 21 h 63"/>
                      <a:gd name="T40" fmla="*/ 11 w 55"/>
                      <a:gd name="T41" fmla="*/ 30 h 63"/>
                      <a:gd name="T42" fmla="*/ 2 w 55"/>
                      <a:gd name="T43" fmla="*/ 41 h 63"/>
                      <a:gd name="T44" fmla="*/ 0 w 55"/>
                      <a:gd name="T45" fmla="*/ 53 h 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55" h="63">
                        <a:moveTo>
                          <a:pt x="0" y="53"/>
                        </a:moveTo>
                        <a:lnTo>
                          <a:pt x="5" y="47"/>
                        </a:lnTo>
                        <a:lnTo>
                          <a:pt x="12" y="34"/>
                        </a:lnTo>
                        <a:lnTo>
                          <a:pt x="26" y="24"/>
                        </a:lnTo>
                        <a:lnTo>
                          <a:pt x="40" y="13"/>
                        </a:lnTo>
                        <a:lnTo>
                          <a:pt x="51" y="5"/>
                        </a:lnTo>
                        <a:lnTo>
                          <a:pt x="47" y="17"/>
                        </a:lnTo>
                        <a:lnTo>
                          <a:pt x="40" y="30"/>
                        </a:lnTo>
                        <a:lnTo>
                          <a:pt x="34" y="37"/>
                        </a:lnTo>
                        <a:lnTo>
                          <a:pt x="27" y="53"/>
                        </a:lnTo>
                        <a:lnTo>
                          <a:pt x="26" y="63"/>
                        </a:lnTo>
                        <a:lnTo>
                          <a:pt x="30" y="50"/>
                        </a:lnTo>
                        <a:lnTo>
                          <a:pt x="36" y="41"/>
                        </a:lnTo>
                        <a:lnTo>
                          <a:pt x="47" y="27"/>
                        </a:lnTo>
                        <a:lnTo>
                          <a:pt x="51" y="15"/>
                        </a:lnTo>
                        <a:lnTo>
                          <a:pt x="54" y="7"/>
                        </a:lnTo>
                        <a:lnTo>
                          <a:pt x="55" y="0"/>
                        </a:lnTo>
                        <a:lnTo>
                          <a:pt x="47" y="6"/>
                        </a:lnTo>
                        <a:lnTo>
                          <a:pt x="34" y="12"/>
                        </a:lnTo>
                        <a:lnTo>
                          <a:pt x="22" y="21"/>
                        </a:lnTo>
                        <a:lnTo>
                          <a:pt x="11" y="30"/>
                        </a:lnTo>
                        <a:lnTo>
                          <a:pt x="2" y="41"/>
                        </a:lnTo>
                        <a:lnTo>
                          <a:pt x="0" y="53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18" name="Freeform 370"/>
                  <p:cNvSpPr/>
                  <p:nvPr/>
                </p:nvSpPr>
                <p:spPr bwMode="auto">
                  <a:xfrm>
                    <a:off x="2657" y="2988"/>
                    <a:ext cx="5" cy="4"/>
                  </a:xfrm>
                  <a:custGeom>
                    <a:avLst/>
                    <a:gdLst>
                      <a:gd name="T0" fmla="*/ 0 w 31"/>
                      <a:gd name="T1" fmla="*/ 17 h 35"/>
                      <a:gd name="T2" fmla="*/ 0 w 31"/>
                      <a:gd name="T3" fmla="*/ 29 h 35"/>
                      <a:gd name="T4" fmla="*/ 8 w 31"/>
                      <a:gd name="T5" fmla="*/ 35 h 35"/>
                      <a:gd name="T6" fmla="*/ 21 w 31"/>
                      <a:gd name="T7" fmla="*/ 31 h 35"/>
                      <a:gd name="T8" fmla="*/ 31 w 31"/>
                      <a:gd name="T9" fmla="*/ 19 h 35"/>
                      <a:gd name="T10" fmla="*/ 31 w 31"/>
                      <a:gd name="T11" fmla="*/ 10 h 35"/>
                      <a:gd name="T12" fmla="*/ 20 w 31"/>
                      <a:gd name="T13" fmla="*/ 0 h 35"/>
                      <a:gd name="T14" fmla="*/ 0 w 31"/>
                      <a:gd name="T15" fmla="*/ 17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1" h="35">
                        <a:moveTo>
                          <a:pt x="0" y="17"/>
                        </a:moveTo>
                        <a:lnTo>
                          <a:pt x="0" y="29"/>
                        </a:lnTo>
                        <a:lnTo>
                          <a:pt x="8" y="35"/>
                        </a:lnTo>
                        <a:lnTo>
                          <a:pt x="21" y="31"/>
                        </a:lnTo>
                        <a:lnTo>
                          <a:pt x="31" y="19"/>
                        </a:lnTo>
                        <a:lnTo>
                          <a:pt x="31" y="10"/>
                        </a:lnTo>
                        <a:lnTo>
                          <a:pt x="20" y="0"/>
                        </a:ln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604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19" name="Freeform 371"/>
                  <p:cNvSpPr/>
                  <p:nvPr/>
                </p:nvSpPr>
                <p:spPr bwMode="auto">
                  <a:xfrm>
                    <a:off x="2658" y="2988"/>
                    <a:ext cx="5" cy="5"/>
                  </a:xfrm>
                  <a:custGeom>
                    <a:avLst/>
                    <a:gdLst>
                      <a:gd name="T0" fmla="*/ 0 w 37"/>
                      <a:gd name="T1" fmla="*/ 17 h 42"/>
                      <a:gd name="T2" fmla="*/ 0 w 37"/>
                      <a:gd name="T3" fmla="*/ 34 h 42"/>
                      <a:gd name="T4" fmla="*/ 9 w 37"/>
                      <a:gd name="T5" fmla="*/ 42 h 42"/>
                      <a:gd name="T6" fmla="*/ 25 w 37"/>
                      <a:gd name="T7" fmla="*/ 40 h 42"/>
                      <a:gd name="T8" fmla="*/ 37 w 37"/>
                      <a:gd name="T9" fmla="*/ 24 h 42"/>
                      <a:gd name="T10" fmla="*/ 37 w 37"/>
                      <a:gd name="T11" fmla="*/ 10 h 42"/>
                      <a:gd name="T12" fmla="*/ 27 w 37"/>
                      <a:gd name="T13" fmla="*/ 0 h 42"/>
                      <a:gd name="T14" fmla="*/ 0 w 37"/>
                      <a:gd name="T15" fmla="*/ 17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37" h="42">
                        <a:moveTo>
                          <a:pt x="0" y="17"/>
                        </a:moveTo>
                        <a:lnTo>
                          <a:pt x="0" y="34"/>
                        </a:lnTo>
                        <a:lnTo>
                          <a:pt x="9" y="42"/>
                        </a:lnTo>
                        <a:lnTo>
                          <a:pt x="25" y="40"/>
                        </a:lnTo>
                        <a:lnTo>
                          <a:pt x="37" y="24"/>
                        </a:lnTo>
                        <a:lnTo>
                          <a:pt x="37" y="10"/>
                        </a:lnTo>
                        <a:lnTo>
                          <a:pt x="27" y="0"/>
                        </a:ln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20" name="Oval 372"/>
                  <p:cNvSpPr>
                    <a:spLocks noChangeArrowheads="1"/>
                  </p:cNvSpPr>
                  <p:nvPr/>
                </p:nvSpPr>
                <p:spPr bwMode="auto">
                  <a:xfrm>
                    <a:off x="2658" y="2989"/>
                    <a:ext cx="4" cy="4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21" name="Freeform 373"/>
                  <p:cNvSpPr/>
                  <p:nvPr/>
                </p:nvSpPr>
                <p:spPr bwMode="auto">
                  <a:xfrm>
                    <a:off x="2655" y="2986"/>
                    <a:ext cx="9" cy="4"/>
                  </a:xfrm>
                  <a:custGeom>
                    <a:avLst/>
                    <a:gdLst>
                      <a:gd name="T0" fmla="*/ 0 w 66"/>
                      <a:gd name="T1" fmla="*/ 37 h 37"/>
                      <a:gd name="T2" fmla="*/ 1 w 66"/>
                      <a:gd name="T3" fmla="*/ 30 h 37"/>
                      <a:gd name="T4" fmla="*/ 6 w 66"/>
                      <a:gd name="T5" fmla="*/ 22 h 37"/>
                      <a:gd name="T6" fmla="*/ 13 w 66"/>
                      <a:gd name="T7" fmla="*/ 15 h 37"/>
                      <a:gd name="T8" fmla="*/ 23 w 66"/>
                      <a:gd name="T9" fmla="*/ 8 h 37"/>
                      <a:gd name="T10" fmla="*/ 37 w 66"/>
                      <a:gd name="T11" fmla="*/ 3 h 37"/>
                      <a:gd name="T12" fmla="*/ 51 w 66"/>
                      <a:gd name="T13" fmla="*/ 0 h 37"/>
                      <a:gd name="T14" fmla="*/ 66 w 66"/>
                      <a:gd name="T15" fmla="*/ 1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66" h="37">
                        <a:moveTo>
                          <a:pt x="0" y="37"/>
                        </a:moveTo>
                        <a:lnTo>
                          <a:pt x="1" y="30"/>
                        </a:lnTo>
                        <a:lnTo>
                          <a:pt x="6" y="22"/>
                        </a:lnTo>
                        <a:lnTo>
                          <a:pt x="13" y="15"/>
                        </a:lnTo>
                        <a:lnTo>
                          <a:pt x="23" y="8"/>
                        </a:lnTo>
                        <a:lnTo>
                          <a:pt x="37" y="3"/>
                        </a:lnTo>
                        <a:lnTo>
                          <a:pt x="51" y="0"/>
                        </a:lnTo>
                        <a:lnTo>
                          <a:pt x="66" y="1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prstDash val="solid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22" name="Freeform 374"/>
                  <p:cNvSpPr/>
                  <p:nvPr/>
                </p:nvSpPr>
                <p:spPr bwMode="auto">
                  <a:xfrm>
                    <a:off x="2651" y="2988"/>
                    <a:ext cx="7" cy="12"/>
                  </a:xfrm>
                  <a:custGeom>
                    <a:avLst/>
                    <a:gdLst>
                      <a:gd name="T0" fmla="*/ 0 w 44"/>
                      <a:gd name="T1" fmla="*/ 0 h 100"/>
                      <a:gd name="T2" fmla="*/ 18 w 44"/>
                      <a:gd name="T3" fmla="*/ 14 h 100"/>
                      <a:gd name="T4" fmla="*/ 44 w 44"/>
                      <a:gd name="T5" fmla="*/ 26 h 100"/>
                      <a:gd name="T6" fmla="*/ 32 w 44"/>
                      <a:gd name="T7" fmla="*/ 42 h 100"/>
                      <a:gd name="T8" fmla="*/ 28 w 44"/>
                      <a:gd name="T9" fmla="*/ 55 h 100"/>
                      <a:gd name="T10" fmla="*/ 31 w 44"/>
                      <a:gd name="T11" fmla="*/ 74 h 100"/>
                      <a:gd name="T12" fmla="*/ 42 w 44"/>
                      <a:gd name="T13" fmla="*/ 100 h 100"/>
                      <a:gd name="T14" fmla="*/ 33 w 44"/>
                      <a:gd name="T15" fmla="*/ 85 h 100"/>
                      <a:gd name="T16" fmla="*/ 23 w 44"/>
                      <a:gd name="T17" fmla="*/ 71 h 100"/>
                      <a:gd name="T18" fmla="*/ 15 w 44"/>
                      <a:gd name="T19" fmla="*/ 53 h 100"/>
                      <a:gd name="T20" fmla="*/ 7 w 44"/>
                      <a:gd name="T21" fmla="*/ 28 h 100"/>
                      <a:gd name="T22" fmla="*/ 0 w 44"/>
                      <a:gd name="T23" fmla="*/ 0 h 1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44" h="100">
                        <a:moveTo>
                          <a:pt x="0" y="0"/>
                        </a:moveTo>
                        <a:lnTo>
                          <a:pt x="18" y="14"/>
                        </a:lnTo>
                        <a:lnTo>
                          <a:pt x="44" y="26"/>
                        </a:lnTo>
                        <a:lnTo>
                          <a:pt x="32" y="42"/>
                        </a:lnTo>
                        <a:lnTo>
                          <a:pt x="28" y="55"/>
                        </a:lnTo>
                        <a:lnTo>
                          <a:pt x="31" y="74"/>
                        </a:lnTo>
                        <a:lnTo>
                          <a:pt x="42" y="100"/>
                        </a:lnTo>
                        <a:lnTo>
                          <a:pt x="33" y="85"/>
                        </a:lnTo>
                        <a:lnTo>
                          <a:pt x="23" y="71"/>
                        </a:lnTo>
                        <a:lnTo>
                          <a:pt x="15" y="53"/>
                        </a:lnTo>
                        <a:lnTo>
                          <a:pt x="7" y="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8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23" name="Freeform 375"/>
                  <p:cNvSpPr/>
                  <p:nvPr/>
                </p:nvSpPr>
                <p:spPr bwMode="auto">
                  <a:xfrm>
                    <a:off x="2650" y="2978"/>
                    <a:ext cx="12" cy="12"/>
                  </a:xfrm>
                  <a:custGeom>
                    <a:avLst/>
                    <a:gdLst>
                      <a:gd name="T0" fmla="*/ 22 w 85"/>
                      <a:gd name="T1" fmla="*/ 95 h 98"/>
                      <a:gd name="T2" fmla="*/ 23 w 85"/>
                      <a:gd name="T3" fmla="*/ 80 h 98"/>
                      <a:gd name="T4" fmla="*/ 24 w 85"/>
                      <a:gd name="T5" fmla="*/ 64 h 98"/>
                      <a:gd name="T6" fmla="*/ 32 w 85"/>
                      <a:gd name="T7" fmla="*/ 51 h 98"/>
                      <a:gd name="T8" fmla="*/ 56 w 85"/>
                      <a:gd name="T9" fmla="*/ 35 h 98"/>
                      <a:gd name="T10" fmla="*/ 81 w 85"/>
                      <a:gd name="T11" fmla="*/ 13 h 98"/>
                      <a:gd name="T12" fmla="*/ 85 w 85"/>
                      <a:gd name="T13" fmla="*/ 0 h 98"/>
                      <a:gd name="T14" fmla="*/ 51 w 85"/>
                      <a:gd name="T15" fmla="*/ 28 h 98"/>
                      <a:gd name="T16" fmla="*/ 17 w 85"/>
                      <a:gd name="T17" fmla="*/ 41 h 98"/>
                      <a:gd name="T18" fmla="*/ 4 w 85"/>
                      <a:gd name="T19" fmla="*/ 60 h 98"/>
                      <a:gd name="T20" fmla="*/ 0 w 85"/>
                      <a:gd name="T21" fmla="*/ 77 h 98"/>
                      <a:gd name="T22" fmla="*/ 0 w 85"/>
                      <a:gd name="T23" fmla="*/ 90 h 98"/>
                      <a:gd name="T24" fmla="*/ 4 w 85"/>
                      <a:gd name="T25" fmla="*/ 96 h 98"/>
                      <a:gd name="T26" fmla="*/ 12 w 85"/>
                      <a:gd name="T27" fmla="*/ 98 h 98"/>
                      <a:gd name="T28" fmla="*/ 22 w 85"/>
                      <a:gd name="T29" fmla="*/ 95 h 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85" h="98">
                        <a:moveTo>
                          <a:pt x="22" y="95"/>
                        </a:moveTo>
                        <a:lnTo>
                          <a:pt x="23" y="80"/>
                        </a:lnTo>
                        <a:lnTo>
                          <a:pt x="24" y="64"/>
                        </a:lnTo>
                        <a:lnTo>
                          <a:pt x="32" y="51"/>
                        </a:lnTo>
                        <a:lnTo>
                          <a:pt x="56" y="35"/>
                        </a:lnTo>
                        <a:lnTo>
                          <a:pt x="81" y="13"/>
                        </a:lnTo>
                        <a:lnTo>
                          <a:pt x="85" y="0"/>
                        </a:lnTo>
                        <a:lnTo>
                          <a:pt x="51" y="28"/>
                        </a:lnTo>
                        <a:lnTo>
                          <a:pt x="17" y="41"/>
                        </a:lnTo>
                        <a:lnTo>
                          <a:pt x="4" y="60"/>
                        </a:lnTo>
                        <a:lnTo>
                          <a:pt x="0" y="77"/>
                        </a:lnTo>
                        <a:lnTo>
                          <a:pt x="0" y="90"/>
                        </a:lnTo>
                        <a:lnTo>
                          <a:pt x="4" y="96"/>
                        </a:lnTo>
                        <a:lnTo>
                          <a:pt x="12" y="98"/>
                        </a:lnTo>
                        <a:lnTo>
                          <a:pt x="22" y="95"/>
                        </a:lnTo>
                        <a:close/>
                      </a:path>
                    </a:pathLst>
                  </a:custGeom>
                  <a:solidFill>
                    <a:srgbClr val="A08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24" name="Oval 376"/>
                  <p:cNvSpPr>
                    <a:spLocks noChangeArrowheads="1"/>
                  </p:cNvSpPr>
                  <p:nvPr/>
                </p:nvSpPr>
                <p:spPr bwMode="auto">
                  <a:xfrm>
                    <a:off x="2659" y="2989"/>
                    <a:ext cx="2" cy="2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42425" name="Group 377"/>
                <p:cNvGrpSpPr/>
                <p:nvPr/>
              </p:nvGrpSpPr>
              <p:grpSpPr bwMode="auto">
                <a:xfrm>
                  <a:off x="2624" y="2934"/>
                  <a:ext cx="106" cy="69"/>
                  <a:chOff x="2624" y="2934"/>
                  <a:chExt cx="106" cy="69"/>
                </a:xfrm>
              </p:grpSpPr>
              <p:sp>
                <p:nvSpPr>
                  <p:cNvPr id="642426" name="Freeform 378"/>
                  <p:cNvSpPr/>
                  <p:nvPr/>
                </p:nvSpPr>
                <p:spPr bwMode="auto">
                  <a:xfrm>
                    <a:off x="2624" y="2934"/>
                    <a:ext cx="106" cy="69"/>
                  </a:xfrm>
                  <a:custGeom>
                    <a:avLst/>
                    <a:gdLst>
                      <a:gd name="T0" fmla="*/ 111 w 747"/>
                      <a:gd name="T1" fmla="*/ 98 h 555"/>
                      <a:gd name="T2" fmla="*/ 73 w 747"/>
                      <a:gd name="T3" fmla="*/ 138 h 555"/>
                      <a:gd name="T4" fmla="*/ 44 w 747"/>
                      <a:gd name="T5" fmla="*/ 168 h 555"/>
                      <a:gd name="T6" fmla="*/ 32 w 747"/>
                      <a:gd name="T7" fmla="*/ 196 h 555"/>
                      <a:gd name="T8" fmla="*/ 32 w 747"/>
                      <a:gd name="T9" fmla="*/ 223 h 555"/>
                      <a:gd name="T10" fmla="*/ 27 w 747"/>
                      <a:gd name="T11" fmla="*/ 255 h 555"/>
                      <a:gd name="T12" fmla="*/ 18 w 747"/>
                      <a:gd name="T13" fmla="*/ 278 h 555"/>
                      <a:gd name="T14" fmla="*/ 8 w 747"/>
                      <a:gd name="T15" fmla="*/ 314 h 555"/>
                      <a:gd name="T16" fmla="*/ 0 w 747"/>
                      <a:gd name="T17" fmla="*/ 347 h 555"/>
                      <a:gd name="T18" fmla="*/ 9 w 747"/>
                      <a:gd name="T19" fmla="*/ 391 h 555"/>
                      <a:gd name="T20" fmla="*/ 23 w 747"/>
                      <a:gd name="T21" fmla="*/ 421 h 555"/>
                      <a:gd name="T22" fmla="*/ 50 w 747"/>
                      <a:gd name="T23" fmla="*/ 442 h 555"/>
                      <a:gd name="T24" fmla="*/ 44 w 747"/>
                      <a:gd name="T25" fmla="*/ 426 h 555"/>
                      <a:gd name="T26" fmla="*/ 60 w 747"/>
                      <a:gd name="T27" fmla="*/ 423 h 555"/>
                      <a:gd name="T28" fmla="*/ 76 w 747"/>
                      <a:gd name="T29" fmla="*/ 436 h 555"/>
                      <a:gd name="T30" fmla="*/ 82 w 747"/>
                      <a:gd name="T31" fmla="*/ 434 h 555"/>
                      <a:gd name="T32" fmla="*/ 97 w 747"/>
                      <a:gd name="T33" fmla="*/ 428 h 555"/>
                      <a:gd name="T34" fmla="*/ 124 w 747"/>
                      <a:gd name="T35" fmla="*/ 419 h 555"/>
                      <a:gd name="T36" fmla="*/ 142 w 747"/>
                      <a:gd name="T37" fmla="*/ 394 h 555"/>
                      <a:gd name="T38" fmla="*/ 184 w 747"/>
                      <a:gd name="T39" fmla="*/ 400 h 555"/>
                      <a:gd name="T40" fmla="*/ 227 w 747"/>
                      <a:gd name="T41" fmla="*/ 391 h 555"/>
                      <a:gd name="T42" fmla="*/ 266 w 747"/>
                      <a:gd name="T43" fmla="*/ 365 h 555"/>
                      <a:gd name="T44" fmla="*/ 292 w 747"/>
                      <a:gd name="T45" fmla="*/ 341 h 555"/>
                      <a:gd name="T46" fmla="*/ 327 w 747"/>
                      <a:gd name="T47" fmla="*/ 337 h 555"/>
                      <a:gd name="T48" fmla="*/ 364 w 747"/>
                      <a:gd name="T49" fmla="*/ 356 h 555"/>
                      <a:gd name="T50" fmla="*/ 400 w 747"/>
                      <a:gd name="T51" fmla="*/ 391 h 555"/>
                      <a:gd name="T52" fmla="*/ 438 w 747"/>
                      <a:gd name="T53" fmla="*/ 417 h 555"/>
                      <a:gd name="T54" fmla="*/ 440 w 747"/>
                      <a:gd name="T55" fmla="*/ 446 h 555"/>
                      <a:gd name="T56" fmla="*/ 443 w 747"/>
                      <a:gd name="T57" fmla="*/ 468 h 555"/>
                      <a:gd name="T58" fmla="*/ 452 w 747"/>
                      <a:gd name="T59" fmla="*/ 501 h 555"/>
                      <a:gd name="T60" fmla="*/ 444 w 747"/>
                      <a:gd name="T61" fmla="*/ 555 h 555"/>
                      <a:gd name="T62" fmla="*/ 504 w 747"/>
                      <a:gd name="T63" fmla="*/ 536 h 555"/>
                      <a:gd name="T64" fmla="*/ 582 w 747"/>
                      <a:gd name="T65" fmla="*/ 503 h 555"/>
                      <a:gd name="T66" fmla="*/ 631 w 747"/>
                      <a:gd name="T67" fmla="*/ 467 h 555"/>
                      <a:gd name="T68" fmla="*/ 672 w 747"/>
                      <a:gd name="T69" fmla="*/ 451 h 555"/>
                      <a:gd name="T70" fmla="*/ 703 w 747"/>
                      <a:gd name="T71" fmla="*/ 417 h 555"/>
                      <a:gd name="T72" fmla="*/ 722 w 747"/>
                      <a:gd name="T73" fmla="*/ 374 h 555"/>
                      <a:gd name="T74" fmla="*/ 722 w 747"/>
                      <a:gd name="T75" fmla="*/ 332 h 555"/>
                      <a:gd name="T76" fmla="*/ 744 w 747"/>
                      <a:gd name="T77" fmla="*/ 292 h 555"/>
                      <a:gd name="T78" fmla="*/ 743 w 747"/>
                      <a:gd name="T79" fmla="*/ 248 h 555"/>
                      <a:gd name="T80" fmla="*/ 714 w 747"/>
                      <a:gd name="T81" fmla="*/ 188 h 555"/>
                      <a:gd name="T82" fmla="*/ 662 w 747"/>
                      <a:gd name="T83" fmla="*/ 120 h 555"/>
                      <a:gd name="T84" fmla="*/ 621 w 747"/>
                      <a:gd name="T85" fmla="*/ 78 h 555"/>
                      <a:gd name="T86" fmla="*/ 587 w 747"/>
                      <a:gd name="T87" fmla="*/ 59 h 555"/>
                      <a:gd name="T88" fmla="*/ 559 w 747"/>
                      <a:gd name="T89" fmla="*/ 24 h 555"/>
                      <a:gd name="T90" fmla="*/ 527 w 747"/>
                      <a:gd name="T91" fmla="*/ 3 h 555"/>
                      <a:gd name="T92" fmla="*/ 467 w 747"/>
                      <a:gd name="T93" fmla="*/ 2 h 555"/>
                      <a:gd name="T94" fmla="*/ 425 w 747"/>
                      <a:gd name="T95" fmla="*/ 10 h 555"/>
                      <a:gd name="T96" fmla="*/ 372 w 747"/>
                      <a:gd name="T97" fmla="*/ 10 h 555"/>
                      <a:gd name="T98" fmla="*/ 322 w 747"/>
                      <a:gd name="T99" fmla="*/ 2 h 555"/>
                      <a:gd name="T100" fmla="*/ 280 w 747"/>
                      <a:gd name="T101" fmla="*/ 5 h 555"/>
                      <a:gd name="T102" fmla="*/ 241 w 747"/>
                      <a:gd name="T103" fmla="*/ 19 h 555"/>
                      <a:gd name="T104" fmla="*/ 201 w 747"/>
                      <a:gd name="T105" fmla="*/ 30 h 555"/>
                      <a:gd name="T106" fmla="*/ 174 w 747"/>
                      <a:gd name="T107" fmla="*/ 61 h 555"/>
                      <a:gd name="T108" fmla="*/ 130 w 747"/>
                      <a:gd name="T109" fmla="*/ 87 h 5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747" h="555">
                        <a:moveTo>
                          <a:pt x="130" y="87"/>
                        </a:moveTo>
                        <a:lnTo>
                          <a:pt x="111" y="98"/>
                        </a:lnTo>
                        <a:lnTo>
                          <a:pt x="94" y="114"/>
                        </a:lnTo>
                        <a:lnTo>
                          <a:pt x="73" y="138"/>
                        </a:lnTo>
                        <a:lnTo>
                          <a:pt x="58" y="150"/>
                        </a:lnTo>
                        <a:lnTo>
                          <a:pt x="44" y="168"/>
                        </a:lnTo>
                        <a:lnTo>
                          <a:pt x="36" y="181"/>
                        </a:lnTo>
                        <a:lnTo>
                          <a:pt x="32" y="196"/>
                        </a:lnTo>
                        <a:lnTo>
                          <a:pt x="30" y="209"/>
                        </a:lnTo>
                        <a:lnTo>
                          <a:pt x="32" y="223"/>
                        </a:lnTo>
                        <a:lnTo>
                          <a:pt x="35" y="240"/>
                        </a:lnTo>
                        <a:lnTo>
                          <a:pt x="27" y="255"/>
                        </a:lnTo>
                        <a:lnTo>
                          <a:pt x="21" y="265"/>
                        </a:lnTo>
                        <a:lnTo>
                          <a:pt x="18" y="278"/>
                        </a:lnTo>
                        <a:lnTo>
                          <a:pt x="15" y="295"/>
                        </a:lnTo>
                        <a:lnTo>
                          <a:pt x="8" y="314"/>
                        </a:lnTo>
                        <a:lnTo>
                          <a:pt x="3" y="329"/>
                        </a:lnTo>
                        <a:lnTo>
                          <a:pt x="0" y="347"/>
                        </a:lnTo>
                        <a:lnTo>
                          <a:pt x="2" y="369"/>
                        </a:lnTo>
                        <a:lnTo>
                          <a:pt x="9" y="391"/>
                        </a:lnTo>
                        <a:lnTo>
                          <a:pt x="15" y="407"/>
                        </a:lnTo>
                        <a:lnTo>
                          <a:pt x="23" y="421"/>
                        </a:lnTo>
                        <a:lnTo>
                          <a:pt x="34" y="431"/>
                        </a:lnTo>
                        <a:lnTo>
                          <a:pt x="50" y="442"/>
                        </a:lnTo>
                        <a:lnTo>
                          <a:pt x="43" y="432"/>
                        </a:lnTo>
                        <a:lnTo>
                          <a:pt x="44" y="426"/>
                        </a:lnTo>
                        <a:lnTo>
                          <a:pt x="52" y="422"/>
                        </a:lnTo>
                        <a:lnTo>
                          <a:pt x="60" y="423"/>
                        </a:lnTo>
                        <a:lnTo>
                          <a:pt x="69" y="427"/>
                        </a:lnTo>
                        <a:lnTo>
                          <a:pt x="76" y="436"/>
                        </a:lnTo>
                        <a:lnTo>
                          <a:pt x="88" y="444"/>
                        </a:lnTo>
                        <a:lnTo>
                          <a:pt x="82" y="434"/>
                        </a:lnTo>
                        <a:lnTo>
                          <a:pt x="81" y="426"/>
                        </a:lnTo>
                        <a:lnTo>
                          <a:pt x="97" y="428"/>
                        </a:lnTo>
                        <a:lnTo>
                          <a:pt x="111" y="426"/>
                        </a:lnTo>
                        <a:lnTo>
                          <a:pt x="124" y="419"/>
                        </a:lnTo>
                        <a:lnTo>
                          <a:pt x="133" y="409"/>
                        </a:lnTo>
                        <a:lnTo>
                          <a:pt x="142" y="394"/>
                        </a:lnTo>
                        <a:lnTo>
                          <a:pt x="163" y="399"/>
                        </a:lnTo>
                        <a:lnTo>
                          <a:pt x="184" y="400"/>
                        </a:lnTo>
                        <a:lnTo>
                          <a:pt x="206" y="397"/>
                        </a:lnTo>
                        <a:lnTo>
                          <a:pt x="227" y="391"/>
                        </a:lnTo>
                        <a:lnTo>
                          <a:pt x="247" y="380"/>
                        </a:lnTo>
                        <a:lnTo>
                          <a:pt x="266" y="365"/>
                        </a:lnTo>
                        <a:lnTo>
                          <a:pt x="279" y="351"/>
                        </a:lnTo>
                        <a:lnTo>
                          <a:pt x="292" y="341"/>
                        </a:lnTo>
                        <a:lnTo>
                          <a:pt x="307" y="334"/>
                        </a:lnTo>
                        <a:lnTo>
                          <a:pt x="327" y="337"/>
                        </a:lnTo>
                        <a:lnTo>
                          <a:pt x="353" y="338"/>
                        </a:lnTo>
                        <a:lnTo>
                          <a:pt x="364" y="356"/>
                        </a:lnTo>
                        <a:lnTo>
                          <a:pt x="379" y="376"/>
                        </a:lnTo>
                        <a:lnTo>
                          <a:pt x="400" y="391"/>
                        </a:lnTo>
                        <a:lnTo>
                          <a:pt x="427" y="407"/>
                        </a:lnTo>
                        <a:lnTo>
                          <a:pt x="438" y="417"/>
                        </a:lnTo>
                        <a:lnTo>
                          <a:pt x="444" y="434"/>
                        </a:lnTo>
                        <a:lnTo>
                          <a:pt x="440" y="446"/>
                        </a:lnTo>
                        <a:lnTo>
                          <a:pt x="439" y="458"/>
                        </a:lnTo>
                        <a:lnTo>
                          <a:pt x="443" y="468"/>
                        </a:lnTo>
                        <a:lnTo>
                          <a:pt x="450" y="479"/>
                        </a:lnTo>
                        <a:lnTo>
                          <a:pt x="452" y="501"/>
                        </a:lnTo>
                        <a:lnTo>
                          <a:pt x="450" y="527"/>
                        </a:lnTo>
                        <a:lnTo>
                          <a:pt x="444" y="555"/>
                        </a:lnTo>
                        <a:lnTo>
                          <a:pt x="469" y="547"/>
                        </a:lnTo>
                        <a:lnTo>
                          <a:pt x="504" y="536"/>
                        </a:lnTo>
                        <a:lnTo>
                          <a:pt x="546" y="521"/>
                        </a:lnTo>
                        <a:lnTo>
                          <a:pt x="582" y="503"/>
                        </a:lnTo>
                        <a:lnTo>
                          <a:pt x="609" y="485"/>
                        </a:lnTo>
                        <a:lnTo>
                          <a:pt x="631" y="467"/>
                        </a:lnTo>
                        <a:lnTo>
                          <a:pt x="651" y="461"/>
                        </a:lnTo>
                        <a:lnTo>
                          <a:pt x="672" y="451"/>
                        </a:lnTo>
                        <a:lnTo>
                          <a:pt x="690" y="437"/>
                        </a:lnTo>
                        <a:lnTo>
                          <a:pt x="703" y="417"/>
                        </a:lnTo>
                        <a:lnTo>
                          <a:pt x="713" y="398"/>
                        </a:lnTo>
                        <a:lnTo>
                          <a:pt x="722" y="374"/>
                        </a:lnTo>
                        <a:lnTo>
                          <a:pt x="725" y="351"/>
                        </a:lnTo>
                        <a:lnTo>
                          <a:pt x="722" y="332"/>
                        </a:lnTo>
                        <a:lnTo>
                          <a:pt x="735" y="315"/>
                        </a:lnTo>
                        <a:lnTo>
                          <a:pt x="744" y="292"/>
                        </a:lnTo>
                        <a:lnTo>
                          <a:pt x="747" y="269"/>
                        </a:lnTo>
                        <a:lnTo>
                          <a:pt x="743" y="248"/>
                        </a:lnTo>
                        <a:lnTo>
                          <a:pt x="734" y="226"/>
                        </a:lnTo>
                        <a:lnTo>
                          <a:pt x="714" y="188"/>
                        </a:lnTo>
                        <a:lnTo>
                          <a:pt x="687" y="152"/>
                        </a:lnTo>
                        <a:lnTo>
                          <a:pt x="662" y="120"/>
                        </a:lnTo>
                        <a:lnTo>
                          <a:pt x="640" y="93"/>
                        </a:lnTo>
                        <a:lnTo>
                          <a:pt x="621" y="78"/>
                        </a:lnTo>
                        <a:lnTo>
                          <a:pt x="607" y="69"/>
                        </a:lnTo>
                        <a:lnTo>
                          <a:pt x="587" y="59"/>
                        </a:lnTo>
                        <a:lnTo>
                          <a:pt x="569" y="46"/>
                        </a:lnTo>
                        <a:lnTo>
                          <a:pt x="559" y="24"/>
                        </a:lnTo>
                        <a:lnTo>
                          <a:pt x="545" y="12"/>
                        </a:lnTo>
                        <a:lnTo>
                          <a:pt x="527" y="3"/>
                        </a:lnTo>
                        <a:lnTo>
                          <a:pt x="494" y="0"/>
                        </a:lnTo>
                        <a:lnTo>
                          <a:pt x="467" y="2"/>
                        </a:lnTo>
                        <a:lnTo>
                          <a:pt x="446" y="6"/>
                        </a:lnTo>
                        <a:lnTo>
                          <a:pt x="425" y="10"/>
                        </a:lnTo>
                        <a:lnTo>
                          <a:pt x="399" y="13"/>
                        </a:lnTo>
                        <a:lnTo>
                          <a:pt x="372" y="10"/>
                        </a:lnTo>
                        <a:lnTo>
                          <a:pt x="348" y="6"/>
                        </a:lnTo>
                        <a:lnTo>
                          <a:pt x="322" y="2"/>
                        </a:lnTo>
                        <a:lnTo>
                          <a:pt x="301" y="1"/>
                        </a:lnTo>
                        <a:lnTo>
                          <a:pt x="280" y="5"/>
                        </a:lnTo>
                        <a:lnTo>
                          <a:pt x="260" y="10"/>
                        </a:lnTo>
                        <a:lnTo>
                          <a:pt x="241" y="19"/>
                        </a:lnTo>
                        <a:lnTo>
                          <a:pt x="221" y="24"/>
                        </a:lnTo>
                        <a:lnTo>
                          <a:pt x="201" y="30"/>
                        </a:lnTo>
                        <a:lnTo>
                          <a:pt x="188" y="44"/>
                        </a:lnTo>
                        <a:lnTo>
                          <a:pt x="174" y="61"/>
                        </a:lnTo>
                        <a:lnTo>
                          <a:pt x="157" y="76"/>
                        </a:lnTo>
                        <a:lnTo>
                          <a:pt x="130" y="87"/>
                        </a:lnTo>
                        <a:close/>
                      </a:path>
                    </a:pathLst>
                  </a:custGeom>
                  <a:solidFill>
                    <a:srgbClr val="604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2427" name="Freeform 379"/>
                  <p:cNvSpPr/>
                  <p:nvPr/>
                </p:nvSpPr>
                <p:spPr bwMode="auto">
                  <a:xfrm>
                    <a:off x="2678" y="2943"/>
                    <a:ext cx="51" cy="40"/>
                  </a:xfrm>
                  <a:custGeom>
                    <a:avLst/>
                    <a:gdLst>
                      <a:gd name="T0" fmla="*/ 21 w 356"/>
                      <a:gd name="T1" fmla="*/ 147 h 319"/>
                      <a:gd name="T2" fmla="*/ 62 w 356"/>
                      <a:gd name="T3" fmla="*/ 169 h 319"/>
                      <a:gd name="T4" fmla="*/ 94 w 356"/>
                      <a:gd name="T5" fmla="*/ 195 h 319"/>
                      <a:gd name="T6" fmla="*/ 116 w 356"/>
                      <a:gd name="T7" fmla="*/ 238 h 319"/>
                      <a:gd name="T8" fmla="*/ 139 w 356"/>
                      <a:gd name="T9" fmla="*/ 275 h 319"/>
                      <a:gd name="T10" fmla="*/ 133 w 356"/>
                      <a:gd name="T11" fmla="*/ 319 h 319"/>
                      <a:gd name="T12" fmla="*/ 156 w 356"/>
                      <a:gd name="T13" fmla="*/ 298 h 319"/>
                      <a:gd name="T14" fmla="*/ 163 w 356"/>
                      <a:gd name="T15" fmla="*/ 263 h 319"/>
                      <a:gd name="T16" fmla="*/ 172 w 356"/>
                      <a:gd name="T17" fmla="*/ 290 h 319"/>
                      <a:gd name="T18" fmla="*/ 180 w 356"/>
                      <a:gd name="T19" fmla="*/ 291 h 319"/>
                      <a:gd name="T20" fmla="*/ 207 w 356"/>
                      <a:gd name="T21" fmla="*/ 287 h 319"/>
                      <a:gd name="T22" fmla="*/ 204 w 356"/>
                      <a:gd name="T23" fmla="*/ 265 h 319"/>
                      <a:gd name="T24" fmla="*/ 219 w 356"/>
                      <a:gd name="T25" fmla="*/ 255 h 319"/>
                      <a:gd name="T26" fmla="*/ 224 w 356"/>
                      <a:gd name="T27" fmla="*/ 249 h 319"/>
                      <a:gd name="T28" fmla="*/ 222 w 356"/>
                      <a:gd name="T29" fmla="*/ 214 h 319"/>
                      <a:gd name="T30" fmla="*/ 251 w 356"/>
                      <a:gd name="T31" fmla="*/ 229 h 319"/>
                      <a:gd name="T32" fmla="*/ 258 w 356"/>
                      <a:gd name="T33" fmla="*/ 263 h 319"/>
                      <a:gd name="T34" fmla="*/ 272 w 356"/>
                      <a:gd name="T35" fmla="*/ 217 h 319"/>
                      <a:gd name="T36" fmla="*/ 261 w 356"/>
                      <a:gd name="T37" fmla="*/ 146 h 319"/>
                      <a:gd name="T38" fmla="*/ 287 w 356"/>
                      <a:gd name="T39" fmla="*/ 167 h 319"/>
                      <a:gd name="T40" fmla="*/ 304 w 356"/>
                      <a:gd name="T41" fmla="*/ 182 h 319"/>
                      <a:gd name="T42" fmla="*/ 311 w 356"/>
                      <a:gd name="T43" fmla="*/ 155 h 319"/>
                      <a:gd name="T44" fmla="*/ 304 w 356"/>
                      <a:gd name="T45" fmla="*/ 124 h 319"/>
                      <a:gd name="T46" fmla="*/ 308 w 356"/>
                      <a:gd name="T47" fmla="*/ 105 h 319"/>
                      <a:gd name="T48" fmla="*/ 323 w 356"/>
                      <a:gd name="T49" fmla="*/ 136 h 319"/>
                      <a:gd name="T50" fmla="*/ 343 w 356"/>
                      <a:gd name="T51" fmla="*/ 160 h 319"/>
                      <a:gd name="T52" fmla="*/ 341 w 356"/>
                      <a:gd name="T53" fmla="*/ 134 h 319"/>
                      <a:gd name="T54" fmla="*/ 296 w 356"/>
                      <a:gd name="T55" fmla="*/ 71 h 319"/>
                      <a:gd name="T56" fmla="*/ 247 w 356"/>
                      <a:gd name="T57" fmla="*/ 17 h 319"/>
                      <a:gd name="T58" fmla="*/ 213 w 356"/>
                      <a:gd name="T59" fmla="*/ 15 h 319"/>
                      <a:gd name="T60" fmla="*/ 226 w 356"/>
                      <a:gd name="T61" fmla="*/ 42 h 319"/>
                      <a:gd name="T62" fmla="*/ 254 w 356"/>
                      <a:gd name="T63" fmla="*/ 78 h 319"/>
                      <a:gd name="T64" fmla="*/ 270 w 356"/>
                      <a:gd name="T65" fmla="*/ 113 h 319"/>
                      <a:gd name="T66" fmla="*/ 264 w 356"/>
                      <a:gd name="T67" fmla="*/ 123 h 319"/>
                      <a:gd name="T68" fmla="*/ 243 w 356"/>
                      <a:gd name="T69" fmla="*/ 128 h 319"/>
                      <a:gd name="T70" fmla="*/ 210 w 356"/>
                      <a:gd name="T71" fmla="*/ 74 h 319"/>
                      <a:gd name="T72" fmla="*/ 160 w 356"/>
                      <a:gd name="T73" fmla="*/ 12 h 319"/>
                      <a:gd name="T74" fmla="*/ 197 w 356"/>
                      <a:gd name="T75" fmla="*/ 78 h 319"/>
                      <a:gd name="T76" fmla="*/ 226 w 356"/>
                      <a:gd name="T77" fmla="*/ 138 h 319"/>
                      <a:gd name="T78" fmla="*/ 227 w 356"/>
                      <a:gd name="T79" fmla="*/ 161 h 319"/>
                      <a:gd name="T80" fmla="*/ 215 w 356"/>
                      <a:gd name="T81" fmla="*/ 167 h 319"/>
                      <a:gd name="T82" fmla="*/ 204 w 356"/>
                      <a:gd name="T83" fmla="*/ 192 h 319"/>
                      <a:gd name="T84" fmla="*/ 188 w 356"/>
                      <a:gd name="T85" fmla="*/ 122 h 319"/>
                      <a:gd name="T86" fmla="*/ 159 w 356"/>
                      <a:gd name="T87" fmla="*/ 65 h 319"/>
                      <a:gd name="T88" fmla="*/ 123 w 356"/>
                      <a:gd name="T89" fmla="*/ 20 h 319"/>
                      <a:gd name="T90" fmla="*/ 114 w 356"/>
                      <a:gd name="T91" fmla="*/ 29 h 319"/>
                      <a:gd name="T92" fmla="*/ 143 w 356"/>
                      <a:gd name="T93" fmla="*/ 72 h 319"/>
                      <a:gd name="T94" fmla="*/ 171 w 356"/>
                      <a:gd name="T95" fmla="*/ 133 h 319"/>
                      <a:gd name="T96" fmla="*/ 183 w 356"/>
                      <a:gd name="T97" fmla="*/ 235 h 319"/>
                      <a:gd name="T98" fmla="*/ 153 w 356"/>
                      <a:gd name="T99" fmla="*/ 137 h 319"/>
                      <a:gd name="T100" fmla="*/ 153 w 356"/>
                      <a:gd name="T101" fmla="*/ 205 h 319"/>
                      <a:gd name="T102" fmla="*/ 144 w 356"/>
                      <a:gd name="T103" fmla="*/ 250 h 319"/>
                      <a:gd name="T104" fmla="*/ 130 w 356"/>
                      <a:gd name="T105" fmla="*/ 204 h 319"/>
                      <a:gd name="T106" fmla="*/ 123 w 356"/>
                      <a:gd name="T107" fmla="*/ 167 h 319"/>
                      <a:gd name="T108" fmla="*/ 122 w 356"/>
                      <a:gd name="T109" fmla="*/ 137 h 319"/>
                      <a:gd name="T110" fmla="*/ 115 w 356"/>
                      <a:gd name="T111" fmla="*/ 164 h 319"/>
                      <a:gd name="T112" fmla="*/ 90 w 356"/>
                      <a:gd name="T113" fmla="*/ 165 h 319"/>
                      <a:gd name="T114" fmla="*/ 56 w 356"/>
                      <a:gd name="T115" fmla="*/ 145 h 319"/>
                      <a:gd name="T116" fmla="*/ 18 w 356"/>
                      <a:gd name="T117" fmla="*/ 136 h 3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356" h="319">
                        <a:moveTo>
                          <a:pt x="0" y="137"/>
                        </a:moveTo>
                        <a:lnTo>
                          <a:pt x="21" y="147"/>
                        </a:lnTo>
                        <a:lnTo>
                          <a:pt x="42" y="157"/>
                        </a:lnTo>
                        <a:lnTo>
                          <a:pt x="62" y="169"/>
                        </a:lnTo>
                        <a:lnTo>
                          <a:pt x="80" y="183"/>
                        </a:lnTo>
                        <a:lnTo>
                          <a:pt x="94" y="195"/>
                        </a:lnTo>
                        <a:lnTo>
                          <a:pt x="103" y="207"/>
                        </a:lnTo>
                        <a:lnTo>
                          <a:pt x="116" y="238"/>
                        </a:lnTo>
                        <a:lnTo>
                          <a:pt x="130" y="292"/>
                        </a:lnTo>
                        <a:lnTo>
                          <a:pt x="139" y="275"/>
                        </a:lnTo>
                        <a:lnTo>
                          <a:pt x="138" y="293"/>
                        </a:lnTo>
                        <a:lnTo>
                          <a:pt x="133" y="319"/>
                        </a:lnTo>
                        <a:lnTo>
                          <a:pt x="148" y="310"/>
                        </a:lnTo>
                        <a:lnTo>
                          <a:pt x="156" y="298"/>
                        </a:lnTo>
                        <a:lnTo>
                          <a:pt x="161" y="283"/>
                        </a:lnTo>
                        <a:lnTo>
                          <a:pt x="163" y="263"/>
                        </a:lnTo>
                        <a:lnTo>
                          <a:pt x="170" y="276"/>
                        </a:lnTo>
                        <a:lnTo>
                          <a:pt x="172" y="290"/>
                        </a:lnTo>
                        <a:lnTo>
                          <a:pt x="169" y="298"/>
                        </a:lnTo>
                        <a:lnTo>
                          <a:pt x="180" y="291"/>
                        </a:lnTo>
                        <a:lnTo>
                          <a:pt x="189" y="281"/>
                        </a:lnTo>
                        <a:lnTo>
                          <a:pt x="207" y="287"/>
                        </a:lnTo>
                        <a:lnTo>
                          <a:pt x="203" y="277"/>
                        </a:lnTo>
                        <a:lnTo>
                          <a:pt x="204" y="265"/>
                        </a:lnTo>
                        <a:lnTo>
                          <a:pt x="207" y="253"/>
                        </a:lnTo>
                        <a:lnTo>
                          <a:pt x="219" y="255"/>
                        </a:lnTo>
                        <a:lnTo>
                          <a:pt x="231" y="263"/>
                        </a:lnTo>
                        <a:lnTo>
                          <a:pt x="224" y="249"/>
                        </a:lnTo>
                        <a:lnTo>
                          <a:pt x="220" y="232"/>
                        </a:lnTo>
                        <a:lnTo>
                          <a:pt x="222" y="214"/>
                        </a:lnTo>
                        <a:lnTo>
                          <a:pt x="236" y="220"/>
                        </a:lnTo>
                        <a:lnTo>
                          <a:pt x="251" y="229"/>
                        </a:lnTo>
                        <a:lnTo>
                          <a:pt x="261" y="242"/>
                        </a:lnTo>
                        <a:lnTo>
                          <a:pt x="258" y="263"/>
                        </a:lnTo>
                        <a:lnTo>
                          <a:pt x="272" y="235"/>
                        </a:lnTo>
                        <a:lnTo>
                          <a:pt x="272" y="217"/>
                        </a:lnTo>
                        <a:lnTo>
                          <a:pt x="275" y="187"/>
                        </a:lnTo>
                        <a:lnTo>
                          <a:pt x="261" y="146"/>
                        </a:lnTo>
                        <a:lnTo>
                          <a:pt x="274" y="156"/>
                        </a:lnTo>
                        <a:lnTo>
                          <a:pt x="287" y="167"/>
                        </a:lnTo>
                        <a:lnTo>
                          <a:pt x="294" y="187"/>
                        </a:lnTo>
                        <a:lnTo>
                          <a:pt x="304" y="182"/>
                        </a:lnTo>
                        <a:lnTo>
                          <a:pt x="309" y="170"/>
                        </a:lnTo>
                        <a:lnTo>
                          <a:pt x="311" y="155"/>
                        </a:lnTo>
                        <a:lnTo>
                          <a:pt x="309" y="143"/>
                        </a:lnTo>
                        <a:lnTo>
                          <a:pt x="304" y="124"/>
                        </a:lnTo>
                        <a:lnTo>
                          <a:pt x="294" y="101"/>
                        </a:lnTo>
                        <a:lnTo>
                          <a:pt x="308" y="105"/>
                        </a:lnTo>
                        <a:lnTo>
                          <a:pt x="318" y="119"/>
                        </a:lnTo>
                        <a:lnTo>
                          <a:pt x="323" y="136"/>
                        </a:lnTo>
                        <a:lnTo>
                          <a:pt x="332" y="153"/>
                        </a:lnTo>
                        <a:lnTo>
                          <a:pt x="343" y="160"/>
                        </a:lnTo>
                        <a:lnTo>
                          <a:pt x="356" y="165"/>
                        </a:lnTo>
                        <a:lnTo>
                          <a:pt x="341" y="134"/>
                        </a:lnTo>
                        <a:lnTo>
                          <a:pt x="324" y="107"/>
                        </a:lnTo>
                        <a:lnTo>
                          <a:pt x="296" y="71"/>
                        </a:lnTo>
                        <a:lnTo>
                          <a:pt x="273" y="41"/>
                        </a:lnTo>
                        <a:lnTo>
                          <a:pt x="247" y="17"/>
                        </a:lnTo>
                        <a:lnTo>
                          <a:pt x="222" y="0"/>
                        </a:lnTo>
                        <a:lnTo>
                          <a:pt x="213" y="15"/>
                        </a:lnTo>
                        <a:lnTo>
                          <a:pt x="200" y="24"/>
                        </a:lnTo>
                        <a:lnTo>
                          <a:pt x="226" y="42"/>
                        </a:lnTo>
                        <a:lnTo>
                          <a:pt x="240" y="59"/>
                        </a:lnTo>
                        <a:lnTo>
                          <a:pt x="254" y="78"/>
                        </a:lnTo>
                        <a:lnTo>
                          <a:pt x="263" y="95"/>
                        </a:lnTo>
                        <a:lnTo>
                          <a:pt x="270" y="113"/>
                        </a:lnTo>
                        <a:lnTo>
                          <a:pt x="275" y="131"/>
                        </a:lnTo>
                        <a:lnTo>
                          <a:pt x="264" y="123"/>
                        </a:lnTo>
                        <a:lnTo>
                          <a:pt x="249" y="116"/>
                        </a:lnTo>
                        <a:lnTo>
                          <a:pt x="243" y="128"/>
                        </a:lnTo>
                        <a:lnTo>
                          <a:pt x="227" y="98"/>
                        </a:lnTo>
                        <a:lnTo>
                          <a:pt x="210" y="74"/>
                        </a:lnTo>
                        <a:lnTo>
                          <a:pt x="185" y="41"/>
                        </a:lnTo>
                        <a:lnTo>
                          <a:pt x="160" y="12"/>
                        </a:lnTo>
                        <a:lnTo>
                          <a:pt x="184" y="52"/>
                        </a:lnTo>
                        <a:lnTo>
                          <a:pt x="197" y="78"/>
                        </a:lnTo>
                        <a:lnTo>
                          <a:pt x="210" y="105"/>
                        </a:lnTo>
                        <a:lnTo>
                          <a:pt x="226" y="138"/>
                        </a:lnTo>
                        <a:lnTo>
                          <a:pt x="243" y="181"/>
                        </a:lnTo>
                        <a:lnTo>
                          <a:pt x="227" y="161"/>
                        </a:lnTo>
                        <a:lnTo>
                          <a:pt x="210" y="150"/>
                        </a:lnTo>
                        <a:lnTo>
                          <a:pt x="215" y="167"/>
                        </a:lnTo>
                        <a:lnTo>
                          <a:pt x="210" y="183"/>
                        </a:lnTo>
                        <a:lnTo>
                          <a:pt x="204" y="192"/>
                        </a:lnTo>
                        <a:lnTo>
                          <a:pt x="197" y="155"/>
                        </a:lnTo>
                        <a:lnTo>
                          <a:pt x="188" y="122"/>
                        </a:lnTo>
                        <a:lnTo>
                          <a:pt x="175" y="92"/>
                        </a:lnTo>
                        <a:lnTo>
                          <a:pt x="159" y="65"/>
                        </a:lnTo>
                        <a:lnTo>
                          <a:pt x="144" y="43"/>
                        </a:lnTo>
                        <a:lnTo>
                          <a:pt x="123" y="20"/>
                        </a:lnTo>
                        <a:lnTo>
                          <a:pt x="95" y="0"/>
                        </a:lnTo>
                        <a:lnTo>
                          <a:pt x="114" y="29"/>
                        </a:lnTo>
                        <a:lnTo>
                          <a:pt x="128" y="48"/>
                        </a:lnTo>
                        <a:lnTo>
                          <a:pt x="143" y="72"/>
                        </a:lnTo>
                        <a:lnTo>
                          <a:pt x="159" y="102"/>
                        </a:lnTo>
                        <a:lnTo>
                          <a:pt x="171" y="133"/>
                        </a:lnTo>
                        <a:lnTo>
                          <a:pt x="180" y="173"/>
                        </a:lnTo>
                        <a:lnTo>
                          <a:pt x="183" y="235"/>
                        </a:lnTo>
                        <a:lnTo>
                          <a:pt x="169" y="192"/>
                        </a:lnTo>
                        <a:lnTo>
                          <a:pt x="153" y="137"/>
                        </a:lnTo>
                        <a:lnTo>
                          <a:pt x="155" y="172"/>
                        </a:lnTo>
                        <a:lnTo>
                          <a:pt x="153" y="205"/>
                        </a:lnTo>
                        <a:lnTo>
                          <a:pt x="149" y="228"/>
                        </a:lnTo>
                        <a:lnTo>
                          <a:pt x="144" y="250"/>
                        </a:lnTo>
                        <a:lnTo>
                          <a:pt x="137" y="225"/>
                        </a:lnTo>
                        <a:lnTo>
                          <a:pt x="130" y="204"/>
                        </a:lnTo>
                        <a:lnTo>
                          <a:pt x="119" y="181"/>
                        </a:lnTo>
                        <a:lnTo>
                          <a:pt x="123" y="167"/>
                        </a:lnTo>
                        <a:lnTo>
                          <a:pt x="126" y="154"/>
                        </a:lnTo>
                        <a:lnTo>
                          <a:pt x="122" y="137"/>
                        </a:lnTo>
                        <a:lnTo>
                          <a:pt x="118" y="154"/>
                        </a:lnTo>
                        <a:lnTo>
                          <a:pt x="115" y="164"/>
                        </a:lnTo>
                        <a:lnTo>
                          <a:pt x="106" y="176"/>
                        </a:lnTo>
                        <a:lnTo>
                          <a:pt x="90" y="165"/>
                        </a:lnTo>
                        <a:lnTo>
                          <a:pt x="74" y="154"/>
                        </a:lnTo>
                        <a:lnTo>
                          <a:pt x="56" y="145"/>
                        </a:lnTo>
                        <a:lnTo>
                          <a:pt x="38" y="140"/>
                        </a:lnTo>
                        <a:lnTo>
                          <a:pt x="18" y="136"/>
                        </a:lnTo>
                        <a:lnTo>
                          <a:pt x="0" y="137"/>
                        </a:lnTo>
                        <a:close/>
                      </a:path>
                    </a:pathLst>
                  </a:custGeom>
                  <a:solidFill>
                    <a:srgbClr val="80604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642428" name="Group 380"/>
          <p:cNvGrpSpPr/>
          <p:nvPr/>
        </p:nvGrpSpPr>
        <p:grpSpPr bwMode="auto">
          <a:xfrm>
            <a:off x="1600200" y="3886200"/>
            <a:ext cx="1143000" cy="762000"/>
            <a:chOff x="4560" y="518"/>
            <a:chExt cx="619" cy="924"/>
          </a:xfrm>
        </p:grpSpPr>
        <p:pic>
          <p:nvPicPr>
            <p:cNvPr id="642429" name="Picture 381"/>
            <p:cNvPicPr>
              <a:picLocks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5" y="614"/>
              <a:ext cx="364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42430" name="Picture 3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0" y="518"/>
              <a:ext cx="491" cy="9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642432" name="Group 384"/>
          <p:cNvGrpSpPr/>
          <p:nvPr/>
        </p:nvGrpSpPr>
        <p:grpSpPr bwMode="auto">
          <a:xfrm>
            <a:off x="3733807" y="3886200"/>
            <a:ext cx="974725" cy="685800"/>
            <a:chOff x="10295" y="7532"/>
            <a:chExt cx="498" cy="332"/>
          </a:xfrm>
        </p:grpSpPr>
        <p:sp>
          <p:nvSpPr>
            <p:cNvPr id="642433" name="Rectangle 385"/>
            <p:cNvSpPr>
              <a:spLocks noChangeArrowheads="1"/>
            </p:cNvSpPr>
            <p:nvPr/>
          </p:nvSpPr>
          <p:spPr bwMode="auto">
            <a:xfrm>
              <a:off x="10295" y="7568"/>
              <a:ext cx="441" cy="296"/>
            </a:xfrm>
            <a:prstGeom prst="rect">
              <a:avLst/>
            </a:prstGeom>
            <a:solidFill>
              <a:srgbClr val="009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434" name="Rectangle 386"/>
            <p:cNvSpPr>
              <a:spLocks noChangeArrowheads="1"/>
            </p:cNvSpPr>
            <p:nvPr/>
          </p:nvSpPr>
          <p:spPr bwMode="auto">
            <a:xfrm>
              <a:off x="10297" y="7570"/>
              <a:ext cx="437" cy="292"/>
            </a:xfrm>
            <a:prstGeom prst="rect">
              <a:avLst/>
            </a:prstGeom>
            <a:solidFill>
              <a:srgbClr val="0096D5"/>
            </a:solidFill>
            <a:ln w="2540">
              <a:solidFill>
                <a:srgbClr val="AAE6FF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435" name="Freeform 387"/>
            <p:cNvSpPr/>
            <p:nvPr/>
          </p:nvSpPr>
          <p:spPr bwMode="auto">
            <a:xfrm>
              <a:off x="10295" y="7532"/>
              <a:ext cx="498" cy="36"/>
            </a:xfrm>
            <a:custGeom>
              <a:avLst/>
              <a:gdLst>
                <a:gd name="T0" fmla="*/ 0 w 498"/>
                <a:gd name="T1" fmla="*/ 36 h 36"/>
                <a:gd name="T2" fmla="*/ 56 w 498"/>
                <a:gd name="T3" fmla="*/ 0 h 36"/>
                <a:gd name="T4" fmla="*/ 498 w 498"/>
                <a:gd name="T5" fmla="*/ 0 h 36"/>
                <a:gd name="T6" fmla="*/ 441 w 498"/>
                <a:gd name="T7" fmla="*/ 36 h 36"/>
                <a:gd name="T8" fmla="*/ 0 w 498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36">
                  <a:moveTo>
                    <a:pt x="0" y="36"/>
                  </a:moveTo>
                  <a:lnTo>
                    <a:pt x="56" y="0"/>
                  </a:lnTo>
                  <a:lnTo>
                    <a:pt x="498" y="0"/>
                  </a:lnTo>
                  <a:lnTo>
                    <a:pt x="441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436" name="Freeform 388"/>
            <p:cNvSpPr/>
            <p:nvPr/>
          </p:nvSpPr>
          <p:spPr bwMode="auto">
            <a:xfrm>
              <a:off x="10295" y="7532"/>
              <a:ext cx="498" cy="36"/>
            </a:xfrm>
            <a:custGeom>
              <a:avLst/>
              <a:gdLst>
                <a:gd name="T0" fmla="*/ 0 w 498"/>
                <a:gd name="T1" fmla="*/ 36 h 36"/>
                <a:gd name="T2" fmla="*/ 56 w 498"/>
                <a:gd name="T3" fmla="*/ 0 h 36"/>
                <a:gd name="T4" fmla="*/ 498 w 498"/>
                <a:gd name="T5" fmla="*/ 0 h 36"/>
                <a:gd name="T6" fmla="*/ 441 w 498"/>
                <a:gd name="T7" fmla="*/ 36 h 36"/>
                <a:gd name="T8" fmla="*/ 0 w 498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36">
                  <a:moveTo>
                    <a:pt x="0" y="36"/>
                  </a:moveTo>
                  <a:lnTo>
                    <a:pt x="56" y="0"/>
                  </a:lnTo>
                  <a:lnTo>
                    <a:pt x="498" y="0"/>
                  </a:lnTo>
                  <a:lnTo>
                    <a:pt x="441" y="36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B4FF"/>
            </a:solidFill>
            <a:ln w="2540">
              <a:solidFill>
                <a:srgbClr val="AAE6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437" name="Freeform 389"/>
            <p:cNvSpPr/>
            <p:nvPr/>
          </p:nvSpPr>
          <p:spPr bwMode="auto">
            <a:xfrm>
              <a:off x="10736" y="7532"/>
              <a:ext cx="57" cy="329"/>
            </a:xfrm>
            <a:custGeom>
              <a:avLst/>
              <a:gdLst>
                <a:gd name="T0" fmla="*/ 0 w 57"/>
                <a:gd name="T1" fmla="*/ 36 h 329"/>
                <a:gd name="T2" fmla="*/ 57 w 57"/>
                <a:gd name="T3" fmla="*/ 0 h 329"/>
                <a:gd name="T4" fmla="*/ 57 w 57"/>
                <a:gd name="T5" fmla="*/ 294 h 329"/>
                <a:gd name="T6" fmla="*/ 0 w 57"/>
                <a:gd name="T7" fmla="*/ 329 h 329"/>
                <a:gd name="T8" fmla="*/ 0 w 57"/>
                <a:gd name="T9" fmla="*/ 36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29">
                  <a:moveTo>
                    <a:pt x="0" y="36"/>
                  </a:moveTo>
                  <a:lnTo>
                    <a:pt x="57" y="0"/>
                  </a:lnTo>
                  <a:lnTo>
                    <a:pt x="57" y="294"/>
                  </a:lnTo>
                  <a:lnTo>
                    <a:pt x="0" y="329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5A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2438" name="Freeform 390"/>
            <p:cNvSpPr/>
            <p:nvPr/>
          </p:nvSpPr>
          <p:spPr bwMode="auto">
            <a:xfrm>
              <a:off x="10736" y="7532"/>
              <a:ext cx="57" cy="329"/>
            </a:xfrm>
            <a:custGeom>
              <a:avLst/>
              <a:gdLst>
                <a:gd name="T0" fmla="*/ 0 w 57"/>
                <a:gd name="T1" fmla="*/ 36 h 329"/>
                <a:gd name="T2" fmla="*/ 57 w 57"/>
                <a:gd name="T3" fmla="*/ 0 h 329"/>
                <a:gd name="T4" fmla="*/ 57 w 57"/>
                <a:gd name="T5" fmla="*/ 294 h 329"/>
                <a:gd name="T6" fmla="*/ 0 w 57"/>
                <a:gd name="T7" fmla="*/ 329 h 329"/>
                <a:gd name="T8" fmla="*/ 0 w 57"/>
                <a:gd name="T9" fmla="*/ 36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329">
                  <a:moveTo>
                    <a:pt x="0" y="36"/>
                  </a:moveTo>
                  <a:lnTo>
                    <a:pt x="57" y="0"/>
                  </a:lnTo>
                  <a:lnTo>
                    <a:pt x="57" y="294"/>
                  </a:lnTo>
                  <a:lnTo>
                    <a:pt x="0" y="329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5A80"/>
            </a:solidFill>
            <a:ln w="2540">
              <a:solidFill>
                <a:srgbClr val="AAE6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42439" name="Group 391"/>
            <p:cNvGrpSpPr/>
            <p:nvPr/>
          </p:nvGrpSpPr>
          <p:grpSpPr bwMode="auto">
            <a:xfrm>
              <a:off x="10327" y="7595"/>
              <a:ext cx="389" cy="252"/>
              <a:chOff x="10327" y="7595"/>
              <a:chExt cx="389" cy="252"/>
            </a:xfrm>
          </p:grpSpPr>
          <p:sp>
            <p:nvSpPr>
              <p:cNvPr id="642440" name="Freeform 392"/>
              <p:cNvSpPr/>
              <p:nvPr/>
            </p:nvSpPr>
            <p:spPr bwMode="auto">
              <a:xfrm>
                <a:off x="10327" y="7595"/>
                <a:ext cx="385" cy="250"/>
              </a:xfrm>
              <a:custGeom>
                <a:avLst/>
                <a:gdLst>
                  <a:gd name="T0" fmla="*/ 56 w 385"/>
                  <a:gd name="T1" fmla="*/ 0 h 250"/>
                  <a:gd name="T2" fmla="*/ 56 w 385"/>
                  <a:gd name="T3" fmla="*/ 30 h 250"/>
                  <a:gd name="T4" fmla="*/ 144 w 385"/>
                  <a:gd name="T5" fmla="*/ 30 h 250"/>
                  <a:gd name="T6" fmla="*/ 193 w 385"/>
                  <a:gd name="T7" fmla="*/ 98 h 250"/>
                  <a:gd name="T8" fmla="*/ 241 w 385"/>
                  <a:gd name="T9" fmla="*/ 30 h 250"/>
                  <a:gd name="T10" fmla="*/ 329 w 385"/>
                  <a:gd name="T11" fmla="*/ 30 h 250"/>
                  <a:gd name="T12" fmla="*/ 329 w 385"/>
                  <a:gd name="T13" fmla="*/ 0 h 250"/>
                  <a:gd name="T14" fmla="*/ 385 w 385"/>
                  <a:gd name="T15" fmla="*/ 38 h 250"/>
                  <a:gd name="T16" fmla="*/ 329 w 385"/>
                  <a:gd name="T17" fmla="*/ 76 h 250"/>
                  <a:gd name="T18" fmla="*/ 329 w 385"/>
                  <a:gd name="T19" fmla="*/ 49 h 250"/>
                  <a:gd name="T20" fmla="*/ 265 w 385"/>
                  <a:gd name="T21" fmla="*/ 49 h 250"/>
                  <a:gd name="T22" fmla="*/ 213 w 385"/>
                  <a:gd name="T23" fmla="*/ 125 h 250"/>
                  <a:gd name="T24" fmla="*/ 265 w 385"/>
                  <a:gd name="T25" fmla="*/ 201 h 250"/>
                  <a:gd name="T26" fmla="*/ 329 w 385"/>
                  <a:gd name="T27" fmla="*/ 201 h 250"/>
                  <a:gd name="T28" fmla="*/ 329 w 385"/>
                  <a:gd name="T29" fmla="*/ 174 h 250"/>
                  <a:gd name="T30" fmla="*/ 385 w 385"/>
                  <a:gd name="T31" fmla="*/ 212 h 250"/>
                  <a:gd name="T32" fmla="*/ 329 w 385"/>
                  <a:gd name="T33" fmla="*/ 250 h 250"/>
                  <a:gd name="T34" fmla="*/ 329 w 385"/>
                  <a:gd name="T35" fmla="*/ 222 h 250"/>
                  <a:gd name="T36" fmla="*/ 241 w 385"/>
                  <a:gd name="T37" fmla="*/ 222 h 250"/>
                  <a:gd name="T38" fmla="*/ 193 w 385"/>
                  <a:gd name="T39" fmla="*/ 152 h 250"/>
                  <a:gd name="T40" fmla="*/ 144 w 385"/>
                  <a:gd name="T41" fmla="*/ 222 h 250"/>
                  <a:gd name="T42" fmla="*/ 56 w 385"/>
                  <a:gd name="T43" fmla="*/ 222 h 250"/>
                  <a:gd name="T44" fmla="*/ 56 w 385"/>
                  <a:gd name="T45" fmla="*/ 250 h 250"/>
                  <a:gd name="T46" fmla="*/ 0 w 385"/>
                  <a:gd name="T47" fmla="*/ 212 h 250"/>
                  <a:gd name="T48" fmla="*/ 56 w 385"/>
                  <a:gd name="T49" fmla="*/ 174 h 250"/>
                  <a:gd name="T50" fmla="*/ 56 w 385"/>
                  <a:gd name="T51" fmla="*/ 201 h 250"/>
                  <a:gd name="T52" fmla="*/ 116 w 385"/>
                  <a:gd name="T53" fmla="*/ 201 h 250"/>
                  <a:gd name="T54" fmla="*/ 173 w 385"/>
                  <a:gd name="T55" fmla="*/ 125 h 250"/>
                  <a:gd name="T56" fmla="*/ 116 w 385"/>
                  <a:gd name="T57" fmla="*/ 49 h 250"/>
                  <a:gd name="T58" fmla="*/ 56 w 385"/>
                  <a:gd name="T59" fmla="*/ 49 h 250"/>
                  <a:gd name="T60" fmla="*/ 56 w 385"/>
                  <a:gd name="T61" fmla="*/ 76 h 250"/>
                  <a:gd name="T62" fmla="*/ 0 w 385"/>
                  <a:gd name="T63" fmla="*/ 38 h 250"/>
                  <a:gd name="T64" fmla="*/ 56 w 385"/>
                  <a:gd name="T65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85" h="250">
                    <a:moveTo>
                      <a:pt x="56" y="0"/>
                    </a:moveTo>
                    <a:lnTo>
                      <a:pt x="56" y="30"/>
                    </a:lnTo>
                    <a:lnTo>
                      <a:pt x="144" y="30"/>
                    </a:lnTo>
                    <a:lnTo>
                      <a:pt x="193" y="98"/>
                    </a:lnTo>
                    <a:lnTo>
                      <a:pt x="241" y="30"/>
                    </a:lnTo>
                    <a:lnTo>
                      <a:pt x="329" y="30"/>
                    </a:lnTo>
                    <a:lnTo>
                      <a:pt x="329" y="0"/>
                    </a:lnTo>
                    <a:lnTo>
                      <a:pt x="385" y="38"/>
                    </a:lnTo>
                    <a:lnTo>
                      <a:pt x="329" y="76"/>
                    </a:lnTo>
                    <a:lnTo>
                      <a:pt x="329" y="49"/>
                    </a:lnTo>
                    <a:lnTo>
                      <a:pt x="265" y="49"/>
                    </a:lnTo>
                    <a:lnTo>
                      <a:pt x="213" y="125"/>
                    </a:lnTo>
                    <a:lnTo>
                      <a:pt x="265" y="201"/>
                    </a:lnTo>
                    <a:lnTo>
                      <a:pt x="329" y="201"/>
                    </a:lnTo>
                    <a:lnTo>
                      <a:pt x="329" y="174"/>
                    </a:lnTo>
                    <a:lnTo>
                      <a:pt x="385" y="212"/>
                    </a:lnTo>
                    <a:lnTo>
                      <a:pt x="329" y="250"/>
                    </a:lnTo>
                    <a:lnTo>
                      <a:pt x="329" y="222"/>
                    </a:lnTo>
                    <a:lnTo>
                      <a:pt x="241" y="222"/>
                    </a:lnTo>
                    <a:lnTo>
                      <a:pt x="193" y="152"/>
                    </a:lnTo>
                    <a:lnTo>
                      <a:pt x="144" y="222"/>
                    </a:lnTo>
                    <a:lnTo>
                      <a:pt x="56" y="222"/>
                    </a:lnTo>
                    <a:lnTo>
                      <a:pt x="56" y="250"/>
                    </a:lnTo>
                    <a:lnTo>
                      <a:pt x="0" y="212"/>
                    </a:lnTo>
                    <a:lnTo>
                      <a:pt x="56" y="174"/>
                    </a:lnTo>
                    <a:lnTo>
                      <a:pt x="56" y="201"/>
                    </a:lnTo>
                    <a:lnTo>
                      <a:pt x="116" y="201"/>
                    </a:lnTo>
                    <a:lnTo>
                      <a:pt x="173" y="125"/>
                    </a:lnTo>
                    <a:lnTo>
                      <a:pt x="116" y="49"/>
                    </a:lnTo>
                    <a:lnTo>
                      <a:pt x="56" y="49"/>
                    </a:lnTo>
                    <a:lnTo>
                      <a:pt x="56" y="76"/>
                    </a:lnTo>
                    <a:lnTo>
                      <a:pt x="0" y="38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2441" name="Freeform 393"/>
              <p:cNvSpPr/>
              <p:nvPr/>
            </p:nvSpPr>
            <p:spPr bwMode="auto">
              <a:xfrm>
                <a:off x="10327" y="7595"/>
                <a:ext cx="385" cy="250"/>
              </a:xfrm>
              <a:custGeom>
                <a:avLst/>
                <a:gdLst>
                  <a:gd name="T0" fmla="*/ 56 w 385"/>
                  <a:gd name="T1" fmla="*/ 0 h 250"/>
                  <a:gd name="T2" fmla="*/ 56 w 385"/>
                  <a:gd name="T3" fmla="*/ 30 h 250"/>
                  <a:gd name="T4" fmla="*/ 144 w 385"/>
                  <a:gd name="T5" fmla="*/ 30 h 250"/>
                  <a:gd name="T6" fmla="*/ 193 w 385"/>
                  <a:gd name="T7" fmla="*/ 98 h 250"/>
                  <a:gd name="T8" fmla="*/ 241 w 385"/>
                  <a:gd name="T9" fmla="*/ 30 h 250"/>
                  <a:gd name="T10" fmla="*/ 329 w 385"/>
                  <a:gd name="T11" fmla="*/ 30 h 250"/>
                  <a:gd name="T12" fmla="*/ 329 w 385"/>
                  <a:gd name="T13" fmla="*/ 0 h 250"/>
                  <a:gd name="T14" fmla="*/ 385 w 385"/>
                  <a:gd name="T15" fmla="*/ 38 h 250"/>
                  <a:gd name="T16" fmla="*/ 329 w 385"/>
                  <a:gd name="T17" fmla="*/ 76 h 250"/>
                  <a:gd name="T18" fmla="*/ 329 w 385"/>
                  <a:gd name="T19" fmla="*/ 49 h 250"/>
                  <a:gd name="T20" fmla="*/ 265 w 385"/>
                  <a:gd name="T21" fmla="*/ 49 h 250"/>
                  <a:gd name="T22" fmla="*/ 213 w 385"/>
                  <a:gd name="T23" fmla="*/ 125 h 250"/>
                  <a:gd name="T24" fmla="*/ 265 w 385"/>
                  <a:gd name="T25" fmla="*/ 201 h 250"/>
                  <a:gd name="T26" fmla="*/ 329 w 385"/>
                  <a:gd name="T27" fmla="*/ 201 h 250"/>
                  <a:gd name="T28" fmla="*/ 329 w 385"/>
                  <a:gd name="T29" fmla="*/ 174 h 250"/>
                  <a:gd name="T30" fmla="*/ 385 w 385"/>
                  <a:gd name="T31" fmla="*/ 212 h 250"/>
                  <a:gd name="T32" fmla="*/ 329 w 385"/>
                  <a:gd name="T33" fmla="*/ 250 h 250"/>
                  <a:gd name="T34" fmla="*/ 329 w 385"/>
                  <a:gd name="T35" fmla="*/ 222 h 250"/>
                  <a:gd name="T36" fmla="*/ 241 w 385"/>
                  <a:gd name="T37" fmla="*/ 222 h 250"/>
                  <a:gd name="T38" fmla="*/ 193 w 385"/>
                  <a:gd name="T39" fmla="*/ 152 h 250"/>
                  <a:gd name="T40" fmla="*/ 144 w 385"/>
                  <a:gd name="T41" fmla="*/ 222 h 250"/>
                  <a:gd name="T42" fmla="*/ 56 w 385"/>
                  <a:gd name="T43" fmla="*/ 222 h 250"/>
                  <a:gd name="T44" fmla="*/ 56 w 385"/>
                  <a:gd name="T45" fmla="*/ 250 h 250"/>
                  <a:gd name="T46" fmla="*/ 0 w 385"/>
                  <a:gd name="T47" fmla="*/ 212 h 250"/>
                  <a:gd name="T48" fmla="*/ 56 w 385"/>
                  <a:gd name="T49" fmla="*/ 174 h 250"/>
                  <a:gd name="T50" fmla="*/ 56 w 385"/>
                  <a:gd name="T51" fmla="*/ 201 h 250"/>
                  <a:gd name="T52" fmla="*/ 116 w 385"/>
                  <a:gd name="T53" fmla="*/ 201 h 250"/>
                  <a:gd name="T54" fmla="*/ 173 w 385"/>
                  <a:gd name="T55" fmla="*/ 125 h 250"/>
                  <a:gd name="T56" fmla="*/ 116 w 385"/>
                  <a:gd name="T57" fmla="*/ 49 h 250"/>
                  <a:gd name="T58" fmla="*/ 56 w 385"/>
                  <a:gd name="T59" fmla="*/ 49 h 250"/>
                  <a:gd name="T60" fmla="*/ 56 w 385"/>
                  <a:gd name="T61" fmla="*/ 76 h 250"/>
                  <a:gd name="T62" fmla="*/ 0 w 385"/>
                  <a:gd name="T63" fmla="*/ 38 h 250"/>
                  <a:gd name="T64" fmla="*/ 56 w 385"/>
                  <a:gd name="T65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85" h="250">
                    <a:moveTo>
                      <a:pt x="56" y="0"/>
                    </a:moveTo>
                    <a:lnTo>
                      <a:pt x="56" y="30"/>
                    </a:lnTo>
                    <a:lnTo>
                      <a:pt x="144" y="30"/>
                    </a:lnTo>
                    <a:lnTo>
                      <a:pt x="193" y="98"/>
                    </a:lnTo>
                    <a:lnTo>
                      <a:pt x="241" y="30"/>
                    </a:lnTo>
                    <a:lnTo>
                      <a:pt x="329" y="30"/>
                    </a:lnTo>
                    <a:lnTo>
                      <a:pt x="329" y="0"/>
                    </a:lnTo>
                    <a:lnTo>
                      <a:pt x="385" y="38"/>
                    </a:lnTo>
                    <a:lnTo>
                      <a:pt x="329" y="76"/>
                    </a:lnTo>
                    <a:lnTo>
                      <a:pt x="329" y="49"/>
                    </a:lnTo>
                    <a:lnTo>
                      <a:pt x="265" y="49"/>
                    </a:lnTo>
                    <a:lnTo>
                      <a:pt x="213" y="125"/>
                    </a:lnTo>
                    <a:lnTo>
                      <a:pt x="265" y="201"/>
                    </a:lnTo>
                    <a:lnTo>
                      <a:pt x="329" y="201"/>
                    </a:lnTo>
                    <a:lnTo>
                      <a:pt x="329" y="174"/>
                    </a:lnTo>
                    <a:lnTo>
                      <a:pt x="385" y="212"/>
                    </a:lnTo>
                    <a:lnTo>
                      <a:pt x="329" y="250"/>
                    </a:lnTo>
                    <a:lnTo>
                      <a:pt x="329" y="222"/>
                    </a:lnTo>
                    <a:lnTo>
                      <a:pt x="241" y="222"/>
                    </a:lnTo>
                    <a:lnTo>
                      <a:pt x="193" y="152"/>
                    </a:lnTo>
                    <a:lnTo>
                      <a:pt x="144" y="222"/>
                    </a:lnTo>
                    <a:lnTo>
                      <a:pt x="56" y="222"/>
                    </a:lnTo>
                    <a:lnTo>
                      <a:pt x="56" y="250"/>
                    </a:lnTo>
                    <a:lnTo>
                      <a:pt x="0" y="212"/>
                    </a:lnTo>
                    <a:lnTo>
                      <a:pt x="56" y="174"/>
                    </a:lnTo>
                    <a:lnTo>
                      <a:pt x="56" y="201"/>
                    </a:lnTo>
                    <a:lnTo>
                      <a:pt x="116" y="201"/>
                    </a:lnTo>
                    <a:lnTo>
                      <a:pt x="173" y="125"/>
                    </a:lnTo>
                    <a:lnTo>
                      <a:pt x="116" y="49"/>
                    </a:lnTo>
                    <a:lnTo>
                      <a:pt x="56" y="49"/>
                    </a:lnTo>
                    <a:lnTo>
                      <a:pt x="56" y="76"/>
                    </a:lnTo>
                    <a:lnTo>
                      <a:pt x="0" y="38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2442" name="Freeform 394"/>
              <p:cNvSpPr/>
              <p:nvPr/>
            </p:nvSpPr>
            <p:spPr bwMode="auto">
              <a:xfrm>
                <a:off x="10331" y="7597"/>
                <a:ext cx="385" cy="250"/>
              </a:xfrm>
              <a:custGeom>
                <a:avLst/>
                <a:gdLst>
                  <a:gd name="T0" fmla="*/ 56 w 385"/>
                  <a:gd name="T1" fmla="*/ 0 h 250"/>
                  <a:gd name="T2" fmla="*/ 56 w 385"/>
                  <a:gd name="T3" fmla="*/ 30 h 250"/>
                  <a:gd name="T4" fmla="*/ 144 w 385"/>
                  <a:gd name="T5" fmla="*/ 30 h 250"/>
                  <a:gd name="T6" fmla="*/ 193 w 385"/>
                  <a:gd name="T7" fmla="*/ 98 h 250"/>
                  <a:gd name="T8" fmla="*/ 241 w 385"/>
                  <a:gd name="T9" fmla="*/ 30 h 250"/>
                  <a:gd name="T10" fmla="*/ 329 w 385"/>
                  <a:gd name="T11" fmla="*/ 30 h 250"/>
                  <a:gd name="T12" fmla="*/ 329 w 385"/>
                  <a:gd name="T13" fmla="*/ 0 h 250"/>
                  <a:gd name="T14" fmla="*/ 385 w 385"/>
                  <a:gd name="T15" fmla="*/ 39 h 250"/>
                  <a:gd name="T16" fmla="*/ 329 w 385"/>
                  <a:gd name="T17" fmla="*/ 77 h 250"/>
                  <a:gd name="T18" fmla="*/ 329 w 385"/>
                  <a:gd name="T19" fmla="*/ 49 h 250"/>
                  <a:gd name="T20" fmla="*/ 265 w 385"/>
                  <a:gd name="T21" fmla="*/ 49 h 250"/>
                  <a:gd name="T22" fmla="*/ 213 w 385"/>
                  <a:gd name="T23" fmla="*/ 125 h 250"/>
                  <a:gd name="T24" fmla="*/ 265 w 385"/>
                  <a:gd name="T25" fmla="*/ 201 h 250"/>
                  <a:gd name="T26" fmla="*/ 329 w 385"/>
                  <a:gd name="T27" fmla="*/ 201 h 250"/>
                  <a:gd name="T28" fmla="*/ 329 w 385"/>
                  <a:gd name="T29" fmla="*/ 174 h 250"/>
                  <a:gd name="T30" fmla="*/ 385 w 385"/>
                  <a:gd name="T31" fmla="*/ 212 h 250"/>
                  <a:gd name="T32" fmla="*/ 329 w 385"/>
                  <a:gd name="T33" fmla="*/ 250 h 250"/>
                  <a:gd name="T34" fmla="*/ 329 w 385"/>
                  <a:gd name="T35" fmla="*/ 223 h 250"/>
                  <a:gd name="T36" fmla="*/ 241 w 385"/>
                  <a:gd name="T37" fmla="*/ 223 h 250"/>
                  <a:gd name="T38" fmla="*/ 193 w 385"/>
                  <a:gd name="T39" fmla="*/ 153 h 250"/>
                  <a:gd name="T40" fmla="*/ 144 w 385"/>
                  <a:gd name="T41" fmla="*/ 223 h 250"/>
                  <a:gd name="T42" fmla="*/ 56 w 385"/>
                  <a:gd name="T43" fmla="*/ 223 h 250"/>
                  <a:gd name="T44" fmla="*/ 56 w 385"/>
                  <a:gd name="T45" fmla="*/ 250 h 250"/>
                  <a:gd name="T46" fmla="*/ 0 w 385"/>
                  <a:gd name="T47" fmla="*/ 212 h 250"/>
                  <a:gd name="T48" fmla="*/ 56 w 385"/>
                  <a:gd name="T49" fmla="*/ 174 h 250"/>
                  <a:gd name="T50" fmla="*/ 56 w 385"/>
                  <a:gd name="T51" fmla="*/ 201 h 250"/>
                  <a:gd name="T52" fmla="*/ 116 w 385"/>
                  <a:gd name="T53" fmla="*/ 201 h 250"/>
                  <a:gd name="T54" fmla="*/ 173 w 385"/>
                  <a:gd name="T55" fmla="*/ 125 h 250"/>
                  <a:gd name="T56" fmla="*/ 116 w 385"/>
                  <a:gd name="T57" fmla="*/ 49 h 250"/>
                  <a:gd name="T58" fmla="*/ 56 w 385"/>
                  <a:gd name="T59" fmla="*/ 49 h 250"/>
                  <a:gd name="T60" fmla="*/ 56 w 385"/>
                  <a:gd name="T61" fmla="*/ 77 h 250"/>
                  <a:gd name="T62" fmla="*/ 0 w 385"/>
                  <a:gd name="T63" fmla="*/ 39 h 250"/>
                  <a:gd name="T64" fmla="*/ 56 w 385"/>
                  <a:gd name="T65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85" h="250">
                    <a:moveTo>
                      <a:pt x="56" y="0"/>
                    </a:moveTo>
                    <a:lnTo>
                      <a:pt x="56" y="30"/>
                    </a:lnTo>
                    <a:lnTo>
                      <a:pt x="144" y="30"/>
                    </a:lnTo>
                    <a:lnTo>
                      <a:pt x="193" y="98"/>
                    </a:lnTo>
                    <a:lnTo>
                      <a:pt x="241" y="30"/>
                    </a:lnTo>
                    <a:lnTo>
                      <a:pt x="329" y="30"/>
                    </a:lnTo>
                    <a:lnTo>
                      <a:pt x="329" y="0"/>
                    </a:lnTo>
                    <a:lnTo>
                      <a:pt x="385" y="39"/>
                    </a:lnTo>
                    <a:lnTo>
                      <a:pt x="329" y="77"/>
                    </a:lnTo>
                    <a:lnTo>
                      <a:pt x="329" y="49"/>
                    </a:lnTo>
                    <a:lnTo>
                      <a:pt x="265" y="49"/>
                    </a:lnTo>
                    <a:lnTo>
                      <a:pt x="213" y="125"/>
                    </a:lnTo>
                    <a:lnTo>
                      <a:pt x="265" y="201"/>
                    </a:lnTo>
                    <a:lnTo>
                      <a:pt x="329" y="201"/>
                    </a:lnTo>
                    <a:lnTo>
                      <a:pt x="329" y="174"/>
                    </a:lnTo>
                    <a:lnTo>
                      <a:pt x="385" y="212"/>
                    </a:lnTo>
                    <a:lnTo>
                      <a:pt x="329" y="250"/>
                    </a:lnTo>
                    <a:lnTo>
                      <a:pt x="329" y="223"/>
                    </a:lnTo>
                    <a:lnTo>
                      <a:pt x="241" y="223"/>
                    </a:lnTo>
                    <a:lnTo>
                      <a:pt x="193" y="153"/>
                    </a:lnTo>
                    <a:lnTo>
                      <a:pt x="144" y="223"/>
                    </a:lnTo>
                    <a:lnTo>
                      <a:pt x="56" y="223"/>
                    </a:lnTo>
                    <a:lnTo>
                      <a:pt x="56" y="250"/>
                    </a:lnTo>
                    <a:lnTo>
                      <a:pt x="0" y="212"/>
                    </a:lnTo>
                    <a:lnTo>
                      <a:pt x="56" y="174"/>
                    </a:lnTo>
                    <a:lnTo>
                      <a:pt x="56" y="201"/>
                    </a:lnTo>
                    <a:lnTo>
                      <a:pt x="116" y="201"/>
                    </a:lnTo>
                    <a:lnTo>
                      <a:pt x="173" y="125"/>
                    </a:lnTo>
                    <a:lnTo>
                      <a:pt x="116" y="49"/>
                    </a:lnTo>
                    <a:lnTo>
                      <a:pt x="56" y="49"/>
                    </a:lnTo>
                    <a:lnTo>
                      <a:pt x="56" y="77"/>
                    </a:lnTo>
                    <a:lnTo>
                      <a:pt x="0" y="3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2443" name="Freeform 395"/>
              <p:cNvSpPr/>
              <p:nvPr/>
            </p:nvSpPr>
            <p:spPr bwMode="auto">
              <a:xfrm>
                <a:off x="10331" y="7597"/>
                <a:ext cx="385" cy="250"/>
              </a:xfrm>
              <a:custGeom>
                <a:avLst/>
                <a:gdLst>
                  <a:gd name="T0" fmla="*/ 56 w 385"/>
                  <a:gd name="T1" fmla="*/ 0 h 250"/>
                  <a:gd name="T2" fmla="*/ 56 w 385"/>
                  <a:gd name="T3" fmla="*/ 30 h 250"/>
                  <a:gd name="T4" fmla="*/ 144 w 385"/>
                  <a:gd name="T5" fmla="*/ 30 h 250"/>
                  <a:gd name="T6" fmla="*/ 193 w 385"/>
                  <a:gd name="T7" fmla="*/ 98 h 250"/>
                  <a:gd name="T8" fmla="*/ 241 w 385"/>
                  <a:gd name="T9" fmla="*/ 30 h 250"/>
                  <a:gd name="T10" fmla="*/ 329 w 385"/>
                  <a:gd name="T11" fmla="*/ 30 h 250"/>
                  <a:gd name="T12" fmla="*/ 329 w 385"/>
                  <a:gd name="T13" fmla="*/ 0 h 250"/>
                  <a:gd name="T14" fmla="*/ 385 w 385"/>
                  <a:gd name="T15" fmla="*/ 39 h 250"/>
                  <a:gd name="T16" fmla="*/ 329 w 385"/>
                  <a:gd name="T17" fmla="*/ 77 h 250"/>
                  <a:gd name="T18" fmla="*/ 329 w 385"/>
                  <a:gd name="T19" fmla="*/ 49 h 250"/>
                  <a:gd name="T20" fmla="*/ 265 w 385"/>
                  <a:gd name="T21" fmla="*/ 49 h 250"/>
                  <a:gd name="T22" fmla="*/ 213 w 385"/>
                  <a:gd name="T23" fmla="*/ 125 h 250"/>
                  <a:gd name="T24" fmla="*/ 265 w 385"/>
                  <a:gd name="T25" fmla="*/ 201 h 250"/>
                  <a:gd name="T26" fmla="*/ 329 w 385"/>
                  <a:gd name="T27" fmla="*/ 201 h 250"/>
                  <a:gd name="T28" fmla="*/ 329 w 385"/>
                  <a:gd name="T29" fmla="*/ 174 h 250"/>
                  <a:gd name="T30" fmla="*/ 385 w 385"/>
                  <a:gd name="T31" fmla="*/ 212 h 250"/>
                  <a:gd name="T32" fmla="*/ 329 w 385"/>
                  <a:gd name="T33" fmla="*/ 250 h 250"/>
                  <a:gd name="T34" fmla="*/ 329 w 385"/>
                  <a:gd name="T35" fmla="*/ 223 h 250"/>
                  <a:gd name="T36" fmla="*/ 241 w 385"/>
                  <a:gd name="T37" fmla="*/ 223 h 250"/>
                  <a:gd name="T38" fmla="*/ 193 w 385"/>
                  <a:gd name="T39" fmla="*/ 153 h 250"/>
                  <a:gd name="T40" fmla="*/ 144 w 385"/>
                  <a:gd name="T41" fmla="*/ 223 h 250"/>
                  <a:gd name="T42" fmla="*/ 56 w 385"/>
                  <a:gd name="T43" fmla="*/ 223 h 250"/>
                  <a:gd name="T44" fmla="*/ 56 w 385"/>
                  <a:gd name="T45" fmla="*/ 250 h 250"/>
                  <a:gd name="T46" fmla="*/ 0 w 385"/>
                  <a:gd name="T47" fmla="*/ 212 h 250"/>
                  <a:gd name="T48" fmla="*/ 56 w 385"/>
                  <a:gd name="T49" fmla="*/ 174 h 250"/>
                  <a:gd name="T50" fmla="*/ 56 w 385"/>
                  <a:gd name="T51" fmla="*/ 201 h 250"/>
                  <a:gd name="T52" fmla="*/ 116 w 385"/>
                  <a:gd name="T53" fmla="*/ 201 h 250"/>
                  <a:gd name="T54" fmla="*/ 173 w 385"/>
                  <a:gd name="T55" fmla="*/ 125 h 250"/>
                  <a:gd name="T56" fmla="*/ 116 w 385"/>
                  <a:gd name="T57" fmla="*/ 49 h 250"/>
                  <a:gd name="T58" fmla="*/ 56 w 385"/>
                  <a:gd name="T59" fmla="*/ 49 h 250"/>
                  <a:gd name="T60" fmla="*/ 56 w 385"/>
                  <a:gd name="T61" fmla="*/ 77 h 250"/>
                  <a:gd name="T62" fmla="*/ 0 w 385"/>
                  <a:gd name="T63" fmla="*/ 39 h 250"/>
                  <a:gd name="T64" fmla="*/ 56 w 385"/>
                  <a:gd name="T65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85" h="250">
                    <a:moveTo>
                      <a:pt x="56" y="0"/>
                    </a:moveTo>
                    <a:lnTo>
                      <a:pt x="56" y="30"/>
                    </a:lnTo>
                    <a:lnTo>
                      <a:pt x="144" y="30"/>
                    </a:lnTo>
                    <a:lnTo>
                      <a:pt x="193" y="98"/>
                    </a:lnTo>
                    <a:lnTo>
                      <a:pt x="241" y="30"/>
                    </a:lnTo>
                    <a:lnTo>
                      <a:pt x="329" y="30"/>
                    </a:lnTo>
                    <a:lnTo>
                      <a:pt x="329" y="0"/>
                    </a:lnTo>
                    <a:lnTo>
                      <a:pt x="385" y="39"/>
                    </a:lnTo>
                    <a:lnTo>
                      <a:pt x="329" y="77"/>
                    </a:lnTo>
                    <a:lnTo>
                      <a:pt x="329" y="49"/>
                    </a:lnTo>
                    <a:lnTo>
                      <a:pt x="265" y="49"/>
                    </a:lnTo>
                    <a:lnTo>
                      <a:pt x="213" y="125"/>
                    </a:lnTo>
                    <a:lnTo>
                      <a:pt x="265" y="201"/>
                    </a:lnTo>
                    <a:lnTo>
                      <a:pt x="329" y="201"/>
                    </a:lnTo>
                    <a:lnTo>
                      <a:pt x="329" y="174"/>
                    </a:lnTo>
                    <a:lnTo>
                      <a:pt x="385" y="212"/>
                    </a:lnTo>
                    <a:lnTo>
                      <a:pt x="329" y="250"/>
                    </a:lnTo>
                    <a:lnTo>
                      <a:pt x="329" y="223"/>
                    </a:lnTo>
                    <a:lnTo>
                      <a:pt x="241" y="223"/>
                    </a:lnTo>
                    <a:lnTo>
                      <a:pt x="193" y="153"/>
                    </a:lnTo>
                    <a:lnTo>
                      <a:pt x="144" y="223"/>
                    </a:lnTo>
                    <a:lnTo>
                      <a:pt x="56" y="223"/>
                    </a:lnTo>
                    <a:lnTo>
                      <a:pt x="56" y="250"/>
                    </a:lnTo>
                    <a:lnTo>
                      <a:pt x="0" y="212"/>
                    </a:lnTo>
                    <a:lnTo>
                      <a:pt x="56" y="174"/>
                    </a:lnTo>
                    <a:lnTo>
                      <a:pt x="56" y="201"/>
                    </a:lnTo>
                    <a:lnTo>
                      <a:pt x="116" y="201"/>
                    </a:lnTo>
                    <a:lnTo>
                      <a:pt x="173" y="125"/>
                    </a:lnTo>
                    <a:lnTo>
                      <a:pt x="116" y="49"/>
                    </a:lnTo>
                    <a:lnTo>
                      <a:pt x="56" y="49"/>
                    </a:lnTo>
                    <a:lnTo>
                      <a:pt x="56" y="77"/>
                    </a:lnTo>
                    <a:lnTo>
                      <a:pt x="0" y="39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642444" name="AutoShape 396"/>
          <p:cNvCxnSpPr>
            <a:cxnSpLocks noChangeShapeType="1"/>
            <a:stCxn id="642430" idx="0"/>
            <a:endCxn id="642436" idx="1"/>
          </p:cNvCxnSpPr>
          <p:nvPr/>
        </p:nvCxnSpPr>
        <p:spPr bwMode="auto">
          <a:xfrm rot="5400000" flipV="1">
            <a:off x="2947989" y="2992445"/>
            <a:ext cx="1588" cy="1789113"/>
          </a:xfrm>
          <a:prstGeom prst="curvedConnector4">
            <a:avLst>
              <a:gd name="adj1" fmla="val -14400000"/>
              <a:gd name="adj2" fmla="val 59537"/>
            </a:avLst>
          </a:prstGeom>
          <a:noFill/>
          <a:ln w="50800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2445" name="AutoShape 397"/>
          <p:cNvCxnSpPr>
            <a:cxnSpLocks noChangeShapeType="1"/>
            <a:stCxn id="642443" idx="6"/>
            <a:endCxn id="642252" idx="1"/>
          </p:cNvCxnSpPr>
          <p:nvPr/>
        </p:nvCxnSpPr>
        <p:spPr bwMode="auto">
          <a:xfrm>
            <a:off x="4448176" y="4021139"/>
            <a:ext cx="1962151" cy="1270000"/>
          </a:xfrm>
          <a:prstGeom prst="curvedConnector3">
            <a:avLst>
              <a:gd name="adj1" fmla="val 52509"/>
            </a:avLst>
          </a:prstGeom>
          <a:noFill/>
          <a:ln w="5080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>
                <a:ea typeface="华文行楷" panose="02010800040101010101" pitchFamily="2" charset="-122"/>
              </a:rPr>
              <a:t>在介绍静态成员 之前</a:t>
            </a:r>
            <a:endParaRPr lang="zh-CN" altLang="en-US" sz="4000" b="1" dirty="0">
              <a:ea typeface="华文行楷" panose="02010800040101010101" pitchFamily="2" charset="-122"/>
            </a:endParaRP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624" y="1628800"/>
            <a:ext cx="7199313" cy="3224213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Clr>
                <a:srgbClr val="00B0F0"/>
              </a:buClr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C++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中，用同一个类定义多个对象时：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每个对象都拥有各自的数据成员；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所有对象共享同一份成员函数；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调用成员函数时，根据不同的对象决定使用相应的数据成员。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40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静态成员：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解决同一个类的不同对象之间的数据和函数共享问题。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40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静态成员包括</a:t>
            </a: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静态数据成员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静态成员函数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Clr>
                <a:srgbClr val="00B0F0"/>
              </a:buClr>
              <a:buSzPct val="65000"/>
              <a:buNone/>
            </a:pP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5.3.1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静态数据成员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静态数据成员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b="1" dirty="0">
                <a:ea typeface="华文楷体" panose="02010600040101010101" pitchFamily="2" charset="-122"/>
              </a:rPr>
              <a:t>用关键字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static</a:t>
            </a:r>
            <a:r>
              <a:rPr lang="zh-CN" altLang="en-US" b="1" dirty="0">
                <a:ea typeface="华文楷体" panose="02010600040101010101" pitchFamily="2" charset="-122"/>
              </a:rPr>
              <a:t>声明</a:t>
            </a:r>
            <a:endParaRPr lang="zh-CN" altLang="en-US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不管产生多少个对象，类的静态数据成员拥有单一的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存储空间，</a:t>
            </a:r>
            <a:r>
              <a:rPr lang="zh-CN" altLang="en-US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该类的所有对象</a:t>
            </a:r>
            <a:r>
              <a:rPr lang="zh-CN" altLang="en-US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共享。</a:t>
            </a:r>
            <a:r>
              <a:rPr lang="zh-CN" altLang="en-US" b="1" dirty="0" smtClean="0">
                <a:ea typeface="华文楷体" panose="02010600040101010101" pitchFamily="2" charset="-122"/>
              </a:rPr>
              <a:t>静态</a:t>
            </a:r>
            <a:r>
              <a:rPr lang="zh-CN" altLang="en-US" b="1" dirty="0">
                <a:ea typeface="华文楷体" panose="02010600040101010101" pitchFamily="2" charset="-122"/>
              </a:rPr>
              <a:t>数据成员具有静态生存期</a:t>
            </a:r>
            <a:r>
              <a:rPr lang="zh-CN" altLang="en-US" b="1" dirty="0" smtClean="0">
                <a:ea typeface="华文楷体" panose="02010600040101010101" pitchFamily="2" charset="-122"/>
              </a:rPr>
              <a:t>。</a:t>
            </a:r>
            <a:endParaRPr lang="zh-CN" altLang="en-US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必须在类外定义和初始化，用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(::)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来指明所属的类。</a:t>
            </a:r>
            <a:endParaRPr lang="en-US" altLang="zh-CN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静态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数据成员可以是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public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private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protected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权限之一。</a:t>
            </a:r>
            <a:endParaRPr lang="zh-CN" altLang="en-US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endParaRPr lang="zh-CN" altLang="en-US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0013" y="1540542"/>
            <a:ext cx="7450137" cy="461665"/>
          </a:xfr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静态成员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定义格式：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1374775" y="1988840"/>
            <a:ext cx="7445375" cy="576262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800000"/>
                </a:solidFill>
              </a:rPr>
              <a:t>static</a:t>
            </a:r>
            <a:r>
              <a:rPr lang="zh-CN" altLang="en-US" sz="2400" dirty="0">
                <a:solidFill>
                  <a:srgbClr val="800000"/>
                </a:solidFill>
              </a:rPr>
              <a:t>　</a:t>
            </a:r>
            <a:r>
              <a:rPr lang="zh-CN" altLang="en-US" sz="2400" dirty="0" smtClean="0">
                <a:solidFill>
                  <a:srgbClr val="800000"/>
                </a:solidFill>
              </a:rPr>
              <a:t>静态成员</a:t>
            </a:r>
            <a:r>
              <a:rPr lang="zh-CN" altLang="en-US" sz="2400" dirty="0">
                <a:solidFill>
                  <a:srgbClr val="800000"/>
                </a:solidFill>
              </a:rPr>
              <a:t>的定义</a:t>
            </a:r>
            <a:r>
              <a:rPr lang="en-US" altLang="zh-CN" sz="2400" dirty="0">
                <a:solidFill>
                  <a:srgbClr val="800000"/>
                </a:solidFill>
              </a:rPr>
              <a:t>;</a:t>
            </a:r>
            <a:endParaRPr lang="en-US" altLang="zh-CN" sz="2400" dirty="0">
              <a:solidFill>
                <a:srgbClr val="800000"/>
              </a:solidFill>
            </a:endParaRPr>
          </a:p>
        </p:txBody>
      </p:sp>
      <p:grpSp>
        <p:nvGrpSpPr>
          <p:cNvPr id="47109" name="Group 4"/>
          <p:cNvGrpSpPr/>
          <p:nvPr/>
        </p:nvGrpSpPr>
        <p:grpSpPr bwMode="auto">
          <a:xfrm>
            <a:off x="1331913" y="3141663"/>
            <a:ext cx="7416800" cy="1000125"/>
            <a:chOff x="884" y="2029"/>
            <a:chExt cx="4672" cy="630"/>
          </a:xfrm>
        </p:grpSpPr>
        <p:sp>
          <p:nvSpPr>
            <p:cNvPr id="47113" name="Text Box 5"/>
            <p:cNvSpPr txBox="1">
              <a:spLocks noChangeArrowheads="1"/>
            </p:cNvSpPr>
            <p:nvPr/>
          </p:nvSpPr>
          <p:spPr bwMode="auto">
            <a:xfrm>
              <a:off x="884" y="2323"/>
              <a:ext cx="4672" cy="336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800000"/>
                  </a:solidFill>
                </a:rPr>
                <a:t>数据类型  类名</a:t>
              </a:r>
              <a:r>
                <a:rPr lang="en-US" altLang="zh-CN" sz="2400">
                  <a:solidFill>
                    <a:srgbClr val="800000"/>
                  </a:solidFill>
                </a:rPr>
                <a:t>::</a:t>
              </a:r>
              <a:r>
                <a:rPr lang="zh-CN" altLang="en-US" sz="2400">
                  <a:solidFill>
                    <a:srgbClr val="800000"/>
                  </a:solidFill>
                </a:rPr>
                <a:t>静态数据成员名</a:t>
              </a:r>
              <a:r>
                <a:rPr lang="en-US" altLang="zh-CN" sz="2400">
                  <a:solidFill>
                    <a:srgbClr val="800000"/>
                  </a:solidFill>
                </a:rPr>
                <a:t>=</a:t>
              </a:r>
              <a:r>
                <a:rPr lang="zh-CN" altLang="en-US" sz="2400">
                  <a:solidFill>
                    <a:srgbClr val="800000"/>
                  </a:solidFill>
                </a:rPr>
                <a:t>值</a:t>
              </a:r>
              <a:r>
                <a:rPr lang="en-US" altLang="zh-CN" sz="2400">
                  <a:solidFill>
                    <a:srgbClr val="800000"/>
                  </a:solidFill>
                </a:rPr>
                <a:t>;</a:t>
              </a:r>
              <a:endParaRPr lang="en-US" altLang="zh-CN" sz="2400">
                <a:solidFill>
                  <a:srgbClr val="800000"/>
                </a:solidFill>
              </a:endParaRPr>
            </a:p>
          </p:txBody>
        </p:sp>
        <p:sp>
          <p:nvSpPr>
            <p:cNvPr id="47114" name="Text Box 6"/>
            <p:cNvSpPr txBox="1">
              <a:spLocks noChangeArrowheads="1"/>
            </p:cNvSpPr>
            <p:nvPr/>
          </p:nvSpPr>
          <p:spPr bwMode="auto">
            <a:xfrm>
              <a:off x="884" y="2029"/>
              <a:ext cx="467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</a:rPr>
                <a:t>静态数据成员初始化格式：不能在类中，在类外进行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110" name="Group 7"/>
          <p:cNvGrpSpPr/>
          <p:nvPr/>
        </p:nvGrpSpPr>
        <p:grpSpPr bwMode="auto">
          <a:xfrm>
            <a:off x="1331913" y="4754563"/>
            <a:ext cx="7416800" cy="979487"/>
            <a:chOff x="884" y="2795"/>
            <a:chExt cx="4672" cy="617"/>
          </a:xfrm>
        </p:grpSpPr>
        <p:sp>
          <p:nvSpPr>
            <p:cNvPr id="47111" name="Text Box 8"/>
            <p:cNvSpPr txBox="1">
              <a:spLocks noChangeArrowheads="1"/>
            </p:cNvSpPr>
            <p:nvPr/>
          </p:nvSpPr>
          <p:spPr bwMode="auto">
            <a:xfrm>
              <a:off x="884" y="2795"/>
              <a:ext cx="467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</a:rPr>
                <a:t>调用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静态数据成员</a:t>
              </a:r>
              <a:r>
                <a:rPr lang="zh-CN" altLang="en-US" sz="2400" dirty="0">
                  <a:solidFill>
                    <a:schemeClr val="tx1"/>
                  </a:solidFill>
                </a:rPr>
                <a:t>格式：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7112" name="Text Box 9"/>
            <p:cNvSpPr txBox="1">
              <a:spLocks noChangeArrowheads="1"/>
            </p:cNvSpPr>
            <p:nvPr/>
          </p:nvSpPr>
          <p:spPr bwMode="auto">
            <a:xfrm>
              <a:off x="884" y="3085"/>
              <a:ext cx="4672" cy="327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800000"/>
                  </a:solidFill>
                </a:rPr>
                <a:t>类名</a:t>
              </a:r>
              <a:r>
                <a:rPr lang="en-US" altLang="zh-CN" sz="2400" dirty="0">
                  <a:solidFill>
                    <a:srgbClr val="800000"/>
                  </a:solidFill>
                </a:rPr>
                <a:t>::</a:t>
              </a:r>
              <a:r>
                <a:rPr lang="zh-CN" altLang="en-US" sz="2400" dirty="0" smtClean="0">
                  <a:solidFill>
                    <a:srgbClr val="800000"/>
                  </a:solidFill>
                </a:rPr>
                <a:t>静态数据成员</a:t>
              </a:r>
              <a:endParaRPr lang="zh-CN" altLang="en-US" sz="2400" dirty="0">
                <a:solidFill>
                  <a:srgbClr val="80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例</a:t>
            </a:r>
            <a:r>
              <a:rPr lang="en-US" altLang="zh-CN" b="1" smtClean="0"/>
              <a:t>5-4 </a:t>
            </a:r>
            <a:r>
              <a:rPr lang="zh-CN" altLang="en-US" b="1" smtClean="0"/>
              <a:t>具有静态数据成员的</a:t>
            </a:r>
            <a:r>
              <a:rPr lang="en-US" altLang="zh-CN" b="1" smtClean="0"/>
              <a:t>Point</a:t>
            </a:r>
            <a:r>
              <a:rPr lang="zh-CN" altLang="en-US" b="1" smtClean="0"/>
              <a:t>类</a:t>
            </a:r>
            <a:endParaRPr lang="zh-CN" altLang="en-US" b="1" smtClean="0"/>
          </a:p>
        </p:txBody>
      </p:sp>
      <p:sp>
        <p:nvSpPr>
          <p:cNvPr id="3072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0726" name="Group 3"/>
          <p:cNvGrpSpPr>
            <a:grpSpLocks noChangeAspect="1"/>
          </p:cNvGrpSpPr>
          <p:nvPr/>
        </p:nvGrpSpPr>
        <p:grpSpPr bwMode="auto">
          <a:xfrm>
            <a:off x="1571625" y="1714500"/>
            <a:ext cx="6213847" cy="4800600"/>
            <a:chOff x="0" y="0"/>
            <a:chExt cx="3656" cy="2826"/>
          </a:xfrm>
        </p:grpSpPr>
        <p:sp>
          <p:nvSpPr>
            <p:cNvPr id="30727" name="AutoShape 16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latin typeface="+mn-lt"/>
              </a:endParaRPr>
            </a:p>
          </p:txBody>
        </p:sp>
        <p:sp>
          <p:nvSpPr>
            <p:cNvPr id="30728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17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b="1">
                <a:latin typeface="+mn-lt"/>
              </a:endParaRPr>
            </a:p>
          </p:txBody>
        </p:sp>
        <p:sp>
          <p:nvSpPr>
            <p:cNvPr id="30729" name="Rectangle 14"/>
            <p:cNvSpPr>
              <a:spLocks noChangeArrowheads="1"/>
            </p:cNvSpPr>
            <p:nvPr/>
          </p:nvSpPr>
          <p:spPr bwMode="auto">
            <a:xfrm>
              <a:off x="1388" y="183"/>
              <a:ext cx="41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Point</a:t>
              </a:r>
              <a:endParaRPr kumimoji="0" lang="en-US" altLang="zh-CN" sz="1800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0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17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b="1">
                <a:latin typeface="+mn-lt"/>
              </a:endParaRPr>
            </a:p>
          </p:txBody>
        </p:sp>
        <p:sp>
          <p:nvSpPr>
            <p:cNvPr id="30731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17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b="1">
                <a:latin typeface="+mn-lt"/>
              </a:endParaRPr>
            </a:p>
          </p:txBody>
        </p:sp>
        <p:sp>
          <p:nvSpPr>
            <p:cNvPr id="30732" name="Rectangle 11"/>
            <p:cNvSpPr>
              <a:spLocks noChangeArrowheads="1"/>
            </p:cNvSpPr>
            <p:nvPr/>
          </p:nvSpPr>
          <p:spPr bwMode="auto">
            <a:xfrm>
              <a:off x="333" y="476"/>
              <a:ext cx="51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400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- </a:t>
              </a:r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x : int</a:t>
              </a:r>
              <a:endParaRPr kumimoji="0" lang="en-US" altLang="zh-CN" sz="4800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3" name="Rectangle 10"/>
            <p:cNvSpPr>
              <a:spLocks noChangeArrowheads="1"/>
            </p:cNvSpPr>
            <p:nvPr/>
          </p:nvSpPr>
          <p:spPr bwMode="auto">
            <a:xfrm>
              <a:off x="352" y="716"/>
              <a:ext cx="5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- y : int</a:t>
              </a:r>
              <a:endParaRPr kumimoji="0" lang="en-US" altLang="zh-CN" sz="4800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4" name="Rectangle 9"/>
            <p:cNvSpPr>
              <a:spLocks noChangeArrowheads="1"/>
            </p:cNvSpPr>
            <p:nvPr/>
          </p:nvSpPr>
          <p:spPr bwMode="auto">
            <a:xfrm>
              <a:off x="367" y="956"/>
              <a:ext cx="114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400" b="1" u="sng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-</a:t>
              </a:r>
              <a:r>
                <a:rPr kumimoji="0" lang="en-US" altLang="zh-CN" sz="1600" b="1" u="sng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b="1" u="sng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count : </a:t>
              </a:r>
              <a:r>
                <a:rPr kumimoji="0" lang="en-US" altLang="zh-CN" b="1" u="sng" dirty="0" err="1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int</a:t>
              </a:r>
              <a:r>
                <a:rPr kumimoji="0" lang="en-US" altLang="zh-CN" b="1" u="sng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= 0</a:t>
              </a:r>
              <a:endParaRPr kumimoji="0" lang="en-US" altLang="zh-CN" sz="2000" b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5" name="Rectangle 8"/>
            <p:cNvSpPr>
              <a:spLocks noChangeArrowheads="1"/>
            </p:cNvSpPr>
            <p:nvPr/>
          </p:nvSpPr>
          <p:spPr bwMode="auto">
            <a:xfrm>
              <a:off x="381" y="1415"/>
              <a:ext cx="2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Point(xx : </a:t>
              </a:r>
              <a:r>
                <a:rPr kumimoji="0" lang="en-US" altLang="zh-CN" b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int</a:t>
              </a:r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= 0, </a:t>
              </a:r>
              <a:r>
                <a:rPr kumimoji="0" lang="en-US" altLang="zh-CN" b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yy</a:t>
              </a:r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: </a:t>
              </a:r>
              <a:r>
                <a:rPr kumimoji="0" lang="en-US" altLang="zh-CN" b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int</a:t>
              </a:r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= 0)</a:t>
              </a:r>
              <a:endParaRPr kumimoji="0" lang="en-US" altLang="zh-CN" b="1" dirty="0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6" name="Rectangle 7"/>
            <p:cNvSpPr>
              <a:spLocks noChangeArrowheads="1"/>
            </p:cNvSpPr>
            <p:nvPr/>
          </p:nvSpPr>
          <p:spPr bwMode="auto">
            <a:xfrm>
              <a:off x="385" y="1676"/>
              <a:ext cx="99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getX() : int</a:t>
              </a:r>
              <a:endParaRPr kumimoji="0" lang="en-US" altLang="zh-CN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7" name="Rectangle 6"/>
            <p:cNvSpPr>
              <a:spLocks noChangeArrowheads="1"/>
            </p:cNvSpPr>
            <p:nvPr/>
          </p:nvSpPr>
          <p:spPr bwMode="auto">
            <a:xfrm>
              <a:off x="385" y="1916"/>
              <a:ext cx="99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getY() : int</a:t>
              </a:r>
              <a:endParaRPr kumimoji="0" lang="en-US" altLang="zh-CN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8" name="Rectangle 5"/>
            <p:cNvSpPr>
              <a:spLocks noChangeArrowheads="1"/>
            </p:cNvSpPr>
            <p:nvPr/>
          </p:nvSpPr>
          <p:spPr bwMode="auto">
            <a:xfrm>
              <a:off x="411" y="2157"/>
              <a:ext cx="154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Point(p : Point &amp;)</a:t>
              </a:r>
              <a:endParaRPr kumimoji="0" lang="en-US" altLang="zh-CN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0739" name="Rectangle 4"/>
            <p:cNvSpPr>
              <a:spLocks noChangeArrowheads="1"/>
            </p:cNvSpPr>
            <p:nvPr/>
          </p:nvSpPr>
          <p:spPr bwMode="auto">
            <a:xfrm>
              <a:off x="367" y="2397"/>
              <a:ext cx="162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showCount() : void</a:t>
              </a:r>
              <a:endParaRPr kumimoji="0" lang="en-US" altLang="zh-CN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xfrm>
            <a:off x="214313" y="476250"/>
            <a:ext cx="8929687" cy="6370975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//5_4.cpp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std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 {	//Point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类定义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外部接口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Point(</a:t>
            </a:r>
            <a:r>
              <a:rPr kumimoji="0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 = 0,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y = 0) : x(x), y(y) { 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构造函数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在构造函数中对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累加，所有对象共同维护同一个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count++;</a:t>
            </a:r>
            <a:endParaRPr kumimoji="0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Point(Point &amp;p) {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复制构造函数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 =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p.x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y =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p.y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count++;</a:t>
            </a:r>
            <a:endParaRPr kumimoji="0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~Point() {  count--;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x;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y;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1748" name="标题 1"/>
          <p:cNvSpPr>
            <a:spLocks noGrp="1"/>
          </p:cNvSpPr>
          <p:nvPr>
            <p:ph type="title"/>
          </p:nvPr>
        </p:nvSpPr>
        <p:spPr>
          <a:xfrm>
            <a:off x="4427538" y="476250"/>
            <a:ext cx="4716462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5-4</a:t>
            </a:r>
            <a:r>
              <a:rPr lang="zh-CN" altLang="en-US" smtClean="0"/>
              <a:t> 静态成员举例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214313" y="267950"/>
            <a:ext cx="8929687" cy="6370975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void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	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输出静态数据成员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  Object count = " &lt;&lt; count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私有数据成员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x, y;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static 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count;	//</a:t>
            </a:r>
            <a:r>
              <a:rPr kumimoji="0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静态数据成员声明，用于记录点的个数</a:t>
            </a:r>
            <a:endParaRPr kumimoji="0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Point::count = 0;//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静态数据成员定义和初始化，使用类名限定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main() {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主函数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 a(4, 5);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定义对象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，其构造</a:t>
            </a:r>
            <a:r>
              <a:rPr kumimoji="0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函数会使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增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"Point A: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&lt;&lt; ",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输出对象个数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 b(a);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定义对象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，其构造</a:t>
            </a:r>
            <a:r>
              <a:rPr kumimoji="0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函数会使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增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"Point B: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&lt;&lt; ",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输出对象个数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2772" name="标题 1"/>
          <p:cNvSpPr>
            <a:spLocks noGrp="1"/>
          </p:cNvSpPr>
          <p:nvPr>
            <p:ph type="title"/>
          </p:nvPr>
        </p:nvSpPr>
        <p:spPr>
          <a:xfrm>
            <a:off x="6572250" y="5949280"/>
            <a:ext cx="2571750" cy="689645"/>
          </a:xfrm>
          <a:solidFill>
            <a:schemeClr val="accent6">
              <a:lumMod val="50000"/>
            </a:schemeClr>
          </a:solidFill>
        </p:spPr>
        <p:txBody>
          <a:bodyPr/>
          <a:lstStyle/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5-4</a:t>
            </a:r>
            <a:r>
              <a:rPr lang="zh-CN" altLang="en-US" dirty="0" smtClean="0"/>
              <a:t> 续</a:t>
            </a: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/>
              <a:t>例</a:t>
            </a:r>
            <a:r>
              <a:rPr lang="en-US" altLang="zh-CN" b="1" smtClean="0"/>
              <a:t>5-4 </a:t>
            </a:r>
            <a:r>
              <a:rPr lang="zh-CN" altLang="en-US" b="1" smtClean="0"/>
              <a:t>（续）</a:t>
            </a:r>
            <a:endParaRPr lang="zh-CN" altLang="en-US" b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9756" y="2348880"/>
            <a:ext cx="7886700" cy="1747391"/>
          </a:xfrm>
          <a:solidFill>
            <a:srgbClr val="000000"/>
          </a:solidFill>
        </p:spPr>
        <p:txBody>
          <a:bodyPr>
            <a:normAutofit/>
          </a:bodyPr>
          <a:lstStyle/>
          <a:p>
            <a:pPr marL="109855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运行结果：</a:t>
            </a:r>
            <a:endParaRPr lang="en-US" sz="28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sz="2800" b="1" dirty="0" smtClean="0">
                <a:ea typeface="华文楷体" panose="02010600040101010101" pitchFamily="2" charset="-122"/>
              </a:rPr>
              <a:t> Point A: 4, 5  Object count=1</a:t>
            </a:r>
            <a:endParaRPr lang="zh-CN" altLang="en-US" sz="2800" b="1" dirty="0" smtClean="0">
              <a:ea typeface="华文楷体" panose="02010600040101010101" pitchFamily="2" charset="-122"/>
            </a:endParaRPr>
          </a:p>
          <a:p>
            <a:pPr marL="365760" indent="-255905" eaLnBrk="1" fontAlgn="auto" hangingPunct="1">
              <a:spcAft>
                <a:spcPts val="0"/>
              </a:spcAft>
              <a:buClr>
                <a:schemeClr val="accent3"/>
              </a:buClr>
              <a:buFont typeface="Georgia" panose="02040502050405020303"/>
              <a:buNone/>
              <a:defRPr/>
            </a:pPr>
            <a:r>
              <a:rPr lang="en-US" sz="2800" b="1" dirty="0" smtClean="0">
                <a:ea typeface="华文楷体" panose="02010600040101010101" pitchFamily="2" charset="-122"/>
              </a:rPr>
              <a:t> Point B: 4, 5  Object count=2</a:t>
            </a:r>
            <a:endParaRPr lang="zh-CN" altLang="en-US" sz="2800" b="1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5.3.2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静态函数成员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611560" y="1412776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静态函数成员</a:t>
            </a:r>
            <a:endParaRPr lang="en-US" altLang="zh-CN" sz="2800" b="1" dirty="0"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ea typeface="华文楷体" panose="02010600040101010101" pitchFamily="2" charset="-122"/>
              </a:rPr>
              <a:t>类外代码可以使用类名和作用域操作符来调用静态成员函数。</a:t>
            </a:r>
            <a:endParaRPr lang="zh-CN" altLang="en-US" b="1" dirty="0"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静态成员函数只能引用属于该类的静态数据成员或静态成员函数</a:t>
            </a:r>
            <a:r>
              <a:rPr lang="zh-CN" altLang="en-US" b="1" dirty="0" smtClean="0">
                <a:ea typeface="华文楷体" panose="02010600040101010101" pitchFamily="2" charset="-122"/>
              </a:rPr>
              <a:t>。</a:t>
            </a:r>
            <a:endParaRPr lang="en-US" altLang="zh-CN" b="1" dirty="0" smtClean="0"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静态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成员函数属于整个类，不属于类中的某个对象，能在类的范围内</a:t>
            </a: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共享</a:t>
            </a:r>
            <a:endParaRPr lang="zh-CN" altLang="en-US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0013" y="1570038"/>
            <a:ext cx="7450137" cy="561975"/>
          </a:xfrm>
          <a:solidFill>
            <a:schemeClr val="bg1"/>
          </a:solidFill>
          <a:ln>
            <a:solidFill>
              <a:schemeClr val="tx1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静态成员定义格式：</a:t>
            </a:r>
            <a:endParaRPr lang="zh-CN" altLang="en-US" sz="2400" b="1" smtClean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5300" name="Text Box 7"/>
          <p:cNvSpPr txBox="1">
            <a:spLocks noChangeArrowheads="1"/>
          </p:cNvSpPr>
          <p:nvPr/>
        </p:nvSpPr>
        <p:spPr bwMode="auto">
          <a:xfrm>
            <a:off x="1374775" y="2132013"/>
            <a:ext cx="7445375" cy="576262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  <a:miter lim="800000"/>
          </a:ln>
        </p:spPr>
        <p:txBody>
          <a:bodyPr anchor="ctr"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800000"/>
                </a:solidFill>
              </a:rPr>
              <a:t>static</a:t>
            </a:r>
            <a:r>
              <a:rPr lang="zh-CN" altLang="en-US" sz="2400">
                <a:solidFill>
                  <a:srgbClr val="800000"/>
                </a:solidFill>
              </a:rPr>
              <a:t>　静态成员的定义</a:t>
            </a:r>
            <a:r>
              <a:rPr lang="en-US" altLang="zh-CN" sz="2400">
                <a:solidFill>
                  <a:srgbClr val="800000"/>
                </a:solidFill>
              </a:rPr>
              <a:t>;</a:t>
            </a:r>
            <a:endParaRPr lang="en-US" altLang="zh-CN" sz="2400">
              <a:solidFill>
                <a:srgbClr val="800000"/>
              </a:solidFill>
            </a:endParaRPr>
          </a:p>
        </p:txBody>
      </p:sp>
      <p:grpSp>
        <p:nvGrpSpPr>
          <p:cNvPr id="55301" name="Group 14"/>
          <p:cNvGrpSpPr/>
          <p:nvPr/>
        </p:nvGrpSpPr>
        <p:grpSpPr bwMode="auto">
          <a:xfrm>
            <a:off x="1331913" y="3141663"/>
            <a:ext cx="7416800" cy="1000125"/>
            <a:chOff x="884" y="2029"/>
            <a:chExt cx="4672" cy="630"/>
          </a:xfrm>
        </p:grpSpPr>
        <p:sp>
          <p:nvSpPr>
            <p:cNvPr id="55305" name="Text Box 4"/>
            <p:cNvSpPr txBox="1">
              <a:spLocks noChangeArrowheads="1"/>
            </p:cNvSpPr>
            <p:nvPr/>
          </p:nvSpPr>
          <p:spPr bwMode="auto">
            <a:xfrm>
              <a:off x="884" y="2323"/>
              <a:ext cx="4672" cy="336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800000"/>
                  </a:solidFill>
                </a:rPr>
                <a:t>static </a:t>
              </a:r>
              <a:r>
                <a:rPr lang="zh-CN" altLang="en-US" sz="2400" dirty="0">
                  <a:solidFill>
                    <a:srgbClr val="800000"/>
                  </a:solidFill>
                </a:rPr>
                <a:t>返回类型  </a:t>
              </a:r>
              <a:r>
                <a:rPr lang="zh-CN" altLang="en-US" sz="2400" dirty="0" smtClean="0">
                  <a:solidFill>
                    <a:srgbClr val="800000"/>
                  </a:solidFill>
                </a:rPr>
                <a:t>静态成员</a:t>
              </a:r>
              <a:r>
                <a:rPr lang="zh-CN" altLang="en-US" sz="2400" dirty="0">
                  <a:solidFill>
                    <a:srgbClr val="800000"/>
                  </a:solidFill>
                </a:rPr>
                <a:t>函数</a:t>
              </a:r>
              <a:r>
                <a:rPr lang="zh-CN" altLang="en-US" sz="2400" dirty="0" smtClean="0">
                  <a:solidFill>
                    <a:srgbClr val="800000"/>
                  </a:solidFill>
                </a:rPr>
                <a:t>名</a:t>
              </a:r>
              <a:r>
                <a:rPr lang="zh-CN" altLang="en-US" sz="2400" dirty="0">
                  <a:solidFill>
                    <a:srgbClr val="800000"/>
                  </a:solidFill>
                </a:rPr>
                <a:t>（参数表）</a:t>
              </a:r>
              <a:r>
                <a:rPr lang="en-US" altLang="zh-CN" sz="2400" dirty="0">
                  <a:solidFill>
                    <a:srgbClr val="800000"/>
                  </a:solidFill>
                </a:rPr>
                <a:t>;</a:t>
              </a:r>
              <a:endParaRPr lang="en-US" altLang="zh-CN" sz="2400" dirty="0">
                <a:solidFill>
                  <a:srgbClr val="800000"/>
                </a:solidFill>
              </a:endParaRPr>
            </a:p>
          </p:txBody>
        </p:sp>
        <p:sp>
          <p:nvSpPr>
            <p:cNvPr id="55306" name="Text Box 8"/>
            <p:cNvSpPr txBox="1">
              <a:spLocks noChangeArrowheads="1"/>
            </p:cNvSpPr>
            <p:nvPr/>
          </p:nvSpPr>
          <p:spPr bwMode="auto">
            <a:xfrm>
              <a:off x="884" y="2029"/>
              <a:ext cx="467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静态成员</a:t>
              </a:r>
              <a:r>
                <a:rPr lang="zh-CN" altLang="en-US" sz="2400" dirty="0">
                  <a:solidFill>
                    <a:schemeClr val="tx1"/>
                  </a:solidFill>
                </a:rPr>
                <a:t>函数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的格式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5302" name="Group 15"/>
          <p:cNvGrpSpPr/>
          <p:nvPr/>
        </p:nvGrpSpPr>
        <p:grpSpPr bwMode="auto">
          <a:xfrm>
            <a:off x="1331913" y="4581525"/>
            <a:ext cx="7416800" cy="1368425"/>
            <a:chOff x="839" y="2886"/>
            <a:chExt cx="4672" cy="862"/>
          </a:xfrm>
        </p:grpSpPr>
        <p:sp>
          <p:nvSpPr>
            <p:cNvPr id="55303" name="Text Box 9"/>
            <p:cNvSpPr txBox="1">
              <a:spLocks noChangeArrowheads="1"/>
            </p:cNvSpPr>
            <p:nvPr/>
          </p:nvSpPr>
          <p:spPr bwMode="auto">
            <a:xfrm>
              <a:off x="839" y="2886"/>
              <a:ext cx="4672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</a:rPr>
                <a:t>调用公有静态函数成员的格式：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304" name="Text Box 10"/>
            <p:cNvSpPr txBox="1">
              <a:spLocks noChangeArrowheads="1"/>
            </p:cNvSpPr>
            <p:nvPr/>
          </p:nvSpPr>
          <p:spPr bwMode="auto">
            <a:xfrm>
              <a:off x="839" y="3177"/>
              <a:ext cx="4672" cy="571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defRPr sz="2000" b="1">
                  <a:solidFill>
                    <a:schemeClr val="bg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800000"/>
                  </a:solidFill>
                </a:rPr>
                <a:t>类名</a:t>
              </a:r>
              <a:r>
                <a:rPr lang="en-US" altLang="zh-CN" sz="2400" dirty="0">
                  <a:solidFill>
                    <a:srgbClr val="800000"/>
                  </a:solidFill>
                </a:rPr>
                <a:t>::</a:t>
              </a:r>
              <a:r>
                <a:rPr lang="zh-CN" altLang="en-US" sz="2400" dirty="0" smtClean="0">
                  <a:solidFill>
                    <a:srgbClr val="800000"/>
                  </a:solidFill>
                </a:rPr>
                <a:t>静态成员</a:t>
              </a:r>
              <a:r>
                <a:rPr lang="zh-CN" altLang="en-US" sz="2400" dirty="0">
                  <a:solidFill>
                    <a:srgbClr val="800000"/>
                  </a:solidFill>
                </a:rPr>
                <a:t>函数</a:t>
              </a:r>
              <a:r>
                <a:rPr lang="zh-CN" altLang="en-US" sz="2400" dirty="0" smtClean="0">
                  <a:solidFill>
                    <a:srgbClr val="800000"/>
                  </a:solidFill>
                </a:rPr>
                <a:t>名</a:t>
              </a:r>
              <a:r>
                <a:rPr lang="zh-CN" altLang="en-US" sz="2400" dirty="0">
                  <a:solidFill>
                    <a:srgbClr val="800000"/>
                  </a:solidFill>
                </a:rPr>
                <a:t>（实参表）</a:t>
              </a:r>
              <a:r>
                <a:rPr lang="en-US" altLang="zh-CN" sz="2400" dirty="0">
                  <a:solidFill>
                    <a:srgbClr val="800000"/>
                  </a:solidFill>
                </a:rPr>
                <a:t>;</a:t>
              </a:r>
              <a:endParaRPr lang="en-US" altLang="zh-CN" sz="2400" dirty="0">
                <a:solidFill>
                  <a:srgbClr val="800000"/>
                </a:solidFill>
              </a:endParaRPr>
            </a:p>
            <a:p>
              <a:pPr algn="just"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800000"/>
                  </a:solidFill>
                </a:rPr>
                <a:t>对象</a:t>
              </a:r>
              <a:r>
                <a:rPr lang="en-US" altLang="zh-CN" sz="2400" dirty="0">
                  <a:solidFill>
                    <a:srgbClr val="800000"/>
                  </a:solidFill>
                </a:rPr>
                <a:t>.</a:t>
              </a:r>
              <a:r>
                <a:rPr lang="zh-CN" altLang="en-US" sz="2400" dirty="0" smtClean="0">
                  <a:solidFill>
                    <a:srgbClr val="800000"/>
                  </a:solidFill>
                </a:rPr>
                <a:t>静态成员</a:t>
              </a:r>
              <a:r>
                <a:rPr lang="zh-CN" altLang="en-US" sz="2400" dirty="0">
                  <a:solidFill>
                    <a:srgbClr val="800000"/>
                  </a:solidFill>
                </a:rPr>
                <a:t>函数</a:t>
              </a:r>
              <a:r>
                <a:rPr lang="zh-CN" altLang="en-US" sz="2400" dirty="0" smtClean="0">
                  <a:solidFill>
                    <a:srgbClr val="800000"/>
                  </a:solidFill>
                </a:rPr>
                <a:t>名</a:t>
              </a:r>
              <a:r>
                <a:rPr lang="zh-CN" altLang="en-US" sz="2400" dirty="0">
                  <a:solidFill>
                    <a:srgbClr val="800000"/>
                  </a:solidFill>
                </a:rPr>
                <a:t>（实参表）</a:t>
              </a:r>
              <a:r>
                <a:rPr lang="en-US" altLang="zh-CN" sz="2400" dirty="0">
                  <a:solidFill>
                    <a:srgbClr val="800000"/>
                  </a:solidFill>
                </a:rPr>
                <a:t>;</a:t>
              </a:r>
              <a:endParaRPr lang="en-US" altLang="zh-CN" sz="2400" dirty="0">
                <a:solidFill>
                  <a:srgbClr val="80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8191822" cy="1325563"/>
          </a:xfrm>
        </p:spPr>
        <p:txBody>
          <a:bodyPr/>
          <a:lstStyle/>
          <a:p>
            <a:pPr eaLnBrk="1" hangingPunct="1"/>
            <a:r>
              <a:rPr lang="zh-CN" altLang="en-US" sz="3500" b="1" dirty="0" smtClean="0"/>
              <a:t>例</a:t>
            </a:r>
            <a:r>
              <a:rPr lang="en-US" altLang="zh-CN" sz="3500" b="1" dirty="0" smtClean="0"/>
              <a:t>5-5</a:t>
            </a:r>
            <a:r>
              <a:rPr lang="zh-CN" altLang="en-US" sz="3500" b="1" dirty="0" smtClean="0"/>
              <a:t>具有静态数据、函数成员的</a:t>
            </a:r>
            <a:r>
              <a:rPr lang="en-US" altLang="zh-CN" sz="3500" b="1" dirty="0" smtClean="0"/>
              <a:t> Point</a:t>
            </a:r>
            <a:r>
              <a:rPr lang="zh-CN" altLang="en-US" sz="3500" b="1" dirty="0" smtClean="0"/>
              <a:t>类</a:t>
            </a:r>
            <a:endParaRPr lang="zh-CN" altLang="en-US" sz="3500" b="1" dirty="0" smtClean="0"/>
          </a:p>
        </p:txBody>
      </p:sp>
      <p:sp>
        <p:nvSpPr>
          <p:cNvPr id="3584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5846" name="Group 3"/>
          <p:cNvGrpSpPr>
            <a:grpSpLocks noChangeAspect="1"/>
          </p:cNvGrpSpPr>
          <p:nvPr/>
        </p:nvGrpSpPr>
        <p:grpSpPr bwMode="auto">
          <a:xfrm>
            <a:off x="1857375" y="1571625"/>
            <a:ext cx="6286500" cy="4800600"/>
            <a:chOff x="0" y="0"/>
            <a:chExt cx="3698" cy="2826"/>
          </a:xfrm>
        </p:grpSpPr>
        <p:sp>
          <p:nvSpPr>
            <p:cNvPr id="35847" name="AutoShape 16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latin typeface="+mn-lt"/>
              </a:endParaRPr>
            </a:p>
          </p:txBody>
        </p:sp>
        <p:sp>
          <p:nvSpPr>
            <p:cNvPr id="35848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59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b="1">
                <a:latin typeface="+mn-lt"/>
              </a:endParaRPr>
            </a:p>
          </p:txBody>
        </p:sp>
        <p:sp>
          <p:nvSpPr>
            <p:cNvPr id="35849" name="Rectangle 14"/>
            <p:cNvSpPr>
              <a:spLocks noChangeArrowheads="1"/>
            </p:cNvSpPr>
            <p:nvPr/>
          </p:nvSpPr>
          <p:spPr bwMode="auto">
            <a:xfrm>
              <a:off x="1388" y="183"/>
              <a:ext cx="41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Point</a:t>
              </a:r>
              <a:endParaRPr kumimoji="0" lang="en-US" altLang="zh-CN" sz="1800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0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59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b="1">
                <a:latin typeface="+mn-lt"/>
              </a:endParaRPr>
            </a:p>
          </p:txBody>
        </p:sp>
        <p:sp>
          <p:nvSpPr>
            <p:cNvPr id="35851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59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b="1">
                <a:latin typeface="+mn-lt"/>
              </a:endParaRPr>
            </a:p>
          </p:txBody>
        </p:sp>
        <p:sp>
          <p:nvSpPr>
            <p:cNvPr id="35852" name="Rectangle 11"/>
            <p:cNvSpPr>
              <a:spLocks noChangeArrowheads="1"/>
            </p:cNvSpPr>
            <p:nvPr/>
          </p:nvSpPr>
          <p:spPr bwMode="auto">
            <a:xfrm>
              <a:off x="334" y="476"/>
              <a:ext cx="51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400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- </a:t>
              </a:r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x : int</a:t>
              </a:r>
              <a:endParaRPr kumimoji="0" lang="en-US" altLang="zh-CN" sz="4800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3" name="Rectangle 10"/>
            <p:cNvSpPr>
              <a:spLocks noChangeArrowheads="1"/>
            </p:cNvSpPr>
            <p:nvPr/>
          </p:nvSpPr>
          <p:spPr bwMode="auto">
            <a:xfrm>
              <a:off x="352" y="716"/>
              <a:ext cx="55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- y : int</a:t>
              </a:r>
              <a:endParaRPr kumimoji="0" lang="en-US" altLang="zh-CN" sz="4800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4" name="Rectangle 9"/>
            <p:cNvSpPr>
              <a:spLocks noChangeArrowheads="1"/>
            </p:cNvSpPr>
            <p:nvPr/>
          </p:nvSpPr>
          <p:spPr bwMode="auto">
            <a:xfrm>
              <a:off x="368" y="956"/>
              <a:ext cx="114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400" b="1" u="sng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-</a:t>
              </a:r>
              <a:r>
                <a:rPr kumimoji="0" lang="en-US" altLang="zh-CN" sz="1600" b="1" u="sng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b="1" u="sng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count : </a:t>
              </a:r>
              <a:r>
                <a:rPr kumimoji="0" lang="en-US" altLang="zh-CN" b="1" u="sng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int</a:t>
              </a:r>
              <a:r>
                <a:rPr kumimoji="0" lang="en-US" altLang="zh-CN" b="1" u="sng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= 0</a:t>
              </a:r>
              <a:endParaRPr kumimoji="0" lang="en-US" altLang="zh-CN" sz="2000" b="1" dirty="0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5" name="Rectangle 8"/>
            <p:cNvSpPr>
              <a:spLocks noChangeArrowheads="1"/>
            </p:cNvSpPr>
            <p:nvPr/>
          </p:nvSpPr>
          <p:spPr bwMode="auto">
            <a:xfrm>
              <a:off x="368" y="1436"/>
              <a:ext cx="2425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Point(xx : </a:t>
              </a:r>
              <a:r>
                <a:rPr kumimoji="0" lang="en-US" altLang="zh-CN" b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int</a:t>
              </a:r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= 0, </a:t>
              </a:r>
              <a:r>
                <a:rPr kumimoji="0" lang="en-US" altLang="zh-CN" b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yy</a:t>
              </a:r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: </a:t>
              </a:r>
              <a:r>
                <a:rPr kumimoji="0" lang="en-US" altLang="zh-CN" b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int</a:t>
              </a:r>
              <a:r>
                <a:rPr kumimoji="0" lang="en-US" altLang="zh-CN" b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 = 0)</a:t>
              </a:r>
              <a:endParaRPr kumimoji="0" lang="en-US" altLang="zh-CN" b="1" dirty="0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6" name="Rectangle 7"/>
            <p:cNvSpPr>
              <a:spLocks noChangeArrowheads="1"/>
            </p:cNvSpPr>
            <p:nvPr/>
          </p:nvSpPr>
          <p:spPr bwMode="auto">
            <a:xfrm>
              <a:off x="385" y="1676"/>
              <a:ext cx="99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getX() : int</a:t>
              </a:r>
              <a:endParaRPr kumimoji="0" lang="en-US" altLang="zh-CN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7" name="Rectangle 6"/>
            <p:cNvSpPr>
              <a:spLocks noChangeArrowheads="1"/>
            </p:cNvSpPr>
            <p:nvPr/>
          </p:nvSpPr>
          <p:spPr bwMode="auto">
            <a:xfrm>
              <a:off x="385" y="1916"/>
              <a:ext cx="99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getY() : int</a:t>
              </a:r>
              <a:endParaRPr kumimoji="0" lang="en-US" altLang="zh-CN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8" name="Rectangle 5"/>
            <p:cNvSpPr>
              <a:spLocks noChangeArrowheads="1"/>
            </p:cNvSpPr>
            <p:nvPr/>
          </p:nvSpPr>
          <p:spPr bwMode="auto">
            <a:xfrm>
              <a:off x="411" y="2157"/>
              <a:ext cx="154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+ Point(p : Point &amp;)</a:t>
              </a:r>
              <a:endParaRPr kumimoji="0" lang="en-US" altLang="zh-CN" b="1"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35859" name="Rectangle 4"/>
            <p:cNvSpPr>
              <a:spLocks noChangeArrowheads="1"/>
            </p:cNvSpPr>
            <p:nvPr/>
          </p:nvSpPr>
          <p:spPr bwMode="auto">
            <a:xfrm>
              <a:off x="456" y="2397"/>
              <a:ext cx="2452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b="1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&lt;&lt;static&gt;&gt;+ </a:t>
              </a:r>
              <a:r>
                <a:rPr kumimoji="0" lang="en-US" altLang="zh-CN" b="1" dirty="0" err="1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showCount</a:t>
              </a:r>
              <a:r>
                <a:rPr kumimoji="0" lang="en-US" altLang="zh-CN" b="1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  <a:cs typeface="Arial" panose="020B0604020202020204" pitchFamily="34" charset="0"/>
                </a:rPr>
                <a:t>() : void</a:t>
              </a:r>
              <a:endParaRPr kumimoji="0" lang="en-US" altLang="zh-CN" b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00063"/>
            <a:ext cx="8229600" cy="6247864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//5_5.cpp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std;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 {	//Point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类定义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	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外部接口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Point(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 = 0,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y = 0) : x(x), y(y) { 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构造函数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在构造函数中对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累加，所有对象共同维护同一个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count++;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}	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Point(Point &amp;p) {	//</a:t>
            </a: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复制构造函数</a:t>
            </a:r>
            <a:endParaRPr kumimoji="0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 =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p.x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y =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p.y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count++;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}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~Point() {  count--; }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getX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x; }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getY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y; 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endParaRPr kumimoji="0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static void 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		//</a:t>
            </a:r>
            <a:r>
              <a:rPr kumimoji="0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静态函数成员</a:t>
            </a:r>
            <a:endParaRPr kumimoji="0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  Object count = " &lt;&lt; count &lt;&lt; </a:t>
            </a:r>
            <a:r>
              <a:rPr kumimoji="0"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6869" name="标题 1"/>
          <p:cNvSpPr>
            <a:spLocks noGrp="1"/>
          </p:cNvSpPr>
          <p:nvPr>
            <p:ph type="title"/>
          </p:nvPr>
        </p:nvSpPr>
        <p:spPr>
          <a:xfrm>
            <a:off x="4067175" y="500063"/>
            <a:ext cx="4619625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5-5 </a:t>
            </a:r>
            <a:r>
              <a:rPr lang="zh-CN" altLang="en-US" smtClean="0"/>
              <a:t>静态成员举例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6237" y="332656"/>
            <a:ext cx="8543925" cy="6370975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私有数据成员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x, y;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static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count;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静态数据成员声明，用于记录点的个数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Point::count = 0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静态数据成员定义和初始化，使用类名限定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main() {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主函数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 a(4, 5);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定义对象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，其构造</a:t>
            </a:r>
            <a:r>
              <a:rPr kumimoji="0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函数会使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增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"Point A: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&lt;&lt; ",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Point::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输出对象个数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 b(a);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定义对象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，其构造</a:t>
            </a:r>
            <a:r>
              <a:rPr kumimoji="0"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函数会使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增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"Point B: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&lt;&lt; ",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Point::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输出对象个数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7893" name="标题 1"/>
          <p:cNvSpPr>
            <a:spLocks noGrp="1"/>
          </p:cNvSpPr>
          <p:nvPr>
            <p:ph type="title"/>
          </p:nvPr>
        </p:nvSpPr>
        <p:spPr>
          <a:xfrm>
            <a:off x="6100763" y="6195168"/>
            <a:ext cx="3043237" cy="690216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dirty="0" smtClean="0"/>
              <a:t>例</a:t>
            </a:r>
            <a:r>
              <a:rPr lang="en-US" altLang="zh-CN" dirty="0" smtClean="0"/>
              <a:t>5-5 </a:t>
            </a:r>
            <a:r>
              <a:rPr lang="zh-CN" altLang="en-US" dirty="0" smtClean="0"/>
              <a:t>（续）</a:t>
            </a:r>
            <a:endParaRPr lang="zh-CN" alt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2656" y="2060848"/>
            <a:ext cx="8583488" cy="124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buFont typeface="+mj-lt"/>
              <a:buAutoNum type="arabicPeriod" startAt="4"/>
            </a:pPr>
            <a:r>
              <a:rPr lang="en-US" altLang="zh-CN" sz="5800" b="1" dirty="0">
                <a:ea typeface="华文彩云" panose="02010800040101010101" pitchFamily="2" charset="-122"/>
              </a:rPr>
              <a:t> </a:t>
            </a:r>
            <a:r>
              <a:rPr lang="en-US" altLang="zh-CN" sz="5800" b="1" dirty="0" smtClean="0">
                <a:ea typeface="华文彩云" panose="02010800040101010101" pitchFamily="2" charset="-122"/>
              </a:rPr>
              <a:t>       </a:t>
            </a:r>
            <a:r>
              <a:rPr lang="zh-CN" altLang="en-US" sz="5800" b="1" dirty="0" smtClean="0">
                <a:ea typeface="华文彩云" panose="02010800040101010101" pitchFamily="2" charset="-122"/>
              </a:rPr>
              <a:t>类的友元</a:t>
            </a:r>
            <a:endParaRPr lang="zh-CN" altLang="en-US" sz="5800" dirty="0"/>
          </a:p>
        </p:txBody>
      </p:sp>
      <p:pic>
        <p:nvPicPr>
          <p:cNvPr id="612355" name="Picture 3" descr="BS00580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038607"/>
            <a:ext cx="2590800" cy="218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5.4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类的友元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899592" y="1772816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友元是</a:t>
            </a:r>
            <a:r>
              <a:rPr lang="en-US" altLang="zh-CN" sz="2400" b="1" dirty="0">
                <a:ea typeface="华文楷体" panose="02010600040101010101" pitchFamily="2" charset="-122"/>
              </a:rPr>
              <a:t>C++</a:t>
            </a:r>
            <a:r>
              <a:rPr lang="zh-CN" altLang="en-US" sz="2400" b="1" dirty="0">
                <a:ea typeface="华文楷体" panose="02010600040101010101" pitchFamily="2" charset="-122"/>
              </a:rPr>
              <a:t>提供的一种破坏数据封装和数据隐藏的机制。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通过将一个模块声明为另一个模块的友元，一个模块能够引用到另一个模块中本是被隐藏的信息。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可以使用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友元函数</a:t>
            </a:r>
            <a:r>
              <a:rPr lang="zh-CN" altLang="en-US" sz="2400" b="1" dirty="0">
                <a:ea typeface="华文楷体" panose="02010600040101010101" pitchFamily="2" charset="-122"/>
              </a:rPr>
              <a:t>和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友元类</a:t>
            </a:r>
            <a:r>
              <a:rPr lang="zh-CN" altLang="en-US" sz="2400" b="1" dirty="0">
                <a:ea typeface="华文楷体" panose="02010600040101010101" pitchFamily="2" charset="-122"/>
              </a:rPr>
              <a:t>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为了确保数据的完整性，及数据封装与隐藏的原则，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建议尽量不使用或少使用友元。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330200"/>
            <a:ext cx="6434138" cy="915988"/>
          </a:xfrm>
        </p:spPr>
        <p:txBody>
          <a:bodyPr/>
          <a:lstStyle/>
          <a:p>
            <a:pPr algn="ctr" eaLnBrk="1" hangingPunct="1"/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5.4.1 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友元函数</a:t>
            </a:r>
            <a:endParaRPr lang="zh-CN" altLang="en-US" b="1" dirty="0" smtClean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150" y="1660525"/>
            <a:ext cx="8001000" cy="3208338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友元函数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是在类声明中由关键字</a:t>
            </a:r>
            <a:r>
              <a:rPr lang="en-US" altLang="zh-CN" sz="24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friend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修饰说明的非成员函数，</a:t>
            </a:r>
            <a:r>
              <a:rPr lang="zh-CN" altLang="en-US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在它的函数体中能够通过对象名访问 </a:t>
            </a:r>
            <a:r>
              <a:rPr lang="en-US" altLang="zh-CN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 </a:t>
            </a:r>
            <a:r>
              <a:rPr lang="zh-CN" altLang="en-US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 </a:t>
            </a:r>
            <a:r>
              <a:rPr lang="en-US" altLang="zh-CN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protected</a:t>
            </a:r>
            <a:r>
              <a:rPr lang="zh-CN" altLang="en-US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成员</a:t>
            </a:r>
            <a:endParaRPr lang="zh-CN" altLang="en-US" sz="2400" b="1" u="sng" dirty="0" smtClean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作用：增加灵活性，使程序员可以在封装和快速性方面做合理选择。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访问对象中的成员必须通过对象名。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8613" name="Text Box 6"/>
          <p:cNvSpPr txBox="1">
            <a:spLocks noChangeArrowheads="1"/>
          </p:cNvSpPr>
          <p:nvPr/>
        </p:nvSpPr>
        <p:spPr bwMode="auto">
          <a:xfrm>
            <a:off x="971550" y="5229225"/>
            <a:ext cx="7489825" cy="5032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friend   </a:t>
            </a:r>
            <a:r>
              <a:rPr lang="zh-CN" altLang="en-US" sz="2400" dirty="0">
                <a:solidFill>
                  <a:srgbClr val="000000"/>
                </a:solidFill>
              </a:rPr>
              <a:t>返回值类型   函数名 </a:t>
            </a:r>
            <a:r>
              <a:rPr lang="en-US" altLang="zh-CN" sz="2400" dirty="0">
                <a:solidFill>
                  <a:srgbClr val="000000"/>
                </a:solidFill>
              </a:rPr>
              <a:t>( </a:t>
            </a:r>
            <a:r>
              <a:rPr lang="zh-CN" altLang="en-US" sz="2400" dirty="0">
                <a:solidFill>
                  <a:srgbClr val="000000"/>
                </a:solidFill>
              </a:rPr>
              <a:t>参数表 </a:t>
            </a:r>
            <a:r>
              <a:rPr lang="en-US" altLang="zh-CN" sz="2400" dirty="0">
                <a:solidFill>
                  <a:srgbClr val="000000"/>
                </a:solidFill>
              </a:rPr>
              <a:t>);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330200"/>
            <a:ext cx="6434138" cy="915988"/>
          </a:xfrm>
        </p:spPr>
        <p:txBody>
          <a:bodyPr/>
          <a:lstStyle/>
          <a:p>
            <a:pPr algn="ctr" eaLnBrk="1" hangingPunct="1"/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5.4.1 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友元函数</a:t>
            </a:r>
            <a:endParaRPr lang="zh-CN" altLang="en-US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2205038"/>
            <a:ext cx="8001000" cy="3208337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友元函数：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有两种形式的友元函数</a:t>
            </a:r>
            <a:endParaRPr lang="zh-CN" altLang="en-US" sz="2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友元函数：一个不属于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任何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类的函数声明为当前类的友元，称为当前类的友元函数</a:t>
            </a:r>
            <a:endParaRPr lang="zh-CN" altLang="en-US" sz="2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一个其他类的成员函数声明为当前类的友元，称为当前类的友元成员</a:t>
            </a:r>
            <a:endParaRPr lang="zh-CN" altLang="en-US" sz="28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330200"/>
            <a:ext cx="6434138" cy="915988"/>
          </a:xfrm>
        </p:spPr>
        <p:txBody>
          <a:bodyPr/>
          <a:lstStyle/>
          <a:p>
            <a:pPr algn="ctr" eaLnBrk="1" hangingPunct="1"/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5.4.1 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友元函数</a:t>
            </a:r>
            <a:endParaRPr lang="zh-CN" altLang="en-US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8001000" cy="12954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友元函数：一个不属于</a:t>
            </a:r>
            <a:r>
              <a:rPr lang="zh-CN" altLang="en-US" sz="2800" b="1" u="sng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任何</a:t>
            </a:r>
            <a:r>
              <a:rPr lang="zh-CN" altLang="en-US" sz="28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类的函数声明为当前类的友元，称为当前类的友元函数</a:t>
            </a:r>
            <a:endParaRPr lang="zh-CN" altLang="en-US" sz="2800" b="1" u="sng" dirty="0" smtClean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827088" y="3573463"/>
            <a:ext cx="8001000" cy="2160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ct val="2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/>
                </a:solidFill>
              </a:rPr>
              <a:t>友元函数不是类的成员函数，因此对友元函数指定访问权限无效，友元函数声明可以放在</a:t>
            </a:r>
            <a:r>
              <a:rPr lang="en-US" altLang="zh-CN" sz="2400" dirty="0">
                <a:solidFill>
                  <a:schemeClr val="tx1"/>
                </a:solidFill>
              </a:rPr>
              <a:t>public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private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protected</a:t>
            </a:r>
            <a:r>
              <a:rPr lang="zh-CN" altLang="en-US" sz="2400" dirty="0">
                <a:solidFill>
                  <a:schemeClr val="tx1"/>
                </a:solidFill>
              </a:rPr>
              <a:t>的任意段中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25000"/>
              </a:lnSpc>
              <a:spcBef>
                <a:spcPct val="2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/>
                </a:solidFill>
              </a:rPr>
              <a:t>使用友元函数的目的是为了提高程序的</a:t>
            </a:r>
            <a:r>
              <a:rPr lang="zh-CN" altLang="en-US" sz="2400" dirty="0" smtClean="0">
                <a:solidFill>
                  <a:schemeClr val="tx1"/>
                </a:solidFill>
              </a:rPr>
              <a:t>效率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例</a:t>
            </a:r>
            <a:r>
              <a:rPr lang="en-US" altLang="zh-CN" dirty="0" smtClean="0"/>
              <a:t>5-6 </a:t>
            </a:r>
            <a:r>
              <a:rPr lang="zh-CN" altLang="en-US" dirty="0" smtClean="0"/>
              <a:t>使用友元函数计算两点间的距离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628800"/>
            <a:ext cx="7886700" cy="4154984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cmath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Point {	//Point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类声明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外部接口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x=0,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y=0) : x(x), y(y) {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x;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y;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friend float dist(Point &amp;a, Point &amp;b); </a:t>
            </a:r>
            <a:endParaRPr kumimoji="0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私有数据成员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x, y;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5-6 </a:t>
            </a:r>
            <a:r>
              <a:rPr lang="zh-CN" altLang="en-US" smtClean="0"/>
              <a:t>（续）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154984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float dist( Point&amp; a, Point&amp; b)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double x = 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- 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double y = 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- 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return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static_cast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&lt;float&gt;(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sqrt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(x * x + y * y));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main()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Point p1(1, 1), p2(4, 5);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&lt;&lt;"The distance is: ";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dist(p1, p2)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990" name="TextBox 5"/>
          <p:cNvSpPr txBox="1">
            <a:spLocks noChangeArrowheads="1"/>
          </p:cNvSpPr>
          <p:nvPr/>
        </p:nvSpPr>
        <p:spPr bwMode="auto">
          <a:xfrm>
            <a:off x="5429250" y="5715000"/>
            <a:ext cx="3286125" cy="830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latin typeface="+mn-lt"/>
                <a:ea typeface="华文楷体" panose="02010600040101010101" pitchFamily="2" charset="-122"/>
              </a:rPr>
              <a:t>运行结果：</a:t>
            </a:r>
            <a:endParaRPr lang="en-US" altLang="zh-CN" b="1">
              <a:latin typeface="+mn-lt"/>
              <a:ea typeface="华文楷体" panose="02010600040101010101" pitchFamily="2" charset="-122"/>
            </a:endParaRPr>
          </a:p>
          <a:p>
            <a:pPr algn="l" eaLnBrk="1" hangingPunct="1"/>
            <a:r>
              <a:rPr lang="en-US" altLang="zh-CN" b="1">
                <a:latin typeface="+mn-lt"/>
                <a:ea typeface="华文楷体" panose="02010600040101010101" pitchFamily="2" charset="-122"/>
              </a:rPr>
              <a:t>The distance is: 5</a:t>
            </a:r>
            <a:endParaRPr lang="zh-CN" altLang="en-US" b="1">
              <a:latin typeface="+mn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04950" y="330200"/>
            <a:ext cx="6434138" cy="915988"/>
          </a:xfrm>
        </p:spPr>
        <p:txBody>
          <a:bodyPr/>
          <a:lstStyle/>
          <a:p>
            <a:pPr algn="ctr" eaLnBrk="1" hangingPunct="1"/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5.4.1 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友元函数</a:t>
            </a:r>
            <a:endParaRPr lang="zh-CN" altLang="en-US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989138"/>
            <a:ext cx="8001000" cy="12954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友元成员：一个其他类的成员函数声明为当前类的友元</a:t>
            </a:r>
            <a:endParaRPr lang="zh-CN" altLang="en-US" sz="2800" b="1" u="sng" dirty="0" smtClean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3733" name="Rectangle 4"/>
          <p:cNvSpPr>
            <a:spLocks noChangeArrowheads="1"/>
          </p:cNvSpPr>
          <p:nvPr/>
        </p:nvSpPr>
        <p:spPr bwMode="auto">
          <a:xfrm>
            <a:off x="827088" y="3716338"/>
            <a:ext cx="8001000" cy="172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ct val="2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chemeClr val="tx1"/>
                </a:solidFill>
              </a:rPr>
              <a:t>定义友元成员的目的：可以访问</a:t>
            </a:r>
            <a:r>
              <a:rPr lang="en-US" altLang="zh-CN" sz="2400">
                <a:solidFill>
                  <a:schemeClr val="tx1"/>
                </a:solidFill>
              </a:rPr>
              <a:t>friend</a:t>
            </a:r>
            <a:r>
              <a:rPr lang="zh-CN" altLang="en-US" sz="2400">
                <a:solidFill>
                  <a:schemeClr val="tx1"/>
                </a:solidFill>
              </a:rPr>
              <a:t>声明所在类对象中的所有成员，这样能使两个类相互合作、协调工作，完成同一个任务</a:t>
            </a:r>
            <a:endParaRPr lang="zh-CN" altLang="en-US" sz="2400">
              <a:solidFill>
                <a:schemeClr val="tx1"/>
              </a:solidFill>
            </a:endParaRPr>
          </a:p>
          <a:p>
            <a:pPr algn="l" eaLnBrk="1" hangingPunct="1">
              <a:lnSpc>
                <a:spcPct val="125000"/>
              </a:lnSpc>
              <a:spcBef>
                <a:spcPct val="20000"/>
              </a:spcBef>
              <a:buClr>
                <a:srgbClr val="00B0F0"/>
              </a:buClr>
              <a:buFont typeface="Wingdings" panose="05000000000000000000" pitchFamily="2" charset="2"/>
              <a:buChar char="u"/>
            </a:pPr>
            <a:endParaRPr lang="en-US" altLang="zh-C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4755" name="Rectangle 2"/>
          <p:cNvSpPr>
            <a:spLocks noChangeArrowheads="1"/>
          </p:cNvSpPr>
          <p:nvPr/>
        </p:nvSpPr>
        <p:spPr bwMode="auto">
          <a:xfrm>
            <a:off x="334138" y="604838"/>
            <a:ext cx="8785547" cy="61007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>
            <a:lvl1pPr indent="2667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//   </a:t>
            </a:r>
            <a:r>
              <a:rPr lang="zh-CN" altLang="en-US" sz="2200" dirty="0">
                <a:solidFill>
                  <a:srgbClr val="000000"/>
                </a:solidFill>
              </a:rPr>
              <a:t>示例</a:t>
            </a:r>
            <a:r>
              <a:rPr lang="zh-CN" altLang="en-US" sz="2200" dirty="0" smtClean="0">
                <a:solidFill>
                  <a:srgbClr val="000000"/>
                </a:solidFill>
              </a:rPr>
              <a:t>程序，</a:t>
            </a:r>
            <a:r>
              <a:rPr lang="zh-CN" altLang="en-US" sz="2200" dirty="0">
                <a:solidFill>
                  <a:srgbClr val="000000"/>
                </a:solidFill>
              </a:rPr>
              <a:t>友元成员</a:t>
            </a:r>
            <a:r>
              <a:rPr lang="zh-CN" altLang="en-US" sz="2200" dirty="0" smtClean="0">
                <a:solidFill>
                  <a:srgbClr val="000000"/>
                </a:solidFill>
              </a:rPr>
              <a:t>。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#include &lt;</a:t>
            </a:r>
            <a:r>
              <a:rPr lang="en-US" altLang="zh-CN" sz="2200" dirty="0" err="1">
                <a:solidFill>
                  <a:srgbClr val="000000"/>
                </a:solidFill>
              </a:rPr>
              <a:t>iostream</a:t>
            </a:r>
            <a:r>
              <a:rPr lang="en-US" altLang="zh-CN" sz="2200" dirty="0">
                <a:solidFill>
                  <a:srgbClr val="000000"/>
                </a:solidFill>
              </a:rPr>
              <a:t>&gt;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using namespace </a:t>
            </a:r>
            <a:r>
              <a:rPr lang="en-US" altLang="zh-CN" dirty="0" err="1">
                <a:solidFill>
                  <a:srgbClr val="000000"/>
                </a:solidFill>
              </a:rPr>
              <a:t>std</a:t>
            </a:r>
            <a:r>
              <a:rPr lang="en-US" altLang="zh-CN" dirty="0">
                <a:solidFill>
                  <a:srgbClr val="000000"/>
                </a:solidFill>
              </a:rPr>
              <a:t>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class N;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class M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{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public: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   M(</a:t>
            </a:r>
            <a:r>
              <a:rPr lang="en-US" altLang="zh-CN" sz="2200" dirty="0" err="1">
                <a:solidFill>
                  <a:srgbClr val="000000"/>
                </a:solidFill>
              </a:rPr>
              <a:t>int</a:t>
            </a:r>
            <a:r>
              <a:rPr lang="en-US" altLang="zh-CN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 err="1">
                <a:solidFill>
                  <a:srgbClr val="000000"/>
                </a:solidFill>
              </a:rPr>
              <a:t>x,int</a:t>
            </a:r>
            <a:r>
              <a:rPr lang="en-US" altLang="zh-CN" sz="2200" dirty="0">
                <a:solidFill>
                  <a:srgbClr val="000000"/>
                </a:solidFill>
              </a:rPr>
              <a:t> y)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{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	a=x;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	b=y;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}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void Print()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   {   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&lt;&lt;"a="&lt;&lt;a&lt;&lt;"b="&lt;&lt;b&lt;&lt;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  }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   void </a:t>
            </a:r>
            <a:r>
              <a:rPr lang="en-US" altLang="zh-CN" sz="2200" dirty="0" err="1">
                <a:solidFill>
                  <a:srgbClr val="000000"/>
                </a:solidFill>
              </a:rPr>
              <a:t>Setab</a:t>
            </a:r>
            <a:r>
              <a:rPr lang="en-US" altLang="zh-CN" sz="2200" dirty="0">
                <a:solidFill>
                  <a:srgbClr val="000000"/>
                </a:solidFill>
              </a:rPr>
              <a:t>( N  &amp;);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private: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   </a:t>
            </a:r>
            <a:r>
              <a:rPr lang="en-US" altLang="zh-CN" sz="2200" dirty="0" err="1">
                <a:solidFill>
                  <a:srgbClr val="000000"/>
                </a:solidFill>
              </a:rPr>
              <a:t>int</a:t>
            </a:r>
            <a:r>
              <a:rPr lang="en-US" altLang="zh-CN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 err="1">
                <a:solidFill>
                  <a:srgbClr val="000000"/>
                </a:solidFill>
              </a:rPr>
              <a:t>a,b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};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34925" y="728663"/>
            <a:ext cx="9144000" cy="59182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indent="2667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class N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{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public: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   N(</a:t>
            </a:r>
            <a:r>
              <a:rPr lang="en-US" altLang="zh-CN" sz="2200" dirty="0" err="1">
                <a:solidFill>
                  <a:srgbClr val="000000"/>
                </a:solidFill>
              </a:rPr>
              <a:t>int</a:t>
            </a:r>
            <a:r>
              <a:rPr lang="en-US" altLang="zh-CN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 err="1">
                <a:solidFill>
                  <a:srgbClr val="000000"/>
                </a:solidFill>
              </a:rPr>
              <a:t>a,int</a:t>
            </a:r>
            <a:r>
              <a:rPr lang="en-US" altLang="zh-CN" sz="2200" dirty="0">
                <a:solidFill>
                  <a:srgbClr val="000000"/>
                </a:solidFill>
              </a:rPr>
              <a:t> b)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{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	c=a;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	d=b;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}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	void Print()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   {   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&lt;&lt;"c="&lt;&lt;c&lt;&lt;"d="&lt;&lt;d&lt;&lt;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  }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3000" dirty="0">
                <a:solidFill>
                  <a:srgbClr val="C00000"/>
                </a:solidFill>
              </a:rPr>
              <a:t>     </a:t>
            </a:r>
            <a:r>
              <a:rPr lang="en-US" altLang="zh-CN" sz="3000" dirty="0" smtClean="0">
                <a:solidFill>
                  <a:srgbClr val="C00000"/>
                </a:solidFill>
              </a:rPr>
              <a:t> </a:t>
            </a:r>
            <a:r>
              <a:rPr lang="en-US" altLang="zh-CN" sz="3000" dirty="0">
                <a:solidFill>
                  <a:srgbClr val="C00000"/>
                </a:solidFill>
              </a:rPr>
              <a:t>friend void M::Setab( N  &amp;);</a:t>
            </a:r>
            <a:endParaRPr lang="en-US" altLang="zh-CN" sz="3000" dirty="0">
              <a:solidFill>
                <a:srgbClr val="C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private: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   </a:t>
            </a:r>
            <a:r>
              <a:rPr lang="en-US" altLang="zh-CN" sz="2200" dirty="0" err="1">
                <a:solidFill>
                  <a:srgbClr val="000000"/>
                </a:solidFill>
              </a:rPr>
              <a:t>int</a:t>
            </a:r>
            <a:r>
              <a:rPr lang="en-US" altLang="zh-CN" sz="2200" dirty="0">
                <a:solidFill>
                  <a:srgbClr val="000000"/>
                </a:solidFill>
              </a:rPr>
              <a:t> </a:t>
            </a:r>
            <a:r>
              <a:rPr lang="en-US" altLang="zh-CN" sz="2200" dirty="0" err="1">
                <a:solidFill>
                  <a:srgbClr val="000000"/>
                </a:solidFill>
              </a:rPr>
              <a:t>c,d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};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void M::Setab(N &amp;</a:t>
            </a:r>
            <a:r>
              <a:rPr lang="en-US" altLang="zh-CN" sz="2200" dirty="0" err="1">
                <a:solidFill>
                  <a:srgbClr val="000000"/>
                </a:solidFill>
              </a:rPr>
              <a:t>obj</a:t>
            </a:r>
            <a:r>
              <a:rPr lang="en-US" altLang="zh-CN" sz="2200" dirty="0">
                <a:solidFill>
                  <a:srgbClr val="000000"/>
                </a:solidFill>
              </a:rPr>
              <a:t>)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{      a=</a:t>
            </a:r>
            <a:r>
              <a:rPr lang="en-US" altLang="zh-CN" sz="2200" dirty="0" err="1">
                <a:solidFill>
                  <a:srgbClr val="000000"/>
                </a:solidFill>
              </a:rPr>
              <a:t>obj.c</a:t>
            </a:r>
            <a:r>
              <a:rPr lang="en-US" altLang="zh-CN" sz="2200" dirty="0">
                <a:solidFill>
                  <a:srgbClr val="000000"/>
                </a:solidFill>
              </a:rPr>
              <a:t>;    b=</a:t>
            </a:r>
            <a:r>
              <a:rPr lang="en-US" altLang="zh-CN" sz="2200" dirty="0" err="1">
                <a:solidFill>
                  <a:srgbClr val="000000"/>
                </a:solidFill>
              </a:rPr>
              <a:t>obj.d</a:t>
            </a:r>
            <a:r>
              <a:rPr lang="en-US" altLang="zh-CN" sz="2200" dirty="0">
                <a:solidFill>
                  <a:srgbClr val="000000"/>
                </a:solidFill>
              </a:rPr>
              <a:t>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}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03" name="Rectangle 2"/>
          <p:cNvSpPr>
            <a:spLocks noChangeArrowheads="1"/>
          </p:cNvSpPr>
          <p:nvPr/>
        </p:nvSpPr>
        <p:spPr bwMode="auto">
          <a:xfrm>
            <a:off x="971550" y="2060575"/>
            <a:ext cx="7700963" cy="4064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indent="2667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int main()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{ 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M m(25,60);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N n(55, 66);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cout&lt;&lt;"m:";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m.Print(); 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cout&lt;&lt;"n:";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n.Print(); 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m.Setab(n);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cout&lt;&lt;"m:";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m.Print();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    return 0;</a:t>
            </a:r>
            <a:endParaRPr lang="en-US" altLang="zh-CN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}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88771" name="Text Box 3"/>
          <p:cNvSpPr txBox="1">
            <a:spLocks noChangeArrowheads="1"/>
          </p:cNvSpPr>
          <p:nvPr/>
        </p:nvSpPr>
        <p:spPr bwMode="auto">
          <a:xfrm>
            <a:off x="5940152" y="2060575"/>
            <a:ext cx="2591073" cy="15696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m:a=25 b=40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n:c=55 d=60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m:a=55 b=60</a:t>
            </a:r>
            <a:endParaRPr kumimoji="1"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5.4.2 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友元类</a:t>
            </a:r>
            <a:endParaRPr lang="zh-CN" altLang="en-US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1773238"/>
            <a:ext cx="7451725" cy="46085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友元类：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若一个类为另一个类的友元，则此类的所有成员函数都能访问对方类的私有成员。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声明语法：将友元类名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在另一个类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中使用</a:t>
            </a:r>
            <a:r>
              <a:rPr lang="en-US" altLang="zh-CN" sz="24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friend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修饰说明。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友元类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的友元类，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中的成员函数可以访问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中的私有成员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友元关系不具有传递性：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不表示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的友元类</a:t>
            </a:r>
            <a:endParaRPr lang="zh-CN" altLang="en-US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7829" name="Text Box 6"/>
          <p:cNvSpPr txBox="1">
            <a:spLocks noChangeArrowheads="1"/>
          </p:cNvSpPr>
          <p:nvPr/>
        </p:nvSpPr>
        <p:spPr bwMode="auto">
          <a:xfrm>
            <a:off x="1476375" y="3933825"/>
            <a:ext cx="7345363" cy="5032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friend   class  </a:t>
            </a:r>
            <a:r>
              <a:rPr lang="zh-CN" altLang="en-US" sz="2400">
                <a:solidFill>
                  <a:srgbClr val="000000"/>
                </a:solidFill>
              </a:rPr>
              <a:t>类名</a:t>
            </a:r>
            <a:r>
              <a:rPr lang="en-US" altLang="zh-CN" sz="2400">
                <a:solidFill>
                  <a:srgbClr val="000000"/>
                </a:solidFill>
              </a:rPr>
              <a:t>B  ;</a:t>
            </a:r>
            <a:endParaRPr lang="en-US" altLang="zh-CN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851" name="Rectangle 2"/>
          <p:cNvSpPr>
            <a:spLocks noChangeArrowheads="1"/>
          </p:cNvSpPr>
          <p:nvPr/>
        </p:nvSpPr>
        <p:spPr bwMode="auto">
          <a:xfrm>
            <a:off x="376238" y="1609725"/>
            <a:ext cx="8588375" cy="44831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indent="2667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//    </a:t>
            </a:r>
            <a:r>
              <a:rPr lang="zh-CN" altLang="en-US" sz="2400" dirty="0">
                <a:solidFill>
                  <a:srgbClr val="000000"/>
                </a:solidFill>
              </a:rPr>
              <a:t>示例</a:t>
            </a:r>
            <a:r>
              <a:rPr lang="zh-CN" altLang="en-US" sz="2400" dirty="0" smtClean="0">
                <a:solidFill>
                  <a:srgbClr val="000000"/>
                </a:solidFill>
              </a:rPr>
              <a:t>程序，</a:t>
            </a:r>
            <a:r>
              <a:rPr lang="zh-CN" altLang="en-US" sz="2400" dirty="0">
                <a:solidFill>
                  <a:srgbClr val="000000"/>
                </a:solidFill>
              </a:rPr>
              <a:t>友元类。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#include &lt;</a:t>
            </a:r>
            <a:r>
              <a:rPr lang="en-US" altLang="zh-CN" sz="2400" dirty="0" err="1">
                <a:solidFill>
                  <a:srgbClr val="000000"/>
                </a:solidFill>
              </a:rPr>
              <a:t>iostream</a:t>
            </a:r>
            <a:r>
              <a:rPr lang="en-US" altLang="zh-CN" sz="2400" dirty="0">
                <a:solidFill>
                  <a:srgbClr val="000000"/>
                </a:solidFill>
              </a:rPr>
              <a:t>&gt;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using namespace </a:t>
            </a:r>
            <a:r>
              <a:rPr lang="en-US" altLang="zh-CN" sz="2400" dirty="0" err="1">
                <a:solidFill>
                  <a:srgbClr val="000000"/>
                </a:solidFill>
              </a:rPr>
              <a:t>std</a:t>
            </a:r>
            <a:r>
              <a:rPr lang="en-US" altLang="zh-CN" sz="2400" dirty="0">
                <a:solidFill>
                  <a:srgbClr val="000000"/>
                </a:solidFill>
              </a:rPr>
              <a:t>;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class A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{ 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public: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A(){x=5;}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friend class B; 		//</a:t>
            </a:r>
            <a:r>
              <a:rPr lang="zh-CN" altLang="en-US" sz="2400" dirty="0">
                <a:solidFill>
                  <a:srgbClr val="000000"/>
                </a:solidFill>
              </a:rPr>
              <a:t>友元类的声明，</a:t>
            </a:r>
            <a:r>
              <a:rPr lang="en-US" altLang="zh-CN" sz="2400" dirty="0">
                <a:solidFill>
                  <a:srgbClr val="000000"/>
                </a:solidFill>
              </a:rPr>
              <a:t>B</a:t>
            </a:r>
            <a:r>
              <a:rPr lang="zh-CN" altLang="en-US" sz="2400" dirty="0">
                <a:solidFill>
                  <a:srgbClr val="000000"/>
                </a:solidFill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zh-CN" altLang="en-US" sz="2400" dirty="0">
                <a:solidFill>
                  <a:srgbClr val="000000"/>
                </a:solidFill>
              </a:rPr>
              <a:t>的友元类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private: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</a:rPr>
              <a:t> x;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};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44034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600" i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600" 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友元类举例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r>
              <a:rPr lang="en-US" altLang="zh-CN" sz="1200" b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1200" b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75" name="Rectangle 2"/>
          <p:cNvSpPr>
            <a:spLocks noChangeArrowheads="1"/>
          </p:cNvSpPr>
          <p:nvPr/>
        </p:nvSpPr>
        <p:spPr bwMode="auto">
          <a:xfrm>
            <a:off x="381000" y="193675"/>
            <a:ext cx="8458200" cy="6475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class B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{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public: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//</a:t>
            </a:r>
            <a:r>
              <a:rPr lang="zh-CN" altLang="en-US" sz="2200" dirty="0">
                <a:solidFill>
                  <a:srgbClr val="000000"/>
                </a:solidFill>
              </a:rPr>
              <a:t>访问私有成员</a:t>
            </a:r>
            <a:endParaRPr lang="zh-CN" altLang="en-US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000000"/>
                </a:solidFill>
              </a:rPr>
              <a:t>     </a:t>
            </a:r>
            <a:r>
              <a:rPr lang="en-US" altLang="zh-CN" sz="2200" dirty="0">
                <a:solidFill>
                  <a:srgbClr val="000000"/>
                </a:solidFill>
              </a:rPr>
              <a:t>void disp1(A </a:t>
            </a:r>
            <a:r>
              <a:rPr lang="en-US" altLang="zh-CN" sz="2200" dirty="0" err="1">
                <a:solidFill>
                  <a:srgbClr val="000000"/>
                </a:solidFill>
              </a:rPr>
              <a:t>tmp</a:t>
            </a:r>
            <a:r>
              <a:rPr lang="en-US" altLang="zh-CN" sz="2200" dirty="0">
                <a:solidFill>
                  <a:srgbClr val="000000"/>
                </a:solidFill>
              </a:rPr>
              <a:t>){</a:t>
            </a:r>
            <a:r>
              <a:rPr lang="en-US" altLang="zh-CN" sz="2200" dirty="0" err="1">
                <a:solidFill>
                  <a:srgbClr val="000000"/>
                </a:solidFill>
              </a:rPr>
              <a:t>tmp.x</a:t>
            </a:r>
            <a:r>
              <a:rPr lang="en-US" altLang="zh-CN" sz="2200" dirty="0">
                <a:solidFill>
                  <a:srgbClr val="000000"/>
                </a:solidFill>
              </a:rPr>
              <a:t>++;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&lt;&lt;"disp1:x="&lt;&lt;</a:t>
            </a:r>
            <a:r>
              <a:rPr lang="en-US" altLang="zh-CN" sz="2200" dirty="0" err="1">
                <a:solidFill>
                  <a:srgbClr val="000000"/>
                </a:solidFill>
              </a:rPr>
              <a:t>tmp.x</a:t>
            </a:r>
            <a:r>
              <a:rPr lang="en-US" altLang="zh-CN" sz="2200" dirty="0">
                <a:solidFill>
                  <a:srgbClr val="000000"/>
                </a:solidFill>
              </a:rPr>
              <a:t>&lt;&lt;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;}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    void disp2(A </a:t>
            </a:r>
            <a:r>
              <a:rPr lang="en-US" altLang="zh-CN" sz="2200" dirty="0" err="1">
                <a:solidFill>
                  <a:srgbClr val="000000"/>
                </a:solidFill>
              </a:rPr>
              <a:t>tmp</a:t>
            </a:r>
            <a:r>
              <a:rPr lang="en-US" altLang="zh-CN" sz="2200" dirty="0">
                <a:solidFill>
                  <a:srgbClr val="000000"/>
                </a:solidFill>
              </a:rPr>
              <a:t>){</a:t>
            </a:r>
            <a:r>
              <a:rPr lang="en-US" altLang="zh-CN" sz="2200" dirty="0" err="1">
                <a:solidFill>
                  <a:srgbClr val="000000"/>
                </a:solidFill>
              </a:rPr>
              <a:t>tmp.x</a:t>
            </a:r>
            <a:r>
              <a:rPr lang="en-US" altLang="zh-CN" sz="2200" dirty="0">
                <a:solidFill>
                  <a:srgbClr val="000000"/>
                </a:solidFill>
              </a:rPr>
              <a:t>--;</a:t>
            </a:r>
            <a:r>
              <a:rPr lang="en-US" altLang="zh-CN" sz="2200" dirty="0" err="1">
                <a:solidFill>
                  <a:srgbClr val="000000"/>
                </a:solidFill>
              </a:rPr>
              <a:t>cout</a:t>
            </a:r>
            <a:r>
              <a:rPr lang="en-US" altLang="zh-CN" sz="2200" dirty="0">
                <a:solidFill>
                  <a:srgbClr val="000000"/>
                </a:solidFill>
              </a:rPr>
              <a:t>&lt;&lt;"disp2:x="&lt;&lt;</a:t>
            </a:r>
            <a:r>
              <a:rPr lang="en-US" altLang="zh-CN" sz="2200" dirty="0" err="1">
                <a:solidFill>
                  <a:srgbClr val="000000"/>
                </a:solidFill>
              </a:rPr>
              <a:t>tmp.x</a:t>
            </a:r>
            <a:r>
              <a:rPr lang="en-US" altLang="zh-CN" sz="2200" dirty="0">
                <a:solidFill>
                  <a:srgbClr val="000000"/>
                </a:solidFill>
              </a:rPr>
              <a:t>&lt;&lt;</a:t>
            </a:r>
            <a:r>
              <a:rPr lang="en-US" altLang="zh-CN" sz="2200" dirty="0" err="1">
                <a:solidFill>
                  <a:srgbClr val="000000"/>
                </a:solidFill>
              </a:rPr>
              <a:t>endl</a:t>
            </a:r>
            <a:r>
              <a:rPr lang="en-US" altLang="zh-CN" sz="2200" dirty="0">
                <a:solidFill>
                  <a:srgbClr val="000000"/>
                </a:solidFill>
              </a:rPr>
              <a:t>;}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};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 err="1">
                <a:solidFill>
                  <a:srgbClr val="000000"/>
                </a:solidFill>
              </a:rPr>
              <a:t>int</a:t>
            </a:r>
            <a:r>
              <a:rPr lang="en-US" altLang="zh-CN" sz="2200" dirty="0">
                <a:solidFill>
                  <a:srgbClr val="000000"/>
                </a:solidFill>
              </a:rPr>
              <a:t> main()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{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A obj1; B obj2;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obj2.disp1(obj1);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 obj2.disp2(obj1);  return 0;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200" dirty="0">
                <a:solidFill>
                  <a:srgbClr val="000000"/>
                </a:solidFill>
              </a:rPr>
              <a:t>}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5029200" y="3810000"/>
            <a:ext cx="2971800" cy="15696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1"/>
                </a:solidFill>
              </a:rPr>
              <a:t>运行结果：</a:t>
            </a:r>
            <a:endParaRPr kumimoji="1"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disp1:x=6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1"/>
                </a:solidFill>
              </a:rPr>
              <a:t>disp2:x=4</a:t>
            </a:r>
            <a:endParaRPr kumimoji="1"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友元关系是单向的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789756" y="2329681"/>
            <a:ext cx="7886700" cy="2251447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zh-CN" altLang="en-US" sz="2800" b="1" dirty="0" smtClean="0">
                <a:ea typeface="华文楷体" panose="02010600040101010101" pitchFamily="2" charset="-122"/>
              </a:rPr>
              <a:t>如果</a:t>
            </a:r>
            <a:r>
              <a:rPr lang="zh-CN" altLang="en-US" sz="2800" b="1" dirty="0">
                <a:ea typeface="华文楷体" panose="02010600040101010101" pitchFamily="2" charset="-122"/>
              </a:rPr>
              <a:t>声明</a:t>
            </a:r>
            <a:r>
              <a:rPr lang="en-US" altLang="zh-CN" sz="2800" b="1" dirty="0">
                <a:ea typeface="华文楷体" panose="02010600040101010101" pitchFamily="2" charset="-122"/>
              </a:rPr>
              <a:t>B</a:t>
            </a:r>
            <a:r>
              <a:rPr lang="zh-CN" altLang="en-US" sz="2800" b="1" dirty="0">
                <a:ea typeface="华文楷体" panose="02010600040101010101" pitchFamily="2" charset="-122"/>
              </a:rPr>
              <a:t>类是</a:t>
            </a:r>
            <a:r>
              <a:rPr lang="en-US" altLang="zh-CN" sz="2800" b="1" dirty="0"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ea typeface="华文楷体" panose="02010600040101010101" pitchFamily="2" charset="-122"/>
              </a:rPr>
              <a:t>类的友元，</a:t>
            </a:r>
            <a:r>
              <a:rPr lang="en-US" altLang="zh-CN" sz="2800" b="1" dirty="0">
                <a:ea typeface="华文楷体" panose="02010600040101010101" pitchFamily="2" charset="-122"/>
              </a:rPr>
              <a:t>B</a:t>
            </a:r>
            <a:r>
              <a:rPr lang="zh-CN" altLang="en-US" sz="2800" b="1" dirty="0">
                <a:ea typeface="华文楷体" panose="02010600040101010101" pitchFamily="2" charset="-122"/>
              </a:rPr>
              <a:t>类的成员函数就可以访问</a:t>
            </a:r>
            <a:r>
              <a:rPr lang="en-US" altLang="zh-CN" sz="2800" b="1" dirty="0"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ea typeface="华文楷体" panose="02010600040101010101" pitchFamily="2" charset="-122"/>
              </a:rPr>
              <a:t>类的私有和保护数据，但</a:t>
            </a:r>
            <a:r>
              <a:rPr lang="en-US" altLang="zh-CN" sz="2800" b="1" dirty="0">
                <a:ea typeface="华文楷体" panose="02010600040101010101" pitchFamily="2" charset="-122"/>
              </a:rPr>
              <a:t>A</a:t>
            </a:r>
            <a:r>
              <a:rPr lang="zh-CN" altLang="en-US" sz="2800" b="1" dirty="0">
                <a:ea typeface="华文楷体" panose="02010600040101010101" pitchFamily="2" charset="-122"/>
              </a:rPr>
              <a:t>类的成员函数却不能访问</a:t>
            </a:r>
            <a:r>
              <a:rPr lang="en-US" altLang="zh-CN" sz="2800" b="1" dirty="0">
                <a:ea typeface="华文楷体" panose="02010600040101010101" pitchFamily="2" charset="-122"/>
              </a:rPr>
              <a:t>B</a:t>
            </a:r>
            <a:r>
              <a:rPr lang="zh-CN" altLang="en-US" sz="2800" b="1" dirty="0">
                <a:ea typeface="华文楷体" panose="02010600040101010101" pitchFamily="2" charset="-122"/>
              </a:rPr>
              <a:t>类的私有、保护数据。</a:t>
            </a:r>
            <a:endParaRPr lang="zh-CN" altLang="en-US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2656" y="1772816"/>
            <a:ext cx="8583488" cy="124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buFont typeface="+mj-lt"/>
              <a:buAutoNum type="arabicPeriod" startAt="5"/>
            </a:pPr>
            <a:r>
              <a:rPr lang="en-US" altLang="zh-CN" sz="5800" b="1" dirty="0" smtClean="0">
                <a:ea typeface="华文彩云" panose="02010800040101010101" pitchFamily="2" charset="-122"/>
              </a:rPr>
              <a:t>  </a:t>
            </a:r>
            <a:r>
              <a:rPr lang="zh-CN" altLang="en-US" sz="5800" b="1" dirty="0" smtClean="0">
                <a:ea typeface="华文彩云" panose="02010800040101010101" pitchFamily="2" charset="-122"/>
              </a:rPr>
              <a:t>共享数据的保护</a:t>
            </a:r>
            <a:endParaRPr lang="zh-CN" altLang="en-US" dirty="0"/>
          </a:p>
        </p:txBody>
      </p:sp>
      <p:pic>
        <p:nvPicPr>
          <p:cNvPr id="612355" name="Picture 3" descr="BS00580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038607"/>
            <a:ext cx="2590800" cy="218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10668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5.5 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共享数据的保护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376863"/>
          </a:xfrm>
        </p:spPr>
        <p:txBody>
          <a:bodyPr/>
          <a:lstStyle/>
          <a:p>
            <a:pPr>
              <a:spcAft>
                <a:spcPct val="25000"/>
              </a:spcAft>
            </a:pP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对于既需要共享、又需要防止改变的数据应该声明为常类型（用</a:t>
            </a:r>
            <a:r>
              <a:rPr lang="en-US" altLang="zh-CN" sz="2400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const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进行修饰</a:t>
            </a:r>
            <a:r>
              <a:rPr lang="zh-CN" altLang="en-US" sz="2400" b="1" dirty="0">
                <a:ea typeface="华文楷体" panose="02010600040101010101" pitchFamily="2" charset="-122"/>
              </a:rPr>
              <a:t>）。对于不改变对象状态的成员函数应该声明为常函数。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常对象：必须进行初始化</a:t>
            </a:r>
            <a:r>
              <a:rPr lang="en-US" altLang="zh-CN" sz="2400" b="1" dirty="0">
                <a:ea typeface="华文楷体" panose="02010600040101010101" pitchFamily="2" charset="-122"/>
              </a:rPr>
              <a:t>,</a:t>
            </a:r>
            <a:r>
              <a:rPr lang="zh-CN" altLang="en-US" sz="2400" b="1" dirty="0">
                <a:ea typeface="华文楷体" panose="02010600040101010101" pitchFamily="2" charset="-122"/>
              </a:rPr>
              <a:t>不能被更新。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类名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对象名</a:t>
            </a:r>
            <a:endParaRPr lang="en-US" altLang="zh-CN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常成员：用</a:t>
            </a:r>
            <a:r>
              <a:rPr lang="en-US" altLang="zh-CN" sz="2400" b="1" dirty="0" err="1">
                <a:ea typeface="华文楷体" panose="02010600040101010101" pitchFamily="2" charset="-122"/>
              </a:rPr>
              <a:t>const</a:t>
            </a:r>
            <a:r>
              <a:rPr lang="zh-CN" altLang="en-US" sz="2400" b="1" dirty="0">
                <a:ea typeface="华文楷体" panose="02010600040101010101" pitchFamily="2" charset="-122"/>
              </a:rPr>
              <a:t>进行修饰的类成员：常数据成员和常函数成员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常引用：被引用的对象不能被更新。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marL="914400" lvl="2" indent="0">
              <a:buNone/>
            </a:pPr>
            <a:r>
              <a:rPr lang="en-US" altLang="zh-CN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类型说明符  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&amp;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引用名</a:t>
            </a:r>
            <a:endParaRPr lang="en-US" altLang="zh-CN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常数组：数组元素不能被更新</a:t>
            </a:r>
            <a:r>
              <a:rPr lang="en-US" altLang="zh-CN" sz="2400" b="1" dirty="0">
                <a:ea typeface="华文楷体" panose="02010600040101010101" pitchFamily="2" charset="-122"/>
              </a:rPr>
              <a:t>(</a:t>
            </a:r>
            <a:r>
              <a:rPr lang="zh-CN" altLang="en-US" sz="2400" b="1" dirty="0">
                <a:ea typeface="华文楷体" panose="02010600040101010101" pitchFamily="2" charset="-122"/>
              </a:rPr>
              <a:t>详见第</a:t>
            </a:r>
            <a:r>
              <a:rPr lang="en-US" altLang="zh-CN" sz="2400" b="1" dirty="0">
                <a:ea typeface="华文楷体" panose="02010600040101010101" pitchFamily="2" charset="-122"/>
              </a:rPr>
              <a:t>6</a:t>
            </a:r>
            <a:r>
              <a:rPr lang="zh-CN" altLang="en-US" sz="2400" b="1" dirty="0">
                <a:ea typeface="华文楷体" panose="02010600040101010101" pitchFamily="2" charset="-122"/>
              </a:rPr>
              <a:t>章</a:t>
            </a:r>
            <a:r>
              <a:rPr lang="en-US" altLang="zh-CN" sz="2400" b="1" dirty="0">
                <a:ea typeface="华文楷体" panose="02010600040101010101" pitchFamily="2" charset="-122"/>
              </a:rPr>
              <a:t>)</a:t>
            </a:r>
            <a:r>
              <a:rPr lang="zh-CN" altLang="en-US" sz="2400" b="1" dirty="0">
                <a:ea typeface="华文楷体" panose="02010600040101010101" pitchFamily="2" charset="-122"/>
              </a:rPr>
              <a:t>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marL="914400" lvl="2" indent="0">
              <a:buNone/>
            </a:pP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类型说明符  </a:t>
            </a:r>
            <a:r>
              <a:rPr lang="en-US" altLang="zh-CN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数组名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大小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]...</a:t>
            </a:r>
            <a:endParaRPr lang="en-US" altLang="zh-CN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常指针：指向常量的指针</a:t>
            </a:r>
            <a:r>
              <a:rPr lang="en-US" altLang="zh-CN" sz="2400" b="1" dirty="0">
                <a:ea typeface="华文楷体" panose="02010600040101010101" pitchFamily="2" charset="-122"/>
              </a:rPr>
              <a:t>(</a:t>
            </a:r>
            <a:r>
              <a:rPr lang="zh-CN" altLang="en-US" sz="2400" b="1" dirty="0">
                <a:ea typeface="华文楷体" panose="02010600040101010101" pitchFamily="2" charset="-122"/>
              </a:rPr>
              <a:t>详见第</a:t>
            </a:r>
            <a:r>
              <a:rPr lang="en-US" altLang="zh-CN" sz="2400" b="1" dirty="0">
                <a:ea typeface="华文楷体" panose="02010600040101010101" pitchFamily="2" charset="-122"/>
              </a:rPr>
              <a:t>6</a:t>
            </a:r>
            <a:r>
              <a:rPr lang="zh-CN" altLang="en-US" sz="2400" b="1" dirty="0">
                <a:ea typeface="华文楷体" panose="02010600040101010101" pitchFamily="2" charset="-122"/>
              </a:rPr>
              <a:t>章</a:t>
            </a:r>
            <a:r>
              <a:rPr lang="en-US" altLang="zh-CN" sz="2400" b="1" dirty="0">
                <a:ea typeface="华文楷体" panose="02010600040101010101" pitchFamily="2" charset="-122"/>
              </a:rPr>
              <a:t>)</a:t>
            </a:r>
            <a:r>
              <a:rPr lang="zh-CN" altLang="en-US" sz="2400" b="1" dirty="0">
                <a:ea typeface="华文楷体" panose="02010600040101010101" pitchFamily="2" charset="-122"/>
              </a:rPr>
              <a:t>。</a:t>
            </a:r>
            <a:endParaRPr lang="zh-CN" altLang="en-US" sz="2400" b="1" dirty="0">
              <a:ea typeface="华文楷体" panose="02010600040101010101" pitchFamily="2" charset="-122"/>
            </a:endParaRPr>
          </a:p>
        </p:txBody>
      </p:sp>
      <p:sp>
        <p:nvSpPr>
          <p:cNvPr id="5" name="标题 4"/>
          <p:cNvSpPr txBox="1"/>
          <p:nvPr/>
        </p:nvSpPr>
        <p:spPr>
          <a:xfrm>
            <a:off x="214313" y="0"/>
            <a:ext cx="721518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71475"/>
            <a:ext cx="8610600" cy="8969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常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类型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en-US" altLang="zh-CN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C++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中的常类型）</a:t>
            </a:r>
            <a:endParaRPr lang="zh-CN" altLang="en-US" sz="4400" b="1" dirty="0">
              <a:solidFill>
                <a:srgbClr val="FFFF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1720" y="1628800"/>
            <a:ext cx="2952750" cy="4176713"/>
          </a:xfrm>
        </p:spPr>
        <p:txBody>
          <a:bodyPr/>
          <a:lstStyle/>
          <a:p>
            <a:pPr marL="514350" indent="-514350" eaLnBrk="1" hangingPunct="1">
              <a:lnSpc>
                <a:spcPct val="110000"/>
              </a:lnSpc>
              <a:buClr>
                <a:srgbClr val="00B0F0"/>
              </a:buClr>
              <a:buSzPct val="65000"/>
              <a:buFont typeface="+mj-ea"/>
              <a:buAutoNum type="circleNumDbPlain"/>
            </a:pPr>
            <a:r>
              <a:rPr lang="zh-CN" altLang="en-US" b="1" dirty="0" smtClean="0">
                <a:ea typeface="华文楷体" panose="02010600040101010101" pitchFamily="2" charset="-122"/>
              </a:rPr>
              <a:t>一般常量</a:t>
            </a:r>
            <a:endParaRPr lang="zh-CN" altLang="en-US" b="1" dirty="0" smtClean="0"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Clr>
                <a:srgbClr val="00B0F0"/>
              </a:buClr>
              <a:buSzPct val="65000"/>
              <a:buFont typeface="+mj-ea"/>
              <a:buAutoNum type="circleNumDbPlain"/>
            </a:pPr>
            <a:r>
              <a:rPr lang="zh-CN" altLang="en-US" b="1" dirty="0" smtClean="0">
                <a:ea typeface="华文楷体" panose="02010600040101010101" pitchFamily="2" charset="-122"/>
              </a:rPr>
              <a:t>常数组</a:t>
            </a:r>
            <a:endParaRPr lang="zh-CN" altLang="en-US" b="1" dirty="0" smtClean="0"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Clr>
                <a:srgbClr val="00B0F0"/>
              </a:buClr>
              <a:buSzPct val="65000"/>
              <a:buFont typeface="+mj-ea"/>
              <a:buAutoNum type="circleNumDbPlain"/>
            </a:pPr>
            <a:r>
              <a:rPr lang="zh-CN" altLang="en-US" b="1" dirty="0" smtClean="0">
                <a:ea typeface="华文楷体" panose="02010600040101010101" pitchFamily="2" charset="-122"/>
              </a:rPr>
              <a:t>常指针</a:t>
            </a:r>
            <a:endParaRPr lang="zh-CN" altLang="en-US" b="1" dirty="0" smtClean="0"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Clr>
                <a:srgbClr val="00B0F0"/>
              </a:buClr>
              <a:buSzPct val="65000"/>
              <a:buFont typeface="+mj-ea"/>
              <a:buAutoNum type="circleNumDbPlain"/>
            </a:pPr>
            <a:r>
              <a:rPr lang="zh-CN" altLang="en-US" b="1" dirty="0" smtClean="0">
                <a:ea typeface="华文楷体" panose="02010600040101010101" pitchFamily="2" charset="-122"/>
              </a:rPr>
              <a:t>常引用</a:t>
            </a:r>
            <a:endParaRPr lang="zh-CN" altLang="en-US" b="1" dirty="0" smtClean="0"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Clr>
                <a:srgbClr val="00B0F0"/>
              </a:buClr>
              <a:buSzPct val="65000"/>
              <a:buFont typeface="+mj-ea"/>
              <a:buAutoNum type="circleNumDbPlain"/>
            </a:pPr>
            <a:r>
              <a:rPr lang="zh-CN" altLang="en-US" b="1" dirty="0" smtClean="0">
                <a:ea typeface="华文楷体" panose="02010600040101010101" pitchFamily="2" charset="-122"/>
              </a:rPr>
              <a:t>常对象</a:t>
            </a:r>
            <a:endParaRPr lang="zh-CN" altLang="en-US" b="1" dirty="0" smtClean="0"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Clr>
                <a:srgbClr val="00B0F0"/>
              </a:buClr>
              <a:buSzPct val="65000"/>
              <a:buFont typeface="+mj-ea"/>
              <a:buAutoNum type="circleNumDbPlain"/>
            </a:pPr>
            <a:r>
              <a:rPr lang="zh-CN" altLang="en-US" b="1" dirty="0" smtClean="0">
                <a:ea typeface="华文楷体" panose="02010600040101010101" pitchFamily="2" charset="-122"/>
              </a:rPr>
              <a:t>常成员函数</a:t>
            </a:r>
            <a:endParaRPr lang="zh-CN" altLang="en-US" b="1" dirty="0" smtClean="0">
              <a:ea typeface="华文楷体" panose="020106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Clr>
                <a:srgbClr val="00B0F0"/>
              </a:buClr>
              <a:buSzPct val="65000"/>
              <a:buFont typeface="+mj-ea"/>
              <a:buAutoNum type="circleNumDbPlain"/>
            </a:pPr>
            <a:r>
              <a:rPr lang="zh-CN" altLang="en-US" b="1" dirty="0" smtClean="0">
                <a:ea typeface="华文楷体" panose="02010600040101010101" pitchFamily="2" charset="-122"/>
              </a:rPr>
              <a:t>常数据成员</a:t>
            </a:r>
            <a:endParaRPr lang="zh-CN" altLang="en-US" b="1" dirty="0" smtClean="0">
              <a:ea typeface="华文楷体" panose="02010600040101010101" pitchFamily="2" charset="-122"/>
            </a:endParaRP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5436096" y="3429000"/>
            <a:ext cx="2879725" cy="1728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rgbClr val="FFFF00"/>
                </a:solidFill>
              </a:rPr>
              <a:t>常类型的对象必须进行初始化，而且不能被更新。</a:t>
            </a:r>
            <a:endParaRPr kumimoji="0" lang="en-US" altLang="zh-CN" sz="2400" dirty="0">
              <a:solidFill>
                <a:srgbClr val="FFFF00"/>
              </a:solidFill>
            </a:endParaRPr>
          </a:p>
          <a:p>
            <a:pPr algn="l" eaLnBrk="1" hangingPunct="1">
              <a:lnSpc>
                <a:spcPct val="150000"/>
              </a:lnSpc>
              <a:spcBef>
                <a:spcPct val="5000"/>
              </a:spcBef>
              <a:buClrTx/>
              <a:buSzTx/>
              <a:buFontTx/>
              <a:buNone/>
            </a:pPr>
            <a:endParaRPr kumimoji="0" lang="en-US" altLang="zh-CN" sz="2400" dirty="0">
              <a:solidFill>
                <a:srgbClr val="FFFF00"/>
              </a:solidFill>
            </a:endParaRPr>
          </a:p>
          <a:p>
            <a:pPr algn="l" eaLnBrk="1" hangingPunct="1">
              <a:lnSpc>
                <a:spcPct val="15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kumimoji="0" lang="en-US" altLang="zh-CN" sz="2400" dirty="0" err="1">
                <a:solidFill>
                  <a:srgbClr val="FFFF00"/>
                </a:solidFill>
              </a:rPr>
              <a:t>const</a:t>
            </a:r>
            <a:r>
              <a:rPr kumimoji="0" lang="zh-CN" altLang="en-US" sz="2400" dirty="0">
                <a:solidFill>
                  <a:srgbClr val="FFFF00"/>
                </a:solidFill>
              </a:rPr>
              <a:t>是一种保护数据安全的方法！</a:t>
            </a:r>
            <a:endParaRPr kumimoji="0"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457200" y="476672"/>
            <a:ext cx="86868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r>
              <a:rPr lang="zh-CN" altLang="en-US" sz="4400" b="1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常</a:t>
            </a:r>
            <a:r>
              <a:rPr lang="zh-CN" altLang="en-US" sz="4400" b="1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类型</a:t>
            </a:r>
            <a:r>
              <a:rPr lang="zh-CN" altLang="en-US" sz="4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（一般常量）</a:t>
            </a:r>
            <a:endParaRPr lang="zh-CN" altLang="en-US" sz="4400" b="1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  <a:cs typeface="+mj-cs"/>
            </a:endParaRP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889000" y="1987550"/>
            <a:ext cx="771525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kumimoji="0" lang="zh-CN" altLang="en-US" sz="2800" dirty="0" smtClean="0"/>
              <a:t>一般</a:t>
            </a:r>
            <a:r>
              <a:rPr kumimoji="0" lang="zh-CN" altLang="en-US" sz="2800" dirty="0"/>
              <a:t>常量是指简单类型的常量。这种常量在定义时，修饰符</a:t>
            </a:r>
            <a:r>
              <a:rPr kumimoji="0" lang="en-US" altLang="zh-CN" sz="2800" dirty="0" err="1"/>
              <a:t>const</a:t>
            </a:r>
            <a:r>
              <a:rPr kumimoji="0" lang="zh-CN" altLang="en-US" sz="2800" dirty="0"/>
              <a:t>可以用在类型说明符前，也可以用在类型说明符后。如：</a:t>
            </a:r>
            <a:br>
              <a:rPr kumimoji="0" lang="zh-CN" altLang="en-US" sz="2800" dirty="0"/>
            </a:br>
            <a:br>
              <a:rPr kumimoji="0" lang="zh-CN" altLang="en-US" sz="2800" dirty="0"/>
            </a:br>
            <a:r>
              <a:rPr kumimoji="0" lang="zh-CN" altLang="en-US" sz="2800" dirty="0"/>
              <a:t>　　</a:t>
            </a:r>
            <a:r>
              <a:rPr kumimoji="0" lang="en-US" altLang="zh-CN" sz="2800" dirty="0" err="1">
                <a:solidFill>
                  <a:srgbClr val="FFFF00"/>
                </a:solidFill>
              </a:rPr>
              <a:t>int</a:t>
            </a:r>
            <a:r>
              <a:rPr kumimoji="0" lang="en-US" altLang="zh-CN" sz="2800" dirty="0">
                <a:solidFill>
                  <a:srgbClr val="FFFF00"/>
                </a:solidFill>
              </a:rPr>
              <a:t> </a:t>
            </a:r>
            <a:r>
              <a:rPr kumimoji="0" lang="en-US" altLang="zh-CN" sz="2800" dirty="0" err="1">
                <a:solidFill>
                  <a:srgbClr val="FFFF00"/>
                </a:solidFill>
              </a:rPr>
              <a:t>const</a:t>
            </a:r>
            <a:r>
              <a:rPr kumimoji="0" lang="en-US" altLang="zh-CN" sz="2800" dirty="0">
                <a:solidFill>
                  <a:srgbClr val="FFFF00"/>
                </a:solidFill>
              </a:rPr>
              <a:t> x=2;</a:t>
            </a:r>
            <a:r>
              <a:rPr kumimoji="0" lang="zh-CN" altLang="en-US" sz="2800" dirty="0">
                <a:solidFill>
                  <a:srgbClr val="FFFF00"/>
                </a:solidFill>
              </a:rPr>
              <a:t>或  </a:t>
            </a:r>
            <a:r>
              <a:rPr kumimoji="0" lang="en-US" altLang="zh-CN" sz="2800" dirty="0" err="1">
                <a:solidFill>
                  <a:srgbClr val="FFFF00"/>
                </a:solidFill>
              </a:rPr>
              <a:t>const</a:t>
            </a:r>
            <a:r>
              <a:rPr kumimoji="0" lang="en-US" altLang="zh-CN" sz="2800" dirty="0">
                <a:solidFill>
                  <a:srgbClr val="FFFF00"/>
                </a:solidFill>
              </a:rPr>
              <a:t> </a:t>
            </a:r>
            <a:r>
              <a:rPr kumimoji="0" lang="en-US" altLang="zh-CN" sz="2800" dirty="0" err="1">
                <a:solidFill>
                  <a:srgbClr val="FFFF00"/>
                </a:solidFill>
              </a:rPr>
              <a:t>int</a:t>
            </a:r>
            <a:r>
              <a:rPr kumimoji="0" lang="en-US" altLang="zh-CN" sz="2800" dirty="0">
                <a:solidFill>
                  <a:srgbClr val="FFFF00"/>
                </a:solidFill>
              </a:rPr>
              <a:t> x=2;</a:t>
            </a:r>
            <a:endParaRPr kumimoji="0" lang="en-US" altLang="zh-CN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624171" y="2492896"/>
            <a:ext cx="8305800" cy="22525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kumimoji="0" lang="zh-CN" altLang="en-US" sz="2400" dirty="0"/>
              <a:t>用</a:t>
            </a:r>
            <a:r>
              <a:rPr kumimoji="0" lang="en-US" altLang="zh-CN" sz="2400" dirty="0" err="1"/>
              <a:t>const</a:t>
            </a:r>
            <a:r>
              <a:rPr kumimoji="0" lang="zh-CN" altLang="en-US" sz="2400" dirty="0"/>
              <a:t>修饰的对象叫对象常量，其格式如下：</a:t>
            </a:r>
            <a:endParaRPr kumimoji="0" lang="zh-CN" altLang="en-US" sz="2400" dirty="0"/>
          </a:p>
          <a:p>
            <a:pPr algn="just"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rgbClr val="FFFF00"/>
                </a:solidFill>
              </a:rPr>
              <a:t>类名  </a:t>
            </a:r>
            <a:r>
              <a:rPr kumimoji="0" lang="en-US" altLang="zh-CN" sz="2400" dirty="0" err="1">
                <a:solidFill>
                  <a:srgbClr val="FFFF00"/>
                </a:solidFill>
              </a:rPr>
              <a:t>const</a:t>
            </a:r>
            <a:r>
              <a:rPr kumimoji="0" lang="en-US" altLang="zh-CN" sz="2400" dirty="0">
                <a:solidFill>
                  <a:srgbClr val="FFFF00"/>
                </a:solidFill>
              </a:rPr>
              <a:t> </a:t>
            </a:r>
            <a:r>
              <a:rPr kumimoji="0" lang="zh-CN" altLang="en-US" sz="2400" dirty="0">
                <a:solidFill>
                  <a:srgbClr val="FFFF00"/>
                </a:solidFill>
              </a:rPr>
              <a:t>对象名     或者    </a:t>
            </a:r>
            <a:r>
              <a:rPr kumimoji="0" lang="en-US" altLang="zh-CN" sz="2400" dirty="0" err="1">
                <a:solidFill>
                  <a:srgbClr val="FFFF00"/>
                </a:solidFill>
              </a:rPr>
              <a:t>const</a:t>
            </a:r>
            <a:r>
              <a:rPr kumimoji="0" lang="en-US" altLang="zh-CN" sz="2400" dirty="0">
                <a:solidFill>
                  <a:srgbClr val="FFFF00"/>
                </a:solidFill>
              </a:rPr>
              <a:t>  </a:t>
            </a:r>
            <a:r>
              <a:rPr kumimoji="0" lang="zh-CN" altLang="en-US" sz="2400" dirty="0">
                <a:solidFill>
                  <a:srgbClr val="FFFF00"/>
                </a:solidFill>
              </a:rPr>
              <a:t>类名  对象名</a:t>
            </a:r>
            <a:endParaRPr kumimoji="0" lang="zh-CN" altLang="en-US" sz="2400" dirty="0">
              <a:solidFill>
                <a:srgbClr val="FFFF00"/>
              </a:solidFill>
            </a:endParaRPr>
          </a:p>
          <a:p>
            <a:pPr algn="just" eaLnBrk="1" hangingPunct="1">
              <a:lnSpc>
                <a:spcPct val="150000"/>
              </a:lnSpc>
              <a:buClrTx/>
              <a:buSzTx/>
              <a:buFontTx/>
              <a:buNone/>
            </a:pPr>
            <a:r>
              <a:rPr kumimoji="0" lang="zh-CN" altLang="en-US" sz="2400" dirty="0"/>
              <a:t>声明为</a:t>
            </a:r>
            <a:r>
              <a:rPr kumimoji="0" lang="zh-CN" altLang="en-US" sz="2400" u="sng" dirty="0">
                <a:solidFill>
                  <a:srgbClr val="FFFF00"/>
                </a:solidFill>
              </a:rPr>
              <a:t>常对象</a:t>
            </a:r>
            <a:r>
              <a:rPr kumimoji="0" lang="zh-CN" altLang="en-US" sz="2400" dirty="0"/>
              <a:t>的同时</a:t>
            </a:r>
            <a:r>
              <a:rPr kumimoji="0" lang="zh-CN" altLang="en-US" sz="2400" u="sng" dirty="0">
                <a:solidFill>
                  <a:srgbClr val="FFFF00"/>
                </a:solidFill>
              </a:rPr>
              <a:t>必须被初始化</a:t>
            </a:r>
            <a:r>
              <a:rPr kumimoji="0" lang="zh-CN" altLang="en-US" sz="2400" dirty="0">
                <a:solidFill>
                  <a:srgbClr val="FFFF00"/>
                </a:solidFill>
              </a:rPr>
              <a:t>，</a:t>
            </a:r>
            <a:r>
              <a:rPr kumimoji="0" lang="zh-CN" altLang="en-US" sz="2400" u="sng" dirty="0">
                <a:solidFill>
                  <a:srgbClr val="FFFF00"/>
                </a:solidFill>
              </a:rPr>
              <a:t>并从此不能改写对象的数据</a:t>
            </a:r>
            <a:r>
              <a:rPr kumimoji="0" lang="zh-CN" altLang="en-US" sz="2400" u="sng" dirty="0" smtClean="0">
                <a:solidFill>
                  <a:srgbClr val="FFFF00"/>
                </a:solidFill>
              </a:rPr>
              <a:t>成员，即使是其成员函数修改也不行。</a:t>
            </a:r>
            <a:endParaRPr kumimoji="0" lang="zh-CN" altLang="en-US" sz="2400" u="sng" dirty="0">
              <a:solidFill>
                <a:srgbClr val="FFFF00"/>
              </a:solidFill>
            </a:endParaRP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433671" y="195263"/>
            <a:ext cx="86868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44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5.5.1 </a:t>
            </a:r>
            <a:r>
              <a:rPr lang="zh-CN" altLang="en-US" sz="4400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常对象</a:t>
            </a:r>
            <a:endParaRPr lang="zh-CN" altLang="en-US" sz="32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5.5.1 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常对象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416320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A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public: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A(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i,int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j) {x=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 y=j;}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...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private: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x,y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a(3,4); 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//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是常对象，不能被更新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313" y="1340768"/>
            <a:ext cx="3959225" cy="673518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50000"/>
              </a:lnSpc>
              <a:spcBef>
                <a:spcPct val="20000"/>
              </a:spcBef>
              <a:spcAft>
                <a:spcPct val="2500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2800" b="1">
                <a:latin typeface="+mn-lt"/>
                <a:ea typeface="华文楷体" panose="02010600040101010101" pitchFamily="2" charset="-122"/>
              </a:defRPr>
            </a:lvl1pPr>
            <a:lvl2pPr marL="742950" lvl="1" indent="-285750" algn="l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ü"/>
              <a:defRPr sz="2800" b="1">
                <a:latin typeface="+mn-lt"/>
                <a:ea typeface="华文楷体" panose="0201060004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62000"/>
              <a:buFont typeface="Monotype Sorts" pitchFamily="2" charset="2"/>
              <a:buChar char="u"/>
              <a:defRPr>
                <a:latin typeface="+mn-lt"/>
                <a:ea typeface="+mn-ea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SzPct val="62000"/>
              <a:buFont typeface="Monotype Sorts" pitchFamily="2" charset="2"/>
              <a:buChar char="u"/>
              <a:defRPr sz="2000">
                <a:latin typeface="+mn-lt"/>
                <a:ea typeface="+mn-ea"/>
              </a:defRPr>
            </a:lvl4pPr>
            <a:lvl5pPr marL="2057400" indent="-228600" algn="l">
              <a:spcBef>
                <a:spcPct val="20000"/>
              </a:spcBef>
              <a:buClr>
                <a:schemeClr val="tx2"/>
              </a:buClr>
              <a:buSzPct val="62000"/>
              <a:buFont typeface="Monotype Sorts" pitchFamily="2" charset="2"/>
              <a:buChar char="u"/>
              <a:defRPr sz="2000"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常对象举例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5756066"/>
            <a:ext cx="8207375" cy="673518"/>
          </a:xfrm>
          <a:prstGeom prst="rect">
            <a:avLst/>
          </a:prstGeom>
        </p:spPr>
        <p:txBody>
          <a:bodyPr/>
          <a:lstStyle>
            <a:lvl1pPr marL="342900" indent="-342900" algn="l">
              <a:lnSpc>
                <a:spcPct val="150000"/>
              </a:lnSpc>
              <a:spcBef>
                <a:spcPct val="20000"/>
              </a:spcBef>
              <a:spcAft>
                <a:spcPct val="2500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2800" b="1">
                <a:latin typeface="+mn-lt"/>
                <a:ea typeface="华文楷体" panose="02010600040101010101" pitchFamily="2" charset="-122"/>
              </a:defRPr>
            </a:lvl1pPr>
            <a:lvl2pPr marL="742950" lvl="1" indent="-285750" algn="l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ü"/>
              <a:defRPr sz="2800" b="1">
                <a:latin typeface="+mn-lt"/>
                <a:ea typeface="华文楷体" panose="0201060004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tx2"/>
              </a:buClr>
              <a:buSzPct val="62000"/>
              <a:buFont typeface="Monotype Sorts" pitchFamily="2" charset="2"/>
              <a:buChar char="u"/>
              <a:defRPr>
                <a:latin typeface="+mn-lt"/>
                <a:ea typeface="+mn-ea"/>
              </a:defRPr>
            </a:lvl3pPr>
            <a:lvl4pPr marL="1600200" indent="-228600" algn="l">
              <a:spcBef>
                <a:spcPct val="20000"/>
              </a:spcBef>
              <a:buClr>
                <a:schemeClr val="tx1"/>
              </a:buClr>
              <a:buSzPct val="62000"/>
              <a:buFont typeface="Monotype Sorts" pitchFamily="2" charset="2"/>
              <a:buChar char="u"/>
              <a:defRPr sz="2000">
                <a:latin typeface="+mn-lt"/>
                <a:ea typeface="+mn-ea"/>
              </a:defRPr>
            </a:lvl4pPr>
            <a:lvl5pPr marL="2057400" indent="-228600" algn="l">
              <a:spcBef>
                <a:spcPct val="20000"/>
              </a:spcBef>
              <a:buClr>
                <a:schemeClr val="tx2"/>
              </a:buClr>
              <a:buSzPct val="62000"/>
              <a:buFont typeface="Monotype Sorts" pitchFamily="2" charset="2"/>
              <a:buChar char="u"/>
              <a:defRPr sz="2000"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FF00"/>
                </a:solidFill>
              </a:rPr>
              <a:t>思考：哪些操作有试图改变常对象状态的危险？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5.5.2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用</a:t>
            </a:r>
            <a:r>
              <a:rPr lang="en-US" altLang="zh-CN" sz="4400" b="1" dirty="0" err="1">
                <a:latin typeface="Times New Roman" panose="02020603050405020304" pitchFamily="18" charset="0"/>
                <a:ea typeface="隶书" panose="02010509060101010101" pitchFamily="49" charset="-122"/>
              </a:rPr>
              <a:t>const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修饰的对象成员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827584" y="2204864"/>
            <a:ext cx="7886700" cy="2664296"/>
          </a:xfrm>
        </p:spPr>
        <p:txBody>
          <a:bodyPr/>
          <a:lstStyle/>
          <a:p>
            <a:pPr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常成员函数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使用</a:t>
            </a:r>
            <a:r>
              <a:rPr lang="en-US" altLang="zh-CN" sz="2400" b="1" dirty="0" err="1">
                <a:ea typeface="华文楷体" panose="02010600040101010101" pitchFamily="2" charset="-122"/>
              </a:rPr>
              <a:t>const</a:t>
            </a:r>
            <a:r>
              <a:rPr lang="zh-CN" altLang="en-US" sz="2400" b="1" dirty="0">
                <a:ea typeface="华文楷体" panose="02010600040101010101" pitchFamily="2" charset="-122"/>
              </a:rPr>
              <a:t>关键字说明的函数。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spcAft>
                <a:spcPct val="25000"/>
              </a:spcAft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通过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常对象只能调用它的常成员函数。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常数据成员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使用</a:t>
            </a:r>
            <a:r>
              <a:rPr lang="en-US" altLang="zh-CN" sz="2400" b="1" dirty="0" err="1">
                <a:ea typeface="华文楷体" panose="02010600040101010101" pitchFamily="2" charset="-122"/>
              </a:rPr>
              <a:t>const</a:t>
            </a:r>
            <a:r>
              <a:rPr lang="zh-CN" altLang="en-US" sz="2400" b="1" dirty="0">
                <a:ea typeface="华文楷体" panose="02010600040101010101" pitchFamily="2" charset="-122"/>
              </a:rPr>
              <a:t>说明的数据成员。</a:t>
            </a:r>
            <a:endParaRPr lang="zh-CN" altLang="en-US" sz="24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7584" y="1493838"/>
            <a:ext cx="76200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sz="27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常成员函数</a:t>
            </a:r>
            <a:endParaRPr lang="zh-CN" altLang="en-US" sz="2700" b="1" dirty="0" smtClean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71550" lvl="1" indent="-514350" eaLnBrk="1" hangingPunct="1">
              <a:buClr>
                <a:schemeClr val="hlink"/>
              </a:buClr>
              <a:buFont typeface="+mj-ea"/>
              <a:buAutoNum type="circleNumDbPlain"/>
            </a:pPr>
            <a: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使用</a:t>
            </a:r>
            <a:r>
              <a:rPr lang="en-US" altLang="zh-CN" sz="27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关键字说明的函数。</a:t>
            </a:r>
            <a:endParaRPr lang="zh-CN" altLang="en-US" sz="27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33450" lvl="1" indent="-476250" eaLnBrk="1" hangingPunct="1"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7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常成员函数不更新对象的数据成员。</a:t>
            </a:r>
            <a:endParaRPr lang="zh-CN" altLang="en-US" sz="2700" b="1" u="sng" dirty="0" smtClean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33450" lvl="1" indent="-476250" eaLnBrk="1" hangingPunct="1"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常成员函数说明格式：</a:t>
            </a:r>
            <a:b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zh-CN" altLang="en-US" sz="27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类型说明符  函数名（参数表）</a:t>
            </a:r>
            <a:r>
              <a:rPr lang="en-US" altLang="zh-CN" sz="2700" b="1" dirty="0" err="1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en-US" altLang="zh-CN" sz="27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br>
              <a:rPr lang="en-US" altLang="zh-CN" sz="27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</a:br>
            <a: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这里，</a:t>
            </a:r>
            <a:r>
              <a:rPr lang="en-US" altLang="zh-CN" sz="27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是函数类型的一个组成部分，因此在实现部分也要带</a:t>
            </a:r>
            <a:r>
              <a:rPr lang="en-US" altLang="zh-CN" sz="27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关键字。</a:t>
            </a:r>
            <a:endParaRPr lang="zh-CN" altLang="en-US" sz="27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933450" lvl="1" indent="-476250" eaLnBrk="1" hangingPunct="1">
              <a:buClr>
                <a:schemeClr val="hlink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700" b="1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lang="zh-CN" altLang="en-US" sz="27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关键字可以被用于参与对重载函数的区分</a:t>
            </a:r>
            <a:endParaRPr lang="zh-CN" altLang="en-US" sz="29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552450" indent="-552450" eaLnBrk="1" hangingPunct="1"/>
            <a:r>
              <a:rPr lang="zh-CN" altLang="en-US" sz="2700" b="1" u="sng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常对象的唯一接口：通过常对象，只能调用它的常成员函数。</a:t>
            </a:r>
            <a:endParaRPr lang="zh-CN" altLang="en-US" sz="2700" b="1" u="sng" dirty="0" smtClean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57200" y="620713"/>
            <a:ext cx="86868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r>
              <a:rPr lang="zh-CN" altLang="en-US" sz="4400" b="1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常</a:t>
            </a:r>
            <a:r>
              <a:rPr lang="zh-CN" altLang="en-US" sz="4400" b="1" i="1" dirty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类型</a:t>
            </a:r>
            <a:r>
              <a:rPr lang="zh-CN" altLang="en-US" sz="4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（常成员函数）</a:t>
            </a:r>
            <a:endParaRPr lang="zh-CN" altLang="en-US" sz="4400" b="1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  <a:cs typeface="+mj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例</a:t>
            </a:r>
            <a:r>
              <a:rPr lang="en-US" altLang="zh-CN" b="1" dirty="0" smtClean="0"/>
              <a:t>5-7  </a:t>
            </a:r>
            <a:r>
              <a:rPr lang="zh-CN" altLang="en-US" b="1" dirty="0" smtClean="0"/>
              <a:t>常成员函数举例</a:t>
            </a:r>
            <a:endParaRPr lang="zh-CN" altLang="en-US" b="1" dirty="0" smtClean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785652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include&lt;iostream&gt;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std;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R {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R(int r1, int r2) : r1(r1), r2(r2) { }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void print();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void print() const;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int r1, r2;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5-7</a:t>
            </a:r>
            <a:r>
              <a:rPr lang="zh-CN" altLang="en-US" smtClean="0"/>
              <a:t>（续）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484784"/>
            <a:ext cx="7886700" cy="4893647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R::print()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r1 &lt;&lt; ":" &lt;&lt; r2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R::print() const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r1 &lt;&lt; ";" &lt;&lt; r2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main()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R a(5,4);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a.print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 //</a:t>
            </a:r>
            <a:r>
              <a:rPr kumimoji="0"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调用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print()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 R b(20,52);  </a:t>
            </a:r>
            <a:endParaRPr kumimoji="0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b.print</a:t>
            </a:r>
            <a:r>
              <a:rPr kumimoji="0" lang="en-US" altLang="zh-CN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 //</a:t>
            </a:r>
            <a:r>
              <a:rPr kumimoji="0" lang="zh-CN" altLang="zh-CN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调用</a:t>
            </a:r>
            <a:r>
              <a:rPr kumimoji="0" lang="en-US" altLang="zh-CN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print() const</a:t>
            </a:r>
            <a:endParaRPr kumimoji="0" lang="en-US" altLang="zh-CN" sz="2400" b="1" dirty="0">
              <a:solidFill>
                <a:srgbClr val="3030C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0182" name="TextBox 5"/>
          <p:cNvSpPr txBox="1">
            <a:spLocks noChangeArrowheads="1"/>
          </p:cNvSpPr>
          <p:nvPr/>
        </p:nvSpPr>
        <p:spPr bwMode="auto">
          <a:xfrm>
            <a:off x="7143750" y="1785938"/>
            <a:ext cx="1571625" cy="1200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/>
            <a:r>
              <a:rPr lang="zh-CN" altLang="en-US" b="1" dirty="0">
                <a:latin typeface="+mn-lt"/>
                <a:ea typeface="华文楷体" panose="02010600040101010101" pitchFamily="2" charset="-122"/>
              </a:rPr>
              <a:t>运行结果：</a:t>
            </a:r>
            <a:endParaRPr lang="en-US" altLang="zh-CN" b="1" dirty="0">
              <a:latin typeface="+mn-lt"/>
              <a:ea typeface="华文楷体" panose="02010600040101010101" pitchFamily="2" charset="-122"/>
            </a:endParaRPr>
          </a:p>
          <a:p>
            <a:pPr algn="l" eaLnBrk="1" hangingPunct="1"/>
            <a:r>
              <a:rPr lang="en-US" altLang="zh-CN" b="1" dirty="0">
                <a:latin typeface="+mn-lt"/>
                <a:ea typeface="华文楷体" panose="02010600040101010101" pitchFamily="2" charset="-122"/>
              </a:rPr>
              <a:t>5:4</a:t>
            </a:r>
            <a:endParaRPr lang="zh-CN" altLang="en-US" b="1" dirty="0">
              <a:latin typeface="+mn-lt"/>
              <a:ea typeface="华文楷体" panose="02010600040101010101" pitchFamily="2" charset="-122"/>
            </a:endParaRPr>
          </a:p>
          <a:p>
            <a:pPr algn="l" eaLnBrk="1" hangingPunct="1"/>
            <a:r>
              <a:rPr lang="en-US" altLang="zh-CN" b="1" dirty="0">
                <a:latin typeface="+mn-lt"/>
                <a:ea typeface="华文楷体" panose="02010600040101010101" pitchFamily="2" charset="-122"/>
              </a:rPr>
              <a:t>20;52</a:t>
            </a:r>
            <a:endParaRPr lang="zh-CN" altLang="en-US" b="1" dirty="0">
              <a:latin typeface="+mn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680967" y="2574911"/>
            <a:ext cx="8153400" cy="16985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/>
              <a:t>如果在一个类中说明了常数据成员，那么任何函数中都不能对该成员赋值。</a:t>
            </a:r>
            <a:r>
              <a:rPr lang="zh-CN" altLang="en-US" sz="2400" dirty="0">
                <a:solidFill>
                  <a:srgbClr val="FFFF00"/>
                </a:solidFill>
              </a:rPr>
              <a:t>构造函数对该成员进行初始化，就只能通过初始化列表。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40965" name="Rectangle 6"/>
          <p:cNvSpPr>
            <a:spLocks noChangeArrowheads="1"/>
          </p:cNvSpPr>
          <p:nvPr/>
        </p:nvSpPr>
        <p:spPr bwMode="auto">
          <a:xfrm>
            <a:off x="684213" y="620713"/>
            <a:ext cx="86868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2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华文行楷" panose="02010800040101010101" pitchFamily="2" charset="-122"/>
              </a:rPr>
              <a:t>常类型</a:t>
            </a:r>
            <a:r>
              <a:rPr lang="zh-CN" altLang="en-US" sz="32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anose="02010800040101010101" pitchFamily="2" charset="-122"/>
              </a:rPr>
              <a:t>（常数据成员）</a:t>
            </a:r>
            <a:endParaRPr lang="zh-CN" altLang="en-US" sz="32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例</a:t>
            </a:r>
            <a:r>
              <a:rPr lang="en-US" altLang="zh-CN" b="1" dirty="0" smtClean="0"/>
              <a:t>5-8  </a:t>
            </a:r>
            <a:r>
              <a:rPr lang="zh-CN" altLang="en-US" b="1" dirty="0" smtClean="0"/>
              <a:t>常数据成员举例</a:t>
            </a:r>
            <a:endParaRPr lang="zh-CN" altLang="en-US" b="1" dirty="0" smtClean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785652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std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A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A(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void print();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a;</a:t>
            </a:r>
            <a:endParaRPr kumimoji="0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static </a:t>
            </a:r>
            <a:r>
              <a:rPr kumimoji="0" lang="en-US" altLang="zh-CN" sz="2400" b="1" dirty="0" err="1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</a:t>
            </a:r>
            <a:r>
              <a:rPr kumimoji="0" lang="en-US" altLang="zh-CN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b;  //</a:t>
            </a:r>
            <a:r>
              <a:rPr kumimoji="0" lang="zh-CN" altLang="en-US" sz="2400" b="1" dirty="0">
                <a:solidFill>
                  <a:srgbClr val="3030C7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静态常数据成员</a:t>
            </a:r>
            <a:endParaRPr kumimoji="0" lang="zh-CN" altLang="en-US" sz="2400" b="1" dirty="0">
              <a:solidFill>
                <a:srgbClr val="3030C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5-8</a:t>
            </a:r>
            <a:r>
              <a:rPr lang="zh-CN" altLang="en-US" smtClean="0"/>
              <a:t>（续）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294984"/>
            <a:ext cx="7886700" cy="5262979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A::b=10; 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A::A(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: a(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{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A::print()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a &lt;&lt; ":" &lt;&lt; b &lt;&lt;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main()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/*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建立对象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，并以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100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作为初值，分别调用构造函数，通过构造函数的初始化列表给对象的常数据成员赋初值*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A a1(100), a2(0);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a1.print();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a2.print();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2230" name="TextBox 5"/>
          <p:cNvSpPr txBox="1">
            <a:spLocks noChangeArrowheads="1"/>
          </p:cNvSpPr>
          <p:nvPr/>
        </p:nvSpPr>
        <p:spPr bwMode="auto">
          <a:xfrm>
            <a:off x="7143750" y="5357813"/>
            <a:ext cx="1571625" cy="1200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 algn="l" eaLnBrk="1" hangingPunct="1">
              <a:defRPr b="1">
                <a:latin typeface="+mn-lt"/>
                <a:ea typeface="华文楷体" panose="02010600040101010101" pitchFamily="2" charset="-122"/>
              </a:defRPr>
            </a:lvl1pPr>
            <a:lvl2pPr marL="742950" indent="-285750" eaLnBrk="0" hangingPunct="0">
              <a:defRPr>
                <a:ea typeface="隶书" panose="02010509060101010101" pitchFamily="49" charset="-122"/>
              </a:defRPr>
            </a:lvl2pPr>
            <a:lvl3pPr marL="1143000" indent="-228600" eaLnBrk="0" hangingPunct="0">
              <a:defRPr>
                <a:ea typeface="隶书" panose="02010509060101010101" pitchFamily="49" charset="-122"/>
              </a:defRPr>
            </a:lvl3pPr>
            <a:lvl4pPr marL="1600200" indent="-228600" eaLnBrk="0" hangingPunct="0">
              <a:defRPr>
                <a:ea typeface="隶书" panose="02010509060101010101" pitchFamily="49" charset="-122"/>
              </a:defRPr>
            </a:lvl4pPr>
            <a:lvl5pPr marL="2057400" indent="-228600" eaLnBrk="0" hangingPunct="0">
              <a:defRPr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ea typeface="隶书" panose="02010509060101010101" pitchFamily="49" charset="-122"/>
              </a:defRPr>
            </a:lvl9pPr>
          </a:lstStyle>
          <a:p>
            <a:r>
              <a:rPr lang="zh-CN" altLang="en-US" dirty="0"/>
              <a:t>运行结果：</a:t>
            </a:r>
            <a:endParaRPr lang="en-US" altLang="zh-CN" dirty="0"/>
          </a:p>
          <a:p>
            <a:r>
              <a:rPr lang="en-US" altLang="zh-CN" dirty="0"/>
              <a:t>100:10</a:t>
            </a:r>
            <a:endParaRPr lang="zh-CN" altLang="en-US" dirty="0"/>
          </a:p>
          <a:p>
            <a:r>
              <a:rPr lang="en-US" altLang="zh-CN" dirty="0"/>
              <a:t>0:10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684213" y="1628800"/>
            <a:ext cx="8153400" cy="477053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zh-CN" altLang="en-US" sz="2400" dirty="0" smtClean="0"/>
              <a:t>怎么理解常对象、常成员函数和常数据成员？</a:t>
            </a:r>
            <a:endParaRPr lang="en-US" altLang="zh-CN" sz="2400" dirty="0" smtClean="0"/>
          </a:p>
          <a:p>
            <a:pPr marL="457200" indent="-457200" algn="just" eaLnBrk="1" hangingPunct="1">
              <a:spcBef>
                <a:spcPct val="50000"/>
              </a:spcBef>
              <a:spcAft>
                <a:spcPts val="1200"/>
              </a:spcAft>
              <a:buClrTx/>
              <a:buSzTx/>
              <a:buFont typeface="+mj-ea"/>
              <a:buAutoNum type="circleNumDbPlain"/>
            </a:pPr>
            <a:r>
              <a:rPr lang="zh-CN" altLang="en-US" sz="2400" dirty="0" smtClean="0">
                <a:solidFill>
                  <a:srgbClr val="FFFF00"/>
                </a:solidFill>
              </a:rPr>
              <a:t>凡是希望</a:t>
            </a:r>
            <a:r>
              <a:rPr lang="zh-CN" altLang="en-US" sz="2400" dirty="0">
                <a:solidFill>
                  <a:srgbClr val="FFFF00"/>
                </a:solidFill>
              </a:rPr>
              <a:t>保证数据成员不被改变的对象，可以声明为常对象</a:t>
            </a:r>
            <a:r>
              <a:rPr lang="zh-CN" altLang="en-US" sz="2400" dirty="0" smtClean="0">
                <a:solidFill>
                  <a:srgbClr val="FFFF00"/>
                </a:solidFill>
              </a:rPr>
              <a:t>。</a:t>
            </a:r>
            <a:endParaRPr lang="en-US" altLang="zh-CN" sz="2400" dirty="0" smtClean="0">
              <a:solidFill>
                <a:srgbClr val="FFFF00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spcAft>
                <a:spcPts val="1200"/>
              </a:spcAft>
              <a:buClrTx/>
              <a:buSzTx/>
              <a:buFont typeface="+mj-ea"/>
              <a:buAutoNum type="circleNumDbPlain"/>
            </a:pPr>
            <a:r>
              <a:rPr lang="zh-CN" altLang="en-US" sz="2400" dirty="0">
                <a:solidFill>
                  <a:srgbClr val="FFFF00"/>
                </a:solidFill>
              </a:rPr>
              <a:t>常</a:t>
            </a:r>
            <a:r>
              <a:rPr lang="zh-CN" altLang="en-US" sz="2400" dirty="0" smtClean="0">
                <a:solidFill>
                  <a:srgbClr val="FFFF00"/>
                </a:solidFill>
              </a:rPr>
              <a:t>对象</a:t>
            </a:r>
            <a:r>
              <a:rPr lang="zh-CN" altLang="en-US" sz="2400" dirty="0">
                <a:solidFill>
                  <a:srgbClr val="FFFF00"/>
                </a:solidFill>
              </a:rPr>
              <a:t>只能访问其常成员函数，常成员函数是常对象对外唯一接口</a:t>
            </a:r>
            <a:r>
              <a:rPr lang="en-US" altLang="zh-CN" sz="2400" dirty="0">
                <a:solidFill>
                  <a:srgbClr val="FFFF00"/>
                </a:solidFill>
              </a:rPr>
              <a:t>.</a:t>
            </a:r>
            <a:endParaRPr lang="en-US" altLang="zh-CN" sz="2400" dirty="0">
              <a:solidFill>
                <a:srgbClr val="FFFF00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spcAft>
                <a:spcPts val="1200"/>
              </a:spcAft>
              <a:buClrTx/>
              <a:buSzTx/>
              <a:buFont typeface="+mj-ea"/>
              <a:buAutoNum type="circleNumDbPlain"/>
            </a:pPr>
            <a:r>
              <a:rPr lang="zh-CN" altLang="en-US" sz="2400" dirty="0">
                <a:solidFill>
                  <a:srgbClr val="FFFF00"/>
                </a:solidFill>
              </a:rPr>
              <a:t>常成员函数可以访问常对象中的数据成员，但仍然不允许修改常对象中数据成员的值</a:t>
            </a:r>
            <a:r>
              <a:rPr lang="zh-CN" altLang="en-US" sz="2400" dirty="0" smtClean="0">
                <a:solidFill>
                  <a:srgbClr val="FFFF00"/>
                </a:solidFill>
              </a:rPr>
              <a:t>。</a:t>
            </a:r>
            <a:endParaRPr lang="en-US" altLang="zh-CN" sz="2400" dirty="0" smtClean="0">
              <a:solidFill>
                <a:srgbClr val="FFFF00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spcAft>
                <a:spcPts val="1200"/>
              </a:spcAft>
              <a:buClrTx/>
              <a:buSzTx/>
              <a:buFont typeface="+mj-ea"/>
              <a:buAutoNum type="circleNumDbPlain"/>
            </a:pPr>
            <a:r>
              <a:rPr lang="zh-CN" altLang="en-US" sz="2400" dirty="0" smtClean="0">
                <a:solidFill>
                  <a:srgbClr val="FFFF00"/>
                </a:solidFill>
              </a:rPr>
              <a:t>常数据成员的用法和作用和一般常量类似</a:t>
            </a:r>
            <a:r>
              <a:rPr lang="zh-CN" altLang="en-US" sz="2400" dirty="0">
                <a:solidFill>
                  <a:srgbClr val="FFFF00"/>
                </a:solidFill>
              </a:rPr>
              <a:t>，但是只能通过构造函数的参数初始化表对常数据成员进行初始化</a:t>
            </a:r>
            <a:r>
              <a:rPr lang="zh-CN" altLang="en-US" sz="2400" b="0" dirty="0"/>
              <a:t>。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  <p:sp>
        <p:nvSpPr>
          <p:cNvPr id="40965" name="Rectangle 6"/>
          <p:cNvSpPr>
            <a:spLocks noChangeArrowheads="1"/>
          </p:cNvSpPr>
          <p:nvPr/>
        </p:nvSpPr>
        <p:spPr bwMode="auto">
          <a:xfrm>
            <a:off x="684213" y="332656"/>
            <a:ext cx="8686800" cy="87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2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华文行楷" panose="02010800040101010101" pitchFamily="2" charset="-122"/>
              </a:rPr>
              <a:t>常类型</a:t>
            </a:r>
            <a:endParaRPr lang="en-US" altLang="zh-CN" sz="3200" i="1" dirty="0" smtClean="0">
              <a:effectLst>
                <a:outerShdw blurRad="38100" dist="38100" dir="2700000" algn="tl">
                  <a:srgbClr val="000000"/>
                </a:outerShdw>
              </a:effectLst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2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anose="02010800040101010101" pitchFamily="2" charset="-122"/>
              </a:rPr>
              <a:t>（常对象、常成员函数、常数</a:t>
            </a:r>
            <a:r>
              <a:rPr lang="zh-CN" altLang="en-US" sz="32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行楷" panose="02010800040101010101" pitchFamily="2" charset="-122"/>
              </a:rPr>
              <a:t>据成员）</a:t>
            </a:r>
            <a:endParaRPr lang="zh-CN" altLang="en-US" sz="32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b="1" dirty="0" smtClean="0"/>
              <a:t>5.5.3 </a:t>
            </a:r>
            <a:r>
              <a:rPr lang="zh-CN" altLang="en-US" b="1" dirty="0" smtClean="0"/>
              <a:t>常引用</a:t>
            </a:r>
            <a:endParaRPr lang="zh-CN" altLang="en-US" b="1" dirty="0" smtClean="0"/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683568" y="1484784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如果在声明引用时用</a:t>
            </a:r>
            <a:r>
              <a:rPr lang="en-US" altLang="zh-CN" sz="2800" b="1" dirty="0" err="1">
                <a:ea typeface="华文楷体" panose="02010600040101010101" pitchFamily="2" charset="-122"/>
              </a:rPr>
              <a:t>const</a:t>
            </a:r>
            <a:r>
              <a:rPr lang="zh-CN" altLang="en-US" sz="2800" b="1" dirty="0">
                <a:ea typeface="华文楷体" panose="02010600040101010101" pitchFamily="2" charset="-122"/>
              </a:rPr>
              <a:t>修饰，被声明的引用就是常引用。</a:t>
            </a:r>
            <a:endParaRPr lang="en-US" altLang="zh-CN" sz="28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常引用所引用的对象不能被更新。</a:t>
            </a:r>
            <a:endParaRPr lang="en-US" altLang="zh-CN" sz="28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如果用常引用做形参，便不会意外地发生对实参的更改。常引用的声明形式如下：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en-US" altLang="zh-CN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类型说明符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  &amp;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引用名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;</a:t>
            </a:r>
            <a:endParaRPr lang="zh-CN" altLang="en-US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endParaRPr lang="zh-CN" altLang="en-US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5-9  </a:t>
            </a:r>
            <a:r>
              <a:rPr lang="zh-CN" altLang="en-US" smtClean="0"/>
              <a:t>常引用作形参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484784"/>
            <a:ext cx="7886700" cy="4893647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cmath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std;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Point {	//Point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类定义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外部接口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 = 0,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y = 0)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: x(x), y(y) {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x;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 return y;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friend float dist(const Point &amp;p1, const Point &amp;p2);</a:t>
            </a:r>
            <a:endParaRPr kumimoji="0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私有数据成员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x, y;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</a:t>
            </a:r>
            <a:r>
              <a:rPr lang="en-US" altLang="zh-CN" smtClean="0"/>
              <a:t>5-9 </a:t>
            </a:r>
            <a:r>
              <a:rPr lang="zh-CN" altLang="en-US" smtClean="0"/>
              <a:t>（续）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24315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float dist(const Point &amp;p1, const Point &amp;p2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{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double x = p1.x - p2.x;	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double y = p1.y - p2.y;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return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static_cast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&lt;float&gt;(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sqrt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(x * x + y * y));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main() {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主函数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const Point 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myp1(1, 1), myp2(4, 5);	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"The distance is: ";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dist(myp1, myp2)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 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560" y="2060848"/>
            <a:ext cx="7990656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buFont typeface="+mj-lt"/>
              <a:buAutoNum type="arabicPeriod" startAt="6"/>
            </a:pPr>
            <a:r>
              <a:rPr lang="zh-CN" altLang="en-US" sz="6000" b="1" dirty="0" smtClean="0">
                <a:ea typeface="华文彩云" panose="02010800040101010101" pitchFamily="2" charset="-122"/>
              </a:rPr>
              <a:t>多文件结构和</a:t>
            </a:r>
            <a:br>
              <a:rPr lang="en-US" altLang="zh-CN" sz="6000" b="1" dirty="0" smtClean="0">
                <a:ea typeface="华文彩云" panose="02010800040101010101" pitchFamily="2" charset="-122"/>
              </a:rPr>
            </a:br>
            <a:r>
              <a:rPr lang="zh-CN" altLang="en-US" sz="6000" b="1" dirty="0" smtClean="0">
                <a:ea typeface="华文彩云" panose="02010800040101010101" pitchFamily="2" charset="-122"/>
              </a:rPr>
              <a:t>编译预处理命令</a:t>
            </a:r>
            <a:endParaRPr lang="zh-CN" altLang="en-US" sz="6000" dirty="0"/>
          </a:p>
        </p:txBody>
      </p:sp>
      <p:pic>
        <p:nvPicPr>
          <p:cNvPr id="641032" name="Picture 8" descr="surfer4"/>
          <p:cNvPicPr>
            <a:picLocks noChangeAspect="1" noChangeArrowheads="1" noCrop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933056"/>
            <a:ext cx="200025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5.6.1 C++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程序的一般组织结构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一个源程序可以划分为多个源文件：</a:t>
            </a:r>
            <a:endParaRPr lang="zh-CN" altLang="en-US" sz="2800" b="1" dirty="0"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类声明文件（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.h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文件）</a:t>
            </a:r>
            <a:endParaRPr lang="zh-CN" altLang="en-US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类实现文件（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.</a:t>
            </a:r>
            <a:r>
              <a:rPr lang="en-US" altLang="zh-CN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cpp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文件）</a:t>
            </a:r>
            <a:endParaRPr lang="zh-CN" altLang="en-US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类的使用文件（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main()</a:t>
            </a:r>
            <a:r>
              <a:rPr lang="zh-CN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所在的</a:t>
            </a:r>
            <a:r>
              <a:rPr lang="en-US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.</a:t>
            </a:r>
            <a:r>
              <a:rPr lang="en-US" altLang="zh-CN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cpp</a:t>
            </a:r>
            <a:r>
              <a:rPr lang="zh-CN" altLang="zh-CN" b="1" dirty="0">
                <a:solidFill>
                  <a:srgbClr val="FFFF00"/>
                </a:solidFill>
                <a:ea typeface="华文楷体" panose="02010600040101010101" pitchFamily="2" charset="-122"/>
              </a:rPr>
              <a:t>文件</a:t>
            </a:r>
            <a:r>
              <a:rPr lang="zh-CN" altLang="en-US" b="1" dirty="0">
                <a:solidFill>
                  <a:srgbClr val="FFFF00"/>
                </a:solidFill>
                <a:ea typeface="华文楷体" panose="02010600040101010101" pitchFamily="2" charset="-122"/>
              </a:rPr>
              <a:t>）</a:t>
            </a:r>
            <a:endParaRPr lang="zh-CN" altLang="en-US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800" b="1" dirty="0">
                <a:ea typeface="华文楷体" panose="02010600040101010101" pitchFamily="2" charset="-122"/>
              </a:rPr>
              <a:t>利用工程来组合各个文件。</a:t>
            </a:r>
            <a:endParaRPr lang="zh-CN" altLang="en-US" sz="28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200" b="1" dirty="0" smtClean="0"/>
              <a:t>例 </a:t>
            </a:r>
            <a:r>
              <a:rPr lang="en-US" altLang="zh-CN" sz="3200" b="1" dirty="0" smtClean="0"/>
              <a:t>5-10</a:t>
            </a:r>
            <a:r>
              <a:rPr lang="zh-CN" altLang="en-US" sz="3200" b="1" dirty="0" smtClean="0"/>
              <a:t>具有静态数据、函数成员的</a:t>
            </a:r>
            <a:r>
              <a:rPr lang="en-US" sz="3200" b="1" dirty="0" smtClean="0"/>
              <a:t> Point</a:t>
            </a:r>
            <a:r>
              <a:rPr lang="zh-CN" altLang="en-US" sz="3200" b="1" dirty="0" smtClean="0"/>
              <a:t>类，多文件组织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556792"/>
            <a:ext cx="7886700" cy="4893647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文件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，类的定义，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Point.h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class Point {	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类的定义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public:	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外部接口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 = 0,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y = 0) : x(x), y(y) {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Point(const Point &amp;p);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~Point() { count--;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const { return x;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const { return y; 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static void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静态函数成员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private:	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私有数据成员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x, y;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static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count;	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静态数据成员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b="1" smtClean="0"/>
              <a:t>例 </a:t>
            </a:r>
            <a:r>
              <a:rPr lang="en-US" altLang="zh-CN" b="1" smtClean="0"/>
              <a:t>5-10</a:t>
            </a:r>
            <a:r>
              <a:rPr lang="zh-CN" altLang="en-US" b="1" smtClean="0"/>
              <a:t>（续）</a:t>
            </a:r>
            <a:endParaRPr lang="zh-CN" altLang="en-US" b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980728"/>
            <a:ext cx="7886700" cy="5632311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文件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，类的实现，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Point.cpp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"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Point.h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"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std;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Point::count = 0;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使用类名初始化静态数据成员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Point::Point(const Point &amp;p) : x(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p.x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), y(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p.y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{	</a:t>
            </a:r>
            <a:endParaRPr kumimoji="0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复制构造函数体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count++;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void Point::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  Object count = " &lt;&lt; count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endl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7886700" cy="1325563"/>
          </a:xfrm>
        </p:spPr>
        <p:txBody>
          <a:bodyPr/>
          <a:lstStyle/>
          <a:p>
            <a:pPr eaLnBrk="1" hangingPunct="1"/>
            <a:r>
              <a:rPr lang="zh-CN" altLang="en-US" b="1" smtClean="0"/>
              <a:t>例 </a:t>
            </a:r>
            <a:r>
              <a:rPr lang="en-US" altLang="zh-CN" b="1" smtClean="0"/>
              <a:t>5-10</a:t>
            </a:r>
            <a:r>
              <a:rPr lang="zh-CN" altLang="en-US" b="1" smtClean="0"/>
              <a:t>（续）</a:t>
            </a:r>
            <a:endParaRPr lang="zh-CN" altLang="en-US" b="1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196752"/>
            <a:ext cx="7886700" cy="5632311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文件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，主函数，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5_10.cpp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"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Point.h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"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&lt;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iostream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using namespace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std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0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r>
              <a:rPr kumimoji="0" lang="en-US" altLang="zh-CN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main() {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 a(4, 5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);//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定义对象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，其构造函数回使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增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"Point A: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&lt;&lt; ",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a.getY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Point::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输出对象个数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Point b(a);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定义对象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，其构造函数回使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count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增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cout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&lt;&lt; "Point B: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b.getX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 &lt;&lt; ", " &lt;&lt; 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b.getY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	Point::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showCount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();	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输出对象个数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 	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return 0;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例</a:t>
            </a:r>
            <a:r>
              <a:rPr lang="en-US" altLang="zh-CN" b="1" dirty="0" smtClean="0"/>
              <a:t>5-10</a:t>
            </a:r>
            <a:r>
              <a:rPr lang="zh-CN" altLang="en-US" b="1" dirty="0" smtClean="0"/>
              <a:t>（续）</a:t>
            </a:r>
            <a:endParaRPr lang="zh-CN" altLang="en-US" b="1" dirty="0" smtClean="0"/>
          </a:p>
        </p:txBody>
      </p:sp>
      <p:sp>
        <p:nvSpPr>
          <p:cNvPr id="60420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0421" name="Group 1"/>
          <p:cNvGrpSpPr>
            <a:grpSpLocks noChangeAspect="1"/>
          </p:cNvGrpSpPr>
          <p:nvPr/>
        </p:nvGrpSpPr>
        <p:grpSpPr bwMode="auto">
          <a:xfrm>
            <a:off x="142875" y="1714500"/>
            <a:ext cx="8891588" cy="4427538"/>
            <a:chOff x="1985" y="6127"/>
            <a:chExt cx="7937" cy="3953"/>
          </a:xfrm>
        </p:grpSpPr>
        <p:sp>
          <p:nvSpPr>
            <p:cNvPr id="60423" name="AutoShape 34"/>
            <p:cNvSpPr>
              <a:spLocks noChangeAspect="1" noChangeArrowheads="1" noTextEdit="1"/>
            </p:cNvSpPr>
            <p:nvPr/>
          </p:nvSpPr>
          <p:spPr bwMode="auto">
            <a:xfrm>
              <a:off x="1985" y="6127"/>
              <a:ext cx="7937" cy="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24" name="Rectangle 33"/>
            <p:cNvSpPr>
              <a:spLocks noChangeArrowheads="1"/>
            </p:cNvSpPr>
            <p:nvPr/>
          </p:nvSpPr>
          <p:spPr bwMode="auto">
            <a:xfrm>
              <a:off x="5154" y="7656"/>
              <a:ext cx="1652" cy="13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endParaRPr lang="zh-CN" altLang="en-US" sz="4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25" name="Text Box 32"/>
            <p:cNvSpPr txBox="1">
              <a:spLocks noChangeArrowheads="1"/>
            </p:cNvSpPr>
            <p:nvPr/>
          </p:nvSpPr>
          <p:spPr bwMode="auto">
            <a:xfrm>
              <a:off x="2495" y="7052"/>
              <a:ext cx="2064" cy="10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en-US" altLang="zh-CN" sz="16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#include "point.h"</a:t>
              </a:r>
              <a:endParaRPr kumimoji="0" lang="en-US" altLang="zh-CN" sz="105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kumimoji="0" lang="en-US" altLang="zh-CN" sz="16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#include &lt;iostream&gt;</a:t>
              </a:r>
              <a:endParaRPr kumimoji="0" lang="en-US" altLang="zh-CN" sz="105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kumimoji="0" lang="en-US" altLang="zh-CN" sz="20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……</a:t>
              </a:r>
              <a:endParaRPr kumimoji="0" lang="en-US" altLang="zh-CN" sz="44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26" name="Text Box 31"/>
            <p:cNvSpPr txBox="1">
              <a:spLocks noChangeArrowheads="1"/>
            </p:cNvSpPr>
            <p:nvPr/>
          </p:nvSpPr>
          <p:spPr bwMode="auto">
            <a:xfrm>
              <a:off x="7319" y="7122"/>
              <a:ext cx="2062" cy="96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en-US" altLang="zh-CN" sz="16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#include "point.h"</a:t>
              </a:r>
              <a:endParaRPr kumimoji="0" lang="en-US" altLang="zh-CN" sz="105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kumimoji="0" lang="en-US" altLang="zh-CN" sz="16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#include &lt;iostream&gt;</a:t>
              </a:r>
              <a:endParaRPr kumimoji="0" lang="en-US" altLang="zh-CN" sz="105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kumimoji="0" lang="en-US" altLang="zh-CN" sz="20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……</a:t>
              </a:r>
              <a:endParaRPr kumimoji="0" lang="en-US" altLang="zh-CN" sz="44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27" name="Line 30"/>
            <p:cNvSpPr>
              <a:spLocks noChangeShapeType="1"/>
            </p:cNvSpPr>
            <p:nvPr/>
          </p:nvSpPr>
          <p:spPr bwMode="auto">
            <a:xfrm>
              <a:off x="6599" y="6504"/>
              <a:ext cx="859" cy="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28" name="Line 29"/>
            <p:cNvSpPr>
              <a:spLocks noChangeShapeType="1"/>
            </p:cNvSpPr>
            <p:nvPr/>
          </p:nvSpPr>
          <p:spPr bwMode="auto">
            <a:xfrm flipH="1">
              <a:off x="4280" y="6466"/>
              <a:ext cx="1080" cy="8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29" name="Text Box 28"/>
            <p:cNvSpPr txBox="1">
              <a:spLocks noChangeArrowheads="1"/>
            </p:cNvSpPr>
            <p:nvPr/>
          </p:nvSpPr>
          <p:spPr bwMode="auto">
            <a:xfrm>
              <a:off x="2495" y="6693"/>
              <a:ext cx="2064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en-US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point.cpp</a:t>
              </a:r>
              <a:endParaRPr kumimoji="0" lang="en-US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0430" name="Group 25"/>
            <p:cNvGrpSpPr/>
            <p:nvPr/>
          </p:nvGrpSpPr>
          <p:grpSpPr bwMode="auto">
            <a:xfrm>
              <a:off x="5237" y="6273"/>
              <a:ext cx="1498" cy="1180"/>
              <a:chOff x="4919" y="6903"/>
              <a:chExt cx="2040" cy="1180"/>
            </a:xfrm>
          </p:grpSpPr>
          <p:sp>
            <p:nvSpPr>
              <p:cNvPr id="2" name="Text Box 27"/>
              <p:cNvSpPr txBox="1">
                <a:spLocks noChangeArrowheads="1"/>
              </p:cNvSpPr>
              <p:nvPr/>
            </p:nvSpPr>
            <p:spPr bwMode="auto">
              <a:xfrm>
                <a:off x="4919" y="7262"/>
                <a:ext cx="2040" cy="82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</p:spPr>
            <p:txBody>
              <a:bodyPr lIns="18000" tIns="10800" rIns="18000" bIns="10800"/>
              <a:lstStyle/>
              <a:p>
                <a:pPr indent="266700" algn="l">
                  <a:tabLst>
                    <a:tab pos="450850" algn="l"/>
                    <a:tab pos="3420745" algn="l"/>
                  </a:tabLst>
                  <a:defRPr/>
                </a:pPr>
                <a:r>
                  <a:rPr kumimoji="0" lang="en-US" altLang="zh-CN" sz="1800" b="1">
                    <a:solidFill>
                      <a:srgbClr val="FFFF00"/>
                    </a:solidFill>
                    <a:latin typeface="+mn-lt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class Point {</a:t>
                </a:r>
                <a:endParaRPr kumimoji="0" lang="en-US" altLang="zh-CN" sz="11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</a:endParaRPr>
              </a:p>
              <a:p>
                <a:pPr indent="266700" algn="l" eaLnBrk="0" hangingPunct="0">
                  <a:tabLst>
                    <a:tab pos="450850" algn="l"/>
                    <a:tab pos="3420745" algn="l"/>
                  </a:tabLst>
                  <a:defRPr/>
                </a:pPr>
                <a:r>
                  <a:rPr kumimoji="0" lang="en-US" altLang="zh-CN" sz="1800" b="1">
                    <a:solidFill>
                      <a:srgbClr val="FFFF00"/>
                    </a:solidFill>
                    <a:latin typeface="+mn-lt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……</a:t>
                </a:r>
                <a:endParaRPr kumimoji="0" lang="en-US" altLang="zh-CN" sz="40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</a:endParaRPr>
              </a:p>
            </p:txBody>
          </p:sp>
          <p:sp>
            <p:nvSpPr>
              <p:cNvPr id="60455" name="Text Box 26"/>
              <p:cNvSpPr txBox="1">
                <a:spLocks noChangeArrowheads="1"/>
              </p:cNvSpPr>
              <p:nvPr/>
            </p:nvSpPr>
            <p:spPr bwMode="auto">
              <a:xfrm>
                <a:off x="4919" y="6903"/>
                <a:ext cx="2040" cy="35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 indent="266700" eaLnBrk="0" hangingPunct="0"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0745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l" eaLnBrk="1" hangingPunct="1"/>
                <a:r>
                  <a:rPr kumimoji="0" lang="en-US" altLang="zh-CN" sz="1800" b="1">
                    <a:solidFill>
                      <a:srgbClr val="FFFF00"/>
                    </a:solidFill>
                    <a:latin typeface="+mn-lt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point.h</a:t>
                </a:r>
                <a:endParaRPr kumimoji="0" lang="en-US" altLang="zh-CN" sz="40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0431" name="Text Box 24"/>
            <p:cNvSpPr txBox="1">
              <a:spLocks noChangeArrowheads="1"/>
            </p:cNvSpPr>
            <p:nvPr/>
          </p:nvSpPr>
          <p:spPr bwMode="auto">
            <a:xfrm>
              <a:off x="7319" y="6763"/>
              <a:ext cx="2062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en-US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5_10.cpp</a:t>
              </a:r>
              <a:endParaRPr kumimoji="0" lang="en-US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32" name="Text Box 23"/>
            <p:cNvSpPr txBox="1">
              <a:spLocks noChangeArrowheads="1"/>
            </p:cNvSpPr>
            <p:nvPr/>
          </p:nvSpPr>
          <p:spPr bwMode="auto">
            <a:xfrm>
              <a:off x="3839" y="9563"/>
              <a:ext cx="420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可执行文件</a:t>
              </a:r>
              <a:r>
                <a:rPr kumimoji="0" lang="en-US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5_10.exe</a:t>
              </a:r>
              <a:endParaRPr kumimoji="0" lang="en-US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33" name="Text Box 22"/>
            <p:cNvSpPr txBox="1">
              <a:spLocks noChangeArrowheads="1"/>
            </p:cNvSpPr>
            <p:nvPr/>
          </p:nvSpPr>
          <p:spPr bwMode="auto">
            <a:xfrm>
              <a:off x="2639" y="870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en-US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point.obj</a:t>
              </a:r>
              <a:endParaRPr kumimoji="0" lang="en-US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34" name="Text Box 21"/>
            <p:cNvSpPr txBox="1">
              <a:spLocks noChangeArrowheads="1"/>
            </p:cNvSpPr>
            <p:nvPr/>
          </p:nvSpPr>
          <p:spPr bwMode="auto">
            <a:xfrm>
              <a:off x="7319" y="868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en-US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5_10.obj</a:t>
              </a:r>
              <a:endParaRPr kumimoji="0" lang="en-US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35" name="Line 20"/>
            <p:cNvSpPr>
              <a:spLocks noChangeShapeType="1"/>
            </p:cNvSpPr>
            <p:nvPr/>
          </p:nvSpPr>
          <p:spPr bwMode="auto">
            <a:xfrm>
              <a:off x="359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36" name="Line 19"/>
            <p:cNvSpPr>
              <a:spLocks noChangeShapeType="1"/>
            </p:cNvSpPr>
            <p:nvPr/>
          </p:nvSpPr>
          <p:spPr bwMode="auto">
            <a:xfrm>
              <a:off x="827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37" name="Line 18"/>
            <p:cNvSpPr>
              <a:spLocks noChangeShapeType="1"/>
            </p:cNvSpPr>
            <p:nvPr/>
          </p:nvSpPr>
          <p:spPr bwMode="auto">
            <a:xfrm>
              <a:off x="419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38" name="Line 17"/>
            <p:cNvSpPr>
              <a:spLocks noChangeShapeType="1"/>
            </p:cNvSpPr>
            <p:nvPr/>
          </p:nvSpPr>
          <p:spPr bwMode="auto">
            <a:xfrm>
              <a:off x="767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39" name="Text Box 16"/>
            <p:cNvSpPr txBox="1">
              <a:spLocks noChangeArrowheads="1"/>
            </p:cNvSpPr>
            <p:nvPr/>
          </p:nvSpPr>
          <p:spPr bwMode="auto">
            <a:xfrm>
              <a:off x="8273" y="824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编译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40" name="Text Box 15"/>
            <p:cNvSpPr txBox="1">
              <a:spLocks noChangeArrowheads="1"/>
            </p:cNvSpPr>
            <p:nvPr/>
          </p:nvSpPr>
          <p:spPr bwMode="auto">
            <a:xfrm>
              <a:off x="2759" y="826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编译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41" name="Text Box 14"/>
            <p:cNvSpPr txBox="1">
              <a:spLocks noChangeArrowheads="1"/>
            </p:cNvSpPr>
            <p:nvPr/>
          </p:nvSpPr>
          <p:spPr bwMode="auto">
            <a:xfrm>
              <a:off x="7799" y="914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连接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42" name="Text Box 13"/>
            <p:cNvSpPr txBox="1">
              <a:spLocks noChangeArrowheads="1"/>
            </p:cNvSpPr>
            <p:nvPr/>
          </p:nvSpPr>
          <p:spPr bwMode="auto">
            <a:xfrm>
              <a:off x="3359" y="916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连接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43" name="Text Box 12"/>
            <p:cNvSpPr txBox="1">
              <a:spLocks noChangeArrowheads="1"/>
            </p:cNvSpPr>
            <p:nvPr/>
          </p:nvSpPr>
          <p:spPr bwMode="auto">
            <a:xfrm>
              <a:off x="5237" y="8573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系统运行库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44" name="Line 11"/>
            <p:cNvSpPr>
              <a:spLocks noChangeShapeType="1"/>
            </p:cNvSpPr>
            <p:nvPr/>
          </p:nvSpPr>
          <p:spPr bwMode="auto">
            <a:xfrm>
              <a:off x="5965" y="8940"/>
              <a:ext cx="1" cy="6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45" name="Text Box 10"/>
            <p:cNvSpPr txBox="1">
              <a:spLocks noChangeArrowheads="1"/>
            </p:cNvSpPr>
            <p:nvPr/>
          </p:nvSpPr>
          <p:spPr bwMode="auto">
            <a:xfrm>
              <a:off x="5965" y="9010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连接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46" name="Text Box 9"/>
            <p:cNvSpPr txBox="1">
              <a:spLocks noChangeArrowheads="1"/>
            </p:cNvSpPr>
            <p:nvPr/>
          </p:nvSpPr>
          <p:spPr bwMode="auto">
            <a:xfrm>
              <a:off x="5237" y="8092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en-US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iostream</a:t>
              </a:r>
              <a:endParaRPr kumimoji="0" lang="en-US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47" name="Line 8"/>
            <p:cNvSpPr>
              <a:spLocks noChangeShapeType="1"/>
            </p:cNvSpPr>
            <p:nvPr/>
          </p:nvSpPr>
          <p:spPr bwMode="auto">
            <a:xfrm flipH="1" flipV="1">
              <a:off x="4280" y="7590"/>
              <a:ext cx="1208" cy="6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48" name="Line 7"/>
            <p:cNvSpPr>
              <a:spLocks noChangeShapeType="1"/>
            </p:cNvSpPr>
            <p:nvPr/>
          </p:nvSpPr>
          <p:spPr bwMode="auto">
            <a:xfrm flipV="1">
              <a:off x="6439" y="7656"/>
              <a:ext cx="1019" cy="5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/>
              <a:endParaRPr lang="zh-CN" altLang="en-US" sz="28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60449" name="Text Box 6"/>
            <p:cNvSpPr txBox="1">
              <a:spLocks noChangeArrowheads="1"/>
            </p:cNvSpPr>
            <p:nvPr/>
          </p:nvSpPr>
          <p:spPr bwMode="auto">
            <a:xfrm>
              <a:off x="4434" y="646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 包含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50" name="Text Box 5"/>
            <p:cNvSpPr txBox="1">
              <a:spLocks noChangeArrowheads="1"/>
            </p:cNvSpPr>
            <p:nvPr/>
          </p:nvSpPr>
          <p:spPr bwMode="auto">
            <a:xfrm>
              <a:off x="6512" y="657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包含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51" name="Text Box 4"/>
            <p:cNvSpPr txBox="1">
              <a:spLocks noChangeArrowheads="1"/>
            </p:cNvSpPr>
            <p:nvPr/>
          </p:nvSpPr>
          <p:spPr bwMode="auto">
            <a:xfrm>
              <a:off x="6627" y="7534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 包含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52" name="Text Box 3"/>
            <p:cNvSpPr txBox="1">
              <a:spLocks noChangeArrowheads="1"/>
            </p:cNvSpPr>
            <p:nvPr/>
          </p:nvSpPr>
          <p:spPr bwMode="auto">
            <a:xfrm>
              <a:off x="4344" y="7593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包含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53" name="Text Box 2"/>
            <p:cNvSpPr txBox="1">
              <a:spLocks noChangeArrowheads="1"/>
            </p:cNvSpPr>
            <p:nvPr/>
          </p:nvSpPr>
          <p:spPr bwMode="auto">
            <a:xfrm>
              <a:off x="5192" y="7656"/>
              <a:ext cx="154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0745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l" eaLnBrk="1" hangingPunct="1"/>
              <a:r>
                <a:rPr kumimoji="0" lang="zh-CN" altLang="zh-CN" sz="1800" b="1">
                  <a:solidFill>
                    <a:srgbClr val="FFFF00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 系统文件</a:t>
              </a:r>
              <a:endParaRPr kumimoji="0" lang="zh-CN" altLang="zh-CN" sz="4000" b="1">
                <a:solidFill>
                  <a:srgbClr val="FFFF00"/>
                </a:solidFill>
                <a:latin typeface="+mn-lt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外部变量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611560" y="1484784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>
                <a:ea typeface="华文楷体" panose="02010600040101010101" pitchFamily="2" charset="-122"/>
              </a:rPr>
              <a:t>如果一个变量除了在定义它的源文件中可以使用外，还能被其它文件使用，那么就称这个变量是外部变量。</a:t>
            </a:r>
            <a:endParaRPr lang="en-US" altLang="zh-CN" sz="2400" b="1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endParaRPr lang="en-US" altLang="zh-CN" sz="2400" b="1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>
                <a:ea typeface="华文楷体" panose="02010600040101010101" pitchFamily="2" charset="-122"/>
              </a:rPr>
              <a:t>文件作用域中定义的变量，缺省情况下都是外部变量，但在其它文件中如果需要使用这一变量，需要用</a:t>
            </a:r>
            <a:r>
              <a:rPr lang="en-US" altLang="zh-CN" sz="2400" b="1">
                <a:ea typeface="华文楷体" panose="02010600040101010101" pitchFamily="2" charset="-122"/>
              </a:rPr>
              <a:t>extern</a:t>
            </a:r>
            <a:r>
              <a:rPr lang="zh-CN" altLang="en-US" sz="2400" b="1">
                <a:ea typeface="华文楷体" panose="02010600040101010101" pitchFamily="2" charset="-122"/>
              </a:rPr>
              <a:t>关键字加以声明。</a:t>
            </a:r>
            <a:endParaRPr lang="zh-CN" altLang="en-US" sz="2400" b="1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外部函数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611560" y="1268760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在所有类之外声明的函数（也就是非成员函数），都是具有文件作用域的。</a:t>
            </a:r>
            <a:endParaRPr lang="en-US" altLang="zh-CN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endParaRPr lang="en-US" altLang="zh-CN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这样的函数都可以在不同的编译单元中被调用，只要在调用之前进行引用性声明（即声明函数原型）即可。也可以在声明函数原型或定义函数时用</a:t>
            </a:r>
            <a:r>
              <a:rPr lang="en-US" altLang="zh-CN" sz="2400" b="1" dirty="0">
                <a:ea typeface="华文楷体" panose="02010600040101010101" pitchFamily="2" charset="-122"/>
              </a:rPr>
              <a:t>extern</a:t>
            </a:r>
            <a:r>
              <a:rPr lang="zh-CN" altLang="en-US" sz="2400" b="1" dirty="0">
                <a:ea typeface="华文楷体" panose="02010600040101010101" pitchFamily="2" charset="-122"/>
              </a:rPr>
              <a:t>修饰，其效果与不加修饰的缺省状态是一样的。</a:t>
            </a:r>
            <a:endParaRPr lang="en-US" altLang="zh-CN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endParaRPr lang="en-US" altLang="zh-CN" sz="2400" b="1" dirty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endParaRPr lang="zh-CN" altLang="en-US" sz="24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隶书" panose="02010509060101010101" pitchFamily="49" charset="-122"/>
              </a:rPr>
              <a:t>将变量和函数限制在编译单元内</a:t>
            </a:r>
            <a:endParaRPr lang="zh-CN" altLang="en-US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611560" y="1340768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使用匿名的命名空间：在匿名命名空间中定义的变量和函数，都不会暴露给其它的编译单元。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en-US" altLang="zh-CN" sz="2000" b="1" dirty="0">
                <a:ea typeface="华文楷体" panose="02010600040101010101" pitchFamily="2" charset="-122"/>
              </a:rPr>
              <a:t>   </a:t>
            </a:r>
            <a:r>
              <a:rPr lang="en-US" altLang="zh-CN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namespace {	//</a:t>
            </a:r>
            <a:r>
              <a:rPr lang="zh-CN" altLang="en-US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匿名的命名空间</a:t>
            </a:r>
            <a:endParaRPr lang="zh-CN" altLang="en-US" sz="20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en-US" altLang="zh-CN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		</a:t>
            </a:r>
            <a:r>
              <a:rPr lang="en-US" altLang="zh-CN" sz="2000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 n;</a:t>
            </a:r>
            <a:endParaRPr lang="zh-CN" altLang="en-US" sz="20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en-US" altLang="zh-CN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		void f() {</a:t>
            </a:r>
            <a:endParaRPr lang="zh-CN" altLang="en-US" sz="20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en-US" altLang="zh-CN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			n++;</a:t>
            </a:r>
            <a:endParaRPr lang="zh-CN" altLang="en-US" sz="20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en-US" altLang="zh-CN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		}</a:t>
            </a:r>
            <a:endParaRPr lang="zh-CN" altLang="en-US" sz="20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en-US" altLang="zh-CN" sz="2000" b="1" dirty="0">
                <a:solidFill>
                  <a:srgbClr val="FFFF00"/>
                </a:solidFill>
                <a:ea typeface="华文楷体" panose="02010600040101010101" pitchFamily="2" charset="-122"/>
              </a:rPr>
              <a:t>   }</a:t>
            </a:r>
            <a:endParaRPr lang="zh-CN" altLang="en-US" sz="20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Aft>
                <a:spcPct val="25000"/>
              </a:spcAft>
              <a:buNone/>
            </a:pPr>
            <a:r>
              <a:rPr lang="zh-CN" altLang="en-US" sz="2000" b="1" dirty="0">
                <a:ea typeface="华文楷体" panose="02010600040101010101" pitchFamily="2" charset="-122"/>
              </a:rPr>
              <a:t>这里被“</a:t>
            </a:r>
            <a:r>
              <a:rPr lang="en-US" altLang="zh-CN" sz="2000" b="1" dirty="0">
                <a:ea typeface="华文楷体" panose="02010600040101010101" pitchFamily="2" charset="-122"/>
              </a:rPr>
              <a:t>namespace { …… }</a:t>
            </a:r>
            <a:r>
              <a:rPr lang="zh-CN" altLang="en-US" sz="2000" b="1" dirty="0">
                <a:ea typeface="华文楷体" panose="02010600040101010101" pitchFamily="2" charset="-122"/>
              </a:rPr>
              <a:t>”括起的区域都属于匿名的命名空间。</a:t>
            </a:r>
            <a:endParaRPr lang="zh-CN" altLang="en-US" sz="20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5.6.3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标准</a:t>
            </a:r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C++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库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683568" y="1196752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>
                <a:ea typeface="华文楷体" panose="02010600040101010101" pitchFamily="2" charset="-122"/>
              </a:rPr>
              <a:t>标准</a:t>
            </a:r>
            <a:r>
              <a:rPr lang="en-US" altLang="zh-CN" sz="2400" b="1" dirty="0">
                <a:ea typeface="华文楷体" panose="02010600040101010101" pitchFamily="2" charset="-122"/>
              </a:rPr>
              <a:t>C++</a:t>
            </a:r>
            <a:r>
              <a:rPr lang="zh-CN" altLang="en-US" sz="2400" b="1" dirty="0">
                <a:ea typeface="华文楷体" panose="02010600040101010101" pitchFamily="2" charset="-122"/>
              </a:rPr>
              <a:t>类库是一个极为灵活并可扩展的可重用软件模块的集合。标准</a:t>
            </a:r>
            <a:r>
              <a:rPr lang="en-US" altLang="zh-CN" sz="2400" b="1" dirty="0">
                <a:ea typeface="华文楷体" panose="02010600040101010101" pitchFamily="2" charset="-122"/>
              </a:rPr>
              <a:t>C++</a:t>
            </a:r>
            <a:r>
              <a:rPr lang="zh-CN" altLang="en-US" sz="2400" b="1" dirty="0">
                <a:ea typeface="华文楷体" panose="02010600040101010101" pitchFamily="2" charset="-122"/>
              </a:rPr>
              <a:t>类与组件在逻辑上分为</a:t>
            </a:r>
            <a:r>
              <a:rPr lang="en-US" altLang="zh-CN" sz="2400" b="1" dirty="0">
                <a:ea typeface="华文楷体" panose="02010600040101010101" pitchFamily="2" charset="-122"/>
              </a:rPr>
              <a:t>6</a:t>
            </a:r>
            <a:r>
              <a:rPr lang="zh-CN" altLang="en-US" sz="2400" b="1" dirty="0">
                <a:ea typeface="华文楷体" panose="02010600040101010101" pitchFamily="2" charset="-122"/>
              </a:rPr>
              <a:t>种类型：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输入</a:t>
            </a:r>
            <a:r>
              <a:rPr lang="en-US" altLang="zh-CN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/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输出类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容器类与</a:t>
            </a:r>
            <a:r>
              <a:rPr lang="en-US" altLang="zh-CN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ADT</a:t>
            </a: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（抽象数据类型）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存储管理类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算法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错误处理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运行环境支持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endParaRPr lang="zh-CN" altLang="en-US" sz="24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5.6.4 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编译预处理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>
          <a:xfrm>
            <a:off x="683568" y="1196752"/>
            <a:ext cx="7886700" cy="4351338"/>
          </a:xfrm>
        </p:spPr>
        <p:txBody>
          <a:bodyPr/>
          <a:lstStyle/>
          <a:p>
            <a:pPr>
              <a:spcAft>
                <a:spcPct val="25000"/>
              </a:spcAft>
            </a:pPr>
            <a:r>
              <a:rPr lang="en-US" altLang="zh-CN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#include </a:t>
            </a:r>
            <a:r>
              <a:rPr lang="zh-CN" altLang="zh-CN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包含指令</a:t>
            </a:r>
            <a:endParaRPr lang="zh-CN" altLang="zh-CN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将一个源文件嵌入到当前源文件中该点处。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b="1" dirty="0">
                <a:ea typeface="华文楷体" panose="02010600040101010101" pitchFamily="2" charset="-122"/>
              </a:rPr>
              <a:t>#include&lt;</a:t>
            </a:r>
            <a:r>
              <a:rPr lang="zh-CN" altLang="en-US" sz="2400" b="1" dirty="0">
                <a:ea typeface="华文楷体" panose="02010600040101010101" pitchFamily="2" charset="-122"/>
              </a:rPr>
              <a:t>文件名</a:t>
            </a:r>
            <a:r>
              <a:rPr lang="en-US" altLang="zh-CN" sz="2400" b="1" dirty="0">
                <a:ea typeface="华文楷体" panose="02010600040101010101" pitchFamily="2" charset="-122"/>
              </a:rPr>
              <a:t>&gt;  </a:t>
            </a:r>
            <a:endParaRPr lang="en-US" altLang="zh-CN" sz="2400" b="1" dirty="0">
              <a:ea typeface="华文楷体" panose="02010600040101010101" pitchFamily="2" charset="-122"/>
            </a:endParaRPr>
          </a:p>
          <a:p>
            <a:pPr lvl="2"/>
            <a:r>
              <a:rPr lang="zh-CN" altLang="en-US" sz="2000" b="1" dirty="0">
                <a:ea typeface="华文楷体" panose="02010600040101010101" pitchFamily="2" charset="-122"/>
              </a:rPr>
              <a:t>按标准方式搜索，文件位于</a:t>
            </a:r>
            <a:r>
              <a:rPr lang="en-US" altLang="zh-CN" sz="2000" b="1" dirty="0">
                <a:ea typeface="华文楷体" panose="02010600040101010101" pitchFamily="2" charset="-122"/>
              </a:rPr>
              <a:t>C++</a:t>
            </a:r>
            <a:r>
              <a:rPr lang="zh-CN" altLang="en-US" sz="2000" b="1" dirty="0">
                <a:ea typeface="华文楷体" panose="02010600040101010101" pitchFamily="2" charset="-122"/>
              </a:rPr>
              <a:t>系统目录的</a:t>
            </a:r>
            <a:r>
              <a:rPr lang="en-US" altLang="zh-CN" sz="2000" b="1" dirty="0">
                <a:ea typeface="华文楷体" panose="02010600040101010101" pitchFamily="2" charset="-122"/>
              </a:rPr>
              <a:t>include</a:t>
            </a:r>
            <a:r>
              <a:rPr lang="zh-CN" altLang="en-US" sz="2000" b="1" dirty="0">
                <a:ea typeface="华文楷体" panose="02010600040101010101" pitchFamily="2" charset="-122"/>
              </a:rPr>
              <a:t>子目录下</a:t>
            </a:r>
            <a:endParaRPr lang="zh-CN" altLang="en-US" sz="20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sz="2400" b="1" dirty="0">
                <a:ea typeface="华文楷体" panose="02010600040101010101" pitchFamily="2" charset="-122"/>
              </a:rPr>
              <a:t>#include"</a:t>
            </a:r>
            <a:r>
              <a:rPr lang="zh-CN" altLang="en-US" sz="2400" b="1" dirty="0">
                <a:ea typeface="华文楷体" panose="02010600040101010101" pitchFamily="2" charset="-122"/>
              </a:rPr>
              <a:t>文件名</a:t>
            </a:r>
            <a:r>
              <a:rPr lang="en-US" altLang="zh-CN" sz="2400" b="1" dirty="0">
                <a:ea typeface="华文楷体" panose="02010600040101010101" pitchFamily="2" charset="-122"/>
              </a:rPr>
              <a:t>"</a:t>
            </a:r>
            <a:endParaRPr lang="en-US" altLang="zh-CN" sz="2400" b="1" dirty="0">
              <a:ea typeface="华文楷体" panose="02010600040101010101" pitchFamily="2" charset="-122"/>
            </a:endParaRPr>
          </a:p>
          <a:p>
            <a:pPr lvl="2"/>
            <a:r>
              <a:rPr lang="zh-CN" altLang="en-US" sz="2000" b="1" dirty="0">
                <a:ea typeface="华文楷体" panose="02010600040101010101" pitchFamily="2" charset="-122"/>
              </a:rPr>
              <a:t>首先在当前目录中搜索，若没有，再按标准方式搜索。</a:t>
            </a:r>
            <a:endParaRPr lang="zh-CN" altLang="en-US" sz="2000" b="1" dirty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en-US" altLang="zh-CN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#define </a:t>
            </a:r>
            <a:r>
              <a:rPr lang="zh-CN" altLang="zh-CN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宏定义指令</a:t>
            </a:r>
            <a:endParaRPr lang="zh-CN" altLang="zh-CN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定义符号常量，很多情况下已被</a:t>
            </a:r>
            <a:r>
              <a:rPr lang="en-US" altLang="zh-CN" sz="2400" b="1" dirty="0" err="1">
                <a:ea typeface="华文楷体" panose="02010600040101010101" pitchFamily="2" charset="-122"/>
              </a:rPr>
              <a:t>const</a:t>
            </a:r>
            <a:r>
              <a:rPr lang="zh-CN" altLang="en-US" sz="2400" b="1" dirty="0">
                <a:ea typeface="华文楷体" panose="02010600040101010101" pitchFamily="2" charset="-122"/>
              </a:rPr>
              <a:t>定义语句取代。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定义带参数宏，已被内联函数取代。</a:t>
            </a:r>
            <a:endParaRPr lang="zh-CN" altLang="en-US" sz="2400" b="1" dirty="0"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en-US" altLang="zh-CN" sz="2400" b="1" dirty="0">
                <a:solidFill>
                  <a:srgbClr val="FFFF00"/>
                </a:solidFill>
                <a:ea typeface="华文楷体" panose="02010600040101010101" pitchFamily="2" charset="-122"/>
              </a:rPr>
              <a:t>#</a:t>
            </a:r>
            <a:r>
              <a:rPr lang="en-US" altLang="zh-CN" sz="2400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undef</a:t>
            </a:r>
            <a:endParaRPr lang="en-US" altLang="zh-CN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华文楷体" panose="02010600040101010101" pitchFamily="2" charset="-122"/>
              </a:rPr>
              <a:t>删除由</a:t>
            </a:r>
            <a:r>
              <a:rPr lang="en-US" altLang="zh-CN" sz="2400" b="1" dirty="0">
                <a:ea typeface="华文楷体" panose="02010600040101010101" pitchFamily="2" charset="-122"/>
              </a:rPr>
              <a:t>#define</a:t>
            </a:r>
            <a:r>
              <a:rPr lang="zh-CN" altLang="zh-CN" sz="2400" b="1" dirty="0">
                <a:ea typeface="华文楷体" panose="02010600040101010101" pitchFamily="2" charset="-122"/>
              </a:rPr>
              <a:t>定义的宏，使之不再起作用。</a:t>
            </a:r>
            <a:endParaRPr lang="zh-CN" altLang="en-US" sz="24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5557" y="0"/>
            <a:ext cx="7561262" cy="114300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文件包含</a:t>
            </a:r>
            <a:endParaRPr lang="en-US" altLang="zh-CN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1042988" y="1989138"/>
            <a:ext cx="7559675" cy="151288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552450" indent="-5524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33450" indent="-4762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文件嵌入的一般形式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algn="l" eaLnBrk="1" hangingPunct="1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  “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文件名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”</a:t>
            </a:r>
            <a:endParaRPr lang="zh-CN" altLang="en-US" sz="2800" b="1" dirty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 algn="l"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或    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#include    &lt;</a:t>
            </a:r>
            <a:r>
              <a:rPr lang="zh-CN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文件名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&gt;</a:t>
            </a:r>
            <a:endParaRPr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5540" name="Rectangle 7"/>
          <p:cNvSpPr>
            <a:spLocks noChangeArrowheads="1"/>
          </p:cNvSpPr>
          <p:nvPr/>
        </p:nvSpPr>
        <p:spPr bwMode="auto">
          <a:xfrm>
            <a:off x="1042988" y="4005263"/>
            <a:ext cx="7559675" cy="86360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处理过程：预编译时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用被包含文件的内容取代该预处理命令，再对“包含”后的文件作一个源文件编译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--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cxnSp>
        <p:nvCxnSpPr>
          <p:cNvPr id="65541" name="AutoShape 8"/>
          <p:cNvCxnSpPr>
            <a:cxnSpLocks noChangeShapeType="1"/>
            <a:stCxn id="65539" idx="1"/>
            <a:endCxn id="65540" idx="1"/>
          </p:cNvCxnSpPr>
          <p:nvPr/>
        </p:nvCxnSpPr>
        <p:spPr bwMode="auto">
          <a:xfrm rot="10800000" flipH="1" flipV="1">
            <a:off x="1023938" y="2746375"/>
            <a:ext cx="1587" cy="1690688"/>
          </a:xfrm>
          <a:prstGeom prst="bentConnector3">
            <a:avLst>
              <a:gd name="adj1" fmla="val -39900014"/>
            </a:avLst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1724" name="AutoShape 12"/>
          <p:cNvSpPr>
            <a:spLocks noChangeArrowheads="1"/>
          </p:cNvSpPr>
          <p:nvPr/>
        </p:nvSpPr>
        <p:spPr bwMode="auto">
          <a:xfrm>
            <a:off x="4038600" y="849978"/>
            <a:ext cx="5054887" cy="1017844"/>
          </a:xfrm>
          <a:prstGeom prst="wedgeRectCallout">
            <a:avLst>
              <a:gd name="adj1" fmla="val -12977"/>
              <a:gd name="adj2" fmla="val 111245"/>
            </a:avLst>
          </a:prstGeom>
          <a:solidFill>
            <a:srgbClr val="FFFFFF"/>
          </a:solidFill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&lt;&gt;  </a:t>
            </a:r>
            <a:r>
              <a:rPr kumimoji="1" lang="zh-CN" altLang="zh-CN" sz="20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直接按标准目录搜索</a:t>
            </a:r>
            <a:endParaRPr kumimoji="1" lang="zh-CN" altLang="zh-CN" sz="2000">
              <a:solidFill>
                <a:srgbClr val="0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00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“”</a:t>
            </a:r>
            <a:r>
              <a:rPr kumimoji="1" lang="zh-CN" altLang="zh-CN" sz="200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先在</a:t>
            </a:r>
            <a:r>
              <a:rPr kumimoji="1" lang="zh-CN" altLang="zh-CN" sz="2000">
                <a:solidFill>
                  <a:srgbClr val="0099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当前目录</a:t>
            </a:r>
            <a:r>
              <a:rPr kumimoji="1" lang="zh-CN" altLang="zh-CN" sz="200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搜索，再搜索标准目录</a:t>
            </a:r>
            <a:endParaRPr kumimoji="1" lang="zh-CN" altLang="zh-CN" sz="2000">
              <a:solidFill>
                <a:srgbClr val="0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00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可指定路径</a:t>
            </a:r>
            <a:endParaRPr kumimoji="1" lang="zh-CN" altLang="en-US" sz="2000">
              <a:solidFill>
                <a:srgbClr val="0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30"/>
          <p:cNvGrpSpPr/>
          <p:nvPr/>
        </p:nvGrpSpPr>
        <p:grpSpPr bwMode="auto">
          <a:xfrm>
            <a:off x="1270001" y="5138736"/>
            <a:ext cx="6731000" cy="1387474"/>
            <a:chOff x="800" y="3237"/>
            <a:chExt cx="4240" cy="874"/>
          </a:xfrm>
          <a:solidFill>
            <a:schemeClr val="accent6">
              <a:lumMod val="50000"/>
            </a:schemeClr>
          </a:solidFill>
        </p:grpSpPr>
        <p:sp>
          <p:nvSpPr>
            <p:cNvPr id="65544" name="Rectangle 14"/>
            <p:cNvSpPr>
              <a:spLocks noChangeArrowheads="1"/>
            </p:cNvSpPr>
            <p:nvPr/>
          </p:nvSpPr>
          <p:spPr bwMode="auto">
            <a:xfrm>
              <a:off x="873" y="3237"/>
              <a:ext cx="1184" cy="63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5545" name="Rectangle 15"/>
            <p:cNvSpPr>
              <a:spLocks noChangeArrowheads="1"/>
            </p:cNvSpPr>
            <p:nvPr/>
          </p:nvSpPr>
          <p:spPr bwMode="auto">
            <a:xfrm>
              <a:off x="1217" y="3486"/>
              <a:ext cx="496" cy="3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5546" name="Text Box 16"/>
            <p:cNvSpPr txBox="1">
              <a:spLocks noChangeArrowheads="1"/>
            </p:cNvSpPr>
            <p:nvPr/>
          </p:nvSpPr>
          <p:spPr bwMode="auto">
            <a:xfrm>
              <a:off x="800" y="3243"/>
              <a:ext cx="13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#include  “</a:t>
              </a:r>
              <a:r>
                <a:rPr kumimoji="1" lang="en-US" altLang="zh-CN" sz="1800" dirty="0" smtClean="0">
                  <a:latin typeface="Times New Roman" panose="02020603050405020304" pitchFamily="18" charset="0"/>
                </a:rPr>
                <a:t>file2.cpp”</a:t>
              </a:r>
              <a:endParaRPr kumimoji="1"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65547" name="Text Box 17"/>
            <p:cNvSpPr txBox="1">
              <a:spLocks noChangeArrowheads="1"/>
            </p:cNvSpPr>
            <p:nvPr/>
          </p:nvSpPr>
          <p:spPr bwMode="auto">
            <a:xfrm>
              <a:off x="1126" y="3878"/>
              <a:ext cx="629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 smtClean="0">
                  <a:latin typeface="Times New Roman" panose="02020603050405020304" pitchFamily="18" charset="0"/>
                </a:rPr>
                <a:t>file1.cpp</a:t>
              </a:r>
              <a:endParaRPr kumimoji="1"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65548" name="Text Box 18"/>
            <p:cNvSpPr txBox="1">
              <a:spLocks noChangeArrowheads="1"/>
            </p:cNvSpPr>
            <p:nvPr/>
          </p:nvSpPr>
          <p:spPr bwMode="auto">
            <a:xfrm>
              <a:off x="2630" y="3695"/>
              <a:ext cx="629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 smtClean="0">
                  <a:latin typeface="Times New Roman" panose="02020603050405020304" pitchFamily="18" charset="0"/>
                </a:rPr>
                <a:t>file2.cpp</a:t>
              </a:r>
              <a:endParaRPr kumimoji="1"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65549" name="Text Box 19"/>
            <p:cNvSpPr txBox="1">
              <a:spLocks noChangeArrowheads="1"/>
            </p:cNvSpPr>
            <p:nvPr/>
          </p:nvSpPr>
          <p:spPr bwMode="auto">
            <a:xfrm>
              <a:off x="4199" y="3878"/>
              <a:ext cx="629" cy="23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 smtClean="0">
                  <a:latin typeface="Times New Roman" panose="02020603050405020304" pitchFamily="18" charset="0"/>
                </a:rPr>
                <a:t>file1.cpp</a:t>
              </a:r>
              <a:endParaRPr kumimoji="1"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65550" name="Text Box 20"/>
            <p:cNvSpPr txBox="1">
              <a:spLocks noChangeArrowheads="1"/>
            </p:cNvSpPr>
            <p:nvPr/>
          </p:nvSpPr>
          <p:spPr bwMode="auto">
            <a:xfrm>
              <a:off x="4220" y="3283"/>
              <a:ext cx="48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file2.c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65551" name="Text Box 21"/>
            <p:cNvSpPr txBox="1">
              <a:spLocks noChangeArrowheads="1"/>
            </p:cNvSpPr>
            <p:nvPr/>
          </p:nvSpPr>
          <p:spPr bwMode="auto">
            <a:xfrm>
              <a:off x="1342" y="3535"/>
              <a:ext cx="2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A</a:t>
              </a:r>
              <a:endParaRPr kumimoji="1"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65553" name="Text Box 23"/>
            <p:cNvSpPr txBox="1">
              <a:spLocks noChangeArrowheads="1"/>
            </p:cNvSpPr>
            <p:nvPr/>
          </p:nvSpPr>
          <p:spPr bwMode="auto">
            <a:xfrm>
              <a:off x="2810" y="3379"/>
              <a:ext cx="212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B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65554" name="AutoShape 24"/>
            <p:cNvSpPr>
              <a:spLocks noChangeArrowheads="1"/>
            </p:cNvSpPr>
            <p:nvPr/>
          </p:nvSpPr>
          <p:spPr bwMode="auto">
            <a:xfrm>
              <a:off x="2067" y="3325"/>
              <a:ext cx="486" cy="109"/>
            </a:xfrm>
            <a:prstGeom prst="leftArrow">
              <a:avLst>
                <a:gd name="adj1" fmla="val 50000"/>
                <a:gd name="adj2" fmla="val 111468"/>
              </a:avLst>
            </a:prstGeom>
            <a:grpFill/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5555" name="Rectangle 25"/>
            <p:cNvSpPr>
              <a:spLocks noChangeArrowheads="1"/>
            </p:cNvSpPr>
            <p:nvPr/>
          </p:nvSpPr>
          <p:spPr bwMode="auto">
            <a:xfrm>
              <a:off x="2604" y="3275"/>
              <a:ext cx="668" cy="46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dirty="0">
                  <a:latin typeface="Times New Roman" panose="02020603050405020304" pitchFamily="18" charset="0"/>
                </a:rPr>
                <a:t>B</a:t>
              </a:r>
              <a:endParaRPr kumimoji="1"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65556" name="Rectangle 26"/>
            <p:cNvSpPr>
              <a:spLocks noChangeArrowheads="1"/>
            </p:cNvSpPr>
            <p:nvPr/>
          </p:nvSpPr>
          <p:spPr bwMode="auto">
            <a:xfrm>
              <a:off x="3856" y="3237"/>
              <a:ext cx="1184" cy="631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5557" name="Rectangle 27"/>
            <p:cNvSpPr>
              <a:spLocks noChangeArrowheads="1"/>
            </p:cNvSpPr>
            <p:nvPr/>
          </p:nvSpPr>
          <p:spPr bwMode="auto">
            <a:xfrm>
              <a:off x="4200" y="3526"/>
              <a:ext cx="496" cy="2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5558" name="Text Box 28"/>
            <p:cNvSpPr txBox="1">
              <a:spLocks noChangeArrowheads="1"/>
            </p:cNvSpPr>
            <p:nvPr/>
          </p:nvSpPr>
          <p:spPr bwMode="auto">
            <a:xfrm>
              <a:off x="4325" y="3555"/>
              <a:ext cx="220" cy="23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A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65559" name="Rectangle 29"/>
            <p:cNvSpPr>
              <a:spLocks noChangeArrowheads="1"/>
            </p:cNvSpPr>
            <p:nvPr/>
          </p:nvSpPr>
          <p:spPr bwMode="auto">
            <a:xfrm>
              <a:off x="4082" y="3314"/>
              <a:ext cx="749" cy="14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>
                  <a:latin typeface="Times New Roman" panose="02020603050405020304" pitchFamily="18" charset="0"/>
                </a:rPr>
                <a:t>B</a:t>
              </a:r>
              <a:endParaRPr kumimoji="1" lang="en-US" altLang="zh-CN" sz="1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1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 eaLnBrk="1" hangingPunct="1"/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文件包含</a:t>
            </a:r>
            <a:endParaRPr lang="en-US" altLang="zh-CN" b="1" dirty="0" smtClean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6563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471488" y="1776413"/>
            <a:ext cx="8672512" cy="1387475"/>
          </a:xfrm>
          <a:noFill/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被包含文件内容</a:t>
            </a:r>
            <a:endParaRPr lang="zh-CN" altLang="en-US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/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源文件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(*.c   *.cpp)</a:t>
            </a: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/>
            <a:r>
              <a:rPr lang="zh-CN" altLang="en-US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头文件</a:t>
            </a:r>
            <a:r>
              <a:rPr lang="en-US" altLang="zh-CN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(*.h)</a:t>
            </a:r>
            <a:endParaRPr lang="en-US" altLang="zh-CN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72761" name="AutoShape 25"/>
          <p:cNvSpPr>
            <a:spLocks noChangeArrowheads="1"/>
          </p:cNvSpPr>
          <p:nvPr/>
        </p:nvSpPr>
        <p:spPr bwMode="auto">
          <a:xfrm>
            <a:off x="4267200" y="2538413"/>
            <a:ext cx="1743075" cy="1044575"/>
          </a:xfrm>
          <a:prstGeom prst="wedgeRectCallout">
            <a:avLst>
              <a:gd name="adj1" fmla="val -116301"/>
              <a:gd name="adj2" fmla="val -20667"/>
            </a:avLst>
          </a:prstGeom>
          <a:solidFill>
            <a:srgbClr val="FFFFFF"/>
          </a:solidFill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宏定义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数据结构定义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函数说明等</a:t>
            </a:r>
            <a:endParaRPr kumimoji="1"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72762" name="Rectangle 26"/>
          <p:cNvSpPr>
            <a:spLocks noChangeArrowheads="1"/>
          </p:cNvSpPr>
          <p:nvPr/>
        </p:nvSpPr>
        <p:spPr bwMode="auto">
          <a:xfrm>
            <a:off x="471488" y="3511550"/>
            <a:ext cx="86725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zh-CN" b="1" dirty="0">
                <a:ea typeface="华文楷体" panose="02010600040101010101" pitchFamily="2" charset="-122"/>
              </a:rPr>
              <a:t>文件包含可嵌套</a:t>
            </a:r>
            <a:endParaRPr lang="zh-CN" altLang="zh-CN" b="1" dirty="0">
              <a:ea typeface="华文楷体" panose="02010600040101010101" pitchFamily="2" charset="-122"/>
            </a:endParaRPr>
          </a:p>
        </p:txBody>
      </p:sp>
      <p:grpSp>
        <p:nvGrpSpPr>
          <p:cNvPr id="2" name="Group 27"/>
          <p:cNvGrpSpPr/>
          <p:nvPr/>
        </p:nvGrpSpPr>
        <p:grpSpPr bwMode="auto">
          <a:xfrm>
            <a:off x="1147763" y="4149726"/>
            <a:ext cx="5956301" cy="2422526"/>
            <a:chOff x="771" y="1872"/>
            <a:chExt cx="3752" cy="1526"/>
          </a:xfrm>
        </p:grpSpPr>
        <p:sp>
          <p:nvSpPr>
            <p:cNvPr id="66574" name="Rectangle 28"/>
            <p:cNvSpPr>
              <a:spLocks noChangeArrowheads="1"/>
            </p:cNvSpPr>
            <p:nvPr/>
          </p:nvSpPr>
          <p:spPr bwMode="auto">
            <a:xfrm>
              <a:off x="864" y="1872"/>
              <a:ext cx="1300" cy="12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6575" name="Rectangle 29"/>
            <p:cNvSpPr>
              <a:spLocks noChangeArrowheads="1"/>
            </p:cNvSpPr>
            <p:nvPr/>
          </p:nvSpPr>
          <p:spPr bwMode="auto">
            <a:xfrm>
              <a:off x="1242" y="2416"/>
              <a:ext cx="544" cy="567"/>
            </a:xfrm>
            <a:prstGeom prst="rect">
              <a:avLst/>
            </a:prstGeom>
            <a:noFill/>
            <a:ln w="38100">
              <a:solidFill>
                <a:srgbClr val="0099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6576" name="Text Box 30"/>
            <p:cNvSpPr txBox="1">
              <a:spLocks noChangeArrowheads="1"/>
            </p:cNvSpPr>
            <p:nvPr/>
          </p:nvSpPr>
          <p:spPr bwMode="auto">
            <a:xfrm>
              <a:off x="771" y="2078"/>
              <a:ext cx="1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</a:rPr>
                <a:t>#include  “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</a:rPr>
                <a:t>file2.cpp”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77" name="Text Box 31"/>
            <p:cNvSpPr txBox="1">
              <a:spLocks noChangeArrowheads="1"/>
            </p:cNvSpPr>
            <p:nvPr/>
          </p:nvSpPr>
          <p:spPr bwMode="auto">
            <a:xfrm>
              <a:off x="1136" y="3146"/>
              <a:ext cx="70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</a:rPr>
                <a:t>file1.cpp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78" name="Text Box 32"/>
            <p:cNvSpPr txBox="1">
              <a:spLocks noChangeArrowheads="1"/>
            </p:cNvSpPr>
            <p:nvPr/>
          </p:nvSpPr>
          <p:spPr bwMode="auto">
            <a:xfrm>
              <a:off x="1384" y="2582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6579" name="Text Box 33"/>
            <p:cNvSpPr txBox="1">
              <a:spLocks noChangeArrowheads="1"/>
            </p:cNvSpPr>
            <p:nvPr/>
          </p:nvSpPr>
          <p:spPr bwMode="auto">
            <a:xfrm>
              <a:off x="3794" y="2831"/>
              <a:ext cx="70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</a:rPr>
                <a:t>file3.cpp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80" name="Text Box 34"/>
            <p:cNvSpPr txBox="1">
              <a:spLocks noChangeArrowheads="1"/>
            </p:cNvSpPr>
            <p:nvPr/>
          </p:nvSpPr>
          <p:spPr bwMode="auto">
            <a:xfrm>
              <a:off x="3696" y="2930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6581" name="Text Box 35"/>
            <p:cNvSpPr txBox="1">
              <a:spLocks noChangeArrowheads="1"/>
            </p:cNvSpPr>
            <p:nvPr/>
          </p:nvSpPr>
          <p:spPr bwMode="auto">
            <a:xfrm>
              <a:off x="4074" y="2256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C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6582" name="Rectangle 36"/>
            <p:cNvSpPr>
              <a:spLocks noChangeArrowheads="1"/>
            </p:cNvSpPr>
            <p:nvPr/>
          </p:nvSpPr>
          <p:spPr bwMode="auto">
            <a:xfrm>
              <a:off x="3790" y="1920"/>
              <a:ext cx="733" cy="933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6583" name="Rectangle 37"/>
            <p:cNvSpPr>
              <a:spLocks noChangeArrowheads="1"/>
            </p:cNvSpPr>
            <p:nvPr/>
          </p:nvSpPr>
          <p:spPr bwMode="auto">
            <a:xfrm>
              <a:off x="2304" y="1872"/>
              <a:ext cx="1300" cy="12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6584" name="Rectangle 38"/>
            <p:cNvSpPr>
              <a:spLocks noChangeArrowheads="1"/>
            </p:cNvSpPr>
            <p:nvPr/>
          </p:nvSpPr>
          <p:spPr bwMode="auto">
            <a:xfrm>
              <a:off x="2682" y="2416"/>
              <a:ext cx="544" cy="567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6585" name="Text Box 39"/>
            <p:cNvSpPr txBox="1">
              <a:spLocks noChangeArrowheads="1"/>
            </p:cNvSpPr>
            <p:nvPr/>
          </p:nvSpPr>
          <p:spPr bwMode="auto">
            <a:xfrm>
              <a:off x="2211" y="2078"/>
              <a:ext cx="15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Times New Roman" panose="02020603050405020304" pitchFamily="18" charset="0"/>
                </a:rPr>
                <a:t>#include  “</a:t>
              </a:r>
              <a:r>
                <a:rPr kumimoji="1" lang="en-US" altLang="zh-CN" sz="2000" b="1" dirty="0" smtClean="0">
                  <a:latin typeface="Times New Roman" panose="02020603050405020304" pitchFamily="18" charset="0"/>
                </a:rPr>
                <a:t>file3.cpp”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86" name="Text Box 40"/>
            <p:cNvSpPr txBox="1">
              <a:spLocks noChangeArrowheads="1"/>
            </p:cNvSpPr>
            <p:nvPr/>
          </p:nvSpPr>
          <p:spPr bwMode="auto">
            <a:xfrm>
              <a:off x="2576" y="3146"/>
              <a:ext cx="70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</a:rPr>
                <a:t>file2.cpp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87" name="Text Box 41"/>
            <p:cNvSpPr txBox="1">
              <a:spLocks noChangeArrowheads="1"/>
            </p:cNvSpPr>
            <p:nvPr/>
          </p:nvSpPr>
          <p:spPr bwMode="auto">
            <a:xfrm>
              <a:off x="2808" y="2582"/>
              <a:ext cx="26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 B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42"/>
          <p:cNvGrpSpPr/>
          <p:nvPr/>
        </p:nvGrpSpPr>
        <p:grpSpPr bwMode="auto">
          <a:xfrm>
            <a:off x="6262686" y="1700213"/>
            <a:ext cx="3027361" cy="2133600"/>
            <a:chOff x="3696" y="336"/>
            <a:chExt cx="1907" cy="1344"/>
          </a:xfrm>
          <a:solidFill>
            <a:schemeClr val="accent6">
              <a:lumMod val="50000"/>
            </a:schemeClr>
          </a:solidFill>
        </p:grpSpPr>
        <p:sp>
          <p:nvSpPr>
            <p:cNvPr id="66568" name="Rectangle 43"/>
            <p:cNvSpPr>
              <a:spLocks noChangeArrowheads="1"/>
            </p:cNvSpPr>
            <p:nvPr/>
          </p:nvSpPr>
          <p:spPr bwMode="auto">
            <a:xfrm>
              <a:off x="3696" y="336"/>
              <a:ext cx="1300" cy="1344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6569" name="Rectangle 44"/>
            <p:cNvSpPr>
              <a:spLocks noChangeArrowheads="1"/>
            </p:cNvSpPr>
            <p:nvPr/>
          </p:nvSpPr>
          <p:spPr bwMode="auto">
            <a:xfrm>
              <a:off x="4032" y="1056"/>
              <a:ext cx="624" cy="567"/>
            </a:xfrm>
            <a:prstGeom prst="rect">
              <a:avLst/>
            </a:prstGeom>
            <a:grpFill/>
            <a:ln w="38100">
              <a:solidFill>
                <a:srgbClr val="0099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6570" name="Text Box 45"/>
            <p:cNvSpPr txBox="1">
              <a:spLocks noChangeArrowheads="1"/>
            </p:cNvSpPr>
            <p:nvPr/>
          </p:nvSpPr>
          <p:spPr bwMode="auto">
            <a:xfrm>
              <a:off x="4900" y="959"/>
              <a:ext cx="703" cy="25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smtClean="0">
                  <a:latin typeface="Times New Roman" panose="02020603050405020304" pitchFamily="18" charset="0"/>
                </a:rPr>
                <a:t>file1.cpp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6571" name="Text Box 46"/>
            <p:cNvSpPr txBox="1">
              <a:spLocks noChangeArrowheads="1"/>
            </p:cNvSpPr>
            <p:nvPr/>
          </p:nvSpPr>
          <p:spPr bwMode="auto">
            <a:xfrm>
              <a:off x="4272" y="1152"/>
              <a:ext cx="232" cy="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A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6572" name="Rectangle 47"/>
            <p:cNvSpPr>
              <a:spLocks noChangeArrowheads="1"/>
            </p:cNvSpPr>
            <p:nvPr/>
          </p:nvSpPr>
          <p:spPr bwMode="auto">
            <a:xfrm>
              <a:off x="4032" y="386"/>
              <a:ext cx="624" cy="253"/>
            </a:xfrm>
            <a:prstGeom prst="rect">
              <a:avLst/>
            </a:prstGeom>
            <a:grpFill/>
            <a:ln w="38100" cap="sq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C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66573" name="Rectangle 48"/>
            <p:cNvSpPr>
              <a:spLocks noChangeArrowheads="1"/>
            </p:cNvSpPr>
            <p:nvPr/>
          </p:nvSpPr>
          <p:spPr bwMode="auto">
            <a:xfrm>
              <a:off x="4032" y="730"/>
              <a:ext cx="624" cy="253"/>
            </a:xfrm>
            <a:prstGeom prst="rect">
              <a:avLst/>
            </a:prstGeom>
            <a:grpFill/>
            <a:ln w="38100" cap="sq">
              <a:solidFill>
                <a:srgbClr val="0000FF"/>
              </a:solidFill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anose="02020603050405020304" pitchFamily="18" charset="0"/>
                </a:rPr>
                <a:t>B</a:t>
              </a:r>
              <a:endParaRPr kumimoji="1" lang="en-US" altLang="zh-CN" sz="20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72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2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61" grpId="0" animBg="1" autoUpdateAnimBg="0"/>
      <p:bldP spid="372762" grpId="0" bldLvl="5" autoUpdateAnimBg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一般形式，不带参数的宏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57347" name="Group 8"/>
          <p:cNvGrpSpPr/>
          <p:nvPr/>
        </p:nvGrpSpPr>
        <p:grpSpPr bwMode="auto">
          <a:xfrm>
            <a:off x="1042988" y="1628775"/>
            <a:ext cx="7559675" cy="2016125"/>
            <a:chOff x="657" y="1117"/>
            <a:chExt cx="4762" cy="1270"/>
          </a:xfrm>
        </p:grpSpPr>
        <p:sp>
          <p:nvSpPr>
            <p:cNvPr id="57354" name="Rectangle 5"/>
            <p:cNvSpPr>
              <a:spLocks noChangeArrowheads="1"/>
            </p:cNvSpPr>
            <p:nvPr/>
          </p:nvSpPr>
          <p:spPr bwMode="auto">
            <a:xfrm>
              <a:off x="657" y="1117"/>
              <a:ext cx="4762" cy="635"/>
            </a:xfrm>
            <a:prstGeom prst="rect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宏定义的一般形式</a:t>
              </a: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  <a:p>
              <a:pPr algn="l" eaLnBrk="1" hangingPunct="1"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#define 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宏名  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【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宏体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】</a:t>
              </a:r>
              <a:endParaRPr lang="en-US" altLang="zh-CN" sz="30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57355" name="Rectangle 7"/>
            <p:cNvSpPr>
              <a:spLocks noChangeArrowheads="1"/>
            </p:cNvSpPr>
            <p:nvPr/>
          </p:nvSpPr>
          <p:spPr bwMode="auto">
            <a:xfrm>
              <a:off x="657" y="1752"/>
              <a:ext cx="4762" cy="635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buClr>
                  <a:srgbClr val="000000"/>
                </a:buClr>
              </a:pP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功能：用指定标识符</a:t>
              </a:r>
              <a:r>
                <a:rPr lang="en-US" altLang="zh-CN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(</a:t>
              </a: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宏名</a:t>
              </a:r>
              <a:r>
                <a:rPr lang="en-US" altLang="zh-CN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)</a:t>
              </a: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代替字符序列</a:t>
              </a:r>
              <a:r>
                <a:rPr lang="en-US" altLang="zh-CN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(</a:t>
              </a: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宏体</a:t>
              </a:r>
              <a:r>
                <a:rPr lang="en-US" altLang="zh-CN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)</a:t>
              </a: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；</a:t>
              </a:r>
              <a:endParaRPr lang="zh-CN" altLang="en-US" sz="20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l" eaLnBrk="1" hangingPunct="1">
                <a:spcBef>
                  <a:spcPct val="5000"/>
                </a:spcBef>
                <a:buClr>
                  <a:srgbClr val="000000"/>
                </a:buClr>
              </a:pP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定义位置：任意</a:t>
              </a:r>
              <a:r>
                <a:rPr lang="en-US" altLang="zh-CN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(</a:t>
              </a:r>
              <a:r>
                <a:rPr lang="zh-CN" altLang="zh-CN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一般在函数外面)</a:t>
              </a: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；</a:t>
              </a:r>
              <a:endParaRPr lang="zh-CN" altLang="en-US" sz="20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l" eaLnBrk="1" hangingPunct="1">
                <a:spcBef>
                  <a:spcPct val="5000"/>
                </a:spcBef>
                <a:buClr>
                  <a:srgbClr val="000000"/>
                </a:buClr>
              </a:pPr>
              <a:r>
                <a:rPr lang="zh-CN" altLang="en-US" sz="20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良好习惯：习惯上，用大写字母和下划线来为宏命名。</a:t>
              </a:r>
              <a:endParaRPr lang="zh-CN" altLang="en-US" sz="20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3" name="Group 10"/>
          <p:cNvGrpSpPr/>
          <p:nvPr/>
        </p:nvGrpSpPr>
        <p:grpSpPr bwMode="auto">
          <a:xfrm>
            <a:off x="1023938" y="2133600"/>
            <a:ext cx="7578725" cy="2735263"/>
            <a:chOff x="645" y="1344"/>
            <a:chExt cx="4774" cy="1723"/>
          </a:xfrm>
        </p:grpSpPr>
        <p:sp>
          <p:nvSpPr>
            <p:cNvPr id="57352" name="Rectangle 6"/>
            <p:cNvSpPr>
              <a:spLocks noChangeArrowheads="1"/>
            </p:cNvSpPr>
            <p:nvPr/>
          </p:nvSpPr>
          <p:spPr bwMode="auto">
            <a:xfrm>
              <a:off x="657" y="2523"/>
              <a:ext cx="4762" cy="544"/>
            </a:xfrm>
            <a:prstGeom prst="rect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宏替换：在源程序中发现与宏名相同的标识符后，用宏体替换之。</a:t>
              </a: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cxnSp>
          <p:nvCxnSpPr>
            <p:cNvPr id="57353" name="AutoShape 9"/>
            <p:cNvCxnSpPr>
              <a:cxnSpLocks noChangeShapeType="1"/>
              <a:stCxn id="57354" idx="1"/>
              <a:endCxn id="57352" idx="1"/>
            </p:cNvCxnSpPr>
            <p:nvPr/>
          </p:nvCxnSpPr>
          <p:spPr bwMode="auto">
            <a:xfrm rot="10800000" flipH="1" flipV="1">
              <a:off x="645" y="1344"/>
              <a:ext cx="1" cy="1451"/>
            </a:xfrm>
            <a:prstGeom prst="bentConnector3">
              <a:avLst>
                <a:gd name="adj1" fmla="val -36300014"/>
              </a:avLst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14"/>
          <p:cNvGrpSpPr/>
          <p:nvPr/>
        </p:nvGrpSpPr>
        <p:grpSpPr bwMode="auto">
          <a:xfrm>
            <a:off x="971550" y="2133600"/>
            <a:ext cx="7578725" cy="4032250"/>
            <a:chOff x="612" y="1344"/>
            <a:chExt cx="4774" cy="2540"/>
          </a:xfrm>
        </p:grpSpPr>
        <p:sp>
          <p:nvSpPr>
            <p:cNvPr id="57350" name="Rectangle 12"/>
            <p:cNvSpPr>
              <a:spLocks noChangeArrowheads="1"/>
            </p:cNvSpPr>
            <p:nvPr/>
          </p:nvSpPr>
          <p:spPr bwMode="auto">
            <a:xfrm>
              <a:off x="624" y="3248"/>
              <a:ext cx="4762" cy="636"/>
            </a:xfrm>
            <a:prstGeom prst="rect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宏定义取消的一般形式</a:t>
              </a: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  <a:p>
              <a:pPr algn="l" eaLnBrk="1" hangingPunct="1"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#</a:t>
              </a:r>
              <a:r>
                <a:rPr lang="en-US" altLang="zh-CN" sz="2800" b="1" dirty="0" err="1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undef</a:t>
              </a:r>
              <a:r>
                <a:rPr lang="en-US" altLang="zh-CN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 </a:t>
              </a:r>
              <a:r>
                <a:rPr lang="zh-CN" altLang="en-US" sz="28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宏名</a:t>
              </a:r>
              <a:endPara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cxnSp>
          <p:nvCxnSpPr>
            <p:cNvPr id="57351" name="AutoShape 13"/>
            <p:cNvCxnSpPr>
              <a:cxnSpLocks noChangeShapeType="1"/>
              <a:stCxn id="57354" idx="1"/>
              <a:endCxn id="57350" idx="1"/>
            </p:cNvCxnSpPr>
            <p:nvPr/>
          </p:nvCxnSpPr>
          <p:spPr bwMode="auto">
            <a:xfrm rot="10800000" flipV="1">
              <a:off x="612" y="1344"/>
              <a:ext cx="33" cy="2222"/>
            </a:xfrm>
            <a:prstGeom prst="bentConnector3">
              <a:avLst>
                <a:gd name="adj1" fmla="val 1087875"/>
              </a:avLst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不带参数的宏，范例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8371" name="Text Box 12"/>
          <p:cNvSpPr txBox="1">
            <a:spLocks noChangeArrowheads="1"/>
          </p:cNvSpPr>
          <p:nvPr/>
        </p:nvSpPr>
        <p:spPr bwMode="auto">
          <a:xfrm>
            <a:off x="899592" y="2242418"/>
            <a:ext cx="7208553" cy="2236639"/>
          </a:xfrm>
          <a:prstGeom prst="rect">
            <a:avLst/>
          </a:prstGeom>
          <a:solidFill>
            <a:schemeClr val="bg1"/>
          </a:solidFill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6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Arial" panose="020B0604020202020204" pitchFamily="34" charset="0"/>
                <a:ea typeface="隶书" panose="02010509060101010101" pitchFamily="49" charset="-122"/>
              </a:rPr>
              <a:t>       #define    YES   1</a:t>
            </a:r>
            <a:endParaRPr kumimoji="1" lang="en-US" altLang="zh-CN" sz="2400" b="1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6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Arial" panose="020B0604020202020204" pitchFamily="34" charset="0"/>
                <a:ea typeface="隶书" panose="02010509060101010101" pitchFamily="49" charset="-122"/>
              </a:rPr>
              <a:t>       #define     NO     0</a:t>
            </a:r>
            <a:endParaRPr kumimoji="1" lang="en-US" altLang="zh-CN" sz="2400" b="1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6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Arial" panose="020B0604020202020204" pitchFamily="34" charset="0"/>
                <a:ea typeface="隶书" panose="02010509060101010101" pitchFamily="49" charset="-122"/>
              </a:rPr>
              <a:t>       #define     PI      3.1415926</a:t>
            </a:r>
            <a:endParaRPr kumimoji="1" lang="en-US" altLang="zh-CN" sz="2400" b="1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6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latin typeface="Arial" panose="020B0604020202020204" pitchFamily="34" charset="0"/>
                <a:ea typeface="隶书" panose="02010509060101010101" pitchFamily="49" charset="-122"/>
              </a:rPr>
              <a:t>       #define     OUT  </a:t>
            </a:r>
            <a:r>
              <a:rPr kumimoji="1" lang="en-US" altLang="zh-CN" sz="2400" b="1" dirty="0" err="1" smtClean="0">
                <a:latin typeface="Arial" panose="020B0604020202020204" pitchFamily="34" charset="0"/>
                <a:ea typeface="隶书" panose="02010509060101010101" pitchFamily="49" charset="-122"/>
              </a:rPr>
              <a:t>cout</a:t>
            </a:r>
            <a:r>
              <a:rPr kumimoji="1" lang="en-US" altLang="zh-CN" sz="24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&lt;&lt;“</a:t>
            </a:r>
            <a:r>
              <a:rPr kumimoji="1" lang="en-US" altLang="zh-CN" sz="2400" b="1" dirty="0" err="1">
                <a:latin typeface="Arial" panose="020B0604020202020204" pitchFamily="34" charset="0"/>
                <a:ea typeface="隶书" panose="02010509060101010101" pitchFamily="49" charset="-122"/>
              </a:rPr>
              <a:t>Hello,World</a:t>
            </a:r>
            <a:r>
              <a:rPr kumimoji="1" lang="en-US" altLang="zh-CN" sz="24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”&lt;&lt;</a:t>
            </a:r>
            <a:r>
              <a:rPr kumimoji="1" lang="en-US" altLang="zh-CN" sz="2400" b="1" dirty="0" err="1" smtClean="0">
                <a:latin typeface="Arial" panose="020B0604020202020204" pitchFamily="34" charset="0"/>
                <a:ea typeface="隶书" panose="02010509060101010101" pitchFamily="49" charset="-122"/>
              </a:rPr>
              <a:t>endl</a:t>
            </a:r>
            <a:r>
              <a:rPr kumimoji="1" lang="en-US" altLang="zh-CN" sz="24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;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不带参数的宏，注意事项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64557" name="Text Box 13"/>
          <p:cNvSpPr txBox="1">
            <a:spLocks noChangeArrowheads="1"/>
          </p:cNvSpPr>
          <p:nvPr/>
        </p:nvSpPr>
        <p:spPr bwMode="auto">
          <a:xfrm>
            <a:off x="1403350" y="3087688"/>
            <a:ext cx="4464050" cy="1349375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009900"/>
            </a:solidFill>
            <a:miter lim="800000"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例  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#define   </a:t>
            </a:r>
            <a:r>
              <a:rPr kumimoji="1" lang="en-US" altLang="zh-CN" sz="2000" b="1">
                <a:solidFill>
                  <a:srgbClr val="0099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WIDTH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80</a:t>
            </a:r>
            <a:endParaRPr kumimoji="1" lang="en-US" altLang="zh-CN" sz="2000" b="1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#define   </a:t>
            </a:r>
            <a:r>
              <a:rPr kumimoji="1" lang="en-US" altLang="zh-CN" sz="2000" b="1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LENGTH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</a:t>
            </a:r>
            <a:r>
              <a:rPr kumimoji="1" lang="en-US" altLang="zh-CN" sz="2000" b="1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(</a:t>
            </a:r>
            <a:r>
              <a:rPr kumimoji="1" lang="en-US" altLang="zh-CN" sz="2000" b="1">
                <a:solidFill>
                  <a:srgbClr val="0099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WIDTH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+40</a:t>
            </a:r>
            <a:r>
              <a:rPr kumimoji="1" lang="en-US" altLang="zh-CN" sz="2000" b="1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)</a:t>
            </a:r>
            <a:endParaRPr kumimoji="1" lang="en-US" altLang="zh-CN" sz="2000" b="1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var=LENGTH*2;</a:t>
            </a:r>
            <a:endParaRPr kumimoji="1" lang="en-US" altLang="zh-CN" sz="2000" b="1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宏展开：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var= </a:t>
            </a:r>
            <a:r>
              <a:rPr kumimoji="1" lang="en-US" altLang="zh-CN" sz="2000" b="1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(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80+40</a:t>
            </a:r>
            <a:r>
              <a:rPr kumimoji="1" lang="en-US" altLang="zh-CN" sz="2000" b="1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)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*2;</a:t>
            </a:r>
            <a:endParaRPr kumimoji="1" lang="en-US" altLang="zh-CN" sz="2000" b="1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59396" name="Text Box 17"/>
          <p:cNvSpPr txBox="1">
            <a:spLocks noChangeArrowheads="1"/>
          </p:cNvSpPr>
          <p:nvPr/>
        </p:nvSpPr>
        <p:spPr bwMode="auto">
          <a:xfrm>
            <a:off x="1403350" y="1790700"/>
            <a:ext cx="4464050" cy="1349375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009900"/>
            </a:solidFill>
            <a:miter lim="800000"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例  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#define   </a:t>
            </a:r>
            <a:r>
              <a:rPr kumimoji="1" lang="en-US" altLang="zh-CN" sz="2000" b="1" dirty="0">
                <a:solidFill>
                  <a:srgbClr val="0099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WIDTH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80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#define   </a:t>
            </a:r>
            <a:r>
              <a:rPr kumimoji="1"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LENGTH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</a:t>
            </a:r>
            <a:r>
              <a:rPr kumimoji="1" lang="en-US" altLang="zh-CN" sz="2000" b="1" dirty="0">
                <a:solidFill>
                  <a:srgbClr val="0099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WIDTH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+40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 </a:t>
            </a:r>
            <a:r>
              <a:rPr kumimoji="1" lang="en-US" altLang="zh-CN" sz="2000" b="1" dirty="0" err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var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=LENGTH*2;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宏展开：</a:t>
            </a:r>
            <a:r>
              <a:rPr kumimoji="1" lang="en-US" altLang="zh-CN" sz="2000" b="1" dirty="0" err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var</a:t>
            </a:r>
            <a:r>
              <a:rPr kumimoji="1"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= 80+40 *2;</a:t>
            </a:r>
            <a:endParaRPr kumimoji="1" lang="en-US" altLang="zh-CN" sz="2000" b="1" dirty="0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grpSp>
        <p:nvGrpSpPr>
          <p:cNvPr id="2" name="Group 20"/>
          <p:cNvGrpSpPr/>
          <p:nvPr/>
        </p:nvGrpSpPr>
        <p:grpSpPr bwMode="auto">
          <a:xfrm>
            <a:off x="6084888" y="2133600"/>
            <a:ext cx="2879725" cy="1406525"/>
            <a:chOff x="3833" y="1616"/>
            <a:chExt cx="1814" cy="886"/>
          </a:xfrm>
        </p:grpSpPr>
        <p:sp>
          <p:nvSpPr>
            <p:cNvPr id="59402" name="AutoShape 18"/>
            <p:cNvSpPr>
              <a:spLocks noChangeArrowheads="1"/>
            </p:cNvSpPr>
            <p:nvPr/>
          </p:nvSpPr>
          <p:spPr bwMode="auto">
            <a:xfrm>
              <a:off x="3833" y="1842"/>
              <a:ext cx="363" cy="318"/>
            </a:xfrm>
            <a:prstGeom prst="rightArrow">
              <a:avLst>
                <a:gd name="adj1" fmla="val 50000"/>
                <a:gd name="adj2" fmla="val 28538"/>
              </a:avLst>
            </a:prstGeom>
            <a:solidFill>
              <a:schemeClr val="accent1"/>
            </a:solidFill>
            <a:ln w="12700" algn="ctr">
              <a:solidFill>
                <a:srgbClr val="0000CC"/>
              </a:solidFill>
              <a:miter lim="800000"/>
            </a:ln>
          </p:spPr>
          <p:txBody>
            <a:bodyPr wrap="none" lIns="0" rIns="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59403" name="Text Box 19"/>
            <p:cNvSpPr txBox="1">
              <a:spLocks noChangeArrowheads="1"/>
            </p:cNvSpPr>
            <p:nvPr/>
          </p:nvSpPr>
          <p:spPr bwMode="auto">
            <a:xfrm>
              <a:off x="4241" y="1616"/>
              <a:ext cx="1406" cy="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marL="179705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常见错误：宏体没有用圆括号括起来。</a:t>
              </a: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364565" name="Text Box 21"/>
          <p:cNvSpPr txBox="1">
            <a:spLocks noChangeArrowheads="1"/>
          </p:cNvSpPr>
          <p:nvPr/>
        </p:nvSpPr>
        <p:spPr bwMode="auto">
          <a:xfrm>
            <a:off x="519372" y="4882228"/>
            <a:ext cx="5490904" cy="1017844"/>
          </a:xfrm>
          <a:prstGeom prst="rect">
            <a:avLst/>
          </a:prstGeom>
          <a:noFill/>
          <a:ln w="38100" cap="sq">
            <a:solidFill>
              <a:srgbClr val="0099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 dirty="0">
                <a:latin typeface="Arial" panose="020B0604020202020204" pitchFamily="34" charset="0"/>
                <a:ea typeface="隶书" panose="02010509060101010101" pitchFamily="49" charset="-122"/>
              </a:rPr>
              <a:t>例   </a:t>
            </a:r>
            <a:r>
              <a: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rPr>
              <a:t>#define   PI    3.14159</a:t>
            </a:r>
            <a:endParaRPr kumimoji="1" lang="en-US" altLang="zh-CN" sz="2000" b="1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rPr>
              <a:t>      </a:t>
            </a:r>
            <a:r>
              <a:rPr lang="en-US" altLang="zh-CN" sz="2000" b="1" dirty="0" err="1" smtClean="0">
                <a:latin typeface="Arial" panose="020B0604020202020204" pitchFamily="34" charset="0"/>
                <a:ea typeface="隶书" panose="02010509060101010101" pitchFamily="49" charset="-122"/>
              </a:rPr>
              <a:t>cout</a:t>
            </a:r>
            <a:r>
              <a:rPr lang="en-US" altLang="zh-CN" sz="20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&lt;&lt;</a:t>
            </a:r>
            <a:r>
              <a:rPr kumimoji="1" lang="en-US" altLang="zh-CN" sz="20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“2*PI=”&lt;&lt;PI*2&lt;&lt;</a:t>
            </a:r>
            <a:r>
              <a:rPr kumimoji="1" lang="en-US" altLang="zh-CN" sz="2000" b="1" dirty="0" err="1" smtClean="0">
                <a:latin typeface="Arial" panose="020B0604020202020204" pitchFamily="34" charset="0"/>
                <a:ea typeface="隶书" panose="02010509060101010101" pitchFamily="49" charset="-122"/>
              </a:rPr>
              <a:t>endl</a:t>
            </a:r>
            <a:r>
              <a:rPr kumimoji="1" lang="en-US" altLang="zh-CN" sz="20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;</a:t>
            </a:r>
            <a:endParaRPr kumimoji="1" lang="en-US" altLang="zh-CN" sz="2000" b="1" dirty="0"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000" b="1" dirty="0">
                <a:latin typeface="Arial" panose="020B0604020202020204" pitchFamily="34" charset="0"/>
                <a:ea typeface="隶书" panose="02010509060101010101" pitchFamily="49" charset="-122"/>
              </a:rPr>
              <a:t>宏展开</a:t>
            </a:r>
            <a:r>
              <a:rPr kumimoji="1" lang="zh-CN" altLang="zh-CN" sz="20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：</a:t>
            </a:r>
            <a:r>
              <a:rPr kumimoji="1" lang="en-US" altLang="zh-CN" sz="2000" b="1" dirty="0" err="1" smtClean="0">
                <a:latin typeface="Arial" panose="020B0604020202020204" pitchFamily="34" charset="0"/>
                <a:ea typeface="隶书" panose="02010509060101010101" pitchFamily="49" charset="-122"/>
              </a:rPr>
              <a:t>cout</a:t>
            </a:r>
            <a:r>
              <a:rPr kumimoji="1" lang="en-US" altLang="zh-CN" sz="20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&lt;&lt;“</a:t>
            </a:r>
            <a:r>
              <a: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rPr>
              <a:t>2*PI</a:t>
            </a:r>
            <a:r>
              <a:rPr kumimoji="1" lang="en-US" altLang="zh-CN" sz="20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=”&lt;&lt;3.14159*2&lt;&lt;</a:t>
            </a:r>
            <a:r>
              <a:rPr kumimoji="1" lang="en-US" altLang="zh-CN" sz="2000" b="1" dirty="0" err="1" smtClean="0">
                <a:latin typeface="Arial" panose="020B0604020202020204" pitchFamily="34" charset="0"/>
                <a:ea typeface="隶书" panose="02010509060101010101" pitchFamily="49" charset="-122"/>
              </a:rPr>
              <a:t>endl</a:t>
            </a:r>
            <a:r>
              <a:rPr kumimoji="1" lang="en-US" altLang="zh-CN" sz="2000" b="1" dirty="0" smtClean="0">
                <a:latin typeface="Arial" panose="020B0604020202020204" pitchFamily="34" charset="0"/>
                <a:ea typeface="隶书" panose="02010509060101010101" pitchFamily="49" charset="-122"/>
              </a:rPr>
              <a:t>;</a:t>
            </a:r>
            <a:endParaRPr kumimoji="1" lang="en-US" altLang="zh-CN" sz="2000" b="1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grpSp>
        <p:nvGrpSpPr>
          <p:cNvPr id="3" name="Group 22"/>
          <p:cNvGrpSpPr/>
          <p:nvPr/>
        </p:nvGrpSpPr>
        <p:grpSpPr bwMode="auto">
          <a:xfrm>
            <a:off x="6011863" y="4652963"/>
            <a:ext cx="2879725" cy="1844675"/>
            <a:chOff x="3833" y="1616"/>
            <a:chExt cx="1814" cy="1162"/>
          </a:xfrm>
        </p:grpSpPr>
        <p:sp>
          <p:nvSpPr>
            <p:cNvPr id="59400" name="AutoShape 23"/>
            <p:cNvSpPr>
              <a:spLocks noChangeArrowheads="1"/>
            </p:cNvSpPr>
            <p:nvPr/>
          </p:nvSpPr>
          <p:spPr bwMode="auto">
            <a:xfrm>
              <a:off x="3833" y="1842"/>
              <a:ext cx="363" cy="318"/>
            </a:xfrm>
            <a:prstGeom prst="rightArrow">
              <a:avLst>
                <a:gd name="adj1" fmla="val 50000"/>
                <a:gd name="adj2" fmla="val 28538"/>
              </a:avLst>
            </a:prstGeom>
            <a:solidFill>
              <a:schemeClr val="accent1"/>
            </a:solidFill>
            <a:ln w="12700" algn="ctr">
              <a:solidFill>
                <a:srgbClr val="0000CC"/>
              </a:solidFill>
              <a:miter lim="800000"/>
            </a:ln>
          </p:spPr>
          <p:txBody>
            <a:bodyPr wrap="none" lIns="0" rIns="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59401" name="Text Box 24"/>
            <p:cNvSpPr txBox="1">
              <a:spLocks noChangeArrowheads="1"/>
            </p:cNvSpPr>
            <p:nvPr/>
          </p:nvSpPr>
          <p:spPr bwMode="auto">
            <a:xfrm>
              <a:off x="4241" y="1616"/>
              <a:ext cx="1406" cy="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marL="179705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注意点：源程序中只有相同的标识符才被替换。</a:t>
              </a: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6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7" grpId="0" animBg="1"/>
      <p:bldP spid="364565" grpId="0" animBg="1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带参数的宏，类函数宏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1042988" y="2205038"/>
            <a:ext cx="7559675" cy="1008062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类函数宏定义的一般形式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l" eaLnBrk="1" hangingPunct="1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#define    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宏名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参数表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     【</a:t>
            </a:r>
            <a:r>
              <a:rPr lang="zh-CN" altLang="en-US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宏体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】</a:t>
            </a:r>
            <a:endParaRPr lang="en-US" altLang="zh-CN" sz="2800" b="1" dirty="0">
              <a:solidFill>
                <a:srgbClr val="FFFF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1023938" y="2709863"/>
            <a:ext cx="7578725" cy="2590800"/>
            <a:chOff x="645" y="1344"/>
            <a:chExt cx="4774" cy="1632"/>
          </a:xfrm>
        </p:grpSpPr>
        <p:sp>
          <p:nvSpPr>
            <p:cNvPr id="60421" name="Rectangle 7"/>
            <p:cNvSpPr>
              <a:spLocks noChangeArrowheads="1"/>
            </p:cNvSpPr>
            <p:nvPr/>
          </p:nvSpPr>
          <p:spPr bwMode="auto">
            <a:xfrm>
              <a:off x="657" y="2024"/>
              <a:ext cx="4762" cy="952"/>
            </a:xfrm>
            <a:prstGeom prst="rect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宏替换：在源程序中发现与宏名相同的标识符后，用宏体替换之。</a:t>
              </a:r>
              <a:r>
                <a:rPr lang="zh-CN" altLang="zh-CN" sz="28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形参用实参换，其它字符保留</a:t>
              </a: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</a:rPr>
                <a:t>。</a:t>
              </a:r>
              <a:endPara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cxnSp>
          <p:nvCxnSpPr>
            <p:cNvPr id="60422" name="AutoShape 8"/>
            <p:cNvCxnSpPr>
              <a:cxnSpLocks noChangeShapeType="1"/>
              <a:stCxn id="60419" idx="1"/>
              <a:endCxn id="60421" idx="1"/>
            </p:cNvCxnSpPr>
            <p:nvPr/>
          </p:nvCxnSpPr>
          <p:spPr bwMode="auto">
            <a:xfrm rot="10800000" flipH="1" flipV="1">
              <a:off x="645" y="1344"/>
              <a:ext cx="1" cy="1156"/>
            </a:xfrm>
            <a:prstGeom prst="bentConnector3">
              <a:avLst>
                <a:gd name="adj1" fmla="val -36900014"/>
              </a:avLst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类函数宏，范例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2327275" y="2636946"/>
            <a:ext cx="4389343" cy="1815882"/>
          </a:xfrm>
          <a:prstGeom prst="rect">
            <a:avLst/>
          </a:prstGeom>
          <a:noFill/>
          <a:ln w="381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例 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#define    S(a,b)       a*b</a:t>
            </a:r>
            <a:endParaRPr kumimoji="1" lang="en-US" altLang="zh-CN" sz="2800" b="1"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        ………..</a:t>
            </a:r>
            <a:endParaRPr kumimoji="1" lang="en-US" altLang="zh-CN" sz="2800" b="1"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       area=S(3,2);</a:t>
            </a:r>
            <a:endParaRPr kumimoji="1" lang="en-US" altLang="zh-CN" sz="2800" b="1"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宏展开：        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area=3*2;</a:t>
            </a:r>
            <a:endParaRPr kumimoji="1" lang="en-US" altLang="zh-CN" sz="2800" b="1">
              <a:latin typeface="Times New Roman" panose="02020603050405020304" pitchFamily="18" charset="0"/>
            </a:endParaRPr>
          </a:p>
        </p:txBody>
      </p:sp>
      <p:grpSp>
        <p:nvGrpSpPr>
          <p:cNvPr id="2" name="Group 16"/>
          <p:cNvGrpSpPr/>
          <p:nvPr/>
        </p:nvGrpSpPr>
        <p:grpSpPr bwMode="auto">
          <a:xfrm>
            <a:off x="4535488" y="2492375"/>
            <a:ext cx="1784350" cy="1584325"/>
            <a:chOff x="2426" y="1752"/>
            <a:chExt cx="1124" cy="998"/>
          </a:xfrm>
        </p:grpSpPr>
        <p:sp>
          <p:nvSpPr>
            <p:cNvPr id="61449" name="Line 8"/>
            <p:cNvSpPr>
              <a:spLocks noChangeShapeType="1"/>
            </p:cNvSpPr>
            <p:nvPr/>
          </p:nvSpPr>
          <p:spPr bwMode="auto">
            <a:xfrm flipV="1">
              <a:off x="2426" y="2115"/>
              <a:ext cx="342" cy="317"/>
            </a:xfrm>
            <a:prstGeom prst="line">
              <a:avLst/>
            </a:prstGeom>
            <a:noFill/>
            <a:ln w="12700" cap="sq">
              <a:solidFill>
                <a:srgbClr val="E682E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0" name="Line 10"/>
            <p:cNvSpPr>
              <a:spLocks noChangeShapeType="1"/>
            </p:cNvSpPr>
            <p:nvPr/>
          </p:nvSpPr>
          <p:spPr bwMode="auto">
            <a:xfrm flipH="1">
              <a:off x="3288" y="2115"/>
              <a:ext cx="262" cy="635"/>
            </a:xfrm>
            <a:prstGeom prst="line">
              <a:avLst/>
            </a:prstGeom>
            <a:noFill/>
            <a:ln w="12700" cap="sq">
              <a:solidFill>
                <a:srgbClr val="E682E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1" name="Freeform 12"/>
            <p:cNvSpPr/>
            <p:nvPr/>
          </p:nvSpPr>
          <p:spPr bwMode="auto">
            <a:xfrm>
              <a:off x="2789" y="1752"/>
              <a:ext cx="759" cy="167"/>
            </a:xfrm>
            <a:custGeom>
              <a:avLst/>
              <a:gdLst>
                <a:gd name="T0" fmla="*/ 0 w 528"/>
                <a:gd name="T1" fmla="*/ 4633 h 96"/>
                <a:gd name="T2" fmla="*/ 3651 w 528"/>
                <a:gd name="T3" fmla="*/ 0 h 96"/>
                <a:gd name="T4" fmla="*/ 6696 w 528"/>
                <a:gd name="T5" fmla="*/ 4633 h 96"/>
                <a:gd name="T6" fmla="*/ 0 60000 65536"/>
                <a:gd name="T7" fmla="*/ 0 60000 65536"/>
                <a:gd name="T8" fmla="*/ 0 60000 65536"/>
                <a:gd name="T9" fmla="*/ 0 w 528"/>
                <a:gd name="T10" fmla="*/ 0 h 96"/>
                <a:gd name="T11" fmla="*/ 528 w 52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96">
                  <a:moveTo>
                    <a:pt x="0" y="96"/>
                  </a:moveTo>
                  <a:cubicBezTo>
                    <a:pt x="100" y="48"/>
                    <a:pt x="200" y="0"/>
                    <a:pt x="288" y="0"/>
                  </a:cubicBezTo>
                  <a:cubicBezTo>
                    <a:pt x="376" y="0"/>
                    <a:pt x="452" y="48"/>
                    <a:pt x="528" y="96"/>
                  </a:cubicBezTo>
                </a:path>
              </a:pathLst>
            </a:custGeom>
            <a:noFill/>
            <a:ln w="12700" cap="sq">
              <a:solidFill>
                <a:srgbClr val="E682E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5"/>
          <p:cNvGrpSpPr/>
          <p:nvPr/>
        </p:nvGrpSpPr>
        <p:grpSpPr bwMode="auto">
          <a:xfrm>
            <a:off x="4319588" y="2516188"/>
            <a:ext cx="1870075" cy="1560512"/>
            <a:chOff x="2290" y="1767"/>
            <a:chExt cx="1178" cy="983"/>
          </a:xfrm>
        </p:grpSpPr>
        <p:sp>
          <p:nvSpPr>
            <p:cNvPr id="61446" name="Line 7"/>
            <p:cNvSpPr>
              <a:spLocks noChangeShapeType="1"/>
            </p:cNvSpPr>
            <p:nvPr/>
          </p:nvSpPr>
          <p:spPr bwMode="auto">
            <a:xfrm flipV="1">
              <a:off x="2290" y="2120"/>
              <a:ext cx="342" cy="312"/>
            </a:xfrm>
            <a:prstGeom prst="line">
              <a:avLst/>
            </a:prstGeom>
            <a:noFill/>
            <a:ln w="12700" cap="sq">
              <a:solidFill>
                <a:srgbClr val="FFFF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47" name="Line 9"/>
            <p:cNvSpPr>
              <a:spLocks noChangeShapeType="1"/>
            </p:cNvSpPr>
            <p:nvPr/>
          </p:nvSpPr>
          <p:spPr bwMode="auto">
            <a:xfrm flipH="1">
              <a:off x="3016" y="2116"/>
              <a:ext cx="452" cy="634"/>
            </a:xfrm>
            <a:prstGeom prst="line">
              <a:avLst/>
            </a:prstGeom>
            <a:noFill/>
            <a:ln w="12700" cap="sq">
              <a:solidFill>
                <a:srgbClr val="FFFF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48" name="Freeform 14"/>
            <p:cNvSpPr/>
            <p:nvPr/>
          </p:nvSpPr>
          <p:spPr bwMode="auto">
            <a:xfrm>
              <a:off x="2638" y="1767"/>
              <a:ext cx="759" cy="167"/>
            </a:xfrm>
            <a:custGeom>
              <a:avLst/>
              <a:gdLst>
                <a:gd name="T0" fmla="*/ 0 w 528"/>
                <a:gd name="T1" fmla="*/ 4633 h 96"/>
                <a:gd name="T2" fmla="*/ 3651 w 528"/>
                <a:gd name="T3" fmla="*/ 0 h 96"/>
                <a:gd name="T4" fmla="*/ 6696 w 528"/>
                <a:gd name="T5" fmla="*/ 4633 h 96"/>
                <a:gd name="T6" fmla="*/ 0 60000 65536"/>
                <a:gd name="T7" fmla="*/ 0 60000 65536"/>
                <a:gd name="T8" fmla="*/ 0 60000 65536"/>
                <a:gd name="T9" fmla="*/ 0 w 528"/>
                <a:gd name="T10" fmla="*/ 0 h 96"/>
                <a:gd name="T11" fmla="*/ 528 w 52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96">
                  <a:moveTo>
                    <a:pt x="0" y="96"/>
                  </a:moveTo>
                  <a:cubicBezTo>
                    <a:pt x="100" y="48"/>
                    <a:pt x="200" y="0"/>
                    <a:pt x="288" y="0"/>
                  </a:cubicBezTo>
                  <a:cubicBezTo>
                    <a:pt x="376" y="0"/>
                    <a:pt x="452" y="48"/>
                    <a:pt x="528" y="96"/>
                  </a:cubicBezTo>
                </a:path>
              </a:pathLst>
            </a:custGeom>
            <a:noFill/>
            <a:ln w="12700" cap="sq">
              <a:solidFill>
                <a:srgbClr val="FFFF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宏（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类函数宏，注意事项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68643" name="Text Box 3"/>
          <p:cNvSpPr txBox="1">
            <a:spLocks noChangeArrowheads="1"/>
          </p:cNvSpPr>
          <p:nvPr/>
        </p:nvSpPr>
        <p:spPr bwMode="auto">
          <a:xfrm>
            <a:off x="1403350" y="3244388"/>
            <a:ext cx="4464050" cy="797848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009900"/>
            </a:solidFill>
            <a:miter lim="800000"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例   </a:t>
            </a:r>
            <a:r>
              <a:rPr kumimoji="1"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#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define    POWER(x)    </a:t>
            </a: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0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kumimoji="1" lang="en-US" altLang="zh-CN" sz="20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*</a:t>
            </a:r>
            <a:r>
              <a:rPr kumimoji="1" lang="en-US" altLang="zh-CN" sz="20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</a:t>
            </a:r>
            <a:r>
              <a:rPr kumimoji="1" lang="en-US" altLang="zh-CN" sz="20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宏展开： 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z=</a:t>
            </a: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0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(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x+y)*(x+y</a:t>
            </a:r>
            <a:r>
              <a:rPr kumimoji="1" lang="en-US" altLang="zh-CN" sz="20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;</a:t>
            </a:r>
            <a:endParaRPr kumimoji="1"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1403350" y="1670050"/>
            <a:ext cx="4464050" cy="1590675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009900"/>
            </a:solidFill>
            <a:miter lim="800000"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例 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#define   POWER(x)      x*x          </a:t>
            </a:r>
            <a:b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</a:b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 x=4;   y=6;</a:t>
            </a:r>
            <a:endParaRPr kumimoji="1" lang="en-US" altLang="zh-CN" sz="2000" b="1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 z=POWER(x+y);</a:t>
            </a:r>
            <a:endParaRPr kumimoji="1" lang="en-US" altLang="zh-CN" sz="2000" b="1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宏展开：</a:t>
            </a:r>
            <a:r>
              <a:rPr kumimoji="1" lang="en-US" altLang="zh-CN" sz="2000" b="1">
                <a:solidFill>
                  <a:srgbClr val="00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z=x+y*x+y;</a:t>
            </a:r>
            <a:endParaRPr kumimoji="1" lang="en-US" altLang="zh-CN" sz="2000" b="1">
              <a:solidFill>
                <a:srgbClr val="000000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368652" name="Text Box 12"/>
          <p:cNvSpPr txBox="1">
            <a:spLocks noChangeArrowheads="1"/>
          </p:cNvSpPr>
          <p:nvPr/>
        </p:nvSpPr>
        <p:spPr bwMode="auto">
          <a:xfrm>
            <a:off x="344221" y="4956742"/>
            <a:ext cx="6013482" cy="710067"/>
          </a:xfrm>
          <a:prstGeom prst="rect">
            <a:avLst/>
          </a:prstGeom>
          <a:solidFill>
            <a:schemeClr val="bg1"/>
          </a:solidFill>
          <a:ln w="38100" cap="sq">
            <a:solidFill>
              <a:srgbClr val="009900"/>
            </a:solidFill>
            <a:miter lim="800000"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latin typeface="Arial" panose="020B0604020202020204" pitchFamily="34" charset="0"/>
                <a:ea typeface="隶书" panose="02010509060101010101" pitchFamily="49" charset="-122"/>
              </a:rPr>
              <a:t>例  </a:t>
            </a:r>
            <a:r>
              <a: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rPr>
              <a:t>#define   S   </a:t>
            </a:r>
            <a:r>
              <a: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  <a:sym typeface="Wingdings 3" panose="05040102010807070707" pitchFamily="18" charset="2"/>
              </a:rPr>
              <a:t>(r)    PI*r*r</a:t>
            </a:r>
            <a:endParaRPr kumimoji="1" lang="en-US" altLang="zh-CN" sz="2000" b="1">
              <a:latin typeface="Arial" panose="020B0604020202020204" pitchFamily="34" charset="0"/>
              <a:ea typeface="隶书" panose="02010509060101010101" pitchFamily="49" charset="-122"/>
              <a:sym typeface="Wingdings 3" panose="05040102010807070707" pitchFamily="18" charset="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latin typeface="Arial" panose="020B0604020202020204" pitchFamily="34" charset="0"/>
                <a:ea typeface="隶书" panose="02010509060101010101" pitchFamily="49" charset="-122"/>
                <a:sym typeface="Wingdings 3" panose="05040102010807070707" pitchFamily="18" charset="2"/>
              </a:rPr>
              <a:t>相当于定义了不带参宏</a:t>
            </a:r>
            <a:r>
              <a: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  <a:sym typeface="Wingdings 3" panose="05040102010807070707" pitchFamily="18" charset="2"/>
              </a:rPr>
              <a:t>S,</a:t>
            </a:r>
            <a:r>
              <a:rPr kumimoji="1" lang="zh-CN" altLang="zh-CN" sz="2000" b="1">
                <a:latin typeface="Arial" panose="020B0604020202020204" pitchFamily="34" charset="0"/>
                <a:ea typeface="隶书" panose="02010509060101010101" pitchFamily="49" charset="-122"/>
                <a:sym typeface="Wingdings 3" panose="05040102010807070707" pitchFamily="18" charset="2"/>
              </a:rPr>
              <a:t>代表字符串“(</a:t>
            </a:r>
            <a:r>
              <a: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  <a:sym typeface="Wingdings 3" panose="05040102010807070707" pitchFamily="18" charset="2"/>
              </a:rPr>
              <a:t>r)     PI*r*r” </a:t>
            </a:r>
            <a:endParaRPr kumimoji="1" lang="en-US" altLang="zh-CN" sz="2000" b="1">
              <a:latin typeface="Arial" panose="020B0604020202020204" pitchFamily="34" charset="0"/>
              <a:ea typeface="隶书" panose="02010509060101010101" pitchFamily="49" charset="-122"/>
              <a:sym typeface="Wingdings 3" panose="05040102010807070707" pitchFamily="18" charset="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084888" y="2276475"/>
            <a:ext cx="3059115" cy="1406525"/>
            <a:chOff x="6084888" y="2276475"/>
            <a:chExt cx="3059115" cy="1406525"/>
          </a:xfrm>
        </p:grpSpPr>
        <p:sp>
          <p:nvSpPr>
            <p:cNvPr id="62475" name="Text Box 7"/>
            <p:cNvSpPr txBox="1">
              <a:spLocks noChangeArrowheads="1"/>
            </p:cNvSpPr>
            <p:nvPr/>
          </p:nvSpPr>
          <p:spPr bwMode="auto">
            <a:xfrm>
              <a:off x="6743407" y="2276475"/>
              <a:ext cx="2400596" cy="140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marL="179705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常见错误：宏体和参数没有用圆括号括起来。</a:t>
              </a: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AutoShape 18"/>
            <p:cNvSpPr>
              <a:spLocks noChangeArrowheads="1"/>
            </p:cNvSpPr>
            <p:nvPr/>
          </p:nvSpPr>
          <p:spPr bwMode="auto">
            <a:xfrm>
              <a:off x="6084888" y="2492375"/>
              <a:ext cx="576263" cy="504825"/>
            </a:xfrm>
            <a:prstGeom prst="rightArrow">
              <a:avLst>
                <a:gd name="adj1" fmla="val 50000"/>
                <a:gd name="adj2" fmla="val 28538"/>
              </a:avLst>
            </a:prstGeom>
            <a:solidFill>
              <a:schemeClr val="accent1"/>
            </a:solidFill>
            <a:ln w="12700" algn="ctr">
              <a:solidFill>
                <a:srgbClr val="0000CC"/>
              </a:solidFill>
              <a:miter lim="800000"/>
            </a:ln>
          </p:spPr>
          <p:txBody>
            <a:bodyPr wrap="none" lIns="0" rIns="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55273" y="4652963"/>
            <a:ext cx="2725240" cy="1406525"/>
            <a:chOff x="6455273" y="4652963"/>
            <a:chExt cx="2725240" cy="1406525"/>
          </a:xfrm>
        </p:grpSpPr>
        <p:sp>
          <p:nvSpPr>
            <p:cNvPr id="62473" name="Text Box 11"/>
            <p:cNvSpPr txBox="1">
              <a:spLocks noChangeArrowheads="1"/>
            </p:cNvSpPr>
            <p:nvPr/>
          </p:nvSpPr>
          <p:spPr bwMode="auto">
            <a:xfrm>
              <a:off x="6948488" y="4652963"/>
              <a:ext cx="2232025" cy="140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 marL="179705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常见错误：宏名和参数之间不能有空格。</a:t>
              </a: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AutoShape 18"/>
            <p:cNvSpPr>
              <a:spLocks noChangeArrowheads="1"/>
            </p:cNvSpPr>
            <p:nvPr/>
          </p:nvSpPr>
          <p:spPr bwMode="auto">
            <a:xfrm>
              <a:off x="6455273" y="5059362"/>
              <a:ext cx="576263" cy="504825"/>
            </a:xfrm>
            <a:prstGeom prst="rightArrow">
              <a:avLst>
                <a:gd name="adj1" fmla="val 50000"/>
                <a:gd name="adj2" fmla="val 28538"/>
              </a:avLst>
            </a:prstGeom>
            <a:solidFill>
              <a:schemeClr val="accent1"/>
            </a:solidFill>
            <a:ln w="12700" algn="ctr">
              <a:solidFill>
                <a:srgbClr val="0000CC"/>
              </a:solidFill>
              <a:miter lim="800000"/>
            </a:ln>
          </p:spPr>
          <p:txBody>
            <a:bodyPr wrap="none" lIns="0" rIns="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6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 animBg="1"/>
      <p:bldP spid="368652" grpId="0" animBg="1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类函数宏与函数的比较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" name="Group 12"/>
          <p:cNvGrpSpPr/>
          <p:nvPr/>
        </p:nvGrpSpPr>
        <p:grpSpPr bwMode="auto">
          <a:xfrm>
            <a:off x="1371600" y="2009775"/>
            <a:ext cx="7161214" cy="3346450"/>
            <a:chOff x="720" y="267"/>
            <a:chExt cx="4511" cy="2108"/>
          </a:xfrm>
        </p:grpSpPr>
        <p:sp>
          <p:nvSpPr>
            <p:cNvPr id="63492" name="Text Box 13"/>
            <p:cNvSpPr txBox="1">
              <a:spLocks noChangeArrowheads="1"/>
            </p:cNvSpPr>
            <p:nvPr/>
          </p:nvSpPr>
          <p:spPr bwMode="auto">
            <a:xfrm>
              <a:off x="720" y="564"/>
              <a:ext cx="2769" cy="1810"/>
            </a:xfrm>
            <a:prstGeom prst="rect">
              <a:avLst/>
            </a:prstGeom>
            <a:noFill/>
            <a:ln w="38100" cap="sq">
              <a:solidFill>
                <a:srgbClr val="0099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#define  MAX(x,y)   (x)&gt;(y)?(x):(y)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 …….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int main()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{   int  a,b,c,d,t;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     …….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     t=MAX(a+b,c+d);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      ……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}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Arial" panose="020B0604020202020204" pitchFamily="34" charset="0"/>
                  <a:ea typeface="隶书" panose="02010509060101010101" pitchFamily="49" charset="-122"/>
                </a:rPr>
                <a:t>宏展开：</a:t>
              </a:r>
              <a:r>
                <a:rPr kumimoji="1" lang="en-US" altLang="zh-CN" sz="2000" b="1">
                  <a:latin typeface="Arial" panose="020B0604020202020204" pitchFamily="34" charset="0"/>
                  <a:ea typeface="隶书" panose="02010509060101010101" pitchFamily="49" charset="-122"/>
                </a:rPr>
                <a:t>t=(a+b)&gt;(c+d)?(a+b):(c+d);</a:t>
              </a:r>
              <a:endParaRPr kumimoji="1" lang="en-US" altLang="zh-CN" sz="2000" b="1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63493" name="Text Box 14"/>
            <p:cNvSpPr txBox="1">
              <a:spLocks noChangeArrowheads="1"/>
            </p:cNvSpPr>
            <p:nvPr/>
          </p:nvSpPr>
          <p:spPr bwMode="auto">
            <a:xfrm>
              <a:off x="3564" y="571"/>
              <a:ext cx="1667" cy="1804"/>
            </a:xfrm>
            <a:prstGeom prst="rect">
              <a:avLst/>
            </a:prstGeom>
            <a:noFill/>
            <a:ln w="38100" cap="sq">
              <a:solidFill>
                <a:srgbClr val="0099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int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  max(</a:t>
              </a: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int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</a:t>
              </a: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x,int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y)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{  return(x&gt;</a:t>
              </a: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y?x:y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);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}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int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main()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{    </a:t>
              </a: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int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</a:t>
              </a: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a,b,c,d,t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;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     …….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     t=max(</a:t>
              </a:r>
              <a:r>
                <a:rPr kumimoji="1" lang="en-US" altLang="zh-CN" sz="2000" b="1" dirty="0" err="1">
                  <a:latin typeface="Arial" panose="020B0604020202020204" pitchFamily="34" charset="0"/>
                  <a:ea typeface="隶书" panose="02010509060101010101" pitchFamily="49" charset="-122"/>
                </a:rPr>
                <a:t>a+b,c+d</a:t>
              </a: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); 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       ………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latin typeface="Arial" panose="020B0604020202020204" pitchFamily="34" charset="0"/>
                  <a:ea typeface="隶书" panose="02010509060101010101" pitchFamily="49" charset="-122"/>
                </a:rPr>
                <a:t>}</a:t>
              </a:r>
              <a:endParaRPr kumimoji="1" lang="en-US" altLang="zh-CN" sz="2000" b="1" dirty="0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63494" name="Text Box 15"/>
            <p:cNvSpPr txBox="1">
              <a:spLocks noChangeArrowheads="1"/>
            </p:cNvSpPr>
            <p:nvPr/>
          </p:nvSpPr>
          <p:spPr bwMode="auto">
            <a:xfrm>
              <a:off x="753" y="267"/>
              <a:ext cx="312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例  用宏定义和函数实现同样的功能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561262" cy="1143000"/>
          </a:xfrm>
          <a:noFill/>
        </p:spPr>
        <p:txBody>
          <a:bodyPr/>
          <a:lstStyle/>
          <a:p>
            <a:pPr algn="ctr"/>
            <a:r>
              <a:rPr lang="zh-CN" altLang="en-US" sz="44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宏</a:t>
            </a:r>
            <a:r>
              <a:rPr lang="zh-CN" alt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</a:t>
            </a:r>
            <a:r>
              <a:rPr lang="zh-CN" altLang="en-US" sz="4400" b="1" dirty="0">
                <a:solidFill>
                  <a:srgbClr val="FFFF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类函数宏与函数的比较</a:t>
            </a:r>
            <a:r>
              <a:rPr lang="en-US" altLang="zh-CN" sz="4400" b="1" dirty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)</a:t>
            </a:r>
            <a:endParaRPr lang="en-US" altLang="zh-CN" sz="4400" b="1" dirty="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45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23850" y="1595438"/>
            <a:ext cx="8604250" cy="609600"/>
          </a:xfrm>
          <a:noFill/>
        </p:spPr>
        <p:txBody>
          <a:bodyPr/>
          <a:lstStyle/>
          <a:p>
            <a:pPr lvl="2" eaLnBrk="1" hangingPunct="1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带参数的宏与函数区别</a:t>
            </a:r>
            <a:endParaRPr lang="zh-CN" altLang="en-US" sz="2800" b="1" dirty="0" smtClean="0">
              <a:solidFill>
                <a:srgbClr val="FFFF00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1036638" y="2276475"/>
            <a:ext cx="7435850" cy="4213323"/>
            <a:chOff x="668" y="864"/>
            <a:chExt cx="4684" cy="2256"/>
          </a:xfrm>
        </p:grpSpPr>
        <p:sp>
          <p:nvSpPr>
            <p:cNvPr id="64517" name="Rectangle 9"/>
            <p:cNvSpPr>
              <a:spLocks noChangeArrowheads="1"/>
            </p:cNvSpPr>
            <p:nvPr/>
          </p:nvSpPr>
          <p:spPr bwMode="auto">
            <a:xfrm>
              <a:off x="2415" y="2808"/>
              <a:ext cx="1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4518" name="Text Box 10"/>
            <p:cNvSpPr txBox="1">
              <a:spLocks noChangeArrowheads="1"/>
            </p:cNvSpPr>
            <p:nvPr/>
          </p:nvSpPr>
          <p:spPr bwMode="auto">
            <a:xfrm>
              <a:off x="1893" y="882"/>
              <a:ext cx="69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带参宏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19" name="Text Box 11"/>
            <p:cNvSpPr txBox="1">
              <a:spLocks noChangeArrowheads="1"/>
            </p:cNvSpPr>
            <p:nvPr/>
          </p:nvSpPr>
          <p:spPr bwMode="auto">
            <a:xfrm>
              <a:off x="4102" y="882"/>
              <a:ext cx="50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函数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0" name="Text Box 12"/>
            <p:cNvSpPr txBox="1">
              <a:spLocks noChangeArrowheads="1"/>
            </p:cNvSpPr>
            <p:nvPr/>
          </p:nvSpPr>
          <p:spPr bwMode="auto">
            <a:xfrm>
              <a:off x="692" y="1987"/>
              <a:ext cx="8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处理过程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1" name="Text Box 13"/>
            <p:cNvSpPr txBox="1">
              <a:spLocks noChangeArrowheads="1"/>
            </p:cNvSpPr>
            <p:nvPr/>
          </p:nvSpPr>
          <p:spPr bwMode="auto">
            <a:xfrm>
              <a:off x="1745" y="1956"/>
              <a:ext cx="147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不分配内存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简单的字符置换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2" name="Text Box 14"/>
            <p:cNvSpPr txBox="1">
              <a:spLocks noChangeArrowheads="1"/>
            </p:cNvSpPr>
            <p:nvPr/>
          </p:nvSpPr>
          <p:spPr bwMode="auto">
            <a:xfrm>
              <a:off x="3230" y="1956"/>
              <a:ext cx="209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分配内存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先求实参值</a:t>
              </a:r>
              <a:r>
                <a:rPr kumimoji="1" lang="en-US" altLang="zh-CN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,</a:t>
              </a: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再代入形参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3" name="Text Box 15"/>
            <p:cNvSpPr txBox="1">
              <a:spLocks noChangeArrowheads="1"/>
            </p:cNvSpPr>
            <p:nvPr/>
          </p:nvSpPr>
          <p:spPr bwMode="auto">
            <a:xfrm>
              <a:off x="668" y="1265"/>
              <a:ext cx="8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处理时间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4" name="Text Box 16"/>
            <p:cNvSpPr txBox="1">
              <a:spLocks noChangeArrowheads="1"/>
            </p:cNvSpPr>
            <p:nvPr/>
          </p:nvSpPr>
          <p:spPr bwMode="auto">
            <a:xfrm>
              <a:off x="1749" y="1257"/>
              <a:ext cx="69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编译时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5" name="Text Box 17"/>
            <p:cNvSpPr txBox="1">
              <a:spLocks noChangeArrowheads="1"/>
            </p:cNvSpPr>
            <p:nvPr/>
          </p:nvSpPr>
          <p:spPr bwMode="auto">
            <a:xfrm>
              <a:off x="3235" y="1267"/>
              <a:ext cx="108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程序运行时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6" name="Text Box 18"/>
            <p:cNvSpPr txBox="1">
              <a:spLocks noChangeArrowheads="1"/>
            </p:cNvSpPr>
            <p:nvPr/>
          </p:nvSpPr>
          <p:spPr bwMode="auto">
            <a:xfrm>
              <a:off x="692" y="1695"/>
              <a:ext cx="8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参数类型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7" name="Text Box 19"/>
            <p:cNvSpPr txBox="1">
              <a:spLocks noChangeArrowheads="1"/>
            </p:cNvSpPr>
            <p:nvPr/>
          </p:nvSpPr>
          <p:spPr bwMode="auto">
            <a:xfrm>
              <a:off x="1747" y="1631"/>
              <a:ext cx="108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无类型问题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8" name="Text Box 20"/>
            <p:cNvSpPr txBox="1">
              <a:spLocks noChangeArrowheads="1"/>
            </p:cNvSpPr>
            <p:nvPr/>
          </p:nvSpPr>
          <p:spPr bwMode="auto">
            <a:xfrm>
              <a:off x="3235" y="1651"/>
              <a:ext cx="170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定义实参</a:t>
              </a:r>
              <a:r>
                <a:rPr kumimoji="1" lang="en-US" altLang="zh-CN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,</a:t>
              </a: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形参类型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29" name="Text Box 21"/>
            <p:cNvSpPr txBox="1">
              <a:spLocks noChangeArrowheads="1"/>
            </p:cNvSpPr>
            <p:nvPr/>
          </p:nvSpPr>
          <p:spPr bwMode="auto">
            <a:xfrm>
              <a:off x="716" y="2468"/>
              <a:ext cx="8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程序长度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30" name="Text Box 22"/>
            <p:cNvSpPr txBox="1">
              <a:spLocks noChangeArrowheads="1"/>
            </p:cNvSpPr>
            <p:nvPr/>
          </p:nvSpPr>
          <p:spPr bwMode="auto">
            <a:xfrm>
              <a:off x="1750" y="2425"/>
              <a:ext cx="50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变长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31" name="Text Box 23"/>
            <p:cNvSpPr txBox="1">
              <a:spLocks noChangeArrowheads="1"/>
            </p:cNvSpPr>
            <p:nvPr/>
          </p:nvSpPr>
          <p:spPr bwMode="auto">
            <a:xfrm>
              <a:off x="3238" y="2418"/>
              <a:ext cx="50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不变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32" name="Text Box 24"/>
            <p:cNvSpPr txBox="1">
              <a:spLocks noChangeArrowheads="1"/>
            </p:cNvSpPr>
            <p:nvPr/>
          </p:nvSpPr>
          <p:spPr bwMode="auto">
            <a:xfrm>
              <a:off x="692" y="2802"/>
              <a:ext cx="8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运行速度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33" name="Text Box 25"/>
            <p:cNvSpPr txBox="1">
              <a:spLocks noChangeArrowheads="1"/>
            </p:cNvSpPr>
            <p:nvPr/>
          </p:nvSpPr>
          <p:spPr bwMode="auto">
            <a:xfrm>
              <a:off x="1674" y="2802"/>
              <a:ext cx="127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不占运行时间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34" name="Text Box 26"/>
            <p:cNvSpPr txBox="1">
              <a:spLocks noChangeArrowheads="1"/>
            </p:cNvSpPr>
            <p:nvPr/>
          </p:nvSpPr>
          <p:spPr bwMode="auto">
            <a:xfrm>
              <a:off x="3232" y="2802"/>
              <a:ext cx="166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latin typeface="华文楷体" panose="02010600040101010101" pitchFamily="2" charset="-122"/>
                  <a:ea typeface="华文楷体" panose="02010600040101010101" pitchFamily="2" charset="-122"/>
                </a:rPr>
                <a:t>调用和返回占时间</a:t>
              </a:r>
              <a:endPara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4535" name="Line 27"/>
            <p:cNvSpPr>
              <a:spLocks noChangeShapeType="1"/>
            </p:cNvSpPr>
            <p:nvPr/>
          </p:nvSpPr>
          <p:spPr bwMode="auto">
            <a:xfrm>
              <a:off x="744" y="1225"/>
              <a:ext cx="4608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l"/>
              <a:endParaRPr lang="zh-CN" altLang="en-US" b="1"/>
            </a:p>
          </p:txBody>
        </p:sp>
        <p:sp>
          <p:nvSpPr>
            <p:cNvPr id="64536" name="Rectangle 28"/>
            <p:cNvSpPr>
              <a:spLocks noChangeArrowheads="1"/>
            </p:cNvSpPr>
            <p:nvPr/>
          </p:nvSpPr>
          <p:spPr bwMode="auto">
            <a:xfrm>
              <a:off x="744" y="864"/>
              <a:ext cx="4608" cy="2256"/>
            </a:xfrm>
            <a:prstGeom prst="rect">
              <a:avLst/>
            </a:prstGeom>
            <a:noFill/>
            <a:ln w="38100" cap="sq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no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4537" name="Line 29"/>
            <p:cNvSpPr>
              <a:spLocks noChangeShapeType="1"/>
            </p:cNvSpPr>
            <p:nvPr/>
          </p:nvSpPr>
          <p:spPr bwMode="auto">
            <a:xfrm>
              <a:off x="1608" y="864"/>
              <a:ext cx="0" cy="225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l"/>
              <a:endParaRPr lang="zh-CN" altLang="en-US" b="1"/>
            </a:p>
          </p:txBody>
        </p:sp>
        <p:sp>
          <p:nvSpPr>
            <p:cNvPr id="64538" name="Line 30"/>
            <p:cNvSpPr>
              <a:spLocks noChangeShapeType="1"/>
            </p:cNvSpPr>
            <p:nvPr/>
          </p:nvSpPr>
          <p:spPr bwMode="auto">
            <a:xfrm>
              <a:off x="3240" y="864"/>
              <a:ext cx="0" cy="2256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l"/>
              <a:endParaRPr lang="zh-CN" altLang="en-US" b="1"/>
            </a:p>
          </p:txBody>
        </p:sp>
        <p:sp>
          <p:nvSpPr>
            <p:cNvPr id="64539" name="Line 31"/>
            <p:cNvSpPr>
              <a:spLocks noChangeShapeType="1"/>
            </p:cNvSpPr>
            <p:nvPr/>
          </p:nvSpPr>
          <p:spPr bwMode="auto">
            <a:xfrm>
              <a:off x="744" y="1608"/>
              <a:ext cx="4608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l"/>
              <a:endParaRPr lang="zh-CN" altLang="en-US" b="1"/>
            </a:p>
          </p:txBody>
        </p:sp>
        <p:sp>
          <p:nvSpPr>
            <p:cNvPr id="64540" name="Line 32"/>
            <p:cNvSpPr>
              <a:spLocks noChangeShapeType="1"/>
            </p:cNvSpPr>
            <p:nvPr/>
          </p:nvSpPr>
          <p:spPr bwMode="auto">
            <a:xfrm>
              <a:off x="744" y="1992"/>
              <a:ext cx="4608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l"/>
              <a:endParaRPr lang="zh-CN" altLang="en-US" b="1"/>
            </a:p>
          </p:txBody>
        </p:sp>
        <p:sp>
          <p:nvSpPr>
            <p:cNvPr id="64541" name="Line 33"/>
            <p:cNvSpPr>
              <a:spLocks noChangeShapeType="1"/>
            </p:cNvSpPr>
            <p:nvPr/>
          </p:nvSpPr>
          <p:spPr bwMode="auto">
            <a:xfrm>
              <a:off x="744" y="2376"/>
              <a:ext cx="4608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l"/>
              <a:endParaRPr lang="zh-CN" altLang="en-US" b="1"/>
            </a:p>
          </p:txBody>
        </p:sp>
        <p:sp>
          <p:nvSpPr>
            <p:cNvPr id="64542" name="Line 34"/>
            <p:cNvSpPr>
              <a:spLocks noChangeShapeType="1"/>
            </p:cNvSpPr>
            <p:nvPr/>
          </p:nvSpPr>
          <p:spPr bwMode="auto">
            <a:xfrm>
              <a:off x="744" y="2759"/>
              <a:ext cx="4608" cy="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algn="l"/>
              <a:endParaRPr lang="zh-CN" altLang="en-US" b="1"/>
            </a:p>
          </p:txBody>
        </p:sp>
      </p:grpSp>
    </p:spTree>
  </p:cSld>
  <p:clrMapOvr>
    <a:masterClrMapping/>
  </p:clrMapOvr>
  <p:transition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条件编译指令</a:t>
            </a:r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——#if </a:t>
            </a:r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和 </a:t>
            </a:r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#endif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795958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#if  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常量表达式</a:t>
            </a:r>
            <a:endParaRPr kumimoji="0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当“ 常量表达式”非零时编译</a:t>
            </a:r>
            <a:endParaRPr kumimoji="0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程序正文  </a:t>
            </a:r>
            <a:endParaRPr kumimoji="0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#endif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......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条件编译指令</a:t>
            </a:r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——#else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39650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#if   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常量表达式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当“ 常量表达式”非零时编译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程序正文</a:t>
            </a: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1" indent="0">
              <a:lnSpc>
                <a:spcPct val="150000"/>
              </a:lnSpc>
            </a:pPr>
            <a:r>
              <a:rPr kumimoji="0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#else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当“ 常量表达式”为零时编译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程序正文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1" indent="0">
              <a:lnSpc>
                <a:spcPct val="150000"/>
              </a:lnSpc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endif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条件编译指令</a:t>
            </a:r>
            <a:r>
              <a:rPr lang="en-US" altLang="zh-CN" sz="4400" b="1">
                <a:latin typeface="Times New Roman" panose="02020603050405020304" pitchFamily="18" charset="0"/>
                <a:ea typeface="隶书" panose="02010509060101010101" pitchFamily="49" charset="-122"/>
              </a:rPr>
              <a:t>——#elif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903954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#if 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常量表达式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程序正文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  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当“ 常量表达式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1”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非零时编译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elif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常量表达式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0"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程序正文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  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当“ 常量表达式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2”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非零时编译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#else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程序正文</a:t>
            </a: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  //</a:t>
            </a:r>
            <a:r>
              <a:rPr kumimoji="0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其他情况下编译</a:t>
            </a:r>
            <a:endParaRPr kumimoji="0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endif</a:t>
            </a:r>
            <a:endParaRPr kumimoji="0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条件编译指令（续）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970318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#ifdef 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标识符</a:t>
            </a:r>
            <a:endParaRPr kumimoji="0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#else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#endif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如果“标识符”经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#defined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定义过，且未经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undef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删除，则编译程序段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，否则编译程序段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kumimoji="0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zh-CN" altLang="en-US" sz="4400" b="1">
                <a:latin typeface="Times New Roman" panose="02020603050405020304" pitchFamily="18" charset="0"/>
                <a:ea typeface="隶书" panose="02010509060101010101" pitchFamily="49" charset="-122"/>
              </a:rPr>
              <a:t>条件编译指令（续）</a:t>
            </a:r>
            <a:endParaRPr lang="zh-CN" altLang="en-US" sz="4400" b="1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914533"/>
          </a:xfr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#ifndef 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标识符</a:t>
            </a:r>
            <a:endParaRPr kumimoji="0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#else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#endif</a:t>
            </a:r>
            <a:endParaRPr kumimoji="0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  <a:buNone/>
              <a:tabLst>
                <a:tab pos="228600" algn="l"/>
                <a:tab pos="457200" algn="l"/>
              </a:tabLst>
            </a:pP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如果“标识符”未被定义过，则编译程序段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，否则编译程序段</a:t>
            </a:r>
            <a:r>
              <a:rPr kumimoji="0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0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kumimoji="0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560" y="1052736"/>
            <a:ext cx="7990656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lnSpc>
                <a:spcPct val="200000"/>
              </a:lnSpc>
              <a:buFont typeface="+mj-lt"/>
              <a:buAutoNum type="arabicPeriod" startAt="7"/>
            </a:pPr>
            <a:r>
              <a:rPr lang="zh-CN" altLang="en-US" sz="6000" b="1" dirty="0" smtClean="0">
                <a:ea typeface="华文彩云" panose="02010800040101010101" pitchFamily="2" charset="-122"/>
              </a:rPr>
              <a:t>综合实例</a:t>
            </a:r>
            <a:br>
              <a:rPr lang="en-US" altLang="zh-CN" sz="6000" b="1" dirty="0" smtClean="0">
                <a:ea typeface="华文彩云" panose="02010800040101010101" pitchFamily="2" charset="-122"/>
              </a:rPr>
            </a:br>
            <a:r>
              <a:rPr lang="en-US" altLang="zh-CN" sz="4000" b="1" dirty="0" smtClean="0">
                <a:ea typeface="华文彩云" panose="02010800040101010101" pitchFamily="2" charset="-122"/>
              </a:rPr>
              <a:t>——</a:t>
            </a:r>
            <a:r>
              <a:rPr lang="zh-CN" altLang="en-US" b="1" dirty="0" smtClean="0">
                <a:ea typeface="华文彩云" panose="02010800040101010101" pitchFamily="2" charset="-122"/>
              </a:rPr>
              <a:t>个人银行账户管理程序</a:t>
            </a:r>
            <a:endParaRPr lang="zh-CN" altLang="en-US" sz="4000" dirty="0"/>
          </a:p>
        </p:txBody>
      </p:sp>
      <p:pic>
        <p:nvPicPr>
          <p:cNvPr id="641032" name="Picture 8" descr="surfer4"/>
          <p:cNvPicPr>
            <a:picLocks noChangeAspect="1" noChangeArrowheads="1" noCrop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933056"/>
            <a:ext cx="2000251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5.7.1 </a:t>
            </a:r>
            <a:r>
              <a:rPr lang="zh-CN" altLang="en-US" sz="44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问题的提出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25000"/>
              </a:spcAft>
            </a:pPr>
            <a:r>
              <a:rPr lang="en-US" altLang="zh-CN" sz="2400" b="1" dirty="0" err="1" smtClean="0">
                <a:solidFill>
                  <a:srgbClr val="FFFF00"/>
                </a:solidFill>
                <a:ea typeface="华文楷体" panose="02010600040101010101" pitchFamily="2" charset="-122"/>
              </a:rPr>
              <a:t>SavingAccount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类最佳静态数据成员</a:t>
            </a:r>
            <a:r>
              <a:rPr lang="en-US" altLang="zh-CN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total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，用来记录各个账户的总金额；同时，增加静态成员函数</a:t>
            </a:r>
            <a:r>
              <a:rPr lang="en-US" altLang="zh-CN" sz="2400" b="1" dirty="0" err="1" smtClean="0">
                <a:solidFill>
                  <a:srgbClr val="FFFF00"/>
                </a:solidFill>
                <a:ea typeface="华文楷体" panose="02010600040101010101" pitchFamily="2" charset="-122"/>
              </a:rPr>
              <a:t>getTotal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用来对其进行访问。</a:t>
            </a:r>
            <a:endParaRPr lang="en-US" altLang="zh-CN" sz="2400" b="1" dirty="0" smtClean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en-US" altLang="zh-CN" sz="2400" b="1" dirty="0" err="1">
                <a:solidFill>
                  <a:srgbClr val="FFFF00"/>
                </a:solidFill>
                <a:ea typeface="华文楷体" panose="02010600040101010101" pitchFamily="2" charset="-122"/>
              </a:rPr>
              <a:t>SavingAccount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类中的</a:t>
            </a:r>
            <a:r>
              <a:rPr lang="en-US" altLang="zh-CN" sz="2400" b="1" dirty="0" err="1" smtClean="0">
                <a:solidFill>
                  <a:srgbClr val="FFFF00"/>
                </a:solidFill>
                <a:ea typeface="华文楷体" panose="02010600040101010101" pitchFamily="2" charset="-122"/>
              </a:rPr>
              <a:t>getAccount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、</a:t>
            </a:r>
            <a:r>
              <a:rPr lang="en-US" altLang="zh-CN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accumulate</a:t>
            </a: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，这些不需要改变对象状态的成员函数定义为常成员函数</a:t>
            </a:r>
            <a:endParaRPr lang="en-US" altLang="zh-CN" sz="2400" b="1" dirty="0" smtClean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>
              <a:spcAft>
                <a:spcPct val="25000"/>
              </a:spcAft>
            </a:pPr>
            <a:r>
              <a:rPr lang="zh-CN" altLang="en-US" sz="24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采用多文件结构进行调整</a:t>
            </a:r>
            <a:endParaRPr lang="zh-CN" altLang="en-US" sz="24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5.7.2 </a:t>
            </a:r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个人银行账户管理程序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628650" y="1196752"/>
            <a:ext cx="7886700" cy="5400600"/>
          </a:xfrm>
          <a:solidFill>
            <a:schemeClr val="tx1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FF0000"/>
                </a:solidFill>
                <a:ea typeface="华文楷体" panose="02010600040101010101" pitchFamily="2" charset="-122"/>
              </a:rPr>
              <a:t>//</a:t>
            </a:r>
            <a:r>
              <a:rPr lang="en-US" altLang="zh-CN" sz="2000" b="1" dirty="0" err="1">
                <a:solidFill>
                  <a:srgbClr val="FF0000"/>
                </a:solidFill>
                <a:ea typeface="华文楷体" panose="02010600040101010101" pitchFamily="2" charset="-122"/>
              </a:rPr>
              <a:t>account.h</a:t>
            </a:r>
            <a:endParaRPr lang="en-US" altLang="zh-CN" sz="2000" b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ifndef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__ACCOUNT_H__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#define __ACCOUNT_H__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class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{ 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储蓄账户类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private: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id;			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账号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double balance;	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余额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double rate;	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存款的年利率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lastDate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	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上次变更余额的时期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double accumulation;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余额按日累加之和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static double total;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所有账户的总金额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记录一笔帐，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date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为日期，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amount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为金额，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desc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为说明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record(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double amount);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获得到指定日期为止的存款金额按日累积</a:t>
            </a:r>
            <a:r>
              <a:rPr lang="zh-CN" altLang="en-US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值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628650" y="332656"/>
            <a:ext cx="7886700" cy="6525344"/>
          </a:xfrm>
          <a:solidFill>
            <a:schemeClr val="tx1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double accumulate(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date)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	return accumulation + balance * (date -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lastDate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public: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构造函数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id, double rate);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getId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()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{ return id; 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double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getBalance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()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{ return balance; 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double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getRate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()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{ return rate; 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static double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getTotal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() { return total; 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存入现金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deposit(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double amount);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取出现金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withdraw(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double amount);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结算利息，每年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月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日调用一次该函数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settle(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显示账户信息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show()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};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endif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//__ACCOUNT_H_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824536"/>
          </a:xfrm>
          <a:solidFill>
            <a:schemeClr val="tx1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FF0000"/>
                </a:solidFill>
                <a:ea typeface="华文楷体" panose="02010600040101010101" pitchFamily="2" charset="-122"/>
              </a:rPr>
              <a:t>//account.cpp</a:t>
            </a:r>
            <a:endParaRPr lang="en-US" altLang="zh-CN" sz="2000" b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#include "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account.h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"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cmath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&gt;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iostream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&gt;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using namespace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std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double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::total = 0;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//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类相关成员函数的实现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id, double rate)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: id(id), balance(0), rate(rate),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lastDate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(date), accumulation(0)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&lt;&lt; date &lt;&lt; "\t#" &lt;&lt; id &lt;&lt; " is created" &lt;&lt;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endl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628650" y="476672"/>
            <a:ext cx="7886700" cy="6192688"/>
          </a:xfrm>
          <a:solidFill>
            <a:schemeClr val="tx1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::record(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double amount)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accumulation = accumulate(date);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lastDate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= date;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amount = floor(amount * 100 + 0.5) / 100;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保留小数点后两位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balance += amount;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total += amount;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           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cout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&lt;&lt; date &lt;&lt; "\t#" &lt;&lt; id &lt;&lt; "\t" &lt;&lt; amount &lt;&lt; "\t" &lt;&lt; 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          balance 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&lt;&lt;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endl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::deposit(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double amount)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record(date, amount);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::withdraw(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date, double amount)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if (amount &gt;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getBalance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())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&lt;&lt; "Error: not enough money" &lt;&lt;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endl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else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	record(date, -amount);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539552" y="1412776"/>
            <a:ext cx="7886700" cy="4032448"/>
          </a:xfrm>
          <a:solidFill>
            <a:schemeClr val="tx1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::settle(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date)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double interest = accumulate(date) * rate / 365;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计算年息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if (interest != 0)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	record(date, interest);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accumulation = 0;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void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::show()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&lt;&lt; "#" &lt;&lt; id &lt;&lt; "\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tBalance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 " &lt;&lt; balance;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539552" y="0"/>
            <a:ext cx="7886700" cy="6858000"/>
          </a:xfrm>
          <a:solidFill>
            <a:schemeClr val="tx1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//</a:t>
            </a:r>
            <a:r>
              <a:rPr lang="en-US" altLang="zh-CN" sz="2000" b="1" dirty="0">
                <a:solidFill>
                  <a:srgbClr val="FF0000"/>
                </a:solidFill>
                <a:ea typeface="华文楷体" panose="02010600040101010101" pitchFamily="2" charset="-122"/>
              </a:rPr>
              <a:t>5_11.cpp</a:t>
            </a:r>
            <a:endParaRPr lang="en-US" altLang="zh-CN" sz="2000" b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#include "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account.h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"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#include &lt;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iostream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&gt;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using namespace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std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main() {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建立几个账户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sa0(1, 21325302, 0.015);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sa1(1, 58320212, 0.015);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几笔账目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sa0.deposit(5, 5000);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sa1.deposit(25, 10000);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sa0.deposit(45, 5500);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sa1.withdraw(60, 4000);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开户后第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90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天到了银行的计息日，结算所有账户的年息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sa0.settle(90);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sa1.settle(90);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//</a:t>
            </a: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输出各个账户信息</a:t>
            </a:r>
            <a:endParaRPr lang="zh-CN" altLang="en-US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sa0.show();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&lt;&lt;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endl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sa1.show();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&lt;&lt;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endl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cout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&lt;&lt; "Total: " &lt;&lt;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SavingsAccount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::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getTotal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() &lt;&lt; </a:t>
            </a:r>
            <a:r>
              <a:rPr lang="en-US" altLang="zh-CN" sz="2000" b="1" dirty="0" err="1">
                <a:solidFill>
                  <a:srgbClr val="000000"/>
                </a:solidFill>
                <a:ea typeface="华文楷体" panose="02010600040101010101" pitchFamily="2" charset="-122"/>
              </a:rPr>
              <a:t>endl</a:t>
            </a: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	return 0;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539552" y="1484784"/>
            <a:ext cx="7886700" cy="3933056"/>
          </a:xfrm>
          <a:solidFill>
            <a:srgbClr val="000000"/>
          </a:solidFill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 smtClean="0">
                <a:ea typeface="华文楷体" panose="02010600040101010101" pitchFamily="2" charset="-122"/>
              </a:rPr>
              <a:t>运行结果：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1 	#21325302 is created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1	#58320212 is created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5	#21325302      5000	5000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25	#58320212      10000	10000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45	#21325302       5500	10500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60	#58320212      -4000	6000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90	#21325302      27.64	10527.6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90	#58320212      21.78	6021.78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#21325302                 balance: 10527.6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#58320212                 balance: 6021.78</a:t>
            </a: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Total: 16549.4</a:t>
            </a:r>
            <a:endParaRPr lang="en-US" altLang="zh-CN" sz="20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552" y="2819400"/>
            <a:ext cx="8352928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143000" indent="-1143000" algn="ctr">
              <a:buFont typeface="+mj-lt"/>
              <a:buAutoNum type="arabicPeriod" startAt="8"/>
            </a:pPr>
            <a:r>
              <a:rPr lang="en-US" altLang="zh-CN" sz="6600" b="1" dirty="0" smtClean="0">
                <a:ea typeface="华文彩云" panose="02010800040101010101" pitchFamily="2" charset="-122"/>
              </a:rPr>
              <a:t>   </a:t>
            </a:r>
            <a:r>
              <a:rPr lang="zh-CN" altLang="en-US" sz="6600" b="1" dirty="0" smtClean="0">
                <a:ea typeface="华文彩云" panose="02010800040101010101" pitchFamily="2" charset="-122"/>
              </a:rPr>
              <a:t>深度探索</a:t>
            </a:r>
            <a:endParaRPr lang="zh-CN" altLang="en-US" sz="6600" dirty="0">
              <a:solidFill>
                <a:srgbClr val="FFFF00"/>
              </a:solidFill>
            </a:endParaRPr>
          </a:p>
        </p:txBody>
      </p:sp>
      <p:grpSp>
        <p:nvGrpSpPr>
          <p:cNvPr id="689168" name="Group 16"/>
          <p:cNvGrpSpPr/>
          <p:nvPr/>
        </p:nvGrpSpPr>
        <p:grpSpPr bwMode="auto">
          <a:xfrm>
            <a:off x="4419600" y="609600"/>
            <a:ext cx="2438400" cy="1752600"/>
            <a:chOff x="2208" y="384"/>
            <a:chExt cx="1536" cy="1104"/>
          </a:xfrm>
        </p:grpSpPr>
        <p:sp>
          <p:nvSpPr>
            <p:cNvPr id="689157" name="Oval 5"/>
            <p:cNvSpPr>
              <a:spLocks noChangeArrowheads="1"/>
            </p:cNvSpPr>
            <p:nvPr/>
          </p:nvSpPr>
          <p:spPr bwMode="auto">
            <a:xfrm>
              <a:off x="2208" y="576"/>
              <a:ext cx="1536" cy="91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hlink"/>
              </a:solidFill>
              <a:round/>
            </a:ln>
            <a:effectLst>
              <a:outerShdw dist="53882" dir="2700000" algn="ctr" rotWithShape="0">
                <a:srgbClr val="DDDDDD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9158" name="Group 6"/>
            <p:cNvGrpSpPr/>
            <p:nvPr/>
          </p:nvGrpSpPr>
          <p:grpSpPr bwMode="auto">
            <a:xfrm>
              <a:off x="2592" y="384"/>
              <a:ext cx="820" cy="734"/>
              <a:chOff x="613" y="1858"/>
              <a:chExt cx="672" cy="686"/>
            </a:xfrm>
          </p:grpSpPr>
          <p:grpSp>
            <p:nvGrpSpPr>
              <p:cNvPr id="689159" name="Group 7"/>
              <p:cNvGrpSpPr/>
              <p:nvPr/>
            </p:nvGrpSpPr>
            <p:grpSpPr bwMode="auto">
              <a:xfrm>
                <a:off x="613" y="2062"/>
                <a:ext cx="216" cy="482"/>
                <a:chOff x="3064" y="2792"/>
                <a:chExt cx="281" cy="626"/>
              </a:xfrm>
            </p:grpSpPr>
            <p:sp>
              <p:nvSpPr>
                <p:cNvPr id="689160" name="Oval 8"/>
                <p:cNvSpPr>
                  <a:spLocks noChangeArrowheads="1"/>
                </p:cNvSpPr>
                <p:nvPr/>
              </p:nvSpPr>
              <p:spPr bwMode="auto">
                <a:xfrm>
                  <a:off x="3156" y="2792"/>
                  <a:ext cx="95" cy="10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234DB">
                        <a:gamma/>
                        <a:tint val="33333"/>
                        <a:invGamma/>
                      </a:srgbClr>
                    </a:gs>
                    <a:gs pos="100000">
                      <a:srgbClr val="9234DB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9161" name="Freeform 9"/>
                <p:cNvSpPr/>
                <p:nvPr/>
              </p:nvSpPr>
              <p:spPr bwMode="auto">
                <a:xfrm>
                  <a:off x="3064" y="2914"/>
                  <a:ext cx="281" cy="504"/>
                </a:xfrm>
                <a:custGeom>
                  <a:avLst/>
                  <a:gdLst>
                    <a:gd name="T0" fmla="*/ 208 w 281"/>
                    <a:gd name="T1" fmla="*/ 0 h 504"/>
                    <a:gd name="T2" fmla="*/ 217 w 281"/>
                    <a:gd name="T3" fmla="*/ 3 h 504"/>
                    <a:gd name="T4" fmla="*/ 228 w 281"/>
                    <a:gd name="T5" fmla="*/ 9 h 504"/>
                    <a:gd name="T6" fmla="*/ 232 w 281"/>
                    <a:gd name="T7" fmla="*/ 16 h 504"/>
                    <a:gd name="T8" fmla="*/ 237 w 281"/>
                    <a:gd name="T9" fmla="*/ 24 h 504"/>
                    <a:gd name="T10" fmla="*/ 241 w 281"/>
                    <a:gd name="T11" fmla="*/ 35 h 504"/>
                    <a:gd name="T12" fmla="*/ 280 w 281"/>
                    <a:gd name="T13" fmla="*/ 189 h 504"/>
                    <a:gd name="T14" fmla="*/ 280 w 281"/>
                    <a:gd name="T15" fmla="*/ 201 h 504"/>
                    <a:gd name="T16" fmla="*/ 276 w 281"/>
                    <a:gd name="T17" fmla="*/ 208 h 504"/>
                    <a:gd name="T18" fmla="*/ 268 w 281"/>
                    <a:gd name="T19" fmla="*/ 214 h 504"/>
                    <a:gd name="T20" fmla="*/ 258 w 281"/>
                    <a:gd name="T21" fmla="*/ 214 h 504"/>
                    <a:gd name="T22" fmla="*/ 252 w 281"/>
                    <a:gd name="T23" fmla="*/ 212 h 504"/>
                    <a:gd name="T24" fmla="*/ 244 w 281"/>
                    <a:gd name="T25" fmla="*/ 208 h 504"/>
                    <a:gd name="T26" fmla="*/ 240 w 281"/>
                    <a:gd name="T27" fmla="*/ 201 h 504"/>
                    <a:gd name="T28" fmla="*/ 253 w 281"/>
                    <a:gd name="T29" fmla="*/ 310 h 504"/>
                    <a:gd name="T30" fmla="*/ 202 w 281"/>
                    <a:gd name="T31" fmla="*/ 484 h 504"/>
                    <a:gd name="T32" fmla="*/ 198 w 281"/>
                    <a:gd name="T33" fmla="*/ 494 h 504"/>
                    <a:gd name="T34" fmla="*/ 190 w 281"/>
                    <a:gd name="T35" fmla="*/ 499 h 504"/>
                    <a:gd name="T36" fmla="*/ 184 w 281"/>
                    <a:gd name="T37" fmla="*/ 503 h 504"/>
                    <a:gd name="T38" fmla="*/ 174 w 281"/>
                    <a:gd name="T39" fmla="*/ 503 h 504"/>
                    <a:gd name="T40" fmla="*/ 166 w 281"/>
                    <a:gd name="T41" fmla="*/ 500 h 504"/>
                    <a:gd name="T42" fmla="*/ 159 w 281"/>
                    <a:gd name="T43" fmla="*/ 494 h 504"/>
                    <a:gd name="T44" fmla="*/ 154 w 281"/>
                    <a:gd name="T45" fmla="*/ 487 h 504"/>
                    <a:gd name="T46" fmla="*/ 153 w 281"/>
                    <a:gd name="T47" fmla="*/ 479 h 504"/>
                    <a:gd name="T48" fmla="*/ 127 w 281"/>
                    <a:gd name="T49" fmla="*/ 479 h 504"/>
                    <a:gd name="T50" fmla="*/ 126 w 281"/>
                    <a:gd name="T51" fmla="*/ 487 h 504"/>
                    <a:gd name="T52" fmla="*/ 121 w 281"/>
                    <a:gd name="T53" fmla="*/ 496 h 504"/>
                    <a:gd name="T54" fmla="*/ 114 w 281"/>
                    <a:gd name="T55" fmla="*/ 500 h 504"/>
                    <a:gd name="T56" fmla="*/ 106 w 281"/>
                    <a:gd name="T57" fmla="*/ 503 h 504"/>
                    <a:gd name="T58" fmla="*/ 96 w 281"/>
                    <a:gd name="T59" fmla="*/ 503 h 504"/>
                    <a:gd name="T60" fmla="*/ 90 w 281"/>
                    <a:gd name="T61" fmla="*/ 499 h 504"/>
                    <a:gd name="T62" fmla="*/ 82 w 281"/>
                    <a:gd name="T63" fmla="*/ 494 h 504"/>
                    <a:gd name="T64" fmla="*/ 78 w 281"/>
                    <a:gd name="T65" fmla="*/ 484 h 504"/>
                    <a:gd name="T66" fmla="*/ 78 w 281"/>
                    <a:gd name="T67" fmla="*/ 313 h 504"/>
                    <a:gd name="T68" fmla="*/ 78 w 281"/>
                    <a:gd name="T69" fmla="*/ 71 h 504"/>
                    <a:gd name="T70" fmla="*/ 39 w 281"/>
                    <a:gd name="T71" fmla="*/ 209 h 504"/>
                    <a:gd name="T72" fmla="*/ 31 w 281"/>
                    <a:gd name="T73" fmla="*/ 217 h 504"/>
                    <a:gd name="T74" fmla="*/ 22 w 281"/>
                    <a:gd name="T75" fmla="*/ 220 h 504"/>
                    <a:gd name="T76" fmla="*/ 15 w 281"/>
                    <a:gd name="T77" fmla="*/ 220 h 504"/>
                    <a:gd name="T78" fmla="*/ 4 w 281"/>
                    <a:gd name="T79" fmla="*/ 212 h 504"/>
                    <a:gd name="T80" fmla="*/ 0 w 281"/>
                    <a:gd name="T81" fmla="*/ 202 h 504"/>
                    <a:gd name="T82" fmla="*/ 0 w 281"/>
                    <a:gd name="T83" fmla="*/ 196 h 504"/>
                    <a:gd name="T84" fmla="*/ 40 w 281"/>
                    <a:gd name="T85" fmla="*/ 38 h 504"/>
                    <a:gd name="T86" fmla="*/ 43 w 281"/>
                    <a:gd name="T87" fmla="*/ 28 h 504"/>
                    <a:gd name="T88" fmla="*/ 46 w 281"/>
                    <a:gd name="T89" fmla="*/ 19 h 504"/>
                    <a:gd name="T90" fmla="*/ 52 w 281"/>
                    <a:gd name="T91" fmla="*/ 12 h 504"/>
                    <a:gd name="T92" fmla="*/ 60 w 281"/>
                    <a:gd name="T93" fmla="*/ 4 h 504"/>
                    <a:gd name="T94" fmla="*/ 72 w 281"/>
                    <a:gd name="T95" fmla="*/ 0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81" h="504">
                      <a:moveTo>
                        <a:pt x="78" y="0"/>
                      </a:moveTo>
                      <a:lnTo>
                        <a:pt x="205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4" y="3"/>
                      </a:lnTo>
                      <a:lnTo>
                        <a:pt x="217" y="3"/>
                      </a:lnTo>
                      <a:lnTo>
                        <a:pt x="220" y="4"/>
                      </a:lnTo>
                      <a:lnTo>
                        <a:pt x="222" y="7"/>
                      </a:lnTo>
                      <a:lnTo>
                        <a:pt x="228" y="9"/>
                      </a:lnTo>
                      <a:lnTo>
                        <a:pt x="229" y="12"/>
                      </a:lnTo>
                      <a:lnTo>
                        <a:pt x="229" y="15"/>
                      </a:lnTo>
                      <a:lnTo>
                        <a:pt x="232" y="16"/>
                      </a:lnTo>
                      <a:lnTo>
                        <a:pt x="234" y="19"/>
                      </a:lnTo>
                      <a:lnTo>
                        <a:pt x="237" y="22"/>
                      </a:lnTo>
                      <a:lnTo>
                        <a:pt x="237" y="24"/>
                      </a:lnTo>
                      <a:lnTo>
                        <a:pt x="240" y="27"/>
                      </a:lnTo>
                      <a:lnTo>
                        <a:pt x="240" y="31"/>
                      </a:lnTo>
                      <a:lnTo>
                        <a:pt x="241" y="35"/>
                      </a:lnTo>
                      <a:lnTo>
                        <a:pt x="241" y="38"/>
                      </a:lnTo>
                      <a:lnTo>
                        <a:pt x="241" y="43"/>
                      </a:lnTo>
                      <a:lnTo>
                        <a:pt x="280" y="189"/>
                      </a:lnTo>
                      <a:lnTo>
                        <a:pt x="280" y="193"/>
                      </a:lnTo>
                      <a:lnTo>
                        <a:pt x="280" y="196"/>
                      </a:lnTo>
                      <a:lnTo>
                        <a:pt x="280" y="201"/>
                      </a:lnTo>
                      <a:lnTo>
                        <a:pt x="280" y="202"/>
                      </a:lnTo>
                      <a:lnTo>
                        <a:pt x="277" y="205"/>
                      </a:lnTo>
                      <a:lnTo>
                        <a:pt x="276" y="208"/>
                      </a:lnTo>
                      <a:lnTo>
                        <a:pt x="273" y="209"/>
                      </a:lnTo>
                      <a:lnTo>
                        <a:pt x="271" y="212"/>
                      </a:lnTo>
                      <a:lnTo>
                        <a:pt x="268" y="214"/>
                      </a:lnTo>
                      <a:lnTo>
                        <a:pt x="265" y="214"/>
                      </a:lnTo>
                      <a:lnTo>
                        <a:pt x="261" y="214"/>
                      </a:lnTo>
                      <a:lnTo>
                        <a:pt x="258" y="214"/>
                      </a:lnTo>
                      <a:lnTo>
                        <a:pt x="256" y="214"/>
                      </a:lnTo>
                      <a:lnTo>
                        <a:pt x="253" y="214"/>
                      </a:lnTo>
                      <a:lnTo>
                        <a:pt x="252" y="212"/>
                      </a:lnTo>
                      <a:lnTo>
                        <a:pt x="249" y="212"/>
                      </a:lnTo>
                      <a:lnTo>
                        <a:pt x="246" y="209"/>
                      </a:lnTo>
                      <a:lnTo>
                        <a:pt x="244" y="208"/>
                      </a:lnTo>
                      <a:lnTo>
                        <a:pt x="241" y="205"/>
                      </a:lnTo>
                      <a:lnTo>
                        <a:pt x="241" y="202"/>
                      </a:lnTo>
                      <a:lnTo>
                        <a:pt x="240" y="201"/>
                      </a:lnTo>
                      <a:lnTo>
                        <a:pt x="202" y="71"/>
                      </a:lnTo>
                      <a:lnTo>
                        <a:pt x="190" y="71"/>
                      </a:lnTo>
                      <a:lnTo>
                        <a:pt x="253" y="310"/>
                      </a:lnTo>
                      <a:lnTo>
                        <a:pt x="202" y="310"/>
                      </a:lnTo>
                      <a:lnTo>
                        <a:pt x="202" y="479"/>
                      </a:lnTo>
                      <a:lnTo>
                        <a:pt x="202" y="484"/>
                      </a:lnTo>
                      <a:lnTo>
                        <a:pt x="202" y="487"/>
                      </a:lnTo>
                      <a:lnTo>
                        <a:pt x="201" y="488"/>
                      </a:lnTo>
                      <a:lnTo>
                        <a:pt x="198" y="494"/>
                      </a:lnTo>
                      <a:lnTo>
                        <a:pt x="196" y="496"/>
                      </a:lnTo>
                      <a:lnTo>
                        <a:pt x="196" y="499"/>
                      </a:lnTo>
                      <a:lnTo>
                        <a:pt x="190" y="499"/>
                      </a:lnTo>
                      <a:lnTo>
                        <a:pt x="189" y="500"/>
                      </a:lnTo>
                      <a:lnTo>
                        <a:pt x="186" y="503"/>
                      </a:lnTo>
                      <a:lnTo>
                        <a:pt x="184" y="503"/>
                      </a:lnTo>
                      <a:lnTo>
                        <a:pt x="181" y="503"/>
                      </a:lnTo>
                      <a:lnTo>
                        <a:pt x="178" y="503"/>
                      </a:lnTo>
                      <a:lnTo>
                        <a:pt x="174" y="503"/>
                      </a:lnTo>
                      <a:lnTo>
                        <a:pt x="171" y="503"/>
                      </a:lnTo>
                      <a:lnTo>
                        <a:pt x="169" y="500"/>
                      </a:lnTo>
                      <a:lnTo>
                        <a:pt x="166" y="500"/>
                      </a:lnTo>
                      <a:lnTo>
                        <a:pt x="165" y="499"/>
                      </a:lnTo>
                      <a:lnTo>
                        <a:pt x="162" y="496"/>
                      </a:lnTo>
                      <a:lnTo>
                        <a:pt x="159" y="494"/>
                      </a:lnTo>
                      <a:lnTo>
                        <a:pt x="157" y="494"/>
                      </a:lnTo>
                      <a:lnTo>
                        <a:pt x="157" y="488"/>
                      </a:lnTo>
                      <a:lnTo>
                        <a:pt x="154" y="487"/>
                      </a:lnTo>
                      <a:lnTo>
                        <a:pt x="154" y="484"/>
                      </a:lnTo>
                      <a:lnTo>
                        <a:pt x="153" y="481"/>
                      </a:lnTo>
                      <a:lnTo>
                        <a:pt x="153" y="479"/>
                      </a:lnTo>
                      <a:lnTo>
                        <a:pt x="153" y="313"/>
                      </a:lnTo>
                      <a:lnTo>
                        <a:pt x="127" y="313"/>
                      </a:lnTo>
                      <a:lnTo>
                        <a:pt x="127" y="479"/>
                      </a:lnTo>
                      <a:lnTo>
                        <a:pt x="127" y="481"/>
                      </a:lnTo>
                      <a:lnTo>
                        <a:pt x="127" y="484"/>
                      </a:lnTo>
                      <a:lnTo>
                        <a:pt x="126" y="487"/>
                      </a:lnTo>
                      <a:lnTo>
                        <a:pt x="126" y="488"/>
                      </a:lnTo>
                      <a:lnTo>
                        <a:pt x="123" y="494"/>
                      </a:lnTo>
                      <a:lnTo>
                        <a:pt x="121" y="496"/>
                      </a:lnTo>
                      <a:lnTo>
                        <a:pt x="118" y="499"/>
                      </a:lnTo>
                      <a:lnTo>
                        <a:pt x="115" y="499"/>
                      </a:lnTo>
                      <a:lnTo>
                        <a:pt x="114" y="500"/>
                      </a:lnTo>
                      <a:lnTo>
                        <a:pt x="111" y="503"/>
                      </a:lnTo>
                      <a:lnTo>
                        <a:pt x="109" y="503"/>
                      </a:lnTo>
                      <a:lnTo>
                        <a:pt x="106" y="503"/>
                      </a:lnTo>
                      <a:lnTo>
                        <a:pt x="102" y="503"/>
                      </a:lnTo>
                      <a:lnTo>
                        <a:pt x="99" y="503"/>
                      </a:lnTo>
                      <a:lnTo>
                        <a:pt x="96" y="503"/>
                      </a:lnTo>
                      <a:lnTo>
                        <a:pt x="94" y="500"/>
                      </a:lnTo>
                      <a:lnTo>
                        <a:pt x="91" y="500"/>
                      </a:lnTo>
                      <a:lnTo>
                        <a:pt x="90" y="499"/>
                      </a:lnTo>
                      <a:lnTo>
                        <a:pt x="87" y="499"/>
                      </a:lnTo>
                      <a:lnTo>
                        <a:pt x="84" y="496"/>
                      </a:lnTo>
                      <a:lnTo>
                        <a:pt x="82" y="494"/>
                      </a:lnTo>
                      <a:lnTo>
                        <a:pt x="79" y="491"/>
                      </a:lnTo>
                      <a:lnTo>
                        <a:pt x="79" y="488"/>
                      </a:lnTo>
                      <a:lnTo>
                        <a:pt x="78" y="484"/>
                      </a:lnTo>
                      <a:lnTo>
                        <a:pt x="78" y="481"/>
                      </a:lnTo>
                      <a:lnTo>
                        <a:pt x="78" y="479"/>
                      </a:lnTo>
                      <a:lnTo>
                        <a:pt x="78" y="313"/>
                      </a:lnTo>
                      <a:lnTo>
                        <a:pt x="28" y="313"/>
                      </a:lnTo>
                      <a:lnTo>
                        <a:pt x="90" y="71"/>
                      </a:lnTo>
                      <a:lnTo>
                        <a:pt x="78" y="71"/>
                      </a:lnTo>
                      <a:lnTo>
                        <a:pt x="40" y="202"/>
                      </a:lnTo>
                      <a:lnTo>
                        <a:pt x="39" y="205"/>
                      </a:lnTo>
                      <a:lnTo>
                        <a:pt x="39" y="209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1" y="217"/>
                      </a:lnTo>
                      <a:lnTo>
                        <a:pt x="28" y="217"/>
                      </a:lnTo>
                      <a:lnTo>
                        <a:pt x="27" y="220"/>
                      </a:lnTo>
                      <a:lnTo>
                        <a:pt x="22" y="220"/>
                      </a:lnTo>
                      <a:lnTo>
                        <a:pt x="19" y="220"/>
                      </a:lnTo>
                      <a:lnTo>
                        <a:pt x="16" y="220"/>
                      </a:lnTo>
                      <a:lnTo>
                        <a:pt x="15" y="220"/>
                      </a:lnTo>
                      <a:lnTo>
                        <a:pt x="9" y="217"/>
                      </a:lnTo>
                      <a:lnTo>
                        <a:pt x="7" y="214"/>
                      </a:lnTo>
                      <a:lnTo>
                        <a:pt x="4" y="212"/>
                      </a:lnTo>
                      <a:lnTo>
                        <a:pt x="3" y="208"/>
                      </a:lnTo>
                      <a:lnTo>
                        <a:pt x="0" y="205"/>
                      </a:lnTo>
                      <a:lnTo>
                        <a:pt x="0" y="202"/>
                      </a:lnTo>
                      <a:lnTo>
                        <a:pt x="0" y="201"/>
                      </a:lnTo>
                      <a:lnTo>
                        <a:pt x="0" y="198"/>
                      </a:lnTo>
                      <a:lnTo>
                        <a:pt x="0" y="196"/>
                      </a:lnTo>
                      <a:lnTo>
                        <a:pt x="0" y="193"/>
                      </a:lnTo>
                      <a:lnTo>
                        <a:pt x="39" y="40"/>
                      </a:lnTo>
                      <a:lnTo>
                        <a:pt x="40" y="38"/>
                      </a:lnTo>
                      <a:lnTo>
                        <a:pt x="40" y="34"/>
                      </a:lnTo>
                      <a:lnTo>
                        <a:pt x="40" y="31"/>
                      </a:lnTo>
                      <a:lnTo>
                        <a:pt x="43" y="28"/>
                      </a:lnTo>
                      <a:lnTo>
                        <a:pt x="43" y="27"/>
                      </a:lnTo>
                      <a:lnTo>
                        <a:pt x="43" y="24"/>
                      </a:lnTo>
                      <a:lnTo>
                        <a:pt x="46" y="19"/>
                      </a:lnTo>
                      <a:lnTo>
                        <a:pt x="48" y="16"/>
                      </a:lnTo>
                      <a:lnTo>
                        <a:pt x="51" y="15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8" y="7"/>
                      </a:lnTo>
                      <a:lnTo>
                        <a:pt x="60" y="4"/>
                      </a:lnTo>
                      <a:lnTo>
                        <a:pt x="63" y="3"/>
                      </a:lnTo>
                      <a:lnTo>
                        <a:pt x="67" y="3"/>
                      </a:lnTo>
                      <a:lnTo>
                        <a:pt x="72" y="0"/>
                      </a:lnTo>
                      <a:lnTo>
                        <a:pt x="78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234DB">
                        <a:gamma/>
                        <a:tint val="33333"/>
                        <a:invGamma/>
                      </a:srgbClr>
                    </a:gs>
                    <a:gs pos="100000">
                      <a:srgbClr val="9234DB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89162" name="Group 10"/>
              <p:cNvGrpSpPr/>
              <p:nvPr/>
            </p:nvGrpSpPr>
            <p:grpSpPr bwMode="auto">
              <a:xfrm>
                <a:off x="850" y="1858"/>
                <a:ext cx="183" cy="470"/>
                <a:chOff x="2073" y="2933"/>
                <a:chExt cx="238" cy="611"/>
              </a:xfrm>
            </p:grpSpPr>
            <p:sp>
              <p:nvSpPr>
                <p:cNvPr id="689163" name="Oval 11"/>
                <p:cNvSpPr>
                  <a:spLocks noChangeArrowheads="1"/>
                </p:cNvSpPr>
                <p:nvPr/>
              </p:nvSpPr>
              <p:spPr bwMode="auto">
                <a:xfrm>
                  <a:off x="2139" y="2933"/>
                  <a:ext cx="99" cy="10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95AB7">
                        <a:gamma/>
                        <a:tint val="52549"/>
                        <a:invGamma/>
                      </a:srgbClr>
                    </a:gs>
                    <a:gs pos="100000">
                      <a:srgbClr val="F95AB7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9164" name="Freeform 12"/>
                <p:cNvSpPr/>
                <p:nvPr/>
              </p:nvSpPr>
              <p:spPr bwMode="auto">
                <a:xfrm>
                  <a:off x="2073" y="3048"/>
                  <a:ext cx="238" cy="496"/>
                </a:xfrm>
                <a:custGeom>
                  <a:avLst/>
                  <a:gdLst>
                    <a:gd name="T0" fmla="*/ 186 w 238"/>
                    <a:gd name="T1" fmla="*/ 0 h 496"/>
                    <a:gd name="T2" fmla="*/ 195 w 238"/>
                    <a:gd name="T3" fmla="*/ 3 h 496"/>
                    <a:gd name="T4" fmla="*/ 204 w 238"/>
                    <a:gd name="T5" fmla="*/ 4 h 496"/>
                    <a:gd name="T6" fmla="*/ 212 w 238"/>
                    <a:gd name="T7" fmla="*/ 9 h 496"/>
                    <a:gd name="T8" fmla="*/ 224 w 238"/>
                    <a:gd name="T9" fmla="*/ 13 h 496"/>
                    <a:gd name="T10" fmla="*/ 230 w 238"/>
                    <a:gd name="T11" fmla="*/ 24 h 496"/>
                    <a:gd name="T12" fmla="*/ 237 w 238"/>
                    <a:gd name="T13" fmla="*/ 34 h 496"/>
                    <a:gd name="T14" fmla="*/ 237 w 238"/>
                    <a:gd name="T15" fmla="*/ 226 h 496"/>
                    <a:gd name="T16" fmla="*/ 234 w 238"/>
                    <a:gd name="T17" fmla="*/ 232 h 496"/>
                    <a:gd name="T18" fmla="*/ 230 w 238"/>
                    <a:gd name="T19" fmla="*/ 239 h 496"/>
                    <a:gd name="T20" fmla="*/ 221 w 238"/>
                    <a:gd name="T21" fmla="*/ 242 h 496"/>
                    <a:gd name="T22" fmla="*/ 212 w 238"/>
                    <a:gd name="T23" fmla="*/ 244 h 496"/>
                    <a:gd name="T24" fmla="*/ 204 w 238"/>
                    <a:gd name="T25" fmla="*/ 242 h 496"/>
                    <a:gd name="T26" fmla="*/ 200 w 238"/>
                    <a:gd name="T27" fmla="*/ 235 h 496"/>
                    <a:gd name="T28" fmla="*/ 195 w 238"/>
                    <a:gd name="T29" fmla="*/ 230 h 496"/>
                    <a:gd name="T30" fmla="*/ 195 w 238"/>
                    <a:gd name="T31" fmla="*/ 84 h 496"/>
                    <a:gd name="T32" fmla="*/ 182 w 238"/>
                    <a:gd name="T33" fmla="*/ 471 h 496"/>
                    <a:gd name="T34" fmla="*/ 177 w 238"/>
                    <a:gd name="T35" fmla="*/ 483 h 496"/>
                    <a:gd name="T36" fmla="*/ 170 w 238"/>
                    <a:gd name="T37" fmla="*/ 491 h 496"/>
                    <a:gd name="T38" fmla="*/ 161 w 238"/>
                    <a:gd name="T39" fmla="*/ 495 h 496"/>
                    <a:gd name="T40" fmla="*/ 152 w 238"/>
                    <a:gd name="T41" fmla="*/ 495 h 496"/>
                    <a:gd name="T42" fmla="*/ 140 w 238"/>
                    <a:gd name="T43" fmla="*/ 492 h 496"/>
                    <a:gd name="T44" fmla="*/ 132 w 238"/>
                    <a:gd name="T45" fmla="*/ 486 h 496"/>
                    <a:gd name="T46" fmla="*/ 128 w 238"/>
                    <a:gd name="T47" fmla="*/ 479 h 496"/>
                    <a:gd name="T48" fmla="*/ 126 w 238"/>
                    <a:gd name="T49" fmla="*/ 470 h 496"/>
                    <a:gd name="T50" fmla="*/ 111 w 238"/>
                    <a:gd name="T51" fmla="*/ 470 h 496"/>
                    <a:gd name="T52" fmla="*/ 107 w 238"/>
                    <a:gd name="T53" fmla="*/ 479 h 496"/>
                    <a:gd name="T54" fmla="*/ 101 w 238"/>
                    <a:gd name="T55" fmla="*/ 491 h 496"/>
                    <a:gd name="T56" fmla="*/ 89 w 238"/>
                    <a:gd name="T57" fmla="*/ 495 h 496"/>
                    <a:gd name="T58" fmla="*/ 77 w 238"/>
                    <a:gd name="T59" fmla="*/ 495 h 496"/>
                    <a:gd name="T60" fmla="*/ 69 w 238"/>
                    <a:gd name="T61" fmla="*/ 491 h 496"/>
                    <a:gd name="T62" fmla="*/ 60 w 238"/>
                    <a:gd name="T63" fmla="*/ 486 h 496"/>
                    <a:gd name="T64" fmla="*/ 56 w 238"/>
                    <a:gd name="T65" fmla="*/ 477 h 496"/>
                    <a:gd name="T66" fmla="*/ 56 w 238"/>
                    <a:gd name="T67" fmla="*/ 84 h 496"/>
                    <a:gd name="T68" fmla="*/ 42 w 238"/>
                    <a:gd name="T69" fmla="*/ 227 h 496"/>
                    <a:gd name="T70" fmla="*/ 38 w 238"/>
                    <a:gd name="T71" fmla="*/ 235 h 496"/>
                    <a:gd name="T72" fmla="*/ 33 w 238"/>
                    <a:gd name="T73" fmla="*/ 239 h 496"/>
                    <a:gd name="T74" fmla="*/ 26 w 238"/>
                    <a:gd name="T75" fmla="*/ 244 h 496"/>
                    <a:gd name="T76" fmla="*/ 17 w 238"/>
                    <a:gd name="T77" fmla="*/ 244 h 496"/>
                    <a:gd name="T78" fmla="*/ 9 w 238"/>
                    <a:gd name="T79" fmla="*/ 239 h 496"/>
                    <a:gd name="T80" fmla="*/ 5 w 238"/>
                    <a:gd name="T81" fmla="*/ 238 h 496"/>
                    <a:gd name="T82" fmla="*/ 0 w 238"/>
                    <a:gd name="T83" fmla="*/ 230 h 496"/>
                    <a:gd name="T84" fmla="*/ 0 w 238"/>
                    <a:gd name="T85" fmla="*/ 39 h 496"/>
                    <a:gd name="T86" fmla="*/ 5 w 238"/>
                    <a:gd name="T87" fmla="*/ 25 h 496"/>
                    <a:gd name="T88" fmla="*/ 14 w 238"/>
                    <a:gd name="T89" fmla="*/ 13 h 496"/>
                    <a:gd name="T90" fmla="*/ 30 w 238"/>
                    <a:gd name="T91" fmla="*/ 7 h 496"/>
                    <a:gd name="T92" fmla="*/ 44 w 238"/>
                    <a:gd name="T93" fmla="*/ 3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38" h="496">
                      <a:moveTo>
                        <a:pt x="56" y="0"/>
                      </a:moveTo>
                      <a:lnTo>
                        <a:pt x="182" y="0"/>
                      </a:lnTo>
                      <a:lnTo>
                        <a:pt x="186" y="0"/>
                      </a:lnTo>
                      <a:lnTo>
                        <a:pt x="188" y="0"/>
                      </a:lnTo>
                      <a:lnTo>
                        <a:pt x="191" y="0"/>
                      </a:lnTo>
                      <a:lnTo>
                        <a:pt x="195" y="3"/>
                      </a:lnTo>
                      <a:lnTo>
                        <a:pt x="198" y="3"/>
                      </a:lnTo>
                      <a:lnTo>
                        <a:pt x="200" y="3"/>
                      </a:lnTo>
                      <a:lnTo>
                        <a:pt x="204" y="4"/>
                      </a:lnTo>
                      <a:lnTo>
                        <a:pt x="207" y="4"/>
                      </a:lnTo>
                      <a:lnTo>
                        <a:pt x="209" y="7"/>
                      </a:lnTo>
                      <a:lnTo>
                        <a:pt x="212" y="9"/>
                      </a:lnTo>
                      <a:lnTo>
                        <a:pt x="216" y="9"/>
                      </a:lnTo>
                      <a:lnTo>
                        <a:pt x="219" y="12"/>
                      </a:lnTo>
                      <a:lnTo>
                        <a:pt x="224" y="13"/>
                      </a:lnTo>
                      <a:lnTo>
                        <a:pt x="225" y="18"/>
                      </a:lnTo>
                      <a:lnTo>
                        <a:pt x="228" y="21"/>
                      </a:lnTo>
                      <a:lnTo>
                        <a:pt x="230" y="24"/>
                      </a:lnTo>
                      <a:lnTo>
                        <a:pt x="234" y="28"/>
                      </a:lnTo>
                      <a:lnTo>
                        <a:pt x="234" y="30"/>
                      </a:lnTo>
                      <a:lnTo>
                        <a:pt x="237" y="34"/>
                      </a:lnTo>
                      <a:lnTo>
                        <a:pt x="237" y="39"/>
                      </a:lnTo>
                      <a:lnTo>
                        <a:pt x="237" y="42"/>
                      </a:lnTo>
                      <a:lnTo>
                        <a:pt x="237" y="226"/>
                      </a:lnTo>
                      <a:lnTo>
                        <a:pt x="237" y="227"/>
                      </a:lnTo>
                      <a:lnTo>
                        <a:pt x="234" y="230"/>
                      </a:lnTo>
                      <a:lnTo>
                        <a:pt x="234" y="232"/>
                      </a:lnTo>
                      <a:lnTo>
                        <a:pt x="234" y="235"/>
                      </a:lnTo>
                      <a:lnTo>
                        <a:pt x="233" y="238"/>
                      </a:lnTo>
                      <a:lnTo>
                        <a:pt x="230" y="239"/>
                      </a:lnTo>
                      <a:lnTo>
                        <a:pt x="228" y="239"/>
                      </a:lnTo>
                      <a:lnTo>
                        <a:pt x="224" y="242"/>
                      </a:lnTo>
                      <a:lnTo>
                        <a:pt x="221" y="242"/>
                      </a:lnTo>
                      <a:lnTo>
                        <a:pt x="219" y="244"/>
                      </a:lnTo>
                      <a:lnTo>
                        <a:pt x="216" y="244"/>
                      </a:lnTo>
                      <a:lnTo>
                        <a:pt x="212" y="244"/>
                      </a:lnTo>
                      <a:lnTo>
                        <a:pt x="209" y="242"/>
                      </a:lnTo>
                      <a:lnTo>
                        <a:pt x="207" y="242"/>
                      </a:lnTo>
                      <a:lnTo>
                        <a:pt x="204" y="242"/>
                      </a:lnTo>
                      <a:lnTo>
                        <a:pt x="203" y="239"/>
                      </a:lnTo>
                      <a:lnTo>
                        <a:pt x="200" y="238"/>
                      </a:lnTo>
                      <a:lnTo>
                        <a:pt x="200" y="235"/>
                      </a:lnTo>
                      <a:lnTo>
                        <a:pt x="198" y="235"/>
                      </a:lnTo>
                      <a:lnTo>
                        <a:pt x="195" y="232"/>
                      </a:lnTo>
                      <a:lnTo>
                        <a:pt x="195" y="230"/>
                      </a:lnTo>
                      <a:lnTo>
                        <a:pt x="195" y="227"/>
                      </a:lnTo>
                      <a:lnTo>
                        <a:pt x="195" y="226"/>
                      </a:lnTo>
                      <a:lnTo>
                        <a:pt x="195" y="84"/>
                      </a:lnTo>
                      <a:lnTo>
                        <a:pt x="182" y="84"/>
                      </a:lnTo>
                      <a:lnTo>
                        <a:pt x="182" y="467"/>
                      </a:lnTo>
                      <a:lnTo>
                        <a:pt x="182" y="471"/>
                      </a:lnTo>
                      <a:lnTo>
                        <a:pt x="182" y="474"/>
                      </a:lnTo>
                      <a:lnTo>
                        <a:pt x="179" y="479"/>
                      </a:lnTo>
                      <a:lnTo>
                        <a:pt x="177" y="483"/>
                      </a:lnTo>
                      <a:lnTo>
                        <a:pt x="174" y="486"/>
                      </a:lnTo>
                      <a:lnTo>
                        <a:pt x="173" y="488"/>
                      </a:lnTo>
                      <a:lnTo>
                        <a:pt x="170" y="491"/>
                      </a:lnTo>
                      <a:lnTo>
                        <a:pt x="165" y="492"/>
                      </a:lnTo>
                      <a:lnTo>
                        <a:pt x="162" y="492"/>
                      </a:lnTo>
                      <a:lnTo>
                        <a:pt x="161" y="495"/>
                      </a:lnTo>
                      <a:lnTo>
                        <a:pt x="156" y="495"/>
                      </a:lnTo>
                      <a:lnTo>
                        <a:pt x="153" y="495"/>
                      </a:lnTo>
                      <a:lnTo>
                        <a:pt x="152" y="495"/>
                      </a:lnTo>
                      <a:lnTo>
                        <a:pt x="147" y="495"/>
                      </a:lnTo>
                      <a:lnTo>
                        <a:pt x="144" y="492"/>
                      </a:lnTo>
                      <a:lnTo>
                        <a:pt x="140" y="492"/>
                      </a:lnTo>
                      <a:lnTo>
                        <a:pt x="137" y="491"/>
                      </a:lnTo>
                      <a:lnTo>
                        <a:pt x="135" y="488"/>
                      </a:lnTo>
                      <a:lnTo>
                        <a:pt x="132" y="486"/>
                      </a:lnTo>
                      <a:lnTo>
                        <a:pt x="131" y="483"/>
                      </a:lnTo>
                      <a:lnTo>
                        <a:pt x="128" y="482"/>
                      </a:lnTo>
                      <a:lnTo>
                        <a:pt x="128" y="479"/>
                      </a:lnTo>
                      <a:lnTo>
                        <a:pt x="126" y="477"/>
                      </a:lnTo>
                      <a:lnTo>
                        <a:pt x="126" y="474"/>
                      </a:lnTo>
                      <a:lnTo>
                        <a:pt x="126" y="470"/>
                      </a:lnTo>
                      <a:lnTo>
                        <a:pt x="126" y="238"/>
                      </a:lnTo>
                      <a:lnTo>
                        <a:pt x="111" y="238"/>
                      </a:lnTo>
                      <a:lnTo>
                        <a:pt x="111" y="470"/>
                      </a:lnTo>
                      <a:lnTo>
                        <a:pt x="111" y="471"/>
                      </a:lnTo>
                      <a:lnTo>
                        <a:pt x="110" y="477"/>
                      </a:lnTo>
                      <a:lnTo>
                        <a:pt x="107" y="479"/>
                      </a:lnTo>
                      <a:lnTo>
                        <a:pt x="107" y="483"/>
                      </a:lnTo>
                      <a:lnTo>
                        <a:pt x="105" y="486"/>
                      </a:lnTo>
                      <a:lnTo>
                        <a:pt x="101" y="491"/>
                      </a:lnTo>
                      <a:lnTo>
                        <a:pt x="98" y="491"/>
                      </a:lnTo>
                      <a:lnTo>
                        <a:pt x="93" y="492"/>
                      </a:lnTo>
                      <a:lnTo>
                        <a:pt x="89" y="495"/>
                      </a:lnTo>
                      <a:lnTo>
                        <a:pt x="86" y="495"/>
                      </a:lnTo>
                      <a:lnTo>
                        <a:pt x="81" y="495"/>
                      </a:lnTo>
                      <a:lnTo>
                        <a:pt x="77" y="495"/>
                      </a:lnTo>
                      <a:lnTo>
                        <a:pt x="75" y="495"/>
                      </a:lnTo>
                      <a:lnTo>
                        <a:pt x="72" y="492"/>
                      </a:lnTo>
                      <a:lnTo>
                        <a:pt x="69" y="491"/>
                      </a:lnTo>
                      <a:lnTo>
                        <a:pt x="65" y="491"/>
                      </a:lnTo>
                      <a:lnTo>
                        <a:pt x="63" y="486"/>
                      </a:lnTo>
                      <a:lnTo>
                        <a:pt x="60" y="486"/>
                      </a:lnTo>
                      <a:lnTo>
                        <a:pt x="59" y="482"/>
                      </a:lnTo>
                      <a:lnTo>
                        <a:pt x="59" y="479"/>
                      </a:lnTo>
                      <a:lnTo>
                        <a:pt x="56" y="477"/>
                      </a:lnTo>
                      <a:lnTo>
                        <a:pt x="56" y="474"/>
                      </a:lnTo>
                      <a:lnTo>
                        <a:pt x="56" y="470"/>
                      </a:lnTo>
                      <a:lnTo>
                        <a:pt x="56" y="84"/>
                      </a:lnTo>
                      <a:lnTo>
                        <a:pt x="42" y="84"/>
                      </a:lnTo>
                      <a:lnTo>
                        <a:pt x="42" y="226"/>
                      </a:lnTo>
                      <a:lnTo>
                        <a:pt x="42" y="227"/>
                      </a:lnTo>
                      <a:lnTo>
                        <a:pt x="39" y="230"/>
                      </a:lnTo>
                      <a:lnTo>
                        <a:pt x="39" y="232"/>
                      </a:lnTo>
                      <a:lnTo>
                        <a:pt x="38" y="235"/>
                      </a:lnTo>
                      <a:lnTo>
                        <a:pt x="35" y="238"/>
                      </a:lnTo>
                      <a:lnTo>
                        <a:pt x="35" y="239"/>
                      </a:lnTo>
                      <a:lnTo>
                        <a:pt x="33" y="239"/>
                      </a:lnTo>
                      <a:lnTo>
                        <a:pt x="30" y="242"/>
                      </a:lnTo>
                      <a:lnTo>
                        <a:pt x="29" y="242"/>
                      </a:lnTo>
                      <a:lnTo>
                        <a:pt x="26" y="244"/>
                      </a:lnTo>
                      <a:lnTo>
                        <a:pt x="23" y="244"/>
                      </a:lnTo>
                      <a:lnTo>
                        <a:pt x="18" y="244"/>
                      </a:lnTo>
                      <a:lnTo>
                        <a:pt x="17" y="244"/>
                      </a:lnTo>
                      <a:lnTo>
                        <a:pt x="14" y="242"/>
                      </a:lnTo>
                      <a:lnTo>
                        <a:pt x="12" y="242"/>
                      </a:lnTo>
                      <a:lnTo>
                        <a:pt x="9" y="239"/>
                      </a:lnTo>
                      <a:lnTo>
                        <a:pt x="8" y="239"/>
                      </a:lnTo>
                      <a:lnTo>
                        <a:pt x="8" y="238"/>
                      </a:lnTo>
                      <a:lnTo>
                        <a:pt x="5" y="238"/>
                      </a:lnTo>
                      <a:lnTo>
                        <a:pt x="3" y="235"/>
                      </a:lnTo>
                      <a:lnTo>
                        <a:pt x="3" y="232"/>
                      </a:lnTo>
                      <a:lnTo>
                        <a:pt x="0" y="230"/>
                      </a:lnTo>
                      <a:lnTo>
                        <a:pt x="0" y="227"/>
                      </a:lnTo>
                      <a:lnTo>
                        <a:pt x="0" y="226"/>
                      </a:lnTo>
                      <a:lnTo>
                        <a:pt x="0" y="39"/>
                      </a:lnTo>
                      <a:lnTo>
                        <a:pt x="0" y="34"/>
                      </a:lnTo>
                      <a:lnTo>
                        <a:pt x="3" y="30"/>
                      </a:lnTo>
                      <a:lnTo>
                        <a:pt x="5" y="25"/>
                      </a:lnTo>
                      <a:lnTo>
                        <a:pt x="8" y="21"/>
                      </a:lnTo>
                      <a:lnTo>
                        <a:pt x="12" y="18"/>
                      </a:lnTo>
                      <a:lnTo>
                        <a:pt x="14" y="13"/>
                      </a:lnTo>
                      <a:lnTo>
                        <a:pt x="18" y="12"/>
                      </a:lnTo>
                      <a:lnTo>
                        <a:pt x="26" y="9"/>
                      </a:lnTo>
                      <a:lnTo>
                        <a:pt x="30" y="7"/>
                      </a:lnTo>
                      <a:lnTo>
                        <a:pt x="33" y="4"/>
                      </a:lnTo>
                      <a:lnTo>
                        <a:pt x="39" y="3"/>
                      </a:lnTo>
                      <a:lnTo>
                        <a:pt x="44" y="3"/>
                      </a:lnTo>
                      <a:lnTo>
                        <a:pt x="51" y="0"/>
                      </a:lnTo>
                      <a:lnTo>
                        <a:pt x="56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95AB7">
                        <a:gamma/>
                        <a:tint val="52549"/>
                        <a:invGamma/>
                      </a:srgbClr>
                    </a:gs>
                    <a:gs pos="100000">
                      <a:srgbClr val="F95AB7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89165" name="Group 13"/>
              <p:cNvGrpSpPr/>
              <p:nvPr/>
            </p:nvGrpSpPr>
            <p:grpSpPr bwMode="auto">
              <a:xfrm>
                <a:off x="1069" y="1987"/>
                <a:ext cx="216" cy="482"/>
                <a:chOff x="2326" y="3101"/>
                <a:chExt cx="281" cy="626"/>
              </a:xfrm>
            </p:grpSpPr>
            <p:sp>
              <p:nvSpPr>
                <p:cNvPr id="689166" name="Oval 14"/>
                <p:cNvSpPr>
                  <a:spLocks noChangeArrowheads="1"/>
                </p:cNvSpPr>
                <p:nvPr/>
              </p:nvSpPr>
              <p:spPr bwMode="auto">
                <a:xfrm>
                  <a:off x="2418" y="3101"/>
                  <a:ext cx="95" cy="10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>
                        <a:gamma/>
                        <a:tint val="54902"/>
                        <a:invGamma/>
                      </a:srgbClr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9167" name="Freeform 15"/>
                <p:cNvSpPr/>
                <p:nvPr/>
              </p:nvSpPr>
              <p:spPr bwMode="auto">
                <a:xfrm>
                  <a:off x="2326" y="3223"/>
                  <a:ext cx="281" cy="504"/>
                </a:xfrm>
                <a:custGeom>
                  <a:avLst/>
                  <a:gdLst>
                    <a:gd name="T0" fmla="*/ 208 w 281"/>
                    <a:gd name="T1" fmla="*/ 0 h 504"/>
                    <a:gd name="T2" fmla="*/ 217 w 281"/>
                    <a:gd name="T3" fmla="*/ 3 h 504"/>
                    <a:gd name="T4" fmla="*/ 228 w 281"/>
                    <a:gd name="T5" fmla="*/ 9 h 504"/>
                    <a:gd name="T6" fmla="*/ 232 w 281"/>
                    <a:gd name="T7" fmla="*/ 16 h 504"/>
                    <a:gd name="T8" fmla="*/ 237 w 281"/>
                    <a:gd name="T9" fmla="*/ 24 h 504"/>
                    <a:gd name="T10" fmla="*/ 241 w 281"/>
                    <a:gd name="T11" fmla="*/ 35 h 504"/>
                    <a:gd name="T12" fmla="*/ 280 w 281"/>
                    <a:gd name="T13" fmla="*/ 189 h 504"/>
                    <a:gd name="T14" fmla="*/ 280 w 281"/>
                    <a:gd name="T15" fmla="*/ 201 h 504"/>
                    <a:gd name="T16" fmla="*/ 276 w 281"/>
                    <a:gd name="T17" fmla="*/ 208 h 504"/>
                    <a:gd name="T18" fmla="*/ 268 w 281"/>
                    <a:gd name="T19" fmla="*/ 214 h 504"/>
                    <a:gd name="T20" fmla="*/ 258 w 281"/>
                    <a:gd name="T21" fmla="*/ 214 h 504"/>
                    <a:gd name="T22" fmla="*/ 252 w 281"/>
                    <a:gd name="T23" fmla="*/ 212 h 504"/>
                    <a:gd name="T24" fmla="*/ 244 w 281"/>
                    <a:gd name="T25" fmla="*/ 208 h 504"/>
                    <a:gd name="T26" fmla="*/ 240 w 281"/>
                    <a:gd name="T27" fmla="*/ 201 h 504"/>
                    <a:gd name="T28" fmla="*/ 253 w 281"/>
                    <a:gd name="T29" fmla="*/ 310 h 504"/>
                    <a:gd name="T30" fmla="*/ 202 w 281"/>
                    <a:gd name="T31" fmla="*/ 484 h 504"/>
                    <a:gd name="T32" fmla="*/ 198 w 281"/>
                    <a:gd name="T33" fmla="*/ 494 h 504"/>
                    <a:gd name="T34" fmla="*/ 190 w 281"/>
                    <a:gd name="T35" fmla="*/ 499 h 504"/>
                    <a:gd name="T36" fmla="*/ 184 w 281"/>
                    <a:gd name="T37" fmla="*/ 503 h 504"/>
                    <a:gd name="T38" fmla="*/ 174 w 281"/>
                    <a:gd name="T39" fmla="*/ 503 h 504"/>
                    <a:gd name="T40" fmla="*/ 166 w 281"/>
                    <a:gd name="T41" fmla="*/ 500 h 504"/>
                    <a:gd name="T42" fmla="*/ 159 w 281"/>
                    <a:gd name="T43" fmla="*/ 494 h 504"/>
                    <a:gd name="T44" fmla="*/ 154 w 281"/>
                    <a:gd name="T45" fmla="*/ 487 h 504"/>
                    <a:gd name="T46" fmla="*/ 153 w 281"/>
                    <a:gd name="T47" fmla="*/ 479 h 504"/>
                    <a:gd name="T48" fmla="*/ 127 w 281"/>
                    <a:gd name="T49" fmla="*/ 479 h 504"/>
                    <a:gd name="T50" fmla="*/ 126 w 281"/>
                    <a:gd name="T51" fmla="*/ 487 h 504"/>
                    <a:gd name="T52" fmla="*/ 121 w 281"/>
                    <a:gd name="T53" fmla="*/ 496 h 504"/>
                    <a:gd name="T54" fmla="*/ 114 w 281"/>
                    <a:gd name="T55" fmla="*/ 500 h 504"/>
                    <a:gd name="T56" fmla="*/ 106 w 281"/>
                    <a:gd name="T57" fmla="*/ 503 h 504"/>
                    <a:gd name="T58" fmla="*/ 96 w 281"/>
                    <a:gd name="T59" fmla="*/ 503 h 504"/>
                    <a:gd name="T60" fmla="*/ 90 w 281"/>
                    <a:gd name="T61" fmla="*/ 499 h 504"/>
                    <a:gd name="T62" fmla="*/ 82 w 281"/>
                    <a:gd name="T63" fmla="*/ 494 h 504"/>
                    <a:gd name="T64" fmla="*/ 78 w 281"/>
                    <a:gd name="T65" fmla="*/ 484 h 504"/>
                    <a:gd name="T66" fmla="*/ 78 w 281"/>
                    <a:gd name="T67" fmla="*/ 313 h 504"/>
                    <a:gd name="T68" fmla="*/ 78 w 281"/>
                    <a:gd name="T69" fmla="*/ 71 h 504"/>
                    <a:gd name="T70" fmla="*/ 39 w 281"/>
                    <a:gd name="T71" fmla="*/ 209 h 504"/>
                    <a:gd name="T72" fmla="*/ 31 w 281"/>
                    <a:gd name="T73" fmla="*/ 217 h 504"/>
                    <a:gd name="T74" fmla="*/ 22 w 281"/>
                    <a:gd name="T75" fmla="*/ 220 h 504"/>
                    <a:gd name="T76" fmla="*/ 15 w 281"/>
                    <a:gd name="T77" fmla="*/ 220 h 504"/>
                    <a:gd name="T78" fmla="*/ 4 w 281"/>
                    <a:gd name="T79" fmla="*/ 212 h 504"/>
                    <a:gd name="T80" fmla="*/ 0 w 281"/>
                    <a:gd name="T81" fmla="*/ 202 h 504"/>
                    <a:gd name="T82" fmla="*/ 0 w 281"/>
                    <a:gd name="T83" fmla="*/ 196 h 504"/>
                    <a:gd name="T84" fmla="*/ 40 w 281"/>
                    <a:gd name="T85" fmla="*/ 38 h 504"/>
                    <a:gd name="T86" fmla="*/ 43 w 281"/>
                    <a:gd name="T87" fmla="*/ 28 h 504"/>
                    <a:gd name="T88" fmla="*/ 46 w 281"/>
                    <a:gd name="T89" fmla="*/ 19 h 504"/>
                    <a:gd name="T90" fmla="*/ 52 w 281"/>
                    <a:gd name="T91" fmla="*/ 12 h 504"/>
                    <a:gd name="T92" fmla="*/ 60 w 281"/>
                    <a:gd name="T93" fmla="*/ 4 h 504"/>
                    <a:gd name="T94" fmla="*/ 72 w 281"/>
                    <a:gd name="T95" fmla="*/ 0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81" h="504">
                      <a:moveTo>
                        <a:pt x="78" y="0"/>
                      </a:moveTo>
                      <a:lnTo>
                        <a:pt x="205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4" y="3"/>
                      </a:lnTo>
                      <a:lnTo>
                        <a:pt x="217" y="3"/>
                      </a:lnTo>
                      <a:lnTo>
                        <a:pt x="220" y="4"/>
                      </a:lnTo>
                      <a:lnTo>
                        <a:pt x="222" y="7"/>
                      </a:lnTo>
                      <a:lnTo>
                        <a:pt x="228" y="9"/>
                      </a:lnTo>
                      <a:lnTo>
                        <a:pt x="229" y="12"/>
                      </a:lnTo>
                      <a:lnTo>
                        <a:pt x="229" y="15"/>
                      </a:lnTo>
                      <a:lnTo>
                        <a:pt x="232" y="16"/>
                      </a:lnTo>
                      <a:lnTo>
                        <a:pt x="234" y="19"/>
                      </a:lnTo>
                      <a:lnTo>
                        <a:pt x="237" y="22"/>
                      </a:lnTo>
                      <a:lnTo>
                        <a:pt x="237" y="24"/>
                      </a:lnTo>
                      <a:lnTo>
                        <a:pt x="240" y="27"/>
                      </a:lnTo>
                      <a:lnTo>
                        <a:pt x="240" y="31"/>
                      </a:lnTo>
                      <a:lnTo>
                        <a:pt x="241" y="35"/>
                      </a:lnTo>
                      <a:lnTo>
                        <a:pt x="241" y="38"/>
                      </a:lnTo>
                      <a:lnTo>
                        <a:pt x="241" y="43"/>
                      </a:lnTo>
                      <a:lnTo>
                        <a:pt x="280" y="189"/>
                      </a:lnTo>
                      <a:lnTo>
                        <a:pt x="280" y="193"/>
                      </a:lnTo>
                      <a:lnTo>
                        <a:pt x="280" y="196"/>
                      </a:lnTo>
                      <a:lnTo>
                        <a:pt x="280" y="201"/>
                      </a:lnTo>
                      <a:lnTo>
                        <a:pt x="280" y="202"/>
                      </a:lnTo>
                      <a:lnTo>
                        <a:pt x="277" y="205"/>
                      </a:lnTo>
                      <a:lnTo>
                        <a:pt x="276" y="208"/>
                      </a:lnTo>
                      <a:lnTo>
                        <a:pt x="273" y="209"/>
                      </a:lnTo>
                      <a:lnTo>
                        <a:pt x="271" y="212"/>
                      </a:lnTo>
                      <a:lnTo>
                        <a:pt x="268" y="214"/>
                      </a:lnTo>
                      <a:lnTo>
                        <a:pt x="265" y="214"/>
                      </a:lnTo>
                      <a:lnTo>
                        <a:pt x="261" y="214"/>
                      </a:lnTo>
                      <a:lnTo>
                        <a:pt x="258" y="214"/>
                      </a:lnTo>
                      <a:lnTo>
                        <a:pt x="256" y="214"/>
                      </a:lnTo>
                      <a:lnTo>
                        <a:pt x="253" y="214"/>
                      </a:lnTo>
                      <a:lnTo>
                        <a:pt x="252" y="212"/>
                      </a:lnTo>
                      <a:lnTo>
                        <a:pt x="249" y="212"/>
                      </a:lnTo>
                      <a:lnTo>
                        <a:pt x="246" y="209"/>
                      </a:lnTo>
                      <a:lnTo>
                        <a:pt x="244" y="208"/>
                      </a:lnTo>
                      <a:lnTo>
                        <a:pt x="241" y="205"/>
                      </a:lnTo>
                      <a:lnTo>
                        <a:pt x="241" y="202"/>
                      </a:lnTo>
                      <a:lnTo>
                        <a:pt x="240" y="201"/>
                      </a:lnTo>
                      <a:lnTo>
                        <a:pt x="202" y="71"/>
                      </a:lnTo>
                      <a:lnTo>
                        <a:pt x="190" y="71"/>
                      </a:lnTo>
                      <a:lnTo>
                        <a:pt x="253" y="310"/>
                      </a:lnTo>
                      <a:lnTo>
                        <a:pt x="202" y="310"/>
                      </a:lnTo>
                      <a:lnTo>
                        <a:pt x="202" y="479"/>
                      </a:lnTo>
                      <a:lnTo>
                        <a:pt x="202" y="484"/>
                      </a:lnTo>
                      <a:lnTo>
                        <a:pt x="202" y="487"/>
                      </a:lnTo>
                      <a:lnTo>
                        <a:pt x="201" y="488"/>
                      </a:lnTo>
                      <a:lnTo>
                        <a:pt x="198" y="494"/>
                      </a:lnTo>
                      <a:lnTo>
                        <a:pt x="196" y="496"/>
                      </a:lnTo>
                      <a:lnTo>
                        <a:pt x="196" y="499"/>
                      </a:lnTo>
                      <a:lnTo>
                        <a:pt x="190" y="499"/>
                      </a:lnTo>
                      <a:lnTo>
                        <a:pt x="189" y="500"/>
                      </a:lnTo>
                      <a:lnTo>
                        <a:pt x="186" y="503"/>
                      </a:lnTo>
                      <a:lnTo>
                        <a:pt x="184" y="503"/>
                      </a:lnTo>
                      <a:lnTo>
                        <a:pt x="181" y="503"/>
                      </a:lnTo>
                      <a:lnTo>
                        <a:pt x="178" y="503"/>
                      </a:lnTo>
                      <a:lnTo>
                        <a:pt x="174" y="503"/>
                      </a:lnTo>
                      <a:lnTo>
                        <a:pt x="171" y="503"/>
                      </a:lnTo>
                      <a:lnTo>
                        <a:pt x="169" y="500"/>
                      </a:lnTo>
                      <a:lnTo>
                        <a:pt x="166" y="500"/>
                      </a:lnTo>
                      <a:lnTo>
                        <a:pt x="165" y="499"/>
                      </a:lnTo>
                      <a:lnTo>
                        <a:pt x="162" y="496"/>
                      </a:lnTo>
                      <a:lnTo>
                        <a:pt x="159" y="494"/>
                      </a:lnTo>
                      <a:lnTo>
                        <a:pt x="157" y="494"/>
                      </a:lnTo>
                      <a:lnTo>
                        <a:pt x="157" y="488"/>
                      </a:lnTo>
                      <a:lnTo>
                        <a:pt x="154" y="487"/>
                      </a:lnTo>
                      <a:lnTo>
                        <a:pt x="154" y="484"/>
                      </a:lnTo>
                      <a:lnTo>
                        <a:pt x="153" y="481"/>
                      </a:lnTo>
                      <a:lnTo>
                        <a:pt x="153" y="479"/>
                      </a:lnTo>
                      <a:lnTo>
                        <a:pt x="153" y="313"/>
                      </a:lnTo>
                      <a:lnTo>
                        <a:pt x="127" y="313"/>
                      </a:lnTo>
                      <a:lnTo>
                        <a:pt x="127" y="479"/>
                      </a:lnTo>
                      <a:lnTo>
                        <a:pt x="127" y="481"/>
                      </a:lnTo>
                      <a:lnTo>
                        <a:pt x="127" y="484"/>
                      </a:lnTo>
                      <a:lnTo>
                        <a:pt x="126" y="487"/>
                      </a:lnTo>
                      <a:lnTo>
                        <a:pt x="126" y="488"/>
                      </a:lnTo>
                      <a:lnTo>
                        <a:pt x="123" y="494"/>
                      </a:lnTo>
                      <a:lnTo>
                        <a:pt x="121" y="496"/>
                      </a:lnTo>
                      <a:lnTo>
                        <a:pt x="118" y="499"/>
                      </a:lnTo>
                      <a:lnTo>
                        <a:pt x="115" y="499"/>
                      </a:lnTo>
                      <a:lnTo>
                        <a:pt x="114" y="500"/>
                      </a:lnTo>
                      <a:lnTo>
                        <a:pt x="111" y="503"/>
                      </a:lnTo>
                      <a:lnTo>
                        <a:pt x="109" y="503"/>
                      </a:lnTo>
                      <a:lnTo>
                        <a:pt x="106" y="503"/>
                      </a:lnTo>
                      <a:lnTo>
                        <a:pt x="102" y="503"/>
                      </a:lnTo>
                      <a:lnTo>
                        <a:pt x="99" y="503"/>
                      </a:lnTo>
                      <a:lnTo>
                        <a:pt x="96" y="503"/>
                      </a:lnTo>
                      <a:lnTo>
                        <a:pt x="94" y="500"/>
                      </a:lnTo>
                      <a:lnTo>
                        <a:pt x="91" y="500"/>
                      </a:lnTo>
                      <a:lnTo>
                        <a:pt x="90" y="499"/>
                      </a:lnTo>
                      <a:lnTo>
                        <a:pt x="87" y="499"/>
                      </a:lnTo>
                      <a:lnTo>
                        <a:pt x="84" y="496"/>
                      </a:lnTo>
                      <a:lnTo>
                        <a:pt x="82" y="494"/>
                      </a:lnTo>
                      <a:lnTo>
                        <a:pt x="79" y="491"/>
                      </a:lnTo>
                      <a:lnTo>
                        <a:pt x="79" y="488"/>
                      </a:lnTo>
                      <a:lnTo>
                        <a:pt x="78" y="484"/>
                      </a:lnTo>
                      <a:lnTo>
                        <a:pt x="78" y="481"/>
                      </a:lnTo>
                      <a:lnTo>
                        <a:pt x="78" y="479"/>
                      </a:lnTo>
                      <a:lnTo>
                        <a:pt x="78" y="313"/>
                      </a:lnTo>
                      <a:lnTo>
                        <a:pt x="28" y="313"/>
                      </a:lnTo>
                      <a:lnTo>
                        <a:pt x="90" y="71"/>
                      </a:lnTo>
                      <a:lnTo>
                        <a:pt x="78" y="71"/>
                      </a:lnTo>
                      <a:lnTo>
                        <a:pt x="40" y="202"/>
                      </a:lnTo>
                      <a:lnTo>
                        <a:pt x="39" y="205"/>
                      </a:lnTo>
                      <a:lnTo>
                        <a:pt x="39" y="209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1" y="217"/>
                      </a:lnTo>
                      <a:lnTo>
                        <a:pt x="28" y="217"/>
                      </a:lnTo>
                      <a:lnTo>
                        <a:pt x="27" y="220"/>
                      </a:lnTo>
                      <a:lnTo>
                        <a:pt x="22" y="220"/>
                      </a:lnTo>
                      <a:lnTo>
                        <a:pt x="19" y="220"/>
                      </a:lnTo>
                      <a:lnTo>
                        <a:pt x="16" y="220"/>
                      </a:lnTo>
                      <a:lnTo>
                        <a:pt x="15" y="220"/>
                      </a:lnTo>
                      <a:lnTo>
                        <a:pt x="9" y="217"/>
                      </a:lnTo>
                      <a:lnTo>
                        <a:pt x="7" y="214"/>
                      </a:lnTo>
                      <a:lnTo>
                        <a:pt x="4" y="212"/>
                      </a:lnTo>
                      <a:lnTo>
                        <a:pt x="3" y="208"/>
                      </a:lnTo>
                      <a:lnTo>
                        <a:pt x="0" y="205"/>
                      </a:lnTo>
                      <a:lnTo>
                        <a:pt x="0" y="202"/>
                      </a:lnTo>
                      <a:lnTo>
                        <a:pt x="0" y="201"/>
                      </a:lnTo>
                      <a:lnTo>
                        <a:pt x="0" y="198"/>
                      </a:lnTo>
                      <a:lnTo>
                        <a:pt x="0" y="196"/>
                      </a:lnTo>
                      <a:lnTo>
                        <a:pt x="0" y="193"/>
                      </a:lnTo>
                      <a:lnTo>
                        <a:pt x="39" y="40"/>
                      </a:lnTo>
                      <a:lnTo>
                        <a:pt x="40" y="38"/>
                      </a:lnTo>
                      <a:lnTo>
                        <a:pt x="40" y="34"/>
                      </a:lnTo>
                      <a:lnTo>
                        <a:pt x="40" y="31"/>
                      </a:lnTo>
                      <a:lnTo>
                        <a:pt x="43" y="28"/>
                      </a:lnTo>
                      <a:lnTo>
                        <a:pt x="43" y="27"/>
                      </a:lnTo>
                      <a:lnTo>
                        <a:pt x="43" y="24"/>
                      </a:lnTo>
                      <a:lnTo>
                        <a:pt x="46" y="19"/>
                      </a:lnTo>
                      <a:lnTo>
                        <a:pt x="48" y="16"/>
                      </a:lnTo>
                      <a:lnTo>
                        <a:pt x="51" y="15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8" y="7"/>
                      </a:lnTo>
                      <a:lnTo>
                        <a:pt x="60" y="4"/>
                      </a:lnTo>
                      <a:lnTo>
                        <a:pt x="63" y="3"/>
                      </a:lnTo>
                      <a:lnTo>
                        <a:pt x="67" y="3"/>
                      </a:lnTo>
                      <a:lnTo>
                        <a:pt x="72" y="0"/>
                      </a:lnTo>
                      <a:lnTo>
                        <a:pt x="78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9900">
                        <a:gamma/>
                        <a:tint val="54902"/>
                        <a:invGamma/>
                      </a:srgbClr>
                    </a:gs>
                    <a:gs pos="100000">
                      <a:srgbClr val="FF9900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5.8.1 </a:t>
            </a:r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常成员函数的声明原则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不会改变对象状态的函数，都应该将其声明为常成员函数！</a:t>
            </a:r>
            <a:endParaRPr lang="en-US" altLang="zh-CN" sz="2400" b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为什么呢？防止隐形错误的产生，减少调试的代价！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Aft>
                <a:spcPct val="25000"/>
              </a:spcAft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意外情况：如果一个</a:t>
            </a:r>
            <a:r>
              <a:rPr lang="zh-CN" altLang="en-US" sz="2400" b="1" dirty="0">
                <a:ea typeface="华文楷体" panose="02010600040101010101" pitchFamily="2" charset="-122"/>
              </a:rPr>
              <a:t>函数修改的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是一些</a:t>
            </a:r>
            <a:r>
              <a:rPr lang="zh-CN" altLang="en-US" sz="2400" b="1" dirty="0">
                <a:ea typeface="华文楷体" panose="02010600040101010101" pitchFamily="2" charset="-122"/>
              </a:rPr>
              <a:t>跟类状态无关的数据</a:t>
            </a:r>
            <a:r>
              <a:rPr lang="zh-CN" altLang="en-US" sz="2400" b="1" dirty="0" smtClean="0">
                <a:ea typeface="华文楷体" panose="02010600040101010101" pitchFamily="2" charset="-122"/>
              </a:rPr>
              <a:t>成员，该成员函数也应该定义为常成员函数。</a:t>
            </a:r>
            <a:endParaRPr lang="en-US" altLang="zh-CN" sz="2400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5.8.1 </a:t>
            </a:r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常成员函数的声明原则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611560" y="2035018"/>
            <a:ext cx="7886700" cy="4822981"/>
          </a:xfrm>
          <a:solidFill>
            <a:schemeClr val="tx1"/>
          </a:solidFill>
        </p:spPr>
        <p:txBody>
          <a:bodyPr/>
          <a:lstStyle/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class Line{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public:    	//</a:t>
            </a:r>
            <a:r>
              <a:rPr lang="zh-CN" altLang="en-US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外部接口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Line(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Point &amp;p1,const Point &amp;p2):p1(p1), 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               p2(p2), 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len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(-1){ }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	double 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getLen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() </a:t>
            </a:r>
            <a:r>
              <a:rPr lang="en-US" altLang="zh-CN" sz="2400" b="1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;  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private: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Point p1,p2;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mutable 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double 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len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};</a:t>
            </a:r>
            <a:endParaRPr lang="en-US" altLang="zh-CN" sz="24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11560" y="1412776"/>
            <a:ext cx="7886700" cy="57606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 pitchFamily="2" charset="2"/>
              <a:buChar char="u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例如：</a:t>
            </a:r>
            <a:endParaRPr lang="en-US" altLang="zh-CN" sz="2400" b="1" dirty="0">
              <a:ea typeface="华文楷体" panose="02010600040101010101" pitchFamily="2" charset="-122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4796341" y="4525527"/>
            <a:ext cx="3816424" cy="1639777"/>
          </a:xfrm>
          <a:prstGeom prst="wedgeRoundRectCallout">
            <a:avLst>
              <a:gd name="adj1" fmla="val -74076"/>
              <a:gd name="adj2" fmla="val 19254"/>
              <a:gd name="adj3" fmla="val 16667"/>
            </a:avLst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1" compatLnSpc="1"/>
          <a:lstStyle/>
          <a:p>
            <a:pPr algn="l"/>
            <a:r>
              <a:rPr lang="en-US" altLang="zh-CN" b="1" dirty="0" smtClean="0">
                <a:latin typeface="+mn-lt"/>
                <a:ea typeface="华文楷体" panose="02010600040101010101" pitchFamily="2" charset="-122"/>
              </a:rPr>
              <a:t>mutable:</a:t>
            </a:r>
            <a:r>
              <a:rPr lang="zh-CN" altLang="en-US" b="1" dirty="0">
                <a:latin typeface="+mn-lt"/>
                <a:ea typeface="华文楷体" panose="02010600040101010101" pitchFamily="2" charset="-122"/>
              </a:rPr>
              <a:t>被</a:t>
            </a:r>
            <a:r>
              <a:rPr lang="en-US" altLang="zh-CN" b="1" dirty="0">
                <a:latin typeface="+mn-lt"/>
                <a:ea typeface="华文楷体" panose="02010600040101010101" pitchFamily="2" charset="-122"/>
              </a:rPr>
              <a:t>mutable</a:t>
            </a:r>
            <a:r>
              <a:rPr lang="zh-CN" altLang="en-US" b="1" dirty="0">
                <a:latin typeface="+mn-lt"/>
                <a:ea typeface="华文楷体" panose="02010600040101010101" pitchFamily="2" charset="-122"/>
              </a:rPr>
              <a:t>修饰的变量，将永远处于可变的状态，即使在一个</a:t>
            </a:r>
            <a:r>
              <a:rPr lang="en-US" altLang="zh-CN" b="1" dirty="0" err="1">
                <a:latin typeface="+mn-lt"/>
                <a:ea typeface="华文楷体" panose="02010600040101010101" pitchFamily="2" charset="-122"/>
              </a:rPr>
              <a:t>const</a:t>
            </a:r>
            <a:r>
              <a:rPr lang="zh-CN" altLang="en-US" b="1" dirty="0">
                <a:latin typeface="+mn-lt"/>
                <a:ea typeface="华文楷体" panose="02010600040101010101" pitchFamily="2" charset="-122"/>
              </a:rPr>
              <a:t>函数中。</a:t>
            </a:r>
            <a:endParaRPr lang="zh-CN" altLang="en-US" b="1" dirty="0">
              <a:latin typeface="+mn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5.8.1 </a:t>
            </a:r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常成员函数的声明原则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611560" y="1340768"/>
            <a:ext cx="7886700" cy="4822981"/>
          </a:xfrm>
          <a:solidFill>
            <a:schemeClr val="tx1"/>
          </a:solidFill>
        </p:spPr>
        <p:txBody>
          <a:bodyPr/>
          <a:lstStyle/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double Line::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getLen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() </a:t>
            </a:r>
            <a:r>
              <a:rPr lang="en-US" altLang="zh-CN" sz="2400" b="1" dirty="0" err="1" smtClean="0">
                <a:solidFill>
                  <a:srgbClr val="FF0000"/>
                </a:solidFill>
                <a:ea typeface="华文楷体" panose="02010600040101010101" pitchFamily="2" charset="-122"/>
              </a:rPr>
              <a:t>const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{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if(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len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&lt;0){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	double x=p1.getX()-p2.getX();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	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double y=p1.getY()-p2.getY();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len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=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sqrt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(x*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x+y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*y);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	return </a:t>
            </a:r>
            <a:r>
              <a:rPr lang="en-US" altLang="zh-CN" sz="24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len</a:t>
            </a: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4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4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 bwMode="auto">
          <a:xfrm>
            <a:off x="4788024" y="3789040"/>
            <a:ext cx="3816424" cy="2304256"/>
          </a:xfrm>
          <a:prstGeom prst="wedgeRoundRectCallout">
            <a:avLst>
              <a:gd name="adj1" fmla="val -37947"/>
              <a:gd name="adj2" fmla="val -56789"/>
              <a:gd name="adj3" fmla="val 16667"/>
            </a:avLst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0" rIns="36000" bIns="0" numCol="1" rtlCol="0" anchor="ctr" anchorCtr="1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 smtClean="0">
                <a:latin typeface="+mn-lt"/>
                <a:ea typeface="华文楷体" panose="02010600040101010101" pitchFamily="2" charset="-122"/>
              </a:rPr>
              <a:t>由于</a:t>
            </a:r>
            <a:r>
              <a:rPr lang="en-US" altLang="zh-CN" b="1" dirty="0" err="1" smtClean="0">
                <a:latin typeface="+mn-lt"/>
                <a:ea typeface="华文楷体" panose="02010600040101010101" pitchFamily="2" charset="-122"/>
              </a:rPr>
              <a:t>len</a:t>
            </a:r>
            <a:r>
              <a:rPr lang="zh-CN" altLang="en-US" b="1" dirty="0" smtClean="0">
                <a:latin typeface="+mn-lt"/>
                <a:ea typeface="华文楷体" panose="02010600040101010101" pitchFamily="2" charset="-122"/>
              </a:rPr>
              <a:t>依赖与线条两个端点的坐标值，修改</a:t>
            </a:r>
            <a:r>
              <a:rPr lang="en-US" altLang="zh-CN" b="1" dirty="0" err="1" smtClean="0">
                <a:latin typeface="+mn-lt"/>
                <a:ea typeface="华文楷体" panose="02010600040101010101" pitchFamily="2" charset="-122"/>
              </a:rPr>
              <a:t>len</a:t>
            </a:r>
            <a:r>
              <a:rPr lang="zh-CN" altLang="en-US" b="1" dirty="0" smtClean="0">
                <a:latin typeface="+mn-lt"/>
                <a:ea typeface="华文楷体" panose="02010600040101010101" pitchFamily="2" charset="-122"/>
              </a:rPr>
              <a:t>不会改变对象状态！</a:t>
            </a:r>
            <a:endParaRPr lang="en-US" altLang="zh-CN" b="1" dirty="0" smtClean="0">
              <a:latin typeface="+mn-lt"/>
              <a:ea typeface="华文楷体" panose="0201060004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1" i="0" u="none" strike="noStrike" cap="none" normalizeH="0" baseline="0" dirty="0">
              <a:ln>
                <a:noFill/>
              </a:ln>
              <a:effectLst/>
              <a:latin typeface="+mn-lt"/>
              <a:ea typeface="华文楷体" panose="0201060004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 smtClean="0">
                <a:ln>
                  <a:noFill/>
                </a:ln>
                <a:effectLst/>
                <a:latin typeface="+mn-lt"/>
                <a:ea typeface="华文楷体" panose="02010600040101010101" pitchFamily="2" charset="-122"/>
              </a:rPr>
              <a:t>因此，</a:t>
            </a:r>
            <a:r>
              <a:rPr kumimoji="1" lang="en-US" altLang="zh-CN" sz="2400" b="1" i="0" u="none" strike="noStrike" cap="none" normalizeH="0" baseline="0" dirty="0" err="1" smtClean="0">
                <a:ln>
                  <a:noFill/>
                </a:ln>
                <a:effectLst/>
                <a:latin typeface="+mn-lt"/>
                <a:ea typeface="华文楷体" panose="02010600040101010101" pitchFamily="2" charset="-122"/>
              </a:rPr>
              <a:t>ge</a:t>
            </a:r>
            <a:r>
              <a:rPr lang="en-US" altLang="zh-CN" b="1" dirty="0" err="1" smtClean="0">
                <a:latin typeface="+mn-lt"/>
                <a:ea typeface="华文楷体" panose="02010600040101010101" pitchFamily="2" charset="-122"/>
              </a:rPr>
              <a:t>tLen</a:t>
            </a:r>
            <a:r>
              <a:rPr lang="zh-CN" altLang="en-US" b="1" dirty="0" smtClean="0">
                <a:latin typeface="+mn-lt"/>
                <a:ea typeface="华文楷体" panose="02010600040101010101" pitchFamily="2" charset="-122"/>
              </a:rPr>
              <a:t>应该声明为常成员函数。</a:t>
            </a:r>
            <a:endParaRPr kumimoji="1" lang="zh-CN" altLang="en-US" sz="2400" b="1" i="0" u="none" strike="noStrike" cap="none" normalizeH="0" baseline="0" dirty="0" smtClean="0">
              <a:ln>
                <a:noFill/>
              </a:ln>
              <a:effectLst/>
              <a:latin typeface="+mn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8335838" cy="132556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/>
            <a:r>
              <a:rPr lang="en-US" altLang="zh-CN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5.8.2 </a:t>
            </a:r>
            <a:r>
              <a:rPr lang="zh-CN" altLang="en-US" sz="4400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代码的编译连接与执行过程</a:t>
            </a:r>
            <a:endParaRPr lang="zh-CN" altLang="en-US" sz="4400" b="1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633962" y="5157192"/>
            <a:ext cx="7886700" cy="587722"/>
          </a:xfrm>
        </p:spPr>
        <p:txBody>
          <a:bodyPr/>
          <a:lstStyle/>
          <a:p>
            <a:pPr marL="457200" indent="-457200" algn="ctr">
              <a:lnSpc>
                <a:spcPct val="150000"/>
              </a:lnSpc>
              <a:spcAft>
                <a:spcPct val="25000"/>
              </a:spcAft>
              <a:buClr>
                <a:srgbClr val="FFFF00"/>
              </a:buClr>
              <a:buFont typeface="+mj-ea"/>
              <a:buAutoNum type="circleNumDbPlain"/>
            </a:pPr>
            <a:r>
              <a:rPr lang="zh-CN" altLang="en-US" sz="28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编译</a:t>
            </a:r>
            <a:endParaRPr lang="en-US" altLang="zh-CN" sz="2800" b="1" dirty="0">
              <a:solidFill>
                <a:srgbClr val="FFFF00"/>
              </a:solidFill>
              <a:ea typeface="华文楷体" panose="02010600040101010101" pitchFamily="2" charset="-122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11560" y="1340769"/>
            <a:ext cx="3312368" cy="360039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 pitchFamily="2" charset="2"/>
              <a:buChar char="u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//a.cpp</a:t>
            </a:r>
            <a:endParaRPr lang="en-US" altLang="zh-CN" sz="2000" b="1" dirty="0" smtClean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extern 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y;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func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x);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main(){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  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z=1;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 y=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func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(z);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 return 0;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5004048" y="1361729"/>
            <a:ext cx="3312368" cy="360039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 pitchFamily="2" charset="2"/>
              <a:buChar char="u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//b.cpp</a:t>
            </a:r>
            <a:endParaRPr lang="en-US" altLang="zh-CN" sz="2000" b="1" dirty="0" smtClean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x=3;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y;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func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(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v){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     return </a:t>
            </a:r>
            <a:r>
              <a:rPr lang="en-US" altLang="zh-CN" sz="2000" b="1" dirty="0" err="1" smtClean="0">
                <a:solidFill>
                  <a:srgbClr val="000000"/>
                </a:solidFill>
                <a:ea typeface="华文楷体" panose="02010600040101010101" pitchFamily="2" charset="-122"/>
              </a:rPr>
              <a:t>v+x</a:t>
            </a:r>
            <a:r>
              <a:rPr lang="en-US" altLang="zh-CN" sz="2000" b="1" dirty="0" smtClean="0">
                <a:solidFill>
                  <a:srgbClr val="000000"/>
                </a:solidFill>
                <a:ea typeface="华文楷体" panose="02010600040101010101" pitchFamily="2" charset="-122"/>
              </a:rPr>
              <a:t>;</a:t>
            </a:r>
            <a:endParaRPr lang="en-US" altLang="zh-CN" sz="2000" b="1" dirty="0" smtClean="0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marL="0" indent="0">
              <a:spcAft>
                <a:spcPct val="25000"/>
              </a:spcAft>
              <a:buFont typeface="Monotype Sort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华文楷体" panose="02010600040101010101" pitchFamily="2" charset="-122"/>
              </a:rPr>
              <a:t>}</a:t>
            </a:r>
            <a:endParaRPr lang="en-US" altLang="zh-CN" sz="20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2" name="下箭头 1"/>
          <p:cNvSpPr/>
          <p:nvPr/>
        </p:nvSpPr>
        <p:spPr bwMode="auto">
          <a:xfrm>
            <a:off x="1979712" y="4962128"/>
            <a:ext cx="288032" cy="9151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6660232" y="4962128"/>
            <a:ext cx="288032" cy="9151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" name="折角形 2"/>
          <p:cNvSpPr/>
          <p:nvPr/>
        </p:nvSpPr>
        <p:spPr bwMode="auto">
          <a:xfrm>
            <a:off x="1295636" y="6021288"/>
            <a:ext cx="1656184" cy="504056"/>
          </a:xfrm>
          <a:prstGeom prst="foldedCorne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a.o</a:t>
            </a:r>
            <a:endParaRPr kumimoji="1" lang="zh-CN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" name="折角形 8"/>
          <p:cNvSpPr/>
          <p:nvPr/>
        </p:nvSpPr>
        <p:spPr bwMode="auto">
          <a:xfrm>
            <a:off x="5976156" y="6032535"/>
            <a:ext cx="1656184" cy="504056"/>
          </a:xfrm>
          <a:prstGeom prst="foldedCorne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b.o</a:t>
            </a:r>
            <a:endParaRPr kumimoji="1" lang="zh-CN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88926" y="5950150"/>
            <a:ext cx="1415772" cy="5905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ct val="25000"/>
              </a:spcAft>
              <a:buClr>
                <a:srgbClr val="FFFF00"/>
              </a:buClr>
            </a:pPr>
            <a:r>
              <a:rPr lang="zh-CN" altLang="en-US" b="1" dirty="0" smtClean="0">
                <a:ea typeface="华文楷体" panose="02010600040101010101" pitchFamily="2" charset="-122"/>
              </a:rPr>
              <a:t>目标文件</a:t>
            </a:r>
            <a:endParaRPr lang="en-US" altLang="zh-CN" b="1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折角形 2"/>
          <p:cNvSpPr/>
          <p:nvPr/>
        </p:nvSpPr>
        <p:spPr bwMode="auto">
          <a:xfrm>
            <a:off x="1359113" y="520787"/>
            <a:ext cx="1656184" cy="504056"/>
          </a:xfrm>
          <a:prstGeom prst="foldedCorne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a.o</a:t>
            </a:r>
            <a:endParaRPr kumimoji="1" lang="zh-CN" alt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" name="折角形 8"/>
          <p:cNvSpPr/>
          <p:nvPr/>
        </p:nvSpPr>
        <p:spPr bwMode="auto">
          <a:xfrm>
            <a:off x="6039633" y="532034"/>
            <a:ext cx="1656184" cy="504056"/>
          </a:xfrm>
          <a:prstGeom prst="foldedCorne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b.o</a:t>
            </a:r>
            <a:endParaRPr kumimoji="1" lang="zh-CN" alt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90738" y="449649"/>
            <a:ext cx="23391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ct val="25000"/>
              </a:spcAft>
              <a:buClr>
                <a:srgbClr val="FFFF00"/>
              </a:buClr>
            </a:pPr>
            <a:r>
              <a:rPr lang="zh-CN" altLang="en-US" b="1" dirty="0" smtClean="0">
                <a:ea typeface="华文楷体" panose="02010600040101010101" pitchFamily="2" charset="-122"/>
              </a:rPr>
              <a:t>目标文件的结构</a:t>
            </a:r>
            <a:endParaRPr lang="en-US" altLang="zh-CN" b="1" dirty="0">
              <a:ea typeface="华文楷体" panose="02010600040101010101" pitchFamily="2" charset="-122"/>
            </a:endParaRPr>
          </a:p>
        </p:txBody>
      </p:sp>
      <p:sp>
        <p:nvSpPr>
          <p:cNvPr id="11" name="流程图: 文档 10"/>
          <p:cNvSpPr/>
          <p:nvPr/>
        </p:nvSpPr>
        <p:spPr bwMode="auto">
          <a:xfrm>
            <a:off x="899592" y="1484784"/>
            <a:ext cx="3240360" cy="3816424"/>
          </a:xfrm>
          <a:prstGeom prst="flowChartDocument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4" name="流程图: 文档 13"/>
          <p:cNvSpPr/>
          <p:nvPr/>
        </p:nvSpPr>
        <p:spPr bwMode="auto">
          <a:xfrm>
            <a:off x="5247545" y="1469954"/>
            <a:ext cx="3240360" cy="5388046"/>
          </a:xfrm>
          <a:prstGeom prst="flowChartDocument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359113" y="1988840"/>
            <a:ext cx="2348791" cy="108012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（</a:t>
            </a:r>
            <a:r>
              <a:rPr kumimoji="1" lang="en-US" altLang="zh-CN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main</a:t>
            </a:r>
            <a:r>
              <a: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的代码）</a:t>
            </a:r>
            <a:endParaRPr kumimoji="1" lang="en-US" altLang="zh-CN" sz="1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</a:rPr>
              <a:t> 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 lea 0x4(%</a:t>
            </a:r>
            <a:r>
              <a:rPr lang="en-US" altLang="zh-CN" sz="1400" b="1" dirty="0" err="1" smtClean="0">
                <a:solidFill>
                  <a:srgbClr val="000000"/>
                </a:solidFill>
              </a:rPr>
              <a:t>esp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),%</a:t>
            </a:r>
            <a:r>
              <a:rPr lang="en-US" altLang="zh-CN" sz="1400" b="1" dirty="0" err="1" smtClean="0">
                <a:solidFill>
                  <a:srgbClr val="000000"/>
                </a:solidFill>
              </a:rPr>
              <a:t>ecx</a:t>
            </a:r>
            <a:endParaRPr lang="en-US" altLang="zh-CN" sz="1400" b="1" dirty="0" smtClean="0">
              <a:solidFill>
                <a:srgbClr val="000000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1" lang="en-US" altLang="zh-CN" sz="14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and $0xfffffff0,%esp</a:t>
            </a:r>
            <a:endParaRPr kumimoji="1" lang="en-US" altLang="zh-CN" sz="14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b="1" dirty="0" smtClean="0">
                <a:solidFill>
                  <a:srgbClr val="000000"/>
                </a:solidFill>
              </a:rPr>
              <a:t>……</a:t>
            </a:r>
            <a:endParaRPr kumimoji="1" lang="zh-CN" altLang="en-US" sz="1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345375" y="3573016"/>
            <a:ext cx="2371060" cy="864096"/>
            <a:chOff x="1345375" y="3140968"/>
            <a:chExt cx="2371060" cy="864096"/>
          </a:xfrm>
        </p:grpSpPr>
        <p:sp>
          <p:nvSpPr>
            <p:cNvPr id="16" name="矩形 15"/>
            <p:cNvSpPr/>
            <p:nvPr/>
          </p:nvSpPr>
          <p:spPr bwMode="auto">
            <a:xfrm>
              <a:off x="1345376" y="3140968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 dirty="0" smtClean="0">
                  <a:solidFill>
                    <a:srgbClr val="000000"/>
                  </a:solidFill>
                </a:rPr>
                <a:t>main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2541262" y="3140968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 b="1" dirty="0" smtClean="0">
                  <a:solidFill>
                    <a:srgbClr val="000000"/>
                  </a:solidFill>
                </a:rPr>
                <a:t> 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1346154" y="3429000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 dirty="0" smtClean="0">
                  <a:solidFill>
                    <a:srgbClr val="000000"/>
                  </a:solidFill>
                </a:rPr>
                <a:t>_Z4funci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2542040" y="3429000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 b="1" dirty="0" smtClean="0">
                  <a:solidFill>
                    <a:srgbClr val="000000"/>
                  </a:solidFill>
                </a:rPr>
                <a:t>未定义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1345375" y="3717032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 dirty="0" smtClean="0">
                  <a:solidFill>
                    <a:srgbClr val="000000"/>
                  </a:solidFill>
                </a:rPr>
                <a:t>y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2541261" y="3717032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 b="1" dirty="0" smtClean="0">
                  <a:solidFill>
                    <a:srgbClr val="000000"/>
                  </a:solidFill>
                </a:rPr>
                <a:t>未定义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23" name="矩形 22"/>
          <p:cNvSpPr/>
          <p:nvPr/>
        </p:nvSpPr>
        <p:spPr bwMode="auto">
          <a:xfrm>
            <a:off x="1366867" y="1628800"/>
            <a:ext cx="1174395" cy="288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/>
              <a:t>代码</a:t>
            </a:r>
            <a:r>
              <a:rPr lang="zh-CN" altLang="en-US" sz="1600" b="1" dirty="0" smtClean="0"/>
              <a:t>段（</a:t>
            </a:r>
            <a:r>
              <a:rPr lang="en-US" altLang="zh-CN" sz="1600" b="1" dirty="0" smtClean="0"/>
              <a:t>.text</a:t>
            </a:r>
            <a:r>
              <a:rPr lang="zh-CN" altLang="en-US" sz="1600" b="1" dirty="0" smtClean="0"/>
              <a:t>）</a:t>
            </a:r>
            <a:endParaRPr kumimoji="1" lang="zh-CN" altLang="en-US" sz="1600" b="1" i="0" u="none" strike="noStrike" cap="none" normalizeH="0" baseline="0" dirty="0" smtClean="0">
              <a:effectLst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366867" y="3187147"/>
            <a:ext cx="1174395" cy="288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/>
              <a:t>符号</a:t>
            </a:r>
            <a:r>
              <a:rPr lang="zh-CN" altLang="en-US" sz="1600" b="1" dirty="0" smtClean="0"/>
              <a:t>表</a:t>
            </a:r>
            <a:endParaRPr kumimoji="1" lang="zh-CN" altLang="en-US" sz="1600" b="1" i="0" u="none" strike="noStrike" cap="none" normalizeH="0" baseline="0" dirty="0" smtClean="0">
              <a:effectLst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840902" y="4442859"/>
            <a:ext cx="1174395" cy="288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 smtClean="0">
                <a:effectLst/>
              </a:rPr>
              <a:t>……</a:t>
            </a:r>
            <a:endParaRPr kumimoji="1" lang="zh-CN" altLang="en-US" sz="1600" b="1" i="0" u="none" strike="noStrike" cap="none" normalizeH="0" baseline="0" dirty="0" smtClean="0">
              <a:effectLst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5693330" y="1531527"/>
            <a:ext cx="1174395" cy="288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/>
              <a:t>代码</a:t>
            </a:r>
            <a:r>
              <a:rPr lang="zh-CN" altLang="en-US" sz="1600" b="1" dirty="0" smtClean="0"/>
              <a:t>段（</a:t>
            </a:r>
            <a:r>
              <a:rPr lang="en-US" altLang="zh-CN" sz="1600" b="1" dirty="0" smtClean="0"/>
              <a:t>.text</a:t>
            </a:r>
            <a:r>
              <a:rPr lang="zh-CN" altLang="en-US" sz="1600" b="1" dirty="0" smtClean="0"/>
              <a:t>）</a:t>
            </a:r>
            <a:endParaRPr kumimoji="1" lang="zh-CN" altLang="en-US" sz="1600" b="1" i="0" u="none" strike="noStrike" cap="none" normalizeH="0" baseline="0" dirty="0" smtClean="0">
              <a:effectLst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5615394" y="1819559"/>
            <a:ext cx="2348791" cy="817353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（</a:t>
            </a:r>
            <a:r>
              <a:rPr kumimoji="1" lang="en-US" altLang="zh-CN" sz="1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func</a:t>
            </a:r>
            <a:r>
              <a: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的代码）</a:t>
            </a:r>
            <a:endParaRPr kumimoji="1" lang="en-US" altLang="zh-CN" sz="1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00"/>
                </a:solidFill>
              </a:rPr>
              <a:t> 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 push %</a:t>
            </a:r>
            <a:r>
              <a:rPr lang="en-US" altLang="zh-CN" sz="1400" b="1" dirty="0" err="1" smtClean="0">
                <a:solidFill>
                  <a:srgbClr val="000000"/>
                </a:solidFill>
              </a:rPr>
              <a:t>ebp</a:t>
            </a:r>
            <a:endParaRPr lang="en-US" altLang="zh-CN" sz="1400" b="1" dirty="0" smtClean="0">
              <a:solidFill>
                <a:srgbClr val="000000"/>
              </a:solidFill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1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1" lang="en-US" altLang="zh-CN" sz="14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move %</a:t>
            </a:r>
            <a:r>
              <a:rPr kumimoji="1" lang="en-US" altLang="zh-CN" sz="1400" b="1" i="0" u="none" strike="noStrike" cap="none" normalizeH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esp</a:t>
            </a:r>
            <a:r>
              <a:rPr kumimoji="1" lang="en-US" altLang="zh-CN" sz="1400" b="1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, %</a:t>
            </a:r>
            <a:r>
              <a:rPr kumimoji="1" lang="en-US" altLang="zh-CN" sz="1400" b="1" i="0" u="none" strike="noStrike" cap="none" normalizeH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ebp</a:t>
            </a:r>
            <a:endParaRPr kumimoji="1" lang="en-US" altLang="zh-CN" sz="1400" b="1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b="1" dirty="0" smtClean="0">
                <a:solidFill>
                  <a:srgbClr val="000000"/>
                </a:solidFill>
              </a:rPr>
              <a:t>……</a:t>
            </a:r>
            <a:endParaRPr kumimoji="1" lang="zh-CN" altLang="en-US" sz="1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615394" y="2750769"/>
            <a:ext cx="1174395" cy="288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 smtClean="0"/>
              <a:t>初始化的数据段（</a:t>
            </a:r>
            <a:r>
              <a:rPr lang="en-US" altLang="zh-CN" sz="1600" b="1" dirty="0" smtClean="0"/>
              <a:t>.data</a:t>
            </a:r>
            <a:r>
              <a:rPr lang="zh-CN" altLang="en-US" sz="1600" b="1" dirty="0" smtClean="0"/>
              <a:t>）</a:t>
            </a:r>
            <a:endParaRPr kumimoji="1" lang="zh-CN" altLang="en-US" sz="1600" b="1" i="0" u="none" strike="noStrike" cap="none" normalizeH="0" baseline="0" dirty="0" smtClean="0">
              <a:effectLst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5594547" y="3068961"/>
            <a:ext cx="2348791" cy="26220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1" dirty="0" smtClean="0">
                <a:solidFill>
                  <a:srgbClr val="000000"/>
                </a:solidFill>
              </a:rPr>
              <a:t>（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x</a:t>
            </a:r>
            <a:r>
              <a:rPr lang="zh-CN" altLang="en-US" sz="1400" b="1" dirty="0" smtClean="0">
                <a:solidFill>
                  <a:srgbClr val="000000"/>
                </a:solidFill>
              </a:rPr>
              <a:t>的初值）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3</a:t>
            </a:r>
            <a:endParaRPr kumimoji="1" lang="zh-CN" altLang="en-US" sz="1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5615393" y="3418674"/>
            <a:ext cx="1174395" cy="288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 smtClean="0"/>
              <a:t>未初始化的数据段（</a:t>
            </a:r>
            <a:r>
              <a:rPr lang="en-US" altLang="zh-CN" sz="1600" b="1" dirty="0" smtClean="0"/>
              <a:t>.</a:t>
            </a:r>
            <a:r>
              <a:rPr lang="en-US" altLang="zh-CN" sz="1600" b="1" dirty="0" err="1" smtClean="0"/>
              <a:t>bss</a:t>
            </a:r>
            <a:r>
              <a:rPr lang="zh-CN" altLang="en-US" sz="1600" b="1" dirty="0" smtClean="0"/>
              <a:t>）</a:t>
            </a:r>
            <a:endParaRPr kumimoji="1" lang="zh-CN" altLang="en-US" sz="1600" b="1" i="0" u="none" strike="noStrike" cap="none" normalizeH="0" baseline="0" dirty="0" smtClean="0">
              <a:effectLst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5594546" y="3736866"/>
            <a:ext cx="2348791" cy="26220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1" dirty="0" smtClean="0">
                <a:solidFill>
                  <a:srgbClr val="000000"/>
                </a:solidFill>
              </a:rPr>
              <a:t>（</a:t>
            </a:r>
            <a:r>
              <a:rPr lang="en-US" altLang="zh-CN" sz="1400" b="1" dirty="0" smtClean="0">
                <a:solidFill>
                  <a:srgbClr val="000000"/>
                </a:solidFill>
              </a:rPr>
              <a:t>y</a:t>
            </a:r>
            <a:r>
              <a:rPr lang="zh-CN" altLang="en-US" sz="1400" b="1" dirty="0" smtClean="0">
                <a:solidFill>
                  <a:srgbClr val="000000"/>
                </a:solidFill>
              </a:rPr>
              <a:t>）</a:t>
            </a:r>
            <a:endParaRPr kumimoji="1" lang="zh-CN" altLang="en-US" sz="1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5572277" y="4537833"/>
            <a:ext cx="2371060" cy="864096"/>
            <a:chOff x="1345375" y="3140968"/>
            <a:chExt cx="2371060" cy="864096"/>
          </a:xfrm>
        </p:grpSpPr>
        <p:sp>
          <p:nvSpPr>
            <p:cNvPr id="42" name="矩形 41"/>
            <p:cNvSpPr/>
            <p:nvPr/>
          </p:nvSpPr>
          <p:spPr bwMode="auto">
            <a:xfrm>
              <a:off x="1345376" y="3140968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r>
                <a:rPr lang="en-US" altLang="zh-CN" sz="1400" b="1" dirty="0">
                  <a:solidFill>
                    <a:srgbClr val="000000"/>
                  </a:solidFill>
                </a:rPr>
                <a:t>_Z4funci</a:t>
              </a:r>
              <a:endParaRPr lang="zh-CN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2541262" y="3140968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 b="1" dirty="0" smtClean="0">
                  <a:solidFill>
                    <a:srgbClr val="000000"/>
                  </a:solidFill>
                </a:rPr>
                <a:t> 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1346154" y="3429000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 dirty="0">
                  <a:solidFill>
                    <a:srgbClr val="000000"/>
                  </a:solidFill>
                </a:rPr>
                <a:t>x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2542040" y="3429000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 b="1" dirty="0" smtClean="0">
                  <a:solidFill>
                    <a:srgbClr val="000000"/>
                  </a:solidFill>
                </a:rPr>
                <a:t> 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1345375" y="3717032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400" b="1" dirty="0" smtClean="0">
                  <a:solidFill>
                    <a:srgbClr val="000000"/>
                  </a:solidFill>
                </a:rPr>
                <a:t>y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2541261" y="3717032"/>
              <a:ext cx="1174395" cy="28803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36000" tIns="0" rIns="36000" bIns="0" numCol="1" rtlCol="0" anchor="t" anchorCtr="0" compatLnSpc="1"/>
            <a:lstStyle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 b="1" dirty="0" smtClean="0">
                  <a:solidFill>
                    <a:srgbClr val="000000"/>
                  </a:solidFill>
                </a:rPr>
                <a:t> </a:t>
              </a:r>
              <a:endParaRPr kumimoji="1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48" name="矩形 47"/>
          <p:cNvSpPr/>
          <p:nvPr/>
        </p:nvSpPr>
        <p:spPr bwMode="auto">
          <a:xfrm>
            <a:off x="5593769" y="4151964"/>
            <a:ext cx="1174395" cy="28803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/>
              <a:t>符号</a:t>
            </a:r>
            <a:r>
              <a:rPr lang="zh-CN" altLang="en-US" sz="1600" b="1" dirty="0" smtClean="0"/>
              <a:t>表</a:t>
            </a:r>
            <a:endParaRPr kumimoji="1" lang="zh-CN" altLang="en-US" sz="1600" b="1" i="0" u="none" strike="noStrike" cap="none" normalizeH="0" baseline="0" dirty="0" smtClean="0">
              <a:effectLst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699792" y="2132856"/>
            <a:ext cx="1296144" cy="1604010"/>
            <a:chOff x="2699792" y="2132856"/>
            <a:chExt cx="1296144" cy="1604010"/>
          </a:xfrm>
        </p:grpSpPr>
        <p:cxnSp>
          <p:nvCxnSpPr>
            <p:cNvPr id="51" name="直接连接符 50"/>
            <p:cNvCxnSpPr/>
            <p:nvPr/>
          </p:nvCxnSpPr>
          <p:spPr bwMode="auto">
            <a:xfrm>
              <a:off x="3129237" y="3736866"/>
              <a:ext cx="86669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53"/>
            <p:cNvCxnSpPr/>
            <p:nvPr/>
          </p:nvCxnSpPr>
          <p:spPr bwMode="auto">
            <a:xfrm flipV="1">
              <a:off x="3995936" y="2132856"/>
              <a:ext cx="0" cy="1604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/>
            <p:cNvCxnSpPr/>
            <p:nvPr/>
          </p:nvCxnSpPr>
          <p:spPr bwMode="auto">
            <a:xfrm flipH="1">
              <a:off x="2699792" y="2132856"/>
              <a:ext cx="12961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0" name="组合 59"/>
          <p:cNvGrpSpPr/>
          <p:nvPr/>
        </p:nvGrpSpPr>
        <p:grpSpPr>
          <a:xfrm>
            <a:off x="7355360" y="1916832"/>
            <a:ext cx="1609128" cy="2765017"/>
            <a:chOff x="2699792" y="2132856"/>
            <a:chExt cx="1296144" cy="1604010"/>
          </a:xfrm>
        </p:grpSpPr>
        <p:cxnSp>
          <p:nvCxnSpPr>
            <p:cNvPr id="61" name="直接连接符 60"/>
            <p:cNvCxnSpPr/>
            <p:nvPr/>
          </p:nvCxnSpPr>
          <p:spPr bwMode="auto">
            <a:xfrm>
              <a:off x="3129237" y="3736866"/>
              <a:ext cx="86669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61"/>
            <p:cNvCxnSpPr/>
            <p:nvPr/>
          </p:nvCxnSpPr>
          <p:spPr bwMode="auto">
            <a:xfrm flipV="1">
              <a:off x="3995936" y="2132856"/>
              <a:ext cx="0" cy="1604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直接箭头连接符 62"/>
            <p:cNvCxnSpPr/>
            <p:nvPr/>
          </p:nvCxnSpPr>
          <p:spPr bwMode="auto">
            <a:xfrm flipH="1">
              <a:off x="2699792" y="2132856"/>
              <a:ext cx="12961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4" name="组合 63"/>
          <p:cNvGrpSpPr/>
          <p:nvPr/>
        </p:nvGrpSpPr>
        <p:grpSpPr>
          <a:xfrm>
            <a:off x="7257434" y="3204366"/>
            <a:ext cx="1491030" cy="1765515"/>
            <a:chOff x="2699792" y="2132856"/>
            <a:chExt cx="1296144" cy="1604010"/>
          </a:xfrm>
        </p:grpSpPr>
        <p:cxnSp>
          <p:nvCxnSpPr>
            <p:cNvPr id="65" name="直接连接符 64"/>
            <p:cNvCxnSpPr/>
            <p:nvPr/>
          </p:nvCxnSpPr>
          <p:spPr bwMode="auto">
            <a:xfrm>
              <a:off x="3129237" y="3736866"/>
              <a:ext cx="86669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直接连接符 65"/>
            <p:cNvCxnSpPr/>
            <p:nvPr/>
          </p:nvCxnSpPr>
          <p:spPr bwMode="auto">
            <a:xfrm flipV="1">
              <a:off x="3995936" y="2132856"/>
              <a:ext cx="0" cy="1604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直接箭头连接符 66"/>
            <p:cNvCxnSpPr/>
            <p:nvPr/>
          </p:nvCxnSpPr>
          <p:spPr bwMode="auto">
            <a:xfrm flipH="1">
              <a:off x="2699792" y="2132856"/>
              <a:ext cx="12961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8" name="组合 67"/>
          <p:cNvGrpSpPr/>
          <p:nvPr/>
        </p:nvGrpSpPr>
        <p:grpSpPr>
          <a:xfrm>
            <a:off x="7005935" y="3861048"/>
            <a:ext cx="1420561" cy="1440160"/>
            <a:chOff x="2699792" y="2132856"/>
            <a:chExt cx="1296144" cy="1604010"/>
          </a:xfrm>
        </p:grpSpPr>
        <p:cxnSp>
          <p:nvCxnSpPr>
            <p:cNvPr id="69" name="直接连接符 68"/>
            <p:cNvCxnSpPr/>
            <p:nvPr/>
          </p:nvCxnSpPr>
          <p:spPr bwMode="auto">
            <a:xfrm>
              <a:off x="3129237" y="3736866"/>
              <a:ext cx="86669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直接连接符 69"/>
            <p:cNvCxnSpPr/>
            <p:nvPr/>
          </p:nvCxnSpPr>
          <p:spPr bwMode="auto">
            <a:xfrm flipV="1">
              <a:off x="3995936" y="2132856"/>
              <a:ext cx="0" cy="160401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箭头连接符 70"/>
            <p:cNvCxnSpPr/>
            <p:nvPr/>
          </p:nvCxnSpPr>
          <p:spPr bwMode="auto">
            <a:xfrm flipH="1">
              <a:off x="2699792" y="2132856"/>
              <a:ext cx="129614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539552" y="2150729"/>
            <a:ext cx="7886700" cy="587722"/>
          </a:xfrm>
        </p:spPr>
        <p:txBody>
          <a:bodyPr/>
          <a:lstStyle/>
          <a:p>
            <a:pPr marL="514350" indent="-514350" algn="ctr">
              <a:lnSpc>
                <a:spcPct val="150000"/>
              </a:lnSpc>
              <a:spcAft>
                <a:spcPct val="25000"/>
              </a:spcAft>
              <a:buClr>
                <a:srgbClr val="FFFF00"/>
              </a:buClr>
              <a:buFont typeface="+mj-ea"/>
              <a:buAutoNum type="circleNumDbPlain" startAt="2"/>
            </a:pPr>
            <a:r>
              <a:rPr lang="zh-CN" altLang="en-US" sz="28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连接</a:t>
            </a:r>
            <a:endParaRPr lang="en-US" altLang="zh-CN" sz="2800" b="1" dirty="0" smtClean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 algn="ctr">
              <a:spcAft>
                <a:spcPct val="25000"/>
              </a:spcAft>
              <a:buClr>
                <a:srgbClr val="FFFF00"/>
              </a:buClr>
              <a:buNone/>
            </a:pPr>
            <a:r>
              <a:rPr lang="zh-CN" altLang="en-US" sz="2400" b="1" dirty="0" smtClean="0">
                <a:ea typeface="华文楷体" panose="02010600040101010101" pitchFamily="2" charset="-122"/>
              </a:rPr>
              <a:t>合并各个编译单元的目标文件和运行库中被调用过的单元</a:t>
            </a:r>
            <a:endParaRPr lang="en-US" altLang="zh-CN" sz="2000" b="1" dirty="0">
              <a:ea typeface="华文楷体" panose="02010600040101010101" pitchFamily="2" charset="-122"/>
            </a:endParaRPr>
          </a:p>
        </p:txBody>
      </p:sp>
      <p:sp>
        <p:nvSpPr>
          <p:cNvPr id="2" name="下箭头 1"/>
          <p:cNvSpPr/>
          <p:nvPr/>
        </p:nvSpPr>
        <p:spPr bwMode="auto">
          <a:xfrm>
            <a:off x="2123728" y="1196752"/>
            <a:ext cx="288032" cy="915144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7" name="下箭头 6"/>
          <p:cNvSpPr/>
          <p:nvPr/>
        </p:nvSpPr>
        <p:spPr bwMode="auto">
          <a:xfrm>
            <a:off x="6372200" y="1201936"/>
            <a:ext cx="288032" cy="915144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" name="折角形 2"/>
          <p:cNvSpPr/>
          <p:nvPr/>
        </p:nvSpPr>
        <p:spPr bwMode="auto">
          <a:xfrm>
            <a:off x="1151620" y="465425"/>
            <a:ext cx="1656184" cy="504056"/>
          </a:xfrm>
          <a:prstGeom prst="foldedCorne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a.o</a:t>
            </a:r>
            <a:endParaRPr kumimoji="1" lang="zh-CN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" name="折角形 8"/>
          <p:cNvSpPr/>
          <p:nvPr/>
        </p:nvSpPr>
        <p:spPr bwMode="auto">
          <a:xfrm>
            <a:off x="5832140" y="476672"/>
            <a:ext cx="1656184" cy="504056"/>
          </a:xfrm>
          <a:prstGeom prst="foldedCorne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幼圆" panose="02010509060101010101" pitchFamily="49" charset="-122"/>
              </a:rPr>
              <a:t>b.o</a:t>
            </a:r>
            <a:endParaRPr kumimoji="1" lang="zh-CN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44910" y="394287"/>
            <a:ext cx="1415772" cy="5905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ct val="25000"/>
              </a:spcAft>
              <a:buClr>
                <a:srgbClr val="FFFF00"/>
              </a:buClr>
            </a:pPr>
            <a:r>
              <a:rPr lang="zh-CN" altLang="en-US" b="1" dirty="0" smtClean="0">
                <a:ea typeface="华文楷体" panose="02010600040101010101" pitchFamily="2" charset="-122"/>
              </a:rPr>
              <a:t>目标文件</a:t>
            </a:r>
            <a:endParaRPr lang="en-US" altLang="zh-CN" b="1" dirty="0">
              <a:ea typeface="华文楷体" panose="02010600040101010101" pitchFamily="2" charset="-122"/>
            </a:endParaRPr>
          </a:p>
        </p:txBody>
      </p:sp>
      <p:sp>
        <p:nvSpPr>
          <p:cNvPr id="13" name="下箭头 12"/>
          <p:cNvSpPr/>
          <p:nvPr/>
        </p:nvSpPr>
        <p:spPr bwMode="auto">
          <a:xfrm>
            <a:off x="3856546" y="3671421"/>
            <a:ext cx="1204136" cy="457572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539552" y="4891981"/>
            <a:ext cx="7886700" cy="587722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Monotype Sorts" pitchFamily="2" charset="2"/>
              <a:buChar char="u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2000"/>
              <a:buFont typeface="Monotype Sorts" pitchFamily="2" charset="2"/>
              <a:buChar char="u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ctr">
              <a:lnSpc>
                <a:spcPct val="150000"/>
              </a:lnSpc>
              <a:spcAft>
                <a:spcPct val="25000"/>
              </a:spcAft>
              <a:buClr>
                <a:srgbClr val="FFFF00"/>
              </a:buClr>
              <a:buFont typeface="+mj-ea"/>
              <a:buAutoNum type="circleNumDbPlain" startAt="3"/>
            </a:pPr>
            <a:r>
              <a:rPr lang="zh-CN" altLang="en-US" sz="2800" b="1" dirty="0" smtClean="0">
                <a:solidFill>
                  <a:srgbClr val="FFFF00"/>
                </a:solidFill>
                <a:ea typeface="华文楷体" panose="02010600040101010101" pitchFamily="2" charset="-122"/>
              </a:rPr>
              <a:t>执行</a:t>
            </a:r>
            <a:endParaRPr lang="en-US" altLang="zh-CN" sz="2800" b="1" dirty="0" smtClean="0">
              <a:solidFill>
                <a:srgbClr val="FFFF00"/>
              </a:solidFill>
              <a:ea typeface="华文楷体" panose="02010600040101010101" pitchFamily="2" charset="-122"/>
            </a:endParaRPr>
          </a:p>
          <a:p>
            <a:pPr marL="0" indent="0" algn="ctr">
              <a:spcAft>
                <a:spcPct val="25000"/>
              </a:spcAft>
              <a:buClr>
                <a:srgbClr val="FFFF00"/>
              </a:buClr>
              <a:buFont typeface="Monotype Sorts" pitchFamily="2" charset="2"/>
              <a:buNone/>
            </a:pPr>
            <a:r>
              <a:rPr lang="zh-CN" altLang="en-US" sz="2400" b="1" dirty="0">
                <a:ea typeface="华文楷体" panose="02010600040101010101" pitchFamily="2" charset="-122"/>
              </a:rPr>
              <a:t>执行以进程为单元</a:t>
            </a:r>
            <a:endParaRPr lang="en-US" altLang="zh-CN" sz="2400" b="1" dirty="0">
              <a:ea typeface="华文楷体" panose="02010600040101010101" pitchFamily="2" charset="-122"/>
            </a:endParaRPr>
          </a:p>
        </p:txBody>
      </p:sp>
      <p:sp>
        <p:nvSpPr>
          <p:cNvPr id="15" name="折角形 14"/>
          <p:cNvSpPr/>
          <p:nvPr/>
        </p:nvSpPr>
        <p:spPr bwMode="auto">
          <a:xfrm>
            <a:off x="3644910" y="4293096"/>
            <a:ext cx="1656184" cy="504056"/>
          </a:xfrm>
          <a:prstGeom prst="foldedCorne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0" rIns="36000" bIns="0" numCol="1" rtlCol="0" anchor="ctr" anchorCtr="1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可执行文件</a:t>
            </a:r>
            <a:endParaRPr kumimoji="1" lang="zh-CN" alt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1905" y="2924944"/>
            <a:ext cx="7313613" cy="1143000"/>
          </a:xfrm>
        </p:spPr>
        <p:txBody>
          <a:bodyPr/>
          <a:lstStyle/>
          <a:p>
            <a:pPr algn="ctr" eaLnBrk="1" hangingPunct="1"/>
            <a:r>
              <a:rPr lang="zh-CN" altLang="en-US" sz="5800" b="1" dirty="0">
                <a:ea typeface="华文彩云" panose="02010800040101010101" pitchFamily="2" charset="-122"/>
              </a:rPr>
              <a:t>本讲小结</a:t>
            </a:r>
            <a:endParaRPr lang="zh-CN" altLang="en-US" sz="5800" b="1" dirty="0">
              <a:ea typeface="华文彩云" panose="02010800040101010101" pitchFamily="2" charset="-122"/>
            </a:endParaRPr>
          </a:p>
        </p:txBody>
      </p:sp>
      <p:grpSp>
        <p:nvGrpSpPr>
          <p:cNvPr id="3" name="Group 16"/>
          <p:cNvGrpSpPr/>
          <p:nvPr/>
        </p:nvGrpSpPr>
        <p:grpSpPr bwMode="auto">
          <a:xfrm>
            <a:off x="6084168" y="332656"/>
            <a:ext cx="2438400" cy="1752600"/>
            <a:chOff x="2208" y="384"/>
            <a:chExt cx="1536" cy="1104"/>
          </a:xfrm>
        </p:grpSpPr>
        <p:sp>
          <p:nvSpPr>
            <p:cNvPr id="4" name="Oval 5"/>
            <p:cNvSpPr>
              <a:spLocks noChangeArrowheads="1"/>
            </p:cNvSpPr>
            <p:nvPr/>
          </p:nvSpPr>
          <p:spPr bwMode="auto">
            <a:xfrm>
              <a:off x="2208" y="576"/>
              <a:ext cx="1536" cy="91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hlink"/>
              </a:solidFill>
              <a:round/>
            </a:ln>
            <a:effectLst>
              <a:outerShdw dist="53882" dir="2700000" algn="ctr" rotWithShape="0">
                <a:srgbClr val="DDDDDD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" name="Group 6"/>
            <p:cNvGrpSpPr/>
            <p:nvPr/>
          </p:nvGrpSpPr>
          <p:grpSpPr bwMode="auto">
            <a:xfrm>
              <a:off x="2592" y="384"/>
              <a:ext cx="820" cy="734"/>
              <a:chOff x="613" y="1858"/>
              <a:chExt cx="672" cy="686"/>
            </a:xfrm>
          </p:grpSpPr>
          <p:grpSp>
            <p:nvGrpSpPr>
              <p:cNvPr id="6" name="Group 7"/>
              <p:cNvGrpSpPr/>
              <p:nvPr/>
            </p:nvGrpSpPr>
            <p:grpSpPr bwMode="auto">
              <a:xfrm>
                <a:off x="613" y="2062"/>
                <a:ext cx="216" cy="482"/>
                <a:chOff x="3064" y="2792"/>
                <a:chExt cx="281" cy="626"/>
              </a:xfrm>
            </p:grpSpPr>
            <p:sp>
              <p:nvSpPr>
                <p:cNvPr id="13" name="Oval 8"/>
                <p:cNvSpPr>
                  <a:spLocks noChangeArrowheads="1"/>
                </p:cNvSpPr>
                <p:nvPr/>
              </p:nvSpPr>
              <p:spPr bwMode="auto">
                <a:xfrm>
                  <a:off x="3156" y="2792"/>
                  <a:ext cx="95" cy="102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234DB">
                        <a:gamma/>
                        <a:tint val="33333"/>
                        <a:invGamma/>
                      </a:srgbClr>
                    </a:gs>
                    <a:gs pos="100000">
                      <a:srgbClr val="9234DB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9"/>
                <p:cNvSpPr/>
                <p:nvPr/>
              </p:nvSpPr>
              <p:spPr bwMode="auto">
                <a:xfrm>
                  <a:off x="3064" y="2914"/>
                  <a:ext cx="281" cy="504"/>
                </a:xfrm>
                <a:custGeom>
                  <a:avLst/>
                  <a:gdLst>
                    <a:gd name="T0" fmla="*/ 208 w 281"/>
                    <a:gd name="T1" fmla="*/ 0 h 504"/>
                    <a:gd name="T2" fmla="*/ 217 w 281"/>
                    <a:gd name="T3" fmla="*/ 3 h 504"/>
                    <a:gd name="T4" fmla="*/ 228 w 281"/>
                    <a:gd name="T5" fmla="*/ 9 h 504"/>
                    <a:gd name="T6" fmla="*/ 232 w 281"/>
                    <a:gd name="T7" fmla="*/ 16 h 504"/>
                    <a:gd name="T8" fmla="*/ 237 w 281"/>
                    <a:gd name="T9" fmla="*/ 24 h 504"/>
                    <a:gd name="T10" fmla="*/ 241 w 281"/>
                    <a:gd name="T11" fmla="*/ 35 h 504"/>
                    <a:gd name="T12" fmla="*/ 280 w 281"/>
                    <a:gd name="T13" fmla="*/ 189 h 504"/>
                    <a:gd name="T14" fmla="*/ 280 w 281"/>
                    <a:gd name="T15" fmla="*/ 201 h 504"/>
                    <a:gd name="T16" fmla="*/ 276 w 281"/>
                    <a:gd name="T17" fmla="*/ 208 h 504"/>
                    <a:gd name="T18" fmla="*/ 268 w 281"/>
                    <a:gd name="T19" fmla="*/ 214 h 504"/>
                    <a:gd name="T20" fmla="*/ 258 w 281"/>
                    <a:gd name="T21" fmla="*/ 214 h 504"/>
                    <a:gd name="T22" fmla="*/ 252 w 281"/>
                    <a:gd name="T23" fmla="*/ 212 h 504"/>
                    <a:gd name="T24" fmla="*/ 244 w 281"/>
                    <a:gd name="T25" fmla="*/ 208 h 504"/>
                    <a:gd name="T26" fmla="*/ 240 w 281"/>
                    <a:gd name="T27" fmla="*/ 201 h 504"/>
                    <a:gd name="T28" fmla="*/ 253 w 281"/>
                    <a:gd name="T29" fmla="*/ 310 h 504"/>
                    <a:gd name="T30" fmla="*/ 202 w 281"/>
                    <a:gd name="T31" fmla="*/ 484 h 504"/>
                    <a:gd name="T32" fmla="*/ 198 w 281"/>
                    <a:gd name="T33" fmla="*/ 494 h 504"/>
                    <a:gd name="T34" fmla="*/ 190 w 281"/>
                    <a:gd name="T35" fmla="*/ 499 h 504"/>
                    <a:gd name="T36" fmla="*/ 184 w 281"/>
                    <a:gd name="T37" fmla="*/ 503 h 504"/>
                    <a:gd name="T38" fmla="*/ 174 w 281"/>
                    <a:gd name="T39" fmla="*/ 503 h 504"/>
                    <a:gd name="T40" fmla="*/ 166 w 281"/>
                    <a:gd name="T41" fmla="*/ 500 h 504"/>
                    <a:gd name="T42" fmla="*/ 159 w 281"/>
                    <a:gd name="T43" fmla="*/ 494 h 504"/>
                    <a:gd name="T44" fmla="*/ 154 w 281"/>
                    <a:gd name="T45" fmla="*/ 487 h 504"/>
                    <a:gd name="T46" fmla="*/ 153 w 281"/>
                    <a:gd name="T47" fmla="*/ 479 h 504"/>
                    <a:gd name="T48" fmla="*/ 127 w 281"/>
                    <a:gd name="T49" fmla="*/ 479 h 504"/>
                    <a:gd name="T50" fmla="*/ 126 w 281"/>
                    <a:gd name="T51" fmla="*/ 487 h 504"/>
                    <a:gd name="T52" fmla="*/ 121 w 281"/>
                    <a:gd name="T53" fmla="*/ 496 h 504"/>
                    <a:gd name="T54" fmla="*/ 114 w 281"/>
                    <a:gd name="T55" fmla="*/ 500 h 504"/>
                    <a:gd name="T56" fmla="*/ 106 w 281"/>
                    <a:gd name="T57" fmla="*/ 503 h 504"/>
                    <a:gd name="T58" fmla="*/ 96 w 281"/>
                    <a:gd name="T59" fmla="*/ 503 h 504"/>
                    <a:gd name="T60" fmla="*/ 90 w 281"/>
                    <a:gd name="T61" fmla="*/ 499 h 504"/>
                    <a:gd name="T62" fmla="*/ 82 w 281"/>
                    <a:gd name="T63" fmla="*/ 494 h 504"/>
                    <a:gd name="T64" fmla="*/ 78 w 281"/>
                    <a:gd name="T65" fmla="*/ 484 h 504"/>
                    <a:gd name="T66" fmla="*/ 78 w 281"/>
                    <a:gd name="T67" fmla="*/ 313 h 504"/>
                    <a:gd name="T68" fmla="*/ 78 w 281"/>
                    <a:gd name="T69" fmla="*/ 71 h 504"/>
                    <a:gd name="T70" fmla="*/ 39 w 281"/>
                    <a:gd name="T71" fmla="*/ 209 h 504"/>
                    <a:gd name="T72" fmla="*/ 31 w 281"/>
                    <a:gd name="T73" fmla="*/ 217 h 504"/>
                    <a:gd name="T74" fmla="*/ 22 w 281"/>
                    <a:gd name="T75" fmla="*/ 220 h 504"/>
                    <a:gd name="T76" fmla="*/ 15 w 281"/>
                    <a:gd name="T77" fmla="*/ 220 h 504"/>
                    <a:gd name="T78" fmla="*/ 4 w 281"/>
                    <a:gd name="T79" fmla="*/ 212 h 504"/>
                    <a:gd name="T80" fmla="*/ 0 w 281"/>
                    <a:gd name="T81" fmla="*/ 202 h 504"/>
                    <a:gd name="T82" fmla="*/ 0 w 281"/>
                    <a:gd name="T83" fmla="*/ 196 h 504"/>
                    <a:gd name="T84" fmla="*/ 40 w 281"/>
                    <a:gd name="T85" fmla="*/ 38 h 504"/>
                    <a:gd name="T86" fmla="*/ 43 w 281"/>
                    <a:gd name="T87" fmla="*/ 28 h 504"/>
                    <a:gd name="T88" fmla="*/ 46 w 281"/>
                    <a:gd name="T89" fmla="*/ 19 h 504"/>
                    <a:gd name="T90" fmla="*/ 52 w 281"/>
                    <a:gd name="T91" fmla="*/ 12 h 504"/>
                    <a:gd name="T92" fmla="*/ 60 w 281"/>
                    <a:gd name="T93" fmla="*/ 4 h 504"/>
                    <a:gd name="T94" fmla="*/ 72 w 281"/>
                    <a:gd name="T95" fmla="*/ 0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81" h="504">
                      <a:moveTo>
                        <a:pt x="78" y="0"/>
                      </a:moveTo>
                      <a:lnTo>
                        <a:pt x="205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4" y="3"/>
                      </a:lnTo>
                      <a:lnTo>
                        <a:pt x="217" y="3"/>
                      </a:lnTo>
                      <a:lnTo>
                        <a:pt x="220" y="4"/>
                      </a:lnTo>
                      <a:lnTo>
                        <a:pt x="222" y="7"/>
                      </a:lnTo>
                      <a:lnTo>
                        <a:pt x="228" y="9"/>
                      </a:lnTo>
                      <a:lnTo>
                        <a:pt x="229" y="12"/>
                      </a:lnTo>
                      <a:lnTo>
                        <a:pt x="229" y="15"/>
                      </a:lnTo>
                      <a:lnTo>
                        <a:pt x="232" y="16"/>
                      </a:lnTo>
                      <a:lnTo>
                        <a:pt x="234" y="19"/>
                      </a:lnTo>
                      <a:lnTo>
                        <a:pt x="237" y="22"/>
                      </a:lnTo>
                      <a:lnTo>
                        <a:pt x="237" y="24"/>
                      </a:lnTo>
                      <a:lnTo>
                        <a:pt x="240" y="27"/>
                      </a:lnTo>
                      <a:lnTo>
                        <a:pt x="240" y="31"/>
                      </a:lnTo>
                      <a:lnTo>
                        <a:pt x="241" y="35"/>
                      </a:lnTo>
                      <a:lnTo>
                        <a:pt x="241" y="38"/>
                      </a:lnTo>
                      <a:lnTo>
                        <a:pt x="241" y="43"/>
                      </a:lnTo>
                      <a:lnTo>
                        <a:pt x="280" y="189"/>
                      </a:lnTo>
                      <a:lnTo>
                        <a:pt x="280" y="193"/>
                      </a:lnTo>
                      <a:lnTo>
                        <a:pt x="280" y="196"/>
                      </a:lnTo>
                      <a:lnTo>
                        <a:pt x="280" y="201"/>
                      </a:lnTo>
                      <a:lnTo>
                        <a:pt x="280" y="202"/>
                      </a:lnTo>
                      <a:lnTo>
                        <a:pt x="277" y="205"/>
                      </a:lnTo>
                      <a:lnTo>
                        <a:pt x="276" y="208"/>
                      </a:lnTo>
                      <a:lnTo>
                        <a:pt x="273" y="209"/>
                      </a:lnTo>
                      <a:lnTo>
                        <a:pt x="271" y="212"/>
                      </a:lnTo>
                      <a:lnTo>
                        <a:pt x="268" y="214"/>
                      </a:lnTo>
                      <a:lnTo>
                        <a:pt x="265" y="214"/>
                      </a:lnTo>
                      <a:lnTo>
                        <a:pt x="261" y="214"/>
                      </a:lnTo>
                      <a:lnTo>
                        <a:pt x="258" y="214"/>
                      </a:lnTo>
                      <a:lnTo>
                        <a:pt x="256" y="214"/>
                      </a:lnTo>
                      <a:lnTo>
                        <a:pt x="253" y="214"/>
                      </a:lnTo>
                      <a:lnTo>
                        <a:pt x="252" y="212"/>
                      </a:lnTo>
                      <a:lnTo>
                        <a:pt x="249" y="212"/>
                      </a:lnTo>
                      <a:lnTo>
                        <a:pt x="246" y="209"/>
                      </a:lnTo>
                      <a:lnTo>
                        <a:pt x="244" y="208"/>
                      </a:lnTo>
                      <a:lnTo>
                        <a:pt x="241" y="205"/>
                      </a:lnTo>
                      <a:lnTo>
                        <a:pt x="241" y="202"/>
                      </a:lnTo>
                      <a:lnTo>
                        <a:pt x="240" y="201"/>
                      </a:lnTo>
                      <a:lnTo>
                        <a:pt x="202" y="71"/>
                      </a:lnTo>
                      <a:lnTo>
                        <a:pt x="190" y="71"/>
                      </a:lnTo>
                      <a:lnTo>
                        <a:pt x="253" y="310"/>
                      </a:lnTo>
                      <a:lnTo>
                        <a:pt x="202" y="310"/>
                      </a:lnTo>
                      <a:lnTo>
                        <a:pt x="202" y="479"/>
                      </a:lnTo>
                      <a:lnTo>
                        <a:pt x="202" y="484"/>
                      </a:lnTo>
                      <a:lnTo>
                        <a:pt x="202" y="487"/>
                      </a:lnTo>
                      <a:lnTo>
                        <a:pt x="201" y="488"/>
                      </a:lnTo>
                      <a:lnTo>
                        <a:pt x="198" y="494"/>
                      </a:lnTo>
                      <a:lnTo>
                        <a:pt x="196" y="496"/>
                      </a:lnTo>
                      <a:lnTo>
                        <a:pt x="196" y="499"/>
                      </a:lnTo>
                      <a:lnTo>
                        <a:pt x="190" y="499"/>
                      </a:lnTo>
                      <a:lnTo>
                        <a:pt x="189" y="500"/>
                      </a:lnTo>
                      <a:lnTo>
                        <a:pt x="186" y="503"/>
                      </a:lnTo>
                      <a:lnTo>
                        <a:pt x="184" y="503"/>
                      </a:lnTo>
                      <a:lnTo>
                        <a:pt x="181" y="503"/>
                      </a:lnTo>
                      <a:lnTo>
                        <a:pt x="178" y="503"/>
                      </a:lnTo>
                      <a:lnTo>
                        <a:pt x="174" y="503"/>
                      </a:lnTo>
                      <a:lnTo>
                        <a:pt x="171" y="503"/>
                      </a:lnTo>
                      <a:lnTo>
                        <a:pt x="169" y="500"/>
                      </a:lnTo>
                      <a:lnTo>
                        <a:pt x="166" y="500"/>
                      </a:lnTo>
                      <a:lnTo>
                        <a:pt x="165" y="499"/>
                      </a:lnTo>
                      <a:lnTo>
                        <a:pt x="162" y="496"/>
                      </a:lnTo>
                      <a:lnTo>
                        <a:pt x="159" y="494"/>
                      </a:lnTo>
                      <a:lnTo>
                        <a:pt x="157" y="494"/>
                      </a:lnTo>
                      <a:lnTo>
                        <a:pt x="157" y="488"/>
                      </a:lnTo>
                      <a:lnTo>
                        <a:pt x="154" y="487"/>
                      </a:lnTo>
                      <a:lnTo>
                        <a:pt x="154" y="484"/>
                      </a:lnTo>
                      <a:lnTo>
                        <a:pt x="153" y="481"/>
                      </a:lnTo>
                      <a:lnTo>
                        <a:pt x="153" y="479"/>
                      </a:lnTo>
                      <a:lnTo>
                        <a:pt x="153" y="313"/>
                      </a:lnTo>
                      <a:lnTo>
                        <a:pt x="127" y="313"/>
                      </a:lnTo>
                      <a:lnTo>
                        <a:pt x="127" y="479"/>
                      </a:lnTo>
                      <a:lnTo>
                        <a:pt x="127" y="481"/>
                      </a:lnTo>
                      <a:lnTo>
                        <a:pt x="127" y="484"/>
                      </a:lnTo>
                      <a:lnTo>
                        <a:pt x="126" y="487"/>
                      </a:lnTo>
                      <a:lnTo>
                        <a:pt x="126" y="488"/>
                      </a:lnTo>
                      <a:lnTo>
                        <a:pt x="123" y="494"/>
                      </a:lnTo>
                      <a:lnTo>
                        <a:pt x="121" y="496"/>
                      </a:lnTo>
                      <a:lnTo>
                        <a:pt x="118" y="499"/>
                      </a:lnTo>
                      <a:lnTo>
                        <a:pt x="115" y="499"/>
                      </a:lnTo>
                      <a:lnTo>
                        <a:pt x="114" y="500"/>
                      </a:lnTo>
                      <a:lnTo>
                        <a:pt x="111" y="503"/>
                      </a:lnTo>
                      <a:lnTo>
                        <a:pt x="109" y="503"/>
                      </a:lnTo>
                      <a:lnTo>
                        <a:pt x="106" y="503"/>
                      </a:lnTo>
                      <a:lnTo>
                        <a:pt x="102" y="503"/>
                      </a:lnTo>
                      <a:lnTo>
                        <a:pt x="99" y="503"/>
                      </a:lnTo>
                      <a:lnTo>
                        <a:pt x="96" y="503"/>
                      </a:lnTo>
                      <a:lnTo>
                        <a:pt x="94" y="500"/>
                      </a:lnTo>
                      <a:lnTo>
                        <a:pt x="91" y="500"/>
                      </a:lnTo>
                      <a:lnTo>
                        <a:pt x="90" y="499"/>
                      </a:lnTo>
                      <a:lnTo>
                        <a:pt x="87" y="499"/>
                      </a:lnTo>
                      <a:lnTo>
                        <a:pt x="84" y="496"/>
                      </a:lnTo>
                      <a:lnTo>
                        <a:pt x="82" y="494"/>
                      </a:lnTo>
                      <a:lnTo>
                        <a:pt x="79" y="491"/>
                      </a:lnTo>
                      <a:lnTo>
                        <a:pt x="79" y="488"/>
                      </a:lnTo>
                      <a:lnTo>
                        <a:pt x="78" y="484"/>
                      </a:lnTo>
                      <a:lnTo>
                        <a:pt x="78" y="481"/>
                      </a:lnTo>
                      <a:lnTo>
                        <a:pt x="78" y="479"/>
                      </a:lnTo>
                      <a:lnTo>
                        <a:pt x="78" y="313"/>
                      </a:lnTo>
                      <a:lnTo>
                        <a:pt x="28" y="313"/>
                      </a:lnTo>
                      <a:lnTo>
                        <a:pt x="90" y="71"/>
                      </a:lnTo>
                      <a:lnTo>
                        <a:pt x="78" y="71"/>
                      </a:lnTo>
                      <a:lnTo>
                        <a:pt x="40" y="202"/>
                      </a:lnTo>
                      <a:lnTo>
                        <a:pt x="39" y="205"/>
                      </a:lnTo>
                      <a:lnTo>
                        <a:pt x="39" y="209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1" y="217"/>
                      </a:lnTo>
                      <a:lnTo>
                        <a:pt x="28" y="217"/>
                      </a:lnTo>
                      <a:lnTo>
                        <a:pt x="27" y="220"/>
                      </a:lnTo>
                      <a:lnTo>
                        <a:pt x="22" y="220"/>
                      </a:lnTo>
                      <a:lnTo>
                        <a:pt x="19" y="220"/>
                      </a:lnTo>
                      <a:lnTo>
                        <a:pt x="16" y="220"/>
                      </a:lnTo>
                      <a:lnTo>
                        <a:pt x="15" y="220"/>
                      </a:lnTo>
                      <a:lnTo>
                        <a:pt x="9" y="217"/>
                      </a:lnTo>
                      <a:lnTo>
                        <a:pt x="7" y="214"/>
                      </a:lnTo>
                      <a:lnTo>
                        <a:pt x="4" y="212"/>
                      </a:lnTo>
                      <a:lnTo>
                        <a:pt x="3" y="208"/>
                      </a:lnTo>
                      <a:lnTo>
                        <a:pt x="0" y="205"/>
                      </a:lnTo>
                      <a:lnTo>
                        <a:pt x="0" y="202"/>
                      </a:lnTo>
                      <a:lnTo>
                        <a:pt x="0" y="201"/>
                      </a:lnTo>
                      <a:lnTo>
                        <a:pt x="0" y="198"/>
                      </a:lnTo>
                      <a:lnTo>
                        <a:pt x="0" y="196"/>
                      </a:lnTo>
                      <a:lnTo>
                        <a:pt x="0" y="193"/>
                      </a:lnTo>
                      <a:lnTo>
                        <a:pt x="39" y="40"/>
                      </a:lnTo>
                      <a:lnTo>
                        <a:pt x="40" y="38"/>
                      </a:lnTo>
                      <a:lnTo>
                        <a:pt x="40" y="34"/>
                      </a:lnTo>
                      <a:lnTo>
                        <a:pt x="40" y="31"/>
                      </a:lnTo>
                      <a:lnTo>
                        <a:pt x="43" y="28"/>
                      </a:lnTo>
                      <a:lnTo>
                        <a:pt x="43" y="27"/>
                      </a:lnTo>
                      <a:lnTo>
                        <a:pt x="43" y="24"/>
                      </a:lnTo>
                      <a:lnTo>
                        <a:pt x="46" y="19"/>
                      </a:lnTo>
                      <a:lnTo>
                        <a:pt x="48" y="16"/>
                      </a:lnTo>
                      <a:lnTo>
                        <a:pt x="51" y="15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8" y="7"/>
                      </a:lnTo>
                      <a:lnTo>
                        <a:pt x="60" y="4"/>
                      </a:lnTo>
                      <a:lnTo>
                        <a:pt x="63" y="3"/>
                      </a:lnTo>
                      <a:lnTo>
                        <a:pt x="67" y="3"/>
                      </a:lnTo>
                      <a:lnTo>
                        <a:pt x="72" y="0"/>
                      </a:lnTo>
                      <a:lnTo>
                        <a:pt x="78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234DB">
                        <a:gamma/>
                        <a:tint val="33333"/>
                        <a:invGamma/>
                      </a:srgbClr>
                    </a:gs>
                    <a:gs pos="100000">
                      <a:srgbClr val="9234DB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10"/>
              <p:cNvGrpSpPr/>
              <p:nvPr/>
            </p:nvGrpSpPr>
            <p:grpSpPr bwMode="auto">
              <a:xfrm>
                <a:off x="850" y="1858"/>
                <a:ext cx="183" cy="470"/>
                <a:chOff x="2073" y="2933"/>
                <a:chExt cx="238" cy="611"/>
              </a:xfrm>
            </p:grpSpPr>
            <p:sp>
              <p:nvSpPr>
                <p:cNvPr id="11" name="Oval 11"/>
                <p:cNvSpPr>
                  <a:spLocks noChangeArrowheads="1"/>
                </p:cNvSpPr>
                <p:nvPr/>
              </p:nvSpPr>
              <p:spPr bwMode="auto">
                <a:xfrm>
                  <a:off x="2139" y="2933"/>
                  <a:ext cx="99" cy="10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95AB7">
                        <a:gamma/>
                        <a:tint val="52549"/>
                        <a:invGamma/>
                      </a:srgbClr>
                    </a:gs>
                    <a:gs pos="100000">
                      <a:srgbClr val="F95AB7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" name="Freeform 12"/>
                <p:cNvSpPr/>
                <p:nvPr/>
              </p:nvSpPr>
              <p:spPr bwMode="auto">
                <a:xfrm>
                  <a:off x="2073" y="3048"/>
                  <a:ext cx="238" cy="496"/>
                </a:xfrm>
                <a:custGeom>
                  <a:avLst/>
                  <a:gdLst>
                    <a:gd name="T0" fmla="*/ 186 w 238"/>
                    <a:gd name="T1" fmla="*/ 0 h 496"/>
                    <a:gd name="T2" fmla="*/ 195 w 238"/>
                    <a:gd name="T3" fmla="*/ 3 h 496"/>
                    <a:gd name="T4" fmla="*/ 204 w 238"/>
                    <a:gd name="T5" fmla="*/ 4 h 496"/>
                    <a:gd name="T6" fmla="*/ 212 w 238"/>
                    <a:gd name="T7" fmla="*/ 9 h 496"/>
                    <a:gd name="T8" fmla="*/ 224 w 238"/>
                    <a:gd name="T9" fmla="*/ 13 h 496"/>
                    <a:gd name="T10" fmla="*/ 230 w 238"/>
                    <a:gd name="T11" fmla="*/ 24 h 496"/>
                    <a:gd name="T12" fmla="*/ 237 w 238"/>
                    <a:gd name="T13" fmla="*/ 34 h 496"/>
                    <a:gd name="T14" fmla="*/ 237 w 238"/>
                    <a:gd name="T15" fmla="*/ 226 h 496"/>
                    <a:gd name="T16" fmla="*/ 234 w 238"/>
                    <a:gd name="T17" fmla="*/ 232 h 496"/>
                    <a:gd name="T18" fmla="*/ 230 w 238"/>
                    <a:gd name="T19" fmla="*/ 239 h 496"/>
                    <a:gd name="T20" fmla="*/ 221 w 238"/>
                    <a:gd name="T21" fmla="*/ 242 h 496"/>
                    <a:gd name="T22" fmla="*/ 212 w 238"/>
                    <a:gd name="T23" fmla="*/ 244 h 496"/>
                    <a:gd name="T24" fmla="*/ 204 w 238"/>
                    <a:gd name="T25" fmla="*/ 242 h 496"/>
                    <a:gd name="T26" fmla="*/ 200 w 238"/>
                    <a:gd name="T27" fmla="*/ 235 h 496"/>
                    <a:gd name="T28" fmla="*/ 195 w 238"/>
                    <a:gd name="T29" fmla="*/ 230 h 496"/>
                    <a:gd name="T30" fmla="*/ 195 w 238"/>
                    <a:gd name="T31" fmla="*/ 84 h 496"/>
                    <a:gd name="T32" fmla="*/ 182 w 238"/>
                    <a:gd name="T33" fmla="*/ 471 h 496"/>
                    <a:gd name="T34" fmla="*/ 177 w 238"/>
                    <a:gd name="T35" fmla="*/ 483 h 496"/>
                    <a:gd name="T36" fmla="*/ 170 w 238"/>
                    <a:gd name="T37" fmla="*/ 491 h 496"/>
                    <a:gd name="T38" fmla="*/ 161 w 238"/>
                    <a:gd name="T39" fmla="*/ 495 h 496"/>
                    <a:gd name="T40" fmla="*/ 152 w 238"/>
                    <a:gd name="T41" fmla="*/ 495 h 496"/>
                    <a:gd name="T42" fmla="*/ 140 w 238"/>
                    <a:gd name="T43" fmla="*/ 492 h 496"/>
                    <a:gd name="T44" fmla="*/ 132 w 238"/>
                    <a:gd name="T45" fmla="*/ 486 h 496"/>
                    <a:gd name="T46" fmla="*/ 128 w 238"/>
                    <a:gd name="T47" fmla="*/ 479 h 496"/>
                    <a:gd name="T48" fmla="*/ 126 w 238"/>
                    <a:gd name="T49" fmla="*/ 470 h 496"/>
                    <a:gd name="T50" fmla="*/ 111 w 238"/>
                    <a:gd name="T51" fmla="*/ 470 h 496"/>
                    <a:gd name="T52" fmla="*/ 107 w 238"/>
                    <a:gd name="T53" fmla="*/ 479 h 496"/>
                    <a:gd name="T54" fmla="*/ 101 w 238"/>
                    <a:gd name="T55" fmla="*/ 491 h 496"/>
                    <a:gd name="T56" fmla="*/ 89 w 238"/>
                    <a:gd name="T57" fmla="*/ 495 h 496"/>
                    <a:gd name="T58" fmla="*/ 77 w 238"/>
                    <a:gd name="T59" fmla="*/ 495 h 496"/>
                    <a:gd name="T60" fmla="*/ 69 w 238"/>
                    <a:gd name="T61" fmla="*/ 491 h 496"/>
                    <a:gd name="T62" fmla="*/ 60 w 238"/>
                    <a:gd name="T63" fmla="*/ 486 h 496"/>
                    <a:gd name="T64" fmla="*/ 56 w 238"/>
                    <a:gd name="T65" fmla="*/ 477 h 496"/>
                    <a:gd name="T66" fmla="*/ 56 w 238"/>
                    <a:gd name="T67" fmla="*/ 84 h 496"/>
                    <a:gd name="T68" fmla="*/ 42 w 238"/>
                    <a:gd name="T69" fmla="*/ 227 h 496"/>
                    <a:gd name="T70" fmla="*/ 38 w 238"/>
                    <a:gd name="T71" fmla="*/ 235 h 496"/>
                    <a:gd name="T72" fmla="*/ 33 w 238"/>
                    <a:gd name="T73" fmla="*/ 239 h 496"/>
                    <a:gd name="T74" fmla="*/ 26 w 238"/>
                    <a:gd name="T75" fmla="*/ 244 h 496"/>
                    <a:gd name="T76" fmla="*/ 17 w 238"/>
                    <a:gd name="T77" fmla="*/ 244 h 496"/>
                    <a:gd name="T78" fmla="*/ 9 w 238"/>
                    <a:gd name="T79" fmla="*/ 239 h 496"/>
                    <a:gd name="T80" fmla="*/ 5 w 238"/>
                    <a:gd name="T81" fmla="*/ 238 h 496"/>
                    <a:gd name="T82" fmla="*/ 0 w 238"/>
                    <a:gd name="T83" fmla="*/ 230 h 496"/>
                    <a:gd name="T84" fmla="*/ 0 w 238"/>
                    <a:gd name="T85" fmla="*/ 39 h 496"/>
                    <a:gd name="T86" fmla="*/ 5 w 238"/>
                    <a:gd name="T87" fmla="*/ 25 h 496"/>
                    <a:gd name="T88" fmla="*/ 14 w 238"/>
                    <a:gd name="T89" fmla="*/ 13 h 496"/>
                    <a:gd name="T90" fmla="*/ 30 w 238"/>
                    <a:gd name="T91" fmla="*/ 7 h 496"/>
                    <a:gd name="T92" fmla="*/ 44 w 238"/>
                    <a:gd name="T93" fmla="*/ 3 h 4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38" h="496">
                      <a:moveTo>
                        <a:pt x="56" y="0"/>
                      </a:moveTo>
                      <a:lnTo>
                        <a:pt x="182" y="0"/>
                      </a:lnTo>
                      <a:lnTo>
                        <a:pt x="186" y="0"/>
                      </a:lnTo>
                      <a:lnTo>
                        <a:pt x="188" y="0"/>
                      </a:lnTo>
                      <a:lnTo>
                        <a:pt x="191" y="0"/>
                      </a:lnTo>
                      <a:lnTo>
                        <a:pt x="195" y="3"/>
                      </a:lnTo>
                      <a:lnTo>
                        <a:pt x="198" y="3"/>
                      </a:lnTo>
                      <a:lnTo>
                        <a:pt x="200" y="3"/>
                      </a:lnTo>
                      <a:lnTo>
                        <a:pt x="204" y="4"/>
                      </a:lnTo>
                      <a:lnTo>
                        <a:pt x="207" y="4"/>
                      </a:lnTo>
                      <a:lnTo>
                        <a:pt x="209" y="7"/>
                      </a:lnTo>
                      <a:lnTo>
                        <a:pt x="212" y="9"/>
                      </a:lnTo>
                      <a:lnTo>
                        <a:pt x="216" y="9"/>
                      </a:lnTo>
                      <a:lnTo>
                        <a:pt x="219" y="12"/>
                      </a:lnTo>
                      <a:lnTo>
                        <a:pt x="224" y="13"/>
                      </a:lnTo>
                      <a:lnTo>
                        <a:pt x="225" y="18"/>
                      </a:lnTo>
                      <a:lnTo>
                        <a:pt x="228" y="21"/>
                      </a:lnTo>
                      <a:lnTo>
                        <a:pt x="230" y="24"/>
                      </a:lnTo>
                      <a:lnTo>
                        <a:pt x="234" y="28"/>
                      </a:lnTo>
                      <a:lnTo>
                        <a:pt x="234" y="30"/>
                      </a:lnTo>
                      <a:lnTo>
                        <a:pt x="237" y="34"/>
                      </a:lnTo>
                      <a:lnTo>
                        <a:pt x="237" y="39"/>
                      </a:lnTo>
                      <a:lnTo>
                        <a:pt x="237" y="42"/>
                      </a:lnTo>
                      <a:lnTo>
                        <a:pt x="237" y="226"/>
                      </a:lnTo>
                      <a:lnTo>
                        <a:pt x="237" y="227"/>
                      </a:lnTo>
                      <a:lnTo>
                        <a:pt x="234" y="230"/>
                      </a:lnTo>
                      <a:lnTo>
                        <a:pt x="234" y="232"/>
                      </a:lnTo>
                      <a:lnTo>
                        <a:pt x="234" y="235"/>
                      </a:lnTo>
                      <a:lnTo>
                        <a:pt x="233" y="238"/>
                      </a:lnTo>
                      <a:lnTo>
                        <a:pt x="230" y="239"/>
                      </a:lnTo>
                      <a:lnTo>
                        <a:pt x="228" y="239"/>
                      </a:lnTo>
                      <a:lnTo>
                        <a:pt x="224" y="242"/>
                      </a:lnTo>
                      <a:lnTo>
                        <a:pt x="221" y="242"/>
                      </a:lnTo>
                      <a:lnTo>
                        <a:pt x="219" y="244"/>
                      </a:lnTo>
                      <a:lnTo>
                        <a:pt x="216" y="244"/>
                      </a:lnTo>
                      <a:lnTo>
                        <a:pt x="212" y="244"/>
                      </a:lnTo>
                      <a:lnTo>
                        <a:pt x="209" y="242"/>
                      </a:lnTo>
                      <a:lnTo>
                        <a:pt x="207" y="242"/>
                      </a:lnTo>
                      <a:lnTo>
                        <a:pt x="204" y="242"/>
                      </a:lnTo>
                      <a:lnTo>
                        <a:pt x="203" y="239"/>
                      </a:lnTo>
                      <a:lnTo>
                        <a:pt x="200" y="238"/>
                      </a:lnTo>
                      <a:lnTo>
                        <a:pt x="200" y="235"/>
                      </a:lnTo>
                      <a:lnTo>
                        <a:pt x="198" y="235"/>
                      </a:lnTo>
                      <a:lnTo>
                        <a:pt x="195" y="232"/>
                      </a:lnTo>
                      <a:lnTo>
                        <a:pt x="195" y="230"/>
                      </a:lnTo>
                      <a:lnTo>
                        <a:pt x="195" y="227"/>
                      </a:lnTo>
                      <a:lnTo>
                        <a:pt x="195" y="226"/>
                      </a:lnTo>
                      <a:lnTo>
                        <a:pt x="195" y="84"/>
                      </a:lnTo>
                      <a:lnTo>
                        <a:pt x="182" y="84"/>
                      </a:lnTo>
                      <a:lnTo>
                        <a:pt x="182" y="467"/>
                      </a:lnTo>
                      <a:lnTo>
                        <a:pt x="182" y="471"/>
                      </a:lnTo>
                      <a:lnTo>
                        <a:pt x="182" y="474"/>
                      </a:lnTo>
                      <a:lnTo>
                        <a:pt x="179" y="479"/>
                      </a:lnTo>
                      <a:lnTo>
                        <a:pt x="177" y="483"/>
                      </a:lnTo>
                      <a:lnTo>
                        <a:pt x="174" y="486"/>
                      </a:lnTo>
                      <a:lnTo>
                        <a:pt x="173" y="488"/>
                      </a:lnTo>
                      <a:lnTo>
                        <a:pt x="170" y="491"/>
                      </a:lnTo>
                      <a:lnTo>
                        <a:pt x="165" y="492"/>
                      </a:lnTo>
                      <a:lnTo>
                        <a:pt x="162" y="492"/>
                      </a:lnTo>
                      <a:lnTo>
                        <a:pt x="161" y="495"/>
                      </a:lnTo>
                      <a:lnTo>
                        <a:pt x="156" y="495"/>
                      </a:lnTo>
                      <a:lnTo>
                        <a:pt x="153" y="495"/>
                      </a:lnTo>
                      <a:lnTo>
                        <a:pt x="152" y="495"/>
                      </a:lnTo>
                      <a:lnTo>
                        <a:pt x="147" y="495"/>
                      </a:lnTo>
                      <a:lnTo>
                        <a:pt x="144" y="492"/>
                      </a:lnTo>
                      <a:lnTo>
                        <a:pt x="140" y="492"/>
                      </a:lnTo>
                      <a:lnTo>
                        <a:pt x="137" y="491"/>
                      </a:lnTo>
                      <a:lnTo>
                        <a:pt x="135" y="488"/>
                      </a:lnTo>
                      <a:lnTo>
                        <a:pt x="132" y="486"/>
                      </a:lnTo>
                      <a:lnTo>
                        <a:pt x="131" y="483"/>
                      </a:lnTo>
                      <a:lnTo>
                        <a:pt x="128" y="482"/>
                      </a:lnTo>
                      <a:lnTo>
                        <a:pt x="128" y="479"/>
                      </a:lnTo>
                      <a:lnTo>
                        <a:pt x="126" y="477"/>
                      </a:lnTo>
                      <a:lnTo>
                        <a:pt x="126" y="474"/>
                      </a:lnTo>
                      <a:lnTo>
                        <a:pt x="126" y="470"/>
                      </a:lnTo>
                      <a:lnTo>
                        <a:pt x="126" y="238"/>
                      </a:lnTo>
                      <a:lnTo>
                        <a:pt x="111" y="238"/>
                      </a:lnTo>
                      <a:lnTo>
                        <a:pt x="111" y="470"/>
                      </a:lnTo>
                      <a:lnTo>
                        <a:pt x="111" y="471"/>
                      </a:lnTo>
                      <a:lnTo>
                        <a:pt x="110" y="477"/>
                      </a:lnTo>
                      <a:lnTo>
                        <a:pt x="107" y="479"/>
                      </a:lnTo>
                      <a:lnTo>
                        <a:pt x="107" y="483"/>
                      </a:lnTo>
                      <a:lnTo>
                        <a:pt x="105" y="486"/>
                      </a:lnTo>
                      <a:lnTo>
                        <a:pt x="101" y="491"/>
                      </a:lnTo>
                      <a:lnTo>
                        <a:pt x="98" y="491"/>
                      </a:lnTo>
                      <a:lnTo>
                        <a:pt x="93" y="492"/>
                      </a:lnTo>
                      <a:lnTo>
                        <a:pt x="89" y="495"/>
                      </a:lnTo>
                      <a:lnTo>
                        <a:pt x="86" y="495"/>
                      </a:lnTo>
                      <a:lnTo>
                        <a:pt x="81" y="495"/>
                      </a:lnTo>
                      <a:lnTo>
                        <a:pt x="77" y="495"/>
                      </a:lnTo>
                      <a:lnTo>
                        <a:pt x="75" y="495"/>
                      </a:lnTo>
                      <a:lnTo>
                        <a:pt x="72" y="492"/>
                      </a:lnTo>
                      <a:lnTo>
                        <a:pt x="69" y="491"/>
                      </a:lnTo>
                      <a:lnTo>
                        <a:pt x="65" y="491"/>
                      </a:lnTo>
                      <a:lnTo>
                        <a:pt x="63" y="486"/>
                      </a:lnTo>
                      <a:lnTo>
                        <a:pt x="60" y="486"/>
                      </a:lnTo>
                      <a:lnTo>
                        <a:pt x="59" y="482"/>
                      </a:lnTo>
                      <a:lnTo>
                        <a:pt x="59" y="479"/>
                      </a:lnTo>
                      <a:lnTo>
                        <a:pt x="56" y="477"/>
                      </a:lnTo>
                      <a:lnTo>
                        <a:pt x="56" y="474"/>
                      </a:lnTo>
                      <a:lnTo>
                        <a:pt x="56" y="470"/>
                      </a:lnTo>
                      <a:lnTo>
                        <a:pt x="56" y="84"/>
                      </a:lnTo>
                      <a:lnTo>
                        <a:pt x="42" y="84"/>
                      </a:lnTo>
                      <a:lnTo>
                        <a:pt x="42" y="226"/>
                      </a:lnTo>
                      <a:lnTo>
                        <a:pt x="42" y="227"/>
                      </a:lnTo>
                      <a:lnTo>
                        <a:pt x="39" y="230"/>
                      </a:lnTo>
                      <a:lnTo>
                        <a:pt x="39" y="232"/>
                      </a:lnTo>
                      <a:lnTo>
                        <a:pt x="38" y="235"/>
                      </a:lnTo>
                      <a:lnTo>
                        <a:pt x="35" y="238"/>
                      </a:lnTo>
                      <a:lnTo>
                        <a:pt x="35" y="239"/>
                      </a:lnTo>
                      <a:lnTo>
                        <a:pt x="33" y="239"/>
                      </a:lnTo>
                      <a:lnTo>
                        <a:pt x="30" y="242"/>
                      </a:lnTo>
                      <a:lnTo>
                        <a:pt x="29" y="242"/>
                      </a:lnTo>
                      <a:lnTo>
                        <a:pt x="26" y="244"/>
                      </a:lnTo>
                      <a:lnTo>
                        <a:pt x="23" y="244"/>
                      </a:lnTo>
                      <a:lnTo>
                        <a:pt x="18" y="244"/>
                      </a:lnTo>
                      <a:lnTo>
                        <a:pt x="17" y="244"/>
                      </a:lnTo>
                      <a:lnTo>
                        <a:pt x="14" y="242"/>
                      </a:lnTo>
                      <a:lnTo>
                        <a:pt x="12" y="242"/>
                      </a:lnTo>
                      <a:lnTo>
                        <a:pt x="9" y="239"/>
                      </a:lnTo>
                      <a:lnTo>
                        <a:pt x="8" y="239"/>
                      </a:lnTo>
                      <a:lnTo>
                        <a:pt x="8" y="238"/>
                      </a:lnTo>
                      <a:lnTo>
                        <a:pt x="5" y="238"/>
                      </a:lnTo>
                      <a:lnTo>
                        <a:pt x="3" y="235"/>
                      </a:lnTo>
                      <a:lnTo>
                        <a:pt x="3" y="232"/>
                      </a:lnTo>
                      <a:lnTo>
                        <a:pt x="0" y="230"/>
                      </a:lnTo>
                      <a:lnTo>
                        <a:pt x="0" y="227"/>
                      </a:lnTo>
                      <a:lnTo>
                        <a:pt x="0" y="226"/>
                      </a:lnTo>
                      <a:lnTo>
                        <a:pt x="0" y="39"/>
                      </a:lnTo>
                      <a:lnTo>
                        <a:pt x="0" y="34"/>
                      </a:lnTo>
                      <a:lnTo>
                        <a:pt x="3" y="30"/>
                      </a:lnTo>
                      <a:lnTo>
                        <a:pt x="5" y="25"/>
                      </a:lnTo>
                      <a:lnTo>
                        <a:pt x="8" y="21"/>
                      </a:lnTo>
                      <a:lnTo>
                        <a:pt x="12" y="18"/>
                      </a:lnTo>
                      <a:lnTo>
                        <a:pt x="14" y="13"/>
                      </a:lnTo>
                      <a:lnTo>
                        <a:pt x="18" y="12"/>
                      </a:lnTo>
                      <a:lnTo>
                        <a:pt x="26" y="9"/>
                      </a:lnTo>
                      <a:lnTo>
                        <a:pt x="30" y="7"/>
                      </a:lnTo>
                      <a:lnTo>
                        <a:pt x="33" y="4"/>
                      </a:lnTo>
                      <a:lnTo>
                        <a:pt x="39" y="3"/>
                      </a:lnTo>
                      <a:lnTo>
                        <a:pt x="44" y="3"/>
                      </a:lnTo>
                      <a:lnTo>
                        <a:pt x="51" y="0"/>
                      </a:lnTo>
                      <a:lnTo>
                        <a:pt x="56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95AB7">
                        <a:gamma/>
                        <a:tint val="52549"/>
                        <a:invGamma/>
                      </a:srgbClr>
                    </a:gs>
                    <a:gs pos="100000">
                      <a:srgbClr val="F95AB7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13"/>
              <p:cNvGrpSpPr/>
              <p:nvPr/>
            </p:nvGrpSpPr>
            <p:grpSpPr bwMode="auto">
              <a:xfrm>
                <a:off x="1069" y="1987"/>
                <a:ext cx="216" cy="482"/>
                <a:chOff x="2326" y="3101"/>
                <a:chExt cx="281" cy="626"/>
              </a:xfrm>
            </p:grpSpPr>
            <p:sp>
              <p:nvSpPr>
                <p:cNvPr id="9" name="Oval 14"/>
                <p:cNvSpPr>
                  <a:spLocks noChangeArrowheads="1"/>
                </p:cNvSpPr>
                <p:nvPr/>
              </p:nvSpPr>
              <p:spPr bwMode="auto">
                <a:xfrm>
                  <a:off x="2418" y="3101"/>
                  <a:ext cx="95" cy="101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9900">
                        <a:gamma/>
                        <a:tint val="54902"/>
                        <a:invGamma/>
                      </a:srgbClr>
                    </a:gs>
                    <a:gs pos="100000">
                      <a:srgbClr val="FF9900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" name="Freeform 15"/>
                <p:cNvSpPr/>
                <p:nvPr/>
              </p:nvSpPr>
              <p:spPr bwMode="auto">
                <a:xfrm>
                  <a:off x="2326" y="3223"/>
                  <a:ext cx="281" cy="504"/>
                </a:xfrm>
                <a:custGeom>
                  <a:avLst/>
                  <a:gdLst>
                    <a:gd name="T0" fmla="*/ 208 w 281"/>
                    <a:gd name="T1" fmla="*/ 0 h 504"/>
                    <a:gd name="T2" fmla="*/ 217 w 281"/>
                    <a:gd name="T3" fmla="*/ 3 h 504"/>
                    <a:gd name="T4" fmla="*/ 228 w 281"/>
                    <a:gd name="T5" fmla="*/ 9 h 504"/>
                    <a:gd name="T6" fmla="*/ 232 w 281"/>
                    <a:gd name="T7" fmla="*/ 16 h 504"/>
                    <a:gd name="T8" fmla="*/ 237 w 281"/>
                    <a:gd name="T9" fmla="*/ 24 h 504"/>
                    <a:gd name="T10" fmla="*/ 241 w 281"/>
                    <a:gd name="T11" fmla="*/ 35 h 504"/>
                    <a:gd name="T12" fmla="*/ 280 w 281"/>
                    <a:gd name="T13" fmla="*/ 189 h 504"/>
                    <a:gd name="T14" fmla="*/ 280 w 281"/>
                    <a:gd name="T15" fmla="*/ 201 h 504"/>
                    <a:gd name="T16" fmla="*/ 276 w 281"/>
                    <a:gd name="T17" fmla="*/ 208 h 504"/>
                    <a:gd name="T18" fmla="*/ 268 w 281"/>
                    <a:gd name="T19" fmla="*/ 214 h 504"/>
                    <a:gd name="T20" fmla="*/ 258 w 281"/>
                    <a:gd name="T21" fmla="*/ 214 h 504"/>
                    <a:gd name="T22" fmla="*/ 252 w 281"/>
                    <a:gd name="T23" fmla="*/ 212 h 504"/>
                    <a:gd name="T24" fmla="*/ 244 w 281"/>
                    <a:gd name="T25" fmla="*/ 208 h 504"/>
                    <a:gd name="T26" fmla="*/ 240 w 281"/>
                    <a:gd name="T27" fmla="*/ 201 h 504"/>
                    <a:gd name="T28" fmla="*/ 253 w 281"/>
                    <a:gd name="T29" fmla="*/ 310 h 504"/>
                    <a:gd name="T30" fmla="*/ 202 w 281"/>
                    <a:gd name="T31" fmla="*/ 484 h 504"/>
                    <a:gd name="T32" fmla="*/ 198 w 281"/>
                    <a:gd name="T33" fmla="*/ 494 h 504"/>
                    <a:gd name="T34" fmla="*/ 190 w 281"/>
                    <a:gd name="T35" fmla="*/ 499 h 504"/>
                    <a:gd name="T36" fmla="*/ 184 w 281"/>
                    <a:gd name="T37" fmla="*/ 503 h 504"/>
                    <a:gd name="T38" fmla="*/ 174 w 281"/>
                    <a:gd name="T39" fmla="*/ 503 h 504"/>
                    <a:gd name="T40" fmla="*/ 166 w 281"/>
                    <a:gd name="T41" fmla="*/ 500 h 504"/>
                    <a:gd name="T42" fmla="*/ 159 w 281"/>
                    <a:gd name="T43" fmla="*/ 494 h 504"/>
                    <a:gd name="T44" fmla="*/ 154 w 281"/>
                    <a:gd name="T45" fmla="*/ 487 h 504"/>
                    <a:gd name="T46" fmla="*/ 153 w 281"/>
                    <a:gd name="T47" fmla="*/ 479 h 504"/>
                    <a:gd name="T48" fmla="*/ 127 w 281"/>
                    <a:gd name="T49" fmla="*/ 479 h 504"/>
                    <a:gd name="T50" fmla="*/ 126 w 281"/>
                    <a:gd name="T51" fmla="*/ 487 h 504"/>
                    <a:gd name="T52" fmla="*/ 121 w 281"/>
                    <a:gd name="T53" fmla="*/ 496 h 504"/>
                    <a:gd name="T54" fmla="*/ 114 w 281"/>
                    <a:gd name="T55" fmla="*/ 500 h 504"/>
                    <a:gd name="T56" fmla="*/ 106 w 281"/>
                    <a:gd name="T57" fmla="*/ 503 h 504"/>
                    <a:gd name="T58" fmla="*/ 96 w 281"/>
                    <a:gd name="T59" fmla="*/ 503 h 504"/>
                    <a:gd name="T60" fmla="*/ 90 w 281"/>
                    <a:gd name="T61" fmla="*/ 499 h 504"/>
                    <a:gd name="T62" fmla="*/ 82 w 281"/>
                    <a:gd name="T63" fmla="*/ 494 h 504"/>
                    <a:gd name="T64" fmla="*/ 78 w 281"/>
                    <a:gd name="T65" fmla="*/ 484 h 504"/>
                    <a:gd name="T66" fmla="*/ 78 w 281"/>
                    <a:gd name="T67" fmla="*/ 313 h 504"/>
                    <a:gd name="T68" fmla="*/ 78 w 281"/>
                    <a:gd name="T69" fmla="*/ 71 h 504"/>
                    <a:gd name="T70" fmla="*/ 39 w 281"/>
                    <a:gd name="T71" fmla="*/ 209 h 504"/>
                    <a:gd name="T72" fmla="*/ 31 w 281"/>
                    <a:gd name="T73" fmla="*/ 217 h 504"/>
                    <a:gd name="T74" fmla="*/ 22 w 281"/>
                    <a:gd name="T75" fmla="*/ 220 h 504"/>
                    <a:gd name="T76" fmla="*/ 15 w 281"/>
                    <a:gd name="T77" fmla="*/ 220 h 504"/>
                    <a:gd name="T78" fmla="*/ 4 w 281"/>
                    <a:gd name="T79" fmla="*/ 212 h 504"/>
                    <a:gd name="T80" fmla="*/ 0 w 281"/>
                    <a:gd name="T81" fmla="*/ 202 h 504"/>
                    <a:gd name="T82" fmla="*/ 0 w 281"/>
                    <a:gd name="T83" fmla="*/ 196 h 504"/>
                    <a:gd name="T84" fmla="*/ 40 w 281"/>
                    <a:gd name="T85" fmla="*/ 38 h 504"/>
                    <a:gd name="T86" fmla="*/ 43 w 281"/>
                    <a:gd name="T87" fmla="*/ 28 h 504"/>
                    <a:gd name="T88" fmla="*/ 46 w 281"/>
                    <a:gd name="T89" fmla="*/ 19 h 504"/>
                    <a:gd name="T90" fmla="*/ 52 w 281"/>
                    <a:gd name="T91" fmla="*/ 12 h 504"/>
                    <a:gd name="T92" fmla="*/ 60 w 281"/>
                    <a:gd name="T93" fmla="*/ 4 h 504"/>
                    <a:gd name="T94" fmla="*/ 72 w 281"/>
                    <a:gd name="T95" fmla="*/ 0 h 5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81" h="504">
                      <a:moveTo>
                        <a:pt x="78" y="0"/>
                      </a:moveTo>
                      <a:lnTo>
                        <a:pt x="205" y="0"/>
                      </a:lnTo>
                      <a:lnTo>
                        <a:pt x="208" y="0"/>
                      </a:lnTo>
                      <a:lnTo>
                        <a:pt x="210" y="0"/>
                      </a:lnTo>
                      <a:lnTo>
                        <a:pt x="214" y="3"/>
                      </a:lnTo>
                      <a:lnTo>
                        <a:pt x="217" y="3"/>
                      </a:lnTo>
                      <a:lnTo>
                        <a:pt x="220" y="4"/>
                      </a:lnTo>
                      <a:lnTo>
                        <a:pt x="222" y="7"/>
                      </a:lnTo>
                      <a:lnTo>
                        <a:pt x="228" y="9"/>
                      </a:lnTo>
                      <a:lnTo>
                        <a:pt x="229" y="12"/>
                      </a:lnTo>
                      <a:lnTo>
                        <a:pt x="229" y="15"/>
                      </a:lnTo>
                      <a:lnTo>
                        <a:pt x="232" y="16"/>
                      </a:lnTo>
                      <a:lnTo>
                        <a:pt x="234" y="19"/>
                      </a:lnTo>
                      <a:lnTo>
                        <a:pt x="237" y="22"/>
                      </a:lnTo>
                      <a:lnTo>
                        <a:pt x="237" y="24"/>
                      </a:lnTo>
                      <a:lnTo>
                        <a:pt x="240" y="27"/>
                      </a:lnTo>
                      <a:lnTo>
                        <a:pt x="240" y="31"/>
                      </a:lnTo>
                      <a:lnTo>
                        <a:pt x="241" y="35"/>
                      </a:lnTo>
                      <a:lnTo>
                        <a:pt x="241" y="38"/>
                      </a:lnTo>
                      <a:lnTo>
                        <a:pt x="241" y="43"/>
                      </a:lnTo>
                      <a:lnTo>
                        <a:pt x="280" y="189"/>
                      </a:lnTo>
                      <a:lnTo>
                        <a:pt x="280" y="193"/>
                      </a:lnTo>
                      <a:lnTo>
                        <a:pt x="280" y="196"/>
                      </a:lnTo>
                      <a:lnTo>
                        <a:pt x="280" y="201"/>
                      </a:lnTo>
                      <a:lnTo>
                        <a:pt x="280" y="202"/>
                      </a:lnTo>
                      <a:lnTo>
                        <a:pt x="277" y="205"/>
                      </a:lnTo>
                      <a:lnTo>
                        <a:pt x="276" y="208"/>
                      </a:lnTo>
                      <a:lnTo>
                        <a:pt x="273" y="209"/>
                      </a:lnTo>
                      <a:lnTo>
                        <a:pt x="271" y="212"/>
                      </a:lnTo>
                      <a:lnTo>
                        <a:pt x="268" y="214"/>
                      </a:lnTo>
                      <a:lnTo>
                        <a:pt x="265" y="214"/>
                      </a:lnTo>
                      <a:lnTo>
                        <a:pt x="261" y="214"/>
                      </a:lnTo>
                      <a:lnTo>
                        <a:pt x="258" y="214"/>
                      </a:lnTo>
                      <a:lnTo>
                        <a:pt x="256" y="214"/>
                      </a:lnTo>
                      <a:lnTo>
                        <a:pt x="253" y="214"/>
                      </a:lnTo>
                      <a:lnTo>
                        <a:pt x="252" y="212"/>
                      </a:lnTo>
                      <a:lnTo>
                        <a:pt x="249" y="212"/>
                      </a:lnTo>
                      <a:lnTo>
                        <a:pt x="246" y="209"/>
                      </a:lnTo>
                      <a:lnTo>
                        <a:pt x="244" y="208"/>
                      </a:lnTo>
                      <a:lnTo>
                        <a:pt x="241" y="205"/>
                      </a:lnTo>
                      <a:lnTo>
                        <a:pt x="241" y="202"/>
                      </a:lnTo>
                      <a:lnTo>
                        <a:pt x="240" y="201"/>
                      </a:lnTo>
                      <a:lnTo>
                        <a:pt x="202" y="71"/>
                      </a:lnTo>
                      <a:lnTo>
                        <a:pt x="190" y="71"/>
                      </a:lnTo>
                      <a:lnTo>
                        <a:pt x="253" y="310"/>
                      </a:lnTo>
                      <a:lnTo>
                        <a:pt x="202" y="310"/>
                      </a:lnTo>
                      <a:lnTo>
                        <a:pt x="202" y="479"/>
                      </a:lnTo>
                      <a:lnTo>
                        <a:pt x="202" y="484"/>
                      </a:lnTo>
                      <a:lnTo>
                        <a:pt x="202" y="487"/>
                      </a:lnTo>
                      <a:lnTo>
                        <a:pt x="201" y="488"/>
                      </a:lnTo>
                      <a:lnTo>
                        <a:pt x="198" y="494"/>
                      </a:lnTo>
                      <a:lnTo>
                        <a:pt x="196" y="496"/>
                      </a:lnTo>
                      <a:lnTo>
                        <a:pt x="196" y="499"/>
                      </a:lnTo>
                      <a:lnTo>
                        <a:pt x="190" y="499"/>
                      </a:lnTo>
                      <a:lnTo>
                        <a:pt x="189" y="500"/>
                      </a:lnTo>
                      <a:lnTo>
                        <a:pt x="186" y="503"/>
                      </a:lnTo>
                      <a:lnTo>
                        <a:pt x="184" y="503"/>
                      </a:lnTo>
                      <a:lnTo>
                        <a:pt x="181" y="503"/>
                      </a:lnTo>
                      <a:lnTo>
                        <a:pt x="178" y="503"/>
                      </a:lnTo>
                      <a:lnTo>
                        <a:pt x="174" y="503"/>
                      </a:lnTo>
                      <a:lnTo>
                        <a:pt x="171" y="503"/>
                      </a:lnTo>
                      <a:lnTo>
                        <a:pt x="169" y="500"/>
                      </a:lnTo>
                      <a:lnTo>
                        <a:pt x="166" y="500"/>
                      </a:lnTo>
                      <a:lnTo>
                        <a:pt x="165" y="499"/>
                      </a:lnTo>
                      <a:lnTo>
                        <a:pt x="162" y="496"/>
                      </a:lnTo>
                      <a:lnTo>
                        <a:pt x="159" y="494"/>
                      </a:lnTo>
                      <a:lnTo>
                        <a:pt x="157" y="494"/>
                      </a:lnTo>
                      <a:lnTo>
                        <a:pt x="157" y="488"/>
                      </a:lnTo>
                      <a:lnTo>
                        <a:pt x="154" y="487"/>
                      </a:lnTo>
                      <a:lnTo>
                        <a:pt x="154" y="484"/>
                      </a:lnTo>
                      <a:lnTo>
                        <a:pt x="153" y="481"/>
                      </a:lnTo>
                      <a:lnTo>
                        <a:pt x="153" y="479"/>
                      </a:lnTo>
                      <a:lnTo>
                        <a:pt x="153" y="313"/>
                      </a:lnTo>
                      <a:lnTo>
                        <a:pt x="127" y="313"/>
                      </a:lnTo>
                      <a:lnTo>
                        <a:pt x="127" y="479"/>
                      </a:lnTo>
                      <a:lnTo>
                        <a:pt x="127" y="481"/>
                      </a:lnTo>
                      <a:lnTo>
                        <a:pt x="127" y="484"/>
                      </a:lnTo>
                      <a:lnTo>
                        <a:pt x="126" y="487"/>
                      </a:lnTo>
                      <a:lnTo>
                        <a:pt x="126" y="488"/>
                      </a:lnTo>
                      <a:lnTo>
                        <a:pt x="123" y="494"/>
                      </a:lnTo>
                      <a:lnTo>
                        <a:pt x="121" y="496"/>
                      </a:lnTo>
                      <a:lnTo>
                        <a:pt x="118" y="499"/>
                      </a:lnTo>
                      <a:lnTo>
                        <a:pt x="115" y="499"/>
                      </a:lnTo>
                      <a:lnTo>
                        <a:pt x="114" y="500"/>
                      </a:lnTo>
                      <a:lnTo>
                        <a:pt x="111" y="503"/>
                      </a:lnTo>
                      <a:lnTo>
                        <a:pt x="109" y="503"/>
                      </a:lnTo>
                      <a:lnTo>
                        <a:pt x="106" y="503"/>
                      </a:lnTo>
                      <a:lnTo>
                        <a:pt x="102" y="503"/>
                      </a:lnTo>
                      <a:lnTo>
                        <a:pt x="99" y="503"/>
                      </a:lnTo>
                      <a:lnTo>
                        <a:pt x="96" y="503"/>
                      </a:lnTo>
                      <a:lnTo>
                        <a:pt x="94" y="500"/>
                      </a:lnTo>
                      <a:lnTo>
                        <a:pt x="91" y="500"/>
                      </a:lnTo>
                      <a:lnTo>
                        <a:pt x="90" y="499"/>
                      </a:lnTo>
                      <a:lnTo>
                        <a:pt x="87" y="499"/>
                      </a:lnTo>
                      <a:lnTo>
                        <a:pt x="84" y="496"/>
                      </a:lnTo>
                      <a:lnTo>
                        <a:pt x="82" y="494"/>
                      </a:lnTo>
                      <a:lnTo>
                        <a:pt x="79" y="491"/>
                      </a:lnTo>
                      <a:lnTo>
                        <a:pt x="79" y="488"/>
                      </a:lnTo>
                      <a:lnTo>
                        <a:pt x="78" y="484"/>
                      </a:lnTo>
                      <a:lnTo>
                        <a:pt x="78" y="481"/>
                      </a:lnTo>
                      <a:lnTo>
                        <a:pt x="78" y="479"/>
                      </a:lnTo>
                      <a:lnTo>
                        <a:pt x="78" y="313"/>
                      </a:lnTo>
                      <a:lnTo>
                        <a:pt x="28" y="313"/>
                      </a:lnTo>
                      <a:lnTo>
                        <a:pt x="90" y="71"/>
                      </a:lnTo>
                      <a:lnTo>
                        <a:pt x="78" y="71"/>
                      </a:lnTo>
                      <a:lnTo>
                        <a:pt x="40" y="202"/>
                      </a:lnTo>
                      <a:lnTo>
                        <a:pt x="39" y="205"/>
                      </a:lnTo>
                      <a:lnTo>
                        <a:pt x="39" y="209"/>
                      </a:lnTo>
                      <a:lnTo>
                        <a:pt x="36" y="212"/>
                      </a:lnTo>
                      <a:lnTo>
                        <a:pt x="34" y="214"/>
                      </a:lnTo>
                      <a:lnTo>
                        <a:pt x="31" y="217"/>
                      </a:lnTo>
                      <a:lnTo>
                        <a:pt x="28" y="217"/>
                      </a:lnTo>
                      <a:lnTo>
                        <a:pt x="27" y="220"/>
                      </a:lnTo>
                      <a:lnTo>
                        <a:pt x="22" y="220"/>
                      </a:lnTo>
                      <a:lnTo>
                        <a:pt x="19" y="220"/>
                      </a:lnTo>
                      <a:lnTo>
                        <a:pt x="16" y="220"/>
                      </a:lnTo>
                      <a:lnTo>
                        <a:pt x="15" y="220"/>
                      </a:lnTo>
                      <a:lnTo>
                        <a:pt x="9" y="217"/>
                      </a:lnTo>
                      <a:lnTo>
                        <a:pt x="7" y="214"/>
                      </a:lnTo>
                      <a:lnTo>
                        <a:pt x="4" y="212"/>
                      </a:lnTo>
                      <a:lnTo>
                        <a:pt x="3" y="208"/>
                      </a:lnTo>
                      <a:lnTo>
                        <a:pt x="0" y="205"/>
                      </a:lnTo>
                      <a:lnTo>
                        <a:pt x="0" y="202"/>
                      </a:lnTo>
                      <a:lnTo>
                        <a:pt x="0" y="201"/>
                      </a:lnTo>
                      <a:lnTo>
                        <a:pt x="0" y="198"/>
                      </a:lnTo>
                      <a:lnTo>
                        <a:pt x="0" y="196"/>
                      </a:lnTo>
                      <a:lnTo>
                        <a:pt x="0" y="193"/>
                      </a:lnTo>
                      <a:lnTo>
                        <a:pt x="39" y="40"/>
                      </a:lnTo>
                      <a:lnTo>
                        <a:pt x="40" y="38"/>
                      </a:lnTo>
                      <a:lnTo>
                        <a:pt x="40" y="34"/>
                      </a:lnTo>
                      <a:lnTo>
                        <a:pt x="40" y="31"/>
                      </a:lnTo>
                      <a:lnTo>
                        <a:pt x="43" y="28"/>
                      </a:lnTo>
                      <a:lnTo>
                        <a:pt x="43" y="27"/>
                      </a:lnTo>
                      <a:lnTo>
                        <a:pt x="43" y="24"/>
                      </a:lnTo>
                      <a:lnTo>
                        <a:pt x="46" y="19"/>
                      </a:lnTo>
                      <a:lnTo>
                        <a:pt x="48" y="16"/>
                      </a:lnTo>
                      <a:lnTo>
                        <a:pt x="51" y="15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8" y="7"/>
                      </a:lnTo>
                      <a:lnTo>
                        <a:pt x="60" y="4"/>
                      </a:lnTo>
                      <a:lnTo>
                        <a:pt x="63" y="3"/>
                      </a:lnTo>
                      <a:lnTo>
                        <a:pt x="67" y="3"/>
                      </a:lnTo>
                      <a:lnTo>
                        <a:pt x="72" y="0"/>
                      </a:lnTo>
                      <a:lnTo>
                        <a:pt x="78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F9900">
                        <a:gamma/>
                        <a:tint val="54902"/>
                        <a:invGamma/>
                      </a:srgbClr>
                    </a:gs>
                    <a:gs pos="100000">
                      <a:srgbClr val="FF9900"/>
                    </a:gs>
                  </a:gsLst>
                  <a:path path="rect">
                    <a:fillToRect l="50000" t="50000" r="50000" b="50000"/>
                  </a:path>
                </a:gra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b="1" dirty="0" smtClean="0">
                <a:latin typeface="Times New Roman" panose="02020603050405020304" pitchFamily="18" charset="0"/>
                <a:ea typeface="隶书" panose="02010509060101010101" pitchFamily="49" charset="-122"/>
              </a:rPr>
              <a:t>本讲主要知识点</a:t>
            </a:r>
            <a:endParaRPr lang="zh-CN" altLang="en-US" b="1" dirty="0" smtClean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873125" y="1143983"/>
            <a:ext cx="7956550" cy="4752057"/>
          </a:xfrm>
          <a:prstGeom prst="rect">
            <a:avLst/>
          </a:prstGeom>
          <a:noFill/>
          <a:ln w="9525" algn="ctr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/>
          <a:lstStyle>
            <a:lvl1pPr marL="552450" indent="-5524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0" indent="0" algn="l" ea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zh-CN" altLang="en-US" sz="2800" dirty="0" smtClean="0">
                <a:solidFill>
                  <a:srgbClr val="FFFF00"/>
                </a:solidFill>
                <a:latin typeface="+mn-lt"/>
                <a:ea typeface="+mj-ea"/>
              </a:rPr>
              <a:t>主要内容</a:t>
            </a:r>
            <a:endParaRPr lang="en-US" altLang="zh-CN" sz="2800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algn="l" ea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AutoNum type="arabicPeriod"/>
            </a:pPr>
            <a:r>
              <a:rPr lang="zh-CN" altLang="en-US" sz="2800" dirty="0" smtClean="0">
                <a:latin typeface="+mn-lt"/>
                <a:ea typeface="+mj-ea"/>
              </a:rPr>
              <a:t>作用域</a:t>
            </a:r>
            <a:r>
              <a:rPr lang="zh-CN" altLang="en-US" sz="2800" dirty="0">
                <a:latin typeface="+mn-lt"/>
                <a:ea typeface="+mj-ea"/>
              </a:rPr>
              <a:t>与</a:t>
            </a:r>
            <a:r>
              <a:rPr lang="zh-CN" altLang="en-US" sz="2800" dirty="0" smtClean="0">
                <a:latin typeface="+mn-lt"/>
                <a:ea typeface="+mj-ea"/>
              </a:rPr>
              <a:t>可见性</a:t>
            </a:r>
            <a:endParaRPr lang="en-US" altLang="zh-CN" sz="2800" dirty="0" smtClean="0">
              <a:latin typeface="+mn-lt"/>
              <a:ea typeface="+mj-ea"/>
            </a:endParaRPr>
          </a:p>
          <a:p>
            <a:pPr algn="l" ea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AutoNum type="arabicPeriod"/>
            </a:pPr>
            <a:r>
              <a:rPr lang="zh-CN" altLang="en-US" sz="2800" dirty="0" smtClean="0">
                <a:latin typeface="+mn-lt"/>
                <a:ea typeface="+mj-ea"/>
              </a:rPr>
              <a:t>对象</a:t>
            </a:r>
            <a:r>
              <a:rPr lang="zh-CN" altLang="en-US" sz="2800" dirty="0">
                <a:latin typeface="+mn-lt"/>
                <a:ea typeface="+mj-ea"/>
              </a:rPr>
              <a:t>的</a:t>
            </a:r>
            <a:r>
              <a:rPr lang="zh-CN" altLang="en-US" sz="2800" dirty="0" smtClean="0">
                <a:latin typeface="+mn-lt"/>
                <a:ea typeface="+mj-ea"/>
              </a:rPr>
              <a:t>生存期</a:t>
            </a:r>
            <a:endParaRPr lang="en-US" altLang="zh-CN" sz="2800" dirty="0" smtClean="0">
              <a:latin typeface="+mn-lt"/>
              <a:ea typeface="+mj-ea"/>
            </a:endParaRPr>
          </a:p>
          <a:p>
            <a:pPr algn="l" ea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AutoNum type="arabicPeriod"/>
            </a:pPr>
            <a:r>
              <a:rPr lang="zh-CN" altLang="en-US" sz="2800" dirty="0" smtClean="0">
                <a:latin typeface="+mn-lt"/>
                <a:ea typeface="+mj-ea"/>
              </a:rPr>
              <a:t>数据</a:t>
            </a:r>
            <a:r>
              <a:rPr lang="zh-CN" altLang="en-US" sz="2800" dirty="0">
                <a:latin typeface="+mn-lt"/>
                <a:ea typeface="+mj-ea"/>
              </a:rPr>
              <a:t>的共享与</a:t>
            </a:r>
            <a:r>
              <a:rPr lang="zh-CN" altLang="en-US" sz="2800" dirty="0" smtClean="0">
                <a:latin typeface="+mn-lt"/>
                <a:ea typeface="+mj-ea"/>
              </a:rPr>
              <a:t>保护</a:t>
            </a:r>
            <a:endParaRPr lang="en-US" altLang="zh-CN" sz="2800" dirty="0" smtClean="0">
              <a:latin typeface="+mn-lt"/>
              <a:ea typeface="+mj-ea"/>
            </a:endParaRPr>
          </a:p>
          <a:p>
            <a:pPr algn="l" ea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AutoNum type="arabicPeriod"/>
            </a:pPr>
            <a:r>
              <a:rPr lang="zh-CN" altLang="en-US" sz="2800" dirty="0" smtClean="0">
                <a:latin typeface="+mn-lt"/>
                <a:ea typeface="+mj-ea"/>
              </a:rPr>
              <a:t>友元</a:t>
            </a:r>
            <a:endParaRPr lang="en-US" altLang="zh-CN" sz="2800" dirty="0" smtClean="0">
              <a:latin typeface="+mn-lt"/>
              <a:ea typeface="+mj-ea"/>
            </a:endParaRPr>
          </a:p>
          <a:p>
            <a:pPr algn="l" ea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AutoNum type="arabicPeriod"/>
            </a:pPr>
            <a:r>
              <a:rPr lang="zh-CN" altLang="en-US" sz="2800" dirty="0" smtClean="0">
                <a:latin typeface="+mn-lt"/>
                <a:ea typeface="+mj-ea"/>
              </a:rPr>
              <a:t>编译</a:t>
            </a:r>
            <a:r>
              <a:rPr lang="zh-CN" altLang="en-US" sz="2800" dirty="0">
                <a:latin typeface="+mn-lt"/>
                <a:ea typeface="+mj-ea"/>
              </a:rPr>
              <a:t>预处理</a:t>
            </a:r>
            <a:r>
              <a:rPr lang="zh-CN" altLang="en-US" sz="2800" dirty="0" smtClean="0">
                <a:latin typeface="+mn-lt"/>
                <a:ea typeface="+mj-ea"/>
              </a:rPr>
              <a:t>命令</a:t>
            </a:r>
            <a:endParaRPr lang="en-US" altLang="zh-CN" sz="2800" dirty="0" smtClean="0">
              <a:latin typeface="+mn-lt"/>
              <a:ea typeface="+mj-ea"/>
            </a:endParaRPr>
          </a:p>
          <a:p>
            <a:pPr algn="l" ea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AutoNum type="arabicPeriod"/>
            </a:pPr>
            <a:r>
              <a:rPr lang="zh-CN" altLang="en-US" sz="2800" dirty="0" smtClean="0">
                <a:latin typeface="+mn-lt"/>
                <a:ea typeface="+mj-ea"/>
              </a:rPr>
              <a:t>多</a:t>
            </a:r>
            <a:r>
              <a:rPr lang="zh-CN" altLang="en-US" sz="2800" dirty="0">
                <a:latin typeface="+mn-lt"/>
                <a:ea typeface="+mj-ea"/>
              </a:rPr>
              <a:t>文件结构和工程</a:t>
            </a:r>
            <a:endParaRPr lang="zh-CN" altLang="en-US" sz="2800" dirty="0">
              <a:latin typeface="+mn-lt"/>
              <a:ea typeface="+mj-ea"/>
            </a:endParaRPr>
          </a:p>
          <a:p>
            <a:pPr marL="0" indent="0" algn="l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FFFF00"/>
                </a:solidFill>
                <a:latin typeface="+mn-lt"/>
                <a:ea typeface="+mj-ea"/>
              </a:rPr>
              <a:t>达到的</a:t>
            </a:r>
            <a:r>
              <a:rPr lang="zh-CN" altLang="en-US" sz="2800" dirty="0" smtClean="0">
                <a:solidFill>
                  <a:srgbClr val="FFFF00"/>
                </a:solidFill>
                <a:latin typeface="+mn-lt"/>
                <a:ea typeface="+mj-ea"/>
              </a:rPr>
              <a:t>目标：深入</a:t>
            </a:r>
            <a:r>
              <a:rPr lang="zh-CN" altLang="en-US" sz="2800" dirty="0">
                <a:solidFill>
                  <a:srgbClr val="FFFF00"/>
                </a:solidFill>
                <a:latin typeface="+mn-lt"/>
                <a:ea typeface="+mj-ea"/>
              </a:rPr>
              <a:t>理解程序的结构、模块间的关系、数据共享</a:t>
            </a:r>
            <a:endParaRPr lang="zh-CN" altLang="en-US" sz="2800" dirty="0">
              <a:solidFill>
                <a:srgbClr val="FFFF00"/>
              </a:solidFill>
              <a:latin typeface="+mn-lt"/>
              <a:ea typeface="+mj-ea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755576" y="517525"/>
            <a:ext cx="7956550" cy="7508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作业：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5-3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、下面程序 的 运行结果是什么，实际运行一下，看看和你的设想有何不同？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#include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 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 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&lt;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iostream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&gt;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using namespace 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std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;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 x=5,y=7;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void 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myFunction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{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	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 y=10;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	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cout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&lt;&lt;“x from 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myFunction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”&lt;&lt;x&lt;&lt;“\n”;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sz="1800" dirty="0">
                <a:solidFill>
                  <a:srgbClr val="FFFF00"/>
                </a:solidFill>
              </a:rPr>
              <a:t>	</a:t>
            </a:r>
            <a:r>
              <a:rPr lang="en-US" altLang="zh-CN" sz="1800" dirty="0" err="1">
                <a:solidFill>
                  <a:srgbClr val="FFFF00"/>
                </a:solidFill>
              </a:rPr>
              <a:t>cout</a:t>
            </a:r>
            <a:r>
              <a:rPr lang="en-US" altLang="zh-CN" sz="1800" dirty="0" smtClean="0">
                <a:solidFill>
                  <a:srgbClr val="FFFF00"/>
                </a:solidFill>
              </a:rPr>
              <a:t>&lt;&lt;“y </a:t>
            </a:r>
            <a:r>
              <a:rPr lang="en-US" altLang="zh-CN" sz="1800" dirty="0">
                <a:solidFill>
                  <a:srgbClr val="FFFF00"/>
                </a:solidFill>
              </a:rPr>
              <a:t>from </a:t>
            </a:r>
            <a:r>
              <a:rPr lang="en-US" altLang="zh-CN" sz="1800" dirty="0" err="1">
                <a:solidFill>
                  <a:srgbClr val="FFFF00"/>
                </a:solidFill>
              </a:rPr>
              <a:t>myFunction</a:t>
            </a:r>
            <a:r>
              <a:rPr lang="en-US" altLang="zh-CN" sz="1800" dirty="0" smtClean="0">
                <a:solidFill>
                  <a:srgbClr val="FFFF00"/>
                </a:solidFill>
              </a:rPr>
              <a:t>”&lt;&lt;y&lt;&lt;“\n\n”;</a:t>
            </a:r>
            <a:br>
              <a:rPr lang="en-US" altLang="zh-CN" sz="1800" dirty="0" smtClean="0">
                <a:solidFill>
                  <a:srgbClr val="FFFF00"/>
                </a:solidFill>
              </a:rPr>
            </a:br>
            <a:r>
              <a:rPr lang="en-US" altLang="zh-CN" sz="1800" dirty="0" smtClean="0">
                <a:solidFill>
                  <a:srgbClr val="FFFF00"/>
                </a:solidFill>
              </a:rPr>
              <a:t>}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 main(){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sz="1800" dirty="0">
                <a:solidFill>
                  <a:srgbClr val="FFFF00"/>
                </a:solidFill>
              </a:rPr>
              <a:t>	</a:t>
            </a:r>
            <a:r>
              <a:rPr lang="en-US" altLang="zh-CN" sz="1800" dirty="0" err="1">
                <a:solidFill>
                  <a:srgbClr val="FFFF00"/>
                </a:solidFill>
              </a:rPr>
              <a:t>cout</a:t>
            </a:r>
            <a:r>
              <a:rPr lang="en-US" altLang="zh-CN" sz="1800" dirty="0">
                <a:solidFill>
                  <a:srgbClr val="FFFF00"/>
                </a:solidFill>
              </a:rPr>
              <a:t>&lt;&lt;“x from </a:t>
            </a:r>
            <a:r>
              <a:rPr lang="en-US" altLang="zh-CN" sz="1800" dirty="0" smtClean="0">
                <a:solidFill>
                  <a:srgbClr val="FFFF00"/>
                </a:solidFill>
              </a:rPr>
              <a:t>main”&lt;&lt;</a:t>
            </a:r>
            <a:r>
              <a:rPr lang="en-US" altLang="zh-CN" sz="1800" dirty="0">
                <a:solidFill>
                  <a:srgbClr val="FFFF00"/>
                </a:solidFill>
              </a:rPr>
              <a:t>x</a:t>
            </a:r>
            <a:r>
              <a:rPr lang="en-US" altLang="zh-CN" sz="1800" dirty="0" smtClean="0">
                <a:solidFill>
                  <a:srgbClr val="FFFF00"/>
                </a:solidFill>
              </a:rPr>
              <a:t>&lt;&lt;“\n”;</a:t>
            </a:r>
            <a:br>
              <a:rPr lang="en-US" altLang="zh-CN" sz="1800" dirty="0" smtClean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	</a:t>
            </a:r>
            <a:r>
              <a:rPr lang="en-US" altLang="zh-CN" dirty="0" err="1">
                <a:solidFill>
                  <a:srgbClr val="FFFF00"/>
                </a:solidFill>
              </a:rPr>
              <a:t>cout</a:t>
            </a:r>
            <a:r>
              <a:rPr lang="en-US" altLang="zh-CN" dirty="0" smtClean="0">
                <a:solidFill>
                  <a:srgbClr val="FFFF00"/>
                </a:solidFill>
              </a:rPr>
              <a:t>&lt;&lt;“y </a:t>
            </a:r>
            <a:r>
              <a:rPr lang="en-US" altLang="zh-CN" dirty="0">
                <a:solidFill>
                  <a:srgbClr val="FFFF00"/>
                </a:solidFill>
              </a:rPr>
              <a:t>from main</a:t>
            </a:r>
            <a:r>
              <a:rPr lang="en-US" altLang="zh-CN" dirty="0" smtClean="0">
                <a:solidFill>
                  <a:srgbClr val="FFFF00"/>
                </a:solidFill>
              </a:rPr>
              <a:t>”&lt;&lt;y&lt;“\</a:t>
            </a:r>
            <a:r>
              <a:rPr lang="en-US" altLang="zh-CN" dirty="0">
                <a:solidFill>
                  <a:srgbClr val="FFFF00"/>
                </a:solidFill>
              </a:rPr>
              <a:t>n</a:t>
            </a:r>
            <a:r>
              <a:rPr lang="en-US" altLang="zh-CN" dirty="0" smtClean="0">
                <a:solidFill>
                  <a:srgbClr val="FFFF00"/>
                </a:solidFill>
              </a:rPr>
              <a:t>”;</a:t>
            </a:r>
            <a:br>
              <a:rPr lang="en-US" altLang="zh-CN" dirty="0" smtClean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	</a:t>
            </a:r>
            <a:r>
              <a:rPr lang="en-US" altLang="zh-CN" dirty="0" err="1" smtClean="0">
                <a:solidFill>
                  <a:srgbClr val="FFFF00"/>
                </a:solidFill>
              </a:rPr>
              <a:t>myFunction</a:t>
            </a:r>
            <a:r>
              <a:rPr lang="en-US" altLang="zh-CN" dirty="0" smtClean="0">
                <a:solidFill>
                  <a:srgbClr val="FFFF00"/>
                </a:solidFill>
              </a:rPr>
              <a:t>();</a:t>
            </a:r>
            <a:br>
              <a:rPr lang="en-US" altLang="zh-CN" dirty="0" smtClean="0">
                <a:solidFill>
                  <a:srgbClr val="FFFF00"/>
                </a:solidFill>
              </a:rPr>
            </a:br>
            <a:r>
              <a:rPr lang="en-US" altLang="zh-CN" dirty="0" smtClean="0">
                <a:solidFill>
                  <a:srgbClr val="FFFF00"/>
                </a:solidFill>
              </a:rPr>
              <a:t>	</a:t>
            </a:r>
            <a:r>
              <a:rPr lang="en-US" altLang="zh-CN" dirty="0" err="1" smtClean="0">
                <a:solidFill>
                  <a:srgbClr val="FFFF00"/>
                </a:solidFill>
              </a:rPr>
              <a:t>cout</a:t>
            </a:r>
            <a:r>
              <a:rPr lang="en-US" altLang="zh-CN" dirty="0" smtClean="0">
                <a:solidFill>
                  <a:srgbClr val="FFFF00"/>
                </a:solidFill>
              </a:rPr>
              <a:t>&lt;&lt;“Back from </a:t>
            </a:r>
            <a:r>
              <a:rPr lang="en-US" altLang="zh-CN" dirty="0" err="1" smtClean="0">
                <a:solidFill>
                  <a:srgbClr val="FFFF00"/>
                </a:solidFill>
              </a:rPr>
              <a:t>myFunction</a:t>
            </a:r>
            <a:r>
              <a:rPr lang="en-US" altLang="zh-CN" dirty="0" smtClean="0">
                <a:solidFill>
                  <a:srgbClr val="FFFF00"/>
                </a:solidFill>
              </a:rPr>
              <a:t>!\n\n”;</a:t>
            </a:r>
            <a:br>
              <a:rPr lang="en-US" altLang="zh-CN" dirty="0" smtClean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	</a:t>
            </a:r>
            <a:r>
              <a:rPr lang="en-US" altLang="zh-CN" dirty="0" err="1">
                <a:solidFill>
                  <a:srgbClr val="FFFF00"/>
                </a:solidFill>
              </a:rPr>
              <a:t>cout</a:t>
            </a:r>
            <a:r>
              <a:rPr lang="en-US" altLang="zh-CN" dirty="0">
                <a:solidFill>
                  <a:srgbClr val="FFFF00"/>
                </a:solidFill>
              </a:rPr>
              <a:t>&lt;&lt;“x from main”&lt;&lt;x&lt;&lt;“\n”;</a:t>
            </a:r>
            <a:br>
              <a:rPr lang="en-US" altLang="zh-CN" dirty="0">
                <a:solidFill>
                  <a:srgbClr val="FFFF00"/>
                </a:solidFill>
              </a:rPr>
            </a:br>
            <a:r>
              <a:rPr lang="en-US" altLang="zh-CN" dirty="0">
                <a:solidFill>
                  <a:srgbClr val="FFFF00"/>
                </a:solidFill>
              </a:rPr>
              <a:t>	</a:t>
            </a:r>
            <a:r>
              <a:rPr lang="en-US" altLang="zh-CN" dirty="0" err="1">
                <a:solidFill>
                  <a:srgbClr val="FFFF00"/>
                </a:solidFill>
              </a:rPr>
              <a:t>cout</a:t>
            </a:r>
            <a:r>
              <a:rPr lang="en-US" altLang="zh-CN" dirty="0">
                <a:solidFill>
                  <a:srgbClr val="FFFF00"/>
                </a:solidFill>
              </a:rPr>
              <a:t>&lt;&lt;“y from main”&lt;&lt;y&lt;“\n”;</a:t>
            </a:r>
            <a:endParaRPr lang="en-US" altLang="zh-CN" sz="2400" dirty="0">
              <a:solidFill>
                <a:srgbClr val="FFFF00"/>
              </a:solidFill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	return 0;</a:t>
            </a:r>
            <a:b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}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5-7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5-13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5-16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</a:t>
            </a:r>
            <a:endParaRPr lang="zh-CN" altLang="en-US" dirty="0">
              <a:latin typeface="+mn-lt"/>
              <a:ea typeface="+mj-ea"/>
            </a:endParaRP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1293018" y="225428"/>
            <a:ext cx="731361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第</a:t>
            </a:r>
            <a:r>
              <a:rPr lang="en-US" altLang="zh-CN" sz="4400" i="1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5</a:t>
            </a:r>
            <a:r>
              <a:rPr lang="zh-CN" altLang="en-US" sz="4400" i="1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讲 </a:t>
            </a:r>
            <a:r>
              <a:rPr lang="zh-CN" altLang="en-US" sz="44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课后练习</a:t>
            </a:r>
            <a:endParaRPr lang="zh-CN" altLang="en-US" sz="44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755576" y="1787526"/>
            <a:ext cx="7956550" cy="7508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作业：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5-7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、定义一个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Cat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类，拥有静态数据成员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numOfCats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，记录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Cat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的个体数目；静态成员函数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getNumOfCats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()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，读取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numOfCats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。设计程序测试这个类，体会静态数据成员和静态成员函数的用法。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5-13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、定义类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Y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Z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，函数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h(X *)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，满足：类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有私有成员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，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Y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的成员函数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g(X *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）是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的友元函数，实现对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的成员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加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1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；类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Z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是类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是友元类，其成员函数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f(X *)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实现对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的成员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加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；函数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h(X*)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是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的友元函数，实现对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X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的成员</a:t>
            </a:r>
            <a:r>
              <a:rPr lang="en-US" altLang="zh-CN" dirty="0" err="1" smtClean="0">
                <a:solidFill>
                  <a:srgbClr val="FFFF00"/>
                </a:solidFill>
                <a:latin typeface="+mn-lt"/>
                <a:ea typeface="+mj-ea"/>
              </a:rPr>
              <a:t>i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加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10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。在一个文件中定义和实现类，在另一个文件中实现</a:t>
            </a: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main()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函数。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endParaRPr lang="zh-CN" altLang="en-US" dirty="0">
              <a:latin typeface="+mn-lt"/>
              <a:ea typeface="+mj-ea"/>
            </a:endParaRP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1293018" y="225428"/>
            <a:ext cx="731361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第</a:t>
            </a:r>
            <a:r>
              <a:rPr lang="en-US" altLang="zh-CN" sz="4400" i="1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5</a:t>
            </a:r>
            <a:r>
              <a:rPr lang="zh-CN" altLang="en-US" sz="4400" i="1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讲 </a:t>
            </a:r>
            <a:r>
              <a:rPr lang="zh-CN" altLang="en-US" sz="44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课后练习</a:t>
            </a:r>
            <a:endParaRPr lang="zh-CN" altLang="en-US" sz="44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755576" y="1787526"/>
            <a:ext cx="7956550" cy="75088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lIns="0" rIns="0"/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655955" indent="-4762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333500" indent="-4191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作业：</a:t>
            </a:r>
            <a:endParaRPr lang="en-US" altLang="zh-CN" dirty="0" smtClean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en-US" altLang="zh-CN" dirty="0" smtClean="0">
                <a:solidFill>
                  <a:srgbClr val="FFFF00"/>
                </a:solidFill>
                <a:latin typeface="+mn-lt"/>
                <a:ea typeface="+mj-ea"/>
              </a:rPr>
              <a:t>5-16</a:t>
            </a:r>
            <a:r>
              <a:rPr lang="zh-CN" altLang="en-US" dirty="0" smtClean="0">
                <a:solidFill>
                  <a:srgbClr val="FFFF00"/>
                </a:solidFill>
                <a:latin typeface="+mn-lt"/>
                <a:ea typeface="+mj-ea"/>
              </a:rPr>
              <a:t>、编译和连接着两个步骤的输入输出分别是什么类型的文件？？两个步骤的任务有什么不同？在以下几种情况下，在对程序进行编译、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连接时是否会报错？会在哪个步骤报错？</a:t>
            </a:r>
            <a:b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1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）定义了一个函数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void f(</a:t>
            </a:r>
            <a:r>
              <a:rPr lang="en-US" altLang="zh-CN" dirty="0" err="1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 x, </a:t>
            </a:r>
            <a:r>
              <a:rPr lang="en-US" altLang="zh-CN" dirty="0" err="1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 y)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，以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f(1)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的形式调用。</a:t>
            </a:r>
            <a:endParaRPr lang="en-US" altLang="zh-CN" dirty="0">
              <a:solidFill>
                <a:srgbClr val="FFFF00"/>
              </a:solidFill>
              <a:latin typeface="+mn-lt"/>
              <a:ea typeface="+mj-ea"/>
            </a:endParaRPr>
          </a:p>
          <a:p>
            <a:pPr marL="179705" lvl="1" indent="0" algn="l" eaLnBrk="1" hangingPunct="1">
              <a:lnSpc>
                <a:spcPct val="100000"/>
              </a:lnSpc>
              <a:spcBef>
                <a:spcPct val="20000"/>
              </a:spcBef>
              <a:spcAft>
                <a:spcPct val="10000"/>
              </a:spcAft>
              <a:buSzPct val="70000"/>
            </a:pP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2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）在源文件起始处声明了一个函数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void f(</a:t>
            </a:r>
            <a:r>
              <a:rPr lang="en-US" altLang="zh-CN" dirty="0" err="1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 x)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，但未给出其定义，以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f(1)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的形式调用。</a:t>
            </a:r>
            <a:b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3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）在源文件起始处声明了一个函数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void f(</a:t>
            </a:r>
            <a:r>
              <a:rPr lang="en-US" altLang="zh-CN" dirty="0" err="1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 x)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，但未给出其定义，也未对其进行调用。</a:t>
            </a:r>
            <a:b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</a:b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（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4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）在源文件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a.cpp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中定义了一个函数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void f(</a:t>
            </a:r>
            <a:r>
              <a:rPr lang="en-US" altLang="zh-CN" dirty="0" err="1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 x)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，在源文件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b.cpp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中也定义了一个函数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void f(</a:t>
            </a:r>
            <a:r>
              <a:rPr lang="en-US" altLang="zh-CN" dirty="0" err="1">
                <a:solidFill>
                  <a:srgbClr val="FFFF00"/>
                </a:solidFill>
                <a:latin typeface="+mn-lt"/>
                <a:ea typeface="+mj-ea"/>
              </a:rPr>
              <a:t>int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 x)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，试图将两源文件编译后连接在一起。</a:t>
            </a:r>
            <a:b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</a:br>
            <a:br>
              <a:rPr lang="en-US" altLang="zh-CN" sz="1800" dirty="0" smtClean="0">
                <a:solidFill>
                  <a:srgbClr val="FFFF00"/>
                </a:solidFill>
              </a:rPr>
            </a:br>
            <a:endParaRPr lang="zh-CN" altLang="en-US" dirty="0">
              <a:latin typeface="+mn-lt"/>
              <a:ea typeface="+mj-ea"/>
            </a:endParaRP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0" y="110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0" y="23796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0" y="2697163"/>
            <a:ext cx="9144000" cy="0"/>
          </a:xfrm>
          <a:prstGeom prst="rect">
            <a:avLst/>
          </a:prstGeom>
          <a:solidFill>
            <a:srgbClr val="F0F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1293018" y="225428"/>
            <a:ext cx="7313613" cy="725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u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第</a:t>
            </a:r>
            <a:r>
              <a:rPr lang="en-US" altLang="zh-CN" sz="4400" i="1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5</a:t>
            </a:r>
            <a:r>
              <a:rPr lang="zh-CN" altLang="en-US" sz="4400" i="1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讲 </a:t>
            </a:r>
            <a:r>
              <a:rPr lang="zh-CN" altLang="en-US" sz="4400" i="1" dirty="0" smtClean="0"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  <a:cs typeface="+mj-cs"/>
              </a:rPr>
              <a:t>课后练习</a:t>
            </a:r>
            <a:endParaRPr lang="zh-CN" altLang="en-US" sz="44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隶书" panose="02010509060101010101" pitchFamily="49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WordArt 2"/>
          <p:cNvSpPr>
            <a:spLocks noChangeArrowheads="1" noChangeShapeType="1" noTextEdit="1"/>
          </p:cNvSpPr>
          <p:nvPr/>
        </p:nvSpPr>
        <p:spPr bwMode="auto">
          <a:xfrm>
            <a:off x="4644008" y="5181600"/>
            <a:ext cx="3966592" cy="838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 dirty="0" smtClean="0"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华文彩云" panose="02010800040101010101" pitchFamily="2" charset="-122"/>
                <a:ea typeface="华文彩云" panose="02010800040101010101" pitchFamily="2" charset="-122"/>
              </a:rPr>
              <a:t>有问题吗？</a:t>
            </a:r>
            <a:endParaRPr lang="zh-CN" altLang="en-US" sz="3600" kern="10" dirty="0"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/>
                </a:outerShdw>
              </a:effectLst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  <p:pic>
        <p:nvPicPr>
          <p:cNvPr id="635907" name="Picture 3"/>
          <p:cNvPicPr>
            <a:picLocks noChangeAspect="1" noChangeArrowheads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grayscl/>
            <a:lum contras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48000"/>
            <a:ext cx="1828800" cy="1143000"/>
          </a:xfrm>
          <a:prstGeom prst="rect">
            <a:avLst/>
          </a:prstGeom>
          <a:noFill/>
          <a:effectLst>
            <a:prstShdw prst="shdw17">
              <a:srgbClr val="FFFFFF">
                <a:gamma/>
                <a:shade val="60000"/>
                <a:invGamma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5908" name="Text Box 4"/>
          <p:cNvSpPr txBox="1">
            <a:spLocks noChangeArrowheads="1"/>
          </p:cNvSpPr>
          <p:nvPr/>
        </p:nvSpPr>
        <p:spPr bwMode="auto">
          <a:xfrm>
            <a:off x="539552" y="1196752"/>
            <a:ext cx="8153400" cy="1142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lnSpc>
                <a:spcPct val="75000"/>
              </a:lnSpc>
              <a:spcBef>
                <a:spcPct val="50000"/>
              </a:spcBef>
            </a:pPr>
            <a:r>
              <a:rPr lang="zh-CN" altLang="en-US" sz="8800" dirty="0">
                <a:latin typeface="华文彩云" panose="02010800040101010101" pitchFamily="2" charset="-122"/>
                <a:ea typeface="华文彩云" panose="02010800040101010101" pitchFamily="2" charset="-122"/>
              </a:rPr>
              <a:t>本讲结束</a:t>
            </a:r>
            <a:endParaRPr lang="zh-CN" altLang="en-US" sz="8800" dirty="0"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35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06" grpId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ccc970f6-f035-47e1-903e-1a35c14382aa"/>
  <p:tag name="COMMONDATA" val="eyJoZGlkIjoiYjE5NTMxMzVkMjIwM2E5N2RhNTBjOGFiMGNlN2E4NzUifQ==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2A004E"/>
      </a:dk1>
      <a:lt1>
        <a:srgbClr val="FFFFFF"/>
      </a:lt1>
      <a:dk2>
        <a:srgbClr val="500093"/>
      </a:dk2>
      <a:lt2>
        <a:srgbClr val="00CCCC"/>
      </a:lt2>
      <a:accent1>
        <a:srgbClr val="D60093"/>
      </a:accent1>
      <a:accent2>
        <a:srgbClr val="0000FF"/>
      </a:accent2>
      <a:accent3>
        <a:srgbClr val="B3AAC8"/>
      </a:accent3>
      <a:accent4>
        <a:srgbClr val="DADADA"/>
      </a:accent4>
      <a:accent5>
        <a:srgbClr val="E8AAC8"/>
      </a:accent5>
      <a:accent6>
        <a:srgbClr val="0000E7"/>
      </a:accent6>
      <a:hlink>
        <a:srgbClr val="FFFF00"/>
      </a:hlink>
      <a:folHlink>
        <a:srgbClr val="7500D7"/>
      </a:folHlink>
    </a:clrScheme>
    <a:fontScheme name="Blank Presentation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36000" tIns="0" rIns="36000" bIns="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幼圆" panose="020105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36000" tIns="0" rIns="36000" bIns="0" numCol="1" anchor="ctr" anchorCtr="1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幼圆" panose="02010509060101010101" pitchFamily="49" charset="-122"/>
          </a:defRPr>
        </a:defPPr>
      </a:lstStyle>
    </a:lnDef>
    <a:txDef>
      <a:spPr bwMode="auto">
        <a:noFill/>
        <a:ln w="9525" algn="ctr">
          <a:noFill/>
          <a:miter lim="800000"/>
        </a:ln>
      </a:spPr>
      <a:bodyPr anchor="ctr"/>
      <a:lstStyle>
        <a:defPPr algn="l" eaLnBrk="1" hangingPunct="1">
          <a:lnSpc>
            <a:spcPct val="150000"/>
          </a:lnSpc>
          <a:spcBef>
            <a:spcPct val="50000"/>
          </a:spcBef>
          <a:defRPr sz="2400" dirty="0" smtClean="0"/>
        </a:defPPr>
      </a:lstStyle>
    </a:txDef>
  </a:objectDefaults>
  <a:extraClrSchemeLst>
    <a:extraClrScheme>
      <a:clrScheme name="Blank Presentation 1">
        <a:dk1>
          <a:srgbClr val="2A004E"/>
        </a:dk1>
        <a:lt1>
          <a:srgbClr val="FFFFFF"/>
        </a:lt1>
        <a:dk2>
          <a:srgbClr val="500093"/>
        </a:dk2>
        <a:lt2>
          <a:srgbClr val="00CCCC"/>
        </a:lt2>
        <a:accent1>
          <a:srgbClr val="D60093"/>
        </a:accent1>
        <a:accent2>
          <a:srgbClr val="0000FF"/>
        </a:accent2>
        <a:accent3>
          <a:srgbClr val="B3AAC8"/>
        </a:accent3>
        <a:accent4>
          <a:srgbClr val="DADADA"/>
        </a:accent4>
        <a:accent5>
          <a:srgbClr val="E8AAC8"/>
        </a:accent5>
        <a:accent6>
          <a:srgbClr val="0000E7"/>
        </a:accent6>
        <a:hlink>
          <a:srgbClr val="FFFF00"/>
        </a:hlink>
        <a:folHlink>
          <a:srgbClr val="7500D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CC99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2D5CE7"/>
        </a:accent6>
        <a:hlink>
          <a:srgbClr val="00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777777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B8B8B8"/>
        </a:accent6>
        <a:hlink>
          <a:srgbClr val="4D4D4D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00CCCC"/>
        </a:lt1>
        <a:dk2>
          <a:srgbClr val="FFFFCC"/>
        </a:dk2>
        <a:lt2>
          <a:srgbClr val="009999"/>
        </a:lt2>
        <a:accent1>
          <a:srgbClr val="CC99FF"/>
        </a:accent1>
        <a:accent2>
          <a:srgbClr val="3366FF"/>
        </a:accent2>
        <a:accent3>
          <a:srgbClr val="AAE2E2"/>
        </a:accent3>
        <a:accent4>
          <a:srgbClr val="000000"/>
        </a:accent4>
        <a:accent5>
          <a:srgbClr val="E2CAFF"/>
        </a:accent5>
        <a:accent6>
          <a:srgbClr val="2D5CE7"/>
        </a:accent6>
        <a:hlink>
          <a:srgbClr val="00CCFF"/>
        </a:hlink>
        <a:folHlink>
          <a:srgbClr val="00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3300"/>
        </a:dk1>
        <a:lt1>
          <a:srgbClr val="FFFFFF"/>
        </a:lt1>
        <a:dk2>
          <a:srgbClr val="669900"/>
        </a:dk2>
        <a:lt2>
          <a:srgbClr val="FFCC66"/>
        </a:lt2>
        <a:accent1>
          <a:srgbClr val="990033"/>
        </a:accent1>
        <a:accent2>
          <a:srgbClr val="FF9933"/>
        </a:accent2>
        <a:accent3>
          <a:srgbClr val="B8CAAA"/>
        </a:accent3>
        <a:accent4>
          <a:srgbClr val="DADADA"/>
        </a:accent4>
        <a:accent5>
          <a:srgbClr val="CAAAAD"/>
        </a:accent5>
        <a:accent6>
          <a:srgbClr val="E78A2D"/>
        </a:accent6>
        <a:hlink>
          <a:srgbClr val="CCCC00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663300"/>
        </a:dk1>
        <a:lt1>
          <a:srgbClr val="FFFFFF"/>
        </a:lt1>
        <a:dk2>
          <a:srgbClr val="CC6600"/>
        </a:dk2>
        <a:lt2>
          <a:srgbClr val="FFCC00"/>
        </a:lt2>
        <a:accent1>
          <a:srgbClr val="990033"/>
        </a:accent1>
        <a:accent2>
          <a:srgbClr val="FF0033"/>
        </a:accent2>
        <a:accent3>
          <a:srgbClr val="E2B8AA"/>
        </a:accent3>
        <a:accent4>
          <a:srgbClr val="DADADA"/>
        </a:accent4>
        <a:accent5>
          <a:srgbClr val="CAAAAD"/>
        </a:accent5>
        <a:accent6>
          <a:srgbClr val="E7002D"/>
        </a:accent6>
        <a:hlink>
          <a:srgbClr val="CC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660033"/>
        </a:dk1>
        <a:lt1>
          <a:srgbClr val="FFFFFF"/>
        </a:lt1>
        <a:dk2>
          <a:srgbClr val="990066"/>
        </a:dk2>
        <a:lt2>
          <a:srgbClr val="FFFF66"/>
        </a:lt2>
        <a:accent1>
          <a:srgbClr val="9933FF"/>
        </a:accent1>
        <a:accent2>
          <a:srgbClr val="00CCCC"/>
        </a:accent2>
        <a:accent3>
          <a:srgbClr val="CAAAB8"/>
        </a:accent3>
        <a:accent4>
          <a:srgbClr val="DADADA"/>
        </a:accent4>
        <a:accent5>
          <a:srgbClr val="CAADFF"/>
        </a:accent5>
        <a:accent6>
          <a:srgbClr val="00B9B9"/>
        </a:accent6>
        <a:hlink>
          <a:srgbClr val="CC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22858</Words>
  <Application>WPS 演示</Application>
  <PresentationFormat>全屏显示(4:3)</PresentationFormat>
  <Paragraphs>1699</Paragraphs>
  <Slides>128</Slides>
  <Notes>14</Notes>
  <HiddenSlides>9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128</vt:i4>
      </vt:variant>
    </vt:vector>
  </HeadingPairs>
  <TitlesOfParts>
    <vt:vector size="150" baseType="lpstr">
      <vt:lpstr>Arial</vt:lpstr>
      <vt:lpstr>宋体</vt:lpstr>
      <vt:lpstr>Wingdings</vt:lpstr>
      <vt:lpstr>Times New Roman</vt:lpstr>
      <vt:lpstr>幼圆</vt:lpstr>
      <vt:lpstr>隶书</vt:lpstr>
      <vt:lpstr>Monotype Sorts</vt:lpstr>
      <vt:lpstr>Wingdings</vt:lpstr>
      <vt:lpstr>Book Antiqua</vt:lpstr>
      <vt:lpstr>黑体</vt:lpstr>
      <vt:lpstr>华文行楷</vt:lpstr>
      <vt:lpstr>方正舒体</vt:lpstr>
      <vt:lpstr>华文中宋</vt:lpstr>
      <vt:lpstr>华文彩云</vt:lpstr>
      <vt:lpstr>Verdana</vt:lpstr>
      <vt:lpstr>华文楷体</vt:lpstr>
      <vt:lpstr>Georgia</vt:lpstr>
      <vt:lpstr>微软雅黑</vt:lpstr>
      <vt:lpstr>Arial Unicode MS</vt:lpstr>
      <vt:lpstr>Georgia</vt:lpstr>
      <vt:lpstr>Wingdings 3</vt:lpstr>
      <vt:lpstr>Blank Presentation</vt:lpstr>
      <vt:lpstr>PowerPoint 演示文稿</vt:lpstr>
      <vt:lpstr>PowerPoint 演示文稿</vt:lpstr>
      <vt:lpstr>  数据的共享、保护 </vt:lpstr>
      <vt:lpstr>标识符的作用域和可见性</vt:lpstr>
      <vt:lpstr>PowerPoint 演示文稿</vt:lpstr>
      <vt:lpstr>PowerPoint 演示文稿</vt:lpstr>
      <vt:lpstr>5.1.1 作用域</vt:lpstr>
      <vt:lpstr>函数原型的作用域</vt:lpstr>
      <vt:lpstr>局部作用域</vt:lpstr>
      <vt:lpstr>类作用域</vt:lpstr>
      <vt:lpstr>文件作用域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5.1.2 可见性</vt:lpstr>
      <vt:lpstr>5.1.2 可见性（续）</vt:lpstr>
      <vt:lpstr>同一作用域中的同名标识符</vt:lpstr>
      <vt:lpstr>   对象的生存期</vt:lpstr>
      <vt:lpstr>5.2 对象的生存期</vt:lpstr>
      <vt:lpstr>5.2.1 静态生存期</vt:lpstr>
      <vt:lpstr>5.2.2 动态生存期</vt:lpstr>
      <vt:lpstr>例5-2 变量的生存期与可见性</vt:lpstr>
      <vt:lpstr>例5-2 续</vt:lpstr>
      <vt:lpstr>例5-2（续）</vt:lpstr>
      <vt:lpstr>例5-3 具有静态和动态生存期的时钟程序。</vt:lpstr>
      <vt:lpstr>例5-3 具有静态和动态生存期的时钟程序。</vt:lpstr>
      <vt:lpstr>例5-3 续</vt:lpstr>
      <vt:lpstr>例5-3（续）</vt:lpstr>
      <vt:lpstr>类的静态成员</vt:lpstr>
      <vt:lpstr>在介绍静态成员 之前</vt:lpstr>
      <vt:lpstr>5.3.1 静态数据成员</vt:lpstr>
      <vt:lpstr>静态成员定义格式：</vt:lpstr>
      <vt:lpstr>例5-4 具有静态数据成员的Point类</vt:lpstr>
      <vt:lpstr>例5-4 静态成员举例</vt:lpstr>
      <vt:lpstr>例5-4 续</vt:lpstr>
      <vt:lpstr>例5-4 （续）</vt:lpstr>
      <vt:lpstr>5.3.2 静态函数成员</vt:lpstr>
      <vt:lpstr>静态成员定义格式：</vt:lpstr>
      <vt:lpstr>例5-5具有静态数据、函数成员的 Point类</vt:lpstr>
      <vt:lpstr>例5-5 静态成员举例</vt:lpstr>
      <vt:lpstr>例5-5 （续）</vt:lpstr>
      <vt:lpstr>        类的友元</vt:lpstr>
      <vt:lpstr>5.4 类的友元</vt:lpstr>
      <vt:lpstr>5.4.1 友元函数</vt:lpstr>
      <vt:lpstr>5.4.1 友元函数</vt:lpstr>
      <vt:lpstr>5.4.1 友元函数</vt:lpstr>
      <vt:lpstr>例5-6 使用友元函数计算两点间的距离</vt:lpstr>
      <vt:lpstr>例5-6 （续）</vt:lpstr>
      <vt:lpstr>5.4.1 友元函数</vt:lpstr>
      <vt:lpstr>PowerPoint 演示文稿</vt:lpstr>
      <vt:lpstr>PowerPoint 演示文稿</vt:lpstr>
      <vt:lpstr>PowerPoint 演示文稿</vt:lpstr>
      <vt:lpstr>5.4.2 友元类</vt:lpstr>
      <vt:lpstr>友元类举例</vt:lpstr>
      <vt:lpstr>PowerPoint 演示文稿</vt:lpstr>
      <vt:lpstr>友元关系是单向的</vt:lpstr>
      <vt:lpstr>  共享数据的保护</vt:lpstr>
      <vt:lpstr>5.5 共享数据的保护</vt:lpstr>
      <vt:lpstr>常类型（C++中的常类型）</vt:lpstr>
      <vt:lpstr>PowerPoint 演示文稿</vt:lpstr>
      <vt:lpstr>PowerPoint 演示文稿</vt:lpstr>
      <vt:lpstr>5.5.1 常对象</vt:lpstr>
      <vt:lpstr>5.5.2用const修饰的对象成员</vt:lpstr>
      <vt:lpstr>PowerPoint 演示文稿</vt:lpstr>
      <vt:lpstr>例5-7  常成员函数举例</vt:lpstr>
      <vt:lpstr>例5-7（续）</vt:lpstr>
      <vt:lpstr>PowerPoint 演示文稿</vt:lpstr>
      <vt:lpstr>例5-8  常数据成员举例</vt:lpstr>
      <vt:lpstr>例5-8（续）</vt:lpstr>
      <vt:lpstr>PowerPoint 演示文稿</vt:lpstr>
      <vt:lpstr>5.5.3 常引用</vt:lpstr>
      <vt:lpstr>例5-9  常引用作形参</vt:lpstr>
      <vt:lpstr>例5-9 （续）</vt:lpstr>
      <vt:lpstr>多文件结构和 编译预处理命令</vt:lpstr>
      <vt:lpstr>5.6.1 C++程序的一般组织结构</vt:lpstr>
      <vt:lpstr>例 5-10具有静态数据、函数成员的 Point类，多文件组织</vt:lpstr>
      <vt:lpstr>例 5-10（续）</vt:lpstr>
      <vt:lpstr>例 5-10（续）</vt:lpstr>
      <vt:lpstr>例5-10（续）</vt:lpstr>
      <vt:lpstr>外部变量</vt:lpstr>
      <vt:lpstr>外部函数</vt:lpstr>
      <vt:lpstr>将变量和函数限制在编译单元内</vt:lpstr>
      <vt:lpstr>5.6.3 标准C++库</vt:lpstr>
      <vt:lpstr>5.6.4 编译预处理</vt:lpstr>
      <vt:lpstr>文件包含</vt:lpstr>
      <vt:lpstr>文件包含</vt:lpstr>
      <vt:lpstr>宏(一般形式，不带参数的宏)</vt:lpstr>
      <vt:lpstr>宏（不带参数的宏，范例)</vt:lpstr>
      <vt:lpstr>宏（不带参数的宏，注意事项)</vt:lpstr>
      <vt:lpstr>宏(带参数的宏，类函数宏)</vt:lpstr>
      <vt:lpstr>宏（类函数宏，范例)</vt:lpstr>
      <vt:lpstr> 宏（类函数宏，注意事项)</vt:lpstr>
      <vt:lpstr>宏（类函数宏与函数的比较)</vt:lpstr>
      <vt:lpstr>宏（类函数宏与函数的比较)</vt:lpstr>
      <vt:lpstr>条件编译指令——#if 和 #endif</vt:lpstr>
      <vt:lpstr>条件编译指令——#else</vt:lpstr>
      <vt:lpstr>条件编译指令——#elif</vt:lpstr>
      <vt:lpstr>条件编译指令（续）</vt:lpstr>
      <vt:lpstr>条件编译指令（续）</vt:lpstr>
      <vt:lpstr>综合实例 ——个人银行账户管理程序</vt:lpstr>
      <vt:lpstr>5.7.1 问题的提出</vt:lpstr>
      <vt:lpstr>5.7.2 个人银行账户管理程序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深度探索</vt:lpstr>
      <vt:lpstr>5.8.1 常成员函数的声明原则</vt:lpstr>
      <vt:lpstr>5.8.1 常成员函数的声明原则</vt:lpstr>
      <vt:lpstr>5.8.1 常成员函数的声明原则</vt:lpstr>
      <vt:lpstr>5.8.2 代码的编译连接与执行过程</vt:lpstr>
      <vt:lpstr>PowerPoint 演示文稿</vt:lpstr>
      <vt:lpstr>PowerPoint 演示文稿</vt:lpstr>
      <vt:lpstr>本讲小结</vt:lpstr>
      <vt:lpstr>本讲主要知识点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谭成予</dc:creator>
  <cp:lastModifiedBy>刘峰</cp:lastModifiedBy>
  <cp:revision>1713</cp:revision>
  <cp:lastPrinted>1996-09-12T11:44:00Z</cp:lastPrinted>
  <dcterms:created xsi:type="dcterms:W3CDTF">1999-08-09T22:53:00Z</dcterms:created>
  <dcterms:modified xsi:type="dcterms:W3CDTF">2023-11-07T06:28:49Z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2BC50EDF975A46E6A24A58D3B99A6796_12</vt:lpwstr>
  </property>
  <property fmtid="{D5CDD505-2E9C-101B-9397-08002B2CF9AE}" pid="3" name="KSOProductBuildVer">
    <vt:lpwstr>2052-11.1.0.14309</vt:lpwstr>
  </property>
</Properties>
</file>