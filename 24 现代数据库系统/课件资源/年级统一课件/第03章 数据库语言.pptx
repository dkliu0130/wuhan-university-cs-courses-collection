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notesSlides/notesSlide4.xml" ContentType="application/vnd.openxmlformats-officedocument.presentationml.notesSlide+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5.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notesSlides/notesSlide6.xml" ContentType="application/vnd.openxmlformats-officedocument.presentationml.notesSlide+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notesSlides/notesSlide7.xml" ContentType="application/vnd.openxmlformats-officedocument.presentationml.notesSlide+xml"/>
  <Override PartName="/ppt/tags/tag19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0" r:id="rId2"/>
  </p:sldMasterIdLst>
  <p:notesMasterIdLst>
    <p:notesMasterId r:id="rId95"/>
  </p:notesMasterIdLst>
  <p:handoutMasterIdLst>
    <p:handoutMasterId r:id="rId96"/>
  </p:handoutMasterIdLst>
  <p:sldIdLst>
    <p:sldId id="256" r:id="rId3"/>
    <p:sldId id="526" r:id="rId4"/>
    <p:sldId id="527" r:id="rId5"/>
    <p:sldId id="2925" r:id="rId6"/>
    <p:sldId id="2926" r:id="rId7"/>
    <p:sldId id="2927" r:id="rId8"/>
    <p:sldId id="2928" r:id="rId9"/>
    <p:sldId id="2930" r:id="rId10"/>
    <p:sldId id="2931" r:id="rId11"/>
    <p:sldId id="2932" r:id="rId12"/>
    <p:sldId id="528" r:id="rId13"/>
    <p:sldId id="2933" r:id="rId14"/>
    <p:sldId id="2934" r:id="rId15"/>
    <p:sldId id="2935" r:id="rId16"/>
    <p:sldId id="2936" r:id="rId17"/>
    <p:sldId id="2937" r:id="rId18"/>
    <p:sldId id="2938" r:id="rId19"/>
    <p:sldId id="2940" r:id="rId20"/>
    <p:sldId id="2941" r:id="rId21"/>
    <p:sldId id="2942" r:id="rId22"/>
    <p:sldId id="2943" r:id="rId23"/>
    <p:sldId id="2944" r:id="rId24"/>
    <p:sldId id="2945" r:id="rId25"/>
    <p:sldId id="2946" r:id="rId26"/>
    <p:sldId id="2947" r:id="rId27"/>
    <p:sldId id="532" r:id="rId28"/>
    <p:sldId id="2951" r:id="rId29"/>
    <p:sldId id="2952" r:id="rId30"/>
    <p:sldId id="2953" r:id="rId31"/>
    <p:sldId id="3047" r:id="rId32"/>
    <p:sldId id="2954" r:id="rId33"/>
    <p:sldId id="2955" r:id="rId34"/>
    <p:sldId id="2956" r:id="rId35"/>
    <p:sldId id="2958" r:id="rId36"/>
    <p:sldId id="2959" r:id="rId37"/>
    <p:sldId id="2960" r:id="rId38"/>
    <p:sldId id="2961" r:id="rId39"/>
    <p:sldId id="2962" r:id="rId40"/>
    <p:sldId id="2963" r:id="rId41"/>
    <p:sldId id="2964" r:id="rId42"/>
    <p:sldId id="2965" r:id="rId43"/>
    <p:sldId id="2966" r:id="rId44"/>
    <p:sldId id="2968" r:id="rId45"/>
    <p:sldId id="2969" r:id="rId46"/>
    <p:sldId id="2971" r:id="rId47"/>
    <p:sldId id="2972" r:id="rId48"/>
    <p:sldId id="2973" r:id="rId49"/>
    <p:sldId id="2974" r:id="rId50"/>
    <p:sldId id="2976" r:id="rId51"/>
    <p:sldId id="2978" r:id="rId52"/>
    <p:sldId id="2980" r:id="rId53"/>
    <p:sldId id="2981" r:id="rId54"/>
    <p:sldId id="2982" r:id="rId55"/>
    <p:sldId id="2983" r:id="rId56"/>
    <p:sldId id="2984" r:id="rId57"/>
    <p:sldId id="2985" r:id="rId58"/>
    <p:sldId id="2986" r:id="rId59"/>
    <p:sldId id="2987" r:id="rId60"/>
    <p:sldId id="2988" r:id="rId61"/>
    <p:sldId id="2990" r:id="rId62"/>
    <p:sldId id="2991" r:id="rId63"/>
    <p:sldId id="2992" r:id="rId64"/>
    <p:sldId id="2994" r:id="rId65"/>
    <p:sldId id="3003" r:id="rId66"/>
    <p:sldId id="3004" r:id="rId67"/>
    <p:sldId id="3005" r:id="rId68"/>
    <p:sldId id="3006" r:id="rId69"/>
    <p:sldId id="3007" r:id="rId70"/>
    <p:sldId id="531" r:id="rId71"/>
    <p:sldId id="3009" r:id="rId72"/>
    <p:sldId id="3012" r:id="rId73"/>
    <p:sldId id="3013" r:id="rId74"/>
    <p:sldId id="3014" r:id="rId75"/>
    <p:sldId id="3016" r:id="rId76"/>
    <p:sldId id="3017" r:id="rId77"/>
    <p:sldId id="3018" r:id="rId78"/>
    <p:sldId id="3019" r:id="rId79"/>
    <p:sldId id="3020" r:id="rId80"/>
    <p:sldId id="3051" r:id="rId81"/>
    <p:sldId id="2948" r:id="rId82"/>
    <p:sldId id="2949" r:id="rId83"/>
    <p:sldId id="2950" r:id="rId84"/>
    <p:sldId id="3052" r:id="rId85"/>
    <p:sldId id="3008" r:id="rId86"/>
    <p:sldId id="3049" r:id="rId87"/>
    <p:sldId id="3050" r:id="rId88"/>
    <p:sldId id="3039" r:id="rId89"/>
    <p:sldId id="3040" r:id="rId90"/>
    <p:sldId id="3042" r:id="rId91"/>
    <p:sldId id="3045" r:id="rId92"/>
    <p:sldId id="3046" r:id="rId93"/>
    <p:sldId id="3034" r:id="rId94"/>
  </p:sldIdLst>
  <p:sldSz cx="9144000" cy="5143500" type="screen16x9"/>
  <p:notesSz cx="5143500" cy="9144000"/>
  <p:embeddedFontLst>
    <p:embeddedFont>
      <p:font typeface="Microsoft YaHei" panose="020B0503020204020204" pitchFamily="34" charset="-122"/>
      <p:regular r:id="rId97"/>
      <p:bold r:id="rId98"/>
    </p:embeddedFont>
    <p:embeddedFont>
      <p:font typeface="等线" panose="02010600030101010101" pitchFamily="2" charset="-122"/>
      <p:regular r:id="rId99"/>
      <p:bold r:id="rId100"/>
    </p:embeddedFont>
    <p:embeddedFont>
      <p:font typeface="楷体" panose="02010609060101010101" pitchFamily="49" charset="-122"/>
      <p:regular r:id="rId101"/>
    </p:embeddedFont>
    <p:embeddedFont>
      <p:font typeface="Cambria Math" panose="02040503050406030204" pitchFamily="18" charset="0"/>
      <p:regular r:id="rId102"/>
    </p:embeddedFont>
    <p:embeddedFont>
      <p:font typeface="Tahoma" panose="020B0604030504040204" pitchFamily="34" charset="0"/>
      <p:regular r:id="rId103"/>
      <p:bold r:id="rId10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E9CF"/>
    <a:srgbClr val="D1D9D2"/>
    <a:srgbClr val="CBC11E"/>
    <a:srgbClr val="DCE1CC"/>
    <a:srgbClr val="F8D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64"/>
    <p:restoredTop sz="94610"/>
  </p:normalViewPr>
  <p:slideViewPr>
    <p:cSldViewPr snapToGrid="0" snapToObjects="1">
      <p:cViewPr varScale="1">
        <p:scale>
          <a:sx n="164" d="100"/>
          <a:sy n="164" d="100"/>
        </p:scale>
        <p:origin x="520" y="168"/>
      </p:cViewPr>
      <p:guideLst/>
    </p:cSldViewPr>
  </p:slideViewPr>
  <p:notesTextViewPr>
    <p:cViewPr>
      <p:scale>
        <a:sx n="1" d="1"/>
        <a:sy n="1" d="1"/>
      </p:scale>
      <p:origin x="0" y="0"/>
    </p:cViewPr>
  </p:notesTextViewPr>
  <p:notesViewPr>
    <p:cSldViewPr snapToGrid="0" snapToObjects="1">
      <p:cViewPr varScale="1">
        <p:scale>
          <a:sx n="97" d="100"/>
          <a:sy n="97" d="100"/>
        </p:scale>
        <p:origin x="4848" y="20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theme" Target="theme/theme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font" Target="fonts/font6.fntdata"/><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notesMaster" Target="notesMasters/notes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font" Target="fonts/font7.fntdata"/><Relationship Id="rId108"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font" Target="fonts/font3.fntdata"/><Relationship Id="rId101"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font" Target="fonts/font1.fntdata"/><Relationship Id="rId104" Type="http://schemas.openxmlformats.org/officeDocument/2006/relationships/font" Target="fonts/font8.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font" Target="fonts/font4.fntdata"/><Relationship Id="rId105"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font" Target="fonts/font2.fntdata"/><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A54FDA4-1F5A-8E9B-F685-24508D12D3F2}"/>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94388EB6-7A6A-6C45-C8ED-51C2F3086E3F}"/>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864365D0-91AF-7C42-AA19-7374AA81A0FF}" type="datetimeFigureOut">
              <a:rPr kumimoji="1" lang="zh-CN" altLang="en-US" smtClean="0"/>
              <a:t>2026/2/22</a:t>
            </a:fld>
            <a:endParaRPr kumimoji="1" lang="zh-CN" altLang="en-US"/>
          </a:p>
        </p:txBody>
      </p:sp>
      <p:sp>
        <p:nvSpPr>
          <p:cNvPr id="4" name="页脚占位符 3">
            <a:extLst>
              <a:ext uri="{FF2B5EF4-FFF2-40B4-BE49-F238E27FC236}">
                <a16:creationId xmlns:a16="http://schemas.microsoft.com/office/drawing/2014/main" id="{DF51B93B-EB01-5753-6A27-D70A8D221524}"/>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FFD3C135-B8B3-7B34-CB44-D7AD55C9D4A2}"/>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86E0F489-628A-E24B-97F8-426382C01659}" type="slidenum">
              <a:rPr kumimoji="1" lang="zh-CN" altLang="en-US" smtClean="0"/>
              <a:t>‹#›</a:t>
            </a:fld>
            <a:endParaRPr kumimoji="1" lang="zh-CN" altLang="en-US"/>
          </a:p>
        </p:txBody>
      </p:sp>
    </p:spTree>
    <p:extLst>
      <p:ext uri="{BB962C8B-B14F-4D97-AF65-F5344CB8AC3E}">
        <p14:creationId xmlns:p14="http://schemas.microsoft.com/office/powerpoint/2010/main" val="22163815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92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6BFEB-7536-E7CD-8AFB-36D307424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CB7FC-CD25-BA42-F707-5D78D2757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17B8CD-799F-0C58-085A-1B9784776B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C30EB3-0045-8652-2AB3-5017997CF68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007499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911DE-6186-BC75-2CD9-B114A6B63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2F406-038B-7210-ABE3-4913E85C1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64DC6-A124-8940-CD49-75A11A5673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FBF224-4C24-F808-0AA9-A1EF9B37BAA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646747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66083-0EF0-48AB-C67C-FD55AF9FEE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F72BB-E218-F384-6081-924DE4764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A41E3-5E4D-BB50-6B0D-E5B6603DF9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5E7D9D-69E1-EA4B-75DD-FB1C60ABE65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01058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65BB7-4ECB-B74C-C5BE-FC234CB7E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3F801-8CC1-232D-3995-718EFDECF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559871-C2D8-BD49-E653-BD59CB574C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388C51-7E60-BF95-73E9-029E7920C219}"/>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608015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E89F6-7A8F-C273-EEB4-2089718684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9449A6-0416-F89C-5624-3310431AFD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CB529B-32B5-E124-AD51-80924F683D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9F9886-57CA-E487-B85A-49AA8E285CAD}"/>
              </a:ext>
            </a:extLst>
          </p:cNvPr>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2859010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A6E36-9827-378B-C7E3-2CB4F1946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DF9AF0-548E-07A1-2EA7-8888186A5E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4D573-14D0-B7E8-CE55-E8D64E39CA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83D5B7-5117-7D8D-4A8E-05721935012D}"/>
              </a:ext>
            </a:extLst>
          </p:cNvPr>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2515770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4"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4"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4"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4"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4"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4"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4"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4"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4"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4"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4"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4"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 Id="rId4"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4"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4"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4"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 Id="rId4"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 Id="rId4"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4"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4"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4"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4"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 Id="rId4"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 Id="rId4"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 Id="rId4"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 Id="rId4"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 Id="rId4"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 Id="rId4"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 Id="rId4"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 Id="rId4"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 Id="rId4"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 Id="rId4"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 Id="rId4"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 Id="rId4"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 Id="rId4"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 Id="rId4"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DB7416-F2C8-CB05-21A9-12D30740D43B}"/>
              </a:ext>
            </a:extLst>
          </p:cNvPr>
          <p:cNvSpPr>
            <a:spLocks noGrp="1"/>
          </p:cNvSpPr>
          <p:nvPr>
            <p:ph type="title"/>
          </p:nvPr>
        </p:nvSpPr>
        <p:spPr>
          <a:xfrm>
            <a:off x="628650" y="2408238"/>
            <a:ext cx="7886700" cy="993775"/>
          </a:xfrm>
          <a:prstGeom prst="rect">
            <a:avLst/>
          </a:prstGeom>
        </p:spPr>
        <p:txBody>
          <a:bodyPr/>
          <a:lstStyle/>
          <a:p>
            <a:r>
              <a:rPr kumimoji="1" lang="zh-CN" altLang="en-US"/>
              <a:t>单击此处编辑母版标题样式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0"/>
            <a:ext cx="6240462" cy="62865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0" y="800100"/>
            <a:ext cx="4495800" cy="43434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800100"/>
            <a:ext cx="4495800" cy="43434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p:cNvSpPr>
            <a:spLocks noGrp="1" noChangeArrowheads="1"/>
          </p:cNvSpPr>
          <p:nvPr>
            <p:ph type="sldNum" sz="quarter" idx="10"/>
          </p:nvPr>
        </p:nvSpPr>
        <p:spPr/>
        <p:txBody>
          <a:bodyPr/>
          <a:lstStyle>
            <a:lvl1pPr>
              <a:defRPr/>
            </a:lvl1pPr>
          </a:lstStyle>
          <a:p>
            <a:pPr>
              <a:defRPr/>
            </a:pPr>
            <a:fld id="{A48DB317-737D-4E41-A6A0-70A94F917B0E}" type="slidenum">
              <a:rPr lang="zh-CN" altLang="en-US"/>
              <a:t>‹#›</a:t>
            </a:fld>
            <a:endParaRPr lang="zh-CN" altLang="en-US"/>
          </a:p>
        </p:txBody>
      </p:sp>
    </p:spTree>
    <p:extLst>
      <p:ext uri="{BB962C8B-B14F-4D97-AF65-F5344CB8AC3E}">
        <p14:creationId xmlns:p14="http://schemas.microsoft.com/office/powerpoint/2010/main" val="258925189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sldNum" sz="quarter" idx="10"/>
          </p:nvPr>
        </p:nvSpPr>
        <p:spPr/>
        <p:txBody>
          <a:bodyPr/>
          <a:lstStyle>
            <a:lvl1pPr>
              <a:defRPr/>
            </a:lvl1pPr>
          </a:lstStyle>
          <a:p>
            <a:pPr>
              <a:defRPr/>
            </a:pPr>
            <a:fld id="{55503B5A-5684-9C48-B06E-1F29FFC2BF0F}" type="slidenum">
              <a:rPr lang="zh-CN" altLang="en-US"/>
              <a:t>‹#›</a:t>
            </a:fld>
            <a:endParaRPr lang="zh-CN" altLang="en-US"/>
          </a:p>
        </p:txBody>
      </p:sp>
    </p:spTree>
    <p:extLst>
      <p:ext uri="{BB962C8B-B14F-4D97-AF65-F5344CB8AC3E}">
        <p14:creationId xmlns:p14="http://schemas.microsoft.com/office/powerpoint/2010/main" val="333359415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0" y="800100"/>
            <a:ext cx="4495800" cy="4343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800100"/>
            <a:ext cx="4495800" cy="4343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p:cNvSpPr>
            <a:spLocks noGrp="1" noChangeArrowheads="1"/>
          </p:cNvSpPr>
          <p:nvPr>
            <p:ph type="sldNum" sz="quarter" idx="10"/>
          </p:nvPr>
        </p:nvSpPr>
        <p:spPr/>
        <p:txBody>
          <a:bodyPr/>
          <a:lstStyle>
            <a:lvl1pPr>
              <a:defRPr/>
            </a:lvl1pPr>
          </a:lstStyle>
          <a:p>
            <a:pPr>
              <a:defRPr/>
            </a:pPr>
            <a:fld id="{2D121F39-B3A4-B24B-B9AD-B8BC9597B1E5}" type="slidenum">
              <a:rPr lang="zh-CN" altLang="en-US"/>
              <a:t>‹#›</a:t>
            </a:fld>
            <a:endParaRPr lang="zh-CN" altLang="en-US"/>
          </a:p>
        </p:txBody>
      </p:sp>
    </p:spTree>
    <p:extLst>
      <p:ext uri="{BB962C8B-B14F-4D97-AF65-F5344CB8AC3E}">
        <p14:creationId xmlns:p14="http://schemas.microsoft.com/office/powerpoint/2010/main" val="29637781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
          <p:cNvSpPr>
            <a:spLocks noGrp="1" noChangeArrowheads="1"/>
          </p:cNvSpPr>
          <p:nvPr>
            <p:ph type="sldNum" sz="quarter" idx="10"/>
          </p:nvPr>
        </p:nvSpPr>
        <p:spPr/>
        <p:txBody>
          <a:bodyPr/>
          <a:lstStyle>
            <a:lvl1pPr>
              <a:defRPr/>
            </a:lvl1pPr>
          </a:lstStyle>
          <a:p>
            <a:pPr>
              <a:defRPr/>
            </a:pPr>
            <a:fld id="{15647735-1087-C94D-86AB-B0C7949F94E4}" type="slidenum">
              <a:rPr lang="zh-CN" altLang="en-US"/>
              <a:t>‹#›</a:t>
            </a:fld>
            <a:endParaRPr lang="zh-CN" altLang="en-US"/>
          </a:p>
        </p:txBody>
      </p:sp>
    </p:spTree>
    <p:extLst>
      <p:ext uri="{BB962C8B-B14F-4D97-AF65-F5344CB8AC3E}">
        <p14:creationId xmlns:p14="http://schemas.microsoft.com/office/powerpoint/2010/main" val="6197440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C6786A0-5BD1-A934-990A-693BF6F4AA58}"/>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3" name="页脚占位符 2">
            <a:extLst>
              <a:ext uri="{FF2B5EF4-FFF2-40B4-BE49-F238E27FC236}">
                <a16:creationId xmlns:a16="http://schemas.microsoft.com/office/drawing/2014/main" id="{4FC308B4-5DC2-C1FD-00A9-ABDE4167C5C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C3CA0C5-1531-25DA-DCFA-AB2596B45E5C}"/>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1729895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400AFC62-34B5-A13D-FB5F-E40661A5EDED}"/>
              </a:ext>
            </a:extLst>
          </p:cNvPr>
          <p:cNvSpPr>
            <a:spLocks noGrp="1"/>
          </p:cNvSpPr>
          <p:nvPr>
            <p:ph type="subTitle" idx="1"/>
          </p:nvPr>
        </p:nvSpPr>
        <p:spPr>
          <a:xfrm>
            <a:off x="1006545" y="2791572"/>
            <a:ext cx="7458075" cy="642035"/>
          </a:xfrm>
          <a:noFill/>
          <a:ln/>
        </p:spPr>
        <p:txBody>
          <a:bodyPr wrap="square" lIns="0" tIns="0" rIns="0" bIns="0" rtlCol="0" anchor="t">
            <a:spAutoFit/>
          </a:bodyPr>
          <a:lstStyle>
            <a:lvl1pPr>
              <a:def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defRPr>
            </a:lvl1pPr>
          </a:lstStyle>
          <a:p>
            <a:pPr marL="0" lvl="0" indent="0">
              <a:lnSpc>
                <a:spcPct val="96000"/>
              </a:lnSpc>
              <a:buNone/>
            </a:pPr>
            <a:r>
              <a:rPr kumimoji="1" lang="zh-CN" altLang="en-US" dirty="0"/>
              <a:t>单击此处编辑母版副标题样式</a:t>
            </a:r>
          </a:p>
        </p:txBody>
      </p:sp>
      <p:sp>
        <p:nvSpPr>
          <p:cNvPr id="2" name="标题 1">
            <a:extLst>
              <a:ext uri="{FF2B5EF4-FFF2-40B4-BE49-F238E27FC236}">
                <a16:creationId xmlns:a16="http://schemas.microsoft.com/office/drawing/2014/main" id="{61A7C707-2645-9AE5-5C99-51D2133D7511}"/>
              </a:ext>
            </a:extLst>
          </p:cNvPr>
          <p:cNvSpPr>
            <a:spLocks noGrp="1"/>
          </p:cNvSpPr>
          <p:nvPr>
            <p:ph type="ctrTitle" hasCustomPrompt="1"/>
          </p:nvPr>
        </p:nvSpPr>
        <p:spPr>
          <a:xfrm>
            <a:off x="2720924" y="1307645"/>
            <a:ext cx="1018451" cy="806400"/>
          </a:xfrm>
        </p:spPr>
        <p:txBody>
          <a:bodyPr anchor="ctr">
            <a:normAutofit/>
          </a:bodyPr>
          <a:lstStyle>
            <a:lvl1pPr marL="0" indent="0" algn="ctr" defTabSz="914400" rtl="0" eaLnBrk="1" latinLnBrk="0" hangingPunct="1">
              <a:buNone/>
              <a:defRPr lang="zh-CN" altLang="en-US" sz="5250" b="1" kern="1200" dirty="0">
                <a:solidFill>
                  <a:srgbClr val="FD5220"/>
                </a:solidFill>
                <a:latin typeface="Microsoft YaHei" panose="020B0503020204020204" pitchFamily="34" charset="-122"/>
                <a:ea typeface="Microsoft YaHei" panose="020B0503020204020204" pitchFamily="34" charset="-122"/>
                <a:cs typeface="SourceHanSansSC-Regular"/>
              </a:defRPr>
            </a:lvl1pPr>
          </a:lstStyle>
          <a:p>
            <a:r>
              <a:rPr kumimoji="1" lang="en-US" altLang="zh-CN" dirty="0"/>
              <a:t>01</a:t>
            </a:r>
            <a:endParaRPr kumimoji="1" lang="zh-CN" altLang="en-US" dirty="0"/>
          </a:p>
        </p:txBody>
      </p:sp>
      <p:sp>
        <p:nvSpPr>
          <p:cNvPr id="4" name="日期占位符 3">
            <a:extLst>
              <a:ext uri="{FF2B5EF4-FFF2-40B4-BE49-F238E27FC236}">
                <a16:creationId xmlns:a16="http://schemas.microsoft.com/office/drawing/2014/main" id="{635BC3DC-3551-4C56-4B66-4B2C0267A054}"/>
              </a:ext>
            </a:extLst>
          </p:cNvPr>
          <p:cNvSpPr>
            <a:spLocks noGrp="1"/>
          </p:cNvSpPr>
          <p:nvPr>
            <p:ph type="dt" sz="half" idx="10"/>
          </p:nvPr>
        </p:nvSpPr>
        <p:spPr/>
        <p:txBody>
          <a:bodyPr/>
          <a:lstStyle/>
          <a:p>
            <a:fld id="{9FD0B6C7-774E-CC40-B792-A0FBA87DFD06}" type="datetimeFigureOut">
              <a:rPr kumimoji="1" lang="zh-CN" altLang="en-US" smtClean="0"/>
              <a:t>2026/2/22</a:t>
            </a:fld>
            <a:endParaRPr kumimoji="1" lang="zh-CN" altLang="en-US"/>
          </a:p>
        </p:txBody>
      </p:sp>
      <p:sp>
        <p:nvSpPr>
          <p:cNvPr id="5" name="页脚占位符 4">
            <a:extLst>
              <a:ext uri="{FF2B5EF4-FFF2-40B4-BE49-F238E27FC236}">
                <a16:creationId xmlns:a16="http://schemas.microsoft.com/office/drawing/2014/main" id="{A209566B-4207-9F1C-6F9C-E40AACADC87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0223F73-AA4F-F3F5-5EE0-239EF208D768}"/>
              </a:ext>
            </a:extLst>
          </p:cNvPr>
          <p:cNvSpPr>
            <a:spLocks noGrp="1"/>
          </p:cNvSpPr>
          <p:nvPr>
            <p:ph type="sldNum" sz="quarter" idx="12"/>
          </p:nvPr>
        </p:nvSpPr>
        <p:spPr/>
        <p:txBody>
          <a:bodyPr/>
          <a:lstStyle/>
          <a:p>
            <a:fld id="{97DFE2EB-CEEE-154A-8E5F-E6E0C8C57AC1}" type="slidenum">
              <a:rPr kumimoji="1" lang="zh-CN" altLang="en-US" smtClean="0"/>
              <a:t>‹#›</a:t>
            </a:fld>
            <a:endParaRPr kumimoji="1" lang="zh-CN" altLang="en-US"/>
          </a:p>
        </p:txBody>
      </p:sp>
      <p:sp>
        <p:nvSpPr>
          <p:cNvPr id="8" name="Shape 1">
            <a:extLst>
              <a:ext uri="{FF2B5EF4-FFF2-40B4-BE49-F238E27FC236}">
                <a16:creationId xmlns:a16="http://schemas.microsoft.com/office/drawing/2014/main" id="{4D58F47A-1125-D0D2-2F3C-498192C9F60A}"/>
              </a:ext>
            </a:extLst>
          </p:cNvPr>
          <p:cNvSpPr/>
          <p:nvPr userDrawn="1"/>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Text 2">
            <a:extLst>
              <a:ext uri="{FF2B5EF4-FFF2-40B4-BE49-F238E27FC236}">
                <a16:creationId xmlns:a16="http://schemas.microsoft.com/office/drawing/2014/main" id="{9488300C-8889-426E-268C-5B43ADCA19A0}"/>
              </a:ext>
            </a:extLst>
          </p:cNvPr>
          <p:cNvSpPr txBox="1"/>
          <p:nvPr userDrawn="1"/>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4633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0EECE7-2D90-0988-7FA7-3E6BAB793BFF}"/>
              </a:ext>
            </a:extLst>
          </p:cNvPr>
          <p:cNvSpPr>
            <a:spLocks noGrp="1"/>
          </p:cNvSpPr>
          <p:nvPr>
            <p:ph type="title"/>
          </p:nvPr>
        </p:nvSpPr>
        <p:spPr/>
        <p:txBody>
          <a:bodyPr/>
          <a:lstStyle>
            <a:lvl1pPr>
              <a:defRPr>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5B5BB336-767A-B00A-E2B3-F3F3F54D11BF}"/>
              </a:ext>
            </a:extLst>
          </p:cNvPr>
          <p:cNvSpPr>
            <a:spLocks noGrp="1"/>
          </p:cNvSpPr>
          <p:nvPr>
            <p:ph idx="1"/>
          </p:nvPr>
        </p:nvSpPr>
        <p:spPr/>
        <p:txBody>
          <a:bodyPr/>
          <a:lstStyle>
            <a:lvl1pPr>
              <a:defRPr>
                <a:latin typeface="Microsoft YaHei" panose="020B0503020204020204" pitchFamily="34" charset="-122"/>
                <a:ea typeface="Microsoft YaHei" panose="020B0503020204020204" pitchFamily="34" charset="-122"/>
              </a:defRPr>
            </a:lvl1pPr>
            <a:lvl2pPr>
              <a:defRPr>
                <a:latin typeface="Microsoft YaHei" panose="020B0503020204020204" pitchFamily="34" charset="-122"/>
                <a:ea typeface="Microsoft YaHei" panose="020B0503020204020204" pitchFamily="34" charset="-122"/>
              </a:defRPr>
            </a:lvl2pPr>
            <a:lvl3pPr>
              <a:defRPr>
                <a:latin typeface="Microsoft YaHei" panose="020B0503020204020204" pitchFamily="34" charset="-122"/>
                <a:ea typeface="Microsoft YaHei" panose="020B0503020204020204" pitchFamily="34" charset="-122"/>
              </a:defRPr>
            </a:lvl3pPr>
            <a:lvl4pPr>
              <a:defRPr>
                <a:latin typeface="Microsoft YaHei" panose="020B0503020204020204" pitchFamily="34" charset="-122"/>
                <a:ea typeface="Microsoft YaHei" panose="020B0503020204020204" pitchFamily="34" charset="-122"/>
              </a:defRPr>
            </a:lvl4pPr>
            <a:lvl5pPr>
              <a:defRPr>
                <a:latin typeface="Microsoft YaHei" panose="020B0503020204020204" pitchFamily="34" charset="-122"/>
                <a:ea typeface="Microsoft YaHei" panose="020B0503020204020204" pitchFamily="34" charset="-122"/>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2FD4666-F48B-5CC8-7977-00AEA31A9CA5}"/>
              </a:ext>
            </a:extLst>
          </p:cNvPr>
          <p:cNvSpPr>
            <a:spLocks noGrp="1"/>
          </p:cNvSpPr>
          <p:nvPr>
            <p:ph type="dt" sz="half" idx="10"/>
          </p:nvPr>
        </p:nvSpPr>
        <p:spPr/>
        <p:txBody>
          <a:bodyPr/>
          <a:lstStyle>
            <a:lvl1pPr>
              <a:defRPr>
                <a:latin typeface="Microsoft YaHei" panose="020B0503020204020204" pitchFamily="34" charset="-122"/>
                <a:ea typeface="Microsoft YaHei" panose="020B0503020204020204" pitchFamily="34" charset="-122"/>
              </a:defRPr>
            </a:lvl1pPr>
          </a:lstStyle>
          <a:p>
            <a:fld id="{32C5F372-D9EE-804B-82F0-7EE97B9B327A}" type="datetimeFigureOut">
              <a:rPr kumimoji="1" lang="zh-CN" altLang="en-US" smtClean="0"/>
              <a:pPr/>
              <a:t>2026/2/22</a:t>
            </a:fld>
            <a:endParaRPr kumimoji="1" lang="zh-CN" altLang="en-US"/>
          </a:p>
        </p:txBody>
      </p:sp>
      <p:sp>
        <p:nvSpPr>
          <p:cNvPr id="5" name="页脚占位符 4">
            <a:extLst>
              <a:ext uri="{FF2B5EF4-FFF2-40B4-BE49-F238E27FC236}">
                <a16:creationId xmlns:a16="http://schemas.microsoft.com/office/drawing/2014/main" id="{2D0BBD08-8FD4-51A4-0EE0-346DD7DBC93F}"/>
              </a:ext>
            </a:extLst>
          </p:cNvPr>
          <p:cNvSpPr>
            <a:spLocks noGrp="1"/>
          </p:cNvSpPr>
          <p:nvPr>
            <p:ph type="ftr" sz="quarter" idx="11"/>
          </p:nvPr>
        </p:nvSpPr>
        <p:spPr/>
        <p:txBody>
          <a:bodyPr/>
          <a:lstStyle>
            <a:lvl1pPr>
              <a:defRPr>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8DA1EE57-F824-9786-BAA2-7DE2E94979AD}"/>
              </a:ext>
            </a:extLst>
          </p:cNvPr>
          <p:cNvSpPr>
            <a:spLocks noGrp="1"/>
          </p:cNvSpPr>
          <p:nvPr>
            <p:ph type="sldNum" sz="quarter" idx="12"/>
          </p:nvPr>
        </p:nvSpPr>
        <p:spPr/>
        <p:txBody>
          <a:bodyPr/>
          <a:lstStyle>
            <a:lvl1pPr>
              <a:defRPr>
                <a:latin typeface="Microsoft YaHei" panose="020B0503020204020204" pitchFamily="34" charset="-122"/>
                <a:ea typeface="Microsoft YaHei" panose="020B0503020204020204" pitchFamily="34" charset="-122"/>
              </a:defRPr>
            </a:lvl1pPr>
          </a:lstStyle>
          <a:p>
            <a:fld id="{5E4D6AEF-96BF-6F44-8EB2-095946A83C6B}" type="slidenum">
              <a:rPr kumimoji="1" lang="zh-CN" altLang="en-US" smtClean="0"/>
              <a:pPr/>
              <a:t>‹#›</a:t>
            </a:fld>
            <a:endParaRPr kumimoji="1" lang="zh-CN" altLang="en-US"/>
          </a:p>
        </p:txBody>
      </p:sp>
    </p:spTree>
    <p:extLst>
      <p:ext uri="{BB962C8B-B14F-4D97-AF65-F5344CB8AC3E}">
        <p14:creationId xmlns:p14="http://schemas.microsoft.com/office/powerpoint/2010/main" val="240866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CED544-7AF4-1F37-C85C-922D9099C6A2}"/>
              </a:ext>
            </a:extLst>
          </p:cNvPr>
          <p:cNvSpPr>
            <a:spLocks noGrp="1"/>
          </p:cNvSpPr>
          <p:nvPr>
            <p:ph type="title"/>
          </p:nvPr>
        </p:nvSpPr>
        <p:spPr>
          <a:xfrm>
            <a:off x="623888" y="1282700"/>
            <a:ext cx="7886700" cy="2139950"/>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06E4AAC7-EDD8-913C-F7CA-7D7B84E58B6B}"/>
              </a:ext>
            </a:extLst>
          </p:cNvPr>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98F17C8C-B6BD-5159-33BF-F742273574AE}"/>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5" name="页脚占位符 4">
            <a:extLst>
              <a:ext uri="{FF2B5EF4-FFF2-40B4-BE49-F238E27FC236}">
                <a16:creationId xmlns:a16="http://schemas.microsoft.com/office/drawing/2014/main" id="{56717544-B996-63C5-02C2-01AF46E665A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B071376-4490-75B6-A232-E89FE6AE732D}"/>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246564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CE737B-37AB-E91D-09BB-3BC336B2BC1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15B75D6-3FFB-D406-B36C-D5DEA28B9104}"/>
              </a:ext>
            </a:extLst>
          </p:cNvPr>
          <p:cNvSpPr>
            <a:spLocks noGrp="1"/>
          </p:cNvSpPr>
          <p:nvPr>
            <p:ph sz="half" idx="1"/>
          </p:nvPr>
        </p:nvSpPr>
        <p:spPr>
          <a:xfrm>
            <a:off x="628650" y="1370013"/>
            <a:ext cx="3867150" cy="3262312"/>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6F7FA96B-3CF5-ABF5-4D84-0B8706D0C357}"/>
              </a:ext>
            </a:extLst>
          </p:cNvPr>
          <p:cNvSpPr>
            <a:spLocks noGrp="1"/>
          </p:cNvSpPr>
          <p:nvPr>
            <p:ph sz="half" idx="2"/>
          </p:nvPr>
        </p:nvSpPr>
        <p:spPr>
          <a:xfrm>
            <a:off x="4648200" y="1370013"/>
            <a:ext cx="3867150" cy="3262312"/>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326D427A-B596-C059-1743-ED0788452117}"/>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6" name="页脚占位符 5">
            <a:extLst>
              <a:ext uri="{FF2B5EF4-FFF2-40B4-BE49-F238E27FC236}">
                <a16:creationId xmlns:a16="http://schemas.microsoft.com/office/drawing/2014/main" id="{ED9E3BC4-302F-4ECD-A1C6-7DDE84348E0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6CD30B55-BDEF-4806-5187-C20611F6781E}"/>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562970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442E18-F965-82DB-8445-4B705195677B}"/>
              </a:ext>
            </a:extLst>
          </p:cNvPr>
          <p:cNvSpPr>
            <a:spLocks noGrp="1"/>
          </p:cNvSpPr>
          <p:nvPr>
            <p:ph type="title"/>
          </p:nvPr>
        </p:nvSpPr>
        <p:spPr>
          <a:xfrm>
            <a:off x="630238" y="274638"/>
            <a:ext cx="7886700" cy="993775"/>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8CC999B-05DA-EAFF-E31C-FCA9E61C70AC}"/>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698D98F0-D337-254F-D8EE-2A69629C2645}"/>
              </a:ext>
            </a:extLst>
          </p:cNvPr>
          <p:cNvSpPr>
            <a:spLocks noGrp="1"/>
          </p:cNvSpPr>
          <p:nvPr>
            <p:ph sz="half" idx="2"/>
          </p:nvPr>
        </p:nvSpPr>
        <p:spPr>
          <a:xfrm>
            <a:off x="630238" y="1879600"/>
            <a:ext cx="3868737" cy="2762250"/>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0DE8915-5AD3-503E-E554-5FAE3DA2FE44}"/>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BDDED0AB-75EE-7F92-347B-31250F55FC86}"/>
              </a:ext>
            </a:extLst>
          </p:cNvPr>
          <p:cNvSpPr>
            <a:spLocks noGrp="1"/>
          </p:cNvSpPr>
          <p:nvPr>
            <p:ph sz="quarter" idx="4"/>
          </p:nvPr>
        </p:nvSpPr>
        <p:spPr>
          <a:xfrm>
            <a:off x="4629150" y="1879600"/>
            <a:ext cx="3887788" cy="2762250"/>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725EC75-CFC3-205E-E89B-9EE881458EC8}"/>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8" name="页脚占位符 7">
            <a:extLst>
              <a:ext uri="{FF2B5EF4-FFF2-40B4-BE49-F238E27FC236}">
                <a16:creationId xmlns:a16="http://schemas.microsoft.com/office/drawing/2014/main" id="{97D16864-A164-E4AF-67C3-92E642493F0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A9FD7D92-855B-829A-08F7-8438951F00AC}"/>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1098412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F3D8CD-A021-6048-FEAA-F8D769FA6F4E}"/>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4906212A-2388-F748-C031-2726A973D222}"/>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4" name="页脚占位符 3">
            <a:extLst>
              <a:ext uri="{FF2B5EF4-FFF2-40B4-BE49-F238E27FC236}">
                <a16:creationId xmlns:a16="http://schemas.microsoft.com/office/drawing/2014/main" id="{5832B23A-BA68-C10D-424C-68D40A3DD9D4}"/>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0B5CE0FD-D4DC-EF06-81DD-F4024227DBD4}"/>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4167270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C6786A0-5BD1-A934-990A-693BF6F4AA58}"/>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3" name="页脚占位符 2">
            <a:extLst>
              <a:ext uri="{FF2B5EF4-FFF2-40B4-BE49-F238E27FC236}">
                <a16:creationId xmlns:a16="http://schemas.microsoft.com/office/drawing/2014/main" id="{4FC308B4-5DC2-C1FD-00A9-ABDE4167C5C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C3CA0C5-1531-25DA-DCFA-AB2596B45E5C}"/>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895377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FB56D2-5451-6FA7-CFE5-D33A5092D1B1}"/>
              </a:ext>
            </a:extLst>
          </p:cNvPr>
          <p:cNvSpPr>
            <a:spLocks noGrp="1"/>
          </p:cNvSpPr>
          <p:nvPr>
            <p:ph type="title"/>
          </p:nvPr>
        </p:nvSpPr>
        <p:spPr>
          <a:xfrm>
            <a:off x="630238" y="342900"/>
            <a:ext cx="2949575" cy="120015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B6EE3269-34F1-5026-40AD-47F2FF060F10}"/>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DCA5EC7-2435-42CD-7DCC-FE4D3BC9A91E}"/>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00E7A35-CAE0-3004-8567-FF93557609A1}"/>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6" name="页脚占位符 5">
            <a:extLst>
              <a:ext uri="{FF2B5EF4-FFF2-40B4-BE49-F238E27FC236}">
                <a16:creationId xmlns:a16="http://schemas.microsoft.com/office/drawing/2014/main" id="{AC899ED9-EE45-B800-BD98-1F46D40569B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56210FE-A293-FF74-B239-6ABF6CB0E227}"/>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6253248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475620-A6CE-4F9D-7854-C257E4F17D4C}"/>
              </a:ext>
            </a:extLst>
          </p:cNvPr>
          <p:cNvSpPr>
            <a:spLocks noGrp="1"/>
          </p:cNvSpPr>
          <p:nvPr>
            <p:ph type="title"/>
          </p:nvPr>
        </p:nvSpPr>
        <p:spPr>
          <a:xfrm>
            <a:off x="630238" y="342900"/>
            <a:ext cx="2949575" cy="120015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ABCE01EC-DF29-0F4E-1AD8-1389EBCFF41B}"/>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32D98552-5972-F210-F913-701E660FE962}"/>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B428ED3A-C182-BDDC-8F1E-A10F25CE1CA5}"/>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6" name="页脚占位符 5">
            <a:extLst>
              <a:ext uri="{FF2B5EF4-FFF2-40B4-BE49-F238E27FC236}">
                <a16:creationId xmlns:a16="http://schemas.microsoft.com/office/drawing/2014/main" id="{C7110357-3DC8-AF80-3EE0-D4A3E9228D8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6DF2BD2B-2D37-71F1-BE6A-CC763011B792}"/>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4849135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B02AE-3FF7-5CB9-E92C-9EB1B3F9C798}"/>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42C3DBD-CC41-35F3-781A-D22973DA4AE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AB570F3-CFAD-5690-8DD9-A284FAA6D5AF}"/>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5" name="页脚占位符 4">
            <a:extLst>
              <a:ext uri="{FF2B5EF4-FFF2-40B4-BE49-F238E27FC236}">
                <a16:creationId xmlns:a16="http://schemas.microsoft.com/office/drawing/2014/main" id="{530D9D1E-9191-AFAF-A1BF-EAD2362F112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04E1718-6DBA-269D-24F1-A485B3AAD046}"/>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3712214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6A9AD65-A5B6-D86E-15AF-4685D903DA17}"/>
              </a:ext>
            </a:extLst>
          </p:cNvPr>
          <p:cNvSpPr>
            <a:spLocks noGrp="1"/>
          </p:cNvSpPr>
          <p:nvPr>
            <p:ph type="title" orient="vert"/>
          </p:nvPr>
        </p:nvSpPr>
        <p:spPr>
          <a:xfrm>
            <a:off x="6543675" y="274638"/>
            <a:ext cx="1971675" cy="4357687"/>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FB1B135F-567D-A3FA-205D-EF12A6DC59D5}"/>
              </a:ext>
            </a:extLst>
          </p:cNvPr>
          <p:cNvSpPr>
            <a:spLocks noGrp="1"/>
          </p:cNvSpPr>
          <p:nvPr>
            <p:ph type="body" orient="vert" idx="1"/>
          </p:nvPr>
        </p:nvSpPr>
        <p:spPr>
          <a:xfrm>
            <a:off x="628650" y="274638"/>
            <a:ext cx="5762625" cy="4357687"/>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ECC707C-F2E6-0EC4-8990-9447419C91DA}"/>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5" name="页脚占位符 4">
            <a:extLst>
              <a:ext uri="{FF2B5EF4-FFF2-40B4-BE49-F238E27FC236}">
                <a16:creationId xmlns:a16="http://schemas.microsoft.com/office/drawing/2014/main" id="{E6D21827-BAC7-CA1A-8E90-A85D23CA220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251A12E-406F-BB74-FEBD-0EC52AD7A1E1}"/>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4552759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6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9356603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6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875063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7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8959896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7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133692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7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28759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7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9389899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7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101190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7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644755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7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2895001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7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7539489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7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2847476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7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1339379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8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3559171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8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9944100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8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953465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8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953973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3228392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8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4729393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0"/>
            <a:ext cx="6240462" cy="62865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0" y="800100"/>
            <a:ext cx="4495800" cy="43434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800100"/>
            <a:ext cx="4495800" cy="43434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灯片编号占位符 4"/>
          <p:cNvSpPr>
            <a:spLocks noGrp="1"/>
          </p:cNvSpPr>
          <p:nvPr>
            <p:ph type="sldNum" sz="quarter" idx="10"/>
          </p:nvPr>
        </p:nvSpPr>
        <p:spPr/>
        <p:txBody>
          <a:bodyPr/>
          <a:lstStyle/>
          <a:p>
            <a:pPr lvl="0" eaLnBrk="1" fontAlgn="base" hangingPunct="1">
              <a:buNone/>
            </a:pPr>
            <a:fld id="{9A0DB2DC-4C9A-4742-B13C-FB6460FD3503}" type="slidenum">
              <a:rPr lang="zh-CN" altLang="en-US" strike="noStrike" noProof="1" dirty="0">
                <a:latin typeface="Tahoma" panose="020B0604030504040204" pitchFamily="34" charset="0"/>
                <a:ea typeface="宋体" panose="02010600030101010101" pitchFamily="2" charset="-122"/>
                <a:cs typeface="+mn-cs"/>
              </a:rPr>
              <a:t>‹#›</a:t>
            </a:fld>
            <a:endParaRPr lang="zh-CN" altLang="en-US" strike="noStrike" noProof="1">
              <a:latin typeface="Tahoma" panose="020B0604030504040204" pitchFamily="34" charset="0"/>
            </a:endParaRPr>
          </a:p>
        </p:txBody>
      </p:sp>
    </p:spTree>
    <p:extLst>
      <p:ext uri="{BB962C8B-B14F-4D97-AF65-F5344CB8AC3E}">
        <p14:creationId xmlns:p14="http://schemas.microsoft.com/office/powerpoint/2010/main" val="3178349125"/>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8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2265647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8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7469662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8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6400074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8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0404786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9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27233439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9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698721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9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0218118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9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6904933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9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26561325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9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97215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9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4758499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9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8743401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9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8137624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9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39427811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0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9118482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0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8562554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0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1239806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0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4620685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0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30302079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0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63234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0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0847806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0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89686083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0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42730004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0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14415792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1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01415666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1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2638510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11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24970188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1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06336341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1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99439593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1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2282308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1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00811273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11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9644347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1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24450170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1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48606889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2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23304347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2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663204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2.xml"/><Relationship Id="rId21" Type="http://schemas.openxmlformats.org/officeDocument/2006/relationships/slideLayout" Target="../slideLayouts/slideLayout27.xml"/><Relationship Id="rId42" Type="http://schemas.openxmlformats.org/officeDocument/2006/relationships/slideLayout" Target="../slideLayouts/slideLayout48.xml"/><Relationship Id="rId47" Type="http://schemas.openxmlformats.org/officeDocument/2006/relationships/slideLayout" Target="../slideLayouts/slideLayout53.xml"/><Relationship Id="rId63" Type="http://schemas.openxmlformats.org/officeDocument/2006/relationships/slideLayout" Target="../slideLayouts/slideLayout69.xml"/><Relationship Id="rId68" Type="http://schemas.openxmlformats.org/officeDocument/2006/relationships/image" Target="../media/image1.png"/><Relationship Id="rId7" Type="http://schemas.openxmlformats.org/officeDocument/2006/relationships/slideLayout" Target="../slideLayouts/slideLayout1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9" Type="http://schemas.openxmlformats.org/officeDocument/2006/relationships/slideLayout" Target="../slideLayouts/slideLayout35.xml"/><Relationship Id="rId11" Type="http://schemas.openxmlformats.org/officeDocument/2006/relationships/slideLayout" Target="../slideLayouts/slideLayout17.xml"/><Relationship Id="rId24" Type="http://schemas.openxmlformats.org/officeDocument/2006/relationships/slideLayout" Target="../slideLayouts/slideLayout30.xml"/><Relationship Id="rId32" Type="http://schemas.openxmlformats.org/officeDocument/2006/relationships/slideLayout" Target="../slideLayouts/slideLayout38.xml"/><Relationship Id="rId37" Type="http://schemas.openxmlformats.org/officeDocument/2006/relationships/slideLayout" Target="../slideLayouts/slideLayout43.xml"/><Relationship Id="rId40" Type="http://schemas.openxmlformats.org/officeDocument/2006/relationships/slideLayout" Target="../slideLayouts/slideLayout46.xml"/><Relationship Id="rId45" Type="http://schemas.openxmlformats.org/officeDocument/2006/relationships/slideLayout" Target="../slideLayouts/slideLayout51.xml"/><Relationship Id="rId53" Type="http://schemas.openxmlformats.org/officeDocument/2006/relationships/slideLayout" Target="../slideLayouts/slideLayout59.xml"/><Relationship Id="rId58" Type="http://schemas.openxmlformats.org/officeDocument/2006/relationships/slideLayout" Target="../slideLayouts/slideLayout64.xml"/><Relationship Id="rId66" Type="http://schemas.openxmlformats.org/officeDocument/2006/relationships/slideLayout" Target="../slideLayouts/slideLayout72.xml"/><Relationship Id="rId5" Type="http://schemas.openxmlformats.org/officeDocument/2006/relationships/slideLayout" Target="../slideLayouts/slideLayout11.xml"/><Relationship Id="rId61" Type="http://schemas.openxmlformats.org/officeDocument/2006/relationships/slideLayout" Target="../slideLayouts/slideLayout67.xml"/><Relationship Id="rId19" Type="http://schemas.openxmlformats.org/officeDocument/2006/relationships/slideLayout" Target="../slideLayouts/slideLayout25.xml"/><Relationship Id="rId14" Type="http://schemas.openxmlformats.org/officeDocument/2006/relationships/slideLayout" Target="../slideLayouts/slideLayout20.xml"/><Relationship Id="rId22" Type="http://schemas.openxmlformats.org/officeDocument/2006/relationships/slideLayout" Target="../slideLayouts/slideLayout28.xml"/><Relationship Id="rId27" Type="http://schemas.openxmlformats.org/officeDocument/2006/relationships/slideLayout" Target="../slideLayouts/slideLayout33.xml"/><Relationship Id="rId30" Type="http://schemas.openxmlformats.org/officeDocument/2006/relationships/slideLayout" Target="../slideLayouts/slideLayout36.xml"/><Relationship Id="rId35" Type="http://schemas.openxmlformats.org/officeDocument/2006/relationships/slideLayout" Target="../slideLayouts/slideLayout41.xml"/><Relationship Id="rId43" Type="http://schemas.openxmlformats.org/officeDocument/2006/relationships/slideLayout" Target="../slideLayouts/slideLayout49.xml"/><Relationship Id="rId48" Type="http://schemas.openxmlformats.org/officeDocument/2006/relationships/slideLayout" Target="../slideLayouts/slideLayout54.xml"/><Relationship Id="rId56" Type="http://schemas.openxmlformats.org/officeDocument/2006/relationships/slideLayout" Target="../slideLayouts/slideLayout62.xml"/><Relationship Id="rId64" Type="http://schemas.openxmlformats.org/officeDocument/2006/relationships/slideLayout" Target="../slideLayouts/slideLayout70.xml"/><Relationship Id="rId69" Type="http://schemas.openxmlformats.org/officeDocument/2006/relationships/image" Target="../media/image2.png"/><Relationship Id="rId8" Type="http://schemas.openxmlformats.org/officeDocument/2006/relationships/slideLayout" Target="../slideLayouts/slideLayout14.xml"/><Relationship Id="rId51" Type="http://schemas.openxmlformats.org/officeDocument/2006/relationships/slideLayout" Target="../slideLayouts/slideLayout57.xml"/><Relationship Id="rId3" Type="http://schemas.openxmlformats.org/officeDocument/2006/relationships/slideLayout" Target="../slideLayouts/slideLayout9.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5" Type="http://schemas.openxmlformats.org/officeDocument/2006/relationships/slideLayout" Target="../slideLayouts/slideLayout31.xml"/><Relationship Id="rId33" Type="http://schemas.openxmlformats.org/officeDocument/2006/relationships/slideLayout" Target="../slideLayouts/slideLayout39.xml"/><Relationship Id="rId38" Type="http://schemas.openxmlformats.org/officeDocument/2006/relationships/slideLayout" Target="../slideLayouts/slideLayout44.xml"/><Relationship Id="rId46" Type="http://schemas.openxmlformats.org/officeDocument/2006/relationships/slideLayout" Target="../slideLayouts/slideLayout52.xml"/><Relationship Id="rId59" Type="http://schemas.openxmlformats.org/officeDocument/2006/relationships/slideLayout" Target="../slideLayouts/slideLayout65.xml"/><Relationship Id="rId67" Type="http://schemas.openxmlformats.org/officeDocument/2006/relationships/theme" Target="../theme/theme2.xml"/><Relationship Id="rId20" Type="http://schemas.openxmlformats.org/officeDocument/2006/relationships/slideLayout" Target="../slideLayouts/slideLayout26.xml"/><Relationship Id="rId41" Type="http://schemas.openxmlformats.org/officeDocument/2006/relationships/slideLayout" Target="../slideLayouts/slideLayout47.xml"/><Relationship Id="rId54" Type="http://schemas.openxmlformats.org/officeDocument/2006/relationships/slideLayout" Target="../slideLayouts/slideLayout60.xml"/><Relationship Id="rId62" Type="http://schemas.openxmlformats.org/officeDocument/2006/relationships/slideLayout" Target="../slideLayouts/slideLayout68.xml"/><Relationship Id="rId70"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slideLayout" Target="../slideLayouts/slideLayout12.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28" Type="http://schemas.openxmlformats.org/officeDocument/2006/relationships/slideLayout" Target="../slideLayouts/slideLayout34.xml"/><Relationship Id="rId36" Type="http://schemas.openxmlformats.org/officeDocument/2006/relationships/slideLayout" Target="../slideLayouts/slideLayout42.xml"/><Relationship Id="rId49" Type="http://schemas.openxmlformats.org/officeDocument/2006/relationships/slideLayout" Target="../slideLayouts/slideLayout55.xml"/><Relationship Id="rId57" Type="http://schemas.openxmlformats.org/officeDocument/2006/relationships/slideLayout" Target="../slideLayouts/slideLayout63.xml"/><Relationship Id="rId10" Type="http://schemas.openxmlformats.org/officeDocument/2006/relationships/slideLayout" Target="../slideLayouts/slideLayout16.xml"/><Relationship Id="rId31" Type="http://schemas.openxmlformats.org/officeDocument/2006/relationships/slideLayout" Target="../slideLayouts/slideLayout37.xml"/><Relationship Id="rId44" Type="http://schemas.openxmlformats.org/officeDocument/2006/relationships/slideLayout" Target="../slideLayouts/slideLayout50.xml"/><Relationship Id="rId52" Type="http://schemas.openxmlformats.org/officeDocument/2006/relationships/slideLayout" Target="../slideLayouts/slideLayout58.xml"/><Relationship Id="rId60" Type="http://schemas.openxmlformats.org/officeDocument/2006/relationships/slideLayout" Target="../slideLayouts/slideLayout66.xml"/><Relationship Id="rId65" Type="http://schemas.openxmlformats.org/officeDocument/2006/relationships/slideLayout" Target="../slideLayouts/slideLayout71.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9" Type="http://schemas.openxmlformats.org/officeDocument/2006/relationships/slideLayout" Target="../slideLayouts/slideLayout45.xml"/><Relationship Id="rId34" Type="http://schemas.openxmlformats.org/officeDocument/2006/relationships/slideLayout" Target="../slideLayouts/slideLayout40.xml"/><Relationship Id="rId50" Type="http://schemas.openxmlformats.org/officeDocument/2006/relationships/slideLayout" Target="../slideLayouts/slideLayout56.xml"/><Relationship Id="rId55"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77A5E09-A989-EE50-CBE0-5B84B7C6B823}"/>
              </a:ext>
            </a:extLst>
          </p:cNvPr>
          <p:cNvSpPr/>
          <p:nvPr userDrawn="1"/>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D5EB4511-BE1F-4AF2-1BFB-CE1AC6C1889A}"/>
              </a:ext>
            </a:extLst>
          </p:cNvPr>
          <p:cNvSpPr/>
          <p:nvPr userDrawn="1"/>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Shape 2">
            <a:extLst>
              <a:ext uri="{FF2B5EF4-FFF2-40B4-BE49-F238E27FC236}">
                <a16:creationId xmlns:a16="http://schemas.microsoft.com/office/drawing/2014/main" id="{7A46D629-FC4C-A26C-9ED7-964E26D8BC0B}"/>
              </a:ext>
            </a:extLst>
          </p:cNvPr>
          <p:cNvSpPr/>
          <p:nvPr userDrawn="1"/>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36A6941C-C507-20E9-7488-DC37410E8AAD}"/>
              </a:ext>
            </a:extLst>
          </p:cNvPr>
          <p:cNvSpPr/>
          <p:nvPr userDrawn="1"/>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C59E6006-31EA-7EC3-5B42-9B15E3826870}"/>
              </a:ext>
            </a:extLst>
          </p:cNvPr>
          <p:cNvSpPr/>
          <p:nvPr userDrawn="1"/>
        </p:nvSpPr>
        <p:spPr>
          <a:xfrm>
            <a:off x="967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F66885E7-16D3-570C-6E0C-5CEA1E47D30E}"/>
              </a:ext>
            </a:extLst>
          </p:cNvPr>
          <p:cNvSpPr/>
          <p:nvPr userDrawn="1"/>
        </p:nvSpPr>
        <p:spPr>
          <a:xfrm>
            <a:off x="532368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Text 10">
            <a:extLst>
              <a:ext uri="{FF2B5EF4-FFF2-40B4-BE49-F238E27FC236}">
                <a16:creationId xmlns:a16="http://schemas.microsoft.com/office/drawing/2014/main" id="{FDDDED04-DE6D-8A23-9734-CBD8EC18AFBB}"/>
              </a:ext>
            </a:extLst>
          </p:cNvPr>
          <p:cNvSpPr txBox="1"/>
          <p:nvPr userDrawn="1"/>
        </p:nvSpPr>
        <p:spPr>
          <a:xfrm>
            <a:off x="850696" y="1132005"/>
            <a:ext cx="7458075" cy="1143000"/>
          </a:xfrm>
          <a:prstGeom prst="rect">
            <a:avLst/>
          </a:prstGeom>
          <a:noFill/>
          <a:ln/>
        </p:spPr>
        <p:txBody>
          <a:bodyPr wrap="square" lIns="0" tIns="0" rIns="0" bIns="0" rtlCol="0" anchor="t">
            <a:spAutoFit/>
          </a:bodyPr>
          <a:lstStyle/>
          <a:p>
            <a:pPr marL="0" indent="0" algn="ctr">
              <a:lnSpc>
                <a:spcPct val="96000"/>
              </a:lnSpc>
              <a:buNone/>
            </a:pPr>
            <a:r>
              <a:rPr lang="en-US" sz="7500" b="1" dirty="0" err="1">
                <a:solidFill>
                  <a:srgbClr val="148577"/>
                </a:solidFill>
                <a:latin typeface="Microsoft YaHei" panose="020B0503020204020204" pitchFamily="34" charset="-122"/>
                <a:ea typeface="Microsoft YaHei" panose="020B0503020204020204" pitchFamily="34" charset="-122"/>
                <a:cs typeface="SourceHanSansSC-Regular"/>
              </a:rPr>
              <a:t>现代数据库系统</a:t>
            </a:r>
            <a:endParaRPr lang="en-US" sz="7500" dirty="0">
              <a:latin typeface="Microsoft YaHei" panose="020B0503020204020204" pitchFamily="34" charset="-122"/>
              <a:ea typeface="Microsoft YaHei" panose="020B0503020204020204" pitchFamily="34" charset="-122"/>
            </a:endParaRPr>
          </a:p>
        </p:txBody>
      </p:sp>
      <p:sp>
        <p:nvSpPr>
          <p:cNvPr id="12" name="Shape 11">
            <a:extLst>
              <a:ext uri="{FF2B5EF4-FFF2-40B4-BE49-F238E27FC236}">
                <a16:creationId xmlns:a16="http://schemas.microsoft.com/office/drawing/2014/main" id="{4A7A420D-D20D-ACF1-0AD2-FBB5D50E3E47}"/>
              </a:ext>
            </a:extLst>
          </p:cNvPr>
          <p:cNvSpPr/>
          <p:nvPr userDrawn="1"/>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2">
            <a:extLst>
              <a:ext uri="{FF2B5EF4-FFF2-40B4-BE49-F238E27FC236}">
                <a16:creationId xmlns:a16="http://schemas.microsoft.com/office/drawing/2014/main" id="{B24FEC78-DC58-F365-B3A6-CF612C3C3D3D}"/>
              </a:ext>
            </a:extLst>
          </p:cNvPr>
          <p:cNvSpPr/>
          <p:nvPr userDrawn="1"/>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3">
            <a:extLst>
              <a:ext uri="{FF2B5EF4-FFF2-40B4-BE49-F238E27FC236}">
                <a16:creationId xmlns:a16="http://schemas.microsoft.com/office/drawing/2014/main" id="{E5E5AD7E-2EDB-102E-868E-5EDD3D3A5750}"/>
              </a:ext>
            </a:extLst>
          </p:cNvPr>
          <p:cNvSpPr/>
          <p:nvPr userDrawn="1"/>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4">
            <a:extLst>
              <a:ext uri="{FF2B5EF4-FFF2-40B4-BE49-F238E27FC236}">
                <a16:creationId xmlns:a16="http://schemas.microsoft.com/office/drawing/2014/main" id="{6C0F6275-88C0-7C5A-C40B-0CAAB8E69EA0}"/>
              </a:ext>
            </a:extLst>
          </p:cNvPr>
          <p:cNvSpPr/>
          <p:nvPr userDrawn="1"/>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16" name="图片 15" descr="徽标&#10;&#10;AI 生成的内容可能不正确。">
            <a:extLst>
              <a:ext uri="{FF2B5EF4-FFF2-40B4-BE49-F238E27FC236}">
                <a16:creationId xmlns:a16="http://schemas.microsoft.com/office/drawing/2014/main" id="{EDE98BE7-674A-84A1-2E7B-FBEBE4418739}"/>
              </a:ext>
            </a:extLst>
          </p:cNvPr>
          <p:cNvPicPr>
            <a:picLocks noChangeAspect="1"/>
          </p:cNvPicPr>
          <p:nvPr userDrawn="1"/>
        </p:nvPicPr>
        <p:blipFill>
          <a:blip r:embed="rId8"/>
          <a:stretch>
            <a:fillRect/>
          </a:stretch>
        </p:blipFill>
        <p:spPr>
          <a:xfrm>
            <a:off x="4202034" y="220502"/>
            <a:ext cx="720574" cy="71890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75" r:id="rId2"/>
    <p:sldLayoutId id="2147483676" r:id="rId3"/>
    <p:sldLayoutId id="2147483677" r:id="rId4"/>
    <p:sldLayoutId id="2147483678" r:id="rId5"/>
    <p:sldLayoutId id="2147483679"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hape 3">
            <a:extLst>
              <a:ext uri="{FF2B5EF4-FFF2-40B4-BE49-F238E27FC236}">
                <a16:creationId xmlns:a16="http://schemas.microsoft.com/office/drawing/2014/main" id="{48BD775E-A6BB-AF91-6EFC-2B063F82EC31}"/>
              </a:ext>
            </a:extLst>
          </p:cNvPr>
          <p:cNvSpPr/>
          <p:nvPr userDrawn="1"/>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4">
            <a:extLst>
              <a:ext uri="{FF2B5EF4-FFF2-40B4-BE49-F238E27FC236}">
                <a16:creationId xmlns:a16="http://schemas.microsoft.com/office/drawing/2014/main" id="{54166899-177E-5114-DE19-9E2BA37EF7E6}"/>
              </a:ext>
            </a:extLst>
          </p:cNvPr>
          <p:cNvSpPr/>
          <p:nvPr userDrawn="1"/>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5">
            <a:extLst>
              <a:ext uri="{FF2B5EF4-FFF2-40B4-BE49-F238E27FC236}">
                <a16:creationId xmlns:a16="http://schemas.microsoft.com/office/drawing/2014/main" id="{4146F1E0-B708-B4FD-784D-C33CB18C5AC5}"/>
              </a:ext>
            </a:extLst>
          </p:cNvPr>
          <p:cNvSpPr/>
          <p:nvPr userDrawn="1"/>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6">
            <a:extLst>
              <a:ext uri="{FF2B5EF4-FFF2-40B4-BE49-F238E27FC236}">
                <a16:creationId xmlns:a16="http://schemas.microsoft.com/office/drawing/2014/main" id="{6C647A5F-A889-47DE-8145-E069CC2035D5}"/>
              </a:ext>
            </a:extLst>
          </p:cNvPr>
          <p:cNvSpPr/>
          <p:nvPr userDrawn="1"/>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 name="标题占位符 1">
            <a:extLst>
              <a:ext uri="{FF2B5EF4-FFF2-40B4-BE49-F238E27FC236}">
                <a16:creationId xmlns:a16="http://schemas.microsoft.com/office/drawing/2014/main" id="{2278CDFA-2A25-E47E-291E-DAD5455582A9}"/>
              </a:ext>
            </a:extLst>
          </p:cNvPr>
          <p:cNvSpPr>
            <a:spLocks noGrp="1"/>
          </p:cNvSpPr>
          <p:nvPr>
            <p:ph type="title"/>
          </p:nvPr>
        </p:nvSpPr>
        <p:spPr>
          <a:xfrm>
            <a:off x="636384" y="496310"/>
            <a:ext cx="7886700" cy="450000"/>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484D4848-4095-B8A8-7601-736321C30B2A}"/>
              </a:ext>
            </a:extLst>
          </p:cNvPr>
          <p:cNvSpPr>
            <a:spLocks noGrp="1"/>
          </p:cNvSpPr>
          <p:nvPr>
            <p:ph type="body" idx="1"/>
          </p:nvPr>
        </p:nvSpPr>
        <p:spPr>
          <a:xfrm>
            <a:off x="628650" y="1042761"/>
            <a:ext cx="7886700" cy="371155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06C317BE-E462-2C75-5469-1C523508EF1F}"/>
              </a:ext>
            </a:extLst>
          </p:cNvPr>
          <p:cNvSpPr>
            <a:spLocks noGrp="1"/>
          </p:cNvSpPr>
          <p:nvPr>
            <p:ph type="dt" sz="half" idx="2"/>
          </p:nvPr>
        </p:nvSpPr>
        <p:spPr>
          <a:xfrm>
            <a:off x="108180" y="4837864"/>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fld id="{32C5F372-D9EE-804B-82F0-7EE97B9B327A}" type="datetimeFigureOut">
              <a:rPr kumimoji="1" lang="zh-CN" altLang="en-US" smtClean="0"/>
              <a:t>2026/2/22</a:t>
            </a:fld>
            <a:endParaRPr kumimoji="1" lang="zh-CN" altLang="en-US"/>
          </a:p>
        </p:txBody>
      </p:sp>
      <p:sp>
        <p:nvSpPr>
          <p:cNvPr id="5" name="页脚占位符 4">
            <a:extLst>
              <a:ext uri="{FF2B5EF4-FFF2-40B4-BE49-F238E27FC236}">
                <a16:creationId xmlns:a16="http://schemas.microsoft.com/office/drawing/2014/main" id="{B4B16873-C63D-E592-2399-19A9BA46FA3E}"/>
              </a:ext>
            </a:extLst>
          </p:cNvPr>
          <p:cNvSpPr>
            <a:spLocks noGrp="1"/>
          </p:cNvSpPr>
          <p:nvPr>
            <p:ph type="ftr" sz="quarter" idx="3"/>
          </p:nvPr>
        </p:nvSpPr>
        <p:spPr>
          <a:xfrm>
            <a:off x="2418580" y="4837864"/>
            <a:ext cx="4309321"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17976924-03DF-39F8-46BE-34E7CD690DC7}"/>
              </a:ext>
            </a:extLst>
          </p:cNvPr>
          <p:cNvSpPr>
            <a:spLocks noGrp="1"/>
          </p:cNvSpPr>
          <p:nvPr>
            <p:ph type="sldNum" sz="quarter" idx="4"/>
          </p:nvPr>
        </p:nvSpPr>
        <p:spPr>
          <a:xfrm>
            <a:off x="6976475" y="4837864"/>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E4D6AEF-96BF-6F44-8EB2-095946A83C6B}" type="slidenum">
              <a:rPr kumimoji="1" lang="zh-CN" altLang="en-US" smtClean="0"/>
              <a:t>‹#›</a:t>
            </a:fld>
            <a:endParaRPr kumimoji="1" lang="zh-CN" altLang="en-US"/>
          </a:p>
        </p:txBody>
      </p:sp>
      <p:sp>
        <p:nvSpPr>
          <p:cNvPr id="14" name="Shape 7">
            <a:extLst>
              <a:ext uri="{FF2B5EF4-FFF2-40B4-BE49-F238E27FC236}">
                <a16:creationId xmlns:a16="http://schemas.microsoft.com/office/drawing/2014/main" id="{1F21A128-D704-BDA2-A63B-684FE57E79B8}"/>
              </a:ext>
            </a:extLst>
          </p:cNvPr>
          <p:cNvSpPr/>
          <p:nvPr userDrawn="1"/>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8">
            <a:extLst>
              <a:ext uri="{FF2B5EF4-FFF2-40B4-BE49-F238E27FC236}">
                <a16:creationId xmlns:a16="http://schemas.microsoft.com/office/drawing/2014/main" id="{14A059BF-47BE-5BB1-8DA8-90126974B398}"/>
              </a:ext>
            </a:extLst>
          </p:cNvPr>
          <p:cNvSpPr/>
          <p:nvPr userDrawn="1"/>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9">
            <a:extLst>
              <a:ext uri="{FF2B5EF4-FFF2-40B4-BE49-F238E27FC236}">
                <a16:creationId xmlns:a16="http://schemas.microsoft.com/office/drawing/2014/main" id="{A7018654-3D44-3124-08A9-CA34B688DD24}"/>
              </a:ext>
            </a:extLst>
          </p:cNvPr>
          <p:cNvSpPr/>
          <p:nvPr userDrawn="1"/>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Shape 10">
            <a:extLst>
              <a:ext uri="{FF2B5EF4-FFF2-40B4-BE49-F238E27FC236}">
                <a16:creationId xmlns:a16="http://schemas.microsoft.com/office/drawing/2014/main" id="{7E5317B9-228B-7072-CC18-E34F4B4EBA25}"/>
              </a:ext>
            </a:extLst>
          </p:cNvPr>
          <p:cNvSpPr/>
          <p:nvPr userDrawn="1"/>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24" name="图片 23" descr="徽标&#10;&#10;AI 生成的内容可能不正确。">
            <a:extLst>
              <a:ext uri="{FF2B5EF4-FFF2-40B4-BE49-F238E27FC236}">
                <a16:creationId xmlns:a16="http://schemas.microsoft.com/office/drawing/2014/main" id="{62C8AEBD-E604-303F-0750-962701B7B3EC}"/>
              </a:ext>
            </a:extLst>
          </p:cNvPr>
          <p:cNvPicPr>
            <a:picLocks noChangeAspect="1"/>
          </p:cNvPicPr>
          <p:nvPr userDrawn="1"/>
        </p:nvPicPr>
        <p:blipFill>
          <a:blip r:embed="rId68"/>
          <a:stretch>
            <a:fillRect/>
          </a:stretch>
        </p:blipFill>
        <p:spPr>
          <a:xfrm>
            <a:off x="108180" y="119599"/>
            <a:ext cx="334861" cy="334084"/>
          </a:xfrm>
          <a:prstGeom prst="rect">
            <a:avLst/>
          </a:prstGeom>
        </p:spPr>
      </p:pic>
      <p:pic>
        <p:nvPicPr>
          <p:cNvPr id="26" name="图片 25" descr="图标&#10;&#10;AI 生成的内容可能不正确。">
            <a:extLst>
              <a:ext uri="{FF2B5EF4-FFF2-40B4-BE49-F238E27FC236}">
                <a16:creationId xmlns:a16="http://schemas.microsoft.com/office/drawing/2014/main" id="{14CEF7CC-1A6F-833C-43E2-2A43880720CF}"/>
              </a:ext>
            </a:extLst>
          </p:cNvPr>
          <p:cNvPicPr>
            <a:picLocks noChangeAspect="1"/>
          </p:cNvPicPr>
          <p:nvPr userDrawn="1"/>
        </p:nvPicPr>
        <p:blipFill>
          <a:blip r:embed="rId69"/>
          <a:stretch>
            <a:fillRect/>
          </a:stretch>
        </p:blipFill>
        <p:spPr>
          <a:xfrm>
            <a:off x="502271" y="173422"/>
            <a:ext cx="775858" cy="226438"/>
          </a:xfrm>
          <a:prstGeom prst="rect">
            <a:avLst/>
          </a:prstGeom>
        </p:spPr>
      </p:pic>
      <p:pic>
        <p:nvPicPr>
          <p:cNvPr id="27" name="图片 26">
            <a:extLst>
              <a:ext uri="{FF2B5EF4-FFF2-40B4-BE49-F238E27FC236}">
                <a16:creationId xmlns:a16="http://schemas.microsoft.com/office/drawing/2014/main" id="{E1E95B03-867E-A128-6B62-0A757D65EE27}"/>
              </a:ext>
            </a:extLst>
          </p:cNvPr>
          <p:cNvPicPr>
            <a:picLocks noChangeAspect="1"/>
          </p:cNvPicPr>
          <p:nvPr userDrawn="1"/>
        </p:nvPicPr>
        <p:blipFill>
          <a:blip r:embed="rId70">
            <a:extLst>
              <a:ext uri="{28A0092B-C50C-407E-A947-70E740481C1C}">
                <a14:useLocalDpi xmlns:a14="http://schemas.microsoft.com/office/drawing/2010/main" val="0"/>
              </a:ext>
            </a:extLst>
          </a:blip>
          <a:stretch>
            <a:fillRect/>
          </a:stretch>
        </p:blipFill>
        <p:spPr>
          <a:xfrm>
            <a:off x="7083469" y="109496"/>
            <a:ext cx="398937" cy="303725"/>
          </a:xfrm>
          <a:prstGeom prst="rect">
            <a:avLst/>
          </a:prstGeom>
        </p:spPr>
      </p:pic>
      <p:sp>
        <p:nvSpPr>
          <p:cNvPr id="28" name="文本框 27">
            <a:extLst>
              <a:ext uri="{FF2B5EF4-FFF2-40B4-BE49-F238E27FC236}">
                <a16:creationId xmlns:a16="http://schemas.microsoft.com/office/drawing/2014/main" id="{621E1DA3-B30E-3828-B884-151B4CA5132C}"/>
              </a:ext>
            </a:extLst>
          </p:cNvPr>
          <p:cNvSpPr txBox="1"/>
          <p:nvPr userDrawn="1"/>
        </p:nvSpPr>
        <p:spPr>
          <a:xfrm>
            <a:off x="7482406" y="148141"/>
            <a:ext cx="1723549" cy="276999"/>
          </a:xfrm>
          <a:prstGeom prst="rect">
            <a:avLst/>
          </a:prstGeom>
          <a:noFill/>
        </p:spPr>
        <p:txBody>
          <a:bodyPr wrap="none" rtlCol="0">
            <a:spAutoFit/>
          </a:bodyPr>
          <a:lstStyle/>
          <a:p>
            <a:r>
              <a:rPr kumimoji="1" lang="zh-CN" altLang="en-US" sz="1200" b="1" dirty="0">
                <a:solidFill>
                  <a:srgbClr val="C00000"/>
                </a:solidFill>
                <a:latin typeface="Microsoft YaHei" panose="020B0503020204020204" pitchFamily="34" charset="-122"/>
                <a:ea typeface="Microsoft YaHei" panose="020B0503020204020204" pitchFamily="34" charset="-122"/>
              </a:rPr>
              <a:t>珞珈图腾数据库实验室</a:t>
            </a:r>
          </a:p>
        </p:txBody>
      </p:sp>
    </p:spTree>
    <p:extLst>
      <p:ext uri="{BB962C8B-B14F-4D97-AF65-F5344CB8AC3E}">
        <p14:creationId xmlns:p14="http://schemas.microsoft.com/office/powerpoint/2010/main" val="1716981101"/>
      </p:ext>
    </p:extLst>
  </p:cSld>
  <p:clrMap bg1="lt1" tx1="dk1" bg2="lt2" tx2="dk2" accent1="accent1" accent2="accent2" accent3="accent3" accent4="accent4" accent5="accent5" accent6="accent6" hlink="hlink" folHlink="folHlink"/>
  <p:sldLayoutIdLst>
    <p:sldLayoutId id="2147483674"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747" r:id="rId12"/>
    <p:sldLayoutId id="2147483748" r:id="rId13"/>
    <p:sldLayoutId id="2147483749" r:id="rId14"/>
    <p:sldLayoutId id="2147483750" r:id="rId15"/>
    <p:sldLayoutId id="2147483751" r:id="rId16"/>
    <p:sldLayoutId id="2147483752" r:id="rId17"/>
    <p:sldLayoutId id="2147483753" r:id="rId18"/>
    <p:sldLayoutId id="2147483754" r:id="rId19"/>
    <p:sldLayoutId id="2147483755" r:id="rId20"/>
    <p:sldLayoutId id="2147483756"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767" r:id="rId32"/>
    <p:sldLayoutId id="2147483768" r:id="rId33"/>
    <p:sldLayoutId id="2147483769" r:id="rId34"/>
    <p:sldLayoutId id="2147483770" r:id="rId35"/>
    <p:sldLayoutId id="2147483771" r:id="rId36"/>
    <p:sldLayoutId id="2147483772" r:id="rId37"/>
    <p:sldLayoutId id="2147483773" r:id="rId38"/>
    <p:sldLayoutId id="2147483774" r:id="rId39"/>
    <p:sldLayoutId id="2147483775" r:id="rId40"/>
    <p:sldLayoutId id="2147483776" r:id="rId41"/>
    <p:sldLayoutId id="2147483777" r:id="rId42"/>
    <p:sldLayoutId id="2147483778" r:id="rId43"/>
    <p:sldLayoutId id="2147483779" r:id="rId44"/>
    <p:sldLayoutId id="2147483780" r:id="rId45"/>
    <p:sldLayoutId id="2147483781" r:id="rId46"/>
    <p:sldLayoutId id="2147483782" r:id="rId47"/>
    <p:sldLayoutId id="2147483783" r:id="rId48"/>
    <p:sldLayoutId id="2147483784" r:id="rId49"/>
    <p:sldLayoutId id="2147483785" r:id="rId50"/>
    <p:sldLayoutId id="2147483786" r:id="rId51"/>
    <p:sldLayoutId id="2147483787" r:id="rId52"/>
    <p:sldLayoutId id="2147483788" r:id="rId53"/>
    <p:sldLayoutId id="2147483789" r:id="rId54"/>
    <p:sldLayoutId id="2147483790" r:id="rId55"/>
    <p:sldLayoutId id="2147483791" r:id="rId56"/>
    <p:sldLayoutId id="2147483792" r:id="rId57"/>
    <p:sldLayoutId id="2147483793" r:id="rId58"/>
    <p:sldLayoutId id="2147483794" r:id="rId59"/>
    <p:sldLayoutId id="2147483795" r:id="rId60"/>
    <p:sldLayoutId id="2147483796" r:id="rId61"/>
    <p:sldLayoutId id="2147483797" r:id="rId62"/>
    <p:sldLayoutId id="2147483798" r:id="rId63"/>
    <p:sldLayoutId id="2147483799" r:id="rId64"/>
    <p:sldLayoutId id="2147483800" r:id="rId65"/>
    <p:sldLayoutId id="2147483801" r:id="rId66"/>
  </p:sldLayoutIdLst>
  <p:txStyles>
    <p:titleStyle>
      <a:lvl1pPr algn="l" defTabSz="914400" rtl="0" eaLnBrk="1" latinLnBrk="0" hangingPunct="1">
        <a:lnSpc>
          <a:spcPct val="90000"/>
        </a:lnSpc>
        <a:spcBef>
          <a:spcPct val="0"/>
        </a:spcBef>
        <a:buNone/>
        <a:defRPr sz="2500" b="1" kern="1200">
          <a:solidFill>
            <a:srgbClr val="00B0F0"/>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6.xml"/></Relationships>
</file>

<file path=ppt/slides/_rels/slide15.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7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7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7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73.xm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7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75.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7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7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78.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8.xml"/><Relationship Id="rId1" Type="http://schemas.openxmlformats.org/officeDocument/2006/relationships/tags" Target="../tags/tag179.xml"/><Relationship Id="rId4" Type="http://schemas.openxmlformats.org/officeDocument/2006/relationships/image" Target="../media/image9.wmf"/></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8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3.bin"/><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82.xml"/><Relationship Id="rId1" Type="http://schemas.openxmlformats.org/officeDocument/2006/relationships/tags" Target="../tags/tag181.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8.xml"/><Relationship Id="rId1" Type="http://schemas.openxmlformats.org/officeDocument/2006/relationships/tags" Target="../tags/tag183.xml"/><Relationship Id="rId4" Type="http://schemas.openxmlformats.org/officeDocument/2006/relationships/image" Target="../media/image10.emf"/></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84.xml"/></Relationships>
</file>

<file path=ppt/slides/_rels/slide62.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86.xml"/><Relationship Id="rId1" Type="http://schemas.openxmlformats.org/officeDocument/2006/relationships/tags" Target="../tags/tag185.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87.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8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89.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9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91.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9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93.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9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5.bin"/><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9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3" name="Shape 1"/>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Shape 2"/>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 name="Shape 3"/>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p:cNvSpPr/>
          <p:nvPr/>
        </p:nvSpPr>
        <p:spPr>
          <a:xfrm>
            <a:off x="967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p:cNvSpPr/>
          <p:nvPr/>
        </p:nvSpPr>
        <p:spPr>
          <a:xfrm>
            <a:off x="532368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Text 7"/>
          <p:cNvSpPr txBox="1"/>
          <p:nvPr/>
        </p:nvSpPr>
        <p:spPr>
          <a:xfrm>
            <a:off x="850696" y="2405632"/>
            <a:ext cx="7458075" cy="642035"/>
          </a:xfrm>
          <a:prstGeom prst="rect">
            <a:avLst/>
          </a:prstGeom>
          <a:noFill/>
          <a:ln/>
        </p:spPr>
        <p:txBody>
          <a:bodyPr wrap="square" lIns="0" tIns="0" rIns="0" bIns="0" rtlCol="0" anchor="t">
            <a:spAutoFit/>
          </a:bodyPr>
          <a:lstStyle/>
          <a:p>
            <a:pPr marL="0" indent="0" algn="ctr">
              <a:lnSpc>
                <a:spcPct val="96000"/>
              </a:lnSpc>
              <a:buNone/>
            </a:pPr>
            <a:r>
              <a:rPr lang="zh-CN" altLang="en-US" sz="4346" b="1">
                <a:solidFill>
                  <a:srgbClr val="414141"/>
                </a:solidFill>
                <a:latin typeface="Microsoft YaHei" panose="020B0503020204020204" pitchFamily="34" charset="-122"/>
                <a:ea typeface="Microsoft YaHei" panose="020B0503020204020204" pitchFamily="34" charset="-122"/>
                <a:cs typeface="SourceHanSansSC-Regular"/>
              </a:rPr>
              <a:t>数据库语言</a:t>
            </a:r>
            <a:endParaRPr lang="en-US" sz="4346" dirty="0">
              <a:latin typeface="Microsoft YaHei" panose="020B0503020204020204" pitchFamily="34" charset="-122"/>
              <a:ea typeface="Microsoft YaHei" panose="020B0503020204020204" pitchFamily="34" charset="-122"/>
            </a:endParaRPr>
          </a:p>
        </p:txBody>
      </p:sp>
      <p:sp>
        <p:nvSpPr>
          <p:cNvPr id="10" name="Text 8"/>
          <p:cNvSpPr txBox="1"/>
          <p:nvPr/>
        </p:nvSpPr>
        <p:spPr>
          <a:xfrm>
            <a:off x="3415301" y="3365015"/>
            <a:ext cx="2328863" cy="864147"/>
          </a:xfrm>
          <a:prstGeom prst="rect">
            <a:avLst/>
          </a:prstGeom>
          <a:noFill/>
          <a:ln/>
        </p:spPr>
        <p:txBody>
          <a:bodyPr wrap="square" lIns="0" tIns="0" rIns="0" bIns="0" rtlCol="0" anchor="t">
            <a:spAutoFit/>
          </a:bodyPr>
          <a:lstStyle/>
          <a:p>
            <a:pPr marL="0" indent="0" algn="ctr">
              <a:lnSpc>
                <a:spcPct val="96000"/>
              </a:lnSpc>
              <a:buNone/>
            </a:pPr>
            <a:r>
              <a:rPr lang="zh-CN" altLang="en-US" b="1" dirty="0">
                <a:solidFill>
                  <a:srgbClr val="4E4646"/>
                </a:solidFill>
                <a:latin typeface="Microsoft YaHei" panose="020B0503020204020204" pitchFamily="34" charset="-122"/>
                <a:ea typeface="Microsoft YaHei" panose="020B0503020204020204" pitchFamily="34" charset="-122"/>
                <a:cs typeface="SourceHanSansSC-Regular"/>
              </a:rPr>
              <a:t>彭煜玮</a:t>
            </a:r>
            <a:endParaRPr lang="en-US" altLang="zh-CN" b="1" dirty="0">
              <a:solidFill>
                <a:srgbClr val="4E4646"/>
              </a:solidFill>
              <a:latin typeface="Microsoft YaHei" panose="020B0503020204020204" pitchFamily="34" charset="-122"/>
              <a:ea typeface="Microsoft YaHei" panose="020B0503020204020204" pitchFamily="34" charset="-122"/>
              <a:cs typeface="SourceHanSansSC-Regular"/>
            </a:endParaRPr>
          </a:p>
          <a:p>
            <a:pPr marL="0" indent="0" algn="ctr">
              <a:lnSpc>
                <a:spcPct val="96000"/>
              </a:lnSpc>
              <a:buNone/>
            </a:pPr>
            <a:r>
              <a:rPr lang="en-US" altLang="zh-CN" sz="1350" dirty="0" err="1">
                <a:solidFill>
                  <a:srgbClr val="4E4646"/>
                </a:solidFill>
                <a:latin typeface="Microsoft YaHei" panose="020B0503020204020204" pitchFamily="34" charset="-122"/>
                <a:ea typeface="Microsoft YaHei" panose="020B0503020204020204" pitchFamily="34" charset="-122"/>
                <a:cs typeface="SourceHanSansSC-Regular"/>
              </a:rPr>
              <a:t>ywpeng@whu.edu.cn</a:t>
            </a:r>
            <a:endParaRPr lang="en-US" altLang="zh-CN" sz="1350" dirty="0">
              <a:solidFill>
                <a:srgbClr val="4E4646"/>
              </a:solidFill>
              <a:latin typeface="Microsoft YaHei" panose="020B0503020204020204" pitchFamily="34" charset="-122"/>
              <a:ea typeface="Microsoft YaHei" panose="020B0503020204020204" pitchFamily="34" charset="-122"/>
              <a:cs typeface="SourceHanSansSC-Regular"/>
            </a:endParaRPr>
          </a:p>
          <a:p>
            <a:pPr marL="0" indent="0" algn="ctr">
              <a:lnSpc>
                <a:spcPct val="96000"/>
              </a:lnSpc>
              <a:buNone/>
            </a:pPr>
            <a:r>
              <a:rPr lang="zh-CN" altLang="en-US" sz="1350" dirty="0">
                <a:solidFill>
                  <a:srgbClr val="4E4646"/>
                </a:solidFill>
                <a:latin typeface="Microsoft YaHei" panose="020B0503020204020204" pitchFamily="34" charset="-122"/>
                <a:ea typeface="Microsoft YaHei" panose="020B0503020204020204" pitchFamily="34" charset="-122"/>
              </a:rPr>
              <a:t>珞珈图腾数据库实验室</a:t>
            </a:r>
            <a:endParaRPr lang="en-US" altLang="zh-CN" sz="1350" dirty="0">
              <a:solidFill>
                <a:srgbClr val="4E4646"/>
              </a:solidFill>
              <a:latin typeface="Microsoft YaHei" panose="020B0503020204020204" pitchFamily="34" charset="-122"/>
              <a:ea typeface="Microsoft YaHei" panose="020B0503020204020204" pitchFamily="34" charset="-122"/>
            </a:endParaRPr>
          </a:p>
          <a:p>
            <a:pPr marL="0" indent="0" algn="ctr">
              <a:lnSpc>
                <a:spcPct val="96000"/>
              </a:lnSpc>
              <a:buNone/>
            </a:pPr>
            <a:r>
              <a:rPr lang="en-US" altLang="zh-CN" sz="1350" dirty="0">
                <a:solidFill>
                  <a:srgbClr val="4E4646"/>
                </a:solidFill>
                <a:latin typeface="Microsoft YaHei" panose="020B0503020204020204" pitchFamily="34" charset="-122"/>
                <a:ea typeface="Microsoft YaHei" panose="020B0503020204020204" pitchFamily="34" charset="-122"/>
              </a:rPr>
              <a:t>2025.9.1</a:t>
            </a:r>
            <a:endParaRPr lang="en-US" sz="1350" dirty="0">
              <a:latin typeface="Microsoft YaHei" panose="020B0503020204020204" pitchFamily="34" charset="-122"/>
              <a:ea typeface="Microsoft YaHei" panose="020B0503020204020204" pitchFamily="34" charset="-122"/>
            </a:endParaRPr>
          </a:p>
        </p:txBody>
      </p:sp>
      <p:sp>
        <p:nvSpPr>
          <p:cNvPr id="12" name="Text 10"/>
          <p:cNvSpPr txBox="1"/>
          <p:nvPr/>
        </p:nvSpPr>
        <p:spPr>
          <a:xfrm>
            <a:off x="850696" y="1132005"/>
            <a:ext cx="7458075" cy="1143000"/>
          </a:xfrm>
          <a:prstGeom prst="rect">
            <a:avLst/>
          </a:prstGeom>
          <a:noFill/>
          <a:ln/>
        </p:spPr>
        <p:txBody>
          <a:bodyPr wrap="square" lIns="0" tIns="0" rIns="0" bIns="0" rtlCol="0" anchor="t">
            <a:spAutoFit/>
          </a:bodyPr>
          <a:lstStyle/>
          <a:p>
            <a:pPr marL="0" indent="0" algn="ctr">
              <a:lnSpc>
                <a:spcPct val="96000"/>
              </a:lnSpc>
              <a:buNone/>
            </a:pPr>
            <a:r>
              <a:rPr lang="en-US" sz="7500" b="1" dirty="0" err="1">
                <a:solidFill>
                  <a:srgbClr val="148577"/>
                </a:solidFill>
                <a:latin typeface="Microsoft YaHei" panose="020B0503020204020204" pitchFamily="34" charset="-122"/>
                <a:ea typeface="Microsoft YaHei" panose="020B0503020204020204" pitchFamily="34" charset="-122"/>
                <a:cs typeface="SourceHanSansSC-Regular"/>
              </a:rPr>
              <a:t>现代数据库系统</a:t>
            </a:r>
            <a:endParaRPr lang="en-US" sz="7500" dirty="0">
              <a:latin typeface="Microsoft YaHei" panose="020B0503020204020204" pitchFamily="34" charset="-122"/>
              <a:ea typeface="Microsoft YaHei" panose="020B0503020204020204" pitchFamily="34" charset="-122"/>
            </a:endParaRPr>
          </a:p>
        </p:txBody>
      </p:sp>
      <p:sp>
        <p:nvSpPr>
          <p:cNvPr id="13" name="Shape 11"/>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18" name="图片 17" descr="徽标&#10;&#10;AI 生成的内容可能不正确。">
            <a:extLst>
              <a:ext uri="{FF2B5EF4-FFF2-40B4-BE49-F238E27FC236}">
                <a16:creationId xmlns:a16="http://schemas.microsoft.com/office/drawing/2014/main" id="{7F51767B-B579-4F1A-972C-0571B613E027}"/>
              </a:ext>
            </a:extLst>
          </p:cNvPr>
          <p:cNvPicPr>
            <a:picLocks noChangeAspect="1"/>
          </p:cNvPicPr>
          <p:nvPr/>
        </p:nvPicPr>
        <p:blipFill>
          <a:blip r:embed="rId3"/>
          <a:stretch>
            <a:fillRect/>
          </a:stretch>
        </p:blipFill>
        <p:spPr>
          <a:xfrm>
            <a:off x="4202034" y="220502"/>
            <a:ext cx="720574" cy="7189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BEA37-B35A-461E-1D24-C13D7EC8588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9000886-AFFD-56BD-B952-DA7210E3E4FC}"/>
              </a:ext>
            </a:extLst>
          </p:cNvPr>
          <p:cNvSpPr/>
          <p:nvPr/>
        </p:nvSpPr>
        <p:spPr>
          <a:xfrm>
            <a:off x="0" y="0"/>
            <a:ext cx="2793931" cy="5137945"/>
          </a:xfrm>
          <a:custGeom>
            <a:avLst/>
            <a:gdLst/>
            <a:ahLst/>
            <a:cxnLst/>
            <a:rect l="l" t="t" r="r" b="b"/>
            <a:pathLst>
              <a:path w="2793931" h="5137945">
                <a:moveTo>
                  <a:pt x="0" y="0"/>
                </a:moveTo>
                <a:lnTo>
                  <a:pt x="0" y="5137945"/>
                </a:lnTo>
                <a:lnTo>
                  <a:pt x="2793931" y="5137945"/>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3" name="Image 0" descr="//img.tukuppt.com/aippt_uploads/55004950/24/11/16/67383893e246f.png">
            <a:extLst>
              <a:ext uri="{FF2B5EF4-FFF2-40B4-BE49-F238E27FC236}">
                <a16:creationId xmlns:a16="http://schemas.microsoft.com/office/drawing/2014/main" id="{03F35EAD-5834-1449-36DA-1D10B7CA70C1}"/>
              </a:ext>
            </a:extLst>
          </p:cNvPr>
          <p:cNvPicPr>
            <a:picLocks noChangeAspect="1"/>
          </p:cNvPicPr>
          <p:nvPr/>
        </p:nvPicPr>
        <p:blipFill>
          <a:blip r:embed="rId3"/>
          <a:stretch>
            <a:fillRect/>
          </a:stretch>
        </p:blipFill>
        <p:spPr>
          <a:xfrm>
            <a:off x="238269" y="0"/>
            <a:ext cx="5168105" cy="5130104"/>
          </a:xfrm>
          <a:prstGeom prst="rect">
            <a:avLst/>
          </a:prstGeom>
        </p:spPr>
      </p:pic>
      <p:sp>
        <p:nvSpPr>
          <p:cNvPr id="4" name="Shape 1">
            <a:extLst>
              <a:ext uri="{FF2B5EF4-FFF2-40B4-BE49-F238E27FC236}">
                <a16:creationId xmlns:a16="http://schemas.microsoft.com/office/drawing/2014/main" id="{448AEA9C-9DD2-33B3-EC02-608EF99CCE25}"/>
              </a:ext>
            </a:extLst>
          </p:cNvPr>
          <p:cNvSpPr/>
          <p:nvPr/>
        </p:nvSpPr>
        <p:spPr>
          <a:xfrm>
            <a:off x="3013642" y="1057042"/>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 name="Shape 2">
            <a:extLst>
              <a:ext uri="{FF2B5EF4-FFF2-40B4-BE49-F238E27FC236}">
                <a16:creationId xmlns:a16="http://schemas.microsoft.com/office/drawing/2014/main" id="{EF92AF7E-451F-E748-BA2E-401C504E4DDA}"/>
              </a:ext>
            </a:extLst>
          </p:cNvPr>
          <p:cNvSpPr/>
          <p:nvPr/>
        </p:nvSpPr>
        <p:spPr>
          <a:xfrm>
            <a:off x="3442164" y="1829945"/>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3">
            <a:extLst>
              <a:ext uri="{FF2B5EF4-FFF2-40B4-BE49-F238E27FC236}">
                <a16:creationId xmlns:a16="http://schemas.microsoft.com/office/drawing/2014/main" id="{F61FA37D-075D-14BD-9645-F1C81C19CE65}"/>
              </a:ext>
            </a:extLst>
          </p:cNvPr>
          <p:cNvSpPr/>
          <p:nvPr/>
        </p:nvSpPr>
        <p:spPr>
          <a:xfrm>
            <a:off x="3898459" y="2713939"/>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4">
            <a:extLst>
              <a:ext uri="{FF2B5EF4-FFF2-40B4-BE49-F238E27FC236}">
                <a16:creationId xmlns:a16="http://schemas.microsoft.com/office/drawing/2014/main" id="{C667756B-9411-48D2-3564-A82E17B753C3}"/>
              </a:ext>
            </a:extLst>
          </p:cNvPr>
          <p:cNvSpPr/>
          <p:nvPr/>
        </p:nvSpPr>
        <p:spPr>
          <a:xfrm>
            <a:off x="4371417" y="3547943"/>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Text 6">
            <a:extLst>
              <a:ext uri="{FF2B5EF4-FFF2-40B4-BE49-F238E27FC236}">
                <a16:creationId xmlns:a16="http://schemas.microsoft.com/office/drawing/2014/main" id="{502E12E3-3875-727C-3AFC-A29B00A4EAC4}"/>
              </a:ext>
            </a:extLst>
          </p:cNvPr>
          <p:cNvSpPr txBox="1"/>
          <p:nvPr/>
        </p:nvSpPr>
        <p:spPr>
          <a:xfrm>
            <a:off x="3064363" y="1174438"/>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01</a:t>
            </a:r>
            <a:endParaRPr lang="en-US" sz="1800" dirty="0">
              <a:latin typeface="Microsoft YaHei" panose="020B0503020204020204" pitchFamily="34" charset="-122"/>
              <a:ea typeface="Microsoft YaHei" panose="020B0503020204020204" pitchFamily="34" charset="-122"/>
            </a:endParaRPr>
          </a:p>
        </p:txBody>
      </p:sp>
      <p:sp>
        <p:nvSpPr>
          <p:cNvPr id="10" name="Text 7">
            <a:extLst>
              <a:ext uri="{FF2B5EF4-FFF2-40B4-BE49-F238E27FC236}">
                <a16:creationId xmlns:a16="http://schemas.microsoft.com/office/drawing/2014/main" id="{18187866-10A3-BE3C-1D06-10E193335959}"/>
              </a:ext>
            </a:extLst>
          </p:cNvPr>
          <p:cNvSpPr txBox="1"/>
          <p:nvPr/>
        </p:nvSpPr>
        <p:spPr>
          <a:xfrm>
            <a:off x="3492885" y="1947341"/>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02</a:t>
            </a:r>
            <a:endParaRPr lang="en-US" sz="1800" dirty="0">
              <a:latin typeface="Microsoft YaHei" panose="020B0503020204020204" pitchFamily="34" charset="-122"/>
              <a:ea typeface="Microsoft YaHei" panose="020B0503020204020204" pitchFamily="34" charset="-122"/>
            </a:endParaRPr>
          </a:p>
        </p:txBody>
      </p:sp>
      <p:sp>
        <p:nvSpPr>
          <p:cNvPr id="11" name="Text 8">
            <a:extLst>
              <a:ext uri="{FF2B5EF4-FFF2-40B4-BE49-F238E27FC236}">
                <a16:creationId xmlns:a16="http://schemas.microsoft.com/office/drawing/2014/main" id="{9C2A02D7-A019-7510-A4B4-C1297A2AD4DB}"/>
              </a:ext>
            </a:extLst>
          </p:cNvPr>
          <p:cNvSpPr txBox="1"/>
          <p:nvPr/>
        </p:nvSpPr>
        <p:spPr>
          <a:xfrm>
            <a:off x="3953181" y="2831335"/>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03</a:t>
            </a:r>
            <a:endParaRPr lang="en-US" sz="1800" dirty="0">
              <a:latin typeface="Microsoft YaHei" panose="020B0503020204020204" pitchFamily="34" charset="-122"/>
              <a:ea typeface="Microsoft YaHei" panose="020B0503020204020204" pitchFamily="34" charset="-122"/>
            </a:endParaRPr>
          </a:p>
        </p:txBody>
      </p:sp>
      <p:sp>
        <p:nvSpPr>
          <p:cNvPr id="12" name="Text 9">
            <a:extLst>
              <a:ext uri="{FF2B5EF4-FFF2-40B4-BE49-F238E27FC236}">
                <a16:creationId xmlns:a16="http://schemas.microsoft.com/office/drawing/2014/main" id="{8E862182-2E4F-2ECA-503D-327F44343547}"/>
              </a:ext>
            </a:extLst>
          </p:cNvPr>
          <p:cNvSpPr txBox="1"/>
          <p:nvPr/>
        </p:nvSpPr>
        <p:spPr>
          <a:xfrm>
            <a:off x="4422138" y="3665339"/>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04</a:t>
            </a:r>
            <a:endParaRPr lang="en-US" sz="1800" dirty="0">
              <a:latin typeface="Microsoft YaHei" panose="020B0503020204020204" pitchFamily="34" charset="-122"/>
              <a:ea typeface="Microsoft YaHei" panose="020B0503020204020204" pitchFamily="34" charset="-122"/>
            </a:endParaRPr>
          </a:p>
        </p:txBody>
      </p:sp>
      <p:sp>
        <p:nvSpPr>
          <p:cNvPr id="14" name="Text 11">
            <a:extLst>
              <a:ext uri="{FF2B5EF4-FFF2-40B4-BE49-F238E27FC236}">
                <a16:creationId xmlns:a16="http://schemas.microsoft.com/office/drawing/2014/main" id="{17138A35-2F47-02F9-F0EC-FF8863E74859}"/>
              </a:ext>
            </a:extLst>
          </p:cNvPr>
          <p:cNvSpPr txBox="1"/>
          <p:nvPr/>
        </p:nvSpPr>
        <p:spPr>
          <a:xfrm>
            <a:off x="7639544" y="1813676"/>
            <a:ext cx="952500" cy="1233488"/>
          </a:xfrm>
          <a:prstGeom prst="rect">
            <a:avLst/>
          </a:prstGeom>
          <a:noFill/>
          <a:ln/>
        </p:spPr>
        <p:txBody>
          <a:bodyPr wrap="square" lIns="0" tIns="0" rIns="0" bIns="0" rtlCol="0" anchor="t">
            <a:spAutoFit/>
          </a:bodyPr>
          <a:lstStyle/>
          <a:p>
            <a:pPr marL="0" indent="0" algn="ctr">
              <a:lnSpc>
                <a:spcPct val="96000"/>
              </a:lnSpc>
              <a:buNone/>
            </a:pPr>
            <a:r>
              <a:rPr lang="zh-CN" altLang="en-US" sz="4050" b="1" dirty="0">
                <a:solidFill>
                  <a:srgbClr val="FD5220"/>
                </a:solidFill>
                <a:latin typeface="Microsoft YaHei" panose="020B0503020204020204" pitchFamily="34" charset="-122"/>
                <a:ea typeface="Microsoft YaHei" panose="020B0503020204020204" pitchFamily="34" charset="-122"/>
                <a:cs typeface="SourceHanSansSC-Regular"/>
              </a:rPr>
              <a:t>目录</a:t>
            </a:r>
            <a:endParaRPr lang="en-US" sz="4050" dirty="0">
              <a:latin typeface="Microsoft YaHei" panose="020B0503020204020204" pitchFamily="34" charset="-122"/>
              <a:ea typeface="Microsoft YaHei" panose="020B0503020204020204" pitchFamily="34" charset="-122"/>
            </a:endParaRPr>
          </a:p>
        </p:txBody>
      </p:sp>
      <p:sp>
        <p:nvSpPr>
          <p:cNvPr id="15" name="Text 12">
            <a:extLst>
              <a:ext uri="{FF2B5EF4-FFF2-40B4-BE49-F238E27FC236}">
                <a16:creationId xmlns:a16="http://schemas.microsoft.com/office/drawing/2014/main" id="{EA1B1183-E5C6-D0DD-E1B3-F3C319386763}"/>
              </a:ext>
            </a:extLst>
          </p:cNvPr>
          <p:cNvSpPr txBox="1"/>
          <p:nvPr/>
        </p:nvSpPr>
        <p:spPr>
          <a:xfrm rot="5400000">
            <a:off x="7762079" y="2279595"/>
            <a:ext cx="1880497" cy="265907"/>
          </a:xfrm>
          <a:prstGeom prst="rect">
            <a:avLst/>
          </a:prstGeom>
          <a:noFill/>
          <a:ln/>
        </p:spPr>
        <p:txBody>
          <a:bodyPr wrap="square" lIns="0" tIns="0" rIns="0" bIns="0" rtlCol="0" anchor="t">
            <a:spAutoFit/>
          </a:bodyPr>
          <a:lstStyle/>
          <a:p>
            <a:pPr marL="0" indent="0" algn="ctr">
              <a:lnSpc>
                <a:spcPct val="96000"/>
              </a:lnSpc>
              <a:buNone/>
            </a:pPr>
            <a:r>
              <a:rPr lang="en" altLang="en-US" sz="1800" b="1" kern="0" spc="525" dirty="0">
                <a:solidFill>
                  <a:srgbClr val="FD5220"/>
                </a:solidFill>
                <a:latin typeface="Microsoft YaHei" panose="020B0503020204020204" pitchFamily="34" charset="-122"/>
                <a:ea typeface="Microsoft YaHei" panose="020B0503020204020204" pitchFamily="34" charset="-122"/>
                <a:cs typeface="SourceHanSansSC-Regular"/>
              </a:rPr>
              <a:t>CONTENTS</a:t>
            </a:r>
            <a:endParaRPr lang="en-US" sz="1800" dirty="0">
              <a:latin typeface="Microsoft YaHei" panose="020B0503020204020204" pitchFamily="34" charset="-122"/>
              <a:ea typeface="Microsoft YaHei" panose="020B0503020204020204" pitchFamily="34" charset="-122"/>
            </a:endParaRPr>
          </a:p>
        </p:txBody>
      </p:sp>
      <p:sp>
        <p:nvSpPr>
          <p:cNvPr id="16" name="Text 13">
            <a:extLst>
              <a:ext uri="{FF2B5EF4-FFF2-40B4-BE49-F238E27FC236}">
                <a16:creationId xmlns:a16="http://schemas.microsoft.com/office/drawing/2014/main" id="{283B7563-B89B-B00F-0CF1-EE66E2BA755A}"/>
              </a:ext>
            </a:extLst>
          </p:cNvPr>
          <p:cNvSpPr txBox="1"/>
          <p:nvPr/>
        </p:nvSpPr>
        <p:spPr>
          <a:xfrm>
            <a:off x="3898459" y="1130002"/>
            <a:ext cx="3181350" cy="276225"/>
          </a:xfrm>
          <a:prstGeom prst="rect">
            <a:avLst/>
          </a:prstGeom>
          <a:noFill/>
          <a:ln/>
        </p:spPr>
        <p:txBody>
          <a:bodyPr wrap="square" lIns="0" tIns="0" rIns="0" bIns="0" rtlCol="0" anchor="t">
            <a:spAutoFit/>
          </a:bodyPr>
          <a:lstStyle/>
          <a:p>
            <a:pPr marL="0" indent="0" algn="l">
              <a:lnSpc>
                <a:spcPct val="96000"/>
              </a:lnSpc>
              <a:buNone/>
            </a:pPr>
            <a:r>
              <a:rPr lang="en-US" altLang="zh-CN" sz="1800" b="1" dirty="0">
                <a:solidFill>
                  <a:srgbClr val="FD5220"/>
                </a:solidFill>
                <a:latin typeface="Microsoft YaHei" panose="020B0503020204020204" pitchFamily="34" charset="-122"/>
                <a:ea typeface="Microsoft YaHei" panose="020B0503020204020204" pitchFamily="34" charset="-122"/>
                <a:cs typeface="SourceHanSansSC-Regular"/>
              </a:rPr>
              <a:t>SQL</a:t>
            </a: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语言简介</a:t>
            </a:r>
            <a:endParaRPr lang="en-US" sz="1800" dirty="0">
              <a:latin typeface="Microsoft YaHei" panose="020B0503020204020204" pitchFamily="34" charset="-122"/>
              <a:ea typeface="Microsoft YaHei" panose="020B0503020204020204" pitchFamily="34" charset="-122"/>
            </a:endParaRPr>
          </a:p>
        </p:txBody>
      </p:sp>
      <p:sp>
        <p:nvSpPr>
          <p:cNvPr id="17" name="Text 14">
            <a:extLst>
              <a:ext uri="{FF2B5EF4-FFF2-40B4-BE49-F238E27FC236}">
                <a16:creationId xmlns:a16="http://schemas.microsoft.com/office/drawing/2014/main" id="{97F12135-AFBA-A1FF-77B6-1DC359B1B730}"/>
              </a:ext>
            </a:extLst>
          </p:cNvPr>
          <p:cNvSpPr txBox="1"/>
          <p:nvPr/>
        </p:nvSpPr>
        <p:spPr>
          <a:xfrm>
            <a:off x="4371417" y="1957062"/>
            <a:ext cx="2995613" cy="265907"/>
          </a:xfrm>
          <a:prstGeom prst="rect">
            <a:avLst/>
          </a:prstGeom>
          <a:noFill/>
          <a:ln/>
        </p:spPr>
        <p:txBody>
          <a:bodyPr wrap="square" lIns="0" tIns="0" rIns="0" bIns="0" rtlCol="0" anchor="t">
            <a:spAutoFit/>
          </a:bodyPr>
          <a:lstStyle/>
          <a:p>
            <a:pPr marL="0" indent="0" algn="l">
              <a:lnSpc>
                <a:spcPct val="96000"/>
              </a:lnSpc>
              <a:buNone/>
            </a:pPr>
            <a:r>
              <a:rPr lang="en-US" altLang="zh-CN" sz="1800" b="1" dirty="0">
                <a:solidFill>
                  <a:srgbClr val="FD5220"/>
                </a:solidFill>
                <a:latin typeface="Microsoft YaHei" panose="020B0503020204020204" pitchFamily="34" charset="-122"/>
                <a:ea typeface="Microsoft YaHei" panose="020B0503020204020204" pitchFamily="34" charset="-122"/>
                <a:cs typeface="SourceHanSansSC-Regular"/>
              </a:rPr>
              <a:t>DDL</a:t>
            </a: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与基本数据库对象</a:t>
            </a:r>
            <a:endParaRPr lang="en-US" sz="1800" dirty="0">
              <a:latin typeface="Microsoft YaHei" panose="020B0503020204020204" pitchFamily="34" charset="-122"/>
              <a:ea typeface="Microsoft YaHei" panose="020B0503020204020204" pitchFamily="34" charset="-122"/>
            </a:endParaRPr>
          </a:p>
        </p:txBody>
      </p:sp>
      <p:sp>
        <p:nvSpPr>
          <p:cNvPr id="18" name="Text 15">
            <a:extLst>
              <a:ext uri="{FF2B5EF4-FFF2-40B4-BE49-F238E27FC236}">
                <a16:creationId xmlns:a16="http://schemas.microsoft.com/office/drawing/2014/main" id="{8401A08A-D327-49A0-3425-DE3180ECB0E7}"/>
              </a:ext>
            </a:extLst>
          </p:cNvPr>
          <p:cNvSpPr txBox="1"/>
          <p:nvPr/>
        </p:nvSpPr>
        <p:spPr>
          <a:xfrm>
            <a:off x="4794385" y="2784122"/>
            <a:ext cx="3081338" cy="276225"/>
          </a:xfrm>
          <a:prstGeom prst="rect">
            <a:avLst/>
          </a:prstGeom>
          <a:noFill/>
          <a:ln/>
        </p:spPr>
        <p:txBody>
          <a:bodyPr wrap="square" lIns="0" tIns="0" rIns="0" bIns="0" rtlCol="0" anchor="t">
            <a:spAutoFit/>
          </a:bodyPr>
          <a:lstStyle/>
          <a:p>
            <a:pPr marL="0" indent="0" algn="l">
              <a:lnSpc>
                <a:spcPct val="96000"/>
              </a:lnSpc>
              <a:buNone/>
            </a:pPr>
            <a:r>
              <a:rPr lang="en-US" altLang="zh-CN" sz="1800" b="1" dirty="0">
                <a:solidFill>
                  <a:srgbClr val="FD5220"/>
                </a:solidFill>
                <a:latin typeface="Microsoft YaHei" panose="020B0503020204020204" pitchFamily="34" charset="-122"/>
                <a:ea typeface="Microsoft YaHei" panose="020B0503020204020204" pitchFamily="34" charset="-122"/>
                <a:cs typeface="SourceHanSansSC-Regular"/>
              </a:rPr>
              <a:t>DML</a:t>
            </a: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语言</a:t>
            </a:r>
            <a:endParaRPr lang="en-US" sz="1800" dirty="0">
              <a:latin typeface="Microsoft YaHei" panose="020B0503020204020204" pitchFamily="34" charset="-122"/>
              <a:ea typeface="Microsoft YaHei" panose="020B0503020204020204" pitchFamily="34" charset="-122"/>
            </a:endParaRPr>
          </a:p>
        </p:txBody>
      </p:sp>
      <p:sp>
        <p:nvSpPr>
          <p:cNvPr id="19" name="Text 16">
            <a:extLst>
              <a:ext uri="{FF2B5EF4-FFF2-40B4-BE49-F238E27FC236}">
                <a16:creationId xmlns:a16="http://schemas.microsoft.com/office/drawing/2014/main" id="{C3906962-A359-10A3-A733-E6D5568BADBA}"/>
              </a:ext>
            </a:extLst>
          </p:cNvPr>
          <p:cNvSpPr txBox="1"/>
          <p:nvPr/>
        </p:nvSpPr>
        <p:spPr>
          <a:xfrm>
            <a:off x="5267343" y="3611182"/>
            <a:ext cx="2857500" cy="276225"/>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更多数据库对象</a:t>
            </a:r>
            <a:endParaRPr lang="en-US" sz="1800" dirty="0">
              <a:latin typeface="Microsoft YaHei" panose="020B0503020204020204" pitchFamily="34" charset="-122"/>
              <a:ea typeface="Microsoft YaHei" panose="020B0503020204020204" pitchFamily="34" charset="-122"/>
            </a:endParaRPr>
          </a:p>
        </p:txBody>
      </p:sp>
      <p:sp>
        <p:nvSpPr>
          <p:cNvPr id="8" name="Shape 4">
            <a:extLst>
              <a:ext uri="{FF2B5EF4-FFF2-40B4-BE49-F238E27FC236}">
                <a16:creationId xmlns:a16="http://schemas.microsoft.com/office/drawing/2014/main" id="{9B71652B-349D-ABBE-E2C8-7D39231BF985}"/>
              </a:ext>
            </a:extLst>
          </p:cNvPr>
          <p:cNvSpPr/>
          <p:nvPr/>
        </p:nvSpPr>
        <p:spPr>
          <a:xfrm>
            <a:off x="4815948" y="4308899"/>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Text 9">
            <a:extLst>
              <a:ext uri="{FF2B5EF4-FFF2-40B4-BE49-F238E27FC236}">
                <a16:creationId xmlns:a16="http://schemas.microsoft.com/office/drawing/2014/main" id="{470A4DE1-DBE9-BBE2-B457-241B8B48B7E4}"/>
              </a:ext>
            </a:extLst>
          </p:cNvPr>
          <p:cNvSpPr txBox="1"/>
          <p:nvPr/>
        </p:nvSpPr>
        <p:spPr>
          <a:xfrm>
            <a:off x="4866669" y="4426295"/>
            <a:ext cx="409575" cy="265907"/>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a:t>
            </a:r>
            <a:r>
              <a:rPr lang="en-US" altLang="zh-CN" sz="1800" b="1" dirty="0">
                <a:solidFill>
                  <a:srgbClr val="FFFFFF"/>
                </a:solidFill>
                <a:latin typeface="Microsoft YaHei" panose="020B0503020204020204" pitchFamily="34" charset="-122"/>
                <a:ea typeface="Microsoft YaHei" panose="020B0503020204020204" pitchFamily="34" charset="-122"/>
                <a:cs typeface="SourceHanSansSC-Regular"/>
              </a:rPr>
              <a:t>5</a:t>
            </a:r>
            <a:endParaRPr lang="en-US" sz="1800" dirty="0">
              <a:latin typeface="Microsoft YaHei" panose="020B0503020204020204" pitchFamily="34" charset="-122"/>
              <a:ea typeface="Microsoft YaHei" panose="020B0503020204020204" pitchFamily="34" charset="-122"/>
            </a:endParaRPr>
          </a:p>
        </p:txBody>
      </p:sp>
      <p:sp>
        <p:nvSpPr>
          <p:cNvPr id="20" name="Text 16">
            <a:extLst>
              <a:ext uri="{FF2B5EF4-FFF2-40B4-BE49-F238E27FC236}">
                <a16:creationId xmlns:a16="http://schemas.microsoft.com/office/drawing/2014/main" id="{CC4ECBE9-E9CC-A82F-15D2-C3D507588310}"/>
              </a:ext>
            </a:extLst>
          </p:cNvPr>
          <p:cNvSpPr txBox="1"/>
          <p:nvPr/>
        </p:nvSpPr>
        <p:spPr>
          <a:xfrm>
            <a:off x="5711874" y="4372138"/>
            <a:ext cx="2857500" cy="276225"/>
          </a:xfrm>
          <a:prstGeom prst="rect">
            <a:avLst/>
          </a:prstGeom>
          <a:noFill/>
          <a:ln/>
        </p:spPr>
        <p:txBody>
          <a:bodyPr wrap="square" lIns="0" tIns="0" rIns="0" bIns="0" rtlCol="0" anchor="t">
            <a:spAutoFit/>
          </a:bodyPr>
          <a:lstStyle/>
          <a:p>
            <a:pPr marL="0" indent="0" algn="l">
              <a:lnSpc>
                <a:spcPct val="96000"/>
              </a:lnSpc>
              <a:buNone/>
            </a:pPr>
            <a:r>
              <a:rPr lang="en-US" altLang="zh-CN" sz="1800" b="1" dirty="0">
                <a:solidFill>
                  <a:srgbClr val="FD5220"/>
                </a:solidFill>
                <a:latin typeface="Microsoft YaHei" panose="020B0503020204020204" pitchFamily="34" charset="-122"/>
                <a:ea typeface="Microsoft YaHei" panose="020B0503020204020204" pitchFamily="34" charset="-122"/>
                <a:cs typeface="SourceHanSansSC-Regular"/>
              </a:rPr>
              <a:t>DCL</a:t>
            </a: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语言</a:t>
            </a:r>
            <a:endParaRPr lang="en-US" sz="18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892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19C37-8C34-42FB-A8D0-C1CB25CE49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440C33C-87DF-88A3-DB7A-87E56A0C2FCA}"/>
              </a:ext>
            </a:extLst>
          </p:cNvPr>
          <p:cNvSpPr txBox="1"/>
          <p:nvPr/>
        </p:nvSpPr>
        <p:spPr>
          <a:xfrm>
            <a:off x="1006545" y="2781596"/>
            <a:ext cx="7458075" cy="661988"/>
          </a:xfrm>
          <a:prstGeom prst="rect">
            <a:avLst/>
          </a:prstGeom>
          <a:noFill/>
          <a:ln/>
        </p:spPr>
        <p:txBody>
          <a:bodyPr wrap="square" lIns="0" tIns="0" rIns="0" bIns="0" rtlCol="0" anchor="t">
            <a:spAutoFit/>
          </a:bodyPr>
          <a:lstStyle/>
          <a:p>
            <a:pPr marL="0" indent="0" algn="l">
              <a:lnSpc>
                <a:spcPct val="96000"/>
              </a:lnSpc>
              <a:buNone/>
            </a:pPr>
            <a:r>
              <a:rPr lang="en-US" altLang="zh-CN" sz="4346" b="1" dirty="0">
                <a:solidFill>
                  <a:srgbClr val="414141"/>
                </a:solidFill>
                <a:latin typeface="Microsoft YaHei" panose="020B0503020204020204" pitchFamily="34" charset="-122"/>
                <a:ea typeface="Microsoft YaHei" panose="020B0503020204020204" pitchFamily="34" charset="-122"/>
                <a:cs typeface="SourceHanSansSC-Regular"/>
              </a:rPr>
              <a:t>SQL</a:t>
            </a: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语言简介</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B7287C26-2BB0-4492-F720-B1415CB57588}"/>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321118C1-DBCE-1812-B5F1-FC55D1DBF034}"/>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C0267D86-771D-410F-69EE-3A181993182F}"/>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600A6E83-077A-1AE8-D07A-E0D941EFDB01}"/>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BF3940E8-5F0C-466B-16D9-55F6F352CCE5}"/>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A1D37615-C527-0D56-4AF0-250EC773D738}"/>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C6370916-FF8F-121F-D367-9EACBD726CDA}"/>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06BD18FE-31AD-B225-A6F5-92477457325F}"/>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D3C9F3DC-F5F3-AE26-7BA2-D7DC6DC90AF2}"/>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B51AF575-D720-A41D-8A4C-3FA23EB68B4C}"/>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C70FDA58-C25E-B0FA-0C98-64AC387ADBD1}"/>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F6CA3DBD-A890-A61A-4D92-9A6FFBA13E5E}"/>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C4223E36-06BF-F663-9D9C-17C0E56A333C}"/>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F5886B00-C629-5AEC-FDC0-14BE917DFA0D}"/>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B502BC6F-D77B-FD4C-CE7B-788839BA8C32}"/>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01</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453523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2F0CBFC-79FB-B526-D227-F11C225CADE1}"/>
              </a:ext>
            </a:extLst>
          </p:cNvPr>
          <p:cNvSpPr>
            <a:spLocks noGrp="1"/>
          </p:cNvSpPr>
          <p:nvPr>
            <p:ph type="title"/>
          </p:nvPr>
        </p:nvSpPr>
        <p:spPr/>
        <p:txBody>
          <a:bodyPr/>
          <a:lstStyle/>
          <a:p>
            <a:r>
              <a:rPr lang="en-US" altLang="zh-CN" dirty="0"/>
              <a:t>SQL</a:t>
            </a:r>
            <a:r>
              <a:rPr lang="zh-CN" altLang="en-US" dirty="0"/>
              <a:t>简介</a:t>
            </a:r>
          </a:p>
        </p:txBody>
      </p:sp>
      <p:sp>
        <p:nvSpPr>
          <p:cNvPr id="9219" name="Rectangle 3"/>
          <p:cNvSpPr>
            <a:spLocks noGrp="1"/>
          </p:cNvSpPr>
          <p:nvPr>
            <p:ph idx="1"/>
          </p:nvPr>
        </p:nvSpPr>
        <p:spPr/>
        <p:txBody>
          <a:bodyPr vert="horz" wrap="square" lIns="68580" tIns="34290" rIns="68580" bIns="34290" rtlCol="0" anchor="t" anchorCtr="0">
            <a:normAutofit/>
          </a:bodyPr>
          <a:lstStyle/>
          <a:p>
            <a:pPr marL="0" indent="0">
              <a:lnSpc>
                <a:spcPct val="100000"/>
              </a:lnSpc>
              <a:buSzPct val="60000"/>
              <a:buNone/>
            </a:pPr>
            <a:r>
              <a:rPr lang="zh-CN" altLang="en-US" sz="1800" b="1" dirty="0">
                <a:solidFill>
                  <a:schemeClr val="hlink"/>
                </a:solidFill>
              </a:rPr>
              <a:t>SQL</a:t>
            </a:r>
            <a:r>
              <a:rPr lang="zh-CN" altLang="en-US" sz="1800" b="1" dirty="0"/>
              <a:t>—</a:t>
            </a:r>
            <a:r>
              <a:rPr lang="zh-CN" altLang="en-US" sz="1800" dirty="0"/>
              <a:t>Structured Query Language（结构化查询语言），是通用的，功能极强的关系DB语言。</a:t>
            </a:r>
          </a:p>
          <a:p>
            <a:pPr marL="0" indent="0">
              <a:lnSpc>
                <a:spcPct val="100000"/>
              </a:lnSpc>
              <a:buSzPct val="60000"/>
              <a:buNone/>
            </a:pPr>
            <a:r>
              <a:rPr lang="zh-CN" altLang="en-US" sz="1800" b="1" dirty="0">
                <a:solidFill>
                  <a:schemeClr val="folHlink"/>
                </a:solidFill>
              </a:rPr>
              <a:t>1.  SQL的主要标准</a:t>
            </a:r>
          </a:p>
          <a:p>
            <a:pPr marL="0" indent="0">
              <a:lnSpc>
                <a:spcPct val="100000"/>
              </a:lnSpc>
              <a:buSzPct val="60000"/>
            </a:pPr>
            <a:r>
              <a:rPr lang="zh-CN" altLang="en-US" sz="1800" b="1" dirty="0">
                <a:solidFill>
                  <a:schemeClr val="hlink"/>
                </a:solidFill>
              </a:rPr>
              <a:t> </a:t>
            </a:r>
            <a:r>
              <a:rPr lang="zh-CN" altLang="en-US" sz="1800" dirty="0">
                <a:solidFill>
                  <a:schemeClr val="hlink"/>
                </a:solidFill>
              </a:rPr>
              <a:t>SQL-86</a:t>
            </a:r>
            <a:r>
              <a:rPr lang="zh-CN" altLang="en-US" sz="1800" dirty="0"/>
              <a:t>。SQL的第一个标准是1986年10月由美国国家标准化组织(ANSI)公布的。</a:t>
            </a:r>
          </a:p>
          <a:p>
            <a:pPr marL="0" indent="0">
              <a:lnSpc>
                <a:spcPct val="100000"/>
              </a:lnSpc>
              <a:buSzPct val="60000"/>
            </a:pPr>
            <a:r>
              <a:rPr lang="zh-CN" altLang="en-US" sz="1800" dirty="0">
                <a:solidFill>
                  <a:schemeClr val="hlink"/>
                </a:solidFill>
              </a:rPr>
              <a:t>SQL-99</a:t>
            </a:r>
            <a:r>
              <a:rPr lang="zh-CN" altLang="en-US" sz="1800" dirty="0"/>
              <a:t>(SQL3)。完成于1999年的SQL-99修订本具有更高级的特征。引入了支持对象-关系DBMS模型的SQL，扩展了对象、递归、触发等许多新的特征，支持用户自定义函数、自定义数据类型。</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p:cNvSpPr>
          <p:nvPr>
            <p:ph idx="1"/>
          </p:nvPr>
        </p:nvSpPr>
        <p:spPr>
          <a:xfrm>
            <a:off x="628650" y="1345583"/>
            <a:ext cx="2765479" cy="3408735"/>
          </a:xfrm>
        </p:spPr>
        <p:txBody>
          <a:bodyPr vert="horz" wrap="square" lIns="68580" tIns="34290" rIns="68580" bIns="34290" rtlCol="0" anchor="t" anchorCtr="0">
            <a:normAutofit/>
          </a:bodyPr>
          <a:lstStyle/>
          <a:p>
            <a:pPr marL="0" indent="0" defTabSz="685800">
              <a:buSzPct val="60000"/>
              <a:buNone/>
              <a:tabLst>
                <a:tab pos="357188" algn="l"/>
              </a:tabLst>
            </a:pPr>
            <a:r>
              <a:rPr lang="zh-CN" altLang="en-US" b="1" dirty="0">
                <a:solidFill>
                  <a:schemeClr val="hlink"/>
                </a:solidFill>
              </a:rPr>
              <a:t>功能：</a:t>
            </a:r>
          </a:p>
          <a:p>
            <a:pPr marL="269081" lvl="1" indent="14288" defTabSz="685800">
              <a:buFont typeface="Wingdings" panose="05000000000000000000" pitchFamily="2" charset="2"/>
              <a:buChar char="Ø"/>
              <a:tabLst>
                <a:tab pos="357188" algn="l"/>
              </a:tabLst>
            </a:pPr>
            <a:r>
              <a:rPr lang="zh-CN" altLang="en-US" dirty="0"/>
              <a:t>数据定义</a:t>
            </a:r>
          </a:p>
          <a:p>
            <a:pPr marL="269081" lvl="1" indent="14288" defTabSz="685800">
              <a:buFont typeface="Wingdings" panose="05000000000000000000" pitchFamily="2" charset="2"/>
              <a:buChar char="Ø"/>
              <a:tabLst>
                <a:tab pos="357188" algn="l"/>
              </a:tabLst>
            </a:pPr>
            <a:r>
              <a:rPr lang="zh-CN" altLang="en-US" dirty="0"/>
              <a:t>数据查询 </a:t>
            </a:r>
          </a:p>
          <a:p>
            <a:pPr marL="269081" lvl="1" indent="14288" defTabSz="685800">
              <a:buFont typeface="Wingdings" panose="05000000000000000000" pitchFamily="2" charset="2"/>
              <a:buChar char="Ø"/>
              <a:tabLst>
                <a:tab pos="357188" algn="l"/>
              </a:tabLst>
            </a:pPr>
            <a:r>
              <a:rPr lang="zh-CN" altLang="en-US" dirty="0"/>
              <a:t>数据操纵</a:t>
            </a:r>
          </a:p>
          <a:p>
            <a:pPr marL="269081" lvl="1" indent="14288" defTabSz="685800">
              <a:buFont typeface="Wingdings" panose="05000000000000000000" pitchFamily="2" charset="2"/>
              <a:buChar char="Ø"/>
              <a:tabLst>
                <a:tab pos="357188" algn="l"/>
              </a:tabLst>
            </a:pPr>
            <a:r>
              <a:rPr lang="zh-CN" altLang="en-US" dirty="0"/>
              <a:t>数据控制</a:t>
            </a:r>
          </a:p>
        </p:txBody>
      </p:sp>
      <p:sp>
        <p:nvSpPr>
          <p:cNvPr id="6148" name="Rectangle 4"/>
          <p:cNvSpPr/>
          <p:nvPr/>
        </p:nvSpPr>
        <p:spPr>
          <a:xfrm>
            <a:off x="3850159" y="1345583"/>
            <a:ext cx="5154356" cy="3465869"/>
          </a:xfrm>
          <a:prstGeom prst="rect">
            <a:avLst/>
          </a:prstGeom>
          <a:noFill/>
          <a:ln w="9525">
            <a:noFill/>
          </a:ln>
        </p:spPr>
        <p:txBody>
          <a:bodyPr/>
          <a:lstStyle/>
          <a:p>
            <a:pPr marL="257175" indent="-257175" defTabSz="685800" fontAlgn="base">
              <a:spcBef>
                <a:spcPct val="20000"/>
              </a:spcBef>
              <a:spcAft>
                <a:spcPct val="0"/>
              </a:spcAft>
              <a:buClr>
                <a:schemeClr val="folHlink"/>
              </a:buClr>
              <a:defRPr/>
            </a:pPr>
            <a:r>
              <a:rPr lang="zh-CN" altLang="en-US" sz="2800" b="1" noProof="1">
                <a:latin typeface="Microsoft YaHei" panose="020B0503020204020204" pitchFamily="34" charset="-122"/>
                <a:ea typeface="Microsoft YaHei" panose="020B0503020204020204" pitchFamily="34" charset="-122"/>
              </a:rPr>
              <a:t> </a:t>
            </a:r>
            <a:r>
              <a:rPr lang="zh-CN" altLang="en-US" sz="2800" b="1"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特点：</a:t>
            </a:r>
          </a:p>
          <a:p>
            <a:pPr marL="342900" indent="-342900" defTabSz="685800" fontAlgn="base">
              <a:spcBef>
                <a:spcPct val="20000"/>
              </a:spcBef>
              <a:spcAft>
                <a:spcPct val="0"/>
              </a:spcAft>
              <a:buClr>
                <a:srgbClr val="990000"/>
              </a:buClr>
              <a:buFont typeface="Wingdings" panose="05000000000000000000" charset="0"/>
              <a:buChar char="Ø"/>
              <a:defRPr/>
            </a:pPr>
            <a:r>
              <a:rPr lang="zh-CN" altLang="en-US" b="1" noProof="1">
                <a:solidFill>
                  <a:srgbClr val="990000"/>
                </a:solidFill>
                <a:latin typeface="Microsoft YaHei" panose="020B0503020204020204" pitchFamily="34" charset="-122"/>
                <a:ea typeface="Microsoft YaHei" panose="020B0503020204020204" pitchFamily="34" charset="-122"/>
                <a:cs typeface="楷体" panose="02010609060101010101" pitchFamily="49" charset="-122"/>
              </a:rPr>
              <a:t>综合统一</a:t>
            </a:r>
            <a:endParaRPr lang="zh-CN" altLang="en-US" sz="2100" b="1" noProof="1">
              <a:solidFill>
                <a:srgbClr val="990000"/>
              </a:solidFill>
              <a:latin typeface="Microsoft YaHei" panose="020B0503020204020204" pitchFamily="34" charset="-122"/>
              <a:ea typeface="Microsoft YaHei" panose="020B0503020204020204" pitchFamily="34" charset="-122"/>
              <a:cs typeface="楷体" panose="02010609060101010101" pitchFamily="49" charset="-122"/>
            </a:endParaRPr>
          </a:p>
          <a:p>
            <a:pPr marL="11430" indent="-11430" defTabSz="685800" fontAlgn="base">
              <a:spcBef>
                <a:spcPct val="20000"/>
              </a:spcBef>
              <a:spcAft>
                <a:spcPct val="0"/>
              </a:spcAft>
              <a:buClr>
                <a:schemeClr val="folHlink"/>
              </a:buClr>
              <a:defRPr/>
            </a:pPr>
            <a:r>
              <a:rPr lang="zh-CN" altLang="en-US" noProof="1">
                <a:latin typeface="Microsoft YaHei" panose="020B0503020204020204" pitchFamily="34" charset="-122"/>
                <a:ea typeface="Microsoft YaHei" panose="020B0503020204020204" pitchFamily="34" charset="-122"/>
                <a:cs typeface="楷体" panose="02010609060101010101" pitchFamily="49" charset="-122"/>
              </a:rPr>
              <a:t>   </a:t>
            </a:r>
            <a:r>
              <a:rPr lang="en-US" altLang="zh-CN" noProof="1">
                <a:latin typeface="Microsoft YaHei" panose="020B0503020204020204" pitchFamily="34" charset="-122"/>
                <a:ea typeface="Microsoft YaHei" panose="020B0503020204020204" pitchFamily="34" charset="-122"/>
                <a:cs typeface="楷体" panose="02010609060101010101" pitchFamily="49" charset="-122"/>
              </a:rPr>
              <a:t>SQL</a:t>
            </a:r>
            <a:r>
              <a:rPr lang="zh-CN" altLang="en-US" noProof="1">
                <a:latin typeface="Microsoft YaHei" panose="020B0503020204020204" pitchFamily="34" charset="-122"/>
                <a:ea typeface="Microsoft YaHei" panose="020B0503020204020204" pitchFamily="34" charset="-122"/>
                <a:cs typeface="楷体" panose="02010609060101010101" pitchFamily="49" charset="-122"/>
              </a:rPr>
              <a:t>语言集数据定义、操纵和控制功能于一体，语言风格统一，可以独立完成数据库生命周期中的全部活动。</a:t>
            </a:r>
          </a:p>
          <a:p>
            <a:pPr marL="257175" indent="-257175" defTabSz="685800" fontAlgn="base">
              <a:spcBef>
                <a:spcPct val="0"/>
              </a:spcBef>
              <a:spcAft>
                <a:spcPct val="0"/>
              </a:spcAft>
              <a:buFont typeface="Wingdings" panose="05000000000000000000" charset="0"/>
              <a:buChar char="Ø"/>
              <a:defRPr/>
            </a:pPr>
            <a:r>
              <a:rPr lang="zh-CN" altLang="en-US" b="1" noProof="1">
                <a:solidFill>
                  <a:srgbClr val="990000"/>
                </a:solidFill>
                <a:latin typeface="Microsoft YaHei" panose="020B0503020204020204" pitchFamily="34" charset="-122"/>
                <a:ea typeface="Microsoft YaHei" panose="020B0503020204020204" pitchFamily="34" charset="-122"/>
                <a:cs typeface="楷体" panose="02010609060101010101" pitchFamily="49" charset="-122"/>
                <a:sym typeface="+mn-ea"/>
              </a:rPr>
              <a:t> 高度非过程化</a:t>
            </a:r>
            <a:endParaRPr lang="zh-CN" altLang="en-US" b="1" noProof="1">
              <a:solidFill>
                <a:srgbClr val="990000"/>
              </a:solidFill>
              <a:latin typeface="Microsoft YaHei" panose="020B0503020204020204" pitchFamily="34" charset="-122"/>
              <a:ea typeface="Microsoft YaHei" panose="020B0503020204020204" pitchFamily="34" charset="-122"/>
              <a:cs typeface="楷体" panose="02010609060101010101" pitchFamily="49" charset="-122"/>
            </a:endParaRPr>
          </a:p>
          <a:p>
            <a:pPr defTabSz="685800" fontAlgn="base">
              <a:spcBef>
                <a:spcPct val="0"/>
              </a:spcBef>
              <a:spcAft>
                <a:spcPct val="0"/>
              </a:spcAft>
              <a:buSzPct val="60000"/>
              <a:defRPr/>
            </a:pPr>
            <a:r>
              <a:rPr lang="zh-CN" altLang="en-US" b="1" noProof="1">
                <a:solidFill>
                  <a:srgbClr val="000080"/>
                </a:solidFill>
                <a:latin typeface="Microsoft YaHei" panose="020B0503020204020204" pitchFamily="34" charset="-122"/>
                <a:ea typeface="Microsoft YaHei" panose="020B0503020204020204" pitchFamily="34" charset="-122"/>
                <a:cs typeface="楷体" panose="02010609060101010101" pitchFamily="49" charset="-122"/>
                <a:sym typeface="+mn-ea"/>
              </a:rPr>
              <a:t>   </a:t>
            </a:r>
            <a:r>
              <a:rPr lang="zh-CN" altLang="en-US" noProof="1">
                <a:latin typeface="Microsoft YaHei" panose="020B0503020204020204" pitchFamily="34" charset="-122"/>
                <a:ea typeface="Microsoft YaHei" panose="020B0503020204020204" pitchFamily="34" charset="-122"/>
                <a:cs typeface="楷体" panose="02010609060101010101" pitchFamily="49" charset="-122"/>
                <a:sym typeface="+mn-ea"/>
              </a:rPr>
              <a:t>用户只需提出“做什么”，而不必指明“怎么做”，因此用户无需了解存取路径，存取路径的选择以及SQL语句的操作过程由系统自动完成。这不但大大减轻了用户负担，而且有利于提高数据独立性</a:t>
            </a:r>
            <a:r>
              <a:rPr lang="zh-CN" altLang="en-US" noProof="1">
                <a:solidFill>
                  <a:srgbClr val="000080"/>
                </a:solidFill>
                <a:latin typeface="Microsoft YaHei" panose="020B0503020204020204" pitchFamily="34" charset="-122"/>
                <a:ea typeface="Microsoft YaHei" panose="020B0503020204020204" pitchFamily="34" charset="-122"/>
                <a:cs typeface="楷体" panose="02010609060101010101" pitchFamily="49" charset="-122"/>
                <a:sym typeface="+mn-ea"/>
              </a:rPr>
              <a:t>。</a:t>
            </a:r>
            <a:r>
              <a:rPr lang="zh-CN" altLang="en-US" noProof="1">
                <a:latin typeface="Microsoft YaHei" panose="020B0503020204020204" pitchFamily="34" charset="-122"/>
                <a:ea typeface="Microsoft YaHei" panose="020B0503020204020204" pitchFamily="34" charset="-122"/>
                <a:cs typeface="楷体" panose="02010609060101010101" pitchFamily="49" charset="-122"/>
              </a:rPr>
              <a:t> </a:t>
            </a:r>
            <a:endParaRPr lang="zh-CN" altLang="en-US" sz="2400" noProof="1">
              <a:latin typeface="Microsoft YaHei" panose="020B0503020204020204" pitchFamily="34" charset="-122"/>
              <a:ea typeface="Microsoft YaHei" panose="020B0503020204020204" pitchFamily="34" charset="-122"/>
              <a:cs typeface="楷体" panose="02010609060101010101" pitchFamily="49" charset="-122"/>
            </a:endParaRPr>
          </a:p>
        </p:txBody>
      </p:sp>
      <p:sp>
        <p:nvSpPr>
          <p:cNvPr id="3" name="标题 2">
            <a:extLst>
              <a:ext uri="{FF2B5EF4-FFF2-40B4-BE49-F238E27FC236}">
                <a16:creationId xmlns:a16="http://schemas.microsoft.com/office/drawing/2014/main" id="{69C238A6-2E0A-49FD-CC24-70642512DE57}"/>
              </a:ext>
            </a:extLst>
          </p:cNvPr>
          <p:cNvSpPr>
            <a:spLocks noGrp="1"/>
          </p:cNvSpPr>
          <p:nvPr>
            <p:ph type="title"/>
          </p:nvPr>
        </p:nvSpPr>
        <p:spPr/>
        <p:txBody>
          <a:bodyPr/>
          <a:lstStyle/>
          <a:p>
            <a:r>
              <a:rPr lang="en" altLang="zh-CN" dirty="0"/>
              <a:t>SQL</a:t>
            </a:r>
            <a:r>
              <a:rPr lang="zh-CN" altLang="en-US" dirty="0"/>
              <a:t>的功能、特点</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4"/>
          <p:cNvSpPr/>
          <p:nvPr/>
        </p:nvSpPr>
        <p:spPr>
          <a:xfrm>
            <a:off x="352586" y="1325165"/>
            <a:ext cx="6858000" cy="2493169"/>
          </a:xfrm>
          <a:prstGeom prst="rect">
            <a:avLst/>
          </a:prstGeom>
          <a:noFill/>
          <a:ln w="9525">
            <a:noFill/>
          </a:ln>
        </p:spPr>
        <p:txBody>
          <a:bodyPr/>
          <a:lstStyle/>
          <a:p>
            <a:pPr marL="257175" indent="-257175" defTabSz="685800" fontAlgn="base">
              <a:spcBef>
                <a:spcPct val="20000"/>
              </a:spcBef>
              <a:spcAft>
                <a:spcPct val="0"/>
              </a:spcAft>
              <a:buClr>
                <a:srgbClr val="990000"/>
              </a:buClr>
              <a:buFont typeface="Wingdings" panose="05000000000000000000" pitchFamily="2" charset="2"/>
              <a:buChar char="Ø"/>
              <a:defRPr/>
            </a:pPr>
            <a:r>
              <a:rPr lang="zh-CN" altLang="en-US" sz="2100" b="1" noProof="1">
                <a:solidFill>
                  <a:srgbClr val="990000"/>
                </a:solidFill>
                <a:latin typeface="Microsoft YaHei" panose="020B0503020204020204" pitchFamily="34" charset="-122"/>
                <a:ea typeface="Microsoft YaHei" panose="020B0503020204020204" pitchFamily="34" charset="-122"/>
                <a:cs typeface="楷体" panose="02010609060101010101" pitchFamily="49" charset="-122"/>
              </a:rPr>
              <a:t>灵活的使用方式</a:t>
            </a:r>
          </a:p>
          <a:p>
            <a:pPr marL="557213" lvl="1" indent="-214313" defTabSz="685800" fontAlgn="base">
              <a:spcBef>
                <a:spcPct val="20000"/>
              </a:spcBef>
              <a:spcAft>
                <a:spcPct val="0"/>
              </a:spcAft>
              <a:buClr>
                <a:schemeClr val="folHlink"/>
              </a:buClr>
              <a:buFont typeface="Wingdings" panose="05000000000000000000" pitchFamily="2" charset="2"/>
              <a:buChar char="n"/>
              <a:defRPr/>
            </a:pPr>
            <a:r>
              <a:rPr lang="zh-CN" altLang="en-US" b="1" noProof="1">
                <a:solidFill>
                  <a:srgbClr val="FF0000"/>
                </a:solidFill>
                <a:latin typeface="Microsoft YaHei" panose="020B0503020204020204" pitchFamily="34" charset="-122"/>
                <a:ea typeface="Microsoft YaHei" panose="020B0503020204020204" pitchFamily="34" charset="-122"/>
                <a:cs typeface="楷体" panose="02010609060101010101" pitchFamily="49" charset="-122"/>
              </a:rPr>
              <a:t>交互式</a:t>
            </a:r>
            <a:r>
              <a:rPr lang="zh-CN" altLang="en-US" b="1" noProof="1">
                <a:latin typeface="Microsoft YaHei" panose="020B0503020204020204" pitchFamily="34" charset="-122"/>
                <a:ea typeface="Microsoft YaHei" panose="020B0503020204020204" pitchFamily="34" charset="-122"/>
                <a:cs typeface="楷体" panose="02010609060101010101" pitchFamily="49" charset="-122"/>
              </a:rPr>
              <a:t>。</a:t>
            </a:r>
            <a:r>
              <a:rPr lang="zh-CN" altLang="en-US" noProof="1">
                <a:latin typeface="Microsoft YaHei" panose="020B0503020204020204" pitchFamily="34" charset="-122"/>
                <a:ea typeface="Microsoft YaHei" panose="020B0503020204020204" pitchFamily="34" charset="-122"/>
                <a:cs typeface="楷体" panose="02010609060101010101" pitchFamily="49" charset="-122"/>
                <a:sym typeface="+mn-ea"/>
              </a:rPr>
              <a:t>可以在终端直接键入</a:t>
            </a:r>
            <a:r>
              <a:rPr lang="en-US" altLang="zh-CN" noProof="1">
                <a:latin typeface="Microsoft YaHei" panose="020B0503020204020204" pitchFamily="34" charset="-122"/>
                <a:ea typeface="Microsoft YaHei" panose="020B0503020204020204" pitchFamily="34" charset="-122"/>
                <a:cs typeface="楷体" panose="02010609060101010101" pitchFamily="49" charset="-122"/>
                <a:sym typeface="+mn-ea"/>
              </a:rPr>
              <a:t>SQL</a:t>
            </a:r>
            <a:r>
              <a:rPr lang="zh-CN" altLang="en-US" noProof="1">
                <a:latin typeface="Microsoft YaHei" panose="020B0503020204020204" pitchFamily="34" charset="-122"/>
                <a:ea typeface="Microsoft YaHei" panose="020B0503020204020204" pitchFamily="34" charset="-122"/>
                <a:cs typeface="楷体" panose="02010609060101010101" pitchFamily="49" charset="-122"/>
                <a:sym typeface="+mn-ea"/>
              </a:rPr>
              <a:t>命令对数据库进行操作。</a:t>
            </a:r>
            <a:r>
              <a:rPr lang="zh-CN" altLang="en-US" noProof="1">
                <a:latin typeface="Microsoft YaHei" panose="020B0503020204020204" pitchFamily="34" charset="-122"/>
                <a:ea typeface="Microsoft YaHei" panose="020B0503020204020204" pitchFamily="34" charset="-122"/>
                <a:cs typeface="楷体" panose="02010609060101010101" pitchFamily="49" charset="-122"/>
              </a:rPr>
              <a:t> </a:t>
            </a:r>
          </a:p>
          <a:p>
            <a:pPr marL="557213" lvl="1" indent="-214313" defTabSz="685800" fontAlgn="base">
              <a:spcBef>
                <a:spcPct val="20000"/>
              </a:spcBef>
              <a:spcAft>
                <a:spcPct val="0"/>
              </a:spcAft>
              <a:buClr>
                <a:schemeClr val="folHlink"/>
              </a:buClr>
              <a:buFont typeface="Wingdings" panose="05000000000000000000" pitchFamily="2" charset="2"/>
              <a:buChar char="n"/>
              <a:defRPr/>
            </a:pPr>
            <a:r>
              <a:rPr lang="zh-CN" altLang="en-US" b="1" noProof="1">
                <a:solidFill>
                  <a:srgbClr val="FF0000"/>
                </a:solidFill>
                <a:latin typeface="Microsoft YaHei" panose="020B0503020204020204" pitchFamily="34" charset="-122"/>
                <a:ea typeface="Microsoft YaHei" panose="020B0503020204020204" pitchFamily="34" charset="-122"/>
                <a:cs typeface="楷体" panose="02010609060101010101" pitchFamily="49" charset="-122"/>
              </a:rPr>
              <a:t>嵌入式</a:t>
            </a:r>
            <a:r>
              <a:rPr lang="zh-CN" altLang="en-US" b="1" noProof="1">
                <a:latin typeface="Microsoft YaHei" panose="020B0503020204020204" pitchFamily="34" charset="-122"/>
                <a:ea typeface="Microsoft YaHei" panose="020B0503020204020204" pitchFamily="34" charset="-122"/>
                <a:cs typeface="楷体" panose="02010609060101010101" pitchFamily="49" charset="-122"/>
              </a:rPr>
              <a:t>。</a:t>
            </a:r>
            <a:r>
              <a:rPr lang="zh-CN" altLang="en-US" noProof="1">
                <a:latin typeface="Microsoft YaHei" panose="020B0503020204020204" pitchFamily="34" charset="-122"/>
                <a:ea typeface="Microsoft YaHei" panose="020B0503020204020204" pitchFamily="34" charset="-122"/>
                <a:cs typeface="楷体" panose="02010609060101010101" pitchFamily="49" charset="-122"/>
              </a:rPr>
              <a:t>将</a:t>
            </a:r>
            <a:r>
              <a:rPr lang="en-US" altLang="zh-CN" noProof="1">
                <a:latin typeface="Microsoft YaHei" panose="020B0503020204020204" pitchFamily="34" charset="-122"/>
                <a:ea typeface="Microsoft YaHei" panose="020B0503020204020204" pitchFamily="34" charset="-122"/>
                <a:cs typeface="楷体" panose="02010609060101010101" pitchFamily="49" charset="-122"/>
              </a:rPr>
              <a:t>SQL</a:t>
            </a:r>
            <a:r>
              <a:rPr lang="zh-CN" altLang="en-US" noProof="1">
                <a:latin typeface="Microsoft YaHei" panose="020B0503020204020204" pitchFamily="34" charset="-122"/>
                <a:ea typeface="Microsoft YaHei" panose="020B0503020204020204" pitchFamily="34" charset="-122"/>
                <a:cs typeface="楷体" panose="02010609060101010101" pitchFamily="49" charset="-122"/>
              </a:rPr>
              <a:t>语句嵌入到高级语言（例如</a:t>
            </a:r>
            <a:r>
              <a:rPr lang="en-US" altLang="zh-CN" noProof="1">
                <a:latin typeface="Microsoft YaHei" panose="020B0503020204020204" pitchFamily="34" charset="-122"/>
                <a:ea typeface="Microsoft YaHei" panose="020B0503020204020204" pitchFamily="34" charset="-122"/>
                <a:cs typeface="楷体" panose="02010609060101010101" pitchFamily="49" charset="-122"/>
              </a:rPr>
              <a:t>C</a:t>
            </a:r>
            <a:r>
              <a:rPr lang="zh-CN" altLang="en-US" noProof="1">
                <a:latin typeface="Microsoft YaHei" panose="020B0503020204020204" pitchFamily="34" charset="-122"/>
                <a:ea typeface="Microsoft YaHei" panose="020B0503020204020204" pitchFamily="34" charset="-122"/>
                <a:cs typeface="楷体" panose="02010609060101010101" pitchFamily="49" charset="-122"/>
              </a:rPr>
              <a:t>、</a:t>
            </a:r>
            <a:r>
              <a:rPr lang="en-US" altLang="zh-CN" noProof="1">
                <a:latin typeface="Microsoft YaHei" panose="020B0503020204020204" pitchFamily="34" charset="-122"/>
                <a:ea typeface="Microsoft YaHei" panose="020B0503020204020204" pitchFamily="34" charset="-122"/>
                <a:cs typeface="楷体" panose="02010609060101010101" pitchFamily="49" charset="-122"/>
              </a:rPr>
              <a:t>COBOL</a:t>
            </a:r>
            <a:r>
              <a:rPr lang="zh-CN" altLang="en-US" noProof="1">
                <a:latin typeface="Microsoft YaHei" panose="020B0503020204020204" pitchFamily="34" charset="-122"/>
                <a:ea typeface="Microsoft YaHei" panose="020B0503020204020204" pitchFamily="34" charset="-122"/>
                <a:cs typeface="楷体" panose="02010609060101010101" pitchFamily="49" charset="-122"/>
              </a:rPr>
              <a:t>、</a:t>
            </a:r>
            <a:r>
              <a:rPr lang="en-US" altLang="zh-CN" noProof="1">
                <a:latin typeface="Microsoft YaHei" panose="020B0503020204020204" pitchFamily="34" charset="-122"/>
                <a:ea typeface="Microsoft YaHei" panose="020B0503020204020204" pitchFamily="34" charset="-122"/>
                <a:cs typeface="楷体" panose="02010609060101010101" pitchFamily="49" charset="-122"/>
              </a:rPr>
              <a:t>JAVA</a:t>
            </a:r>
            <a:r>
              <a:rPr lang="zh-CN" altLang="en-US" noProof="1">
                <a:latin typeface="Microsoft YaHei" panose="020B0503020204020204" pitchFamily="34" charset="-122"/>
                <a:ea typeface="Microsoft YaHei" panose="020B0503020204020204" pitchFamily="34" charset="-122"/>
                <a:cs typeface="楷体" panose="02010609060101010101" pitchFamily="49" charset="-122"/>
              </a:rPr>
              <a:t>）程序中。而在两种不同的使用方式下，</a:t>
            </a:r>
            <a:r>
              <a:rPr lang="en-US" altLang="zh-CN" noProof="1">
                <a:latin typeface="Microsoft YaHei" panose="020B0503020204020204" pitchFamily="34" charset="-122"/>
                <a:ea typeface="Microsoft YaHei" panose="020B0503020204020204" pitchFamily="34" charset="-122"/>
                <a:cs typeface="楷体" panose="02010609060101010101" pitchFamily="49" charset="-122"/>
              </a:rPr>
              <a:t>SQL</a:t>
            </a:r>
            <a:r>
              <a:rPr lang="zh-CN" altLang="en-US" noProof="1">
                <a:latin typeface="Microsoft YaHei" panose="020B0503020204020204" pitchFamily="34" charset="-122"/>
                <a:ea typeface="Microsoft YaHei" panose="020B0503020204020204" pitchFamily="34" charset="-122"/>
                <a:cs typeface="楷体" panose="02010609060101010101" pitchFamily="49" charset="-122"/>
              </a:rPr>
              <a:t>语言的语法结构基本上是一致的。</a:t>
            </a:r>
            <a:endParaRPr lang="en-US" altLang="zh-CN" noProof="1">
              <a:latin typeface="Microsoft YaHei" panose="020B0503020204020204" pitchFamily="34" charset="-122"/>
              <a:ea typeface="Microsoft YaHei" panose="020B0503020204020204" pitchFamily="34" charset="-122"/>
              <a:cs typeface="楷体" panose="02010609060101010101" pitchFamily="49" charset="-122"/>
            </a:endParaRPr>
          </a:p>
          <a:p>
            <a:pPr marL="557213" lvl="1" indent="-214313" defTabSz="685800" fontAlgn="base">
              <a:spcBef>
                <a:spcPct val="20000"/>
              </a:spcBef>
              <a:spcAft>
                <a:spcPct val="0"/>
              </a:spcAft>
              <a:buClr>
                <a:schemeClr val="folHlink"/>
              </a:buClr>
              <a:buFont typeface="Wingdings" panose="05000000000000000000" pitchFamily="2" charset="2"/>
              <a:buChar char="n"/>
              <a:defRPr/>
            </a:pPr>
            <a:endParaRPr lang="zh-CN" altLang="en-US" b="1" noProof="1">
              <a:latin typeface="Microsoft YaHei" panose="020B0503020204020204" pitchFamily="34" charset="-122"/>
              <a:ea typeface="Microsoft YaHei" panose="020B0503020204020204" pitchFamily="34" charset="-122"/>
              <a:cs typeface="楷体" panose="02010609060101010101" pitchFamily="49" charset="-122"/>
            </a:endParaRPr>
          </a:p>
          <a:p>
            <a:pPr marL="342900" indent="-342900" defTabSz="685800" fontAlgn="base">
              <a:spcBef>
                <a:spcPct val="20000"/>
              </a:spcBef>
              <a:spcAft>
                <a:spcPct val="0"/>
              </a:spcAft>
              <a:buClr>
                <a:srgbClr val="990000"/>
              </a:buClr>
              <a:buFont typeface="Wingdings" panose="05000000000000000000" charset="0"/>
              <a:buChar char="Ø"/>
              <a:defRPr/>
            </a:pPr>
            <a:r>
              <a:rPr lang="zh-CN" altLang="en-US" sz="2025" b="1" noProof="1">
                <a:solidFill>
                  <a:srgbClr val="990000"/>
                </a:solidFill>
                <a:latin typeface="Microsoft YaHei" panose="020B0503020204020204" pitchFamily="34" charset="-122"/>
                <a:ea typeface="Microsoft YaHei" panose="020B0503020204020204" pitchFamily="34" charset="-122"/>
                <a:sym typeface="+mn-ea"/>
              </a:rPr>
              <a:t>简洁、通用、功能强</a:t>
            </a:r>
          </a:p>
          <a:p>
            <a:pPr marL="314325" defTabSz="685800" fontAlgn="base">
              <a:spcBef>
                <a:spcPct val="20000"/>
              </a:spcBef>
              <a:spcAft>
                <a:spcPct val="0"/>
              </a:spcAft>
              <a:buClr>
                <a:srgbClr val="990000"/>
              </a:buClr>
              <a:defRPr/>
            </a:pPr>
            <a:r>
              <a:rPr lang="en-US" altLang="zh-CN" noProof="1">
                <a:latin typeface="Microsoft YaHei" panose="020B0503020204020204" pitchFamily="34" charset="-122"/>
                <a:ea typeface="Microsoft YaHei" panose="020B0503020204020204" pitchFamily="34" charset="-122"/>
                <a:cs typeface="楷体" panose="02010609060101010101" pitchFamily="49" charset="-122"/>
                <a:sym typeface="+mn-ea"/>
              </a:rPr>
              <a:t>SQL</a:t>
            </a:r>
            <a:r>
              <a:rPr lang="zh-CN" altLang="en-US" noProof="1">
                <a:latin typeface="Microsoft YaHei" panose="020B0503020204020204" pitchFamily="34" charset="-122"/>
                <a:ea typeface="Microsoft YaHei" panose="020B0503020204020204" pitchFamily="34" charset="-122"/>
                <a:cs typeface="楷体" panose="02010609060101010101" pitchFamily="49" charset="-122"/>
                <a:sym typeface="+mn-ea"/>
              </a:rPr>
              <a:t>语言简洁，语法简单，</a:t>
            </a:r>
            <a:br>
              <a:rPr lang="en-US" altLang="zh-CN" noProof="1">
                <a:latin typeface="Microsoft YaHei" panose="020B0503020204020204" pitchFamily="34" charset="-122"/>
                <a:ea typeface="Microsoft YaHei" panose="020B0503020204020204" pitchFamily="34" charset="-122"/>
                <a:cs typeface="楷体" panose="02010609060101010101" pitchFamily="49" charset="-122"/>
                <a:sym typeface="+mn-ea"/>
              </a:rPr>
            </a:br>
            <a:r>
              <a:rPr lang="zh-CN" altLang="en-US" noProof="1">
                <a:latin typeface="Microsoft YaHei" panose="020B0503020204020204" pitchFamily="34" charset="-122"/>
                <a:ea typeface="Microsoft YaHei" panose="020B0503020204020204" pitchFamily="34" charset="-122"/>
                <a:cs typeface="楷体" panose="02010609060101010101" pitchFamily="49" charset="-122"/>
                <a:sym typeface="+mn-ea"/>
              </a:rPr>
              <a:t>核心功能只用了</a:t>
            </a:r>
            <a:r>
              <a:rPr lang="en-US" altLang="zh-CN" noProof="1">
                <a:latin typeface="Microsoft YaHei" panose="020B0503020204020204" pitchFamily="34" charset="-122"/>
                <a:ea typeface="Microsoft YaHei" panose="020B0503020204020204" pitchFamily="34" charset="-122"/>
                <a:cs typeface="楷体" panose="02010609060101010101" pitchFamily="49" charset="-122"/>
                <a:sym typeface="+mn-ea"/>
              </a:rPr>
              <a:t>9</a:t>
            </a:r>
            <a:r>
              <a:rPr lang="zh-CN" altLang="en-US" noProof="1">
                <a:latin typeface="Microsoft YaHei" panose="020B0503020204020204" pitchFamily="34" charset="-122"/>
                <a:ea typeface="Microsoft YaHei" panose="020B0503020204020204" pitchFamily="34" charset="-122"/>
                <a:cs typeface="楷体" panose="02010609060101010101" pitchFamily="49" charset="-122"/>
                <a:sym typeface="+mn-ea"/>
              </a:rPr>
              <a:t>个动词。</a:t>
            </a:r>
            <a:endParaRPr lang="zh-CN" altLang="en-US" noProof="1">
              <a:latin typeface="Microsoft YaHei" panose="020B0503020204020204" pitchFamily="34" charset="-122"/>
              <a:ea typeface="Microsoft YaHei" panose="020B0503020204020204" pitchFamily="34" charset="-122"/>
              <a:cs typeface="楷体" panose="02010609060101010101" pitchFamily="49" charset="-122"/>
            </a:endParaRPr>
          </a:p>
        </p:txBody>
      </p:sp>
      <p:graphicFrame>
        <p:nvGraphicFramePr>
          <p:cNvPr id="8196" name="Group 4"/>
          <p:cNvGraphicFramePr>
            <a:graphicFrameLocks noGrp="1"/>
          </p:cNvGraphicFramePr>
          <p:nvPr>
            <p:extLst>
              <p:ext uri="{D42A27DB-BD31-4B8C-83A1-F6EECF244321}">
                <p14:modId xmlns:p14="http://schemas.microsoft.com/office/powerpoint/2010/main" val="1097191315"/>
              </p:ext>
            </p:extLst>
          </p:nvPr>
        </p:nvGraphicFramePr>
        <p:xfrm>
          <a:off x="4897466" y="2721264"/>
          <a:ext cx="4153545" cy="1990726"/>
        </p:xfrm>
        <a:graphic>
          <a:graphicData uri="http://schemas.openxmlformats.org/drawingml/2006/table">
            <a:tbl>
              <a:tblPr/>
              <a:tblGrid>
                <a:gridCol w="1048345">
                  <a:extLst>
                    <a:ext uri="{9D8B030D-6E8A-4147-A177-3AD203B41FA5}">
                      <a16:colId xmlns:a16="http://schemas.microsoft.com/office/drawing/2014/main" val="20000"/>
                    </a:ext>
                  </a:extLst>
                </a:gridCol>
                <a:gridCol w="3105200">
                  <a:extLst>
                    <a:ext uri="{9D8B030D-6E8A-4147-A177-3AD203B41FA5}">
                      <a16:colId xmlns:a16="http://schemas.microsoft.com/office/drawing/2014/main" val="20001"/>
                    </a:ext>
                  </a:extLst>
                </a:gridCol>
              </a:tblGrid>
              <a:tr h="435293">
                <a:tc>
                  <a:txBody>
                    <a:bodyPr/>
                    <a:lstStyle>
                      <a:lvl1pPr algn="l">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rgbClr val="0000CC"/>
                          </a:solidFill>
                          <a:effectLst/>
                          <a:latin typeface="Microsoft YaHei" panose="020B0503020204020204" pitchFamily="34" charset="-122"/>
                          <a:ea typeface="Microsoft YaHei" panose="020B0503020204020204" pitchFamily="34" charset="-122"/>
                          <a:cs typeface="楷体" panose="02010609060101010101" pitchFamily="49" charset="-122"/>
                        </a:rPr>
                        <a:t>SQL</a:t>
                      </a:r>
                      <a:r>
                        <a:rPr kumimoji="0" lang="zh-CN" altLang="en-US" sz="1600" b="1" i="0" u="none" strike="noStrike" cap="none" normalizeH="0" baseline="0">
                          <a:ln>
                            <a:noFill/>
                          </a:ln>
                          <a:solidFill>
                            <a:srgbClr val="0000CC"/>
                          </a:solidFill>
                          <a:effectLst/>
                          <a:latin typeface="Microsoft YaHei" panose="020B0503020204020204" pitchFamily="34" charset="-122"/>
                          <a:ea typeface="Microsoft YaHei" panose="020B0503020204020204" pitchFamily="34" charset="-122"/>
                          <a:cs typeface="楷体" panose="02010609060101010101" pitchFamily="49" charset="-122"/>
                        </a:rPr>
                        <a:t>功能</a:t>
                      </a:r>
                    </a:p>
                  </a:txBody>
                  <a:tcPr marL="68580" marR="68580"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a:ln>
                            <a:noFill/>
                          </a:ln>
                          <a:solidFill>
                            <a:srgbClr val="0000CC"/>
                          </a:solidFill>
                          <a:effectLst/>
                          <a:latin typeface="Microsoft YaHei" panose="020B0503020204020204" pitchFamily="34" charset="-122"/>
                          <a:ea typeface="Microsoft YaHei" panose="020B0503020204020204" pitchFamily="34" charset="-122"/>
                        </a:rPr>
                        <a:t>核心动词</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6715">
                <a:tc>
                  <a:txBody>
                    <a:bodyPr/>
                    <a:lstStyle>
                      <a:lvl1pPr algn="l">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数据查询</a:t>
                      </a:r>
                    </a:p>
                  </a:txBody>
                  <a:tcPr marL="68580" marR="68580"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SELECT</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1478">
                <a:tc>
                  <a:txBody>
                    <a:bodyPr/>
                    <a:lstStyle>
                      <a:lvl1pPr algn="l">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数据定义</a:t>
                      </a:r>
                    </a:p>
                  </a:txBody>
                  <a:tcPr marL="68580" marR="68580"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CREATE, DROP, ALTER</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049">
                <a:tc>
                  <a:txBody>
                    <a:bodyPr/>
                    <a:lstStyle>
                      <a:lvl1pPr algn="l">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数据操纵</a:t>
                      </a:r>
                    </a:p>
                  </a:txBody>
                  <a:tcPr marL="68580" marR="68580"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INSERT, UPDATE, DELETE</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7191">
                <a:tc>
                  <a:txBody>
                    <a:bodyPr/>
                    <a:lstStyle>
                      <a:lvl1pPr algn="l">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数据控制</a:t>
                      </a:r>
                    </a:p>
                  </a:txBody>
                  <a:tcPr marL="68580" marR="68580"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gn="l">
                        <a:spcBef>
                          <a:spcPct val="20000"/>
                        </a:spcBef>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GRANT, REVOKE</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 name="标题 3">
            <a:extLst>
              <a:ext uri="{FF2B5EF4-FFF2-40B4-BE49-F238E27FC236}">
                <a16:creationId xmlns:a16="http://schemas.microsoft.com/office/drawing/2014/main" id="{42EEBAEC-6E7B-B7E8-1DB7-EBA830D66909}"/>
              </a:ext>
            </a:extLst>
          </p:cNvPr>
          <p:cNvSpPr>
            <a:spLocks noGrp="1"/>
          </p:cNvSpPr>
          <p:nvPr>
            <p:ph type="title"/>
          </p:nvPr>
        </p:nvSpPr>
        <p:spPr/>
        <p:txBody>
          <a:bodyPr/>
          <a:lstStyle/>
          <a:p>
            <a:r>
              <a:rPr lang="en-US" altLang="zh-CN" dirty="0"/>
              <a:t>SQL</a:t>
            </a:r>
            <a:r>
              <a:rPr lang="zh-CN" altLang="en-US" dirty="0"/>
              <a:t>的功能、特点</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92" name="Group 4"/>
          <p:cNvGrpSpPr/>
          <p:nvPr/>
        </p:nvGrpSpPr>
        <p:grpSpPr>
          <a:xfrm>
            <a:off x="339995" y="4303496"/>
            <a:ext cx="3086100" cy="457200"/>
            <a:chOff x="0" y="0"/>
            <a:chExt cx="2592" cy="384"/>
          </a:xfrm>
        </p:grpSpPr>
        <p:sp>
          <p:nvSpPr>
            <p:cNvPr id="12315" name="Rectangle 5"/>
            <p:cNvSpPr/>
            <p:nvPr/>
          </p:nvSpPr>
          <p:spPr>
            <a:xfrm>
              <a:off x="0" y="0"/>
              <a:ext cx="912" cy="384"/>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存储文件</a:t>
              </a:r>
              <a:r>
                <a:rPr lang="en-US" altLang="zh-CN" sz="1350" dirty="0">
                  <a:latin typeface="Microsoft YaHei" panose="020B0503020204020204" pitchFamily="34" charset="-122"/>
                  <a:ea typeface="Microsoft YaHei" panose="020B0503020204020204" pitchFamily="34" charset="-122"/>
                </a:rPr>
                <a:t>1</a:t>
              </a:r>
            </a:p>
          </p:txBody>
        </p:sp>
        <p:sp>
          <p:nvSpPr>
            <p:cNvPr id="12316" name="Rectangle 6"/>
            <p:cNvSpPr/>
            <p:nvPr/>
          </p:nvSpPr>
          <p:spPr>
            <a:xfrm>
              <a:off x="1680" y="0"/>
              <a:ext cx="912" cy="384"/>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存储文件</a:t>
              </a:r>
              <a:r>
                <a:rPr lang="en-US" altLang="zh-CN" sz="1350" dirty="0">
                  <a:latin typeface="Microsoft YaHei" panose="020B0503020204020204" pitchFamily="34" charset="-122"/>
                  <a:ea typeface="Microsoft YaHei" panose="020B0503020204020204" pitchFamily="34" charset="-122"/>
                </a:rPr>
                <a:t>2</a:t>
              </a:r>
            </a:p>
          </p:txBody>
        </p:sp>
      </p:grpSp>
      <p:sp>
        <p:nvSpPr>
          <p:cNvPr id="12293" name="Line 7"/>
          <p:cNvSpPr/>
          <p:nvPr/>
        </p:nvSpPr>
        <p:spPr>
          <a:xfrm>
            <a:off x="225695" y="4074896"/>
            <a:ext cx="3429000" cy="0"/>
          </a:xfrm>
          <a:prstGeom prst="line">
            <a:avLst/>
          </a:prstGeom>
          <a:ln w="38100" cap="flat" cmpd="sng">
            <a:solidFill>
              <a:schemeClr val="hlink"/>
            </a:solidFill>
            <a:prstDash val="lgDash"/>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12294" name="Line 8"/>
          <p:cNvSpPr/>
          <p:nvPr/>
        </p:nvSpPr>
        <p:spPr>
          <a:xfrm>
            <a:off x="339995" y="2531846"/>
            <a:ext cx="3257550" cy="0"/>
          </a:xfrm>
          <a:prstGeom prst="line">
            <a:avLst/>
          </a:prstGeom>
          <a:ln w="38100" cap="flat" cmpd="sng">
            <a:solidFill>
              <a:schemeClr val="hlink"/>
            </a:solidFill>
            <a:prstDash val="lgDash"/>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nvGrpSpPr>
          <p:cNvPr id="12295" name="Group 9"/>
          <p:cNvGrpSpPr/>
          <p:nvPr/>
        </p:nvGrpSpPr>
        <p:grpSpPr>
          <a:xfrm>
            <a:off x="1311545" y="2017496"/>
            <a:ext cx="1143000" cy="685800"/>
            <a:chOff x="0" y="0"/>
            <a:chExt cx="960" cy="576"/>
          </a:xfrm>
        </p:grpSpPr>
        <p:sp>
          <p:nvSpPr>
            <p:cNvPr id="12312" name="Rectangle 10"/>
            <p:cNvSpPr/>
            <p:nvPr/>
          </p:nvSpPr>
          <p:spPr>
            <a:xfrm>
              <a:off x="0" y="0"/>
              <a:ext cx="720" cy="336"/>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SQL</a:t>
              </a:r>
            </a:p>
          </p:txBody>
        </p:sp>
        <p:sp>
          <p:nvSpPr>
            <p:cNvPr id="12313" name="Line 11"/>
            <p:cNvSpPr/>
            <p:nvPr/>
          </p:nvSpPr>
          <p:spPr>
            <a:xfrm>
              <a:off x="720" y="336"/>
              <a:ext cx="240" cy="240"/>
            </a:xfrm>
            <a:prstGeom prst="line">
              <a:avLst/>
            </a:prstGeom>
            <a:ln w="19050" cap="flat" cmpd="sng">
              <a:solidFill>
                <a:schemeClr val="tx1"/>
              </a:solidFill>
              <a:prstDash val="solid"/>
              <a:headEnd type="triangl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12314" name="Line 12"/>
            <p:cNvSpPr/>
            <p:nvPr/>
          </p:nvSpPr>
          <p:spPr>
            <a:xfrm flipH="1">
              <a:off x="336" y="336"/>
              <a:ext cx="192" cy="240"/>
            </a:xfrm>
            <a:prstGeom prst="line">
              <a:avLst/>
            </a:prstGeom>
            <a:ln w="19050" cap="flat" cmpd="sng">
              <a:solidFill>
                <a:schemeClr val="tx1"/>
              </a:solidFill>
              <a:prstDash val="solid"/>
              <a:headEnd type="triangl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12296" name="Line 13"/>
          <p:cNvSpPr/>
          <p:nvPr/>
        </p:nvSpPr>
        <p:spPr>
          <a:xfrm flipH="1">
            <a:off x="568595" y="2417546"/>
            <a:ext cx="914400" cy="1143000"/>
          </a:xfrm>
          <a:prstGeom prst="line">
            <a:avLst/>
          </a:prstGeom>
          <a:ln w="19050" cap="flat" cmpd="sng">
            <a:solidFill>
              <a:schemeClr val="tx1"/>
            </a:solidFill>
            <a:prstDash val="solid"/>
            <a:headEnd type="triangl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nvGrpSpPr>
          <p:cNvPr id="12297" name="Group 14"/>
          <p:cNvGrpSpPr/>
          <p:nvPr/>
        </p:nvGrpSpPr>
        <p:grpSpPr>
          <a:xfrm>
            <a:off x="1368695" y="2703296"/>
            <a:ext cx="1885950" cy="800100"/>
            <a:chOff x="0" y="0"/>
            <a:chExt cx="1584" cy="672"/>
          </a:xfrm>
        </p:grpSpPr>
        <p:sp>
          <p:nvSpPr>
            <p:cNvPr id="12308" name="Rectangle 15"/>
            <p:cNvSpPr/>
            <p:nvPr/>
          </p:nvSpPr>
          <p:spPr>
            <a:xfrm>
              <a:off x="0" y="0"/>
              <a:ext cx="720" cy="336"/>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视图</a:t>
              </a:r>
              <a:r>
                <a:rPr lang="en-US" altLang="zh-CN" sz="1350" dirty="0">
                  <a:latin typeface="Microsoft YaHei" panose="020B0503020204020204" pitchFamily="34" charset="-122"/>
                  <a:ea typeface="Microsoft YaHei" panose="020B0503020204020204" pitchFamily="34" charset="-122"/>
                </a:rPr>
                <a:t>1</a:t>
              </a:r>
            </a:p>
          </p:txBody>
        </p:sp>
        <p:sp>
          <p:nvSpPr>
            <p:cNvPr id="12309" name="Rectangle 16"/>
            <p:cNvSpPr/>
            <p:nvPr/>
          </p:nvSpPr>
          <p:spPr>
            <a:xfrm>
              <a:off x="864" y="0"/>
              <a:ext cx="720" cy="336"/>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视图</a:t>
              </a:r>
              <a:r>
                <a:rPr lang="en-US" altLang="zh-CN" sz="1350" dirty="0">
                  <a:latin typeface="Microsoft YaHei" panose="020B0503020204020204" pitchFamily="34" charset="-122"/>
                  <a:ea typeface="Microsoft YaHei" panose="020B0503020204020204" pitchFamily="34" charset="-122"/>
                </a:rPr>
                <a:t>2</a:t>
              </a:r>
            </a:p>
          </p:txBody>
        </p:sp>
        <p:sp>
          <p:nvSpPr>
            <p:cNvPr id="12310" name="Line 17"/>
            <p:cNvSpPr/>
            <p:nvPr/>
          </p:nvSpPr>
          <p:spPr>
            <a:xfrm flipH="1">
              <a:off x="336" y="336"/>
              <a:ext cx="0" cy="336"/>
            </a:xfrm>
            <a:prstGeom prst="line">
              <a:avLst/>
            </a:prstGeom>
            <a:ln w="19050" cap="flat" cmpd="sng">
              <a:solidFill>
                <a:schemeClr val="tx1"/>
              </a:solidFill>
              <a:prstDash val="solid"/>
              <a:headEnd type="triangl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12311" name="Line 18"/>
            <p:cNvSpPr/>
            <p:nvPr/>
          </p:nvSpPr>
          <p:spPr>
            <a:xfrm>
              <a:off x="1200" y="336"/>
              <a:ext cx="0" cy="336"/>
            </a:xfrm>
            <a:prstGeom prst="line">
              <a:avLst/>
            </a:prstGeom>
            <a:ln w="19050" cap="flat" cmpd="sng">
              <a:solidFill>
                <a:schemeClr val="tx1"/>
              </a:solidFill>
              <a:prstDash val="solid"/>
              <a:headEnd type="triangl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nvGrpSpPr>
          <p:cNvPr id="12298" name="Group 19"/>
          <p:cNvGrpSpPr/>
          <p:nvPr/>
        </p:nvGrpSpPr>
        <p:grpSpPr>
          <a:xfrm>
            <a:off x="454295" y="3503396"/>
            <a:ext cx="3028950" cy="800100"/>
            <a:chOff x="0" y="0"/>
            <a:chExt cx="2544" cy="672"/>
          </a:xfrm>
        </p:grpSpPr>
        <p:sp>
          <p:nvSpPr>
            <p:cNvPr id="12302" name="Rectangle 20"/>
            <p:cNvSpPr/>
            <p:nvPr/>
          </p:nvSpPr>
          <p:spPr>
            <a:xfrm>
              <a:off x="0" y="0"/>
              <a:ext cx="720" cy="336"/>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基本表</a:t>
              </a:r>
              <a:r>
                <a:rPr lang="en-US" altLang="zh-CN" sz="1350" dirty="0">
                  <a:latin typeface="Microsoft YaHei" panose="020B0503020204020204" pitchFamily="34" charset="-122"/>
                  <a:ea typeface="Microsoft YaHei" panose="020B0503020204020204" pitchFamily="34" charset="-122"/>
                </a:rPr>
                <a:t>1</a:t>
              </a:r>
            </a:p>
          </p:txBody>
        </p:sp>
        <p:sp>
          <p:nvSpPr>
            <p:cNvPr id="12303" name="Rectangle 21"/>
            <p:cNvSpPr/>
            <p:nvPr/>
          </p:nvSpPr>
          <p:spPr>
            <a:xfrm>
              <a:off x="816" y="0"/>
              <a:ext cx="720" cy="336"/>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基本表</a:t>
              </a:r>
              <a:r>
                <a:rPr lang="en-US" altLang="zh-CN" sz="1350" dirty="0">
                  <a:latin typeface="Microsoft YaHei" panose="020B0503020204020204" pitchFamily="34" charset="-122"/>
                  <a:ea typeface="Microsoft YaHei" panose="020B0503020204020204" pitchFamily="34" charset="-122"/>
                </a:rPr>
                <a:t>2</a:t>
              </a:r>
            </a:p>
          </p:txBody>
        </p:sp>
        <p:sp>
          <p:nvSpPr>
            <p:cNvPr id="12304" name="Rectangle 22"/>
            <p:cNvSpPr/>
            <p:nvPr/>
          </p:nvSpPr>
          <p:spPr>
            <a:xfrm>
              <a:off x="1824" y="0"/>
              <a:ext cx="720" cy="336"/>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基本表</a:t>
              </a:r>
              <a:r>
                <a:rPr lang="en-US" altLang="zh-CN" sz="1350" dirty="0">
                  <a:latin typeface="Microsoft YaHei" panose="020B0503020204020204" pitchFamily="34" charset="-122"/>
                  <a:ea typeface="Microsoft YaHei" panose="020B0503020204020204" pitchFamily="34" charset="-122"/>
                </a:rPr>
                <a:t>3</a:t>
              </a:r>
            </a:p>
          </p:txBody>
        </p:sp>
        <p:sp>
          <p:nvSpPr>
            <p:cNvPr id="12305" name="Line 23"/>
            <p:cNvSpPr/>
            <p:nvPr/>
          </p:nvSpPr>
          <p:spPr>
            <a:xfrm>
              <a:off x="192" y="336"/>
              <a:ext cx="240" cy="336"/>
            </a:xfrm>
            <a:prstGeom prst="line">
              <a:avLst/>
            </a:prstGeom>
            <a:ln w="19050" cap="flat" cmpd="sng">
              <a:solidFill>
                <a:schemeClr val="tx1"/>
              </a:solidFill>
              <a:prstDash val="solid"/>
              <a:headEnd type="triangl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12306" name="Line 24"/>
            <p:cNvSpPr/>
            <p:nvPr/>
          </p:nvSpPr>
          <p:spPr>
            <a:xfrm>
              <a:off x="2160" y="336"/>
              <a:ext cx="0" cy="336"/>
            </a:xfrm>
            <a:prstGeom prst="line">
              <a:avLst/>
            </a:prstGeom>
            <a:ln w="19050" cap="flat" cmpd="sng">
              <a:solidFill>
                <a:schemeClr val="tx1"/>
              </a:solidFill>
              <a:prstDash val="solid"/>
              <a:headEnd type="triangl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12307" name="Line 25"/>
            <p:cNvSpPr/>
            <p:nvPr/>
          </p:nvSpPr>
          <p:spPr>
            <a:xfrm flipH="1">
              <a:off x="528" y="384"/>
              <a:ext cx="576" cy="288"/>
            </a:xfrm>
            <a:prstGeom prst="line">
              <a:avLst/>
            </a:prstGeom>
            <a:ln w="19050" cap="flat" cmpd="sng">
              <a:solidFill>
                <a:schemeClr val="tx1"/>
              </a:solidFill>
              <a:prstDash val="solid"/>
              <a:headEnd type="triangl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12299" name="Text Box 26"/>
          <p:cNvSpPr txBox="1"/>
          <p:nvPr/>
        </p:nvSpPr>
        <p:spPr>
          <a:xfrm>
            <a:off x="5881608" y="629187"/>
            <a:ext cx="3028950" cy="279307"/>
          </a:xfrm>
          <a:prstGeom prst="rect">
            <a:avLst/>
          </a:prstGeom>
          <a:noFill/>
          <a:ln w="9525">
            <a:noFill/>
          </a:ln>
        </p:spPr>
        <p:txBody>
          <a:bodyPr>
            <a:spAutoFit/>
          </a:bodyPr>
          <a:lstStyle/>
          <a:p>
            <a:pPr algn="ctr">
              <a:lnSpc>
                <a:spcPct val="90000"/>
              </a:lnSpc>
              <a:spcBef>
                <a:spcPct val="20000"/>
              </a:spcBef>
              <a:buClr>
                <a:schemeClr val="folHlink"/>
              </a:buClr>
              <a:buSzPct val="60000"/>
            </a:pPr>
            <a:r>
              <a:rPr lang="zh-CN" altLang="en-US" sz="1350" dirty="0">
                <a:solidFill>
                  <a:schemeClr val="hlink"/>
                </a:solidFill>
                <a:latin typeface="Microsoft YaHei" panose="020B0503020204020204" pitchFamily="34" charset="-122"/>
                <a:ea typeface="Microsoft YaHei" panose="020B0503020204020204" pitchFamily="34" charset="-122"/>
              </a:rPr>
              <a:t>术语对照</a:t>
            </a:r>
          </a:p>
        </p:txBody>
      </p:sp>
      <p:sp>
        <p:nvSpPr>
          <p:cNvPr id="12300" name="Text Box 27"/>
          <p:cNvSpPr txBox="1"/>
          <p:nvPr/>
        </p:nvSpPr>
        <p:spPr>
          <a:xfrm>
            <a:off x="4457700" y="857250"/>
            <a:ext cx="3200400" cy="300082"/>
          </a:xfrm>
          <a:prstGeom prst="rect">
            <a:avLst/>
          </a:prstGeom>
          <a:noFill/>
          <a:ln w="9525">
            <a:noFill/>
          </a:ln>
        </p:spPr>
        <p:txBody>
          <a:bodyPr>
            <a:spAutoFit/>
          </a:bodyPr>
          <a:lstStyle/>
          <a:p>
            <a:pPr>
              <a:spcBef>
                <a:spcPct val="50000"/>
              </a:spcBef>
            </a:pPr>
            <a:endParaRPr lang="zh-CN" altLang="en-US" sz="1350" dirty="0">
              <a:latin typeface="楷体" panose="02010609060101010101" pitchFamily="49" charset="-122"/>
              <a:ea typeface="楷体" panose="02010609060101010101" pitchFamily="49" charset="-122"/>
            </a:endParaRPr>
          </a:p>
        </p:txBody>
      </p:sp>
      <p:sp>
        <p:nvSpPr>
          <p:cNvPr id="12301" name="Line 28"/>
          <p:cNvSpPr/>
          <p:nvPr/>
        </p:nvSpPr>
        <p:spPr>
          <a:xfrm>
            <a:off x="311420" y="3274796"/>
            <a:ext cx="3257550" cy="0"/>
          </a:xfrm>
          <a:prstGeom prst="line">
            <a:avLst/>
          </a:prstGeom>
          <a:ln w="38100" cap="flat" cmpd="sng">
            <a:solidFill>
              <a:schemeClr val="hlink"/>
            </a:solidFill>
            <a:prstDash val="lgDash"/>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 name="标题 2">
            <a:extLst>
              <a:ext uri="{FF2B5EF4-FFF2-40B4-BE49-F238E27FC236}">
                <a16:creationId xmlns:a16="http://schemas.microsoft.com/office/drawing/2014/main" id="{940D94B8-08B5-D1E5-7A8E-6FB3A4C4DBA5}"/>
              </a:ext>
            </a:extLst>
          </p:cNvPr>
          <p:cNvSpPr>
            <a:spLocks noGrp="1"/>
          </p:cNvSpPr>
          <p:nvPr>
            <p:ph type="title"/>
          </p:nvPr>
        </p:nvSpPr>
        <p:spPr/>
        <p:txBody>
          <a:bodyPr/>
          <a:lstStyle/>
          <a:p>
            <a:r>
              <a:rPr lang="en-US" altLang="zh-CN" dirty="0"/>
              <a:t>SQL</a:t>
            </a:r>
            <a:r>
              <a:rPr lang="zh-CN" altLang="en-US" dirty="0"/>
              <a:t>的基本组成</a:t>
            </a:r>
          </a:p>
        </p:txBody>
      </p:sp>
      <p:sp>
        <p:nvSpPr>
          <p:cNvPr id="4" name="Rectangle 3">
            <a:extLst>
              <a:ext uri="{FF2B5EF4-FFF2-40B4-BE49-F238E27FC236}">
                <a16:creationId xmlns:a16="http://schemas.microsoft.com/office/drawing/2014/main" id="{AEC8AE80-71E0-BEB6-AB2E-C50801EA45C9}"/>
              </a:ext>
            </a:extLst>
          </p:cNvPr>
          <p:cNvSpPr>
            <a:spLocks noGrp="1"/>
          </p:cNvSpPr>
          <p:nvPr>
            <p:ph idx="1"/>
          </p:nvPr>
        </p:nvSpPr>
        <p:spPr>
          <a:xfrm>
            <a:off x="3862469" y="2634660"/>
            <a:ext cx="5205487" cy="2126036"/>
          </a:xfrm>
        </p:spPr>
        <p:txBody>
          <a:bodyPr vert="horz" wrap="square" lIns="68580" tIns="34290" rIns="68580" bIns="34290" anchor="t" anchorCtr="0">
            <a:normAutofit fontScale="70000" lnSpcReduction="20000"/>
          </a:bodyPr>
          <a:lstStyle/>
          <a:p>
            <a:pPr>
              <a:lnSpc>
                <a:spcPct val="120000"/>
              </a:lnSpc>
              <a:spcBef>
                <a:spcPts val="19"/>
              </a:spcBef>
            </a:pPr>
            <a:r>
              <a:rPr lang="zh-CN" altLang="en-US" sz="1800" dirty="0">
                <a:solidFill>
                  <a:srgbClr val="FF0000"/>
                </a:solidFill>
              </a:rPr>
              <a:t>基本表</a:t>
            </a:r>
            <a:r>
              <a:rPr lang="zh-CN" altLang="en-US" sz="1800" dirty="0"/>
              <a:t>是本身独立存在的表，在</a:t>
            </a:r>
            <a:r>
              <a:rPr lang="en-US" altLang="zh-CN" sz="1800" dirty="0"/>
              <a:t>SQL</a:t>
            </a:r>
            <a:r>
              <a:rPr lang="zh-CN" altLang="en-US" sz="1800" dirty="0"/>
              <a:t>中一个关系就对应一个表。一些基本表对应一个存储文件，一个表可以带若干索引，索引也存放在存储文件中。 　　 </a:t>
            </a:r>
          </a:p>
          <a:p>
            <a:pPr>
              <a:lnSpc>
                <a:spcPct val="120000"/>
              </a:lnSpc>
              <a:spcBef>
                <a:spcPts val="19"/>
              </a:spcBef>
            </a:pPr>
            <a:r>
              <a:rPr lang="zh-CN" altLang="en-US" sz="1800" dirty="0">
                <a:solidFill>
                  <a:srgbClr val="FF0000"/>
                </a:solidFill>
              </a:rPr>
              <a:t>存储文件</a:t>
            </a:r>
            <a:r>
              <a:rPr lang="zh-CN" altLang="en-US" sz="1800" dirty="0"/>
              <a:t>的逻辑结构组成了关系数据库的内模式。存储文件的物理文件结构是任意的。 </a:t>
            </a:r>
          </a:p>
          <a:p>
            <a:pPr>
              <a:lnSpc>
                <a:spcPct val="120000"/>
              </a:lnSpc>
              <a:spcBef>
                <a:spcPts val="19"/>
              </a:spcBef>
            </a:pPr>
            <a:r>
              <a:rPr lang="zh-CN" altLang="en-US" sz="1800" dirty="0">
                <a:solidFill>
                  <a:srgbClr val="FF0000"/>
                </a:solidFill>
              </a:rPr>
              <a:t>视图</a:t>
            </a:r>
            <a:r>
              <a:rPr lang="zh-CN" altLang="en-US" sz="1800" dirty="0"/>
              <a:t>是从基本表或其他视图中导出的表，它本身不独立存储在数据库中，也就是说数据库中只存放视图的定义而不存放视图对应的数据，这些数据仍存放在导出视图的基本表中，因此视图是一个虚表。 用户可以用</a:t>
            </a:r>
            <a:r>
              <a:rPr lang="en-US" altLang="zh-CN" sz="1800" dirty="0"/>
              <a:t>SQL</a:t>
            </a:r>
            <a:r>
              <a:rPr lang="zh-CN" altLang="en-US" sz="1800" dirty="0"/>
              <a:t>语言对视图和基本表进行查询。在用户眼中，视图和基本表都是关系，而存储文件对用户是透明的。 </a:t>
            </a:r>
          </a:p>
        </p:txBody>
      </p:sp>
      <p:sp>
        <p:nvSpPr>
          <p:cNvPr id="6" name="文本框 5">
            <a:extLst>
              <a:ext uri="{FF2B5EF4-FFF2-40B4-BE49-F238E27FC236}">
                <a16:creationId xmlns:a16="http://schemas.microsoft.com/office/drawing/2014/main" id="{92229A7F-4772-C31C-C0BB-3F6F83E21237}"/>
              </a:ext>
            </a:extLst>
          </p:cNvPr>
          <p:cNvSpPr txBox="1"/>
          <p:nvPr/>
        </p:nvSpPr>
        <p:spPr>
          <a:xfrm>
            <a:off x="93960" y="1352878"/>
            <a:ext cx="4606870" cy="523220"/>
          </a:xfrm>
          <a:prstGeom prst="rect">
            <a:avLst/>
          </a:prstGeom>
          <a:noFill/>
        </p:spPr>
        <p:txBody>
          <a:bodyPr wrap="square">
            <a:spAutoFit/>
          </a:bodyPr>
          <a:lstStyle/>
          <a:p>
            <a:pPr eaLnBrk="1" hangingPunct="1">
              <a:lnSpc>
                <a:spcPct val="100000"/>
              </a:lnSpc>
              <a:buSzPct val="60000"/>
              <a:buFont typeface="Wingdings" panose="05000000000000000000" pitchFamily="2" charset="2"/>
              <a:buNone/>
            </a:pPr>
            <a:r>
              <a:rPr lang="zh-CN" altLang="en-US" sz="2800" b="1" dirty="0">
                <a:solidFill>
                  <a:srgbClr val="C00000"/>
                </a:solidFill>
              </a:rPr>
              <a:t>（</a:t>
            </a:r>
            <a:r>
              <a:rPr lang="en-US" altLang="zh-CN" sz="2800" b="1" dirty="0">
                <a:solidFill>
                  <a:srgbClr val="C00000"/>
                </a:solidFill>
              </a:rPr>
              <a:t>1</a:t>
            </a:r>
            <a:r>
              <a:rPr lang="zh-CN" altLang="en-US" sz="2800" b="1" dirty="0">
                <a:solidFill>
                  <a:srgbClr val="C00000"/>
                </a:solidFill>
              </a:rPr>
              <a:t>）基本元素层次</a:t>
            </a:r>
          </a:p>
        </p:txBody>
      </p:sp>
      <p:graphicFrame>
        <p:nvGraphicFramePr>
          <p:cNvPr id="7" name="表格 6">
            <a:extLst>
              <a:ext uri="{FF2B5EF4-FFF2-40B4-BE49-F238E27FC236}">
                <a16:creationId xmlns:a16="http://schemas.microsoft.com/office/drawing/2014/main" id="{C542870A-CD00-EF43-FBF2-39139961229B}"/>
              </a:ext>
            </a:extLst>
          </p:cNvPr>
          <p:cNvGraphicFramePr>
            <a:graphicFrameLocks noGrp="1"/>
          </p:cNvGraphicFramePr>
          <p:nvPr>
            <p:extLst>
              <p:ext uri="{D42A27DB-BD31-4B8C-83A1-F6EECF244321}">
                <p14:modId xmlns:p14="http://schemas.microsoft.com/office/powerpoint/2010/main" val="18541486"/>
              </p:ext>
            </p:extLst>
          </p:nvPr>
        </p:nvGraphicFramePr>
        <p:xfrm>
          <a:off x="6101716" y="908494"/>
          <a:ext cx="2588734" cy="1645920"/>
        </p:xfrm>
        <a:graphic>
          <a:graphicData uri="http://schemas.openxmlformats.org/drawingml/2006/table">
            <a:tbl>
              <a:tblPr firstRow="1" bandRow="1">
                <a:tableStyleId>{5C22544A-7EE6-4342-B048-85BDC9FD1C3A}</a:tableStyleId>
              </a:tblPr>
              <a:tblGrid>
                <a:gridCol w="915871">
                  <a:extLst>
                    <a:ext uri="{9D8B030D-6E8A-4147-A177-3AD203B41FA5}">
                      <a16:colId xmlns:a16="http://schemas.microsoft.com/office/drawing/2014/main" val="541945218"/>
                    </a:ext>
                  </a:extLst>
                </a:gridCol>
                <a:gridCol w="1672863">
                  <a:extLst>
                    <a:ext uri="{9D8B030D-6E8A-4147-A177-3AD203B41FA5}">
                      <a16:colId xmlns:a16="http://schemas.microsoft.com/office/drawing/2014/main" val="2907569746"/>
                    </a:ext>
                  </a:extLst>
                </a:gridCol>
              </a:tblGrid>
              <a:tr h="270559">
                <a:tc>
                  <a:txBody>
                    <a:bodyPr/>
                    <a:lstStyle/>
                    <a:p>
                      <a:pPr algn="ctr"/>
                      <a:r>
                        <a:rPr lang="zh-CN" altLang="en-US" sz="1200" dirty="0"/>
                        <a:t>关系模型</a:t>
                      </a:r>
                    </a:p>
                  </a:txBody>
                  <a:tcPr/>
                </a:tc>
                <a:tc>
                  <a:txBody>
                    <a:bodyPr/>
                    <a:lstStyle/>
                    <a:p>
                      <a:pPr algn="ctr"/>
                      <a:r>
                        <a:rPr lang="en-US" altLang="zh-CN" sz="1200" dirty="0"/>
                        <a:t>SQL</a:t>
                      </a:r>
                      <a:endParaRPr lang="zh-CN" altLang="en-US" sz="1200" dirty="0"/>
                    </a:p>
                  </a:txBody>
                  <a:tcPr/>
                </a:tc>
                <a:extLst>
                  <a:ext uri="{0D108BD9-81ED-4DB2-BD59-A6C34878D82A}">
                    <a16:rowId xmlns:a16="http://schemas.microsoft.com/office/drawing/2014/main" val="2193704912"/>
                  </a:ext>
                </a:extLst>
              </a:tr>
              <a:tr h="270559">
                <a:tc>
                  <a:txBody>
                    <a:bodyPr/>
                    <a:lstStyle/>
                    <a:p>
                      <a:pPr algn="ctr"/>
                      <a:r>
                        <a:rPr lang="zh-CN" altLang="en-US" sz="1200" dirty="0"/>
                        <a:t>外模式</a:t>
                      </a:r>
                    </a:p>
                  </a:txBody>
                  <a:tcPr/>
                </a:tc>
                <a:tc>
                  <a:txBody>
                    <a:bodyPr/>
                    <a:lstStyle/>
                    <a:p>
                      <a:pPr algn="ctr"/>
                      <a:r>
                        <a:rPr lang="zh-CN" altLang="en-US" sz="1200" dirty="0"/>
                        <a:t>视图（</a:t>
                      </a:r>
                      <a:r>
                        <a:rPr lang="en-US" altLang="zh-CN" sz="1200" dirty="0"/>
                        <a:t>VIEW</a:t>
                      </a:r>
                      <a:r>
                        <a:rPr lang="zh-CN" altLang="en-US" sz="1200" dirty="0"/>
                        <a:t>）</a:t>
                      </a:r>
                    </a:p>
                  </a:txBody>
                  <a:tcPr/>
                </a:tc>
                <a:extLst>
                  <a:ext uri="{0D108BD9-81ED-4DB2-BD59-A6C34878D82A}">
                    <a16:rowId xmlns:a16="http://schemas.microsoft.com/office/drawing/2014/main" val="2702133227"/>
                  </a:ext>
                </a:extLst>
              </a:tr>
              <a:tr h="270559">
                <a:tc>
                  <a:txBody>
                    <a:bodyPr/>
                    <a:lstStyle/>
                    <a:p>
                      <a:pPr algn="ctr"/>
                      <a:r>
                        <a:rPr lang="zh-CN" altLang="en-US" sz="1200" dirty="0"/>
                        <a:t>模式</a:t>
                      </a:r>
                    </a:p>
                  </a:txBody>
                  <a:tcPr/>
                </a:tc>
                <a:tc>
                  <a:txBody>
                    <a:bodyPr/>
                    <a:lstStyle/>
                    <a:p>
                      <a:pPr algn="ctr"/>
                      <a:r>
                        <a:rPr lang="zh-CN" altLang="en-US" sz="1200" dirty="0"/>
                        <a:t>基本表（</a:t>
                      </a:r>
                      <a:r>
                        <a:rPr lang="en-US" altLang="zh-CN" sz="1200" dirty="0"/>
                        <a:t>TABLE</a:t>
                      </a:r>
                      <a:r>
                        <a:rPr lang="zh-CN" altLang="en-US" sz="1200" dirty="0"/>
                        <a:t>）</a:t>
                      </a:r>
                    </a:p>
                  </a:txBody>
                  <a:tcPr/>
                </a:tc>
                <a:extLst>
                  <a:ext uri="{0D108BD9-81ED-4DB2-BD59-A6C34878D82A}">
                    <a16:rowId xmlns:a16="http://schemas.microsoft.com/office/drawing/2014/main" val="3310770992"/>
                  </a:ext>
                </a:extLst>
              </a:tr>
              <a:tr h="270559">
                <a:tc>
                  <a:txBody>
                    <a:bodyPr/>
                    <a:lstStyle/>
                    <a:p>
                      <a:pPr algn="ctr"/>
                      <a:r>
                        <a:rPr lang="zh-CN" altLang="en-US" sz="1200" dirty="0"/>
                        <a:t>内模式</a:t>
                      </a:r>
                    </a:p>
                  </a:txBody>
                  <a:tcPr/>
                </a:tc>
                <a:tc>
                  <a:txBody>
                    <a:bodyPr/>
                    <a:lstStyle/>
                    <a:p>
                      <a:pPr algn="ctr"/>
                      <a:r>
                        <a:rPr lang="zh-CN" altLang="en-US" sz="1200" dirty="0"/>
                        <a:t>存储文件、索引</a:t>
                      </a:r>
                    </a:p>
                  </a:txBody>
                  <a:tcPr/>
                </a:tc>
                <a:extLst>
                  <a:ext uri="{0D108BD9-81ED-4DB2-BD59-A6C34878D82A}">
                    <a16:rowId xmlns:a16="http://schemas.microsoft.com/office/drawing/2014/main" val="2232716641"/>
                  </a:ext>
                </a:extLst>
              </a:tr>
              <a:tr h="270559">
                <a:tc>
                  <a:txBody>
                    <a:bodyPr/>
                    <a:lstStyle/>
                    <a:p>
                      <a:pPr algn="ctr"/>
                      <a:r>
                        <a:rPr lang="zh-CN" altLang="en-US" sz="1200" dirty="0"/>
                        <a:t>元组</a:t>
                      </a:r>
                    </a:p>
                  </a:txBody>
                  <a:tcPr/>
                </a:tc>
                <a:tc>
                  <a:txBody>
                    <a:bodyPr/>
                    <a:lstStyle/>
                    <a:p>
                      <a:pPr algn="ctr"/>
                      <a:r>
                        <a:rPr lang="zh-CN" altLang="en-US" sz="1200" dirty="0"/>
                        <a:t>行（</a:t>
                      </a:r>
                      <a:r>
                        <a:rPr lang="en-US" altLang="zh-CN" sz="1200" dirty="0"/>
                        <a:t>ROW</a:t>
                      </a:r>
                      <a:r>
                        <a:rPr lang="zh-CN" altLang="en-US" sz="1200" dirty="0"/>
                        <a:t>）</a:t>
                      </a:r>
                    </a:p>
                  </a:txBody>
                  <a:tcPr/>
                </a:tc>
                <a:extLst>
                  <a:ext uri="{0D108BD9-81ED-4DB2-BD59-A6C34878D82A}">
                    <a16:rowId xmlns:a16="http://schemas.microsoft.com/office/drawing/2014/main" val="712419511"/>
                  </a:ext>
                </a:extLst>
              </a:tr>
              <a:tr h="270559">
                <a:tc>
                  <a:txBody>
                    <a:bodyPr/>
                    <a:lstStyle/>
                    <a:p>
                      <a:pPr algn="ctr"/>
                      <a:r>
                        <a:rPr lang="zh-CN" altLang="en-US" sz="1200" dirty="0"/>
                        <a:t>属性</a:t>
                      </a:r>
                    </a:p>
                  </a:txBody>
                  <a:tcPr/>
                </a:tc>
                <a:tc>
                  <a:txBody>
                    <a:bodyPr/>
                    <a:lstStyle/>
                    <a:p>
                      <a:pPr algn="ctr"/>
                      <a:r>
                        <a:rPr lang="zh-CN" altLang="en-US" sz="1200" dirty="0"/>
                        <a:t>列（</a:t>
                      </a:r>
                      <a:r>
                        <a:rPr lang="en-US" altLang="zh-CN" sz="1200" dirty="0"/>
                        <a:t>COLUMN</a:t>
                      </a:r>
                      <a:r>
                        <a:rPr lang="zh-CN" altLang="en-US" sz="1200" dirty="0"/>
                        <a:t>）</a:t>
                      </a:r>
                    </a:p>
                  </a:txBody>
                  <a:tcPr/>
                </a:tc>
                <a:extLst>
                  <a:ext uri="{0D108BD9-81ED-4DB2-BD59-A6C34878D82A}">
                    <a16:rowId xmlns:a16="http://schemas.microsoft.com/office/drawing/2014/main" val="2163460124"/>
                  </a:ext>
                </a:extLst>
              </a:tr>
            </a:tbl>
          </a:graphicData>
        </a:graphic>
      </p:graphicFrame>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p:cNvSpPr>
          <p:nvPr>
            <p:ph idx="1"/>
          </p:nvPr>
        </p:nvSpPr>
        <p:spPr>
          <a:xfrm>
            <a:off x="232475" y="1335064"/>
            <a:ext cx="3827622" cy="3408735"/>
          </a:xfrm>
        </p:spPr>
        <p:txBody>
          <a:bodyPr vert="horz" wrap="square" lIns="68580" tIns="34290" rIns="68580" bIns="34290" rtlCol="0" anchor="t" anchorCtr="0">
            <a:normAutofit/>
          </a:bodyPr>
          <a:lstStyle/>
          <a:p>
            <a:pPr eaLnBrk="1" hangingPunct="1">
              <a:lnSpc>
                <a:spcPct val="100000"/>
              </a:lnSpc>
              <a:buSzPct val="60000"/>
              <a:buFont typeface="Wingdings" panose="05000000000000000000" pitchFamily="2" charset="2"/>
              <a:buNone/>
            </a:pPr>
            <a:r>
              <a:rPr lang="zh-CN" altLang="en-US" b="1" dirty="0">
                <a:solidFill>
                  <a:srgbClr val="C00000"/>
                </a:solidFill>
              </a:rPr>
              <a:t>（</a:t>
            </a:r>
            <a:r>
              <a:rPr lang="en-US" altLang="zh-CN" b="1" dirty="0">
                <a:solidFill>
                  <a:srgbClr val="C00000"/>
                </a:solidFill>
              </a:rPr>
              <a:t>2</a:t>
            </a:r>
            <a:r>
              <a:rPr lang="zh-CN" altLang="en-US" b="1" dirty="0">
                <a:solidFill>
                  <a:srgbClr val="C00000"/>
                </a:solidFill>
              </a:rPr>
              <a:t>）</a:t>
            </a:r>
            <a:r>
              <a:rPr lang="en-US" altLang="zh-CN" b="1" dirty="0">
                <a:solidFill>
                  <a:srgbClr val="C00000"/>
                </a:solidFill>
              </a:rPr>
              <a:t>SQL</a:t>
            </a:r>
            <a:r>
              <a:rPr lang="zh-CN" altLang="en-US" b="1" dirty="0">
                <a:solidFill>
                  <a:srgbClr val="C00000"/>
                </a:solidFill>
              </a:rPr>
              <a:t>语言的组成 </a:t>
            </a:r>
          </a:p>
          <a:p>
            <a:pPr lvl="1" eaLnBrk="1" hangingPunct="1">
              <a:lnSpc>
                <a:spcPct val="100000"/>
              </a:lnSpc>
              <a:buSzPct val="60000"/>
            </a:pPr>
            <a:r>
              <a:rPr lang="zh-CN" altLang="en-US" dirty="0"/>
              <a:t>数据定义语言（</a:t>
            </a:r>
            <a:r>
              <a:rPr lang="en-US" altLang="zh-CN" dirty="0"/>
              <a:t>DDL</a:t>
            </a:r>
            <a:r>
              <a:rPr lang="zh-CN" altLang="en-US" dirty="0"/>
              <a:t>）</a:t>
            </a:r>
          </a:p>
          <a:p>
            <a:pPr lvl="1" eaLnBrk="1" hangingPunct="1">
              <a:lnSpc>
                <a:spcPct val="100000"/>
              </a:lnSpc>
              <a:buSzPct val="60000"/>
            </a:pPr>
            <a:r>
              <a:rPr lang="zh-CN" altLang="en-US" dirty="0"/>
              <a:t>数据操纵语言（</a:t>
            </a:r>
            <a:r>
              <a:rPr lang="en-US" altLang="zh-CN" dirty="0"/>
              <a:t>DML</a:t>
            </a:r>
            <a:r>
              <a:rPr lang="zh-CN" altLang="en-US" dirty="0"/>
              <a:t>） </a:t>
            </a:r>
          </a:p>
          <a:p>
            <a:pPr lvl="1" eaLnBrk="1" hangingPunct="1">
              <a:lnSpc>
                <a:spcPct val="100000"/>
              </a:lnSpc>
              <a:buSzPct val="60000"/>
            </a:pPr>
            <a:r>
              <a:rPr lang="zh-CN" altLang="en-US" dirty="0"/>
              <a:t>数据控制语言（</a:t>
            </a:r>
            <a:r>
              <a:rPr lang="en-US" altLang="zh-CN" dirty="0"/>
              <a:t>DCL</a:t>
            </a:r>
            <a:r>
              <a:rPr lang="zh-CN" altLang="en-US" dirty="0"/>
              <a:t>） </a:t>
            </a:r>
          </a:p>
          <a:p>
            <a:pPr lvl="1" eaLnBrk="1" hangingPunct="1">
              <a:lnSpc>
                <a:spcPct val="100000"/>
              </a:lnSpc>
              <a:buSzPct val="60000"/>
            </a:pPr>
            <a:r>
              <a:rPr lang="zh-CN" altLang="en-US" dirty="0"/>
              <a:t>嵌入与会话规则 </a:t>
            </a:r>
          </a:p>
        </p:txBody>
      </p:sp>
      <p:sp>
        <p:nvSpPr>
          <p:cNvPr id="14340" name="Rectangle 4"/>
          <p:cNvSpPr>
            <a:spLocks noGrp="1"/>
          </p:cNvSpPr>
          <p:nvPr>
            <p:ph sz="half" idx="4294967295"/>
          </p:nvPr>
        </p:nvSpPr>
        <p:spPr>
          <a:xfrm>
            <a:off x="6515100" y="800100"/>
            <a:ext cx="2628900" cy="1885950"/>
          </a:xfrm>
        </p:spPr>
        <p:txBody>
          <a:bodyPr vert="horz" wrap="square" lIns="68580" tIns="34290" rIns="68580" bIns="34290" rtlCol="0" anchor="t" anchorCtr="0">
            <a:normAutofit/>
          </a:bodyPr>
          <a:lstStyle/>
          <a:p>
            <a:pPr eaLnBrk="1" hangingPunct="1">
              <a:buSzTx/>
              <a:buFont typeface="Wingdings" panose="05000000000000000000" pitchFamily="2" charset="2"/>
              <a:buChar char="Ø"/>
            </a:pPr>
            <a:endParaRPr lang="zh-CN" altLang="en-US" sz="1800" b="1" dirty="0">
              <a:latin typeface="+mn-lt"/>
              <a:ea typeface="+mn-ea"/>
            </a:endParaRPr>
          </a:p>
          <a:p>
            <a:pPr eaLnBrk="1" hangingPunct="1">
              <a:buSzTx/>
              <a:buFont typeface="Wingdings" panose="05000000000000000000" pitchFamily="2" charset="2"/>
              <a:buNone/>
            </a:pPr>
            <a:endParaRPr lang="zh-CN" altLang="en-US" sz="1800" b="1" dirty="0">
              <a:latin typeface="+mn-lt"/>
              <a:ea typeface="+mn-ea"/>
            </a:endParaRPr>
          </a:p>
          <a:p>
            <a:pPr eaLnBrk="1" hangingPunct="1">
              <a:buSzPct val="60000"/>
            </a:pPr>
            <a:endParaRPr lang="zh-CN" altLang="en-US" sz="1800" b="1" dirty="0">
              <a:latin typeface="+mn-lt"/>
              <a:ea typeface="+mn-ea"/>
            </a:endParaRPr>
          </a:p>
        </p:txBody>
      </p:sp>
      <p:sp>
        <p:nvSpPr>
          <p:cNvPr id="2" name="Rectangle 3"/>
          <p:cNvSpPr>
            <a:spLocks noGrp="1"/>
          </p:cNvSpPr>
          <p:nvPr>
            <p:custDataLst>
              <p:tags r:id="rId1"/>
            </p:custDataLst>
          </p:nvPr>
        </p:nvSpPr>
        <p:spPr>
          <a:xfrm>
            <a:off x="4417017" y="1333249"/>
            <a:ext cx="4494508" cy="2997817"/>
          </a:xfrm>
        </p:spPr>
        <p:txBody>
          <a:bodyPr vert="horz" wrap="square" lIns="68580" tIns="34290" rIns="68580" bIns="34290" anchor="t" anchorCtr="0"/>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28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24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20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00000"/>
              </a:lnSpc>
              <a:spcAft>
                <a:spcPts val="0"/>
              </a:spcAft>
              <a:buSzPct val="60000"/>
              <a:buFont typeface="Wingdings" panose="05000000000000000000" pitchFamily="2" charset="2"/>
              <a:buNone/>
            </a:pPr>
            <a:r>
              <a:rPr lang="zh-CN" altLang="en-US" b="1" dirty="0">
                <a:solidFill>
                  <a:srgbClr val="C00000"/>
                </a:solidFill>
                <a:latin typeface="Microsoft YaHei" panose="020B0503020204020204" pitchFamily="34" charset="-122"/>
                <a:ea typeface="Microsoft YaHei" panose="020B0503020204020204" pitchFamily="34" charset="-122"/>
              </a:rPr>
              <a:t>（</a:t>
            </a:r>
            <a:r>
              <a:rPr lang="en-US" altLang="zh-CN" b="1" dirty="0">
                <a:solidFill>
                  <a:srgbClr val="C00000"/>
                </a:solidFill>
                <a:latin typeface="Microsoft YaHei" panose="020B0503020204020204" pitchFamily="34" charset="-122"/>
                <a:ea typeface="Microsoft YaHei" panose="020B0503020204020204" pitchFamily="34" charset="-122"/>
              </a:rPr>
              <a:t>3</a:t>
            </a:r>
            <a:r>
              <a:rPr lang="zh-CN" altLang="en-US" b="1" dirty="0">
                <a:solidFill>
                  <a:srgbClr val="C00000"/>
                </a:solidFill>
                <a:latin typeface="Microsoft YaHei" panose="020B0503020204020204" pitchFamily="34" charset="-122"/>
                <a:ea typeface="Microsoft YaHei" panose="020B0503020204020204" pitchFamily="34" charset="-122"/>
              </a:rPr>
              <a:t>）</a:t>
            </a:r>
            <a:r>
              <a:rPr lang="en-US" altLang="zh-CN" b="1" dirty="0">
                <a:solidFill>
                  <a:srgbClr val="C00000"/>
                </a:solidFill>
                <a:latin typeface="Microsoft YaHei" panose="020B0503020204020204" pitchFamily="34" charset="-122"/>
                <a:ea typeface="Microsoft YaHei" panose="020B0503020204020204" pitchFamily="34" charset="-122"/>
              </a:rPr>
              <a:t>SQL</a:t>
            </a:r>
            <a:r>
              <a:rPr lang="zh-CN" altLang="en-US" b="1" dirty="0">
                <a:solidFill>
                  <a:srgbClr val="C00000"/>
                </a:solidFill>
                <a:latin typeface="Microsoft YaHei" panose="020B0503020204020204" pitchFamily="34" charset="-122"/>
                <a:ea typeface="Microsoft YaHei" panose="020B0503020204020204" pitchFamily="34" charset="-122"/>
              </a:rPr>
              <a:t>的语句类型 </a:t>
            </a:r>
          </a:p>
          <a:p>
            <a:pPr lvl="1" eaLnBrk="1" hangingPunct="1">
              <a:lnSpc>
                <a:spcPct val="100000"/>
              </a:lnSpc>
              <a:spcAft>
                <a:spcPts val="0"/>
              </a:spcAft>
              <a:buSzPct val="60000"/>
            </a:pPr>
            <a:r>
              <a:rPr lang="en-US" altLang="zh-CN" dirty="0">
                <a:latin typeface="Microsoft YaHei" panose="020B0503020204020204" pitchFamily="34" charset="-122"/>
                <a:ea typeface="Microsoft YaHei" panose="020B0503020204020204" pitchFamily="34" charset="-122"/>
              </a:rPr>
              <a:t>SQL</a:t>
            </a:r>
            <a:r>
              <a:rPr lang="zh-CN" altLang="en-US" dirty="0">
                <a:latin typeface="Microsoft YaHei" panose="020B0503020204020204" pitchFamily="34" charset="-122"/>
                <a:ea typeface="Microsoft YaHei" panose="020B0503020204020204" pitchFamily="34" charset="-122"/>
              </a:rPr>
              <a:t>模式语句 </a:t>
            </a:r>
          </a:p>
          <a:p>
            <a:pPr lvl="1" eaLnBrk="1" hangingPunct="1">
              <a:lnSpc>
                <a:spcPct val="100000"/>
              </a:lnSpc>
              <a:spcAft>
                <a:spcPts val="0"/>
              </a:spcAft>
              <a:buSzPct val="60000"/>
            </a:pPr>
            <a:r>
              <a:rPr lang="en-US" altLang="zh-CN" dirty="0">
                <a:latin typeface="Microsoft YaHei" panose="020B0503020204020204" pitchFamily="34" charset="-122"/>
                <a:ea typeface="Microsoft YaHei" panose="020B0503020204020204" pitchFamily="34" charset="-122"/>
              </a:rPr>
              <a:t>SQL</a:t>
            </a:r>
            <a:r>
              <a:rPr lang="zh-CN" altLang="en-US" dirty="0">
                <a:latin typeface="Microsoft YaHei" panose="020B0503020204020204" pitchFamily="34" charset="-122"/>
                <a:ea typeface="Microsoft YaHei" panose="020B0503020204020204" pitchFamily="34" charset="-122"/>
              </a:rPr>
              <a:t>数据语句 </a:t>
            </a:r>
          </a:p>
          <a:p>
            <a:pPr lvl="1" eaLnBrk="1" hangingPunct="1">
              <a:lnSpc>
                <a:spcPct val="100000"/>
              </a:lnSpc>
              <a:spcAft>
                <a:spcPts val="0"/>
              </a:spcAft>
              <a:buSzPct val="60000"/>
            </a:pPr>
            <a:r>
              <a:rPr lang="en-US" altLang="zh-CN" dirty="0">
                <a:latin typeface="Microsoft YaHei" panose="020B0503020204020204" pitchFamily="34" charset="-122"/>
                <a:ea typeface="Microsoft YaHei" panose="020B0503020204020204" pitchFamily="34" charset="-122"/>
              </a:rPr>
              <a:t>SQL</a:t>
            </a:r>
            <a:r>
              <a:rPr lang="zh-CN" altLang="en-US" dirty="0">
                <a:latin typeface="Microsoft YaHei" panose="020B0503020204020204" pitchFamily="34" charset="-122"/>
                <a:ea typeface="Microsoft YaHei" panose="020B0503020204020204" pitchFamily="34" charset="-122"/>
              </a:rPr>
              <a:t>事务与控制语句 </a:t>
            </a:r>
          </a:p>
          <a:p>
            <a:pPr lvl="1" eaLnBrk="1" hangingPunct="1">
              <a:lnSpc>
                <a:spcPct val="100000"/>
              </a:lnSpc>
              <a:spcAft>
                <a:spcPts val="0"/>
              </a:spcAft>
              <a:buSzPct val="60000"/>
            </a:pPr>
            <a:r>
              <a:rPr lang="en-US" altLang="zh-CN" dirty="0">
                <a:latin typeface="Microsoft YaHei" panose="020B0503020204020204" pitchFamily="34" charset="-122"/>
                <a:ea typeface="Microsoft YaHei" panose="020B0503020204020204" pitchFamily="34" charset="-122"/>
              </a:rPr>
              <a:t>SQL</a:t>
            </a:r>
            <a:r>
              <a:rPr lang="zh-CN" altLang="en-US" dirty="0">
                <a:latin typeface="Microsoft YaHei" panose="020B0503020204020204" pitchFamily="34" charset="-122"/>
                <a:ea typeface="Microsoft YaHei" panose="020B0503020204020204" pitchFamily="34" charset="-122"/>
              </a:rPr>
              <a:t>连接、会话及诊断语句 </a:t>
            </a:r>
          </a:p>
        </p:txBody>
      </p:sp>
      <p:sp>
        <p:nvSpPr>
          <p:cNvPr id="4" name="标题 3">
            <a:extLst>
              <a:ext uri="{FF2B5EF4-FFF2-40B4-BE49-F238E27FC236}">
                <a16:creationId xmlns:a16="http://schemas.microsoft.com/office/drawing/2014/main" id="{51ADCDEC-C385-E34A-13D5-B53C5114138E}"/>
              </a:ext>
            </a:extLst>
          </p:cNvPr>
          <p:cNvSpPr>
            <a:spLocks noGrp="1"/>
          </p:cNvSpPr>
          <p:nvPr>
            <p:ph type="title"/>
          </p:nvPr>
        </p:nvSpPr>
        <p:spPr/>
        <p:txBody>
          <a:bodyPr/>
          <a:lstStyle/>
          <a:p>
            <a:r>
              <a:rPr lang="en-US" altLang="zh-CN" dirty="0"/>
              <a:t>SQL</a:t>
            </a:r>
            <a:r>
              <a:rPr lang="zh-CN" altLang="en-US" dirty="0"/>
              <a:t>的基本组成</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636384" y="1253548"/>
            <a:ext cx="8034814" cy="3889952"/>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0" indent="0" defTabSz="685800" eaLnBrk="1" hangingPunct="1">
              <a:spcBef>
                <a:spcPct val="50000"/>
              </a:spcBef>
              <a:buClrTx/>
              <a:buSzTx/>
              <a:buNone/>
              <a:tabLst>
                <a:tab pos="0" algn="l"/>
                <a:tab pos="73819" algn="l"/>
              </a:tabLst>
            </a:pPr>
            <a:r>
              <a:rPr lang="zh-CN" altLang="en-US" sz="2100" b="1" dirty="0">
                <a:solidFill>
                  <a:srgbClr val="C00000"/>
                </a:solidFill>
                <a:latin typeface="Microsoft YaHei" panose="020B0503020204020204" pitchFamily="34" charset="-122"/>
                <a:ea typeface="Microsoft YaHei" panose="020B0503020204020204" pitchFamily="34" charset="-122"/>
              </a:rPr>
              <a:t>（4）SQL的数据类型 </a:t>
            </a:r>
          </a:p>
          <a:p>
            <a:pPr eaLnBrk="1" hangingPunct="1">
              <a:spcBef>
                <a:spcPts val="19"/>
              </a:spcBef>
            </a:pPr>
            <a:r>
              <a:rPr lang="zh-CN" altLang="en-US" sz="1800" b="1" dirty="0">
                <a:latin typeface="Microsoft YaHei" panose="020B0503020204020204" pitchFamily="34" charset="-122"/>
                <a:ea typeface="Microsoft YaHei" panose="020B0503020204020204" pitchFamily="34" charset="-122"/>
                <a:sym typeface="+mn-ea"/>
              </a:rPr>
              <a:t>预定义数据类型：int、real、double、char、varchar、date、boolean等</a:t>
            </a:r>
            <a:endParaRPr lang="en-US" altLang="zh-CN" sz="1800" b="1" dirty="0">
              <a:latin typeface="Microsoft YaHei" panose="020B0503020204020204" pitchFamily="34" charset="-122"/>
              <a:ea typeface="Microsoft YaHei" panose="020B0503020204020204" pitchFamily="34" charset="-122"/>
              <a:sym typeface="+mn-ea"/>
            </a:endParaRPr>
          </a:p>
          <a:p>
            <a:pPr eaLnBrk="1" hangingPunct="1">
              <a:spcBef>
                <a:spcPts val="19"/>
              </a:spcBef>
            </a:pPr>
            <a:endParaRPr lang="zh-CN" altLang="en-US" sz="1800" b="1" dirty="0">
              <a:latin typeface="Microsoft YaHei" panose="020B0503020204020204" pitchFamily="34" charset="-122"/>
              <a:ea typeface="Microsoft YaHei" panose="020B0503020204020204" pitchFamily="34" charset="-122"/>
              <a:sym typeface="+mn-ea"/>
            </a:endParaRPr>
          </a:p>
          <a:p>
            <a:pPr eaLnBrk="1" hangingPunct="1">
              <a:spcBef>
                <a:spcPts val="19"/>
              </a:spcBef>
            </a:pPr>
            <a:r>
              <a:rPr lang="zh-CN" altLang="en-US" sz="1800" b="1" dirty="0">
                <a:latin typeface="Microsoft YaHei" panose="020B0503020204020204" pitchFamily="34" charset="-122"/>
                <a:ea typeface="Microsoft YaHei" panose="020B0503020204020204" pitchFamily="34" charset="-122"/>
                <a:sym typeface="+mn-ea"/>
              </a:rPr>
              <a:t>构造数据类型：array、ref、row等</a:t>
            </a:r>
            <a:endParaRPr lang="en-US" altLang="zh-CN" sz="1800" b="1" dirty="0">
              <a:latin typeface="Microsoft YaHei" panose="020B0503020204020204" pitchFamily="34" charset="-122"/>
              <a:ea typeface="Microsoft YaHei" panose="020B0503020204020204" pitchFamily="34" charset="-122"/>
              <a:sym typeface="+mn-ea"/>
            </a:endParaRPr>
          </a:p>
          <a:p>
            <a:pPr eaLnBrk="1" hangingPunct="1">
              <a:spcBef>
                <a:spcPts val="19"/>
              </a:spcBef>
            </a:pPr>
            <a:endParaRPr lang="en-US" altLang="zh-CN" sz="1800" b="1" dirty="0">
              <a:latin typeface="Microsoft YaHei" panose="020B0503020204020204" pitchFamily="34" charset="-122"/>
              <a:ea typeface="Microsoft YaHei" panose="020B0503020204020204" pitchFamily="34" charset="-122"/>
              <a:sym typeface="+mn-ea"/>
            </a:endParaRPr>
          </a:p>
          <a:p>
            <a:pPr eaLnBrk="1" hangingPunct="1">
              <a:spcBef>
                <a:spcPts val="19"/>
              </a:spcBef>
            </a:pPr>
            <a:r>
              <a:rPr lang="zh-CN" altLang="en-US" sz="1800" b="1" dirty="0">
                <a:latin typeface="Microsoft YaHei" panose="020B0503020204020204" pitchFamily="34" charset="-122"/>
                <a:ea typeface="Microsoft YaHei" panose="020B0503020204020204" pitchFamily="34" charset="-122"/>
                <a:sym typeface="+mn-ea"/>
              </a:rPr>
              <a:t>用户定义数据类型：由用户按照一定规则用预定义数据类型组合定义自己专用数据类型。</a:t>
            </a:r>
            <a:endParaRPr lang="en-US" altLang="zh-CN" sz="1800" b="1" dirty="0">
              <a:latin typeface="Microsoft YaHei" panose="020B0503020204020204" pitchFamily="34" charset="-122"/>
              <a:ea typeface="Microsoft YaHei" panose="020B0503020204020204" pitchFamily="34" charset="-122"/>
              <a:sym typeface="+mn-ea"/>
            </a:endParaRPr>
          </a:p>
          <a:p>
            <a:pPr eaLnBrk="1" hangingPunct="1">
              <a:spcBef>
                <a:spcPts val="19"/>
              </a:spcBef>
            </a:pPr>
            <a:endParaRPr lang="en-US" altLang="zh-CN" sz="1800" b="1" dirty="0">
              <a:latin typeface="Microsoft YaHei" panose="020B0503020204020204" pitchFamily="34" charset="-122"/>
              <a:ea typeface="Microsoft YaHei" panose="020B0503020204020204" pitchFamily="34" charset="-122"/>
              <a:sym typeface="+mn-ea"/>
            </a:endParaRPr>
          </a:p>
          <a:p>
            <a:pPr eaLnBrk="1" hangingPunct="1">
              <a:spcBef>
                <a:spcPts val="19"/>
              </a:spcBef>
            </a:pPr>
            <a:r>
              <a:rPr lang="zh-CN" altLang="en-US" sz="1800" b="1" dirty="0">
                <a:latin typeface="Microsoft YaHei" panose="020B0503020204020204" pitchFamily="34" charset="-122"/>
                <a:ea typeface="Microsoft YaHei" panose="020B0503020204020204" pitchFamily="34" charset="-122"/>
                <a:sym typeface="+mn-ea"/>
              </a:rPr>
              <a:t>扩充数据类型：</a:t>
            </a:r>
            <a:r>
              <a:rPr lang="en-US" altLang="zh-CN" sz="1800" b="1" dirty="0">
                <a:latin typeface="Microsoft YaHei" panose="020B0503020204020204" pitchFamily="34" charset="-122"/>
                <a:ea typeface="Microsoft YaHei" panose="020B0503020204020204" pitchFamily="34" charset="-122"/>
                <a:sym typeface="+mn-ea"/>
              </a:rPr>
              <a:t> TEXT</a:t>
            </a:r>
            <a:r>
              <a:rPr lang="zh-CN" altLang="en-US" sz="1800" b="1" dirty="0">
                <a:latin typeface="Microsoft YaHei" panose="020B0503020204020204" pitchFamily="34" charset="-122"/>
                <a:ea typeface="Microsoft YaHei" panose="020B0503020204020204" pitchFamily="34" charset="-122"/>
                <a:sym typeface="+mn-ea"/>
              </a:rPr>
              <a:t>（文本），</a:t>
            </a:r>
            <a:r>
              <a:rPr lang="en-US" altLang="zh-CN" sz="1800" b="1" dirty="0">
                <a:latin typeface="Microsoft YaHei" panose="020B0503020204020204" pitchFamily="34" charset="-122"/>
                <a:ea typeface="Microsoft YaHei" panose="020B0503020204020204" pitchFamily="34" charset="-122"/>
                <a:sym typeface="+mn-ea"/>
              </a:rPr>
              <a:t>MONEY</a:t>
            </a:r>
            <a:r>
              <a:rPr lang="zh-CN" altLang="en-US" sz="1800" b="1" dirty="0">
                <a:latin typeface="Microsoft YaHei" panose="020B0503020204020204" pitchFamily="34" charset="-122"/>
                <a:ea typeface="Microsoft YaHei" panose="020B0503020204020204" pitchFamily="34" charset="-122"/>
                <a:sym typeface="+mn-ea"/>
              </a:rPr>
              <a:t>（货币），</a:t>
            </a:r>
            <a:r>
              <a:rPr lang="en-US" altLang="zh-CN" sz="1800" b="1" dirty="0">
                <a:latin typeface="Microsoft YaHei" panose="020B0503020204020204" pitchFamily="34" charset="-122"/>
                <a:ea typeface="Microsoft YaHei" panose="020B0503020204020204" pitchFamily="34" charset="-122"/>
                <a:sym typeface="+mn-ea"/>
              </a:rPr>
              <a:t>GRAPHIC</a:t>
            </a:r>
            <a:r>
              <a:rPr lang="zh-CN" altLang="en-US" sz="1800" b="1" dirty="0">
                <a:latin typeface="Microsoft YaHei" panose="020B0503020204020204" pitchFamily="34" charset="-122"/>
                <a:ea typeface="Microsoft YaHei" panose="020B0503020204020204" pitchFamily="34" charset="-122"/>
                <a:sym typeface="+mn-ea"/>
              </a:rPr>
              <a:t>（图形），</a:t>
            </a:r>
            <a:r>
              <a:rPr lang="en-US" altLang="zh-CN" sz="1800" b="1" dirty="0">
                <a:latin typeface="Microsoft YaHei" panose="020B0503020204020204" pitchFamily="34" charset="-122"/>
                <a:ea typeface="Microsoft YaHei" panose="020B0503020204020204" pitchFamily="34" charset="-122"/>
                <a:sym typeface="+mn-ea"/>
              </a:rPr>
              <a:t>MEMO</a:t>
            </a:r>
            <a:r>
              <a:rPr lang="zh-CN" altLang="en-US" sz="1800" b="1" dirty="0">
                <a:latin typeface="Microsoft YaHei" panose="020B0503020204020204" pitchFamily="34" charset="-122"/>
                <a:ea typeface="Microsoft YaHei" panose="020B0503020204020204" pitchFamily="34" charset="-122"/>
                <a:sym typeface="+mn-ea"/>
              </a:rPr>
              <a:t>（备注）等</a:t>
            </a:r>
            <a:endParaRPr lang="zh-CN" altLang="en-US" sz="1800" b="1" dirty="0">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26347796-D615-3286-413D-03C27A8D6491}"/>
              </a:ext>
            </a:extLst>
          </p:cNvPr>
          <p:cNvSpPr>
            <a:spLocks noGrp="1"/>
          </p:cNvSpPr>
          <p:nvPr>
            <p:ph type="title"/>
          </p:nvPr>
        </p:nvSpPr>
        <p:spPr/>
        <p:txBody>
          <a:bodyPr/>
          <a:lstStyle/>
          <a:p>
            <a:r>
              <a:rPr lang="en-US" altLang="zh-CN" dirty="0"/>
              <a:t>SQL</a:t>
            </a:r>
            <a:r>
              <a:rPr lang="zh-CN" altLang="en-US" dirty="0"/>
              <a:t>的基本组成</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p:cNvSpPr>
          <p:nvPr>
            <p:ph idx="1"/>
          </p:nvPr>
        </p:nvSpPr>
        <p:spPr/>
        <p:txBody>
          <a:bodyPr vert="horz" wrap="square" lIns="68580" tIns="34290" rIns="68580" bIns="34290" anchor="t" anchorCtr="0">
            <a:normAutofit/>
          </a:bodyPr>
          <a:lstStyle/>
          <a:p>
            <a:pPr marL="0" indent="0">
              <a:buNone/>
            </a:pPr>
            <a:r>
              <a:rPr lang="zh-CN" altLang="en-US" sz="1500" b="1" dirty="0">
                <a:solidFill>
                  <a:srgbClr val="C00000"/>
                </a:solidFill>
              </a:rPr>
              <a:t>（5）SQL环境</a:t>
            </a:r>
            <a:r>
              <a:rPr lang="en-US" altLang="zh-CN" sz="1500" b="1" dirty="0">
                <a:solidFill>
                  <a:srgbClr val="C00000"/>
                </a:solidFill>
              </a:rPr>
              <a:t> </a:t>
            </a:r>
            <a:r>
              <a:rPr lang="zh-CN" altLang="en-US" sz="1500" b="1" dirty="0">
                <a:solidFill>
                  <a:srgbClr val="C00000"/>
                </a:solidFill>
              </a:rPr>
              <a:t>（用户操作特定数据库的基本设施）</a:t>
            </a:r>
          </a:p>
          <a:p>
            <a:pPr marL="0" indent="0">
              <a:buNone/>
            </a:pPr>
            <a:r>
              <a:rPr lang="zh-CN" altLang="en-US" sz="1500" b="1" dirty="0"/>
              <a:t>  </a:t>
            </a:r>
            <a:r>
              <a:rPr lang="en-US" altLang="zh-CN" sz="1500" b="1" dirty="0"/>
              <a:t>①</a:t>
            </a:r>
            <a:r>
              <a:rPr lang="zh-CN" altLang="en-US" sz="1500" b="1" dirty="0"/>
              <a:t>SQL模式与目录</a:t>
            </a:r>
          </a:p>
          <a:p>
            <a:pPr marL="0" indent="0">
              <a:buNone/>
            </a:pPr>
            <a:r>
              <a:rPr lang="zh-CN" altLang="en-US" sz="1500" b="1" dirty="0">
                <a:solidFill>
                  <a:schemeClr val="hlink"/>
                </a:solidFill>
              </a:rPr>
              <a:t>   </a:t>
            </a:r>
            <a:r>
              <a:rPr lang="zh-CN" altLang="en-US" sz="1500" b="1" dirty="0">
                <a:solidFill>
                  <a:schemeClr val="hlink"/>
                </a:solidFill>
                <a:sym typeface="+mn-ea"/>
              </a:rPr>
              <a:t>目录：</a:t>
            </a:r>
            <a:r>
              <a:rPr lang="zh-CN" altLang="en-US" sz="1500" b="1" dirty="0">
                <a:sym typeface="+mn-ea"/>
              </a:rPr>
              <a:t>SQL环境中所有模式的集合。</a:t>
            </a:r>
          </a:p>
          <a:p>
            <a:pPr marL="0" indent="0">
              <a:buNone/>
            </a:pPr>
            <a:r>
              <a:rPr lang="zh-CN" altLang="en-US" sz="1500" b="1" dirty="0">
                <a:sym typeface="+mn-ea"/>
              </a:rPr>
              <a:t> </a:t>
            </a:r>
            <a:r>
              <a:rPr lang="en-US" altLang="zh-CN" sz="1500" b="1" dirty="0">
                <a:sym typeface="+mn-ea"/>
              </a:rPr>
              <a:t>  </a:t>
            </a:r>
            <a:r>
              <a:rPr lang="zh-CN" altLang="en-US" sz="1500" b="1" dirty="0">
                <a:solidFill>
                  <a:schemeClr val="hlink"/>
                </a:solidFill>
              </a:rPr>
              <a:t>SQL模式：</a:t>
            </a:r>
            <a:r>
              <a:rPr lang="zh-CN" altLang="en-US" sz="1500" b="1" dirty="0"/>
              <a:t>基本表、视图、角色等的集合。</a:t>
            </a:r>
          </a:p>
          <a:p>
            <a:pPr marL="0" indent="0">
              <a:buNone/>
            </a:pPr>
            <a:r>
              <a:rPr lang="zh-CN" altLang="en-US" sz="1500" b="1" dirty="0">
                <a:solidFill>
                  <a:schemeClr val="hlink"/>
                </a:solidFill>
              </a:rPr>
              <a:t>   </a:t>
            </a:r>
            <a:r>
              <a:rPr lang="zh-CN" altLang="en-US" sz="1500" b="1" dirty="0">
                <a:solidFill>
                  <a:schemeClr val="hlink"/>
                </a:solidFill>
                <a:sym typeface="+mn-ea"/>
              </a:rPr>
              <a:t>定位基表的方式：</a:t>
            </a:r>
            <a:endParaRPr lang="zh-CN" altLang="en-US" sz="1500" b="1" dirty="0">
              <a:solidFill>
                <a:schemeClr val="hlink"/>
              </a:solidFill>
            </a:endParaRPr>
          </a:p>
          <a:p>
            <a:pPr marL="0" indent="0">
              <a:buNone/>
            </a:pPr>
            <a:r>
              <a:rPr lang="zh-CN" altLang="en-US" sz="1500" b="1" dirty="0">
                <a:sym typeface="+mn-ea"/>
              </a:rPr>
              <a:t>      &lt;目录名&gt;．&lt;模式名&gt;．&lt;表名&gt; </a:t>
            </a:r>
            <a:endParaRPr lang="zh-CN" altLang="en-US" sz="1500" b="1" dirty="0"/>
          </a:p>
          <a:p>
            <a:pPr marL="0" indent="0">
              <a:buNone/>
            </a:pPr>
            <a:r>
              <a:rPr lang="zh-CN" altLang="en-US" sz="1500" b="1" dirty="0">
                <a:solidFill>
                  <a:schemeClr val="hlink"/>
                </a:solidFill>
              </a:rPr>
              <a:t>   好处：</a:t>
            </a:r>
            <a:r>
              <a:rPr lang="zh-CN" altLang="en-US" sz="1500" b="1" dirty="0"/>
              <a:t>有了多目录和多模式，不同的应用程序和不同的用户不必担心命名冲突的问题而独立工作。</a:t>
            </a:r>
            <a:endParaRPr lang="en-US" altLang="zh-CN" sz="1500" b="1" dirty="0"/>
          </a:p>
          <a:p>
            <a:pPr marL="0" indent="0">
              <a:buNone/>
            </a:pPr>
            <a:endParaRPr lang="zh-CN" altLang="en-US" sz="1500" b="1" dirty="0"/>
          </a:p>
          <a:p>
            <a:pPr marL="0" indent="0">
              <a:buNone/>
            </a:pPr>
            <a:r>
              <a:rPr lang="zh-CN" altLang="en-US" sz="1500" b="1" dirty="0">
                <a:solidFill>
                  <a:schemeClr val="hlink"/>
                </a:solidFill>
              </a:rPr>
              <a:t>   </a:t>
            </a:r>
            <a:r>
              <a:rPr lang="en-US" altLang="zh-CN" sz="1500" b="1" dirty="0"/>
              <a:t>②</a:t>
            </a:r>
            <a:r>
              <a:rPr lang="zh-CN" altLang="en-US" sz="1500" b="1" dirty="0"/>
              <a:t>SQL环境 </a:t>
            </a:r>
          </a:p>
          <a:p>
            <a:pPr marL="714375" lvl="1" indent="-73819"/>
            <a:r>
              <a:rPr lang="zh-CN" altLang="en-US" sz="1500" b="1" dirty="0"/>
              <a:t> 设置默认的目录和模式 </a:t>
            </a:r>
          </a:p>
          <a:p>
            <a:pPr marL="714375" lvl="1" indent="-73819"/>
            <a:r>
              <a:rPr lang="zh-CN" altLang="en-US" sz="1500" b="1" dirty="0"/>
              <a:t> 设置用户身份</a:t>
            </a:r>
            <a:endParaRPr lang="zh-CN" altLang="en-US" b="1" dirty="0"/>
          </a:p>
          <a:p>
            <a:pPr marL="0" indent="0">
              <a:buNone/>
            </a:pPr>
            <a:endParaRPr lang="zh-CN" altLang="en-US" b="1" dirty="0"/>
          </a:p>
        </p:txBody>
      </p:sp>
      <p:sp>
        <p:nvSpPr>
          <p:cNvPr id="3" name="标题 2">
            <a:extLst>
              <a:ext uri="{FF2B5EF4-FFF2-40B4-BE49-F238E27FC236}">
                <a16:creationId xmlns:a16="http://schemas.microsoft.com/office/drawing/2014/main" id="{C7229830-AD29-A019-15EE-AB29F49E390E}"/>
              </a:ext>
            </a:extLst>
          </p:cNvPr>
          <p:cNvSpPr>
            <a:spLocks noGrp="1"/>
          </p:cNvSpPr>
          <p:nvPr>
            <p:ph type="title"/>
          </p:nvPr>
        </p:nvSpPr>
        <p:spPr/>
        <p:txBody>
          <a:bodyPr/>
          <a:lstStyle/>
          <a:p>
            <a:r>
              <a:rPr lang="en-US" altLang="zh-CN" dirty="0"/>
              <a:t>SQL</a:t>
            </a:r>
            <a:r>
              <a:rPr lang="zh-CN" altLang="en-US" dirty="0"/>
              <a:t>的基本组成</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28B85-3F0D-D6F6-2A29-68005C28B25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B565A9-953C-A774-D8D0-7F5C9F24C65C}"/>
              </a:ext>
            </a:extLst>
          </p:cNvPr>
          <p:cNvSpPr txBox="1"/>
          <p:nvPr/>
        </p:nvSpPr>
        <p:spPr>
          <a:xfrm>
            <a:off x="1006545" y="2781596"/>
            <a:ext cx="7458075" cy="642035"/>
          </a:xfrm>
          <a:prstGeom prst="rect">
            <a:avLst/>
          </a:prstGeom>
          <a:noFill/>
          <a:ln/>
        </p:spPr>
        <p:txBody>
          <a:bodyPr wrap="square" lIns="0" tIns="0" rIns="0" bIns="0" rtlCol="0" anchor="t">
            <a:spAutoFit/>
          </a:bodyPr>
          <a:lstStyle/>
          <a:p>
            <a:pPr marL="0" indent="0" algn="l">
              <a:lnSpc>
                <a:spcPct val="96000"/>
              </a:lnSpc>
              <a:buNone/>
            </a:pPr>
            <a:r>
              <a:rPr lang="en-US" altLang="zh-CN" sz="4346" b="1" dirty="0">
                <a:solidFill>
                  <a:srgbClr val="414141"/>
                </a:solidFill>
                <a:latin typeface="Microsoft YaHei" panose="020B0503020204020204" pitchFamily="34" charset="-122"/>
                <a:ea typeface="Microsoft YaHei" panose="020B0503020204020204" pitchFamily="34" charset="-122"/>
                <a:cs typeface="SourceHanSansSC-Regular"/>
              </a:rPr>
              <a:t>DDL</a:t>
            </a: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与基本数据库对象</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3C43DEB5-03FE-417C-00CE-03333CDF1759}"/>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498BC0A4-0216-4ADD-6755-7367796A12A3}"/>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C55AC4E7-F143-C98B-AA51-F1C09A3E7A9E}"/>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F24D051E-5F7D-222B-53F3-437BE7F2056B}"/>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89561106-12DD-7AB1-C065-A93D1F0522FD}"/>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93BC18EF-2AA4-9D9C-E50A-71378F5F82D8}"/>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3FF7CD47-0FD4-522A-3E58-AB9C1D994CA4}"/>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5EA002ED-17BD-67A3-7406-C12729FA8D54}"/>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021CBB21-4F84-5ED6-E19B-D1744C7AE209}"/>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64AD34B9-A839-2724-F7FD-DAD93EBACC65}"/>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70D4E2A3-6556-6940-5EF3-4E7A700C6A86}"/>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115EC9FA-7770-E9A3-9A41-39864E8C01CC}"/>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09CDAE09-98D5-D878-C794-2C5E97C057DF}"/>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1BB7E911-5362-1F80-71A9-BE8EB8F7AAB9}"/>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5AD4B315-39E0-8B8B-7E9A-54E22759E150}"/>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2</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43790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9891" name="对象 549890"/>
          <p:cNvGraphicFramePr/>
          <p:nvPr>
            <p:extLst>
              <p:ext uri="{D42A27DB-BD31-4B8C-83A1-F6EECF244321}">
                <p14:modId xmlns:p14="http://schemas.microsoft.com/office/powerpoint/2010/main" val="4233234058"/>
              </p:ext>
            </p:extLst>
          </p:nvPr>
        </p:nvGraphicFramePr>
        <p:xfrm>
          <a:off x="827088" y="1697038"/>
          <a:ext cx="7373937" cy="1655762"/>
        </p:xfrm>
        <a:graphic>
          <a:graphicData uri="http://schemas.openxmlformats.org/presentationml/2006/ole">
            <mc:AlternateContent xmlns:mc="http://schemas.openxmlformats.org/markup-compatibility/2006">
              <mc:Choice xmlns:v="urn:schemas-microsoft-com:vml" Requires="v">
                <p:oleObj name="文档" r:id="rId2" imgW="5778500" imgH="1270000" progId="Word.Document.8">
                  <p:embed/>
                </p:oleObj>
              </mc:Choice>
              <mc:Fallback>
                <p:oleObj name="文档" r:id="rId2" imgW="5778500" imgH="1270000" progId="Word.Document.8">
                  <p:embed/>
                  <p:pic>
                    <p:nvPicPr>
                      <p:cNvPr id="549891" name="对象 549890"/>
                      <p:cNvPicPr/>
                      <p:nvPr/>
                    </p:nvPicPr>
                    <p:blipFill>
                      <a:blip r:embed="rId3"/>
                      <a:stretch>
                        <a:fillRect/>
                      </a:stretch>
                    </p:blipFill>
                    <p:spPr>
                      <a:xfrm>
                        <a:off x="827088" y="1697038"/>
                        <a:ext cx="7373937" cy="1655762"/>
                      </a:xfrm>
                      <a:prstGeom prst="rect">
                        <a:avLst/>
                      </a:prstGeom>
                      <a:noFill/>
                      <a:ln w="38100">
                        <a:noFill/>
                      </a:ln>
                    </p:spPr>
                  </p:pic>
                </p:oleObj>
              </mc:Fallback>
            </mc:AlternateContent>
          </a:graphicData>
        </a:graphic>
      </p:graphicFrame>
      <p:sp>
        <p:nvSpPr>
          <p:cNvPr id="3" name="文本框 2"/>
          <p:cNvSpPr txBox="1"/>
          <p:nvPr/>
        </p:nvSpPr>
        <p:spPr>
          <a:xfrm>
            <a:off x="1550432" y="3460579"/>
            <a:ext cx="6043136" cy="964880"/>
          </a:xfrm>
          <a:prstGeom prst="rect">
            <a:avLst/>
          </a:prstGeom>
          <a:noFill/>
        </p:spPr>
        <p:txBody>
          <a:bodyPr wrap="square" rtlCol="0" anchor="t">
            <a:spAutoFit/>
          </a:bodyPr>
          <a:lstStyle/>
          <a:p>
            <a:pPr algn="l">
              <a:lnSpc>
                <a:spcPct val="90000"/>
              </a:lnSpc>
              <a:spcBef>
                <a:spcPct val="20000"/>
              </a:spcBef>
              <a:buClr>
                <a:schemeClr val="folHlink"/>
              </a:buClr>
              <a:buSzPct val="60000"/>
              <a:buFont typeface="Wingdings" panose="05000000000000000000" pitchFamily="2" charset="2"/>
            </a:pPr>
            <a:r>
              <a:rPr lang="zh-CN" altLang="en-US" sz="2100" b="1" kern="0" dirty="0">
                <a:solidFill>
                  <a:srgbClr val="FF0000"/>
                </a:solidFill>
                <a:latin typeface="Microsoft YaHei" panose="020B0503020204020204" pitchFamily="34" charset="-122"/>
                <a:ea typeface="Microsoft YaHei" panose="020B0503020204020204" pitchFamily="34" charset="-122"/>
                <a:sym typeface="Monotype Sorts" pitchFamily="2" charset="2"/>
              </a:rPr>
              <a:t>说明：</a:t>
            </a:r>
            <a:r>
              <a:rPr lang="zh-CN" altLang="en-US" sz="2100" kern="0" dirty="0">
                <a:latin typeface="Microsoft YaHei" panose="020B0503020204020204" pitchFamily="34" charset="-122"/>
                <a:ea typeface="Microsoft YaHei" panose="020B0503020204020204" pitchFamily="34" charset="-122"/>
                <a:sym typeface="Monotype Sorts" pitchFamily="2" charset="2"/>
              </a:rPr>
              <a:t>视图是从基本表导出的虚表，索引依赖于基本表，SQL没有修改视图和索引的操作，可通过先删除，再创建达此目的。</a:t>
            </a:r>
            <a:endParaRPr lang="zh-CN" altLang="en-US" sz="2100" kern="0" dirty="0">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173329A9-A7C6-27C5-AB0B-75DE94BC569D}"/>
              </a:ext>
            </a:extLst>
          </p:cNvPr>
          <p:cNvSpPr>
            <a:spLocks noGrp="1"/>
          </p:cNvSpPr>
          <p:nvPr>
            <p:ph type="title"/>
          </p:nvPr>
        </p:nvSpPr>
        <p:spPr/>
        <p:txBody>
          <a:bodyPr/>
          <a:lstStyle/>
          <a:p>
            <a:r>
              <a:rPr lang="en-US" altLang="zh-CN" dirty="0"/>
              <a:t>SQL</a:t>
            </a:r>
            <a:r>
              <a:rPr lang="zh-CN" altLang="en-US" dirty="0"/>
              <a:t>的数据定义语句</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423548" y="1400020"/>
            <a:ext cx="8169116" cy="3140982"/>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zh-CN" altLang="en-US" sz="1800" b="1" dirty="0">
                <a:latin typeface="Microsoft YaHei" panose="020B0503020204020204" pitchFamily="34" charset="-122"/>
                <a:ea typeface="Microsoft YaHei" panose="020B0503020204020204" pitchFamily="34" charset="-122"/>
              </a:rPr>
              <a:t>CREATE SCHEMA ＜模式名＞ AUTHORIZATION ＜用户名＞</a:t>
            </a:r>
          </a:p>
          <a:p>
            <a:pPr eaLnBrk="1" hangingPunct="1">
              <a:buNone/>
            </a:pPr>
            <a:r>
              <a:rPr lang="zh-CN" altLang="en-US" sz="1800" b="1" dirty="0">
                <a:latin typeface="Microsoft YaHei" panose="020B0503020204020204" pitchFamily="34" charset="-122"/>
                <a:ea typeface="Microsoft YaHei" panose="020B0503020204020204" pitchFamily="34" charset="-122"/>
              </a:rPr>
              <a:t>[＜CREATE DOMAIN子句＞|＜CREATE TABLE子句＞|＜CREATE VIEW ＞|…… ] </a:t>
            </a:r>
          </a:p>
          <a:p>
            <a:pPr eaLnBrk="1" hangingPunct="1"/>
            <a:r>
              <a:rPr lang="zh-CN" altLang="en-US" sz="1800" b="1" dirty="0">
                <a:solidFill>
                  <a:schemeClr val="hlink"/>
                </a:solidFill>
                <a:latin typeface="Microsoft YaHei" panose="020B0503020204020204" pitchFamily="34" charset="-122"/>
                <a:ea typeface="Microsoft YaHei" panose="020B0503020204020204" pitchFamily="34" charset="-122"/>
              </a:rPr>
              <a:t>其中：</a:t>
            </a:r>
            <a:r>
              <a:rPr lang="zh-CN" altLang="en-US" sz="1800" b="1" dirty="0">
                <a:latin typeface="Microsoft YaHei" panose="020B0503020204020204" pitchFamily="34" charset="-122"/>
                <a:ea typeface="Microsoft YaHei" panose="020B0503020204020204" pitchFamily="34" charset="-122"/>
              </a:rPr>
              <a:t>[…]：表示其中的成分为任选项。</a:t>
            </a:r>
          </a:p>
          <a:p>
            <a:pPr eaLnBrk="1" hangingPunct="1">
              <a:buNone/>
            </a:pPr>
            <a:r>
              <a:rPr lang="zh-CN" altLang="en-US" sz="1800" b="1" dirty="0">
                <a:latin typeface="Microsoft YaHei" panose="020B0503020204020204" pitchFamily="34" charset="-122"/>
                <a:ea typeface="Microsoft YaHei" panose="020B0503020204020204" pitchFamily="34" charset="-122"/>
              </a:rPr>
              <a:t>        &lt;…&gt;：表示其中的成分由用户具体给定。</a:t>
            </a:r>
          </a:p>
          <a:p>
            <a:pPr eaLnBrk="1" hangingPunct="1">
              <a:buNone/>
            </a:pPr>
            <a:r>
              <a:rPr lang="zh-CN" altLang="en-US" sz="1800" b="1" dirty="0">
                <a:latin typeface="Microsoft YaHei" panose="020B0503020204020204" pitchFamily="34" charset="-122"/>
                <a:ea typeface="Microsoft YaHei" panose="020B0503020204020204" pitchFamily="34" charset="-122"/>
              </a:rPr>
              <a:t>          |： 表示其中并列的成分只能择一。</a:t>
            </a:r>
            <a:endParaRPr lang="en-US" altLang="zh-CN" sz="1800" b="1" dirty="0">
              <a:latin typeface="Microsoft YaHei" panose="020B0503020204020204" pitchFamily="34" charset="-122"/>
              <a:ea typeface="Microsoft YaHei" panose="020B0503020204020204" pitchFamily="34" charset="-122"/>
            </a:endParaRPr>
          </a:p>
          <a:p>
            <a:pPr eaLnBrk="1" hangingPunct="1">
              <a:buNone/>
            </a:pPr>
            <a:endParaRPr lang="zh-CN" altLang="en-US" sz="2100" b="1" dirty="0">
              <a:latin typeface="Microsoft YaHei" panose="020B0503020204020204" pitchFamily="34" charset="-122"/>
              <a:ea typeface="Microsoft YaHei" panose="020B0503020204020204" pitchFamily="34" charset="-122"/>
            </a:endParaRPr>
          </a:p>
          <a:p>
            <a:pPr eaLnBrk="1" hangingPunct="1">
              <a:buNone/>
            </a:pPr>
            <a:r>
              <a:rPr lang="zh-CN" altLang="en-US" sz="2100" b="1" dirty="0">
                <a:solidFill>
                  <a:schemeClr val="hlink"/>
                </a:solidFill>
                <a:latin typeface="Microsoft YaHei" panose="020B0503020204020204" pitchFamily="34" charset="-122"/>
                <a:ea typeface="Microsoft YaHei" panose="020B0503020204020204" pitchFamily="34" charset="-122"/>
              </a:rPr>
              <a:t>例：</a:t>
            </a:r>
            <a:r>
              <a:rPr lang="zh-CN" altLang="en-US" sz="1800" b="1" dirty="0">
                <a:solidFill>
                  <a:schemeClr val="hlink"/>
                </a:solidFill>
                <a:latin typeface="Microsoft YaHei" panose="020B0503020204020204" pitchFamily="34" charset="-122"/>
                <a:ea typeface="Microsoft YaHei" panose="020B0503020204020204" pitchFamily="34" charset="-122"/>
              </a:rPr>
              <a:t>CREATE SCHEMA Teaching_db AUTHORIZATION Hang；</a:t>
            </a:r>
          </a:p>
          <a:p>
            <a:pPr algn="l" eaLnBrk="1" hangingPunct="1">
              <a:buNone/>
            </a:pPr>
            <a:r>
              <a:rPr lang="en-US" altLang="zh-CN" sz="1800" dirty="0">
                <a:latin typeface="Microsoft YaHei" panose="020B0503020204020204" pitchFamily="34" charset="-122"/>
                <a:ea typeface="Microsoft YaHei" panose="020B0503020204020204" pitchFamily="34" charset="-122"/>
                <a:sym typeface="+mn-ea"/>
              </a:rPr>
              <a:t>        </a:t>
            </a:r>
            <a:r>
              <a:rPr lang="zh-CN" altLang="en-US" sz="1500" b="1" dirty="0">
                <a:latin typeface="Microsoft YaHei" panose="020B0503020204020204" pitchFamily="34" charset="-122"/>
                <a:ea typeface="Microsoft YaHei" panose="020B0503020204020204" pitchFamily="34" charset="-122"/>
                <a:sym typeface="+mn-ea"/>
              </a:rPr>
              <a:t>//创建一个教师数据库的模式Teaching_db ，属主为Hang</a:t>
            </a:r>
          </a:p>
        </p:txBody>
      </p:sp>
      <p:sp>
        <p:nvSpPr>
          <p:cNvPr id="5" name="标题 4">
            <a:extLst>
              <a:ext uri="{FF2B5EF4-FFF2-40B4-BE49-F238E27FC236}">
                <a16:creationId xmlns:a16="http://schemas.microsoft.com/office/drawing/2014/main" id="{42BA9FE1-F375-2580-004B-C2B7D909B7D5}"/>
              </a:ext>
            </a:extLst>
          </p:cNvPr>
          <p:cNvSpPr>
            <a:spLocks noGrp="1"/>
          </p:cNvSpPr>
          <p:nvPr>
            <p:ph type="title"/>
          </p:nvPr>
        </p:nvSpPr>
        <p:spPr/>
        <p:txBody>
          <a:bodyPr/>
          <a:lstStyle/>
          <a:p>
            <a:r>
              <a:rPr lang="en-US" altLang="zh-CN" dirty="0"/>
              <a:t>Schema</a:t>
            </a:r>
            <a:r>
              <a:rPr lang="zh-CN" altLang="en-US" dirty="0"/>
              <a:t>的定义</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636384" y="1490015"/>
            <a:ext cx="6858000" cy="2934992"/>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en-US" altLang="zh-CN" sz="2100" dirty="0">
                <a:latin typeface="Microsoft YaHei" panose="020B0503020204020204" pitchFamily="34" charset="-122"/>
                <a:ea typeface="Microsoft YaHei" panose="020B0503020204020204" pitchFamily="34" charset="-122"/>
              </a:rPr>
              <a:t>DROP SCHEMA </a:t>
            </a:r>
            <a:r>
              <a:rPr lang="zh-CN" altLang="en-US" sz="2100" dirty="0">
                <a:latin typeface="Microsoft YaHei" panose="020B0503020204020204" pitchFamily="34" charset="-122"/>
                <a:ea typeface="Microsoft YaHei" panose="020B0503020204020204" pitchFamily="34" charset="-122"/>
              </a:rPr>
              <a:t>＜模式名＞ </a:t>
            </a:r>
            <a:r>
              <a:rPr lang="en-US" altLang="zh-CN" sz="2100" dirty="0">
                <a:latin typeface="Microsoft YaHei" panose="020B0503020204020204" pitchFamily="34" charset="-122"/>
                <a:ea typeface="Microsoft YaHei" panose="020B0503020204020204" pitchFamily="34" charset="-122"/>
              </a:rPr>
              <a:t>{CASCADE | RESTRICT}</a:t>
            </a:r>
          </a:p>
          <a:p>
            <a:pPr eaLnBrk="1" hangingPunct="1"/>
            <a:r>
              <a:rPr lang="en-US" altLang="zh-CN" sz="2100" dirty="0">
                <a:solidFill>
                  <a:schemeClr val="hlink"/>
                </a:solidFill>
                <a:latin typeface="Microsoft YaHei" panose="020B0503020204020204" pitchFamily="34" charset="-122"/>
                <a:ea typeface="Microsoft YaHei" panose="020B0503020204020204" pitchFamily="34" charset="-122"/>
              </a:rPr>
              <a:t>CASCADE</a:t>
            </a:r>
            <a:r>
              <a:rPr lang="zh-CN" altLang="en-US" sz="2100" dirty="0">
                <a:solidFill>
                  <a:schemeClr val="hlink"/>
                </a:solidFill>
                <a:latin typeface="Microsoft YaHei" panose="020B0503020204020204" pitchFamily="34" charset="-122"/>
                <a:ea typeface="Microsoft YaHei" panose="020B0503020204020204" pitchFamily="34" charset="-122"/>
              </a:rPr>
              <a:t>：</a:t>
            </a:r>
            <a:r>
              <a:rPr lang="zh-CN" altLang="en-US" sz="2100" dirty="0">
                <a:latin typeface="Microsoft YaHei" panose="020B0503020204020204" pitchFamily="34" charset="-122"/>
                <a:ea typeface="Microsoft YaHei" panose="020B0503020204020204" pitchFamily="34" charset="-122"/>
              </a:rPr>
              <a:t>级联式 </a:t>
            </a:r>
          </a:p>
          <a:p>
            <a:pPr eaLnBrk="1" hangingPunct="1"/>
            <a:r>
              <a:rPr lang="en-US" altLang="zh-CN" sz="2100" dirty="0">
                <a:solidFill>
                  <a:schemeClr val="hlink"/>
                </a:solidFill>
                <a:latin typeface="Microsoft YaHei" panose="020B0503020204020204" pitchFamily="34" charset="-122"/>
                <a:ea typeface="Microsoft YaHei" panose="020B0503020204020204" pitchFamily="34" charset="-122"/>
              </a:rPr>
              <a:t>RESTRICT</a:t>
            </a:r>
            <a:r>
              <a:rPr lang="zh-CN" altLang="en-US" sz="2100" dirty="0">
                <a:solidFill>
                  <a:schemeClr val="hlink"/>
                </a:solidFill>
                <a:latin typeface="Microsoft YaHei" panose="020B0503020204020204" pitchFamily="34" charset="-122"/>
                <a:ea typeface="Microsoft YaHei" panose="020B0503020204020204" pitchFamily="34" charset="-122"/>
              </a:rPr>
              <a:t>：</a:t>
            </a:r>
            <a:r>
              <a:rPr lang="zh-CN" altLang="en-US" sz="2100" dirty="0">
                <a:latin typeface="Microsoft YaHei" panose="020B0503020204020204" pitchFamily="34" charset="-122"/>
                <a:ea typeface="Microsoft YaHei" panose="020B0503020204020204" pitchFamily="34" charset="-122"/>
              </a:rPr>
              <a:t>约束式（受限式）</a:t>
            </a:r>
          </a:p>
        </p:txBody>
      </p:sp>
      <p:sp>
        <p:nvSpPr>
          <p:cNvPr id="5" name="标题 4">
            <a:extLst>
              <a:ext uri="{FF2B5EF4-FFF2-40B4-BE49-F238E27FC236}">
                <a16:creationId xmlns:a16="http://schemas.microsoft.com/office/drawing/2014/main" id="{BD8CDAFC-5CB0-5404-A7D4-C393E79ECDB9}"/>
              </a:ext>
            </a:extLst>
          </p:cNvPr>
          <p:cNvSpPr>
            <a:spLocks noGrp="1"/>
          </p:cNvSpPr>
          <p:nvPr>
            <p:ph type="title"/>
          </p:nvPr>
        </p:nvSpPr>
        <p:spPr/>
        <p:txBody>
          <a:bodyPr/>
          <a:lstStyle/>
          <a:p>
            <a:r>
              <a:rPr lang="zh-CN" altLang="en-US" dirty="0"/>
              <a:t>删除</a:t>
            </a:r>
            <a:r>
              <a:rPr lang="en-US" altLang="zh-CN" dirty="0"/>
              <a:t>Schema</a:t>
            </a:r>
            <a:endParaRPr lang="zh-CN" altLang="en-US" dirty="0"/>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p:cNvSpPr>
          <p:nvPr>
            <p:ph idx="1"/>
          </p:nvPr>
        </p:nvSpPr>
        <p:spPr/>
        <p:txBody>
          <a:bodyPr vert="horz" wrap="square" lIns="68580" tIns="34290" rIns="68580" bIns="34290" anchor="t" anchorCtr="0">
            <a:normAutofit/>
          </a:bodyPr>
          <a:lstStyle/>
          <a:p>
            <a:pPr marL="0" indent="0" eaLnBrk="1" hangingPunct="1">
              <a:buNone/>
            </a:pPr>
            <a:r>
              <a:rPr lang="zh-CN" altLang="en-US" sz="2000" b="1" dirty="0">
                <a:solidFill>
                  <a:schemeClr val="hlink"/>
                </a:solidFill>
              </a:rPr>
              <a:t>命令格式：</a:t>
            </a:r>
            <a:endParaRPr lang="zh-CN" altLang="en-US" sz="2000" b="1" dirty="0"/>
          </a:p>
          <a:p>
            <a:pPr eaLnBrk="1" hangingPunct="1">
              <a:buNone/>
            </a:pPr>
            <a:r>
              <a:rPr lang="zh-CN" altLang="en-US" sz="1600" dirty="0"/>
              <a:t>  CREATE  TABLE [模式名.] &lt;</a:t>
            </a:r>
            <a:r>
              <a:rPr lang="zh-CN" altLang="en-US" sz="1600" dirty="0">
                <a:solidFill>
                  <a:schemeClr val="tx2"/>
                </a:solidFill>
              </a:rPr>
              <a:t>表名</a:t>
            </a:r>
            <a:r>
              <a:rPr lang="zh-CN" altLang="en-US" sz="1600" dirty="0"/>
              <a:t>&gt;</a:t>
            </a:r>
          </a:p>
          <a:p>
            <a:pPr eaLnBrk="1" hangingPunct="1">
              <a:buNone/>
            </a:pPr>
            <a:r>
              <a:rPr lang="en-US" altLang="zh-CN" sz="1600" dirty="0">
                <a:solidFill>
                  <a:schemeClr val="hlink"/>
                </a:solidFill>
              </a:rPr>
              <a:t> </a:t>
            </a:r>
            <a:r>
              <a:rPr lang="zh-CN" altLang="en-US" sz="1600" dirty="0">
                <a:solidFill>
                  <a:schemeClr val="hlink"/>
                </a:solidFill>
              </a:rPr>
              <a:t>(</a:t>
            </a:r>
            <a:r>
              <a:rPr lang="en-US" altLang="zh-CN" sz="1600" dirty="0">
                <a:solidFill>
                  <a:schemeClr val="hlink"/>
                </a:solidFill>
              </a:rPr>
              <a:t> </a:t>
            </a:r>
            <a:r>
              <a:rPr lang="zh-CN" altLang="en-US" sz="1600" dirty="0"/>
              <a:t>&lt;列名&gt;&lt;数据类型&gt;[&lt;列约束条件&gt;] </a:t>
            </a:r>
          </a:p>
          <a:p>
            <a:pPr eaLnBrk="1" hangingPunct="1">
              <a:buNone/>
            </a:pPr>
            <a:r>
              <a:rPr lang="zh-CN" altLang="en-US" sz="1600" dirty="0"/>
              <a:t> </a:t>
            </a:r>
            <a:r>
              <a:rPr lang="en-US" altLang="zh-CN" sz="1600" dirty="0"/>
              <a:t> </a:t>
            </a:r>
            <a:r>
              <a:rPr lang="zh-CN" altLang="en-US" sz="1600" dirty="0"/>
              <a:t>[，&lt;列名&gt;&lt;数据类型&gt;[&lt;列约束条件&gt;]]…</a:t>
            </a:r>
          </a:p>
          <a:p>
            <a:pPr eaLnBrk="1" hangingPunct="1">
              <a:buNone/>
            </a:pPr>
            <a:r>
              <a:rPr lang="zh-CN" altLang="en-US" sz="1600" dirty="0"/>
              <a:t> </a:t>
            </a:r>
            <a:r>
              <a:rPr lang="en-US" altLang="zh-CN" sz="1600" dirty="0"/>
              <a:t> </a:t>
            </a:r>
            <a:r>
              <a:rPr lang="zh-CN" altLang="en-US" sz="1600" dirty="0"/>
              <a:t>[&lt;</a:t>
            </a:r>
            <a:r>
              <a:rPr lang="zh-CN" altLang="en-US" sz="1600" dirty="0">
                <a:solidFill>
                  <a:schemeClr val="folHlink"/>
                </a:solidFill>
              </a:rPr>
              <a:t>表约束条件</a:t>
            </a:r>
            <a:r>
              <a:rPr lang="zh-CN" altLang="en-US" sz="1600" dirty="0"/>
              <a:t>&gt;]</a:t>
            </a:r>
            <a:r>
              <a:rPr lang="zh-CN" altLang="en-US" sz="1600" dirty="0">
                <a:solidFill>
                  <a:schemeClr val="hlink"/>
                </a:solidFill>
              </a:rPr>
              <a:t>)</a:t>
            </a:r>
            <a:r>
              <a:rPr lang="zh-CN" altLang="en-US" sz="1600" dirty="0"/>
              <a:t>；</a:t>
            </a:r>
          </a:p>
          <a:p>
            <a:pPr eaLnBrk="1" hangingPunct="1">
              <a:buNone/>
            </a:pPr>
            <a:endParaRPr lang="zh-CN" altLang="en-US" sz="1600" dirty="0"/>
          </a:p>
          <a:p>
            <a:pPr marL="257175" lvl="1" indent="-257175">
              <a:lnSpc>
                <a:spcPct val="100000"/>
              </a:lnSpc>
              <a:buNone/>
            </a:pPr>
            <a:r>
              <a:rPr lang="en-US" altLang="zh-CN" sz="1600" dirty="0">
                <a:sym typeface="+mn-ea"/>
              </a:rPr>
              <a:t>  </a:t>
            </a:r>
            <a:r>
              <a:rPr lang="zh-CN" altLang="en-US" sz="1600" b="1" dirty="0">
                <a:sym typeface="+mn-ea"/>
              </a:rPr>
              <a:t>&lt;表名&gt;</a:t>
            </a:r>
            <a:r>
              <a:rPr lang="zh-CN" altLang="en-US" sz="1600" dirty="0">
                <a:sym typeface="+mn-ea"/>
              </a:rPr>
              <a:t>：所要定义的基本表的名字</a:t>
            </a:r>
            <a:endParaRPr lang="zh-CN" altLang="en-US" sz="1600" dirty="0"/>
          </a:p>
          <a:p>
            <a:pPr marL="257175" lvl="1" indent="-257175">
              <a:lnSpc>
                <a:spcPct val="100000"/>
              </a:lnSpc>
              <a:buNone/>
            </a:pPr>
            <a:r>
              <a:rPr lang="en-US" altLang="zh-CN" sz="1600" dirty="0">
                <a:sym typeface="+mn-ea"/>
              </a:rPr>
              <a:t>  </a:t>
            </a:r>
            <a:r>
              <a:rPr lang="zh-CN" altLang="en-US" sz="1600" b="1" dirty="0">
                <a:sym typeface="+mn-ea"/>
              </a:rPr>
              <a:t>&lt;列名&gt;</a:t>
            </a:r>
            <a:r>
              <a:rPr lang="zh-CN" altLang="en-US" sz="1600" dirty="0">
                <a:sym typeface="+mn-ea"/>
              </a:rPr>
              <a:t>：组成该表的各个属性（列）</a:t>
            </a:r>
            <a:endParaRPr lang="zh-CN" altLang="en-US" sz="1600" dirty="0"/>
          </a:p>
          <a:p>
            <a:pPr marL="257175" lvl="1" indent="-257175">
              <a:lnSpc>
                <a:spcPct val="100000"/>
              </a:lnSpc>
              <a:buNone/>
            </a:pPr>
            <a:r>
              <a:rPr lang="en-US" altLang="zh-CN" sz="1600" dirty="0">
                <a:sym typeface="+mn-ea"/>
              </a:rPr>
              <a:t>  </a:t>
            </a:r>
            <a:r>
              <a:rPr lang="zh-CN" altLang="en-US" sz="1600" b="1" dirty="0">
                <a:sym typeface="+mn-ea"/>
              </a:rPr>
              <a:t>&lt;列约束条件&gt;</a:t>
            </a:r>
            <a:r>
              <a:rPr lang="zh-CN" altLang="en-US" sz="1600" dirty="0">
                <a:sym typeface="+mn-ea"/>
              </a:rPr>
              <a:t>：涉及相应属性列的完整性约束条件</a:t>
            </a:r>
            <a:endParaRPr lang="zh-CN" altLang="en-US" sz="1600" dirty="0"/>
          </a:p>
          <a:p>
            <a:pPr marL="257175" lvl="1" indent="-257175">
              <a:lnSpc>
                <a:spcPct val="100000"/>
              </a:lnSpc>
              <a:buNone/>
            </a:pPr>
            <a:r>
              <a:rPr lang="en-US" altLang="zh-CN" sz="1600" dirty="0">
                <a:sym typeface="+mn-ea"/>
              </a:rPr>
              <a:t>  </a:t>
            </a:r>
            <a:r>
              <a:rPr lang="zh-CN" altLang="en-US" sz="1600" b="1" dirty="0">
                <a:sym typeface="+mn-ea"/>
              </a:rPr>
              <a:t>&lt;表约束条件&gt;</a:t>
            </a:r>
            <a:r>
              <a:rPr lang="zh-CN" altLang="en-US" sz="1600" dirty="0">
                <a:sym typeface="+mn-ea"/>
              </a:rPr>
              <a:t>：涉及一个或多个属性列的完整性约束条件 </a:t>
            </a:r>
            <a:endParaRPr lang="zh-CN" altLang="en-US" sz="1600" dirty="0"/>
          </a:p>
        </p:txBody>
      </p:sp>
      <p:pic>
        <p:nvPicPr>
          <p:cNvPr id="19460" name="Picture 4" descr="BD07175_"/>
          <p:cNvPicPr>
            <a:picLocks noChangeAspect="1"/>
          </p:cNvPicPr>
          <p:nvPr/>
        </p:nvPicPr>
        <p:blipFill>
          <a:blip r:embed="rId2"/>
          <a:stretch>
            <a:fillRect/>
          </a:stretch>
        </p:blipFill>
        <p:spPr>
          <a:xfrm>
            <a:off x="6629400" y="1208723"/>
            <a:ext cx="1600200" cy="1208485"/>
          </a:xfrm>
          <a:prstGeom prst="rect">
            <a:avLst/>
          </a:prstGeom>
          <a:noFill/>
          <a:ln w="9525">
            <a:noFill/>
          </a:ln>
        </p:spPr>
      </p:pic>
      <p:sp>
        <p:nvSpPr>
          <p:cNvPr id="3" name="标题 2">
            <a:extLst>
              <a:ext uri="{FF2B5EF4-FFF2-40B4-BE49-F238E27FC236}">
                <a16:creationId xmlns:a16="http://schemas.microsoft.com/office/drawing/2014/main" id="{C8E58A6C-5683-4FD5-F32E-8F5B3FBBB81C}"/>
              </a:ext>
            </a:extLst>
          </p:cNvPr>
          <p:cNvSpPr>
            <a:spLocks noGrp="1"/>
          </p:cNvSpPr>
          <p:nvPr>
            <p:ph type="title"/>
          </p:nvPr>
        </p:nvSpPr>
        <p:spPr/>
        <p:txBody>
          <a:bodyPr/>
          <a:lstStyle/>
          <a:p>
            <a:r>
              <a:rPr lang="zh-CN" altLang="en-US" dirty="0"/>
              <a:t>创建表</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p:cNvSpPr>
          <p:nvPr>
            <p:ph idx="1"/>
          </p:nvPr>
        </p:nvSpPr>
        <p:spPr/>
        <p:txBody>
          <a:bodyPr vert="horz" wrap="square" lIns="68580" tIns="34290" rIns="68580" bIns="34290" anchor="t" anchorCtr="0">
            <a:normAutofit/>
          </a:bodyPr>
          <a:lstStyle/>
          <a:p>
            <a:pPr eaLnBrk="1" hangingPunct="1"/>
            <a:r>
              <a:rPr lang="zh-CN" altLang="en-US" sz="1800" b="1" dirty="0">
                <a:solidFill>
                  <a:schemeClr val="folHlink"/>
                </a:solidFill>
              </a:rPr>
              <a:t>例</a:t>
            </a:r>
            <a:r>
              <a:rPr lang="zh-CN" altLang="en-US" sz="1800" b="1" dirty="0"/>
              <a:t>：</a:t>
            </a:r>
            <a:endParaRPr lang="en-US" altLang="zh-CN" sz="1800" b="1" dirty="0"/>
          </a:p>
          <a:p>
            <a:pPr marL="0" indent="0" eaLnBrk="1" hangingPunct="1">
              <a:buNone/>
            </a:pPr>
            <a:r>
              <a:rPr lang="zh-CN" altLang="en-US" sz="1800" dirty="0"/>
              <a:t>CREATE TABLE </a:t>
            </a:r>
            <a:r>
              <a:rPr lang="zh-CN" altLang="en-US" sz="1800" dirty="0">
                <a:solidFill>
                  <a:schemeClr val="tx2"/>
                </a:solidFill>
              </a:rPr>
              <a:t>Student</a:t>
            </a:r>
          </a:p>
          <a:p>
            <a:pPr eaLnBrk="1" hangingPunct="1">
              <a:buNone/>
            </a:pPr>
            <a:r>
              <a:rPr lang="zh-CN" altLang="en-US" sz="1800" dirty="0"/>
              <a:t>         </a:t>
            </a:r>
            <a:r>
              <a:rPr lang="zh-CN" altLang="en-US" sz="1800" dirty="0">
                <a:solidFill>
                  <a:schemeClr val="hlink"/>
                </a:solidFill>
              </a:rPr>
              <a:t>(  </a:t>
            </a:r>
            <a:r>
              <a:rPr lang="zh-CN" altLang="en-US" sz="1800" dirty="0"/>
              <a:t> sno CHAR(5) </a:t>
            </a:r>
            <a:r>
              <a:rPr lang="zh-CN" altLang="en-US" sz="1800" dirty="0">
                <a:solidFill>
                  <a:schemeClr val="hlink"/>
                </a:solidFill>
              </a:rPr>
              <a:t>NOT NULL</a:t>
            </a:r>
            <a:r>
              <a:rPr lang="zh-CN" altLang="en-US" sz="1800" dirty="0"/>
              <a:t> </a:t>
            </a:r>
            <a:r>
              <a:rPr lang="zh-CN" altLang="en-US" sz="1800" dirty="0">
                <a:solidFill>
                  <a:schemeClr val="folHlink"/>
                </a:solidFill>
              </a:rPr>
              <a:t>UNIQUE</a:t>
            </a:r>
            <a:r>
              <a:rPr lang="zh-CN" altLang="en-US" sz="1800" dirty="0"/>
              <a:t>，</a:t>
            </a:r>
          </a:p>
          <a:p>
            <a:pPr eaLnBrk="1" hangingPunct="1">
              <a:buNone/>
            </a:pPr>
            <a:r>
              <a:rPr lang="zh-CN" altLang="en-US" sz="1800" dirty="0"/>
              <a:t>              sname CHAR(8) </a:t>
            </a:r>
            <a:r>
              <a:rPr lang="zh-CN" altLang="en-US" sz="1800" dirty="0">
                <a:solidFill>
                  <a:schemeClr val="hlink"/>
                </a:solidFill>
              </a:rPr>
              <a:t>NOT NULL</a:t>
            </a:r>
            <a:r>
              <a:rPr lang="zh-CN" altLang="en-US" sz="1800" dirty="0"/>
              <a:t> ，</a:t>
            </a:r>
          </a:p>
          <a:p>
            <a:pPr eaLnBrk="1" hangingPunct="1">
              <a:buNone/>
            </a:pPr>
            <a:r>
              <a:rPr lang="zh-CN" altLang="en-US" sz="1800" dirty="0"/>
              <a:t>              sex  CHAR(2)，</a:t>
            </a:r>
          </a:p>
          <a:p>
            <a:pPr eaLnBrk="1" hangingPunct="1">
              <a:buNone/>
            </a:pPr>
            <a:r>
              <a:rPr lang="zh-CN" altLang="en-US" sz="1800" dirty="0"/>
              <a:t>              age  INT ，</a:t>
            </a:r>
          </a:p>
          <a:p>
            <a:pPr eaLnBrk="1" hangingPunct="1">
              <a:buNone/>
            </a:pPr>
            <a:r>
              <a:rPr lang="zh-CN" altLang="en-US" sz="1800" dirty="0"/>
              <a:t>              dept  CHAR(20) </a:t>
            </a:r>
          </a:p>
          <a:p>
            <a:pPr eaLnBrk="1" hangingPunct="1">
              <a:buNone/>
            </a:pPr>
            <a:r>
              <a:rPr lang="zh-CN" altLang="en-US" sz="1800" dirty="0"/>
              <a:t>         </a:t>
            </a:r>
            <a:r>
              <a:rPr lang="zh-CN" altLang="en-US" sz="1800" dirty="0">
                <a:solidFill>
                  <a:schemeClr val="hlink"/>
                </a:solidFill>
              </a:rPr>
              <a:t> )</a:t>
            </a:r>
            <a:r>
              <a:rPr lang="zh-CN" altLang="en-US" sz="1800" dirty="0"/>
              <a:t>；</a:t>
            </a:r>
            <a:endParaRPr lang="en-US" altLang="zh-CN" sz="1800" dirty="0"/>
          </a:p>
        </p:txBody>
      </p:sp>
      <p:pic>
        <p:nvPicPr>
          <p:cNvPr id="19460" name="Picture 4" descr="BD07175_"/>
          <p:cNvPicPr>
            <a:picLocks noChangeAspect="1"/>
          </p:cNvPicPr>
          <p:nvPr/>
        </p:nvPicPr>
        <p:blipFill>
          <a:blip r:embed="rId2"/>
          <a:stretch>
            <a:fillRect/>
          </a:stretch>
        </p:blipFill>
        <p:spPr>
          <a:xfrm>
            <a:off x="7322949" y="813661"/>
            <a:ext cx="1600200" cy="1208485"/>
          </a:xfrm>
          <a:prstGeom prst="rect">
            <a:avLst/>
          </a:prstGeom>
          <a:noFill/>
          <a:ln w="9525">
            <a:noFill/>
          </a:ln>
        </p:spPr>
      </p:pic>
      <p:sp>
        <p:nvSpPr>
          <p:cNvPr id="16389" name="AutoShape 5"/>
          <p:cNvSpPr/>
          <p:nvPr/>
        </p:nvSpPr>
        <p:spPr>
          <a:xfrm>
            <a:off x="5528972" y="1629744"/>
            <a:ext cx="1026319" cy="628650"/>
          </a:xfrm>
          <a:prstGeom prst="leftArrow">
            <a:avLst>
              <a:gd name="adj1" fmla="val 50000"/>
              <a:gd name="adj2" fmla="val 40784"/>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主键</a:t>
            </a:r>
          </a:p>
        </p:txBody>
      </p:sp>
      <p:sp>
        <p:nvSpPr>
          <p:cNvPr id="3" name="标题 2">
            <a:extLst>
              <a:ext uri="{FF2B5EF4-FFF2-40B4-BE49-F238E27FC236}">
                <a16:creationId xmlns:a16="http://schemas.microsoft.com/office/drawing/2014/main" id="{8A8F99E2-3843-B38F-C3FA-516AB3D52AB1}"/>
              </a:ext>
            </a:extLst>
          </p:cNvPr>
          <p:cNvSpPr>
            <a:spLocks noGrp="1"/>
          </p:cNvSpPr>
          <p:nvPr>
            <p:ph type="title"/>
          </p:nvPr>
        </p:nvSpPr>
        <p:spPr/>
        <p:txBody>
          <a:bodyPr/>
          <a:lstStyle/>
          <a:p>
            <a:r>
              <a:rPr lang="zh-CN" altLang="en-US" dirty="0"/>
              <a:t>表创建实例</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9"/>
                                        </p:tgtEl>
                                        <p:attrNameLst>
                                          <p:attrName>style.visibility</p:attrName>
                                        </p:attrNameLst>
                                      </p:cBhvr>
                                      <p:to>
                                        <p:strVal val="visible"/>
                                      </p:to>
                                    </p:set>
                                    <p:anim calcmode="lin" valueType="num">
                                      <p:cBhvr additive="base">
                                        <p:cTn id="7" dur="500" fill="hold"/>
                                        <p:tgtEl>
                                          <p:spTgt spid="16389"/>
                                        </p:tgtEl>
                                        <p:attrNameLst>
                                          <p:attrName>ppt_x</p:attrName>
                                        </p:attrNameLst>
                                      </p:cBhvr>
                                      <p:tavLst>
                                        <p:tav tm="0">
                                          <p:val>
                                            <p:strVal val="#ppt_x"/>
                                          </p:val>
                                        </p:tav>
                                        <p:tav tm="100000">
                                          <p:val>
                                            <p:strVal val="#ppt_x"/>
                                          </p:val>
                                        </p:tav>
                                      </p:tavLst>
                                    </p:anim>
                                    <p:anim calcmode="lin" valueType="num">
                                      <p:cBhvr additive="base">
                                        <p:cTn id="8" dur="500" fill="hold"/>
                                        <p:tgtEl>
                                          <p:spTgt spid="163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a:extLst>
              <a:ext uri="{FF2B5EF4-FFF2-40B4-BE49-F238E27FC236}">
                <a16:creationId xmlns:a16="http://schemas.microsoft.com/office/drawing/2014/main" id="{5D2F050E-E2A9-5576-5364-27EE2DAA12A3}"/>
              </a:ext>
            </a:extLst>
          </p:cNvPr>
          <p:cNvSpPr>
            <a:spLocks noGrp="1"/>
          </p:cNvSpPr>
          <p:nvPr>
            <p:custDataLst>
              <p:tags r:id="rId1"/>
            </p:custDataLst>
          </p:nvPr>
        </p:nvSpPr>
        <p:spPr>
          <a:xfrm>
            <a:off x="1553794" y="1913314"/>
            <a:ext cx="3977164" cy="3028946"/>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en-US" altLang="zh-CN" sz="1600" dirty="0">
                <a:latin typeface="Microsoft YaHei" panose="020B0503020204020204" pitchFamily="34" charset="-122"/>
                <a:ea typeface="Microsoft YaHei" panose="020B0503020204020204" pitchFamily="34" charset="-122"/>
              </a:rPr>
              <a:t>CREATE TABLE Student</a:t>
            </a:r>
          </a:p>
          <a:p>
            <a:pPr eaLnBrk="1" hangingPunct="1">
              <a:buNone/>
            </a:pPr>
            <a:r>
              <a:rPr lang="en-US" altLang="zh-CN" sz="1600" dirty="0">
                <a:latin typeface="Microsoft YaHei" panose="020B0503020204020204" pitchFamily="34" charset="-122"/>
                <a:ea typeface="Microsoft YaHei" panose="020B0503020204020204" pitchFamily="34" charset="-122"/>
              </a:rPr>
              <a:t>  </a:t>
            </a:r>
            <a:r>
              <a:rPr lang="en-US" altLang="zh-CN" sz="1600" dirty="0">
                <a:solidFill>
                  <a:schemeClr val="hlink"/>
                </a:solidFill>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sno CHAR (5),</a:t>
            </a:r>
          </a:p>
          <a:p>
            <a:pPr eaLnBrk="1" hangingPunct="1">
              <a:buNone/>
            </a:pPr>
            <a:r>
              <a:rPr lang="en-US" altLang="zh-CN" sz="1800" dirty="0">
                <a:latin typeface="Microsoft YaHei" panose="020B0503020204020204" pitchFamily="34" charset="-122"/>
                <a:ea typeface="Microsoft YaHei" panose="020B0503020204020204" pitchFamily="34" charset="-122"/>
              </a:rPr>
              <a:t>     sname CHAR (8) NOT NULL,</a:t>
            </a:r>
          </a:p>
          <a:p>
            <a:pPr eaLnBrk="1" hangingPunct="1">
              <a:buNone/>
            </a:pPr>
            <a:r>
              <a:rPr lang="en-US" altLang="zh-CN" sz="1800" dirty="0">
                <a:latin typeface="Microsoft YaHei" panose="020B0503020204020204" pitchFamily="34" charset="-122"/>
                <a:ea typeface="Microsoft YaHei" panose="020B0503020204020204" pitchFamily="34" charset="-122"/>
              </a:rPr>
              <a:t>     sex CHAR (2),</a:t>
            </a:r>
          </a:p>
          <a:p>
            <a:pPr eaLnBrk="1" hangingPunct="1">
              <a:buNone/>
            </a:pPr>
            <a:r>
              <a:rPr lang="en-US" altLang="zh-CN" sz="1800" dirty="0">
                <a:latin typeface="Microsoft YaHei" panose="020B0503020204020204" pitchFamily="34" charset="-122"/>
                <a:ea typeface="Microsoft YaHei" panose="020B0503020204020204" pitchFamily="34" charset="-122"/>
              </a:rPr>
              <a:t>     age SMALLINT,</a:t>
            </a:r>
          </a:p>
          <a:p>
            <a:pPr eaLnBrk="1" hangingPunct="1">
              <a:buNone/>
            </a:pPr>
            <a:r>
              <a:rPr lang="en-US" altLang="zh-CN" sz="1800" dirty="0">
                <a:latin typeface="Microsoft YaHei" panose="020B0503020204020204" pitchFamily="34" charset="-122"/>
                <a:ea typeface="Microsoft YaHei" panose="020B0503020204020204" pitchFamily="34" charset="-122"/>
              </a:rPr>
              <a:t>     dept CHAR (20),</a:t>
            </a:r>
          </a:p>
          <a:p>
            <a:pPr eaLnBrk="1" hangingPunct="1">
              <a:buNone/>
            </a:pPr>
            <a:r>
              <a:rPr lang="en-US" altLang="zh-CN" sz="1800" dirty="0">
                <a:latin typeface="Microsoft YaHei" panose="020B0503020204020204" pitchFamily="34" charset="-122"/>
                <a:ea typeface="Microsoft YaHei" panose="020B0503020204020204" pitchFamily="34" charset="-122"/>
              </a:rPr>
              <a:t>     PRIMARY KEY(sno),</a:t>
            </a:r>
          </a:p>
          <a:p>
            <a:pPr eaLnBrk="1" hangingPunct="1">
              <a:buNone/>
            </a:pPr>
            <a:r>
              <a:rPr lang="en-US" altLang="zh-CN" sz="1800" dirty="0">
                <a:latin typeface="Microsoft YaHei" panose="020B0503020204020204" pitchFamily="34" charset="-122"/>
                <a:ea typeface="Microsoft YaHei" panose="020B0503020204020204" pitchFamily="34" charset="-122"/>
              </a:rPr>
              <a:t>     CHECK sex IN (‘</a:t>
            </a:r>
            <a:r>
              <a:rPr lang="zh-CN" altLang="en-US" sz="1800" dirty="0">
                <a:latin typeface="Microsoft YaHei" panose="020B0503020204020204" pitchFamily="34" charset="-122"/>
                <a:ea typeface="Microsoft YaHei" panose="020B0503020204020204" pitchFamily="34" charset="-122"/>
              </a:rPr>
              <a:t>男’</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女’</a:t>
            </a:r>
            <a:r>
              <a:rPr lang="en-US" altLang="zh-CN" sz="1800" dirty="0">
                <a:latin typeface="Microsoft YaHei" panose="020B0503020204020204" pitchFamily="34" charset="-122"/>
                <a:ea typeface="Microsoft YaHei" panose="020B0503020204020204" pitchFamily="34" charset="-122"/>
              </a:rPr>
              <a:t>)</a:t>
            </a:r>
          </a:p>
          <a:p>
            <a:pPr eaLnBrk="1" hangingPunct="1">
              <a:buNone/>
            </a:pPr>
            <a:r>
              <a:rPr lang="en-US" altLang="zh-CN" sz="1800" dirty="0">
                <a:latin typeface="Microsoft YaHei" panose="020B0503020204020204" pitchFamily="34" charset="-122"/>
                <a:ea typeface="Microsoft YaHei" panose="020B0503020204020204" pitchFamily="34" charset="-122"/>
              </a:rPr>
              <a:t>  </a:t>
            </a:r>
            <a:r>
              <a:rPr lang="en-US" altLang="zh-CN" sz="1800" dirty="0">
                <a:solidFill>
                  <a:schemeClr val="hlink"/>
                </a:solidFill>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a:t>
            </a:r>
          </a:p>
        </p:txBody>
      </p:sp>
      <p:sp>
        <p:nvSpPr>
          <p:cNvPr id="20483" name="Rectangle 3"/>
          <p:cNvSpPr>
            <a:spLocks noGrp="1"/>
          </p:cNvSpPr>
          <p:nvPr>
            <p:ph idx="1"/>
          </p:nvPr>
        </p:nvSpPr>
        <p:spPr>
          <a:xfrm>
            <a:off x="400050" y="1324582"/>
            <a:ext cx="7886700" cy="3408735"/>
          </a:xfrm>
        </p:spPr>
        <p:txBody>
          <a:bodyPr vert="horz" wrap="square" lIns="68580" tIns="34290" rIns="68580" bIns="34290" anchor="t" anchorCtr="0"/>
          <a:lstStyle/>
          <a:p>
            <a:pPr eaLnBrk="1" hangingPunct="1">
              <a:lnSpc>
                <a:spcPct val="90000"/>
              </a:lnSpc>
            </a:pPr>
            <a:r>
              <a:rPr lang="zh-CN" altLang="en-US" sz="1800" dirty="0"/>
              <a:t>完整性约束条件涉及到该表的多个属性列，则必须定义在表级上，否则既可定义在列级，也可以定义在表级。</a:t>
            </a:r>
          </a:p>
        </p:txBody>
      </p:sp>
      <p:sp>
        <p:nvSpPr>
          <p:cNvPr id="3" name="标题 2">
            <a:extLst>
              <a:ext uri="{FF2B5EF4-FFF2-40B4-BE49-F238E27FC236}">
                <a16:creationId xmlns:a16="http://schemas.microsoft.com/office/drawing/2014/main" id="{8B0D453A-DB06-461F-7FDC-5AC4F1369AEE}"/>
              </a:ext>
            </a:extLst>
          </p:cNvPr>
          <p:cNvSpPr>
            <a:spLocks noGrp="1"/>
          </p:cNvSpPr>
          <p:nvPr>
            <p:ph type="title"/>
          </p:nvPr>
        </p:nvSpPr>
        <p:spPr/>
        <p:txBody>
          <a:bodyPr/>
          <a:lstStyle/>
          <a:p>
            <a:r>
              <a:rPr lang="zh-CN" altLang="en-US" dirty="0"/>
              <a:t>完整性定义</a:t>
            </a:r>
          </a:p>
        </p:txBody>
      </p:sp>
      <p:sp>
        <p:nvSpPr>
          <p:cNvPr id="4" name="AutoShape 4">
            <a:extLst>
              <a:ext uri="{FF2B5EF4-FFF2-40B4-BE49-F238E27FC236}">
                <a16:creationId xmlns:a16="http://schemas.microsoft.com/office/drawing/2014/main" id="{E157424D-8640-878B-7A21-8E74C5EE1BEE}"/>
              </a:ext>
            </a:extLst>
          </p:cNvPr>
          <p:cNvSpPr/>
          <p:nvPr/>
        </p:nvSpPr>
        <p:spPr>
          <a:xfrm>
            <a:off x="5055689" y="2512140"/>
            <a:ext cx="2400300" cy="628650"/>
          </a:xfrm>
          <a:prstGeom prst="leftArrow">
            <a:avLst>
              <a:gd name="adj1" fmla="val 50000"/>
              <a:gd name="adj2" fmla="val 9538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solidFill>
                  <a:schemeClr val="bg1"/>
                </a:solidFill>
                <a:latin typeface="Microsoft YaHei" panose="020B0503020204020204" pitchFamily="34" charset="-122"/>
                <a:ea typeface="Microsoft YaHei" panose="020B0503020204020204" pitchFamily="34" charset="-122"/>
              </a:rPr>
              <a:t>列级完整性约束条件</a:t>
            </a:r>
          </a:p>
        </p:txBody>
      </p:sp>
      <p:sp>
        <p:nvSpPr>
          <p:cNvPr id="5" name="Line 5">
            <a:extLst>
              <a:ext uri="{FF2B5EF4-FFF2-40B4-BE49-F238E27FC236}">
                <a16:creationId xmlns:a16="http://schemas.microsoft.com/office/drawing/2014/main" id="{2BBC08BA-2A31-5093-C591-9551D9F7E935}"/>
              </a:ext>
            </a:extLst>
          </p:cNvPr>
          <p:cNvSpPr/>
          <p:nvPr/>
        </p:nvSpPr>
        <p:spPr>
          <a:xfrm>
            <a:off x="3657600" y="2855562"/>
            <a:ext cx="1371600" cy="0"/>
          </a:xfrm>
          <a:prstGeom prst="line">
            <a:avLst/>
          </a:prstGeom>
          <a:ln w="76200" cap="flat" cmpd="sng">
            <a:solidFill>
              <a:srgbClr val="FF0000"/>
            </a:solidFill>
            <a:prstDash val="soli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6" name="Line 6">
            <a:extLst>
              <a:ext uri="{FF2B5EF4-FFF2-40B4-BE49-F238E27FC236}">
                <a16:creationId xmlns:a16="http://schemas.microsoft.com/office/drawing/2014/main" id="{475952B6-8521-548A-D879-562DE0B26C2E}"/>
              </a:ext>
            </a:extLst>
          </p:cNvPr>
          <p:cNvSpPr/>
          <p:nvPr/>
        </p:nvSpPr>
        <p:spPr>
          <a:xfrm>
            <a:off x="1943099" y="4170012"/>
            <a:ext cx="2156203" cy="0"/>
          </a:xfrm>
          <a:prstGeom prst="line">
            <a:avLst/>
          </a:prstGeom>
          <a:ln w="76200" cap="flat" cmpd="sng">
            <a:solidFill>
              <a:srgbClr val="0000FF"/>
            </a:solidFill>
            <a:prstDash val="soli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7" name="AutoShape 7">
            <a:extLst>
              <a:ext uri="{FF2B5EF4-FFF2-40B4-BE49-F238E27FC236}">
                <a16:creationId xmlns:a16="http://schemas.microsoft.com/office/drawing/2014/main" id="{2750817F-5655-280F-7BCB-CE745A9DF00A}"/>
              </a:ext>
            </a:extLst>
          </p:cNvPr>
          <p:cNvSpPr/>
          <p:nvPr/>
        </p:nvSpPr>
        <p:spPr>
          <a:xfrm rot="20809534">
            <a:off x="4102208" y="3530691"/>
            <a:ext cx="2857500" cy="514350"/>
          </a:xfrm>
          <a:prstGeom prst="leftArrow">
            <a:avLst>
              <a:gd name="adj1" fmla="val 50000"/>
              <a:gd name="adj2" fmla="val 138786"/>
            </a:avLst>
          </a:prstGeom>
          <a:solidFill>
            <a:srgbClr val="FF00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实体完整性约束条件</a:t>
            </a:r>
          </a:p>
        </p:txBody>
      </p:sp>
      <p:sp>
        <p:nvSpPr>
          <p:cNvPr id="8" name="Line 8">
            <a:extLst>
              <a:ext uri="{FF2B5EF4-FFF2-40B4-BE49-F238E27FC236}">
                <a16:creationId xmlns:a16="http://schemas.microsoft.com/office/drawing/2014/main" id="{7C86988B-4798-7D64-7FF8-95F23510BBEB}"/>
              </a:ext>
            </a:extLst>
          </p:cNvPr>
          <p:cNvSpPr/>
          <p:nvPr/>
        </p:nvSpPr>
        <p:spPr>
          <a:xfrm flipV="1">
            <a:off x="1943099" y="4542209"/>
            <a:ext cx="3200401" cy="5111"/>
          </a:xfrm>
          <a:prstGeom prst="line">
            <a:avLst/>
          </a:prstGeom>
          <a:ln w="76200" cap="flat" cmpd="sng">
            <a:solidFill>
              <a:srgbClr val="008080"/>
            </a:solidFill>
            <a:prstDash val="soli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9" name="AutoShape 9">
            <a:extLst>
              <a:ext uri="{FF2B5EF4-FFF2-40B4-BE49-F238E27FC236}">
                <a16:creationId xmlns:a16="http://schemas.microsoft.com/office/drawing/2014/main" id="{0320138C-9A19-0D00-74F9-C072E6B8325F}"/>
              </a:ext>
            </a:extLst>
          </p:cNvPr>
          <p:cNvSpPr/>
          <p:nvPr/>
        </p:nvSpPr>
        <p:spPr>
          <a:xfrm rot="10800000">
            <a:off x="5837034" y="4434942"/>
            <a:ext cx="2400300" cy="329016"/>
          </a:xfrm>
          <a:prstGeom prst="wedgeRoundRectCallout">
            <a:avLst>
              <a:gd name="adj1" fmla="val 76710"/>
              <a:gd name="adj2" fmla="val 19570"/>
              <a:gd name="adj3" fmla="val 16667"/>
            </a:avLst>
          </a:prstGeom>
          <a:solidFill>
            <a:srgbClr val="FFCC99"/>
          </a:solidFill>
          <a:ln w="9525" cap="flat" cmpd="sng">
            <a:solidFill>
              <a:schemeClr val="tx1"/>
            </a:solidFill>
            <a:prstDash val="solid"/>
            <a:miter/>
            <a:headEnd type="none" w="med" len="med"/>
            <a:tailEnd type="none" w="med" len="med"/>
          </a:ln>
        </p:spPr>
        <p:txBody>
          <a:bodyPr rot="10800000" anchor="ctr"/>
          <a:lstStyle/>
          <a:p>
            <a:pPr algn="ctr"/>
            <a:r>
              <a:rPr lang="zh-CN" altLang="en-US" sz="1350" dirty="0">
                <a:latin typeface="Microsoft YaHei" panose="020B0503020204020204" pitchFamily="34" charset="-122"/>
                <a:ea typeface="Microsoft YaHei" panose="020B0503020204020204" pitchFamily="34" charset="-122"/>
              </a:rPr>
              <a:t>用户自定义完整性约束条件</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0-#ppt_w/2"/>
                                          </p:val>
                                        </p:tav>
                                        <p:tav tm="100000">
                                          <p:val>
                                            <p:strVal val="#ppt_x"/>
                                          </p:val>
                                        </p:tav>
                                      </p:tavLst>
                                    </p:anim>
                                    <p:anim calcmode="lin" valueType="num">
                                      <p:cBhvr additive="base">
                                        <p:cTn id="26"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0-#ppt_w/2"/>
                                          </p:val>
                                        </p:tav>
                                        <p:tav tm="100000">
                                          <p:val>
                                            <p:strVal val="#ppt_x"/>
                                          </p:val>
                                        </p:tav>
                                      </p:tavLst>
                                    </p:anim>
                                    <p:anim calcmode="lin" valueType="num">
                                      <p:cBhvr additive="base">
                                        <p:cTn id="3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0-#ppt_w/2"/>
                                          </p:val>
                                        </p:tav>
                                        <p:tav tm="100000">
                                          <p:val>
                                            <p:strVal val="#ppt_x"/>
                                          </p:val>
                                        </p:tav>
                                      </p:tavLst>
                                    </p:anim>
                                    <p:anim calcmode="lin" valueType="num">
                                      <p:cBhvr additive="base">
                                        <p:cTn id="3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7" grpId="0" bldLvl="0" animBg="1"/>
      <p:bldP spid="9"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636384" y="1417982"/>
            <a:ext cx="6858000" cy="3578171"/>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en-US" altLang="zh-CN" sz="2000" dirty="0">
                <a:latin typeface="Microsoft YaHei" panose="020B0503020204020204" pitchFamily="34" charset="-122"/>
                <a:ea typeface="Microsoft YaHei" panose="020B0503020204020204" pitchFamily="34" charset="-122"/>
              </a:rPr>
              <a:t>CREATE TABLE Course</a:t>
            </a:r>
          </a:p>
          <a:p>
            <a:pPr eaLnBrk="1" hangingPunct="1">
              <a:buNone/>
            </a:pPr>
            <a:r>
              <a:rPr lang="en-US" altLang="zh-CN" sz="2000" dirty="0">
                <a:latin typeface="Microsoft YaHei" panose="020B0503020204020204" pitchFamily="34" charset="-122"/>
                <a:ea typeface="Microsoft YaHei" panose="020B0503020204020204" pitchFamily="34" charset="-122"/>
              </a:rPr>
              <a:t> </a:t>
            </a:r>
            <a:r>
              <a:rPr lang="en-US" altLang="zh-CN" sz="2000" dirty="0">
                <a:solidFill>
                  <a:schemeClr val="hlink"/>
                </a:solidFill>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 </a:t>
            </a:r>
          </a:p>
          <a:p>
            <a:pPr eaLnBrk="1" hangingPunct="1">
              <a:buNone/>
            </a:pPr>
            <a:r>
              <a:rPr lang="zh-CN" altLang="en-US" sz="2000" dirty="0">
                <a:latin typeface="Microsoft YaHei" panose="020B0503020204020204" pitchFamily="34" charset="-122"/>
                <a:ea typeface="Microsoft YaHei" panose="020B0503020204020204" pitchFamily="34" charset="-122"/>
              </a:rPr>
              <a:t>      </a:t>
            </a:r>
            <a:r>
              <a:rPr lang="en-US" altLang="zh-CN" sz="2000" dirty="0" err="1">
                <a:latin typeface="Microsoft YaHei" panose="020B0503020204020204" pitchFamily="34" charset="-122"/>
                <a:ea typeface="Microsoft YaHei" panose="020B0503020204020204" pitchFamily="34" charset="-122"/>
              </a:rPr>
              <a:t>cno</a:t>
            </a:r>
            <a:r>
              <a:rPr lang="en-US" altLang="zh-CN" sz="2000" dirty="0">
                <a:latin typeface="Microsoft YaHei" panose="020B0503020204020204" pitchFamily="34" charset="-122"/>
                <a:ea typeface="Microsoft YaHei" panose="020B0503020204020204" pitchFamily="34" charset="-122"/>
              </a:rPr>
              <a:t> CHAR (4),</a:t>
            </a:r>
          </a:p>
          <a:p>
            <a:pPr eaLnBrk="1" hangingPunct="1">
              <a:buNone/>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a:t>
            </a:r>
            <a:r>
              <a:rPr lang="en-US" altLang="zh-CN" sz="2000" dirty="0" err="1">
                <a:latin typeface="Microsoft YaHei" panose="020B0503020204020204" pitchFamily="34" charset="-122"/>
                <a:ea typeface="Microsoft YaHei" panose="020B0503020204020204" pitchFamily="34" charset="-122"/>
              </a:rPr>
              <a:t>cname</a:t>
            </a:r>
            <a:r>
              <a:rPr lang="en-US" altLang="zh-CN" sz="2000" dirty="0">
                <a:latin typeface="Microsoft YaHei" panose="020B0503020204020204" pitchFamily="34" charset="-122"/>
                <a:ea typeface="Microsoft YaHei" panose="020B0503020204020204" pitchFamily="34" charset="-122"/>
              </a:rPr>
              <a:t> CHAR (10) NOT NULL,</a:t>
            </a:r>
          </a:p>
          <a:p>
            <a:pPr eaLnBrk="1" hangingPunct="1">
              <a:buNone/>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a:t>
            </a:r>
            <a:r>
              <a:rPr lang="en-US" altLang="zh-CN" sz="2000" dirty="0" err="1">
                <a:latin typeface="Microsoft YaHei" panose="020B0503020204020204" pitchFamily="34" charset="-122"/>
                <a:ea typeface="Microsoft YaHei" panose="020B0503020204020204" pitchFamily="34" charset="-122"/>
              </a:rPr>
              <a:t>pcno</a:t>
            </a:r>
            <a:r>
              <a:rPr lang="en-US" altLang="zh-CN" sz="2000" dirty="0">
                <a:latin typeface="Microsoft YaHei" panose="020B0503020204020204" pitchFamily="34" charset="-122"/>
                <a:ea typeface="Microsoft YaHei" panose="020B0503020204020204" pitchFamily="34" charset="-122"/>
              </a:rPr>
              <a:t> CHAR (4),</a:t>
            </a:r>
          </a:p>
          <a:p>
            <a:pPr eaLnBrk="1" hangingPunct="1">
              <a:buNone/>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credit SMALLINT,</a:t>
            </a:r>
          </a:p>
          <a:p>
            <a:pPr eaLnBrk="1" hangingPunct="1">
              <a:buNone/>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PRIMARY KEY (cno),</a:t>
            </a:r>
          </a:p>
          <a:p>
            <a:pPr eaLnBrk="1" hangingPunct="1">
              <a:buNone/>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FOREIGN KEY (pcno) REFERENCES Course(cno)</a:t>
            </a:r>
          </a:p>
          <a:p>
            <a:pPr eaLnBrk="1" hangingPunct="1">
              <a:buNone/>
            </a:pPr>
            <a:r>
              <a:rPr lang="en-US" altLang="zh-CN" sz="2000" dirty="0">
                <a:latin typeface="Microsoft YaHei" panose="020B0503020204020204" pitchFamily="34" charset="-122"/>
                <a:ea typeface="Microsoft YaHei" panose="020B0503020204020204" pitchFamily="34" charset="-122"/>
              </a:rPr>
              <a:t> </a:t>
            </a:r>
            <a:r>
              <a:rPr lang="en-US" altLang="zh-CN" sz="2000" dirty="0">
                <a:solidFill>
                  <a:schemeClr val="hlink"/>
                </a:solidFill>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a:t>
            </a:r>
            <a:endParaRPr lang="zh-CN" altLang="en-US" sz="2000" dirty="0">
              <a:latin typeface="Microsoft YaHei" panose="020B0503020204020204" pitchFamily="34" charset="-122"/>
              <a:ea typeface="Microsoft YaHei" panose="020B0503020204020204" pitchFamily="34" charset="-122"/>
            </a:endParaRPr>
          </a:p>
        </p:txBody>
      </p:sp>
      <p:sp>
        <p:nvSpPr>
          <p:cNvPr id="19460" name="Line 4"/>
          <p:cNvSpPr/>
          <p:nvPr/>
        </p:nvSpPr>
        <p:spPr>
          <a:xfrm>
            <a:off x="1145905" y="4330193"/>
            <a:ext cx="5727593" cy="17081"/>
          </a:xfrm>
          <a:prstGeom prst="line">
            <a:avLst/>
          </a:prstGeom>
          <a:ln w="76200" cap="flat" cmpd="sng">
            <a:solidFill>
              <a:schemeClr val="folHlink"/>
            </a:solidFill>
            <a:prstDash val="solid"/>
            <a:headEnd type="none" w="med" len="med"/>
            <a:tailEnd type="none" w="med" len="med"/>
          </a:ln>
        </p:spPr>
        <p:txBody>
          <a:bodyPr/>
          <a:lstStyle/>
          <a:p>
            <a:endParaRPr lang="zh-CN" altLang="en-US" sz="1350"/>
          </a:p>
        </p:txBody>
      </p:sp>
      <p:sp>
        <p:nvSpPr>
          <p:cNvPr id="22533" name="AutoShape 5"/>
          <p:cNvSpPr/>
          <p:nvPr/>
        </p:nvSpPr>
        <p:spPr>
          <a:xfrm rot="10800000">
            <a:off x="7287109" y="4519171"/>
            <a:ext cx="1856891" cy="256038"/>
          </a:xfrm>
          <a:prstGeom prst="wedgeRoundRectCallout">
            <a:avLst>
              <a:gd name="adj1" fmla="val 71793"/>
              <a:gd name="adj2" fmla="val 114588"/>
              <a:gd name="adj3" fmla="val 16667"/>
            </a:avLst>
          </a:prstGeom>
          <a:solidFill>
            <a:srgbClr val="CC99FF"/>
          </a:solidFill>
          <a:ln w="9525" cap="flat" cmpd="sng">
            <a:solidFill>
              <a:schemeClr val="tx1"/>
            </a:solidFill>
            <a:prstDash val="solid"/>
            <a:miter/>
            <a:headEnd type="none" w="med" len="med"/>
            <a:tailEnd type="none" w="med" len="med"/>
          </a:ln>
        </p:spPr>
        <p:txBody>
          <a:bodyPr rot="10800000" anchor="ctr"/>
          <a:lstStyle/>
          <a:p>
            <a:pPr algn="ctr"/>
            <a:r>
              <a:rPr lang="zh-CN" altLang="en-US" sz="1350" dirty="0">
                <a:latin typeface="Microsoft YaHei" panose="020B0503020204020204" pitchFamily="34" charset="-122"/>
                <a:ea typeface="Microsoft YaHei" panose="020B0503020204020204" pitchFamily="34" charset="-122"/>
              </a:rPr>
              <a:t>参照完整性约束条件</a:t>
            </a:r>
          </a:p>
        </p:txBody>
      </p:sp>
      <p:sp>
        <p:nvSpPr>
          <p:cNvPr id="18439" name="AutoShape 7"/>
          <p:cNvSpPr/>
          <p:nvPr/>
        </p:nvSpPr>
        <p:spPr>
          <a:xfrm>
            <a:off x="3651086" y="3523330"/>
            <a:ext cx="2857500" cy="514350"/>
          </a:xfrm>
          <a:prstGeom prst="leftArrow">
            <a:avLst>
              <a:gd name="adj1" fmla="val 50000"/>
              <a:gd name="adj2" fmla="val 138786"/>
            </a:avLst>
          </a:prstGeom>
          <a:solidFill>
            <a:srgbClr val="FF00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实体完整性约束条件</a:t>
            </a:r>
          </a:p>
        </p:txBody>
      </p:sp>
      <p:sp>
        <p:nvSpPr>
          <p:cNvPr id="18436" name="AutoShape 4"/>
          <p:cNvSpPr/>
          <p:nvPr/>
        </p:nvSpPr>
        <p:spPr>
          <a:xfrm>
            <a:off x="4796725" y="2370434"/>
            <a:ext cx="2400300" cy="628650"/>
          </a:xfrm>
          <a:prstGeom prst="leftArrow">
            <a:avLst>
              <a:gd name="adj1" fmla="val 50000"/>
              <a:gd name="adj2" fmla="val 9538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solidFill>
                  <a:schemeClr val="bg1"/>
                </a:solidFill>
                <a:latin typeface="Microsoft YaHei" panose="020B0503020204020204" pitchFamily="34" charset="-122"/>
                <a:ea typeface="Microsoft YaHei" panose="020B0503020204020204" pitchFamily="34" charset="-122"/>
              </a:rPr>
              <a:t>列级完整性约束条件</a:t>
            </a:r>
          </a:p>
        </p:txBody>
      </p:sp>
      <p:sp>
        <p:nvSpPr>
          <p:cNvPr id="5" name="标题 4">
            <a:extLst>
              <a:ext uri="{FF2B5EF4-FFF2-40B4-BE49-F238E27FC236}">
                <a16:creationId xmlns:a16="http://schemas.microsoft.com/office/drawing/2014/main" id="{860832D2-7A92-0BD6-B972-41109F8E4E32}"/>
              </a:ext>
            </a:extLst>
          </p:cNvPr>
          <p:cNvSpPr>
            <a:spLocks noGrp="1"/>
          </p:cNvSpPr>
          <p:nvPr>
            <p:ph type="title"/>
          </p:nvPr>
        </p:nvSpPr>
        <p:spPr/>
        <p:txBody>
          <a:bodyPr/>
          <a:lstStyle/>
          <a:p>
            <a:r>
              <a:rPr lang="zh-CN" altLang="en-US" dirty="0"/>
              <a:t>参照完整性</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460"/>
                                        </p:tgtEl>
                                        <p:attrNameLst>
                                          <p:attrName>style.visibility</p:attrName>
                                        </p:attrNameLst>
                                      </p:cBhvr>
                                      <p:to>
                                        <p:strVal val="visible"/>
                                      </p:to>
                                    </p:set>
                                    <p:anim calcmode="lin" valueType="num">
                                      <p:cBhvr additive="base">
                                        <p:cTn id="7" dur="500" fill="hold"/>
                                        <p:tgtEl>
                                          <p:spTgt spid="19460"/>
                                        </p:tgtEl>
                                        <p:attrNameLst>
                                          <p:attrName>ppt_x</p:attrName>
                                        </p:attrNameLst>
                                      </p:cBhvr>
                                      <p:tavLst>
                                        <p:tav tm="0">
                                          <p:val>
                                            <p:strVal val="0-#ppt_w/2"/>
                                          </p:val>
                                        </p:tav>
                                        <p:tav tm="100000">
                                          <p:val>
                                            <p:strVal val="#ppt_x"/>
                                          </p:val>
                                        </p:tav>
                                      </p:tavLst>
                                    </p:anim>
                                    <p:anim calcmode="lin" valueType="num">
                                      <p:cBhvr additive="base">
                                        <p:cTn id="8" dur="500" fill="hold"/>
                                        <p:tgtEl>
                                          <p:spTgt spid="1946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33"/>
                                        </p:tgtEl>
                                        <p:attrNameLst>
                                          <p:attrName>style.visibility</p:attrName>
                                        </p:attrNameLst>
                                      </p:cBhvr>
                                      <p:to>
                                        <p:strVal val="visible"/>
                                      </p:to>
                                    </p:set>
                                    <p:anim calcmode="lin" valueType="num">
                                      <p:cBhvr additive="base">
                                        <p:cTn id="13" dur="500" fill="hold"/>
                                        <p:tgtEl>
                                          <p:spTgt spid="22533"/>
                                        </p:tgtEl>
                                        <p:attrNameLst>
                                          <p:attrName>ppt_x</p:attrName>
                                        </p:attrNameLst>
                                      </p:cBhvr>
                                      <p:tavLst>
                                        <p:tav tm="0">
                                          <p:val>
                                            <p:strVal val="0-#ppt_w/2"/>
                                          </p:val>
                                        </p:tav>
                                        <p:tav tm="100000">
                                          <p:val>
                                            <p:strVal val="#ppt_x"/>
                                          </p:val>
                                        </p:tav>
                                      </p:tavLst>
                                    </p:anim>
                                    <p:anim calcmode="lin" valueType="num">
                                      <p:cBhvr additive="base">
                                        <p:cTn id="14" dur="500" fill="hold"/>
                                        <p:tgtEl>
                                          <p:spTgt spid="2253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439"/>
                                        </p:tgtEl>
                                        <p:attrNameLst>
                                          <p:attrName>style.visibility</p:attrName>
                                        </p:attrNameLst>
                                      </p:cBhvr>
                                      <p:to>
                                        <p:strVal val="visible"/>
                                      </p:to>
                                    </p:set>
                                    <p:anim calcmode="lin" valueType="num">
                                      <p:cBhvr additive="base">
                                        <p:cTn id="19" dur="500" fill="hold"/>
                                        <p:tgtEl>
                                          <p:spTgt spid="18439"/>
                                        </p:tgtEl>
                                        <p:attrNameLst>
                                          <p:attrName>ppt_x</p:attrName>
                                        </p:attrNameLst>
                                      </p:cBhvr>
                                      <p:tavLst>
                                        <p:tav tm="0">
                                          <p:val>
                                            <p:strVal val="0-#ppt_w/2"/>
                                          </p:val>
                                        </p:tav>
                                        <p:tav tm="100000">
                                          <p:val>
                                            <p:strVal val="#ppt_x"/>
                                          </p:val>
                                        </p:tav>
                                      </p:tavLst>
                                    </p:anim>
                                    <p:anim calcmode="lin" valueType="num">
                                      <p:cBhvr additive="base">
                                        <p:cTn id="20" dur="500" fill="hold"/>
                                        <p:tgtEl>
                                          <p:spTgt spid="1843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436"/>
                                        </p:tgtEl>
                                        <p:attrNameLst>
                                          <p:attrName>style.visibility</p:attrName>
                                        </p:attrNameLst>
                                      </p:cBhvr>
                                      <p:to>
                                        <p:strVal val="visible"/>
                                      </p:to>
                                    </p:set>
                                    <p:anim calcmode="lin" valueType="num">
                                      <p:cBhvr additive="base">
                                        <p:cTn id="25" dur="500" fill="hold"/>
                                        <p:tgtEl>
                                          <p:spTgt spid="18436"/>
                                        </p:tgtEl>
                                        <p:attrNameLst>
                                          <p:attrName>ppt_x</p:attrName>
                                        </p:attrNameLst>
                                      </p:cBhvr>
                                      <p:tavLst>
                                        <p:tav tm="0">
                                          <p:val>
                                            <p:strVal val="0-#ppt_w/2"/>
                                          </p:val>
                                        </p:tav>
                                        <p:tav tm="100000">
                                          <p:val>
                                            <p:strVal val="#ppt_x"/>
                                          </p:val>
                                        </p:tav>
                                      </p:tavLst>
                                    </p:anim>
                                    <p:anim calcmode="lin" valueType="num">
                                      <p:cBhvr additive="base">
                                        <p:cTn id="26" dur="500" fill="hold"/>
                                        <p:tgtEl>
                                          <p:spTgt spid="184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bldLvl="0" animBg="1"/>
      <p:bldP spid="18439" grpId="0" bldLvl="0" animBg="1"/>
      <p:bldP spid="18436"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9" name="AutoShape 7"/>
          <p:cNvSpPr/>
          <p:nvPr/>
        </p:nvSpPr>
        <p:spPr>
          <a:xfrm rot="20581190">
            <a:off x="4010063" y="2164517"/>
            <a:ext cx="2857500" cy="514350"/>
          </a:xfrm>
          <a:prstGeom prst="leftArrow">
            <a:avLst>
              <a:gd name="adj1" fmla="val 50000"/>
              <a:gd name="adj2" fmla="val 138786"/>
            </a:avLst>
          </a:prstGeom>
          <a:solidFill>
            <a:srgbClr val="FF00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实体完整性约束条件</a:t>
            </a:r>
          </a:p>
        </p:txBody>
      </p:sp>
      <p:sp>
        <p:nvSpPr>
          <p:cNvPr id="22533" name="AutoShape 5"/>
          <p:cNvSpPr/>
          <p:nvPr/>
        </p:nvSpPr>
        <p:spPr>
          <a:xfrm rot="10800000">
            <a:off x="6705598" y="3292475"/>
            <a:ext cx="1817485" cy="326231"/>
          </a:xfrm>
          <a:prstGeom prst="wedgeRoundRectCallout">
            <a:avLst>
              <a:gd name="adj1" fmla="val 64050"/>
              <a:gd name="adj2" fmla="val 17226"/>
              <a:gd name="adj3" fmla="val 16667"/>
            </a:avLst>
          </a:prstGeom>
          <a:solidFill>
            <a:srgbClr val="CC99FF"/>
          </a:solidFill>
          <a:ln w="9525" cap="flat" cmpd="sng">
            <a:solidFill>
              <a:schemeClr val="tx1"/>
            </a:solidFill>
            <a:prstDash val="solid"/>
            <a:miter/>
            <a:headEnd type="none" w="med" len="med"/>
            <a:tailEnd type="none" w="med" len="med"/>
          </a:ln>
        </p:spPr>
        <p:txBody>
          <a:bodyPr rot="10800000"/>
          <a:lstStyle/>
          <a:p>
            <a:pPr algn="ctr"/>
            <a:r>
              <a:rPr lang="zh-CN" altLang="en-US" sz="1350" dirty="0">
                <a:latin typeface="Microsoft YaHei" panose="020B0503020204020204" pitchFamily="34" charset="-122"/>
                <a:ea typeface="Microsoft YaHei" panose="020B0503020204020204" pitchFamily="34" charset="-122"/>
              </a:rPr>
              <a:t>参照完整性约束条件</a:t>
            </a:r>
          </a:p>
        </p:txBody>
      </p:sp>
      <p:sp>
        <p:nvSpPr>
          <p:cNvPr id="21513" name="AutoShape 9"/>
          <p:cNvSpPr/>
          <p:nvPr/>
        </p:nvSpPr>
        <p:spPr>
          <a:xfrm rot="10800000">
            <a:off x="5222501" y="4308100"/>
            <a:ext cx="2410414" cy="339090"/>
          </a:xfrm>
          <a:prstGeom prst="wedgeRoundRectCallout">
            <a:avLst>
              <a:gd name="adj1" fmla="val 76193"/>
              <a:gd name="adj2" fmla="val 140140"/>
              <a:gd name="adj3" fmla="val 16667"/>
            </a:avLst>
          </a:prstGeom>
          <a:solidFill>
            <a:srgbClr val="FFCC99"/>
          </a:solidFill>
          <a:ln w="9525" cap="flat" cmpd="sng">
            <a:solidFill>
              <a:schemeClr val="tx1"/>
            </a:solidFill>
            <a:prstDash val="solid"/>
            <a:miter/>
            <a:headEnd type="none" w="med" len="med"/>
            <a:tailEnd type="none" w="med" len="med"/>
          </a:ln>
        </p:spPr>
        <p:txBody>
          <a:bodyPr rot="10800000"/>
          <a:lstStyle/>
          <a:p>
            <a:pPr algn="ctr"/>
            <a:r>
              <a:rPr lang="zh-CN" altLang="en-US" sz="1350" dirty="0">
                <a:latin typeface="Microsoft YaHei" panose="020B0503020204020204" pitchFamily="34" charset="-122"/>
                <a:ea typeface="Microsoft YaHei" panose="020B0503020204020204" pitchFamily="34" charset="-122"/>
              </a:rPr>
              <a:t>用户自定义完整性约束条件</a:t>
            </a:r>
          </a:p>
        </p:txBody>
      </p:sp>
      <p:sp>
        <p:nvSpPr>
          <p:cNvPr id="2" name="Rectangle 3"/>
          <p:cNvSpPr>
            <a:spLocks noGrp="1"/>
          </p:cNvSpPr>
          <p:nvPr>
            <p:custDataLst>
              <p:tags r:id="rId1"/>
            </p:custDataLst>
          </p:nvPr>
        </p:nvSpPr>
        <p:spPr>
          <a:xfrm>
            <a:off x="1089186" y="1387792"/>
            <a:ext cx="6858000" cy="3394234"/>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en-US" altLang="zh-CN" sz="1800" dirty="0">
                <a:latin typeface="Microsoft YaHei" panose="020B0503020204020204" pitchFamily="34" charset="-122"/>
                <a:ea typeface="Microsoft YaHei" panose="020B0503020204020204" pitchFamily="34" charset="-122"/>
              </a:rPr>
              <a:t>CREATE TABLE SC</a:t>
            </a:r>
          </a:p>
          <a:p>
            <a:pPr eaLnBrk="1" hangingPunct="1">
              <a:buNone/>
            </a:pPr>
            <a:r>
              <a:rPr lang="en-US" altLang="zh-CN" sz="1800" dirty="0">
                <a:latin typeface="Microsoft YaHei" panose="020B0503020204020204" pitchFamily="34" charset="-122"/>
                <a:ea typeface="Microsoft YaHei" panose="020B0503020204020204" pitchFamily="34" charset="-122"/>
              </a:rPr>
              <a:t> </a:t>
            </a:r>
            <a:r>
              <a:rPr lang="en-US" altLang="zh-CN" sz="1800" dirty="0">
                <a:solidFill>
                  <a:schemeClr val="hlink"/>
                </a:solidFill>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 sno CHAR (5),</a:t>
            </a:r>
          </a:p>
          <a:p>
            <a:pPr eaLnBrk="1" hangingPunct="1">
              <a:buNone/>
            </a:pPr>
            <a:r>
              <a:rPr lang="en-US" altLang="zh-CN" sz="1800" dirty="0">
                <a:latin typeface="Microsoft YaHei" panose="020B0503020204020204" pitchFamily="34" charset="-122"/>
                <a:ea typeface="Microsoft YaHei" panose="020B0503020204020204" pitchFamily="34" charset="-122"/>
              </a:rPr>
              <a:t>   cno CHAR (4) ,</a:t>
            </a:r>
          </a:p>
          <a:p>
            <a:pPr eaLnBrk="1" hangingPunct="1">
              <a:buNone/>
            </a:pPr>
            <a:r>
              <a:rPr lang="en-US" altLang="zh-CN" sz="1800" dirty="0">
                <a:latin typeface="Microsoft YaHei" panose="020B0503020204020204" pitchFamily="34" charset="-122"/>
                <a:ea typeface="Microsoft YaHei" panose="020B0503020204020204" pitchFamily="34" charset="-122"/>
              </a:rPr>
              <a:t>   grade SMALLINT,</a:t>
            </a:r>
          </a:p>
          <a:p>
            <a:pPr eaLnBrk="1" hangingPunct="1">
              <a:buNone/>
            </a:pPr>
            <a:r>
              <a:rPr lang="en-US" altLang="zh-CN" sz="1800" dirty="0">
                <a:latin typeface="Microsoft YaHei" panose="020B0503020204020204" pitchFamily="34" charset="-122"/>
                <a:ea typeface="Microsoft YaHei" panose="020B0503020204020204" pitchFamily="34" charset="-122"/>
              </a:rPr>
              <a:t>   PRIMARY KEY (sno,cno),</a:t>
            </a:r>
          </a:p>
          <a:p>
            <a:pPr eaLnBrk="1" hangingPunct="1">
              <a:buNone/>
            </a:pPr>
            <a:r>
              <a:rPr lang="en-US" altLang="zh-CN" sz="1800" dirty="0">
                <a:latin typeface="Microsoft YaHei" panose="020B0503020204020204" pitchFamily="34" charset="-122"/>
                <a:ea typeface="Microsoft YaHei" panose="020B0503020204020204" pitchFamily="34" charset="-122"/>
              </a:rPr>
              <a:t>   FOREIGN KEY (sno)REFERENCES Student(sno),</a:t>
            </a:r>
          </a:p>
          <a:p>
            <a:pPr eaLnBrk="1" hangingPunct="1">
              <a:buNone/>
            </a:pPr>
            <a:r>
              <a:rPr lang="en-US" altLang="zh-CN" sz="1800" dirty="0">
                <a:latin typeface="Microsoft YaHei" panose="020B0503020204020204" pitchFamily="34" charset="-122"/>
                <a:ea typeface="Microsoft YaHei" panose="020B0503020204020204" pitchFamily="34" charset="-122"/>
              </a:rPr>
              <a:t>   FOREIGN KEY (cno)REFERENCES Course(cno),</a:t>
            </a:r>
          </a:p>
          <a:p>
            <a:pPr eaLnBrk="1" hangingPunct="1">
              <a:buNone/>
            </a:pPr>
            <a:r>
              <a:rPr lang="en-US" altLang="zh-CN" sz="1800" dirty="0">
                <a:latin typeface="Microsoft YaHei" panose="020B0503020204020204" pitchFamily="34" charset="-122"/>
                <a:ea typeface="Microsoft YaHei" panose="020B0503020204020204" pitchFamily="34" charset="-122"/>
              </a:rPr>
              <a:t>   CHECK  </a:t>
            </a:r>
            <a:r>
              <a:rPr lang="en-US" altLang="zh-CN" sz="1800" dirty="0">
                <a:solidFill>
                  <a:schemeClr val="folHlink"/>
                </a:solidFill>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(grade IS NULL) OR </a:t>
            </a:r>
          </a:p>
          <a:p>
            <a:pPr eaLnBrk="1" hangingPunct="1">
              <a:buNone/>
            </a:pPr>
            <a:r>
              <a:rPr lang="en-US" altLang="zh-CN" sz="1800" dirty="0">
                <a:latin typeface="Microsoft YaHei" panose="020B0503020204020204" pitchFamily="34" charset="-122"/>
                <a:ea typeface="Microsoft YaHei" panose="020B0503020204020204" pitchFamily="34" charset="-122"/>
              </a:rPr>
              <a:t>      (grade BETWEEN 0 AND 100)</a:t>
            </a:r>
            <a:r>
              <a:rPr lang="en-US" altLang="zh-CN" sz="1800" dirty="0">
                <a:solidFill>
                  <a:schemeClr val="folHlink"/>
                </a:solidFill>
                <a:latin typeface="Microsoft YaHei" panose="020B0503020204020204" pitchFamily="34" charset="-122"/>
                <a:ea typeface="Microsoft YaHei" panose="020B0503020204020204" pitchFamily="34" charset="-122"/>
              </a:rPr>
              <a:t>)</a:t>
            </a:r>
          </a:p>
          <a:p>
            <a:pPr eaLnBrk="1" hangingPunct="1">
              <a:buNone/>
            </a:pPr>
            <a:r>
              <a:rPr lang="en-US" altLang="zh-CN" sz="1800" dirty="0">
                <a:latin typeface="Microsoft YaHei" panose="020B0503020204020204" pitchFamily="34" charset="-122"/>
                <a:ea typeface="Microsoft YaHei" panose="020B0503020204020204" pitchFamily="34" charset="-122"/>
              </a:rPr>
              <a:t> </a:t>
            </a:r>
            <a:r>
              <a:rPr lang="en-US" altLang="zh-CN" sz="1800" dirty="0">
                <a:solidFill>
                  <a:schemeClr val="hlink"/>
                </a:solidFill>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a:t>
            </a:r>
          </a:p>
        </p:txBody>
      </p:sp>
      <p:sp>
        <p:nvSpPr>
          <p:cNvPr id="5" name="标题 4">
            <a:extLst>
              <a:ext uri="{FF2B5EF4-FFF2-40B4-BE49-F238E27FC236}">
                <a16:creationId xmlns:a16="http://schemas.microsoft.com/office/drawing/2014/main" id="{C2287C9F-2ED9-EBD0-B5D9-696DBA4F6A27}"/>
              </a:ext>
            </a:extLst>
          </p:cNvPr>
          <p:cNvSpPr>
            <a:spLocks noGrp="1"/>
          </p:cNvSpPr>
          <p:nvPr>
            <p:ph type="title"/>
          </p:nvPr>
        </p:nvSpPr>
        <p:spPr/>
        <p:txBody>
          <a:bodyPr/>
          <a:lstStyle/>
          <a:p>
            <a:r>
              <a:rPr lang="zh-CN" altLang="en-US" dirty="0"/>
              <a:t>参照完整性</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9"/>
                                        </p:tgtEl>
                                        <p:attrNameLst>
                                          <p:attrName>style.visibility</p:attrName>
                                        </p:attrNameLst>
                                      </p:cBhvr>
                                      <p:to>
                                        <p:strVal val="visible"/>
                                      </p:to>
                                    </p:set>
                                    <p:anim calcmode="lin" valueType="num">
                                      <p:cBhvr additive="base">
                                        <p:cTn id="7" dur="500" fill="hold"/>
                                        <p:tgtEl>
                                          <p:spTgt spid="18439"/>
                                        </p:tgtEl>
                                        <p:attrNameLst>
                                          <p:attrName>ppt_x</p:attrName>
                                        </p:attrNameLst>
                                      </p:cBhvr>
                                      <p:tavLst>
                                        <p:tav tm="0">
                                          <p:val>
                                            <p:strVal val="0-#ppt_w/2"/>
                                          </p:val>
                                        </p:tav>
                                        <p:tav tm="100000">
                                          <p:val>
                                            <p:strVal val="#ppt_x"/>
                                          </p:val>
                                        </p:tav>
                                      </p:tavLst>
                                    </p:anim>
                                    <p:anim calcmode="lin" valueType="num">
                                      <p:cBhvr additive="base">
                                        <p:cTn id="8" dur="500" fill="hold"/>
                                        <p:tgtEl>
                                          <p:spTgt spid="1843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33"/>
                                        </p:tgtEl>
                                        <p:attrNameLst>
                                          <p:attrName>style.visibility</p:attrName>
                                        </p:attrNameLst>
                                      </p:cBhvr>
                                      <p:to>
                                        <p:strVal val="visible"/>
                                      </p:to>
                                    </p:set>
                                    <p:anim calcmode="lin" valueType="num">
                                      <p:cBhvr additive="base">
                                        <p:cTn id="13" dur="500" fill="hold"/>
                                        <p:tgtEl>
                                          <p:spTgt spid="22533"/>
                                        </p:tgtEl>
                                        <p:attrNameLst>
                                          <p:attrName>ppt_x</p:attrName>
                                        </p:attrNameLst>
                                      </p:cBhvr>
                                      <p:tavLst>
                                        <p:tav tm="0">
                                          <p:val>
                                            <p:strVal val="0-#ppt_w/2"/>
                                          </p:val>
                                        </p:tav>
                                        <p:tav tm="100000">
                                          <p:val>
                                            <p:strVal val="#ppt_x"/>
                                          </p:val>
                                        </p:tav>
                                      </p:tavLst>
                                    </p:anim>
                                    <p:anim calcmode="lin" valueType="num">
                                      <p:cBhvr additive="base">
                                        <p:cTn id="14" dur="500" fill="hold"/>
                                        <p:tgtEl>
                                          <p:spTgt spid="2253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513"/>
                                        </p:tgtEl>
                                        <p:attrNameLst>
                                          <p:attrName>style.visibility</p:attrName>
                                        </p:attrNameLst>
                                      </p:cBhvr>
                                      <p:to>
                                        <p:strVal val="visible"/>
                                      </p:to>
                                    </p:set>
                                    <p:anim calcmode="lin" valueType="num">
                                      <p:cBhvr additive="base">
                                        <p:cTn id="19" dur="500" fill="hold"/>
                                        <p:tgtEl>
                                          <p:spTgt spid="21513"/>
                                        </p:tgtEl>
                                        <p:attrNameLst>
                                          <p:attrName>ppt_x</p:attrName>
                                        </p:attrNameLst>
                                      </p:cBhvr>
                                      <p:tavLst>
                                        <p:tav tm="0">
                                          <p:val>
                                            <p:strVal val="0-#ppt_w/2"/>
                                          </p:val>
                                        </p:tav>
                                        <p:tav tm="100000">
                                          <p:val>
                                            <p:strVal val="#ppt_x"/>
                                          </p:val>
                                        </p:tav>
                                      </p:tavLst>
                                    </p:anim>
                                    <p:anim calcmode="lin" valueType="num">
                                      <p:cBhvr additive="base">
                                        <p:cTn id="20" dur="500" fill="hold"/>
                                        <p:tgtEl>
                                          <p:spTgt spid="215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bldLvl="0" animBg="1"/>
      <p:bldP spid="22533" grpId="0" bldLvl="0" animBg="1"/>
      <p:bldP spid="21513"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438344" y="1533968"/>
            <a:ext cx="8429625" cy="3113222"/>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zh-CN" altLang="en-US" sz="2100" b="1" dirty="0">
                <a:solidFill>
                  <a:schemeClr val="hlink"/>
                </a:solidFill>
                <a:latin typeface="Microsoft YaHei" panose="020B0503020204020204" pitchFamily="34" charset="-122"/>
                <a:ea typeface="Microsoft YaHei" panose="020B0503020204020204" pitchFamily="34" charset="-122"/>
              </a:rPr>
              <a:t>格式：</a:t>
            </a:r>
            <a:r>
              <a:rPr lang="en-US" altLang="zh-CN" sz="2100" dirty="0">
                <a:latin typeface="Microsoft YaHei" panose="020B0503020204020204" pitchFamily="34" charset="-122"/>
                <a:ea typeface="Microsoft YaHei" panose="020B0503020204020204" pitchFamily="34" charset="-122"/>
              </a:rPr>
              <a:t>DROP TABLE &lt;</a:t>
            </a:r>
            <a:r>
              <a:rPr lang="zh-CN" altLang="en-US" sz="2100" dirty="0">
                <a:latin typeface="Microsoft YaHei" panose="020B0503020204020204" pitchFamily="34" charset="-122"/>
                <a:ea typeface="Microsoft YaHei" panose="020B0503020204020204" pitchFamily="34" charset="-122"/>
              </a:rPr>
              <a:t>表名</a:t>
            </a:r>
            <a:r>
              <a:rPr lang="en-US" altLang="zh-CN" sz="2100" dirty="0">
                <a:latin typeface="Microsoft YaHei" panose="020B0503020204020204" pitchFamily="34" charset="-122"/>
                <a:ea typeface="Microsoft YaHei" panose="020B0503020204020204" pitchFamily="34" charset="-122"/>
              </a:rPr>
              <a:t>&gt; [CASCADE | RESTRICT]</a:t>
            </a:r>
          </a:p>
          <a:p>
            <a:pPr algn="just" eaLnBrk="1" hangingPunct="1"/>
            <a:r>
              <a:rPr lang="zh-CN" altLang="en-US" sz="2100" dirty="0">
                <a:latin typeface="Microsoft YaHei" panose="020B0503020204020204" pitchFamily="34" charset="-122"/>
                <a:ea typeface="Microsoft YaHei" panose="020B0503020204020204" pitchFamily="34" charset="-122"/>
              </a:rPr>
              <a:t>基本表定义一旦删除，表中的数据、在此表上建立的视图、索引、触发器、断言都将自动被删除掉。</a:t>
            </a:r>
            <a:r>
              <a:rPr lang="en-US" altLang="zh-CN" sz="2100" dirty="0">
                <a:latin typeface="Microsoft YaHei" panose="020B0503020204020204" pitchFamily="34" charset="-122"/>
                <a:ea typeface="Microsoft YaHei" panose="020B0503020204020204" pitchFamily="34" charset="-122"/>
              </a:rPr>
              <a:t>RESTRICT</a:t>
            </a:r>
            <a:r>
              <a:rPr lang="zh-CN" altLang="en-US" sz="2100" dirty="0">
                <a:latin typeface="Microsoft YaHei" panose="020B0503020204020204" pitchFamily="34" charset="-122"/>
                <a:ea typeface="Microsoft YaHei" panose="020B0503020204020204" pitchFamily="34" charset="-122"/>
              </a:rPr>
              <a:t>确保只有不具有相关对象的表才能被撤销。</a:t>
            </a:r>
          </a:p>
          <a:p>
            <a:pPr algn="just" eaLnBrk="1" hangingPunct="1"/>
            <a:endParaRPr lang="zh-CN" altLang="en-US" sz="2100" dirty="0">
              <a:latin typeface="Microsoft YaHei" panose="020B0503020204020204" pitchFamily="34" charset="-122"/>
              <a:ea typeface="Microsoft YaHei" panose="020B0503020204020204" pitchFamily="34" charset="-122"/>
            </a:endParaRPr>
          </a:p>
          <a:p>
            <a:pPr algn="just" eaLnBrk="1" hangingPunct="1">
              <a:buNone/>
            </a:pPr>
            <a:r>
              <a:rPr lang="zh-CN" altLang="en-US" sz="2100" dirty="0">
                <a:latin typeface="Microsoft YaHei" panose="020B0503020204020204" pitchFamily="34" charset="-122"/>
                <a:ea typeface="Microsoft YaHei" panose="020B0503020204020204" pitchFamily="34" charset="-122"/>
              </a:rPr>
              <a:t>例：</a:t>
            </a:r>
            <a:r>
              <a:rPr lang="en-US" altLang="zh-CN" sz="2100" dirty="0">
                <a:solidFill>
                  <a:schemeClr val="hlink"/>
                </a:solidFill>
                <a:latin typeface="Microsoft YaHei" panose="020B0503020204020204" pitchFamily="34" charset="-122"/>
                <a:ea typeface="Microsoft YaHei" panose="020B0503020204020204" pitchFamily="34" charset="-122"/>
              </a:rPr>
              <a:t>DROP TABLE St-quit CASCADE</a:t>
            </a:r>
            <a:r>
              <a:rPr lang="zh-CN" altLang="en-US" sz="2100" dirty="0">
                <a:solidFill>
                  <a:schemeClr val="hlink"/>
                </a:solidFill>
                <a:latin typeface="Microsoft YaHei" panose="020B0503020204020204" pitchFamily="34" charset="-122"/>
                <a:ea typeface="Microsoft YaHei" panose="020B0503020204020204" pitchFamily="34" charset="-122"/>
              </a:rPr>
              <a:t>；</a:t>
            </a:r>
            <a:r>
              <a:rPr lang="zh-CN" altLang="en-US" sz="2100" dirty="0">
                <a:latin typeface="Microsoft YaHei" panose="020B0503020204020204" pitchFamily="34" charset="-122"/>
                <a:ea typeface="Microsoft YaHei" panose="020B0503020204020204" pitchFamily="34" charset="-122"/>
              </a:rPr>
              <a:t> </a:t>
            </a:r>
          </a:p>
          <a:p>
            <a:pPr eaLnBrk="1" hangingPunct="1">
              <a:buNone/>
            </a:pPr>
            <a:endParaRPr lang="zh-CN" altLang="en-US" sz="2100" dirty="0">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E868832E-6AB0-FEA8-DC13-8E5B8C5E59A7}"/>
              </a:ext>
            </a:extLst>
          </p:cNvPr>
          <p:cNvSpPr>
            <a:spLocks noGrp="1"/>
          </p:cNvSpPr>
          <p:nvPr>
            <p:ph type="title"/>
          </p:nvPr>
        </p:nvSpPr>
        <p:spPr/>
        <p:txBody>
          <a:bodyPr/>
          <a:lstStyle/>
          <a:p>
            <a:r>
              <a:rPr lang="zh-CN" altLang="en-US" dirty="0"/>
              <a:t>删除表</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1825442" y="1253548"/>
            <a:ext cx="6858000" cy="3695756"/>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algn="l">
              <a:lnSpc>
                <a:spcPct val="90000"/>
              </a:lnSpc>
              <a:buNone/>
            </a:pPr>
            <a:r>
              <a:rPr lang="zh-CN" altLang="en-US" sz="1800" dirty="0">
                <a:latin typeface="Microsoft YaHei" panose="020B0503020204020204" pitchFamily="34" charset="-122"/>
                <a:ea typeface="Microsoft YaHei" panose="020B0503020204020204" pitchFamily="34" charset="-122"/>
              </a:rPr>
              <a:t>一般格式为： </a:t>
            </a:r>
            <a:br>
              <a:rPr lang="zh-CN" altLang="en-US" sz="1800" dirty="0">
                <a:latin typeface="Microsoft YaHei" panose="020B0503020204020204" pitchFamily="34" charset="-122"/>
                <a:ea typeface="Microsoft YaHei" panose="020B0503020204020204" pitchFamily="34" charset="-122"/>
              </a:rPr>
            </a:br>
            <a:r>
              <a:rPr lang="en-US" altLang="zh-CN" sz="1800" dirty="0">
                <a:latin typeface="Microsoft YaHei" panose="020B0503020204020204" pitchFamily="34" charset="-122"/>
                <a:ea typeface="Microsoft YaHei" panose="020B0503020204020204" pitchFamily="34" charset="-122"/>
                <a:sym typeface="+mn-ea"/>
              </a:rPr>
              <a:t>ALTER TABLE &lt;表名&gt;</a:t>
            </a:r>
            <a:endParaRPr lang="en-US" altLang="zh-CN" sz="1800" dirty="0">
              <a:latin typeface="Microsoft YaHei" panose="020B0503020204020204" pitchFamily="34" charset="-122"/>
              <a:ea typeface="Microsoft YaHei" panose="020B0503020204020204" pitchFamily="34" charset="-122"/>
            </a:endParaRPr>
          </a:p>
          <a:p>
            <a:pPr marL="257175" lvl="2" indent="-257175">
              <a:lnSpc>
                <a:spcPct val="90000"/>
              </a:lnSpc>
              <a:buNone/>
            </a:pPr>
            <a:r>
              <a:rPr lang="en-US" altLang="zh-CN" sz="1800" dirty="0">
                <a:latin typeface="Microsoft YaHei" panose="020B0503020204020204" pitchFamily="34" charset="-122"/>
                <a:ea typeface="Microsoft YaHei" panose="020B0503020204020204" pitchFamily="34" charset="-122"/>
                <a:sym typeface="+mn-ea"/>
              </a:rPr>
              <a:t>        [ ADD &lt;新列名&gt; &lt;数据类型&gt; [ 完整性约束 ] ]</a:t>
            </a:r>
            <a:endParaRPr lang="en-US" altLang="zh-CN" sz="1800" dirty="0">
              <a:latin typeface="Microsoft YaHei" panose="020B0503020204020204" pitchFamily="34" charset="-122"/>
              <a:ea typeface="Microsoft YaHei" panose="020B0503020204020204" pitchFamily="34" charset="-122"/>
            </a:endParaRPr>
          </a:p>
          <a:p>
            <a:pPr marL="257175" lvl="2" indent="-257175">
              <a:lnSpc>
                <a:spcPct val="90000"/>
              </a:lnSpc>
              <a:buNone/>
            </a:pPr>
            <a:r>
              <a:rPr lang="en-US" altLang="zh-CN" sz="1800" dirty="0">
                <a:latin typeface="Microsoft YaHei" panose="020B0503020204020204" pitchFamily="34" charset="-122"/>
                <a:ea typeface="Microsoft YaHei" panose="020B0503020204020204" pitchFamily="34" charset="-122"/>
                <a:sym typeface="+mn-ea"/>
              </a:rPr>
              <a:t>        [ DROP &lt;列名&gt;[CASCADE|RESTRICT] ]</a:t>
            </a:r>
            <a:endParaRPr lang="en-US" altLang="zh-CN" sz="1800" dirty="0">
              <a:latin typeface="Microsoft YaHei" panose="020B0503020204020204" pitchFamily="34" charset="-122"/>
              <a:ea typeface="Microsoft YaHei" panose="020B0503020204020204" pitchFamily="34" charset="-122"/>
            </a:endParaRPr>
          </a:p>
          <a:p>
            <a:pPr marL="257175" lvl="2" indent="-257175">
              <a:lnSpc>
                <a:spcPct val="90000"/>
              </a:lnSpc>
              <a:buNone/>
            </a:pPr>
            <a:r>
              <a:rPr lang="en-US" altLang="zh-CN" sz="1800" dirty="0">
                <a:latin typeface="Microsoft YaHei" panose="020B0503020204020204" pitchFamily="34" charset="-122"/>
                <a:ea typeface="Microsoft YaHei" panose="020B0503020204020204" pitchFamily="34" charset="-122"/>
                <a:sym typeface="+mn-ea"/>
              </a:rPr>
              <a:t>        [ MODIFY &lt;列名&gt; &lt;数据类型&gt; ]；</a:t>
            </a:r>
            <a:endParaRPr lang="en-US" altLang="zh-CN" sz="1800" dirty="0">
              <a:latin typeface="Microsoft YaHei" panose="020B0503020204020204" pitchFamily="34" charset="-122"/>
              <a:ea typeface="Microsoft YaHei" panose="020B0503020204020204" pitchFamily="34" charset="-122"/>
            </a:endParaRPr>
          </a:p>
          <a:p>
            <a:pPr marL="257175" lvl="2" indent="-257175">
              <a:lnSpc>
                <a:spcPct val="90000"/>
              </a:lnSpc>
              <a:buNone/>
            </a:pPr>
            <a:endParaRPr lang="en-US" altLang="zh-CN" sz="1800" dirty="0">
              <a:latin typeface="Microsoft YaHei" panose="020B0503020204020204" pitchFamily="34" charset="-122"/>
              <a:ea typeface="Microsoft YaHei" panose="020B0503020204020204" pitchFamily="34" charset="-122"/>
            </a:endParaRPr>
          </a:p>
          <a:p>
            <a:pPr marL="257175" lvl="1" indent="-257175">
              <a:lnSpc>
                <a:spcPct val="90000"/>
              </a:lnSpc>
              <a:buNone/>
            </a:pPr>
            <a:r>
              <a:rPr lang="en-US" altLang="zh-CN" sz="1800" dirty="0">
                <a:latin typeface="Microsoft YaHei" panose="020B0503020204020204" pitchFamily="34" charset="-122"/>
                <a:ea typeface="Microsoft YaHei" panose="020B0503020204020204" pitchFamily="34" charset="-122"/>
                <a:sym typeface="+mn-ea"/>
              </a:rPr>
              <a:t>   &lt;表名&gt;：要修改的基本表</a:t>
            </a:r>
            <a:endParaRPr lang="en-US" altLang="zh-CN" sz="1800" dirty="0">
              <a:latin typeface="Microsoft YaHei" panose="020B0503020204020204" pitchFamily="34" charset="-122"/>
              <a:ea typeface="Microsoft YaHei" panose="020B0503020204020204" pitchFamily="34" charset="-122"/>
            </a:endParaRPr>
          </a:p>
          <a:p>
            <a:pPr marL="257175" lvl="1" indent="-257175">
              <a:lnSpc>
                <a:spcPct val="90000"/>
              </a:lnSpc>
              <a:buNone/>
            </a:pPr>
            <a:r>
              <a:rPr lang="en-US" altLang="zh-CN" sz="1800" dirty="0">
                <a:latin typeface="Microsoft YaHei" panose="020B0503020204020204" pitchFamily="34" charset="-122"/>
                <a:ea typeface="Microsoft YaHei" panose="020B0503020204020204" pitchFamily="34" charset="-122"/>
                <a:sym typeface="+mn-ea"/>
              </a:rPr>
              <a:t>   ADD子句：增加新列和新的完整性约束条件</a:t>
            </a:r>
            <a:endParaRPr lang="en-US" altLang="zh-CN" sz="1800" dirty="0">
              <a:latin typeface="Microsoft YaHei" panose="020B0503020204020204" pitchFamily="34" charset="-122"/>
              <a:ea typeface="Microsoft YaHei" panose="020B0503020204020204" pitchFamily="34" charset="-122"/>
            </a:endParaRPr>
          </a:p>
          <a:p>
            <a:pPr marL="257175" lvl="1" indent="-257175">
              <a:lnSpc>
                <a:spcPct val="90000"/>
              </a:lnSpc>
              <a:buNone/>
            </a:pPr>
            <a:r>
              <a:rPr lang="en-US" altLang="zh-CN" sz="1800" dirty="0">
                <a:latin typeface="Microsoft YaHei" panose="020B0503020204020204" pitchFamily="34" charset="-122"/>
                <a:ea typeface="Microsoft YaHei" panose="020B0503020204020204" pitchFamily="34" charset="-122"/>
                <a:sym typeface="+mn-ea"/>
              </a:rPr>
              <a:t>   DROP子句：删除指定的列名</a:t>
            </a:r>
            <a:endParaRPr lang="en-US" altLang="zh-CN" sz="1800" dirty="0">
              <a:latin typeface="Microsoft YaHei" panose="020B0503020204020204" pitchFamily="34" charset="-122"/>
              <a:ea typeface="Microsoft YaHei" panose="020B0503020204020204" pitchFamily="34" charset="-122"/>
            </a:endParaRPr>
          </a:p>
          <a:p>
            <a:pPr marL="257175" lvl="1" indent="-257175">
              <a:lnSpc>
                <a:spcPct val="90000"/>
              </a:lnSpc>
              <a:buNone/>
            </a:pPr>
            <a:r>
              <a:rPr lang="en-US" altLang="zh-CN" sz="1800" dirty="0">
                <a:latin typeface="Microsoft YaHei" panose="020B0503020204020204" pitchFamily="34" charset="-122"/>
                <a:ea typeface="Microsoft YaHei" panose="020B0503020204020204" pitchFamily="34" charset="-122"/>
                <a:sym typeface="+mn-ea"/>
              </a:rPr>
              <a:t>    CASCADE：删除列，所有引用该列的视图和约束自动删除</a:t>
            </a:r>
          </a:p>
          <a:p>
            <a:pPr marL="257175" lvl="1" indent="-257175">
              <a:lnSpc>
                <a:spcPct val="90000"/>
              </a:lnSpc>
              <a:buNone/>
            </a:pPr>
            <a:r>
              <a:rPr lang="en-US" altLang="zh-CN" sz="1800" dirty="0">
                <a:latin typeface="Microsoft YaHei" panose="020B0503020204020204" pitchFamily="34" charset="-122"/>
                <a:ea typeface="Microsoft YaHei" panose="020B0503020204020204" pitchFamily="34" charset="-122"/>
                <a:sym typeface="+mn-ea"/>
              </a:rPr>
              <a:t>    RESTRICT：没有视图或约束引用该属性，才能删除</a:t>
            </a:r>
          </a:p>
          <a:p>
            <a:pPr marL="257175" lvl="1" indent="-257175">
              <a:lnSpc>
                <a:spcPct val="90000"/>
              </a:lnSpc>
              <a:buNone/>
            </a:pPr>
            <a:r>
              <a:rPr lang="en-US" altLang="zh-CN" sz="1800" dirty="0">
                <a:latin typeface="Microsoft YaHei" panose="020B0503020204020204" pitchFamily="34" charset="-122"/>
                <a:ea typeface="Microsoft YaHei" panose="020B0503020204020204" pitchFamily="34" charset="-122"/>
                <a:sym typeface="+mn-ea"/>
              </a:rPr>
              <a:t>   </a:t>
            </a:r>
            <a:r>
              <a:rPr lang="en-US" altLang="zh-CN" sz="1800" dirty="0" err="1">
                <a:latin typeface="Microsoft YaHei" panose="020B0503020204020204" pitchFamily="34" charset="-122"/>
                <a:ea typeface="Microsoft YaHei" panose="020B0503020204020204" pitchFamily="34" charset="-122"/>
                <a:sym typeface="+mn-ea"/>
              </a:rPr>
              <a:t>MODIFY子句：用于修改列名和数据类型</a:t>
            </a:r>
            <a:endParaRPr lang="zh-CN" altLang="en-US" sz="1800" dirty="0">
              <a:latin typeface="Microsoft YaHei" panose="020B0503020204020204" pitchFamily="34" charset="-122"/>
              <a:ea typeface="Microsoft YaHei" panose="020B0503020204020204" pitchFamily="34" charset="-122"/>
            </a:endParaRPr>
          </a:p>
          <a:p>
            <a:pPr eaLnBrk="1" hangingPunct="1">
              <a:buNone/>
            </a:pPr>
            <a:endParaRPr lang="zh-CN" altLang="en-US" sz="1800" dirty="0">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88886B5A-A28A-E216-36E8-9954BAD24C16}"/>
              </a:ext>
            </a:extLst>
          </p:cNvPr>
          <p:cNvSpPr>
            <a:spLocks noGrp="1"/>
          </p:cNvSpPr>
          <p:nvPr>
            <p:ph type="title"/>
          </p:nvPr>
        </p:nvSpPr>
        <p:spPr/>
        <p:txBody>
          <a:bodyPr/>
          <a:lstStyle/>
          <a:p>
            <a:r>
              <a:rPr lang="zh-CN" altLang="en-US" dirty="0"/>
              <a:t>表的修改</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1150734" y="1699001"/>
            <a:ext cx="6858000" cy="2648273"/>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zh-CN" altLang="en-US" sz="2400" b="1" dirty="0">
                <a:solidFill>
                  <a:srgbClr val="C00000"/>
                </a:solidFill>
                <a:latin typeface="Microsoft YaHei" panose="020B0503020204020204" pitchFamily="34" charset="-122"/>
                <a:ea typeface="Microsoft YaHei" panose="020B0503020204020204" pitchFamily="34" charset="-122"/>
              </a:rPr>
              <a:t>（</a:t>
            </a:r>
            <a:r>
              <a:rPr lang="en-US" altLang="zh-CN" sz="2400" b="1" dirty="0">
                <a:solidFill>
                  <a:srgbClr val="C00000"/>
                </a:solidFill>
                <a:latin typeface="Microsoft YaHei" panose="020B0503020204020204" pitchFamily="34" charset="-122"/>
                <a:ea typeface="Microsoft YaHei" panose="020B0503020204020204" pitchFamily="34" charset="-122"/>
              </a:rPr>
              <a:t>1</a:t>
            </a:r>
            <a:r>
              <a:rPr lang="zh-CN" altLang="en-US" sz="2400" b="1" dirty="0">
                <a:solidFill>
                  <a:srgbClr val="C00000"/>
                </a:solidFill>
                <a:latin typeface="Microsoft YaHei" panose="020B0503020204020204" pitchFamily="34" charset="-122"/>
                <a:ea typeface="Microsoft YaHei" panose="020B0503020204020204" pitchFamily="34" charset="-122"/>
              </a:rPr>
              <a:t>）在现存表中增加新列 </a:t>
            </a:r>
          </a:p>
          <a:p>
            <a:pPr eaLnBrk="1" hangingPunct="1">
              <a:buNone/>
            </a:pPr>
            <a:r>
              <a:rPr lang="zh-CN" altLang="en-US" sz="1800" dirty="0">
                <a:latin typeface="Microsoft YaHei" panose="020B0503020204020204" pitchFamily="34" charset="-122"/>
                <a:ea typeface="Microsoft YaHei" panose="020B0503020204020204" pitchFamily="34" charset="-122"/>
              </a:rPr>
              <a:t>  </a:t>
            </a:r>
            <a:r>
              <a:rPr lang="zh-CN" altLang="en-US" sz="1800" dirty="0">
                <a:solidFill>
                  <a:schemeClr val="hlink"/>
                </a:solidFill>
                <a:latin typeface="Microsoft YaHei" panose="020B0503020204020204" pitchFamily="34" charset="-122"/>
                <a:ea typeface="Microsoft YaHei" panose="020B0503020204020204" pitchFamily="34" charset="-122"/>
              </a:rPr>
              <a:t>格式：</a:t>
            </a:r>
            <a:r>
              <a:rPr lang="en-US" altLang="zh-CN" sz="1800" dirty="0">
                <a:latin typeface="Microsoft YaHei" panose="020B0503020204020204" pitchFamily="34" charset="-122"/>
                <a:ea typeface="Microsoft YaHei" panose="020B0503020204020204" pitchFamily="34" charset="-122"/>
              </a:rPr>
              <a:t>ALTER TABLE &lt;</a:t>
            </a:r>
            <a:r>
              <a:rPr lang="zh-CN" altLang="en-US" sz="1800" dirty="0">
                <a:latin typeface="Microsoft YaHei" panose="020B0503020204020204" pitchFamily="34" charset="-122"/>
                <a:ea typeface="Microsoft YaHei" panose="020B0503020204020204" pitchFamily="34" charset="-122"/>
              </a:rPr>
              <a:t>表名</a:t>
            </a:r>
            <a:r>
              <a:rPr lang="en-US" altLang="zh-CN" sz="1800" dirty="0">
                <a:latin typeface="Microsoft YaHei" panose="020B0503020204020204" pitchFamily="34" charset="-122"/>
                <a:ea typeface="Microsoft YaHei" panose="020B0503020204020204" pitchFamily="34" charset="-122"/>
              </a:rPr>
              <a:t>&gt; </a:t>
            </a:r>
          </a:p>
          <a:p>
            <a:pPr eaLnBrk="1" hangingPunct="1">
              <a:buNone/>
            </a:pPr>
            <a:r>
              <a:rPr lang="en-US" altLang="zh-CN" sz="1800" dirty="0">
                <a:latin typeface="Microsoft YaHei" panose="020B0503020204020204" pitchFamily="34" charset="-122"/>
                <a:ea typeface="Microsoft YaHei" panose="020B0503020204020204" pitchFamily="34" charset="-122"/>
              </a:rPr>
              <a:t>              ADD (&lt;</a:t>
            </a:r>
            <a:r>
              <a:rPr lang="zh-CN" altLang="en-US" sz="1800" dirty="0">
                <a:latin typeface="Microsoft YaHei" panose="020B0503020204020204" pitchFamily="34" charset="-122"/>
                <a:ea typeface="Microsoft YaHei" panose="020B0503020204020204" pitchFamily="34" charset="-122"/>
              </a:rPr>
              <a:t>列名</a:t>
            </a:r>
            <a:r>
              <a:rPr lang="en-US" altLang="zh-CN" sz="1800" dirty="0">
                <a:latin typeface="Microsoft YaHei" panose="020B0503020204020204" pitchFamily="34" charset="-122"/>
                <a:ea typeface="Microsoft YaHei" panose="020B0503020204020204" pitchFamily="34" charset="-122"/>
              </a:rPr>
              <a:t>&gt; &lt;</a:t>
            </a:r>
            <a:r>
              <a:rPr lang="zh-CN" altLang="en-US" sz="1800" dirty="0">
                <a:latin typeface="Microsoft YaHei" panose="020B0503020204020204" pitchFamily="34" charset="-122"/>
                <a:ea typeface="Microsoft YaHei" panose="020B0503020204020204" pitchFamily="34" charset="-122"/>
              </a:rPr>
              <a:t>数据类型</a:t>
            </a:r>
            <a:r>
              <a:rPr lang="en-US" altLang="zh-CN" sz="1800" dirty="0">
                <a:latin typeface="Microsoft YaHei" panose="020B0503020204020204" pitchFamily="34" charset="-122"/>
                <a:ea typeface="Microsoft YaHei" panose="020B0503020204020204" pitchFamily="34" charset="-122"/>
              </a:rPr>
              <a:t>&gt;</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 ) </a:t>
            </a:r>
          </a:p>
          <a:p>
            <a:pPr eaLnBrk="1" hangingPunct="1">
              <a:buNone/>
            </a:pPr>
            <a:endParaRPr lang="en-US" altLang="zh-CN" sz="1800" dirty="0">
              <a:latin typeface="Microsoft YaHei" panose="020B0503020204020204" pitchFamily="34" charset="-122"/>
              <a:ea typeface="Microsoft YaHei" panose="020B0503020204020204" pitchFamily="34" charset="-122"/>
            </a:endParaRPr>
          </a:p>
          <a:p>
            <a:pPr eaLnBrk="1" hangingPunct="1">
              <a:buNone/>
            </a:pPr>
            <a:r>
              <a:rPr lang="en-US" altLang="zh-CN" sz="1800"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例：</a:t>
            </a:r>
            <a:r>
              <a:rPr lang="en-US" altLang="zh-CN" sz="1800" dirty="0">
                <a:solidFill>
                  <a:schemeClr val="hlink"/>
                </a:solidFill>
                <a:latin typeface="Microsoft YaHei" panose="020B0503020204020204" pitchFamily="34" charset="-122"/>
                <a:ea typeface="Microsoft YaHei" panose="020B0503020204020204" pitchFamily="34" charset="-122"/>
              </a:rPr>
              <a:t>ALTER TABLE Student</a:t>
            </a:r>
          </a:p>
          <a:p>
            <a:pPr eaLnBrk="1" hangingPunct="1">
              <a:buNone/>
            </a:pPr>
            <a:r>
              <a:rPr lang="en-US" altLang="zh-CN" sz="1800" dirty="0">
                <a:solidFill>
                  <a:schemeClr val="hlink"/>
                </a:solidFill>
                <a:latin typeface="Microsoft YaHei" panose="020B0503020204020204" pitchFamily="34" charset="-122"/>
                <a:ea typeface="Microsoft YaHei" panose="020B0503020204020204" pitchFamily="34" charset="-122"/>
              </a:rPr>
              <a:t>       ADD (place CHAR(20)</a:t>
            </a:r>
            <a:r>
              <a:rPr lang="zh-CN" altLang="en-US" sz="1800" dirty="0">
                <a:solidFill>
                  <a:schemeClr val="hlink"/>
                </a:solidFill>
                <a:latin typeface="Microsoft YaHei" panose="020B0503020204020204" pitchFamily="34" charset="-122"/>
                <a:ea typeface="Microsoft YaHei" panose="020B0503020204020204" pitchFamily="34" charset="-122"/>
              </a:rPr>
              <a:t>，</a:t>
            </a:r>
            <a:r>
              <a:rPr lang="en-US" altLang="zh-CN" sz="1800" dirty="0">
                <a:solidFill>
                  <a:schemeClr val="hlink"/>
                </a:solidFill>
                <a:latin typeface="Microsoft YaHei" panose="020B0503020204020204" pitchFamily="34" charset="-122"/>
                <a:ea typeface="Microsoft YaHei" panose="020B0503020204020204" pitchFamily="34" charset="-122"/>
              </a:rPr>
              <a:t>addr CHAR(20))</a:t>
            </a:r>
            <a:r>
              <a:rPr lang="zh-CN" altLang="en-US" sz="1800" dirty="0">
                <a:solidFill>
                  <a:schemeClr val="hlink"/>
                </a:solidFill>
                <a:latin typeface="Microsoft YaHei" panose="020B0503020204020204" pitchFamily="34" charset="-122"/>
                <a:ea typeface="Microsoft YaHei" panose="020B0503020204020204" pitchFamily="34" charset="-122"/>
              </a:rPr>
              <a:t>；</a:t>
            </a:r>
            <a:endParaRPr lang="zh-CN" altLang="en-US" sz="1800" dirty="0">
              <a:latin typeface="Microsoft YaHei" panose="020B0503020204020204" pitchFamily="34" charset="-122"/>
              <a:ea typeface="Microsoft YaHei" panose="020B0503020204020204" pitchFamily="34" charset="-122"/>
            </a:endParaRPr>
          </a:p>
          <a:p>
            <a:pPr eaLnBrk="1" hangingPunct="1">
              <a:buNone/>
            </a:pPr>
            <a:endParaRPr lang="zh-CN" altLang="en-US" sz="1800" dirty="0">
              <a:latin typeface="Microsoft YaHei" panose="020B0503020204020204" pitchFamily="34" charset="-122"/>
              <a:ea typeface="Microsoft YaHei" panose="020B0503020204020204" pitchFamily="34" charset="-122"/>
            </a:endParaRPr>
          </a:p>
        </p:txBody>
      </p:sp>
      <p:sp>
        <p:nvSpPr>
          <p:cNvPr id="7" name="标题 6">
            <a:extLst>
              <a:ext uri="{FF2B5EF4-FFF2-40B4-BE49-F238E27FC236}">
                <a16:creationId xmlns:a16="http://schemas.microsoft.com/office/drawing/2014/main" id="{4D4F479D-63C8-0973-5801-6C492EBB93C0}"/>
              </a:ext>
            </a:extLst>
          </p:cNvPr>
          <p:cNvSpPr>
            <a:spLocks noGrp="1"/>
          </p:cNvSpPr>
          <p:nvPr>
            <p:ph type="title"/>
          </p:nvPr>
        </p:nvSpPr>
        <p:spPr/>
        <p:txBody>
          <a:bodyPr/>
          <a:lstStyle/>
          <a:p>
            <a:r>
              <a:rPr lang="zh-CN" altLang="en-US" dirty="0"/>
              <a:t>表的修改</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980784" y="946310"/>
            <a:ext cx="6858000" cy="3415439"/>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70485" indent="-70485" eaLnBrk="1" hangingPunct="1">
              <a:buNone/>
            </a:pPr>
            <a:r>
              <a:rPr lang="zh-CN" altLang="en-US" sz="1800" b="1" dirty="0">
                <a:solidFill>
                  <a:srgbClr val="C00000"/>
                </a:solidFill>
                <a:latin typeface="Microsoft YaHei" panose="020B0503020204020204" pitchFamily="34" charset="-122"/>
                <a:ea typeface="Microsoft YaHei" panose="020B0503020204020204" pitchFamily="34" charset="-122"/>
              </a:rPr>
              <a:t>（2）删除已存在的某个列 </a:t>
            </a:r>
          </a:p>
          <a:p>
            <a:pPr marL="70485" indent="-70485" eaLnBrk="1" hangingPunct="1">
              <a:buNone/>
            </a:pPr>
            <a:r>
              <a:rPr lang="zh-CN" altLang="en-US" sz="1800" b="1" dirty="0">
                <a:latin typeface="Microsoft YaHei" panose="020B0503020204020204" pitchFamily="34" charset="-122"/>
                <a:ea typeface="Microsoft YaHei" panose="020B0503020204020204" pitchFamily="34" charset="-122"/>
              </a:rPr>
              <a:t>  </a:t>
            </a:r>
            <a:r>
              <a:rPr lang="zh-CN" altLang="en-US" sz="1800" b="1" dirty="0">
                <a:solidFill>
                  <a:schemeClr val="hlink"/>
                </a:solidFill>
                <a:latin typeface="Microsoft YaHei" panose="020B0503020204020204" pitchFamily="34" charset="-122"/>
                <a:ea typeface="Microsoft YaHei" panose="020B0503020204020204" pitchFamily="34" charset="-122"/>
              </a:rPr>
              <a:t>格式：</a:t>
            </a:r>
            <a:r>
              <a:rPr lang="zh-CN" altLang="en-US" sz="1800" b="1" dirty="0">
                <a:latin typeface="Microsoft YaHei" panose="020B0503020204020204" pitchFamily="34" charset="-122"/>
                <a:ea typeface="Microsoft YaHei" panose="020B0503020204020204" pitchFamily="34" charset="-122"/>
              </a:rPr>
              <a:t>ALTER TABLE &lt;表名&gt;</a:t>
            </a:r>
          </a:p>
          <a:p>
            <a:pPr marL="70485" indent="-70485" eaLnBrk="1" hangingPunct="1">
              <a:buNone/>
            </a:pPr>
            <a:r>
              <a:rPr lang="zh-CN" altLang="en-US" sz="1800" b="1" dirty="0">
                <a:latin typeface="Microsoft YaHei" panose="020B0503020204020204" pitchFamily="34" charset="-122"/>
                <a:ea typeface="Microsoft YaHei" panose="020B0503020204020204" pitchFamily="34" charset="-122"/>
              </a:rPr>
              <a:t>        DROP &lt;列名&gt; [CASCADE | RESTRICT] </a:t>
            </a:r>
          </a:p>
          <a:p>
            <a:pPr marL="70485" indent="-70485" eaLnBrk="1" hangingPunct="1">
              <a:buNone/>
            </a:pPr>
            <a:r>
              <a:rPr lang="zh-CN" altLang="en-US" sz="1800" b="1" dirty="0">
                <a:latin typeface="Microsoft YaHei" panose="020B0503020204020204" pitchFamily="34" charset="-122"/>
                <a:ea typeface="Microsoft YaHei" panose="020B0503020204020204" pitchFamily="34" charset="-122"/>
              </a:rPr>
              <a:t> 例：</a:t>
            </a:r>
            <a:r>
              <a:rPr lang="zh-CN" altLang="en-US" sz="1800" b="1" dirty="0">
                <a:solidFill>
                  <a:schemeClr val="hlink"/>
                </a:solidFill>
                <a:latin typeface="Microsoft YaHei" panose="020B0503020204020204" pitchFamily="34" charset="-122"/>
                <a:ea typeface="Microsoft YaHei" panose="020B0503020204020204" pitchFamily="34" charset="-122"/>
              </a:rPr>
              <a:t>ALTER TABLE Student</a:t>
            </a:r>
          </a:p>
          <a:p>
            <a:pPr marL="70485" indent="-70485" eaLnBrk="1" hangingPunct="1">
              <a:buNone/>
            </a:pPr>
            <a:r>
              <a:rPr lang="zh-CN" altLang="en-US" sz="1800" b="1" dirty="0">
                <a:solidFill>
                  <a:schemeClr val="hlink"/>
                </a:solidFill>
                <a:latin typeface="Microsoft YaHei" panose="020B0503020204020204" pitchFamily="34" charset="-122"/>
                <a:ea typeface="Microsoft YaHei" panose="020B0503020204020204" pitchFamily="34" charset="-122"/>
              </a:rPr>
              <a:t>     DROP addr；</a:t>
            </a:r>
            <a:endParaRPr lang="en-US" altLang="zh-CN" sz="1800" b="1" dirty="0">
              <a:solidFill>
                <a:schemeClr val="hlink"/>
              </a:solidFill>
              <a:latin typeface="Microsoft YaHei" panose="020B0503020204020204" pitchFamily="34" charset="-122"/>
              <a:ea typeface="Microsoft YaHei" panose="020B0503020204020204" pitchFamily="34" charset="-122"/>
            </a:endParaRPr>
          </a:p>
          <a:p>
            <a:pPr marL="70485" indent="-70485" eaLnBrk="1" hangingPunct="1">
              <a:buNone/>
            </a:pPr>
            <a:endParaRPr lang="zh-CN" altLang="en-US" sz="1800" b="1" dirty="0">
              <a:solidFill>
                <a:schemeClr val="hlink"/>
              </a:solidFill>
              <a:latin typeface="Microsoft YaHei" panose="020B0503020204020204" pitchFamily="34" charset="-122"/>
              <a:ea typeface="Microsoft YaHei" panose="020B0503020204020204" pitchFamily="34" charset="-122"/>
            </a:endParaRPr>
          </a:p>
          <a:p>
            <a:pPr marL="70485" indent="-70485" eaLnBrk="1" hangingPunct="1">
              <a:buNone/>
            </a:pPr>
            <a:r>
              <a:rPr lang="zh-CN" altLang="en-US" sz="1800" b="1" dirty="0">
                <a:solidFill>
                  <a:srgbClr val="C00000"/>
                </a:solidFill>
                <a:latin typeface="Microsoft YaHei" panose="020B0503020204020204" pitchFamily="34" charset="-122"/>
                <a:ea typeface="Microsoft YaHei" panose="020B0503020204020204" pitchFamily="34" charset="-122"/>
              </a:rPr>
              <a:t>（3）修改原有列的类型 </a:t>
            </a:r>
          </a:p>
          <a:p>
            <a:pPr marL="70485" indent="-70485" eaLnBrk="1" hangingPunct="1">
              <a:buNone/>
            </a:pPr>
            <a:r>
              <a:rPr lang="zh-CN" altLang="en-US" sz="1800" b="1" dirty="0">
                <a:latin typeface="Microsoft YaHei" panose="020B0503020204020204" pitchFamily="34" charset="-122"/>
                <a:ea typeface="Microsoft YaHei" panose="020B0503020204020204" pitchFamily="34" charset="-122"/>
              </a:rPr>
              <a:t>   </a:t>
            </a:r>
            <a:r>
              <a:rPr lang="zh-CN" altLang="en-US" sz="1800" b="1" dirty="0">
                <a:solidFill>
                  <a:schemeClr val="hlink"/>
                </a:solidFill>
                <a:latin typeface="Microsoft YaHei" panose="020B0503020204020204" pitchFamily="34" charset="-122"/>
                <a:ea typeface="Microsoft YaHei" panose="020B0503020204020204" pitchFamily="34" charset="-122"/>
              </a:rPr>
              <a:t>格式：</a:t>
            </a:r>
            <a:r>
              <a:rPr lang="zh-CN" altLang="en-US" sz="1800" b="1" dirty="0">
                <a:latin typeface="Microsoft YaHei" panose="020B0503020204020204" pitchFamily="34" charset="-122"/>
                <a:ea typeface="Microsoft YaHei" panose="020B0503020204020204" pitchFamily="34" charset="-122"/>
              </a:rPr>
              <a:t>ALTER TABLE &lt;表名&gt;</a:t>
            </a:r>
          </a:p>
          <a:p>
            <a:pPr marL="70485" indent="-70485" algn="just" eaLnBrk="1" hangingPunct="1">
              <a:buNone/>
            </a:pPr>
            <a:r>
              <a:rPr lang="zh-CN" altLang="en-US" sz="1800" b="1" dirty="0">
                <a:latin typeface="Microsoft YaHei" panose="020B0503020204020204" pitchFamily="34" charset="-122"/>
                <a:ea typeface="Microsoft YaHei" panose="020B0503020204020204" pitchFamily="34" charset="-122"/>
              </a:rPr>
              <a:t>         MODIFY &lt;列名&gt; &lt;类型&gt;；</a:t>
            </a:r>
          </a:p>
          <a:p>
            <a:pPr marL="70485" indent="-70485" algn="just" eaLnBrk="1" hangingPunct="1">
              <a:buNone/>
            </a:pPr>
            <a:r>
              <a:rPr lang="zh-CN" altLang="en-US" sz="1800" b="1" dirty="0">
                <a:latin typeface="Microsoft YaHei" panose="020B0503020204020204" pitchFamily="34" charset="-122"/>
                <a:ea typeface="Microsoft YaHei" panose="020B0503020204020204" pitchFamily="34" charset="-122"/>
              </a:rPr>
              <a:t>例：</a:t>
            </a:r>
            <a:r>
              <a:rPr lang="zh-CN" altLang="en-US" sz="1800" b="1" dirty="0">
                <a:solidFill>
                  <a:schemeClr val="hlink"/>
                </a:solidFill>
                <a:latin typeface="Microsoft YaHei" panose="020B0503020204020204" pitchFamily="34" charset="-122"/>
                <a:ea typeface="Microsoft YaHei" panose="020B0503020204020204" pitchFamily="34" charset="-122"/>
              </a:rPr>
              <a:t>ALTER TABLE Student</a:t>
            </a:r>
          </a:p>
          <a:p>
            <a:pPr marL="70485" indent="-70485" algn="just" eaLnBrk="1" hangingPunct="1">
              <a:buNone/>
            </a:pPr>
            <a:r>
              <a:rPr lang="zh-CN" altLang="en-US" sz="1800" b="1" dirty="0">
                <a:solidFill>
                  <a:schemeClr val="hlink"/>
                </a:solidFill>
                <a:latin typeface="Microsoft YaHei" panose="020B0503020204020204" pitchFamily="34" charset="-122"/>
                <a:ea typeface="Microsoft YaHei" panose="020B0503020204020204" pitchFamily="34" charset="-122"/>
              </a:rPr>
              <a:t>    MODIFY place CHAR(8)；</a:t>
            </a:r>
            <a:r>
              <a:rPr lang="zh-CN" altLang="en-US" sz="2100" b="1" dirty="0">
                <a:latin typeface="Microsoft YaHei" panose="020B0503020204020204" pitchFamily="34" charset="-122"/>
                <a:ea typeface="Microsoft YaHei" panose="020B0503020204020204" pitchFamily="34" charset="-122"/>
              </a:rPr>
              <a:t> </a:t>
            </a:r>
          </a:p>
        </p:txBody>
      </p:sp>
      <p:sp>
        <p:nvSpPr>
          <p:cNvPr id="5" name="标题 4">
            <a:extLst>
              <a:ext uri="{FF2B5EF4-FFF2-40B4-BE49-F238E27FC236}">
                <a16:creationId xmlns:a16="http://schemas.microsoft.com/office/drawing/2014/main" id="{3262812F-CB9C-4DC8-7F19-3C838AD8F5E9}"/>
              </a:ext>
            </a:extLst>
          </p:cNvPr>
          <p:cNvSpPr>
            <a:spLocks noGrp="1"/>
          </p:cNvSpPr>
          <p:nvPr>
            <p:ph type="title"/>
          </p:nvPr>
        </p:nvSpPr>
        <p:spPr/>
        <p:txBody>
          <a:bodyPr/>
          <a:lstStyle/>
          <a:p>
            <a:r>
              <a:rPr lang="zh-CN" altLang="en-US" dirty="0"/>
              <a:t>表的修改</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p:cNvSpPr>
          <p:nvPr>
            <p:ph idx="1"/>
          </p:nvPr>
        </p:nvSpPr>
        <p:spPr>
          <a:xfrm>
            <a:off x="628650" y="1410345"/>
            <a:ext cx="7886700" cy="3343973"/>
          </a:xfrm>
        </p:spPr>
        <p:txBody>
          <a:bodyPr vert="horz" wrap="square" lIns="68580" tIns="34290" rIns="68580" bIns="34290" anchor="t" anchorCtr="0"/>
          <a:lstStyle/>
          <a:p>
            <a:pPr marL="0" indent="0">
              <a:buNone/>
            </a:pPr>
            <a:r>
              <a:rPr lang="zh-CN" altLang="en-US" sz="1800" b="1" dirty="0">
                <a:solidFill>
                  <a:srgbClr val="C00000"/>
                </a:solidFill>
              </a:rPr>
              <a:t>（4）补充定义主键 </a:t>
            </a:r>
          </a:p>
          <a:p>
            <a:pPr marL="0" indent="0">
              <a:buNone/>
            </a:pPr>
            <a:r>
              <a:rPr lang="zh-CN" altLang="en-US" sz="1800" b="1" dirty="0"/>
              <a:t> </a:t>
            </a:r>
            <a:r>
              <a:rPr lang="zh-CN" altLang="en-US" sz="1800" b="1" dirty="0">
                <a:solidFill>
                  <a:schemeClr val="hlink"/>
                </a:solidFill>
              </a:rPr>
              <a:t>格式：</a:t>
            </a:r>
            <a:r>
              <a:rPr lang="zh-CN" altLang="en-US" sz="1800" b="1" dirty="0"/>
              <a:t>ALTER TABLE &lt;表名&gt;</a:t>
            </a:r>
          </a:p>
          <a:p>
            <a:pPr marL="0" indent="0" algn="just">
              <a:buNone/>
            </a:pPr>
            <a:r>
              <a:rPr lang="zh-CN" altLang="en-US" sz="1800" b="1" dirty="0"/>
              <a:t>       </a:t>
            </a:r>
            <a:r>
              <a:rPr lang="en-US" altLang="zh-CN" sz="1800" b="1" dirty="0"/>
              <a:t>   </a:t>
            </a:r>
            <a:r>
              <a:rPr lang="zh-CN" altLang="en-US" sz="1800" b="1" dirty="0"/>
              <a:t>ADD PRIMARY KEY (&lt;列名表&gt; )</a:t>
            </a:r>
          </a:p>
        </p:txBody>
      </p:sp>
      <p:sp>
        <p:nvSpPr>
          <p:cNvPr id="27652" name="Text Box 4"/>
          <p:cNvSpPr txBox="1"/>
          <p:nvPr/>
        </p:nvSpPr>
        <p:spPr>
          <a:xfrm>
            <a:off x="628650" y="2960176"/>
            <a:ext cx="6343650" cy="1144929"/>
          </a:xfrm>
          <a:prstGeom prst="rect">
            <a:avLst/>
          </a:prstGeom>
          <a:noFill/>
          <a:ln w="9525">
            <a:noFill/>
          </a:ln>
        </p:spPr>
        <p:txBody>
          <a:bodyPr>
            <a:spAutoFit/>
          </a:bodyPr>
          <a:lstStyle/>
          <a:p>
            <a:pPr>
              <a:spcBef>
                <a:spcPct val="50000"/>
              </a:spcBef>
            </a:pPr>
            <a:r>
              <a:rPr lang="zh-CN" altLang="en-US" b="1" dirty="0">
                <a:solidFill>
                  <a:srgbClr val="C00000"/>
                </a:solidFill>
                <a:latin typeface="Microsoft YaHei" panose="020B0503020204020204" pitchFamily="34" charset="-122"/>
                <a:ea typeface="Microsoft YaHei" panose="020B0503020204020204" pitchFamily="34" charset="-122"/>
              </a:rPr>
              <a:t>（5）删除主键 </a:t>
            </a:r>
          </a:p>
          <a:p>
            <a:pPr>
              <a:lnSpc>
                <a:spcPct val="90000"/>
              </a:lnSpc>
              <a:spcBef>
                <a:spcPct val="50000"/>
              </a:spcBef>
            </a:pPr>
            <a:r>
              <a:rPr lang="zh-CN" altLang="en-US" b="1" dirty="0">
                <a:latin typeface="Microsoft YaHei" panose="020B0503020204020204" pitchFamily="34" charset="-122"/>
                <a:ea typeface="Microsoft YaHei" panose="020B0503020204020204" pitchFamily="34" charset="-122"/>
              </a:rPr>
              <a:t> </a:t>
            </a:r>
            <a:r>
              <a:rPr lang="zh-CN" altLang="en-US" b="1" dirty="0">
                <a:solidFill>
                  <a:schemeClr val="hlink"/>
                </a:solidFill>
                <a:latin typeface="Microsoft YaHei" panose="020B0503020204020204" pitchFamily="34" charset="-122"/>
                <a:ea typeface="Microsoft YaHei" panose="020B0503020204020204" pitchFamily="34" charset="-122"/>
              </a:rPr>
              <a:t>格式：</a:t>
            </a:r>
            <a:r>
              <a:rPr lang="zh-CN" altLang="en-US" b="1" dirty="0">
                <a:latin typeface="Microsoft YaHei" panose="020B0503020204020204" pitchFamily="34" charset="-122"/>
                <a:ea typeface="Microsoft YaHei" panose="020B0503020204020204" pitchFamily="34" charset="-122"/>
              </a:rPr>
              <a:t>ALTER TABLE &lt;表名&gt;</a:t>
            </a:r>
          </a:p>
          <a:p>
            <a:pPr algn="just">
              <a:lnSpc>
                <a:spcPct val="90000"/>
              </a:lnSpc>
              <a:spcBef>
                <a:spcPct val="50000"/>
              </a:spcBef>
            </a:pPr>
            <a:r>
              <a:rPr lang="zh-CN" altLang="en-US" b="1" dirty="0">
                <a:latin typeface="Microsoft YaHei" panose="020B0503020204020204" pitchFamily="34" charset="-122"/>
                <a:ea typeface="Microsoft YaHei" panose="020B0503020204020204" pitchFamily="34" charset="-122"/>
              </a:rPr>
              <a:t>       </a:t>
            </a:r>
            <a:r>
              <a:rPr lang="en-US" altLang="zh-CN" b="1" dirty="0">
                <a:latin typeface="Microsoft YaHei" panose="020B0503020204020204" pitchFamily="34" charset="-122"/>
                <a:ea typeface="Microsoft YaHei" panose="020B0503020204020204" pitchFamily="34" charset="-122"/>
              </a:rPr>
              <a:t>   </a:t>
            </a:r>
            <a:r>
              <a:rPr lang="zh-CN" altLang="en-US" b="1" dirty="0">
                <a:latin typeface="Microsoft YaHei" panose="020B0503020204020204" pitchFamily="34" charset="-122"/>
                <a:ea typeface="Microsoft YaHei" panose="020B0503020204020204" pitchFamily="34" charset="-122"/>
              </a:rPr>
              <a:t>DROP PRIMARY KEY</a:t>
            </a:r>
          </a:p>
        </p:txBody>
      </p:sp>
      <p:pic>
        <p:nvPicPr>
          <p:cNvPr id="27653" name="Picture 5" descr="0212"/>
          <p:cNvPicPr>
            <a:picLocks noChangeAspect="1"/>
          </p:cNvPicPr>
          <p:nvPr/>
        </p:nvPicPr>
        <p:blipFill>
          <a:blip r:embed="rId2"/>
          <a:stretch>
            <a:fillRect/>
          </a:stretch>
        </p:blipFill>
        <p:spPr>
          <a:xfrm>
            <a:off x="7086600" y="2696918"/>
            <a:ext cx="1943100" cy="2057400"/>
          </a:xfrm>
          <a:prstGeom prst="rect">
            <a:avLst/>
          </a:prstGeom>
          <a:noFill/>
          <a:ln w="9525">
            <a:noFill/>
          </a:ln>
        </p:spPr>
      </p:pic>
      <p:sp>
        <p:nvSpPr>
          <p:cNvPr id="3" name="标题 2">
            <a:extLst>
              <a:ext uri="{FF2B5EF4-FFF2-40B4-BE49-F238E27FC236}">
                <a16:creationId xmlns:a16="http://schemas.microsoft.com/office/drawing/2014/main" id="{12327495-73D9-F9E3-8BCD-7143C47E4FD9}"/>
              </a:ext>
            </a:extLst>
          </p:cNvPr>
          <p:cNvSpPr>
            <a:spLocks noGrp="1"/>
          </p:cNvSpPr>
          <p:nvPr>
            <p:ph type="title"/>
          </p:nvPr>
        </p:nvSpPr>
        <p:spPr/>
        <p:txBody>
          <a:bodyPr/>
          <a:lstStyle/>
          <a:p>
            <a:r>
              <a:rPr lang="zh-CN" altLang="en-US" dirty="0"/>
              <a:t>表的修改</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373494" y="1358329"/>
            <a:ext cx="8412480" cy="3157125"/>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zh-CN" altLang="en-US" sz="1800" dirty="0">
                <a:latin typeface="Microsoft YaHei" panose="020B0503020204020204" pitchFamily="34" charset="-122"/>
                <a:ea typeface="Microsoft YaHei" panose="020B0503020204020204" pitchFamily="34" charset="-122"/>
              </a:rPr>
              <a:t>域定义用于建立用户自定义的数据类型。避免同样的约束随基础数据类型反复定义。</a:t>
            </a:r>
          </a:p>
          <a:p>
            <a:pPr eaLnBrk="1" hangingPunct="1"/>
            <a:r>
              <a:rPr lang="zh-CN" altLang="en-US" sz="1800" b="1" dirty="0">
                <a:solidFill>
                  <a:schemeClr val="hlink"/>
                </a:solidFill>
                <a:latin typeface="Microsoft YaHei" panose="020B0503020204020204" pitchFamily="34" charset="-122"/>
                <a:ea typeface="Microsoft YaHei" panose="020B0503020204020204" pitchFamily="34" charset="-122"/>
              </a:rPr>
              <a:t>命令格式：</a:t>
            </a:r>
          </a:p>
          <a:p>
            <a:pPr eaLnBrk="1" hangingPunct="1">
              <a:buNone/>
            </a:pPr>
            <a:r>
              <a:rPr lang="zh-CN" altLang="en-US" sz="1800" dirty="0">
                <a:latin typeface="Microsoft YaHei" panose="020B0503020204020204" pitchFamily="34" charset="-122"/>
                <a:ea typeface="Microsoft YaHei" panose="020B0503020204020204" pitchFamily="34" charset="-122"/>
              </a:rPr>
              <a:t>  CREATE DOMAIN &lt;域名&gt; [AS] &lt;数据类型&gt;</a:t>
            </a:r>
          </a:p>
          <a:p>
            <a:pPr eaLnBrk="1" hangingPunct="1">
              <a:buNone/>
            </a:pPr>
            <a:r>
              <a:rPr lang="zh-CN" altLang="en-US" sz="1800" dirty="0">
                <a:latin typeface="Microsoft YaHei" panose="020B0503020204020204" pitchFamily="34" charset="-122"/>
                <a:ea typeface="Microsoft YaHei" panose="020B0503020204020204" pitchFamily="34" charset="-122"/>
              </a:rPr>
              <a:t>     [DEFAULT &lt;缺省值&gt;] [&lt;域约束&gt;]</a:t>
            </a:r>
          </a:p>
          <a:p>
            <a:pPr eaLnBrk="1" hangingPunct="1">
              <a:buNone/>
            </a:pPr>
            <a:endParaRPr lang="zh-CN" altLang="en-US" sz="1800" b="1" dirty="0">
              <a:latin typeface="Microsoft YaHei" panose="020B0503020204020204" pitchFamily="34" charset="-122"/>
              <a:ea typeface="Microsoft YaHei" panose="020B0503020204020204" pitchFamily="34" charset="-122"/>
            </a:endParaRPr>
          </a:p>
          <a:p>
            <a:pPr eaLnBrk="1" hangingPunct="1">
              <a:buNone/>
            </a:pPr>
            <a:r>
              <a:rPr lang="zh-CN" altLang="en-US" sz="1800" b="1" dirty="0">
                <a:solidFill>
                  <a:schemeClr val="hlink"/>
                </a:solidFill>
                <a:latin typeface="Microsoft YaHei" panose="020B0503020204020204" pitchFamily="34" charset="-122"/>
                <a:ea typeface="Microsoft YaHei" panose="020B0503020204020204" pitchFamily="34" charset="-122"/>
              </a:rPr>
              <a:t>[例]</a:t>
            </a:r>
            <a:r>
              <a:rPr lang="zh-CN" altLang="en-US" sz="1800" b="1" dirty="0">
                <a:latin typeface="Microsoft YaHei" panose="020B0503020204020204" pitchFamily="34" charset="-122"/>
                <a:ea typeface="Microsoft YaHei" panose="020B0503020204020204" pitchFamily="34" charset="-122"/>
              </a:rPr>
              <a:t>   </a:t>
            </a:r>
            <a:r>
              <a:rPr lang="zh-CN" altLang="en-US" sz="1800" dirty="0">
                <a:solidFill>
                  <a:schemeClr val="hlink"/>
                </a:solidFill>
                <a:latin typeface="Microsoft YaHei" panose="020B0503020204020204" pitchFamily="34" charset="-122"/>
                <a:ea typeface="Microsoft YaHei" panose="020B0503020204020204" pitchFamily="34" charset="-122"/>
              </a:rPr>
              <a:t>CRETE DOMAIN </a:t>
            </a:r>
            <a:r>
              <a:rPr lang="en-US" altLang="zh-CN" sz="1800" dirty="0">
                <a:solidFill>
                  <a:schemeClr val="hlink"/>
                </a:solidFill>
                <a:latin typeface="Microsoft YaHei" panose="020B0503020204020204" pitchFamily="34" charset="-122"/>
                <a:ea typeface="Microsoft YaHei" panose="020B0503020204020204" pitchFamily="34" charset="-122"/>
              </a:rPr>
              <a:t>item</a:t>
            </a:r>
            <a:r>
              <a:rPr lang="zh-CN" altLang="en-US" sz="1800" dirty="0">
                <a:solidFill>
                  <a:schemeClr val="hlink"/>
                </a:solidFill>
                <a:latin typeface="Microsoft YaHei" panose="020B0503020204020204" pitchFamily="34" charset="-122"/>
                <a:ea typeface="Microsoft YaHei" panose="020B0503020204020204" pitchFamily="34" charset="-122"/>
              </a:rPr>
              <a:t>_</a:t>
            </a:r>
            <a:r>
              <a:rPr lang="en-US" altLang="zh-CN" sz="1800" dirty="0">
                <a:solidFill>
                  <a:schemeClr val="hlink"/>
                </a:solidFill>
                <a:latin typeface="Microsoft YaHei" panose="020B0503020204020204" pitchFamily="34" charset="-122"/>
                <a:ea typeface="Microsoft YaHei" panose="020B0503020204020204" pitchFamily="34" charset="-122"/>
              </a:rPr>
              <a:t>id</a:t>
            </a:r>
            <a:r>
              <a:rPr lang="zh-CN" altLang="en-US" sz="1800" dirty="0">
                <a:solidFill>
                  <a:schemeClr val="hlink"/>
                </a:solidFill>
                <a:latin typeface="Microsoft YaHei" panose="020B0503020204020204" pitchFamily="34" charset="-122"/>
                <a:ea typeface="Microsoft YaHei" panose="020B0503020204020204" pitchFamily="34" charset="-122"/>
              </a:rPr>
              <a:t> NUMBERIC(4) DEFAULT 0</a:t>
            </a:r>
          </a:p>
          <a:p>
            <a:pPr eaLnBrk="1" hangingPunct="1">
              <a:buNone/>
            </a:pPr>
            <a:r>
              <a:rPr lang="zh-CN" altLang="en-US" sz="1800" dirty="0">
                <a:solidFill>
                  <a:schemeClr val="hlink"/>
                </a:solidFill>
                <a:latin typeface="Microsoft YaHei" panose="020B0503020204020204" pitchFamily="34" charset="-122"/>
                <a:ea typeface="Microsoft YaHei" panose="020B0503020204020204" pitchFamily="34" charset="-122"/>
              </a:rPr>
              <a:t>       </a:t>
            </a:r>
            <a:r>
              <a:rPr lang="en-US" altLang="zh-CN" sz="1800" dirty="0">
                <a:solidFill>
                  <a:schemeClr val="hlink"/>
                </a:solidFill>
                <a:latin typeface="Microsoft YaHei" panose="020B0503020204020204" pitchFamily="34" charset="-122"/>
                <a:ea typeface="Microsoft YaHei" panose="020B0503020204020204" pitchFamily="34" charset="-122"/>
              </a:rPr>
              <a:t>    </a:t>
            </a:r>
            <a:r>
              <a:rPr lang="zh-CN" altLang="en-US" sz="1800" dirty="0">
                <a:solidFill>
                  <a:schemeClr val="hlink"/>
                </a:solidFill>
                <a:latin typeface="Microsoft YaHei" panose="020B0503020204020204" pitchFamily="34" charset="-122"/>
                <a:ea typeface="Microsoft YaHei" panose="020B0503020204020204" pitchFamily="34" charset="-122"/>
              </a:rPr>
              <a:t>CHECK (VALUE IS NOT NULL)</a:t>
            </a:r>
          </a:p>
          <a:p>
            <a:pPr eaLnBrk="1" hangingPunct="1">
              <a:buNone/>
            </a:pPr>
            <a:r>
              <a:rPr lang="zh-CN" altLang="en-US" sz="1800" dirty="0">
                <a:solidFill>
                  <a:schemeClr val="hlink"/>
                </a:solidFill>
                <a:latin typeface="Microsoft YaHei" panose="020B0503020204020204" pitchFamily="34" charset="-122"/>
                <a:ea typeface="Microsoft YaHei" panose="020B0503020204020204" pitchFamily="34" charset="-122"/>
              </a:rPr>
              <a:t> </a:t>
            </a:r>
            <a:r>
              <a:rPr lang="en-US" altLang="zh-CN" sz="1800" dirty="0">
                <a:solidFill>
                  <a:schemeClr val="hlink"/>
                </a:solidFill>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sym typeface="+mn-ea"/>
              </a:rPr>
              <a:t>定义了一个域类型，名为 item_id  ，允许值为4位数字，默认值为零并限制其值非空。</a:t>
            </a:r>
            <a:endParaRPr lang="zh-CN" altLang="en-US" sz="1800" dirty="0">
              <a:solidFill>
                <a:schemeClr val="hlink"/>
              </a:solidFill>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D5576EE3-6DDC-EC48-4FFA-899B436B064E}"/>
              </a:ext>
            </a:extLst>
          </p:cNvPr>
          <p:cNvSpPr>
            <a:spLocks noGrp="1"/>
          </p:cNvSpPr>
          <p:nvPr>
            <p:ph type="title"/>
          </p:nvPr>
        </p:nvSpPr>
        <p:spPr/>
        <p:txBody>
          <a:bodyPr/>
          <a:lstStyle/>
          <a:p>
            <a:r>
              <a:rPr lang="zh-CN" altLang="en-US" dirty="0"/>
              <a:t>域定义</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7840F-E8F3-AE62-2BA0-A07094E759F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340EDB3-B849-A762-D3D5-450FCE04D241}"/>
              </a:ext>
            </a:extLst>
          </p:cNvPr>
          <p:cNvSpPr txBox="1"/>
          <p:nvPr/>
        </p:nvSpPr>
        <p:spPr>
          <a:xfrm>
            <a:off x="1006545" y="2781596"/>
            <a:ext cx="7458075" cy="642035"/>
          </a:xfrm>
          <a:prstGeom prst="rect">
            <a:avLst/>
          </a:prstGeom>
          <a:noFill/>
          <a:ln/>
        </p:spPr>
        <p:txBody>
          <a:bodyPr wrap="square" lIns="0" tIns="0" rIns="0" bIns="0" rtlCol="0" anchor="t">
            <a:spAutoFit/>
          </a:bodyPr>
          <a:lstStyle/>
          <a:p>
            <a:pPr marL="0" indent="0" algn="l">
              <a:lnSpc>
                <a:spcPct val="96000"/>
              </a:lnSpc>
              <a:buNone/>
            </a:pPr>
            <a:r>
              <a:rPr lang="en-US" altLang="zh-CN" sz="4346" b="1" dirty="0">
                <a:solidFill>
                  <a:srgbClr val="414141"/>
                </a:solidFill>
                <a:latin typeface="Microsoft YaHei" panose="020B0503020204020204" pitchFamily="34" charset="-122"/>
                <a:ea typeface="Microsoft YaHei" panose="020B0503020204020204" pitchFamily="34" charset="-122"/>
                <a:cs typeface="SourceHanSansSC-Regular"/>
              </a:rPr>
              <a:t>DML</a:t>
            </a: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语言</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7487E227-BFE4-4E66-2D6E-A24BC9D81191}"/>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CDAA29D1-1DA2-1B61-E88F-107E8E4A7A44}"/>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E6863DE3-AF37-327F-7560-93DFBC0C09B3}"/>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2DF98313-B697-B326-ADFA-AFD1EEBAB9F0}"/>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3C2A6FCC-BF16-0229-040D-71DA8E6F9DDE}"/>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BE1DB27F-E620-EB17-9F33-E58AF882C163}"/>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0B8D6270-98DA-1E40-ED5D-0316F6A12DF2}"/>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7B7B77AA-F080-D425-41E3-C29B70A39B7C}"/>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2E1C2B86-FA01-D666-D4A2-C536F5830F18}"/>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8CCB6021-701A-53F6-20DC-39B34603F843}"/>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DC61E705-B1BC-E8B5-C84E-EF0D67D6C480}"/>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651C2CAC-C54D-DAB9-DEE5-9A00CC140E93}"/>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1746C622-564E-0914-3217-9AF4EEC46EAD}"/>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6C1601DF-705F-223F-9803-AD912DD1192A}"/>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0126D15C-B4A5-9F76-6045-A72A189118A2}"/>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3</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056743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p:cNvSpPr>
          <p:nvPr>
            <p:ph sz="half" idx="1"/>
          </p:nvPr>
        </p:nvSpPr>
        <p:spPr>
          <a:xfrm>
            <a:off x="518517" y="1308316"/>
            <a:ext cx="4238625" cy="1485900"/>
          </a:xfrm>
        </p:spPr>
        <p:txBody>
          <a:bodyPr vert="horz" wrap="square" lIns="68580" tIns="34290" rIns="68580" bIns="34290" rtlCol="0" anchor="t" anchorCtr="0">
            <a:normAutofit/>
          </a:bodyPr>
          <a:lstStyle/>
          <a:p>
            <a:pPr marL="0" indent="0" eaLnBrk="1" hangingPunct="1">
              <a:lnSpc>
                <a:spcPct val="90000"/>
              </a:lnSpc>
              <a:buSzPct val="60000"/>
              <a:buNone/>
            </a:pPr>
            <a:r>
              <a:rPr lang="zh-CN" altLang="en-US" sz="1800" b="1" dirty="0">
                <a:solidFill>
                  <a:schemeClr val="hlink"/>
                </a:solidFill>
              </a:rPr>
              <a:t>基本形式：</a:t>
            </a:r>
          </a:p>
          <a:p>
            <a:pPr eaLnBrk="1" hangingPunct="1">
              <a:lnSpc>
                <a:spcPct val="90000"/>
              </a:lnSpc>
              <a:buSzPct val="60000"/>
              <a:buFont typeface="Wingdings" panose="05000000000000000000" pitchFamily="2" charset="2"/>
              <a:buChar char="Ø"/>
            </a:pPr>
            <a:r>
              <a:rPr lang="en-US" altLang="zh-CN" sz="1800" b="1" dirty="0">
                <a:solidFill>
                  <a:srgbClr val="000099"/>
                </a:solidFill>
              </a:rPr>
              <a:t>SELECT  &lt;A&gt;</a:t>
            </a:r>
            <a:endParaRPr lang="en-US" altLang="zh-CN" sz="1800" dirty="0">
              <a:solidFill>
                <a:srgbClr val="000099"/>
              </a:solidFill>
            </a:endParaRPr>
          </a:p>
          <a:p>
            <a:pPr eaLnBrk="1" hangingPunct="1">
              <a:lnSpc>
                <a:spcPct val="90000"/>
              </a:lnSpc>
              <a:buSzPct val="60000"/>
              <a:buFont typeface="Wingdings" panose="05000000000000000000" pitchFamily="2" charset="2"/>
              <a:buChar char="Ø"/>
            </a:pPr>
            <a:r>
              <a:rPr lang="en-US" altLang="zh-CN" sz="1800" b="1" dirty="0">
                <a:solidFill>
                  <a:srgbClr val="000099"/>
                </a:solidFill>
              </a:rPr>
              <a:t>FROM    &lt;R&gt;</a:t>
            </a:r>
            <a:endParaRPr lang="en-US" altLang="zh-CN" sz="1800" dirty="0">
              <a:solidFill>
                <a:srgbClr val="000099"/>
              </a:solidFill>
            </a:endParaRPr>
          </a:p>
          <a:p>
            <a:pPr eaLnBrk="1" hangingPunct="1">
              <a:lnSpc>
                <a:spcPct val="90000"/>
              </a:lnSpc>
              <a:buSzPct val="60000"/>
              <a:buFont typeface="Wingdings" panose="05000000000000000000" pitchFamily="2" charset="2"/>
              <a:buChar char="Ø"/>
            </a:pPr>
            <a:r>
              <a:rPr lang="en-US" altLang="zh-CN" sz="1800" b="1" dirty="0">
                <a:solidFill>
                  <a:srgbClr val="000099"/>
                </a:solidFill>
              </a:rPr>
              <a:t>WHERE   &lt;F&gt;;</a:t>
            </a:r>
            <a:endParaRPr lang="en-US" altLang="zh-CN" sz="1800" dirty="0">
              <a:solidFill>
                <a:srgbClr val="000099"/>
              </a:solidFill>
            </a:endParaRPr>
          </a:p>
        </p:txBody>
      </p:sp>
      <p:sp>
        <p:nvSpPr>
          <p:cNvPr id="28676" name="Rectangle 4"/>
          <p:cNvSpPr>
            <a:spLocks noGrp="1"/>
          </p:cNvSpPr>
          <p:nvPr>
            <p:ph sz="half" idx="2"/>
          </p:nvPr>
        </p:nvSpPr>
        <p:spPr>
          <a:xfrm>
            <a:off x="4766666" y="1600281"/>
            <a:ext cx="4301728" cy="1013222"/>
          </a:xfrm>
        </p:spPr>
        <p:txBody>
          <a:bodyPr vert="horz" wrap="square" lIns="68580" tIns="34290" rIns="68580" bIns="34290" rtlCol="0" anchor="t" anchorCtr="0">
            <a:normAutofit/>
          </a:bodyPr>
          <a:lstStyle/>
          <a:p>
            <a:pPr marL="0" indent="0" eaLnBrk="1" hangingPunct="1">
              <a:lnSpc>
                <a:spcPct val="90000"/>
              </a:lnSpc>
              <a:spcBef>
                <a:spcPct val="5000"/>
              </a:spcBef>
              <a:buSzPct val="60000"/>
              <a:buNone/>
            </a:pPr>
            <a:r>
              <a:rPr lang="zh-CN" altLang="en-US" sz="1800" b="1" dirty="0">
                <a:solidFill>
                  <a:srgbClr val="990000"/>
                </a:solidFill>
              </a:rPr>
              <a:t>查询语句块</a:t>
            </a:r>
            <a:r>
              <a:rPr lang="zh-CN" altLang="en-US" sz="1800" b="1" dirty="0">
                <a:solidFill>
                  <a:srgbClr val="0000FF"/>
                </a:solidFill>
              </a:rPr>
              <a:t>含义</a:t>
            </a:r>
            <a:r>
              <a:rPr lang="en-US" altLang="zh-CN" sz="1800" b="1" dirty="0">
                <a:solidFill>
                  <a:srgbClr val="0000FF"/>
                </a:solidFill>
              </a:rPr>
              <a:t>: </a:t>
            </a:r>
          </a:p>
          <a:p>
            <a:pPr eaLnBrk="1" hangingPunct="1">
              <a:lnSpc>
                <a:spcPct val="90000"/>
              </a:lnSpc>
              <a:spcBef>
                <a:spcPct val="5000"/>
              </a:spcBef>
              <a:buSzTx/>
              <a:buFont typeface="Wingdings" panose="05000000000000000000" pitchFamily="2" charset="2"/>
              <a:buChar char="Ø"/>
            </a:pPr>
            <a:r>
              <a:rPr lang="zh-CN" altLang="en-US" sz="1800" dirty="0"/>
              <a:t>从表</a:t>
            </a:r>
            <a:r>
              <a:rPr lang="zh-CN" altLang="en-US" sz="1800" dirty="0">
                <a:solidFill>
                  <a:schemeClr val="folHlink"/>
                </a:solidFill>
              </a:rPr>
              <a:t> </a:t>
            </a:r>
            <a:r>
              <a:rPr lang="en-US" altLang="zh-CN" sz="1800" dirty="0">
                <a:solidFill>
                  <a:srgbClr val="006600"/>
                </a:solidFill>
              </a:rPr>
              <a:t>(</a:t>
            </a:r>
            <a:r>
              <a:rPr lang="zh-CN" altLang="en-US" sz="1800" dirty="0">
                <a:solidFill>
                  <a:srgbClr val="006600"/>
                </a:solidFill>
              </a:rPr>
              <a:t>视图</a:t>
            </a:r>
            <a:r>
              <a:rPr lang="en-US" altLang="zh-CN" sz="1800" dirty="0">
                <a:solidFill>
                  <a:srgbClr val="006600"/>
                </a:solidFill>
              </a:rPr>
              <a:t>)</a:t>
            </a:r>
            <a:r>
              <a:rPr lang="en-US" altLang="zh-CN" sz="1800" dirty="0">
                <a:solidFill>
                  <a:srgbClr val="0000FF"/>
                </a:solidFill>
              </a:rPr>
              <a:t>R</a:t>
            </a:r>
            <a:r>
              <a:rPr lang="zh-CN" altLang="en-US" sz="1800" dirty="0"/>
              <a:t>中找出满足条件</a:t>
            </a:r>
            <a:r>
              <a:rPr lang="en-US" altLang="zh-CN" sz="1800" dirty="0">
                <a:solidFill>
                  <a:srgbClr val="0000FF"/>
                </a:solidFill>
              </a:rPr>
              <a:t>F</a:t>
            </a:r>
            <a:r>
              <a:rPr lang="zh-CN" altLang="en-US" sz="1800" dirty="0"/>
              <a:t>的行，</a:t>
            </a:r>
          </a:p>
          <a:p>
            <a:pPr eaLnBrk="1" hangingPunct="1">
              <a:lnSpc>
                <a:spcPct val="90000"/>
              </a:lnSpc>
              <a:spcBef>
                <a:spcPct val="5000"/>
              </a:spcBef>
              <a:buSzTx/>
              <a:buFont typeface="Wingdings" panose="05000000000000000000" pitchFamily="2" charset="2"/>
              <a:buNone/>
            </a:pPr>
            <a:r>
              <a:rPr lang="zh-CN" altLang="en-US" sz="1800" dirty="0"/>
              <a:t>  再从中选出目标属性</a:t>
            </a:r>
            <a:r>
              <a:rPr lang="en-US" altLang="zh-CN" sz="1800" dirty="0">
                <a:solidFill>
                  <a:srgbClr val="0000FF"/>
                </a:solidFill>
              </a:rPr>
              <a:t>A</a:t>
            </a:r>
            <a:r>
              <a:rPr lang="zh-CN" altLang="en-US" sz="1800" dirty="0"/>
              <a:t>的值形成结果表。</a:t>
            </a:r>
          </a:p>
        </p:txBody>
      </p:sp>
      <p:sp>
        <p:nvSpPr>
          <p:cNvPr id="28677" name="AutoShape 5"/>
          <p:cNvSpPr/>
          <p:nvPr/>
        </p:nvSpPr>
        <p:spPr>
          <a:xfrm>
            <a:off x="2250282" y="1190062"/>
            <a:ext cx="2892391" cy="331757"/>
          </a:xfrm>
          <a:prstGeom prst="wedgeRoundRectCallout">
            <a:avLst>
              <a:gd name="adj1" fmla="val -49163"/>
              <a:gd name="adj2" fmla="val 125574"/>
              <a:gd name="adj3" fmla="val 16667"/>
            </a:avLst>
          </a:prstGeom>
          <a:solidFill>
            <a:srgbClr val="CBFFF1"/>
          </a:solidFill>
          <a:ln w="9525" cap="flat" cmpd="sng">
            <a:solidFill>
              <a:schemeClr val="tx1"/>
            </a:solidFill>
            <a:prstDash val="solid"/>
            <a:miter/>
            <a:headEnd type="none" w="med" len="med"/>
            <a:tailEnd type="none" w="med" len="med"/>
          </a:ln>
        </p:spPr>
        <p:txBody>
          <a:bodyPr wrap="none" lIns="13500" tIns="8100" rIns="13500" bIns="8100" anchor="ctr" anchorCtr="0"/>
          <a:lstStyle/>
          <a:p>
            <a:pPr algn="ctr"/>
            <a:r>
              <a:rPr lang="zh-CN" altLang="en-US" sz="1350" dirty="0">
                <a:latin typeface="Microsoft YaHei" panose="020B0503020204020204" pitchFamily="34" charset="-122"/>
                <a:ea typeface="Microsoft YaHei" panose="020B0503020204020204" pitchFamily="34" charset="-122"/>
              </a:rPr>
              <a:t>查询目标</a:t>
            </a:r>
            <a:r>
              <a:rPr lang="en-US" altLang="zh-CN" sz="1350" dirty="0">
                <a:latin typeface="Microsoft YaHei" panose="020B0503020204020204" pitchFamily="34" charset="-122"/>
                <a:ea typeface="Microsoft YaHei" panose="020B0503020204020204" pitchFamily="34" charset="-122"/>
              </a:rPr>
              <a:t>:</a:t>
            </a:r>
            <a:r>
              <a:rPr lang="zh-CN" altLang="en-US" sz="1350" dirty="0">
                <a:latin typeface="Microsoft YaHei" panose="020B0503020204020204" pitchFamily="34" charset="-122"/>
                <a:ea typeface="Microsoft YaHei" panose="020B0503020204020204" pitchFamily="34" charset="-122"/>
              </a:rPr>
              <a:t>为</a:t>
            </a:r>
            <a:r>
              <a:rPr lang="zh-CN" altLang="en-US" sz="1350" dirty="0">
                <a:solidFill>
                  <a:srgbClr val="0000FF"/>
                </a:solidFill>
                <a:latin typeface="Microsoft YaHei" panose="020B0503020204020204" pitchFamily="34" charset="-122"/>
                <a:ea typeface="Microsoft YaHei" panose="020B0503020204020204" pitchFamily="34" charset="-122"/>
              </a:rPr>
              <a:t>属性名表</a:t>
            </a:r>
            <a:r>
              <a:rPr lang="zh-CN" altLang="en-US" sz="1350" dirty="0">
                <a:latin typeface="Microsoft YaHei" panose="020B0503020204020204" pitchFamily="34" charset="-122"/>
                <a:ea typeface="Microsoft YaHei" panose="020B0503020204020204" pitchFamily="34" charset="-122"/>
              </a:rPr>
              <a:t>或</a:t>
            </a:r>
            <a:r>
              <a:rPr lang="zh-CN" altLang="en-US" sz="1350" dirty="0">
                <a:solidFill>
                  <a:srgbClr val="0000FF"/>
                </a:solidFill>
                <a:latin typeface="Microsoft YaHei" panose="020B0503020204020204" pitchFamily="34" charset="-122"/>
                <a:ea typeface="Microsoft YaHei" panose="020B0503020204020204" pitchFamily="34" charset="-122"/>
              </a:rPr>
              <a:t>表达式</a:t>
            </a:r>
            <a:r>
              <a:rPr lang="zh-CN" altLang="en-US" sz="1350" dirty="0">
                <a:latin typeface="Microsoft YaHei" panose="020B0503020204020204" pitchFamily="34" charset="-122"/>
                <a:ea typeface="Microsoft YaHei" panose="020B0503020204020204" pitchFamily="34" charset="-122"/>
              </a:rPr>
              <a:t>或‘</a:t>
            </a:r>
            <a:r>
              <a:rPr lang="zh-CN" altLang="en-US" sz="1350" dirty="0">
                <a:solidFill>
                  <a:srgbClr val="0000FF"/>
                </a:solidFill>
                <a:latin typeface="Microsoft YaHei" panose="020B0503020204020204" pitchFamily="34" charset="-122"/>
                <a:ea typeface="Microsoft YaHei" panose="020B0503020204020204" pitchFamily="34" charset="-122"/>
              </a:rPr>
              <a:t>*</a:t>
            </a:r>
            <a:r>
              <a:rPr lang="zh-CN" altLang="en-US" sz="1350" dirty="0">
                <a:latin typeface="Microsoft YaHei" panose="020B0503020204020204" pitchFamily="34" charset="-122"/>
                <a:ea typeface="Microsoft YaHei" panose="020B0503020204020204" pitchFamily="34" charset="-122"/>
              </a:rPr>
              <a:t>’</a:t>
            </a:r>
          </a:p>
        </p:txBody>
      </p:sp>
      <p:sp>
        <p:nvSpPr>
          <p:cNvPr id="28678" name="AutoShape 6"/>
          <p:cNvSpPr/>
          <p:nvPr/>
        </p:nvSpPr>
        <p:spPr>
          <a:xfrm>
            <a:off x="2678905" y="1765589"/>
            <a:ext cx="1540669" cy="315943"/>
          </a:xfrm>
          <a:prstGeom prst="wedgeRoundRectCallout">
            <a:avLst>
              <a:gd name="adj1" fmla="val -79013"/>
              <a:gd name="adj2" fmla="val 62750"/>
              <a:gd name="adj3" fmla="val 16667"/>
            </a:avLst>
          </a:prstGeom>
          <a:solidFill>
            <a:srgbClr val="CBFFF1"/>
          </a:solidFill>
          <a:ln w="9525" cap="flat" cmpd="sng">
            <a:solidFill>
              <a:schemeClr val="tx1"/>
            </a:solidFill>
            <a:prstDash val="solid"/>
            <a:miter/>
            <a:headEnd type="none" w="med" len="med"/>
            <a:tailEnd type="none" w="med" len="med"/>
          </a:ln>
        </p:spPr>
        <p:txBody>
          <a:bodyPr wrap="none" lIns="13500" tIns="8100" rIns="13500" bIns="8100" anchor="ctr" anchorCtr="0"/>
          <a:lstStyle/>
          <a:p>
            <a:pPr algn="ctr"/>
            <a:r>
              <a:rPr lang="zh-CN" altLang="en-US" sz="1350" dirty="0">
                <a:latin typeface="Microsoft YaHei" panose="020B0503020204020204" pitchFamily="34" charset="-122"/>
                <a:ea typeface="Microsoft YaHei" panose="020B0503020204020204" pitchFamily="34" charset="-122"/>
              </a:rPr>
              <a:t>数据来源</a:t>
            </a:r>
            <a:r>
              <a:rPr lang="en-US" altLang="zh-CN" sz="1350" dirty="0">
                <a:latin typeface="Microsoft YaHei" panose="020B0503020204020204" pitchFamily="34" charset="-122"/>
                <a:ea typeface="Microsoft YaHei" panose="020B0503020204020204" pitchFamily="34" charset="-122"/>
              </a:rPr>
              <a:t>:</a:t>
            </a:r>
            <a:r>
              <a:rPr lang="zh-CN" altLang="en-US" sz="1350" dirty="0">
                <a:solidFill>
                  <a:srgbClr val="0000FF"/>
                </a:solidFill>
                <a:latin typeface="Microsoft YaHei" panose="020B0503020204020204" pitchFamily="34" charset="-122"/>
                <a:ea typeface="Microsoft YaHei" panose="020B0503020204020204" pitchFamily="34" charset="-122"/>
              </a:rPr>
              <a:t>表</a:t>
            </a:r>
            <a:r>
              <a:rPr lang="zh-CN" altLang="en-US" sz="1350" dirty="0">
                <a:latin typeface="Microsoft YaHei" panose="020B0503020204020204" pitchFamily="34" charset="-122"/>
                <a:ea typeface="Microsoft YaHei" panose="020B0503020204020204" pitchFamily="34" charset="-122"/>
              </a:rPr>
              <a:t>或</a:t>
            </a:r>
            <a:r>
              <a:rPr lang="zh-CN" altLang="en-US" sz="1350" dirty="0">
                <a:solidFill>
                  <a:srgbClr val="0000FF"/>
                </a:solidFill>
                <a:latin typeface="Microsoft YaHei" panose="020B0503020204020204" pitchFamily="34" charset="-122"/>
                <a:ea typeface="Microsoft YaHei" panose="020B0503020204020204" pitchFamily="34" charset="-122"/>
              </a:rPr>
              <a:t>视图</a:t>
            </a:r>
          </a:p>
        </p:txBody>
      </p:sp>
      <p:sp>
        <p:nvSpPr>
          <p:cNvPr id="28679" name="AutoShape 7"/>
          <p:cNvSpPr/>
          <p:nvPr/>
        </p:nvSpPr>
        <p:spPr>
          <a:xfrm>
            <a:off x="2678905" y="2215571"/>
            <a:ext cx="1827610" cy="314293"/>
          </a:xfrm>
          <a:prstGeom prst="wedgeRoundRectCallout">
            <a:avLst>
              <a:gd name="adj1" fmla="val -70868"/>
              <a:gd name="adj2" fmla="val 42953"/>
              <a:gd name="adj3" fmla="val 16667"/>
            </a:avLst>
          </a:prstGeom>
          <a:solidFill>
            <a:srgbClr val="CBFFF1"/>
          </a:solidFill>
          <a:ln w="9525" cap="flat" cmpd="sng">
            <a:solidFill>
              <a:schemeClr val="tx1"/>
            </a:solidFill>
            <a:prstDash val="solid"/>
            <a:miter/>
            <a:headEnd type="none" w="med" len="med"/>
            <a:tailEnd type="none" w="med" len="med"/>
          </a:ln>
        </p:spPr>
        <p:txBody>
          <a:bodyPr wrap="none" lIns="13500" tIns="8100" rIns="13500" bIns="8100" anchor="ctr" anchorCtr="0"/>
          <a:lstStyle/>
          <a:p>
            <a:pPr algn="ctr"/>
            <a:r>
              <a:rPr lang="zh-CN" altLang="en-US" sz="1350" dirty="0">
                <a:latin typeface="Microsoft YaHei" panose="020B0503020204020204" pitchFamily="34" charset="-122"/>
                <a:ea typeface="Microsoft YaHei" panose="020B0503020204020204" pitchFamily="34" charset="-122"/>
              </a:rPr>
              <a:t>选择行</a:t>
            </a:r>
            <a:r>
              <a:rPr lang="en-US" altLang="zh-CN" sz="1350" dirty="0">
                <a:solidFill>
                  <a:srgbClr val="000099"/>
                </a:solidFill>
                <a:latin typeface="Microsoft YaHei" panose="020B0503020204020204" pitchFamily="34" charset="-122"/>
                <a:ea typeface="Microsoft YaHei" panose="020B0503020204020204" pitchFamily="34" charset="-122"/>
              </a:rPr>
              <a:t>(</a:t>
            </a:r>
            <a:r>
              <a:rPr lang="zh-CN" altLang="en-US" sz="1350" dirty="0">
                <a:solidFill>
                  <a:srgbClr val="000099"/>
                </a:solidFill>
                <a:latin typeface="Microsoft YaHei" panose="020B0503020204020204" pitchFamily="34" charset="-122"/>
                <a:ea typeface="Microsoft YaHei" panose="020B0503020204020204" pitchFamily="34" charset="-122"/>
              </a:rPr>
              <a:t>元组</a:t>
            </a:r>
            <a:r>
              <a:rPr lang="en-US" altLang="zh-CN" sz="1350" dirty="0">
                <a:solidFill>
                  <a:srgbClr val="000099"/>
                </a:solidFill>
                <a:latin typeface="Microsoft YaHei" panose="020B0503020204020204" pitchFamily="34" charset="-122"/>
                <a:ea typeface="Microsoft YaHei" panose="020B0503020204020204" pitchFamily="34" charset="-122"/>
              </a:rPr>
              <a:t>)</a:t>
            </a:r>
            <a:r>
              <a:rPr lang="zh-CN" altLang="en-US" sz="1350" dirty="0">
                <a:latin typeface="Microsoft YaHei" panose="020B0503020204020204" pitchFamily="34" charset="-122"/>
                <a:ea typeface="Microsoft YaHei" panose="020B0503020204020204" pitchFamily="34" charset="-122"/>
              </a:rPr>
              <a:t>的条件</a:t>
            </a:r>
          </a:p>
        </p:txBody>
      </p:sp>
      <p:sp>
        <p:nvSpPr>
          <p:cNvPr id="28680" name="Text Box 8"/>
          <p:cNvSpPr txBox="1"/>
          <p:nvPr/>
        </p:nvSpPr>
        <p:spPr>
          <a:xfrm>
            <a:off x="6510236" y="3849144"/>
            <a:ext cx="1927002" cy="300082"/>
          </a:xfrm>
          <a:prstGeom prst="rect">
            <a:avLst/>
          </a:prstGeom>
          <a:solidFill>
            <a:srgbClr val="97F9F7"/>
          </a:solidFill>
          <a:ln w="9525" cap="flat" cmpd="sng">
            <a:solidFill>
              <a:schemeClr val="tx1"/>
            </a:solidFill>
            <a:prstDash val="solid"/>
            <a:miter/>
            <a:headEnd type="none" w="med" len="med"/>
            <a:tailEnd type="none" w="med" len="med"/>
          </a:ln>
        </p:spPr>
        <p:txBody>
          <a:bodyPr wrap="square">
            <a:spAutoFit/>
          </a:bodyPr>
          <a:lstStyle/>
          <a:p>
            <a:pPr>
              <a:spcBef>
                <a:spcPct val="20000"/>
              </a:spcBef>
              <a:buClr>
                <a:schemeClr val="hlink"/>
              </a:buClr>
              <a:buSzPct val="80000"/>
            </a:pPr>
            <a:r>
              <a:rPr lang="zh-CN" altLang="en-US" sz="1350" dirty="0">
                <a:solidFill>
                  <a:srgbClr val="990000"/>
                </a:solidFill>
                <a:latin typeface="Microsoft YaHei" panose="020B0503020204020204" pitchFamily="34" charset="-122"/>
                <a:ea typeface="Microsoft YaHei" panose="020B0503020204020204" pitchFamily="34" charset="-122"/>
              </a:rPr>
              <a:t>关系代数</a:t>
            </a:r>
            <a:r>
              <a:rPr lang="en-US" altLang="zh-CN" sz="1350" dirty="0">
                <a:solidFill>
                  <a:srgbClr val="990000"/>
                </a:solidFill>
                <a:latin typeface="Microsoft YaHei" panose="020B0503020204020204" pitchFamily="34" charset="-122"/>
                <a:ea typeface="Microsoft YaHei" panose="020B0503020204020204" pitchFamily="34" charset="-122"/>
              </a:rPr>
              <a:t>:</a:t>
            </a:r>
            <a:r>
              <a:rPr lang="en-US" altLang="zh-CN" sz="1350" dirty="0">
                <a:latin typeface="Microsoft YaHei" panose="020B0503020204020204" pitchFamily="34" charset="-122"/>
                <a:ea typeface="Microsoft YaHei" panose="020B0503020204020204" pitchFamily="34" charset="-122"/>
              </a:rPr>
              <a:t>  ∏</a:t>
            </a:r>
            <a:r>
              <a:rPr lang="en-US" altLang="zh-CN" sz="1350" baseline="-25000" dirty="0">
                <a:solidFill>
                  <a:srgbClr val="0000FF"/>
                </a:solidFill>
                <a:latin typeface="Microsoft YaHei" panose="020B0503020204020204" pitchFamily="34" charset="-122"/>
                <a:ea typeface="Microsoft YaHei" panose="020B0503020204020204" pitchFamily="34" charset="-122"/>
              </a:rPr>
              <a:t>A</a:t>
            </a:r>
            <a:r>
              <a:rPr lang="en-US" altLang="zh-CN" sz="1350" dirty="0">
                <a:solidFill>
                  <a:srgbClr val="0000FF"/>
                </a:solidFill>
                <a:latin typeface="Microsoft YaHei" panose="020B0503020204020204" pitchFamily="34" charset="-122"/>
                <a:ea typeface="Microsoft YaHei" panose="020B0503020204020204" pitchFamily="34" charset="-122"/>
              </a:rPr>
              <a:t> </a:t>
            </a:r>
            <a:r>
              <a:rPr lang="en-US" altLang="zh-CN" sz="1350" dirty="0">
                <a:latin typeface="Microsoft YaHei" panose="020B0503020204020204" pitchFamily="34" charset="-122"/>
                <a:ea typeface="Microsoft YaHei" panose="020B0503020204020204" pitchFamily="34" charset="-122"/>
              </a:rPr>
              <a:t>(</a:t>
            </a:r>
            <a:r>
              <a:rPr lang="en-US" altLang="zh-CN" sz="1350" dirty="0">
                <a:solidFill>
                  <a:srgbClr val="000000"/>
                </a:solidFill>
                <a:latin typeface="Microsoft YaHei" panose="020B0503020204020204" pitchFamily="34" charset="-122"/>
                <a:ea typeface="Microsoft YaHei" panose="020B0503020204020204" pitchFamily="34" charset="-122"/>
              </a:rPr>
              <a:t>σ</a:t>
            </a:r>
            <a:r>
              <a:rPr lang="en-US" altLang="zh-CN" sz="1350" baseline="-25000" dirty="0">
                <a:solidFill>
                  <a:srgbClr val="0000FF"/>
                </a:solidFill>
                <a:latin typeface="Microsoft YaHei" panose="020B0503020204020204" pitchFamily="34" charset="-122"/>
                <a:ea typeface="Microsoft YaHei" panose="020B0503020204020204" pitchFamily="34" charset="-122"/>
              </a:rPr>
              <a:t>F</a:t>
            </a:r>
            <a:r>
              <a:rPr lang="en-US" altLang="zh-CN" sz="1350" dirty="0">
                <a:latin typeface="Microsoft YaHei" panose="020B0503020204020204" pitchFamily="34" charset="-122"/>
                <a:ea typeface="Microsoft YaHei" panose="020B0503020204020204" pitchFamily="34" charset="-122"/>
              </a:rPr>
              <a:t> (</a:t>
            </a:r>
            <a:r>
              <a:rPr lang="en-US" altLang="zh-CN" sz="1350" dirty="0">
                <a:solidFill>
                  <a:srgbClr val="0000FF"/>
                </a:solidFill>
                <a:latin typeface="Microsoft YaHei" panose="020B0503020204020204" pitchFamily="34" charset="-122"/>
                <a:ea typeface="Microsoft YaHei" panose="020B0503020204020204" pitchFamily="34" charset="-122"/>
              </a:rPr>
              <a:t>R</a:t>
            </a:r>
            <a:r>
              <a:rPr lang="en-US" altLang="zh-CN" sz="1350" dirty="0">
                <a:latin typeface="Microsoft YaHei" panose="020B0503020204020204" pitchFamily="34" charset="-122"/>
                <a:ea typeface="Microsoft YaHei" panose="020B0503020204020204" pitchFamily="34" charset="-122"/>
              </a:rPr>
              <a:t>))</a:t>
            </a:r>
          </a:p>
        </p:txBody>
      </p:sp>
      <p:sp>
        <p:nvSpPr>
          <p:cNvPr id="28681" name="Text Box 9"/>
          <p:cNvSpPr txBox="1"/>
          <p:nvPr/>
        </p:nvSpPr>
        <p:spPr>
          <a:xfrm>
            <a:off x="163710" y="3103257"/>
            <a:ext cx="6858000" cy="369332"/>
          </a:xfrm>
          <a:prstGeom prst="rect">
            <a:avLst/>
          </a:prstGeom>
          <a:noFill/>
          <a:ln w="9525">
            <a:noFill/>
          </a:ln>
        </p:spPr>
        <p:txBody>
          <a:bodyPr>
            <a:spAutoFit/>
          </a:bodyPr>
          <a:lstStyle/>
          <a:p>
            <a:pPr>
              <a:spcBef>
                <a:spcPct val="20000"/>
              </a:spcBef>
              <a:buClr>
                <a:schemeClr val="folHlink"/>
              </a:buClr>
              <a:buSzPct val="60000"/>
              <a:buFont typeface="Wingdings" panose="05000000000000000000" pitchFamily="2" charset="2"/>
              <a:buChar char="n"/>
            </a:pPr>
            <a:r>
              <a:rPr lang="zh-CN" altLang="en-US" sz="1350" dirty="0">
                <a:latin typeface="Microsoft YaHei" panose="020B0503020204020204" pitchFamily="34" charset="-122"/>
                <a:ea typeface="Microsoft YaHei" panose="020B0503020204020204" pitchFamily="34" charset="-122"/>
              </a:rPr>
              <a:t> </a:t>
            </a:r>
            <a:r>
              <a:rPr lang="zh-CN" altLang="en-US" dirty="0">
                <a:solidFill>
                  <a:srgbClr val="0000FF"/>
                </a:solidFill>
                <a:latin typeface="Microsoft YaHei" panose="020B0503020204020204" pitchFamily="34" charset="-122"/>
                <a:ea typeface="Microsoft YaHei" panose="020B0503020204020204" pitchFamily="34" charset="-122"/>
              </a:rPr>
              <a:t>例</a:t>
            </a:r>
            <a:r>
              <a:rPr lang="en-US" altLang="zh-CN" dirty="0">
                <a:solidFill>
                  <a:srgbClr val="0000FF"/>
                </a:solidFill>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已知</a:t>
            </a:r>
            <a:r>
              <a:rPr lang="en-US" altLang="zh-CN" dirty="0">
                <a:latin typeface="Microsoft YaHei" panose="020B0503020204020204" pitchFamily="34" charset="-122"/>
                <a:ea typeface="Microsoft YaHei" panose="020B0503020204020204" pitchFamily="34" charset="-122"/>
              </a:rPr>
              <a:t>R(no,name,sum)</a:t>
            </a:r>
            <a:r>
              <a:rPr lang="zh-CN" altLang="en-US" dirty="0">
                <a:latin typeface="Microsoft YaHei" panose="020B0503020204020204" pitchFamily="34" charset="-122"/>
                <a:ea typeface="Microsoft YaHei" panose="020B0503020204020204" pitchFamily="34" charset="-122"/>
              </a:rPr>
              <a:t>求总分大于</a:t>
            </a:r>
            <a:r>
              <a:rPr lang="en-US" altLang="zh-CN" dirty="0">
                <a:latin typeface="Microsoft YaHei" panose="020B0503020204020204" pitchFamily="34" charset="-122"/>
                <a:ea typeface="Microsoft YaHei" panose="020B0503020204020204" pitchFamily="34" charset="-122"/>
              </a:rPr>
              <a:t>600</a:t>
            </a:r>
            <a:r>
              <a:rPr lang="zh-CN" altLang="en-US" dirty="0">
                <a:latin typeface="Microsoft YaHei" panose="020B0503020204020204" pitchFamily="34" charset="-122"/>
                <a:ea typeface="Microsoft YaHei" panose="020B0503020204020204" pitchFamily="34" charset="-122"/>
              </a:rPr>
              <a:t>的学生号和姓名。</a:t>
            </a:r>
          </a:p>
        </p:txBody>
      </p:sp>
      <p:sp>
        <p:nvSpPr>
          <p:cNvPr id="31767" name="Text Box 12"/>
          <p:cNvSpPr txBox="1"/>
          <p:nvPr/>
        </p:nvSpPr>
        <p:spPr>
          <a:xfrm>
            <a:off x="4855116" y="3481827"/>
            <a:ext cx="1092487" cy="338554"/>
          </a:xfrm>
          <a:prstGeom prst="rect">
            <a:avLst/>
          </a:prstGeom>
          <a:noFill/>
          <a:ln w="9525">
            <a:noFill/>
          </a:ln>
        </p:spPr>
        <p:txBody>
          <a:bodyPr>
            <a:spAutoFit/>
          </a:bodyPr>
          <a:lstStyle/>
          <a:p>
            <a:pPr algn="ctr">
              <a:spcBef>
                <a:spcPct val="50000"/>
              </a:spcBef>
            </a:pPr>
            <a:r>
              <a:rPr lang="zh-CN" altLang="en-US" sz="1600" dirty="0">
                <a:solidFill>
                  <a:srgbClr val="000099"/>
                </a:solidFill>
                <a:latin typeface="Microsoft YaHei" panose="020B0503020204020204" pitchFamily="34" charset="-122"/>
                <a:ea typeface="Microsoft YaHei" panose="020B0503020204020204" pitchFamily="34" charset="-122"/>
              </a:rPr>
              <a:t>目标 </a:t>
            </a:r>
            <a:r>
              <a:rPr lang="en-US" altLang="zh-CN" sz="1600" dirty="0">
                <a:solidFill>
                  <a:srgbClr val="000099"/>
                </a:solidFill>
                <a:latin typeface="Microsoft YaHei" panose="020B0503020204020204" pitchFamily="34" charset="-122"/>
                <a:ea typeface="Microsoft YaHei" panose="020B0503020204020204" pitchFamily="34" charset="-122"/>
              </a:rPr>
              <a:t>A</a:t>
            </a:r>
          </a:p>
        </p:txBody>
      </p:sp>
      <p:sp>
        <p:nvSpPr>
          <p:cNvPr id="31765" name="Text Box 15"/>
          <p:cNvSpPr txBox="1"/>
          <p:nvPr/>
        </p:nvSpPr>
        <p:spPr>
          <a:xfrm>
            <a:off x="3237209" y="3487968"/>
            <a:ext cx="1092487" cy="338554"/>
          </a:xfrm>
          <a:prstGeom prst="rect">
            <a:avLst/>
          </a:prstGeom>
          <a:noFill/>
          <a:ln w="9525">
            <a:noFill/>
          </a:ln>
        </p:spPr>
        <p:txBody>
          <a:bodyPr>
            <a:spAutoFit/>
          </a:bodyPr>
          <a:lstStyle/>
          <a:p>
            <a:pPr algn="ctr">
              <a:spcBef>
                <a:spcPct val="50000"/>
              </a:spcBef>
            </a:pPr>
            <a:r>
              <a:rPr lang="zh-CN" altLang="en-US" sz="1600" dirty="0">
                <a:solidFill>
                  <a:srgbClr val="000099"/>
                </a:solidFill>
                <a:latin typeface="Microsoft YaHei" panose="020B0503020204020204" pitchFamily="34" charset="-122"/>
                <a:ea typeface="Microsoft YaHei" panose="020B0503020204020204" pitchFamily="34" charset="-122"/>
              </a:rPr>
              <a:t>条件 </a:t>
            </a:r>
            <a:r>
              <a:rPr lang="en-US" altLang="zh-CN" sz="1600" dirty="0">
                <a:solidFill>
                  <a:srgbClr val="000099"/>
                </a:solidFill>
                <a:latin typeface="Microsoft YaHei" panose="020B0503020204020204" pitchFamily="34" charset="-122"/>
                <a:ea typeface="Microsoft YaHei" panose="020B0503020204020204" pitchFamily="34" charset="-122"/>
              </a:rPr>
              <a:t>F </a:t>
            </a:r>
          </a:p>
        </p:txBody>
      </p:sp>
      <p:sp>
        <p:nvSpPr>
          <p:cNvPr id="31763" name="Text Box 18"/>
          <p:cNvSpPr txBox="1"/>
          <p:nvPr/>
        </p:nvSpPr>
        <p:spPr>
          <a:xfrm>
            <a:off x="1414666" y="3489778"/>
            <a:ext cx="1092487" cy="338554"/>
          </a:xfrm>
          <a:prstGeom prst="rect">
            <a:avLst/>
          </a:prstGeom>
          <a:noFill/>
          <a:ln w="9525">
            <a:noFill/>
          </a:ln>
        </p:spPr>
        <p:txBody>
          <a:bodyPr wrap="square">
            <a:spAutoFit/>
          </a:bodyPr>
          <a:lstStyle/>
          <a:p>
            <a:pPr algn="ctr">
              <a:spcBef>
                <a:spcPct val="50000"/>
              </a:spcBef>
            </a:pPr>
            <a:r>
              <a:rPr lang="zh-CN" altLang="en-US" sz="1600" dirty="0">
                <a:solidFill>
                  <a:srgbClr val="000099"/>
                </a:solidFill>
                <a:latin typeface="Microsoft YaHei" panose="020B0503020204020204" pitchFamily="34" charset="-122"/>
                <a:ea typeface="Microsoft YaHei" panose="020B0503020204020204" pitchFamily="34" charset="-122"/>
              </a:rPr>
              <a:t>来源 </a:t>
            </a:r>
            <a:r>
              <a:rPr lang="en-US" altLang="zh-CN" sz="1600" dirty="0">
                <a:solidFill>
                  <a:srgbClr val="000099"/>
                </a:solidFill>
                <a:latin typeface="Microsoft YaHei" panose="020B0503020204020204" pitchFamily="34" charset="-122"/>
                <a:ea typeface="Microsoft YaHei" panose="020B0503020204020204" pitchFamily="34" charset="-122"/>
              </a:rPr>
              <a:t>R</a:t>
            </a:r>
          </a:p>
        </p:txBody>
      </p:sp>
      <p:sp>
        <p:nvSpPr>
          <p:cNvPr id="28691" name="Rectangle 19"/>
          <p:cNvSpPr/>
          <p:nvPr/>
        </p:nvSpPr>
        <p:spPr>
          <a:xfrm>
            <a:off x="1213861" y="3849144"/>
            <a:ext cx="1927002" cy="845366"/>
          </a:xfrm>
          <a:prstGeom prst="rect">
            <a:avLst/>
          </a:prstGeom>
          <a:solidFill>
            <a:srgbClr val="F3FEB4"/>
          </a:solidFill>
          <a:ln w="9525" cap="flat" cmpd="sng">
            <a:solidFill>
              <a:schemeClr val="tx1"/>
            </a:solidFill>
            <a:prstDash val="solid"/>
            <a:miter/>
            <a:headEnd type="none" w="med" len="med"/>
            <a:tailEnd type="none" w="med" len="med"/>
          </a:ln>
        </p:spPr>
        <p:txBody>
          <a:bodyPr wrap="none" anchor="ctr" anchorCtr="0"/>
          <a:lstStyle/>
          <a:p>
            <a:r>
              <a:rPr lang="en-US" altLang="zh-CN" sz="1350" dirty="0">
                <a:latin typeface="Microsoft YaHei" panose="020B0503020204020204" pitchFamily="34" charset="-122"/>
                <a:ea typeface="Microsoft YaHei" panose="020B0503020204020204" pitchFamily="34" charset="-122"/>
              </a:rPr>
              <a:t>SELECT </a:t>
            </a:r>
            <a:r>
              <a:rPr lang="en-US" altLang="zh-CN" sz="1350" dirty="0">
                <a:solidFill>
                  <a:schemeClr val="hlink"/>
                </a:solidFill>
                <a:latin typeface="Microsoft YaHei" panose="020B0503020204020204" pitchFamily="34" charset="-122"/>
                <a:ea typeface="Microsoft YaHei" panose="020B0503020204020204" pitchFamily="34" charset="-122"/>
              </a:rPr>
              <a:t>no, name</a:t>
            </a:r>
          </a:p>
          <a:p>
            <a:r>
              <a:rPr lang="en-US" altLang="zh-CN" sz="1350" dirty="0">
                <a:latin typeface="Microsoft YaHei" panose="020B0503020204020204" pitchFamily="34" charset="-122"/>
                <a:ea typeface="Microsoft YaHei" panose="020B0503020204020204" pitchFamily="34" charset="-122"/>
              </a:rPr>
              <a:t>FROM  </a:t>
            </a:r>
            <a:r>
              <a:rPr lang="en-US" altLang="zh-CN" sz="1350" dirty="0">
                <a:solidFill>
                  <a:schemeClr val="hlink"/>
                </a:solidFill>
                <a:latin typeface="Microsoft YaHei" panose="020B0503020204020204" pitchFamily="34" charset="-122"/>
                <a:ea typeface="Microsoft YaHei" panose="020B0503020204020204" pitchFamily="34" charset="-122"/>
              </a:rPr>
              <a:t>R</a:t>
            </a:r>
          </a:p>
          <a:p>
            <a:r>
              <a:rPr lang="en-US" altLang="zh-CN" sz="1350" dirty="0">
                <a:latin typeface="Microsoft YaHei" panose="020B0503020204020204" pitchFamily="34" charset="-122"/>
                <a:ea typeface="Microsoft YaHei" panose="020B0503020204020204" pitchFamily="34" charset="-122"/>
              </a:rPr>
              <a:t>WHERE </a:t>
            </a:r>
            <a:r>
              <a:rPr lang="en-US" altLang="zh-CN" sz="1350" dirty="0">
                <a:solidFill>
                  <a:schemeClr val="hlink"/>
                </a:solidFill>
                <a:latin typeface="Microsoft YaHei" panose="020B0503020204020204" pitchFamily="34" charset="-122"/>
                <a:ea typeface="Microsoft YaHei" panose="020B0503020204020204" pitchFamily="34" charset="-122"/>
              </a:rPr>
              <a:t>sum&gt;600</a:t>
            </a:r>
            <a:r>
              <a:rPr lang="en-US" altLang="zh-CN" sz="1350" dirty="0">
                <a:latin typeface="Microsoft YaHei" panose="020B0503020204020204" pitchFamily="34" charset="-122"/>
                <a:ea typeface="Microsoft YaHei" panose="020B0503020204020204" pitchFamily="34" charset="-122"/>
              </a:rPr>
              <a:t>;</a:t>
            </a:r>
          </a:p>
        </p:txBody>
      </p:sp>
      <p:sp>
        <p:nvSpPr>
          <p:cNvPr id="28692" name="Text Box 20"/>
          <p:cNvSpPr txBox="1"/>
          <p:nvPr/>
        </p:nvSpPr>
        <p:spPr>
          <a:xfrm>
            <a:off x="6422336" y="4271414"/>
            <a:ext cx="2372951" cy="300082"/>
          </a:xfrm>
          <a:prstGeom prst="rect">
            <a:avLst/>
          </a:prstGeom>
          <a:noFill/>
          <a:ln w="9525">
            <a:noFill/>
          </a:ln>
        </p:spPr>
        <p:txBody>
          <a:bodyPr wrap="square">
            <a:spAutoFit/>
          </a:bodyPr>
          <a:lstStyle/>
          <a:p>
            <a:pPr>
              <a:spcBef>
                <a:spcPct val="20000"/>
              </a:spcBef>
              <a:buClr>
                <a:schemeClr val="folHlink"/>
              </a:buClr>
              <a:buSzPct val="60000"/>
              <a:buFont typeface="Wingdings" panose="05000000000000000000" pitchFamily="2" charset="2"/>
              <a:buChar char="n"/>
            </a:pPr>
            <a:r>
              <a:rPr lang="zh-CN" altLang="en-US" sz="1350" dirty="0">
                <a:latin typeface="Microsoft YaHei" panose="020B0503020204020204" pitchFamily="34" charset="-122"/>
                <a:ea typeface="Microsoft YaHei" panose="020B0503020204020204" pitchFamily="34" charset="-122"/>
              </a:rPr>
              <a:t> </a:t>
            </a:r>
            <a:r>
              <a:rPr lang="zh-CN" altLang="en-US" sz="1350" dirty="0">
                <a:solidFill>
                  <a:srgbClr val="0000FF"/>
                </a:solidFill>
                <a:latin typeface="Microsoft YaHei" panose="020B0503020204020204" pitchFamily="34" charset="-122"/>
                <a:ea typeface="Microsoft YaHei" panose="020B0503020204020204" pitchFamily="34" charset="-122"/>
              </a:rPr>
              <a:t>解</a:t>
            </a:r>
            <a:r>
              <a:rPr lang="en-US" altLang="zh-CN" sz="1350" dirty="0">
                <a:solidFill>
                  <a:srgbClr val="0000FF"/>
                </a:solidFill>
                <a:latin typeface="Microsoft YaHei" panose="020B0503020204020204" pitchFamily="34" charset="-122"/>
                <a:ea typeface="Microsoft YaHei" panose="020B0503020204020204" pitchFamily="34" charset="-122"/>
              </a:rPr>
              <a:t>: </a:t>
            </a:r>
            <a:r>
              <a:rPr lang="en-US" altLang="zh-CN" sz="1350" dirty="0">
                <a:latin typeface="Microsoft YaHei" panose="020B0503020204020204" pitchFamily="34" charset="-122"/>
                <a:ea typeface="Microsoft YaHei" panose="020B0503020204020204" pitchFamily="34" charset="-122"/>
              </a:rPr>
              <a:t>Π</a:t>
            </a:r>
            <a:r>
              <a:rPr lang="en-US" altLang="zh-CN" sz="1350" baseline="-25000" dirty="0">
                <a:latin typeface="Microsoft YaHei" panose="020B0503020204020204" pitchFamily="34" charset="-122"/>
                <a:ea typeface="Microsoft YaHei" panose="020B0503020204020204" pitchFamily="34" charset="-122"/>
              </a:rPr>
              <a:t>no</a:t>
            </a:r>
            <a:r>
              <a:rPr lang="zh-CN" altLang="en-US" sz="1350" baseline="-25000" dirty="0">
                <a:latin typeface="Microsoft YaHei" panose="020B0503020204020204" pitchFamily="34" charset="-122"/>
                <a:ea typeface="Microsoft YaHei" panose="020B0503020204020204" pitchFamily="34" charset="-122"/>
              </a:rPr>
              <a:t>，</a:t>
            </a:r>
            <a:r>
              <a:rPr lang="en-US" altLang="zh-CN" sz="1350" baseline="-25000" dirty="0">
                <a:latin typeface="Microsoft YaHei" panose="020B0503020204020204" pitchFamily="34" charset="-122"/>
                <a:ea typeface="Microsoft YaHei" panose="020B0503020204020204" pitchFamily="34" charset="-122"/>
              </a:rPr>
              <a:t>name</a:t>
            </a:r>
            <a:r>
              <a:rPr lang="en-US" altLang="zh-CN" sz="1350" dirty="0">
                <a:latin typeface="Microsoft YaHei" panose="020B0503020204020204" pitchFamily="34" charset="-122"/>
                <a:ea typeface="Microsoft YaHei" panose="020B0503020204020204" pitchFamily="34" charset="-122"/>
              </a:rPr>
              <a:t>(σ</a:t>
            </a:r>
            <a:r>
              <a:rPr lang="en-US" altLang="zh-CN" sz="1350" baseline="-25000" dirty="0">
                <a:latin typeface="Microsoft YaHei" panose="020B0503020204020204" pitchFamily="34" charset="-122"/>
                <a:ea typeface="Microsoft YaHei" panose="020B0503020204020204" pitchFamily="34" charset="-122"/>
              </a:rPr>
              <a:t>sum&gt;600</a:t>
            </a:r>
            <a:r>
              <a:rPr lang="en-US" altLang="zh-CN" sz="1350" dirty="0">
                <a:latin typeface="Microsoft YaHei" panose="020B0503020204020204" pitchFamily="34" charset="-122"/>
                <a:ea typeface="Microsoft YaHei" panose="020B0503020204020204" pitchFamily="34" charset="-122"/>
              </a:rPr>
              <a:t>(R))</a:t>
            </a:r>
          </a:p>
        </p:txBody>
      </p:sp>
      <p:sp>
        <p:nvSpPr>
          <p:cNvPr id="28693" name="Line 21"/>
          <p:cNvSpPr/>
          <p:nvPr/>
        </p:nvSpPr>
        <p:spPr>
          <a:xfrm>
            <a:off x="4667935" y="3472301"/>
            <a:ext cx="1466850" cy="0"/>
          </a:xfrm>
          <a:prstGeom prst="line">
            <a:avLst/>
          </a:prstGeom>
          <a:ln w="38100" cap="flat" cmpd="sng">
            <a:solidFill>
              <a:schemeClr val="hlink"/>
            </a:solidFill>
            <a:prstDash val="soli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8694" name="Line 22"/>
          <p:cNvSpPr/>
          <p:nvPr/>
        </p:nvSpPr>
        <p:spPr>
          <a:xfrm flipV="1">
            <a:off x="1072670" y="3472589"/>
            <a:ext cx="1848822" cy="0"/>
          </a:xfrm>
          <a:prstGeom prst="line">
            <a:avLst/>
          </a:prstGeom>
          <a:ln w="38100" cap="flat" cmpd="sng">
            <a:solidFill>
              <a:schemeClr val="hlink"/>
            </a:solidFill>
            <a:prstDash val="soli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8695" name="Line 23"/>
          <p:cNvSpPr/>
          <p:nvPr/>
        </p:nvSpPr>
        <p:spPr>
          <a:xfrm>
            <a:off x="3105690" y="3472301"/>
            <a:ext cx="1355527" cy="0"/>
          </a:xfrm>
          <a:prstGeom prst="line">
            <a:avLst/>
          </a:prstGeom>
          <a:ln w="38100" cap="flat" cmpd="sng">
            <a:solidFill>
              <a:schemeClr val="hlink"/>
            </a:solidFill>
            <a:prstDash val="soli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6" name="标题 5">
            <a:extLst>
              <a:ext uri="{FF2B5EF4-FFF2-40B4-BE49-F238E27FC236}">
                <a16:creationId xmlns:a16="http://schemas.microsoft.com/office/drawing/2014/main" id="{EDD4DC4C-1CC5-F0CA-7B84-151BC09FB677}"/>
              </a:ext>
            </a:extLst>
          </p:cNvPr>
          <p:cNvSpPr>
            <a:spLocks noGrp="1"/>
          </p:cNvSpPr>
          <p:nvPr>
            <p:ph type="title"/>
          </p:nvPr>
        </p:nvSpPr>
        <p:spPr/>
        <p:txBody>
          <a:bodyPr/>
          <a:lstStyle/>
          <a:p>
            <a:r>
              <a:rPr lang="en" altLang="zh-CN" dirty="0"/>
              <a:t>SQL</a:t>
            </a:r>
            <a:r>
              <a:rPr lang="zh-CN" altLang="en-US" dirty="0"/>
              <a:t>的数据查询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8677"/>
                                        </p:tgtEl>
                                        <p:attrNameLst>
                                          <p:attrName>style.visibility</p:attrName>
                                        </p:attrNameLst>
                                      </p:cBhvr>
                                      <p:to>
                                        <p:strVal val="visible"/>
                                      </p:to>
                                    </p:set>
                                    <p:anim calcmode="lin" valueType="num">
                                      <p:cBhvr>
                                        <p:cTn id="7" dur="500" fill="hold"/>
                                        <p:tgtEl>
                                          <p:spTgt spid="28677"/>
                                        </p:tgtEl>
                                        <p:attrNameLst>
                                          <p:attrName>ppt_x</p:attrName>
                                        </p:attrNameLst>
                                      </p:cBhvr>
                                      <p:tavLst>
                                        <p:tav tm="0">
                                          <p:val>
                                            <p:strVal val="#ppt_x-#ppt_w/2"/>
                                          </p:val>
                                        </p:tav>
                                        <p:tav tm="100000">
                                          <p:val>
                                            <p:strVal val="#ppt_x"/>
                                          </p:val>
                                        </p:tav>
                                      </p:tavLst>
                                    </p:anim>
                                    <p:anim calcmode="lin" valueType="num">
                                      <p:cBhvr>
                                        <p:cTn id="8" dur="500" fill="hold"/>
                                        <p:tgtEl>
                                          <p:spTgt spid="28677"/>
                                        </p:tgtEl>
                                        <p:attrNameLst>
                                          <p:attrName>ppt_y</p:attrName>
                                        </p:attrNameLst>
                                      </p:cBhvr>
                                      <p:tavLst>
                                        <p:tav tm="0">
                                          <p:val>
                                            <p:strVal val="#ppt_y"/>
                                          </p:val>
                                        </p:tav>
                                        <p:tav tm="100000">
                                          <p:val>
                                            <p:strVal val="#ppt_y"/>
                                          </p:val>
                                        </p:tav>
                                      </p:tavLst>
                                    </p:anim>
                                    <p:anim calcmode="lin" valueType="num">
                                      <p:cBhvr>
                                        <p:cTn id="9" dur="500" fill="hold"/>
                                        <p:tgtEl>
                                          <p:spTgt spid="28677"/>
                                        </p:tgtEl>
                                        <p:attrNameLst>
                                          <p:attrName>ppt_w</p:attrName>
                                        </p:attrNameLst>
                                      </p:cBhvr>
                                      <p:tavLst>
                                        <p:tav tm="0">
                                          <p:val>
                                            <p:fltVal val="0"/>
                                          </p:val>
                                        </p:tav>
                                        <p:tav tm="100000">
                                          <p:val>
                                            <p:strVal val="#ppt_w"/>
                                          </p:val>
                                        </p:tav>
                                      </p:tavLst>
                                    </p:anim>
                                    <p:anim calcmode="lin" valueType="num">
                                      <p:cBhvr>
                                        <p:cTn id="10" dur="500" fill="hold"/>
                                        <p:tgtEl>
                                          <p:spTgt spid="28677"/>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28678"/>
                                        </p:tgtEl>
                                        <p:attrNameLst>
                                          <p:attrName>style.visibility</p:attrName>
                                        </p:attrNameLst>
                                      </p:cBhvr>
                                      <p:to>
                                        <p:strVal val="visible"/>
                                      </p:to>
                                    </p:set>
                                    <p:anim calcmode="lin" valueType="num">
                                      <p:cBhvr>
                                        <p:cTn id="15" dur="500" fill="hold"/>
                                        <p:tgtEl>
                                          <p:spTgt spid="28678"/>
                                        </p:tgtEl>
                                        <p:attrNameLst>
                                          <p:attrName>ppt_x</p:attrName>
                                        </p:attrNameLst>
                                      </p:cBhvr>
                                      <p:tavLst>
                                        <p:tav tm="0">
                                          <p:val>
                                            <p:strVal val="#ppt_x-#ppt_w/2"/>
                                          </p:val>
                                        </p:tav>
                                        <p:tav tm="100000">
                                          <p:val>
                                            <p:strVal val="#ppt_x"/>
                                          </p:val>
                                        </p:tav>
                                      </p:tavLst>
                                    </p:anim>
                                    <p:anim calcmode="lin" valueType="num">
                                      <p:cBhvr>
                                        <p:cTn id="16" dur="500" fill="hold"/>
                                        <p:tgtEl>
                                          <p:spTgt spid="28678"/>
                                        </p:tgtEl>
                                        <p:attrNameLst>
                                          <p:attrName>ppt_y</p:attrName>
                                        </p:attrNameLst>
                                      </p:cBhvr>
                                      <p:tavLst>
                                        <p:tav tm="0">
                                          <p:val>
                                            <p:strVal val="#ppt_y"/>
                                          </p:val>
                                        </p:tav>
                                        <p:tav tm="100000">
                                          <p:val>
                                            <p:strVal val="#ppt_y"/>
                                          </p:val>
                                        </p:tav>
                                      </p:tavLst>
                                    </p:anim>
                                    <p:anim calcmode="lin" valueType="num">
                                      <p:cBhvr>
                                        <p:cTn id="17" dur="500" fill="hold"/>
                                        <p:tgtEl>
                                          <p:spTgt spid="28678"/>
                                        </p:tgtEl>
                                        <p:attrNameLst>
                                          <p:attrName>ppt_w</p:attrName>
                                        </p:attrNameLst>
                                      </p:cBhvr>
                                      <p:tavLst>
                                        <p:tav tm="0">
                                          <p:val>
                                            <p:fltVal val="0"/>
                                          </p:val>
                                        </p:tav>
                                        <p:tav tm="100000">
                                          <p:val>
                                            <p:strVal val="#ppt_w"/>
                                          </p:val>
                                        </p:tav>
                                      </p:tavLst>
                                    </p:anim>
                                    <p:anim calcmode="lin" valueType="num">
                                      <p:cBhvr>
                                        <p:cTn id="18" dur="500" fill="hold"/>
                                        <p:tgtEl>
                                          <p:spTgt spid="28678"/>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28679"/>
                                        </p:tgtEl>
                                        <p:attrNameLst>
                                          <p:attrName>style.visibility</p:attrName>
                                        </p:attrNameLst>
                                      </p:cBhvr>
                                      <p:to>
                                        <p:strVal val="visible"/>
                                      </p:to>
                                    </p:set>
                                    <p:anim calcmode="lin" valueType="num">
                                      <p:cBhvr>
                                        <p:cTn id="23" dur="500" fill="hold"/>
                                        <p:tgtEl>
                                          <p:spTgt spid="28679"/>
                                        </p:tgtEl>
                                        <p:attrNameLst>
                                          <p:attrName>ppt_x</p:attrName>
                                        </p:attrNameLst>
                                      </p:cBhvr>
                                      <p:tavLst>
                                        <p:tav tm="0">
                                          <p:val>
                                            <p:strVal val="#ppt_x-#ppt_w/2"/>
                                          </p:val>
                                        </p:tav>
                                        <p:tav tm="100000">
                                          <p:val>
                                            <p:strVal val="#ppt_x"/>
                                          </p:val>
                                        </p:tav>
                                      </p:tavLst>
                                    </p:anim>
                                    <p:anim calcmode="lin" valueType="num">
                                      <p:cBhvr>
                                        <p:cTn id="24" dur="500" fill="hold"/>
                                        <p:tgtEl>
                                          <p:spTgt spid="28679"/>
                                        </p:tgtEl>
                                        <p:attrNameLst>
                                          <p:attrName>ppt_y</p:attrName>
                                        </p:attrNameLst>
                                      </p:cBhvr>
                                      <p:tavLst>
                                        <p:tav tm="0">
                                          <p:val>
                                            <p:strVal val="#ppt_y"/>
                                          </p:val>
                                        </p:tav>
                                        <p:tav tm="100000">
                                          <p:val>
                                            <p:strVal val="#ppt_y"/>
                                          </p:val>
                                        </p:tav>
                                      </p:tavLst>
                                    </p:anim>
                                    <p:anim calcmode="lin" valueType="num">
                                      <p:cBhvr>
                                        <p:cTn id="25" dur="500" fill="hold"/>
                                        <p:tgtEl>
                                          <p:spTgt spid="28679"/>
                                        </p:tgtEl>
                                        <p:attrNameLst>
                                          <p:attrName>ppt_w</p:attrName>
                                        </p:attrNameLst>
                                      </p:cBhvr>
                                      <p:tavLst>
                                        <p:tav tm="0">
                                          <p:val>
                                            <p:fltVal val="0"/>
                                          </p:val>
                                        </p:tav>
                                        <p:tav tm="100000">
                                          <p:val>
                                            <p:strVal val="#ppt_w"/>
                                          </p:val>
                                        </p:tav>
                                      </p:tavLst>
                                    </p:anim>
                                    <p:anim calcmode="lin" valueType="num">
                                      <p:cBhvr>
                                        <p:cTn id="26" dur="500" fill="hold"/>
                                        <p:tgtEl>
                                          <p:spTgt spid="28679"/>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8676">
                                            <p:txEl>
                                              <p:pRg st="0" end="0"/>
                                            </p:txEl>
                                          </p:spTgt>
                                        </p:tgtEl>
                                        <p:attrNameLst>
                                          <p:attrName>style.visibility</p:attrName>
                                        </p:attrNameLst>
                                      </p:cBhvr>
                                      <p:to>
                                        <p:strVal val="visible"/>
                                      </p:to>
                                    </p:set>
                                    <p:anim calcmode="lin" valueType="num">
                                      <p:cBhvr additive="base">
                                        <p:cTn id="31" dur="500" fill="hold"/>
                                        <p:tgtEl>
                                          <p:spTgt spid="28676">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867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8676">
                                            <p:txEl>
                                              <p:pRg st="1" end="1"/>
                                            </p:txEl>
                                          </p:spTgt>
                                        </p:tgtEl>
                                        <p:attrNameLst>
                                          <p:attrName>style.visibility</p:attrName>
                                        </p:attrNameLst>
                                      </p:cBhvr>
                                      <p:to>
                                        <p:strVal val="visible"/>
                                      </p:to>
                                    </p:set>
                                    <p:anim calcmode="lin" valueType="num">
                                      <p:cBhvr additive="base">
                                        <p:cTn id="37" dur="500" fill="hold"/>
                                        <p:tgtEl>
                                          <p:spTgt spid="28676">
                                            <p:txEl>
                                              <p:pRg st="1" end="1"/>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867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8676">
                                            <p:txEl>
                                              <p:pRg st="2" end="2"/>
                                            </p:txEl>
                                          </p:spTgt>
                                        </p:tgtEl>
                                        <p:attrNameLst>
                                          <p:attrName>style.visibility</p:attrName>
                                        </p:attrNameLst>
                                      </p:cBhvr>
                                      <p:to>
                                        <p:strVal val="visible"/>
                                      </p:to>
                                    </p:set>
                                    <p:anim calcmode="lin" valueType="num">
                                      <p:cBhvr additive="base">
                                        <p:cTn id="43" dur="500" fill="hold"/>
                                        <p:tgtEl>
                                          <p:spTgt spid="28676">
                                            <p:txEl>
                                              <p:pRg st="2" end="2"/>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867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8" fill="hold" grpId="0" nodeType="clickEffect">
                                  <p:stCondLst>
                                    <p:cond delay="0"/>
                                  </p:stCondLst>
                                  <p:childTnLst>
                                    <p:set>
                                      <p:cBhvr>
                                        <p:cTn id="48" dur="1" fill="hold">
                                          <p:stCondLst>
                                            <p:cond delay="0"/>
                                          </p:stCondLst>
                                        </p:cTn>
                                        <p:tgtEl>
                                          <p:spTgt spid="28681"/>
                                        </p:tgtEl>
                                        <p:attrNameLst>
                                          <p:attrName>style.visibility</p:attrName>
                                        </p:attrNameLst>
                                      </p:cBhvr>
                                      <p:to>
                                        <p:strVal val="visible"/>
                                      </p:to>
                                    </p:set>
                                    <p:anim calcmode="lin" valueType="num">
                                      <p:cBhvr>
                                        <p:cTn id="49" dur="500" fill="hold"/>
                                        <p:tgtEl>
                                          <p:spTgt spid="28681"/>
                                        </p:tgtEl>
                                        <p:attrNameLst>
                                          <p:attrName>ppt_x</p:attrName>
                                        </p:attrNameLst>
                                      </p:cBhvr>
                                      <p:tavLst>
                                        <p:tav tm="0">
                                          <p:val>
                                            <p:strVal val="#ppt_x-#ppt_w/2"/>
                                          </p:val>
                                        </p:tav>
                                        <p:tav tm="100000">
                                          <p:val>
                                            <p:strVal val="#ppt_x"/>
                                          </p:val>
                                        </p:tav>
                                      </p:tavLst>
                                    </p:anim>
                                    <p:anim calcmode="lin" valueType="num">
                                      <p:cBhvr>
                                        <p:cTn id="50" dur="500" fill="hold"/>
                                        <p:tgtEl>
                                          <p:spTgt spid="28681"/>
                                        </p:tgtEl>
                                        <p:attrNameLst>
                                          <p:attrName>ppt_y</p:attrName>
                                        </p:attrNameLst>
                                      </p:cBhvr>
                                      <p:tavLst>
                                        <p:tav tm="0">
                                          <p:val>
                                            <p:strVal val="#ppt_y"/>
                                          </p:val>
                                        </p:tav>
                                        <p:tav tm="100000">
                                          <p:val>
                                            <p:strVal val="#ppt_y"/>
                                          </p:val>
                                        </p:tav>
                                      </p:tavLst>
                                    </p:anim>
                                    <p:anim calcmode="lin" valueType="num">
                                      <p:cBhvr>
                                        <p:cTn id="51" dur="500" fill="hold"/>
                                        <p:tgtEl>
                                          <p:spTgt spid="28681"/>
                                        </p:tgtEl>
                                        <p:attrNameLst>
                                          <p:attrName>ppt_w</p:attrName>
                                        </p:attrNameLst>
                                      </p:cBhvr>
                                      <p:tavLst>
                                        <p:tav tm="0">
                                          <p:val>
                                            <p:fltVal val="0"/>
                                          </p:val>
                                        </p:tav>
                                        <p:tav tm="100000">
                                          <p:val>
                                            <p:strVal val="#ppt_w"/>
                                          </p:val>
                                        </p:tav>
                                      </p:tavLst>
                                    </p:anim>
                                    <p:anim calcmode="lin" valueType="num">
                                      <p:cBhvr>
                                        <p:cTn id="52" dur="500" fill="hold"/>
                                        <p:tgtEl>
                                          <p:spTgt spid="28681"/>
                                        </p:tgtEl>
                                        <p:attrNameLst>
                                          <p:attrName>ppt_h</p:attrName>
                                        </p:attrNameLst>
                                      </p:cBhvr>
                                      <p:tavLst>
                                        <p:tav tm="0">
                                          <p:val>
                                            <p:strVal val="#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28693"/>
                                        </p:tgtEl>
                                        <p:attrNameLst>
                                          <p:attrName>style.visibility</p:attrName>
                                        </p:attrNameLst>
                                      </p:cBhvr>
                                      <p:to>
                                        <p:strVal val="visible"/>
                                      </p:to>
                                    </p:set>
                                    <p:anim calcmode="lin" valueType="num">
                                      <p:cBhvr additive="base">
                                        <p:cTn id="57" dur="500" fill="hold"/>
                                        <p:tgtEl>
                                          <p:spTgt spid="28693"/>
                                        </p:tgtEl>
                                        <p:attrNameLst>
                                          <p:attrName>ppt_x</p:attrName>
                                        </p:attrNameLst>
                                      </p:cBhvr>
                                      <p:tavLst>
                                        <p:tav tm="0">
                                          <p:val>
                                            <p:strVal val="0-#ppt_w/2"/>
                                          </p:val>
                                        </p:tav>
                                        <p:tav tm="100000">
                                          <p:val>
                                            <p:strVal val="#ppt_x"/>
                                          </p:val>
                                        </p:tav>
                                      </p:tavLst>
                                    </p:anim>
                                    <p:anim calcmode="lin" valueType="num">
                                      <p:cBhvr additive="base">
                                        <p:cTn id="58" dur="500" fill="hold"/>
                                        <p:tgtEl>
                                          <p:spTgt spid="28693"/>
                                        </p:tgtEl>
                                        <p:attrNameLst>
                                          <p:attrName>ppt_y</p:attrName>
                                        </p:attrNameLst>
                                      </p:cBhvr>
                                      <p:tavLst>
                                        <p:tav tm="0">
                                          <p:val>
                                            <p:strVal val="#ppt_y"/>
                                          </p:val>
                                        </p:tav>
                                        <p:tav tm="100000">
                                          <p:val>
                                            <p:strVal val="#ppt_y"/>
                                          </p:val>
                                        </p:tav>
                                      </p:tavLst>
                                    </p:anim>
                                  </p:childTnLst>
                                </p:cTn>
                              </p:par>
                              <p:par>
                                <p:cTn id="59" presetID="1" presetClass="entr" presetSubtype="0" fill="hold" grpId="0" nodeType="withEffect">
                                  <p:stCondLst>
                                    <p:cond delay="0"/>
                                  </p:stCondLst>
                                  <p:childTnLst>
                                    <p:set>
                                      <p:cBhvr>
                                        <p:cTn id="60" dur="1" fill="hold">
                                          <p:stCondLst>
                                            <p:cond delay="0"/>
                                          </p:stCondLst>
                                        </p:cTn>
                                        <p:tgtEl>
                                          <p:spTgt spid="3176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nodeType="clickEffect">
                                  <p:stCondLst>
                                    <p:cond delay="0"/>
                                  </p:stCondLst>
                                  <p:childTnLst>
                                    <p:set>
                                      <p:cBhvr>
                                        <p:cTn id="64" dur="1" fill="hold">
                                          <p:stCondLst>
                                            <p:cond delay="0"/>
                                          </p:stCondLst>
                                        </p:cTn>
                                        <p:tgtEl>
                                          <p:spTgt spid="28694"/>
                                        </p:tgtEl>
                                        <p:attrNameLst>
                                          <p:attrName>style.visibility</p:attrName>
                                        </p:attrNameLst>
                                      </p:cBhvr>
                                      <p:to>
                                        <p:strVal val="visible"/>
                                      </p:to>
                                    </p:set>
                                    <p:anim calcmode="lin" valueType="num">
                                      <p:cBhvr additive="base">
                                        <p:cTn id="65" dur="500" fill="hold"/>
                                        <p:tgtEl>
                                          <p:spTgt spid="28694"/>
                                        </p:tgtEl>
                                        <p:attrNameLst>
                                          <p:attrName>ppt_x</p:attrName>
                                        </p:attrNameLst>
                                      </p:cBhvr>
                                      <p:tavLst>
                                        <p:tav tm="0">
                                          <p:val>
                                            <p:strVal val="0-#ppt_w/2"/>
                                          </p:val>
                                        </p:tav>
                                        <p:tav tm="100000">
                                          <p:val>
                                            <p:strVal val="#ppt_x"/>
                                          </p:val>
                                        </p:tav>
                                      </p:tavLst>
                                    </p:anim>
                                    <p:anim calcmode="lin" valueType="num">
                                      <p:cBhvr additive="base">
                                        <p:cTn id="66" dur="500" fill="hold"/>
                                        <p:tgtEl>
                                          <p:spTgt spid="28694"/>
                                        </p:tgtEl>
                                        <p:attrNameLst>
                                          <p:attrName>ppt_y</p:attrName>
                                        </p:attrNameLst>
                                      </p:cBhvr>
                                      <p:tavLst>
                                        <p:tav tm="0">
                                          <p:val>
                                            <p:strVal val="#ppt_y"/>
                                          </p:val>
                                        </p:tav>
                                        <p:tav tm="100000">
                                          <p:val>
                                            <p:strVal val="#ppt_y"/>
                                          </p:val>
                                        </p:tav>
                                      </p:tavLst>
                                    </p:anim>
                                  </p:childTnLst>
                                </p:cTn>
                              </p:par>
                              <p:par>
                                <p:cTn id="67" presetID="1" presetClass="entr" presetSubtype="0" fill="hold" grpId="0" nodeType="withEffect">
                                  <p:stCondLst>
                                    <p:cond delay="0"/>
                                  </p:stCondLst>
                                  <p:childTnLst>
                                    <p:set>
                                      <p:cBhvr>
                                        <p:cTn id="68" dur="1" fill="hold">
                                          <p:stCondLst>
                                            <p:cond delay="0"/>
                                          </p:stCondLst>
                                        </p:cTn>
                                        <p:tgtEl>
                                          <p:spTgt spid="3176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nodeType="clickEffect">
                                  <p:stCondLst>
                                    <p:cond delay="0"/>
                                  </p:stCondLst>
                                  <p:childTnLst>
                                    <p:set>
                                      <p:cBhvr>
                                        <p:cTn id="72" dur="1" fill="hold">
                                          <p:stCondLst>
                                            <p:cond delay="0"/>
                                          </p:stCondLst>
                                        </p:cTn>
                                        <p:tgtEl>
                                          <p:spTgt spid="28695"/>
                                        </p:tgtEl>
                                        <p:attrNameLst>
                                          <p:attrName>style.visibility</p:attrName>
                                        </p:attrNameLst>
                                      </p:cBhvr>
                                      <p:to>
                                        <p:strVal val="visible"/>
                                      </p:to>
                                    </p:set>
                                    <p:anim calcmode="lin" valueType="num">
                                      <p:cBhvr additive="base">
                                        <p:cTn id="73" dur="500" fill="hold"/>
                                        <p:tgtEl>
                                          <p:spTgt spid="28695"/>
                                        </p:tgtEl>
                                        <p:attrNameLst>
                                          <p:attrName>ppt_x</p:attrName>
                                        </p:attrNameLst>
                                      </p:cBhvr>
                                      <p:tavLst>
                                        <p:tav tm="0">
                                          <p:val>
                                            <p:strVal val="0-#ppt_w/2"/>
                                          </p:val>
                                        </p:tav>
                                        <p:tav tm="100000">
                                          <p:val>
                                            <p:strVal val="#ppt_x"/>
                                          </p:val>
                                        </p:tav>
                                      </p:tavLst>
                                    </p:anim>
                                    <p:anim calcmode="lin" valueType="num">
                                      <p:cBhvr additive="base">
                                        <p:cTn id="74" dur="500" fill="hold"/>
                                        <p:tgtEl>
                                          <p:spTgt spid="28695"/>
                                        </p:tgtEl>
                                        <p:attrNameLst>
                                          <p:attrName>ppt_y</p:attrName>
                                        </p:attrNameLst>
                                      </p:cBhvr>
                                      <p:tavLst>
                                        <p:tav tm="0">
                                          <p:val>
                                            <p:strVal val="#ppt_y"/>
                                          </p:val>
                                        </p:tav>
                                        <p:tav tm="100000">
                                          <p:val>
                                            <p:strVal val="#ppt_y"/>
                                          </p:val>
                                        </p:tav>
                                      </p:tavLst>
                                    </p:anim>
                                  </p:childTnLst>
                                </p:cTn>
                              </p:par>
                              <p:par>
                                <p:cTn id="75" presetID="1" presetClass="entr" presetSubtype="0" fill="hold" grpId="0" nodeType="withEffect">
                                  <p:stCondLst>
                                    <p:cond delay="0"/>
                                  </p:stCondLst>
                                  <p:childTnLst>
                                    <p:set>
                                      <p:cBhvr>
                                        <p:cTn id="76" dur="1" fill="hold">
                                          <p:stCondLst>
                                            <p:cond delay="0"/>
                                          </p:stCondLst>
                                        </p:cTn>
                                        <p:tgtEl>
                                          <p:spTgt spid="3176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7" presetClass="entr" presetSubtype="8" fill="hold" grpId="0" nodeType="clickEffect">
                                  <p:stCondLst>
                                    <p:cond delay="0"/>
                                  </p:stCondLst>
                                  <p:childTnLst>
                                    <p:set>
                                      <p:cBhvr>
                                        <p:cTn id="80" dur="1" fill="hold">
                                          <p:stCondLst>
                                            <p:cond delay="0"/>
                                          </p:stCondLst>
                                        </p:cTn>
                                        <p:tgtEl>
                                          <p:spTgt spid="28691">
                                            <p:bg/>
                                          </p:spTgt>
                                        </p:tgtEl>
                                        <p:attrNameLst>
                                          <p:attrName>style.visibility</p:attrName>
                                        </p:attrNameLst>
                                      </p:cBhvr>
                                      <p:to>
                                        <p:strVal val="visible"/>
                                      </p:to>
                                    </p:set>
                                    <p:anim calcmode="lin" valueType="num">
                                      <p:cBhvr>
                                        <p:cTn id="81" dur="500" fill="hold"/>
                                        <p:tgtEl>
                                          <p:spTgt spid="28691">
                                            <p:bg/>
                                          </p:spTgt>
                                        </p:tgtEl>
                                        <p:attrNameLst>
                                          <p:attrName>ppt_x</p:attrName>
                                        </p:attrNameLst>
                                      </p:cBhvr>
                                      <p:tavLst>
                                        <p:tav tm="0">
                                          <p:val>
                                            <p:strVal val="#ppt_x-#ppt_w/2"/>
                                          </p:val>
                                        </p:tav>
                                        <p:tav tm="100000">
                                          <p:val>
                                            <p:strVal val="#ppt_x"/>
                                          </p:val>
                                        </p:tav>
                                      </p:tavLst>
                                    </p:anim>
                                    <p:anim calcmode="lin" valueType="num">
                                      <p:cBhvr>
                                        <p:cTn id="82" dur="500" fill="hold"/>
                                        <p:tgtEl>
                                          <p:spTgt spid="28691">
                                            <p:bg/>
                                          </p:spTgt>
                                        </p:tgtEl>
                                        <p:attrNameLst>
                                          <p:attrName>ppt_y</p:attrName>
                                        </p:attrNameLst>
                                      </p:cBhvr>
                                      <p:tavLst>
                                        <p:tav tm="0">
                                          <p:val>
                                            <p:strVal val="#ppt_y"/>
                                          </p:val>
                                        </p:tav>
                                        <p:tav tm="100000">
                                          <p:val>
                                            <p:strVal val="#ppt_y"/>
                                          </p:val>
                                        </p:tav>
                                      </p:tavLst>
                                    </p:anim>
                                    <p:anim calcmode="lin" valueType="num">
                                      <p:cBhvr>
                                        <p:cTn id="83" dur="500" fill="hold"/>
                                        <p:tgtEl>
                                          <p:spTgt spid="28691">
                                            <p:bg/>
                                          </p:spTgt>
                                        </p:tgtEl>
                                        <p:attrNameLst>
                                          <p:attrName>ppt_w</p:attrName>
                                        </p:attrNameLst>
                                      </p:cBhvr>
                                      <p:tavLst>
                                        <p:tav tm="0">
                                          <p:val>
                                            <p:fltVal val="0"/>
                                          </p:val>
                                        </p:tav>
                                        <p:tav tm="100000">
                                          <p:val>
                                            <p:strVal val="#ppt_w"/>
                                          </p:val>
                                        </p:tav>
                                      </p:tavLst>
                                    </p:anim>
                                    <p:anim calcmode="lin" valueType="num">
                                      <p:cBhvr>
                                        <p:cTn id="84" dur="500" fill="hold"/>
                                        <p:tgtEl>
                                          <p:spTgt spid="28691">
                                            <p:bg/>
                                          </p:spTgt>
                                        </p:tgtEl>
                                        <p:attrNameLst>
                                          <p:attrName>ppt_h</p:attrName>
                                        </p:attrNameLst>
                                      </p:cBhvr>
                                      <p:tavLst>
                                        <p:tav tm="0">
                                          <p:val>
                                            <p:strVal val="#ppt_h"/>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17" presetClass="entr" presetSubtype="8" fill="hold" grpId="0" nodeType="clickEffect">
                                  <p:stCondLst>
                                    <p:cond delay="0"/>
                                  </p:stCondLst>
                                  <p:childTnLst>
                                    <p:set>
                                      <p:cBhvr>
                                        <p:cTn id="88" dur="1" fill="hold">
                                          <p:stCondLst>
                                            <p:cond delay="0"/>
                                          </p:stCondLst>
                                        </p:cTn>
                                        <p:tgtEl>
                                          <p:spTgt spid="28691">
                                            <p:txEl>
                                              <p:pRg st="0" end="0"/>
                                            </p:txEl>
                                          </p:spTgt>
                                        </p:tgtEl>
                                        <p:attrNameLst>
                                          <p:attrName>style.visibility</p:attrName>
                                        </p:attrNameLst>
                                      </p:cBhvr>
                                      <p:to>
                                        <p:strVal val="visible"/>
                                      </p:to>
                                    </p:set>
                                    <p:anim calcmode="lin" valueType="num">
                                      <p:cBhvr>
                                        <p:cTn id="89" dur="500" fill="hold"/>
                                        <p:tgtEl>
                                          <p:spTgt spid="28691">
                                            <p:txEl>
                                              <p:pRg st="0" end="0"/>
                                            </p:txEl>
                                          </p:spTgt>
                                        </p:tgtEl>
                                        <p:attrNameLst>
                                          <p:attrName>ppt_x</p:attrName>
                                        </p:attrNameLst>
                                      </p:cBhvr>
                                      <p:tavLst>
                                        <p:tav tm="0">
                                          <p:val>
                                            <p:strVal val="#ppt_x-#ppt_w/2"/>
                                          </p:val>
                                        </p:tav>
                                        <p:tav tm="100000">
                                          <p:val>
                                            <p:strVal val="#ppt_x"/>
                                          </p:val>
                                        </p:tav>
                                      </p:tavLst>
                                    </p:anim>
                                    <p:anim calcmode="lin" valueType="num">
                                      <p:cBhvr>
                                        <p:cTn id="90" dur="500" fill="hold"/>
                                        <p:tgtEl>
                                          <p:spTgt spid="28691">
                                            <p:txEl>
                                              <p:pRg st="0" end="0"/>
                                            </p:txEl>
                                          </p:spTgt>
                                        </p:tgtEl>
                                        <p:attrNameLst>
                                          <p:attrName>ppt_y</p:attrName>
                                        </p:attrNameLst>
                                      </p:cBhvr>
                                      <p:tavLst>
                                        <p:tav tm="0">
                                          <p:val>
                                            <p:strVal val="#ppt_y"/>
                                          </p:val>
                                        </p:tav>
                                        <p:tav tm="100000">
                                          <p:val>
                                            <p:strVal val="#ppt_y"/>
                                          </p:val>
                                        </p:tav>
                                      </p:tavLst>
                                    </p:anim>
                                    <p:anim calcmode="lin" valueType="num">
                                      <p:cBhvr>
                                        <p:cTn id="91" dur="500" fill="hold"/>
                                        <p:tgtEl>
                                          <p:spTgt spid="28691">
                                            <p:txEl>
                                              <p:pRg st="0" end="0"/>
                                            </p:txEl>
                                          </p:spTgt>
                                        </p:tgtEl>
                                        <p:attrNameLst>
                                          <p:attrName>ppt_w</p:attrName>
                                        </p:attrNameLst>
                                      </p:cBhvr>
                                      <p:tavLst>
                                        <p:tav tm="0">
                                          <p:val>
                                            <p:fltVal val="0"/>
                                          </p:val>
                                        </p:tav>
                                        <p:tav tm="100000">
                                          <p:val>
                                            <p:strVal val="#ppt_w"/>
                                          </p:val>
                                        </p:tav>
                                      </p:tavLst>
                                    </p:anim>
                                    <p:anim calcmode="lin" valueType="num">
                                      <p:cBhvr>
                                        <p:cTn id="92" dur="500" fill="hold"/>
                                        <p:tgtEl>
                                          <p:spTgt spid="28691">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3" fill="hold">
                      <p:stCondLst>
                        <p:cond delay="indefinite"/>
                      </p:stCondLst>
                      <p:childTnLst>
                        <p:par>
                          <p:cTn id="94" fill="hold">
                            <p:stCondLst>
                              <p:cond delay="0"/>
                            </p:stCondLst>
                            <p:childTnLst>
                              <p:par>
                                <p:cTn id="95" presetID="17" presetClass="entr" presetSubtype="8" fill="hold" grpId="0" nodeType="clickEffect">
                                  <p:stCondLst>
                                    <p:cond delay="0"/>
                                  </p:stCondLst>
                                  <p:childTnLst>
                                    <p:set>
                                      <p:cBhvr>
                                        <p:cTn id="96" dur="1" fill="hold">
                                          <p:stCondLst>
                                            <p:cond delay="0"/>
                                          </p:stCondLst>
                                        </p:cTn>
                                        <p:tgtEl>
                                          <p:spTgt spid="28691">
                                            <p:txEl>
                                              <p:pRg st="1" end="1"/>
                                            </p:txEl>
                                          </p:spTgt>
                                        </p:tgtEl>
                                        <p:attrNameLst>
                                          <p:attrName>style.visibility</p:attrName>
                                        </p:attrNameLst>
                                      </p:cBhvr>
                                      <p:to>
                                        <p:strVal val="visible"/>
                                      </p:to>
                                    </p:set>
                                    <p:anim calcmode="lin" valueType="num">
                                      <p:cBhvr>
                                        <p:cTn id="97" dur="500" fill="hold"/>
                                        <p:tgtEl>
                                          <p:spTgt spid="28691">
                                            <p:txEl>
                                              <p:pRg st="1" end="1"/>
                                            </p:txEl>
                                          </p:spTgt>
                                        </p:tgtEl>
                                        <p:attrNameLst>
                                          <p:attrName>ppt_x</p:attrName>
                                        </p:attrNameLst>
                                      </p:cBhvr>
                                      <p:tavLst>
                                        <p:tav tm="0">
                                          <p:val>
                                            <p:strVal val="#ppt_x-#ppt_w/2"/>
                                          </p:val>
                                        </p:tav>
                                        <p:tav tm="100000">
                                          <p:val>
                                            <p:strVal val="#ppt_x"/>
                                          </p:val>
                                        </p:tav>
                                      </p:tavLst>
                                    </p:anim>
                                    <p:anim calcmode="lin" valueType="num">
                                      <p:cBhvr>
                                        <p:cTn id="98" dur="500" fill="hold"/>
                                        <p:tgtEl>
                                          <p:spTgt spid="28691">
                                            <p:txEl>
                                              <p:pRg st="1" end="1"/>
                                            </p:txEl>
                                          </p:spTgt>
                                        </p:tgtEl>
                                        <p:attrNameLst>
                                          <p:attrName>ppt_y</p:attrName>
                                        </p:attrNameLst>
                                      </p:cBhvr>
                                      <p:tavLst>
                                        <p:tav tm="0">
                                          <p:val>
                                            <p:strVal val="#ppt_y"/>
                                          </p:val>
                                        </p:tav>
                                        <p:tav tm="100000">
                                          <p:val>
                                            <p:strVal val="#ppt_y"/>
                                          </p:val>
                                        </p:tav>
                                      </p:tavLst>
                                    </p:anim>
                                    <p:anim calcmode="lin" valueType="num">
                                      <p:cBhvr>
                                        <p:cTn id="99" dur="500" fill="hold"/>
                                        <p:tgtEl>
                                          <p:spTgt spid="28691">
                                            <p:txEl>
                                              <p:pRg st="1" end="1"/>
                                            </p:txEl>
                                          </p:spTgt>
                                        </p:tgtEl>
                                        <p:attrNameLst>
                                          <p:attrName>ppt_w</p:attrName>
                                        </p:attrNameLst>
                                      </p:cBhvr>
                                      <p:tavLst>
                                        <p:tav tm="0">
                                          <p:val>
                                            <p:fltVal val="0"/>
                                          </p:val>
                                        </p:tav>
                                        <p:tav tm="100000">
                                          <p:val>
                                            <p:strVal val="#ppt_w"/>
                                          </p:val>
                                        </p:tav>
                                      </p:tavLst>
                                    </p:anim>
                                    <p:anim calcmode="lin" valueType="num">
                                      <p:cBhvr>
                                        <p:cTn id="100" dur="500" fill="hold"/>
                                        <p:tgtEl>
                                          <p:spTgt spid="28691">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01" fill="hold">
                      <p:stCondLst>
                        <p:cond delay="indefinite"/>
                      </p:stCondLst>
                      <p:childTnLst>
                        <p:par>
                          <p:cTn id="102" fill="hold">
                            <p:stCondLst>
                              <p:cond delay="0"/>
                            </p:stCondLst>
                            <p:childTnLst>
                              <p:par>
                                <p:cTn id="103" presetID="17" presetClass="entr" presetSubtype="8" fill="hold" grpId="0" nodeType="clickEffect">
                                  <p:stCondLst>
                                    <p:cond delay="0"/>
                                  </p:stCondLst>
                                  <p:childTnLst>
                                    <p:set>
                                      <p:cBhvr>
                                        <p:cTn id="104" dur="1" fill="hold">
                                          <p:stCondLst>
                                            <p:cond delay="0"/>
                                          </p:stCondLst>
                                        </p:cTn>
                                        <p:tgtEl>
                                          <p:spTgt spid="28691">
                                            <p:txEl>
                                              <p:pRg st="2" end="2"/>
                                            </p:txEl>
                                          </p:spTgt>
                                        </p:tgtEl>
                                        <p:attrNameLst>
                                          <p:attrName>style.visibility</p:attrName>
                                        </p:attrNameLst>
                                      </p:cBhvr>
                                      <p:to>
                                        <p:strVal val="visible"/>
                                      </p:to>
                                    </p:set>
                                    <p:anim calcmode="lin" valueType="num">
                                      <p:cBhvr>
                                        <p:cTn id="105" dur="500" fill="hold"/>
                                        <p:tgtEl>
                                          <p:spTgt spid="28691">
                                            <p:txEl>
                                              <p:pRg st="2" end="2"/>
                                            </p:txEl>
                                          </p:spTgt>
                                        </p:tgtEl>
                                        <p:attrNameLst>
                                          <p:attrName>ppt_x</p:attrName>
                                        </p:attrNameLst>
                                      </p:cBhvr>
                                      <p:tavLst>
                                        <p:tav tm="0">
                                          <p:val>
                                            <p:strVal val="#ppt_x-#ppt_w/2"/>
                                          </p:val>
                                        </p:tav>
                                        <p:tav tm="100000">
                                          <p:val>
                                            <p:strVal val="#ppt_x"/>
                                          </p:val>
                                        </p:tav>
                                      </p:tavLst>
                                    </p:anim>
                                    <p:anim calcmode="lin" valueType="num">
                                      <p:cBhvr>
                                        <p:cTn id="106" dur="500" fill="hold"/>
                                        <p:tgtEl>
                                          <p:spTgt spid="28691">
                                            <p:txEl>
                                              <p:pRg st="2" end="2"/>
                                            </p:txEl>
                                          </p:spTgt>
                                        </p:tgtEl>
                                        <p:attrNameLst>
                                          <p:attrName>ppt_y</p:attrName>
                                        </p:attrNameLst>
                                      </p:cBhvr>
                                      <p:tavLst>
                                        <p:tav tm="0">
                                          <p:val>
                                            <p:strVal val="#ppt_y"/>
                                          </p:val>
                                        </p:tav>
                                        <p:tav tm="100000">
                                          <p:val>
                                            <p:strVal val="#ppt_y"/>
                                          </p:val>
                                        </p:tav>
                                      </p:tavLst>
                                    </p:anim>
                                    <p:anim calcmode="lin" valueType="num">
                                      <p:cBhvr>
                                        <p:cTn id="107" dur="500" fill="hold"/>
                                        <p:tgtEl>
                                          <p:spTgt spid="28691">
                                            <p:txEl>
                                              <p:pRg st="2" end="2"/>
                                            </p:txEl>
                                          </p:spTgt>
                                        </p:tgtEl>
                                        <p:attrNameLst>
                                          <p:attrName>ppt_w</p:attrName>
                                        </p:attrNameLst>
                                      </p:cBhvr>
                                      <p:tavLst>
                                        <p:tav tm="0">
                                          <p:val>
                                            <p:fltVal val="0"/>
                                          </p:val>
                                        </p:tav>
                                        <p:tav tm="100000">
                                          <p:val>
                                            <p:strVal val="#ppt_w"/>
                                          </p:val>
                                        </p:tav>
                                      </p:tavLst>
                                    </p:anim>
                                    <p:anim calcmode="lin" valueType="num">
                                      <p:cBhvr>
                                        <p:cTn id="108" dur="500" fill="hold"/>
                                        <p:tgtEl>
                                          <p:spTgt spid="28691">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iterate type="lt">
                                    <p:tmAbs val="75"/>
                                  </p:iterate>
                                  <p:childTnLst>
                                    <p:set>
                                      <p:cBhvr>
                                        <p:cTn id="112" dur="1" fill="hold">
                                          <p:stCondLst>
                                            <p:cond delay="74"/>
                                          </p:stCondLst>
                                        </p:cTn>
                                        <p:tgtEl>
                                          <p:spTgt spid="28680"/>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7" presetClass="entr" presetSubtype="8" fill="hold" grpId="0" nodeType="clickEffect">
                                  <p:stCondLst>
                                    <p:cond delay="0"/>
                                  </p:stCondLst>
                                  <p:childTnLst>
                                    <p:set>
                                      <p:cBhvr>
                                        <p:cTn id="116" dur="1" fill="hold">
                                          <p:stCondLst>
                                            <p:cond delay="0"/>
                                          </p:stCondLst>
                                        </p:cTn>
                                        <p:tgtEl>
                                          <p:spTgt spid="28692"/>
                                        </p:tgtEl>
                                        <p:attrNameLst>
                                          <p:attrName>style.visibility</p:attrName>
                                        </p:attrNameLst>
                                      </p:cBhvr>
                                      <p:to>
                                        <p:strVal val="visible"/>
                                      </p:to>
                                    </p:set>
                                    <p:anim calcmode="lin" valueType="num">
                                      <p:cBhvr>
                                        <p:cTn id="117" dur="500" fill="hold"/>
                                        <p:tgtEl>
                                          <p:spTgt spid="28692"/>
                                        </p:tgtEl>
                                        <p:attrNameLst>
                                          <p:attrName>ppt_x</p:attrName>
                                        </p:attrNameLst>
                                      </p:cBhvr>
                                      <p:tavLst>
                                        <p:tav tm="0">
                                          <p:val>
                                            <p:strVal val="#ppt_x-#ppt_w/2"/>
                                          </p:val>
                                        </p:tav>
                                        <p:tav tm="100000">
                                          <p:val>
                                            <p:strVal val="#ppt_x"/>
                                          </p:val>
                                        </p:tav>
                                      </p:tavLst>
                                    </p:anim>
                                    <p:anim calcmode="lin" valueType="num">
                                      <p:cBhvr>
                                        <p:cTn id="118" dur="500" fill="hold"/>
                                        <p:tgtEl>
                                          <p:spTgt spid="28692"/>
                                        </p:tgtEl>
                                        <p:attrNameLst>
                                          <p:attrName>ppt_y</p:attrName>
                                        </p:attrNameLst>
                                      </p:cBhvr>
                                      <p:tavLst>
                                        <p:tav tm="0">
                                          <p:val>
                                            <p:strVal val="#ppt_y"/>
                                          </p:val>
                                        </p:tav>
                                        <p:tav tm="100000">
                                          <p:val>
                                            <p:strVal val="#ppt_y"/>
                                          </p:val>
                                        </p:tav>
                                      </p:tavLst>
                                    </p:anim>
                                    <p:anim calcmode="lin" valueType="num">
                                      <p:cBhvr>
                                        <p:cTn id="119" dur="500" fill="hold"/>
                                        <p:tgtEl>
                                          <p:spTgt spid="28692"/>
                                        </p:tgtEl>
                                        <p:attrNameLst>
                                          <p:attrName>ppt_w</p:attrName>
                                        </p:attrNameLst>
                                      </p:cBhvr>
                                      <p:tavLst>
                                        <p:tav tm="0">
                                          <p:val>
                                            <p:fltVal val="0"/>
                                          </p:val>
                                        </p:tav>
                                        <p:tav tm="100000">
                                          <p:val>
                                            <p:strVal val="#ppt_w"/>
                                          </p:val>
                                        </p:tav>
                                      </p:tavLst>
                                    </p:anim>
                                    <p:anim calcmode="lin" valueType="num">
                                      <p:cBhvr>
                                        <p:cTn id="120" dur="500" fill="hold"/>
                                        <p:tgtEl>
                                          <p:spTgt spid="2869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build="p"/>
      <p:bldP spid="28677" grpId="0" bldLvl="0" animBg="1"/>
      <p:bldP spid="28678" grpId="0" bldLvl="0" animBg="1"/>
      <p:bldP spid="28679" grpId="0" bldLvl="0" animBg="1"/>
      <p:bldP spid="28680" grpId="0" bldLvl="0" animBg="1"/>
      <p:bldP spid="28681" grpId="0"/>
      <p:bldP spid="31767" grpId="0"/>
      <p:bldP spid="31765" grpId="0"/>
      <p:bldP spid="31763" grpId="0"/>
      <p:bldP spid="28691" grpId="0" uiExpand="1" build="p" animBg="1"/>
      <p:bldP spid="2869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p:cNvSpPr>
          <p:nvPr>
            <p:ph sz="half" idx="1"/>
          </p:nvPr>
        </p:nvSpPr>
        <p:spPr>
          <a:xfrm>
            <a:off x="227755" y="1315720"/>
            <a:ext cx="4708455" cy="1778318"/>
          </a:xfrm>
        </p:spPr>
        <p:txBody>
          <a:bodyPr vert="horz" wrap="square" lIns="68580" tIns="34290" rIns="68580" bIns="34290" rtlCol="0" anchor="t" anchorCtr="0">
            <a:normAutofit/>
          </a:bodyPr>
          <a:lstStyle/>
          <a:p>
            <a:pPr marL="0" indent="0" eaLnBrk="1" hangingPunct="1">
              <a:lnSpc>
                <a:spcPct val="120000"/>
              </a:lnSpc>
              <a:buSzTx/>
              <a:buNone/>
            </a:pPr>
            <a:r>
              <a:rPr lang="zh-CN" altLang="en-US" sz="2000" b="1" dirty="0">
                <a:solidFill>
                  <a:srgbClr val="C00000"/>
                </a:solidFill>
              </a:rPr>
              <a:t>（</a:t>
            </a:r>
            <a:r>
              <a:rPr lang="en-US" altLang="zh-CN" sz="2000" b="1" dirty="0">
                <a:solidFill>
                  <a:srgbClr val="C00000"/>
                </a:solidFill>
              </a:rPr>
              <a:t>1</a:t>
            </a:r>
            <a:r>
              <a:rPr lang="zh-CN" altLang="en-US" sz="2000" b="1" dirty="0">
                <a:solidFill>
                  <a:srgbClr val="C00000"/>
                </a:solidFill>
              </a:rPr>
              <a:t>）选择表中的列</a:t>
            </a:r>
          </a:p>
          <a:p>
            <a:pPr marL="0" indent="0" eaLnBrk="1" hangingPunct="1">
              <a:spcBef>
                <a:spcPct val="30000"/>
              </a:spcBef>
              <a:buSzPct val="60000"/>
              <a:buNone/>
            </a:pPr>
            <a:r>
              <a:rPr lang="zh-CN" altLang="en-US" sz="1800" b="1" dirty="0">
                <a:solidFill>
                  <a:schemeClr val="hlink"/>
                </a:solidFill>
              </a:rPr>
              <a:t>例</a:t>
            </a:r>
            <a:r>
              <a:rPr lang="en-US" altLang="zh-CN" sz="1800" b="1" dirty="0">
                <a:solidFill>
                  <a:schemeClr val="hlink"/>
                </a:solidFill>
              </a:rPr>
              <a:t>: </a:t>
            </a:r>
            <a:r>
              <a:rPr lang="zh-CN" altLang="en-US" sz="1800" b="1" dirty="0"/>
              <a:t>查询所有学生的姓名、学号、所在院系。</a:t>
            </a:r>
          </a:p>
        </p:txBody>
      </p:sp>
      <p:sp>
        <p:nvSpPr>
          <p:cNvPr id="29700" name="Rectangle 4"/>
          <p:cNvSpPr>
            <a:spLocks noGrp="1"/>
          </p:cNvSpPr>
          <p:nvPr>
            <p:ph sz="half" idx="2"/>
          </p:nvPr>
        </p:nvSpPr>
        <p:spPr>
          <a:xfrm>
            <a:off x="91674" y="2821146"/>
            <a:ext cx="3472936" cy="1485900"/>
          </a:xfrm>
        </p:spPr>
        <p:txBody>
          <a:bodyPr vert="horz" wrap="square" lIns="68580" tIns="34290" rIns="68580" bIns="34290" rtlCol="0" anchor="t" anchorCtr="0">
            <a:normAutofit/>
          </a:bodyPr>
          <a:lstStyle/>
          <a:p>
            <a:pPr>
              <a:lnSpc>
                <a:spcPct val="100000"/>
              </a:lnSpc>
              <a:buSzPct val="60000"/>
              <a:buFont typeface="Wingdings" panose="05000000000000000000" pitchFamily="2" charset="2"/>
              <a:buNone/>
            </a:pPr>
            <a:r>
              <a:rPr lang="en-US" altLang="zh-CN" sz="1800" b="1" dirty="0"/>
              <a:t>SELECT </a:t>
            </a:r>
            <a:r>
              <a:rPr lang="en-US" altLang="zh-CN" sz="1800" b="1" dirty="0">
                <a:solidFill>
                  <a:schemeClr val="hlink"/>
                </a:solidFill>
              </a:rPr>
              <a:t>sname</a:t>
            </a:r>
            <a:r>
              <a:rPr lang="zh-CN" altLang="en-US" sz="1800" b="1" dirty="0">
                <a:solidFill>
                  <a:schemeClr val="hlink"/>
                </a:solidFill>
              </a:rPr>
              <a:t>，</a:t>
            </a:r>
            <a:r>
              <a:rPr lang="en-US" altLang="zh-CN" sz="1800" b="1" dirty="0">
                <a:solidFill>
                  <a:schemeClr val="hlink"/>
                </a:solidFill>
              </a:rPr>
              <a:t>sno</a:t>
            </a:r>
            <a:r>
              <a:rPr lang="zh-CN" altLang="en-US" sz="1800" b="1" dirty="0">
                <a:solidFill>
                  <a:schemeClr val="hlink"/>
                </a:solidFill>
              </a:rPr>
              <a:t>，</a:t>
            </a:r>
            <a:r>
              <a:rPr lang="en-US" altLang="zh-CN" sz="1800" b="1" dirty="0">
                <a:solidFill>
                  <a:schemeClr val="hlink"/>
                </a:solidFill>
              </a:rPr>
              <a:t>dept</a:t>
            </a:r>
          </a:p>
          <a:p>
            <a:pPr>
              <a:lnSpc>
                <a:spcPct val="100000"/>
              </a:lnSpc>
              <a:buSzPct val="60000"/>
              <a:buFont typeface="Wingdings" panose="05000000000000000000" pitchFamily="2" charset="2"/>
              <a:buNone/>
            </a:pPr>
            <a:r>
              <a:rPr lang="en-US" altLang="zh-CN" sz="1800" b="1" dirty="0"/>
              <a:t>FROM Student </a:t>
            </a:r>
          </a:p>
          <a:p>
            <a:pPr>
              <a:lnSpc>
                <a:spcPct val="100000"/>
              </a:lnSpc>
              <a:buSzPct val="60000"/>
              <a:buFont typeface="Wingdings" panose="05000000000000000000" pitchFamily="2" charset="2"/>
              <a:buNone/>
            </a:pPr>
            <a:r>
              <a:rPr lang="en-US" altLang="zh-CN" sz="1800" b="1" strike="sngStrike" dirty="0">
                <a:solidFill>
                  <a:schemeClr val="folHlink"/>
                </a:solidFill>
              </a:rPr>
              <a:t>WHERE True ;</a:t>
            </a:r>
            <a:endParaRPr lang="en-US" altLang="zh-CN" sz="1800" b="1" strike="sngStrike" dirty="0"/>
          </a:p>
        </p:txBody>
      </p:sp>
      <p:sp>
        <p:nvSpPr>
          <p:cNvPr id="29701" name="Text Box 5"/>
          <p:cNvSpPr txBox="1"/>
          <p:nvPr/>
        </p:nvSpPr>
        <p:spPr>
          <a:xfrm>
            <a:off x="3833466" y="2897333"/>
            <a:ext cx="2205488" cy="991425"/>
          </a:xfrm>
          <a:prstGeom prst="rect">
            <a:avLst/>
          </a:prstGeom>
          <a:solidFill>
            <a:srgbClr val="BFFFEE"/>
          </a:solidFill>
          <a:ln w="9525">
            <a:noFill/>
          </a:ln>
        </p:spPr>
        <p:txBody>
          <a:bodyPr wrap="square">
            <a:spAutoFit/>
          </a:bodyPr>
          <a:lstStyle/>
          <a:p>
            <a:pPr>
              <a:lnSpc>
                <a:spcPct val="95000"/>
              </a:lnSpc>
            </a:pPr>
            <a:r>
              <a:rPr lang="en-US" altLang="zh-CN" sz="1350" dirty="0">
                <a:solidFill>
                  <a:schemeClr val="hlink"/>
                </a:solidFill>
                <a:latin typeface="Microsoft YaHei" panose="020B0503020204020204" pitchFamily="34" charset="-122"/>
                <a:ea typeface="Microsoft YaHei" panose="020B0503020204020204" pitchFamily="34" charset="-122"/>
              </a:rPr>
              <a:t>sname    sno      dept</a:t>
            </a:r>
          </a:p>
          <a:p>
            <a:pPr>
              <a:lnSpc>
                <a:spcPct val="95000"/>
              </a:lnSpc>
            </a:pPr>
            <a:r>
              <a:rPr lang="en-US" altLang="zh-CN" sz="2100" dirty="0">
                <a:latin typeface="Microsoft YaHei" panose="020B0503020204020204" pitchFamily="34" charset="-122"/>
                <a:ea typeface="Microsoft YaHei" panose="020B0503020204020204" pitchFamily="34" charset="-122"/>
              </a:rPr>
              <a:t>———————</a:t>
            </a:r>
          </a:p>
          <a:p>
            <a:pPr>
              <a:lnSpc>
                <a:spcPct val="95000"/>
              </a:lnSpc>
            </a:pPr>
            <a:r>
              <a:rPr lang="zh-CN" altLang="en-US" sz="1350" dirty="0">
                <a:latin typeface="Microsoft YaHei" panose="020B0503020204020204" pitchFamily="34" charset="-122"/>
                <a:ea typeface="Microsoft YaHei" panose="020B0503020204020204" pitchFamily="34" charset="-122"/>
              </a:rPr>
              <a:t>王萧虎   </a:t>
            </a:r>
            <a:r>
              <a:rPr lang="en-US" altLang="zh-CN" sz="1350" dirty="0">
                <a:latin typeface="Microsoft YaHei" panose="020B0503020204020204" pitchFamily="34" charset="-122"/>
                <a:ea typeface="Microsoft YaHei" panose="020B0503020204020204" pitchFamily="34" charset="-122"/>
              </a:rPr>
              <a:t>200101   </a:t>
            </a:r>
            <a:r>
              <a:rPr lang="zh-CN" altLang="en-US" sz="1350" dirty="0">
                <a:latin typeface="Microsoft YaHei" panose="020B0503020204020204" pitchFamily="34" charset="-122"/>
                <a:ea typeface="Microsoft YaHei" panose="020B0503020204020204" pitchFamily="34" charset="-122"/>
              </a:rPr>
              <a:t>信息院</a:t>
            </a:r>
          </a:p>
          <a:p>
            <a:pPr>
              <a:lnSpc>
                <a:spcPct val="95000"/>
              </a:lnSpc>
            </a:pPr>
            <a:r>
              <a:rPr lang="en-US" altLang="zh-CN" sz="1350" dirty="0">
                <a:latin typeface="Microsoft YaHei" panose="020B0503020204020204" pitchFamily="34" charset="-122"/>
                <a:ea typeface="Microsoft YaHei" panose="020B0503020204020204" pitchFamily="34" charset="-122"/>
              </a:rPr>
              <a:t>……</a:t>
            </a:r>
          </a:p>
        </p:txBody>
      </p:sp>
      <p:sp>
        <p:nvSpPr>
          <p:cNvPr id="29703" name="Line 7"/>
          <p:cNvSpPr/>
          <p:nvPr/>
        </p:nvSpPr>
        <p:spPr>
          <a:xfrm>
            <a:off x="1114019" y="2105203"/>
            <a:ext cx="415636" cy="0"/>
          </a:xfrm>
          <a:prstGeom prst="line">
            <a:avLst/>
          </a:prstGeom>
          <a:ln w="38100" cap="flat" cmpd="sng">
            <a:solidFill>
              <a:schemeClr val="hlink"/>
            </a:solidFill>
            <a:prstDash val="soli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9704" name="未知"/>
          <p:cNvSpPr/>
          <p:nvPr/>
        </p:nvSpPr>
        <p:spPr>
          <a:xfrm>
            <a:off x="2275134" y="2626224"/>
            <a:ext cx="1870664" cy="264482"/>
          </a:xfrm>
          <a:custGeom>
            <a:avLst/>
            <a:gdLst>
              <a:gd name="txL" fmla="*/ 0 w 2160"/>
              <a:gd name="txT" fmla="*/ 0 h 200"/>
              <a:gd name="txR" fmla="*/ 2160 w 2160"/>
              <a:gd name="txB" fmla="*/ 200 h 200"/>
            </a:gdLst>
            <a:ahLst/>
            <a:cxnLst>
              <a:cxn ang="0">
                <a:pos x="0" y="2147483647"/>
              </a:cxn>
              <a:cxn ang="0">
                <a:pos x="2147483647" y="2147483647"/>
              </a:cxn>
              <a:cxn ang="0">
                <a:pos x="2147483647" y="2147483647"/>
              </a:cxn>
            </a:cxnLst>
            <a:rect l="txL" t="txT" r="txR" b="txB"/>
            <a:pathLst>
              <a:path w="2160" h="200">
                <a:moveTo>
                  <a:pt x="0" y="200"/>
                </a:moveTo>
                <a:cubicBezTo>
                  <a:pt x="276" y="108"/>
                  <a:pt x="552" y="16"/>
                  <a:pt x="912" y="8"/>
                </a:cubicBezTo>
                <a:cubicBezTo>
                  <a:pt x="1272" y="0"/>
                  <a:pt x="1716" y="76"/>
                  <a:pt x="2160" y="152"/>
                </a:cubicBezTo>
              </a:path>
            </a:pathLst>
          </a:custGeom>
          <a:noFill/>
          <a:ln w="38100" cap="flat" cmpd="sng">
            <a:solidFill>
              <a:schemeClr val="folHlink">
                <a:alpha val="100000"/>
              </a:schemeClr>
            </a:solidFill>
            <a:prstDash val="solid"/>
            <a:round/>
            <a:headEnd type="arrow" w="med" len="med"/>
            <a:tailEnd type="arrow"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6" name="标题 5">
            <a:extLst>
              <a:ext uri="{FF2B5EF4-FFF2-40B4-BE49-F238E27FC236}">
                <a16:creationId xmlns:a16="http://schemas.microsoft.com/office/drawing/2014/main" id="{3382D168-04E4-FBAC-BF86-B69864DE0230}"/>
              </a:ext>
            </a:extLst>
          </p:cNvPr>
          <p:cNvSpPr>
            <a:spLocks noGrp="1"/>
          </p:cNvSpPr>
          <p:nvPr>
            <p:ph type="title"/>
          </p:nvPr>
        </p:nvSpPr>
        <p:spPr/>
        <p:txBody>
          <a:bodyPr/>
          <a:lstStyle/>
          <a:p>
            <a:r>
              <a:rPr lang="zh-CN" altLang="en-US" dirty="0"/>
              <a:t>单表查询</a:t>
            </a:r>
          </a:p>
        </p:txBody>
      </p:sp>
      <p:sp>
        <p:nvSpPr>
          <p:cNvPr id="7" name="Rectangle 3">
            <a:extLst>
              <a:ext uri="{FF2B5EF4-FFF2-40B4-BE49-F238E27FC236}">
                <a16:creationId xmlns:a16="http://schemas.microsoft.com/office/drawing/2014/main" id="{425CE34B-701E-3867-CC27-A9EEA7A8C6F0}"/>
              </a:ext>
            </a:extLst>
          </p:cNvPr>
          <p:cNvSpPr txBox="1">
            <a:spLocks/>
          </p:cNvSpPr>
          <p:nvPr/>
        </p:nvSpPr>
        <p:spPr>
          <a:xfrm>
            <a:off x="4829350" y="672108"/>
            <a:ext cx="4314650" cy="1778318"/>
          </a:xfrm>
          <a:prstGeom prst="rect">
            <a:avLst/>
          </a:prstGeom>
        </p:spPr>
        <p:txBody>
          <a:bodyPr vert="horz" wrap="square" lIns="68580" tIns="34290" rIns="68580" bIns="3429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SzPct val="60000"/>
              <a:buFont typeface="Arial" panose="020B0604020202020204" pitchFamily="34" charset="0"/>
              <a:buNone/>
            </a:pPr>
            <a:r>
              <a:rPr lang="zh-CN" altLang="en-US" sz="1600" b="1" dirty="0">
                <a:solidFill>
                  <a:schemeClr val="hlink"/>
                </a:solidFill>
              </a:rPr>
              <a:t>学生</a:t>
            </a:r>
            <a:r>
              <a:rPr lang="en-US" altLang="zh-CN" sz="1600" b="1" dirty="0">
                <a:solidFill>
                  <a:schemeClr val="hlink"/>
                </a:solidFill>
              </a:rPr>
              <a:t>-</a:t>
            </a:r>
            <a:r>
              <a:rPr lang="zh-CN" altLang="en-US" sz="1600" b="1" dirty="0">
                <a:solidFill>
                  <a:schemeClr val="hlink"/>
                </a:solidFill>
              </a:rPr>
              <a:t>课程数据库</a:t>
            </a:r>
            <a:r>
              <a:rPr lang="en-US" altLang="zh-CN" sz="1600" b="1" dirty="0">
                <a:solidFill>
                  <a:schemeClr val="hlink"/>
                </a:solidFill>
              </a:rPr>
              <a:t>:</a:t>
            </a:r>
          </a:p>
          <a:p>
            <a:pPr>
              <a:lnSpc>
                <a:spcPct val="100000"/>
              </a:lnSpc>
              <a:buSzPct val="60000"/>
              <a:buFont typeface="Wingdings" panose="05000000000000000000" pitchFamily="2" charset="2"/>
              <a:buNone/>
            </a:pPr>
            <a:r>
              <a:rPr lang="en-US" altLang="zh-CN" sz="1600" b="1" dirty="0"/>
              <a:t>   Student(</a:t>
            </a:r>
            <a:r>
              <a:rPr lang="en-US" altLang="zh-CN" sz="1600" b="1" dirty="0" err="1"/>
              <a:t>sno</a:t>
            </a:r>
            <a:r>
              <a:rPr lang="zh-CN" altLang="en-US" sz="1600" b="1" dirty="0"/>
              <a:t>，</a:t>
            </a:r>
            <a:r>
              <a:rPr lang="en-US" altLang="zh-CN" sz="1600" b="1" dirty="0" err="1"/>
              <a:t>sname</a:t>
            </a:r>
            <a:r>
              <a:rPr lang="zh-CN" altLang="en-US" sz="1600" b="1" dirty="0"/>
              <a:t>，</a:t>
            </a:r>
            <a:r>
              <a:rPr lang="en-US" altLang="zh-CN" sz="1600" b="1" dirty="0"/>
              <a:t>sex</a:t>
            </a:r>
            <a:r>
              <a:rPr lang="zh-CN" altLang="en-US" sz="1600" b="1" dirty="0"/>
              <a:t>，</a:t>
            </a:r>
            <a:r>
              <a:rPr lang="en-US" altLang="zh-CN" sz="1600" b="1" dirty="0"/>
              <a:t>age</a:t>
            </a:r>
            <a:r>
              <a:rPr lang="zh-CN" altLang="en-US" sz="1600" b="1" dirty="0"/>
              <a:t>，</a:t>
            </a:r>
            <a:r>
              <a:rPr lang="en-US" altLang="zh-CN" sz="1600" b="1" dirty="0"/>
              <a:t>dept)</a:t>
            </a:r>
          </a:p>
          <a:p>
            <a:pPr>
              <a:lnSpc>
                <a:spcPct val="100000"/>
              </a:lnSpc>
              <a:buSzPct val="60000"/>
              <a:buFont typeface="Wingdings" panose="05000000000000000000" pitchFamily="2" charset="2"/>
              <a:buNone/>
            </a:pPr>
            <a:r>
              <a:rPr lang="en-US" altLang="zh-CN" sz="1600" b="1" dirty="0"/>
              <a:t>   Course(</a:t>
            </a:r>
            <a:r>
              <a:rPr lang="en-US" altLang="zh-CN" sz="1600" b="1" dirty="0" err="1"/>
              <a:t>cno</a:t>
            </a:r>
            <a:r>
              <a:rPr lang="zh-CN" altLang="en-US" sz="1600" b="1" dirty="0"/>
              <a:t>，</a:t>
            </a:r>
            <a:r>
              <a:rPr lang="en-US" altLang="zh-CN" sz="1600" b="1" dirty="0" err="1"/>
              <a:t>cname</a:t>
            </a:r>
            <a:r>
              <a:rPr lang="zh-CN" altLang="en-US" sz="1600" b="1" dirty="0"/>
              <a:t>，</a:t>
            </a:r>
            <a:r>
              <a:rPr lang="en-US" altLang="zh-CN" sz="1600" b="1" dirty="0"/>
              <a:t>credit </a:t>
            </a:r>
            <a:r>
              <a:rPr lang="zh-CN" altLang="en-US" sz="1600" b="1" dirty="0"/>
              <a:t>，</a:t>
            </a:r>
            <a:r>
              <a:rPr lang="en-US" altLang="zh-CN" sz="1600" b="1" dirty="0" err="1"/>
              <a:t>pcno</a:t>
            </a:r>
            <a:r>
              <a:rPr lang="en-US" altLang="zh-CN" sz="1600" b="1" dirty="0"/>
              <a:t>)</a:t>
            </a:r>
          </a:p>
          <a:p>
            <a:pPr>
              <a:lnSpc>
                <a:spcPct val="100000"/>
              </a:lnSpc>
              <a:buSzPct val="60000"/>
              <a:buFont typeface="Wingdings" panose="05000000000000000000" pitchFamily="2" charset="2"/>
              <a:buNone/>
            </a:pPr>
            <a:r>
              <a:rPr lang="en-US" altLang="zh-CN" sz="1600" b="1" dirty="0"/>
              <a:t>   SC(</a:t>
            </a:r>
            <a:r>
              <a:rPr lang="en-US" altLang="zh-CN" sz="1600" b="1" dirty="0" err="1"/>
              <a:t>sno</a:t>
            </a:r>
            <a:r>
              <a:rPr lang="zh-CN" altLang="en-US" sz="1600" b="1" dirty="0"/>
              <a:t>，</a:t>
            </a:r>
            <a:r>
              <a:rPr lang="en-US" altLang="zh-CN" sz="1600" b="1" dirty="0" err="1"/>
              <a:t>cno</a:t>
            </a:r>
            <a:r>
              <a:rPr lang="zh-CN" altLang="en-US" sz="1600" b="1" dirty="0"/>
              <a:t>，</a:t>
            </a:r>
            <a:r>
              <a:rPr lang="en-US" altLang="zh-CN" sz="1600" b="1" dirty="0"/>
              <a:t>grade)</a:t>
            </a:r>
            <a:endParaRPr lang="zh-CN" altLang="en-US" sz="1600" b="1" dirty="0"/>
          </a:p>
        </p:txBody>
      </p:sp>
      <p:sp>
        <p:nvSpPr>
          <p:cNvPr id="8" name="Line 7">
            <a:extLst>
              <a:ext uri="{FF2B5EF4-FFF2-40B4-BE49-F238E27FC236}">
                <a16:creationId xmlns:a16="http://schemas.microsoft.com/office/drawing/2014/main" id="{92F49B5F-561B-B5B4-70D5-AB58CF74BC02}"/>
              </a:ext>
            </a:extLst>
          </p:cNvPr>
          <p:cNvSpPr/>
          <p:nvPr/>
        </p:nvSpPr>
        <p:spPr>
          <a:xfrm>
            <a:off x="2287066" y="2105203"/>
            <a:ext cx="2310905" cy="0"/>
          </a:xfrm>
          <a:prstGeom prst="line">
            <a:avLst/>
          </a:prstGeom>
          <a:ln w="38100" cap="flat" cmpd="sng">
            <a:solidFill>
              <a:schemeClr val="hlink"/>
            </a:solidFill>
            <a:prstDash val="soli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9" name="Text Box 12">
            <a:extLst>
              <a:ext uri="{FF2B5EF4-FFF2-40B4-BE49-F238E27FC236}">
                <a16:creationId xmlns:a16="http://schemas.microsoft.com/office/drawing/2014/main" id="{11F8807B-6743-32F1-A7C0-5F3FFF14FAE2}"/>
              </a:ext>
            </a:extLst>
          </p:cNvPr>
          <p:cNvSpPr txBox="1"/>
          <p:nvPr/>
        </p:nvSpPr>
        <p:spPr>
          <a:xfrm>
            <a:off x="2896274" y="2146134"/>
            <a:ext cx="1092487" cy="338554"/>
          </a:xfrm>
          <a:prstGeom prst="rect">
            <a:avLst/>
          </a:prstGeom>
          <a:noFill/>
          <a:ln w="9525">
            <a:noFill/>
          </a:ln>
        </p:spPr>
        <p:txBody>
          <a:bodyPr>
            <a:spAutoFit/>
          </a:bodyPr>
          <a:lstStyle/>
          <a:p>
            <a:pPr algn="ctr">
              <a:spcBef>
                <a:spcPct val="50000"/>
              </a:spcBef>
            </a:pPr>
            <a:r>
              <a:rPr lang="zh-CN" altLang="en-US" sz="1600" dirty="0">
                <a:solidFill>
                  <a:srgbClr val="000099"/>
                </a:solidFill>
                <a:latin typeface="Microsoft YaHei" panose="020B0503020204020204" pitchFamily="34" charset="-122"/>
                <a:ea typeface="Microsoft YaHei" panose="020B0503020204020204" pitchFamily="34" charset="-122"/>
              </a:rPr>
              <a:t>目标</a:t>
            </a:r>
            <a:endParaRPr lang="en-US" altLang="zh-CN" sz="1600" dirty="0">
              <a:solidFill>
                <a:srgbClr val="000099"/>
              </a:solidFill>
              <a:latin typeface="Microsoft YaHei" panose="020B0503020204020204" pitchFamily="34" charset="-122"/>
              <a:ea typeface="Microsoft YaHei" panose="020B0503020204020204" pitchFamily="34" charset="-122"/>
            </a:endParaRPr>
          </a:p>
        </p:txBody>
      </p:sp>
      <p:sp>
        <p:nvSpPr>
          <p:cNvPr id="10" name="Text Box 15">
            <a:extLst>
              <a:ext uri="{FF2B5EF4-FFF2-40B4-BE49-F238E27FC236}">
                <a16:creationId xmlns:a16="http://schemas.microsoft.com/office/drawing/2014/main" id="{11B8FF96-9145-C509-B3EE-215DD8D83E40}"/>
              </a:ext>
            </a:extLst>
          </p:cNvPr>
          <p:cNvSpPr txBox="1"/>
          <p:nvPr/>
        </p:nvSpPr>
        <p:spPr>
          <a:xfrm>
            <a:off x="775593" y="2139507"/>
            <a:ext cx="1092487" cy="338554"/>
          </a:xfrm>
          <a:prstGeom prst="rect">
            <a:avLst/>
          </a:prstGeom>
          <a:noFill/>
          <a:ln w="9525">
            <a:noFill/>
          </a:ln>
        </p:spPr>
        <p:txBody>
          <a:bodyPr>
            <a:spAutoFit/>
          </a:bodyPr>
          <a:lstStyle/>
          <a:p>
            <a:pPr algn="ctr">
              <a:spcBef>
                <a:spcPct val="50000"/>
              </a:spcBef>
            </a:pPr>
            <a:r>
              <a:rPr lang="zh-CN" altLang="en-US" sz="1600" dirty="0">
                <a:solidFill>
                  <a:srgbClr val="000099"/>
                </a:solidFill>
                <a:latin typeface="Microsoft YaHei" panose="020B0503020204020204" pitchFamily="34" charset="-122"/>
                <a:ea typeface="Microsoft YaHei" panose="020B0503020204020204" pitchFamily="34" charset="-122"/>
              </a:rPr>
              <a:t>条件</a:t>
            </a:r>
            <a:endParaRPr lang="en-US" altLang="zh-CN" sz="1600" dirty="0">
              <a:solidFill>
                <a:srgbClr val="000099"/>
              </a:solidFill>
              <a:latin typeface="Microsoft YaHei" panose="020B0503020204020204" pitchFamily="34" charset="-122"/>
              <a:ea typeface="Microsoft YaHei" panose="020B0503020204020204" pitchFamily="34" charset="-122"/>
            </a:endParaRPr>
          </a:p>
        </p:txBody>
      </p:sp>
      <p:sp>
        <p:nvSpPr>
          <p:cNvPr id="11" name="Text Box 18">
            <a:extLst>
              <a:ext uri="{FF2B5EF4-FFF2-40B4-BE49-F238E27FC236}">
                <a16:creationId xmlns:a16="http://schemas.microsoft.com/office/drawing/2014/main" id="{AFF5F75B-2CAB-B5B2-5275-22E5C13C4946}"/>
              </a:ext>
            </a:extLst>
          </p:cNvPr>
          <p:cNvSpPr txBox="1"/>
          <p:nvPr/>
        </p:nvSpPr>
        <p:spPr>
          <a:xfrm>
            <a:off x="1284453" y="2146134"/>
            <a:ext cx="1092487" cy="338554"/>
          </a:xfrm>
          <a:prstGeom prst="rect">
            <a:avLst/>
          </a:prstGeom>
          <a:noFill/>
          <a:ln w="9525">
            <a:noFill/>
          </a:ln>
        </p:spPr>
        <p:txBody>
          <a:bodyPr wrap="square">
            <a:spAutoFit/>
          </a:bodyPr>
          <a:lstStyle/>
          <a:p>
            <a:pPr algn="ctr">
              <a:spcBef>
                <a:spcPct val="50000"/>
              </a:spcBef>
            </a:pPr>
            <a:r>
              <a:rPr lang="zh-CN" altLang="en-US" sz="1600" dirty="0">
                <a:solidFill>
                  <a:srgbClr val="000099"/>
                </a:solidFill>
                <a:latin typeface="Microsoft YaHei" panose="020B0503020204020204" pitchFamily="34" charset="-122"/>
                <a:ea typeface="Microsoft YaHei" panose="020B0503020204020204" pitchFamily="34" charset="-122"/>
              </a:rPr>
              <a:t>来源</a:t>
            </a:r>
            <a:endParaRPr lang="en-US" altLang="zh-CN" sz="1600" dirty="0">
              <a:solidFill>
                <a:srgbClr val="000099"/>
              </a:solidFill>
              <a:latin typeface="Microsoft YaHei" panose="020B0503020204020204" pitchFamily="34" charset="-122"/>
              <a:ea typeface="Microsoft YaHei" panose="020B0503020204020204" pitchFamily="34" charset="-122"/>
            </a:endParaRPr>
          </a:p>
        </p:txBody>
      </p:sp>
      <p:sp>
        <p:nvSpPr>
          <p:cNvPr id="12" name="Line 7">
            <a:extLst>
              <a:ext uri="{FF2B5EF4-FFF2-40B4-BE49-F238E27FC236}">
                <a16:creationId xmlns:a16="http://schemas.microsoft.com/office/drawing/2014/main" id="{8D19DE5D-834A-C4BB-A929-FD121767FC2A}"/>
              </a:ext>
            </a:extLst>
          </p:cNvPr>
          <p:cNvSpPr/>
          <p:nvPr/>
        </p:nvSpPr>
        <p:spPr>
          <a:xfrm>
            <a:off x="1622879" y="2110372"/>
            <a:ext cx="415636" cy="0"/>
          </a:xfrm>
          <a:prstGeom prst="line">
            <a:avLst/>
          </a:prstGeom>
          <a:ln w="38100" cap="flat" cmpd="sng">
            <a:solidFill>
              <a:schemeClr val="hlink"/>
            </a:solidFill>
            <a:prstDash val="soli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9699">
                                            <p:txEl>
                                              <p:pRg st="0" end="0"/>
                                            </p:txEl>
                                          </p:spTgt>
                                        </p:tgtEl>
                                        <p:attrNameLst>
                                          <p:attrName>style.visibility</p:attrName>
                                        </p:attrNameLst>
                                      </p:cBhvr>
                                      <p:to>
                                        <p:strVal val="visible"/>
                                      </p:to>
                                    </p:set>
                                    <p:anim calcmode="lin" valueType="num">
                                      <p:cBhvr additive="base">
                                        <p:cTn id="25" dur="500" fill="hold"/>
                                        <p:tgtEl>
                                          <p:spTgt spid="29699">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96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9699">
                                            <p:txEl>
                                              <p:pRg st="1" end="1"/>
                                            </p:txEl>
                                          </p:spTgt>
                                        </p:tgtEl>
                                        <p:attrNameLst>
                                          <p:attrName>style.visibility</p:attrName>
                                        </p:attrNameLst>
                                      </p:cBhvr>
                                      <p:to>
                                        <p:strVal val="visible"/>
                                      </p:to>
                                    </p:set>
                                    <p:anim calcmode="lin" valueType="num">
                                      <p:cBhvr additive="base">
                                        <p:cTn id="31" dur="500" fill="hold"/>
                                        <p:tgtEl>
                                          <p:spTgt spid="29699">
                                            <p:txEl>
                                              <p:pRg st="1" end="1"/>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96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additive="base">
                                        <p:cTn id="47" dur="500" fill="hold"/>
                                        <p:tgtEl>
                                          <p:spTgt spid="8"/>
                                        </p:tgtEl>
                                        <p:attrNameLst>
                                          <p:attrName>ppt_x</p:attrName>
                                        </p:attrNameLst>
                                      </p:cBhvr>
                                      <p:tavLst>
                                        <p:tav tm="0">
                                          <p:val>
                                            <p:strVal val="#ppt_x"/>
                                          </p:val>
                                        </p:tav>
                                        <p:tav tm="100000">
                                          <p:val>
                                            <p:strVal val="#ppt_x"/>
                                          </p:val>
                                        </p:tav>
                                      </p:tavLst>
                                    </p:anim>
                                    <p:anim calcmode="lin" valueType="num">
                                      <p:cBhvr additive="base">
                                        <p:cTn id="48" dur="500" fill="hold"/>
                                        <p:tgtEl>
                                          <p:spTgt spid="8"/>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additive="base">
                                        <p:cTn id="51" dur="500" fill="hold"/>
                                        <p:tgtEl>
                                          <p:spTgt spid="9"/>
                                        </p:tgtEl>
                                        <p:attrNameLst>
                                          <p:attrName>ppt_x</p:attrName>
                                        </p:attrNameLst>
                                      </p:cBhvr>
                                      <p:tavLst>
                                        <p:tav tm="0">
                                          <p:val>
                                            <p:strVal val="#ppt_x"/>
                                          </p:val>
                                        </p:tav>
                                        <p:tav tm="100000">
                                          <p:val>
                                            <p:strVal val="#ppt_x"/>
                                          </p:val>
                                        </p:tav>
                                      </p:tavLst>
                                    </p:anim>
                                    <p:anim calcmode="lin" valueType="num">
                                      <p:cBhvr additive="base">
                                        <p:cTn id="5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29703"/>
                                        </p:tgtEl>
                                        <p:attrNameLst>
                                          <p:attrName>style.visibility</p:attrName>
                                        </p:attrNameLst>
                                      </p:cBhvr>
                                      <p:to>
                                        <p:strVal val="visible"/>
                                      </p:to>
                                    </p:set>
                                    <p:anim calcmode="lin" valueType="num">
                                      <p:cBhvr additive="base">
                                        <p:cTn id="57" dur="500" fill="hold"/>
                                        <p:tgtEl>
                                          <p:spTgt spid="29703"/>
                                        </p:tgtEl>
                                        <p:attrNameLst>
                                          <p:attrName>ppt_x</p:attrName>
                                        </p:attrNameLst>
                                      </p:cBhvr>
                                      <p:tavLst>
                                        <p:tav tm="0">
                                          <p:val>
                                            <p:strVal val="0-#ppt_w/2"/>
                                          </p:val>
                                        </p:tav>
                                        <p:tav tm="100000">
                                          <p:val>
                                            <p:strVal val="#ppt_x"/>
                                          </p:val>
                                        </p:tav>
                                      </p:tavLst>
                                    </p:anim>
                                    <p:anim calcmode="lin" valueType="num">
                                      <p:cBhvr additive="base">
                                        <p:cTn id="58" dur="500" fill="hold"/>
                                        <p:tgtEl>
                                          <p:spTgt spid="29703"/>
                                        </p:tgtEl>
                                        <p:attrNameLst>
                                          <p:attrName>ppt_y</p:attrName>
                                        </p:attrNameLst>
                                      </p:cBhvr>
                                      <p:tavLst>
                                        <p:tav tm="0">
                                          <p:val>
                                            <p:strVal val="#ppt_y"/>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0"/>
                                        </p:tgtEl>
                                        <p:attrNameLst>
                                          <p:attrName>style.visibility</p:attrName>
                                        </p:attrNameLst>
                                      </p:cBhvr>
                                      <p:to>
                                        <p:strVal val="visible"/>
                                      </p:to>
                                    </p:set>
                                    <p:anim calcmode="lin" valueType="num">
                                      <p:cBhvr additive="base">
                                        <p:cTn id="61" dur="500" fill="hold"/>
                                        <p:tgtEl>
                                          <p:spTgt spid="10"/>
                                        </p:tgtEl>
                                        <p:attrNameLst>
                                          <p:attrName>ppt_x</p:attrName>
                                        </p:attrNameLst>
                                      </p:cBhvr>
                                      <p:tavLst>
                                        <p:tav tm="0">
                                          <p:val>
                                            <p:strVal val="#ppt_x"/>
                                          </p:val>
                                        </p:tav>
                                        <p:tav tm="100000">
                                          <p:val>
                                            <p:strVal val="#ppt_x"/>
                                          </p:val>
                                        </p:tav>
                                      </p:tavLst>
                                    </p:anim>
                                    <p:anim calcmode="lin" valueType="num">
                                      <p:cBhvr additive="base">
                                        <p:cTn id="6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9700">
                                            <p:txEl>
                                              <p:pRg st="0" end="0"/>
                                            </p:txEl>
                                          </p:spTgt>
                                        </p:tgtEl>
                                        <p:attrNameLst>
                                          <p:attrName>style.visibility</p:attrName>
                                        </p:attrNameLst>
                                      </p:cBhvr>
                                      <p:to>
                                        <p:strVal val="visible"/>
                                      </p:to>
                                    </p:set>
                                    <p:anim calcmode="lin" valueType="num">
                                      <p:cBhvr additive="base">
                                        <p:cTn id="67" dur="500" fill="hold"/>
                                        <p:tgtEl>
                                          <p:spTgt spid="29700">
                                            <p:txEl>
                                              <p:pRg st="0" end="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2970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9700">
                                            <p:txEl>
                                              <p:pRg st="1" end="1"/>
                                            </p:txEl>
                                          </p:spTgt>
                                        </p:tgtEl>
                                        <p:attrNameLst>
                                          <p:attrName>style.visibility</p:attrName>
                                        </p:attrNameLst>
                                      </p:cBhvr>
                                      <p:to>
                                        <p:strVal val="visible"/>
                                      </p:to>
                                    </p:set>
                                    <p:anim calcmode="lin" valueType="num">
                                      <p:cBhvr additive="base">
                                        <p:cTn id="73" dur="500" fill="hold"/>
                                        <p:tgtEl>
                                          <p:spTgt spid="29700">
                                            <p:txEl>
                                              <p:pRg st="1" end="1"/>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2970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29700">
                                            <p:txEl>
                                              <p:pRg st="2" end="2"/>
                                            </p:txEl>
                                          </p:spTgt>
                                        </p:tgtEl>
                                        <p:attrNameLst>
                                          <p:attrName>style.visibility</p:attrName>
                                        </p:attrNameLst>
                                      </p:cBhvr>
                                      <p:to>
                                        <p:strVal val="visible"/>
                                      </p:to>
                                    </p:set>
                                    <p:anim calcmode="lin" valueType="num">
                                      <p:cBhvr additive="base">
                                        <p:cTn id="79" dur="500" fill="hold"/>
                                        <p:tgtEl>
                                          <p:spTgt spid="29700">
                                            <p:txEl>
                                              <p:pRg st="2" end="2"/>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2970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 presetClass="entr" presetSubtype="32" fill="hold" nodeType="clickEffect">
                                  <p:stCondLst>
                                    <p:cond delay="0"/>
                                  </p:stCondLst>
                                  <p:childTnLst>
                                    <p:set>
                                      <p:cBhvr>
                                        <p:cTn id="84" dur="1" fill="hold">
                                          <p:stCondLst>
                                            <p:cond delay="0"/>
                                          </p:stCondLst>
                                        </p:cTn>
                                        <p:tgtEl>
                                          <p:spTgt spid="29704"/>
                                        </p:tgtEl>
                                        <p:attrNameLst>
                                          <p:attrName>style.visibility</p:attrName>
                                        </p:attrNameLst>
                                      </p:cBhvr>
                                      <p:to>
                                        <p:strVal val="visible"/>
                                      </p:to>
                                    </p:set>
                                    <p:animEffect transition="in" filter="box(out)">
                                      <p:cBhvr>
                                        <p:cTn id="85" dur="500"/>
                                        <p:tgtEl>
                                          <p:spTgt spid="29704"/>
                                        </p:tgtEl>
                                      </p:cBhvr>
                                    </p:animEffect>
                                  </p:childTnLst>
                                </p:cTn>
                              </p:par>
                            </p:childTnLst>
                          </p:cTn>
                        </p:par>
                      </p:childTnLst>
                    </p:cTn>
                  </p:par>
                  <p:par>
                    <p:cTn id="86" fill="hold">
                      <p:stCondLst>
                        <p:cond delay="indefinite"/>
                      </p:stCondLst>
                      <p:childTnLst>
                        <p:par>
                          <p:cTn id="87" fill="hold">
                            <p:stCondLst>
                              <p:cond delay="0"/>
                            </p:stCondLst>
                            <p:childTnLst>
                              <p:par>
                                <p:cTn id="88" presetID="4" presetClass="entr" presetSubtype="32" fill="hold" grpId="0" nodeType="clickEffect">
                                  <p:stCondLst>
                                    <p:cond delay="0"/>
                                  </p:stCondLst>
                                  <p:childTnLst>
                                    <p:set>
                                      <p:cBhvr>
                                        <p:cTn id="89" dur="1" fill="hold">
                                          <p:stCondLst>
                                            <p:cond delay="0"/>
                                          </p:stCondLst>
                                        </p:cTn>
                                        <p:tgtEl>
                                          <p:spTgt spid="29701"/>
                                        </p:tgtEl>
                                        <p:attrNameLst>
                                          <p:attrName>style.visibility</p:attrName>
                                        </p:attrNameLst>
                                      </p:cBhvr>
                                      <p:to>
                                        <p:strVal val="visible"/>
                                      </p:to>
                                    </p:set>
                                    <p:animEffect transition="in" filter="box(out)">
                                      <p:cBhvr>
                                        <p:cTn id="90" dur="500"/>
                                        <p:tgtEl>
                                          <p:spTgt spid="29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P spid="29700" grpId="0" build="p"/>
      <p:bldP spid="29701" grpId="0" bldLvl="0" animBg="1"/>
      <p:bldP spid="7" grpId="0" build="p"/>
      <p:bldP spid="8" grpId="0" animBg="1"/>
      <p:bldP spid="9" grpId="0"/>
      <p:bldP spid="10" grpId="0"/>
      <p:bldP spid="11" grpId="0"/>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D330477-D9C4-AE0F-241D-1EFAA55D555B}"/>
              </a:ext>
            </a:extLst>
          </p:cNvPr>
          <p:cNvSpPr>
            <a:spLocks noGrp="1"/>
          </p:cNvSpPr>
          <p:nvPr>
            <p:ph type="title"/>
          </p:nvPr>
        </p:nvSpPr>
        <p:spPr/>
        <p:txBody>
          <a:bodyPr/>
          <a:lstStyle/>
          <a:p>
            <a:r>
              <a:rPr lang="zh-CN" altLang="en-US" dirty="0"/>
              <a:t>单表查询</a:t>
            </a:r>
          </a:p>
        </p:txBody>
      </p:sp>
      <p:sp>
        <p:nvSpPr>
          <p:cNvPr id="30723" name="Rectangle 3"/>
          <p:cNvSpPr>
            <a:spLocks noGrp="1"/>
          </p:cNvSpPr>
          <p:nvPr>
            <p:ph idx="1"/>
          </p:nvPr>
        </p:nvSpPr>
        <p:spPr/>
        <p:txBody>
          <a:bodyPr vert="horz" wrap="square" lIns="68580" tIns="34290" rIns="68580" bIns="34290" anchor="t" anchorCtr="0"/>
          <a:lstStyle/>
          <a:p>
            <a:pPr marL="0" indent="0" eaLnBrk="1" hangingPunct="1">
              <a:buNone/>
            </a:pPr>
            <a:r>
              <a:rPr lang="zh-CN" altLang="en-US" sz="2000" b="1" dirty="0">
                <a:solidFill>
                  <a:srgbClr val="C00000"/>
                </a:solidFill>
              </a:rPr>
              <a:t>（</a:t>
            </a:r>
            <a:r>
              <a:rPr lang="en-US" altLang="zh-CN" sz="2000" b="1" dirty="0">
                <a:solidFill>
                  <a:srgbClr val="C00000"/>
                </a:solidFill>
              </a:rPr>
              <a:t>2</a:t>
            </a:r>
            <a:r>
              <a:rPr lang="zh-CN" altLang="en-US" sz="2000" b="1" dirty="0">
                <a:solidFill>
                  <a:srgbClr val="C00000"/>
                </a:solidFill>
              </a:rPr>
              <a:t>）查询派生列</a:t>
            </a:r>
            <a:endParaRPr lang="en-US" altLang="zh-CN" sz="2000" b="1" dirty="0">
              <a:solidFill>
                <a:srgbClr val="C00000"/>
              </a:solidFill>
            </a:endParaRPr>
          </a:p>
          <a:p>
            <a:pPr marL="0" indent="0" eaLnBrk="1" hangingPunct="1">
              <a:buNone/>
            </a:pPr>
            <a:r>
              <a:rPr lang="zh-CN" altLang="en-US" sz="2000" b="1" dirty="0">
                <a:solidFill>
                  <a:schemeClr val="hlink"/>
                </a:solidFill>
              </a:rPr>
              <a:t>例</a:t>
            </a:r>
            <a:r>
              <a:rPr lang="zh-CN" altLang="en-US" sz="2000" b="1" dirty="0"/>
              <a:t>：</a:t>
            </a:r>
            <a:r>
              <a:rPr lang="zh-CN" altLang="en-US" sz="2000" dirty="0"/>
              <a:t>查全体学生的姓名及其出生年份。</a:t>
            </a:r>
          </a:p>
          <a:p>
            <a:pPr eaLnBrk="1" hangingPunct="1">
              <a:buNone/>
            </a:pPr>
            <a:r>
              <a:rPr lang="zh-CN" altLang="en-US" sz="2000" b="1" dirty="0"/>
              <a:t>  </a:t>
            </a:r>
            <a:endParaRPr lang="en-US" altLang="zh-CN" sz="2000" b="1" dirty="0"/>
          </a:p>
          <a:p>
            <a:pPr eaLnBrk="1" hangingPunct="1">
              <a:buNone/>
            </a:pPr>
            <a:r>
              <a:rPr lang="zh-CN" altLang="en-US" sz="2000" dirty="0"/>
              <a:t>SELECT sname，20</a:t>
            </a:r>
            <a:r>
              <a:rPr lang="en-US" altLang="zh-CN" sz="2000" dirty="0"/>
              <a:t>22</a:t>
            </a:r>
            <a:r>
              <a:rPr lang="zh-CN" altLang="en-US" sz="2000" dirty="0"/>
              <a:t>-age</a:t>
            </a:r>
          </a:p>
          <a:p>
            <a:pPr eaLnBrk="1" hangingPunct="1">
              <a:buNone/>
            </a:pPr>
            <a:r>
              <a:rPr lang="zh-CN" altLang="en-US" sz="2000" dirty="0"/>
              <a:t>FROM Student ；</a:t>
            </a:r>
          </a:p>
        </p:txBody>
      </p:sp>
      <p:sp>
        <p:nvSpPr>
          <p:cNvPr id="30733" name="Text Box 13"/>
          <p:cNvSpPr txBox="1"/>
          <p:nvPr/>
        </p:nvSpPr>
        <p:spPr>
          <a:xfrm>
            <a:off x="5721761" y="3097008"/>
            <a:ext cx="2527504" cy="1274388"/>
          </a:xfrm>
          <a:prstGeom prst="rect">
            <a:avLst/>
          </a:prstGeom>
          <a:solidFill>
            <a:srgbClr val="FFF1B5"/>
          </a:solidFill>
          <a:ln w="9525">
            <a:noFill/>
          </a:ln>
        </p:spPr>
        <p:txBody>
          <a:bodyPr wrap="square">
            <a:spAutoFit/>
          </a:bodyPr>
          <a:lstStyle/>
          <a:p>
            <a:pPr>
              <a:lnSpc>
                <a:spcPct val="90000"/>
              </a:lnSpc>
              <a:spcBef>
                <a:spcPct val="50000"/>
              </a:spcBef>
            </a:pPr>
            <a:r>
              <a:rPr lang="en-US" altLang="zh-CN" sz="1350" dirty="0">
                <a:latin typeface="Microsoft YaHei" panose="020B0503020204020204" pitchFamily="34" charset="-122"/>
                <a:ea typeface="Microsoft YaHei" panose="020B0503020204020204" pitchFamily="34" charset="-122"/>
              </a:rPr>
              <a:t>s</a:t>
            </a:r>
            <a:r>
              <a:rPr lang="zh-CN" altLang="en-US" sz="1350" dirty="0">
                <a:latin typeface="Microsoft YaHei" panose="020B0503020204020204" pitchFamily="34" charset="-122"/>
                <a:ea typeface="Microsoft YaHei" panose="020B0503020204020204" pitchFamily="34" charset="-122"/>
              </a:rPr>
              <a:t>name </a:t>
            </a:r>
            <a:r>
              <a:rPr lang="zh-CN" altLang="en-US" sz="2100" dirty="0">
                <a:latin typeface="Microsoft YaHei" panose="020B0503020204020204" pitchFamily="34" charset="-122"/>
                <a:ea typeface="Microsoft YaHei" panose="020B0503020204020204" pitchFamily="34" charset="-122"/>
              </a:rPr>
              <a:t>      </a:t>
            </a:r>
            <a:r>
              <a:rPr lang="zh-CN" altLang="en-US" sz="1350" dirty="0">
                <a:latin typeface="Microsoft YaHei" panose="020B0503020204020204" pitchFamily="34" charset="-122"/>
                <a:ea typeface="Microsoft YaHei" panose="020B0503020204020204" pitchFamily="34" charset="-122"/>
              </a:rPr>
              <a:t>20</a:t>
            </a:r>
            <a:r>
              <a:rPr lang="en-US" altLang="zh-CN" sz="1350" dirty="0">
                <a:latin typeface="Microsoft YaHei" panose="020B0503020204020204" pitchFamily="34" charset="-122"/>
                <a:ea typeface="Microsoft YaHei" panose="020B0503020204020204" pitchFamily="34" charset="-122"/>
              </a:rPr>
              <a:t>22</a:t>
            </a:r>
            <a:r>
              <a:rPr lang="zh-CN" altLang="en-US" sz="1350" dirty="0">
                <a:latin typeface="Microsoft YaHei" panose="020B0503020204020204" pitchFamily="34" charset="-122"/>
                <a:ea typeface="Microsoft YaHei" panose="020B0503020204020204" pitchFamily="34" charset="-122"/>
              </a:rPr>
              <a:t>-age</a:t>
            </a:r>
          </a:p>
          <a:p>
            <a:pPr>
              <a:lnSpc>
                <a:spcPct val="70000"/>
              </a:lnSpc>
              <a:spcBef>
                <a:spcPct val="50000"/>
              </a:spcBef>
            </a:pPr>
            <a:r>
              <a:rPr lang="zh-CN" altLang="en-US" sz="2100" dirty="0">
                <a:latin typeface="Microsoft YaHei" panose="020B0503020204020204" pitchFamily="34" charset="-122"/>
                <a:ea typeface="Microsoft YaHei" panose="020B0503020204020204" pitchFamily="34" charset="-122"/>
              </a:rPr>
              <a:t>————————</a:t>
            </a:r>
          </a:p>
          <a:p>
            <a:pPr>
              <a:lnSpc>
                <a:spcPct val="70000"/>
              </a:lnSpc>
              <a:spcBef>
                <a:spcPct val="50000"/>
              </a:spcBef>
            </a:pPr>
            <a:r>
              <a:rPr lang="zh-CN" altLang="en-US" sz="1350" dirty="0">
                <a:latin typeface="Microsoft YaHei" panose="020B0503020204020204" pitchFamily="34" charset="-122"/>
                <a:ea typeface="Microsoft YaHei" panose="020B0503020204020204" pitchFamily="34" charset="-122"/>
              </a:rPr>
              <a:t>王萧虎               </a:t>
            </a:r>
            <a:r>
              <a:rPr lang="en-US" altLang="zh-CN" sz="1350" dirty="0">
                <a:latin typeface="Microsoft YaHei" panose="020B0503020204020204" pitchFamily="34" charset="-122"/>
                <a:ea typeface="Microsoft YaHei" panose="020B0503020204020204" pitchFamily="34" charset="-122"/>
              </a:rPr>
              <a:t>2004</a:t>
            </a:r>
            <a:endParaRPr lang="zh-CN" altLang="en-US" sz="1350" dirty="0">
              <a:latin typeface="Microsoft YaHei" panose="020B0503020204020204" pitchFamily="34" charset="-122"/>
              <a:ea typeface="Microsoft YaHei" panose="020B0503020204020204" pitchFamily="34" charset="-122"/>
            </a:endParaRPr>
          </a:p>
          <a:p>
            <a:pPr>
              <a:lnSpc>
                <a:spcPct val="70000"/>
              </a:lnSpc>
              <a:spcBef>
                <a:spcPct val="50000"/>
              </a:spcBef>
            </a:pPr>
            <a:r>
              <a:rPr lang="zh-CN" altLang="en-US" sz="1350" dirty="0">
                <a:latin typeface="Microsoft YaHei" panose="020B0503020204020204" pitchFamily="34" charset="-122"/>
                <a:ea typeface="Microsoft YaHei" panose="020B0503020204020204" pitchFamily="34" charset="-122"/>
              </a:rPr>
              <a:t>……</a:t>
            </a:r>
          </a:p>
        </p:txBody>
      </p:sp>
      <p:sp>
        <p:nvSpPr>
          <p:cNvPr id="30734" name="Text Box 14"/>
          <p:cNvSpPr txBox="1"/>
          <p:nvPr/>
        </p:nvSpPr>
        <p:spPr>
          <a:xfrm>
            <a:off x="3939396" y="2209356"/>
            <a:ext cx="1782365" cy="400110"/>
          </a:xfrm>
          <a:prstGeom prst="rect">
            <a:avLst/>
          </a:prstGeom>
          <a:noFill/>
          <a:ln w="9525">
            <a:noFill/>
          </a:ln>
        </p:spPr>
        <p:txBody>
          <a:bodyPr>
            <a:spAutoFit/>
          </a:bodyPr>
          <a:lstStyle/>
          <a:p>
            <a:pPr>
              <a:spcBef>
                <a:spcPct val="50000"/>
              </a:spcBef>
            </a:pPr>
            <a:r>
              <a:rPr lang="en-US" altLang="zh-CN" sz="2000" dirty="0">
                <a:solidFill>
                  <a:srgbClr val="0000FF"/>
                </a:solidFill>
                <a:latin typeface="Microsoft YaHei" panose="020B0503020204020204" pitchFamily="34" charset="-122"/>
                <a:ea typeface="Microsoft YaHei" panose="020B0503020204020204" pitchFamily="34" charset="-122"/>
              </a:rPr>
              <a:t>AS</a:t>
            </a:r>
            <a:r>
              <a:rPr lang="en-US" altLang="zh-CN" sz="2000" dirty="0">
                <a:solidFill>
                  <a:schemeClr val="hlink"/>
                </a:solidFill>
                <a:latin typeface="Microsoft YaHei" panose="020B0503020204020204" pitchFamily="34" charset="-122"/>
                <a:ea typeface="Microsoft YaHei" panose="020B0503020204020204" pitchFamily="34" charset="-122"/>
              </a:rPr>
              <a:t>  Birth</a:t>
            </a:r>
          </a:p>
        </p:txBody>
      </p:sp>
      <p:sp>
        <p:nvSpPr>
          <p:cNvPr id="30735" name="AutoShape 15"/>
          <p:cNvSpPr/>
          <p:nvPr/>
        </p:nvSpPr>
        <p:spPr>
          <a:xfrm>
            <a:off x="5521105" y="1744277"/>
            <a:ext cx="729854" cy="345281"/>
          </a:xfrm>
          <a:prstGeom prst="wedgeRoundRectCallout">
            <a:avLst>
              <a:gd name="adj1" fmla="val -112721"/>
              <a:gd name="adj2" fmla="val 116030"/>
              <a:gd name="adj3" fmla="val 16667"/>
            </a:avLst>
          </a:prstGeom>
          <a:solidFill>
            <a:srgbClr val="FFCCFF"/>
          </a:solidFill>
          <a:ln w="9525" cap="flat" cmpd="sng">
            <a:solidFill>
              <a:schemeClr val="tx1"/>
            </a:solidFill>
            <a:prstDash val="solid"/>
            <a:miter/>
            <a:headEnd type="none" w="med" len="med"/>
            <a:tailEnd type="none" w="med" len="med"/>
          </a:ln>
        </p:spPr>
        <p:txBody>
          <a:bodyPr/>
          <a:lstStyle/>
          <a:p>
            <a:pPr algn="ctr"/>
            <a:r>
              <a:rPr lang="zh-CN" altLang="en-US" sz="1350" dirty="0">
                <a:latin typeface="Microsoft YaHei" panose="020B0503020204020204" pitchFamily="34" charset="-122"/>
                <a:ea typeface="Microsoft YaHei" panose="020B0503020204020204" pitchFamily="34" charset="-122"/>
              </a:rPr>
              <a:t>别名</a:t>
            </a:r>
          </a:p>
        </p:txBody>
      </p:sp>
      <p:sp>
        <p:nvSpPr>
          <p:cNvPr id="30736" name="Text Box 16"/>
          <p:cNvSpPr txBox="1"/>
          <p:nvPr/>
        </p:nvSpPr>
        <p:spPr>
          <a:xfrm>
            <a:off x="6713075" y="3096771"/>
            <a:ext cx="1465659" cy="415498"/>
          </a:xfrm>
          <a:prstGeom prst="rect">
            <a:avLst/>
          </a:prstGeom>
          <a:solidFill>
            <a:srgbClr val="FFF1B5"/>
          </a:solidFill>
          <a:ln w="9525">
            <a:noFill/>
          </a:ln>
        </p:spPr>
        <p:txBody>
          <a:bodyPr>
            <a:spAutoFit/>
          </a:bodyPr>
          <a:lstStyle/>
          <a:p>
            <a:pPr>
              <a:spcBef>
                <a:spcPct val="50000"/>
              </a:spcBef>
            </a:pPr>
            <a:r>
              <a:rPr lang="zh-CN" altLang="en-US" sz="2100" dirty="0">
                <a:solidFill>
                  <a:schemeClr val="hlink"/>
                </a:solidFill>
                <a:latin typeface="Microsoft YaHei" panose="020B0503020204020204" pitchFamily="34" charset="-122"/>
                <a:ea typeface="Microsoft YaHei" panose="020B0503020204020204" pitchFamily="34" charset="-122"/>
              </a:rPr>
              <a:t>   </a:t>
            </a:r>
            <a:r>
              <a:rPr lang="en-US" altLang="zh-CN" sz="1350" dirty="0">
                <a:solidFill>
                  <a:schemeClr val="hlink"/>
                </a:solidFill>
                <a:latin typeface="Microsoft YaHei" panose="020B0503020204020204" pitchFamily="34" charset="-122"/>
                <a:ea typeface="Microsoft YaHei" panose="020B0503020204020204" pitchFamily="34" charset="-122"/>
              </a:rPr>
              <a:t>Birth</a:t>
            </a:r>
            <a:endParaRPr lang="en-US" altLang="zh-CN" sz="1350" dirty="0">
              <a:latin typeface="Microsoft YaHei" panose="020B0503020204020204" pitchFamily="34" charset="-122"/>
              <a:ea typeface="Microsoft YaHei" panose="020B0503020204020204" pitchFamily="34" charset="-122"/>
            </a:endParaRPr>
          </a:p>
        </p:txBody>
      </p:sp>
      <p:sp>
        <p:nvSpPr>
          <p:cNvPr id="33807" name="AutoShape 22"/>
          <p:cNvSpPr/>
          <p:nvPr/>
        </p:nvSpPr>
        <p:spPr>
          <a:xfrm rot="10800000">
            <a:off x="3225980" y="2747735"/>
            <a:ext cx="1052513" cy="342900"/>
          </a:xfrm>
          <a:prstGeom prst="wedgeRoundRectCallout">
            <a:avLst>
              <a:gd name="adj1" fmla="val 34994"/>
              <a:gd name="adj2" fmla="val 101782"/>
              <a:gd name="adj3" fmla="val 16667"/>
            </a:avLst>
          </a:prstGeom>
          <a:solidFill>
            <a:srgbClr val="FFCC99"/>
          </a:solidFill>
          <a:ln w="9525" cap="flat" cmpd="sng">
            <a:solidFill>
              <a:schemeClr val="tx1"/>
            </a:solidFill>
            <a:prstDash val="solid"/>
            <a:miter/>
            <a:headEnd type="none" w="med" len="med"/>
            <a:tailEnd type="none" w="med" len="med"/>
          </a:ln>
        </p:spPr>
        <p:txBody>
          <a:bodyPr rot="10800000"/>
          <a:lstStyle/>
          <a:p>
            <a:pPr algn="ctr"/>
            <a:r>
              <a:rPr lang="zh-CN" altLang="en-US" sz="1350" dirty="0">
                <a:latin typeface="Microsoft YaHei" panose="020B0503020204020204" pitchFamily="34" charset="-122"/>
                <a:ea typeface="Microsoft YaHei" panose="020B0503020204020204" pitchFamily="34" charset="-122"/>
              </a:rPr>
              <a:t>表达式</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 calcmode="lin" valueType="num">
                                      <p:cBhvr additive="base">
                                        <p:cTn id="7" dur="500" fill="hold"/>
                                        <p:tgtEl>
                                          <p:spTgt spid="307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72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anim calcmode="lin" valueType="num">
                                      <p:cBhvr additive="base">
                                        <p:cTn id="11" dur="500" fill="hold"/>
                                        <p:tgtEl>
                                          <p:spTgt spid="3072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072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0723">
                                            <p:txEl>
                                              <p:pRg st="2" end="2"/>
                                            </p:txEl>
                                          </p:spTgt>
                                        </p:tgtEl>
                                        <p:attrNameLst>
                                          <p:attrName>style.visibility</p:attrName>
                                        </p:attrNameLst>
                                      </p:cBhvr>
                                      <p:to>
                                        <p:strVal val="visible"/>
                                      </p:to>
                                    </p:set>
                                    <p:anim calcmode="lin" valueType="num">
                                      <p:cBhvr additive="base">
                                        <p:cTn id="15" dur="500" fill="hold"/>
                                        <p:tgtEl>
                                          <p:spTgt spid="3072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307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30723">
                                            <p:txEl>
                                              <p:pRg st="3" end="3"/>
                                            </p:txEl>
                                          </p:spTgt>
                                        </p:tgtEl>
                                        <p:attrNameLst>
                                          <p:attrName>style.visibility</p:attrName>
                                        </p:attrNameLst>
                                      </p:cBhvr>
                                      <p:to>
                                        <p:strVal val="visible"/>
                                      </p:to>
                                    </p:set>
                                    <p:anim calcmode="lin" valueType="num">
                                      <p:cBhvr additive="base">
                                        <p:cTn id="21" dur="500" fill="hold"/>
                                        <p:tgtEl>
                                          <p:spTgt spid="30723">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3072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30723">
                                            <p:txEl>
                                              <p:pRg st="4" end="4"/>
                                            </p:txEl>
                                          </p:spTgt>
                                        </p:tgtEl>
                                        <p:attrNameLst>
                                          <p:attrName>style.visibility</p:attrName>
                                        </p:attrNameLst>
                                      </p:cBhvr>
                                      <p:to>
                                        <p:strVal val="visible"/>
                                      </p:to>
                                    </p:set>
                                    <p:anim calcmode="lin" valueType="num">
                                      <p:cBhvr additive="base">
                                        <p:cTn id="25" dur="500" fill="hold"/>
                                        <p:tgtEl>
                                          <p:spTgt spid="3072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072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3807"/>
                                        </p:tgtEl>
                                        <p:attrNameLst>
                                          <p:attrName>style.visibility</p:attrName>
                                        </p:attrNameLst>
                                      </p:cBhvr>
                                      <p:to>
                                        <p:strVal val="visible"/>
                                      </p:to>
                                    </p:set>
                                    <p:anim calcmode="lin" valueType="num">
                                      <p:cBhvr additive="base">
                                        <p:cTn id="31" dur="500" fill="hold"/>
                                        <p:tgtEl>
                                          <p:spTgt spid="33807"/>
                                        </p:tgtEl>
                                        <p:attrNameLst>
                                          <p:attrName>ppt_x</p:attrName>
                                        </p:attrNameLst>
                                      </p:cBhvr>
                                      <p:tavLst>
                                        <p:tav tm="0">
                                          <p:val>
                                            <p:strVal val="0-#ppt_w/2"/>
                                          </p:val>
                                        </p:tav>
                                        <p:tav tm="100000">
                                          <p:val>
                                            <p:strVal val="#ppt_x"/>
                                          </p:val>
                                        </p:tav>
                                      </p:tavLst>
                                    </p:anim>
                                    <p:anim calcmode="lin" valueType="num">
                                      <p:cBhvr additive="base">
                                        <p:cTn id="32" dur="500" fill="hold"/>
                                        <p:tgtEl>
                                          <p:spTgt spid="3380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30733"/>
                                        </p:tgtEl>
                                        <p:attrNameLst>
                                          <p:attrName>style.visibility</p:attrName>
                                        </p:attrNameLst>
                                      </p:cBhvr>
                                      <p:to>
                                        <p:strVal val="visible"/>
                                      </p:to>
                                    </p:set>
                                    <p:animEffect transition="in" filter="box(out)">
                                      <p:cBhvr>
                                        <p:cTn id="37" dur="500"/>
                                        <p:tgtEl>
                                          <p:spTgt spid="30733"/>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30734">
                                            <p:txEl>
                                              <p:pRg st="0" end="0"/>
                                            </p:txEl>
                                          </p:spTgt>
                                        </p:tgtEl>
                                        <p:attrNameLst>
                                          <p:attrName>style.visibility</p:attrName>
                                        </p:attrNameLst>
                                      </p:cBhvr>
                                      <p:to>
                                        <p:strVal val="visible"/>
                                      </p:to>
                                    </p:set>
                                    <p:anim calcmode="lin" valueType="num">
                                      <p:cBhvr additive="base">
                                        <p:cTn id="42" dur="500" fill="hold"/>
                                        <p:tgtEl>
                                          <p:spTgt spid="30734">
                                            <p:txEl>
                                              <p:pRg st="0" end="0"/>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3073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30735"/>
                                        </p:tgtEl>
                                        <p:attrNameLst>
                                          <p:attrName>style.visibility</p:attrName>
                                        </p:attrNameLst>
                                      </p:cBhvr>
                                      <p:to>
                                        <p:strVal val="visible"/>
                                      </p:to>
                                    </p:set>
                                    <p:anim calcmode="lin" valueType="num">
                                      <p:cBhvr additive="base">
                                        <p:cTn id="48" dur="500" fill="hold"/>
                                        <p:tgtEl>
                                          <p:spTgt spid="30735"/>
                                        </p:tgtEl>
                                        <p:attrNameLst>
                                          <p:attrName>ppt_x</p:attrName>
                                        </p:attrNameLst>
                                      </p:cBhvr>
                                      <p:tavLst>
                                        <p:tav tm="0">
                                          <p:val>
                                            <p:strVal val="0-#ppt_w/2"/>
                                          </p:val>
                                        </p:tav>
                                        <p:tav tm="100000">
                                          <p:val>
                                            <p:strVal val="#ppt_x"/>
                                          </p:val>
                                        </p:tav>
                                      </p:tavLst>
                                    </p:anim>
                                    <p:anim calcmode="lin" valueType="num">
                                      <p:cBhvr additive="base">
                                        <p:cTn id="49" dur="500" fill="hold"/>
                                        <p:tgtEl>
                                          <p:spTgt spid="30735"/>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 presetClass="entr" presetSubtype="32" fill="hold" grpId="0" nodeType="clickEffect">
                                  <p:stCondLst>
                                    <p:cond delay="0"/>
                                  </p:stCondLst>
                                  <p:childTnLst>
                                    <p:set>
                                      <p:cBhvr>
                                        <p:cTn id="53" dur="1" fill="hold">
                                          <p:stCondLst>
                                            <p:cond delay="0"/>
                                          </p:stCondLst>
                                        </p:cTn>
                                        <p:tgtEl>
                                          <p:spTgt spid="30736"/>
                                        </p:tgtEl>
                                        <p:attrNameLst>
                                          <p:attrName>style.visibility</p:attrName>
                                        </p:attrNameLst>
                                      </p:cBhvr>
                                      <p:to>
                                        <p:strVal val="visible"/>
                                      </p:to>
                                    </p:set>
                                    <p:animEffect transition="in" filter="box(out)">
                                      <p:cBhvr>
                                        <p:cTn id="54" dur="500"/>
                                        <p:tgtEl>
                                          <p:spTgt spid="307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uiExpand="1" build="p"/>
      <p:bldP spid="30733" grpId="0" bldLvl="0" animBg="1"/>
      <p:bldP spid="30734" grpId="0" build="p"/>
      <p:bldP spid="30735" grpId="0" bldLvl="0" animBg="1"/>
      <p:bldP spid="30736" grpId="0" bldLvl="0" animBg="1"/>
      <p:bldP spid="33807"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347FF-C4A6-421F-E103-263A8F93A83F}"/>
            </a:ext>
          </a:extLst>
        </p:cNvPr>
        <p:cNvGrpSpPr/>
        <p:nvPr/>
      </p:nvGrpSpPr>
      <p:grpSpPr>
        <a:xfrm>
          <a:off x="0" y="0"/>
          <a:ext cx="0" cy="0"/>
          <a:chOff x="0" y="0"/>
          <a:chExt cx="0" cy="0"/>
        </a:xfrm>
      </p:grpSpPr>
      <p:sp>
        <p:nvSpPr>
          <p:cNvPr id="30737" name="Rectangle 17">
            <a:extLst>
              <a:ext uri="{FF2B5EF4-FFF2-40B4-BE49-F238E27FC236}">
                <a16:creationId xmlns:a16="http://schemas.microsoft.com/office/drawing/2014/main" id="{F0AF97E2-D0E0-2FB1-D6F3-2091F73D155D}"/>
              </a:ext>
            </a:extLst>
          </p:cNvPr>
          <p:cNvSpPr/>
          <p:nvPr/>
        </p:nvSpPr>
        <p:spPr>
          <a:xfrm>
            <a:off x="619125" y="1465063"/>
            <a:ext cx="3952876" cy="1317465"/>
          </a:xfrm>
          <a:prstGeom prst="rect">
            <a:avLst/>
          </a:prstGeom>
          <a:noFill/>
          <a:ln w="9525">
            <a:noFill/>
          </a:ln>
        </p:spPr>
        <p:txBody>
          <a:bodyPr/>
          <a:lstStyle/>
          <a:p>
            <a:pPr marL="257175" indent="-257175">
              <a:lnSpc>
                <a:spcPct val="90000"/>
              </a:lnSpc>
              <a:spcBef>
                <a:spcPct val="20000"/>
              </a:spcBef>
              <a:buClr>
                <a:schemeClr val="hlink"/>
              </a:buClr>
            </a:pPr>
            <a:r>
              <a:rPr lang="zh-CN" altLang="en-US" sz="2400" b="1" dirty="0">
                <a:solidFill>
                  <a:srgbClr val="C00000"/>
                </a:solidFill>
                <a:latin typeface="Microsoft YaHei" panose="020B0503020204020204" pitchFamily="34" charset="-122"/>
                <a:ea typeface="Microsoft YaHei" panose="020B0503020204020204" pitchFamily="34" charset="-122"/>
              </a:rPr>
              <a:t>（</a:t>
            </a:r>
            <a:r>
              <a:rPr lang="en-US" altLang="zh-CN" sz="2400" b="1" dirty="0">
                <a:solidFill>
                  <a:srgbClr val="C00000"/>
                </a:solidFill>
                <a:latin typeface="Microsoft YaHei" panose="020B0503020204020204" pitchFamily="34" charset="-122"/>
                <a:ea typeface="Microsoft YaHei" panose="020B0503020204020204" pitchFamily="34" charset="-122"/>
              </a:rPr>
              <a:t>3</a:t>
            </a:r>
            <a:r>
              <a:rPr lang="zh-CN" altLang="en-US" sz="2400" b="1" dirty="0">
                <a:solidFill>
                  <a:srgbClr val="C00000"/>
                </a:solidFill>
                <a:latin typeface="Microsoft YaHei" panose="020B0503020204020204" pitchFamily="34" charset="-122"/>
                <a:ea typeface="Microsoft YaHei" panose="020B0503020204020204" pitchFamily="34" charset="-122"/>
              </a:rPr>
              <a:t>）选择表中的行</a:t>
            </a:r>
          </a:p>
          <a:p>
            <a:pPr marL="257175" indent="-257175">
              <a:lnSpc>
                <a:spcPct val="90000"/>
              </a:lnSpc>
              <a:spcBef>
                <a:spcPct val="20000"/>
              </a:spcBef>
              <a:buClr>
                <a:schemeClr val="hlink"/>
              </a:buClr>
            </a:pPr>
            <a:r>
              <a:rPr lang="zh-CN" altLang="en-US" sz="2000" dirty="0">
                <a:latin typeface="Microsoft YaHei" panose="020B0503020204020204" pitchFamily="34" charset="-122"/>
                <a:ea typeface="Microsoft YaHei" panose="020B0503020204020204" pitchFamily="34" charset="-122"/>
              </a:rPr>
              <a:t>  </a:t>
            </a:r>
            <a:r>
              <a:rPr lang="en-US" altLang="zh-CN" sz="2000" b="1" dirty="0">
                <a:solidFill>
                  <a:srgbClr val="00B050"/>
                </a:solidFill>
                <a:latin typeface="Microsoft YaHei" panose="020B0503020204020204" pitchFamily="34" charset="-122"/>
                <a:ea typeface="Microsoft YaHei" panose="020B0503020204020204" pitchFamily="34" charset="-122"/>
              </a:rPr>
              <a:t>①</a:t>
            </a:r>
            <a:r>
              <a:rPr lang="zh-CN" altLang="en-US" sz="2000" b="1" dirty="0">
                <a:solidFill>
                  <a:srgbClr val="00B050"/>
                </a:solidFill>
                <a:latin typeface="Microsoft YaHei" panose="020B0503020204020204" pitchFamily="34" charset="-122"/>
                <a:ea typeface="Microsoft YaHei" panose="020B0503020204020204" pitchFamily="34" charset="-122"/>
              </a:rPr>
              <a:t>比较</a:t>
            </a:r>
          </a:p>
          <a:p>
            <a:pPr marL="257175" indent="-257175">
              <a:lnSpc>
                <a:spcPct val="90000"/>
              </a:lnSpc>
              <a:spcBef>
                <a:spcPct val="20000"/>
              </a:spcBef>
              <a:buClr>
                <a:schemeClr val="hlink"/>
              </a:buClr>
              <a:buFont typeface="Wingdings" panose="05000000000000000000" pitchFamily="2" charset="2"/>
              <a:buChar char="§"/>
            </a:pPr>
            <a:r>
              <a:rPr lang="zh-CN" altLang="en-US" sz="2000" dirty="0">
                <a:solidFill>
                  <a:schemeClr val="hlink"/>
                </a:solidFill>
                <a:latin typeface="Microsoft YaHei" panose="020B0503020204020204" pitchFamily="34" charset="-122"/>
                <a:ea typeface="Microsoft YaHei" panose="020B0503020204020204" pitchFamily="34" charset="-122"/>
              </a:rPr>
              <a:t>例</a:t>
            </a:r>
            <a:r>
              <a:rPr lang="en-US" altLang="zh-CN" sz="2000" dirty="0">
                <a:solidFill>
                  <a:schemeClr val="hlink"/>
                </a:solidFill>
                <a:latin typeface="Microsoft YaHei" panose="020B0503020204020204" pitchFamily="34" charset="-122"/>
                <a:ea typeface="Microsoft YaHei" panose="020B0503020204020204" pitchFamily="34" charset="-122"/>
              </a:rPr>
              <a:t>:</a:t>
            </a:r>
            <a:r>
              <a:rPr lang="zh-CN" altLang="en-US" sz="2000" dirty="0">
                <a:solidFill>
                  <a:schemeClr val="hlink"/>
                </a:solidFill>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查考试成绩不及格的学号。</a:t>
            </a:r>
          </a:p>
        </p:txBody>
      </p:sp>
      <p:sp>
        <p:nvSpPr>
          <p:cNvPr id="30738" name="Rectangle 18">
            <a:extLst>
              <a:ext uri="{FF2B5EF4-FFF2-40B4-BE49-F238E27FC236}">
                <a16:creationId xmlns:a16="http://schemas.microsoft.com/office/drawing/2014/main" id="{1DA74C15-30F5-CA1F-5C78-1558975F4266}"/>
              </a:ext>
            </a:extLst>
          </p:cNvPr>
          <p:cNvSpPr/>
          <p:nvPr/>
        </p:nvSpPr>
        <p:spPr>
          <a:xfrm>
            <a:off x="1176799" y="2994043"/>
            <a:ext cx="4516078" cy="1459399"/>
          </a:xfrm>
          <a:prstGeom prst="rect">
            <a:avLst/>
          </a:prstGeom>
          <a:solidFill>
            <a:srgbClr val="FFF1B5"/>
          </a:solidFill>
          <a:ln w="9525">
            <a:noFill/>
          </a:ln>
        </p:spPr>
        <p:txBody>
          <a:bodyPr/>
          <a:lstStyle/>
          <a:p>
            <a:pPr marL="257175" indent="-257175">
              <a:spcBef>
                <a:spcPct val="20000"/>
              </a:spcBef>
              <a:buClr>
                <a:schemeClr val="folHlink"/>
              </a:buClr>
              <a:buSzPct val="60000"/>
            </a:pPr>
            <a:r>
              <a:rPr lang="en-US" altLang="zh-CN" sz="2400" dirty="0">
                <a:latin typeface="Microsoft YaHei" panose="020B0503020204020204" pitchFamily="34" charset="-122"/>
                <a:ea typeface="Microsoft YaHei" panose="020B0503020204020204" pitchFamily="34" charset="-122"/>
              </a:rPr>
              <a:t>SELECT           </a:t>
            </a:r>
            <a:r>
              <a:rPr lang="zh-CN" altLang="en-US" sz="2400" dirty="0">
                <a:latin typeface="Microsoft YaHei" panose="020B0503020204020204" pitchFamily="34" charset="-122"/>
                <a:ea typeface="Microsoft YaHei" panose="020B0503020204020204" pitchFamily="34" charset="-122"/>
              </a:rPr>
              <a:t>            </a:t>
            </a:r>
            <a:r>
              <a:rPr lang="en-US" altLang="zh-CN" sz="2400" dirty="0" err="1">
                <a:latin typeface="Microsoft YaHei" panose="020B0503020204020204" pitchFamily="34" charset="-122"/>
                <a:ea typeface="Microsoft YaHei" panose="020B0503020204020204" pitchFamily="34" charset="-122"/>
              </a:rPr>
              <a:t>sno</a:t>
            </a:r>
            <a:endParaRPr lang="en-US" altLang="zh-CN" sz="2400" dirty="0">
              <a:latin typeface="Microsoft YaHei" panose="020B0503020204020204" pitchFamily="34" charset="-122"/>
              <a:ea typeface="Microsoft YaHei" panose="020B0503020204020204" pitchFamily="34" charset="-122"/>
            </a:endParaRPr>
          </a:p>
          <a:p>
            <a:pPr marL="257175" indent="-257175">
              <a:spcBef>
                <a:spcPct val="20000"/>
              </a:spcBef>
              <a:buClr>
                <a:schemeClr val="folHlink"/>
              </a:buClr>
              <a:buSzPct val="60000"/>
            </a:pPr>
            <a:r>
              <a:rPr lang="en-US" altLang="zh-CN" sz="2400" dirty="0">
                <a:latin typeface="Microsoft YaHei" panose="020B0503020204020204" pitchFamily="34" charset="-122"/>
                <a:ea typeface="Microsoft YaHei" panose="020B0503020204020204" pitchFamily="34" charset="-122"/>
              </a:rPr>
              <a:t>FROM SC</a:t>
            </a:r>
          </a:p>
          <a:p>
            <a:pPr marL="257175" indent="-257175">
              <a:spcBef>
                <a:spcPct val="20000"/>
              </a:spcBef>
              <a:buClr>
                <a:schemeClr val="folHlink"/>
              </a:buClr>
              <a:buSzPct val="60000"/>
            </a:pPr>
            <a:r>
              <a:rPr lang="en-US" altLang="zh-CN" sz="2400" dirty="0">
                <a:latin typeface="Microsoft YaHei" panose="020B0503020204020204" pitchFamily="34" charset="-122"/>
                <a:ea typeface="Microsoft YaHei" panose="020B0503020204020204" pitchFamily="34" charset="-122"/>
              </a:rPr>
              <a:t>WHERE  grade&lt;60 </a:t>
            </a:r>
            <a:r>
              <a:rPr lang="zh-CN" altLang="en-US" sz="2400" dirty="0">
                <a:latin typeface="Microsoft YaHei" panose="020B0503020204020204" pitchFamily="34" charset="-122"/>
                <a:ea typeface="Microsoft YaHei" panose="020B0503020204020204" pitchFamily="34" charset="-122"/>
              </a:rPr>
              <a:t>；</a:t>
            </a:r>
          </a:p>
        </p:txBody>
      </p:sp>
      <p:sp>
        <p:nvSpPr>
          <p:cNvPr id="30739" name="Text Box 19">
            <a:extLst>
              <a:ext uri="{FF2B5EF4-FFF2-40B4-BE49-F238E27FC236}">
                <a16:creationId xmlns:a16="http://schemas.microsoft.com/office/drawing/2014/main" id="{D0CACED2-9268-2D49-CDC1-9724558F7C98}"/>
              </a:ext>
            </a:extLst>
          </p:cNvPr>
          <p:cNvSpPr txBox="1"/>
          <p:nvPr/>
        </p:nvSpPr>
        <p:spPr>
          <a:xfrm>
            <a:off x="2630666" y="2994043"/>
            <a:ext cx="1587374" cy="461665"/>
          </a:xfrm>
          <a:prstGeom prst="rect">
            <a:avLst/>
          </a:prstGeom>
          <a:solidFill>
            <a:srgbClr val="FFF1B5"/>
          </a:solidFill>
          <a:ln w="9525">
            <a:noFill/>
          </a:ln>
        </p:spPr>
        <p:txBody>
          <a:bodyPr wrap="square">
            <a:spAutoFit/>
          </a:bodyPr>
          <a:lstStyle/>
          <a:p>
            <a:pPr>
              <a:spcBef>
                <a:spcPct val="50000"/>
              </a:spcBef>
            </a:pPr>
            <a:r>
              <a:rPr lang="en-US" altLang="zh-CN" sz="2400" dirty="0">
                <a:solidFill>
                  <a:schemeClr val="hlink"/>
                </a:solidFill>
                <a:latin typeface="Microsoft YaHei" panose="020B0503020204020204" pitchFamily="34" charset="-122"/>
                <a:ea typeface="Microsoft YaHei" panose="020B0503020204020204" pitchFamily="34" charset="-122"/>
              </a:rPr>
              <a:t>DISTINCT</a:t>
            </a:r>
            <a:endParaRPr lang="en-US" altLang="zh-CN" sz="1350" dirty="0">
              <a:solidFill>
                <a:schemeClr val="hlink"/>
              </a:solidFill>
              <a:latin typeface="Microsoft YaHei" panose="020B0503020204020204" pitchFamily="34" charset="-122"/>
              <a:ea typeface="Microsoft YaHei" panose="020B0503020204020204" pitchFamily="34" charset="-122"/>
            </a:endParaRPr>
          </a:p>
        </p:txBody>
      </p:sp>
      <p:sp>
        <p:nvSpPr>
          <p:cNvPr id="30740" name="AutoShape 20">
            <a:extLst>
              <a:ext uri="{FF2B5EF4-FFF2-40B4-BE49-F238E27FC236}">
                <a16:creationId xmlns:a16="http://schemas.microsoft.com/office/drawing/2014/main" id="{F6FDB81F-3283-BE81-35D7-CE07FCEF4814}"/>
              </a:ext>
            </a:extLst>
          </p:cNvPr>
          <p:cNvSpPr/>
          <p:nvPr/>
        </p:nvSpPr>
        <p:spPr>
          <a:xfrm>
            <a:off x="5585722" y="2053233"/>
            <a:ext cx="1557338" cy="427434"/>
          </a:xfrm>
          <a:prstGeom prst="wedgeRoundRectCallout">
            <a:avLst>
              <a:gd name="adj1" fmla="val -139482"/>
              <a:gd name="adj2" fmla="val 195243"/>
              <a:gd name="adj3" fmla="val 16667"/>
            </a:avLst>
          </a:prstGeom>
          <a:solidFill>
            <a:srgbClr val="75FFDB"/>
          </a:solidFill>
          <a:ln w="9525" cap="flat" cmpd="sng">
            <a:solidFill>
              <a:schemeClr val="tx1"/>
            </a:solidFill>
            <a:prstDash val="solid"/>
            <a:miter/>
            <a:headEnd type="none" w="med" len="med"/>
            <a:tailEnd type="none" w="med" len="med"/>
          </a:ln>
        </p:spPr>
        <p:txBody>
          <a:bodyPr wrap="none" lIns="0" tIns="0" rIns="0" bIns="0" anchor="ctr"/>
          <a:lstStyle/>
          <a:p>
            <a:pPr algn="ctr"/>
            <a:r>
              <a:rPr lang="zh-CN" altLang="en-US" sz="1350" dirty="0">
                <a:latin typeface="Microsoft YaHei" panose="020B0503020204020204" pitchFamily="34" charset="-122"/>
                <a:ea typeface="Microsoft YaHei" panose="020B0503020204020204" pitchFamily="34" charset="-122"/>
              </a:rPr>
              <a:t>去掉重复元组</a:t>
            </a:r>
          </a:p>
        </p:txBody>
      </p:sp>
      <p:sp>
        <p:nvSpPr>
          <p:cNvPr id="4" name="标题 3">
            <a:extLst>
              <a:ext uri="{FF2B5EF4-FFF2-40B4-BE49-F238E27FC236}">
                <a16:creationId xmlns:a16="http://schemas.microsoft.com/office/drawing/2014/main" id="{077F3960-888F-5C02-0A1B-2FC01FE7B1CB}"/>
              </a:ext>
            </a:extLst>
          </p:cNvPr>
          <p:cNvSpPr>
            <a:spLocks noGrp="1"/>
          </p:cNvSpPr>
          <p:nvPr>
            <p:ph type="title"/>
          </p:nvPr>
        </p:nvSpPr>
        <p:spPr/>
        <p:txBody>
          <a:bodyPr/>
          <a:lstStyle/>
          <a:p>
            <a:r>
              <a:rPr lang="zh-CN" altLang="en-US" dirty="0"/>
              <a:t>单表查询</a:t>
            </a:r>
          </a:p>
        </p:txBody>
      </p:sp>
    </p:spTree>
    <p:extLst>
      <p:ext uri="{BB962C8B-B14F-4D97-AF65-F5344CB8AC3E}">
        <p14:creationId xmlns:p14="http://schemas.microsoft.com/office/powerpoint/2010/main" val="124218312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37">
                                            <p:txEl>
                                              <p:pRg st="0" end="0"/>
                                            </p:txEl>
                                          </p:spTgt>
                                        </p:tgtEl>
                                        <p:attrNameLst>
                                          <p:attrName>style.visibility</p:attrName>
                                        </p:attrNameLst>
                                      </p:cBhvr>
                                      <p:to>
                                        <p:strVal val="visible"/>
                                      </p:to>
                                    </p:set>
                                    <p:anim calcmode="lin" valueType="num">
                                      <p:cBhvr additive="base">
                                        <p:cTn id="7" dur="500" fill="hold"/>
                                        <p:tgtEl>
                                          <p:spTgt spid="3073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73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0737">
                                            <p:txEl>
                                              <p:pRg st="1" end="1"/>
                                            </p:txEl>
                                          </p:spTgt>
                                        </p:tgtEl>
                                        <p:attrNameLst>
                                          <p:attrName>style.visibility</p:attrName>
                                        </p:attrNameLst>
                                      </p:cBhvr>
                                      <p:to>
                                        <p:strVal val="visible"/>
                                      </p:to>
                                    </p:set>
                                    <p:anim calcmode="lin" valueType="num">
                                      <p:cBhvr additive="base">
                                        <p:cTn id="11" dur="500" fill="hold"/>
                                        <p:tgtEl>
                                          <p:spTgt spid="3073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073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0737">
                                            <p:txEl>
                                              <p:pRg st="2" end="2"/>
                                            </p:txEl>
                                          </p:spTgt>
                                        </p:tgtEl>
                                        <p:attrNameLst>
                                          <p:attrName>style.visibility</p:attrName>
                                        </p:attrNameLst>
                                      </p:cBhvr>
                                      <p:to>
                                        <p:strVal val="visible"/>
                                      </p:to>
                                    </p:set>
                                    <p:anim calcmode="lin" valueType="num">
                                      <p:cBhvr additive="base">
                                        <p:cTn id="17" dur="500" fill="hold"/>
                                        <p:tgtEl>
                                          <p:spTgt spid="30737">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073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0738"/>
                                        </p:tgtEl>
                                        <p:attrNameLst>
                                          <p:attrName>style.visibility</p:attrName>
                                        </p:attrNameLst>
                                      </p:cBhvr>
                                      <p:to>
                                        <p:strVal val="visible"/>
                                      </p:to>
                                    </p:set>
                                    <p:anim calcmode="lin" valueType="num">
                                      <p:cBhvr additive="base">
                                        <p:cTn id="23" dur="500" fill="hold"/>
                                        <p:tgtEl>
                                          <p:spTgt spid="30738"/>
                                        </p:tgtEl>
                                        <p:attrNameLst>
                                          <p:attrName>ppt_x</p:attrName>
                                        </p:attrNameLst>
                                      </p:cBhvr>
                                      <p:tavLst>
                                        <p:tav tm="0">
                                          <p:val>
                                            <p:strVal val="0-#ppt_w/2"/>
                                          </p:val>
                                        </p:tav>
                                        <p:tav tm="100000">
                                          <p:val>
                                            <p:strVal val="#ppt_x"/>
                                          </p:val>
                                        </p:tav>
                                      </p:tavLst>
                                    </p:anim>
                                    <p:anim calcmode="lin" valueType="num">
                                      <p:cBhvr additive="base">
                                        <p:cTn id="24" dur="500" fill="hold"/>
                                        <p:tgtEl>
                                          <p:spTgt spid="3073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30739"/>
                                        </p:tgtEl>
                                        <p:attrNameLst>
                                          <p:attrName>style.visibility</p:attrName>
                                        </p:attrNameLst>
                                      </p:cBhvr>
                                      <p:to>
                                        <p:strVal val="visible"/>
                                      </p:to>
                                    </p:set>
                                    <p:animEffect transition="in" filter="box(in)">
                                      <p:cBhvr>
                                        <p:cTn id="29" dur="500"/>
                                        <p:tgtEl>
                                          <p:spTgt spid="30739"/>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30740"/>
                                        </p:tgtEl>
                                        <p:attrNameLst>
                                          <p:attrName>style.visibility</p:attrName>
                                        </p:attrNameLst>
                                      </p:cBhvr>
                                      <p:to>
                                        <p:strVal val="visible"/>
                                      </p:to>
                                    </p:set>
                                  </p:childTnLst>
                                  <p:subTnLst>
                                    <p:set>
                                      <p:cBhvr override="childStyle">
                                        <p:cTn dur="1" fill="hold" display="0" masterRel="nextClick" afterEffect="1"/>
                                        <p:tgtEl>
                                          <p:spTgt spid="3074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7" grpId="0" uiExpand="1" build="p"/>
      <p:bldP spid="30738" grpId="0" bldLvl="0" animBg="1"/>
      <p:bldP spid="30739" grpId="0" bldLvl="0" animBg="1"/>
      <p:bldP spid="30740"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569EDC1-F05E-970F-A3B9-DCF40AF0EA60}"/>
              </a:ext>
            </a:extLst>
          </p:cNvPr>
          <p:cNvSpPr>
            <a:spLocks noGrp="1"/>
          </p:cNvSpPr>
          <p:nvPr>
            <p:ph type="title"/>
          </p:nvPr>
        </p:nvSpPr>
        <p:spPr/>
        <p:txBody>
          <a:bodyPr/>
          <a:lstStyle/>
          <a:p>
            <a:r>
              <a:rPr lang="zh-CN" altLang="en-US" dirty="0"/>
              <a:t>单表查询</a:t>
            </a:r>
          </a:p>
        </p:txBody>
      </p:sp>
      <p:sp>
        <p:nvSpPr>
          <p:cNvPr id="34819" name="Rectangle 3"/>
          <p:cNvSpPr>
            <a:spLocks noGrp="1"/>
          </p:cNvSpPr>
          <p:nvPr>
            <p:ph idx="1"/>
          </p:nvPr>
        </p:nvSpPr>
        <p:spPr>
          <a:xfrm>
            <a:off x="263511" y="1345583"/>
            <a:ext cx="8616978" cy="3408735"/>
          </a:xfrm>
        </p:spPr>
        <p:txBody>
          <a:bodyPr vert="horz" wrap="square" lIns="68580" tIns="34290" rIns="68580" bIns="34290" anchor="t" anchorCtr="0"/>
          <a:lstStyle/>
          <a:p>
            <a:pPr eaLnBrk="1" hangingPunct="1">
              <a:buSzTx/>
              <a:buNone/>
            </a:pPr>
            <a:r>
              <a:rPr lang="en-US" altLang="zh-CN" sz="2400" b="1" dirty="0">
                <a:solidFill>
                  <a:srgbClr val="00B050"/>
                </a:solidFill>
              </a:rPr>
              <a:t>②</a:t>
            </a:r>
            <a:r>
              <a:rPr lang="zh-CN" altLang="en-US" sz="2400" b="1" dirty="0">
                <a:solidFill>
                  <a:srgbClr val="00B050"/>
                </a:solidFill>
              </a:rPr>
              <a:t>确定范围 </a:t>
            </a:r>
            <a:r>
              <a:rPr lang="zh-CN" altLang="en-US" sz="2400" b="1" dirty="0"/>
              <a:t>(</a:t>
            </a:r>
            <a:r>
              <a:rPr lang="zh-CN" altLang="en-US" sz="2400" b="1" dirty="0">
                <a:solidFill>
                  <a:schemeClr val="hlink"/>
                </a:solidFill>
              </a:rPr>
              <a:t>BETWEEN  … AND …</a:t>
            </a:r>
            <a:r>
              <a:rPr lang="zh-CN" altLang="en-US" sz="2400" b="1" dirty="0"/>
              <a:t>   )</a:t>
            </a:r>
          </a:p>
          <a:p>
            <a:pPr eaLnBrk="1" hangingPunct="1">
              <a:buNone/>
            </a:pPr>
            <a:r>
              <a:rPr lang="zh-CN" altLang="en-US" sz="2400" b="1" dirty="0">
                <a:solidFill>
                  <a:schemeClr val="hlink"/>
                </a:solidFill>
              </a:rPr>
              <a:t>[例] </a:t>
            </a:r>
            <a:r>
              <a:rPr lang="zh-CN" altLang="en-US" sz="2400" dirty="0"/>
              <a:t>查询选004号课程且成绩在85--95的学生号。</a:t>
            </a:r>
            <a:endParaRPr lang="en-US" altLang="zh-CN" sz="2400" dirty="0"/>
          </a:p>
          <a:p>
            <a:pPr eaLnBrk="1" hangingPunct="1">
              <a:buNone/>
            </a:pPr>
            <a:endParaRPr lang="zh-CN" altLang="en-US" sz="2400" dirty="0"/>
          </a:p>
          <a:p>
            <a:pPr eaLnBrk="1" hangingPunct="1">
              <a:buSzTx/>
              <a:buNone/>
            </a:pPr>
            <a:r>
              <a:rPr lang="zh-CN" altLang="en-US" sz="2000" b="1" dirty="0"/>
              <a:t>   SELECT  sno</a:t>
            </a:r>
          </a:p>
          <a:p>
            <a:pPr eaLnBrk="1" hangingPunct="1">
              <a:buSzTx/>
              <a:buNone/>
            </a:pPr>
            <a:r>
              <a:rPr lang="zh-CN" altLang="en-US" sz="2000" b="1" dirty="0"/>
              <a:t>   FROM  SC</a:t>
            </a:r>
          </a:p>
          <a:p>
            <a:pPr eaLnBrk="1" hangingPunct="1">
              <a:buSzTx/>
              <a:buNone/>
            </a:pPr>
            <a:r>
              <a:rPr lang="zh-CN" altLang="en-US" sz="2000" b="1" dirty="0"/>
              <a:t>   WHERE  cno=‘004’ </a:t>
            </a:r>
            <a:r>
              <a:rPr lang="zh-CN" altLang="en-US" sz="2000" b="1" dirty="0">
                <a:solidFill>
                  <a:schemeClr val="folHlink"/>
                </a:solidFill>
              </a:rPr>
              <a:t>AND</a:t>
            </a:r>
            <a:r>
              <a:rPr lang="zh-CN" altLang="en-US" sz="2000" b="1" dirty="0"/>
              <a:t>  grade </a:t>
            </a:r>
            <a:r>
              <a:rPr lang="zh-CN" altLang="en-US" sz="2000" dirty="0">
                <a:solidFill>
                  <a:schemeClr val="hlink"/>
                </a:solidFill>
              </a:rPr>
              <a:t>BETWEEN</a:t>
            </a:r>
            <a:r>
              <a:rPr lang="zh-CN" altLang="en-US" sz="2000" b="1" dirty="0"/>
              <a:t> 85 </a:t>
            </a:r>
            <a:r>
              <a:rPr lang="zh-CN" altLang="en-US" sz="2000" dirty="0">
                <a:solidFill>
                  <a:schemeClr val="hlink"/>
                </a:solidFill>
              </a:rPr>
              <a:t>AND</a:t>
            </a:r>
            <a:r>
              <a:rPr lang="zh-CN" altLang="en-US" sz="2000" b="1" dirty="0"/>
              <a:t>  95；</a:t>
            </a:r>
            <a:r>
              <a:rPr lang="zh-CN" altLang="en-US" sz="2000" dirty="0"/>
              <a:t> </a:t>
            </a:r>
          </a:p>
        </p:txBody>
      </p:sp>
      <p:sp>
        <p:nvSpPr>
          <p:cNvPr id="31748" name="AutoShape 4"/>
          <p:cNvSpPr/>
          <p:nvPr/>
        </p:nvSpPr>
        <p:spPr>
          <a:xfrm>
            <a:off x="6961584" y="4195413"/>
            <a:ext cx="2078831" cy="466725"/>
          </a:xfrm>
          <a:prstGeom prst="cloudCallout">
            <a:avLst>
              <a:gd name="adj1" fmla="val -65520"/>
              <a:gd name="adj2" fmla="val -125451"/>
            </a:avLst>
          </a:prstGeom>
          <a:solidFill>
            <a:srgbClr val="47FFCF"/>
          </a:solidFill>
          <a:ln w="9525" cap="flat" cmpd="sng">
            <a:solidFill>
              <a:schemeClr val="tx1"/>
            </a:solidFill>
            <a:prstDash val="solid"/>
            <a:headEnd type="none" w="med" len="med"/>
            <a:tailEnd type="none" w="med" len="med"/>
          </a:ln>
        </p:spPr>
        <p:txBody>
          <a:bodyPr lIns="0" tIns="0" rIns="0" bIns="0"/>
          <a:lstStyle/>
          <a:p>
            <a:r>
              <a:rPr lang="zh-CN" altLang="en-US" sz="2100" dirty="0">
                <a:latin typeface="Microsoft YaHei" panose="020B0503020204020204" pitchFamily="34" charset="-122"/>
                <a:ea typeface="Microsoft YaHei" panose="020B0503020204020204" pitchFamily="34" charset="-122"/>
              </a:rPr>
              <a:t>其他表示？</a:t>
            </a:r>
          </a:p>
        </p:txBody>
      </p:sp>
      <p:sp>
        <p:nvSpPr>
          <p:cNvPr id="34821" name="Rectangle 5"/>
          <p:cNvSpPr/>
          <p:nvPr/>
        </p:nvSpPr>
        <p:spPr>
          <a:xfrm>
            <a:off x="1143000" y="2686050"/>
            <a:ext cx="6858000" cy="2286000"/>
          </a:xfrm>
          <a:prstGeom prst="rect">
            <a:avLst/>
          </a:prstGeom>
          <a:noFill/>
          <a:ln w="9525">
            <a:noFill/>
          </a:ln>
        </p:spPr>
        <p:txBody>
          <a:bodyPr/>
          <a:lstStyle/>
          <a:p>
            <a:pPr marL="257175" indent="-257175">
              <a:spcBef>
                <a:spcPct val="20000"/>
              </a:spcBef>
              <a:buClr>
                <a:schemeClr val="folHlink"/>
              </a:buClr>
            </a:pPr>
            <a:r>
              <a:rPr lang="zh-CN" altLang="en-US" sz="2100" dirty="0">
                <a:latin typeface="Microsoft YaHei" panose="020B0503020204020204" pitchFamily="34" charset="-122"/>
                <a:ea typeface="Microsoft YaHei" panose="020B0503020204020204" pitchFamily="34" charset="-122"/>
              </a:rPr>
              <a: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17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265470" y="1253548"/>
            <a:ext cx="8642555" cy="3393642"/>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SzTx/>
              <a:buNone/>
            </a:pPr>
            <a:r>
              <a:rPr lang="en-US" altLang="zh-CN" sz="2000" b="1" dirty="0">
                <a:solidFill>
                  <a:srgbClr val="00B050"/>
                </a:solidFill>
                <a:latin typeface="Microsoft YaHei" panose="020B0503020204020204" pitchFamily="34" charset="-122"/>
                <a:ea typeface="Microsoft YaHei" panose="020B0503020204020204" pitchFamily="34" charset="-122"/>
              </a:rPr>
              <a:t>③</a:t>
            </a:r>
            <a:r>
              <a:rPr lang="zh-CN" altLang="en-US" sz="2000" b="1" dirty="0">
                <a:solidFill>
                  <a:srgbClr val="00B050"/>
                </a:solidFill>
                <a:latin typeface="Microsoft YaHei" panose="020B0503020204020204" pitchFamily="34" charset="-122"/>
                <a:ea typeface="Microsoft YaHei" panose="020B0503020204020204" pitchFamily="34" charset="-122"/>
              </a:rPr>
              <a:t>字符匹配</a:t>
            </a:r>
            <a:r>
              <a:rPr lang="en-US" altLang="zh-CN" sz="2000" b="1" dirty="0">
                <a:solidFill>
                  <a:schemeClr val="hlink"/>
                </a:solidFill>
                <a:latin typeface="Microsoft YaHei" panose="020B0503020204020204" pitchFamily="34" charset="-122"/>
                <a:ea typeface="Microsoft YaHei" panose="020B0503020204020204" pitchFamily="34" charset="-122"/>
              </a:rPr>
              <a:t>---</a:t>
            </a:r>
            <a:r>
              <a:rPr lang="zh-CN" altLang="en-US" sz="2000" b="1" dirty="0">
                <a:solidFill>
                  <a:schemeClr val="hlink"/>
                </a:solidFill>
                <a:latin typeface="Microsoft YaHei" panose="020B0503020204020204" pitchFamily="34" charset="-122"/>
                <a:ea typeface="Microsoft YaHei" panose="020B0503020204020204" pitchFamily="34" charset="-122"/>
              </a:rPr>
              <a:t>近似查询，模糊查询</a:t>
            </a:r>
            <a:endParaRPr lang="zh-CN" altLang="en-US" sz="2000" b="1" dirty="0">
              <a:latin typeface="Microsoft YaHei" panose="020B0503020204020204" pitchFamily="34" charset="-122"/>
              <a:ea typeface="Microsoft YaHei" panose="020B0503020204020204" pitchFamily="34" charset="-122"/>
            </a:endParaRPr>
          </a:p>
          <a:p>
            <a:pPr eaLnBrk="1" hangingPunct="1">
              <a:buSzTx/>
              <a:buNone/>
            </a:pPr>
            <a:r>
              <a:rPr lang="zh-CN" altLang="en-US" sz="1800" b="1" dirty="0">
                <a:solidFill>
                  <a:schemeClr val="hlink"/>
                </a:solidFill>
                <a:latin typeface="Microsoft YaHei" panose="020B0503020204020204" pitchFamily="34" charset="-122"/>
                <a:ea typeface="Microsoft YaHei" panose="020B0503020204020204" pitchFamily="34" charset="-122"/>
              </a:rPr>
              <a:t>    格式</a:t>
            </a:r>
            <a:r>
              <a:rPr lang="en-US" altLang="zh-CN" sz="1800" b="1" dirty="0">
                <a:solidFill>
                  <a:schemeClr val="hlink"/>
                </a:solidFill>
                <a:latin typeface="Microsoft YaHei" panose="020B0503020204020204" pitchFamily="34" charset="-122"/>
                <a:ea typeface="Microsoft YaHei" panose="020B0503020204020204" pitchFamily="34" charset="-122"/>
              </a:rPr>
              <a:t>1</a:t>
            </a:r>
            <a:r>
              <a:rPr lang="zh-CN" altLang="en-US" sz="1800" b="1" dirty="0">
                <a:solidFill>
                  <a:schemeClr val="hlink"/>
                </a:solidFill>
                <a:latin typeface="Microsoft YaHei" panose="020B0503020204020204" pitchFamily="34" charset="-122"/>
                <a:ea typeface="Microsoft YaHei" panose="020B0503020204020204" pitchFamily="34" charset="-122"/>
              </a:rPr>
              <a:t>：</a:t>
            </a:r>
            <a:r>
              <a:rPr lang="en-US" altLang="zh-CN" sz="1800" b="1" dirty="0">
                <a:solidFill>
                  <a:schemeClr val="folHlink"/>
                </a:solidFill>
                <a:latin typeface="Microsoft YaHei" panose="020B0503020204020204" pitchFamily="34" charset="-122"/>
                <a:ea typeface="Microsoft YaHei" panose="020B0503020204020204" pitchFamily="34" charset="-122"/>
              </a:rPr>
              <a:t>[NOT]</a:t>
            </a:r>
            <a:r>
              <a:rPr lang="en-US" altLang="zh-CN" sz="1800" b="1" dirty="0">
                <a:latin typeface="Microsoft YaHei" panose="020B0503020204020204" pitchFamily="34" charset="-122"/>
                <a:ea typeface="Microsoft YaHei" panose="020B0503020204020204" pitchFamily="34" charset="-122"/>
              </a:rPr>
              <a:t> LIKE ’&lt;</a:t>
            </a:r>
            <a:r>
              <a:rPr lang="zh-CN" altLang="en-US" sz="1800" b="1" dirty="0">
                <a:latin typeface="Microsoft YaHei" panose="020B0503020204020204" pitchFamily="34" charset="-122"/>
                <a:ea typeface="Microsoft YaHei" panose="020B0503020204020204" pitchFamily="34" charset="-122"/>
              </a:rPr>
              <a:t>匹配串</a:t>
            </a:r>
            <a:r>
              <a:rPr lang="en-US" altLang="zh-CN" sz="1800" b="1" dirty="0">
                <a:latin typeface="Microsoft YaHei" panose="020B0503020204020204" pitchFamily="34" charset="-122"/>
                <a:ea typeface="Microsoft YaHei" panose="020B0503020204020204" pitchFamily="34" charset="-122"/>
              </a:rPr>
              <a:t>&gt;’</a:t>
            </a:r>
          </a:p>
          <a:p>
            <a:pPr eaLnBrk="1" hangingPunct="1">
              <a:buSzTx/>
              <a:buNone/>
            </a:pPr>
            <a:r>
              <a:rPr lang="en-US" altLang="zh-CN" sz="1800" b="1" dirty="0">
                <a:solidFill>
                  <a:schemeClr val="hlink"/>
                </a:solidFill>
                <a:latin typeface="Microsoft YaHei" panose="020B0503020204020204" pitchFamily="34" charset="-122"/>
                <a:ea typeface="Microsoft YaHei" panose="020B0503020204020204" pitchFamily="34" charset="-122"/>
              </a:rPr>
              <a:t>    </a:t>
            </a:r>
            <a:r>
              <a:rPr lang="zh-CN" altLang="en-US" sz="1800" b="1" dirty="0">
                <a:solidFill>
                  <a:schemeClr val="hlink"/>
                </a:solidFill>
                <a:latin typeface="Microsoft YaHei" panose="020B0503020204020204" pitchFamily="34" charset="-122"/>
                <a:ea typeface="Microsoft YaHei" panose="020B0503020204020204" pitchFamily="34" charset="-122"/>
              </a:rPr>
              <a:t>含义：</a:t>
            </a:r>
            <a:r>
              <a:rPr lang="zh-CN" altLang="en-US" sz="1800" b="1" dirty="0">
                <a:latin typeface="Microsoft YaHei" panose="020B0503020204020204" pitchFamily="34" charset="-122"/>
                <a:ea typeface="Microsoft YaHei" panose="020B0503020204020204" pitchFamily="34" charset="-122"/>
              </a:rPr>
              <a:t>查找指定的属性列值与</a:t>
            </a:r>
            <a:r>
              <a:rPr lang="en-US" altLang="zh-CN" sz="1800" b="1" dirty="0">
                <a:latin typeface="Microsoft YaHei" panose="020B0503020204020204" pitchFamily="34" charset="-122"/>
                <a:ea typeface="Microsoft YaHei" panose="020B0503020204020204" pitchFamily="34" charset="-122"/>
              </a:rPr>
              <a:t>&lt;</a:t>
            </a:r>
            <a:r>
              <a:rPr lang="zh-CN" altLang="en-US" sz="1800" b="1" dirty="0">
                <a:latin typeface="Microsoft YaHei" panose="020B0503020204020204" pitchFamily="34" charset="-122"/>
                <a:ea typeface="Microsoft YaHei" panose="020B0503020204020204" pitchFamily="34" charset="-122"/>
              </a:rPr>
              <a:t>匹配串</a:t>
            </a:r>
            <a:r>
              <a:rPr lang="en-US" altLang="zh-CN" sz="1800" b="1" dirty="0">
                <a:latin typeface="Microsoft YaHei" panose="020B0503020204020204" pitchFamily="34" charset="-122"/>
                <a:ea typeface="Microsoft YaHei" panose="020B0503020204020204" pitchFamily="34" charset="-122"/>
              </a:rPr>
              <a:t>&gt;</a:t>
            </a:r>
            <a:r>
              <a:rPr lang="zh-CN" altLang="en-US" sz="1800" b="1" dirty="0">
                <a:latin typeface="Microsoft YaHei" panose="020B0503020204020204" pitchFamily="34" charset="-122"/>
                <a:ea typeface="Microsoft YaHei" panose="020B0503020204020204" pitchFamily="34" charset="-122"/>
              </a:rPr>
              <a:t>相匹配的元组。</a:t>
            </a:r>
            <a:endParaRPr lang="en-US" altLang="zh-CN" sz="1800" b="1" dirty="0">
              <a:latin typeface="Microsoft YaHei" panose="020B0503020204020204" pitchFamily="34" charset="-122"/>
              <a:ea typeface="Microsoft YaHei" panose="020B0503020204020204" pitchFamily="34" charset="-122"/>
            </a:endParaRPr>
          </a:p>
          <a:p>
            <a:pPr eaLnBrk="1" hangingPunct="1">
              <a:buSzTx/>
              <a:buNone/>
            </a:pPr>
            <a:endParaRPr lang="zh-CN" altLang="en-US" sz="1800" b="1" dirty="0">
              <a:latin typeface="Microsoft YaHei" panose="020B0503020204020204" pitchFamily="34" charset="-122"/>
              <a:ea typeface="Microsoft YaHei" panose="020B0503020204020204" pitchFamily="34" charset="-122"/>
            </a:endParaRPr>
          </a:p>
          <a:p>
            <a:pPr eaLnBrk="1" hangingPunct="1">
              <a:buSzTx/>
            </a:pPr>
            <a:r>
              <a:rPr lang="zh-CN" altLang="en-US" sz="1800" dirty="0">
                <a:latin typeface="Microsoft YaHei" panose="020B0503020204020204" pitchFamily="34" charset="-122"/>
                <a:ea typeface="Microsoft YaHei" panose="020B0503020204020204" pitchFamily="34" charset="-122"/>
              </a:rPr>
              <a:t>其中匹配串可含：</a:t>
            </a:r>
          </a:p>
          <a:p>
            <a:pPr eaLnBrk="1" hangingPunct="1">
              <a:buSzTx/>
              <a:buNone/>
            </a:pPr>
            <a:r>
              <a:rPr lang="zh-CN" altLang="en-US" sz="1800" dirty="0">
                <a:latin typeface="Microsoft YaHei" panose="020B0503020204020204" pitchFamily="34" charset="-122"/>
                <a:ea typeface="Microsoft YaHei" panose="020B0503020204020204" pitchFamily="34" charset="-122"/>
              </a:rPr>
              <a:t>    </a:t>
            </a:r>
            <a:r>
              <a:rPr lang="zh-CN" altLang="en-US" sz="1800" dirty="0">
                <a:solidFill>
                  <a:srgbClr val="FF0000"/>
                </a:solidFill>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代表任意长度</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可为</a:t>
            </a:r>
            <a:r>
              <a:rPr lang="en-US" altLang="zh-CN" sz="1800" dirty="0">
                <a:latin typeface="Microsoft YaHei" panose="020B0503020204020204" pitchFamily="34" charset="-122"/>
                <a:ea typeface="Microsoft YaHei" panose="020B0503020204020204" pitchFamily="34" charset="-122"/>
              </a:rPr>
              <a:t>0)</a:t>
            </a:r>
            <a:r>
              <a:rPr lang="zh-CN" altLang="en-US" sz="1800" dirty="0">
                <a:latin typeface="Microsoft YaHei" panose="020B0503020204020204" pitchFamily="34" charset="-122"/>
                <a:ea typeface="Microsoft YaHei" panose="020B0503020204020204" pitchFamily="34" charset="-122"/>
              </a:rPr>
              <a:t>的字符串。  </a:t>
            </a:r>
          </a:p>
          <a:p>
            <a:pPr marL="257175" lvl="1" indent="-257175" eaLnBrk="1" hangingPunct="1">
              <a:buSzTx/>
              <a:buNone/>
            </a:pPr>
            <a:r>
              <a:rPr lang="en-US" altLang="zh-CN" sz="1800" dirty="0">
                <a:latin typeface="Microsoft YaHei" panose="020B0503020204020204" pitchFamily="34" charset="-122"/>
                <a:ea typeface="Microsoft YaHei" panose="020B0503020204020204" pitchFamily="34" charset="-122"/>
              </a:rPr>
              <a:t>    </a:t>
            </a:r>
            <a:r>
              <a:rPr lang="zh-CN" altLang="en-US" sz="1800" b="1" dirty="0">
                <a:latin typeface="Microsoft YaHei" panose="020B0503020204020204" pitchFamily="34" charset="-122"/>
                <a:ea typeface="Microsoft YaHei" panose="020B0503020204020204" pitchFamily="34" charset="-122"/>
                <a:sym typeface="+mn-ea"/>
              </a:rPr>
              <a:t>例：</a:t>
            </a:r>
            <a:r>
              <a:rPr lang="zh-CN" altLang="en-US" sz="1800" dirty="0">
                <a:latin typeface="Microsoft YaHei" panose="020B0503020204020204" pitchFamily="34" charset="-122"/>
                <a:ea typeface="Microsoft YaHei" panose="020B0503020204020204" pitchFamily="34" charset="-122"/>
                <a:sym typeface="+mn-ea"/>
              </a:rPr>
              <a:t>a%b表示以a开头，以b结尾的任意长度的字符串。如acb，addgb，ab 等都满足该匹配串</a:t>
            </a:r>
            <a:endParaRPr lang="zh-CN" altLang="en-US" sz="1800" dirty="0">
              <a:latin typeface="Microsoft YaHei" panose="020B0503020204020204" pitchFamily="34" charset="-122"/>
              <a:ea typeface="Microsoft YaHei" panose="020B0503020204020204" pitchFamily="34" charset="-122"/>
            </a:endParaRPr>
          </a:p>
          <a:p>
            <a:pPr eaLnBrk="1" hangingPunct="1">
              <a:buSzTx/>
              <a:buNone/>
            </a:pPr>
            <a:r>
              <a:rPr lang="zh-CN" altLang="en-US" sz="1800" dirty="0">
                <a:latin typeface="Microsoft YaHei" panose="020B0503020204020204" pitchFamily="34" charset="-122"/>
                <a:ea typeface="Microsoft YaHei" panose="020B0503020204020204" pitchFamily="34" charset="-122"/>
              </a:rPr>
              <a:t>    </a:t>
            </a:r>
            <a:r>
              <a:rPr lang="en-US" altLang="zh-CN" sz="1800" dirty="0">
                <a:solidFill>
                  <a:srgbClr val="FF0000"/>
                </a:solidFill>
                <a:latin typeface="Microsoft YaHei" panose="020B0503020204020204" pitchFamily="34" charset="-122"/>
                <a:ea typeface="Microsoft YaHei" panose="020B0503020204020204" pitchFamily="34" charset="-122"/>
              </a:rPr>
              <a:t>_</a:t>
            </a:r>
            <a:r>
              <a:rPr lang="zh-CN" altLang="en-US" sz="1800" dirty="0">
                <a:solidFill>
                  <a:srgbClr val="FF0000"/>
                </a:solidFill>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代表任意单个字符。</a:t>
            </a:r>
          </a:p>
          <a:p>
            <a:pPr marL="0" lvl="1" eaLnBrk="1" hangingPunct="1">
              <a:buSzTx/>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  </a:t>
            </a:r>
            <a:r>
              <a:rPr lang="zh-CN" altLang="en-US" sz="1800" b="1" dirty="0">
                <a:latin typeface="Microsoft YaHei" panose="020B0503020204020204" pitchFamily="34" charset="-122"/>
                <a:ea typeface="Microsoft YaHei" panose="020B0503020204020204" pitchFamily="34" charset="-122"/>
                <a:sym typeface="+mn-ea"/>
              </a:rPr>
              <a:t>例：</a:t>
            </a:r>
            <a:r>
              <a:rPr lang="zh-CN" altLang="en-US" sz="1800" dirty="0">
                <a:latin typeface="Microsoft YaHei" panose="020B0503020204020204" pitchFamily="34" charset="-122"/>
                <a:ea typeface="Microsoft YaHei" panose="020B0503020204020204" pitchFamily="34" charset="-122"/>
                <a:sym typeface="+mn-ea"/>
              </a:rPr>
              <a:t>a_b表示以a开头，以b结尾的长度为3的任意字符串。如</a:t>
            </a:r>
            <a:r>
              <a:rPr lang="en-US" altLang="zh-CN" sz="1800" dirty="0">
                <a:latin typeface="Microsoft YaHei" panose="020B0503020204020204" pitchFamily="34" charset="-122"/>
                <a:ea typeface="Microsoft YaHei" panose="020B0503020204020204" pitchFamily="34" charset="-122"/>
                <a:sym typeface="+mn-ea"/>
              </a:rPr>
              <a:t> </a:t>
            </a:r>
            <a:r>
              <a:rPr lang="zh-CN" altLang="en-US" sz="1800" dirty="0">
                <a:latin typeface="Microsoft YaHei" panose="020B0503020204020204" pitchFamily="34" charset="-122"/>
                <a:ea typeface="Microsoft YaHei" panose="020B0503020204020204" pitchFamily="34" charset="-122"/>
                <a:sym typeface="+mn-ea"/>
              </a:rPr>
              <a:t>acb，afb等都满足该匹配串</a:t>
            </a:r>
            <a:endParaRPr lang="zh-CN" altLang="en-US" sz="1800" dirty="0">
              <a:latin typeface="Microsoft YaHei" panose="020B0503020204020204" pitchFamily="34" charset="-122"/>
              <a:ea typeface="Microsoft YaHei" panose="020B0503020204020204" pitchFamily="34" charset="-122"/>
            </a:endParaRPr>
          </a:p>
          <a:p>
            <a:pPr eaLnBrk="1" hangingPunct="1">
              <a:buSzTx/>
              <a:buNone/>
            </a:pPr>
            <a:endParaRPr lang="zh-CN" altLang="en-US" sz="1800" b="1" dirty="0">
              <a:latin typeface="Microsoft YaHei" panose="020B0503020204020204" pitchFamily="34" charset="-122"/>
              <a:ea typeface="Microsoft YaHei" panose="020B0503020204020204" pitchFamily="34" charset="-122"/>
            </a:endParaRPr>
          </a:p>
          <a:p>
            <a:pPr eaLnBrk="1" hangingPunct="1">
              <a:buSzTx/>
              <a:buNone/>
            </a:pPr>
            <a:endParaRPr lang="zh-CN" altLang="en-US" sz="1800" b="1" dirty="0">
              <a:solidFill>
                <a:schemeClr val="folHlink"/>
              </a:solidFill>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5D5E5B7B-7CD0-1DF7-4F5D-5F89108F5597}"/>
              </a:ext>
            </a:extLst>
          </p:cNvPr>
          <p:cNvSpPr>
            <a:spLocks noGrp="1"/>
          </p:cNvSpPr>
          <p:nvPr>
            <p:ph type="title"/>
          </p:nvPr>
        </p:nvSpPr>
        <p:spPr/>
        <p:txBody>
          <a:bodyPr/>
          <a:lstStyle/>
          <a:p>
            <a:r>
              <a:rPr lang="zh-CN" altLang="en-US" dirty="0"/>
              <a:t>单表查询</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369922" y="1253548"/>
            <a:ext cx="8380788" cy="3393642"/>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SzTx/>
              <a:buNone/>
            </a:pPr>
            <a:r>
              <a:rPr lang="en-US" altLang="zh-CN" sz="2000" b="1" dirty="0">
                <a:solidFill>
                  <a:schemeClr val="hlink"/>
                </a:solidFill>
                <a:latin typeface="Microsoft YaHei" panose="020B0503020204020204" pitchFamily="34" charset="-122"/>
                <a:ea typeface="Microsoft YaHei" panose="020B0503020204020204" pitchFamily="34" charset="-122"/>
              </a:rPr>
              <a:t>[</a:t>
            </a:r>
            <a:r>
              <a:rPr lang="zh-CN" altLang="en-US" sz="2000" b="1" dirty="0">
                <a:solidFill>
                  <a:schemeClr val="hlink"/>
                </a:solidFill>
                <a:latin typeface="Microsoft YaHei" panose="020B0503020204020204" pitchFamily="34" charset="-122"/>
                <a:ea typeface="Microsoft YaHei" panose="020B0503020204020204" pitchFamily="34" charset="-122"/>
              </a:rPr>
              <a:t>例</a:t>
            </a:r>
            <a:r>
              <a:rPr lang="en-US" altLang="zh-CN" sz="2000" b="1" dirty="0">
                <a:solidFill>
                  <a:schemeClr val="hlink"/>
                </a:solidFill>
                <a:latin typeface="Microsoft YaHei" panose="020B0503020204020204" pitchFamily="34" charset="-122"/>
                <a:ea typeface="Microsoft YaHei" panose="020B0503020204020204" pitchFamily="34" charset="-122"/>
              </a:rPr>
              <a:t>]</a:t>
            </a:r>
            <a:r>
              <a:rPr lang="en-US" altLang="zh-CN" sz="2000" b="1" dirty="0">
                <a:latin typeface="Microsoft YaHei" panose="020B0503020204020204" pitchFamily="34" charset="-122"/>
                <a:ea typeface="Microsoft YaHei" panose="020B0503020204020204" pitchFamily="34" charset="-122"/>
              </a:rPr>
              <a:t> </a:t>
            </a:r>
            <a:r>
              <a:rPr lang="zh-CN" altLang="en-US" sz="2000" b="1" dirty="0">
                <a:latin typeface="Microsoft YaHei" panose="020B0503020204020204" pitchFamily="34" charset="-122"/>
                <a:ea typeface="Microsoft YaHei" panose="020B0503020204020204" pitchFamily="34" charset="-122"/>
              </a:rPr>
              <a:t>查所有姓刘或姓王的学生姓名、学号和性别。</a:t>
            </a:r>
          </a:p>
          <a:p>
            <a:pPr eaLnBrk="1" hangingPunct="1">
              <a:buSzTx/>
              <a:buNone/>
            </a:pPr>
            <a:r>
              <a:rPr lang="zh-CN" altLang="en-US" sz="2000" b="1"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SELECT sname</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sno</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sex</a:t>
            </a:r>
          </a:p>
          <a:p>
            <a:pPr eaLnBrk="1" hangingPunct="1">
              <a:buSzTx/>
              <a:buNone/>
            </a:pPr>
            <a:r>
              <a:rPr lang="en-US" altLang="zh-CN" sz="2000" dirty="0">
                <a:latin typeface="Microsoft YaHei" panose="020B0503020204020204" pitchFamily="34" charset="-122"/>
                <a:ea typeface="Microsoft YaHei" panose="020B0503020204020204" pitchFamily="34" charset="-122"/>
              </a:rPr>
              <a:t>   FROM Student</a:t>
            </a:r>
          </a:p>
          <a:p>
            <a:pPr eaLnBrk="1" hangingPunct="1">
              <a:buSzTx/>
              <a:buNone/>
            </a:pPr>
            <a:r>
              <a:rPr lang="en-US" altLang="zh-CN" sz="2000" dirty="0">
                <a:latin typeface="Microsoft YaHei" panose="020B0503020204020204" pitchFamily="34" charset="-122"/>
                <a:ea typeface="Microsoft YaHei" panose="020B0503020204020204" pitchFamily="34" charset="-122"/>
              </a:rPr>
              <a:t>   WHERE sname   LIKE‘</a:t>
            </a:r>
            <a:r>
              <a:rPr lang="zh-CN" altLang="en-US" sz="2000" dirty="0">
                <a:latin typeface="Microsoft YaHei" panose="020B0503020204020204" pitchFamily="34" charset="-122"/>
                <a:ea typeface="Microsoft YaHei" panose="020B0503020204020204" pitchFamily="34" charset="-122"/>
              </a:rPr>
              <a:t>刘％’</a:t>
            </a:r>
            <a:r>
              <a:rPr lang="en-US" altLang="zh-CN" sz="2000" dirty="0">
                <a:latin typeface="Microsoft YaHei" panose="020B0503020204020204" pitchFamily="34" charset="-122"/>
                <a:ea typeface="Microsoft YaHei" panose="020B0503020204020204" pitchFamily="34" charset="-122"/>
              </a:rPr>
              <a:t>OR sname  LIKE‘</a:t>
            </a:r>
            <a:r>
              <a:rPr lang="zh-CN" altLang="en-US" sz="2000" dirty="0">
                <a:latin typeface="Microsoft YaHei" panose="020B0503020204020204" pitchFamily="34" charset="-122"/>
                <a:ea typeface="Microsoft YaHei" panose="020B0503020204020204" pitchFamily="34" charset="-122"/>
              </a:rPr>
              <a:t>王％’ ；</a:t>
            </a:r>
          </a:p>
          <a:p>
            <a:pPr eaLnBrk="1" hangingPunct="1">
              <a:buSzTx/>
            </a:pPr>
            <a:r>
              <a:rPr lang="en-US" altLang="zh-CN" sz="2000" dirty="0">
                <a:solidFill>
                  <a:schemeClr val="hlink"/>
                </a:solidFill>
                <a:latin typeface="Microsoft YaHei" panose="020B0503020204020204" pitchFamily="34" charset="-122"/>
                <a:ea typeface="Microsoft YaHei" panose="020B0503020204020204" pitchFamily="34" charset="-122"/>
              </a:rPr>
              <a:t>? </a:t>
            </a:r>
            <a:r>
              <a:rPr lang="zh-CN" altLang="en-US" sz="2000" dirty="0">
                <a:solidFill>
                  <a:schemeClr val="folHlink"/>
                </a:solidFill>
                <a:latin typeface="Microsoft YaHei" panose="020B0503020204020204" pitchFamily="34" charset="-122"/>
                <a:ea typeface="Microsoft YaHei" panose="020B0503020204020204" pitchFamily="34" charset="-122"/>
              </a:rPr>
              <a:t>查询所有不姓刘或不姓王的学生姓名、学号和性别。</a:t>
            </a:r>
          </a:p>
        </p:txBody>
      </p:sp>
      <p:sp>
        <p:nvSpPr>
          <p:cNvPr id="32772" name="AutoShape 4"/>
          <p:cNvSpPr/>
          <p:nvPr/>
        </p:nvSpPr>
        <p:spPr>
          <a:xfrm>
            <a:off x="6129068" y="2010786"/>
            <a:ext cx="742950" cy="342900"/>
          </a:xfrm>
          <a:prstGeom prst="wedgeRoundRectCallout">
            <a:avLst>
              <a:gd name="adj1" fmla="val -81743"/>
              <a:gd name="adj2" fmla="val 63743"/>
              <a:gd name="adj3" fmla="val 16667"/>
            </a:avLst>
          </a:prstGeom>
          <a:solidFill>
            <a:srgbClr val="00FFFF"/>
          </a:solidFill>
          <a:ln w="9525" cap="flat" cmpd="sng">
            <a:solidFill>
              <a:schemeClr val="tx1"/>
            </a:solidFill>
            <a:prstDash val="solid"/>
            <a:miter/>
            <a:headEnd type="none" w="med" len="med"/>
            <a:tailEnd type="none" w="med" len="med"/>
          </a:ln>
        </p:spPr>
        <p:txBody>
          <a:bodyPr/>
          <a:lstStyle/>
          <a:p>
            <a:pPr algn="ctr"/>
            <a:r>
              <a:rPr lang="en-US" altLang="zh-CN" sz="1350" dirty="0">
                <a:latin typeface="Microsoft YaHei" panose="020B0503020204020204" pitchFamily="34" charset="-122"/>
                <a:ea typeface="Microsoft YaHei" panose="020B0503020204020204" pitchFamily="34" charset="-122"/>
              </a:rPr>
              <a:t>NOT</a:t>
            </a:r>
          </a:p>
        </p:txBody>
      </p:sp>
      <p:sp>
        <p:nvSpPr>
          <p:cNvPr id="32774" name="AutoShape 6"/>
          <p:cNvSpPr/>
          <p:nvPr/>
        </p:nvSpPr>
        <p:spPr>
          <a:xfrm>
            <a:off x="3173238" y="2010786"/>
            <a:ext cx="661988" cy="342900"/>
          </a:xfrm>
          <a:prstGeom prst="wedgeRoundRectCallout">
            <a:avLst>
              <a:gd name="adj1" fmla="val -79847"/>
              <a:gd name="adj2" fmla="val 55321"/>
              <a:gd name="adj3" fmla="val 16667"/>
            </a:avLst>
          </a:prstGeom>
          <a:solidFill>
            <a:srgbClr val="00FFFF"/>
          </a:solidFill>
          <a:ln w="9525" cap="flat" cmpd="sng">
            <a:solidFill>
              <a:schemeClr val="tx1"/>
            </a:solidFill>
            <a:prstDash val="solid"/>
            <a:miter/>
            <a:headEnd type="none" w="med" len="med"/>
            <a:tailEnd type="none" w="med" len="med"/>
          </a:ln>
        </p:spPr>
        <p:txBody>
          <a:bodyPr/>
          <a:lstStyle/>
          <a:p>
            <a:pPr algn="ctr"/>
            <a:r>
              <a:rPr lang="en-US" altLang="zh-CN" sz="1350" dirty="0">
                <a:latin typeface="Microsoft YaHei" panose="020B0503020204020204" pitchFamily="34" charset="-122"/>
                <a:ea typeface="Microsoft YaHei" panose="020B0503020204020204" pitchFamily="34" charset="-122"/>
              </a:rPr>
              <a:t>NOT</a:t>
            </a:r>
          </a:p>
        </p:txBody>
      </p:sp>
      <p:sp>
        <p:nvSpPr>
          <p:cNvPr id="5" name="标题 4">
            <a:extLst>
              <a:ext uri="{FF2B5EF4-FFF2-40B4-BE49-F238E27FC236}">
                <a16:creationId xmlns:a16="http://schemas.microsoft.com/office/drawing/2014/main" id="{EF5794A2-18DF-ED61-2C45-56CF14D6C68D}"/>
              </a:ext>
            </a:extLst>
          </p:cNvPr>
          <p:cNvSpPr>
            <a:spLocks noGrp="1"/>
          </p:cNvSpPr>
          <p:nvPr>
            <p:ph type="title"/>
          </p:nvPr>
        </p:nvSpPr>
        <p:spPr/>
        <p:txBody>
          <a:bodyPr/>
          <a:lstStyle/>
          <a:p>
            <a:r>
              <a:rPr lang="zh-CN" altLang="en-US" dirty="0"/>
              <a:t>单表查询</a:t>
            </a:r>
          </a:p>
        </p:txBody>
      </p:sp>
      <p:sp>
        <p:nvSpPr>
          <p:cNvPr id="6" name="Rectangle 3">
            <a:extLst>
              <a:ext uri="{FF2B5EF4-FFF2-40B4-BE49-F238E27FC236}">
                <a16:creationId xmlns:a16="http://schemas.microsoft.com/office/drawing/2014/main" id="{9B500F0D-DF32-1090-6594-C1A03A34EE05}"/>
              </a:ext>
            </a:extLst>
          </p:cNvPr>
          <p:cNvSpPr>
            <a:spLocks noGrp="1"/>
          </p:cNvSpPr>
          <p:nvPr>
            <p:ph idx="1"/>
          </p:nvPr>
        </p:nvSpPr>
        <p:spPr>
          <a:xfrm>
            <a:off x="90948" y="3135479"/>
            <a:ext cx="4166420" cy="1522771"/>
          </a:xfrm>
        </p:spPr>
        <p:txBody>
          <a:bodyPr vert="horz" wrap="square" lIns="68580" tIns="34290" rIns="68580" bIns="34290" anchor="t" anchorCtr="0">
            <a:normAutofit lnSpcReduction="10000"/>
          </a:bodyPr>
          <a:lstStyle/>
          <a:p>
            <a:pPr eaLnBrk="1" hangingPunct="1">
              <a:lnSpc>
                <a:spcPct val="100000"/>
              </a:lnSpc>
              <a:buNone/>
            </a:pPr>
            <a:r>
              <a:rPr lang="zh-CN" altLang="en-US" sz="2000" b="1" dirty="0">
                <a:solidFill>
                  <a:schemeClr val="hlink"/>
                </a:solidFill>
              </a:rPr>
              <a:t>[例]</a:t>
            </a:r>
            <a:r>
              <a:rPr lang="zh-CN" altLang="en-US" sz="2000" b="1" dirty="0"/>
              <a:t> 查姓“欧阳”且全名为三个汉字的学生的姓名。</a:t>
            </a:r>
          </a:p>
          <a:p>
            <a:pPr marL="9525" indent="-9525" eaLnBrk="1" hangingPunct="1">
              <a:lnSpc>
                <a:spcPct val="90000"/>
              </a:lnSpc>
              <a:buNone/>
            </a:pPr>
            <a:r>
              <a:rPr lang="zh-CN" altLang="en-US" sz="1800" b="1" dirty="0"/>
              <a:t>SELECT </a:t>
            </a:r>
            <a:r>
              <a:rPr lang="en-US" altLang="zh-CN" sz="1800" b="1" dirty="0"/>
              <a:t>s</a:t>
            </a:r>
            <a:r>
              <a:rPr lang="zh-CN" altLang="en-US" sz="1800" b="1" dirty="0"/>
              <a:t>name </a:t>
            </a:r>
            <a:br>
              <a:rPr lang="zh-CN" altLang="en-US" sz="1800" b="1" dirty="0"/>
            </a:br>
            <a:r>
              <a:rPr lang="zh-CN" altLang="en-US" sz="1800" b="1" dirty="0"/>
              <a:t>FROM Student </a:t>
            </a:r>
            <a:br>
              <a:rPr lang="zh-CN" altLang="en-US" sz="1800" b="1" dirty="0"/>
            </a:br>
            <a:r>
              <a:rPr lang="zh-CN" altLang="en-US" sz="1800" b="1" dirty="0"/>
              <a:t>WHERE </a:t>
            </a:r>
            <a:r>
              <a:rPr lang="en-US" altLang="zh-CN" sz="1800" b="1" dirty="0"/>
              <a:t>s</a:t>
            </a:r>
            <a:r>
              <a:rPr lang="zh-CN" altLang="en-US" sz="1800" b="1" dirty="0"/>
              <a:t>name </a:t>
            </a:r>
            <a:r>
              <a:rPr lang="zh-CN" altLang="en-US" sz="1800" b="1" dirty="0">
                <a:solidFill>
                  <a:srgbClr val="FF0000"/>
                </a:solidFill>
              </a:rPr>
              <a:t>LIKE ‘欧阳_'</a:t>
            </a:r>
            <a:r>
              <a:rPr lang="zh-CN" altLang="en-US" sz="1800" b="1" dirty="0"/>
              <a:t>; </a:t>
            </a:r>
          </a:p>
        </p:txBody>
      </p:sp>
      <p:sp>
        <p:nvSpPr>
          <p:cNvPr id="7" name="Rectangle 3">
            <a:extLst>
              <a:ext uri="{FF2B5EF4-FFF2-40B4-BE49-F238E27FC236}">
                <a16:creationId xmlns:a16="http://schemas.microsoft.com/office/drawing/2014/main" id="{4346E661-4E7F-9DEF-ED37-217BEE38C68C}"/>
              </a:ext>
            </a:extLst>
          </p:cNvPr>
          <p:cNvSpPr txBox="1">
            <a:spLocks/>
          </p:cNvSpPr>
          <p:nvPr/>
        </p:nvSpPr>
        <p:spPr>
          <a:xfrm>
            <a:off x="4690961" y="3135479"/>
            <a:ext cx="4059749" cy="1522771"/>
          </a:xfrm>
          <a:prstGeom prst="rect">
            <a:avLst/>
          </a:prstGeom>
        </p:spPr>
        <p:txBody>
          <a:bodyPr vert="horz" wrap="square" lIns="68580" tIns="34290" rIns="68580" bIns="34290" rtlCol="0" anchor="t" anchorCtr="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Arial" panose="020B0604020202020204" pitchFamily="34" charset="0"/>
              <a:buNone/>
            </a:pPr>
            <a:r>
              <a:rPr lang="zh-CN" altLang="en-US" sz="2900" b="1" dirty="0">
                <a:solidFill>
                  <a:schemeClr val="hlink"/>
                </a:solidFill>
              </a:rPr>
              <a:t>[例]</a:t>
            </a:r>
            <a:r>
              <a:rPr lang="zh-CN" altLang="en-US" sz="2900" b="1" dirty="0"/>
              <a:t> 查名字中第二字为“阳”字的学生的姓名和学号。</a:t>
            </a:r>
          </a:p>
          <a:p>
            <a:pPr>
              <a:buFont typeface="Arial" panose="020B0604020202020204" pitchFamily="34" charset="0"/>
              <a:buNone/>
            </a:pPr>
            <a:r>
              <a:rPr lang="zh-CN" altLang="en-US" sz="2300" b="1" dirty="0"/>
              <a:t>SELECT </a:t>
            </a:r>
            <a:r>
              <a:rPr lang="en-US" altLang="zh-CN" sz="2300" b="1" dirty="0"/>
              <a:t>s</a:t>
            </a:r>
            <a:r>
              <a:rPr lang="zh-CN" altLang="en-US" sz="2300" b="1" dirty="0"/>
              <a:t>name, </a:t>
            </a:r>
            <a:r>
              <a:rPr lang="en-US" altLang="zh-CN" sz="2300" b="1" dirty="0"/>
              <a:t>s</a:t>
            </a:r>
            <a:r>
              <a:rPr lang="zh-CN" altLang="en-US" sz="2300" b="1" dirty="0"/>
              <a:t>no </a:t>
            </a:r>
            <a:endParaRPr lang="en-US" altLang="zh-CN" sz="2300" b="1" dirty="0"/>
          </a:p>
          <a:p>
            <a:pPr>
              <a:buFont typeface="Arial" panose="020B0604020202020204" pitchFamily="34" charset="0"/>
              <a:buNone/>
            </a:pPr>
            <a:r>
              <a:rPr lang="zh-CN" altLang="en-US" sz="2300" b="1" dirty="0"/>
              <a:t>FROM Student </a:t>
            </a:r>
            <a:endParaRPr lang="en-US" altLang="zh-CN" sz="2300" b="1" dirty="0"/>
          </a:p>
          <a:p>
            <a:pPr>
              <a:buFont typeface="Arial" panose="020B0604020202020204" pitchFamily="34" charset="0"/>
              <a:buNone/>
            </a:pPr>
            <a:r>
              <a:rPr lang="zh-CN" altLang="en-US" sz="2300" b="1" dirty="0"/>
              <a:t>WHERE </a:t>
            </a:r>
            <a:r>
              <a:rPr lang="en-US" altLang="zh-CN" sz="2300" b="1" dirty="0"/>
              <a:t>s</a:t>
            </a:r>
            <a:r>
              <a:rPr lang="zh-CN" altLang="en-US" sz="2300" b="1" dirty="0"/>
              <a:t>name </a:t>
            </a:r>
            <a:r>
              <a:rPr lang="zh-CN" altLang="en-US" sz="2300" b="1" dirty="0">
                <a:solidFill>
                  <a:srgbClr val="FF0000"/>
                </a:solidFill>
              </a:rPr>
              <a:t>LIKE '_阳%'</a:t>
            </a:r>
            <a:r>
              <a:rPr lang="zh-CN" altLang="en-US" sz="2300" b="1" dirty="0"/>
              <a: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anim calcmode="lin" valueType="num">
                                      <p:cBhvr additive="base">
                                        <p:cTn id="7" dur="500" fill="hold"/>
                                        <p:tgtEl>
                                          <p:spTgt spid="32774"/>
                                        </p:tgtEl>
                                        <p:attrNameLst>
                                          <p:attrName>ppt_x</p:attrName>
                                        </p:attrNameLst>
                                      </p:cBhvr>
                                      <p:tavLst>
                                        <p:tav tm="0">
                                          <p:val>
                                            <p:strVal val="0-#ppt_w/2"/>
                                          </p:val>
                                        </p:tav>
                                        <p:tav tm="100000">
                                          <p:val>
                                            <p:strVal val="#ppt_x"/>
                                          </p:val>
                                        </p:tav>
                                      </p:tavLst>
                                    </p:anim>
                                    <p:anim calcmode="lin" valueType="num">
                                      <p:cBhvr additive="base">
                                        <p:cTn id="8" dur="500" fill="hold"/>
                                        <p:tgtEl>
                                          <p:spTgt spid="327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772"/>
                                        </p:tgtEl>
                                        <p:attrNameLst>
                                          <p:attrName>style.visibility</p:attrName>
                                        </p:attrNameLst>
                                      </p:cBhvr>
                                      <p:to>
                                        <p:strVal val="visible"/>
                                      </p:to>
                                    </p:set>
                                    <p:anim calcmode="lin" valueType="num">
                                      <p:cBhvr additive="base">
                                        <p:cTn id="13" dur="500" fill="hold"/>
                                        <p:tgtEl>
                                          <p:spTgt spid="32772"/>
                                        </p:tgtEl>
                                        <p:attrNameLst>
                                          <p:attrName>ppt_x</p:attrName>
                                        </p:attrNameLst>
                                      </p:cBhvr>
                                      <p:tavLst>
                                        <p:tav tm="0">
                                          <p:val>
                                            <p:strVal val="0-#ppt_w/2"/>
                                          </p:val>
                                        </p:tav>
                                        <p:tav tm="100000">
                                          <p:val>
                                            <p:strVal val="#ppt_x"/>
                                          </p:val>
                                        </p:tav>
                                      </p:tavLst>
                                    </p:anim>
                                    <p:anim calcmode="lin" valueType="num">
                                      <p:cBhvr additive="base">
                                        <p:cTn id="14" dur="500" fill="hold"/>
                                        <p:tgtEl>
                                          <p:spTgt spid="3277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 calcmode="lin" valueType="num">
                                      <p:cBhvr additive="base">
                                        <p:cTn id="19"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 calcmode="lin" valueType="num">
                                      <p:cBhvr additive="base">
                                        <p:cTn id="25"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 calcmode="lin" valueType="num">
                                      <p:cBhvr additive="base">
                                        <p:cTn id="31"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anim calcmode="lin" valueType="num">
                                      <p:cBhvr additive="base">
                                        <p:cTn id="37" dur="500" fill="hold"/>
                                        <p:tgtEl>
                                          <p:spTgt spid="7">
                                            <p:txEl>
                                              <p:pRg st="1" end="1"/>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
                                            <p:txEl>
                                              <p:pRg st="1" end="1"/>
                                            </p:txEl>
                                          </p:spTgt>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7">
                                            <p:txEl>
                                              <p:pRg st="2" end="2"/>
                                            </p:txEl>
                                          </p:spTgt>
                                        </p:tgtEl>
                                        <p:attrNameLst>
                                          <p:attrName>style.visibility</p:attrName>
                                        </p:attrNameLst>
                                      </p:cBhvr>
                                      <p:to>
                                        <p:strVal val="visible"/>
                                      </p:to>
                                    </p:set>
                                    <p:anim calcmode="lin" valueType="num">
                                      <p:cBhvr additive="base">
                                        <p:cTn id="41" dur="500" fill="hold"/>
                                        <p:tgtEl>
                                          <p:spTgt spid="7">
                                            <p:txEl>
                                              <p:pRg st="2" end="2"/>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7">
                                            <p:txEl>
                                              <p:pRg st="2" end="2"/>
                                            </p:tx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7">
                                            <p:txEl>
                                              <p:pRg st="3" end="3"/>
                                            </p:txEl>
                                          </p:spTgt>
                                        </p:tgtEl>
                                        <p:attrNameLst>
                                          <p:attrName>style.visibility</p:attrName>
                                        </p:attrNameLst>
                                      </p:cBhvr>
                                      <p:to>
                                        <p:strVal val="visible"/>
                                      </p:to>
                                    </p:set>
                                    <p:anim calcmode="lin" valueType="num">
                                      <p:cBhvr additive="base">
                                        <p:cTn id="45" dur="500" fill="hold"/>
                                        <p:tgtEl>
                                          <p:spTgt spid="7">
                                            <p:txEl>
                                              <p:pRg st="3" end="3"/>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bldLvl="0" animBg="1"/>
      <p:bldP spid="32774" grpId="0" bldLvl="0" animBg="1"/>
      <p:bldP spid="6" grpId="0" uiExpand="1" build="p"/>
      <p:bldP spid="7"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p:cNvSpPr>
          <p:nvPr>
            <p:ph idx="1"/>
          </p:nvPr>
        </p:nvSpPr>
        <p:spPr>
          <a:xfrm>
            <a:off x="127205" y="1209238"/>
            <a:ext cx="7886700" cy="3408735"/>
          </a:xfrm>
        </p:spPr>
        <p:txBody>
          <a:bodyPr vert="horz" wrap="square" lIns="68580" tIns="34290" rIns="68580" bIns="34290" anchor="t" anchorCtr="0">
            <a:normAutofit/>
          </a:bodyPr>
          <a:lstStyle/>
          <a:p>
            <a:pPr eaLnBrk="1" hangingPunct="1">
              <a:buSzTx/>
              <a:buNone/>
            </a:pPr>
            <a:r>
              <a:rPr lang="zh-CN" altLang="en-US" sz="1800" b="1" dirty="0">
                <a:solidFill>
                  <a:schemeClr val="hlink"/>
                </a:solidFill>
              </a:rPr>
              <a:t>格式</a:t>
            </a:r>
            <a:r>
              <a:rPr lang="en-US" altLang="zh-CN" sz="1800" b="1" dirty="0">
                <a:solidFill>
                  <a:schemeClr val="hlink"/>
                </a:solidFill>
              </a:rPr>
              <a:t>2</a:t>
            </a:r>
            <a:r>
              <a:rPr lang="zh-CN" altLang="en-US" sz="1800" b="1" dirty="0"/>
              <a:t>： </a:t>
            </a:r>
            <a:r>
              <a:rPr lang="en-US" altLang="zh-CN" sz="1800" b="1" dirty="0"/>
              <a:t>LIKE ’&lt;</a:t>
            </a:r>
            <a:r>
              <a:rPr lang="zh-CN" altLang="en-US" sz="1800" b="1" dirty="0"/>
              <a:t>匹配串</a:t>
            </a:r>
            <a:r>
              <a:rPr lang="en-US" altLang="zh-CN" sz="1800" b="1" dirty="0"/>
              <a:t>&gt;’ </a:t>
            </a:r>
            <a:r>
              <a:rPr lang="en-US" altLang="zh-CN" sz="1800" b="1" dirty="0">
                <a:solidFill>
                  <a:schemeClr val="hlink"/>
                </a:solidFill>
              </a:rPr>
              <a:t> ESCAPE ’&lt;</a:t>
            </a:r>
            <a:r>
              <a:rPr lang="zh-CN" altLang="en-US" sz="1800" b="1" dirty="0">
                <a:solidFill>
                  <a:schemeClr val="hlink"/>
                </a:solidFill>
              </a:rPr>
              <a:t>换码字符</a:t>
            </a:r>
            <a:r>
              <a:rPr lang="en-US" altLang="zh-CN" sz="1800" b="1" dirty="0">
                <a:solidFill>
                  <a:schemeClr val="hlink"/>
                </a:solidFill>
              </a:rPr>
              <a:t>&gt;’ </a:t>
            </a:r>
          </a:p>
          <a:p>
            <a:pPr eaLnBrk="1" hangingPunct="1">
              <a:lnSpc>
                <a:spcPct val="120000"/>
              </a:lnSpc>
              <a:buSzTx/>
            </a:pPr>
            <a:r>
              <a:rPr lang="zh-CN" altLang="en-US" sz="1800" dirty="0"/>
              <a:t>若要查的串本身含％或</a:t>
            </a:r>
            <a:r>
              <a:rPr lang="en-US" altLang="zh-CN" sz="1800" dirty="0"/>
              <a:t>_ </a:t>
            </a:r>
            <a:r>
              <a:rPr lang="zh-CN" altLang="en-US" sz="1800" dirty="0"/>
              <a:t>，用</a:t>
            </a:r>
            <a:r>
              <a:rPr lang="en-US" altLang="zh-CN" sz="1800" dirty="0"/>
              <a:t>ESCAPE  ‘&lt;</a:t>
            </a:r>
            <a:r>
              <a:rPr lang="zh-CN" altLang="en-US" sz="1800" dirty="0"/>
              <a:t>换码字符</a:t>
            </a:r>
            <a:r>
              <a:rPr lang="en-US" altLang="zh-CN" sz="1800" dirty="0"/>
              <a:t>&gt;’</a:t>
            </a:r>
            <a:r>
              <a:rPr lang="zh-CN" altLang="en-US" sz="1800" dirty="0"/>
              <a:t>对通配符进行转义。</a:t>
            </a:r>
            <a:r>
              <a:rPr lang="en-US" altLang="zh-CN" sz="1800" dirty="0"/>
              <a:t>ESCAPE ’\’</a:t>
            </a:r>
            <a:r>
              <a:rPr lang="zh-CN" altLang="en-US" sz="1800" dirty="0"/>
              <a:t>短语表示</a:t>
            </a:r>
            <a:r>
              <a:rPr lang="en-US" altLang="zh-CN" sz="1800" dirty="0"/>
              <a:t>\</a:t>
            </a:r>
            <a:r>
              <a:rPr lang="zh-CN" altLang="en-US" sz="1800" dirty="0"/>
              <a:t>为换码字符，这样匹配串中紧跟在</a:t>
            </a:r>
            <a:r>
              <a:rPr lang="en-US" altLang="zh-CN" sz="1800" dirty="0"/>
              <a:t>\</a:t>
            </a:r>
            <a:r>
              <a:rPr lang="zh-CN" altLang="en-US" sz="1800" dirty="0"/>
              <a:t>后面的字符”</a:t>
            </a:r>
            <a:r>
              <a:rPr lang="en-US" altLang="zh-CN" sz="1800" dirty="0"/>
              <a:t>_”</a:t>
            </a:r>
            <a:r>
              <a:rPr lang="zh-CN" altLang="en-US" sz="1800" dirty="0"/>
              <a:t>不再具有通配符的含义，而是取其本身含义，被转义为普通的”</a:t>
            </a:r>
            <a:r>
              <a:rPr lang="en-US" altLang="zh-CN" sz="1800" dirty="0"/>
              <a:t>_”</a:t>
            </a:r>
            <a:r>
              <a:rPr lang="zh-CN" altLang="en-US" sz="1800" dirty="0"/>
              <a:t>字符。</a:t>
            </a:r>
          </a:p>
          <a:p>
            <a:pPr eaLnBrk="1" hangingPunct="1">
              <a:lnSpc>
                <a:spcPct val="120000"/>
              </a:lnSpc>
              <a:buSzTx/>
              <a:buFont typeface="Wingdings" panose="05000000000000000000" pitchFamily="2" charset="2"/>
              <a:buChar char="§"/>
            </a:pPr>
            <a:endParaRPr lang="zh-CN" altLang="en-US" sz="1800" b="1" dirty="0"/>
          </a:p>
          <a:p>
            <a:pPr eaLnBrk="1" hangingPunct="1">
              <a:buSzTx/>
              <a:buNone/>
            </a:pPr>
            <a:r>
              <a:rPr lang="en-US" altLang="zh-CN" sz="1800" b="1" dirty="0">
                <a:solidFill>
                  <a:schemeClr val="hlink"/>
                </a:solidFill>
              </a:rPr>
              <a:t>[</a:t>
            </a:r>
            <a:r>
              <a:rPr lang="zh-CN" altLang="en-US" sz="1800" b="1" dirty="0">
                <a:solidFill>
                  <a:schemeClr val="hlink"/>
                </a:solidFill>
              </a:rPr>
              <a:t>例</a:t>
            </a:r>
            <a:r>
              <a:rPr lang="en-US" altLang="zh-CN" sz="1800" b="1" dirty="0">
                <a:solidFill>
                  <a:schemeClr val="hlink"/>
                </a:solidFill>
              </a:rPr>
              <a:t>]</a:t>
            </a:r>
            <a:r>
              <a:rPr lang="en-US" altLang="zh-CN" sz="1800" b="1" dirty="0"/>
              <a:t> </a:t>
            </a:r>
            <a:r>
              <a:rPr lang="zh-CN" altLang="en-US" sz="1800" dirty="0"/>
              <a:t>查以“数据</a:t>
            </a:r>
            <a:r>
              <a:rPr lang="en-US" altLang="zh-CN" sz="1800" dirty="0"/>
              <a:t>_”</a:t>
            </a:r>
            <a:r>
              <a:rPr lang="zh-CN" altLang="en-US" sz="1800" dirty="0"/>
              <a:t>开头，且倒数第</a:t>
            </a:r>
            <a:r>
              <a:rPr lang="en-US" altLang="zh-CN" sz="1800" dirty="0"/>
              <a:t>2</a:t>
            </a:r>
            <a:r>
              <a:rPr lang="zh-CN" altLang="en-US" sz="1800" dirty="0"/>
              <a:t>个汉字为 ”原”的课程情况。</a:t>
            </a:r>
          </a:p>
          <a:p>
            <a:pPr eaLnBrk="1" hangingPunct="1">
              <a:buSzTx/>
              <a:buNone/>
            </a:pPr>
            <a:r>
              <a:rPr lang="zh-CN" altLang="en-US" sz="1800" dirty="0"/>
              <a:t>    </a:t>
            </a:r>
            <a:r>
              <a:rPr lang="en-US" altLang="zh-CN" sz="1800" dirty="0"/>
              <a:t>SELECT  *</a:t>
            </a:r>
          </a:p>
          <a:p>
            <a:pPr eaLnBrk="1" hangingPunct="1">
              <a:buSzTx/>
              <a:buNone/>
            </a:pPr>
            <a:r>
              <a:rPr lang="en-US" altLang="zh-CN" sz="1800" dirty="0"/>
              <a:t>    FROM  Course</a:t>
            </a:r>
          </a:p>
          <a:p>
            <a:pPr>
              <a:buNone/>
            </a:pPr>
            <a:r>
              <a:rPr lang="en-US" altLang="zh-CN" sz="1800" dirty="0"/>
              <a:t>    WHERE cname LIKE </a:t>
            </a:r>
            <a:r>
              <a:rPr lang="en-US" altLang="zh-CN" sz="1800" dirty="0">
                <a:latin typeface="Arial" panose="020B0604020202020204" pitchFamily="34" charset="0"/>
                <a:cs typeface="Arial" panose="020B0604020202020204" pitchFamily="34" charset="0"/>
              </a:rPr>
              <a:t>‘</a:t>
            </a:r>
            <a:r>
              <a:rPr lang="zh-CN" altLang="en-US" sz="1800" dirty="0"/>
              <a:t>数据</a:t>
            </a:r>
            <a:r>
              <a:rPr lang="en-US" altLang="zh-CN" sz="1800" dirty="0">
                <a:solidFill>
                  <a:schemeClr val="hlink"/>
                </a:solidFill>
              </a:rPr>
              <a:t>\</a:t>
            </a:r>
            <a:r>
              <a:rPr lang="en-US" altLang="zh-CN" sz="1800" dirty="0">
                <a:solidFill>
                  <a:schemeClr val="folHlink"/>
                </a:solidFill>
              </a:rPr>
              <a:t>_</a:t>
            </a:r>
            <a:r>
              <a:rPr lang="zh-CN" altLang="en-US" sz="1800" dirty="0"/>
              <a:t>％原</a:t>
            </a:r>
            <a:r>
              <a:rPr lang="en-US" altLang="zh-CN" sz="1800" dirty="0">
                <a:solidFill>
                  <a:schemeClr val="folHlink"/>
                </a:solidFill>
              </a:rPr>
              <a:t>_</a:t>
            </a:r>
            <a:r>
              <a:rPr lang="en-US" altLang="zh-CN" sz="1800" dirty="0">
                <a:latin typeface="Arial" panose="020B0604020202020204" pitchFamily="34" charset="0"/>
                <a:cs typeface="Arial" panose="020B0604020202020204" pitchFamily="34" charset="0"/>
              </a:rPr>
              <a:t>’</a:t>
            </a:r>
            <a:r>
              <a:rPr lang="en-US" altLang="zh-CN" sz="1800" dirty="0"/>
              <a:t> </a:t>
            </a:r>
            <a:r>
              <a:rPr lang="en-US" altLang="zh-CN" sz="1800" dirty="0">
                <a:solidFill>
                  <a:schemeClr val="hlink"/>
                </a:solidFill>
              </a:rPr>
              <a:t>ESCAPE </a:t>
            </a:r>
            <a:r>
              <a:rPr lang="en-US" altLang="zh-CN" sz="1800" dirty="0">
                <a:latin typeface="Arial" panose="020B0604020202020204" pitchFamily="34" charset="0"/>
                <a:cs typeface="Arial" panose="020B0604020202020204" pitchFamily="34" charset="0"/>
              </a:rPr>
              <a:t>‘</a:t>
            </a:r>
            <a:r>
              <a:rPr lang="en-US" altLang="zh-CN" sz="1800" dirty="0">
                <a:solidFill>
                  <a:schemeClr val="hlink"/>
                </a:solidFill>
              </a:rPr>
              <a:t>\</a:t>
            </a:r>
            <a:r>
              <a:rPr lang="en-US" altLang="zh-CN" sz="1800" dirty="0">
                <a:solidFill>
                  <a:schemeClr val="hlink"/>
                </a:solidFill>
                <a:latin typeface="Arial" panose="020B0604020202020204" pitchFamily="34" charset="0"/>
                <a:cs typeface="Arial" panose="020B0604020202020204" pitchFamily="34" charset="0"/>
              </a:rPr>
              <a:t>’</a:t>
            </a:r>
            <a:r>
              <a:rPr lang="zh-CN" altLang="en-US" sz="1800" dirty="0"/>
              <a:t>；</a:t>
            </a:r>
          </a:p>
        </p:txBody>
      </p:sp>
      <p:sp>
        <p:nvSpPr>
          <p:cNvPr id="34820" name="Text Box 4"/>
          <p:cNvSpPr txBox="1"/>
          <p:nvPr/>
        </p:nvSpPr>
        <p:spPr>
          <a:xfrm>
            <a:off x="5539709" y="3571081"/>
            <a:ext cx="3386498" cy="558614"/>
          </a:xfrm>
          <a:prstGeom prst="rect">
            <a:avLst/>
          </a:prstGeom>
          <a:noFill/>
          <a:ln w="9525">
            <a:solidFill>
              <a:srgbClr val="0070C0"/>
            </a:solidFill>
          </a:ln>
        </p:spPr>
        <p:txBody>
          <a:bodyPr wrap="square">
            <a:spAutoFit/>
          </a:bodyPr>
          <a:lstStyle/>
          <a:p>
            <a:pPr>
              <a:spcBef>
                <a:spcPct val="20000"/>
              </a:spcBef>
              <a:buClr>
                <a:schemeClr val="folHlink"/>
              </a:buClr>
              <a:buFont typeface="Wingdings" panose="05000000000000000000" pitchFamily="2" charset="2"/>
              <a:buChar char="§"/>
            </a:pPr>
            <a:r>
              <a:rPr lang="zh-CN" altLang="en-US" sz="1350" dirty="0">
                <a:solidFill>
                  <a:schemeClr val="hlink"/>
                </a:solidFill>
                <a:latin typeface="Microsoft YaHei" panose="020B0503020204020204" pitchFamily="34" charset="-122"/>
                <a:ea typeface="Microsoft YaHei" panose="020B0503020204020204" pitchFamily="34" charset="-122"/>
              </a:rPr>
              <a:t> 若要查以</a:t>
            </a:r>
            <a:r>
              <a:rPr lang="zh-CN" altLang="en-US" sz="1350" dirty="0">
                <a:latin typeface="Microsoft YaHei" panose="020B0503020204020204" pitchFamily="34" charset="-122"/>
                <a:ea typeface="Microsoft YaHei" panose="020B0503020204020204" pitchFamily="34" charset="-122"/>
              </a:rPr>
              <a:t> “ 数据\</a:t>
            </a:r>
            <a:r>
              <a:rPr lang="zh-CN" altLang="en-US" sz="1350" dirty="0">
                <a:solidFill>
                  <a:schemeClr val="folHlink"/>
                </a:solidFill>
                <a:latin typeface="Microsoft YaHei" panose="020B0503020204020204" pitchFamily="34" charset="-122"/>
                <a:ea typeface="Microsoft YaHei" panose="020B0503020204020204" pitchFamily="34" charset="-122"/>
              </a:rPr>
              <a:t>_</a:t>
            </a:r>
            <a:r>
              <a:rPr lang="zh-CN" altLang="en-US" sz="1350" dirty="0">
                <a:latin typeface="Microsoft YaHei" panose="020B0503020204020204" pitchFamily="34" charset="-122"/>
                <a:ea typeface="Microsoft YaHei" panose="020B0503020204020204" pitchFamily="34" charset="-122"/>
              </a:rPr>
              <a:t> ”开头的呢？</a:t>
            </a:r>
          </a:p>
          <a:p>
            <a:pPr>
              <a:spcBef>
                <a:spcPct val="20000"/>
              </a:spcBef>
              <a:buClr>
                <a:schemeClr val="folHlink"/>
              </a:buClr>
              <a:buFont typeface="Wingdings" panose="05000000000000000000" pitchFamily="2" charset="2"/>
              <a:buChar char="§"/>
            </a:pPr>
            <a:r>
              <a:rPr lang="zh-CN" altLang="en-US" sz="1350" dirty="0">
                <a:latin typeface="Microsoft YaHei" panose="020B0503020204020204" pitchFamily="34" charset="-122"/>
                <a:ea typeface="Microsoft YaHei" panose="020B0503020204020204" pitchFamily="34" charset="-122"/>
              </a:rPr>
              <a:t> ……LIKE </a:t>
            </a:r>
            <a:r>
              <a:rPr lang="en-US" altLang="zh-CN" sz="1400" dirty="0">
                <a:latin typeface="Arial" panose="020B0604020202020204" pitchFamily="34" charset="0"/>
                <a:cs typeface="Arial" panose="020B0604020202020204" pitchFamily="34" charset="0"/>
              </a:rPr>
              <a:t>‘</a:t>
            </a:r>
            <a:r>
              <a:rPr lang="zh-CN" altLang="en-US" sz="1350" dirty="0">
                <a:latin typeface="Microsoft YaHei" panose="020B0503020204020204" pitchFamily="34" charset="-122"/>
                <a:ea typeface="Microsoft YaHei" panose="020B0503020204020204" pitchFamily="34" charset="-122"/>
              </a:rPr>
              <a:t>数据\</a:t>
            </a:r>
            <a:r>
              <a:rPr lang="zh-CN" altLang="en-US" sz="1350" dirty="0">
                <a:solidFill>
                  <a:schemeClr val="hlink"/>
                </a:solidFill>
                <a:latin typeface="Microsoft YaHei" panose="020B0503020204020204" pitchFamily="34" charset="-122"/>
                <a:ea typeface="Microsoft YaHei" panose="020B0503020204020204" pitchFamily="34" charset="-122"/>
              </a:rPr>
              <a:t>*</a:t>
            </a:r>
            <a:r>
              <a:rPr lang="zh-CN" altLang="en-US" sz="1350" dirty="0">
                <a:solidFill>
                  <a:schemeClr val="folHlink"/>
                </a:solidFill>
                <a:latin typeface="Microsoft YaHei" panose="020B0503020204020204" pitchFamily="34" charset="-122"/>
                <a:ea typeface="Microsoft YaHei" panose="020B0503020204020204" pitchFamily="34" charset="-122"/>
              </a:rPr>
              <a:t>_</a:t>
            </a:r>
            <a:r>
              <a:rPr lang="en-US" altLang="zh-CN" sz="1400" dirty="0">
                <a:latin typeface="Arial" panose="020B0604020202020204" pitchFamily="34" charset="0"/>
                <a:cs typeface="Arial" panose="020B0604020202020204" pitchFamily="34" charset="0"/>
              </a:rPr>
              <a:t>’</a:t>
            </a:r>
            <a:r>
              <a:rPr lang="zh-CN" altLang="en-US" sz="1350" dirty="0">
                <a:latin typeface="Microsoft YaHei" panose="020B0503020204020204" pitchFamily="34" charset="-122"/>
                <a:ea typeface="Microsoft YaHei" panose="020B0503020204020204" pitchFamily="34" charset="-122"/>
              </a:rPr>
              <a:t>  </a:t>
            </a:r>
            <a:r>
              <a:rPr lang="zh-CN" altLang="en-US" sz="1350" dirty="0">
                <a:solidFill>
                  <a:schemeClr val="hlink"/>
                </a:solidFill>
                <a:latin typeface="Microsoft YaHei" panose="020B0503020204020204" pitchFamily="34" charset="-122"/>
                <a:ea typeface="Microsoft YaHei" panose="020B0503020204020204" pitchFamily="34" charset="-122"/>
              </a:rPr>
              <a:t>ESCAPE </a:t>
            </a:r>
            <a:r>
              <a:rPr lang="en-US" altLang="zh-CN" sz="1400" dirty="0">
                <a:latin typeface="Arial" panose="020B0604020202020204" pitchFamily="34" charset="0"/>
                <a:cs typeface="Arial" panose="020B0604020202020204" pitchFamily="34" charset="0"/>
              </a:rPr>
              <a:t>‘</a:t>
            </a:r>
            <a:r>
              <a:rPr lang="zh-CN" altLang="en-US" sz="1350" dirty="0">
                <a:solidFill>
                  <a:schemeClr val="hlink"/>
                </a:solidFill>
                <a:latin typeface="Microsoft YaHei" panose="020B0503020204020204" pitchFamily="34" charset="-122"/>
                <a:ea typeface="Microsoft YaHei" panose="020B0503020204020204" pitchFamily="34" charset="-122"/>
              </a:rPr>
              <a:t>*</a:t>
            </a:r>
            <a:r>
              <a:rPr lang="en-US" altLang="zh-CN" sz="1400" dirty="0">
                <a:latin typeface="Arial" panose="020B0604020202020204" pitchFamily="34" charset="0"/>
                <a:cs typeface="Arial" panose="020B0604020202020204" pitchFamily="34" charset="0"/>
              </a:rPr>
              <a:t>’</a:t>
            </a:r>
            <a:r>
              <a:rPr lang="zh-CN" altLang="en-US" sz="1350" dirty="0">
                <a:latin typeface="Microsoft YaHei" panose="020B0503020204020204" pitchFamily="34" charset="-122"/>
                <a:ea typeface="Microsoft YaHei" panose="020B0503020204020204" pitchFamily="34" charset="-122"/>
              </a:rPr>
              <a:t>；</a:t>
            </a:r>
          </a:p>
        </p:txBody>
      </p:sp>
      <p:sp>
        <p:nvSpPr>
          <p:cNvPr id="3" name="标题 2">
            <a:extLst>
              <a:ext uri="{FF2B5EF4-FFF2-40B4-BE49-F238E27FC236}">
                <a16:creationId xmlns:a16="http://schemas.microsoft.com/office/drawing/2014/main" id="{730F5750-1700-010B-7070-5823CBA42657}"/>
              </a:ext>
            </a:extLst>
          </p:cNvPr>
          <p:cNvSpPr>
            <a:spLocks noGrp="1"/>
          </p:cNvSpPr>
          <p:nvPr>
            <p:ph type="title"/>
          </p:nvPr>
        </p:nvSpPr>
        <p:spPr/>
        <p:txBody>
          <a:bodyPr/>
          <a:lstStyle/>
          <a:p>
            <a:r>
              <a:rPr lang="zh-CN" altLang="en-US" dirty="0"/>
              <a:t>单表查询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820">
                                            <p:txEl>
                                              <p:pRg st="0" end="0"/>
                                            </p:txEl>
                                          </p:spTgt>
                                        </p:tgtEl>
                                        <p:attrNameLst>
                                          <p:attrName>style.visibility</p:attrName>
                                        </p:attrNameLst>
                                      </p:cBhvr>
                                      <p:to>
                                        <p:strVal val="visible"/>
                                      </p:to>
                                    </p:set>
                                    <p:anim calcmode="lin" valueType="num">
                                      <p:cBhvr additive="base">
                                        <p:cTn id="7" dur="500" fill="hold"/>
                                        <p:tgtEl>
                                          <p:spTgt spid="3482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820">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4820">
                                            <p:txEl>
                                              <p:pRg st="1" end="1"/>
                                            </p:txEl>
                                          </p:spTgt>
                                        </p:tgtEl>
                                        <p:attrNameLst>
                                          <p:attrName>style.visibility</p:attrName>
                                        </p:attrNameLst>
                                      </p:cBhvr>
                                      <p:to>
                                        <p:strVal val="visible"/>
                                      </p:to>
                                    </p:set>
                                    <p:anim calcmode="lin" valueType="num">
                                      <p:cBhvr additive="base">
                                        <p:cTn id="11" dur="500" fill="hold"/>
                                        <p:tgtEl>
                                          <p:spTgt spid="34820">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4820">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p:nvPr/>
        </p:nvSpPr>
        <p:spPr>
          <a:xfrm>
            <a:off x="423146" y="1253548"/>
            <a:ext cx="8327563" cy="3393642"/>
          </a:xfrm>
          <a:prstGeom prst="rect">
            <a:avLst/>
          </a:prstGeom>
          <a:noFill/>
          <a:ln w="9525">
            <a:noFill/>
          </a:ln>
        </p:spPr>
        <p:txBody>
          <a:bodyPr/>
          <a:lstStyle/>
          <a:p>
            <a:pPr marL="257175" indent="-257175">
              <a:spcBef>
                <a:spcPct val="20000"/>
              </a:spcBef>
              <a:buClr>
                <a:schemeClr val="folHlink"/>
              </a:buClr>
            </a:pPr>
            <a:r>
              <a:rPr lang="en-US" altLang="zh-CN" sz="2000" b="1" dirty="0">
                <a:solidFill>
                  <a:srgbClr val="00B050"/>
                </a:solidFill>
                <a:latin typeface="Microsoft YaHei" panose="020B0503020204020204" pitchFamily="34" charset="-122"/>
                <a:ea typeface="Microsoft YaHei" panose="020B0503020204020204" pitchFamily="34" charset="-122"/>
              </a:rPr>
              <a:t>④</a:t>
            </a:r>
            <a:r>
              <a:rPr lang="zh-CN" altLang="en-US" sz="2000" b="1" dirty="0">
                <a:solidFill>
                  <a:srgbClr val="00B050"/>
                </a:solidFill>
                <a:latin typeface="Microsoft YaHei" panose="020B0503020204020204" pitchFamily="34" charset="-122"/>
                <a:ea typeface="Microsoft YaHei" panose="020B0503020204020204" pitchFamily="34" charset="-122"/>
              </a:rPr>
              <a:t>确定集合 </a:t>
            </a:r>
            <a:r>
              <a:rPr lang="en-US" altLang="zh-CN" sz="2000" b="1" dirty="0">
                <a:solidFill>
                  <a:srgbClr val="00B050"/>
                </a:solidFill>
                <a:latin typeface="Microsoft YaHei" panose="020B0503020204020204" pitchFamily="34" charset="-122"/>
                <a:ea typeface="Microsoft YaHei" panose="020B0503020204020204" pitchFamily="34" charset="-122"/>
              </a:rPr>
              <a:t>(IN)</a:t>
            </a:r>
          </a:p>
          <a:p>
            <a:pPr marL="257175" indent="-257175">
              <a:spcBef>
                <a:spcPct val="20000"/>
              </a:spcBef>
              <a:buClr>
                <a:schemeClr val="folHlink"/>
              </a:buClr>
              <a:buFont typeface="Wingdings" panose="05000000000000000000" pitchFamily="2" charset="2"/>
              <a:buChar char="§"/>
            </a:pPr>
            <a:r>
              <a:rPr lang="zh-CN" altLang="en-US" sz="2000" b="1" dirty="0">
                <a:solidFill>
                  <a:schemeClr val="hlink"/>
                </a:solidFill>
                <a:latin typeface="Microsoft YaHei" panose="020B0503020204020204" pitchFamily="34" charset="-122"/>
                <a:ea typeface="Microsoft YaHei" panose="020B0503020204020204" pitchFamily="34" charset="-122"/>
              </a:rPr>
              <a:t>例：</a:t>
            </a:r>
            <a:r>
              <a:rPr lang="zh-CN" altLang="en-US" sz="2000" dirty="0">
                <a:latin typeface="Microsoft YaHei" panose="020B0503020204020204" pitchFamily="34" charset="-122"/>
                <a:ea typeface="Microsoft YaHei" panose="020B0503020204020204" pitchFamily="34" charset="-122"/>
              </a:rPr>
              <a:t>查询信息院、数学系和计算机学院学生的姓名和性别。</a:t>
            </a:r>
          </a:p>
          <a:p>
            <a:pPr marL="257175" indent="-257175">
              <a:spcBef>
                <a:spcPct val="20000"/>
              </a:spcBef>
              <a:buClr>
                <a:schemeClr val="folHlink"/>
              </a:buClr>
            </a:pP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SELECT sname</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sex</a:t>
            </a:r>
          </a:p>
          <a:p>
            <a:pPr marL="257175" indent="-257175">
              <a:spcBef>
                <a:spcPct val="20000"/>
              </a:spcBef>
              <a:buClr>
                <a:schemeClr val="folHlink"/>
              </a:buClr>
            </a:pPr>
            <a:r>
              <a:rPr lang="en-US" altLang="zh-CN" sz="2000" dirty="0">
                <a:latin typeface="Microsoft YaHei" panose="020B0503020204020204" pitchFamily="34" charset="-122"/>
                <a:ea typeface="Microsoft YaHei" panose="020B0503020204020204" pitchFamily="34" charset="-122"/>
              </a:rPr>
              <a:t>       FROM Student</a:t>
            </a:r>
          </a:p>
          <a:p>
            <a:pPr marL="257175" indent="-257175">
              <a:spcBef>
                <a:spcPct val="20000"/>
              </a:spcBef>
              <a:buClr>
                <a:schemeClr val="folHlink"/>
              </a:buClr>
            </a:pPr>
            <a:r>
              <a:rPr lang="en-US" altLang="zh-CN" sz="2000" dirty="0">
                <a:latin typeface="Microsoft YaHei" panose="020B0503020204020204" pitchFamily="34" charset="-122"/>
                <a:ea typeface="Microsoft YaHei" panose="020B0503020204020204" pitchFamily="34" charset="-122"/>
              </a:rPr>
              <a:t>       WHERE </a:t>
            </a: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dept      </a:t>
            </a: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IN (</a:t>
            </a:r>
            <a:r>
              <a:rPr lang="en-US" altLang="zh-CN" sz="2000" dirty="0">
                <a:latin typeface="Arial" panose="020B0604020202020204" pitchFamily="34" charset="0"/>
                <a:ea typeface="Microsoft YaHei" panose="020B0503020204020204" pitchFamily="34" charset="-122"/>
                <a:cs typeface="Arial" panose="020B0604020202020204" pitchFamily="34" charset="0"/>
              </a:rPr>
              <a:t>‘</a:t>
            </a:r>
            <a:r>
              <a:rPr lang="zh-CN" altLang="en-US" sz="2000" dirty="0">
                <a:latin typeface="Microsoft YaHei" panose="020B0503020204020204" pitchFamily="34" charset="-122"/>
                <a:ea typeface="Microsoft YaHei" panose="020B0503020204020204" pitchFamily="34" charset="-122"/>
              </a:rPr>
              <a:t>信息院</a:t>
            </a:r>
            <a:r>
              <a:rPr lang="en-US" altLang="zh-CN" sz="2000" dirty="0">
                <a:latin typeface="Arial" panose="020B0604020202020204" pitchFamily="34" charset="0"/>
                <a:ea typeface="Microsoft YaHei" panose="020B0503020204020204" pitchFamily="34" charset="-122"/>
                <a:cs typeface="Arial" panose="020B0604020202020204" pitchFamily="34" charset="0"/>
              </a:rPr>
              <a:t>’,</a:t>
            </a:r>
            <a:r>
              <a:rPr lang="zh-CN" altLang="en-US" sz="2000" dirty="0">
                <a:latin typeface="Arial" panose="020B0604020202020204" pitchFamily="34" charset="0"/>
                <a:ea typeface="Microsoft YaHei" panose="020B0503020204020204" pitchFamily="34" charset="-122"/>
                <a:cs typeface="Arial" panose="020B0604020202020204" pitchFamily="34" charset="0"/>
              </a:rPr>
              <a:t> </a:t>
            </a:r>
            <a:r>
              <a:rPr lang="en-US" altLang="zh-CN" sz="2000" dirty="0">
                <a:latin typeface="Arial" panose="020B0604020202020204" pitchFamily="34" charset="0"/>
                <a:ea typeface="Microsoft YaHei" panose="020B0503020204020204" pitchFamily="34" charset="-122"/>
                <a:cs typeface="Arial" panose="020B0604020202020204" pitchFamily="34" charset="0"/>
              </a:rPr>
              <a:t>‘</a:t>
            </a:r>
            <a:r>
              <a:rPr lang="zh-CN" altLang="en-US" sz="2000" dirty="0">
                <a:latin typeface="Microsoft YaHei" panose="020B0503020204020204" pitchFamily="34" charset="-122"/>
                <a:ea typeface="Microsoft YaHei" panose="020B0503020204020204" pitchFamily="34" charset="-122"/>
              </a:rPr>
              <a:t>数学系</a:t>
            </a:r>
            <a:r>
              <a:rPr lang="en-US" altLang="zh-CN" sz="2000" dirty="0">
                <a:latin typeface="Arial" panose="020B0604020202020204" pitchFamily="34" charset="0"/>
                <a:ea typeface="Microsoft YaHei" panose="020B0503020204020204" pitchFamily="34" charset="-122"/>
                <a:cs typeface="Arial" panose="020B0604020202020204" pitchFamily="34" charset="0"/>
              </a:rPr>
              <a:t>’,</a:t>
            </a:r>
            <a:r>
              <a:rPr lang="zh-CN" altLang="en-US" sz="2000" dirty="0">
                <a:latin typeface="Arial" panose="020B0604020202020204" pitchFamily="34" charset="0"/>
                <a:ea typeface="Microsoft YaHei" panose="020B0503020204020204" pitchFamily="34" charset="-122"/>
                <a:cs typeface="Arial" panose="020B0604020202020204" pitchFamily="34" charset="0"/>
              </a:rPr>
              <a:t> </a:t>
            </a:r>
            <a:r>
              <a:rPr lang="en-US" altLang="zh-CN" sz="2000" dirty="0">
                <a:latin typeface="Arial" panose="020B0604020202020204" pitchFamily="34" charset="0"/>
                <a:ea typeface="Microsoft YaHei" panose="020B0503020204020204" pitchFamily="34" charset="-122"/>
                <a:cs typeface="Arial" panose="020B0604020202020204" pitchFamily="34" charset="0"/>
              </a:rPr>
              <a:t>‘</a:t>
            </a:r>
            <a:r>
              <a:rPr lang="zh-CN" altLang="en-US" sz="2000" dirty="0">
                <a:latin typeface="Microsoft YaHei" panose="020B0503020204020204" pitchFamily="34" charset="-122"/>
                <a:ea typeface="Microsoft YaHei" panose="020B0503020204020204" pitchFamily="34" charset="-122"/>
              </a:rPr>
              <a:t>计算机学院</a:t>
            </a:r>
            <a:r>
              <a:rPr lang="en-US" altLang="zh-CN" sz="2000" dirty="0">
                <a:latin typeface="Arial" panose="020B0604020202020204" pitchFamily="34" charset="0"/>
                <a:ea typeface="Microsoft YaHei" panose="020B0503020204020204" pitchFamily="34" charset="-122"/>
                <a:cs typeface="Arial" panose="020B0604020202020204" pitchFamily="34" charset="0"/>
              </a:rPr>
              <a:t>’</a:t>
            </a:r>
            <a:r>
              <a:rPr lang="en-US" altLang="zh-CN" sz="2000" dirty="0">
                <a:latin typeface="Microsoft YaHei" panose="020B0503020204020204" pitchFamily="34" charset="-122"/>
                <a:ea typeface="Microsoft YaHei" panose="020B0503020204020204" pitchFamily="34" charset="-122"/>
              </a:rPr>
              <a:t>);</a:t>
            </a:r>
          </a:p>
          <a:p>
            <a:pPr marL="257175" indent="-257175">
              <a:spcBef>
                <a:spcPct val="20000"/>
              </a:spcBef>
              <a:buClr>
                <a:schemeClr val="folHlink"/>
              </a:buClr>
            </a:pPr>
            <a:endParaRPr lang="en-US" altLang="zh-CN" dirty="0">
              <a:latin typeface="Microsoft YaHei" panose="020B0503020204020204" pitchFamily="34" charset="-122"/>
              <a:ea typeface="Microsoft YaHei" panose="020B0503020204020204" pitchFamily="34" charset="-122"/>
            </a:endParaRPr>
          </a:p>
          <a:p>
            <a:pPr marL="257175" indent="-257175">
              <a:spcBef>
                <a:spcPct val="20000"/>
              </a:spcBef>
              <a:buClr>
                <a:schemeClr val="folHlink"/>
              </a:buClr>
              <a:buFont typeface="Wingdings" panose="05000000000000000000" pitchFamily="2" charset="2"/>
              <a:buChar char="§"/>
            </a:pPr>
            <a:r>
              <a:rPr lang="en-US" altLang="zh-CN" sz="2000" dirty="0">
                <a:solidFill>
                  <a:schemeClr val="hlink"/>
                </a:solidFill>
                <a:latin typeface="Microsoft YaHei" panose="020B0503020204020204" pitchFamily="34" charset="-122"/>
                <a:ea typeface="Microsoft YaHei" panose="020B0503020204020204" pitchFamily="34" charset="-122"/>
              </a:rPr>
              <a:t>? </a:t>
            </a:r>
            <a:r>
              <a:rPr lang="zh-CN" altLang="en-US" sz="2000" dirty="0">
                <a:solidFill>
                  <a:schemeClr val="hlink"/>
                </a:solidFill>
                <a:latin typeface="Microsoft YaHei" panose="020B0503020204020204" pitchFamily="34" charset="-122"/>
                <a:ea typeface="Microsoft YaHei" panose="020B0503020204020204" pitchFamily="34" charset="-122"/>
              </a:rPr>
              <a:t>查询不是这三个系的学生的姓名和性别。</a:t>
            </a:r>
            <a:r>
              <a:rPr lang="zh-CN" altLang="en-US" sz="2000" dirty="0">
                <a:latin typeface="Microsoft YaHei" panose="020B0503020204020204" pitchFamily="34" charset="-122"/>
                <a:ea typeface="Microsoft YaHei" panose="020B0503020204020204" pitchFamily="34" charset="-122"/>
              </a:rPr>
              <a:t> </a:t>
            </a:r>
          </a:p>
        </p:txBody>
      </p:sp>
      <p:sp>
        <p:nvSpPr>
          <p:cNvPr id="35844" name="Rectangle 4"/>
          <p:cNvSpPr/>
          <p:nvPr/>
        </p:nvSpPr>
        <p:spPr>
          <a:xfrm>
            <a:off x="2869618" y="2724386"/>
            <a:ext cx="514350" cy="342900"/>
          </a:xfrm>
          <a:prstGeom prst="rect">
            <a:avLst/>
          </a:prstGeom>
          <a:solidFill>
            <a:srgbClr val="FFCCFF"/>
          </a:solidFill>
          <a:ln w="9525">
            <a:noFill/>
          </a:ln>
        </p:spPr>
        <p:txBody>
          <a:bodyPr wrap="none" anchor="ctr" anchorCtr="0"/>
          <a:lstStyle/>
          <a:p>
            <a:pPr algn="ctr">
              <a:spcBef>
                <a:spcPct val="20000"/>
              </a:spcBef>
              <a:buClr>
                <a:schemeClr val="folHlink"/>
              </a:buClr>
            </a:pPr>
            <a:r>
              <a:rPr lang="en-US" altLang="zh-CN" dirty="0">
                <a:latin typeface="Microsoft YaHei" panose="020B0503020204020204" pitchFamily="34" charset="-122"/>
                <a:ea typeface="Microsoft YaHei" panose="020B0503020204020204" pitchFamily="34" charset="-122"/>
              </a:rPr>
              <a:t>NOT </a:t>
            </a:r>
          </a:p>
        </p:txBody>
      </p:sp>
      <p:sp>
        <p:nvSpPr>
          <p:cNvPr id="4" name="标题 3">
            <a:extLst>
              <a:ext uri="{FF2B5EF4-FFF2-40B4-BE49-F238E27FC236}">
                <a16:creationId xmlns:a16="http://schemas.microsoft.com/office/drawing/2014/main" id="{00015DA4-EE72-72E1-0D35-F97689682C73}"/>
              </a:ext>
            </a:extLst>
          </p:cNvPr>
          <p:cNvSpPr>
            <a:spLocks noGrp="1"/>
          </p:cNvSpPr>
          <p:nvPr>
            <p:ph type="title"/>
          </p:nvPr>
        </p:nvSpPr>
        <p:spPr/>
        <p:txBody>
          <a:bodyPr/>
          <a:lstStyle/>
          <a:p>
            <a:r>
              <a:rPr lang="zh-CN" altLang="en-US" dirty="0"/>
              <a:t>单表查询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915">
                                            <p:txEl>
                                              <p:pRg st="6" end="6"/>
                                            </p:txEl>
                                          </p:spTgt>
                                        </p:tgtEl>
                                        <p:attrNameLst>
                                          <p:attrName>style.visibility</p:attrName>
                                        </p:attrNameLst>
                                      </p:cBhvr>
                                      <p:to>
                                        <p:strVal val="visible"/>
                                      </p:to>
                                    </p:set>
                                    <p:anim calcmode="lin" valueType="num">
                                      <p:cBhvr additive="base">
                                        <p:cTn id="7" dur="500" fill="hold"/>
                                        <p:tgtEl>
                                          <p:spTgt spid="38915">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5844"/>
                                        </p:tgtEl>
                                        <p:attrNameLst>
                                          <p:attrName>style.visibility</p:attrName>
                                        </p:attrNameLst>
                                      </p:cBhvr>
                                      <p:to>
                                        <p:strVal val="visible"/>
                                      </p:to>
                                    </p:set>
                                    <p:anim calcmode="lin" valueType="num">
                                      <p:cBhvr additive="base">
                                        <p:cTn id="13" dur="500" fill="hold"/>
                                        <p:tgtEl>
                                          <p:spTgt spid="35844"/>
                                        </p:tgtEl>
                                        <p:attrNameLst>
                                          <p:attrName>ppt_x</p:attrName>
                                        </p:attrNameLst>
                                      </p:cBhvr>
                                      <p:tavLst>
                                        <p:tav tm="0">
                                          <p:val>
                                            <p:strVal val="#ppt_x"/>
                                          </p:val>
                                        </p:tav>
                                        <p:tav tm="100000">
                                          <p:val>
                                            <p:strVal val="#ppt_x"/>
                                          </p:val>
                                        </p:tav>
                                      </p:tavLst>
                                    </p:anim>
                                    <p:anim calcmode="lin" valueType="num">
                                      <p:cBhvr additive="base">
                                        <p:cTn id="14" dur="500" fill="hold"/>
                                        <p:tgtEl>
                                          <p:spTgt spid="358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p:cNvSpPr>
          <p:nvPr>
            <p:ph idx="1"/>
          </p:nvPr>
        </p:nvSpPr>
        <p:spPr/>
        <p:txBody>
          <a:bodyPr vert="horz" wrap="square" lIns="68580" tIns="34290" rIns="68580" bIns="34290" rtlCol="0" anchor="t" anchorCtr="0">
            <a:normAutofit/>
          </a:bodyPr>
          <a:lstStyle/>
          <a:p>
            <a:pPr marL="0" indent="0" eaLnBrk="1" hangingPunct="1">
              <a:buSzPct val="60000"/>
              <a:buNone/>
            </a:pPr>
            <a:r>
              <a:rPr lang="zh-CN" altLang="en-US" sz="1800" b="1" dirty="0">
                <a:solidFill>
                  <a:schemeClr val="hlink"/>
                </a:solidFill>
              </a:rPr>
              <a:t>一般形式：</a:t>
            </a:r>
          </a:p>
          <a:p>
            <a:pPr marL="0" indent="0">
              <a:lnSpc>
                <a:spcPct val="100000"/>
              </a:lnSpc>
              <a:buSzPct val="60000"/>
              <a:buNone/>
            </a:pPr>
            <a:r>
              <a:rPr lang="en-US" altLang="zh-CN" sz="1800" b="1" dirty="0">
                <a:solidFill>
                  <a:srgbClr val="0000FF"/>
                </a:solidFill>
              </a:rPr>
              <a:t>SELECT  &lt;A&gt;</a:t>
            </a:r>
            <a:endParaRPr lang="en-US" altLang="zh-CN" sz="1800" dirty="0">
              <a:solidFill>
                <a:srgbClr val="0000FF"/>
              </a:solidFill>
            </a:endParaRPr>
          </a:p>
          <a:p>
            <a:pPr marL="0" indent="0">
              <a:lnSpc>
                <a:spcPct val="100000"/>
              </a:lnSpc>
              <a:buSzPct val="60000"/>
              <a:buNone/>
            </a:pPr>
            <a:r>
              <a:rPr lang="en-US" altLang="zh-CN" sz="1800" b="1" dirty="0">
                <a:solidFill>
                  <a:srgbClr val="0000FF"/>
                </a:solidFill>
              </a:rPr>
              <a:t>FROM    &lt;R&gt;</a:t>
            </a:r>
            <a:endParaRPr lang="en-US" altLang="zh-CN" sz="1800" dirty="0">
              <a:solidFill>
                <a:srgbClr val="0000FF"/>
              </a:solidFill>
            </a:endParaRPr>
          </a:p>
          <a:p>
            <a:pPr marL="0" indent="0">
              <a:lnSpc>
                <a:spcPct val="100000"/>
              </a:lnSpc>
              <a:buSzPct val="60000"/>
              <a:buNone/>
            </a:pPr>
            <a:r>
              <a:rPr lang="en-US" altLang="zh-CN" sz="1800" b="1" dirty="0">
                <a:solidFill>
                  <a:srgbClr val="0000FF"/>
                </a:solidFill>
              </a:rPr>
              <a:t>WHERE   &lt;F&gt;</a:t>
            </a:r>
            <a:endParaRPr lang="en-US" altLang="zh-CN" sz="1800" dirty="0">
              <a:solidFill>
                <a:srgbClr val="0000FF"/>
              </a:solidFill>
            </a:endParaRPr>
          </a:p>
        </p:txBody>
      </p:sp>
      <p:sp>
        <p:nvSpPr>
          <p:cNvPr id="39940" name="AutoShape 4"/>
          <p:cNvSpPr/>
          <p:nvPr/>
        </p:nvSpPr>
        <p:spPr>
          <a:xfrm>
            <a:off x="3091750" y="715934"/>
            <a:ext cx="2975968" cy="400050"/>
          </a:xfrm>
          <a:prstGeom prst="wedgeRoundRectCallout">
            <a:avLst>
              <a:gd name="adj1" fmla="val -81122"/>
              <a:gd name="adj2" fmla="val 171130"/>
              <a:gd name="adj3" fmla="val 16667"/>
            </a:avLst>
          </a:prstGeom>
          <a:solidFill>
            <a:srgbClr val="CBFFF1"/>
          </a:solidFill>
          <a:ln w="9525" cap="flat" cmpd="sng">
            <a:solidFill>
              <a:schemeClr val="tx1"/>
            </a:solidFill>
            <a:prstDash val="solid"/>
            <a:miter/>
            <a:headEnd type="none" w="med" len="med"/>
            <a:tailEnd type="none" w="med" len="med"/>
          </a:ln>
        </p:spPr>
        <p:txBody>
          <a:bodyPr wrap="none" lIns="13500" tIns="8100" rIns="13500" bIns="8100" anchor="ctr" anchorCtr="0"/>
          <a:lstStyle/>
          <a:p>
            <a:pPr algn="ctr"/>
            <a:r>
              <a:rPr lang="zh-CN" altLang="en-US" sz="1350" dirty="0">
                <a:latin typeface="Microsoft YaHei" panose="020B0503020204020204" pitchFamily="34" charset="-122"/>
                <a:ea typeface="Microsoft YaHei" panose="020B0503020204020204" pitchFamily="34" charset="-122"/>
              </a:rPr>
              <a:t>查询目标</a:t>
            </a:r>
            <a:r>
              <a:rPr lang="en-US" altLang="zh-CN" sz="1350" dirty="0">
                <a:latin typeface="Microsoft YaHei" panose="020B0503020204020204" pitchFamily="34" charset="-122"/>
                <a:ea typeface="Microsoft YaHei" panose="020B0503020204020204" pitchFamily="34" charset="-122"/>
              </a:rPr>
              <a:t>: </a:t>
            </a:r>
            <a:r>
              <a:rPr lang="zh-CN" altLang="en-US" sz="1350" dirty="0">
                <a:latin typeface="Microsoft YaHei" panose="020B0503020204020204" pitchFamily="34" charset="-122"/>
                <a:ea typeface="Microsoft YaHei" panose="020B0503020204020204" pitchFamily="34" charset="-122"/>
              </a:rPr>
              <a:t>为</a:t>
            </a:r>
            <a:r>
              <a:rPr lang="zh-CN" altLang="en-US" sz="1350" dirty="0">
                <a:solidFill>
                  <a:srgbClr val="0000FF"/>
                </a:solidFill>
                <a:latin typeface="Microsoft YaHei" panose="020B0503020204020204" pitchFamily="34" charset="-122"/>
                <a:ea typeface="Microsoft YaHei" panose="020B0503020204020204" pitchFamily="34" charset="-122"/>
              </a:rPr>
              <a:t>属性名表</a:t>
            </a:r>
            <a:r>
              <a:rPr lang="zh-CN" altLang="en-US" sz="1350" dirty="0">
                <a:latin typeface="Microsoft YaHei" panose="020B0503020204020204" pitchFamily="34" charset="-122"/>
                <a:ea typeface="Microsoft YaHei" panose="020B0503020204020204" pitchFamily="34" charset="-122"/>
              </a:rPr>
              <a:t>或</a:t>
            </a:r>
            <a:r>
              <a:rPr lang="zh-CN" altLang="en-US" sz="1350" dirty="0">
                <a:solidFill>
                  <a:srgbClr val="0000FF"/>
                </a:solidFill>
                <a:latin typeface="Microsoft YaHei" panose="020B0503020204020204" pitchFamily="34" charset="-122"/>
                <a:ea typeface="Microsoft YaHei" panose="020B0503020204020204" pitchFamily="34" charset="-122"/>
              </a:rPr>
              <a:t>表达式</a:t>
            </a:r>
            <a:r>
              <a:rPr lang="zh-CN" altLang="en-US" sz="1350" dirty="0">
                <a:latin typeface="Microsoft YaHei" panose="020B0503020204020204" pitchFamily="34" charset="-122"/>
                <a:ea typeface="Microsoft YaHei" panose="020B0503020204020204" pitchFamily="34" charset="-122"/>
              </a:rPr>
              <a:t>或‘</a:t>
            </a:r>
            <a:r>
              <a:rPr lang="zh-CN" altLang="en-US" sz="1350" dirty="0">
                <a:solidFill>
                  <a:srgbClr val="0000FF"/>
                </a:solidFill>
                <a:latin typeface="Microsoft YaHei" panose="020B0503020204020204" pitchFamily="34" charset="-122"/>
                <a:ea typeface="Microsoft YaHei" panose="020B0503020204020204" pitchFamily="34" charset="-122"/>
              </a:rPr>
              <a:t>*</a:t>
            </a:r>
            <a:r>
              <a:rPr lang="zh-CN" altLang="en-US" sz="1350" dirty="0">
                <a:latin typeface="Microsoft YaHei" panose="020B0503020204020204" pitchFamily="34" charset="-122"/>
                <a:ea typeface="Microsoft YaHei" panose="020B0503020204020204" pitchFamily="34" charset="-122"/>
              </a:rPr>
              <a:t>’</a:t>
            </a:r>
          </a:p>
        </p:txBody>
      </p:sp>
      <p:sp>
        <p:nvSpPr>
          <p:cNvPr id="39941" name="AutoShape 5"/>
          <p:cNvSpPr/>
          <p:nvPr/>
        </p:nvSpPr>
        <p:spPr>
          <a:xfrm>
            <a:off x="3311855" y="1464718"/>
            <a:ext cx="1669493" cy="375047"/>
          </a:xfrm>
          <a:prstGeom prst="wedgeRoundRectCallout">
            <a:avLst>
              <a:gd name="adj1" fmla="val -118287"/>
              <a:gd name="adj2" fmla="val 93900"/>
              <a:gd name="adj3" fmla="val 16667"/>
            </a:avLst>
          </a:prstGeom>
          <a:solidFill>
            <a:srgbClr val="CBFFF1"/>
          </a:solidFill>
          <a:ln w="9525" cap="flat" cmpd="sng">
            <a:solidFill>
              <a:schemeClr val="tx1"/>
            </a:solidFill>
            <a:prstDash val="solid"/>
            <a:miter/>
            <a:headEnd type="none" w="med" len="med"/>
            <a:tailEnd type="none" w="med" len="med"/>
          </a:ln>
        </p:spPr>
        <p:txBody>
          <a:bodyPr wrap="none" lIns="13500" tIns="8100" rIns="13500" bIns="8100" anchor="ctr" anchorCtr="0"/>
          <a:lstStyle/>
          <a:p>
            <a:pPr algn="ctr"/>
            <a:r>
              <a:rPr lang="zh-CN" altLang="en-US" sz="1350" dirty="0">
                <a:latin typeface="Microsoft YaHei" panose="020B0503020204020204" pitchFamily="34" charset="-122"/>
                <a:ea typeface="Microsoft YaHei" panose="020B0503020204020204" pitchFamily="34" charset="-122"/>
              </a:rPr>
              <a:t>数据来源</a:t>
            </a:r>
            <a:r>
              <a:rPr lang="en-US" altLang="zh-CN" sz="1350" dirty="0">
                <a:latin typeface="Microsoft YaHei" panose="020B0503020204020204" pitchFamily="34" charset="-122"/>
                <a:ea typeface="Microsoft YaHei" panose="020B0503020204020204" pitchFamily="34" charset="-122"/>
              </a:rPr>
              <a:t>: </a:t>
            </a:r>
            <a:r>
              <a:rPr lang="zh-CN" altLang="en-US" sz="1350" dirty="0">
                <a:solidFill>
                  <a:srgbClr val="0000FF"/>
                </a:solidFill>
                <a:latin typeface="Microsoft YaHei" panose="020B0503020204020204" pitchFamily="34" charset="-122"/>
                <a:ea typeface="Microsoft YaHei" panose="020B0503020204020204" pitchFamily="34" charset="-122"/>
              </a:rPr>
              <a:t>表</a:t>
            </a:r>
            <a:r>
              <a:rPr lang="zh-CN" altLang="en-US" sz="1350" dirty="0">
                <a:latin typeface="Microsoft YaHei" panose="020B0503020204020204" pitchFamily="34" charset="-122"/>
                <a:ea typeface="Microsoft YaHei" panose="020B0503020204020204" pitchFamily="34" charset="-122"/>
              </a:rPr>
              <a:t>或</a:t>
            </a:r>
            <a:r>
              <a:rPr lang="zh-CN" altLang="en-US" sz="1350" dirty="0">
                <a:solidFill>
                  <a:srgbClr val="0000FF"/>
                </a:solidFill>
                <a:latin typeface="Microsoft YaHei" panose="020B0503020204020204" pitchFamily="34" charset="-122"/>
                <a:ea typeface="Microsoft YaHei" panose="020B0503020204020204" pitchFamily="34" charset="-122"/>
              </a:rPr>
              <a:t>视图</a:t>
            </a:r>
          </a:p>
        </p:txBody>
      </p:sp>
      <p:sp>
        <p:nvSpPr>
          <p:cNvPr id="39942" name="AutoShape 6"/>
          <p:cNvSpPr/>
          <p:nvPr/>
        </p:nvSpPr>
        <p:spPr>
          <a:xfrm>
            <a:off x="3229821" y="2061128"/>
            <a:ext cx="1833562" cy="342900"/>
          </a:xfrm>
          <a:prstGeom prst="wedgeRoundRectCallout">
            <a:avLst>
              <a:gd name="adj1" fmla="val -103992"/>
              <a:gd name="adj2" fmla="val 51460"/>
              <a:gd name="adj3" fmla="val 16667"/>
            </a:avLst>
          </a:prstGeom>
          <a:solidFill>
            <a:srgbClr val="CBFFF1"/>
          </a:solidFill>
          <a:ln w="9525" cap="flat" cmpd="sng">
            <a:solidFill>
              <a:schemeClr val="tx1"/>
            </a:solidFill>
            <a:prstDash val="solid"/>
            <a:miter/>
            <a:headEnd type="none" w="med" len="med"/>
            <a:tailEnd type="none" w="med" len="med"/>
          </a:ln>
        </p:spPr>
        <p:txBody>
          <a:bodyPr wrap="none" lIns="13500" tIns="8100" rIns="13500" bIns="8100" anchor="ctr" anchorCtr="0"/>
          <a:lstStyle/>
          <a:p>
            <a:pPr algn="ctr"/>
            <a:r>
              <a:rPr lang="zh-CN" altLang="en-US" sz="1350" dirty="0">
                <a:latin typeface="Microsoft YaHei" panose="020B0503020204020204" pitchFamily="34" charset="-122"/>
                <a:ea typeface="Microsoft YaHei" panose="020B0503020204020204" pitchFamily="34" charset="-122"/>
              </a:rPr>
              <a:t>选择行</a:t>
            </a:r>
            <a:r>
              <a:rPr lang="en-US" altLang="zh-CN" sz="1350" dirty="0">
                <a:solidFill>
                  <a:srgbClr val="000099"/>
                </a:solidFill>
                <a:latin typeface="Microsoft YaHei" panose="020B0503020204020204" pitchFamily="34" charset="-122"/>
                <a:ea typeface="Microsoft YaHei" panose="020B0503020204020204" pitchFamily="34" charset="-122"/>
              </a:rPr>
              <a:t>(</a:t>
            </a:r>
            <a:r>
              <a:rPr lang="zh-CN" altLang="en-US" sz="1350" dirty="0">
                <a:solidFill>
                  <a:srgbClr val="000099"/>
                </a:solidFill>
                <a:latin typeface="Microsoft YaHei" panose="020B0503020204020204" pitchFamily="34" charset="-122"/>
                <a:ea typeface="Microsoft YaHei" panose="020B0503020204020204" pitchFamily="34" charset="-122"/>
              </a:rPr>
              <a:t>元组</a:t>
            </a:r>
            <a:r>
              <a:rPr lang="en-US" altLang="zh-CN" sz="1350" dirty="0">
                <a:solidFill>
                  <a:srgbClr val="000099"/>
                </a:solidFill>
                <a:latin typeface="Microsoft YaHei" panose="020B0503020204020204" pitchFamily="34" charset="-122"/>
                <a:ea typeface="Microsoft YaHei" panose="020B0503020204020204" pitchFamily="34" charset="-122"/>
              </a:rPr>
              <a:t>)</a:t>
            </a:r>
            <a:r>
              <a:rPr lang="zh-CN" altLang="en-US" sz="1350" dirty="0">
                <a:latin typeface="Microsoft YaHei" panose="020B0503020204020204" pitchFamily="34" charset="-122"/>
                <a:ea typeface="Microsoft YaHei" panose="020B0503020204020204" pitchFamily="34" charset="-122"/>
              </a:rPr>
              <a:t>的条件</a:t>
            </a:r>
          </a:p>
        </p:txBody>
      </p:sp>
      <p:sp>
        <p:nvSpPr>
          <p:cNvPr id="36871" name="AutoShape 7"/>
          <p:cNvSpPr/>
          <p:nvPr/>
        </p:nvSpPr>
        <p:spPr>
          <a:xfrm>
            <a:off x="5266711" y="2547109"/>
            <a:ext cx="2982554" cy="400050"/>
          </a:xfrm>
          <a:prstGeom prst="wedgeRoundRectCallout">
            <a:avLst>
              <a:gd name="adj1" fmla="val -125122"/>
              <a:gd name="adj2" fmla="val 87120"/>
              <a:gd name="adj3" fmla="val 16667"/>
            </a:avLst>
          </a:prstGeom>
          <a:solidFill>
            <a:srgbClr val="FFF1B5"/>
          </a:solidFill>
          <a:ln w="9525" cap="flat" cmpd="sng">
            <a:solidFill>
              <a:schemeClr val="tx1"/>
            </a:solidFill>
            <a:prstDash val="solid"/>
            <a:miter/>
            <a:headEnd type="none" w="med" len="med"/>
            <a:tailEnd type="none" w="med" len="med"/>
          </a:ln>
        </p:spPr>
        <p:txBody>
          <a:bodyPr wrap="none" lIns="13500" tIns="8100" rIns="13500" bIns="8100" anchor="ctr" anchorCtr="0"/>
          <a:lstStyle/>
          <a:p>
            <a:pPr algn="ctr"/>
            <a:r>
              <a:rPr lang="zh-CN" altLang="en-US" sz="1350" dirty="0">
                <a:latin typeface="Microsoft YaHei" panose="020B0503020204020204" pitchFamily="34" charset="-122"/>
                <a:ea typeface="Microsoft YaHei" panose="020B0503020204020204" pitchFamily="34" charset="-122"/>
              </a:rPr>
              <a:t>将选择结果按&lt;列名1&gt;的值进行分组</a:t>
            </a:r>
          </a:p>
        </p:txBody>
      </p:sp>
      <p:sp>
        <p:nvSpPr>
          <p:cNvPr id="36872" name="AutoShape 8"/>
          <p:cNvSpPr/>
          <p:nvPr/>
        </p:nvSpPr>
        <p:spPr>
          <a:xfrm>
            <a:off x="5189961" y="3189270"/>
            <a:ext cx="1741192" cy="342900"/>
          </a:xfrm>
          <a:prstGeom prst="wedgeRoundRectCallout">
            <a:avLst>
              <a:gd name="adj1" fmla="val -164919"/>
              <a:gd name="adj2" fmla="val 15645"/>
              <a:gd name="adj3" fmla="val 16667"/>
            </a:avLst>
          </a:prstGeom>
          <a:solidFill>
            <a:srgbClr val="FFF1B5"/>
          </a:solidFill>
          <a:ln w="9525" cap="flat" cmpd="sng">
            <a:solidFill>
              <a:schemeClr val="tx1"/>
            </a:solidFill>
            <a:prstDash val="solid"/>
            <a:miter/>
            <a:headEnd type="none" w="med" len="med"/>
            <a:tailEnd type="none" w="med" len="med"/>
          </a:ln>
        </p:spPr>
        <p:txBody>
          <a:bodyPr wrap="none" lIns="13500" tIns="8100" rIns="13500" bIns="8100" anchor="ctr" anchorCtr="0"/>
          <a:lstStyle/>
          <a:p>
            <a:pPr algn="ctr"/>
            <a:r>
              <a:rPr lang="zh-CN" altLang="en-US" sz="1350" dirty="0">
                <a:latin typeface="Microsoft YaHei" panose="020B0503020204020204" pitchFamily="34" charset="-122"/>
                <a:ea typeface="Microsoft YaHei" panose="020B0503020204020204" pitchFamily="34" charset="-122"/>
              </a:rPr>
              <a:t>选择满足条件的小组</a:t>
            </a:r>
          </a:p>
        </p:txBody>
      </p:sp>
      <p:sp>
        <p:nvSpPr>
          <p:cNvPr id="36873" name="AutoShape 9"/>
          <p:cNvSpPr/>
          <p:nvPr/>
        </p:nvSpPr>
        <p:spPr>
          <a:xfrm>
            <a:off x="5595937" y="4105742"/>
            <a:ext cx="2083057" cy="400050"/>
          </a:xfrm>
          <a:prstGeom prst="wedgeRoundRectCallout">
            <a:avLst>
              <a:gd name="adj1" fmla="val -103632"/>
              <a:gd name="adj2" fmla="val -137513"/>
              <a:gd name="adj3" fmla="val 16667"/>
            </a:avLst>
          </a:prstGeom>
          <a:solidFill>
            <a:srgbClr val="FFF1B5"/>
          </a:solidFill>
          <a:ln w="9525" cap="flat" cmpd="sng">
            <a:solidFill>
              <a:schemeClr val="tx1"/>
            </a:solidFill>
            <a:prstDash val="solid"/>
            <a:miter/>
            <a:headEnd type="none" w="med" len="med"/>
            <a:tailEnd type="none" w="med" len="med"/>
          </a:ln>
        </p:spPr>
        <p:txBody>
          <a:bodyPr wrap="none" lIns="13500" tIns="8100" rIns="13500" bIns="8100" anchor="ctr" anchorCtr="0"/>
          <a:lstStyle/>
          <a:p>
            <a:pPr algn="ctr"/>
            <a:r>
              <a:rPr lang="zh-CN" altLang="en-US" sz="1350" dirty="0">
                <a:latin typeface="Microsoft YaHei" panose="020B0503020204020204" pitchFamily="34" charset="-122"/>
                <a:ea typeface="Microsoft YaHei" panose="020B0503020204020204" pitchFamily="34" charset="-122"/>
              </a:rPr>
              <a:t>按&lt;列名2&gt;排序查询结果</a:t>
            </a:r>
          </a:p>
        </p:txBody>
      </p:sp>
      <p:sp>
        <p:nvSpPr>
          <p:cNvPr id="36875" name="Rectangle 11"/>
          <p:cNvSpPr/>
          <p:nvPr/>
        </p:nvSpPr>
        <p:spPr>
          <a:xfrm>
            <a:off x="603507" y="2940605"/>
            <a:ext cx="4743450" cy="1188244"/>
          </a:xfrm>
          <a:prstGeom prst="rect">
            <a:avLst/>
          </a:prstGeom>
          <a:noFill/>
          <a:ln w="9525">
            <a:noFill/>
          </a:ln>
        </p:spPr>
        <p:txBody>
          <a:bodyPr/>
          <a:lstStyle/>
          <a:p>
            <a:pPr>
              <a:lnSpc>
                <a:spcPct val="90000"/>
              </a:lnSpc>
              <a:spcBef>
                <a:spcPct val="20000"/>
              </a:spcBef>
              <a:buClr>
                <a:schemeClr val="folHlink"/>
              </a:buClr>
              <a:buSzPct val="60000"/>
            </a:pPr>
            <a:r>
              <a:rPr lang="zh-CN" altLang="en-US" b="1" dirty="0">
                <a:latin typeface="Microsoft YaHei" panose="020B0503020204020204" pitchFamily="34" charset="-122"/>
                <a:ea typeface="Microsoft YaHei" panose="020B0503020204020204" pitchFamily="34" charset="-122"/>
              </a:rPr>
              <a:t>GROUP BY  &lt;列名1&gt;</a:t>
            </a:r>
          </a:p>
          <a:p>
            <a:pPr>
              <a:lnSpc>
                <a:spcPct val="90000"/>
              </a:lnSpc>
              <a:spcBef>
                <a:spcPct val="20000"/>
              </a:spcBef>
              <a:buClr>
                <a:schemeClr val="folHlink"/>
              </a:buClr>
              <a:buSzPct val="60000"/>
            </a:pPr>
            <a:r>
              <a:rPr lang="zh-CN" altLang="en-US" b="1" dirty="0">
                <a:latin typeface="Microsoft YaHei" panose="020B0503020204020204" pitchFamily="34" charset="-122"/>
                <a:ea typeface="Microsoft YaHei" panose="020B0503020204020204" pitchFamily="34" charset="-122"/>
              </a:rPr>
              <a:t>         HAVING  &lt;条件&gt;</a:t>
            </a:r>
          </a:p>
          <a:p>
            <a:pPr>
              <a:lnSpc>
                <a:spcPct val="90000"/>
              </a:lnSpc>
              <a:spcBef>
                <a:spcPct val="20000"/>
              </a:spcBef>
              <a:buClr>
                <a:schemeClr val="folHlink"/>
              </a:buClr>
              <a:buSzPct val="60000"/>
            </a:pPr>
            <a:r>
              <a:rPr lang="zh-CN" altLang="en-US" b="1" dirty="0">
                <a:latin typeface="Microsoft YaHei" panose="020B0503020204020204" pitchFamily="34" charset="-122"/>
                <a:ea typeface="Microsoft YaHei" panose="020B0503020204020204" pitchFamily="34" charset="-122"/>
              </a:rPr>
              <a:t>ORDER BY &lt;列名2&gt;  [ASC|DESC]；</a:t>
            </a:r>
            <a:r>
              <a:rPr lang="zh-CN" altLang="en-US" sz="2100" b="1" dirty="0">
                <a:latin typeface="Microsoft YaHei" panose="020B0503020204020204" pitchFamily="34" charset="-122"/>
                <a:ea typeface="Microsoft YaHei" panose="020B0503020204020204" pitchFamily="34" charset="-122"/>
              </a:rPr>
              <a:t> </a:t>
            </a:r>
          </a:p>
        </p:txBody>
      </p:sp>
      <p:sp>
        <p:nvSpPr>
          <p:cNvPr id="3" name="标题 2">
            <a:extLst>
              <a:ext uri="{FF2B5EF4-FFF2-40B4-BE49-F238E27FC236}">
                <a16:creationId xmlns:a16="http://schemas.microsoft.com/office/drawing/2014/main" id="{F9170448-2883-A79A-D213-6B141593301B}"/>
              </a:ext>
            </a:extLst>
          </p:cNvPr>
          <p:cNvSpPr>
            <a:spLocks noGrp="1"/>
          </p:cNvSpPr>
          <p:nvPr>
            <p:ph type="title"/>
          </p:nvPr>
        </p:nvSpPr>
        <p:spPr/>
        <p:txBody>
          <a:bodyPr/>
          <a:lstStyle/>
          <a:p>
            <a:r>
              <a:rPr lang="zh-CN" altLang="en-US" dirty="0"/>
              <a:t>单表查询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8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7" presetClass="entr" presetSubtype="8" fill="hold" grpId="0" nodeType="clickEffect">
                                  <p:stCondLst>
                                    <p:cond delay="0"/>
                                  </p:stCondLst>
                                  <p:childTnLst>
                                    <p:set>
                                      <p:cBhvr>
                                        <p:cTn id="10" dur="1" fill="hold">
                                          <p:stCondLst>
                                            <p:cond delay="0"/>
                                          </p:stCondLst>
                                        </p:cTn>
                                        <p:tgtEl>
                                          <p:spTgt spid="36871"/>
                                        </p:tgtEl>
                                        <p:attrNameLst>
                                          <p:attrName>style.visibility</p:attrName>
                                        </p:attrNameLst>
                                      </p:cBhvr>
                                      <p:to>
                                        <p:strVal val="visible"/>
                                      </p:to>
                                    </p:set>
                                    <p:anim calcmode="lin" valueType="num">
                                      <p:cBhvr>
                                        <p:cTn id="11" dur="500" fill="hold"/>
                                        <p:tgtEl>
                                          <p:spTgt spid="36871"/>
                                        </p:tgtEl>
                                        <p:attrNameLst>
                                          <p:attrName>ppt_x</p:attrName>
                                        </p:attrNameLst>
                                      </p:cBhvr>
                                      <p:tavLst>
                                        <p:tav tm="0">
                                          <p:val>
                                            <p:strVal val="#ppt_x-#ppt_w/2"/>
                                          </p:val>
                                        </p:tav>
                                        <p:tav tm="100000">
                                          <p:val>
                                            <p:strVal val="#ppt_x"/>
                                          </p:val>
                                        </p:tav>
                                      </p:tavLst>
                                    </p:anim>
                                    <p:anim calcmode="lin" valueType="num">
                                      <p:cBhvr>
                                        <p:cTn id="12" dur="500" fill="hold"/>
                                        <p:tgtEl>
                                          <p:spTgt spid="36871"/>
                                        </p:tgtEl>
                                        <p:attrNameLst>
                                          <p:attrName>ppt_y</p:attrName>
                                        </p:attrNameLst>
                                      </p:cBhvr>
                                      <p:tavLst>
                                        <p:tav tm="0">
                                          <p:val>
                                            <p:strVal val="#ppt_y"/>
                                          </p:val>
                                        </p:tav>
                                        <p:tav tm="100000">
                                          <p:val>
                                            <p:strVal val="#ppt_y"/>
                                          </p:val>
                                        </p:tav>
                                      </p:tavLst>
                                    </p:anim>
                                    <p:anim calcmode="lin" valueType="num">
                                      <p:cBhvr>
                                        <p:cTn id="13" dur="500" fill="hold"/>
                                        <p:tgtEl>
                                          <p:spTgt spid="36871"/>
                                        </p:tgtEl>
                                        <p:attrNameLst>
                                          <p:attrName>ppt_w</p:attrName>
                                        </p:attrNameLst>
                                      </p:cBhvr>
                                      <p:tavLst>
                                        <p:tav tm="0">
                                          <p:val>
                                            <p:fltVal val="0"/>
                                          </p:val>
                                        </p:tav>
                                        <p:tav tm="100000">
                                          <p:val>
                                            <p:strVal val="#ppt_w"/>
                                          </p:val>
                                        </p:tav>
                                      </p:tavLst>
                                    </p:anim>
                                    <p:anim calcmode="lin" valueType="num">
                                      <p:cBhvr>
                                        <p:cTn id="14" dur="500" fill="hold"/>
                                        <p:tgtEl>
                                          <p:spTgt spid="36871"/>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8" fill="hold" grpId="0" nodeType="clickEffect">
                                  <p:stCondLst>
                                    <p:cond delay="0"/>
                                  </p:stCondLst>
                                  <p:childTnLst>
                                    <p:set>
                                      <p:cBhvr>
                                        <p:cTn id="18" dur="1" fill="hold">
                                          <p:stCondLst>
                                            <p:cond delay="0"/>
                                          </p:stCondLst>
                                        </p:cTn>
                                        <p:tgtEl>
                                          <p:spTgt spid="36872"/>
                                        </p:tgtEl>
                                        <p:attrNameLst>
                                          <p:attrName>style.visibility</p:attrName>
                                        </p:attrNameLst>
                                      </p:cBhvr>
                                      <p:to>
                                        <p:strVal val="visible"/>
                                      </p:to>
                                    </p:set>
                                    <p:anim calcmode="lin" valueType="num">
                                      <p:cBhvr>
                                        <p:cTn id="19" dur="500" fill="hold"/>
                                        <p:tgtEl>
                                          <p:spTgt spid="36872"/>
                                        </p:tgtEl>
                                        <p:attrNameLst>
                                          <p:attrName>ppt_x</p:attrName>
                                        </p:attrNameLst>
                                      </p:cBhvr>
                                      <p:tavLst>
                                        <p:tav tm="0">
                                          <p:val>
                                            <p:strVal val="#ppt_x-#ppt_w/2"/>
                                          </p:val>
                                        </p:tav>
                                        <p:tav tm="100000">
                                          <p:val>
                                            <p:strVal val="#ppt_x"/>
                                          </p:val>
                                        </p:tav>
                                      </p:tavLst>
                                    </p:anim>
                                    <p:anim calcmode="lin" valueType="num">
                                      <p:cBhvr>
                                        <p:cTn id="20" dur="500" fill="hold"/>
                                        <p:tgtEl>
                                          <p:spTgt spid="36872"/>
                                        </p:tgtEl>
                                        <p:attrNameLst>
                                          <p:attrName>ppt_y</p:attrName>
                                        </p:attrNameLst>
                                      </p:cBhvr>
                                      <p:tavLst>
                                        <p:tav tm="0">
                                          <p:val>
                                            <p:strVal val="#ppt_y"/>
                                          </p:val>
                                        </p:tav>
                                        <p:tav tm="100000">
                                          <p:val>
                                            <p:strVal val="#ppt_y"/>
                                          </p:val>
                                        </p:tav>
                                      </p:tavLst>
                                    </p:anim>
                                    <p:anim calcmode="lin" valueType="num">
                                      <p:cBhvr>
                                        <p:cTn id="21" dur="500" fill="hold"/>
                                        <p:tgtEl>
                                          <p:spTgt spid="36872"/>
                                        </p:tgtEl>
                                        <p:attrNameLst>
                                          <p:attrName>ppt_w</p:attrName>
                                        </p:attrNameLst>
                                      </p:cBhvr>
                                      <p:tavLst>
                                        <p:tav tm="0">
                                          <p:val>
                                            <p:fltVal val="0"/>
                                          </p:val>
                                        </p:tav>
                                        <p:tav tm="100000">
                                          <p:val>
                                            <p:strVal val="#ppt_w"/>
                                          </p:val>
                                        </p:tav>
                                      </p:tavLst>
                                    </p:anim>
                                    <p:anim calcmode="lin" valueType="num">
                                      <p:cBhvr>
                                        <p:cTn id="22" dur="500" fill="hold"/>
                                        <p:tgtEl>
                                          <p:spTgt spid="36872"/>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68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1" grpId="0" bldLvl="0" animBg="1"/>
      <p:bldP spid="36872" grpId="0" bldLvl="0" animBg="1"/>
      <p:bldP spid="36873" grpId="0" bldLvl="0" animBg="1"/>
      <p:bldP spid="3687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p:cNvSpPr>
          <p:nvPr>
            <p:ph idx="1"/>
          </p:nvPr>
        </p:nvSpPr>
        <p:spPr/>
        <p:txBody>
          <a:bodyPr vert="horz" wrap="square" lIns="68580" tIns="34290" rIns="68580" bIns="34290" anchor="t" anchorCtr="0"/>
          <a:lstStyle/>
          <a:p>
            <a:pPr eaLnBrk="1" hangingPunct="1">
              <a:lnSpc>
                <a:spcPct val="90000"/>
              </a:lnSpc>
              <a:buSzTx/>
              <a:buNone/>
            </a:pPr>
            <a:r>
              <a:rPr lang="en-US" altLang="zh-CN" sz="2000" b="1" dirty="0">
                <a:solidFill>
                  <a:srgbClr val="C00000"/>
                </a:solidFill>
              </a:rPr>
              <a:t>(4)</a:t>
            </a:r>
            <a:r>
              <a:rPr lang="zh-CN" altLang="en-US" sz="2000" b="1" dirty="0">
                <a:solidFill>
                  <a:srgbClr val="C00000"/>
                </a:solidFill>
              </a:rPr>
              <a:t>对查询结果排序</a:t>
            </a:r>
          </a:p>
          <a:p>
            <a:pPr eaLnBrk="1" hangingPunct="1">
              <a:lnSpc>
                <a:spcPct val="90000"/>
              </a:lnSpc>
              <a:buSzTx/>
              <a:buNone/>
            </a:pPr>
            <a:r>
              <a:rPr lang="zh-CN" altLang="en-US" sz="1800" b="1" dirty="0">
                <a:solidFill>
                  <a:schemeClr val="hlink"/>
                </a:solidFill>
              </a:rPr>
              <a:t>[例]</a:t>
            </a:r>
            <a:r>
              <a:rPr lang="zh-CN" altLang="en-US" sz="1800" dirty="0"/>
              <a:t>  </a:t>
            </a:r>
            <a:r>
              <a:rPr lang="zh-CN" altLang="en-US" sz="1800" b="1" dirty="0"/>
              <a:t>查询全体男学生的学号、姓名，</a:t>
            </a:r>
          </a:p>
          <a:p>
            <a:pPr eaLnBrk="1" hangingPunct="1">
              <a:lnSpc>
                <a:spcPct val="90000"/>
              </a:lnSpc>
              <a:buSzTx/>
              <a:buFont typeface="Wingdings" panose="05000000000000000000" pitchFamily="2" charset="2"/>
              <a:buChar char="§"/>
            </a:pPr>
            <a:endParaRPr lang="zh-CN" altLang="en-US" sz="1800" b="1" dirty="0"/>
          </a:p>
          <a:p>
            <a:pPr eaLnBrk="1" hangingPunct="1">
              <a:lnSpc>
                <a:spcPct val="90000"/>
              </a:lnSpc>
              <a:buSzTx/>
              <a:buNone/>
            </a:pPr>
            <a:r>
              <a:rPr lang="zh-CN" altLang="en-US" sz="1800" b="1" dirty="0"/>
              <a:t>   结果按所在的</a:t>
            </a:r>
            <a:r>
              <a:rPr lang="en-US" altLang="zh-CN" sz="1800" b="1" dirty="0">
                <a:solidFill>
                  <a:schemeClr val="folHlink"/>
                </a:solidFill>
              </a:rPr>
              <a:t>系升序</a:t>
            </a:r>
            <a:r>
              <a:rPr lang="zh-CN" altLang="en-US" sz="1800" b="1" dirty="0"/>
              <a:t>排列，</a:t>
            </a:r>
          </a:p>
          <a:p>
            <a:pPr eaLnBrk="1" hangingPunct="1">
              <a:lnSpc>
                <a:spcPct val="90000"/>
              </a:lnSpc>
              <a:buSzTx/>
              <a:buNone/>
            </a:pPr>
            <a:r>
              <a:rPr lang="zh-CN" altLang="en-US" sz="1800" b="1" dirty="0"/>
              <a:t>   同一系中的学生按</a:t>
            </a:r>
            <a:r>
              <a:rPr lang="en-US" altLang="zh-CN" sz="1800" b="1" dirty="0">
                <a:solidFill>
                  <a:schemeClr val="folHlink"/>
                </a:solidFill>
              </a:rPr>
              <a:t>年龄降序</a:t>
            </a:r>
            <a:r>
              <a:rPr lang="zh-CN" altLang="en-US" sz="1800" b="1" dirty="0"/>
              <a:t>排列。</a:t>
            </a:r>
          </a:p>
          <a:p>
            <a:pPr eaLnBrk="1" hangingPunct="1">
              <a:lnSpc>
                <a:spcPct val="90000"/>
              </a:lnSpc>
              <a:buSzTx/>
              <a:buNone/>
            </a:pPr>
            <a:r>
              <a:rPr lang="zh-CN" altLang="en-US" sz="1800" dirty="0"/>
              <a:t>    </a:t>
            </a:r>
          </a:p>
        </p:txBody>
      </p:sp>
      <p:pic>
        <p:nvPicPr>
          <p:cNvPr id="40964" name="Picture 4" descr="BD07304_"/>
          <p:cNvPicPr>
            <a:picLocks noChangeAspect="1"/>
          </p:cNvPicPr>
          <p:nvPr/>
        </p:nvPicPr>
        <p:blipFill>
          <a:blip r:embed="rId2"/>
          <a:stretch>
            <a:fillRect/>
          </a:stretch>
        </p:blipFill>
        <p:spPr>
          <a:xfrm>
            <a:off x="7831931" y="3453636"/>
            <a:ext cx="1366838" cy="1359694"/>
          </a:xfrm>
          <a:prstGeom prst="rect">
            <a:avLst/>
          </a:prstGeom>
          <a:noFill/>
          <a:ln w="9525">
            <a:noFill/>
          </a:ln>
        </p:spPr>
      </p:pic>
      <p:grpSp>
        <p:nvGrpSpPr>
          <p:cNvPr id="2" name="Group 8"/>
          <p:cNvGrpSpPr/>
          <p:nvPr/>
        </p:nvGrpSpPr>
        <p:grpSpPr>
          <a:xfrm>
            <a:off x="2254737" y="1735838"/>
            <a:ext cx="1077516" cy="300039"/>
            <a:chOff x="48" y="-1"/>
            <a:chExt cx="858" cy="252"/>
          </a:xfrm>
        </p:grpSpPr>
        <p:sp>
          <p:nvSpPr>
            <p:cNvPr id="40972" name="Line 9"/>
            <p:cNvSpPr/>
            <p:nvPr/>
          </p:nvSpPr>
          <p:spPr>
            <a:xfrm flipV="1">
              <a:off x="48" y="0"/>
              <a:ext cx="624" cy="0"/>
            </a:xfrm>
            <a:prstGeom prst="line">
              <a:avLst/>
            </a:prstGeom>
            <a:ln w="38100" cap="flat" cmpd="sng">
              <a:solidFill>
                <a:schemeClr val="hlink"/>
              </a:solidFill>
              <a:prstDash val="soli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40973" name="Text Box 10"/>
            <p:cNvSpPr txBox="1"/>
            <p:nvPr/>
          </p:nvSpPr>
          <p:spPr>
            <a:xfrm>
              <a:off x="86" y="-1"/>
              <a:ext cx="820" cy="252"/>
            </a:xfrm>
            <a:prstGeom prst="rect">
              <a:avLst/>
            </a:prstGeom>
            <a:noFill/>
            <a:ln w="9525">
              <a:noFill/>
            </a:ln>
          </p:spPr>
          <p:txBody>
            <a:bodyPr>
              <a:spAutoFit/>
            </a:bodyPr>
            <a:lstStyle/>
            <a:p>
              <a:pPr>
                <a:spcBef>
                  <a:spcPct val="50000"/>
                </a:spcBef>
              </a:pPr>
              <a:r>
                <a:rPr lang="zh-CN" altLang="en-US" sz="1350" dirty="0">
                  <a:solidFill>
                    <a:schemeClr val="hlink"/>
                  </a:solidFill>
                  <a:latin typeface="Microsoft YaHei" panose="020B0503020204020204" pitchFamily="34" charset="-122"/>
                  <a:ea typeface="Microsoft YaHei" panose="020B0503020204020204" pitchFamily="34" charset="-122"/>
                </a:rPr>
                <a:t>条件 </a:t>
              </a:r>
              <a:r>
                <a:rPr lang="en-US" altLang="zh-CN" sz="1350" dirty="0">
                  <a:solidFill>
                    <a:schemeClr val="hlink"/>
                  </a:solidFill>
                  <a:latin typeface="Microsoft YaHei" panose="020B0503020204020204" pitchFamily="34" charset="-122"/>
                  <a:ea typeface="Microsoft YaHei" panose="020B0503020204020204" pitchFamily="34" charset="-122"/>
                </a:rPr>
                <a:t>F</a:t>
              </a:r>
            </a:p>
          </p:txBody>
        </p:sp>
      </p:grpSp>
      <p:grpSp>
        <p:nvGrpSpPr>
          <p:cNvPr id="3" name="Group 11"/>
          <p:cNvGrpSpPr/>
          <p:nvPr/>
        </p:nvGrpSpPr>
        <p:grpSpPr>
          <a:xfrm>
            <a:off x="3644484" y="1735838"/>
            <a:ext cx="1107281" cy="300093"/>
            <a:chOff x="0" y="0"/>
            <a:chExt cx="816" cy="259"/>
          </a:xfrm>
        </p:grpSpPr>
        <p:sp>
          <p:nvSpPr>
            <p:cNvPr id="40970" name="Line 12"/>
            <p:cNvSpPr/>
            <p:nvPr/>
          </p:nvSpPr>
          <p:spPr>
            <a:xfrm flipH="1">
              <a:off x="0" y="0"/>
              <a:ext cx="816" cy="0"/>
            </a:xfrm>
            <a:prstGeom prst="line">
              <a:avLst/>
            </a:prstGeom>
            <a:ln w="38100" cap="flat" cmpd="sng">
              <a:solidFill>
                <a:schemeClr val="hlink"/>
              </a:solidFill>
              <a:prstDash val="soli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40971" name="Text Box 13"/>
            <p:cNvSpPr txBox="1"/>
            <p:nvPr/>
          </p:nvSpPr>
          <p:spPr>
            <a:xfrm>
              <a:off x="0" y="0"/>
              <a:ext cx="766" cy="259"/>
            </a:xfrm>
            <a:prstGeom prst="rect">
              <a:avLst/>
            </a:prstGeom>
            <a:noFill/>
            <a:ln w="9525">
              <a:noFill/>
            </a:ln>
          </p:spPr>
          <p:txBody>
            <a:bodyPr>
              <a:spAutoFit/>
            </a:bodyPr>
            <a:lstStyle/>
            <a:p>
              <a:pPr algn="ctr"/>
              <a:r>
                <a:rPr lang="zh-CN" altLang="en-US" sz="1350" dirty="0">
                  <a:solidFill>
                    <a:schemeClr val="hlink"/>
                  </a:solidFill>
                  <a:latin typeface="Microsoft YaHei" panose="020B0503020204020204" pitchFamily="34" charset="-122"/>
                  <a:ea typeface="Microsoft YaHei" panose="020B0503020204020204" pitchFamily="34" charset="-122"/>
                </a:rPr>
                <a:t>目标 </a:t>
              </a:r>
              <a:r>
                <a:rPr lang="en-US" altLang="zh-CN" sz="1350" dirty="0">
                  <a:solidFill>
                    <a:schemeClr val="hlink"/>
                  </a:solidFill>
                  <a:latin typeface="Microsoft YaHei" panose="020B0503020204020204" pitchFamily="34" charset="-122"/>
                  <a:ea typeface="Microsoft YaHei" panose="020B0503020204020204" pitchFamily="34" charset="-122"/>
                </a:rPr>
                <a:t>A</a:t>
              </a:r>
            </a:p>
          </p:txBody>
        </p:sp>
      </p:grpSp>
      <p:sp>
        <p:nvSpPr>
          <p:cNvPr id="37903" name="AutoShape 15"/>
          <p:cNvSpPr/>
          <p:nvPr/>
        </p:nvSpPr>
        <p:spPr>
          <a:xfrm>
            <a:off x="4488675" y="2924825"/>
            <a:ext cx="914400" cy="333375"/>
          </a:xfrm>
          <a:prstGeom prst="wedgeRoundRectCallout">
            <a:avLst>
              <a:gd name="adj1" fmla="val -120417"/>
              <a:gd name="adj2" fmla="val -76144"/>
              <a:gd name="adj3" fmla="val 16667"/>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500" dirty="0">
                <a:latin typeface="Microsoft YaHei" panose="020B0503020204020204" pitchFamily="34" charset="-122"/>
                <a:ea typeface="Microsoft YaHei" panose="020B0503020204020204" pitchFamily="34" charset="-122"/>
              </a:rPr>
              <a:t>排序二</a:t>
            </a:r>
          </a:p>
        </p:txBody>
      </p:sp>
      <p:sp>
        <p:nvSpPr>
          <p:cNvPr id="37904" name="AutoShape 16"/>
          <p:cNvSpPr/>
          <p:nvPr/>
        </p:nvSpPr>
        <p:spPr>
          <a:xfrm>
            <a:off x="4680693" y="2242620"/>
            <a:ext cx="889397" cy="352425"/>
          </a:xfrm>
          <a:prstGeom prst="wedgeRoundRectCallout">
            <a:avLst>
              <a:gd name="adj1" fmla="val -176940"/>
              <a:gd name="adj2" fmla="val -30324"/>
              <a:gd name="adj3" fmla="val 16667"/>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500" dirty="0">
                <a:latin typeface="Microsoft YaHei" panose="020B0503020204020204" pitchFamily="34" charset="-122"/>
                <a:ea typeface="Microsoft YaHei" panose="020B0503020204020204" pitchFamily="34" charset="-122"/>
              </a:rPr>
              <a:t>排序一</a:t>
            </a:r>
          </a:p>
        </p:txBody>
      </p:sp>
      <p:sp>
        <p:nvSpPr>
          <p:cNvPr id="40969" name="Rectangle 17"/>
          <p:cNvSpPr/>
          <p:nvPr/>
        </p:nvSpPr>
        <p:spPr>
          <a:xfrm>
            <a:off x="1270819" y="3334574"/>
            <a:ext cx="3497826" cy="1359645"/>
          </a:xfrm>
          <a:prstGeom prst="rect">
            <a:avLst/>
          </a:prstGeom>
          <a:noFill/>
          <a:ln w="9525">
            <a:noFill/>
          </a:ln>
        </p:spPr>
        <p:txBody>
          <a:bodyPr/>
          <a:lstStyle/>
          <a:p>
            <a:pPr marL="257175" indent="-257175">
              <a:spcBef>
                <a:spcPct val="20000"/>
              </a:spcBef>
              <a:buClr>
                <a:schemeClr val="folHlink"/>
              </a:buClr>
            </a:pPr>
            <a:r>
              <a:rPr lang="en-US" altLang="zh-CN" dirty="0">
                <a:latin typeface="Microsoft YaHei" panose="020B0503020204020204" pitchFamily="34" charset="-122"/>
                <a:ea typeface="Microsoft YaHei" panose="020B0503020204020204" pitchFamily="34" charset="-122"/>
              </a:rPr>
              <a:t>SELECT sno</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sname</a:t>
            </a:r>
          </a:p>
          <a:p>
            <a:pPr marL="257175" indent="-257175">
              <a:spcBef>
                <a:spcPct val="20000"/>
              </a:spcBef>
              <a:buClr>
                <a:schemeClr val="folHlink"/>
              </a:buClr>
            </a:pPr>
            <a:r>
              <a:rPr lang="en-US" altLang="zh-CN" dirty="0">
                <a:latin typeface="Microsoft YaHei" panose="020B0503020204020204" pitchFamily="34" charset="-122"/>
                <a:ea typeface="Microsoft YaHei" panose="020B0503020204020204" pitchFamily="34" charset="-122"/>
              </a:rPr>
              <a:t>FROM  Student</a:t>
            </a:r>
          </a:p>
          <a:p>
            <a:pPr marL="257175" indent="-257175">
              <a:spcBef>
                <a:spcPct val="20000"/>
              </a:spcBef>
              <a:buClr>
                <a:schemeClr val="folHlink"/>
              </a:buClr>
            </a:pPr>
            <a:r>
              <a:rPr lang="en-US" altLang="zh-CN" dirty="0">
                <a:latin typeface="Microsoft YaHei" panose="020B0503020204020204" pitchFamily="34" charset="-122"/>
                <a:ea typeface="Microsoft YaHei" panose="020B0503020204020204" pitchFamily="34" charset="-122"/>
              </a:rPr>
              <a:t>WHERE  sex= ’</a:t>
            </a:r>
            <a:r>
              <a:rPr lang="zh-CN" altLang="en-US" dirty="0">
                <a:latin typeface="Microsoft YaHei" panose="020B0503020204020204" pitchFamily="34" charset="-122"/>
                <a:ea typeface="Microsoft YaHei" panose="020B0503020204020204" pitchFamily="34" charset="-122"/>
              </a:rPr>
              <a:t>男</a:t>
            </a:r>
            <a:r>
              <a:rPr lang="en-US" altLang="zh-CN" dirty="0">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a:p>
            <a:pPr marL="257175" indent="-257175">
              <a:spcBef>
                <a:spcPct val="20000"/>
              </a:spcBef>
              <a:buClr>
                <a:schemeClr val="folHlink"/>
              </a:buClr>
            </a:pPr>
            <a:r>
              <a:rPr lang="en-US" altLang="zh-CN" dirty="0">
                <a:latin typeface="Microsoft YaHei" panose="020B0503020204020204" pitchFamily="34" charset="-122"/>
                <a:ea typeface="Microsoft YaHei" panose="020B0503020204020204" pitchFamily="34" charset="-122"/>
              </a:rPr>
              <a:t>ORDER BY</a:t>
            </a:r>
            <a:r>
              <a:rPr lang="en-US" altLang="zh-CN" dirty="0">
                <a:solidFill>
                  <a:schemeClr val="folHlink"/>
                </a:solidFill>
                <a:latin typeface="Microsoft YaHei" panose="020B0503020204020204" pitchFamily="34" charset="-122"/>
                <a:ea typeface="Microsoft YaHei" panose="020B0503020204020204" pitchFamily="34" charset="-122"/>
              </a:rPr>
              <a:t> dept</a:t>
            </a:r>
            <a:r>
              <a:rPr lang="zh-CN" altLang="en-US" dirty="0">
                <a:solidFill>
                  <a:schemeClr val="folHlink"/>
                </a:solidFill>
                <a:latin typeface="Microsoft YaHei" panose="020B0503020204020204" pitchFamily="34" charset="-122"/>
                <a:ea typeface="Microsoft YaHei" panose="020B0503020204020204" pitchFamily="34" charset="-122"/>
              </a:rPr>
              <a:t>，</a:t>
            </a:r>
            <a:r>
              <a:rPr lang="en-US" altLang="zh-CN" dirty="0">
                <a:solidFill>
                  <a:schemeClr val="folHlink"/>
                </a:solidFill>
                <a:latin typeface="Microsoft YaHei" panose="020B0503020204020204" pitchFamily="34" charset="-122"/>
                <a:ea typeface="Microsoft YaHei" panose="020B0503020204020204" pitchFamily="34" charset="-122"/>
              </a:rPr>
              <a:t>age </a:t>
            </a:r>
            <a:r>
              <a:rPr lang="en-US" altLang="zh-CN" dirty="0">
                <a:solidFill>
                  <a:schemeClr val="hlink"/>
                </a:solidFill>
                <a:latin typeface="Microsoft YaHei" panose="020B0503020204020204" pitchFamily="34" charset="-122"/>
                <a:ea typeface="Microsoft YaHei" panose="020B0503020204020204" pitchFamily="34" charset="-122"/>
              </a:rPr>
              <a:t>DESC</a:t>
            </a:r>
            <a:r>
              <a:rPr lang="zh-CN" altLang="en-US" dirty="0">
                <a:latin typeface="Microsoft YaHei" panose="020B0503020204020204" pitchFamily="34" charset="-122"/>
                <a:ea typeface="Microsoft YaHei" panose="020B0503020204020204" pitchFamily="34" charset="-122"/>
              </a:rPr>
              <a:t>；</a:t>
            </a:r>
          </a:p>
          <a:p>
            <a:pPr marL="257175" indent="-257175">
              <a:lnSpc>
                <a:spcPct val="90000"/>
              </a:lnSpc>
              <a:spcBef>
                <a:spcPct val="20000"/>
              </a:spcBef>
              <a:buClr>
                <a:schemeClr val="folHlink"/>
              </a:buClr>
            </a:pPr>
            <a:r>
              <a:rPr lang="zh-CN" altLang="en-US" sz="1350" dirty="0">
                <a:latin typeface="Microsoft YaHei" panose="020B0503020204020204" pitchFamily="34" charset="-122"/>
                <a:ea typeface="Microsoft YaHei" panose="020B0503020204020204" pitchFamily="34" charset="-122"/>
              </a:rPr>
              <a:t>    </a:t>
            </a:r>
          </a:p>
        </p:txBody>
      </p:sp>
      <p:sp>
        <p:nvSpPr>
          <p:cNvPr id="5" name="标题 4">
            <a:extLst>
              <a:ext uri="{FF2B5EF4-FFF2-40B4-BE49-F238E27FC236}">
                <a16:creationId xmlns:a16="http://schemas.microsoft.com/office/drawing/2014/main" id="{8E24C05C-F805-36C6-3AFE-C57FF1901F78}"/>
              </a:ext>
            </a:extLst>
          </p:cNvPr>
          <p:cNvSpPr>
            <a:spLocks noGrp="1"/>
          </p:cNvSpPr>
          <p:nvPr>
            <p:ph type="title"/>
          </p:nvPr>
        </p:nvSpPr>
        <p:spPr/>
        <p:txBody>
          <a:bodyPr/>
          <a:lstStyle/>
          <a:p>
            <a:r>
              <a:rPr lang="zh-CN" altLang="en-US" dirty="0"/>
              <a:t>单表查询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7904"/>
                                        </p:tgtEl>
                                        <p:attrNameLst>
                                          <p:attrName>style.visibility</p:attrName>
                                        </p:attrNameLst>
                                      </p:cBhvr>
                                      <p:to>
                                        <p:strVal val="visible"/>
                                      </p:to>
                                    </p:set>
                                    <p:anim calcmode="lin" valueType="num">
                                      <p:cBhvr additive="base">
                                        <p:cTn id="19" dur="500" fill="hold"/>
                                        <p:tgtEl>
                                          <p:spTgt spid="37904"/>
                                        </p:tgtEl>
                                        <p:attrNameLst>
                                          <p:attrName>ppt_x</p:attrName>
                                        </p:attrNameLst>
                                      </p:cBhvr>
                                      <p:tavLst>
                                        <p:tav tm="0">
                                          <p:val>
                                            <p:strVal val="0-#ppt_w/2"/>
                                          </p:val>
                                        </p:tav>
                                        <p:tav tm="100000">
                                          <p:val>
                                            <p:strVal val="#ppt_x"/>
                                          </p:val>
                                        </p:tav>
                                      </p:tavLst>
                                    </p:anim>
                                    <p:anim calcmode="lin" valueType="num">
                                      <p:cBhvr additive="base">
                                        <p:cTn id="20" dur="500" fill="hold"/>
                                        <p:tgtEl>
                                          <p:spTgt spid="3790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7903"/>
                                        </p:tgtEl>
                                        <p:attrNameLst>
                                          <p:attrName>style.visibility</p:attrName>
                                        </p:attrNameLst>
                                      </p:cBhvr>
                                      <p:to>
                                        <p:strVal val="visible"/>
                                      </p:to>
                                    </p:set>
                                    <p:anim calcmode="lin" valueType="num">
                                      <p:cBhvr additive="base">
                                        <p:cTn id="25" dur="500" fill="hold"/>
                                        <p:tgtEl>
                                          <p:spTgt spid="37903"/>
                                        </p:tgtEl>
                                        <p:attrNameLst>
                                          <p:attrName>ppt_x</p:attrName>
                                        </p:attrNameLst>
                                      </p:cBhvr>
                                      <p:tavLst>
                                        <p:tav tm="0">
                                          <p:val>
                                            <p:strVal val="0-#ppt_w/2"/>
                                          </p:val>
                                        </p:tav>
                                        <p:tav tm="100000">
                                          <p:val>
                                            <p:strVal val="#ppt_x"/>
                                          </p:val>
                                        </p:tav>
                                      </p:tavLst>
                                    </p:anim>
                                    <p:anim calcmode="lin" valueType="num">
                                      <p:cBhvr additive="base">
                                        <p:cTn id="26" dur="500" fill="hold"/>
                                        <p:tgtEl>
                                          <p:spTgt spid="3790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0969"/>
                                        </p:tgtEl>
                                        <p:attrNameLst>
                                          <p:attrName>style.visibility</p:attrName>
                                        </p:attrNameLst>
                                      </p:cBhvr>
                                      <p:to>
                                        <p:strVal val="visible"/>
                                      </p:to>
                                    </p:set>
                                    <p:anim calcmode="lin" valueType="num">
                                      <p:cBhvr additive="base">
                                        <p:cTn id="31" dur="500" fill="hold"/>
                                        <p:tgtEl>
                                          <p:spTgt spid="40969"/>
                                        </p:tgtEl>
                                        <p:attrNameLst>
                                          <p:attrName>ppt_x</p:attrName>
                                        </p:attrNameLst>
                                      </p:cBhvr>
                                      <p:tavLst>
                                        <p:tav tm="0">
                                          <p:val>
                                            <p:strVal val="#ppt_x"/>
                                          </p:val>
                                        </p:tav>
                                        <p:tav tm="100000">
                                          <p:val>
                                            <p:strVal val="#ppt_x"/>
                                          </p:val>
                                        </p:tav>
                                      </p:tavLst>
                                    </p:anim>
                                    <p:anim calcmode="lin" valueType="num">
                                      <p:cBhvr additive="base">
                                        <p:cTn id="32" dur="500" fill="hold"/>
                                        <p:tgtEl>
                                          <p:spTgt spid="409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03" grpId="0" bldLvl="0" animBg="1"/>
      <p:bldP spid="37904" grpId="0" bldLvl="0" animBg="1"/>
      <p:bldP spid="4096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p:cNvSpPr>
          <p:nvPr>
            <p:ph idx="1"/>
          </p:nvPr>
        </p:nvSpPr>
        <p:spPr/>
        <p:txBody>
          <a:bodyPr vert="horz" wrap="square" lIns="68580" tIns="34290" rIns="68580" bIns="34290" rtlCol="0" anchor="t" anchorCtr="0">
            <a:normAutofit/>
          </a:bodyPr>
          <a:lstStyle/>
          <a:p>
            <a:pPr eaLnBrk="1" hangingPunct="1">
              <a:buSzTx/>
              <a:buFont typeface="Wingdings" panose="05000000000000000000" pitchFamily="2" charset="2"/>
              <a:buNone/>
            </a:pPr>
            <a:r>
              <a:rPr lang="zh-CN" altLang="en-US" sz="2400" b="1" dirty="0">
                <a:solidFill>
                  <a:srgbClr val="C00000"/>
                </a:solidFill>
              </a:rPr>
              <a:t>（</a:t>
            </a:r>
            <a:r>
              <a:rPr lang="en-US" altLang="zh-CN" sz="2400" b="1" dirty="0">
                <a:solidFill>
                  <a:srgbClr val="C00000"/>
                </a:solidFill>
              </a:rPr>
              <a:t>5</a:t>
            </a:r>
            <a:r>
              <a:rPr lang="zh-CN" altLang="en-US" sz="2400" b="1" dirty="0">
                <a:solidFill>
                  <a:srgbClr val="C00000"/>
                </a:solidFill>
              </a:rPr>
              <a:t>）表达式与函数的使用 </a:t>
            </a:r>
          </a:p>
          <a:p>
            <a:pPr eaLnBrk="1" hangingPunct="1">
              <a:buSzTx/>
              <a:buFont typeface="Wingdings" panose="05000000000000000000" pitchFamily="2" charset="2"/>
              <a:buNone/>
            </a:pPr>
            <a:r>
              <a:rPr lang="en-US" altLang="zh-CN" sz="2000" b="1" dirty="0">
                <a:solidFill>
                  <a:srgbClr val="00B050"/>
                </a:solidFill>
              </a:rPr>
              <a:t>①</a:t>
            </a:r>
            <a:r>
              <a:rPr lang="zh-CN" altLang="en-US" sz="2000" b="1" dirty="0">
                <a:solidFill>
                  <a:srgbClr val="00B050"/>
                </a:solidFill>
              </a:rPr>
              <a:t>使用聚集函数</a:t>
            </a:r>
          </a:p>
          <a:p>
            <a:pPr eaLnBrk="1" hangingPunct="1">
              <a:buSzTx/>
              <a:buFont typeface="Wingdings" panose="05000000000000000000" pitchFamily="2" charset="2"/>
              <a:buNone/>
            </a:pPr>
            <a:r>
              <a:rPr lang="zh-CN" altLang="en-US" sz="1800" b="1" dirty="0"/>
              <a:t>   COUNT(</a:t>
            </a:r>
            <a:r>
              <a:rPr lang="zh-CN" altLang="en-US" sz="1800" b="1" dirty="0">
                <a:solidFill>
                  <a:schemeClr val="folHlink"/>
                </a:solidFill>
              </a:rPr>
              <a:t>[DISTINCT | ALL]</a:t>
            </a:r>
            <a:r>
              <a:rPr lang="zh-CN" altLang="en-US" sz="1800" b="1" dirty="0"/>
              <a:t> * )     统计元组个数</a:t>
            </a:r>
          </a:p>
          <a:p>
            <a:pPr eaLnBrk="1" hangingPunct="1">
              <a:buSzTx/>
              <a:buFont typeface="Wingdings" panose="05000000000000000000" pitchFamily="2" charset="2"/>
              <a:buNone/>
            </a:pPr>
            <a:r>
              <a:rPr lang="zh-CN" altLang="en-US" sz="1800" b="1" dirty="0"/>
              <a:t>   COUNT(</a:t>
            </a:r>
            <a:r>
              <a:rPr lang="zh-CN" altLang="en-US" sz="1800" b="1" dirty="0">
                <a:solidFill>
                  <a:schemeClr val="folHlink"/>
                </a:solidFill>
              </a:rPr>
              <a:t>[DISTINCT | ALL]</a:t>
            </a:r>
            <a:r>
              <a:rPr lang="zh-CN" altLang="en-US" sz="1800" b="1" dirty="0"/>
              <a:t>&lt;列名&gt;)  统计一列中值的个数</a:t>
            </a:r>
          </a:p>
          <a:p>
            <a:pPr eaLnBrk="1" hangingPunct="1">
              <a:buSzTx/>
              <a:buFont typeface="Wingdings" panose="05000000000000000000" pitchFamily="2" charset="2"/>
              <a:buNone/>
            </a:pPr>
            <a:r>
              <a:rPr lang="zh-CN" altLang="en-US" sz="1800" b="1" dirty="0"/>
              <a:t>   SUM(</a:t>
            </a:r>
            <a:r>
              <a:rPr lang="zh-CN" altLang="en-US" sz="1800" b="1" dirty="0">
                <a:solidFill>
                  <a:schemeClr val="folHlink"/>
                </a:solidFill>
              </a:rPr>
              <a:t>[DISTINCT | ALL]</a:t>
            </a:r>
            <a:r>
              <a:rPr lang="zh-CN" altLang="en-US" sz="1800" b="1" dirty="0"/>
              <a:t>&lt;列名&gt; )   计算一数值型列值的总和</a:t>
            </a:r>
          </a:p>
          <a:p>
            <a:pPr eaLnBrk="1" hangingPunct="1">
              <a:buSzTx/>
              <a:buFont typeface="Wingdings" panose="05000000000000000000" pitchFamily="2" charset="2"/>
              <a:buNone/>
            </a:pPr>
            <a:r>
              <a:rPr lang="zh-CN" altLang="en-US" sz="1800" b="1" dirty="0"/>
              <a:t>   AVG(</a:t>
            </a:r>
            <a:r>
              <a:rPr lang="zh-CN" altLang="en-US" sz="1800" b="1" dirty="0">
                <a:solidFill>
                  <a:schemeClr val="folHlink"/>
                </a:solidFill>
              </a:rPr>
              <a:t>[DISTINCT | ALL]</a:t>
            </a:r>
            <a:r>
              <a:rPr lang="zh-CN" altLang="en-US" sz="1800" b="1" dirty="0"/>
              <a:t>&lt;列名&gt; )   计算一数值型列值的平均值</a:t>
            </a:r>
          </a:p>
          <a:p>
            <a:pPr eaLnBrk="1" hangingPunct="1">
              <a:buSzTx/>
              <a:buFont typeface="Wingdings" panose="05000000000000000000" pitchFamily="2" charset="2"/>
              <a:buNone/>
            </a:pPr>
            <a:r>
              <a:rPr lang="zh-CN" altLang="en-US" sz="1800" b="1" dirty="0"/>
              <a:t>   MAX(</a:t>
            </a:r>
            <a:r>
              <a:rPr lang="zh-CN" altLang="en-US" sz="1800" b="1" dirty="0">
                <a:solidFill>
                  <a:schemeClr val="folHlink"/>
                </a:solidFill>
              </a:rPr>
              <a:t>[DISTINCT | ALL]</a:t>
            </a:r>
            <a:r>
              <a:rPr lang="zh-CN" altLang="en-US" sz="1800" b="1" dirty="0"/>
              <a:t>&lt;列名&gt; )   求一列值的最大值</a:t>
            </a:r>
          </a:p>
          <a:p>
            <a:pPr eaLnBrk="1" hangingPunct="1">
              <a:buSzTx/>
              <a:buFont typeface="Wingdings" panose="05000000000000000000" pitchFamily="2" charset="2"/>
              <a:buNone/>
            </a:pPr>
            <a:r>
              <a:rPr lang="zh-CN" altLang="en-US" sz="1800" b="1" dirty="0"/>
              <a:t>   MIN(</a:t>
            </a:r>
            <a:r>
              <a:rPr lang="zh-CN" altLang="en-US" sz="1800" b="1" dirty="0">
                <a:solidFill>
                  <a:schemeClr val="folHlink"/>
                </a:solidFill>
              </a:rPr>
              <a:t>[DISTINCT | ALL]</a:t>
            </a:r>
            <a:r>
              <a:rPr lang="zh-CN" altLang="en-US" sz="1800" b="1" dirty="0"/>
              <a:t>&lt;列名&gt; )   求一列值的最小值</a:t>
            </a:r>
          </a:p>
        </p:txBody>
      </p:sp>
      <p:sp>
        <p:nvSpPr>
          <p:cNvPr id="38916" name="AutoShape 4"/>
          <p:cNvSpPr/>
          <p:nvPr/>
        </p:nvSpPr>
        <p:spPr>
          <a:xfrm>
            <a:off x="4438688" y="1314670"/>
            <a:ext cx="848916" cy="326231"/>
          </a:xfrm>
          <a:prstGeom prst="wedgeRoundRectCallout">
            <a:avLst>
              <a:gd name="adj1" fmla="val -142028"/>
              <a:gd name="adj2" fmla="val 129736"/>
              <a:gd name="adj3" fmla="val 16667"/>
            </a:avLst>
          </a:prstGeom>
          <a:solidFill>
            <a:srgbClr val="FFF1B5"/>
          </a:solidFill>
          <a:ln w="9525" cap="flat" cmpd="sng">
            <a:solidFill>
              <a:schemeClr val="tx1"/>
            </a:solidFill>
            <a:prstDash val="solid"/>
            <a:miter/>
            <a:headEnd type="none" w="med" len="med"/>
            <a:tailEnd type="none" w="med" len="med"/>
          </a:ln>
        </p:spPr>
        <p:txBody>
          <a:bodyPr/>
          <a:lstStyle/>
          <a:p>
            <a:pPr algn="ctr"/>
            <a:r>
              <a:rPr lang="zh-CN" altLang="en-US" sz="1500" dirty="0">
                <a:latin typeface="Microsoft YaHei" panose="020B0503020204020204" pitchFamily="34" charset="-122"/>
                <a:ea typeface="Microsoft YaHei" panose="020B0503020204020204" pitchFamily="34" charset="-122"/>
              </a:rPr>
              <a:t>缺省值</a:t>
            </a:r>
          </a:p>
        </p:txBody>
      </p:sp>
      <p:sp>
        <p:nvSpPr>
          <p:cNvPr id="38917" name="AutoShape 5"/>
          <p:cNvSpPr/>
          <p:nvPr/>
        </p:nvSpPr>
        <p:spPr>
          <a:xfrm>
            <a:off x="2738168" y="1446852"/>
            <a:ext cx="1085081" cy="326231"/>
          </a:xfrm>
          <a:prstGeom prst="wedgeRoundRectCallout">
            <a:avLst>
              <a:gd name="adj1" fmla="val -53304"/>
              <a:gd name="adj2" fmla="val 75792"/>
              <a:gd name="adj3" fmla="val 16667"/>
            </a:avLst>
          </a:prstGeom>
          <a:solidFill>
            <a:srgbClr val="FFF1B5"/>
          </a:solidFill>
          <a:ln w="9525" cap="flat" cmpd="sng">
            <a:solidFill>
              <a:schemeClr val="tx1"/>
            </a:solidFill>
            <a:prstDash val="solid"/>
            <a:miter/>
            <a:headEnd type="none" w="med" len="med"/>
            <a:tailEnd type="none" w="med" len="med"/>
          </a:ln>
        </p:spPr>
        <p:txBody>
          <a:bodyPr/>
          <a:lstStyle/>
          <a:p>
            <a:pPr algn="ctr">
              <a:spcBef>
                <a:spcPct val="20000"/>
              </a:spcBef>
              <a:buClr>
                <a:schemeClr val="folHlink"/>
              </a:buClr>
            </a:pPr>
            <a:r>
              <a:rPr lang="zh-CN" altLang="en-US" sz="1500" dirty="0">
                <a:latin typeface="Microsoft YaHei" panose="020B0503020204020204" pitchFamily="34" charset="-122"/>
                <a:ea typeface="Microsoft YaHei" panose="020B0503020204020204" pitchFamily="34" charset="-122"/>
              </a:rPr>
              <a:t>无重复值</a:t>
            </a:r>
          </a:p>
        </p:txBody>
      </p:sp>
      <p:sp>
        <p:nvSpPr>
          <p:cNvPr id="3" name="标题 2">
            <a:extLst>
              <a:ext uri="{FF2B5EF4-FFF2-40B4-BE49-F238E27FC236}">
                <a16:creationId xmlns:a16="http://schemas.microsoft.com/office/drawing/2014/main" id="{8895D645-4A8E-089A-7D77-64A831371A93}"/>
              </a:ext>
            </a:extLst>
          </p:cNvPr>
          <p:cNvSpPr>
            <a:spLocks noGrp="1"/>
          </p:cNvSpPr>
          <p:nvPr>
            <p:ph type="title"/>
          </p:nvPr>
        </p:nvSpPr>
        <p:spPr/>
        <p:txBody>
          <a:bodyPr/>
          <a:lstStyle/>
          <a:p>
            <a:r>
              <a:rPr lang="zh-CN" altLang="en-US" dirty="0"/>
              <a:t>单表查询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917"/>
                                        </p:tgtEl>
                                        <p:attrNameLst>
                                          <p:attrName>style.visibility</p:attrName>
                                        </p:attrNameLst>
                                      </p:cBhvr>
                                      <p:to>
                                        <p:strVal val="visible"/>
                                      </p:to>
                                    </p:set>
                                    <p:anim calcmode="lin" valueType="num">
                                      <p:cBhvr additive="base">
                                        <p:cTn id="7" dur="500" fill="hold"/>
                                        <p:tgtEl>
                                          <p:spTgt spid="38917"/>
                                        </p:tgtEl>
                                        <p:attrNameLst>
                                          <p:attrName>ppt_x</p:attrName>
                                        </p:attrNameLst>
                                      </p:cBhvr>
                                      <p:tavLst>
                                        <p:tav tm="0">
                                          <p:val>
                                            <p:strVal val="0-#ppt_w/2"/>
                                          </p:val>
                                        </p:tav>
                                        <p:tav tm="100000">
                                          <p:val>
                                            <p:strVal val="#ppt_x"/>
                                          </p:val>
                                        </p:tav>
                                      </p:tavLst>
                                    </p:anim>
                                    <p:anim calcmode="lin" valueType="num">
                                      <p:cBhvr additive="base">
                                        <p:cTn id="8" dur="500" fill="hold"/>
                                        <p:tgtEl>
                                          <p:spTgt spid="389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916"/>
                                        </p:tgtEl>
                                        <p:attrNameLst>
                                          <p:attrName>style.visibility</p:attrName>
                                        </p:attrNameLst>
                                      </p:cBhvr>
                                      <p:to>
                                        <p:strVal val="visible"/>
                                      </p:to>
                                    </p:set>
                                    <p:anim calcmode="lin" valueType="num">
                                      <p:cBhvr additive="base">
                                        <p:cTn id="13" dur="500" fill="hold"/>
                                        <p:tgtEl>
                                          <p:spTgt spid="38916"/>
                                        </p:tgtEl>
                                        <p:attrNameLst>
                                          <p:attrName>ppt_x</p:attrName>
                                        </p:attrNameLst>
                                      </p:cBhvr>
                                      <p:tavLst>
                                        <p:tav tm="0">
                                          <p:val>
                                            <p:strVal val="0-#ppt_w/2"/>
                                          </p:val>
                                        </p:tav>
                                        <p:tav tm="100000">
                                          <p:val>
                                            <p:strVal val="#ppt_x"/>
                                          </p:val>
                                        </p:tav>
                                      </p:tavLst>
                                    </p:anim>
                                    <p:anim calcmode="lin" valueType="num">
                                      <p:cBhvr additive="base">
                                        <p:cTn id="14" dur="500" fill="hold"/>
                                        <p:tgtEl>
                                          <p:spTgt spid="389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bldLvl="0" animBg="1"/>
      <p:bldP spid="38917"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p:cNvSpPr>
          <p:nvPr>
            <p:ph idx="1"/>
          </p:nvPr>
        </p:nvSpPr>
        <p:spPr/>
        <p:txBody>
          <a:bodyPr vert="horz" wrap="square" lIns="68580" tIns="34290" rIns="68580" bIns="34290" anchor="t" anchorCtr="0">
            <a:normAutofit fontScale="92500" lnSpcReduction="20000"/>
          </a:bodyPr>
          <a:lstStyle/>
          <a:p>
            <a:pPr marL="0" indent="0">
              <a:lnSpc>
                <a:spcPct val="100000"/>
              </a:lnSpc>
              <a:buNone/>
            </a:pPr>
            <a:r>
              <a:rPr lang="en-US" altLang="zh-CN" sz="1800" b="1" dirty="0">
                <a:solidFill>
                  <a:schemeClr val="hlink"/>
                </a:solidFill>
              </a:rPr>
              <a:t>[</a:t>
            </a:r>
            <a:r>
              <a:rPr lang="zh-CN" altLang="en-US" sz="1800" b="1" dirty="0">
                <a:solidFill>
                  <a:schemeClr val="hlink"/>
                </a:solidFill>
              </a:rPr>
              <a:t>例</a:t>
            </a:r>
            <a:r>
              <a:rPr lang="en-US" altLang="zh-CN" sz="1800" b="1" dirty="0">
                <a:solidFill>
                  <a:schemeClr val="hlink"/>
                </a:solidFill>
              </a:rPr>
              <a:t>]</a:t>
            </a:r>
            <a:r>
              <a:rPr lang="zh-CN" altLang="en-US" sz="1800" b="1" dirty="0"/>
              <a:t>查询女学生的总人数和平均年龄。</a:t>
            </a:r>
          </a:p>
          <a:p>
            <a:pPr marL="0" indent="0">
              <a:lnSpc>
                <a:spcPct val="100000"/>
              </a:lnSpc>
              <a:buNone/>
            </a:pPr>
            <a:r>
              <a:rPr lang="zh-CN" altLang="en-US" sz="1800" dirty="0"/>
              <a:t>     SELECT </a:t>
            </a:r>
            <a:r>
              <a:rPr lang="zh-CN" altLang="en-US" sz="1800" dirty="0">
                <a:solidFill>
                  <a:schemeClr val="hlink"/>
                </a:solidFill>
              </a:rPr>
              <a:t>COUNT(*)</a:t>
            </a:r>
            <a:r>
              <a:rPr lang="zh-CN" altLang="en-US" sz="1800" dirty="0"/>
              <a:t> AS 女学生人数,</a:t>
            </a:r>
            <a:r>
              <a:rPr lang="zh-CN" altLang="en-US" sz="1800" dirty="0">
                <a:solidFill>
                  <a:schemeClr val="hlink"/>
                </a:solidFill>
              </a:rPr>
              <a:t>AVG(age)</a:t>
            </a:r>
            <a:r>
              <a:rPr lang="zh-CN" altLang="en-US" sz="1800" dirty="0"/>
              <a:t> AS 平均年龄</a:t>
            </a:r>
          </a:p>
          <a:p>
            <a:pPr marL="0" indent="0">
              <a:lnSpc>
                <a:spcPct val="100000"/>
              </a:lnSpc>
              <a:buNone/>
            </a:pPr>
            <a:r>
              <a:rPr lang="zh-CN" altLang="en-US" sz="1800" dirty="0"/>
              <a:t>     FROM Student</a:t>
            </a:r>
          </a:p>
          <a:p>
            <a:pPr marL="0" indent="0">
              <a:lnSpc>
                <a:spcPct val="100000"/>
              </a:lnSpc>
              <a:buNone/>
            </a:pPr>
            <a:r>
              <a:rPr lang="zh-CN" altLang="en-US" sz="1800" dirty="0"/>
              <a:t>     WHERE sex=‘女’;</a:t>
            </a:r>
          </a:p>
          <a:p>
            <a:pPr marL="0" indent="0">
              <a:lnSpc>
                <a:spcPct val="100000"/>
              </a:lnSpc>
              <a:buNone/>
            </a:pPr>
            <a:r>
              <a:rPr lang="zh-CN" altLang="en-US" sz="1800" b="1" dirty="0">
                <a:solidFill>
                  <a:schemeClr val="hlink"/>
                </a:solidFill>
              </a:rPr>
              <a:t>[例]</a:t>
            </a:r>
            <a:r>
              <a:rPr lang="zh-CN" altLang="en-US" sz="1800" b="1" dirty="0"/>
              <a:t>查询选修了课程的学生人数。</a:t>
            </a:r>
          </a:p>
          <a:p>
            <a:pPr marL="0" indent="0">
              <a:lnSpc>
                <a:spcPct val="100000"/>
              </a:lnSpc>
              <a:buNone/>
            </a:pPr>
            <a:r>
              <a:rPr lang="zh-CN" altLang="en-US" sz="1800" dirty="0"/>
              <a:t>    SELECT COUNT(</a:t>
            </a:r>
            <a:r>
              <a:rPr lang="zh-CN" altLang="en-US" sz="1800" dirty="0">
                <a:solidFill>
                  <a:schemeClr val="hlink"/>
                </a:solidFill>
              </a:rPr>
              <a:t>DISTINCT</a:t>
            </a:r>
            <a:r>
              <a:rPr lang="zh-CN" altLang="en-US" sz="1800" dirty="0"/>
              <a:t> sno) AS 选课学生人数</a:t>
            </a:r>
          </a:p>
          <a:p>
            <a:pPr marL="0" indent="0">
              <a:lnSpc>
                <a:spcPct val="100000"/>
              </a:lnSpc>
              <a:buNone/>
            </a:pPr>
            <a:r>
              <a:rPr lang="zh-CN" altLang="en-US" sz="1800" dirty="0"/>
              <a:t>    FROM SC;</a:t>
            </a:r>
          </a:p>
          <a:p>
            <a:pPr marL="0" indent="0">
              <a:lnSpc>
                <a:spcPct val="100000"/>
              </a:lnSpc>
              <a:buNone/>
            </a:pPr>
            <a:r>
              <a:rPr lang="zh-CN" altLang="en-US" sz="1800" b="1" dirty="0">
                <a:solidFill>
                  <a:schemeClr val="hlink"/>
                </a:solidFill>
              </a:rPr>
              <a:t>[例]</a:t>
            </a:r>
            <a:r>
              <a:rPr lang="zh-CN" altLang="en-US" sz="1800" b="1" dirty="0"/>
              <a:t>查询选修001号课程并及格的学生的最高分数、最低分及总分。</a:t>
            </a:r>
          </a:p>
          <a:p>
            <a:pPr marL="0" indent="0">
              <a:lnSpc>
                <a:spcPct val="100000"/>
              </a:lnSpc>
              <a:buNone/>
            </a:pPr>
            <a:r>
              <a:rPr lang="zh-CN" altLang="en-US" sz="1800" dirty="0"/>
              <a:t> </a:t>
            </a:r>
            <a:r>
              <a:rPr lang="zh-CN" altLang="en-US" sz="1600" dirty="0"/>
              <a:t>   </a:t>
            </a:r>
            <a:r>
              <a:rPr lang="zh-CN" altLang="en-US" sz="1500" dirty="0"/>
              <a:t>SELECT </a:t>
            </a:r>
            <a:r>
              <a:rPr lang="zh-CN" altLang="en-US" sz="1500" dirty="0">
                <a:solidFill>
                  <a:schemeClr val="hlink"/>
                </a:solidFill>
              </a:rPr>
              <a:t>MAX(grade)</a:t>
            </a:r>
            <a:r>
              <a:rPr lang="zh-CN" altLang="en-US" sz="1500" dirty="0"/>
              <a:t> AS 最高分,</a:t>
            </a:r>
            <a:r>
              <a:rPr lang="zh-CN" altLang="en-US" sz="1500" dirty="0">
                <a:solidFill>
                  <a:schemeClr val="hlink"/>
                </a:solidFill>
              </a:rPr>
              <a:t>MIN(grade)</a:t>
            </a:r>
            <a:r>
              <a:rPr lang="zh-CN" altLang="en-US" sz="1500" dirty="0"/>
              <a:t> AS 最低分,</a:t>
            </a:r>
            <a:r>
              <a:rPr lang="zh-CN" altLang="en-US" sz="1500" dirty="0">
                <a:solidFill>
                  <a:schemeClr val="hlink"/>
                </a:solidFill>
              </a:rPr>
              <a:t>SUM(grade)</a:t>
            </a:r>
            <a:r>
              <a:rPr lang="zh-CN" altLang="en-US" sz="1500" dirty="0"/>
              <a:t> AS 总分</a:t>
            </a:r>
          </a:p>
          <a:p>
            <a:pPr marL="0" indent="0">
              <a:lnSpc>
                <a:spcPct val="100000"/>
              </a:lnSpc>
              <a:buNone/>
            </a:pPr>
            <a:r>
              <a:rPr lang="zh-CN" altLang="en-US" sz="1500" dirty="0"/>
              <a:t>    FROM SC</a:t>
            </a:r>
          </a:p>
          <a:p>
            <a:pPr marL="0" indent="0">
              <a:lnSpc>
                <a:spcPct val="100000"/>
              </a:lnSpc>
              <a:buNone/>
            </a:pPr>
            <a:r>
              <a:rPr lang="zh-CN" altLang="en-US" sz="1500" dirty="0"/>
              <a:t>    WHERE cno=‘001’</a:t>
            </a:r>
            <a:r>
              <a:rPr lang="en-US" altLang="zh-CN" sz="1500" dirty="0"/>
              <a:t>AND</a:t>
            </a:r>
            <a:r>
              <a:rPr lang="zh-CN" altLang="en-US" sz="1500" dirty="0"/>
              <a:t> grade&gt;=60;</a:t>
            </a:r>
          </a:p>
        </p:txBody>
      </p:sp>
      <p:sp>
        <p:nvSpPr>
          <p:cNvPr id="3" name="标题 2">
            <a:extLst>
              <a:ext uri="{FF2B5EF4-FFF2-40B4-BE49-F238E27FC236}">
                <a16:creationId xmlns:a16="http://schemas.microsoft.com/office/drawing/2014/main" id="{5E0F9548-A3F7-1A27-D34A-E2B704608436}"/>
              </a:ext>
            </a:extLst>
          </p:cNvPr>
          <p:cNvSpPr>
            <a:spLocks noGrp="1"/>
          </p:cNvSpPr>
          <p:nvPr>
            <p:ph type="title"/>
          </p:nvPr>
        </p:nvSpPr>
        <p:spPr/>
        <p:txBody>
          <a:bodyPr/>
          <a:lstStyle/>
          <a:p>
            <a:r>
              <a:rPr lang="zh-CN" altLang="en-US" dirty="0"/>
              <a:t>单表查询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011">
                                            <p:txEl>
                                              <p:pRg st="1" end="1"/>
                                            </p:txEl>
                                          </p:spTgt>
                                        </p:tgtEl>
                                        <p:attrNameLst>
                                          <p:attrName>style.visibility</p:attrName>
                                        </p:attrNameLst>
                                      </p:cBhvr>
                                      <p:to>
                                        <p:strVal val="visible"/>
                                      </p:to>
                                    </p:set>
                                    <p:anim calcmode="lin" valueType="num">
                                      <p:cBhvr additive="base">
                                        <p:cTn id="7"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3011">
                                            <p:txEl>
                                              <p:pRg st="2" end="2"/>
                                            </p:txEl>
                                          </p:spTgt>
                                        </p:tgtEl>
                                        <p:attrNameLst>
                                          <p:attrName>style.visibility</p:attrName>
                                        </p:attrNameLst>
                                      </p:cBhvr>
                                      <p:to>
                                        <p:strVal val="visible"/>
                                      </p:to>
                                    </p:set>
                                    <p:anim calcmode="lin" valueType="num">
                                      <p:cBhvr additive="base">
                                        <p:cTn id="11" dur="500" fill="hold"/>
                                        <p:tgtEl>
                                          <p:spTgt spid="43011">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3011">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3011">
                                            <p:txEl>
                                              <p:pRg st="3" end="3"/>
                                            </p:txEl>
                                          </p:spTgt>
                                        </p:tgtEl>
                                        <p:attrNameLst>
                                          <p:attrName>style.visibility</p:attrName>
                                        </p:attrNameLst>
                                      </p:cBhvr>
                                      <p:to>
                                        <p:strVal val="visible"/>
                                      </p:to>
                                    </p:set>
                                    <p:anim calcmode="lin" valueType="num">
                                      <p:cBhvr additive="base">
                                        <p:cTn id="15" dur="500" fill="hold"/>
                                        <p:tgtEl>
                                          <p:spTgt spid="43011">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30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3011">
                                            <p:txEl>
                                              <p:pRg st="5" end="5"/>
                                            </p:txEl>
                                          </p:spTgt>
                                        </p:tgtEl>
                                        <p:attrNameLst>
                                          <p:attrName>style.visibility</p:attrName>
                                        </p:attrNameLst>
                                      </p:cBhvr>
                                      <p:to>
                                        <p:strVal val="visible"/>
                                      </p:to>
                                    </p:set>
                                    <p:anim calcmode="lin" valueType="num">
                                      <p:cBhvr additive="base">
                                        <p:cTn id="21" dur="500" fill="hold"/>
                                        <p:tgtEl>
                                          <p:spTgt spid="43011">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3011">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3011">
                                            <p:txEl>
                                              <p:pRg st="6" end="6"/>
                                            </p:txEl>
                                          </p:spTgt>
                                        </p:tgtEl>
                                        <p:attrNameLst>
                                          <p:attrName>style.visibility</p:attrName>
                                        </p:attrNameLst>
                                      </p:cBhvr>
                                      <p:to>
                                        <p:strVal val="visible"/>
                                      </p:to>
                                    </p:set>
                                    <p:anim calcmode="lin" valueType="num">
                                      <p:cBhvr additive="base">
                                        <p:cTn id="25" dur="500" fill="hold"/>
                                        <p:tgtEl>
                                          <p:spTgt spid="43011">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301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3011">
                                            <p:txEl>
                                              <p:pRg st="8" end="8"/>
                                            </p:txEl>
                                          </p:spTgt>
                                        </p:tgtEl>
                                        <p:attrNameLst>
                                          <p:attrName>style.visibility</p:attrName>
                                        </p:attrNameLst>
                                      </p:cBhvr>
                                      <p:to>
                                        <p:strVal val="visible"/>
                                      </p:to>
                                    </p:set>
                                    <p:anim calcmode="lin" valueType="num">
                                      <p:cBhvr additive="base">
                                        <p:cTn id="31" dur="500" fill="hold"/>
                                        <p:tgtEl>
                                          <p:spTgt spid="43011">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3011">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3011">
                                            <p:txEl>
                                              <p:pRg st="9" end="9"/>
                                            </p:txEl>
                                          </p:spTgt>
                                        </p:tgtEl>
                                        <p:attrNameLst>
                                          <p:attrName>style.visibility</p:attrName>
                                        </p:attrNameLst>
                                      </p:cBhvr>
                                      <p:to>
                                        <p:strVal val="visible"/>
                                      </p:to>
                                    </p:set>
                                    <p:anim calcmode="lin" valueType="num">
                                      <p:cBhvr additive="base">
                                        <p:cTn id="35" dur="500" fill="hold"/>
                                        <p:tgtEl>
                                          <p:spTgt spid="43011">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3011">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3011">
                                            <p:txEl>
                                              <p:pRg st="10" end="10"/>
                                            </p:txEl>
                                          </p:spTgt>
                                        </p:tgtEl>
                                        <p:attrNameLst>
                                          <p:attrName>style.visibility</p:attrName>
                                        </p:attrNameLst>
                                      </p:cBhvr>
                                      <p:to>
                                        <p:strVal val="visible"/>
                                      </p:to>
                                    </p:set>
                                    <p:anim calcmode="lin" valueType="num">
                                      <p:cBhvr additive="base">
                                        <p:cTn id="39" dur="500" fill="hold"/>
                                        <p:tgtEl>
                                          <p:spTgt spid="43011">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3011">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734338" y="1524000"/>
            <a:ext cx="7690792" cy="2792362"/>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0" indent="0" eaLnBrk="1" hangingPunct="1">
              <a:buNone/>
            </a:pPr>
            <a:r>
              <a:rPr lang="en-US" altLang="zh-CN" sz="2000" b="1" dirty="0">
                <a:solidFill>
                  <a:srgbClr val="00B050"/>
                </a:solidFill>
                <a:latin typeface="Microsoft YaHei" panose="020B0503020204020204" pitchFamily="34" charset="-122"/>
                <a:ea typeface="Microsoft YaHei" panose="020B0503020204020204" pitchFamily="34" charset="-122"/>
              </a:rPr>
              <a:t>②</a:t>
            </a:r>
            <a:r>
              <a:rPr lang="zh-CN" altLang="en-US" sz="2000" b="1" dirty="0">
                <a:solidFill>
                  <a:srgbClr val="00B050"/>
                </a:solidFill>
                <a:latin typeface="Microsoft YaHei" panose="020B0503020204020204" pitchFamily="34" charset="-122"/>
                <a:ea typeface="Microsoft YaHei" panose="020B0503020204020204" pitchFamily="34" charset="-122"/>
              </a:rPr>
              <a:t>使用表达式</a:t>
            </a:r>
          </a:p>
          <a:p>
            <a:pPr marL="0" indent="0" eaLnBrk="1" hangingPunct="1">
              <a:buNone/>
            </a:pPr>
            <a:endParaRPr lang="en-US" altLang="zh-CN" sz="2000" b="1" dirty="0">
              <a:solidFill>
                <a:schemeClr val="hlink"/>
              </a:solidFill>
              <a:latin typeface="Microsoft YaHei" panose="020B0503020204020204" pitchFamily="34" charset="-122"/>
              <a:ea typeface="Microsoft YaHei" panose="020B0503020204020204" pitchFamily="34" charset="-122"/>
            </a:endParaRPr>
          </a:p>
          <a:p>
            <a:pPr marL="0" indent="0" eaLnBrk="1" hangingPunct="1">
              <a:buNone/>
            </a:pPr>
            <a:r>
              <a:rPr lang="zh-CN" altLang="en-US" sz="2000" b="1" dirty="0">
                <a:solidFill>
                  <a:schemeClr val="hlink"/>
                </a:solidFill>
                <a:latin typeface="Microsoft YaHei" panose="020B0503020204020204" pitchFamily="34" charset="-122"/>
                <a:ea typeface="Microsoft YaHei" panose="020B0503020204020204" pitchFamily="34" charset="-122"/>
              </a:rPr>
              <a:t>[例] </a:t>
            </a:r>
            <a:r>
              <a:rPr lang="zh-CN" altLang="en-US" sz="2000" b="1" dirty="0">
                <a:latin typeface="Microsoft YaHei" panose="020B0503020204020204" pitchFamily="34" charset="-122"/>
                <a:ea typeface="Microsoft YaHei" panose="020B0503020204020204" pitchFamily="34" charset="-122"/>
              </a:rPr>
              <a:t>查询各课程的学时数。</a:t>
            </a:r>
          </a:p>
          <a:p>
            <a:pPr marL="0" indent="0" eaLnBrk="1" hangingPunct="1">
              <a:buNone/>
            </a:pPr>
            <a:r>
              <a:rPr lang="zh-CN" altLang="en-US" sz="2000" b="1" dirty="0">
                <a:latin typeface="Microsoft YaHei" panose="020B0503020204020204" pitchFamily="34" charset="-122"/>
                <a:ea typeface="Microsoft YaHei" panose="020B0503020204020204" pitchFamily="34" charset="-122"/>
              </a:rPr>
              <a:t>  SELECT cname AS course_name,</a:t>
            </a:r>
            <a:r>
              <a:rPr lang="zh-CN" altLang="en-US" sz="2000" b="1" dirty="0">
                <a:solidFill>
                  <a:schemeClr val="hlink"/>
                </a:solidFill>
                <a:latin typeface="Microsoft YaHei" panose="020B0503020204020204" pitchFamily="34" charset="-122"/>
                <a:ea typeface="Microsoft YaHei" panose="020B0503020204020204" pitchFamily="34" charset="-122"/>
              </a:rPr>
              <a:t>credit*18</a:t>
            </a:r>
            <a:r>
              <a:rPr lang="zh-CN" altLang="en-US" sz="2000" b="1" dirty="0">
                <a:latin typeface="Microsoft YaHei" panose="020B0503020204020204" pitchFamily="34" charset="-122"/>
                <a:ea typeface="Microsoft YaHei" panose="020B0503020204020204" pitchFamily="34" charset="-122"/>
              </a:rPr>
              <a:t> AS course_time</a:t>
            </a:r>
          </a:p>
          <a:p>
            <a:pPr marL="0" indent="0" eaLnBrk="1" hangingPunct="1">
              <a:buNone/>
            </a:pPr>
            <a:r>
              <a:rPr lang="zh-CN" altLang="en-US" sz="2000" b="1" dirty="0">
                <a:latin typeface="Microsoft YaHei" panose="020B0503020204020204" pitchFamily="34" charset="-122"/>
                <a:ea typeface="Microsoft YaHei" panose="020B0503020204020204" pitchFamily="34" charset="-122"/>
              </a:rPr>
              <a:t>  FROM </a:t>
            </a:r>
            <a:r>
              <a:rPr lang="en-US" altLang="zh-CN" sz="2000" b="1" dirty="0">
                <a:latin typeface="Microsoft YaHei" panose="020B0503020204020204" pitchFamily="34" charset="-122"/>
                <a:ea typeface="Microsoft YaHei" panose="020B0503020204020204" pitchFamily="34" charset="-122"/>
              </a:rPr>
              <a:t>C</a:t>
            </a:r>
            <a:r>
              <a:rPr lang="zh-CN" altLang="en-US" sz="2000" b="1" dirty="0">
                <a:latin typeface="Microsoft YaHei" panose="020B0503020204020204" pitchFamily="34" charset="-122"/>
                <a:ea typeface="Microsoft YaHei" panose="020B0503020204020204" pitchFamily="34" charset="-122"/>
              </a:rPr>
              <a:t>ourse;</a:t>
            </a:r>
          </a:p>
          <a:p>
            <a:pPr marL="0" indent="0" eaLnBrk="1" hangingPunct="1">
              <a:buNone/>
            </a:pPr>
            <a:endParaRPr lang="zh-CN" altLang="en-US" sz="2000" dirty="0">
              <a:latin typeface="Microsoft YaHei" panose="020B0503020204020204" pitchFamily="34" charset="-122"/>
              <a:ea typeface="Microsoft YaHei" panose="020B0503020204020204" pitchFamily="34" charset="-122"/>
            </a:endParaRPr>
          </a:p>
        </p:txBody>
      </p:sp>
      <p:sp>
        <p:nvSpPr>
          <p:cNvPr id="6" name="标题 5">
            <a:extLst>
              <a:ext uri="{FF2B5EF4-FFF2-40B4-BE49-F238E27FC236}">
                <a16:creationId xmlns:a16="http://schemas.microsoft.com/office/drawing/2014/main" id="{F990183E-863C-D453-7C07-F84EACB28A53}"/>
              </a:ext>
            </a:extLst>
          </p:cNvPr>
          <p:cNvSpPr>
            <a:spLocks noGrp="1"/>
          </p:cNvSpPr>
          <p:nvPr>
            <p:ph type="title"/>
          </p:nvPr>
        </p:nvSpPr>
        <p:spPr/>
        <p:txBody>
          <a:bodyPr/>
          <a:lstStyle/>
          <a:p>
            <a:r>
              <a:rPr lang="zh-CN" altLang="en-US" dirty="0"/>
              <a:t>单表查询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 calcmode="lin" valueType="num">
                                      <p:cBhvr additive="base">
                                        <p:cTn id="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anim calcmode="lin" valueType="num">
                                      <p:cBhvr additive="base">
                                        <p:cTn id="1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p:cNvSpPr>
          <p:nvPr>
            <p:ph idx="1"/>
          </p:nvPr>
        </p:nvSpPr>
        <p:spPr>
          <a:xfrm>
            <a:off x="628650" y="794791"/>
            <a:ext cx="7886700" cy="3711558"/>
          </a:xfrm>
        </p:spPr>
        <p:txBody>
          <a:bodyPr vert="horz" wrap="square" lIns="68580" tIns="34290" rIns="68580" bIns="34290" anchor="t" anchorCtr="0">
            <a:normAutofit/>
          </a:bodyPr>
          <a:lstStyle/>
          <a:p>
            <a:pPr>
              <a:lnSpc>
                <a:spcPct val="100000"/>
              </a:lnSpc>
              <a:buSzTx/>
              <a:buNone/>
            </a:pPr>
            <a:r>
              <a:rPr lang="zh-CN" altLang="en-US" b="1" dirty="0">
                <a:solidFill>
                  <a:srgbClr val="00B050"/>
                </a:solidFill>
              </a:rPr>
              <a:t> </a:t>
            </a:r>
            <a:r>
              <a:rPr lang="en-US" altLang="zh-CN" sz="1800" b="1" dirty="0">
                <a:solidFill>
                  <a:srgbClr val="00B050"/>
                </a:solidFill>
              </a:rPr>
              <a:t>③</a:t>
            </a:r>
            <a:r>
              <a:rPr lang="zh-CN" altLang="en-US" sz="1800" b="1" dirty="0">
                <a:solidFill>
                  <a:srgbClr val="00B050"/>
                </a:solidFill>
              </a:rPr>
              <a:t>对查询结果分组（GROUP BY 子句）</a:t>
            </a:r>
          </a:p>
          <a:p>
            <a:pPr>
              <a:lnSpc>
                <a:spcPct val="100000"/>
              </a:lnSpc>
              <a:buSzTx/>
            </a:pPr>
            <a:r>
              <a:rPr lang="zh-CN" altLang="en-US" sz="1800" b="1" dirty="0"/>
              <a:t>将查询结果表按某一(多)列值分组，值相等的为一组。</a:t>
            </a:r>
          </a:p>
          <a:p>
            <a:pPr>
              <a:lnSpc>
                <a:spcPct val="100000"/>
              </a:lnSpc>
              <a:buSzTx/>
            </a:pPr>
            <a:r>
              <a:rPr lang="zh-CN" altLang="en-US" sz="1800" b="1" dirty="0"/>
              <a:t>目的：</a:t>
            </a:r>
            <a:r>
              <a:rPr lang="zh-CN" altLang="en-US" sz="1800" b="1" dirty="0">
                <a:solidFill>
                  <a:srgbClr val="FF0000"/>
                </a:solidFill>
              </a:rPr>
              <a:t>细化集函数的作用对象。</a:t>
            </a:r>
            <a:r>
              <a:rPr lang="zh-CN" altLang="en-US" sz="1800" b="1" dirty="0"/>
              <a:t>如果未对查询结果分组，集函数将作用于整个查询结果，即整个查询结果只有一个函数值。否则，集函数将作用于每一个组，即每一组都有一个函数值。</a:t>
            </a:r>
          </a:p>
          <a:p>
            <a:pPr eaLnBrk="1" hangingPunct="1">
              <a:buSzTx/>
              <a:buNone/>
            </a:pPr>
            <a:r>
              <a:rPr lang="zh-CN" altLang="en-US" sz="1800" b="1" dirty="0">
                <a:solidFill>
                  <a:schemeClr val="hlink"/>
                </a:solidFill>
              </a:rPr>
              <a:t>[例]</a:t>
            </a:r>
            <a:r>
              <a:rPr lang="zh-CN" altLang="en-US" sz="1800" b="1" dirty="0">
                <a:solidFill>
                  <a:schemeClr val="folHlink"/>
                </a:solidFill>
              </a:rPr>
              <a:t>求每个学生所选课程的平均成绩。</a:t>
            </a:r>
          </a:p>
          <a:p>
            <a:pPr>
              <a:lnSpc>
                <a:spcPct val="100000"/>
              </a:lnSpc>
              <a:buSzTx/>
              <a:buNone/>
            </a:pPr>
            <a:r>
              <a:rPr lang="zh-CN" altLang="en-US" sz="1800" b="1" dirty="0"/>
              <a:t>    SELECT sno，AVG( grade) AS 平均成绩</a:t>
            </a:r>
          </a:p>
          <a:p>
            <a:pPr>
              <a:lnSpc>
                <a:spcPct val="100000"/>
              </a:lnSpc>
              <a:buSzTx/>
              <a:buNone/>
            </a:pPr>
            <a:r>
              <a:rPr lang="zh-CN" altLang="en-US" sz="1800" b="1" dirty="0"/>
              <a:t>    FROM  SC</a:t>
            </a:r>
          </a:p>
          <a:p>
            <a:pPr>
              <a:lnSpc>
                <a:spcPct val="100000"/>
              </a:lnSpc>
              <a:buSzTx/>
              <a:buNone/>
            </a:pPr>
            <a:r>
              <a:rPr lang="zh-CN" altLang="en-US" sz="1800" b="1" dirty="0"/>
              <a:t>    GROUP BY sno</a:t>
            </a:r>
          </a:p>
        </p:txBody>
      </p:sp>
      <p:sp>
        <p:nvSpPr>
          <p:cNvPr id="41988" name="Rectangle 4"/>
          <p:cNvSpPr/>
          <p:nvPr/>
        </p:nvSpPr>
        <p:spPr>
          <a:xfrm>
            <a:off x="3995976" y="3990975"/>
            <a:ext cx="5281613" cy="742950"/>
          </a:xfrm>
          <a:prstGeom prst="rect">
            <a:avLst/>
          </a:prstGeom>
          <a:noFill/>
          <a:ln w="9525">
            <a:noFill/>
          </a:ln>
        </p:spPr>
        <p:txBody>
          <a:bodyPr/>
          <a:lstStyle/>
          <a:p>
            <a:pPr marL="257175" indent="-257175">
              <a:spcBef>
                <a:spcPct val="20000"/>
              </a:spcBef>
              <a:buClr>
                <a:schemeClr val="folHlink"/>
              </a:buClr>
              <a:buFont typeface="Wingdings" panose="05000000000000000000" pitchFamily="2" charset="2"/>
              <a:buChar char="§"/>
            </a:pPr>
            <a:r>
              <a:rPr lang="en-US" altLang="zh-CN" dirty="0">
                <a:latin typeface="Microsoft YaHei" panose="020B0503020204020204" pitchFamily="34" charset="-122"/>
                <a:ea typeface="Microsoft YaHei" panose="020B0503020204020204" pitchFamily="34" charset="-122"/>
              </a:rPr>
              <a:t>HAVING</a:t>
            </a:r>
            <a:r>
              <a:rPr lang="zh-CN" altLang="en-US" dirty="0">
                <a:latin typeface="Microsoft YaHei" panose="020B0503020204020204" pitchFamily="34" charset="-122"/>
                <a:ea typeface="Microsoft YaHei" panose="020B0503020204020204" pitchFamily="34" charset="-122"/>
              </a:rPr>
              <a:t>短语：在</a:t>
            </a:r>
            <a:r>
              <a:rPr lang="zh-CN" altLang="en-US" dirty="0">
                <a:solidFill>
                  <a:schemeClr val="folHlink"/>
                </a:solidFill>
                <a:latin typeface="Microsoft YaHei" panose="020B0503020204020204" pitchFamily="34" charset="-122"/>
                <a:ea typeface="Microsoft YaHei" panose="020B0503020204020204" pitchFamily="34" charset="-122"/>
              </a:rPr>
              <a:t>各组</a:t>
            </a:r>
            <a:r>
              <a:rPr lang="zh-CN" altLang="en-US" dirty="0">
                <a:latin typeface="Microsoft YaHei" panose="020B0503020204020204" pitchFamily="34" charset="-122"/>
                <a:ea typeface="Microsoft YaHei" panose="020B0503020204020204" pitchFamily="34" charset="-122"/>
              </a:rPr>
              <a:t>中选择满足条件的</a:t>
            </a:r>
            <a:r>
              <a:rPr lang="zh-CN" altLang="en-US" dirty="0">
                <a:solidFill>
                  <a:schemeClr val="folHlink"/>
                </a:solidFill>
                <a:latin typeface="Microsoft YaHei" panose="020B0503020204020204" pitchFamily="34" charset="-122"/>
                <a:ea typeface="Microsoft YaHei" panose="020B0503020204020204" pitchFamily="34" charset="-122"/>
              </a:rPr>
              <a:t>小组</a:t>
            </a:r>
            <a:r>
              <a:rPr lang="zh-CN" altLang="en-US" dirty="0">
                <a:latin typeface="Microsoft YaHei" panose="020B0503020204020204" pitchFamily="34" charset="-122"/>
                <a:ea typeface="Microsoft YaHei" panose="020B0503020204020204" pitchFamily="34" charset="-122"/>
              </a:rPr>
              <a:t>。</a:t>
            </a:r>
          </a:p>
          <a:p>
            <a:pPr marL="257175" indent="-257175">
              <a:lnSpc>
                <a:spcPct val="90000"/>
              </a:lnSpc>
              <a:spcBef>
                <a:spcPct val="20000"/>
              </a:spcBef>
              <a:buClr>
                <a:schemeClr val="folHlink"/>
              </a:buClr>
              <a:buFont typeface="Wingdings" panose="05000000000000000000" pitchFamily="2" charset="2"/>
              <a:buChar char="§"/>
            </a:pPr>
            <a:r>
              <a:rPr lang="en-US" altLang="zh-CN" dirty="0">
                <a:latin typeface="Microsoft YaHei" panose="020B0503020204020204" pitchFamily="34" charset="-122"/>
                <a:ea typeface="Microsoft YaHei" panose="020B0503020204020204" pitchFamily="34" charset="-122"/>
              </a:rPr>
              <a:t>WHERE</a:t>
            </a:r>
            <a:r>
              <a:rPr lang="zh-CN" altLang="en-US" dirty="0">
                <a:latin typeface="Microsoft YaHei" panose="020B0503020204020204" pitchFamily="34" charset="-122"/>
                <a:ea typeface="Microsoft YaHei" panose="020B0503020204020204" pitchFamily="34" charset="-122"/>
              </a:rPr>
              <a:t>子句 ：在</a:t>
            </a:r>
            <a:r>
              <a:rPr lang="zh-CN" altLang="en-US" dirty="0">
                <a:solidFill>
                  <a:schemeClr val="folHlink"/>
                </a:solidFill>
                <a:latin typeface="Microsoft YaHei" panose="020B0503020204020204" pitchFamily="34" charset="-122"/>
                <a:ea typeface="Microsoft YaHei" panose="020B0503020204020204" pitchFamily="34" charset="-122"/>
              </a:rPr>
              <a:t>表</a:t>
            </a:r>
            <a:r>
              <a:rPr lang="zh-CN" altLang="en-US" dirty="0">
                <a:latin typeface="Microsoft YaHei" panose="020B0503020204020204" pitchFamily="34" charset="-122"/>
                <a:ea typeface="Microsoft YaHei" panose="020B0503020204020204" pitchFamily="34" charset="-122"/>
              </a:rPr>
              <a:t>中选择满足条件的</a:t>
            </a:r>
            <a:r>
              <a:rPr lang="zh-CN" altLang="en-US" dirty="0">
                <a:solidFill>
                  <a:schemeClr val="folHlink"/>
                </a:solidFill>
                <a:latin typeface="Microsoft YaHei" panose="020B0503020204020204" pitchFamily="34" charset="-122"/>
                <a:ea typeface="Microsoft YaHei" panose="020B0503020204020204" pitchFamily="34" charset="-122"/>
              </a:rPr>
              <a:t>元组</a:t>
            </a:r>
            <a:r>
              <a:rPr lang="zh-CN" altLang="en-US" dirty="0">
                <a:latin typeface="Microsoft YaHei" panose="020B0503020204020204" pitchFamily="34" charset="-122"/>
                <a:ea typeface="Microsoft YaHei" panose="020B0503020204020204" pitchFamily="34" charset="-122"/>
              </a:rPr>
              <a:t>。</a:t>
            </a:r>
          </a:p>
        </p:txBody>
      </p:sp>
      <p:sp>
        <p:nvSpPr>
          <p:cNvPr id="41990" name="Text Box 6"/>
          <p:cNvSpPr txBox="1"/>
          <p:nvPr/>
        </p:nvSpPr>
        <p:spPr>
          <a:xfrm>
            <a:off x="4378120" y="2650570"/>
            <a:ext cx="2919243" cy="369332"/>
          </a:xfrm>
          <a:prstGeom prst="rect">
            <a:avLst/>
          </a:prstGeom>
          <a:solidFill>
            <a:schemeClr val="bg1"/>
          </a:solidFill>
          <a:ln w="9525" cap="flat" cmpd="sng">
            <a:solidFill>
              <a:schemeClr val="bg1"/>
            </a:solidFill>
            <a:prstDash val="solid"/>
            <a:miter/>
            <a:headEnd type="none" w="med" len="med"/>
            <a:tailEnd type="none" w="med" len="med"/>
          </a:ln>
        </p:spPr>
        <p:txBody>
          <a:bodyPr wrap="square">
            <a:spAutoFit/>
          </a:bodyPr>
          <a:lstStyle/>
          <a:p>
            <a:pPr>
              <a:spcBef>
                <a:spcPct val="50000"/>
              </a:spcBef>
            </a:pPr>
            <a:r>
              <a:rPr lang="zh-CN" altLang="en-US" dirty="0">
                <a:solidFill>
                  <a:schemeClr val="hlink"/>
                </a:solidFill>
                <a:latin typeface="Microsoft YaHei" panose="020B0503020204020204" pitchFamily="34" charset="-122"/>
                <a:ea typeface="Microsoft YaHei" panose="020B0503020204020204" pitchFamily="34" charset="-122"/>
              </a:rPr>
              <a:t>并将其超过</a:t>
            </a:r>
            <a:r>
              <a:rPr lang="en-US" altLang="zh-CN" dirty="0">
                <a:solidFill>
                  <a:schemeClr val="hlink"/>
                </a:solidFill>
                <a:latin typeface="Microsoft YaHei" panose="020B0503020204020204" pitchFamily="34" charset="-122"/>
                <a:ea typeface="Microsoft YaHei" panose="020B0503020204020204" pitchFamily="34" charset="-122"/>
              </a:rPr>
              <a:t>88</a:t>
            </a:r>
            <a:r>
              <a:rPr lang="zh-CN" altLang="en-US" dirty="0">
                <a:solidFill>
                  <a:schemeClr val="hlink"/>
                </a:solidFill>
                <a:latin typeface="Microsoft YaHei" panose="020B0503020204020204" pitchFamily="34" charset="-122"/>
                <a:ea typeface="Microsoft YaHei" panose="020B0503020204020204" pitchFamily="34" charset="-122"/>
              </a:rPr>
              <a:t>分的输出。</a:t>
            </a:r>
          </a:p>
        </p:txBody>
      </p:sp>
      <p:sp>
        <p:nvSpPr>
          <p:cNvPr id="41991" name="Text Box 7"/>
          <p:cNvSpPr txBox="1"/>
          <p:nvPr/>
        </p:nvSpPr>
        <p:spPr>
          <a:xfrm>
            <a:off x="874892" y="4158499"/>
            <a:ext cx="2996804" cy="646331"/>
          </a:xfrm>
          <a:prstGeom prst="rect">
            <a:avLst/>
          </a:prstGeom>
          <a:solidFill>
            <a:schemeClr val="bg1"/>
          </a:solidFill>
          <a:ln w="9525">
            <a:noFill/>
          </a:ln>
        </p:spPr>
        <p:txBody>
          <a:bodyPr>
            <a:spAutoFit/>
          </a:bodyPr>
          <a:lstStyle/>
          <a:p>
            <a:pPr>
              <a:spcBef>
                <a:spcPct val="50000"/>
              </a:spcBef>
            </a:pPr>
            <a:r>
              <a:rPr lang="en-US" altLang="zh-CN" b="1" dirty="0">
                <a:solidFill>
                  <a:schemeClr val="hlink"/>
                </a:solidFill>
                <a:latin typeface="Microsoft YaHei" panose="020B0503020204020204" pitchFamily="34" charset="-122"/>
                <a:ea typeface="Microsoft YaHei" panose="020B0503020204020204" pitchFamily="34" charset="-122"/>
              </a:rPr>
              <a:t>HAVING  AVG( grade)&gt;88</a:t>
            </a:r>
            <a:r>
              <a:rPr lang="zh-CN" altLang="en-US" b="1" dirty="0">
                <a:solidFill>
                  <a:schemeClr val="hlink"/>
                </a:solidFill>
                <a:latin typeface="Microsoft YaHei" panose="020B0503020204020204" pitchFamily="34" charset="-122"/>
                <a:ea typeface="Microsoft YaHei" panose="020B0503020204020204" pitchFamily="34" charset="-122"/>
              </a:rPr>
              <a:t>；</a:t>
            </a:r>
          </a:p>
        </p:txBody>
      </p:sp>
      <p:sp>
        <p:nvSpPr>
          <p:cNvPr id="4" name="标题 3">
            <a:extLst>
              <a:ext uri="{FF2B5EF4-FFF2-40B4-BE49-F238E27FC236}">
                <a16:creationId xmlns:a16="http://schemas.microsoft.com/office/drawing/2014/main" id="{E43BB402-518A-1EA0-304A-F8B6D9C7F7B8}"/>
              </a:ext>
            </a:extLst>
          </p:cNvPr>
          <p:cNvSpPr>
            <a:spLocks noGrp="1"/>
          </p:cNvSpPr>
          <p:nvPr>
            <p:ph type="title"/>
          </p:nvPr>
        </p:nvSpPr>
        <p:spPr/>
        <p:txBody>
          <a:bodyPr/>
          <a:lstStyle/>
          <a:p>
            <a:r>
              <a:rPr lang="zh-CN" altLang="en-US" dirty="0"/>
              <a:t>单表查询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p:bldP spid="41990" grpId="0" animBg="1"/>
      <p:bldP spid="4199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2" name="Group 2"/>
          <p:cNvGrpSpPr/>
          <p:nvPr/>
        </p:nvGrpSpPr>
        <p:grpSpPr>
          <a:xfrm>
            <a:off x="1692510" y="1177413"/>
            <a:ext cx="2800350" cy="3599260"/>
            <a:chOff x="0" y="0"/>
            <a:chExt cx="1272" cy="3170"/>
          </a:xfrm>
        </p:grpSpPr>
        <p:grpSp>
          <p:nvGrpSpPr>
            <p:cNvPr id="46105" name="Group 3"/>
            <p:cNvGrpSpPr/>
            <p:nvPr/>
          </p:nvGrpSpPr>
          <p:grpSpPr>
            <a:xfrm>
              <a:off x="3" y="3"/>
              <a:ext cx="1266" cy="3164"/>
              <a:chOff x="0" y="0"/>
              <a:chExt cx="1266" cy="3164"/>
            </a:xfrm>
          </p:grpSpPr>
          <p:grpSp>
            <p:nvGrpSpPr>
              <p:cNvPr id="46107" name="Group 4"/>
              <p:cNvGrpSpPr/>
              <p:nvPr/>
            </p:nvGrpSpPr>
            <p:grpSpPr>
              <a:xfrm>
                <a:off x="0" y="0"/>
                <a:ext cx="470" cy="546"/>
                <a:chOff x="0" y="0"/>
                <a:chExt cx="470" cy="546"/>
              </a:xfrm>
            </p:grpSpPr>
            <p:sp>
              <p:nvSpPr>
                <p:cNvPr id="46177" name="Rectangle 5"/>
                <p:cNvSpPr/>
                <p:nvPr/>
              </p:nvSpPr>
              <p:spPr>
                <a:xfrm>
                  <a:off x="19" y="94"/>
                  <a:ext cx="384" cy="382"/>
                </a:xfrm>
                <a:prstGeom prst="rect">
                  <a:avLst/>
                </a:prstGeom>
                <a:noFill/>
                <a:ln w="9525">
                  <a:noFill/>
                </a:ln>
              </p:spPr>
              <p:txBody>
                <a:bodyPr lIns="13500" tIns="8100" rIns="13500" bIns="8100" anchor="ctr"/>
                <a:lstStyle/>
                <a:p>
                  <a:pPr algn="ctr" eaLnBrk="0" hangingPunct="0"/>
                  <a:r>
                    <a:rPr lang="en-US" altLang="zh-CN" sz="1600" dirty="0">
                      <a:solidFill>
                        <a:schemeClr val="hlink"/>
                      </a:solidFill>
                      <a:latin typeface="Microsoft YaHei" panose="020B0503020204020204" pitchFamily="34" charset="-122"/>
                      <a:ea typeface="Microsoft YaHei" panose="020B0503020204020204" pitchFamily="34" charset="-122"/>
                    </a:rPr>
                    <a:t>sno</a:t>
                  </a:r>
                  <a:endParaRPr lang="zh-CN" altLang="en-US" sz="1600" dirty="0">
                    <a:solidFill>
                      <a:schemeClr val="hlink"/>
                    </a:solidFill>
                    <a:latin typeface="Microsoft YaHei" panose="020B0503020204020204" pitchFamily="34" charset="-122"/>
                    <a:ea typeface="Microsoft YaHei" panose="020B0503020204020204" pitchFamily="34" charset="-122"/>
                  </a:endParaRPr>
                </a:p>
              </p:txBody>
            </p:sp>
            <p:sp>
              <p:nvSpPr>
                <p:cNvPr id="46178" name="Rectangle 6"/>
                <p:cNvSpPr/>
                <p:nvPr/>
              </p:nvSpPr>
              <p:spPr>
                <a:xfrm>
                  <a:off x="0" y="0"/>
                  <a:ext cx="470" cy="546"/>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08" name="Group 7"/>
              <p:cNvGrpSpPr/>
              <p:nvPr/>
            </p:nvGrpSpPr>
            <p:grpSpPr>
              <a:xfrm>
                <a:off x="470" y="0"/>
                <a:ext cx="426" cy="546"/>
                <a:chOff x="0" y="0"/>
                <a:chExt cx="426" cy="546"/>
              </a:xfrm>
            </p:grpSpPr>
            <p:sp>
              <p:nvSpPr>
                <p:cNvPr id="46175" name="Rectangle 8"/>
                <p:cNvSpPr/>
                <p:nvPr/>
              </p:nvSpPr>
              <p:spPr>
                <a:xfrm>
                  <a:off x="43" y="127"/>
                  <a:ext cx="340" cy="311"/>
                </a:xfrm>
                <a:prstGeom prst="rect">
                  <a:avLst/>
                </a:prstGeom>
                <a:noFill/>
                <a:ln w="9525">
                  <a:noFill/>
                </a:ln>
              </p:spPr>
              <p:txBody>
                <a:bodyPr lIns="13500" tIns="8100" rIns="13500" bIns="8100" anchor="ctr"/>
                <a:lstStyle/>
                <a:p>
                  <a:pPr algn="ctr" eaLnBrk="0" hangingPunct="0"/>
                  <a:r>
                    <a:rPr lang="en-US" altLang="zh-CN" sz="1600" dirty="0" err="1">
                      <a:solidFill>
                        <a:schemeClr val="hlink"/>
                      </a:solidFill>
                      <a:latin typeface="Microsoft YaHei" panose="020B0503020204020204" pitchFamily="34" charset="-122"/>
                      <a:ea typeface="Microsoft YaHei" panose="020B0503020204020204" pitchFamily="34" charset="-122"/>
                    </a:rPr>
                    <a:t>cno</a:t>
                  </a:r>
                  <a:endParaRPr lang="en-US" altLang="zh-CN" sz="1600" dirty="0">
                    <a:solidFill>
                      <a:schemeClr val="hlink"/>
                    </a:solidFill>
                    <a:latin typeface="Microsoft YaHei" panose="020B0503020204020204" pitchFamily="34" charset="-122"/>
                    <a:ea typeface="Microsoft YaHei" panose="020B0503020204020204" pitchFamily="34" charset="-122"/>
                  </a:endParaRPr>
                </a:p>
              </p:txBody>
            </p:sp>
            <p:sp>
              <p:nvSpPr>
                <p:cNvPr id="46176" name="Rectangle 9"/>
                <p:cNvSpPr/>
                <p:nvPr/>
              </p:nvSpPr>
              <p:spPr>
                <a:xfrm>
                  <a:off x="0" y="0"/>
                  <a:ext cx="426" cy="546"/>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09" name="Group 10"/>
              <p:cNvGrpSpPr/>
              <p:nvPr/>
            </p:nvGrpSpPr>
            <p:grpSpPr>
              <a:xfrm>
                <a:off x="896" y="0"/>
                <a:ext cx="370" cy="546"/>
                <a:chOff x="0" y="0"/>
                <a:chExt cx="370" cy="546"/>
              </a:xfrm>
            </p:grpSpPr>
            <p:sp>
              <p:nvSpPr>
                <p:cNvPr id="46173" name="Rectangle 11"/>
                <p:cNvSpPr/>
                <p:nvPr/>
              </p:nvSpPr>
              <p:spPr>
                <a:xfrm>
                  <a:off x="55" y="127"/>
                  <a:ext cx="284" cy="318"/>
                </a:xfrm>
                <a:prstGeom prst="rect">
                  <a:avLst/>
                </a:prstGeom>
                <a:noFill/>
                <a:ln w="9525">
                  <a:noFill/>
                </a:ln>
              </p:spPr>
              <p:txBody>
                <a:bodyPr lIns="13500" tIns="8100" rIns="13500" bIns="8100" anchor="ctr"/>
                <a:lstStyle/>
                <a:p>
                  <a:pPr algn="ctr" eaLnBrk="0" hangingPunct="0"/>
                  <a:r>
                    <a:rPr lang="en-US" altLang="zh-CN" sz="1600" dirty="0">
                      <a:solidFill>
                        <a:schemeClr val="hlink"/>
                      </a:solidFill>
                      <a:latin typeface="Microsoft YaHei" panose="020B0503020204020204" pitchFamily="34" charset="-122"/>
                      <a:ea typeface="Microsoft YaHei" panose="020B0503020204020204" pitchFamily="34" charset="-122"/>
                    </a:rPr>
                    <a:t>grade</a:t>
                  </a:r>
                </a:p>
              </p:txBody>
            </p:sp>
            <p:sp>
              <p:nvSpPr>
                <p:cNvPr id="46174" name="Rectangle 12"/>
                <p:cNvSpPr/>
                <p:nvPr/>
              </p:nvSpPr>
              <p:spPr>
                <a:xfrm>
                  <a:off x="0" y="0"/>
                  <a:ext cx="370" cy="546"/>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10" name="Group 13"/>
              <p:cNvGrpSpPr/>
              <p:nvPr/>
            </p:nvGrpSpPr>
            <p:grpSpPr>
              <a:xfrm>
                <a:off x="0" y="546"/>
                <a:ext cx="470" cy="374"/>
                <a:chOff x="0" y="0"/>
                <a:chExt cx="470" cy="374"/>
              </a:xfrm>
            </p:grpSpPr>
            <p:sp>
              <p:nvSpPr>
                <p:cNvPr id="46171" name="Rectangle 14"/>
                <p:cNvSpPr/>
                <p:nvPr/>
              </p:nvSpPr>
              <p:spPr>
                <a:xfrm>
                  <a:off x="43" y="0"/>
                  <a:ext cx="384"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000101</a:t>
                  </a:r>
                </a:p>
              </p:txBody>
            </p:sp>
            <p:sp>
              <p:nvSpPr>
                <p:cNvPr id="46172" name="Rectangle 15"/>
                <p:cNvSpPr/>
                <p:nvPr/>
              </p:nvSpPr>
              <p:spPr>
                <a:xfrm>
                  <a:off x="0" y="0"/>
                  <a:ext cx="470"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11" name="Group 16"/>
              <p:cNvGrpSpPr/>
              <p:nvPr/>
            </p:nvGrpSpPr>
            <p:grpSpPr>
              <a:xfrm>
                <a:off x="470" y="546"/>
                <a:ext cx="426" cy="374"/>
                <a:chOff x="0" y="0"/>
                <a:chExt cx="426" cy="374"/>
              </a:xfrm>
            </p:grpSpPr>
            <p:sp>
              <p:nvSpPr>
                <p:cNvPr id="46169" name="Rectangle 17"/>
                <p:cNvSpPr/>
                <p:nvPr/>
              </p:nvSpPr>
              <p:spPr>
                <a:xfrm>
                  <a:off x="43" y="0"/>
                  <a:ext cx="340"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c1</a:t>
                  </a:r>
                </a:p>
              </p:txBody>
            </p:sp>
            <p:sp>
              <p:nvSpPr>
                <p:cNvPr id="46170" name="Rectangle 18"/>
                <p:cNvSpPr/>
                <p:nvPr/>
              </p:nvSpPr>
              <p:spPr>
                <a:xfrm>
                  <a:off x="0" y="0"/>
                  <a:ext cx="426"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12" name="Group 19"/>
              <p:cNvGrpSpPr/>
              <p:nvPr/>
            </p:nvGrpSpPr>
            <p:grpSpPr>
              <a:xfrm>
                <a:off x="896" y="546"/>
                <a:ext cx="370" cy="374"/>
                <a:chOff x="0" y="0"/>
                <a:chExt cx="370" cy="374"/>
              </a:xfrm>
            </p:grpSpPr>
            <p:sp>
              <p:nvSpPr>
                <p:cNvPr id="46167" name="Rectangle 20"/>
                <p:cNvSpPr/>
                <p:nvPr/>
              </p:nvSpPr>
              <p:spPr>
                <a:xfrm>
                  <a:off x="43" y="0"/>
                  <a:ext cx="284"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90</a:t>
                  </a:r>
                </a:p>
              </p:txBody>
            </p:sp>
            <p:sp>
              <p:nvSpPr>
                <p:cNvPr id="46168" name="Rectangle 21"/>
                <p:cNvSpPr/>
                <p:nvPr/>
              </p:nvSpPr>
              <p:spPr>
                <a:xfrm>
                  <a:off x="0" y="0"/>
                  <a:ext cx="370"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13" name="Group 22"/>
              <p:cNvGrpSpPr/>
              <p:nvPr/>
            </p:nvGrpSpPr>
            <p:grpSpPr>
              <a:xfrm>
                <a:off x="0" y="920"/>
                <a:ext cx="470" cy="374"/>
                <a:chOff x="0" y="0"/>
                <a:chExt cx="470" cy="374"/>
              </a:xfrm>
            </p:grpSpPr>
            <p:sp>
              <p:nvSpPr>
                <p:cNvPr id="46165" name="Rectangle 23"/>
                <p:cNvSpPr/>
                <p:nvPr/>
              </p:nvSpPr>
              <p:spPr>
                <a:xfrm>
                  <a:off x="43" y="0"/>
                  <a:ext cx="384"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000101</a:t>
                  </a:r>
                </a:p>
              </p:txBody>
            </p:sp>
            <p:sp>
              <p:nvSpPr>
                <p:cNvPr id="46166" name="Rectangle 24"/>
                <p:cNvSpPr/>
                <p:nvPr/>
              </p:nvSpPr>
              <p:spPr>
                <a:xfrm>
                  <a:off x="0" y="0"/>
                  <a:ext cx="470"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14" name="Group 25"/>
              <p:cNvGrpSpPr/>
              <p:nvPr/>
            </p:nvGrpSpPr>
            <p:grpSpPr>
              <a:xfrm>
                <a:off x="470" y="920"/>
                <a:ext cx="426" cy="374"/>
                <a:chOff x="0" y="0"/>
                <a:chExt cx="426" cy="374"/>
              </a:xfrm>
            </p:grpSpPr>
            <p:sp>
              <p:nvSpPr>
                <p:cNvPr id="46163" name="Rectangle 26"/>
                <p:cNvSpPr/>
                <p:nvPr/>
              </p:nvSpPr>
              <p:spPr>
                <a:xfrm>
                  <a:off x="43" y="0"/>
                  <a:ext cx="340"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c2</a:t>
                  </a:r>
                </a:p>
              </p:txBody>
            </p:sp>
            <p:sp>
              <p:nvSpPr>
                <p:cNvPr id="46164" name="Rectangle 27"/>
                <p:cNvSpPr/>
                <p:nvPr/>
              </p:nvSpPr>
              <p:spPr>
                <a:xfrm>
                  <a:off x="0" y="0"/>
                  <a:ext cx="426"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15" name="Group 28"/>
              <p:cNvGrpSpPr/>
              <p:nvPr/>
            </p:nvGrpSpPr>
            <p:grpSpPr>
              <a:xfrm>
                <a:off x="896" y="920"/>
                <a:ext cx="370" cy="374"/>
                <a:chOff x="0" y="0"/>
                <a:chExt cx="370" cy="374"/>
              </a:xfrm>
            </p:grpSpPr>
            <p:sp>
              <p:nvSpPr>
                <p:cNvPr id="46161" name="Rectangle 29"/>
                <p:cNvSpPr/>
                <p:nvPr/>
              </p:nvSpPr>
              <p:spPr>
                <a:xfrm>
                  <a:off x="43" y="0"/>
                  <a:ext cx="284"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85</a:t>
                  </a:r>
                </a:p>
              </p:txBody>
            </p:sp>
            <p:sp>
              <p:nvSpPr>
                <p:cNvPr id="46162" name="Rectangle 30"/>
                <p:cNvSpPr/>
                <p:nvPr/>
              </p:nvSpPr>
              <p:spPr>
                <a:xfrm>
                  <a:off x="0" y="0"/>
                  <a:ext cx="370"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16" name="Group 31"/>
              <p:cNvGrpSpPr/>
              <p:nvPr/>
            </p:nvGrpSpPr>
            <p:grpSpPr>
              <a:xfrm>
                <a:off x="0" y="1294"/>
                <a:ext cx="470" cy="374"/>
                <a:chOff x="0" y="0"/>
                <a:chExt cx="470" cy="374"/>
              </a:xfrm>
            </p:grpSpPr>
            <p:sp>
              <p:nvSpPr>
                <p:cNvPr id="46159" name="Rectangle 32"/>
                <p:cNvSpPr/>
                <p:nvPr/>
              </p:nvSpPr>
              <p:spPr>
                <a:xfrm>
                  <a:off x="43" y="0"/>
                  <a:ext cx="384"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000101</a:t>
                  </a:r>
                </a:p>
              </p:txBody>
            </p:sp>
            <p:sp>
              <p:nvSpPr>
                <p:cNvPr id="46160" name="Rectangle 33"/>
                <p:cNvSpPr/>
                <p:nvPr/>
              </p:nvSpPr>
              <p:spPr>
                <a:xfrm>
                  <a:off x="0" y="0"/>
                  <a:ext cx="470"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17" name="Group 34"/>
              <p:cNvGrpSpPr/>
              <p:nvPr/>
            </p:nvGrpSpPr>
            <p:grpSpPr>
              <a:xfrm>
                <a:off x="470" y="1294"/>
                <a:ext cx="426" cy="374"/>
                <a:chOff x="0" y="0"/>
                <a:chExt cx="426" cy="374"/>
              </a:xfrm>
            </p:grpSpPr>
            <p:sp>
              <p:nvSpPr>
                <p:cNvPr id="46157" name="Rectangle 35"/>
                <p:cNvSpPr/>
                <p:nvPr/>
              </p:nvSpPr>
              <p:spPr>
                <a:xfrm>
                  <a:off x="43" y="0"/>
                  <a:ext cx="340"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c3</a:t>
                  </a:r>
                </a:p>
              </p:txBody>
            </p:sp>
            <p:sp>
              <p:nvSpPr>
                <p:cNvPr id="46158" name="Rectangle 36"/>
                <p:cNvSpPr/>
                <p:nvPr/>
              </p:nvSpPr>
              <p:spPr>
                <a:xfrm>
                  <a:off x="0" y="0"/>
                  <a:ext cx="426"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18" name="Group 37"/>
              <p:cNvGrpSpPr/>
              <p:nvPr/>
            </p:nvGrpSpPr>
            <p:grpSpPr>
              <a:xfrm>
                <a:off x="896" y="1294"/>
                <a:ext cx="370" cy="374"/>
                <a:chOff x="0" y="0"/>
                <a:chExt cx="370" cy="374"/>
              </a:xfrm>
            </p:grpSpPr>
            <p:sp>
              <p:nvSpPr>
                <p:cNvPr id="46155" name="Rectangle 38"/>
                <p:cNvSpPr/>
                <p:nvPr/>
              </p:nvSpPr>
              <p:spPr>
                <a:xfrm>
                  <a:off x="43" y="0"/>
                  <a:ext cx="284"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80</a:t>
                  </a:r>
                </a:p>
              </p:txBody>
            </p:sp>
            <p:sp>
              <p:nvSpPr>
                <p:cNvPr id="46156" name="Rectangle 39"/>
                <p:cNvSpPr/>
                <p:nvPr/>
              </p:nvSpPr>
              <p:spPr>
                <a:xfrm>
                  <a:off x="0" y="0"/>
                  <a:ext cx="370"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19" name="Group 40"/>
              <p:cNvGrpSpPr/>
              <p:nvPr/>
            </p:nvGrpSpPr>
            <p:grpSpPr>
              <a:xfrm>
                <a:off x="0" y="1668"/>
                <a:ext cx="470" cy="374"/>
                <a:chOff x="0" y="0"/>
                <a:chExt cx="470" cy="374"/>
              </a:xfrm>
            </p:grpSpPr>
            <p:sp>
              <p:nvSpPr>
                <p:cNvPr id="46153" name="Rectangle 41"/>
                <p:cNvSpPr/>
                <p:nvPr/>
              </p:nvSpPr>
              <p:spPr>
                <a:xfrm>
                  <a:off x="43" y="0"/>
                  <a:ext cx="384"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010101</a:t>
                  </a:r>
                </a:p>
              </p:txBody>
            </p:sp>
            <p:sp>
              <p:nvSpPr>
                <p:cNvPr id="46154" name="Rectangle 42"/>
                <p:cNvSpPr/>
                <p:nvPr/>
              </p:nvSpPr>
              <p:spPr>
                <a:xfrm>
                  <a:off x="0" y="0"/>
                  <a:ext cx="470"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20" name="Group 43"/>
              <p:cNvGrpSpPr/>
              <p:nvPr/>
            </p:nvGrpSpPr>
            <p:grpSpPr>
              <a:xfrm>
                <a:off x="470" y="1668"/>
                <a:ext cx="426" cy="374"/>
                <a:chOff x="0" y="0"/>
                <a:chExt cx="426" cy="374"/>
              </a:xfrm>
            </p:grpSpPr>
            <p:sp>
              <p:nvSpPr>
                <p:cNvPr id="46151" name="Rectangle 44"/>
                <p:cNvSpPr/>
                <p:nvPr/>
              </p:nvSpPr>
              <p:spPr>
                <a:xfrm>
                  <a:off x="43" y="0"/>
                  <a:ext cx="340"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c1</a:t>
                  </a:r>
                </a:p>
              </p:txBody>
            </p:sp>
            <p:sp>
              <p:nvSpPr>
                <p:cNvPr id="46152" name="Rectangle 45"/>
                <p:cNvSpPr/>
                <p:nvPr/>
              </p:nvSpPr>
              <p:spPr>
                <a:xfrm>
                  <a:off x="0" y="0"/>
                  <a:ext cx="426"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21" name="Group 46"/>
              <p:cNvGrpSpPr/>
              <p:nvPr/>
            </p:nvGrpSpPr>
            <p:grpSpPr>
              <a:xfrm>
                <a:off x="896" y="1668"/>
                <a:ext cx="370" cy="374"/>
                <a:chOff x="0" y="0"/>
                <a:chExt cx="370" cy="374"/>
              </a:xfrm>
            </p:grpSpPr>
            <p:sp>
              <p:nvSpPr>
                <p:cNvPr id="46149" name="Rectangle 47"/>
                <p:cNvSpPr/>
                <p:nvPr/>
              </p:nvSpPr>
              <p:spPr>
                <a:xfrm>
                  <a:off x="43" y="0"/>
                  <a:ext cx="284"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85</a:t>
                  </a:r>
                </a:p>
              </p:txBody>
            </p:sp>
            <p:sp>
              <p:nvSpPr>
                <p:cNvPr id="46150" name="Rectangle 48"/>
                <p:cNvSpPr/>
                <p:nvPr/>
              </p:nvSpPr>
              <p:spPr>
                <a:xfrm>
                  <a:off x="0" y="0"/>
                  <a:ext cx="370"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22" name="Group 49"/>
              <p:cNvGrpSpPr/>
              <p:nvPr/>
            </p:nvGrpSpPr>
            <p:grpSpPr>
              <a:xfrm>
                <a:off x="0" y="2042"/>
                <a:ext cx="470" cy="374"/>
                <a:chOff x="0" y="0"/>
                <a:chExt cx="470" cy="374"/>
              </a:xfrm>
            </p:grpSpPr>
            <p:sp>
              <p:nvSpPr>
                <p:cNvPr id="46147" name="Rectangle 50"/>
                <p:cNvSpPr/>
                <p:nvPr/>
              </p:nvSpPr>
              <p:spPr>
                <a:xfrm>
                  <a:off x="43" y="0"/>
                  <a:ext cx="384"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01101</a:t>
                  </a:r>
                </a:p>
                <a:p>
                  <a:pPr algn="ctr" eaLnBrk="0" hangingPunct="0"/>
                  <a:endParaRPr lang="zh-CN" altLang="en-US" sz="1600" dirty="0">
                    <a:solidFill>
                      <a:srgbClr val="000000"/>
                    </a:solidFill>
                    <a:latin typeface="Microsoft YaHei" panose="020B0503020204020204" pitchFamily="34" charset="-122"/>
                    <a:ea typeface="Microsoft YaHei" panose="020B0503020204020204" pitchFamily="34" charset="-122"/>
                  </a:endParaRPr>
                </a:p>
              </p:txBody>
            </p:sp>
            <p:sp>
              <p:nvSpPr>
                <p:cNvPr id="46148" name="Rectangle 51"/>
                <p:cNvSpPr/>
                <p:nvPr/>
              </p:nvSpPr>
              <p:spPr>
                <a:xfrm>
                  <a:off x="0" y="0"/>
                  <a:ext cx="470"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23" name="Group 52"/>
              <p:cNvGrpSpPr/>
              <p:nvPr/>
            </p:nvGrpSpPr>
            <p:grpSpPr>
              <a:xfrm>
                <a:off x="470" y="2042"/>
                <a:ext cx="426" cy="374"/>
                <a:chOff x="0" y="0"/>
                <a:chExt cx="426" cy="374"/>
              </a:xfrm>
            </p:grpSpPr>
            <p:sp>
              <p:nvSpPr>
                <p:cNvPr id="46145" name="Rectangle 53"/>
                <p:cNvSpPr/>
                <p:nvPr/>
              </p:nvSpPr>
              <p:spPr>
                <a:xfrm>
                  <a:off x="43" y="0"/>
                  <a:ext cx="340"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c2</a:t>
                  </a:r>
                </a:p>
              </p:txBody>
            </p:sp>
            <p:sp>
              <p:nvSpPr>
                <p:cNvPr id="46146" name="Rectangle 54"/>
                <p:cNvSpPr/>
                <p:nvPr/>
              </p:nvSpPr>
              <p:spPr>
                <a:xfrm>
                  <a:off x="0" y="0"/>
                  <a:ext cx="426"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24" name="Group 55"/>
              <p:cNvGrpSpPr/>
              <p:nvPr/>
            </p:nvGrpSpPr>
            <p:grpSpPr>
              <a:xfrm>
                <a:off x="896" y="2042"/>
                <a:ext cx="370" cy="374"/>
                <a:chOff x="0" y="0"/>
                <a:chExt cx="370" cy="374"/>
              </a:xfrm>
            </p:grpSpPr>
            <p:sp>
              <p:nvSpPr>
                <p:cNvPr id="46143" name="Rectangle 56"/>
                <p:cNvSpPr/>
                <p:nvPr/>
              </p:nvSpPr>
              <p:spPr>
                <a:xfrm>
                  <a:off x="43" y="0"/>
                  <a:ext cx="284"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75</a:t>
                  </a:r>
                </a:p>
              </p:txBody>
            </p:sp>
            <p:sp>
              <p:nvSpPr>
                <p:cNvPr id="46144" name="Rectangle 57"/>
                <p:cNvSpPr/>
                <p:nvPr/>
              </p:nvSpPr>
              <p:spPr>
                <a:xfrm>
                  <a:off x="0" y="0"/>
                  <a:ext cx="370"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25" name="Group 58"/>
              <p:cNvGrpSpPr/>
              <p:nvPr/>
            </p:nvGrpSpPr>
            <p:grpSpPr>
              <a:xfrm>
                <a:off x="0" y="2416"/>
                <a:ext cx="470" cy="374"/>
                <a:chOff x="0" y="0"/>
                <a:chExt cx="470" cy="374"/>
              </a:xfrm>
            </p:grpSpPr>
            <p:sp>
              <p:nvSpPr>
                <p:cNvPr id="46141" name="Rectangle 59"/>
                <p:cNvSpPr/>
                <p:nvPr/>
              </p:nvSpPr>
              <p:spPr>
                <a:xfrm>
                  <a:off x="43" y="0"/>
                  <a:ext cx="384"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020101</a:t>
                  </a:r>
                </a:p>
              </p:txBody>
            </p:sp>
            <p:sp>
              <p:nvSpPr>
                <p:cNvPr id="46142" name="Rectangle 60"/>
                <p:cNvSpPr/>
                <p:nvPr/>
              </p:nvSpPr>
              <p:spPr>
                <a:xfrm>
                  <a:off x="0" y="0"/>
                  <a:ext cx="470"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26" name="Group 61"/>
              <p:cNvGrpSpPr/>
              <p:nvPr/>
            </p:nvGrpSpPr>
            <p:grpSpPr>
              <a:xfrm>
                <a:off x="470" y="2416"/>
                <a:ext cx="426" cy="374"/>
                <a:chOff x="0" y="0"/>
                <a:chExt cx="426" cy="374"/>
              </a:xfrm>
            </p:grpSpPr>
            <p:sp>
              <p:nvSpPr>
                <p:cNvPr id="46139" name="Rectangle 62"/>
                <p:cNvSpPr/>
                <p:nvPr/>
              </p:nvSpPr>
              <p:spPr>
                <a:xfrm>
                  <a:off x="43" y="0"/>
                  <a:ext cx="340"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c3</a:t>
                  </a:r>
                </a:p>
              </p:txBody>
            </p:sp>
            <p:sp>
              <p:nvSpPr>
                <p:cNvPr id="46140" name="Rectangle 63"/>
                <p:cNvSpPr/>
                <p:nvPr/>
              </p:nvSpPr>
              <p:spPr>
                <a:xfrm>
                  <a:off x="0" y="0"/>
                  <a:ext cx="426"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27" name="Group 64"/>
              <p:cNvGrpSpPr/>
              <p:nvPr/>
            </p:nvGrpSpPr>
            <p:grpSpPr>
              <a:xfrm>
                <a:off x="896" y="2416"/>
                <a:ext cx="370" cy="374"/>
                <a:chOff x="0" y="0"/>
                <a:chExt cx="370" cy="374"/>
              </a:xfrm>
            </p:grpSpPr>
            <p:sp>
              <p:nvSpPr>
                <p:cNvPr id="46137" name="Rectangle 65"/>
                <p:cNvSpPr/>
                <p:nvPr/>
              </p:nvSpPr>
              <p:spPr>
                <a:xfrm>
                  <a:off x="43" y="0"/>
                  <a:ext cx="284"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80</a:t>
                  </a:r>
                </a:p>
              </p:txBody>
            </p:sp>
            <p:sp>
              <p:nvSpPr>
                <p:cNvPr id="46138" name="Rectangle 66"/>
                <p:cNvSpPr/>
                <p:nvPr/>
              </p:nvSpPr>
              <p:spPr>
                <a:xfrm>
                  <a:off x="0" y="0"/>
                  <a:ext cx="370"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28" name="Group 67"/>
              <p:cNvGrpSpPr/>
              <p:nvPr/>
            </p:nvGrpSpPr>
            <p:grpSpPr>
              <a:xfrm>
                <a:off x="0" y="2790"/>
                <a:ext cx="470" cy="374"/>
                <a:chOff x="0" y="0"/>
                <a:chExt cx="470" cy="374"/>
              </a:xfrm>
            </p:grpSpPr>
            <p:sp>
              <p:nvSpPr>
                <p:cNvPr id="46135" name="Rectangle 68"/>
                <p:cNvSpPr/>
                <p:nvPr/>
              </p:nvSpPr>
              <p:spPr>
                <a:xfrm>
                  <a:off x="43" y="0"/>
                  <a:ext cx="384" cy="374"/>
                </a:xfrm>
                <a:prstGeom prst="rect">
                  <a:avLst/>
                </a:prstGeom>
                <a:noFill/>
                <a:ln w="9525">
                  <a:noFill/>
                </a:ln>
              </p:spPr>
              <p:txBody>
                <a:bodyPr lIns="13500" tIns="8100" rIns="13500" bIns="8100" anchor="ctr"/>
                <a:lstStyle/>
                <a:p>
                  <a:pPr algn="ctr" eaLnBrk="0" hangingPunct="0"/>
                  <a:r>
                    <a:rPr lang="en-US" altLang="zh-CN" sz="1600" dirty="0">
                      <a:solidFill>
                        <a:srgbClr val="000000"/>
                      </a:solidFill>
                      <a:latin typeface="Microsoft YaHei" panose="020B0503020204020204" pitchFamily="34" charset="-122"/>
                      <a:ea typeface="Microsoft YaHei" panose="020B0503020204020204" pitchFamily="34" charset="-122"/>
                    </a:rPr>
                    <a:t>……</a:t>
                  </a:r>
                </a:p>
                <a:p>
                  <a:pPr algn="ctr" eaLnBrk="0" hangingPunct="0"/>
                  <a:endParaRPr lang="zh-CN" altLang="en-US" sz="1600" dirty="0">
                    <a:solidFill>
                      <a:srgbClr val="000000"/>
                    </a:solidFill>
                    <a:latin typeface="Microsoft YaHei" panose="020B0503020204020204" pitchFamily="34" charset="-122"/>
                    <a:ea typeface="Microsoft YaHei" panose="020B0503020204020204" pitchFamily="34" charset="-122"/>
                  </a:endParaRPr>
                </a:p>
              </p:txBody>
            </p:sp>
            <p:sp>
              <p:nvSpPr>
                <p:cNvPr id="46136" name="Rectangle 69"/>
                <p:cNvSpPr/>
                <p:nvPr/>
              </p:nvSpPr>
              <p:spPr>
                <a:xfrm>
                  <a:off x="0" y="0"/>
                  <a:ext cx="470"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29" name="Group 70"/>
              <p:cNvGrpSpPr/>
              <p:nvPr/>
            </p:nvGrpSpPr>
            <p:grpSpPr>
              <a:xfrm>
                <a:off x="470" y="2790"/>
                <a:ext cx="426" cy="374"/>
                <a:chOff x="0" y="0"/>
                <a:chExt cx="426" cy="374"/>
              </a:xfrm>
            </p:grpSpPr>
            <p:sp>
              <p:nvSpPr>
                <p:cNvPr id="46133" name="Rectangle 71"/>
                <p:cNvSpPr/>
                <p:nvPr/>
              </p:nvSpPr>
              <p:spPr>
                <a:xfrm>
                  <a:off x="43" y="0"/>
                  <a:ext cx="340" cy="374"/>
                </a:xfrm>
                <a:prstGeom prst="rect">
                  <a:avLst/>
                </a:prstGeom>
                <a:noFill/>
                <a:ln w="9525">
                  <a:noFill/>
                </a:ln>
              </p:spPr>
              <p:txBody>
                <a:bodyPr lIns="13500" tIns="8100" rIns="13500" bIns="8100" anchor="ctr"/>
                <a:lstStyle/>
                <a:p>
                  <a:pPr algn="ctr" eaLnBrk="0" hangingPunct="0"/>
                  <a:endParaRPr lang="zh-CN" altLang="en-US" sz="1600" dirty="0">
                    <a:solidFill>
                      <a:srgbClr val="000000"/>
                    </a:solidFill>
                    <a:latin typeface="Microsoft YaHei" panose="020B0503020204020204" pitchFamily="34" charset="-122"/>
                    <a:ea typeface="Microsoft YaHei" panose="020B0503020204020204" pitchFamily="34" charset="-122"/>
                  </a:endParaRPr>
                </a:p>
                <a:p>
                  <a:pPr algn="ctr" eaLnBrk="0" hangingPunct="0"/>
                  <a:endParaRPr lang="zh-CN" altLang="en-US" sz="1600" dirty="0">
                    <a:solidFill>
                      <a:srgbClr val="000000"/>
                    </a:solidFill>
                    <a:latin typeface="Microsoft YaHei" panose="020B0503020204020204" pitchFamily="34" charset="-122"/>
                    <a:ea typeface="Microsoft YaHei" panose="020B0503020204020204" pitchFamily="34" charset="-122"/>
                  </a:endParaRPr>
                </a:p>
              </p:txBody>
            </p:sp>
            <p:sp>
              <p:nvSpPr>
                <p:cNvPr id="46134" name="Rectangle 72"/>
                <p:cNvSpPr/>
                <p:nvPr/>
              </p:nvSpPr>
              <p:spPr>
                <a:xfrm>
                  <a:off x="0" y="0"/>
                  <a:ext cx="426"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46130" name="Group 73"/>
              <p:cNvGrpSpPr/>
              <p:nvPr/>
            </p:nvGrpSpPr>
            <p:grpSpPr>
              <a:xfrm>
                <a:off x="896" y="2790"/>
                <a:ext cx="370" cy="374"/>
                <a:chOff x="0" y="0"/>
                <a:chExt cx="370" cy="374"/>
              </a:xfrm>
            </p:grpSpPr>
            <p:sp>
              <p:nvSpPr>
                <p:cNvPr id="46131" name="Rectangle 74"/>
                <p:cNvSpPr/>
                <p:nvPr/>
              </p:nvSpPr>
              <p:spPr>
                <a:xfrm>
                  <a:off x="43" y="0"/>
                  <a:ext cx="284" cy="374"/>
                </a:xfrm>
                <a:prstGeom prst="rect">
                  <a:avLst/>
                </a:prstGeom>
                <a:noFill/>
                <a:ln w="9525">
                  <a:noFill/>
                </a:ln>
              </p:spPr>
              <p:txBody>
                <a:bodyPr lIns="13500" tIns="8100" rIns="13500" bIns="8100" anchor="ctr"/>
                <a:lstStyle/>
                <a:p>
                  <a:pPr algn="ctr" eaLnBrk="0" hangingPunct="0"/>
                  <a:endParaRPr lang="zh-CN" altLang="en-US" sz="1600" dirty="0">
                    <a:solidFill>
                      <a:srgbClr val="000000"/>
                    </a:solidFill>
                    <a:latin typeface="Microsoft YaHei" panose="020B0503020204020204" pitchFamily="34" charset="-122"/>
                    <a:ea typeface="Microsoft YaHei" panose="020B0503020204020204" pitchFamily="34" charset="-122"/>
                  </a:endParaRPr>
                </a:p>
                <a:p>
                  <a:pPr algn="ctr" eaLnBrk="0" hangingPunct="0"/>
                  <a:endParaRPr lang="zh-CN" altLang="en-US" sz="1600" dirty="0">
                    <a:solidFill>
                      <a:srgbClr val="000000"/>
                    </a:solidFill>
                    <a:latin typeface="Microsoft YaHei" panose="020B0503020204020204" pitchFamily="34" charset="-122"/>
                    <a:ea typeface="Microsoft YaHei" panose="020B0503020204020204" pitchFamily="34" charset="-122"/>
                  </a:endParaRPr>
                </a:p>
              </p:txBody>
            </p:sp>
            <p:sp>
              <p:nvSpPr>
                <p:cNvPr id="46132" name="Rectangle 75"/>
                <p:cNvSpPr/>
                <p:nvPr/>
              </p:nvSpPr>
              <p:spPr>
                <a:xfrm>
                  <a:off x="0" y="0"/>
                  <a:ext cx="370" cy="374"/>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sp>
          <p:nvSpPr>
            <p:cNvPr id="46106" name="Rectangle 76"/>
            <p:cNvSpPr/>
            <p:nvPr/>
          </p:nvSpPr>
          <p:spPr>
            <a:xfrm>
              <a:off x="0" y="0"/>
              <a:ext cx="1272" cy="3170"/>
            </a:xfrm>
            <a:prstGeom prst="rect">
              <a:avLst/>
            </a:prstGeom>
            <a:noFill/>
            <a:ln w="12700" cap="flat" cmpd="sng">
              <a:solidFill>
                <a:srgbClr val="A0A0A0"/>
              </a:solidFill>
              <a:prstDash val="solid"/>
              <a:miter/>
              <a:headEnd type="none" w="med" len="med"/>
              <a:tailEnd type="none" w="med" len="med"/>
            </a:ln>
          </p:spPr>
          <p:txBody>
            <a:bodyPr wrap="none" lIns="13500" tIns="8100" rIns="13500" bIns="8100" anchor="ctr"/>
            <a:lstStyle/>
            <a:p>
              <a:pPr algn="ctr"/>
              <a:endParaRPr lang="zh-CN" altLang="en-US" sz="1600" dirty="0">
                <a:latin typeface="Microsoft YaHei" panose="020B0503020204020204" pitchFamily="34" charset="-122"/>
                <a:ea typeface="Microsoft YaHei" panose="020B0503020204020204" pitchFamily="34" charset="-122"/>
              </a:endParaRPr>
            </a:p>
          </p:txBody>
        </p:sp>
      </p:grpSp>
      <p:grpSp>
        <p:nvGrpSpPr>
          <p:cNvPr id="28" name="Group 78"/>
          <p:cNvGrpSpPr/>
          <p:nvPr/>
        </p:nvGrpSpPr>
        <p:grpSpPr>
          <a:xfrm>
            <a:off x="778110" y="3912279"/>
            <a:ext cx="894160" cy="765572"/>
            <a:chOff x="0" y="0"/>
            <a:chExt cx="751" cy="643"/>
          </a:xfrm>
        </p:grpSpPr>
        <p:grpSp>
          <p:nvGrpSpPr>
            <p:cNvPr id="46101" name="Group 79"/>
            <p:cNvGrpSpPr/>
            <p:nvPr/>
          </p:nvGrpSpPr>
          <p:grpSpPr>
            <a:xfrm>
              <a:off x="0" y="0"/>
              <a:ext cx="751" cy="526"/>
              <a:chOff x="0" y="0"/>
              <a:chExt cx="751" cy="526"/>
            </a:xfrm>
          </p:grpSpPr>
          <p:sp>
            <p:nvSpPr>
              <p:cNvPr id="46103" name="AutoShape 80"/>
              <p:cNvSpPr/>
              <p:nvPr/>
            </p:nvSpPr>
            <p:spPr>
              <a:xfrm>
                <a:off x="536" y="0"/>
                <a:ext cx="215" cy="526"/>
              </a:xfrm>
              <a:prstGeom prst="leftBrace">
                <a:avLst>
                  <a:gd name="adj1" fmla="val 20342"/>
                  <a:gd name="adj2" fmla="val 50000"/>
                </a:avLst>
              </a:prstGeom>
              <a:noFill/>
              <a:ln w="9525" cap="flat" cmpd="sng">
                <a:solidFill>
                  <a:srgbClr val="000000"/>
                </a:solidFill>
                <a:prstDash val="solid"/>
                <a:headEnd type="none" w="med" len="med"/>
                <a:tailEnd type="none" w="med" len="med"/>
              </a:ln>
            </p:spPr>
            <p:txBody>
              <a:bodyPr wrap="none" anchor="ctr" anchorCtr="0"/>
              <a:lstStyle/>
              <a:p>
                <a:pPr algn="ctr"/>
                <a:endParaRPr lang="zh-CN" altLang="en-US" sz="1350" dirty="0">
                  <a:latin typeface="Microsoft YaHei" panose="020B0503020204020204" pitchFamily="34" charset="-122"/>
                  <a:ea typeface="Microsoft YaHei" panose="020B0503020204020204" pitchFamily="34" charset="-122"/>
                </a:endParaRPr>
              </a:p>
            </p:txBody>
          </p:sp>
          <p:sp>
            <p:nvSpPr>
              <p:cNvPr id="46104" name="Text Box 81"/>
              <p:cNvSpPr txBox="1"/>
              <p:nvPr/>
            </p:nvSpPr>
            <p:spPr>
              <a:xfrm>
                <a:off x="0" y="55"/>
                <a:ext cx="536" cy="252"/>
              </a:xfrm>
              <a:prstGeom prst="rect">
                <a:avLst/>
              </a:prstGeom>
              <a:noFill/>
              <a:ln w="9525">
                <a:noFill/>
              </a:ln>
            </p:spPr>
            <p:txBody>
              <a:bodyPr>
                <a:spAutoFit/>
              </a:bodyPr>
              <a:lstStyle/>
              <a:p>
                <a:pPr algn="just" eaLnBrk="0" hangingPunct="0"/>
                <a:r>
                  <a:rPr lang="en-US" altLang="zh-CN" sz="1350" dirty="0">
                    <a:solidFill>
                      <a:srgbClr val="0000FF"/>
                    </a:solidFill>
                    <a:latin typeface="Microsoft YaHei" panose="020B0503020204020204" pitchFamily="34" charset="-122"/>
                    <a:ea typeface="Microsoft YaHei" panose="020B0503020204020204" pitchFamily="34" charset="-122"/>
                  </a:rPr>
                  <a:t>3</a:t>
                </a:r>
                <a:r>
                  <a:rPr lang="zh-CN" altLang="en-US" sz="1350" dirty="0">
                    <a:solidFill>
                      <a:srgbClr val="0000FF"/>
                    </a:solidFill>
                    <a:latin typeface="Microsoft YaHei" panose="020B0503020204020204" pitchFamily="34" charset="-122"/>
                    <a:ea typeface="Microsoft YaHei" panose="020B0503020204020204" pitchFamily="34" charset="-122"/>
                  </a:rPr>
                  <a:t>组</a:t>
                </a:r>
              </a:p>
            </p:txBody>
          </p:sp>
        </p:grpSp>
        <p:sp>
          <p:nvSpPr>
            <p:cNvPr id="46102" name="Text Box 82"/>
            <p:cNvSpPr txBox="1"/>
            <p:nvPr/>
          </p:nvSpPr>
          <p:spPr>
            <a:xfrm>
              <a:off x="0" y="391"/>
              <a:ext cx="536" cy="252"/>
            </a:xfrm>
            <a:prstGeom prst="rect">
              <a:avLst/>
            </a:prstGeom>
            <a:noFill/>
            <a:ln w="9525">
              <a:noFill/>
            </a:ln>
          </p:spPr>
          <p:txBody>
            <a:bodyPr>
              <a:spAutoFit/>
            </a:bodyPr>
            <a:lstStyle/>
            <a:p>
              <a:pPr algn="just" eaLnBrk="0" hangingPunct="0"/>
              <a:r>
                <a:rPr lang="en-US" altLang="zh-CN" sz="1350" dirty="0">
                  <a:solidFill>
                    <a:srgbClr val="0000FF"/>
                  </a:solidFill>
                  <a:latin typeface="Microsoft YaHei" panose="020B0503020204020204" pitchFamily="34" charset="-122"/>
                  <a:ea typeface="Microsoft YaHei" panose="020B0503020204020204" pitchFamily="34" charset="-122"/>
                </a:rPr>
                <a:t>…</a:t>
              </a:r>
            </a:p>
          </p:txBody>
        </p:sp>
      </p:grpSp>
      <p:grpSp>
        <p:nvGrpSpPr>
          <p:cNvPr id="30" name="Group 83"/>
          <p:cNvGrpSpPr/>
          <p:nvPr/>
        </p:nvGrpSpPr>
        <p:grpSpPr>
          <a:xfrm>
            <a:off x="778110" y="1806064"/>
            <a:ext cx="3714750" cy="1259681"/>
            <a:chOff x="0" y="0"/>
            <a:chExt cx="3450" cy="1058"/>
          </a:xfrm>
        </p:grpSpPr>
        <p:grpSp>
          <p:nvGrpSpPr>
            <p:cNvPr id="46097" name="Group 84"/>
            <p:cNvGrpSpPr/>
            <p:nvPr/>
          </p:nvGrpSpPr>
          <p:grpSpPr>
            <a:xfrm>
              <a:off x="0" y="0"/>
              <a:ext cx="751" cy="1051"/>
              <a:chOff x="0" y="0"/>
              <a:chExt cx="751" cy="1051"/>
            </a:xfrm>
          </p:grpSpPr>
          <p:sp>
            <p:nvSpPr>
              <p:cNvPr id="46099" name="AutoShape 85"/>
              <p:cNvSpPr/>
              <p:nvPr/>
            </p:nvSpPr>
            <p:spPr>
              <a:xfrm>
                <a:off x="536" y="0"/>
                <a:ext cx="215" cy="1051"/>
              </a:xfrm>
              <a:prstGeom prst="leftBrace">
                <a:avLst>
                  <a:gd name="adj1" fmla="val 40645"/>
                  <a:gd name="adj2" fmla="val 50000"/>
                </a:avLst>
              </a:prstGeom>
              <a:noFill/>
              <a:ln w="9525" cap="flat" cmpd="sng">
                <a:solidFill>
                  <a:srgbClr val="000000"/>
                </a:solidFill>
                <a:prstDash val="solid"/>
                <a:headEnd type="none" w="med" len="med"/>
                <a:tailEnd type="none" w="med" len="med"/>
              </a:ln>
            </p:spPr>
            <p:txBody>
              <a:bodyPr wrap="none" anchor="ctr" anchorCtr="0"/>
              <a:lstStyle/>
              <a:p>
                <a:pPr algn="ctr"/>
                <a:endParaRPr lang="zh-CN" altLang="en-US" sz="1350" dirty="0">
                  <a:latin typeface="Microsoft YaHei" panose="020B0503020204020204" pitchFamily="34" charset="-122"/>
                  <a:ea typeface="Microsoft YaHei" panose="020B0503020204020204" pitchFamily="34" charset="-122"/>
                </a:endParaRPr>
              </a:p>
            </p:txBody>
          </p:sp>
          <p:sp>
            <p:nvSpPr>
              <p:cNvPr id="46100" name="Text Box 86"/>
              <p:cNvSpPr txBox="1"/>
              <p:nvPr/>
            </p:nvSpPr>
            <p:spPr>
              <a:xfrm>
                <a:off x="0" y="263"/>
                <a:ext cx="536" cy="252"/>
              </a:xfrm>
              <a:prstGeom prst="rect">
                <a:avLst/>
              </a:prstGeom>
              <a:noFill/>
              <a:ln w="9525">
                <a:noFill/>
              </a:ln>
            </p:spPr>
            <p:txBody>
              <a:bodyPr>
                <a:spAutoFit/>
              </a:bodyPr>
              <a:lstStyle/>
              <a:p>
                <a:pPr algn="just" eaLnBrk="0" hangingPunct="0"/>
                <a:r>
                  <a:rPr lang="en-US" altLang="zh-CN" sz="1350" dirty="0">
                    <a:solidFill>
                      <a:srgbClr val="0000FF"/>
                    </a:solidFill>
                    <a:latin typeface="Microsoft YaHei" panose="020B0503020204020204" pitchFamily="34" charset="-122"/>
                    <a:ea typeface="Microsoft YaHei" panose="020B0503020204020204" pitchFamily="34" charset="-122"/>
                  </a:rPr>
                  <a:t>1</a:t>
                </a:r>
                <a:r>
                  <a:rPr lang="zh-CN" altLang="en-US" sz="1350" dirty="0">
                    <a:solidFill>
                      <a:srgbClr val="0000FF"/>
                    </a:solidFill>
                    <a:latin typeface="Microsoft YaHei" panose="020B0503020204020204" pitchFamily="34" charset="-122"/>
                    <a:ea typeface="Microsoft YaHei" panose="020B0503020204020204" pitchFamily="34" charset="-122"/>
                  </a:rPr>
                  <a:t>组</a:t>
                </a:r>
              </a:p>
            </p:txBody>
          </p:sp>
        </p:grpSp>
        <p:sp>
          <p:nvSpPr>
            <p:cNvPr id="46098" name="Line 87"/>
            <p:cNvSpPr/>
            <p:nvPr/>
          </p:nvSpPr>
          <p:spPr>
            <a:xfrm>
              <a:off x="768" y="1058"/>
              <a:ext cx="2682" cy="0"/>
            </a:xfrm>
            <a:prstGeom prst="line">
              <a:avLst/>
            </a:prstGeom>
            <a:ln w="28575" cap="flat" cmpd="sng">
              <a:solidFill>
                <a:schemeClr val="hlink"/>
              </a:solidFill>
              <a:prstDash val="soli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nvGrpSpPr>
          <p:cNvPr id="46179" name="Group 88"/>
          <p:cNvGrpSpPr/>
          <p:nvPr/>
        </p:nvGrpSpPr>
        <p:grpSpPr>
          <a:xfrm>
            <a:off x="778110" y="3055029"/>
            <a:ext cx="3714750" cy="865584"/>
            <a:chOff x="0" y="0"/>
            <a:chExt cx="3433" cy="726"/>
          </a:xfrm>
        </p:grpSpPr>
        <p:grpSp>
          <p:nvGrpSpPr>
            <p:cNvPr id="46093" name="Group 89"/>
            <p:cNvGrpSpPr/>
            <p:nvPr/>
          </p:nvGrpSpPr>
          <p:grpSpPr>
            <a:xfrm>
              <a:off x="0" y="0"/>
              <a:ext cx="751" cy="720"/>
              <a:chOff x="0" y="0"/>
              <a:chExt cx="751" cy="720"/>
            </a:xfrm>
          </p:grpSpPr>
          <p:sp>
            <p:nvSpPr>
              <p:cNvPr id="46095" name="AutoShape 90"/>
              <p:cNvSpPr/>
              <p:nvPr/>
            </p:nvSpPr>
            <p:spPr>
              <a:xfrm>
                <a:off x="536" y="0"/>
                <a:ext cx="215" cy="720"/>
              </a:xfrm>
              <a:prstGeom prst="leftBrace">
                <a:avLst>
                  <a:gd name="adj1" fmla="val 27844"/>
                  <a:gd name="adj2" fmla="val 50000"/>
                </a:avLst>
              </a:prstGeom>
              <a:noFill/>
              <a:ln w="9525" cap="flat" cmpd="sng">
                <a:solidFill>
                  <a:srgbClr val="000000"/>
                </a:solidFill>
                <a:prstDash val="solid"/>
                <a:headEnd type="none" w="med" len="med"/>
                <a:tailEnd type="none" w="med" len="med"/>
              </a:ln>
            </p:spPr>
            <p:txBody>
              <a:bodyPr wrap="none" anchor="ctr" anchorCtr="0"/>
              <a:lstStyle/>
              <a:p>
                <a:pPr algn="ctr"/>
                <a:endParaRPr lang="zh-CN" altLang="en-US" sz="1350" dirty="0">
                  <a:latin typeface="Microsoft YaHei" panose="020B0503020204020204" pitchFamily="34" charset="-122"/>
                  <a:ea typeface="Microsoft YaHei" panose="020B0503020204020204" pitchFamily="34" charset="-122"/>
                </a:endParaRPr>
              </a:p>
            </p:txBody>
          </p:sp>
          <p:sp>
            <p:nvSpPr>
              <p:cNvPr id="46096" name="Text Box 91"/>
              <p:cNvSpPr txBox="1"/>
              <p:nvPr/>
            </p:nvSpPr>
            <p:spPr>
              <a:xfrm>
                <a:off x="0" y="151"/>
                <a:ext cx="536" cy="252"/>
              </a:xfrm>
              <a:prstGeom prst="rect">
                <a:avLst/>
              </a:prstGeom>
              <a:noFill/>
              <a:ln w="9525">
                <a:noFill/>
              </a:ln>
            </p:spPr>
            <p:txBody>
              <a:bodyPr>
                <a:spAutoFit/>
              </a:bodyPr>
              <a:lstStyle/>
              <a:p>
                <a:pPr algn="just" eaLnBrk="0" hangingPunct="0"/>
                <a:r>
                  <a:rPr lang="en-US" altLang="zh-CN" sz="1350" dirty="0">
                    <a:solidFill>
                      <a:srgbClr val="0000FF"/>
                    </a:solidFill>
                    <a:latin typeface="Microsoft YaHei" panose="020B0503020204020204" pitchFamily="34" charset="-122"/>
                    <a:ea typeface="Microsoft YaHei" panose="020B0503020204020204" pitchFamily="34" charset="-122"/>
                  </a:rPr>
                  <a:t>2</a:t>
                </a:r>
                <a:r>
                  <a:rPr lang="zh-CN" altLang="en-US" sz="1350" dirty="0">
                    <a:solidFill>
                      <a:srgbClr val="0000FF"/>
                    </a:solidFill>
                    <a:latin typeface="Microsoft YaHei" panose="020B0503020204020204" pitchFamily="34" charset="-122"/>
                    <a:ea typeface="Microsoft YaHei" panose="020B0503020204020204" pitchFamily="34" charset="-122"/>
                  </a:rPr>
                  <a:t>组</a:t>
                </a:r>
              </a:p>
            </p:txBody>
          </p:sp>
        </p:grpSp>
        <p:sp>
          <p:nvSpPr>
            <p:cNvPr id="46094" name="Line 92"/>
            <p:cNvSpPr/>
            <p:nvPr/>
          </p:nvSpPr>
          <p:spPr>
            <a:xfrm>
              <a:off x="751" y="726"/>
              <a:ext cx="2682" cy="0"/>
            </a:xfrm>
            <a:prstGeom prst="line">
              <a:avLst/>
            </a:prstGeom>
            <a:ln w="28575" cap="flat" cmpd="sng">
              <a:solidFill>
                <a:schemeClr val="hlink"/>
              </a:solidFill>
              <a:prstDash val="soli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46088" name="Text Box 96"/>
          <p:cNvSpPr txBox="1"/>
          <p:nvPr/>
        </p:nvSpPr>
        <p:spPr>
          <a:xfrm>
            <a:off x="5279790" y="1177413"/>
            <a:ext cx="3086100" cy="1255728"/>
          </a:xfrm>
          <a:prstGeom prst="rect">
            <a:avLst/>
          </a:prstGeom>
          <a:noFill/>
          <a:ln w="9525">
            <a:noFill/>
          </a:ln>
        </p:spPr>
        <p:txBody>
          <a:bodyPr>
            <a:spAutoFit/>
          </a:bodyPr>
          <a:lstStyle/>
          <a:p>
            <a:pPr>
              <a:lnSpc>
                <a:spcPct val="90000"/>
              </a:lnSpc>
              <a:spcBef>
                <a:spcPct val="20000"/>
              </a:spcBef>
              <a:buClr>
                <a:schemeClr val="folHlink"/>
              </a:buClr>
              <a:buFont typeface="Wingdings" panose="05000000000000000000" pitchFamily="2" charset="2"/>
              <a:buChar char="§"/>
            </a:pPr>
            <a:r>
              <a:rPr lang="zh-CN" altLang="en-US" dirty="0">
                <a:solidFill>
                  <a:schemeClr val="folHlink"/>
                </a:solidFill>
                <a:latin typeface="Microsoft YaHei" panose="020B0503020204020204" pitchFamily="34" charset="-122"/>
                <a:ea typeface="Microsoft YaHei" panose="020B0503020204020204" pitchFamily="34" charset="-122"/>
              </a:rPr>
              <a:t>例</a:t>
            </a:r>
            <a:r>
              <a:rPr lang="en-US" altLang="zh-CN" dirty="0">
                <a:solidFill>
                  <a:schemeClr val="folHlink"/>
                </a:solidFill>
                <a:latin typeface="Microsoft YaHei" panose="020B0503020204020204" pitchFamily="34" charset="-122"/>
                <a:ea typeface="Microsoft YaHei" panose="020B0503020204020204" pitchFamily="34" charset="-122"/>
              </a:rPr>
              <a:t>:</a:t>
            </a:r>
            <a:r>
              <a:rPr lang="zh-CN" altLang="en-US" dirty="0">
                <a:solidFill>
                  <a:schemeClr val="folHlink"/>
                </a:solidFill>
                <a:latin typeface="Microsoft YaHei" panose="020B0503020204020204" pitchFamily="34" charset="-122"/>
                <a:ea typeface="Microsoft YaHei" panose="020B0503020204020204" pitchFamily="34" charset="-122"/>
              </a:rPr>
              <a:t>求每个学生的平均成绩。 </a:t>
            </a:r>
          </a:p>
          <a:p>
            <a:pPr>
              <a:lnSpc>
                <a:spcPct val="90000"/>
              </a:lnSpc>
              <a:spcBef>
                <a:spcPct val="20000"/>
              </a:spcBef>
              <a:buClr>
                <a:schemeClr val="folHlink"/>
              </a:buClr>
            </a:pP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SELECT sno,AVG(grade)</a:t>
            </a:r>
          </a:p>
          <a:p>
            <a:pPr>
              <a:lnSpc>
                <a:spcPct val="90000"/>
              </a:lnSpc>
              <a:spcBef>
                <a:spcPct val="20000"/>
              </a:spcBef>
              <a:buClr>
                <a:schemeClr val="folHlink"/>
              </a:buClr>
            </a:pPr>
            <a:r>
              <a:rPr lang="en-US" altLang="zh-CN" dirty="0">
                <a:latin typeface="Microsoft YaHei" panose="020B0503020204020204" pitchFamily="34" charset="-122"/>
                <a:ea typeface="Microsoft YaHei" panose="020B0503020204020204" pitchFamily="34" charset="-122"/>
              </a:rPr>
              <a:t> FROM  SC</a:t>
            </a:r>
          </a:p>
          <a:p>
            <a:pPr>
              <a:lnSpc>
                <a:spcPct val="90000"/>
              </a:lnSpc>
              <a:spcBef>
                <a:spcPct val="20000"/>
              </a:spcBef>
              <a:buClr>
                <a:schemeClr val="folHlink"/>
              </a:buClr>
            </a:pPr>
            <a:r>
              <a:rPr lang="en-US" altLang="zh-CN" dirty="0">
                <a:latin typeface="Microsoft YaHei" panose="020B0503020204020204" pitchFamily="34" charset="-122"/>
                <a:ea typeface="Microsoft YaHei" panose="020B0503020204020204" pitchFamily="34" charset="-122"/>
              </a:rPr>
              <a:t> GROUP BY sno </a:t>
            </a:r>
            <a:r>
              <a:rPr lang="zh-CN" altLang="en-US" dirty="0">
                <a:latin typeface="Microsoft YaHei" panose="020B0503020204020204" pitchFamily="34" charset="-122"/>
                <a:ea typeface="Microsoft YaHei" panose="020B0503020204020204" pitchFamily="34" charset="-122"/>
              </a:rPr>
              <a:t>；</a:t>
            </a:r>
          </a:p>
        </p:txBody>
      </p:sp>
      <p:sp>
        <p:nvSpPr>
          <p:cNvPr id="4" name="标题 3">
            <a:extLst>
              <a:ext uri="{FF2B5EF4-FFF2-40B4-BE49-F238E27FC236}">
                <a16:creationId xmlns:a16="http://schemas.microsoft.com/office/drawing/2014/main" id="{3420AD41-5CDE-79A6-283D-10C75BBF5E50}"/>
              </a:ext>
            </a:extLst>
          </p:cNvPr>
          <p:cNvSpPr>
            <a:spLocks noGrp="1"/>
          </p:cNvSpPr>
          <p:nvPr>
            <p:ph type="title"/>
          </p:nvPr>
        </p:nvSpPr>
        <p:spPr/>
        <p:txBody>
          <a:bodyPr/>
          <a:lstStyle/>
          <a:p>
            <a:r>
              <a:rPr lang="zh-CN" altLang="en-US" dirty="0"/>
              <a:t>分组查询示意图</a:t>
            </a:r>
          </a:p>
        </p:txBody>
      </p:sp>
      <p:graphicFrame>
        <p:nvGraphicFramePr>
          <p:cNvPr id="6" name="表格 5">
            <a:extLst>
              <a:ext uri="{FF2B5EF4-FFF2-40B4-BE49-F238E27FC236}">
                <a16:creationId xmlns:a16="http://schemas.microsoft.com/office/drawing/2014/main" id="{D5D479FF-D767-31A4-FC2C-F1B5EFDA2F00}"/>
              </a:ext>
            </a:extLst>
          </p:cNvPr>
          <p:cNvGraphicFramePr>
            <a:graphicFrameLocks noGrp="1"/>
          </p:cNvGraphicFramePr>
          <p:nvPr>
            <p:extLst>
              <p:ext uri="{D42A27DB-BD31-4B8C-83A1-F6EECF244321}">
                <p14:modId xmlns:p14="http://schemas.microsoft.com/office/powerpoint/2010/main" val="704158585"/>
              </p:ext>
            </p:extLst>
          </p:nvPr>
        </p:nvGraphicFramePr>
        <p:xfrm>
          <a:off x="5769368" y="2793832"/>
          <a:ext cx="3086100" cy="1483360"/>
        </p:xfrm>
        <a:graphic>
          <a:graphicData uri="http://schemas.openxmlformats.org/drawingml/2006/table">
            <a:tbl>
              <a:tblPr firstRow="1" bandRow="1">
                <a:tableStyleId>{5C22544A-7EE6-4342-B048-85BDC9FD1C3A}</a:tableStyleId>
              </a:tblPr>
              <a:tblGrid>
                <a:gridCol w="1543050">
                  <a:extLst>
                    <a:ext uri="{9D8B030D-6E8A-4147-A177-3AD203B41FA5}">
                      <a16:colId xmlns:a16="http://schemas.microsoft.com/office/drawing/2014/main" val="2724772903"/>
                    </a:ext>
                  </a:extLst>
                </a:gridCol>
                <a:gridCol w="1543050">
                  <a:extLst>
                    <a:ext uri="{9D8B030D-6E8A-4147-A177-3AD203B41FA5}">
                      <a16:colId xmlns:a16="http://schemas.microsoft.com/office/drawing/2014/main" val="834612876"/>
                    </a:ext>
                  </a:extLst>
                </a:gridCol>
              </a:tblGrid>
              <a:tr h="370840">
                <a:tc>
                  <a:txBody>
                    <a:bodyPr/>
                    <a:lstStyle/>
                    <a:p>
                      <a:pPr algn="ctr"/>
                      <a:r>
                        <a:rPr lang="en-US" altLang="zh-CN" dirty="0" err="1"/>
                        <a:t>sno</a:t>
                      </a:r>
                      <a:endParaRPr lang="zh-CN" altLang="en-US" dirty="0"/>
                    </a:p>
                  </a:txBody>
                  <a:tcPr/>
                </a:tc>
                <a:tc>
                  <a:txBody>
                    <a:bodyPr/>
                    <a:lstStyle/>
                    <a:p>
                      <a:pPr algn="ctr"/>
                      <a:r>
                        <a:rPr lang="en-US" altLang="zh-CN" dirty="0"/>
                        <a:t>AVG(grade)</a:t>
                      </a:r>
                      <a:endParaRPr lang="zh-CN" altLang="en-US" dirty="0"/>
                    </a:p>
                  </a:txBody>
                  <a:tcPr/>
                </a:tc>
                <a:extLst>
                  <a:ext uri="{0D108BD9-81ED-4DB2-BD59-A6C34878D82A}">
                    <a16:rowId xmlns:a16="http://schemas.microsoft.com/office/drawing/2014/main" val="1863773778"/>
                  </a:ext>
                </a:extLst>
              </a:tr>
              <a:tr h="370840">
                <a:tc>
                  <a:txBody>
                    <a:bodyPr/>
                    <a:lstStyle/>
                    <a:p>
                      <a:pPr algn="ctr"/>
                      <a:r>
                        <a:rPr lang="en-US" altLang="zh-CN" dirty="0"/>
                        <a:t>000101</a:t>
                      </a:r>
                      <a:endParaRPr lang="zh-CN" altLang="en-US" dirty="0"/>
                    </a:p>
                  </a:txBody>
                  <a:tcPr/>
                </a:tc>
                <a:tc>
                  <a:txBody>
                    <a:bodyPr/>
                    <a:lstStyle/>
                    <a:p>
                      <a:pPr algn="ctr"/>
                      <a:r>
                        <a:rPr lang="en-US" altLang="zh-CN" dirty="0"/>
                        <a:t>85</a:t>
                      </a:r>
                      <a:endParaRPr lang="zh-CN" altLang="en-US" dirty="0"/>
                    </a:p>
                  </a:txBody>
                  <a:tcPr/>
                </a:tc>
                <a:extLst>
                  <a:ext uri="{0D108BD9-81ED-4DB2-BD59-A6C34878D82A}">
                    <a16:rowId xmlns:a16="http://schemas.microsoft.com/office/drawing/2014/main" val="541430623"/>
                  </a:ext>
                </a:extLst>
              </a:tr>
              <a:tr h="370840">
                <a:tc>
                  <a:txBody>
                    <a:bodyPr/>
                    <a:lstStyle/>
                    <a:p>
                      <a:pPr algn="ctr"/>
                      <a:r>
                        <a:rPr lang="en-US" altLang="zh-CN" dirty="0"/>
                        <a:t>010101</a:t>
                      </a:r>
                      <a:endParaRPr lang="zh-CN" altLang="en-US" dirty="0"/>
                    </a:p>
                  </a:txBody>
                  <a:tcPr/>
                </a:tc>
                <a:tc>
                  <a:txBody>
                    <a:bodyPr/>
                    <a:lstStyle/>
                    <a:p>
                      <a:pPr algn="ctr"/>
                      <a:r>
                        <a:rPr lang="en-US" altLang="zh-CN" dirty="0"/>
                        <a:t>80</a:t>
                      </a:r>
                      <a:endParaRPr lang="zh-CN" altLang="en-US" dirty="0"/>
                    </a:p>
                  </a:txBody>
                  <a:tcPr/>
                </a:tc>
                <a:extLst>
                  <a:ext uri="{0D108BD9-81ED-4DB2-BD59-A6C34878D82A}">
                    <a16:rowId xmlns:a16="http://schemas.microsoft.com/office/drawing/2014/main" val="226799214"/>
                  </a:ext>
                </a:extLst>
              </a:tr>
              <a:tr h="370840">
                <a:tc>
                  <a:txBody>
                    <a:bodyPr/>
                    <a:lstStyle/>
                    <a:p>
                      <a:r>
                        <a:rPr lang="en-US" altLang="zh-CN" dirty="0"/>
                        <a:t>……</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extLst>
                  <a:ext uri="{0D108BD9-81ED-4DB2-BD59-A6C34878D82A}">
                    <a16:rowId xmlns:a16="http://schemas.microsoft.com/office/drawing/2014/main" val="3704882740"/>
                  </a:ext>
                </a:extLst>
              </a:tr>
            </a:tbl>
          </a:graphicData>
        </a:graphic>
      </p:graphicFrame>
      <p:sp>
        <p:nvSpPr>
          <p:cNvPr id="7" name="右箭头 6">
            <a:extLst>
              <a:ext uri="{FF2B5EF4-FFF2-40B4-BE49-F238E27FC236}">
                <a16:creationId xmlns:a16="http://schemas.microsoft.com/office/drawing/2014/main" id="{0A114DAA-30C3-F1F0-048F-D381D815B378}"/>
              </a:ext>
            </a:extLst>
          </p:cNvPr>
          <p:cNvSpPr/>
          <p:nvPr/>
        </p:nvSpPr>
        <p:spPr>
          <a:xfrm>
            <a:off x="4719791" y="3375082"/>
            <a:ext cx="865239" cy="2485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ox(out)">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46179"/>
                                        </p:tgtEl>
                                        <p:attrNameLst>
                                          <p:attrName>style.visibility</p:attrName>
                                        </p:attrNameLst>
                                      </p:cBhvr>
                                      <p:to>
                                        <p:strVal val="visible"/>
                                      </p:to>
                                    </p:set>
                                    <p:animEffect transition="in" filter="box(out)">
                                      <p:cBhvr>
                                        <p:cTn id="12" dur="500"/>
                                        <p:tgtEl>
                                          <p:spTgt spid="4617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box(ou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checkerboard(across)">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501445" y="1415845"/>
            <a:ext cx="8131278" cy="3303640"/>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0" indent="0" eaLnBrk="1" hangingPunct="1">
              <a:buNone/>
            </a:pPr>
            <a:r>
              <a:rPr lang="zh-CN" altLang="en-US" sz="1800" b="1" dirty="0">
                <a:solidFill>
                  <a:schemeClr val="hlink"/>
                </a:solidFill>
                <a:latin typeface="Microsoft YaHei" panose="020B0503020204020204" pitchFamily="34" charset="-122"/>
                <a:ea typeface="Microsoft YaHei" panose="020B0503020204020204" pitchFamily="34" charset="-122"/>
              </a:rPr>
              <a:t>[例] </a:t>
            </a:r>
            <a:r>
              <a:rPr lang="zh-CN" altLang="en-US" sz="1800" b="1" dirty="0">
                <a:latin typeface="Microsoft YaHei" panose="020B0503020204020204" pitchFamily="34" charset="-122"/>
                <a:ea typeface="Microsoft YaHei" panose="020B0503020204020204" pitchFamily="34" charset="-122"/>
              </a:rPr>
              <a:t>求学生关系中湖北籍男生的每一年龄组（不少于30人）共有多少人，要求查询结果按人数升序排列，人数相同时按年龄降序排列。</a:t>
            </a:r>
            <a:endParaRPr lang="en-US" altLang="zh-CN" sz="1800" b="1" dirty="0">
              <a:latin typeface="Microsoft YaHei" panose="020B0503020204020204" pitchFamily="34" charset="-122"/>
              <a:ea typeface="Microsoft YaHei" panose="020B0503020204020204" pitchFamily="34" charset="-122"/>
            </a:endParaRPr>
          </a:p>
          <a:p>
            <a:pPr marL="0" indent="0" eaLnBrk="1" hangingPunct="1">
              <a:buNone/>
            </a:pPr>
            <a:endParaRPr lang="zh-CN" altLang="en-US" sz="1800" b="1" dirty="0">
              <a:latin typeface="Microsoft YaHei" panose="020B0503020204020204" pitchFamily="34" charset="-122"/>
              <a:ea typeface="Microsoft YaHei" panose="020B0503020204020204" pitchFamily="34" charset="-122"/>
            </a:endParaRPr>
          </a:p>
          <a:p>
            <a:pPr marL="0" indent="0" eaLnBrk="1" hangingPunct="1">
              <a:buNone/>
            </a:pPr>
            <a:r>
              <a:rPr lang="zh-CN" altLang="en-US" sz="1800" b="1" dirty="0">
                <a:latin typeface="Microsoft YaHei" panose="020B0503020204020204" pitchFamily="34" charset="-122"/>
                <a:ea typeface="Microsoft YaHei" panose="020B0503020204020204" pitchFamily="34" charset="-122"/>
              </a:rPr>
              <a:t>  SELECT age,COUNT(sno) number</a:t>
            </a:r>
          </a:p>
          <a:p>
            <a:pPr marL="0" indent="0" eaLnBrk="1" hangingPunct="1">
              <a:buNone/>
            </a:pPr>
            <a:r>
              <a:rPr lang="zh-CN" altLang="en-US" sz="1800" b="1" dirty="0">
                <a:latin typeface="Microsoft YaHei" panose="020B0503020204020204" pitchFamily="34" charset="-122"/>
                <a:ea typeface="Microsoft YaHei" panose="020B0503020204020204" pitchFamily="34" charset="-122"/>
              </a:rPr>
              <a:t>  FROM Student</a:t>
            </a:r>
          </a:p>
          <a:p>
            <a:pPr marL="0" indent="0" eaLnBrk="1" hangingPunct="1">
              <a:buNone/>
            </a:pPr>
            <a:r>
              <a:rPr lang="zh-CN" altLang="en-US" sz="1800" b="1" dirty="0">
                <a:latin typeface="Microsoft YaHei" panose="020B0503020204020204" pitchFamily="34" charset="-122"/>
                <a:ea typeface="Microsoft YaHei" panose="020B0503020204020204" pitchFamily="34" charset="-122"/>
              </a:rPr>
              <a:t>  WHERE sex=‘男’ AND place='湖北'</a:t>
            </a:r>
          </a:p>
          <a:p>
            <a:pPr marL="0" indent="0" eaLnBrk="1" hangingPunct="1">
              <a:buNone/>
            </a:pPr>
            <a:r>
              <a:rPr lang="zh-CN" altLang="en-US" sz="1800" b="1" dirty="0">
                <a:latin typeface="Microsoft YaHei" panose="020B0503020204020204" pitchFamily="34" charset="-122"/>
                <a:ea typeface="Microsoft YaHei" panose="020B0503020204020204" pitchFamily="34" charset="-122"/>
              </a:rPr>
              <a:t>  GROUP BY age</a:t>
            </a:r>
          </a:p>
          <a:p>
            <a:pPr marL="0" indent="0" eaLnBrk="1" hangingPunct="1">
              <a:buNone/>
            </a:pPr>
            <a:r>
              <a:rPr lang="zh-CN" altLang="en-US" sz="1800" b="1" dirty="0">
                <a:latin typeface="Microsoft YaHei" panose="020B0503020204020204" pitchFamily="34" charset="-122"/>
                <a:ea typeface="Microsoft YaHei" panose="020B0503020204020204" pitchFamily="34" charset="-122"/>
              </a:rPr>
              <a:t>  HAVING number&gt;30</a:t>
            </a:r>
          </a:p>
          <a:p>
            <a:pPr marL="0" indent="0" eaLnBrk="1" hangingPunct="1">
              <a:buNone/>
            </a:pPr>
            <a:r>
              <a:rPr lang="zh-CN" altLang="en-US" sz="1800" b="1" dirty="0">
                <a:latin typeface="Microsoft YaHei" panose="020B0503020204020204" pitchFamily="34" charset="-122"/>
                <a:ea typeface="Microsoft YaHei" panose="020B0503020204020204" pitchFamily="34" charset="-122"/>
              </a:rPr>
              <a:t>  ORDER BY number,age DESC;</a:t>
            </a:r>
          </a:p>
          <a:p>
            <a:pPr marL="0" indent="0" eaLnBrk="1" hangingPunct="1">
              <a:buNone/>
            </a:pPr>
            <a:endParaRPr lang="zh-CN" altLang="en-US" sz="1800" b="1" dirty="0">
              <a:latin typeface="Microsoft YaHei" panose="020B0503020204020204" pitchFamily="34" charset="-122"/>
              <a:ea typeface="Microsoft YaHei" panose="020B0503020204020204" pitchFamily="34" charset="-122"/>
            </a:endParaRPr>
          </a:p>
        </p:txBody>
      </p:sp>
      <p:sp>
        <p:nvSpPr>
          <p:cNvPr id="6" name="标题 5">
            <a:extLst>
              <a:ext uri="{FF2B5EF4-FFF2-40B4-BE49-F238E27FC236}">
                <a16:creationId xmlns:a16="http://schemas.microsoft.com/office/drawing/2014/main" id="{9FC29024-6430-8671-846A-C43489F71547}"/>
              </a:ext>
            </a:extLst>
          </p:cNvPr>
          <p:cNvSpPr>
            <a:spLocks noGrp="1"/>
          </p:cNvSpPr>
          <p:nvPr>
            <p:ph type="title"/>
          </p:nvPr>
        </p:nvSpPr>
        <p:spPr/>
        <p:txBody>
          <a:bodyPr/>
          <a:lstStyle/>
          <a:p>
            <a:r>
              <a:rPr lang="zh-CN" altLang="en-US" dirty="0"/>
              <a:t>单表查询</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4"/>
          <p:cNvGraphicFramePr>
            <a:graphicFrameLocks noChangeAspect="1"/>
          </p:cNvGraphicFramePr>
          <p:nvPr>
            <p:extLst>
              <p:ext uri="{D42A27DB-BD31-4B8C-83A1-F6EECF244321}">
                <p14:modId xmlns:p14="http://schemas.microsoft.com/office/powerpoint/2010/main" val="2817464022"/>
              </p:ext>
            </p:extLst>
          </p:nvPr>
        </p:nvGraphicFramePr>
        <p:xfrm>
          <a:off x="7200900" y="3055924"/>
          <a:ext cx="1943100" cy="1771650"/>
        </p:xfrm>
        <a:graphic>
          <a:graphicData uri="http://schemas.openxmlformats.org/presentationml/2006/ole">
            <mc:AlternateContent xmlns:mc="http://schemas.openxmlformats.org/markup-compatibility/2006">
              <mc:Choice xmlns:v="urn:schemas-microsoft-com:vml" Requires="v">
                <p:oleObj r:id="rId3" imgW="3764280" imgH="3535680" progId="">
                  <p:embed/>
                </p:oleObj>
              </mc:Choice>
              <mc:Fallback>
                <p:oleObj r:id="rId3" imgW="3764280" imgH="3535680" progId="">
                  <p:embed/>
                  <p:pic>
                    <p:nvPicPr>
                      <p:cNvPr id="2050" name="Object 4"/>
                      <p:cNvPicPr/>
                      <p:nvPr/>
                    </p:nvPicPr>
                    <p:blipFill>
                      <a:blip r:embed="rId4"/>
                      <a:stretch>
                        <a:fillRect/>
                      </a:stretch>
                    </p:blipFill>
                    <p:spPr>
                      <a:xfrm>
                        <a:off x="7200900" y="3055924"/>
                        <a:ext cx="1943100" cy="1771650"/>
                      </a:xfrm>
                      <a:prstGeom prst="rect">
                        <a:avLst/>
                      </a:prstGeom>
                      <a:noFill/>
                      <a:ln w="38100">
                        <a:noFill/>
                        <a:miter/>
                      </a:ln>
                    </p:spPr>
                  </p:pic>
                </p:oleObj>
              </mc:Fallback>
            </mc:AlternateContent>
          </a:graphicData>
        </a:graphic>
      </p:graphicFrame>
      <p:sp>
        <p:nvSpPr>
          <p:cNvPr id="49155" name="Rectangle 3"/>
          <p:cNvSpPr>
            <a:spLocks noGrp="1"/>
          </p:cNvSpPr>
          <p:nvPr>
            <p:custDataLst>
              <p:tags r:id="rId1"/>
            </p:custDataLst>
          </p:nvPr>
        </p:nvSpPr>
        <p:spPr>
          <a:xfrm>
            <a:off x="275303" y="1253548"/>
            <a:ext cx="7384026" cy="3604752"/>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spcBef>
                <a:spcPts val="19"/>
              </a:spcBef>
            </a:pPr>
            <a:r>
              <a:rPr lang="zh-CN" altLang="en-US" sz="2000" dirty="0">
                <a:latin typeface="Microsoft YaHei" panose="020B0503020204020204" pitchFamily="34" charset="-122"/>
                <a:ea typeface="Microsoft YaHei" panose="020B0503020204020204" pitchFamily="34" charset="-122"/>
              </a:rPr>
              <a:t>一般跟在</a:t>
            </a:r>
            <a:r>
              <a:rPr lang="en-US" altLang="zh-CN" sz="2000" b="1" dirty="0">
                <a:solidFill>
                  <a:srgbClr val="FF0000"/>
                </a:solidFill>
                <a:latin typeface="Microsoft YaHei" panose="020B0503020204020204" pitchFamily="34" charset="-122"/>
                <a:ea typeface="Microsoft YaHei" panose="020B0503020204020204" pitchFamily="34" charset="-122"/>
              </a:rPr>
              <a:t>IN</a:t>
            </a:r>
            <a:r>
              <a:rPr lang="zh-CN" altLang="en-US" sz="2000" dirty="0">
                <a:latin typeface="Microsoft YaHei" panose="020B0503020204020204" pitchFamily="34" charset="-122"/>
                <a:ea typeface="Microsoft YaHei" panose="020B0503020204020204" pitchFamily="34" charset="-122"/>
              </a:rPr>
              <a:t>、</a:t>
            </a:r>
            <a:r>
              <a:rPr lang="en-US" altLang="zh-CN" sz="2000" b="1" dirty="0">
                <a:solidFill>
                  <a:srgbClr val="FF0000"/>
                </a:solidFill>
                <a:latin typeface="Microsoft YaHei" panose="020B0503020204020204" pitchFamily="34" charset="-122"/>
                <a:ea typeface="Microsoft YaHei" panose="020B0503020204020204" pitchFamily="34" charset="-122"/>
              </a:rPr>
              <a:t>SOME</a:t>
            </a:r>
            <a:r>
              <a:rPr lang="zh-CN" altLang="en-US" sz="2000" b="1" dirty="0">
                <a:solidFill>
                  <a:srgbClr val="FF0000"/>
                </a:solidFill>
                <a:latin typeface="Microsoft YaHei" panose="020B0503020204020204" pitchFamily="34" charset="-122"/>
                <a:ea typeface="Microsoft YaHei" panose="020B0503020204020204" pitchFamily="34" charset="-122"/>
              </a:rPr>
              <a:t>（</a:t>
            </a:r>
            <a:r>
              <a:rPr lang="en-US" altLang="zh-CN" sz="2000" b="1" dirty="0">
                <a:solidFill>
                  <a:srgbClr val="FF0000"/>
                </a:solidFill>
                <a:latin typeface="Microsoft YaHei" panose="020B0503020204020204" pitchFamily="34" charset="-122"/>
                <a:ea typeface="Microsoft YaHei" panose="020B0503020204020204" pitchFamily="34" charset="-122"/>
              </a:rPr>
              <a:t>ANY</a:t>
            </a:r>
            <a:r>
              <a:rPr lang="zh-CN" altLang="en-US" sz="2000" b="1" dirty="0">
                <a:solidFill>
                  <a:srgbClr val="FF0000"/>
                </a:solidFill>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a:t>
            </a:r>
            <a:r>
              <a:rPr lang="en-US" altLang="zh-CN" sz="2000" b="1" dirty="0">
                <a:solidFill>
                  <a:srgbClr val="FF0000"/>
                </a:solidFill>
                <a:latin typeface="Microsoft YaHei" panose="020B0503020204020204" pitchFamily="34" charset="-122"/>
                <a:ea typeface="Microsoft YaHei" panose="020B0503020204020204" pitchFamily="34" charset="-122"/>
              </a:rPr>
              <a:t>ALL</a:t>
            </a:r>
            <a:r>
              <a:rPr lang="zh-CN" altLang="en-US" sz="2000" dirty="0">
                <a:latin typeface="Microsoft YaHei" panose="020B0503020204020204" pitchFamily="34" charset="-122"/>
                <a:ea typeface="Microsoft YaHei" panose="020B0503020204020204" pitchFamily="34" charset="-122"/>
              </a:rPr>
              <a:t>和</a:t>
            </a:r>
            <a:r>
              <a:rPr lang="en-US" altLang="zh-CN" sz="2000" b="1" dirty="0">
                <a:solidFill>
                  <a:srgbClr val="FF0000"/>
                </a:solidFill>
                <a:latin typeface="Microsoft YaHei" panose="020B0503020204020204" pitchFamily="34" charset="-122"/>
                <a:ea typeface="Microsoft YaHei" panose="020B0503020204020204" pitchFamily="34" charset="-122"/>
              </a:rPr>
              <a:t>EXIST</a:t>
            </a:r>
            <a:r>
              <a:rPr lang="zh-CN" altLang="en-US" sz="2000" dirty="0">
                <a:latin typeface="Microsoft YaHei" panose="020B0503020204020204" pitchFamily="34" charset="-122"/>
                <a:ea typeface="Microsoft YaHei" panose="020B0503020204020204" pitchFamily="34" charset="-122"/>
              </a:rPr>
              <a:t>等谓词后面。 </a:t>
            </a:r>
          </a:p>
          <a:p>
            <a:pPr eaLnBrk="1" hangingPunct="1">
              <a:spcBef>
                <a:spcPts val="19"/>
              </a:spcBef>
            </a:pPr>
            <a:r>
              <a:rPr lang="en-US" altLang="zh-CN" sz="2000" dirty="0">
                <a:latin typeface="Microsoft YaHei" panose="020B0503020204020204" pitchFamily="34" charset="-122"/>
                <a:ea typeface="Microsoft YaHei" panose="020B0503020204020204" pitchFamily="34" charset="-122"/>
              </a:rPr>
              <a:t>SQL</a:t>
            </a:r>
            <a:r>
              <a:rPr lang="zh-CN" altLang="en-US" sz="2000" dirty="0">
                <a:latin typeface="Microsoft YaHei" panose="020B0503020204020204" pitchFamily="34" charset="-122"/>
                <a:ea typeface="Microsoft YaHei" panose="020B0503020204020204" pitchFamily="34" charset="-122"/>
              </a:rPr>
              <a:t>语言允许多层嵌套查询。</a:t>
            </a:r>
            <a:endParaRPr lang="en-US" altLang="zh-CN" sz="2000" dirty="0">
              <a:latin typeface="Microsoft YaHei" panose="020B0503020204020204" pitchFamily="34" charset="-122"/>
              <a:ea typeface="Microsoft YaHei" panose="020B0503020204020204" pitchFamily="34" charset="-122"/>
            </a:endParaRPr>
          </a:p>
          <a:p>
            <a:pPr eaLnBrk="1" hangingPunct="1">
              <a:spcBef>
                <a:spcPts val="19"/>
              </a:spcBef>
            </a:pPr>
            <a:endParaRPr lang="zh-CN" altLang="en-US" sz="2000" dirty="0">
              <a:latin typeface="Microsoft YaHei" panose="020B0503020204020204" pitchFamily="34" charset="-122"/>
              <a:ea typeface="Microsoft YaHei" panose="020B0503020204020204" pitchFamily="34" charset="-122"/>
            </a:endParaRPr>
          </a:p>
          <a:p>
            <a:pPr eaLnBrk="1" hangingPunct="1">
              <a:spcBef>
                <a:spcPts val="19"/>
              </a:spcBef>
            </a:pPr>
            <a:r>
              <a:rPr lang="zh-CN" altLang="en-US" sz="2000" dirty="0">
                <a:latin typeface="Microsoft YaHei" panose="020B0503020204020204" pitchFamily="34" charset="-122"/>
                <a:ea typeface="Microsoft YaHei" panose="020B0503020204020204" pitchFamily="34" charset="-122"/>
              </a:rPr>
              <a:t>嵌套查询的求解方法是</a:t>
            </a:r>
            <a:r>
              <a:rPr lang="zh-CN" altLang="en-US" sz="2000" dirty="0">
                <a:solidFill>
                  <a:schemeClr val="hlink"/>
                </a:solidFill>
                <a:latin typeface="Microsoft YaHei" panose="020B0503020204020204" pitchFamily="34" charset="-122"/>
                <a:ea typeface="Microsoft YaHei" panose="020B0503020204020204" pitchFamily="34" charset="-122"/>
              </a:rPr>
              <a:t>由里向外</a:t>
            </a:r>
            <a:r>
              <a:rPr lang="zh-CN" altLang="en-US" sz="2000" dirty="0">
                <a:latin typeface="Microsoft YaHei" panose="020B0503020204020204" pitchFamily="34" charset="-122"/>
                <a:ea typeface="Microsoft YaHei" panose="020B0503020204020204" pitchFamily="34" charset="-122"/>
              </a:rPr>
              <a:t>处理。即每个子查询在其上一级查询处理之前求解，子查询的结果用于建立其父查询的查找条件。 </a:t>
            </a:r>
            <a:endParaRPr lang="en-US" altLang="zh-CN" sz="2000" dirty="0">
              <a:latin typeface="Microsoft YaHei" panose="020B0503020204020204" pitchFamily="34" charset="-122"/>
              <a:ea typeface="Microsoft YaHei" panose="020B0503020204020204" pitchFamily="34" charset="-122"/>
            </a:endParaRPr>
          </a:p>
          <a:p>
            <a:pPr eaLnBrk="1" hangingPunct="1">
              <a:spcBef>
                <a:spcPts val="19"/>
              </a:spcBef>
            </a:pPr>
            <a:endParaRPr lang="en-US" altLang="zh-CN" sz="2000" dirty="0">
              <a:latin typeface="Microsoft YaHei" panose="020B0503020204020204" pitchFamily="34" charset="-122"/>
              <a:ea typeface="Microsoft YaHei" panose="020B0503020204020204" pitchFamily="34" charset="-122"/>
            </a:endParaRPr>
          </a:p>
          <a:p>
            <a:pPr eaLnBrk="1" hangingPunct="1">
              <a:spcBef>
                <a:spcPts val="19"/>
              </a:spcBef>
            </a:pPr>
            <a:r>
              <a:rPr lang="zh-CN" altLang="en-US" sz="2000" dirty="0">
                <a:latin typeface="Microsoft YaHei" panose="020B0503020204020204" pitchFamily="34" charset="-122"/>
                <a:ea typeface="Microsoft YaHei" panose="020B0503020204020204" pitchFamily="34" charset="-122"/>
              </a:rPr>
              <a:t>嵌套查询使得可以用一系列简单查询构成复杂的查询，从而明显地增强了</a:t>
            </a:r>
            <a:r>
              <a:rPr lang="en-US" altLang="zh-CN" sz="2000" dirty="0">
                <a:latin typeface="Microsoft YaHei" panose="020B0503020204020204" pitchFamily="34" charset="-122"/>
                <a:ea typeface="Microsoft YaHei" panose="020B0503020204020204" pitchFamily="34" charset="-122"/>
              </a:rPr>
              <a:t>SQL</a:t>
            </a:r>
            <a:r>
              <a:rPr lang="zh-CN" altLang="en-US" sz="2000" dirty="0">
                <a:latin typeface="Microsoft YaHei" panose="020B0503020204020204" pitchFamily="34" charset="-122"/>
                <a:ea typeface="Microsoft YaHei" panose="020B0503020204020204" pitchFamily="34" charset="-122"/>
              </a:rPr>
              <a:t>的查询能力。以层层嵌套的方式来构造程序正是 </a:t>
            </a:r>
            <a:r>
              <a:rPr lang="en-US" altLang="zh-CN" sz="2000" dirty="0">
                <a:latin typeface="Microsoft YaHei" panose="020B0503020204020204" pitchFamily="34" charset="-122"/>
                <a:ea typeface="Microsoft YaHei" panose="020B0503020204020204" pitchFamily="34" charset="-122"/>
              </a:rPr>
              <a:t>SQL(Structurred Query Language)</a:t>
            </a:r>
            <a:r>
              <a:rPr lang="zh-CN" altLang="en-US" sz="2000" dirty="0">
                <a:latin typeface="Microsoft YaHei" panose="020B0503020204020204" pitchFamily="34" charset="-122"/>
                <a:ea typeface="Microsoft YaHei" panose="020B0503020204020204" pitchFamily="34" charset="-122"/>
              </a:rPr>
              <a:t>中“结构化”的含义所在。</a:t>
            </a:r>
          </a:p>
        </p:txBody>
      </p:sp>
      <p:sp>
        <p:nvSpPr>
          <p:cNvPr id="5" name="标题 4">
            <a:extLst>
              <a:ext uri="{FF2B5EF4-FFF2-40B4-BE49-F238E27FC236}">
                <a16:creationId xmlns:a16="http://schemas.microsoft.com/office/drawing/2014/main" id="{FCD42520-83BE-35BE-4EC4-88D8DC24B30D}"/>
              </a:ext>
            </a:extLst>
          </p:cNvPr>
          <p:cNvSpPr>
            <a:spLocks noGrp="1"/>
          </p:cNvSpPr>
          <p:nvPr>
            <p:ph type="title"/>
          </p:nvPr>
        </p:nvSpPr>
        <p:spPr/>
        <p:txBody>
          <a:bodyPr>
            <a:normAutofit/>
          </a:bodyPr>
          <a:lstStyle/>
          <a:p>
            <a:r>
              <a:rPr lang="zh-CN" altLang="en-US" dirty="0"/>
              <a:t>多表查询 </a:t>
            </a:r>
            <a:r>
              <a:rPr lang="en-US" altLang="zh-CN" dirty="0"/>
              <a:t>––</a:t>
            </a:r>
            <a:r>
              <a:rPr lang="zh-CN" altLang="en-US" dirty="0"/>
              <a:t> 非相关子查询</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Text Box 4"/>
          <p:cNvSpPr txBox="1"/>
          <p:nvPr/>
        </p:nvSpPr>
        <p:spPr>
          <a:xfrm>
            <a:off x="4884549" y="2391978"/>
            <a:ext cx="4014634" cy="2751522"/>
          </a:xfrm>
          <a:prstGeom prst="rect">
            <a:avLst/>
          </a:prstGeom>
          <a:noFill/>
          <a:ln w="9525">
            <a:noFill/>
          </a:ln>
        </p:spPr>
        <p:txBody>
          <a:bodyPr wrap="square">
            <a:spAutoFit/>
          </a:bodyPr>
          <a:lstStyle/>
          <a:p>
            <a:pPr marL="257175" indent="-257175" defTabSz="685800">
              <a:lnSpc>
                <a:spcPct val="90000"/>
              </a:lnSpc>
              <a:spcBef>
                <a:spcPct val="20000"/>
              </a:spcBef>
              <a:buClr>
                <a:schemeClr val="folHlink"/>
              </a:buClr>
              <a:buFont typeface="Wingdings" panose="05000000000000000000" charset="0"/>
              <a:buChar char="n"/>
              <a:defRPr/>
            </a:pPr>
            <a:r>
              <a:rPr lang="zh-CN" altLang="en-US" noProof="1">
                <a:solidFill>
                  <a:srgbClr val="FF0000"/>
                </a:solidFill>
                <a:latin typeface="Microsoft YaHei" panose="020B0503020204020204" pitchFamily="34" charset="-122"/>
                <a:ea typeface="Microsoft YaHei" panose="020B0503020204020204" pitchFamily="34" charset="-122"/>
                <a:cs typeface="楷体" panose="02010609060101010101" pitchFamily="49" charset="-122"/>
              </a:rPr>
              <a:t>子查询实现：</a:t>
            </a:r>
            <a:r>
              <a:rPr lang="zh-CN" altLang="en-US" noProof="1">
                <a:latin typeface="Microsoft YaHei" panose="020B0503020204020204" pitchFamily="34" charset="-122"/>
                <a:ea typeface="Microsoft YaHei" panose="020B0503020204020204" pitchFamily="34" charset="-122"/>
                <a:cs typeface="楷体" panose="02010609060101010101" pitchFamily="49" charset="-122"/>
              </a:rPr>
              <a:t>将第一步查询嵌入到第二步查询中，用以构造第二步查询的条件。 </a:t>
            </a:r>
            <a:endParaRPr lang="zh-CN" altLang="en-US"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sym typeface="+mn-ea"/>
            </a:endParaRPr>
          </a:p>
          <a:p>
            <a:pPr defTabSz="685800">
              <a:lnSpc>
                <a:spcPct val="90000"/>
              </a:lnSpc>
              <a:spcBef>
                <a:spcPct val="20000"/>
              </a:spcBef>
              <a:buClr>
                <a:schemeClr val="folHlink"/>
              </a:buClr>
              <a:defRPr/>
            </a:pPr>
            <a:r>
              <a:rPr lang="zh-CN" altLang="en-US"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sym typeface="+mn-ea"/>
              </a:rPr>
              <a:t>SELECT </a:t>
            </a:r>
            <a:r>
              <a:rPr lang="en-US" altLang="zh-CN"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sym typeface="+mn-ea"/>
              </a:rPr>
              <a:t>s</a:t>
            </a:r>
            <a:r>
              <a:rPr lang="zh-CN" altLang="en-US"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sym typeface="+mn-ea"/>
              </a:rPr>
              <a:t>no,</a:t>
            </a:r>
            <a:r>
              <a:rPr lang="en-US" altLang="zh-CN"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sym typeface="+mn-ea"/>
              </a:rPr>
              <a:t>s</a:t>
            </a:r>
            <a:r>
              <a:rPr lang="zh-CN" altLang="en-US"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sym typeface="+mn-ea"/>
              </a:rPr>
              <a:t>name,dept </a:t>
            </a:r>
            <a:br>
              <a:rPr lang="zh-CN" altLang="en-US"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sym typeface="+mn-ea"/>
              </a:rPr>
            </a:br>
            <a:r>
              <a:rPr lang="zh-CN" altLang="en-US"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sym typeface="+mn-ea"/>
              </a:rPr>
              <a:t>FROM Student </a:t>
            </a:r>
            <a:br>
              <a:rPr lang="zh-CN" altLang="en-US"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sym typeface="+mn-ea"/>
              </a:rPr>
            </a:br>
            <a:r>
              <a:rPr lang="zh-CN" altLang="en-US"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sym typeface="+mn-ea"/>
              </a:rPr>
              <a:t>WHERE dept </a:t>
            </a:r>
            <a:r>
              <a:rPr lang="en-US" altLang="zh-CN"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sym typeface="+mn-ea"/>
              </a:rPr>
              <a:t>IN </a:t>
            </a:r>
            <a:endParaRPr lang="en-US" altLang="zh-CN"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endParaRPr>
          </a:p>
          <a:p>
            <a:pPr defTabSz="685800">
              <a:lnSpc>
                <a:spcPct val="90000"/>
              </a:lnSpc>
              <a:spcBef>
                <a:spcPct val="20000"/>
              </a:spcBef>
              <a:buClr>
                <a:schemeClr val="folHlink"/>
              </a:buClr>
              <a:defRPr/>
            </a:pPr>
            <a:r>
              <a:rPr lang="en-US" altLang="zh-CN" noProof="1">
                <a:latin typeface="Microsoft YaHei" panose="020B0503020204020204" pitchFamily="34" charset="-122"/>
                <a:ea typeface="Microsoft YaHei" panose="020B0503020204020204" pitchFamily="34" charset="-122"/>
                <a:cs typeface="楷体" panose="02010609060101010101" pitchFamily="49" charset="-122"/>
              </a:rPr>
              <a:t>  </a:t>
            </a:r>
            <a:r>
              <a:rPr lang="zh-CN" altLang="en-US" noProof="1">
                <a:solidFill>
                  <a:srgbClr val="FF0000"/>
                </a:solidFill>
                <a:latin typeface="Microsoft YaHei" panose="020B0503020204020204" pitchFamily="34" charset="-122"/>
                <a:ea typeface="Microsoft YaHei" panose="020B0503020204020204" pitchFamily="34" charset="-122"/>
                <a:cs typeface="楷体" panose="02010609060101010101" pitchFamily="49" charset="-122"/>
              </a:rPr>
              <a:t>( </a:t>
            </a:r>
            <a:r>
              <a:rPr lang="zh-CN" altLang="en-US" noProof="1">
                <a:solidFill>
                  <a:srgbClr val="FF0000"/>
                </a:solidFill>
                <a:latin typeface="Microsoft YaHei" panose="020B0503020204020204" pitchFamily="34" charset="-122"/>
                <a:ea typeface="Microsoft YaHei" panose="020B0503020204020204" pitchFamily="34" charset="-122"/>
                <a:cs typeface="楷体" panose="02010609060101010101" pitchFamily="49" charset="-122"/>
                <a:sym typeface="+mn-ea"/>
              </a:rPr>
              <a:t>SELECT dept </a:t>
            </a:r>
            <a:br>
              <a:rPr lang="zh-CN" altLang="en-US" dirty="0">
                <a:solidFill>
                  <a:srgbClr val="FF0000"/>
                </a:solidFill>
                <a:latin typeface="Microsoft YaHei" panose="020B0503020204020204" pitchFamily="34" charset="-122"/>
                <a:ea typeface="Microsoft YaHei" panose="020B0503020204020204" pitchFamily="34" charset="-122"/>
                <a:cs typeface="楷体" panose="02010609060101010101" pitchFamily="49" charset="-122"/>
                <a:sym typeface="+mn-ea"/>
              </a:rPr>
            </a:br>
            <a:r>
              <a:rPr lang="zh-CN" altLang="en-US" noProof="1">
                <a:solidFill>
                  <a:srgbClr val="FF0000"/>
                </a:solidFill>
                <a:latin typeface="Microsoft YaHei" panose="020B0503020204020204" pitchFamily="34" charset="-122"/>
                <a:ea typeface="Microsoft YaHei" panose="020B0503020204020204" pitchFamily="34" charset="-122"/>
                <a:cs typeface="楷体" panose="02010609060101010101" pitchFamily="49" charset="-122"/>
                <a:sym typeface="+mn-ea"/>
              </a:rPr>
              <a:t>    FROM Student</a:t>
            </a:r>
            <a:br>
              <a:rPr lang="zh-CN" altLang="en-US" dirty="0">
                <a:solidFill>
                  <a:srgbClr val="FF0000"/>
                </a:solidFill>
                <a:latin typeface="Microsoft YaHei" panose="020B0503020204020204" pitchFamily="34" charset="-122"/>
                <a:ea typeface="Microsoft YaHei" panose="020B0503020204020204" pitchFamily="34" charset="-122"/>
                <a:cs typeface="楷体" panose="02010609060101010101" pitchFamily="49" charset="-122"/>
                <a:sym typeface="+mn-ea"/>
              </a:rPr>
            </a:br>
            <a:r>
              <a:rPr lang="zh-CN" altLang="en-US" noProof="1">
                <a:solidFill>
                  <a:srgbClr val="FF0000"/>
                </a:solidFill>
                <a:latin typeface="Microsoft YaHei" panose="020B0503020204020204" pitchFamily="34" charset="-122"/>
                <a:ea typeface="Microsoft YaHei" panose="020B0503020204020204" pitchFamily="34" charset="-122"/>
                <a:cs typeface="楷体" panose="02010609060101010101" pitchFamily="49" charset="-122"/>
                <a:sym typeface="+mn-ea"/>
              </a:rPr>
              <a:t>    WHERE </a:t>
            </a:r>
            <a:r>
              <a:rPr lang="en-US" altLang="zh-CN" noProof="1">
                <a:solidFill>
                  <a:srgbClr val="FF0000"/>
                </a:solidFill>
                <a:latin typeface="Microsoft YaHei" panose="020B0503020204020204" pitchFamily="34" charset="-122"/>
                <a:ea typeface="Microsoft YaHei" panose="020B0503020204020204" pitchFamily="34" charset="-122"/>
                <a:cs typeface="楷体" panose="02010609060101010101" pitchFamily="49" charset="-122"/>
                <a:sym typeface="+mn-ea"/>
              </a:rPr>
              <a:t>s</a:t>
            </a:r>
            <a:r>
              <a:rPr lang="zh-CN" altLang="en-US" noProof="1">
                <a:solidFill>
                  <a:srgbClr val="FF0000"/>
                </a:solidFill>
                <a:latin typeface="Microsoft YaHei" panose="020B0503020204020204" pitchFamily="34" charset="-122"/>
                <a:ea typeface="Microsoft YaHei" panose="020B0503020204020204" pitchFamily="34" charset="-122"/>
                <a:cs typeface="楷体" panose="02010609060101010101" pitchFamily="49" charset="-122"/>
                <a:sym typeface="+mn-ea"/>
              </a:rPr>
              <a:t>name=‘刘晨’）</a:t>
            </a:r>
            <a:r>
              <a:rPr lang="zh-CN" altLang="en-US"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sym typeface="+mn-ea"/>
              </a:rPr>
              <a:t>；</a:t>
            </a:r>
            <a:endParaRPr lang="en-US" altLang="zh-CN" noProof="1">
              <a:latin typeface="Microsoft YaHei" panose="020B0503020204020204" pitchFamily="34" charset="-122"/>
              <a:ea typeface="Microsoft YaHei" panose="020B0503020204020204" pitchFamily="34" charset="-122"/>
              <a:cs typeface="楷体" panose="02010609060101010101" pitchFamily="49" charset="-122"/>
            </a:endParaRPr>
          </a:p>
          <a:p>
            <a:pPr defTabSz="685800">
              <a:lnSpc>
                <a:spcPct val="90000"/>
              </a:lnSpc>
              <a:spcBef>
                <a:spcPct val="20000"/>
              </a:spcBef>
              <a:buClr>
                <a:schemeClr val="folHlink"/>
              </a:buClr>
              <a:defRPr/>
            </a:pPr>
            <a:endParaRPr lang="zh-CN" altLang="en-US" noProof="1">
              <a:latin typeface="Microsoft YaHei" panose="020B0503020204020204" pitchFamily="34" charset="-122"/>
              <a:ea typeface="Microsoft YaHei" panose="020B0503020204020204" pitchFamily="34" charset="-122"/>
              <a:cs typeface="楷体" panose="02010609060101010101" pitchFamily="49" charset="-122"/>
            </a:endParaRPr>
          </a:p>
        </p:txBody>
      </p:sp>
      <p:sp>
        <p:nvSpPr>
          <p:cNvPr id="2" name="Rectangle 3"/>
          <p:cNvSpPr>
            <a:spLocks noGrp="1"/>
          </p:cNvSpPr>
          <p:nvPr>
            <p:custDataLst>
              <p:tags r:id="rId1"/>
            </p:custDataLst>
          </p:nvPr>
        </p:nvSpPr>
        <p:spPr>
          <a:xfrm>
            <a:off x="244817" y="946310"/>
            <a:ext cx="6858000" cy="3470173"/>
          </a:xfrm>
          <a:prstGeom prst="rect">
            <a:avLst/>
          </a:prstGeom>
          <a:noFill/>
          <a:ln w="9525">
            <a:noFill/>
          </a:ln>
        </p:spPr>
        <p:txBody>
          <a:bodyPr vert="horz" wrap="square" lIns="68580" tIns="34290" rIns="68580" bIns="3429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257175" indent="-257175" defTabSz="685800" eaLnBrk="1" hangingPunct="1">
              <a:buNone/>
              <a:defRPr/>
            </a:pPr>
            <a:r>
              <a:rPr lang="zh-CN" altLang="en-US" sz="1800" b="1" kern="0" noProof="1">
                <a:solidFill>
                  <a:srgbClr val="C00000"/>
                </a:solidFill>
                <a:latin typeface="Microsoft YaHei" panose="020B0503020204020204" pitchFamily="34" charset="-122"/>
                <a:ea typeface="Microsoft YaHei" panose="020B0503020204020204" pitchFamily="34" charset="-122"/>
                <a:cs typeface="楷体" panose="02010609060101010101" pitchFamily="49" charset="-122"/>
              </a:rPr>
              <a:t>(1) 带有IN谓词的子查询</a:t>
            </a:r>
          </a:p>
          <a:p>
            <a:pPr marL="0" indent="0" defTabSz="685800" eaLnBrk="1" hangingPunct="1">
              <a:buNone/>
              <a:defRPr/>
            </a:pPr>
            <a:r>
              <a:rPr lang="zh-CN" altLang="en-US" sz="1800" b="1" kern="0" noProof="1">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带有IN谓词的子查询是指父查询与子查询之间用IN进行连接，判断某个属性列值是否在子查询的结果中。</a:t>
            </a:r>
          </a:p>
          <a:p>
            <a:pPr marL="257175" indent="-257175" defTabSz="685800" eaLnBrk="1" hangingPunct="1">
              <a:buNone/>
              <a:defRPr/>
            </a:pPr>
            <a:r>
              <a:rPr lang="zh-CN" altLang="en-US" sz="1800" b="1" kern="0" noProof="1">
                <a:latin typeface="Microsoft YaHei" panose="020B0503020204020204" pitchFamily="34" charset="-122"/>
                <a:ea typeface="Microsoft YaHei" panose="020B0503020204020204" pitchFamily="34" charset="-122"/>
                <a:cs typeface="楷体" panose="02010609060101010101" pitchFamily="49" charset="-122"/>
              </a:rPr>
              <a:t>例：</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查询与“刘晨”在同一个系学习的学生的学号、姓名、系</a:t>
            </a:r>
          </a:p>
          <a:p>
            <a:pPr marL="257175" indent="-257175" defTabSz="685800" eaLnBrk="1" hangingPunct="1">
              <a:buNone/>
              <a:defRPr/>
            </a:pPr>
            <a:r>
              <a:rPr lang="zh-CN" altLang="en-US" sz="1600" b="1" kern="0" noProof="1">
                <a:latin typeface="Microsoft YaHei" panose="020B0503020204020204" pitchFamily="34" charset="-122"/>
                <a:ea typeface="Microsoft YaHei" panose="020B0503020204020204" pitchFamily="34" charset="-122"/>
                <a:cs typeface="楷体" panose="02010609060101010101" pitchFamily="49" charset="-122"/>
              </a:rPr>
              <a:t>① 确定“刘晨”所在系名 </a:t>
            </a:r>
            <a:br>
              <a:rPr lang="zh-CN" altLang="en-US" sz="1600" b="1" kern="0" dirty="0">
                <a:latin typeface="Microsoft YaHei" panose="020B0503020204020204" pitchFamily="34" charset="-122"/>
                <a:ea typeface="Microsoft YaHei" panose="020B0503020204020204" pitchFamily="34" charset="-122"/>
                <a:cs typeface="楷体" panose="02010609060101010101" pitchFamily="49" charset="-122"/>
              </a:rPr>
            </a:br>
            <a:r>
              <a:rPr lang="zh-CN" altLang="en-US" sz="16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SELECT dept </a:t>
            </a:r>
            <a:br>
              <a:rPr lang="zh-CN" altLang="en-US" sz="1600" b="1"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br>
            <a:r>
              <a:rPr lang="zh-CN" altLang="en-US" sz="16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FROM Student</a:t>
            </a:r>
            <a:br>
              <a:rPr lang="zh-CN" altLang="en-US" sz="1600" b="1"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br>
            <a:r>
              <a:rPr lang="zh-CN" altLang="en-US" sz="16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WHERE </a:t>
            </a:r>
            <a:r>
              <a:rPr lang="en-US" altLang="zh-CN" sz="16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s</a:t>
            </a:r>
            <a:r>
              <a:rPr lang="zh-CN" altLang="en-US" sz="16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name=‘刘晨’; </a:t>
            </a:r>
            <a:br>
              <a:rPr lang="zh-CN" altLang="en-US" sz="1600" b="1"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br>
            <a:endParaRPr lang="zh-CN" altLang="en-US" sz="16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endParaRPr>
          </a:p>
          <a:p>
            <a:pPr marL="257175" indent="-257175" defTabSz="685800" eaLnBrk="1" hangingPunct="1">
              <a:buNone/>
              <a:defRPr/>
            </a:pPr>
            <a:r>
              <a:rPr lang="zh-CN" altLang="en-US" sz="1600" b="1" kern="0" noProof="1">
                <a:latin typeface="Microsoft YaHei" panose="020B0503020204020204" pitchFamily="34" charset="-122"/>
                <a:ea typeface="Microsoft YaHei" panose="020B0503020204020204" pitchFamily="34" charset="-122"/>
                <a:cs typeface="楷体" panose="02010609060101010101" pitchFamily="49" charset="-122"/>
              </a:rPr>
              <a:t>② 假设刘晨是IS系的学生。</a:t>
            </a:r>
            <a:br>
              <a:rPr lang="zh-CN" altLang="en-US" sz="1600" b="1" kern="0" dirty="0">
                <a:latin typeface="Microsoft YaHei" panose="020B0503020204020204" pitchFamily="34" charset="-122"/>
                <a:ea typeface="Microsoft YaHei" panose="020B0503020204020204" pitchFamily="34" charset="-122"/>
                <a:cs typeface="楷体" panose="02010609060101010101" pitchFamily="49" charset="-122"/>
              </a:rPr>
            </a:br>
            <a:r>
              <a:rPr lang="zh-CN" altLang="en-US" sz="16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SELECT </a:t>
            </a:r>
            <a:r>
              <a:rPr lang="en-US" altLang="zh-CN" sz="16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s</a:t>
            </a:r>
            <a:r>
              <a:rPr lang="zh-CN" altLang="en-US" sz="16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no, </a:t>
            </a:r>
            <a:r>
              <a:rPr lang="en-US" altLang="zh-CN" sz="16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s</a:t>
            </a:r>
            <a:r>
              <a:rPr lang="zh-CN" altLang="en-US" sz="16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name, dept </a:t>
            </a:r>
            <a:br>
              <a:rPr lang="zh-CN" altLang="en-US" sz="1600" b="1"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br>
            <a:r>
              <a:rPr lang="zh-CN" altLang="en-US" sz="16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FROM Student </a:t>
            </a:r>
            <a:br>
              <a:rPr lang="zh-CN" altLang="en-US" sz="1600" b="1"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br>
            <a:r>
              <a:rPr lang="zh-CN" altLang="en-US" sz="16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WHERE dept=</a:t>
            </a:r>
            <a:r>
              <a:rPr lang="zh-CN" altLang="en-US" sz="1600" b="1" kern="0" noProof="1">
                <a:solidFill>
                  <a:srgbClr val="FF0000"/>
                </a:solidFill>
                <a:latin typeface="Microsoft YaHei" panose="020B0503020204020204" pitchFamily="34" charset="-122"/>
                <a:ea typeface="Microsoft YaHei" panose="020B0503020204020204" pitchFamily="34" charset="-122"/>
                <a:cs typeface="楷体" panose="02010609060101010101" pitchFamily="49" charset="-122"/>
              </a:rPr>
              <a:t>'IS'</a:t>
            </a:r>
            <a:r>
              <a:rPr lang="zh-CN" altLang="en-US" sz="16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 </a:t>
            </a:r>
            <a:br>
              <a:rPr lang="zh-CN" altLang="en-US" sz="1800" b="1"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br>
            <a:endParaRPr lang="zh-CN" altLang="en-US" sz="18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endParaRPr>
          </a:p>
        </p:txBody>
      </p:sp>
      <p:sp>
        <p:nvSpPr>
          <p:cNvPr id="6" name="标题 5">
            <a:extLst>
              <a:ext uri="{FF2B5EF4-FFF2-40B4-BE49-F238E27FC236}">
                <a16:creationId xmlns:a16="http://schemas.microsoft.com/office/drawing/2014/main" id="{CF50A75A-57FF-2746-2DD4-F4C19F135CB4}"/>
              </a:ext>
            </a:extLst>
          </p:cNvPr>
          <p:cNvSpPr>
            <a:spLocks noGrp="1"/>
          </p:cNvSpPr>
          <p:nvPr>
            <p:ph type="title"/>
          </p:nvPr>
        </p:nvSpPr>
        <p:spPr/>
        <p:txBody>
          <a:bodyPr/>
          <a:lstStyle/>
          <a:p>
            <a:r>
              <a:rPr lang="zh-CN" altLang="en-US" dirty="0"/>
              <a:t>非相关子查询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9156">
                                            <p:txEl>
                                              <p:pRg st="0" end="0"/>
                                            </p:txEl>
                                          </p:spTgt>
                                        </p:tgtEl>
                                        <p:attrNameLst>
                                          <p:attrName>style.visibility</p:attrName>
                                        </p:attrNameLst>
                                      </p:cBhvr>
                                      <p:to>
                                        <p:strVal val="visible"/>
                                      </p:to>
                                    </p:set>
                                    <p:animEffect transition="in" filter="box(out)">
                                      <p:cBhvr>
                                        <p:cTn id="7" dur="500"/>
                                        <p:tgtEl>
                                          <p:spTgt spid="491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49156">
                                            <p:txEl>
                                              <p:pRg st="1" end="1"/>
                                            </p:txEl>
                                          </p:spTgt>
                                        </p:tgtEl>
                                        <p:attrNameLst>
                                          <p:attrName>style.visibility</p:attrName>
                                        </p:attrNameLst>
                                      </p:cBhvr>
                                      <p:to>
                                        <p:strVal val="visible"/>
                                      </p:to>
                                    </p:set>
                                    <p:animEffect transition="in" filter="box(out)">
                                      <p:cBhvr>
                                        <p:cTn id="12" dur="500"/>
                                        <p:tgtEl>
                                          <p:spTgt spid="491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49156">
                                            <p:txEl>
                                              <p:pRg st="2" end="2"/>
                                            </p:txEl>
                                          </p:spTgt>
                                        </p:tgtEl>
                                        <p:attrNameLst>
                                          <p:attrName>style.visibility</p:attrName>
                                        </p:attrNameLst>
                                      </p:cBhvr>
                                      <p:to>
                                        <p:strVal val="visible"/>
                                      </p:to>
                                    </p:set>
                                    <p:animEffect transition="in" filter="box(out)">
                                      <p:cBhvr>
                                        <p:cTn id="17" dur="500"/>
                                        <p:tgtEl>
                                          <p:spTgt spid="4915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Text Box 4"/>
          <p:cNvSpPr txBox="1"/>
          <p:nvPr/>
        </p:nvSpPr>
        <p:spPr>
          <a:xfrm>
            <a:off x="781356" y="1453253"/>
            <a:ext cx="7408915" cy="3157788"/>
          </a:xfrm>
          <a:prstGeom prst="rect">
            <a:avLst/>
          </a:prstGeom>
          <a:noFill/>
          <a:ln w="9525">
            <a:noFill/>
          </a:ln>
        </p:spPr>
        <p:txBody>
          <a:bodyPr wrap="square">
            <a:spAutoFit/>
          </a:bodyPr>
          <a:lstStyle/>
          <a:p>
            <a:pPr algn="just">
              <a:lnSpc>
                <a:spcPct val="120000"/>
              </a:lnSpc>
              <a:spcBef>
                <a:spcPct val="20000"/>
              </a:spcBef>
              <a:buClr>
                <a:schemeClr val="folHlink"/>
              </a:buClr>
            </a:pPr>
            <a:r>
              <a:rPr lang="zh-CN" altLang="en-US" sz="2800" b="1" dirty="0">
                <a:solidFill>
                  <a:srgbClr val="C00000"/>
                </a:solidFill>
                <a:latin typeface="Microsoft YaHei" panose="020B0503020204020204" pitchFamily="34" charset="-122"/>
                <a:ea typeface="Microsoft YaHei" panose="020B0503020204020204" pitchFamily="34" charset="-122"/>
              </a:rPr>
              <a:t>（2）带有比较运算符的子查询</a:t>
            </a:r>
          </a:p>
          <a:p>
            <a:pPr algn="just">
              <a:lnSpc>
                <a:spcPct val="120000"/>
              </a:lnSpc>
              <a:spcBef>
                <a:spcPct val="20000"/>
              </a:spcBef>
              <a:buClr>
                <a:schemeClr val="folHlink"/>
              </a:buClr>
            </a:pPr>
            <a:r>
              <a:rPr lang="zh-CN" altLang="en-US" sz="2400" dirty="0">
                <a:solidFill>
                  <a:schemeClr val="hlink"/>
                </a:solidFill>
                <a:latin typeface="Microsoft YaHei" panose="020B0503020204020204" pitchFamily="34" charset="-122"/>
                <a:ea typeface="Microsoft YaHei" panose="020B0503020204020204" pitchFamily="34" charset="-122"/>
              </a:rPr>
              <a:t> [例]</a:t>
            </a:r>
            <a:r>
              <a:rPr lang="zh-CN" altLang="en-US" sz="2400" dirty="0">
                <a:latin typeface="Microsoft YaHei" panose="020B0503020204020204" pitchFamily="34" charset="-122"/>
                <a:ea typeface="Microsoft YaHei" panose="020B0503020204020204" pitchFamily="34" charset="-122"/>
              </a:rPr>
              <a:t>找出年龄超过平均年龄的学生姓名。</a:t>
            </a:r>
          </a:p>
          <a:p>
            <a:pPr algn="just">
              <a:lnSpc>
                <a:spcPct val="90000"/>
              </a:lnSpc>
              <a:spcBef>
                <a:spcPct val="20000"/>
              </a:spcBef>
              <a:buClr>
                <a:schemeClr val="folHlink"/>
              </a:buClr>
            </a:pPr>
            <a:r>
              <a:rPr lang="zh-CN" altLang="en-US" sz="2400" dirty="0">
                <a:latin typeface="Microsoft YaHei" panose="020B0503020204020204" pitchFamily="34" charset="-122"/>
                <a:ea typeface="Microsoft YaHei" panose="020B0503020204020204" pitchFamily="34" charset="-122"/>
              </a:rPr>
              <a:t>  SELECT sname</a:t>
            </a:r>
          </a:p>
          <a:p>
            <a:pPr algn="just">
              <a:lnSpc>
                <a:spcPct val="90000"/>
              </a:lnSpc>
              <a:spcBef>
                <a:spcPct val="20000"/>
              </a:spcBef>
              <a:buClr>
                <a:schemeClr val="folHlink"/>
              </a:buClr>
            </a:pPr>
            <a:r>
              <a:rPr lang="zh-CN" altLang="en-US" sz="2400" dirty="0">
                <a:latin typeface="Microsoft YaHei" panose="020B0503020204020204" pitchFamily="34" charset="-122"/>
                <a:ea typeface="Microsoft YaHei" panose="020B0503020204020204" pitchFamily="34" charset="-122"/>
              </a:rPr>
              <a:t>  FROM Student</a:t>
            </a:r>
          </a:p>
          <a:p>
            <a:pPr algn="just">
              <a:lnSpc>
                <a:spcPct val="90000"/>
              </a:lnSpc>
              <a:spcBef>
                <a:spcPct val="20000"/>
              </a:spcBef>
              <a:buClr>
                <a:schemeClr val="folHlink"/>
              </a:buClr>
            </a:pPr>
            <a:r>
              <a:rPr lang="zh-CN" altLang="en-US" sz="2400" dirty="0">
                <a:latin typeface="Microsoft YaHei" panose="020B0503020204020204" pitchFamily="34" charset="-122"/>
                <a:ea typeface="Microsoft YaHei" panose="020B0503020204020204" pitchFamily="34" charset="-122"/>
              </a:rPr>
              <a:t>  WHERE age </a:t>
            </a:r>
            <a:r>
              <a:rPr lang="zh-CN" altLang="en-US" sz="2400" dirty="0">
                <a:solidFill>
                  <a:schemeClr val="hlink"/>
                </a:solidFill>
                <a:latin typeface="Microsoft YaHei" panose="020B0503020204020204" pitchFamily="34" charset="-122"/>
                <a:ea typeface="Microsoft YaHei" panose="020B0503020204020204" pitchFamily="34" charset="-122"/>
              </a:rPr>
              <a:t>＞</a:t>
            </a:r>
          </a:p>
          <a:p>
            <a:pPr algn="just">
              <a:lnSpc>
                <a:spcPct val="90000"/>
              </a:lnSpc>
              <a:spcBef>
                <a:spcPct val="20000"/>
              </a:spcBef>
              <a:buClr>
                <a:schemeClr val="folHlink"/>
              </a:buClr>
            </a:pPr>
            <a:r>
              <a:rPr lang="zh-CN" altLang="en-US" sz="2400" dirty="0">
                <a:solidFill>
                  <a:schemeClr val="folHlink"/>
                </a:solidFill>
                <a:latin typeface="Microsoft YaHei" panose="020B0503020204020204" pitchFamily="34" charset="-122"/>
                <a:ea typeface="Microsoft YaHei" panose="020B0503020204020204" pitchFamily="34" charset="-122"/>
              </a:rPr>
              <a:t>                     (SELECT AVG(age)</a:t>
            </a:r>
          </a:p>
          <a:p>
            <a:pPr>
              <a:lnSpc>
                <a:spcPct val="90000"/>
              </a:lnSpc>
              <a:spcBef>
                <a:spcPct val="20000"/>
              </a:spcBef>
              <a:buClr>
                <a:schemeClr val="folHlink"/>
              </a:buClr>
            </a:pPr>
            <a:r>
              <a:rPr lang="zh-CN" altLang="en-US" sz="2400" dirty="0">
                <a:solidFill>
                  <a:schemeClr val="folHlink"/>
                </a:solidFill>
                <a:latin typeface="Microsoft YaHei" panose="020B0503020204020204" pitchFamily="34" charset="-122"/>
                <a:ea typeface="Microsoft YaHei" panose="020B0503020204020204" pitchFamily="34" charset="-122"/>
              </a:rPr>
              <a:t>                      FROM   Student)；</a:t>
            </a:r>
          </a:p>
        </p:txBody>
      </p:sp>
      <p:sp>
        <p:nvSpPr>
          <p:cNvPr id="5" name="标题 4">
            <a:extLst>
              <a:ext uri="{FF2B5EF4-FFF2-40B4-BE49-F238E27FC236}">
                <a16:creationId xmlns:a16="http://schemas.microsoft.com/office/drawing/2014/main" id="{BFF5516F-B717-C45C-5C9D-0DC38A6715DF}"/>
              </a:ext>
            </a:extLst>
          </p:cNvPr>
          <p:cNvSpPr>
            <a:spLocks noGrp="1"/>
          </p:cNvSpPr>
          <p:nvPr>
            <p:ph type="title"/>
          </p:nvPr>
        </p:nvSpPr>
        <p:spPr/>
        <p:txBody>
          <a:bodyPr/>
          <a:lstStyle/>
          <a:p>
            <a:r>
              <a:rPr lang="zh-CN" altLang="en-US" dirty="0"/>
              <a:t>非相关子查询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0180">
                                            <p:txEl>
                                              <p:pRg st="0" end="0"/>
                                            </p:txEl>
                                          </p:spTgt>
                                        </p:tgtEl>
                                        <p:attrNameLst>
                                          <p:attrName>style.visibility</p:attrName>
                                        </p:attrNameLst>
                                      </p:cBhvr>
                                      <p:to>
                                        <p:strVal val="visible"/>
                                      </p:to>
                                    </p:set>
                                    <p:animEffect transition="in" filter="box(out)">
                                      <p:cBhvr>
                                        <p:cTn id="7" dur="500"/>
                                        <p:tgtEl>
                                          <p:spTgt spid="501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0180">
                                            <p:txEl>
                                              <p:pRg st="1" end="1"/>
                                            </p:txEl>
                                          </p:spTgt>
                                        </p:tgtEl>
                                        <p:attrNameLst>
                                          <p:attrName>style.visibility</p:attrName>
                                        </p:attrNameLst>
                                      </p:cBhvr>
                                      <p:to>
                                        <p:strVal val="visible"/>
                                      </p:to>
                                    </p:set>
                                    <p:animEffect transition="in" filter="box(out)">
                                      <p:cBhvr>
                                        <p:cTn id="12" dur="500"/>
                                        <p:tgtEl>
                                          <p:spTgt spid="5018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0180">
                                            <p:txEl>
                                              <p:pRg st="2" end="2"/>
                                            </p:txEl>
                                          </p:spTgt>
                                        </p:tgtEl>
                                        <p:attrNameLst>
                                          <p:attrName>style.visibility</p:attrName>
                                        </p:attrNameLst>
                                      </p:cBhvr>
                                      <p:to>
                                        <p:strVal val="visible"/>
                                      </p:to>
                                    </p:set>
                                    <p:animEffect transition="in" filter="box(out)">
                                      <p:cBhvr>
                                        <p:cTn id="17" dur="500"/>
                                        <p:tgtEl>
                                          <p:spTgt spid="5018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0180">
                                            <p:txEl>
                                              <p:pRg st="3" end="3"/>
                                            </p:txEl>
                                          </p:spTgt>
                                        </p:tgtEl>
                                        <p:attrNameLst>
                                          <p:attrName>style.visibility</p:attrName>
                                        </p:attrNameLst>
                                      </p:cBhvr>
                                      <p:to>
                                        <p:strVal val="visible"/>
                                      </p:to>
                                    </p:set>
                                    <p:animEffect transition="in" filter="box(out)">
                                      <p:cBhvr>
                                        <p:cTn id="22" dur="500"/>
                                        <p:tgtEl>
                                          <p:spTgt spid="5018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0180">
                                            <p:txEl>
                                              <p:pRg st="4" end="4"/>
                                            </p:txEl>
                                          </p:spTgt>
                                        </p:tgtEl>
                                        <p:attrNameLst>
                                          <p:attrName>style.visibility</p:attrName>
                                        </p:attrNameLst>
                                      </p:cBhvr>
                                      <p:to>
                                        <p:strVal val="visible"/>
                                      </p:to>
                                    </p:set>
                                    <p:animEffect transition="in" filter="box(out)">
                                      <p:cBhvr>
                                        <p:cTn id="27" dur="500"/>
                                        <p:tgtEl>
                                          <p:spTgt spid="5018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50180">
                                            <p:txEl>
                                              <p:pRg st="5" end="5"/>
                                            </p:txEl>
                                          </p:spTgt>
                                        </p:tgtEl>
                                        <p:attrNameLst>
                                          <p:attrName>style.visibility</p:attrName>
                                        </p:attrNameLst>
                                      </p:cBhvr>
                                      <p:to>
                                        <p:strVal val="visible"/>
                                      </p:to>
                                    </p:set>
                                    <p:animEffect transition="in" filter="box(out)">
                                      <p:cBhvr>
                                        <p:cTn id="32" dur="500"/>
                                        <p:tgtEl>
                                          <p:spTgt spid="5018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50180">
                                            <p:txEl>
                                              <p:pRg st="6" end="6"/>
                                            </p:txEl>
                                          </p:spTgt>
                                        </p:tgtEl>
                                        <p:attrNameLst>
                                          <p:attrName>style.visibility</p:attrName>
                                        </p:attrNameLst>
                                      </p:cBhvr>
                                      <p:to>
                                        <p:strVal val="visible"/>
                                      </p:to>
                                    </p:set>
                                    <p:animEffect transition="in" filter="box(out)">
                                      <p:cBhvr>
                                        <p:cTn id="37" dur="500"/>
                                        <p:tgtEl>
                                          <p:spTgt spid="5018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idx="1"/>
          </p:nvPr>
        </p:nvSpPr>
        <p:spPr>
          <a:xfrm>
            <a:off x="327230" y="1253548"/>
            <a:ext cx="4126783" cy="3408735"/>
          </a:xfrm>
        </p:spPr>
        <p:txBody>
          <a:bodyPr vert="horz" wrap="square" lIns="68580" tIns="34290" rIns="68580" bIns="34290" numCol="1" rtlCol="0" anchor="t" anchorCtr="0" compatLnSpc="1">
            <a:normAutofit/>
          </a:bodyPr>
          <a:lstStyle/>
          <a:p>
            <a:pPr marL="0" indent="0" defTabSz="685800" fontAlgn="base">
              <a:lnSpc>
                <a:spcPct val="100000"/>
              </a:lnSpc>
              <a:spcBef>
                <a:spcPct val="20000"/>
              </a:spcBef>
              <a:spcAft>
                <a:spcPct val="0"/>
              </a:spcAft>
              <a:buClr>
                <a:schemeClr val="folHlink"/>
              </a:buClr>
              <a:buSzPct val="60000"/>
              <a:buNone/>
              <a:defRPr/>
            </a:pPr>
            <a:r>
              <a:rPr lang="zh-CN" altLang="en-US" sz="1800" b="1" kern="0" noProof="1">
                <a:solidFill>
                  <a:srgbClr val="C00000"/>
                </a:solidFill>
                <a:cs typeface="楷体" panose="02010609060101010101" pitchFamily="49" charset="-122"/>
              </a:rPr>
              <a:t>(3)带SOME(ANY)、ALL谓词的子查询</a:t>
            </a:r>
          </a:p>
          <a:p>
            <a:pPr marL="257175" indent="-257175" defTabSz="685800" fontAlgn="base">
              <a:lnSpc>
                <a:spcPct val="100000"/>
              </a:lnSpc>
              <a:spcBef>
                <a:spcPct val="20000"/>
              </a:spcBef>
              <a:spcAft>
                <a:spcPct val="0"/>
              </a:spcAft>
              <a:buClr>
                <a:schemeClr val="folHlink"/>
              </a:buClr>
              <a:buSzPct val="60000"/>
              <a:buFont typeface="Wingdings" panose="05000000000000000000" pitchFamily="2" charset="2"/>
              <a:buChar char="n"/>
              <a:defRPr/>
            </a:pPr>
            <a:r>
              <a:rPr lang="zh-CN" altLang="en-US" sz="1800" kern="0" noProof="1">
                <a:cs typeface="楷体" panose="02010609060101010101" pitchFamily="49" charset="-122"/>
              </a:rPr>
              <a:t>&gt;SOME</a:t>
            </a:r>
          </a:p>
          <a:p>
            <a:pPr marL="7620" indent="-7620" defTabSz="685800" fontAlgn="base">
              <a:lnSpc>
                <a:spcPct val="100000"/>
              </a:lnSpc>
              <a:spcBef>
                <a:spcPct val="20000"/>
              </a:spcBef>
              <a:spcAft>
                <a:spcPct val="0"/>
              </a:spcAft>
              <a:buClr>
                <a:schemeClr val="folHlink"/>
              </a:buClr>
              <a:buSzPct val="60000"/>
              <a:buNone/>
              <a:defRPr/>
            </a:pPr>
            <a:r>
              <a:rPr lang="zh-CN" altLang="en-US" sz="1800" kern="0" noProof="1">
                <a:cs typeface="楷体" panose="02010609060101010101" pitchFamily="49" charset="-122"/>
              </a:rPr>
              <a:t>  大于子查询结果中的某个值</a:t>
            </a:r>
            <a:endParaRPr lang="en-US" altLang="zh-CN" sz="1800" kern="0" noProof="1">
              <a:cs typeface="楷体" panose="02010609060101010101" pitchFamily="49" charset="-122"/>
            </a:endParaRPr>
          </a:p>
          <a:p>
            <a:pPr marL="7620" indent="-7620" defTabSz="685800" fontAlgn="base">
              <a:lnSpc>
                <a:spcPct val="100000"/>
              </a:lnSpc>
              <a:spcBef>
                <a:spcPct val="20000"/>
              </a:spcBef>
              <a:spcAft>
                <a:spcPct val="0"/>
              </a:spcAft>
              <a:buClr>
                <a:schemeClr val="folHlink"/>
              </a:buClr>
              <a:buSzPct val="60000"/>
              <a:buNone/>
              <a:defRPr/>
            </a:pPr>
            <a:endParaRPr lang="zh-CN" altLang="en-US" sz="1800" kern="0" noProof="1">
              <a:cs typeface="楷体" panose="02010609060101010101" pitchFamily="49" charset="-122"/>
            </a:endParaRPr>
          </a:p>
          <a:p>
            <a:pPr marL="257175" indent="-257175" defTabSz="685800" fontAlgn="base">
              <a:lnSpc>
                <a:spcPct val="100000"/>
              </a:lnSpc>
              <a:spcBef>
                <a:spcPct val="20000"/>
              </a:spcBef>
              <a:spcAft>
                <a:spcPct val="0"/>
              </a:spcAft>
              <a:buClr>
                <a:schemeClr val="folHlink"/>
              </a:buClr>
              <a:buSzPct val="60000"/>
              <a:buFont typeface="Wingdings" panose="05000000000000000000" pitchFamily="2" charset="2"/>
              <a:buChar char="n"/>
              <a:defRPr/>
            </a:pPr>
            <a:r>
              <a:rPr lang="zh-CN" altLang="en-US" sz="1800" kern="0" noProof="1">
                <a:cs typeface="楷体" panose="02010609060101010101" pitchFamily="49" charset="-122"/>
              </a:rPr>
              <a:t>&lt;ALL</a:t>
            </a:r>
          </a:p>
          <a:p>
            <a:pPr marL="7620" indent="-7620" defTabSz="685800" fontAlgn="base">
              <a:lnSpc>
                <a:spcPct val="100000"/>
              </a:lnSpc>
              <a:spcBef>
                <a:spcPct val="20000"/>
              </a:spcBef>
              <a:spcAft>
                <a:spcPct val="0"/>
              </a:spcAft>
              <a:buClr>
                <a:schemeClr val="folHlink"/>
              </a:buClr>
              <a:buSzPct val="60000"/>
              <a:buNone/>
              <a:defRPr/>
            </a:pPr>
            <a:r>
              <a:rPr lang="zh-CN" altLang="en-US" sz="1800" kern="0" noProof="1">
                <a:cs typeface="楷体" panose="02010609060101010101" pitchFamily="49" charset="-122"/>
              </a:rPr>
              <a:t>  小于子查询结果中的所有值</a:t>
            </a:r>
          </a:p>
          <a:p>
            <a:pPr marL="0" indent="0" defTabSz="685800" fontAlgn="base">
              <a:lnSpc>
                <a:spcPct val="100000"/>
              </a:lnSpc>
              <a:spcBef>
                <a:spcPct val="20000"/>
              </a:spcBef>
              <a:spcAft>
                <a:spcPct val="0"/>
              </a:spcAft>
              <a:buClr>
                <a:schemeClr val="folHlink"/>
              </a:buClr>
              <a:buSzPct val="60000"/>
              <a:buNone/>
              <a:defRPr/>
            </a:pPr>
            <a:endParaRPr lang="en-US" altLang="zh-CN" sz="1800" b="1" kern="0" noProof="1">
              <a:solidFill>
                <a:schemeClr val="hlink"/>
              </a:solidFill>
              <a:cs typeface="楷体" panose="02010609060101010101" pitchFamily="49" charset="-122"/>
            </a:endParaRPr>
          </a:p>
          <a:p>
            <a:pPr marL="0" indent="0" defTabSz="685800" fontAlgn="base">
              <a:lnSpc>
                <a:spcPct val="100000"/>
              </a:lnSpc>
              <a:spcBef>
                <a:spcPct val="20000"/>
              </a:spcBef>
              <a:spcAft>
                <a:spcPct val="0"/>
              </a:spcAft>
              <a:buClr>
                <a:schemeClr val="folHlink"/>
              </a:buClr>
              <a:buSzPct val="60000"/>
              <a:buNone/>
              <a:defRPr/>
            </a:pPr>
            <a:r>
              <a:rPr lang="zh-CN" altLang="en-US" sz="1800" b="1" kern="0" noProof="1">
                <a:solidFill>
                  <a:schemeClr val="hlink"/>
                </a:solidFill>
                <a:cs typeface="楷体" panose="02010609060101010101" pitchFamily="49" charset="-122"/>
              </a:rPr>
              <a:t>注意：</a:t>
            </a:r>
            <a:r>
              <a:rPr lang="zh-CN" altLang="en-US" sz="1800" kern="0" noProof="1">
                <a:cs typeface="楷体" panose="02010609060101010101" pitchFamily="49" charset="-122"/>
              </a:rPr>
              <a:t>SOME、ALL必须与关系比较符同时使用。</a:t>
            </a:r>
          </a:p>
        </p:txBody>
      </p:sp>
      <p:sp>
        <p:nvSpPr>
          <p:cNvPr id="52228" name="Rectangle 4"/>
          <p:cNvSpPr>
            <a:spLocks noGrp="1"/>
          </p:cNvSpPr>
          <p:nvPr>
            <p:ph sz="half" idx="4294967295"/>
          </p:nvPr>
        </p:nvSpPr>
        <p:spPr>
          <a:xfrm>
            <a:off x="4542503" y="1428288"/>
            <a:ext cx="4562168" cy="3233995"/>
          </a:xfrm>
        </p:spPr>
        <p:txBody>
          <a:bodyPr vert="horz" wrap="square" lIns="68580" tIns="34290" rIns="68580" bIns="34290" rtlCol="0" anchor="t" anchorCtr="0">
            <a:normAutofit/>
          </a:bodyPr>
          <a:lstStyle/>
          <a:p>
            <a:pPr marL="0" indent="0" eaLnBrk="1" hangingPunct="1">
              <a:buSzPct val="60000"/>
              <a:buNone/>
            </a:pPr>
            <a:r>
              <a:rPr lang="zh-CN" altLang="en-US" sz="1800" b="1" dirty="0">
                <a:solidFill>
                  <a:schemeClr val="hlink"/>
                </a:solidFill>
              </a:rPr>
              <a:t>例：</a:t>
            </a:r>
            <a:r>
              <a:rPr lang="zh-CN" altLang="en-US" sz="1800" b="1" dirty="0"/>
              <a:t>查询其他系比信息院某学生年龄小的学生名、年龄。</a:t>
            </a:r>
          </a:p>
          <a:p>
            <a:pPr eaLnBrk="1" hangingPunct="1">
              <a:buSzTx/>
              <a:buFont typeface="Wingdings" panose="05000000000000000000" pitchFamily="2" charset="2"/>
              <a:buNone/>
            </a:pPr>
            <a:r>
              <a:rPr lang="zh-CN" altLang="en-US" sz="1800" dirty="0"/>
              <a:t>   </a:t>
            </a:r>
            <a:r>
              <a:rPr lang="en-US" altLang="zh-CN" sz="1800" dirty="0"/>
              <a:t>SELECT  sname</a:t>
            </a:r>
            <a:r>
              <a:rPr lang="zh-CN" altLang="en-US" sz="1800" dirty="0"/>
              <a:t>，</a:t>
            </a:r>
            <a:r>
              <a:rPr lang="en-US" altLang="zh-CN" sz="1800" dirty="0"/>
              <a:t>age</a:t>
            </a:r>
          </a:p>
          <a:p>
            <a:pPr eaLnBrk="1" hangingPunct="1">
              <a:buSzTx/>
              <a:buFont typeface="Wingdings" panose="05000000000000000000" pitchFamily="2" charset="2"/>
              <a:buNone/>
            </a:pPr>
            <a:r>
              <a:rPr lang="en-US" altLang="zh-CN" sz="1800" dirty="0"/>
              <a:t>   FROM  Student</a:t>
            </a:r>
          </a:p>
          <a:p>
            <a:pPr eaLnBrk="1" hangingPunct="1">
              <a:buSzTx/>
              <a:buFont typeface="Wingdings" panose="05000000000000000000" pitchFamily="2" charset="2"/>
              <a:buNone/>
            </a:pPr>
            <a:r>
              <a:rPr lang="en-US" altLang="zh-CN" sz="1800" dirty="0"/>
              <a:t>   WHERE age &lt;SOME</a:t>
            </a:r>
          </a:p>
          <a:p>
            <a:pPr eaLnBrk="1" hangingPunct="1">
              <a:buSzTx/>
              <a:buFont typeface="Wingdings" panose="05000000000000000000" pitchFamily="2" charset="2"/>
              <a:buNone/>
            </a:pPr>
            <a:r>
              <a:rPr lang="en-US" altLang="zh-CN" sz="1800" dirty="0"/>
              <a:t>      </a:t>
            </a:r>
            <a:r>
              <a:rPr lang="en-US" altLang="zh-CN" sz="1800" dirty="0">
                <a:solidFill>
                  <a:schemeClr val="folHlink"/>
                </a:solidFill>
              </a:rPr>
              <a:t>( SELECT age</a:t>
            </a:r>
          </a:p>
          <a:p>
            <a:pPr eaLnBrk="1" hangingPunct="1">
              <a:buSzTx/>
              <a:buFont typeface="Wingdings" panose="05000000000000000000" pitchFamily="2" charset="2"/>
              <a:buNone/>
            </a:pPr>
            <a:r>
              <a:rPr lang="en-US" altLang="zh-CN" sz="1800" dirty="0">
                <a:solidFill>
                  <a:schemeClr val="folHlink"/>
                </a:solidFill>
              </a:rPr>
              <a:t>        FROM  Student</a:t>
            </a:r>
          </a:p>
          <a:p>
            <a:pPr eaLnBrk="1" hangingPunct="1">
              <a:buSzTx/>
              <a:buFont typeface="Wingdings" panose="05000000000000000000" pitchFamily="2" charset="2"/>
              <a:buNone/>
            </a:pPr>
            <a:r>
              <a:rPr lang="en-US" altLang="zh-CN" sz="1800" dirty="0">
                <a:solidFill>
                  <a:schemeClr val="folHlink"/>
                </a:solidFill>
              </a:rPr>
              <a:t>        WHERE  dept=‘</a:t>
            </a:r>
            <a:r>
              <a:rPr lang="zh-CN" altLang="en-US" sz="1800" dirty="0">
                <a:solidFill>
                  <a:schemeClr val="folHlink"/>
                </a:solidFill>
              </a:rPr>
              <a:t>信息院’</a:t>
            </a:r>
            <a:r>
              <a:rPr lang="en-US" altLang="zh-CN" sz="1800" dirty="0">
                <a:solidFill>
                  <a:schemeClr val="folHlink"/>
                </a:solidFill>
              </a:rPr>
              <a:t>)</a:t>
            </a:r>
          </a:p>
          <a:p>
            <a:pPr eaLnBrk="1" hangingPunct="1">
              <a:buSzTx/>
              <a:buFont typeface="Wingdings" panose="05000000000000000000" pitchFamily="2" charset="2"/>
              <a:buNone/>
            </a:pPr>
            <a:r>
              <a:rPr lang="en-US" altLang="zh-CN" sz="1800" dirty="0">
                <a:solidFill>
                  <a:schemeClr val="folHlink"/>
                </a:solidFill>
              </a:rPr>
              <a:t>           </a:t>
            </a:r>
            <a:r>
              <a:rPr lang="en-US" altLang="zh-CN" sz="1800" dirty="0"/>
              <a:t>AND  dept&lt;&gt;‘</a:t>
            </a:r>
            <a:r>
              <a:rPr lang="zh-CN" altLang="en-US" sz="1800" dirty="0"/>
              <a:t>信息院’ ；</a:t>
            </a:r>
            <a:endParaRPr lang="zh-CN" altLang="en-US" dirty="0"/>
          </a:p>
          <a:p>
            <a:pPr eaLnBrk="1" hangingPunct="1">
              <a:buSzPct val="60000"/>
            </a:pPr>
            <a:endParaRPr lang="zh-CN" altLang="en-US" sz="1800" dirty="0"/>
          </a:p>
        </p:txBody>
      </p:sp>
      <p:sp>
        <p:nvSpPr>
          <p:cNvPr id="51205" name="Text Box 5"/>
          <p:cNvSpPr txBox="1"/>
          <p:nvPr/>
        </p:nvSpPr>
        <p:spPr>
          <a:xfrm>
            <a:off x="4952548" y="3121320"/>
            <a:ext cx="2743200" cy="369332"/>
          </a:xfrm>
          <a:prstGeom prst="rect">
            <a:avLst/>
          </a:prstGeom>
          <a:solidFill>
            <a:schemeClr val="bg1"/>
          </a:solidFill>
          <a:ln w="9525">
            <a:noFill/>
          </a:ln>
        </p:spPr>
        <p:txBody>
          <a:bodyPr>
            <a:spAutoFit/>
          </a:bodyPr>
          <a:lstStyle/>
          <a:p>
            <a:pPr>
              <a:spcBef>
                <a:spcPct val="50000"/>
              </a:spcBef>
            </a:pPr>
            <a:r>
              <a:rPr lang="en-US" altLang="zh-CN" dirty="0">
                <a:solidFill>
                  <a:schemeClr val="folHlink"/>
                </a:solidFill>
                <a:latin typeface="Microsoft YaHei" panose="020B0503020204020204" pitchFamily="34" charset="-122"/>
                <a:ea typeface="Microsoft YaHei" panose="020B0503020204020204" pitchFamily="34" charset="-122"/>
              </a:rPr>
              <a:t>(</a:t>
            </a:r>
            <a:r>
              <a:rPr lang="en-US" altLang="zh-CN" dirty="0">
                <a:solidFill>
                  <a:schemeClr val="hlink"/>
                </a:solidFill>
                <a:latin typeface="Microsoft YaHei" panose="020B0503020204020204" pitchFamily="34" charset="-122"/>
                <a:ea typeface="Microsoft YaHei" panose="020B0503020204020204" pitchFamily="34" charset="-122"/>
              </a:rPr>
              <a:t> SELECT  MAX(age)</a:t>
            </a:r>
          </a:p>
        </p:txBody>
      </p:sp>
      <p:sp>
        <p:nvSpPr>
          <p:cNvPr id="51206" name="Text Box 6"/>
          <p:cNvSpPr txBox="1"/>
          <p:nvPr/>
        </p:nvSpPr>
        <p:spPr>
          <a:xfrm>
            <a:off x="6174082" y="2761914"/>
            <a:ext cx="1003466" cy="369332"/>
          </a:xfrm>
          <a:prstGeom prst="rect">
            <a:avLst/>
          </a:prstGeom>
          <a:solidFill>
            <a:schemeClr val="bg1"/>
          </a:solidFill>
          <a:ln w="9525">
            <a:noFill/>
          </a:ln>
        </p:spPr>
        <p:txBody>
          <a:bodyPr wrap="square">
            <a:spAutoFit/>
          </a:bodyPr>
          <a:lstStyle/>
          <a:p>
            <a:pPr>
              <a:spcBef>
                <a:spcPct val="50000"/>
              </a:spcBef>
            </a:pPr>
            <a:r>
              <a:rPr lang="zh-CN" altLang="en-US" sz="1350" dirty="0">
                <a:latin typeface="Microsoft YaHei" panose="020B0503020204020204" pitchFamily="34" charset="-122"/>
                <a:ea typeface="Microsoft YaHei" panose="020B0503020204020204" pitchFamily="34" charset="-122"/>
              </a:rPr>
              <a:t> </a:t>
            </a:r>
            <a:r>
              <a:rPr lang="en-US" altLang="zh-CN" dirty="0">
                <a:solidFill>
                  <a:schemeClr val="hlink"/>
                </a:solidFill>
                <a:latin typeface="Microsoft YaHei" panose="020B0503020204020204" pitchFamily="34" charset="-122"/>
                <a:ea typeface="Microsoft YaHei" panose="020B0503020204020204" pitchFamily="34" charset="-122"/>
              </a:rPr>
              <a:t>&lt; </a:t>
            </a:r>
            <a:r>
              <a:rPr lang="en-US" altLang="zh-CN" dirty="0">
                <a:latin typeface="Microsoft YaHei" panose="020B0503020204020204" pitchFamily="34" charset="-122"/>
                <a:ea typeface="Microsoft YaHei" panose="020B0503020204020204" pitchFamily="34" charset="-122"/>
              </a:rPr>
              <a:t> </a:t>
            </a:r>
          </a:p>
        </p:txBody>
      </p:sp>
      <p:sp>
        <p:nvSpPr>
          <p:cNvPr id="3" name="标题 2">
            <a:extLst>
              <a:ext uri="{FF2B5EF4-FFF2-40B4-BE49-F238E27FC236}">
                <a16:creationId xmlns:a16="http://schemas.microsoft.com/office/drawing/2014/main" id="{CB3934DF-31E3-A7E9-E1A0-A6A34E1E4C9E}"/>
              </a:ext>
            </a:extLst>
          </p:cNvPr>
          <p:cNvSpPr>
            <a:spLocks noGrp="1"/>
          </p:cNvSpPr>
          <p:nvPr>
            <p:ph type="title"/>
          </p:nvPr>
        </p:nvSpPr>
        <p:spPr/>
        <p:txBody>
          <a:bodyPr/>
          <a:lstStyle/>
          <a:p>
            <a:r>
              <a:rPr lang="zh-CN" altLang="en-US" dirty="0"/>
              <a:t>非相关子查询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05"/>
                                        </p:tgtEl>
                                        <p:attrNameLst>
                                          <p:attrName>style.visibility</p:attrName>
                                        </p:attrNameLst>
                                      </p:cBhvr>
                                      <p:to>
                                        <p:strVal val="visible"/>
                                      </p:to>
                                    </p:set>
                                    <p:anim calcmode="lin" valueType="num">
                                      <p:cBhvr additive="base">
                                        <p:cTn id="7" dur="500" fill="hold"/>
                                        <p:tgtEl>
                                          <p:spTgt spid="51205"/>
                                        </p:tgtEl>
                                        <p:attrNameLst>
                                          <p:attrName>ppt_x</p:attrName>
                                        </p:attrNameLst>
                                      </p:cBhvr>
                                      <p:tavLst>
                                        <p:tav tm="0">
                                          <p:val>
                                            <p:strVal val="0-#ppt_w/2"/>
                                          </p:val>
                                        </p:tav>
                                        <p:tav tm="100000">
                                          <p:val>
                                            <p:strVal val="#ppt_x"/>
                                          </p:val>
                                        </p:tav>
                                      </p:tavLst>
                                    </p:anim>
                                    <p:anim calcmode="lin" valueType="num">
                                      <p:cBhvr additive="base">
                                        <p:cTn id="8" dur="500" fill="hold"/>
                                        <p:tgtEl>
                                          <p:spTgt spid="5120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51206"/>
                                        </p:tgtEl>
                                        <p:attrNameLst>
                                          <p:attrName>style.visibility</p:attrName>
                                        </p:attrNameLst>
                                      </p:cBhvr>
                                      <p:to>
                                        <p:strVal val="visible"/>
                                      </p:to>
                                    </p:set>
                                    <p:animEffect transition="in" filter="box(out)">
                                      <p:cBhvr>
                                        <p:cTn id="13" dur="500"/>
                                        <p:tgtEl>
                                          <p:spTgt spid="51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5" grpId="0" bldLvl="0" animBg="1"/>
      <p:bldP spid="51206"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27" name="Object 3"/>
          <p:cNvGraphicFramePr>
            <a:graphicFrameLocks noChangeAspect="1"/>
          </p:cNvGraphicFramePr>
          <p:nvPr>
            <p:extLst>
              <p:ext uri="{D42A27DB-BD31-4B8C-83A1-F6EECF244321}">
                <p14:modId xmlns:p14="http://schemas.microsoft.com/office/powerpoint/2010/main" val="3416945548"/>
              </p:ext>
            </p:extLst>
          </p:nvPr>
        </p:nvGraphicFramePr>
        <p:xfrm>
          <a:off x="7839382" y="3437811"/>
          <a:ext cx="1085850" cy="1200150"/>
        </p:xfrm>
        <a:graphic>
          <a:graphicData uri="http://schemas.openxmlformats.org/presentationml/2006/ole">
            <mc:AlternateContent xmlns:mc="http://schemas.openxmlformats.org/markup-compatibility/2006">
              <mc:Choice xmlns:v="urn:schemas-microsoft-com:vml" Requires="v">
                <p:oleObj r:id="rId2" imgW="3764280" imgH="3535680" progId="">
                  <p:embed/>
                </p:oleObj>
              </mc:Choice>
              <mc:Fallback>
                <p:oleObj r:id="rId2" imgW="3764280" imgH="3535680" progId="">
                  <p:embed/>
                  <p:pic>
                    <p:nvPicPr>
                      <p:cNvPr id="52227" name="Object 3"/>
                      <p:cNvPicPr/>
                      <p:nvPr/>
                    </p:nvPicPr>
                    <p:blipFill>
                      <a:blip r:embed="rId3"/>
                      <a:stretch>
                        <a:fillRect/>
                      </a:stretch>
                    </p:blipFill>
                    <p:spPr>
                      <a:xfrm>
                        <a:off x="7839382" y="3437811"/>
                        <a:ext cx="1085850" cy="1200150"/>
                      </a:xfrm>
                      <a:prstGeom prst="rect">
                        <a:avLst/>
                      </a:prstGeom>
                      <a:noFill/>
                      <a:ln w="38100">
                        <a:noFill/>
                        <a:miter/>
                      </a:ln>
                    </p:spPr>
                  </p:pic>
                </p:oleObj>
              </mc:Fallback>
            </mc:AlternateContent>
          </a:graphicData>
        </a:graphic>
      </p:graphicFrame>
      <p:sp>
        <p:nvSpPr>
          <p:cNvPr id="3076" name="Text Box 4"/>
          <p:cNvSpPr txBox="1"/>
          <p:nvPr/>
        </p:nvSpPr>
        <p:spPr>
          <a:xfrm>
            <a:off x="407635" y="1349855"/>
            <a:ext cx="4532709" cy="355482"/>
          </a:xfrm>
          <a:prstGeom prst="rect">
            <a:avLst/>
          </a:prstGeom>
          <a:noFill/>
          <a:ln w="9525">
            <a:noFill/>
          </a:ln>
        </p:spPr>
        <p:txBody>
          <a:bodyPr>
            <a:spAutoFit/>
          </a:bodyPr>
          <a:lstStyle/>
          <a:p>
            <a:pPr>
              <a:lnSpc>
                <a:spcPct val="95000"/>
              </a:lnSpc>
              <a:buClr>
                <a:schemeClr val="folHlink"/>
              </a:buClr>
              <a:buSzPct val="60000"/>
            </a:pPr>
            <a:r>
              <a:rPr lang="zh-CN" altLang="en-US" b="1" dirty="0">
                <a:solidFill>
                  <a:schemeClr val="hlink"/>
                </a:solidFill>
                <a:latin typeface="Microsoft YaHei" panose="020B0503020204020204" pitchFamily="34" charset="-122"/>
                <a:ea typeface="Microsoft YaHei" panose="020B0503020204020204" pitchFamily="34" charset="-122"/>
              </a:rPr>
              <a:t>[例]</a:t>
            </a:r>
            <a:r>
              <a:rPr lang="zh-CN" altLang="en-US" dirty="0">
                <a:latin typeface="Microsoft YaHei" panose="020B0503020204020204" pitchFamily="34" charset="-122"/>
                <a:ea typeface="Microsoft YaHei" panose="020B0503020204020204" pitchFamily="34" charset="-122"/>
              </a:rPr>
              <a:t>查平均成绩最高的学生号。</a:t>
            </a:r>
          </a:p>
        </p:txBody>
      </p:sp>
      <p:sp>
        <p:nvSpPr>
          <p:cNvPr id="52229" name="Text Box 5"/>
          <p:cNvSpPr txBox="1"/>
          <p:nvPr/>
        </p:nvSpPr>
        <p:spPr>
          <a:xfrm>
            <a:off x="944606" y="2060819"/>
            <a:ext cx="3861197" cy="1144929"/>
          </a:xfrm>
          <a:prstGeom prst="rect">
            <a:avLst/>
          </a:prstGeom>
          <a:solidFill>
            <a:srgbClr val="F1FD95"/>
          </a:solidFill>
          <a:ln w="9525">
            <a:noFill/>
          </a:ln>
        </p:spPr>
        <p:txBody>
          <a:bodyPr>
            <a:spAutoFit/>
          </a:bodyPr>
          <a:lstStyle/>
          <a:p>
            <a:pPr>
              <a:lnSpc>
                <a:spcPct val="95000"/>
              </a:lnSpc>
              <a:buClr>
                <a:schemeClr val="folHlink"/>
              </a:buClr>
              <a:buSzPct val="60000"/>
            </a:pPr>
            <a:r>
              <a:rPr lang="en-US" altLang="zh-CN" dirty="0">
                <a:latin typeface="Microsoft YaHei" panose="020B0503020204020204" pitchFamily="34" charset="-122"/>
                <a:ea typeface="Microsoft YaHei" panose="020B0503020204020204" pitchFamily="34" charset="-122"/>
              </a:rPr>
              <a:t>SELECT sno</a:t>
            </a:r>
          </a:p>
          <a:p>
            <a:pPr>
              <a:lnSpc>
                <a:spcPct val="95000"/>
              </a:lnSpc>
              <a:buClr>
                <a:schemeClr val="folHlink"/>
              </a:buClr>
              <a:buSzPct val="60000"/>
            </a:pPr>
            <a:r>
              <a:rPr lang="en-US" altLang="zh-CN" dirty="0">
                <a:latin typeface="Microsoft YaHei" panose="020B0503020204020204" pitchFamily="34" charset="-122"/>
                <a:ea typeface="Microsoft YaHei" panose="020B0503020204020204" pitchFamily="34" charset="-122"/>
              </a:rPr>
              <a:t>FROM SC</a:t>
            </a:r>
          </a:p>
          <a:p>
            <a:pPr>
              <a:lnSpc>
                <a:spcPct val="95000"/>
              </a:lnSpc>
              <a:buClr>
                <a:schemeClr val="folHlink"/>
              </a:buClr>
              <a:buSzPct val="60000"/>
            </a:pPr>
            <a:r>
              <a:rPr lang="en-US" altLang="zh-CN" dirty="0">
                <a:latin typeface="Microsoft YaHei" panose="020B0503020204020204" pitchFamily="34" charset="-122"/>
                <a:ea typeface="Microsoft YaHei" panose="020B0503020204020204" pitchFamily="34" charset="-122"/>
              </a:rPr>
              <a:t>GROUP BY sno</a:t>
            </a:r>
          </a:p>
          <a:p>
            <a:pPr>
              <a:lnSpc>
                <a:spcPct val="95000"/>
              </a:lnSpc>
              <a:buClr>
                <a:schemeClr val="folHlink"/>
              </a:buClr>
              <a:buSzPct val="60000"/>
            </a:pPr>
            <a:r>
              <a:rPr lang="en-US" altLang="zh-CN" dirty="0">
                <a:latin typeface="Microsoft YaHei" panose="020B0503020204020204" pitchFamily="34" charset="-122"/>
                <a:ea typeface="Microsoft YaHei" panose="020B0503020204020204" pitchFamily="34" charset="-122"/>
              </a:rPr>
              <a:t>HAVING </a:t>
            </a:r>
            <a:r>
              <a:rPr lang="en-US" altLang="zh-CN" dirty="0">
                <a:solidFill>
                  <a:srgbClr val="0000FF"/>
                </a:solidFill>
                <a:latin typeface="Microsoft YaHei" panose="020B0503020204020204" pitchFamily="34" charset="-122"/>
                <a:ea typeface="Microsoft YaHei" panose="020B0503020204020204" pitchFamily="34" charset="-122"/>
              </a:rPr>
              <a:t>AVG(grade)</a:t>
            </a:r>
            <a:r>
              <a:rPr lang="en-US" altLang="zh-CN" dirty="0">
                <a:latin typeface="Microsoft YaHei" panose="020B0503020204020204" pitchFamily="34" charset="-122"/>
                <a:ea typeface="Microsoft YaHei" panose="020B0503020204020204" pitchFamily="34" charset="-122"/>
              </a:rPr>
              <a:t> </a:t>
            </a:r>
            <a:r>
              <a:rPr lang="en-US" altLang="zh-CN" dirty="0">
                <a:solidFill>
                  <a:schemeClr val="hlink"/>
                </a:solidFill>
                <a:latin typeface="Microsoft YaHei" panose="020B0503020204020204" pitchFamily="34" charset="-122"/>
                <a:ea typeface="Microsoft YaHei" panose="020B0503020204020204" pitchFamily="34" charset="-122"/>
              </a:rPr>
              <a:t>&gt;= ALL</a:t>
            </a:r>
            <a:r>
              <a:rPr lang="en-US" altLang="zh-CN" dirty="0">
                <a:latin typeface="Microsoft YaHei" panose="020B0503020204020204" pitchFamily="34" charset="-122"/>
                <a:ea typeface="Microsoft YaHei" panose="020B0503020204020204" pitchFamily="34" charset="-122"/>
              </a:rPr>
              <a:t>            </a:t>
            </a:r>
            <a:endParaRPr lang="en-US" altLang="zh-CN" dirty="0">
              <a:solidFill>
                <a:srgbClr val="800000"/>
              </a:solidFill>
              <a:latin typeface="Microsoft YaHei" panose="020B0503020204020204" pitchFamily="34" charset="-122"/>
              <a:ea typeface="Microsoft YaHei" panose="020B0503020204020204" pitchFamily="34" charset="-122"/>
            </a:endParaRPr>
          </a:p>
        </p:txBody>
      </p:sp>
      <p:sp>
        <p:nvSpPr>
          <p:cNvPr id="52230" name="Text Box 6"/>
          <p:cNvSpPr txBox="1"/>
          <p:nvPr/>
        </p:nvSpPr>
        <p:spPr>
          <a:xfrm>
            <a:off x="2173467" y="3194294"/>
            <a:ext cx="3861197" cy="925638"/>
          </a:xfrm>
          <a:prstGeom prst="rect">
            <a:avLst/>
          </a:prstGeom>
          <a:solidFill>
            <a:srgbClr val="F1FD95"/>
          </a:solidFill>
          <a:ln w="9525">
            <a:noFill/>
          </a:ln>
        </p:spPr>
        <p:txBody>
          <a:bodyPr>
            <a:spAutoFit/>
          </a:bodyPr>
          <a:lstStyle/>
          <a:p>
            <a:pPr>
              <a:lnSpc>
                <a:spcPct val="95000"/>
              </a:lnSpc>
              <a:buClr>
                <a:schemeClr val="folHlink"/>
              </a:buClr>
              <a:buSzPct val="60000"/>
            </a:pPr>
            <a:r>
              <a:rPr lang="zh-CN" altLang="en-US" sz="2100"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     </a:t>
            </a:r>
            <a:r>
              <a:rPr lang="en-US" altLang="zh-CN" dirty="0">
                <a:solidFill>
                  <a:srgbClr val="800000"/>
                </a:solidFill>
                <a:latin typeface="Microsoft YaHei" panose="020B0503020204020204" pitchFamily="34" charset="-122"/>
                <a:ea typeface="Microsoft YaHei" panose="020B0503020204020204" pitchFamily="34" charset="-122"/>
              </a:rPr>
              <a:t>( SELECT AVG(grade)</a:t>
            </a:r>
          </a:p>
          <a:p>
            <a:pPr>
              <a:lnSpc>
                <a:spcPct val="95000"/>
              </a:lnSpc>
              <a:buClr>
                <a:schemeClr val="folHlink"/>
              </a:buClr>
              <a:buSzPct val="60000"/>
            </a:pPr>
            <a:r>
              <a:rPr lang="en-US" altLang="zh-CN" dirty="0">
                <a:solidFill>
                  <a:srgbClr val="800000"/>
                </a:solidFill>
                <a:latin typeface="Microsoft YaHei" panose="020B0503020204020204" pitchFamily="34" charset="-122"/>
                <a:ea typeface="Microsoft YaHei" panose="020B0503020204020204" pitchFamily="34" charset="-122"/>
              </a:rPr>
              <a:t>        </a:t>
            </a:r>
            <a:r>
              <a:rPr lang="zh-CN" altLang="en-US" dirty="0">
                <a:solidFill>
                  <a:srgbClr val="800000"/>
                </a:solidFill>
                <a:latin typeface="Microsoft YaHei" panose="020B0503020204020204" pitchFamily="34" charset="-122"/>
                <a:ea typeface="Microsoft YaHei" panose="020B0503020204020204" pitchFamily="34" charset="-122"/>
              </a:rPr>
              <a:t>     </a:t>
            </a:r>
            <a:r>
              <a:rPr lang="en-US" altLang="zh-CN" dirty="0">
                <a:solidFill>
                  <a:srgbClr val="800000"/>
                </a:solidFill>
                <a:latin typeface="Microsoft YaHei" panose="020B0503020204020204" pitchFamily="34" charset="-122"/>
                <a:ea typeface="Microsoft YaHei" panose="020B0503020204020204" pitchFamily="34" charset="-122"/>
              </a:rPr>
              <a:t>FROM SC</a:t>
            </a:r>
          </a:p>
          <a:p>
            <a:pPr>
              <a:lnSpc>
                <a:spcPct val="95000"/>
              </a:lnSpc>
              <a:buClr>
                <a:schemeClr val="folHlink"/>
              </a:buClr>
              <a:buSzPct val="60000"/>
            </a:pPr>
            <a:r>
              <a:rPr lang="en-US" altLang="zh-CN" dirty="0">
                <a:solidFill>
                  <a:srgbClr val="800000"/>
                </a:solidFill>
                <a:latin typeface="Microsoft YaHei" panose="020B0503020204020204" pitchFamily="34" charset="-122"/>
                <a:ea typeface="Microsoft YaHei" panose="020B0503020204020204" pitchFamily="34" charset="-122"/>
              </a:rPr>
              <a:t>        </a:t>
            </a:r>
            <a:r>
              <a:rPr lang="zh-CN" altLang="en-US" dirty="0">
                <a:solidFill>
                  <a:srgbClr val="800000"/>
                </a:solidFill>
                <a:latin typeface="Microsoft YaHei" panose="020B0503020204020204" pitchFamily="34" charset="-122"/>
                <a:ea typeface="Microsoft YaHei" panose="020B0503020204020204" pitchFamily="34" charset="-122"/>
              </a:rPr>
              <a:t>     </a:t>
            </a:r>
            <a:r>
              <a:rPr lang="en-US" altLang="zh-CN" dirty="0">
                <a:solidFill>
                  <a:srgbClr val="800000"/>
                </a:solidFill>
                <a:latin typeface="Microsoft YaHei" panose="020B0503020204020204" pitchFamily="34" charset="-122"/>
                <a:ea typeface="Microsoft YaHei" panose="020B0503020204020204" pitchFamily="34" charset="-122"/>
              </a:rPr>
              <a:t>GROUP BY sno)</a:t>
            </a:r>
            <a:r>
              <a:rPr lang="zh-CN" altLang="en-US" dirty="0">
                <a:solidFill>
                  <a:srgbClr val="800000"/>
                </a:solidFill>
                <a:latin typeface="Microsoft YaHei" panose="020B0503020204020204" pitchFamily="34" charset="-122"/>
                <a:ea typeface="Microsoft YaHei" panose="020B0503020204020204" pitchFamily="34" charset="-122"/>
              </a:rPr>
              <a:t>；</a:t>
            </a:r>
          </a:p>
        </p:txBody>
      </p:sp>
      <p:sp>
        <p:nvSpPr>
          <p:cNvPr id="52231" name="Line 7"/>
          <p:cNvSpPr/>
          <p:nvPr/>
        </p:nvSpPr>
        <p:spPr>
          <a:xfrm flipV="1">
            <a:off x="1172827" y="1705337"/>
            <a:ext cx="1287332" cy="0"/>
          </a:xfrm>
          <a:prstGeom prst="line">
            <a:avLst/>
          </a:prstGeom>
          <a:ln w="57150" cap="flat" cmpd="sng">
            <a:solidFill>
              <a:srgbClr val="6600FF"/>
            </a:solidFill>
            <a:prstDash val="soli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2232" name="AutoShape 8"/>
          <p:cNvSpPr/>
          <p:nvPr/>
        </p:nvSpPr>
        <p:spPr>
          <a:xfrm>
            <a:off x="4254333" y="1155830"/>
            <a:ext cx="939403" cy="400050"/>
          </a:xfrm>
          <a:prstGeom prst="wedgeRoundRectCallout">
            <a:avLst>
              <a:gd name="adj1" fmla="val -131703"/>
              <a:gd name="adj2" fmla="val 35597"/>
              <a:gd name="adj3" fmla="val 16667"/>
            </a:avLst>
          </a:prstGeom>
          <a:solidFill>
            <a:srgbClr val="FFCCFF"/>
          </a:solidFill>
          <a:ln w="9525" cap="flat" cmpd="sng">
            <a:solidFill>
              <a:schemeClr val="tx1"/>
            </a:solidFill>
            <a:prstDash val="solid"/>
            <a:miter/>
            <a:headEnd type="none" w="med" len="med"/>
            <a:tailEnd type="none" w="med" len="med"/>
          </a:ln>
        </p:spPr>
        <p:txBody>
          <a:bodyPr anchor="ctr"/>
          <a:lstStyle/>
          <a:p>
            <a:pPr algn="ctr"/>
            <a:r>
              <a:rPr lang="zh-CN" altLang="en-US" sz="1350" dirty="0">
                <a:latin typeface="Microsoft YaHei" panose="020B0503020204020204" pitchFamily="34" charset="-122"/>
                <a:ea typeface="Microsoft YaHei" panose="020B0503020204020204" pitchFamily="34" charset="-122"/>
              </a:rPr>
              <a:t>姓名？</a:t>
            </a:r>
          </a:p>
        </p:txBody>
      </p:sp>
      <p:sp>
        <p:nvSpPr>
          <p:cNvPr id="52233" name="AutoShape 9"/>
          <p:cNvSpPr/>
          <p:nvPr/>
        </p:nvSpPr>
        <p:spPr>
          <a:xfrm>
            <a:off x="896387" y="3637836"/>
            <a:ext cx="656034" cy="400050"/>
          </a:xfrm>
          <a:prstGeom prst="wedgeRoundRectCallout">
            <a:avLst>
              <a:gd name="adj1" fmla="val 257817"/>
              <a:gd name="adj2" fmla="val -46782"/>
              <a:gd name="adj3" fmla="val 16667"/>
            </a:avLst>
          </a:prstGeom>
          <a:solidFill>
            <a:srgbClr val="FFCCFF"/>
          </a:solidFill>
          <a:ln w="9525" cap="flat" cmpd="sng">
            <a:solidFill>
              <a:schemeClr val="tx1"/>
            </a:solidFill>
            <a:prstDash val="solid"/>
            <a:miter/>
            <a:headEnd type="none" w="med" len="med"/>
            <a:tailEnd type="none" w="med" len="med"/>
          </a:ln>
        </p:spPr>
        <p:txBody>
          <a:bodyPr anchor="ctr"/>
          <a:lstStyle/>
          <a:p>
            <a:pPr algn="ctr"/>
            <a:r>
              <a:rPr lang="zh-CN" altLang="en-US" sz="1350" dirty="0">
                <a:latin typeface="Microsoft YaHei" panose="020B0503020204020204" pitchFamily="34" charset="-122"/>
                <a:ea typeface="Microsoft YaHei" panose="020B0503020204020204" pitchFamily="34" charset="-122"/>
              </a:rPr>
              <a:t>集合</a:t>
            </a:r>
          </a:p>
        </p:txBody>
      </p:sp>
      <p:sp>
        <p:nvSpPr>
          <p:cNvPr id="52234" name="AutoShape 10"/>
          <p:cNvSpPr/>
          <p:nvPr/>
        </p:nvSpPr>
        <p:spPr>
          <a:xfrm>
            <a:off x="2944030" y="2280110"/>
            <a:ext cx="756047" cy="400050"/>
          </a:xfrm>
          <a:prstGeom prst="wedgeRoundRectCallout">
            <a:avLst>
              <a:gd name="adj1" fmla="val -55986"/>
              <a:gd name="adj2" fmla="val 102380"/>
              <a:gd name="adj3" fmla="val 16667"/>
            </a:avLst>
          </a:prstGeom>
          <a:solidFill>
            <a:srgbClr val="FFCCFF"/>
          </a:solidFill>
          <a:ln w="9525" cap="flat" cmpd="sng">
            <a:solidFill>
              <a:schemeClr val="tx1"/>
            </a:solidFill>
            <a:prstDash val="solid"/>
            <a:miter/>
            <a:headEnd type="none" w="med" len="med"/>
            <a:tailEnd type="none" w="med" len="med"/>
          </a:ln>
        </p:spPr>
        <p:txBody>
          <a:bodyPr anchor="ctr"/>
          <a:lstStyle/>
          <a:p>
            <a:pPr algn="ctr"/>
            <a:r>
              <a:rPr lang="zh-CN" altLang="en-US" sz="1350" dirty="0">
                <a:latin typeface="Microsoft YaHei" panose="020B0503020204020204" pitchFamily="34" charset="-122"/>
                <a:ea typeface="Microsoft YaHei" panose="020B0503020204020204" pitchFamily="34" charset="-122"/>
              </a:rPr>
              <a:t>一个</a:t>
            </a:r>
          </a:p>
        </p:txBody>
      </p:sp>
      <p:sp>
        <p:nvSpPr>
          <p:cNvPr id="5" name="标题 4">
            <a:extLst>
              <a:ext uri="{FF2B5EF4-FFF2-40B4-BE49-F238E27FC236}">
                <a16:creationId xmlns:a16="http://schemas.microsoft.com/office/drawing/2014/main" id="{0D20D50A-6167-B1B1-DF7B-3F32D84ADA5E}"/>
              </a:ext>
            </a:extLst>
          </p:cNvPr>
          <p:cNvSpPr>
            <a:spLocks noGrp="1"/>
          </p:cNvSpPr>
          <p:nvPr>
            <p:ph type="title"/>
          </p:nvPr>
        </p:nvSpPr>
        <p:spPr/>
        <p:txBody>
          <a:bodyPr/>
          <a:lstStyle/>
          <a:p>
            <a:r>
              <a:rPr lang="zh-CN" altLang="en-US" dirty="0"/>
              <a:t>非相关子查询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52231"/>
                                        </p:tgtEl>
                                        <p:attrNameLst>
                                          <p:attrName>style.visibility</p:attrName>
                                        </p:attrNameLst>
                                      </p:cBhvr>
                                      <p:to>
                                        <p:strVal val="visible"/>
                                      </p:to>
                                    </p:set>
                                    <p:anim calcmode="lin" valueType="num">
                                      <p:cBhvr>
                                        <p:cTn id="7" dur="500" fill="hold"/>
                                        <p:tgtEl>
                                          <p:spTgt spid="52231"/>
                                        </p:tgtEl>
                                        <p:attrNameLst>
                                          <p:attrName>ppt_w</p:attrName>
                                        </p:attrNameLst>
                                      </p:cBhvr>
                                      <p:tavLst>
                                        <p:tav tm="0">
                                          <p:val>
                                            <p:fltVal val="0"/>
                                          </p:val>
                                        </p:tav>
                                        <p:tav tm="100000">
                                          <p:val>
                                            <p:strVal val="#ppt_w"/>
                                          </p:val>
                                        </p:tav>
                                      </p:tavLst>
                                    </p:anim>
                                    <p:anim calcmode="lin" valueType="num">
                                      <p:cBhvr>
                                        <p:cTn id="8" dur="500" fill="hold"/>
                                        <p:tgtEl>
                                          <p:spTgt spid="52231"/>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52230">
                                            <p:bg/>
                                          </p:spTgt>
                                        </p:tgtEl>
                                        <p:attrNameLst>
                                          <p:attrName>style.visibility</p:attrName>
                                        </p:attrNameLst>
                                      </p:cBhvr>
                                      <p:to>
                                        <p:strVal val="visible"/>
                                      </p:to>
                                    </p:set>
                                    <p:animEffect transition="in" filter="box(in)">
                                      <p:cBhvr>
                                        <p:cTn id="13" dur="500"/>
                                        <p:tgtEl>
                                          <p:spTgt spid="52230">
                                            <p:bg/>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52230">
                                            <p:txEl>
                                              <p:pRg st="0" end="0"/>
                                            </p:txEl>
                                          </p:spTgt>
                                        </p:tgtEl>
                                        <p:attrNameLst>
                                          <p:attrName>style.visibility</p:attrName>
                                        </p:attrNameLst>
                                      </p:cBhvr>
                                      <p:to>
                                        <p:strVal val="visible"/>
                                      </p:to>
                                    </p:set>
                                    <p:animEffect transition="in" filter="box(in)">
                                      <p:cBhvr>
                                        <p:cTn id="18" dur="500"/>
                                        <p:tgtEl>
                                          <p:spTgt spid="52230">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52230">
                                            <p:txEl>
                                              <p:pRg st="1" end="1"/>
                                            </p:txEl>
                                          </p:spTgt>
                                        </p:tgtEl>
                                        <p:attrNameLst>
                                          <p:attrName>style.visibility</p:attrName>
                                        </p:attrNameLst>
                                      </p:cBhvr>
                                      <p:to>
                                        <p:strVal val="visible"/>
                                      </p:to>
                                    </p:set>
                                    <p:animEffect transition="in" filter="box(in)">
                                      <p:cBhvr>
                                        <p:cTn id="23" dur="500"/>
                                        <p:tgtEl>
                                          <p:spTgt spid="5223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52230">
                                            <p:txEl>
                                              <p:pRg st="2" end="2"/>
                                            </p:txEl>
                                          </p:spTgt>
                                        </p:tgtEl>
                                        <p:attrNameLst>
                                          <p:attrName>style.visibility</p:attrName>
                                        </p:attrNameLst>
                                      </p:cBhvr>
                                      <p:to>
                                        <p:strVal val="visible"/>
                                      </p:to>
                                    </p:set>
                                    <p:animEffect transition="in" filter="box(in)">
                                      <p:cBhvr>
                                        <p:cTn id="28" dur="500"/>
                                        <p:tgtEl>
                                          <p:spTgt spid="52230">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52229">
                                            <p:bg/>
                                          </p:spTgt>
                                        </p:tgtEl>
                                        <p:attrNameLst>
                                          <p:attrName>style.visibility</p:attrName>
                                        </p:attrNameLst>
                                      </p:cBhvr>
                                      <p:to>
                                        <p:strVal val="visible"/>
                                      </p:to>
                                    </p:set>
                                    <p:animEffect transition="in" filter="box(in)">
                                      <p:cBhvr>
                                        <p:cTn id="33" dur="500"/>
                                        <p:tgtEl>
                                          <p:spTgt spid="52229">
                                            <p:bg/>
                                          </p:spTgt>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52229">
                                            <p:txEl>
                                              <p:pRg st="0" end="0"/>
                                            </p:txEl>
                                          </p:spTgt>
                                        </p:tgtEl>
                                        <p:attrNameLst>
                                          <p:attrName>style.visibility</p:attrName>
                                        </p:attrNameLst>
                                      </p:cBhvr>
                                      <p:to>
                                        <p:strVal val="visible"/>
                                      </p:to>
                                    </p:set>
                                    <p:animEffect transition="in" filter="box(in)">
                                      <p:cBhvr>
                                        <p:cTn id="38" dur="500"/>
                                        <p:tgtEl>
                                          <p:spTgt spid="52229">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52229">
                                            <p:txEl>
                                              <p:pRg st="1" end="1"/>
                                            </p:txEl>
                                          </p:spTgt>
                                        </p:tgtEl>
                                        <p:attrNameLst>
                                          <p:attrName>style.visibility</p:attrName>
                                        </p:attrNameLst>
                                      </p:cBhvr>
                                      <p:to>
                                        <p:strVal val="visible"/>
                                      </p:to>
                                    </p:set>
                                    <p:animEffect transition="in" filter="box(in)">
                                      <p:cBhvr>
                                        <p:cTn id="43" dur="500"/>
                                        <p:tgtEl>
                                          <p:spTgt spid="52229">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52229">
                                            <p:txEl>
                                              <p:pRg st="2" end="2"/>
                                            </p:txEl>
                                          </p:spTgt>
                                        </p:tgtEl>
                                        <p:attrNameLst>
                                          <p:attrName>style.visibility</p:attrName>
                                        </p:attrNameLst>
                                      </p:cBhvr>
                                      <p:to>
                                        <p:strVal val="visible"/>
                                      </p:to>
                                    </p:set>
                                    <p:animEffect transition="in" filter="box(in)">
                                      <p:cBhvr>
                                        <p:cTn id="48" dur="500"/>
                                        <p:tgtEl>
                                          <p:spTgt spid="52229">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grpId="0" nodeType="clickEffect">
                                  <p:stCondLst>
                                    <p:cond delay="0"/>
                                  </p:stCondLst>
                                  <p:childTnLst>
                                    <p:set>
                                      <p:cBhvr>
                                        <p:cTn id="52" dur="1" fill="hold">
                                          <p:stCondLst>
                                            <p:cond delay="0"/>
                                          </p:stCondLst>
                                        </p:cTn>
                                        <p:tgtEl>
                                          <p:spTgt spid="52229">
                                            <p:txEl>
                                              <p:pRg st="3" end="3"/>
                                            </p:txEl>
                                          </p:spTgt>
                                        </p:tgtEl>
                                        <p:attrNameLst>
                                          <p:attrName>style.visibility</p:attrName>
                                        </p:attrNameLst>
                                      </p:cBhvr>
                                      <p:to>
                                        <p:strVal val="visible"/>
                                      </p:to>
                                    </p:set>
                                    <p:animEffect transition="in" filter="box(in)">
                                      <p:cBhvr>
                                        <p:cTn id="53" dur="500"/>
                                        <p:tgtEl>
                                          <p:spTgt spid="52229">
                                            <p:txEl>
                                              <p:pRg st="3" end="3"/>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52234"/>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499"/>
                                          </p:stCondLst>
                                        </p:cTn>
                                        <p:tgtEl>
                                          <p:spTgt spid="5223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522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build="p" animBg="1"/>
      <p:bldP spid="52230" grpId="0" build="p" animBg="1"/>
      <p:bldP spid="52232" grpId="0" bldLvl="0" animBg="1"/>
      <p:bldP spid="52233" grpId="0" bldLvl="0" animBg="1"/>
      <p:bldP spid="52234"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p:cNvSpPr>
          <p:nvPr>
            <p:ph idx="1"/>
          </p:nvPr>
        </p:nvSpPr>
        <p:spPr>
          <a:xfrm>
            <a:off x="871384" y="3085690"/>
            <a:ext cx="7886700" cy="1237035"/>
          </a:xfrm>
        </p:spPr>
        <p:txBody>
          <a:bodyPr vert="horz" wrap="square" lIns="68580" tIns="34290" rIns="68580" bIns="34290" anchor="t" anchorCtr="0"/>
          <a:lstStyle/>
          <a:p>
            <a:pPr eaLnBrk="1" hangingPunct="1">
              <a:buSzTx/>
              <a:buNone/>
            </a:pPr>
            <a:r>
              <a:rPr lang="en-US" altLang="zh-CN" sz="1800" dirty="0"/>
              <a:t>SELECT </a:t>
            </a:r>
            <a:r>
              <a:rPr lang="en-US" altLang="zh-CN" sz="1800" dirty="0">
                <a:solidFill>
                  <a:schemeClr val="folHlink"/>
                </a:solidFill>
              </a:rPr>
              <a:t>Student.</a:t>
            </a:r>
            <a:r>
              <a:rPr lang="en-US" altLang="zh-CN" sz="1800" dirty="0"/>
              <a:t>sno,sname,sex,age,dept,cno,grade</a:t>
            </a:r>
          </a:p>
          <a:p>
            <a:pPr eaLnBrk="1" hangingPunct="1">
              <a:buSzTx/>
              <a:buNone/>
            </a:pPr>
            <a:r>
              <a:rPr lang="en-US" altLang="zh-CN" sz="1800" dirty="0"/>
              <a:t>FROM  Student,SC</a:t>
            </a:r>
          </a:p>
          <a:p>
            <a:pPr eaLnBrk="1" hangingPunct="1">
              <a:buSzTx/>
              <a:buNone/>
            </a:pPr>
            <a:r>
              <a:rPr lang="en-US" altLang="zh-CN" sz="1800" dirty="0"/>
              <a:t>WHERE Student.sno=SC.sno</a:t>
            </a:r>
            <a:r>
              <a:rPr lang="zh-CN" altLang="en-US" sz="1800" dirty="0"/>
              <a:t>； </a:t>
            </a:r>
          </a:p>
        </p:txBody>
      </p:sp>
      <p:sp>
        <p:nvSpPr>
          <p:cNvPr id="53252" name="Rectangle 4"/>
          <p:cNvSpPr/>
          <p:nvPr/>
        </p:nvSpPr>
        <p:spPr>
          <a:xfrm>
            <a:off x="523567" y="1253548"/>
            <a:ext cx="6858000" cy="2171700"/>
          </a:xfrm>
          <a:prstGeom prst="rect">
            <a:avLst/>
          </a:prstGeom>
          <a:noFill/>
          <a:ln w="9525">
            <a:noFill/>
          </a:ln>
        </p:spPr>
        <p:txBody>
          <a:bodyPr/>
          <a:lstStyle/>
          <a:p>
            <a:pPr marL="257175" indent="-257175">
              <a:spcBef>
                <a:spcPct val="20000"/>
              </a:spcBef>
              <a:buClr>
                <a:schemeClr val="folHlink"/>
              </a:buClr>
            </a:pPr>
            <a:r>
              <a:rPr lang="zh-CN" altLang="en-US" b="1" dirty="0">
                <a:solidFill>
                  <a:schemeClr val="hlink"/>
                </a:solidFill>
                <a:latin typeface="Microsoft YaHei" panose="020B0503020204020204" pitchFamily="34" charset="-122"/>
                <a:ea typeface="Microsoft YaHei" panose="020B0503020204020204" pitchFamily="34" charset="-122"/>
              </a:rPr>
              <a:t>连接条件</a:t>
            </a:r>
            <a:r>
              <a:rPr lang="zh-CN" altLang="en-US" dirty="0">
                <a:latin typeface="Microsoft YaHei" panose="020B0503020204020204" pitchFamily="34" charset="-122"/>
                <a:ea typeface="Microsoft YaHei" panose="020B0503020204020204" pitchFamily="34" charset="-122"/>
              </a:rPr>
              <a:t>的一般格式为：</a:t>
            </a:r>
          </a:p>
          <a:p>
            <a:pPr marL="257175" indent="-257175">
              <a:spcBef>
                <a:spcPct val="20000"/>
              </a:spcBef>
              <a:buClr>
                <a:schemeClr val="folHlink"/>
              </a:buClr>
            </a:pPr>
            <a:r>
              <a:rPr lang="zh-CN" altLang="en-US" dirty="0">
                <a:solidFill>
                  <a:schemeClr val="folHlink"/>
                </a:solidFill>
                <a:latin typeface="Microsoft YaHei" panose="020B0503020204020204" pitchFamily="34" charset="-122"/>
                <a:ea typeface="Microsoft YaHei" panose="020B0503020204020204" pitchFamily="34" charset="-122"/>
              </a:rPr>
              <a:t>   </a:t>
            </a:r>
            <a:r>
              <a:rPr lang="en-US" altLang="zh-CN" dirty="0">
                <a:solidFill>
                  <a:schemeClr val="folHlink"/>
                </a:solidFill>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&lt;</a:t>
            </a:r>
            <a:r>
              <a:rPr lang="zh-CN" altLang="en-US" dirty="0">
                <a:latin typeface="Microsoft YaHei" panose="020B0503020204020204" pitchFamily="34" charset="-122"/>
                <a:ea typeface="Microsoft YaHei" panose="020B0503020204020204" pitchFamily="34" charset="-122"/>
              </a:rPr>
              <a:t>表名</a:t>
            </a:r>
            <a:r>
              <a:rPr lang="en-US" altLang="zh-CN" dirty="0">
                <a:latin typeface="Microsoft YaHei" panose="020B0503020204020204" pitchFamily="34" charset="-122"/>
                <a:ea typeface="Microsoft YaHei" panose="020B0503020204020204" pitchFamily="34" charset="-122"/>
              </a:rPr>
              <a:t>1&gt;.</a:t>
            </a:r>
            <a:r>
              <a:rPr lang="en-US" altLang="zh-CN" dirty="0">
                <a:solidFill>
                  <a:schemeClr val="folHlink"/>
                </a:solidFill>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&lt;</a:t>
            </a:r>
            <a:r>
              <a:rPr lang="zh-CN" altLang="en-US" dirty="0">
                <a:latin typeface="Microsoft YaHei" panose="020B0503020204020204" pitchFamily="34" charset="-122"/>
                <a:ea typeface="Microsoft YaHei" panose="020B0503020204020204" pitchFamily="34" charset="-122"/>
              </a:rPr>
              <a:t>列名</a:t>
            </a:r>
            <a:r>
              <a:rPr lang="en-US" altLang="zh-CN" dirty="0">
                <a:latin typeface="Microsoft YaHei" panose="020B0503020204020204" pitchFamily="34" charset="-122"/>
                <a:ea typeface="Microsoft YaHei" panose="020B0503020204020204" pitchFamily="34" charset="-122"/>
              </a:rPr>
              <a:t>1&gt;  &lt;</a:t>
            </a:r>
            <a:r>
              <a:rPr lang="zh-CN" altLang="en-US" dirty="0">
                <a:latin typeface="Microsoft YaHei" panose="020B0503020204020204" pitchFamily="34" charset="-122"/>
                <a:ea typeface="Microsoft YaHei" panose="020B0503020204020204" pitchFamily="34" charset="-122"/>
              </a:rPr>
              <a:t>比较运算符</a:t>
            </a:r>
            <a:r>
              <a:rPr lang="en-US" altLang="zh-CN" dirty="0">
                <a:latin typeface="Microsoft YaHei" panose="020B0503020204020204" pitchFamily="34" charset="-122"/>
                <a:ea typeface="Microsoft YaHei" panose="020B0503020204020204" pitchFamily="34" charset="-122"/>
              </a:rPr>
              <a:t>&gt;  </a:t>
            </a:r>
            <a:r>
              <a:rPr lang="en-US" altLang="zh-CN" dirty="0">
                <a:solidFill>
                  <a:schemeClr val="folHlink"/>
                </a:solidFill>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&lt;</a:t>
            </a:r>
            <a:r>
              <a:rPr lang="zh-CN" altLang="en-US" dirty="0">
                <a:latin typeface="Microsoft YaHei" panose="020B0503020204020204" pitchFamily="34" charset="-122"/>
                <a:ea typeface="Microsoft YaHei" panose="020B0503020204020204" pitchFamily="34" charset="-122"/>
              </a:rPr>
              <a:t>表名</a:t>
            </a:r>
            <a:r>
              <a:rPr lang="en-US" altLang="zh-CN" dirty="0">
                <a:latin typeface="Microsoft YaHei" panose="020B0503020204020204" pitchFamily="34" charset="-122"/>
                <a:ea typeface="Microsoft YaHei" panose="020B0503020204020204" pitchFamily="34" charset="-122"/>
              </a:rPr>
              <a:t>2&gt;.</a:t>
            </a:r>
            <a:r>
              <a:rPr lang="en-US" altLang="zh-CN" dirty="0">
                <a:solidFill>
                  <a:schemeClr val="folHlink"/>
                </a:solidFill>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&lt;</a:t>
            </a:r>
            <a:r>
              <a:rPr lang="zh-CN" altLang="en-US" dirty="0">
                <a:latin typeface="Microsoft YaHei" panose="020B0503020204020204" pitchFamily="34" charset="-122"/>
                <a:ea typeface="Microsoft YaHei" panose="020B0503020204020204" pitchFamily="34" charset="-122"/>
              </a:rPr>
              <a:t>列名</a:t>
            </a:r>
            <a:r>
              <a:rPr lang="en-US" altLang="zh-CN" dirty="0">
                <a:latin typeface="Microsoft YaHei" panose="020B0503020204020204" pitchFamily="34" charset="-122"/>
                <a:ea typeface="Microsoft YaHei" panose="020B0503020204020204" pitchFamily="34" charset="-122"/>
              </a:rPr>
              <a:t>2&gt;</a:t>
            </a:r>
          </a:p>
          <a:p>
            <a:pPr marL="257175" indent="-257175">
              <a:spcBef>
                <a:spcPct val="20000"/>
              </a:spcBef>
              <a:buClr>
                <a:schemeClr val="folHlink"/>
              </a:buClr>
              <a:buFont typeface="Wingdings" panose="05000000000000000000" pitchFamily="2" charset="2"/>
              <a:buChar char="§"/>
            </a:pPr>
            <a:r>
              <a:rPr lang="zh-CN" altLang="en-US" dirty="0">
                <a:latin typeface="Microsoft YaHei" panose="020B0503020204020204" pitchFamily="34" charset="-122"/>
                <a:ea typeface="Microsoft YaHei" panose="020B0503020204020204" pitchFamily="34" charset="-122"/>
              </a:rPr>
              <a:t>当连接运算符为</a:t>
            </a:r>
            <a:r>
              <a:rPr lang="en-US" altLang="zh-CN" dirty="0">
                <a:solidFill>
                  <a:srgbClr val="FF0000"/>
                </a:solidFill>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时，称为</a:t>
            </a:r>
            <a:r>
              <a:rPr lang="zh-CN" altLang="en-US" b="1" dirty="0">
                <a:solidFill>
                  <a:schemeClr val="folHlink"/>
                </a:solidFill>
                <a:latin typeface="Microsoft YaHei" panose="020B0503020204020204" pitchFamily="34" charset="-122"/>
                <a:ea typeface="Microsoft YaHei" panose="020B0503020204020204" pitchFamily="34" charset="-122"/>
              </a:rPr>
              <a:t>等值连接</a:t>
            </a:r>
            <a:r>
              <a:rPr lang="zh-CN" altLang="en-US" b="1" dirty="0">
                <a:latin typeface="Microsoft YaHei" panose="020B0503020204020204" pitchFamily="34" charset="-122"/>
                <a:ea typeface="Microsoft YaHei" panose="020B0503020204020204" pitchFamily="34" charset="-122"/>
              </a:rPr>
              <a:t>。</a:t>
            </a:r>
          </a:p>
          <a:p>
            <a:pPr marL="257175" indent="-257175">
              <a:spcBef>
                <a:spcPct val="20000"/>
              </a:spcBef>
              <a:buClr>
                <a:schemeClr val="folHlink"/>
              </a:buClr>
              <a:buFont typeface="Wingdings" panose="05000000000000000000" pitchFamily="2" charset="2"/>
              <a:buChar char="§"/>
            </a:pPr>
            <a:endParaRPr lang="zh-CN" altLang="en-US" b="1" dirty="0">
              <a:latin typeface="Microsoft YaHei" panose="020B0503020204020204" pitchFamily="34" charset="-122"/>
              <a:ea typeface="Microsoft YaHei" panose="020B0503020204020204" pitchFamily="34" charset="-122"/>
            </a:endParaRPr>
          </a:p>
          <a:p>
            <a:pPr marL="257175" indent="-257175">
              <a:spcBef>
                <a:spcPct val="20000"/>
              </a:spcBef>
              <a:buClr>
                <a:schemeClr val="folHlink"/>
              </a:buClr>
              <a:buFont typeface="Wingdings" panose="05000000000000000000" pitchFamily="2" charset="2"/>
              <a:buChar char="§"/>
            </a:pPr>
            <a:r>
              <a:rPr lang="zh-CN" altLang="en-US" b="1" dirty="0">
                <a:solidFill>
                  <a:schemeClr val="hlink"/>
                </a:solidFill>
                <a:latin typeface="Microsoft YaHei" panose="020B0503020204020204" pitchFamily="34" charset="-122"/>
                <a:ea typeface="Microsoft YaHei" panose="020B0503020204020204" pitchFamily="34" charset="-122"/>
              </a:rPr>
              <a:t>例</a:t>
            </a:r>
            <a:r>
              <a:rPr lang="en-US" altLang="zh-CN" b="1"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查询每个学生的情况及其选课成绩。</a:t>
            </a:r>
          </a:p>
        </p:txBody>
      </p:sp>
      <p:sp>
        <p:nvSpPr>
          <p:cNvPr id="3" name="标题 2">
            <a:extLst>
              <a:ext uri="{FF2B5EF4-FFF2-40B4-BE49-F238E27FC236}">
                <a16:creationId xmlns:a16="http://schemas.microsoft.com/office/drawing/2014/main" id="{CE1F7A90-5C4A-5701-53DE-1819C89E56F8}"/>
              </a:ext>
            </a:extLst>
          </p:cNvPr>
          <p:cNvSpPr>
            <a:spLocks noGrp="1"/>
          </p:cNvSpPr>
          <p:nvPr>
            <p:ph type="title"/>
          </p:nvPr>
        </p:nvSpPr>
        <p:spPr/>
        <p:txBody>
          <a:bodyPr/>
          <a:lstStyle/>
          <a:p>
            <a:r>
              <a:rPr lang="zh-CN" altLang="en-US" dirty="0"/>
              <a:t>多表查询 </a:t>
            </a:r>
            <a:r>
              <a:rPr lang="en-US" altLang="zh-CN" dirty="0"/>
              <a:t>––</a:t>
            </a:r>
            <a:r>
              <a:rPr lang="zh-CN" altLang="en-US" dirty="0"/>
              <a:t> 连接查询</a:t>
            </a: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p:cNvSpPr>
          <p:nvPr>
            <p:ph idx="1"/>
          </p:nvPr>
        </p:nvSpPr>
        <p:spPr/>
        <p:txBody>
          <a:bodyPr vert="horz" wrap="square" lIns="68580" tIns="34290" rIns="68580" bIns="34290" rtlCol="0" anchor="t" anchorCtr="0">
            <a:normAutofit/>
          </a:bodyPr>
          <a:lstStyle/>
          <a:p>
            <a:pPr eaLnBrk="1" hangingPunct="1">
              <a:buSzPct val="60000"/>
              <a:buFont typeface="Wingdings" panose="05000000000000000000" pitchFamily="2" charset="2"/>
              <a:buNone/>
            </a:pPr>
            <a:r>
              <a:rPr lang="zh-CN" altLang="en-US" sz="1800" b="1" dirty="0">
                <a:solidFill>
                  <a:schemeClr val="hlink"/>
                </a:solidFill>
              </a:rPr>
              <a:t>[例]</a:t>
            </a:r>
            <a:r>
              <a:rPr lang="zh-CN" altLang="en-US" sz="1800" dirty="0"/>
              <a:t>查询选修了数据库的学生号、成绩</a:t>
            </a:r>
          </a:p>
        </p:txBody>
      </p:sp>
      <p:sp>
        <p:nvSpPr>
          <p:cNvPr id="56324" name="AutoShape 4"/>
          <p:cNvSpPr/>
          <p:nvPr/>
        </p:nvSpPr>
        <p:spPr>
          <a:xfrm>
            <a:off x="4847862" y="721310"/>
            <a:ext cx="1134666" cy="400050"/>
          </a:xfrm>
          <a:prstGeom prst="wedgeRoundRectCallout">
            <a:avLst>
              <a:gd name="adj1" fmla="val -53255"/>
              <a:gd name="adj2" fmla="val 71130"/>
              <a:gd name="adj3" fmla="val 16667"/>
            </a:avLst>
          </a:prstGeom>
          <a:solidFill>
            <a:srgbClr val="FFCCFF"/>
          </a:solidFill>
          <a:ln w="9525" cap="flat" cmpd="sng">
            <a:solidFill>
              <a:schemeClr val="tx1"/>
            </a:solidFill>
            <a:prstDash val="solid"/>
            <a:miter/>
            <a:headEnd type="none" w="med" len="med"/>
            <a:tailEnd type="none" w="med" len="med"/>
          </a:ln>
        </p:spPr>
        <p:txBody>
          <a:bodyPr/>
          <a:lstStyle/>
          <a:p>
            <a:pPr algn="ctr"/>
            <a:r>
              <a:rPr lang="zh-CN" altLang="en-US" sz="1350" dirty="0">
                <a:latin typeface="Microsoft YaHei" panose="020B0503020204020204" pitchFamily="34" charset="-122"/>
                <a:ea typeface="Microsoft YaHei" panose="020B0503020204020204" pitchFamily="34" charset="-122"/>
              </a:rPr>
              <a:t>学分 ？</a:t>
            </a:r>
          </a:p>
        </p:txBody>
      </p:sp>
      <p:sp>
        <p:nvSpPr>
          <p:cNvPr id="56325" name="Rectangle 5"/>
          <p:cNvSpPr/>
          <p:nvPr/>
        </p:nvSpPr>
        <p:spPr>
          <a:xfrm>
            <a:off x="1199238" y="3409666"/>
            <a:ext cx="3768328" cy="1600200"/>
          </a:xfrm>
          <a:prstGeom prst="rect">
            <a:avLst/>
          </a:prstGeom>
          <a:noFill/>
          <a:ln w="9525">
            <a:noFill/>
          </a:ln>
        </p:spPr>
        <p:txBody>
          <a:bodyPr/>
          <a:lstStyle/>
          <a:p>
            <a:pPr marL="257175" indent="-257175">
              <a:spcBef>
                <a:spcPct val="5000"/>
              </a:spcBef>
              <a:buClr>
                <a:schemeClr val="folHlink"/>
              </a:buClr>
            </a:pPr>
            <a:r>
              <a:rPr lang="en-US" altLang="zh-CN" dirty="0">
                <a:latin typeface="Microsoft YaHei" panose="020B0503020204020204" pitchFamily="34" charset="-122"/>
                <a:ea typeface="Microsoft YaHei" panose="020B0503020204020204" pitchFamily="34" charset="-122"/>
              </a:rPr>
              <a:t>SELECT sno</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grade</a:t>
            </a:r>
          </a:p>
          <a:p>
            <a:pPr marL="257175" indent="-257175">
              <a:spcBef>
                <a:spcPct val="5000"/>
              </a:spcBef>
              <a:buClr>
                <a:schemeClr val="folHlink"/>
              </a:buClr>
            </a:pPr>
            <a:r>
              <a:rPr lang="en-US" altLang="zh-CN" dirty="0">
                <a:latin typeface="Microsoft YaHei" panose="020B0503020204020204" pitchFamily="34" charset="-122"/>
                <a:ea typeface="Microsoft YaHei" panose="020B0503020204020204" pitchFamily="34" charset="-122"/>
              </a:rPr>
              <a:t>FROM  SC</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Course</a:t>
            </a:r>
          </a:p>
          <a:p>
            <a:pPr marL="257175" indent="-257175">
              <a:spcBef>
                <a:spcPct val="5000"/>
              </a:spcBef>
              <a:buClr>
                <a:schemeClr val="folHlink"/>
              </a:buClr>
            </a:pPr>
            <a:r>
              <a:rPr lang="en-US" altLang="zh-CN" dirty="0">
                <a:latin typeface="Microsoft YaHei" panose="020B0503020204020204" pitchFamily="34" charset="-122"/>
                <a:ea typeface="Microsoft YaHei" panose="020B0503020204020204" pitchFamily="34" charset="-122"/>
              </a:rPr>
              <a:t>WHERE SC.cno = Course.cno</a:t>
            </a:r>
          </a:p>
          <a:p>
            <a:pPr marL="257175" indent="-257175">
              <a:spcBef>
                <a:spcPct val="5000"/>
              </a:spcBef>
              <a:buClr>
                <a:schemeClr val="folHlink"/>
              </a:buClr>
            </a:pPr>
            <a:r>
              <a:rPr lang="en-US" altLang="zh-CN"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AND cname=‘</a:t>
            </a:r>
            <a:r>
              <a:rPr lang="zh-CN" altLang="en-US" dirty="0">
                <a:latin typeface="Microsoft YaHei" panose="020B0503020204020204" pitchFamily="34" charset="-122"/>
                <a:ea typeface="Microsoft YaHei" panose="020B0503020204020204" pitchFamily="34" charset="-122"/>
              </a:rPr>
              <a:t>数据库</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a:t>
            </a:r>
          </a:p>
        </p:txBody>
      </p:sp>
      <p:sp>
        <p:nvSpPr>
          <p:cNvPr id="56326" name="Text Box 6"/>
          <p:cNvSpPr txBox="1"/>
          <p:nvPr/>
        </p:nvSpPr>
        <p:spPr>
          <a:xfrm>
            <a:off x="3426760" y="3425809"/>
            <a:ext cx="1079897" cy="369332"/>
          </a:xfrm>
          <a:prstGeom prst="rect">
            <a:avLst/>
          </a:prstGeom>
          <a:noFill/>
          <a:ln w="9525">
            <a:noFill/>
          </a:ln>
        </p:spPr>
        <p:txBody>
          <a:bodyPr>
            <a:spAutoFit/>
          </a:bodyPr>
          <a:lstStyle/>
          <a:p>
            <a:pPr>
              <a:spcBef>
                <a:spcPct val="50000"/>
              </a:spcBef>
            </a:pPr>
            <a:r>
              <a:rPr lang="en-US" altLang="zh-CN" dirty="0">
                <a:solidFill>
                  <a:schemeClr val="hlink"/>
                </a:solidFill>
                <a:latin typeface="Microsoft YaHei" panose="020B0503020204020204" pitchFamily="34" charset="-122"/>
                <a:ea typeface="Microsoft YaHei" panose="020B0503020204020204" pitchFamily="34" charset="-122"/>
              </a:rPr>
              <a:t>,credit</a:t>
            </a:r>
          </a:p>
        </p:txBody>
      </p:sp>
      <p:sp>
        <p:nvSpPr>
          <p:cNvPr id="56327" name="AutoShape 7"/>
          <p:cNvSpPr/>
          <p:nvPr/>
        </p:nvSpPr>
        <p:spPr>
          <a:xfrm>
            <a:off x="6903528" y="1721519"/>
            <a:ext cx="1557760" cy="972686"/>
          </a:xfrm>
          <a:prstGeom prst="wedgeRoundRectCallout">
            <a:avLst>
              <a:gd name="adj1" fmla="val -171752"/>
              <a:gd name="adj2" fmla="val 48138"/>
              <a:gd name="adj3" fmla="val 16667"/>
            </a:avLst>
          </a:prstGeom>
          <a:solidFill>
            <a:srgbClr val="BFFFEE"/>
          </a:solidFill>
          <a:ln w="9525" cap="flat" cmpd="sng">
            <a:solidFill>
              <a:schemeClr val="tx1"/>
            </a:solidFill>
            <a:prstDash val="solid"/>
            <a:miter/>
            <a:headEnd type="none" w="med" len="med"/>
            <a:tailEnd type="none" w="med" len="med"/>
          </a:ln>
        </p:spPr>
        <p:txBody>
          <a:bodyPr/>
          <a:lstStyle/>
          <a:p>
            <a:r>
              <a:rPr lang="zh-CN" altLang="en-US" sz="1400" dirty="0">
                <a:solidFill>
                  <a:schemeClr val="hlink"/>
                </a:solidFill>
                <a:latin typeface="Microsoft YaHei" panose="020B0503020204020204" pitchFamily="34" charset="-122"/>
                <a:ea typeface="Microsoft YaHei" panose="020B0503020204020204" pitchFamily="34" charset="-122"/>
              </a:rPr>
              <a:t>注意：</a:t>
            </a:r>
          </a:p>
          <a:p>
            <a:r>
              <a:rPr lang="zh-CN" altLang="en-US" sz="1400" dirty="0">
                <a:latin typeface="Microsoft YaHei" panose="020B0503020204020204" pitchFamily="34" charset="-122"/>
                <a:ea typeface="Microsoft YaHei" panose="020B0503020204020204" pitchFamily="34" charset="-122"/>
              </a:rPr>
              <a:t>子查询不能用</a:t>
            </a:r>
            <a:r>
              <a:rPr lang="en-US" altLang="zh-CN" sz="1400" dirty="0">
                <a:latin typeface="Microsoft YaHei" panose="020B0503020204020204" pitchFamily="34" charset="-122"/>
                <a:ea typeface="Microsoft YaHei" panose="020B0503020204020204" pitchFamily="34" charset="-122"/>
              </a:rPr>
              <a:t>ORDER BY</a:t>
            </a:r>
            <a:r>
              <a:rPr lang="zh-CN" altLang="en-US" sz="1400" dirty="0">
                <a:latin typeface="Microsoft YaHei" panose="020B0503020204020204" pitchFamily="34" charset="-122"/>
                <a:ea typeface="Microsoft YaHei" panose="020B0503020204020204" pitchFamily="34" charset="-122"/>
              </a:rPr>
              <a:t>子句</a:t>
            </a:r>
          </a:p>
          <a:p>
            <a:r>
              <a:rPr lang="zh-CN" altLang="en-US" sz="1400" dirty="0">
                <a:solidFill>
                  <a:srgbClr val="0000FF"/>
                </a:solidFill>
                <a:latin typeface="Microsoft YaHei" panose="020B0503020204020204" pitchFamily="34" charset="-122"/>
                <a:ea typeface="Microsoft YaHei" panose="020B0503020204020204" pitchFamily="34" charset="-122"/>
              </a:rPr>
              <a:t>为什么？</a:t>
            </a:r>
          </a:p>
        </p:txBody>
      </p:sp>
      <p:sp>
        <p:nvSpPr>
          <p:cNvPr id="56328" name="AutoShape 8"/>
          <p:cNvSpPr/>
          <p:nvPr/>
        </p:nvSpPr>
        <p:spPr>
          <a:xfrm>
            <a:off x="756088" y="2738890"/>
            <a:ext cx="1310403" cy="282165"/>
          </a:xfrm>
          <a:prstGeom prst="wedgeRoundRectCallout">
            <a:avLst>
              <a:gd name="adj1" fmla="val 126744"/>
              <a:gd name="adj2" fmla="val -78510"/>
              <a:gd name="adj3" fmla="val 16667"/>
            </a:avLst>
          </a:prstGeom>
          <a:solidFill>
            <a:srgbClr val="00FFFF"/>
          </a:solidFill>
          <a:ln w="9525" cap="flat" cmpd="sng">
            <a:solidFill>
              <a:schemeClr val="tx1"/>
            </a:solidFill>
            <a:prstDash val="solid"/>
            <a:miter/>
            <a:headEnd type="none" w="med" len="med"/>
            <a:tailEnd type="none" w="med" len="med"/>
          </a:ln>
        </p:spPr>
        <p:txBody>
          <a:bodyPr/>
          <a:lstStyle/>
          <a:p>
            <a:pPr algn="ctr"/>
            <a:r>
              <a:rPr lang="zh-CN" altLang="en-US" sz="1400" dirty="0">
                <a:latin typeface="Microsoft YaHei" panose="020B0503020204020204" pitchFamily="34" charset="-122"/>
                <a:ea typeface="Microsoft YaHei" panose="020B0503020204020204" pitchFamily="34" charset="-122"/>
              </a:rPr>
              <a:t>不相关子查询</a:t>
            </a:r>
          </a:p>
        </p:txBody>
      </p:sp>
      <p:sp>
        <p:nvSpPr>
          <p:cNvPr id="56329" name="Rectangle 9"/>
          <p:cNvSpPr/>
          <p:nvPr/>
        </p:nvSpPr>
        <p:spPr>
          <a:xfrm>
            <a:off x="2500954" y="2167390"/>
            <a:ext cx="4433888" cy="1143000"/>
          </a:xfrm>
          <a:prstGeom prst="rect">
            <a:avLst/>
          </a:prstGeom>
          <a:noFill/>
          <a:ln w="9525">
            <a:noFill/>
          </a:ln>
        </p:spPr>
        <p:txBody>
          <a:bodyPr/>
          <a:lstStyle/>
          <a:p>
            <a:pPr marL="257175" indent="-257175">
              <a:lnSpc>
                <a:spcPct val="90000"/>
              </a:lnSpc>
              <a:spcBef>
                <a:spcPct val="20000"/>
              </a:spcBef>
              <a:buClr>
                <a:schemeClr val="folHlink"/>
              </a:buClr>
            </a:pPr>
            <a:r>
              <a:rPr lang="zh-CN" altLang="en-US" dirty="0">
                <a:solidFill>
                  <a:schemeClr val="folHlink"/>
                </a:solidFill>
                <a:latin typeface="Microsoft YaHei" panose="020B0503020204020204" pitchFamily="34" charset="-122"/>
                <a:ea typeface="Microsoft YaHei" panose="020B0503020204020204" pitchFamily="34" charset="-122"/>
              </a:rPr>
              <a:t>       </a:t>
            </a:r>
            <a:r>
              <a:rPr lang="en-US" altLang="zh-CN" dirty="0">
                <a:solidFill>
                  <a:schemeClr val="folHlink"/>
                </a:solidFill>
                <a:latin typeface="Microsoft YaHei" panose="020B0503020204020204" pitchFamily="34" charset="-122"/>
                <a:ea typeface="Microsoft YaHei" panose="020B0503020204020204" pitchFamily="34" charset="-122"/>
              </a:rPr>
              <a:t>( SELECT cno</a:t>
            </a:r>
          </a:p>
          <a:p>
            <a:pPr marL="257175" indent="-257175">
              <a:lnSpc>
                <a:spcPct val="90000"/>
              </a:lnSpc>
              <a:spcBef>
                <a:spcPct val="20000"/>
              </a:spcBef>
              <a:buClr>
                <a:schemeClr val="folHlink"/>
              </a:buClr>
            </a:pPr>
            <a:r>
              <a:rPr lang="en-US" altLang="zh-CN" dirty="0">
                <a:solidFill>
                  <a:schemeClr val="folHlink"/>
                </a:solidFill>
                <a:latin typeface="Microsoft YaHei" panose="020B0503020204020204" pitchFamily="34" charset="-122"/>
                <a:ea typeface="Microsoft YaHei" panose="020B0503020204020204" pitchFamily="34" charset="-122"/>
              </a:rPr>
              <a:t>         FROM  Course</a:t>
            </a:r>
          </a:p>
          <a:p>
            <a:pPr marL="257175" indent="-257175">
              <a:lnSpc>
                <a:spcPct val="90000"/>
              </a:lnSpc>
              <a:spcBef>
                <a:spcPct val="20000"/>
              </a:spcBef>
              <a:buClr>
                <a:schemeClr val="folHlink"/>
              </a:buClr>
            </a:pPr>
            <a:r>
              <a:rPr lang="en-US" altLang="zh-CN" dirty="0">
                <a:solidFill>
                  <a:schemeClr val="folHlink"/>
                </a:solidFill>
                <a:latin typeface="Microsoft YaHei" panose="020B0503020204020204" pitchFamily="34" charset="-122"/>
                <a:ea typeface="Microsoft YaHei" panose="020B0503020204020204" pitchFamily="34" charset="-122"/>
              </a:rPr>
              <a:t>         WHERE cname=‘</a:t>
            </a:r>
            <a:r>
              <a:rPr lang="zh-CN" altLang="en-US" dirty="0">
                <a:solidFill>
                  <a:schemeClr val="folHlink"/>
                </a:solidFill>
                <a:latin typeface="Microsoft YaHei" panose="020B0503020204020204" pitchFamily="34" charset="-122"/>
                <a:ea typeface="Microsoft YaHei" panose="020B0503020204020204" pitchFamily="34" charset="-122"/>
              </a:rPr>
              <a:t>数据库</a:t>
            </a:r>
            <a:r>
              <a:rPr lang="en-US" altLang="zh-CN" dirty="0">
                <a:solidFill>
                  <a:schemeClr val="folHlink"/>
                </a:solidFill>
                <a:latin typeface="Microsoft YaHei" panose="020B0503020204020204" pitchFamily="34" charset="-122"/>
                <a:ea typeface="Microsoft YaHei" panose="020B0503020204020204" pitchFamily="34" charset="-122"/>
              </a:rPr>
              <a:t>’)</a:t>
            </a:r>
            <a:r>
              <a:rPr lang="zh-CN" altLang="en-US" dirty="0">
                <a:solidFill>
                  <a:schemeClr val="folHlink"/>
                </a:solidFill>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         </a:t>
            </a:r>
          </a:p>
        </p:txBody>
      </p:sp>
      <p:sp>
        <p:nvSpPr>
          <p:cNvPr id="56330" name="Rectangle 10"/>
          <p:cNvSpPr/>
          <p:nvPr/>
        </p:nvSpPr>
        <p:spPr>
          <a:xfrm>
            <a:off x="1005530" y="1489078"/>
            <a:ext cx="4229100" cy="1143000"/>
          </a:xfrm>
          <a:prstGeom prst="rect">
            <a:avLst/>
          </a:prstGeom>
          <a:noFill/>
          <a:ln w="9525">
            <a:noFill/>
          </a:ln>
        </p:spPr>
        <p:txBody>
          <a:bodyPr/>
          <a:lstStyle/>
          <a:p>
            <a:pPr marL="257175" indent="-257175">
              <a:spcBef>
                <a:spcPct val="20000"/>
              </a:spcBef>
              <a:buClr>
                <a:schemeClr val="folHlink"/>
              </a:buClr>
            </a:pP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SELECT sno</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grade</a:t>
            </a:r>
          </a:p>
          <a:p>
            <a:pPr marL="257175" indent="-257175">
              <a:spcBef>
                <a:spcPct val="20000"/>
              </a:spcBef>
              <a:buClr>
                <a:schemeClr val="folHlink"/>
              </a:buClr>
            </a:pPr>
            <a:r>
              <a:rPr lang="en-US" altLang="zh-CN" dirty="0">
                <a:latin typeface="Microsoft YaHei" panose="020B0503020204020204" pitchFamily="34" charset="-122"/>
                <a:ea typeface="Microsoft YaHei" panose="020B0503020204020204" pitchFamily="34" charset="-122"/>
              </a:rPr>
              <a:t>   FROM SC</a:t>
            </a:r>
          </a:p>
          <a:p>
            <a:pPr marL="257175" indent="-257175">
              <a:spcBef>
                <a:spcPct val="20000"/>
              </a:spcBef>
              <a:buClr>
                <a:schemeClr val="folHlink"/>
              </a:buClr>
            </a:pPr>
            <a:r>
              <a:rPr lang="en-US" altLang="zh-CN" dirty="0">
                <a:latin typeface="Microsoft YaHei" panose="020B0503020204020204" pitchFamily="34" charset="-122"/>
                <a:ea typeface="Microsoft YaHei" panose="020B0503020204020204" pitchFamily="34" charset="-122"/>
              </a:rPr>
              <a:t>   WHERE cno IN         </a:t>
            </a:r>
          </a:p>
        </p:txBody>
      </p:sp>
      <p:sp>
        <p:nvSpPr>
          <p:cNvPr id="56331" name="Text Box 11"/>
          <p:cNvSpPr txBox="1"/>
          <p:nvPr/>
        </p:nvSpPr>
        <p:spPr>
          <a:xfrm>
            <a:off x="2572469" y="2151669"/>
            <a:ext cx="514350" cy="369332"/>
          </a:xfrm>
          <a:prstGeom prst="rect">
            <a:avLst/>
          </a:prstGeom>
          <a:solidFill>
            <a:schemeClr val="bg1"/>
          </a:solidFill>
          <a:ln w="9525">
            <a:noFill/>
          </a:ln>
        </p:spPr>
        <p:txBody>
          <a:bodyPr>
            <a:spAutoFit/>
          </a:bodyPr>
          <a:lstStyle/>
          <a:p>
            <a:pPr>
              <a:spcBef>
                <a:spcPct val="50000"/>
              </a:spcBef>
            </a:pPr>
            <a:r>
              <a:rPr lang="en-US" altLang="zh-CN" dirty="0">
                <a:solidFill>
                  <a:schemeClr val="hlink"/>
                </a:solidFill>
                <a:latin typeface="Microsoft YaHei" panose="020B0503020204020204" pitchFamily="34" charset="-122"/>
                <a:ea typeface="Microsoft YaHei" panose="020B0503020204020204" pitchFamily="34" charset="-122"/>
              </a:rPr>
              <a:t>=</a:t>
            </a:r>
          </a:p>
        </p:txBody>
      </p:sp>
      <p:sp>
        <p:nvSpPr>
          <p:cNvPr id="56332" name="Text Box 12"/>
          <p:cNvSpPr txBox="1"/>
          <p:nvPr/>
        </p:nvSpPr>
        <p:spPr>
          <a:xfrm>
            <a:off x="315158" y="1509834"/>
            <a:ext cx="1200150" cy="369332"/>
          </a:xfrm>
          <a:prstGeom prst="rect">
            <a:avLst/>
          </a:prstGeom>
          <a:noFill/>
          <a:ln w="9525">
            <a:noFill/>
          </a:ln>
        </p:spPr>
        <p:txBody>
          <a:bodyPr>
            <a:spAutoFit/>
          </a:bodyPr>
          <a:lstStyle/>
          <a:p>
            <a:pPr>
              <a:spcBef>
                <a:spcPct val="50000"/>
              </a:spcBef>
            </a:pPr>
            <a:r>
              <a:rPr lang="zh-CN" altLang="en-US" b="1" dirty="0">
                <a:solidFill>
                  <a:srgbClr val="0000FF"/>
                </a:solidFill>
                <a:latin typeface="Microsoft YaHei" panose="020B0503020204020204" pitchFamily="34" charset="-122"/>
                <a:ea typeface="Microsoft YaHei" panose="020B0503020204020204" pitchFamily="34" charset="-122"/>
              </a:rPr>
              <a:t>方法</a:t>
            </a:r>
            <a:r>
              <a:rPr lang="en-US" altLang="zh-CN" b="1" dirty="0">
                <a:solidFill>
                  <a:srgbClr val="0000FF"/>
                </a:solidFill>
                <a:latin typeface="Microsoft YaHei" panose="020B0503020204020204" pitchFamily="34" charset="-122"/>
                <a:ea typeface="Microsoft YaHei" panose="020B0503020204020204" pitchFamily="34" charset="-122"/>
              </a:rPr>
              <a:t>1</a:t>
            </a:r>
            <a:r>
              <a:rPr lang="zh-CN" altLang="en-US" b="1" dirty="0">
                <a:solidFill>
                  <a:srgbClr val="0000FF"/>
                </a:solidFill>
                <a:latin typeface="Microsoft YaHei" panose="020B0503020204020204" pitchFamily="34" charset="-122"/>
                <a:ea typeface="Microsoft YaHei" panose="020B0503020204020204" pitchFamily="34" charset="-122"/>
              </a:rPr>
              <a:t>：</a:t>
            </a:r>
          </a:p>
        </p:txBody>
      </p:sp>
      <p:sp>
        <p:nvSpPr>
          <p:cNvPr id="56333" name="Text Box 13"/>
          <p:cNvSpPr txBox="1"/>
          <p:nvPr/>
        </p:nvSpPr>
        <p:spPr>
          <a:xfrm>
            <a:off x="315158" y="3396169"/>
            <a:ext cx="1143000" cy="369332"/>
          </a:xfrm>
          <a:prstGeom prst="rect">
            <a:avLst/>
          </a:prstGeom>
          <a:noFill/>
          <a:ln w="9525">
            <a:noFill/>
          </a:ln>
        </p:spPr>
        <p:txBody>
          <a:bodyPr>
            <a:spAutoFit/>
          </a:bodyPr>
          <a:lstStyle/>
          <a:p>
            <a:pPr>
              <a:spcBef>
                <a:spcPct val="50000"/>
              </a:spcBef>
            </a:pPr>
            <a:r>
              <a:rPr lang="zh-CN" altLang="en-US" b="1" dirty="0">
                <a:solidFill>
                  <a:srgbClr val="0000FF"/>
                </a:solidFill>
                <a:latin typeface="Microsoft YaHei" panose="020B0503020204020204" pitchFamily="34" charset="-122"/>
                <a:ea typeface="Microsoft YaHei" panose="020B0503020204020204" pitchFamily="34" charset="-122"/>
              </a:rPr>
              <a:t>方法</a:t>
            </a:r>
            <a:r>
              <a:rPr lang="en-US" altLang="zh-CN" b="1" dirty="0">
                <a:solidFill>
                  <a:srgbClr val="0000FF"/>
                </a:solidFill>
                <a:latin typeface="Microsoft YaHei" panose="020B0503020204020204" pitchFamily="34" charset="-122"/>
                <a:ea typeface="Microsoft YaHei" panose="020B0503020204020204" pitchFamily="34" charset="-122"/>
              </a:rPr>
              <a:t>2</a:t>
            </a:r>
            <a:r>
              <a:rPr lang="zh-CN" altLang="en-US" b="1" dirty="0">
                <a:solidFill>
                  <a:srgbClr val="0000FF"/>
                </a:solidFill>
                <a:latin typeface="Microsoft YaHei" panose="020B0503020204020204" pitchFamily="34" charset="-122"/>
                <a:ea typeface="Microsoft YaHei" panose="020B0503020204020204" pitchFamily="34" charset="-122"/>
              </a:rPr>
              <a:t>：</a:t>
            </a:r>
          </a:p>
        </p:txBody>
      </p:sp>
      <p:sp>
        <p:nvSpPr>
          <p:cNvPr id="3" name="标题 2">
            <a:extLst>
              <a:ext uri="{FF2B5EF4-FFF2-40B4-BE49-F238E27FC236}">
                <a16:creationId xmlns:a16="http://schemas.microsoft.com/office/drawing/2014/main" id="{F43F0E20-061C-1097-280D-D85685AF57F3}"/>
              </a:ext>
            </a:extLst>
          </p:cNvPr>
          <p:cNvSpPr>
            <a:spLocks noGrp="1"/>
          </p:cNvSpPr>
          <p:nvPr>
            <p:ph type="title"/>
          </p:nvPr>
        </p:nvSpPr>
        <p:spPr/>
        <p:txBody>
          <a:bodyPr/>
          <a:lstStyle/>
          <a:p>
            <a:r>
              <a:rPr lang="zh-CN" altLang="en-US" dirty="0"/>
              <a:t>连接查询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 calcmode="lin" valueType="num">
                                      <p:cBhvr additive="base">
                                        <p:cTn id="7" dur="500" fill="hold"/>
                                        <p:tgtEl>
                                          <p:spTgt spid="563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3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332">
                                            <p:txEl>
                                              <p:pRg st="0" end="0"/>
                                            </p:txEl>
                                          </p:spTgt>
                                        </p:tgtEl>
                                        <p:attrNameLst>
                                          <p:attrName>style.visibility</p:attrName>
                                        </p:attrNameLst>
                                      </p:cBhvr>
                                      <p:to>
                                        <p:strVal val="visible"/>
                                      </p:to>
                                    </p:set>
                                    <p:anim calcmode="lin" valueType="num">
                                      <p:cBhvr additive="base">
                                        <p:cTn id="13" dur="500" fill="hold"/>
                                        <p:tgtEl>
                                          <p:spTgt spid="56332">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63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6329">
                                            <p:txEl>
                                              <p:pRg st="0" end="0"/>
                                            </p:txEl>
                                          </p:spTgt>
                                        </p:tgtEl>
                                        <p:attrNameLst>
                                          <p:attrName>style.visibility</p:attrName>
                                        </p:attrNameLst>
                                      </p:cBhvr>
                                      <p:to>
                                        <p:strVal val="visible"/>
                                      </p:to>
                                    </p:set>
                                    <p:anim calcmode="lin" valueType="num">
                                      <p:cBhvr additive="base">
                                        <p:cTn id="19" dur="500" fill="hold"/>
                                        <p:tgtEl>
                                          <p:spTgt spid="56329">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6329">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56329">
                                            <p:txEl>
                                              <p:pRg st="1" end="1"/>
                                            </p:txEl>
                                          </p:spTgt>
                                        </p:tgtEl>
                                        <p:attrNameLst>
                                          <p:attrName>style.visibility</p:attrName>
                                        </p:attrNameLst>
                                      </p:cBhvr>
                                      <p:to>
                                        <p:strVal val="visible"/>
                                      </p:to>
                                    </p:set>
                                    <p:anim calcmode="lin" valueType="num">
                                      <p:cBhvr additive="base">
                                        <p:cTn id="23" dur="500" fill="hold"/>
                                        <p:tgtEl>
                                          <p:spTgt spid="56329">
                                            <p:txEl>
                                              <p:pRg st="1" end="1"/>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6329">
                                            <p:txEl>
                                              <p:pRg st="1" end="1"/>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56329">
                                            <p:txEl>
                                              <p:pRg st="2" end="2"/>
                                            </p:txEl>
                                          </p:spTgt>
                                        </p:tgtEl>
                                        <p:attrNameLst>
                                          <p:attrName>style.visibility</p:attrName>
                                        </p:attrNameLst>
                                      </p:cBhvr>
                                      <p:to>
                                        <p:strVal val="visible"/>
                                      </p:to>
                                    </p:set>
                                    <p:anim calcmode="lin" valueType="num">
                                      <p:cBhvr additive="base">
                                        <p:cTn id="27" dur="500" fill="hold"/>
                                        <p:tgtEl>
                                          <p:spTgt spid="56329">
                                            <p:txEl>
                                              <p:pRg st="2" end="2"/>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632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56330">
                                            <p:txEl>
                                              <p:pRg st="0" end="0"/>
                                            </p:txEl>
                                          </p:spTgt>
                                        </p:tgtEl>
                                        <p:attrNameLst>
                                          <p:attrName>style.visibility</p:attrName>
                                        </p:attrNameLst>
                                      </p:cBhvr>
                                      <p:to>
                                        <p:strVal val="visible"/>
                                      </p:to>
                                    </p:set>
                                    <p:anim calcmode="lin" valueType="num">
                                      <p:cBhvr additive="base">
                                        <p:cTn id="33" dur="500" fill="hold"/>
                                        <p:tgtEl>
                                          <p:spTgt spid="56330">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56330">
                                            <p:txEl>
                                              <p:pRg st="0" end="0"/>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56330">
                                            <p:txEl>
                                              <p:pRg st="1" end="1"/>
                                            </p:txEl>
                                          </p:spTgt>
                                        </p:tgtEl>
                                        <p:attrNameLst>
                                          <p:attrName>style.visibility</p:attrName>
                                        </p:attrNameLst>
                                      </p:cBhvr>
                                      <p:to>
                                        <p:strVal val="visible"/>
                                      </p:to>
                                    </p:set>
                                    <p:anim calcmode="lin" valueType="num">
                                      <p:cBhvr additive="base">
                                        <p:cTn id="37" dur="500" fill="hold"/>
                                        <p:tgtEl>
                                          <p:spTgt spid="56330">
                                            <p:txEl>
                                              <p:pRg st="1" end="1"/>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6330">
                                            <p:txEl>
                                              <p:pRg st="1" end="1"/>
                                            </p:txEl>
                                          </p:spTgt>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56330">
                                            <p:txEl>
                                              <p:pRg st="2" end="2"/>
                                            </p:txEl>
                                          </p:spTgt>
                                        </p:tgtEl>
                                        <p:attrNameLst>
                                          <p:attrName>style.visibility</p:attrName>
                                        </p:attrNameLst>
                                      </p:cBhvr>
                                      <p:to>
                                        <p:strVal val="visible"/>
                                      </p:to>
                                    </p:set>
                                    <p:anim calcmode="lin" valueType="num">
                                      <p:cBhvr additive="base">
                                        <p:cTn id="41" dur="500" fill="hold"/>
                                        <p:tgtEl>
                                          <p:spTgt spid="56330">
                                            <p:txEl>
                                              <p:pRg st="2" end="2"/>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5633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56331"/>
                                        </p:tgtEl>
                                        <p:attrNameLst>
                                          <p:attrName>style.visibility</p:attrName>
                                        </p:attrNameLst>
                                      </p:cBhvr>
                                      <p:to>
                                        <p:strVal val="visible"/>
                                      </p:to>
                                    </p:set>
                                    <p:anim calcmode="lin" valueType="num">
                                      <p:cBhvr additive="base">
                                        <p:cTn id="47" dur="500" fill="hold"/>
                                        <p:tgtEl>
                                          <p:spTgt spid="56331"/>
                                        </p:tgtEl>
                                        <p:attrNameLst>
                                          <p:attrName>ppt_x</p:attrName>
                                        </p:attrNameLst>
                                      </p:cBhvr>
                                      <p:tavLst>
                                        <p:tav tm="0">
                                          <p:val>
                                            <p:strVal val="0-#ppt_w/2"/>
                                          </p:val>
                                        </p:tav>
                                        <p:tav tm="100000">
                                          <p:val>
                                            <p:strVal val="#ppt_x"/>
                                          </p:val>
                                        </p:tav>
                                      </p:tavLst>
                                    </p:anim>
                                    <p:anim calcmode="lin" valueType="num">
                                      <p:cBhvr additive="base">
                                        <p:cTn id="48" dur="500" fill="hold"/>
                                        <p:tgtEl>
                                          <p:spTgt spid="56331"/>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56328"/>
                                        </p:tgtEl>
                                        <p:attrNameLst>
                                          <p:attrName>style.visibility</p:attrName>
                                        </p:attrNameLst>
                                      </p:cBhvr>
                                      <p:to>
                                        <p:strVal val="visible"/>
                                      </p:to>
                                    </p:set>
                                    <p:animEffect transition="in" filter="box(out)">
                                      <p:cBhvr>
                                        <p:cTn id="53" dur="500"/>
                                        <p:tgtEl>
                                          <p:spTgt spid="56328"/>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56327"/>
                                        </p:tgtEl>
                                        <p:attrNameLst>
                                          <p:attrName>style.visibility</p:attrName>
                                        </p:attrNameLst>
                                      </p:cBhvr>
                                      <p:to>
                                        <p:strVal val="visible"/>
                                      </p:to>
                                    </p:set>
                                    <p:animEffect transition="in" filter="box(out)">
                                      <p:cBhvr>
                                        <p:cTn id="58" dur="500"/>
                                        <p:tgtEl>
                                          <p:spTgt spid="56327"/>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56333">
                                            <p:txEl>
                                              <p:pRg st="0" end="0"/>
                                            </p:txEl>
                                          </p:spTgt>
                                        </p:tgtEl>
                                        <p:attrNameLst>
                                          <p:attrName>style.visibility</p:attrName>
                                        </p:attrNameLst>
                                      </p:cBhvr>
                                      <p:to>
                                        <p:strVal val="visible"/>
                                      </p:to>
                                    </p:set>
                                    <p:anim calcmode="lin" valueType="num">
                                      <p:cBhvr additive="base">
                                        <p:cTn id="63" dur="500" fill="hold"/>
                                        <p:tgtEl>
                                          <p:spTgt spid="56333">
                                            <p:txEl>
                                              <p:pRg st="0" end="0"/>
                                            </p:tx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5633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56325">
                                            <p:txEl>
                                              <p:pRg st="0" end="0"/>
                                            </p:txEl>
                                          </p:spTgt>
                                        </p:tgtEl>
                                        <p:attrNameLst>
                                          <p:attrName>style.visibility</p:attrName>
                                        </p:attrNameLst>
                                      </p:cBhvr>
                                      <p:to>
                                        <p:strVal val="visible"/>
                                      </p:to>
                                    </p:set>
                                    <p:anim calcmode="lin" valueType="num">
                                      <p:cBhvr additive="base">
                                        <p:cTn id="69" dur="500" fill="hold"/>
                                        <p:tgtEl>
                                          <p:spTgt spid="56325">
                                            <p:txEl>
                                              <p:pRg st="0" end="0"/>
                                            </p:txEl>
                                          </p:spTgt>
                                        </p:tgtEl>
                                        <p:attrNameLst>
                                          <p:attrName>ppt_x</p:attrName>
                                        </p:attrNameLst>
                                      </p:cBhvr>
                                      <p:tavLst>
                                        <p:tav tm="0">
                                          <p:val>
                                            <p:strVal val="0-#ppt_w/2"/>
                                          </p:val>
                                        </p:tav>
                                        <p:tav tm="100000">
                                          <p:val>
                                            <p:strVal val="#ppt_x"/>
                                          </p:val>
                                        </p:tav>
                                      </p:tavLst>
                                    </p:anim>
                                    <p:anim calcmode="lin" valueType="num">
                                      <p:cBhvr additive="base">
                                        <p:cTn id="70" dur="500" fill="hold"/>
                                        <p:tgtEl>
                                          <p:spTgt spid="56325">
                                            <p:txEl>
                                              <p:pRg st="0" end="0"/>
                                            </p:txEl>
                                          </p:spTgt>
                                        </p:tgtEl>
                                        <p:attrNameLst>
                                          <p:attrName>ppt_y</p:attrName>
                                        </p:attrNameLst>
                                      </p:cBhvr>
                                      <p:tavLst>
                                        <p:tav tm="0">
                                          <p:val>
                                            <p:strVal val="#ppt_y"/>
                                          </p:val>
                                        </p:tav>
                                        <p:tav tm="100000">
                                          <p:val>
                                            <p:strVal val="#ppt_y"/>
                                          </p:val>
                                        </p:tav>
                                      </p:tavLst>
                                    </p:anim>
                                  </p:childTnLst>
                                </p:cTn>
                              </p:par>
                              <p:par>
                                <p:cTn id="71" presetID="2" presetClass="entr" presetSubtype="8" fill="hold" grpId="0" nodeType="withEffect">
                                  <p:stCondLst>
                                    <p:cond delay="0"/>
                                  </p:stCondLst>
                                  <p:childTnLst>
                                    <p:set>
                                      <p:cBhvr>
                                        <p:cTn id="72" dur="1" fill="hold">
                                          <p:stCondLst>
                                            <p:cond delay="0"/>
                                          </p:stCondLst>
                                        </p:cTn>
                                        <p:tgtEl>
                                          <p:spTgt spid="56325">
                                            <p:txEl>
                                              <p:pRg st="1" end="1"/>
                                            </p:txEl>
                                          </p:spTgt>
                                        </p:tgtEl>
                                        <p:attrNameLst>
                                          <p:attrName>style.visibility</p:attrName>
                                        </p:attrNameLst>
                                      </p:cBhvr>
                                      <p:to>
                                        <p:strVal val="visible"/>
                                      </p:to>
                                    </p:set>
                                    <p:anim calcmode="lin" valueType="num">
                                      <p:cBhvr additive="base">
                                        <p:cTn id="73" dur="500" fill="hold"/>
                                        <p:tgtEl>
                                          <p:spTgt spid="56325">
                                            <p:txEl>
                                              <p:pRg st="1" end="1"/>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56325">
                                            <p:txEl>
                                              <p:pRg st="1" end="1"/>
                                            </p:txEl>
                                          </p:spTgt>
                                        </p:tgtEl>
                                        <p:attrNameLst>
                                          <p:attrName>ppt_y</p:attrName>
                                        </p:attrNameLst>
                                      </p:cBhvr>
                                      <p:tavLst>
                                        <p:tav tm="0">
                                          <p:val>
                                            <p:strVal val="#ppt_y"/>
                                          </p:val>
                                        </p:tav>
                                        <p:tav tm="100000">
                                          <p:val>
                                            <p:strVal val="#ppt_y"/>
                                          </p:val>
                                        </p:tav>
                                      </p:tavLst>
                                    </p:anim>
                                  </p:childTnLst>
                                </p:cTn>
                              </p:par>
                              <p:par>
                                <p:cTn id="75" presetID="2" presetClass="entr" presetSubtype="8" fill="hold" grpId="0" nodeType="withEffect">
                                  <p:stCondLst>
                                    <p:cond delay="0"/>
                                  </p:stCondLst>
                                  <p:childTnLst>
                                    <p:set>
                                      <p:cBhvr>
                                        <p:cTn id="76" dur="1" fill="hold">
                                          <p:stCondLst>
                                            <p:cond delay="0"/>
                                          </p:stCondLst>
                                        </p:cTn>
                                        <p:tgtEl>
                                          <p:spTgt spid="56325">
                                            <p:txEl>
                                              <p:pRg st="2" end="2"/>
                                            </p:txEl>
                                          </p:spTgt>
                                        </p:tgtEl>
                                        <p:attrNameLst>
                                          <p:attrName>style.visibility</p:attrName>
                                        </p:attrNameLst>
                                      </p:cBhvr>
                                      <p:to>
                                        <p:strVal val="visible"/>
                                      </p:to>
                                    </p:set>
                                    <p:anim calcmode="lin" valueType="num">
                                      <p:cBhvr additive="base">
                                        <p:cTn id="77" dur="500" fill="hold"/>
                                        <p:tgtEl>
                                          <p:spTgt spid="56325">
                                            <p:txEl>
                                              <p:pRg st="2" end="2"/>
                                            </p:txEl>
                                          </p:spTgt>
                                        </p:tgtEl>
                                        <p:attrNameLst>
                                          <p:attrName>ppt_x</p:attrName>
                                        </p:attrNameLst>
                                      </p:cBhvr>
                                      <p:tavLst>
                                        <p:tav tm="0">
                                          <p:val>
                                            <p:strVal val="0-#ppt_w/2"/>
                                          </p:val>
                                        </p:tav>
                                        <p:tav tm="100000">
                                          <p:val>
                                            <p:strVal val="#ppt_x"/>
                                          </p:val>
                                        </p:tav>
                                      </p:tavLst>
                                    </p:anim>
                                    <p:anim calcmode="lin" valueType="num">
                                      <p:cBhvr additive="base">
                                        <p:cTn id="78" dur="500" fill="hold"/>
                                        <p:tgtEl>
                                          <p:spTgt spid="56325">
                                            <p:txEl>
                                              <p:pRg st="2" end="2"/>
                                            </p:txEl>
                                          </p:spTgt>
                                        </p:tgtEl>
                                        <p:attrNameLst>
                                          <p:attrName>ppt_y</p:attrName>
                                        </p:attrNameLst>
                                      </p:cBhvr>
                                      <p:tavLst>
                                        <p:tav tm="0">
                                          <p:val>
                                            <p:strVal val="#ppt_y"/>
                                          </p:val>
                                        </p:tav>
                                        <p:tav tm="100000">
                                          <p:val>
                                            <p:strVal val="#ppt_y"/>
                                          </p:val>
                                        </p:tav>
                                      </p:tavLst>
                                    </p:anim>
                                  </p:childTnLst>
                                </p:cTn>
                              </p:par>
                              <p:par>
                                <p:cTn id="79" presetID="2" presetClass="entr" presetSubtype="8" fill="hold" grpId="0" nodeType="withEffect">
                                  <p:stCondLst>
                                    <p:cond delay="0"/>
                                  </p:stCondLst>
                                  <p:childTnLst>
                                    <p:set>
                                      <p:cBhvr>
                                        <p:cTn id="80" dur="1" fill="hold">
                                          <p:stCondLst>
                                            <p:cond delay="0"/>
                                          </p:stCondLst>
                                        </p:cTn>
                                        <p:tgtEl>
                                          <p:spTgt spid="56325">
                                            <p:txEl>
                                              <p:pRg st="3" end="3"/>
                                            </p:txEl>
                                          </p:spTgt>
                                        </p:tgtEl>
                                        <p:attrNameLst>
                                          <p:attrName>style.visibility</p:attrName>
                                        </p:attrNameLst>
                                      </p:cBhvr>
                                      <p:to>
                                        <p:strVal val="visible"/>
                                      </p:to>
                                    </p:set>
                                    <p:anim calcmode="lin" valueType="num">
                                      <p:cBhvr additive="base">
                                        <p:cTn id="81" dur="500" fill="hold"/>
                                        <p:tgtEl>
                                          <p:spTgt spid="56325">
                                            <p:txEl>
                                              <p:pRg st="3" end="3"/>
                                            </p:txEl>
                                          </p:spTgt>
                                        </p:tgtEl>
                                        <p:attrNameLst>
                                          <p:attrName>ppt_x</p:attrName>
                                        </p:attrNameLst>
                                      </p:cBhvr>
                                      <p:tavLst>
                                        <p:tav tm="0">
                                          <p:val>
                                            <p:strVal val="0-#ppt_w/2"/>
                                          </p:val>
                                        </p:tav>
                                        <p:tav tm="100000">
                                          <p:val>
                                            <p:strVal val="#ppt_x"/>
                                          </p:val>
                                        </p:tav>
                                      </p:tavLst>
                                    </p:anim>
                                    <p:anim calcmode="lin" valueType="num">
                                      <p:cBhvr additive="base">
                                        <p:cTn id="82" dur="500" fill="hold"/>
                                        <p:tgtEl>
                                          <p:spTgt spid="5632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56324"/>
                                        </p:tgtEl>
                                        <p:attrNameLst>
                                          <p:attrName>style.visibility</p:attrName>
                                        </p:attrNameLst>
                                      </p:cBhvr>
                                      <p:to>
                                        <p:strVal val="visible"/>
                                      </p:to>
                                    </p:set>
                                    <p:anim calcmode="lin" valueType="num">
                                      <p:cBhvr additive="base">
                                        <p:cTn id="87" dur="500" fill="hold"/>
                                        <p:tgtEl>
                                          <p:spTgt spid="56324"/>
                                        </p:tgtEl>
                                        <p:attrNameLst>
                                          <p:attrName>ppt_x</p:attrName>
                                        </p:attrNameLst>
                                      </p:cBhvr>
                                      <p:tavLst>
                                        <p:tav tm="0">
                                          <p:val>
                                            <p:strVal val="0-#ppt_w/2"/>
                                          </p:val>
                                        </p:tav>
                                        <p:tav tm="100000">
                                          <p:val>
                                            <p:strVal val="#ppt_x"/>
                                          </p:val>
                                        </p:tav>
                                      </p:tavLst>
                                    </p:anim>
                                    <p:anim calcmode="lin" valueType="num">
                                      <p:cBhvr additive="base">
                                        <p:cTn id="88" dur="500" fill="hold"/>
                                        <p:tgtEl>
                                          <p:spTgt spid="56324"/>
                                        </p:tgtEl>
                                        <p:attrNameLst>
                                          <p:attrName>ppt_y</p:attrName>
                                        </p:attrNameLst>
                                      </p:cBhvr>
                                      <p:tavLst>
                                        <p:tav tm="0">
                                          <p:val>
                                            <p:strVal val="#ppt_y"/>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8" fill="hold" grpId="0" nodeType="clickEffect">
                                  <p:stCondLst>
                                    <p:cond delay="0"/>
                                  </p:stCondLst>
                                  <p:childTnLst>
                                    <p:set>
                                      <p:cBhvr>
                                        <p:cTn id="92" dur="1" fill="hold">
                                          <p:stCondLst>
                                            <p:cond delay="0"/>
                                          </p:stCondLst>
                                        </p:cTn>
                                        <p:tgtEl>
                                          <p:spTgt spid="56326">
                                            <p:txEl>
                                              <p:pRg st="0" end="0"/>
                                            </p:txEl>
                                          </p:spTgt>
                                        </p:tgtEl>
                                        <p:attrNameLst>
                                          <p:attrName>style.visibility</p:attrName>
                                        </p:attrNameLst>
                                      </p:cBhvr>
                                      <p:to>
                                        <p:strVal val="visible"/>
                                      </p:to>
                                    </p:set>
                                    <p:anim calcmode="lin" valueType="num">
                                      <p:cBhvr additive="base">
                                        <p:cTn id="93" dur="500" fill="hold"/>
                                        <p:tgtEl>
                                          <p:spTgt spid="56326">
                                            <p:txEl>
                                              <p:pRg st="0" end="0"/>
                                            </p:txEl>
                                          </p:spTgt>
                                        </p:tgtEl>
                                        <p:attrNameLst>
                                          <p:attrName>ppt_x</p:attrName>
                                        </p:attrNameLst>
                                      </p:cBhvr>
                                      <p:tavLst>
                                        <p:tav tm="0">
                                          <p:val>
                                            <p:strVal val="0-#ppt_w/2"/>
                                          </p:val>
                                        </p:tav>
                                        <p:tav tm="100000">
                                          <p:val>
                                            <p:strVal val="#ppt_x"/>
                                          </p:val>
                                        </p:tav>
                                      </p:tavLst>
                                    </p:anim>
                                    <p:anim calcmode="lin" valueType="num">
                                      <p:cBhvr additive="base">
                                        <p:cTn id="94" dur="500" fill="hold"/>
                                        <p:tgtEl>
                                          <p:spTgt spid="5632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P spid="56324" grpId="0" bldLvl="0" animBg="1"/>
      <p:bldP spid="56325" grpId="0" uiExpand="1" build="p"/>
      <p:bldP spid="56326" grpId="0" build="p"/>
      <p:bldP spid="56327" grpId="0" bldLvl="0" animBg="1"/>
      <p:bldP spid="56328" grpId="0" bldLvl="0" animBg="1"/>
      <p:bldP spid="56329" grpId="0" uiExpand="1" build="p"/>
      <p:bldP spid="56330" grpId="0" uiExpand="1" build="p"/>
      <p:bldP spid="56331" grpId="0" bldLvl="0" animBg="1"/>
      <p:bldP spid="56332" grpId="0" build="p"/>
      <p:bldP spid="5633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p:cNvSpPr>
          <p:nvPr>
            <p:ph idx="1"/>
          </p:nvPr>
        </p:nvSpPr>
        <p:spPr/>
        <p:txBody>
          <a:bodyPr vert="horz" wrap="square" lIns="68580" tIns="34290" rIns="68580" bIns="34290" anchor="t" anchorCtr="0">
            <a:normAutofit/>
          </a:bodyPr>
          <a:lstStyle/>
          <a:p>
            <a:pPr eaLnBrk="1" hangingPunct="1">
              <a:buNone/>
            </a:pPr>
            <a:r>
              <a:rPr lang="zh-CN" altLang="en-US" sz="2400" b="1" dirty="0">
                <a:solidFill>
                  <a:schemeClr val="hlink"/>
                </a:solidFill>
              </a:rPr>
              <a:t>[例]</a:t>
            </a:r>
            <a:r>
              <a:rPr lang="zh-CN" altLang="en-US" sz="2400" dirty="0"/>
              <a:t>找出年龄比“王迎”同学大的同学的姓名及年龄。</a:t>
            </a:r>
            <a:endParaRPr lang="en-US" altLang="zh-CN" sz="2400" dirty="0"/>
          </a:p>
          <a:p>
            <a:pPr eaLnBrk="1" hangingPunct="1">
              <a:buNone/>
            </a:pPr>
            <a:endParaRPr lang="zh-CN" altLang="en-US" sz="2400" dirty="0"/>
          </a:p>
          <a:p>
            <a:pPr algn="just" eaLnBrk="1" hangingPunct="1">
              <a:buNone/>
            </a:pPr>
            <a:r>
              <a:rPr lang="zh-CN" altLang="en-US" sz="2400" b="1" dirty="0"/>
              <a:t>  </a:t>
            </a:r>
            <a:r>
              <a:rPr lang="zh-CN" altLang="en-US" sz="2400" dirty="0"/>
              <a:t>SELECT s1.sname，s1.age</a:t>
            </a:r>
          </a:p>
          <a:p>
            <a:pPr algn="just" eaLnBrk="1" hangingPunct="1">
              <a:buNone/>
            </a:pPr>
            <a:r>
              <a:rPr lang="zh-CN" altLang="en-US" sz="2400" dirty="0"/>
              <a:t>  FROM Student AS s1，Student AS s2</a:t>
            </a:r>
          </a:p>
          <a:p>
            <a:pPr eaLnBrk="1" hangingPunct="1">
              <a:buNone/>
            </a:pPr>
            <a:r>
              <a:rPr lang="zh-CN" altLang="en-US" sz="2400" dirty="0"/>
              <a:t>  WHERE s1.age &gt; s2.age AND s2.sname =‘王迎’； </a:t>
            </a:r>
          </a:p>
        </p:txBody>
      </p:sp>
      <p:sp>
        <p:nvSpPr>
          <p:cNvPr id="3" name="标题 2">
            <a:extLst>
              <a:ext uri="{FF2B5EF4-FFF2-40B4-BE49-F238E27FC236}">
                <a16:creationId xmlns:a16="http://schemas.microsoft.com/office/drawing/2014/main" id="{91945DB6-EAB6-C614-D9FD-1AF300126514}"/>
              </a:ext>
            </a:extLst>
          </p:cNvPr>
          <p:cNvSpPr>
            <a:spLocks noGrp="1"/>
          </p:cNvSpPr>
          <p:nvPr>
            <p:ph type="title"/>
          </p:nvPr>
        </p:nvSpPr>
        <p:spPr/>
        <p:txBody>
          <a:bodyPr/>
          <a:lstStyle/>
          <a:p>
            <a:r>
              <a:rPr lang="zh-CN" altLang="en-US" dirty="0"/>
              <a:t>自连接</a:t>
            </a: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p:cNvSpPr>
          <p:nvPr>
            <p:ph idx="1"/>
          </p:nvPr>
        </p:nvSpPr>
        <p:spPr>
          <a:xfrm>
            <a:off x="126008" y="1253548"/>
            <a:ext cx="5221288" cy="3408735"/>
          </a:xfrm>
        </p:spPr>
        <p:txBody>
          <a:bodyPr vert="horz" wrap="square" lIns="68580" tIns="34290" rIns="68580" bIns="34290" rtlCol="0" anchor="t" anchorCtr="0">
            <a:normAutofit/>
          </a:bodyPr>
          <a:lstStyle/>
          <a:p>
            <a:pPr marL="0" indent="0" eaLnBrk="1" hangingPunct="1">
              <a:buClr>
                <a:schemeClr val="folHlink"/>
              </a:buClr>
              <a:buSzPct val="60000"/>
              <a:buNone/>
            </a:pPr>
            <a:r>
              <a:rPr lang="en-US" altLang="zh-CN" sz="1800" b="1" dirty="0">
                <a:solidFill>
                  <a:schemeClr val="hlink"/>
                </a:solidFill>
              </a:rPr>
              <a:t>[</a:t>
            </a:r>
            <a:r>
              <a:rPr lang="zh-CN" altLang="en-US" sz="1800" b="1" dirty="0">
                <a:solidFill>
                  <a:schemeClr val="hlink"/>
                </a:solidFill>
              </a:rPr>
              <a:t>例</a:t>
            </a:r>
            <a:r>
              <a:rPr lang="en-US" altLang="zh-CN" sz="1800" b="1" dirty="0">
                <a:solidFill>
                  <a:schemeClr val="hlink"/>
                </a:solidFill>
              </a:rPr>
              <a:t>]</a:t>
            </a:r>
            <a:r>
              <a:rPr lang="zh-CN" altLang="en-US" sz="1800" b="1" dirty="0">
                <a:solidFill>
                  <a:schemeClr val="hlink"/>
                </a:solidFill>
              </a:rPr>
              <a:t> </a:t>
            </a:r>
            <a:r>
              <a:rPr lang="zh-CN" altLang="en-US" sz="1800" dirty="0"/>
              <a:t>查每门课的</a:t>
            </a:r>
            <a:r>
              <a:rPr lang="zh-CN" altLang="en-US" sz="1800" dirty="0">
                <a:solidFill>
                  <a:srgbClr val="0000FF"/>
                </a:solidFill>
              </a:rPr>
              <a:t>间接</a:t>
            </a:r>
            <a:r>
              <a:rPr lang="zh-CN" altLang="en-US" sz="1800" dirty="0"/>
              <a:t>先修课(即先修课的先修课)。</a:t>
            </a:r>
          </a:p>
        </p:txBody>
      </p:sp>
      <p:graphicFrame>
        <p:nvGraphicFramePr>
          <p:cNvPr id="58372" name="文本占位符 58371"/>
          <p:cNvGraphicFramePr>
            <a:graphicFrameLocks noGrp="1"/>
          </p:cNvGraphicFramePr>
          <p:nvPr>
            <p:ph type="body" sz="half" idx="4294967295"/>
            <p:extLst>
              <p:ext uri="{D42A27DB-BD31-4B8C-83A1-F6EECF244321}">
                <p14:modId xmlns:p14="http://schemas.microsoft.com/office/powerpoint/2010/main" val="1705305571"/>
              </p:ext>
            </p:extLst>
          </p:nvPr>
        </p:nvGraphicFramePr>
        <p:xfrm>
          <a:off x="636384" y="2365632"/>
          <a:ext cx="3294222" cy="2400300"/>
        </p:xfrm>
        <a:graphic>
          <a:graphicData uri="http://schemas.openxmlformats.org/drawingml/2006/table">
            <a:tbl>
              <a:tblPr/>
              <a:tblGrid>
                <a:gridCol w="601504">
                  <a:extLst>
                    <a:ext uri="{9D8B030D-6E8A-4147-A177-3AD203B41FA5}">
                      <a16:colId xmlns:a16="http://schemas.microsoft.com/office/drawing/2014/main" val="20000"/>
                    </a:ext>
                  </a:extLst>
                </a:gridCol>
                <a:gridCol w="1114901">
                  <a:extLst>
                    <a:ext uri="{9D8B030D-6E8A-4147-A177-3AD203B41FA5}">
                      <a16:colId xmlns:a16="http://schemas.microsoft.com/office/drawing/2014/main" val="20001"/>
                    </a:ext>
                  </a:extLst>
                </a:gridCol>
                <a:gridCol w="894398">
                  <a:extLst>
                    <a:ext uri="{9D8B030D-6E8A-4147-A177-3AD203B41FA5}">
                      <a16:colId xmlns:a16="http://schemas.microsoft.com/office/drawing/2014/main" val="20002"/>
                    </a:ext>
                  </a:extLst>
                </a:gridCol>
                <a:gridCol w="683419">
                  <a:extLst>
                    <a:ext uri="{9D8B030D-6E8A-4147-A177-3AD203B41FA5}">
                      <a16:colId xmlns:a16="http://schemas.microsoft.com/office/drawing/2014/main" val="20003"/>
                    </a:ext>
                  </a:extLst>
                </a:gridCol>
              </a:tblGrid>
              <a:tr h="3429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err="1">
                          <a:latin typeface="Microsoft YaHei" panose="020B0503020204020204" pitchFamily="34" charset="-122"/>
                          <a:ea typeface="Microsoft YaHei" panose="020B0503020204020204" pitchFamily="34" charset="-122"/>
                        </a:rPr>
                        <a:t>cno</a:t>
                      </a:r>
                      <a:endParaRPr lang="en-US" altLang="zh-CN" sz="1600" dirty="0">
                        <a:latin typeface="Microsoft YaHei" panose="020B0503020204020204" pitchFamily="34" charset="-122"/>
                        <a:ea typeface="Microsoft YaHei" panose="020B0503020204020204" pitchFamily="34" charset="-122"/>
                      </a:endParaRP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cname</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credit</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pcno</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extLst>
                  <a:ext uri="{0D108BD9-81ED-4DB2-BD59-A6C34878D82A}">
                    <a16:rowId xmlns:a16="http://schemas.microsoft.com/office/drawing/2014/main" val="10000"/>
                  </a:ext>
                </a:extLst>
              </a:tr>
              <a:tr h="3429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001</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zh-CN" altLang="en-US" sz="1600" dirty="0">
                          <a:latin typeface="Microsoft YaHei" panose="020B0503020204020204" pitchFamily="34" charset="-122"/>
                          <a:ea typeface="Microsoft YaHei" panose="020B0503020204020204" pitchFamily="34" charset="-122"/>
                        </a:rPr>
                        <a:t>数学</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6</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1600" dirty="0">
                        <a:latin typeface="Microsoft YaHei" panose="020B0503020204020204" pitchFamily="34" charset="-122"/>
                        <a:ea typeface="Microsoft YaHei" panose="020B0503020204020204" pitchFamily="34" charset="-122"/>
                      </a:endParaRP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extLst>
                  <a:ext uri="{0D108BD9-81ED-4DB2-BD59-A6C34878D82A}">
                    <a16:rowId xmlns:a16="http://schemas.microsoft.com/office/drawing/2014/main" val="10001"/>
                  </a:ext>
                </a:extLst>
              </a:tr>
              <a:tr h="3429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002</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zh-CN" altLang="en-US" sz="1600" dirty="0">
                          <a:latin typeface="Microsoft YaHei" panose="020B0503020204020204" pitchFamily="34" charset="-122"/>
                          <a:ea typeface="Microsoft YaHei" panose="020B0503020204020204" pitchFamily="34" charset="-122"/>
                        </a:rPr>
                        <a:t>英语</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4</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1600" dirty="0">
                        <a:latin typeface="Microsoft YaHei" panose="020B0503020204020204" pitchFamily="34" charset="-122"/>
                        <a:ea typeface="Microsoft YaHei" panose="020B0503020204020204" pitchFamily="34" charset="-122"/>
                      </a:endParaRP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extLst>
                  <a:ext uri="{0D108BD9-81ED-4DB2-BD59-A6C34878D82A}">
                    <a16:rowId xmlns:a16="http://schemas.microsoft.com/office/drawing/2014/main" val="10002"/>
                  </a:ext>
                </a:extLst>
              </a:tr>
              <a:tr h="3429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003</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zh-CN" altLang="en-US" sz="1600" dirty="0">
                          <a:latin typeface="Microsoft YaHei" panose="020B0503020204020204" pitchFamily="34" charset="-122"/>
                          <a:ea typeface="Microsoft YaHei" panose="020B0503020204020204" pitchFamily="34" charset="-122"/>
                        </a:rPr>
                        <a:t>高级语言</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4</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001</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extLst>
                  <a:ext uri="{0D108BD9-81ED-4DB2-BD59-A6C34878D82A}">
                    <a16:rowId xmlns:a16="http://schemas.microsoft.com/office/drawing/2014/main" val="10003"/>
                  </a:ext>
                </a:extLst>
              </a:tr>
              <a:tr h="3429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004</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zh-CN" altLang="en-US" sz="1600" dirty="0">
                          <a:latin typeface="Microsoft YaHei" panose="020B0503020204020204" pitchFamily="34" charset="-122"/>
                          <a:ea typeface="Microsoft YaHei" panose="020B0503020204020204" pitchFamily="34" charset="-122"/>
                        </a:rPr>
                        <a:t>数据结构</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4</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003</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extLst>
                  <a:ext uri="{0D108BD9-81ED-4DB2-BD59-A6C34878D82A}">
                    <a16:rowId xmlns:a16="http://schemas.microsoft.com/office/drawing/2014/main" val="10004"/>
                  </a:ext>
                </a:extLst>
              </a:tr>
              <a:tr h="3429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005</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zh-CN" altLang="en-US" sz="1600" dirty="0">
                          <a:latin typeface="Microsoft YaHei" panose="020B0503020204020204" pitchFamily="34" charset="-122"/>
                          <a:ea typeface="Microsoft YaHei" panose="020B0503020204020204" pitchFamily="34" charset="-122"/>
                        </a:rPr>
                        <a:t>数据库</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3</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004</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extLst>
                  <a:ext uri="{0D108BD9-81ED-4DB2-BD59-A6C34878D82A}">
                    <a16:rowId xmlns:a16="http://schemas.microsoft.com/office/drawing/2014/main" val="10005"/>
                  </a:ext>
                </a:extLst>
              </a:tr>
              <a:tr h="3429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006</a:t>
                      </a:r>
                    </a:p>
                  </a:txBody>
                  <a:tcPr marL="68580" marR="68580" marT="34290" marB="3429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1600" dirty="0">
                          <a:latin typeface="Microsoft YaHei" panose="020B0503020204020204" pitchFamily="34" charset="-122"/>
                          <a:ea typeface="Microsoft YaHei" panose="020B0503020204020204" pitchFamily="34" charset="-122"/>
                        </a:rPr>
                        <a:t>操作系统</a:t>
                      </a:r>
                    </a:p>
                  </a:txBody>
                  <a:tcPr marL="68580" marR="68580" marT="34290" marB="3429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3</a:t>
                      </a:r>
                    </a:p>
                  </a:txBody>
                  <a:tcPr marL="68580" marR="68580" marT="34290" marB="3429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004</a:t>
                      </a:r>
                    </a:p>
                  </a:txBody>
                  <a:tcPr marL="68580" marR="68580" marT="34290" marB="3429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F1FD95"/>
                    </a:solidFill>
                  </a:tcPr>
                </a:tc>
                <a:extLst>
                  <a:ext uri="{0D108BD9-81ED-4DB2-BD59-A6C34878D82A}">
                    <a16:rowId xmlns:a16="http://schemas.microsoft.com/office/drawing/2014/main" val="10006"/>
                  </a:ext>
                </a:extLst>
              </a:tr>
            </a:tbl>
          </a:graphicData>
        </a:graphic>
      </p:graphicFrame>
      <p:sp>
        <p:nvSpPr>
          <p:cNvPr id="58428" name="Text Box 52"/>
          <p:cNvSpPr txBox="1"/>
          <p:nvPr/>
        </p:nvSpPr>
        <p:spPr>
          <a:xfrm>
            <a:off x="6248791" y="1985322"/>
            <a:ext cx="485775" cy="369094"/>
          </a:xfrm>
          <a:prstGeom prst="rect">
            <a:avLst/>
          </a:prstGeom>
          <a:noFill/>
          <a:ln w="9525">
            <a:noFill/>
          </a:ln>
        </p:spPr>
        <p:txBody>
          <a:bodyPr>
            <a:spAutoFit/>
          </a:bodyPr>
          <a:lstStyle/>
          <a:p>
            <a:pPr>
              <a:spcBef>
                <a:spcPct val="50000"/>
              </a:spcBef>
            </a:pPr>
            <a:r>
              <a:rPr lang="en-US" altLang="zh-CN" b="1" dirty="0">
                <a:latin typeface="Microsoft YaHei" panose="020B0503020204020204" pitchFamily="34" charset="-122"/>
                <a:ea typeface="Microsoft YaHei" panose="020B0503020204020204" pitchFamily="34" charset="-122"/>
              </a:rPr>
              <a:t>d2</a:t>
            </a:r>
          </a:p>
        </p:txBody>
      </p:sp>
      <p:sp>
        <p:nvSpPr>
          <p:cNvPr id="58429" name="Line 53"/>
          <p:cNvSpPr/>
          <p:nvPr/>
        </p:nvSpPr>
        <p:spPr>
          <a:xfrm flipV="1">
            <a:off x="3930606" y="2797328"/>
            <a:ext cx="901495" cy="757238"/>
          </a:xfrm>
          <a:prstGeom prst="line">
            <a:avLst/>
          </a:prstGeom>
          <a:ln w="57150" cap="flat" cmpd="sng">
            <a:solidFill>
              <a:srgbClr val="0000FF"/>
            </a:solidFill>
            <a:prstDash val="soli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8426" name="Text Box 55"/>
          <p:cNvSpPr txBox="1"/>
          <p:nvPr/>
        </p:nvSpPr>
        <p:spPr>
          <a:xfrm>
            <a:off x="2053074" y="2023742"/>
            <a:ext cx="485775" cy="369094"/>
          </a:xfrm>
          <a:prstGeom prst="rect">
            <a:avLst/>
          </a:prstGeom>
          <a:noFill/>
          <a:ln w="9525">
            <a:noFill/>
          </a:ln>
        </p:spPr>
        <p:txBody>
          <a:bodyPr>
            <a:spAutoFit/>
          </a:bodyPr>
          <a:lstStyle/>
          <a:p>
            <a:pPr>
              <a:spcBef>
                <a:spcPct val="50000"/>
              </a:spcBef>
            </a:pPr>
            <a:r>
              <a:rPr lang="en-US" altLang="zh-CN" b="1" dirty="0">
                <a:latin typeface="Microsoft YaHei" panose="020B0503020204020204" pitchFamily="34" charset="-122"/>
                <a:ea typeface="Microsoft YaHei" panose="020B0503020204020204" pitchFamily="34" charset="-122"/>
              </a:rPr>
              <a:t>d1</a:t>
            </a:r>
          </a:p>
        </p:txBody>
      </p:sp>
      <p:sp>
        <p:nvSpPr>
          <p:cNvPr id="58427" name="Line 56"/>
          <p:cNvSpPr/>
          <p:nvPr/>
        </p:nvSpPr>
        <p:spPr>
          <a:xfrm flipV="1">
            <a:off x="3930606" y="3554566"/>
            <a:ext cx="901495" cy="335039"/>
          </a:xfrm>
          <a:prstGeom prst="line">
            <a:avLst/>
          </a:prstGeom>
          <a:ln w="57150" cap="flat" cmpd="sng">
            <a:solidFill>
              <a:srgbClr val="0000FF"/>
            </a:solidFill>
            <a:prstDash val="soli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9453" name="Rectangle 61"/>
          <p:cNvSpPr/>
          <p:nvPr/>
        </p:nvSpPr>
        <p:spPr>
          <a:xfrm>
            <a:off x="5137595" y="735614"/>
            <a:ext cx="4365657" cy="1035867"/>
          </a:xfrm>
          <a:prstGeom prst="rect">
            <a:avLst/>
          </a:prstGeom>
          <a:noFill/>
          <a:ln w="9525">
            <a:noFill/>
          </a:ln>
        </p:spPr>
        <p:txBody>
          <a:bodyPr/>
          <a:lstStyle/>
          <a:p>
            <a:pPr marL="257175" indent="-257175">
              <a:spcBef>
                <a:spcPct val="20000"/>
              </a:spcBef>
              <a:buClr>
                <a:schemeClr val="folHlink"/>
              </a:buClr>
              <a:buSzPct val="60000"/>
            </a:pPr>
            <a:r>
              <a:rPr lang="en-US" altLang="zh-CN" dirty="0">
                <a:latin typeface="Microsoft YaHei" panose="020B0503020204020204" pitchFamily="34" charset="-122"/>
                <a:ea typeface="Microsoft YaHei" panose="020B0503020204020204" pitchFamily="34" charset="-122"/>
              </a:rPr>
              <a:t>SELECT d1.cno, d2.pcno</a:t>
            </a:r>
          </a:p>
          <a:p>
            <a:pPr marL="257175" indent="-257175">
              <a:spcBef>
                <a:spcPct val="20000"/>
              </a:spcBef>
              <a:buClr>
                <a:schemeClr val="folHlink"/>
              </a:buClr>
              <a:buSzPct val="60000"/>
            </a:pPr>
            <a:r>
              <a:rPr lang="en-US" altLang="zh-CN" dirty="0">
                <a:latin typeface="Microsoft YaHei" panose="020B0503020204020204" pitchFamily="34" charset="-122"/>
                <a:ea typeface="Microsoft YaHei" panose="020B0503020204020204" pitchFamily="34" charset="-122"/>
              </a:rPr>
              <a:t>FROM Course AS d1, Course AS d2</a:t>
            </a:r>
          </a:p>
          <a:p>
            <a:pPr marL="257175" indent="-257175">
              <a:spcBef>
                <a:spcPct val="20000"/>
              </a:spcBef>
              <a:buClr>
                <a:schemeClr val="folHlink"/>
              </a:buClr>
              <a:buSzPct val="60000"/>
            </a:pPr>
            <a:r>
              <a:rPr lang="en-US" altLang="zh-CN" dirty="0">
                <a:latin typeface="Microsoft YaHei" panose="020B0503020204020204" pitchFamily="34" charset="-122"/>
                <a:ea typeface="Microsoft YaHei" panose="020B0503020204020204" pitchFamily="34" charset="-122"/>
              </a:rPr>
              <a:t>WHERE d1.pcno=d2.cno;</a:t>
            </a:r>
            <a:endParaRPr lang="en-US" altLang="zh-CN" dirty="0">
              <a:solidFill>
                <a:schemeClr val="folHlink"/>
              </a:solidFill>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8F107A72-5790-45B2-FE6F-99866622C9A9}"/>
              </a:ext>
            </a:extLst>
          </p:cNvPr>
          <p:cNvSpPr>
            <a:spLocks noGrp="1"/>
          </p:cNvSpPr>
          <p:nvPr>
            <p:ph type="title"/>
          </p:nvPr>
        </p:nvSpPr>
        <p:spPr/>
        <p:txBody>
          <a:bodyPr/>
          <a:lstStyle/>
          <a:p>
            <a:r>
              <a:rPr lang="zh-CN" altLang="en-US" dirty="0"/>
              <a:t>自连接</a:t>
            </a:r>
          </a:p>
        </p:txBody>
      </p:sp>
      <p:graphicFrame>
        <p:nvGraphicFramePr>
          <p:cNvPr id="6" name="文本占位符 58371">
            <a:extLst>
              <a:ext uri="{FF2B5EF4-FFF2-40B4-BE49-F238E27FC236}">
                <a16:creationId xmlns:a16="http://schemas.microsoft.com/office/drawing/2014/main" id="{6699B843-5141-10A4-7E19-484F19E4C5AD}"/>
              </a:ext>
            </a:extLst>
          </p:cNvPr>
          <p:cNvGraphicFramePr>
            <a:graphicFrameLocks/>
          </p:cNvGraphicFramePr>
          <p:nvPr>
            <p:extLst>
              <p:ext uri="{D42A27DB-BD31-4B8C-83A1-F6EECF244321}">
                <p14:modId xmlns:p14="http://schemas.microsoft.com/office/powerpoint/2010/main" val="2960595847"/>
              </p:ext>
            </p:extLst>
          </p:nvPr>
        </p:nvGraphicFramePr>
        <p:xfrm>
          <a:off x="4832101" y="2354416"/>
          <a:ext cx="3294222" cy="2400300"/>
        </p:xfrm>
        <a:graphic>
          <a:graphicData uri="http://schemas.openxmlformats.org/drawingml/2006/table">
            <a:tbl>
              <a:tblPr/>
              <a:tblGrid>
                <a:gridCol w="601504">
                  <a:extLst>
                    <a:ext uri="{9D8B030D-6E8A-4147-A177-3AD203B41FA5}">
                      <a16:colId xmlns:a16="http://schemas.microsoft.com/office/drawing/2014/main" val="20000"/>
                    </a:ext>
                  </a:extLst>
                </a:gridCol>
                <a:gridCol w="1114901">
                  <a:extLst>
                    <a:ext uri="{9D8B030D-6E8A-4147-A177-3AD203B41FA5}">
                      <a16:colId xmlns:a16="http://schemas.microsoft.com/office/drawing/2014/main" val="20001"/>
                    </a:ext>
                  </a:extLst>
                </a:gridCol>
                <a:gridCol w="894398">
                  <a:extLst>
                    <a:ext uri="{9D8B030D-6E8A-4147-A177-3AD203B41FA5}">
                      <a16:colId xmlns:a16="http://schemas.microsoft.com/office/drawing/2014/main" val="20002"/>
                    </a:ext>
                  </a:extLst>
                </a:gridCol>
                <a:gridCol w="683419">
                  <a:extLst>
                    <a:ext uri="{9D8B030D-6E8A-4147-A177-3AD203B41FA5}">
                      <a16:colId xmlns:a16="http://schemas.microsoft.com/office/drawing/2014/main" val="20003"/>
                    </a:ext>
                  </a:extLst>
                </a:gridCol>
              </a:tblGrid>
              <a:tr h="3429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err="1">
                          <a:latin typeface="Microsoft YaHei" panose="020B0503020204020204" pitchFamily="34" charset="-122"/>
                          <a:ea typeface="Microsoft YaHei" panose="020B0503020204020204" pitchFamily="34" charset="-122"/>
                        </a:rPr>
                        <a:t>cno</a:t>
                      </a:r>
                      <a:endParaRPr lang="en-US" altLang="zh-CN" sz="1600" dirty="0">
                        <a:latin typeface="Microsoft YaHei" panose="020B0503020204020204" pitchFamily="34" charset="-122"/>
                        <a:ea typeface="Microsoft YaHei" panose="020B0503020204020204" pitchFamily="34" charset="-122"/>
                      </a:endParaRP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cname</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credit</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pcno</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extLst>
                  <a:ext uri="{0D108BD9-81ED-4DB2-BD59-A6C34878D82A}">
                    <a16:rowId xmlns:a16="http://schemas.microsoft.com/office/drawing/2014/main" val="10000"/>
                  </a:ext>
                </a:extLst>
              </a:tr>
              <a:tr h="3429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001</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zh-CN" altLang="en-US" sz="1600" dirty="0">
                          <a:latin typeface="Microsoft YaHei" panose="020B0503020204020204" pitchFamily="34" charset="-122"/>
                          <a:ea typeface="Microsoft YaHei" panose="020B0503020204020204" pitchFamily="34" charset="-122"/>
                        </a:rPr>
                        <a:t>数学</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6</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1600" dirty="0">
                        <a:latin typeface="Microsoft YaHei" panose="020B0503020204020204" pitchFamily="34" charset="-122"/>
                        <a:ea typeface="Microsoft YaHei" panose="020B0503020204020204" pitchFamily="34" charset="-122"/>
                      </a:endParaRP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extLst>
                  <a:ext uri="{0D108BD9-81ED-4DB2-BD59-A6C34878D82A}">
                    <a16:rowId xmlns:a16="http://schemas.microsoft.com/office/drawing/2014/main" val="10001"/>
                  </a:ext>
                </a:extLst>
              </a:tr>
              <a:tr h="3429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002</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zh-CN" altLang="en-US" sz="1600" dirty="0">
                          <a:latin typeface="Microsoft YaHei" panose="020B0503020204020204" pitchFamily="34" charset="-122"/>
                          <a:ea typeface="Microsoft YaHei" panose="020B0503020204020204" pitchFamily="34" charset="-122"/>
                        </a:rPr>
                        <a:t>英语</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4</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1600" dirty="0">
                        <a:latin typeface="Microsoft YaHei" panose="020B0503020204020204" pitchFamily="34" charset="-122"/>
                        <a:ea typeface="Microsoft YaHei" panose="020B0503020204020204" pitchFamily="34" charset="-122"/>
                      </a:endParaRP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extLst>
                  <a:ext uri="{0D108BD9-81ED-4DB2-BD59-A6C34878D82A}">
                    <a16:rowId xmlns:a16="http://schemas.microsoft.com/office/drawing/2014/main" val="10002"/>
                  </a:ext>
                </a:extLst>
              </a:tr>
              <a:tr h="3429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003</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zh-CN" altLang="en-US" sz="1600" dirty="0">
                          <a:latin typeface="Microsoft YaHei" panose="020B0503020204020204" pitchFamily="34" charset="-122"/>
                          <a:ea typeface="Microsoft YaHei" panose="020B0503020204020204" pitchFamily="34" charset="-122"/>
                        </a:rPr>
                        <a:t>高级语言</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4</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001</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extLst>
                  <a:ext uri="{0D108BD9-81ED-4DB2-BD59-A6C34878D82A}">
                    <a16:rowId xmlns:a16="http://schemas.microsoft.com/office/drawing/2014/main" val="10003"/>
                  </a:ext>
                </a:extLst>
              </a:tr>
              <a:tr h="3429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004</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zh-CN" altLang="en-US" sz="1600" dirty="0">
                          <a:latin typeface="Microsoft YaHei" panose="020B0503020204020204" pitchFamily="34" charset="-122"/>
                          <a:ea typeface="Microsoft YaHei" panose="020B0503020204020204" pitchFamily="34" charset="-122"/>
                        </a:rPr>
                        <a:t>数据结构</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4</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003</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extLst>
                  <a:ext uri="{0D108BD9-81ED-4DB2-BD59-A6C34878D82A}">
                    <a16:rowId xmlns:a16="http://schemas.microsoft.com/office/drawing/2014/main" val="10004"/>
                  </a:ext>
                </a:extLst>
              </a:tr>
              <a:tr h="3429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005</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zh-CN" altLang="en-US" sz="1600" dirty="0">
                          <a:latin typeface="Microsoft YaHei" panose="020B0503020204020204" pitchFamily="34" charset="-122"/>
                          <a:ea typeface="Microsoft YaHei" panose="020B0503020204020204" pitchFamily="34" charset="-122"/>
                        </a:rPr>
                        <a:t>数据库</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3</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004</a:t>
                      </a:r>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1FD95"/>
                    </a:solidFill>
                  </a:tcPr>
                </a:tc>
                <a:extLst>
                  <a:ext uri="{0D108BD9-81ED-4DB2-BD59-A6C34878D82A}">
                    <a16:rowId xmlns:a16="http://schemas.microsoft.com/office/drawing/2014/main" val="10005"/>
                  </a:ext>
                </a:extLst>
              </a:tr>
              <a:tr h="3429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006</a:t>
                      </a:r>
                    </a:p>
                  </a:txBody>
                  <a:tcPr marL="68580" marR="68580" marT="34290" marB="3429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1600" dirty="0">
                          <a:latin typeface="Microsoft YaHei" panose="020B0503020204020204" pitchFamily="34" charset="-122"/>
                          <a:ea typeface="Microsoft YaHei" panose="020B0503020204020204" pitchFamily="34" charset="-122"/>
                        </a:rPr>
                        <a:t>操作系统</a:t>
                      </a:r>
                    </a:p>
                  </a:txBody>
                  <a:tcPr marL="68580" marR="68580" marT="34290" marB="3429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3</a:t>
                      </a:r>
                    </a:p>
                  </a:txBody>
                  <a:tcPr marL="68580" marR="68580" marT="34290" marB="3429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F1FD95"/>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600" dirty="0">
                          <a:latin typeface="Microsoft YaHei" panose="020B0503020204020204" pitchFamily="34" charset="-122"/>
                          <a:ea typeface="Microsoft YaHei" panose="020B0503020204020204" pitchFamily="34" charset="-122"/>
                        </a:rPr>
                        <a:t>004</a:t>
                      </a:r>
                    </a:p>
                  </a:txBody>
                  <a:tcPr marL="68580" marR="68580" marT="34290" marB="3429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F1FD95"/>
                    </a:solidFill>
                  </a:tcPr>
                </a:tc>
                <a:extLst>
                  <a:ext uri="{0D108BD9-81ED-4DB2-BD59-A6C34878D82A}">
                    <a16:rowId xmlns:a16="http://schemas.microsoft.com/office/drawing/2014/main" val="10006"/>
                  </a:ext>
                </a:extLst>
              </a:tr>
            </a:tbl>
          </a:graphicData>
        </a:graphic>
      </p:graphicFrame>
      <p:sp>
        <p:nvSpPr>
          <p:cNvPr id="7" name="Line 56">
            <a:extLst>
              <a:ext uri="{FF2B5EF4-FFF2-40B4-BE49-F238E27FC236}">
                <a16:creationId xmlns:a16="http://schemas.microsoft.com/office/drawing/2014/main" id="{F7F60645-9BFA-3F11-3160-9826EBA3DC09}"/>
              </a:ext>
            </a:extLst>
          </p:cNvPr>
          <p:cNvSpPr/>
          <p:nvPr/>
        </p:nvSpPr>
        <p:spPr>
          <a:xfrm flipV="1">
            <a:off x="3930606" y="3805083"/>
            <a:ext cx="901495" cy="443757"/>
          </a:xfrm>
          <a:prstGeom prst="line">
            <a:avLst/>
          </a:prstGeom>
          <a:ln w="57150" cap="flat" cmpd="sng">
            <a:solidFill>
              <a:srgbClr val="0000FF"/>
            </a:solidFill>
            <a:prstDash val="soli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8" name="Line 56">
            <a:extLst>
              <a:ext uri="{FF2B5EF4-FFF2-40B4-BE49-F238E27FC236}">
                <a16:creationId xmlns:a16="http://schemas.microsoft.com/office/drawing/2014/main" id="{741862A2-2503-6BA0-E27C-41E263868193}"/>
              </a:ext>
            </a:extLst>
          </p:cNvPr>
          <p:cNvSpPr/>
          <p:nvPr/>
        </p:nvSpPr>
        <p:spPr>
          <a:xfrm flipV="1">
            <a:off x="3930606" y="3923659"/>
            <a:ext cx="901495" cy="682637"/>
          </a:xfrm>
          <a:prstGeom prst="line">
            <a:avLst/>
          </a:prstGeom>
          <a:ln w="57150" cap="flat" cmpd="sng">
            <a:solidFill>
              <a:srgbClr val="0000FF"/>
            </a:solidFill>
            <a:prstDash val="soli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9" name="圆角矩形 8">
            <a:extLst>
              <a:ext uri="{FF2B5EF4-FFF2-40B4-BE49-F238E27FC236}">
                <a16:creationId xmlns:a16="http://schemas.microsoft.com/office/drawing/2014/main" id="{674FFE26-B6B0-72B6-4B54-164ABA21F160}"/>
              </a:ext>
            </a:extLst>
          </p:cNvPr>
          <p:cNvSpPr/>
          <p:nvPr/>
        </p:nvSpPr>
        <p:spPr>
          <a:xfrm>
            <a:off x="3293806" y="2212258"/>
            <a:ext cx="2053490" cy="585070"/>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7882A2FD-510C-099A-F48A-AF3A0A2D760B}"/>
              </a:ext>
            </a:extLst>
          </p:cNvPr>
          <p:cNvSpPr txBox="1"/>
          <p:nvPr/>
        </p:nvSpPr>
        <p:spPr>
          <a:xfrm>
            <a:off x="4208870" y="2346172"/>
            <a:ext cx="344966" cy="369332"/>
          </a:xfrm>
          <a:prstGeom prst="rect">
            <a:avLst/>
          </a:prstGeom>
          <a:noFill/>
        </p:spPr>
        <p:txBody>
          <a:bodyPr wrap="none" rtlCol="0">
            <a:spAutoFit/>
          </a:bodyPr>
          <a:lstStyle/>
          <a:p>
            <a:r>
              <a:rPr kumimoji="1" lang="en-US" altLang="zh-CN" b="1" dirty="0">
                <a:solidFill>
                  <a:srgbClr val="C00000"/>
                </a:solidFill>
              </a:rPr>
              <a:t>=</a:t>
            </a:r>
            <a:endParaRPr kumimoji="1" lang="zh-CN" altLang="en-US" b="1" dirty="0">
              <a:solidFill>
                <a:srgbClr val="C0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83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58429"/>
                                        </p:tgtEl>
                                        <p:attrNameLst>
                                          <p:attrName>style.visibility</p:attrName>
                                        </p:attrNameLst>
                                      </p:cBhvr>
                                      <p:to>
                                        <p:strVal val="visible"/>
                                      </p:to>
                                    </p:set>
                                    <p:anim calcmode="lin" valueType="num">
                                      <p:cBhvr additive="base">
                                        <p:cTn id="15" dur="500" fill="hold"/>
                                        <p:tgtEl>
                                          <p:spTgt spid="58429"/>
                                        </p:tgtEl>
                                        <p:attrNameLst>
                                          <p:attrName>ppt_x</p:attrName>
                                        </p:attrNameLst>
                                      </p:cBhvr>
                                      <p:tavLst>
                                        <p:tav tm="0">
                                          <p:val>
                                            <p:strVal val="#ppt_x"/>
                                          </p:val>
                                        </p:tav>
                                        <p:tav tm="100000">
                                          <p:val>
                                            <p:strVal val="#ppt_x"/>
                                          </p:val>
                                        </p:tav>
                                      </p:tavLst>
                                    </p:anim>
                                    <p:anim calcmode="lin" valueType="num">
                                      <p:cBhvr additive="base">
                                        <p:cTn id="16" dur="500" fill="hold"/>
                                        <p:tgtEl>
                                          <p:spTgt spid="5842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8427"/>
                                        </p:tgtEl>
                                        <p:attrNameLst>
                                          <p:attrName>style.visibility</p:attrName>
                                        </p:attrNameLst>
                                      </p:cBhvr>
                                      <p:to>
                                        <p:strVal val="visible"/>
                                      </p:to>
                                    </p:set>
                                    <p:anim calcmode="lin" valueType="num">
                                      <p:cBhvr additive="base">
                                        <p:cTn id="19" dur="500" fill="hold"/>
                                        <p:tgtEl>
                                          <p:spTgt spid="58427"/>
                                        </p:tgtEl>
                                        <p:attrNameLst>
                                          <p:attrName>ppt_x</p:attrName>
                                        </p:attrNameLst>
                                      </p:cBhvr>
                                      <p:tavLst>
                                        <p:tav tm="0">
                                          <p:val>
                                            <p:strVal val="#ppt_x"/>
                                          </p:val>
                                        </p:tav>
                                        <p:tav tm="100000">
                                          <p:val>
                                            <p:strVal val="#ppt_x"/>
                                          </p:val>
                                        </p:tav>
                                      </p:tavLst>
                                    </p:anim>
                                    <p:anim calcmode="lin" valueType="num">
                                      <p:cBhvr additive="base">
                                        <p:cTn id="20" dur="500" fill="hold"/>
                                        <p:tgtEl>
                                          <p:spTgt spid="5842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circle(in)">
                                      <p:cBhvr>
                                        <p:cTn id="33" dur="20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blinds(horizontal)">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8426"/>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5842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4" presetClass="entr" presetSubtype="32" fill="hold" grpId="0" nodeType="clickEffect">
                                  <p:stCondLst>
                                    <p:cond delay="0"/>
                                  </p:stCondLst>
                                  <p:childTnLst>
                                    <p:set>
                                      <p:cBhvr>
                                        <p:cTn id="49" dur="1" fill="hold">
                                          <p:stCondLst>
                                            <p:cond delay="0"/>
                                          </p:stCondLst>
                                        </p:cTn>
                                        <p:tgtEl>
                                          <p:spTgt spid="59453">
                                            <p:txEl>
                                              <p:pRg st="0" end="0"/>
                                            </p:txEl>
                                          </p:spTgt>
                                        </p:tgtEl>
                                        <p:attrNameLst>
                                          <p:attrName>style.visibility</p:attrName>
                                        </p:attrNameLst>
                                      </p:cBhvr>
                                      <p:to>
                                        <p:strVal val="visible"/>
                                      </p:to>
                                    </p:set>
                                    <p:animEffect transition="in" filter="box(out)">
                                      <p:cBhvr>
                                        <p:cTn id="50" dur="500"/>
                                        <p:tgtEl>
                                          <p:spTgt spid="59453">
                                            <p:txEl>
                                              <p:pRg st="0" end="0"/>
                                            </p:txEl>
                                          </p:spTgt>
                                        </p:tgtEl>
                                      </p:cBhvr>
                                    </p:animEffect>
                                  </p:childTnLst>
                                </p:cTn>
                              </p:par>
                              <p:par>
                                <p:cTn id="51" presetID="4" presetClass="entr" presetSubtype="32" fill="hold" grpId="0" nodeType="withEffect">
                                  <p:stCondLst>
                                    <p:cond delay="0"/>
                                  </p:stCondLst>
                                  <p:childTnLst>
                                    <p:set>
                                      <p:cBhvr>
                                        <p:cTn id="52" dur="1" fill="hold">
                                          <p:stCondLst>
                                            <p:cond delay="0"/>
                                          </p:stCondLst>
                                        </p:cTn>
                                        <p:tgtEl>
                                          <p:spTgt spid="59453">
                                            <p:txEl>
                                              <p:pRg st="1" end="1"/>
                                            </p:txEl>
                                          </p:spTgt>
                                        </p:tgtEl>
                                        <p:attrNameLst>
                                          <p:attrName>style.visibility</p:attrName>
                                        </p:attrNameLst>
                                      </p:cBhvr>
                                      <p:to>
                                        <p:strVal val="visible"/>
                                      </p:to>
                                    </p:set>
                                    <p:animEffect transition="in" filter="box(out)">
                                      <p:cBhvr>
                                        <p:cTn id="53" dur="500"/>
                                        <p:tgtEl>
                                          <p:spTgt spid="59453">
                                            <p:txEl>
                                              <p:pRg st="1" end="1"/>
                                            </p:txEl>
                                          </p:spTgt>
                                        </p:tgtEl>
                                      </p:cBhvr>
                                    </p:animEffect>
                                  </p:childTnLst>
                                </p:cTn>
                              </p:par>
                              <p:par>
                                <p:cTn id="54" presetID="4" presetClass="entr" presetSubtype="32" fill="hold" grpId="0" nodeType="withEffect">
                                  <p:stCondLst>
                                    <p:cond delay="0"/>
                                  </p:stCondLst>
                                  <p:childTnLst>
                                    <p:set>
                                      <p:cBhvr>
                                        <p:cTn id="55" dur="1" fill="hold">
                                          <p:stCondLst>
                                            <p:cond delay="0"/>
                                          </p:stCondLst>
                                        </p:cTn>
                                        <p:tgtEl>
                                          <p:spTgt spid="59453">
                                            <p:txEl>
                                              <p:pRg st="2" end="2"/>
                                            </p:txEl>
                                          </p:spTgt>
                                        </p:tgtEl>
                                        <p:attrNameLst>
                                          <p:attrName>style.visibility</p:attrName>
                                        </p:attrNameLst>
                                      </p:cBhvr>
                                      <p:to>
                                        <p:strVal val="visible"/>
                                      </p:to>
                                    </p:set>
                                    <p:animEffect transition="in" filter="box(out)">
                                      <p:cBhvr>
                                        <p:cTn id="56" dur="500"/>
                                        <p:tgtEl>
                                          <p:spTgt spid="5945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28" grpId="0"/>
      <p:bldP spid="58429" grpId="0" animBg="1"/>
      <p:bldP spid="58426" grpId="0"/>
      <p:bldP spid="58427" grpId="0" animBg="1"/>
      <p:bldP spid="59453" grpId="0" uiExpand="1" build="p"/>
      <p:bldP spid="7" grpId="0" animBg="1"/>
      <p:bldP spid="8" grpId="0" animBg="1"/>
      <p:bldP spid="9" grpId="0" animBg="1"/>
      <p:bldP spid="1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p:cNvSpPr>
          <p:nvPr>
            <p:ph idx="1"/>
          </p:nvPr>
        </p:nvSpPr>
        <p:spPr/>
        <p:txBody>
          <a:bodyPr vert="horz" wrap="square" lIns="68580" tIns="34290" rIns="68580" bIns="34290" anchor="t" anchorCtr="0">
            <a:normAutofit/>
          </a:bodyPr>
          <a:lstStyle/>
          <a:p>
            <a:pPr eaLnBrk="1" hangingPunct="1">
              <a:lnSpc>
                <a:spcPct val="110000"/>
              </a:lnSpc>
              <a:spcBef>
                <a:spcPct val="0"/>
              </a:spcBef>
            </a:pPr>
            <a:r>
              <a:rPr lang="zh-CN" altLang="en-US" sz="1800" dirty="0"/>
              <a:t>当一个子查询的判断条件涉及到一个来自外部查询的列时，称为相关子查询。</a:t>
            </a:r>
          </a:p>
          <a:p>
            <a:pPr marL="0" indent="0">
              <a:lnSpc>
                <a:spcPct val="110000"/>
              </a:lnSpc>
              <a:spcBef>
                <a:spcPct val="0"/>
              </a:spcBef>
              <a:buNone/>
            </a:pPr>
            <a:endParaRPr lang="zh-CN" altLang="en-US" sz="1800" dirty="0">
              <a:solidFill>
                <a:schemeClr val="folHlink"/>
              </a:solidFill>
            </a:endParaRPr>
          </a:p>
          <a:p>
            <a:pPr eaLnBrk="1" hangingPunct="1">
              <a:lnSpc>
                <a:spcPct val="110000"/>
              </a:lnSpc>
              <a:spcBef>
                <a:spcPct val="0"/>
              </a:spcBef>
            </a:pPr>
            <a:r>
              <a:rPr lang="zh-CN" altLang="en-US" sz="1800" dirty="0"/>
              <a:t>带存在谓词的子查询：只产生逻辑值</a:t>
            </a:r>
            <a:r>
              <a:rPr lang="en-US" altLang="zh-CN" sz="1800" dirty="0"/>
              <a:t>。</a:t>
            </a:r>
            <a:endParaRPr lang="zh-CN" altLang="en-US" sz="1800" dirty="0"/>
          </a:p>
          <a:p>
            <a:pPr marL="0" indent="0">
              <a:lnSpc>
                <a:spcPct val="110000"/>
              </a:lnSpc>
              <a:spcBef>
                <a:spcPct val="0"/>
              </a:spcBef>
              <a:buNone/>
            </a:pPr>
            <a:endParaRPr lang="zh-CN" altLang="en-US" sz="1800" dirty="0"/>
          </a:p>
          <a:p>
            <a:pPr eaLnBrk="1" hangingPunct="1">
              <a:lnSpc>
                <a:spcPct val="110000"/>
              </a:lnSpc>
              <a:spcBef>
                <a:spcPct val="0"/>
              </a:spcBef>
            </a:pPr>
            <a:r>
              <a:rPr lang="zh-CN" altLang="en-US" sz="1800" dirty="0"/>
              <a:t>存在谓词 EXISTS 作用: 若内层查询结果非空，则外层的WHERE子句返回真值，否则返回假值。</a:t>
            </a:r>
          </a:p>
          <a:p>
            <a:pPr marL="0" indent="0">
              <a:lnSpc>
                <a:spcPct val="110000"/>
              </a:lnSpc>
              <a:spcBef>
                <a:spcPct val="0"/>
              </a:spcBef>
              <a:buNone/>
            </a:pPr>
            <a:endParaRPr lang="zh-CN" altLang="en-US" sz="1800" dirty="0"/>
          </a:p>
          <a:p>
            <a:pPr algn="just" eaLnBrk="1" hangingPunct="1">
              <a:lnSpc>
                <a:spcPct val="110000"/>
              </a:lnSpc>
              <a:spcBef>
                <a:spcPct val="0"/>
              </a:spcBef>
            </a:pPr>
            <a:r>
              <a:rPr lang="zh-CN" altLang="en-US" sz="1800" dirty="0"/>
              <a:t>求解相关子查询不能象求解不相关子查询那样，一次将子查询求解出来，然后求解父查询。相关子查询的内层查询由于与外层查询有关，因此必须反复求值。  </a:t>
            </a:r>
          </a:p>
        </p:txBody>
      </p:sp>
      <p:sp>
        <p:nvSpPr>
          <p:cNvPr id="59396" name="Rectangle 4"/>
          <p:cNvSpPr>
            <a:spLocks noGrp="1"/>
          </p:cNvSpPr>
          <p:nvPr/>
        </p:nvSpPr>
        <p:spPr>
          <a:xfrm>
            <a:off x="603409" y="628650"/>
            <a:ext cx="7929563" cy="4343400"/>
          </a:xfrm>
          <a:prstGeom prst="rect">
            <a:avLst/>
          </a:prstGeom>
          <a:noFill/>
          <a:ln w="9525">
            <a:noFill/>
          </a:ln>
        </p:spPr>
        <p:txBody>
          <a:bodyPr/>
          <a:lstStyle/>
          <a:p>
            <a:pPr marL="257175" indent="-257175" algn="just">
              <a:spcBef>
                <a:spcPct val="20000"/>
              </a:spcBef>
              <a:buClr>
                <a:schemeClr val="folHlink"/>
              </a:buClr>
              <a:buSzPct val="60000"/>
            </a:pPr>
            <a:r>
              <a:rPr lang="zh-CN" altLang="en-US" sz="2100" dirty="0">
                <a:latin typeface="Microsoft YaHei" panose="020B0503020204020204" pitchFamily="34" charset="-122"/>
                <a:ea typeface="Microsoft YaHei" panose="020B0503020204020204" pitchFamily="34" charset="-122"/>
              </a:rPr>
              <a:t> </a:t>
            </a:r>
          </a:p>
        </p:txBody>
      </p:sp>
      <p:sp>
        <p:nvSpPr>
          <p:cNvPr id="3" name="标题 2">
            <a:extLst>
              <a:ext uri="{FF2B5EF4-FFF2-40B4-BE49-F238E27FC236}">
                <a16:creationId xmlns:a16="http://schemas.microsoft.com/office/drawing/2014/main" id="{9EE3733C-965C-91FB-DBBF-4F4A232957D7}"/>
              </a:ext>
            </a:extLst>
          </p:cNvPr>
          <p:cNvSpPr>
            <a:spLocks noGrp="1"/>
          </p:cNvSpPr>
          <p:nvPr>
            <p:ph type="title"/>
          </p:nvPr>
        </p:nvSpPr>
        <p:spPr/>
        <p:txBody>
          <a:bodyPr/>
          <a:lstStyle/>
          <a:p>
            <a:r>
              <a:rPr lang="zh-CN" altLang="en-US" dirty="0"/>
              <a:t>相关子查询</a:t>
            </a: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4F9270-71A3-CEB6-DC4B-DA2E6D9D6A1A}"/>
              </a:ext>
            </a:extLst>
          </p:cNvPr>
          <p:cNvSpPr>
            <a:spLocks noGrp="1"/>
          </p:cNvSpPr>
          <p:nvPr>
            <p:ph type="title"/>
          </p:nvPr>
        </p:nvSpPr>
        <p:spPr/>
        <p:txBody>
          <a:bodyPr/>
          <a:lstStyle/>
          <a:p>
            <a:r>
              <a:rPr lang="zh-CN" altLang="en-US" dirty="0"/>
              <a:t>相关子查询</a:t>
            </a:r>
          </a:p>
        </p:txBody>
      </p:sp>
      <p:sp>
        <p:nvSpPr>
          <p:cNvPr id="61443" name="Rectangle 3"/>
          <p:cNvSpPr>
            <a:spLocks noGrp="1"/>
          </p:cNvSpPr>
          <p:nvPr>
            <p:ph idx="1"/>
          </p:nvPr>
        </p:nvSpPr>
        <p:spPr>
          <a:xfrm>
            <a:off x="360106" y="1338636"/>
            <a:ext cx="4211894" cy="3408735"/>
          </a:xfrm>
        </p:spPr>
        <p:txBody>
          <a:bodyPr vert="horz" wrap="square" lIns="68580" tIns="34290" rIns="68580" bIns="34290" numCol="1" anchor="t" anchorCtr="0" compatLnSpc="1"/>
          <a:lstStyle/>
          <a:p>
            <a:pPr marL="0" indent="0" defTabSz="685800" fontAlgn="base">
              <a:lnSpc>
                <a:spcPct val="100000"/>
              </a:lnSpc>
              <a:spcBef>
                <a:spcPct val="20000"/>
              </a:spcBef>
              <a:spcAft>
                <a:spcPct val="0"/>
              </a:spcAft>
              <a:buClr>
                <a:schemeClr val="folHlink"/>
              </a:buClr>
              <a:buSzPct val="60000"/>
              <a:buNone/>
              <a:defRPr/>
            </a:pPr>
            <a:r>
              <a:rPr lang="zh-CN" altLang="en-US" sz="1800" b="1" kern="0" noProof="1">
                <a:solidFill>
                  <a:schemeClr val="hlink"/>
                </a:solidFill>
                <a:cs typeface="楷体" panose="02010609060101010101" pitchFamily="49" charset="-122"/>
              </a:rPr>
              <a:t>[例</a:t>
            </a:r>
            <a:r>
              <a:rPr lang="zh-CN" altLang="en-US" sz="1800" b="1" kern="0" noProof="1">
                <a:solidFill>
                  <a:schemeClr val="hlink"/>
                </a:solidFill>
                <a:cs typeface="楷体" panose="02010609060101010101" pitchFamily="49" charset="-122"/>
                <a:sym typeface="Wingdings" panose="05000000000000000000" pitchFamily="2" charset="2"/>
              </a:rPr>
              <a:t>]</a:t>
            </a:r>
            <a:r>
              <a:rPr lang="zh-CN" altLang="en-US" sz="1800" kern="0" noProof="1">
                <a:cs typeface="楷体" panose="02010609060101010101" pitchFamily="49" charset="-122"/>
              </a:rPr>
              <a:t>查询所有选修了005号课程的学生姓名和学号。</a:t>
            </a:r>
            <a:endParaRPr lang="en-US" altLang="zh-CN" sz="1800" kern="0" noProof="1">
              <a:cs typeface="楷体" panose="02010609060101010101" pitchFamily="49" charset="-122"/>
            </a:endParaRPr>
          </a:p>
          <a:p>
            <a:pPr marL="0" indent="0" defTabSz="685800" fontAlgn="base">
              <a:lnSpc>
                <a:spcPct val="100000"/>
              </a:lnSpc>
              <a:spcBef>
                <a:spcPct val="20000"/>
              </a:spcBef>
              <a:spcAft>
                <a:spcPct val="0"/>
              </a:spcAft>
              <a:buClr>
                <a:schemeClr val="folHlink"/>
              </a:buClr>
              <a:buSzPct val="60000"/>
              <a:buNone/>
              <a:defRPr/>
            </a:pPr>
            <a:endParaRPr lang="zh-CN" altLang="en-US" sz="1800" kern="0" noProof="1">
              <a:cs typeface="楷体" panose="02010609060101010101" pitchFamily="49" charset="-122"/>
            </a:endParaRPr>
          </a:p>
          <a:p>
            <a:pPr marL="257175" indent="-257175" defTabSz="685800" fontAlgn="base">
              <a:lnSpc>
                <a:spcPct val="100000"/>
              </a:lnSpc>
              <a:spcBef>
                <a:spcPct val="20000"/>
              </a:spcBef>
              <a:spcAft>
                <a:spcPct val="0"/>
              </a:spcAft>
              <a:buClr>
                <a:schemeClr val="folHlink"/>
              </a:buClr>
              <a:buSzPct val="60000"/>
              <a:buNone/>
              <a:defRPr/>
            </a:pPr>
            <a:r>
              <a:rPr lang="zh-CN" altLang="en-US" sz="1800" kern="0" noProof="1">
                <a:cs typeface="楷体" panose="02010609060101010101" pitchFamily="49" charset="-122"/>
              </a:rPr>
              <a:t>  SELECT sname,sno</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noProof="1">
                <a:cs typeface="楷体" panose="02010609060101010101" pitchFamily="49" charset="-122"/>
              </a:rPr>
              <a:t>  FROM  Student</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noProof="1">
                <a:cs typeface="楷体" panose="02010609060101010101" pitchFamily="49" charset="-122"/>
              </a:rPr>
              <a:t>  WHERE</a:t>
            </a:r>
            <a:r>
              <a:rPr lang="zh-CN" altLang="en-US" sz="1800" kern="0" noProof="1">
                <a:solidFill>
                  <a:schemeClr val="folHlink"/>
                </a:solidFill>
                <a:cs typeface="楷体" panose="02010609060101010101" pitchFamily="49" charset="-122"/>
              </a:rPr>
              <a:t> EXISTS</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noProof="1">
                <a:cs typeface="楷体" panose="02010609060101010101" pitchFamily="49" charset="-122"/>
              </a:rPr>
              <a:t>            (SELECT  </a:t>
            </a:r>
            <a:r>
              <a:rPr lang="zh-CN" altLang="en-US" sz="1800" kern="0" noProof="1">
                <a:solidFill>
                  <a:schemeClr val="folHlink"/>
                </a:solidFill>
                <a:cs typeface="楷体" panose="02010609060101010101" pitchFamily="49" charset="-122"/>
              </a:rPr>
              <a:t>*</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noProof="1">
                <a:cs typeface="楷体" panose="02010609060101010101" pitchFamily="49" charset="-122"/>
              </a:rPr>
              <a:t>             FROM  SC</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noProof="1">
                <a:cs typeface="楷体" panose="02010609060101010101" pitchFamily="49" charset="-122"/>
              </a:rPr>
              <a:t>             WHERE SC.sno=</a:t>
            </a:r>
            <a:r>
              <a:rPr lang="zh-CN" altLang="en-US" sz="1800" kern="0" noProof="1">
                <a:solidFill>
                  <a:schemeClr val="hlink"/>
                </a:solidFill>
                <a:cs typeface="楷体" panose="02010609060101010101" pitchFamily="49" charset="-122"/>
              </a:rPr>
              <a:t>Student.sno</a:t>
            </a:r>
            <a:r>
              <a:rPr lang="zh-CN" altLang="en-US" sz="1800" kern="0" noProof="1">
                <a:cs typeface="楷体" panose="02010609060101010101" pitchFamily="49" charset="-122"/>
              </a:rPr>
              <a:t> </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noProof="1">
                <a:cs typeface="楷体" panose="02010609060101010101" pitchFamily="49" charset="-122"/>
              </a:rPr>
              <a:t>                      AND cno=’005’)；</a:t>
            </a:r>
          </a:p>
        </p:txBody>
      </p:sp>
      <p:sp>
        <p:nvSpPr>
          <p:cNvPr id="61444" name="Rectangle 4"/>
          <p:cNvSpPr/>
          <p:nvPr/>
        </p:nvSpPr>
        <p:spPr>
          <a:xfrm>
            <a:off x="4932106" y="1681317"/>
            <a:ext cx="4211894" cy="2723374"/>
          </a:xfrm>
          <a:prstGeom prst="rect">
            <a:avLst/>
          </a:prstGeom>
          <a:noFill/>
          <a:ln w="9525">
            <a:noFill/>
          </a:ln>
        </p:spPr>
        <p:txBody>
          <a:bodyPr wrap="square">
            <a:spAutoFit/>
          </a:bodyPr>
          <a:lstStyle/>
          <a:p>
            <a:pPr>
              <a:lnSpc>
                <a:spcPct val="120000"/>
              </a:lnSpc>
              <a:spcBef>
                <a:spcPct val="20000"/>
              </a:spcBef>
              <a:buClr>
                <a:schemeClr val="folHlink"/>
              </a:buClr>
              <a:buSzPct val="60000"/>
              <a:buFont typeface="Wingdings" panose="05000000000000000000" pitchFamily="2" charset="2"/>
              <a:buChar char="n"/>
            </a:pPr>
            <a:r>
              <a:rPr lang="zh-CN" altLang="en-US" sz="1350" dirty="0">
                <a:latin typeface="Microsoft YaHei" panose="020B0503020204020204" pitchFamily="34" charset="-122"/>
                <a:ea typeface="Microsoft YaHei" panose="020B0503020204020204" pitchFamily="34" charset="-122"/>
              </a:rPr>
              <a:t> </a:t>
            </a:r>
            <a:r>
              <a:rPr lang="zh-CN" altLang="en-US" b="1" dirty="0">
                <a:solidFill>
                  <a:schemeClr val="hlink"/>
                </a:solidFill>
                <a:latin typeface="Microsoft YaHei" panose="020B0503020204020204" pitchFamily="34" charset="-122"/>
                <a:ea typeface="Microsoft YaHei" panose="020B0503020204020204" pitchFamily="34" charset="-122"/>
              </a:rPr>
              <a:t>分析：</a:t>
            </a:r>
            <a:r>
              <a:rPr lang="zh-CN" altLang="en-US" dirty="0">
                <a:latin typeface="Microsoft YaHei" panose="020B0503020204020204" pitchFamily="34" charset="-122"/>
                <a:ea typeface="Microsoft YaHei" panose="020B0503020204020204" pitchFamily="34" charset="-122"/>
              </a:rPr>
              <a:t>查询所有选修了005号课程的学生姓名涉及Student关系和SC关系，在Student关系中依次取每个元组的Sno值，用此Student.Sno值去检查SC关系，若SC中存在这样的元组：</a:t>
            </a:r>
            <a:r>
              <a:rPr lang="zh-CN" altLang="en-US" dirty="0">
                <a:solidFill>
                  <a:srgbClr val="FF0000"/>
                </a:solidFill>
                <a:latin typeface="Microsoft YaHei" panose="020B0503020204020204" pitchFamily="34" charset="-122"/>
                <a:ea typeface="Microsoft YaHei" panose="020B0503020204020204" pitchFamily="34" charset="-122"/>
              </a:rPr>
              <a:t>其SC.Sno值等于用来检查的Student.Sno值</a:t>
            </a:r>
            <a:r>
              <a:rPr lang="zh-CN" altLang="en-US" dirty="0">
                <a:latin typeface="Microsoft YaHei" panose="020B0503020204020204" pitchFamily="34" charset="-122"/>
                <a:ea typeface="Microsoft YaHei" panose="020B0503020204020204" pitchFamily="34" charset="-122"/>
              </a:rPr>
              <a:t>，并且其SC.Cno=‘005’，则取此Student.Sname送入结果关系。</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1444"/>
                                        </p:tgtEl>
                                        <p:attrNameLst>
                                          <p:attrName>style.visibility</p:attrName>
                                        </p:attrNameLst>
                                      </p:cBhvr>
                                      <p:to>
                                        <p:strVal val="visible"/>
                                      </p:to>
                                    </p:set>
                                    <p:animEffect transition="in" filter="box(out)">
                                      <p:cBhvr>
                                        <p:cTn id="7" dur="500"/>
                                        <p:tgtEl>
                                          <p:spTgt spid="61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bldLvl="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p:cNvSpPr>
          <p:nvPr>
            <p:ph idx="1"/>
          </p:nvPr>
        </p:nvSpPr>
        <p:spPr/>
        <p:txBody>
          <a:bodyPr vert="horz" wrap="square" lIns="68580" tIns="34290" rIns="68580" bIns="34290" anchor="t" anchorCtr="0">
            <a:normAutofit/>
          </a:bodyPr>
          <a:lstStyle/>
          <a:p>
            <a:pPr marL="19050" indent="-19050">
              <a:lnSpc>
                <a:spcPct val="120000"/>
              </a:lnSpc>
            </a:pPr>
            <a:r>
              <a:rPr lang="zh-CN" altLang="en-US" b="1" dirty="0"/>
              <a:t> </a:t>
            </a:r>
            <a:r>
              <a:rPr lang="zh-CN" altLang="en-US" b="1" dirty="0">
                <a:solidFill>
                  <a:schemeClr val="hlink"/>
                </a:solidFill>
              </a:rPr>
              <a:t>相关子查询的一般处理过程：</a:t>
            </a:r>
            <a:r>
              <a:rPr lang="zh-CN" altLang="en-US" b="1" dirty="0"/>
              <a:t> </a:t>
            </a:r>
            <a:br>
              <a:rPr lang="zh-CN" altLang="en-US" sz="1800" b="1" dirty="0"/>
            </a:br>
            <a:r>
              <a:rPr lang="zh-CN" altLang="en-US" sz="2400" dirty="0"/>
              <a:t>  首先取外层查询中Student表的第一个元组，根据它与内层查询相关的属性值（即Sno值）处理内层查询，若WHERE子句返回值为真（即内层查询结果非空），则取此元组放入结果表；然后再检查Student表的下一个元组；重复这一过程，直至Student表全部检查完毕为止。 </a:t>
            </a:r>
            <a:r>
              <a:rPr lang="zh-CN" altLang="en-US" sz="2400" b="1" dirty="0"/>
              <a:t> </a:t>
            </a:r>
            <a:endParaRPr lang="zh-CN" altLang="en-US" sz="2000" b="1" dirty="0">
              <a:solidFill>
                <a:schemeClr val="hlink"/>
              </a:solidFill>
            </a:endParaRPr>
          </a:p>
        </p:txBody>
      </p:sp>
      <p:sp>
        <p:nvSpPr>
          <p:cNvPr id="3" name="标题 2">
            <a:extLst>
              <a:ext uri="{FF2B5EF4-FFF2-40B4-BE49-F238E27FC236}">
                <a16:creationId xmlns:a16="http://schemas.microsoft.com/office/drawing/2014/main" id="{CC0D7E5D-9FDB-413E-C48F-5C89E0C71161}"/>
              </a:ext>
            </a:extLst>
          </p:cNvPr>
          <p:cNvSpPr>
            <a:spLocks noGrp="1"/>
          </p:cNvSpPr>
          <p:nvPr>
            <p:ph type="title"/>
          </p:nvPr>
        </p:nvSpPr>
        <p:spPr/>
        <p:txBody>
          <a:bodyPr/>
          <a:lstStyle/>
          <a:p>
            <a:r>
              <a:rPr lang="zh-CN" altLang="en-US" dirty="0"/>
              <a:t>相关子查询</a:t>
            </a: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p:cNvSpPr>
          <p:nvPr>
            <p:ph idx="1"/>
          </p:nvPr>
        </p:nvSpPr>
        <p:spPr>
          <a:xfrm>
            <a:off x="166533" y="1328861"/>
            <a:ext cx="5103557" cy="3408735"/>
          </a:xfrm>
        </p:spPr>
        <p:txBody>
          <a:bodyPr vert="horz" wrap="square" lIns="68580" tIns="34290" rIns="68580" bIns="34290" anchor="t" anchorCtr="0">
            <a:normAutofit/>
          </a:bodyPr>
          <a:lstStyle/>
          <a:p>
            <a:pPr marL="0" indent="0">
              <a:buNone/>
            </a:pPr>
            <a:r>
              <a:rPr lang="zh-CN" altLang="en-US" sz="1800" b="1" dirty="0">
                <a:solidFill>
                  <a:schemeClr val="hlink"/>
                </a:solidFill>
              </a:rPr>
              <a:t>[例</a:t>
            </a:r>
            <a:r>
              <a:rPr lang="zh-CN" altLang="en-US" sz="1800" b="1" dirty="0">
                <a:solidFill>
                  <a:schemeClr val="hlink"/>
                </a:solidFill>
                <a:sym typeface="Wingdings" panose="05000000000000000000" pitchFamily="2" charset="2"/>
              </a:rPr>
              <a:t>]</a:t>
            </a:r>
            <a:r>
              <a:rPr lang="zh-CN" altLang="en-US" sz="1800" dirty="0"/>
              <a:t>查询没选修001号课程的学生学号和姓名。</a:t>
            </a:r>
          </a:p>
          <a:p>
            <a:pPr marL="0" indent="0">
              <a:buNone/>
            </a:pPr>
            <a:r>
              <a:rPr lang="zh-CN" altLang="en-US" sz="1800" b="1" dirty="0">
                <a:solidFill>
                  <a:schemeClr val="hlink"/>
                </a:solidFill>
              </a:rPr>
              <a:t>方法1：</a:t>
            </a:r>
          </a:p>
          <a:p>
            <a:pPr marL="0" indent="0">
              <a:buNone/>
            </a:pPr>
            <a:r>
              <a:rPr lang="zh-CN" altLang="en-US" sz="1800" b="1" dirty="0"/>
              <a:t>  </a:t>
            </a:r>
            <a:r>
              <a:rPr lang="zh-CN" altLang="en-US" sz="1800" dirty="0"/>
              <a:t>SELECT sno,sname</a:t>
            </a:r>
          </a:p>
          <a:p>
            <a:pPr marL="0" indent="0">
              <a:buNone/>
            </a:pPr>
            <a:r>
              <a:rPr lang="zh-CN" altLang="en-US" sz="1800" dirty="0"/>
              <a:t>  FROM  Student</a:t>
            </a:r>
          </a:p>
          <a:p>
            <a:pPr marL="0" indent="0">
              <a:buNone/>
            </a:pPr>
            <a:r>
              <a:rPr lang="zh-CN" altLang="en-US" sz="1800" dirty="0"/>
              <a:t>  WHERE</a:t>
            </a:r>
            <a:r>
              <a:rPr lang="zh-CN" altLang="en-US" sz="1800" dirty="0">
                <a:solidFill>
                  <a:schemeClr val="folHlink"/>
                </a:solidFill>
              </a:rPr>
              <a:t>  NOT EXISTS</a:t>
            </a:r>
          </a:p>
          <a:p>
            <a:pPr marL="0" indent="0">
              <a:buNone/>
            </a:pPr>
            <a:r>
              <a:rPr lang="zh-CN" altLang="en-US" sz="1800" dirty="0"/>
              <a:t>                     (SELECT  </a:t>
            </a:r>
            <a:r>
              <a:rPr lang="zh-CN" altLang="en-US" sz="1800" dirty="0">
                <a:solidFill>
                  <a:schemeClr val="folHlink"/>
                </a:solidFill>
              </a:rPr>
              <a:t>*</a:t>
            </a:r>
          </a:p>
          <a:p>
            <a:pPr marL="0" indent="0">
              <a:buNone/>
            </a:pPr>
            <a:r>
              <a:rPr lang="zh-CN" altLang="en-US" sz="1800" dirty="0"/>
              <a:t>                      FROM  SC</a:t>
            </a:r>
          </a:p>
          <a:p>
            <a:pPr marL="0" indent="0">
              <a:buNone/>
            </a:pPr>
            <a:r>
              <a:rPr lang="zh-CN" altLang="en-US" sz="1800" dirty="0"/>
              <a:t>                      WHERE SC.sno=</a:t>
            </a:r>
            <a:r>
              <a:rPr lang="zh-CN" altLang="en-US" sz="1800" dirty="0">
                <a:solidFill>
                  <a:schemeClr val="hlink"/>
                </a:solidFill>
              </a:rPr>
              <a:t>Student.sno</a:t>
            </a:r>
            <a:r>
              <a:rPr lang="zh-CN" altLang="en-US" sz="1800" dirty="0"/>
              <a:t> </a:t>
            </a:r>
          </a:p>
          <a:p>
            <a:pPr marL="0" indent="0">
              <a:buNone/>
            </a:pPr>
            <a:r>
              <a:rPr lang="zh-CN" altLang="en-US" sz="1800" dirty="0"/>
              <a:t>                                       AND cno=’001’)；</a:t>
            </a:r>
          </a:p>
          <a:p>
            <a:pPr marL="0" indent="0"/>
            <a:endParaRPr lang="zh-CN" altLang="en-US" sz="1800" b="1" dirty="0"/>
          </a:p>
        </p:txBody>
      </p:sp>
      <p:sp>
        <p:nvSpPr>
          <p:cNvPr id="63492" name="Rectangle 4"/>
          <p:cNvSpPr>
            <a:spLocks noGrp="1"/>
          </p:cNvSpPr>
          <p:nvPr/>
        </p:nvSpPr>
        <p:spPr>
          <a:xfrm>
            <a:off x="5270090" y="1789893"/>
            <a:ext cx="3746091" cy="2486670"/>
          </a:xfrm>
          <a:prstGeom prst="rect">
            <a:avLst/>
          </a:prstGeom>
          <a:noFill/>
          <a:ln w="9525">
            <a:noFill/>
          </a:ln>
        </p:spPr>
        <p:txBody>
          <a:bodyPr/>
          <a:lstStyle/>
          <a:p>
            <a:pPr marL="257175" indent="-257175">
              <a:spcBef>
                <a:spcPct val="20000"/>
              </a:spcBef>
              <a:buClr>
                <a:schemeClr val="folHlink"/>
              </a:buClr>
              <a:buSzPct val="60000"/>
            </a:pPr>
            <a:r>
              <a:rPr lang="zh-CN" altLang="en-US" b="1" dirty="0">
                <a:solidFill>
                  <a:schemeClr val="hlink"/>
                </a:solidFill>
                <a:latin typeface="Microsoft YaHei" panose="020B0503020204020204" pitchFamily="34" charset="-122"/>
                <a:ea typeface="Microsoft YaHei" panose="020B0503020204020204" pitchFamily="34" charset="-122"/>
              </a:rPr>
              <a:t>方法2：</a:t>
            </a:r>
            <a:endParaRPr lang="zh-CN" altLang="en-US" dirty="0">
              <a:solidFill>
                <a:schemeClr val="hlink"/>
              </a:solidFill>
              <a:latin typeface="Microsoft YaHei" panose="020B0503020204020204" pitchFamily="34" charset="-122"/>
              <a:ea typeface="Microsoft YaHei" panose="020B0503020204020204" pitchFamily="34" charset="-122"/>
            </a:endParaRPr>
          </a:p>
          <a:p>
            <a:pPr marL="257175" indent="-257175">
              <a:spcBef>
                <a:spcPct val="20000"/>
              </a:spcBef>
              <a:buClr>
                <a:schemeClr val="folHlink"/>
              </a:buClr>
              <a:buSzPct val="60000"/>
            </a:pPr>
            <a:r>
              <a:rPr lang="zh-CN" altLang="en-US" dirty="0">
                <a:latin typeface="Microsoft YaHei" panose="020B0503020204020204" pitchFamily="34" charset="-122"/>
                <a:ea typeface="Microsoft YaHei" panose="020B0503020204020204" pitchFamily="34" charset="-122"/>
              </a:rPr>
              <a:t>  SELECT sno,sname</a:t>
            </a:r>
          </a:p>
          <a:p>
            <a:pPr marL="257175" indent="-257175">
              <a:spcBef>
                <a:spcPct val="20000"/>
              </a:spcBef>
              <a:buClr>
                <a:schemeClr val="folHlink"/>
              </a:buClr>
              <a:buSzPct val="60000"/>
            </a:pPr>
            <a:r>
              <a:rPr lang="zh-CN" altLang="en-US" dirty="0">
                <a:latin typeface="Microsoft YaHei" panose="020B0503020204020204" pitchFamily="34" charset="-122"/>
                <a:ea typeface="Microsoft YaHei" panose="020B0503020204020204" pitchFamily="34" charset="-122"/>
              </a:rPr>
              <a:t>  FROM  Student</a:t>
            </a:r>
          </a:p>
          <a:p>
            <a:pPr marL="257175" indent="-257175">
              <a:spcBef>
                <a:spcPct val="20000"/>
              </a:spcBef>
              <a:buClr>
                <a:schemeClr val="folHlink"/>
              </a:buClr>
              <a:buSzPct val="60000"/>
            </a:pPr>
            <a:r>
              <a:rPr lang="zh-CN" altLang="en-US" dirty="0">
                <a:latin typeface="Microsoft YaHei" panose="020B0503020204020204" pitchFamily="34" charset="-122"/>
                <a:ea typeface="Microsoft YaHei" panose="020B0503020204020204" pitchFamily="34" charset="-122"/>
              </a:rPr>
              <a:t>  WHERE</a:t>
            </a:r>
            <a:r>
              <a:rPr lang="zh-CN" altLang="en-US" dirty="0">
                <a:solidFill>
                  <a:schemeClr val="folHlink"/>
                </a:solidFill>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sno</a:t>
            </a:r>
            <a:r>
              <a:rPr lang="en-US" altLang="zh-CN" dirty="0">
                <a:solidFill>
                  <a:schemeClr val="folHlink"/>
                </a:solidFill>
                <a:latin typeface="Microsoft YaHei" panose="020B0503020204020204" pitchFamily="34" charset="-122"/>
                <a:ea typeface="Microsoft YaHei" panose="020B0503020204020204" pitchFamily="34" charset="-122"/>
              </a:rPr>
              <a:t> </a:t>
            </a:r>
            <a:r>
              <a:rPr lang="zh-CN" altLang="en-US" dirty="0">
                <a:solidFill>
                  <a:schemeClr val="folHlink"/>
                </a:solidFill>
                <a:latin typeface="Microsoft YaHei" panose="020B0503020204020204" pitchFamily="34" charset="-122"/>
                <a:ea typeface="Microsoft YaHei" panose="020B0503020204020204" pitchFamily="34" charset="-122"/>
              </a:rPr>
              <a:t>&lt;&gt; ALL</a:t>
            </a:r>
          </a:p>
          <a:p>
            <a:pPr marL="257175" indent="-257175">
              <a:spcBef>
                <a:spcPct val="20000"/>
              </a:spcBef>
              <a:buClr>
                <a:schemeClr val="folHlink"/>
              </a:buClr>
              <a:buSzPct val="60000"/>
            </a:pP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            (SELECT sno</a:t>
            </a:r>
            <a:endParaRPr lang="zh-CN" altLang="en-US" dirty="0">
              <a:solidFill>
                <a:schemeClr val="folHlink"/>
              </a:solidFill>
              <a:latin typeface="Microsoft YaHei" panose="020B0503020204020204" pitchFamily="34" charset="-122"/>
              <a:ea typeface="Microsoft YaHei" panose="020B0503020204020204" pitchFamily="34" charset="-122"/>
            </a:endParaRPr>
          </a:p>
          <a:p>
            <a:pPr marL="257175" indent="-257175">
              <a:spcBef>
                <a:spcPct val="20000"/>
              </a:spcBef>
              <a:buClr>
                <a:schemeClr val="folHlink"/>
              </a:buClr>
              <a:buSzPct val="60000"/>
            </a:pP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             FROM  SC</a:t>
            </a:r>
          </a:p>
          <a:p>
            <a:pPr marL="257175" indent="-257175">
              <a:spcBef>
                <a:spcPct val="20000"/>
              </a:spcBef>
              <a:buClr>
                <a:schemeClr val="folHlink"/>
              </a:buClr>
              <a:buSzPct val="60000"/>
            </a:pP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             WHERE cno=’001’)；</a:t>
            </a:r>
          </a:p>
        </p:txBody>
      </p:sp>
      <p:sp>
        <p:nvSpPr>
          <p:cNvPr id="3" name="标题 2">
            <a:extLst>
              <a:ext uri="{FF2B5EF4-FFF2-40B4-BE49-F238E27FC236}">
                <a16:creationId xmlns:a16="http://schemas.microsoft.com/office/drawing/2014/main" id="{EF5951B1-FE14-E7E9-A956-85CAD129ABFA}"/>
              </a:ext>
            </a:extLst>
          </p:cNvPr>
          <p:cNvSpPr>
            <a:spLocks noGrp="1"/>
          </p:cNvSpPr>
          <p:nvPr>
            <p:ph type="title"/>
          </p:nvPr>
        </p:nvSpPr>
        <p:spPr/>
        <p:txBody>
          <a:bodyPr/>
          <a:lstStyle/>
          <a:p>
            <a:r>
              <a:rPr lang="zh-CN" altLang="en-US" dirty="0"/>
              <a:t>相关子查询</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3492">
                                            <p:txEl>
                                              <p:pRg st="0" end="0"/>
                                            </p:txEl>
                                          </p:spTgt>
                                        </p:tgtEl>
                                        <p:attrNameLst>
                                          <p:attrName>style.visibility</p:attrName>
                                        </p:attrNameLst>
                                      </p:cBhvr>
                                      <p:to>
                                        <p:strVal val="visible"/>
                                      </p:to>
                                    </p:set>
                                    <p:anim calcmode="lin" valueType="num">
                                      <p:cBhvr additive="base">
                                        <p:cTn id="7" dur="500" fill="hold"/>
                                        <p:tgtEl>
                                          <p:spTgt spid="6349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349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3492">
                                            <p:txEl>
                                              <p:pRg st="1" end="1"/>
                                            </p:txEl>
                                          </p:spTgt>
                                        </p:tgtEl>
                                        <p:attrNameLst>
                                          <p:attrName>style.visibility</p:attrName>
                                        </p:attrNameLst>
                                      </p:cBhvr>
                                      <p:to>
                                        <p:strVal val="visible"/>
                                      </p:to>
                                    </p:set>
                                    <p:anim calcmode="lin" valueType="num">
                                      <p:cBhvr additive="base">
                                        <p:cTn id="11" dur="500" fill="hold"/>
                                        <p:tgtEl>
                                          <p:spTgt spid="63492">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3492">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3492">
                                            <p:txEl>
                                              <p:pRg st="2" end="2"/>
                                            </p:txEl>
                                          </p:spTgt>
                                        </p:tgtEl>
                                        <p:attrNameLst>
                                          <p:attrName>style.visibility</p:attrName>
                                        </p:attrNameLst>
                                      </p:cBhvr>
                                      <p:to>
                                        <p:strVal val="visible"/>
                                      </p:to>
                                    </p:set>
                                    <p:anim calcmode="lin" valueType="num">
                                      <p:cBhvr additive="base">
                                        <p:cTn id="15" dur="500" fill="hold"/>
                                        <p:tgtEl>
                                          <p:spTgt spid="63492">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3492">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3492">
                                            <p:txEl>
                                              <p:pRg st="3" end="3"/>
                                            </p:txEl>
                                          </p:spTgt>
                                        </p:tgtEl>
                                        <p:attrNameLst>
                                          <p:attrName>style.visibility</p:attrName>
                                        </p:attrNameLst>
                                      </p:cBhvr>
                                      <p:to>
                                        <p:strVal val="visible"/>
                                      </p:to>
                                    </p:set>
                                    <p:anim calcmode="lin" valueType="num">
                                      <p:cBhvr additive="base">
                                        <p:cTn id="19" dur="500" fill="hold"/>
                                        <p:tgtEl>
                                          <p:spTgt spid="63492">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3492">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3492">
                                            <p:txEl>
                                              <p:pRg st="4" end="4"/>
                                            </p:txEl>
                                          </p:spTgt>
                                        </p:tgtEl>
                                        <p:attrNameLst>
                                          <p:attrName>style.visibility</p:attrName>
                                        </p:attrNameLst>
                                      </p:cBhvr>
                                      <p:to>
                                        <p:strVal val="visible"/>
                                      </p:to>
                                    </p:set>
                                    <p:anim calcmode="lin" valueType="num">
                                      <p:cBhvr additive="base">
                                        <p:cTn id="23" dur="500" fill="hold"/>
                                        <p:tgtEl>
                                          <p:spTgt spid="63492">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63492">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63492">
                                            <p:txEl>
                                              <p:pRg st="5" end="5"/>
                                            </p:txEl>
                                          </p:spTgt>
                                        </p:tgtEl>
                                        <p:attrNameLst>
                                          <p:attrName>style.visibility</p:attrName>
                                        </p:attrNameLst>
                                      </p:cBhvr>
                                      <p:to>
                                        <p:strVal val="visible"/>
                                      </p:to>
                                    </p:set>
                                    <p:anim calcmode="lin" valueType="num">
                                      <p:cBhvr additive="base">
                                        <p:cTn id="27" dur="500" fill="hold"/>
                                        <p:tgtEl>
                                          <p:spTgt spid="63492">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3492">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63492">
                                            <p:txEl>
                                              <p:pRg st="6" end="6"/>
                                            </p:txEl>
                                          </p:spTgt>
                                        </p:tgtEl>
                                        <p:attrNameLst>
                                          <p:attrName>style.visibility</p:attrName>
                                        </p:attrNameLst>
                                      </p:cBhvr>
                                      <p:to>
                                        <p:strVal val="visible"/>
                                      </p:to>
                                    </p:set>
                                    <p:anim calcmode="lin" valueType="num">
                                      <p:cBhvr additive="base">
                                        <p:cTn id="31" dur="500" fill="hold"/>
                                        <p:tgtEl>
                                          <p:spTgt spid="63492">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3492">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3491" name="Rectangle 3"/>
              <p:cNvSpPr>
                <a:spLocks noGrp="1"/>
              </p:cNvSpPr>
              <p:nvPr>
                <p:ph idx="1"/>
              </p:nvPr>
            </p:nvSpPr>
            <p:spPr/>
            <p:txBody>
              <a:bodyPr vert="horz" wrap="square" lIns="68580" tIns="34290" rIns="68580" bIns="34290" anchor="t" anchorCtr="0"/>
              <a:lstStyle/>
              <a:p>
                <a:pPr eaLnBrk="1" hangingPunct="1">
                  <a:lnSpc>
                    <a:spcPct val="120000"/>
                  </a:lnSpc>
                </a:pPr>
                <a:r>
                  <a:rPr lang="en-US" altLang="zh-CN" sz="1800" dirty="0"/>
                  <a:t>SQL</a:t>
                </a:r>
                <a:r>
                  <a:rPr lang="zh-CN" altLang="en-US" sz="1800" dirty="0"/>
                  <a:t>语言中</a:t>
                </a:r>
                <a:r>
                  <a:rPr lang="zh-CN" altLang="en-US" sz="1800" b="1" dirty="0">
                    <a:solidFill>
                      <a:srgbClr val="FF0000"/>
                    </a:solidFill>
                  </a:rPr>
                  <a:t>没有全称量词</a:t>
                </a:r>
                <a14:m>
                  <m:oMath xmlns:m="http://schemas.openxmlformats.org/officeDocument/2006/math">
                    <m:r>
                      <a:rPr lang="zh-CN" altLang="en-US" sz="1800" b="1" i="0" dirty="0" smtClean="0">
                        <a:latin typeface="Cambria Math" panose="02040503050406030204" pitchFamily="18" charset="0"/>
                      </a:rPr>
                      <m:t> </m:t>
                    </m:r>
                    <m:r>
                      <a:rPr lang="zh-CN" altLang="en-US" sz="1800" i="1" dirty="0" smtClean="0">
                        <a:latin typeface="Cambria Math" panose="02040503050406030204" pitchFamily="18" charset="0"/>
                      </a:rPr>
                      <m:t>∀</m:t>
                    </m:r>
                  </m:oMath>
                </a14:m>
                <a:r>
                  <a:rPr lang="zh-CN" altLang="en-US" sz="1800" dirty="0"/>
                  <a:t>（</a:t>
                </a:r>
                <a:r>
                  <a:rPr lang="en-US" altLang="zh-CN" sz="1800" dirty="0"/>
                  <a:t>For all</a:t>
                </a:r>
                <a:r>
                  <a:rPr lang="zh-CN" altLang="en-US" sz="1800" dirty="0"/>
                  <a:t>）。因此对于求所有的操作，必须利用谓词演算将一个带有全称量词的谓词转换为等价的带有存在量词的谓词。 </a:t>
                </a:r>
              </a:p>
              <a:p>
                <a:pPr eaLnBrk="1" hangingPunct="1">
                  <a:lnSpc>
                    <a:spcPct val="120000"/>
                  </a:lnSpc>
                </a:pPr>
                <a:endParaRPr lang="zh-CN" altLang="en-US" sz="1800" dirty="0"/>
              </a:p>
              <a:p>
                <a:pPr eaLnBrk="1" hangingPunct="1">
                  <a:lnSpc>
                    <a:spcPct val="120000"/>
                  </a:lnSpc>
                </a:pPr>
                <a:r>
                  <a:rPr lang="en-US" altLang="zh-CN" sz="1800" dirty="0"/>
                  <a:t>SQL</a:t>
                </a:r>
                <a:r>
                  <a:rPr lang="zh-CN" altLang="en-US" sz="1800" dirty="0"/>
                  <a:t>语言中也</a:t>
                </a:r>
                <a:r>
                  <a:rPr lang="zh-CN" altLang="en-US" sz="1800" b="1" dirty="0">
                    <a:solidFill>
                      <a:srgbClr val="FF0000"/>
                    </a:solidFill>
                  </a:rPr>
                  <a:t>没有蕴涵 </a:t>
                </a:r>
                <a14:m>
                  <m:oMath xmlns:m="http://schemas.openxmlformats.org/officeDocument/2006/math">
                    <m:r>
                      <a:rPr lang="zh-CN" altLang="en-US" sz="1800" b="1" i="1" smtClean="0">
                        <a:solidFill>
                          <a:schemeClr val="tx1"/>
                        </a:solidFill>
                        <a:latin typeface="Cambria Math" panose="02040503050406030204" pitchFamily="18" charset="0"/>
                      </a:rPr>
                      <m:t>⇒</m:t>
                    </m:r>
                  </m:oMath>
                </a14:m>
                <a:r>
                  <a:rPr lang="zh-CN" altLang="en-US" sz="1800" dirty="0"/>
                  <a:t>（</a:t>
                </a:r>
                <a:r>
                  <a:rPr lang="en-US" altLang="zh-CN" sz="1800" dirty="0"/>
                  <a:t>Implication</a:t>
                </a:r>
                <a:r>
                  <a:rPr lang="zh-CN" altLang="en-US" sz="1800" dirty="0"/>
                  <a:t>）逻辑运算。因此也必须利用谓词演算将一个逻辑蕴函的谓词转换为等价的带有存在量词的谓词。</a:t>
                </a:r>
              </a:p>
            </p:txBody>
          </p:sp>
        </mc:Choice>
        <mc:Fallback xmlns="">
          <p:sp>
            <p:nvSpPr>
              <p:cNvPr id="63491" name="Rectangle 3"/>
              <p:cNvSpPr>
                <a:spLocks noGrp="1" noRot="1" noChangeAspect="1" noMove="1" noResize="1" noEditPoints="1" noAdjustHandles="1" noChangeArrowheads="1" noChangeShapeType="1" noTextEdit="1"/>
              </p:cNvSpPr>
              <p:nvPr>
                <p:ph idx="1"/>
              </p:nvPr>
            </p:nvSpPr>
            <p:spPr>
              <a:blipFill>
                <a:blip r:embed="rId2"/>
                <a:stretch>
                  <a:fillRect l="-804" t="-372" r="-322"/>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1674CC2B-17D9-B105-97CA-8D46A01B2763}"/>
              </a:ext>
            </a:extLst>
          </p:cNvPr>
          <p:cNvSpPr>
            <a:spLocks noGrp="1"/>
          </p:cNvSpPr>
          <p:nvPr>
            <p:ph type="title"/>
          </p:nvPr>
        </p:nvSpPr>
        <p:spPr/>
        <p:txBody>
          <a:bodyPr/>
          <a:lstStyle/>
          <a:p>
            <a:r>
              <a:rPr lang="zh-CN" altLang="en-US" dirty="0"/>
              <a:t>相关子查询</a:t>
            </a: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p:cNvSpPr>
          <p:nvPr>
            <p:ph idx="1"/>
          </p:nvPr>
        </p:nvSpPr>
        <p:spPr>
          <a:xfrm>
            <a:off x="42324" y="1238455"/>
            <a:ext cx="2204423" cy="3408735"/>
          </a:xfrm>
        </p:spPr>
        <p:txBody>
          <a:bodyPr vert="horz" wrap="square" lIns="68580" tIns="34290" rIns="68580" bIns="34290" rtlCol="0" anchor="t" anchorCtr="0">
            <a:normAutofit/>
          </a:bodyPr>
          <a:lstStyle/>
          <a:p>
            <a:pPr>
              <a:lnSpc>
                <a:spcPct val="100000"/>
              </a:lnSpc>
              <a:spcBef>
                <a:spcPct val="0"/>
              </a:spcBef>
              <a:buSzPct val="60000"/>
              <a:buFont typeface="Wingdings" panose="05000000000000000000" pitchFamily="2" charset="2"/>
              <a:buNone/>
            </a:pPr>
            <a:r>
              <a:rPr lang="zh-CN" altLang="en-US" sz="1800" b="1" dirty="0">
                <a:solidFill>
                  <a:schemeClr val="hlink"/>
                </a:solidFill>
              </a:rPr>
              <a:t>[例]</a:t>
            </a:r>
            <a:r>
              <a:rPr lang="zh-CN" altLang="en-US" sz="1800" b="1" dirty="0"/>
              <a:t> </a:t>
            </a:r>
            <a:r>
              <a:rPr lang="zh-CN" altLang="en-US" sz="1800" dirty="0"/>
              <a:t>查询选修了全部课程的学生姓名。</a:t>
            </a:r>
          </a:p>
          <a:p>
            <a:pPr>
              <a:lnSpc>
                <a:spcPct val="100000"/>
              </a:lnSpc>
              <a:spcBef>
                <a:spcPct val="0"/>
              </a:spcBef>
              <a:buSzPct val="60000"/>
              <a:buFont typeface="Wingdings" panose="05000000000000000000" pitchFamily="2" charset="2"/>
              <a:buNone/>
            </a:pPr>
            <a:r>
              <a:rPr lang="zh-CN" altLang="en-US" sz="1800" dirty="0"/>
              <a:t>  转换成：查询这样的学生，没有一门课程是他不选修的。</a:t>
            </a:r>
          </a:p>
          <a:p>
            <a:pPr eaLnBrk="1" hangingPunct="1">
              <a:spcBef>
                <a:spcPct val="0"/>
              </a:spcBef>
              <a:buSzPct val="60000"/>
              <a:buFont typeface="Wingdings" panose="05000000000000000000" pitchFamily="2" charset="2"/>
              <a:buNone/>
            </a:pPr>
            <a:endParaRPr lang="en-US" altLang="zh-CN" sz="1800" b="1" dirty="0"/>
          </a:p>
          <a:p>
            <a:pPr eaLnBrk="1" hangingPunct="1">
              <a:spcBef>
                <a:spcPct val="0"/>
              </a:spcBef>
              <a:buSzPct val="60000"/>
              <a:buFont typeface="Wingdings" panose="05000000000000000000" pitchFamily="2" charset="2"/>
              <a:buNone/>
            </a:pPr>
            <a:r>
              <a:rPr lang="zh-CN" altLang="en-US" sz="1800" b="1" dirty="0"/>
              <a:t>(</a:t>
            </a:r>
            <a:r>
              <a:rPr lang="zh-CN" altLang="en-US" sz="1800" b="1" dirty="0">
                <a:sym typeface="Symbol" panose="05050102010706020507" pitchFamily="18" charset="2"/>
              </a:rPr>
              <a:t>x)P ≡ (x(P))</a:t>
            </a:r>
            <a:endParaRPr lang="zh-CN" altLang="en-US" sz="1800" b="1" dirty="0"/>
          </a:p>
          <a:p>
            <a:pPr eaLnBrk="1" hangingPunct="1">
              <a:spcBef>
                <a:spcPct val="0"/>
              </a:spcBef>
              <a:buSzPct val="60000"/>
              <a:buFont typeface="Wingdings" panose="05000000000000000000" pitchFamily="2" charset="2"/>
              <a:buNone/>
            </a:pPr>
            <a:endParaRPr lang="zh-CN" altLang="en-US" sz="1800" b="1" dirty="0"/>
          </a:p>
          <a:p>
            <a:pPr eaLnBrk="1" hangingPunct="1">
              <a:spcBef>
                <a:spcPct val="0"/>
              </a:spcBef>
              <a:buSzPct val="60000"/>
            </a:pPr>
            <a:endParaRPr lang="zh-CN" altLang="en-US" sz="1800" b="1" dirty="0"/>
          </a:p>
          <a:p>
            <a:pPr eaLnBrk="1" hangingPunct="1">
              <a:spcBef>
                <a:spcPct val="0"/>
              </a:spcBef>
              <a:buSzPct val="60000"/>
              <a:buFont typeface="Wingdings" panose="05000000000000000000" pitchFamily="2" charset="2"/>
              <a:buNone/>
            </a:pPr>
            <a:r>
              <a:rPr lang="zh-CN" altLang="en-US" sz="1800" b="1" dirty="0"/>
              <a:t>    </a:t>
            </a:r>
          </a:p>
        </p:txBody>
      </p:sp>
      <p:sp>
        <p:nvSpPr>
          <p:cNvPr id="64516" name="Rectangle 4"/>
          <p:cNvSpPr>
            <a:spLocks noGrp="1"/>
          </p:cNvSpPr>
          <p:nvPr>
            <p:ph sz="half" idx="4294967295"/>
          </p:nvPr>
        </p:nvSpPr>
        <p:spPr>
          <a:xfrm>
            <a:off x="2458833" y="1543050"/>
            <a:ext cx="6685167" cy="3600450"/>
          </a:xfrm>
        </p:spPr>
        <p:txBody>
          <a:bodyPr vert="horz" wrap="square" lIns="68580" tIns="34290" rIns="68580" bIns="34290" rtlCol="0" anchor="t" anchorCtr="0">
            <a:normAutofit/>
          </a:bodyPr>
          <a:lstStyle/>
          <a:p>
            <a:pPr>
              <a:lnSpc>
                <a:spcPct val="100000"/>
              </a:lnSpc>
              <a:buSzPct val="60000"/>
              <a:buFont typeface="Wingdings" panose="05000000000000000000" pitchFamily="2" charset="2"/>
              <a:buNone/>
            </a:pPr>
            <a:r>
              <a:rPr lang="zh-CN" altLang="en-US" sz="1600" dirty="0"/>
              <a:t> </a:t>
            </a:r>
            <a:r>
              <a:rPr lang="zh-CN" altLang="en-US" sz="1600" b="1" dirty="0"/>
              <a:t>SELECT sname</a:t>
            </a:r>
          </a:p>
          <a:p>
            <a:pPr>
              <a:lnSpc>
                <a:spcPct val="100000"/>
              </a:lnSpc>
              <a:buSzPct val="60000"/>
              <a:buFont typeface="Wingdings" panose="05000000000000000000" pitchFamily="2" charset="2"/>
              <a:buNone/>
            </a:pPr>
            <a:r>
              <a:rPr lang="zh-CN" altLang="en-US" sz="1600" b="1" dirty="0"/>
              <a:t>  FROM Student</a:t>
            </a:r>
          </a:p>
          <a:p>
            <a:pPr>
              <a:lnSpc>
                <a:spcPct val="100000"/>
              </a:lnSpc>
              <a:buSzPct val="60000"/>
              <a:buFont typeface="Wingdings" panose="05000000000000000000" pitchFamily="2" charset="2"/>
              <a:buNone/>
            </a:pPr>
            <a:r>
              <a:rPr lang="zh-CN" altLang="en-US" sz="1600" b="1" dirty="0"/>
              <a:t>  WHERE </a:t>
            </a:r>
            <a:r>
              <a:rPr lang="zh-CN" altLang="en-US" sz="1600" b="1" dirty="0">
                <a:solidFill>
                  <a:schemeClr val="folHlink"/>
                </a:solidFill>
              </a:rPr>
              <a:t>NOT EXISTS</a:t>
            </a:r>
            <a:r>
              <a:rPr lang="en-US" altLang="zh-CN" sz="1600" b="1" dirty="0">
                <a:solidFill>
                  <a:schemeClr val="folHlink"/>
                </a:solidFill>
              </a:rPr>
              <a:t> //</a:t>
            </a:r>
            <a:r>
              <a:rPr lang="zh-CN" altLang="en-US" sz="1600" b="1" dirty="0">
                <a:solidFill>
                  <a:schemeClr val="folHlink"/>
                </a:solidFill>
                <a:sym typeface="+mn-ea"/>
              </a:rPr>
              <a:t>某同学选了全部课（没有一门课程是他不选的）</a:t>
            </a:r>
            <a:endParaRPr lang="zh-CN" altLang="en-US" sz="1600" b="1" dirty="0">
              <a:solidFill>
                <a:schemeClr val="folHlink"/>
              </a:solidFill>
            </a:endParaRPr>
          </a:p>
          <a:p>
            <a:pPr>
              <a:lnSpc>
                <a:spcPct val="100000"/>
              </a:lnSpc>
              <a:buSzPct val="60000"/>
              <a:buFont typeface="Wingdings" panose="05000000000000000000" pitchFamily="2" charset="2"/>
              <a:buNone/>
            </a:pPr>
            <a:r>
              <a:rPr lang="zh-CN" altLang="en-US" sz="1600" b="1" dirty="0">
                <a:solidFill>
                  <a:schemeClr val="folHlink"/>
                </a:solidFill>
              </a:rPr>
              <a:t>     </a:t>
            </a:r>
            <a:r>
              <a:rPr lang="zh-CN" altLang="en-US" sz="1600" b="1" dirty="0"/>
              <a:t>( SELECT *</a:t>
            </a:r>
            <a:r>
              <a:rPr lang="en-US" altLang="zh-CN" sz="1600" b="1" dirty="0"/>
              <a:t>  </a:t>
            </a:r>
            <a:r>
              <a:rPr lang="en-US" altLang="zh-CN" sz="1600" b="1" dirty="0">
                <a:solidFill>
                  <a:schemeClr val="folHlink"/>
                </a:solidFill>
                <a:sym typeface="+mn-ea"/>
              </a:rPr>
              <a:t>//</a:t>
            </a:r>
            <a:r>
              <a:rPr lang="zh-CN" altLang="en-US" sz="1600" b="1" dirty="0">
                <a:solidFill>
                  <a:schemeClr val="folHlink"/>
                </a:solidFill>
                <a:sym typeface="+mn-ea"/>
              </a:rPr>
              <a:t>某同学未选任何课，即查询结果为空</a:t>
            </a:r>
            <a:endParaRPr lang="zh-CN" altLang="en-US" sz="1600" b="1" dirty="0">
              <a:solidFill>
                <a:schemeClr val="folHlink"/>
              </a:solidFill>
            </a:endParaRPr>
          </a:p>
          <a:p>
            <a:pPr lvl="2">
              <a:lnSpc>
                <a:spcPct val="100000"/>
              </a:lnSpc>
              <a:buSzPct val="60000"/>
              <a:buFont typeface="Wingdings" panose="05000000000000000000" pitchFamily="2" charset="2"/>
              <a:buNone/>
            </a:pPr>
            <a:r>
              <a:rPr lang="zh-CN" altLang="en-US" sz="1600" b="1" dirty="0"/>
              <a:t> FROM Course</a:t>
            </a:r>
          </a:p>
          <a:p>
            <a:pPr lvl="2">
              <a:lnSpc>
                <a:spcPct val="100000"/>
              </a:lnSpc>
              <a:buSzPct val="60000"/>
              <a:buFont typeface="Wingdings" panose="05000000000000000000" pitchFamily="2" charset="2"/>
              <a:buNone/>
            </a:pPr>
            <a:r>
              <a:rPr lang="zh-CN" altLang="en-US" sz="1600" b="1" dirty="0"/>
              <a:t> WHERE </a:t>
            </a:r>
            <a:r>
              <a:rPr lang="zh-CN" altLang="en-US" sz="1600" b="1" dirty="0">
                <a:solidFill>
                  <a:schemeClr val="folHlink"/>
                </a:solidFill>
              </a:rPr>
              <a:t>NOT EXISTS</a:t>
            </a:r>
            <a:r>
              <a:rPr lang="en-US" altLang="zh-CN" sz="1600" b="1" dirty="0">
                <a:solidFill>
                  <a:schemeClr val="folHlink"/>
                </a:solidFill>
              </a:rPr>
              <a:t> //</a:t>
            </a:r>
            <a:r>
              <a:rPr lang="zh-CN" altLang="zh-CN" sz="1600" b="1" dirty="0">
                <a:solidFill>
                  <a:schemeClr val="folHlink"/>
                </a:solidFill>
              </a:rPr>
              <a:t>否定某同学选某课</a:t>
            </a:r>
            <a:r>
              <a:rPr lang="en-US" altLang="zh-CN" sz="1600" b="1" dirty="0">
                <a:solidFill>
                  <a:schemeClr val="folHlink"/>
                </a:solidFill>
              </a:rPr>
              <a:t> </a:t>
            </a:r>
            <a:endParaRPr lang="zh-CN" altLang="en-US" sz="1600" b="1" dirty="0">
              <a:solidFill>
                <a:schemeClr val="folHlink"/>
              </a:solidFill>
            </a:endParaRPr>
          </a:p>
          <a:p>
            <a:pPr lvl="4">
              <a:lnSpc>
                <a:spcPct val="100000"/>
              </a:lnSpc>
              <a:buSzPct val="60000"/>
              <a:buFont typeface="Wingdings" panose="05000000000000000000" pitchFamily="2" charset="2"/>
              <a:buNone/>
            </a:pPr>
            <a:r>
              <a:rPr lang="zh-CN" altLang="en-US" sz="1600" b="1" dirty="0"/>
              <a:t> ( SELECT *</a:t>
            </a:r>
            <a:r>
              <a:rPr lang="en-US" altLang="zh-CN" sz="1600" b="1" dirty="0"/>
              <a:t> </a:t>
            </a:r>
            <a:r>
              <a:rPr lang="en-US" altLang="zh-CN" sz="1600" b="1" dirty="0">
                <a:sym typeface="+mn-ea"/>
              </a:rPr>
              <a:t>//</a:t>
            </a:r>
            <a:r>
              <a:rPr lang="zh-CN" altLang="en-US" sz="1600" b="1" dirty="0">
                <a:sym typeface="+mn-ea"/>
              </a:rPr>
              <a:t>某同学选某课</a:t>
            </a:r>
            <a:endParaRPr lang="zh-CN" altLang="en-US" sz="1600" b="1" dirty="0"/>
          </a:p>
          <a:p>
            <a:pPr lvl="4">
              <a:lnSpc>
                <a:spcPct val="100000"/>
              </a:lnSpc>
              <a:buSzPct val="60000"/>
              <a:buFont typeface="Wingdings" panose="05000000000000000000" pitchFamily="2" charset="2"/>
              <a:buNone/>
            </a:pPr>
            <a:r>
              <a:rPr lang="zh-CN" altLang="en-US" sz="1600" b="1" dirty="0"/>
              <a:t>   FROM  SC</a:t>
            </a:r>
          </a:p>
          <a:p>
            <a:pPr lvl="4">
              <a:lnSpc>
                <a:spcPct val="100000"/>
              </a:lnSpc>
              <a:buSzPct val="60000"/>
              <a:buFont typeface="Wingdings" panose="05000000000000000000" pitchFamily="2" charset="2"/>
              <a:buNone/>
            </a:pPr>
            <a:r>
              <a:rPr lang="zh-CN" altLang="en-US" sz="1600" b="1" dirty="0"/>
              <a:t>   WHERE  SC.sno=Student.sno</a:t>
            </a:r>
          </a:p>
          <a:p>
            <a:pPr lvl="4">
              <a:lnSpc>
                <a:spcPct val="100000"/>
              </a:lnSpc>
              <a:buSzPct val="60000"/>
              <a:buFont typeface="Wingdings" panose="05000000000000000000" pitchFamily="2" charset="2"/>
              <a:buNone/>
            </a:pPr>
            <a:r>
              <a:rPr lang="zh-CN" altLang="en-US" sz="1600" b="1" dirty="0"/>
              <a:t>      AND  SC.cno=Course.cno))；</a:t>
            </a:r>
          </a:p>
        </p:txBody>
      </p:sp>
      <p:sp>
        <p:nvSpPr>
          <p:cNvPr id="64517" name="AutoShape 5"/>
          <p:cNvSpPr/>
          <p:nvPr/>
        </p:nvSpPr>
        <p:spPr>
          <a:xfrm>
            <a:off x="7525418" y="2684380"/>
            <a:ext cx="471488" cy="2074049"/>
          </a:xfrm>
          <a:prstGeom prst="rightBrace">
            <a:avLst>
              <a:gd name="adj1" fmla="val 41322"/>
              <a:gd name="adj2" fmla="val 50000"/>
            </a:avLst>
          </a:prstGeom>
          <a:noFill/>
          <a:ln w="38100" cap="flat" cmpd="sng">
            <a:solidFill>
              <a:schemeClr val="folHlink"/>
            </a:solidFill>
            <a:prstDash val="soli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                                 </a:t>
            </a:r>
          </a:p>
        </p:txBody>
      </p:sp>
      <p:sp>
        <p:nvSpPr>
          <p:cNvPr id="64518" name="Text Box 6"/>
          <p:cNvSpPr txBox="1"/>
          <p:nvPr/>
        </p:nvSpPr>
        <p:spPr>
          <a:xfrm>
            <a:off x="8080725" y="3047434"/>
            <a:ext cx="400050" cy="1338828"/>
          </a:xfrm>
          <a:prstGeom prst="rect">
            <a:avLst/>
          </a:prstGeom>
          <a:solidFill>
            <a:srgbClr val="BFFFEE"/>
          </a:solid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1350" dirty="0">
                <a:latin typeface="Microsoft YaHei" panose="020B0503020204020204" pitchFamily="34" charset="-122"/>
                <a:ea typeface="Microsoft YaHei" panose="020B0503020204020204" pitchFamily="34" charset="-122"/>
              </a:rPr>
              <a:t>每门课都没选</a:t>
            </a:r>
          </a:p>
        </p:txBody>
      </p:sp>
      <p:sp>
        <p:nvSpPr>
          <p:cNvPr id="64519" name="AutoShape 7"/>
          <p:cNvSpPr/>
          <p:nvPr/>
        </p:nvSpPr>
        <p:spPr>
          <a:xfrm>
            <a:off x="3949657" y="3667047"/>
            <a:ext cx="239078" cy="1091381"/>
          </a:xfrm>
          <a:prstGeom prst="leftBrace">
            <a:avLst>
              <a:gd name="adj1" fmla="val 50000"/>
              <a:gd name="adj2" fmla="val 50000"/>
            </a:avLst>
          </a:prstGeom>
          <a:noFill/>
          <a:ln w="38100" cap="flat" cmpd="sng">
            <a:solidFill>
              <a:schemeClr val="folHlink"/>
            </a:solidFill>
            <a:prstDash val="solid"/>
            <a:headEnd type="none" w="med" len="med"/>
            <a:tailEnd type="none" w="med" len="med"/>
          </a:ln>
        </p:spPr>
        <p:txBody>
          <a:bodyPr wrap="none" anchor="ctr" anchorCtr="0"/>
          <a:lstStyle/>
          <a:p>
            <a:pPr algn="ctr"/>
            <a:endParaRPr lang="zh-CN" altLang="en-US" sz="1350" dirty="0">
              <a:latin typeface="Microsoft YaHei" panose="020B0503020204020204" pitchFamily="34" charset="-122"/>
              <a:ea typeface="Microsoft YaHei" panose="020B0503020204020204" pitchFamily="34" charset="-122"/>
            </a:endParaRPr>
          </a:p>
        </p:txBody>
      </p:sp>
      <p:sp>
        <p:nvSpPr>
          <p:cNvPr id="64520" name="Text Box 8"/>
          <p:cNvSpPr txBox="1"/>
          <p:nvPr/>
        </p:nvSpPr>
        <p:spPr>
          <a:xfrm>
            <a:off x="3366941" y="3543323"/>
            <a:ext cx="400050" cy="1338828"/>
          </a:xfrm>
          <a:prstGeom prst="rect">
            <a:avLst/>
          </a:prstGeom>
          <a:solidFill>
            <a:srgbClr val="FFF1B5"/>
          </a:solid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1350" dirty="0">
                <a:latin typeface="Microsoft YaHei" panose="020B0503020204020204" pitchFamily="34" charset="-122"/>
                <a:ea typeface="Microsoft YaHei" panose="020B0503020204020204" pitchFamily="34" charset="-122"/>
              </a:rPr>
              <a:t>某学生选某课</a:t>
            </a:r>
          </a:p>
        </p:txBody>
      </p:sp>
      <p:sp>
        <p:nvSpPr>
          <p:cNvPr id="3" name="标题 2">
            <a:extLst>
              <a:ext uri="{FF2B5EF4-FFF2-40B4-BE49-F238E27FC236}">
                <a16:creationId xmlns:a16="http://schemas.microsoft.com/office/drawing/2014/main" id="{4F50C26F-3A5A-A817-0E9D-E05F90BE77CA}"/>
              </a:ext>
            </a:extLst>
          </p:cNvPr>
          <p:cNvSpPr>
            <a:spLocks noGrp="1"/>
          </p:cNvSpPr>
          <p:nvPr>
            <p:ph type="title"/>
          </p:nvPr>
        </p:nvSpPr>
        <p:spPr/>
        <p:txBody>
          <a:bodyPr/>
          <a:lstStyle/>
          <a:p>
            <a:r>
              <a:rPr lang="zh-CN" altLang="en-US" dirty="0"/>
              <a:t>相关子查询</a:t>
            </a: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1" y="1253548"/>
            <a:ext cx="3873910" cy="3352800"/>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0" indent="0" eaLnBrk="1" hangingPunct="1">
              <a:lnSpc>
                <a:spcPct val="120000"/>
              </a:lnSpc>
              <a:buNone/>
            </a:pPr>
            <a:r>
              <a:rPr lang="en-US" altLang="zh-CN" sz="1800" b="1" dirty="0">
                <a:solidFill>
                  <a:schemeClr val="hlink"/>
                </a:solidFill>
                <a:latin typeface="Microsoft YaHei" panose="020B0503020204020204" pitchFamily="34" charset="-122"/>
                <a:ea typeface="Microsoft YaHei" panose="020B0503020204020204" pitchFamily="34" charset="-122"/>
              </a:rPr>
              <a:t>[</a:t>
            </a:r>
            <a:r>
              <a:rPr lang="zh-CN" altLang="en-US" sz="1800" b="1" dirty="0">
                <a:solidFill>
                  <a:schemeClr val="hlink"/>
                </a:solidFill>
                <a:latin typeface="Microsoft YaHei" panose="020B0503020204020204" pitchFamily="34" charset="-122"/>
                <a:ea typeface="Microsoft YaHei" panose="020B0503020204020204" pitchFamily="34" charset="-122"/>
              </a:rPr>
              <a:t>例</a:t>
            </a:r>
            <a:r>
              <a:rPr lang="en-US" altLang="zh-CN" sz="1800" b="1" dirty="0">
                <a:solidFill>
                  <a:schemeClr val="hlink"/>
                </a:solidFill>
                <a:latin typeface="Microsoft YaHei" panose="020B0503020204020204" pitchFamily="34" charset="-122"/>
                <a:ea typeface="Microsoft YaHei" panose="020B0503020204020204" pitchFamily="34" charset="-122"/>
              </a:rPr>
              <a:t>]</a:t>
            </a:r>
            <a:r>
              <a:rPr lang="zh-CN" altLang="en-US" sz="1800" b="1" dirty="0">
                <a:solidFill>
                  <a:schemeClr val="hlink"/>
                </a:solidFill>
                <a:latin typeface="Microsoft YaHei" panose="020B0503020204020204" pitchFamily="34" charset="-122"/>
                <a:ea typeface="Microsoft YaHei" panose="020B0503020204020204" pitchFamily="34" charset="-122"/>
              </a:rPr>
              <a:t> </a:t>
            </a:r>
            <a:r>
              <a:rPr lang="en-US" altLang="zh-CN" sz="1800" dirty="0" err="1">
                <a:latin typeface="Microsoft YaHei" panose="020B0503020204020204" pitchFamily="34" charset="-122"/>
                <a:ea typeface="Microsoft YaHei" panose="020B0503020204020204" pitchFamily="34" charset="-122"/>
              </a:rPr>
              <a:t>查询至少选修了学号为</a:t>
            </a:r>
            <a:r>
              <a:rPr lang="zh-CN" altLang="en-US" sz="1800" dirty="0">
                <a:latin typeface="Microsoft YaHei" panose="020B0503020204020204" pitchFamily="34" charset="-122"/>
                <a:ea typeface="Microsoft YaHei" panose="020B0503020204020204" pitchFamily="34" charset="-122"/>
              </a:rPr>
              <a:t>200101的学生选修的全部课程的学生学号。</a:t>
            </a:r>
            <a:endParaRPr lang="zh-CN" altLang="en-US" sz="1800" b="1" dirty="0">
              <a:latin typeface="Microsoft YaHei" panose="020B0503020204020204" pitchFamily="34" charset="-122"/>
              <a:ea typeface="Microsoft YaHei" panose="020B0503020204020204" pitchFamily="34" charset="-122"/>
            </a:endParaRPr>
          </a:p>
          <a:p>
            <a:pPr marL="0" indent="0" eaLnBrk="1" hangingPunct="1">
              <a:lnSpc>
                <a:spcPct val="120000"/>
              </a:lnSpc>
            </a:pPr>
            <a:r>
              <a:rPr lang="en-US" altLang="zh-CN" sz="1800" b="1" dirty="0">
                <a:solidFill>
                  <a:schemeClr val="hlink"/>
                </a:solidFill>
                <a:latin typeface="Microsoft YaHei" panose="020B0503020204020204" pitchFamily="34" charset="-122"/>
                <a:ea typeface="Microsoft YaHei" panose="020B0503020204020204" pitchFamily="34" charset="-122"/>
              </a:rPr>
              <a:t> </a:t>
            </a:r>
            <a:r>
              <a:rPr lang="zh-CN" altLang="en-US" sz="1800" b="1" dirty="0">
                <a:solidFill>
                  <a:schemeClr val="hlink"/>
                </a:solidFill>
                <a:latin typeface="Microsoft YaHei" panose="020B0503020204020204" pitchFamily="34" charset="-122"/>
                <a:ea typeface="Microsoft YaHei" panose="020B0503020204020204" pitchFamily="34" charset="-122"/>
              </a:rPr>
              <a:t>分析：</a:t>
            </a:r>
            <a:r>
              <a:rPr lang="zh-CN" altLang="en-US" sz="1800" dirty="0">
                <a:latin typeface="Microsoft YaHei" panose="020B0503020204020204" pitchFamily="34" charset="-122"/>
                <a:ea typeface="Microsoft YaHei" panose="020B0503020204020204" pitchFamily="34" charset="-122"/>
              </a:rPr>
              <a:t>查询这样的学生，凡是200101选修的课，他都选修了。换句话说，若有一个学号为x的学生，对所有的课程y，只要学号为200101的学生选修了课程y，则x也选修了y；那么就将他的学号选出来。它所表达的语义为：不存在这样的课程y，学生200101选修了y，而学生x没有选。 </a:t>
            </a:r>
          </a:p>
          <a:p>
            <a:pPr marL="0" indent="0" eaLnBrk="1" hangingPunct="1">
              <a:buNone/>
            </a:pPr>
            <a:endParaRPr lang="zh-CN" altLang="en-US" sz="1800" b="1" dirty="0">
              <a:latin typeface="Microsoft YaHei" panose="020B0503020204020204" pitchFamily="34" charset="-122"/>
              <a:ea typeface="Microsoft YaHei" panose="020B0503020204020204" pitchFamily="34" charset="-122"/>
            </a:endParaRPr>
          </a:p>
        </p:txBody>
      </p:sp>
      <p:sp>
        <p:nvSpPr>
          <p:cNvPr id="6" name="标题 5">
            <a:extLst>
              <a:ext uri="{FF2B5EF4-FFF2-40B4-BE49-F238E27FC236}">
                <a16:creationId xmlns:a16="http://schemas.microsoft.com/office/drawing/2014/main" id="{B8176A25-5B4A-38BA-A080-F13144F511DE}"/>
              </a:ext>
            </a:extLst>
          </p:cNvPr>
          <p:cNvSpPr>
            <a:spLocks noGrp="1"/>
          </p:cNvSpPr>
          <p:nvPr>
            <p:ph type="title"/>
          </p:nvPr>
        </p:nvSpPr>
        <p:spPr/>
        <p:txBody>
          <a:bodyPr/>
          <a:lstStyle/>
          <a:p>
            <a:r>
              <a:rPr lang="zh-CN" altLang="en-US" dirty="0"/>
              <a:t>相关子查询</a:t>
            </a:r>
          </a:p>
        </p:txBody>
      </p:sp>
      <p:sp>
        <p:nvSpPr>
          <p:cNvPr id="7" name="Rectangle 3">
            <a:extLst>
              <a:ext uri="{FF2B5EF4-FFF2-40B4-BE49-F238E27FC236}">
                <a16:creationId xmlns:a16="http://schemas.microsoft.com/office/drawing/2014/main" id="{2CC83FE0-DBF7-12EF-8FCE-23123618093C}"/>
              </a:ext>
            </a:extLst>
          </p:cNvPr>
          <p:cNvSpPr>
            <a:spLocks noGrp="1"/>
          </p:cNvSpPr>
          <p:nvPr>
            <p:custDataLst>
              <p:tags r:id="rId2"/>
            </p:custDataLst>
          </p:nvPr>
        </p:nvSpPr>
        <p:spPr>
          <a:xfrm>
            <a:off x="3991898" y="1485835"/>
            <a:ext cx="5270087" cy="3037004"/>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en-US" altLang="zh-CN" sz="1600" dirty="0">
                <a:latin typeface="Microsoft YaHei" panose="020B0503020204020204" pitchFamily="34" charset="-122"/>
                <a:ea typeface="Microsoft YaHei" panose="020B0503020204020204" pitchFamily="34" charset="-122"/>
              </a:rPr>
              <a:t>SELECT sno</a:t>
            </a:r>
          </a:p>
          <a:p>
            <a:pPr eaLnBrk="1" hangingPunct="1">
              <a:buNone/>
            </a:pPr>
            <a:r>
              <a:rPr lang="en-US" altLang="zh-CN" sz="1600" dirty="0">
                <a:latin typeface="Microsoft YaHei" panose="020B0503020204020204" pitchFamily="34" charset="-122"/>
                <a:ea typeface="Microsoft YaHei" panose="020B0503020204020204" pitchFamily="34" charset="-122"/>
              </a:rPr>
              <a:t>FROM Student  </a:t>
            </a:r>
            <a:r>
              <a:rPr lang="en-US" altLang="zh-CN" sz="1600" dirty="0">
                <a:solidFill>
                  <a:schemeClr val="hlink"/>
                </a:solidFill>
                <a:latin typeface="Microsoft YaHei" panose="020B0503020204020204" pitchFamily="34" charset="-122"/>
                <a:ea typeface="Microsoft YaHei" panose="020B0503020204020204" pitchFamily="34" charset="-122"/>
              </a:rPr>
              <a:t>X</a:t>
            </a:r>
          </a:p>
          <a:p>
            <a:pPr eaLnBrk="1" hangingPunct="1">
              <a:buNone/>
            </a:pPr>
            <a:r>
              <a:rPr lang="en-US" altLang="zh-CN" sz="1600" dirty="0">
                <a:latin typeface="Microsoft YaHei" panose="020B0503020204020204" pitchFamily="34" charset="-122"/>
                <a:ea typeface="Microsoft YaHei" panose="020B0503020204020204" pitchFamily="34" charset="-122"/>
              </a:rPr>
              <a:t>WHERE NOT EXISTS</a:t>
            </a:r>
          </a:p>
          <a:p>
            <a:pPr eaLnBrk="1" hangingPunct="1">
              <a:buNone/>
            </a:pPr>
            <a:r>
              <a:rPr lang="en-US" altLang="zh-CN" sz="1600" dirty="0">
                <a:latin typeface="Microsoft YaHei" panose="020B0503020204020204" pitchFamily="34" charset="-122"/>
                <a:ea typeface="Microsoft YaHei" panose="020B0503020204020204" pitchFamily="34" charset="-122"/>
              </a:rPr>
              <a:t>       (SELECT *</a:t>
            </a:r>
          </a:p>
          <a:p>
            <a:pPr eaLnBrk="1" hangingPunct="1">
              <a:buNone/>
            </a:pPr>
            <a:r>
              <a:rPr lang="en-US" altLang="zh-CN" sz="1600" dirty="0">
                <a:latin typeface="Microsoft YaHei" panose="020B0503020204020204" pitchFamily="34" charset="-122"/>
                <a:ea typeface="Microsoft YaHei" panose="020B0503020204020204" pitchFamily="34" charset="-122"/>
              </a:rPr>
              <a:t>        FROM SC </a:t>
            </a:r>
            <a:r>
              <a:rPr lang="en-US" altLang="zh-CN" sz="1600" dirty="0">
                <a:solidFill>
                  <a:schemeClr val="hlink"/>
                </a:solidFill>
                <a:latin typeface="Microsoft YaHei" panose="020B0503020204020204" pitchFamily="34" charset="-122"/>
                <a:ea typeface="Microsoft YaHei" panose="020B0503020204020204" pitchFamily="34" charset="-122"/>
              </a:rPr>
              <a:t>Y</a:t>
            </a:r>
          </a:p>
          <a:p>
            <a:pPr eaLnBrk="1" hangingPunct="1">
              <a:buNone/>
            </a:pPr>
            <a:r>
              <a:rPr lang="en-US" altLang="zh-CN" sz="1600" dirty="0">
                <a:latin typeface="Microsoft YaHei" panose="020B0503020204020204" pitchFamily="34" charset="-122"/>
                <a:ea typeface="Microsoft YaHei" panose="020B0503020204020204" pitchFamily="34" charset="-122"/>
              </a:rPr>
              <a:t>        WHERE Y.sno=‘200101’AND</a:t>
            </a:r>
          </a:p>
          <a:p>
            <a:pPr eaLnBrk="1" hangingPunct="1">
              <a:buNone/>
            </a:pPr>
            <a:r>
              <a:rPr lang="en-US" altLang="zh-CN" sz="1600" dirty="0">
                <a:latin typeface="Microsoft YaHei" panose="020B0503020204020204" pitchFamily="34" charset="-122"/>
                <a:ea typeface="Microsoft YaHei" panose="020B0503020204020204" pitchFamily="34" charset="-122"/>
              </a:rPr>
              <a:t>               NOT EXISTS</a:t>
            </a:r>
          </a:p>
          <a:p>
            <a:pPr eaLnBrk="1" hangingPunct="1">
              <a:buNone/>
            </a:pPr>
            <a:r>
              <a:rPr lang="en-US" altLang="zh-CN" sz="1600" dirty="0">
                <a:latin typeface="Microsoft YaHei" panose="020B0503020204020204" pitchFamily="34" charset="-122"/>
                <a:ea typeface="Microsoft YaHei" panose="020B0503020204020204" pitchFamily="34" charset="-122"/>
              </a:rPr>
              <a:t>                 (SELECT *</a:t>
            </a:r>
          </a:p>
          <a:p>
            <a:pPr eaLnBrk="1" hangingPunct="1">
              <a:buNone/>
            </a:pPr>
            <a:r>
              <a:rPr lang="en-US" altLang="zh-CN" sz="1600" dirty="0">
                <a:latin typeface="Microsoft YaHei" panose="020B0503020204020204" pitchFamily="34" charset="-122"/>
                <a:ea typeface="Microsoft YaHei" panose="020B0503020204020204" pitchFamily="34" charset="-122"/>
              </a:rPr>
              <a:t>                  FROM SC </a:t>
            </a:r>
            <a:r>
              <a:rPr lang="en-US" altLang="zh-CN" sz="1600" dirty="0">
                <a:solidFill>
                  <a:schemeClr val="hlink"/>
                </a:solidFill>
                <a:latin typeface="Microsoft YaHei" panose="020B0503020204020204" pitchFamily="34" charset="-122"/>
                <a:ea typeface="Microsoft YaHei" panose="020B0503020204020204" pitchFamily="34" charset="-122"/>
              </a:rPr>
              <a:t>Z</a:t>
            </a:r>
          </a:p>
          <a:p>
            <a:pPr eaLnBrk="1" hangingPunct="1">
              <a:buNone/>
            </a:pPr>
            <a:r>
              <a:rPr lang="en-US" altLang="zh-CN" sz="1600" dirty="0">
                <a:latin typeface="Microsoft YaHei" panose="020B0503020204020204" pitchFamily="34" charset="-122"/>
                <a:ea typeface="Microsoft YaHei" panose="020B0503020204020204" pitchFamily="34" charset="-122"/>
              </a:rPr>
              <a:t>                  WHERE X.sno=Z.sno AND Y.cno=</a:t>
            </a:r>
            <a:r>
              <a:rPr lang="en-US" altLang="zh-CN" sz="1600" dirty="0" err="1">
                <a:latin typeface="Microsoft YaHei" panose="020B0503020204020204" pitchFamily="34" charset="-122"/>
                <a:ea typeface="Microsoft YaHei" panose="020B0503020204020204" pitchFamily="34" charset="-122"/>
              </a:rPr>
              <a:t>Z.cno</a:t>
            </a:r>
            <a:r>
              <a:rPr lang="en-US" altLang="zh-CN" sz="1600" dirty="0">
                <a:latin typeface="Microsoft YaHei" panose="020B0503020204020204" pitchFamily="34" charset="-122"/>
                <a:ea typeface="Microsoft YaHei" panose="020B0503020204020204" pitchFamily="34" charset="-122"/>
              </a:rPr>
              <a:t>))</a:t>
            </a: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612" name="Object 4"/>
          <p:cNvGraphicFramePr>
            <a:graphicFrameLocks noChangeAspect="1"/>
          </p:cNvGraphicFramePr>
          <p:nvPr/>
        </p:nvGraphicFramePr>
        <p:xfrm>
          <a:off x="6286500" y="3514725"/>
          <a:ext cx="1543050" cy="1285875"/>
        </p:xfrm>
        <a:graphic>
          <a:graphicData uri="http://schemas.openxmlformats.org/presentationml/2006/ole">
            <mc:AlternateContent xmlns:mc="http://schemas.openxmlformats.org/markup-compatibility/2006">
              <mc:Choice xmlns:v="urn:schemas-microsoft-com:vml" Requires="v">
                <p:oleObj r:id="rId3" imgW="6286500" imgH="4610100" progId="">
                  <p:embed/>
                </p:oleObj>
              </mc:Choice>
              <mc:Fallback>
                <p:oleObj r:id="rId3" imgW="6286500" imgH="4610100" progId="">
                  <p:embed/>
                  <p:pic>
                    <p:nvPicPr>
                      <p:cNvPr id="68612" name="Object 4"/>
                      <p:cNvPicPr/>
                      <p:nvPr/>
                    </p:nvPicPr>
                    <p:blipFill>
                      <a:blip r:embed="rId4">
                        <a:clrChange>
                          <a:clrFrom>
                            <a:srgbClr val="000000"/>
                          </a:clrFrom>
                          <a:clrTo>
                            <a:srgbClr val="FF0000"/>
                          </a:clrTo>
                        </a:clrChange>
                        <a:clrChange>
                          <a:clrFrom>
                            <a:srgbClr val="6666FF"/>
                          </a:clrFrom>
                          <a:clrTo>
                            <a:srgbClr val="1C1C1C"/>
                          </a:clrTo>
                        </a:clrChange>
                        <a:clrChange>
                          <a:clrFrom>
                            <a:srgbClr val="8080FF"/>
                          </a:clrFrom>
                          <a:clrTo>
                            <a:srgbClr val="1C1C1C"/>
                          </a:clrTo>
                        </a:clrChange>
                        <a:clrChange>
                          <a:clrFrom>
                            <a:srgbClr val="9999FF"/>
                          </a:clrFrom>
                          <a:clrTo>
                            <a:srgbClr val="1C1C1C"/>
                          </a:clrTo>
                        </a:clrChange>
                      </a:blip>
                      <a:stretch>
                        <a:fillRect/>
                      </a:stretch>
                    </p:blipFill>
                    <p:spPr>
                      <a:xfrm>
                        <a:off x="6286500" y="3514725"/>
                        <a:ext cx="1543050" cy="1285875"/>
                      </a:xfrm>
                      <a:prstGeom prst="rect">
                        <a:avLst/>
                      </a:prstGeom>
                      <a:noFill/>
                      <a:ln w="38100">
                        <a:noFill/>
                        <a:miter/>
                      </a:ln>
                    </p:spPr>
                  </p:pic>
                </p:oleObj>
              </mc:Fallback>
            </mc:AlternateContent>
          </a:graphicData>
        </a:graphic>
      </p:graphicFrame>
      <p:sp>
        <p:nvSpPr>
          <p:cNvPr id="2" name="Rectangle 3"/>
          <p:cNvSpPr>
            <a:spLocks noGrp="1"/>
          </p:cNvSpPr>
          <p:nvPr>
            <p:custDataLst>
              <p:tags r:id="rId1"/>
            </p:custDataLst>
          </p:nvPr>
        </p:nvSpPr>
        <p:spPr>
          <a:xfrm>
            <a:off x="438179" y="1100138"/>
            <a:ext cx="8283109" cy="3547052"/>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algn="just" eaLnBrk="1" hangingPunct="1">
              <a:buNone/>
            </a:pPr>
            <a:r>
              <a:rPr lang="zh-CN" altLang="en-US" sz="1800" b="1" dirty="0">
                <a:latin typeface="Microsoft YaHei" panose="020B0503020204020204" pitchFamily="34" charset="-122"/>
                <a:ea typeface="Microsoft YaHei" panose="020B0503020204020204" pitchFamily="34" charset="-122"/>
              </a:rPr>
              <a:t>（1）UNION     （并）</a:t>
            </a:r>
          </a:p>
          <a:p>
            <a:pPr algn="just" eaLnBrk="1" hangingPunct="1">
              <a:buNone/>
            </a:pPr>
            <a:r>
              <a:rPr lang="zh-CN" altLang="en-US" sz="1800" b="1" dirty="0">
                <a:latin typeface="Microsoft YaHei" panose="020B0503020204020204" pitchFamily="34" charset="-122"/>
                <a:ea typeface="Microsoft YaHei" panose="020B0503020204020204" pitchFamily="34" charset="-122"/>
              </a:rPr>
              <a:t>（2）INTERSECT （交）</a:t>
            </a:r>
          </a:p>
          <a:p>
            <a:pPr algn="just" eaLnBrk="1" hangingPunct="1">
              <a:buNone/>
            </a:pPr>
            <a:r>
              <a:rPr lang="zh-CN" altLang="en-US" sz="1800" b="1" dirty="0">
                <a:latin typeface="Microsoft YaHei" panose="020B0503020204020204" pitchFamily="34" charset="-122"/>
                <a:ea typeface="Microsoft YaHei" panose="020B0503020204020204" pitchFamily="34" charset="-122"/>
              </a:rPr>
              <a:t>（3）EXCEPT    （差）</a:t>
            </a:r>
          </a:p>
          <a:p>
            <a:pPr algn="just" eaLnBrk="1" hangingPunct="1">
              <a:buNone/>
            </a:pPr>
            <a:r>
              <a:rPr lang="zh-CN" altLang="en-US" sz="1800" b="1" dirty="0">
                <a:solidFill>
                  <a:schemeClr val="hlink"/>
                </a:solidFill>
                <a:latin typeface="Microsoft YaHei" panose="020B0503020204020204" pitchFamily="34" charset="-122"/>
                <a:ea typeface="Microsoft YaHei" panose="020B0503020204020204" pitchFamily="34" charset="-122"/>
              </a:rPr>
              <a:t>[例]</a:t>
            </a:r>
            <a:r>
              <a:rPr lang="zh-CN" altLang="en-US" sz="1800" dirty="0">
                <a:latin typeface="Microsoft YaHei" panose="020B0503020204020204" pitchFamily="34" charset="-122"/>
                <a:ea typeface="Microsoft YaHei" panose="020B0503020204020204" pitchFamily="34" charset="-122"/>
              </a:rPr>
              <a:t>求选修了001或002号而没有选003号课程的学生号。</a:t>
            </a:r>
          </a:p>
          <a:p>
            <a:pPr algn="just" eaLnBrk="1" hangingPunct="1">
              <a:buNone/>
            </a:pPr>
            <a:r>
              <a:rPr lang="zh-CN" altLang="en-US" sz="1800" b="1"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(SELECT sno</a:t>
            </a:r>
          </a:p>
          <a:p>
            <a:pPr algn="just" eaLnBrk="1" hangingPunct="1">
              <a:buNone/>
            </a:pPr>
            <a:r>
              <a:rPr lang="zh-CN" altLang="en-US" sz="1800" dirty="0">
                <a:latin typeface="Microsoft YaHei" panose="020B0503020204020204" pitchFamily="34" charset="-122"/>
                <a:ea typeface="Microsoft YaHei" panose="020B0503020204020204" pitchFamily="34" charset="-122"/>
              </a:rPr>
              <a:t>    FROM  SC</a:t>
            </a:r>
          </a:p>
          <a:p>
            <a:pPr algn="just" eaLnBrk="1" hangingPunct="1">
              <a:buNone/>
            </a:pPr>
            <a:r>
              <a:rPr lang="zh-CN" altLang="en-US" sz="1800" dirty="0">
                <a:latin typeface="Microsoft YaHei" panose="020B0503020204020204" pitchFamily="34" charset="-122"/>
                <a:ea typeface="Microsoft YaHei" panose="020B0503020204020204" pitchFamily="34" charset="-122"/>
              </a:rPr>
              <a:t>    WHERE cno =’001’OR cno =’002’)</a:t>
            </a:r>
          </a:p>
          <a:p>
            <a:pPr algn="just" eaLnBrk="1" hangingPunct="1">
              <a:buNone/>
            </a:pPr>
            <a:r>
              <a:rPr lang="zh-CN" altLang="en-US" sz="1800" b="1" dirty="0">
                <a:solidFill>
                  <a:schemeClr val="hlink"/>
                </a:solidFill>
                <a:latin typeface="Microsoft YaHei" panose="020B0503020204020204" pitchFamily="34" charset="-122"/>
                <a:ea typeface="Microsoft YaHei" panose="020B0503020204020204" pitchFamily="34" charset="-122"/>
              </a:rPr>
              <a:t>            EXCEPT</a:t>
            </a:r>
          </a:p>
          <a:p>
            <a:pPr algn="just" eaLnBrk="1" hangingPunct="1">
              <a:buNone/>
            </a:pPr>
            <a:r>
              <a:rPr lang="zh-CN" altLang="en-US" sz="1800" b="1"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(SELECT sno</a:t>
            </a:r>
          </a:p>
          <a:p>
            <a:pPr algn="just" eaLnBrk="1" hangingPunct="1">
              <a:buNone/>
            </a:pPr>
            <a:r>
              <a:rPr lang="zh-CN" altLang="en-US" sz="1800" dirty="0">
                <a:latin typeface="Microsoft YaHei" panose="020B0503020204020204" pitchFamily="34" charset="-122"/>
                <a:ea typeface="Microsoft YaHei" panose="020B0503020204020204" pitchFamily="34" charset="-122"/>
              </a:rPr>
              <a:t>    FROM   SC</a:t>
            </a:r>
          </a:p>
          <a:p>
            <a:pPr algn="just" eaLnBrk="1" hangingPunct="1">
              <a:buNone/>
            </a:pPr>
            <a:r>
              <a:rPr lang="zh-CN" altLang="en-US" sz="1800" dirty="0">
                <a:latin typeface="Microsoft YaHei" panose="020B0503020204020204" pitchFamily="34" charset="-122"/>
                <a:ea typeface="Microsoft YaHei" panose="020B0503020204020204" pitchFamily="34" charset="-122"/>
              </a:rPr>
              <a:t>    WHERE  cno =‘003’)；</a:t>
            </a:r>
          </a:p>
          <a:p>
            <a:pPr algn="just" eaLnBrk="1" hangingPunct="1">
              <a:buNone/>
            </a:pPr>
            <a:endParaRPr lang="zh-CN" altLang="en-US" sz="2100" dirty="0">
              <a:latin typeface="Microsoft YaHei" panose="020B0503020204020204" pitchFamily="34" charset="-122"/>
              <a:ea typeface="Microsoft YaHei" panose="020B0503020204020204" pitchFamily="34" charset="-122"/>
            </a:endParaRPr>
          </a:p>
        </p:txBody>
      </p:sp>
      <p:sp>
        <p:nvSpPr>
          <p:cNvPr id="6" name="标题 5">
            <a:extLst>
              <a:ext uri="{FF2B5EF4-FFF2-40B4-BE49-F238E27FC236}">
                <a16:creationId xmlns:a16="http://schemas.microsoft.com/office/drawing/2014/main" id="{BCE0D1EE-DED2-8ABE-3469-F98739C338A6}"/>
              </a:ext>
            </a:extLst>
          </p:cNvPr>
          <p:cNvSpPr>
            <a:spLocks noGrp="1"/>
          </p:cNvSpPr>
          <p:nvPr>
            <p:ph type="title"/>
          </p:nvPr>
        </p:nvSpPr>
        <p:spPr/>
        <p:txBody>
          <a:bodyPr/>
          <a:lstStyle/>
          <a:p>
            <a:r>
              <a:rPr lang="zh-CN" altLang="en-US" dirty="0"/>
              <a:t>多表查询 </a:t>
            </a:r>
            <a:r>
              <a:rPr lang="en-US" altLang="zh-CN" dirty="0"/>
              <a:t>––</a:t>
            </a:r>
            <a:r>
              <a:rPr lang="zh-CN" altLang="en-US" dirty="0"/>
              <a:t> 集合运算</a:t>
            </a: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371967" y="1253548"/>
            <a:ext cx="8223885" cy="3555590"/>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0" indent="0" eaLnBrk="1" hangingPunct="1">
              <a:buNone/>
            </a:pPr>
            <a:r>
              <a:rPr lang="zh-CN" altLang="en-US" sz="1800" b="1" dirty="0">
                <a:solidFill>
                  <a:srgbClr val="C00000"/>
                </a:solidFill>
                <a:latin typeface="Microsoft YaHei" panose="020B0503020204020204" pitchFamily="34" charset="-122"/>
                <a:ea typeface="Microsoft YaHei" panose="020B0503020204020204" pitchFamily="34" charset="-122"/>
              </a:rPr>
              <a:t>（</a:t>
            </a:r>
            <a:r>
              <a:rPr lang="en-US" altLang="zh-CN" sz="1800" b="1" dirty="0">
                <a:solidFill>
                  <a:srgbClr val="C00000"/>
                </a:solidFill>
                <a:latin typeface="Microsoft YaHei" panose="020B0503020204020204" pitchFamily="34" charset="-122"/>
                <a:ea typeface="Microsoft YaHei" panose="020B0503020204020204" pitchFamily="34" charset="-122"/>
              </a:rPr>
              <a:t>1</a:t>
            </a:r>
            <a:r>
              <a:rPr lang="zh-CN" altLang="en-US" sz="1800" b="1" dirty="0">
                <a:solidFill>
                  <a:srgbClr val="C00000"/>
                </a:solidFill>
                <a:latin typeface="Microsoft YaHei" panose="020B0503020204020204" pitchFamily="34" charset="-122"/>
                <a:ea typeface="Microsoft YaHei" panose="020B0503020204020204" pitchFamily="34" charset="-122"/>
              </a:rPr>
              <a:t>）自然连接(NATURAL JOIN)</a:t>
            </a:r>
          </a:p>
          <a:p>
            <a:pPr marL="0" indent="0" algn="just" eaLnBrk="1" hangingPunct="1">
              <a:buNone/>
            </a:pPr>
            <a:r>
              <a:rPr lang="en-US" altLang="zh-CN" sz="1800" b="1" dirty="0">
                <a:solidFill>
                  <a:schemeClr val="hlink"/>
                </a:solidFill>
                <a:latin typeface="Microsoft YaHei" panose="020B0503020204020204" pitchFamily="34" charset="-122"/>
                <a:ea typeface="Microsoft YaHei" panose="020B0503020204020204" pitchFamily="34" charset="-122"/>
              </a:rPr>
              <a:t>[</a:t>
            </a:r>
            <a:r>
              <a:rPr lang="zh-CN" altLang="en-US" sz="1800" b="1" dirty="0">
                <a:solidFill>
                  <a:schemeClr val="hlink"/>
                </a:solidFill>
                <a:latin typeface="Microsoft YaHei" panose="020B0503020204020204" pitchFamily="34" charset="-122"/>
                <a:ea typeface="Microsoft YaHei" panose="020B0503020204020204" pitchFamily="34" charset="-122"/>
              </a:rPr>
              <a:t>例</a:t>
            </a:r>
            <a:r>
              <a:rPr lang="en-US" altLang="zh-CN" sz="1800" b="1" dirty="0">
                <a:solidFill>
                  <a:schemeClr val="hlink"/>
                </a:solidFill>
                <a:latin typeface="Microsoft YaHei" panose="020B0503020204020204" pitchFamily="34" charset="-122"/>
                <a:ea typeface="Microsoft YaHei" panose="020B0503020204020204" pitchFamily="34" charset="-122"/>
              </a:rPr>
              <a:t>]</a:t>
            </a:r>
            <a:r>
              <a:rPr lang="zh-CN" altLang="en-US" sz="1800" b="1" dirty="0">
                <a:solidFill>
                  <a:schemeClr val="hlink"/>
                </a:solidFill>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sym typeface="Arial" panose="020B0604020202020204" pitchFamily="34" charset="0"/>
              </a:rPr>
              <a:t>查询在计算机学院且</a:t>
            </a:r>
            <a:r>
              <a:rPr lang="zh-CN" altLang="en-US" sz="1800" dirty="0">
                <a:latin typeface="Microsoft YaHei" panose="020B0503020204020204" pitchFamily="34" charset="-122"/>
                <a:ea typeface="Microsoft YaHei" panose="020B0503020204020204" pitchFamily="34" charset="-122"/>
              </a:rPr>
              <a:t>课程成绩在90分以上的学生档案及其成绩情况。</a:t>
            </a:r>
          </a:p>
          <a:p>
            <a:pPr marL="0" indent="0" algn="just" eaLnBrk="1" hangingPunct="1">
              <a:buNone/>
            </a:pPr>
            <a:r>
              <a:rPr lang="zh-CN" altLang="en-US" sz="1800" b="1" dirty="0">
                <a:latin typeface="Microsoft YaHei" panose="020B0503020204020204" pitchFamily="34" charset="-122"/>
                <a:ea typeface="Microsoft YaHei" panose="020B0503020204020204" pitchFamily="34" charset="-122"/>
              </a:rPr>
              <a:t> </a:t>
            </a:r>
            <a:r>
              <a:rPr lang="en-US" altLang="zh-CN" sz="1800" b="1"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SELECT * </a:t>
            </a: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FROM </a:t>
            </a:r>
            <a:r>
              <a:rPr lang="zh-CN" altLang="en-US" sz="1800" dirty="0">
                <a:solidFill>
                  <a:schemeClr val="folHlink"/>
                </a:solidFill>
                <a:latin typeface="Microsoft YaHei" panose="020B0503020204020204" pitchFamily="34" charset="-122"/>
                <a:ea typeface="Microsoft YaHei" panose="020B0503020204020204" pitchFamily="34" charset="-122"/>
              </a:rPr>
              <a:t>Student</a:t>
            </a:r>
            <a:r>
              <a:rPr lang="zh-CN" altLang="en-US" sz="1800" dirty="0">
                <a:solidFill>
                  <a:schemeClr val="hlink"/>
                </a:solidFill>
                <a:latin typeface="Microsoft YaHei" panose="020B0503020204020204" pitchFamily="34" charset="-122"/>
                <a:ea typeface="Microsoft YaHei" panose="020B0503020204020204" pitchFamily="34" charset="-122"/>
              </a:rPr>
              <a:t> NATURAL JOIN </a:t>
            </a:r>
            <a:r>
              <a:rPr lang="zh-CN" altLang="en-US" sz="1800" dirty="0">
                <a:solidFill>
                  <a:schemeClr val="folHlink"/>
                </a:solidFill>
                <a:latin typeface="Microsoft YaHei" panose="020B0503020204020204" pitchFamily="34" charset="-122"/>
                <a:ea typeface="Microsoft YaHei" panose="020B0503020204020204" pitchFamily="34" charset="-122"/>
              </a:rPr>
              <a:t>SC</a:t>
            </a:r>
          </a:p>
          <a:p>
            <a:pPr marL="0" indent="0" eaLnBrk="1" hangingPunct="1">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WHERE dept=‘计算机学院’ AND grade &gt;=90；</a:t>
            </a:r>
            <a:endParaRPr lang="en-US" altLang="zh-CN" sz="1800" dirty="0">
              <a:latin typeface="Microsoft YaHei" panose="020B0503020204020204" pitchFamily="34" charset="-122"/>
              <a:ea typeface="Microsoft YaHei" panose="020B0503020204020204" pitchFamily="34" charset="-122"/>
            </a:endParaRPr>
          </a:p>
          <a:p>
            <a:pPr marL="0" indent="0" eaLnBrk="1" hangingPunct="1">
              <a:buNone/>
            </a:pPr>
            <a:endParaRPr lang="zh-CN" altLang="en-US" sz="1800" b="1" dirty="0">
              <a:latin typeface="Microsoft YaHei" panose="020B0503020204020204" pitchFamily="34" charset="-122"/>
              <a:ea typeface="Microsoft YaHei" panose="020B0503020204020204" pitchFamily="34" charset="-122"/>
            </a:endParaRPr>
          </a:p>
          <a:p>
            <a:pPr marL="0" indent="0" eaLnBrk="1" hangingPunct="1">
              <a:buNone/>
            </a:pPr>
            <a:r>
              <a:rPr lang="zh-CN" altLang="en-US" sz="1800" b="1" dirty="0">
                <a:solidFill>
                  <a:srgbClr val="C00000"/>
                </a:solidFill>
                <a:latin typeface="Microsoft YaHei" panose="020B0503020204020204" pitchFamily="34" charset="-122"/>
                <a:ea typeface="Microsoft YaHei" panose="020B0503020204020204" pitchFamily="34" charset="-122"/>
              </a:rPr>
              <a:t>（2）外连接      </a:t>
            </a:r>
          </a:p>
          <a:p>
            <a:pPr marL="0" indent="0" eaLnBrk="1" hangingPunct="1"/>
            <a:r>
              <a:rPr lang="en-US" altLang="zh-CN" sz="1800" b="1" dirty="0">
                <a:latin typeface="Microsoft YaHei" panose="020B0503020204020204" pitchFamily="34" charset="-122"/>
                <a:ea typeface="Microsoft YaHei" panose="020B0503020204020204" pitchFamily="34" charset="-122"/>
              </a:rPr>
              <a:t> </a:t>
            </a:r>
            <a:r>
              <a:rPr lang="zh-CN" altLang="en-US" sz="1800" b="1" dirty="0">
                <a:latin typeface="Microsoft YaHei" panose="020B0503020204020204" pitchFamily="34" charset="-122"/>
                <a:ea typeface="Microsoft YaHei" panose="020B0503020204020204" pitchFamily="34" charset="-122"/>
              </a:rPr>
              <a:t>左外连接。</a:t>
            </a:r>
            <a:r>
              <a:rPr lang="zh-CN" altLang="en-US" sz="1800" dirty="0">
                <a:solidFill>
                  <a:schemeClr val="hlink"/>
                </a:solidFill>
                <a:latin typeface="Microsoft YaHei" panose="020B0503020204020204" pitchFamily="34" charset="-122"/>
                <a:ea typeface="Microsoft YaHei" panose="020B0503020204020204" pitchFamily="34" charset="-122"/>
              </a:rPr>
              <a:t>LEFT [OUTER] JOIN</a:t>
            </a:r>
            <a:r>
              <a:rPr lang="zh-CN" altLang="en-US" sz="1800" dirty="0">
                <a:latin typeface="Microsoft YaHei" panose="020B0503020204020204" pitchFamily="34" charset="-122"/>
                <a:ea typeface="Microsoft YaHei" panose="020B0503020204020204" pitchFamily="34" charset="-122"/>
              </a:rPr>
              <a:t>，保留左关系的所有元组。</a:t>
            </a:r>
          </a:p>
          <a:p>
            <a:pPr marL="0" indent="0" eaLnBrk="1" hangingPunct="1"/>
            <a:r>
              <a:rPr lang="en-US" altLang="zh-CN" sz="1800" b="1" dirty="0">
                <a:latin typeface="Microsoft YaHei" panose="020B0503020204020204" pitchFamily="34" charset="-122"/>
                <a:ea typeface="Microsoft YaHei" panose="020B0503020204020204" pitchFamily="34" charset="-122"/>
              </a:rPr>
              <a:t> </a:t>
            </a:r>
            <a:r>
              <a:rPr lang="zh-CN" altLang="en-US" sz="1800" b="1" dirty="0">
                <a:latin typeface="Microsoft YaHei" panose="020B0503020204020204" pitchFamily="34" charset="-122"/>
                <a:ea typeface="Microsoft YaHei" panose="020B0503020204020204" pitchFamily="34" charset="-122"/>
              </a:rPr>
              <a:t>右外连接。</a:t>
            </a:r>
            <a:r>
              <a:rPr lang="zh-CN" altLang="en-US" sz="1800" dirty="0">
                <a:solidFill>
                  <a:schemeClr val="hlink"/>
                </a:solidFill>
                <a:latin typeface="Microsoft YaHei" panose="020B0503020204020204" pitchFamily="34" charset="-122"/>
                <a:ea typeface="Microsoft YaHei" panose="020B0503020204020204" pitchFamily="34" charset="-122"/>
              </a:rPr>
              <a:t>RIGHT [OUTER] JOIN</a:t>
            </a:r>
            <a:r>
              <a:rPr lang="zh-CN" altLang="en-US" sz="1800" dirty="0">
                <a:latin typeface="Microsoft YaHei" panose="020B0503020204020204" pitchFamily="34" charset="-122"/>
                <a:ea typeface="Microsoft YaHei" panose="020B0503020204020204" pitchFamily="34" charset="-122"/>
              </a:rPr>
              <a:t>，保留右关系的所有元组。</a:t>
            </a:r>
          </a:p>
          <a:p>
            <a:pPr marL="0" indent="0" eaLnBrk="1" hangingPunct="1"/>
            <a:r>
              <a:rPr lang="en-US" altLang="zh-CN" sz="1800" b="1" dirty="0">
                <a:latin typeface="Microsoft YaHei" panose="020B0503020204020204" pitchFamily="34" charset="-122"/>
                <a:ea typeface="Microsoft YaHei" panose="020B0503020204020204" pitchFamily="34" charset="-122"/>
              </a:rPr>
              <a:t> </a:t>
            </a:r>
            <a:r>
              <a:rPr lang="zh-CN" altLang="en-US" sz="1800" b="1" dirty="0">
                <a:latin typeface="Microsoft YaHei" panose="020B0503020204020204" pitchFamily="34" charset="-122"/>
                <a:ea typeface="Microsoft YaHei" panose="020B0503020204020204" pitchFamily="34" charset="-122"/>
              </a:rPr>
              <a:t>全外连接。</a:t>
            </a:r>
            <a:r>
              <a:rPr lang="zh-CN" altLang="en-US" sz="1800" dirty="0">
                <a:solidFill>
                  <a:schemeClr val="hlink"/>
                </a:solidFill>
                <a:latin typeface="Microsoft YaHei" panose="020B0503020204020204" pitchFamily="34" charset="-122"/>
                <a:ea typeface="Microsoft YaHei" panose="020B0503020204020204" pitchFamily="34" charset="-122"/>
              </a:rPr>
              <a:t>FULL [OUTER] JOIN</a:t>
            </a:r>
            <a:r>
              <a:rPr lang="zh-CN" altLang="en-US" sz="1800" dirty="0">
                <a:latin typeface="Microsoft YaHei" panose="020B0503020204020204" pitchFamily="34" charset="-122"/>
                <a:ea typeface="Microsoft YaHei" panose="020B0503020204020204" pitchFamily="34" charset="-122"/>
              </a:rPr>
              <a:t>，保留左右两关系的所有元组。 </a:t>
            </a:r>
            <a:r>
              <a:rPr lang="zh-CN" altLang="en-US" sz="1800" b="1"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 </a:t>
            </a:r>
          </a:p>
        </p:txBody>
      </p:sp>
      <p:sp>
        <p:nvSpPr>
          <p:cNvPr id="6" name="标题 5">
            <a:extLst>
              <a:ext uri="{FF2B5EF4-FFF2-40B4-BE49-F238E27FC236}">
                <a16:creationId xmlns:a16="http://schemas.microsoft.com/office/drawing/2014/main" id="{BDDCAD59-6958-412B-4F14-7CC0BA2CC83C}"/>
              </a:ext>
            </a:extLst>
          </p:cNvPr>
          <p:cNvSpPr>
            <a:spLocks noGrp="1"/>
          </p:cNvSpPr>
          <p:nvPr>
            <p:ph type="title"/>
          </p:nvPr>
        </p:nvSpPr>
        <p:spPr/>
        <p:txBody>
          <a:bodyPr/>
          <a:lstStyle/>
          <a:p>
            <a:r>
              <a:rPr lang="zh-CN" altLang="en-US" dirty="0"/>
              <a:t>更多的连接查询形式</a:t>
            </a: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p:cNvSpPr>
          <p:nvPr>
            <p:ph idx="1"/>
          </p:nvPr>
        </p:nvSpPr>
        <p:spPr>
          <a:xfrm>
            <a:off x="281449" y="1734765"/>
            <a:ext cx="4731684" cy="1168935"/>
          </a:xfrm>
        </p:spPr>
        <p:txBody>
          <a:bodyPr vert="horz" wrap="square" lIns="68580" tIns="34290" rIns="68580" bIns="34290" anchor="t" anchorCtr="0"/>
          <a:lstStyle/>
          <a:p>
            <a:pPr marL="0" indent="0" eaLnBrk="1" hangingPunct="1">
              <a:buSzTx/>
              <a:buNone/>
            </a:pPr>
            <a:r>
              <a:rPr lang="en-US" altLang="zh-CN" sz="1800" dirty="0"/>
              <a:t>SELECT  *</a:t>
            </a:r>
          </a:p>
          <a:p>
            <a:pPr marL="0" indent="0" eaLnBrk="1" hangingPunct="1">
              <a:buSzTx/>
              <a:buNone/>
            </a:pPr>
            <a:r>
              <a:rPr lang="en-US" altLang="zh-CN" sz="1800" dirty="0"/>
              <a:t>FROM  Student </a:t>
            </a:r>
            <a:r>
              <a:rPr lang="en-US" altLang="zh-CN" sz="1800" dirty="0">
                <a:solidFill>
                  <a:schemeClr val="hlink"/>
                </a:solidFill>
              </a:rPr>
              <a:t>NATURAL JOIN </a:t>
            </a:r>
            <a:r>
              <a:rPr lang="en-US" altLang="zh-CN" sz="1800" dirty="0"/>
              <a:t>SC; </a:t>
            </a:r>
            <a:r>
              <a:rPr lang="en-US" altLang="zh-CN" sz="1800" dirty="0">
                <a:solidFill>
                  <a:schemeClr val="hlink"/>
                </a:solidFill>
              </a:rPr>
              <a:t> ?</a:t>
            </a:r>
          </a:p>
          <a:p>
            <a:pPr marL="0" indent="0" eaLnBrk="1" hangingPunct="1">
              <a:buSzTx/>
              <a:buNone/>
            </a:pPr>
            <a:r>
              <a:rPr lang="en-US" altLang="zh-CN" sz="1800" dirty="0"/>
              <a:t>FROM Student  </a:t>
            </a:r>
            <a:r>
              <a:rPr lang="en-US" altLang="zh-CN" sz="1800" dirty="0">
                <a:solidFill>
                  <a:schemeClr val="hlink"/>
                </a:solidFill>
              </a:rPr>
              <a:t>LEFT OUTER JOIN</a:t>
            </a:r>
            <a:r>
              <a:rPr lang="en-US" altLang="zh-CN" sz="1800" dirty="0"/>
              <a:t> SC </a:t>
            </a:r>
            <a:r>
              <a:rPr lang="zh-CN" altLang="en-US" sz="1800" dirty="0"/>
              <a:t>；</a:t>
            </a:r>
          </a:p>
        </p:txBody>
      </p:sp>
      <p:sp>
        <p:nvSpPr>
          <p:cNvPr id="70660" name="AutoShape 4"/>
          <p:cNvSpPr/>
          <p:nvPr/>
        </p:nvSpPr>
        <p:spPr>
          <a:xfrm>
            <a:off x="5428412" y="1558229"/>
            <a:ext cx="2051447" cy="702469"/>
          </a:xfrm>
          <a:prstGeom prst="wedgeRoundRectCallout">
            <a:avLst>
              <a:gd name="adj1" fmla="val -76870"/>
              <a:gd name="adj2" fmla="val 110000"/>
              <a:gd name="adj3" fmla="val 16667"/>
            </a:avLst>
          </a:prstGeom>
          <a:solidFill>
            <a:srgbClr val="FFCCFF"/>
          </a:solidFill>
          <a:ln w="9525" cap="flat" cmpd="sng">
            <a:solidFill>
              <a:schemeClr val="tx1"/>
            </a:solidFill>
            <a:prstDash val="solid"/>
            <a:miter/>
            <a:headEnd type="none" w="med" len="med"/>
            <a:tailEnd type="none" w="med" len="med"/>
          </a:ln>
        </p:spPr>
        <p:txBody>
          <a:bodyPr lIns="13500" tIns="0" rIns="13500" bIns="0"/>
          <a:lstStyle/>
          <a:p>
            <a:r>
              <a:rPr lang="zh-CN" altLang="en-US" sz="1350" dirty="0">
                <a:latin typeface="Microsoft YaHei" panose="020B0503020204020204" pitchFamily="34" charset="-122"/>
                <a:ea typeface="Microsoft YaHei" panose="020B0503020204020204" pitchFamily="34" charset="-122"/>
              </a:rPr>
              <a:t>用左外连接产生未选课的空行</a:t>
            </a:r>
          </a:p>
        </p:txBody>
      </p:sp>
      <p:sp>
        <p:nvSpPr>
          <p:cNvPr id="70661" name="Rectangle 5"/>
          <p:cNvSpPr/>
          <p:nvPr/>
        </p:nvSpPr>
        <p:spPr>
          <a:xfrm>
            <a:off x="281449" y="3146075"/>
            <a:ext cx="6858000" cy="1679972"/>
          </a:xfrm>
          <a:prstGeom prst="rect">
            <a:avLst/>
          </a:prstGeom>
          <a:noFill/>
          <a:ln w="9525">
            <a:noFill/>
          </a:ln>
        </p:spPr>
        <p:txBody>
          <a:bodyPr/>
          <a:lstStyle/>
          <a:p>
            <a:pPr>
              <a:spcBef>
                <a:spcPct val="20000"/>
              </a:spcBef>
              <a:buClr>
                <a:schemeClr val="folHlink"/>
              </a:buClr>
            </a:pPr>
            <a:r>
              <a:rPr lang="zh-CN" altLang="en-US" dirty="0">
                <a:latin typeface="Microsoft YaHei" panose="020B0503020204020204" pitchFamily="34" charset="-122"/>
                <a:ea typeface="Microsoft YaHei" panose="020B0503020204020204" pitchFamily="34" charset="-122"/>
              </a:rPr>
              <a:t>教师表：</a:t>
            </a:r>
            <a:r>
              <a:rPr lang="en-US" altLang="zh-CN" dirty="0">
                <a:latin typeface="Microsoft YaHei" panose="020B0503020204020204" pitchFamily="34" charset="-122"/>
                <a:ea typeface="Microsoft YaHei" panose="020B0503020204020204" pitchFamily="34" charset="-122"/>
              </a:rPr>
              <a:t>Teacher(</a:t>
            </a:r>
            <a:r>
              <a:rPr lang="zh-CN" altLang="en-US" u="sng" dirty="0">
                <a:latin typeface="Microsoft YaHei" panose="020B0503020204020204" pitchFamily="34" charset="-122"/>
                <a:ea typeface="Microsoft YaHei" panose="020B0503020204020204" pitchFamily="34" charset="-122"/>
              </a:rPr>
              <a:t>教师号</a:t>
            </a:r>
            <a:r>
              <a:rPr lang="zh-CN" altLang="en-US" dirty="0">
                <a:latin typeface="Microsoft YaHei" panose="020B0503020204020204" pitchFamily="34" charset="-122"/>
                <a:ea typeface="Microsoft YaHei" panose="020B0503020204020204" pitchFamily="34" charset="-122"/>
              </a:rPr>
              <a:t>，姓名，所属大学，职称</a:t>
            </a:r>
            <a:r>
              <a:rPr lang="en-US" altLang="zh-CN" dirty="0">
                <a:latin typeface="Microsoft YaHei" panose="020B0503020204020204" pitchFamily="34" charset="-122"/>
                <a:ea typeface="Microsoft YaHei" panose="020B0503020204020204" pitchFamily="34" charset="-122"/>
              </a:rPr>
              <a:t>)</a:t>
            </a:r>
          </a:p>
          <a:p>
            <a:pPr marL="257175" indent="-257175">
              <a:spcBef>
                <a:spcPct val="20000"/>
              </a:spcBef>
              <a:buClr>
                <a:schemeClr val="folHlink"/>
              </a:buClr>
              <a:buSzPct val="60000"/>
            </a:pPr>
            <a:r>
              <a:rPr lang="zh-CN" altLang="en-US" dirty="0">
                <a:latin typeface="Microsoft YaHei" panose="020B0503020204020204" pitchFamily="34" charset="-122"/>
                <a:ea typeface="Microsoft YaHei" panose="020B0503020204020204" pitchFamily="34" charset="-122"/>
              </a:rPr>
              <a:t>任职表：</a:t>
            </a:r>
            <a:r>
              <a:rPr lang="en-US" altLang="zh-CN" dirty="0">
                <a:latin typeface="Microsoft YaHei" panose="020B0503020204020204" pitchFamily="34" charset="-122"/>
                <a:ea typeface="Microsoft YaHei" panose="020B0503020204020204" pitchFamily="34" charset="-122"/>
              </a:rPr>
              <a:t>Post(</a:t>
            </a:r>
            <a:r>
              <a:rPr lang="zh-CN" altLang="en-US" u="sng" dirty="0">
                <a:latin typeface="Microsoft YaHei" panose="020B0503020204020204" pitchFamily="34" charset="-122"/>
                <a:ea typeface="Microsoft YaHei" panose="020B0503020204020204" pitchFamily="34" charset="-122"/>
              </a:rPr>
              <a:t>编号</a:t>
            </a:r>
            <a:r>
              <a:rPr lang="zh-CN" altLang="en-US" dirty="0">
                <a:latin typeface="Microsoft YaHei" panose="020B0503020204020204" pitchFamily="34" charset="-122"/>
                <a:ea typeface="Microsoft YaHei" panose="020B0503020204020204" pitchFamily="34" charset="-122"/>
              </a:rPr>
              <a:t>，姓名，职务</a:t>
            </a:r>
            <a:r>
              <a:rPr lang="en-US" altLang="zh-CN" dirty="0">
                <a:latin typeface="Microsoft YaHei" panose="020B0503020204020204" pitchFamily="34" charset="-122"/>
                <a:ea typeface="Microsoft YaHei" panose="020B0503020204020204" pitchFamily="34" charset="-122"/>
              </a:rPr>
              <a:t>) </a:t>
            </a:r>
          </a:p>
          <a:p>
            <a:pPr marL="257175" indent="-257175">
              <a:spcBef>
                <a:spcPct val="20000"/>
              </a:spcBef>
              <a:buClr>
                <a:schemeClr val="folHlink"/>
              </a:buClr>
              <a:buSzPct val="60000"/>
            </a:pPr>
            <a:endParaRPr lang="en-US" altLang="zh-CN" dirty="0">
              <a:solidFill>
                <a:schemeClr val="hlink"/>
              </a:solidFill>
              <a:latin typeface="Microsoft YaHei" panose="020B0503020204020204" pitchFamily="34" charset="-122"/>
              <a:ea typeface="Microsoft YaHei" panose="020B0503020204020204" pitchFamily="34" charset="-122"/>
            </a:endParaRPr>
          </a:p>
          <a:p>
            <a:pPr marL="257175" indent="-257175">
              <a:spcBef>
                <a:spcPct val="20000"/>
              </a:spcBef>
              <a:buClr>
                <a:schemeClr val="folHlink"/>
              </a:buClr>
              <a:buSzPct val="60000"/>
            </a:pPr>
            <a:r>
              <a:rPr lang="zh-CN" altLang="en-US" b="1" dirty="0">
                <a:solidFill>
                  <a:schemeClr val="hlink"/>
                </a:solidFill>
                <a:latin typeface="Microsoft YaHei" panose="020B0503020204020204" pitchFamily="34" charset="-122"/>
                <a:ea typeface="Microsoft YaHei" panose="020B0503020204020204" pitchFamily="34" charset="-122"/>
              </a:rPr>
              <a:t>例：</a:t>
            </a:r>
            <a:r>
              <a:rPr lang="en-US" altLang="zh-CN" dirty="0">
                <a:latin typeface="Microsoft YaHei" panose="020B0503020204020204" pitchFamily="34" charset="-122"/>
                <a:ea typeface="Microsoft YaHei" panose="020B0503020204020204" pitchFamily="34" charset="-122"/>
              </a:rPr>
              <a:t>SELECT * </a:t>
            </a:r>
          </a:p>
          <a:p>
            <a:pPr marL="257175" indent="-257175">
              <a:spcBef>
                <a:spcPct val="20000"/>
              </a:spcBef>
              <a:buClr>
                <a:schemeClr val="folHlink"/>
              </a:buClr>
              <a:buSzPct val="60000"/>
            </a:pPr>
            <a:r>
              <a:rPr lang="en-US" altLang="zh-CN"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FROM </a:t>
            </a:r>
            <a:r>
              <a:rPr lang="en-US" altLang="zh-CN" dirty="0">
                <a:solidFill>
                  <a:schemeClr val="folHlink"/>
                </a:solidFill>
                <a:latin typeface="Microsoft YaHei" panose="020B0503020204020204" pitchFamily="34" charset="-122"/>
                <a:ea typeface="Microsoft YaHei" panose="020B0503020204020204" pitchFamily="34" charset="-122"/>
              </a:rPr>
              <a:t>Teacher</a:t>
            </a:r>
            <a:r>
              <a:rPr lang="en-US" altLang="zh-CN" dirty="0">
                <a:solidFill>
                  <a:schemeClr val="hlink"/>
                </a:solidFill>
                <a:latin typeface="Microsoft YaHei" panose="020B0503020204020204" pitchFamily="34" charset="-122"/>
                <a:ea typeface="Microsoft YaHei" panose="020B0503020204020204" pitchFamily="34" charset="-122"/>
              </a:rPr>
              <a:t> FULL OUTER JOIN </a:t>
            </a:r>
            <a:r>
              <a:rPr lang="en-US" altLang="zh-CN" dirty="0">
                <a:solidFill>
                  <a:schemeClr val="folHlink"/>
                </a:solidFill>
                <a:latin typeface="Microsoft YaHei" panose="020B0503020204020204" pitchFamily="34" charset="-122"/>
                <a:ea typeface="Microsoft YaHei" panose="020B0503020204020204" pitchFamily="34" charset="-122"/>
              </a:rPr>
              <a:t>Post</a:t>
            </a:r>
            <a:r>
              <a:rPr lang="zh-CN" altLang="en-US" dirty="0">
                <a:latin typeface="Microsoft YaHei" panose="020B0503020204020204" pitchFamily="34" charset="-122"/>
                <a:ea typeface="Microsoft YaHei" panose="020B0503020204020204" pitchFamily="34" charset="-122"/>
              </a:rPr>
              <a:t>；</a:t>
            </a:r>
            <a:r>
              <a:rPr lang="zh-CN" altLang="en-US" sz="1350" dirty="0">
                <a:latin typeface="Microsoft YaHei" panose="020B0503020204020204" pitchFamily="34" charset="-122"/>
                <a:ea typeface="Microsoft YaHei" panose="020B0503020204020204" pitchFamily="34" charset="-122"/>
              </a:rPr>
              <a:t> </a:t>
            </a:r>
          </a:p>
        </p:txBody>
      </p:sp>
      <p:pic>
        <p:nvPicPr>
          <p:cNvPr id="68614" name="Picture 6" descr="j0216858"/>
          <p:cNvPicPr>
            <a:picLocks noChangeAspect="1"/>
          </p:cNvPicPr>
          <p:nvPr/>
        </p:nvPicPr>
        <p:blipFill>
          <a:blip r:embed="rId2"/>
          <a:stretch>
            <a:fillRect/>
          </a:stretch>
        </p:blipFill>
        <p:spPr>
          <a:xfrm>
            <a:off x="7348384" y="3967970"/>
            <a:ext cx="1714500" cy="782240"/>
          </a:xfrm>
          <a:prstGeom prst="rect">
            <a:avLst/>
          </a:prstGeom>
          <a:noFill/>
          <a:ln w="9525">
            <a:noFill/>
          </a:ln>
        </p:spPr>
      </p:pic>
      <p:sp>
        <p:nvSpPr>
          <p:cNvPr id="70663" name="AutoShape 7"/>
          <p:cNvSpPr/>
          <p:nvPr/>
        </p:nvSpPr>
        <p:spPr>
          <a:xfrm>
            <a:off x="4146346" y="1006615"/>
            <a:ext cx="1404938" cy="485775"/>
          </a:xfrm>
          <a:prstGeom prst="wedgeEllipseCallout">
            <a:avLst>
              <a:gd name="adj1" fmla="val -23851"/>
              <a:gd name="adj2" fmla="val 175405"/>
            </a:avLst>
          </a:prstGeom>
          <a:solidFill>
            <a:schemeClr val="accent1"/>
          </a:solidFill>
          <a:ln w="9525" cap="flat" cmpd="sng">
            <a:solidFill>
              <a:schemeClr val="tx1"/>
            </a:solidFill>
            <a:prstDash val="solid"/>
            <a:miter/>
            <a:headEnd type="none" w="med" len="med"/>
            <a:tailEnd type="none" w="med" len="med"/>
          </a:ln>
        </p:spPr>
        <p:txBody>
          <a:bodyPr lIns="0" tIns="0" rIns="0" bIns="0"/>
          <a:lstStyle/>
          <a:p>
            <a:r>
              <a:rPr lang="zh-CN" altLang="en-US" sz="1350" dirty="0">
                <a:latin typeface="Microsoft YaHei" panose="020B0503020204020204" pitchFamily="34" charset="-122"/>
                <a:ea typeface="Microsoft YaHei" panose="020B0503020204020204" pitchFamily="34" charset="-122"/>
              </a:rPr>
              <a:t>未选课？</a:t>
            </a:r>
          </a:p>
          <a:p>
            <a:pPr algn="ctr"/>
            <a:endParaRPr lang="zh-CN" altLang="en-US" sz="2100" dirty="0">
              <a:latin typeface="Microsoft YaHei" panose="020B0503020204020204" pitchFamily="34" charset="-122"/>
              <a:ea typeface="Microsoft YaHei" panose="020B0503020204020204" pitchFamily="34" charset="-122"/>
            </a:endParaRPr>
          </a:p>
        </p:txBody>
      </p:sp>
      <p:sp>
        <p:nvSpPr>
          <p:cNvPr id="68616" name="Rectangle 8"/>
          <p:cNvSpPr/>
          <p:nvPr/>
        </p:nvSpPr>
        <p:spPr>
          <a:xfrm>
            <a:off x="172756" y="1247656"/>
            <a:ext cx="4212431" cy="369332"/>
          </a:xfrm>
          <a:prstGeom prst="rect">
            <a:avLst/>
          </a:prstGeom>
          <a:noFill/>
          <a:ln w="9525">
            <a:noFill/>
          </a:ln>
        </p:spPr>
        <p:txBody>
          <a:bodyPr>
            <a:spAutoFit/>
          </a:bodyPr>
          <a:lstStyle/>
          <a:p>
            <a:pPr>
              <a:spcBef>
                <a:spcPct val="20000"/>
              </a:spcBef>
            </a:pPr>
            <a:r>
              <a:rPr lang="zh-CN" altLang="en-US" b="1" dirty="0">
                <a:solidFill>
                  <a:schemeClr val="hlink"/>
                </a:solidFill>
                <a:latin typeface="Microsoft YaHei" panose="020B0503020204020204" pitchFamily="34" charset="-122"/>
                <a:ea typeface="Microsoft YaHei" panose="020B0503020204020204" pitchFamily="34" charset="-122"/>
              </a:rPr>
              <a:t>例</a:t>
            </a:r>
            <a:r>
              <a:rPr lang="en-US" altLang="zh-CN" b="1" dirty="0">
                <a:solidFill>
                  <a:schemeClr val="hlink"/>
                </a:solidFill>
                <a:latin typeface="Microsoft YaHei" panose="020B0503020204020204" pitchFamily="34" charset="-122"/>
                <a:ea typeface="Microsoft YaHei" panose="020B0503020204020204" pitchFamily="34" charset="-122"/>
              </a:rPr>
              <a:t>:</a:t>
            </a:r>
            <a:r>
              <a:rPr lang="en-US" altLang="zh-CN" b="1"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查每个学生及其选课情况。</a:t>
            </a:r>
          </a:p>
        </p:txBody>
      </p:sp>
      <p:sp>
        <p:nvSpPr>
          <p:cNvPr id="3" name="标题 2">
            <a:extLst>
              <a:ext uri="{FF2B5EF4-FFF2-40B4-BE49-F238E27FC236}">
                <a16:creationId xmlns:a16="http://schemas.microsoft.com/office/drawing/2014/main" id="{320B1618-8E55-7FD2-FC9B-E62B378DAE3C}"/>
              </a:ext>
            </a:extLst>
          </p:cNvPr>
          <p:cNvSpPr>
            <a:spLocks noGrp="1"/>
          </p:cNvSpPr>
          <p:nvPr>
            <p:ph type="title"/>
          </p:nvPr>
        </p:nvSpPr>
        <p:spPr/>
        <p:txBody>
          <a:bodyPr/>
          <a:lstStyle/>
          <a:p>
            <a:r>
              <a:rPr lang="zh-CN" altLang="en-US" dirty="0"/>
              <a:t>外连接实例</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70663"/>
                                        </p:tgtEl>
                                        <p:attrNameLst>
                                          <p:attrName>style.visibility</p:attrName>
                                        </p:attrNameLst>
                                      </p:cBhvr>
                                      <p:to>
                                        <p:strVal val="visible"/>
                                      </p:to>
                                    </p:set>
                                    <p:anim calcmode="lin" valueType="num">
                                      <p:cBhvr additive="base">
                                        <p:cTn id="7" dur="500" fill="hold"/>
                                        <p:tgtEl>
                                          <p:spTgt spid="70663"/>
                                        </p:tgtEl>
                                        <p:attrNameLst>
                                          <p:attrName>ppt_x</p:attrName>
                                        </p:attrNameLst>
                                      </p:cBhvr>
                                      <p:tavLst>
                                        <p:tav tm="0">
                                          <p:val>
                                            <p:strVal val="#ppt_x"/>
                                          </p:val>
                                        </p:tav>
                                        <p:tav tm="100000">
                                          <p:val>
                                            <p:strVal val="#ppt_x"/>
                                          </p:val>
                                        </p:tav>
                                      </p:tavLst>
                                    </p:anim>
                                    <p:anim calcmode="lin" valueType="num">
                                      <p:cBhvr additive="base">
                                        <p:cTn id="8" dur="500" fill="hold"/>
                                        <p:tgtEl>
                                          <p:spTgt spid="7066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0660"/>
                                        </p:tgtEl>
                                        <p:attrNameLst>
                                          <p:attrName>style.visibility</p:attrName>
                                        </p:attrNameLst>
                                      </p:cBhvr>
                                      <p:to>
                                        <p:strVal val="visible"/>
                                      </p:to>
                                    </p:set>
                                    <p:anim calcmode="lin" valueType="num">
                                      <p:cBhvr additive="base">
                                        <p:cTn id="13" dur="500" fill="hold"/>
                                        <p:tgtEl>
                                          <p:spTgt spid="70660"/>
                                        </p:tgtEl>
                                        <p:attrNameLst>
                                          <p:attrName>ppt_x</p:attrName>
                                        </p:attrNameLst>
                                      </p:cBhvr>
                                      <p:tavLst>
                                        <p:tav tm="0">
                                          <p:val>
                                            <p:strVal val="1+#ppt_w/2"/>
                                          </p:val>
                                        </p:tav>
                                        <p:tav tm="100000">
                                          <p:val>
                                            <p:strVal val="#ppt_x"/>
                                          </p:val>
                                        </p:tav>
                                      </p:tavLst>
                                    </p:anim>
                                    <p:anim calcmode="lin" valueType="num">
                                      <p:cBhvr additive="base">
                                        <p:cTn id="14" dur="500" fill="hold"/>
                                        <p:tgtEl>
                                          <p:spTgt spid="7066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70661">
                                            <p:txEl>
                                              <p:pRg st="0" end="0"/>
                                            </p:txEl>
                                          </p:spTgt>
                                        </p:tgtEl>
                                        <p:attrNameLst>
                                          <p:attrName>style.visibility</p:attrName>
                                        </p:attrNameLst>
                                      </p:cBhvr>
                                      <p:to>
                                        <p:strVal val="visible"/>
                                      </p:to>
                                    </p:set>
                                    <p:animEffect transition="in" filter="box(out)">
                                      <p:cBhvr>
                                        <p:cTn id="19" dur="500"/>
                                        <p:tgtEl>
                                          <p:spTgt spid="70661">
                                            <p:txEl>
                                              <p:pRg st="0" end="0"/>
                                            </p:txEl>
                                          </p:spTgt>
                                        </p:tgtEl>
                                      </p:cBhvr>
                                    </p:animEffect>
                                  </p:childTnLst>
                                </p:cTn>
                              </p:par>
                              <p:par>
                                <p:cTn id="20" presetID="4" presetClass="entr" presetSubtype="32" fill="hold" grpId="0" nodeType="withEffect">
                                  <p:stCondLst>
                                    <p:cond delay="0"/>
                                  </p:stCondLst>
                                  <p:childTnLst>
                                    <p:set>
                                      <p:cBhvr>
                                        <p:cTn id="21" dur="1" fill="hold">
                                          <p:stCondLst>
                                            <p:cond delay="0"/>
                                          </p:stCondLst>
                                        </p:cTn>
                                        <p:tgtEl>
                                          <p:spTgt spid="70661">
                                            <p:txEl>
                                              <p:pRg st="1" end="1"/>
                                            </p:txEl>
                                          </p:spTgt>
                                        </p:tgtEl>
                                        <p:attrNameLst>
                                          <p:attrName>style.visibility</p:attrName>
                                        </p:attrNameLst>
                                      </p:cBhvr>
                                      <p:to>
                                        <p:strVal val="visible"/>
                                      </p:to>
                                    </p:set>
                                    <p:animEffect transition="in" filter="box(out)">
                                      <p:cBhvr>
                                        <p:cTn id="22" dur="500"/>
                                        <p:tgtEl>
                                          <p:spTgt spid="7066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70661">
                                            <p:txEl>
                                              <p:pRg st="3" end="3"/>
                                            </p:txEl>
                                          </p:spTgt>
                                        </p:tgtEl>
                                        <p:attrNameLst>
                                          <p:attrName>style.visibility</p:attrName>
                                        </p:attrNameLst>
                                      </p:cBhvr>
                                      <p:to>
                                        <p:strVal val="visible"/>
                                      </p:to>
                                    </p:set>
                                    <p:animEffect transition="in" filter="box(out)">
                                      <p:cBhvr>
                                        <p:cTn id="27" dur="500"/>
                                        <p:tgtEl>
                                          <p:spTgt spid="70661">
                                            <p:txEl>
                                              <p:pRg st="3" end="3"/>
                                            </p:txEl>
                                          </p:spTgt>
                                        </p:tgtEl>
                                      </p:cBhvr>
                                    </p:animEffect>
                                  </p:childTnLst>
                                </p:cTn>
                              </p:par>
                              <p:par>
                                <p:cTn id="28" presetID="4" presetClass="entr" presetSubtype="32" fill="hold" grpId="0" nodeType="withEffect">
                                  <p:stCondLst>
                                    <p:cond delay="0"/>
                                  </p:stCondLst>
                                  <p:childTnLst>
                                    <p:set>
                                      <p:cBhvr>
                                        <p:cTn id="29" dur="1" fill="hold">
                                          <p:stCondLst>
                                            <p:cond delay="0"/>
                                          </p:stCondLst>
                                        </p:cTn>
                                        <p:tgtEl>
                                          <p:spTgt spid="70661">
                                            <p:txEl>
                                              <p:pRg st="4" end="4"/>
                                            </p:txEl>
                                          </p:spTgt>
                                        </p:tgtEl>
                                        <p:attrNameLst>
                                          <p:attrName>style.visibility</p:attrName>
                                        </p:attrNameLst>
                                      </p:cBhvr>
                                      <p:to>
                                        <p:strVal val="visible"/>
                                      </p:to>
                                    </p:set>
                                    <p:animEffect transition="in" filter="box(out)">
                                      <p:cBhvr>
                                        <p:cTn id="30" dur="500"/>
                                        <p:tgtEl>
                                          <p:spTgt spid="7066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bldLvl="0" animBg="1"/>
      <p:bldP spid="70661" grpId="0" uiExpand="1" build="p"/>
      <p:bldP spid="70663"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320593" y="1253548"/>
            <a:ext cx="6858000" cy="3118055"/>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zh-CN" altLang="en-US" sz="1800" b="1" dirty="0">
                <a:solidFill>
                  <a:srgbClr val="C00000"/>
                </a:solidFill>
                <a:latin typeface="Microsoft YaHei" panose="020B0503020204020204" pitchFamily="34" charset="-122"/>
                <a:ea typeface="Microsoft YaHei" panose="020B0503020204020204" pitchFamily="34" charset="-122"/>
              </a:rPr>
              <a:t>（</a:t>
            </a:r>
            <a:r>
              <a:rPr lang="en-US" altLang="zh-CN" sz="1800" b="1" dirty="0">
                <a:solidFill>
                  <a:srgbClr val="C00000"/>
                </a:solidFill>
                <a:latin typeface="Microsoft YaHei" panose="020B0503020204020204" pitchFamily="34" charset="-122"/>
                <a:ea typeface="Microsoft YaHei" panose="020B0503020204020204" pitchFamily="34" charset="-122"/>
              </a:rPr>
              <a:t>1</a:t>
            </a:r>
            <a:r>
              <a:rPr lang="zh-CN" altLang="en-US" sz="1800" b="1" dirty="0">
                <a:solidFill>
                  <a:srgbClr val="C00000"/>
                </a:solidFill>
                <a:latin typeface="Microsoft YaHei" panose="020B0503020204020204" pitchFamily="34" charset="-122"/>
                <a:ea typeface="Microsoft YaHei" panose="020B0503020204020204" pitchFamily="34" charset="-122"/>
              </a:rPr>
              <a:t>）空值的含义 </a:t>
            </a:r>
          </a:p>
          <a:p>
            <a:pPr lvl="1" eaLnBrk="1" hangingPunct="1"/>
            <a:r>
              <a:rPr lang="zh-CN" altLang="en-US" sz="1800" dirty="0">
                <a:latin typeface="Microsoft YaHei" panose="020B0503020204020204" pitchFamily="34" charset="-122"/>
                <a:ea typeface="Microsoft YaHei" panose="020B0503020204020204" pitchFamily="34" charset="-122"/>
              </a:rPr>
              <a:t>值暂未知。 </a:t>
            </a:r>
          </a:p>
          <a:p>
            <a:pPr lvl="1" eaLnBrk="1" hangingPunct="1"/>
            <a:r>
              <a:rPr lang="zh-CN" altLang="en-US" sz="1800" dirty="0">
                <a:latin typeface="Microsoft YaHei" panose="020B0503020204020204" pitchFamily="34" charset="-122"/>
                <a:ea typeface="Microsoft YaHei" panose="020B0503020204020204" pitchFamily="34" charset="-122"/>
              </a:rPr>
              <a:t>值不适用。 </a:t>
            </a:r>
          </a:p>
          <a:p>
            <a:pPr lvl="1" eaLnBrk="1" hangingPunct="1"/>
            <a:r>
              <a:rPr lang="zh-CN" altLang="en-US" sz="1800" dirty="0">
                <a:latin typeface="Microsoft YaHei" panose="020B0503020204020204" pitchFamily="34" charset="-122"/>
                <a:ea typeface="Microsoft YaHei" panose="020B0503020204020204" pitchFamily="34" charset="-122"/>
              </a:rPr>
              <a:t>值需隐瞒。</a:t>
            </a:r>
          </a:p>
          <a:p>
            <a:pPr eaLnBrk="1" hangingPunct="1">
              <a:buNone/>
            </a:pPr>
            <a:endParaRPr lang="en-US" altLang="zh-CN" sz="1800" b="1" dirty="0">
              <a:solidFill>
                <a:srgbClr val="C00000"/>
              </a:solidFill>
              <a:latin typeface="Microsoft YaHei" panose="020B0503020204020204" pitchFamily="34" charset="-122"/>
              <a:ea typeface="Microsoft YaHei" panose="020B0503020204020204" pitchFamily="34" charset="-122"/>
            </a:endParaRPr>
          </a:p>
          <a:p>
            <a:pPr eaLnBrk="1" hangingPunct="1">
              <a:buNone/>
            </a:pPr>
            <a:r>
              <a:rPr lang="zh-CN" altLang="en-US" sz="1800" b="1" dirty="0">
                <a:solidFill>
                  <a:srgbClr val="C00000"/>
                </a:solidFill>
                <a:latin typeface="Microsoft YaHei" panose="020B0503020204020204" pitchFamily="34" charset="-122"/>
                <a:ea typeface="Microsoft YaHei" panose="020B0503020204020204" pitchFamily="34" charset="-122"/>
              </a:rPr>
              <a:t>（</a:t>
            </a:r>
            <a:r>
              <a:rPr lang="en-US" altLang="zh-CN" sz="1800" b="1" dirty="0">
                <a:solidFill>
                  <a:srgbClr val="C00000"/>
                </a:solidFill>
                <a:latin typeface="Microsoft YaHei" panose="020B0503020204020204" pitchFamily="34" charset="-122"/>
                <a:ea typeface="Microsoft YaHei" panose="020B0503020204020204" pitchFamily="34" charset="-122"/>
              </a:rPr>
              <a:t>2</a:t>
            </a:r>
            <a:r>
              <a:rPr lang="zh-CN" altLang="en-US" sz="1800" b="1" dirty="0">
                <a:solidFill>
                  <a:srgbClr val="C00000"/>
                </a:solidFill>
                <a:latin typeface="Microsoft YaHei" panose="020B0503020204020204" pitchFamily="34" charset="-122"/>
                <a:ea typeface="Microsoft YaHei" panose="020B0503020204020204" pitchFamily="34" charset="-122"/>
              </a:rPr>
              <a:t>）空值的测试</a:t>
            </a:r>
          </a:p>
          <a:p>
            <a:pPr eaLnBrk="1" hangingPunct="1"/>
            <a:r>
              <a:rPr lang="zh-CN" altLang="en-US" sz="1800" dirty="0">
                <a:latin typeface="Microsoft YaHei" panose="020B0503020204020204" pitchFamily="34" charset="-122"/>
                <a:ea typeface="Microsoft YaHei" panose="020B0503020204020204" pitchFamily="34" charset="-122"/>
              </a:rPr>
              <a:t>空值不能比较，只能测试</a:t>
            </a:r>
            <a:endParaRPr lang="en-US" altLang="zh-CN" sz="1800" dirty="0">
              <a:latin typeface="Microsoft YaHei" panose="020B0503020204020204" pitchFamily="34" charset="-122"/>
              <a:ea typeface="Microsoft YaHei" panose="020B0503020204020204" pitchFamily="34" charset="-122"/>
            </a:endParaRPr>
          </a:p>
          <a:p>
            <a:pPr eaLnBrk="1" hangingPunct="1"/>
            <a:r>
              <a:rPr lang="zh-CN" altLang="en-US" sz="1800" dirty="0">
                <a:latin typeface="Microsoft YaHei" panose="020B0503020204020204" pitchFamily="34" charset="-122"/>
                <a:ea typeface="Microsoft YaHei" panose="020B0503020204020204" pitchFamily="34" charset="-122"/>
              </a:rPr>
              <a:t>空值的测试：</a:t>
            </a:r>
            <a:endParaRPr lang="en-US" altLang="zh-CN" sz="1800" dirty="0">
              <a:latin typeface="Microsoft YaHei" panose="020B0503020204020204" pitchFamily="34" charset="-122"/>
              <a:ea typeface="Microsoft YaHei" panose="020B0503020204020204" pitchFamily="34" charset="-122"/>
            </a:endParaRPr>
          </a:p>
          <a:p>
            <a:pPr lvl="1" eaLnBrk="1" hangingPunct="1"/>
            <a:r>
              <a:rPr lang="en-US" altLang="zh-CN" sz="1400" dirty="0">
                <a:solidFill>
                  <a:schemeClr val="hlink"/>
                </a:solidFill>
                <a:latin typeface="Microsoft YaHei" panose="020B0503020204020204" pitchFamily="34" charset="-122"/>
                <a:ea typeface="Microsoft YaHei" panose="020B0503020204020204" pitchFamily="34" charset="-122"/>
              </a:rPr>
              <a:t>IS NULL </a:t>
            </a:r>
            <a:endParaRPr lang="en-US" altLang="zh-CN" sz="1400" dirty="0">
              <a:latin typeface="Microsoft YaHei" panose="020B0503020204020204" pitchFamily="34" charset="-122"/>
              <a:ea typeface="Microsoft YaHei" panose="020B0503020204020204" pitchFamily="34" charset="-122"/>
            </a:endParaRPr>
          </a:p>
          <a:p>
            <a:pPr lvl="1" eaLnBrk="1" hangingPunct="1"/>
            <a:r>
              <a:rPr lang="en-US" altLang="zh-CN" sz="1400" dirty="0">
                <a:solidFill>
                  <a:schemeClr val="hlink"/>
                </a:solidFill>
                <a:latin typeface="Microsoft YaHei" panose="020B0503020204020204" pitchFamily="34" charset="-122"/>
                <a:ea typeface="Microsoft YaHei" panose="020B0503020204020204" pitchFamily="34" charset="-122"/>
              </a:rPr>
              <a:t>IS NOT NULL</a:t>
            </a:r>
            <a:endParaRPr lang="zh-CN" altLang="en-US" sz="1400" dirty="0">
              <a:latin typeface="Microsoft YaHei" panose="020B0503020204020204" pitchFamily="34" charset="-122"/>
              <a:ea typeface="Microsoft YaHei" panose="020B0503020204020204" pitchFamily="34" charset="-122"/>
            </a:endParaRPr>
          </a:p>
          <a:p>
            <a:pPr eaLnBrk="1" hangingPunct="1"/>
            <a:endParaRPr lang="zh-CN" altLang="en-US" sz="1800" b="1" dirty="0">
              <a:latin typeface="Microsoft YaHei" panose="020B0503020204020204" pitchFamily="34" charset="-122"/>
              <a:ea typeface="Microsoft YaHei" panose="020B0503020204020204" pitchFamily="34" charset="-122"/>
            </a:endParaRPr>
          </a:p>
        </p:txBody>
      </p:sp>
      <p:sp>
        <p:nvSpPr>
          <p:cNvPr id="6" name="标题 5">
            <a:extLst>
              <a:ext uri="{FF2B5EF4-FFF2-40B4-BE49-F238E27FC236}">
                <a16:creationId xmlns:a16="http://schemas.microsoft.com/office/drawing/2014/main" id="{F64F33EC-BD87-9C42-D2F7-7EC53DA6C21A}"/>
              </a:ext>
            </a:extLst>
          </p:cNvPr>
          <p:cNvSpPr>
            <a:spLocks noGrp="1"/>
          </p:cNvSpPr>
          <p:nvPr>
            <p:ph type="title"/>
          </p:nvPr>
        </p:nvSpPr>
        <p:spPr/>
        <p:txBody>
          <a:bodyPr/>
          <a:lstStyle/>
          <a:p>
            <a:r>
              <a:rPr lang="en-US" altLang="zh-CN" dirty="0"/>
              <a:t>SQL</a:t>
            </a:r>
            <a:r>
              <a:rPr lang="zh-CN" altLang="en-US" dirty="0"/>
              <a:t>中的空值</a:t>
            </a:r>
          </a:p>
        </p:txBody>
      </p:sp>
      <p:sp>
        <p:nvSpPr>
          <p:cNvPr id="7" name="Rectangle 3">
            <a:extLst>
              <a:ext uri="{FF2B5EF4-FFF2-40B4-BE49-F238E27FC236}">
                <a16:creationId xmlns:a16="http://schemas.microsoft.com/office/drawing/2014/main" id="{C63B7C85-14C0-AFAB-E710-E07F85C84C7A}"/>
              </a:ext>
            </a:extLst>
          </p:cNvPr>
          <p:cNvSpPr>
            <a:spLocks noGrp="1"/>
          </p:cNvSpPr>
          <p:nvPr>
            <p:custDataLst>
              <p:tags r:id="rId2"/>
            </p:custDataLst>
          </p:nvPr>
        </p:nvSpPr>
        <p:spPr>
          <a:xfrm>
            <a:off x="3417447" y="1421884"/>
            <a:ext cx="5405960" cy="3205500"/>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en-US" altLang="zh-CN" sz="1800" b="1" dirty="0">
                <a:solidFill>
                  <a:schemeClr val="hlink"/>
                </a:solidFill>
                <a:latin typeface="Microsoft YaHei" panose="020B0503020204020204" pitchFamily="34" charset="-122"/>
                <a:ea typeface="Microsoft YaHei" panose="020B0503020204020204" pitchFamily="34" charset="-122"/>
              </a:rPr>
              <a:t>【</a:t>
            </a:r>
            <a:r>
              <a:rPr lang="zh-CN" altLang="en-US" sz="1800" b="1" dirty="0">
                <a:solidFill>
                  <a:schemeClr val="hlink"/>
                </a:solidFill>
                <a:latin typeface="Microsoft YaHei" panose="020B0503020204020204" pitchFamily="34" charset="-122"/>
                <a:ea typeface="Microsoft YaHei" panose="020B0503020204020204" pitchFamily="34" charset="-122"/>
              </a:rPr>
              <a:t>例</a:t>
            </a:r>
            <a:r>
              <a:rPr lang="en-US" altLang="zh-CN" sz="1800" b="1" dirty="0">
                <a:solidFill>
                  <a:schemeClr val="hlink"/>
                </a:solidFill>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查询缺少选课成绩的学生号和相应的课程号。</a:t>
            </a:r>
          </a:p>
          <a:p>
            <a:pPr eaLnBrk="1" hangingPunct="1">
              <a:buNone/>
            </a:pPr>
            <a:r>
              <a:rPr lang="zh-CN" altLang="en-US" sz="1800" dirty="0">
                <a:latin typeface="Microsoft YaHei" panose="020B0503020204020204" pitchFamily="34" charset="-122"/>
                <a:ea typeface="Microsoft YaHei" panose="020B0503020204020204" pitchFamily="34" charset="-122"/>
              </a:rPr>
              <a:t>    SELECT </a:t>
            </a:r>
            <a:r>
              <a:rPr lang="en-US" altLang="zh-CN" sz="1800" dirty="0">
                <a:latin typeface="Microsoft YaHei" panose="020B0503020204020204" pitchFamily="34" charset="-122"/>
                <a:ea typeface="Microsoft YaHei" panose="020B0503020204020204" pitchFamily="34" charset="-122"/>
              </a:rPr>
              <a:t>s</a:t>
            </a:r>
            <a:r>
              <a:rPr lang="zh-CN" altLang="en-US" sz="1800" dirty="0">
                <a:latin typeface="Microsoft YaHei" panose="020B0503020204020204" pitchFamily="34" charset="-122"/>
                <a:ea typeface="Microsoft YaHei" panose="020B0503020204020204" pitchFamily="34" charset="-122"/>
              </a:rPr>
              <a:t>no, </a:t>
            </a:r>
            <a:r>
              <a:rPr lang="en-US" altLang="zh-CN" sz="1800" dirty="0">
                <a:latin typeface="Microsoft YaHei" panose="020B0503020204020204" pitchFamily="34" charset="-122"/>
                <a:ea typeface="Microsoft YaHei" panose="020B0503020204020204" pitchFamily="34" charset="-122"/>
              </a:rPr>
              <a:t>c</a:t>
            </a:r>
            <a:r>
              <a:rPr lang="zh-CN" altLang="en-US" sz="1800" dirty="0">
                <a:latin typeface="Microsoft YaHei" panose="020B0503020204020204" pitchFamily="34" charset="-122"/>
                <a:ea typeface="Microsoft YaHei" panose="020B0503020204020204" pitchFamily="34" charset="-122"/>
              </a:rPr>
              <a:t>no</a:t>
            </a:r>
            <a:endParaRPr lang="en-US" altLang="zh-CN" sz="1800" dirty="0">
              <a:latin typeface="Microsoft YaHei" panose="020B0503020204020204" pitchFamily="34" charset="-122"/>
              <a:ea typeface="Microsoft YaHei" panose="020B0503020204020204" pitchFamily="34" charset="-122"/>
            </a:endParaRPr>
          </a:p>
          <a:p>
            <a:pPr eaLnBrk="1" hangingPunct="1">
              <a:buNone/>
            </a:pPr>
            <a:r>
              <a:rPr lang="zh-CN" altLang="en-US" sz="1800" dirty="0">
                <a:latin typeface="Microsoft YaHei" panose="020B0503020204020204" pitchFamily="34" charset="-122"/>
                <a:ea typeface="Microsoft YaHei" panose="020B0503020204020204" pitchFamily="34" charset="-122"/>
              </a:rPr>
              <a:t>    FROM SC</a:t>
            </a:r>
            <a:endParaRPr lang="en-US" altLang="zh-CN" sz="1800" dirty="0">
              <a:latin typeface="Microsoft YaHei" panose="020B0503020204020204" pitchFamily="34" charset="-122"/>
              <a:ea typeface="Microsoft YaHei" panose="020B0503020204020204" pitchFamily="34" charset="-122"/>
            </a:endParaRPr>
          </a:p>
          <a:p>
            <a:pPr eaLnBrk="1" hangingPunct="1">
              <a:buNone/>
            </a:pPr>
            <a:r>
              <a:rPr lang="zh-CN" altLang="en-US" sz="1800" dirty="0">
                <a:latin typeface="Microsoft YaHei" panose="020B0503020204020204" pitchFamily="34" charset="-122"/>
                <a:ea typeface="Microsoft YaHei" panose="020B0503020204020204" pitchFamily="34" charset="-122"/>
              </a:rPr>
              <a:t>    WHERE </a:t>
            </a:r>
            <a:r>
              <a:rPr lang="en-US" altLang="zh-CN" sz="1800" dirty="0">
                <a:latin typeface="Microsoft YaHei" panose="020B0503020204020204" pitchFamily="34" charset="-122"/>
                <a:ea typeface="Microsoft YaHei" panose="020B0503020204020204" pitchFamily="34" charset="-122"/>
              </a:rPr>
              <a:t>g</a:t>
            </a:r>
            <a:r>
              <a:rPr lang="zh-CN" altLang="en-US" sz="1800" dirty="0">
                <a:latin typeface="Microsoft YaHei" panose="020B0503020204020204" pitchFamily="34" charset="-122"/>
                <a:ea typeface="Microsoft YaHei" panose="020B0503020204020204" pitchFamily="34" charset="-122"/>
              </a:rPr>
              <a:t>rade </a:t>
            </a:r>
            <a:r>
              <a:rPr lang="zh-CN" altLang="en-US" sz="1800" dirty="0">
                <a:solidFill>
                  <a:schemeClr val="hlink"/>
                </a:solidFill>
                <a:latin typeface="Microsoft YaHei" panose="020B0503020204020204" pitchFamily="34" charset="-122"/>
                <a:ea typeface="Microsoft YaHei" panose="020B0503020204020204" pitchFamily="34" charset="-122"/>
              </a:rPr>
              <a:t>IS</a:t>
            </a:r>
            <a:r>
              <a:rPr lang="zh-CN" altLang="en-US" sz="1800" dirty="0">
                <a:latin typeface="Microsoft YaHei" panose="020B0503020204020204" pitchFamily="34" charset="-122"/>
                <a:ea typeface="Microsoft YaHei" panose="020B0503020204020204" pitchFamily="34" charset="-122"/>
              </a:rPr>
              <a:t> NULL; </a:t>
            </a:r>
            <a:br>
              <a:rPr lang="zh-CN" altLang="en-US" sz="1800" dirty="0">
                <a:latin typeface="Microsoft YaHei" panose="020B0503020204020204" pitchFamily="34" charset="-122"/>
                <a:ea typeface="Microsoft YaHei" panose="020B0503020204020204" pitchFamily="34" charset="-122"/>
              </a:rPr>
            </a:br>
            <a:r>
              <a:rPr lang="zh-CN" altLang="en-US" sz="1800" b="1" dirty="0">
                <a:solidFill>
                  <a:srgbClr val="C00000"/>
                </a:solidFill>
                <a:latin typeface="Microsoft YaHei" panose="020B0503020204020204" pitchFamily="34" charset="-122"/>
                <a:ea typeface="Microsoft YaHei" panose="020B0503020204020204" pitchFamily="34" charset="-122"/>
              </a:rPr>
              <a:t>注意</a:t>
            </a:r>
            <a:r>
              <a:rPr lang="zh-CN" altLang="en-US" sz="1800" dirty="0">
                <a:solidFill>
                  <a:schemeClr val="hlink"/>
                </a:solidFill>
                <a:latin typeface="Microsoft YaHei" panose="020B0503020204020204" pitchFamily="34" charset="-122"/>
                <a:ea typeface="Microsoft YaHei" panose="020B0503020204020204" pitchFamily="34" charset="-122"/>
              </a:rPr>
              <a:t>这里的‘IS’不能用等号（‘=’） 代替。</a:t>
            </a:r>
            <a:r>
              <a:rPr lang="zh-CN" altLang="en-US" sz="1800" dirty="0">
                <a:latin typeface="Microsoft YaHei" panose="020B0503020204020204" pitchFamily="34" charset="-122"/>
                <a:ea typeface="Microsoft YaHei" panose="020B0503020204020204" pitchFamily="34" charset="-122"/>
              </a:rPr>
              <a:t> </a:t>
            </a:r>
          </a:p>
          <a:p>
            <a:pPr eaLnBrk="1" hangingPunct="1"/>
            <a:endParaRPr lang="zh-CN" altLang="en-US" sz="1800" b="1" dirty="0">
              <a:latin typeface="Microsoft YaHei" panose="020B0503020204020204" pitchFamily="34" charset="-122"/>
              <a:ea typeface="Microsoft YaHei" panose="020B0503020204020204" pitchFamily="34" charset="-122"/>
            </a:endParaRPr>
          </a:p>
          <a:p>
            <a:pPr eaLnBrk="1" hangingPunct="1">
              <a:buNone/>
            </a:pPr>
            <a:r>
              <a:rPr lang="en-US" altLang="zh-CN" sz="1800" b="1" dirty="0">
                <a:solidFill>
                  <a:schemeClr val="hlink"/>
                </a:solidFill>
                <a:latin typeface="Microsoft YaHei" panose="020B0503020204020204" pitchFamily="34" charset="-122"/>
                <a:ea typeface="Microsoft YaHei" panose="020B0503020204020204" pitchFamily="34" charset="-122"/>
              </a:rPr>
              <a:t>【</a:t>
            </a:r>
            <a:r>
              <a:rPr lang="zh-CN" altLang="en-US" sz="1800" b="1" dirty="0">
                <a:solidFill>
                  <a:schemeClr val="hlink"/>
                </a:solidFill>
                <a:latin typeface="Microsoft YaHei" panose="020B0503020204020204" pitchFamily="34" charset="-122"/>
                <a:ea typeface="Microsoft YaHei" panose="020B0503020204020204" pitchFamily="34" charset="-122"/>
              </a:rPr>
              <a:t>例</a:t>
            </a:r>
            <a:r>
              <a:rPr lang="en-US" altLang="zh-CN" sz="1800" b="1" dirty="0">
                <a:solidFill>
                  <a:schemeClr val="hlink"/>
                </a:solidFill>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查所有有成绩的记录的学生学号和课程号。</a:t>
            </a:r>
          </a:p>
          <a:p>
            <a:pPr eaLnBrk="1" hangingPunct="1">
              <a:buNone/>
            </a:pPr>
            <a:r>
              <a:rPr lang="zh-CN" altLang="en-US" sz="1800" dirty="0">
                <a:latin typeface="Microsoft YaHei" panose="020B0503020204020204" pitchFamily="34" charset="-122"/>
                <a:ea typeface="Microsoft YaHei" panose="020B0503020204020204" pitchFamily="34" charset="-122"/>
              </a:rPr>
              <a:t>    SELECT </a:t>
            </a:r>
            <a:r>
              <a:rPr lang="en-US" altLang="zh-CN" sz="1800" dirty="0">
                <a:latin typeface="Microsoft YaHei" panose="020B0503020204020204" pitchFamily="34" charset="-122"/>
                <a:ea typeface="Microsoft YaHei" panose="020B0503020204020204" pitchFamily="34" charset="-122"/>
              </a:rPr>
              <a:t>s</a:t>
            </a:r>
            <a:r>
              <a:rPr lang="zh-CN" altLang="en-US" sz="1800" dirty="0">
                <a:latin typeface="Microsoft YaHei" panose="020B0503020204020204" pitchFamily="34" charset="-122"/>
                <a:ea typeface="Microsoft YaHei" panose="020B0503020204020204" pitchFamily="34" charset="-122"/>
              </a:rPr>
              <a:t>no, </a:t>
            </a:r>
            <a:r>
              <a:rPr lang="en-US" altLang="zh-CN" sz="1800" dirty="0">
                <a:latin typeface="Microsoft YaHei" panose="020B0503020204020204" pitchFamily="34" charset="-122"/>
                <a:ea typeface="Microsoft YaHei" panose="020B0503020204020204" pitchFamily="34" charset="-122"/>
              </a:rPr>
              <a:t>c</a:t>
            </a:r>
            <a:r>
              <a:rPr lang="zh-CN" altLang="en-US" sz="1800" dirty="0">
                <a:latin typeface="Microsoft YaHei" panose="020B0503020204020204" pitchFamily="34" charset="-122"/>
                <a:ea typeface="Microsoft YaHei" panose="020B0503020204020204" pitchFamily="34" charset="-122"/>
              </a:rPr>
              <a:t>no 　</a:t>
            </a:r>
            <a:endParaRPr lang="en-US" altLang="zh-CN" sz="1800" dirty="0">
              <a:latin typeface="Microsoft YaHei" panose="020B0503020204020204" pitchFamily="34" charset="-122"/>
              <a:ea typeface="Microsoft YaHei" panose="020B0503020204020204" pitchFamily="34" charset="-122"/>
            </a:endParaRPr>
          </a:p>
          <a:p>
            <a:pPr eaLnBrk="1" hangingPunct="1">
              <a:buNone/>
            </a:pPr>
            <a:r>
              <a:rPr lang="zh-CN" altLang="en-US" sz="1800" dirty="0">
                <a:latin typeface="Microsoft YaHei" panose="020B0503020204020204" pitchFamily="34" charset="-122"/>
                <a:ea typeface="Microsoft YaHei" panose="020B0503020204020204" pitchFamily="34" charset="-122"/>
              </a:rPr>
              <a:t>    FROM SC </a:t>
            </a:r>
            <a:endParaRPr lang="en-US" altLang="zh-CN" sz="1800" dirty="0">
              <a:latin typeface="Microsoft YaHei" panose="020B0503020204020204" pitchFamily="34" charset="-122"/>
              <a:ea typeface="Microsoft YaHei" panose="020B0503020204020204" pitchFamily="34" charset="-122"/>
            </a:endParaRPr>
          </a:p>
          <a:p>
            <a:pPr eaLnBrk="1" hangingPunct="1">
              <a:buNone/>
            </a:pPr>
            <a:r>
              <a:rPr lang="zh-CN" altLang="en-US" sz="1800" dirty="0">
                <a:latin typeface="Microsoft YaHei" panose="020B0503020204020204" pitchFamily="34" charset="-122"/>
                <a:ea typeface="Microsoft YaHei" panose="020B0503020204020204" pitchFamily="34" charset="-122"/>
              </a:rPr>
              <a:t>    WHERE </a:t>
            </a:r>
            <a:r>
              <a:rPr lang="en-US" altLang="zh-CN" sz="1800" dirty="0">
                <a:latin typeface="Microsoft YaHei" panose="020B0503020204020204" pitchFamily="34" charset="-122"/>
                <a:ea typeface="Microsoft YaHei" panose="020B0503020204020204" pitchFamily="34" charset="-122"/>
              </a:rPr>
              <a:t>g</a:t>
            </a:r>
            <a:r>
              <a:rPr lang="zh-CN" altLang="en-US" sz="1800" dirty="0">
                <a:latin typeface="Microsoft YaHei" panose="020B0503020204020204" pitchFamily="34" charset="-122"/>
                <a:ea typeface="Microsoft YaHei" panose="020B0503020204020204" pitchFamily="34" charset="-122"/>
              </a:rPr>
              <a:t>rade </a:t>
            </a:r>
            <a:r>
              <a:rPr lang="zh-CN" altLang="en-US" sz="1800" dirty="0">
                <a:solidFill>
                  <a:schemeClr val="hlink"/>
                </a:solidFill>
                <a:latin typeface="Microsoft YaHei" panose="020B0503020204020204" pitchFamily="34" charset="-122"/>
                <a:ea typeface="Microsoft YaHei" panose="020B0503020204020204" pitchFamily="34" charset="-122"/>
              </a:rPr>
              <a:t>IS NOT</a:t>
            </a:r>
            <a:r>
              <a:rPr lang="zh-CN" altLang="en-US" sz="1800" dirty="0">
                <a:latin typeface="Microsoft YaHei" panose="020B0503020204020204" pitchFamily="34" charset="-122"/>
                <a:ea typeface="Microsoft YaHei" panose="020B0503020204020204" pitchFamily="34" charset="-122"/>
              </a:rPr>
              <a:t> NULL; </a:t>
            </a: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文本占位符 771073"/>
          <p:cNvSpPr>
            <a:spLocks noGrp="1"/>
          </p:cNvSpPr>
          <p:nvPr/>
        </p:nvSpPr>
        <p:spPr>
          <a:xfrm>
            <a:off x="80440" y="2239386"/>
            <a:ext cx="3695147" cy="2407804"/>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a:lnSpc>
                <a:spcPct val="90000"/>
              </a:lnSpc>
            </a:pPr>
            <a:r>
              <a:rPr lang="en-US" altLang="zh-CN"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cs typeface="楷体" panose="02010609060101010101" pitchFamily="49" charset="-122"/>
              </a:rPr>
              <a:t>INTO</a:t>
            </a:r>
            <a:r>
              <a:rPr lang="zh-CN" altLang="en-US" sz="1800" dirty="0">
                <a:latin typeface="Microsoft YaHei" panose="020B0503020204020204" pitchFamily="34" charset="-122"/>
                <a:ea typeface="Microsoft YaHei" panose="020B0503020204020204" pitchFamily="34" charset="-122"/>
                <a:cs typeface="楷体" panose="02010609060101010101" pitchFamily="49" charset="-122"/>
              </a:rPr>
              <a:t>子句</a:t>
            </a:r>
            <a:endParaRPr lang="zh-CN" altLang="en-US" sz="2100" dirty="0">
              <a:latin typeface="Microsoft YaHei" panose="020B0503020204020204" pitchFamily="34" charset="-122"/>
              <a:ea typeface="Microsoft YaHei" panose="020B0503020204020204" pitchFamily="34" charset="-122"/>
            </a:endParaRPr>
          </a:p>
          <a:p>
            <a:pPr lvl="1">
              <a:lnSpc>
                <a:spcPct val="90000"/>
              </a:lnSpc>
            </a:pPr>
            <a:r>
              <a:rPr lang="zh-CN" altLang="en-US" sz="1600" dirty="0">
                <a:latin typeface="Microsoft YaHei" panose="020B0503020204020204" pitchFamily="34" charset="-122"/>
                <a:ea typeface="Microsoft YaHei" panose="020B0503020204020204" pitchFamily="34" charset="-122"/>
              </a:rPr>
              <a:t>指定要插入数据的表名及属性列</a:t>
            </a:r>
          </a:p>
          <a:p>
            <a:pPr lvl="1">
              <a:lnSpc>
                <a:spcPct val="90000"/>
              </a:lnSpc>
            </a:pPr>
            <a:r>
              <a:rPr lang="zh-CN" altLang="en-US" sz="1600" dirty="0">
                <a:latin typeface="Microsoft YaHei" panose="020B0503020204020204" pitchFamily="34" charset="-122"/>
                <a:ea typeface="Microsoft YaHei" panose="020B0503020204020204" pitchFamily="34" charset="-122"/>
              </a:rPr>
              <a:t>属性列的顺序可与表定义中的顺序不一致</a:t>
            </a:r>
          </a:p>
          <a:p>
            <a:pPr lvl="1">
              <a:lnSpc>
                <a:spcPct val="90000"/>
              </a:lnSpc>
            </a:pPr>
            <a:r>
              <a:rPr lang="zh-CN" altLang="en-US" sz="1600" dirty="0">
                <a:latin typeface="Microsoft YaHei" panose="020B0503020204020204" pitchFamily="34" charset="-122"/>
                <a:ea typeface="Microsoft YaHei" panose="020B0503020204020204" pitchFamily="34" charset="-122"/>
              </a:rPr>
              <a:t>没有指定属性列：表示要插入的是一条完整的元组，且属性列属性与表定义中的顺序一致</a:t>
            </a:r>
          </a:p>
          <a:p>
            <a:pPr lvl="1">
              <a:lnSpc>
                <a:spcPct val="90000"/>
              </a:lnSpc>
            </a:pPr>
            <a:r>
              <a:rPr lang="zh-CN" altLang="en-US" sz="1600" dirty="0">
                <a:latin typeface="Microsoft YaHei" panose="020B0503020204020204" pitchFamily="34" charset="-122"/>
                <a:ea typeface="Microsoft YaHei" panose="020B0503020204020204" pitchFamily="34" charset="-122"/>
              </a:rPr>
              <a:t>指定部分属性列：插入的元组在其余属性列上取空值</a:t>
            </a:r>
          </a:p>
        </p:txBody>
      </p:sp>
      <p:sp>
        <p:nvSpPr>
          <p:cNvPr id="2" name="Rectangle 3"/>
          <p:cNvSpPr>
            <a:spLocks noGrp="1"/>
          </p:cNvSpPr>
          <p:nvPr>
            <p:custDataLst>
              <p:tags r:id="rId1"/>
            </p:custDataLst>
          </p:nvPr>
        </p:nvSpPr>
        <p:spPr>
          <a:xfrm>
            <a:off x="157316" y="1253548"/>
            <a:ext cx="6858000" cy="1771650"/>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lnSpc>
                <a:spcPct val="90000"/>
              </a:lnSpc>
              <a:buNone/>
            </a:pPr>
            <a:r>
              <a:rPr lang="zh-CN" altLang="en-US" sz="1800" b="1" dirty="0">
                <a:solidFill>
                  <a:schemeClr val="hlink"/>
                </a:solidFill>
                <a:latin typeface="Microsoft YaHei" panose="020B0503020204020204" pitchFamily="34" charset="-122"/>
                <a:ea typeface="Microsoft YaHei" panose="020B0503020204020204" pitchFamily="34" charset="-122"/>
              </a:rPr>
              <a:t>格式：</a:t>
            </a:r>
            <a:r>
              <a:rPr lang="zh-CN" altLang="en-US" sz="1800" b="1" dirty="0">
                <a:latin typeface="Microsoft YaHei" panose="020B0503020204020204" pitchFamily="34" charset="-122"/>
                <a:ea typeface="Microsoft YaHei" panose="020B0503020204020204" pitchFamily="34" charset="-122"/>
              </a:rPr>
              <a:t>INSERT INTO &lt;表名&gt; [(&lt;列名1&gt;[,&lt;列名2&gt;…)]</a:t>
            </a:r>
          </a:p>
          <a:p>
            <a:pPr eaLnBrk="1" hangingPunct="1">
              <a:lnSpc>
                <a:spcPct val="90000"/>
              </a:lnSpc>
              <a:buNone/>
            </a:pPr>
            <a:r>
              <a:rPr lang="zh-CN" altLang="en-US" sz="1800" b="1" dirty="0">
                <a:latin typeface="Microsoft YaHei" panose="020B0503020204020204" pitchFamily="34" charset="-122"/>
                <a:ea typeface="Microsoft YaHei" panose="020B0503020204020204" pitchFamily="34" charset="-122"/>
              </a:rPr>
              <a:t>      </a:t>
            </a:r>
            <a:r>
              <a:rPr lang="zh-CN" altLang="en-US" sz="1800" b="1" dirty="0">
                <a:solidFill>
                  <a:srgbClr val="800000"/>
                </a:solidFill>
                <a:latin typeface="Microsoft YaHei" panose="020B0503020204020204" pitchFamily="34" charset="-122"/>
                <a:ea typeface="Microsoft YaHei" panose="020B0503020204020204" pitchFamily="34" charset="-122"/>
              </a:rPr>
              <a:t>&lt;子查询&gt;</a:t>
            </a:r>
            <a:r>
              <a:rPr lang="zh-CN" altLang="en-US" sz="1800" b="1" dirty="0">
                <a:solidFill>
                  <a:srgbClr val="0000FF"/>
                </a:solidFill>
                <a:latin typeface="Microsoft YaHei" panose="020B0503020204020204" pitchFamily="34" charset="-122"/>
                <a:ea typeface="Microsoft YaHei" panose="020B0503020204020204" pitchFamily="34" charset="-122"/>
              </a:rPr>
              <a:t>|</a:t>
            </a:r>
            <a:r>
              <a:rPr lang="zh-CN" altLang="en-US" sz="1800" b="1" dirty="0">
                <a:solidFill>
                  <a:srgbClr val="800000"/>
                </a:solidFill>
                <a:latin typeface="Microsoft YaHei" panose="020B0503020204020204" pitchFamily="34" charset="-122"/>
                <a:ea typeface="Microsoft YaHei" panose="020B0503020204020204" pitchFamily="34" charset="-122"/>
              </a:rPr>
              <a:t>VALUES(&lt;常量1&gt;[，&lt;常量2&gt;] …)</a:t>
            </a:r>
            <a:r>
              <a:rPr lang="zh-CN" altLang="en-US" sz="1800" b="1" dirty="0">
                <a:latin typeface="Microsoft YaHei" panose="020B0503020204020204" pitchFamily="34" charset="-122"/>
                <a:ea typeface="Microsoft YaHei" panose="020B0503020204020204" pitchFamily="34" charset="-122"/>
              </a:rPr>
              <a:t>；</a:t>
            </a:r>
          </a:p>
          <a:p>
            <a:pPr eaLnBrk="1" hangingPunct="1">
              <a:lnSpc>
                <a:spcPct val="90000"/>
              </a:lnSpc>
              <a:buNone/>
            </a:pPr>
            <a:r>
              <a:rPr lang="zh-CN" altLang="en-US" sz="1800" b="1" dirty="0">
                <a:solidFill>
                  <a:schemeClr val="hlink"/>
                </a:solidFill>
                <a:latin typeface="Microsoft YaHei" panose="020B0503020204020204" pitchFamily="34" charset="-122"/>
                <a:ea typeface="Microsoft YaHei" panose="020B0503020204020204" pitchFamily="34" charset="-122"/>
              </a:rPr>
              <a:t>说明：</a:t>
            </a:r>
          </a:p>
          <a:p>
            <a:pPr eaLnBrk="1" hangingPunct="1">
              <a:lnSpc>
                <a:spcPct val="120000"/>
              </a:lnSpc>
              <a:spcBef>
                <a:spcPts val="19"/>
              </a:spcBef>
            </a:pPr>
            <a:endParaRPr lang="zh-CN" altLang="en-US" sz="1800" b="1" dirty="0">
              <a:latin typeface="Microsoft YaHei" panose="020B0503020204020204" pitchFamily="34" charset="-122"/>
              <a:ea typeface="Microsoft YaHei" panose="020B0503020204020204" pitchFamily="34" charset="-122"/>
            </a:endParaRPr>
          </a:p>
        </p:txBody>
      </p:sp>
      <p:sp>
        <p:nvSpPr>
          <p:cNvPr id="6" name="标题 5">
            <a:extLst>
              <a:ext uri="{FF2B5EF4-FFF2-40B4-BE49-F238E27FC236}">
                <a16:creationId xmlns:a16="http://schemas.microsoft.com/office/drawing/2014/main" id="{8755C484-49F7-BFC0-837C-77133B8C6C95}"/>
              </a:ext>
            </a:extLst>
          </p:cNvPr>
          <p:cNvSpPr>
            <a:spLocks noGrp="1"/>
          </p:cNvSpPr>
          <p:nvPr>
            <p:ph type="title"/>
          </p:nvPr>
        </p:nvSpPr>
        <p:spPr/>
        <p:txBody>
          <a:bodyPr/>
          <a:lstStyle/>
          <a:p>
            <a:r>
              <a:rPr lang="zh-CN" altLang="en-US" dirty="0"/>
              <a:t>数据插入</a:t>
            </a:r>
          </a:p>
        </p:txBody>
      </p:sp>
      <p:sp>
        <p:nvSpPr>
          <p:cNvPr id="7" name="文本占位符 771073">
            <a:extLst>
              <a:ext uri="{FF2B5EF4-FFF2-40B4-BE49-F238E27FC236}">
                <a16:creationId xmlns:a16="http://schemas.microsoft.com/office/drawing/2014/main" id="{52D148E2-170D-17B7-A04F-0CFA44C98493}"/>
              </a:ext>
            </a:extLst>
          </p:cNvPr>
          <p:cNvSpPr>
            <a:spLocks noGrp="1"/>
          </p:cNvSpPr>
          <p:nvPr/>
        </p:nvSpPr>
        <p:spPr>
          <a:xfrm>
            <a:off x="4128980" y="2123768"/>
            <a:ext cx="4857704" cy="261538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a:lnSpc>
                <a:spcPct val="90000"/>
              </a:lnSpc>
            </a:pPr>
            <a:r>
              <a:rPr lang="en-US" altLang="zh-CN" sz="1800" dirty="0">
                <a:latin typeface="Microsoft YaHei" panose="020B0503020204020204" pitchFamily="34" charset="-122"/>
                <a:ea typeface="Microsoft YaHei" panose="020B0503020204020204" pitchFamily="34" charset="-122"/>
                <a:cs typeface="楷体" panose="02010609060101010101" pitchFamily="49" charset="-122"/>
              </a:rPr>
              <a:t>VALUES</a:t>
            </a:r>
            <a:r>
              <a:rPr lang="zh-CN" altLang="en-US" sz="1800" dirty="0">
                <a:latin typeface="Microsoft YaHei" panose="020B0503020204020204" pitchFamily="34" charset="-122"/>
                <a:ea typeface="Microsoft YaHei" panose="020B0503020204020204" pitchFamily="34" charset="-122"/>
                <a:cs typeface="楷体" panose="02010609060101010101" pitchFamily="49" charset="-122"/>
              </a:rPr>
              <a:t>子句</a:t>
            </a:r>
            <a:endParaRPr lang="zh-CN" altLang="en-US" sz="1500" dirty="0">
              <a:latin typeface="Microsoft YaHei" panose="020B0503020204020204" pitchFamily="34" charset="-122"/>
              <a:ea typeface="Microsoft YaHei" panose="020B0503020204020204" pitchFamily="34" charset="-122"/>
            </a:endParaRPr>
          </a:p>
          <a:p>
            <a:pPr lvl="1">
              <a:lnSpc>
                <a:spcPct val="90000"/>
              </a:lnSpc>
            </a:pPr>
            <a:r>
              <a:rPr lang="zh-CN" altLang="en-US" sz="1600" dirty="0">
                <a:latin typeface="Microsoft YaHei" panose="020B0503020204020204" pitchFamily="34" charset="-122"/>
                <a:ea typeface="Microsoft YaHei" panose="020B0503020204020204" pitchFamily="34" charset="-122"/>
              </a:rPr>
              <a:t> </a:t>
            </a:r>
            <a:r>
              <a:rPr lang="zh-CN" altLang="en-US" sz="1600" dirty="0">
                <a:latin typeface="Microsoft YaHei" panose="020B0503020204020204" pitchFamily="34" charset="-122"/>
                <a:ea typeface="Microsoft YaHei" panose="020B0503020204020204" pitchFamily="34" charset="-122"/>
                <a:cs typeface="楷体" panose="02010609060101010101" pitchFamily="49" charset="-122"/>
              </a:rPr>
              <a:t>提供的值必须与</a:t>
            </a:r>
            <a:r>
              <a:rPr lang="en-US" altLang="zh-CN" sz="1600" dirty="0">
                <a:latin typeface="Microsoft YaHei" panose="020B0503020204020204" pitchFamily="34" charset="-122"/>
                <a:ea typeface="Microsoft YaHei" panose="020B0503020204020204" pitchFamily="34" charset="-122"/>
                <a:cs typeface="楷体" panose="02010609060101010101" pitchFamily="49" charset="-122"/>
              </a:rPr>
              <a:t>INTO</a:t>
            </a:r>
            <a:r>
              <a:rPr lang="zh-CN" altLang="en-US" sz="1600" dirty="0">
                <a:latin typeface="Microsoft YaHei" panose="020B0503020204020204" pitchFamily="34" charset="-122"/>
                <a:ea typeface="Microsoft YaHei" panose="020B0503020204020204" pitchFamily="34" charset="-122"/>
                <a:cs typeface="楷体" panose="02010609060101010101" pitchFamily="49" charset="-122"/>
              </a:rPr>
              <a:t>子句匹配</a:t>
            </a:r>
          </a:p>
          <a:p>
            <a:pPr lvl="2">
              <a:lnSpc>
                <a:spcPct val="90000"/>
              </a:lnSpc>
              <a:buChar char="&gt;"/>
            </a:pPr>
            <a:r>
              <a:rPr lang="zh-CN" altLang="en-US" sz="1600" dirty="0">
                <a:latin typeface="Microsoft YaHei" panose="020B0503020204020204" pitchFamily="34" charset="-122"/>
                <a:ea typeface="Microsoft YaHei" panose="020B0503020204020204" pitchFamily="34" charset="-122"/>
                <a:cs typeface="楷体" panose="02010609060101010101" pitchFamily="49" charset="-122"/>
              </a:rPr>
              <a:t>值的个数</a:t>
            </a:r>
          </a:p>
          <a:p>
            <a:pPr lvl="2">
              <a:lnSpc>
                <a:spcPct val="90000"/>
              </a:lnSpc>
              <a:buChar char="&gt;"/>
            </a:pPr>
            <a:r>
              <a:rPr lang="zh-CN" altLang="en-US" sz="1600" dirty="0">
                <a:latin typeface="Microsoft YaHei" panose="020B0503020204020204" pitchFamily="34" charset="-122"/>
                <a:ea typeface="Microsoft YaHei" panose="020B0503020204020204" pitchFamily="34" charset="-122"/>
                <a:cs typeface="楷体" panose="02010609060101010101" pitchFamily="49" charset="-122"/>
              </a:rPr>
              <a:t>值的类型</a:t>
            </a:r>
          </a:p>
          <a:p>
            <a:pPr>
              <a:lnSpc>
                <a:spcPct val="120000"/>
              </a:lnSpc>
              <a:spcBef>
                <a:spcPts val="19"/>
              </a:spcBef>
            </a:pPr>
            <a:endParaRPr lang="en-US" altLang="zh-CN" sz="1600" b="1" dirty="0">
              <a:latin typeface="Microsoft YaHei" panose="020B0503020204020204" pitchFamily="34" charset="-122"/>
              <a:ea typeface="Microsoft YaHei" panose="020B0503020204020204" pitchFamily="34" charset="-122"/>
              <a:sym typeface="+mn-ea"/>
            </a:endParaRPr>
          </a:p>
          <a:p>
            <a:pPr>
              <a:lnSpc>
                <a:spcPct val="120000"/>
              </a:lnSpc>
              <a:spcBef>
                <a:spcPts val="19"/>
              </a:spcBef>
            </a:pPr>
            <a:r>
              <a:rPr lang="zh-CN" altLang="en-US" sz="1600" b="1" dirty="0">
                <a:latin typeface="Microsoft YaHei" panose="020B0503020204020204" pitchFamily="34" charset="-122"/>
                <a:ea typeface="Microsoft YaHei" panose="020B0503020204020204" pitchFamily="34" charset="-122"/>
                <a:sym typeface="+mn-ea"/>
              </a:rPr>
              <a:t>插入时，表定义中说明 NOT NULL 的列不能取空值。</a:t>
            </a:r>
            <a:endParaRPr lang="zh-CN" altLang="en-US" sz="1600" b="1" dirty="0">
              <a:latin typeface="Microsoft YaHei" panose="020B0503020204020204" pitchFamily="34" charset="-122"/>
              <a:ea typeface="Microsoft YaHei" panose="020B0503020204020204" pitchFamily="34" charset="-122"/>
            </a:endParaRPr>
          </a:p>
          <a:p>
            <a:pPr>
              <a:lnSpc>
                <a:spcPct val="120000"/>
              </a:lnSpc>
              <a:spcBef>
                <a:spcPts val="19"/>
              </a:spcBef>
            </a:pPr>
            <a:r>
              <a:rPr lang="zh-CN" altLang="en-US" sz="1600" b="1" dirty="0">
                <a:latin typeface="Microsoft YaHei" panose="020B0503020204020204" pitchFamily="34" charset="-122"/>
                <a:ea typeface="Microsoft YaHei" panose="020B0503020204020204" pitchFamily="34" charset="-122"/>
                <a:sym typeface="+mn-ea"/>
              </a:rPr>
              <a:t>若已定义主键、外键及其他用户完整性约束，向表中插入元组，系统自动支持其完整性。</a:t>
            </a:r>
            <a:endParaRPr lang="zh-CN" altLang="en-US" sz="1600" dirty="0">
              <a:latin typeface="Microsoft YaHei" panose="020B0503020204020204" pitchFamily="34" charset="-122"/>
              <a:ea typeface="Microsoft YaHei" panose="020B0503020204020204" pitchFamily="34" charset="-122"/>
            </a:endParaRP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1543019" y="1178748"/>
            <a:ext cx="6214633" cy="3683410"/>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en-US" altLang="zh-CN" sz="1800" b="1" dirty="0">
                <a:solidFill>
                  <a:schemeClr val="hlink"/>
                </a:solidFill>
                <a:latin typeface="Microsoft YaHei" panose="020B0503020204020204" pitchFamily="34" charset="-122"/>
                <a:ea typeface="Microsoft YaHei" panose="020B0503020204020204" pitchFamily="34" charset="-122"/>
              </a:rPr>
              <a:t>【</a:t>
            </a:r>
            <a:r>
              <a:rPr lang="zh-CN" altLang="en-US" sz="1800" b="1" dirty="0">
                <a:solidFill>
                  <a:schemeClr val="hlink"/>
                </a:solidFill>
                <a:latin typeface="Microsoft YaHei" panose="020B0503020204020204" pitchFamily="34" charset="-122"/>
                <a:ea typeface="Microsoft YaHei" panose="020B0503020204020204" pitchFamily="34" charset="-122"/>
              </a:rPr>
              <a:t>例</a:t>
            </a:r>
            <a:r>
              <a:rPr lang="en-US" altLang="zh-CN" sz="1800" b="1" dirty="0">
                <a:solidFill>
                  <a:schemeClr val="hlink"/>
                </a:solidFill>
                <a:latin typeface="Microsoft YaHei" panose="020B0503020204020204" pitchFamily="34" charset="-122"/>
                <a:ea typeface="Microsoft YaHei" panose="020B0503020204020204" pitchFamily="34" charset="-122"/>
              </a:rPr>
              <a:t>】</a:t>
            </a:r>
            <a:r>
              <a:rPr lang="en-US" altLang="zh-CN" sz="1800" b="1" dirty="0">
                <a:latin typeface="Microsoft YaHei" panose="020B0503020204020204" pitchFamily="34" charset="-122"/>
                <a:ea typeface="Microsoft YaHei" panose="020B0503020204020204" pitchFamily="34" charset="-122"/>
              </a:rPr>
              <a:t>向</a:t>
            </a:r>
            <a:r>
              <a:rPr lang="zh-CN" altLang="en-US" sz="1800" b="1" dirty="0">
                <a:latin typeface="Microsoft YaHei" panose="020B0503020204020204" pitchFamily="34" charset="-122"/>
                <a:ea typeface="Microsoft YaHei" panose="020B0503020204020204" pitchFamily="34" charset="-122"/>
              </a:rPr>
              <a:t>student表插入</a:t>
            </a:r>
            <a:r>
              <a:rPr lang="zh-CN" altLang="en-US" sz="1800" b="1" dirty="0">
                <a:solidFill>
                  <a:schemeClr val="hlink"/>
                </a:solidFill>
                <a:latin typeface="Microsoft YaHei" panose="020B0503020204020204" pitchFamily="34" charset="-122"/>
                <a:ea typeface="Microsoft YaHei" panose="020B0503020204020204" pitchFamily="34" charset="-122"/>
              </a:rPr>
              <a:t>一</a:t>
            </a:r>
            <a:r>
              <a:rPr lang="zh-CN" altLang="en-US" sz="1800" b="1" dirty="0">
                <a:latin typeface="Microsoft YaHei" panose="020B0503020204020204" pitchFamily="34" charset="-122"/>
                <a:ea typeface="Microsoft YaHei" panose="020B0503020204020204" pitchFamily="34" charset="-122"/>
              </a:rPr>
              <a:t>行。</a:t>
            </a:r>
          </a:p>
          <a:p>
            <a:pPr eaLnBrk="1" hangingPunct="1">
              <a:buNone/>
            </a:pPr>
            <a:r>
              <a:rPr lang="zh-CN" altLang="en-US" sz="1800" b="1"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INSERT</a:t>
            </a: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INTO</a:t>
            </a: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S</a:t>
            </a:r>
            <a:r>
              <a:rPr lang="zh-CN" altLang="en-US" sz="1800" dirty="0">
                <a:latin typeface="Microsoft YaHei" panose="020B0503020204020204" pitchFamily="34" charset="-122"/>
                <a:ea typeface="Microsoft YaHei" panose="020B0503020204020204" pitchFamily="34" charset="-122"/>
              </a:rPr>
              <a:t>tudent</a:t>
            </a:r>
          </a:p>
          <a:p>
            <a:pPr eaLnBrk="1" hangingPunct="1">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VALUES</a:t>
            </a:r>
            <a:r>
              <a:rPr lang="zh-CN" altLang="en-US" sz="1800" dirty="0">
                <a:latin typeface="Microsoft YaHei" panose="020B0503020204020204" pitchFamily="34" charset="-122"/>
                <a:ea typeface="Microsoft YaHei" panose="020B0503020204020204" pitchFamily="34" charset="-122"/>
              </a:rPr>
              <a:t>(200510,’王雪’,20,’女’,’英语系’);</a:t>
            </a:r>
          </a:p>
          <a:p>
            <a:pPr eaLnBrk="1" hangingPunct="1">
              <a:buNone/>
            </a:pPr>
            <a:endParaRPr lang="zh-CN" altLang="en-US" sz="1800" b="1" dirty="0">
              <a:latin typeface="Microsoft YaHei" panose="020B0503020204020204" pitchFamily="34" charset="-122"/>
              <a:ea typeface="Microsoft YaHei" panose="020B0503020204020204" pitchFamily="34" charset="-122"/>
            </a:endParaRPr>
          </a:p>
          <a:p>
            <a:pPr eaLnBrk="1" hangingPunct="1">
              <a:buNone/>
            </a:pPr>
            <a:r>
              <a:rPr lang="en-US" altLang="zh-CN" sz="1800" b="1" dirty="0">
                <a:solidFill>
                  <a:schemeClr val="hlink"/>
                </a:solidFill>
                <a:latin typeface="Microsoft YaHei" panose="020B0503020204020204" pitchFamily="34" charset="-122"/>
                <a:ea typeface="Microsoft YaHei" panose="020B0503020204020204" pitchFamily="34" charset="-122"/>
              </a:rPr>
              <a:t>【</a:t>
            </a:r>
            <a:r>
              <a:rPr lang="zh-CN" altLang="en-US" sz="1800" b="1" dirty="0">
                <a:solidFill>
                  <a:schemeClr val="hlink"/>
                </a:solidFill>
                <a:latin typeface="Microsoft YaHei" panose="020B0503020204020204" pitchFamily="34" charset="-122"/>
                <a:ea typeface="Microsoft YaHei" panose="020B0503020204020204" pitchFamily="34" charset="-122"/>
              </a:rPr>
              <a:t>例</a:t>
            </a:r>
            <a:r>
              <a:rPr lang="en-US" altLang="zh-CN" sz="1800" b="1" dirty="0">
                <a:solidFill>
                  <a:schemeClr val="hlink"/>
                </a:solidFill>
                <a:latin typeface="Microsoft YaHei" panose="020B0503020204020204" pitchFamily="34" charset="-122"/>
                <a:ea typeface="Microsoft YaHei" panose="020B0503020204020204" pitchFamily="34" charset="-122"/>
              </a:rPr>
              <a:t>】</a:t>
            </a:r>
            <a:r>
              <a:rPr lang="en-US" altLang="zh-CN" sz="1800" b="1" dirty="0">
                <a:latin typeface="Microsoft YaHei" panose="020B0503020204020204" pitchFamily="34" charset="-122"/>
                <a:ea typeface="Microsoft YaHei" panose="020B0503020204020204" pitchFamily="34" charset="-122"/>
              </a:rPr>
              <a:t>向</a:t>
            </a:r>
            <a:r>
              <a:rPr lang="zh-CN" altLang="en-US" sz="1800" b="1" dirty="0">
                <a:latin typeface="Microsoft YaHei" panose="020B0503020204020204" pitchFamily="34" charset="-122"/>
                <a:ea typeface="Microsoft YaHei" panose="020B0503020204020204" pitchFamily="34" charset="-122"/>
              </a:rPr>
              <a:t>st1_grade表插入</a:t>
            </a:r>
            <a:r>
              <a:rPr lang="zh-CN" altLang="en-US" sz="1800" b="1" dirty="0">
                <a:solidFill>
                  <a:schemeClr val="hlink"/>
                </a:solidFill>
                <a:latin typeface="Microsoft YaHei" panose="020B0503020204020204" pitchFamily="34" charset="-122"/>
                <a:ea typeface="Microsoft YaHei" panose="020B0503020204020204" pitchFamily="34" charset="-122"/>
              </a:rPr>
              <a:t>多</a:t>
            </a:r>
            <a:r>
              <a:rPr lang="zh-CN" altLang="en-US" sz="1800" b="1" dirty="0">
                <a:latin typeface="Microsoft YaHei" panose="020B0503020204020204" pitchFamily="34" charset="-122"/>
                <a:ea typeface="Microsoft YaHei" panose="020B0503020204020204" pitchFamily="34" charset="-122"/>
              </a:rPr>
              <a:t>行。</a:t>
            </a:r>
          </a:p>
          <a:p>
            <a:pPr eaLnBrk="1" hangingPunct="1">
              <a:buNone/>
            </a:pPr>
            <a:r>
              <a:rPr lang="zh-CN" altLang="en-US" sz="1800" b="1"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INSERT</a:t>
            </a: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INTO</a:t>
            </a:r>
            <a:r>
              <a:rPr lang="zh-CN" altLang="en-US" sz="1800" dirty="0">
                <a:latin typeface="Microsoft YaHei" panose="020B0503020204020204" pitchFamily="34" charset="-122"/>
                <a:ea typeface="Microsoft YaHei" panose="020B0503020204020204" pitchFamily="34" charset="-122"/>
              </a:rPr>
              <a:t> st1_grade(gno,name,avg)</a:t>
            </a:r>
          </a:p>
          <a:p>
            <a:pPr eaLnBrk="1" hangingPunct="1">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SELECT</a:t>
            </a: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S</a:t>
            </a:r>
            <a:r>
              <a:rPr lang="zh-CN" altLang="en-US" sz="1800" dirty="0">
                <a:latin typeface="Microsoft YaHei" panose="020B0503020204020204" pitchFamily="34" charset="-122"/>
                <a:ea typeface="Microsoft YaHei" panose="020B0503020204020204" pitchFamily="34" charset="-122"/>
              </a:rPr>
              <a:t>tudent.sno,sname,avg(grade) as avg_good</a:t>
            </a:r>
          </a:p>
          <a:p>
            <a:pPr eaLnBrk="1" hangingPunct="1">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FROM</a:t>
            </a: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S</a:t>
            </a:r>
            <a:r>
              <a:rPr lang="zh-CN" altLang="en-US" sz="1800" dirty="0">
                <a:latin typeface="Microsoft YaHei" panose="020B0503020204020204" pitchFamily="34" charset="-122"/>
                <a:ea typeface="Microsoft YaHei" panose="020B0503020204020204" pitchFamily="34" charset="-122"/>
              </a:rPr>
              <a:t>tudent,</a:t>
            </a:r>
            <a:r>
              <a:rPr lang="en-US" altLang="zh-CN" sz="1800" dirty="0">
                <a:latin typeface="Microsoft YaHei" panose="020B0503020204020204" pitchFamily="34" charset="-122"/>
                <a:ea typeface="Microsoft YaHei" panose="020B0503020204020204" pitchFamily="34" charset="-122"/>
              </a:rPr>
              <a:t>SC</a:t>
            </a:r>
            <a:endParaRPr lang="zh-CN" altLang="en-US" sz="1800" dirty="0">
              <a:latin typeface="Microsoft YaHei" panose="020B0503020204020204" pitchFamily="34" charset="-122"/>
              <a:ea typeface="Microsoft YaHei" panose="020B0503020204020204" pitchFamily="34" charset="-122"/>
            </a:endParaRPr>
          </a:p>
          <a:p>
            <a:pPr eaLnBrk="1" hangingPunct="1">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WHERE</a:t>
            </a: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S</a:t>
            </a:r>
            <a:r>
              <a:rPr lang="zh-CN" altLang="en-US" sz="1800" dirty="0">
                <a:latin typeface="Microsoft YaHei" panose="020B0503020204020204" pitchFamily="34" charset="-122"/>
                <a:ea typeface="Microsoft YaHei" panose="020B0503020204020204" pitchFamily="34" charset="-122"/>
              </a:rPr>
              <a:t>tudent.sno=</a:t>
            </a:r>
            <a:r>
              <a:rPr lang="en-US" altLang="zh-CN" sz="1800" dirty="0">
                <a:latin typeface="Microsoft YaHei" panose="020B0503020204020204" pitchFamily="34" charset="-122"/>
                <a:ea typeface="Microsoft YaHei" panose="020B0503020204020204" pitchFamily="34" charset="-122"/>
              </a:rPr>
              <a:t>SC</a:t>
            </a:r>
            <a:r>
              <a:rPr lang="zh-CN" altLang="en-US" sz="1800" dirty="0">
                <a:latin typeface="Microsoft YaHei" panose="020B0503020204020204" pitchFamily="34" charset="-122"/>
                <a:ea typeface="Microsoft YaHei" panose="020B0503020204020204" pitchFamily="34" charset="-122"/>
              </a:rPr>
              <a:t>.sno</a:t>
            </a:r>
          </a:p>
          <a:p>
            <a:pPr eaLnBrk="1" hangingPunct="1">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GROUP BY</a:t>
            </a:r>
            <a:r>
              <a:rPr lang="zh-CN" altLang="en-US" sz="1800" dirty="0">
                <a:latin typeface="Microsoft YaHei" panose="020B0503020204020204" pitchFamily="34" charset="-122"/>
                <a:ea typeface="Microsoft YaHei" panose="020B0503020204020204" pitchFamily="34" charset="-122"/>
              </a:rPr>
              <a:t> sno,sname</a:t>
            </a:r>
          </a:p>
          <a:p>
            <a:pPr eaLnBrk="1" hangingPunct="1">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HAVING</a:t>
            </a:r>
            <a:r>
              <a:rPr lang="zh-CN" altLang="en-US" sz="1800" dirty="0">
                <a:latin typeface="Microsoft YaHei" panose="020B0503020204020204" pitchFamily="34" charset="-122"/>
                <a:ea typeface="Microsoft YaHei" panose="020B0503020204020204" pitchFamily="34" charset="-122"/>
              </a:rPr>
              <a:t> avg_good&gt;=90; </a:t>
            </a:r>
          </a:p>
        </p:txBody>
      </p:sp>
      <p:sp>
        <p:nvSpPr>
          <p:cNvPr id="6" name="标题 5">
            <a:extLst>
              <a:ext uri="{FF2B5EF4-FFF2-40B4-BE49-F238E27FC236}">
                <a16:creationId xmlns:a16="http://schemas.microsoft.com/office/drawing/2014/main" id="{3BC6F4D0-907A-74DB-887D-855E39E63738}"/>
              </a:ext>
            </a:extLst>
          </p:cNvPr>
          <p:cNvSpPr>
            <a:spLocks noGrp="1"/>
          </p:cNvSpPr>
          <p:nvPr>
            <p:ph type="title"/>
          </p:nvPr>
        </p:nvSpPr>
        <p:spPr/>
        <p:txBody>
          <a:bodyPr/>
          <a:lstStyle/>
          <a:p>
            <a:r>
              <a:rPr lang="zh-CN" altLang="en-US" dirty="0"/>
              <a:t>数据插入</a:t>
            </a: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3"/>
          <p:cNvSpPr>
            <a:spLocks noGrp="1"/>
          </p:cNvSpPr>
          <p:nvPr>
            <p:ph idx="1"/>
          </p:nvPr>
        </p:nvSpPr>
        <p:spPr/>
        <p:txBody>
          <a:bodyPr vert="horz" wrap="square" lIns="68580" tIns="34290" rIns="68580" bIns="34290" anchor="t" anchorCtr="0"/>
          <a:lstStyle/>
          <a:p>
            <a:pPr marL="0" indent="0">
              <a:buNone/>
            </a:pPr>
            <a:r>
              <a:rPr lang="zh-CN" altLang="en-US" sz="1800" b="1" dirty="0">
                <a:solidFill>
                  <a:schemeClr val="hlink"/>
                </a:solidFill>
              </a:rPr>
              <a:t>格式：</a:t>
            </a:r>
            <a:r>
              <a:rPr lang="zh-CN" altLang="en-US" sz="1800" b="1" dirty="0"/>
              <a:t>UPDATE &lt;表名&gt;</a:t>
            </a:r>
          </a:p>
          <a:p>
            <a:pPr marL="0" indent="0">
              <a:buNone/>
            </a:pPr>
            <a:r>
              <a:rPr lang="zh-CN" altLang="en-US" sz="1800" b="1" dirty="0"/>
              <a:t>      SET &lt;列名&gt;=&lt;表达式&gt;[,&lt;列名&gt;=&lt;表达式&gt;]…</a:t>
            </a:r>
          </a:p>
          <a:p>
            <a:pPr marL="0" indent="0">
              <a:buNone/>
            </a:pPr>
            <a:r>
              <a:rPr lang="zh-CN" altLang="en-US" sz="1800" b="1" dirty="0"/>
              <a:t>      </a:t>
            </a:r>
            <a:r>
              <a:rPr lang="zh-CN" altLang="en-US" sz="1800" b="1" dirty="0">
                <a:solidFill>
                  <a:srgbClr val="006600"/>
                </a:solidFill>
              </a:rPr>
              <a:t>[WHERE &lt;条件</a:t>
            </a:r>
            <a:r>
              <a:rPr lang="zh-CN" altLang="en-US" sz="1800" b="1" dirty="0">
                <a:solidFill>
                  <a:srgbClr val="6600FF"/>
                </a:solidFill>
              </a:rPr>
              <a:t>[子查询]</a:t>
            </a:r>
            <a:r>
              <a:rPr lang="zh-CN" altLang="en-US" sz="1800" b="1" dirty="0">
                <a:solidFill>
                  <a:srgbClr val="006600"/>
                </a:solidFill>
              </a:rPr>
              <a:t>&gt;]</a:t>
            </a:r>
            <a:r>
              <a:rPr lang="zh-CN" altLang="en-US" sz="1800" b="1" dirty="0"/>
              <a:t>;</a:t>
            </a:r>
          </a:p>
          <a:p>
            <a:pPr marL="0" indent="0">
              <a:buNone/>
            </a:pPr>
            <a:r>
              <a:rPr lang="en-US" altLang="zh-CN" sz="1800" b="1" dirty="0">
                <a:solidFill>
                  <a:schemeClr val="hlink"/>
                </a:solidFill>
              </a:rPr>
              <a:t>【</a:t>
            </a:r>
            <a:r>
              <a:rPr lang="zh-CN" altLang="en-US" sz="1800" b="1" dirty="0">
                <a:solidFill>
                  <a:schemeClr val="hlink"/>
                </a:solidFill>
              </a:rPr>
              <a:t>例</a:t>
            </a:r>
            <a:r>
              <a:rPr lang="en-US" altLang="zh-CN" sz="1800" b="1" dirty="0">
                <a:solidFill>
                  <a:schemeClr val="hlink"/>
                </a:solidFill>
              </a:rPr>
              <a:t>】</a:t>
            </a:r>
            <a:r>
              <a:rPr lang="en-US" altLang="zh-CN" sz="1800" dirty="0"/>
              <a:t>学生“左彼”在</a:t>
            </a:r>
            <a:r>
              <a:rPr lang="zh-CN" altLang="en-US" sz="1800" dirty="0"/>
              <a:t>001号课程考试中作弊，该课成绩作零分计。</a:t>
            </a:r>
          </a:p>
          <a:p>
            <a:pPr marL="0" indent="0">
              <a:buNone/>
            </a:pPr>
            <a:endParaRPr lang="zh-CN" altLang="en-US" sz="1800" b="1" dirty="0"/>
          </a:p>
          <a:p>
            <a:pPr marL="0" indent="0">
              <a:buNone/>
            </a:pPr>
            <a:endParaRPr lang="zh-CN" altLang="en-US" sz="1800" b="1" dirty="0"/>
          </a:p>
        </p:txBody>
      </p:sp>
      <p:sp>
        <p:nvSpPr>
          <p:cNvPr id="73732" name="Rectangle 4"/>
          <p:cNvSpPr/>
          <p:nvPr/>
        </p:nvSpPr>
        <p:spPr>
          <a:xfrm>
            <a:off x="4463653" y="900113"/>
            <a:ext cx="3537347" cy="1597819"/>
          </a:xfrm>
          <a:prstGeom prst="rect">
            <a:avLst/>
          </a:prstGeom>
          <a:noFill/>
          <a:ln w="9525">
            <a:noFill/>
          </a:ln>
        </p:spPr>
        <p:txBody>
          <a:bodyPr/>
          <a:lstStyle/>
          <a:p>
            <a:pPr marL="257175" indent="-257175">
              <a:spcBef>
                <a:spcPct val="20000"/>
              </a:spcBef>
              <a:buClr>
                <a:schemeClr val="folHlink"/>
              </a:buClr>
              <a:buSzPct val="60000"/>
            </a:pPr>
            <a:endParaRPr lang="zh-CN" altLang="en-US" sz="2100" dirty="0">
              <a:solidFill>
                <a:srgbClr val="0000FF"/>
              </a:solidFill>
              <a:latin typeface="Microsoft YaHei" panose="020B0503020204020204" pitchFamily="34" charset="-122"/>
              <a:ea typeface="Microsoft YaHei" panose="020B0503020204020204" pitchFamily="34" charset="-122"/>
            </a:endParaRPr>
          </a:p>
        </p:txBody>
      </p:sp>
      <p:sp>
        <p:nvSpPr>
          <p:cNvPr id="73733" name="Rectangle 5"/>
          <p:cNvSpPr/>
          <p:nvPr/>
        </p:nvSpPr>
        <p:spPr>
          <a:xfrm>
            <a:off x="2345888" y="2870078"/>
            <a:ext cx="3537347" cy="1512094"/>
          </a:xfrm>
          <a:prstGeom prst="rect">
            <a:avLst/>
          </a:prstGeom>
          <a:noFill/>
          <a:ln w="9525">
            <a:noFill/>
          </a:ln>
        </p:spPr>
        <p:txBody>
          <a:bodyPr/>
          <a:lstStyle/>
          <a:p>
            <a:pPr marL="257175" indent="-257175">
              <a:spcBef>
                <a:spcPct val="5000"/>
              </a:spcBef>
              <a:buClr>
                <a:schemeClr val="folHlink"/>
              </a:buClr>
              <a:buSzPct val="60000"/>
            </a:pPr>
            <a:r>
              <a:rPr lang="en-US" altLang="zh-CN" dirty="0">
                <a:latin typeface="Microsoft YaHei" panose="020B0503020204020204" pitchFamily="34" charset="-122"/>
                <a:ea typeface="Microsoft YaHei" panose="020B0503020204020204" pitchFamily="34" charset="-122"/>
              </a:rPr>
              <a:t>UPDATE SC</a:t>
            </a:r>
          </a:p>
          <a:p>
            <a:pPr marL="257175" indent="-257175">
              <a:spcBef>
                <a:spcPct val="5000"/>
              </a:spcBef>
              <a:buClr>
                <a:schemeClr val="folHlink"/>
              </a:buClr>
              <a:buSzPct val="60000"/>
            </a:pPr>
            <a:r>
              <a:rPr lang="en-US" altLang="zh-CN" dirty="0">
                <a:latin typeface="Microsoft YaHei" panose="020B0503020204020204" pitchFamily="34" charset="-122"/>
                <a:ea typeface="Microsoft YaHei" panose="020B0503020204020204" pitchFamily="34" charset="-122"/>
              </a:rPr>
              <a:t>SET grade=0</a:t>
            </a:r>
          </a:p>
          <a:p>
            <a:pPr marL="257175" indent="-257175">
              <a:spcBef>
                <a:spcPct val="5000"/>
              </a:spcBef>
              <a:buClr>
                <a:schemeClr val="folHlink"/>
              </a:buClr>
              <a:buSzPct val="60000"/>
            </a:pPr>
            <a:r>
              <a:rPr lang="en-US" altLang="zh-CN" dirty="0">
                <a:latin typeface="Microsoft YaHei" panose="020B0503020204020204" pitchFamily="34" charset="-122"/>
                <a:ea typeface="Microsoft YaHei" panose="020B0503020204020204" pitchFamily="34" charset="-122"/>
              </a:rPr>
              <a:t>WHERE </a:t>
            </a:r>
            <a:r>
              <a:rPr lang="en-US" altLang="zh-CN" dirty="0">
                <a:solidFill>
                  <a:srgbClr val="006600"/>
                </a:solidFill>
                <a:latin typeface="Microsoft YaHei" panose="020B0503020204020204" pitchFamily="34" charset="-122"/>
                <a:ea typeface="Microsoft YaHei" panose="020B0503020204020204" pitchFamily="34" charset="-122"/>
              </a:rPr>
              <a:t>cno='001' </a:t>
            </a:r>
          </a:p>
          <a:p>
            <a:pPr marL="257175" indent="-257175">
              <a:spcBef>
                <a:spcPct val="5000"/>
              </a:spcBef>
              <a:buClr>
                <a:schemeClr val="folHlink"/>
              </a:buClr>
              <a:buSzPct val="60000"/>
            </a:pPr>
            <a:r>
              <a:rPr lang="en-US" altLang="zh-CN" dirty="0">
                <a:solidFill>
                  <a:srgbClr val="006600"/>
                </a:solidFill>
                <a:latin typeface="Microsoft YaHei" panose="020B0503020204020204" pitchFamily="34" charset="-122"/>
                <a:ea typeface="Microsoft YaHei" panose="020B0503020204020204" pitchFamily="34" charset="-122"/>
              </a:rPr>
              <a:t>  </a:t>
            </a:r>
            <a:r>
              <a:rPr lang="zh-CN" altLang="en-US" dirty="0">
                <a:solidFill>
                  <a:srgbClr val="006600"/>
                </a:solidFill>
                <a:latin typeface="Microsoft YaHei" panose="020B0503020204020204" pitchFamily="34" charset="-122"/>
                <a:ea typeface="Microsoft YaHei" panose="020B0503020204020204" pitchFamily="34" charset="-122"/>
              </a:rPr>
              <a:t>       </a:t>
            </a:r>
            <a:r>
              <a:rPr lang="en-US" altLang="zh-CN" dirty="0">
                <a:solidFill>
                  <a:srgbClr val="006600"/>
                </a:solidFill>
                <a:latin typeface="Microsoft YaHei" panose="020B0503020204020204" pitchFamily="34" charset="-122"/>
                <a:ea typeface="Microsoft YaHei" panose="020B0503020204020204" pitchFamily="34" charset="-122"/>
              </a:rPr>
              <a:t>AND sno =</a:t>
            </a:r>
            <a:endParaRPr lang="en-US" altLang="zh-CN" dirty="0">
              <a:latin typeface="Microsoft YaHei" panose="020B0503020204020204" pitchFamily="34" charset="-122"/>
              <a:ea typeface="Microsoft YaHei" panose="020B0503020204020204" pitchFamily="34" charset="-122"/>
            </a:endParaRPr>
          </a:p>
        </p:txBody>
      </p:sp>
      <p:sp>
        <p:nvSpPr>
          <p:cNvPr id="73734" name="Rectangle 6"/>
          <p:cNvSpPr/>
          <p:nvPr/>
        </p:nvSpPr>
        <p:spPr>
          <a:xfrm>
            <a:off x="4193220" y="3752147"/>
            <a:ext cx="3213497" cy="1188244"/>
          </a:xfrm>
          <a:prstGeom prst="rect">
            <a:avLst/>
          </a:prstGeom>
          <a:noFill/>
          <a:ln w="9525">
            <a:noFill/>
          </a:ln>
        </p:spPr>
        <p:txBody>
          <a:bodyPr/>
          <a:lstStyle/>
          <a:p>
            <a:pPr marL="257175" indent="-257175">
              <a:spcBef>
                <a:spcPct val="5000"/>
              </a:spcBef>
              <a:buClr>
                <a:schemeClr val="folHlink"/>
              </a:buClr>
              <a:buSzPct val="60000"/>
            </a:pPr>
            <a:r>
              <a:rPr lang="zh-CN" altLang="en-US" sz="1350" dirty="0">
                <a:latin typeface="Microsoft YaHei" panose="020B0503020204020204" pitchFamily="34" charset="-122"/>
                <a:ea typeface="Microsoft YaHei" panose="020B0503020204020204" pitchFamily="34" charset="-122"/>
              </a:rPr>
              <a:t>  </a:t>
            </a:r>
            <a:r>
              <a:rPr lang="en-US" altLang="zh-CN" dirty="0">
                <a:solidFill>
                  <a:srgbClr val="6600FF"/>
                </a:solidFill>
                <a:latin typeface="Microsoft YaHei" panose="020B0503020204020204" pitchFamily="34" charset="-122"/>
                <a:ea typeface="Microsoft YaHei" panose="020B0503020204020204" pitchFamily="34" charset="-122"/>
              </a:rPr>
              <a:t>(SELECT sno</a:t>
            </a:r>
          </a:p>
          <a:p>
            <a:pPr marL="257175" indent="-257175">
              <a:spcBef>
                <a:spcPct val="5000"/>
              </a:spcBef>
              <a:buClr>
                <a:schemeClr val="folHlink"/>
              </a:buClr>
              <a:buSzPct val="60000"/>
            </a:pPr>
            <a:r>
              <a:rPr lang="en-US" altLang="zh-CN" dirty="0">
                <a:solidFill>
                  <a:srgbClr val="6600FF"/>
                </a:solidFill>
                <a:latin typeface="Microsoft YaHei" panose="020B0503020204020204" pitchFamily="34" charset="-122"/>
                <a:ea typeface="Microsoft YaHei" panose="020B0503020204020204" pitchFamily="34" charset="-122"/>
              </a:rPr>
              <a:t>   FROM Student</a:t>
            </a:r>
          </a:p>
          <a:p>
            <a:pPr marL="257175" indent="-257175">
              <a:spcBef>
                <a:spcPct val="5000"/>
              </a:spcBef>
              <a:buClr>
                <a:schemeClr val="folHlink"/>
              </a:buClr>
              <a:buSzPct val="60000"/>
            </a:pPr>
            <a:r>
              <a:rPr lang="en-US" altLang="zh-CN" dirty="0">
                <a:solidFill>
                  <a:srgbClr val="6600FF"/>
                </a:solidFill>
                <a:latin typeface="Microsoft YaHei" panose="020B0503020204020204" pitchFamily="34" charset="-122"/>
                <a:ea typeface="Microsoft YaHei" panose="020B0503020204020204" pitchFamily="34" charset="-122"/>
              </a:rPr>
              <a:t>   WHERE sname</a:t>
            </a:r>
            <a:r>
              <a:rPr lang="zh-CN" altLang="en-US" dirty="0">
                <a:solidFill>
                  <a:srgbClr val="6600FF"/>
                </a:solidFill>
                <a:latin typeface="Microsoft YaHei" panose="020B0503020204020204" pitchFamily="34" charset="-122"/>
                <a:ea typeface="Microsoft YaHei" panose="020B0503020204020204" pitchFamily="34" charset="-122"/>
              </a:rPr>
              <a:t>＝‘左彼’</a:t>
            </a:r>
            <a:r>
              <a:rPr lang="en-US" altLang="zh-CN" dirty="0">
                <a:solidFill>
                  <a:srgbClr val="6600FF"/>
                </a:solidFill>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a:t>
            </a:r>
          </a:p>
        </p:txBody>
      </p:sp>
      <p:sp>
        <p:nvSpPr>
          <p:cNvPr id="3" name="标题 2">
            <a:extLst>
              <a:ext uri="{FF2B5EF4-FFF2-40B4-BE49-F238E27FC236}">
                <a16:creationId xmlns:a16="http://schemas.microsoft.com/office/drawing/2014/main" id="{F88943AD-DA5B-6411-8D1C-3E26C53995F3}"/>
              </a:ext>
            </a:extLst>
          </p:cNvPr>
          <p:cNvSpPr>
            <a:spLocks noGrp="1"/>
          </p:cNvSpPr>
          <p:nvPr>
            <p:ph type="title"/>
          </p:nvPr>
        </p:nvSpPr>
        <p:spPr/>
        <p:txBody>
          <a:bodyPr/>
          <a:lstStyle/>
          <a:p>
            <a:r>
              <a:rPr lang="zh-CN" altLang="en-US" dirty="0"/>
              <a:t>数据修改（更新）</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733"/>
                                        </p:tgtEl>
                                        <p:attrNameLst>
                                          <p:attrName>style.visibility</p:attrName>
                                        </p:attrNameLst>
                                      </p:cBhvr>
                                      <p:to>
                                        <p:strVal val="visible"/>
                                      </p:to>
                                    </p:set>
                                    <p:anim calcmode="lin" valueType="num">
                                      <p:cBhvr additive="base">
                                        <p:cTn id="7" dur="500" fill="hold"/>
                                        <p:tgtEl>
                                          <p:spTgt spid="73733"/>
                                        </p:tgtEl>
                                        <p:attrNameLst>
                                          <p:attrName>ppt_x</p:attrName>
                                        </p:attrNameLst>
                                      </p:cBhvr>
                                      <p:tavLst>
                                        <p:tav tm="0">
                                          <p:val>
                                            <p:strVal val="#ppt_x"/>
                                          </p:val>
                                        </p:tav>
                                        <p:tav tm="100000">
                                          <p:val>
                                            <p:strVal val="#ppt_x"/>
                                          </p:val>
                                        </p:tav>
                                      </p:tavLst>
                                    </p:anim>
                                    <p:anim calcmode="lin" valueType="num">
                                      <p:cBhvr additive="base">
                                        <p:cTn id="8" dur="500" fill="hold"/>
                                        <p:tgtEl>
                                          <p:spTgt spid="737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3734"/>
                                        </p:tgtEl>
                                        <p:attrNameLst>
                                          <p:attrName>style.visibility</p:attrName>
                                        </p:attrNameLst>
                                      </p:cBhvr>
                                      <p:to>
                                        <p:strVal val="visible"/>
                                      </p:to>
                                    </p:set>
                                    <p:anim calcmode="lin" valueType="num">
                                      <p:cBhvr additive="base">
                                        <p:cTn id="13" dur="500" fill="hold"/>
                                        <p:tgtEl>
                                          <p:spTgt spid="73734"/>
                                        </p:tgtEl>
                                        <p:attrNameLst>
                                          <p:attrName>ppt_x</p:attrName>
                                        </p:attrNameLst>
                                      </p:cBhvr>
                                      <p:tavLst>
                                        <p:tav tm="0">
                                          <p:val>
                                            <p:strVal val="#ppt_x"/>
                                          </p:val>
                                        </p:tav>
                                        <p:tav tm="100000">
                                          <p:val>
                                            <p:strVal val="#ppt_x"/>
                                          </p:val>
                                        </p:tav>
                                      </p:tavLst>
                                    </p:anim>
                                    <p:anim calcmode="lin" valueType="num">
                                      <p:cBhvr additive="base">
                                        <p:cTn id="14" dur="500" fill="hold"/>
                                        <p:tgtEl>
                                          <p:spTgt spid="737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3" grpId="0"/>
      <p:bldP spid="7373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p:cNvSpPr>
            <a:spLocks noGrp="1"/>
          </p:cNvSpPr>
          <p:nvPr>
            <p:ph idx="1"/>
          </p:nvPr>
        </p:nvSpPr>
        <p:spPr>
          <a:xfrm>
            <a:off x="628650" y="1350113"/>
            <a:ext cx="7886700" cy="3404206"/>
          </a:xfrm>
        </p:spPr>
        <p:txBody>
          <a:bodyPr vert="horz" wrap="square" lIns="68580" tIns="34290" rIns="68580" bIns="34290" anchor="t" anchorCtr="0"/>
          <a:lstStyle/>
          <a:p>
            <a:pPr marL="0" indent="0">
              <a:buNone/>
            </a:pPr>
            <a:r>
              <a:rPr lang="en-US" altLang="zh-CN" sz="1800" b="1" dirty="0">
                <a:solidFill>
                  <a:schemeClr val="hlink"/>
                </a:solidFill>
              </a:rPr>
              <a:t>【</a:t>
            </a:r>
            <a:r>
              <a:rPr lang="zh-CN" altLang="en-US" sz="1800" b="1" dirty="0">
                <a:solidFill>
                  <a:schemeClr val="hlink"/>
                </a:solidFill>
              </a:rPr>
              <a:t>例</a:t>
            </a:r>
            <a:r>
              <a:rPr lang="en-US" altLang="zh-CN" sz="1800" b="1" dirty="0">
                <a:solidFill>
                  <a:schemeClr val="hlink"/>
                </a:solidFill>
              </a:rPr>
              <a:t>】</a:t>
            </a:r>
            <a:r>
              <a:rPr lang="zh-CN" altLang="en-US" sz="1800" dirty="0">
                <a:sym typeface="Arial" panose="020B0604020202020204" pitchFamily="34" charset="0"/>
              </a:rPr>
              <a:t>若某学生</a:t>
            </a:r>
            <a:r>
              <a:rPr lang="zh-CN" altLang="en-US" sz="1800" dirty="0"/>
              <a:t>008号课程的成绩低于该门课程平均成绩时，提高5%。</a:t>
            </a:r>
          </a:p>
          <a:p>
            <a:pPr marL="0" indent="0">
              <a:buNone/>
            </a:pPr>
            <a:endParaRPr lang="zh-CN" altLang="en-US" sz="1800" b="1" dirty="0"/>
          </a:p>
          <a:p>
            <a:pPr marL="0" indent="0">
              <a:buNone/>
            </a:pPr>
            <a:endParaRPr lang="zh-CN" altLang="en-US" sz="1800" b="1" dirty="0"/>
          </a:p>
        </p:txBody>
      </p:sp>
      <p:sp>
        <p:nvSpPr>
          <p:cNvPr id="74756" name="Rectangle 4"/>
          <p:cNvSpPr/>
          <p:nvPr/>
        </p:nvSpPr>
        <p:spPr>
          <a:xfrm>
            <a:off x="4463653" y="900113"/>
            <a:ext cx="3537347" cy="1597819"/>
          </a:xfrm>
          <a:prstGeom prst="rect">
            <a:avLst/>
          </a:prstGeom>
          <a:noFill/>
          <a:ln w="9525">
            <a:noFill/>
          </a:ln>
        </p:spPr>
        <p:txBody>
          <a:bodyPr/>
          <a:lstStyle/>
          <a:p>
            <a:pPr marL="257175" indent="-257175">
              <a:spcBef>
                <a:spcPct val="20000"/>
              </a:spcBef>
              <a:buClr>
                <a:schemeClr val="folHlink"/>
              </a:buClr>
              <a:buSzPct val="60000"/>
            </a:pPr>
            <a:endParaRPr lang="zh-CN" altLang="en-US" sz="2100" dirty="0">
              <a:solidFill>
                <a:srgbClr val="0000FF"/>
              </a:solidFill>
              <a:latin typeface="Microsoft YaHei" panose="020B0503020204020204" pitchFamily="34" charset="-122"/>
              <a:ea typeface="Microsoft YaHei" panose="020B0503020204020204" pitchFamily="34" charset="-122"/>
            </a:endParaRPr>
          </a:p>
        </p:txBody>
      </p:sp>
      <p:sp>
        <p:nvSpPr>
          <p:cNvPr id="74757" name="Rectangle 5"/>
          <p:cNvSpPr/>
          <p:nvPr/>
        </p:nvSpPr>
        <p:spPr>
          <a:xfrm>
            <a:off x="1504118" y="2016267"/>
            <a:ext cx="3537347" cy="1512094"/>
          </a:xfrm>
          <a:prstGeom prst="rect">
            <a:avLst/>
          </a:prstGeom>
          <a:noFill/>
          <a:ln w="9525">
            <a:noFill/>
          </a:ln>
        </p:spPr>
        <p:txBody>
          <a:bodyPr/>
          <a:lstStyle/>
          <a:p>
            <a:pPr marL="257175" indent="-257175">
              <a:spcBef>
                <a:spcPct val="5000"/>
              </a:spcBef>
              <a:buClr>
                <a:schemeClr val="folHlink"/>
              </a:buClr>
              <a:buSzPct val="60000"/>
            </a:pPr>
            <a:r>
              <a:rPr lang="zh-CN" altLang="en-US" dirty="0">
                <a:latin typeface="Microsoft YaHei" panose="020B0503020204020204" pitchFamily="34" charset="-122"/>
                <a:ea typeface="Microsoft YaHei" panose="020B0503020204020204" pitchFamily="34" charset="-122"/>
              </a:rPr>
              <a:t>UPDATE </a:t>
            </a:r>
            <a:r>
              <a:rPr lang="en-US" altLang="zh-CN" dirty="0">
                <a:latin typeface="Microsoft YaHei" panose="020B0503020204020204" pitchFamily="34" charset="-122"/>
                <a:ea typeface="Microsoft YaHei" panose="020B0503020204020204" pitchFamily="34" charset="-122"/>
              </a:rPr>
              <a:t>SC</a:t>
            </a:r>
            <a:endParaRPr lang="zh-CN" altLang="en-US" dirty="0">
              <a:latin typeface="Microsoft YaHei" panose="020B0503020204020204" pitchFamily="34" charset="-122"/>
              <a:ea typeface="Microsoft YaHei" panose="020B0503020204020204" pitchFamily="34" charset="-122"/>
            </a:endParaRPr>
          </a:p>
          <a:p>
            <a:pPr marL="257175" indent="-257175">
              <a:spcBef>
                <a:spcPct val="5000"/>
              </a:spcBef>
              <a:buClr>
                <a:schemeClr val="folHlink"/>
              </a:buClr>
              <a:buSzPct val="60000"/>
            </a:pPr>
            <a:r>
              <a:rPr lang="zh-CN" altLang="en-US" dirty="0">
                <a:latin typeface="Microsoft YaHei" panose="020B0503020204020204" pitchFamily="34" charset="-122"/>
                <a:ea typeface="Microsoft YaHei" panose="020B0503020204020204" pitchFamily="34" charset="-122"/>
              </a:rPr>
              <a:t>SET grade</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grade*1.05</a:t>
            </a:r>
          </a:p>
          <a:p>
            <a:pPr marL="257175" indent="-257175">
              <a:spcBef>
                <a:spcPct val="5000"/>
              </a:spcBef>
              <a:buClr>
                <a:schemeClr val="folHlink"/>
              </a:buClr>
              <a:buSzPct val="60000"/>
            </a:pPr>
            <a:r>
              <a:rPr lang="zh-CN" altLang="en-US" dirty="0">
                <a:latin typeface="Microsoft YaHei" panose="020B0503020204020204" pitchFamily="34" charset="-122"/>
                <a:ea typeface="Microsoft YaHei" panose="020B0503020204020204" pitchFamily="34" charset="-122"/>
              </a:rPr>
              <a:t>WHERE </a:t>
            </a:r>
            <a:r>
              <a:rPr lang="zh-CN" altLang="en-US" dirty="0">
                <a:solidFill>
                  <a:srgbClr val="006600"/>
                </a:solidFill>
                <a:latin typeface="Microsoft YaHei" panose="020B0503020204020204" pitchFamily="34" charset="-122"/>
                <a:ea typeface="Microsoft YaHei" panose="020B0503020204020204" pitchFamily="34" charset="-122"/>
              </a:rPr>
              <a:t>cno</a:t>
            </a:r>
            <a:r>
              <a:rPr lang="en-US" altLang="zh-CN" dirty="0">
                <a:solidFill>
                  <a:srgbClr val="006600"/>
                </a:solidFill>
                <a:latin typeface="Microsoft YaHei" panose="020B0503020204020204" pitchFamily="34" charset="-122"/>
                <a:ea typeface="Microsoft YaHei" panose="020B0503020204020204" pitchFamily="34" charset="-122"/>
              </a:rPr>
              <a:t>=</a:t>
            </a:r>
            <a:r>
              <a:rPr lang="zh-CN" altLang="en-US" dirty="0">
                <a:solidFill>
                  <a:srgbClr val="006600"/>
                </a:solidFill>
                <a:latin typeface="Microsoft YaHei" panose="020B0503020204020204" pitchFamily="34" charset="-122"/>
                <a:ea typeface="Microsoft YaHei" panose="020B0503020204020204" pitchFamily="34" charset="-122"/>
              </a:rPr>
              <a:t>'008' </a:t>
            </a:r>
          </a:p>
          <a:p>
            <a:pPr marL="257175" indent="-257175">
              <a:spcBef>
                <a:spcPct val="5000"/>
              </a:spcBef>
              <a:buClr>
                <a:schemeClr val="folHlink"/>
              </a:buClr>
              <a:buSzPct val="60000"/>
            </a:pPr>
            <a:r>
              <a:rPr lang="zh-CN" altLang="en-US" dirty="0">
                <a:solidFill>
                  <a:srgbClr val="006600"/>
                </a:solidFill>
                <a:latin typeface="Microsoft YaHei" panose="020B0503020204020204" pitchFamily="34" charset="-122"/>
                <a:ea typeface="Microsoft YaHei" panose="020B0503020204020204" pitchFamily="34" charset="-122"/>
              </a:rPr>
              <a:t>   AND grade&lt;</a:t>
            </a:r>
            <a:endParaRPr lang="zh-CN" altLang="en-US" dirty="0">
              <a:latin typeface="Microsoft YaHei" panose="020B0503020204020204" pitchFamily="34" charset="-122"/>
              <a:ea typeface="Microsoft YaHei" panose="020B0503020204020204" pitchFamily="34" charset="-122"/>
            </a:endParaRPr>
          </a:p>
        </p:txBody>
      </p:sp>
      <p:sp>
        <p:nvSpPr>
          <p:cNvPr id="74758" name="Rectangle 6"/>
          <p:cNvSpPr/>
          <p:nvPr/>
        </p:nvSpPr>
        <p:spPr>
          <a:xfrm>
            <a:off x="3020020" y="2901735"/>
            <a:ext cx="3212306" cy="1188244"/>
          </a:xfrm>
          <a:prstGeom prst="rect">
            <a:avLst/>
          </a:prstGeom>
          <a:noFill/>
          <a:ln w="9525">
            <a:noFill/>
          </a:ln>
        </p:spPr>
        <p:txBody>
          <a:bodyPr/>
          <a:lstStyle/>
          <a:p>
            <a:pPr marL="257175" indent="-257175">
              <a:spcBef>
                <a:spcPct val="5000"/>
              </a:spcBef>
              <a:buClr>
                <a:schemeClr val="folHlink"/>
              </a:buClr>
              <a:buSzPct val="60000"/>
            </a:pPr>
            <a:r>
              <a:rPr lang="zh-CN" altLang="en-US" dirty="0">
                <a:latin typeface="Microsoft YaHei" panose="020B0503020204020204" pitchFamily="34" charset="-122"/>
                <a:ea typeface="Microsoft YaHei" panose="020B0503020204020204" pitchFamily="34" charset="-122"/>
              </a:rPr>
              <a:t>  </a:t>
            </a:r>
            <a:r>
              <a:rPr lang="zh-CN" altLang="en-US" dirty="0">
                <a:solidFill>
                  <a:srgbClr val="6600FF"/>
                </a:solidFill>
                <a:latin typeface="Microsoft YaHei" panose="020B0503020204020204" pitchFamily="34" charset="-122"/>
                <a:ea typeface="Microsoft YaHei" panose="020B0503020204020204" pitchFamily="34" charset="-122"/>
              </a:rPr>
              <a:t>(SELECT AVG(grade)</a:t>
            </a:r>
          </a:p>
          <a:p>
            <a:pPr marL="257175" indent="-257175">
              <a:spcBef>
                <a:spcPct val="5000"/>
              </a:spcBef>
              <a:buClr>
                <a:schemeClr val="folHlink"/>
              </a:buClr>
              <a:buSzPct val="60000"/>
            </a:pPr>
            <a:r>
              <a:rPr lang="zh-CN" altLang="en-US" dirty="0">
                <a:solidFill>
                  <a:srgbClr val="6600FF"/>
                </a:solidFill>
                <a:latin typeface="Microsoft YaHei" panose="020B0503020204020204" pitchFamily="34" charset="-122"/>
                <a:ea typeface="Microsoft YaHei" panose="020B0503020204020204" pitchFamily="34" charset="-122"/>
              </a:rPr>
              <a:t>   FROM </a:t>
            </a:r>
            <a:r>
              <a:rPr lang="en-US" altLang="zh-CN" dirty="0">
                <a:solidFill>
                  <a:srgbClr val="6600FF"/>
                </a:solidFill>
                <a:latin typeface="Microsoft YaHei" panose="020B0503020204020204" pitchFamily="34" charset="-122"/>
                <a:ea typeface="Microsoft YaHei" panose="020B0503020204020204" pitchFamily="34" charset="-122"/>
              </a:rPr>
              <a:t>SC</a:t>
            </a:r>
            <a:endParaRPr lang="zh-CN" altLang="en-US" dirty="0">
              <a:solidFill>
                <a:srgbClr val="6600FF"/>
              </a:solidFill>
              <a:latin typeface="Microsoft YaHei" panose="020B0503020204020204" pitchFamily="34" charset="-122"/>
              <a:ea typeface="Microsoft YaHei" panose="020B0503020204020204" pitchFamily="34" charset="-122"/>
            </a:endParaRPr>
          </a:p>
          <a:p>
            <a:pPr marL="257175" indent="-257175">
              <a:spcBef>
                <a:spcPct val="5000"/>
              </a:spcBef>
              <a:buClr>
                <a:schemeClr val="folHlink"/>
              </a:buClr>
              <a:buSzPct val="60000"/>
            </a:pPr>
            <a:r>
              <a:rPr lang="zh-CN" altLang="en-US" dirty="0">
                <a:solidFill>
                  <a:srgbClr val="6600FF"/>
                </a:solidFill>
                <a:latin typeface="Microsoft YaHei" panose="020B0503020204020204" pitchFamily="34" charset="-122"/>
                <a:ea typeface="Microsoft YaHei" panose="020B0503020204020204" pitchFamily="34" charset="-122"/>
              </a:rPr>
              <a:t>   WHERE cno</a:t>
            </a:r>
            <a:r>
              <a:rPr lang="en-US" altLang="zh-CN" dirty="0">
                <a:solidFill>
                  <a:srgbClr val="6600FF"/>
                </a:solidFill>
                <a:latin typeface="Microsoft YaHei" panose="020B0503020204020204" pitchFamily="34" charset="-122"/>
                <a:ea typeface="Microsoft YaHei" panose="020B0503020204020204" pitchFamily="34" charset="-122"/>
              </a:rPr>
              <a:t>=</a:t>
            </a:r>
            <a:r>
              <a:rPr lang="zh-CN" altLang="en-US" dirty="0">
                <a:solidFill>
                  <a:srgbClr val="6600FF"/>
                </a:solidFill>
                <a:latin typeface="Microsoft YaHei" panose="020B0503020204020204" pitchFamily="34" charset="-122"/>
                <a:ea typeface="Microsoft YaHei" panose="020B0503020204020204" pitchFamily="34" charset="-122"/>
              </a:rPr>
              <a:t>‘008’)</a:t>
            </a:r>
            <a:r>
              <a:rPr lang="zh-CN" altLang="en-US" dirty="0">
                <a:latin typeface="Microsoft YaHei" panose="020B0503020204020204" pitchFamily="34" charset="-122"/>
                <a:ea typeface="Microsoft YaHei" panose="020B0503020204020204" pitchFamily="34" charset="-122"/>
              </a:rPr>
              <a:t>;</a:t>
            </a:r>
          </a:p>
        </p:txBody>
      </p:sp>
      <p:sp>
        <p:nvSpPr>
          <p:cNvPr id="3" name="标题 2">
            <a:extLst>
              <a:ext uri="{FF2B5EF4-FFF2-40B4-BE49-F238E27FC236}">
                <a16:creationId xmlns:a16="http://schemas.microsoft.com/office/drawing/2014/main" id="{CE19D4BD-B440-39F0-79F6-97F1FF64E92C}"/>
              </a:ext>
            </a:extLst>
          </p:cNvPr>
          <p:cNvSpPr>
            <a:spLocks noGrp="1"/>
          </p:cNvSpPr>
          <p:nvPr>
            <p:ph type="title"/>
          </p:nvPr>
        </p:nvSpPr>
        <p:spPr/>
        <p:txBody>
          <a:bodyPr/>
          <a:lstStyle/>
          <a:p>
            <a:r>
              <a:rPr lang="zh-CN" altLang="en-US" dirty="0"/>
              <a:t>数据修改（更新）</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757"/>
                                        </p:tgtEl>
                                        <p:attrNameLst>
                                          <p:attrName>style.visibility</p:attrName>
                                        </p:attrNameLst>
                                      </p:cBhvr>
                                      <p:to>
                                        <p:strVal val="visible"/>
                                      </p:to>
                                    </p:set>
                                    <p:anim calcmode="lin" valueType="num">
                                      <p:cBhvr additive="base">
                                        <p:cTn id="7" dur="500" fill="hold"/>
                                        <p:tgtEl>
                                          <p:spTgt spid="74757"/>
                                        </p:tgtEl>
                                        <p:attrNameLst>
                                          <p:attrName>ppt_x</p:attrName>
                                        </p:attrNameLst>
                                      </p:cBhvr>
                                      <p:tavLst>
                                        <p:tav tm="0">
                                          <p:val>
                                            <p:strVal val="#ppt_x"/>
                                          </p:val>
                                        </p:tav>
                                        <p:tav tm="100000">
                                          <p:val>
                                            <p:strVal val="#ppt_x"/>
                                          </p:val>
                                        </p:tav>
                                      </p:tavLst>
                                    </p:anim>
                                    <p:anim calcmode="lin" valueType="num">
                                      <p:cBhvr additive="base">
                                        <p:cTn id="8" dur="500" fill="hold"/>
                                        <p:tgtEl>
                                          <p:spTgt spid="747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758"/>
                                        </p:tgtEl>
                                        <p:attrNameLst>
                                          <p:attrName>style.visibility</p:attrName>
                                        </p:attrNameLst>
                                      </p:cBhvr>
                                      <p:to>
                                        <p:strVal val="visible"/>
                                      </p:to>
                                    </p:set>
                                    <p:anim calcmode="lin" valueType="num">
                                      <p:cBhvr additive="base">
                                        <p:cTn id="13" dur="500" fill="hold"/>
                                        <p:tgtEl>
                                          <p:spTgt spid="74758"/>
                                        </p:tgtEl>
                                        <p:attrNameLst>
                                          <p:attrName>ppt_x</p:attrName>
                                        </p:attrNameLst>
                                      </p:cBhvr>
                                      <p:tavLst>
                                        <p:tav tm="0">
                                          <p:val>
                                            <p:strVal val="#ppt_x"/>
                                          </p:val>
                                        </p:tav>
                                        <p:tav tm="100000">
                                          <p:val>
                                            <p:strVal val="#ppt_x"/>
                                          </p:val>
                                        </p:tav>
                                      </p:tavLst>
                                    </p:anim>
                                    <p:anim calcmode="lin" valueType="num">
                                      <p:cBhvr additive="base">
                                        <p:cTn id="14" dur="500" fill="hold"/>
                                        <p:tgtEl>
                                          <p:spTgt spid="747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p:bldP spid="7475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334296" y="1253548"/>
            <a:ext cx="8091949" cy="3393642"/>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spcBef>
                <a:spcPct val="0"/>
              </a:spcBef>
              <a:buNone/>
            </a:pPr>
            <a:r>
              <a:rPr lang="zh-CN" altLang="en-US" sz="1800" b="1" dirty="0">
                <a:solidFill>
                  <a:schemeClr val="hlink"/>
                </a:solidFill>
                <a:latin typeface="Microsoft YaHei" panose="020B0503020204020204" pitchFamily="34" charset="-122"/>
                <a:ea typeface="Microsoft YaHei" panose="020B0503020204020204" pitchFamily="34" charset="-122"/>
              </a:rPr>
              <a:t>格式：</a:t>
            </a:r>
            <a:endParaRPr lang="en-US" altLang="zh-CN" sz="1800" b="1" dirty="0">
              <a:solidFill>
                <a:schemeClr val="hlink"/>
              </a:solidFill>
              <a:latin typeface="Microsoft YaHei" panose="020B0503020204020204" pitchFamily="34" charset="-122"/>
              <a:ea typeface="Microsoft YaHei" panose="020B0503020204020204" pitchFamily="34" charset="-122"/>
            </a:endParaRPr>
          </a:p>
          <a:p>
            <a:pPr eaLnBrk="1" hangingPunct="1">
              <a:spcBef>
                <a:spcPct val="0"/>
              </a:spcBef>
              <a:buNone/>
            </a:pPr>
            <a:r>
              <a:rPr lang="zh-CN" altLang="en-US" sz="1800" dirty="0">
                <a:solidFill>
                  <a:schemeClr val="hlink"/>
                </a:solidFill>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DELETE </a:t>
            </a:r>
          </a:p>
          <a:p>
            <a:pPr eaLnBrk="1" hangingPunct="1">
              <a:spcBef>
                <a:spcPct val="0"/>
              </a:spcBef>
              <a:buNone/>
            </a:pPr>
            <a:r>
              <a:rPr lang="zh-CN" altLang="en-US" sz="1800" dirty="0">
                <a:latin typeface="Microsoft YaHei" panose="020B0503020204020204" pitchFamily="34" charset="-122"/>
                <a:ea typeface="Microsoft YaHei" panose="020B0503020204020204" pitchFamily="34" charset="-122"/>
              </a:rPr>
              <a:t>      FROM &lt;表名&gt;</a:t>
            </a:r>
          </a:p>
          <a:p>
            <a:pPr eaLnBrk="1" hangingPunct="1">
              <a:spcBef>
                <a:spcPct val="0"/>
              </a:spcBef>
              <a:buNone/>
            </a:pPr>
            <a:r>
              <a:rPr lang="zh-CN" altLang="en-US" sz="1800" dirty="0">
                <a:latin typeface="Microsoft YaHei" panose="020B0503020204020204" pitchFamily="34" charset="-122"/>
                <a:ea typeface="Microsoft YaHei" panose="020B0503020204020204" pitchFamily="34" charset="-122"/>
              </a:rPr>
              <a:t>      </a:t>
            </a:r>
            <a:r>
              <a:rPr lang="zh-CN" altLang="en-US" sz="1800" dirty="0">
                <a:solidFill>
                  <a:srgbClr val="006600"/>
                </a:solidFill>
                <a:latin typeface="Microsoft YaHei" panose="020B0503020204020204" pitchFamily="34" charset="-122"/>
                <a:ea typeface="Microsoft YaHei" panose="020B0503020204020204" pitchFamily="34" charset="-122"/>
              </a:rPr>
              <a:t>[WHERE &lt;条件</a:t>
            </a:r>
            <a:r>
              <a:rPr lang="zh-CN" altLang="en-US" sz="1800" dirty="0">
                <a:solidFill>
                  <a:srgbClr val="6600FF"/>
                </a:solidFill>
                <a:latin typeface="Microsoft YaHei" panose="020B0503020204020204" pitchFamily="34" charset="-122"/>
                <a:ea typeface="Microsoft YaHei" panose="020B0503020204020204" pitchFamily="34" charset="-122"/>
              </a:rPr>
              <a:t>[子查询]</a:t>
            </a:r>
            <a:r>
              <a:rPr lang="zh-CN" altLang="en-US" sz="1800" dirty="0">
                <a:solidFill>
                  <a:srgbClr val="006600"/>
                </a:solidFill>
                <a:latin typeface="Microsoft YaHei" panose="020B0503020204020204" pitchFamily="34" charset="-122"/>
                <a:ea typeface="Microsoft YaHei" panose="020B0503020204020204" pitchFamily="34" charset="-122"/>
              </a:rPr>
              <a:t>&gt;]</a:t>
            </a:r>
            <a:r>
              <a:rPr lang="zh-CN" altLang="en-US" sz="1800" dirty="0">
                <a:latin typeface="Microsoft YaHei" panose="020B0503020204020204" pitchFamily="34" charset="-122"/>
                <a:ea typeface="Microsoft YaHei" panose="020B0503020204020204" pitchFamily="34" charset="-122"/>
              </a:rPr>
              <a:t>;</a:t>
            </a:r>
          </a:p>
          <a:p>
            <a:pPr eaLnBrk="1" hangingPunct="1">
              <a:spcBef>
                <a:spcPct val="10000"/>
              </a:spcBef>
              <a:buNone/>
            </a:pPr>
            <a:endParaRPr lang="en-US" altLang="zh-CN" sz="1800" b="1" dirty="0">
              <a:solidFill>
                <a:schemeClr val="hlink"/>
              </a:solidFill>
              <a:latin typeface="Microsoft YaHei" panose="020B0503020204020204" pitchFamily="34" charset="-122"/>
              <a:ea typeface="Microsoft YaHei" panose="020B0503020204020204" pitchFamily="34" charset="-122"/>
            </a:endParaRPr>
          </a:p>
          <a:p>
            <a:pPr eaLnBrk="1" hangingPunct="1">
              <a:buNone/>
            </a:pPr>
            <a:r>
              <a:rPr lang="en-US" altLang="zh-CN" sz="1800" b="1" dirty="0">
                <a:solidFill>
                  <a:schemeClr val="hlink"/>
                </a:solidFill>
                <a:latin typeface="Microsoft YaHei" panose="020B0503020204020204" pitchFamily="34" charset="-122"/>
                <a:ea typeface="Microsoft YaHei" panose="020B0503020204020204" pitchFamily="34" charset="-122"/>
              </a:rPr>
              <a:t>【</a:t>
            </a:r>
            <a:r>
              <a:rPr lang="zh-CN" altLang="en-US" sz="1800" b="1" dirty="0">
                <a:solidFill>
                  <a:schemeClr val="hlink"/>
                </a:solidFill>
                <a:latin typeface="Microsoft YaHei" panose="020B0503020204020204" pitchFamily="34" charset="-122"/>
                <a:ea typeface="Microsoft YaHei" panose="020B0503020204020204" pitchFamily="34" charset="-122"/>
              </a:rPr>
              <a:t>例</a:t>
            </a:r>
            <a:r>
              <a:rPr lang="en-US" altLang="zh-CN" sz="1800" b="1" dirty="0">
                <a:solidFill>
                  <a:schemeClr val="hlink"/>
                </a:solidFill>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将选课人数不足</a:t>
            </a:r>
            <a:r>
              <a:rPr lang="zh-CN" altLang="en-US" sz="1800" dirty="0">
                <a:latin typeface="Microsoft YaHei" panose="020B0503020204020204" pitchFamily="34" charset="-122"/>
                <a:ea typeface="Microsoft YaHei" panose="020B0503020204020204" pitchFamily="34" charset="-122"/>
              </a:rPr>
              <a:t>10人的课程记录删除。</a:t>
            </a:r>
          </a:p>
          <a:p>
            <a:pPr eaLnBrk="1" hangingPunct="1">
              <a:spcBef>
                <a:spcPct val="0"/>
              </a:spcBef>
              <a:buNone/>
            </a:pPr>
            <a:r>
              <a:rPr lang="zh-CN" altLang="en-US" sz="1800" b="1"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DELETE FROM</a:t>
            </a: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C</a:t>
            </a:r>
            <a:r>
              <a:rPr lang="zh-CN" altLang="en-US" sz="1800" dirty="0">
                <a:latin typeface="Microsoft YaHei" panose="020B0503020204020204" pitchFamily="34" charset="-122"/>
                <a:ea typeface="Microsoft YaHei" panose="020B0503020204020204" pitchFamily="34" charset="-122"/>
              </a:rPr>
              <a:t>ourse</a:t>
            </a:r>
          </a:p>
          <a:p>
            <a:pPr eaLnBrk="1" hangingPunct="1">
              <a:spcBef>
                <a:spcPct val="0"/>
              </a:spcBef>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WHERE</a:t>
            </a:r>
            <a:r>
              <a:rPr lang="zh-CN" altLang="en-US" sz="1800" dirty="0">
                <a:latin typeface="Microsoft YaHei" panose="020B0503020204020204" pitchFamily="34" charset="-122"/>
                <a:ea typeface="Microsoft YaHei" panose="020B0503020204020204" pitchFamily="34" charset="-122"/>
              </a:rPr>
              <a:t> cno </a:t>
            </a:r>
            <a:r>
              <a:rPr lang="en-US" altLang="zh-CN" sz="1800" dirty="0">
                <a:latin typeface="Microsoft YaHei" panose="020B0503020204020204" pitchFamily="34" charset="-122"/>
                <a:ea typeface="Microsoft YaHei" panose="020B0503020204020204" pitchFamily="34" charset="-122"/>
              </a:rPr>
              <a:t>IN</a:t>
            </a:r>
            <a:endParaRPr lang="zh-CN" altLang="en-US" sz="1800" dirty="0">
              <a:latin typeface="Microsoft YaHei" panose="020B0503020204020204" pitchFamily="34" charset="-122"/>
              <a:ea typeface="Microsoft YaHei" panose="020B0503020204020204" pitchFamily="34" charset="-122"/>
            </a:endParaRPr>
          </a:p>
          <a:p>
            <a:pPr eaLnBrk="1" hangingPunct="1">
              <a:spcBef>
                <a:spcPct val="0"/>
              </a:spcBef>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SELECT</a:t>
            </a:r>
            <a:r>
              <a:rPr lang="zh-CN" altLang="en-US" sz="1800" dirty="0">
                <a:latin typeface="Microsoft YaHei" panose="020B0503020204020204" pitchFamily="34" charset="-122"/>
                <a:ea typeface="Microsoft YaHei" panose="020B0503020204020204" pitchFamily="34" charset="-122"/>
              </a:rPr>
              <a:t> cno </a:t>
            </a:r>
          </a:p>
          <a:p>
            <a:pPr eaLnBrk="1" hangingPunct="1">
              <a:spcBef>
                <a:spcPct val="0"/>
              </a:spcBef>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FROM</a:t>
            </a: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SC</a:t>
            </a:r>
            <a:endParaRPr lang="zh-CN" altLang="en-US" sz="1800" dirty="0">
              <a:latin typeface="Microsoft YaHei" panose="020B0503020204020204" pitchFamily="34" charset="-122"/>
              <a:ea typeface="Microsoft YaHei" panose="020B0503020204020204" pitchFamily="34" charset="-122"/>
            </a:endParaRPr>
          </a:p>
          <a:p>
            <a:pPr eaLnBrk="1" hangingPunct="1">
              <a:spcBef>
                <a:spcPct val="0"/>
              </a:spcBef>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GROUP BY</a:t>
            </a:r>
            <a:r>
              <a:rPr lang="zh-CN" altLang="en-US" sz="1800" dirty="0">
                <a:latin typeface="Microsoft YaHei" panose="020B0503020204020204" pitchFamily="34" charset="-122"/>
                <a:ea typeface="Microsoft YaHei" panose="020B0503020204020204" pitchFamily="34" charset="-122"/>
              </a:rPr>
              <a:t> cno</a:t>
            </a:r>
          </a:p>
          <a:p>
            <a:pPr eaLnBrk="1" hangingPunct="1">
              <a:spcBef>
                <a:spcPct val="0"/>
              </a:spcBef>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HAVING</a:t>
            </a: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COUNT</a:t>
            </a:r>
            <a:r>
              <a:rPr lang="zh-CN" altLang="en-US" sz="1800" dirty="0">
                <a:latin typeface="Microsoft YaHei" panose="020B0503020204020204" pitchFamily="34" charset="-122"/>
                <a:ea typeface="Microsoft YaHei" panose="020B0503020204020204" pitchFamily="34" charset="-122"/>
              </a:rPr>
              <a:t>(*)&lt;10)</a:t>
            </a:r>
          </a:p>
        </p:txBody>
      </p:sp>
      <p:sp>
        <p:nvSpPr>
          <p:cNvPr id="6" name="标题 5">
            <a:extLst>
              <a:ext uri="{FF2B5EF4-FFF2-40B4-BE49-F238E27FC236}">
                <a16:creationId xmlns:a16="http://schemas.microsoft.com/office/drawing/2014/main" id="{221B1A12-5395-DDB9-8B59-E48085F09F51}"/>
              </a:ext>
            </a:extLst>
          </p:cNvPr>
          <p:cNvSpPr>
            <a:spLocks noGrp="1"/>
          </p:cNvSpPr>
          <p:nvPr>
            <p:ph type="title"/>
          </p:nvPr>
        </p:nvSpPr>
        <p:spPr/>
        <p:txBody>
          <a:bodyPr/>
          <a:lstStyle/>
          <a:p>
            <a:r>
              <a:rPr lang="zh-CN" altLang="en-US" dirty="0"/>
              <a:t>数据删除</a:t>
            </a: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FEFE-8F0B-A434-0929-865DAF6C098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E1D1FEB-ED00-8D86-E7F6-E098FE56E529}"/>
              </a:ext>
            </a:extLst>
          </p:cNvPr>
          <p:cNvSpPr txBox="1"/>
          <p:nvPr/>
        </p:nvSpPr>
        <p:spPr>
          <a:xfrm>
            <a:off x="1006545" y="2781596"/>
            <a:ext cx="7458075" cy="642035"/>
          </a:xfrm>
          <a:prstGeom prst="rect">
            <a:avLst/>
          </a:prstGeom>
          <a:noFill/>
          <a:ln/>
        </p:spPr>
        <p:txBody>
          <a:bodyPr wrap="square" lIns="0" tIns="0" rIns="0" bIns="0" rtlCol="0" anchor="t">
            <a:spAutoFit/>
          </a:bodyPr>
          <a:lstStyle/>
          <a:p>
            <a:pPr>
              <a:lnSpc>
                <a:spcPct val="96000"/>
              </a:lnSpc>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更多数据库对象</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8D7F502D-E4C9-AF71-3658-275AF4482C54}"/>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94EE274F-18E4-C79F-EE88-9E0D7E7324BB}"/>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C7027EDD-E42A-EC62-7EDA-10342BE046DD}"/>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519951A2-BC7D-AD02-50D2-7CCF24B88D53}"/>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C7DA4DCA-AB8F-EA6F-E5BE-2BA7130CC62D}"/>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5751FCE7-53A2-60FE-15D6-CE00B17E3AC6}"/>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45F43D1F-6C52-C53D-1448-54B3D7889BCF}"/>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8B2D01C3-C999-F355-53CF-ADC34F6BEF35}"/>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24629905-6CA7-C175-EE39-E6463E1AC5FC}"/>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5A809A4A-0783-06D2-2B45-3B15DC190D01}"/>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B86ECA3F-4126-F8D5-CEB5-DF131796F559}"/>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09A4FAD3-3F33-A37D-8FC0-E670CF4C996A}"/>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9E0D9F22-384E-3E15-178A-49BF086D786D}"/>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3893ADCB-00BE-37F3-F7A4-09CD4168C29A}"/>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53B4CF2E-D928-464A-1972-86A40CA7F485}"/>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4</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7652431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1453067" y="946310"/>
            <a:ext cx="6858000" cy="3761883"/>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zh-CN" altLang="en-US" sz="1800" b="1" dirty="0">
                <a:solidFill>
                  <a:srgbClr val="C00000"/>
                </a:solidFill>
                <a:latin typeface="Microsoft YaHei" panose="020B0503020204020204" pitchFamily="34" charset="-122"/>
                <a:ea typeface="Microsoft YaHei" panose="020B0503020204020204" pitchFamily="34" charset="-122"/>
              </a:rPr>
              <a:t>（</a:t>
            </a:r>
            <a:r>
              <a:rPr lang="en-US" altLang="zh-CN" sz="1800" b="1" dirty="0">
                <a:solidFill>
                  <a:srgbClr val="C00000"/>
                </a:solidFill>
                <a:latin typeface="Microsoft YaHei" panose="020B0503020204020204" pitchFamily="34" charset="-122"/>
                <a:ea typeface="Microsoft YaHei" panose="020B0503020204020204" pitchFamily="34" charset="-122"/>
              </a:rPr>
              <a:t>1</a:t>
            </a:r>
            <a:r>
              <a:rPr lang="zh-CN" altLang="en-US" sz="1800" b="1" dirty="0">
                <a:solidFill>
                  <a:srgbClr val="C00000"/>
                </a:solidFill>
                <a:latin typeface="Microsoft YaHei" panose="020B0503020204020204" pitchFamily="34" charset="-122"/>
                <a:ea typeface="Microsoft YaHei" panose="020B0503020204020204" pitchFamily="34" charset="-122"/>
              </a:rPr>
              <a:t>）视图的概念</a:t>
            </a:r>
            <a:endParaRPr lang="zh-CN" altLang="en-US" sz="1800" dirty="0">
              <a:solidFill>
                <a:srgbClr val="C00000"/>
              </a:solidFill>
              <a:latin typeface="Microsoft YaHei" panose="020B0503020204020204" pitchFamily="34" charset="-122"/>
              <a:ea typeface="Microsoft YaHei" panose="020B0503020204020204" pitchFamily="34" charset="-122"/>
            </a:endParaRPr>
          </a:p>
          <a:p>
            <a:pPr lvl="1" eaLnBrk="1" hangingPunct="1">
              <a:buSzTx/>
              <a:buFont typeface="Wingdings" panose="05000000000000000000" pitchFamily="2" charset="2"/>
              <a:buChar char="Ø"/>
            </a:pPr>
            <a:r>
              <a:rPr lang="zh-CN" altLang="en-US" sz="1800" dirty="0">
                <a:latin typeface="Microsoft YaHei" panose="020B0503020204020204" pitchFamily="34" charset="-122"/>
                <a:ea typeface="Microsoft YaHei" panose="020B0503020204020204" pitchFamily="34" charset="-122"/>
              </a:rPr>
              <a:t>是从一个或几个基本表(或视图)导出的表，是虚表。</a:t>
            </a:r>
          </a:p>
          <a:p>
            <a:pPr lvl="1" eaLnBrk="1" hangingPunct="1">
              <a:buSzTx/>
              <a:buFont typeface="Wingdings" panose="05000000000000000000" pitchFamily="2" charset="2"/>
              <a:buChar char="Ø"/>
            </a:pPr>
            <a:r>
              <a:rPr lang="zh-CN" altLang="en-US" sz="1800" dirty="0">
                <a:latin typeface="Microsoft YaHei" panose="020B0503020204020204" pitchFamily="34" charset="-122"/>
                <a:ea typeface="Microsoft YaHei" panose="020B0503020204020204" pitchFamily="34" charset="-122"/>
              </a:rPr>
              <a:t>与表一样可被查询。</a:t>
            </a:r>
          </a:p>
          <a:p>
            <a:pPr lvl="1" eaLnBrk="1" hangingPunct="1">
              <a:buSzTx/>
              <a:buFont typeface="Wingdings" panose="05000000000000000000" pitchFamily="2" charset="2"/>
              <a:buChar char="Ø"/>
            </a:pPr>
            <a:r>
              <a:rPr lang="zh-CN" altLang="en-US" sz="1800" dirty="0">
                <a:latin typeface="Microsoft YaHei" panose="020B0503020204020204" pitchFamily="34" charset="-122"/>
                <a:ea typeface="Microsoft YaHei" panose="020B0503020204020204" pitchFamily="34" charset="-122"/>
              </a:rPr>
              <a:t>对视图的更新操作有一定的限制。</a:t>
            </a:r>
          </a:p>
          <a:p>
            <a:pPr lvl="1" eaLnBrk="1" hangingPunct="1">
              <a:buSzTx/>
              <a:buFont typeface="Wingdings" panose="05000000000000000000" pitchFamily="2" charset="2"/>
              <a:buChar char="Ø"/>
            </a:pPr>
            <a:r>
              <a:rPr lang="zh-CN" altLang="en-US" sz="1800" dirty="0">
                <a:latin typeface="Microsoft YaHei" panose="020B0503020204020204" pitchFamily="34" charset="-122"/>
                <a:ea typeface="Microsoft YaHei" panose="020B0503020204020204" pitchFamily="34" charset="-122"/>
              </a:rPr>
              <a:t>对视图的一切操作最终将转换为对基本表的操作。 </a:t>
            </a:r>
          </a:p>
          <a:p>
            <a:pPr lvl="1" eaLnBrk="1" hangingPunct="1">
              <a:buSzTx/>
              <a:buFont typeface="Wingdings" panose="05000000000000000000" pitchFamily="2" charset="2"/>
              <a:buChar char="Ø"/>
            </a:pPr>
            <a:endParaRPr lang="zh-CN" altLang="en-US" sz="1800" b="1" dirty="0">
              <a:latin typeface="Microsoft YaHei" panose="020B0503020204020204" pitchFamily="34" charset="-122"/>
              <a:ea typeface="Microsoft YaHei" panose="020B0503020204020204" pitchFamily="34" charset="-122"/>
            </a:endParaRPr>
          </a:p>
          <a:p>
            <a:pPr marL="0" indent="0" eaLnBrk="1" hangingPunct="1">
              <a:buSzTx/>
              <a:buNone/>
            </a:pPr>
            <a:r>
              <a:rPr lang="zh-CN" altLang="en-US" sz="1800" b="1" dirty="0">
                <a:solidFill>
                  <a:srgbClr val="C00000"/>
                </a:solidFill>
                <a:latin typeface="Microsoft YaHei" panose="020B0503020204020204" pitchFamily="34" charset="-122"/>
                <a:ea typeface="Microsoft YaHei" panose="020B0503020204020204" pitchFamily="34" charset="-122"/>
              </a:rPr>
              <a:t>（</a:t>
            </a:r>
            <a:r>
              <a:rPr lang="en-US" altLang="zh-CN" sz="1800" b="1" dirty="0">
                <a:solidFill>
                  <a:srgbClr val="C00000"/>
                </a:solidFill>
                <a:latin typeface="Microsoft YaHei" panose="020B0503020204020204" pitchFamily="34" charset="-122"/>
                <a:ea typeface="Microsoft YaHei" panose="020B0503020204020204" pitchFamily="34" charset="-122"/>
              </a:rPr>
              <a:t>2</a:t>
            </a:r>
            <a:r>
              <a:rPr lang="zh-CN" altLang="en-US" sz="1800" b="1" dirty="0">
                <a:solidFill>
                  <a:srgbClr val="C00000"/>
                </a:solidFill>
                <a:latin typeface="Microsoft YaHei" panose="020B0503020204020204" pitchFamily="34" charset="-122"/>
                <a:ea typeface="Microsoft YaHei" panose="020B0503020204020204" pitchFamily="34" charset="-122"/>
              </a:rPr>
              <a:t>）视图的作用</a:t>
            </a:r>
          </a:p>
          <a:p>
            <a:pPr marL="800100" indent="-350838" eaLnBrk="1" hangingPunct="1">
              <a:buSzTx/>
              <a:buFont typeface="Wingdings" pitchFamily="2" charset="2"/>
              <a:buChar char="Ø"/>
            </a:pPr>
            <a:r>
              <a:rPr lang="zh-CN" altLang="en-US" sz="1800" dirty="0">
                <a:latin typeface="Microsoft YaHei" panose="020B0503020204020204" pitchFamily="34" charset="-122"/>
                <a:ea typeface="Microsoft YaHei" panose="020B0503020204020204" pitchFamily="34" charset="-122"/>
              </a:rPr>
              <a:t>简化结构及复杂操作。 </a:t>
            </a:r>
          </a:p>
          <a:p>
            <a:pPr marL="800100" indent="-350838" eaLnBrk="1" hangingPunct="1">
              <a:buSzTx/>
              <a:buFont typeface="Wingdings" pitchFamily="2" charset="2"/>
              <a:buChar char="Ø"/>
            </a:pPr>
            <a:r>
              <a:rPr lang="zh-CN" altLang="en-US" sz="1800" dirty="0">
                <a:latin typeface="Microsoft YaHei" panose="020B0503020204020204" pitchFamily="34" charset="-122"/>
                <a:ea typeface="Microsoft YaHei" panose="020B0503020204020204" pitchFamily="34" charset="-122"/>
              </a:rPr>
              <a:t>多角度地、更灵活地共享。 </a:t>
            </a:r>
          </a:p>
          <a:p>
            <a:pPr marL="800100" indent="-350838" eaLnBrk="1" hangingPunct="1">
              <a:buSzTx/>
              <a:buFont typeface="Wingdings" pitchFamily="2" charset="2"/>
              <a:buChar char="Ø"/>
            </a:pPr>
            <a:r>
              <a:rPr lang="zh-CN" altLang="en-US" sz="1800" dirty="0">
                <a:latin typeface="Microsoft YaHei" panose="020B0503020204020204" pitchFamily="34" charset="-122"/>
                <a:ea typeface="Microsoft YaHei" panose="020B0503020204020204" pitchFamily="34" charset="-122"/>
                <a:sym typeface="+mn-ea"/>
              </a:rPr>
              <a:t>提供安全保护。</a:t>
            </a:r>
          </a:p>
          <a:p>
            <a:pPr marL="800100" indent="-350838" eaLnBrk="1" hangingPunct="1">
              <a:buSzTx/>
              <a:buFont typeface="Wingdings" pitchFamily="2" charset="2"/>
              <a:buChar char="Ø"/>
            </a:pPr>
            <a:r>
              <a:rPr lang="zh-CN" altLang="en-US" sz="1800" dirty="0">
                <a:latin typeface="Microsoft YaHei" panose="020B0503020204020204" pitchFamily="34" charset="-122"/>
                <a:ea typeface="Microsoft YaHei" panose="020B0503020204020204" pitchFamily="34" charset="-122"/>
              </a:rPr>
              <a:t>提高逻辑独立性。</a:t>
            </a:r>
          </a:p>
        </p:txBody>
      </p:sp>
      <p:sp>
        <p:nvSpPr>
          <p:cNvPr id="5" name="标题 4">
            <a:extLst>
              <a:ext uri="{FF2B5EF4-FFF2-40B4-BE49-F238E27FC236}">
                <a16:creationId xmlns:a16="http://schemas.microsoft.com/office/drawing/2014/main" id="{EAF2AC47-4F85-6069-A28F-8E1826667C05}"/>
              </a:ext>
            </a:extLst>
          </p:cNvPr>
          <p:cNvSpPr>
            <a:spLocks noGrp="1"/>
          </p:cNvSpPr>
          <p:nvPr>
            <p:ph type="title"/>
          </p:nvPr>
        </p:nvSpPr>
        <p:spPr/>
        <p:txBody>
          <a:bodyPr/>
          <a:lstStyle/>
          <a:p>
            <a:r>
              <a:rPr lang="zh-CN" altLang="en-US" dirty="0"/>
              <a:t>视图</a:t>
            </a: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p:cNvSpPr>
          <p:nvPr>
            <p:ph idx="1"/>
          </p:nvPr>
        </p:nvSpPr>
        <p:spPr/>
        <p:txBody>
          <a:bodyPr vert="horz" wrap="square" lIns="68580" tIns="34290" rIns="68580" bIns="34290" rtlCol="0" anchor="t" anchorCtr="0">
            <a:normAutofit/>
          </a:bodyPr>
          <a:lstStyle/>
          <a:p>
            <a:pPr eaLnBrk="1" hangingPunct="1">
              <a:buSzPct val="60000"/>
              <a:buFont typeface="Wingdings" panose="05000000000000000000" pitchFamily="2" charset="2"/>
              <a:buNone/>
            </a:pPr>
            <a:r>
              <a:rPr lang="zh-CN" altLang="en-US" sz="1800" b="1" dirty="0">
                <a:solidFill>
                  <a:srgbClr val="C00000"/>
                </a:solidFill>
              </a:rPr>
              <a:t>一般格式：</a:t>
            </a:r>
          </a:p>
          <a:p>
            <a:pPr eaLnBrk="1" hangingPunct="1">
              <a:buSzTx/>
              <a:buFont typeface="Wingdings" panose="05000000000000000000" pitchFamily="2" charset="2"/>
              <a:buNone/>
            </a:pPr>
            <a:r>
              <a:rPr lang="zh-CN" altLang="en-US" sz="1800" b="1" dirty="0"/>
              <a:t>    </a:t>
            </a:r>
            <a:r>
              <a:rPr lang="en-US" altLang="zh-CN" sz="1800" b="1" dirty="0"/>
              <a:t>CREATE </a:t>
            </a:r>
            <a:r>
              <a:rPr lang="en-US" altLang="zh-CN" sz="1800" b="1" dirty="0">
                <a:solidFill>
                  <a:schemeClr val="hlink"/>
                </a:solidFill>
              </a:rPr>
              <a:t>VIEW</a:t>
            </a:r>
            <a:r>
              <a:rPr lang="en-US" altLang="zh-CN" sz="1800" b="1" dirty="0"/>
              <a:t> &lt;</a:t>
            </a:r>
            <a:r>
              <a:rPr lang="zh-CN" altLang="en-US" sz="1800" b="1" dirty="0"/>
              <a:t>视图名</a:t>
            </a:r>
            <a:r>
              <a:rPr lang="en-US" altLang="zh-CN" sz="1800" b="1" dirty="0"/>
              <a:t>&gt; [(&lt;</a:t>
            </a:r>
            <a:r>
              <a:rPr lang="zh-CN" altLang="en-US" sz="1800" b="1" dirty="0"/>
              <a:t>列名</a:t>
            </a:r>
            <a:r>
              <a:rPr lang="en-US" altLang="zh-CN" sz="1800" b="1" dirty="0"/>
              <a:t>&gt;[,&lt;</a:t>
            </a:r>
            <a:r>
              <a:rPr lang="zh-CN" altLang="en-US" sz="1800" b="1" dirty="0"/>
              <a:t>列名</a:t>
            </a:r>
            <a:r>
              <a:rPr lang="en-US" altLang="zh-CN" sz="1800" b="1" dirty="0"/>
              <a:t>&gt;]…)]  </a:t>
            </a:r>
          </a:p>
          <a:p>
            <a:pPr eaLnBrk="1" hangingPunct="1">
              <a:buSzTx/>
              <a:buFont typeface="Wingdings" panose="05000000000000000000" pitchFamily="2" charset="2"/>
              <a:buNone/>
            </a:pPr>
            <a:r>
              <a:rPr lang="en-US" altLang="zh-CN" sz="1800" b="1" dirty="0"/>
              <a:t>    AS </a:t>
            </a:r>
            <a:r>
              <a:rPr lang="en-US" altLang="zh-CN" sz="1800" b="1" dirty="0">
                <a:solidFill>
                  <a:schemeClr val="hlink"/>
                </a:solidFill>
              </a:rPr>
              <a:t>&lt;</a:t>
            </a:r>
            <a:r>
              <a:rPr lang="zh-CN" altLang="en-US" sz="1800" b="1" dirty="0">
                <a:solidFill>
                  <a:schemeClr val="hlink"/>
                </a:solidFill>
              </a:rPr>
              <a:t>子查询</a:t>
            </a:r>
            <a:r>
              <a:rPr lang="en-US" altLang="zh-CN" sz="1800" b="1" dirty="0">
                <a:solidFill>
                  <a:schemeClr val="hlink"/>
                </a:solidFill>
              </a:rPr>
              <a:t>&gt;</a:t>
            </a:r>
            <a:r>
              <a:rPr lang="en-US" altLang="zh-CN" sz="1800" b="1" dirty="0"/>
              <a:t>    </a:t>
            </a:r>
          </a:p>
          <a:p>
            <a:pPr eaLnBrk="1" hangingPunct="1">
              <a:buSzTx/>
              <a:buFont typeface="Wingdings" panose="05000000000000000000" pitchFamily="2" charset="2"/>
              <a:buNone/>
            </a:pPr>
            <a:r>
              <a:rPr lang="en-US" altLang="zh-CN" sz="1800" b="1" dirty="0"/>
              <a:t>    [WITH CHECK OPTION]</a:t>
            </a:r>
            <a:r>
              <a:rPr lang="zh-CN" altLang="en-US" sz="1800" b="1" dirty="0"/>
              <a:t>；</a:t>
            </a:r>
          </a:p>
          <a:p>
            <a:pPr eaLnBrk="1" hangingPunct="1">
              <a:buSzPct val="60000"/>
              <a:buFont typeface="Wingdings" panose="05000000000000000000" pitchFamily="2" charset="2"/>
              <a:buNone/>
            </a:pPr>
            <a:endParaRPr lang="zh-CN" altLang="en-US" sz="1800" b="1" dirty="0"/>
          </a:p>
          <a:p>
            <a:pPr eaLnBrk="1" hangingPunct="1">
              <a:buSzPct val="60000"/>
              <a:buFont typeface="Wingdings" panose="05000000000000000000" pitchFamily="2" charset="2"/>
              <a:buNone/>
            </a:pPr>
            <a:endParaRPr lang="zh-CN" altLang="en-US" sz="1800" b="1" dirty="0"/>
          </a:p>
          <a:p>
            <a:pPr eaLnBrk="1" hangingPunct="1">
              <a:buSzPct val="60000"/>
              <a:buFont typeface="Wingdings" panose="05000000000000000000" pitchFamily="2" charset="2"/>
              <a:buNone/>
            </a:pPr>
            <a:endParaRPr lang="zh-CN" altLang="en-US" sz="1800" dirty="0"/>
          </a:p>
        </p:txBody>
      </p:sp>
      <p:sp>
        <p:nvSpPr>
          <p:cNvPr id="84996" name="AutoShape 4"/>
          <p:cNvSpPr/>
          <p:nvPr/>
        </p:nvSpPr>
        <p:spPr>
          <a:xfrm>
            <a:off x="4355690" y="2678475"/>
            <a:ext cx="2536723" cy="467848"/>
          </a:xfrm>
          <a:prstGeom prst="wedgeRoundRectCallout">
            <a:avLst>
              <a:gd name="adj1" fmla="val -75761"/>
              <a:gd name="adj2" fmla="val -59528"/>
              <a:gd name="adj3" fmla="val 16667"/>
            </a:avLst>
          </a:prstGeom>
          <a:solidFill>
            <a:srgbClr val="BFFFEE"/>
          </a:solidFill>
          <a:ln w="9525" cap="flat" cmpd="sng">
            <a:solidFill>
              <a:schemeClr val="tx1"/>
            </a:solidFill>
            <a:prstDash val="solid"/>
            <a:miter/>
            <a:headEnd type="none" w="med" len="med"/>
            <a:tailEnd type="none" w="med" len="med"/>
          </a:ln>
        </p:spPr>
        <p:txBody>
          <a:bodyPr anchor="ctr"/>
          <a:lstStyle/>
          <a:p>
            <a:pPr algn="ctr">
              <a:spcBef>
                <a:spcPct val="20000"/>
              </a:spcBef>
              <a:buClr>
                <a:schemeClr val="folHlink"/>
              </a:buClr>
              <a:buSzPct val="60000"/>
            </a:pPr>
            <a:r>
              <a:rPr lang="zh-CN" altLang="en-US" sz="1400" dirty="0">
                <a:latin typeface="Microsoft YaHei" panose="020B0503020204020204" pitchFamily="34" charset="-122"/>
                <a:ea typeface="Microsoft YaHei" panose="020B0503020204020204" pitchFamily="34" charset="-122"/>
              </a:rPr>
              <a:t>更新操作时要保证操作的行满足视图定义中的谓词条件。</a:t>
            </a:r>
          </a:p>
        </p:txBody>
      </p:sp>
      <p:sp>
        <p:nvSpPr>
          <p:cNvPr id="84997" name="Text Box 5"/>
          <p:cNvSpPr txBox="1"/>
          <p:nvPr/>
        </p:nvSpPr>
        <p:spPr>
          <a:xfrm>
            <a:off x="870578" y="3428355"/>
            <a:ext cx="5943600" cy="646331"/>
          </a:xfrm>
          <a:prstGeom prst="rect">
            <a:avLst/>
          </a:prstGeom>
          <a:noFill/>
          <a:ln w="9525">
            <a:noFill/>
          </a:ln>
        </p:spPr>
        <p:txBody>
          <a:bodyPr>
            <a:spAutoFit/>
          </a:bodyPr>
          <a:lstStyle/>
          <a:p>
            <a:pPr>
              <a:lnSpc>
                <a:spcPct val="90000"/>
              </a:lnSpc>
              <a:spcBef>
                <a:spcPct val="20000"/>
              </a:spcBef>
              <a:buClr>
                <a:schemeClr val="folHlink"/>
              </a:buClr>
              <a:buSzPct val="60000"/>
            </a:pPr>
            <a:r>
              <a:rPr lang="zh-CN" altLang="en-US" dirty="0">
                <a:latin typeface="Microsoft YaHei" panose="020B0503020204020204" pitchFamily="34" charset="-122"/>
                <a:ea typeface="Microsoft YaHei" panose="020B0503020204020204" pitchFamily="34" charset="-122"/>
              </a:rPr>
              <a:t>其中：</a:t>
            </a:r>
          </a:p>
          <a:p>
            <a:pPr>
              <a:lnSpc>
                <a:spcPct val="90000"/>
              </a:lnSpc>
              <a:spcBef>
                <a:spcPct val="20000"/>
              </a:spcBef>
              <a:buClr>
                <a:schemeClr val="folHlink"/>
              </a:buClr>
              <a:buSzPct val="60000"/>
              <a:buFont typeface="Wingdings" panose="05000000000000000000" pitchFamily="2" charset="2"/>
              <a:buChar char="n"/>
            </a:pPr>
            <a:r>
              <a:rPr lang="zh-CN" altLang="en-US" dirty="0">
                <a:latin typeface="Microsoft YaHei" panose="020B0503020204020204" pitchFamily="34" charset="-122"/>
                <a:ea typeface="Microsoft YaHei" panose="020B0503020204020204" pitchFamily="34" charset="-122"/>
              </a:rPr>
              <a:t> 子查询不允许含有 </a:t>
            </a:r>
            <a:r>
              <a:rPr lang="zh-CN" altLang="en-US" dirty="0">
                <a:solidFill>
                  <a:srgbClr val="FF0000"/>
                </a:solidFill>
                <a:latin typeface="Microsoft YaHei" panose="020B0503020204020204" pitchFamily="34" charset="-122"/>
                <a:ea typeface="Microsoft YaHei" panose="020B0503020204020204" pitchFamily="34" charset="-122"/>
              </a:rPr>
              <a:t>ORDER BY</a:t>
            </a:r>
            <a:r>
              <a:rPr lang="zh-CN" altLang="en-US" dirty="0">
                <a:latin typeface="Microsoft YaHei" panose="020B0503020204020204" pitchFamily="34" charset="-122"/>
                <a:ea typeface="Microsoft YaHei" panose="020B0503020204020204" pitchFamily="34" charset="-122"/>
              </a:rPr>
              <a:t> 子句和 </a:t>
            </a:r>
            <a:r>
              <a:rPr lang="zh-CN" altLang="en-US" dirty="0">
                <a:solidFill>
                  <a:srgbClr val="FF0000"/>
                </a:solidFill>
                <a:latin typeface="Microsoft YaHei" panose="020B0503020204020204" pitchFamily="34" charset="-122"/>
                <a:ea typeface="Microsoft YaHei" panose="020B0503020204020204" pitchFamily="34" charset="-122"/>
              </a:rPr>
              <a:t>DISTINCT</a:t>
            </a:r>
            <a:r>
              <a:rPr lang="zh-CN" altLang="en-US" dirty="0">
                <a:latin typeface="Microsoft YaHei" panose="020B0503020204020204" pitchFamily="34" charset="-122"/>
                <a:ea typeface="Microsoft YaHei" panose="020B0503020204020204" pitchFamily="34" charset="-122"/>
              </a:rPr>
              <a:t> 短语。</a:t>
            </a:r>
          </a:p>
        </p:txBody>
      </p:sp>
      <p:sp>
        <p:nvSpPr>
          <p:cNvPr id="3" name="标题 2">
            <a:extLst>
              <a:ext uri="{FF2B5EF4-FFF2-40B4-BE49-F238E27FC236}">
                <a16:creationId xmlns:a16="http://schemas.microsoft.com/office/drawing/2014/main" id="{6EACA745-860E-2F41-140D-347270CDCA5F}"/>
              </a:ext>
            </a:extLst>
          </p:cNvPr>
          <p:cNvSpPr>
            <a:spLocks noGrp="1"/>
          </p:cNvSpPr>
          <p:nvPr>
            <p:ph type="title"/>
          </p:nvPr>
        </p:nvSpPr>
        <p:spPr/>
        <p:txBody>
          <a:bodyPr/>
          <a:lstStyle/>
          <a:p>
            <a:r>
              <a:rPr lang="zh-CN" altLang="en-US" dirty="0"/>
              <a:t>创建视图</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4996"/>
                                        </p:tgtEl>
                                        <p:attrNameLst>
                                          <p:attrName>style.visibility</p:attrName>
                                        </p:attrNameLst>
                                      </p:cBhvr>
                                      <p:to>
                                        <p:strVal val="visible"/>
                                      </p:to>
                                    </p:set>
                                    <p:animEffect transition="in" filter="box(out)">
                                      <p:cBhvr>
                                        <p:cTn id="7" dur="500"/>
                                        <p:tgtEl>
                                          <p:spTgt spid="8499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4997">
                                            <p:txEl>
                                              <p:pRg st="0" end="0"/>
                                            </p:txEl>
                                          </p:spTgt>
                                        </p:tgtEl>
                                        <p:attrNameLst>
                                          <p:attrName>style.visibility</p:attrName>
                                        </p:attrNameLst>
                                      </p:cBhvr>
                                      <p:to>
                                        <p:strVal val="visible"/>
                                      </p:to>
                                    </p:set>
                                    <p:animEffect transition="in" filter="box(out)">
                                      <p:cBhvr>
                                        <p:cTn id="12" dur="500"/>
                                        <p:tgtEl>
                                          <p:spTgt spid="8499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4997">
                                            <p:txEl>
                                              <p:pRg st="1" end="1"/>
                                            </p:txEl>
                                          </p:spTgt>
                                        </p:tgtEl>
                                        <p:attrNameLst>
                                          <p:attrName>style.visibility</p:attrName>
                                        </p:attrNameLst>
                                      </p:cBhvr>
                                      <p:to>
                                        <p:strVal val="visible"/>
                                      </p:to>
                                    </p:set>
                                    <p:animEffect transition="in" filter="box(out)">
                                      <p:cBhvr>
                                        <p:cTn id="17" dur="500"/>
                                        <p:tgtEl>
                                          <p:spTgt spid="8499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bldLvl="0" animBg="1"/>
      <p:bldP spid="84997"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3"/>
          <p:cNvSpPr>
            <a:spLocks noGrp="1"/>
          </p:cNvSpPr>
          <p:nvPr>
            <p:ph idx="1"/>
          </p:nvPr>
        </p:nvSpPr>
        <p:spPr>
          <a:xfrm>
            <a:off x="172494" y="1295657"/>
            <a:ext cx="3864692" cy="1535269"/>
          </a:xfrm>
        </p:spPr>
        <p:txBody>
          <a:bodyPr vert="horz" wrap="square" lIns="68580" tIns="34290" rIns="68580" bIns="34290" anchor="t" anchorCtr="0"/>
          <a:lstStyle/>
          <a:p>
            <a:pPr>
              <a:lnSpc>
                <a:spcPct val="100000"/>
              </a:lnSpc>
              <a:spcBef>
                <a:spcPct val="0"/>
              </a:spcBef>
              <a:buNone/>
            </a:pPr>
            <a:r>
              <a:rPr lang="en-US" altLang="zh-CN" sz="1800" b="1" dirty="0">
                <a:solidFill>
                  <a:schemeClr val="hlink"/>
                </a:solidFill>
              </a:rPr>
              <a:t>【</a:t>
            </a:r>
            <a:r>
              <a:rPr lang="zh-CN" altLang="en-US" sz="1800" b="1" dirty="0">
                <a:solidFill>
                  <a:schemeClr val="hlink"/>
                </a:solidFill>
              </a:rPr>
              <a:t>例</a:t>
            </a:r>
            <a:r>
              <a:rPr lang="en-US" altLang="zh-CN" sz="1800" b="1" dirty="0">
                <a:solidFill>
                  <a:schemeClr val="hlink"/>
                </a:solidFill>
              </a:rPr>
              <a:t>】</a:t>
            </a:r>
            <a:r>
              <a:rPr lang="zh-CN" altLang="en-US" sz="1800" dirty="0"/>
              <a:t>建立信息院学生的视图。</a:t>
            </a:r>
          </a:p>
          <a:p>
            <a:pPr>
              <a:lnSpc>
                <a:spcPct val="100000"/>
              </a:lnSpc>
              <a:spcBef>
                <a:spcPct val="0"/>
              </a:spcBef>
              <a:buNone/>
            </a:pPr>
            <a:r>
              <a:rPr lang="en-US" altLang="zh-CN" sz="1800" dirty="0"/>
              <a:t>CREATE VIEW D_Student AS </a:t>
            </a:r>
          </a:p>
          <a:p>
            <a:pPr>
              <a:lnSpc>
                <a:spcPct val="100000"/>
              </a:lnSpc>
              <a:spcBef>
                <a:spcPct val="0"/>
              </a:spcBef>
              <a:buNone/>
            </a:pPr>
            <a:r>
              <a:rPr lang="en-US" altLang="zh-CN" sz="1800" dirty="0"/>
              <a:t>SELECT sno</a:t>
            </a:r>
            <a:r>
              <a:rPr lang="zh-CN" altLang="en-US" sz="1800" dirty="0"/>
              <a:t>，</a:t>
            </a:r>
            <a:r>
              <a:rPr lang="en-US" altLang="zh-CN" sz="1800" dirty="0"/>
              <a:t>sname</a:t>
            </a:r>
            <a:r>
              <a:rPr lang="zh-CN" altLang="en-US" sz="1800" dirty="0"/>
              <a:t>，</a:t>
            </a:r>
            <a:r>
              <a:rPr lang="en-US" altLang="zh-CN" sz="1800" dirty="0"/>
              <a:t>age</a:t>
            </a:r>
          </a:p>
          <a:p>
            <a:pPr>
              <a:lnSpc>
                <a:spcPct val="100000"/>
              </a:lnSpc>
              <a:spcBef>
                <a:spcPct val="0"/>
              </a:spcBef>
              <a:buNone/>
            </a:pPr>
            <a:r>
              <a:rPr lang="en-US" altLang="zh-CN" sz="1800" dirty="0"/>
              <a:t>FROM Student</a:t>
            </a:r>
          </a:p>
          <a:p>
            <a:pPr>
              <a:lnSpc>
                <a:spcPct val="100000"/>
              </a:lnSpc>
              <a:spcBef>
                <a:spcPct val="0"/>
              </a:spcBef>
              <a:buNone/>
            </a:pPr>
            <a:r>
              <a:rPr lang="en-US" altLang="zh-CN" sz="1800" dirty="0"/>
              <a:t>WHERE dept=‘</a:t>
            </a:r>
            <a:r>
              <a:rPr lang="zh-CN" altLang="en-US" sz="1800" dirty="0"/>
              <a:t>信息院’；</a:t>
            </a:r>
          </a:p>
        </p:txBody>
      </p:sp>
      <p:pic>
        <p:nvPicPr>
          <p:cNvPr id="79876" name="Picture 4" descr="AN02097_"/>
          <p:cNvPicPr>
            <a:picLocks noChangeAspect="1"/>
          </p:cNvPicPr>
          <p:nvPr/>
        </p:nvPicPr>
        <p:blipFill>
          <a:blip r:embed="rId2"/>
          <a:stretch>
            <a:fillRect/>
          </a:stretch>
        </p:blipFill>
        <p:spPr>
          <a:xfrm>
            <a:off x="5328414" y="682048"/>
            <a:ext cx="1371600" cy="1143000"/>
          </a:xfrm>
          <a:prstGeom prst="rect">
            <a:avLst/>
          </a:prstGeom>
          <a:noFill/>
          <a:ln w="9525">
            <a:noFill/>
          </a:ln>
        </p:spPr>
      </p:pic>
      <p:sp>
        <p:nvSpPr>
          <p:cNvPr id="79877" name="Rectangle 5"/>
          <p:cNvSpPr/>
          <p:nvPr/>
        </p:nvSpPr>
        <p:spPr>
          <a:xfrm>
            <a:off x="4579734" y="2129218"/>
            <a:ext cx="4240561" cy="2332234"/>
          </a:xfrm>
          <a:prstGeom prst="rect">
            <a:avLst/>
          </a:prstGeom>
          <a:noFill/>
          <a:ln w="9525">
            <a:noFill/>
          </a:ln>
        </p:spPr>
        <p:txBody>
          <a:bodyPr/>
          <a:lstStyle/>
          <a:p>
            <a:pPr>
              <a:buClr>
                <a:schemeClr val="folHlink"/>
              </a:buClr>
              <a:buSzPct val="60000"/>
            </a:pPr>
            <a:r>
              <a:rPr lang="en-US" altLang="zh-CN" b="1" dirty="0">
                <a:solidFill>
                  <a:schemeClr val="hlink"/>
                </a:solidFill>
                <a:latin typeface="Microsoft YaHei" panose="020B0503020204020204" pitchFamily="34" charset="-122"/>
                <a:ea typeface="Microsoft YaHei" panose="020B0503020204020204" pitchFamily="34" charset="-122"/>
              </a:rPr>
              <a:t>【</a:t>
            </a:r>
            <a:r>
              <a:rPr lang="en-US" altLang="zh-CN" b="1" dirty="0" err="1">
                <a:solidFill>
                  <a:schemeClr val="hlink"/>
                </a:solidFill>
                <a:latin typeface="Microsoft YaHei" panose="020B0503020204020204" pitchFamily="34" charset="-122"/>
                <a:ea typeface="Microsoft YaHei" panose="020B0503020204020204" pitchFamily="34" charset="-122"/>
              </a:rPr>
              <a:t>例】</a:t>
            </a:r>
            <a:r>
              <a:rPr lang="en-US" altLang="zh-CN" dirty="0" err="1">
                <a:latin typeface="Microsoft YaHei" panose="020B0503020204020204" pitchFamily="34" charset="-122"/>
                <a:ea typeface="Microsoft YaHei" panose="020B0503020204020204" pitchFamily="34" charset="-122"/>
              </a:rPr>
              <a:t>建立信息院学生的视图</a:t>
            </a:r>
            <a:endParaRPr lang="en-US" altLang="zh-CN" dirty="0">
              <a:latin typeface="Microsoft YaHei" panose="020B0503020204020204" pitchFamily="34" charset="-122"/>
              <a:ea typeface="Microsoft YaHei" panose="020B0503020204020204" pitchFamily="34" charset="-122"/>
            </a:endParaRPr>
          </a:p>
          <a:p>
            <a:pPr>
              <a:buClr>
                <a:schemeClr val="folHlink"/>
              </a:buClr>
              <a:buSzPct val="60000"/>
            </a:pPr>
            <a:r>
              <a:rPr lang="zh-CN" altLang="en-US" dirty="0">
                <a:solidFill>
                  <a:schemeClr val="folHlink"/>
                </a:solidFill>
                <a:latin typeface="Microsoft YaHei" panose="020B0503020204020204" pitchFamily="34" charset="-122"/>
                <a:ea typeface="Microsoft YaHei" panose="020B0503020204020204" pitchFamily="34" charset="-122"/>
              </a:rPr>
              <a:t>（</a:t>
            </a:r>
            <a:r>
              <a:rPr lang="en-US" altLang="zh-CN" dirty="0">
                <a:solidFill>
                  <a:schemeClr val="folHlink"/>
                </a:solidFill>
                <a:latin typeface="Microsoft YaHei" panose="020B0503020204020204" pitchFamily="34" charset="-122"/>
                <a:ea typeface="Microsoft YaHei" panose="020B0503020204020204" pitchFamily="34" charset="-122"/>
              </a:rPr>
              <a:t>要求进行更新时仍保证该视图只有信息院的学生</a:t>
            </a:r>
            <a:r>
              <a:rPr lang="zh-CN" altLang="en-US" dirty="0">
                <a:solidFill>
                  <a:schemeClr val="folHlink"/>
                </a:solidFill>
                <a:latin typeface="Microsoft YaHei" panose="020B0503020204020204" pitchFamily="34" charset="-122"/>
                <a:ea typeface="Microsoft YaHei" panose="020B0503020204020204" pitchFamily="34" charset="-122"/>
              </a:rPr>
              <a:t>）。</a:t>
            </a:r>
          </a:p>
          <a:p>
            <a:pPr>
              <a:buClr>
                <a:schemeClr val="hlink"/>
              </a:buClr>
              <a:buSzPct val="85000"/>
            </a:pPr>
            <a:r>
              <a:rPr lang="zh-CN" altLang="en-US" dirty="0">
                <a:latin typeface="Microsoft YaHei" panose="020B0503020204020204" pitchFamily="34" charset="-122"/>
                <a:ea typeface="Microsoft YaHei" panose="020B0503020204020204" pitchFamily="34" charset="-122"/>
              </a:rPr>
              <a:t>CREATE VIEW D_Student AS</a:t>
            </a:r>
          </a:p>
          <a:p>
            <a:pPr>
              <a:buClr>
                <a:schemeClr val="hlink"/>
              </a:buClr>
              <a:buSzPct val="85000"/>
            </a:pPr>
            <a:r>
              <a:rPr lang="zh-CN" altLang="en-US" dirty="0">
                <a:latin typeface="Microsoft YaHei" panose="020B0503020204020204" pitchFamily="34" charset="-122"/>
                <a:ea typeface="Microsoft YaHei" panose="020B0503020204020204" pitchFamily="34" charset="-122"/>
              </a:rPr>
              <a:t>SELECT sno，sname，age</a:t>
            </a:r>
          </a:p>
          <a:p>
            <a:pPr>
              <a:buClr>
                <a:schemeClr val="hlink"/>
              </a:buClr>
              <a:buSzPct val="85000"/>
            </a:pPr>
            <a:r>
              <a:rPr lang="zh-CN" altLang="en-US" dirty="0">
                <a:latin typeface="Microsoft YaHei" panose="020B0503020204020204" pitchFamily="34" charset="-122"/>
                <a:ea typeface="Microsoft YaHei" panose="020B0503020204020204" pitchFamily="34" charset="-122"/>
              </a:rPr>
              <a:t>FROM  Student</a:t>
            </a:r>
          </a:p>
          <a:p>
            <a:pPr>
              <a:buClr>
                <a:schemeClr val="hlink"/>
              </a:buClr>
              <a:buSzPct val="85000"/>
            </a:pPr>
            <a:r>
              <a:rPr lang="zh-CN" altLang="en-US" dirty="0">
                <a:latin typeface="Microsoft YaHei" panose="020B0503020204020204" pitchFamily="34" charset="-122"/>
                <a:ea typeface="Microsoft YaHei" panose="020B0503020204020204" pitchFamily="34" charset="-122"/>
              </a:rPr>
              <a:t>WHERE dept=‘信息院’</a:t>
            </a:r>
          </a:p>
          <a:p>
            <a:pPr>
              <a:buClr>
                <a:schemeClr val="hlink"/>
              </a:buClr>
              <a:buSzPct val="85000"/>
            </a:pPr>
            <a:r>
              <a:rPr lang="zh-CN" altLang="en-US" dirty="0">
                <a:solidFill>
                  <a:schemeClr val="folHlink"/>
                </a:solidFill>
                <a:latin typeface="Microsoft YaHei" panose="020B0503020204020204" pitchFamily="34" charset="-122"/>
                <a:ea typeface="Microsoft YaHei" panose="020B0503020204020204" pitchFamily="34" charset="-122"/>
              </a:rPr>
              <a:t>WITH  CHECK  OPTION</a:t>
            </a:r>
            <a:r>
              <a:rPr lang="en-US" altLang="zh-CN" dirty="0">
                <a:solidFill>
                  <a:schemeClr val="folHlink"/>
                </a:solidFill>
                <a:latin typeface="Microsoft YaHei" panose="020B0503020204020204" pitchFamily="34" charset="-122"/>
                <a:ea typeface="Microsoft YaHei" panose="020B0503020204020204" pitchFamily="34" charset="-122"/>
              </a:rPr>
              <a:t>；</a:t>
            </a:r>
            <a:endParaRPr lang="zh-CN" altLang="en-US" dirty="0">
              <a:solidFill>
                <a:schemeClr val="folHlink"/>
              </a:solidFill>
              <a:latin typeface="Microsoft YaHei" panose="020B0503020204020204" pitchFamily="34" charset="-122"/>
              <a:ea typeface="Microsoft YaHei" panose="020B0503020204020204" pitchFamily="34" charset="-122"/>
            </a:endParaRPr>
          </a:p>
        </p:txBody>
      </p:sp>
      <p:sp>
        <p:nvSpPr>
          <p:cNvPr id="79878" name="Rectangle 6"/>
          <p:cNvSpPr/>
          <p:nvPr/>
        </p:nvSpPr>
        <p:spPr>
          <a:xfrm>
            <a:off x="384932" y="3343495"/>
            <a:ext cx="3652254" cy="1117957"/>
          </a:xfrm>
          <a:prstGeom prst="rect">
            <a:avLst/>
          </a:prstGeom>
          <a:noFill/>
          <a:ln w="9525">
            <a:noFill/>
          </a:ln>
        </p:spPr>
        <p:txBody>
          <a:bodyPr/>
          <a:lstStyle/>
          <a:p>
            <a:pPr marL="257175" indent="-257175">
              <a:spcBef>
                <a:spcPct val="20000"/>
              </a:spcBef>
              <a:buClr>
                <a:schemeClr val="hlink"/>
              </a:buClr>
              <a:buSzPct val="85000"/>
              <a:buFont typeface="Wingdings" panose="05000000000000000000" pitchFamily="2" charset="2"/>
              <a:buChar char="v"/>
            </a:pPr>
            <a:r>
              <a:rPr lang="zh-CN" altLang="en-US" b="1" dirty="0">
                <a:solidFill>
                  <a:schemeClr val="hlink"/>
                </a:solidFill>
                <a:latin typeface="Microsoft YaHei" panose="020B0503020204020204" pitchFamily="34" charset="-122"/>
                <a:ea typeface="Microsoft YaHei" panose="020B0503020204020204" pitchFamily="34" charset="-122"/>
              </a:rPr>
              <a:t>行列子集视图：</a:t>
            </a:r>
            <a:r>
              <a:rPr lang="zh-CN" altLang="en-US" dirty="0">
                <a:latin typeface="Microsoft YaHei" panose="020B0503020204020204" pitchFamily="34" charset="-122"/>
                <a:ea typeface="Microsoft YaHei" panose="020B0503020204020204" pitchFamily="34" charset="-122"/>
              </a:rPr>
              <a:t>视图是从单个基本表导出，并且只是去掉了基本表的某些行和某些列，但保留了键。</a:t>
            </a:r>
          </a:p>
        </p:txBody>
      </p:sp>
      <p:sp>
        <p:nvSpPr>
          <p:cNvPr id="3" name="标题 2">
            <a:extLst>
              <a:ext uri="{FF2B5EF4-FFF2-40B4-BE49-F238E27FC236}">
                <a16:creationId xmlns:a16="http://schemas.microsoft.com/office/drawing/2014/main" id="{EF23274B-68E5-D2FD-C017-00A0FE735F99}"/>
              </a:ext>
            </a:extLst>
          </p:cNvPr>
          <p:cNvSpPr>
            <a:spLocks noGrp="1"/>
          </p:cNvSpPr>
          <p:nvPr>
            <p:ph type="title"/>
          </p:nvPr>
        </p:nvSpPr>
        <p:spPr/>
        <p:txBody>
          <a:bodyPr/>
          <a:lstStyle/>
          <a:p>
            <a:r>
              <a:rPr lang="zh-CN" altLang="en-US" dirty="0"/>
              <a:t>行列子集视图</a:t>
            </a: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p:cNvSpPr>
          <p:nvPr>
            <p:ph idx="1"/>
          </p:nvPr>
        </p:nvSpPr>
        <p:spPr>
          <a:xfrm>
            <a:off x="628650" y="1345583"/>
            <a:ext cx="7886700" cy="757239"/>
          </a:xfrm>
        </p:spPr>
        <p:txBody>
          <a:bodyPr vert="horz" wrap="square" lIns="68580" tIns="34290" rIns="68580" bIns="34290" numCol="1" anchor="t" anchorCtr="0" compatLnSpc="1">
            <a:normAutofit/>
          </a:bodyPr>
          <a:lstStyle/>
          <a:p>
            <a:pPr marL="20955" indent="-20955" defTabSz="685800" fontAlgn="base">
              <a:lnSpc>
                <a:spcPct val="100000"/>
              </a:lnSpc>
              <a:spcBef>
                <a:spcPct val="20000"/>
              </a:spcBef>
              <a:spcAft>
                <a:spcPct val="0"/>
              </a:spcAft>
              <a:buClr>
                <a:schemeClr val="folHlink"/>
              </a:buClr>
              <a:buSzPct val="60000"/>
              <a:buFont typeface="Wingdings" panose="05000000000000000000" pitchFamily="2" charset="2"/>
              <a:buChar char="n"/>
              <a:defRPr/>
            </a:pPr>
            <a:r>
              <a:rPr lang="en-US" altLang="zh-CN" sz="1800" b="1" kern="0" noProof="1">
                <a:cs typeface="楷体" panose="02010609060101010101" pitchFamily="49" charset="-122"/>
              </a:rPr>
              <a:t> </a:t>
            </a:r>
            <a:r>
              <a:rPr lang="zh-CN" altLang="en-US" sz="2000" kern="0" noProof="1">
                <a:cs typeface="楷体" panose="02010609060101010101" pitchFamily="49" charset="-122"/>
              </a:rPr>
              <a:t>视图不仅可以建立在一个或多个基本表上，也可以建立在一个或多个已定义好的视图上，或同时建立在基本表与视图上。</a:t>
            </a:r>
            <a:endParaRPr lang="zh-CN" altLang="en-US" sz="1800" kern="0" noProof="1">
              <a:cs typeface="楷体" panose="02010609060101010101" pitchFamily="49" charset="-122"/>
            </a:endParaRPr>
          </a:p>
        </p:txBody>
      </p:sp>
      <p:sp>
        <p:nvSpPr>
          <p:cNvPr id="3" name="标题 2">
            <a:extLst>
              <a:ext uri="{FF2B5EF4-FFF2-40B4-BE49-F238E27FC236}">
                <a16:creationId xmlns:a16="http://schemas.microsoft.com/office/drawing/2014/main" id="{29A355A0-ADC8-952A-9907-995C5C3F9FBC}"/>
              </a:ext>
            </a:extLst>
          </p:cNvPr>
          <p:cNvSpPr>
            <a:spLocks noGrp="1"/>
          </p:cNvSpPr>
          <p:nvPr>
            <p:ph type="title"/>
          </p:nvPr>
        </p:nvSpPr>
        <p:spPr/>
        <p:txBody>
          <a:bodyPr/>
          <a:lstStyle/>
          <a:p>
            <a:r>
              <a:rPr lang="zh-CN" altLang="en-US" dirty="0"/>
              <a:t>视图上的视图</a:t>
            </a:r>
          </a:p>
        </p:txBody>
      </p:sp>
      <p:sp>
        <p:nvSpPr>
          <p:cNvPr id="5" name="文本框 4">
            <a:extLst>
              <a:ext uri="{FF2B5EF4-FFF2-40B4-BE49-F238E27FC236}">
                <a16:creationId xmlns:a16="http://schemas.microsoft.com/office/drawing/2014/main" id="{2674BBBE-2D1C-AA54-65CA-1960BC813138}"/>
              </a:ext>
            </a:extLst>
          </p:cNvPr>
          <p:cNvSpPr txBox="1"/>
          <p:nvPr/>
        </p:nvSpPr>
        <p:spPr>
          <a:xfrm>
            <a:off x="0" y="2102822"/>
            <a:ext cx="5407742" cy="2142125"/>
          </a:xfrm>
          <a:prstGeom prst="rect">
            <a:avLst/>
          </a:prstGeom>
          <a:noFill/>
        </p:spPr>
        <p:txBody>
          <a:bodyPr wrap="square">
            <a:spAutoFit/>
          </a:bodyPr>
          <a:lstStyle/>
          <a:p>
            <a:pPr marL="257175" indent="-257175" defTabSz="685800" fontAlgn="base">
              <a:lnSpc>
                <a:spcPct val="100000"/>
              </a:lnSpc>
              <a:spcBef>
                <a:spcPct val="20000"/>
              </a:spcBef>
              <a:spcAft>
                <a:spcPct val="0"/>
              </a:spcAft>
              <a:buClr>
                <a:schemeClr val="folHlink"/>
              </a:buClr>
              <a:buSzPct val="60000"/>
              <a:buNone/>
              <a:defRPr/>
            </a:pPr>
            <a:r>
              <a:rPr lang="en-US" altLang="zh-CN" sz="1800" b="1" kern="0"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a:t>
            </a:r>
            <a:r>
              <a:rPr lang="zh-CN" altLang="en-US" sz="1800" b="1" kern="0"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例</a:t>
            </a:r>
            <a:r>
              <a:rPr lang="en-US" altLang="zh-CN" sz="1800" b="1" kern="0"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建立信息系选修了1号课程的学生的视图。</a:t>
            </a:r>
          </a:p>
          <a:p>
            <a:pPr marL="257175" indent="-257175" defTabSz="685800" fontAlgn="base">
              <a:lnSpc>
                <a:spcPct val="100000"/>
              </a:lnSpc>
              <a:spcBef>
                <a:spcPct val="20000"/>
              </a:spcBef>
              <a:spcAft>
                <a:spcPct val="0"/>
              </a:spcAft>
              <a:buClr>
                <a:schemeClr val="folHlink"/>
              </a:buClr>
              <a:buSzPct val="60000"/>
              <a:buNone/>
              <a:defRPr/>
            </a:pPr>
            <a:r>
              <a:rPr lang="zh-CN" altLang="en-US" sz="1800" b="1"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CREATE VIEW </a:t>
            </a:r>
            <a:r>
              <a:rPr lang="zh-CN" altLang="en-US" sz="1800" kern="0" noProof="1">
                <a:solidFill>
                  <a:srgbClr val="FF0000"/>
                </a:solidFill>
                <a:latin typeface="Microsoft YaHei" panose="020B0503020204020204" pitchFamily="34" charset="-122"/>
                <a:ea typeface="Microsoft YaHei" panose="020B0503020204020204" pitchFamily="34" charset="-122"/>
                <a:cs typeface="楷体" panose="02010609060101010101" pitchFamily="49" charset="-122"/>
              </a:rPr>
              <a:t>IS_S1</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a:t>
            </a:r>
            <a:r>
              <a:rPr lang="en-US" altLang="zh-CN"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s</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no, </a:t>
            </a:r>
            <a:r>
              <a:rPr lang="en-US" altLang="zh-CN"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s</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name, </a:t>
            </a:r>
            <a:r>
              <a:rPr lang="en-US" altLang="zh-CN"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g</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rade) </a:t>
            </a:r>
            <a:br>
              <a:rPr lang="zh-CN" altLang="en-US" sz="18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b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  AS </a:t>
            </a:r>
            <a:br>
              <a:rPr lang="zh-CN" altLang="en-US" sz="18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b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     SELECT Student.</a:t>
            </a:r>
            <a:r>
              <a:rPr lang="en-US" altLang="zh-CN"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s</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no, </a:t>
            </a:r>
            <a:r>
              <a:rPr lang="en-US" altLang="zh-CN"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s</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name, </a:t>
            </a:r>
            <a:r>
              <a:rPr lang="en-US" altLang="zh-CN"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g</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rade </a:t>
            </a:r>
            <a:br>
              <a:rPr lang="zh-CN" altLang="en-US" sz="18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b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     FROM Student, SC </a:t>
            </a:r>
            <a:br>
              <a:rPr lang="zh-CN" altLang="en-US" sz="18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b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     WHERE Student.</a:t>
            </a:r>
            <a:r>
              <a:rPr lang="en-US" altLang="zh-CN"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s</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no=SC.</a:t>
            </a:r>
            <a:r>
              <a:rPr lang="en-US" altLang="zh-CN"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s</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no </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                       AND </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sym typeface="+mn-ea"/>
              </a:rPr>
              <a:t>dept='信息系' AND </a:t>
            </a:r>
            <a:r>
              <a:rPr lang="en-US" altLang="zh-CN"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c</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no='1'; </a:t>
            </a:r>
            <a:endPar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endParaRPr>
          </a:p>
        </p:txBody>
      </p:sp>
      <p:sp>
        <p:nvSpPr>
          <p:cNvPr id="6" name="Rectangle 3">
            <a:extLst>
              <a:ext uri="{FF2B5EF4-FFF2-40B4-BE49-F238E27FC236}">
                <a16:creationId xmlns:a16="http://schemas.microsoft.com/office/drawing/2014/main" id="{F84314C7-B415-8890-A60F-00D11FDD4C16}"/>
              </a:ext>
            </a:extLst>
          </p:cNvPr>
          <p:cNvSpPr txBox="1">
            <a:spLocks/>
          </p:cNvSpPr>
          <p:nvPr/>
        </p:nvSpPr>
        <p:spPr>
          <a:xfrm>
            <a:off x="5141656" y="2161814"/>
            <a:ext cx="3923686" cy="2115372"/>
          </a:xfrm>
          <a:prstGeom prst="rect">
            <a:avLst/>
          </a:prstGeom>
        </p:spPr>
        <p:txBody>
          <a:bodyPr vert="horz" wrap="square" lIns="68580" tIns="34290" rIns="68580" bIns="3429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sz="1800" b="1" dirty="0">
                <a:solidFill>
                  <a:schemeClr val="hlink"/>
                </a:solidFill>
              </a:rPr>
              <a:t>【</a:t>
            </a:r>
            <a:r>
              <a:rPr lang="zh-CN" altLang="en-US" sz="1800" b="1" dirty="0">
                <a:solidFill>
                  <a:schemeClr val="hlink"/>
                </a:solidFill>
              </a:rPr>
              <a:t>例</a:t>
            </a:r>
            <a:r>
              <a:rPr lang="en-US" altLang="zh-CN" sz="1800" b="1" dirty="0">
                <a:solidFill>
                  <a:schemeClr val="hlink"/>
                </a:solidFill>
              </a:rPr>
              <a:t>】</a:t>
            </a:r>
            <a:r>
              <a:rPr lang="zh-CN" altLang="en-US" sz="1800" dirty="0"/>
              <a:t>建立信息系选修了1号课程且成绩在90分以上的学生的视图。</a:t>
            </a:r>
          </a:p>
          <a:p>
            <a:pPr>
              <a:buFont typeface="Arial" panose="020B0604020202020204" pitchFamily="34" charset="0"/>
              <a:buNone/>
            </a:pPr>
            <a:r>
              <a:rPr lang="zh-CN" altLang="en-US" sz="1800" b="1" dirty="0">
                <a:solidFill>
                  <a:schemeClr val="folHlink"/>
                </a:solidFill>
              </a:rPr>
              <a:t>      </a:t>
            </a:r>
            <a:r>
              <a:rPr lang="zh-CN" altLang="en-US" sz="1800" dirty="0">
                <a:solidFill>
                  <a:schemeClr val="folHlink"/>
                </a:solidFill>
              </a:rPr>
              <a:t>CREATE VIEW IS_S2 </a:t>
            </a:r>
            <a:br>
              <a:rPr lang="zh-CN" altLang="en-US" sz="1800" dirty="0">
                <a:solidFill>
                  <a:schemeClr val="folHlink"/>
                </a:solidFill>
              </a:rPr>
            </a:br>
            <a:r>
              <a:rPr lang="zh-CN" altLang="en-US" sz="1800" dirty="0">
                <a:solidFill>
                  <a:schemeClr val="folHlink"/>
                </a:solidFill>
              </a:rPr>
              <a:t>       AS </a:t>
            </a:r>
            <a:br>
              <a:rPr lang="zh-CN" altLang="en-US" sz="1800" dirty="0">
                <a:solidFill>
                  <a:schemeClr val="folHlink"/>
                </a:solidFill>
              </a:rPr>
            </a:br>
            <a:r>
              <a:rPr lang="zh-CN" altLang="en-US" sz="1800" dirty="0">
                <a:solidFill>
                  <a:schemeClr val="folHlink"/>
                </a:solidFill>
              </a:rPr>
              <a:t>         SELECT </a:t>
            </a:r>
            <a:r>
              <a:rPr lang="en-US" altLang="zh-CN" sz="1800" dirty="0">
                <a:solidFill>
                  <a:schemeClr val="folHlink"/>
                </a:solidFill>
              </a:rPr>
              <a:t>s</a:t>
            </a:r>
            <a:r>
              <a:rPr lang="zh-CN" altLang="en-US" sz="1800" dirty="0">
                <a:solidFill>
                  <a:schemeClr val="folHlink"/>
                </a:solidFill>
              </a:rPr>
              <a:t>no, </a:t>
            </a:r>
            <a:r>
              <a:rPr lang="en-US" altLang="zh-CN" sz="1800" dirty="0">
                <a:solidFill>
                  <a:schemeClr val="folHlink"/>
                </a:solidFill>
              </a:rPr>
              <a:t>s</a:t>
            </a:r>
            <a:r>
              <a:rPr lang="zh-CN" altLang="en-US" sz="1800" dirty="0">
                <a:solidFill>
                  <a:schemeClr val="folHlink"/>
                </a:solidFill>
              </a:rPr>
              <a:t>name, </a:t>
            </a:r>
            <a:r>
              <a:rPr lang="en-US" altLang="zh-CN" sz="1800" dirty="0">
                <a:solidFill>
                  <a:schemeClr val="folHlink"/>
                </a:solidFill>
              </a:rPr>
              <a:t>g</a:t>
            </a:r>
            <a:r>
              <a:rPr lang="zh-CN" altLang="en-US" sz="1800" dirty="0">
                <a:solidFill>
                  <a:schemeClr val="folHlink"/>
                </a:solidFill>
              </a:rPr>
              <a:t>rade </a:t>
            </a:r>
            <a:br>
              <a:rPr lang="zh-CN" altLang="en-US" sz="1800" dirty="0">
                <a:solidFill>
                  <a:schemeClr val="folHlink"/>
                </a:solidFill>
              </a:rPr>
            </a:br>
            <a:r>
              <a:rPr lang="zh-CN" altLang="en-US" sz="1800" dirty="0">
                <a:solidFill>
                  <a:schemeClr val="folHlink"/>
                </a:solidFill>
              </a:rPr>
              <a:t>         FROM </a:t>
            </a:r>
            <a:r>
              <a:rPr lang="zh-CN" altLang="en-US" sz="1800" dirty="0">
                <a:solidFill>
                  <a:schemeClr val="hlink"/>
                </a:solidFill>
              </a:rPr>
              <a:t>IS_S1</a:t>
            </a:r>
            <a:r>
              <a:rPr lang="zh-CN" altLang="en-US" sz="1800" dirty="0">
                <a:solidFill>
                  <a:schemeClr val="folHlink"/>
                </a:solidFill>
              </a:rPr>
              <a:t> </a:t>
            </a:r>
            <a:br>
              <a:rPr lang="zh-CN" altLang="en-US" sz="1800" dirty="0">
                <a:solidFill>
                  <a:schemeClr val="folHlink"/>
                </a:solidFill>
              </a:rPr>
            </a:br>
            <a:r>
              <a:rPr lang="zh-CN" altLang="en-US" sz="1800" dirty="0">
                <a:solidFill>
                  <a:schemeClr val="folHlink"/>
                </a:solidFill>
              </a:rPr>
              <a:t>         WHERE </a:t>
            </a:r>
            <a:r>
              <a:rPr lang="en-US" altLang="zh-CN" sz="1800" dirty="0">
                <a:solidFill>
                  <a:schemeClr val="folHlink"/>
                </a:solidFill>
              </a:rPr>
              <a:t>g</a:t>
            </a:r>
            <a:r>
              <a:rPr lang="zh-CN" altLang="en-US" sz="1800" dirty="0">
                <a:solidFill>
                  <a:schemeClr val="folHlink"/>
                </a:solidFill>
              </a:rPr>
              <a:t>rade&gt;=90; </a:t>
            </a: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323135" y="1253548"/>
            <a:ext cx="8497729" cy="3574091"/>
          </a:xfrm>
          <a:prstGeom prst="rect">
            <a:avLst/>
          </a:prstGeom>
          <a:noFill/>
          <a:ln w="9525">
            <a:noFill/>
          </a:ln>
        </p:spPr>
        <p:txBody>
          <a:bodyPr vert="horz" wrap="square" lIns="68580" tIns="34290" rIns="68580" bIns="3429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0" indent="0" defTabSz="685800" eaLnBrk="1" hangingPunct="1">
              <a:defRPr/>
            </a:pPr>
            <a:r>
              <a:rPr lang="en-US" altLang="zh-CN" sz="1800" b="1" kern="0"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800" b="1" kern="0"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带虚拟列的视图：</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是指设置了一些基本表中并不存在的派生列(虚拟列)的视图。</a:t>
            </a:r>
          </a:p>
          <a:p>
            <a:pPr marL="257175" indent="-257175" defTabSz="685800" eaLnBrk="1" hangingPunct="1">
              <a:defRPr/>
            </a:pPr>
            <a:endParaRPr lang="zh-CN" altLang="en-US" sz="1800" b="1" kern="0" noProof="1">
              <a:latin typeface="Microsoft YaHei" panose="020B0503020204020204" pitchFamily="34" charset="-122"/>
              <a:ea typeface="Microsoft YaHei" panose="020B0503020204020204" pitchFamily="34" charset="-122"/>
              <a:cs typeface="楷体" panose="02010609060101010101" pitchFamily="49" charset="-122"/>
            </a:endParaRPr>
          </a:p>
          <a:p>
            <a:pPr marL="0" indent="0" defTabSz="685800" eaLnBrk="1" hangingPunct="1">
              <a:defRPr/>
            </a:pPr>
            <a:r>
              <a:rPr lang="zh-CN" altLang="en-US" sz="1800" b="1" kern="0" noProof="1">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定义基本表时，为了减少数据库中的冗余数据，表中只存放基本数据，由基本数据经过各种计算</a:t>
            </a:r>
            <a:r>
              <a:rPr lang="zh-CN" altLang="en-US" sz="1800" kern="0" noProof="1">
                <a:solidFill>
                  <a:srgbClr val="FF0000"/>
                </a:solidFill>
                <a:latin typeface="Microsoft YaHei" panose="020B0503020204020204" pitchFamily="34" charset="-122"/>
                <a:ea typeface="Microsoft YaHei" panose="020B0503020204020204" pitchFamily="34" charset="-122"/>
                <a:cs typeface="楷体" panose="02010609060101010101" pitchFamily="49" charset="-122"/>
              </a:rPr>
              <a:t>派生出的数据</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一般是不存储的。但由于视图中的数据并不实际存储，所以定义视图时可以根据应用的需要，设置一些派生属性列。这些派生属性由于在基本表中并不实际存在，所以有时也称他们为虚拟列，带虚拟列的视图也称为带表达式的视图。</a:t>
            </a:r>
            <a:b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br>
            <a:endPar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endParaRPr>
          </a:p>
          <a:p>
            <a:pPr marL="257175" indent="-257175" defTabSz="685800" eaLnBrk="1" hangingPunct="1">
              <a:buNone/>
              <a:defRPr/>
            </a:pPr>
            <a:r>
              <a:rPr lang="en-US" altLang="zh-CN" sz="1800" b="1" kern="0"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a:t>
            </a:r>
            <a:r>
              <a:rPr lang="zh-CN" altLang="en-US" sz="1800" b="1" kern="0"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例</a:t>
            </a:r>
            <a:r>
              <a:rPr lang="en-US" altLang="zh-CN" sz="1800" b="1" kern="0"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定义一个反映学生出生年份的视图</a:t>
            </a:r>
          </a:p>
          <a:p>
            <a:pPr marL="257175" indent="-257175" defTabSz="685800" eaLnBrk="1" hangingPunct="1">
              <a:buNone/>
              <a:defRPr/>
            </a:pP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     CREATE VIEW BT_S(</a:t>
            </a:r>
            <a:r>
              <a:rPr lang="en-US" altLang="zh-CN"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s</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no, </a:t>
            </a:r>
            <a:r>
              <a:rPr lang="en-US" altLang="zh-CN"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s</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name, </a:t>
            </a:r>
            <a:r>
              <a:rPr lang="en-US" altLang="zh-CN" sz="1800" kern="0" noProof="1">
                <a:solidFill>
                  <a:srgbClr val="FF0000"/>
                </a:solidFill>
                <a:latin typeface="Microsoft YaHei" panose="020B0503020204020204" pitchFamily="34" charset="-122"/>
                <a:ea typeface="Microsoft YaHei" panose="020B0503020204020204" pitchFamily="34" charset="-122"/>
                <a:cs typeface="楷体" panose="02010609060101010101" pitchFamily="49" charset="-122"/>
              </a:rPr>
              <a:t>s</a:t>
            </a:r>
            <a:r>
              <a:rPr lang="zh-CN" altLang="en-US" sz="1800" kern="0"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birth</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 </a:t>
            </a:r>
            <a:br>
              <a:rPr lang="zh-CN" altLang="en-US" sz="18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b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    AS SELECT </a:t>
            </a:r>
            <a:r>
              <a:rPr lang="en-US" altLang="zh-CN"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s</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no, </a:t>
            </a:r>
            <a:r>
              <a:rPr lang="en-US" altLang="zh-CN"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s</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name, 20</a:t>
            </a:r>
            <a:r>
              <a:rPr lang="en-US" altLang="zh-CN"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20</a:t>
            </a: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-age </a:t>
            </a:r>
            <a:br>
              <a:rPr lang="zh-CN" altLang="en-US" sz="18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br>
            <a:r>
              <a:rPr lang="zh-CN" altLang="en-US" sz="1800" kern="0" noProof="1">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       FROM Student;</a:t>
            </a:r>
          </a:p>
        </p:txBody>
      </p:sp>
      <p:sp>
        <p:nvSpPr>
          <p:cNvPr id="5" name="标题 4">
            <a:extLst>
              <a:ext uri="{FF2B5EF4-FFF2-40B4-BE49-F238E27FC236}">
                <a16:creationId xmlns:a16="http://schemas.microsoft.com/office/drawing/2014/main" id="{3FDE579F-D6AF-6F19-9DE3-6981F32B224B}"/>
              </a:ext>
            </a:extLst>
          </p:cNvPr>
          <p:cNvSpPr>
            <a:spLocks noGrp="1"/>
          </p:cNvSpPr>
          <p:nvPr>
            <p:ph type="title"/>
          </p:nvPr>
        </p:nvSpPr>
        <p:spPr/>
        <p:txBody>
          <a:bodyPr/>
          <a:lstStyle/>
          <a:p>
            <a:r>
              <a:rPr lang="zh-CN" altLang="en-US" dirty="0"/>
              <a:t>带虚拟列的视图</a:t>
            </a: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636383" y="1386567"/>
            <a:ext cx="7886699" cy="2690352"/>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r>
              <a:rPr lang="zh-CN" altLang="en-US" sz="1800" b="1" dirty="0">
                <a:solidFill>
                  <a:schemeClr val="hlink"/>
                </a:solidFill>
                <a:latin typeface="Microsoft YaHei" panose="020B0503020204020204" pitchFamily="34" charset="-122"/>
                <a:ea typeface="Microsoft YaHei" panose="020B0503020204020204" pitchFamily="34" charset="-122"/>
              </a:rPr>
              <a:t>分组视图：</a:t>
            </a:r>
            <a:r>
              <a:rPr lang="zh-CN" altLang="en-US" sz="1800" dirty="0">
                <a:latin typeface="Microsoft YaHei" panose="020B0503020204020204" pitchFamily="34" charset="-122"/>
                <a:ea typeface="Microsoft YaHei" panose="020B0503020204020204" pitchFamily="34" charset="-122"/>
              </a:rPr>
              <a:t>带有集函数和 </a:t>
            </a:r>
            <a:r>
              <a:rPr lang="en-US" altLang="zh-CN" sz="1800" dirty="0">
                <a:latin typeface="Microsoft YaHei" panose="020B0503020204020204" pitchFamily="34" charset="-122"/>
                <a:ea typeface="Microsoft YaHei" panose="020B0503020204020204" pitchFamily="34" charset="-122"/>
              </a:rPr>
              <a:t>GROUP BY </a:t>
            </a:r>
            <a:r>
              <a:rPr lang="zh-CN" altLang="en-US" sz="1800" dirty="0">
                <a:latin typeface="Microsoft YaHei" panose="020B0503020204020204" pitchFamily="34" charset="-122"/>
                <a:ea typeface="Microsoft YaHei" panose="020B0503020204020204" pitchFamily="34" charset="-122"/>
              </a:rPr>
              <a:t>子句查询所定义的视图。</a:t>
            </a:r>
          </a:p>
          <a:p>
            <a:pPr eaLnBrk="1" hangingPunct="1"/>
            <a:endParaRPr lang="zh-CN" altLang="en-US" sz="1800" b="1" dirty="0">
              <a:latin typeface="Microsoft YaHei" panose="020B0503020204020204" pitchFamily="34" charset="-122"/>
              <a:ea typeface="Microsoft YaHei" panose="020B0503020204020204" pitchFamily="34" charset="-122"/>
            </a:endParaRPr>
          </a:p>
          <a:p>
            <a:pPr eaLnBrk="1" hangingPunct="1">
              <a:lnSpc>
                <a:spcPct val="120000"/>
              </a:lnSpc>
              <a:buNone/>
            </a:pPr>
            <a:r>
              <a:rPr lang="en-US" altLang="zh-CN" sz="1800" b="1" dirty="0">
                <a:solidFill>
                  <a:schemeClr val="hlink"/>
                </a:solidFill>
                <a:latin typeface="Microsoft YaHei" panose="020B0503020204020204" pitchFamily="34" charset="-122"/>
                <a:ea typeface="Microsoft YaHei" panose="020B0503020204020204" pitchFamily="34" charset="-122"/>
              </a:rPr>
              <a:t>【</a:t>
            </a:r>
            <a:r>
              <a:rPr lang="zh-CN" altLang="en-US" sz="1800" b="1" dirty="0">
                <a:solidFill>
                  <a:schemeClr val="hlink"/>
                </a:solidFill>
                <a:latin typeface="Microsoft YaHei" panose="020B0503020204020204" pitchFamily="34" charset="-122"/>
                <a:ea typeface="Microsoft YaHei" panose="020B0503020204020204" pitchFamily="34" charset="-122"/>
              </a:rPr>
              <a:t>例</a:t>
            </a:r>
            <a:r>
              <a:rPr lang="en-US" altLang="zh-CN" sz="1800" b="1" dirty="0">
                <a:solidFill>
                  <a:schemeClr val="hlink"/>
                </a:solidFill>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将学生的学号及他的平均成绩定义为一个视图</a:t>
            </a:r>
            <a:r>
              <a:rPr lang="zh-CN" altLang="en-US" sz="1800" dirty="0">
                <a:latin typeface="Microsoft YaHei" panose="020B0503020204020204" pitchFamily="34" charset="-122"/>
                <a:ea typeface="Microsoft YaHei" panose="020B0503020204020204" pitchFamily="34" charset="-122"/>
              </a:rPr>
              <a:t>。</a:t>
            </a:r>
            <a:br>
              <a:rPr lang="zh-CN" altLang="en-US" sz="1800" dirty="0">
                <a:solidFill>
                  <a:schemeClr val="folHlink"/>
                </a:solidFill>
                <a:latin typeface="Microsoft YaHei" panose="020B0503020204020204" pitchFamily="34" charset="-122"/>
                <a:ea typeface="Microsoft YaHei" panose="020B0503020204020204" pitchFamily="34" charset="-122"/>
              </a:rPr>
            </a:br>
            <a:r>
              <a:rPr lang="zh-CN" altLang="en-US" sz="1800" dirty="0">
                <a:solidFill>
                  <a:schemeClr val="folHlink"/>
                </a:solidFill>
                <a:latin typeface="Microsoft YaHei" panose="020B0503020204020204" pitchFamily="34" charset="-122"/>
                <a:ea typeface="Microsoft YaHei" panose="020B0503020204020204" pitchFamily="34" charset="-122"/>
              </a:rPr>
              <a:t>      CREAT VIEW S_G(</a:t>
            </a:r>
            <a:r>
              <a:rPr lang="en-US" altLang="zh-CN" sz="1800" dirty="0">
                <a:solidFill>
                  <a:schemeClr val="folHlink"/>
                </a:solidFill>
                <a:latin typeface="Microsoft YaHei" panose="020B0503020204020204" pitchFamily="34" charset="-122"/>
                <a:ea typeface="Microsoft YaHei" panose="020B0503020204020204" pitchFamily="34" charset="-122"/>
              </a:rPr>
              <a:t>s</a:t>
            </a:r>
            <a:r>
              <a:rPr lang="zh-CN" altLang="en-US" sz="1800" dirty="0">
                <a:solidFill>
                  <a:schemeClr val="folHlink"/>
                </a:solidFill>
                <a:latin typeface="Microsoft YaHei" panose="020B0503020204020204" pitchFamily="34" charset="-122"/>
                <a:ea typeface="Microsoft YaHei" panose="020B0503020204020204" pitchFamily="34" charset="-122"/>
              </a:rPr>
              <a:t>no, </a:t>
            </a:r>
            <a:r>
              <a:rPr lang="en-US" altLang="zh-CN" sz="1800" dirty="0">
                <a:solidFill>
                  <a:schemeClr val="folHlink"/>
                </a:solidFill>
                <a:latin typeface="Microsoft YaHei" panose="020B0503020204020204" pitchFamily="34" charset="-122"/>
                <a:ea typeface="Microsoft YaHei" panose="020B0503020204020204" pitchFamily="34" charset="-122"/>
              </a:rPr>
              <a:t>g</a:t>
            </a:r>
            <a:r>
              <a:rPr lang="zh-CN" altLang="en-US" sz="1800" dirty="0">
                <a:solidFill>
                  <a:schemeClr val="folHlink"/>
                </a:solidFill>
                <a:latin typeface="Microsoft YaHei" panose="020B0503020204020204" pitchFamily="34" charset="-122"/>
                <a:ea typeface="Microsoft YaHei" panose="020B0503020204020204" pitchFamily="34" charset="-122"/>
              </a:rPr>
              <a:t>avg) </a:t>
            </a:r>
            <a:br>
              <a:rPr lang="zh-CN" altLang="en-US" sz="1800" dirty="0">
                <a:solidFill>
                  <a:schemeClr val="folHlink"/>
                </a:solidFill>
                <a:latin typeface="Microsoft YaHei" panose="020B0503020204020204" pitchFamily="34" charset="-122"/>
                <a:ea typeface="Microsoft YaHei" panose="020B0503020204020204" pitchFamily="34" charset="-122"/>
              </a:rPr>
            </a:br>
            <a:r>
              <a:rPr lang="zh-CN" altLang="en-US" sz="1800" dirty="0">
                <a:solidFill>
                  <a:schemeClr val="folHlink"/>
                </a:solidFill>
                <a:latin typeface="Microsoft YaHei" panose="020B0503020204020204" pitchFamily="34" charset="-122"/>
                <a:ea typeface="Microsoft YaHei" panose="020B0503020204020204" pitchFamily="34" charset="-122"/>
              </a:rPr>
              <a:t>         AS SELECT </a:t>
            </a:r>
            <a:r>
              <a:rPr lang="en-US" altLang="zh-CN" sz="1800" dirty="0">
                <a:solidFill>
                  <a:schemeClr val="folHlink"/>
                </a:solidFill>
                <a:latin typeface="Microsoft YaHei" panose="020B0503020204020204" pitchFamily="34" charset="-122"/>
                <a:ea typeface="Microsoft YaHei" panose="020B0503020204020204" pitchFamily="34" charset="-122"/>
              </a:rPr>
              <a:t>s</a:t>
            </a:r>
            <a:r>
              <a:rPr lang="zh-CN" altLang="en-US" sz="1800" dirty="0">
                <a:solidFill>
                  <a:schemeClr val="folHlink"/>
                </a:solidFill>
                <a:latin typeface="Microsoft YaHei" panose="020B0503020204020204" pitchFamily="34" charset="-122"/>
                <a:ea typeface="Microsoft YaHei" panose="020B0503020204020204" pitchFamily="34" charset="-122"/>
              </a:rPr>
              <a:t>no, </a:t>
            </a:r>
            <a:r>
              <a:rPr lang="zh-CN" altLang="en-US" sz="1800" dirty="0">
                <a:solidFill>
                  <a:schemeClr val="hlink"/>
                </a:solidFill>
                <a:latin typeface="Microsoft YaHei" panose="020B0503020204020204" pitchFamily="34" charset="-122"/>
                <a:ea typeface="Microsoft YaHei" panose="020B0503020204020204" pitchFamily="34" charset="-122"/>
              </a:rPr>
              <a:t>AVG</a:t>
            </a:r>
            <a:r>
              <a:rPr lang="zh-CN" altLang="en-US" sz="1800" dirty="0">
                <a:solidFill>
                  <a:schemeClr val="folHlink"/>
                </a:solidFill>
                <a:latin typeface="Microsoft YaHei" panose="020B0503020204020204" pitchFamily="34" charset="-122"/>
                <a:ea typeface="Microsoft YaHei" panose="020B0503020204020204" pitchFamily="34" charset="-122"/>
              </a:rPr>
              <a:t>(</a:t>
            </a:r>
            <a:r>
              <a:rPr lang="en-US" altLang="zh-CN" sz="1800" dirty="0">
                <a:solidFill>
                  <a:schemeClr val="folHlink"/>
                </a:solidFill>
                <a:latin typeface="Microsoft YaHei" panose="020B0503020204020204" pitchFamily="34" charset="-122"/>
                <a:ea typeface="Microsoft YaHei" panose="020B0503020204020204" pitchFamily="34" charset="-122"/>
              </a:rPr>
              <a:t>g</a:t>
            </a:r>
            <a:r>
              <a:rPr lang="zh-CN" altLang="en-US" sz="1800" dirty="0">
                <a:solidFill>
                  <a:schemeClr val="folHlink"/>
                </a:solidFill>
                <a:latin typeface="Microsoft YaHei" panose="020B0503020204020204" pitchFamily="34" charset="-122"/>
                <a:ea typeface="Microsoft YaHei" panose="020B0503020204020204" pitchFamily="34" charset="-122"/>
              </a:rPr>
              <a:t>rade) </a:t>
            </a:r>
            <a:br>
              <a:rPr lang="zh-CN" altLang="en-US" sz="1800" dirty="0">
                <a:solidFill>
                  <a:schemeClr val="folHlink"/>
                </a:solidFill>
                <a:latin typeface="Microsoft YaHei" panose="020B0503020204020204" pitchFamily="34" charset="-122"/>
                <a:ea typeface="Microsoft YaHei" panose="020B0503020204020204" pitchFamily="34" charset="-122"/>
              </a:rPr>
            </a:br>
            <a:r>
              <a:rPr lang="zh-CN" altLang="en-US" sz="1800" dirty="0">
                <a:solidFill>
                  <a:schemeClr val="folHlink"/>
                </a:solidFill>
                <a:latin typeface="Microsoft YaHei" panose="020B0503020204020204" pitchFamily="34" charset="-122"/>
                <a:ea typeface="Microsoft YaHei" panose="020B0503020204020204" pitchFamily="34" charset="-122"/>
              </a:rPr>
              <a:t>            FROM SC </a:t>
            </a:r>
            <a:br>
              <a:rPr lang="zh-CN" altLang="en-US" sz="1800" dirty="0">
                <a:solidFill>
                  <a:schemeClr val="folHlink"/>
                </a:solidFill>
                <a:latin typeface="Microsoft YaHei" panose="020B0503020204020204" pitchFamily="34" charset="-122"/>
                <a:ea typeface="Microsoft YaHei" panose="020B0503020204020204" pitchFamily="34" charset="-122"/>
              </a:rPr>
            </a:br>
            <a:r>
              <a:rPr lang="zh-CN" altLang="en-US" sz="1800" dirty="0">
                <a:solidFill>
                  <a:schemeClr val="folHlink"/>
                </a:solidFill>
                <a:latin typeface="Microsoft YaHei" panose="020B0503020204020204" pitchFamily="34" charset="-122"/>
                <a:ea typeface="Microsoft YaHei" panose="020B0503020204020204" pitchFamily="34" charset="-122"/>
              </a:rPr>
              <a:t>            </a:t>
            </a:r>
            <a:r>
              <a:rPr lang="zh-CN" altLang="en-US" sz="1800" dirty="0">
                <a:solidFill>
                  <a:schemeClr val="hlink"/>
                </a:solidFill>
                <a:latin typeface="Microsoft YaHei" panose="020B0503020204020204" pitchFamily="34" charset="-122"/>
                <a:ea typeface="Microsoft YaHei" panose="020B0503020204020204" pitchFamily="34" charset="-122"/>
              </a:rPr>
              <a:t>GROUP BY </a:t>
            </a:r>
            <a:r>
              <a:rPr lang="en-US" altLang="zh-CN" sz="1800" dirty="0">
                <a:solidFill>
                  <a:schemeClr val="hlink"/>
                </a:solidFill>
                <a:latin typeface="Microsoft YaHei" panose="020B0503020204020204" pitchFamily="34" charset="-122"/>
                <a:ea typeface="Microsoft YaHei" panose="020B0503020204020204" pitchFamily="34" charset="-122"/>
              </a:rPr>
              <a:t>s</a:t>
            </a:r>
            <a:r>
              <a:rPr lang="zh-CN" altLang="en-US" sz="1800" dirty="0">
                <a:solidFill>
                  <a:schemeClr val="hlink"/>
                </a:solidFill>
                <a:latin typeface="Microsoft YaHei" panose="020B0503020204020204" pitchFamily="34" charset="-122"/>
                <a:ea typeface="Microsoft YaHei" panose="020B0503020204020204" pitchFamily="34" charset="-122"/>
              </a:rPr>
              <a:t>no</a:t>
            </a:r>
            <a:r>
              <a:rPr lang="zh-CN" altLang="en-US" sz="1800" dirty="0">
                <a:solidFill>
                  <a:schemeClr val="folHlink"/>
                </a:solidFill>
                <a:latin typeface="Microsoft YaHei" panose="020B0503020204020204" pitchFamily="34" charset="-122"/>
                <a:ea typeface="Microsoft YaHei" panose="020B0503020204020204" pitchFamily="34" charset="-122"/>
              </a:rPr>
              <a:t>; </a:t>
            </a:r>
          </a:p>
          <a:p>
            <a:pPr eaLnBrk="1" hangingPunct="1">
              <a:buNone/>
            </a:pPr>
            <a:endParaRPr lang="zh-CN" altLang="en-US" sz="1800" b="1" dirty="0">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DD94370B-9740-0DCC-9743-BAA8D53C81A6}"/>
              </a:ext>
            </a:extLst>
          </p:cNvPr>
          <p:cNvSpPr>
            <a:spLocks noGrp="1"/>
          </p:cNvSpPr>
          <p:nvPr>
            <p:ph type="title"/>
          </p:nvPr>
        </p:nvSpPr>
        <p:spPr/>
        <p:txBody>
          <a:bodyPr/>
          <a:lstStyle/>
          <a:p>
            <a:r>
              <a:rPr lang="zh-CN" altLang="en-US" dirty="0"/>
              <a:t>分组视图</a:t>
            </a: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p:cNvSpPr>
            <a:spLocks noGrp="1"/>
          </p:cNvSpPr>
          <p:nvPr>
            <p:ph idx="1"/>
          </p:nvPr>
        </p:nvSpPr>
        <p:spPr>
          <a:xfrm>
            <a:off x="628650" y="1345583"/>
            <a:ext cx="4385802" cy="3408735"/>
          </a:xfrm>
        </p:spPr>
        <p:txBody>
          <a:bodyPr vert="horz" wrap="square" lIns="68580" tIns="34290" rIns="68580" bIns="34290" numCol="1" rtlCol="0" anchor="t" anchorCtr="0" compatLnSpc="1">
            <a:normAutofit/>
          </a:bodyPr>
          <a:lstStyle/>
          <a:p>
            <a:pPr marL="257175" indent="-257175" defTabSz="685800" fontAlgn="base">
              <a:lnSpc>
                <a:spcPct val="140000"/>
              </a:lnSpc>
              <a:spcBef>
                <a:spcPct val="20000"/>
              </a:spcBef>
              <a:buClr>
                <a:schemeClr val="folHlink"/>
              </a:buClr>
              <a:buSzPct val="60000"/>
              <a:buNone/>
              <a:defRPr/>
            </a:pPr>
            <a:r>
              <a:rPr lang="zh-CN" altLang="en-US" sz="1800" b="1" kern="0" noProof="1">
                <a:solidFill>
                  <a:schemeClr val="folHlink"/>
                </a:solidFill>
                <a:cs typeface="楷体" panose="02010609060101010101" pitchFamily="49" charset="-122"/>
              </a:rPr>
              <a:t>语法格式：</a:t>
            </a:r>
            <a:endParaRPr lang="en-US" altLang="zh-CN" sz="1800" b="1" kern="0" noProof="1">
              <a:solidFill>
                <a:schemeClr val="folHlink"/>
              </a:solidFill>
              <a:cs typeface="楷体" panose="02010609060101010101" pitchFamily="49" charset="-122"/>
            </a:endParaRPr>
          </a:p>
          <a:p>
            <a:pPr marL="257175" indent="-257175" defTabSz="685800" fontAlgn="base">
              <a:lnSpc>
                <a:spcPct val="140000"/>
              </a:lnSpc>
              <a:spcBef>
                <a:spcPct val="20000"/>
              </a:spcBef>
              <a:buClr>
                <a:schemeClr val="folHlink"/>
              </a:buClr>
              <a:buSzPct val="60000"/>
              <a:buNone/>
              <a:defRPr/>
            </a:pPr>
            <a:r>
              <a:rPr lang="zh-CN" altLang="en-US" sz="1800" b="1" kern="0" noProof="1">
                <a:cs typeface="楷体" panose="02010609060101010101" pitchFamily="49" charset="-122"/>
              </a:rPr>
              <a:t>DROP VIEW &lt;视图名&gt;</a:t>
            </a:r>
          </a:p>
          <a:p>
            <a:pPr marL="257175" indent="-257175" defTabSz="685800" fontAlgn="base">
              <a:lnSpc>
                <a:spcPct val="140000"/>
              </a:lnSpc>
              <a:spcBef>
                <a:spcPct val="20000"/>
              </a:spcBef>
              <a:buClr>
                <a:schemeClr val="folHlink"/>
              </a:buClr>
              <a:buSzPct val="60000"/>
              <a:buNone/>
              <a:defRPr/>
            </a:pPr>
            <a:r>
              <a:rPr lang="zh-CN" altLang="en-US" sz="1800" b="1" kern="0" noProof="1">
                <a:cs typeface="楷体" panose="02010609060101010101" pitchFamily="49" charset="-122"/>
              </a:rPr>
              <a:t>[CASCADE | RESTRICT]</a:t>
            </a:r>
            <a:r>
              <a:rPr lang="zh-CN" altLang="en-US" sz="1800" kern="0" noProof="1">
                <a:cs typeface="楷体" panose="02010609060101010101" pitchFamily="49" charset="-122"/>
              </a:rPr>
              <a:t>    </a:t>
            </a:r>
          </a:p>
          <a:p>
            <a:pPr marL="0" indent="0" defTabSz="685800" fontAlgn="base">
              <a:lnSpc>
                <a:spcPct val="140000"/>
              </a:lnSpc>
              <a:spcBef>
                <a:spcPct val="20000"/>
              </a:spcBef>
              <a:buClr>
                <a:schemeClr val="folHlink"/>
              </a:buClr>
              <a:buSzPct val="60000"/>
              <a:buFont typeface="Wingdings" panose="05000000000000000000" charset="0"/>
              <a:buChar char="n"/>
              <a:defRPr/>
            </a:pPr>
            <a:r>
              <a:rPr lang="zh-CN" altLang="en-US" sz="1800" b="1" kern="0" noProof="1">
                <a:solidFill>
                  <a:schemeClr val="hlink"/>
                </a:solidFill>
                <a:cs typeface="楷体" panose="02010609060101010101" pitchFamily="49" charset="-122"/>
              </a:rPr>
              <a:t> </a:t>
            </a:r>
            <a:r>
              <a:rPr lang="zh-CN" altLang="en-US" sz="1800" b="1" kern="0" noProof="1">
                <a:solidFill>
                  <a:srgbClr val="C00000"/>
                </a:solidFill>
                <a:cs typeface="楷体" panose="02010609060101010101" pitchFamily="49" charset="-122"/>
              </a:rPr>
              <a:t>注意</a:t>
            </a:r>
            <a:r>
              <a:rPr lang="zh-CN" altLang="en-US" sz="1800" kern="0" noProof="1">
                <a:solidFill>
                  <a:srgbClr val="C00000"/>
                </a:solidFill>
                <a:cs typeface="楷体" panose="02010609060101010101" pitchFamily="49" charset="-122"/>
              </a:rPr>
              <a:t>：</a:t>
            </a:r>
            <a:r>
              <a:rPr lang="zh-CN" altLang="en-US" sz="1800" kern="0" noProof="1">
                <a:cs typeface="楷体" panose="02010609060101010101" pitchFamily="49" charset="-122"/>
              </a:rPr>
              <a:t>视图删除后，视图的定义将从数据字典中自动删除。但要删除该视图导出的其他视图应使用</a:t>
            </a:r>
            <a:r>
              <a:rPr lang="zh-CN" altLang="en-US" sz="1800" kern="0" noProof="1">
                <a:solidFill>
                  <a:schemeClr val="hlink"/>
                </a:solidFill>
                <a:cs typeface="楷体" panose="02010609060101010101" pitchFamily="49" charset="-122"/>
              </a:rPr>
              <a:t>CASCADE</a:t>
            </a:r>
            <a:r>
              <a:rPr lang="zh-CN" altLang="en-US" sz="1800" kern="0" noProof="1">
                <a:cs typeface="楷体" panose="02010609060101010101" pitchFamily="49" charset="-122"/>
              </a:rPr>
              <a:t>。</a:t>
            </a:r>
          </a:p>
        </p:txBody>
      </p:sp>
      <p:sp>
        <p:nvSpPr>
          <p:cNvPr id="91140" name="Rectangle 4"/>
          <p:cNvSpPr/>
          <p:nvPr/>
        </p:nvSpPr>
        <p:spPr>
          <a:xfrm>
            <a:off x="5447532" y="1771650"/>
            <a:ext cx="3513535" cy="2308324"/>
          </a:xfrm>
          <a:prstGeom prst="rect">
            <a:avLst/>
          </a:prstGeom>
          <a:noFill/>
          <a:ln w="9525">
            <a:noFill/>
          </a:ln>
        </p:spPr>
        <p:txBody>
          <a:bodyPr>
            <a:spAutoFit/>
          </a:bodyPr>
          <a:lstStyle/>
          <a:p>
            <a:pPr defTabSz="685800" fontAlgn="base">
              <a:spcBef>
                <a:spcPct val="50000"/>
              </a:spcBef>
              <a:spcAft>
                <a:spcPct val="0"/>
              </a:spcAft>
              <a:buClr>
                <a:schemeClr val="folHlink"/>
              </a:buClr>
              <a:buSzPct val="60000"/>
              <a:defRPr/>
            </a:pPr>
            <a:r>
              <a:rPr lang="zh-CN" altLang="en-US" b="1"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说明：</a:t>
            </a:r>
            <a:endParaRPr lang="en-US" altLang="zh-CN" b="1"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endParaRPr>
          </a:p>
          <a:p>
            <a:pPr marL="285750" indent="-285750" defTabSz="685800" fontAlgn="base">
              <a:spcBef>
                <a:spcPct val="50000"/>
              </a:spcBef>
              <a:spcAft>
                <a:spcPct val="0"/>
              </a:spcAft>
              <a:buClr>
                <a:schemeClr val="folHlink"/>
              </a:buClr>
              <a:buSzPct val="60000"/>
              <a:buFont typeface="Wingdings" pitchFamily="2" charset="2"/>
              <a:buChar char="u"/>
              <a:defRPr/>
            </a:pPr>
            <a:r>
              <a:rPr lang="zh-CN" altLang="en-US" noProof="1">
                <a:latin typeface="Microsoft YaHei" panose="020B0503020204020204" pitchFamily="34" charset="-122"/>
                <a:ea typeface="Microsoft YaHei" panose="020B0503020204020204" pitchFamily="34" charset="-122"/>
                <a:cs typeface="楷体" panose="02010609060101010101" pitchFamily="49" charset="-122"/>
              </a:rPr>
              <a:t>删除一个视图，并不会消除数据，在基础表中的数据仍然保留。</a:t>
            </a:r>
            <a:endParaRPr lang="en-US" altLang="zh-CN" noProof="1">
              <a:latin typeface="Microsoft YaHei" panose="020B0503020204020204" pitchFamily="34" charset="-122"/>
              <a:ea typeface="Microsoft YaHei" panose="020B0503020204020204" pitchFamily="34" charset="-122"/>
              <a:cs typeface="楷体" panose="02010609060101010101" pitchFamily="49" charset="-122"/>
            </a:endParaRPr>
          </a:p>
          <a:p>
            <a:pPr marL="285750" indent="-285750" defTabSz="685800" fontAlgn="base">
              <a:spcBef>
                <a:spcPct val="50000"/>
              </a:spcBef>
              <a:spcAft>
                <a:spcPct val="0"/>
              </a:spcAft>
              <a:buClr>
                <a:schemeClr val="folHlink"/>
              </a:buClr>
              <a:buSzPct val="60000"/>
              <a:buFont typeface="Wingdings" pitchFamily="2" charset="2"/>
              <a:buChar char="u"/>
              <a:defRPr/>
            </a:pPr>
            <a:r>
              <a:rPr lang="en-US" altLang="zh-CN" noProof="1">
                <a:latin typeface="Microsoft YaHei" panose="020B0503020204020204" pitchFamily="34" charset="-122"/>
                <a:ea typeface="Microsoft YaHei" panose="020B0503020204020204" pitchFamily="34" charset="-122"/>
                <a:cs typeface="楷体" panose="02010609060101010101" pitchFamily="49" charset="-122"/>
              </a:rPr>
              <a:t>RESTRICT </a:t>
            </a:r>
            <a:r>
              <a:rPr lang="zh-CN" altLang="en-US" noProof="1">
                <a:latin typeface="Microsoft YaHei" panose="020B0503020204020204" pitchFamily="34" charset="-122"/>
                <a:ea typeface="Microsoft YaHei" panose="020B0503020204020204" pitchFamily="34" charset="-122"/>
                <a:cs typeface="楷体" panose="02010609060101010101" pitchFamily="49" charset="-122"/>
              </a:rPr>
              <a:t>确保只有不具有相关对象的视图（不涉及任何的约束、触发器）才能被撤消。</a:t>
            </a:r>
          </a:p>
        </p:txBody>
      </p:sp>
      <p:sp>
        <p:nvSpPr>
          <p:cNvPr id="3" name="标题 2">
            <a:extLst>
              <a:ext uri="{FF2B5EF4-FFF2-40B4-BE49-F238E27FC236}">
                <a16:creationId xmlns:a16="http://schemas.microsoft.com/office/drawing/2014/main" id="{3E94547D-8CA2-F32F-3CE5-7BD3AF9E29EE}"/>
              </a:ext>
            </a:extLst>
          </p:cNvPr>
          <p:cNvSpPr>
            <a:spLocks noGrp="1"/>
          </p:cNvSpPr>
          <p:nvPr>
            <p:ph type="title"/>
          </p:nvPr>
        </p:nvSpPr>
        <p:spPr/>
        <p:txBody>
          <a:bodyPr/>
          <a:lstStyle/>
          <a:p>
            <a:r>
              <a:rPr lang="zh-CN" altLang="en-US" dirty="0"/>
              <a:t>删除视图</a:t>
            </a: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p:cNvSpPr>
          <p:nvPr>
            <p:ph idx="1"/>
          </p:nvPr>
        </p:nvSpPr>
        <p:spPr/>
        <p:txBody>
          <a:bodyPr vert="horz" wrap="square" lIns="68580" tIns="34290" rIns="68580" bIns="34290" numCol="1" anchor="t" anchorCtr="0" compatLnSpc="1">
            <a:normAutofit/>
          </a:bodyPr>
          <a:lstStyle/>
          <a:p>
            <a:pPr marL="257175" indent="-257175" defTabSz="685800" fontAlgn="base">
              <a:lnSpc>
                <a:spcPct val="100000"/>
              </a:lnSpc>
              <a:spcBef>
                <a:spcPct val="20000"/>
              </a:spcBef>
              <a:spcAft>
                <a:spcPct val="0"/>
              </a:spcAft>
              <a:buClr>
                <a:schemeClr val="folHlink"/>
              </a:buClr>
              <a:buSzPct val="60000"/>
              <a:buNone/>
              <a:defRPr/>
            </a:pPr>
            <a:r>
              <a:rPr lang="zh-CN" altLang="en-US" sz="1800" b="1" kern="0" noProof="1">
                <a:solidFill>
                  <a:srgbClr val="C00000"/>
                </a:solidFill>
                <a:cs typeface="楷体" panose="02010609060101010101" pitchFamily="49" charset="-122"/>
              </a:rPr>
              <a:t>（</a:t>
            </a:r>
            <a:r>
              <a:rPr lang="en-US" altLang="zh-CN" sz="1800" b="1" kern="0" noProof="1">
                <a:solidFill>
                  <a:srgbClr val="C00000"/>
                </a:solidFill>
                <a:cs typeface="楷体" panose="02010609060101010101" pitchFamily="49" charset="-122"/>
              </a:rPr>
              <a:t>1</a:t>
            </a:r>
            <a:r>
              <a:rPr lang="zh-CN" altLang="en-US" sz="1800" b="1" kern="0" noProof="1">
                <a:solidFill>
                  <a:srgbClr val="C00000"/>
                </a:solidFill>
                <a:cs typeface="楷体" panose="02010609060101010101" pitchFamily="49" charset="-122"/>
              </a:rPr>
              <a:t>）查询视图</a:t>
            </a:r>
          </a:p>
          <a:p>
            <a:pPr marL="7620" indent="-7620" defTabSz="685800" fontAlgn="base">
              <a:lnSpc>
                <a:spcPct val="100000"/>
              </a:lnSpc>
              <a:spcBef>
                <a:spcPct val="20000"/>
              </a:spcBef>
              <a:spcAft>
                <a:spcPct val="0"/>
              </a:spcAft>
              <a:buClr>
                <a:schemeClr val="folHlink"/>
              </a:buClr>
              <a:buSzPct val="60000"/>
              <a:buFont typeface="Wingdings" panose="05000000000000000000" pitchFamily="2" charset="2"/>
              <a:buChar char="n"/>
              <a:defRPr/>
            </a:pPr>
            <a:r>
              <a:rPr lang="zh-CN" altLang="en-US" sz="1800" b="1" kern="0" noProof="1">
                <a:cs typeface="楷体" panose="02010609060101010101" pitchFamily="49" charset="-122"/>
              </a:rPr>
              <a:t> </a:t>
            </a:r>
            <a:r>
              <a:rPr lang="zh-CN" altLang="en-US" sz="1800" kern="0" noProof="1">
                <a:cs typeface="楷体" panose="02010609060101010101" pitchFamily="49" charset="-122"/>
              </a:rPr>
              <a:t>视图定义后，用户就可以象对基本表进行查询一样对视图进行查询了。</a:t>
            </a:r>
          </a:p>
          <a:p>
            <a:pPr marL="0" indent="0" defTabSz="685800" fontAlgn="base">
              <a:lnSpc>
                <a:spcPct val="100000"/>
              </a:lnSpc>
              <a:spcBef>
                <a:spcPct val="20000"/>
              </a:spcBef>
              <a:spcAft>
                <a:spcPct val="0"/>
              </a:spcAft>
              <a:buClr>
                <a:schemeClr val="folHlink"/>
              </a:buClr>
              <a:buSzPct val="60000"/>
              <a:buFont typeface="Wingdings" panose="05000000000000000000" pitchFamily="2" charset="2"/>
              <a:buChar char="n"/>
              <a:defRPr/>
            </a:pPr>
            <a:r>
              <a:rPr lang="zh-CN" altLang="en-US" sz="1800" kern="0" noProof="1">
                <a:cs typeface="楷体" panose="02010609060101010101" pitchFamily="49" charset="-122"/>
              </a:rPr>
              <a:t> DBMS执行对视图的查询时，首先进行有效性检查，检查查询涉及的表、视图等是否在数据库中存在，如果存在，则从数据字典中取出查询涉及的视图的定义，把定义中的子查询和用户对视图的查询结合起来，转换成对基本表的查询，然后再执行这个经过修正的查询。将对视图的查询转换为对基本表的查询的过程称为</a:t>
            </a:r>
            <a:r>
              <a:rPr lang="zh-CN" altLang="en-US" sz="1800" b="1" kern="0" noProof="1">
                <a:solidFill>
                  <a:schemeClr val="hlink"/>
                </a:solidFill>
                <a:cs typeface="楷体" panose="02010609060101010101" pitchFamily="49" charset="-122"/>
              </a:rPr>
              <a:t>视图的消解（View Resolution）</a:t>
            </a:r>
            <a:r>
              <a:rPr lang="zh-CN" altLang="en-US" sz="1800" b="1" kern="0" noProof="1">
                <a:cs typeface="楷体" panose="02010609060101010101" pitchFamily="49" charset="-122"/>
              </a:rPr>
              <a:t>。</a:t>
            </a:r>
            <a:endParaRPr lang="en-US" altLang="zh-CN" sz="1800" b="1" kern="0" noProof="1">
              <a:cs typeface="楷体" panose="02010609060101010101" pitchFamily="49" charset="-122"/>
            </a:endParaRPr>
          </a:p>
          <a:p>
            <a:pPr marL="0" indent="0" defTabSz="685800" fontAlgn="base">
              <a:lnSpc>
                <a:spcPct val="100000"/>
              </a:lnSpc>
              <a:spcBef>
                <a:spcPct val="20000"/>
              </a:spcBef>
              <a:spcAft>
                <a:spcPct val="0"/>
              </a:spcAft>
              <a:buClr>
                <a:schemeClr val="folHlink"/>
              </a:buClr>
              <a:buSzPct val="60000"/>
              <a:buFont typeface="Wingdings" panose="05000000000000000000" pitchFamily="2" charset="2"/>
              <a:buChar char="n"/>
              <a:defRPr/>
            </a:pPr>
            <a:endParaRPr lang="en-US" altLang="zh-CN" sz="1800" b="1" kern="0" noProof="1">
              <a:cs typeface="楷体" panose="02010609060101010101" pitchFamily="49" charset="-122"/>
            </a:endParaRPr>
          </a:p>
          <a:p>
            <a:pPr marL="257175" indent="-257175" defTabSz="685800" fontAlgn="base">
              <a:lnSpc>
                <a:spcPct val="100000"/>
              </a:lnSpc>
              <a:spcBef>
                <a:spcPct val="20000"/>
              </a:spcBef>
              <a:spcAft>
                <a:spcPct val="0"/>
              </a:spcAft>
              <a:buClr>
                <a:schemeClr val="folHlink"/>
              </a:buClr>
              <a:buSzPct val="60000"/>
              <a:buNone/>
              <a:defRPr/>
            </a:pPr>
            <a:r>
              <a:rPr lang="zh-CN" altLang="en-US" sz="1800" b="1" kern="0" dirty="0">
                <a:solidFill>
                  <a:srgbClr val="C00000"/>
                </a:solidFill>
              </a:rPr>
              <a:t>（</a:t>
            </a:r>
            <a:r>
              <a:rPr lang="en-US" altLang="zh-CN" sz="1800" b="1" kern="0" dirty="0">
                <a:solidFill>
                  <a:srgbClr val="C00000"/>
                </a:solidFill>
              </a:rPr>
              <a:t>2</a:t>
            </a:r>
            <a:r>
              <a:rPr lang="zh-CN" altLang="en-US" sz="1800" b="1" kern="0" dirty="0">
                <a:solidFill>
                  <a:srgbClr val="C00000"/>
                </a:solidFill>
              </a:rPr>
              <a:t>）更新视图 </a:t>
            </a:r>
          </a:p>
          <a:p>
            <a:pPr marL="257175" indent="-257175">
              <a:lnSpc>
                <a:spcPct val="100000"/>
              </a:lnSpc>
              <a:spcBef>
                <a:spcPct val="20000"/>
              </a:spcBef>
              <a:buClr>
                <a:schemeClr val="folHlink"/>
              </a:buClr>
              <a:buSzPct val="60000"/>
              <a:buFont typeface="Wingdings" panose="05000000000000000000" pitchFamily="2" charset="2"/>
              <a:buChar char="n"/>
            </a:pPr>
            <a:r>
              <a:rPr lang="zh-CN" altLang="en-US" sz="1800" dirty="0"/>
              <a:t>最终要转换为对基本表的更新。</a:t>
            </a:r>
          </a:p>
          <a:p>
            <a:pPr marL="257175" indent="-257175">
              <a:lnSpc>
                <a:spcPct val="100000"/>
              </a:lnSpc>
              <a:spcBef>
                <a:spcPct val="20000"/>
              </a:spcBef>
              <a:buClr>
                <a:schemeClr val="folHlink"/>
              </a:buClr>
              <a:buSzPct val="60000"/>
              <a:buFont typeface="Wingdings" panose="05000000000000000000" pitchFamily="2" charset="2"/>
              <a:buChar char="n"/>
            </a:pPr>
            <a:r>
              <a:rPr lang="zh-CN" altLang="en-US" sz="1800" dirty="0"/>
              <a:t>注意：并不是所有的视图都可以更新的。</a:t>
            </a:r>
            <a:endParaRPr lang="zh-CN" altLang="en-US" sz="1800" b="1" kern="0" noProof="1">
              <a:cs typeface="楷体" panose="02010609060101010101" pitchFamily="49" charset="-122"/>
            </a:endParaRPr>
          </a:p>
        </p:txBody>
      </p:sp>
      <p:sp>
        <p:nvSpPr>
          <p:cNvPr id="3" name="标题 2">
            <a:extLst>
              <a:ext uri="{FF2B5EF4-FFF2-40B4-BE49-F238E27FC236}">
                <a16:creationId xmlns:a16="http://schemas.microsoft.com/office/drawing/2014/main" id="{28033B3B-4B06-FB9B-DB20-99DEE2496751}"/>
              </a:ext>
            </a:extLst>
          </p:cNvPr>
          <p:cNvSpPr>
            <a:spLocks noGrp="1"/>
          </p:cNvSpPr>
          <p:nvPr>
            <p:ph type="title"/>
          </p:nvPr>
        </p:nvSpPr>
        <p:spPr/>
        <p:txBody>
          <a:bodyPr/>
          <a:lstStyle/>
          <a:p>
            <a:r>
              <a:rPr lang="zh-CN" altLang="en-US" dirty="0"/>
              <a:t>视图的使用</a:t>
            </a:r>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p:nvPr/>
        </p:nvSpPr>
        <p:spPr>
          <a:xfrm>
            <a:off x="636384" y="1097183"/>
            <a:ext cx="7886700" cy="3309783"/>
          </a:xfrm>
          <a:prstGeom prst="rect">
            <a:avLst/>
          </a:prstGeom>
          <a:noFill/>
          <a:ln w="9525">
            <a:noFill/>
          </a:ln>
        </p:spPr>
        <p:txBody>
          <a:bodyPr/>
          <a:lstStyle/>
          <a:p>
            <a:pPr marL="257175" indent="-257175">
              <a:spcBef>
                <a:spcPct val="20000"/>
              </a:spcBef>
              <a:buClr>
                <a:schemeClr val="folHlink"/>
              </a:buClr>
              <a:buSzPct val="60000"/>
              <a:buFont typeface="Wingdings" panose="05000000000000000000" pitchFamily="2" charset="2"/>
              <a:buChar char="n"/>
            </a:pPr>
            <a:r>
              <a:rPr lang="zh-CN" altLang="en-US" sz="2400" b="1" dirty="0">
                <a:latin typeface="Microsoft YaHei" panose="020B0503020204020204" pitchFamily="34" charset="-122"/>
                <a:ea typeface="Microsoft YaHei" panose="020B0503020204020204" pitchFamily="34" charset="-122"/>
              </a:rPr>
              <a:t>视图更新规定（不同系统不尽相同）：</a:t>
            </a:r>
          </a:p>
          <a:p>
            <a:pPr marL="557213" lvl="1" indent="-214313">
              <a:spcBef>
                <a:spcPct val="20000"/>
              </a:spcBef>
              <a:buClr>
                <a:schemeClr val="folHlink"/>
              </a:buClr>
              <a:buSzPct val="60000"/>
              <a:buFont typeface="Wingdings" panose="05000000000000000000" pitchFamily="2" charset="2"/>
              <a:buChar char="n"/>
            </a:pPr>
            <a:r>
              <a:rPr lang="zh-CN" altLang="en-US" dirty="0">
                <a:latin typeface="Microsoft YaHei" panose="020B0503020204020204" pitchFamily="34" charset="-122"/>
                <a:ea typeface="Microsoft YaHei" panose="020B0503020204020204" pitchFamily="34" charset="-122"/>
              </a:rPr>
              <a:t>若视图由两个或以上基本表导出的，则此视图不允许更新。</a:t>
            </a:r>
          </a:p>
          <a:p>
            <a:pPr marL="557213" lvl="1" indent="-214313">
              <a:spcBef>
                <a:spcPct val="20000"/>
              </a:spcBef>
              <a:buClr>
                <a:schemeClr val="folHlink"/>
              </a:buClr>
              <a:buSzPct val="60000"/>
              <a:buFont typeface="Wingdings" panose="05000000000000000000" pitchFamily="2" charset="2"/>
              <a:buChar char="n"/>
            </a:pPr>
            <a:r>
              <a:rPr lang="zh-CN" altLang="en-US" dirty="0">
                <a:latin typeface="Microsoft YaHei" panose="020B0503020204020204" pitchFamily="34" charset="-122"/>
                <a:ea typeface="Microsoft YaHei" panose="020B0503020204020204" pitchFamily="34" charset="-122"/>
              </a:rPr>
              <a:t>若视图的列来自表达式或常数，则不允许对此视图执行INSERT和UPDATE操作，但允许执行DELETE操作。</a:t>
            </a:r>
          </a:p>
          <a:p>
            <a:pPr marL="557213" lvl="1" indent="-214313">
              <a:spcBef>
                <a:spcPct val="20000"/>
              </a:spcBef>
              <a:buClr>
                <a:schemeClr val="folHlink"/>
              </a:buClr>
              <a:buSzPct val="60000"/>
              <a:buFont typeface="Wingdings" panose="05000000000000000000" pitchFamily="2" charset="2"/>
              <a:buChar char="n"/>
            </a:pPr>
            <a:r>
              <a:rPr lang="zh-CN" altLang="en-US" dirty="0">
                <a:latin typeface="Microsoft YaHei" panose="020B0503020204020204" pitchFamily="34" charset="-122"/>
                <a:ea typeface="Microsoft YaHei" panose="020B0503020204020204" pitchFamily="34" charset="-122"/>
              </a:rPr>
              <a:t>若视图的来自聚集函数，则此视图不允许更新。</a:t>
            </a:r>
          </a:p>
          <a:p>
            <a:pPr marL="557213" lvl="1" indent="-214313">
              <a:spcBef>
                <a:spcPct val="20000"/>
              </a:spcBef>
              <a:buClr>
                <a:schemeClr val="folHlink"/>
              </a:buClr>
              <a:buSzPct val="60000"/>
              <a:buFont typeface="Wingdings" panose="05000000000000000000" pitchFamily="2" charset="2"/>
              <a:buChar char="n"/>
            </a:pPr>
            <a:r>
              <a:rPr lang="zh-CN" altLang="en-US" dirty="0">
                <a:latin typeface="Microsoft YaHei" panose="020B0503020204020204" pitchFamily="34" charset="-122"/>
                <a:ea typeface="Microsoft YaHei" panose="020B0503020204020204" pitchFamily="34" charset="-122"/>
              </a:rPr>
              <a:t>若视图定义中含有GROUP BY子句，则此视图不允许更新。</a:t>
            </a:r>
          </a:p>
          <a:p>
            <a:pPr marL="557213" lvl="1" indent="-214313">
              <a:spcBef>
                <a:spcPct val="20000"/>
              </a:spcBef>
              <a:buClr>
                <a:schemeClr val="folHlink"/>
              </a:buClr>
              <a:buSzPct val="60000"/>
              <a:buFont typeface="Wingdings" panose="05000000000000000000" pitchFamily="2" charset="2"/>
              <a:buChar char="n"/>
            </a:pPr>
            <a:r>
              <a:rPr lang="zh-CN" altLang="en-US" dirty="0">
                <a:latin typeface="Microsoft YaHei" panose="020B0503020204020204" pitchFamily="34" charset="-122"/>
                <a:ea typeface="Microsoft YaHei" panose="020B0503020204020204" pitchFamily="34" charset="-122"/>
              </a:rPr>
              <a:t>若视图定义中含有DISTINCT短语，则此视图不允许更新。</a:t>
            </a:r>
          </a:p>
          <a:p>
            <a:pPr marL="557213" lvl="1" indent="-214313">
              <a:spcBef>
                <a:spcPct val="20000"/>
              </a:spcBef>
              <a:buClr>
                <a:schemeClr val="folHlink"/>
              </a:buClr>
              <a:buSzPct val="60000"/>
              <a:buFont typeface="Wingdings" panose="05000000000000000000" pitchFamily="2" charset="2"/>
              <a:buChar char="n"/>
            </a:pPr>
            <a:r>
              <a:rPr lang="zh-CN" altLang="en-US" dirty="0">
                <a:latin typeface="Microsoft YaHei" panose="020B0503020204020204" pitchFamily="34" charset="-122"/>
                <a:ea typeface="Microsoft YaHei" panose="020B0503020204020204" pitchFamily="34" charset="-122"/>
              </a:rPr>
              <a:t>若视图定义中有嵌套查询，并且内层查询的FROM子句中涉及的表也是导出该视图的基本表，则此视图不允许更新。</a:t>
            </a:r>
          </a:p>
          <a:p>
            <a:pPr marL="557213" lvl="1" indent="-214313">
              <a:spcBef>
                <a:spcPct val="20000"/>
              </a:spcBef>
              <a:buClr>
                <a:schemeClr val="folHlink"/>
              </a:buClr>
              <a:buSzPct val="60000"/>
              <a:buFont typeface="Wingdings" panose="05000000000000000000" pitchFamily="2" charset="2"/>
              <a:buChar char="n"/>
            </a:pPr>
            <a:r>
              <a:rPr lang="zh-CN" altLang="en-US" dirty="0">
                <a:latin typeface="Microsoft YaHei" panose="020B0503020204020204" pitchFamily="34" charset="-122"/>
                <a:ea typeface="Microsoft YaHei" panose="020B0503020204020204" pitchFamily="34" charset="-122"/>
              </a:rPr>
              <a:t>一个不允许更新的视图上定义的视图也不允许更新。</a:t>
            </a:r>
          </a:p>
        </p:txBody>
      </p:sp>
      <p:sp>
        <p:nvSpPr>
          <p:cNvPr id="4" name="标题 3">
            <a:extLst>
              <a:ext uri="{FF2B5EF4-FFF2-40B4-BE49-F238E27FC236}">
                <a16:creationId xmlns:a16="http://schemas.microsoft.com/office/drawing/2014/main" id="{4E01BE84-2DD6-C7BF-659F-18ACB3001BD6}"/>
              </a:ext>
            </a:extLst>
          </p:cNvPr>
          <p:cNvSpPr>
            <a:spLocks noGrp="1"/>
          </p:cNvSpPr>
          <p:nvPr>
            <p:ph type="title"/>
          </p:nvPr>
        </p:nvSpPr>
        <p:spPr/>
        <p:txBody>
          <a:bodyPr/>
          <a:lstStyle/>
          <a:p>
            <a:r>
              <a:rPr lang="zh-CN" altLang="en-US" dirty="0"/>
              <a:t>更新视图的限制</a:t>
            </a:r>
          </a:p>
        </p:txBody>
      </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6EF204-C49D-251E-8762-3561A7065D11}"/>
              </a:ext>
            </a:extLst>
          </p:cNvPr>
          <p:cNvSpPr>
            <a:spLocks noGrp="1"/>
          </p:cNvSpPr>
          <p:nvPr>
            <p:ph type="title"/>
          </p:nvPr>
        </p:nvSpPr>
        <p:spPr/>
        <p:txBody>
          <a:bodyPr/>
          <a:lstStyle/>
          <a:p>
            <a:r>
              <a:rPr kumimoji="1" lang="zh-CN" altLang="en-US" dirty="0"/>
              <a:t>物化视图（</a:t>
            </a:r>
            <a:r>
              <a:rPr kumimoji="1" lang="en-US" altLang="zh-CN" dirty="0"/>
              <a:t>Materialized</a:t>
            </a:r>
            <a:r>
              <a:rPr kumimoji="1" lang="zh-CN" altLang="en-US" dirty="0"/>
              <a:t> </a:t>
            </a:r>
            <a:r>
              <a:rPr kumimoji="1" lang="en-US" altLang="zh-CN" dirty="0"/>
              <a:t>View</a:t>
            </a:r>
            <a:r>
              <a:rPr kumimoji="1" lang="zh-CN" altLang="en-US" dirty="0"/>
              <a:t>）</a:t>
            </a:r>
          </a:p>
        </p:txBody>
      </p:sp>
      <p:sp>
        <p:nvSpPr>
          <p:cNvPr id="3" name="内容占位符 2">
            <a:extLst>
              <a:ext uri="{FF2B5EF4-FFF2-40B4-BE49-F238E27FC236}">
                <a16:creationId xmlns:a16="http://schemas.microsoft.com/office/drawing/2014/main" id="{831FD48C-CC3D-A85B-D898-9FCDB66976BC}"/>
              </a:ext>
            </a:extLst>
          </p:cNvPr>
          <p:cNvSpPr>
            <a:spLocks noGrp="1"/>
          </p:cNvSpPr>
          <p:nvPr>
            <p:ph idx="1"/>
          </p:nvPr>
        </p:nvSpPr>
        <p:spPr/>
        <p:txBody>
          <a:bodyPr>
            <a:normAutofit fontScale="70000" lnSpcReduction="20000"/>
          </a:bodyPr>
          <a:lstStyle/>
          <a:p>
            <a:pPr>
              <a:lnSpc>
                <a:spcPct val="120000"/>
              </a:lnSpc>
            </a:pPr>
            <a:r>
              <a:rPr kumimoji="1" lang="zh-CN" altLang="en-US" dirty="0"/>
              <a:t>语句：</a:t>
            </a:r>
            <a:endParaRPr kumimoji="1" lang="en-US" altLang="zh-CN" dirty="0"/>
          </a:p>
          <a:p>
            <a:pPr marL="457200" lvl="1" indent="0">
              <a:lnSpc>
                <a:spcPct val="120000"/>
              </a:lnSpc>
              <a:buNone/>
            </a:pPr>
            <a:r>
              <a:rPr kumimoji="1" lang="en-US" altLang="zh-CN" dirty="0"/>
              <a:t>CREATE</a:t>
            </a:r>
            <a:r>
              <a:rPr kumimoji="1" lang="zh-CN" altLang="en-US" dirty="0"/>
              <a:t> </a:t>
            </a:r>
            <a:r>
              <a:rPr kumimoji="1" lang="en-US" altLang="zh-CN" dirty="0">
                <a:solidFill>
                  <a:srgbClr val="FF0000"/>
                </a:solidFill>
              </a:rPr>
              <a:t>MATERIALIZED</a:t>
            </a:r>
            <a:r>
              <a:rPr kumimoji="1" lang="zh-CN" altLang="en-US" dirty="0"/>
              <a:t> </a:t>
            </a:r>
            <a:r>
              <a:rPr kumimoji="1" lang="en-US" altLang="zh-CN" dirty="0"/>
              <a:t>VIEW</a:t>
            </a:r>
            <a:r>
              <a:rPr kumimoji="1" lang="zh-CN" altLang="en-US" dirty="0"/>
              <a:t> </a:t>
            </a:r>
            <a:r>
              <a:rPr kumimoji="1" lang="en-US" altLang="zh-CN" dirty="0"/>
              <a:t>…</a:t>
            </a:r>
          </a:p>
          <a:p>
            <a:pPr>
              <a:lnSpc>
                <a:spcPct val="120000"/>
              </a:lnSpc>
            </a:pPr>
            <a:endParaRPr kumimoji="1" lang="en-US" altLang="zh-CN" dirty="0"/>
          </a:p>
          <a:p>
            <a:pPr>
              <a:lnSpc>
                <a:spcPct val="120000"/>
              </a:lnSpc>
            </a:pPr>
            <a:r>
              <a:rPr kumimoji="1" lang="zh-CN" altLang="en-US" dirty="0"/>
              <a:t>对比非物化视图</a:t>
            </a:r>
            <a:endParaRPr kumimoji="1" lang="en-US" altLang="zh-CN" dirty="0"/>
          </a:p>
          <a:p>
            <a:pPr lvl="1">
              <a:lnSpc>
                <a:spcPct val="120000"/>
              </a:lnSpc>
            </a:pPr>
            <a:r>
              <a:rPr kumimoji="1" lang="zh-CN" altLang="en-US" dirty="0"/>
              <a:t>物化视图中包含的数据（元组）被</a:t>
            </a:r>
            <a:r>
              <a:rPr kumimoji="1" lang="zh-CN" altLang="en-US" dirty="0">
                <a:solidFill>
                  <a:srgbClr val="FF0000"/>
                </a:solidFill>
              </a:rPr>
              <a:t>存储</a:t>
            </a:r>
            <a:r>
              <a:rPr kumimoji="1" lang="zh-CN" altLang="en-US" dirty="0"/>
              <a:t>在系统中，即有物理数据存在</a:t>
            </a:r>
            <a:endParaRPr kumimoji="1" lang="en-US" altLang="zh-CN" dirty="0"/>
          </a:p>
          <a:p>
            <a:pPr lvl="1">
              <a:lnSpc>
                <a:spcPct val="120000"/>
              </a:lnSpc>
            </a:pPr>
            <a:endParaRPr kumimoji="1" lang="en-US" altLang="zh-CN" dirty="0"/>
          </a:p>
          <a:p>
            <a:pPr lvl="1">
              <a:lnSpc>
                <a:spcPct val="120000"/>
              </a:lnSpc>
            </a:pPr>
            <a:r>
              <a:rPr kumimoji="1" lang="zh-CN" altLang="en-US" dirty="0"/>
              <a:t>优点：被查询时不需要实时计算，直接从存储中获取</a:t>
            </a:r>
            <a:endParaRPr kumimoji="1" lang="en-US" altLang="zh-CN" dirty="0"/>
          </a:p>
          <a:p>
            <a:pPr lvl="1">
              <a:lnSpc>
                <a:spcPct val="120000"/>
              </a:lnSpc>
            </a:pPr>
            <a:endParaRPr kumimoji="1" lang="en-US" altLang="zh-CN" dirty="0"/>
          </a:p>
          <a:p>
            <a:pPr lvl="1">
              <a:lnSpc>
                <a:spcPct val="120000"/>
              </a:lnSpc>
            </a:pPr>
            <a:r>
              <a:rPr kumimoji="1" lang="zh-CN" altLang="en-US" dirty="0"/>
              <a:t>缺点：基表数据变化时，物化视图内的数据也需要被同步，带来额外的修改负担</a:t>
            </a:r>
          </a:p>
        </p:txBody>
      </p:sp>
    </p:spTree>
    <p:extLst>
      <p:ext uri="{BB962C8B-B14F-4D97-AF65-F5344CB8AC3E}">
        <p14:creationId xmlns:p14="http://schemas.microsoft.com/office/powerpoint/2010/main" val="23524531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450923" y="1130830"/>
            <a:ext cx="8257622" cy="3393642"/>
          </a:xfrm>
          <a:prstGeom prst="rect">
            <a:avLst/>
          </a:prstGeom>
          <a:noFill/>
          <a:ln w="9525">
            <a:noFill/>
          </a:ln>
        </p:spPr>
        <p:txBody>
          <a:bodyPr vert="horz" wrap="square" lIns="68580" tIns="34290" rIns="68580" bIns="3429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0" indent="0" defTabSz="685800" eaLnBrk="1" hangingPunct="1">
              <a:buNone/>
              <a:defRPr/>
            </a:pPr>
            <a:r>
              <a:rPr lang="zh-CN" altLang="en-US" sz="1800" b="1" kern="0"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建立索引的目的：</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基本表上建立一个或多个索引，以提供多种存取路径，加快查找速度。</a:t>
            </a:r>
          </a:p>
          <a:p>
            <a:pPr marL="0" defTabSz="685800" eaLnBrk="1" hangingPunct="1">
              <a:defRPr/>
            </a:pPr>
            <a:r>
              <a:rPr lang="zh-CN" altLang="en-US" sz="1800" b="1" dirty="0">
                <a:latin typeface="Microsoft YaHei" panose="020B0503020204020204" pitchFamily="34" charset="-122"/>
                <a:ea typeface="Microsoft YaHei" panose="020B0503020204020204" pitchFamily="34" charset="-122"/>
                <a:cs typeface="楷体" panose="02010609060101010101" pitchFamily="49" charset="-122"/>
                <a:sym typeface="+mn-ea"/>
              </a:rPr>
              <a:t>建立索引</a:t>
            </a:r>
            <a:endParaRPr lang="zh-CN" altLang="en-US" sz="1800" b="1" dirty="0">
              <a:latin typeface="Microsoft YaHei" panose="020B0503020204020204" pitchFamily="34" charset="-122"/>
              <a:ea typeface="Microsoft YaHei" panose="020B0503020204020204" pitchFamily="34" charset="-122"/>
              <a:cs typeface="楷体" panose="02010609060101010101" pitchFamily="49" charset="-122"/>
            </a:endParaRPr>
          </a:p>
          <a:p>
            <a:pPr lvl="1" algn="just">
              <a:lnSpc>
                <a:spcPct val="90000"/>
              </a:lnSpc>
            </a:pPr>
            <a:r>
              <a:rPr lang="en-US" altLang="zh-CN" sz="1500" dirty="0">
                <a:latin typeface="Microsoft YaHei" panose="020B0503020204020204" pitchFamily="34" charset="-122"/>
                <a:ea typeface="Microsoft YaHei" panose="020B0503020204020204" pitchFamily="34" charset="-122"/>
                <a:sym typeface="+mn-ea"/>
              </a:rPr>
              <a:t>DBA</a:t>
            </a:r>
            <a:r>
              <a:rPr lang="zh-CN" altLang="en-US" sz="1500" dirty="0">
                <a:latin typeface="Microsoft YaHei" panose="020B0503020204020204" pitchFamily="34" charset="-122"/>
                <a:ea typeface="Microsoft YaHei" panose="020B0503020204020204" pitchFamily="34" charset="-122"/>
                <a:sym typeface="+mn-ea"/>
              </a:rPr>
              <a:t>或表的属主（即建立表的人）根据需要建立</a:t>
            </a:r>
            <a:endParaRPr lang="zh-CN" altLang="en-US" sz="1500" dirty="0">
              <a:latin typeface="Microsoft YaHei" panose="020B0503020204020204" pitchFamily="34" charset="-122"/>
              <a:ea typeface="Microsoft YaHei" panose="020B0503020204020204" pitchFamily="34" charset="-122"/>
            </a:endParaRPr>
          </a:p>
          <a:p>
            <a:pPr lvl="1" algn="just">
              <a:lnSpc>
                <a:spcPct val="90000"/>
              </a:lnSpc>
            </a:pPr>
            <a:r>
              <a:rPr lang="zh-CN" altLang="en-US" sz="1500" dirty="0">
                <a:latin typeface="Microsoft YaHei" panose="020B0503020204020204" pitchFamily="34" charset="-122"/>
                <a:ea typeface="Microsoft YaHei" panose="020B0503020204020204" pitchFamily="34" charset="-122"/>
                <a:sym typeface="+mn-ea"/>
              </a:rPr>
              <a:t>很多</a:t>
            </a:r>
            <a:r>
              <a:rPr lang="en-US" altLang="zh-CN" sz="1500" dirty="0">
                <a:latin typeface="Microsoft YaHei" panose="020B0503020204020204" pitchFamily="34" charset="-122"/>
                <a:ea typeface="Microsoft YaHei" panose="020B0503020204020204" pitchFamily="34" charset="-122"/>
                <a:sym typeface="+mn-ea"/>
              </a:rPr>
              <a:t>DBMS</a:t>
            </a:r>
            <a:r>
              <a:rPr lang="zh-CN" altLang="en-US" sz="1500" dirty="0">
                <a:latin typeface="Microsoft YaHei" panose="020B0503020204020204" pitchFamily="34" charset="-122"/>
                <a:ea typeface="Microsoft YaHei" panose="020B0503020204020204" pitchFamily="34" charset="-122"/>
                <a:sym typeface="+mn-ea"/>
              </a:rPr>
              <a:t>自动建立以下列上的索引</a:t>
            </a:r>
            <a:endParaRPr lang="zh-CN" altLang="en-US" sz="1500" dirty="0">
              <a:latin typeface="Microsoft YaHei" panose="020B0503020204020204" pitchFamily="34" charset="-122"/>
              <a:ea typeface="Microsoft YaHei" panose="020B0503020204020204" pitchFamily="34" charset="-122"/>
            </a:endParaRPr>
          </a:p>
          <a:p>
            <a:pPr lvl="2" algn="just">
              <a:lnSpc>
                <a:spcPct val="90000"/>
              </a:lnSpc>
            </a:pPr>
            <a:r>
              <a:rPr lang="zh-CN" altLang="en-US" sz="1500" dirty="0">
                <a:latin typeface="Microsoft YaHei" panose="020B0503020204020204" pitchFamily="34" charset="-122"/>
                <a:ea typeface="Microsoft YaHei" panose="020B0503020204020204" pitchFamily="34" charset="-122"/>
                <a:sym typeface="+mn-ea"/>
              </a:rPr>
              <a:t> </a:t>
            </a:r>
            <a:r>
              <a:rPr lang="en-US" altLang="zh-CN" sz="1500" dirty="0">
                <a:latin typeface="Microsoft YaHei" panose="020B0503020204020204" pitchFamily="34" charset="-122"/>
                <a:ea typeface="Microsoft YaHei" panose="020B0503020204020204" pitchFamily="34" charset="-122"/>
                <a:sym typeface="+mn-ea"/>
              </a:rPr>
              <a:t>PRIMARY  KEY</a:t>
            </a:r>
            <a:endParaRPr lang="en-US" altLang="zh-CN" sz="1500" dirty="0">
              <a:latin typeface="Microsoft YaHei" panose="020B0503020204020204" pitchFamily="34" charset="-122"/>
              <a:ea typeface="Microsoft YaHei" panose="020B0503020204020204" pitchFamily="34" charset="-122"/>
            </a:endParaRPr>
          </a:p>
          <a:p>
            <a:pPr lvl="2" algn="just">
              <a:lnSpc>
                <a:spcPct val="90000"/>
              </a:lnSpc>
            </a:pPr>
            <a:r>
              <a:rPr lang="en-US" altLang="zh-CN" sz="1500" dirty="0">
                <a:latin typeface="Microsoft YaHei" panose="020B0503020204020204" pitchFamily="34" charset="-122"/>
                <a:ea typeface="Microsoft YaHei" panose="020B0503020204020204" pitchFamily="34" charset="-122"/>
                <a:sym typeface="+mn-ea"/>
              </a:rPr>
              <a:t> UNIQUE</a:t>
            </a:r>
            <a:endParaRPr lang="en-US" altLang="zh-CN" sz="1800" dirty="0">
              <a:latin typeface="Microsoft YaHei" panose="020B0503020204020204" pitchFamily="34" charset="-122"/>
              <a:ea typeface="Microsoft YaHei" panose="020B0503020204020204" pitchFamily="34" charset="-122"/>
            </a:endParaRPr>
          </a:p>
          <a:p>
            <a:pPr marL="0" defTabSz="685800" eaLnBrk="1" hangingPunct="1">
              <a:defRPr/>
            </a:pPr>
            <a:r>
              <a:rPr lang="zh-CN" altLang="en-US" sz="1800" b="1" dirty="0">
                <a:latin typeface="Microsoft YaHei" panose="020B0503020204020204" pitchFamily="34" charset="-122"/>
                <a:ea typeface="Microsoft YaHei" panose="020B0503020204020204" pitchFamily="34" charset="-122"/>
                <a:cs typeface="楷体" panose="02010609060101010101" pitchFamily="49" charset="-122"/>
                <a:sym typeface="+mn-ea"/>
              </a:rPr>
              <a:t>维护索引</a:t>
            </a:r>
            <a:endParaRPr lang="zh-CN" altLang="en-US" sz="1800" b="1" dirty="0">
              <a:latin typeface="Microsoft YaHei" panose="020B0503020204020204" pitchFamily="34" charset="-122"/>
              <a:ea typeface="Microsoft YaHei" panose="020B0503020204020204" pitchFamily="34" charset="-122"/>
              <a:cs typeface="楷体" panose="02010609060101010101" pitchFamily="49" charset="-122"/>
            </a:endParaRPr>
          </a:p>
          <a:p>
            <a:pPr lvl="1" algn="just">
              <a:lnSpc>
                <a:spcPct val="90000"/>
              </a:lnSpc>
            </a:pPr>
            <a:r>
              <a:rPr lang="zh-CN" altLang="en-US" sz="1800" dirty="0">
                <a:latin typeface="Microsoft YaHei" panose="020B0503020204020204" pitchFamily="34" charset="-122"/>
                <a:ea typeface="Microsoft YaHei" panose="020B0503020204020204" pitchFamily="34" charset="-122"/>
                <a:sym typeface="+mn-ea"/>
              </a:rPr>
              <a:t> </a:t>
            </a:r>
            <a:r>
              <a:rPr lang="en-US" altLang="zh-CN" sz="1500" dirty="0">
                <a:latin typeface="Microsoft YaHei" panose="020B0503020204020204" pitchFamily="34" charset="-122"/>
                <a:ea typeface="Microsoft YaHei" panose="020B0503020204020204" pitchFamily="34" charset="-122"/>
                <a:sym typeface="+mn-ea"/>
              </a:rPr>
              <a:t>DBMS</a:t>
            </a:r>
            <a:r>
              <a:rPr lang="zh-CN" altLang="en-US" sz="1500" dirty="0">
                <a:latin typeface="Microsoft YaHei" panose="020B0503020204020204" pitchFamily="34" charset="-122"/>
                <a:ea typeface="Microsoft YaHei" panose="020B0503020204020204" pitchFamily="34" charset="-122"/>
                <a:sym typeface="+mn-ea"/>
              </a:rPr>
              <a:t>自动完成</a:t>
            </a:r>
            <a:r>
              <a:rPr lang="en-US" altLang="zh-CN" sz="1500" dirty="0">
                <a:latin typeface="Microsoft YaHei" panose="020B0503020204020204" pitchFamily="34" charset="-122"/>
                <a:ea typeface="Microsoft YaHei" panose="020B0503020204020204" pitchFamily="34" charset="-122"/>
                <a:sym typeface="+mn-ea"/>
              </a:rPr>
              <a:t> </a:t>
            </a:r>
            <a:endParaRPr lang="en-US" altLang="zh-CN" sz="1800" dirty="0">
              <a:latin typeface="Microsoft YaHei" panose="020B0503020204020204" pitchFamily="34" charset="-122"/>
              <a:ea typeface="Microsoft YaHei" panose="020B0503020204020204" pitchFamily="34" charset="-122"/>
            </a:endParaRPr>
          </a:p>
          <a:p>
            <a:pPr marL="0" defTabSz="685800" eaLnBrk="1" hangingPunct="1">
              <a:defRPr/>
            </a:pPr>
            <a:r>
              <a:rPr lang="zh-CN" altLang="en-US" sz="1800" b="1" dirty="0">
                <a:latin typeface="Microsoft YaHei" panose="020B0503020204020204" pitchFamily="34" charset="-122"/>
                <a:ea typeface="Microsoft YaHei" panose="020B0503020204020204" pitchFamily="34" charset="-122"/>
                <a:cs typeface="楷体" panose="02010609060101010101" pitchFamily="49" charset="-122"/>
                <a:sym typeface="+mn-ea"/>
              </a:rPr>
              <a:t>使用索引</a:t>
            </a:r>
            <a:endParaRPr lang="zh-CN" altLang="en-US" sz="1800" b="1" dirty="0">
              <a:latin typeface="Microsoft YaHei" panose="020B0503020204020204" pitchFamily="34" charset="-122"/>
              <a:ea typeface="Microsoft YaHei" panose="020B0503020204020204" pitchFamily="34" charset="-122"/>
              <a:cs typeface="楷体" panose="02010609060101010101" pitchFamily="49" charset="-122"/>
            </a:endParaRPr>
          </a:p>
          <a:p>
            <a:pPr lvl="1" algn="just">
              <a:lnSpc>
                <a:spcPct val="90000"/>
              </a:lnSpc>
            </a:pPr>
            <a:r>
              <a:rPr lang="zh-CN" altLang="en-US" sz="1800" dirty="0">
                <a:latin typeface="Microsoft YaHei" panose="020B0503020204020204" pitchFamily="34" charset="-122"/>
                <a:ea typeface="Microsoft YaHei" panose="020B0503020204020204" pitchFamily="34" charset="-122"/>
                <a:sym typeface="+mn-ea"/>
              </a:rPr>
              <a:t> </a:t>
            </a:r>
            <a:r>
              <a:rPr lang="en-US" altLang="zh-CN" sz="1500" dirty="0">
                <a:latin typeface="Microsoft YaHei" panose="020B0503020204020204" pitchFamily="34" charset="-122"/>
                <a:ea typeface="Microsoft YaHei" panose="020B0503020204020204" pitchFamily="34" charset="-122"/>
                <a:sym typeface="+mn-ea"/>
              </a:rPr>
              <a:t>DBMS</a:t>
            </a:r>
            <a:r>
              <a:rPr lang="zh-CN" altLang="en-US" sz="1500" dirty="0">
                <a:latin typeface="Microsoft YaHei" panose="020B0503020204020204" pitchFamily="34" charset="-122"/>
                <a:ea typeface="Microsoft YaHei" panose="020B0503020204020204" pitchFamily="34" charset="-122"/>
                <a:sym typeface="+mn-ea"/>
              </a:rPr>
              <a:t>自动选择是否使用索引以及使用哪些索引</a:t>
            </a:r>
            <a:endParaRPr lang="zh-CN" altLang="en-US" sz="1800" dirty="0">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2EC76FA5-0C14-6E84-56DF-CC7771972E51}"/>
              </a:ext>
            </a:extLst>
          </p:cNvPr>
          <p:cNvSpPr>
            <a:spLocks noGrp="1"/>
          </p:cNvSpPr>
          <p:nvPr>
            <p:ph type="title"/>
          </p:nvPr>
        </p:nvSpPr>
        <p:spPr/>
        <p:txBody>
          <a:bodyPr/>
          <a:lstStyle/>
          <a:p>
            <a:r>
              <a:rPr lang="zh-CN" altLang="en-US" dirty="0"/>
              <a:t>索引</a:t>
            </a:r>
          </a:p>
        </p:txBody>
      </p:sp>
      <p:sp>
        <p:nvSpPr>
          <p:cNvPr id="4" name="文本框 3">
            <a:extLst>
              <a:ext uri="{FF2B5EF4-FFF2-40B4-BE49-F238E27FC236}">
                <a16:creationId xmlns:a16="http://schemas.microsoft.com/office/drawing/2014/main" id="{1BF72FB1-9C77-A2FE-D71C-DDAF4435E926}"/>
              </a:ext>
            </a:extLst>
          </p:cNvPr>
          <p:cNvSpPr txBox="1"/>
          <p:nvPr/>
        </p:nvSpPr>
        <p:spPr>
          <a:xfrm>
            <a:off x="6961239" y="3723860"/>
            <a:ext cx="1976283" cy="923330"/>
          </a:xfrm>
          <a:prstGeom prst="rect">
            <a:avLst/>
          </a:prstGeom>
          <a:noFill/>
          <a:ln>
            <a:solidFill>
              <a:srgbClr val="FF0000"/>
            </a:solidFill>
          </a:ln>
        </p:spPr>
        <p:txBody>
          <a:bodyPr wrap="square" rtlCol="0">
            <a:spAutoFit/>
          </a:bodyPr>
          <a:lstStyle/>
          <a:p>
            <a:r>
              <a:rPr kumimoji="1" lang="zh-CN" altLang="en-US" dirty="0"/>
              <a:t>索引类型以及索引内部结构介绍在</a:t>
            </a:r>
            <a:r>
              <a:rPr kumimoji="1" lang="zh-CN" altLang="en-US" b="1" dirty="0">
                <a:solidFill>
                  <a:srgbClr val="C00000"/>
                </a:solidFill>
              </a:rPr>
              <a:t>第</a:t>
            </a:r>
            <a:r>
              <a:rPr kumimoji="1" lang="en-US" altLang="zh-CN" b="1" dirty="0">
                <a:solidFill>
                  <a:srgbClr val="C00000"/>
                </a:solidFill>
              </a:rPr>
              <a:t>8</a:t>
            </a:r>
            <a:r>
              <a:rPr kumimoji="1" lang="zh-CN" altLang="en-US" b="1" dirty="0">
                <a:solidFill>
                  <a:srgbClr val="C00000"/>
                </a:solidFill>
              </a:rPr>
              <a:t>章</a:t>
            </a:r>
          </a:p>
        </p:txBody>
      </p:sp>
    </p:spTree>
    <p:extLst>
      <p:ext uri="{BB962C8B-B14F-4D97-AF65-F5344CB8AC3E}">
        <p14:creationId xmlns:p14="http://schemas.microsoft.com/office/powerpoint/2010/main" val="284288513"/>
      </p:ext>
    </p:extLst>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636384" y="1188089"/>
            <a:ext cx="7886700" cy="3162300"/>
          </a:xfrm>
          <a:prstGeom prst="rect">
            <a:avLst/>
          </a:prstGeom>
          <a:noFill/>
          <a:ln w="9525">
            <a:noFill/>
          </a:ln>
        </p:spPr>
        <p:txBody>
          <a:bodyPr vert="horz" wrap="square" lIns="68580" tIns="34290" rIns="68580" bIns="3429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0" indent="0" defTabSz="685800" eaLnBrk="1" hangingPunct="1">
              <a:buNone/>
              <a:defRPr/>
            </a:pPr>
            <a:r>
              <a:rPr lang="zh-CN" altLang="en-US" sz="1800" b="1" kern="0"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命令格式：</a:t>
            </a:r>
            <a:r>
              <a:rPr lang="zh-CN" altLang="en-US" sz="1800" b="1" kern="0" noProof="1">
                <a:latin typeface="Microsoft YaHei" panose="020B0503020204020204" pitchFamily="34" charset="-122"/>
                <a:ea typeface="Microsoft YaHei" panose="020B0503020204020204" pitchFamily="34" charset="-122"/>
                <a:cs typeface="楷体" panose="02010609060101010101" pitchFamily="49" charset="-122"/>
              </a:rPr>
              <a:t> </a:t>
            </a:r>
          </a:p>
          <a:p>
            <a:pPr marL="0" indent="0" defTabSz="685800" eaLnBrk="1" hangingPunct="1">
              <a:buNone/>
              <a:defRPr/>
            </a:pPr>
            <a:r>
              <a:rPr lang="zh-CN" altLang="en-US" sz="1800" b="1" kern="0" noProof="1">
                <a:latin typeface="Microsoft YaHei" panose="020B0503020204020204" pitchFamily="34" charset="-122"/>
                <a:ea typeface="Microsoft YaHei" panose="020B0503020204020204" pitchFamily="34" charset="-122"/>
                <a:cs typeface="楷体" panose="02010609060101010101" pitchFamily="49" charset="-122"/>
              </a:rPr>
              <a:t>  </a:t>
            </a:r>
            <a:r>
              <a:rPr lang="en-US" altLang="zh-CN" sz="1800" kern="0" noProof="1">
                <a:latin typeface="Microsoft YaHei" panose="020B0503020204020204" pitchFamily="34" charset="-122"/>
                <a:ea typeface="Microsoft YaHei" panose="020B0503020204020204" pitchFamily="34" charset="-122"/>
                <a:cs typeface="楷体" panose="02010609060101010101" pitchFamily="49" charset="-122"/>
              </a:rPr>
              <a:t>CREATE  [UNIQUE]  [CLUSTER]  INDEX  &lt;</a:t>
            </a:r>
            <a:r>
              <a:rPr lang="zh-CN" altLang="en-US" sz="2100" kern="0" noProof="1">
                <a:solidFill>
                  <a:schemeClr val="tx2"/>
                </a:solidFill>
                <a:latin typeface="Microsoft YaHei" panose="020B0503020204020204" pitchFamily="34" charset="-122"/>
                <a:ea typeface="Microsoft YaHei" panose="020B0503020204020204" pitchFamily="34" charset="-122"/>
                <a:cs typeface="楷体" panose="02010609060101010101" pitchFamily="49" charset="-122"/>
              </a:rPr>
              <a:t>索引名</a:t>
            </a:r>
            <a:r>
              <a:rPr lang="en-US" altLang="zh-CN" sz="1800" kern="0" noProof="1">
                <a:latin typeface="Microsoft YaHei" panose="020B0503020204020204" pitchFamily="34" charset="-122"/>
                <a:ea typeface="Microsoft YaHei" panose="020B0503020204020204" pitchFamily="34" charset="-122"/>
                <a:cs typeface="楷体" panose="02010609060101010101" pitchFamily="49" charset="-122"/>
              </a:rPr>
              <a:t>&gt;  </a:t>
            </a:r>
          </a:p>
          <a:p>
            <a:pPr marL="142875" lvl="1" indent="0" defTabSz="685800" eaLnBrk="1" hangingPunct="1">
              <a:buNone/>
              <a:defRPr/>
            </a:pPr>
            <a:r>
              <a:rPr lang="en-US" altLang="zh-CN" sz="1500" kern="0" noProof="1">
                <a:latin typeface="Microsoft YaHei" panose="020B0503020204020204" pitchFamily="34" charset="-122"/>
                <a:ea typeface="Microsoft YaHei" panose="020B0503020204020204" pitchFamily="34" charset="-122"/>
                <a:cs typeface="楷体" panose="02010609060101010101" pitchFamily="49" charset="-122"/>
              </a:rPr>
              <a:t>    </a:t>
            </a:r>
            <a:r>
              <a:rPr lang="en-US" altLang="zh-CN" sz="1800" kern="0" noProof="1">
                <a:latin typeface="Microsoft YaHei" panose="020B0503020204020204" pitchFamily="34" charset="-122"/>
                <a:ea typeface="Microsoft YaHei" panose="020B0503020204020204" pitchFamily="34" charset="-122"/>
                <a:cs typeface="楷体" panose="02010609060101010101" pitchFamily="49" charset="-122"/>
              </a:rPr>
              <a:t>ON &lt;</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表名</a:t>
            </a:r>
            <a:r>
              <a:rPr lang="en-US" altLang="zh-CN" sz="1800" kern="0" noProof="1">
                <a:latin typeface="Microsoft YaHei" panose="020B0503020204020204" pitchFamily="34" charset="-122"/>
                <a:ea typeface="Microsoft YaHei" panose="020B0503020204020204" pitchFamily="34" charset="-122"/>
                <a:cs typeface="楷体" panose="02010609060101010101" pitchFamily="49" charset="-122"/>
              </a:rPr>
              <a:t>&gt; </a:t>
            </a:r>
            <a:r>
              <a:rPr lang="en-US" altLang="zh-CN" sz="1800" kern="0"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a:t>
            </a:r>
            <a:r>
              <a:rPr lang="en-US" altLang="zh-CN" sz="1800" kern="0" noProof="1">
                <a:latin typeface="Microsoft YaHei" panose="020B0503020204020204" pitchFamily="34" charset="-122"/>
                <a:ea typeface="Microsoft YaHei" panose="020B0503020204020204" pitchFamily="34" charset="-122"/>
                <a:cs typeface="楷体" panose="02010609060101010101" pitchFamily="49" charset="-122"/>
              </a:rPr>
              <a:t>&lt;</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列名</a:t>
            </a:r>
            <a:r>
              <a:rPr lang="en-US" altLang="zh-CN" sz="1800" kern="0" noProof="1">
                <a:latin typeface="Microsoft YaHei" panose="020B0503020204020204" pitchFamily="34" charset="-122"/>
                <a:ea typeface="Microsoft YaHei" panose="020B0503020204020204" pitchFamily="34" charset="-122"/>
                <a:cs typeface="楷体" panose="02010609060101010101" pitchFamily="49" charset="-122"/>
              </a:rPr>
              <a:t>&gt;&lt;</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次序</a:t>
            </a:r>
            <a:r>
              <a:rPr lang="en-US" altLang="zh-CN" sz="1800" kern="0" noProof="1">
                <a:latin typeface="Microsoft YaHei" panose="020B0503020204020204" pitchFamily="34" charset="-122"/>
                <a:ea typeface="Microsoft YaHei" panose="020B0503020204020204" pitchFamily="34" charset="-122"/>
                <a:cs typeface="楷体" panose="02010609060101010101" pitchFamily="49" charset="-122"/>
              </a:rPr>
              <a:t>&gt;[  [</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a:t>
            </a:r>
            <a:r>
              <a:rPr lang="en-US" altLang="zh-CN" sz="1800" kern="0" noProof="1">
                <a:latin typeface="Microsoft YaHei" panose="020B0503020204020204" pitchFamily="34" charset="-122"/>
                <a:ea typeface="Microsoft YaHei" panose="020B0503020204020204" pitchFamily="34" charset="-122"/>
                <a:cs typeface="楷体" panose="02010609060101010101" pitchFamily="49" charset="-122"/>
              </a:rPr>
              <a:t>&lt;</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列名</a:t>
            </a:r>
            <a:r>
              <a:rPr lang="en-US" altLang="zh-CN" sz="1800" kern="0" noProof="1">
                <a:latin typeface="Microsoft YaHei" panose="020B0503020204020204" pitchFamily="34" charset="-122"/>
                <a:ea typeface="Microsoft YaHei" panose="020B0503020204020204" pitchFamily="34" charset="-122"/>
                <a:cs typeface="楷体" panose="02010609060101010101" pitchFamily="49" charset="-122"/>
              </a:rPr>
              <a:t>&gt;&lt;</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次序</a:t>
            </a:r>
            <a:r>
              <a:rPr lang="en-US" altLang="zh-CN" sz="1800" kern="0" noProof="1">
                <a:latin typeface="Microsoft YaHei" panose="020B0503020204020204" pitchFamily="34" charset="-122"/>
                <a:ea typeface="Microsoft YaHei" panose="020B0503020204020204" pitchFamily="34" charset="-122"/>
                <a:cs typeface="楷体" panose="02010609060101010101" pitchFamily="49" charset="-122"/>
              </a:rPr>
              <a:t>&gt;]]…</a:t>
            </a:r>
            <a:r>
              <a:rPr lang="en-US" altLang="zh-CN" sz="1800" kern="0" noProof="1">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a:t>
            </a:r>
            <a:endParaRPr lang="zh-CN" altLang="en-US" sz="1500" kern="0" noProof="1">
              <a:latin typeface="Microsoft YaHei" panose="020B0503020204020204" pitchFamily="34" charset="-122"/>
              <a:ea typeface="Microsoft YaHei" panose="020B0503020204020204" pitchFamily="34" charset="-122"/>
              <a:cs typeface="楷体" panose="02010609060101010101" pitchFamily="49" charset="-122"/>
            </a:endParaRPr>
          </a:p>
          <a:p>
            <a:pPr marL="557213" lvl="1" indent="-214313" defTabSz="685800" eaLnBrk="1" hangingPunct="1">
              <a:buFont typeface="Wingdings" panose="05000000000000000000" charset="0"/>
              <a:buChar char="n"/>
              <a:defRPr/>
            </a:pPr>
            <a:r>
              <a:rPr lang="zh-CN" altLang="en-US" sz="1800" dirty="0">
                <a:latin typeface="Microsoft YaHei" panose="020B0503020204020204" pitchFamily="34" charset="-122"/>
                <a:ea typeface="Microsoft YaHei" panose="020B0503020204020204" pitchFamily="34" charset="-122"/>
                <a:sym typeface="+mn-ea"/>
              </a:rPr>
              <a:t>用&lt;表名&gt;指定要建索引的基本表名字</a:t>
            </a:r>
            <a:endParaRPr lang="en-US" altLang="zh-CN" sz="1800" dirty="0">
              <a:latin typeface="Microsoft YaHei" panose="020B0503020204020204" pitchFamily="34" charset="-122"/>
              <a:ea typeface="Microsoft YaHei" panose="020B0503020204020204" pitchFamily="34" charset="-122"/>
              <a:sym typeface="+mn-ea"/>
            </a:endParaRPr>
          </a:p>
          <a:p>
            <a:pPr marL="557213" lvl="1" indent="-214313" defTabSz="685800" eaLnBrk="1" hangingPunct="1">
              <a:buFont typeface="Wingdings" panose="05000000000000000000" charset="0"/>
              <a:buChar char="n"/>
              <a:defRPr/>
            </a:pPr>
            <a:r>
              <a:rPr lang="zh-CN" altLang="en-US" sz="1800" dirty="0">
                <a:latin typeface="Microsoft YaHei" panose="020B0503020204020204" pitchFamily="34" charset="-122"/>
                <a:ea typeface="Microsoft YaHei" panose="020B0503020204020204" pitchFamily="34" charset="-122"/>
                <a:sym typeface="+mn-ea"/>
              </a:rPr>
              <a:t>索</a:t>
            </a:r>
            <a:r>
              <a:rPr lang="zh-CN" altLang="en-US" sz="1800" dirty="0">
                <a:latin typeface="Microsoft YaHei" panose="020B0503020204020204" pitchFamily="34" charset="-122"/>
                <a:ea typeface="Microsoft YaHei" panose="020B0503020204020204" pitchFamily="34" charset="-122"/>
                <a:cs typeface="楷体" panose="02010609060101010101" pitchFamily="49" charset="-122"/>
                <a:sym typeface="+mn-ea"/>
              </a:rPr>
              <a:t>引可以建立在该表的一列或多列上，各列名之间用逗号分隔</a:t>
            </a:r>
            <a:endParaRPr lang="en-US" altLang="zh-CN" sz="1800" kern="0" noProof="1">
              <a:latin typeface="Microsoft YaHei" panose="020B0503020204020204" pitchFamily="34" charset="-122"/>
              <a:ea typeface="Microsoft YaHei" panose="020B0503020204020204" pitchFamily="34" charset="-122"/>
              <a:cs typeface="楷体" panose="02010609060101010101" pitchFamily="49" charset="-122"/>
            </a:endParaRPr>
          </a:p>
          <a:p>
            <a:pPr marL="557213" lvl="1" indent="-214313" defTabSz="685800" eaLnBrk="1" hangingPunct="1">
              <a:buFont typeface="Wingdings" panose="05000000000000000000" charset="0"/>
              <a:buChar char="n"/>
              <a:defRPr/>
            </a:pP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次序：</a:t>
            </a:r>
          </a:p>
          <a:p>
            <a:pPr marL="800100" lvl="2" indent="0" defTabSz="685800" eaLnBrk="1" hangingPunct="1">
              <a:buNone/>
              <a:defRPr/>
            </a:pP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升序（</a:t>
            </a:r>
            <a:r>
              <a:rPr lang="en-US" altLang="zh-CN" sz="1800" kern="0" noProof="1">
                <a:latin typeface="Microsoft YaHei" panose="020B0503020204020204" pitchFamily="34" charset="-122"/>
                <a:ea typeface="Microsoft YaHei" panose="020B0503020204020204" pitchFamily="34" charset="-122"/>
                <a:cs typeface="楷体" panose="02010609060101010101" pitchFamily="49" charset="-122"/>
              </a:rPr>
              <a:t>ASC</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，缺省）</a:t>
            </a:r>
          </a:p>
          <a:p>
            <a:pPr marL="800100" lvl="2" indent="0" defTabSz="685800" eaLnBrk="1" hangingPunct="1">
              <a:buNone/>
              <a:defRPr/>
            </a:pP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降序 （</a:t>
            </a:r>
            <a:r>
              <a:rPr lang="en-US" altLang="zh-CN" sz="1800" kern="0" noProof="1">
                <a:latin typeface="Microsoft YaHei" panose="020B0503020204020204" pitchFamily="34" charset="-122"/>
                <a:ea typeface="Microsoft YaHei" panose="020B0503020204020204" pitchFamily="34" charset="-122"/>
                <a:cs typeface="楷体" panose="02010609060101010101" pitchFamily="49" charset="-122"/>
              </a:rPr>
              <a:t>DESC</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a:t>
            </a:r>
          </a:p>
          <a:p>
            <a:pPr marL="557213" lvl="1" indent="-214313" defTabSz="685800" eaLnBrk="1" hangingPunct="1">
              <a:buFont typeface="Wingdings" panose="05000000000000000000" charset="0"/>
              <a:buChar char="n"/>
              <a:defRPr/>
            </a:pPr>
            <a:r>
              <a:rPr lang="en-US" altLang="zh-CN" sz="1800" kern="0" noProof="1">
                <a:latin typeface="Microsoft YaHei" panose="020B0503020204020204" pitchFamily="34" charset="-122"/>
                <a:ea typeface="Microsoft YaHei" panose="020B0503020204020204" pitchFamily="34" charset="-122"/>
                <a:cs typeface="楷体" panose="02010609060101010101" pitchFamily="49" charset="-122"/>
              </a:rPr>
              <a:t>UNIQUE: </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每一个索引值只对应惟一的数据记录。</a:t>
            </a:r>
          </a:p>
          <a:p>
            <a:pPr marL="557213" lvl="1" indent="-214313" defTabSz="685800" eaLnBrk="1" hangingPunct="1">
              <a:buFont typeface="Wingdings" panose="05000000000000000000" charset="0"/>
              <a:buChar char="n"/>
              <a:defRPr/>
            </a:pPr>
            <a:r>
              <a:rPr lang="en-US" altLang="zh-CN" sz="1800" kern="0" noProof="1">
                <a:latin typeface="Microsoft YaHei" panose="020B0503020204020204" pitchFamily="34" charset="-122"/>
                <a:ea typeface="Microsoft YaHei" panose="020B0503020204020204" pitchFamily="34" charset="-122"/>
                <a:cs typeface="楷体" panose="02010609060101010101" pitchFamily="49" charset="-122"/>
              </a:rPr>
              <a:t>CLUSTER: </a:t>
            </a:r>
            <a:r>
              <a:rPr lang="zh-CN" altLang="en-US" sz="1800" kern="0" noProof="1">
                <a:latin typeface="Microsoft YaHei" panose="020B0503020204020204" pitchFamily="34" charset="-122"/>
                <a:ea typeface="Microsoft YaHei" panose="020B0503020204020204" pitchFamily="34" charset="-122"/>
                <a:cs typeface="楷体" panose="02010609060101010101" pitchFamily="49" charset="-122"/>
              </a:rPr>
              <a:t>建立聚簇索引，即索引项的顺序与表中记录的物理顺序一致。</a:t>
            </a:r>
            <a:endParaRPr lang="zh-CN" altLang="en-US" sz="1800" kern="0" noProof="1">
              <a:latin typeface="Microsoft YaHei" panose="020B0503020204020204" pitchFamily="34" charset="-122"/>
              <a:ea typeface="Microsoft YaHei" panose="020B0503020204020204" pitchFamily="34" charset="-122"/>
              <a:cs typeface="+mn-ea"/>
            </a:endParaRPr>
          </a:p>
        </p:txBody>
      </p:sp>
      <p:sp>
        <p:nvSpPr>
          <p:cNvPr id="6" name="标题 5">
            <a:extLst>
              <a:ext uri="{FF2B5EF4-FFF2-40B4-BE49-F238E27FC236}">
                <a16:creationId xmlns:a16="http://schemas.microsoft.com/office/drawing/2014/main" id="{3EDCB2BC-FF90-B558-408C-6D59E200A771}"/>
              </a:ext>
            </a:extLst>
          </p:cNvPr>
          <p:cNvSpPr>
            <a:spLocks noGrp="1"/>
          </p:cNvSpPr>
          <p:nvPr>
            <p:ph type="title"/>
          </p:nvPr>
        </p:nvSpPr>
        <p:spPr/>
        <p:txBody>
          <a:bodyPr/>
          <a:lstStyle/>
          <a:p>
            <a:r>
              <a:rPr lang="zh-CN" altLang="en-US" dirty="0"/>
              <a:t>创建索引</a:t>
            </a:r>
          </a:p>
        </p:txBody>
      </p:sp>
    </p:spTree>
    <p:extLst>
      <p:ext uri="{BB962C8B-B14F-4D97-AF65-F5344CB8AC3E}">
        <p14:creationId xmlns:p14="http://schemas.microsoft.com/office/powerpoint/2010/main" val="4161649749"/>
      </p:ext>
    </p:extLst>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p:cNvSpPr>
          <p:nvPr>
            <p:ph idx="1"/>
          </p:nvPr>
        </p:nvSpPr>
        <p:spPr/>
        <p:txBody>
          <a:bodyPr vert="horz" wrap="square" lIns="68580" tIns="34290" rIns="68580" bIns="34290" anchor="t" anchorCtr="0">
            <a:normAutofit/>
          </a:bodyPr>
          <a:lstStyle/>
          <a:p>
            <a:pPr marL="0" indent="0">
              <a:lnSpc>
                <a:spcPct val="120000"/>
              </a:lnSpc>
              <a:spcBef>
                <a:spcPts val="0"/>
              </a:spcBef>
              <a:buNone/>
            </a:pPr>
            <a:r>
              <a:rPr lang="en-US" altLang="zh-CN" sz="1800" b="1" dirty="0">
                <a:solidFill>
                  <a:schemeClr val="hlink"/>
                </a:solidFill>
              </a:rPr>
              <a:t>【</a:t>
            </a:r>
            <a:r>
              <a:rPr lang="zh-CN" altLang="en-US" sz="1800" b="1" dirty="0">
                <a:solidFill>
                  <a:schemeClr val="hlink"/>
                </a:solidFill>
              </a:rPr>
              <a:t>例</a:t>
            </a:r>
            <a:r>
              <a:rPr lang="en-US" altLang="zh-CN" sz="1800" b="1" dirty="0">
                <a:solidFill>
                  <a:schemeClr val="hlink"/>
                </a:solidFill>
              </a:rPr>
              <a:t>】 </a:t>
            </a:r>
            <a:r>
              <a:rPr lang="en-US" altLang="zh-CN" sz="1800" dirty="0">
                <a:solidFill>
                  <a:srgbClr val="000000"/>
                </a:solidFill>
              </a:rPr>
              <a:t>①</a:t>
            </a:r>
            <a:r>
              <a:rPr lang="en-US" altLang="zh-CN" sz="1800" dirty="0">
                <a:solidFill>
                  <a:schemeClr val="hlink"/>
                </a:solidFill>
              </a:rPr>
              <a:t> </a:t>
            </a:r>
            <a:r>
              <a:rPr lang="en-US" altLang="zh-CN" sz="1800" dirty="0"/>
              <a:t> </a:t>
            </a:r>
            <a:r>
              <a:rPr lang="zh-CN" altLang="en-US" sz="1800" dirty="0"/>
              <a:t>为</a:t>
            </a:r>
            <a:r>
              <a:rPr lang="en-US" altLang="zh-CN" sz="1800" dirty="0"/>
              <a:t>Student</a:t>
            </a:r>
            <a:r>
              <a:rPr lang="zh-CN" altLang="en-US" sz="1800" dirty="0"/>
              <a:t>表按学号升序建惟一聚簇索引。</a:t>
            </a:r>
          </a:p>
          <a:p>
            <a:pPr>
              <a:lnSpc>
                <a:spcPct val="120000"/>
              </a:lnSpc>
              <a:spcBef>
                <a:spcPts val="0"/>
              </a:spcBef>
              <a:buNone/>
            </a:pPr>
            <a:r>
              <a:rPr lang="zh-CN" altLang="en-US" sz="1800" dirty="0">
                <a:solidFill>
                  <a:srgbClr val="000000"/>
                </a:solidFill>
              </a:rPr>
              <a:t>           ②</a:t>
            </a:r>
            <a:r>
              <a:rPr lang="zh-CN" altLang="en-US" sz="1800" dirty="0"/>
              <a:t>  为</a:t>
            </a:r>
            <a:r>
              <a:rPr lang="en-US" altLang="zh-CN" sz="1800" dirty="0"/>
              <a:t>SC</a:t>
            </a:r>
            <a:r>
              <a:rPr lang="zh-CN" altLang="en-US" sz="1800" dirty="0"/>
              <a:t>表按学号</a:t>
            </a:r>
            <a:r>
              <a:rPr lang="zh-CN" altLang="en-US" sz="1800" dirty="0">
                <a:solidFill>
                  <a:schemeClr val="folHlink"/>
                </a:solidFill>
              </a:rPr>
              <a:t>升序</a:t>
            </a:r>
            <a:r>
              <a:rPr lang="zh-CN" altLang="en-US" sz="1800" dirty="0"/>
              <a:t>和课程号</a:t>
            </a:r>
            <a:r>
              <a:rPr lang="zh-CN" altLang="en-US" sz="1800" dirty="0">
                <a:solidFill>
                  <a:schemeClr val="folHlink"/>
                </a:solidFill>
              </a:rPr>
              <a:t>降序</a:t>
            </a:r>
            <a:r>
              <a:rPr lang="zh-CN" altLang="en-US" sz="1800" dirty="0"/>
              <a:t>建惟一索引。</a:t>
            </a:r>
          </a:p>
          <a:p>
            <a:pPr>
              <a:lnSpc>
                <a:spcPct val="120000"/>
              </a:lnSpc>
              <a:spcBef>
                <a:spcPts val="0"/>
              </a:spcBef>
              <a:buNone/>
            </a:pPr>
            <a:r>
              <a:rPr lang="zh-CN" altLang="en-US" sz="1800" dirty="0"/>
              <a:t> </a:t>
            </a:r>
            <a:r>
              <a:rPr lang="zh-CN" altLang="en-US" sz="1800" dirty="0">
                <a:solidFill>
                  <a:srgbClr val="000000"/>
                </a:solidFill>
              </a:rPr>
              <a:t>①</a:t>
            </a:r>
            <a:r>
              <a:rPr lang="zh-CN" altLang="en-US" sz="1800" dirty="0"/>
              <a:t> </a:t>
            </a:r>
            <a:r>
              <a:rPr lang="en-US" altLang="zh-CN" sz="1800" dirty="0"/>
              <a:t>CREATE </a:t>
            </a:r>
            <a:r>
              <a:rPr lang="en-US" altLang="zh-CN" sz="1800" dirty="0">
                <a:solidFill>
                  <a:schemeClr val="folHlink"/>
                </a:solidFill>
              </a:rPr>
              <a:t>UNIQUE CLUSTER</a:t>
            </a:r>
            <a:r>
              <a:rPr lang="en-US" altLang="zh-CN" sz="1800" dirty="0"/>
              <a:t> INDEX </a:t>
            </a:r>
            <a:r>
              <a:rPr lang="en-US" altLang="zh-CN" sz="1800" dirty="0">
                <a:solidFill>
                  <a:schemeClr val="hlink"/>
                </a:solidFill>
              </a:rPr>
              <a:t>Stno</a:t>
            </a:r>
            <a:r>
              <a:rPr lang="en-US" altLang="zh-CN" sz="1800" dirty="0"/>
              <a:t>  ON  Student(Sno)</a:t>
            </a:r>
            <a:r>
              <a:rPr lang="zh-CN" altLang="en-US" sz="1800" dirty="0"/>
              <a:t>；</a:t>
            </a:r>
            <a:endParaRPr lang="zh-CN" altLang="en-US" sz="3200" dirty="0"/>
          </a:p>
          <a:p>
            <a:pPr>
              <a:lnSpc>
                <a:spcPct val="120000"/>
              </a:lnSpc>
              <a:spcBef>
                <a:spcPts val="0"/>
              </a:spcBef>
              <a:buNone/>
            </a:pPr>
            <a:r>
              <a:rPr lang="zh-CN" altLang="en-US" sz="1800" dirty="0"/>
              <a:t> </a:t>
            </a:r>
            <a:r>
              <a:rPr lang="zh-CN" altLang="en-US" sz="1800" dirty="0">
                <a:solidFill>
                  <a:srgbClr val="000000"/>
                </a:solidFill>
              </a:rPr>
              <a:t>②</a:t>
            </a:r>
            <a:r>
              <a:rPr lang="zh-CN" altLang="en-US" sz="1800" dirty="0"/>
              <a:t> </a:t>
            </a:r>
            <a:r>
              <a:rPr lang="en-US" altLang="zh-CN" sz="1800" dirty="0"/>
              <a:t>CREATE  UNIQUE  INDEX  </a:t>
            </a:r>
            <a:r>
              <a:rPr lang="en-US" altLang="zh-CN" sz="1800" dirty="0">
                <a:solidFill>
                  <a:schemeClr val="hlink"/>
                </a:solidFill>
              </a:rPr>
              <a:t>Scno </a:t>
            </a:r>
            <a:r>
              <a:rPr lang="en-US" altLang="zh-CN" sz="1800" dirty="0"/>
              <a:t>ON SC(Sno </a:t>
            </a:r>
            <a:r>
              <a:rPr lang="zh-CN" altLang="en-US" sz="1800" dirty="0"/>
              <a:t>，</a:t>
            </a:r>
            <a:r>
              <a:rPr lang="en-US" altLang="zh-CN" sz="1800" dirty="0"/>
              <a:t>Cno DESC)</a:t>
            </a:r>
            <a:r>
              <a:rPr lang="zh-CN" altLang="en-US" sz="1800" dirty="0"/>
              <a:t>；</a:t>
            </a:r>
          </a:p>
          <a:p>
            <a:pPr eaLnBrk="1" hangingPunct="1">
              <a:lnSpc>
                <a:spcPct val="120000"/>
              </a:lnSpc>
              <a:spcBef>
                <a:spcPts val="0"/>
              </a:spcBef>
              <a:buNone/>
            </a:pPr>
            <a:endParaRPr lang="zh-CN" altLang="en-US" sz="800" b="1" dirty="0">
              <a:solidFill>
                <a:schemeClr val="folHlink"/>
              </a:solidFill>
            </a:endParaRPr>
          </a:p>
          <a:p>
            <a:pPr marL="0" indent="0">
              <a:lnSpc>
                <a:spcPct val="120000"/>
              </a:lnSpc>
              <a:spcBef>
                <a:spcPts val="0"/>
              </a:spcBef>
              <a:buNone/>
            </a:pPr>
            <a:endParaRPr lang="en-US" altLang="zh-CN" sz="1800" b="1" dirty="0">
              <a:solidFill>
                <a:schemeClr val="folHlink"/>
              </a:solidFill>
            </a:endParaRPr>
          </a:p>
          <a:p>
            <a:pPr marL="0" indent="0">
              <a:lnSpc>
                <a:spcPct val="120000"/>
              </a:lnSpc>
              <a:spcBef>
                <a:spcPts val="0"/>
              </a:spcBef>
              <a:buNone/>
            </a:pPr>
            <a:r>
              <a:rPr lang="zh-CN" altLang="en-US" sz="1800" b="1" dirty="0">
                <a:solidFill>
                  <a:schemeClr val="folHlink"/>
                </a:solidFill>
              </a:rPr>
              <a:t>删除索引一般格式为：</a:t>
            </a:r>
          </a:p>
          <a:p>
            <a:pPr>
              <a:lnSpc>
                <a:spcPct val="120000"/>
              </a:lnSpc>
              <a:spcBef>
                <a:spcPts val="0"/>
              </a:spcBef>
              <a:buNone/>
            </a:pPr>
            <a:r>
              <a:rPr lang="zh-CN" altLang="en-US" sz="1800" b="1" dirty="0"/>
              <a:t>     </a:t>
            </a:r>
            <a:r>
              <a:rPr lang="en-US" altLang="zh-CN" sz="1800" b="1" dirty="0"/>
              <a:t>DROP INDEX&lt;</a:t>
            </a:r>
            <a:r>
              <a:rPr lang="zh-CN" altLang="en-US" sz="1800" b="1" dirty="0"/>
              <a:t>索引名</a:t>
            </a:r>
            <a:r>
              <a:rPr lang="en-US" altLang="zh-CN" sz="1800" b="1" dirty="0"/>
              <a:t>&gt;</a:t>
            </a:r>
            <a:r>
              <a:rPr lang="zh-CN" altLang="en-US" sz="1800" b="1" dirty="0"/>
              <a:t>；</a:t>
            </a:r>
          </a:p>
          <a:p>
            <a:pPr marL="0" indent="0">
              <a:lnSpc>
                <a:spcPct val="120000"/>
              </a:lnSpc>
              <a:spcBef>
                <a:spcPts val="0"/>
              </a:spcBef>
              <a:buNone/>
            </a:pPr>
            <a:r>
              <a:rPr lang="en-US" altLang="zh-CN" sz="1800" b="1" dirty="0">
                <a:solidFill>
                  <a:schemeClr val="hlink"/>
                </a:solidFill>
              </a:rPr>
              <a:t>【</a:t>
            </a:r>
            <a:r>
              <a:rPr lang="zh-CN" altLang="en-US" sz="1800" b="1" dirty="0">
                <a:solidFill>
                  <a:schemeClr val="hlink"/>
                </a:solidFill>
              </a:rPr>
              <a:t>例</a:t>
            </a:r>
            <a:r>
              <a:rPr lang="en-US" altLang="zh-CN" sz="1800" b="1" dirty="0">
                <a:solidFill>
                  <a:schemeClr val="hlink"/>
                </a:solidFill>
              </a:rPr>
              <a:t>】</a:t>
            </a:r>
            <a:r>
              <a:rPr lang="zh-CN" altLang="en-US" sz="1800" b="1" dirty="0"/>
              <a:t> </a:t>
            </a:r>
            <a:r>
              <a:rPr lang="en-US" altLang="zh-CN" sz="1800" dirty="0"/>
              <a:t>DROP INDEX </a:t>
            </a:r>
            <a:r>
              <a:rPr lang="en-US" altLang="zh-CN" sz="1800" dirty="0">
                <a:solidFill>
                  <a:schemeClr val="hlink"/>
                </a:solidFill>
              </a:rPr>
              <a:t>Stno</a:t>
            </a:r>
            <a:r>
              <a:rPr lang="en-US" altLang="zh-CN" sz="1800" dirty="0"/>
              <a:t> </a:t>
            </a:r>
            <a:r>
              <a:rPr lang="zh-CN" altLang="en-US" sz="1800" dirty="0"/>
              <a:t>；</a:t>
            </a:r>
          </a:p>
          <a:p>
            <a:pPr marL="0" indent="0">
              <a:lnSpc>
                <a:spcPct val="120000"/>
              </a:lnSpc>
              <a:spcBef>
                <a:spcPts val="0"/>
              </a:spcBef>
              <a:buNone/>
            </a:pPr>
            <a:r>
              <a:rPr lang="zh-CN" altLang="en-US" sz="1800" dirty="0"/>
              <a:t>删除索引时，系统会同时从</a:t>
            </a:r>
            <a:r>
              <a:rPr lang="zh-CN" altLang="en-US" sz="1800" dirty="0">
                <a:solidFill>
                  <a:schemeClr val="hlink"/>
                </a:solidFill>
              </a:rPr>
              <a:t>数据字典</a:t>
            </a:r>
            <a:r>
              <a:rPr lang="zh-CN" altLang="en-US" sz="1800" dirty="0"/>
              <a:t>中删去有关该索引的描述。</a:t>
            </a:r>
          </a:p>
        </p:txBody>
      </p:sp>
      <p:sp>
        <p:nvSpPr>
          <p:cNvPr id="3" name="标题 2">
            <a:extLst>
              <a:ext uri="{FF2B5EF4-FFF2-40B4-BE49-F238E27FC236}">
                <a16:creationId xmlns:a16="http://schemas.microsoft.com/office/drawing/2014/main" id="{B2C494B0-A02F-1A45-0201-C5DC9CA27953}"/>
              </a:ext>
            </a:extLst>
          </p:cNvPr>
          <p:cNvSpPr>
            <a:spLocks noGrp="1"/>
          </p:cNvSpPr>
          <p:nvPr>
            <p:ph type="title"/>
          </p:nvPr>
        </p:nvSpPr>
        <p:spPr/>
        <p:txBody>
          <a:bodyPr/>
          <a:lstStyle/>
          <a:p>
            <a:r>
              <a:rPr lang="zh-CN" altLang="en-US" dirty="0"/>
              <a:t>创建索引例子和索引删除</a:t>
            </a:r>
          </a:p>
        </p:txBody>
      </p:sp>
    </p:spTree>
    <p:extLst>
      <p:ext uri="{BB962C8B-B14F-4D97-AF65-F5344CB8AC3E}">
        <p14:creationId xmlns:p14="http://schemas.microsoft.com/office/powerpoint/2010/main" val="3946939966"/>
      </p:ext>
    </p:extLst>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8154FE-3ABD-2B46-8B32-A790C08FC135}"/>
              </a:ext>
            </a:extLst>
          </p:cNvPr>
          <p:cNvSpPr>
            <a:spLocks noGrp="1"/>
          </p:cNvSpPr>
          <p:nvPr>
            <p:ph type="title"/>
          </p:nvPr>
        </p:nvSpPr>
        <p:spPr/>
        <p:txBody>
          <a:bodyPr/>
          <a:lstStyle/>
          <a:p>
            <a:r>
              <a:rPr kumimoji="1" lang="zh-CN" altLang="en-US" dirty="0"/>
              <a:t>更多数据库对象</a:t>
            </a:r>
          </a:p>
        </p:txBody>
      </p:sp>
      <p:sp>
        <p:nvSpPr>
          <p:cNvPr id="3" name="内容占位符 2">
            <a:extLst>
              <a:ext uri="{FF2B5EF4-FFF2-40B4-BE49-F238E27FC236}">
                <a16:creationId xmlns:a16="http://schemas.microsoft.com/office/drawing/2014/main" id="{A3B4BB9B-DABE-85CD-2F32-8C07621FB174}"/>
              </a:ext>
            </a:extLst>
          </p:cNvPr>
          <p:cNvSpPr>
            <a:spLocks noGrp="1"/>
          </p:cNvSpPr>
          <p:nvPr>
            <p:ph idx="1"/>
          </p:nvPr>
        </p:nvSpPr>
        <p:spPr/>
        <p:txBody>
          <a:bodyPr>
            <a:normAutofit lnSpcReduction="10000"/>
          </a:bodyPr>
          <a:lstStyle/>
          <a:p>
            <a:r>
              <a:rPr kumimoji="1" lang="zh-CN" altLang="en-US" dirty="0"/>
              <a:t>存储过程</a:t>
            </a:r>
            <a:r>
              <a:rPr kumimoji="1" lang="en-US" altLang="zh-CN" dirty="0"/>
              <a:t>/</a:t>
            </a:r>
            <a:r>
              <a:rPr kumimoji="1" lang="zh-CN" altLang="en-US" dirty="0"/>
              <a:t>函数（第</a:t>
            </a:r>
            <a:r>
              <a:rPr kumimoji="1" lang="en-US" altLang="zh-CN" dirty="0"/>
              <a:t>6</a:t>
            </a:r>
            <a:r>
              <a:rPr kumimoji="1" lang="zh-CN" altLang="en-US" dirty="0"/>
              <a:t>章）</a:t>
            </a:r>
            <a:endParaRPr kumimoji="1" lang="en-US" altLang="zh-CN" dirty="0"/>
          </a:p>
          <a:p>
            <a:endParaRPr kumimoji="1" lang="en-US" altLang="zh-CN" dirty="0"/>
          </a:p>
          <a:p>
            <a:r>
              <a:rPr kumimoji="1" lang="zh-CN" altLang="en-US" dirty="0"/>
              <a:t>触发器（第</a:t>
            </a:r>
            <a:r>
              <a:rPr kumimoji="1" lang="en-US" altLang="zh-CN" dirty="0"/>
              <a:t>6</a:t>
            </a:r>
            <a:r>
              <a:rPr kumimoji="1" lang="zh-CN" altLang="en-US" dirty="0"/>
              <a:t>章）</a:t>
            </a:r>
            <a:endParaRPr kumimoji="1" lang="en-US" altLang="zh-CN" dirty="0"/>
          </a:p>
          <a:p>
            <a:endParaRPr kumimoji="1" lang="en-US" altLang="zh-CN" dirty="0"/>
          </a:p>
          <a:p>
            <a:r>
              <a:rPr kumimoji="1" lang="en-US" altLang="zh-CN" dirty="0"/>
              <a:t>UDT</a:t>
            </a:r>
            <a:r>
              <a:rPr kumimoji="1" lang="zh-CN" altLang="en-US" dirty="0"/>
              <a:t>（用户自定义类型，</a:t>
            </a:r>
            <a:r>
              <a:rPr kumimoji="1" lang="en-US" altLang="zh-CN" dirty="0"/>
              <a:t>User</a:t>
            </a:r>
            <a:r>
              <a:rPr kumimoji="1" lang="zh-CN" altLang="en-US" dirty="0"/>
              <a:t> </a:t>
            </a:r>
            <a:r>
              <a:rPr kumimoji="1" lang="en-US" altLang="zh-CN" dirty="0"/>
              <a:t>Defined</a:t>
            </a:r>
            <a:r>
              <a:rPr kumimoji="1" lang="zh-CN" altLang="en-US" dirty="0"/>
              <a:t> </a:t>
            </a:r>
            <a:r>
              <a:rPr kumimoji="1" lang="en-US" altLang="zh-CN" dirty="0"/>
              <a:t>Type</a:t>
            </a:r>
            <a:r>
              <a:rPr kumimoji="1" lang="zh-CN" altLang="en-US" dirty="0"/>
              <a:t>）</a:t>
            </a:r>
            <a:endParaRPr kumimoji="1" lang="en-US" altLang="zh-CN" dirty="0"/>
          </a:p>
          <a:p>
            <a:endParaRPr kumimoji="1" lang="en-US" altLang="zh-CN" dirty="0"/>
          </a:p>
          <a:p>
            <a:r>
              <a:rPr kumimoji="1" lang="zh-CN" altLang="en-US" dirty="0"/>
              <a:t>不同的</a:t>
            </a:r>
            <a:r>
              <a:rPr kumimoji="1" lang="en-US" altLang="zh-CN" dirty="0"/>
              <a:t>DBMS</a:t>
            </a:r>
            <a:r>
              <a:rPr kumimoji="1" lang="zh-CN" altLang="en-US" dirty="0"/>
              <a:t>还会定义很多自己的数据库对象类别</a:t>
            </a:r>
          </a:p>
        </p:txBody>
      </p:sp>
    </p:spTree>
    <p:extLst>
      <p:ext uri="{BB962C8B-B14F-4D97-AF65-F5344CB8AC3E}">
        <p14:creationId xmlns:p14="http://schemas.microsoft.com/office/powerpoint/2010/main" val="18419012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53683-8AF4-AE9C-AE46-B28EB6B92A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3E0D8C8-145F-52EE-BBB5-96A24E780ACC}"/>
              </a:ext>
            </a:extLst>
          </p:cNvPr>
          <p:cNvSpPr txBox="1"/>
          <p:nvPr/>
        </p:nvSpPr>
        <p:spPr>
          <a:xfrm>
            <a:off x="1006545" y="2781596"/>
            <a:ext cx="7458075" cy="642035"/>
          </a:xfrm>
          <a:prstGeom prst="rect">
            <a:avLst/>
          </a:prstGeom>
          <a:noFill/>
          <a:ln/>
        </p:spPr>
        <p:txBody>
          <a:bodyPr wrap="square" lIns="0" tIns="0" rIns="0" bIns="0" rtlCol="0" anchor="t">
            <a:spAutoFit/>
          </a:bodyPr>
          <a:lstStyle/>
          <a:p>
            <a:pPr>
              <a:lnSpc>
                <a:spcPct val="96000"/>
              </a:lnSpc>
            </a:pPr>
            <a:r>
              <a:rPr lang="en-US" altLang="zh-CN" sz="4346" b="1" dirty="0">
                <a:solidFill>
                  <a:srgbClr val="414141"/>
                </a:solidFill>
                <a:latin typeface="Microsoft YaHei" panose="020B0503020204020204" pitchFamily="34" charset="-122"/>
                <a:ea typeface="Microsoft YaHei" panose="020B0503020204020204" pitchFamily="34" charset="-122"/>
                <a:cs typeface="SourceHanSansSC-Regular"/>
              </a:rPr>
              <a:t>DCL</a:t>
            </a: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语言</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B7D765C3-D4EC-EA8D-CC46-8D166F9ECEB1}"/>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C5D0A628-930B-B93E-5335-E180CA4C6018}"/>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D24EFFEC-BF65-3885-9C49-C8205319E2B2}"/>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F398F132-E8AF-6BE2-F920-414D3042BBA9}"/>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ED18ACF1-6246-0F0D-B6F8-C28C44C19F56}"/>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30A88293-287D-1EC9-3E44-85BD40DF31C8}"/>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D81DBB94-2C22-4993-E067-70918A542E8B}"/>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091A1F25-CE81-81AF-06C8-DA965A99A421}"/>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047A78C5-01E5-1947-097D-34B6781B53CF}"/>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EDF9D238-C855-34DA-796A-B9DBAAA8129E}"/>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68EE96B8-CAEC-A7DA-C477-04EB59777290}"/>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0338B281-E992-D6AC-9E1A-4580F4267DC5}"/>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3C154CA1-FBD4-474D-267E-542651EC84C4}"/>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8A4BB3BB-59D2-89AF-1FCB-B5E70A73454C}"/>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B28650D5-58E0-08EA-BCF2-DAF2AFCD3536}"/>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5</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3845199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9CAE04A-FF3A-3140-9803-DC754E93064F}"/>
              </a:ext>
            </a:extLst>
          </p:cNvPr>
          <p:cNvSpPr>
            <a:spLocks noGrp="1"/>
          </p:cNvSpPr>
          <p:nvPr>
            <p:ph type="title"/>
          </p:nvPr>
        </p:nvSpPr>
        <p:spPr/>
        <p:txBody>
          <a:bodyPr/>
          <a:lstStyle/>
          <a:p>
            <a:r>
              <a:rPr lang="en-US" altLang="zh-CN" dirty="0"/>
              <a:t>DCL</a:t>
            </a:r>
            <a:r>
              <a:rPr lang="zh-CN" altLang="en-US" dirty="0"/>
              <a:t>的主要语句</a:t>
            </a:r>
          </a:p>
        </p:txBody>
      </p:sp>
      <p:sp>
        <p:nvSpPr>
          <p:cNvPr id="5" name="内容占位符 4">
            <a:extLst>
              <a:ext uri="{FF2B5EF4-FFF2-40B4-BE49-F238E27FC236}">
                <a16:creationId xmlns:a16="http://schemas.microsoft.com/office/drawing/2014/main" id="{47262A21-0A08-93B9-60ED-48C978F3C4E4}"/>
              </a:ext>
            </a:extLst>
          </p:cNvPr>
          <p:cNvSpPr>
            <a:spLocks noGrp="1"/>
          </p:cNvSpPr>
          <p:nvPr>
            <p:ph idx="1"/>
          </p:nvPr>
        </p:nvSpPr>
        <p:spPr>
          <a:xfrm>
            <a:off x="628650" y="1712563"/>
            <a:ext cx="7886700" cy="3041756"/>
          </a:xfrm>
        </p:spPr>
        <p:txBody>
          <a:bodyPr/>
          <a:lstStyle/>
          <a:p>
            <a:r>
              <a:rPr lang="zh-CN" altLang="en-US" dirty="0"/>
              <a:t>事务相关（</a:t>
            </a:r>
            <a:r>
              <a:rPr lang="zh-CN" altLang="en-US" dirty="0">
                <a:solidFill>
                  <a:srgbClr val="0070C0"/>
                </a:solidFill>
              </a:rPr>
              <a:t>第</a:t>
            </a:r>
            <a:r>
              <a:rPr lang="en-US" altLang="zh-CN" dirty="0">
                <a:solidFill>
                  <a:srgbClr val="0070C0"/>
                </a:solidFill>
              </a:rPr>
              <a:t>10</a:t>
            </a:r>
            <a:r>
              <a:rPr lang="zh-CN" altLang="en-US" dirty="0">
                <a:solidFill>
                  <a:srgbClr val="0070C0"/>
                </a:solidFill>
              </a:rPr>
              <a:t>章</a:t>
            </a:r>
            <a:r>
              <a:rPr lang="zh-CN" altLang="en-US" dirty="0"/>
              <a:t>）</a:t>
            </a:r>
            <a:endParaRPr lang="en-US" altLang="zh-CN" dirty="0"/>
          </a:p>
          <a:p>
            <a:endParaRPr lang="en-US" altLang="zh-CN" dirty="0"/>
          </a:p>
          <a:p>
            <a:r>
              <a:rPr lang="zh-CN" altLang="en-US" dirty="0"/>
              <a:t>安全相关</a:t>
            </a:r>
            <a:endParaRPr lang="en-US" altLang="zh-CN" dirty="0"/>
          </a:p>
        </p:txBody>
      </p:sp>
    </p:spTree>
    <p:extLst>
      <p:ext uri="{BB962C8B-B14F-4D97-AF65-F5344CB8AC3E}">
        <p14:creationId xmlns:p14="http://schemas.microsoft.com/office/powerpoint/2010/main" val="323267383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4">
            <a:extLst>
              <a:ext uri="{FF2B5EF4-FFF2-40B4-BE49-F238E27FC236}">
                <a16:creationId xmlns:a16="http://schemas.microsoft.com/office/drawing/2014/main" id="{783A4AB3-29EA-928C-0349-CA5B6A741C69}"/>
              </a:ext>
            </a:extLst>
          </p:cNvPr>
          <p:cNvGraphicFramePr>
            <a:graphicFrameLocks noChangeAspect="1"/>
          </p:cNvGraphicFramePr>
          <p:nvPr>
            <p:extLst>
              <p:ext uri="{D42A27DB-BD31-4B8C-83A1-F6EECF244321}">
                <p14:modId xmlns:p14="http://schemas.microsoft.com/office/powerpoint/2010/main" val="1993706294"/>
              </p:ext>
            </p:extLst>
          </p:nvPr>
        </p:nvGraphicFramePr>
        <p:xfrm>
          <a:off x="356393" y="999228"/>
          <a:ext cx="8431213" cy="3951287"/>
        </p:xfrm>
        <a:graphic>
          <a:graphicData uri="http://schemas.openxmlformats.org/presentationml/2006/ole">
            <mc:AlternateContent xmlns:mc="http://schemas.openxmlformats.org/markup-compatibility/2006">
              <mc:Choice xmlns:v="urn:schemas-microsoft-com:vml" Requires="v">
                <p:oleObj name="图片" r:id="rId2" imgW="4635500" imgH="2171700" progId="Word.Picture.8">
                  <p:embed/>
                </p:oleObj>
              </mc:Choice>
              <mc:Fallback>
                <p:oleObj name="图片" r:id="rId2" imgW="4635500" imgH="2171700" progId="Word.Picture.8">
                  <p:embed/>
                  <p:pic>
                    <p:nvPicPr>
                      <p:cNvPr id="36866" name="Object 4"/>
                      <p:cNvPicPr/>
                      <p:nvPr/>
                    </p:nvPicPr>
                    <p:blipFill>
                      <a:blip r:embed="rId3"/>
                      <a:stretch>
                        <a:fillRect/>
                      </a:stretch>
                    </p:blipFill>
                    <p:spPr>
                      <a:xfrm>
                        <a:off x="356393" y="999228"/>
                        <a:ext cx="8431213" cy="3951287"/>
                      </a:xfrm>
                      <a:prstGeom prst="rect">
                        <a:avLst/>
                      </a:prstGeom>
                      <a:noFill/>
                      <a:ln w="38100">
                        <a:noFill/>
                        <a:miter/>
                      </a:ln>
                    </p:spPr>
                  </p:pic>
                </p:oleObj>
              </mc:Fallback>
            </mc:AlternateContent>
          </a:graphicData>
        </a:graphic>
      </p:graphicFrame>
      <p:sp>
        <p:nvSpPr>
          <p:cNvPr id="2" name="标题 1">
            <a:extLst>
              <a:ext uri="{FF2B5EF4-FFF2-40B4-BE49-F238E27FC236}">
                <a16:creationId xmlns:a16="http://schemas.microsoft.com/office/drawing/2014/main" id="{EFBD8D7C-226A-B0B7-F61B-88BB17E7F7E1}"/>
              </a:ext>
            </a:extLst>
          </p:cNvPr>
          <p:cNvSpPr>
            <a:spLocks noGrp="1"/>
          </p:cNvSpPr>
          <p:nvPr>
            <p:ph type="title"/>
          </p:nvPr>
        </p:nvSpPr>
        <p:spPr/>
        <p:txBody>
          <a:bodyPr/>
          <a:lstStyle/>
          <a:p>
            <a:r>
              <a:rPr kumimoji="1" lang="en-US" altLang="zh-CN" dirty="0"/>
              <a:t>SQL</a:t>
            </a:r>
            <a:r>
              <a:rPr kumimoji="1" lang="zh-CN" altLang="en-US" dirty="0"/>
              <a:t>视角中的数据库安全</a:t>
            </a:r>
          </a:p>
        </p:txBody>
      </p:sp>
    </p:spTree>
    <p:extLst>
      <p:ext uri="{BB962C8B-B14F-4D97-AF65-F5344CB8AC3E}">
        <p14:creationId xmlns:p14="http://schemas.microsoft.com/office/powerpoint/2010/main" val="18603486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AutoShape 5"/>
          <p:cNvSpPr/>
          <p:nvPr/>
        </p:nvSpPr>
        <p:spPr>
          <a:xfrm>
            <a:off x="5691187" y="2625328"/>
            <a:ext cx="1476529" cy="384572"/>
          </a:xfrm>
          <a:prstGeom prst="wedgeRoundRectCallout">
            <a:avLst>
              <a:gd name="adj1" fmla="val -181492"/>
              <a:gd name="adj2" fmla="val 78223"/>
              <a:gd name="adj3" fmla="val 16667"/>
            </a:avLst>
          </a:prstGeom>
          <a:solidFill>
            <a:srgbClr val="FFF1B5"/>
          </a:solidFill>
          <a:ln w="9525" cap="flat" cmpd="sng">
            <a:solidFill>
              <a:schemeClr val="tx1"/>
            </a:solidFill>
            <a:prstDash val="solid"/>
            <a:miter/>
            <a:headEnd type="none" w="med" len="med"/>
            <a:tailEnd type="none" w="med" len="med"/>
          </a:ln>
        </p:spPr>
        <p:txBody>
          <a:bodyPr anchor="ctr" anchorCtr="0"/>
          <a:lstStyle/>
          <a:p>
            <a:pPr algn="ctr"/>
            <a:r>
              <a:rPr lang="zh-CN" altLang="zh-CN" sz="1350" dirty="0">
                <a:solidFill>
                  <a:schemeClr val="hlink"/>
                </a:solidFill>
                <a:latin typeface="Microsoft YaHei" panose="020B0503020204020204" pitchFamily="34" charset="-122"/>
                <a:ea typeface="Microsoft YaHei" panose="020B0503020204020204" pitchFamily="34" charset="-122"/>
              </a:rPr>
              <a:t>可将此权限转授</a:t>
            </a:r>
          </a:p>
        </p:txBody>
      </p:sp>
      <p:sp>
        <p:nvSpPr>
          <p:cNvPr id="2" name="Rectangle 3"/>
          <p:cNvSpPr>
            <a:spLocks noGrp="1"/>
          </p:cNvSpPr>
          <p:nvPr>
            <p:custDataLst>
              <p:tags r:id="rId1"/>
            </p:custDataLst>
          </p:nvPr>
        </p:nvSpPr>
        <p:spPr>
          <a:xfrm>
            <a:off x="620915" y="1253549"/>
            <a:ext cx="7795497" cy="3393642"/>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rgbClr val="008080"/>
              </a:buClr>
              <a:buSzPct val="7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eaLnBrk="1" hangingPunct="1">
              <a:lnSpc>
                <a:spcPct val="120000"/>
              </a:lnSpc>
              <a:buSzTx/>
              <a:buNone/>
            </a:pPr>
            <a:r>
              <a:rPr lang="zh-CN" altLang="en-US" sz="1800" dirty="0">
                <a:latin typeface="Microsoft YaHei" panose="020B0503020204020204" pitchFamily="34" charset="-122"/>
                <a:ea typeface="Microsoft YaHei" panose="020B0503020204020204" pitchFamily="34" charset="-122"/>
              </a:rPr>
              <a:t>GRANT语句向用户</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角色授予权限或者向用户</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角色授予角色。</a:t>
            </a:r>
          </a:p>
          <a:p>
            <a:pPr marL="0" indent="0" eaLnBrk="1" hangingPunct="1">
              <a:lnSpc>
                <a:spcPct val="120000"/>
              </a:lnSpc>
              <a:spcBef>
                <a:spcPct val="0"/>
              </a:spcBef>
              <a:buSzTx/>
              <a:buNone/>
            </a:pPr>
            <a:r>
              <a:rPr lang="zh-CN" altLang="en-US" sz="1800" dirty="0">
                <a:latin typeface="Microsoft YaHei" panose="020B0503020204020204" pitchFamily="34" charset="-122"/>
                <a:ea typeface="Microsoft YaHei" panose="020B0503020204020204" pitchFamily="34" charset="-122"/>
              </a:rPr>
              <a:t>授予权限的格式为：</a:t>
            </a:r>
          </a:p>
          <a:p>
            <a:pPr marL="0" indent="0" eaLnBrk="1" hangingPunct="1">
              <a:lnSpc>
                <a:spcPct val="120000"/>
              </a:lnSpc>
              <a:spcBef>
                <a:spcPct val="0"/>
              </a:spcBef>
              <a:buSzTx/>
              <a:buNone/>
            </a:pPr>
            <a:r>
              <a:rPr lang="zh-CN" altLang="en-US" sz="1800" dirty="0">
                <a:latin typeface="Microsoft YaHei" panose="020B0503020204020204" pitchFamily="34" charset="-122"/>
                <a:ea typeface="Microsoft YaHei" panose="020B0503020204020204" pitchFamily="34" charset="-122"/>
              </a:rPr>
              <a:t>       GRANT {&lt;权限&gt;[，&lt;权限&gt;]…|ALL}</a:t>
            </a:r>
          </a:p>
          <a:p>
            <a:pPr marL="0" indent="0" eaLnBrk="1" hangingPunct="1">
              <a:lnSpc>
                <a:spcPct val="120000"/>
              </a:lnSpc>
              <a:spcBef>
                <a:spcPct val="0"/>
              </a:spcBef>
              <a:buSzTx/>
              <a:buNone/>
            </a:pPr>
            <a:r>
              <a:rPr lang="zh-CN" altLang="en-US" sz="1800" dirty="0">
                <a:latin typeface="Microsoft YaHei" panose="020B0503020204020204" pitchFamily="34" charset="-122"/>
                <a:ea typeface="Microsoft YaHei" panose="020B0503020204020204" pitchFamily="34" charset="-122"/>
              </a:rPr>
              <a:t>       ON&lt;对象类型&gt;&lt;对象名&gt;</a:t>
            </a:r>
          </a:p>
          <a:p>
            <a:pPr marL="0" indent="0" eaLnBrk="1" hangingPunct="1">
              <a:lnSpc>
                <a:spcPct val="120000"/>
              </a:lnSpc>
              <a:spcBef>
                <a:spcPct val="0"/>
              </a:spcBef>
              <a:buSzTx/>
              <a:buNone/>
            </a:pPr>
            <a:r>
              <a:rPr lang="zh-CN" altLang="en-US" sz="1800" dirty="0">
                <a:latin typeface="Microsoft YaHei" panose="020B0503020204020204" pitchFamily="34" charset="-122"/>
                <a:ea typeface="Microsoft YaHei" panose="020B0503020204020204" pitchFamily="34" charset="-122"/>
              </a:rPr>
              <a:t>       TO {&lt;用户&gt;[，&lt;用户&gt;]...|PUBLIC}</a:t>
            </a:r>
          </a:p>
          <a:p>
            <a:pPr marL="0" indent="0" eaLnBrk="1" hangingPunct="1">
              <a:lnSpc>
                <a:spcPct val="120000"/>
              </a:lnSpc>
              <a:spcBef>
                <a:spcPct val="0"/>
              </a:spcBef>
              <a:buSzTx/>
              <a:buNone/>
            </a:pPr>
            <a:r>
              <a:rPr lang="zh-CN" altLang="en-US" sz="1800" dirty="0">
                <a:latin typeface="Microsoft YaHei" panose="020B0503020204020204" pitchFamily="34" charset="-122"/>
                <a:ea typeface="Microsoft YaHei" panose="020B0503020204020204" pitchFamily="34" charset="-122"/>
              </a:rPr>
              <a:t>       </a:t>
            </a:r>
            <a:r>
              <a:rPr lang="zh-CN" altLang="en-US" sz="1800" dirty="0">
                <a:solidFill>
                  <a:schemeClr val="folHlink"/>
                </a:solidFill>
                <a:latin typeface="Microsoft YaHei" panose="020B0503020204020204" pitchFamily="34" charset="-122"/>
                <a:ea typeface="Microsoft YaHei" panose="020B0503020204020204" pitchFamily="34" charset="-122"/>
              </a:rPr>
              <a:t>[WITH GRANT OPTION]</a:t>
            </a:r>
          </a:p>
          <a:p>
            <a:pPr marL="0" indent="0" eaLnBrk="1" hangingPunct="1">
              <a:lnSpc>
                <a:spcPct val="120000"/>
              </a:lnSpc>
              <a:spcBef>
                <a:spcPct val="0"/>
              </a:spcBef>
              <a:buSzTx/>
              <a:buFont typeface="Wingdings" panose="05000000000000000000" pitchFamily="2" charset="2"/>
              <a:buChar char="§"/>
            </a:pPr>
            <a:r>
              <a:rPr lang="zh-CN" altLang="en-US" sz="1800" b="1" dirty="0">
                <a:solidFill>
                  <a:schemeClr val="hlink"/>
                </a:solidFill>
                <a:latin typeface="Microsoft YaHei" panose="020B0503020204020204" pitchFamily="34" charset="-122"/>
                <a:ea typeface="Microsoft YaHei" panose="020B0503020204020204" pitchFamily="34" charset="-122"/>
              </a:rPr>
              <a:t> 语义为：</a:t>
            </a:r>
            <a:r>
              <a:rPr lang="zh-CN" altLang="en-US" sz="1800" dirty="0">
                <a:latin typeface="Microsoft YaHei" panose="020B0503020204020204" pitchFamily="34" charset="-122"/>
                <a:ea typeface="Microsoft YaHei" panose="020B0503020204020204" pitchFamily="34" charset="-122"/>
              </a:rPr>
              <a:t>将对指定操作对象的指定操作权限授予指定的用户。</a:t>
            </a:r>
          </a:p>
          <a:p>
            <a:pPr marL="0" indent="0" eaLnBrk="1" hangingPunct="1">
              <a:lnSpc>
                <a:spcPct val="120000"/>
              </a:lnSpc>
              <a:spcBef>
                <a:spcPct val="0"/>
              </a:spcBef>
              <a:buSzTx/>
              <a:buFont typeface="Wingdings" panose="05000000000000000000" pitchFamily="2" charset="2"/>
              <a:buChar char="§"/>
            </a:pPr>
            <a:r>
              <a:rPr lang="zh-CN" altLang="en-US" sz="1800" dirty="0">
                <a:latin typeface="Microsoft YaHei" panose="020B0503020204020204" pitchFamily="34" charset="-122"/>
                <a:ea typeface="Microsoft YaHei" panose="020B0503020204020204" pitchFamily="34" charset="-122"/>
              </a:rPr>
              <a:t> ALL: 所有权限</a:t>
            </a:r>
          </a:p>
          <a:p>
            <a:pPr marL="0" indent="0" eaLnBrk="1" hangingPunct="1">
              <a:lnSpc>
                <a:spcPct val="120000"/>
              </a:lnSpc>
              <a:spcBef>
                <a:spcPct val="0"/>
              </a:spcBef>
              <a:buSzTx/>
              <a:buFont typeface="Wingdings" panose="05000000000000000000" pitchFamily="2" charset="2"/>
              <a:buChar char="§"/>
            </a:pPr>
            <a:r>
              <a:rPr lang="zh-CN" altLang="en-US" sz="1800" dirty="0">
                <a:latin typeface="Microsoft YaHei" panose="020B0503020204020204" pitchFamily="34" charset="-122"/>
                <a:ea typeface="Microsoft YaHei" panose="020B0503020204020204" pitchFamily="34" charset="-122"/>
              </a:rPr>
              <a:t> PUBLIC: 公共用户</a:t>
            </a:r>
          </a:p>
          <a:p>
            <a:pPr marL="0" indent="0" eaLnBrk="1" hangingPunct="1">
              <a:lnSpc>
                <a:spcPct val="120000"/>
              </a:lnSpc>
              <a:spcBef>
                <a:spcPct val="0"/>
              </a:spcBef>
              <a:buSzTx/>
              <a:buFont typeface="Wingdings" panose="05000000000000000000" pitchFamily="2" charset="2"/>
              <a:buChar char="§"/>
            </a:pPr>
            <a:r>
              <a:rPr lang="zh-CN" altLang="en-US" sz="1800" dirty="0">
                <a:latin typeface="Microsoft YaHei" panose="020B0503020204020204" pitchFamily="34" charset="-122"/>
                <a:ea typeface="Microsoft YaHei" panose="020B0503020204020204" pitchFamily="34" charset="-122"/>
              </a:rPr>
              <a:t> 对不同类型的操作对象有不同的操作权限。</a:t>
            </a:r>
          </a:p>
        </p:txBody>
      </p:sp>
      <p:sp>
        <p:nvSpPr>
          <p:cNvPr id="5" name="标题 4">
            <a:extLst>
              <a:ext uri="{FF2B5EF4-FFF2-40B4-BE49-F238E27FC236}">
                <a16:creationId xmlns:a16="http://schemas.microsoft.com/office/drawing/2014/main" id="{EE9A6C78-7F3C-A625-79D7-2EDCFE64D8E3}"/>
              </a:ext>
            </a:extLst>
          </p:cNvPr>
          <p:cNvSpPr>
            <a:spLocks noGrp="1"/>
          </p:cNvSpPr>
          <p:nvPr>
            <p:ph type="title"/>
          </p:nvPr>
        </p:nvSpPr>
        <p:spPr/>
        <p:txBody>
          <a:bodyPr/>
          <a:lstStyle/>
          <a:p>
            <a:r>
              <a:rPr lang="zh-CN" altLang="en-US" dirty="0"/>
              <a:t>授权语句</a:t>
            </a:r>
          </a:p>
        </p:txBody>
      </p:sp>
    </p:spTree>
  </p:cSld>
  <p:clrMapOvr>
    <a:masterClrMapping/>
  </p:clrMapOvr>
  <p:transition spd="slow">
    <p:blinds dir="ver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299731" y="1372689"/>
            <a:ext cx="4867582" cy="3408735"/>
          </a:xfrm>
        </p:spPr>
        <p:txBody>
          <a:bodyPr vert="horz" wrap="square" lIns="68580" tIns="34290" rIns="68580" bIns="34290" numCol="1" rtlCol="0" anchor="t" anchorCtr="0" compatLnSpc="1">
            <a:normAutofit/>
          </a:bodyPr>
          <a:lstStyle/>
          <a:p>
            <a:pPr marL="0" indent="0" defTabSz="685800" fontAlgn="base">
              <a:lnSpc>
                <a:spcPct val="100000"/>
              </a:lnSpc>
              <a:spcBef>
                <a:spcPct val="20000"/>
              </a:spcBef>
              <a:spcAft>
                <a:spcPct val="0"/>
              </a:spcAft>
              <a:buClr>
                <a:schemeClr val="folHlink"/>
              </a:buClr>
              <a:buNone/>
              <a:defRPr/>
            </a:pPr>
            <a:r>
              <a:rPr lang="en-US" altLang="zh-CN" sz="1800" b="1" kern="0" dirty="0">
                <a:solidFill>
                  <a:schemeClr val="hlink"/>
                </a:solidFill>
                <a:cs typeface="楷体" panose="02010609060101010101" pitchFamily="49" charset="-122"/>
              </a:rPr>
              <a:t>【</a:t>
            </a:r>
            <a:r>
              <a:rPr lang="zh-CN" altLang="en-US" sz="1800" b="1" kern="0" dirty="0">
                <a:solidFill>
                  <a:schemeClr val="hlink"/>
                </a:solidFill>
                <a:cs typeface="楷体" panose="02010609060101010101" pitchFamily="49" charset="-122"/>
              </a:rPr>
              <a:t>例</a:t>
            </a:r>
            <a:r>
              <a:rPr lang="en-US" altLang="zh-CN" sz="1800" b="1" kern="0" dirty="0">
                <a:solidFill>
                  <a:schemeClr val="hlink"/>
                </a:solidFill>
                <a:cs typeface="楷体" panose="02010609060101010101" pitchFamily="49" charset="-122"/>
              </a:rPr>
              <a:t>】</a:t>
            </a:r>
            <a:r>
              <a:rPr lang="zh-CN" altLang="en-US" sz="1800" kern="0" dirty="0">
                <a:cs typeface="楷体" panose="02010609060101010101" pitchFamily="49" charset="-122"/>
              </a:rPr>
              <a:t>把查询表SC和修改其学号的权限授给用户U2和U4。</a:t>
            </a:r>
          </a:p>
          <a:p>
            <a:pPr marL="257175" indent="-257175" defTabSz="685800" fontAlgn="base">
              <a:lnSpc>
                <a:spcPct val="100000"/>
              </a:lnSpc>
              <a:spcBef>
                <a:spcPct val="20000"/>
              </a:spcBef>
              <a:spcAft>
                <a:spcPct val="0"/>
              </a:spcAft>
              <a:buClr>
                <a:schemeClr val="folHlink"/>
              </a:buClr>
              <a:buNone/>
              <a:defRPr/>
            </a:pPr>
            <a:r>
              <a:rPr lang="zh-CN" altLang="en-US" sz="2100" kern="0" dirty="0">
                <a:cs typeface="楷体" panose="02010609060101010101" pitchFamily="49" charset="-122"/>
              </a:rPr>
              <a:t>  </a:t>
            </a:r>
            <a:r>
              <a:rPr lang="zh-CN" altLang="en-US" sz="1800" kern="0" dirty="0">
                <a:cs typeface="楷体" panose="02010609060101010101" pitchFamily="49" charset="-122"/>
              </a:rPr>
              <a:t>GRANT SELECT ，</a:t>
            </a:r>
          </a:p>
          <a:p>
            <a:pPr marL="257175" indent="-257175" defTabSz="685800" fontAlgn="base">
              <a:lnSpc>
                <a:spcPct val="100000"/>
              </a:lnSpc>
              <a:spcBef>
                <a:spcPct val="20000"/>
              </a:spcBef>
              <a:spcAft>
                <a:spcPct val="0"/>
              </a:spcAft>
              <a:buClr>
                <a:schemeClr val="folHlink"/>
              </a:buClr>
              <a:buNone/>
              <a:defRPr/>
            </a:pPr>
            <a:r>
              <a:rPr lang="zh-CN" altLang="en-US" sz="1800" kern="0" dirty="0">
                <a:cs typeface="楷体" panose="02010609060101010101" pitchFamily="49" charset="-122"/>
              </a:rPr>
              <a:t>        UPDATE(</a:t>
            </a:r>
            <a:r>
              <a:rPr lang="en-US" altLang="zh-CN" sz="1800" kern="0" dirty="0">
                <a:cs typeface="楷体" panose="02010609060101010101" pitchFamily="49" charset="-122"/>
              </a:rPr>
              <a:t>s</a:t>
            </a:r>
            <a:r>
              <a:rPr lang="zh-CN" altLang="en-US" sz="1800" kern="0" dirty="0">
                <a:cs typeface="楷体" panose="02010609060101010101" pitchFamily="49" charset="-122"/>
              </a:rPr>
              <a:t>no)</a:t>
            </a:r>
          </a:p>
          <a:p>
            <a:pPr marL="257175" indent="-257175" defTabSz="685800" fontAlgn="base">
              <a:lnSpc>
                <a:spcPct val="100000"/>
              </a:lnSpc>
              <a:spcBef>
                <a:spcPct val="20000"/>
              </a:spcBef>
              <a:spcAft>
                <a:spcPct val="0"/>
              </a:spcAft>
              <a:buClr>
                <a:schemeClr val="folHlink"/>
              </a:buClr>
              <a:buNone/>
              <a:defRPr/>
            </a:pPr>
            <a:r>
              <a:rPr lang="zh-CN" altLang="en-US" sz="1800" kern="0" dirty="0">
                <a:cs typeface="楷体" panose="02010609060101010101" pitchFamily="49" charset="-122"/>
              </a:rPr>
              <a:t>  ON TABLE SC </a:t>
            </a:r>
          </a:p>
          <a:p>
            <a:pPr marL="257175" indent="-257175" defTabSz="685800" fontAlgn="base">
              <a:lnSpc>
                <a:spcPct val="100000"/>
              </a:lnSpc>
              <a:spcBef>
                <a:spcPct val="20000"/>
              </a:spcBef>
              <a:spcAft>
                <a:spcPct val="0"/>
              </a:spcAft>
              <a:buClr>
                <a:schemeClr val="folHlink"/>
              </a:buClr>
              <a:buNone/>
              <a:defRPr/>
            </a:pPr>
            <a:r>
              <a:rPr lang="zh-CN" altLang="en-US" sz="1800" kern="0" dirty="0">
                <a:cs typeface="楷体" panose="02010609060101010101" pitchFamily="49" charset="-122"/>
              </a:rPr>
              <a:t>  TO U2，U4；</a:t>
            </a:r>
          </a:p>
        </p:txBody>
      </p:sp>
      <p:sp>
        <p:nvSpPr>
          <p:cNvPr id="15364" name="Rectangle 4"/>
          <p:cNvSpPr>
            <a:spLocks noGrp="1" noChangeArrowheads="1"/>
          </p:cNvSpPr>
          <p:nvPr>
            <p:ph sz="half" idx="4294967295"/>
          </p:nvPr>
        </p:nvSpPr>
        <p:spPr>
          <a:xfrm>
            <a:off x="5657850" y="1199334"/>
            <a:ext cx="3486150" cy="3701231"/>
          </a:xfrm>
        </p:spPr>
        <p:txBody>
          <a:bodyPr vert="horz" wrap="square" lIns="68580" tIns="34290" rIns="68580" bIns="34290" numCol="1" rtlCol="0" anchor="t" anchorCtr="0" compatLnSpc="1">
            <a:normAutofit/>
          </a:bodyPr>
          <a:lstStyle/>
          <a:p>
            <a:pPr marL="0" indent="0" defTabSz="685800" fontAlgn="base">
              <a:lnSpc>
                <a:spcPct val="100000"/>
              </a:lnSpc>
              <a:spcBef>
                <a:spcPct val="20000"/>
              </a:spcBef>
              <a:spcAft>
                <a:spcPct val="0"/>
              </a:spcAft>
              <a:buClr>
                <a:schemeClr val="folHlink"/>
              </a:buClr>
              <a:buNone/>
              <a:defRPr/>
            </a:pPr>
            <a:r>
              <a:rPr lang="en-US" altLang="zh-CN" sz="1800" b="1" kern="0" dirty="0">
                <a:solidFill>
                  <a:schemeClr val="hlink"/>
                </a:solidFill>
                <a:cs typeface="楷体" panose="02010609060101010101" pitchFamily="49" charset="-122"/>
              </a:rPr>
              <a:t>【</a:t>
            </a:r>
            <a:r>
              <a:rPr lang="zh-CN" altLang="en-US" sz="1800" b="1" kern="0" dirty="0">
                <a:solidFill>
                  <a:schemeClr val="hlink"/>
                </a:solidFill>
                <a:cs typeface="楷体" panose="02010609060101010101" pitchFamily="49" charset="-122"/>
              </a:rPr>
              <a:t>例</a:t>
            </a:r>
            <a:r>
              <a:rPr lang="en-US" altLang="zh-CN" sz="1800" b="1" kern="0" dirty="0">
                <a:solidFill>
                  <a:schemeClr val="hlink"/>
                </a:solidFill>
                <a:cs typeface="楷体" panose="02010609060101010101" pitchFamily="49" charset="-122"/>
              </a:rPr>
              <a:t>】</a:t>
            </a:r>
            <a:r>
              <a:rPr lang="zh-CN" altLang="en-US" sz="1800" kern="0" dirty="0">
                <a:cs typeface="楷体" panose="02010609060101010101" pitchFamily="49" charset="-122"/>
              </a:rPr>
              <a:t>把对表SC的INSERT权限授给用户U5，并允许将此权限再授予其他用户。 </a:t>
            </a:r>
          </a:p>
          <a:p>
            <a:pPr marL="257175" indent="-257175" defTabSz="685800" fontAlgn="base">
              <a:lnSpc>
                <a:spcPct val="100000"/>
              </a:lnSpc>
              <a:spcBef>
                <a:spcPct val="20000"/>
              </a:spcBef>
              <a:spcAft>
                <a:spcPct val="0"/>
              </a:spcAft>
              <a:buClr>
                <a:schemeClr val="folHlink"/>
              </a:buClr>
              <a:buNone/>
              <a:defRPr/>
            </a:pPr>
            <a:r>
              <a:rPr lang="zh-CN" altLang="en-US" sz="2100" kern="0" dirty="0">
                <a:cs typeface="楷体" panose="02010609060101010101" pitchFamily="49" charset="-122"/>
              </a:rPr>
              <a:t>  </a:t>
            </a:r>
            <a:r>
              <a:rPr lang="zh-CN" altLang="en-US" sz="1800" kern="0" dirty="0">
                <a:cs typeface="楷体" panose="02010609060101010101" pitchFamily="49" charset="-122"/>
              </a:rPr>
              <a:t>GRANT INSERT </a:t>
            </a:r>
          </a:p>
          <a:p>
            <a:pPr marL="257175" indent="-257175" defTabSz="685800" fontAlgn="base">
              <a:lnSpc>
                <a:spcPct val="100000"/>
              </a:lnSpc>
              <a:spcBef>
                <a:spcPct val="20000"/>
              </a:spcBef>
              <a:spcAft>
                <a:spcPct val="0"/>
              </a:spcAft>
              <a:buClr>
                <a:schemeClr val="folHlink"/>
              </a:buClr>
              <a:buNone/>
              <a:defRPr/>
            </a:pPr>
            <a:r>
              <a:rPr lang="zh-CN" altLang="en-US" sz="1800" kern="0" dirty="0">
                <a:cs typeface="楷体" panose="02010609060101010101" pitchFamily="49" charset="-122"/>
              </a:rPr>
              <a:t>   ON TABLE SC </a:t>
            </a:r>
          </a:p>
          <a:p>
            <a:pPr marL="257175" indent="-257175" defTabSz="685800" fontAlgn="base">
              <a:lnSpc>
                <a:spcPct val="100000"/>
              </a:lnSpc>
              <a:spcBef>
                <a:spcPct val="20000"/>
              </a:spcBef>
              <a:spcAft>
                <a:spcPct val="0"/>
              </a:spcAft>
              <a:buClr>
                <a:schemeClr val="folHlink"/>
              </a:buClr>
              <a:buNone/>
              <a:defRPr/>
            </a:pPr>
            <a:r>
              <a:rPr lang="zh-CN" altLang="en-US" sz="1800" kern="0" dirty="0">
                <a:cs typeface="楷体" panose="02010609060101010101" pitchFamily="49" charset="-122"/>
              </a:rPr>
              <a:t>   TO U5</a:t>
            </a:r>
          </a:p>
          <a:p>
            <a:pPr marL="257175" indent="-257175" defTabSz="685800" fontAlgn="base">
              <a:lnSpc>
                <a:spcPct val="100000"/>
              </a:lnSpc>
              <a:spcBef>
                <a:spcPct val="20000"/>
              </a:spcBef>
              <a:spcAft>
                <a:spcPct val="0"/>
              </a:spcAft>
              <a:buClr>
                <a:schemeClr val="folHlink"/>
              </a:buClr>
              <a:buNone/>
              <a:defRPr/>
            </a:pPr>
            <a:r>
              <a:rPr lang="zh-CN" altLang="en-US" sz="1800" kern="0" dirty="0">
                <a:cs typeface="楷体" panose="02010609060101010101" pitchFamily="49" charset="-122"/>
              </a:rPr>
              <a:t>   WITH GRANT OPTION；</a:t>
            </a:r>
            <a:r>
              <a:rPr lang="zh-CN" altLang="en-US" sz="2100" kern="0" dirty="0">
                <a:cs typeface="楷体" panose="02010609060101010101" pitchFamily="49" charset="-122"/>
              </a:rPr>
              <a:t>    </a:t>
            </a:r>
          </a:p>
          <a:p>
            <a:pPr marL="257175" indent="-257175" defTabSz="685800" fontAlgn="base">
              <a:lnSpc>
                <a:spcPct val="100000"/>
              </a:lnSpc>
              <a:spcBef>
                <a:spcPct val="20000"/>
              </a:spcBef>
              <a:spcAft>
                <a:spcPct val="0"/>
              </a:spcAft>
              <a:buClr>
                <a:schemeClr val="folHlink"/>
              </a:buClr>
              <a:buFont typeface="Wingdings" panose="05000000000000000000" pitchFamily="2" charset="2"/>
              <a:buChar char="§"/>
              <a:defRPr/>
            </a:pPr>
            <a:r>
              <a:rPr lang="zh-CN" altLang="en-US" sz="1800" b="1" kern="0" dirty="0">
                <a:solidFill>
                  <a:schemeClr val="hlink"/>
                </a:solidFill>
                <a:cs typeface="楷体" panose="02010609060101010101" pitchFamily="49" charset="-122"/>
              </a:rPr>
              <a:t>U5还可以将此权限授予U6：</a:t>
            </a:r>
          </a:p>
          <a:p>
            <a:pPr marL="257175" indent="-257175" defTabSz="685800" fontAlgn="base">
              <a:lnSpc>
                <a:spcPct val="100000"/>
              </a:lnSpc>
              <a:spcBef>
                <a:spcPct val="20000"/>
              </a:spcBef>
              <a:spcAft>
                <a:spcPct val="0"/>
              </a:spcAft>
              <a:buClr>
                <a:schemeClr val="folHlink"/>
              </a:buClr>
              <a:buNone/>
              <a:defRPr/>
            </a:pPr>
            <a:r>
              <a:rPr lang="zh-CN" altLang="en-US" sz="1800" b="1" kern="0" dirty="0">
                <a:cs typeface="楷体" panose="02010609060101010101" pitchFamily="49" charset="-122"/>
              </a:rPr>
              <a:t>   </a:t>
            </a:r>
            <a:r>
              <a:rPr lang="zh-CN" altLang="en-US" sz="1800" kern="0" dirty="0">
                <a:cs typeface="楷体" panose="02010609060101010101" pitchFamily="49" charset="-122"/>
              </a:rPr>
              <a:t>GRANT INSERT </a:t>
            </a:r>
          </a:p>
          <a:p>
            <a:pPr marL="257175" indent="-257175" defTabSz="685800" fontAlgn="base">
              <a:lnSpc>
                <a:spcPct val="100000"/>
              </a:lnSpc>
              <a:spcBef>
                <a:spcPct val="20000"/>
              </a:spcBef>
              <a:spcAft>
                <a:spcPct val="0"/>
              </a:spcAft>
              <a:buClr>
                <a:schemeClr val="folHlink"/>
              </a:buClr>
              <a:buNone/>
              <a:defRPr/>
            </a:pPr>
            <a:r>
              <a:rPr lang="zh-CN" altLang="en-US" sz="1800" kern="0" dirty="0">
                <a:cs typeface="楷体" panose="02010609060101010101" pitchFamily="49" charset="-122"/>
              </a:rPr>
              <a:t>   ON TABLE SC </a:t>
            </a:r>
          </a:p>
          <a:p>
            <a:pPr marL="257175" indent="-257175" defTabSz="685800" fontAlgn="base">
              <a:lnSpc>
                <a:spcPct val="100000"/>
              </a:lnSpc>
              <a:spcBef>
                <a:spcPct val="20000"/>
              </a:spcBef>
              <a:spcAft>
                <a:spcPct val="0"/>
              </a:spcAft>
              <a:buClr>
                <a:schemeClr val="folHlink"/>
              </a:buClr>
              <a:buNone/>
              <a:defRPr/>
            </a:pPr>
            <a:r>
              <a:rPr lang="zh-CN" altLang="en-US" sz="1800" kern="0" dirty="0">
                <a:cs typeface="楷体" panose="02010609060101010101" pitchFamily="49" charset="-122"/>
              </a:rPr>
              <a:t>   TO U6；</a:t>
            </a:r>
          </a:p>
        </p:txBody>
      </p:sp>
      <p:sp>
        <p:nvSpPr>
          <p:cNvPr id="32772" name="Text Box 5"/>
          <p:cNvSpPr txBox="1"/>
          <p:nvPr/>
        </p:nvSpPr>
        <p:spPr>
          <a:xfrm>
            <a:off x="888321" y="3000765"/>
            <a:ext cx="1163241" cy="369332"/>
          </a:xfrm>
          <a:prstGeom prst="rect">
            <a:avLst/>
          </a:prstGeom>
          <a:solidFill>
            <a:schemeClr val="bg1"/>
          </a:solidFill>
          <a:ln w="9525">
            <a:noFill/>
          </a:ln>
        </p:spPr>
        <p:txBody>
          <a:bodyPr lIns="0" anchor="t" anchorCtr="0">
            <a:spAutoFit/>
          </a:bodyPr>
          <a:lstStyle/>
          <a:p>
            <a:pPr>
              <a:spcBef>
                <a:spcPct val="50000"/>
              </a:spcBef>
            </a:pPr>
            <a:r>
              <a:rPr lang="zh-CN" altLang="zh-CN" dirty="0">
                <a:solidFill>
                  <a:schemeClr val="folHlink"/>
                </a:solidFill>
                <a:latin typeface="Microsoft YaHei" panose="020B0503020204020204" pitchFamily="34" charset="-122"/>
                <a:ea typeface="Microsoft YaHei" panose="020B0503020204020204" pitchFamily="34" charset="-122"/>
              </a:rPr>
              <a:t>PUBLIC；</a:t>
            </a:r>
          </a:p>
        </p:txBody>
      </p:sp>
      <p:sp>
        <p:nvSpPr>
          <p:cNvPr id="32773" name="Text Box 6"/>
          <p:cNvSpPr txBox="1"/>
          <p:nvPr/>
        </p:nvSpPr>
        <p:spPr>
          <a:xfrm>
            <a:off x="597056" y="1694597"/>
            <a:ext cx="1026319" cy="323165"/>
          </a:xfrm>
          <a:prstGeom prst="rect">
            <a:avLst/>
          </a:prstGeom>
          <a:solidFill>
            <a:schemeClr val="bg1"/>
          </a:solidFill>
          <a:ln w="9525">
            <a:noFill/>
          </a:ln>
        </p:spPr>
        <p:txBody>
          <a:bodyPr lIns="0" tIns="0" anchor="t" anchorCtr="0">
            <a:spAutoFit/>
          </a:bodyPr>
          <a:lstStyle/>
          <a:p>
            <a:pPr>
              <a:spcBef>
                <a:spcPct val="50000"/>
              </a:spcBef>
            </a:pPr>
            <a:r>
              <a:rPr lang="zh-CN" altLang="zh-CN" dirty="0">
                <a:solidFill>
                  <a:schemeClr val="folHlink"/>
                </a:solidFill>
                <a:latin typeface="Microsoft YaHei" panose="020B0503020204020204" pitchFamily="34" charset="-122"/>
                <a:ea typeface="Microsoft YaHei" panose="020B0503020204020204" pitchFamily="34" charset="-122"/>
              </a:rPr>
              <a:t>全体。</a:t>
            </a:r>
          </a:p>
        </p:txBody>
      </p:sp>
      <p:sp>
        <p:nvSpPr>
          <p:cNvPr id="32774" name="AutoShape 7"/>
          <p:cNvSpPr/>
          <p:nvPr/>
        </p:nvSpPr>
        <p:spPr>
          <a:xfrm>
            <a:off x="2353270" y="3867024"/>
            <a:ext cx="2628900" cy="914400"/>
          </a:xfrm>
          <a:prstGeom prst="ribbon2">
            <a:avLst>
              <a:gd name="adj1" fmla="val 12500"/>
              <a:gd name="adj2" fmla="val 68722"/>
            </a:avLst>
          </a:prstGeom>
          <a:solidFill>
            <a:srgbClr val="BFFFEE"/>
          </a:solidFill>
          <a:ln w="9525" cap="flat" cmpd="sng">
            <a:solidFill>
              <a:schemeClr val="tx1"/>
            </a:solidFill>
            <a:prstDash val="solid"/>
            <a:round/>
            <a:headEnd type="none" w="med" len="med"/>
            <a:tailEnd type="none" w="med" len="med"/>
          </a:ln>
        </p:spPr>
        <p:txBody>
          <a:bodyPr wrap="none" anchor="ctr" anchorCtr="0"/>
          <a:lstStyle/>
          <a:p>
            <a:pPr algn="ctr"/>
            <a:r>
              <a:rPr lang="zh-CN" altLang="zh-CN" sz="1350" dirty="0">
                <a:solidFill>
                  <a:schemeClr val="tx2"/>
                </a:solidFill>
                <a:latin typeface="Microsoft YaHei" panose="020B0503020204020204" pitchFamily="34" charset="-122"/>
                <a:ea typeface="Microsoft YaHei" panose="020B0503020204020204" pitchFamily="34" charset="-122"/>
              </a:rPr>
              <a:t>U6能不能再</a:t>
            </a:r>
          </a:p>
          <a:p>
            <a:pPr algn="ctr"/>
            <a:r>
              <a:rPr lang="zh-CN" altLang="zh-CN" sz="1350" dirty="0">
                <a:solidFill>
                  <a:schemeClr val="tx2"/>
                </a:solidFill>
                <a:latin typeface="Microsoft YaHei" panose="020B0503020204020204" pitchFamily="34" charset="-122"/>
                <a:ea typeface="Microsoft YaHei" panose="020B0503020204020204" pitchFamily="34" charset="-122"/>
              </a:rPr>
              <a:t>传播此权限?</a:t>
            </a:r>
          </a:p>
        </p:txBody>
      </p:sp>
      <p:sp>
        <p:nvSpPr>
          <p:cNvPr id="3" name="标题 2">
            <a:extLst>
              <a:ext uri="{FF2B5EF4-FFF2-40B4-BE49-F238E27FC236}">
                <a16:creationId xmlns:a16="http://schemas.microsoft.com/office/drawing/2014/main" id="{A4FC8280-CD31-8AA7-42A5-DF32108F1ED5}"/>
              </a:ext>
            </a:extLst>
          </p:cNvPr>
          <p:cNvSpPr>
            <a:spLocks noGrp="1"/>
          </p:cNvSpPr>
          <p:nvPr>
            <p:ph type="title"/>
          </p:nvPr>
        </p:nvSpPr>
        <p:spPr/>
        <p:txBody>
          <a:bodyPr/>
          <a:lstStyle/>
          <a:p>
            <a:r>
              <a:rPr lang="zh-CN" altLang="en-US" dirty="0"/>
              <a:t>授权实例</a:t>
            </a:r>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animBg="1"/>
      <p:bldP spid="32773"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3"/>
          <p:cNvSpPr txBox="1"/>
          <p:nvPr/>
        </p:nvSpPr>
        <p:spPr>
          <a:xfrm>
            <a:off x="453701" y="1303797"/>
            <a:ext cx="6879431" cy="1698927"/>
          </a:xfrm>
          <a:prstGeom prst="rect">
            <a:avLst/>
          </a:prstGeom>
          <a:noFill/>
          <a:ln w="9525">
            <a:noFill/>
          </a:ln>
        </p:spPr>
        <p:txBody>
          <a:bodyPr anchor="t" anchorCtr="0">
            <a:spAutoFit/>
          </a:bodyPr>
          <a:lstStyle/>
          <a:p>
            <a:pPr>
              <a:spcBef>
                <a:spcPct val="20000"/>
              </a:spcBef>
              <a:buClr>
                <a:schemeClr val="folHlink"/>
              </a:buClr>
              <a:buSzPct val="60000"/>
            </a:pPr>
            <a:r>
              <a:rPr lang="zh-CN" altLang="en-US" b="1" dirty="0">
                <a:solidFill>
                  <a:schemeClr val="hlink"/>
                </a:solidFill>
                <a:latin typeface="Microsoft YaHei" panose="020B0503020204020204" pitchFamily="34" charset="-122"/>
                <a:ea typeface="Microsoft YaHei" panose="020B0503020204020204" pitchFamily="34" charset="-122"/>
              </a:rPr>
              <a:t>格式：</a:t>
            </a:r>
            <a:r>
              <a:rPr lang="zh-CN" altLang="en-US" dirty="0">
                <a:latin typeface="Microsoft YaHei" panose="020B0503020204020204" pitchFamily="34" charset="-122"/>
                <a:ea typeface="Microsoft YaHei" panose="020B0503020204020204" pitchFamily="34" charset="-122"/>
              </a:rPr>
              <a:t>REVOKE {&lt;权限&gt;[，&lt;权限&gt;]…|ALL}</a:t>
            </a:r>
          </a:p>
          <a:p>
            <a:pPr>
              <a:spcBef>
                <a:spcPct val="20000"/>
              </a:spcBef>
              <a:buClr>
                <a:schemeClr val="folHlink"/>
              </a:buClr>
            </a:pPr>
            <a:r>
              <a:rPr lang="zh-CN" altLang="en-US" dirty="0">
                <a:latin typeface="Microsoft YaHei" panose="020B0503020204020204" pitchFamily="34" charset="-122"/>
                <a:ea typeface="Microsoft YaHei" panose="020B0503020204020204" pitchFamily="34" charset="-122"/>
              </a:rPr>
              <a:t>           ON&lt;对象类型&gt;&lt;对象名&gt;</a:t>
            </a:r>
          </a:p>
          <a:p>
            <a:pPr>
              <a:spcBef>
                <a:spcPct val="20000"/>
              </a:spcBef>
              <a:buClr>
                <a:schemeClr val="folHlink"/>
              </a:buClr>
            </a:pPr>
            <a:r>
              <a:rPr lang="zh-CN" altLang="en-US" dirty="0">
                <a:latin typeface="Microsoft YaHei" panose="020B0503020204020204" pitchFamily="34" charset="-122"/>
                <a:ea typeface="Microsoft YaHei" panose="020B0503020204020204" pitchFamily="34" charset="-122"/>
              </a:rPr>
              <a:t>           FROM{&lt;用户&gt;[，&lt;用户&gt;]...|PUBLIC}</a:t>
            </a:r>
          </a:p>
          <a:p>
            <a:pPr>
              <a:spcBef>
                <a:spcPct val="20000"/>
              </a:spcBef>
              <a:buClr>
                <a:schemeClr val="folHlink"/>
              </a:buClr>
            </a:pPr>
            <a:r>
              <a:rPr lang="zh-CN" altLang="en-US" dirty="0">
                <a:latin typeface="Microsoft YaHei" panose="020B0503020204020204" pitchFamily="34" charset="-122"/>
                <a:ea typeface="Microsoft YaHei" panose="020B0503020204020204" pitchFamily="34" charset="-122"/>
              </a:rPr>
              <a:t>           [CASCADE|RESTRICT];</a:t>
            </a:r>
          </a:p>
          <a:p>
            <a:pPr>
              <a:spcBef>
                <a:spcPct val="20000"/>
              </a:spcBef>
              <a:buClr>
                <a:schemeClr val="folHlink"/>
              </a:buClr>
              <a:buFont typeface="Wingdings" panose="05000000000000000000" pitchFamily="2" charset="2"/>
              <a:buChar char="§"/>
            </a:pPr>
            <a:r>
              <a:rPr lang="zh-CN" altLang="en-US" dirty="0">
                <a:latin typeface="Microsoft YaHei" panose="020B0503020204020204" pitchFamily="34" charset="-122"/>
                <a:ea typeface="Microsoft YaHei" panose="020B0503020204020204" pitchFamily="34" charset="-122"/>
              </a:rPr>
              <a:t> CASCADE: 级联(但系统只收回</a:t>
            </a:r>
            <a:r>
              <a:rPr lang="zh-CN" altLang="en-US" dirty="0">
                <a:solidFill>
                  <a:schemeClr val="folHlink"/>
                </a:solidFill>
                <a:latin typeface="Microsoft YaHei" panose="020B0503020204020204" pitchFamily="34" charset="-122"/>
                <a:ea typeface="Microsoft YaHei" panose="020B0503020204020204" pitchFamily="34" charset="-122"/>
              </a:rPr>
              <a:t>直接或间接</a:t>
            </a:r>
            <a:r>
              <a:rPr lang="zh-CN" altLang="en-US" dirty="0">
                <a:latin typeface="Microsoft YaHei" panose="020B0503020204020204" pitchFamily="34" charset="-122"/>
                <a:ea typeface="Microsoft YaHei" panose="020B0503020204020204" pitchFamily="34" charset="-122"/>
              </a:rPr>
              <a:t>从某处获得的权限)</a:t>
            </a:r>
          </a:p>
        </p:txBody>
      </p:sp>
      <p:grpSp>
        <p:nvGrpSpPr>
          <p:cNvPr id="34819" name="Group 4"/>
          <p:cNvGrpSpPr/>
          <p:nvPr/>
        </p:nvGrpSpPr>
        <p:grpSpPr>
          <a:xfrm>
            <a:off x="2714619" y="3133956"/>
            <a:ext cx="3730229" cy="1706885"/>
            <a:chOff x="0" y="0"/>
            <a:chExt cx="7832" cy="3585"/>
          </a:xfrm>
        </p:grpSpPr>
        <p:sp>
          <p:nvSpPr>
            <p:cNvPr id="34820" name="Text Box 5"/>
            <p:cNvSpPr txBox="1"/>
            <p:nvPr/>
          </p:nvSpPr>
          <p:spPr>
            <a:xfrm>
              <a:off x="0" y="1545"/>
              <a:ext cx="1080" cy="679"/>
            </a:xfrm>
            <a:prstGeom prst="rect">
              <a:avLst/>
            </a:prstGeom>
            <a:noFill/>
            <a:ln w="9525">
              <a:noFill/>
            </a:ln>
          </p:spPr>
          <p:txBody>
            <a:bodyPr anchor="t" anchorCtr="0">
              <a:spAutoFit/>
            </a:bodyPr>
            <a:lstStyle/>
            <a:p>
              <a:pPr>
                <a:spcBef>
                  <a:spcPct val="50000"/>
                </a:spcBef>
              </a:pPr>
              <a:r>
                <a:rPr lang="zh-CN" altLang="zh-CN" sz="1350" dirty="0">
                  <a:latin typeface="Microsoft YaHei" panose="020B0503020204020204" pitchFamily="34" charset="-122"/>
                  <a:ea typeface="Microsoft YaHei" panose="020B0503020204020204" pitchFamily="34" charset="-122"/>
                </a:rPr>
                <a:t>U</a:t>
              </a:r>
              <a:r>
                <a:rPr lang="zh-CN" altLang="zh-CN" sz="1500" dirty="0">
                  <a:latin typeface="Microsoft YaHei" panose="020B0503020204020204" pitchFamily="34" charset="-122"/>
                  <a:ea typeface="Microsoft YaHei" panose="020B0503020204020204" pitchFamily="34" charset="-122"/>
                </a:rPr>
                <a:t>A</a:t>
              </a:r>
            </a:p>
          </p:txBody>
        </p:sp>
        <p:sp>
          <p:nvSpPr>
            <p:cNvPr id="34821" name="Text Box 6"/>
            <p:cNvSpPr txBox="1"/>
            <p:nvPr/>
          </p:nvSpPr>
          <p:spPr>
            <a:xfrm>
              <a:off x="1831" y="2906"/>
              <a:ext cx="1080" cy="679"/>
            </a:xfrm>
            <a:prstGeom prst="rect">
              <a:avLst/>
            </a:prstGeom>
            <a:noFill/>
            <a:ln w="9525">
              <a:noFill/>
            </a:ln>
          </p:spPr>
          <p:txBody>
            <a:bodyPr anchor="t" anchorCtr="0">
              <a:spAutoFit/>
            </a:bodyPr>
            <a:lstStyle/>
            <a:p>
              <a:pPr>
                <a:spcBef>
                  <a:spcPct val="50000"/>
                </a:spcBef>
              </a:pPr>
              <a:r>
                <a:rPr lang="zh-CN" altLang="zh-CN" sz="1350" dirty="0">
                  <a:latin typeface="Microsoft YaHei" panose="020B0503020204020204" pitchFamily="34" charset="-122"/>
                  <a:ea typeface="Microsoft YaHei" panose="020B0503020204020204" pitchFamily="34" charset="-122"/>
                </a:rPr>
                <a:t>U</a:t>
              </a:r>
              <a:r>
                <a:rPr lang="zh-CN" altLang="zh-CN" sz="1500" dirty="0">
                  <a:latin typeface="Microsoft YaHei" panose="020B0503020204020204" pitchFamily="34" charset="-122"/>
                  <a:ea typeface="Microsoft YaHei" panose="020B0503020204020204" pitchFamily="34" charset="-122"/>
                </a:rPr>
                <a:t>B</a:t>
              </a:r>
            </a:p>
          </p:txBody>
        </p:sp>
        <p:grpSp>
          <p:nvGrpSpPr>
            <p:cNvPr id="34822" name="Group 7"/>
            <p:cNvGrpSpPr/>
            <p:nvPr/>
          </p:nvGrpSpPr>
          <p:grpSpPr>
            <a:xfrm>
              <a:off x="1080" y="1185"/>
              <a:ext cx="2400" cy="918"/>
              <a:chOff x="0" y="0"/>
              <a:chExt cx="960" cy="367"/>
            </a:xfrm>
          </p:grpSpPr>
          <p:grpSp>
            <p:nvGrpSpPr>
              <p:cNvPr id="34823" name="Group 8"/>
              <p:cNvGrpSpPr/>
              <p:nvPr/>
            </p:nvGrpSpPr>
            <p:grpSpPr>
              <a:xfrm>
                <a:off x="0" y="0"/>
                <a:ext cx="480" cy="336"/>
                <a:chOff x="0" y="0"/>
                <a:chExt cx="480" cy="336"/>
              </a:xfrm>
            </p:grpSpPr>
            <p:sp>
              <p:nvSpPr>
                <p:cNvPr id="34824" name="Line 9"/>
                <p:cNvSpPr/>
                <p:nvPr/>
              </p:nvSpPr>
              <p:spPr>
                <a:xfrm>
                  <a:off x="0" y="336"/>
                  <a:ext cx="480" cy="0"/>
                </a:xfrm>
                <a:prstGeom prst="line">
                  <a:avLst/>
                </a:prstGeom>
                <a:ln w="28575" cap="flat" cmpd="sng">
                  <a:solidFill>
                    <a:schemeClr val="tx1"/>
                  </a:solidFill>
                  <a:prstDash val="solid"/>
                  <a:bevel/>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4825" name="Text Box 10"/>
                <p:cNvSpPr txBox="1"/>
                <p:nvPr/>
              </p:nvSpPr>
              <p:spPr>
                <a:xfrm>
                  <a:off x="48" y="0"/>
                  <a:ext cx="336" cy="252"/>
                </a:xfrm>
                <a:prstGeom prst="rect">
                  <a:avLst/>
                </a:prstGeom>
                <a:noFill/>
                <a:ln w="9525">
                  <a:noFill/>
                </a:ln>
              </p:spPr>
              <p:txBody>
                <a:bodyPr anchor="t" anchorCtr="0">
                  <a:spAutoFit/>
                </a:bodyPr>
                <a:lstStyle/>
                <a:p>
                  <a:pPr>
                    <a:spcBef>
                      <a:spcPct val="50000"/>
                    </a:spcBef>
                  </a:pPr>
                  <a:r>
                    <a:rPr lang="zh-CN" altLang="zh-CN" sz="1350" dirty="0">
                      <a:solidFill>
                        <a:schemeClr val="hlink"/>
                      </a:solidFill>
                      <a:latin typeface="Microsoft YaHei" panose="020B0503020204020204" pitchFamily="34" charset="-122"/>
                      <a:ea typeface="Microsoft YaHei" panose="020B0503020204020204" pitchFamily="34" charset="-122"/>
                    </a:rPr>
                    <a:t>改</a:t>
                  </a:r>
                </a:p>
              </p:txBody>
            </p:sp>
          </p:grpSp>
          <p:sp>
            <p:nvSpPr>
              <p:cNvPr id="34826" name="Text Box 11"/>
              <p:cNvSpPr txBox="1"/>
              <p:nvPr/>
            </p:nvSpPr>
            <p:spPr>
              <a:xfrm>
                <a:off x="528" y="96"/>
                <a:ext cx="432" cy="271"/>
              </a:xfrm>
              <a:prstGeom prst="rect">
                <a:avLst/>
              </a:prstGeom>
              <a:noFill/>
              <a:ln w="9525">
                <a:noFill/>
              </a:ln>
            </p:spPr>
            <p:txBody>
              <a:bodyPr anchor="t" anchorCtr="0">
                <a:spAutoFit/>
              </a:bodyPr>
              <a:lstStyle/>
              <a:p>
                <a:pPr>
                  <a:spcBef>
                    <a:spcPct val="50000"/>
                  </a:spcBef>
                </a:pPr>
                <a:r>
                  <a:rPr lang="zh-CN" altLang="zh-CN" sz="1350" dirty="0">
                    <a:latin typeface="Microsoft YaHei" panose="020B0503020204020204" pitchFamily="34" charset="-122"/>
                    <a:ea typeface="Microsoft YaHei" panose="020B0503020204020204" pitchFamily="34" charset="-122"/>
                  </a:rPr>
                  <a:t>U</a:t>
                </a:r>
                <a:r>
                  <a:rPr lang="zh-CN" altLang="zh-CN" sz="1500" dirty="0">
                    <a:latin typeface="Microsoft YaHei" panose="020B0503020204020204" pitchFamily="34" charset="-122"/>
                    <a:ea typeface="Microsoft YaHei" panose="020B0503020204020204" pitchFamily="34" charset="-122"/>
                  </a:rPr>
                  <a:t>1</a:t>
                </a:r>
              </a:p>
            </p:txBody>
          </p:sp>
        </p:grpSp>
        <p:grpSp>
          <p:nvGrpSpPr>
            <p:cNvPr id="34827" name="Group 12"/>
            <p:cNvGrpSpPr/>
            <p:nvPr/>
          </p:nvGrpSpPr>
          <p:grpSpPr>
            <a:xfrm>
              <a:off x="3031" y="2186"/>
              <a:ext cx="1680" cy="1080"/>
              <a:chOff x="0" y="0"/>
              <a:chExt cx="672" cy="432"/>
            </a:xfrm>
          </p:grpSpPr>
          <p:grpSp>
            <p:nvGrpSpPr>
              <p:cNvPr id="34828" name="Group 13"/>
              <p:cNvGrpSpPr/>
              <p:nvPr/>
            </p:nvGrpSpPr>
            <p:grpSpPr>
              <a:xfrm>
                <a:off x="0" y="96"/>
                <a:ext cx="480" cy="336"/>
                <a:chOff x="0" y="0"/>
                <a:chExt cx="480" cy="336"/>
              </a:xfrm>
            </p:grpSpPr>
            <p:sp>
              <p:nvSpPr>
                <p:cNvPr id="34829" name="Line 14"/>
                <p:cNvSpPr/>
                <p:nvPr/>
              </p:nvSpPr>
              <p:spPr>
                <a:xfrm>
                  <a:off x="0" y="336"/>
                  <a:ext cx="480" cy="0"/>
                </a:xfrm>
                <a:prstGeom prst="line">
                  <a:avLst/>
                </a:prstGeom>
                <a:ln w="28575" cap="flat" cmpd="sng">
                  <a:solidFill>
                    <a:schemeClr val="tx1"/>
                  </a:solidFill>
                  <a:prstDash val="solid"/>
                  <a:bevel/>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4830" name="Text Box 15"/>
                <p:cNvSpPr txBox="1"/>
                <p:nvPr/>
              </p:nvSpPr>
              <p:spPr>
                <a:xfrm>
                  <a:off x="48" y="0"/>
                  <a:ext cx="336" cy="252"/>
                </a:xfrm>
                <a:prstGeom prst="rect">
                  <a:avLst/>
                </a:prstGeom>
                <a:noFill/>
                <a:ln w="9525">
                  <a:noFill/>
                </a:ln>
              </p:spPr>
              <p:txBody>
                <a:bodyPr anchor="t" anchorCtr="0">
                  <a:spAutoFit/>
                </a:bodyPr>
                <a:lstStyle/>
                <a:p>
                  <a:pPr>
                    <a:spcBef>
                      <a:spcPct val="50000"/>
                    </a:spcBef>
                  </a:pPr>
                  <a:r>
                    <a:rPr lang="zh-CN" altLang="zh-CN" sz="1350" dirty="0">
                      <a:solidFill>
                        <a:schemeClr val="hlink"/>
                      </a:solidFill>
                      <a:latin typeface="Microsoft YaHei" panose="020B0503020204020204" pitchFamily="34" charset="-122"/>
                      <a:ea typeface="Microsoft YaHei" panose="020B0503020204020204" pitchFamily="34" charset="-122"/>
                    </a:rPr>
                    <a:t>查</a:t>
                  </a:r>
                </a:p>
              </p:txBody>
            </p:sp>
          </p:grpSp>
          <p:sp>
            <p:nvSpPr>
              <p:cNvPr id="34831" name="Line 16"/>
              <p:cNvSpPr/>
              <p:nvPr/>
            </p:nvSpPr>
            <p:spPr>
              <a:xfrm flipV="1">
                <a:off x="480" y="0"/>
                <a:ext cx="192" cy="432"/>
              </a:xfrm>
              <a:prstGeom prst="line">
                <a:avLst/>
              </a:prstGeom>
              <a:ln w="28575" cap="flat" cmpd="sng">
                <a:solidFill>
                  <a:schemeClr val="tx1"/>
                </a:solidFill>
                <a:prstDash val="solid"/>
                <a:bevel/>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nvGrpSpPr>
            <p:cNvPr id="34832" name="Group 17"/>
            <p:cNvGrpSpPr/>
            <p:nvPr/>
          </p:nvGrpSpPr>
          <p:grpSpPr>
            <a:xfrm>
              <a:off x="3240" y="1185"/>
              <a:ext cx="2280" cy="918"/>
              <a:chOff x="0" y="0"/>
              <a:chExt cx="912" cy="367"/>
            </a:xfrm>
          </p:grpSpPr>
          <p:sp>
            <p:nvSpPr>
              <p:cNvPr id="34833" name="Text Box 18"/>
              <p:cNvSpPr txBox="1"/>
              <p:nvPr/>
            </p:nvSpPr>
            <p:spPr>
              <a:xfrm>
                <a:off x="480" y="96"/>
                <a:ext cx="432" cy="271"/>
              </a:xfrm>
              <a:prstGeom prst="rect">
                <a:avLst/>
              </a:prstGeom>
              <a:noFill/>
              <a:ln w="9525">
                <a:noFill/>
              </a:ln>
            </p:spPr>
            <p:txBody>
              <a:bodyPr anchor="t" anchorCtr="0">
                <a:spAutoFit/>
              </a:bodyPr>
              <a:lstStyle/>
              <a:p>
                <a:pPr>
                  <a:spcBef>
                    <a:spcPct val="50000"/>
                  </a:spcBef>
                </a:pPr>
                <a:r>
                  <a:rPr lang="zh-CN" altLang="zh-CN" sz="1350" dirty="0">
                    <a:latin typeface="Microsoft YaHei" panose="020B0503020204020204" pitchFamily="34" charset="-122"/>
                    <a:ea typeface="Microsoft YaHei" panose="020B0503020204020204" pitchFamily="34" charset="-122"/>
                  </a:rPr>
                  <a:t>U</a:t>
                </a:r>
                <a:r>
                  <a:rPr lang="zh-CN" altLang="zh-CN" sz="1500" dirty="0">
                    <a:latin typeface="Microsoft YaHei" panose="020B0503020204020204" pitchFamily="34" charset="-122"/>
                    <a:ea typeface="Microsoft YaHei" panose="020B0503020204020204" pitchFamily="34" charset="-122"/>
                  </a:rPr>
                  <a:t>2</a:t>
                </a:r>
              </a:p>
            </p:txBody>
          </p:sp>
          <p:grpSp>
            <p:nvGrpSpPr>
              <p:cNvPr id="34834" name="Group 19"/>
              <p:cNvGrpSpPr/>
              <p:nvPr/>
            </p:nvGrpSpPr>
            <p:grpSpPr>
              <a:xfrm>
                <a:off x="0" y="0"/>
                <a:ext cx="480" cy="336"/>
                <a:chOff x="0" y="0"/>
                <a:chExt cx="480" cy="336"/>
              </a:xfrm>
            </p:grpSpPr>
            <p:sp>
              <p:nvSpPr>
                <p:cNvPr id="34835" name="Line 20"/>
                <p:cNvSpPr/>
                <p:nvPr/>
              </p:nvSpPr>
              <p:spPr>
                <a:xfrm>
                  <a:off x="0" y="336"/>
                  <a:ext cx="480" cy="0"/>
                </a:xfrm>
                <a:prstGeom prst="line">
                  <a:avLst/>
                </a:prstGeom>
                <a:ln w="28575" cap="flat" cmpd="sng">
                  <a:solidFill>
                    <a:schemeClr val="tx1"/>
                  </a:solidFill>
                  <a:prstDash val="solid"/>
                  <a:bevel/>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4836" name="Text Box 21"/>
                <p:cNvSpPr txBox="1"/>
                <p:nvPr/>
              </p:nvSpPr>
              <p:spPr>
                <a:xfrm>
                  <a:off x="48" y="0"/>
                  <a:ext cx="336" cy="252"/>
                </a:xfrm>
                <a:prstGeom prst="rect">
                  <a:avLst/>
                </a:prstGeom>
                <a:noFill/>
                <a:ln w="9525">
                  <a:noFill/>
                </a:ln>
              </p:spPr>
              <p:txBody>
                <a:bodyPr anchor="t" anchorCtr="0">
                  <a:spAutoFit/>
                </a:bodyPr>
                <a:lstStyle/>
                <a:p>
                  <a:pPr>
                    <a:spcBef>
                      <a:spcPct val="50000"/>
                    </a:spcBef>
                  </a:pPr>
                  <a:r>
                    <a:rPr lang="zh-CN" altLang="zh-CN" sz="1350" dirty="0">
                      <a:solidFill>
                        <a:schemeClr val="hlink"/>
                      </a:solidFill>
                      <a:latin typeface="Microsoft YaHei" panose="020B0503020204020204" pitchFamily="34" charset="-122"/>
                      <a:ea typeface="Microsoft YaHei" panose="020B0503020204020204" pitchFamily="34" charset="-122"/>
                    </a:rPr>
                    <a:t>改</a:t>
                  </a:r>
                </a:p>
              </p:txBody>
            </p:sp>
          </p:grpSp>
        </p:grpSp>
        <p:grpSp>
          <p:nvGrpSpPr>
            <p:cNvPr id="34837" name="Group 22"/>
            <p:cNvGrpSpPr/>
            <p:nvPr/>
          </p:nvGrpSpPr>
          <p:grpSpPr>
            <a:xfrm>
              <a:off x="5432" y="1226"/>
              <a:ext cx="2400" cy="918"/>
              <a:chOff x="0" y="0"/>
              <a:chExt cx="960" cy="367"/>
            </a:xfrm>
          </p:grpSpPr>
          <p:grpSp>
            <p:nvGrpSpPr>
              <p:cNvPr id="34838" name="Group 23"/>
              <p:cNvGrpSpPr/>
              <p:nvPr/>
            </p:nvGrpSpPr>
            <p:grpSpPr>
              <a:xfrm>
                <a:off x="0" y="0"/>
                <a:ext cx="480" cy="336"/>
                <a:chOff x="0" y="0"/>
                <a:chExt cx="480" cy="336"/>
              </a:xfrm>
            </p:grpSpPr>
            <p:sp>
              <p:nvSpPr>
                <p:cNvPr id="34839" name="Line 24"/>
                <p:cNvSpPr/>
                <p:nvPr/>
              </p:nvSpPr>
              <p:spPr>
                <a:xfrm>
                  <a:off x="0" y="336"/>
                  <a:ext cx="480" cy="0"/>
                </a:xfrm>
                <a:prstGeom prst="line">
                  <a:avLst/>
                </a:prstGeom>
                <a:ln w="28575" cap="flat" cmpd="sng">
                  <a:solidFill>
                    <a:schemeClr val="tx1"/>
                  </a:solidFill>
                  <a:prstDash val="solid"/>
                  <a:bevel/>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4840" name="Text Box 25"/>
                <p:cNvSpPr txBox="1"/>
                <p:nvPr/>
              </p:nvSpPr>
              <p:spPr>
                <a:xfrm>
                  <a:off x="48" y="0"/>
                  <a:ext cx="336" cy="252"/>
                </a:xfrm>
                <a:prstGeom prst="rect">
                  <a:avLst/>
                </a:prstGeom>
                <a:noFill/>
                <a:ln w="9525">
                  <a:noFill/>
                </a:ln>
              </p:spPr>
              <p:txBody>
                <a:bodyPr anchor="t" anchorCtr="0">
                  <a:spAutoFit/>
                </a:bodyPr>
                <a:lstStyle/>
                <a:p>
                  <a:pPr>
                    <a:spcBef>
                      <a:spcPct val="50000"/>
                    </a:spcBef>
                  </a:pPr>
                  <a:r>
                    <a:rPr lang="zh-CN" altLang="zh-CN" sz="1350" dirty="0">
                      <a:solidFill>
                        <a:schemeClr val="hlink"/>
                      </a:solidFill>
                      <a:latin typeface="Microsoft YaHei" panose="020B0503020204020204" pitchFamily="34" charset="-122"/>
                      <a:ea typeface="Microsoft YaHei" panose="020B0503020204020204" pitchFamily="34" charset="-122"/>
                    </a:rPr>
                    <a:t>改</a:t>
                  </a:r>
                </a:p>
              </p:txBody>
            </p:sp>
          </p:grpSp>
          <p:sp>
            <p:nvSpPr>
              <p:cNvPr id="34841" name="Text Box 26"/>
              <p:cNvSpPr txBox="1"/>
              <p:nvPr/>
            </p:nvSpPr>
            <p:spPr>
              <a:xfrm>
                <a:off x="528" y="96"/>
                <a:ext cx="432" cy="271"/>
              </a:xfrm>
              <a:prstGeom prst="rect">
                <a:avLst/>
              </a:prstGeom>
              <a:noFill/>
              <a:ln w="9525">
                <a:noFill/>
              </a:ln>
            </p:spPr>
            <p:txBody>
              <a:bodyPr anchor="t" anchorCtr="0">
                <a:spAutoFit/>
              </a:bodyPr>
              <a:lstStyle/>
              <a:p>
                <a:pPr>
                  <a:spcBef>
                    <a:spcPct val="50000"/>
                  </a:spcBef>
                </a:pPr>
                <a:r>
                  <a:rPr lang="zh-CN" altLang="zh-CN" sz="1350" dirty="0">
                    <a:latin typeface="Microsoft YaHei" panose="020B0503020204020204" pitchFamily="34" charset="-122"/>
                    <a:ea typeface="Microsoft YaHei" panose="020B0503020204020204" pitchFamily="34" charset="-122"/>
                  </a:rPr>
                  <a:t>U</a:t>
                </a:r>
                <a:r>
                  <a:rPr lang="zh-CN" altLang="zh-CN" sz="1500" dirty="0">
                    <a:latin typeface="Microsoft YaHei" panose="020B0503020204020204" pitchFamily="34" charset="-122"/>
                    <a:ea typeface="Microsoft YaHei" panose="020B0503020204020204" pitchFamily="34" charset="-122"/>
                  </a:rPr>
                  <a:t>3</a:t>
                </a:r>
              </a:p>
            </p:txBody>
          </p:sp>
        </p:grpSp>
        <p:sp>
          <p:nvSpPr>
            <p:cNvPr id="34842" name="Text Box 27"/>
            <p:cNvSpPr txBox="1"/>
            <p:nvPr/>
          </p:nvSpPr>
          <p:spPr>
            <a:xfrm>
              <a:off x="15" y="1560"/>
              <a:ext cx="1080" cy="679"/>
            </a:xfrm>
            <a:prstGeom prst="rect">
              <a:avLst/>
            </a:prstGeom>
            <a:noFill/>
            <a:ln w="9525">
              <a:noFill/>
            </a:ln>
          </p:spPr>
          <p:txBody>
            <a:bodyPr anchor="t" anchorCtr="0">
              <a:spAutoFit/>
            </a:bodyPr>
            <a:lstStyle/>
            <a:p>
              <a:pPr>
                <a:spcBef>
                  <a:spcPct val="50000"/>
                </a:spcBef>
              </a:pPr>
              <a:r>
                <a:rPr lang="zh-CN" altLang="zh-CN" sz="1350" dirty="0">
                  <a:latin typeface="Microsoft YaHei" panose="020B0503020204020204" pitchFamily="34" charset="-122"/>
                  <a:ea typeface="Microsoft YaHei" panose="020B0503020204020204" pitchFamily="34" charset="-122"/>
                </a:rPr>
                <a:t>U</a:t>
              </a:r>
              <a:r>
                <a:rPr lang="zh-CN" altLang="zh-CN" sz="1500" dirty="0">
                  <a:latin typeface="Microsoft YaHei" panose="020B0503020204020204" pitchFamily="34" charset="-122"/>
                  <a:ea typeface="Microsoft YaHei" panose="020B0503020204020204" pitchFamily="34" charset="-122"/>
                </a:rPr>
                <a:t>A</a:t>
              </a:r>
            </a:p>
          </p:txBody>
        </p:sp>
        <p:grpSp>
          <p:nvGrpSpPr>
            <p:cNvPr id="34843" name="Group 28"/>
            <p:cNvGrpSpPr/>
            <p:nvPr/>
          </p:nvGrpSpPr>
          <p:grpSpPr>
            <a:xfrm>
              <a:off x="1095" y="1200"/>
              <a:ext cx="2400" cy="918"/>
              <a:chOff x="0" y="0"/>
              <a:chExt cx="960" cy="367"/>
            </a:xfrm>
          </p:grpSpPr>
          <p:grpSp>
            <p:nvGrpSpPr>
              <p:cNvPr id="34844" name="Group 29"/>
              <p:cNvGrpSpPr/>
              <p:nvPr/>
            </p:nvGrpSpPr>
            <p:grpSpPr>
              <a:xfrm>
                <a:off x="0" y="0"/>
                <a:ext cx="480" cy="336"/>
                <a:chOff x="0" y="0"/>
                <a:chExt cx="480" cy="336"/>
              </a:xfrm>
            </p:grpSpPr>
            <p:sp>
              <p:nvSpPr>
                <p:cNvPr id="34845" name="Line 30"/>
                <p:cNvSpPr/>
                <p:nvPr/>
              </p:nvSpPr>
              <p:spPr>
                <a:xfrm>
                  <a:off x="0" y="336"/>
                  <a:ext cx="480" cy="0"/>
                </a:xfrm>
                <a:prstGeom prst="line">
                  <a:avLst/>
                </a:prstGeom>
                <a:ln w="28575" cap="flat" cmpd="sng">
                  <a:solidFill>
                    <a:schemeClr val="tx1"/>
                  </a:solidFill>
                  <a:prstDash val="solid"/>
                  <a:miter/>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4846" name="Text Box 31"/>
                <p:cNvSpPr txBox="1"/>
                <p:nvPr/>
              </p:nvSpPr>
              <p:spPr>
                <a:xfrm>
                  <a:off x="48" y="0"/>
                  <a:ext cx="336" cy="252"/>
                </a:xfrm>
                <a:prstGeom prst="rect">
                  <a:avLst/>
                </a:prstGeom>
                <a:noFill/>
                <a:ln w="9525">
                  <a:noFill/>
                </a:ln>
              </p:spPr>
              <p:txBody>
                <a:bodyPr anchor="t" anchorCtr="0">
                  <a:spAutoFit/>
                </a:bodyPr>
                <a:lstStyle/>
                <a:p>
                  <a:pPr>
                    <a:spcBef>
                      <a:spcPct val="50000"/>
                    </a:spcBef>
                  </a:pPr>
                  <a:r>
                    <a:rPr lang="zh-CN" altLang="zh-CN" sz="1350" dirty="0">
                      <a:solidFill>
                        <a:schemeClr val="hlink"/>
                      </a:solidFill>
                      <a:latin typeface="Microsoft YaHei" panose="020B0503020204020204" pitchFamily="34" charset="-122"/>
                      <a:ea typeface="Microsoft YaHei" panose="020B0503020204020204" pitchFamily="34" charset="-122"/>
                    </a:rPr>
                    <a:t>改</a:t>
                  </a:r>
                </a:p>
              </p:txBody>
            </p:sp>
          </p:grpSp>
          <p:sp>
            <p:nvSpPr>
              <p:cNvPr id="34847" name="Text Box 32"/>
              <p:cNvSpPr txBox="1"/>
              <p:nvPr/>
            </p:nvSpPr>
            <p:spPr>
              <a:xfrm>
                <a:off x="528" y="96"/>
                <a:ext cx="432" cy="271"/>
              </a:xfrm>
              <a:prstGeom prst="rect">
                <a:avLst/>
              </a:prstGeom>
              <a:noFill/>
              <a:ln w="9525">
                <a:noFill/>
              </a:ln>
            </p:spPr>
            <p:txBody>
              <a:bodyPr anchor="t" anchorCtr="0">
                <a:spAutoFit/>
              </a:bodyPr>
              <a:lstStyle/>
              <a:p>
                <a:pPr>
                  <a:spcBef>
                    <a:spcPct val="50000"/>
                  </a:spcBef>
                </a:pPr>
                <a:r>
                  <a:rPr lang="zh-CN" altLang="zh-CN" sz="1350" dirty="0">
                    <a:latin typeface="Microsoft YaHei" panose="020B0503020204020204" pitchFamily="34" charset="-122"/>
                    <a:ea typeface="Microsoft YaHei" panose="020B0503020204020204" pitchFamily="34" charset="-122"/>
                  </a:rPr>
                  <a:t>U</a:t>
                </a:r>
                <a:r>
                  <a:rPr lang="zh-CN" altLang="zh-CN" sz="1500" dirty="0">
                    <a:latin typeface="Microsoft YaHei" panose="020B0503020204020204" pitchFamily="34" charset="-122"/>
                    <a:ea typeface="Microsoft YaHei" panose="020B0503020204020204" pitchFamily="34" charset="-122"/>
                  </a:rPr>
                  <a:t>1</a:t>
                </a:r>
              </a:p>
            </p:txBody>
          </p:sp>
        </p:grpSp>
        <p:grpSp>
          <p:nvGrpSpPr>
            <p:cNvPr id="34848" name="Group 33"/>
            <p:cNvGrpSpPr/>
            <p:nvPr/>
          </p:nvGrpSpPr>
          <p:grpSpPr>
            <a:xfrm>
              <a:off x="3255" y="1200"/>
              <a:ext cx="2280" cy="918"/>
              <a:chOff x="0" y="0"/>
              <a:chExt cx="912" cy="367"/>
            </a:xfrm>
          </p:grpSpPr>
          <p:sp>
            <p:nvSpPr>
              <p:cNvPr id="34849" name="Text Box 34"/>
              <p:cNvSpPr txBox="1"/>
              <p:nvPr/>
            </p:nvSpPr>
            <p:spPr>
              <a:xfrm>
                <a:off x="480" y="96"/>
                <a:ext cx="432" cy="271"/>
              </a:xfrm>
              <a:prstGeom prst="rect">
                <a:avLst/>
              </a:prstGeom>
              <a:noFill/>
              <a:ln w="9525">
                <a:noFill/>
              </a:ln>
            </p:spPr>
            <p:txBody>
              <a:bodyPr anchor="t" anchorCtr="0">
                <a:spAutoFit/>
              </a:bodyPr>
              <a:lstStyle/>
              <a:p>
                <a:pPr>
                  <a:spcBef>
                    <a:spcPct val="50000"/>
                  </a:spcBef>
                </a:pPr>
                <a:r>
                  <a:rPr lang="zh-CN" altLang="zh-CN" sz="1350" dirty="0">
                    <a:latin typeface="Microsoft YaHei" panose="020B0503020204020204" pitchFamily="34" charset="-122"/>
                    <a:ea typeface="Microsoft YaHei" panose="020B0503020204020204" pitchFamily="34" charset="-122"/>
                  </a:rPr>
                  <a:t>U</a:t>
                </a:r>
                <a:r>
                  <a:rPr lang="zh-CN" altLang="zh-CN" sz="1500" dirty="0">
                    <a:latin typeface="Microsoft YaHei" panose="020B0503020204020204" pitchFamily="34" charset="-122"/>
                    <a:ea typeface="Microsoft YaHei" panose="020B0503020204020204" pitchFamily="34" charset="-122"/>
                  </a:rPr>
                  <a:t>2</a:t>
                </a:r>
              </a:p>
            </p:txBody>
          </p:sp>
          <p:grpSp>
            <p:nvGrpSpPr>
              <p:cNvPr id="34850" name="Group 35"/>
              <p:cNvGrpSpPr/>
              <p:nvPr/>
            </p:nvGrpSpPr>
            <p:grpSpPr>
              <a:xfrm>
                <a:off x="0" y="0"/>
                <a:ext cx="480" cy="336"/>
                <a:chOff x="0" y="0"/>
                <a:chExt cx="480" cy="336"/>
              </a:xfrm>
            </p:grpSpPr>
            <p:sp>
              <p:nvSpPr>
                <p:cNvPr id="34851" name="Line 36"/>
                <p:cNvSpPr/>
                <p:nvPr/>
              </p:nvSpPr>
              <p:spPr>
                <a:xfrm>
                  <a:off x="0" y="336"/>
                  <a:ext cx="480" cy="0"/>
                </a:xfrm>
                <a:prstGeom prst="line">
                  <a:avLst/>
                </a:prstGeom>
                <a:ln w="28575" cap="flat" cmpd="sng">
                  <a:solidFill>
                    <a:schemeClr val="tx1"/>
                  </a:solidFill>
                  <a:prstDash val="solid"/>
                  <a:miter/>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4852" name="Text Box 37"/>
                <p:cNvSpPr txBox="1"/>
                <p:nvPr/>
              </p:nvSpPr>
              <p:spPr>
                <a:xfrm>
                  <a:off x="48" y="0"/>
                  <a:ext cx="336" cy="252"/>
                </a:xfrm>
                <a:prstGeom prst="rect">
                  <a:avLst/>
                </a:prstGeom>
                <a:noFill/>
                <a:ln w="9525">
                  <a:noFill/>
                </a:ln>
              </p:spPr>
              <p:txBody>
                <a:bodyPr anchor="t" anchorCtr="0">
                  <a:spAutoFit/>
                </a:bodyPr>
                <a:lstStyle/>
                <a:p>
                  <a:pPr>
                    <a:spcBef>
                      <a:spcPct val="50000"/>
                    </a:spcBef>
                  </a:pPr>
                  <a:r>
                    <a:rPr lang="zh-CN" altLang="zh-CN" sz="1350" dirty="0">
                      <a:solidFill>
                        <a:schemeClr val="hlink"/>
                      </a:solidFill>
                      <a:latin typeface="Microsoft YaHei" panose="020B0503020204020204" pitchFamily="34" charset="-122"/>
                      <a:ea typeface="Microsoft YaHei" panose="020B0503020204020204" pitchFamily="34" charset="-122"/>
                    </a:rPr>
                    <a:t>改</a:t>
                  </a:r>
                </a:p>
              </p:txBody>
            </p:sp>
          </p:grpSp>
        </p:grpSp>
        <p:sp>
          <p:nvSpPr>
            <p:cNvPr id="34853" name="AutoShape 38"/>
            <p:cNvSpPr/>
            <p:nvPr/>
          </p:nvSpPr>
          <p:spPr>
            <a:xfrm>
              <a:off x="1935" y="0"/>
              <a:ext cx="2280" cy="720"/>
            </a:xfrm>
            <a:prstGeom prst="wedgeRoundRectCallout">
              <a:avLst>
                <a:gd name="adj1" fmla="val -57199"/>
                <a:gd name="adj2" fmla="val 150889"/>
                <a:gd name="adj3" fmla="val 16667"/>
              </a:avLst>
            </a:prstGeom>
            <a:solidFill>
              <a:srgbClr val="FFF1B5"/>
            </a:solidFill>
            <a:ln w="9525" cap="flat" cmpd="sng">
              <a:solidFill>
                <a:schemeClr val="tx1"/>
              </a:solidFill>
              <a:prstDash val="solid"/>
              <a:miter/>
              <a:headEnd type="none" w="med" len="med"/>
              <a:tailEnd type="none" w="med" len="med"/>
            </a:ln>
          </p:spPr>
          <p:txBody>
            <a:bodyPr anchor="t" anchorCtr="0"/>
            <a:lstStyle/>
            <a:p>
              <a:pPr algn="ctr"/>
              <a:r>
                <a:rPr lang="zh-CN" altLang="zh-CN" sz="1650" dirty="0">
                  <a:latin typeface="Microsoft YaHei" panose="020B0503020204020204" pitchFamily="34" charset="-122"/>
                  <a:ea typeface="Microsoft YaHei" panose="020B0503020204020204" pitchFamily="34" charset="-122"/>
                </a:rPr>
                <a:t>UA回收</a:t>
              </a:r>
            </a:p>
          </p:txBody>
        </p:sp>
        <p:sp>
          <p:nvSpPr>
            <p:cNvPr id="34854" name="箭头 1045"/>
            <p:cNvSpPr/>
            <p:nvPr/>
          </p:nvSpPr>
          <p:spPr>
            <a:xfrm>
              <a:off x="5428" y="2263"/>
              <a:ext cx="1190" cy="1"/>
            </a:xfrm>
            <a:prstGeom prst="line">
              <a:avLst/>
            </a:prstGeom>
            <a:ln w="31750" cap="flat" cmpd="sng">
              <a:solidFill>
                <a:schemeClr val="tx1"/>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4855" name="Text Box 40"/>
            <p:cNvSpPr txBox="1"/>
            <p:nvPr/>
          </p:nvSpPr>
          <p:spPr>
            <a:xfrm>
              <a:off x="5572" y="2172"/>
              <a:ext cx="763" cy="586"/>
            </a:xfrm>
            <a:prstGeom prst="rect">
              <a:avLst/>
            </a:prstGeom>
            <a:noFill/>
            <a:ln w="9525">
              <a:noFill/>
            </a:ln>
          </p:spPr>
          <p:txBody>
            <a:bodyPr lIns="67628" tIns="35243" rIns="67628" bIns="35243" anchor="t" anchorCtr="0">
              <a:spAutoFit/>
            </a:bodyPr>
            <a:lstStyle/>
            <a:p>
              <a:r>
                <a:rPr lang="zh-CN" altLang="en-US" sz="1350" dirty="0">
                  <a:solidFill>
                    <a:schemeClr val="hlink"/>
                  </a:solidFill>
                  <a:latin typeface="Microsoft YaHei" panose="020B0503020204020204" pitchFamily="34" charset="-122"/>
                  <a:ea typeface="Microsoft YaHei" panose="020B0503020204020204" pitchFamily="34" charset="-122"/>
                </a:rPr>
                <a:t>查</a:t>
              </a:r>
            </a:p>
          </p:txBody>
        </p:sp>
      </p:grpSp>
      <p:sp>
        <p:nvSpPr>
          <p:cNvPr id="4" name="标题 3">
            <a:extLst>
              <a:ext uri="{FF2B5EF4-FFF2-40B4-BE49-F238E27FC236}">
                <a16:creationId xmlns:a16="http://schemas.microsoft.com/office/drawing/2014/main" id="{CF1076D7-A152-F25A-6396-3756FCD54557}"/>
              </a:ext>
            </a:extLst>
          </p:cNvPr>
          <p:cNvSpPr>
            <a:spLocks noGrp="1"/>
          </p:cNvSpPr>
          <p:nvPr>
            <p:ph type="title"/>
          </p:nvPr>
        </p:nvSpPr>
        <p:spPr/>
        <p:txBody>
          <a:bodyPr/>
          <a:lstStyle/>
          <a:p>
            <a:r>
              <a:rPr lang="zh-CN" altLang="en-US" dirty="0"/>
              <a:t>收回权限</a:t>
            </a:r>
          </a:p>
        </p:txBody>
      </p:sp>
    </p:spTree>
  </p:cSld>
  <p:clrMapOvr>
    <a:masterClrMapping/>
  </p:clrMapOvr>
  <p:transition spd="slow">
    <p:blinds dir="vert"/>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p:cNvSpPr>
          <p:nvPr>
            <p:ph idx="1"/>
          </p:nvPr>
        </p:nvSpPr>
        <p:spPr>
          <a:xfrm>
            <a:off x="152399" y="1357399"/>
            <a:ext cx="4572000" cy="3408735"/>
          </a:xfrm>
        </p:spPr>
        <p:txBody>
          <a:bodyPr vert="horz" wrap="square" lIns="68580" tIns="34290" rIns="68580" bIns="34290" rtlCol="0" anchor="t" anchorCtr="0">
            <a:normAutofit/>
          </a:bodyPr>
          <a:lstStyle/>
          <a:p>
            <a:pPr marL="0" indent="0" eaLnBrk="1" hangingPunct="1">
              <a:lnSpc>
                <a:spcPct val="120000"/>
              </a:lnSpc>
              <a:buSzTx/>
              <a:buNone/>
            </a:pPr>
            <a:r>
              <a:rPr lang="zh-CN" altLang="en-US" sz="1800" b="1" dirty="0"/>
              <a:t>创建角色必须具有</a:t>
            </a:r>
            <a:r>
              <a:rPr lang="en-US" altLang="zh-CN" sz="1800" b="1" dirty="0"/>
              <a:t>CREATE</a:t>
            </a:r>
            <a:r>
              <a:rPr lang="zh-CN" altLang="en-US" sz="1800" b="1" dirty="0"/>
              <a:t> </a:t>
            </a:r>
            <a:r>
              <a:rPr lang="en-US" altLang="zh-CN" sz="1800" b="1" dirty="0"/>
              <a:t>ROLE</a:t>
            </a:r>
            <a:r>
              <a:rPr lang="zh-CN" altLang="en-US" sz="1800" b="1" dirty="0"/>
              <a:t>系统权限。</a:t>
            </a:r>
            <a:endParaRPr lang="zh-CN" altLang="zh-CN" sz="1800" b="1" dirty="0">
              <a:solidFill>
                <a:schemeClr val="hlink"/>
              </a:solidFill>
            </a:endParaRPr>
          </a:p>
          <a:p>
            <a:pPr marL="0" indent="0" eaLnBrk="1" hangingPunct="1">
              <a:spcBef>
                <a:spcPct val="0"/>
              </a:spcBef>
              <a:buSzTx/>
              <a:buNone/>
            </a:pPr>
            <a:r>
              <a:rPr lang="zh-CN" altLang="zh-CN" sz="1800" b="1" dirty="0">
                <a:solidFill>
                  <a:schemeClr val="hlink"/>
                </a:solidFill>
              </a:rPr>
              <a:t>创建角色：</a:t>
            </a:r>
          </a:p>
          <a:p>
            <a:pPr eaLnBrk="1" hangingPunct="1">
              <a:spcBef>
                <a:spcPct val="0"/>
              </a:spcBef>
              <a:buSzTx/>
              <a:buFont typeface="Wingdings" panose="05000000000000000000" pitchFamily="2" charset="2"/>
              <a:buNone/>
            </a:pPr>
            <a:r>
              <a:rPr lang="zh-CN" altLang="zh-CN" sz="1800" b="1" dirty="0"/>
              <a:t>      </a:t>
            </a:r>
            <a:r>
              <a:rPr lang="zh-CN" altLang="zh-CN" sz="1800" dirty="0"/>
              <a:t>CREATE ROLE &lt;角色名&gt;</a:t>
            </a:r>
          </a:p>
          <a:p>
            <a:pPr eaLnBrk="1" hangingPunct="1">
              <a:spcBef>
                <a:spcPct val="0"/>
              </a:spcBef>
              <a:buSzTx/>
              <a:buFont typeface="Wingdings" panose="05000000000000000000" pitchFamily="2" charset="2"/>
              <a:buNone/>
            </a:pPr>
            <a:endParaRPr lang="zh-CN" altLang="zh-CN" sz="1800" b="1" dirty="0"/>
          </a:p>
          <a:p>
            <a:pPr eaLnBrk="1" hangingPunct="1">
              <a:spcBef>
                <a:spcPct val="0"/>
              </a:spcBef>
              <a:buSzTx/>
              <a:buFont typeface="Wingdings" panose="05000000000000000000" pitchFamily="2" charset="2"/>
              <a:buNone/>
            </a:pPr>
            <a:endParaRPr lang="zh-CN" altLang="zh-CN" sz="1800" b="1" dirty="0"/>
          </a:p>
          <a:p>
            <a:pPr marL="0" indent="0" eaLnBrk="1" hangingPunct="1">
              <a:spcBef>
                <a:spcPct val="0"/>
              </a:spcBef>
              <a:buSzTx/>
              <a:buNone/>
            </a:pPr>
            <a:r>
              <a:rPr lang="zh-CN" altLang="zh-CN" sz="1800" b="1" dirty="0">
                <a:solidFill>
                  <a:schemeClr val="hlink"/>
                </a:solidFill>
              </a:rPr>
              <a:t>将权限授予角色：</a:t>
            </a:r>
          </a:p>
          <a:p>
            <a:pPr eaLnBrk="1" hangingPunct="1">
              <a:spcBef>
                <a:spcPct val="0"/>
              </a:spcBef>
              <a:buSzTx/>
              <a:buFont typeface="Wingdings" panose="05000000000000000000" pitchFamily="2" charset="2"/>
              <a:buNone/>
            </a:pPr>
            <a:r>
              <a:rPr lang="zh-CN" altLang="zh-CN" sz="1800" b="1" dirty="0"/>
              <a:t>      </a:t>
            </a:r>
            <a:r>
              <a:rPr lang="zh-CN" altLang="zh-CN" sz="1800" dirty="0"/>
              <a:t>GRANT &lt;权限&gt;[，&lt;权限&gt;]…</a:t>
            </a:r>
          </a:p>
          <a:p>
            <a:pPr eaLnBrk="1" hangingPunct="1">
              <a:spcBef>
                <a:spcPct val="0"/>
              </a:spcBef>
              <a:buSzTx/>
              <a:buFont typeface="Wingdings" panose="05000000000000000000" pitchFamily="2" charset="2"/>
              <a:buNone/>
            </a:pPr>
            <a:r>
              <a:rPr lang="zh-CN" altLang="zh-CN" sz="1800" dirty="0"/>
              <a:t>      ON&lt;对象类型&gt;&lt;对象名&gt;</a:t>
            </a:r>
          </a:p>
          <a:p>
            <a:pPr eaLnBrk="1" hangingPunct="1">
              <a:spcBef>
                <a:spcPct val="0"/>
              </a:spcBef>
              <a:buSzTx/>
              <a:buFont typeface="Wingdings" panose="05000000000000000000" pitchFamily="2" charset="2"/>
              <a:buNone/>
            </a:pPr>
            <a:r>
              <a:rPr lang="zh-CN" altLang="zh-CN" sz="1800" dirty="0"/>
              <a:t>      TO  &lt;角色&gt;[，&lt;角色&gt;]...</a:t>
            </a:r>
          </a:p>
          <a:p>
            <a:pPr eaLnBrk="1" hangingPunct="1">
              <a:lnSpc>
                <a:spcPct val="120000"/>
              </a:lnSpc>
              <a:spcBef>
                <a:spcPct val="0"/>
              </a:spcBef>
              <a:buSzTx/>
              <a:buFont typeface="Wingdings" panose="05000000000000000000" pitchFamily="2" charset="2"/>
              <a:buChar char="§"/>
            </a:pPr>
            <a:endParaRPr lang="zh-CN" altLang="zh-CN" sz="1800" b="1" dirty="0"/>
          </a:p>
          <a:p>
            <a:pPr eaLnBrk="1" hangingPunct="1">
              <a:lnSpc>
                <a:spcPct val="120000"/>
              </a:lnSpc>
              <a:buSzTx/>
              <a:buFont typeface="Wingdings" panose="05000000000000000000" pitchFamily="2" charset="2"/>
              <a:buNone/>
            </a:pPr>
            <a:endParaRPr lang="zh-CN" altLang="zh-CN" sz="1800" b="1" dirty="0"/>
          </a:p>
        </p:txBody>
      </p:sp>
      <p:sp>
        <p:nvSpPr>
          <p:cNvPr id="37891" name="AutoShape 4"/>
          <p:cNvSpPr/>
          <p:nvPr/>
        </p:nvSpPr>
        <p:spPr>
          <a:xfrm>
            <a:off x="7482348" y="2797016"/>
            <a:ext cx="1509253" cy="290313"/>
          </a:xfrm>
          <a:prstGeom prst="wedgeRoundRectCallout">
            <a:avLst>
              <a:gd name="adj1" fmla="val -45988"/>
              <a:gd name="adj2" fmla="val -125482"/>
              <a:gd name="adj3" fmla="val 16667"/>
            </a:avLst>
          </a:prstGeom>
          <a:solidFill>
            <a:srgbClr val="FFF1B5"/>
          </a:solidFill>
          <a:ln w="9525" cap="flat" cmpd="sng">
            <a:solidFill>
              <a:schemeClr val="tx1"/>
            </a:solidFill>
            <a:prstDash val="solid"/>
            <a:miter/>
            <a:headEnd type="none" w="med" len="med"/>
            <a:tailEnd type="none" w="med" len="med"/>
          </a:ln>
        </p:spPr>
        <p:txBody>
          <a:bodyPr anchor="ctr" anchorCtr="0"/>
          <a:lstStyle/>
          <a:p>
            <a:pPr algn="ctr"/>
            <a:r>
              <a:rPr lang="zh-CN" altLang="zh-CN" sz="1350" dirty="0">
                <a:solidFill>
                  <a:schemeClr val="hlink"/>
                </a:solidFill>
                <a:latin typeface="Microsoft YaHei" panose="020B0503020204020204" pitchFamily="34" charset="-122"/>
                <a:ea typeface="Microsoft YaHei" panose="020B0503020204020204" pitchFamily="34" charset="-122"/>
              </a:rPr>
              <a:t>可将此权限转授</a:t>
            </a:r>
          </a:p>
        </p:txBody>
      </p:sp>
      <p:sp>
        <p:nvSpPr>
          <p:cNvPr id="37892" name="Rectangle 5"/>
          <p:cNvSpPr/>
          <p:nvPr/>
        </p:nvSpPr>
        <p:spPr>
          <a:xfrm>
            <a:off x="4892993" y="3387867"/>
            <a:ext cx="4182181" cy="1200329"/>
          </a:xfrm>
          <a:prstGeom prst="rect">
            <a:avLst/>
          </a:prstGeom>
          <a:noFill/>
          <a:ln w="9525">
            <a:noFill/>
          </a:ln>
        </p:spPr>
        <p:txBody>
          <a:bodyPr wrap="square" anchor="t" anchorCtr="0">
            <a:spAutoFit/>
          </a:bodyPr>
          <a:lstStyle/>
          <a:p>
            <a:pPr algn="l">
              <a:buClrTx/>
              <a:buSzTx/>
              <a:buFont typeface="Wingdings" panose="05000000000000000000" pitchFamily="2" charset="2"/>
              <a:buChar char="§"/>
            </a:pPr>
            <a:r>
              <a:rPr lang="zh-CN" altLang="zh-CN" b="1" dirty="0">
                <a:solidFill>
                  <a:schemeClr val="hlink"/>
                </a:solidFill>
                <a:latin typeface="Microsoft YaHei" panose="020B0503020204020204" pitchFamily="34" charset="-122"/>
                <a:ea typeface="Microsoft YaHei" panose="020B0503020204020204" pitchFamily="34" charset="-122"/>
              </a:rPr>
              <a:t>  回收角色的权限：</a:t>
            </a:r>
          </a:p>
          <a:p>
            <a:pPr marL="171450" indent="-171450"/>
            <a:r>
              <a:rPr lang="zh-CN" altLang="zh-CN" sz="1350" dirty="0">
                <a:latin typeface="Microsoft YaHei" panose="020B0503020204020204" pitchFamily="34" charset="-122"/>
                <a:ea typeface="Microsoft YaHei" panose="020B0503020204020204" pitchFamily="34" charset="-122"/>
              </a:rPr>
              <a:t>  </a:t>
            </a:r>
            <a:r>
              <a:rPr lang="zh-CN" altLang="zh-CN" b="1" spc="113" dirty="0">
                <a:latin typeface="Microsoft YaHei" panose="020B0503020204020204" pitchFamily="34" charset="-122"/>
                <a:ea typeface="Microsoft YaHei" panose="020B0503020204020204" pitchFamily="34" charset="-122"/>
              </a:rPr>
              <a:t>   </a:t>
            </a:r>
            <a:r>
              <a:rPr lang="zh-CN" altLang="zh-CN" spc="113" dirty="0">
                <a:latin typeface="Microsoft YaHei" panose="020B0503020204020204" pitchFamily="34" charset="-122"/>
                <a:ea typeface="Microsoft YaHei" panose="020B0503020204020204" pitchFamily="34" charset="-122"/>
              </a:rPr>
              <a:t>REVOKE&lt;权限&gt;[，&lt;权限&gt;]… </a:t>
            </a:r>
          </a:p>
          <a:p>
            <a:pPr marL="171450" indent="-171450"/>
            <a:r>
              <a:rPr lang="zh-CN" altLang="zh-CN" spc="113" dirty="0">
                <a:latin typeface="Microsoft YaHei" panose="020B0503020204020204" pitchFamily="34" charset="-122"/>
                <a:ea typeface="Microsoft YaHei" panose="020B0503020204020204" pitchFamily="34" charset="-122"/>
              </a:rPr>
              <a:t>     ON&lt;对象类型&gt;&lt;对象名&gt;</a:t>
            </a:r>
          </a:p>
          <a:p>
            <a:pPr marL="171450" indent="-171450"/>
            <a:r>
              <a:rPr lang="zh-CN" altLang="zh-CN" spc="113" dirty="0">
                <a:latin typeface="Microsoft YaHei" panose="020B0503020204020204" pitchFamily="34" charset="-122"/>
                <a:ea typeface="Microsoft YaHei" panose="020B0503020204020204" pitchFamily="34" charset="-122"/>
              </a:rPr>
              <a:t>     FROM&lt;角色&gt;[，&lt;角色&gt;]...</a:t>
            </a:r>
          </a:p>
        </p:txBody>
      </p:sp>
      <p:sp>
        <p:nvSpPr>
          <p:cNvPr id="3" name="文本框 2"/>
          <p:cNvSpPr txBox="1"/>
          <p:nvPr/>
        </p:nvSpPr>
        <p:spPr>
          <a:xfrm>
            <a:off x="4892993" y="1228338"/>
            <a:ext cx="4251007" cy="1200329"/>
          </a:xfrm>
          <a:prstGeom prst="rect">
            <a:avLst/>
          </a:prstGeom>
          <a:noFill/>
        </p:spPr>
        <p:txBody>
          <a:bodyPr wrap="square" rtlCol="0" anchor="t">
            <a:spAutoFit/>
          </a:bodyPr>
          <a:lstStyle/>
          <a:p>
            <a:pPr eaLnBrk="1" hangingPunct="1">
              <a:buSzTx/>
              <a:buFont typeface="Wingdings" panose="05000000000000000000" pitchFamily="2" charset="2"/>
              <a:buChar char="§"/>
            </a:pPr>
            <a:r>
              <a:rPr lang="zh-CN" altLang="zh-CN" b="1" dirty="0">
                <a:solidFill>
                  <a:schemeClr val="hlink"/>
                </a:solidFill>
                <a:latin typeface="Microsoft YaHei" panose="020B0503020204020204" pitchFamily="34" charset="-122"/>
                <a:ea typeface="Microsoft YaHei" panose="020B0503020204020204" pitchFamily="34" charset="-122"/>
                <a:sym typeface="+mn-ea"/>
              </a:rPr>
              <a:t>将角色授予用户：</a:t>
            </a:r>
            <a:endParaRPr lang="zh-CN" altLang="zh-CN" b="1" dirty="0">
              <a:solidFill>
                <a:schemeClr val="hlink"/>
              </a:solidFill>
              <a:latin typeface="Microsoft YaHei" panose="020B0503020204020204" pitchFamily="34" charset="-122"/>
              <a:ea typeface="Microsoft YaHei" panose="020B0503020204020204" pitchFamily="34" charset="-122"/>
            </a:endParaRPr>
          </a:p>
          <a:p>
            <a:pPr marL="171450" indent="-171450"/>
            <a:r>
              <a:rPr lang="zh-CN" altLang="zh-CN" b="1" dirty="0">
                <a:latin typeface="Microsoft YaHei" panose="020B0503020204020204" pitchFamily="34" charset="-122"/>
                <a:ea typeface="Microsoft YaHei" panose="020B0503020204020204" pitchFamily="34" charset="-122"/>
                <a:sym typeface="+mn-ea"/>
              </a:rPr>
              <a:t>   </a:t>
            </a:r>
            <a:r>
              <a:rPr lang="zh-CN" altLang="zh-CN" b="1" spc="113" dirty="0">
                <a:latin typeface="Microsoft YaHei" panose="020B0503020204020204" pitchFamily="34" charset="-122"/>
                <a:ea typeface="Microsoft YaHei" panose="020B0503020204020204" pitchFamily="34" charset="-122"/>
                <a:sym typeface="+mn-ea"/>
              </a:rPr>
              <a:t>   </a:t>
            </a:r>
            <a:r>
              <a:rPr lang="zh-CN" altLang="zh-CN" spc="113" dirty="0">
                <a:latin typeface="Microsoft YaHei" panose="020B0503020204020204" pitchFamily="34" charset="-122"/>
                <a:ea typeface="Microsoft YaHei" panose="020B0503020204020204" pitchFamily="34" charset="-122"/>
                <a:sym typeface="+mn-ea"/>
              </a:rPr>
              <a:t>GRANT &lt;角色&gt;[，&lt;角色&gt;]…</a:t>
            </a:r>
            <a:endParaRPr lang="zh-CN" altLang="zh-CN" spc="113" dirty="0">
              <a:latin typeface="Microsoft YaHei" panose="020B0503020204020204" pitchFamily="34" charset="-122"/>
              <a:ea typeface="Microsoft YaHei" panose="020B0503020204020204" pitchFamily="34" charset="-122"/>
            </a:endParaRPr>
          </a:p>
          <a:p>
            <a:pPr marL="171450" indent="-171450"/>
            <a:r>
              <a:rPr lang="zh-CN" altLang="zh-CN" spc="113" dirty="0">
                <a:latin typeface="Microsoft YaHei" panose="020B0503020204020204" pitchFamily="34" charset="-122"/>
                <a:ea typeface="Microsoft YaHei" panose="020B0503020204020204" pitchFamily="34" charset="-122"/>
                <a:sym typeface="+mn-ea"/>
              </a:rPr>
              <a:t>      TO  &lt;角色&gt;[，&lt;用户&gt;]...</a:t>
            </a:r>
            <a:endParaRPr lang="zh-CN" altLang="zh-CN" spc="113" dirty="0">
              <a:latin typeface="Microsoft YaHei" panose="020B0503020204020204" pitchFamily="34" charset="-122"/>
              <a:ea typeface="Microsoft YaHei" panose="020B0503020204020204" pitchFamily="34" charset="-122"/>
            </a:endParaRPr>
          </a:p>
          <a:p>
            <a:pPr marL="171450" indent="-171450"/>
            <a:r>
              <a:rPr lang="zh-CN" altLang="zh-CN" spc="113" dirty="0">
                <a:latin typeface="Microsoft YaHei" panose="020B0503020204020204" pitchFamily="34" charset="-122"/>
                <a:ea typeface="Microsoft YaHei" panose="020B0503020204020204" pitchFamily="34" charset="-122"/>
                <a:sym typeface="+mn-ea"/>
              </a:rPr>
              <a:t>      [WITH ADMIN OPTION]</a:t>
            </a:r>
          </a:p>
        </p:txBody>
      </p:sp>
      <p:sp>
        <p:nvSpPr>
          <p:cNvPr id="4" name="标题 3">
            <a:extLst>
              <a:ext uri="{FF2B5EF4-FFF2-40B4-BE49-F238E27FC236}">
                <a16:creationId xmlns:a16="http://schemas.microsoft.com/office/drawing/2014/main" id="{CD4375D8-A728-C82B-5C8C-369EBEF86D36}"/>
              </a:ext>
            </a:extLst>
          </p:cNvPr>
          <p:cNvSpPr>
            <a:spLocks noGrp="1"/>
          </p:cNvSpPr>
          <p:nvPr>
            <p:ph type="title"/>
          </p:nvPr>
        </p:nvSpPr>
        <p:spPr/>
        <p:txBody>
          <a:bodyPr/>
          <a:lstStyle/>
          <a:p>
            <a:r>
              <a:rPr lang="zh-CN" altLang="en-US" dirty="0"/>
              <a:t>角色操作</a:t>
            </a:r>
          </a:p>
        </p:txBody>
      </p:sp>
    </p:spTree>
  </p:cSld>
  <p:clrMapOvr>
    <a:masterClrMapping/>
  </p:clrMapOvr>
  <p:transition spd="slow">
    <p:blinds dir="ver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p:cNvSpPr>
          <p:nvPr>
            <p:ph idx="1"/>
          </p:nvPr>
        </p:nvSpPr>
        <p:spPr>
          <a:xfrm>
            <a:off x="628650" y="1345583"/>
            <a:ext cx="3679870" cy="3408735"/>
          </a:xfrm>
        </p:spPr>
        <p:txBody>
          <a:bodyPr vert="horz" wrap="square" lIns="68580" tIns="34290" rIns="68580" bIns="34290" rtlCol="0" anchor="t" anchorCtr="0">
            <a:normAutofit lnSpcReduction="10000"/>
          </a:bodyPr>
          <a:lstStyle/>
          <a:p>
            <a:pPr eaLnBrk="1" hangingPunct="1">
              <a:lnSpc>
                <a:spcPct val="110000"/>
              </a:lnSpc>
              <a:spcBef>
                <a:spcPct val="0"/>
              </a:spcBef>
              <a:buSzTx/>
              <a:buFont typeface="Wingdings" panose="05000000000000000000" pitchFamily="2" charset="2"/>
              <a:buNone/>
            </a:pPr>
            <a:r>
              <a:rPr lang="en-US" altLang="zh-CN" sz="1800" b="1" dirty="0">
                <a:solidFill>
                  <a:srgbClr val="0070C0"/>
                </a:solidFill>
              </a:rPr>
              <a:t>【</a:t>
            </a:r>
            <a:r>
              <a:rPr lang="zh-CN" altLang="en-US" sz="1800" b="1" dirty="0">
                <a:solidFill>
                  <a:srgbClr val="0070C0"/>
                </a:solidFill>
              </a:rPr>
              <a:t>例</a:t>
            </a:r>
            <a:r>
              <a:rPr lang="en-US" altLang="zh-CN" sz="1800" b="1" dirty="0">
                <a:solidFill>
                  <a:srgbClr val="0070C0"/>
                </a:solidFill>
              </a:rPr>
              <a:t>】</a:t>
            </a:r>
            <a:endParaRPr lang="zh-CN" altLang="en-US" sz="1800" b="1" dirty="0">
              <a:solidFill>
                <a:srgbClr val="0070C0"/>
              </a:solidFill>
            </a:endParaRPr>
          </a:p>
          <a:p>
            <a:pPr eaLnBrk="1" hangingPunct="1">
              <a:lnSpc>
                <a:spcPct val="110000"/>
              </a:lnSpc>
              <a:spcBef>
                <a:spcPct val="0"/>
              </a:spcBef>
              <a:buSzTx/>
              <a:buFont typeface="Wingdings" panose="05000000000000000000" pitchFamily="2" charset="2"/>
              <a:buNone/>
            </a:pPr>
            <a:r>
              <a:rPr lang="zh-CN" altLang="en-US" sz="1800" b="1" dirty="0"/>
              <a:t>  </a:t>
            </a:r>
            <a:r>
              <a:rPr lang="zh-CN" altLang="en-US" sz="1800" b="1" dirty="0">
                <a:solidFill>
                  <a:schemeClr val="hlink"/>
                </a:solidFill>
              </a:rPr>
              <a:t>CREATE ROLE C1;</a:t>
            </a:r>
          </a:p>
          <a:p>
            <a:pPr eaLnBrk="1" hangingPunct="1">
              <a:lnSpc>
                <a:spcPct val="110000"/>
              </a:lnSpc>
              <a:spcBef>
                <a:spcPct val="0"/>
              </a:spcBef>
              <a:buSzTx/>
              <a:buFont typeface="Wingdings" panose="05000000000000000000" pitchFamily="2" charset="2"/>
              <a:buNone/>
            </a:pPr>
            <a:endParaRPr lang="zh-CN" altLang="en-US" sz="1800" b="1" dirty="0">
              <a:solidFill>
                <a:schemeClr val="hlink"/>
              </a:solidFill>
            </a:endParaRPr>
          </a:p>
          <a:p>
            <a:pPr eaLnBrk="1" hangingPunct="1">
              <a:lnSpc>
                <a:spcPct val="110000"/>
              </a:lnSpc>
              <a:spcBef>
                <a:spcPct val="0"/>
              </a:spcBef>
              <a:buSzTx/>
              <a:buFont typeface="Wingdings" panose="05000000000000000000" pitchFamily="2" charset="2"/>
              <a:buNone/>
            </a:pPr>
            <a:r>
              <a:rPr lang="zh-CN" altLang="en-US" sz="1800" b="1" dirty="0"/>
              <a:t>  </a:t>
            </a:r>
            <a:r>
              <a:rPr lang="zh-CN" altLang="en-US" sz="1800" b="1" dirty="0">
                <a:solidFill>
                  <a:schemeClr val="folHlink"/>
                </a:solidFill>
              </a:rPr>
              <a:t>GRANT SELECT,INSERT</a:t>
            </a:r>
            <a:endParaRPr lang="en-US" altLang="zh-CN" sz="1800" b="1" dirty="0">
              <a:solidFill>
                <a:schemeClr val="folHlink"/>
              </a:solidFill>
            </a:endParaRPr>
          </a:p>
          <a:p>
            <a:pPr eaLnBrk="1" hangingPunct="1">
              <a:lnSpc>
                <a:spcPct val="110000"/>
              </a:lnSpc>
              <a:spcBef>
                <a:spcPct val="0"/>
              </a:spcBef>
              <a:buSzTx/>
              <a:buFont typeface="Wingdings" panose="05000000000000000000" pitchFamily="2" charset="2"/>
              <a:buNone/>
            </a:pPr>
            <a:r>
              <a:rPr lang="zh-CN" altLang="en-US" sz="1800" b="1" dirty="0">
                <a:solidFill>
                  <a:schemeClr val="folHlink"/>
                </a:solidFill>
              </a:rPr>
              <a:t>  ON TABLE Student</a:t>
            </a:r>
          </a:p>
          <a:p>
            <a:pPr eaLnBrk="1" hangingPunct="1">
              <a:lnSpc>
                <a:spcPct val="110000"/>
              </a:lnSpc>
              <a:spcBef>
                <a:spcPct val="0"/>
              </a:spcBef>
              <a:buSzTx/>
              <a:buFont typeface="Wingdings" panose="05000000000000000000" pitchFamily="2" charset="2"/>
              <a:buNone/>
            </a:pPr>
            <a:r>
              <a:rPr lang="zh-CN" altLang="en-US" sz="1800" b="1" dirty="0">
                <a:solidFill>
                  <a:schemeClr val="folHlink"/>
                </a:solidFill>
              </a:rPr>
              <a:t>  TO C1；</a:t>
            </a:r>
          </a:p>
          <a:p>
            <a:pPr eaLnBrk="1" hangingPunct="1">
              <a:lnSpc>
                <a:spcPct val="110000"/>
              </a:lnSpc>
              <a:spcBef>
                <a:spcPct val="0"/>
              </a:spcBef>
              <a:buSzTx/>
              <a:buFont typeface="Wingdings" panose="05000000000000000000" pitchFamily="2" charset="2"/>
              <a:buNone/>
            </a:pPr>
            <a:endParaRPr lang="zh-CN" altLang="en-US" sz="1800" b="1" dirty="0">
              <a:solidFill>
                <a:schemeClr val="folHlink"/>
              </a:solidFill>
            </a:endParaRPr>
          </a:p>
          <a:p>
            <a:pPr eaLnBrk="1" hangingPunct="1">
              <a:lnSpc>
                <a:spcPct val="110000"/>
              </a:lnSpc>
              <a:spcBef>
                <a:spcPct val="0"/>
              </a:spcBef>
              <a:buSzTx/>
              <a:buFont typeface="Wingdings" panose="05000000000000000000" pitchFamily="2" charset="2"/>
              <a:buNone/>
            </a:pPr>
            <a:r>
              <a:rPr lang="zh-CN" altLang="en-US" sz="1800" b="1" dirty="0"/>
              <a:t>  </a:t>
            </a:r>
            <a:r>
              <a:rPr lang="zh-CN" altLang="en-US" sz="1800" b="1" dirty="0">
                <a:solidFill>
                  <a:srgbClr val="A742D4"/>
                </a:solidFill>
              </a:rPr>
              <a:t>GRANT C1</a:t>
            </a:r>
          </a:p>
          <a:p>
            <a:pPr eaLnBrk="1" hangingPunct="1">
              <a:lnSpc>
                <a:spcPct val="110000"/>
              </a:lnSpc>
              <a:spcBef>
                <a:spcPct val="0"/>
              </a:spcBef>
              <a:buSzTx/>
              <a:buFont typeface="Wingdings" panose="05000000000000000000" pitchFamily="2" charset="2"/>
              <a:buNone/>
            </a:pPr>
            <a:r>
              <a:rPr lang="zh-CN" altLang="en-US" sz="1800" b="1" dirty="0">
                <a:solidFill>
                  <a:srgbClr val="A742D4"/>
                </a:solidFill>
              </a:rPr>
              <a:t>  TO U1,U2,U3；</a:t>
            </a:r>
          </a:p>
          <a:p>
            <a:pPr eaLnBrk="1" hangingPunct="1">
              <a:lnSpc>
                <a:spcPct val="110000"/>
              </a:lnSpc>
              <a:spcBef>
                <a:spcPct val="0"/>
              </a:spcBef>
              <a:buSzTx/>
              <a:buFont typeface="Wingdings" panose="05000000000000000000" pitchFamily="2" charset="2"/>
              <a:buNone/>
            </a:pPr>
            <a:endParaRPr lang="zh-CN" altLang="en-US" sz="1800" b="1" dirty="0">
              <a:solidFill>
                <a:srgbClr val="A742D4"/>
              </a:solidFill>
            </a:endParaRPr>
          </a:p>
          <a:p>
            <a:pPr eaLnBrk="1" hangingPunct="1">
              <a:lnSpc>
                <a:spcPct val="110000"/>
              </a:lnSpc>
              <a:spcBef>
                <a:spcPct val="0"/>
              </a:spcBef>
              <a:buSzTx/>
              <a:buFont typeface="Wingdings" panose="05000000000000000000" pitchFamily="2" charset="2"/>
              <a:buNone/>
            </a:pPr>
            <a:r>
              <a:rPr lang="zh-CN" altLang="en-US" sz="1800" b="1" dirty="0"/>
              <a:t>  </a:t>
            </a:r>
            <a:r>
              <a:rPr lang="zh-CN" altLang="en-US" sz="1800" b="1" dirty="0">
                <a:solidFill>
                  <a:schemeClr val="folHlink"/>
                </a:solidFill>
              </a:rPr>
              <a:t> </a:t>
            </a:r>
          </a:p>
          <a:p>
            <a:pPr eaLnBrk="1" hangingPunct="1">
              <a:lnSpc>
                <a:spcPct val="110000"/>
              </a:lnSpc>
              <a:spcBef>
                <a:spcPct val="0"/>
              </a:spcBef>
              <a:buSzTx/>
              <a:buFont typeface="Wingdings" panose="05000000000000000000" pitchFamily="2" charset="2"/>
              <a:buNone/>
            </a:pPr>
            <a:r>
              <a:rPr lang="zh-CN" altLang="en-US" sz="1350" b="1" dirty="0"/>
              <a:t>  </a:t>
            </a:r>
            <a:endParaRPr lang="zh-CN" altLang="en-US" sz="1350" b="1" dirty="0">
              <a:solidFill>
                <a:srgbClr val="37C968"/>
              </a:solidFill>
            </a:endParaRPr>
          </a:p>
          <a:p>
            <a:pPr eaLnBrk="1" hangingPunct="1">
              <a:lnSpc>
                <a:spcPct val="120000"/>
              </a:lnSpc>
              <a:buSzTx/>
              <a:buFont typeface="Wingdings" panose="05000000000000000000" pitchFamily="2" charset="2"/>
              <a:buNone/>
            </a:pPr>
            <a:endParaRPr lang="zh-CN" altLang="en-US" sz="1350" b="1" dirty="0"/>
          </a:p>
        </p:txBody>
      </p:sp>
      <p:sp>
        <p:nvSpPr>
          <p:cNvPr id="38915" name="Rectangle 4"/>
          <p:cNvSpPr/>
          <p:nvPr/>
        </p:nvSpPr>
        <p:spPr>
          <a:xfrm>
            <a:off x="5086350" y="1688038"/>
            <a:ext cx="3429000" cy="2723823"/>
          </a:xfrm>
          <a:prstGeom prst="rect">
            <a:avLst/>
          </a:prstGeom>
          <a:noFill/>
          <a:ln w="9525">
            <a:noFill/>
          </a:ln>
        </p:spPr>
        <p:txBody>
          <a:bodyPr anchor="t" anchorCtr="0">
            <a:spAutoFit/>
          </a:bodyPr>
          <a:lstStyle/>
          <a:p>
            <a:pPr marL="171450" indent="-171450"/>
            <a:r>
              <a:rPr lang="zh-CN" altLang="en-US" b="1" spc="113" dirty="0">
                <a:solidFill>
                  <a:schemeClr val="accent5"/>
                </a:solidFill>
                <a:latin typeface="Microsoft YaHei" panose="020B0503020204020204" pitchFamily="34" charset="-122"/>
                <a:ea typeface="Microsoft YaHei" panose="020B0503020204020204" pitchFamily="34" charset="-122"/>
                <a:sym typeface="+mn-ea"/>
              </a:rPr>
              <a:t>GRANT UPDATE,DELETE</a:t>
            </a:r>
            <a:endParaRPr lang="zh-CN" altLang="en-US" b="1" spc="113" dirty="0">
              <a:solidFill>
                <a:schemeClr val="accent5"/>
              </a:solidFill>
              <a:latin typeface="Microsoft YaHei" panose="020B0503020204020204" pitchFamily="34" charset="-122"/>
              <a:ea typeface="Microsoft YaHei" panose="020B0503020204020204" pitchFamily="34" charset="-122"/>
            </a:endParaRPr>
          </a:p>
          <a:p>
            <a:pPr marL="171450" indent="-171450"/>
            <a:r>
              <a:rPr lang="zh-CN" altLang="en-US" b="1" spc="113" dirty="0">
                <a:solidFill>
                  <a:schemeClr val="accent5"/>
                </a:solidFill>
                <a:latin typeface="Microsoft YaHei" panose="020B0503020204020204" pitchFamily="34" charset="-122"/>
                <a:ea typeface="Microsoft YaHei" panose="020B0503020204020204" pitchFamily="34" charset="-122"/>
                <a:sym typeface="+mn-ea"/>
              </a:rPr>
              <a:t>  ON TABLE Student</a:t>
            </a:r>
          </a:p>
          <a:p>
            <a:pPr marL="171450" indent="-171450"/>
            <a:r>
              <a:rPr lang="zh-CN" altLang="en-US" b="1" spc="113" dirty="0">
                <a:solidFill>
                  <a:schemeClr val="accent5"/>
                </a:solidFill>
                <a:latin typeface="Microsoft YaHei" panose="020B0503020204020204" pitchFamily="34" charset="-122"/>
                <a:ea typeface="Microsoft YaHei" panose="020B0503020204020204" pitchFamily="34" charset="-122"/>
                <a:sym typeface="+mn-ea"/>
              </a:rPr>
              <a:t> TO C1；</a:t>
            </a:r>
            <a:endParaRPr lang="zh-CN" altLang="en-US" b="1" spc="113" dirty="0">
              <a:solidFill>
                <a:schemeClr val="accent5"/>
              </a:solidFill>
              <a:latin typeface="Microsoft YaHei" panose="020B0503020204020204" pitchFamily="34" charset="-122"/>
              <a:ea typeface="Microsoft YaHei" panose="020B0503020204020204" pitchFamily="34" charset="-122"/>
            </a:endParaRPr>
          </a:p>
          <a:p>
            <a:endParaRPr lang="zh-CN" altLang="zh-CN" sz="1350" dirty="0">
              <a:solidFill>
                <a:schemeClr val="tx2"/>
              </a:solidFill>
              <a:latin typeface="Microsoft YaHei" panose="020B0503020204020204" pitchFamily="34" charset="-122"/>
              <a:ea typeface="Microsoft YaHei" panose="020B0503020204020204" pitchFamily="34" charset="-122"/>
            </a:endParaRPr>
          </a:p>
          <a:p>
            <a:pPr marL="171450" indent="-171450">
              <a:buFont typeface="Wingdings" panose="05000000000000000000" pitchFamily="2" charset="2"/>
            </a:pPr>
            <a:r>
              <a:rPr lang="zh-CN" altLang="en-US" b="1" spc="113" dirty="0">
                <a:solidFill>
                  <a:srgbClr val="C00000"/>
                </a:solidFill>
                <a:latin typeface="Microsoft YaHei" panose="020B0503020204020204" pitchFamily="34" charset="-122"/>
                <a:ea typeface="Microsoft YaHei" panose="020B0503020204020204" pitchFamily="34" charset="-122"/>
              </a:rPr>
              <a:t>REVOKE C1</a:t>
            </a:r>
          </a:p>
          <a:p>
            <a:pPr marL="171450" indent="-171450">
              <a:buFont typeface="Wingdings" panose="05000000000000000000" pitchFamily="2" charset="2"/>
            </a:pPr>
            <a:r>
              <a:rPr lang="zh-CN" altLang="en-US" b="1" spc="113" dirty="0">
                <a:solidFill>
                  <a:srgbClr val="C00000"/>
                </a:solidFill>
                <a:latin typeface="Microsoft YaHei" panose="020B0503020204020204" pitchFamily="34" charset="-122"/>
                <a:ea typeface="Microsoft YaHei" panose="020B0503020204020204" pitchFamily="34" charset="-122"/>
              </a:rPr>
              <a:t>FROM U3;</a:t>
            </a:r>
          </a:p>
          <a:p>
            <a:endParaRPr lang="zh-CN" altLang="zh-CN" sz="1350" dirty="0">
              <a:solidFill>
                <a:schemeClr val="tx2"/>
              </a:solidFill>
              <a:latin typeface="Microsoft YaHei" panose="020B0503020204020204" pitchFamily="34" charset="-122"/>
              <a:ea typeface="Microsoft YaHei" panose="020B0503020204020204" pitchFamily="34" charset="-122"/>
            </a:endParaRPr>
          </a:p>
          <a:p>
            <a:pPr marL="171450" indent="-171450">
              <a:buFont typeface="Wingdings" panose="05000000000000000000" pitchFamily="2" charset="2"/>
            </a:pPr>
            <a:r>
              <a:rPr lang="zh-CN" altLang="en-US" b="1" spc="113" dirty="0">
                <a:latin typeface="Microsoft YaHei" panose="020B0503020204020204" pitchFamily="34" charset="-122"/>
                <a:ea typeface="Microsoft YaHei" panose="020B0503020204020204" pitchFamily="34" charset="-122"/>
              </a:rPr>
              <a:t>REVOKE INSERT</a:t>
            </a:r>
          </a:p>
          <a:p>
            <a:pPr marL="171450" indent="-171450">
              <a:buFont typeface="Wingdings" panose="05000000000000000000" pitchFamily="2" charset="2"/>
            </a:pPr>
            <a:r>
              <a:rPr lang="zh-CN" altLang="en-US" b="1" spc="113" dirty="0">
                <a:latin typeface="Microsoft YaHei" panose="020B0503020204020204" pitchFamily="34" charset="-122"/>
                <a:ea typeface="Microsoft YaHei" panose="020B0503020204020204" pitchFamily="34" charset="-122"/>
              </a:rPr>
              <a:t>ON TABLE Student</a:t>
            </a:r>
          </a:p>
          <a:p>
            <a:pPr marL="171450" indent="-171450">
              <a:buFont typeface="Wingdings" panose="05000000000000000000" pitchFamily="2" charset="2"/>
            </a:pPr>
            <a:r>
              <a:rPr lang="zh-CN" altLang="en-US" b="1" spc="113" dirty="0">
                <a:latin typeface="Microsoft YaHei" panose="020B0503020204020204" pitchFamily="34" charset="-122"/>
                <a:ea typeface="Microsoft YaHei" panose="020B0503020204020204" pitchFamily="34" charset="-122"/>
              </a:rPr>
              <a:t>FROM C1；</a:t>
            </a:r>
          </a:p>
        </p:txBody>
      </p:sp>
      <p:sp>
        <p:nvSpPr>
          <p:cNvPr id="3" name="标题 2">
            <a:extLst>
              <a:ext uri="{FF2B5EF4-FFF2-40B4-BE49-F238E27FC236}">
                <a16:creationId xmlns:a16="http://schemas.microsoft.com/office/drawing/2014/main" id="{A85CD3DC-BF47-A156-6102-2BAF2ED2DD1F}"/>
              </a:ext>
            </a:extLst>
          </p:cNvPr>
          <p:cNvSpPr>
            <a:spLocks noGrp="1"/>
          </p:cNvSpPr>
          <p:nvPr>
            <p:ph type="title"/>
          </p:nvPr>
        </p:nvSpPr>
        <p:spPr/>
        <p:txBody>
          <a:bodyPr/>
          <a:lstStyle/>
          <a:p>
            <a:r>
              <a:rPr lang="zh-CN" altLang="en-US" dirty="0"/>
              <a:t>角色操作实例</a:t>
            </a:r>
          </a:p>
        </p:txBody>
      </p:sp>
    </p:spTree>
  </p:cSld>
  <p:clrMapOvr>
    <a:masterClrMapping/>
  </p:clrMapOvr>
  <p:transition spd="slow">
    <p:blinds dir="vert"/>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3"/>
          <p:cNvSpPr>
            <a:spLocks noGrp="1"/>
          </p:cNvSpPr>
          <p:nvPr>
            <p:ph idx="1"/>
          </p:nvPr>
        </p:nvSpPr>
        <p:spPr/>
        <p:txBody>
          <a:bodyPr vert="horz" wrap="square" lIns="68580" tIns="34290" rIns="68580" bIns="34290" rtlCol="0" anchor="t" anchorCtr="0">
            <a:normAutofit/>
          </a:bodyPr>
          <a:lstStyle/>
          <a:p>
            <a:pPr eaLnBrk="1" hangingPunct="1">
              <a:buSzTx/>
              <a:buFont typeface="Wingdings" panose="05000000000000000000" pitchFamily="2" charset="2"/>
              <a:buNone/>
            </a:pPr>
            <a:r>
              <a:rPr lang="zh-CN" altLang="en-US" sz="2400" b="1" dirty="0"/>
              <a:t>1.SQL的特点、功能</a:t>
            </a:r>
            <a:endParaRPr lang="en-US" altLang="zh-CN" sz="2400" b="1" dirty="0"/>
          </a:p>
          <a:p>
            <a:pPr eaLnBrk="1" hangingPunct="1">
              <a:buSzTx/>
              <a:buFont typeface="Wingdings" panose="05000000000000000000" pitchFamily="2" charset="2"/>
              <a:buNone/>
            </a:pPr>
            <a:endParaRPr lang="zh-CN" altLang="en-US" sz="2400" b="1" dirty="0"/>
          </a:p>
          <a:p>
            <a:pPr eaLnBrk="1" hangingPunct="1">
              <a:buSzTx/>
              <a:buFont typeface="Wingdings" panose="05000000000000000000" pitchFamily="2" charset="2"/>
              <a:buNone/>
            </a:pPr>
            <a:r>
              <a:rPr lang="zh-CN" altLang="en-US" sz="2400" b="1" dirty="0"/>
              <a:t>2.SQL查询、更新</a:t>
            </a:r>
            <a:endParaRPr lang="en-US" altLang="zh-CN" sz="2400" b="1" dirty="0"/>
          </a:p>
          <a:p>
            <a:pPr eaLnBrk="1" hangingPunct="1">
              <a:buSzTx/>
              <a:buFont typeface="Wingdings" panose="05000000000000000000" pitchFamily="2" charset="2"/>
              <a:buNone/>
            </a:pPr>
            <a:endParaRPr lang="zh-CN" altLang="en-US" sz="2400" b="1" dirty="0"/>
          </a:p>
          <a:p>
            <a:pPr eaLnBrk="1" hangingPunct="1">
              <a:buSzTx/>
              <a:buFont typeface="Wingdings" panose="05000000000000000000" pitchFamily="2" charset="2"/>
              <a:buNone/>
            </a:pPr>
            <a:r>
              <a:rPr lang="zh-CN" altLang="en-US" sz="2400" b="1" dirty="0"/>
              <a:t>3.视图的概念、定义及作用</a:t>
            </a:r>
            <a:endParaRPr lang="en-US" altLang="zh-CN" sz="2400" b="1" dirty="0"/>
          </a:p>
          <a:p>
            <a:pPr eaLnBrk="1" hangingPunct="1">
              <a:buSzTx/>
              <a:buFont typeface="Wingdings" panose="05000000000000000000" pitchFamily="2" charset="2"/>
              <a:buNone/>
            </a:pPr>
            <a:endParaRPr lang="zh-CN" altLang="en-US" sz="2400" b="1" dirty="0"/>
          </a:p>
          <a:p>
            <a:pPr eaLnBrk="1" hangingPunct="1">
              <a:buSzTx/>
              <a:buFont typeface="Wingdings" panose="05000000000000000000" pitchFamily="2" charset="2"/>
              <a:buNone/>
            </a:pPr>
            <a:r>
              <a:rPr lang="en-US" altLang="zh-CN" sz="2400" b="1" dirty="0"/>
              <a:t>4.SQL</a:t>
            </a:r>
            <a:r>
              <a:rPr lang="zh-CN" altLang="en-US" sz="2400" b="1" dirty="0"/>
              <a:t>控制</a:t>
            </a:r>
          </a:p>
        </p:txBody>
      </p:sp>
      <p:pic>
        <p:nvPicPr>
          <p:cNvPr id="102404" name="Picture 4" descr="BD06982_"/>
          <p:cNvPicPr>
            <a:picLocks noChangeAspect="1"/>
          </p:cNvPicPr>
          <p:nvPr/>
        </p:nvPicPr>
        <p:blipFill>
          <a:blip r:embed="rId2"/>
          <a:stretch>
            <a:fillRect/>
          </a:stretch>
        </p:blipFill>
        <p:spPr>
          <a:xfrm>
            <a:off x="5486400" y="3932635"/>
            <a:ext cx="2514600" cy="1210865"/>
          </a:xfrm>
          <a:prstGeom prst="rect">
            <a:avLst/>
          </a:prstGeom>
          <a:noFill/>
          <a:ln w="9525">
            <a:noFill/>
          </a:ln>
        </p:spPr>
      </p:pic>
      <p:sp>
        <p:nvSpPr>
          <p:cNvPr id="3" name="标题 2">
            <a:extLst>
              <a:ext uri="{FF2B5EF4-FFF2-40B4-BE49-F238E27FC236}">
                <a16:creationId xmlns:a16="http://schemas.microsoft.com/office/drawing/2014/main" id="{7A6F1913-1F6F-34E9-6310-6E9957842E2A}"/>
              </a:ext>
            </a:extLst>
          </p:cNvPr>
          <p:cNvSpPr>
            <a:spLocks noGrp="1"/>
          </p:cNvSpPr>
          <p:nvPr>
            <p:ph type="title"/>
          </p:nvPr>
        </p:nvSpPr>
        <p:spPr/>
        <p:txBody>
          <a:bodyPr/>
          <a:lstStyle/>
          <a:p>
            <a:r>
              <a:rPr lang="zh-CN" altLang="en-US" dirty="0"/>
              <a:t>第</a:t>
            </a:r>
            <a:r>
              <a:rPr lang="en-US" altLang="zh-CN" dirty="0"/>
              <a:t>3</a:t>
            </a:r>
            <a:r>
              <a:rPr lang="zh-CN" altLang="en-US" dirty="0"/>
              <a:t>章 数据库语言</a:t>
            </a:r>
            <a:r>
              <a:rPr lang="zh-CN" altLang="en-US" dirty="0">
                <a:solidFill>
                  <a:srgbClr val="C00000"/>
                </a:solidFill>
              </a:rPr>
              <a:t>要点</a:t>
            </a:r>
          </a:p>
        </p:txBody>
      </p:sp>
      <p:sp>
        <p:nvSpPr>
          <p:cNvPr id="2" name="AutoShape 4">
            <a:extLst>
              <a:ext uri="{FF2B5EF4-FFF2-40B4-BE49-F238E27FC236}">
                <a16:creationId xmlns:a16="http://schemas.microsoft.com/office/drawing/2014/main" id="{C4B4D7AF-BD42-0548-273C-2BFF5F19197B}"/>
              </a:ext>
            </a:extLst>
          </p:cNvPr>
          <p:cNvSpPr>
            <a:spLocks noChangeArrowheads="1"/>
          </p:cNvSpPr>
          <p:nvPr/>
        </p:nvSpPr>
        <p:spPr bwMode="auto">
          <a:xfrm>
            <a:off x="4785599" y="1685925"/>
            <a:ext cx="4077295" cy="1771650"/>
          </a:xfrm>
          <a:prstGeom prst="horizontalScroll">
            <a:avLst>
              <a:gd name="adj" fmla="val 22769"/>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spcBef>
                <a:spcPct val="20000"/>
              </a:spcBef>
              <a:buClr>
                <a:schemeClr val="folHlink"/>
              </a:buClr>
              <a:buSzPct val="60000"/>
              <a:buFont typeface="Wingdings" pitchFamily="2" charset="2"/>
              <a:buChar char="n"/>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spcBef>
                <a:spcPct val="20000"/>
              </a:spcBef>
              <a:buClr>
                <a:schemeClr val="folHlink"/>
              </a:buClr>
              <a:buSzPct val="60000"/>
              <a:buFont typeface="Wingdings" pitchFamily="2" charset="2"/>
              <a:buChar char="n"/>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spcBef>
                <a:spcPct val="20000"/>
              </a:spcBef>
              <a:buClr>
                <a:schemeClr val="folHlink"/>
              </a:buClr>
              <a:buSzPct val="60000"/>
              <a:buFont typeface="Wingdings" pitchFamily="2" charset="2"/>
              <a:buChar char="n"/>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spcBef>
                <a:spcPct val="20000"/>
              </a:spcBef>
              <a:buClr>
                <a:schemeClr val="folHlink"/>
              </a:buClr>
              <a:buSzPct val="60000"/>
              <a:buFont typeface="Wingdings" pitchFamily="2" charset="2"/>
              <a:buChar char="n"/>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100" dirty="0">
                <a:latin typeface="Microsoft YaHei" panose="020B0503020204020204" pitchFamily="34" charset="-122"/>
                <a:ea typeface="Microsoft YaHei" panose="020B0503020204020204" pitchFamily="34" charset="-122"/>
              </a:rPr>
              <a:t>作业（希冀平台提交）</a:t>
            </a:r>
            <a:endParaRPr lang="en-US" altLang="zh-CN" sz="2100" dirty="0">
              <a:latin typeface="Microsoft YaHei" panose="020B0503020204020204" pitchFamily="34" charset="-122"/>
              <a:ea typeface="Microsoft YaHei" panose="020B0503020204020204" pitchFamily="34" charset="-122"/>
            </a:endParaRPr>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6523</TotalTime>
  <Words>8284</Words>
  <Application>Microsoft Macintosh PowerPoint</Application>
  <PresentationFormat>全屏显示(16:9)</PresentationFormat>
  <Paragraphs>1075</Paragraphs>
  <Slides>92</Slides>
  <Notes>7</Notes>
  <HiddenSlides>0</HiddenSlides>
  <MMClips>0</MMClips>
  <ScaleCrop>false</ScaleCrop>
  <HeadingPairs>
    <vt:vector size="8" baseType="variant">
      <vt:variant>
        <vt:lpstr>已用的字体</vt:lpstr>
      </vt:variant>
      <vt:variant>
        <vt:i4>8</vt:i4>
      </vt:variant>
      <vt:variant>
        <vt:lpstr>主题</vt:lpstr>
      </vt:variant>
      <vt:variant>
        <vt:i4>2</vt:i4>
      </vt:variant>
      <vt:variant>
        <vt:lpstr>嵌入 OLE 服务器</vt:lpstr>
      </vt:variant>
      <vt:variant>
        <vt:i4>2</vt:i4>
      </vt:variant>
      <vt:variant>
        <vt:lpstr>幻灯片标题</vt:lpstr>
      </vt:variant>
      <vt:variant>
        <vt:i4>92</vt:i4>
      </vt:variant>
    </vt:vector>
  </HeadingPairs>
  <TitlesOfParts>
    <vt:vector size="104" baseType="lpstr">
      <vt:lpstr>等线</vt:lpstr>
      <vt:lpstr>Arial</vt:lpstr>
      <vt:lpstr>Symbol</vt:lpstr>
      <vt:lpstr>楷体</vt:lpstr>
      <vt:lpstr>Cambria Math</vt:lpstr>
      <vt:lpstr>Tahoma</vt:lpstr>
      <vt:lpstr>Microsoft YaHei</vt:lpstr>
      <vt:lpstr>Wingdings</vt:lpstr>
      <vt:lpstr>Office Theme</vt:lpstr>
      <vt:lpstr>自定义设计方案</vt:lpstr>
      <vt:lpstr>文档</vt:lpstr>
      <vt:lpstr>图片</vt:lpstr>
      <vt:lpstr>PowerPoint 演示文稿</vt:lpstr>
      <vt:lpstr>PowerPoint 演示文稿</vt:lpstr>
      <vt:lpstr>PowerPoint 演示文稿</vt:lpstr>
      <vt:lpstr>SQL简介</vt:lpstr>
      <vt:lpstr>SQL的功能、特点</vt:lpstr>
      <vt:lpstr>SQL的功能、特点</vt:lpstr>
      <vt:lpstr>SQL的基本组成</vt:lpstr>
      <vt:lpstr>SQL的基本组成</vt:lpstr>
      <vt:lpstr>SQL的基本组成</vt:lpstr>
      <vt:lpstr>SQL的基本组成</vt:lpstr>
      <vt:lpstr>PowerPoint 演示文稿</vt:lpstr>
      <vt:lpstr>SQL的数据定义语句</vt:lpstr>
      <vt:lpstr>Schema的定义</vt:lpstr>
      <vt:lpstr>删除Schema</vt:lpstr>
      <vt:lpstr>创建表</vt:lpstr>
      <vt:lpstr>表创建实例</vt:lpstr>
      <vt:lpstr>完整性定义</vt:lpstr>
      <vt:lpstr>参照完整性</vt:lpstr>
      <vt:lpstr>参照完整性</vt:lpstr>
      <vt:lpstr>删除表</vt:lpstr>
      <vt:lpstr>表的修改</vt:lpstr>
      <vt:lpstr>表的修改</vt:lpstr>
      <vt:lpstr>表的修改</vt:lpstr>
      <vt:lpstr>表的修改</vt:lpstr>
      <vt:lpstr>域定义</vt:lpstr>
      <vt:lpstr>PowerPoint 演示文稿</vt:lpstr>
      <vt:lpstr>SQL的数据查询</vt:lpstr>
      <vt:lpstr>单表查询</vt:lpstr>
      <vt:lpstr>单表查询</vt:lpstr>
      <vt:lpstr>单表查询</vt:lpstr>
      <vt:lpstr>单表查询</vt:lpstr>
      <vt:lpstr>单表查询</vt:lpstr>
      <vt:lpstr>单表查询</vt:lpstr>
      <vt:lpstr>单表查询</vt:lpstr>
      <vt:lpstr>单表查询</vt:lpstr>
      <vt:lpstr>单表查询</vt:lpstr>
      <vt:lpstr>单表查询</vt:lpstr>
      <vt:lpstr>单表查询</vt:lpstr>
      <vt:lpstr>单表查询</vt:lpstr>
      <vt:lpstr>单表查询</vt:lpstr>
      <vt:lpstr>单表查询</vt:lpstr>
      <vt:lpstr>分组查询示意图</vt:lpstr>
      <vt:lpstr>单表查询</vt:lpstr>
      <vt:lpstr>多表查询 –– 非相关子查询</vt:lpstr>
      <vt:lpstr>非相关子查询</vt:lpstr>
      <vt:lpstr>非相关子查询</vt:lpstr>
      <vt:lpstr>非相关子查询</vt:lpstr>
      <vt:lpstr>非相关子查询</vt:lpstr>
      <vt:lpstr>多表查询 –– 连接查询</vt:lpstr>
      <vt:lpstr>连接查询</vt:lpstr>
      <vt:lpstr>自连接</vt:lpstr>
      <vt:lpstr>自连接</vt:lpstr>
      <vt:lpstr>相关子查询</vt:lpstr>
      <vt:lpstr>相关子查询</vt:lpstr>
      <vt:lpstr>相关子查询</vt:lpstr>
      <vt:lpstr>相关子查询</vt:lpstr>
      <vt:lpstr>相关子查询</vt:lpstr>
      <vt:lpstr>相关子查询</vt:lpstr>
      <vt:lpstr>相关子查询</vt:lpstr>
      <vt:lpstr>多表查询 –– 集合运算</vt:lpstr>
      <vt:lpstr>更多的连接查询形式</vt:lpstr>
      <vt:lpstr>外连接实例</vt:lpstr>
      <vt:lpstr>SQL中的空值</vt:lpstr>
      <vt:lpstr>数据插入</vt:lpstr>
      <vt:lpstr>数据插入</vt:lpstr>
      <vt:lpstr>数据修改（更新）</vt:lpstr>
      <vt:lpstr>数据修改（更新）</vt:lpstr>
      <vt:lpstr>数据删除</vt:lpstr>
      <vt:lpstr>PowerPoint 演示文稿</vt:lpstr>
      <vt:lpstr>视图</vt:lpstr>
      <vt:lpstr>创建视图</vt:lpstr>
      <vt:lpstr>行列子集视图</vt:lpstr>
      <vt:lpstr>视图上的视图</vt:lpstr>
      <vt:lpstr>带虚拟列的视图</vt:lpstr>
      <vt:lpstr>分组视图</vt:lpstr>
      <vt:lpstr>删除视图</vt:lpstr>
      <vt:lpstr>视图的使用</vt:lpstr>
      <vt:lpstr>更新视图的限制</vt:lpstr>
      <vt:lpstr>物化视图（Materialized View）</vt:lpstr>
      <vt:lpstr>索引</vt:lpstr>
      <vt:lpstr>创建索引</vt:lpstr>
      <vt:lpstr>创建索引例子和索引删除</vt:lpstr>
      <vt:lpstr>更多数据库对象</vt:lpstr>
      <vt:lpstr>PowerPoint 演示文稿</vt:lpstr>
      <vt:lpstr>DCL的主要语句</vt:lpstr>
      <vt:lpstr>SQL视角中的数据库安全</vt:lpstr>
      <vt:lpstr>授权语句</vt:lpstr>
      <vt:lpstr>授权实例</vt:lpstr>
      <vt:lpstr>收回权限</vt:lpstr>
      <vt:lpstr>角色操作</vt:lpstr>
      <vt:lpstr>角色操作实例</vt:lpstr>
      <vt:lpstr>第3章 数据库语言要点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煜玮 彭</cp:lastModifiedBy>
  <cp:revision>523</cp:revision>
  <dcterms:modified xsi:type="dcterms:W3CDTF">2026-02-22T01:54:37Z</dcterms:modified>
</cp:coreProperties>
</file>