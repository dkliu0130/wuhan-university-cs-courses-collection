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0" r:id="rId2"/>
  </p:sldMasterIdLst>
  <p:notesMasterIdLst>
    <p:notesMasterId r:id="rId42"/>
  </p:notesMasterIdLst>
  <p:handoutMasterIdLst>
    <p:handoutMasterId r:id="rId43"/>
  </p:handoutMasterIdLst>
  <p:sldIdLst>
    <p:sldId id="256" r:id="rId3"/>
    <p:sldId id="526" r:id="rId4"/>
    <p:sldId id="527" r:id="rId5"/>
    <p:sldId id="2749" r:id="rId6"/>
    <p:sldId id="2750" r:id="rId7"/>
    <p:sldId id="2739" r:id="rId8"/>
    <p:sldId id="2747" r:id="rId9"/>
    <p:sldId id="2740" r:id="rId10"/>
    <p:sldId id="2748" r:id="rId11"/>
    <p:sldId id="2742" r:id="rId12"/>
    <p:sldId id="2751" r:id="rId13"/>
    <p:sldId id="2741" r:id="rId14"/>
    <p:sldId id="313" r:id="rId15"/>
    <p:sldId id="337" r:id="rId16"/>
    <p:sldId id="339" r:id="rId17"/>
    <p:sldId id="292" r:id="rId18"/>
    <p:sldId id="343" r:id="rId19"/>
    <p:sldId id="344" r:id="rId20"/>
    <p:sldId id="2744" r:id="rId21"/>
    <p:sldId id="374" r:id="rId22"/>
    <p:sldId id="375" r:id="rId23"/>
    <p:sldId id="376" r:id="rId24"/>
    <p:sldId id="347" r:id="rId25"/>
    <p:sldId id="362" r:id="rId26"/>
    <p:sldId id="363" r:id="rId27"/>
    <p:sldId id="364" r:id="rId28"/>
    <p:sldId id="380" r:id="rId29"/>
    <p:sldId id="381" r:id="rId30"/>
    <p:sldId id="528" r:id="rId31"/>
    <p:sldId id="2752" r:id="rId32"/>
    <p:sldId id="2753" r:id="rId33"/>
    <p:sldId id="2758" r:id="rId34"/>
    <p:sldId id="2754" r:id="rId35"/>
    <p:sldId id="2755" r:id="rId36"/>
    <p:sldId id="2756" r:id="rId37"/>
    <p:sldId id="2757" r:id="rId38"/>
    <p:sldId id="2759" r:id="rId39"/>
    <p:sldId id="2761" r:id="rId40"/>
    <p:sldId id="2762" r:id="rId41"/>
  </p:sldIdLst>
  <p:sldSz cx="9144000" cy="5143500" type="screen16x9"/>
  <p:notesSz cx="5143500" cy="9144000"/>
  <p:embeddedFontLst>
    <p:embeddedFont>
      <p:font typeface="Microsoft YaHei" panose="020B0503020204020204" pitchFamily="34" charset="-122"/>
      <p:regular r:id="rId44"/>
      <p:bold r:id="rId45"/>
    </p:embeddedFont>
    <p:embeddedFont>
      <p:font typeface="等线" panose="02010600030101010101" pitchFamily="2" charset="-122"/>
      <p:regular r:id="rId46"/>
      <p:bold r:id="rId47"/>
    </p:embeddedFont>
    <p:embeddedFont>
      <p:font typeface="楷体" panose="02010609060101010101" pitchFamily="49" charset="-122"/>
      <p:regular r:id="rId48"/>
    </p:embeddedFont>
    <p:embeddedFont>
      <p:font typeface="宋体" panose="02010600030101010101" pitchFamily="2" charset="-122"/>
      <p:regular r:id="rId4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E9CF"/>
    <a:srgbClr val="D1D9D2"/>
    <a:srgbClr val="CBC11E"/>
    <a:srgbClr val="DCE1CC"/>
    <a:srgbClr val="F8D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78"/>
    <p:restoredTop sz="94610"/>
  </p:normalViewPr>
  <p:slideViewPr>
    <p:cSldViewPr snapToGrid="0" snapToObjects="1">
      <p:cViewPr varScale="1">
        <p:scale>
          <a:sx n="165" d="100"/>
          <a:sy n="165" d="100"/>
        </p:scale>
        <p:origin x="736" y="192"/>
      </p:cViewPr>
      <p:guideLst/>
    </p:cSldViewPr>
  </p:slideViewPr>
  <p:notesTextViewPr>
    <p:cViewPr>
      <p:scale>
        <a:sx n="1" d="1"/>
        <a:sy n="1" d="1"/>
      </p:scale>
      <p:origin x="0" y="0"/>
    </p:cViewPr>
  </p:notesTextViewPr>
  <p:notesViewPr>
    <p:cSldViewPr snapToGrid="0" snapToObjects="1">
      <p:cViewPr varScale="1">
        <p:scale>
          <a:sx n="97" d="100"/>
          <a:sy n="97" d="100"/>
        </p:scale>
        <p:origin x="4848"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font" Target="fonts/font4.fntdata"/><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2.fntdata"/><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1.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handoutMaster" Target="handoutMasters/handoutMaster1.xml"/><Relationship Id="rId48" Type="http://schemas.openxmlformats.org/officeDocument/2006/relationships/font" Target="fonts/font5.fntdata"/><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3.fntdata"/><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A54FDA4-1F5A-8E9B-F685-24508D12D3F2}"/>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94388EB6-7A6A-6C45-C8ED-51C2F3086E3F}"/>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864365D0-91AF-7C42-AA19-7374AA81A0FF}" type="datetimeFigureOut">
              <a:rPr kumimoji="1" lang="zh-CN" altLang="en-US" smtClean="0"/>
              <a:t>2026/3/28</a:t>
            </a:fld>
            <a:endParaRPr kumimoji="1" lang="zh-CN" altLang="en-US"/>
          </a:p>
        </p:txBody>
      </p:sp>
      <p:sp>
        <p:nvSpPr>
          <p:cNvPr id="4" name="页脚占位符 3">
            <a:extLst>
              <a:ext uri="{FF2B5EF4-FFF2-40B4-BE49-F238E27FC236}">
                <a16:creationId xmlns:a16="http://schemas.microsoft.com/office/drawing/2014/main" id="{DF51B93B-EB01-5753-6A27-D70A8D221524}"/>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FFD3C135-B8B3-7B34-CB44-D7AD55C9D4A2}"/>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86E0F489-628A-E24B-97F8-426382C01659}" type="slidenum">
              <a:rPr kumimoji="1" lang="zh-CN" altLang="en-US" smtClean="0"/>
              <a:t>‹#›</a:t>
            </a:fld>
            <a:endParaRPr kumimoji="1" lang="zh-CN" altLang="en-US"/>
          </a:p>
        </p:txBody>
      </p:sp>
    </p:spTree>
    <p:extLst>
      <p:ext uri="{BB962C8B-B14F-4D97-AF65-F5344CB8AC3E}">
        <p14:creationId xmlns:p14="http://schemas.microsoft.com/office/powerpoint/2010/main" val="22163815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92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6BFEB-7536-E7CD-8AFB-36D307424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CB7FC-CD25-BA42-F707-5D78D2757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17B8CD-799F-0C58-085A-1B9784776B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C30EB3-0045-8652-2AB3-5017997CF68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007499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911DE-6186-BC75-2CD9-B114A6B63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2F406-038B-7210-ABE3-4913E85C1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64DC6-A124-8940-CD49-75A11A5673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FBF224-4C24-F808-0AA9-A1EF9B37BAA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646747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493D-EEBF-74A6-5967-C89520EDD2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2D91C7-F2F6-0A74-DD78-DFCE753A0C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D9365B-ECF4-D9AB-45C8-68B1CB967B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7556D9-A54F-2974-7702-5EDFE6BB5469}"/>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567199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66083-0EF0-48AB-C67C-FD55AF9FEE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F72BB-E218-F384-6081-924DE4764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A41E3-5E4D-BB50-6B0D-E5B6603DF9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5E7D9D-69E1-EA4B-75DD-FB1C60ABE655}"/>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401058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DB7416-F2C8-CB05-21A9-12D30740D43B}"/>
              </a:ext>
            </a:extLst>
          </p:cNvPr>
          <p:cNvSpPr>
            <a:spLocks noGrp="1"/>
          </p:cNvSpPr>
          <p:nvPr>
            <p:ph type="title"/>
          </p:nvPr>
        </p:nvSpPr>
        <p:spPr>
          <a:xfrm>
            <a:off x="628650" y="2408238"/>
            <a:ext cx="7886700" cy="993775"/>
          </a:xfrm>
          <a:prstGeom prst="rect">
            <a:avLst/>
          </a:prstGeom>
        </p:spPr>
        <p:txBody>
          <a:bodyPr/>
          <a:lstStyle/>
          <a:p>
            <a:r>
              <a:rPr kumimoji="1" lang="zh-CN" altLang="en-US"/>
              <a:t>单击此处编辑母版标题样式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0"/>
            <a:ext cx="6240462" cy="62865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0" y="800100"/>
            <a:ext cx="4495800" cy="43434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800100"/>
            <a:ext cx="4495800" cy="43434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p:cNvSpPr>
            <a:spLocks noGrp="1" noChangeArrowheads="1"/>
          </p:cNvSpPr>
          <p:nvPr>
            <p:ph type="sldNum" sz="quarter" idx="10"/>
          </p:nvPr>
        </p:nvSpPr>
        <p:spPr/>
        <p:txBody>
          <a:bodyPr/>
          <a:lstStyle>
            <a:lvl1pPr>
              <a:defRPr/>
            </a:lvl1pPr>
          </a:lstStyle>
          <a:p>
            <a:pPr>
              <a:defRPr/>
            </a:pPr>
            <a:fld id="{A48DB317-737D-4E41-A6A0-70A94F917B0E}" type="slidenum">
              <a:rPr lang="zh-CN" altLang="en-US"/>
              <a:t>‹#›</a:t>
            </a:fld>
            <a:endParaRPr lang="zh-CN" altLang="en-US"/>
          </a:p>
        </p:txBody>
      </p:sp>
    </p:spTree>
    <p:extLst>
      <p:ext uri="{BB962C8B-B14F-4D97-AF65-F5344CB8AC3E}">
        <p14:creationId xmlns:p14="http://schemas.microsoft.com/office/powerpoint/2010/main" val="258925189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sldNum" sz="quarter" idx="10"/>
          </p:nvPr>
        </p:nvSpPr>
        <p:spPr/>
        <p:txBody>
          <a:bodyPr/>
          <a:lstStyle>
            <a:lvl1pPr>
              <a:defRPr/>
            </a:lvl1pPr>
          </a:lstStyle>
          <a:p>
            <a:pPr>
              <a:defRPr/>
            </a:pPr>
            <a:fld id="{55503B5A-5684-9C48-B06E-1F29FFC2BF0F}" type="slidenum">
              <a:rPr lang="zh-CN" altLang="en-US"/>
              <a:t>‹#›</a:t>
            </a:fld>
            <a:endParaRPr lang="zh-CN" altLang="en-US"/>
          </a:p>
        </p:txBody>
      </p:sp>
    </p:spTree>
    <p:extLst>
      <p:ext uri="{BB962C8B-B14F-4D97-AF65-F5344CB8AC3E}">
        <p14:creationId xmlns:p14="http://schemas.microsoft.com/office/powerpoint/2010/main" val="333359415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0" y="800100"/>
            <a:ext cx="4495800" cy="4343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800100"/>
            <a:ext cx="4495800" cy="4343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p:cNvSpPr>
            <a:spLocks noGrp="1" noChangeArrowheads="1"/>
          </p:cNvSpPr>
          <p:nvPr>
            <p:ph type="sldNum" sz="quarter" idx="10"/>
          </p:nvPr>
        </p:nvSpPr>
        <p:spPr/>
        <p:txBody>
          <a:bodyPr/>
          <a:lstStyle>
            <a:lvl1pPr>
              <a:defRPr/>
            </a:lvl1pPr>
          </a:lstStyle>
          <a:p>
            <a:pPr>
              <a:defRPr/>
            </a:pPr>
            <a:fld id="{2D121F39-B3A4-B24B-B9AD-B8BC9597B1E5}" type="slidenum">
              <a:rPr lang="zh-CN" altLang="en-US"/>
              <a:t>‹#›</a:t>
            </a:fld>
            <a:endParaRPr lang="zh-CN" altLang="en-US"/>
          </a:p>
        </p:txBody>
      </p:sp>
    </p:spTree>
    <p:extLst>
      <p:ext uri="{BB962C8B-B14F-4D97-AF65-F5344CB8AC3E}">
        <p14:creationId xmlns:p14="http://schemas.microsoft.com/office/powerpoint/2010/main" val="29637781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
          <p:cNvSpPr>
            <a:spLocks noGrp="1" noChangeArrowheads="1"/>
          </p:cNvSpPr>
          <p:nvPr>
            <p:ph type="sldNum" sz="quarter" idx="10"/>
          </p:nvPr>
        </p:nvSpPr>
        <p:spPr/>
        <p:txBody>
          <a:bodyPr/>
          <a:lstStyle>
            <a:lvl1pPr>
              <a:defRPr/>
            </a:lvl1pPr>
          </a:lstStyle>
          <a:p>
            <a:pPr>
              <a:defRPr/>
            </a:pPr>
            <a:fld id="{15647735-1087-C94D-86AB-B0C7949F94E4}" type="slidenum">
              <a:rPr lang="zh-CN" altLang="en-US"/>
              <a:t>‹#›</a:t>
            </a:fld>
            <a:endParaRPr lang="zh-CN" altLang="en-US"/>
          </a:p>
        </p:txBody>
      </p:sp>
    </p:spTree>
    <p:extLst>
      <p:ext uri="{BB962C8B-B14F-4D97-AF65-F5344CB8AC3E}">
        <p14:creationId xmlns:p14="http://schemas.microsoft.com/office/powerpoint/2010/main" val="6197440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C6786A0-5BD1-A934-990A-693BF6F4AA58}"/>
              </a:ext>
            </a:extLst>
          </p:cNvPr>
          <p:cNvSpPr>
            <a:spLocks noGrp="1"/>
          </p:cNvSpPr>
          <p:nvPr>
            <p:ph type="dt" sz="half" idx="10"/>
          </p:nvPr>
        </p:nvSpPr>
        <p:spPr/>
        <p:txBody>
          <a:bodyPr/>
          <a:lstStyle/>
          <a:p>
            <a:fld id="{32C5F372-D9EE-804B-82F0-7EE97B9B327A}" type="datetimeFigureOut">
              <a:rPr kumimoji="1" lang="zh-CN" altLang="en-US" smtClean="0"/>
              <a:t>2026/3/28</a:t>
            </a:fld>
            <a:endParaRPr kumimoji="1" lang="zh-CN" altLang="en-US"/>
          </a:p>
        </p:txBody>
      </p:sp>
      <p:sp>
        <p:nvSpPr>
          <p:cNvPr id="3" name="页脚占位符 2">
            <a:extLst>
              <a:ext uri="{FF2B5EF4-FFF2-40B4-BE49-F238E27FC236}">
                <a16:creationId xmlns:a16="http://schemas.microsoft.com/office/drawing/2014/main" id="{4FC308B4-5DC2-C1FD-00A9-ABDE4167C5C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C3CA0C5-1531-25DA-DCFA-AB2596B45E5C}"/>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1729895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400AFC62-34B5-A13D-FB5F-E40661A5EDED}"/>
              </a:ext>
            </a:extLst>
          </p:cNvPr>
          <p:cNvSpPr>
            <a:spLocks noGrp="1"/>
          </p:cNvSpPr>
          <p:nvPr>
            <p:ph type="subTitle" idx="1"/>
          </p:nvPr>
        </p:nvSpPr>
        <p:spPr>
          <a:xfrm>
            <a:off x="1006545" y="2791572"/>
            <a:ext cx="7458075" cy="642035"/>
          </a:xfrm>
          <a:noFill/>
          <a:ln/>
        </p:spPr>
        <p:txBody>
          <a:bodyPr wrap="square" lIns="0" tIns="0" rIns="0" bIns="0" rtlCol="0" anchor="t">
            <a:spAutoFit/>
          </a:bodyPr>
          <a:lstStyle>
            <a:lvl1pPr>
              <a:def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defRPr>
            </a:lvl1pPr>
          </a:lstStyle>
          <a:p>
            <a:pPr marL="0" lvl="0" indent="0">
              <a:lnSpc>
                <a:spcPct val="96000"/>
              </a:lnSpc>
              <a:buNone/>
            </a:pPr>
            <a:r>
              <a:rPr kumimoji="1" lang="zh-CN" altLang="en-US" dirty="0"/>
              <a:t>单击此处编辑母版副标题样式</a:t>
            </a:r>
          </a:p>
        </p:txBody>
      </p:sp>
      <p:sp>
        <p:nvSpPr>
          <p:cNvPr id="2" name="标题 1">
            <a:extLst>
              <a:ext uri="{FF2B5EF4-FFF2-40B4-BE49-F238E27FC236}">
                <a16:creationId xmlns:a16="http://schemas.microsoft.com/office/drawing/2014/main" id="{61A7C707-2645-9AE5-5C99-51D2133D7511}"/>
              </a:ext>
            </a:extLst>
          </p:cNvPr>
          <p:cNvSpPr>
            <a:spLocks noGrp="1"/>
          </p:cNvSpPr>
          <p:nvPr>
            <p:ph type="ctrTitle" hasCustomPrompt="1"/>
          </p:nvPr>
        </p:nvSpPr>
        <p:spPr>
          <a:xfrm>
            <a:off x="2720924" y="1307645"/>
            <a:ext cx="1018451" cy="806400"/>
          </a:xfrm>
        </p:spPr>
        <p:txBody>
          <a:bodyPr anchor="ctr">
            <a:normAutofit/>
          </a:bodyPr>
          <a:lstStyle>
            <a:lvl1pPr marL="0" indent="0" algn="ctr" defTabSz="914400" rtl="0" eaLnBrk="1" latinLnBrk="0" hangingPunct="1">
              <a:buNone/>
              <a:defRPr lang="zh-CN" altLang="en-US" sz="5250" b="1" kern="1200" dirty="0">
                <a:solidFill>
                  <a:srgbClr val="FD5220"/>
                </a:solidFill>
                <a:latin typeface="Microsoft YaHei" panose="020B0503020204020204" pitchFamily="34" charset="-122"/>
                <a:ea typeface="Microsoft YaHei" panose="020B0503020204020204" pitchFamily="34" charset="-122"/>
                <a:cs typeface="SourceHanSansSC-Regular"/>
              </a:defRPr>
            </a:lvl1pPr>
          </a:lstStyle>
          <a:p>
            <a:r>
              <a:rPr kumimoji="1" lang="en-US" altLang="zh-CN" dirty="0"/>
              <a:t>01</a:t>
            </a:r>
            <a:endParaRPr kumimoji="1" lang="zh-CN" altLang="en-US" dirty="0"/>
          </a:p>
        </p:txBody>
      </p:sp>
      <p:sp>
        <p:nvSpPr>
          <p:cNvPr id="4" name="日期占位符 3">
            <a:extLst>
              <a:ext uri="{FF2B5EF4-FFF2-40B4-BE49-F238E27FC236}">
                <a16:creationId xmlns:a16="http://schemas.microsoft.com/office/drawing/2014/main" id="{635BC3DC-3551-4C56-4B66-4B2C0267A054}"/>
              </a:ext>
            </a:extLst>
          </p:cNvPr>
          <p:cNvSpPr>
            <a:spLocks noGrp="1"/>
          </p:cNvSpPr>
          <p:nvPr>
            <p:ph type="dt" sz="half" idx="10"/>
          </p:nvPr>
        </p:nvSpPr>
        <p:spPr/>
        <p:txBody>
          <a:bodyPr/>
          <a:lstStyle/>
          <a:p>
            <a:fld id="{9FD0B6C7-774E-CC40-B792-A0FBA87DFD06}" type="datetimeFigureOut">
              <a:rPr kumimoji="1" lang="zh-CN" altLang="en-US" smtClean="0"/>
              <a:t>2026/3/28</a:t>
            </a:fld>
            <a:endParaRPr kumimoji="1" lang="zh-CN" altLang="en-US"/>
          </a:p>
        </p:txBody>
      </p:sp>
      <p:sp>
        <p:nvSpPr>
          <p:cNvPr id="5" name="页脚占位符 4">
            <a:extLst>
              <a:ext uri="{FF2B5EF4-FFF2-40B4-BE49-F238E27FC236}">
                <a16:creationId xmlns:a16="http://schemas.microsoft.com/office/drawing/2014/main" id="{A209566B-4207-9F1C-6F9C-E40AACADC87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0223F73-AA4F-F3F5-5EE0-239EF208D768}"/>
              </a:ext>
            </a:extLst>
          </p:cNvPr>
          <p:cNvSpPr>
            <a:spLocks noGrp="1"/>
          </p:cNvSpPr>
          <p:nvPr>
            <p:ph type="sldNum" sz="quarter" idx="12"/>
          </p:nvPr>
        </p:nvSpPr>
        <p:spPr/>
        <p:txBody>
          <a:bodyPr/>
          <a:lstStyle/>
          <a:p>
            <a:fld id="{97DFE2EB-CEEE-154A-8E5F-E6E0C8C57AC1}" type="slidenum">
              <a:rPr kumimoji="1" lang="zh-CN" altLang="en-US" smtClean="0"/>
              <a:t>‹#›</a:t>
            </a:fld>
            <a:endParaRPr kumimoji="1" lang="zh-CN" altLang="en-US"/>
          </a:p>
        </p:txBody>
      </p:sp>
      <p:sp>
        <p:nvSpPr>
          <p:cNvPr id="8" name="Shape 1">
            <a:extLst>
              <a:ext uri="{FF2B5EF4-FFF2-40B4-BE49-F238E27FC236}">
                <a16:creationId xmlns:a16="http://schemas.microsoft.com/office/drawing/2014/main" id="{4D58F47A-1125-D0D2-2F3C-498192C9F60A}"/>
              </a:ext>
            </a:extLst>
          </p:cNvPr>
          <p:cNvSpPr/>
          <p:nvPr userDrawn="1"/>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Text 2">
            <a:extLst>
              <a:ext uri="{FF2B5EF4-FFF2-40B4-BE49-F238E27FC236}">
                <a16:creationId xmlns:a16="http://schemas.microsoft.com/office/drawing/2014/main" id="{9488300C-8889-426E-268C-5B43ADCA19A0}"/>
              </a:ext>
            </a:extLst>
          </p:cNvPr>
          <p:cNvSpPr txBox="1"/>
          <p:nvPr userDrawn="1"/>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4633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0EECE7-2D90-0988-7FA7-3E6BAB793BFF}"/>
              </a:ext>
            </a:extLst>
          </p:cNvPr>
          <p:cNvSpPr>
            <a:spLocks noGrp="1"/>
          </p:cNvSpPr>
          <p:nvPr>
            <p:ph type="title"/>
          </p:nvPr>
        </p:nvSpPr>
        <p:spPr/>
        <p:txBody>
          <a:bodyPr/>
          <a:lstStyle>
            <a:lvl1pPr>
              <a:defRPr>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5B5BB336-767A-B00A-E2B3-F3F3F54D11BF}"/>
              </a:ext>
            </a:extLst>
          </p:cNvPr>
          <p:cNvSpPr>
            <a:spLocks noGrp="1"/>
          </p:cNvSpPr>
          <p:nvPr>
            <p:ph idx="1"/>
          </p:nvPr>
        </p:nvSpPr>
        <p:spPr/>
        <p:txBody>
          <a:bodyPr/>
          <a:lstStyle>
            <a:lvl1pPr>
              <a:defRPr>
                <a:latin typeface="Microsoft YaHei" panose="020B0503020204020204" pitchFamily="34" charset="-122"/>
                <a:ea typeface="Microsoft YaHei" panose="020B0503020204020204" pitchFamily="34" charset="-122"/>
              </a:defRPr>
            </a:lvl1pPr>
            <a:lvl2pPr>
              <a:defRPr>
                <a:latin typeface="Microsoft YaHei" panose="020B0503020204020204" pitchFamily="34" charset="-122"/>
                <a:ea typeface="Microsoft YaHei" panose="020B0503020204020204" pitchFamily="34" charset="-122"/>
              </a:defRPr>
            </a:lvl2pPr>
            <a:lvl3pPr>
              <a:defRPr>
                <a:latin typeface="Microsoft YaHei" panose="020B0503020204020204" pitchFamily="34" charset="-122"/>
                <a:ea typeface="Microsoft YaHei" panose="020B0503020204020204" pitchFamily="34" charset="-122"/>
              </a:defRPr>
            </a:lvl3pPr>
            <a:lvl4pPr>
              <a:defRPr>
                <a:latin typeface="Microsoft YaHei" panose="020B0503020204020204" pitchFamily="34" charset="-122"/>
                <a:ea typeface="Microsoft YaHei" panose="020B0503020204020204" pitchFamily="34" charset="-122"/>
              </a:defRPr>
            </a:lvl4pPr>
            <a:lvl5pPr>
              <a:defRPr>
                <a:latin typeface="Microsoft YaHei" panose="020B0503020204020204" pitchFamily="34" charset="-122"/>
                <a:ea typeface="Microsoft YaHei" panose="020B0503020204020204" pitchFamily="34" charset="-122"/>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2FD4666-F48B-5CC8-7977-00AEA31A9CA5}"/>
              </a:ext>
            </a:extLst>
          </p:cNvPr>
          <p:cNvSpPr>
            <a:spLocks noGrp="1"/>
          </p:cNvSpPr>
          <p:nvPr>
            <p:ph type="dt" sz="half" idx="10"/>
          </p:nvPr>
        </p:nvSpPr>
        <p:spPr/>
        <p:txBody>
          <a:bodyPr/>
          <a:lstStyle>
            <a:lvl1pPr>
              <a:defRPr>
                <a:latin typeface="Microsoft YaHei" panose="020B0503020204020204" pitchFamily="34" charset="-122"/>
                <a:ea typeface="Microsoft YaHei" panose="020B0503020204020204" pitchFamily="34" charset="-122"/>
              </a:defRPr>
            </a:lvl1pPr>
          </a:lstStyle>
          <a:p>
            <a:fld id="{32C5F372-D9EE-804B-82F0-7EE97B9B327A}" type="datetimeFigureOut">
              <a:rPr kumimoji="1" lang="zh-CN" altLang="en-US" smtClean="0"/>
              <a:pPr/>
              <a:t>2026/3/28</a:t>
            </a:fld>
            <a:endParaRPr kumimoji="1" lang="zh-CN" altLang="en-US"/>
          </a:p>
        </p:txBody>
      </p:sp>
      <p:sp>
        <p:nvSpPr>
          <p:cNvPr id="5" name="页脚占位符 4">
            <a:extLst>
              <a:ext uri="{FF2B5EF4-FFF2-40B4-BE49-F238E27FC236}">
                <a16:creationId xmlns:a16="http://schemas.microsoft.com/office/drawing/2014/main" id="{2D0BBD08-8FD4-51A4-0EE0-346DD7DBC93F}"/>
              </a:ext>
            </a:extLst>
          </p:cNvPr>
          <p:cNvSpPr>
            <a:spLocks noGrp="1"/>
          </p:cNvSpPr>
          <p:nvPr>
            <p:ph type="ftr" sz="quarter" idx="11"/>
          </p:nvPr>
        </p:nvSpPr>
        <p:spPr/>
        <p:txBody>
          <a:bodyPr/>
          <a:lstStyle>
            <a:lvl1pPr>
              <a:defRPr>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8DA1EE57-F824-9786-BAA2-7DE2E94979AD}"/>
              </a:ext>
            </a:extLst>
          </p:cNvPr>
          <p:cNvSpPr>
            <a:spLocks noGrp="1"/>
          </p:cNvSpPr>
          <p:nvPr>
            <p:ph type="sldNum" sz="quarter" idx="12"/>
          </p:nvPr>
        </p:nvSpPr>
        <p:spPr/>
        <p:txBody>
          <a:bodyPr/>
          <a:lstStyle>
            <a:lvl1pPr>
              <a:defRPr>
                <a:latin typeface="Microsoft YaHei" panose="020B0503020204020204" pitchFamily="34" charset="-122"/>
                <a:ea typeface="Microsoft YaHei" panose="020B0503020204020204" pitchFamily="34" charset="-122"/>
              </a:defRPr>
            </a:lvl1pPr>
          </a:lstStyle>
          <a:p>
            <a:fld id="{5E4D6AEF-96BF-6F44-8EB2-095946A83C6B}" type="slidenum">
              <a:rPr kumimoji="1" lang="zh-CN" altLang="en-US" smtClean="0"/>
              <a:pPr/>
              <a:t>‹#›</a:t>
            </a:fld>
            <a:endParaRPr kumimoji="1" lang="zh-CN" altLang="en-US"/>
          </a:p>
        </p:txBody>
      </p:sp>
    </p:spTree>
    <p:extLst>
      <p:ext uri="{BB962C8B-B14F-4D97-AF65-F5344CB8AC3E}">
        <p14:creationId xmlns:p14="http://schemas.microsoft.com/office/powerpoint/2010/main" val="240866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CED544-7AF4-1F37-C85C-922D9099C6A2}"/>
              </a:ext>
            </a:extLst>
          </p:cNvPr>
          <p:cNvSpPr>
            <a:spLocks noGrp="1"/>
          </p:cNvSpPr>
          <p:nvPr>
            <p:ph type="title"/>
          </p:nvPr>
        </p:nvSpPr>
        <p:spPr>
          <a:xfrm>
            <a:off x="623888" y="1282700"/>
            <a:ext cx="7886700" cy="2139950"/>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06E4AAC7-EDD8-913C-F7CA-7D7B84E58B6B}"/>
              </a:ext>
            </a:extLst>
          </p:cNvPr>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98F17C8C-B6BD-5159-33BF-F742273574AE}"/>
              </a:ext>
            </a:extLst>
          </p:cNvPr>
          <p:cNvSpPr>
            <a:spLocks noGrp="1"/>
          </p:cNvSpPr>
          <p:nvPr>
            <p:ph type="dt" sz="half" idx="10"/>
          </p:nvPr>
        </p:nvSpPr>
        <p:spPr/>
        <p:txBody>
          <a:bodyPr/>
          <a:lstStyle/>
          <a:p>
            <a:fld id="{32C5F372-D9EE-804B-82F0-7EE97B9B327A}" type="datetimeFigureOut">
              <a:rPr kumimoji="1" lang="zh-CN" altLang="en-US" smtClean="0"/>
              <a:t>2026/3/28</a:t>
            </a:fld>
            <a:endParaRPr kumimoji="1" lang="zh-CN" altLang="en-US"/>
          </a:p>
        </p:txBody>
      </p:sp>
      <p:sp>
        <p:nvSpPr>
          <p:cNvPr id="5" name="页脚占位符 4">
            <a:extLst>
              <a:ext uri="{FF2B5EF4-FFF2-40B4-BE49-F238E27FC236}">
                <a16:creationId xmlns:a16="http://schemas.microsoft.com/office/drawing/2014/main" id="{56717544-B996-63C5-02C2-01AF46E665A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B071376-4490-75B6-A232-E89FE6AE732D}"/>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246564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CE737B-37AB-E91D-09BB-3BC336B2BC1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15B75D6-3FFB-D406-B36C-D5DEA28B9104}"/>
              </a:ext>
            </a:extLst>
          </p:cNvPr>
          <p:cNvSpPr>
            <a:spLocks noGrp="1"/>
          </p:cNvSpPr>
          <p:nvPr>
            <p:ph sz="half" idx="1"/>
          </p:nvPr>
        </p:nvSpPr>
        <p:spPr>
          <a:xfrm>
            <a:off x="628650" y="1370013"/>
            <a:ext cx="3867150" cy="3262312"/>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6F7FA96B-3CF5-ABF5-4D84-0B8706D0C357}"/>
              </a:ext>
            </a:extLst>
          </p:cNvPr>
          <p:cNvSpPr>
            <a:spLocks noGrp="1"/>
          </p:cNvSpPr>
          <p:nvPr>
            <p:ph sz="half" idx="2"/>
          </p:nvPr>
        </p:nvSpPr>
        <p:spPr>
          <a:xfrm>
            <a:off x="4648200" y="1370013"/>
            <a:ext cx="3867150" cy="3262312"/>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326D427A-B596-C059-1743-ED0788452117}"/>
              </a:ext>
            </a:extLst>
          </p:cNvPr>
          <p:cNvSpPr>
            <a:spLocks noGrp="1"/>
          </p:cNvSpPr>
          <p:nvPr>
            <p:ph type="dt" sz="half" idx="10"/>
          </p:nvPr>
        </p:nvSpPr>
        <p:spPr/>
        <p:txBody>
          <a:bodyPr/>
          <a:lstStyle/>
          <a:p>
            <a:fld id="{32C5F372-D9EE-804B-82F0-7EE97B9B327A}" type="datetimeFigureOut">
              <a:rPr kumimoji="1" lang="zh-CN" altLang="en-US" smtClean="0"/>
              <a:t>2026/3/28</a:t>
            </a:fld>
            <a:endParaRPr kumimoji="1" lang="zh-CN" altLang="en-US"/>
          </a:p>
        </p:txBody>
      </p:sp>
      <p:sp>
        <p:nvSpPr>
          <p:cNvPr id="6" name="页脚占位符 5">
            <a:extLst>
              <a:ext uri="{FF2B5EF4-FFF2-40B4-BE49-F238E27FC236}">
                <a16:creationId xmlns:a16="http://schemas.microsoft.com/office/drawing/2014/main" id="{ED9E3BC4-302F-4ECD-A1C6-7DDE84348E0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6CD30B55-BDEF-4806-5187-C20611F6781E}"/>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562970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442E18-F965-82DB-8445-4B705195677B}"/>
              </a:ext>
            </a:extLst>
          </p:cNvPr>
          <p:cNvSpPr>
            <a:spLocks noGrp="1"/>
          </p:cNvSpPr>
          <p:nvPr>
            <p:ph type="title"/>
          </p:nvPr>
        </p:nvSpPr>
        <p:spPr>
          <a:xfrm>
            <a:off x="630238" y="274638"/>
            <a:ext cx="7886700" cy="993775"/>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8CC999B-05DA-EAFF-E31C-FCA9E61C70AC}"/>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698D98F0-D337-254F-D8EE-2A69629C2645}"/>
              </a:ext>
            </a:extLst>
          </p:cNvPr>
          <p:cNvSpPr>
            <a:spLocks noGrp="1"/>
          </p:cNvSpPr>
          <p:nvPr>
            <p:ph sz="half" idx="2"/>
          </p:nvPr>
        </p:nvSpPr>
        <p:spPr>
          <a:xfrm>
            <a:off x="630238" y="1879600"/>
            <a:ext cx="3868737" cy="2762250"/>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0DE8915-5AD3-503E-E554-5FAE3DA2FE44}"/>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BDDED0AB-75EE-7F92-347B-31250F55FC86}"/>
              </a:ext>
            </a:extLst>
          </p:cNvPr>
          <p:cNvSpPr>
            <a:spLocks noGrp="1"/>
          </p:cNvSpPr>
          <p:nvPr>
            <p:ph sz="quarter" idx="4"/>
          </p:nvPr>
        </p:nvSpPr>
        <p:spPr>
          <a:xfrm>
            <a:off x="4629150" y="1879600"/>
            <a:ext cx="3887788" cy="2762250"/>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725EC75-CFC3-205E-E89B-9EE881458EC8}"/>
              </a:ext>
            </a:extLst>
          </p:cNvPr>
          <p:cNvSpPr>
            <a:spLocks noGrp="1"/>
          </p:cNvSpPr>
          <p:nvPr>
            <p:ph type="dt" sz="half" idx="10"/>
          </p:nvPr>
        </p:nvSpPr>
        <p:spPr/>
        <p:txBody>
          <a:bodyPr/>
          <a:lstStyle/>
          <a:p>
            <a:fld id="{32C5F372-D9EE-804B-82F0-7EE97B9B327A}" type="datetimeFigureOut">
              <a:rPr kumimoji="1" lang="zh-CN" altLang="en-US" smtClean="0"/>
              <a:t>2026/3/28</a:t>
            </a:fld>
            <a:endParaRPr kumimoji="1" lang="zh-CN" altLang="en-US"/>
          </a:p>
        </p:txBody>
      </p:sp>
      <p:sp>
        <p:nvSpPr>
          <p:cNvPr id="8" name="页脚占位符 7">
            <a:extLst>
              <a:ext uri="{FF2B5EF4-FFF2-40B4-BE49-F238E27FC236}">
                <a16:creationId xmlns:a16="http://schemas.microsoft.com/office/drawing/2014/main" id="{97D16864-A164-E4AF-67C3-92E642493F0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A9FD7D92-855B-829A-08F7-8438951F00AC}"/>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1098412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F3D8CD-A021-6048-FEAA-F8D769FA6F4E}"/>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4906212A-2388-F748-C031-2726A973D222}"/>
              </a:ext>
            </a:extLst>
          </p:cNvPr>
          <p:cNvSpPr>
            <a:spLocks noGrp="1"/>
          </p:cNvSpPr>
          <p:nvPr>
            <p:ph type="dt" sz="half" idx="10"/>
          </p:nvPr>
        </p:nvSpPr>
        <p:spPr/>
        <p:txBody>
          <a:bodyPr/>
          <a:lstStyle/>
          <a:p>
            <a:fld id="{32C5F372-D9EE-804B-82F0-7EE97B9B327A}" type="datetimeFigureOut">
              <a:rPr kumimoji="1" lang="zh-CN" altLang="en-US" smtClean="0"/>
              <a:t>2026/3/28</a:t>
            </a:fld>
            <a:endParaRPr kumimoji="1" lang="zh-CN" altLang="en-US"/>
          </a:p>
        </p:txBody>
      </p:sp>
      <p:sp>
        <p:nvSpPr>
          <p:cNvPr id="4" name="页脚占位符 3">
            <a:extLst>
              <a:ext uri="{FF2B5EF4-FFF2-40B4-BE49-F238E27FC236}">
                <a16:creationId xmlns:a16="http://schemas.microsoft.com/office/drawing/2014/main" id="{5832B23A-BA68-C10D-424C-68D40A3DD9D4}"/>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0B5CE0FD-D4DC-EF06-81DD-F4024227DBD4}"/>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4167270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C6786A0-5BD1-A934-990A-693BF6F4AA58}"/>
              </a:ext>
            </a:extLst>
          </p:cNvPr>
          <p:cNvSpPr>
            <a:spLocks noGrp="1"/>
          </p:cNvSpPr>
          <p:nvPr>
            <p:ph type="dt" sz="half" idx="10"/>
          </p:nvPr>
        </p:nvSpPr>
        <p:spPr/>
        <p:txBody>
          <a:bodyPr/>
          <a:lstStyle/>
          <a:p>
            <a:fld id="{32C5F372-D9EE-804B-82F0-7EE97B9B327A}" type="datetimeFigureOut">
              <a:rPr kumimoji="1" lang="zh-CN" altLang="en-US" smtClean="0"/>
              <a:t>2026/3/28</a:t>
            </a:fld>
            <a:endParaRPr kumimoji="1" lang="zh-CN" altLang="en-US"/>
          </a:p>
        </p:txBody>
      </p:sp>
      <p:sp>
        <p:nvSpPr>
          <p:cNvPr id="3" name="页脚占位符 2">
            <a:extLst>
              <a:ext uri="{FF2B5EF4-FFF2-40B4-BE49-F238E27FC236}">
                <a16:creationId xmlns:a16="http://schemas.microsoft.com/office/drawing/2014/main" id="{4FC308B4-5DC2-C1FD-00A9-ABDE4167C5C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C3CA0C5-1531-25DA-DCFA-AB2596B45E5C}"/>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895377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FB56D2-5451-6FA7-CFE5-D33A5092D1B1}"/>
              </a:ext>
            </a:extLst>
          </p:cNvPr>
          <p:cNvSpPr>
            <a:spLocks noGrp="1"/>
          </p:cNvSpPr>
          <p:nvPr>
            <p:ph type="title"/>
          </p:nvPr>
        </p:nvSpPr>
        <p:spPr>
          <a:xfrm>
            <a:off x="630238" y="342900"/>
            <a:ext cx="2949575" cy="120015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B6EE3269-34F1-5026-40AD-47F2FF060F10}"/>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DCA5EC7-2435-42CD-7DCC-FE4D3BC9A91E}"/>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00E7A35-CAE0-3004-8567-FF93557609A1}"/>
              </a:ext>
            </a:extLst>
          </p:cNvPr>
          <p:cNvSpPr>
            <a:spLocks noGrp="1"/>
          </p:cNvSpPr>
          <p:nvPr>
            <p:ph type="dt" sz="half" idx="10"/>
          </p:nvPr>
        </p:nvSpPr>
        <p:spPr/>
        <p:txBody>
          <a:bodyPr/>
          <a:lstStyle/>
          <a:p>
            <a:fld id="{32C5F372-D9EE-804B-82F0-7EE97B9B327A}" type="datetimeFigureOut">
              <a:rPr kumimoji="1" lang="zh-CN" altLang="en-US" smtClean="0"/>
              <a:t>2026/3/28</a:t>
            </a:fld>
            <a:endParaRPr kumimoji="1" lang="zh-CN" altLang="en-US"/>
          </a:p>
        </p:txBody>
      </p:sp>
      <p:sp>
        <p:nvSpPr>
          <p:cNvPr id="6" name="页脚占位符 5">
            <a:extLst>
              <a:ext uri="{FF2B5EF4-FFF2-40B4-BE49-F238E27FC236}">
                <a16:creationId xmlns:a16="http://schemas.microsoft.com/office/drawing/2014/main" id="{AC899ED9-EE45-B800-BD98-1F46D40569B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56210FE-A293-FF74-B239-6ABF6CB0E227}"/>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6253248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475620-A6CE-4F9D-7854-C257E4F17D4C}"/>
              </a:ext>
            </a:extLst>
          </p:cNvPr>
          <p:cNvSpPr>
            <a:spLocks noGrp="1"/>
          </p:cNvSpPr>
          <p:nvPr>
            <p:ph type="title"/>
          </p:nvPr>
        </p:nvSpPr>
        <p:spPr>
          <a:xfrm>
            <a:off x="630238" y="342900"/>
            <a:ext cx="2949575" cy="120015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ABCE01EC-DF29-0F4E-1AD8-1389EBCFF41B}"/>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32D98552-5972-F210-F913-701E660FE962}"/>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B428ED3A-C182-BDDC-8F1E-A10F25CE1CA5}"/>
              </a:ext>
            </a:extLst>
          </p:cNvPr>
          <p:cNvSpPr>
            <a:spLocks noGrp="1"/>
          </p:cNvSpPr>
          <p:nvPr>
            <p:ph type="dt" sz="half" idx="10"/>
          </p:nvPr>
        </p:nvSpPr>
        <p:spPr/>
        <p:txBody>
          <a:bodyPr/>
          <a:lstStyle/>
          <a:p>
            <a:fld id="{32C5F372-D9EE-804B-82F0-7EE97B9B327A}" type="datetimeFigureOut">
              <a:rPr kumimoji="1" lang="zh-CN" altLang="en-US" smtClean="0"/>
              <a:t>2026/3/28</a:t>
            </a:fld>
            <a:endParaRPr kumimoji="1" lang="zh-CN" altLang="en-US"/>
          </a:p>
        </p:txBody>
      </p:sp>
      <p:sp>
        <p:nvSpPr>
          <p:cNvPr id="6" name="页脚占位符 5">
            <a:extLst>
              <a:ext uri="{FF2B5EF4-FFF2-40B4-BE49-F238E27FC236}">
                <a16:creationId xmlns:a16="http://schemas.microsoft.com/office/drawing/2014/main" id="{C7110357-3DC8-AF80-3EE0-D4A3E9228D8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6DF2BD2B-2D37-71F1-BE6A-CC763011B792}"/>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4849135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B02AE-3FF7-5CB9-E92C-9EB1B3F9C798}"/>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42C3DBD-CC41-35F3-781A-D22973DA4AE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AB570F3-CFAD-5690-8DD9-A284FAA6D5AF}"/>
              </a:ext>
            </a:extLst>
          </p:cNvPr>
          <p:cNvSpPr>
            <a:spLocks noGrp="1"/>
          </p:cNvSpPr>
          <p:nvPr>
            <p:ph type="dt" sz="half" idx="10"/>
          </p:nvPr>
        </p:nvSpPr>
        <p:spPr/>
        <p:txBody>
          <a:bodyPr/>
          <a:lstStyle/>
          <a:p>
            <a:fld id="{32C5F372-D9EE-804B-82F0-7EE97B9B327A}" type="datetimeFigureOut">
              <a:rPr kumimoji="1" lang="zh-CN" altLang="en-US" smtClean="0"/>
              <a:t>2026/3/28</a:t>
            </a:fld>
            <a:endParaRPr kumimoji="1" lang="zh-CN" altLang="en-US"/>
          </a:p>
        </p:txBody>
      </p:sp>
      <p:sp>
        <p:nvSpPr>
          <p:cNvPr id="5" name="页脚占位符 4">
            <a:extLst>
              <a:ext uri="{FF2B5EF4-FFF2-40B4-BE49-F238E27FC236}">
                <a16:creationId xmlns:a16="http://schemas.microsoft.com/office/drawing/2014/main" id="{530D9D1E-9191-AFAF-A1BF-EAD2362F112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04E1718-6DBA-269D-24F1-A485B3AAD046}"/>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3712214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6A9AD65-A5B6-D86E-15AF-4685D903DA17}"/>
              </a:ext>
            </a:extLst>
          </p:cNvPr>
          <p:cNvSpPr>
            <a:spLocks noGrp="1"/>
          </p:cNvSpPr>
          <p:nvPr>
            <p:ph type="title" orient="vert"/>
          </p:nvPr>
        </p:nvSpPr>
        <p:spPr>
          <a:xfrm>
            <a:off x="6543675" y="274638"/>
            <a:ext cx="1971675" cy="4357687"/>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FB1B135F-567D-A3FA-205D-EF12A6DC59D5}"/>
              </a:ext>
            </a:extLst>
          </p:cNvPr>
          <p:cNvSpPr>
            <a:spLocks noGrp="1"/>
          </p:cNvSpPr>
          <p:nvPr>
            <p:ph type="body" orient="vert" idx="1"/>
          </p:nvPr>
        </p:nvSpPr>
        <p:spPr>
          <a:xfrm>
            <a:off x="628650" y="274638"/>
            <a:ext cx="5762625" cy="4357687"/>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ECC707C-F2E6-0EC4-8990-9447419C91DA}"/>
              </a:ext>
            </a:extLst>
          </p:cNvPr>
          <p:cNvSpPr>
            <a:spLocks noGrp="1"/>
          </p:cNvSpPr>
          <p:nvPr>
            <p:ph type="dt" sz="half" idx="10"/>
          </p:nvPr>
        </p:nvSpPr>
        <p:spPr/>
        <p:txBody>
          <a:bodyPr/>
          <a:lstStyle/>
          <a:p>
            <a:fld id="{32C5F372-D9EE-804B-82F0-7EE97B9B327A}" type="datetimeFigureOut">
              <a:rPr kumimoji="1" lang="zh-CN" altLang="en-US" smtClean="0"/>
              <a:t>2026/3/28</a:t>
            </a:fld>
            <a:endParaRPr kumimoji="1" lang="zh-CN" altLang="en-US"/>
          </a:p>
        </p:txBody>
      </p:sp>
      <p:sp>
        <p:nvSpPr>
          <p:cNvPr id="5" name="页脚占位符 4">
            <a:extLst>
              <a:ext uri="{FF2B5EF4-FFF2-40B4-BE49-F238E27FC236}">
                <a16:creationId xmlns:a16="http://schemas.microsoft.com/office/drawing/2014/main" id="{E6D21827-BAC7-CA1A-8E90-A85D23CA220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251A12E-406F-BB74-FEBD-0EC52AD7A1E1}"/>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455275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1.pn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media/image3.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77A5E09-A989-EE50-CBE0-5B84B7C6B823}"/>
              </a:ext>
            </a:extLst>
          </p:cNvPr>
          <p:cNvSpPr/>
          <p:nvPr userDrawn="1"/>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D5EB4511-BE1F-4AF2-1BFB-CE1AC6C1889A}"/>
              </a:ext>
            </a:extLst>
          </p:cNvPr>
          <p:cNvSpPr/>
          <p:nvPr userDrawn="1"/>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Shape 2">
            <a:extLst>
              <a:ext uri="{FF2B5EF4-FFF2-40B4-BE49-F238E27FC236}">
                <a16:creationId xmlns:a16="http://schemas.microsoft.com/office/drawing/2014/main" id="{7A46D629-FC4C-A26C-9ED7-964E26D8BC0B}"/>
              </a:ext>
            </a:extLst>
          </p:cNvPr>
          <p:cNvSpPr/>
          <p:nvPr userDrawn="1"/>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36A6941C-C507-20E9-7488-DC37410E8AAD}"/>
              </a:ext>
            </a:extLst>
          </p:cNvPr>
          <p:cNvSpPr/>
          <p:nvPr userDrawn="1"/>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C59E6006-31EA-7EC3-5B42-9B15E3826870}"/>
              </a:ext>
            </a:extLst>
          </p:cNvPr>
          <p:cNvSpPr/>
          <p:nvPr userDrawn="1"/>
        </p:nvSpPr>
        <p:spPr>
          <a:xfrm>
            <a:off x="967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F66885E7-16D3-570C-6E0C-5CEA1E47D30E}"/>
              </a:ext>
            </a:extLst>
          </p:cNvPr>
          <p:cNvSpPr/>
          <p:nvPr userDrawn="1"/>
        </p:nvSpPr>
        <p:spPr>
          <a:xfrm>
            <a:off x="532368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Text 10">
            <a:extLst>
              <a:ext uri="{FF2B5EF4-FFF2-40B4-BE49-F238E27FC236}">
                <a16:creationId xmlns:a16="http://schemas.microsoft.com/office/drawing/2014/main" id="{FDDDED04-DE6D-8A23-9734-CBD8EC18AFBB}"/>
              </a:ext>
            </a:extLst>
          </p:cNvPr>
          <p:cNvSpPr txBox="1"/>
          <p:nvPr userDrawn="1"/>
        </p:nvSpPr>
        <p:spPr>
          <a:xfrm>
            <a:off x="850696" y="1132005"/>
            <a:ext cx="7458075" cy="1143000"/>
          </a:xfrm>
          <a:prstGeom prst="rect">
            <a:avLst/>
          </a:prstGeom>
          <a:noFill/>
          <a:ln/>
        </p:spPr>
        <p:txBody>
          <a:bodyPr wrap="square" lIns="0" tIns="0" rIns="0" bIns="0" rtlCol="0" anchor="t">
            <a:spAutoFit/>
          </a:bodyPr>
          <a:lstStyle/>
          <a:p>
            <a:pPr marL="0" indent="0" algn="ctr">
              <a:lnSpc>
                <a:spcPct val="96000"/>
              </a:lnSpc>
              <a:buNone/>
            </a:pPr>
            <a:r>
              <a:rPr lang="en-US" sz="7500" b="1" dirty="0" err="1">
                <a:solidFill>
                  <a:srgbClr val="148577"/>
                </a:solidFill>
                <a:latin typeface="Microsoft YaHei" panose="020B0503020204020204" pitchFamily="34" charset="-122"/>
                <a:ea typeface="Microsoft YaHei" panose="020B0503020204020204" pitchFamily="34" charset="-122"/>
                <a:cs typeface="SourceHanSansSC-Regular"/>
              </a:rPr>
              <a:t>现代数据库系统</a:t>
            </a:r>
            <a:endParaRPr lang="en-US" sz="7500" dirty="0">
              <a:latin typeface="Microsoft YaHei" panose="020B0503020204020204" pitchFamily="34" charset="-122"/>
              <a:ea typeface="Microsoft YaHei" panose="020B0503020204020204" pitchFamily="34" charset="-122"/>
            </a:endParaRPr>
          </a:p>
        </p:txBody>
      </p:sp>
      <p:sp>
        <p:nvSpPr>
          <p:cNvPr id="12" name="Shape 11">
            <a:extLst>
              <a:ext uri="{FF2B5EF4-FFF2-40B4-BE49-F238E27FC236}">
                <a16:creationId xmlns:a16="http://schemas.microsoft.com/office/drawing/2014/main" id="{4A7A420D-D20D-ACF1-0AD2-FBB5D50E3E47}"/>
              </a:ext>
            </a:extLst>
          </p:cNvPr>
          <p:cNvSpPr/>
          <p:nvPr userDrawn="1"/>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2">
            <a:extLst>
              <a:ext uri="{FF2B5EF4-FFF2-40B4-BE49-F238E27FC236}">
                <a16:creationId xmlns:a16="http://schemas.microsoft.com/office/drawing/2014/main" id="{B24FEC78-DC58-F365-B3A6-CF612C3C3D3D}"/>
              </a:ext>
            </a:extLst>
          </p:cNvPr>
          <p:cNvSpPr/>
          <p:nvPr userDrawn="1"/>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3">
            <a:extLst>
              <a:ext uri="{FF2B5EF4-FFF2-40B4-BE49-F238E27FC236}">
                <a16:creationId xmlns:a16="http://schemas.microsoft.com/office/drawing/2014/main" id="{E5E5AD7E-2EDB-102E-868E-5EDD3D3A5750}"/>
              </a:ext>
            </a:extLst>
          </p:cNvPr>
          <p:cNvSpPr/>
          <p:nvPr userDrawn="1"/>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4">
            <a:extLst>
              <a:ext uri="{FF2B5EF4-FFF2-40B4-BE49-F238E27FC236}">
                <a16:creationId xmlns:a16="http://schemas.microsoft.com/office/drawing/2014/main" id="{6C0F6275-88C0-7C5A-C40B-0CAAB8E69EA0}"/>
              </a:ext>
            </a:extLst>
          </p:cNvPr>
          <p:cNvSpPr/>
          <p:nvPr userDrawn="1"/>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16" name="图片 15" descr="徽标&#10;&#10;AI 生成的内容可能不正确。">
            <a:extLst>
              <a:ext uri="{FF2B5EF4-FFF2-40B4-BE49-F238E27FC236}">
                <a16:creationId xmlns:a16="http://schemas.microsoft.com/office/drawing/2014/main" id="{EDE98BE7-674A-84A1-2E7B-FBEBE4418739}"/>
              </a:ext>
            </a:extLst>
          </p:cNvPr>
          <p:cNvPicPr>
            <a:picLocks noChangeAspect="1"/>
          </p:cNvPicPr>
          <p:nvPr userDrawn="1"/>
        </p:nvPicPr>
        <p:blipFill>
          <a:blip r:embed="rId8"/>
          <a:stretch>
            <a:fillRect/>
          </a:stretch>
        </p:blipFill>
        <p:spPr>
          <a:xfrm>
            <a:off x="4202034" y="220502"/>
            <a:ext cx="720574" cy="71890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75" r:id="rId2"/>
    <p:sldLayoutId id="2147483676" r:id="rId3"/>
    <p:sldLayoutId id="2147483677" r:id="rId4"/>
    <p:sldLayoutId id="2147483678" r:id="rId5"/>
    <p:sldLayoutId id="2147483679"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hape 3">
            <a:extLst>
              <a:ext uri="{FF2B5EF4-FFF2-40B4-BE49-F238E27FC236}">
                <a16:creationId xmlns:a16="http://schemas.microsoft.com/office/drawing/2014/main" id="{48BD775E-A6BB-AF91-6EFC-2B063F82EC31}"/>
              </a:ext>
            </a:extLst>
          </p:cNvPr>
          <p:cNvSpPr/>
          <p:nvPr userDrawn="1"/>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4">
            <a:extLst>
              <a:ext uri="{FF2B5EF4-FFF2-40B4-BE49-F238E27FC236}">
                <a16:creationId xmlns:a16="http://schemas.microsoft.com/office/drawing/2014/main" id="{54166899-177E-5114-DE19-9E2BA37EF7E6}"/>
              </a:ext>
            </a:extLst>
          </p:cNvPr>
          <p:cNvSpPr/>
          <p:nvPr userDrawn="1"/>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5">
            <a:extLst>
              <a:ext uri="{FF2B5EF4-FFF2-40B4-BE49-F238E27FC236}">
                <a16:creationId xmlns:a16="http://schemas.microsoft.com/office/drawing/2014/main" id="{4146F1E0-B708-B4FD-784D-C33CB18C5AC5}"/>
              </a:ext>
            </a:extLst>
          </p:cNvPr>
          <p:cNvSpPr/>
          <p:nvPr userDrawn="1"/>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6">
            <a:extLst>
              <a:ext uri="{FF2B5EF4-FFF2-40B4-BE49-F238E27FC236}">
                <a16:creationId xmlns:a16="http://schemas.microsoft.com/office/drawing/2014/main" id="{6C647A5F-A889-47DE-8145-E069CC2035D5}"/>
              </a:ext>
            </a:extLst>
          </p:cNvPr>
          <p:cNvSpPr/>
          <p:nvPr userDrawn="1"/>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 name="标题占位符 1">
            <a:extLst>
              <a:ext uri="{FF2B5EF4-FFF2-40B4-BE49-F238E27FC236}">
                <a16:creationId xmlns:a16="http://schemas.microsoft.com/office/drawing/2014/main" id="{2278CDFA-2A25-E47E-291E-DAD5455582A9}"/>
              </a:ext>
            </a:extLst>
          </p:cNvPr>
          <p:cNvSpPr>
            <a:spLocks noGrp="1"/>
          </p:cNvSpPr>
          <p:nvPr>
            <p:ph type="title"/>
          </p:nvPr>
        </p:nvSpPr>
        <p:spPr>
          <a:xfrm>
            <a:off x="636384" y="496310"/>
            <a:ext cx="7886700" cy="450000"/>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484D4848-4095-B8A8-7601-736321C30B2A}"/>
              </a:ext>
            </a:extLst>
          </p:cNvPr>
          <p:cNvSpPr>
            <a:spLocks noGrp="1"/>
          </p:cNvSpPr>
          <p:nvPr>
            <p:ph type="body" idx="1"/>
          </p:nvPr>
        </p:nvSpPr>
        <p:spPr>
          <a:xfrm>
            <a:off x="628650" y="1042761"/>
            <a:ext cx="7886700" cy="371155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06C317BE-E462-2C75-5469-1C523508EF1F}"/>
              </a:ext>
            </a:extLst>
          </p:cNvPr>
          <p:cNvSpPr>
            <a:spLocks noGrp="1"/>
          </p:cNvSpPr>
          <p:nvPr>
            <p:ph type="dt" sz="half" idx="2"/>
          </p:nvPr>
        </p:nvSpPr>
        <p:spPr>
          <a:xfrm>
            <a:off x="108180" y="4837864"/>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fld id="{32C5F372-D9EE-804B-82F0-7EE97B9B327A}" type="datetimeFigureOut">
              <a:rPr kumimoji="1" lang="zh-CN" altLang="en-US" smtClean="0"/>
              <a:t>2026/3/28</a:t>
            </a:fld>
            <a:endParaRPr kumimoji="1" lang="zh-CN" altLang="en-US"/>
          </a:p>
        </p:txBody>
      </p:sp>
      <p:sp>
        <p:nvSpPr>
          <p:cNvPr id="5" name="页脚占位符 4">
            <a:extLst>
              <a:ext uri="{FF2B5EF4-FFF2-40B4-BE49-F238E27FC236}">
                <a16:creationId xmlns:a16="http://schemas.microsoft.com/office/drawing/2014/main" id="{B4B16873-C63D-E592-2399-19A9BA46FA3E}"/>
              </a:ext>
            </a:extLst>
          </p:cNvPr>
          <p:cNvSpPr>
            <a:spLocks noGrp="1"/>
          </p:cNvSpPr>
          <p:nvPr>
            <p:ph type="ftr" sz="quarter" idx="3"/>
          </p:nvPr>
        </p:nvSpPr>
        <p:spPr>
          <a:xfrm>
            <a:off x="2418580" y="4837864"/>
            <a:ext cx="4309321"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17976924-03DF-39F8-46BE-34E7CD690DC7}"/>
              </a:ext>
            </a:extLst>
          </p:cNvPr>
          <p:cNvSpPr>
            <a:spLocks noGrp="1"/>
          </p:cNvSpPr>
          <p:nvPr>
            <p:ph type="sldNum" sz="quarter" idx="4"/>
          </p:nvPr>
        </p:nvSpPr>
        <p:spPr>
          <a:xfrm>
            <a:off x="6976475" y="4837864"/>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E4D6AEF-96BF-6F44-8EB2-095946A83C6B}" type="slidenum">
              <a:rPr kumimoji="1" lang="zh-CN" altLang="en-US" smtClean="0"/>
              <a:t>‹#›</a:t>
            </a:fld>
            <a:endParaRPr kumimoji="1" lang="zh-CN" altLang="en-US"/>
          </a:p>
        </p:txBody>
      </p:sp>
      <p:sp>
        <p:nvSpPr>
          <p:cNvPr id="14" name="Shape 7">
            <a:extLst>
              <a:ext uri="{FF2B5EF4-FFF2-40B4-BE49-F238E27FC236}">
                <a16:creationId xmlns:a16="http://schemas.microsoft.com/office/drawing/2014/main" id="{1F21A128-D704-BDA2-A63B-684FE57E79B8}"/>
              </a:ext>
            </a:extLst>
          </p:cNvPr>
          <p:cNvSpPr/>
          <p:nvPr userDrawn="1"/>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8">
            <a:extLst>
              <a:ext uri="{FF2B5EF4-FFF2-40B4-BE49-F238E27FC236}">
                <a16:creationId xmlns:a16="http://schemas.microsoft.com/office/drawing/2014/main" id="{14A059BF-47BE-5BB1-8DA8-90126974B398}"/>
              </a:ext>
            </a:extLst>
          </p:cNvPr>
          <p:cNvSpPr/>
          <p:nvPr userDrawn="1"/>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9">
            <a:extLst>
              <a:ext uri="{FF2B5EF4-FFF2-40B4-BE49-F238E27FC236}">
                <a16:creationId xmlns:a16="http://schemas.microsoft.com/office/drawing/2014/main" id="{A7018654-3D44-3124-08A9-CA34B688DD24}"/>
              </a:ext>
            </a:extLst>
          </p:cNvPr>
          <p:cNvSpPr/>
          <p:nvPr userDrawn="1"/>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Shape 10">
            <a:extLst>
              <a:ext uri="{FF2B5EF4-FFF2-40B4-BE49-F238E27FC236}">
                <a16:creationId xmlns:a16="http://schemas.microsoft.com/office/drawing/2014/main" id="{7E5317B9-228B-7072-CC18-E34F4B4EBA25}"/>
              </a:ext>
            </a:extLst>
          </p:cNvPr>
          <p:cNvSpPr/>
          <p:nvPr userDrawn="1"/>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24" name="图片 23" descr="徽标&#10;&#10;AI 生成的内容可能不正确。">
            <a:extLst>
              <a:ext uri="{FF2B5EF4-FFF2-40B4-BE49-F238E27FC236}">
                <a16:creationId xmlns:a16="http://schemas.microsoft.com/office/drawing/2014/main" id="{62C8AEBD-E604-303F-0750-962701B7B3EC}"/>
              </a:ext>
            </a:extLst>
          </p:cNvPr>
          <p:cNvPicPr>
            <a:picLocks noChangeAspect="1"/>
          </p:cNvPicPr>
          <p:nvPr userDrawn="1"/>
        </p:nvPicPr>
        <p:blipFill>
          <a:blip r:embed="rId13"/>
          <a:stretch>
            <a:fillRect/>
          </a:stretch>
        </p:blipFill>
        <p:spPr>
          <a:xfrm>
            <a:off x="108180" y="119599"/>
            <a:ext cx="334861" cy="334084"/>
          </a:xfrm>
          <a:prstGeom prst="rect">
            <a:avLst/>
          </a:prstGeom>
        </p:spPr>
      </p:pic>
      <p:pic>
        <p:nvPicPr>
          <p:cNvPr id="26" name="图片 25" descr="图标&#10;&#10;AI 生成的内容可能不正确。">
            <a:extLst>
              <a:ext uri="{FF2B5EF4-FFF2-40B4-BE49-F238E27FC236}">
                <a16:creationId xmlns:a16="http://schemas.microsoft.com/office/drawing/2014/main" id="{14CEF7CC-1A6F-833C-43E2-2A43880720CF}"/>
              </a:ext>
            </a:extLst>
          </p:cNvPr>
          <p:cNvPicPr>
            <a:picLocks noChangeAspect="1"/>
          </p:cNvPicPr>
          <p:nvPr userDrawn="1"/>
        </p:nvPicPr>
        <p:blipFill>
          <a:blip r:embed="rId14"/>
          <a:stretch>
            <a:fillRect/>
          </a:stretch>
        </p:blipFill>
        <p:spPr>
          <a:xfrm>
            <a:off x="502271" y="173422"/>
            <a:ext cx="775858" cy="226438"/>
          </a:xfrm>
          <a:prstGeom prst="rect">
            <a:avLst/>
          </a:prstGeom>
        </p:spPr>
      </p:pic>
      <p:pic>
        <p:nvPicPr>
          <p:cNvPr id="27" name="图片 26">
            <a:extLst>
              <a:ext uri="{FF2B5EF4-FFF2-40B4-BE49-F238E27FC236}">
                <a16:creationId xmlns:a16="http://schemas.microsoft.com/office/drawing/2014/main" id="{E1E95B03-867E-A128-6B62-0A757D65EE27}"/>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7083469" y="109496"/>
            <a:ext cx="398937" cy="303725"/>
          </a:xfrm>
          <a:prstGeom prst="rect">
            <a:avLst/>
          </a:prstGeom>
        </p:spPr>
      </p:pic>
      <p:sp>
        <p:nvSpPr>
          <p:cNvPr id="28" name="文本框 27">
            <a:extLst>
              <a:ext uri="{FF2B5EF4-FFF2-40B4-BE49-F238E27FC236}">
                <a16:creationId xmlns:a16="http://schemas.microsoft.com/office/drawing/2014/main" id="{621E1DA3-B30E-3828-B884-151B4CA5132C}"/>
              </a:ext>
            </a:extLst>
          </p:cNvPr>
          <p:cNvSpPr txBox="1"/>
          <p:nvPr userDrawn="1"/>
        </p:nvSpPr>
        <p:spPr>
          <a:xfrm>
            <a:off x="7482406" y="148141"/>
            <a:ext cx="1723549" cy="276999"/>
          </a:xfrm>
          <a:prstGeom prst="rect">
            <a:avLst/>
          </a:prstGeom>
          <a:noFill/>
        </p:spPr>
        <p:txBody>
          <a:bodyPr wrap="none" rtlCol="0">
            <a:spAutoFit/>
          </a:bodyPr>
          <a:lstStyle/>
          <a:p>
            <a:r>
              <a:rPr kumimoji="1" lang="zh-CN" altLang="en-US" sz="1200" b="1" dirty="0">
                <a:solidFill>
                  <a:srgbClr val="C00000"/>
                </a:solidFill>
                <a:latin typeface="Microsoft YaHei" panose="020B0503020204020204" pitchFamily="34" charset="-122"/>
                <a:ea typeface="Microsoft YaHei" panose="020B0503020204020204" pitchFamily="34" charset="-122"/>
              </a:rPr>
              <a:t>珞珈图腾数据库实验室</a:t>
            </a:r>
          </a:p>
        </p:txBody>
      </p:sp>
    </p:spTree>
    <p:extLst>
      <p:ext uri="{BB962C8B-B14F-4D97-AF65-F5344CB8AC3E}">
        <p14:creationId xmlns:p14="http://schemas.microsoft.com/office/powerpoint/2010/main" val="1716981101"/>
      </p:ext>
    </p:extLst>
  </p:cSld>
  <p:clrMap bg1="lt1" tx1="dk1" bg2="lt2" tx2="dk2" accent1="accent1" accent2="accent2" accent3="accent3" accent4="accent4" accent5="accent5" accent6="accent6" hlink="hlink" folHlink="folHlink"/>
  <p:sldLayoutIdLst>
    <p:sldLayoutId id="2147483674"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2500" b="1" kern="1200">
          <a:solidFill>
            <a:srgbClr val="00B0F0"/>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hyperlink" Target="https://www.zhonghuapu.com/" TargetMode="External"/><Relationship Id="rId2" Type="http://schemas.openxmlformats.org/officeDocument/2006/relationships/hyperlink" Target="https://www.familysearch.org/zh-Hant/chinese/"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3" name="Shape 1"/>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Shape 2"/>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 name="Shape 3"/>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p:cNvSpPr/>
          <p:nvPr/>
        </p:nvSpPr>
        <p:spPr>
          <a:xfrm>
            <a:off x="967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p:cNvSpPr/>
          <p:nvPr/>
        </p:nvSpPr>
        <p:spPr>
          <a:xfrm>
            <a:off x="532368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Text 7"/>
          <p:cNvSpPr txBox="1"/>
          <p:nvPr/>
        </p:nvSpPr>
        <p:spPr>
          <a:xfrm>
            <a:off x="850696" y="2405632"/>
            <a:ext cx="7458075" cy="642035"/>
          </a:xfrm>
          <a:prstGeom prst="rect">
            <a:avLst/>
          </a:prstGeom>
          <a:noFill/>
          <a:ln/>
        </p:spPr>
        <p:txBody>
          <a:bodyPr wrap="square" lIns="0" tIns="0" rIns="0" bIns="0" rtlCol="0" anchor="t">
            <a:spAutoFit/>
          </a:bodyPr>
          <a:lstStyle/>
          <a:p>
            <a:pPr marL="0" indent="0" algn="ctr">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数据库应用实践</a:t>
            </a:r>
            <a:endParaRPr lang="en-US" sz="4346" dirty="0">
              <a:latin typeface="Microsoft YaHei" panose="020B0503020204020204" pitchFamily="34" charset="-122"/>
              <a:ea typeface="Microsoft YaHei" panose="020B0503020204020204" pitchFamily="34" charset="-122"/>
            </a:endParaRPr>
          </a:p>
        </p:txBody>
      </p:sp>
      <p:sp>
        <p:nvSpPr>
          <p:cNvPr id="10" name="Text 8"/>
          <p:cNvSpPr txBox="1"/>
          <p:nvPr/>
        </p:nvSpPr>
        <p:spPr>
          <a:xfrm>
            <a:off x="3415301" y="3365015"/>
            <a:ext cx="2328863" cy="864147"/>
          </a:xfrm>
          <a:prstGeom prst="rect">
            <a:avLst/>
          </a:prstGeom>
          <a:noFill/>
          <a:ln/>
        </p:spPr>
        <p:txBody>
          <a:bodyPr wrap="square" lIns="0" tIns="0" rIns="0" bIns="0" rtlCol="0" anchor="t">
            <a:spAutoFit/>
          </a:bodyPr>
          <a:lstStyle/>
          <a:p>
            <a:pPr marL="0" indent="0" algn="ctr">
              <a:lnSpc>
                <a:spcPct val="96000"/>
              </a:lnSpc>
              <a:buNone/>
            </a:pPr>
            <a:r>
              <a:rPr lang="zh-CN" altLang="en-US" b="1" dirty="0">
                <a:solidFill>
                  <a:srgbClr val="4E4646"/>
                </a:solidFill>
                <a:latin typeface="Microsoft YaHei" panose="020B0503020204020204" pitchFamily="34" charset="-122"/>
                <a:ea typeface="Microsoft YaHei" panose="020B0503020204020204" pitchFamily="34" charset="-122"/>
                <a:cs typeface="SourceHanSansSC-Regular"/>
              </a:rPr>
              <a:t>彭煜玮</a:t>
            </a:r>
            <a:endParaRPr lang="en-US" altLang="zh-CN" b="1" dirty="0">
              <a:solidFill>
                <a:srgbClr val="4E4646"/>
              </a:solidFill>
              <a:latin typeface="Microsoft YaHei" panose="020B0503020204020204" pitchFamily="34" charset="-122"/>
              <a:ea typeface="Microsoft YaHei" panose="020B0503020204020204" pitchFamily="34" charset="-122"/>
              <a:cs typeface="SourceHanSansSC-Regular"/>
            </a:endParaRPr>
          </a:p>
          <a:p>
            <a:pPr marL="0" indent="0" algn="ctr">
              <a:lnSpc>
                <a:spcPct val="96000"/>
              </a:lnSpc>
              <a:buNone/>
            </a:pPr>
            <a:r>
              <a:rPr lang="en-US" altLang="zh-CN" sz="1350" dirty="0" err="1">
                <a:solidFill>
                  <a:srgbClr val="4E4646"/>
                </a:solidFill>
                <a:latin typeface="Microsoft YaHei" panose="020B0503020204020204" pitchFamily="34" charset="-122"/>
                <a:ea typeface="Microsoft YaHei" panose="020B0503020204020204" pitchFamily="34" charset="-122"/>
                <a:cs typeface="SourceHanSansSC-Regular"/>
              </a:rPr>
              <a:t>ywpeng@whu.edu.cn</a:t>
            </a:r>
            <a:endParaRPr lang="en-US" altLang="zh-CN" sz="1350" dirty="0">
              <a:solidFill>
                <a:srgbClr val="4E4646"/>
              </a:solidFill>
              <a:latin typeface="Microsoft YaHei" panose="020B0503020204020204" pitchFamily="34" charset="-122"/>
              <a:ea typeface="Microsoft YaHei" panose="020B0503020204020204" pitchFamily="34" charset="-122"/>
              <a:cs typeface="SourceHanSansSC-Regular"/>
            </a:endParaRPr>
          </a:p>
          <a:p>
            <a:pPr marL="0" indent="0" algn="ctr">
              <a:lnSpc>
                <a:spcPct val="96000"/>
              </a:lnSpc>
              <a:buNone/>
            </a:pPr>
            <a:r>
              <a:rPr lang="zh-CN" altLang="en-US" sz="1350" dirty="0">
                <a:solidFill>
                  <a:srgbClr val="4E4646"/>
                </a:solidFill>
                <a:latin typeface="Microsoft YaHei" panose="020B0503020204020204" pitchFamily="34" charset="-122"/>
                <a:ea typeface="Microsoft YaHei" panose="020B0503020204020204" pitchFamily="34" charset="-122"/>
              </a:rPr>
              <a:t>珞珈图腾数据库实验室</a:t>
            </a:r>
            <a:endParaRPr lang="en-US" altLang="zh-CN" sz="1350" dirty="0">
              <a:solidFill>
                <a:srgbClr val="4E4646"/>
              </a:solidFill>
              <a:latin typeface="Microsoft YaHei" panose="020B0503020204020204" pitchFamily="34" charset="-122"/>
              <a:ea typeface="Microsoft YaHei" panose="020B0503020204020204" pitchFamily="34" charset="-122"/>
            </a:endParaRPr>
          </a:p>
          <a:p>
            <a:pPr marL="0" indent="0" algn="ctr">
              <a:lnSpc>
                <a:spcPct val="96000"/>
              </a:lnSpc>
              <a:buNone/>
            </a:pPr>
            <a:r>
              <a:rPr lang="en-US" altLang="zh-CN" sz="1350" dirty="0">
                <a:solidFill>
                  <a:srgbClr val="4E4646"/>
                </a:solidFill>
                <a:latin typeface="Microsoft YaHei" panose="020B0503020204020204" pitchFamily="34" charset="-122"/>
                <a:ea typeface="Microsoft YaHei" panose="020B0503020204020204" pitchFamily="34" charset="-122"/>
              </a:rPr>
              <a:t>2025.9.1</a:t>
            </a:r>
            <a:endParaRPr lang="en-US" sz="1350" dirty="0">
              <a:latin typeface="Microsoft YaHei" panose="020B0503020204020204" pitchFamily="34" charset="-122"/>
              <a:ea typeface="Microsoft YaHei" panose="020B0503020204020204" pitchFamily="34" charset="-122"/>
            </a:endParaRPr>
          </a:p>
        </p:txBody>
      </p:sp>
      <p:sp>
        <p:nvSpPr>
          <p:cNvPr id="12" name="Text 10"/>
          <p:cNvSpPr txBox="1"/>
          <p:nvPr/>
        </p:nvSpPr>
        <p:spPr>
          <a:xfrm>
            <a:off x="850696" y="1132005"/>
            <a:ext cx="7458075" cy="1143000"/>
          </a:xfrm>
          <a:prstGeom prst="rect">
            <a:avLst/>
          </a:prstGeom>
          <a:noFill/>
          <a:ln/>
        </p:spPr>
        <p:txBody>
          <a:bodyPr wrap="square" lIns="0" tIns="0" rIns="0" bIns="0" rtlCol="0" anchor="t">
            <a:spAutoFit/>
          </a:bodyPr>
          <a:lstStyle/>
          <a:p>
            <a:pPr marL="0" indent="0" algn="ctr">
              <a:lnSpc>
                <a:spcPct val="96000"/>
              </a:lnSpc>
              <a:buNone/>
            </a:pPr>
            <a:r>
              <a:rPr lang="en-US" sz="7500" b="1" dirty="0" err="1">
                <a:solidFill>
                  <a:srgbClr val="148577"/>
                </a:solidFill>
                <a:latin typeface="Microsoft YaHei" panose="020B0503020204020204" pitchFamily="34" charset="-122"/>
                <a:ea typeface="Microsoft YaHei" panose="020B0503020204020204" pitchFamily="34" charset="-122"/>
                <a:cs typeface="SourceHanSansSC-Regular"/>
              </a:rPr>
              <a:t>现代数据库系统</a:t>
            </a:r>
            <a:endParaRPr lang="en-US" sz="7500" dirty="0">
              <a:latin typeface="Microsoft YaHei" panose="020B0503020204020204" pitchFamily="34" charset="-122"/>
              <a:ea typeface="Microsoft YaHei" panose="020B0503020204020204" pitchFamily="34" charset="-122"/>
            </a:endParaRPr>
          </a:p>
        </p:txBody>
      </p:sp>
      <p:sp>
        <p:nvSpPr>
          <p:cNvPr id="13" name="Shape 11"/>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18" name="图片 17" descr="徽标&#10;&#10;AI 生成的内容可能不正确。">
            <a:extLst>
              <a:ext uri="{FF2B5EF4-FFF2-40B4-BE49-F238E27FC236}">
                <a16:creationId xmlns:a16="http://schemas.microsoft.com/office/drawing/2014/main" id="{7F51767B-B579-4F1A-972C-0571B613E027}"/>
              </a:ext>
            </a:extLst>
          </p:cNvPr>
          <p:cNvPicPr>
            <a:picLocks noChangeAspect="1"/>
          </p:cNvPicPr>
          <p:nvPr/>
        </p:nvPicPr>
        <p:blipFill>
          <a:blip r:embed="rId3"/>
          <a:stretch>
            <a:fillRect/>
          </a:stretch>
        </p:blipFill>
        <p:spPr>
          <a:xfrm>
            <a:off x="4202034" y="220502"/>
            <a:ext cx="720574" cy="7189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BEA37-B35A-461E-1D24-C13D7EC8588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9000886-AFFD-56BD-B952-DA7210E3E4FC}"/>
              </a:ext>
            </a:extLst>
          </p:cNvPr>
          <p:cNvSpPr/>
          <p:nvPr/>
        </p:nvSpPr>
        <p:spPr>
          <a:xfrm>
            <a:off x="0" y="0"/>
            <a:ext cx="2793931" cy="5137945"/>
          </a:xfrm>
          <a:custGeom>
            <a:avLst/>
            <a:gdLst/>
            <a:ahLst/>
            <a:cxnLst/>
            <a:rect l="l" t="t" r="r" b="b"/>
            <a:pathLst>
              <a:path w="2793931" h="5137945">
                <a:moveTo>
                  <a:pt x="0" y="0"/>
                </a:moveTo>
                <a:lnTo>
                  <a:pt x="0" y="5137945"/>
                </a:lnTo>
                <a:lnTo>
                  <a:pt x="2793931" y="5137945"/>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3" name="Image 0" descr="//img.tukuppt.com/aippt_uploads/55004950/24/11/16/67383893e246f.png">
            <a:extLst>
              <a:ext uri="{FF2B5EF4-FFF2-40B4-BE49-F238E27FC236}">
                <a16:creationId xmlns:a16="http://schemas.microsoft.com/office/drawing/2014/main" id="{03F35EAD-5834-1449-36DA-1D10B7CA70C1}"/>
              </a:ext>
            </a:extLst>
          </p:cNvPr>
          <p:cNvPicPr>
            <a:picLocks noChangeAspect="1"/>
          </p:cNvPicPr>
          <p:nvPr/>
        </p:nvPicPr>
        <p:blipFill>
          <a:blip r:embed="rId3"/>
          <a:stretch>
            <a:fillRect/>
          </a:stretch>
        </p:blipFill>
        <p:spPr>
          <a:xfrm>
            <a:off x="238269" y="0"/>
            <a:ext cx="5168105" cy="5130104"/>
          </a:xfrm>
          <a:prstGeom prst="rect">
            <a:avLst/>
          </a:prstGeom>
        </p:spPr>
      </p:pic>
      <p:sp>
        <p:nvSpPr>
          <p:cNvPr id="5" name="Shape 2">
            <a:extLst>
              <a:ext uri="{FF2B5EF4-FFF2-40B4-BE49-F238E27FC236}">
                <a16:creationId xmlns:a16="http://schemas.microsoft.com/office/drawing/2014/main" id="{EF92AF7E-451F-E748-BA2E-401C504E4DDA}"/>
              </a:ext>
            </a:extLst>
          </p:cNvPr>
          <p:cNvSpPr/>
          <p:nvPr/>
        </p:nvSpPr>
        <p:spPr>
          <a:xfrm>
            <a:off x="3032200" y="991651"/>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3">
            <a:extLst>
              <a:ext uri="{FF2B5EF4-FFF2-40B4-BE49-F238E27FC236}">
                <a16:creationId xmlns:a16="http://schemas.microsoft.com/office/drawing/2014/main" id="{F61FA37D-075D-14BD-9645-F1C81C19CE65}"/>
              </a:ext>
            </a:extLst>
          </p:cNvPr>
          <p:cNvSpPr/>
          <p:nvPr/>
        </p:nvSpPr>
        <p:spPr>
          <a:xfrm>
            <a:off x="4355103" y="3578450"/>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Text 7">
            <a:extLst>
              <a:ext uri="{FF2B5EF4-FFF2-40B4-BE49-F238E27FC236}">
                <a16:creationId xmlns:a16="http://schemas.microsoft.com/office/drawing/2014/main" id="{18187866-10A3-BE3C-1D06-10E193335959}"/>
              </a:ext>
            </a:extLst>
          </p:cNvPr>
          <p:cNvSpPr txBox="1"/>
          <p:nvPr/>
        </p:nvSpPr>
        <p:spPr>
          <a:xfrm>
            <a:off x="3082921" y="1109047"/>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a:t>
            </a:r>
            <a:r>
              <a:rPr lang="en-US" altLang="zh-CN" sz="1800" b="1" dirty="0">
                <a:solidFill>
                  <a:srgbClr val="FFFFFF"/>
                </a:solidFill>
                <a:latin typeface="Microsoft YaHei" panose="020B0503020204020204" pitchFamily="34" charset="-122"/>
                <a:ea typeface="Microsoft YaHei" panose="020B0503020204020204" pitchFamily="34" charset="-122"/>
                <a:cs typeface="SourceHanSansSC-Regular"/>
              </a:rPr>
              <a:t>1</a:t>
            </a:r>
            <a:endParaRPr lang="en-US" sz="1800" dirty="0">
              <a:latin typeface="Microsoft YaHei" panose="020B0503020204020204" pitchFamily="34" charset="-122"/>
              <a:ea typeface="Microsoft YaHei" panose="020B0503020204020204" pitchFamily="34" charset="-122"/>
            </a:endParaRPr>
          </a:p>
        </p:txBody>
      </p:sp>
      <p:sp>
        <p:nvSpPr>
          <p:cNvPr id="11" name="Text 8">
            <a:extLst>
              <a:ext uri="{FF2B5EF4-FFF2-40B4-BE49-F238E27FC236}">
                <a16:creationId xmlns:a16="http://schemas.microsoft.com/office/drawing/2014/main" id="{9C2A02D7-A019-7510-A4B4-C1297A2AD4DB}"/>
              </a:ext>
            </a:extLst>
          </p:cNvPr>
          <p:cNvSpPr txBox="1"/>
          <p:nvPr/>
        </p:nvSpPr>
        <p:spPr>
          <a:xfrm>
            <a:off x="4409825" y="3695846"/>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a:t>
            </a:r>
            <a:r>
              <a:rPr lang="en-US" altLang="zh-CN" sz="1800" b="1" dirty="0">
                <a:solidFill>
                  <a:srgbClr val="FFFFFF"/>
                </a:solidFill>
                <a:latin typeface="Microsoft YaHei" panose="020B0503020204020204" pitchFamily="34" charset="-122"/>
                <a:ea typeface="Microsoft YaHei" panose="020B0503020204020204" pitchFamily="34" charset="-122"/>
                <a:cs typeface="SourceHanSansSC-Regular"/>
              </a:rPr>
              <a:t>3</a:t>
            </a:r>
            <a:endParaRPr lang="en-US" sz="1800" dirty="0">
              <a:latin typeface="Microsoft YaHei" panose="020B0503020204020204" pitchFamily="34" charset="-122"/>
              <a:ea typeface="Microsoft YaHei" panose="020B0503020204020204" pitchFamily="34" charset="-122"/>
            </a:endParaRPr>
          </a:p>
        </p:txBody>
      </p:sp>
      <p:sp>
        <p:nvSpPr>
          <p:cNvPr id="14" name="Text 11">
            <a:extLst>
              <a:ext uri="{FF2B5EF4-FFF2-40B4-BE49-F238E27FC236}">
                <a16:creationId xmlns:a16="http://schemas.microsoft.com/office/drawing/2014/main" id="{17138A35-2F47-02F9-F0EC-FF8863E74859}"/>
              </a:ext>
            </a:extLst>
          </p:cNvPr>
          <p:cNvSpPr txBox="1"/>
          <p:nvPr/>
        </p:nvSpPr>
        <p:spPr>
          <a:xfrm>
            <a:off x="7639544" y="1813676"/>
            <a:ext cx="952500" cy="1233488"/>
          </a:xfrm>
          <a:prstGeom prst="rect">
            <a:avLst/>
          </a:prstGeom>
          <a:noFill/>
          <a:ln/>
        </p:spPr>
        <p:txBody>
          <a:bodyPr wrap="square" lIns="0" tIns="0" rIns="0" bIns="0" rtlCol="0" anchor="t">
            <a:spAutoFit/>
          </a:bodyPr>
          <a:lstStyle/>
          <a:p>
            <a:pPr marL="0" indent="0" algn="ctr">
              <a:lnSpc>
                <a:spcPct val="96000"/>
              </a:lnSpc>
              <a:buNone/>
            </a:pPr>
            <a:r>
              <a:rPr lang="zh-CN" altLang="en-US" sz="4050" b="1" dirty="0">
                <a:solidFill>
                  <a:srgbClr val="FD5220"/>
                </a:solidFill>
                <a:latin typeface="Microsoft YaHei" panose="020B0503020204020204" pitchFamily="34" charset="-122"/>
                <a:ea typeface="Microsoft YaHei" panose="020B0503020204020204" pitchFamily="34" charset="-122"/>
                <a:cs typeface="SourceHanSansSC-Regular"/>
              </a:rPr>
              <a:t>目录</a:t>
            </a:r>
            <a:endParaRPr lang="en-US" sz="4050" dirty="0">
              <a:latin typeface="Microsoft YaHei" panose="020B0503020204020204" pitchFamily="34" charset="-122"/>
              <a:ea typeface="Microsoft YaHei" panose="020B0503020204020204" pitchFamily="34" charset="-122"/>
            </a:endParaRPr>
          </a:p>
        </p:txBody>
      </p:sp>
      <p:sp>
        <p:nvSpPr>
          <p:cNvPr id="15" name="Text 12">
            <a:extLst>
              <a:ext uri="{FF2B5EF4-FFF2-40B4-BE49-F238E27FC236}">
                <a16:creationId xmlns:a16="http://schemas.microsoft.com/office/drawing/2014/main" id="{EA1B1183-E5C6-D0DD-E1B3-F3C319386763}"/>
              </a:ext>
            </a:extLst>
          </p:cNvPr>
          <p:cNvSpPr txBox="1"/>
          <p:nvPr/>
        </p:nvSpPr>
        <p:spPr>
          <a:xfrm rot="5400000">
            <a:off x="7762079" y="2279595"/>
            <a:ext cx="1880497" cy="265907"/>
          </a:xfrm>
          <a:prstGeom prst="rect">
            <a:avLst/>
          </a:prstGeom>
          <a:noFill/>
          <a:ln/>
        </p:spPr>
        <p:txBody>
          <a:bodyPr wrap="square" lIns="0" tIns="0" rIns="0" bIns="0" rtlCol="0" anchor="t">
            <a:spAutoFit/>
          </a:bodyPr>
          <a:lstStyle/>
          <a:p>
            <a:pPr marL="0" indent="0" algn="ctr">
              <a:lnSpc>
                <a:spcPct val="96000"/>
              </a:lnSpc>
              <a:buNone/>
            </a:pPr>
            <a:r>
              <a:rPr lang="en" altLang="en-US" sz="1800" b="1" kern="0" spc="525" dirty="0">
                <a:solidFill>
                  <a:srgbClr val="FD5220"/>
                </a:solidFill>
                <a:latin typeface="Microsoft YaHei" panose="020B0503020204020204" pitchFamily="34" charset="-122"/>
                <a:ea typeface="Microsoft YaHei" panose="020B0503020204020204" pitchFamily="34" charset="-122"/>
                <a:cs typeface="SourceHanSansSC-Regular"/>
              </a:rPr>
              <a:t>CONTENTS</a:t>
            </a:r>
            <a:endParaRPr lang="en-US" sz="1800" dirty="0">
              <a:latin typeface="Microsoft YaHei" panose="020B0503020204020204" pitchFamily="34" charset="-122"/>
              <a:ea typeface="Microsoft YaHei" panose="020B0503020204020204" pitchFamily="34" charset="-122"/>
            </a:endParaRPr>
          </a:p>
        </p:txBody>
      </p:sp>
      <p:sp>
        <p:nvSpPr>
          <p:cNvPr id="17" name="Text 14">
            <a:extLst>
              <a:ext uri="{FF2B5EF4-FFF2-40B4-BE49-F238E27FC236}">
                <a16:creationId xmlns:a16="http://schemas.microsoft.com/office/drawing/2014/main" id="{97F12135-AFBA-A1FF-77B6-1DC359B1B730}"/>
              </a:ext>
            </a:extLst>
          </p:cNvPr>
          <p:cNvSpPr txBox="1"/>
          <p:nvPr/>
        </p:nvSpPr>
        <p:spPr>
          <a:xfrm>
            <a:off x="3961453" y="1118768"/>
            <a:ext cx="2995613" cy="265907"/>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服务器端开发</a:t>
            </a:r>
            <a:endParaRPr lang="en-US" sz="1800" dirty="0">
              <a:latin typeface="Microsoft YaHei" panose="020B0503020204020204" pitchFamily="34" charset="-122"/>
              <a:ea typeface="Microsoft YaHei" panose="020B0503020204020204" pitchFamily="34" charset="-122"/>
            </a:endParaRPr>
          </a:p>
        </p:txBody>
      </p:sp>
      <p:sp>
        <p:nvSpPr>
          <p:cNvPr id="18" name="Text 15">
            <a:extLst>
              <a:ext uri="{FF2B5EF4-FFF2-40B4-BE49-F238E27FC236}">
                <a16:creationId xmlns:a16="http://schemas.microsoft.com/office/drawing/2014/main" id="{8401A08A-D327-49A0-3425-DE3180ECB0E7}"/>
              </a:ext>
            </a:extLst>
          </p:cNvPr>
          <p:cNvSpPr txBox="1"/>
          <p:nvPr/>
        </p:nvSpPr>
        <p:spPr>
          <a:xfrm>
            <a:off x="5235530" y="3695460"/>
            <a:ext cx="3081338" cy="276225"/>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应用设计实践</a:t>
            </a:r>
            <a:endParaRPr lang="en-US" sz="1800" dirty="0">
              <a:latin typeface="Microsoft YaHei" panose="020B0503020204020204" pitchFamily="34" charset="-122"/>
              <a:ea typeface="Microsoft YaHei" panose="020B0503020204020204" pitchFamily="34" charset="-122"/>
            </a:endParaRPr>
          </a:p>
        </p:txBody>
      </p:sp>
      <p:sp>
        <p:nvSpPr>
          <p:cNvPr id="4" name="Shape 3">
            <a:extLst>
              <a:ext uri="{FF2B5EF4-FFF2-40B4-BE49-F238E27FC236}">
                <a16:creationId xmlns:a16="http://schemas.microsoft.com/office/drawing/2014/main" id="{4F31EB8B-018D-A516-8006-C0DCB4D00DA8}"/>
              </a:ext>
            </a:extLst>
          </p:cNvPr>
          <p:cNvSpPr/>
          <p:nvPr/>
        </p:nvSpPr>
        <p:spPr>
          <a:xfrm>
            <a:off x="3679232" y="2284559"/>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Text 8">
            <a:extLst>
              <a:ext uri="{FF2B5EF4-FFF2-40B4-BE49-F238E27FC236}">
                <a16:creationId xmlns:a16="http://schemas.microsoft.com/office/drawing/2014/main" id="{8E3C3E62-58BF-9F14-8D76-C5B9A05D048D}"/>
              </a:ext>
            </a:extLst>
          </p:cNvPr>
          <p:cNvSpPr txBox="1"/>
          <p:nvPr/>
        </p:nvSpPr>
        <p:spPr>
          <a:xfrm>
            <a:off x="3733954" y="2401955"/>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a:t>
            </a:r>
            <a:r>
              <a:rPr lang="en-US" altLang="zh-CN" sz="1800" b="1" dirty="0">
                <a:solidFill>
                  <a:srgbClr val="FFFFFF"/>
                </a:solidFill>
                <a:latin typeface="Microsoft YaHei" panose="020B0503020204020204" pitchFamily="34" charset="-122"/>
                <a:ea typeface="Microsoft YaHei" panose="020B0503020204020204" pitchFamily="34" charset="-122"/>
                <a:cs typeface="SourceHanSansSC-Regular"/>
              </a:rPr>
              <a:t>2</a:t>
            </a:r>
            <a:endParaRPr lang="en-US" sz="1800" dirty="0">
              <a:latin typeface="Microsoft YaHei" panose="020B0503020204020204" pitchFamily="34" charset="-122"/>
              <a:ea typeface="Microsoft YaHei" panose="020B0503020204020204" pitchFamily="34" charset="-122"/>
            </a:endParaRPr>
          </a:p>
        </p:txBody>
      </p:sp>
      <p:sp>
        <p:nvSpPr>
          <p:cNvPr id="8" name="Text 15">
            <a:extLst>
              <a:ext uri="{FF2B5EF4-FFF2-40B4-BE49-F238E27FC236}">
                <a16:creationId xmlns:a16="http://schemas.microsoft.com/office/drawing/2014/main" id="{59B40D8D-BBB2-ED80-AB19-91D0F7628F2A}"/>
              </a:ext>
            </a:extLst>
          </p:cNvPr>
          <p:cNvSpPr txBox="1"/>
          <p:nvPr/>
        </p:nvSpPr>
        <p:spPr>
          <a:xfrm>
            <a:off x="4572000" y="2401955"/>
            <a:ext cx="3081338" cy="276225"/>
          </a:xfrm>
          <a:prstGeom prst="rect">
            <a:avLst/>
          </a:prstGeom>
          <a:noFill/>
          <a:ln/>
        </p:spPr>
        <p:txBody>
          <a:bodyPr wrap="square" lIns="0" tIns="0" rIns="0" bIns="0" rtlCol="0" anchor="t">
            <a:spAutoFit/>
          </a:bodyPr>
          <a:lstStyle/>
          <a:p>
            <a:pPr marL="0" indent="0" algn="l">
              <a:lnSpc>
                <a:spcPct val="96000"/>
              </a:lnSpc>
              <a:buNone/>
            </a:pPr>
            <a:r>
              <a:rPr lang="zh-CN" altLang="en-US" b="1" dirty="0">
                <a:solidFill>
                  <a:srgbClr val="FD5220"/>
                </a:solidFill>
                <a:latin typeface="Microsoft YaHei" panose="020B0503020204020204" pitchFamily="34" charset="-122"/>
                <a:ea typeface="Microsoft YaHei" panose="020B0503020204020204" pitchFamily="34" charset="-122"/>
                <a:cs typeface="SourceHanSansSC-Regular"/>
              </a:rPr>
              <a:t>数据库</a:t>
            </a:r>
            <a:r>
              <a:rPr lang="en-US" altLang="zh-CN" sz="1800" b="1" dirty="0">
                <a:solidFill>
                  <a:srgbClr val="FD5220"/>
                </a:solidFill>
                <a:latin typeface="Microsoft YaHei" panose="020B0503020204020204" pitchFamily="34" charset="-122"/>
                <a:ea typeface="Microsoft YaHei" panose="020B0503020204020204" pitchFamily="34" charset="-122"/>
                <a:cs typeface="SourceHanSansSC-Regular"/>
              </a:rPr>
              <a:t>API</a:t>
            </a:r>
            <a:endParaRPr lang="en-US" sz="18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892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19C37-8C34-42FB-A8D0-C1CB25CE49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440C33C-87DF-88A3-DB7A-87E56A0C2FCA}"/>
              </a:ext>
            </a:extLst>
          </p:cNvPr>
          <p:cNvSpPr txBox="1"/>
          <p:nvPr/>
        </p:nvSpPr>
        <p:spPr>
          <a:xfrm>
            <a:off x="1006545" y="2781596"/>
            <a:ext cx="7458075" cy="661988"/>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服务器端开发</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B7287C26-2BB0-4492-F720-B1415CB57588}"/>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321118C1-DBCE-1812-B5F1-FC55D1DBF034}"/>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C0267D86-771D-410F-69EE-3A181993182F}"/>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600A6E83-077A-1AE8-D07A-E0D941EFDB01}"/>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BF3940E8-5F0C-466B-16D9-55F6F352CCE5}"/>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A1D37615-C527-0D56-4AF0-250EC773D738}"/>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C6370916-FF8F-121F-D367-9EACBD726CDA}"/>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06BD18FE-31AD-B225-A6F5-92477457325F}"/>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D3C9F3DC-F5F3-AE26-7BA2-D7DC6DC90AF2}"/>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B51AF575-D720-A41D-8A4C-3FA23EB68B4C}"/>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C70FDA58-C25E-B0FA-0C98-64AC387ADBD1}"/>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F6CA3DBD-A890-A61A-4D92-9A6FFBA13E5E}"/>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C4223E36-06BF-F663-9D9C-17C0E56A333C}"/>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F5886B00-C629-5AEC-FDC0-14BE917DFA0D}"/>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B502BC6F-D77B-FD4C-CE7B-788839BA8C32}"/>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01</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453523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14D58-0E72-D7E3-C1E0-64D3A33CE0F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4441EB0-9EAB-6621-9024-8F78A5E6F848}"/>
              </a:ext>
            </a:extLst>
          </p:cNvPr>
          <p:cNvSpPr>
            <a:spLocks noGrp="1"/>
          </p:cNvSpPr>
          <p:nvPr>
            <p:ph type="title"/>
          </p:nvPr>
        </p:nvSpPr>
        <p:spPr/>
        <p:txBody>
          <a:bodyPr/>
          <a:lstStyle/>
          <a:p>
            <a:r>
              <a:rPr kumimoji="1" lang="en-US" altLang="zh-CN" dirty="0"/>
              <a:t>PL/SQL</a:t>
            </a:r>
            <a:endParaRPr kumimoji="1" lang="zh-CN" altLang="en-US" dirty="0"/>
          </a:p>
        </p:txBody>
      </p:sp>
      <p:sp>
        <p:nvSpPr>
          <p:cNvPr id="3" name="内容占位符 2">
            <a:extLst>
              <a:ext uri="{FF2B5EF4-FFF2-40B4-BE49-F238E27FC236}">
                <a16:creationId xmlns:a16="http://schemas.microsoft.com/office/drawing/2014/main" id="{08BA62D3-9866-4D82-F282-77AB01663985}"/>
              </a:ext>
            </a:extLst>
          </p:cNvPr>
          <p:cNvSpPr>
            <a:spLocks noGrp="1"/>
          </p:cNvSpPr>
          <p:nvPr>
            <p:ph idx="1"/>
          </p:nvPr>
        </p:nvSpPr>
        <p:spPr/>
        <p:txBody>
          <a:bodyPr>
            <a:normAutofit fontScale="77500" lnSpcReduction="20000"/>
          </a:bodyPr>
          <a:lstStyle/>
          <a:p>
            <a:pPr>
              <a:lnSpc>
                <a:spcPct val="120000"/>
              </a:lnSpc>
            </a:pPr>
            <a:r>
              <a:rPr kumimoji="1" lang="en-US" altLang="zh-CN" dirty="0"/>
              <a:t>Procedural</a:t>
            </a:r>
            <a:r>
              <a:rPr kumimoji="1" lang="zh-CN" altLang="en-US" dirty="0"/>
              <a:t> </a:t>
            </a:r>
            <a:r>
              <a:rPr kumimoji="1" lang="en-US" altLang="zh-CN" dirty="0"/>
              <a:t>Language</a:t>
            </a:r>
            <a:r>
              <a:rPr kumimoji="1" lang="zh-CN" altLang="en-US" dirty="0"/>
              <a:t>：过程语言</a:t>
            </a:r>
            <a:endParaRPr kumimoji="1" lang="en-US" altLang="zh-CN" dirty="0"/>
          </a:p>
          <a:p>
            <a:pPr>
              <a:lnSpc>
                <a:spcPct val="120000"/>
              </a:lnSpc>
            </a:pPr>
            <a:endParaRPr kumimoji="1" lang="en-US" altLang="zh-CN" dirty="0"/>
          </a:p>
          <a:p>
            <a:pPr>
              <a:lnSpc>
                <a:spcPct val="120000"/>
              </a:lnSpc>
            </a:pPr>
            <a:r>
              <a:rPr kumimoji="1" lang="en-US" altLang="zh-CN" dirty="0"/>
              <a:t>PL/SQL</a:t>
            </a:r>
            <a:r>
              <a:rPr kumimoji="1" lang="zh-CN" altLang="en-US" dirty="0"/>
              <a:t>：过程化</a:t>
            </a:r>
            <a:endParaRPr kumimoji="1" lang="en-US" altLang="zh-CN" dirty="0"/>
          </a:p>
          <a:p>
            <a:pPr lvl="1">
              <a:lnSpc>
                <a:spcPct val="120000"/>
              </a:lnSpc>
            </a:pPr>
            <a:r>
              <a:rPr kumimoji="1" lang="zh-CN" altLang="en-US" dirty="0"/>
              <a:t>变量、赋值等</a:t>
            </a:r>
            <a:endParaRPr kumimoji="1" lang="en-US" altLang="zh-CN" dirty="0"/>
          </a:p>
          <a:p>
            <a:pPr lvl="1">
              <a:lnSpc>
                <a:spcPct val="120000"/>
              </a:lnSpc>
            </a:pPr>
            <a:r>
              <a:rPr kumimoji="1" lang="en-US" altLang="zh-CN" dirty="0"/>
              <a:t>IF</a:t>
            </a:r>
            <a:r>
              <a:rPr kumimoji="1" lang="zh-CN" altLang="en-US" dirty="0"/>
              <a:t>、</a:t>
            </a:r>
            <a:r>
              <a:rPr kumimoji="1" lang="en-US" altLang="zh-CN" dirty="0"/>
              <a:t>ELSE</a:t>
            </a:r>
          </a:p>
          <a:p>
            <a:pPr lvl="1">
              <a:lnSpc>
                <a:spcPct val="120000"/>
              </a:lnSpc>
            </a:pPr>
            <a:r>
              <a:rPr kumimoji="1" lang="en-US" altLang="zh-CN" dirty="0"/>
              <a:t>WHILE</a:t>
            </a:r>
          </a:p>
          <a:p>
            <a:pPr lvl="1">
              <a:lnSpc>
                <a:spcPct val="120000"/>
              </a:lnSpc>
            </a:pPr>
            <a:r>
              <a:rPr kumimoji="1" lang="en-US" altLang="zh-CN" dirty="0"/>
              <a:t>RETURN</a:t>
            </a:r>
          </a:p>
          <a:p>
            <a:pPr lvl="1">
              <a:lnSpc>
                <a:spcPct val="120000"/>
              </a:lnSpc>
            </a:pPr>
            <a:endParaRPr kumimoji="1" lang="en-US" altLang="zh-CN" dirty="0"/>
          </a:p>
          <a:p>
            <a:pPr>
              <a:lnSpc>
                <a:spcPct val="120000"/>
              </a:lnSpc>
            </a:pPr>
            <a:r>
              <a:rPr kumimoji="1" lang="zh-CN" altLang="en-US" dirty="0"/>
              <a:t>在</a:t>
            </a:r>
            <a:r>
              <a:rPr kumimoji="1" lang="en-US" altLang="zh-CN" dirty="0"/>
              <a:t>SQL</a:t>
            </a:r>
            <a:r>
              <a:rPr kumimoji="1" lang="zh-CN" altLang="en-US" dirty="0"/>
              <a:t>中增加控制语句使</a:t>
            </a:r>
            <a:r>
              <a:rPr kumimoji="1" lang="en-US" altLang="zh-CN" dirty="0"/>
              <a:t>PL/SQL</a:t>
            </a:r>
            <a:r>
              <a:rPr kumimoji="1" lang="zh-CN" altLang="en-US" dirty="0"/>
              <a:t>真正变成了一种“编程语言”</a:t>
            </a:r>
          </a:p>
        </p:txBody>
      </p:sp>
    </p:spTree>
    <p:extLst>
      <p:ext uri="{BB962C8B-B14F-4D97-AF65-F5344CB8AC3E}">
        <p14:creationId xmlns:p14="http://schemas.microsoft.com/office/powerpoint/2010/main" val="1497150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63980-FC35-C1CA-CD7B-FE010040774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D6A424-BC1F-2C19-881C-F6A3499D2B8A}"/>
              </a:ext>
            </a:extLst>
          </p:cNvPr>
          <p:cNvSpPr>
            <a:spLocks noGrp="1"/>
          </p:cNvSpPr>
          <p:nvPr>
            <p:ph type="title"/>
          </p:nvPr>
        </p:nvSpPr>
        <p:spPr/>
        <p:txBody>
          <a:bodyPr>
            <a:normAutofit/>
          </a:bodyPr>
          <a:lstStyle/>
          <a:p>
            <a:r>
              <a:rPr kumimoji="1" lang="en-US" altLang="zh-CN" dirty="0" err="1"/>
              <a:t>openGauss</a:t>
            </a:r>
            <a:r>
              <a:rPr kumimoji="1" lang="zh-CN" altLang="en-US" dirty="0"/>
              <a:t>与</a:t>
            </a:r>
            <a:r>
              <a:rPr kumimoji="1" lang="en-US" altLang="zh-CN" dirty="0"/>
              <a:t>PostgreSQL</a:t>
            </a:r>
            <a:r>
              <a:rPr kumimoji="1" lang="zh-CN" altLang="en-US" dirty="0"/>
              <a:t>中的过程语言</a:t>
            </a:r>
          </a:p>
        </p:txBody>
      </p:sp>
      <p:sp>
        <p:nvSpPr>
          <p:cNvPr id="3" name="内容占位符 2">
            <a:extLst>
              <a:ext uri="{FF2B5EF4-FFF2-40B4-BE49-F238E27FC236}">
                <a16:creationId xmlns:a16="http://schemas.microsoft.com/office/drawing/2014/main" id="{150D86B7-0C38-D376-4BAB-3F97296A2B13}"/>
              </a:ext>
            </a:extLst>
          </p:cNvPr>
          <p:cNvSpPr>
            <a:spLocks noGrp="1"/>
          </p:cNvSpPr>
          <p:nvPr>
            <p:ph idx="1"/>
          </p:nvPr>
        </p:nvSpPr>
        <p:spPr/>
        <p:txBody>
          <a:bodyPr/>
          <a:lstStyle/>
          <a:p>
            <a:r>
              <a:rPr kumimoji="1" lang="en-US" altLang="zh-CN" dirty="0"/>
              <a:t>PL/</a:t>
            </a:r>
            <a:r>
              <a:rPr kumimoji="1" lang="en-US" altLang="zh-CN" dirty="0" err="1"/>
              <a:t>pgSQL</a:t>
            </a:r>
            <a:endParaRPr kumimoji="1" lang="en-US" altLang="zh-CN" dirty="0"/>
          </a:p>
          <a:p>
            <a:endParaRPr kumimoji="1" lang="en-US" altLang="zh-CN" dirty="0"/>
          </a:p>
          <a:p>
            <a:r>
              <a:rPr kumimoji="1" lang="en-US" altLang="zh-CN" dirty="0"/>
              <a:t>PL/Python</a:t>
            </a:r>
          </a:p>
          <a:p>
            <a:endParaRPr kumimoji="1" lang="en-US" altLang="zh-CN" dirty="0"/>
          </a:p>
          <a:p>
            <a:r>
              <a:rPr kumimoji="1" lang="en-US" altLang="zh-CN" dirty="0"/>
              <a:t>PL/</a:t>
            </a:r>
            <a:r>
              <a:rPr kumimoji="1" lang="en-US" altLang="zh-CN" dirty="0" err="1"/>
              <a:t>Tcl</a:t>
            </a:r>
            <a:r>
              <a:rPr kumimoji="1" lang="zh-CN" altLang="en-US" dirty="0"/>
              <a:t>、</a:t>
            </a:r>
            <a:r>
              <a:rPr kumimoji="1" lang="en-US" altLang="zh-CN" dirty="0"/>
              <a:t>PL/Perl</a:t>
            </a:r>
            <a:r>
              <a:rPr kumimoji="1" lang="zh-CN" altLang="en-US" dirty="0"/>
              <a:t>、</a:t>
            </a:r>
            <a:r>
              <a:rPr kumimoji="1" lang="en-US" altLang="zh-CN" dirty="0"/>
              <a:t>PL/Java</a:t>
            </a:r>
            <a:r>
              <a:rPr kumimoji="1" lang="zh-CN" altLang="en-US" dirty="0"/>
              <a:t>、</a:t>
            </a:r>
            <a:r>
              <a:rPr kumimoji="1" lang="en-US" altLang="zh-CN" dirty="0"/>
              <a:t>PL/Ruby</a:t>
            </a:r>
            <a:r>
              <a:rPr kumimoji="1" lang="zh-CN" altLang="en-US" dirty="0"/>
              <a:t> </a:t>
            </a:r>
            <a:r>
              <a:rPr kumimoji="1" lang="en-US" altLang="zh-CN" dirty="0"/>
              <a:t>……</a:t>
            </a:r>
            <a:endParaRPr kumimoji="1" lang="zh-CN" altLang="en-US" dirty="0"/>
          </a:p>
        </p:txBody>
      </p:sp>
    </p:spTree>
    <p:extLst>
      <p:ext uri="{BB962C8B-B14F-4D97-AF65-F5344CB8AC3E}">
        <p14:creationId xmlns:p14="http://schemas.microsoft.com/office/powerpoint/2010/main" val="1224404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5214271-4F7C-25B4-41BF-B10372DC4211}"/>
              </a:ext>
            </a:extLst>
          </p:cNvPr>
          <p:cNvSpPr>
            <a:spLocks noGrp="1"/>
          </p:cNvSpPr>
          <p:nvPr>
            <p:ph type="title"/>
          </p:nvPr>
        </p:nvSpPr>
        <p:spPr/>
        <p:txBody>
          <a:bodyPr/>
          <a:lstStyle/>
          <a:p>
            <a:r>
              <a:rPr lang="zh-CN" altLang="en-US" dirty="0"/>
              <a:t>用户定义类型</a:t>
            </a:r>
            <a:r>
              <a:rPr lang="en-US" altLang="zh-CN" dirty="0"/>
              <a:t>UDT</a:t>
            </a:r>
            <a:r>
              <a:rPr lang="zh-CN" altLang="en-US" dirty="0"/>
              <a:t>：</a:t>
            </a:r>
            <a:r>
              <a:rPr lang="en-US" altLang="zh-CN" dirty="0"/>
              <a:t>User</a:t>
            </a:r>
            <a:r>
              <a:rPr lang="zh-CN" altLang="en-US" dirty="0"/>
              <a:t> </a:t>
            </a:r>
            <a:r>
              <a:rPr lang="en-US" altLang="zh-CN" dirty="0"/>
              <a:t>Defined</a:t>
            </a:r>
            <a:r>
              <a:rPr lang="zh-CN" altLang="en-US" dirty="0"/>
              <a:t> </a:t>
            </a:r>
            <a:r>
              <a:rPr lang="en-US" altLang="zh-CN" dirty="0"/>
              <a:t>Type</a:t>
            </a:r>
            <a:endParaRPr lang="zh-CN" altLang="en-US" dirty="0"/>
          </a:p>
        </p:txBody>
      </p:sp>
      <p:sp>
        <p:nvSpPr>
          <p:cNvPr id="5" name="内容占位符 4">
            <a:extLst>
              <a:ext uri="{FF2B5EF4-FFF2-40B4-BE49-F238E27FC236}">
                <a16:creationId xmlns:a16="http://schemas.microsoft.com/office/drawing/2014/main" id="{D00277BA-BB2F-93F3-D0C3-DCFD9419B5C1}"/>
              </a:ext>
            </a:extLst>
          </p:cNvPr>
          <p:cNvSpPr>
            <a:spLocks noGrp="1"/>
          </p:cNvSpPr>
          <p:nvPr>
            <p:ph idx="1"/>
          </p:nvPr>
        </p:nvSpPr>
        <p:spPr>
          <a:xfrm>
            <a:off x="628650" y="1042761"/>
            <a:ext cx="7886700" cy="790771"/>
          </a:xfrm>
        </p:spPr>
        <p:txBody>
          <a:bodyPr>
            <a:normAutofit/>
          </a:bodyPr>
          <a:lstStyle/>
          <a:p>
            <a:r>
              <a:rPr lang="zh-CN" altLang="en-US" sz="2000" dirty="0"/>
              <a:t>在数据库中虽然定义了各种基本的数据类型，但大量的应用往往需要更多特殊的数据类型，因此用户自定义数据类型显得尤为重要。</a:t>
            </a:r>
          </a:p>
        </p:txBody>
      </p:sp>
      <p:sp>
        <p:nvSpPr>
          <p:cNvPr id="2" name="文本框 1">
            <a:extLst>
              <a:ext uri="{FF2B5EF4-FFF2-40B4-BE49-F238E27FC236}">
                <a16:creationId xmlns:a16="http://schemas.microsoft.com/office/drawing/2014/main" id="{30D988AF-2A84-3BE6-00C0-491B0120871C}"/>
              </a:ext>
            </a:extLst>
          </p:cNvPr>
          <p:cNvSpPr txBox="1"/>
          <p:nvPr/>
        </p:nvSpPr>
        <p:spPr>
          <a:xfrm>
            <a:off x="209227" y="1983783"/>
            <a:ext cx="3861955" cy="2031325"/>
          </a:xfrm>
          <a:prstGeom prst="rect">
            <a:avLst/>
          </a:prstGeom>
          <a:noFill/>
        </p:spPr>
        <p:txBody>
          <a:bodyPr wrap="none" rtlCol="0">
            <a:spAutoFit/>
          </a:bodyPr>
          <a:lstStyle/>
          <a:p>
            <a:r>
              <a:rPr lang="en" altLang="zh-CN" dirty="0"/>
              <a:t>CREATE TYPE </a:t>
            </a:r>
            <a:r>
              <a:rPr lang="en" altLang="zh-CN" dirty="0" err="1"/>
              <a:t>AddressType</a:t>
            </a:r>
            <a:r>
              <a:rPr lang="en" altLang="zh-CN" dirty="0"/>
              <a:t> AS TABLE</a:t>
            </a:r>
          </a:p>
          <a:p>
            <a:r>
              <a:rPr lang="en" altLang="zh-CN" dirty="0"/>
              <a:t>(</a:t>
            </a:r>
          </a:p>
          <a:p>
            <a:r>
              <a:rPr lang="en" altLang="zh-CN" dirty="0"/>
              <a:t>    Street NVARCHAR(50),</a:t>
            </a:r>
          </a:p>
          <a:p>
            <a:r>
              <a:rPr lang="en" altLang="zh-CN" dirty="0"/>
              <a:t>    City NVARCHAR(50),</a:t>
            </a:r>
          </a:p>
          <a:p>
            <a:r>
              <a:rPr lang="en" altLang="zh-CN" dirty="0"/>
              <a:t>    State NVARCHAR(50),</a:t>
            </a:r>
          </a:p>
          <a:p>
            <a:r>
              <a:rPr lang="en" altLang="zh-CN" dirty="0"/>
              <a:t>    </a:t>
            </a:r>
            <a:r>
              <a:rPr lang="en" altLang="zh-CN" dirty="0" err="1"/>
              <a:t>ZipCode</a:t>
            </a:r>
            <a:r>
              <a:rPr lang="en" altLang="zh-CN" dirty="0"/>
              <a:t> NVARCHAR(10)</a:t>
            </a:r>
          </a:p>
          <a:p>
            <a:r>
              <a:rPr lang="en" altLang="zh-CN" dirty="0"/>
              <a:t>);</a:t>
            </a:r>
          </a:p>
        </p:txBody>
      </p:sp>
      <p:sp>
        <p:nvSpPr>
          <p:cNvPr id="7" name="文本框 6">
            <a:extLst>
              <a:ext uri="{FF2B5EF4-FFF2-40B4-BE49-F238E27FC236}">
                <a16:creationId xmlns:a16="http://schemas.microsoft.com/office/drawing/2014/main" id="{FEA071AF-9A86-CAD6-ED3F-39B88BEAA446}"/>
              </a:ext>
            </a:extLst>
          </p:cNvPr>
          <p:cNvSpPr txBox="1"/>
          <p:nvPr/>
        </p:nvSpPr>
        <p:spPr>
          <a:xfrm>
            <a:off x="5261675" y="2122282"/>
            <a:ext cx="3502882" cy="1754326"/>
          </a:xfrm>
          <a:prstGeom prst="rect">
            <a:avLst/>
          </a:prstGeom>
          <a:noFill/>
        </p:spPr>
        <p:txBody>
          <a:bodyPr wrap="none" rtlCol="0">
            <a:spAutoFit/>
          </a:bodyPr>
          <a:lstStyle/>
          <a:p>
            <a:r>
              <a:rPr lang="en" altLang="zh-CN" dirty="0"/>
              <a:t>CREATE TABLE Employees</a:t>
            </a:r>
          </a:p>
          <a:p>
            <a:r>
              <a:rPr lang="en" altLang="zh-CN" dirty="0"/>
              <a:t>(</a:t>
            </a:r>
          </a:p>
          <a:p>
            <a:r>
              <a:rPr lang="en" altLang="zh-CN" dirty="0"/>
              <a:t>    </a:t>
            </a:r>
            <a:r>
              <a:rPr lang="en" altLang="zh-CN" dirty="0" err="1"/>
              <a:t>EmployeeID</a:t>
            </a:r>
            <a:r>
              <a:rPr lang="en" altLang="zh-CN" dirty="0"/>
              <a:t> INT PRIMARY KEY,</a:t>
            </a:r>
          </a:p>
          <a:p>
            <a:r>
              <a:rPr lang="en" altLang="zh-CN" dirty="0"/>
              <a:t>    Name NVARCHAR(100),</a:t>
            </a:r>
          </a:p>
          <a:p>
            <a:r>
              <a:rPr lang="en" altLang="zh-CN" dirty="0"/>
              <a:t>    Address </a:t>
            </a:r>
            <a:r>
              <a:rPr lang="en" altLang="zh-CN" dirty="0" err="1"/>
              <a:t>AddressType</a:t>
            </a:r>
            <a:endParaRPr lang="en" altLang="zh-CN" dirty="0"/>
          </a:p>
          <a:p>
            <a:r>
              <a:rPr lang="en" altLang="zh-CN" dirty="0"/>
              <a:t>);</a:t>
            </a:r>
          </a:p>
        </p:txBody>
      </p:sp>
      <p:sp>
        <p:nvSpPr>
          <p:cNvPr id="8" name="圆角矩形 7">
            <a:extLst>
              <a:ext uri="{FF2B5EF4-FFF2-40B4-BE49-F238E27FC236}">
                <a16:creationId xmlns:a16="http://schemas.microsoft.com/office/drawing/2014/main" id="{5949D485-24C7-1BF7-8093-75F67B13B666}"/>
              </a:ext>
            </a:extLst>
          </p:cNvPr>
          <p:cNvSpPr/>
          <p:nvPr/>
        </p:nvSpPr>
        <p:spPr>
          <a:xfrm>
            <a:off x="6416298" y="3246895"/>
            <a:ext cx="1379349" cy="34096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任意形状 9">
            <a:extLst>
              <a:ext uri="{FF2B5EF4-FFF2-40B4-BE49-F238E27FC236}">
                <a16:creationId xmlns:a16="http://schemas.microsoft.com/office/drawing/2014/main" id="{4B594217-238C-EA84-B998-116174308C85}"/>
              </a:ext>
            </a:extLst>
          </p:cNvPr>
          <p:cNvSpPr/>
          <p:nvPr/>
        </p:nvSpPr>
        <p:spPr>
          <a:xfrm>
            <a:off x="2704454" y="2293749"/>
            <a:ext cx="3750590" cy="1960536"/>
          </a:xfrm>
          <a:custGeom>
            <a:avLst/>
            <a:gdLst>
              <a:gd name="csX0" fmla="*/ 0 w 3750590"/>
              <a:gd name="csY0" fmla="*/ 0 h 1960536"/>
              <a:gd name="csX1" fmla="*/ 92990 w 3750590"/>
              <a:gd name="csY1" fmla="*/ 116237 h 1960536"/>
              <a:gd name="csX2" fmla="*/ 193729 w 3750590"/>
              <a:gd name="csY2" fmla="*/ 216976 h 1960536"/>
              <a:gd name="csX3" fmla="*/ 333214 w 3750590"/>
              <a:gd name="csY3" fmla="*/ 302217 h 1960536"/>
              <a:gd name="csX4" fmla="*/ 426204 w 3750590"/>
              <a:gd name="csY4" fmla="*/ 348712 h 1960536"/>
              <a:gd name="csX5" fmla="*/ 557939 w 3750590"/>
              <a:gd name="csY5" fmla="*/ 449451 h 1960536"/>
              <a:gd name="csX6" fmla="*/ 619932 w 3750590"/>
              <a:gd name="csY6" fmla="*/ 526943 h 1960536"/>
              <a:gd name="csX7" fmla="*/ 666427 w 3750590"/>
              <a:gd name="csY7" fmla="*/ 581187 h 1960536"/>
              <a:gd name="csX8" fmla="*/ 681926 w 3750590"/>
              <a:gd name="csY8" fmla="*/ 604434 h 1960536"/>
              <a:gd name="csX9" fmla="*/ 712922 w 3750590"/>
              <a:gd name="csY9" fmla="*/ 635431 h 1960536"/>
              <a:gd name="csX10" fmla="*/ 767166 w 3750590"/>
              <a:gd name="csY10" fmla="*/ 712922 h 1960536"/>
              <a:gd name="csX11" fmla="*/ 813661 w 3750590"/>
              <a:gd name="csY11" fmla="*/ 774915 h 1960536"/>
              <a:gd name="csX12" fmla="*/ 829160 w 3750590"/>
              <a:gd name="csY12" fmla="*/ 805912 h 1960536"/>
              <a:gd name="csX13" fmla="*/ 852407 w 3750590"/>
              <a:gd name="csY13" fmla="*/ 836909 h 1960536"/>
              <a:gd name="csX14" fmla="*/ 875654 w 3750590"/>
              <a:gd name="csY14" fmla="*/ 891153 h 1960536"/>
              <a:gd name="csX15" fmla="*/ 898902 w 3750590"/>
              <a:gd name="csY15" fmla="*/ 929898 h 1960536"/>
              <a:gd name="csX16" fmla="*/ 945397 w 3750590"/>
              <a:gd name="csY16" fmla="*/ 1015139 h 1960536"/>
              <a:gd name="csX17" fmla="*/ 976393 w 3750590"/>
              <a:gd name="csY17" fmla="*/ 1069383 h 1960536"/>
              <a:gd name="csX18" fmla="*/ 1030638 w 3750590"/>
              <a:gd name="csY18" fmla="*/ 1146875 h 1960536"/>
              <a:gd name="csX19" fmla="*/ 1053885 w 3750590"/>
              <a:gd name="csY19" fmla="*/ 1193370 h 1960536"/>
              <a:gd name="csX20" fmla="*/ 1084882 w 3750590"/>
              <a:gd name="csY20" fmla="*/ 1224366 h 1960536"/>
              <a:gd name="csX21" fmla="*/ 1115878 w 3750590"/>
              <a:gd name="csY21" fmla="*/ 1270861 h 1960536"/>
              <a:gd name="csX22" fmla="*/ 1146875 w 3750590"/>
              <a:gd name="csY22" fmla="*/ 1301858 h 1960536"/>
              <a:gd name="csX23" fmla="*/ 1170122 w 3750590"/>
              <a:gd name="csY23" fmla="*/ 1332854 h 1960536"/>
              <a:gd name="csX24" fmla="*/ 1216617 w 3750590"/>
              <a:gd name="csY24" fmla="*/ 1379349 h 1960536"/>
              <a:gd name="csX25" fmla="*/ 1247614 w 3750590"/>
              <a:gd name="csY25" fmla="*/ 1410346 h 1960536"/>
              <a:gd name="csX26" fmla="*/ 1317356 w 3750590"/>
              <a:gd name="csY26" fmla="*/ 1480088 h 1960536"/>
              <a:gd name="csX27" fmla="*/ 1340604 w 3750590"/>
              <a:gd name="csY27" fmla="*/ 1503336 h 1960536"/>
              <a:gd name="csX28" fmla="*/ 1394848 w 3750590"/>
              <a:gd name="csY28" fmla="*/ 1549831 h 1960536"/>
              <a:gd name="csX29" fmla="*/ 1456841 w 3750590"/>
              <a:gd name="csY29" fmla="*/ 1596326 h 1960536"/>
              <a:gd name="csX30" fmla="*/ 1487838 w 3750590"/>
              <a:gd name="csY30" fmla="*/ 1619573 h 1960536"/>
              <a:gd name="csX31" fmla="*/ 1511085 w 3750590"/>
              <a:gd name="csY31" fmla="*/ 1635071 h 1960536"/>
              <a:gd name="csX32" fmla="*/ 1542082 w 3750590"/>
              <a:gd name="csY32" fmla="*/ 1658319 h 1960536"/>
              <a:gd name="csX33" fmla="*/ 1604075 w 3750590"/>
              <a:gd name="csY33" fmla="*/ 1697065 h 1960536"/>
              <a:gd name="csX34" fmla="*/ 1650570 w 3750590"/>
              <a:gd name="csY34" fmla="*/ 1720312 h 1960536"/>
              <a:gd name="csX35" fmla="*/ 1697065 w 3750590"/>
              <a:gd name="csY35" fmla="*/ 1743559 h 1960536"/>
              <a:gd name="csX36" fmla="*/ 1743560 w 3750590"/>
              <a:gd name="csY36" fmla="*/ 1774556 h 1960536"/>
              <a:gd name="csX37" fmla="*/ 1844299 w 3750590"/>
              <a:gd name="csY37" fmla="*/ 1805553 h 1960536"/>
              <a:gd name="csX38" fmla="*/ 1875295 w 3750590"/>
              <a:gd name="csY38" fmla="*/ 1821051 h 1960536"/>
              <a:gd name="csX39" fmla="*/ 1937288 w 3750590"/>
              <a:gd name="csY39" fmla="*/ 1836549 h 1960536"/>
              <a:gd name="csX40" fmla="*/ 2007031 w 3750590"/>
              <a:gd name="csY40" fmla="*/ 1852048 h 1960536"/>
              <a:gd name="csX41" fmla="*/ 2061275 w 3750590"/>
              <a:gd name="csY41" fmla="*/ 1867546 h 1960536"/>
              <a:gd name="csX42" fmla="*/ 2100021 w 3750590"/>
              <a:gd name="csY42" fmla="*/ 1883044 h 1960536"/>
              <a:gd name="csX43" fmla="*/ 2138766 w 3750590"/>
              <a:gd name="csY43" fmla="*/ 1890793 h 1960536"/>
              <a:gd name="csX44" fmla="*/ 2247254 w 3750590"/>
              <a:gd name="csY44" fmla="*/ 1914041 h 1960536"/>
              <a:gd name="csX45" fmla="*/ 2324746 w 3750590"/>
              <a:gd name="csY45" fmla="*/ 1921790 h 1960536"/>
              <a:gd name="csX46" fmla="*/ 2409987 w 3750590"/>
              <a:gd name="csY46" fmla="*/ 1937288 h 1960536"/>
              <a:gd name="csX47" fmla="*/ 2495227 w 3750590"/>
              <a:gd name="csY47" fmla="*/ 1945037 h 1960536"/>
              <a:gd name="csX48" fmla="*/ 2588217 w 3750590"/>
              <a:gd name="csY48" fmla="*/ 1960536 h 1960536"/>
              <a:gd name="csX49" fmla="*/ 3022170 w 3750590"/>
              <a:gd name="csY49" fmla="*/ 1952787 h 1960536"/>
              <a:gd name="csX50" fmla="*/ 3045417 w 3750590"/>
              <a:gd name="csY50" fmla="*/ 1945037 h 1960536"/>
              <a:gd name="csX51" fmla="*/ 3099661 w 3750590"/>
              <a:gd name="csY51" fmla="*/ 1937288 h 1960536"/>
              <a:gd name="csX52" fmla="*/ 3130658 w 3750590"/>
              <a:gd name="csY52" fmla="*/ 1921790 h 1960536"/>
              <a:gd name="csX53" fmla="*/ 3177153 w 3750590"/>
              <a:gd name="csY53" fmla="*/ 1906292 h 1960536"/>
              <a:gd name="csX54" fmla="*/ 3200400 w 3750590"/>
              <a:gd name="csY54" fmla="*/ 1898543 h 1960536"/>
              <a:gd name="csX55" fmla="*/ 3231397 w 3750590"/>
              <a:gd name="csY55" fmla="*/ 1883044 h 1960536"/>
              <a:gd name="csX56" fmla="*/ 3262393 w 3750590"/>
              <a:gd name="csY56" fmla="*/ 1859797 h 1960536"/>
              <a:gd name="csX57" fmla="*/ 3301139 w 3750590"/>
              <a:gd name="csY57" fmla="*/ 1836549 h 1960536"/>
              <a:gd name="csX58" fmla="*/ 3347634 w 3750590"/>
              <a:gd name="csY58" fmla="*/ 1805553 h 1960536"/>
              <a:gd name="csX59" fmla="*/ 3386380 w 3750590"/>
              <a:gd name="csY59" fmla="*/ 1782305 h 1960536"/>
              <a:gd name="csX60" fmla="*/ 3425126 w 3750590"/>
              <a:gd name="csY60" fmla="*/ 1751309 h 1960536"/>
              <a:gd name="csX61" fmla="*/ 3502617 w 3750590"/>
              <a:gd name="csY61" fmla="*/ 1704814 h 1960536"/>
              <a:gd name="csX62" fmla="*/ 3572360 w 3750590"/>
              <a:gd name="csY62" fmla="*/ 1635071 h 1960536"/>
              <a:gd name="csX63" fmla="*/ 3595607 w 3750590"/>
              <a:gd name="csY63" fmla="*/ 1611824 h 1960536"/>
              <a:gd name="csX64" fmla="*/ 3626604 w 3750590"/>
              <a:gd name="csY64" fmla="*/ 1565329 h 1960536"/>
              <a:gd name="csX65" fmla="*/ 3657600 w 3750590"/>
              <a:gd name="csY65" fmla="*/ 1511085 h 1960536"/>
              <a:gd name="csX66" fmla="*/ 3680848 w 3750590"/>
              <a:gd name="csY66" fmla="*/ 1441343 h 1960536"/>
              <a:gd name="csX67" fmla="*/ 3688597 w 3750590"/>
              <a:gd name="csY67" fmla="*/ 1418095 h 1960536"/>
              <a:gd name="csX68" fmla="*/ 3696346 w 3750590"/>
              <a:gd name="csY68" fmla="*/ 1394848 h 1960536"/>
              <a:gd name="csX69" fmla="*/ 3688597 w 3750590"/>
              <a:gd name="csY69" fmla="*/ 1340604 h 1960536"/>
              <a:gd name="csX70" fmla="*/ 3665349 w 3750590"/>
              <a:gd name="csY70" fmla="*/ 1363851 h 1960536"/>
              <a:gd name="csX71" fmla="*/ 3642102 w 3750590"/>
              <a:gd name="csY71" fmla="*/ 1394848 h 1960536"/>
              <a:gd name="csX72" fmla="*/ 3634353 w 3750590"/>
              <a:gd name="csY72" fmla="*/ 1402597 h 1960536"/>
              <a:gd name="csX73" fmla="*/ 3665349 w 3750590"/>
              <a:gd name="csY73" fmla="*/ 1363851 h 1960536"/>
              <a:gd name="csX74" fmla="*/ 3696346 w 3750590"/>
              <a:gd name="csY74" fmla="*/ 1394848 h 1960536"/>
              <a:gd name="csX75" fmla="*/ 3719593 w 3750590"/>
              <a:gd name="csY75" fmla="*/ 1449092 h 1960536"/>
              <a:gd name="csX76" fmla="*/ 3727343 w 3750590"/>
              <a:gd name="csY76" fmla="*/ 1472339 h 1960536"/>
              <a:gd name="csX77" fmla="*/ 3750590 w 3750590"/>
              <a:gd name="csY77" fmla="*/ 1503336 h 19605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3750590" h="1960536">
                <a:moveTo>
                  <a:pt x="0" y="0"/>
                </a:moveTo>
                <a:cubicBezTo>
                  <a:pt x="93095" y="132993"/>
                  <a:pt x="15511" y="31714"/>
                  <a:pt x="92990" y="116237"/>
                </a:cubicBezTo>
                <a:cubicBezTo>
                  <a:pt x="149823" y="178236"/>
                  <a:pt x="126564" y="165311"/>
                  <a:pt x="193729" y="216976"/>
                </a:cubicBezTo>
                <a:cubicBezTo>
                  <a:pt x="232150" y="246530"/>
                  <a:pt x="297212" y="279715"/>
                  <a:pt x="333214" y="302217"/>
                </a:cubicBezTo>
                <a:cubicBezTo>
                  <a:pt x="404238" y="346608"/>
                  <a:pt x="371566" y="335053"/>
                  <a:pt x="426204" y="348712"/>
                </a:cubicBezTo>
                <a:cubicBezTo>
                  <a:pt x="470116" y="382292"/>
                  <a:pt x="523406" y="406285"/>
                  <a:pt x="557939" y="449451"/>
                </a:cubicBezTo>
                <a:cubicBezTo>
                  <a:pt x="578603" y="475282"/>
                  <a:pt x="598903" y="501408"/>
                  <a:pt x="619932" y="526943"/>
                </a:cubicBezTo>
                <a:cubicBezTo>
                  <a:pt x="635071" y="545326"/>
                  <a:pt x="653216" y="561372"/>
                  <a:pt x="666427" y="581187"/>
                </a:cubicBezTo>
                <a:cubicBezTo>
                  <a:pt x="671593" y="588936"/>
                  <a:pt x="675865" y="597363"/>
                  <a:pt x="681926" y="604434"/>
                </a:cubicBezTo>
                <a:cubicBezTo>
                  <a:pt x="691435" y="615528"/>
                  <a:pt x="703894" y="623941"/>
                  <a:pt x="712922" y="635431"/>
                </a:cubicBezTo>
                <a:cubicBezTo>
                  <a:pt x="732402" y="660224"/>
                  <a:pt x="744870" y="690628"/>
                  <a:pt x="767166" y="712922"/>
                </a:cubicBezTo>
                <a:cubicBezTo>
                  <a:pt x="792400" y="738155"/>
                  <a:pt x="787372" y="731100"/>
                  <a:pt x="813661" y="774915"/>
                </a:cubicBezTo>
                <a:cubicBezTo>
                  <a:pt x="819604" y="784821"/>
                  <a:pt x="823037" y="796116"/>
                  <a:pt x="829160" y="805912"/>
                </a:cubicBezTo>
                <a:cubicBezTo>
                  <a:pt x="836005" y="816864"/>
                  <a:pt x="846223" y="825571"/>
                  <a:pt x="852407" y="836909"/>
                </a:cubicBezTo>
                <a:cubicBezTo>
                  <a:pt x="861827" y="854179"/>
                  <a:pt x="866856" y="873558"/>
                  <a:pt x="875654" y="891153"/>
                </a:cubicBezTo>
                <a:cubicBezTo>
                  <a:pt x="882390" y="904624"/>
                  <a:pt x="891761" y="916637"/>
                  <a:pt x="898902" y="929898"/>
                </a:cubicBezTo>
                <a:cubicBezTo>
                  <a:pt x="948133" y="1021326"/>
                  <a:pt x="911412" y="964162"/>
                  <a:pt x="945397" y="1015139"/>
                </a:cubicBezTo>
                <a:cubicBezTo>
                  <a:pt x="959208" y="1056573"/>
                  <a:pt x="945118" y="1022470"/>
                  <a:pt x="976393" y="1069383"/>
                </a:cubicBezTo>
                <a:cubicBezTo>
                  <a:pt x="1027535" y="1146095"/>
                  <a:pt x="995352" y="1111589"/>
                  <a:pt x="1030638" y="1146875"/>
                </a:cubicBezTo>
                <a:cubicBezTo>
                  <a:pt x="1038138" y="1169374"/>
                  <a:pt x="1037499" y="1174253"/>
                  <a:pt x="1053885" y="1193370"/>
                </a:cubicBezTo>
                <a:cubicBezTo>
                  <a:pt x="1063394" y="1204464"/>
                  <a:pt x="1075754" y="1212956"/>
                  <a:pt x="1084882" y="1224366"/>
                </a:cubicBezTo>
                <a:cubicBezTo>
                  <a:pt x="1096518" y="1238911"/>
                  <a:pt x="1104242" y="1256316"/>
                  <a:pt x="1115878" y="1270861"/>
                </a:cubicBezTo>
                <a:cubicBezTo>
                  <a:pt x="1125006" y="1282271"/>
                  <a:pt x="1138108" y="1290168"/>
                  <a:pt x="1146875" y="1301858"/>
                </a:cubicBezTo>
                <a:cubicBezTo>
                  <a:pt x="1154624" y="1312190"/>
                  <a:pt x="1161482" y="1323254"/>
                  <a:pt x="1170122" y="1332854"/>
                </a:cubicBezTo>
                <a:cubicBezTo>
                  <a:pt x="1184784" y="1349145"/>
                  <a:pt x="1201119" y="1363851"/>
                  <a:pt x="1216617" y="1379349"/>
                </a:cubicBezTo>
                <a:lnTo>
                  <a:pt x="1247614" y="1410346"/>
                </a:lnTo>
                <a:lnTo>
                  <a:pt x="1317356" y="1480088"/>
                </a:lnTo>
                <a:cubicBezTo>
                  <a:pt x="1325105" y="1487837"/>
                  <a:pt x="1331485" y="1497257"/>
                  <a:pt x="1340604" y="1503336"/>
                </a:cubicBezTo>
                <a:cubicBezTo>
                  <a:pt x="1399961" y="1542908"/>
                  <a:pt x="1319685" y="1487195"/>
                  <a:pt x="1394848" y="1549831"/>
                </a:cubicBezTo>
                <a:cubicBezTo>
                  <a:pt x="1414691" y="1566367"/>
                  <a:pt x="1436177" y="1580828"/>
                  <a:pt x="1456841" y="1596326"/>
                </a:cubicBezTo>
                <a:cubicBezTo>
                  <a:pt x="1467173" y="1604075"/>
                  <a:pt x="1477092" y="1612409"/>
                  <a:pt x="1487838" y="1619573"/>
                </a:cubicBezTo>
                <a:cubicBezTo>
                  <a:pt x="1495587" y="1624739"/>
                  <a:pt x="1503507" y="1629658"/>
                  <a:pt x="1511085" y="1635071"/>
                </a:cubicBezTo>
                <a:cubicBezTo>
                  <a:pt x="1521595" y="1642578"/>
                  <a:pt x="1531336" y="1651155"/>
                  <a:pt x="1542082" y="1658319"/>
                </a:cubicBezTo>
                <a:cubicBezTo>
                  <a:pt x="1562358" y="1671836"/>
                  <a:pt x="1583799" y="1683548"/>
                  <a:pt x="1604075" y="1697065"/>
                </a:cubicBezTo>
                <a:cubicBezTo>
                  <a:pt x="1634119" y="1717094"/>
                  <a:pt x="1618487" y="1709618"/>
                  <a:pt x="1650570" y="1720312"/>
                </a:cubicBezTo>
                <a:cubicBezTo>
                  <a:pt x="1753775" y="1789115"/>
                  <a:pt x="1600812" y="1690086"/>
                  <a:pt x="1697065" y="1743559"/>
                </a:cubicBezTo>
                <a:cubicBezTo>
                  <a:pt x="1713348" y="1752605"/>
                  <a:pt x="1725889" y="1768666"/>
                  <a:pt x="1743560" y="1774556"/>
                </a:cubicBezTo>
                <a:cubicBezTo>
                  <a:pt x="1823406" y="1801172"/>
                  <a:pt x="1789529" y="1791861"/>
                  <a:pt x="1844299" y="1805553"/>
                </a:cubicBezTo>
                <a:cubicBezTo>
                  <a:pt x="1854631" y="1810719"/>
                  <a:pt x="1864336" y="1817398"/>
                  <a:pt x="1875295" y="1821051"/>
                </a:cubicBezTo>
                <a:cubicBezTo>
                  <a:pt x="1895502" y="1827787"/>
                  <a:pt x="1916624" y="1831383"/>
                  <a:pt x="1937288" y="1836549"/>
                </a:cubicBezTo>
                <a:cubicBezTo>
                  <a:pt x="2012884" y="1855448"/>
                  <a:pt x="1918489" y="1832371"/>
                  <a:pt x="2007031" y="1852048"/>
                </a:cubicBezTo>
                <a:cubicBezTo>
                  <a:pt x="2027015" y="1856489"/>
                  <a:pt x="2042447" y="1860486"/>
                  <a:pt x="2061275" y="1867546"/>
                </a:cubicBezTo>
                <a:cubicBezTo>
                  <a:pt x="2074300" y="1872430"/>
                  <a:pt x="2086697" y="1879047"/>
                  <a:pt x="2100021" y="1883044"/>
                </a:cubicBezTo>
                <a:cubicBezTo>
                  <a:pt x="2112636" y="1886829"/>
                  <a:pt x="2125909" y="1887936"/>
                  <a:pt x="2138766" y="1890793"/>
                </a:cubicBezTo>
                <a:cubicBezTo>
                  <a:pt x="2192466" y="1902727"/>
                  <a:pt x="2166374" y="1901909"/>
                  <a:pt x="2247254" y="1914041"/>
                </a:cubicBezTo>
                <a:cubicBezTo>
                  <a:pt x="2272926" y="1917892"/>
                  <a:pt x="2299014" y="1918359"/>
                  <a:pt x="2324746" y="1921790"/>
                </a:cubicBezTo>
                <a:cubicBezTo>
                  <a:pt x="2453224" y="1938920"/>
                  <a:pt x="2261836" y="1919859"/>
                  <a:pt x="2409987" y="1937288"/>
                </a:cubicBezTo>
                <a:cubicBezTo>
                  <a:pt x="2438322" y="1940621"/>
                  <a:pt x="2466936" y="1941347"/>
                  <a:pt x="2495227" y="1945037"/>
                </a:cubicBezTo>
                <a:cubicBezTo>
                  <a:pt x="2526387" y="1949101"/>
                  <a:pt x="2588217" y="1960536"/>
                  <a:pt x="2588217" y="1960536"/>
                </a:cubicBezTo>
                <a:lnTo>
                  <a:pt x="3022170" y="1952787"/>
                </a:lnTo>
                <a:cubicBezTo>
                  <a:pt x="3030334" y="1952510"/>
                  <a:pt x="3037407" y="1946639"/>
                  <a:pt x="3045417" y="1945037"/>
                </a:cubicBezTo>
                <a:cubicBezTo>
                  <a:pt x="3063327" y="1941455"/>
                  <a:pt x="3081580" y="1939871"/>
                  <a:pt x="3099661" y="1937288"/>
                </a:cubicBezTo>
                <a:cubicBezTo>
                  <a:pt x="3109993" y="1932122"/>
                  <a:pt x="3119932" y="1926080"/>
                  <a:pt x="3130658" y="1921790"/>
                </a:cubicBezTo>
                <a:cubicBezTo>
                  <a:pt x="3145826" y="1915723"/>
                  <a:pt x="3161655" y="1911458"/>
                  <a:pt x="3177153" y="1906292"/>
                </a:cubicBezTo>
                <a:cubicBezTo>
                  <a:pt x="3184902" y="1903709"/>
                  <a:pt x="3193094" y="1902196"/>
                  <a:pt x="3200400" y="1898543"/>
                </a:cubicBezTo>
                <a:cubicBezTo>
                  <a:pt x="3210732" y="1893377"/>
                  <a:pt x="3221601" y="1889167"/>
                  <a:pt x="3231397" y="1883044"/>
                </a:cubicBezTo>
                <a:cubicBezTo>
                  <a:pt x="3242349" y="1876199"/>
                  <a:pt x="3251647" y="1866961"/>
                  <a:pt x="3262393" y="1859797"/>
                </a:cubicBezTo>
                <a:cubicBezTo>
                  <a:pt x="3274925" y="1851442"/>
                  <a:pt x="3288432" y="1844635"/>
                  <a:pt x="3301139" y="1836549"/>
                </a:cubicBezTo>
                <a:cubicBezTo>
                  <a:pt x="3316854" y="1826549"/>
                  <a:pt x="3331919" y="1815553"/>
                  <a:pt x="3347634" y="1805553"/>
                </a:cubicBezTo>
                <a:cubicBezTo>
                  <a:pt x="3360341" y="1797467"/>
                  <a:pt x="3374619" y="1791714"/>
                  <a:pt x="3386380" y="1782305"/>
                </a:cubicBezTo>
                <a:cubicBezTo>
                  <a:pt x="3399295" y="1771973"/>
                  <a:pt x="3411364" y="1760484"/>
                  <a:pt x="3425126" y="1751309"/>
                </a:cubicBezTo>
                <a:cubicBezTo>
                  <a:pt x="3477691" y="1716265"/>
                  <a:pt x="3438594" y="1760300"/>
                  <a:pt x="3502617" y="1704814"/>
                </a:cubicBezTo>
                <a:cubicBezTo>
                  <a:pt x="3527462" y="1683282"/>
                  <a:pt x="3549112" y="1658319"/>
                  <a:pt x="3572360" y="1635071"/>
                </a:cubicBezTo>
                <a:cubicBezTo>
                  <a:pt x="3580109" y="1627322"/>
                  <a:pt x="3589528" y="1620942"/>
                  <a:pt x="3595607" y="1611824"/>
                </a:cubicBezTo>
                <a:cubicBezTo>
                  <a:pt x="3605939" y="1596326"/>
                  <a:pt x="3618274" y="1581989"/>
                  <a:pt x="3626604" y="1565329"/>
                </a:cubicBezTo>
                <a:cubicBezTo>
                  <a:pt x="3646267" y="1526002"/>
                  <a:pt x="3635694" y="1543944"/>
                  <a:pt x="3657600" y="1511085"/>
                </a:cubicBezTo>
                <a:lnTo>
                  <a:pt x="3680848" y="1441343"/>
                </a:lnTo>
                <a:lnTo>
                  <a:pt x="3688597" y="1418095"/>
                </a:lnTo>
                <a:lnTo>
                  <a:pt x="3696346" y="1394848"/>
                </a:lnTo>
                <a:cubicBezTo>
                  <a:pt x="3693763" y="1376767"/>
                  <a:pt x="3701512" y="1353519"/>
                  <a:pt x="3688597" y="1340604"/>
                </a:cubicBezTo>
                <a:cubicBezTo>
                  <a:pt x="3680848" y="1332855"/>
                  <a:pt x="3672481" y="1355530"/>
                  <a:pt x="3665349" y="1363851"/>
                </a:cubicBezTo>
                <a:cubicBezTo>
                  <a:pt x="3656944" y="1373657"/>
                  <a:pt x="3650170" y="1384763"/>
                  <a:pt x="3642102" y="1394848"/>
                </a:cubicBezTo>
                <a:cubicBezTo>
                  <a:pt x="3639820" y="1397700"/>
                  <a:pt x="3631770" y="1405180"/>
                  <a:pt x="3634353" y="1402597"/>
                </a:cubicBezTo>
                <a:cubicBezTo>
                  <a:pt x="3656439" y="1380508"/>
                  <a:pt x="3645795" y="1393182"/>
                  <a:pt x="3665349" y="1363851"/>
                </a:cubicBezTo>
                <a:cubicBezTo>
                  <a:pt x="3675681" y="1374183"/>
                  <a:pt x="3692802" y="1380672"/>
                  <a:pt x="3696346" y="1394848"/>
                </a:cubicBezTo>
                <a:cubicBezTo>
                  <a:pt x="3712472" y="1459351"/>
                  <a:pt x="3692838" y="1395582"/>
                  <a:pt x="3719593" y="1449092"/>
                </a:cubicBezTo>
                <a:cubicBezTo>
                  <a:pt x="3723246" y="1456398"/>
                  <a:pt x="3723690" y="1465033"/>
                  <a:pt x="3727343" y="1472339"/>
                </a:cubicBezTo>
                <a:cubicBezTo>
                  <a:pt x="3736107" y="1489866"/>
                  <a:pt x="3739692" y="1492438"/>
                  <a:pt x="3750590" y="1503336"/>
                </a:cubicBez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内容占位符 4">
            <a:extLst>
              <a:ext uri="{FF2B5EF4-FFF2-40B4-BE49-F238E27FC236}">
                <a16:creationId xmlns:a16="http://schemas.microsoft.com/office/drawing/2014/main" id="{4E2B155F-EE51-FAE9-6C7A-7D2C16B37B53}"/>
              </a:ext>
            </a:extLst>
          </p:cNvPr>
          <p:cNvSpPr txBox="1">
            <a:spLocks/>
          </p:cNvSpPr>
          <p:nvPr/>
        </p:nvSpPr>
        <p:spPr>
          <a:xfrm>
            <a:off x="636384" y="4210450"/>
            <a:ext cx="7886700" cy="7907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t>与域（</a:t>
            </a:r>
            <a:r>
              <a:rPr lang="en-US" altLang="zh-CN" sz="2000" dirty="0"/>
              <a:t>Domain</a:t>
            </a:r>
            <a:r>
              <a:rPr lang="zh-CN" altLang="en-US" sz="2000" dirty="0"/>
              <a:t>）的区别：域只能基于</a:t>
            </a:r>
            <a:r>
              <a:rPr lang="zh-CN" altLang="en-US" sz="2000" dirty="0">
                <a:solidFill>
                  <a:srgbClr val="FF0000"/>
                </a:solidFill>
              </a:rPr>
              <a:t>基本数据类型</a:t>
            </a:r>
            <a:r>
              <a:rPr lang="zh-CN" altLang="en-US" sz="2000" dirty="0"/>
              <a:t>增加约束，</a:t>
            </a:r>
            <a:r>
              <a:rPr lang="en-US" altLang="zh-CN" sz="2000" dirty="0"/>
              <a:t>UDT</a:t>
            </a:r>
            <a:r>
              <a:rPr lang="zh-CN" altLang="en-US" sz="2000" dirty="0"/>
              <a:t>可以产生</a:t>
            </a:r>
            <a:r>
              <a:rPr lang="zh-CN" altLang="en-US" sz="2000" dirty="0">
                <a:solidFill>
                  <a:srgbClr val="FF0000"/>
                </a:solidFill>
              </a:rPr>
              <a:t>全新的数据类型</a:t>
            </a:r>
          </a:p>
        </p:txBody>
      </p:sp>
    </p:spTree>
    <p:extLst>
      <p:ext uri="{BB962C8B-B14F-4D97-AF65-F5344CB8AC3E}">
        <p14:creationId xmlns:p14="http://schemas.microsoft.com/office/powerpoint/2010/main" val="1552648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11C23-8F77-C85F-224F-93FE78F4184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C88B990-6764-855A-5599-C9C06F7687F3}"/>
              </a:ext>
            </a:extLst>
          </p:cNvPr>
          <p:cNvSpPr>
            <a:spLocks noGrp="1"/>
          </p:cNvSpPr>
          <p:nvPr>
            <p:ph type="title"/>
          </p:nvPr>
        </p:nvSpPr>
        <p:spPr/>
        <p:txBody>
          <a:bodyPr>
            <a:normAutofit/>
          </a:bodyPr>
          <a:lstStyle/>
          <a:p>
            <a:r>
              <a:rPr kumimoji="1" lang="en-US" altLang="zh-CN" dirty="0" err="1"/>
              <a:t>openGauss</a:t>
            </a:r>
            <a:r>
              <a:rPr kumimoji="1" lang="zh-CN" altLang="en-US" dirty="0"/>
              <a:t>与</a:t>
            </a:r>
            <a:r>
              <a:rPr kumimoji="1" lang="en-US" altLang="zh-CN" dirty="0"/>
              <a:t>PostgreSQL</a:t>
            </a:r>
            <a:r>
              <a:rPr kumimoji="1" lang="zh-CN" altLang="en-US" dirty="0"/>
              <a:t>中的</a:t>
            </a:r>
            <a:r>
              <a:rPr kumimoji="1" lang="en-US" altLang="zh-CN" dirty="0"/>
              <a:t>UDT</a:t>
            </a:r>
            <a:endParaRPr kumimoji="1" lang="zh-CN" altLang="en-US" dirty="0"/>
          </a:p>
        </p:txBody>
      </p:sp>
      <p:sp>
        <p:nvSpPr>
          <p:cNvPr id="3" name="内容占位符 2">
            <a:extLst>
              <a:ext uri="{FF2B5EF4-FFF2-40B4-BE49-F238E27FC236}">
                <a16:creationId xmlns:a16="http://schemas.microsoft.com/office/drawing/2014/main" id="{C75C9AE9-280C-7154-178F-A6029BFAE131}"/>
              </a:ext>
            </a:extLst>
          </p:cNvPr>
          <p:cNvSpPr>
            <a:spLocks noGrp="1"/>
          </p:cNvSpPr>
          <p:nvPr>
            <p:ph idx="1"/>
          </p:nvPr>
        </p:nvSpPr>
        <p:spPr/>
        <p:txBody>
          <a:bodyPr>
            <a:normAutofit/>
          </a:bodyPr>
          <a:lstStyle/>
          <a:p>
            <a:r>
              <a:rPr kumimoji="1" lang="zh-CN" altLang="en-US" sz="2000" dirty="0"/>
              <a:t>组合类型</a:t>
            </a:r>
            <a:endParaRPr kumimoji="1" lang="en-US" altLang="zh-CN" sz="2000" dirty="0"/>
          </a:p>
          <a:p>
            <a:endParaRPr kumimoji="1" lang="en-US" altLang="zh-CN" sz="2000" dirty="0"/>
          </a:p>
          <a:p>
            <a:r>
              <a:rPr kumimoji="1" lang="zh-CN" altLang="en-US" sz="2000" dirty="0"/>
              <a:t>枚举类型</a:t>
            </a:r>
            <a:endParaRPr kumimoji="1" lang="en-US" altLang="zh-CN" sz="2000" dirty="0"/>
          </a:p>
          <a:p>
            <a:endParaRPr kumimoji="1" lang="en-US" altLang="zh-CN" sz="2000" dirty="0"/>
          </a:p>
          <a:p>
            <a:r>
              <a:rPr kumimoji="1" lang="zh-CN" altLang="en-US" sz="2000" dirty="0"/>
              <a:t>范围</a:t>
            </a:r>
            <a:endParaRPr kumimoji="1" lang="en-US" altLang="zh-CN" sz="2000" dirty="0"/>
          </a:p>
          <a:p>
            <a:endParaRPr kumimoji="1" lang="en-US" altLang="zh-CN" sz="2000" dirty="0"/>
          </a:p>
          <a:p>
            <a:r>
              <a:rPr kumimoji="1" lang="zh-CN" altLang="en-US" sz="2000" dirty="0"/>
              <a:t>全新类型</a:t>
            </a:r>
          </a:p>
        </p:txBody>
      </p:sp>
      <p:sp>
        <p:nvSpPr>
          <p:cNvPr id="9" name="文本框 8">
            <a:extLst>
              <a:ext uri="{FF2B5EF4-FFF2-40B4-BE49-F238E27FC236}">
                <a16:creationId xmlns:a16="http://schemas.microsoft.com/office/drawing/2014/main" id="{B4FDE8E1-70FF-283E-BC3E-CDCF65DDA53F}"/>
              </a:ext>
            </a:extLst>
          </p:cNvPr>
          <p:cNvSpPr txBox="1"/>
          <p:nvPr/>
        </p:nvSpPr>
        <p:spPr>
          <a:xfrm>
            <a:off x="2293748" y="1042761"/>
            <a:ext cx="4602996" cy="369332"/>
          </a:xfrm>
          <a:prstGeom prst="rect">
            <a:avLst/>
          </a:prstGeom>
          <a:noFill/>
        </p:spPr>
        <p:txBody>
          <a:bodyPr wrap="square">
            <a:spAutoFit/>
          </a:bodyPr>
          <a:lstStyle/>
          <a:p>
            <a:pPr algn="l">
              <a:buNone/>
            </a:pPr>
            <a:r>
              <a:rPr lang="en" altLang="zh-CN" b="0" i="0" dirty="0">
                <a:solidFill>
                  <a:srgbClr val="000000"/>
                </a:solidFill>
                <a:effectLst/>
                <a:latin typeface="Arial" panose="020B0604020202020204" pitchFamily="34" charset="0"/>
                <a:cs typeface="Arial" panose="020B0604020202020204" pitchFamily="34" charset="0"/>
              </a:rPr>
              <a:t>CREATE TYPE </a:t>
            </a:r>
            <a:r>
              <a:rPr lang="en" altLang="zh-CN" b="0" i="0" dirty="0" err="1">
                <a:solidFill>
                  <a:srgbClr val="000000"/>
                </a:solidFill>
                <a:effectLst/>
                <a:latin typeface="Arial" panose="020B0604020202020204" pitchFamily="34" charset="0"/>
                <a:cs typeface="Arial" panose="020B0604020202020204" pitchFamily="34" charset="0"/>
              </a:rPr>
              <a:t>compfoo</a:t>
            </a:r>
            <a:r>
              <a:rPr lang="en" altLang="zh-CN" b="0" i="0" dirty="0">
                <a:solidFill>
                  <a:srgbClr val="000000"/>
                </a:solidFill>
                <a:effectLst/>
                <a:latin typeface="Arial" panose="020B0604020202020204" pitchFamily="34" charset="0"/>
                <a:cs typeface="Arial" panose="020B0604020202020204" pitchFamily="34" charset="0"/>
              </a:rPr>
              <a:t> AS (f1 int, f2 text);</a:t>
            </a:r>
          </a:p>
        </p:txBody>
      </p:sp>
      <p:sp>
        <p:nvSpPr>
          <p:cNvPr id="11" name="文本框 10">
            <a:extLst>
              <a:ext uri="{FF2B5EF4-FFF2-40B4-BE49-F238E27FC236}">
                <a16:creationId xmlns:a16="http://schemas.microsoft.com/office/drawing/2014/main" id="{B479DE22-2588-5BA0-92B1-445C84E659E7}"/>
              </a:ext>
            </a:extLst>
          </p:cNvPr>
          <p:cNvSpPr txBox="1"/>
          <p:nvPr/>
        </p:nvSpPr>
        <p:spPr>
          <a:xfrm>
            <a:off x="2293748" y="1831100"/>
            <a:ext cx="6633275" cy="369332"/>
          </a:xfrm>
          <a:prstGeom prst="rect">
            <a:avLst/>
          </a:prstGeom>
          <a:noFill/>
        </p:spPr>
        <p:txBody>
          <a:bodyPr wrap="square">
            <a:spAutoFit/>
          </a:bodyPr>
          <a:lstStyle/>
          <a:p>
            <a:pPr algn="l">
              <a:buNone/>
            </a:pPr>
            <a:r>
              <a:rPr lang="en" altLang="zh-CN" b="0" i="0" dirty="0">
                <a:solidFill>
                  <a:srgbClr val="000000"/>
                </a:solidFill>
                <a:effectLst/>
                <a:latin typeface="Arial" panose="020B0604020202020204" pitchFamily="34" charset="0"/>
                <a:cs typeface="Arial" panose="020B0604020202020204" pitchFamily="34" charset="0"/>
              </a:rPr>
              <a:t>CREATE TYPE </a:t>
            </a:r>
            <a:r>
              <a:rPr lang="en" altLang="zh-CN" b="0" i="0" dirty="0" err="1">
                <a:solidFill>
                  <a:srgbClr val="000000"/>
                </a:solidFill>
                <a:effectLst/>
                <a:latin typeface="Arial" panose="020B0604020202020204" pitchFamily="34" charset="0"/>
                <a:cs typeface="Arial" panose="020B0604020202020204" pitchFamily="34" charset="0"/>
              </a:rPr>
              <a:t>bug_status</a:t>
            </a:r>
            <a:r>
              <a:rPr lang="en" altLang="zh-CN" b="0" i="0" dirty="0">
                <a:solidFill>
                  <a:srgbClr val="000000"/>
                </a:solidFill>
                <a:effectLst/>
                <a:latin typeface="Arial" panose="020B0604020202020204" pitchFamily="34" charset="0"/>
                <a:cs typeface="Arial" panose="020B0604020202020204" pitchFamily="34" charset="0"/>
              </a:rPr>
              <a:t> AS ENUM ('new', 'open', 'closed');</a:t>
            </a:r>
          </a:p>
        </p:txBody>
      </p:sp>
      <p:sp>
        <p:nvSpPr>
          <p:cNvPr id="13" name="文本框 12">
            <a:extLst>
              <a:ext uri="{FF2B5EF4-FFF2-40B4-BE49-F238E27FC236}">
                <a16:creationId xmlns:a16="http://schemas.microsoft.com/office/drawing/2014/main" id="{04EF487F-C443-E090-0384-B0F0945823C6}"/>
              </a:ext>
            </a:extLst>
          </p:cNvPr>
          <p:cNvSpPr txBox="1"/>
          <p:nvPr/>
        </p:nvSpPr>
        <p:spPr>
          <a:xfrm>
            <a:off x="1856405" y="2680994"/>
            <a:ext cx="6864781" cy="307777"/>
          </a:xfrm>
          <a:prstGeom prst="rect">
            <a:avLst/>
          </a:prstGeom>
          <a:noFill/>
        </p:spPr>
        <p:txBody>
          <a:bodyPr wrap="square">
            <a:spAutoFit/>
          </a:bodyPr>
          <a:lstStyle/>
          <a:p>
            <a:pPr algn="l">
              <a:buNone/>
            </a:pPr>
            <a:r>
              <a:rPr lang="en" altLang="zh-CN" sz="1400" b="0" i="0" dirty="0">
                <a:solidFill>
                  <a:srgbClr val="000000"/>
                </a:solidFill>
                <a:effectLst/>
                <a:latin typeface="Arial" panose="020B0604020202020204" pitchFamily="34" charset="0"/>
                <a:cs typeface="Arial" panose="020B0604020202020204" pitchFamily="34" charset="0"/>
              </a:rPr>
              <a:t>CREATE TYPE float8_range AS RANGE (subtype = float8, </a:t>
            </a:r>
            <a:r>
              <a:rPr lang="en" altLang="zh-CN" sz="1400" b="0" i="0" dirty="0" err="1">
                <a:solidFill>
                  <a:srgbClr val="000000"/>
                </a:solidFill>
                <a:effectLst/>
                <a:latin typeface="Arial" panose="020B0604020202020204" pitchFamily="34" charset="0"/>
                <a:cs typeface="Arial" panose="020B0604020202020204" pitchFamily="34" charset="0"/>
              </a:rPr>
              <a:t>subtype_diff</a:t>
            </a:r>
            <a:r>
              <a:rPr lang="en" altLang="zh-CN" sz="1400" b="0" i="0" dirty="0">
                <a:solidFill>
                  <a:srgbClr val="000000"/>
                </a:solidFill>
                <a:effectLst/>
                <a:latin typeface="Arial" panose="020B0604020202020204" pitchFamily="34" charset="0"/>
                <a:cs typeface="Arial" panose="020B0604020202020204" pitchFamily="34" charset="0"/>
              </a:rPr>
              <a:t> = float8mi);</a:t>
            </a:r>
          </a:p>
        </p:txBody>
      </p:sp>
      <p:sp>
        <p:nvSpPr>
          <p:cNvPr id="15" name="文本框 14">
            <a:extLst>
              <a:ext uri="{FF2B5EF4-FFF2-40B4-BE49-F238E27FC236}">
                <a16:creationId xmlns:a16="http://schemas.microsoft.com/office/drawing/2014/main" id="{12A2188D-70E7-BF8B-87E9-3593AF52D867}"/>
              </a:ext>
            </a:extLst>
          </p:cNvPr>
          <p:cNvSpPr txBox="1"/>
          <p:nvPr/>
        </p:nvSpPr>
        <p:spPr>
          <a:xfrm>
            <a:off x="2231756" y="3096444"/>
            <a:ext cx="6966488" cy="1754326"/>
          </a:xfrm>
          <a:prstGeom prst="rect">
            <a:avLst/>
          </a:prstGeom>
          <a:noFill/>
        </p:spPr>
        <p:txBody>
          <a:bodyPr wrap="square">
            <a:spAutoFit/>
          </a:bodyPr>
          <a:lstStyle/>
          <a:p>
            <a:pPr algn="l">
              <a:buNone/>
            </a:pPr>
            <a:r>
              <a:rPr lang="en" altLang="zh-CN" sz="1200" b="0" i="0" dirty="0">
                <a:solidFill>
                  <a:srgbClr val="000000"/>
                </a:solidFill>
                <a:effectLst/>
                <a:latin typeface="Arial" panose="020B0604020202020204" pitchFamily="34" charset="0"/>
                <a:cs typeface="Arial" panose="020B0604020202020204" pitchFamily="34" charset="0"/>
              </a:rPr>
              <a:t>CREATE TYPE box;</a:t>
            </a:r>
          </a:p>
          <a:p>
            <a:pPr algn="l">
              <a:buNone/>
            </a:pPr>
            <a:r>
              <a:rPr lang="en" altLang="zh-CN" sz="1200" b="0" i="0" dirty="0">
                <a:solidFill>
                  <a:srgbClr val="000000"/>
                </a:solidFill>
                <a:effectLst/>
                <a:latin typeface="Arial" panose="020B0604020202020204" pitchFamily="34" charset="0"/>
                <a:cs typeface="Arial" panose="020B0604020202020204" pitchFamily="34" charset="0"/>
              </a:rPr>
              <a:t>CREATE FUNCTION </a:t>
            </a:r>
            <a:r>
              <a:rPr lang="en" altLang="zh-CN" sz="1200" b="0" i="0" dirty="0" err="1">
                <a:solidFill>
                  <a:srgbClr val="000000"/>
                </a:solidFill>
                <a:effectLst/>
                <a:latin typeface="Arial" panose="020B0604020202020204" pitchFamily="34" charset="0"/>
                <a:cs typeface="Arial" panose="020B0604020202020204" pitchFamily="34" charset="0"/>
              </a:rPr>
              <a:t>my_box_in_function</a:t>
            </a:r>
            <a:r>
              <a:rPr lang="en" altLang="zh-CN" sz="1200" b="0" i="0" dirty="0">
                <a:solidFill>
                  <a:srgbClr val="000000"/>
                </a:solidFill>
                <a:effectLst/>
                <a:latin typeface="Arial" panose="020B0604020202020204" pitchFamily="34" charset="0"/>
                <a:cs typeface="Arial" panose="020B0604020202020204" pitchFamily="34" charset="0"/>
              </a:rPr>
              <a:t>(</a:t>
            </a:r>
            <a:r>
              <a:rPr lang="en" altLang="zh-CN" sz="1200" b="0" i="0" dirty="0" err="1">
                <a:solidFill>
                  <a:srgbClr val="000000"/>
                </a:solidFill>
                <a:effectLst/>
                <a:latin typeface="Arial" panose="020B0604020202020204" pitchFamily="34" charset="0"/>
                <a:cs typeface="Arial" panose="020B0604020202020204" pitchFamily="34" charset="0"/>
              </a:rPr>
              <a:t>cstring</a:t>
            </a:r>
            <a:r>
              <a:rPr lang="en" altLang="zh-CN" sz="1200" b="0" i="0" dirty="0">
                <a:solidFill>
                  <a:srgbClr val="000000"/>
                </a:solidFill>
                <a:effectLst/>
                <a:latin typeface="Arial" panose="020B0604020202020204" pitchFamily="34" charset="0"/>
                <a:cs typeface="Arial" panose="020B0604020202020204" pitchFamily="34" charset="0"/>
              </a:rPr>
              <a:t>) RETURNS box AS ... ;</a:t>
            </a:r>
          </a:p>
          <a:p>
            <a:pPr algn="l">
              <a:buNone/>
            </a:pPr>
            <a:r>
              <a:rPr lang="en" altLang="zh-CN" sz="1200" b="0" i="0" dirty="0">
                <a:solidFill>
                  <a:srgbClr val="000000"/>
                </a:solidFill>
                <a:effectLst/>
                <a:latin typeface="Arial" panose="020B0604020202020204" pitchFamily="34" charset="0"/>
                <a:cs typeface="Arial" panose="020B0604020202020204" pitchFamily="34" charset="0"/>
              </a:rPr>
              <a:t>CREATE FUNCTION </a:t>
            </a:r>
            <a:r>
              <a:rPr lang="en" altLang="zh-CN" sz="1200" b="0" i="0" dirty="0" err="1">
                <a:solidFill>
                  <a:srgbClr val="000000"/>
                </a:solidFill>
                <a:effectLst/>
                <a:latin typeface="Arial" panose="020B0604020202020204" pitchFamily="34" charset="0"/>
                <a:cs typeface="Arial" panose="020B0604020202020204" pitchFamily="34" charset="0"/>
              </a:rPr>
              <a:t>my_box_out_function</a:t>
            </a:r>
            <a:r>
              <a:rPr lang="en" altLang="zh-CN" sz="1200" b="0" i="0" dirty="0">
                <a:solidFill>
                  <a:srgbClr val="000000"/>
                </a:solidFill>
                <a:effectLst/>
                <a:latin typeface="Arial" panose="020B0604020202020204" pitchFamily="34" charset="0"/>
                <a:cs typeface="Arial" panose="020B0604020202020204" pitchFamily="34" charset="0"/>
              </a:rPr>
              <a:t>(box) RETURNS </a:t>
            </a:r>
            <a:r>
              <a:rPr lang="en" altLang="zh-CN" sz="1200" b="0" i="0" dirty="0" err="1">
                <a:solidFill>
                  <a:srgbClr val="000000"/>
                </a:solidFill>
                <a:effectLst/>
                <a:latin typeface="Arial" panose="020B0604020202020204" pitchFamily="34" charset="0"/>
                <a:cs typeface="Arial" panose="020B0604020202020204" pitchFamily="34" charset="0"/>
              </a:rPr>
              <a:t>cstring</a:t>
            </a:r>
            <a:r>
              <a:rPr lang="en" altLang="zh-CN" sz="1200" b="0" i="0" dirty="0">
                <a:solidFill>
                  <a:srgbClr val="000000"/>
                </a:solidFill>
                <a:effectLst/>
                <a:latin typeface="Arial" panose="020B0604020202020204" pitchFamily="34" charset="0"/>
                <a:cs typeface="Arial" panose="020B0604020202020204" pitchFamily="34" charset="0"/>
              </a:rPr>
              <a:t> AS ... ;</a:t>
            </a:r>
          </a:p>
          <a:p>
            <a:pPr algn="l">
              <a:buNone/>
            </a:pPr>
            <a:r>
              <a:rPr lang="en" altLang="zh-CN" sz="1200" b="0" i="0" dirty="0">
                <a:solidFill>
                  <a:srgbClr val="000000"/>
                </a:solidFill>
                <a:effectLst/>
                <a:latin typeface="Arial" panose="020B0604020202020204" pitchFamily="34" charset="0"/>
                <a:cs typeface="Arial" panose="020B0604020202020204" pitchFamily="34" charset="0"/>
              </a:rPr>
              <a:t>CREATE TYPE box (</a:t>
            </a:r>
          </a:p>
          <a:p>
            <a:pPr algn="l">
              <a:buNone/>
            </a:pPr>
            <a:r>
              <a:rPr lang="en" altLang="zh-CN" sz="1200" b="0" i="0" dirty="0">
                <a:solidFill>
                  <a:srgbClr val="000000"/>
                </a:solidFill>
                <a:effectLst/>
                <a:latin typeface="Arial" panose="020B0604020202020204" pitchFamily="34" charset="0"/>
                <a:cs typeface="Arial" panose="020B0604020202020204" pitchFamily="34" charset="0"/>
              </a:rPr>
              <a:t>    INTERNALLENGTH = 16,</a:t>
            </a:r>
          </a:p>
          <a:p>
            <a:pPr algn="l">
              <a:buNone/>
            </a:pPr>
            <a:r>
              <a:rPr lang="en" altLang="zh-CN" sz="1200" b="0" i="0" dirty="0">
                <a:solidFill>
                  <a:srgbClr val="000000"/>
                </a:solidFill>
                <a:effectLst/>
                <a:latin typeface="Arial" panose="020B0604020202020204" pitchFamily="34" charset="0"/>
                <a:cs typeface="Arial" panose="020B0604020202020204" pitchFamily="34" charset="0"/>
              </a:rPr>
              <a:t>    INPUT = </a:t>
            </a:r>
            <a:r>
              <a:rPr lang="en" altLang="zh-CN" sz="1200" b="0" i="0" dirty="0" err="1">
                <a:solidFill>
                  <a:srgbClr val="000000"/>
                </a:solidFill>
                <a:effectLst/>
                <a:latin typeface="Arial" panose="020B0604020202020204" pitchFamily="34" charset="0"/>
                <a:cs typeface="Arial" panose="020B0604020202020204" pitchFamily="34" charset="0"/>
              </a:rPr>
              <a:t>my_box_in_function</a:t>
            </a:r>
            <a:r>
              <a:rPr lang="en" altLang="zh-CN" sz="1200" b="0" i="0" dirty="0">
                <a:solidFill>
                  <a:srgbClr val="000000"/>
                </a:solidFill>
                <a:effectLst/>
                <a:latin typeface="Arial" panose="020B0604020202020204" pitchFamily="34" charset="0"/>
                <a:cs typeface="Arial" panose="020B0604020202020204" pitchFamily="34" charset="0"/>
              </a:rPr>
              <a:t>,</a:t>
            </a:r>
          </a:p>
          <a:p>
            <a:pPr algn="l">
              <a:buNone/>
            </a:pPr>
            <a:r>
              <a:rPr lang="en" altLang="zh-CN" sz="1200" b="0" i="0" dirty="0">
                <a:solidFill>
                  <a:srgbClr val="000000"/>
                </a:solidFill>
                <a:effectLst/>
                <a:latin typeface="Arial" panose="020B0604020202020204" pitchFamily="34" charset="0"/>
                <a:cs typeface="Arial" panose="020B0604020202020204" pitchFamily="34" charset="0"/>
              </a:rPr>
              <a:t>    OUTPUT = </a:t>
            </a:r>
            <a:r>
              <a:rPr lang="en" altLang="zh-CN" sz="1200" b="0" i="0" dirty="0" err="1">
                <a:solidFill>
                  <a:srgbClr val="000000"/>
                </a:solidFill>
                <a:effectLst/>
                <a:latin typeface="Arial" panose="020B0604020202020204" pitchFamily="34" charset="0"/>
                <a:cs typeface="Arial" panose="020B0604020202020204" pitchFamily="34" charset="0"/>
              </a:rPr>
              <a:t>my_box_out_function</a:t>
            </a:r>
            <a:endParaRPr lang="en" altLang="zh-CN" sz="1200" b="0" i="0" dirty="0">
              <a:solidFill>
                <a:srgbClr val="000000"/>
              </a:solidFill>
              <a:effectLst/>
              <a:latin typeface="Arial" panose="020B0604020202020204" pitchFamily="34" charset="0"/>
              <a:cs typeface="Arial" panose="020B0604020202020204" pitchFamily="34" charset="0"/>
            </a:endParaRPr>
          </a:p>
          <a:p>
            <a:pPr algn="l">
              <a:buNone/>
            </a:pPr>
            <a:r>
              <a:rPr lang="en" altLang="zh-CN" sz="1200" b="0" i="0" dirty="0">
                <a:solidFill>
                  <a:srgbClr val="000000"/>
                </a:solidFill>
                <a:effectLst/>
                <a:latin typeface="Arial" panose="020B0604020202020204" pitchFamily="34" charset="0"/>
                <a:cs typeface="Arial" panose="020B0604020202020204" pitchFamily="34" charset="0"/>
              </a:rPr>
              <a:t>);</a:t>
            </a:r>
          </a:p>
          <a:p>
            <a:pPr algn="l">
              <a:buNone/>
            </a:pPr>
            <a:r>
              <a:rPr lang="en" altLang="zh-CN" sz="1200" b="0" i="0" dirty="0">
                <a:solidFill>
                  <a:srgbClr val="000000"/>
                </a:solidFill>
                <a:effectLst/>
                <a:latin typeface="Arial" panose="020B0604020202020204" pitchFamily="34" charset="0"/>
                <a:cs typeface="Arial" panose="020B0604020202020204" pitchFamily="34" charset="0"/>
              </a:rPr>
              <a:t>CREATE TABLE </a:t>
            </a:r>
            <a:r>
              <a:rPr lang="en" altLang="zh-CN" sz="1200" b="0" i="0" dirty="0" err="1">
                <a:solidFill>
                  <a:srgbClr val="000000"/>
                </a:solidFill>
                <a:effectLst/>
                <a:latin typeface="Arial" panose="020B0604020202020204" pitchFamily="34" charset="0"/>
                <a:cs typeface="Arial" panose="020B0604020202020204" pitchFamily="34" charset="0"/>
              </a:rPr>
              <a:t>myboxes</a:t>
            </a:r>
            <a:r>
              <a:rPr lang="en" altLang="zh-CN" sz="1200" b="0" i="0" dirty="0">
                <a:solidFill>
                  <a:srgbClr val="000000"/>
                </a:solidFill>
                <a:effectLst/>
                <a:latin typeface="Arial" panose="020B0604020202020204" pitchFamily="34" charset="0"/>
                <a:cs typeface="Arial" panose="020B0604020202020204" pitchFamily="34" charset="0"/>
              </a:rPr>
              <a:t> (id integer,</a:t>
            </a:r>
            <a:r>
              <a:rPr lang="zh-CN" altLang="en-US" sz="1200" b="0" i="0" dirty="0">
                <a:solidFill>
                  <a:srgbClr val="000000"/>
                </a:solidFill>
                <a:effectLst/>
                <a:latin typeface="Arial" panose="020B0604020202020204" pitchFamily="34" charset="0"/>
                <a:cs typeface="Arial" panose="020B0604020202020204" pitchFamily="34" charset="0"/>
              </a:rPr>
              <a:t> </a:t>
            </a:r>
            <a:r>
              <a:rPr lang="en" altLang="zh-CN" sz="1200" b="0" i="0" dirty="0">
                <a:solidFill>
                  <a:srgbClr val="000000"/>
                </a:solidFill>
                <a:effectLst/>
                <a:latin typeface="Arial" panose="020B0604020202020204" pitchFamily="34" charset="0"/>
                <a:cs typeface="Arial" panose="020B0604020202020204" pitchFamily="34" charset="0"/>
              </a:rPr>
              <a:t>description box);</a:t>
            </a:r>
          </a:p>
        </p:txBody>
      </p:sp>
    </p:spTree>
    <p:extLst>
      <p:ext uri="{BB962C8B-B14F-4D97-AF65-F5344CB8AC3E}">
        <p14:creationId xmlns:p14="http://schemas.microsoft.com/office/powerpoint/2010/main" val="2439874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DA129F-CEDC-7FAD-40ED-5E7AE84A78DF}"/>
              </a:ext>
            </a:extLst>
          </p:cNvPr>
          <p:cNvSpPr>
            <a:spLocks noGrp="1"/>
          </p:cNvSpPr>
          <p:nvPr>
            <p:ph type="title"/>
          </p:nvPr>
        </p:nvSpPr>
        <p:spPr/>
        <p:txBody>
          <a:bodyPr/>
          <a:lstStyle/>
          <a:p>
            <a:r>
              <a:rPr kumimoji="1" lang="zh-CN" altLang="en-US" dirty="0"/>
              <a:t>用户定义函数</a:t>
            </a:r>
            <a:r>
              <a:rPr kumimoji="1" lang="en-US" altLang="zh-CN" dirty="0"/>
              <a:t>UDF</a:t>
            </a:r>
            <a:r>
              <a:rPr kumimoji="1" lang="zh-CN" altLang="en-US" dirty="0"/>
              <a:t>：</a:t>
            </a:r>
            <a:r>
              <a:rPr kumimoji="1" lang="en-US" altLang="zh-CN" dirty="0"/>
              <a:t>User</a:t>
            </a:r>
            <a:r>
              <a:rPr kumimoji="1" lang="zh-CN" altLang="en-US" dirty="0"/>
              <a:t> </a:t>
            </a:r>
            <a:r>
              <a:rPr kumimoji="1" lang="en-US" altLang="zh-CN" dirty="0"/>
              <a:t>Define</a:t>
            </a:r>
            <a:r>
              <a:rPr kumimoji="1" lang="zh-CN" altLang="en-US" dirty="0"/>
              <a:t> </a:t>
            </a:r>
            <a:r>
              <a:rPr kumimoji="1" lang="en-US" altLang="zh-CN" dirty="0"/>
              <a:t>Function</a:t>
            </a:r>
            <a:endParaRPr kumimoji="1" lang="zh-CN" altLang="en-US" dirty="0"/>
          </a:p>
        </p:txBody>
      </p:sp>
      <p:sp>
        <p:nvSpPr>
          <p:cNvPr id="3" name="内容占位符 2">
            <a:extLst>
              <a:ext uri="{FF2B5EF4-FFF2-40B4-BE49-F238E27FC236}">
                <a16:creationId xmlns:a16="http://schemas.microsoft.com/office/drawing/2014/main" id="{2B28B563-73A6-D29D-2AB5-2F822FA08BFF}"/>
              </a:ext>
            </a:extLst>
          </p:cNvPr>
          <p:cNvSpPr>
            <a:spLocks noGrp="1"/>
          </p:cNvSpPr>
          <p:nvPr>
            <p:ph idx="1"/>
          </p:nvPr>
        </p:nvSpPr>
        <p:spPr/>
        <p:txBody>
          <a:bodyPr>
            <a:normAutofit fontScale="92500" lnSpcReduction="10000"/>
          </a:bodyPr>
          <a:lstStyle/>
          <a:p>
            <a:r>
              <a:rPr kumimoji="1" lang="zh-CN" altLang="en-US" sz="2000" dirty="0"/>
              <a:t>用户定义</a:t>
            </a:r>
            <a:r>
              <a:rPr kumimoji="1" lang="zh-CN" altLang="en-US" sz="2000" b="1" u="sng" dirty="0">
                <a:solidFill>
                  <a:srgbClr val="FF0000"/>
                </a:solidFill>
              </a:rPr>
              <a:t>函数</a:t>
            </a:r>
            <a:r>
              <a:rPr kumimoji="1" lang="zh-CN" altLang="en-US" sz="2000" dirty="0"/>
              <a:t>是数据库系统中非常强大的工具。它们允许你创建自定义的函数来执行重复的任务，从而提高代码的可重用性和维护性。</a:t>
            </a:r>
            <a:endParaRPr kumimoji="1" lang="en-US" altLang="zh-CN" sz="2000" dirty="0"/>
          </a:p>
          <a:p>
            <a:endParaRPr kumimoji="1" lang="en-US" altLang="zh-CN" sz="2000" dirty="0"/>
          </a:p>
          <a:p>
            <a:r>
              <a:rPr kumimoji="1" lang="en-US" altLang="zh-CN" sz="2000" dirty="0"/>
              <a:t>UDF</a:t>
            </a:r>
            <a:r>
              <a:rPr kumimoji="1" lang="zh-CN" altLang="en-US" sz="2000" dirty="0"/>
              <a:t>是一种数据库对象，本身也是一种存储在数据库中的数据</a:t>
            </a:r>
            <a:endParaRPr kumimoji="1" lang="en-US" altLang="zh-CN" sz="2000" dirty="0"/>
          </a:p>
          <a:p>
            <a:endParaRPr kumimoji="1" lang="en-US" altLang="zh-CN" sz="2000" dirty="0"/>
          </a:p>
          <a:p>
            <a:r>
              <a:rPr kumimoji="1" lang="en-US" altLang="zh-CN" sz="2000" dirty="0"/>
              <a:t>UDF</a:t>
            </a:r>
            <a:r>
              <a:rPr kumimoji="1" lang="zh-CN" altLang="en-US" sz="2000" dirty="0"/>
              <a:t>分类（根据返回值）：</a:t>
            </a:r>
            <a:endParaRPr kumimoji="1" lang="en-US" altLang="zh-CN" sz="2000" dirty="0"/>
          </a:p>
          <a:p>
            <a:pPr lvl="1"/>
            <a:r>
              <a:rPr kumimoji="1" lang="zh-CN" altLang="en-US" sz="1800" dirty="0"/>
              <a:t>标量函数（</a:t>
            </a:r>
            <a:r>
              <a:rPr kumimoji="1" lang="en-US" altLang="zh-CN" sz="1800" dirty="0"/>
              <a:t>Scalar</a:t>
            </a:r>
            <a:r>
              <a:rPr kumimoji="1" lang="zh-CN" altLang="en-US" sz="1800" dirty="0"/>
              <a:t> </a:t>
            </a:r>
            <a:r>
              <a:rPr kumimoji="1" lang="en-US" altLang="zh-CN" sz="1800" dirty="0"/>
              <a:t>Function</a:t>
            </a:r>
            <a:r>
              <a:rPr kumimoji="1" lang="zh-CN" altLang="en-US" sz="1800" dirty="0"/>
              <a:t>）</a:t>
            </a:r>
            <a:endParaRPr kumimoji="1" lang="en-US" altLang="zh-CN" sz="1800" dirty="0"/>
          </a:p>
          <a:p>
            <a:pPr lvl="1"/>
            <a:r>
              <a:rPr kumimoji="1" lang="zh-CN" altLang="en-US" sz="1800" dirty="0"/>
              <a:t>表值函数（</a:t>
            </a:r>
            <a:r>
              <a:rPr kumimoji="1" lang="en-US" altLang="zh-CN" sz="1800" dirty="0"/>
              <a:t>Table-Valued</a:t>
            </a:r>
            <a:r>
              <a:rPr kumimoji="1" lang="zh-CN" altLang="en-US" sz="1800" dirty="0"/>
              <a:t> </a:t>
            </a:r>
            <a:r>
              <a:rPr kumimoji="1" lang="en-US" altLang="zh-CN" sz="1800" dirty="0"/>
              <a:t>Function</a:t>
            </a:r>
            <a:r>
              <a:rPr kumimoji="1" lang="zh-CN" altLang="en-US" sz="1800" dirty="0"/>
              <a:t>）</a:t>
            </a:r>
            <a:endParaRPr kumimoji="1" lang="en-US" altLang="zh-CN" sz="1800" dirty="0"/>
          </a:p>
          <a:p>
            <a:pPr lvl="1"/>
            <a:endParaRPr kumimoji="1" lang="en-US" altLang="zh-CN" sz="1800" dirty="0"/>
          </a:p>
          <a:p>
            <a:r>
              <a:rPr kumimoji="1" lang="zh-CN" altLang="en-US" sz="2000" dirty="0"/>
              <a:t>其他：</a:t>
            </a:r>
            <a:endParaRPr kumimoji="1" lang="en-US" altLang="zh-CN" sz="2000" dirty="0"/>
          </a:p>
          <a:p>
            <a:pPr lvl="1"/>
            <a:r>
              <a:rPr kumimoji="1" lang="zh-CN" altLang="en-US" sz="1600" dirty="0"/>
              <a:t>避免深度嵌套，维护困难</a:t>
            </a:r>
            <a:endParaRPr kumimoji="1" lang="en-US" altLang="zh-CN" sz="1600" dirty="0"/>
          </a:p>
          <a:p>
            <a:pPr lvl="1"/>
            <a:r>
              <a:rPr kumimoji="1" lang="zh-CN" altLang="en-US" sz="1600" dirty="0"/>
              <a:t>业界的两极化态度</a:t>
            </a:r>
          </a:p>
        </p:txBody>
      </p:sp>
    </p:spTree>
    <p:extLst>
      <p:ext uri="{BB962C8B-B14F-4D97-AF65-F5344CB8AC3E}">
        <p14:creationId xmlns:p14="http://schemas.microsoft.com/office/powerpoint/2010/main" val="3697700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B6EE4-F640-F81A-5232-3DDC6575786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5222041-B895-B43D-E946-F46F59EF0F28}"/>
              </a:ext>
            </a:extLst>
          </p:cNvPr>
          <p:cNvSpPr>
            <a:spLocks noGrp="1"/>
          </p:cNvSpPr>
          <p:nvPr>
            <p:ph type="title"/>
          </p:nvPr>
        </p:nvSpPr>
        <p:spPr/>
        <p:txBody>
          <a:bodyPr>
            <a:normAutofit/>
          </a:bodyPr>
          <a:lstStyle/>
          <a:p>
            <a:r>
              <a:rPr kumimoji="1" lang="en-US" altLang="zh-CN" dirty="0" err="1"/>
              <a:t>openGauss</a:t>
            </a:r>
            <a:r>
              <a:rPr kumimoji="1" lang="zh-CN" altLang="en-US" dirty="0"/>
              <a:t>与</a:t>
            </a:r>
            <a:r>
              <a:rPr kumimoji="1" lang="en-US" altLang="zh-CN" dirty="0"/>
              <a:t>PostgreSQL</a:t>
            </a:r>
            <a:r>
              <a:rPr kumimoji="1" lang="zh-CN" altLang="en-US" dirty="0"/>
              <a:t>中的</a:t>
            </a:r>
            <a:r>
              <a:rPr kumimoji="1" lang="en-US" altLang="zh-CN" dirty="0"/>
              <a:t>UDF</a:t>
            </a:r>
            <a:endParaRPr kumimoji="1" lang="zh-CN" altLang="en-US" dirty="0"/>
          </a:p>
        </p:txBody>
      </p:sp>
      <p:sp>
        <p:nvSpPr>
          <p:cNvPr id="3" name="内容占位符 2">
            <a:extLst>
              <a:ext uri="{FF2B5EF4-FFF2-40B4-BE49-F238E27FC236}">
                <a16:creationId xmlns:a16="http://schemas.microsoft.com/office/drawing/2014/main" id="{C4D2B011-20C8-F6B6-86B6-701419A05909}"/>
              </a:ext>
            </a:extLst>
          </p:cNvPr>
          <p:cNvSpPr>
            <a:spLocks noGrp="1"/>
          </p:cNvSpPr>
          <p:nvPr>
            <p:ph idx="1"/>
          </p:nvPr>
        </p:nvSpPr>
        <p:spPr/>
        <p:txBody>
          <a:bodyPr>
            <a:normAutofit/>
          </a:bodyPr>
          <a:lstStyle/>
          <a:p>
            <a:r>
              <a:rPr kumimoji="1" lang="en-US" altLang="zh-CN" sz="2000" dirty="0"/>
              <a:t>CREATE</a:t>
            </a:r>
            <a:r>
              <a:rPr kumimoji="1" lang="zh-CN" altLang="en-US" sz="2000" dirty="0"/>
              <a:t> </a:t>
            </a:r>
            <a:r>
              <a:rPr kumimoji="1" lang="en-US" altLang="zh-CN" sz="2000" dirty="0"/>
              <a:t>FUNCTION</a:t>
            </a:r>
            <a:r>
              <a:rPr kumimoji="1" lang="zh-CN" altLang="en-US" sz="2000" dirty="0"/>
              <a:t>语句</a:t>
            </a:r>
            <a:endParaRPr kumimoji="1" lang="en-US" altLang="zh-CN" sz="2000" dirty="0"/>
          </a:p>
          <a:p>
            <a:endParaRPr kumimoji="1" lang="en-US" altLang="zh-CN" sz="2000" dirty="0"/>
          </a:p>
          <a:p>
            <a:r>
              <a:rPr kumimoji="1" lang="zh-CN" altLang="en-US" sz="2000" dirty="0"/>
              <a:t>可用多种过程语言或外部动态库</a:t>
            </a:r>
          </a:p>
        </p:txBody>
      </p:sp>
      <p:pic>
        <p:nvPicPr>
          <p:cNvPr id="6" name="图片 5">
            <a:extLst>
              <a:ext uri="{FF2B5EF4-FFF2-40B4-BE49-F238E27FC236}">
                <a16:creationId xmlns:a16="http://schemas.microsoft.com/office/drawing/2014/main" id="{8397CBA0-97EC-88FB-91DF-42E536D08D51}"/>
              </a:ext>
            </a:extLst>
          </p:cNvPr>
          <p:cNvPicPr>
            <a:picLocks noChangeAspect="1"/>
          </p:cNvPicPr>
          <p:nvPr/>
        </p:nvPicPr>
        <p:blipFill>
          <a:blip r:embed="rId2"/>
          <a:stretch>
            <a:fillRect/>
          </a:stretch>
        </p:blipFill>
        <p:spPr>
          <a:xfrm>
            <a:off x="4649947" y="1443392"/>
            <a:ext cx="4271936" cy="3027356"/>
          </a:xfrm>
          <a:prstGeom prst="rect">
            <a:avLst/>
          </a:prstGeom>
        </p:spPr>
      </p:pic>
    </p:spTree>
    <p:extLst>
      <p:ext uri="{BB962C8B-B14F-4D97-AF65-F5344CB8AC3E}">
        <p14:creationId xmlns:p14="http://schemas.microsoft.com/office/powerpoint/2010/main" val="2727762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C45CA7-D936-544E-AEAE-26AD782977A4}"/>
              </a:ext>
            </a:extLst>
          </p:cNvPr>
          <p:cNvSpPr>
            <a:spLocks noGrp="1"/>
          </p:cNvSpPr>
          <p:nvPr>
            <p:ph type="title"/>
          </p:nvPr>
        </p:nvSpPr>
        <p:spPr/>
        <p:txBody>
          <a:bodyPr/>
          <a:lstStyle/>
          <a:p>
            <a:r>
              <a:rPr kumimoji="1" lang="zh-CN" altLang="en-US" dirty="0"/>
              <a:t>存储过程（</a:t>
            </a:r>
            <a:r>
              <a:rPr kumimoji="1" lang="en-US" altLang="zh-CN" dirty="0"/>
              <a:t>Stored</a:t>
            </a:r>
            <a:r>
              <a:rPr kumimoji="1" lang="zh-CN" altLang="en-US" dirty="0"/>
              <a:t> </a:t>
            </a:r>
            <a:r>
              <a:rPr kumimoji="1" lang="en-US" altLang="zh-CN" dirty="0"/>
              <a:t>Procedure</a:t>
            </a:r>
            <a:r>
              <a:rPr kumimoji="1" lang="zh-CN" altLang="en-US" dirty="0"/>
              <a:t>）</a:t>
            </a:r>
          </a:p>
        </p:txBody>
      </p:sp>
      <p:sp>
        <p:nvSpPr>
          <p:cNvPr id="3" name="内容占位符 2">
            <a:extLst>
              <a:ext uri="{FF2B5EF4-FFF2-40B4-BE49-F238E27FC236}">
                <a16:creationId xmlns:a16="http://schemas.microsoft.com/office/drawing/2014/main" id="{C4880BD8-1EAE-1068-390E-5D0CFB6BFF1B}"/>
              </a:ext>
            </a:extLst>
          </p:cNvPr>
          <p:cNvSpPr>
            <a:spLocks noGrp="1"/>
          </p:cNvSpPr>
          <p:nvPr>
            <p:ph idx="1"/>
          </p:nvPr>
        </p:nvSpPr>
        <p:spPr/>
        <p:txBody>
          <a:bodyPr/>
          <a:lstStyle/>
          <a:p>
            <a:r>
              <a:rPr kumimoji="1" lang="zh-CN" altLang="en-US" dirty="0"/>
              <a:t>存储过程 </a:t>
            </a:r>
            <a:r>
              <a:rPr kumimoji="1" lang="en-US" altLang="zh-CN" dirty="0" err="1"/>
              <a:t>v.s</a:t>
            </a:r>
            <a:r>
              <a:rPr kumimoji="1" lang="en-US" altLang="zh-CN" dirty="0"/>
              <a:t>.</a:t>
            </a:r>
            <a:r>
              <a:rPr kumimoji="1" lang="zh-CN" altLang="en-US" dirty="0"/>
              <a:t> </a:t>
            </a:r>
            <a:r>
              <a:rPr kumimoji="1" lang="en-US" altLang="zh-CN" dirty="0"/>
              <a:t>UDF</a:t>
            </a:r>
          </a:p>
          <a:p>
            <a:pPr lvl="1"/>
            <a:r>
              <a:rPr kumimoji="1" lang="zh-CN" altLang="en-US" dirty="0"/>
              <a:t>最大区别：存储过程没有返回值</a:t>
            </a:r>
            <a:endParaRPr kumimoji="1" lang="en-US" altLang="zh-CN" dirty="0"/>
          </a:p>
          <a:p>
            <a:pPr lvl="1"/>
            <a:r>
              <a:rPr kumimoji="1" lang="en-US" altLang="zh-CN" dirty="0"/>
              <a:t>UDF</a:t>
            </a:r>
            <a:r>
              <a:rPr kumimoji="1" lang="zh-CN" altLang="en-US" dirty="0"/>
              <a:t>用</a:t>
            </a:r>
            <a:r>
              <a:rPr kumimoji="1" lang="en-US" altLang="zh-CN" dirty="0"/>
              <a:t>SELECT</a:t>
            </a:r>
            <a:r>
              <a:rPr kumimoji="1" lang="zh-CN" altLang="en-US" dirty="0"/>
              <a:t>调用或者在</a:t>
            </a:r>
            <a:r>
              <a:rPr kumimoji="1" lang="en-US" altLang="zh-CN" dirty="0"/>
              <a:t>SELECT</a:t>
            </a:r>
            <a:r>
              <a:rPr kumimoji="1" lang="zh-CN" altLang="en-US" dirty="0"/>
              <a:t>中内联执行</a:t>
            </a:r>
            <a:endParaRPr kumimoji="1" lang="en-US" altLang="zh-CN" dirty="0"/>
          </a:p>
          <a:p>
            <a:pPr lvl="1"/>
            <a:r>
              <a:rPr kumimoji="1" lang="zh-CN" altLang="en-US" dirty="0"/>
              <a:t>存储过程用专用语句调用：</a:t>
            </a:r>
            <a:r>
              <a:rPr kumimoji="1" lang="en-US" altLang="zh-CN" dirty="0"/>
              <a:t>CALL</a:t>
            </a:r>
            <a:r>
              <a:rPr kumimoji="1" lang="zh-CN" altLang="en-US" dirty="0"/>
              <a:t> </a:t>
            </a:r>
            <a:r>
              <a:rPr kumimoji="1" lang="en-US" altLang="zh-CN" dirty="0" err="1"/>
              <a:t>my_procedure</a:t>
            </a:r>
            <a:r>
              <a:rPr kumimoji="1" lang="en-US" altLang="zh-CN" dirty="0"/>
              <a:t>();</a:t>
            </a:r>
          </a:p>
          <a:p>
            <a:pPr lvl="1"/>
            <a:endParaRPr kumimoji="1" lang="en-US" altLang="zh-CN" dirty="0"/>
          </a:p>
          <a:p>
            <a:r>
              <a:rPr kumimoji="1" lang="zh-CN" altLang="en-US" dirty="0"/>
              <a:t>存储过程大概等价于</a:t>
            </a:r>
            <a:r>
              <a:rPr kumimoji="1" lang="en-US" altLang="zh-CN" dirty="0"/>
              <a:t>UDP</a:t>
            </a:r>
            <a:r>
              <a:rPr kumimoji="1" lang="zh-CN" altLang="en-US" dirty="0"/>
              <a:t>（</a:t>
            </a:r>
            <a:r>
              <a:rPr kumimoji="1" lang="en-US" altLang="zh-CN" dirty="0"/>
              <a:t>User</a:t>
            </a:r>
            <a:r>
              <a:rPr kumimoji="1" lang="zh-CN" altLang="en-US" dirty="0"/>
              <a:t> </a:t>
            </a:r>
            <a:r>
              <a:rPr kumimoji="1" lang="en-US" altLang="zh-CN" dirty="0"/>
              <a:t>Defined</a:t>
            </a:r>
            <a:r>
              <a:rPr kumimoji="1" lang="zh-CN" altLang="en-US" dirty="0"/>
              <a:t> </a:t>
            </a:r>
            <a:r>
              <a:rPr kumimoji="1" lang="en-US" altLang="zh-CN" dirty="0"/>
              <a:t>Procedure</a:t>
            </a:r>
            <a:r>
              <a:rPr kumimoji="1" lang="zh-CN" altLang="en-US" dirty="0"/>
              <a:t>）</a:t>
            </a:r>
          </a:p>
        </p:txBody>
      </p:sp>
    </p:spTree>
    <p:extLst>
      <p:ext uri="{BB962C8B-B14F-4D97-AF65-F5344CB8AC3E}">
        <p14:creationId xmlns:p14="http://schemas.microsoft.com/office/powerpoint/2010/main" val="3514805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27C74-4870-A9F3-AC07-0669BAE1A97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35CFFDC-E65B-A7A5-68BD-33175D65DDBB}"/>
              </a:ext>
            </a:extLst>
          </p:cNvPr>
          <p:cNvSpPr>
            <a:spLocks noGrp="1"/>
          </p:cNvSpPr>
          <p:nvPr>
            <p:ph type="title"/>
          </p:nvPr>
        </p:nvSpPr>
        <p:spPr/>
        <p:txBody>
          <a:bodyPr>
            <a:normAutofit/>
          </a:bodyPr>
          <a:lstStyle/>
          <a:p>
            <a:r>
              <a:rPr kumimoji="1" lang="en-US" altLang="zh-CN" dirty="0" err="1"/>
              <a:t>openGauss</a:t>
            </a:r>
            <a:r>
              <a:rPr kumimoji="1" lang="zh-CN" altLang="en-US" dirty="0"/>
              <a:t>与</a:t>
            </a:r>
            <a:r>
              <a:rPr kumimoji="1" lang="en-US" altLang="zh-CN" dirty="0"/>
              <a:t>PostgreSQL</a:t>
            </a:r>
            <a:r>
              <a:rPr kumimoji="1" lang="zh-CN" altLang="en-US" dirty="0"/>
              <a:t>中的存储过程</a:t>
            </a:r>
          </a:p>
        </p:txBody>
      </p:sp>
      <p:sp>
        <p:nvSpPr>
          <p:cNvPr id="3" name="内容占位符 2">
            <a:extLst>
              <a:ext uri="{FF2B5EF4-FFF2-40B4-BE49-F238E27FC236}">
                <a16:creationId xmlns:a16="http://schemas.microsoft.com/office/drawing/2014/main" id="{ACE0F644-54F8-62DA-EF0B-140B6B7CDB8E}"/>
              </a:ext>
            </a:extLst>
          </p:cNvPr>
          <p:cNvSpPr>
            <a:spLocks noGrp="1"/>
          </p:cNvSpPr>
          <p:nvPr>
            <p:ph idx="1"/>
          </p:nvPr>
        </p:nvSpPr>
        <p:spPr/>
        <p:txBody>
          <a:bodyPr/>
          <a:lstStyle/>
          <a:p>
            <a:r>
              <a:rPr kumimoji="1" lang="en-US" altLang="zh-CN" dirty="0"/>
              <a:t>CREATE</a:t>
            </a:r>
            <a:r>
              <a:rPr kumimoji="1" lang="zh-CN" altLang="en-US" dirty="0"/>
              <a:t> </a:t>
            </a:r>
            <a:r>
              <a:rPr kumimoji="1" lang="en-US" altLang="zh-CN" dirty="0"/>
              <a:t>PROCEDURE</a:t>
            </a:r>
            <a:r>
              <a:rPr kumimoji="1" lang="zh-CN" altLang="en-US" dirty="0"/>
              <a:t>语句</a:t>
            </a:r>
            <a:endParaRPr kumimoji="1" lang="en-US" altLang="zh-CN" dirty="0"/>
          </a:p>
          <a:p>
            <a:r>
              <a:rPr kumimoji="1" lang="zh-CN" altLang="en-US" dirty="0"/>
              <a:t>其他几乎和</a:t>
            </a:r>
            <a:r>
              <a:rPr kumimoji="1" lang="en-US" altLang="zh-CN" dirty="0"/>
              <a:t>UDF</a:t>
            </a:r>
            <a:r>
              <a:rPr kumimoji="1" lang="zh-CN" altLang="en-US" dirty="0"/>
              <a:t>相同，但</a:t>
            </a:r>
            <a:r>
              <a:rPr kumimoji="1" lang="en-US" altLang="zh-CN" dirty="0"/>
              <a:t>RETURN</a:t>
            </a:r>
            <a:r>
              <a:rPr kumimoji="1" lang="zh-CN" altLang="en-US" dirty="0"/>
              <a:t>语句无参数</a:t>
            </a:r>
          </a:p>
        </p:txBody>
      </p:sp>
      <p:pic>
        <p:nvPicPr>
          <p:cNvPr id="4" name="图片 3">
            <a:extLst>
              <a:ext uri="{FF2B5EF4-FFF2-40B4-BE49-F238E27FC236}">
                <a16:creationId xmlns:a16="http://schemas.microsoft.com/office/drawing/2014/main" id="{C5FBF2C7-B2C8-A3F7-A8BB-176D68A62D81}"/>
              </a:ext>
            </a:extLst>
          </p:cNvPr>
          <p:cNvPicPr>
            <a:picLocks noChangeAspect="1"/>
          </p:cNvPicPr>
          <p:nvPr/>
        </p:nvPicPr>
        <p:blipFill>
          <a:blip r:embed="rId2"/>
          <a:stretch>
            <a:fillRect/>
          </a:stretch>
        </p:blipFill>
        <p:spPr>
          <a:xfrm>
            <a:off x="1604404" y="2092644"/>
            <a:ext cx="5740400" cy="1828800"/>
          </a:xfrm>
          <a:prstGeom prst="rect">
            <a:avLst/>
          </a:prstGeom>
        </p:spPr>
      </p:pic>
      <p:pic>
        <p:nvPicPr>
          <p:cNvPr id="5" name="图片 4">
            <a:extLst>
              <a:ext uri="{FF2B5EF4-FFF2-40B4-BE49-F238E27FC236}">
                <a16:creationId xmlns:a16="http://schemas.microsoft.com/office/drawing/2014/main" id="{EA7187C9-E067-3615-B12F-3A7702CB3813}"/>
              </a:ext>
            </a:extLst>
          </p:cNvPr>
          <p:cNvPicPr>
            <a:picLocks noChangeAspect="1"/>
          </p:cNvPicPr>
          <p:nvPr/>
        </p:nvPicPr>
        <p:blipFill>
          <a:blip r:embed="rId3"/>
          <a:stretch>
            <a:fillRect/>
          </a:stretch>
        </p:blipFill>
        <p:spPr>
          <a:xfrm>
            <a:off x="1604404" y="4215390"/>
            <a:ext cx="2806700" cy="431800"/>
          </a:xfrm>
          <a:prstGeom prst="rect">
            <a:avLst/>
          </a:prstGeom>
        </p:spPr>
      </p:pic>
    </p:spTree>
    <p:extLst>
      <p:ext uri="{BB962C8B-B14F-4D97-AF65-F5344CB8AC3E}">
        <p14:creationId xmlns:p14="http://schemas.microsoft.com/office/powerpoint/2010/main" val="4157946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34C90D-C7C0-A7B7-3DD7-50696384BE2E}"/>
              </a:ext>
            </a:extLst>
          </p:cNvPr>
          <p:cNvSpPr>
            <a:spLocks noGrp="1"/>
          </p:cNvSpPr>
          <p:nvPr>
            <p:ph type="title"/>
          </p:nvPr>
        </p:nvSpPr>
        <p:spPr/>
        <p:txBody>
          <a:bodyPr/>
          <a:lstStyle/>
          <a:p>
            <a:r>
              <a:rPr kumimoji="1" lang="zh-CN" altLang="en-US" dirty="0"/>
              <a:t>触发器（</a:t>
            </a:r>
            <a:r>
              <a:rPr kumimoji="1" lang="en-US" altLang="zh-CN" dirty="0"/>
              <a:t>Trigger</a:t>
            </a:r>
            <a:r>
              <a:rPr kumimoji="1" lang="zh-CN" altLang="en-US" dirty="0"/>
              <a:t>）</a:t>
            </a:r>
          </a:p>
        </p:txBody>
      </p:sp>
      <p:sp>
        <p:nvSpPr>
          <p:cNvPr id="3" name="内容占位符 2">
            <a:extLst>
              <a:ext uri="{FF2B5EF4-FFF2-40B4-BE49-F238E27FC236}">
                <a16:creationId xmlns:a16="http://schemas.microsoft.com/office/drawing/2014/main" id="{3B9A0F39-4955-376B-2C51-8B5D9BC69E6F}"/>
              </a:ext>
            </a:extLst>
          </p:cNvPr>
          <p:cNvSpPr>
            <a:spLocks noGrp="1"/>
          </p:cNvSpPr>
          <p:nvPr>
            <p:ph idx="1"/>
          </p:nvPr>
        </p:nvSpPr>
        <p:spPr/>
        <p:txBody>
          <a:bodyPr>
            <a:normAutofit/>
          </a:bodyPr>
          <a:lstStyle/>
          <a:p>
            <a:pPr>
              <a:lnSpc>
                <a:spcPct val="110000"/>
              </a:lnSpc>
              <a:spcBef>
                <a:spcPct val="0"/>
              </a:spcBef>
              <a:buNone/>
            </a:pPr>
            <a:r>
              <a:rPr lang="zh-CN" altLang="en-US" sz="1800" dirty="0">
                <a:solidFill>
                  <a:schemeClr val="hlink"/>
                </a:solidFill>
                <a:cs typeface="Arial" panose="020B0604020202020204" pitchFamily="34" charset="0"/>
              </a:rPr>
              <a:t>触发器：</a:t>
            </a:r>
            <a:r>
              <a:rPr lang="zh-CN" altLang="en-US" sz="1800" dirty="0">
                <a:cs typeface="Arial" panose="020B0604020202020204" pitchFamily="34" charset="0"/>
              </a:rPr>
              <a:t>是靠事件驱动的特殊过程。</a:t>
            </a:r>
          </a:p>
          <a:p>
            <a:pPr>
              <a:lnSpc>
                <a:spcPct val="110000"/>
              </a:lnSpc>
              <a:spcBef>
                <a:spcPct val="0"/>
              </a:spcBef>
            </a:pPr>
            <a:r>
              <a:rPr lang="zh-CN" altLang="en-US" sz="1800" dirty="0">
                <a:solidFill>
                  <a:schemeClr val="hlink"/>
                </a:solidFill>
                <a:cs typeface="Arial" panose="020B0604020202020204" pitchFamily="34" charset="0"/>
              </a:rPr>
              <a:t> 触发器与存储过程的区别：</a:t>
            </a:r>
          </a:p>
          <a:p>
            <a:pPr>
              <a:lnSpc>
                <a:spcPct val="110000"/>
              </a:lnSpc>
              <a:spcBef>
                <a:spcPct val="0"/>
              </a:spcBef>
              <a:buNone/>
            </a:pPr>
            <a:r>
              <a:rPr lang="zh-CN" altLang="en-US" sz="1800" dirty="0">
                <a:cs typeface="Arial" panose="020B0604020202020204" pitchFamily="34" charset="0"/>
              </a:rPr>
              <a:t>   存储过程通过其他程序的调用来运行，或直接启动运行，可传递参数；而触发器的启动运行必须由一个发生的事件来激发，它是自动隐式运行的，触发器不能接收参数，也不能被调用。</a:t>
            </a:r>
          </a:p>
          <a:p>
            <a:pPr>
              <a:lnSpc>
                <a:spcPct val="110000"/>
              </a:lnSpc>
              <a:spcBef>
                <a:spcPct val="0"/>
              </a:spcBef>
            </a:pPr>
            <a:r>
              <a:rPr lang="zh-CN" altLang="en-US" sz="1800" dirty="0">
                <a:solidFill>
                  <a:schemeClr val="hlink"/>
                </a:solidFill>
                <a:cs typeface="Arial" panose="020B0604020202020204" pitchFamily="34" charset="0"/>
              </a:rPr>
              <a:t> 触发器的类型：</a:t>
            </a:r>
          </a:p>
          <a:p>
            <a:pPr lvl="1">
              <a:lnSpc>
                <a:spcPct val="110000"/>
              </a:lnSpc>
              <a:spcBef>
                <a:spcPct val="0"/>
              </a:spcBef>
              <a:buClr>
                <a:schemeClr val="folHlink"/>
              </a:buClr>
              <a:buSzPct val="60000"/>
            </a:pPr>
            <a:r>
              <a:rPr lang="zh-CN" altLang="en-US" sz="1800" dirty="0">
                <a:cs typeface="Arial" panose="020B0604020202020204" pitchFamily="34" charset="0"/>
              </a:rPr>
              <a:t> </a:t>
            </a:r>
            <a:r>
              <a:rPr lang="zh-CN" altLang="en-US" sz="1800" dirty="0">
                <a:solidFill>
                  <a:schemeClr val="folHlink"/>
                </a:solidFill>
                <a:cs typeface="Arial" panose="020B0604020202020204" pitchFamily="34" charset="0"/>
              </a:rPr>
              <a:t>DML触发器：</a:t>
            </a:r>
            <a:r>
              <a:rPr lang="zh-CN" altLang="en-US" sz="1800" dirty="0">
                <a:cs typeface="Arial" panose="020B0604020202020204" pitchFamily="34" charset="0"/>
              </a:rPr>
              <a:t>它是在执行</a:t>
            </a:r>
            <a:r>
              <a:rPr lang="en-US" altLang="zh-CN" sz="1800" dirty="0">
                <a:cs typeface="Arial" panose="020B0604020202020204" pitchFamily="34" charset="0"/>
              </a:rPr>
              <a:t>INSERT</a:t>
            </a:r>
            <a:r>
              <a:rPr lang="zh-CN" altLang="en-US" sz="1800" dirty="0">
                <a:cs typeface="Arial" panose="020B0604020202020204" pitchFamily="34" charset="0"/>
              </a:rPr>
              <a:t>、</a:t>
            </a:r>
            <a:r>
              <a:rPr lang="en-US" altLang="zh-CN" sz="1800" dirty="0">
                <a:cs typeface="Arial" panose="020B0604020202020204" pitchFamily="34" charset="0"/>
              </a:rPr>
              <a:t>UPDATE</a:t>
            </a:r>
            <a:r>
              <a:rPr lang="zh-CN" altLang="en-US" sz="1800" dirty="0">
                <a:cs typeface="Arial" panose="020B0604020202020204" pitchFamily="34" charset="0"/>
              </a:rPr>
              <a:t>或</a:t>
            </a:r>
            <a:r>
              <a:rPr lang="en-US" altLang="zh-CN" sz="1800" dirty="0">
                <a:cs typeface="Arial" panose="020B0604020202020204" pitchFamily="34" charset="0"/>
              </a:rPr>
              <a:t>DELETE</a:t>
            </a:r>
            <a:r>
              <a:rPr lang="zh-CN" altLang="en-US" sz="1800" dirty="0">
                <a:cs typeface="Arial" panose="020B0604020202020204" pitchFamily="34" charset="0"/>
              </a:rPr>
              <a:t>语句时被激发执行的，它只能定义在表上。</a:t>
            </a:r>
          </a:p>
          <a:p>
            <a:pPr lvl="1">
              <a:lnSpc>
                <a:spcPct val="110000"/>
              </a:lnSpc>
              <a:spcBef>
                <a:spcPct val="0"/>
              </a:spcBef>
              <a:buClr>
                <a:schemeClr val="folHlink"/>
              </a:buClr>
              <a:buSzPct val="60000"/>
            </a:pPr>
            <a:r>
              <a:rPr lang="zh-CN" altLang="en-US" sz="1800" dirty="0">
                <a:cs typeface="Arial" panose="020B0604020202020204" pitchFamily="34" charset="0"/>
              </a:rPr>
              <a:t> </a:t>
            </a:r>
            <a:r>
              <a:rPr lang="zh-CN" altLang="en-US" sz="1800" dirty="0">
                <a:solidFill>
                  <a:schemeClr val="folHlink"/>
                </a:solidFill>
                <a:cs typeface="Arial" panose="020B0604020202020204" pitchFamily="34" charset="0"/>
              </a:rPr>
              <a:t>替代触发器：</a:t>
            </a:r>
            <a:r>
              <a:rPr lang="zh-CN" altLang="en-US" sz="1800" dirty="0">
                <a:cs typeface="Arial" panose="020B0604020202020204" pitchFamily="34" charset="0"/>
              </a:rPr>
              <a:t>是被激发用以代替执行DML语句，它可以定义在表或视图上。</a:t>
            </a:r>
          </a:p>
          <a:p>
            <a:pPr lvl="1">
              <a:lnSpc>
                <a:spcPct val="110000"/>
              </a:lnSpc>
              <a:spcBef>
                <a:spcPct val="0"/>
              </a:spcBef>
              <a:buClr>
                <a:schemeClr val="folHlink"/>
              </a:buClr>
              <a:buSzPct val="60000"/>
            </a:pPr>
            <a:r>
              <a:rPr lang="zh-CN" altLang="en-US" sz="1800" dirty="0">
                <a:cs typeface="Arial" panose="020B0604020202020204" pitchFamily="34" charset="0"/>
              </a:rPr>
              <a:t> </a:t>
            </a:r>
            <a:r>
              <a:rPr lang="zh-CN" altLang="en-US" sz="1800" dirty="0">
                <a:solidFill>
                  <a:schemeClr val="folHlink"/>
                </a:solidFill>
                <a:cs typeface="Arial" panose="020B0604020202020204" pitchFamily="34" charset="0"/>
              </a:rPr>
              <a:t>系统触发器：</a:t>
            </a:r>
            <a:r>
              <a:rPr lang="zh-CN" altLang="en-US" sz="1800" dirty="0">
                <a:cs typeface="Arial" panose="020B0604020202020204" pitchFamily="34" charset="0"/>
              </a:rPr>
              <a:t>它是在执行</a:t>
            </a:r>
            <a:r>
              <a:rPr lang="en-US" altLang="zh-CN" sz="1800" dirty="0">
                <a:cs typeface="Arial" panose="020B0604020202020204" pitchFamily="34" charset="0"/>
              </a:rPr>
              <a:t>CREATE</a:t>
            </a:r>
            <a:r>
              <a:rPr lang="zh-CN" altLang="en-US" sz="1800" dirty="0">
                <a:cs typeface="Arial" panose="020B0604020202020204" pitchFamily="34" charset="0"/>
              </a:rPr>
              <a:t>、</a:t>
            </a:r>
            <a:r>
              <a:rPr lang="en-US" altLang="zh-CN" sz="1800" dirty="0">
                <a:cs typeface="Arial" panose="020B0604020202020204" pitchFamily="34" charset="0"/>
              </a:rPr>
              <a:t>ALTER</a:t>
            </a:r>
            <a:r>
              <a:rPr lang="zh-CN" altLang="en-US" sz="1800" dirty="0">
                <a:cs typeface="Arial" panose="020B0604020202020204" pitchFamily="34" charset="0"/>
              </a:rPr>
              <a:t>或</a:t>
            </a:r>
            <a:r>
              <a:rPr lang="en-US" altLang="zh-CN" sz="1800" dirty="0">
                <a:cs typeface="Arial" panose="020B0604020202020204" pitchFamily="34" charset="0"/>
              </a:rPr>
              <a:t>DROP</a:t>
            </a:r>
            <a:r>
              <a:rPr lang="zh-CN" altLang="en-US" sz="1800" dirty="0">
                <a:cs typeface="Arial" panose="020B0604020202020204" pitchFamily="34" charset="0"/>
              </a:rPr>
              <a:t>语句；执行数据库的启动或关闭、用户的登录或退出语句时被激发执行的。</a:t>
            </a:r>
          </a:p>
        </p:txBody>
      </p:sp>
    </p:spTree>
    <p:extLst>
      <p:ext uri="{BB962C8B-B14F-4D97-AF65-F5344CB8AC3E}">
        <p14:creationId xmlns:p14="http://schemas.microsoft.com/office/powerpoint/2010/main" val="3602848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3">
            <a:extLst>
              <a:ext uri="{FF2B5EF4-FFF2-40B4-BE49-F238E27FC236}">
                <a16:creationId xmlns:a16="http://schemas.microsoft.com/office/drawing/2014/main" id="{75607B81-502F-0E9F-3A42-C9657116413D}"/>
              </a:ext>
            </a:extLst>
          </p:cNvPr>
          <p:cNvSpPr>
            <a:spLocks noGrp="1" noChangeArrowheads="1"/>
          </p:cNvSpPr>
          <p:nvPr>
            <p:ph idx="1"/>
          </p:nvPr>
        </p:nvSpPr>
        <p:spPr/>
        <p:txBody>
          <a:bodyPr/>
          <a:lstStyle/>
          <a:p>
            <a:pPr eaLnBrk="1" hangingPunct="1">
              <a:buFont typeface="Wingdings" pitchFamily="2" charset="2"/>
              <a:buNone/>
            </a:pPr>
            <a:r>
              <a:rPr lang="zh-CN" altLang="zh-CN"/>
              <a:t>  </a:t>
            </a:r>
            <a:endParaRPr lang="zh-CN" altLang="zh-CN" b="1">
              <a:solidFill>
                <a:schemeClr val="folHlink"/>
              </a:solidFill>
              <a:latin typeface="宋体" panose="02010600030101010101" pitchFamily="2" charset="-122"/>
            </a:endParaRPr>
          </a:p>
        </p:txBody>
      </p:sp>
      <p:sp>
        <p:nvSpPr>
          <p:cNvPr id="52227" name="Text Box 4">
            <a:extLst>
              <a:ext uri="{FF2B5EF4-FFF2-40B4-BE49-F238E27FC236}">
                <a16:creationId xmlns:a16="http://schemas.microsoft.com/office/drawing/2014/main" id="{BDB39315-0F91-0F39-F06A-1401BB2994D0}"/>
              </a:ext>
            </a:extLst>
          </p:cNvPr>
          <p:cNvSpPr txBox="1">
            <a:spLocks noChangeArrowheads="1"/>
          </p:cNvSpPr>
          <p:nvPr/>
        </p:nvSpPr>
        <p:spPr bwMode="auto">
          <a:xfrm>
            <a:off x="567626" y="1042761"/>
            <a:ext cx="7947724" cy="361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rgbClr val="008080"/>
              </a:buClr>
              <a:buSzPct val="70000"/>
              <a:buFont typeface="Wingdings" pitchFamily="2" charset="2"/>
              <a:buChar char="v"/>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pPr>
            <a:r>
              <a:rPr lang="zh-CN" altLang="zh-CN" sz="1800" dirty="0">
                <a:solidFill>
                  <a:schemeClr val="folHlink"/>
                </a:solidFill>
                <a:latin typeface="Microsoft YaHei" panose="020B0503020204020204" pitchFamily="34" charset="-122"/>
                <a:ea typeface="Microsoft YaHei" panose="020B0503020204020204" pitchFamily="34" charset="-122"/>
              </a:rPr>
              <a:t>审计：</a:t>
            </a:r>
            <a:r>
              <a:rPr lang="zh-CN" altLang="zh-CN" sz="1800" dirty="0">
                <a:latin typeface="Microsoft YaHei" panose="020B0503020204020204" pitchFamily="34" charset="-122"/>
                <a:ea typeface="Microsoft YaHei" panose="020B0503020204020204" pitchFamily="34" charset="-122"/>
              </a:rPr>
              <a:t>可记录登录数据库的用户。将更新数据的用户和时间日期等信息记录在审计表中。</a:t>
            </a:r>
            <a:endParaRPr lang="en-US" altLang="zh-CN" sz="1800" dirty="0">
              <a:latin typeface="Microsoft YaHei" panose="020B0503020204020204" pitchFamily="34" charset="-122"/>
              <a:ea typeface="Microsoft YaHei" panose="020B0503020204020204" pitchFamily="34" charset="-122"/>
            </a:endParaRPr>
          </a:p>
          <a:p>
            <a:pPr eaLnBrk="1" hangingPunct="1">
              <a:spcBef>
                <a:spcPct val="0"/>
              </a:spcBef>
              <a:buClrTx/>
            </a:pPr>
            <a:endParaRPr lang="zh-CN" altLang="zh-CN" sz="1800" dirty="0">
              <a:latin typeface="Microsoft YaHei" panose="020B0503020204020204" pitchFamily="34" charset="-122"/>
              <a:ea typeface="Microsoft YaHei" panose="020B0503020204020204" pitchFamily="34" charset="-122"/>
            </a:endParaRPr>
          </a:p>
          <a:p>
            <a:pPr>
              <a:lnSpc>
                <a:spcPct val="110000"/>
              </a:lnSpc>
            </a:pPr>
            <a:r>
              <a:rPr lang="zh-CN" altLang="zh-CN" sz="1800" dirty="0">
                <a:latin typeface="Microsoft YaHei" panose="020B0503020204020204" pitchFamily="34" charset="-122"/>
                <a:ea typeface="Microsoft YaHei" panose="020B0503020204020204" pitchFamily="34" charset="-122"/>
              </a:rPr>
              <a:t> </a:t>
            </a:r>
            <a:r>
              <a:rPr lang="zh-CN" altLang="zh-CN" sz="1800" dirty="0">
                <a:solidFill>
                  <a:schemeClr val="folHlink"/>
                </a:solidFill>
                <a:latin typeface="Microsoft YaHei" panose="020B0503020204020204" pitchFamily="34" charset="-122"/>
                <a:ea typeface="Microsoft YaHei" panose="020B0503020204020204" pitchFamily="34" charset="-122"/>
              </a:rPr>
              <a:t>实现复杂的业务规则：</a:t>
            </a:r>
            <a:r>
              <a:rPr lang="zh-CN" altLang="zh-CN" sz="1800" dirty="0">
                <a:latin typeface="Microsoft YaHei" panose="020B0503020204020204" pitchFamily="34" charset="-122"/>
                <a:ea typeface="Microsoft YaHei" panose="020B0503020204020204" pitchFamily="34" charset="-122"/>
              </a:rPr>
              <a:t>如将被删除的用户保存在用户历史信息中；更新股票表只能在上市交易时间内。</a:t>
            </a:r>
            <a:endParaRPr lang="en-US" altLang="zh-CN" sz="1800" dirty="0">
              <a:latin typeface="Microsoft YaHei" panose="020B0503020204020204" pitchFamily="34" charset="-122"/>
              <a:ea typeface="Microsoft YaHei" panose="020B0503020204020204" pitchFamily="34" charset="-122"/>
            </a:endParaRPr>
          </a:p>
          <a:p>
            <a:pPr>
              <a:lnSpc>
                <a:spcPct val="110000"/>
              </a:lnSpc>
            </a:pPr>
            <a:endParaRPr lang="zh-CN" altLang="zh-CN" sz="1800" dirty="0">
              <a:latin typeface="Microsoft YaHei" panose="020B0503020204020204" pitchFamily="34" charset="-122"/>
              <a:ea typeface="Microsoft YaHei" panose="020B0503020204020204" pitchFamily="34" charset="-122"/>
            </a:endParaRPr>
          </a:p>
          <a:p>
            <a:pPr>
              <a:lnSpc>
                <a:spcPct val="110000"/>
              </a:lnSpc>
            </a:pPr>
            <a:r>
              <a:rPr lang="zh-CN" altLang="zh-CN" sz="1800" dirty="0">
                <a:solidFill>
                  <a:schemeClr val="folHlink"/>
                </a:solidFill>
                <a:latin typeface="Microsoft YaHei" panose="020B0503020204020204" pitchFamily="34" charset="-122"/>
                <a:ea typeface="Microsoft YaHei" panose="020B0503020204020204" pitchFamily="34" charset="-122"/>
              </a:rPr>
              <a:t> 可进行系统事件的处理：</a:t>
            </a:r>
            <a:r>
              <a:rPr lang="zh-CN" altLang="zh-CN" sz="1800" dirty="0">
                <a:latin typeface="Microsoft YaHei" panose="020B0503020204020204" pitchFamily="34" charset="-122"/>
                <a:ea typeface="Microsoft YaHei" panose="020B0503020204020204" pitchFamily="34" charset="-122"/>
              </a:rPr>
              <a:t>在表中内容发生变更时，自动通知其他程序采取相应的处理。</a:t>
            </a:r>
            <a:endParaRPr lang="en-US" altLang="zh-CN" sz="1800" dirty="0">
              <a:latin typeface="Microsoft YaHei" panose="020B0503020204020204" pitchFamily="34" charset="-122"/>
              <a:ea typeface="Microsoft YaHei" panose="020B0503020204020204" pitchFamily="34" charset="-122"/>
            </a:endParaRPr>
          </a:p>
          <a:p>
            <a:pPr>
              <a:lnSpc>
                <a:spcPct val="110000"/>
              </a:lnSpc>
            </a:pPr>
            <a:endParaRPr lang="zh-CN" altLang="zh-CN" sz="1800" dirty="0">
              <a:latin typeface="Microsoft YaHei" panose="020B0503020204020204" pitchFamily="34" charset="-122"/>
              <a:ea typeface="Microsoft YaHei" panose="020B0503020204020204" pitchFamily="34" charset="-122"/>
            </a:endParaRPr>
          </a:p>
          <a:p>
            <a:pPr>
              <a:lnSpc>
                <a:spcPct val="110000"/>
              </a:lnSpc>
            </a:pPr>
            <a:r>
              <a:rPr lang="zh-CN" altLang="zh-CN" sz="1800" dirty="0">
                <a:latin typeface="Microsoft YaHei" panose="020B0503020204020204" pitchFamily="34" charset="-122"/>
                <a:ea typeface="Microsoft YaHei" panose="020B0503020204020204" pitchFamily="34" charset="-122"/>
              </a:rPr>
              <a:t> </a:t>
            </a:r>
            <a:r>
              <a:rPr lang="zh-CN" altLang="zh-CN" sz="1800" dirty="0">
                <a:solidFill>
                  <a:schemeClr val="folHlink"/>
                </a:solidFill>
                <a:latin typeface="Microsoft YaHei" panose="020B0503020204020204" pitchFamily="34" charset="-122"/>
                <a:ea typeface="Microsoft YaHei" panose="020B0503020204020204" pitchFamily="34" charset="-122"/>
              </a:rPr>
              <a:t>增强表的完整性约束：</a:t>
            </a:r>
            <a:r>
              <a:rPr lang="zh-CN" altLang="zh-CN" sz="1800" dirty="0">
                <a:latin typeface="Microsoft YaHei" panose="020B0503020204020204" pitchFamily="34" charset="-122"/>
                <a:ea typeface="Microsoft YaHei" panose="020B0503020204020204" pitchFamily="34" charset="-122"/>
              </a:rPr>
              <a:t>如更新职工的工资时更新后的工资不能低于更新前的工资。</a:t>
            </a:r>
          </a:p>
        </p:txBody>
      </p:sp>
      <p:sp>
        <p:nvSpPr>
          <p:cNvPr id="3" name="标题 2">
            <a:extLst>
              <a:ext uri="{FF2B5EF4-FFF2-40B4-BE49-F238E27FC236}">
                <a16:creationId xmlns:a16="http://schemas.microsoft.com/office/drawing/2014/main" id="{BD7D52DE-689E-32F2-FB60-F4B2D8746EEC}"/>
              </a:ext>
            </a:extLst>
          </p:cNvPr>
          <p:cNvSpPr>
            <a:spLocks noGrp="1"/>
          </p:cNvSpPr>
          <p:nvPr>
            <p:ph type="title"/>
          </p:nvPr>
        </p:nvSpPr>
        <p:spPr/>
        <p:txBody>
          <a:bodyPr/>
          <a:lstStyle/>
          <a:p>
            <a:r>
              <a:rPr lang="zh-CN" altLang="en-US" dirty="0"/>
              <a:t>触发器的主要用途</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3">
            <a:extLst>
              <a:ext uri="{FF2B5EF4-FFF2-40B4-BE49-F238E27FC236}">
                <a16:creationId xmlns:a16="http://schemas.microsoft.com/office/drawing/2014/main" id="{5A6FAB08-CAB3-A479-25B4-6C0580F5B989}"/>
              </a:ext>
            </a:extLst>
          </p:cNvPr>
          <p:cNvSpPr>
            <a:spLocks noGrp="1" noChangeArrowheads="1"/>
          </p:cNvSpPr>
          <p:nvPr>
            <p:ph idx="1"/>
          </p:nvPr>
        </p:nvSpPr>
        <p:spPr/>
        <p:txBody>
          <a:bodyPr/>
          <a:lstStyle/>
          <a:p>
            <a:pPr eaLnBrk="1" hangingPunct="1">
              <a:buFont typeface="Wingdings" pitchFamily="2" charset="2"/>
              <a:buNone/>
            </a:pPr>
            <a:r>
              <a:rPr lang="zh-CN" altLang="zh-CN" sz="1800" dirty="0"/>
              <a:t>  </a:t>
            </a:r>
            <a:endParaRPr lang="zh-CN" altLang="zh-CN" sz="1800" b="1" dirty="0">
              <a:solidFill>
                <a:schemeClr val="folHlink"/>
              </a:solidFill>
              <a:latin typeface="宋体" panose="02010600030101010101" pitchFamily="2" charset="-122"/>
            </a:endParaRPr>
          </a:p>
        </p:txBody>
      </p:sp>
      <p:sp>
        <p:nvSpPr>
          <p:cNvPr id="53251" name="Text Box 4">
            <a:extLst>
              <a:ext uri="{FF2B5EF4-FFF2-40B4-BE49-F238E27FC236}">
                <a16:creationId xmlns:a16="http://schemas.microsoft.com/office/drawing/2014/main" id="{85001C68-F833-BE33-D41B-5C200BB1FA83}"/>
              </a:ext>
            </a:extLst>
          </p:cNvPr>
          <p:cNvSpPr txBox="1">
            <a:spLocks noChangeArrowheads="1"/>
          </p:cNvSpPr>
          <p:nvPr/>
        </p:nvSpPr>
        <p:spPr bwMode="auto">
          <a:xfrm>
            <a:off x="2634712" y="1224571"/>
            <a:ext cx="6307810" cy="2737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rgbClr val="008080"/>
              </a:buClr>
              <a:buSzPct val="70000"/>
              <a:buFont typeface="Wingdings" pitchFamily="2" charset="2"/>
              <a:buChar char="v"/>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pPr>
            <a:r>
              <a:rPr lang="zh-CN" altLang="zh-CN" sz="1600" dirty="0">
                <a:solidFill>
                  <a:schemeClr val="hlink"/>
                </a:solidFill>
                <a:latin typeface="Microsoft YaHei" panose="020B0503020204020204" pitchFamily="34" charset="-122"/>
                <a:ea typeface="Microsoft YaHei" panose="020B0503020204020204" pitchFamily="34" charset="-122"/>
              </a:rPr>
              <a:t>触发器的一般模型： </a:t>
            </a:r>
          </a:p>
          <a:p>
            <a:pPr eaLnBrk="1" hangingPunct="1">
              <a:lnSpc>
                <a:spcPct val="125000"/>
              </a:lnSpc>
              <a:spcBef>
                <a:spcPct val="0"/>
              </a:spcBef>
              <a:buFont typeface="Arial" panose="020B0604020202020204" pitchFamily="34" charset="0"/>
              <a:buNone/>
            </a:pPr>
            <a:r>
              <a:rPr lang="zh-CN" altLang="zh-CN" sz="1600" dirty="0">
                <a:latin typeface="Microsoft YaHei" panose="020B0503020204020204" pitchFamily="34" charset="-122"/>
                <a:ea typeface="Microsoft YaHei" panose="020B0503020204020204" pitchFamily="34" charset="-122"/>
              </a:rPr>
              <a:t>  </a:t>
            </a:r>
            <a:r>
              <a:rPr lang="zh-CN" altLang="zh-CN" sz="1400" dirty="0">
                <a:latin typeface="Microsoft YaHei" panose="020B0503020204020204" pitchFamily="34" charset="-122"/>
                <a:ea typeface="Microsoft YaHei" panose="020B0503020204020204" pitchFamily="34" charset="-122"/>
              </a:rPr>
              <a:t>CREATE TRIGGER &lt;触发器名&gt;</a:t>
            </a:r>
          </a:p>
          <a:p>
            <a:pPr eaLnBrk="1" hangingPunct="1">
              <a:lnSpc>
                <a:spcPct val="125000"/>
              </a:lnSpc>
              <a:spcBef>
                <a:spcPct val="0"/>
              </a:spcBef>
              <a:buFont typeface="Arial" panose="020B0604020202020204" pitchFamily="34" charset="0"/>
              <a:buNone/>
            </a:pPr>
            <a:r>
              <a:rPr lang="zh-CN" altLang="zh-CN" sz="1400" dirty="0">
                <a:latin typeface="Microsoft YaHei" panose="020B0503020204020204" pitchFamily="34" charset="-122"/>
                <a:ea typeface="Microsoft YaHei" panose="020B0503020204020204" pitchFamily="34" charset="-122"/>
              </a:rPr>
              <a:t>      {BEFORE|AFTER|INSTEAD OF} &lt;触发事件&gt;     ON &lt;表名&gt;|&lt;视图名&gt;</a:t>
            </a:r>
          </a:p>
          <a:p>
            <a:pPr eaLnBrk="1" hangingPunct="1">
              <a:lnSpc>
                <a:spcPct val="125000"/>
              </a:lnSpc>
              <a:spcBef>
                <a:spcPct val="0"/>
              </a:spcBef>
              <a:buFont typeface="Arial" panose="020B0604020202020204" pitchFamily="34" charset="0"/>
              <a:buNone/>
            </a:pPr>
            <a:r>
              <a:rPr lang="zh-CN" altLang="zh-CN" sz="1400" dirty="0">
                <a:latin typeface="Microsoft YaHei" panose="020B0503020204020204" pitchFamily="34" charset="-122"/>
                <a:ea typeface="Microsoft YaHei" panose="020B0503020204020204" pitchFamily="34" charset="-122"/>
              </a:rPr>
              <a:t>         [REFERENCING [OLD AS &lt;旧元组变量&gt;]</a:t>
            </a:r>
          </a:p>
          <a:p>
            <a:pPr eaLnBrk="1" hangingPunct="1">
              <a:lnSpc>
                <a:spcPct val="125000"/>
              </a:lnSpc>
              <a:spcBef>
                <a:spcPct val="0"/>
              </a:spcBef>
              <a:buFont typeface="Arial" panose="020B0604020202020204" pitchFamily="34" charset="0"/>
              <a:buNone/>
            </a:pPr>
            <a:r>
              <a:rPr lang="zh-CN" altLang="zh-CN" sz="1400" dirty="0">
                <a:latin typeface="Microsoft YaHei" panose="020B0503020204020204" pitchFamily="34" charset="-122"/>
                <a:ea typeface="Microsoft YaHei" panose="020B0503020204020204" pitchFamily="34" charset="-122"/>
              </a:rPr>
              <a:t>                      </a:t>
            </a:r>
            <a:r>
              <a:rPr lang="zh-CN" altLang="en-US" sz="1400" dirty="0">
                <a:latin typeface="Microsoft YaHei" panose="020B0503020204020204" pitchFamily="34" charset="-122"/>
                <a:ea typeface="Microsoft YaHei" panose="020B0503020204020204" pitchFamily="34" charset="-122"/>
              </a:rPr>
              <a:t>            </a:t>
            </a:r>
            <a:r>
              <a:rPr lang="zh-CN" altLang="zh-CN" sz="1400" dirty="0">
                <a:latin typeface="Microsoft YaHei" panose="020B0503020204020204" pitchFamily="34" charset="-122"/>
                <a:ea typeface="Microsoft YaHei" panose="020B0503020204020204" pitchFamily="34" charset="-122"/>
              </a:rPr>
              <a:t>[NEW AS &lt;新元组变量&gt;] ]</a:t>
            </a:r>
          </a:p>
          <a:p>
            <a:pPr eaLnBrk="1" hangingPunct="1">
              <a:spcBef>
                <a:spcPct val="0"/>
              </a:spcBef>
              <a:buClrTx/>
              <a:buSzTx/>
              <a:buFont typeface="Arial" panose="020B0604020202020204" pitchFamily="34" charset="0"/>
              <a:buNone/>
            </a:pPr>
            <a:r>
              <a:rPr lang="zh-CN" altLang="zh-CN" sz="1600" dirty="0">
                <a:latin typeface="Microsoft YaHei" panose="020B0503020204020204" pitchFamily="34" charset="-122"/>
                <a:ea typeface="Microsoft YaHei" panose="020B0503020204020204" pitchFamily="34" charset="-122"/>
              </a:rPr>
              <a:t>                  </a:t>
            </a:r>
            <a:r>
              <a:rPr lang="zh-CN" altLang="en-US" sz="1600" dirty="0">
                <a:latin typeface="Microsoft YaHei" panose="020B0503020204020204" pitchFamily="34" charset="-122"/>
                <a:ea typeface="Microsoft YaHei" panose="020B0503020204020204" pitchFamily="34" charset="-122"/>
              </a:rPr>
              <a:t>            </a:t>
            </a:r>
            <a:r>
              <a:rPr lang="zh-CN" altLang="zh-CN" sz="1400" dirty="0">
                <a:latin typeface="Microsoft YaHei" panose="020B0503020204020204" pitchFamily="34" charset="-122"/>
                <a:ea typeface="Microsoft YaHei" panose="020B0503020204020204" pitchFamily="34" charset="-122"/>
              </a:rPr>
              <a:t>[OLD  TABLE AS &lt;旧表名&gt;] ]</a:t>
            </a:r>
          </a:p>
          <a:p>
            <a:pPr eaLnBrk="1" hangingPunct="1">
              <a:spcBef>
                <a:spcPct val="0"/>
              </a:spcBef>
              <a:buClrTx/>
              <a:buSzTx/>
              <a:buFont typeface="Arial" panose="020B0604020202020204" pitchFamily="34" charset="0"/>
              <a:buNone/>
            </a:pPr>
            <a:r>
              <a:rPr lang="zh-CN" altLang="zh-CN" sz="1400" dirty="0">
                <a:latin typeface="Microsoft YaHei" panose="020B0503020204020204" pitchFamily="34" charset="-122"/>
                <a:ea typeface="Microsoft YaHei" panose="020B0503020204020204" pitchFamily="34" charset="-122"/>
              </a:rPr>
              <a:t>                      </a:t>
            </a:r>
            <a:r>
              <a:rPr lang="zh-CN" altLang="en-US" sz="1400" dirty="0">
                <a:latin typeface="Microsoft YaHei" panose="020B0503020204020204" pitchFamily="34" charset="-122"/>
                <a:ea typeface="Microsoft YaHei" panose="020B0503020204020204" pitchFamily="34" charset="-122"/>
              </a:rPr>
              <a:t>             </a:t>
            </a:r>
            <a:r>
              <a:rPr lang="zh-CN" altLang="zh-CN" sz="1400" dirty="0">
                <a:latin typeface="Microsoft YaHei" panose="020B0503020204020204" pitchFamily="34" charset="-122"/>
                <a:ea typeface="Microsoft YaHei" panose="020B0503020204020204" pitchFamily="34" charset="-122"/>
              </a:rPr>
              <a:t>[NEW TABLE AS &lt;新表名&gt;] ]</a:t>
            </a:r>
          </a:p>
          <a:p>
            <a:pPr eaLnBrk="1" hangingPunct="1">
              <a:lnSpc>
                <a:spcPct val="125000"/>
              </a:lnSpc>
              <a:spcBef>
                <a:spcPct val="0"/>
              </a:spcBef>
              <a:buFont typeface="Arial" panose="020B0604020202020204" pitchFamily="34" charset="0"/>
              <a:buNone/>
            </a:pPr>
            <a:r>
              <a:rPr lang="zh-CN" altLang="zh-CN" sz="1600" dirty="0">
                <a:latin typeface="Microsoft YaHei" panose="020B0503020204020204" pitchFamily="34" charset="-122"/>
                <a:ea typeface="Microsoft YaHei" panose="020B0503020204020204" pitchFamily="34" charset="-122"/>
              </a:rPr>
              <a:t>   </a:t>
            </a:r>
            <a:r>
              <a:rPr lang="zh-CN" altLang="en-US" sz="1600" dirty="0">
                <a:latin typeface="Microsoft YaHei" panose="020B0503020204020204" pitchFamily="34" charset="-122"/>
                <a:ea typeface="Microsoft YaHei" panose="020B0503020204020204" pitchFamily="34" charset="-122"/>
              </a:rPr>
              <a:t>    </a:t>
            </a:r>
            <a:r>
              <a:rPr lang="zh-CN" altLang="zh-CN" sz="1400" dirty="0">
                <a:latin typeface="Microsoft YaHei" panose="020B0503020204020204" pitchFamily="34" charset="-122"/>
                <a:ea typeface="Microsoft YaHei" panose="020B0503020204020204" pitchFamily="34" charset="-122"/>
              </a:rPr>
              <a:t>[FOR EACH {ROW|STATEMENT}]</a:t>
            </a:r>
          </a:p>
          <a:p>
            <a:pPr eaLnBrk="1" hangingPunct="1">
              <a:lnSpc>
                <a:spcPct val="125000"/>
              </a:lnSpc>
              <a:spcBef>
                <a:spcPct val="0"/>
              </a:spcBef>
              <a:buFont typeface="Arial" panose="020B0604020202020204" pitchFamily="34" charset="0"/>
              <a:buNone/>
            </a:pPr>
            <a:r>
              <a:rPr lang="zh-CN" altLang="zh-CN" sz="1400" dirty="0">
                <a:latin typeface="Microsoft YaHei" panose="020B0503020204020204" pitchFamily="34" charset="-122"/>
                <a:ea typeface="Microsoft YaHei" panose="020B0503020204020204" pitchFamily="34" charset="-122"/>
              </a:rPr>
              <a:t>   </a:t>
            </a:r>
            <a:r>
              <a:rPr lang="zh-CN" altLang="en-US" sz="1400" dirty="0">
                <a:latin typeface="Microsoft YaHei" panose="020B0503020204020204" pitchFamily="34" charset="-122"/>
                <a:ea typeface="Microsoft YaHei" panose="020B0503020204020204" pitchFamily="34" charset="-122"/>
              </a:rPr>
              <a:t>     </a:t>
            </a:r>
            <a:r>
              <a:rPr lang="zh-CN" altLang="zh-CN" sz="1400" dirty="0">
                <a:latin typeface="Microsoft YaHei" panose="020B0503020204020204" pitchFamily="34" charset="-122"/>
                <a:ea typeface="Microsoft YaHei" panose="020B0503020204020204" pitchFamily="34" charset="-122"/>
              </a:rPr>
              <a:t>[WHEN &lt;触发条件&gt;]</a:t>
            </a:r>
          </a:p>
          <a:p>
            <a:pPr eaLnBrk="1" hangingPunct="1">
              <a:lnSpc>
                <a:spcPct val="125000"/>
              </a:lnSpc>
              <a:spcBef>
                <a:spcPct val="0"/>
              </a:spcBef>
              <a:buFont typeface="Arial" panose="020B0604020202020204" pitchFamily="34" charset="0"/>
              <a:buNone/>
            </a:pPr>
            <a:r>
              <a:rPr lang="zh-CN" altLang="zh-CN" sz="1400" dirty="0">
                <a:latin typeface="Microsoft YaHei" panose="020B0503020204020204" pitchFamily="34" charset="-122"/>
                <a:ea typeface="Microsoft YaHei" panose="020B0503020204020204" pitchFamily="34" charset="-122"/>
              </a:rPr>
              <a:t>        &lt;SQL语句&gt;</a:t>
            </a:r>
            <a:endParaRPr lang="zh-CN" altLang="zh-CN" sz="1600" dirty="0">
              <a:latin typeface="Microsoft YaHei" panose="020B0503020204020204" pitchFamily="34" charset="-122"/>
              <a:ea typeface="Microsoft YaHei" panose="020B0503020204020204" pitchFamily="34" charset="-122"/>
            </a:endParaRPr>
          </a:p>
        </p:txBody>
      </p:sp>
      <p:sp>
        <p:nvSpPr>
          <p:cNvPr id="3" name="标题 2">
            <a:extLst>
              <a:ext uri="{FF2B5EF4-FFF2-40B4-BE49-F238E27FC236}">
                <a16:creationId xmlns:a16="http://schemas.microsoft.com/office/drawing/2014/main" id="{DE96482F-E921-7D71-2CAD-367641483994}"/>
              </a:ext>
            </a:extLst>
          </p:cNvPr>
          <p:cNvSpPr>
            <a:spLocks noGrp="1"/>
          </p:cNvSpPr>
          <p:nvPr>
            <p:ph type="title"/>
          </p:nvPr>
        </p:nvSpPr>
        <p:spPr/>
        <p:txBody>
          <a:bodyPr/>
          <a:lstStyle/>
          <a:p>
            <a:r>
              <a:rPr lang="zh-CN" altLang="en-US" dirty="0"/>
              <a:t>触发器的结构</a:t>
            </a:r>
          </a:p>
        </p:txBody>
      </p:sp>
      <p:sp>
        <p:nvSpPr>
          <p:cNvPr id="4" name="Text Box 4">
            <a:extLst>
              <a:ext uri="{FF2B5EF4-FFF2-40B4-BE49-F238E27FC236}">
                <a16:creationId xmlns:a16="http://schemas.microsoft.com/office/drawing/2014/main" id="{49006B71-5E8B-6EF6-C853-13C0C3B1518E}"/>
              </a:ext>
            </a:extLst>
          </p:cNvPr>
          <p:cNvSpPr txBox="1">
            <a:spLocks noChangeArrowheads="1"/>
          </p:cNvSpPr>
          <p:nvPr/>
        </p:nvSpPr>
        <p:spPr bwMode="auto">
          <a:xfrm>
            <a:off x="201478" y="1224571"/>
            <a:ext cx="257271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rgbClr val="008080"/>
              </a:buClr>
              <a:buSzPct val="70000"/>
              <a:buFont typeface="Wingdings" pitchFamily="2" charset="2"/>
              <a:buChar char="v"/>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pPr>
            <a:r>
              <a:rPr lang="zh-CN" altLang="zh-CN" sz="1800" dirty="0">
                <a:solidFill>
                  <a:schemeClr val="hlink"/>
                </a:solidFill>
                <a:latin typeface="Microsoft YaHei" panose="020B0503020204020204" pitchFamily="34" charset="-122"/>
                <a:ea typeface="Microsoft YaHei" panose="020B0503020204020204" pitchFamily="34" charset="-122"/>
              </a:rPr>
              <a:t> 触发器的组成：</a:t>
            </a:r>
          </a:p>
          <a:p>
            <a:pPr lvl="1" eaLnBrk="1" hangingPunct="1">
              <a:spcBef>
                <a:spcPct val="0"/>
              </a:spcBef>
              <a:buSzPct val="60000"/>
            </a:pPr>
            <a:r>
              <a:rPr lang="zh-CN" altLang="en-US" sz="1600" dirty="0">
                <a:latin typeface="Microsoft YaHei" panose="020B0503020204020204" pitchFamily="34" charset="-122"/>
                <a:ea typeface="Microsoft YaHei" panose="020B0503020204020204" pitchFamily="34" charset="-122"/>
              </a:rPr>
              <a:t>  </a:t>
            </a:r>
            <a:r>
              <a:rPr lang="zh-CN" altLang="zh-CN" sz="1600" dirty="0">
                <a:latin typeface="Microsoft YaHei" panose="020B0503020204020204" pitchFamily="34" charset="-122"/>
                <a:ea typeface="Microsoft YaHei" panose="020B0503020204020204" pitchFamily="34" charset="-122"/>
              </a:rPr>
              <a:t>触发事件</a:t>
            </a:r>
          </a:p>
          <a:p>
            <a:pPr lvl="1" eaLnBrk="1" hangingPunct="1">
              <a:spcBef>
                <a:spcPct val="0"/>
              </a:spcBef>
              <a:buSzPct val="60000"/>
            </a:pPr>
            <a:r>
              <a:rPr lang="zh-CN" altLang="zh-CN" sz="1600" dirty="0">
                <a:latin typeface="Microsoft YaHei" panose="020B0503020204020204" pitchFamily="34" charset="-122"/>
                <a:ea typeface="Microsoft YaHei" panose="020B0503020204020204" pitchFamily="34" charset="-122"/>
              </a:rPr>
              <a:t>  触发条件</a:t>
            </a:r>
          </a:p>
          <a:p>
            <a:pPr lvl="1" eaLnBrk="1" hangingPunct="1">
              <a:spcBef>
                <a:spcPct val="0"/>
              </a:spcBef>
              <a:buSzPct val="60000"/>
            </a:pPr>
            <a:r>
              <a:rPr lang="zh-CN" altLang="zh-CN" sz="1600" dirty="0">
                <a:latin typeface="Microsoft YaHei" panose="020B0503020204020204" pitchFamily="34" charset="-122"/>
                <a:ea typeface="Microsoft YaHei" panose="020B0503020204020204" pitchFamily="34" charset="-122"/>
              </a:rPr>
              <a:t>  触发器动作</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3">
            <a:extLst>
              <a:ext uri="{FF2B5EF4-FFF2-40B4-BE49-F238E27FC236}">
                <a16:creationId xmlns:a16="http://schemas.microsoft.com/office/drawing/2014/main" id="{76AFF3D4-FBD4-A29B-C8D9-806B6CC5743B}"/>
              </a:ext>
            </a:extLst>
          </p:cNvPr>
          <p:cNvSpPr>
            <a:spLocks noGrp="1" noChangeArrowheads="1"/>
          </p:cNvSpPr>
          <p:nvPr>
            <p:ph idx="1"/>
          </p:nvPr>
        </p:nvSpPr>
        <p:spPr/>
        <p:txBody>
          <a:bodyPr/>
          <a:lstStyle/>
          <a:p>
            <a:pPr eaLnBrk="1" hangingPunct="1">
              <a:lnSpc>
                <a:spcPct val="120000"/>
              </a:lnSpc>
              <a:spcBef>
                <a:spcPct val="0"/>
              </a:spcBef>
              <a:buFont typeface="Wingdings" pitchFamily="2" charset="2"/>
              <a:buNone/>
            </a:pPr>
            <a:r>
              <a:rPr lang="zh-CN" altLang="zh-CN"/>
              <a:t>  </a:t>
            </a:r>
            <a:endParaRPr lang="zh-CN" altLang="zh-CN" b="1">
              <a:solidFill>
                <a:schemeClr val="folHlink"/>
              </a:solidFill>
              <a:latin typeface="宋体" panose="02010600030101010101" pitchFamily="2" charset="-122"/>
            </a:endParaRPr>
          </a:p>
        </p:txBody>
      </p:sp>
      <p:sp>
        <p:nvSpPr>
          <p:cNvPr id="56323" name="Text Box 4">
            <a:extLst>
              <a:ext uri="{FF2B5EF4-FFF2-40B4-BE49-F238E27FC236}">
                <a16:creationId xmlns:a16="http://schemas.microsoft.com/office/drawing/2014/main" id="{BBECDB8F-A55F-2139-96BE-50D1C16D270D}"/>
              </a:ext>
            </a:extLst>
          </p:cNvPr>
          <p:cNvSpPr txBox="1">
            <a:spLocks noChangeArrowheads="1"/>
          </p:cNvSpPr>
          <p:nvPr/>
        </p:nvSpPr>
        <p:spPr bwMode="auto">
          <a:xfrm>
            <a:off x="395207" y="903250"/>
            <a:ext cx="8291593" cy="3761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rgbClr val="008080"/>
              </a:buClr>
              <a:buSzPct val="70000"/>
              <a:buFont typeface="Wingdings" pitchFamily="2" charset="2"/>
              <a:buChar char="v"/>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5000"/>
              </a:lnSpc>
              <a:spcBef>
                <a:spcPct val="0"/>
              </a:spcBef>
            </a:pPr>
            <a:r>
              <a:rPr lang="zh-CN" altLang="zh-CN" sz="1800" dirty="0">
                <a:solidFill>
                  <a:schemeClr val="folHlink"/>
                </a:solidFill>
                <a:latin typeface="Microsoft YaHei" panose="020B0503020204020204" pitchFamily="34" charset="-122"/>
                <a:ea typeface="Microsoft YaHei" panose="020B0503020204020204" pitchFamily="34" charset="-122"/>
              </a:rPr>
              <a:t> </a:t>
            </a:r>
            <a:r>
              <a:rPr lang="zh-CN" altLang="zh-CN" sz="1500" dirty="0">
                <a:latin typeface="Microsoft YaHei" panose="020B0503020204020204" pitchFamily="34" charset="-122"/>
                <a:ea typeface="Microsoft YaHei" panose="020B0503020204020204" pitchFamily="34" charset="-122"/>
              </a:rPr>
              <a:t>BEFORE 触发器 (前触发器)</a:t>
            </a:r>
          </a:p>
          <a:p>
            <a:pPr eaLnBrk="1" hangingPunct="1">
              <a:lnSpc>
                <a:spcPct val="105000"/>
              </a:lnSpc>
              <a:spcBef>
                <a:spcPct val="0"/>
              </a:spcBef>
              <a:buFont typeface="Wingdings" pitchFamily="2" charset="2"/>
              <a:buNone/>
            </a:pPr>
            <a:r>
              <a:rPr lang="zh-CN" altLang="zh-CN" sz="1500" dirty="0">
                <a:latin typeface="Microsoft YaHei" panose="020B0503020204020204" pitchFamily="34" charset="-122"/>
                <a:ea typeface="Microsoft YaHei" panose="020B0503020204020204" pitchFamily="34" charset="-122"/>
              </a:rPr>
              <a:t>  在触发事件之前执行。</a:t>
            </a:r>
            <a:r>
              <a:rPr lang="zh-CN" altLang="en-US" sz="1500" dirty="0">
                <a:latin typeface="Microsoft YaHei" panose="020B0503020204020204" pitchFamily="34" charset="-122"/>
                <a:ea typeface="Microsoft YaHei" panose="020B0503020204020204" pitchFamily="34" charset="-122"/>
              </a:rPr>
              <a:t>数据还未写</a:t>
            </a:r>
            <a:r>
              <a:rPr lang="zh-CN" altLang="zh-CN" sz="1500" dirty="0">
                <a:latin typeface="Microsoft YaHei" panose="020B0503020204020204" pitchFamily="34" charset="-122"/>
                <a:ea typeface="Microsoft YaHei" panose="020B0503020204020204" pitchFamily="34" charset="-122"/>
              </a:rPr>
              <a:t>数据库，</a:t>
            </a:r>
            <a:r>
              <a:rPr lang="zh-CN" altLang="en-US" sz="1500" dirty="0">
                <a:latin typeface="Microsoft YaHei" panose="020B0503020204020204" pitchFamily="34" charset="-122"/>
                <a:ea typeface="Microsoft YaHei" panose="020B0503020204020204" pitchFamily="34" charset="-122"/>
              </a:rPr>
              <a:t>通过</a:t>
            </a:r>
            <a:r>
              <a:rPr lang="zh-CN" altLang="zh-CN" sz="1500" dirty="0">
                <a:latin typeface="Microsoft YaHei" panose="020B0503020204020204" pitchFamily="34" charset="-122"/>
                <a:ea typeface="Microsoft YaHei" panose="020B0503020204020204" pitchFamily="34" charset="-122"/>
              </a:rPr>
              <a:t>检测WHEN子句中定义的前提条件，接受或终止触发事件。</a:t>
            </a:r>
            <a:endParaRPr lang="en-US" altLang="zh-CN" sz="1500" dirty="0">
              <a:latin typeface="Microsoft YaHei" panose="020B0503020204020204" pitchFamily="34" charset="-122"/>
              <a:ea typeface="Microsoft YaHei" panose="020B0503020204020204" pitchFamily="34" charset="-122"/>
            </a:endParaRPr>
          </a:p>
          <a:p>
            <a:pPr eaLnBrk="1" hangingPunct="1">
              <a:lnSpc>
                <a:spcPct val="105000"/>
              </a:lnSpc>
              <a:spcBef>
                <a:spcPct val="0"/>
              </a:spcBef>
              <a:buFont typeface="Wingdings" pitchFamily="2" charset="2"/>
              <a:buNone/>
            </a:pPr>
            <a:endParaRPr lang="zh-CN" altLang="zh-CN" sz="1500" dirty="0">
              <a:latin typeface="Microsoft YaHei" panose="020B0503020204020204" pitchFamily="34" charset="-122"/>
              <a:ea typeface="Microsoft YaHei" panose="020B0503020204020204" pitchFamily="34" charset="-122"/>
            </a:endParaRPr>
          </a:p>
          <a:p>
            <a:pPr eaLnBrk="1" hangingPunct="1">
              <a:lnSpc>
                <a:spcPct val="105000"/>
              </a:lnSpc>
              <a:spcBef>
                <a:spcPct val="0"/>
              </a:spcBef>
            </a:pPr>
            <a:r>
              <a:rPr lang="zh-CN" altLang="zh-CN" sz="1500" dirty="0">
                <a:latin typeface="Microsoft YaHei" panose="020B0503020204020204" pitchFamily="34" charset="-122"/>
                <a:ea typeface="Microsoft YaHei" panose="020B0503020204020204" pitchFamily="34" charset="-122"/>
              </a:rPr>
              <a:t> </a:t>
            </a:r>
            <a:r>
              <a:rPr lang="zh-CN" altLang="zh-CN" sz="1500" dirty="0">
                <a:solidFill>
                  <a:schemeClr val="hlink"/>
                </a:solidFill>
                <a:latin typeface="Microsoft YaHei" panose="020B0503020204020204" pitchFamily="34" charset="-122"/>
                <a:ea typeface="Microsoft YaHei" panose="020B0503020204020204" pitchFamily="34" charset="-122"/>
              </a:rPr>
              <a:t>例：</a:t>
            </a:r>
            <a:r>
              <a:rPr lang="zh-CN" altLang="zh-CN" sz="1500" dirty="0">
                <a:latin typeface="Microsoft YaHei" panose="020B0503020204020204" pitchFamily="34" charset="-122"/>
                <a:ea typeface="Microsoft YaHei" panose="020B0503020204020204" pitchFamily="34" charset="-122"/>
              </a:rPr>
              <a:t>有关系 TS(sno,cno,semester,grade)</a:t>
            </a:r>
            <a:r>
              <a:rPr lang="zh-CN" altLang="en-US" sz="1500" dirty="0">
                <a:latin typeface="Microsoft YaHei" panose="020B0503020204020204" pitchFamily="34" charset="-122"/>
                <a:ea typeface="Microsoft YaHei" panose="020B0503020204020204" pitchFamily="34" charset="-122"/>
              </a:rPr>
              <a:t> 和 </a:t>
            </a:r>
            <a:r>
              <a:rPr lang="zh-CN" altLang="zh-CN" sz="1500" dirty="0">
                <a:latin typeface="Microsoft YaHei" panose="020B0503020204020204" pitchFamily="34" charset="-122"/>
                <a:ea typeface="Microsoft YaHei" panose="020B0503020204020204" pitchFamily="34" charset="-122"/>
              </a:rPr>
              <a:t>CL(cno,semester,limit) </a:t>
            </a:r>
          </a:p>
          <a:p>
            <a:pPr eaLnBrk="1" hangingPunct="1">
              <a:lnSpc>
                <a:spcPct val="105000"/>
              </a:lnSpc>
              <a:spcBef>
                <a:spcPct val="0"/>
              </a:spcBef>
              <a:buFont typeface="Wingdings" pitchFamily="2" charset="2"/>
              <a:buNone/>
            </a:pPr>
            <a:r>
              <a:rPr lang="zh-CN" altLang="zh-CN" sz="1500" dirty="0">
                <a:latin typeface="Microsoft YaHei" panose="020B0503020204020204" pitchFamily="34" charset="-122"/>
                <a:ea typeface="Microsoft YaHei" panose="020B0503020204020204" pitchFamily="34" charset="-122"/>
              </a:rPr>
              <a:t>    创建一个触发器，它监控插入到TS中的元组，以限制课程注册的人数。</a:t>
            </a:r>
          </a:p>
          <a:p>
            <a:pPr eaLnBrk="1" hangingPunct="1">
              <a:lnSpc>
                <a:spcPct val="105000"/>
              </a:lnSpc>
              <a:spcBef>
                <a:spcPct val="0"/>
              </a:spcBef>
              <a:buFont typeface="Wingdings" pitchFamily="2" charset="2"/>
              <a:buNone/>
            </a:pPr>
            <a:r>
              <a:rPr lang="zh-CN" altLang="zh-CN" sz="1500" dirty="0">
                <a:latin typeface="Microsoft YaHei" panose="020B0503020204020204" pitchFamily="34" charset="-122"/>
                <a:ea typeface="Microsoft YaHei" panose="020B0503020204020204" pitchFamily="34" charset="-122"/>
              </a:rPr>
              <a:t>CREATE TRIGGER CountCheck</a:t>
            </a:r>
          </a:p>
          <a:p>
            <a:pPr eaLnBrk="1" hangingPunct="1">
              <a:lnSpc>
                <a:spcPct val="105000"/>
              </a:lnSpc>
              <a:spcBef>
                <a:spcPct val="0"/>
              </a:spcBef>
              <a:buFont typeface="Wingdings" pitchFamily="2" charset="2"/>
              <a:buNone/>
            </a:pPr>
            <a:r>
              <a:rPr lang="zh-CN" altLang="zh-CN" sz="1500" dirty="0">
                <a:latin typeface="Microsoft YaHei" panose="020B0503020204020204" pitchFamily="34" charset="-122"/>
                <a:ea typeface="Microsoft YaHei" panose="020B0503020204020204" pitchFamily="34" charset="-122"/>
              </a:rPr>
              <a:t>   BEFORE </a:t>
            </a:r>
            <a:r>
              <a:rPr lang="zh-CN" altLang="zh-CN" sz="1500" dirty="0">
                <a:solidFill>
                  <a:srgbClr val="FF0000"/>
                </a:solidFill>
                <a:latin typeface="Microsoft YaHei" panose="020B0503020204020204" pitchFamily="34" charset="-122"/>
                <a:ea typeface="Microsoft YaHei" panose="020B0503020204020204" pitchFamily="34" charset="-122"/>
              </a:rPr>
              <a:t>INSERT</a:t>
            </a:r>
            <a:r>
              <a:rPr lang="zh-CN" altLang="zh-CN" sz="1500" dirty="0">
                <a:latin typeface="Microsoft YaHei" panose="020B0503020204020204" pitchFamily="34" charset="-122"/>
                <a:ea typeface="Microsoft YaHei" panose="020B0503020204020204" pitchFamily="34" charset="-122"/>
              </a:rPr>
              <a:t> ON TS</a:t>
            </a:r>
          </a:p>
          <a:p>
            <a:pPr eaLnBrk="1" hangingPunct="1">
              <a:lnSpc>
                <a:spcPct val="105000"/>
              </a:lnSpc>
              <a:spcBef>
                <a:spcPct val="0"/>
              </a:spcBef>
              <a:buFont typeface="Wingdings" pitchFamily="2" charset="2"/>
              <a:buNone/>
            </a:pPr>
            <a:r>
              <a:rPr lang="zh-CN" altLang="zh-CN" sz="1500" dirty="0">
                <a:latin typeface="Microsoft YaHei" panose="020B0503020204020204" pitchFamily="34" charset="-122"/>
                <a:ea typeface="Microsoft YaHei" panose="020B0503020204020204" pitchFamily="34" charset="-122"/>
              </a:rPr>
              <a:t>   REFERENCING NEW AS N</a:t>
            </a:r>
          </a:p>
          <a:p>
            <a:pPr eaLnBrk="1" hangingPunct="1">
              <a:lnSpc>
                <a:spcPct val="105000"/>
              </a:lnSpc>
              <a:spcBef>
                <a:spcPct val="0"/>
              </a:spcBef>
              <a:buFont typeface="Wingdings" pitchFamily="2" charset="2"/>
              <a:buNone/>
            </a:pPr>
            <a:r>
              <a:rPr lang="zh-CN" altLang="zh-CN" sz="1500" dirty="0">
                <a:latin typeface="Microsoft YaHei" panose="020B0503020204020204" pitchFamily="34" charset="-122"/>
                <a:ea typeface="Microsoft YaHei" panose="020B0503020204020204" pitchFamily="34" charset="-122"/>
              </a:rPr>
              <a:t>   FOR EACH ROW</a:t>
            </a:r>
          </a:p>
          <a:p>
            <a:pPr eaLnBrk="1" hangingPunct="1">
              <a:lnSpc>
                <a:spcPct val="105000"/>
              </a:lnSpc>
              <a:spcBef>
                <a:spcPct val="0"/>
              </a:spcBef>
              <a:buFont typeface="Wingdings" pitchFamily="2" charset="2"/>
              <a:buNone/>
            </a:pPr>
            <a:r>
              <a:rPr lang="zh-CN" altLang="zh-CN" sz="1500" dirty="0">
                <a:latin typeface="Microsoft YaHei" panose="020B0503020204020204" pitchFamily="34" charset="-122"/>
                <a:ea typeface="Microsoft YaHei" panose="020B0503020204020204" pitchFamily="34" charset="-122"/>
              </a:rPr>
              <a:t>   WHEN ((SELECT COUNT(sno) FROM TS</a:t>
            </a:r>
          </a:p>
          <a:p>
            <a:pPr eaLnBrk="1" hangingPunct="1">
              <a:lnSpc>
                <a:spcPct val="105000"/>
              </a:lnSpc>
              <a:spcBef>
                <a:spcPct val="0"/>
              </a:spcBef>
              <a:buFont typeface="Wingdings" pitchFamily="2" charset="2"/>
              <a:buNone/>
            </a:pPr>
            <a:r>
              <a:rPr lang="zh-CN" altLang="zh-CN" sz="1500" dirty="0">
                <a:latin typeface="Microsoft YaHei" panose="020B0503020204020204" pitchFamily="34" charset="-122"/>
                <a:ea typeface="Microsoft YaHei" panose="020B0503020204020204" pitchFamily="34" charset="-122"/>
              </a:rPr>
              <a:t>                 WHERE TS.cno=N.cno AND TS.semester=N.semester)</a:t>
            </a:r>
          </a:p>
          <a:p>
            <a:pPr eaLnBrk="1" hangingPunct="1">
              <a:lnSpc>
                <a:spcPct val="105000"/>
              </a:lnSpc>
              <a:spcBef>
                <a:spcPct val="0"/>
              </a:spcBef>
              <a:buFont typeface="Wingdings" pitchFamily="2" charset="2"/>
              <a:buNone/>
            </a:pPr>
            <a:r>
              <a:rPr lang="zh-CN" altLang="zh-CN" sz="1500" dirty="0">
                <a:latin typeface="Microsoft YaHei" panose="020B0503020204020204" pitchFamily="34" charset="-122"/>
                <a:ea typeface="Microsoft YaHei" panose="020B0503020204020204" pitchFamily="34" charset="-122"/>
              </a:rPr>
              <a:t>       &gt;=(SELECT limit FROM CL</a:t>
            </a:r>
          </a:p>
          <a:p>
            <a:pPr eaLnBrk="1" hangingPunct="1">
              <a:lnSpc>
                <a:spcPct val="105000"/>
              </a:lnSpc>
              <a:spcBef>
                <a:spcPct val="0"/>
              </a:spcBef>
              <a:buFont typeface="Wingdings" pitchFamily="2" charset="2"/>
              <a:buNone/>
            </a:pPr>
            <a:r>
              <a:rPr lang="zh-CN" altLang="zh-CN" sz="1500" dirty="0">
                <a:latin typeface="Microsoft YaHei" panose="020B0503020204020204" pitchFamily="34" charset="-122"/>
                <a:ea typeface="Microsoft YaHei" panose="020B0503020204020204" pitchFamily="34" charset="-122"/>
              </a:rPr>
              <a:t>              </a:t>
            </a:r>
            <a:r>
              <a:rPr lang="en-US" altLang="zh-CN" sz="1500" dirty="0">
                <a:latin typeface="Microsoft YaHei" panose="020B0503020204020204" pitchFamily="34" charset="-122"/>
                <a:ea typeface="Microsoft YaHei" panose="020B0503020204020204" pitchFamily="34" charset="-122"/>
              </a:rPr>
              <a:t>   </a:t>
            </a:r>
            <a:r>
              <a:rPr lang="zh-CN" altLang="zh-CN" sz="1500" dirty="0">
                <a:latin typeface="Microsoft YaHei" panose="020B0503020204020204" pitchFamily="34" charset="-122"/>
                <a:ea typeface="Microsoft YaHei" panose="020B0503020204020204" pitchFamily="34" charset="-122"/>
              </a:rPr>
              <a:t>WHERE CL.cno=N.cno AND CL.semester=N.semester))</a:t>
            </a:r>
          </a:p>
          <a:p>
            <a:pPr eaLnBrk="1" hangingPunct="1">
              <a:lnSpc>
                <a:spcPct val="105000"/>
              </a:lnSpc>
              <a:spcBef>
                <a:spcPct val="0"/>
              </a:spcBef>
              <a:buFont typeface="Wingdings" pitchFamily="2" charset="2"/>
              <a:buNone/>
            </a:pPr>
            <a:r>
              <a:rPr lang="zh-CN" altLang="zh-CN" sz="1500" dirty="0">
                <a:latin typeface="Microsoft YaHei" panose="020B0503020204020204" pitchFamily="34" charset="-122"/>
                <a:ea typeface="Microsoft YaHei" panose="020B0503020204020204" pitchFamily="34" charset="-122"/>
              </a:rPr>
              <a:t>   </a:t>
            </a:r>
            <a:r>
              <a:rPr lang="en-US" altLang="zh-CN" sz="1500" dirty="0">
                <a:latin typeface="Microsoft YaHei" panose="020B0503020204020204" pitchFamily="34" charset="-122"/>
                <a:ea typeface="Microsoft YaHei" panose="020B0503020204020204" pitchFamily="34" charset="-122"/>
              </a:rPr>
              <a:t>  </a:t>
            </a:r>
            <a:r>
              <a:rPr lang="zh-CN" altLang="zh-CN" sz="1500" dirty="0">
                <a:latin typeface="Microsoft YaHei" panose="020B0503020204020204" pitchFamily="34" charset="-122"/>
                <a:ea typeface="Microsoft YaHei" panose="020B0503020204020204" pitchFamily="34" charset="-122"/>
              </a:rPr>
              <a:t>ROLLBACK</a:t>
            </a:r>
          </a:p>
        </p:txBody>
      </p:sp>
      <p:sp>
        <p:nvSpPr>
          <p:cNvPr id="3" name="标题 2">
            <a:extLst>
              <a:ext uri="{FF2B5EF4-FFF2-40B4-BE49-F238E27FC236}">
                <a16:creationId xmlns:a16="http://schemas.microsoft.com/office/drawing/2014/main" id="{60509C0C-07EA-7267-8151-C09004E18B5B}"/>
              </a:ext>
            </a:extLst>
          </p:cNvPr>
          <p:cNvSpPr>
            <a:spLocks noGrp="1"/>
          </p:cNvSpPr>
          <p:nvPr>
            <p:ph type="title"/>
          </p:nvPr>
        </p:nvSpPr>
        <p:spPr/>
        <p:txBody>
          <a:bodyPr/>
          <a:lstStyle/>
          <a:p>
            <a:r>
              <a:rPr lang="zh-CN" altLang="en-US" dirty="0"/>
              <a:t>前触发器</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3">
            <a:extLst>
              <a:ext uri="{FF2B5EF4-FFF2-40B4-BE49-F238E27FC236}">
                <a16:creationId xmlns:a16="http://schemas.microsoft.com/office/drawing/2014/main" id="{E205B314-8ACD-E9B2-F1BA-966A6360D98C}"/>
              </a:ext>
            </a:extLst>
          </p:cNvPr>
          <p:cNvSpPr>
            <a:spLocks noGrp="1" noChangeArrowheads="1"/>
          </p:cNvSpPr>
          <p:nvPr>
            <p:ph idx="1"/>
          </p:nvPr>
        </p:nvSpPr>
        <p:spPr/>
        <p:txBody>
          <a:bodyPr>
            <a:normAutofit lnSpcReduction="10000"/>
          </a:bodyPr>
          <a:lstStyle/>
          <a:p>
            <a:pPr marL="0" indent="0"/>
            <a:r>
              <a:rPr lang="zh-CN" altLang="en-US" dirty="0"/>
              <a:t> </a:t>
            </a:r>
            <a:r>
              <a:rPr lang="zh-CN" altLang="en-US" sz="1800" dirty="0"/>
              <a:t>AFTER 触发器 (后触发器):在触发事件已经改变数据库之后执行。</a:t>
            </a:r>
            <a:endParaRPr lang="zh-CN" altLang="en-US" sz="1800" dirty="0">
              <a:solidFill>
                <a:schemeClr val="hlink"/>
              </a:solidFill>
            </a:endParaRPr>
          </a:p>
          <a:p>
            <a:pPr marL="0" indent="0">
              <a:lnSpc>
                <a:spcPct val="120000"/>
              </a:lnSpc>
              <a:spcBef>
                <a:spcPct val="0"/>
              </a:spcBef>
              <a:buNone/>
            </a:pPr>
            <a:r>
              <a:rPr lang="zh-CN" altLang="en-US" sz="1800" dirty="0">
                <a:solidFill>
                  <a:schemeClr val="hlink"/>
                </a:solidFill>
              </a:rPr>
              <a:t>[例]</a:t>
            </a:r>
            <a:r>
              <a:rPr lang="zh-CN" altLang="en-US" sz="1800" dirty="0"/>
              <a:t> 规定修改SC表的grade值时，修改后的值不能低于修改前的值。</a:t>
            </a:r>
          </a:p>
          <a:p>
            <a:pPr marL="0" indent="0">
              <a:lnSpc>
                <a:spcPct val="120000"/>
              </a:lnSpc>
              <a:spcBef>
                <a:spcPct val="0"/>
              </a:spcBef>
              <a:buNone/>
            </a:pPr>
            <a:r>
              <a:rPr lang="zh-CN" altLang="en-US" sz="1800" dirty="0"/>
              <a:t>  CREATE TRIGGER Trig_grade</a:t>
            </a:r>
          </a:p>
          <a:p>
            <a:pPr marL="0" indent="0">
              <a:lnSpc>
                <a:spcPct val="120000"/>
              </a:lnSpc>
              <a:spcBef>
                <a:spcPct val="0"/>
              </a:spcBef>
              <a:buNone/>
            </a:pPr>
            <a:r>
              <a:rPr lang="zh-CN" altLang="en-US" sz="1800" dirty="0"/>
              <a:t>  AFTER UPDATE OF grade </a:t>
            </a:r>
          </a:p>
          <a:p>
            <a:pPr marL="0" indent="0">
              <a:lnSpc>
                <a:spcPct val="120000"/>
              </a:lnSpc>
              <a:spcBef>
                <a:spcPct val="0"/>
              </a:spcBef>
              <a:buNone/>
            </a:pPr>
            <a:r>
              <a:rPr lang="zh-CN" altLang="en-US" sz="1800" dirty="0"/>
              <a:t>  ON SC</a:t>
            </a:r>
          </a:p>
          <a:p>
            <a:pPr marL="0" indent="0">
              <a:lnSpc>
                <a:spcPct val="120000"/>
              </a:lnSpc>
              <a:spcBef>
                <a:spcPct val="0"/>
              </a:spcBef>
              <a:buNone/>
            </a:pPr>
            <a:r>
              <a:rPr lang="zh-CN" altLang="en-US" sz="1800" dirty="0"/>
              <a:t>    REFERENCING OLD AS oldg NEW AS newg</a:t>
            </a:r>
          </a:p>
          <a:p>
            <a:pPr marL="0" indent="0">
              <a:lnSpc>
                <a:spcPct val="120000"/>
              </a:lnSpc>
              <a:spcBef>
                <a:spcPct val="0"/>
              </a:spcBef>
              <a:buNone/>
            </a:pPr>
            <a:r>
              <a:rPr lang="zh-CN" altLang="en-US" sz="1800" dirty="0"/>
              <a:t>    FOR EACH ROW</a:t>
            </a:r>
          </a:p>
          <a:p>
            <a:pPr marL="0" indent="0">
              <a:lnSpc>
                <a:spcPct val="120000"/>
              </a:lnSpc>
              <a:spcBef>
                <a:spcPct val="0"/>
              </a:spcBef>
              <a:buNone/>
            </a:pPr>
            <a:r>
              <a:rPr lang="zh-CN" altLang="en-US" sz="1800" dirty="0"/>
              <a:t>  WHEN (oldg.grade&gt;newg.grade)</a:t>
            </a:r>
          </a:p>
          <a:p>
            <a:pPr marL="0" indent="0">
              <a:lnSpc>
                <a:spcPct val="120000"/>
              </a:lnSpc>
              <a:spcBef>
                <a:spcPct val="0"/>
              </a:spcBef>
              <a:buNone/>
            </a:pPr>
            <a:r>
              <a:rPr lang="zh-CN" altLang="en-US" sz="1800" dirty="0"/>
              <a:t>    UPDATE SC</a:t>
            </a:r>
          </a:p>
          <a:p>
            <a:pPr marL="0" indent="0">
              <a:lnSpc>
                <a:spcPct val="120000"/>
              </a:lnSpc>
              <a:spcBef>
                <a:spcPct val="0"/>
              </a:spcBef>
              <a:buNone/>
            </a:pPr>
            <a:r>
              <a:rPr lang="zh-CN" altLang="en-US" sz="1800" dirty="0"/>
              <a:t>    SET grade=oldg.grade</a:t>
            </a:r>
          </a:p>
          <a:p>
            <a:pPr marL="0" indent="0">
              <a:lnSpc>
                <a:spcPct val="120000"/>
              </a:lnSpc>
              <a:spcBef>
                <a:spcPct val="0"/>
              </a:spcBef>
              <a:buNone/>
            </a:pPr>
            <a:r>
              <a:rPr lang="zh-CN" altLang="en-US" sz="1800" dirty="0"/>
              <a:t>    WHERE cno=oldg.cno AND sno=oldg.sno;</a:t>
            </a:r>
          </a:p>
        </p:txBody>
      </p:sp>
      <p:sp>
        <p:nvSpPr>
          <p:cNvPr id="57347" name="Line 4">
            <a:extLst>
              <a:ext uri="{FF2B5EF4-FFF2-40B4-BE49-F238E27FC236}">
                <a16:creationId xmlns:a16="http://schemas.microsoft.com/office/drawing/2014/main" id="{8B046D59-0C6A-F20A-CEA9-F6818E8DD97B}"/>
              </a:ext>
            </a:extLst>
          </p:cNvPr>
          <p:cNvSpPr>
            <a:spLocks noChangeShapeType="1"/>
          </p:cNvSpPr>
          <p:nvPr/>
        </p:nvSpPr>
        <p:spPr bwMode="auto">
          <a:xfrm flipV="1">
            <a:off x="796287" y="2347167"/>
            <a:ext cx="2971800" cy="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57348" name="AutoShape 5">
            <a:extLst>
              <a:ext uri="{FF2B5EF4-FFF2-40B4-BE49-F238E27FC236}">
                <a16:creationId xmlns:a16="http://schemas.microsoft.com/office/drawing/2014/main" id="{8B97E536-231A-4835-BA85-0FA23CAC080C}"/>
              </a:ext>
            </a:extLst>
          </p:cNvPr>
          <p:cNvSpPr>
            <a:spLocks noChangeArrowheads="1"/>
          </p:cNvSpPr>
          <p:nvPr/>
        </p:nvSpPr>
        <p:spPr bwMode="auto">
          <a:xfrm rot="10800000">
            <a:off x="4757737" y="1775109"/>
            <a:ext cx="1200150" cy="457200"/>
          </a:xfrm>
          <a:prstGeom prst="wedgeRoundRectCallout">
            <a:avLst>
              <a:gd name="adj1" fmla="val 130653"/>
              <a:gd name="adj2" fmla="val -75523"/>
              <a:gd name="adj3" fmla="val 16667"/>
            </a:avLst>
          </a:prstGeom>
          <a:solidFill>
            <a:schemeClr val="accent1"/>
          </a:solidFill>
          <a:ln w="9525">
            <a:solidFill>
              <a:schemeClr val="tx1"/>
            </a:solidFill>
            <a:miter lim="800000"/>
            <a:headEnd/>
            <a:tailEnd/>
          </a:ln>
        </p:spPr>
        <p:txBody>
          <a:bodyPr rot="10800000"/>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rgbClr val="008080"/>
              </a:buClr>
              <a:buSzPct val="70000"/>
              <a:buFont typeface="Wingdings" pitchFamily="2" charset="2"/>
              <a:buChar char="v"/>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zh-CN" sz="1800">
                <a:latin typeface="楷体" panose="02010609060101010101" pitchFamily="49" charset="-122"/>
                <a:ea typeface="楷体" panose="02010609060101010101" pitchFamily="49" charset="-122"/>
              </a:rPr>
              <a:t>触发事件</a:t>
            </a:r>
          </a:p>
        </p:txBody>
      </p:sp>
      <p:sp>
        <p:nvSpPr>
          <p:cNvPr id="57349" name="Line 6">
            <a:extLst>
              <a:ext uri="{FF2B5EF4-FFF2-40B4-BE49-F238E27FC236}">
                <a16:creationId xmlns:a16="http://schemas.microsoft.com/office/drawing/2014/main" id="{E4322D47-09C7-3963-3FC6-18D1D5352068}"/>
              </a:ext>
            </a:extLst>
          </p:cNvPr>
          <p:cNvSpPr>
            <a:spLocks noChangeShapeType="1"/>
          </p:cNvSpPr>
          <p:nvPr/>
        </p:nvSpPr>
        <p:spPr bwMode="auto">
          <a:xfrm>
            <a:off x="807834" y="3547902"/>
            <a:ext cx="3771900" cy="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57350" name="AutoShape 7">
            <a:extLst>
              <a:ext uri="{FF2B5EF4-FFF2-40B4-BE49-F238E27FC236}">
                <a16:creationId xmlns:a16="http://schemas.microsoft.com/office/drawing/2014/main" id="{9D19DA9C-E13B-2832-D814-03635B265670}"/>
              </a:ext>
            </a:extLst>
          </p:cNvPr>
          <p:cNvSpPr>
            <a:spLocks noChangeArrowheads="1"/>
          </p:cNvSpPr>
          <p:nvPr/>
        </p:nvSpPr>
        <p:spPr bwMode="auto">
          <a:xfrm rot="10800000">
            <a:off x="5472113" y="2964656"/>
            <a:ext cx="1143000" cy="457200"/>
          </a:xfrm>
          <a:prstGeom prst="wedgeRoundRectCallout">
            <a:avLst>
              <a:gd name="adj1" fmla="val 120727"/>
              <a:gd name="adj2" fmla="val -84639"/>
              <a:gd name="adj3" fmla="val 16667"/>
            </a:avLst>
          </a:prstGeom>
          <a:solidFill>
            <a:schemeClr val="accent1"/>
          </a:solidFill>
          <a:ln w="9525">
            <a:solidFill>
              <a:schemeClr val="tx1"/>
            </a:solidFill>
            <a:miter lim="800000"/>
            <a:headEnd/>
            <a:tailEnd/>
          </a:ln>
        </p:spPr>
        <p:txBody>
          <a:bodyPr rot="10800000"/>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rgbClr val="008080"/>
              </a:buClr>
              <a:buSzPct val="70000"/>
              <a:buFont typeface="Wingdings" pitchFamily="2" charset="2"/>
              <a:buChar char="v"/>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zh-CN" sz="1800">
                <a:latin typeface="楷体" panose="02010609060101010101" pitchFamily="49" charset="-122"/>
                <a:ea typeface="楷体" panose="02010609060101010101" pitchFamily="49" charset="-122"/>
              </a:rPr>
              <a:t>触发条件</a:t>
            </a:r>
          </a:p>
        </p:txBody>
      </p:sp>
      <p:sp>
        <p:nvSpPr>
          <p:cNvPr id="57351" name="AutoShape 8">
            <a:extLst>
              <a:ext uri="{FF2B5EF4-FFF2-40B4-BE49-F238E27FC236}">
                <a16:creationId xmlns:a16="http://schemas.microsoft.com/office/drawing/2014/main" id="{62D922FC-A165-1F06-8C39-8D30E78A9AC3}"/>
              </a:ext>
            </a:extLst>
          </p:cNvPr>
          <p:cNvSpPr>
            <a:spLocks/>
          </p:cNvSpPr>
          <p:nvPr/>
        </p:nvSpPr>
        <p:spPr bwMode="auto">
          <a:xfrm rot="10800000">
            <a:off x="5655187" y="3623334"/>
            <a:ext cx="171450" cy="800100"/>
          </a:xfrm>
          <a:prstGeom prst="leftBrace">
            <a:avLst>
              <a:gd name="adj1" fmla="val 38781"/>
              <a:gd name="adj2" fmla="val 50000"/>
            </a:avLst>
          </a:prstGeom>
          <a:noFill/>
          <a:ln w="508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rgbClr val="008080"/>
              </a:buClr>
              <a:buSzPct val="70000"/>
              <a:buFont typeface="Wingdings" pitchFamily="2" charset="2"/>
              <a:buChar char="v"/>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p>
        </p:txBody>
      </p:sp>
      <p:sp>
        <p:nvSpPr>
          <p:cNvPr id="57352" name="AutoShape 9">
            <a:extLst>
              <a:ext uri="{FF2B5EF4-FFF2-40B4-BE49-F238E27FC236}">
                <a16:creationId xmlns:a16="http://schemas.microsoft.com/office/drawing/2014/main" id="{46C3249C-EC12-D547-9E3C-F6285C10D9C7}"/>
              </a:ext>
            </a:extLst>
          </p:cNvPr>
          <p:cNvSpPr>
            <a:spLocks noChangeArrowheads="1"/>
          </p:cNvSpPr>
          <p:nvPr/>
        </p:nvSpPr>
        <p:spPr bwMode="auto">
          <a:xfrm rot="10800000">
            <a:off x="6329363" y="4298156"/>
            <a:ext cx="1428750" cy="457200"/>
          </a:xfrm>
          <a:prstGeom prst="wedgeRoundRectCallout">
            <a:avLst>
              <a:gd name="adj1" fmla="val 82774"/>
              <a:gd name="adj2" fmla="val 105492"/>
              <a:gd name="adj3" fmla="val 16667"/>
            </a:avLst>
          </a:prstGeom>
          <a:solidFill>
            <a:schemeClr val="accent1"/>
          </a:solidFill>
          <a:ln w="9525">
            <a:solidFill>
              <a:schemeClr val="tx1"/>
            </a:solidFill>
            <a:miter lim="800000"/>
            <a:headEnd/>
            <a:tailEnd/>
          </a:ln>
        </p:spPr>
        <p:txBody>
          <a:bodyPr rot="10800000"/>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rgbClr val="008080"/>
              </a:buClr>
              <a:buSzPct val="70000"/>
              <a:buFont typeface="Wingdings" pitchFamily="2" charset="2"/>
              <a:buChar char="v"/>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zh-CN" sz="1800">
                <a:latin typeface="楷体" panose="02010609060101010101" pitchFamily="49" charset="-122"/>
                <a:ea typeface="楷体" panose="02010609060101010101" pitchFamily="49" charset="-122"/>
              </a:rPr>
              <a:t>触发器动作</a:t>
            </a:r>
          </a:p>
        </p:txBody>
      </p:sp>
      <p:sp>
        <p:nvSpPr>
          <p:cNvPr id="3" name="标题 2">
            <a:extLst>
              <a:ext uri="{FF2B5EF4-FFF2-40B4-BE49-F238E27FC236}">
                <a16:creationId xmlns:a16="http://schemas.microsoft.com/office/drawing/2014/main" id="{0D472D93-AFCE-C241-D1F8-3E4C1878BDF8}"/>
              </a:ext>
            </a:extLst>
          </p:cNvPr>
          <p:cNvSpPr>
            <a:spLocks noGrp="1"/>
          </p:cNvSpPr>
          <p:nvPr>
            <p:ph type="title"/>
          </p:nvPr>
        </p:nvSpPr>
        <p:spPr/>
        <p:txBody>
          <a:bodyPr/>
          <a:lstStyle/>
          <a:p>
            <a:r>
              <a:rPr lang="zh-CN" altLang="en-US" dirty="0"/>
              <a:t>后触发器</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3">
            <a:extLst>
              <a:ext uri="{FF2B5EF4-FFF2-40B4-BE49-F238E27FC236}">
                <a16:creationId xmlns:a16="http://schemas.microsoft.com/office/drawing/2014/main" id="{E44EE0E1-4D09-CC50-6C5E-C53511491A18}"/>
              </a:ext>
            </a:extLst>
          </p:cNvPr>
          <p:cNvSpPr>
            <a:spLocks noGrp="1" noChangeArrowheads="1"/>
          </p:cNvSpPr>
          <p:nvPr>
            <p:ph idx="1"/>
          </p:nvPr>
        </p:nvSpPr>
        <p:spPr/>
        <p:txBody>
          <a:bodyPr/>
          <a:lstStyle/>
          <a:p>
            <a:pPr eaLnBrk="1" hangingPunct="1">
              <a:lnSpc>
                <a:spcPct val="120000"/>
              </a:lnSpc>
              <a:spcBef>
                <a:spcPct val="0"/>
              </a:spcBef>
              <a:buFont typeface="Wingdings" pitchFamily="2" charset="2"/>
              <a:buNone/>
            </a:pPr>
            <a:r>
              <a:rPr lang="zh-CN" altLang="zh-CN"/>
              <a:t>  </a:t>
            </a:r>
            <a:endParaRPr lang="zh-CN" altLang="zh-CN" b="1">
              <a:solidFill>
                <a:schemeClr val="folHlink"/>
              </a:solidFill>
              <a:latin typeface="宋体" panose="02010600030101010101" pitchFamily="2" charset="-122"/>
            </a:endParaRPr>
          </a:p>
        </p:txBody>
      </p:sp>
      <p:sp>
        <p:nvSpPr>
          <p:cNvPr id="59395" name="Text Box 4">
            <a:extLst>
              <a:ext uri="{FF2B5EF4-FFF2-40B4-BE49-F238E27FC236}">
                <a16:creationId xmlns:a16="http://schemas.microsoft.com/office/drawing/2014/main" id="{EC48518F-7276-6B06-861C-678A7454984B}"/>
              </a:ext>
            </a:extLst>
          </p:cNvPr>
          <p:cNvSpPr txBox="1">
            <a:spLocks noChangeArrowheads="1"/>
          </p:cNvSpPr>
          <p:nvPr/>
        </p:nvSpPr>
        <p:spPr bwMode="auto">
          <a:xfrm>
            <a:off x="549260" y="1042761"/>
            <a:ext cx="8029051"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rgbClr val="008080"/>
              </a:buClr>
              <a:buSzPct val="70000"/>
              <a:buFont typeface="Wingdings" pitchFamily="2" charset="2"/>
              <a:buChar char="v"/>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pPr>
            <a:r>
              <a:rPr lang="zh-CN" altLang="zh-CN" sz="1800" dirty="0">
                <a:solidFill>
                  <a:schemeClr val="folHlink"/>
                </a:solidFill>
                <a:latin typeface="Microsoft YaHei" panose="020B0503020204020204" pitchFamily="34" charset="-122"/>
                <a:ea typeface="Microsoft YaHei" panose="020B0503020204020204" pitchFamily="34" charset="-122"/>
              </a:rPr>
              <a:t> </a:t>
            </a:r>
            <a:r>
              <a:rPr lang="zh-CN" altLang="zh-CN" sz="1500" dirty="0">
                <a:latin typeface="Microsoft YaHei" panose="020B0503020204020204" pitchFamily="34" charset="-122"/>
                <a:ea typeface="Microsoft YaHei" panose="020B0503020204020204" pitchFamily="34" charset="-122"/>
              </a:rPr>
              <a:t>INSTEAD OF 触发器 (替换触发器)</a:t>
            </a:r>
          </a:p>
          <a:p>
            <a:pPr eaLnBrk="1" hangingPunct="1">
              <a:spcBef>
                <a:spcPct val="0"/>
              </a:spcBef>
              <a:buFont typeface="Arial" panose="020B0604020202020204" pitchFamily="34" charset="0"/>
              <a:buNone/>
            </a:pPr>
            <a:r>
              <a:rPr lang="zh-CN" altLang="zh-CN" sz="1500" dirty="0">
                <a:latin typeface="Microsoft YaHei" panose="020B0503020204020204" pitchFamily="34" charset="-122"/>
                <a:ea typeface="Microsoft YaHei" panose="020B0503020204020204" pitchFamily="34" charset="-122"/>
              </a:rPr>
              <a:t>  INSTEAD OF触发器最普遍的应用是</a:t>
            </a:r>
            <a:r>
              <a:rPr lang="zh-CN" altLang="zh-CN" sz="1500" dirty="0">
                <a:solidFill>
                  <a:schemeClr val="hlink"/>
                </a:solidFill>
                <a:latin typeface="Microsoft YaHei" panose="020B0503020204020204" pitchFamily="34" charset="-122"/>
                <a:ea typeface="Microsoft YaHei" panose="020B0503020204020204" pitchFamily="34" charset="-122"/>
              </a:rPr>
              <a:t>对视图的维护</a:t>
            </a:r>
            <a:r>
              <a:rPr lang="zh-CN" altLang="zh-CN" sz="1500" dirty="0">
                <a:latin typeface="Microsoft YaHei" panose="020B0503020204020204" pitchFamily="34" charset="-122"/>
                <a:ea typeface="Microsoft YaHei" panose="020B0503020204020204" pitchFamily="34" charset="-122"/>
              </a:rPr>
              <a:t>。视图上的更新事件可以通过触发器监控，但替换更新的是视图的基础表。</a:t>
            </a:r>
            <a:endParaRPr lang="en-US" altLang="zh-CN" sz="1500" dirty="0">
              <a:latin typeface="Microsoft YaHei" panose="020B0503020204020204" pitchFamily="34" charset="-122"/>
              <a:ea typeface="Microsoft YaHei" panose="020B0503020204020204" pitchFamily="34" charset="-122"/>
            </a:endParaRPr>
          </a:p>
          <a:p>
            <a:pPr eaLnBrk="1" hangingPunct="1">
              <a:spcBef>
                <a:spcPct val="0"/>
              </a:spcBef>
              <a:buFont typeface="Arial" panose="020B0604020202020204" pitchFamily="34" charset="0"/>
              <a:buNone/>
            </a:pPr>
            <a:endParaRPr lang="zh-CN" altLang="zh-CN" sz="1500" dirty="0">
              <a:latin typeface="Microsoft YaHei" panose="020B0503020204020204" pitchFamily="34" charset="-122"/>
              <a:ea typeface="Microsoft YaHei" panose="020B0503020204020204" pitchFamily="34" charset="-122"/>
            </a:endParaRPr>
          </a:p>
          <a:p>
            <a:pPr eaLnBrk="1" hangingPunct="1">
              <a:spcBef>
                <a:spcPct val="0"/>
              </a:spcBef>
            </a:pPr>
            <a:r>
              <a:rPr lang="zh-CN" altLang="zh-CN" sz="1500" dirty="0">
                <a:latin typeface="Microsoft YaHei" panose="020B0503020204020204" pitchFamily="34" charset="-122"/>
                <a:ea typeface="Microsoft YaHei" panose="020B0503020204020204" pitchFamily="34" charset="-122"/>
              </a:rPr>
              <a:t> </a:t>
            </a:r>
            <a:r>
              <a:rPr lang="zh-CN" altLang="zh-CN" sz="1500" dirty="0">
                <a:solidFill>
                  <a:schemeClr val="hlink"/>
                </a:solidFill>
                <a:latin typeface="Microsoft YaHei" panose="020B0503020204020204" pitchFamily="34" charset="-122"/>
                <a:ea typeface="Microsoft YaHei" panose="020B0503020204020204" pitchFamily="34" charset="-122"/>
              </a:rPr>
              <a:t>例：</a:t>
            </a:r>
            <a:r>
              <a:rPr lang="zh-CN" altLang="zh-CN" sz="1500" dirty="0">
                <a:latin typeface="Microsoft YaHei" panose="020B0503020204020204" pitchFamily="34" charset="-122"/>
                <a:ea typeface="Microsoft YaHei" panose="020B0503020204020204" pitchFamily="34" charset="-122"/>
              </a:rPr>
              <a:t>有关系 EMP(eno,ename,esex,salary,dno)</a:t>
            </a:r>
            <a:r>
              <a:rPr lang="zh-CN" altLang="en-US" sz="1500" dirty="0">
                <a:latin typeface="Microsoft YaHei" panose="020B0503020204020204" pitchFamily="34" charset="-122"/>
                <a:ea typeface="Microsoft YaHei" panose="020B0503020204020204" pitchFamily="34" charset="-122"/>
              </a:rPr>
              <a:t> 和 </a:t>
            </a:r>
            <a:r>
              <a:rPr lang="zh-CN" altLang="zh-CN" sz="1500" dirty="0">
                <a:latin typeface="Microsoft YaHei" panose="020B0503020204020204" pitchFamily="34" charset="-122"/>
                <a:ea typeface="Microsoft YaHei" panose="020B0503020204020204" pitchFamily="34" charset="-122"/>
              </a:rPr>
              <a:t>DEPT(dno,dname)</a:t>
            </a:r>
          </a:p>
          <a:p>
            <a:pPr eaLnBrk="1" hangingPunct="1">
              <a:spcBef>
                <a:spcPct val="0"/>
              </a:spcBef>
              <a:buFont typeface="Arial" panose="020B0604020202020204" pitchFamily="34" charset="0"/>
              <a:buNone/>
            </a:pPr>
            <a:r>
              <a:rPr lang="zh-CN" altLang="zh-CN" sz="1500" dirty="0">
                <a:latin typeface="Microsoft YaHei" panose="020B0503020204020204" pitchFamily="34" charset="-122"/>
                <a:ea typeface="Microsoft YaHei" panose="020B0503020204020204" pitchFamily="34" charset="-122"/>
              </a:rPr>
              <a:t>   有下面的视图：</a:t>
            </a:r>
          </a:p>
          <a:p>
            <a:pPr eaLnBrk="1" hangingPunct="1">
              <a:spcBef>
                <a:spcPct val="0"/>
              </a:spcBef>
              <a:buFont typeface="Arial" panose="020B0604020202020204" pitchFamily="34" charset="0"/>
              <a:buNone/>
            </a:pPr>
            <a:r>
              <a:rPr lang="zh-CN" altLang="zh-CN" sz="1500" dirty="0">
                <a:latin typeface="Microsoft YaHei" panose="020B0503020204020204" pitchFamily="34" charset="-122"/>
                <a:ea typeface="Microsoft YaHei" panose="020B0503020204020204" pitchFamily="34" charset="-122"/>
              </a:rPr>
              <a:t>       CREATE VIEW WorksIn(eno,dname)</a:t>
            </a:r>
          </a:p>
          <a:p>
            <a:pPr eaLnBrk="1" hangingPunct="1">
              <a:spcBef>
                <a:spcPct val="0"/>
              </a:spcBef>
              <a:buFont typeface="Arial" panose="020B0604020202020204" pitchFamily="34" charset="0"/>
              <a:buNone/>
            </a:pPr>
            <a:r>
              <a:rPr lang="zh-CN" altLang="zh-CN" sz="1500" dirty="0">
                <a:latin typeface="Microsoft YaHei" panose="020B0503020204020204" pitchFamily="34" charset="-122"/>
                <a:ea typeface="Microsoft YaHei" panose="020B0503020204020204" pitchFamily="34" charset="-122"/>
              </a:rPr>
              <a:t>           AS</a:t>
            </a:r>
          </a:p>
          <a:p>
            <a:pPr eaLnBrk="1" hangingPunct="1">
              <a:spcBef>
                <a:spcPct val="0"/>
              </a:spcBef>
              <a:buFont typeface="Arial" panose="020B0604020202020204" pitchFamily="34" charset="0"/>
              <a:buNone/>
            </a:pPr>
            <a:r>
              <a:rPr lang="zh-CN" altLang="zh-CN" sz="1500" dirty="0">
                <a:latin typeface="Microsoft YaHei" panose="020B0503020204020204" pitchFamily="34" charset="-122"/>
                <a:ea typeface="Microsoft YaHei" panose="020B0503020204020204" pitchFamily="34" charset="-122"/>
              </a:rPr>
              <a:t>                SELECT (EMP.eno,DEPT.dname)</a:t>
            </a:r>
          </a:p>
          <a:p>
            <a:pPr eaLnBrk="1" hangingPunct="1">
              <a:spcBef>
                <a:spcPct val="0"/>
              </a:spcBef>
              <a:buFont typeface="Arial" panose="020B0604020202020204" pitchFamily="34" charset="0"/>
              <a:buNone/>
            </a:pPr>
            <a:r>
              <a:rPr lang="zh-CN" altLang="zh-CN" sz="1500" dirty="0">
                <a:latin typeface="Microsoft YaHei" panose="020B0503020204020204" pitchFamily="34" charset="-122"/>
                <a:ea typeface="Microsoft YaHei" panose="020B0503020204020204" pitchFamily="34" charset="-122"/>
              </a:rPr>
              <a:t>                FROM EMP,DEPT</a:t>
            </a:r>
          </a:p>
          <a:p>
            <a:pPr eaLnBrk="1" hangingPunct="1">
              <a:spcBef>
                <a:spcPct val="0"/>
              </a:spcBef>
              <a:buFont typeface="Arial" panose="020B0604020202020204" pitchFamily="34" charset="0"/>
              <a:buNone/>
            </a:pPr>
            <a:r>
              <a:rPr lang="zh-CN" altLang="zh-CN" sz="1500" dirty="0">
                <a:latin typeface="Microsoft YaHei" panose="020B0503020204020204" pitchFamily="34" charset="-122"/>
                <a:ea typeface="Microsoft YaHei" panose="020B0503020204020204" pitchFamily="34" charset="-122"/>
              </a:rPr>
              <a:t>                WHERE EMP.dno=DEPT.dno</a:t>
            </a:r>
          </a:p>
          <a:p>
            <a:pPr eaLnBrk="1" hangingPunct="1">
              <a:spcBef>
                <a:spcPct val="0"/>
              </a:spcBef>
              <a:buFont typeface="Arial" panose="020B0604020202020204" pitchFamily="34" charset="0"/>
              <a:buNone/>
            </a:pPr>
            <a:endParaRPr lang="zh-CN" altLang="zh-CN" sz="1800" dirty="0">
              <a:latin typeface="Microsoft YaHei" panose="020B0503020204020204" pitchFamily="34" charset="-122"/>
              <a:ea typeface="Microsoft YaHei" panose="020B0503020204020204" pitchFamily="34" charset="-122"/>
            </a:endParaRPr>
          </a:p>
          <a:p>
            <a:pPr eaLnBrk="1" hangingPunct="1">
              <a:spcBef>
                <a:spcPct val="0"/>
              </a:spcBef>
              <a:buFont typeface="Arial" panose="020B0604020202020204" pitchFamily="34" charset="0"/>
              <a:buNone/>
            </a:pPr>
            <a:r>
              <a:rPr lang="zh-CN" altLang="zh-CN" sz="1800" dirty="0">
                <a:latin typeface="Microsoft YaHei" panose="020B0503020204020204" pitchFamily="34" charset="-122"/>
                <a:ea typeface="Microsoft YaHei" panose="020B0503020204020204" pitchFamily="34" charset="-122"/>
              </a:rPr>
              <a:t>   </a:t>
            </a:r>
          </a:p>
        </p:txBody>
      </p:sp>
      <p:sp>
        <p:nvSpPr>
          <p:cNvPr id="3" name="标题 2">
            <a:extLst>
              <a:ext uri="{FF2B5EF4-FFF2-40B4-BE49-F238E27FC236}">
                <a16:creationId xmlns:a16="http://schemas.microsoft.com/office/drawing/2014/main" id="{E1EBD258-CFE7-3E97-2BF8-DBC08AFC18E6}"/>
              </a:ext>
            </a:extLst>
          </p:cNvPr>
          <p:cNvSpPr>
            <a:spLocks noGrp="1"/>
          </p:cNvSpPr>
          <p:nvPr>
            <p:ph type="title"/>
          </p:nvPr>
        </p:nvSpPr>
        <p:spPr/>
        <p:txBody>
          <a:bodyPr/>
          <a:lstStyle/>
          <a:p>
            <a:r>
              <a:rPr lang="zh-CN" altLang="en-US" dirty="0"/>
              <a:t>替代触发器</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Rectangle 3">
            <a:extLst>
              <a:ext uri="{FF2B5EF4-FFF2-40B4-BE49-F238E27FC236}">
                <a16:creationId xmlns:a16="http://schemas.microsoft.com/office/drawing/2014/main" id="{E0F015D2-B54C-6B50-6201-5B3035C6763E}"/>
              </a:ext>
            </a:extLst>
          </p:cNvPr>
          <p:cNvSpPr>
            <a:spLocks noGrp="1" noChangeArrowheads="1"/>
          </p:cNvSpPr>
          <p:nvPr>
            <p:ph idx="1"/>
          </p:nvPr>
        </p:nvSpPr>
        <p:spPr/>
        <p:txBody>
          <a:bodyPr/>
          <a:lstStyle/>
          <a:p>
            <a:pPr eaLnBrk="1" hangingPunct="1">
              <a:lnSpc>
                <a:spcPct val="120000"/>
              </a:lnSpc>
              <a:spcBef>
                <a:spcPct val="0"/>
              </a:spcBef>
              <a:buFont typeface="Wingdings" pitchFamily="2" charset="2"/>
              <a:buNone/>
            </a:pPr>
            <a:r>
              <a:rPr lang="zh-CN" altLang="zh-CN"/>
              <a:t>  </a:t>
            </a:r>
            <a:endParaRPr lang="zh-CN" altLang="zh-CN" b="1">
              <a:solidFill>
                <a:schemeClr val="folHlink"/>
              </a:solidFill>
              <a:latin typeface="宋体" panose="02010600030101010101" pitchFamily="2" charset="-122"/>
            </a:endParaRPr>
          </a:p>
        </p:txBody>
      </p:sp>
      <p:sp>
        <p:nvSpPr>
          <p:cNvPr id="60419" name="Text Box 4">
            <a:extLst>
              <a:ext uri="{FF2B5EF4-FFF2-40B4-BE49-F238E27FC236}">
                <a16:creationId xmlns:a16="http://schemas.microsoft.com/office/drawing/2014/main" id="{031FDC51-C0A0-8AFB-E9AB-F9A6A9BADD39}"/>
              </a:ext>
            </a:extLst>
          </p:cNvPr>
          <p:cNvSpPr txBox="1">
            <a:spLocks noChangeArrowheads="1"/>
          </p:cNvSpPr>
          <p:nvPr/>
        </p:nvSpPr>
        <p:spPr bwMode="auto">
          <a:xfrm>
            <a:off x="2400300" y="389181"/>
            <a:ext cx="6743700" cy="4475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rgbClr val="008080"/>
              </a:buClr>
              <a:buSzPct val="70000"/>
              <a:buFont typeface="Wingdings" pitchFamily="2" charset="2"/>
              <a:buChar char="v"/>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ts val="2250"/>
              </a:lnSpc>
              <a:spcBef>
                <a:spcPct val="0"/>
              </a:spcBef>
            </a:pPr>
            <a:r>
              <a:rPr lang="zh-CN" altLang="zh-CN" sz="1800" dirty="0">
                <a:latin typeface="Microsoft YaHei" panose="020B0503020204020204" pitchFamily="34" charset="-122"/>
                <a:ea typeface="Microsoft YaHei" panose="020B0503020204020204" pitchFamily="34" charset="-122"/>
              </a:rPr>
              <a:t> </a:t>
            </a:r>
            <a:r>
              <a:rPr lang="zh-CN" altLang="zh-CN" sz="1500" dirty="0">
                <a:latin typeface="Microsoft YaHei" panose="020B0503020204020204" pitchFamily="34" charset="-122"/>
                <a:ea typeface="Microsoft YaHei" panose="020B0503020204020204" pitchFamily="34" charset="-122"/>
              </a:rPr>
              <a:t>假设在视图上执行下面的操作：</a:t>
            </a:r>
          </a:p>
          <a:p>
            <a:pPr>
              <a:lnSpc>
                <a:spcPts val="2250"/>
              </a:lnSpc>
              <a:spcBef>
                <a:spcPct val="0"/>
              </a:spcBef>
              <a:buClrTx/>
              <a:buSzTx/>
              <a:buNone/>
            </a:pPr>
            <a:r>
              <a:rPr lang="zh-CN" altLang="zh-CN" sz="1500" dirty="0">
                <a:latin typeface="Microsoft YaHei" panose="020B0503020204020204" pitchFamily="34" charset="-122"/>
                <a:ea typeface="Microsoft YaHei" panose="020B0503020204020204" pitchFamily="34" charset="-122"/>
              </a:rPr>
              <a:t>       DELETE FROM WorksIn</a:t>
            </a:r>
          </a:p>
          <a:p>
            <a:pPr>
              <a:lnSpc>
                <a:spcPts val="2250"/>
              </a:lnSpc>
              <a:spcBef>
                <a:spcPct val="0"/>
              </a:spcBef>
              <a:buClrTx/>
              <a:buSzTx/>
              <a:buNone/>
            </a:pPr>
            <a:r>
              <a:rPr lang="zh-CN" altLang="zh-CN" sz="1500" dirty="0">
                <a:latin typeface="Microsoft YaHei" panose="020B0503020204020204" pitchFamily="34" charset="-122"/>
                <a:ea typeface="Microsoft YaHei" panose="020B0503020204020204" pitchFamily="34" charset="-122"/>
              </a:rPr>
              <a:t>        WHERE eno=’11111111’</a:t>
            </a:r>
          </a:p>
          <a:p>
            <a:pPr>
              <a:lnSpc>
                <a:spcPts val="2250"/>
              </a:lnSpc>
              <a:spcBef>
                <a:spcPct val="0"/>
              </a:spcBef>
              <a:buClrTx/>
              <a:buSzTx/>
              <a:buNone/>
            </a:pPr>
            <a:r>
              <a:rPr lang="zh-CN" altLang="zh-CN" sz="1500" dirty="0">
                <a:latin typeface="Microsoft YaHei" panose="020B0503020204020204" pitchFamily="34" charset="-122"/>
                <a:ea typeface="Microsoft YaHei" panose="020B0503020204020204" pitchFamily="34" charset="-122"/>
              </a:rPr>
              <a:t>    该操作被转换为该视图基础表EMP和DEPT上相应的操作。但是可能会有多种转换：可以删除eno为11111111的雇员所在的部门；可以删除eno为11111111的雇员；可以将雇员元组中的dno字段置为NULL。</a:t>
            </a:r>
          </a:p>
          <a:p>
            <a:pPr>
              <a:lnSpc>
                <a:spcPts val="2250"/>
              </a:lnSpc>
              <a:spcBef>
                <a:spcPct val="0"/>
              </a:spcBef>
            </a:pPr>
            <a:r>
              <a:rPr lang="zh-CN" altLang="zh-CN" sz="1500" dirty="0">
                <a:latin typeface="Microsoft YaHei" panose="020B0503020204020204" pitchFamily="34" charset="-122"/>
                <a:ea typeface="Microsoft YaHei" panose="020B0503020204020204" pitchFamily="34" charset="-122"/>
              </a:rPr>
              <a:t> 无法自动决定这三种可能性中哪种是正确的。可以设计INSTEAD OF触发器来指定合适的动作。</a:t>
            </a:r>
          </a:p>
          <a:p>
            <a:pPr>
              <a:lnSpc>
                <a:spcPts val="2250"/>
              </a:lnSpc>
              <a:spcBef>
                <a:spcPct val="0"/>
              </a:spcBef>
              <a:buClrTx/>
              <a:buSzTx/>
              <a:buNone/>
            </a:pPr>
            <a:r>
              <a:rPr lang="zh-CN" altLang="zh-CN" sz="1500" dirty="0">
                <a:latin typeface="Microsoft YaHei" panose="020B0503020204020204" pitchFamily="34" charset="-122"/>
                <a:ea typeface="Microsoft YaHei" panose="020B0503020204020204" pitchFamily="34" charset="-122"/>
              </a:rPr>
              <a:t>如： CREATE TRIGGER WorksInTrigi</a:t>
            </a:r>
          </a:p>
          <a:p>
            <a:pPr>
              <a:lnSpc>
                <a:spcPts val="2250"/>
              </a:lnSpc>
              <a:spcBef>
                <a:spcPct val="0"/>
              </a:spcBef>
              <a:buClrTx/>
              <a:buSzTx/>
              <a:buNone/>
            </a:pPr>
            <a:r>
              <a:rPr lang="zh-CN" altLang="zh-CN" sz="1500" dirty="0">
                <a:latin typeface="Microsoft YaHei" panose="020B0503020204020204" pitchFamily="34" charset="-122"/>
                <a:ea typeface="Microsoft YaHei" panose="020B0503020204020204" pitchFamily="34" charset="-122"/>
              </a:rPr>
              <a:t>           INSTEAD OF DELETE ON </a:t>
            </a:r>
            <a:r>
              <a:rPr lang="zh-CN" altLang="zh-CN" sz="1500" dirty="0">
                <a:solidFill>
                  <a:srgbClr val="FF0000"/>
                </a:solidFill>
                <a:latin typeface="Microsoft YaHei" panose="020B0503020204020204" pitchFamily="34" charset="-122"/>
                <a:ea typeface="Microsoft YaHei" panose="020B0503020204020204" pitchFamily="34" charset="-122"/>
              </a:rPr>
              <a:t>WorksIn</a:t>
            </a:r>
          </a:p>
          <a:p>
            <a:pPr>
              <a:lnSpc>
                <a:spcPts val="2250"/>
              </a:lnSpc>
              <a:spcBef>
                <a:spcPct val="0"/>
              </a:spcBef>
              <a:buClrTx/>
              <a:buSzTx/>
              <a:buNone/>
            </a:pPr>
            <a:r>
              <a:rPr lang="zh-CN" altLang="zh-CN" sz="1500" dirty="0">
                <a:latin typeface="Microsoft YaHei" panose="020B0503020204020204" pitchFamily="34" charset="-122"/>
                <a:ea typeface="Microsoft YaHei" panose="020B0503020204020204" pitchFamily="34" charset="-122"/>
              </a:rPr>
              <a:t>           REFERENCING OLD AS O</a:t>
            </a:r>
          </a:p>
          <a:p>
            <a:pPr>
              <a:lnSpc>
                <a:spcPts val="2250"/>
              </a:lnSpc>
              <a:spcBef>
                <a:spcPct val="0"/>
              </a:spcBef>
              <a:buClrTx/>
              <a:buSzTx/>
              <a:buNone/>
            </a:pPr>
            <a:r>
              <a:rPr lang="zh-CN" altLang="zh-CN" sz="1500" dirty="0">
                <a:latin typeface="Microsoft YaHei" panose="020B0503020204020204" pitchFamily="34" charset="-122"/>
                <a:ea typeface="Microsoft YaHei" panose="020B0503020204020204" pitchFamily="34" charset="-122"/>
              </a:rPr>
              <a:t>           FOR EACH ROW</a:t>
            </a:r>
          </a:p>
          <a:p>
            <a:pPr>
              <a:lnSpc>
                <a:spcPts val="2250"/>
              </a:lnSpc>
              <a:spcBef>
                <a:spcPct val="0"/>
              </a:spcBef>
              <a:buClrTx/>
              <a:buSzTx/>
              <a:buNone/>
            </a:pPr>
            <a:r>
              <a:rPr lang="zh-CN" altLang="zh-CN" sz="1500" dirty="0">
                <a:solidFill>
                  <a:schemeClr val="hlink"/>
                </a:solidFill>
                <a:latin typeface="Microsoft YaHei" panose="020B0503020204020204" pitchFamily="34" charset="-122"/>
                <a:ea typeface="Microsoft YaHei" panose="020B0503020204020204" pitchFamily="34" charset="-122"/>
              </a:rPr>
              <a:t>                </a:t>
            </a:r>
            <a:r>
              <a:rPr lang="zh-CN" altLang="zh-CN" sz="1500" dirty="0">
                <a:latin typeface="Microsoft YaHei" panose="020B0503020204020204" pitchFamily="34" charset="-122"/>
                <a:ea typeface="Microsoft YaHei" panose="020B0503020204020204" pitchFamily="34" charset="-122"/>
              </a:rPr>
              <a:t>UPDATE </a:t>
            </a:r>
            <a:r>
              <a:rPr lang="zh-CN" altLang="zh-CN" sz="1500" dirty="0">
                <a:solidFill>
                  <a:srgbClr val="FF0000"/>
                </a:solidFill>
                <a:latin typeface="Microsoft YaHei" panose="020B0503020204020204" pitchFamily="34" charset="-122"/>
                <a:ea typeface="Microsoft YaHei" panose="020B0503020204020204" pitchFamily="34" charset="-122"/>
              </a:rPr>
              <a:t>EMP</a:t>
            </a:r>
          </a:p>
          <a:p>
            <a:pPr>
              <a:lnSpc>
                <a:spcPts val="2250"/>
              </a:lnSpc>
              <a:spcBef>
                <a:spcPct val="0"/>
              </a:spcBef>
              <a:buClrTx/>
              <a:buSzTx/>
              <a:buNone/>
            </a:pPr>
            <a:r>
              <a:rPr lang="zh-CN" altLang="zh-CN" sz="1500" dirty="0">
                <a:latin typeface="Microsoft YaHei" panose="020B0503020204020204" pitchFamily="34" charset="-122"/>
                <a:ea typeface="Microsoft YaHei" panose="020B0503020204020204" pitchFamily="34" charset="-122"/>
              </a:rPr>
              <a:t>                SET dno=NULL</a:t>
            </a:r>
          </a:p>
          <a:p>
            <a:pPr>
              <a:lnSpc>
                <a:spcPts val="2250"/>
              </a:lnSpc>
              <a:spcBef>
                <a:spcPct val="0"/>
              </a:spcBef>
              <a:buClrTx/>
              <a:buSzTx/>
              <a:buNone/>
            </a:pPr>
            <a:r>
              <a:rPr lang="zh-CN" altLang="zh-CN" sz="1500" dirty="0">
                <a:latin typeface="Microsoft YaHei" panose="020B0503020204020204" pitchFamily="34" charset="-122"/>
                <a:ea typeface="Microsoft YaHei" panose="020B0503020204020204" pitchFamily="34" charset="-122"/>
              </a:rPr>
              <a:t>                WHERE eno=O.eno</a:t>
            </a:r>
          </a:p>
        </p:txBody>
      </p:sp>
      <p:sp>
        <p:nvSpPr>
          <p:cNvPr id="3" name="标题 2">
            <a:extLst>
              <a:ext uri="{FF2B5EF4-FFF2-40B4-BE49-F238E27FC236}">
                <a16:creationId xmlns:a16="http://schemas.microsoft.com/office/drawing/2014/main" id="{E7149213-BF41-9669-8E5B-EF5D8B22E9CF}"/>
              </a:ext>
            </a:extLst>
          </p:cNvPr>
          <p:cNvSpPr>
            <a:spLocks noGrp="1"/>
          </p:cNvSpPr>
          <p:nvPr>
            <p:ph type="title"/>
          </p:nvPr>
        </p:nvSpPr>
        <p:spPr/>
        <p:txBody>
          <a:bodyPr/>
          <a:lstStyle/>
          <a:p>
            <a:r>
              <a:rPr lang="zh-CN" altLang="en-US" dirty="0"/>
              <a:t>替代触发器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EAD16-6E5F-7856-61FF-311750BDC7A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7F21FC2-8908-6D0C-68F2-D297FF688FB0}"/>
              </a:ext>
            </a:extLst>
          </p:cNvPr>
          <p:cNvSpPr txBox="1"/>
          <p:nvPr/>
        </p:nvSpPr>
        <p:spPr>
          <a:xfrm>
            <a:off x="1006545" y="2781596"/>
            <a:ext cx="7458075" cy="642035"/>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数据库</a:t>
            </a:r>
            <a:r>
              <a:rPr lang="en-US" altLang="zh-CN" sz="4346" b="1" dirty="0">
                <a:solidFill>
                  <a:srgbClr val="414141"/>
                </a:solidFill>
                <a:latin typeface="Microsoft YaHei" panose="020B0503020204020204" pitchFamily="34" charset="-122"/>
                <a:ea typeface="Microsoft YaHei" panose="020B0503020204020204" pitchFamily="34" charset="-122"/>
                <a:cs typeface="SourceHanSansSC-Regular"/>
              </a:rPr>
              <a:t>API</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E86B3717-B262-FADE-AF03-2EEC79CC5F64}"/>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8B16E666-EBB0-37F0-27FC-A475813C9485}"/>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9AB5ACB9-5906-2933-3C9D-51C23034C26F}"/>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9011D5C7-4A0B-B74A-6CBF-C0000AAB57AD}"/>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B95F5443-F576-1140-46D1-41DE4F57E1B8}"/>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8D787767-6F9B-403B-1613-2CB7D302A22F}"/>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9B41D65E-9212-4F27-5220-6296D87DB66A}"/>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768840BB-738A-89AA-00C9-07CE032E3E7E}"/>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94A587A0-24A4-D7D1-B6D0-7DA94511EBF7}"/>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797FC0BA-565A-4C27-F813-DB3CEBC1C352}"/>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8EB36B85-CABF-68F6-7F49-3EAC2B198DB1}"/>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3EA20D0F-3A54-D1C6-B76C-CD4C5131EDFC}"/>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A3E39862-39BC-D194-AC43-11A0F260A9FA}"/>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E4F1179C-0E6D-6EB8-2A60-8684B93EF704}"/>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2568E353-FBDE-4CF3-F266-68EB2D4A2C4E}"/>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2</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708123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9" name="Rectangle 3"/>
          <p:cNvSpPr>
            <a:spLocks noGrp="1" noChangeArrowheads="1"/>
          </p:cNvSpPr>
          <p:nvPr>
            <p:ph type="body" idx="1"/>
          </p:nvPr>
        </p:nvSpPr>
        <p:spPr>
          <a:xfrm>
            <a:off x="550190" y="1092631"/>
            <a:ext cx="8152108" cy="3642102"/>
          </a:xfrm>
        </p:spPr>
        <p:txBody>
          <a:bodyPr>
            <a:normAutofit/>
          </a:bodyPr>
          <a:lstStyle/>
          <a:p>
            <a:pPr>
              <a:lnSpc>
                <a:spcPct val="110000"/>
              </a:lnSpc>
              <a:spcBef>
                <a:spcPct val="10000"/>
              </a:spcBef>
            </a:pPr>
            <a:r>
              <a:rPr lang="zh-CN" altLang="en-US" sz="1800" b="1" dirty="0">
                <a:solidFill>
                  <a:srgbClr val="800000"/>
                </a:solidFill>
                <a:latin typeface="Arial" panose="020B0604020202020204" pitchFamily="34" charset="0"/>
                <a:cs typeface="Arial" panose="020B0604020202020204" pitchFamily="34" charset="0"/>
              </a:rPr>
              <a:t>指为支持</a:t>
            </a:r>
            <a:r>
              <a:rPr lang="en-US" altLang="zh-CN" sz="1800" b="1" dirty="0">
                <a:solidFill>
                  <a:srgbClr val="800000"/>
                </a:solidFill>
                <a:latin typeface="Arial" panose="020B0604020202020204" pitchFamily="34" charset="0"/>
                <a:cs typeface="Arial" panose="020B0604020202020204" pitchFamily="34" charset="0"/>
              </a:rPr>
              <a:t>DB</a:t>
            </a:r>
            <a:r>
              <a:rPr lang="zh-CN" altLang="en-US" sz="1800" b="1" dirty="0">
                <a:solidFill>
                  <a:srgbClr val="800000"/>
                </a:solidFill>
                <a:latin typeface="Arial" panose="020B0604020202020204" pitchFamily="34" charset="0"/>
                <a:cs typeface="Arial" panose="020B0604020202020204" pitchFamily="34" charset="0"/>
              </a:rPr>
              <a:t>应用开发而提供的各种标准应用程序编程接口</a:t>
            </a:r>
            <a:r>
              <a:rPr lang="zh-CN" altLang="en-US" sz="1800" dirty="0">
                <a:latin typeface="Arial" panose="020B0604020202020204" pitchFamily="34" charset="0"/>
                <a:cs typeface="Arial" panose="020B0604020202020204" pitchFamily="34" charset="0"/>
              </a:rPr>
              <a:t>。</a:t>
            </a:r>
            <a:endParaRPr lang="en-US" altLang="zh-CN" sz="1800" dirty="0">
              <a:latin typeface="Arial" panose="020B0604020202020204" pitchFamily="34" charset="0"/>
              <a:cs typeface="Arial" panose="020B0604020202020204" pitchFamily="34" charset="0"/>
            </a:endParaRPr>
          </a:p>
          <a:p>
            <a:pPr>
              <a:lnSpc>
                <a:spcPct val="110000"/>
              </a:lnSpc>
              <a:spcBef>
                <a:spcPct val="10000"/>
              </a:spcBef>
            </a:pPr>
            <a:r>
              <a:rPr lang="en-US" altLang="zh-CN" sz="1800" dirty="0">
                <a:solidFill>
                  <a:srgbClr val="0033CC"/>
                </a:solidFill>
                <a:latin typeface="Arial" panose="020B0604020202020204" pitchFamily="34" charset="0"/>
                <a:cs typeface="Arial" panose="020B0604020202020204" pitchFamily="34" charset="0"/>
              </a:rPr>
              <a:t>1.</a:t>
            </a:r>
            <a:r>
              <a:rPr lang="zh-CN" altLang="en-US" sz="1800" dirty="0">
                <a:solidFill>
                  <a:srgbClr val="0033CC"/>
                </a:solidFill>
                <a:latin typeface="Arial" panose="020B0604020202020204" pitchFamily="34" charset="0"/>
                <a:cs typeface="Arial" panose="020B0604020202020204" pitchFamily="34" charset="0"/>
              </a:rPr>
              <a:t>典型的数据库应用接口</a:t>
            </a:r>
            <a:endParaRPr lang="en-US" altLang="zh-CN" sz="1800" dirty="0">
              <a:solidFill>
                <a:srgbClr val="0033CC"/>
              </a:solidFill>
              <a:latin typeface="Arial" panose="020B0604020202020204" pitchFamily="34" charset="0"/>
              <a:cs typeface="Arial" panose="020B0604020202020204" pitchFamily="34" charset="0"/>
            </a:endParaRPr>
          </a:p>
          <a:p>
            <a:pPr>
              <a:lnSpc>
                <a:spcPct val="110000"/>
              </a:lnSpc>
              <a:spcBef>
                <a:spcPct val="10000"/>
              </a:spcBef>
            </a:pPr>
            <a:r>
              <a:rPr lang="en-US" altLang="zh-CN" sz="1800" dirty="0">
                <a:latin typeface="Arial" panose="020B0604020202020204" pitchFamily="34" charset="0"/>
                <a:cs typeface="Arial" panose="020B0604020202020204" pitchFamily="34" charset="0"/>
              </a:rPr>
              <a:t>(1) ODBC</a:t>
            </a:r>
            <a:r>
              <a:rPr lang="zh-CN" altLang="en-US" sz="1800" dirty="0">
                <a:latin typeface="Arial" panose="020B0604020202020204" pitchFamily="34" charset="0"/>
                <a:cs typeface="Arial" panose="020B0604020202020204" pitchFamily="34" charset="0"/>
              </a:rPr>
              <a:t>（开放式数据库互联）提供了一组对数据库访问的标准应用程序编程接口</a:t>
            </a:r>
            <a:r>
              <a:rPr lang="en-US" altLang="zh-CN" sz="1800" dirty="0">
                <a:latin typeface="Arial" panose="020B0604020202020204" pitchFamily="34" charset="0"/>
                <a:cs typeface="Arial" panose="020B0604020202020204" pitchFamily="34" charset="0"/>
              </a:rPr>
              <a:t>,</a:t>
            </a:r>
            <a:r>
              <a:rPr lang="zh-CN" altLang="en-US" sz="1800" dirty="0">
                <a:latin typeface="Arial" panose="020B0604020202020204" pitchFamily="34" charset="0"/>
                <a:cs typeface="Arial" panose="020B0604020202020204" pitchFamily="34" charset="0"/>
              </a:rPr>
              <a:t>使用户通过</a:t>
            </a:r>
            <a:r>
              <a:rPr lang="en-US" altLang="zh-CN" sz="1800" dirty="0">
                <a:latin typeface="Arial" panose="020B0604020202020204" pitchFamily="34" charset="0"/>
                <a:cs typeface="Arial" panose="020B0604020202020204" pitchFamily="34" charset="0"/>
              </a:rPr>
              <a:t>SQL</a:t>
            </a:r>
            <a:r>
              <a:rPr lang="zh-CN" altLang="en-US" sz="1800" dirty="0">
                <a:latin typeface="Arial" panose="020B0604020202020204" pitchFamily="34" charset="0"/>
                <a:cs typeface="Arial" panose="020B0604020202020204" pitchFamily="34" charset="0"/>
              </a:rPr>
              <a:t>可访问不同的关系数据库。</a:t>
            </a:r>
            <a:endParaRPr lang="en-US" altLang="zh-CN" sz="1800" dirty="0">
              <a:latin typeface="Arial" panose="020B0604020202020204" pitchFamily="34" charset="0"/>
              <a:cs typeface="Arial" panose="020B0604020202020204" pitchFamily="34" charset="0"/>
            </a:endParaRPr>
          </a:p>
          <a:p>
            <a:pPr>
              <a:lnSpc>
                <a:spcPct val="110000"/>
              </a:lnSpc>
              <a:spcBef>
                <a:spcPct val="10000"/>
              </a:spcBef>
            </a:pPr>
            <a:r>
              <a:rPr lang="en-US" altLang="zh-CN" sz="1800" dirty="0">
                <a:latin typeface="Arial" panose="020B0604020202020204" pitchFamily="34" charset="0"/>
                <a:cs typeface="Arial" panose="020B0604020202020204" pitchFamily="34" charset="0"/>
              </a:rPr>
              <a:t>(2) OLE (</a:t>
            </a:r>
            <a:r>
              <a:rPr lang="zh-CN" altLang="en-US" sz="1800" dirty="0">
                <a:latin typeface="Arial" panose="020B0604020202020204" pitchFamily="34" charset="0"/>
                <a:cs typeface="Arial" panose="020B0604020202020204" pitchFamily="34" charset="0"/>
              </a:rPr>
              <a:t>对象连接与嵌入数据库</a:t>
            </a:r>
            <a:r>
              <a:rPr lang="en-US" altLang="zh-CN" sz="1800" dirty="0">
                <a:latin typeface="Arial" panose="020B0604020202020204" pitchFamily="34" charset="0"/>
                <a:cs typeface="Arial" panose="020B0604020202020204" pitchFamily="34" charset="0"/>
              </a:rPr>
              <a:t>) </a:t>
            </a:r>
            <a:r>
              <a:rPr lang="zh-CN" altLang="en-US" sz="1800" dirty="0">
                <a:latin typeface="Arial" panose="020B0604020202020204" pitchFamily="34" charset="0"/>
                <a:cs typeface="Arial" panose="020B0604020202020204" pitchFamily="34" charset="0"/>
              </a:rPr>
              <a:t>建立于</a:t>
            </a:r>
            <a:r>
              <a:rPr lang="en-US" altLang="zh-CN" sz="1800" dirty="0">
                <a:latin typeface="Arial" panose="020B0604020202020204" pitchFamily="34" charset="0"/>
                <a:cs typeface="Arial" panose="020B0604020202020204" pitchFamily="34" charset="0"/>
              </a:rPr>
              <a:t> ODBC </a:t>
            </a:r>
            <a:r>
              <a:rPr lang="zh-CN" altLang="en-US" sz="1800" dirty="0">
                <a:latin typeface="Arial" panose="020B0604020202020204" pitchFamily="34" charset="0"/>
                <a:cs typeface="Arial" panose="020B0604020202020204" pitchFamily="34" charset="0"/>
              </a:rPr>
              <a:t>之上，并将此技术扩展为提供更高级数据访问接口的组件结构。</a:t>
            </a:r>
            <a:r>
              <a:rPr lang="en-US" altLang="zh-CN" sz="1800" dirty="0">
                <a:latin typeface="Arial" panose="020B0604020202020204" pitchFamily="34" charset="0"/>
                <a:cs typeface="Arial" panose="020B0604020202020204" pitchFamily="34" charset="0"/>
              </a:rPr>
              <a:t> </a:t>
            </a:r>
          </a:p>
          <a:p>
            <a:pPr>
              <a:lnSpc>
                <a:spcPct val="110000"/>
              </a:lnSpc>
              <a:spcBef>
                <a:spcPct val="10000"/>
              </a:spcBef>
            </a:pPr>
            <a:r>
              <a:rPr lang="en-US" altLang="zh-CN" sz="1800" dirty="0">
                <a:latin typeface="Arial" panose="020B0604020202020204" pitchFamily="34" charset="0"/>
                <a:cs typeface="Arial" panose="020B0604020202020204" pitchFamily="34" charset="0"/>
              </a:rPr>
              <a:t>(3) JDBC(Java</a:t>
            </a:r>
            <a:r>
              <a:rPr lang="zh-CN" altLang="en-US" sz="1800" dirty="0">
                <a:latin typeface="Arial" panose="020B0604020202020204" pitchFamily="34" charset="0"/>
                <a:cs typeface="Arial" panose="020B0604020202020204" pitchFamily="34" charset="0"/>
              </a:rPr>
              <a:t>数据库连接</a:t>
            </a:r>
            <a:r>
              <a:rPr lang="en-US" altLang="zh-CN" sz="1800" dirty="0">
                <a:latin typeface="Arial" panose="020B0604020202020204" pitchFamily="34" charset="0"/>
                <a:cs typeface="Arial" panose="020B0604020202020204" pitchFamily="34" charset="0"/>
              </a:rPr>
              <a:t>)</a:t>
            </a:r>
            <a:r>
              <a:rPr lang="zh-CN" altLang="en-US" sz="1800" dirty="0">
                <a:latin typeface="Arial" panose="020B0604020202020204" pitchFamily="34" charset="0"/>
                <a:cs typeface="Arial" panose="020B0604020202020204" pitchFamily="34" charset="0"/>
              </a:rPr>
              <a:t>是基于</a:t>
            </a:r>
            <a:r>
              <a:rPr lang="en-US" altLang="zh-CN" sz="1800" dirty="0">
                <a:latin typeface="Arial" panose="020B0604020202020204" pitchFamily="34" charset="0"/>
                <a:cs typeface="Arial" panose="020B0604020202020204" pitchFamily="34" charset="0"/>
              </a:rPr>
              <a:t>Java</a:t>
            </a:r>
            <a:r>
              <a:rPr lang="zh-CN" altLang="en-US" sz="1800" dirty="0">
                <a:latin typeface="Arial" panose="020B0604020202020204" pitchFamily="34" charset="0"/>
                <a:cs typeface="Arial" panose="020B0604020202020204" pitchFamily="34" charset="0"/>
              </a:rPr>
              <a:t>语言的数据访问接口，具有平台无关性。适合于</a:t>
            </a:r>
            <a:r>
              <a:rPr lang="en-US" altLang="zh-CN" sz="1800" dirty="0">
                <a:latin typeface="Arial" panose="020B0604020202020204" pitchFamily="34" charset="0"/>
                <a:cs typeface="Arial" panose="020B0604020202020204" pitchFamily="34" charset="0"/>
              </a:rPr>
              <a:t>Internet</a:t>
            </a:r>
            <a:r>
              <a:rPr lang="zh-CN" altLang="en-US" sz="1800" dirty="0">
                <a:latin typeface="Arial" panose="020B0604020202020204" pitchFamily="34" charset="0"/>
                <a:cs typeface="Arial" panose="020B0604020202020204" pitchFamily="34" charset="0"/>
              </a:rPr>
              <a:t>上异构环境的数据库应用。</a:t>
            </a:r>
            <a:endParaRPr lang="en-US" altLang="zh-CN" sz="1800" dirty="0">
              <a:latin typeface="Arial" panose="020B0604020202020204" pitchFamily="34" charset="0"/>
              <a:cs typeface="Arial" panose="020B0604020202020204" pitchFamily="34" charset="0"/>
            </a:endParaRPr>
          </a:p>
          <a:p>
            <a:pPr>
              <a:lnSpc>
                <a:spcPct val="110000"/>
              </a:lnSpc>
              <a:spcBef>
                <a:spcPct val="10000"/>
              </a:spcBef>
            </a:pPr>
            <a:r>
              <a:rPr lang="en-US" altLang="zh-CN" sz="1800" dirty="0">
                <a:latin typeface="Arial" panose="020B0604020202020204" pitchFamily="34" charset="0"/>
                <a:cs typeface="Arial" panose="020B0604020202020204" pitchFamily="34" charset="0"/>
              </a:rPr>
              <a:t>(4) ADO.NET </a:t>
            </a:r>
            <a:r>
              <a:rPr lang="zh-CN" altLang="en-US" sz="1800" dirty="0">
                <a:latin typeface="Arial" panose="020B0604020202020204" pitchFamily="34" charset="0"/>
                <a:cs typeface="Arial" panose="020B0604020202020204" pitchFamily="34" charset="0"/>
              </a:rPr>
              <a:t>是在微软</a:t>
            </a:r>
            <a:r>
              <a:rPr lang="en-US" altLang="zh-CN" sz="1800" dirty="0">
                <a:latin typeface="Arial" panose="020B0604020202020204" pitchFamily="34" charset="0"/>
                <a:cs typeface="Arial" panose="020B0604020202020204" pitchFamily="34" charset="0"/>
              </a:rPr>
              <a:t>.NET</a:t>
            </a:r>
            <a:r>
              <a:rPr lang="zh-CN" altLang="en-US" sz="1800" dirty="0">
                <a:latin typeface="Arial" panose="020B0604020202020204" pitchFamily="34" charset="0"/>
                <a:cs typeface="Arial" panose="020B0604020202020204" pitchFamily="34" charset="0"/>
              </a:rPr>
              <a:t>编程环境中优先使用的数据访问接口。提供了平台互用性和可伸缩的数据访问，功能强、易用、高效。</a:t>
            </a:r>
          </a:p>
        </p:txBody>
      </p:sp>
      <p:sp>
        <p:nvSpPr>
          <p:cNvPr id="3" name="标题 2">
            <a:extLst>
              <a:ext uri="{FF2B5EF4-FFF2-40B4-BE49-F238E27FC236}">
                <a16:creationId xmlns:a16="http://schemas.microsoft.com/office/drawing/2014/main" id="{A3F35A7A-EB64-16A0-0EBB-D2562080CBEB}"/>
              </a:ext>
            </a:extLst>
          </p:cNvPr>
          <p:cNvSpPr>
            <a:spLocks noGrp="1"/>
          </p:cNvSpPr>
          <p:nvPr>
            <p:ph type="title"/>
          </p:nvPr>
        </p:nvSpPr>
        <p:spPr/>
        <p:txBody>
          <a:bodyPr/>
          <a:lstStyle/>
          <a:p>
            <a:r>
              <a:rPr lang="zh-CN" altLang="en-US" dirty="0"/>
              <a:t>典型的</a:t>
            </a:r>
            <a:r>
              <a:rPr lang="en-US" altLang="zh-CN" dirty="0"/>
              <a:t>API</a:t>
            </a:r>
            <a:endParaRPr lang="zh-CN" altLang="en-US" dirty="0"/>
          </a:p>
        </p:txBody>
      </p:sp>
    </p:spTree>
    <p:extLst>
      <p:ext uri="{BB962C8B-B14F-4D97-AF65-F5344CB8AC3E}">
        <p14:creationId xmlns:p14="http://schemas.microsoft.com/office/powerpoint/2010/main" val="3358196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3" name="Text Box 3"/>
          <p:cNvSpPr txBox="1">
            <a:spLocks noChangeArrowheads="1"/>
          </p:cNvSpPr>
          <p:nvPr/>
        </p:nvSpPr>
        <p:spPr bwMode="auto">
          <a:xfrm>
            <a:off x="4077892" y="1793262"/>
            <a:ext cx="1344215" cy="377429"/>
          </a:xfrm>
          <a:prstGeom prst="rect">
            <a:avLst/>
          </a:prstGeom>
          <a:noFill/>
          <a:ln>
            <a:noFill/>
          </a:ln>
          <a:effectLst/>
          <a:extLst>
            <a:ext uri="{909E8E84-426E-40dd-AFC4-6F175D3DCCD1}">
              <a14:hiddenFill xmlns="" xmlns:a14="http://schemas.microsoft.com/office/drawing/2010/main">
                <a:solidFill>
                  <a:srgbClr val="00E4A8"/>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80006" tIns="40003" rIns="80006" bIns="40003"/>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en-US" altLang="zh-CN" sz="1725">
                <a:solidFill>
                  <a:schemeClr val="hlink"/>
                </a:solidFill>
                <a:latin typeface="Arial" panose="020B0604020202020204" pitchFamily="34" charset="0"/>
                <a:ea typeface="Microsoft YaHei" panose="020B0503020204020204" pitchFamily="34" charset="-122"/>
                <a:cs typeface="Arial" panose="020B0604020202020204" pitchFamily="34" charset="0"/>
              </a:rPr>
              <a:t>ODBC API</a:t>
            </a:r>
          </a:p>
        </p:txBody>
      </p:sp>
      <p:grpSp>
        <p:nvGrpSpPr>
          <p:cNvPr id="450564" name="Group 4"/>
          <p:cNvGrpSpPr>
            <a:grpSpLocks/>
          </p:cNvGrpSpPr>
          <p:nvPr/>
        </p:nvGrpSpPr>
        <p:grpSpPr bwMode="auto">
          <a:xfrm>
            <a:off x="1166519" y="1377944"/>
            <a:ext cx="4041493" cy="3244459"/>
            <a:chOff x="0" y="1165"/>
            <a:chExt cx="2970" cy="2271"/>
          </a:xfrm>
        </p:grpSpPr>
        <p:sp>
          <p:nvSpPr>
            <p:cNvPr id="450565" name="Text Box 5"/>
            <p:cNvSpPr txBox="1">
              <a:spLocks noChangeArrowheads="1"/>
            </p:cNvSpPr>
            <p:nvPr/>
          </p:nvSpPr>
          <p:spPr bwMode="auto">
            <a:xfrm>
              <a:off x="126" y="2707"/>
              <a:ext cx="889" cy="383"/>
            </a:xfrm>
            <a:prstGeom prst="rect">
              <a:avLst/>
            </a:prstGeom>
            <a:solidFill>
              <a:srgbClr val="FF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5749" tIns="9449" rIns="15749"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ctr"/>
              <a:r>
                <a:rPr lang="en-US" altLang="zh-CN" sz="1725">
                  <a:solidFill>
                    <a:srgbClr val="000000"/>
                  </a:solidFill>
                  <a:latin typeface="Arial" panose="020B0604020202020204" pitchFamily="34" charset="0"/>
                  <a:ea typeface="Microsoft YaHei" panose="020B0503020204020204" pitchFamily="34" charset="-122"/>
                  <a:cs typeface="Arial" panose="020B0604020202020204" pitchFamily="34" charset="0"/>
                </a:rPr>
                <a:t>SQL Server</a:t>
              </a:r>
            </a:p>
            <a:p>
              <a:pPr algn="ctr"/>
              <a:r>
                <a:rPr lang="zh-CN" altLang="en-US" sz="1725">
                  <a:solidFill>
                    <a:srgbClr val="000000"/>
                  </a:solidFill>
                  <a:latin typeface="Arial" panose="020B0604020202020204" pitchFamily="34" charset="0"/>
                  <a:ea typeface="Microsoft YaHei" panose="020B0503020204020204" pitchFamily="34" charset="-122"/>
                  <a:cs typeface="Arial" panose="020B0604020202020204" pitchFamily="34" charset="0"/>
                </a:rPr>
                <a:t>数据源</a:t>
              </a:r>
              <a:endParaRPr lang="zh-CN" altLang="en-US" sz="1725">
                <a:latin typeface="Arial" panose="020B0604020202020204" pitchFamily="34" charset="0"/>
                <a:ea typeface="Microsoft YaHei" panose="020B0503020204020204" pitchFamily="34" charset="-122"/>
                <a:cs typeface="Arial" panose="020B0604020202020204" pitchFamily="34" charset="0"/>
              </a:endParaRPr>
            </a:p>
          </p:txBody>
        </p:sp>
        <p:sp>
          <p:nvSpPr>
            <p:cNvPr id="450566" name="Text Box 6"/>
            <p:cNvSpPr txBox="1">
              <a:spLocks noChangeArrowheads="1"/>
            </p:cNvSpPr>
            <p:nvPr/>
          </p:nvSpPr>
          <p:spPr bwMode="auto">
            <a:xfrm>
              <a:off x="1114" y="2707"/>
              <a:ext cx="593" cy="383"/>
            </a:xfrm>
            <a:prstGeom prst="rect">
              <a:avLst/>
            </a:prstGeom>
            <a:solidFill>
              <a:srgbClr val="FF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5749" tIns="9449" rIns="15749"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ctr"/>
              <a:r>
                <a:rPr lang="en-US" altLang="zh-CN" sz="1725">
                  <a:solidFill>
                    <a:srgbClr val="000000"/>
                  </a:solidFill>
                  <a:latin typeface="Arial" panose="020B0604020202020204" pitchFamily="34" charset="0"/>
                  <a:ea typeface="Microsoft YaHei" panose="020B0503020204020204" pitchFamily="34" charset="-122"/>
                  <a:cs typeface="Arial" panose="020B0604020202020204" pitchFamily="34" charset="0"/>
                </a:rPr>
                <a:t>Oracle</a:t>
              </a:r>
            </a:p>
            <a:p>
              <a:pPr algn="ctr"/>
              <a:r>
                <a:rPr lang="zh-CN" altLang="en-US" sz="1725">
                  <a:solidFill>
                    <a:srgbClr val="000000"/>
                  </a:solidFill>
                  <a:latin typeface="Arial" panose="020B0604020202020204" pitchFamily="34" charset="0"/>
                  <a:ea typeface="Microsoft YaHei" panose="020B0503020204020204" pitchFamily="34" charset="-122"/>
                  <a:cs typeface="Arial" panose="020B0604020202020204" pitchFamily="34" charset="0"/>
                </a:rPr>
                <a:t>数据源</a:t>
              </a:r>
              <a:endParaRPr lang="zh-CN" altLang="en-US" sz="1725">
                <a:latin typeface="Arial" panose="020B0604020202020204" pitchFamily="34" charset="0"/>
                <a:ea typeface="Microsoft YaHei" panose="020B0503020204020204" pitchFamily="34" charset="-122"/>
                <a:cs typeface="Arial" panose="020B0604020202020204" pitchFamily="34" charset="0"/>
              </a:endParaRPr>
            </a:p>
          </p:txBody>
        </p:sp>
        <p:sp>
          <p:nvSpPr>
            <p:cNvPr id="450567" name="Text Box 7"/>
            <p:cNvSpPr txBox="1">
              <a:spLocks noChangeArrowheads="1"/>
            </p:cNvSpPr>
            <p:nvPr/>
          </p:nvSpPr>
          <p:spPr bwMode="auto">
            <a:xfrm>
              <a:off x="2112" y="2707"/>
              <a:ext cx="593" cy="383"/>
            </a:xfrm>
            <a:prstGeom prst="rect">
              <a:avLst/>
            </a:prstGeom>
            <a:solidFill>
              <a:srgbClr val="FF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5749" tIns="9449" rIns="15749"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ctr"/>
              <a:r>
                <a:rPr lang="en-US" altLang="zh-CN" sz="1725">
                  <a:solidFill>
                    <a:srgbClr val="000000"/>
                  </a:solidFill>
                  <a:latin typeface="Arial" panose="020B0604020202020204" pitchFamily="34" charset="0"/>
                  <a:ea typeface="Microsoft YaHei" panose="020B0503020204020204" pitchFamily="34" charset="-122"/>
                  <a:cs typeface="Arial" panose="020B0604020202020204" pitchFamily="34" charset="0"/>
                </a:rPr>
                <a:t>DB2</a:t>
              </a:r>
            </a:p>
            <a:p>
              <a:pPr algn="ctr"/>
              <a:r>
                <a:rPr lang="zh-CN" altLang="en-US" sz="1725">
                  <a:solidFill>
                    <a:srgbClr val="000000"/>
                  </a:solidFill>
                  <a:latin typeface="Arial" panose="020B0604020202020204" pitchFamily="34" charset="0"/>
                  <a:ea typeface="Microsoft YaHei" panose="020B0503020204020204" pitchFamily="34" charset="-122"/>
                  <a:cs typeface="Arial" panose="020B0604020202020204" pitchFamily="34" charset="0"/>
                </a:rPr>
                <a:t>数据源</a:t>
              </a:r>
              <a:endParaRPr lang="zh-CN" altLang="en-US" sz="1725">
                <a:latin typeface="Arial" panose="020B0604020202020204" pitchFamily="34" charset="0"/>
                <a:ea typeface="Microsoft YaHei" panose="020B0503020204020204" pitchFamily="34" charset="-122"/>
                <a:cs typeface="Arial" panose="020B0604020202020204" pitchFamily="34" charset="0"/>
              </a:endParaRPr>
            </a:p>
          </p:txBody>
        </p:sp>
        <p:grpSp>
          <p:nvGrpSpPr>
            <p:cNvPr id="450568" name="Group 8"/>
            <p:cNvGrpSpPr>
              <a:grpSpLocks/>
            </p:cNvGrpSpPr>
            <p:nvPr/>
          </p:nvGrpSpPr>
          <p:grpSpPr bwMode="auto">
            <a:xfrm>
              <a:off x="314" y="3091"/>
              <a:ext cx="395" cy="336"/>
              <a:chOff x="528" y="2527"/>
              <a:chExt cx="192" cy="257"/>
            </a:xfrm>
          </p:grpSpPr>
          <p:sp>
            <p:nvSpPr>
              <p:cNvPr id="450569" name="AutoShape 9"/>
              <p:cNvSpPr>
                <a:spLocks noChangeArrowheads="1"/>
              </p:cNvSpPr>
              <p:nvPr/>
            </p:nvSpPr>
            <p:spPr bwMode="auto">
              <a:xfrm>
                <a:off x="528" y="2592"/>
                <a:ext cx="192" cy="192"/>
              </a:xfrm>
              <a:prstGeom prst="can">
                <a:avLst>
                  <a:gd name="adj" fmla="val 25000"/>
                </a:avLst>
              </a:prstGeom>
              <a:solidFill>
                <a:srgbClr val="FF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80006" tIns="40003" rIns="80006" bIns="40003" anchor="ctr"/>
              <a:lstStyle/>
              <a:p>
                <a:pPr defTabSz="800100"/>
                <a:r>
                  <a:rPr lang="en-US" altLang="zh-CN" sz="1725">
                    <a:solidFill>
                      <a:srgbClr val="000000"/>
                    </a:solidFill>
                    <a:latin typeface="Arial" panose="020B0604020202020204" pitchFamily="34" charset="0"/>
                    <a:ea typeface="Microsoft YaHei" panose="020B0503020204020204" pitchFamily="34" charset="-122"/>
                    <a:cs typeface="Arial" panose="020B0604020202020204" pitchFamily="34" charset="0"/>
                  </a:rPr>
                  <a:t>DB</a:t>
                </a:r>
                <a:endParaRPr lang="en-US" altLang="zh-CN" sz="1725">
                  <a:latin typeface="Arial" panose="020B0604020202020204" pitchFamily="34" charset="0"/>
                  <a:ea typeface="Microsoft YaHei" panose="020B0503020204020204" pitchFamily="34" charset="-122"/>
                  <a:cs typeface="Arial" panose="020B0604020202020204" pitchFamily="34" charset="0"/>
                </a:endParaRPr>
              </a:p>
            </p:txBody>
          </p:sp>
          <p:sp>
            <p:nvSpPr>
              <p:cNvPr id="450570" name="Line 10"/>
              <p:cNvSpPr>
                <a:spLocks noChangeShapeType="1"/>
              </p:cNvSpPr>
              <p:nvPr/>
            </p:nvSpPr>
            <p:spPr bwMode="auto">
              <a:xfrm>
                <a:off x="624" y="2527"/>
                <a:ext cx="0" cy="65"/>
              </a:xfrm>
              <a:prstGeom prst="line">
                <a:avLst/>
              </a:prstGeom>
              <a:noFill/>
              <a:ln w="9525">
                <a:solidFill>
                  <a:srgbClr val="000000"/>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grpSp>
          <p:nvGrpSpPr>
            <p:cNvPr id="450571" name="Group 11"/>
            <p:cNvGrpSpPr>
              <a:grpSpLocks/>
            </p:cNvGrpSpPr>
            <p:nvPr/>
          </p:nvGrpSpPr>
          <p:grpSpPr bwMode="auto">
            <a:xfrm>
              <a:off x="1203" y="3094"/>
              <a:ext cx="395" cy="342"/>
              <a:chOff x="528" y="2523"/>
              <a:chExt cx="192" cy="261"/>
            </a:xfrm>
          </p:grpSpPr>
          <p:sp>
            <p:nvSpPr>
              <p:cNvPr id="450572" name="AutoShape 12"/>
              <p:cNvSpPr>
                <a:spLocks noChangeArrowheads="1"/>
              </p:cNvSpPr>
              <p:nvPr/>
            </p:nvSpPr>
            <p:spPr bwMode="auto">
              <a:xfrm>
                <a:off x="528" y="2592"/>
                <a:ext cx="192" cy="192"/>
              </a:xfrm>
              <a:prstGeom prst="can">
                <a:avLst>
                  <a:gd name="adj" fmla="val 25000"/>
                </a:avLst>
              </a:prstGeom>
              <a:solidFill>
                <a:srgbClr val="FF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80006" tIns="40003" rIns="80006" bIns="40003" anchor="ctr"/>
              <a:lstStyle/>
              <a:p>
                <a:pPr defTabSz="800100"/>
                <a:r>
                  <a:rPr lang="en-US" altLang="zh-CN" sz="1725">
                    <a:solidFill>
                      <a:srgbClr val="000000"/>
                    </a:solidFill>
                    <a:latin typeface="Arial" panose="020B0604020202020204" pitchFamily="34" charset="0"/>
                    <a:ea typeface="Microsoft YaHei" panose="020B0503020204020204" pitchFamily="34" charset="-122"/>
                    <a:cs typeface="Arial" panose="020B0604020202020204" pitchFamily="34" charset="0"/>
                  </a:rPr>
                  <a:t>DB</a:t>
                </a:r>
                <a:endParaRPr lang="en-US" altLang="zh-CN" sz="1725">
                  <a:latin typeface="Arial" panose="020B0604020202020204" pitchFamily="34" charset="0"/>
                  <a:ea typeface="Microsoft YaHei" panose="020B0503020204020204" pitchFamily="34" charset="-122"/>
                  <a:cs typeface="Arial" panose="020B0604020202020204" pitchFamily="34" charset="0"/>
                </a:endParaRPr>
              </a:p>
            </p:txBody>
          </p:sp>
          <p:sp>
            <p:nvSpPr>
              <p:cNvPr id="450573" name="Line 13"/>
              <p:cNvSpPr>
                <a:spLocks noChangeShapeType="1"/>
              </p:cNvSpPr>
              <p:nvPr/>
            </p:nvSpPr>
            <p:spPr bwMode="auto">
              <a:xfrm>
                <a:off x="624" y="2523"/>
                <a:ext cx="0" cy="69"/>
              </a:xfrm>
              <a:prstGeom prst="line">
                <a:avLst/>
              </a:prstGeom>
              <a:noFill/>
              <a:ln w="9525">
                <a:solidFill>
                  <a:srgbClr val="000000"/>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grpSp>
          <p:nvGrpSpPr>
            <p:cNvPr id="450574" name="Group 14"/>
            <p:cNvGrpSpPr>
              <a:grpSpLocks/>
            </p:cNvGrpSpPr>
            <p:nvPr/>
          </p:nvGrpSpPr>
          <p:grpSpPr bwMode="auto">
            <a:xfrm>
              <a:off x="2211" y="3095"/>
              <a:ext cx="395" cy="329"/>
              <a:chOff x="528" y="2495"/>
              <a:chExt cx="192" cy="252"/>
            </a:xfrm>
          </p:grpSpPr>
          <p:sp>
            <p:nvSpPr>
              <p:cNvPr id="450575" name="AutoShape 15"/>
              <p:cNvSpPr>
                <a:spLocks noChangeArrowheads="1"/>
              </p:cNvSpPr>
              <p:nvPr/>
            </p:nvSpPr>
            <p:spPr bwMode="auto">
              <a:xfrm>
                <a:off x="528" y="2555"/>
                <a:ext cx="192" cy="192"/>
              </a:xfrm>
              <a:prstGeom prst="can">
                <a:avLst>
                  <a:gd name="adj" fmla="val 25000"/>
                </a:avLst>
              </a:prstGeom>
              <a:solidFill>
                <a:srgbClr val="FF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80006" tIns="40003" rIns="80006" bIns="40003" anchor="ctr"/>
              <a:lstStyle/>
              <a:p>
                <a:pPr defTabSz="800100"/>
                <a:r>
                  <a:rPr lang="en-US" altLang="zh-CN" sz="1725">
                    <a:solidFill>
                      <a:srgbClr val="000000"/>
                    </a:solidFill>
                    <a:latin typeface="Arial" panose="020B0604020202020204" pitchFamily="34" charset="0"/>
                    <a:ea typeface="Microsoft YaHei" panose="020B0503020204020204" pitchFamily="34" charset="-122"/>
                    <a:cs typeface="Arial" panose="020B0604020202020204" pitchFamily="34" charset="0"/>
                  </a:rPr>
                  <a:t>DB</a:t>
                </a:r>
                <a:endParaRPr lang="en-US" altLang="zh-CN" sz="1725">
                  <a:latin typeface="Arial" panose="020B0604020202020204" pitchFamily="34" charset="0"/>
                  <a:ea typeface="Microsoft YaHei" panose="020B0503020204020204" pitchFamily="34" charset="-122"/>
                  <a:cs typeface="Arial" panose="020B0604020202020204" pitchFamily="34" charset="0"/>
                </a:endParaRPr>
              </a:p>
            </p:txBody>
          </p:sp>
          <p:sp>
            <p:nvSpPr>
              <p:cNvPr id="450576" name="Line 16"/>
              <p:cNvSpPr>
                <a:spLocks noChangeShapeType="1"/>
              </p:cNvSpPr>
              <p:nvPr/>
            </p:nvSpPr>
            <p:spPr bwMode="auto">
              <a:xfrm>
                <a:off x="624" y="2495"/>
                <a:ext cx="0" cy="56"/>
              </a:xfrm>
              <a:prstGeom prst="line">
                <a:avLst/>
              </a:prstGeom>
              <a:noFill/>
              <a:ln w="9525">
                <a:solidFill>
                  <a:srgbClr val="000000"/>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sp>
          <p:nvSpPr>
            <p:cNvPr id="450577" name="Text Box 17"/>
            <p:cNvSpPr txBox="1">
              <a:spLocks noChangeArrowheads="1"/>
            </p:cNvSpPr>
            <p:nvPr/>
          </p:nvSpPr>
          <p:spPr bwMode="auto">
            <a:xfrm>
              <a:off x="116" y="1999"/>
              <a:ext cx="889" cy="383"/>
            </a:xfrm>
            <a:prstGeom prst="rect">
              <a:avLst/>
            </a:prstGeom>
            <a:solidFill>
              <a:srgbClr val="CC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5749" tIns="9449" rIns="15749"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ctr"/>
              <a:r>
                <a:rPr lang="en-US" altLang="zh-CN" sz="1725" dirty="0">
                  <a:solidFill>
                    <a:srgbClr val="000000"/>
                  </a:solidFill>
                  <a:latin typeface="Arial" panose="020B0604020202020204" pitchFamily="34" charset="0"/>
                  <a:ea typeface="Microsoft YaHei" panose="020B0503020204020204" pitchFamily="34" charset="-122"/>
                  <a:cs typeface="Arial" panose="020B0604020202020204" pitchFamily="34" charset="0"/>
                </a:rPr>
                <a:t>SQL Server</a:t>
              </a:r>
            </a:p>
            <a:p>
              <a:pPr algn="ctr"/>
              <a:r>
                <a:rPr lang="zh-CN" altLang="en-US" sz="1725" dirty="0">
                  <a:solidFill>
                    <a:srgbClr val="000000"/>
                  </a:solidFill>
                  <a:latin typeface="Arial" panose="020B0604020202020204" pitchFamily="34" charset="0"/>
                  <a:ea typeface="Microsoft YaHei" panose="020B0503020204020204" pitchFamily="34" charset="-122"/>
                  <a:cs typeface="Arial" panose="020B0604020202020204" pitchFamily="34" charset="0"/>
                </a:rPr>
                <a:t>驱动程序</a:t>
              </a:r>
              <a:endParaRPr lang="zh-CN" altLang="en-US" sz="1725" dirty="0">
                <a:latin typeface="Arial" panose="020B0604020202020204" pitchFamily="34" charset="0"/>
                <a:ea typeface="Microsoft YaHei" panose="020B0503020204020204" pitchFamily="34" charset="-122"/>
                <a:cs typeface="Arial" panose="020B0604020202020204" pitchFamily="34" charset="0"/>
              </a:endParaRPr>
            </a:p>
          </p:txBody>
        </p:sp>
        <p:sp>
          <p:nvSpPr>
            <p:cNvPr id="450578" name="Text Box 18"/>
            <p:cNvSpPr txBox="1">
              <a:spLocks noChangeArrowheads="1"/>
            </p:cNvSpPr>
            <p:nvPr/>
          </p:nvSpPr>
          <p:spPr bwMode="auto">
            <a:xfrm>
              <a:off x="1005" y="1999"/>
              <a:ext cx="791" cy="383"/>
            </a:xfrm>
            <a:prstGeom prst="rect">
              <a:avLst/>
            </a:prstGeom>
            <a:solidFill>
              <a:srgbClr val="CC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5749" tIns="9449" rIns="15749"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ctr"/>
              <a:r>
                <a:rPr lang="en-US" altLang="zh-CN" sz="1725">
                  <a:solidFill>
                    <a:srgbClr val="000000"/>
                  </a:solidFill>
                  <a:latin typeface="Arial" panose="020B0604020202020204" pitchFamily="34" charset="0"/>
                  <a:ea typeface="Microsoft YaHei" panose="020B0503020204020204" pitchFamily="34" charset="-122"/>
                  <a:cs typeface="Arial" panose="020B0604020202020204" pitchFamily="34" charset="0"/>
                </a:rPr>
                <a:t>Oracle</a:t>
              </a:r>
            </a:p>
            <a:p>
              <a:pPr algn="ctr"/>
              <a:r>
                <a:rPr lang="zh-CN" altLang="en-US" sz="1725">
                  <a:solidFill>
                    <a:srgbClr val="000000"/>
                  </a:solidFill>
                  <a:latin typeface="Arial" panose="020B0604020202020204" pitchFamily="34" charset="0"/>
                  <a:ea typeface="Microsoft YaHei" panose="020B0503020204020204" pitchFamily="34" charset="-122"/>
                  <a:cs typeface="Arial" panose="020B0604020202020204" pitchFamily="34" charset="0"/>
                </a:rPr>
                <a:t>驱动程序</a:t>
              </a:r>
              <a:endParaRPr lang="zh-CN" altLang="en-US" sz="1725">
                <a:latin typeface="Arial" panose="020B0604020202020204" pitchFamily="34" charset="0"/>
                <a:ea typeface="Microsoft YaHei" panose="020B0503020204020204" pitchFamily="34" charset="-122"/>
                <a:cs typeface="Arial" panose="020B0604020202020204" pitchFamily="34" charset="0"/>
              </a:endParaRPr>
            </a:p>
          </p:txBody>
        </p:sp>
        <p:sp>
          <p:nvSpPr>
            <p:cNvPr id="450579" name="Text Box 19"/>
            <p:cNvSpPr txBox="1">
              <a:spLocks noChangeArrowheads="1"/>
            </p:cNvSpPr>
            <p:nvPr/>
          </p:nvSpPr>
          <p:spPr bwMode="auto">
            <a:xfrm>
              <a:off x="1796" y="1999"/>
              <a:ext cx="452" cy="383"/>
            </a:xfrm>
            <a:prstGeom prst="rect">
              <a:avLst/>
            </a:prstGeom>
            <a:solidFill>
              <a:srgbClr val="CC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5749" tIns="9449" rIns="15749"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r>
                <a:rPr lang="en-US" altLang="zh-CN" sz="1725">
                  <a:latin typeface="Arial" panose="020B0604020202020204" pitchFamily="34" charset="0"/>
                  <a:ea typeface="Microsoft YaHei" panose="020B0503020204020204" pitchFamily="34" charset="-122"/>
                  <a:cs typeface="Arial" panose="020B0604020202020204" pitchFamily="34" charset="0"/>
                </a:rPr>
                <a:t>…</a:t>
              </a:r>
            </a:p>
          </p:txBody>
        </p:sp>
        <p:sp>
          <p:nvSpPr>
            <p:cNvPr id="450580" name="Text Box 20"/>
            <p:cNvSpPr txBox="1">
              <a:spLocks noChangeArrowheads="1"/>
            </p:cNvSpPr>
            <p:nvPr/>
          </p:nvSpPr>
          <p:spPr bwMode="auto">
            <a:xfrm>
              <a:off x="2236" y="1998"/>
              <a:ext cx="691" cy="383"/>
            </a:xfrm>
            <a:prstGeom prst="rect">
              <a:avLst/>
            </a:prstGeom>
            <a:solidFill>
              <a:srgbClr val="CC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5749" tIns="9449" rIns="15749"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ctr"/>
              <a:r>
                <a:rPr lang="en-US" altLang="zh-CN" sz="1725" dirty="0">
                  <a:solidFill>
                    <a:srgbClr val="000000"/>
                  </a:solidFill>
                  <a:latin typeface="Arial" panose="020B0604020202020204" pitchFamily="34" charset="0"/>
                  <a:ea typeface="Microsoft YaHei" panose="020B0503020204020204" pitchFamily="34" charset="-122"/>
                  <a:cs typeface="Arial" panose="020B0604020202020204" pitchFamily="34" charset="0"/>
                </a:rPr>
                <a:t>DB2</a:t>
              </a:r>
            </a:p>
            <a:p>
              <a:pPr algn="ctr"/>
              <a:r>
                <a:rPr lang="zh-CN" altLang="en-US" sz="1725" dirty="0">
                  <a:solidFill>
                    <a:srgbClr val="000000"/>
                  </a:solidFill>
                  <a:latin typeface="Arial" panose="020B0604020202020204" pitchFamily="34" charset="0"/>
                  <a:ea typeface="Microsoft YaHei" panose="020B0503020204020204" pitchFamily="34" charset="-122"/>
                  <a:cs typeface="Arial" panose="020B0604020202020204" pitchFamily="34" charset="0"/>
                </a:rPr>
                <a:t>驱动程序</a:t>
              </a:r>
              <a:endParaRPr lang="zh-CN" altLang="en-US" sz="1725" dirty="0">
                <a:latin typeface="Arial" panose="020B0604020202020204" pitchFamily="34" charset="0"/>
                <a:ea typeface="Microsoft YaHei" panose="020B0503020204020204" pitchFamily="34" charset="-122"/>
                <a:cs typeface="Arial" panose="020B0604020202020204" pitchFamily="34" charset="0"/>
              </a:endParaRPr>
            </a:p>
          </p:txBody>
        </p:sp>
        <p:sp>
          <p:nvSpPr>
            <p:cNvPr id="450581" name="Line 21"/>
            <p:cNvSpPr>
              <a:spLocks noChangeShapeType="1"/>
            </p:cNvSpPr>
            <p:nvPr/>
          </p:nvSpPr>
          <p:spPr bwMode="auto">
            <a:xfrm>
              <a:off x="512" y="2393"/>
              <a:ext cx="98" cy="310"/>
            </a:xfrm>
            <a:prstGeom prst="line">
              <a:avLst/>
            </a:prstGeom>
            <a:noFill/>
            <a:ln w="28575">
              <a:solidFill>
                <a:srgbClr val="0000FF"/>
              </a:solidFill>
              <a:miter lim="800000"/>
              <a:headEnd/>
              <a:tailEnd type="stealth"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0582" name="Text Box 22"/>
            <p:cNvSpPr txBox="1">
              <a:spLocks noChangeArrowheads="1"/>
            </p:cNvSpPr>
            <p:nvPr/>
          </p:nvSpPr>
          <p:spPr bwMode="auto">
            <a:xfrm>
              <a:off x="116" y="1709"/>
              <a:ext cx="2812" cy="275"/>
            </a:xfrm>
            <a:prstGeom prst="rect">
              <a:avLst/>
            </a:prstGeom>
            <a:solidFill>
              <a:srgbClr val="FFCC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80006" tIns="40003" rIns="80006" bIns="40003"/>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ctr"/>
              <a:r>
                <a:rPr lang="zh-CN" altLang="en-US" sz="2100" dirty="0">
                  <a:solidFill>
                    <a:srgbClr val="000000"/>
                  </a:solidFill>
                  <a:latin typeface="Arial" panose="020B0604020202020204" pitchFamily="34" charset="0"/>
                  <a:ea typeface="Microsoft YaHei" panose="020B0503020204020204" pitchFamily="34" charset="-122"/>
                  <a:cs typeface="Arial" panose="020B0604020202020204" pitchFamily="34" charset="0"/>
                </a:rPr>
                <a:t>驱动程序管理器</a:t>
              </a:r>
              <a:endParaRPr lang="zh-CN" altLang="en-US" sz="2100" dirty="0">
                <a:latin typeface="Arial" panose="020B0604020202020204" pitchFamily="34" charset="0"/>
                <a:ea typeface="Microsoft YaHei" panose="020B0503020204020204" pitchFamily="34" charset="-122"/>
                <a:cs typeface="Arial" panose="020B0604020202020204" pitchFamily="34" charset="0"/>
              </a:endParaRPr>
            </a:p>
          </p:txBody>
        </p:sp>
        <p:sp>
          <p:nvSpPr>
            <p:cNvPr id="450583" name="Line 23"/>
            <p:cNvSpPr>
              <a:spLocks noChangeShapeType="1"/>
            </p:cNvSpPr>
            <p:nvPr/>
          </p:nvSpPr>
          <p:spPr bwMode="auto">
            <a:xfrm>
              <a:off x="1401" y="2393"/>
              <a:ext cx="0" cy="310"/>
            </a:xfrm>
            <a:prstGeom prst="line">
              <a:avLst/>
            </a:prstGeom>
            <a:noFill/>
            <a:ln w="28575">
              <a:solidFill>
                <a:srgbClr val="0000FF"/>
              </a:solidFill>
              <a:miter lim="800000"/>
              <a:headEnd/>
              <a:tailEnd type="stealth"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0584" name="Line 24"/>
            <p:cNvSpPr>
              <a:spLocks noChangeShapeType="1"/>
            </p:cNvSpPr>
            <p:nvPr/>
          </p:nvSpPr>
          <p:spPr bwMode="auto">
            <a:xfrm flipH="1">
              <a:off x="2408" y="2393"/>
              <a:ext cx="162" cy="310"/>
            </a:xfrm>
            <a:prstGeom prst="line">
              <a:avLst/>
            </a:prstGeom>
            <a:noFill/>
            <a:ln w="28575">
              <a:solidFill>
                <a:srgbClr val="0000FF"/>
              </a:solidFill>
              <a:miter lim="800000"/>
              <a:headEnd/>
              <a:tailEnd type="stealth"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0585" name="Text Box 25"/>
            <p:cNvSpPr txBox="1">
              <a:spLocks noChangeArrowheads="1"/>
            </p:cNvSpPr>
            <p:nvPr/>
          </p:nvSpPr>
          <p:spPr bwMode="auto">
            <a:xfrm>
              <a:off x="0" y="1165"/>
              <a:ext cx="791" cy="194"/>
            </a:xfrm>
            <a:prstGeom prst="rect">
              <a:avLst/>
            </a:prstGeom>
            <a:solidFill>
              <a:srgbClr val="CC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5749" tIns="9449" rIns="15749"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zh-CN" altLang="en-US" sz="1725">
                  <a:solidFill>
                    <a:srgbClr val="000000"/>
                  </a:solidFill>
                  <a:latin typeface="Arial" panose="020B0604020202020204" pitchFamily="34" charset="0"/>
                  <a:ea typeface="Microsoft YaHei" panose="020B0503020204020204" pitchFamily="34" charset="-122"/>
                  <a:cs typeface="Arial" panose="020B0604020202020204" pitchFamily="34" charset="0"/>
                </a:rPr>
                <a:t>应用程序</a:t>
              </a:r>
              <a:r>
                <a:rPr lang="en-US" altLang="zh-CN" sz="1725">
                  <a:solidFill>
                    <a:srgbClr val="000000"/>
                  </a:solidFill>
                  <a:latin typeface="Arial" panose="020B0604020202020204" pitchFamily="34" charset="0"/>
                  <a:ea typeface="Microsoft YaHei" panose="020B0503020204020204" pitchFamily="34" charset="-122"/>
                  <a:cs typeface="Arial" panose="020B0604020202020204" pitchFamily="34" charset="0"/>
                </a:rPr>
                <a:t>1</a:t>
              </a:r>
              <a:endParaRPr lang="en-US" altLang="zh-CN" sz="1725">
                <a:latin typeface="Arial" panose="020B0604020202020204" pitchFamily="34" charset="0"/>
                <a:ea typeface="Microsoft YaHei" panose="020B0503020204020204" pitchFamily="34" charset="-122"/>
                <a:cs typeface="Arial" panose="020B0604020202020204" pitchFamily="34" charset="0"/>
              </a:endParaRPr>
            </a:p>
          </p:txBody>
        </p:sp>
        <p:sp>
          <p:nvSpPr>
            <p:cNvPr id="450586" name="Text Box 26"/>
            <p:cNvSpPr txBox="1">
              <a:spLocks noChangeArrowheads="1"/>
            </p:cNvSpPr>
            <p:nvPr/>
          </p:nvSpPr>
          <p:spPr bwMode="auto">
            <a:xfrm>
              <a:off x="988" y="1165"/>
              <a:ext cx="791" cy="194"/>
            </a:xfrm>
            <a:prstGeom prst="rect">
              <a:avLst/>
            </a:prstGeom>
            <a:solidFill>
              <a:srgbClr val="CC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5749" tIns="9449" rIns="15749"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zh-CN" altLang="en-US" sz="1725">
                  <a:solidFill>
                    <a:srgbClr val="000000"/>
                  </a:solidFill>
                  <a:latin typeface="Arial" panose="020B0604020202020204" pitchFamily="34" charset="0"/>
                  <a:ea typeface="Microsoft YaHei" panose="020B0503020204020204" pitchFamily="34" charset="-122"/>
                  <a:cs typeface="Arial" panose="020B0604020202020204" pitchFamily="34" charset="0"/>
                </a:rPr>
                <a:t>应用程序</a:t>
              </a:r>
              <a:r>
                <a:rPr lang="en-US" altLang="zh-CN" sz="1725">
                  <a:solidFill>
                    <a:srgbClr val="000000"/>
                  </a:solidFill>
                  <a:latin typeface="Arial" panose="020B0604020202020204" pitchFamily="34" charset="0"/>
                  <a:ea typeface="Microsoft YaHei" panose="020B0503020204020204" pitchFamily="34" charset="-122"/>
                  <a:cs typeface="Arial" panose="020B0604020202020204" pitchFamily="34" charset="0"/>
                </a:rPr>
                <a:t>2</a:t>
              </a:r>
              <a:endParaRPr lang="en-US" altLang="zh-CN" sz="1725">
                <a:latin typeface="Arial" panose="020B0604020202020204" pitchFamily="34" charset="0"/>
                <a:ea typeface="Microsoft YaHei" panose="020B0503020204020204" pitchFamily="34" charset="-122"/>
                <a:cs typeface="Arial" panose="020B0604020202020204" pitchFamily="34" charset="0"/>
              </a:endParaRPr>
            </a:p>
          </p:txBody>
        </p:sp>
        <p:sp>
          <p:nvSpPr>
            <p:cNvPr id="450587" name="Text Box 27"/>
            <p:cNvSpPr txBox="1">
              <a:spLocks noChangeArrowheads="1"/>
            </p:cNvSpPr>
            <p:nvPr/>
          </p:nvSpPr>
          <p:spPr bwMode="auto">
            <a:xfrm>
              <a:off x="1976" y="1165"/>
              <a:ext cx="790" cy="194"/>
            </a:xfrm>
            <a:prstGeom prst="rect">
              <a:avLst/>
            </a:prstGeom>
            <a:solidFill>
              <a:srgbClr val="CC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5749" tIns="9449" rIns="15749"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zh-CN" altLang="en-US" sz="1725">
                  <a:solidFill>
                    <a:srgbClr val="000000"/>
                  </a:solidFill>
                  <a:latin typeface="Arial" panose="020B0604020202020204" pitchFamily="34" charset="0"/>
                  <a:ea typeface="Microsoft YaHei" panose="020B0503020204020204" pitchFamily="34" charset="-122"/>
                  <a:cs typeface="Arial" panose="020B0604020202020204" pitchFamily="34" charset="0"/>
                </a:rPr>
                <a:t>应用程序</a:t>
              </a:r>
              <a:r>
                <a:rPr lang="en-US" altLang="zh-CN" sz="1725">
                  <a:solidFill>
                    <a:srgbClr val="000000"/>
                  </a:solidFill>
                  <a:latin typeface="Arial" panose="020B0604020202020204" pitchFamily="34" charset="0"/>
                  <a:ea typeface="Microsoft YaHei" panose="020B0503020204020204" pitchFamily="34" charset="-122"/>
                  <a:cs typeface="Arial" panose="020B0604020202020204" pitchFamily="34" charset="0"/>
                </a:rPr>
                <a:t>n</a:t>
              </a:r>
              <a:endParaRPr lang="en-US" altLang="zh-CN" sz="1725">
                <a:latin typeface="Arial" panose="020B0604020202020204" pitchFamily="34" charset="0"/>
                <a:ea typeface="Microsoft YaHei" panose="020B0503020204020204" pitchFamily="34" charset="-122"/>
                <a:cs typeface="Arial" panose="020B0604020202020204" pitchFamily="34" charset="0"/>
              </a:endParaRPr>
            </a:p>
          </p:txBody>
        </p:sp>
        <p:sp>
          <p:nvSpPr>
            <p:cNvPr id="450588" name="Text Box 28"/>
            <p:cNvSpPr txBox="1">
              <a:spLocks noChangeArrowheads="1"/>
            </p:cNvSpPr>
            <p:nvPr/>
          </p:nvSpPr>
          <p:spPr bwMode="auto">
            <a:xfrm>
              <a:off x="1794" y="1165"/>
              <a:ext cx="396" cy="183"/>
            </a:xfrm>
            <a:prstGeom prst="rect">
              <a:avLst/>
            </a:prstGeom>
            <a:noFill/>
            <a:ln>
              <a:noFill/>
            </a:ln>
            <a:effectLst/>
            <a:extLst>
              <a:ext uri="{909E8E84-426E-40dd-AFC4-6F175D3DCCD1}">
                <a14:hiddenFill xmlns="" xmlns:a14="http://schemas.microsoft.com/office/drawing/2010/main">
                  <a:solidFill>
                    <a:srgbClr val="00E4A8"/>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5749" tIns="9449" rIns="15749"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en-US" altLang="zh-CN" sz="1725">
                  <a:solidFill>
                    <a:srgbClr val="000000"/>
                  </a:solidFill>
                  <a:latin typeface="Arial" panose="020B0604020202020204" pitchFamily="34" charset="0"/>
                  <a:ea typeface="Microsoft YaHei" panose="020B0503020204020204" pitchFamily="34" charset="-122"/>
                  <a:cs typeface="Arial" panose="020B0604020202020204" pitchFamily="34" charset="0"/>
                </a:rPr>
                <a:t>…</a:t>
              </a:r>
              <a:endParaRPr lang="en-US" altLang="zh-CN" sz="1725">
                <a:latin typeface="Arial" panose="020B0604020202020204" pitchFamily="34" charset="0"/>
                <a:ea typeface="Microsoft YaHei" panose="020B0503020204020204" pitchFamily="34" charset="-122"/>
                <a:cs typeface="Arial" panose="020B0604020202020204" pitchFamily="34" charset="0"/>
              </a:endParaRPr>
            </a:p>
          </p:txBody>
        </p:sp>
        <p:sp>
          <p:nvSpPr>
            <p:cNvPr id="450589" name="Line 29"/>
            <p:cNvSpPr>
              <a:spLocks noChangeShapeType="1"/>
            </p:cNvSpPr>
            <p:nvPr/>
          </p:nvSpPr>
          <p:spPr bwMode="auto">
            <a:xfrm>
              <a:off x="409" y="1365"/>
              <a:ext cx="606" cy="181"/>
            </a:xfrm>
            <a:prstGeom prst="line">
              <a:avLst/>
            </a:prstGeom>
            <a:noFill/>
            <a:ln w="28575">
              <a:solidFill>
                <a:srgbClr val="008080"/>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0590" name="Line 30"/>
            <p:cNvSpPr>
              <a:spLocks noChangeShapeType="1"/>
            </p:cNvSpPr>
            <p:nvPr/>
          </p:nvSpPr>
          <p:spPr bwMode="auto">
            <a:xfrm flipH="1">
              <a:off x="1384" y="1359"/>
              <a:ext cx="17" cy="181"/>
            </a:xfrm>
            <a:prstGeom prst="line">
              <a:avLst/>
            </a:prstGeom>
            <a:noFill/>
            <a:ln w="28575">
              <a:solidFill>
                <a:srgbClr val="008080"/>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0591" name="Line 31"/>
            <p:cNvSpPr>
              <a:spLocks noChangeShapeType="1"/>
            </p:cNvSpPr>
            <p:nvPr/>
          </p:nvSpPr>
          <p:spPr bwMode="auto">
            <a:xfrm flipV="1">
              <a:off x="1707" y="1356"/>
              <a:ext cx="269" cy="181"/>
            </a:xfrm>
            <a:prstGeom prst="line">
              <a:avLst/>
            </a:prstGeom>
            <a:noFill/>
            <a:ln w="28575">
              <a:solidFill>
                <a:srgbClr val="008080"/>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0592" name="Line 32"/>
            <p:cNvSpPr>
              <a:spLocks noChangeShapeType="1"/>
            </p:cNvSpPr>
            <p:nvPr/>
          </p:nvSpPr>
          <p:spPr bwMode="auto">
            <a:xfrm>
              <a:off x="297" y="1573"/>
              <a:ext cx="1860" cy="0"/>
            </a:xfrm>
            <a:prstGeom prst="line">
              <a:avLst/>
            </a:prstGeom>
            <a:noFill/>
            <a:ln w="76200" cmpd="tri">
              <a:solidFill>
                <a:srgbClr val="0000FF"/>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0593" name="AutoShape 33"/>
            <p:cNvSpPr>
              <a:spLocks noChangeArrowheads="1"/>
            </p:cNvSpPr>
            <p:nvPr/>
          </p:nvSpPr>
          <p:spPr bwMode="auto">
            <a:xfrm>
              <a:off x="1250" y="1573"/>
              <a:ext cx="198" cy="176"/>
            </a:xfrm>
            <a:prstGeom prst="downArrow">
              <a:avLst>
                <a:gd name="adj1" fmla="val 50000"/>
                <a:gd name="adj2" fmla="val 25000"/>
              </a:avLst>
            </a:prstGeom>
            <a:solidFill>
              <a:srgbClr val="C4C7C3"/>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anchor="ctr"/>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0594" name="Line 34"/>
            <p:cNvSpPr>
              <a:spLocks noChangeShapeType="1"/>
            </p:cNvSpPr>
            <p:nvPr/>
          </p:nvSpPr>
          <p:spPr bwMode="auto">
            <a:xfrm flipV="1">
              <a:off x="71" y="2521"/>
              <a:ext cx="2899" cy="0"/>
            </a:xfrm>
            <a:prstGeom prst="line">
              <a:avLst/>
            </a:prstGeom>
            <a:noFill/>
            <a:ln w="57150">
              <a:solidFill>
                <a:schemeClr val="hlink"/>
              </a:solidFill>
              <a:prstDash val="sysDot"/>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sp>
        <p:nvSpPr>
          <p:cNvPr id="450595" name="AutoShape 35"/>
          <p:cNvSpPr>
            <a:spLocks noChangeArrowheads="1"/>
          </p:cNvSpPr>
          <p:nvPr/>
        </p:nvSpPr>
        <p:spPr bwMode="auto">
          <a:xfrm>
            <a:off x="5554468" y="515618"/>
            <a:ext cx="3058715" cy="646509"/>
          </a:xfrm>
          <a:prstGeom prst="wedgeRoundRectCallout">
            <a:avLst>
              <a:gd name="adj1" fmla="val -60581"/>
              <a:gd name="adj2" fmla="val 170906"/>
              <a:gd name="adj3" fmla="val 16667"/>
            </a:avLst>
          </a:prstGeom>
          <a:solidFill>
            <a:srgbClr val="FFFFCC"/>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68566" tIns="34283" rIns="68566" bIns="34283"/>
          <a:lstStyle/>
          <a:p>
            <a:pPr algn="l"/>
            <a:r>
              <a:rPr lang="en-US" altLang="zh-CN" sz="1725">
                <a:solidFill>
                  <a:srgbClr val="0000FF"/>
                </a:solidFill>
                <a:latin typeface="Arial" panose="020B0604020202020204" pitchFamily="34" charset="0"/>
                <a:ea typeface="Microsoft YaHei" panose="020B0503020204020204" pitchFamily="34" charset="-122"/>
                <a:cs typeface="Arial" panose="020B0604020202020204" pitchFamily="34" charset="0"/>
              </a:rPr>
              <a:t>ODBC</a:t>
            </a:r>
            <a:r>
              <a:rPr lang="zh-CN" altLang="en-US" sz="1725">
                <a:solidFill>
                  <a:srgbClr val="0000FF"/>
                </a:solidFill>
                <a:latin typeface="Arial" panose="020B0604020202020204" pitchFamily="34" charset="0"/>
                <a:ea typeface="Microsoft YaHei" panose="020B0503020204020204" pitchFamily="34" charset="-122"/>
                <a:cs typeface="Arial" panose="020B0604020202020204" pitchFamily="34" charset="0"/>
              </a:rPr>
              <a:t>应用程序层接口</a:t>
            </a:r>
            <a:r>
              <a:rPr lang="en-US" altLang="zh-CN" sz="1725">
                <a:solidFill>
                  <a:srgbClr val="0000FF"/>
                </a:solidFill>
                <a:latin typeface="Arial" panose="020B0604020202020204" pitchFamily="34" charset="0"/>
                <a:ea typeface="Microsoft YaHei" panose="020B0503020204020204" pitchFamily="34" charset="-122"/>
                <a:cs typeface="Arial" panose="020B0604020202020204" pitchFamily="34" charset="0"/>
              </a:rPr>
              <a:t>:</a:t>
            </a:r>
            <a:r>
              <a:rPr lang="zh-CN" altLang="en-US" sz="1725">
                <a:latin typeface="Arial" panose="020B0604020202020204" pitchFamily="34" charset="0"/>
                <a:ea typeface="Microsoft YaHei" panose="020B0503020204020204" pitchFamily="34" charset="-122"/>
                <a:cs typeface="Arial" panose="020B0604020202020204" pitchFamily="34" charset="0"/>
              </a:rPr>
              <a:t>供</a:t>
            </a:r>
            <a:r>
              <a:rPr lang="en-US" altLang="zh-CN" sz="1725">
                <a:latin typeface="Arial" panose="020B0604020202020204" pitchFamily="34" charset="0"/>
                <a:ea typeface="Microsoft YaHei" panose="020B0503020204020204" pitchFamily="34" charset="-122"/>
                <a:cs typeface="Arial" panose="020B0604020202020204" pitchFamily="34" charset="0"/>
              </a:rPr>
              <a:t>DB</a:t>
            </a:r>
            <a:r>
              <a:rPr lang="zh-CN" altLang="en-US" sz="1725">
                <a:latin typeface="Arial" panose="020B0604020202020204" pitchFamily="34" charset="0"/>
                <a:ea typeface="Microsoft YaHei" panose="020B0503020204020204" pitchFamily="34" charset="-122"/>
                <a:cs typeface="Arial" panose="020B0604020202020204" pitchFamily="34" charset="0"/>
              </a:rPr>
              <a:t>应用程序开发人员使用。</a:t>
            </a:r>
          </a:p>
        </p:txBody>
      </p:sp>
      <p:sp>
        <p:nvSpPr>
          <p:cNvPr id="450596" name="AutoShape 36"/>
          <p:cNvSpPr>
            <a:spLocks noChangeArrowheads="1"/>
          </p:cNvSpPr>
          <p:nvPr/>
        </p:nvSpPr>
        <p:spPr bwMode="auto">
          <a:xfrm>
            <a:off x="5645796" y="2238480"/>
            <a:ext cx="2688431" cy="1165622"/>
          </a:xfrm>
          <a:prstGeom prst="wedgeRoundRectCallout">
            <a:avLst>
              <a:gd name="adj1" fmla="val -68359"/>
              <a:gd name="adj2" fmla="val 3444"/>
              <a:gd name="adj3" fmla="val 16667"/>
            </a:avLst>
          </a:prstGeom>
          <a:solidFill>
            <a:srgbClr val="FFFFCC"/>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0" tIns="0" rIns="0" bIns="0"/>
          <a:lstStyle/>
          <a:p>
            <a:pPr algn="l"/>
            <a:r>
              <a:rPr lang="zh-CN" altLang="en-US" sz="1725" dirty="0">
                <a:latin typeface="Arial" panose="020B0604020202020204" pitchFamily="34" charset="0"/>
                <a:ea typeface="Microsoft YaHei" panose="020B0503020204020204" pitchFamily="34" charset="-122"/>
                <a:cs typeface="Arial" panose="020B0604020202020204" pitchFamily="34" charset="0"/>
              </a:rPr>
              <a:t>由各个</a:t>
            </a:r>
            <a:r>
              <a:rPr lang="en-US" altLang="zh-CN" sz="1725" dirty="0">
                <a:latin typeface="Arial" panose="020B0604020202020204" pitchFamily="34" charset="0"/>
                <a:ea typeface="Microsoft YaHei" panose="020B0503020204020204" pitchFamily="34" charset="-122"/>
                <a:cs typeface="Arial" panose="020B0604020202020204" pitchFamily="34" charset="0"/>
              </a:rPr>
              <a:t>DB</a:t>
            </a:r>
            <a:r>
              <a:rPr lang="zh-CN" altLang="en-US" sz="1725" dirty="0">
                <a:latin typeface="Arial" panose="020B0604020202020204" pitchFamily="34" charset="0"/>
                <a:ea typeface="Microsoft YaHei" panose="020B0503020204020204" pitchFamily="34" charset="-122"/>
                <a:cs typeface="Arial" panose="020B0604020202020204" pitchFamily="34" charset="0"/>
              </a:rPr>
              <a:t>厂商提供。</a:t>
            </a:r>
            <a:endParaRPr lang="en-US" altLang="zh-CN" sz="1725" dirty="0">
              <a:latin typeface="Arial" panose="020B0604020202020204" pitchFamily="34" charset="0"/>
              <a:ea typeface="Microsoft YaHei" panose="020B0503020204020204" pitchFamily="34" charset="-122"/>
              <a:cs typeface="Arial" panose="020B0604020202020204" pitchFamily="34" charset="0"/>
            </a:endParaRPr>
          </a:p>
          <a:p>
            <a:pPr algn="l"/>
            <a:r>
              <a:rPr lang="zh-CN" altLang="en-US" sz="1725" dirty="0">
                <a:latin typeface="Arial" panose="020B0604020202020204" pitchFamily="34" charset="0"/>
                <a:ea typeface="Microsoft YaHei" panose="020B0503020204020204" pitchFamily="34" charset="-122"/>
                <a:cs typeface="Arial" panose="020B0604020202020204" pitchFamily="34" charset="0"/>
              </a:rPr>
              <a:t>它提供对具体</a:t>
            </a:r>
            <a:r>
              <a:rPr lang="en-US" altLang="zh-CN" sz="1725" dirty="0">
                <a:latin typeface="Arial" panose="020B0604020202020204" pitchFamily="34" charset="0"/>
                <a:ea typeface="Microsoft YaHei" panose="020B0503020204020204" pitchFamily="34" charset="-122"/>
                <a:cs typeface="Arial" panose="020B0604020202020204" pitchFamily="34" charset="0"/>
              </a:rPr>
              <a:t>DB</a:t>
            </a:r>
            <a:r>
              <a:rPr lang="zh-CN" altLang="en-US" sz="1725" dirty="0">
                <a:latin typeface="Arial" panose="020B0604020202020204" pitchFamily="34" charset="0"/>
                <a:ea typeface="Microsoft YaHei" panose="020B0503020204020204" pitchFamily="34" charset="-122"/>
                <a:cs typeface="Arial" panose="020B0604020202020204" pitchFamily="34" charset="0"/>
              </a:rPr>
              <a:t>操作接口，是应用程序对各数据源发出操作的实际执行者</a:t>
            </a:r>
          </a:p>
        </p:txBody>
      </p:sp>
      <p:sp>
        <p:nvSpPr>
          <p:cNvPr id="450597" name="Rectangle 37"/>
          <p:cNvSpPr>
            <a:spLocks noChangeArrowheads="1"/>
          </p:cNvSpPr>
          <p:nvPr/>
        </p:nvSpPr>
        <p:spPr bwMode="auto">
          <a:xfrm>
            <a:off x="186185" y="945747"/>
            <a:ext cx="4065012" cy="4321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b"/>
          <a:lstStyle/>
          <a:p>
            <a:pPr algn="l"/>
            <a:r>
              <a:rPr lang="en-US" altLang="zh-CN" sz="2100" dirty="0">
                <a:latin typeface="Arial" panose="020B0604020202020204" pitchFamily="34" charset="0"/>
                <a:ea typeface="Microsoft YaHei" panose="020B0503020204020204" pitchFamily="34" charset="-122"/>
                <a:cs typeface="Arial" panose="020B0604020202020204" pitchFamily="34" charset="0"/>
              </a:rPr>
              <a:t>(1)ODBC</a:t>
            </a:r>
            <a:r>
              <a:rPr lang="zh-CN" altLang="en-US" sz="2100" dirty="0">
                <a:latin typeface="Arial" panose="020B0604020202020204" pitchFamily="34" charset="0"/>
                <a:ea typeface="Microsoft YaHei" panose="020B0503020204020204" pitchFamily="34" charset="-122"/>
                <a:cs typeface="Arial" panose="020B0604020202020204" pitchFamily="34" charset="0"/>
              </a:rPr>
              <a:t>应用系统的体系结构：</a:t>
            </a:r>
          </a:p>
        </p:txBody>
      </p:sp>
      <p:sp>
        <p:nvSpPr>
          <p:cNvPr id="3" name="标题 2">
            <a:extLst>
              <a:ext uri="{FF2B5EF4-FFF2-40B4-BE49-F238E27FC236}">
                <a16:creationId xmlns:a16="http://schemas.microsoft.com/office/drawing/2014/main" id="{965B7886-D5F6-6CF6-05E7-00B45B9CC447}"/>
              </a:ext>
            </a:extLst>
          </p:cNvPr>
          <p:cNvSpPr>
            <a:spLocks noGrp="1"/>
          </p:cNvSpPr>
          <p:nvPr>
            <p:ph type="title"/>
          </p:nvPr>
        </p:nvSpPr>
        <p:spPr/>
        <p:txBody>
          <a:bodyPr/>
          <a:lstStyle/>
          <a:p>
            <a:r>
              <a:rPr lang="zh-CN" altLang="en-US" dirty="0"/>
              <a:t>开放式接口</a:t>
            </a:r>
            <a:r>
              <a:rPr lang="en-US" altLang="zh-CN" dirty="0"/>
              <a:t>--</a:t>
            </a:r>
            <a:r>
              <a:rPr lang="en" altLang="zh-CN" dirty="0"/>
              <a:t>ODBC</a:t>
            </a:r>
            <a:endParaRPr lang="zh-CN" altLang="en-US" dirty="0"/>
          </a:p>
        </p:txBody>
      </p:sp>
    </p:spTree>
    <p:extLst>
      <p:ext uri="{BB962C8B-B14F-4D97-AF65-F5344CB8AC3E}">
        <p14:creationId xmlns:p14="http://schemas.microsoft.com/office/powerpoint/2010/main" val="748327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7" name="Rectangle 3"/>
          <p:cNvSpPr>
            <a:spLocks noGrp="1" noChangeArrowheads="1"/>
          </p:cNvSpPr>
          <p:nvPr>
            <p:ph type="body" idx="1"/>
          </p:nvPr>
        </p:nvSpPr>
        <p:spPr>
          <a:xfrm>
            <a:off x="385254" y="1036422"/>
            <a:ext cx="2088526" cy="369192"/>
          </a:xfrm>
        </p:spPr>
        <p:txBody>
          <a:bodyPr>
            <a:normAutofit fontScale="92500" lnSpcReduction="10000"/>
          </a:bodyPr>
          <a:lstStyle/>
          <a:p>
            <a:pPr marL="0" indent="0">
              <a:buNone/>
            </a:pPr>
            <a:r>
              <a:rPr lang="en-US" altLang="zh-CN" sz="2400">
                <a:latin typeface="Arial" panose="020B0604020202020204" pitchFamily="34" charset="0"/>
                <a:cs typeface="Arial" panose="020B0604020202020204" pitchFamily="34" charset="0"/>
              </a:rPr>
              <a:t>(2)</a:t>
            </a:r>
            <a:r>
              <a:rPr lang="zh-CN" altLang="en-US" sz="2400">
                <a:latin typeface="Arial" panose="020B0604020202020204" pitchFamily="34" charset="0"/>
                <a:cs typeface="Arial" panose="020B0604020202020204" pitchFamily="34" charset="0"/>
              </a:rPr>
              <a:t>连接过程：</a:t>
            </a:r>
          </a:p>
        </p:txBody>
      </p:sp>
      <p:sp>
        <p:nvSpPr>
          <p:cNvPr id="451588" name="Rectangle 4"/>
          <p:cNvSpPr>
            <a:spLocks noChangeArrowheads="1"/>
          </p:cNvSpPr>
          <p:nvPr/>
        </p:nvSpPr>
        <p:spPr bwMode="auto">
          <a:xfrm>
            <a:off x="1143000" y="3349229"/>
            <a:ext cx="2380060" cy="142517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68566" tIns="34283" rIns="68566" bIns="34283"/>
          <a:lstStyle/>
          <a:p>
            <a:pPr marL="257175" indent="-257175">
              <a:spcBef>
                <a:spcPct val="20000"/>
              </a:spcBef>
              <a:buClr>
                <a:schemeClr val="folHlink"/>
              </a:buClr>
              <a:buSzPct val="60000"/>
              <a:buFont typeface="Wingdings" charset="0"/>
              <a:buChar char="n"/>
            </a:pPr>
            <a:r>
              <a:rPr lang="zh-CN" altLang="en-US" sz="2100" dirty="0">
                <a:solidFill>
                  <a:srgbClr val="6600CC"/>
                </a:solidFill>
                <a:latin typeface="Arial" panose="020B0604020202020204" pitchFamily="34" charset="0"/>
                <a:ea typeface="Microsoft YaHei" panose="020B0503020204020204" pitchFamily="34" charset="-122"/>
                <a:cs typeface="Arial" panose="020B0604020202020204" pitchFamily="34" charset="0"/>
              </a:rPr>
              <a:t>常用</a:t>
            </a:r>
            <a:r>
              <a:rPr lang="en-US" altLang="zh-CN" sz="2100" dirty="0">
                <a:solidFill>
                  <a:srgbClr val="6600CC"/>
                </a:solidFill>
                <a:latin typeface="Arial" panose="020B0604020202020204" pitchFamily="34" charset="0"/>
                <a:ea typeface="Microsoft YaHei" panose="020B0503020204020204" pitchFamily="34" charset="-122"/>
                <a:cs typeface="Arial" panose="020B0604020202020204" pitchFamily="34" charset="0"/>
              </a:rPr>
              <a:t>: </a:t>
            </a:r>
          </a:p>
          <a:p>
            <a:pPr marL="257175" indent="-257175">
              <a:spcBef>
                <a:spcPct val="20000"/>
              </a:spcBef>
              <a:buClr>
                <a:schemeClr val="folHlink"/>
              </a:buClr>
              <a:buSzPct val="60000"/>
              <a:buFont typeface="Wingdings" charset="0"/>
              <a:buChar char="n"/>
            </a:pPr>
            <a:r>
              <a:rPr lang="en-US" altLang="zh-CN" sz="2100" dirty="0">
                <a:latin typeface="Arial" panose="020B0604020202020204" pitchFamily="34" charset="0"/>
                <a:ea typeface="Microsoft YaHei" panose="020B0503020204020204" pitchFamily="34" charset="-122"/>
                <a:cs typeface="Arial" panose="020B0604020202020204" pitchFamily="34" charset="0"/>
              </a:rPr>
              <a:t>MFC</a:t>
            </a:r>
            <a:r>
              <a:rPr lang="zh-CN" altLang="en-US" sz="2100" dirty="0">
                <a:latin typeface="Arial" panose="020B0604020202020204" pitchFamily="34" charset="0"/>
                <a:ea typeface="Microsoft YaHei" panose="020B0503020204020204" pitchFamily="34" charset="-122"/>
                <a:cs typeface="Arial" panose="020B0604020202020204" pitchFamily="34" charset="0"/>
              </a:rPr>
              <a:t>的</a:t>
            </a:r>
            <a:r>
              <a:rPr lang="en-US" altLang="zh-CN" sz="2100" dirty="0">
                <a:latin typeface="Arial" panose="020B0604020202020204" pitchFamily="34" charset="0"/>
                <a:ea typeface="Microsoft YaHei" panose="020B0503020204020204" pitchFamily="34" charset="-122"/>
                <a:cs typeface="Arial" panose="020B0604020202020204" pitchFamily="34" charset="0"/>
              </a:rPr>
              <a:t>ODBC</a:t>
            </a:r>
            <a:r>
              <a:rPr lang="zh-CN" altLang="en-US" sz="2100" dirty="0">
                <a:latin typeface="Arial" panose="020B0604020202020204" pitchFamily="34" charset="0"/>
                <a:ea typeface="Microsoft YaHei" panose="020B0503020204020204" pitchFamily="34" charset="-122"/>
                <a:cs typeface="Arial" panose="020B0604020202020204" pitchFamily="34" charset="0"/>
              </a:rPr>
              <a:t>类</a:t>
            </a:r>
            <a:endParaRPr lang="en-US" altLang="zh-CN" sz="2100" dirty="0">
              <a:latin typeface="Arial" panose="020B0604020202020204" pitchFamily="34" charset="0"/>
              <a:ea typeface="Microsoft YaHei" panose="020B0503020204020204" pitchFamily="34" charset="-122"/>
              <a:cs typeface="Arial" panose="020B0604020202020204" pitchFamily="34" charset="0"/>
            </a:endParaRPr>
          </a:p>
          <a:p>
            <a:pPr marL="257175" indent="-257175">
              <a:spcBef>
                <a:spcPct val="20000"/>
              </a:spcBef>
              <a:buClr>
                <a:schemeClr val="folHlink"/>
              </a:buClr>
              <a:buSzPct val="60000"/>
              <a:buFont typeface="Wingdings" charset="0"/>
              <a:buChar char="n"/>
            </a:pPr>
            <a:r>
              <a:rPr lang="en-US" altLang="zh-CN" sz="2100" dirty="0">
                <a:latin typeface="Arial" panose="020B0604020202020204" pitchFamily="34" charset="0"/>
                <a:ea typeface="Microsoft YaHei" panose="020B0503020204020204" pitchFamily="34" charset="-122"/>
                <a:cs typeface="Arial" panose="020B0604020202020204" pitchFamily="34" charset="0"/>
              </a:rPr>
              <a:t>ODBC 3.0</a:t>
            </a:r>
          </a:p>
        </p:txBody>
      </p:sp>
      <p:grpSp>
        <p:nvGrpSpPr>
          <p:cNvPr id="451589" name="Group 5"/>
          <p:cNvGrpSpPr>
            <a:grpSpLocks/>
          </p:cNvGrpSpPr>
          <p:nvPr/>
        </p:nvGrpSpPr>
        <p:grpSpPr bwMode="auto">
          <a:xfrm>
            <a:off x="3495675" y="951310"/>
            <a:ext cx="4505325" cy="2787253"/>
            <a:chOff x="1729" y="438"/>
            <a:chExt cx="3311" cy="1951"/>
          </a:xfrm>
        </p:grpSpPr>
        <p:sp>
          <p:nvSpPr>
            <p:cNvPr id="451590" name="AutoShape 6"/>
            <p:cNvSpPr>
              <a:spLocks noChangeArrowheads="1"/>
            </p:cNvSpPr>
            <p:nvPr/>
          </p:nvSpPr>
          <p:spPr bwMode="auto">
            <a:xfrm>
              <a:off x="4042" y="1527"/>
              <a:ext cx="998" cy="544"/>
            </a:xfrm>
            <a:prstGeom prst="flowChartInputOutput">
              <a:avLst/>
            </a:prstGeom>
            <a:solidFill>
              <a:schemeClr val="accent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80006" tIns="40003" rIns="80006" bIns="40003" anchor="ctr"/>
            <a:lstStyle/>
            <a:p>
              <a:pPr defTabSz="800100"/>
              <a:r>
                <a:rPr lang="en-US" altLang="zh-CN" sz="1950" dirty="0">
                  <a:latin typeface="Arial" panose="020B0604020202020204" pitchFamily="34" charset="0"/>
                  <a:ea typeface="Microsoft YaHei" panose="020B0503020204020204" pitchFamily="34" charset="-122"/>
                  <a:cs typeface="Arial" panose="020B0604020202020204" pitchFamily="34" charset="0"/>
                </a:rPr>
                <a:t>      </a:t>
              </a:r>
              <a:r>
                <a:rPr lang="zh-CN" altLang="en-US" sz="1950" dirty="0">
                  <a:latin typeface="Arial" panose="020B0604020202020204" pitchFamily="34" charset="0"/>
                  <a:ea typeface="Microsoft YaHei" panose="020B0503020204020204" pitchFamily="34" charset="-122"/>
                  <a:cs typeface="Arial" panose="020B0604020202020204" pitchFamily="34" charset="0"/>
                </a:rPr>
                <a:t>    </a:t>
              </a:r>
              <a:r>
                <a:rPr lang="en-US" altLang="zh-CN" sz="1950" dirty="0">
                  <a:latin typeface="Arial" panose="020B0604020202020204" pitchFamily="34" charset="0"/>
                  <a:ea typeface="Microsoft YaHei" panose="020B0503020204020204" pitchFamily="34" charset="-122"/>
                  <a:cs typeface="Arial" panose="020B0604020202020204" pitchFamily="34" charset="0"/>
                </a:rPr>
                <a:t>C</a:t>
              </a:r>
            </a:p>
            <a:p>
              <a:pPr defTabSz="800100"/>
              <a:endParaRPr lang="zh-CN" altLang="en-US" sz="1950" dirty="0">
                <a:latin typeface="Arial" panose="020B0604020202020204" pitchFamily="34" charset="0"/>
                <a:ea typeface="Microsoft YaHei" panose="020B0503020204020204" pitchFamily="34" charset="-122"/>
                <a:cs typeface="Arial" panose="020B0604020202020204" pitchFamily="34" charset="0"/>
              </a:endParaRPr>
            </a:p>
          </p:txBody>
        </p:sp>
        <p:sp>
          <p:nvSpPr>
            <p:cNvPr id="451591" name="AutoShape 7"/>
            <p:cNvSpPr>
              <a:spLocks noChangeArrowheads="1"/>
            </p:cNvSpPr>
            <p:nvPr/>
          </p:nvSpPr>
          <p:spPr bwMode="auto">
            <a:xfrm>
              <a:off x="3815" y="1663"/>
              <a:ext cx="998" cy="544"/>
            </a:xfrm>
            <a:prstGeom prst="flowChartInputOutput">
              <a:avLst/>
            </a:prstGeom>
            <a:solidFill>
              <a:srgbClr val="FFF1B5"/>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80006" tIns="40003" rIns="80006" bIns="40003" anchor="ctr"/>
            <a:lstStyle/>
            <a:p>
              <a:pPr defTabSz="800100"/>
              <a:r>
                <a:rPr lang="en-US" altLang="zh-CN" sz="1950" dirty="0">
                  <a:latin typeface="Arial" panose="020B0604020202020204" pitchFamily="34" charset="0"/>
                  <a:ea typeface="Microsoft YaHei" panose="020B0503020204020204" pitchFamily="34" charset="-122"/>
                  <a:cs typeface="Arial" panose="020B0604020202020204" pitchFamily="34" charset="0"/>
                </a:rPr>
                <a:t>      </a:t>
              </a:r>
              <a:r>
                <a:rPr lang="zh-CN" altLang="en-US" sz="1950" dirty="0">
                  <a:latin typeface="Arial" panose="020B0604020202020204" pitchFamily="34" charset="0"/>
                  <a:ea typeface="Microsoft YaHei" panose="020B0503020204020204" pitchFamily="34" charset="-122"/>
                  <a:cs typeface="Arial" panose="020B0604020202020204" pitchFamily="34" charset="0"/>
                </a:rPr>
                <a:t>    </a:t>
              </a:r>
              <a:r>
                <a:rPr lang="en-US" altLang="zh-CN" sz="1950" dirty="0">
                  <a:latin typeface="Arial" panose="020B0604020202020204" pitchFamily="34" charset="0"/>
                  <a:ea typeface="Microsoft YaHei" panose="020B0503020204020204" pitchFamily="34" charset="-122"/>
                  <a:cs typeface="Arial" panose="020B0604020202020204" pitchFamily="34" charset="0"/>
                </a:rPr>
                <a:t>B</a:t>
              </a:r>
            </a:p>
            <a:p>
              <a:pPr defTabSz="800100"/>
              <a:endParaRPr lang="zh-CN" altLang="en-US" sz="1950" dirty="0">
                <a:latin typeface="Arial" panose="020B0604020202020204" pitchFamily="34" charset="0"/>
                <a:ea typeface="Microsoft YaHei" panose="020B0503020204020204" pitchFamily="34" charset="-122"/>
                <a:cs typeface="Arial" panose="020B0604020202020204" pitchFamily="34" charset="0"/>
              </a:endParaRPr>
            </a:p>
          </p:txBody>
        </p:sp>
        <p:sp>
          <p:nvSpPr>
            <p:cNvPr id="451592" name="AutoShape 8"/>
            <p:cNvSpPr>
              <a:spLocks noChangeArrowheads="1"/>
            </p:cNvSpPr>
            <p:nvPr/>
          </p:nvSpPr>
          <p:spPr bwMode="auto">
            <a:xfrm>
              <a:off x="2137" y="1618"/>
              <a:ext cx="1270" cy="544"/>
            </a:xfrm>
            <a:prstGeom prst="chevron">
              <a:avLst>
                <a:gd name="adj" fmla="val 58364"/>
              </a:avLst>
            </a:prstGeom>
            <a:solidFill>
              <a:schemeClr val="accent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80006" tIns="40003" rIns="80006" bIns="40003" anchor="t"/>
            <a:lstStyle/>
            <a:p>
              <a:pPr defTabSz="800100"/>
              <a:r>
                <a:rPr lang="zh-CN" altLang="en-US" sz="1950" dirty="0">
                  <a:latin typeface="Arial" panose="020B0604020202020204" pitchFamily="34" charset="0"/>
                  <a:ea typeface="Microsoft YaHei" panose="020B0503020204020204" pitchFamily="34" charset="-122"/>
                  <a:cs typeface="Arial" panose="020B0604020202020204" pitchFamily="34" charset="0"/>
                </a:rPr>
                <a:t>          </a:t>
              </a:r>
              <a:r>
                <a:rPr lang="en-US" altLang="zh-CN" sz="1950" dirty="0">
                  <a:latin typeface="Arial" panose="020B0604020202020204" pitchFamily="34" charset="0"/>
                  <a:ea typeface="Microsoft YaHei" panose="020B0503020204020204" pitchFamily="34" charset="-122"/>
                  <a:cs typeface="Arial" panose="020B0604020202020204" pitchFamily="34" charset="0"/>
                </a:rPr>
                <a:t>C</a:t>
              </a:r>
              <a:endParaRPr lang="zh-CN" altLang="en-US" sz="1950" dirty="0">
                <a:latin typeface="Arial" panose="020B0604020202020204" pitchFamily="34" charset="0"/>
                <a:ea typeface="Microsoft YaHei" panose="020B0503020204020204" pitchFamily="34" charset="-122"/>
                <a:cs typeface="Arial" panose="020B0604020202020204" pitchFamily="34" charset="0"/>
              </a:endParaRPr>
            </a:p>
          </p:txBody>
        </p:sp>
        <p:sp>
          <p:nvSpPr>
            <p:cNvPr id="451593" name="AutoShape 9"/>
            <p:cNvSpPr>
              <a:spLocks noChangeArrowheads="1"/>
            </p:cNvSpPr>
            <p:nvPr/>
          </p:nvSpPr>
          <p:spPr bwMode="auto">
            <a:xfrm>
              <a:off x="2001" y="1754"/>
              <a:ext cx="1270" cy="544"/>
            </a:xfrm>
            <a:prstGeom prst="chevron">
              <a:avLst>
                <a:gd name="adj" fmla="val 58364"/>
              </a:avLst>
            </a:prstGeom>
            <a:solidFill>
              <a:srgbClr val="FFF1B5"/>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80006" tIns="40003" rIns="80006" bIns="40003" anchor="ctr"/>
            <a:lstStyle/>
            <a:p>
              <a:pPr defTabSz="800100"/>
              <a:r>
                <a:rPr lang="en-US" altLang="zh-CN" sz="1950" dirty="0">
                  <a:latin typeface="Arial" panose="020B0604020202020204" pitchFamily="34" charset="0"/>
                  <a:ea typeface="Microsoft YaHei" panose="020B0503020204020204" pitchFamily="34" charset="-122"/>
                  <a:cs typeface="Arial" panose="020B0604020202020204" pitchFamily="34" charset="0"/>
                </a:rPr>
                <a:t>           B</a:t>
              </a:r>
            </a:p>
            <a:p>
              <a:pPr defTabSz="800100"/>
              <a:endParaRPr lang="zh-CN" altLang="en-US" sz="1950" dirty="0">
                <a:latin typeface="Arial" panose="020B0604020202020204" pitchFamily="34" charset="0"/>
                <a:ea typeface="Microsoft YaHei" panose="020B0503020204020204" pitchFamily="34" charset="-122"/>
                <a:cs typeface="Arial" panose="020B0604020202020204" pitchFamily="34" charset="0"/>
              </a:endParaRPr>
            </a:p>
          </p:txBody>
        </p:sp>
        <p:sp>
          <p:nvSpPr>
            <p:cNvPr id="451594" name="AutoShape 10"/>
            <p:cNvSpPr>
              <a:spLocks noChangeArrowheads="1"/>
            </p:cNvSpPr>
            <p:nvPr/>
          </p:nvSpPr>
          <p:spPr bwMode="auto">
            <a:xfrm>
              <a:off x="4334" y="438"/>
              <a:ext cx="545" cy="363"/>
            </a:xfrm>
            <a:prstGeom prst="flowChartMagneticDisk">
              <a:avLst/>
            </a:prstGeom>
            <a:solidFill>
              <a:schemeClr val="accent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80006" tIns="40003" rIns="80006" bIns="40003" anchor="ctr"/>
            <a:lstStyle/>
            <a:p>
              <a:pPr defTabSz="800100"/>
              <a:r>
                <a:rPr lang="zh-CN" altLang="en-US" sz="1950" dirty="0">
                  <a:latin typeface="Arial" panose="020B0604020202020204" pitchFamily="34" charset="0"/>
                  <a:ea typeface="Microsoft YaHei" panose="020B0503020204020204" pitchFamily="34" charset="-122"/>
                  <a:cs typeface="Arial" panose="020B0604020202020204" pitchFamily="34" charset="0"/>
                </a:rPr>
                <a:t>       </a:t>
              </a:r>
              <a:r>
                <a:rPr lang="en-US" altLang="zh-CN" sz="1950" dirty="0">
                  <a:latin typeface="Arial" panose="020B0604020202020204" pitchFamily="34" charset="0"/>
                  <a:ea typeface="Microsoft YaHei" panose="020B0503020204020204" pitchFamily="34" charset="-122"/>
                  <a:cs typeface="Arial" panose="020B0604020202020204" pitchFamily="34" charset="0"/>
                </a:rPr>
                <a:t>C</a:t>
              </a:r>
            </a:p>
            <a:p>
              <a:pPr defTabSz="800100"/>
              <a:endParaRPr lang="zh-CN" altLang="en-US" sz="1950" dirty="0">
                <a:latin typeface="Arial" panose="020B0604020202020204" pitchFamily="34" charset="0"/>
                <a:ea typeface="Microsoft YaHei" panose="020B0503020204020204" pitchFamily="34" charset="-122"/>
                <a:cs typeface="Arial" panose="020B0604020202020204" pitchFamily="34" charset="0"/>
              </a:endParaRPr>
            </a:p>
          </p:txBody>
        </p:sp>
        <p:sp>
          <p:nvSpPr>
            <p:cNvPr id="451595" name="AutoShape 11"/>
            <p:cNvSpPr>
              <a:spLocks noChangeArrowheads="1"/>
            </p:cNvSpPr>
            <p:nvPr/>
          </p:nvSpPr>
          <p:spPr bwMode="auto">
            <a:xfrm>
              <a:off x="4198" y="620"/>
              <a:ext cx="544" cy="363"/>
            </a:xfrm>
            <a:prstGeom prst="flowChartMagneticDisk">
              <a:avLst/>
            </a:prstGeom>
            <a:solidFill>
              <a:srgbClr val="FFF1B5"/>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80006" tIns="40003" rIns="80006" bIns="40003" anchor="ctr"/>
            <a:lstStyle/>
            <a:p>
              <a:pPr defTabSz="800100"/>
              <a:r>
                <a:rPr lang="zh-CN" altLang="en-US" sz="1950" dirty="0">
                  <a:latin typeface="Arial" panose="020B0604020202020204" pitchFamily="34" charset="0"/>
                  <a:ea typeface="Microsoft YaHei" panose="020B0503020204020204" pitchFamily="34" charset="-122"/>
                  <a:cs typeface="Arial" panose="020B0604020202020204" pitchFamily="34" charset="0"/>
                </a:rPr>
                <a:t>       </a:t>
              </a:r>
              <a:r>
                <a:rPr lang="en-US" altLang="zh-CN" sz="1950" dirty="0">
                  <a:latin typeface="Arial" panose="020B0604020202020204" pitchFamily="34" charset="0"/>
                  <a:ea typeface="Microsoft YaHei" panose="020B0503020204020204" pitchFamily="34" charset="-122"/>
                  <a:cs typeface="Arial" panose="020B0604020202020204" pitchFamily="34" charset="0"/>
                </a:rPr>
                <a:t>B</a:t>
              </a:r>
            </a:p>
            <a:p>
              <a:pPr defTabSz="800100"/>
              <a:endParaRPr lang="zh-CN" altLang="en-US" sz="1950" dirty="0">
                <a:latin typeface="Arial" panose="020B0604020202020204" pitchFamily="34" charset="0"/>
                <a:ea typeface="Microsoft YaHei" panose="020B0503020204020204" pitchFamily="34" charset="-122"/>
                <a:cs typeface="Arial" panose="020B0604020202020204" pitchFamily="34" charset="0"/>
              </a:endParaRPr>
            </a:p>
          </p:txBody>
        </p:sp>
        <p:sp>
          <p:nvSpPr>
            <p:cNvPr id="451596" name="AutoShape 12"/>
            <p:cNvSpPr>
              <a:spLocks noChangeArrowheads="1"/>
            </p:cNvSpPr>
            <p:nvPr/>
          </p:nvSpPr>
          <p:spPr bwMode="auto">
            <a:xfrm>
              <a:off x="4062" y="756"/>
              <a:ext cx="544" cy="408"/>
            </a:xfrm>
            <a:prstGeom prst="flowChartMagneticDisk">
              <a:avLst/>
            </a:prstGeom>
            <a:solidFill>
              <a:srgbClr val="89F0FB"/>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80006" tIns="40003" rIns="80006" bIns="40003" anchor="ctr"/>
            <a:lstStyle/>
            <a:p>
              <a:pPr defTabSz="800100">
                <a:lnSpc>
                  <a:spcPct val="110000"/>
                </a:lnSpc>
              </a:pPr>
              <a:endParaRPr lang="en-US" altLang="zh-CN" sz="1950" dirty="0">
                <a:latin typeface="Arial" panose="020B0604020202020204" pitchFamily="34" charset="0"/>
                <a:ea typeface="Microsoft YaHei" panose="020B0503020204020204" pitchFamily="34" charset="-122"/>
                <a:cs typeface="Arial" panose="020B0604020202020204" pitchFamily="34" charset="0"/>
              </a:endParaRPr>
            </a:p>
            <a:p>
              <a:pPr defTabSz="800100">
                <a:lnSpc>
                  <a:spcPct val="110000"/>
                </a:lnSpc>
              </a:pPr>
              <a:endParaRPr lang="en-US" altLang="zh-CN" sz="1950" dirty="0">
                <a:latin typeface="Arial" panose="020B0604020202020204" pitchFamily="34" charset="0"/>
                <a:ea typeface="Microsoft YaHei" panose="020B0503020204020204" pitchFamily="34" charset="-122"/>
                <a:cs typeface="Arial" panose="020B0604020202020204" pitchFamily="34" charset="0"/>
              </a:endParaRPr>
            </a:p>
            <a:p>
              <a:pPr defTabSz="800100">
                <a:lnSpc>
                  <a:spcPct val="80000"/>
                </a:lnSpc>
              </a:pPr>
              <a:endParaRPr lang="en-US" altLang="zh-CN" sz="1950" dirty="0">
                <a:latin typeface="Arial" panose="020B0604020202020204" pitchFamily="34" charset="0"/>
                <a:ea typeface="Microsoft YaHei" panose="020B0503020204020204" pitchFamily="34" charset="-122"/>
                <a:cs typeface="Arial" panose="020B0604020202020204" pitchFamily="34" charset="0"/>
              </a:endParaRPr>
            </a:p>
            <a:p>
              <a:pPr defTabSz="800100">
                <a:lnSpc>
                  <a:spcPct val="80000"/>
                </a:lnSpc>
              </a:pPr>
              <a:r>
                <a:rPr lang="en-US" altLang="zh-CN" sz="1950" dirty="0">
                  <a:latin typeface="Arial" panose="020B0604020202020204" pitchFamily="34" charset="0"/>
                  <a:ea typeface="Microsoft YaHei" panose="020B0503020204020204" pitchFamily="34" charset="-122"/>
                  <a:cs typeface="Arial" panose="020B0604020202020204" pitchFamily="34" charset="0"/>
                </a:rPr>
                <a:t>DB</a:t>
              </a:r>
            </a:p>
            <a:p>
              <a:pPr defTabSz="800100">
                <a:lnSpc>
                  <a:spcPct val="110000"/>
                </a:lnSpc>
              </a:pPr>
              <a:endParaRPr lang="en-US" altLang="zh-CN" sz="1950" dirty="0">
                <a:latin typeface="Arial" panose="020B0604020202020204" pitchFamily="34" charset="0"/>
                <a:ea typeface="Microsoft YaHei" panose="020B0503020204020204" pitchFamily="34" charset="-122"/>
                <a:cs typeface="Arial" panose="020B0604020202020204" pitchFamily="34" charset="0"/>
              </a:endParaRPr>
            </a:p>
            <a:p>
              <a:pPr defTabSz="800100">
                <a:lnSpc>
                  <a:spcPct val="110000"/>
                </a:lnSpc>
              </a:pPr>
              <a:endParaRPr lang="zh-CN" altLang="en-US" sz="1950" dirty="0">
                <a:latin typeface="Arial" panose="020B0604020202020204" pitchFamily="34" charset="0"/>
                <a:ea typeface="Microsoft YaHei" panose="020B0503020204020204" pitchFamily="34" charset="-122"/>
                <a:cs typeface="Arial" panose="020B0604020202020204" pitchFamily="34" charset="0"/>
              </a:endParaRPr>
            </a:p>
          </p:txBody>
        </p:sp>
        <p:sp>
          <p:nvSpPr>
            <p:cNvPr id="451597" name="AutoShape 13"/>
            <p:cNvSpPr>
              <a:spLocks noChangeArrowheads="1"/>
            </p:cNvSpPr>
            <p:nvPr/>
          </p:nvSpPr>
          <p:spPr bwMode="auto">
            <a:xfrm>
              <a:off x="1729" y="1845"/>
              <a:ext cx="1360" cy="544"/>
            </a:xfrm>
            <a:prstGeom prst="chevron">
              <a:avLst>
                <a:gd name="adj" fmla="val 50000"/>
              </a:avLst>
            </a:prstGeom>
            <a:solidFill>
              <a:srgbClr val="89F0FB"/>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80006" tIns="40003" rIns="80006" bIns="40003" anchor="ctr"/>
            <a:lstStyle/>
            <a:p>
              <a:pPr defTabSz="800100"/>
              <a:r>
                <a:rPr lang="en-US" altLang="zh-CN" sz="1400" dirty="0">
                  <a:latin typeface="Arial" panose="020B0604020202020204" pitchFamily="34" charset="0"/>
                  <a:ea typeface="Microsoft YaHei" panose="020B0503020204020204" pitchFamily="34" charset="-122"/>
                  <a:cs typeface="Arial" panose="020B0604020202020204" pitchFamily="34" charset="0"/>
                </a:rPr>
                <a:t>   </a:t>
              </a:r>
              <a:r>
                <a:rPr lang="zh-CN" altLang="en-US" sz="1400" dirty="0">
                  <a:latin typeface="Arial" panose="020B0604020202020204" pitchFamily="34" charset="0"/>
                  <a:ea typeface="Microsoft YaHei" panose="020B0503020204020204" pitchFamily="34" charset="-122"/>
                  <a:cs typeface="Arial" panose="020B0604020202020204" pitchFamily="34" charset="0"/>
                </a:rPr>
                <a:t>特定的</a:t>
              </a:r>
              <a:endParaRPr lang="en-US" altLang="zh-CN" sz="1400" dirty="0">
                <a:latin typeface="Arial" panose="020B0604020202020204" pitchFamily="34" charset="0"/>
                <a:ea typeface="Microsoft YaHei" panose="020B0503020204020204" pitchFamily="34" charset="-122"/>
                <a:cs typeface="Arial" panose="020B0604020202020204" pitchFamily="34" charset="0"/>
              </a:endParaRPr>
            </a:p>
            <a:p>
              <a:pPr defTabSz="800100"/>
              <a:r>
                <a:rPr lang="en-US" altLang="zh-CN" sz="1400" dirty="0">
                  <a:latin typeface="Arial" panose="020B0604020202020204" pitchFamily="34" charset="0"/>
                  <a:ea typeface="Microsoft YaHei" panose="020B0503020204020204" pitchFamily="34" charset="-122"/>
                  <a:cs typeface="Arial" panose="020B0604020202020204" pitchFamily="34" charset="0"/>
                </a:rPr>
                <a:t>   ODBC</a:t>
              </a:r>
              <a:r>
                <a:rPr lang="zh-CN" altLang="en-US" sz="1400" dirty="0">
                  <a:latin typeface="Arial" panose="020B0604020202020204" pitchFamily="34" charset="0"/>
                  <a:ea typeface="Microsoft YaHei" panose="020B0503020204020204" pitchFamily="34" charset="-122"/>
                  <a:cs typeface="Arial" panose="020B0604020202020204" pitchFamily="34" charset="0"/>
                </a:rPr>
                <a:t>驱动</a:t>
              </a:r>
            </a:p>
          </p:txBody>
        </p:sp>
        <p:sp>
          <p:nvSpPr>
            <p:cNvPr id="451598" name="Text Box 14"/>
            <p:cNvSpPr txBox="1">
              <a:spLocks noChangeArrowheads="1"/>
            </p:cNvSpPr>
            <p:nvPr/>
          </p:nvSpPr>
          <p:spPr bwMode="auto">
            <a:xfrm>
              <a:off x="2658" y="1847"/>
              <a:ext cx="227" cy="2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80006" tIns="40003" rIns="80006" bIns="40003">
              <a:spAutoFit/>
            </a:bodyPr>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spcBef>
                  <a:spcPct val="50000"/>
                </a:spcBef>
              </a:pPr>
              <a:r>
                <a:rPr lang="en-US" altLang="zh-CN" sz="1950" dirty="0">
                  <a:latin typeface="Arial" panose="020B0604020202020204" pitchFamily="34" charset="0"/>
                  <a:ea typeface="Microsoft YaHei" panose="020B0503020204020204" pitchFamily="34" charset="-122"/>
                  <a:cs typeface="Arial" panose="020B0604020202020204" pitchFamily="34" charset="0"/>
                </a:rPr>
                <a:t>A</a:t>
              </a:r>
            </a:p>
          </p:txBody>
        </p:sp>
        <p:sp>
          <p:nvSpPr>
            <p:cNvPr id="451599" name="Line 15"/>
            <p:cNvSpPr>
              <a:spLocks noChangeShapeType="1"/>
            </p:cNvSpPr>
            <p:nvPr/>
          </p:nvSpPr>
          <p:spPr bwMode="auto">
            <a:xfrm>
              <a:off x="3316" y="1981"/>
              <a:ext cx="318" cy="0"/>
            </a:xfrm>
            <a:prstGeom prst="line">
              <a:avLst/>
            </a:prstGeom>
            <a:noFill/>
            <a:ln w="57150">
              <a:solidFill>
                <a:srgbClr val="6600CC"/>
              </a:solidFill>
              <a:miter lim="800000"/>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1600" name="AutoShape 16"/>
            <p:cNvSpPr>
              <a:spLocks noChangeArrowheads="1"/>
            </p:cNvSpPr>
            <p:nvPr/>
          </p:nvSpPr>
          <p:spPr bwMode="auto">
            <a:xfrm>
              <a:off x="3452" y="1800"/>
              <a:ext cx="1134" cy="544"/>
            </a:xfrm>
            <a:prstGeom prst="flowChartInputOutput">
              <a:avLst/>
            </a:prstGeom>
            <a:solidFill>
              <a:srgbClr val="89F0FB"/>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80006" tIns="40003" rIns="80006" bIns="40003" anchor="ctr"/>
            <a:lstStyle/>
            <a:p>
              <a:pPr defTabSz="800100"/>
              <a:r>
                <a:rPr lang="zh-CN" altLang="en-US" sz="1950">
                  <a:latin typeface="Arial" panose="020B0604020202020204" pitchFamily="34" charset="0"/>
                  <a:ea typeface="Microsoft YaHei" panose="020B0503020204020204" pitchFamily="34" charset="-122"/>
                  <a:cs typeface="Arial" panose="020B0604020202020204" pitchFamily="34" charset="0"/>
                </a:rPr>
                <a:t>特定的</a:t>
              </a:r>
              <a:endParaRPr lang="en-US" altLang="zh-CN" sz="1950">
                <a:latin typeface="Arial" panose="020B0604020202020204" pitchFamily="34" charset="0"/>
                <a:ea typeface="Microsoft YaHei" panose="020B0503020204020204" pitchFamily="34" charset="-122"/>
                <a:cs typeface="Arial" panose="020B0604020202020204" pitchFamily="34" charset="0"/>
              </a:endParaRPr>
            </a:p>
            <a:p>
              <a:pPr defTabSz="800100"/>
              <a:r>
                <a:rPr lang="en-US" altLang="zh-CN" sz="1950">
                  <a:latin typeface="Arial" panose="020B0604020202020204" pitchFamily="34" charset="0"/>
                  <a:ea typeface="Microsoft YaHei" panose="020B0503020204020204" pitchFamily="34" charset="-122"/>
                  <a:cs typeface="Arial" panose="020B0604020202020204" pitchFamily="34" charset="0"/>
                </a:rPr>
                <a:t>DBMS</a:t>
              </a:r>
            </a:p>
          </p:txBody>
        </p:sp>
        <p:sp>
          <p:nvSpPr>
            <p:cNvPr id="451601" name="Text Box 17"/>
            <p:cNvSpPr txBox="1">
              <a:spLocks noChangeArrowheads="1"/>
            </p:cNvSpPr>
            <p:nvPr/>
          </p:nvSpPr>
          <p:spPr bwMode="auto">
            <a:xfrm>
              <a:off x="4302" y="1766"/>
              <a:ext cx="227" cy="2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80006" tIns="40003" rIns="80006" bIns="40003">
              <a:spAutoFit/>
            </a:bodyPr>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spcBef>
                  <a:spcPct val="50000"/>
                </a:spcBef>
              </a:pPr>
              <a:r>
                <a:rPr lang="en-US" altLang="zh-CN" sz="1950">
                  <a:latin typeface="Arial" panose="020B0604020202020204" pitchFamily="34" charset="0"/>
                  <a:ea typeface="Microsoft YaHei" panose="020B0503020204020204" pitchFamily="34" charset="-122"/>
                  <a:cs typeface="Arial" panose="020B0604020202020204" pitchFamily="34" charset="0"/>
                </a:rPr>
                <a:t>A</a:t>
              </a:r>
            </a:p>
          </p:txBody>
        </p:sp>
        <p:sp>
          <p:nvSpPr>
            <p:cNvPr id="451602" name="Line 18"/>
            <p:cNvSpPr>
              <a:spLocks noChangeShapeType="1"/>
            </p:cNvSpPr>
            <p:nvPr/>
          </p:nvSpPr>
          <p:spPr bwMode="auto">
            <a:xfrm flipV="1">
              <a:off x="4334" y="1164"/>
              <a:ext cx="0" cy="363"/>
            </a:xfrm>
            <a:prstGeom prst="line">
              <a:avLst/>
            </a:prstGeom>
            <a:noFill/>
            <a:ln w="57150">
              <a:solidFill>
                <a:srgbClr val="6600CC"/>
              </a:solidFill>
              <a:miter lim="800000"/>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1603" name="Rectangle 19"/>
            <p:cNvSpPr>
              <a:spLocks noChangeArrowheads="1"/>
            </p:cNvSpPr>
            <p:nvPr/>
          </p:nvSpPr>
          <p:spPr bwMode="auto">
            <a:xfrm>
              <a:off x="1930" y="439"/>
              <a:ext cx="1180" cy="363"/>
            </a:xfrm>
            <a:prstGeom prst="rect">
              <a:avLst/>
            </a:prstGeom>
            <a:solidFill>
              <a:srgbClr val="FFCCFF"/>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80006" tIns="40003" rIns="80006" bIns="40003" anchor="ctr"/>
            <a:lstStyle/>
            <a:p>
              <a:pPr defTabSz="800100"/>
              <a:r>
                <a:rPr lang="zh-CN" altLang="en-US" sz="1950">
                  <a:latin typeface="Arial" panose="020B0604020202020204" pitchFamily="34" charset="0"/>
                  <a:ea typeface="Microsoft YaHei" panose="020B0503020204020204" pitchFamily="34" charset="-122"/>
                  <a:cs typeface="Arial" panose="020B0604020202020204" pitchFamily="34" charset="0"/>
                </a:rPr>
                <a:t>客户应用程序</a:t>
              </a:r>
            </a:p>
          </p:txBody>
        </p:sp>
        <p:sp>
          <p:nvSpPr>
            <p:cNvPr id="451604" name="Rectangle 20"/>
            <p:cNvSpPr>
              <a:spLocks noChangeArrowheads="1"/>
            </p:cNvSpPr>
            <p:nvPr/>
          </p:nvSpPr>
          <p:spPr bwMode="auto">
            <a:xfrm>
              <a:off x="1976" y="1028"/>
              <a:ext cx="1180" cy="363"/>
            </a:xfrm>
            <a:prstGeom prst="rect">
              <a:avLst/>
            </a:prstGeom>
            <a:solidFill>
              <a:srgbClr val="CCFFCC"/>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80006" tIns="40003" rIns="80006" bIns="40003" anchor="ctr"/>
            <a:lstStyle/>
            <a:p>
              <a:pPr defTabSz="800100"/>
              <a:r>
                <a:rPr lang="zh-CN" altLang="en-US" sz="1950">
                  <a:latin typeface="Arial" panose="020B0604020202020204" pitchFamily="34" charset="0"/>
                  <a:ea typeface="Microsoft YaHei" panose="020B0503020204020204" pitchFamily="34" charset="-122"/>
                  <a:cs typeface="Arial" panose="020B0604020202020204" pitchFamily="34" charset="0"/>
                </a:rPr>
                <a:t>驱动管理器</a:t>
              </a:r>
            </a:p>
          </p:txBody>
        </p:sp>
        <p:sp>
          <p:nvSpPr>
            <p:cNvPr id="451605" name="Line 21"/>
            <p:cNvSpPr>
              <a:spLocks noChangeShapeType="1"/>
            </p:cNvSpPr>
            <p:nvPr/>
          </p:nvSpPr>
          <p:spPr bwMode="auto">
            <a:xfrm>
              <a:off x="2475" y="801"/>
              <a:ext cx="0" cy="227"/>
            </a:xfrm>
            <a:prstGeom prst="line">
              <a:avLst/>
            </a:prstGeom>
            <a:noFill/>
            <a:ln w="57150">
              <a:solidFill>
                <a:srgbClr val="6600CC"/>
              </a:solidFill>
              <a:miter lim="800000"/>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1606" name="Line 22"/>
            <p:cNvSpPr>
              <a:spLocks noChangeShapeType="1"/>
            </p:cNvSpPr>
            <p:nvPr/>
          </p:nvSpPr>
          <p:spPr bwMode="auto">
            <a:xfrm>
              <a:off x="2475" y="1345"/>
              <a:ext cx="0" cy="499"/>
            </a:xfrm>
            <a:prstGeom prst="line">
              <a:avLst/>
            </a:prstGeom>
            <a:noFill/>
            <a:ln w="57150">
              <a:solidFill>
                <a:srgbClr val="6600CC"/>
              </a:solidFill>
              <a:miter lim="800000"/>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1607" name="Text Box 23"/>
            <p:cNvSpPr txBox="1">
              <a:spLocks noChangeArrowheads="1"/>
            </p:cNvSpPr>
            <p:nvPr/>
          </p:nvSpPr>
          <p:spPr bwMode="auto">
            <a:xfrm>
              <a:off x="4371" y="736"/>
              <a:ext cx="226" cy="2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80006" tIns="40003" rIns="80006" bIns="40003">
              <a:spAutoFit/>
            </a:bodyPr>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nSpc>
                  <a:spcPct val="110000"/>
                </a:lnSpc>
              </a:pPr>
              <a:r>
                <a:rPr lang="en-US" altLang="zh-CN" sz="1950" dirty="0">
                  <a:latin typeface="Arial" panose="020B0604020202020204" pitchFamily="34" charset="0"/>
                  <a:ea typeface="Microsoft YaHei" panose="020B0503020204020204" pitchFamily="34" charset="-122"/>
                  <a:cs typeface="Arial" panose="020B0604020202020204" pitchFamily="34" charset="0"/>
                </a:rPr>
                <a:t>A</a:t>
              </a:r>
            </a:p>
          </p:txBody>
        </p:sp>
      </p:grpSp>
      <p:sp>
        <p:nvSpPr>
          <p:cNvPr id="451608" name="Text Box 24"/>
          <p:cNvSpPr txBox="1">
            <a:spLocks noChangeArrowheads="1"/>
          </p:cNvSpPr>
          <p:nvPr/>
        </p:nvSpPr>
        <p:spPr bwMode="auto">
          <a:xfrm>
            <a:off x="2814127" y="1458102"/>
            <a:ext cx="2159794" cy="296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80006" tIns="40003" rIns="80006" bIns="40003">
            <a:spAutoFit/>
          </a:bodyPr>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spcBef>
                <a:spcPct val="50000"/>
              </a:spcBef>
            </a:pPr>
            <a:r>
              <a:rPr lang="zh-CN" altLang="en-US" sz="1400" dirty="0">
                <a:solidFill>
                  <a:srgbClr val="990000"/>
                </a:solidFill>
                <a:latin typeface="Arial" panose="020B0604020202020204" pitchFamily="34" charset="0"/>
                <a:ea typeface="Microsoft YaHei" panose="020B0503020204020204" pitchFamily="34" charset="-122"/>
                <a:cs typeface="Arial" panose="020B0604020202020204" pitchFamily="34" charset="0"/>
              </a:rPr>
              <a:t>要求与数据源连接</a:t>
            </a:r>
          </a:p>
        </p:txBody>
      </p:sp>
      <p:sp>
        <p:nvSpPr>
          <p:cNvPr id="451609" name="Text Box 25"/>
          <p:cNvSpPr txBox="1">
            <a:spLocks noChangeArrowheads="1"/>
          </p:cNvSpPr>
          <p:nvPr/>
        </p:nvSpPr>
        <p:spPr bwMode="auto">
          <a:xfrm>
            <a:off x="2505416" y="2318973"/>
            <a:ext cx="2159794" cy="296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80006" tIns="40003" rIns="80006" bIns="40003">
            <a:spAutoFit/>
          </a:bodyPr>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spcBef>
                <a:spcPct val="50000"/>
              </a:spcBef>
            </a:pPr>
            <a:r>
              <a:rPr lang="zh-CN" altLang="en-US" sz="1400" dirty="0">
                <a:solidFill>
                  <a:srgbClr val="990000"/>
                </a:solidFill>
                <a:latin typeface="Arial" panose="020B0604020202020204" pitchFamily="34" charset="0"/>
                <a:ea typeface="Microsoft YaHei" panose="020B0503020204020204" pitchFamily="34" charset="-122"/>
                <a:cs typeface="Arial" panose="020B0604020202020204" pitchFamily="34" charset="0"/>
              </a:rPr>
              <a:t>确定合适的</a:t>
            </a:r>
            <a:r>
              <a:rPr lang="en-US" altLang="zh-CN" sz="1400" dirty="0">
                <a:solidFill>
                  <a:srgbClr val="990000"/>
                </a:solidFill>
                <a:latin typeface="Arial" panose="020B0604020202020204" pitchFamily="34" charset="0"/>
                <a:ea typeface="Microsoft YaHei" panose="020B0503020204020204" pitchFamily="34" charset="-122"/>
                <a:cs typeface="Arial" panose="020B0604020202020204" pitchFamily="34" charset="0"/>
              </a:rPr>
              <a:t>ODBC</a:t>
            </a:r>
            <a:r>
              <a:rPr lang="zh-CN" altLang="en-US" sz="1400" dirty="0">
                <a:solidFill>
                  <a:srgbClr val="990000"/>
                </a:solidFill>
                <a:latin typeface="Arial" panose="020B0604020202020204" pitchFamily="34" charset="0"/>
                <a:ea typeface="Microsoft YaHei" panose="020B0503020204020204" pitchFamily="34" charset="-122"/>
                <a:cs typeface="Arial" panose="020B0604020202020204" pitchFamily="34" charset="0"/>
              </a:rPr>
              <a:t>驱动</a:t>
            </a:r>
          </a:p>
        </p:txBody>
      </p:sp>
      <p:sp>
        <p:nvSpPr>
          <p:cNvPr id="451610" name="Text Box 26"/>
          <p:cNvSpPr txBox="1">
            <a:spLocks noChangeArrowheads="1"/>
          </p:cNvSpPr>
          <p:nvPr/>
        </p:nvSpPr>
        <p:spPr bwMode="auto">
          <a:xfrm>
            <a:off x="4759779" y="3775395"/>
            <a:ext cx="1728788" cy="4901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80006" tIns="40003" rIns="80006" bIns="40003">
            <a:spAutoFit/>
          </a:bodyPr>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nSpc>
                <a:spcPct val="95000"/>
              </a:lnSpc>
            </a:pPr>
            <a:r>
              <a:rPr lang="zh-CN" altLang="en-US" sz="1400">
                <a:solidFill>
                  <a:srgbClr val="990000"/>
                </a:solidFill>
                <a:latin typeface="Arial" panose="020B0604020202020204" pitchFamily="34" charset="0"/>
                <a:ea typeface="Microsoft YaHei" panose="020B0503020204020204" pitchFamily="34" charset="-122"/>
                <a:cs typeface="Arial" panose="020B0604020202020204" pitchFamily="34" charset="0"/>
              </a:rPr>
              <a:t>服务器处理请求</a:t>
            </a:r>
            <a:r>
              <a:rPr lang="en-US" altLang="zh-CN" sz="1400">
                <a:solidFill>
                  <a:srgbClr val="990000"/>
                </a:solidFill>
                <a:latin typeface="Arial" panose="020B0604020202020204" pitchFamily="34" charset="0"/>
                <a:ea typeface="Microsoft YaHei" panose="020B0503020204020204" pitchFamily="34" charset="-122"/>
                <a:cs typeface="Arial" panose="020B0604020202020204" pitchFamily="34" charset="0"/>
              </a:rPr>
              <a:t>,</a:t>
            </a:r>
            <a:r>
              <a:rPr lang="zh-CN" altLang="en-US" sz="1400">
                <a:solidFill>
                  <a:srgbClr val="990000"/>
                </a:solidFill>
                <a:latin typeface="Arial" panose="020B0604020202020204" pitchFamily="34" charset="0"/>
                <a:ea typeface="Microsoft YaHei" panose="020B0503020204020204" pitchFamily="34" charset="-122"/>
                <a:cs typeface="Arial" panose="020B0604020202020204" pitchFamily="34" charset="0"/>
              </a:rPr>
              <a:t>查询提交</a:t>
            </a:r>
          </a:p>
        </p:txBody>
      </p:sp>
      <p:sp>
        <p:nvSpPr>
          <p:cNvPr id="451611" name="Text Box 27"/>
          <p:cNvSpPr txBox="1">
            <a:spLocks noChangeArrowheads="1"/>
          </p:cNvSpPr>
          <p:nvPr/>
        </p:nvSpPr>
        <p:spPr bwMode="auto">
          <a:xfrm>
            <a:off x="7189079" y="2097132"/>
            <a:ext cx="1006077" cy="28545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80006" tIns="40003" rIns="80006" bIns="40003">
            <a:spAutoFit/>
          </a:bodyPr>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nSpc>
                <a:spcPct val="95000"/>
              </a:lnSpc>
            </a:pPr>
            <a:r>
              <a:rPr lang="zh-CN" altLang="en-US" sz="1400" dirty="0">
                <a:solidFill>
                  <a:srgbClr val="990000"/>
                </a:solidFill>
                <a:latin typeface="Arial" panose="020B0604020202020204" pitchFamily="34" charset="0"/>
                <a:ea typeface="Microsoft YaHei" panose="020B0503020204020204" pitchFamily="34" charset="-122"/>
                <a:cs typeface="Arial" panose="020B0604020202020204" pitchFamily="34" charset="0"/>
              </a:rPr>
              <a:t>查询执行</a:t>
            </a:r>
          </a:p>
        </p:txBody>
      </p:sp>
      <p:sp>
        <p:nvSpPr>
          <p:cNvPr id="3" name="标题 2">
            <a:extLst>
              <a:ext uri="{FF2B5EF4-FFF2-40B4-BE49-F238E27FC236}">
                <a16:creationId xmlns:a16="http://schemas.microsoft.com/office/drawing/2014/main" id="{1EA318DE-9337-C60D-0BF5-686BBF185CC1}"/>
              </a:ext>
            </a:extLst>
          </p:cNvPr>
          <p:cNvSpPr>
            <a:spLocks noGrp="1"/>
          </p:cNvSpPr>
          <p:nvPr>
            <p:ph type="title"/>
          </p:nvPr>
        </p:nvSpPr>
        <p:spPr/>
        <p:txBody>
          <a:bodyPr/>
          <a:lstStyle/>
          <a:p>
            <a:r>
              <a:rPr lang="zh-CN" altLang="en-US" dirty="0"/>
              <a:t>开放式接口</a:t>
            </a:r>
            <a:r>
              <a:rPr lang="en-US" altLang="zh-CN" dirty="0"/>
              <a:t>--</a:t>
            </a:r>
            <a:r>
              <a:rPr lang="en" altLang="zh-CN" dirty="0"/>
              <a:t>ODBC</a:t>
            </a:r>
            <a:endParaRPr lang="zh-CN" altLang="en-US" dirty="0"/>
          </a:p>
        </p:txBody>
      </p:sp>
    </p:spTree>
    <p:extLst>
      <p:ext uri="{BB962C8B-B14F-4D97-AF65-F5344CB8AC3E}">
        <p14:creationId xmlns:p14="http://schemas.microsoft.com/office/powerpoint/2010/main" val="26451587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7" name="Rectangle 3"/>
          <p:cNvSpPr>
            <a:spLocks noGrp="1" noChangeArrowheads="1"/>
          </p:cNvSpPr>
          <p:nvPr>
            <p:ph type="body" idx="1"/>
          </p:nvPr>
        </p:nvSpPr>
        <p:spPr/>
        <p:txBody>
          <a:bodyPr>
            <a:normAutofit/>
          </a:bodyPr>
          <a:lstStyle/>
          <a:p>
            <a:r>
              <a:rPr lang="en-US" altLang="zh-CN" dirty="0">
                <a:latin typeface="Arial" panose="020B0604020202020204" pitchFamily="34" charset="0"/>
                <a:cs typeface="Arial" panose="020B0604020202020204" pitchFamily="34" charset="0"/>
              </a:rPr>
              <a:t>JDBC: Java Data Base Connectivity</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JDBC</a:t>
            </a:r>
            <a:r>
              <a:rPr lang="zh-CN" altLang="en-US" dirty="0">
                <a:latin typeface="Arial" panose="020B0604020202020204" pitchFamily="34" charset="0"/>
                <a:cs typeface="Arial" panose="020B0604020202020204" pitchFamily="34" charset="0"/>
              </a:rPr>
              <a:t>用于从</a:t>
            </a:r>
            <a:r>
              <a:rPr lang="en-US" altLang="zh-CN" dirty="0">
                <a:latin typeface="Arial" panose="020B0604020202020204" pitchFamily="34" charset="0"/>
                <a:cs typeface="Arial" panose="020B0604020202020204" pitchFamily="34" charset="0"/>
              </a:rPr>
              <a:t>Java</a:t>
            </a:r>
            <a:r>
              <a:rPr lang="zh-CN" altLang="en-US" dirty="0">
                <a:latin typeface="Arial" panose="020B0604020202020204" pitchFamily="34" charset="0"/>
                <a:cs typeface="Arial" panose="020B0604020202020204" pitchFamily="34" charset="0"/>
              </a:rPr>
              <a:t>程序调用数据库功能，是一种标准的</a:t>
            </a:r>
            <a:r>
              <a:rPr lang="en-US" altLang="zh-CN" dirty="0">
                <a:latin typeface="Arial" panose="020B0604020202020204" pitchFamily="34" charset="0"/>
                <a:cs typeface="Arial" panose="020B0604020202020204" pitchFamily="34" charset="0"/>
              </a:rPr>
              <a:t>API</a:t>
            </a:r>
            <a:r>
              <a:rPr lang="zh-CN" altLang="en-US" dirty="0">
                <a:latin typeface="Arial" panose="020B0604020202020204" pitchFamily="34" charset="0"/>
                <a:cs typeface="Arial" panose="020B0604020202020204" pitchFamily="34" charset="0"/>
              </a:rPr>
              <a:t>集合</a:t>
            </a:r>
          </a:p>
        </p:txBody>
      </p:sp>
      <p:sp>
        <p:nvSpPr>
          <p:cNvPr id="3" name="标题 2">
            <a:extLst>
              <a:ext uri="{FF2B5EF4-FFF2-40B4-BE49-F238E27FC236}">
                <a16:creationId xmlns:a16="http://schemas.microsoft.com/office/drawing/2014/main" id="{36F046F7-3629-8A23-5FF8-FD250B17989D}"/>
              </a:ext>
            </a:extLst>
          </p:cNvPr>
          <p:cNvSpPr>
            <a:spLocks noGrp="1"/>
          </p:cNvSpPr>
          <p:nvPr>
            <p:ph type="title"/>
          </p:nvPr>
        </p:nvSpPr>
        <p:spPr/>
        <p:txBody>
          <a:bodyPr/>
          <a:lstStyle/>
          <a:p>
            <a:r>
              <a:rPr lang="en-US" altLang="zh-CN" dirty="0"/>
              <a:t>JDBC</a:t>
            </a:r>
            <a:endParaRPr lang="zh-CN" altLang="en-US" dirty="0"/>
          </a:p>
        </p:txBody>
      </p:sp>
    </p:spTree>
    <p:extLst>
      <p:ext uri="{BB962C8B-B14F-4D97-AF65-F5344CB8AC3E}">
        <p14:creationId xmlns:p14="http://schemas.microsoft.com/office/powerpoint/2010/main" val="3557750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7" name="Rectangle 3"/>
          <p:cNvSpPr>
            <a:spLocks noGrp="1" noChangeArrowheads="1"/>
          </p:cNvSpPr>
          <p:nvPr>
            <p:ph type="body" idx="1"/>
          </p:nvPr>
        </p:nvSpPr>
        <p:spPr>
          <a:xfrm>
            <a:off x="-10210" y="1263887"/>
            <a:ext cx="2052799" cy="3117335"/>
          </a:xfrm>
        </p:spPr>
        <p:txBody>
          <a:bodyPr>
            <a:normAutofit/>
          </a:bodyPr>
          <a:lstStyle/>
          <a:p>
            <a:r>
              <a:rPr lang="en-US" altLang="zh-CN" sz="2000" dirty="0">
                <a:latin typeface="Arial" panose="020B0604020202020204" pitchFamily="34" charset="0"/>
                <a:cs typeface="Arial" panose="020B0604020202020204" pitchFamily="34" charset="0"/>
              </a:rPr>
              <a:t>JDBC</a:t>
            </a:r>
            <a:r>
              <a:rPr lang="zh-CN" altLang="en-US" sz="2000" dirty="0">
                <a:latin typeface="Arial" panose="020B0604020202020204" pitchFamily="34" charset="0"/>
                <a:cs typeface="Arial" panose="020B0604020202020204" pitchFamily="34" charset="0"/>
              </a:rPr>
              <a:t>类似于</a:t>
            </a:r>
            <a:r>
              <a:rPr lang="en-US" altLang="zh-CN" sz="2000" dirty="0">
                <a:latin typeface="Arial" panose="020B0604020202020204" pitchFamily="34" charset="0"/>
                <a:cs typeface="Arial" panose="020B0604020202020204" pitchFamily="34" charset="0"/>
              </a:rPr>
              <a:t>ODBC</a:t>
            </a:r>
            <a:r>
              <a:rPr lang="zh-CN" altLang="en-US" sz="2000" dirty="0">
                <a:latin typeface="Arial" panose="020B0604020202020204" pitchFamily="34" charset="0"/>
                <a:cs typeface="Arial" panose="020B0604020202020204" pitchFamily="34" charset="0"/>
              </a:rPr>
              <a:t>的方式，屏蔽了数据库产品之间的接口差异</a:t>
            </a:r>
          </a:p>
        </p:txBody>
      </p:sp>
      <p:sp>
        <p:nvSpPr>
          <p:cNvPr id="11" name="标题 10">
            <a:extLst>
              <a:ext uri="{FF2B5EF4-FFF2-40B4-BE49-F238E27FC236}">
                <a16:creationId xmlns:a16="http://schemas.microsoft.com/office/drawing/2014/main" id="{FDFF55AF-7977-E441-31CB-C869E3C3ADEE}"/>
              </a:ext>
            </a:extLst>
          </p:cNvPr>
          <p:cNvSpPr>
            <a:spLocks noGrp="1"/>
          </p:cNvSpPr>
          <p:nvPr>
            <p:ph type="title"/>
          </p:nvPr>
        </p:nvSpPr>
        <p:spPr/>
        <p:txBody>
          <a:bodyPr/>
          <a:lstStyle/>
          <a:p>
            <a:r>
              <a:rPr lang="en-US" altLang="zh-CN" dirty="0">
                <a:latin typeface="Arial" panose="020B0604020202020204" pitchFamily="34" charset="0"/>
                <a:cs typeface="Arial" panose="020B0604020202020204" pitchFamily="34" charset="0"/>
              </a:rPr>
              <a:t>JDBC</a:t>
            </a:r>
            <a:endParaRPr lang="zh-CN" altLang="en-US" dirty="0">
              <a:latin typeface="Arial" panose="020B0604020202020204" pitchFamily="34" charset="0"/>
              <a:cs typeface="Arial" panose="020B0604020202020204" pitchFamily="34" charset="0"/>
            </a:endParaRPr>
          </a:p>
        </p:txBody>
      </p:sp>
      <p:grpSp>
        <p:nvGrpSpPr>
          <p:cNvPr id="13" name="Group 2">
            <a:extLst>
              <a:ext uri="{FF2B5EF4-FFF2-40B4-BE49-F238E27FC236}">
                <a16:creationId xmlns:a16="http://schemas.microsoft.com/office/drawing/2014/main" id="{A08EC974-C1D4-B717-CFA6-27A684894D79}"/>
              </a:ext>
            </a:extLst>
          </p:cNvPr>
          <p:cNvGrpSpPr>
            <a:grpSpLocks/>
          </p:cNvGrpSpPr>
          <p:nvPr/>
        </p:nvGrpSpPr>
        <p:grpSpPr bwMode="auto">
          <a:xfrm>
            <a:off x="2301468" y="3490675"/>
            <a:ext cx="4787504" cy="403863"/>
            <a:chOff x="0" y="2480"/>
            <a:chExt cx="3518" cy="282"/>
          </a:xfrm>
        </p:grpSpPr>
        <p:sp>
          <p:nvSpPr>
            <p:cNvPr id="15" name="Text Box 3">
              <a:extLst>
                <a:ext uri="{FF2B5EF4-FFF2-40B4-BE49-F238E27FC236}">
                  <a16:creationId xmlns:a16="http://schemas.microsoft.com/office/drawing/2014/main" id="{BF8D5371-2F8D-9B8A-230B-4502FFF252FE}"/>
                </a:ext>
              </a:extLst>
            </p:cNvPr>
            <p:cNvSpPr txBox="1">
              <a:spLocks noChangeArrowheads="1"/>
            </p:cNvSpPr>
            <p:nvPr/>
          </p:nvSpPr>
          <p:spPr bwMode="auto">
            <a:xfrm>
              <a:off x="0" y="2480"/>
              <a:ext cx="570" cy="28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prstDash val="sysDot"/>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80006" tIns="40003" rIns="80006" bIns="40003">
              <a:spAutoFit/>
            </a:bodyPr>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spcBef>
                  <a:spcPct val="50000"/>
                </a:spcBef>
              </a:pPr>
              <a:r>
                <a:rPr lang="zh-CN" altLang="en-US" sz="2100">
                  <a:solidFill>
                    <a:schemeClr val="bg1"/>
                  </a:solidFill>
                  <a:latin typeface="Arial" panose="020B0604020202020204" pitchFamily="34" charset="0"/>
                  <a:ea typeface="Microsoft YaHei" panose="020B0503020204020204" pitchFamily="34" charset="-122"/>
                  <a:cs typeface="Arial" panose="020B0604020202020204" pitchFamily="34" charset="0"/>
                </a:rPr>
                <a:t>网络</a:t>
              </a:r>
            </a:p>
          </p:txBody>
        </p:sp>
        <p:sp>
          <p:nvSpPr>
            <p:cNvPr id="17" name="Line 4">
              <a:extLst>
                <a:ext uri="{FF2B5EF4-FFF2-40B4-BE49-F238E27FC236}">
                  <a16:creationId xmlns:a16="http://schemas.microsoft.com/office/drawing/2014/main" id="{B1CA8FAB-B1B1-5623-1085-CC4F40A53514}"/>
                </a:ext>
              </a:extLst>
            </p:cNvPr>
            <p:cNvSpPr>
              <a:spLocks noChangeShapeType="1"/>
            </p:cNvSpPr>
            <p:nvPr/>
          </p:nvSpPr>
          <p:spPr bwMode="auto">
            <a:xfrm>
              <a:off x="479" y="2616"/>
              <a:ext cx="3039" cy="0"/>
            </a:xfrm>
            <a:prstGeom prst="line">
              <a:avLst/>
            </a:prstGeom>
            <a:noFill/>
            <a:ln w="57150">
              <a:solidFill>
                <a:schemeClr val="hlink"/>
              </a:solidFill>
              <a:prstDash val="sysDot"/>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grpSp>
        <p:nvGrpSpPr>
          <p:cNvPr id="19" name="Group 6">
            <a:extLst>
              <a:ext uri="{FF2B5EF4-FFF2-40B4-BE49-F238E27FC236}">
                <a16:creationId xmlns:a16="http://schemas.microsoft.com/office/drawing/2014/main" id="{1D3BA929-FF93-DBBB-4E92-74627498B717}"/>
              </a:ext>
            </a:extLst>
          </p:cNvPr>
          <p:cNvGrpSpPr>
            <a:grpSpLocks/>
          </p:cNvGrpSpPr>
          <p:nvPr/>
        </p:nvGrpSpPr>
        <p:grpSpPr bwMode="auto">
          <a:xfrm>
            <a:off x="2489587" y="616507"/>
            <a:ext cx="4743450" cy="659606"/>
            <a:chOff x="157" y="576"/>
            <a:chExt cx="3983" cy="555"/>
          </a:xfrm>
        </p:grpSpPr>
        <p:sp>
          <p:nvSpPr>
            <p:cNvPr id="21" name="Text Box 7">
              <a:extLst>
                <a:ext uri="{FF2B5EF4-FFF2-40B4-BE49-F238E27FC236}">
                  <a16:creationId xmlns:a16="http://schemas.microsoft.com/office/drawing/2014/main" id="{AF37C036-2180-6D88-2AB9-F58B0F99771B}"/>
                </a:ext>
              </a:extLst>
            </p:cNvPr>
            <p:cNvSpPr txBox="1">
              <a:spLocks noChangeArrowheads="1"/>
            </p:cNvSpPr>
            <p:nvPr/>
          </p:nvSpPr>
          <p:spPr bwMode="auto">
            <a:xfrm>
              <a:off x="240" y="576"/>
              <a:ext cx="926" cy="247"/>
            </a:xfrm>
            <a:prstGeom prst="rect">
              <a:avLst/>
            </a:prstGeom>
            <a:solidFill>
              <a:srgbClr val="66CC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3497" tIns="8099" rIns="13497" bIns="8099">
              <a:spAutoFit/>
            </a:bodyPr>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algn="just" eaLnBrk="0" hangingPunct="0"/>
              <a:r>
                <a:rPr kumimoji="0" lang="zh-CN" altLang="en-US" sz="1800">
                  <a:solidFill>
                    <a:srgbClr val="000000"/>
                  </a:solidFill>
                  <a:latin typeface="Arial" panose="020B0604020202020204" pitchFamily="34" charset="0"/>
                  <a:ea typeface="Microsoft YaHei" panose="020B0503020204020204" pitchFamily="34" charset="-122"/>
                  <a:cs typeface="Arial" panose="020B0604020202020204" pitchFamily="34" charset="0"/>
                </a:rPr>
                <a:t>应用程序</a:t>
              </a:r>
              <a:r>
                <a:rPr kumimoji="0" lang="en-US" altLang="zh-CN" sz="1800">
                  <a:solidFill>
                    <a:srgbClr val="000000"/>
                  </a:solidFill>
                  <a:latin typeface="Arial" panose="020B0604020202020204" pitchFamily="34" charset="0"/>
                  <a:ea typeface="Microsoft YaHei" panose="020B0503020204020204" pitchFamily="34" charset="-122"/>
                  <a:cs typeface="Arial" panose="020B0604020202020204" pitchFamily="34" charset="0"/>
                </a:rPr>
                <a:t>1</a:t>
              </a:r>
            </a:p>
          </p:txBody>
        </p:sp>
        <p:sp>
          <p:nvSpPr>
            <p:cNvPr id="22" name="Text Box 8">
              <a:extLst>
                <a:ext uri="{FF2B5EF4-FFF2-40B4-BE49-F238E27FC236}">
                  <a16:creationId xmlns:a16="http://schemas.microsoft.com/office/drawing/2014/main" id="{7A3E8157-6577-1773-0878-B32D7F9DA127}"/>
                </a:ext>
              </a:extLst>
            </p:cNvPr>
            <p:cNvSpPr txBox="1">
              <a:spLocks noChangeArrowheads="1"/>
            </p:cNvSpPr>
            <p:nvPr/>
          </p:nvSpPr>
          <p:spPr bwMode="auto">
            <a:xfrm>
              <a:off x="1302" y="576"/>
              <a:ext cx="926" cy="247"/>
            </a:xfrm>
            <a:prstGeom prst="rect">
              <a:avLst/>
            </a:prstGeom>
            <a:solidFill>
              <a:srgbClr val="66CC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3497" tIns="8099" rIns="13497" bIns="8099">
              <a:spAutoFit/>
            </a:bodyPr>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algn="just" eaLnBrk="0" hangingPunct="0"/>
              <a:r>
                <a:rPr kumimoji="0" lang="zh-CN" altLang="en-US" sz="1800">
                  <a:solidFill>
                    <a:srgbClr val="000000"/>
                  </a:solidFill>
                  <a:latin typeface="Arial" panose="020B0604020202020204" pitchFamily="34" charset="0"/>
                  <a:ea typeface="Microsoft YaHei" panose="020B0503020204020204" pitchFamily="34" charset="-122"/>
                  <a:cs typeface="Arial" panose="020B0604020202020204" pitchFamily="34" charset="0"/>
                </a:rPr>
                <a:t>应用程序</a:t>
              </a:r>
              <a:r>
                <a:rPr kumimoji="0" lang="en-US" altLang="zh-CN" sz="1800">
                  <a:solidFill>
                    <a:srgbClr val="000000"/>
                  </a:solidFill>
                  <a:latin typeface="Arial" panose="020B0604020202020204" pitchFamily="34" charset="0"/>
                  <a:ea typeface="Microsoft YaHei" panose="020B0503020204020204" pitchFamily="34" charset="-122"/>
                  <a:cs typeface="Arial" panose="020B0604020202020204" pitchFamily="34" charset="0"/>
                </a:rPr>
                <a:t>2</a:t>
              </a:r>
            </a:p>
          </p:txBody>
        </p:sp>
        <p:sp>
          <p:nvSpPr>
            <p:cNvPr id="23" name="Text Box 9">
              <a:extLst>
                <a:ext uri="{FF2B5EF4-FFF2-40B4-BE49-F238E27FC236}">
                  <a16:creationId xmlns:a16="http://schemas.microsoft.com/office/drawing/2014/main" id="{4CFA0442-9B0D-D315-7A97-FEB32FE5E5EC}"/>
                </a:ext>
              </a:extLst>
            </p:cNvPr>
            <p:cNvSpPr txBox="1">
              <a:spLocks noChangeArrowheads="1"/>
            </p:cNvSpPr>
            <p:nvPr/>
          </p:nvSpPr>
          <p:spPr bwMode="auto">
            <a:xfrm>
              <a:off x="2736" y="576"/>
              <a:ext cx="926" cy="247"/>
            </a:xfrm>
            <a:prstGeom prst="rect">
              <a:avLst/>
            </a:prstGeom>
            <a:solidFill>
              <a:srgbClr val="66CC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3497" tIns="8099" rIns="13497" bIns="8099">
              <a:spAutoFit/>
            </a:bodyPr>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algn="just" eaLnBrk="0" hangingPunct="0"/>
              <a:r>
                <a:rPr kumimoji="0" lang="zh-CN" altLang="en-US" sz="1800">
                  <a:solidFill>
                    <a:srgbClr val="000000"/>
                  </a:solidFill>
                  <a:latin typeface="Arial" panose="020B0604020202020204" pitchFamily="34" charset="0"/>
                  <a:ea typeface="Microsoft YaHei" panose="020B0503020204020204" pitchFamily="34" charset="-122"/>
                  <a:cs typeface="Arial" panose="020B0604020202020204" pitchFamily="34" charset="0"/>
                </a:rPr>
                <a:t>应用程序</a:t>
              </a:r>
              <a:r>
                <a:rPr kumimoji="0" lang="en-US" altLang="zh-CN" sz="1800">
                  <a:solidFill>
                    <a:srgbClr val="000000"/>
                  </a:solidFill>
                  <a:latin typeface="Arial" panose="020B0604020202020204" pitchFamily="34" charset="0"/>
                  <a:ea typeface="Microsoft YaHei" panose="020B0503020204020204" pitchFamily="34" charset="-122"/>
                  <a:cs typeface="Arial" panose="020B0604020202020204" pitchFamily="34" charset="0"/>
                </a:rPr>
                <a:t>n</a:t>
              </a:r>
            </a:p>
          </p:txBody>
        </p:sp>
        <p:sp>
          <p:nvSpPr>
            <p:cNvPr id="24" name="Text Box 10">
              <a:extLst>
                <a:ext uri="{FF2B5EF4-FFF2-40B4-BE49-F238E27FC236}">
                  <a16:creationId xmlns:a16="http://schemas.microsoft.com/office/drawing/2014/main" id="{4E3C4290-7802-3A17-EBF8-B9E7CF27B14A}"/>
                </a:ext>
              </a:extLst>
            </p:cNvPr>
            <p:cNvSpPr txBox="1">
              <a:spLocks noChangeArrowheads="1"/>
            </p:cNvSpPr>
            <p:nvPr/>
          </p:nvSpPr>
          <p:spPr bwMode="auto">
            <a:xfrm>
              <a:off x="2256" y="576"/>
              <a:ext cx="463" cy="247"/>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3497" tIns="8099" rIns="13497" bIns="8099">
              <a:spAutoFit/>
            </a:bodyPr>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algn="just" eaLnBrk="0" hangingPunct="0"/>
              <a:r>
                <a:rPr kumimoji="0" lang="en-US" altLang="zh-CN" sz="1800">
                  <a:solidFill>
                    <a:srgbClr val="000000"/>
                  </a:solidFill>
                  <a:latin typeface="Arial" panose="020B0604020202020204" pitchFamily="34" charset="0"/>
                  <a:ea typeface="Microsoft YaHei" panose="020B0503020204020204" pitchFamily="34" charset="-122"/>
                  <a:cs typeface="Arial" panose="020B0604020202020204" pitchFamily="34" charset="0"/>
                </a:rPr>
                <a:t>…</a:t>
              </a:r>
            </a:p>
          </p:txBody>
        </p:sp>
        <p:sp>
          <p:nvSpPr>
            <p:cNvPr id="25" name="Line 11">
              <a:extLst>
                <a:ext uri="{FF2B5EF4-FFF2-40B4-BE49-F238E27FC236}">
                  <a16:creationId xmlns:a16="http://schemas.microsoft.com/office/drawing/2014/main" id="{5897B351-43F8-0729-F591-64E9A78D90C5}"/>
                </a:ext>
              </a:extLst>
            </p:cNvPr>
            <p:cNvSpPr>
              <a:spLocks noChangeShapeType="1"/>
            </p:cNvSpPr>
            <p:nvPr/>
          </p:nvSpPr>
          <p:spPr bwMode="auto">
            <a:xfrm>
              <a:off x="912" y="816"/>
              <a:ext cx="694" cy="280"/>
            </a:xfrm>
            <a:prstGeom prst="line">
              <a:avLst/>
            </a:prstGeom>
            <a:noFill/>
            <a:ln w="9525">
              <a:solidFill>
                <a:srgbClr val="000000"/>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26" name="Line 12">
              <a:extLst>
                <a:ext uri="{FF2B5EF4-FFF2-40B4-BE49-F238E27FC236}">
                  <a16:creationId xmlns:a16="http://schemas.microsoft.com/office/drawing/2014/main" id="{DFAD6491-3597-1B71-7767-2A38E79B5CF1}"/>
                </a:ext>
              </a:extLst>
            </p:cNvPr>
            <p:cNvSpPr>
              <a:spLocks noChangeShapeType="1"/>
            </p:cNvSpPr>
            <p:nvPr/>
          </p:nvSpPr>
          <p:spPr bwMode="auto">
            <a:xfrm flipH="1">
              <a:off x="1728" y="816"/>
              <a:ext cx="0" cy="288"/>
            </a:xfrm>
            <a:prstGeom prst="line">
              <a:avLst/>
            </a:prstGeom>
            <a:noFill/>
            <a:ln w="9525">
              <a:solidFill>
                <a:srgbClr val="000000"/>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27" name="Line 13">
              <a:extLst>
                <a:ext uri="{FF2B5EF4-FFF2-40B4-BE49-F238E27FC236}">
                  <a16:creationId xmlns:a16="http://schemas.microsoft.com/office/drawing/2014/main" id="{024D050C-B12F-88E5-6D45-D6D2869D0C3E}"/>
                </a:ext>
              </a:extLst>
            </p:cNvPr>
            <p:cNvSpPr>
              <a:spLocks noChangeShapeType="1"/>
            </p:cNvSpPr>
            <p:nvPr/>
          </p:nvSpPr>
          <p:spPr bwMode="auto">
            <a:xfrm flipV="1">
              <a:off x="1920" y="816"/>
              <a:ext cx="810" cy="275"/>
            </a:xfrm>
            <a:prstGeom prst="line">
              <a:avLst/>
            </a:prstGeom>
            <a:noFill/>
            <a:ln w="9525">
              <a:solidFill>
                <a:srgbClr val="000000"/>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28" name="Line 14">
              <a:extLst>
                <a:ext uri="{FF2B5EF4-FFF2-40B4-BE49-F238E27FC236}">
                  <a16:creationId xmlns:a16="http://schemas.microsoft.com/office/drawing/2014/main" id="{739493B8-B9CA-172B-64A9-5E95228B9F52}"/>
                </a:ext>
              </a:extLst>
            </p:cNvPr>
            <p:cNvSpPr>
              <a:spLocks noChangeShapeType="1"/>
            </p:cNvSpPr>
            <p:nvPr/>
          </p:nvSpPr>
          <p:spPr bwMode="auto">
            <a:xfrm>
              <a:off x="157" y="1131"/>
              <a:ext cx="3983" cy="0"/>
            </a:xfrm>
            <a:prstGeom prst="line">
              <a:avLst/>
            </a:prstGeom>
            <a:noFill/>
            <a:ln w="57150" cmpd="thickThin">
              <a:solidFill>
                <a:srgbClr val="000000"/>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sp>
        <p:nvSpPr>
          <p:cNvPr id="29" name="Text Box 15">
            <a:extLst>
              <a:ext uri="{FF2B5EF4-FFF2-40B4-BE49-F238E27FC236}">
                <a16:creationId xmlns:a16="http://schemas.microsoft.com/office/drawing/2014/main" id="{39C73474-C3F8-F86E-1ACD-48882592B7F1}"/>
              </a:ext>
            </a:extLst>
          </p:cNvPr>
          <p:cNvSpPr txBox="1">
            <a:spLocks noChangeArrowheads="1"/>
          </p:cNvSpPr>
          <p:nvPr/>
        </p:nvSpPr>
        <p:spPr bwMode="auto">
          <a:xfrm>
            <a:off x="7273518" y="1021318"/>
            <a:ext cx="1377554" cy="346234"/>
          </a:xfrm>
          <a:prstGeom prst="rect">
            <a:avLst/>
          </a:prstGeom>
          <a:noFill/>
          <a:ln>
            <a:noFill/>
          </a:ln>
          <a:effectLst/>
          <a:extLst>
            <a:ext uri="{909E8E84-426E-40dd-AFC4-6F175D3DCCD1}">
              <a14:hiddenFill xmlns="" xmlns:a14="http://schemas.microsoft.com/office/drawing/2010/main">
                <a:solidFill>
                  <a:srgbClr val="00E4A8"/>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68566" tIns="34283" rIns="68566" bIns="34283">
            <a:spAutoFit/>
          </a:bodyPr>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algn="just" eaLnBrk="0" hangingPunct="0"/>
            <a:r>
              <a:rPr kumimoji="0" lang="en-US" altLang="zh-CN" sz="1800">
                <a:solidFill>
                  <a:schemeClr val="hlink"/>
                </a:solidFill>
                <a:latin typeface="Arial" panose="020B0604020202020204" pitchFamily="34" charset="0"/>
                <a:ea typeface="Microsoft YaHei" panose="020B0503020204020204" pitchFamily="34" charset="-122"/>
                <a:cs typeface="Arial" panose="020B0604020202020204" pitchFamily="34" charset="0"/>
              </a:rPr>
              <a:t>JDBC API</a:t>
            </a:r>
          </a:p>
        </p:txBody>
      </p:sp>
      <p:sp>
        <p:nvSpPr>
          <p:cNvPr id="30" name="Text Box 16">
            <a:extLst>
              <a:ext uri="{FF2B5EF4-FFF2-40B4-BE49-F238E27FC236}">
                <a16:creationId xmlns:a16="http://schemas.microsoft.com/office/drawing/2014/main" id="{E080353F-BBFF-F9E6-1B23-DFFCB10823CA}"/>
              </a:ext>
            </a:extLst>
          </p:cNvPr>
          <p:cNvSpPr txBox="1">
            <a:spLocks noChangeArrowheads="1"/>
          </p:cNvSpPr>
          <p:nvPr/>
        </p:nvSpPr>
        <p:spPr bwMode="auto">
          <a:xfrm>
            <a:off x="7231846" y="2107168"/>
            <a:ext cx="1927622" cy="623233"/>
          </a:xfrm>
          <a:prstGeom prst="rect">
            <a:avLst/>
          </a:prstGeom>
          <a:noFill/>
          <a:ln>
            <a:noFill/>
          </a:ln>
          <a:effectLst/>
          <a:extLst>
            <a:ext uri="{909E8E84-426E-40dd-AFC4-6F175D3DCCD1}">
              <a14:hiddenFill xmlns="" xmlns:a14="http://schemas.microsoft.com/office/drawing/2010/main">
                <a:solidFill>
                  <a:srgbClr val="00E4A8"/>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68566" tIns="34283" rIns="68566" bIns="34283">
            <a:spAutoFit/>
          </a:bodyPr>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algn="just" eaLnBrk="0" hangingPunct="0"/>
            <a:r>
              <a:rPr kumimoji="0" lang="en-US" altLang="zh-CN" sz="1800">
                <a:solidFill>
                  <a:schemeClr val="hlink"/>
                </a:solidFill>
                <a:latin typeface="Arial" panose="020B0604020202020204" pitchFamily="34" charset="0"/>
                <a:ea typeface="Microsoft YaHei" panose="020B0503020204020204" pitchFamily="34" charset="-122"/>
                <a:cs typeface="Arial" panose="020B0604020202020204" pitchFamily="34" charset="0"/>
              </a:rPr>
              <a:t>JDBC</a:t>
            </a:r>
            <a:r>
              <a:rPr kumimoji="0" lang="zh-CN" altLang="en-US" sz="1800">
                <a:solidFill>
                  <a:schemeClr val="hlink"/>
                </a:solidFill>
                <a:latin typeface="Arial" panose="020B0604020202020204" pitchFamily="34" charset="0"/>
                <a:ea typeface="Microsoft YaHei" panose="020B0503020204020204" pitchFamily="34" charset="-122"/>
                <a:cs typeface="Arial" panose="020B0604020202020204" pitchFamily="34" charset="0"/>
              </a:rPr>
              <a:t>驱动程序</a:t>
            </a:r>
            <a:r>
              <a:rPr kumimoji="0" lang="en-US" altLang="zh-CN" sz="1800">
                <a:solidFill>
                  <a:schemeClr val="hlink"/>
                </a:solidFill>
                <a:latin typeface="Arial" panose="020B0604020202020204" pitchFamily="34" charset="0"/>
                <a:ea typeface="Microsoft YaHei" panose="020B0503020204020204" pitchFamily="34" charset="-122"/>
                <a:cs typeface="Arial" panose="020B0604020202020204" pitchFamily="34" charset="0"/>
              </a:rPr>
              <a:t>API</a:t>
            </a:r>
          </a:p>
        </p:txBody>
      </p:sp>
      <p:grpSp>
        <p:nvGrpSpPr>
          <p:cNvPr id="31" name="Group 17">
            <a:extLst>
              <a:ext uri="{FF2B5EF4-FFF2-40B4-BE49-F238E27FC236}">
                <a16:creationId xmlns:a16="http://schemas.microsoft.com/office/drawing/2014/main" id="{954F97CD-9E49-B1C9-BC21-140A1A532AA9}"/>
              </a:ext>
            </a:extLst>
          </p:cNvPr>
          <p:cNvGrpSpPr>
            <a:grpSpLocks/>
          </p:cNvGrpSpPr>
          <p:nvPr/>
        </p:nvGrpSpPr>
        <p:grpSpPr bwMode="auto">
          <a:xfrm>
            <a:off x="2301468" y="1265397"/>
            <a:ext cx="4914900" cy="2534981"/>
            <a:chOff x="96" y="1131"/>
            <a:chExt cx="4128" cy="2128"/>
          </a:xfrm>
        </p:grpSpPr>
        <p:sp>
          <p:nvSpPr>
            <p:cNvPr id="32" name="Text Box 18">
              <a:extLst>
                <a:ext uri="{FF2B5EF4-FFF2-40B4-BE49-F238E27FC236}">
                  <a16:creationId xmlns:a16="http://schemas.microsoft.com/office/drawing/2014/main" id="{1AF0323D-C569-8A90-650E-891B4502362D}"/>
                </a:ext>
              </a:extLst>
            </p:cNvPr>
            <p:cNvSpPr txBox="1">
              <a:spLocks noChangeArrowheads="1"/>
            </p:cNvSpPr>
            <p:nvPr/>
          </p:nvSpPr>
          <p:spPr bwMode="auto">
            <a:xfrm>
              <a:off x="272" y="1353"/>
              <a:ext cx="2778" cy="291"/>
            </a:xfrm>
            <a:prstGeom prst="rect">
              <a:avLst/>
            </a:prstGeom>
            <a:solidFill>
              <a:srgbClr val="FFFF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68566" tIns="34283" rIns="68566" bIns="34283">
              <a:spAutoFit/>
            </a:bodyPr>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eaLnBrk="0" hangingPunct="0"/>
              <a:r>
                <a:rPr kumimoji="0" lang="en-US" altLang="zh-CN" sz="1800">
                  <a:solidFill>
                    <a:srgbClr val="000000"/>
                  </a:solidFill>
                  <a:latin typeface="Arial" panose="020B0604020202020204" pitchFamily="34" charset="0"/>
                  <a:ea typeface="Microsoft YaHei" panose="020B0503020204020204" pitchFamily="34" charset="-122"/>
                  <a:cs typeface="Arial" panose="020B0604020202020204" pitchFamily="34" charset="0"/>
                </a:rPr>
                <a:t>    JDBC</a:t>
              </a:r>
              <a:r>
                <a:rPr kumimoji="0" lang="zh-CN" altLang="en-US" sz="1800">
                  <a:solidFill>
                    <a:srgbClr val="000000"/>
                  </a:solidFill>
                  <a:latin typeface="Arial" panose="020B0604020202020204" pitchFamily="34" charset="0"/>
                  <a:ea typeface="Microsoft YaHei" panose="020B0503020204020204" pitchFamily="34" charset="-122"/>
                  <a:cs typeface="Arial" panose="020B0604020202020204" pitchFamily="34" charset="0"/>
                </a:rPr>
                <a:t>驱动程序管理器</a:t>
              </a:r>
            </a:p>
          </p:txBody>
        </p:sp>
        <p:sp>
          <p:nvSpPr>
            <p:cNvPr id="33" name="Text Box 19">
              <a:extLst>
                <a:ext uri="{FF2B5EF4-FFF2-40B4-BE49-F238E27FC236}">
                  <a16:creationId xmlns:a16="http://schemas.microsoft.com/office/drawing/2014/main" id="{96ECE865-8745-72D6-C5B5-8FA7E1169858}"/>
                </a:ext>
              </a:extLst>
            </p:cNvPr>
            <p:cNvSpPr txBox="1">
              <a:spLocks noChangeArrowheads="1"/>
            </p:cNvSpPr>
            <p:nvPr/>
          </p:nvSpPr>
          <p:spPr bwMode="auto">
            <a:xfrm>
              <a:off x="2490" y="2351"/>
              <a:ext cx="774" cy="683"/>
            </a:xfrm>
            <a:prstGeom prst="rect">
              <a:avLst/>
            </a:prstGeom>
            <a:solidFill>
              <a:srgbClr val="FFCC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3497" tIns="8099" rIns="13497" bIns="8099">
              <a:spAutoFit/>
            </a:bodyPr>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algn="ctr" eaLnBrk="0" hangingPunct="0">
                <a:lnSpc>
                  <a:spcPct val="96000"/>
                </a:lnSpc>
              </a:pPr>
              <a:r>
                <a:rPr kumimoji="0" lang="en-US" altLang="zh-CN" sz="1800">
                  <a:solidFill>
                    <a:srgbClr val="000000"/>
                  </a:solidFill>
                  <a:latin typeface="Arial" panose="020B0604020202020204" pitchFamily="34" charset="0"/>
                  <a:ea typeface="Microsoft YaHei" panose="020B0503020204020204" pitchFamily="34" charset="-122"/>
                  <a:cs typeface="Arial" panose="020B0604020202020204" pitchFamily="34" charset="0"/>
                </a:rPr>
                <a:t>JDBC-Middle ware </a:t>
              </a:r>
            </a:p>
          </p:txBody>
        </p:sp>
        <p:sp>
          <p:nvSpPr>
            <p:cNvPr id="34" name="Text Box 20">
              <a:extLst>
                <a:ext uri="{FF2B5EF4-FFF2-40B4-BE49-F238E27FC236}">
                  <a16:creationId xmlns:a16="http://schemas.microsoft.com/office/drawing/2014/main" id="{88C9DAA1-4C5B-4169-9BBC-F19DAA21C7CB}"/>
                </a:ext>
              </a:extLst>
            </p:cNvPr>
            <p:cNvSpPr txBox="1">
              <a:spLocks noChangeArrowheads="1"/>
            </p:cNvSpPr>
            <p:nvPr/>
          </p:nvSpPr>
          <p:spPr bwMode="auto">
            <a:xfrm>
              <a:off x="3264" y="2352"/>
              <a:ext cx="960" cy="907"/>
            </a:xfrm>
            <a:prstGeom prst="rect">
              <a:avLst/>
            </a:prstGeom>
            <a:solidFill>
              <a:srgbClr val="FFCC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3497" tIns="8099" rIns="13497" bIns="8099">
              <a:spAutoFit/>
            </a:bodyPr>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algn="ctr" eaLnBrk="0" hangingPunct="0">
                <a:lnSpc>
                  <a:spcPct val="96000"/>
                </a:lnSpc>
              </a:pPr>
              <a:r>
                <a:rPr kumimoji="0" lang="en-US" altLang="zh-CN" sz="1800" dirty="0">
                  <a:solidFill>
                    <a:srgbClr val="000000"/>
                  </a:solidFill>
                  <a:latin typeface="Arial" panose="020B0604020202020204" pitchFamily="34" charset="0"/>
                  <a:ea typeface="Microsoft YaHei" panose="020B0503020204020204" pitchFamily="34" charset="-122"/>
                  <a:cs typeface="Arial" panose="020B0604020202020204" pitchFamily="34" charset="0"/>
                </a:rPr>
                <a:t>Pure JDBC Driver </a:t>
              </a:r>
            </a:p>
            <a:p>
              <a:pPr algn="ctr" eaLnBrk="0" hangingPunct="0">
                <a:lnSpc>
                  <a:spcPct val="96000"/>
                </a:lnSpc>
              </a:pPr>
              <a:endParaRPr kumimoji="0" lang="zh-CN" altLang="en-US" sz="1800" dirty="0">
                <a:solidFill>
                  <a:srgbClr val="000000"/>
                </a:solidFill>
                <a:latin typeface="Arial" panose="020B0604020202020204" pitchFamily="34" charset="0"/>
                <a:ea typeface="Microsoft YaHei" panose="020B0503020204020204" pitchFamily="34" charset="-122"/>
                <a:cs typeface="Arial" panose="020B0604020202020204" pitchFamily="34" charset="0"/>
              </a:endParaRPr>
            </a:p>
          </p:txBody>
        </p:sp>
        <p:sp>
          <p:nvSpPr>
            <p:cNvPr id="35" name="Text Box 21">
              <a:extLst>
                <a:ext uri="{FF2B5EF4-FFF2-40B4-BE49-F238E27FC236}">
                  <a16:creationId xmlns:a16="http://schemas.microsoft.com/office/drawing/2014/main" id="{B69FA614-35C2-99B0-FE1C-5E8C2F1C6B4E}"/>
                </a:ext>
              </a:extLst>
            </p:cNvPr>
            <p:cNvSpPr txBox="1">
              <a:spLocks noChangeArrowheads="1"/>
            </p:cNvSpPr>
            <p:nvPr/>
          </p:nvSpPr>
          <p:spPr bwMode="auto">
            <a:xfrm>
              <a:off x="1392" y="2352"/>
              <a:ext cx="1104" cy="907"/>
            </a:xfrm>
            <a:prstGeom prst="rect">
              <a:avLst/>
            </a:prstGeom>
            <a:solidFill>
              <a:srgbClr val="FFCC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3497" tIns="8099" rIns="13497" bIns="8099">
              <a:spAutoFit/>
            </a:bodyPr>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algn="ctr" eaLnBrk="0" hangingPunct="0">
                <a:lnSpc>
                  <a:spcPct val="96000"/>
                </a:lnSpc>
              </a:pPr>
              <a:r>
                <a:rPr kumimoji="0" lang="en-US" altLang="zh-CN" sz="1800">
                  <a:solidFill>
                    <a:srgbClr val="000000"/>
                  </a:solidFill>
                  <a:latin typeface="Arial" panose="020B0604020202020204" pitchFamily="34" charset="0"/>
                  <a:ea typeface="Microsoft YaHei" panose="020B0503020204020204" pitchFamily="34" charset="-122"/>
                  <a:cs typeface="Arial" panose="020B0604020202020204" pitchFamily="34" charset="0"/>
                </a:rPr>
                <a:t>JDBC-Native API Bridge</a:t>
              </a:r>
            </a:p>
            <a:p>
              <a:pPr algn="ctr" eaLnBrk="0" hangingPunct="0">
                <a:lnSpc>
                  <a:spcPct val="96000"/>
                </a:lnSpc>
              </a:pPr>
              <a:r>
                <a:rPr kumimoji="0" lang="en-US" altLang="zh-CN" sz="1800">
                  <a:solidFill>
                    <a:srgbClr val="000000"/>
                  </a:solidFill>
                  <a:latin typeface="Arial" panose="020B0604020202020204" pitchFamily="34" charset="0"/>
                  <a:ea typeface="Microsoft YaHei" panose="020B0503020204020204" pitchFamily="34" charset="-122"/>
                  <a:cs typeface="Arial" panose="020B0604020202020204" pitchFamily="34" charset="0"/>
                </a:rPr>
                <a:t> </a:t>
              </a:r>
            </a:p>
          </p:txBody>
        </p:sp>
        <p:sp>
          <p:nvSpPr>
            <p:cNvPr id="36" name="Text Box 22">
              <a:extLst>
                <a:ext uri="{FF2B5EF4-FFF2-40B4-BE49-F238E27FC236}">
                  <a16:creationId xmlns:a16="http://schemas.microsoft.com/office/drawing/2014/main" id="{9812C41B-88DF-EBB6-1CD9-A51E4328B62D}"/>
                </a:ext>
              </a:extLst>
            </p:cNvPr>
            <p:cNvSpPr txBox="1">
              <a:spLocks noChangeArrowheads="1"/>
            </p:cNvSpPr>
            <p:nvPr/>
          </p:nvSpPr>
          <p:spPr bwMode="auto">
            <a:xfrm>
              <a:off x="144" y="2352"/>
              <a:ext cx="1248" cy="683"/>
            </a:xfrm>
            <a:prstGeom prst="rect">
              <a:avLst/>
            </a:prstGeom>
            <a:solidFill>
              <a:srgbClr val="FFCC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3497" tIns="8099" rIns="13497" bIns="8099">
              <a:spAutoFit/>
            </a:bodyPr>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algn="ctr" eaLnBrk="0" hangingPunct="0">
                <a:lnSpc>
                  <a:spcPct val="96000"/>
                </a:lnSpc>
              </a:pPr>
              <a:r>
                <a:rPr kumimoji="0" lang="en-US" altLang="zh-CN" sz="1800">
                  <a:solidFill>
                    <a:srgbClr val="000000"/>
                  </a:solidFill>
                  <a:latin typeface="Arial" panose="020B0604020202020204" pitchFamily="34" charset="0"/>
                  <a:ea typeface="Microsoft YaHei" panose="020B0503020204020204" pitchFamily="34" charset="-122"/>
                  <a:cs typeface="Arial" panose="020B0604020202020204" pitchFamily="34" charset="0"/>
                </a:rPr>
                <a:t>JDBC-ODBC Bridge</a:t>
              </a:r>
            </a:p>
            <a:p>
              <a:pPr algn="ctr" eaLnBrk="0" hangingPunct="0">
                <a:lnSpc>
                  <a:spcPct val="96000"/>
                </a:lnSpc>
              </a:pPr>
              <a:r>
                <a:rPr kumimoji="0" lang="en-US" altLang="zh-CN" sz="1800">
                  <a:solidFill>
                    <a:srgbClr val="000000"/>
                  </a:solidFill>
                  <a:latin typeface="Arial" panose="020B0604020202020204" pitchFamily="34" charset="0"/>
                  <a:ea typeface="Microsoft YaHei" panose="020B0503020204020204" pitchFamily="34" charset="-122"/>
                  <a:cs typeface="Arial" panose="020B0604020202020204" pitchFamily="34" charset="0"/>
                </a:rPr>
                <a:t>ODBC Driver</a:t>
              </a:r>
            </a:p>
          </p:txBody>
        </p:sp>
        <p:sp>
          <p:nvSpPr>
            <p:cNvPr id="37" name="Line 23">
              <a:extLst>
                <a:ext uri="{FF2B5EF4-FFF2-40B4-BE49-F238E27FC236}">
                  <a16:creationId xmlns:a16="http://schemas.microsoft.com/office/drawing/2014/main" id="{237CC536-271A-7D97-0FA4-04EA4A8B403B}"/>
                </a:ext>
              </a:extLst>
            </p:cNvPr>
            <p:cNvSpPr>
              <a:spLocks noChangeShapeType="1"/>
            </p:cNvSpPr>
            <p:nvPr/>
          </p:nvSpPr>
          <p:spPr bwMode="auto">
            <a:xfrm>
              <a:off x="144" y="2784"/>
              <a:ext cx="1248" cy="0"/>
            </a:xfrm>
            <a:prstGeom prst="line">
              <a:avLst/>
            </a:prstGeom>
            <a:noFill/>
            <a:ln w="9525">
              <a:solidFill>
                <a:srgbClr val="000000"/>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38" name="AutoShape 24">
              <a:extLst>
                <a:ext uri="{FF2B5EF4-FFF2-40B4-BE49-F238E27FC236}">
                  <a16:creationId xmlns:a16="http://schemas.microsoft.com/office/drawing/2014/main" id="{45B3FF74-ED0C-1222-B876-3E0BCC350260}"/>
                </a:ext>
              </a:extLst>
            </p:cNvPr>
            <p:cNvSpPr>
              <a:spLocks noChangeArrowheads="1"/>
            </p:cNvSpPr>
            <p:nvPr/>
          </p:nvSpPr>
          <p:spPr bwMode="auto">
            <a:xfrm>
              <a:off x="1546" y="1131"/>
              <a:ext cx="231" cy="222"/>
            </a:xfrm>
            <a:prstGeom prst="downArrow">
              <a:avLst>
                <a:gd name="adj1" fmla="val 50000"/>
                <a:gd name="adj2" fmla="val 25000"/>
              </a:avLst>
            </a:prstGeom>
            <a:solidFill>
              <a:srgbClr val="C4C7C3"/>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nchor="ctr"/>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39" name="Line 25">
              <a:extLst>
                <a:ext uri="{FF2B5EF4-FFF2-40B4-BE49-F238E27FC236}">
                  <a16:creationId xmlns:a16="http://schemas.microsoft.com/office/drawing/2014/main" id="{F824E0F2-C4F5-D9DF-5973-35C7DA49628E}"/>
                </a:ext>
              </a:extLst>
            </p:cNvPr>
            <p:cNvSpPr>
              <a:spLocks noChangeShapeType="1"/>
            </p:cNvSpPr>
            <p:nvPr/>
          </p:nvSpPr>
          <p:spPr bwMode="auto">
            <a:xfrm>
              <a:off x="96" y="2016"/>
              <a:ext cx="4031" cy="0"/>
            </a:xfrm>
            <a:prstGeom prst="line">
              <a:avLst/>
            </a:prstGeom>
            <a:noFill/>
            <a:ln w="57150" cmpd="thickThin">
              <a:solidFill>
                <a:srgbClr val="000000"/>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0" name="AutoShape 26">
              <a:extLst>
                <a:ext uri="{FF2B5EF4-FFF2-40B4-BE49-F238E27FC236}">
                  <a16:creationId xmlns:a16="http://schemas.microsoft.com/office/drawing/2014/main" id="{204436E6-59A2-612F-D51D-2620744CDC79}"/>
                </a:ext>
              </a:extLst>
            </p:cNvPr>
            <p:cNvSpPr>
              <a:spLocks noChangeArrowheads="1"/>
            </p:cNvSpPr>
            <p:nvPr/>
          </p:nvSpPr>
          <p:spPr bwMode="auto">
            <a:xfrm>
              <a:off x="1546" y="1632"/>
              <a:ext cx="231" cy="384"/>
            </a:xfrm>
            <a:prstGeom prst="downArrow">
              <a:avLst>
                <a:gd name="adj1" fmla="val 50000"/>
                <a:gd name="adj2" fmla="val 41558"/>
              </a:avLst>
            </a:prstGeom>
            <a:solidFill>
              <a:srgbClr val="C4C7C3"/>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nchor="ctr"/>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1" name="Line 27">
              <a:extLst>
                <a:ext uri="{FF2B5EF4-FFF2-40B4-BE49-F238E27FC236}">
                  <a16:creationId xmlns:a16="http://schemas.microsoft.com/office/drawing/2014/main" id="{15F75098-9F62-E6DF-85E2-0F1AD59E43D0}"/>
                </a:ext>
              </a:extLst>
            </p:cNvPr>
            <p:cNvSpPr>
              <a:spLocks noChangeShapeType="1"/>
            </p:cNvSpPr>
            <p:nvPr/>
          </p:nvSpPr>
          <p:spPr bwMode="auto">
            <a:xfrm>
              <a:off x="672" y="2016"/>
              <a:ext cx="0" cy="333"/>
            </a:xfrm>
            <a:prstGeom prst="line">
              <a:avLst/>
            </a:prstGeom>
            <a:noFill/>
            <a:ln w="9525">
              <a:solidFill>
                <a:srgbClr val="000000"/>
              </a:solidFill>
              <a:miter lim="800000"/>
              <a:headEnd/>
              <a:tailEnd type="stealth"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2" name="Line 28">
              <a:extLst>
                <a:ext uri="{FF2B5EF4-FFF2-40B4-BE49-F238E27FC236}">
                  <a16:creationId xmlns:a16="http://schemas.microsoft.com/office/drawing/2014/main" id="{B691EDE3-1CB7-2156-57BA-B164C5079F90}"/>
                </a:ext>
              </a:extLst>
            </p:cNvPr>
            <p:cNvSpPr>
              <a:spLocks noChangeShapeType="1"/>
            </p:cNvSpPr>
            <p:nvPr/>
          </p:nvSpPr>
          <p:spPr bwMode="auto">
            <a:xfrm>
              <a:off x="1762" y="2019"/>
              <a:ext cx="0" cy="333"/>
            </a:xfrm>
            <a:prstGeom prst="line">
              <a:avLst/>
            </a:prstGeom>
            <a:noFill/>
            <a:ln w="9525">
              <a:solidFill>
                <a:srgbClr val="000000"/>
              </a:solidFill>
              <a:miter lim="800000"/>
              <a:headEnd/>
              <a:tailEnd type="stealth"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3" name="Line 29">
              <a:extLst>
                <a:ext uri="{FF2B5EF4-FFF2-40B4-BE49-F238E27FC236}">
                  <a16:creationId xmlns:a16="http://schemas.microsoft.com/office/drawing/2014/main" id="{1EC53C23-3023-4AE9-5F18-C747D2925165}"/>
                </a:ext>
              </a:extLst>
            </p:cNvPr>
            <p:cNvSpPr>
              <a:spLocks noChangeShapeType="1"/>
            </p:cNvSpPr>
            <p:nvPr/>
          </p:nvSpPr>
          <p:spPr bwMode="auto">
            <a:xfrm>
              <a:off x="2653" y="2018"/>
              <a:ext cx="0" cy="333"/>
            </a:xfrm>
            <a:prstGeom prst="line">
              <a:avLst/>
            </a:prstGeom>
            <a:noFill/>
            <a:ln w="9525">
              <a:solidFill>
                <a:srgbClr val="000000"/>
              </a:solidFill>
              <a:miter lim="800000"/>
              <a:headEnd/>
              <a:tailEnd type="stealth"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4" name="Line 30">
              <a:extLst>
                <a:ext uri="{FF2B5EF4-FFF2-40B4-BE49-F238E27FC236}">
                  <a16:creationId xmlns:a16="http://schemas.microsoft.com/office/drawing/2014/main" id="{E095D01B-CC1E-558E-D6CA-064954B4FEAA}"/>
                </a:ext>
              </a:extLst>
            </p:cNvPr>
            <p:cNvSpPr>
              <a:spLocks noChangeShapeType="1"/>
            </p:cNvSpPr>
            <p:nvPr/>
          </p:nvSpPr>
          <p:spPr bwMode="auto">
            <a:xfrm>
              <a:off x="3456" y="2016"/>
              <a:ext cx="0" cy="333"/>
            </a:xfrm>
            <a:prstGeom prst="line">
              <a:avLst/>
            </a:prstGeom>
            <a:noFill/>
            <a:ln w="9525">
              <a:solidFill>
                <a:srgbClr val="000000"/>
              </a:solidFill>
              <a:miter lim="800000"/>
              <a:headEnd/>
              <a:tailEnd type="stealth"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 name="Text Box 31">
              <a:extLst>
                <a:ext uri="{FF2B5EF4-FFF2-40B4-BE49-F238E27FC236}">
                  <a16:creationId xmlns:a16="http://schemas.microsoft.com/office/drawing/2014/main" id="{A5DCC6C5-5744-D357-875B-EB569E2029F7}"/>
                </a:ext>
              </a:extLst>
            </p:cNvPr>
            <p:cNvSpPr txBox="1">
              <a:spLocks noChangeArrowheads="1"/>
            </p:cNvSpPr>
            <p:nvPr/>
          </p:nvSpPr>
          <p:spPr bwMode="auto">
            <a:xfrm>
              <a:off x="768" y="2112"/>
              <a:ext cx="545" cy="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3497" tIns="8099" rIns="13497" bIns="8099"/>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algn="just" eaLnBrk="0" hangingPunct="0"/>
              <a:r>
                <a:rPr kumimoji="0" lang="zh-CN" altLang="en-US" sz="1800">
                  <a:solidFill>
                    <a:srgbClr val="000000"/>
                  </a:solidFill>
                  <a:latin typeface="Arial" panose="020B0604020202020204" pitchFamily="34" charset="0"/>
                  <a:ea typeface="Microsoft YaHei" panose="020B0503020204020204" pitchFamily="34" charset="-122"/>
                  <a:cs typeface="Arial" panose="020B0604020202020204" pitchFamily="34" charset="0"/>
                </a:rPr>
                <a:t>类型</a:t>
              </a:r>
              <a:r>
                <a:rPr kumimoji="0" lang="en-US" altLang="zh-CN" sz="1800">
                  <a:solidFill>
                    <a:srgbClr val="000000"/>
                  </a:solidFill>
                  <a:latin typeface="Arial" panose="020B0604020202020204" pitchFamily="34" charset="0"/>
                  <a:ea typeface="Microsoft YaHei" panose="020B0503020204020204" pitchFamily="34" charset="-122"/>
                  <a:cs typeface="Arial" panose="020B0604020202020204" pitchFamily="34" charset="0"/>
                </a:rPr>
                <a:t>1</a:t>
              </a:r>
            </a:p>
          </p:txBody>
        </p:sp>
        <p:sp>
          <p:nvSpPr>
            <p:cNvPr id="46" name="Text Box 32">
              <a:extLst>
                <a:ext uri="{FF2B5EF4-FFF2-40B4-BE49-F238E27FC236}">
                  <a16:creationId xmlns:a16="http://schemas.microsoft.com/office/drawing/2014/main" id="{A50A179A-F043-DB7B-D34B-099D331B8D87}"/>
                </a:ext>
              </a:extLst>
            </p:cNvPr>
            <p:cNvSpPr txBox="1">
              <a:spLocks noChangeArrowheads="1"/>
            </p:cNvSpPr>
            <p:nvPr/>
          </p:nvSpPr>
          <p:spPr bwMode="auto">
            <a:xfrm>
              <a:off x="1830" y="2113"/>
              <a:ext cx="545" cy="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3497" tIns="8099" rIns="13497" bIns="8099"/>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algn="just" eaLnBrk="0" hangingPunct="0"/>
              <a:r>
                <a:rPr kumimoji="0" lang="zh-CN" altLang="en-US" sz="1800">
                  <a:solidFill>
                    <a:srgbClr val="000000"/>
                  </a:solidFill>
                  <a:latin typeface="Arial" panose="020B0604020202020204" pitchFamily="34" charset="0"/>
                  <a:ea typeface="Microsoft YaHei" panose="020B0503020204020204" pitchFamily="34" charset="-122"/>
                  <a:cs typeface="Arial" panose="020B0604020202020204" pitchFamily="34" charset="0"/>
                </a:rPr>
                <a:t>类型</a:t>
              </a:r>
              <a:r>
                <a:rPr kumimoji="0" lang="en-US" altLang="zh-CN" sz="1800">
                  <a:solidFill>
                    <a:srgbClr val="000000"/>
                  </a:solidFill>
                  <a:latin typeface="Arial" panose="020B0604020202020204" pitchFamily="34" charset="0"/>
                  <a:ea typeface="Microsoft YaHei" panose="020B0503020204020204" pitchFamily="34" charset="-122"/>
                  <a:cs typeface="Arial" panose="020B0604020202020204" pitchFamily="34" charset="0"/>
                </a:rPr>
                <a:t>2</a:t>
              </a:r>
            </a:p>
          </p:txBody>
        </p:sp>
        <p:sp>
          <p:nvSpPr>
            <p:cNvPr id="47" name="Text Box 33">
              <a:extLst>
                <a:ext uri="{FF2B5EF4-FFF2-40B4-BE49-F238E27FC236}">
                  <a16:creationId xmlns:a16="http://schemas.microsoft.com/office/drawing/2014/main" id="{F1C16AF6-D531-EB1B-0C2E-129998994A84}"/>
                </a:ext>
              </a:extLst>
            </p:cNvPr>
            <p:cNvSpPr txBox="1">
              <a:spLocks noChangeArrowheads="1"/>
            </p:cNvSpPr>
            <p:nvPr/>
          </p:nvSpPr>
          <p:spPr bwMode="auto">
            <a:xfrm>
              <a:off x="2688" y="2112"/>
              <a:ext cx="545" cy="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3497" tIns="8099" rIns="13497" bIns="8099"/>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algn="just" eaLnBrk="0" hangingPunct="0"/>
              <a:r>
                <a:rPr kumimoji="0" lang="zh-CN" altLang="en-US" sz="1800">
                  <a:solidFill>
                    <a:srgbClr val="000000"/>
                  </a:solidFill>
                  <a:latin typeface="Arial" panose="020B0604020202020204" pitchFamily="34" charset="0"/>
                  <a:ea typeface="Microsoft YaHei" panose="020B0503020204020204" pitchFamily="34" charset="-122"/>
                  <a:cs typeface="Arial" panose="020B0604020202020204" pitchFamily="34" charset="0"/>
                </a:rPr>
                <a:t>类型</a:t>
              </a:r>
              <a:r>
                <a:rPr kumimoji="0" lang="en-US" altLang="zh-CN" sz="1800">
                  <a:solidFill>
                    <a:srgbClr val="000000"/>
                  </a:solidFill>
                  <a:latin typeface="Arial" panose="020B0604020202020204" pitchFamily="34" charset="0"/>
                  <a:ea typeface="Microsoft YaHei" panose="020B0503020204020204" pitchFamily="34" charset="-122"/>
                  <a:cs typeface="Arial" panose="020B0604020202020204" pitchFamily="34" charset="0"/>
                </a:rPr>
                <a:t>3</a:t>
              </a:r>
            </a:p>
          </p:txBody>
        </p:sp>
        <p:sp>
          <p:nvSpPr>
            <p:cNvPr id="48" name="Text Box 34">
              <a:extLst>
                <a:ext uri="{FF2B5EF4-FFF2-40B4-BE49-F238E27FC236}">
                  <a16:creationId xmlns:a16="http://schemas.microsoft.com/office/drawing/2014/main" id="{7EF3C747-5F01-8738-7F4D-B63B9F953E4C}"/>
                </a:ext>
              </a:extLst>
            </p:cNvPr>
            <p:cNvSpPr txBox="1">
              <a:spLocks noChangeArrowheads="1"/>
            </p:cNvSpPr>
            <p:nvPr/>
          </p:nvSpPr>
          <p:spPr bwMode="auto">
            <a:xfrm>
              <a:off x="3504" y="2112"/>
              <a:ext cx="528" cy="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3497" tIns="8099" rIns="13497" bIns="8099"/>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algn="just" eaLnBrk="0" hangingPunct="0"/>
              <a:r>
                <a:rPr kumimoji="0" lang="zh-CN" altLang="en-US" sz="1800">
                  <a:solidFill>
                    <a:srgbClr val="000000"/>
                  </a:solidFill>
                  <a:latin typeface="Arial" panose="020B0604020202020204" pitchFamily="34" charset="0"/>
                  <a:ea typeface="Microsoft YaHei" panose="020B0503020204020204" pitchFamily="34" charset="-122"/>
                  <a:cs typeface="Arial" panose="020B0604020202020204" pitchFamily="34" charset="0"/>
                </a:rPr>
                <a:t>类型</a:t>
              </a:r>
              <a:r>
                <a:rPr kumimoji="0" lang="en-US" altLang="zh-CN" sz="1800">
                  <a:solidFill>
                    <a:srgbClr val="000000"/>
                  </a:solidFill>
                  <a:latin typeface="Arial" panose="020B0604020202020204" pitchFamily="34" charset="0"/>
                  <a:ea typeface="Microsoft YaHei" panose="020B0503020204020204" pitchFamily="34" charset="-122"/>
                  <a:cs typeface="Arial" panose="020B0604020202020204" pitchFamily="34" charset="0"/>
                </a:rPr>
                <a:t>4</a:t>
              </a:r>
            </a:p>
          </p:txBody>
        </p:sp>
      </p:grpSp>
      <p:grpSp>
        <p:nvGrpSpPr>
          <p:cNvPr id="49" name="Group 35">
            <a:extLst>
              <a:ext uri="{FF2B5EF4-FFF2-40B4-BE49-F238E27FC236}">
                <a16:creationId xmlns:a16="http://schemas.microsoft.com/office/drawing/2014/main" id="{D52D32E4-C7C2-E218-31AC-7901CD638E5F}"/>
              </a:ext>
            </a:extLst>
          </p:cNvPr>
          <p:cNvGrpSpPr>
            <a:grpSpLocks/>
          </p:cNvGrpSpPr>
          <p:nvPr/>
        </p:nvGrpSpPr>
        <p:grpSpPr bwMode="auto">
          <a:xfrm>
            <a:off x="2768193" y="3544253"/>
            <a:ext cx="4483894" cy="1085850"/>
            <a:chOff x="463" y="3024"/>
            <a:chExt cx="3688" cy="912"/>
          </a:xfrm>
        </p:grpSpPr>
        <p:grpSp>
          <p:nvGrpSpPr>
            <p:cNvPr id="50" name="Group 36">
              <a:extLst>
                <a:ext uri="{FF2B5EF4-FFF2-40B4-BE49-F238E27FC236}">
                  <a16:creationId xmlns:a16="http://schemas.microsoft.com/office/drawing/2014/main" id="{4B85F881-71C7-BACA-B284-0B055B0BC6C7}"/>
                </a:ext>
              </a:extLst>
            </p:cNvPr>
            <p:cNvGrpSpPr>
              <a:grpSpLocks/>
            </p:cNvGrpSpPr>
            <p:nvPr/>
          </p:nvGrpSpPr>
          <p:grpSpPr bwMode="auto">
            <a:xfrm>
              <a:off x="463" y="3024"/>
              <a:ext cx="695" cy="912"/>
              <a:chOff x="463" y="3024"/>
              <a:chExt cx="695" cy="912"/>
            </a:xfrm>
          </p:grpSpPr>
          <p:sp>
            <p:nvSpPr>
              <p:cNvPr id="400391" name="Text Box 37">
                <a:extLst>
                  <a:ext uri="{FF2B5EF4-FFF2-40B4-BE49-F238E27FC236}">
                    <a16:creationId xmlns:a16="http://schemas.microsoft.com/office/drawing/2014/main" id="{0597F8E9-95D9-CE08-1941-D4B6259D2B65}"/>
                  </a:ext>
                </a:extLst>
              </p:cNvPr>
              <p:cNvSpPr txBox="1">
                <a:spLocks noChangeArrowheads="1"/>
              </p:cNvSpPr>
              <p:nvPr/>
            </p:nvSpPr>
            <p:spPr bwMode="auto">
              <a:xfrm>
                <a:off x="463" y="3240"/>
                <a:ext cx="695" cy="246"/>
              </a:xfrm>
              <a:prstGeom prst="rect">
                <a:avLst/>
              </a:prstGeom>
              <a:solidFill>
                <a:srgbClr val="CC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3497" tIns="8099" rIns="13497" bIns="8099">
                <a:spAutoFit/>
              </a:bodyPr>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eaLnBrk="0" hangingPunct="0"/>
                <a:r>
                  <a:rPr kumimoji="0" lang="zh-CN" altLang="en-US" sz="1800" dirty="0">
                    <a:solidFill>
                      <a:srgbClr val="000000"/>
                    </a:solidFill>
                    <a:latin typeface="Arial" panose="020B0604020202020204" pitchFamily="34" charset="0"/>
                    <a:ea typeface="Microsoft YaHei" panose="020B0503020204020204" pitchFamily="34" charset="-122"/>
                    <a:cs typeface="Arial" panose="020B0604020202020204" pitchFamily="34" charset="0"/>
                  </a:rPr>
                  <a:t>数据源</a:t>
                </a:r>
              </a:p>
            </p:txBody>
          </p:sp>
          <p:sp>
            <p:nvSpPr>
              <p:cNvPr id="400392" name="Line 38">
                <a:extLst>
                  <a:ext uri="{FF2B5EF4-FFF2-40B4-BE49-F238E27FC236}">
                    <a16:creationId xmlns:a16="http://schemas.microsoft.com/office/drawing/2014/main" id="{3BF92B40-625F-D266-ADE9-9F69F2D446B8}"/>
                  </a:ext>
                </a:extLst>
              </p:cNvPr>
              <p:cNvSpPr>
                <a:spLocks noChangeShapeType="1"/>
              </p:cNvSpPr>
              <p:nvPr/>
            </p:nvSpPr>
            <p:spPr bwMode="auto">
              <a:xfrm>
                <a:off x="816" y="3024"/>
                <a:ext cx="0" cy="240"/>
              </a:xfrm>
              <a:prstGeom prst="line">
                <a:avLst/>
              </a:prstGeom>
              <a:noFill/>
              <a:ln w="9525">
                <a:solidFill>
                  <a:schemeClr val="tx1"/>
                </a:solidFill>
                <a:miter lim="800000"/>
                <a:headEnd/>
                <a:tailEnd type="triangl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nvGrpSpPr>
              <p:cNvPr id="400393" name="Group 39">
                <a:extLst>
                  <a:ext uri="{FF2B5EF4-FFF2-40B4-BE49-F238E27FC236}">
                    <a16:creationId xmlns:a16="http://schemas.microsoft.com/office/drawing/2014/main" id="{8EF575F4-C38C-3B7E-55FA-BF6147F39299}"/>
                  </a:ext>
                </a:extLst>
              </p:cNvPr>
              <p:cNvGrpSpPr>
                <a:grpSpLocks/>
              </p:cNvGrpSpPr>
              <p:nvPr/>
            </p:nvGrpSpPr>
            <p:grpSpPr bwMode="auto">
              <a:xfrm>
                <a:off x="576" y="3504"/>
                <a:ext cx="463" cy="432"/>
                <a:chOff x="528" y="2496"/>
                <a:chExt cx="192" cy="288"/>
              </a:xfrm>
            </p:grpSpPr>
            <p:sp>
              <p:nvSpPr>
                <p:cNvPr id="400394" name="AutoShape 40">
                  <a:extLst>
                    <a:ext uri="{FF2B5EF4-FFF2-40B4-BE49-F238E27FC236}">
                      <a16:creationId xmlns:a16="http://schemas.microsoft.com/office/drawing/2014/main" id="{422ADA8A-1C34-7F1C-E1C2-3075E931E323}"/>
                    </a:ext>
                  </a:extLst>
                </p:cNvPr>
                <p:cNvSpPr>
                  <a:spLocks noChangeArrowheads="1"/>
                </p:cNvSpPr>
                <p:nvPr/>
              </p:nvSpPr>
              <p:spPr bwMode="auto">
                <a:xfrm>
                  <a:off x="528" y="2592"/>
                  <a:ext cx="192" cy="192"/>
                </a:xfrm>
                <a:prstGeom prst="can">
                  <a:avLst>
                    <a:gd name="adj" fmla="val 25000"/>
                  </a:avLst>
                </a:prstGeom>
                <a:solidFill>
                  <a:srgbClr val="CC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lIns="68566" tIns="34283" rIns="68566" bIns="34283" anchor="ctr"/>
                <a:lstStyle/>
                <a:p>
                  <a:pPr algn="l" eaLnBrk="0" hangingPunct="0"/>
                  <a:r>
                    <a:rPr lang="en-US" altLang="zh-CN" sz="1350">
                      <a:solidFill>
                        <a:srgbClr val="000000"/>
                      </a:solidFill>
                      <a:latin typeface="Arial" panose="020B0604020202020204" pitchFamily="34" charset="0"/>
                      <a:ea typeface="Microsoft YaHei" panose="020B0503020204020204" pitchFamily="34" charset="-122"/>
                      <a:cs typeface="Arial" panose="020B0604020202020204" pitchFamily="34" charset="0"/>
                    </a:rPr>
                    <a:t>DB</a:t>
                  </a:r>
                </a:p>
              </p:txBody>
            </p:sp>
            <p:sp>
              <p:nvSpPr>
                <p:cNvPr id="400395" name="Line 41">
                  <a:extLst>
                    <a:ext uri="{FF2B5EF4-FFF2-40B4-BE49-F238E27FC236}">
                      <a16:creationId xmlns:a16="http://schemas.microsoft.com/office/drawing/2014/main" id="{C7F73D43-8313-8C29-709C-E2678376ECD1}"/>
                    </a:ext>
                  </a:extLst>
                </p:cNvPr>
                <p:cNvSpPr>
                  <a:spLocks noChangeShapeType="1"/>
                </p:cNvSpPr>
                <p:nvPr/>
              </p:nvSpPr>
              <p:spPr bwMode="auto">
                <a:xfrm>
                  <a:off x="624" y="2496"/>
                  <a:ext cx="0" cy="96"/>
                </a:xfrm>
                <a:prstGeom prst="line">
                  <a:avLst/>
                </a:prstGeom>
                <a:no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grpSp>
        <p:grpSp>
          <p:nvGrpSpPr>
            <p:cNvPr id="51" name="Group 42">
              <a:extLst>
                <a:ext uri="{FF2B5EF4-FFF2-40B4-BE49-F238E27FC236}">
                  <a16:creationId xmlns:a16="http://schemas.microsoft.com/office/drawing/2014/main" id="{5F1EC319-B6CC-92C1-9C0D-2F33A49C2658}"/>
                </a:ext>
              </a:extLst>
            </p:cNvPr>
            <p:cNvGrpSpPr>
              <a:grpSpLocks/>
            </p:cNvGrpSpPr>
            <p:nvPr/>
          </p:nvGrpSpPr>
          <p:grpSpPr bwMode="auto">
            <a:xfrm>
              <a:off x="1488" y="3024"/>
              <a:ext cx="695" cy="912"/>
              <a:chOff x="463" y="3024"/>
              <a:chExt cx="695" cy="912"/>
            </a:xfrm>
          </p:grpSpPr>
          <p:sp>
            <p:nvSpPr>
              <p:cNvPr id="400384" name="Text Box 43">
                <a:extLst>
                  <a:ext uri="{FF2B5EF4-FFF2-40B4-BE49-F238E27FC236}">
                    <a16:creationId xmlns:a16="http://schemas.microsoft.com/office/drawing/2014/main" id="{07ED783C-1D37-EA6E-91BC-155A810E0270}"/>
                  </a:ext>
                </a:extLst>
              </p:cNvPr>
              <p:cNvSpPr txBox="1">
                <a:spLocks noChangeArrowheads="1"/>
              </p:cNvSpPr>
              <p:nvPr/>
            </p:nvSpPr>
            <p:spPr bwMode="auto">
              <a:xfrm>
                <a:off x="463" y="3240"/>
                <a:ext cx="695" cy="246"/>
              </a:xfrm>
              <a:prstGeom prst="rect">
                <a:avLst/>
              </a:prstGeom>
              <a:solidFill>
                <a:srgbClr val="CC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3497" tIns="8099" rIns="13497" bIns="8099">
                <a:spAutoFit/>
              </a:bodyPr>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eaLnBrk="0" hangingPunct="0"/>
                <a:r>
                  <a:rPr kumimoji="0" lang="zh-CN" altLang="en-US" sz="1800">
                    <a:solidFill>
                      <a:srgbClr val="000000"/>
                    </a:solidFill>
                    <a:latin typeface="Arial" panose="020B0604020202020204" pitchFamily="34" charset="0"/>
                    <a:ea typeface="Microsoft YaHei" panose="020B0503020204020204" pitchFamily="34" charset="-122"/>
                    <a:cs typeface="Arial" panose="020B0604020202020204" pitchFamily="34" charset="0"/>
                  </a:rPr>
                  <a:t>数据源</a:t>
                </a:r>
              </a:p>
            </p:txBody>
          </p:sp>
          <p:sp>
            <p:nvSpPr>
              <p:cNvPr id="400385" name="Line 44">
                <a:extLst>
                  <a:ext uri="{FF2B5EF4-FFF2-40B4-BE49-F238E27FC236}">
                    <a16:creationId xmlns:a16="http://schemas.microsoft.com/office/drawing/2014/main" id="{2785FF5B-B08D-60CF-72B2-65F906212949}"/>
                  </a:ext>
                </a:extLst>
              </p:cNvPr>
              <p:cNvSpPr>
                <a:spLocks noChangeShapeType="1"/>
              </p:cNvSpPr>
              <p:nvPr/>
            </p:nvSpPr>
            <p:spPr bwMode="auto">
              <a:xfrm>
                <a:off x="816" y="3024"/>
                <a:ext cx="0" cy="240"/>
              </a:xfrm>
              <a:prstGeom prst="line">
                <a:avLst/>
              </a:prstGeom>
              <a:noFill/>
              <a:ln w="9525">
                <a:solidFill>
                  <a:schemeClr val="tx1"/>
                </a:solidFill>
                <a:miter lim="800000"/>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nvGrpSpPr>
              <p:cNvPr id="400388" name="Group 45">
                <a:extLst>
                  <a:ext uri="{FF2B5EF4-FFF2-40B4-BE49-F238E27FC236}">
                    <a16:creationId xmlns:a16="http://schemas.microsoft.com/office/drawing/2014/main" id="{6D3AD530-E7D2-AA4B-00B9-E488C9CD6E32}"/>
                  </a:ext>
                </a:extLst>
              </p:cNvPr>
              <p:cNvGrpSpPr>
                <a:grpSpLocks/>
              </p:cNvGrpSpPr>
              <p:nvPr/>
            </p:nvGrpSpPr>
            <p:grpSpPr bwMode="auto">
              <a:xfrm>
                <a:off x="576" y="3504"/>
                <a:ext cx="463" cy="432"/>
                <a:chOff x="528" y="2496"/>
                <a:chExt cx="192" cy="288"/>
              </a:xfrm>
            </p:grpSpPr>
            <p:sp>
              <p:nvSpPr>
                <p:cNvPr id="400389" name="AutoShape 46">
                  <a:extLst>
                    <a:ext uri="{FF2B5EF4-FFF2-40B4-BE49-F238E27FC236}">
                      <a16:creationId xmlns:a16="http://schemas.microsoft.com/office/drawing/2014/main" id="{2CF6C3CB-63F2-D36F-1B2F-EC47AD28B91C}"/>
                    </a:ext>
                  </a:extLst>
                </p:cNvPr>
                <p:cNvSpPr>
                  <a:spLocks noChangeArrowheads="1"/>
                </p:cNvSpPr>
                <p:nvPr/>
              </p:nvSpPr>
              <p:spPr bwMode="auto">
                <a:xfrm>
                  <a:off x="528" y="2592"/>
                  <a:ext cx="192" cy="192"/>
                </a:xfrm>
                <a:prstGeom prst="can">
                  <a:avLst>
                    <a:gd name="adj" fmla="val 25000"/>
                  </a:avLst>
                </a:prstGeom>
                <a:solidFill>
                  <a:srgbClr val="CC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lIns="68566" tIns="34283" rIns="68566" bIns="34283" anchor="ctr"/>
                <a:lstStyle/>
                <a:p>
                  <a:pPr algn="l" eaLnBrk="0" hangingPunct="0"/>
                  <a:r>
                    <a:rPr lang="en-US" altLang="zh-CN" sz="1350">
                      <a:solidFill>
                        <a:srgbClr val="000000"/>
                      </a:solidFill>
                      <a:latin typeface="Arial" panose="020B0604020202020204" pitchFamily="34" charset="0"/>
                      <a:ea typeface="Microsoft YaHei" panose="020B0503020204020204" pitchFamily="34" charset="-122"/>
                      <a:cs typeface="Arial" panose="020B0604020202020204" pitchFamily="34" charset="0"/>
                    </a:rPr>
                    <a:t>DB</a:t>
                  </a:r>
                </a:p>
              </p:txBody>
            </p:sp>
            <p:sp>
              <p:nvSpPr>
                <p:cNvPr id="400390" name="Line 47">
                  <a:extLst>
                    <a:ext uri="{FF2B5EF4-FFF2-40B4-BE49-F238E27FC236}">
                      <a16:creationId xmlns:a16="http://schemas.microsoft.com/office/drawing/2014/main" id="{52E0139D-C1B5-E606-0C63-487D2463698D}"/>
                    </a:ext>
                  </a:extLst>
                </p:cNvPr>
                <p:cNvSpPr>
                  <a:spLocks noChangeShapeType="1"/>
                </p:cNvSpPr>
                <p:nvPr/>
              </p:nvSpPr>
              <p:spPr bwMode="auto">
                <a:xfrm>
                  <a:off x="624" y="2496"/>
                  <a:ext cx="0" cy="96"/>
                </a:xfrm>
                <a:prstGeom prst="line">
                  <a:avLst/>
                </a:prstGeom>
                <a:noFill/>
                <a:ln w="9525">
                  <a:solidFill>
                    <a:srgbClr val="000000"/>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grpSp>
        <p:grpSp>
          <p:nvGrpSpPr>
            <p:cNvPr id="52" name="Group 48">
              <a:extLst>
                <a:ext uri="{FF2B5EF4-FFF2-40B4-BE49-F238E27FC236}">
                  <a16:creationId xmlns:a16="http://schemas.microsoft.com/office/drawing/2014/main" id="{E258FBC5-87A0-E7ED-1AC4-BA71A5D368D6}"/>
                </a:ext>
              </a:extLst>
            </p:cNvPr>
            <p:cNvGrpSpPr>
              <a:grpSpLocks/>
            </p:cNvGrpSpPr>
            <p:nvPr/>
          </p:nvGrpSpPr>
          <p:grpSpPr bwMode="auto">
            <a:xfrm>
              <a:off x="2496" y="3024"/>
              <a:ext cx="695" cy="912"/>
              <a:chOff x="463" y="3024"/>
              <a:chExt cx="695" cy="912"/>
            </a:xfrm>
          </p:grpSpPr>
          <p:sp>
            <p:nvSpPr>
              <p:cNvPr id="59" name="Text Box 49">
                <a:extLst>
                  <a:ext uri="{FF2B5EF4-FFF2-40B4-BE49-F238E27FC236}">
                    <a16:creationId xmlns:a16="http://schemas.microsoft.com/office/drawing/2014/main" id="{9F615494-A10A-015B-1538-8620675DBF31}"/>
                  </a:ext>
                </a:extLst>
              </p:cNvPr>
              <p:cNvSpPr txBox="1">
                <a:spLocks noChangeArrowheads="1"/>
              </p:cNvSpPr>
              <p:nvPr/>
            </p:nvSpPr>
            <p:spPr bwMode="auto">
              <a:xfrm>
                <a:off x="463" y="3240"/>
                <a:ext cx="695" cy="246"/>
              </a:xfrm>
              <a:prstGeom prst="rect">
                <a:avLst/>
              </a:prstGeom>
              <a:solidFill>
                <a:srgbClr val="CC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3497" tIns="8099" rIns="13497" bIns="8099">
                <a:spAutoFit/>
              </a:bodyPr>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eaLnBrk="0" hangingPunct="0"/>
                <a:r>
                  <a:rPr kumimoji="0" lang="zh-CN" altLang="en-US" sz="1800">
                    <a:solidFill>
                      <a:srgbClr val="000000"/>
                    </a:solidFill>
                    <a:latin typeface="Arial" panose="020B0604020202020204" pitchFamily="34" charset="0"/>
                    <a:ea typeface="Microsoft YaHei" panose="020B0503020204020204" pitchFamily="34" charset="-122"/>
                    <a:cs typeface="Arial" panose="020B0604020202020204" pitchFamily="34" charset="0"/>
                  </a:rPr>
                  <a:t>数据源</a:t>
                </a:r>
              </a:p>
            </p:txBody>
          </p:sp>
          <p:sp>
            <p:nvSpPr>
              <p:cNvPr id="60" name="Line 50">
                <a:extLst>
                  <a:ext uri="{FF2B5EF4-FFF2-40B4-BE49-F238E27FC236}">
                    <a16:creationId xmlns:a16="http://schemas.microsoft.com/office/drawing/2014/main" id="{B30D3C8B-394C-01DB-F260-8DF2673D0FA1}"/>
                  </a:ext>
                </a:extLst>
              </p:cNvPr>
              <p:cNvSpPr>
                <a:spLocks noChangeShapeType="1"/>
              </p:cNvSpPr>
              <p:nvPr/>
            </p:nvSpPr>
            <p:spPr bwMode="auto">
              <a:xfrm>
                <a:off x="816" y="3024"/>
                <a:ext cx="0" cy="240"/>
              </a:xfrm>
              <a:prstGeom prst="line">
                <a:avLst/>
              </a:prstGeom>
              <a:noFill/>
              <a:ln w="9525">
                <a:solidFill>
                  <a:schemeClr val="tx1"/>
                </a:solidFill>
                <a:miter lim="800000"/>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nvGrpSpPr>
              <p:cNvPr id="61" name="Group 51">
                <a:extLst>
                  <a:ext uri="{FF2B5EF4-FFF2-40B4-BE49-F238E27FC236}">
                    <a16:creationId xmlns:a16="http://schemas.microsoft.com/office/drawing/2014/main" id="{831BF6D0-49AF-A86A-D01F-D3ADF6AB7BA1}"/>
                  </a:ext>
                </a:extLst>
              </p:cNvPr>
              <p:cNvGrpSpPr>
                <a:grpSpLocks/>
              </p:cNvGrpSpPr>
              <p:nvPr/>
            </p:nvGrpSpPr>
            <p:grpSpPr bwMode="auto">
              <a:xfrm>
                <a:off x="576" y="3504"/>
                <a:ext cx="463" cy="432"/>
                <a:chOff x="528" y="2496"/>
                <a:chExt cx="192" cy="288"/>
              </a:xfrm>
            </p:grpSpPr>
            <p:sp>
              <p:nvSpPr>
                <p:cNvPr id="62" name="AutoShape 52">
                  <a:extLst>
                    <a:ext uri="{FF2B5EF4-FFF2-40B4-BE49-F238E27FC236}">
                      <a16:creationId xmlns:a16="http://schemas.microsoft.com/office/drawing/2014/main" id="{5594BE81-81F8-CB13-2B69-5D5724CF167F}"/>
                    </a:ext>
                  </a:extLst>
                </p:cNvPr>
                <p:cNvSpPr>
                  <a:spLocks noChangeArrowheads="1"/>
                </p:cNvSpPr>
                <p:nvPr/>
              </p:nvSpPr>
              <p:spPr bwMode="auto">
                <a:xfrm>
                  <a:off x="528" y="2592"/>
                  <a:ext cx="192" cy="192"/>
                </a:xfrm>
                <a:prstGeom prst="can">
                  <a:avLst>
                    <a:gd name="adj" fmla="val 25000"/>
                  </a:avLst>
                </a:prstGeom>
                <a:solidFill>
                  <a:srgbClr val="CC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lIns="68566" tIns="34283" rIns="68566" bIns="34283" anchor="ctr"/>
                <a:lstStyle/>
                <a:p>
                  <a:pPr algn="l" eaLnBrk="0" hangingPunct="0"/>
                  <a:r>
                    <a:rPr lang="en-US" altLang="zh-CN" sz="1350">
                      <a:solidFill>
                        <a:srgbClr val="000000"/>
                      </a:solidFill>
                      <a:latin typeface="Arial" panose="020B0604020202020204" pitchFamily="34" charset="0"/>
                      <a:ea typeface="Microsoft YaHei" panose="020B0503020204020204" pitchFamily="34" charset="-122"/>
                      <a:cs typeface="Arial" panose="020B0604020202020204" pitchFamily="34" charset="0"/>
                    </a:rPr>
                    <a:t>DB</a:t>
                  </a:r>
                </a:p>
              </p:txBody>
            </p:sp>
            <p:sp>
              <p:nvSpPr>
                <p:cNvPr id="63" name="Line 53">
                  <a:extLst>
                    <a:ext uri="{FF2B5EF4-FFF2-40B4-BE49-F238E27FC236}">
                      <a16:creationId xmlns:a16="http://schemas.microsoft.com/office/drawing/2014/main" id="{EAB355EF-71E5-B1AA-CDEF-CCA6B072306C}"/>
                    </a:ext>
                  </a:extLst>
                </p:cNvPr>
                <p:cNvSpPr>
                  <a:spLocks noChangeShapeType="1"/>
                </p:cNvSpPr>
                <p:nvPr/>
              </p:nvSpPr>
              <p:spPr bwMode="auto">
                <a:xfrm>
                  <a:off x="624" y="2496"/>
                  <a:ext cx="0" cy="96"/>
                </a:xfrm>
                <a:prstGeom prst="line">
                  <a:avLst/>
                </a:prstGeom>
                <a:noFill/>
                <a:ln w="9525">
                  <a:solidFill>
                    <a:srgbClr val="000000"/>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grpSp>
        <p:grpSp>
          <p:nvGrpSpPr>
            <p:cNvPr id="53" name="Group 54">
              <a:extLst>
                <a:ext uri="{FF2B5EF4-FFF2-40B4-BE49-F238E27FC236}">
                  <a16:creationId xmlns:a16="http://schemas.microsoft.com/office/drawing/2014/main" id="{92C1D800-06D1-DB69-4498-C73C3D3B223F}"/>
                </a:ext>
              </a:extLst>
            </p:cNvPr>
            <p:cNvGrpSpPr>
              <a:grpSpLocks/>
            </p:cNvGrpSpPr>
            <p:nvPr/>
          </p:nvGrpSpPr>
          <p:grpSpPr bwMode="auto">
            <a:xfrm>
              <a:off x="3456" y="3024"/>
              <a:ext cx="695" cy="912"/>
              <a:chOff x="463" y="3024"/>
              <a:chExt cx="695" cy="912"/>
            </a:xfrm>
          </p:grpSpPr>
          <p:sp>
            <p:nvSpPr>
              <p:cNvPr id="54" name="Text Box 55">
                <a:extLst>
                  <a:ext uri="{FF2B5EF4-FFF2-40B4-BE49-F238E27FC236}">
                    <a16:creationId xmlns:a16="http://schemas.microsoft.com/office/drawing/2014/main" id="{3951349A-4FB8-9EBF-B5A1-AAF3CCEF9CEC}"/>
                  </a:ext>
                </a:extLst>
              </p:cNvPr>
              <p:cNvSpPr txBox="1">
                <a:spLocks noChangeArrowheads="1"/>
              </p:cNvSpPr>
              <p:nvPr/>
            </p:nvSpPr>
            <p:spPr bwMode="auto">
              <a:xfrm>
                <a:off x="463" y="3240"/>
                <a:ext cx="695" cy="246"/>
              </a:xfrm>
              <a:prstGeom prst="rect">
                <a:avLst/>
              </a:prstGeom>
              <a:solidFill>
                <a:srgbClr val="CC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lIns="13497" tIns="8099" rIns="13497" bIns="8099">
                <a:spAutoFit/>
              </a:bodyPr>
              <a:lstStyle>
                <a:lvl1pPr algn="l">
                  <a:defRPr kumimoji="1" sz="2400">
                    <a:solidFill>
                      <a:schemeClr val="tx1"/>
                    </a:solidFill>
                    <a:latin typeface="Times New Roman" charset="0"/>
                    <a:ea typeface="宋体" charset="0"/>
                    <a:cs typeface="宋体" charset="0"/>
                  </a:defRPr>
                </a:lvl1pPr>
                <a:lvl2pPr algn="l">
                  <a:defRPr kumimoji="1" sz="2400">
                    <a:solidFill>
                      <a:schemeClr val="tx1"/>
                    </a:solidFill>
                    <a:latin typeface="Times New Roman" charset="0"/>
                    <a:ea typeface="宋体" charset="0"/>
                  </a:defRPr>
                </a:lvl2pPr>
                <a:lvl3pPr algn="l">
                  <a:defRPr kumimoji="1" sz="2400">
                    <a:solidFill>
                      <a:schemeClr val="tx1"/>
                    </a:solidFill>
                    <a:latin typeface="Times New Roman" charset="0"/>
                    <a:ea typeface="宋体" charset="0"/>
                  </a:defRPr>
                </a:lvl3pPr>
                <a:lvl4pPr algn="l">
                  <a:defRPr kumimoji="1" sz="2400">
                    <a:solidFill>
                      <a:schemeClr val="tx1"/>
                    </a:solidFill>
                    <a:latin typeface="Times New Roman" charset="0"/>
                    <a:ea typeface="宋体" charset="0"/>
                  </a:defRPr>
                </a:lvl4pPr>
                <a:lvl5pPr marL="1827213" algn="l">
                  <a:defRPr kumimoji="1" sz="2400">
                    <a:solidFill>
                      <a:schemeClr val="tx1"/>
                    </a:solidFill>
                    <a:latin typeface="Times New Roman" charset="0"/>
                    <a:ea typeface="宋体" charset="0"/>
                  </a:defRPr>
                </a:lvl5pPr>
                <a:lvl6pPr marL="2284413" fontAlgn="base">
                  <a:spcBef>
                    <a:spcPct val="0"/>
                  </a:spcBef>
                  <a:spcAft>
                    <a:spcPct val="0"/>
                  </a:spcAft>
                  <a:defRPr kumimoji="1" sz="2400">
                    <a:solidFill>
                      <a:schemeClr val="tx1"/>
                    </a:solidFill>
                    <a:latin typeface="Times New Roman" charset="0"/>
                    <a:ea typeface="宋体" charset="0"/>
                  </a:defRPr>
                </a:lvl6pPr>
                <a:lvl7pPr marL="2741613" fontAlgn="base">
                  <a:spcBef>
                    <a:spcPct val="0"/>
                  </a:spcBef>
                  <a:spcAft>
                    <a:spcPct val="0"/>
                  </a:spcAft>
                  <a:defRPr kumimoji="1" sz="2400">
                    <a:solidFill>
                      <a:schemeClr val="tx1"/>
                    </a:solidFill>
                    <a:latin typeface="Times New Roman" charset="0"/>
                    <a:ea typeface="宋体" charset="0"/>
                  </a:defRPr>
                </a:lvl7pPr>
                <a:lvl8pPr marL="3198813" fontAlgn="base">
                  <a:spcBef>
                    <a:spcPct val="0"/>
                  </a:spcBef>
                  <a:spcAft>
                    <a:spcPct val="0"/>
                  </a:spcAft>
                  <a:defRPr kumimoji="1" sz="2400">
                    <a:solidFill>
                      <a:schemeClr val="tx1"/>
                    </a:solidFill>
                    <a:latin typeface="Times New Roman" charset="0"/>
                    <a:ea typeface="宋体" charset="0"/>
                  </a:defRPr>
                </a:lvl8pPr>
                <a:lvl9pPr marL="3656013" fontAlgn="base">
                  <a:spcBef>
                    <a:spcPct val="0"/>
                  </a:spcBef>
                  <a:spcAft>
                    <a:spcPct val="0"/>
                  </a:spcAft>
                  <a:defRPr kumimoji="1" sz="2400">
                    <a:solidFill>
                      <a:schemeClr val="tx1"/>
                    </a:solidFill>
                    <a:latin typeface="Times New Roman" charset="0"/>
                    <a:ea typeface="宋体" charset="0"/>
                  </a:defRPr>
                </a:lvl9pPr>
              </a:lstStyle>
              <a:p>
                <a:pPr eaLnBrk="0" hangingPunct="0"/>
                <a:r>
                  <a:rPr kumimoji="0" lang="zh-CN" altLang="en-US" sz="1800">
                    <a:solidFill>
                      <a:srgbClr val="000000"/>
                    </a:solidFill>
                    <a:latin typeface="Arial" panose="020B0604020202020204" pitchFamily="34" charset="0"/>
                    <a:ea typeface="Microsoft YaHei" panose="020B0503020204020204" pitchFamily="34" charset="-122"/>
                    <a:cs typeface="Arial" panose="020B0604020202020204" pitchFamily="34" charset="0"/>
                  </a:rPr>
                  <a:t>数据源</a:t>
                </a:r>
              </a:p>
            </p:txBody>
          </p:sp>
          <p:sp>
            <p:nvSpPr>
              <p:cNvPr id="55" name="Line 56">
                <a:extLst>
                  <a:ext uri="{FF2B5EF4-FFF2-40B4-BE49-F238E27FC236}">
                    <a16:creationId xmlns:a16="http://schemas.microsoft.com/office/drawing/2014/main" id="{70B4E55A-B4FA-AF60-68B2-4F1B650E4CC7}"/>
                  </a:ext>
                </a:extLst>
              </p:cNvPr>
              <p:cNvSpPr>
                <a:spLocks noChangeShapeType="1"/>
              </p:cNvSpPr>
              <p:nvPr/>
            </p:nvSpPr>
            <p:spPr bwMode="auto">
              <a:xfrm>
                <a:off x="816" y="3024"/>
                <a:ext cx="0" cy="240"/>
              </a:xfrm>
              <a:prstGeom prst="line">
                <a:avLst/>
              </a:prstGeom>
              <a:noFill/>
              <a:ln w="9525">
                <a:solidFill>
                  <a:schemeClr val="tx1"/>
                </a:solidFill>
                <a:miter lim="800000"/>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nvGrpSpPr>
              <p:cNvPr id="56" name="Group 57">
                <a:extLst>
                  <a:ext uri="{FF2B5EF4-FFF2-40B4-BE49-F238E27FC236}">
                    <a16:creationId xmlns:a16="http://schemas.microsoft.com/office/drawing/2014/main" id="{BA8A9642-0532-E406-FBE2-63CF1810A4DB}"/>
                  </a:ext>
                </a:extLst>
              </p:cNvPr>
              <p:cNvGrpSpPr>
                <a:grpSpLocks/>
              </p:cNvGrpSpPr>
              <p:nvPr/>
            </p:nvGrpSpPr>
            <p:grpSpPr bwMode="auto">
              <a:xfrm>
                <a:off x="576" y="3504"/>
                <a:ext cx="463" cy="432"/>
                <a:chOff x="528" y="2496"/>
                <a:chExt cx="192" cy="288"/>
              </a:xfrm>
            </p:grpSpPr>
            <p:sp>
              <p:nvSpPr>
                <p:cNvPr id="57" name="AutoShape 58">
                  <a:extLst>
                    <a:ext uri="{FF2B5EF4-FFF2-40B4-BE49-F238E27FC236}">
                      <a16:creationId xmlns:a16="http://schemas.microsoft.com/office/drawing/2014/main" id="{7764451A-8333-7087-5D2C-E26CE3ECDE5A}"/>
                    </a:ext>
                  </a:extLst>
                </p:cNvPr>
                <p:cNvSpPr>
                  <a:spLocks noChangeArrowheads="1"/>
                </p:cNvSpPr>
                <p:nvPr/>
              </p:nvSpPr>
              <p:spPr bwMode="auto">
                <a:xfrm>
                  <a:off x="528" y="2592"/>
                  <a:ext cx="192" cy="192"/>
                </a:xfrm>
                <a:prstGeom prst="can">
                  <a:avLst>
                    <a:gd name="adj" fmla="val 25000"/>
                  </a:avLst>
                </a:prstGeom>
                <a:solidFill>
                  <a:srgbClr val="CCFF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lIns="68566" tIns="34283" rIns="68566" bIns="34283" anchor="ctr"/>
                <a:lstStyle/>
                <a:p>
                  <a:pPr algn="l" eaLnBrk="0" hangingPunct="0"/>
                  <a:r>
                    <a:rPr lang="en-US" altLang="zh-CN" sz="1350">
                      <a:solidFill>
                        <a:srgbClr val="000000"/>
                      </a:solidFill>
                      <a:latin typeface="Arial" panose="020B0604020202020204" pitchFamily="34" charset="0"/>
                      <a:ea typeface="Microsoft YaHei" panose="020B0503020204020204" pitchFamily="34" charset="-122"/>
                      <a:cs typeface="Arial" panose="020B0604020202020204" pitchFamily="34" charset="0"/>
                    </a:rPr>
                    <a:t>DB</a:t>
                  </a:r>
                </a:p>
              </p:txBody>
            </p:sp>
            <p:sp>
              <p:nvSpPr>
                <p:cNvPr id="58" name="Line 59">
                  <a:extLst>
                    <a:ext uri="{FF2B5EF4-FFF2-40B4-BE49-F238E27FC236}">
                      <a16:creationId xmlns:a16="http://schemas.microsoft.com/office/drawing/2014/main" id="{7DE13CB1-74AC-FD5B-DBFC-79E2956F2DC8}"/>
                    </a:ext>
                  </a:extLst>
                </p:cNvPr>
                <p:cNvSpPr>
                  <a:spLocks noChangeShapeType="1"/>
                </p:cNvSpPr>
                <p:nvPr/>
              </p:nvSpPr>
              <p:spPr bwMode="auto">
                <a:xfrm>
                  <a:off x="624" y="2496"/>
                  <a:ext cx="0" cy="96"/>
                </a:xfrm>
                <a:prstGeom prst="line">
                  <a:avLst/>
                </a:prstGeom>
                <a:noFill/>
                <a:ln w="9525">
                  <a:solidFill>
                    <a:srgbClr val="000000"/>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1C1C1C">
                            <a:alpha val="74998"/>
                          </a:srgbClr>
                        </a:outerShdw>
                      </a:effectLst>
                    </a14:hiddenEffects>
                  </a:ext>
                </a:extLst>
              </p:spPr>
              <p:txBody>
                <a:bodyPr wrap="none"/>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grpSp>
      </p:grpSp>
    </p:spTree>
    <p:extLst>
      <p:ext uri="{BB962C8B-B14F-4D97-AF65-F5344CB8AC3E}">
        <p14:creationId xmlns:p14="http://schemas.microsoft.com/office/powerpoint/2010/main" val="38449972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7" name="Rectangle 3"/>
          <p:cNvSpPr>
            <a:spLocks noGrp="1" noChangeArrowheads="1"/>
          </p:cNvSpPr>
          <p:nvPr>
            <p:ph type="body" idx="1"/>
          </p:nvPr>
        </p:nvSpPr>
        <p:spPr/>
        <p:txBody>
          <a:bodyPr>
            <a:normAutofit fontScale="92500" lnSpcReduction="10000"/>
          </a:bodyPr>
          <a:lstStyle/>
          <a:p>
            <a:pPr>
              <a:lnSpc>
                <a:spcPct val="120000"/>
              </a:lnSpc>
            </a:pPr>
            <a:r>
              <a:rPr lang="zh-CN" altLang="en-US" sz="2000" dirty="0">
                <a:latin typeface="Arial" panose="020B0604020202020204" pitchFamily="34" charset="0"/>
                <a:cs typeface="Arial" panose="020B0604020202020204" pitchFamily="34" charset="0"/>
              </a:rPr>
              <a:t>类型</a:t>
            </a:r>
            <a:r>
              <a:rPr lang="en-US" altLang="zh-CN" sz="2000" dirty="0">
                <a:latin typeface="Arial" panose="020B0604020202020204" pitchFamily="34" charset="0"/>
                <a:cs typeface="Arial" panose="020B0604020202020204" pitchFamily="34" charset="0"/>
              </a:rPr>
              <a:t>1</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JDBC-ODBC</a:t>
            </a:r>
            <a:r>
              <a:rPr lang="zh-CN" altLang="en-US" sz="2000" dirty="0">
                <a:latin typeface="Arial" panose="020B0604020202020204" pitchFamily="34" charset="0"/>
                <a:cs typeface="Arial" panose="020B0604020202020204" pitchFamily="34" charset="0"/>
              </a:rPr>
              <a:t>桥，将</a:t>
            </a:r>
            <a:r>
              <a:rPr lang="en-US" altLang="zh-CN" sz="2000" dirty="0">
                <a:latin typeface="Arial" panose="020B0604020202020204" pitchFamily="34" charset="0"/>
                <a:cs typeface="Arial" panose="020B0604020202020204" pitchFamily="34" charset="0"/>
              </a:rPr>
              <a:t>ODBC</a:t>
            </a:r>
            <a:r>
              <a:rPr lang="zh-CN" altLang="en-US" sz="2000" dirty="0">
                <a:latin typeface="Arial" panose="020B0604020202020204" pitchFamily="34" charset="0"/>
                <a:cs typeface="Arial" panose="020B0604020202020204" pitchFamily="34" charset="0"/>
              </a:rPr>
              <a:t>作为一个数据库驱动注册到</a:t>
            </a:r>
            <a:r>
              <a:rPr lang="en-US" altLang="zh-CN" sz="2000" dirty="0">
                <a:latin typeface="Arial" panose="020B0604020202020204" pitchFamily="34" charset="0"/>
                <a:cs typeface="Arial" panose="020B0604020202020204" pitchFamily="34" charset="0"/>
              </a:rPr>
              <a:t>JDBC</a:t>
            </a:r>
            <a:r>
              <a:rPr lang="zh-CN" altLang="en-US" sz="2000" dirty="0">
                <a:latin typeface="Arial" panose="020B0604020202020204" pitchFamily="34" charset="0"/>
                <a:cs typeface="Arial" panose="020B0604020202020204" pitchFamily="34" charset="0"/>
              </a:rPr>
              <a:t>中</a:t>
            </a:r>
            <a:endParaRPr lang="en-US" altLang="zh-CN" sz="2000" dirty="0">
              <a:latin typeface="Arial" panose="020B0604020202020204" pitchFamily="34" charset="0"/>
              <a:cs typeface="Arial" panose="020B0604020202020204" pitchFamily="34" charset="0"/>
            </a:endParaRPr>
          </a:p>
          <a:p>
            <a:pPr>
              <a:lnSpc>
                <a:spcPct val="120000"/>
              </a:lnSpc>
            </a:pPr>
            <a:endParaRPr lang="en-US" altLang="zh-CN" sz="2000" dirty="0">
              <a:latin typeface="Arial" panose="020B0604020202020204" pitchFamily="34" charset="0"/>
              <a:cs typeface="Arial" panose="020B0604020202020204" pitchFamily="34" charset="0"/>
            </a:endParaRPr>
          </a:p>
          <a:p>
            <a:pPr>
              <a:lnSpc>
                <a:spcPct val="120000"/>
              </a:lnSpc>
            </a:pPr>
            <a:r>
              <a:rPr lang="zh-CN" altLang="en-US" sz="2000" dirty="0">
                <a:latin typeface="Arial" panose="020B0604020202020204" pitchFamily="34" charset="0"/>
                <a:cs typeface="Arial" panose="020B0604020202020204" pitchFamily="34" charset="0"/>
              </a:rPr>
              <a:t>类型</a:t>
            </a:r>
            <a:r>
              <a:rPr lang="en-US" altLang="zh-CN" sz="2000" dirty="0">
                <a:latin typeface="Arial" panose="020B0604020202020204" pitchFamily="34" charset="0"/>
                <a:cs typeface="Arial" panose="020B0604020202020204" pitchFamily="34" charset="0"/>
              </a:rPr>
              <a:t>2</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JDBC-Native API</a:t>
            </a:r>
            <a:r>
              <a:rPr lang="zh-CN" altLang="en-US" sz="2000" dirty="0">
                <a:latin typeface="Arial" panose="020B0604020202020204" pitchFamily="34" charset="0"/>
                <a:cs typeface="Arial" panose="020B0604020202020204" pitchFamily="34" charset="0"/>
              </a:rPr>
              <a:t>桥，和类型</a:t>
            </a:r>
            <a:r>
              <a:rPr lang="en-US" altLang="zh-CN" sz="2000" dirty="0">
                <a:latin typeface="Arial" panose="020B0604020202020204" pitchFamily="34" charset="0"/>
                <a:cs typeface="Arial" panose="020B0604020202020204" pitchFamily="34" charset="0"/>
              </a:rPr>
              <a:t>1</a:t>
            </a:r>
            <a:r>
              <a:rPr lang="zh-CN" altLang="en-US" sz="2000" dirty="0">
                <a:latin typeface="Arial" panose="020B0604020202020204" pitchFamily="34" charset="0"/>
                <a:cs typeface="Arial" panose="020B0604020202020204" pitchFamily="34" charset="0"/>
              </a:rPr>
              <a:t>一样，为数据库在本地安装驱动，由</a:t>
            </a:r>
            <a:r>
              <a:rPr lang="en-US" altLang="zh-CN" sz="2000" dirty="0">
                <a:latin typeface="Arial" panose="020B0604020202020204" pitchFamily="34" charset="0"/>
                <a:cs typeface="Arial" panose="020B0604020202020204" pitchFamily="34" charset="0"/>
              </a:rPr>
              <a:t>JDBC</a:t>
            </a:r>
            <a:r>
              <a:rPr lang="zh-CN" altLang="en-US" sz="2000" dirty="0">
                <a:latin typeface="Arial" panose="020B0604020202020204" pitchFamily="34" charset="0"/>
                <a:cs typeface="Arial" panose="020B0604020202020204" pitchFamily="34" charset="0"/>
              </a:rPr>
              <a:t>调用</a:t>
            </a:r>
            <a:endParaRPr lang="en-US" altLang="zh-CN" sz="2000" dirty="0">
              <a:latin typeface="Arial" panose="020B0604020202020204" pitchFamily="34" charset="0"/>
              <a:cs typeface="Arial" panose="020B0604020202020204" pitchFamily="34" charset="0"/>
            </a:endParaRPr>
          </a:p>
          <a:p>
            <a:pPr>
              <a:lnSpc>
                <a:spcPct val="120000"/>
              </a:lnSpc>
            </a:pPr>
            <a:endParaRPr lang="en-US" altLang="zh-CN" sz="2000" dirty="0">
              <a:latin typeface="Arial" panose="020B0604020202020204" pitchFamily="34" charset="0"/>
              <a:cs typeface="Arial" panose="020B0604020202020204" pitchFamily="34" charset="0"/>
            </a:endParaRPr>
          </a:p>
          <a:p>
            <a:pPr>
              <a:lnSpc>
                <a:spcPct val="120000"/>
              </a:lnSpc>
            </a:pPr>
            <a:r>
              <a:rPr lang="zh-CN" altLang="en-US" sz="2000" dirty="0">
                <a:latin typeface="Arial" panose="020B0604020202020204" pitchFamily="34" charset="0"/>
                <a:cs typeface="Arial" panose="020B0604020202020204" pitchFamily="34" charset="0"/>
              </a:rPr>
              <a:t>类型</a:t>
            </a:r>
            <a:r>
              <a:rPr lang="en-US" altLang="zh-CN" sz="2000" dirty="0">
                <a:latin typeface="Arial" panose="020B0604020202020204" pitchFamily="34" charset="0"/>
                <a:cs typeface="Arial" panose="020B0604020202020204" pitchFamily="34" charset="0"/>
              </a:rPr>
              <a:t>3</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JDBC-</a:t>
            </a:r>
            <a:r>
              <a:rPr lang="zh-CN" altLang="en-US" sz="2000" dirty="0">
                <a:latin typeface="Arial" panose="020B0604020202020204" pitchFamily="34" charset="0"/>
                <a:cs typeface="Arial" panose="020B0604020202020204" pitchFamily="34" charset="0"/>
              </a:rPr>
              <a:t>中间件，为</a:t>
            </a:r>
            <a:r>
              <a:rPr lang="en-US" altLang="zh-CN" sz="2000" dirty="0">
                <a:latin typeface="Arial" panose="020B0604020202020204" pitchFamily="34" charset="0"/>
                <a:cs typeface="Arial" panose="020B0604020202020204" pitchFamily="34" charset="0"/>
              </a:rPr>
              <a:t>DBMS</a:t>
            </a:r>
            <a:r>
              <a:rPr lang="zh-CN" altLang="en-US" sz="2000" dirty="0">
                <a:latin typeface="Arial" panose="020B0604020202020204" pitchFamily="34" charset="0"/>
                <a:cs typeface="Arial" panose="020B0604020202020204" pitchFamily="34" charset="0"/>
              </a:rPr>
              <a:t>服务器安装中间件，由中间件来完成转换</a:t>
            </a:r>
            <a:endParaRPr lang="en-US" altLang="zh-CN" sz="2000" dirty="0">
              <a:latin typeface="Arial" panose="020B0604020202020204" pitchFamily="34" charset="0"/>
              <a:cs typeface="Arial" panose="020B0604020202020204" pitchFamily="34" charset="0"/>
            </a:endParaRPr>
          </a:p>
          <a:p>
            <a:pPr>
              <a:lnSpc>
                <a:spcPct val="120000"/>
              </a:lnSpc>
            </a:pPr>
            <a:endParaRPr lang="en-US" altLang="zh-CN" sz="2000" dirty="0">
              <a:latin typeface="Arial" panose="020B0604020202020204" pitchFamily="34" charset="0"/>
              <a:cs typeface="Arial" panose="020B0604020202020204" pitchFamily="34" charset="0"/>
            </a:endParaRPr>
          </a:p>
          <a:p>
            <a:pPr>
              <a:lnSpc>
                <a:spcPct val="120000"/>
              </a:lnSpc>
            </a:pPr>
            <a:r>
              <a:rPr lang="zh-CN" altLang="en-US" sz="2000" b="1" dirty="0">
                <a:solidFill>
                  <a:srgbClr val="FF0000"/>
                </a:solidFill>
                <a:latin typeface="Arial" panose="020B0604020202020204" pitchFamily="34" charset="0"/>
                <a:cs typeface="Arial" panose="020B0604020202020204" pitchFamily="34" charset="0"/>
              </a:rPr>
              <a:t>类型</a:t>
            </a:r>
            <a:r>
              <a:rPr lang="en-US" altLang="zh-CN" sz="2000" b="1" dirty="0">
                <a:solidFill>
                  <a:srgbClr val="FF0000"/>
                </a:solidFill>
                <a:latin typeface="Arial" panose="020B0604020202020204" pitchFamily="34" charset="0"/>
                <a:cs typeface="Arial" panose="020B0604020202020204" pitchFamily="34" charset="0"/>
              </a:rPr>
              <a:t>4</a:t>
            </a:r>
            <a:r>
              <a:rPr lang="zh-CN" altLang="en-US" sz="2000" b="1" dirty="0">
                <a:solidFill>
                  <a:srgbClr val="FF0000"/>
                </a:solidFill>
                <a:latin typeface="Arial" panose="020B0604020202020204" pitchFamily="34" charset="0"/>
                <a:cs typeface="Arial" panose="020B0604020202020204" pitchFamily="34" charset="0"/>
              </a:rPr>
              <a:t>：纯</a:t>
            </a:r>
            <a:r>
              <a:rPr lang="en-US" altLang="zh-CN" sz="2000" b="1" dirty="0">
                <a:solidFill>
                  <a:srgbClr val="FF0000"/>
                </a:solidFill>
                <a:latin typeface="Arial" panose="020B0604020202020204" pitchFamily="34" charset="0"/>
                <a:cs typeface="Arial" panose="020B0604020202020204" pitchFamily="34" charset="0"/>
              </a:rPr>
              <a:t>JDBC</a:t>
            </a:r>
            <a:r>
              <a:rPr lang="zh-CN" altLang="en-US" sz="2000" b="1" dirty="0">
                <a:solidFill>
                  <a:srgbClr val="FF0000"/>
                </a:solidFill>
                <a:latin typeface="Arial" panose="020B0604020202020204" pitchFamily="34" charset="0"/>
                <a:cs typeface="Arial" panose="020B0604020202020204" pitchFamily="34" charset="0"/>
              </a:rPr>
              <a:t>驱动</a:t>
            </a:r>
          </a:p>
        </p:txBody>
      </p:sp>
      <p:sp>
        <p:nvSpPr>
          <p:cNvPr id="3" name="标题 2">
            <a:extLst>
              <a:ext uri="{FF2B5EF4-FFF2-40B4-BE49-F238E27FC236}">
                <a16:creationId xmlns:a16="http://schemas.microsoft.com/office/drawing/2014/main" id="{965CCC3D-99B6-39C0-0488-BE4C5D2CF74B}"/>
              </a:ext>
            </a:extLst>
          </p:cNvPr>
          <p:cNvSpPr>
            <a:spLocks noGrp="1"/>
          </p:cNvSpPr>
          <p:nvPr>
            <p:ph type="title"/>
          </p:nvPr>
        </p:nvSpPr>
        <p:spPr/>
        <p:txBody>
          <a:bodyPr/>
          <a:lstStyle/>
          <a:p>
            <a:r>
              <a:rPr lang="en-US" altLang="zh-CN" dirty="0"/>
              <a:t>JDBC</a:t>
            </a:r>
            <a:r>
              <a:rPr lang="zh-CN" altLang="en-US" dirty="0"/>
              <a:t>驱动类型</a:t>
            </a:r>
          </a:p>
        </p:txBody>
      </p:sp>
    </p:spTree>
    <p:extLst>
      <p:ext uri="{BB962C8B-B14F-4D97-AF65-F5344CB8AC3E}">
        <p14:creationId xmlns:p14="http://schemas.microsoft.com/office/powerpoint/2010/main" val="2408537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7" name="Rectangle 3"/>
          <p:cNvSpPr>
            <a:spLocks noGrp="1" noChangeArrowheads="1"/>
          </p:cNvSpPr>
          <p:nvPr>
            <p:ph type="body" idx="1"/>
          </p:nvPr>
        </p:nvSpPr>
        <p:spPr/>
        <p:txBody>
          <a:bodyPr>
            <a:normAutofit/>
          </a:bodyPr>
          <a:lstStyle/>
          <a:p>
            <a:pPr marL="385763" indent="-385763">
              <a:buFont typeface="+mj-ea"/>
              <a:buAutoNum type="circleNumDbPlain"/>
            </a:pPr>
            <a:r>
              <a:rPr lang="zh-CN" altLang="en-US" dirty="0">
                <a:latin typeface="Arial" panose="020B0604020202020204" pitchFamily="34" charset="0"/>
                <a:cs typeface="Arial" panose="020B0604020202020204" pitchFamily="34" charset="0"/>
              </a:rPr>
              <a:t>程序首部导入</a:t>
            </a:r>
            <a:r>
              <a:rPr lang="en-US" altLang="zh-CN" dirty="0" err="1">
                <a:latin typeface="Arial" panose="020B0604020202020204" pitchFamily="34" charset="0"/>
                <a:cs typeface="Arial" panose="020B0604020202020204" pitchFamily="34" charset="0"/>
              </a:rPr>
              <a:t>java.sql</a:t>
            </a:r>
            <a:r>
              <a:rPr lang="zh-CN" altLang="en-US" dirty="0">
                <a:latin typeface="Arial" panose="020B0604020202020204" pitchFamily="34" charset="0"/>
                <a:cs typeface="Arial" panose="020B0604020202020204" pitchFamily="34" charset="0"/>
              </a:rPr>
              <a:t>包</a:t>
            </a:r>
            <a:endParaRPr lang="en-US" altLang="zh-CN" dirty="0">
              <a:latin typeface="Arial" panose="020B0604020202020204" pitchFamily="34" charset="0"/>
              <a:cs typeface="Arial" panose="020B0604020202020204" pitchFamily="34" charset="0"/>
            </a:endParaRPr>
          </a:p>
          <a:p>
            <a:pPr marL="385763" indent="-385763">
              <a:buFont typeface="+mj-ea"/>
              <a:buAutoNum type="circleNumDbPlain"/>
            </a:pPr>
            <a:r>
              <a:rPr lang="zh-CN" altLang="en-US" dirty="0">
                <a:latin typeface="Arial" panose="020B0604020202020204" pitchFamily="34" charset="0"/>
                <a:cs typeface="Arial" panose="020B0604020202020204" pitchFamily="34" charset="0"/>
              </a:rPr>
              <a:t>使用</a:t>
            </a:r>
            <a:r>
              <a:rPr lang="en-US" altLang="zh-CN" dirty="0" err="1">
                <a:latin typeface="Arial" panose="020B0604020202020204" pitchFamily="34" charset="0"/>
                <a:cs typeface="Arial" panose="020B0604020202020204" pitchFamily="34" charset="0"/>
              </a:rPr>
              <a:t>Class.forName</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方法加载</a:t>
            </a:r>
            <a:r>
              <a:rPr lang="en-US" altLang="zh-CN" dirty="0">
                <a:latin typeface="Arial" panose="020B0604020202020204" pitchFamily="34" charset="0"/>
                <a:cs typeface="Arial" panose="020B0604020202020204" pitchFamily="34" charset="0"/>
              </a:rPr>
              <a:t>JDBC</a:t>
            </a:r>
            <a:r>
              <a:rPr lang="zh-CN" altLang="en-US" dirty="0">
                <a:latin typeface="Arial" panose="020B0604020202020204" pitchFamily="34" charset="0"/>
                <a:cs typeface="Arial" panose="020B0604020202020204" pitchFamily="34" charset="0"/>
              </a:rPr>
              <a:t>驱动</a:t>
            </a:r>
            <a:endParaRPr lang="en-US" altLang="zh-CN" dirty="0">
              <a:latin typeface="Arial" panose="020B0604020202020204" pitchFamily="34" charset="0"/>
              <a:cs typeface="Arial" panose="020B0604020202020204" pitchFamily="34" charset="0"/>
            </a:endParaRPr>
          </a:p>
          <a:p>
            <a:pPr marL="385763" indent="-385763">
              <a:buFont typeface="+mj-ea"/>
              <a:buAutoNum type="circleNumDbPlain"/>
            </a:pPr>
            <a:r>
              <a:rPr lang="zh-CN" altLang="en-US" dirty="0">
                <a:latin typeface="Arial" panose="020B0604020202020204" pitchFamily="34" charset="0"/>
                <a:cs typeface="Arial" panose="020B0604020202020204" pitchFamily="34" charset="0"/>
              </a:rPr>
              <a:t>定义连接对象，连接到数据库</a:t>
            </a:r>
            <a:endParaRPr lang="en-US" altLang="zh-CN" dirty="0">
              <a:latin typeface="Arial" panose="020B0604020202020204" pitchFamily="34" charset="0"/>
              <a:cs typeface="Arial" panose="020B0604020202020204" pitchFamily="34" charset="0"/>
            </a:endParaRPr>
          </a:p>
          <a:p>
            <a:pPr marL="385763" indent="-385763">
              <a:buFont typeface="+mj-ea"/>
              <a:buAutoNum type="circleNumDbPlain"/>
            </a:pPr>
            <a:r>
              <a:rPr lang="zh-CN" altLang="en-US" dirty="0">
                <a:latin typeface="Arial" panose="020B0604020202020204" pitchFamily="34" charset="0"/>
                <a:cs typeface="Arial" panose="020B0604020202020204" pitchFamily="34" charset="0"/>
              </a:rPr>
              <a:t>创建操作语句对象</a:t>
            </a:r>
            <a:endParaRPr lang="en-US" altLang="zh-CN" dirty="0">
              <a:latin typeface="Arial" panose="020B0604020202020204" pitchFamily="34" charset="0"/>
              <a:cs typeface="Arial" panose="020B0604020202020204" pitchFamily="34" charset="0"/>
            </a:endParaRPr>
          </a:p>
          <a:p>
            <a:pPr marL="385763" indent="-385763">
              <a:buFont typeface="+mj-ea"/>
              <a:buAutoNum type="circleNumDbPlain"/>
            </a:pPr>
            <a:r>
              <a:rPr lang="zh-CN" altLang="en-US" dirty="0">
                <a:latin typeface="Arial" panose="020B0604020202020204" pitchFamily="34" charset="0"/>
                <a:cs typeface="Arial" panose="020B0604020202020204" pitchFamily="34" charset="0"/>
              </a:rPr>
              <a:t>使用</a:t>
            </a:r>
            <a:r>
              <a:rPr lang="en-US" altLang="zh-CN" dirty="0">
                <a:latin typeface="Arial" panose="020B0604020202020204" pitchFamily="34" charset="0"/>
                <a:cs typeface="Arial" panose="020B0604020202020204" pitchFamily="34" charset="0"/>
              </a:rPr>
              <a:t>SQL</a:t>
            </a:r>
            <a:r>
              <a:rPr lang="zh-CN" altLang="en-US" dirty="0">
                <a:latin typeface="Arial" panose="020B0604020202020204" pitchFamily="34" charset="0"/>
                <a:cs typeface="Arial" panose="020B0604020202020204" pitchFamily="34" charset="0"/>
              </a:rPr>
              <a:t>语句操作数据库</a:t>
            </a:r>
            <a:endParaRPr lang="en-US" altLang="zh-CN" dirty="0">
              <a:latin typeface="Arial" panose="020B0604020202020204" pitchFamily="34" charset="0"/>
              <a:cs typeface="Arial" panose="020B0604020202020204" pitchFamily="34" charset="0"/>
            </a:endParaRPr>
          </a:p>
          <a:p>
            <a:pPr marL="385763" indent="-385763">
              <a:buFont typeface="+mj-ea"/>
              <a:buAutoNum type="circleNumDbPlain"/>
            </a:pPr>
            <a:r>
              <a:rPr lang="zh-CN" altLang="en-US" dirty="0">
                <a:latin typeface="Arial" panose="020B0604020202020204" pitchFamily="34" charset="0"/>
                <a:cs typeface="Arial" panose="020B0604020202020204" pitchFamily="34" charset="0"/>
              </a:rPr>
              <a:t>使用</a:t>
            </a:r>
            <a:r>
              <a:rPr lang="en-US" altLang="zh-CN" dirty="0">
                <a:latin typeface="Arial" panose="020B0604020202020204" pitchFamily="34" charset="0"/>
                <a:cs typeface="Arial" panose="020B0604020202020204" pitchFamily="34" charset="0"/>
              </a:rPr>
              <a:t>close</a:t>
            </a:r>
            <a:r>
              <a:rPr lang="zh-CN" altLang="en-US" dirty="0">
                <a:latin typeface="Arial" panose="020B0604020202020204" pitchFamily="34" charset="0"/>
                <a:cs typeface="Arial" panose="020B0604020202020204" pitchFamily="34" charset="0"/>
              </a:rPr>
              <a:t>方法释放连接</a:t>
            </a:r>
          </a:p>
        </p:txBody>
      </p:sp>
      <p:sp>
        <p:nvSpPr>
          <p:cNvPr id="3" name="标题 2">
            <a:extLst>
              <a:ext uri="{FF2B5EF4-FFF2-40B4-BE49-F238E27FC236}">
                <a16:creationId xmlns:a16="http://schemas.microsoft.com/office/drawing/2014/main" id="{4A7000A3-F927-B47A-DF85-A2CFBA708C52}"/>
              </a:ext>
            </a:extLst>
          </p:cNvPr>
          <p:cNvSpPr>
            <a:spLocks noGrp="1"/>
          </p:cNvSpPr>
          <p:nvPr>
            <p:ph type="title"/>
          </p:nvPr>
        </p:nvSpPr>
        <p:spPr/>
        <p:txBody>
          <a:bodyPr/>
          <a:lstStyle/>
          <a:p>
            <a:r>
              <a:rPr lang="en-US" altLang="zh-CN" dirty="0"/>
              <a:t>JDBC</a:t>
            </a:r>
            <a:r>
              <a:rPr lang="zh-CN" altLang="en-US" dirty="0"/>
              <a:t>编程要点</a:t>
            </a:r>
          </a:p>
        </p:txBody>
      </p:sp>
    </p:spTree>
    <p:extLst>
      <p:ext uri="{BB962C8B-B14F-4D97-AF65-F5344CB8AC3E}">
        <p14:creationId xmlns:p14="http://schemas.microsoft.com/office/powerpoint/2010/main" val="2840615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3" name="Rectangle 3"/>
          <p:cNvSpPr>
            <a:spLocks noGrp="1" noChangeArrowheads="1"/>
          </p:cNvSpPr>
          <p:nvPr>
            <p:ph type="body" idx="1"/>
          </p:nvPr>
        </p:nvSpPr>
        <p:spPr>
          <a:xfrm>
            <a:off x="480924" y="1015139"/>
            <a:ext cx="8182152" cy="3704095"/>
          </a:xfrm>
        </p:spPr>
        <p:txBody>
          <a:bodyPr/>
          <a:lstStyle/>
          <a:p>
            <a:pPr>
              <a:spcBef>
                <a:spcPct val="15000"/>
              </a:spcBef>
            </a:pPr>
            <a:r>
              <a:rPr lang="zh-CN" altLang="en-US" sz="1950" dirty="0">
                <a:latin typeface="Arial" panose="020B0604020202020204" pitchFamily="34" charset="0"/>
                <a:cs typeface="Arial" panose="020B0604020202020204" pitchFamily="34" charset="0"/>
              </a:rPr>
              <a:t>是在微软</a:t>
            </a:r>
            <a:r>
              <a:rPr lang="en-US" altLang="zh-CN" sz="1950" dirty="0">
                <a:latin typeface="Arial" panose="020B0604020202020204" pitchFamily="34" charset="0"/>
                <a:cs typeface="Arial" panose="020B0604020202020204" pitchFamily="34" charset="0"/>
              </a:rPr>
              <a:t>.NET</a:t>
            </a:r>
            <a:r>
              <a:rPr lang="zh-CN" altLang="en-US" sz="1950" dirty="0">
                <a:latin typeface="Arial" panose="020B0604020202020204" pitchFamily="34" charset="0"/>
                <a:cs typeface="Arial" panose="020B0604020202020204" pitchFamily="34" charset="0"/>
              </a:rPr>
              <a:t>编程环境中优先使用的数据访问接口。</a:t>
            </a:r>
            <a:endParaRPr lang="en-US" altLang="zh-CN" sz="1950" dirty="0">
              <a:latin typeface="Arial" panose="020B0604020202020204" pitchFamily="34" charset="0"/>
              <a:cs typeface="Arial" panose="020B0604020202020204" pitchFamily="34" charset="0"/>
            </a:endParaRPr>
          </a:p>
          <a:p>
            <a:pPr>
              <a:spcBef>
                <a:spcPct val="15000"/>
              </a:spcBef>
            </a:pPr>
            <a:r>
              <a:rPr lang="zh-CN" altLang="en-US" sz="1950" dirty="0">
                <a:latin typeface="Arial" panose="020B0604020202020204" pitchFamily="34" charset="0"/>
                <a:cs typeface="Arial" panose="020B0604020202020204" pitchFamily="34" charset="0"/>
              </a:rPr>
              <a:t>是一组用于和数据源进行交互的面向对象类库，允许和不同类型的数据源交互，功能强、易用、高效。</a:t>
            </a:r>
            <a:endParaRPr lang="en-US" altLang="zh-CN" sz="1950" dirty="0">
              <a:latin typeface="Arial" panose="020B0604020202020204" pitchFamily="34" charset="0"/>
              <a:cs typeface="Arial" panose="020B0604020202020204" pitchFamily="34" charset="0"/>
            </a:endParaRPr>
          </a:p>
          <a:p>
            <a:pPr>
              <a:spcBef>
                <a:spcPct val="15000"/>
              </a:spcBef>
            </a:pPr>
            <a:r>
              <a:rPr lang="zh-CN" altLang="en-US" sz="1950" dirty="0">
                <a:latin typeface="Arial" panose="020B0604020202020204" pitchFamily="34" charset="0"/>
                <a:cs typeface="Arial" panose="020B0604020202020204" pitchFamily="34" charset="0"/>
              </a:rPr>
              <a:t>该类库中的类提供了众多对象，分别完成与数据库的连接、查询、插、删和更新记录等操作。</a:t>
            </a:r>
            <a:endParaRPr lang="en-US" altLang="zh-CN" sz="1950" dirty="0">
              <a:latin typeface="Arial" panose="020B0604020202020204" pitchFamily="34" charset="0"/>
              <a:cs typeface="Arial" panose="020B0604020202020204" pitchFamily="34" charset="0"/>
            </a:endParaRPr>
          </a:p>
          <a:p>
            <a:pPr>
              <a:spcBef>
                <a:spcPct val="15000"/>
              </a:spcBef>
            </a:pPr>
            <a:r>
              <a:rPr lang="en-US" altLang="zh-CN" sz="1950" b="1" dirty="0">
                <a:solidFill>
                  <a:srgbClr val="800000"/>
                </a:solidFill>
                <a:latin typeface="Arial" panose="020B0604020202020204" pitchFamily="34" charset="0"/>
                <a:cs typeface="Arial" panose="020B0604020202020204" pitchFamily="34" charset="0"/>
              </a:rPr>
              <a:t>1. ADO.NET</a:t>
            </a:r>
            <a:r>
              <a:rPr lang="zh-CN" altLang="en-US" sz="1950" b="1" dirty="0">
                <a:solidFill>
                  <a:srgbClr val="800000"/>
                </a:solidFill>
                <a:latin typeface="Arial" panose="020B0604020202020204" pitchFamily="34" charset="0"/>
                <a:cs typeface="Arial" panose="020B0604020202020204" pitchFamily="34" charset="0"/>
              </a:rPr>
              <a:t>查询数据库的步骤</a:t>
            </a:r>
            <a:r>
              <a:rPr lang="en-US" altLang="zh-CN" sz="1950" b="1" dirty="0">
                <a:solidFill>
                  <a:srgbClr val="800000"/>
                </a:solidFill>
                <a:latin typeface="Arial" panose="020B0604020202020204" pitchFamily="34" charset="0"/>
                <a:cs typeface="Arial" panose="020B0604020202020204" pitchFamily="34" charset="0"/>
              </a:rPr>
              <a:t>:</a:t>
            </a:r>
          </a:p>
          <a:p>
            <a:pPr>
              <a:spcBef>
                <a:spcPct val="15000"/>
              </a:spcBef>
              <a:buClr>
                <a:schemeClr val="hlink"/>
              </a:buClr>
              <a:buFont typeface="Wingdings" charset="0"/>
              <a:buChar char="Ø"/>
            </a:pPr>
            <a:r>
              <a:rPr lang="en-US" altLang="zh-CN" sz="1950" dirty="0">
                <a:latin typeface="Arial" panose="020B0604020202020204" pitchFamily="34" charset="0"/>
                <a:cs typeface="Arial" panose="020B0604020202020204" pitchFamily="34" charset="0"/>
              </a:rPr>
              <a:t>1)</a:t>
            </a:r>
            <a:r>
              <a:rPr lang="zh-CN" altLang="en-US" sz="1950" dirty="0">
                <a:latin typeface="Arial" panose="020B0604020202020204" pitchFamily="34" charset="0"/>
                <a:cs typeface="Arial" panose="020B0604020202020204" pitchFamily="34" charset="0"/>
              </a:rPr>
              <a:t>创建一个数据库链路；</a:t>
            </a:r>
            <a:endParaRPr lang="en-US" altLang="zh-CN" sz="1950" dirty="0">
              <a:latin typeface="Arial" panose="020B0604020202020204" pitchFamily="34" charset="0"/>
              <a:cs typeface="Arial" panose="020B0604020202020204" pitchFamily="34" charset="0"/>
            </a:endParaRPr>
          </a:p>
          <a:p>
            <a:pPr>
              <a:spcBef>
                <a:spcPct val="15000"/>
              </a:spcBef>
              <a:buClr>
                <a:schemeClr val="hlink"/>
              </a:buClr>
              <a:buFont typeface="Wingdings" charset="0"/>
              <a:buChar char="Ø"/>
            </a:pPr>
            <a:r>
              <a:rPr lang="en-US" altLang="zh-CN" sz="1950" dirty="0">
                <a:latin typeface="Arial" panose="020B0604020202020204" pitchFamily="34" charset="0"/>
                <a:cs typeface="Arial" panose="020B0604020202020204" pitchFamily="34" charset="0"/>
              </a:rPr>
              <a:t>2)</a:t>
            </a:r>
            <a:r>
              <a:rPr lang="zh-CN" altLang="en-US" sz="1950" dirty="0">
                <a:latin typeface="Arial" panose="020B0604020202020204" pitchFamily="34" charset="0"/>
                <a:cs typeface="Arial" panose="020B0604020202020204" pitchFamily="34" charset="0"/>
              </a:rPr>
              <a:t>请求一个记录集合；</a:t>
            </a:r>
            <a:endParaRPr lang="en-US" altLang="zh-CN" sz="1950" dirty="0">
              <a:latin typeface="Arial" panose="020B0604020202020204" pitchFamily="34" charset="0"/>
              <a:cs typeface="Arial" panose="020B0604020202020204" pitchFamily="34" charset="0"/>
            </a:endParaRPr>
          </a:p>
          <a:p>
            <a:pPr>
              <a:spcBef>
                <a:spcPct val="15000"/>
              </a:spcBef>
              <a:buClr>
                <a:schemeClr val="hlink"/>
              </a:buClr>
              <a:buFont typeface="Wingdings" charset="0"/>
              <a:buChar char="Ø"/>
            </a:pPr>
            <a:r>
              <a:rPr lang="en-US" altLang="zh-CN" sz="1950" dirty="0">
                <a:latin typeface="Arial" panose="020B0604020202020204" pitchFamily="34" charset="0"/>
                <a:cs typeface="Arial" panose="020B0604020202020204" pitchFamily="34" charset="0"/>
              </a:rPr>
              <a:t>3)</a:t>
            </a:r>
            <a:r>
              <a:rPr lang="zh-CN" altLang="en-US" sz="1950" dirty="0">
                <a:latin typeface="Arial" panose="020B0604020202020204" pitchFamily="34" charset="0"/>
                <a:cs typeface="Arial" panose="020B0604020202020204" pitchFamily="34" charset="0"/>
              </a:rPr>
              <a:t>把记录集合暂存到数据集</a:t>
            </a:r>
            <a:endParaRPr lang="en-US" altLang="zh-CN" sz="1950" dirty="0">
              <a:latin typeface="Arial" panose="020B0604020202020204" pitchFamily="34" charset="0"/>
              <a:cs typeface="Arial" panose="020B0604020202020204" pitchFamily="34" charset="0"/>
            </a:endParaRPr>
          </a:p>
          <a:p>
            <a:pPr>
              <a:spcBef>
                <a:spcPct val="15000"/>
              </a:spcBef>
              <a:buClr>
                <a:schemeClr val="hlink"/>
              </a:buClr>
              <a:buFont typeface="Wingdings" charset="0"/>
              <a:buNone/>
            </a:pPr>
            <a:r>
              <a:rPr lang="en-US" altLang="zh-CN" sz="1950" dirty="0">
                <a:solidFill>
                  <a:srgbClr val="006600"/>
                </a:solidFill>
                <a:latin typeface="Arial" panose="020B0604020202020204" pitchFamily="34" charset="0"/>
                <a:cs typeface="Arial" panose="020B0604020202020204" pitchFamily="34" charset="0"/>
              </a:rPr>
              <a:t>    (</a:t>
            </a:r>
            <a:r>
              <a:rPr lang="zh-CN" altLang="en-US" sz="1950" dirty="0">
                <a:solidFill>
                  <a:srgbClr val="006600"/>
                </a:solidFill>
                <a:latin typeface="Arial" panose="020B0604020202020204" pitchFamily="34" charset="0"/>
                <a:cs typeface="Arial" panose="020B0604020202020204" pitchFamily="34" charset="0"/>
              </a:rPr>
              <a:t>可放多个数据集</a:t>
            </a:r>
            <a:r>
              <a:rPr lang="en-US" altLang="zh-CN" sz="1950" dirty="0">
                <a:solidFill>
                  <a:srgbClr val="006600"/>
                </a:solidFill>
                <a:latin typeface="Arial" panose="020B0604020202020204" pitchFamily="34" charset="0"/>
                <a:cs typeface="Arial" panose="020B0604020202020204" pitchFamily="34" charset="0"/>
              </a:rPr>
              <a:t>)</a:t>
            </a:r>
            <a:r>
              <a:rPr lang="zh-CN" altLang="en-US" sz="1950" dirty="0">
                <a:latin typeface="Arial" panose="020B0604020202020204" pitchFamily="34" charset="0"/>
                <a:cs typeface="Arial" panose="020B0604020202020204" pitchFamily="34" charset="0"/>
              </a:rPr>
              <a:t>；</a:t>
            </a:r>
            <a:endParaRPr lang="en-US" altLang="zh-CN" sz="1950" dirty="0">
              <a:solidFill>
                <a:srgbClr val="006600"/>
              </a:solidFill>
              <a:latin typeface="Arial" panose="020B0604020202020204" pitchFamily="34" charset="0"/>
              <a:cs typeface="Arial" panose="020B0604020202020204" pitchFamily="34" charset="0"/>
            </a:endParaRPr>
          </a:p>
          <a:p>
            <a:pPr>
              <a:spcBef>
                <a:spcPct val="15000"/>
              </a:spcBef>
              <a:buClr>
                <a:schemeClr val="hlink"/>
              </a:buClr>
              <a:buFont typeface="Wingdings" charset="0"/>
              <a:buChar char="Ø"/>
            </a:pPr>
            <a:r>
              <a:rPr lang="en-US" altLang="zh-CN" sz="1950" dirty="0">
                <a:latin typeface="Arial" panose="020B0604020202020204" pitchFamily="34" charset="0"/>
                <a:cs typeface="Arial" panose="020B0604020202020204" pitchFamily="34" charset="0"/>
              </a:rPr>
              <a:t>4)</a:t>
            </a:r>
            <a:r>
              <a:rPr lang="zh-CN" altLang="en-US" sz="1950" dirty="0">
                <a:latin typeface="Arial" panose="020B0604020202020204" pitchFamily="34" charset="0"/>
                <a:cs typeface="Arial" panose="020B0604020202020204" pitchFamily="34" charset="0"/>
              </a:rPr>
              <a:t>关闭数据库链路；</a:t>
            </a:r>
            <a:endParaRPr lang="en-US" altLang="zh-CN" sz="1950" dirty="0">
              <a:latin typeface="Arial" panose="020B0604020202020204" pitchFamily="34" charset="0"/>
              <a:cs typeface="Arial" panose="020B0604020202020204" pitchFamily="34" charset="0"/>
            </a:endParaRPr>
          </a:p>
          <a:p>
            <a:pPr>
              <a:spcBef>
                <a:spcPct val="15000"/>
              </a:spcBef>
              <a:buClr>
                <a:schemeClr val="hlink"/>
              </a:buClr>
              <a:buFont typeface="Wingdings" charset="0"/>
              <a:buChar char="Ø"/>
            </a:pPr>
            <a:r>
              <a:rPr lang="en-US" altLang="zh-CN" sz="1950" dirty="0">
                <a:latin typeface="Arial" panose="020B0604020202020204" pitchFamily="34" charset="0"/>
                <a:cs typeface="Arial" panose="020B0604020202020204" pitchFamily="34" charset="0"/>
              </a:rPr>
              <a:t>5)</a:t>
            </a:r>
            <a:r>
              <a:rPr lang="zh-CN" altLang="en-US" sz="1950" dirty="0">
                <a:latin typeface="Arial" panose="020B0604020202020204" pitchFamily="34" charset="0"/>
                <a:cs typeface="Arial" panose="020B0604020202020204" pitchFamily="34" charset="0"/>
              </a:rPr>
              <a:t>在数据集上查询。</a:t>
            </a:r>
          </a:p>
        </p:txBody>
      </p:sp>
      <p:sp>
        <p:nvSpPr>
          <p:cNvPr id="3" name="标题 2">
            <a:extLst>
              <a:ext uri="{FF2B5EF4-FFF2-40B4-BE49-F238E27FC236}">
                <a16:creationId xmlns:a16="http://schemas.microsoft.com/office/drawing/2014/main" id="{624214DE-55A9-4134-3280-EBE90BDC64C3}"/>
              </a:ext>
            </a:extLst>
          </p:cNvPr>
          <p:cNvSpPr>
            <a:spLocks noGrp="1"/>
          </p:cNvSpPr>
          <p:nvPr>
            <p:ph type="title"/>
          </p:nvPr>
        </p:nvSpPr>
        <p:spPr/>
        <p:txBody>
          <a:bodyPr/>
          <a:lstStyle/>
          <a:p>
            <a:r>
              <a:rPr lang="en" altLang="zh-CN" dirty="0"/>
              <a:t>ADO.NET</a:t>
            </a:r>
            <a:endParaRPr lang="zh-CN" altLang="en-US" dirty="0"/>
          </a:p>
        </p:txBody>
      </p:sp>
    </p:spTree>
    <p:extLst>
      <p:ext uri="{BB962C8B-B14F-4D97-AF65-F5344CB8AC3E}">
        <p14:creationId xmlns:p14="http://schemas.microsoft.com/office/powerpoint/2010/main" val="1668026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7" name="Rectangle 3"/>
          <p:cNvSpPr>
            <a:spLocks noGrp="1" noChangeArrowheads="1"/>
          </p:cNvSpPr>
          <p:nvPr>
            <p:ph type="body" idx="1"/>
          </p:nvPr>
        </p:nvSpPr>
        <p:spPr>
          <a:xfrm>
            <a:off x="503695" y="948786"/>
            <a:ext cx="6858000" cy="450000"/>
          </a:xfrm>
        </p:spPr>
        <p:txBody>
          <a:bodyPr/>
          <a:lstStyle/>
          <a:p>
            <a:pPr>
              <a:lnSpc>
                <a:spcPct val="90000"/>
              </a:lnSpc>
            </a:pPr>
            <a:r>
              <a:rPr lang="zh-CN" altLang="en-US" sz="1950" dirty="0">
                <a:latin typeface="Arial" panose="020B0604020202020204" pitchFamily="34" charset="0"/>
                <a:cs typeface="Arial" panose="020B0604020202020204" pitchFamily="34" charset="0"/>
              </a:rPr>
              <a:t>数据提供程序主要充当</a:t>
            </a:r>
            <a:r>
              <a:rPr lang="en-US" altLang="zh-CN" sz="1950" dirty="0" err="1">
                <a:latin typeface="Arial" panose="020B0604020202020204" pitchFamily="34" charset="0"/>
                <a:cs typeface="Arial" panose="020B0604020202020204" pitchFamily="34" charset="0"/>
              </a:rPr>
              <a:t>DataSet</a:t>
            </a:r>
            <a:r>
              <a:rPr lang="zh-CN" altLang="en-US" sz="1950" dirty="0">
                <a:latin typeface="Arial" panose="020B0604020202020204" pitchFamily="34" charset="0"/>
                <a:cs typeface="Arial" panose="020B0604020202020204" pitchFamily="34" charset="0"/>
              </a:rPr>
              <a:t>及数据源之间的桥梁。</a:t>
            </a:r>
            <a:r>
              <a:rPr lang="en-US" altLang="zh-CN" sz="1950" b="1" dirty="0">
                <a:latin typeface="Arial" panose="020B0604020202020204" pitchFamily="34" charset="0"/>
                <a:cs typeface="Arial" panose="020B0604020202020204" pitchFamily="34" charset="0"/>
              </a:rPr>
              <a:t> </a:t>
            </a:r>
          </a:p>
        </p:txBody>
      </p:sp>
      <p:grpSp>
        <p:nvGrpSpPr>
          <p:cNvPr id="456708" name="Group 4"/>
          <p:cNvGrpSpPr>
            <a:grpSpLocks/>
          </p:cNvGrpSpPr>
          <p:nvPr/>
        </p:nvGrpSpPr>
        <p:grpSpPr bwMode="auto">
          <a:xfrm>
            <a:off x="1143000" y="1385129"/>
            <a:ext cx="6858000" cy="4061222"/>
            <a:chOff x="2592" y="240"/>
            <a:chExt cx="2832" cy="1968"/>
          </a:xfrm>
        </p:grpSpPr>
        <p:grpSp>
          <p:nvGrpSpPr>
            <p:cNvPr id="456709" name="Group 5"/>
            <p:cNvGrpSpPr>
              <a:grpSpLocks/>
            </p:cNvGrpSpPr>
            <p:nvPr/>
          </p:nvGrpSpPr>
          <p:grpSpPr bwMode="auto">
            <a:xfrm>
              <a:off x="2592" y="240"/>
              <a:ext cx="2832" cy="1657"/>
              <a:chOff x="2592" y="240"/>
              <a:chExt cx="2832" cy="1657"/>
            </a:xfrm>
          </p:grpSpPr>
          <p:sp>
            <p:nvSpPr>
              <p:cNvPr id="456710" name="AutoShape 6"/>
              <p:cNvSpPr>
                <a:spLocks noChangeArrowheads="1"/>
              </p:cNvSpPr>
              <p:nvPr/>
            </p:nvSpPr>
            <p:spPr bwMode="auto">
              <a:xfrm>
                <a:off x="3820" y="1717"/>
                <a:ext cx="424" cy="180"/>
              </a:xfrm>
              <a:prstGeom prst="can">
                <a:avLst>
                  <a:gd name="adj" fmla="val 25000"/>
                </a:avLst>
              </a:prstGeom>
              <a:solidFill>
                <a:srgbClr val="CBFFF1"/>
              </a:solidFill>
              <a:ln w="9525">
                <a:solidFill>
                  <a:srgbClr val="000000"/>
                </a:solidFill>
                <a:round/>
                <a:headEnd/>
                <a:tailEnd/>
              </a:ln>
            </p:spPr>
            <p:txBody>
              <a:bodyPr lIns="47247" tIns="9449" rIns="47247" bIns="9449" anchor="ctr"/>
              <a:lstStyle/>
              <a:p>
                <a:pPr algn="ctr" defTabSz="800100"/>
                <a:r>
                  <a:rPr lang="en-US" altLang="zh-CN" sz="1600"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 </a:t>
                </a:r>
                <a:r>
                  <a:rPr lang="zh-CN" altLang="en-US" sz="1600"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数</a:t>
                </a:r>
                <a:r>
                  <a:rPr lang="en-US" altLang="zh-CN" sz="1600"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 </a:t>
                </a:r>
                <a:r>
                  <a:rPr lang="zh-CN" altLang="en-US" sz="1600"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据</a:t>
                </a:r>
                <a:r>
                  <a:rPr lang="en-US" altLang="zh-CN" sz="1600"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 </a:t>
                </a:r>
                <a:r>
                  <a:rPr lang="zh-CN" altLang="en-US" sz="1600"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库</a:t>
                </a:r>
                <a:endParaRPr lang="zh-CN" altLang="en-US" sz="1600" dirty="0">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456711" name="AutoShape 7"/>
              <p:cNvSpPr>
                <a:spLocks noChangeArrowheads="1"/>
              </p:cNvSpPr>
              <p:nvPr/>
            </p:nvSpPr>
            <p:spPr bwMode="auto">
              <a:xfrm>
                <a:off x="3504" y="240"/>
                <a:ext cx="912" cy="480"/>
              </a:xfrm>
              <a:prstGeom prst="flowChartMultidocument">
                <a:avLst/>
              </a:prstGeom>
              <a:solidFill>
                <a:srgbClr val="CCFFFF"/>
              </a:solidFill>
              <a:ln w="9525">
                <a:solidFill>
                  <a:srgbClr val="000000"/>
                </a:solidFill>
                <a:miter lim="800000"/>
                <a:headEnd/>
                <a:tailEnd/>
              </a:ln>
            </p:spPr>
            <p:txBody>
              <a:bodyPr lIns="47247" tIns="9449" rIns="47247" bIns="9449" anchor="ctr"/>
              <a:lstStyle/>
              <a:p>
                <a:pPr algn="ctr" defTabSz="800100"/>
                <a:r>
                  <a:rPr lang="en-US" altLang="zh-CN" sz="1725" dirty="0">
                    <a:solidFill>
                      <a:srgbClr val="000000"/>
                    </a:solidFill>
                    <a:latin typeface="Arial" panose="020B0604020202020204" pitchFamily="34" charset="0"/>
                    <a:ea typeface="Microsoft YaHei" panose="020B0503020204020204" pitchFamily="34" charset="-122"/>
                    <a:cs typeface="Arial" panose="020B0604020202020204" pitchFamily="34" charset="0"/>
                  </a:rPr>
                  <a:t> </a:t>
                </a:r>
                <a:r>
                  <a:rPr lang="zh-CN" altLang="en-US" sz="2100" dirty="0">
                    <a:solidFill>
                      <a:srgbClr val="000000"/>
                    </a:solidFill>
                    <a:latin typeface="Arial" panose="020B0604020202020204" pitchFamily="34" charset="0"/>
                    <a:ea typeface="Microsoft YaHei" panose="020B0503020204020204" pitchFamily="34" charset="-122"/>
                    <a:cs typeface="Arial" panose="020B0604020202020204" pitchFamily="34" charset="0"/>
                  </a:rPr>
                  <a:t>应</a:t>
                </a:r>
                <a:r>
                  <a:rPr lang="en-US" altLang="zh-CN" sz="2100" dirty="0">
                    <a:solidFill>
                      <a:srgbClr val="000000"/>
                    </a:solidFill>
                    <a:latin typeface="Arial" panose="020B0604020202020204" pitchFamily="34" charset="0"/>
                    <a:ea typeface="Microsoft YaHei" panose="020B0503020204020204" pitchFamily="34" charset="-122"/>
                    <a:cs typeface="Arial" panose="020B0604020202020204" pitchFamily="34" charset="0"/>
                  </a:rPr>
                  <a:t> </a:t>
                </a:r>
                <a:r>
                  <a:rPr lang="zh-CN" altLang="en-US" sz="2100" dirty="0">
                    <a:solidFill>
                      <a:srgbClr val="000000"/>
                    </a:solidFill>
                    <a:latin typeface="Arial" panose="020B0604020202020204" pitchFamily="34" charset="0"/>
                    <a:ea typeface="Microsoft YaHei" panose="020B0503020204020204" pitchFamily="34" charset="-122"/>
                    <a:cs typeface="Arial" panose="020B0604020202020204" pitchFamily="34" charset="0"/>
                  </a:rPr>
                  <a:t>用</a:t>
                </a:r>
                <a:r>
                  <a:rPr lang="en-US" altLang="zh-CN" sz="2100" dirty="0">
                    <a:solidFill>
                      <a:srgbClr val="000000"/>
                    </a:solidFill>
                    <a:latin typeface="Arial" panose="020B0604020202020204" pitchFamily="34" charset="0"/>
                    <a:ea typeface="Microsoft YaHei" panose="020B0503020204020204" pitchFamily="34" charset="-122"/>
                    <a:cs typeface="Arial" panose="020B0604020202020204" pitchFamily="34" charset="0"/>
                  </a:rPr>
                  <a:t> </a:t>
                </a:r>
                <a:r>
                  <a:rPr lang="zh-CN" altLang="en-US" sz="2100" dirty="0">
                    <a:solidFill>
                      <a:srgbClr val="000000"/>
                    </a:solidFill>
                    <a:latin typeface="Arial" panose="020B0604020202020204" pitchFamily="34" charset="0"/>
                    <a:ea typeface="Microsoft YaHei" panose="020B0503020204020204" pitchFamily="34" charset="-122"/>
                    <a:cs typeface="Arial" panose="020B0604020202020204" pitchFamily="34" charset="0"/>
                  </a:rPr>
                  <a:t>程</a:t>
                </a:r>
                <a:r>
                  <a:rPr lang="en-US" altLang="zh-CN" sz="2100" dirty="0">
                    <a:solidFill>
                      <a:srgbClr val="000000"/>
                    </a:solidFill>
                    <a:latin typeface="Arial" panose="020B0604020202020204" pitchFamily="34" charset="0"/>
                    <a:ea typeface="Microsoft YaHei" panose="020B0503020204020204" pitchFamily="34" charset="-122"/>
                    <a:cs typeface="Arial" panose="020B0604020202020204" pitchFamily="34" charset="0"/>
                  </a:rPr>
                  <a:t> </a:t>
                </a:r>
                <a:r>
                  <a:rPr lang="zh-CN" altLang="en-US" sz="2100" dirty="0">
                    <a:solidFill>
                      <a:srgbClr val="000000"/>
                    </a:solidFill>
                    <a:latin typeface="Arial" panose="020B0604020202020204" pitchFamily="34" charset="0"/>
                    <a:ea typeface="Microsoft YaHei" panose="020B0503020204020204" pitchFamily="34" charset="-122"/>
                    <a:cs typeface="Arial" panose="020B0604020202020204" pitchFamily="34" charset="0"/>
                  </a:rPr>
                  <a:t>序</a:t>
                </a:r>
                <a:endParaRPr lang="zh-CN" altLang="en-US" sz="2100" dirty="0">
                  <a:latin typeface="Arial" panose="020B0604020202020204" pitchFamily="34" charset="0"/>
                  <a:ea typeface="Microsoft YaHei" panose="020B0503020204020204" pitchFamily="34" charset="-122"/>
                  <a:cs typeface="Arial" panose="020B0604020202020204" pitchFamily="34" charset="0"/>
                </a:endParaRPr>
              </a:p>
            </p:txBody>
          </p:sp>
          <p:sp>
            <p:nvSpPr>
              <p:cNvPr id="456712" name="Text Box 8"/>
              <p:cNvSpPr txBox="1">
                <a:spLocks noChangeArrowheads="1"/>
              </p:cNvSpPr>
              <p:nvPr/>
            </p:nvSpPr>
            <p:spPr bwMode="auto">
              <a:xfrm>
                <a:off x="3552" y="960"/>
                <a:ext cx="720" cy="150"/>
              </a:xfrm>
              <a:prstGeom prst="rect">
                <a:avLst/>
              </a:prstGeom>
              <a:solidFill>
                <a:srgbClr val="FFFF99"/>
              </a:solidFill>
              <a:ln w="9525">
                <a:solidFill>
                  <a:srgbClr val="C0C0C0"/>
                </a:solidFill>
                <a:miter lim="800000"/>
                <a:headEnd/>
                <a:tailEnd/>
              </a:ln>
            </p:spPr>
            <p:txBody>
              <a:bodyPr lIns="47247" tIns="40948" rIns="47247" bIns="40948"/>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en-US" altLang="zh-CN" sz="1600" dirty="0">
                    <a:solidFill>
                      <a:srgbClr val="000000"/>
                    </a:solidFill>
                    <a:latin typeface="Arial" panose="020B0604020202020204" pitchFamily="34" charset="0"/>
                    <a:ea typeface="Microsoft YaHei" panose="020B0503020204020204" pitchFamily="34" charset="-122"/>
                    <a:cs typeface="Arial" panose="020B0604020202020204" pitchFamily="34" charset="0"/>
                  </a:rPr>
                  <a:t> </a:t>
                </a:r>
                <a:r>
                  <a:rPr lang="en-US" altLang="zh-CN" sz="1600" dirty="0" err="1">
                    <a:solidFill>
                      <a:srgbClr val="000000"/>
                    </a:solidFill>
                    <a:latin typeface="Arial" panose="020B0604020202020204" pitchFamily="34" charset="0"/>
                    <a:ea typeface="Microsoft YaHei" panose="020B0503020204020204" pitchFamily="34" charset="-122"/>
                    <a:cs typeface="Arial" panose="020B0604020202020204" pitchFamily="34" charset="0"/>
                  </a:rPr>
                  <a:t>DataReader</a:t>
                </a:r>
                <a:r>
                  <a:rPr lang="zh-CN" altLang="en-US" sz="1600" dirty="0">
                    <a:solidFill>
                      <a:srgbClr val="000000"/>
                    </a:solidFill>
                    <a:latin typeface="Arial" panose="020B0604020202020204" pitchFamily="34" charset="0"/>
                    <a:ea typeface="Microsoft YaHei" panose="020B0503020204020204" pitchFamily="34" charset="-122"/>
                    <a:cs typeface="Arial" panose="020B0604020202020204" pitchFamily="34" charset="0"/>
                  </a:rPr>
                  <a:t>对象</a:t>
                </a:r>
                <a:endParaRPr lang="zh-CN" altLang="en-US" sz="1600" dirty="0">
                  <a:latin typeface="Arial" panose="020B0604020202020204" pitchFamily="34" charset="0"/>
                  <a:ea typeface="Microsoft YaHei" panose="020B0503020204020204" pitchFamily="34" charset="-122"/>
                  <a:cs typeface="Arial" panose="020B0604020202020204" pitchFamily="34" charset="0"/>
                </a:endParaRPr>
              </a:p>
            </p:txBody>
          </p:sp>
          <p:sp>
            <p:nvSpPr>
              <p:cNvPr id="456713" name="Text Box 9"/>
              <p:cNvSpPr txBox="1">
                <a:spLocks noChangeArrowheads="1"/>
              </p:cNvSpPr>
              <p:nvPr/>
            </p:nvSpPr>
            <p:spPr bwMode="auto">
              <a:xfrm>
                <a:off x="2640" y="960"/>
                <a:ext cx="624" cy="150"/>
              </a:xfrm>
              <a:prstGeom prst="rect">
                <a:avLst/>
              </a:prstGeom>
              <a:solidFill>
                <a:srgbClr val="FFFF99"/>
              </a:solidFill>
              <a:ln w="9525">
                <a:solidFill>
                  <a:srgbClr val="C0C0C0"/>
                </a:solidFill>
                <a:miter lim="800000"/>
                <a:headEnd/>
                <a:tailEnd/>
              </a:ln>
            </p:spPr>
            <p:txBody>
              <a:bodyPr lIns="47247" tIns="40948" rIns="47247" bIns="40948"/>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en-US" altLang="zh-CN" sz="1600" dirty="0">
                    <a:solidFill>
                      <a:srgbClr val="000000"/>
                    </a:solidFill>
                    <a:latin typeface="Arial" panose="020B0604020202020204" pitchFamily="34" charset="0"/>
                    <a:ea typeface="Microsoft YaHei" panose="020B0503020204020204" pitchFamily="34" charset="-122"/>
                    <a:cs typeface="Arial" panose="020B0604020202020204" pitchFamily="34" charset="0"/>
                  </a:rPr>
                  <a:t> </a:t>
                </a:r>
                <a:r>
                  <a:rPr lang="en-US" altLang="zh-CN" sz="1600" dirty="0" err="1">
                    <a:solidFill>
                      <a:srgbClr val="000000"/>
                    </a:solidFill>
                    <a:latin typeface="Arial" panose="020B0604020202020204" pitchFamily="34" charset="0"/>
                    <a:ea typeface="Microsoft YaHei" panose="020B0503020204020204" pitchFamily="34" charset="-122"/>
                    <a:cs typeface="Arial" panose="020B0604020202020204" pitchFamily="34" charset="0"/>
                  </a:rPr>
                  <a:t>Comman</a:t>
                </a:r>
                <a:r>
                  <a:rPr lang="zh-CN" altLang="en-US" sz="1600" dirty="0">
                    <a:solidFill>
                      <a:srgbClr val="000000"/>
                    </a:solidFill>
                    <a:latin typeface="Arial" panose="020B0604020202020204" pitchFamily="34" charset="0"/>
                    <a:ea typeface="Microsoft YaHei" panose="020B0503020204020204" pitchFamily="34" charset="-122"/>
                    <a:cs typeface="Arial" panose="020B0604020202020204" pitchFamily="34" charset="0"/>
                  </a:rPr>
                  <a:t>对象</a:t>
                </a:r>
                <a:endParaRPr lang="zh-CN" altLang="en-US" sz="1600" dirty="0">
                  <a:latin typeface="Arial" panose="020B0604020202020204" pitchFamily="34" charset="0"/>
                  <a:ea typeface="Microsoft YaHei" panose="020B0503020204020204" pitchFamily="34" charset="-122"/>
                  <a:cs typeface="Arial" panose="020B0604020202020204" pitchFamily="34" charset="0"/>
                </a:endParaRPr>
              </a:p>
            </p:txBody>
          </p:sp>
          <p:sp>
            <p:nvSpPr>
              <p:cNvPr id="456714" name="Text Box 10"/>
              <p:cNvSpPr txBox="1">
                <a:spLocks noChangeArrowheads="1"/>
              </p:cNvSpPr>
              <p:nvPr/>
            </p:nvSpPr>
            <p:spPr bwMode="auto">
              <a:xfrm>
                <a:off x="3600" y="1392"/>
                <a:ext cx="864" cy="150"/>
              </a:xfrm>
              <a:prstGeom prst="rect">
                <a:avLst/>
              </a:prstGeom>
              <a:solidFill>
                <a:srgbClr val="FFFF99"/>
              </a:solidFill>
              <a:ln w="9525">
                <a:solidFill>
                  <a:srgbClr val="C0C0C0"/>
                </a:solidFill>
                <a:miter lim="800000"/>
                <a:headEnd/>
                <a:tailEnd/>
              </a:ln>
            </p:spPr>
            <p:txBody>
              <a:bodyPr lIns="47247" tIns="40948" rIns="47247" bIns="40948"/>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en-US" altLang="zh-CN" sz="1600">
                    <a:solidFill>
                      <a:srgbClr val="000000"/>
                    </a:solidFill>
                    <a:latin typeface="Arial" panose="020B0604020202020204" pitchFamily="34" charset="0"/>
                    <a:ea typeface="Microsoft YaHei" panose="020B0503020204020204" pitchFamily="34" charset="-122"/>
                    <a:cs typeface="Arial" panose="020B0604020202020204" pitchFamily="34" charset="0"/>
                  </a:rPr>
                  <a:t> Connection </a:t>
                </a:r>
                <a:r>
                  <a:rPr lang="zh-CN" altLang="en-US" sz="1600">
                    <a:solidFill>
                      <a:srgbClr val="000000"/>
                    </a:solidFill>
                    <a:latin typeface="Arial" panose="020B0604020202020204" pitchFamily="34" charset="0"/>
                    <a:ea typeface="Microsoft YaHei" panose="020B0503020204020204" pitchFamily="34" charset="-122"/>
                    <a:cs typeface="Arial" panose="020B0604020202020204" pitchFamily="34" charset="0"/>
                  </a:rPr>
                  <a:t>对象</a:t>
                </a:r>
                <a:endParaRPr lang="zh-CN" altLang="en-US" sz="1600">
                  <a:latin typeface="Arial" panose="020B0604020202020204" pitchFamily="34" charset="0"/>
                  <a:ea typeface="Microsoft YaHei" panose="020B0503020204020204" pitchFamily="34" charset="-122"/>
                  <a:cs typeface="Arial" panose="020B0604020202020204" pitchFamily="34" charset="0"/>
                </a:endParaRPr>
              </a:p>
            </p:txBody>
          </p:sp>
          <p:sp>
            <p:nvSpPr>
              <p:cNvPr id="456715" name="Text Box 11"/>
              <p:cNvSpPr txBox="1">
                <a:spLocks noChangeArrowheads="1"/>
              </p:cNvSpPr>
              <p:nvPr/>
            </p:nvSpPr>
            <p:spPr bwMode="auto">
              <a:xfrm>
                <a:off x="4656" y="960"/>
                <a:ext cx="720" cy="150"/>
              </a:xfrm>
              <a:prstGeom prst="rect">
                <a:avLst/>
              </a:prstGeom>
              <a:solidFill>
                <a:srgbClr val="FFFF99"/>
              </a:solidFill>
              <a:ln w="9525">
                <a:solidFill>
                  <a:srgbClr val="C0C0C0"/>
                </a:solidFill>
                <a:miter lim="800000"/>
                <a:headEnd/>
                <a:tailEnd/>
              </a:ln>
            </p:spPr>
            <p:txBody>
              <a:bodyPr lIns="47247" tIns="40948" rIns="47247" bIns="40948"/>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en-US" altLang="zh-CN" sz="1600">
                    <a:solidFill>
                      <a:srgbClr val="000000"/>
                    </a:solidFill>
                    <a:latin typeface="Arial" panose="020B0604020202020204" pitchFamily="34" charset="0"/>
                    <a:ea typeface="Microsoft YaHei" panose="020B0503020204020204" pitchFamily="34" charset="-122"/>
                    <a:cs typeface="Arial" panose="020B0604020202020204" pitchFamily="34" charset="0"/>
                  </a:rPr>
                  <a:t>DataAdapte</a:t>
                </a:r>
                <a:r>
                  <a:rPr lang="zh-CN" altLang="en-US" sz="1600">
                    <a:solidFill>
                      <a:srgbClr val="000000"/>
                    </a:solidFill>
                    <a:latin typeface="Arial" panose="020B0604020202020204" pitchFamily="34" charset="0"/>
                    <a:ea typeface="Microsoft YaHei" panose="020B0503020204020204" pitchFamily="34" charset="-122"/>
                    <a:cs typeface="Arial" panose="020B0604020202020204" pitchFamily="34" charset="0"/>
                  </a:rPr>
                  <a:t>对象</a:t>
                </a:r>
                <a:endParaRPr lang="zh-CN" altLang="en-US" sz="1600">
                  <a:latin typeface="Arial" panose="020B0604020202020204" pitchFamily="34" charset="0"/>
                  <a:ea typeface="Microsoft YaHei" panose="020B0503020204020204" pitchFamily="34" charset="-122"/>
                  <a:cs typeface="Arial" panose="020B0604020202020204" pitchFamily="34" charset="0"/>
                </a:endParaRPr>
              </a:p>
            </p:txBody>
          </p:sp>
          <p:sp>
            <p:nvSpPr>
              <p:cNvPr id="456716" name="Text Box 12"/>
              <p:cNvSpPr txBox="1">
                <a:spLocks noChangeArrowheads="1"/>
              </p:cNvSpPr>
              <p:nvPr/>
            </p:nvSpPr>
            <p:spPr bwMode="auto">
              <a:xfrm>
                <a:off x="4752" y="336"/>
                <a:ext cx="480" cy="150"/>
              </a:xfrm>
              <a:prstGeom prst="rect">
                <a:avLst/>
              </a:prstGeom>
              <a:solidFill>
                <a:srgbClr val="FFCCCC"/>
              </a:solidFill>
              <a:ln w="9525">
                <a:solidFill>
                  <a:srgbClr val="C0C0C0"/>
                </a:solidFill>
                <a:miter lim="800000"/>
                <a:headEnd/>
                <a:tailEnd/>
              </a:ln>
            </p:spPr>
            <p:txBody>
              <a:bodyPr lIns="47247" tIns="40948" rIns="47247" bIns="40948"/>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en-US" altLang="zh-CN" sz="1725">
                    <a:solidFill>
                      <a:srgbClr val="000000"/>
                    </a:solidFill>
                    <a:latin typeface="Arial" panose="020B0604020202020204" pitchFamily="34" charset="0"/>
                    <a:ea typeface="Microsoft YaHei" panose="020B0503020204020204" pitchFamily="34" charset="-122"/>
                    <a:cs typeface="Arial" panose="020B0604020202020204" pitchFamily="34" charset="0"/>
                  </a:rPr>
                  <a:t>DataSet</a:t>
                </a:r>
              </a:p>
            </p:txBody>
          </p:sp>
          <p:sp>
            <p:nvSpPr>
              <p:cNvPr id="456717" name="Line 13"/>
              <p:cNvSpPr>
                <a:spLocks noChangeShapeType="1"/>
              </p:cNvSpPr>
              <p:nvPr/>
            </p:nvSpPr>
            <p:spPr bwMode="auto">
              <a:xfrm flipV="1">
                <a:off x="3984" y="1542"/>
                <a:ext cx="2" cy="175"/>
              </a:xfrm>
              <a:prstGeom prst="line">
                <a:avLst/>
              </a:prstGeom>
              <a:noFill/>
              <a:ln w="19050">
                <a:solidFill>
                  <a:srgbClr val="000000"/>
                </a:solidFill>
                <a:round/>
                <a:headEnd/>
                <a:tailEnd type="stealth" w="med" len="me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18" name="Line 14"/>
              <p:cNvSpPr>
                <a:spLocks noChangeShapeType="1"/>
              </p:cNvSpPr>
              <p:nvPr/>
            </p:nvSpPr>
            <p:spPr bwMode="auto">
              <a:xfrm flipV="1">
                <a:off x="3984" y="1104"/>
                <a:ext cx="0" cy="288"/>
              </a:xfrm>
              <a:prstGeom prst="line">
                <a:avLst/>
              </a:prstGeom>
              <a:noFill/>
              <a:ln w="12700">
                <a:solidFill>
                  <a:srgbClr val="000000"/>
                </a:solidFill>
                <a:prstDash val="dash"/>
                <a:round/>
                <a:headEnd/>
                <a:tailEnd type="stealth" w="med" len="me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19" name="Line 15"/>
              <p:cNvSpPr>
                <a:spLocks noChangeShapeType="1"/>
              </p:cNvSpPr>
              <p:nvPr/>
            </p:nvSpPr>
            <p:spPr bwMode="auto">
              <a:xfrm flipV="1">
                <a:off x="3984" y="672"/>
                <a:ext cx="0" cy="288"/>
              </a:xfrm>
              <a:prstGeom prst="line">
                <a:avLst/>
              </a:prstGeom>
              <a:noFill/>
              <a:ln w="12700">
                <a:solidFill>
                  <a:srgbClr val="000000"/>
                </a:solidFill>
                <a:round/>
                <a:headEnd/>
                <a:tailEnd type="stealth" w="med" len="me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20" name="Line 16"/>
              <p:cNvSpPr>
                <a:spLocks noChangeShapeType="1"/>
              </p:cNvSpPr>
              <p:nvPr/>
            </p:nvSpPr>
            <p:spPr bwMode="auto">
              <a:xfrm flipV="1">
                <a:off x="4896" y="480"/>
                <a:ext cx="0" cy="480"/>
              </a:xfrm>
              <a:prstGeom prst="line">
                <a:avLst/>
              </a:prstGeom>
              <a:noFill/>
              <a:ln w="12700">
                <a:solidFill>
                  <a:srgbClr val="000000"/>
                </a:solidFill>
                <a:round/>
                <a:headEnd/>
                <a:tailEnd type="stealth" w="med" len="me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21" name="Line 17"/>
              <p:cNvSpPr>
                <a:spLocks noChangeShapeType="1"/>
              </p:cNvSpPr>
              <p:nvPr/>
            </p:nvSpPr>
            <p:spPr bwMode="auto">
              <a:xfrm flipV="1">
                <a:off x="4896" y="1104"/>
                <a:ext cx="0" cy="336"/>
              </a:xfrm>
              <a:prstGeom prst="line">
                <a:avLst/>
              </a:prstGeom>
              <a:noFill/>
              <a:ln w="12700">
                <a:solidFill>
                  <a:srgbClr val="000000"/>
                </a:solidFill>
                <a:round/>
                <a:headEnd/>
                <a:tailEnd type="stealth" w="med" len="me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nvGrpSpPr>
              <p:cNvPr id="456722" name="Group 18"/>
              <p:cNvGrpSpPr>
                <a:grpSpLocks/>
              </p:cNvGrpSpPr>
              <p:nvPr/>
            </p:nvGrpSpPr>
            <p:grpSpPr bwMode="auto">
              <a:xfrm>
                <a:off x="2784" y="1104"/>
                <a:ext cx="816" cy="384"/>
                <a:chOff x="2592" y="1152"/>
                <a:chExt cx="1008" cy="384"/>
              </a:xfrm>
            </p:grpSpPr>
            <p:grpSp>
              <p:nvGrpSpPr>
                <p:cNvPr id="456723" name="Group 19"/>
                <p:cNvGrpSpPr>
                  <a:grpSpLocks/>
                </p:cNvGrpSpPr>
                <p:nvPr/>
              </p:nvGrpSpPr>
              <p:grpSpPr bwMode="auto">
                <a:xfrm>
                  <a:off x="2592" y="1152"/>
                  <a:ext cx="1008" cy="384"/>
                  <a:chOff x="2736" y="1104"/>
                  <a:chExt cx="816" cy="528"/>
                </a:xfrm>
              </p:grpSpPr>
              <p:sp>
                <p:nvSpPr>
                  <p:cNvPr id="456724" name="Line 20"/>
                  <p:cNvSpPr>
                    <a:spLocks noChangeShapeType="1"/>
                  </p:cNvSpPr>
                  <p:nvPr/>
                </p:nvSpPr>
                <p:spPr bwMode="auto">
                  <a:xfrm>
                    <a:off x="2736" y="1104"/>
                    <a:ext cx="0" cy="528"/>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25" name="Line 21"/>
                  <p:cNvSpPr>
                    <a:spLocks noChangeShapeType="1"/>
                  </p:cNvSpPr>
                  <p:nvPr/>
                </p:nvSpPr>
                <p:spPr bwMode="auto">
                  <a:xfrm>
                    <a:off x="2736" y="1632"/>
                    <a:ext cx="816" cy="0"/>
                  </a:xfrm>
                  <a:prstGeom prst="line">
                    <a:avLst/>
                  </a:prstGeom>
                  <a:noFill/>
                  <a:ln w="12700">
                    <a:solidFill>
                      <a:srgbClr val="000000"/>
                    </a:solidFill>
                    <a:round/>
                    <a:headEnd/>
                    <a:tailEnd type="stealth" w="med" len="me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sp>
              <p:nvSpPr>
                <p:cNvPr id="456726" name="Line 22"/>
                <p:cNvSpPr>
                  <a:spLocks noChangeShapeType="1"/>
                </p:cNvSpPr>
                <p:nvPr/>
              </p:nvSpPr>
              <p:spPr bwMode="auto">
                <a:xfrm flipV="1">
                  <a:off x="2688" y="1152"/>
                  <a:ext cx="0" cy="336"/>
                </a:xfrm>
                <a:prstGeom prst="line">
                  <a:avLst/>
                </a:prstGeom>
                <a:noFill/>
                <a:ln w="12700">
                  <a:solidFill>
                    <a:srgbClr val="000000"/>
                  </a:solidFill>
                  <a:round/>
                  <a:headEnd/>
                  <a:tailEnd type="stealth" w="med" len="me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27" name="Line 23"/>
                <p:cNvSpPr>
                  <a:spLocks noChangeShapeType="1"/>
                </p:cNvSpPr>
                <p:nvPr/>
              </p:nvSpPr>
              <p:spPr bwMode="auto">
                <a:xfrm>
                  <a:off x="2688" y="1488"/>
                  <a:ext cx="912" cy="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sp>
            <p:nvSpPr>
              <p:cNvPr id="456728" name="Line 24"/>
              <p:cNvSpPr>
                <a:spLocks noChangeShapeType="1"/>
              </p:cNvSpPr>
              <p:nvPr/>
            </p:nvSpPr>
            <p:spPr bwMode="auto">
              <a:xfrm>
                <a:off x="4464" y="1440"/>
                <a:ext cx="432" cy="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29" name="Line 25"/>
              <p:cNvSpPr>
                <a:spLocks noChangeShapeType="1"/>
              </p:cNvSpPr>
              <p:nvPr/>
            </p:nvSpPr>
            <p:spPr bwMode="auto">
              <a:xfrm>
                <a:off x="4992" y="1104"/>
                <a:ext cx="0" cy="384"/>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30" name="Line 26"/>
              <p:cNvSpPr>
                <a:spLocks noChangeShapeType="1"/>
              </p:cNvSpPr>
              <p:nvPr/>
            </p:nvSpPr>
            <p:spPr bwMode="auto">
              <a:xfrm flipH="1">
                <a:off x="4464" y="1488"/>
                <a:ext cx="528" cy="0"/>
              </a:xfrm>
              <a:prstGeom prst="line">
                <a:avLst/>
              </a:prstGeom>
              <a:noFill/>
              <a:ln w="12700">
                <a:solidFill>
                  <a:srgbClr val="000000"/>
                </a:solidFill>
                <a:round/>
                <a:headEnd/>
                <a:tailEnd type="stealth" w="med" len="me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31" name="Line 27"/>
              <p:cNvSpPr>
                <a:spLocks noChangeShapeType="1"/>
              </p:cNvSpPr>
              <p:nvPr/>
            </p:nvSpPr>
            <p:spPr bwMode="auto">
              <a:xfrm>
                <a:off x="4102" y="1542"/>
                <a:ext cx="0" cy="175"/>
              </a:xfrm>
              <a:prstGeom prst="line">
                <a:avLst/>
              </a:prstGeom>
              <a:noFill/>
              <a:ln w="19050">
                <a:solidFill>
                  <a:srgbClr val="000000"/>
                </a:solidFill>
                <a:round/>
                <a:headEnd/>
                <a:tailEnd type="stealth" w="med" len="me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32" name="Line 28"/>
              <p:cNvSpPr>
                <a:spLocks noChangeShapeType="1"/>
              </p:cNvSpPr>
              <p:nvPr/>
            </p:nvSpPr>
            <p:spPr bwMode="auto">
              <a:xfrm>
                <a:off x="3264" y="1056"/>
                <a:ext cx="288" cy="0"/>
              </a:xfrm>
              <a:prstGeom prst="line">
                <a:avLst/>
              </a:prstGeom>
              <a:noFill/>
              <a:ln w="15875">
                <a:solidFill>
                  <a:srgbClr val="000000"/>
                </a:solidFill>
                <a:round/>
                <a:headEnd/>
                <a:tailEnd type="stealth" w="med" len="me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nvGrpSpPr>
              <p:cNvPr id="456733" name="Group 29"/>
              <p:cNvGrpSpPr>
                <a:grpSpLocks/>
              </p:cNvGrpSpPr>
              <p:nvPr/>
            </p:nvGrpSpPr>
            <p:grpSpPr bwMode="auto">
              <a:xfrm>
                <a:off x="2784" y="384"/>
                <a:ext cx="720" cy="576"/>
                <a:chOff x="2592" y="384"/>
                <a:chExt cx="912" cy="576"/>
              </a:xfrm>
            </p:grpSpPr>
            <p:sp>
              <p:nvSpPr>
                <p:cNvPr id="456734" name="Line 30"/>
                <p:cNvSpPr>
                  <a:spLocks noChangeShapeType="1"/>
                </p:cNvSpPr>
                <p:nvPr/>
              </p:nvSpPr>
              <p:spPr bwMode="auto">
                <a:xfrm>
                  <a:off x="2592" y="384"/>
                  <a:ext cx="912" cy="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35" name="Line 31"/>
                <p:cNvSpPr>
                  <a:spLocks noChangeShapeType="1"/>
                </p:cNvSpPr>
                <p:nvPr/>
              </p:nvSpPr>
              <p:spPr bwMode="auto">
                <a:xfrm>
                  <a:off x="2688" y="480"/>
                  <a:ext cx="816" cy="0"/>
                </a:xfrm>
                <a:prstGeom prst="line">
                  <a:avLst/>
                </a:prstGeom>
                <a:noFill/>
                <a:ln w="12700">
                  <a:solidFill>
                    <a:srgbClr val="000000"/>
                  </a:solidFill>
                  <a:round/>
                  <a:headEnd/>
                  <a:tailEnd type="stealth" w="med" len="me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36" name="Line 32"/>
                <p:cNvSpPr>
                  <a:spLocks noChangeShapeType="1"/>
                </p:cNvSpPr>
                <p:nvPr/>
              </p:nvSpPr>
              <p:spPr bwMode="auto">
                <a:xfrm>
                  <a:off x="2688" y="480"/>
                  <a:ext cx="0" cy="48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37" name="Line 33"/>
                <p:cNvSpPr>
                  <a:spLocks noChangeShapeType="1"/>
                </p:cNvSpPr>
                <p:nvPr/>
              </p:nvSpPr>
              <p:spPr bwMode="auto">
                <a:xfrm>
                  <a:off x="2592" y="384"/>
                  <a:ext cx="0" cy="576"/>
                </a:xfrm>
                <a:prstGeom prst="line">
                  <a:avLst/>
                </a:prstGeom>
                <a:noFill/>
                <a:ln w="12700">
                  <a:solidFill>
                    <a:srgbClr val="000000"/>
                  </a:solidFill>
                  <a:round/>
                  <a:headEnd/>
                  <a:tailEnd type="stealth" w="med" len="me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grpSp>
          <p:sp>
            <p:nvSpPr>
              <p:cNvPr id="456738" name="Line 34"/>
              <p:cNvSpPr>
                <a:spLocks noChangeShapeType="1"/>
              </p:cNvSpPr>
              <p:nvPr/>
            </p:nvSpPr>
            <p:spPr bwMode="auto">
              <a:xfrm>
                <a:off x="4992" y="480"/>
                <a:ext cx="0" cy="480"/>
              </a:xfrm>
              <a:prstGeom prst="line">
                <a:avLst/>
              </a:prstGeom>
              <a:noFill/>
              <a:ln w="12700">
                <a:solidFill>
                  <a:srgbClr val="000000"/>
                </a:solidFill>
                <a:round/>
                <a:headEnd/>
                <a:tailEnd type="stealth" w="med" len="me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39" name="Line 35"/>
              <p:cNvSpPr>
                <a:spLocks noChangeShapeType="1"/>
              </p:cNvSpPr>
              <p:nvPr/>
            </p:nvSpPr>
            <p:spPr bwMode="auto">
              <a:xfrm>
                <a:off x="4416" y="384"/>
                <a:ext cx="336" cy="0"/>
              </a:xfrm>
              <a:prstGeom prst="line">
                <a:avLst/>
              </a:prstGeom>
              <a:noFill/>
              <a:ln w="12700">
                <a:solidFill>
                  <a:srgbClr val="000000"/>
                </a:solidFill>
                <a:round/>
                <a:headEnd/>
                <a:tailEnd type="stealth" w="med" len="me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40" name="Line 36"/>
              <p:cNvSpPr>
                <a:spLocks noChangeShapeType="1"/>
              </p:cNvSpPr>
              <p:nvPr/>
            </p:nvSpPr>
            <p:spPr bwMode="auto">
              <a:xfrm flipH="1">
                <a:off x="4416" y="480"/>
                <a:ext cx="336" cy="0"/>
              </a:xfrm>
              <a:prstGeom prst="line">
                <a:avLst/>
              </a:prstGeom>
              <a:noFill/>
              <a:ln w="15875">
                <a:solidFill>
                  <a:srgbClr val="000000"/>
                </a:solidFill>
                <a:round/>
                <a:headEnd/>
                <a:tailEnd type="stealth" w="med" len="med"/>
              </a:ln>
              <a:extLst>
                <a:ext uri="{909E8E84-426E-40dd-AFC4-6F175D3DCCD1}">
                  <a14:hiddenFill xmlns="" xmlns:a14="http://schemas.microsoft.com/office/drawing/2010/main">
                    <a:noFill/>
                  </a14:hiddenFill>
                </a:ext>
              </a:extLst>
            </p:spPr>
            <p:txBody>
              <a:bodyPr lIns="40500" tIns="8100" rIns="40500" bIns="8100"/>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41" name="Text Box 37"/>
              <p:cNvSpPr txBox="1">
                <a:spLocks noChangeArrowheads="1"/>
              </p:cNvSpPr>
              <p:nvPr/>
            </p:nvSpPr>
            <p:spPr bwMode="auto">
              <a:xfrm>
                <a:off x="2880" y="480"/>
                <a:ext cx="720" cy="100"/>
              </a:xfrm>
              <a:prstGeom prst="rect">
                <a:avLst/>
              </a:prstGeom>
              <a:noFill/>
              <a:ln>
                <a:noFill/>
              </a:ln>
              <a:extLst>
                <a:ext uri="{909E8E84-426E-40dd-AFC4-6F175D3DCCD1}">
                  <a14:hiddenFill xmlns="" xmlns:a14="http://schemas.microsoft.com/office/drawing/2010/main">
                    <a:solidFill>
                      <a:srgbClr val="BBE0E3"/>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47247" tIns="9449" rIns="47247"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en-US" altLang="zh-CN" sz="1400">
                    <a:solidFill>
                      <a:srgbClr val="000000"/>
                    </a:solidFill>
                    <a:latin typeface="Arial" panose="020B0604020202020204" pitchFamily="34" charset="0"/>
                    <a:ea typeface="Microsoft YaHei" panose="020B0503020204020204" pitchFamily="34" charset="-122"/>
                    <a:cs typeface="Arial" panose="020B0604020202020204" pitchFamily="34" charset="0"/>
                  </a:rPr>
                  <a:t>ExecuteScalar</a:t>
                </a:r>
                <a:r>
                  <a:rPr lang="en-US" altLang="zh-CN" sz="1400" dirty="0">
                    <a:solidFill>
                      <a:srgbClr val="000000"/>
                    </a:solidFill>
                    <a:latin typeface="Arial" panose="020B0604020202020204" pitchFamily="34" charset="0"/>
                    <a:ea typeface="Microsoft YaHei" panose="020B0503020204020204" pitchFamily="34" charset="-122"/>
                    <a:cs typeface="Arial" panose="020B0604020202020204" pitchFamily="34" charset="0"/>
                  </a:rPr>
                  <a:t>()</a:t>
                </a:r>
                <a:endParaRPr lang="en-US" altLang="zh-CN" sz="1400" dirty="0">
                  <a:latin typeface="Arial" panose="020B0604020202020204" pitchFamily="34" charset="0"/>
                  <a:ea typeface="Microsoft YaHei" panose="020B0503020204020204" pitchFamily="34" charset="-122"/>
                  <a:cs typeface="Arial" panose="020B0604020202020204" pitchFamily="34" charset="0"/>
                </a:endParaRPr>
              </a:p>
            </p:txBody>
          </p:sp>
          <p:sp>
            <p:nvSpPr>
              <p:cNvPr id="456742" name="Text Box 38"/>
              <p:cNvSpPr txBox="1">
                <a:spLocks noChangeArrowheads="1"/>
              </p:cNvSpPr>
              <p:nvPr/>
            </p:nvSpPr>
            <p:spPr bwMode="auto">
              <a:xfrm>
                <a:off x="2784" y="240"/>
                <a:ext cx="816" cy="100"/>
              </a:xfrm>
              <a:prstGeom prst="rect">
                <a:avLst/>
              </a:prstGeom>
              <a:noFill/>
              <a:ln>
                <a:noFill/>
              </a:ln>
              <a:extLst>
                <a:ext uri="{909E8E84-426E-40dd-AFC4-6F175D3DCCD1}">
                  <a14:hiddenFill xmlns="" xmlns:a14="http://schemas.microsoft.com/office/drawing/2010/main">
                    <a:solidFill>
                      <a:srgbClr val="BBE0E3"/>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47247" tIns="9449" rIns="47247"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en-US" altLang="zh-CN" sz="1400" dirty="0" err="1">
                    <a:solidFill>
                      <a:srgbClr val="000000"/>
                    </a:solidFill>
                    <a:latin typeface="Arial" panose="020B0604020202020204" pitchFamily="34" charset="0"/>
                    <a:ea typeface="Microsoft YaHei" panose="020B0503020204020204" pitchFamily="34" charset="-122"/>
                    <a:cs typeface="Arial" panose="020B0604020202020204" pitchFamily="34" charset="0"/>
                  </a:rPr>
                  <a:t>ExecuteNonQuery</a:t>
                </a:r>
                <a:r>
                  <a:rPr lang="en-US" altLang="zh-CN" sz="1400" dirty="0">
                    <a:solidFill>
                      <a:srgbClr val="000000"/>
                    </a:solidFill>
                    <a:latin typeface="Arial" panose="020B0604020202020204" pitchFamily="34" charset="0"/>
                    <a:ea typeface="Microsoft YaHei" panose="020B0503020204020204" pitchFamily="34" charset="-122"/>
                    <a:cs typeface="Arial" panose="020B0604020202020204" pitchFamily="34" charset="0"/>
                  </a:rPr>
                  <a:t>()</a:t>
                </a:r>
                <a:endParaRPr lang="en-US" altLang="zh-CN" sz="1400" dirty="0">
                  <a:latin typeface="Arial" panose="020B0604020202020204" pitchFamily="34" charset="0"/>
                  <a:ea typeface="Microsoft YaHei" panose="020B0503020204020204" pitchFamily="34" charset="-122"/>
                  <a:cs typeface="Arial" panose="020B0604020202020204" pitchFamily="34" charset="0"/>
                </a:endParaRPr>
              </a:p>
            </p:txBody>
          </p:sp>
          <p:sp>
            <p:nvSpPr>
              <p:cNvPr id="456743" name="Text Box 39"/>
              <p:cNvSpPr txBox="1">
                <a:spLocks noChangeArrowheads="1"/>
              </p:cNvSpPr>
              <p:nvPr/>
            </p:nvSpPr>
            <p:spPr bwMode="auto">
              <a:xfrm>
                <a:off x="3984" y="768"/>
                <a:ext cx="432" cy="100"/>
              </a:xfrm>
              <a:prstGeom prst="rect">
                <a:avLst/>
              </a:prstGeom>
              <a:noFill/>
              <a:ln>
                <a:noFill/>
              </a:ln>
              <a:extLst>
                <a:ext uri="{909E8E84-426E-40dd-AFC4-6F175D3DCCD1}">
                  <a14:hiddenFill xmlns="" xmlns:a14="http://schemas.microsoft.com/office/drawing/2010/main">
                    <a:solidFill>
                      <a:srgbClr val="BBE0E3"/>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47247" tIns="9449" rIns="47247"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en-US" altLang="zh-CN" sz="1600">
                    <a:solidFill>
                      <a:srgbClr val="000000"/>
                    </a:solidFill>
                    <a:latin typeface="Arial" panose="020B0604020202020204" pitchFamily="34" charset="0"/>
                    <a:ea typeface="Microsoft YaHei" panose="020B0503020204020204" pitchFamily="34" charset="-122"/>
                    <a:cs typeface="Arial" panose="020B0604020202020204" pitchFamily="34" charset="0"/>
                  </a:rPr>
                  <a:t>Read()</a:t>
                </a:r>
                <a:endParaRPr lang="en-US" altLang="zh-CN" sz="1600">
                  <a:latin typeface="Arial" panose="020B0604020202020204" pitchFamily="34" charset="0"/>
                  <a:ea typeface="Microsoft YaHei" panose="020B0503020204020204" pitchFamily="34" charset="-122"/>
                  <a:cs typeface="Arial" panose="020B0604020202020204" pitchFamily="34" charset="0"/>
                </a:endParaRPr>
              </a:p>
            </p:txBody>
          </p:sp>
          <p:sp>
            <p:nvSpPr>
              <p:cNvPr id="456744" name="Text Box 40"/>
              <p:cNvSpPr txBox="1">
                <a:spLocks noChangeArrowheads="1"/>
              </p:cNvSpPr>
              <p:nvPr/>
            </p:nvSpPr>
            <p:spPr bwMode="auto">
              <a:xfrm>
                <a:off x="4608" y="768"/>
                <a:ext cx="336" cy="100"/>
              </a:xfrm>
              <a:prstGeom prst="rect">
                <a:avLst/>
              </a:prstGeom>
              <a:noFill/>
              <a:ln>
                <a:noFill/>
              </a:ln>
              <a:extLst>
                <a:ext uri="{909E8E84-426E-40dd-AFC4-6F175D3DCCD1}">
                  <a14:hiddenFill xmlns="" xmlns:a14="http://schemas.microsoft.com/office/drawing/2010/main">
                    <a:solidFill>
                      <a:srgbClr val="BBE0E3"/>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47247" tIns="9449" rIns="47247"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en-US" altLang="zh-CN" sz="1600">
                    <a:solidFill>
                      <a:srgbClr val="000000"/>
                    </a:solidFill>
                    <a:latin typeface="Arial" panose="020B0604020202020204" pitchFamily="34" charset="0"/>
                    <a:ea typeface="Microsoft YaHei" panose="020B0503020204020204" pitchFamily="34" charset="-122"/>
                    <a:cs typeface="Arial" panose="020B0604020202020204" pitchFamily="34" charset="0"/>
                  </a:rPr>
                  <a:t>Fill()</a:t>
                </a:r>
                <a:endParaRPr lang="en-US" altLang="zh-CN" sz="1600">
                  <a:latin typeface="Arial" panose="020B0604020202020204" pitchFamily="34" charset="0"/>
                  <a:ea typeface="Microsoft YaHei" panose="020B0503020204020204" pitchFamily="34" charset="-122"/>
                  <a:cs typeface="Arial" panose="020B0604020202020204" pitchFamily="34" charset="0"/>
                </a:endParaRPr>
              </a:p>
            </p:txBody>
          </p:sp>
          <p:sp>
            <p:nvSpPr>
              <p:cNvPr id="456745" name="Text Box 41"/>
              <p:cNvSpPr txBox="1">
                <a:spLocks noChangeArrowheads="1"/>
              </p:cNvSpPr>
              <p:nvPr/>
            </p:nvSpPr>
            <p:spPr bwMode="auto">
              <a:xfrm>
                <a:off x="4992" y="768"/>
                <a:ext cx="432" cy="100"/>
              </a:xfrm>
              <a:prstGeom prst="rect">
                <a:avLst/>
              </a:prstGeom>
              <a:noFill/>
              <a:ln>
                <a:noFill/>
              </a:ln>
              <a:extLst>
                <a:ext uri="{909E8E84-426E-40dd-AFC4-6F175D3DCCD1}">
                  <a14:hiddenFill xmlns="" xmlns:a14="http://schemas.microsoft.com/office/drawing/2010/main">
                    <a:solidFill>
                      <a:srgbClr val="BBE0E3"/>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47247" tIns="9449" rIns="47247"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en-US" altLang="zh-CN" sz="1600">
                    <a:solidFill>
                      <a:srgbClr val="000000"/>
                    </a:solidFill>
                    <a:latin typeface="Arial" panose="020B0604020202020204" pitchFamily="34" charset="0"/>
                    <a:ea typeface="Microsoft YaHei" panose="020B0503020204020204" pitchFamily="34" charset="-122"/>
                    <a:cs typeface="Arial" panose="020B0604020202020204" pitchFamily="34" charset="0"/>
                  </a:rPr>
                  <a:t>Update()</a:t>
                </a:r>
                <a:endParaRPr lang="en-US" altLang="zh-CN" sz="1600">
                  <a:latin typeface="Arial" panose="020B0604020202020204" pitchFamily="34" charset="0"/>
                  <a:ea typeface="Microsoft YaHei" panose="020B0503020204020204" pitchFamily="34" charset="-122"/>
                  <a:cs typeface="Arial" panose="020B0604020202020204" pitchFamily="34" charset="0"/>
                </a:endParaRPr>
              </a:p>
            </p:txBody>
          </p:sp>
          <p:sp>
            <p:nvSpPr>
              <p:cNvPr id="456746" name="Rectangle 42"/>
              <p:cNvSpPr>
                <a:spLocks noChangeArrowheads="1"/>
              </p:cNvSpPr>
              <p:nvPr/>
            </p:nvSpPr>
            <p:spPr bwMode="auto">
              <a:xfrm>
                <a:off x="2592" y="768"/>
                <a:ext cx="2832" cy="874"/>
              </a:xfrm>
              <a:prstGeom prst="rect">
                <a:avLst/>
              </a:prstGeom>
              <a:noFill/>
              <a:ln w="12700">
                <a:solidFill>
                  <a:srgbClr val="0000FF"/>
                </a:solidFill>
                <a:prstDash val="lgDash"/>
                <a:miter lim="800000"/>
                <a:headEnd/>
                <a:tailEnd/>
              </a:ln>
              <a:extLst>
                <a:ext uri="{909E8E84-426E-40dd-AFC4-6F175D3DCCD1}">
                  <a14:hiddenFill xmlns="" xmlns:a14="http://schemas.microsoft.com/office/drawing/2010/main">
                    <a:solidFill>
                      <a:srgbClr val="BBE0E3"/>
                    </a:solidFill>
                  </a14:hiddenFill>
                </a:ext>
              </a:extLst>
            </p:spPr>
            <p:txBody>
              <a:bodyPr lIns="40500" tIns="8100" rIns="40500" bIns="8100" anchor="ctr"/>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47" name="Rectangle 43"/>
              <p:cNvSpPr>
                <a:spLocks noChangeArrowheads="1"/>
              </p:cNvSpPr>
              <p:nvPr/>
            </p:nvSpPr>
            <p:spPr bwMode="auto">
              <a:xfrm>
                <a:off x="4560" y="240"/>
                <a:ext cx="864" cy="432"/>
              </a:xfrm>
              <a:prstGeom prst="rect">
                <a:avLst/>
              </a:prstGeom>
              <a:noFill/>
              <a:ln w="19050">
                <a:solidFill>
                  <a:schemeClr val="hlink"/>
                </a:solidFill>
                <a:prstDash val="dash"/>
                <a:miter lim="800000"/>
                <a:headEnd/>
                <a:tailEnd/>
              </a:ln>
              <a:extLst>
                <a:ext uri="{909E8E84-426E-40dd-AFC4-6F175D3DCCD1}">
                  <a14:hiddenFill xmlns="" xmlns:a14="http://schemas.microsoft.com/office/drawing/2010/main">
                    <a:solidFill>
                      <a:srgbClr val="BBE0E3"/>
                    </a:solidFill>
                  </a14:hiddenFill>
                </a:ext>
              </a:extLst>
            </p:spPr>
            <p:txBody>
              <a:bodyPr lIns="40500" tIns="8100" rIns="40500" bIns="8100" anchor="ctr"/>
              <a:lstStyle/>
              <a:p>
                <a:endParaRPr lang="zh-CN" altLang="en-US" sz="1350">
                  <a:latin typeface="Arial" panose="020B0604020202020204" pitchFamily="34" charset="0"/>
                  <a:ea typeface="Microsoft YaHei" panose="020B0503020204020204" pitchFamily="34" charset="-122"/>
                  <a:cs typeface="Arial" panose="020B0604020202020204" pitchFamily="34" charset="0"/>
                </a:endParaRPr>
              </a:p>
            </p:txBody>
          </p:sp>
          <p:sp>
            <p:nvSpPr>
              <p:cNvPr id="456748" name="Text Box 44"/>
              <p:cNvSpPr txBox="1">
                <a:spLocks noChangeArrowheads="1"/>
              </p:cNvSpPr>
              <p:nvPr/>
            </p:nvSpPr>
            <p:spPr bwMode="auto">
              <a:xfrm>
                <a:off x="5088" y="480"/>
                <a:ext cx="336" cy="100"/>
              </a:xfrm>
              <a:prstGeom prst="rect">
                <a:avLst/>
              </a:prstGeom>
              <a:noFill/>
              <a:ln>
                <a:noFill/>
              </a:ln>
              <a:extLst>
                <a:ext uri="{909E8E84-426E-40dd-AFC4-6F175D3DCCD1}">
                  <a14:hiddenFill xmlns="" xmlns:a14="http://schemas.microsoft.com/office/drawing/2010/main">
                    <a:solidFill>
                      <a:srgbClr val="BBE0E3"/>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47247" tIns="9449" rIns="47247"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zh-CN" altLang="en-US" sz="1725">
                    <a:solidFill>
                      <a:srgbClr val="000000"/>
                    </a:solidFill>
                    <a:latin typeface="Arial" panose="020B0604020202020204" pitchFamily="34" charset="0"/>
                    <a:ea typeface="Microsoft YaHei" panose="020B0503020204020204" pitchFamily="34" charset="-122"/>
                    <a:cs typeface="Arial" panose="020B0604020202020204" pitchFamily="34" charset="0"/>
                  </a:rPr>
                  <a:t>内存</a:t>
                </a:r>
                <a:endParaRPr lang="zh-CN" altLang="en-US" sz="1725">
                  <a:latin typeface="Arial" panose="020B0604020202020204" pitchFamily="34" charset="0"/>
                  <a:ea typeface="Microsoft YaHei" panose="020B0503020204020204" pitchFamily="34" charset="-122"/>
                  <a:cs typeface="Arial" panose="020B0604020202020204" pitchFamily="34" charset="0"/>
                </a:endParaRPr>
              </a:p>
            </p:txBody>
          </p:sp>
          <p:sp>
            <p:nvSpPr>
              <p:cNvPr id="456749" name="Text Box 45"/>
              <p:cNvSpPr txBox="1">
                <a:spLocks noChangeArrowheads="1"/>
              </p:cNvSpPr>
              <p:nvPr/>
            </p:nvSpPr>
            <p:spPr bwMode="auto">
              <a:xfrm>
                <a:off x="3072" y="816"/>
                <a:ext cx="720" cy="100"/>
              </a:xfrm>
              <a:prstGeom prst="rect">
                <a:avLst/>
              </a:prstGeom>
              <a:noFill/>
              <a:ln>
                <a:noFill/>
              </a:ln>
              <a:extLst>
                <a:ext uri="{909E8E84-426E-40dd-AFC4-6F175D3DCCD1}">
                  <a14:hiddenFill xmlns="" xmlns:a14="http://schemas.microsoft.com/office/drawing/2010/main">
                    <a:solidFill>
                      <a:srgbClr val="BBE0E3"/>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47247" tIns="9449" rIns="47247"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en-US" altLang="zh-CN" sz="1600" dirty="0" err="1">
                    <a:solidFill>
                      <a:srgbClr val="000000"/>
                    </a:solidFill>
                    <a:latin typeface="Arial" panose="020B0604020202020204" pitchFamily="34" charset="0"/>
                    <a:ea typeface="Microsoft YaHei" panose="020B0503020204020204" pitchFamily="34" charset="-122"/>
                    <a:cs typeface="Arial" panose="020B0604020202020204" pitchFamily="34" charset="0"/>
                  </a:rPr>
                  <a:t>ExecuteReader</a:t>
                </a:r>
                <a:r>
                  <a:rPr lang="en-US" altLang="zh-CN" sz="1600" dirty="0">
                    <a:solidFill>
                      <a:srgbClr val="000000"/>
                    </a:solidFill>
                    <a:latin typeface="Arial" panose="020B0604020202020204" pitchFamily="34" charset="0"/>
                    <a:ea typeface="Microsoft YaHei" panose="020B0503020204020204" pitchFamily="34" charset="-122"/>
                    <a:cs typeface="Arial" panose="020B0604020202020204" pitchFamily="34" charset="0"/>
                  </a:rPr>
                  <a:t>()</a:t>
                </a:r>
                <a:endParaRPr lang="en-US" altLang="zh-CN" sz="1600" dirty="0">
                  <a:latin typeface="Arial" panose="020B0604020202020204" pitchFamily="34" charset="0"/>
                  <a:ea typeface="Microsoft YaHei" panose="020B0503020204020204" pitchFamily="34" charset="-122"/>
                  <a:cs typeface="Arial" panose="020B0604020202020204" pitchFamily="34" charset="0"/>
                </a:endParaRPr>
              </a:p>
            </p:txBody>
          </p:sp>
          <p:sp>
            <p:nvSpPr>
              <p:cNvPr id="456750" name="Text Box 46"/>
              <p:cNvSpPr txBox="1">
                <a:spLocks noChangeArrowheads="1"/>
              </p:cNvSpPr>
              <p:nvPr/>
            </p:nvSpPr>
            <p:spPr bwMode="auto">
              <a:xfrm>
                <a:off x="4560" y="1488"/>
                <a:ext cx="864" cy="100"/>
              </a:xfrm>
              <a:prstGeom prst="rect">
                <a:avLst/>
              </a:prstGeom>
              <a:noFill/>
              <a:ln>
                <a:noFill/>
              </a:ln>
              <a:extLst>
                <a:ext uri="{909E8E84-426E-40dd-AFC4-6F175D3DCCD1}">
                  <a14:hiddenFill xmlns="" xmlns:a14="http://schemas.microsoft.com/office/drawing/2010/main">
                    <a:solidFill>
                      <a:srgbClr val="BBE0E3"/>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47247" tIns="9449" rIns="47247" bIns="9449"/>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r>
                  <a:rPr lang="zh-CN" altLang="en-US" sz="1725">
                    <a:solidFill>
                      <a:srgbClr val="000099"/>
                    </a:solidFill>
                    <a:latin typeface="Arial" panose="020B0604020202020204" pitchFamily="34" charset="0"/>
                    <a:ea typeface="Microsoft YaHei" panose="020B0503020204020204" pitchFamily="34" charset="-122"/>
                    <a:cs typeface="Arial" panose="020B0604020202020204" pitchFamily="34" charset="0"/>
                  </a:rPr>
                  <a:t>数据提供程序</a:t>
                </a:r>
              </a:p>
            </p:txBody>
          </p:sp>
        </p:grpSp>
        <p:sp>
          <p:nvSpPr>
            <p:cNvPr id="456751" name="Text Box 47"/>
            <p:cNvSpPr txBox="1">
              <a:spLocks noChangeArrowheads="1"/>
            </p:cNvSpPr>
            <p:nvPr/>
          </p:nvSpPr>
          <p:spPr bwMode="auto">
            <a:xfrm>
              <a:off x="3552" y="2064"/>
              <a:ext cx="960" cy="144"/>
            </a:xfrm>
            <a:prstGeom prst="rect">
              <a:avLst/>
            </a:prstGeom>
            <a:noFill/>
            <a:ln>
              <a:noFill/>
            </a:ln>
            <a:extLst>
              <a:ext uri="{909E8E84-426E-40dd-AFC4-6F175D3DCCD1}">
                <a14:hiddenFill xmlns="" xmlns:a14="http://schemas.microsoft.com/office/drawing/2010/main">
                  <a:solidFill>
                    <a:srgbClr val="BBE0E3"/>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80006" tIns="40003" rIns="80006" bIns="40003"/>
            <a:lstStyle>
              <a:lvl1pPr algn="l" defTabSz="1066800">
                <a:defRPr kumimoji="1" sz="2400">
                  <a:solidFill>
                    <a:schemeClr val="tx1"/>
                  </a:solidFill>
                  <a:latin typeface="Times New Roman" charset="0"/>
                  <a:ea typeface="宋体" charset="0"/>
                  <a:cs typeface="宋体" charset="0"/>
                </a:defRPr>
              </a:lvl1pPr>
              <a:lvl2pPr marL="533400" algn="l" defTabSz="1066800">
                <a:defRPr kumimoji="1" sz="2400">
                  <a:solidFill>
                    <a:schemeClr val="tx1"/>
                  </a:solidFill>
                  <a:latin typeface="Times New Roman" charset="0"/>
                  <a:ea typeface="宋体" charset="0"/>
                </a:defRPr>
              </a:lvl2pPr>
              <a:lvl3pPr marL="1066800" algn="l" defTabSz="1066800">
                <a:defRPr kumimoji="1" sz="2400">
                  <a:solidFill>
                    <a:schemeClr val="tx1"/>
                  </a:solidFill>
                  <a:latin typeface="Times New Roman" charset="0"/>
                  <a:ea typeface="宋体" charset="0"/>
                </a:defRPr>
              </a:lvl3pPr>
              <a:lvl4pPr marL="1600200" algn="l" defTabSz="1066800">
                <a:defRPr kumimoji="1" sz="2400">
                  <a:solidFill>
                    <a:schemeClr val="tx1"/>
                  </a:solidFill>
                  <a:latin typeface="Times New Roman" charset="0"/>
                  <a:ea typeface="宋体" charset="0"/>
                </a:defRPr>
              </a:lvl4pPr>
              <a:lvl5pPr marL="2133600" algn="l" defTabSz="1066800">
                <a:defRPr kumimoji="1" sz="2400">
                  <a:solidFill>
                    <a:schemeClr val="tx1"/>
                  </a:solidFill>
                  <a:latin typeface="Times New Roman" charset="0"/>
                  <a:ea typeface="宋体" charset="0"/>
                </a:defRPr>
              </a:lvl5pPr>
              <a:lvl6pPr marL="2590800" defTabSz="1066800" fontAlgn="base">
                <a:spcBef>
                  <a:spcPct val="0"/>
                </a:spcBef>
                <a:spcAft>
                  <a:spcPct val="0"/>
                </a:spcAft>
                <a:defRPr kumimoji="1" sz="2400">
                  <a:solidFill>
                    <a:schemeClr val="tx1"/>
                  </a:solidFill>
                  <a:latin typeface="Times New Roman" charset="0"/>
                  <a:ea typeface="宋体" charset="0"/>
                </a:defRPr>
              </a:lvl6pPr>
              <a:lvl7pPr marL="3048000" defTabSz="1066800" fontAlgn="base">
                <a:spcBef>
                  <a:spcPct val="0"/>
                </a:spcBef>
                <a:spcAft>
                  <a:spcPct val="0"/>
                </a:spcAft>
                <a:defRPr kumimoji="1" sz="2400">
                  <a:solidFill>
                    <a:schemeClr val="tx1"/>
                  </a:solidFill>
                  <a:latin typeface="Times New Roman" charset="0"/>
                  <a:ea typeface="宋体" charset="0"/>
                </a:defRPr>
              </a:lvl7pPr>
              <a:lvl8pPr marL="3505200" defTabSz="1066800" fontAlgn="base">
                <a:spcBef>
                  <a:spcPct val="0"/>
                </a:spcBef>
                <a:spcAft>
                  <a:spcPct val="0"/>
                </a:spcAft>
                <a:defRPr kumimoji="1" sz="2400">
                  <a:solidFill>
                    <a:schemeClr val="tx1"/>
                  </a:solidFill>
                  <a:latin typeface="Times New Roman" charset="0"/>
                  <a:ea typeface="宋体" charset="0"/>
                </a:defRPr>
              </a:lvl8pPr>
              <a:lvl9pPr marL="3962400" defTabSz="1066800" fontAlgn="base">
                <a:spcBef>
                  <a:spcPct val="0"/>
                </a:spcBef>
                <a:spcAft>
                  <a:spcPct val="0"/>
                </a:spcAft>
                <a:defRPr kumimoji="1" sz="2400">
                  <a:solidFill>
                    <a:schemeClr val="tx1"/>
                  </a:solidFill>
                  <a:latin typeface="Times New Roman" charset="0"/>
                  <a:ea typeface="宋体" charset="0"/>
                </a:defRPr>
              </a:lvl9pPr>
            </a:lstStyle>
            <a:p>
              <a:pPr algn="just"/>
              <a:endParaRPr lang="zh-CN" altLang="en-US" sz="1725">
                <a:latin typeface="Arial" panose="020B0604020202020204" pitchFamily="34" charset="0"/>
                <a:ea typeface="Microsoft YaHei" panose="020B0503020204020204" pitchFamily="34" charset="-122"/>
                <a:cs typeface="Arial" panose="020B0604020202020204" pitchFamily="34" charset="0"/>
              </a:endParaRPr>
            </a:p>
          </p:txBody>
        </p:sp>
      </p:grpSp>
      <p:sp>
        <p:nvSpPr>
          <p:cNvPr id="3" name="标题 2">
            <a:extLst>
              <a:ext uri="{FF2B5EF4-FFF2-40B4-BE49-F238E27FC236}">
                <a16:creationId xmlns:a16="http://schemas.microsoft.com/office/drawing/2014/main" id="{617FBFD7-A916-91F0-2105-7DDF4919DBC1}"/>
              </a:ext>
            </a:extLst>
          </p:cNvPr>
          <p:cNvSpPr>
            <a:spLocks noGrp="1"/>
          </p:cNvSpPr>
          <p:nvPr>
            <p:ph type="title"/>
          </p:nvPr>
        </p:nvSpPr>
        <p:spPr/>
        <p:txBody>
          <a:bodyPr/>
          <a:lstStyle/>
          <a:p>
            <a:r>
              <a:rPr lang="en" altLang="zh-CN" dirty="0"/>
              <a:t>ADO.NET</a:t>
            </a:r>
            <a:r>
              <a:rPr lang="zh-CN" altLang="en-US" dirty="0"/>
              <a:t>对象模型 </a:t>
            </a:r>
          </a:p>
        </p:txBody>
      </p:sp>
    </p:spTree>
    <p:extLst>
      <p:ext uri="{BB962C8B-B14F-4D97-AF65-F5344CB8AC3E}">
        <p14:creationId xmlns:p14="http://schemas.microsoft.com/office/powerpoint/2010/main" val="1855745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28B85-3F0D-D6F6-2A29-68005C28B25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B565A9-953C-A774-D8D0-7F5C9F24C65C}"/>
              </a:ext>
            </a:extLst>
          </p:cNvPr>
          <p:cNvSpPr txBox="1"/>
          <p:nvPr/>
        </p:nvSpPr>
        <p:spPr>
          <a:xfrm>
            <a:off x="1006545" y="2781596"/>
            <a:ext cx="7458075" cy="642035"/>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应用设计实践</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3C43DEB5-03FE-417C-00CE-03333CDF1759}"/>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498BC0A4-0216-4ADD-6755-7367796A12A3}"/>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C55AC4E7-F143-C98B-AA51-F1C09A3E7A9E}"/>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F24D051E-5F7D-222B-53F3-437BE7F2056B}"/>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89561106-12DD-7AB1-C065-A93D1F0522FD}"/>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93BC18EF-2AA4-9D9C-E50A-71378F5F82D8}"/>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3FF7CD47-0FD4-522A-3E58-AB9C1D994CA4}"/>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5EA002ED-17BD-67A3-7406-C12729FA8D54}"/>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021CBB21-4F84-5ED6-E19B-D1744C7AE209}"/>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64AD34B9-A839-2724-F7FD-DAD93EBACC65}"/>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70D4E2A3-6556-6940-5EF3-4E7A700C6A86}"/>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115EC9FA-7770-E9A3-9A41-39864E8C01CC}"/>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09CDAE09-98D5-D878-C794-2C5E97C057DF}"/>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1BB7E911-5362-1F80-71A9-BE8EB8F7AAB9}"/>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5AD4B315-39E0-8B8B-7E9A-54E22759E150}"/>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3</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437901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EE75B-8174-2307-E595-17173631C432}"/>
              </a:ext>
            </a:extLst>
          </p:cNvPr>
          <p:cNvSpPr>
            <a:spLocks noGrp="1"/>
          </p:cNvSpPr>
          <p:nvPr>
            <p:ph type="title"/>
          </p:nvPr>
        </p:nvSpPr>
        <p:spPr/>
        <p:txBody>
          <a:bodyPr/>
          <a:lstStyle/>
          <a:p>
            <a:r>
              <a:rPr kumimoji="1" lang="zh-CN" altLang="en-US" dirty="0"/>
              <a:t>课间实验安排</a:t>
            </a:r>
          </a:p>
        </p:txBody>
      </p:sp>
      <p:sp>
        <p:nvSpPr>
          <p:cNvPr id="3" name="内容占位符 2">
            <a:extLst>
              <a:ext uri="{FF2B5EF4-FFF2-40B4-BE49-F238E27FC236}">
                <a16:creationId xmlns:a16="http://schemas.microsoft.com/office/drawing/2014/main" id="{977A692B-037A-9F5D-98BC-BE1A415A6337}"/>
              </a:ext>
            </a:extLst>
          </p:cNvPr>
          <p:cNvSpPr>
            <a:spLocks noGrp="1"/>
          </p:cNvSpPr>
          <p:nvPr>
            <p:ph idx="1"/>
          </p:nvPr>
        </p:nvSpPr>
        <p:spPr/>
        <p:txBody>
          <a:bodyPr>
            <a:normAutofit fontScale="92500" lnSpcReduction="20000"/>
          </a:bodyPr>
          <a:lstStyle/>
          <a:p>
            <a:r>
              <a:rPr kumimoji="1" lang="zh-CN" altLang="en-US" dirty="0"/>
              <a:t>时间：</a:t>
            </a:r>
            <a:endParaRPr kumimoji="1" lang="en-US" altLang="zh-CN" dirty="0"/>
          </a:p>
          <a:p>
            <a:pPr lvl="1"/>
            <a:r>
              <a:rPr kumimoji="1" lang="zh-CN" altLang="en-US" dirty="0"/>
              <a:t>四次课</a:t>
            </a:r>
            <a:r>
              <a:rPr kumimoji="1" lang="en-US" altLang="zh-CN" dirty="0"/>
              <a:t>12</a:t>
            </a:r>
            <a:r>
              <a:rPr kumimoji="1" lang="zh-CN" altLang="en-US" dirty="0"/>
              <a:t>学时：第</a:t>
            </a:r>
            <a:r>
              <a:rPr kumimoji="1" lang="en-US" altLang="zh-CN" dirty="0"/>
              <a:t>10</a:t>
            </a:r>
            <a:r>
              <a:rPr kumimoji="1" lang="zh-CN" altLang="en-US" dirty="0"/>
              <a:t>、</a:t>
            </a:r>
            <a:r>
              <a:rPr kumimoji="1" lang="en-US" altLang="zh-CN" dirty="0"/>
              <a:t>11</a:t>
            </a:r>
            <a:r>
              <a:rPr kumimoji="1" lang="zh-CN" altLang="en-US" dirty="0"/>
              <a:t>周的周一、周四的</a:t>
            </a:r>
            <a:r>
              <a:rPr kumimoji="1" lang="en-US" altLang="zh-CN" dirty="0"/>
              <a:t>3-5</a:t>
            </a:r>
            <a:r>
              <a:rPr kumimoji="1" lang="zh-CN" altLang="en-US" dirty="0"/>
              <a:t>节</a:t>
            </a:r>
            <a:endParaRPr kumimoji="1" lang="en-US" altLang="zh-CN" dirty="0"/>
          </a:p>
          <a:p>
            <a:pPr lvl="1"/>
            <a:endParaRPr kumimoji="1" lang="en-US" altLang="zh-CN" dirty="0"/>
          </a:p>
          <a:p>
            <a:r>
              <a:rPr kumimoji="1" lang="zh-CN" altLang="en-US" dirty="0"/>
              <a:t>地点：</a:t>
            </a:r>
            <a:endParaRPr kumimoji="1" lang="en-US" altLang="zh-CN" dirty="0"/>
          </a:p>
          <a:p>
            <a:pPr lvl="1"/>
            <a:r>
              <a:rPr kumimoji="1" lang="zh-CN" altLang="en-US" dirty="0"/>
              <a:t>因学院机房装修，课间实验无法在机房完成</a:t>
            </a:r>
            <a:endParaRPr kumimoji="1" lang="en-US" altLang="zh-CN" dirty="0"/>
          </a:p>
          <a:p>
            <a:pPr lvl="1"/>
            <a:r>
              <a:rPr kumimoji="1" lang="zh-CN" altLang="en-US" dirty="0">
                <a:solidFill>
                  <a:srgbClr val="FF0000"/>
                </a:solidFill>
              </a:rPr>
              <a:t>在平常上课地点进行：三区</a:t>
            </a:r>
            <a:r>
              <a:rPr kumimoji="1" lang="en-US" altLang="zh-CN" dirty="0">
                <a:solidFill>
                  <a:srgbClr val="FF0000"/>
                </a:solidFill>
              </a:rPr>
              <a:t>2</a:t>
            </a:r>
            <a:r>
              <a:rPr kumimoji="1" lang="zh-CN" altLang="en-US" dirty="0">
                <a:solidFill>
                  <a:srgbClr val="FF0000"/>
                </a:solidFill>
              </a:rPr>
              <a:t>教</a:t>
            </a:r>
            <a:r>
              <a:rPr kumimoji="1" lang="en-US" altLang="zh-CN" dirty="0">
                <a:solidFill>
                  <a:srgbClr val="FF0000"/>
                </a:solidFill>
              </a:rPr>
              <a:t>108</a:t>
            </a:r>
          </a:p>
          <a:p>
            <a:pPr lvl="1"/>
            <a:endParaRPr kumimoji="1" lang="en-US" altLang="zh-CN" dirty="0">
              <a:solidFill>
                <a:srgbClr val="FF0000"/>
              </a:solidFill>
            </a:endParaRPr>
          </a:p>
          <a:p>
            <a:r>
              <a:rPr kumimoji="1" lang="zh-CN" altLang="en-US" dirty="0">
                <a:solidFill>
                  <a:srgbClr val="FF0000"/>
                </a:solidFill>
              </a:rPr>
              <a:t>其他：</a:t>
            </a:r>
            <a:endParaRPr kumimoji="1" lang="en-US" altLang="zh-CN" dirty="0">
              <a:solidFill>
                <a:srgbClr val="FF0000"/>
              </a:solidFill>
            </a:endParaRPr>
          </a:p>
          <a:p>
            <a:pPr lvl="1"/>
            <a:r>
              <a:rPr kumimoji="1" lang="zh-CN" altLang="en-US" dirty="0">
                <a:solidFill>
                  <a:srgbClr val="FF0000"/>
                </a:solidFill>
              </a:rPr>
              <a:t>请带上笔记本</a:t>
            </a:r>
            <a:endParaRPr kumimoji="1" lang="en-US" altLang="zh-CN" dirty="0">
              <a:solidFill>
                <a:srgbClr val="FF0000"/>
              </a:solidFill>
            </a:endParaRPr>
          </a:p>
          <a:p>
            <a:pPr lvl="1"/>
            <a:r>
              <a:rPr kumimoji="1" lang="zh-CN" altLang="en-US" dirty="0">
                <a:solidFill>
                  <a:srgbClr val="FF0000"/>
                </a:solidFill>
              </a:rPr>
              <a:t>单人或结对（</a:t>
            </a:r>
            <a:r>
              <a:rPr kumimoji="1" lang="en-US" altLang="zh-CN" dirty="0">
                <a:solidFill>
                  <a:srgbClr val="FF0000"/>
                </a:solidFill>
              </a:rPr>
              <a:t>2</a:t>
            </a:r>
            <a:r>
              <a:rPr kumimoji="1" lang="zh-CN" altLang="en-US" dirty="0">
                <a:solidFill>
                  <a:srgbClr val="FF0000"/>
                </a:solidFill>
              </a:rPr>
              <a:t>人一组）完成</a:t>
            </a:r>
            <a:endParaRPr kumimoji="1" lang="en-US" altLang="zh-CN" dirty="0">
              <a:solidFill>
                <a:srgbClr val="FF0000"/>
              </a:solidFill>
            </a:endParaRPr>
          </a:p>
          <a:p>
            <a:pPr lvl="1"/>
            <a:r>
              <a:rPr kumimoji="1" lang="zh-CN" altLang="en-US" dirty="0">
                <a:solidFill>
                  <a:srgbClr val="FF0000"/>
                </a:solidFill>
              </a:rPr>
              <a:t>可提前开始准备</a:t>
            </a:r>
          </a:p>
        </p:txBody>
      </p:sp>
    </p:spTree>
    <p:extLst>
      <p:ext uri="{BB962C8B-B14F-4D97-AF65-F5344CB8AC3E}">
        <p14:creationId xmlns:p14="http://schemas.microsoft.com/office/powerpoint/2010/main" val="37252008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EC7F88-3143-4DB5-B22B-86BDBBFA2A0B}"/>
              </a:ext>
            </a:extLst>
          </p:cNvPr>
          <p:cNvSpPr>
            <a:spLocks noGrp="1"/>
          </p:cNvSpPr>
          <p:nvPr>
            <p:ph type="title"/>
          </p:nvPr>
        </p:nvSpPr>
        <p:spPr/>
        <p:txBody>
          <a:bodyPr/>
          <a:lstStyle/>
          <a:p>
            <a:r>
              <a:rPr kumimoji="1" lang="zh-CN" altLang="en-US" dirty="0"/>
              <a:t>实验内容：“寻根溯源”族谱管理系统设计与实现</a:t>
            </a:r>
          </a:p>
        </p:txBody>
      </p:sp>
      <p:sp>
        <p:nvSpPr>
          <p:cNvPr id="3" name="内容占位符 2">
            <a:extLst>
              <a:ext uri="{FF2B5EF4-FFF2-40B4-BE49-F238E27FC236}">
                <a16:creationId xmlns:a16="http://schemas.microsoft.com/office/drawing/2014/main" id="{4B9CAB12-640B-3172-F9C1-5DCF18150D35}"/>
              </a:ext>
            </a:extLst>
          </p:cNvPr>
          <p:cNvSpPr>
            <a:spLocks noGrp="1"/>
          </p:cNvSpPr>
          <p:nvPr>
            <p:ph idx="1"/>
          </p:nvPr>
        </p:nvSpPr>
        <p:spPr/>
        <p:txBody>
          <a:bodyPr>
            <a:normAutofit fontScale="70000" lnSpcReduction="20000"/>
          </a:bodyPr>
          <a:lstStyle/>
          <a:p>
            <a:pPr marL="0" indent="0">
              <a:lnSpc>
                <a:spcPct val="110000"/>
              </a:lnSpc>
              <a:buNone/>
            </a:pPr>
            <a:r>
              <a:rPr kumimoji="1" lang="zh-CN" altLang="en-US" dirty="0"/>
              <a:t>一、 业务场景描述</a:t>
            </a:r>
          </a:p>
          <a:p>
            <a:pPr marL="0" indent="0">
              <a:lnSpc>
                <a:spcPct val="110000"/>
              </a:lnSpc>
              <a:buNone/>
            </a:pPr>
            <a:r>
              <a:rPr kumimoji="1" lang="zh-CN" altLang="en-US" sz="2600" dirty="0"/>
              <a:t>系统中管理多个族谱，每个族谱对应于一个家族，族谱的基本信息包括：谱名、姓氏、修谱时间、创建用户。系统支持多用户，每个用户都可以创建自己的族谱，也可以邀请其他用户一起为自己创建的族谱增加成员。族谱中需记录家族成员的基本信息（姓名、性别、生卒年、生平简介）、成员间的血缘关系（父子</a:t>
            </a:r>
            <a:r>
              <a:rPr kumimoji="1" lang="en-US" altLang="zh-CN" sz="2600" dirty="0"/>
              <a:t>/</a:t>
            </a:r>
            <a:r>
              <a:rPr kumimoji="1" lang="zh-CN" altLang="en-US" sz="2600" dirty="0"/>
              <a:t>父女、母子</a:t>
            </a:r>
            <a:r>
              <a:rPr kumimoji="1" lang="en-US" altLang="zh-CN" sz="2600" dirty="0"/>
              <a:t>/</a:t>
            </a:r>
            <a:r>
              <a:rPr kumimoji="1" lang="zh-CN" altLang="en-US" sz="2600" dirty="0"/>
              <a:t>母女）以及婚姻关系。</a:t>
            </a:r>
          </a:p>
          <a:p>
            <a:pPr marL="0" indent="0">
              <a:lnSpc>
                <a:spcPct val="110000"/>
              </a:lnSpc>
              <a:buNone/>
            </a:pPr>
            <a:r>
              <a:rPr kumimoji="1" lang="zh-CN" altLang="en-US" sz="2600" dirty="0"/>
              <a:t>核心挑战： </a:t>
            </a:r>
            <a:endParaRPr kumimoji="1" lang="en-US" altLang="zh-CN" sz="2600" dirty="0"/>
          </a:p>
          <a:p>
            <a:pPr marL="0" indent="0">
              <a:lnSpc>
                <a:spcPct val="110000"/>
              </a:lnSpc>
              <a:buNone/>
            </a:pPr>
            <a:r>
              <a:rPr kumimoji="1" lang="en-US" altLang="zh-CN" sz="2600" dirty="0"/>
              <a:t>1. </a:t>
            </a:r>
            <a:r>
              <a:rPr kumimoji="1" lang="zh-CN" altLang="en-US" sz="2600" dirty="0"/>
              <a:t>成员之间的层级关系深度不确定。</a:t>
            </a:r>
          </a:p>
          <a:p>
            <a:pPr marL="0" indent="0">
              <a:lnSpc>
                <a:spcPct val="110000"/>
              </a:lnSpc>
              <a:buNone/>
            </a:pPr>
            <a:r>
              <a:rPr kumimoji="1" lang="en-US" altLang="zh-CN" sz="2600" dirty="0"/>
              <a:t>2. </a:t>
            </a:r>
            <a:r>
              <a:rPr kumimoji="1" lang="zh-CN" altLang="en-US" sz="2600" dirty="0"/>
              <a:t>存在同名同姓但不同辈分的情况。</a:t>
            </a:r>
          </a:p>
          <a:p>
            <a:pPr marL="0" indent="0">
              <a:lnSpc>
                <a:spcPct val="110000"/>
              </a:lnSpc>
              <a:buNone/>
            </a:pPr>
            <a:r>
              <a:rPr kumimoji="1" lang="en-US" altLang="zh-CN" sz="2600" dirty="0"/>
              <a:t>3. </a:t>
            </a:r>
            <a:r>
              <a:rPr kumimoji="1" lang="zh-CN" altLang="en-US" sz="2600" dirty="0"/>
              <a:t>需要快速查询某个成员的所有直系后代或追溯祖先。</a:t>
            </a:r>
            <a:endParaRPr kumimoji="1" lang="en-US" altLang="zh-CN" sz="2600" dirty="0"/>
          </a:p>
          <a:p>
            <a:pPr marL="0" indent="0">
              <a:lnSpc>
                <a:spcPct val="110000"/>
              </a:lnSpc>
              <a:buNone/>
            </a:pPr>
            <a:r>
              <a:rPr kumimoji="1" lang="en-US" altLang="zh-CN" sz="2600" dirty="0"/>
              <a:t>4.</a:t>
            </a:r>
            <a:r>
              <a:rPr kumimoji="1" lang="zh-CN" altLang="en-US" sz="2600" dirty="0"/>
              <a:t> 需要快速查询两个人名之间是否存在亲缘关系以及两者之间的亲缘链路。</a:t>
            </a:r>
          </a:p>
        </p:txBody>
      </p:sp>
    </p:spTree>
    <p:extLst>
      <p:ext uri="{BB962C8B-B14F-4D97-AF65-F5344CB8AC3E}">
        <p14:creationId xmlns:p14="http://schemas.microsoft.com/office/powerpoint/2010/main" val="11366872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2BF7B-1006-4E26-5561-4102AA1D445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1AD4052-BE86-C7C1-A301-8C77B1D142F7}"/>
              </a:ext>
            </a:extLst>
          </p:cNvPr>
          <p:cNvSpPr>
            <a:spLocks noGrp="1"/>
          </p:cNvSpPr>
          <p:nvPr>
            <p:ph type="title"/>
          </p:nvPr>
        </p:nvSpPr>
        <p:spPr/>
        <p:txBody>
          <a:bodyPr/>
          <a:lstStyle/>
          <a:p>
            <a:r>
              <a:rPr kumimoji="1" lang="zh-CN" altLang="en-US" dirty="0"/>
              <a:t>实验内容：“寻根溯源”族谱管理系统设计与实现</a:t>
            </a:r>
          </a:p>
        </p:txBody>
      </p:sp>
      <p:sp>
        <p:nvSpPr>
          <p:cNvPr id="3" name="内容占位符 2">
            <a:extLst>
              <a:ext uri="{FF2B5EF4-FFF2-40B4-BE49-F238E27FC236}">
                <a16:creationId xmlns:a16="http://schemas.microsoft.com/office/drawing/2014/main" id="{7EB08AB5-37F0-4412-60B5-B29A45A1ED7C}"/>
              </a:ext>
            </a:extLst>
          </p:cNvPr>
          <p:cNvSpPr>
            <a:spLocks noGrp="1"/>
          </p:cNvSpPr>
          <p:nvPr>
            <p:ph idx="1"/>
          </p:nvPr>
        </p:nvSpPr>
        <p:spPr/>
        <p:txBody>
          <a:bodyPr>
            <a:normAutofit fontScale="55000" lnSpcReduction="20000"/>
          </a:bodyPr>
          <a:lstStyle/>
          <a:p>
            <a:pPr marL="0" indent="0">
              <a:lnSpc>
                <a:spcPct val="120000"/>
              </a:lnSpc>
              <a:buNone/>
            </a:pPr>
            <a:r>
              <a:rPr kumimoji="1" lang="zh-CN" altLang="en-US" dirty="0"/>
              <a:t>二、 任务要求</a:t>
            </a:r>
          </a:p>
          <a:p>
            <a:pPr marL="0" indent="0">
              <a:lnSpc>
                <a:spcPct val="120000"/>
              </a:lnSpc>
              <a:buNone/>
            </a:pPr>
            <a:r>
              <a:rPr kumimoji="1" lang="en-US" altLang="zh-CN" dirty="0"/>
              <a:t>1. </a:t>
            </a:r>
            <a:r>
              <a:rPr kumimoji="1" lang="zh-CN" altLang="en-US" dirty="0"/>
              <a:t>简单应用界面 </a:t>
            </a:r>
            <a:r>
              <a:rPr kumimoji="1" lang="en-US" altLang="zh-CN" dirty="0"/>
              <a:t>(Application Development)</a:t>
            </a:r>
          </a:p>
          <a:p>
            <a:pPr marL="0" indent="0">
              <a:lnSpc>
                <a:spcPct val="120000"/>
              </a:lnSpc>
              <a:buNone/>
            </a:pPr>
            <a:r>
              <a:rPr kumimoji="1" lang="zh-CN" altLang="en-US" dirty="0"/>
              <a:t>功能实现： 使用 </a:t>
            </a:r>
            <a:r>
              <a:rPr kumimoji="1" lang="en-US" altLang="zh-CN" dirty="0"/>
              <a:t>Python (Flask/Django) </a:t>
            </a:r>
            <a:r>
              <a:rPr kumimoji="1" lang="zh-CN" altLang="en-US" dirty="0"/>
              <a:t>或 </a:t>
            </a:r>
            <a:r>
              <a:rPr kumimoji="1" lang="en-US" altLang="zh-CN" dirty="0"/>
              <a:t>.NET (</a:t>
            </a:r>
            <a:r>
              <a:rPr kumimoji="1" lang="en-US" altLang="zh-CN" dirty="0" err="1"/>
              <a:t>WinForm</a:t>
            </a:r>
            <a:r>
              <a:rPr kumimoji="1" lang="en-US" altLang="zh-CN" dirty="0"/>
              <a:t>/WPF/</a:t>
            </a:r>
            <a:r>
              <a:rPr kumimoji="1" lang="en-US" altLang="zh-CN" dirty="0" err="1"/>
              <a:t>WebAPI</a:t>
            </a:r>
            <a:r>
              <a:rPr kumimoji="1" lang="en-US" altLang="zh-CN" dirty="0"/>
              <a:t>) </a:t>
            </a:r>
            <a:r>
              <a:rPr kumimoji="1" lang="zh-CN" altLang="en-US" dirty="0"/>
              <a:t>或其他开发工具实现一个基础图形化界面：</a:t>
            </a:r>
          </a:p>
          <a:p>
            <a:pPr lvl="1">
              <a:lnSpc>
                <a:spcPct val="120000"/>
              </a:lnSpc>
              <a:buFont typeface="Wingdings" pitchFamily="2" charset="2"/>
              <a:buChar char="p"/>
            </a:pPr>
            <a:r>
              <a:rPr kumimoji="1" lang="zh-CN" altLang="en-US" dirty="0"/>
              <a:t>用户登录：用户只能看到和操作自己创建的或者受邀的族谱</a:t>
            </a:r>
            <a:endParaRPr kumimoji="1" lang="en-US" altLang="zh-CN" dirty="0"/>
          </a:p>
          <a:p>
            <a:pPr lvl="1">
              <a:lnSpc>
                <a:spcPct val="120000"/>
              </a:lnSpc>
              <a:buFont typeface="Wingdings" pitchFamily="2" charset="2"/>
              <a:buChar char="p"/>
            </a:pPr>
            <a:r>
              <a:rPr kumimoji="1" lang="zh-CN" altLang="en-US" dirty="0"/>
              <a:t>用户管理：用户采用注册制</a:t>
            </a:r>
            <a:endParaRPr kumimoji="1" lang="en-US" altLang="zh-CN" dirty="0"/>
          </a:p>
          <a:p>
            <a:pPr lvl="1">
              <a:lnSpc>
                <a:spcPct val="120000"/>
              </a:lnSpc>
              <a:buFont typeface="Wingdings" pitchFamily="2" charset="2"/>
              <a:buChar char="p"/>
            </a:pPr>
            <a:r>
              <a:rPr kumimoji="1" lang="en-US" altLang="zh-CN" dirty="0"/>
              <a:t>Dashboard</a:t>
            </a:r>
            <a:r>
              <a:rPr kumimoji="1" lang="zh-CN" altLang="en-US" dirty="0"/>
              <a:t>： 显示家族总人数、男女比例。</a:t>
            </a:r>
          </a:p>
          <a:p>
            <a:pPr lvl="1">
              <a:lnSpc>
                <a:spcPct val="120000"/>
              </a:lnSpc>
              <a:buFont typeface="Wingdings" pitchFamily="2" charset="2"/>
              <a:buChar char="p"/>
            </a:pPr>
            <a:r>
              <a:rPr kumimoji="1" lang="zh-CN" altLang="en-US" dirty="0"/>
              <a:t>族谱、成员管理：实现增删改查、族谱能邀请他人参与创作、成员查找能支持人名的模糊查找。</a:t>
            </a:r>
          </a:p>
          <a:p>
            <a:pPr lvl="1">
              <a:lnSpc>
                <a:spcPct val="120000"/>
              </a:lnSpc>
              <a:buFont typeface="Wingdings" pitchFamily="2" charset="2"/>
              <a:buChar char="p"/>
            </a:pPr>
            <a:r>
              <a:rPr kumimoji="1" lang="zh-CN" altLang="en-US" dirty="0"/>
              <a:t>树形预览： 以层级结构（或缩进列表）展示某分支的人物关系树状图。</a:t>
            </a:r>
            <a:endParaRPr kumimoji="1" lang="en-US" altLang="zh-CN" dirty="0"/>
          </a:p>
          <a:p>
            <a:pPr lvl="1">
              <a:lnSpc>
                <a:spcPct val="120000"/>
              </a:lnSpc>
              <a:buFont typeface="Wingdings" pitchFamily="2" charset="2"/>
              <a:buChar char="p"/>
            </a:pPr>
            <a:r>
              <a:rPr kumimoji="1" lang="zh-CN" altLang="en-US" dirty="0"/>
              <a:t>人物祖先查询：输入一个人物的</a:t>
            </a:r>
            <a:r>
              <a:rPr kumimoji="1" lang="en-US" altLang="zh-CN" dirty="0"/>
              <a:t>ID</a:t>
            </a:r>
            <a:r>
              <a:rPr kumimoji="1" lang="zh-CN" altLang="en-US" dirty="0"/>
              <a:t>，以树状图显示出其父辈以上的祖先。</a:t>
            </a:r>
            <a:endParaRPr kumimoji="1" lang="en-US" altLang="zh-CN" dirty="0"/>
          </a:p>
          <a:p>
            <a:pPr lvl="1">
              <a:lnSpc>
                <a:spcPct val="120000"/>
              </a:lnSpc>
              <a:buFont typeface="Wingdings" pitchFamily="2" charset="2"/>
              <a:buChar char="p"/>
            </a:pPr>
            <a:r>
              <a:rPr kumimoji="1" lang="zh-CN" altLang="en-US" dirty="0"/>
              <a:t>人物亲缘关系查询：输入两个人的</a:t>
            </a:r>
            <a:r>
              <a:rPr kumimoji="1" lang="en-US" altLang="zh-CN" dirty="0"/>
              <a:t>ID</a:t>
            </a:r>
            <a:r>
              <a:rPr kumimoji="1" lang="zh-CN" altLang="en-US" dirty="0"/>
              <a:t>，查询两者之间是否有亲缘关系连成的通路，如有请展示出来。</a:t>
            </a:r>
          </a:p>
        </p:txBody>
      </p:sp>
    </p:spTree>
    <p:extLst>
      <p:ext uri="{BB962C8B-B14F-4D97-AF65-F5344CB8AC3E}">
        <p14:creationId xmlns:p14="http://schemas.microsoft.com/office/powerpoint/2010/main" val="28716500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AB4C6C-1A0E-834A-DA5A-43121CAD34AD}"/>
              </a:ext>
            </a:extLst>
          </p:cNvPr>
          <p:cNvSpPr>
            <a:spLocks noGrp="1"/>
          </p:cNvSpPr>
          <p:nvPr>
            <p:ph type="title"/>
          </p:nvPr>
        </p:nvSpPr>
        <p:spPr/>
        <p:txBody>
          <a:bodyPr/>
          <a:lstStyle/>
          <a:p>
            <a:r>
              <a:rPr kumimoji="1" lang="zh-CN" altLang="en-US" dirty="0"/>
              <a:t>实验内容：“寻根溯源”族谱管理系统设计与实现</a:t>
            </a:r>
          </a:p>
        </p:txBody>
      </p:sp>
      <p:sp>
        <p:nvSpPr>
          <p:cNvPr id="3" name="内容占位符 2">
            <a:extLst>
              <a:ext uri="{FF2B5EF4-FFF2-40B4-BE49-F238E27FC236}">
                <a16:creationId xmlns:a16="http://schemas.microsoft.com/office/drawing/2014/main" id="{D05A7D81-604F-01B1-AC72-97D85481EACA}"/>
              </a:ext>
            </a:extLst>
          </p:cNvPr>
          <p:cNvSpPr>
            <a:spLocks noGrp="1"/>
          </p:cNvSpPr>
          <p:nvPr>
            <p:ph idx="1"/>
          </p:nvPr>
        </p:nvSpPr>
        <p:spPr/>
        <p:txBody>
          <a:bodyPr>
            <a:normAutofit fontScale="77500" lnSpcReduction="20000"/>
          </a:bodyPr>
          <a:lstStyle/>
          <a:p>
            <a:pPr marL="0" indent="0">
              <a:lnSpc>
                <a:spcPct val="120000"/>
              </a:lnSpc>
              <a:buNone/>
            </a:pPr>
            <a:r>
              <a:rPr kumimoji="1" lang="zh-CN" altLang="en-US" dirty="0"/>
              <a:t>二、 任务要求</a:t>
            </a:r>
          </a:p>
          <a:p>
            <a:pPr marL="0" indent="0">
              <a:lnSpc>
                <a:spcPct val="120000"/>
              </a:lnSpc>
              <a:buNone/>
            </a:pPr>
            <a:r>
              <a:rPr kumimoji="1" lang="en-US" altLang="zh-CN" dirty="0"/>
              <a:t>2. </a:t>
            </a:r>
            <a:r>
              <a:rPr kumimoji="1" lang="zh-CN" altLang="en-US" dirty="0"/>
              <a:t>数据库建模与规范化设计 </a:t>
            </a:r>
            <a:r>
              <a:rPr kumimoji="1" lang="en-US" altLang="zh-CN" dirty="0"/>
              <a:t>(</a:t>
            </a:r>
            <a:r>
              <a:rPr kumimoji="1" lang="en" altLang="zh-CN" dirty="0"/>
              <a:t>Conceptual &amp; Logical Design)</a:t>
            </a:r>
          </a:p>
          <a:p>
            <a:pPr lvl="1">
              <a:lnSpc>
                <a:spcPct val="120000"/>
              </a:lnSpc>
              <a:buFont typeface="Wingdings" pitchFamily="2" charset="2"/>
              <a:buChar char="p"/>
            </a:pPr>
            <a:r>
              <a:rPr kumimoji="1" lang="en" altLang="zh-CN" dirty="0"/>
              <a:t>ER</a:t>
            </a:r>
            <a:r>
              <a:rPr kumimoji="1" lang="zh-CN" altLang="en-US" dirty="0"/>
              <a:t>图绘制： 识别实体（成员、家庭等）及其属性，标明联系类型（</a:t>
            </a:r>
            <a:r>
              <a:rPr kumimoji="1" lang="en-US" altLang="zh-CN" dirty="0"/>
              <a:t>1:1, 1:</a:t>
            </a:r>
            <a:r>
              <a:rPr kumimoji="1" lang="en" altLang="zh-CN" dirty="0"/>
              <a:t>N, M:N</a:t>
            </a:r>
            <a:r>
              <a:rPr kumimoji="1" lang="zh-CN" altLang="en" dirty="0"/>
              <a:t>）。</a:t>
            </a:r>
          </a:p>
          <a:p>
            <a:pPr lvl="1">
              <a:lnSpc>
                <a:spcPct val="120000"/>
              </a:lnSpc>
              <a:buFont typeface="Wingdings" pitchFamily="2" charset="2"/>
              <a:buChar char="p"/>
            </a:pPr>
            <a:endParaRPr kumimoji="1" lang="zh-CN" altLang="en" dirty="0"/>
          </a:p>
          <a:p>
            <a:pPr lvl="1">
              <a:lnSpc>
                <a:spcPct val="120000"/>
              </a:lnSpc>
              <a:buFont typeface="Wingdings" pitchFamily="2" charset="2"/>
              <a:buChar char="p"/>
            </a:pPr>
            <a:r>
              <a:rPr kumimoji="1" lang="zh-CN" altLang="en-US" dirty="0"/>
              <a:t>关系模式转换： 将</a:t>
            </a:r>
            <a:r>
              <a:rPr kumimoji="1" lang="en" altLang="zh-CN" dirty="0"/>
              <a:t>ER</a:t>
            </a:r>
            <a:r>
              <a:rPr kumimoji="1" lang="zh-CN" altLang="en-US" dirty="0"/>
              <a:t>图转换为关系表，并说明其达到的范式级别（建议至少满足 </a:t>
            </a:r>
            <a:r>
              <a:rPr kumimoji="1" lang="en-US" altLang="zh-CN" dirty="0"/>
              <a:t>3</a:t>
            </a:r>
            <a:r>
              <a:rPr kumimoji="1" lang="en" altLang="zh-CN" dirty="0"/>
              <a:t>NF </a:t>
            </a:r>
            <a:r>
              <a:rPr kumimoji="1" lang="zh-CN" altLang="en-US" dirty="0"/>
              <a:t>或 </a:t>
            </a:r>
            <a:r>
              <a:rPr kumimoji="1" lang="en" altLang="zh-CN" dirty="0"/>
              <a:t>BCNF</a:t>
            </a:r>
            <a:r>
              <a:rPr kumimoji="1" lang="zh-CN" altLang="en" dirty="0"/>
              <a:t>）。</a:t>
            </a:r>
          </a:p>
          <a:p>
            <a:pPr lvl="1">
              <a:lnSpc>
                <a:spcPct val="120000"/>
              </a:lnSpc>
              <a:buFont typeface="Wingdings" pitchFamily="2" charset="2"/>
              <a:buChar char="p"/>
            </a:pPr>
            <a:endParaRPr kumimoji="1" lang="zh-CN" altLang="en" dirty="0"/>
          </a:p>
          <a:p>
            <a:pPr lvl="1">
              <a:lnSpc>
                <a:spcPct val="120000"/>
              </a:lnSpc>
              <a:buFont typeface="Wingdings" pitchFamily="2" charset="2"/>
              <a:buChar char="p"/>
            </a:pPr>
            <a:r>
              <a:rPr kumimoji="1" lang="zh-CN" altLang="en-US" dirty="0"/>
              <a:t>约束设计： 定义主键、外键，并编写 </a:t>
            </a:r>
            <a:r>
              <a:rPr kumimoji="1" lang="en" altLang="zh-CN" dirty="0"/>
              <a:t>CHECK </a:t>
            </a:r>
            <a:r>
              <a:rPr kumimoji="1" lang="zh-CN" altLang="en-US" dirty="0"/>
              <a:t>约束（如：父亲的出生年份必须早于子女）。</a:t>
            </a:r>
          </a:p>
        </p:txBody>
      </p:sp>
    </p:spTree>
    <p:extLst>
      <p:ext uri="{BB962C8B-B14F-4D97-AF65-F5344CB8AC3E}">
        <p14:creationId xmlns:p14="http://schemas.microsoft.com/office/powerpoint/2010/main" val="9336588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FCD87-7B1B-4712-47E3-1ECB398C93D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2FD4C38-1827-9571-D3DA-A6700125F30E}"/>
              </a:ext>
            </a:extLst>
          </p:cNvPr>
          <p:cNvSpPr>
            <a:spLocks noGrp="1"/>
          </p:cNvSpPr>
          <p:nvPr>
            <p:ph type="title"/>
          </p:nvPr>
        </p:nvSpPr>
        <p:spPr/>
        <p:txBody>
          <a:bodyPr/>
          <a:lstStyle/>
          <a:p>
            <a:r>
              <a:rPr kumimoji="1" lang="zh-CN" altLang="en-US" dirty="0"/>
              <a:t>实验内容：“寻根溯源”族谱管理系统设计与实现</a:t>
            </a:r>
          </a:p>
        </p:txBody>
      </p:sp>
      <p:sp>
        <p:nvSpPr>
          <p:cNvPr id="3" name="内容占位符 2">
            <a:extLst>
              <a:ext uri="{FF2B5EF4-FFF2-40B4-BE49-F238E27FC236}">
                <a16:creationId xmlns:a16="http://schemas.microsoft.com/office/drawing/2014/main" id="{C446FA7E-7BB1-AB81-0E98-378DED273ED8}"/>
              </a:ext>
            </a:extLst>
          </p:cNvPr>
          <p:cNvSpPr>
            <a:spLocks noGrp="1"/>
          </p:cNvSpPr>
          <p:nvPr>
            <p:ph idx="1"/>
          </p:nvPr>
        </p:nvSpPr>
        <p:spPr/>
        <p:txBody>
          <a:bodyPr>
            <a:normAutofit fontScale="77500" lnSpcReduction="20000"/>
          </a:bodyPr>
          <a:lstStyle/>
          <a:p>
            <a:pPr marL="0" indent="0">
              <a:lnSpc>
                <a:spcPct val="120000"/>
              </a:lnSpc>
              <a:buNone/>
            </a:pPr>
            <a:r>
              <a:rPr kumimoji="1" lang="zh-CN" altLang="en-US" dirty="0"/>
              <a:t>二、 任务要求</a:t>
            </a:r>
          </a:p>
          <a:p>
            <a:pPr marL="0" indent="0">
              <a:lnSpc>
                <a:spcPct val="120000"/>
              </a:lnSpc>
              <a:buNone/>
            </a:pPr>
            <a:r>
              <a:rPr kumimoji="1" lang="en-US" altLang="zh-CN" dirty="0"/>
              <a:t>3. </a:t>
            </a:r>
            <a:r>
              <a:rPr kumimoji="1" lang="zh-CN" altLang="en-US" dirty="0"/>
              <a:t>数据生成与导入导出 </a:t>
            </a:r>
            <a:r>
              <a:rPr kumimoji="1" lang="en-US" altLang="zh-CN" dirty="0"/>
              <a:t>(Data Engineering)</a:t>
            </a:r>
          </a:p>
          <a:p>
            <a:pPr lvl="1">
              <a:lnSpc>
                <a:spcPct val="120000"/>
              </a:lnSpc>
              <a:buFont typeface="Wingdings" pitchFamily="2" charset="2"/>
              <a:buChar char="p"/>
            </a:pPr>
            <a:r>
              <a:rPr kumimoji="1" lang="zh-CN" altLang="en-US" dirty="0"/>
              <a:t>模拟数据生成： 编写 </a:t>
            </a:r>
            <a:r>
              <a:rPr kumimoji="1" lang="en-US" altLang="zh-CN" dirty="0"/>
              <a:t>Python </a:t>
            </a:r>
            <a:r>
              <a:rPr kumimoji="1" lang="zh-CN" altLang="en-US" dirty="0"/>
              <a:t>脚本或 </a:t>
            </a:r>
            <a:r>
              <a:rPr kumimoji="1" lang="en-US" altLang="zh-CN" dirty="0"/>
              <a:t>SQL </a:t>
            </a:r>
            <a:r>
              <a:rPr kumimoji="1" lang="zh-CN" altLang="en-US" dirty="0"/>
              <a:t>存储过程，生成至少</a:t>
            </a:r>
            <a:r>
              <a:rPr kumimoji="1" lang="en-US" altLang="zh-CN" dirty="0"/>
              <a:t>10</a:t>
            </a:r>
            <a:r>
              <a:rPr kumimoji="1" lang="zh-CN" altLang="en-US" dirty="0"/>
              <a:t>个族谱，其中至少有一个族谱拥有</a:t>
            </a:r>
            <a:r>
              <a:rPr kumimoji="1" lang="en-US" altLang="zh-CN" dirty="0"/>
              <a:t>50,000</a:t>
            </a:r>
            <a:r>
              <a:rPr kumimoji="1" lang="zh-CN" altLang="en-US" dirty="0"/>
              <a:t>以上的成员，整个系统中不少于</a:t>
            </a:r>
            <a:r>
              <a:rPr kumimoji="1" lang="en-US" altLang="zh-CN" dirty="0"/>
              <a:t>100,000 </a:t>
            </a:r>
            <a:r>
              <a:rPr kumimoji="1" lang="zh-CN" altLang="en-US" dirty="0"/>
              <a:t>条模拟成员数据。要求每一个族谱内的成员至少与另一个成员有亲缘关系，单个族谱内模拟出至少 </a:t>
            </a:r>
            <a:r>
              <a:rPr kumimoji="1" lang="en-US" altLang="zh-CN" dirty="0"/>
              <a:t>30 </a:t>
            </a:r>
            <a:r>
              <a:rPr kumimoji="1" lang="zh-CN" altLang="en-US" dirty="0"/>
              <a:t>代人的传承关系。</a:t>
            </a:r>
          </a:p>
          <a:p>
            <a:pPr lvl="1">
              <a:lnSpc>
                <a:spcPct val="120000"/>
              </a:lnSpc>
              <a:buFont typeface="Wingdings" pitchFamily="2" charset="2"/>
              <a:buChar char="p"/>
            </a:pPr>
            <a:endParaRPr kumimoji="1" lang="zh-CN" altLang="en-US" dirty="0"/>
          </a:p>
          <a:p>
            <a:pPr lvl="1">
              <a:lnSpc>
                <a:spcPct val="120000"/>
              </a:lnSpc>
              <a:buFont typeface="Wingdings" pitchFamily="2" charset="2"/>
              <a:buChar char="p"/>
            </a:pPr>
            <a:r>
              <a:rPr kumimoji="1" lang="zh-CN" altLang="en-US" dirty="0"/>
              <a:t>导入导出： 演示如何使用 </a:t>
            </a:r>
            <a:r>
              <a:rPr kumimoji="1" lang="en-US" altLang="zh-CN" dirty="0"/>
              <a:t>LOAD DATA</a:t>
            </a:r>
            <a:r>
              <a:rPr kumimoji="1" lang="zh-CN" altLang="en-US" dirty="0"/>
              <a:t>（</a:t>
            </a:r>
            <a:r>
              <a:rPr kumimoji="1" lang="en-US" altLang="zh-CN" dirty="0"/>
              <a:t>MySQL</a:t>
            </a:r>
            <a:r>
              <a:rPr kumimoji="1" lang="zh-CN" altLang="en-US" dirty="0"/>
              <a:t>）或 </a:t>
            </a:r>
            <a:r>
              <a:rPr kumimoji="1" lang="en-US" altLang="zh-CN" dirty="0"/>
              <a:t>COPY</a:t>
            </a:r>
            <a:r>
              <a:rPr kumimoji="1" lang="zh-CN" altLang="en-US" dirty="0"/>
              <a:t>（</a:t>
            </a:r>
            <a:r>
              <a:rPr kumimoji="1" lang="en-US" altLang="zh-CN" dirty="0"/>
              <a:t>PostgreSQL</a:t>
            </a:r>
            <a:r>
              <a:rPr kumimoji="1" lang="zh-CN" altLang="en-US" dirty="0"/>
              <a:t>）将 </a:t>
            </a:r>
            <a:r>
              <a:rPr kumimoji="1" lang="en-US" altLang="zh-CN" dirty="0"/>
              <a:t>CSV </a:t>
            </a:r>
            <a:r>
              <a:rPr kumimoji="1" lang="zh-CN" altLang="en-US" dirty="0"/>
              <a:t>数据批量导入数据库，并导出某分支的备份文件。</a:t>
            </a:r>
          </a:p>
        </p:txBody>
      </p:sp>
    </p:spTree>
    <p:extLst>
      <p:ext uri="{BB962C8B-B14F-4D97-AF65-F5344CB8AC3E}">
        <p14:creationId xmlns:p14="http://schemas.microsoft.com/office/powerpoint/2010/main" val="8760177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20A8A-EE1A-C763-1399-3A00593A1E8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9C1D59A-35C0-0046-6EB1-FF70FCFDF7F8}"/>
              </a:ext>
            </a:extLst>
          </p:cNvPr>
          <p:cNvSpPr>
            <a:spLocks noGrp="1"/>
          </p:cNvSpPr>
          <p:nvPr>
            <p:ph type="title"/>
          </p:nvPr>
        </p:nvSpPr>
        <p:spPr/>
        <p:txBody>
          <a:bodyPr/>
          <a:lstStyle/>
          <a:p>
            <a:r>
              <a:rPr kumimoji="1" lang="zh-CN" altLang="en-US" dirty="0"/>
              <a:t>实验内容：“寻根溯源”族谱管理系统设计与实现</a:t>
            </a:r>
          </a:p>
        </p:txBody>
      </p:sp>
      <p:sp>
        <p:nvSpPr>
          <p:cNvPr id="3" name="内容占位符 2">
            <a:extLst>
              <a:ext uri="{FF2B5EF4-FFF2-40B4-BE49-F238E27FC236}">
                <a16:creationId xmlns:a16="http://schemas.microsoft.com/office/drawing/2014/main" id="{B3D81E0E-6FA6-CE5C-15D9-B41CBB58B483}"/>
              </a:ext>
            </a:extLst>
          </p:cNvPr>
          <p:cNvSpPr>
            <a:spLocks noGrp="1"/>
          </p:cNvSpPr>
          <p:nvPr>
            <p:ph idx="1"/>
          </p:nvPr>
        </p:nvSpPr>
        <p:spPr/>
        <p:txBody>
          <a:bodyPr>
            <a:normAutofit fontScale="70000" lnSpcReduction="20000"/>
          </a:bodyPr>
          <a:lstStyle/>
          <a:p>
            <a:pPr marL="0" indent="0">
              <a:lnSpc>
                <a:spcPct val="120000"/>
              </a:lnSpc>
              <a:buNone/>
            </a:pPr>
            <a:r>
              <a:rPr kumimoji="1" lang="zh-CN" altLang="en-US" dirty="0"/>
              <a:t>二、 任务要求</a:t>
            </a:r>
          </a:p>
          <a:p>
            <a:pPr marL="0" indent="0">
              <a:lnSpc>
                <a:spcPct val="120000"/>
              </a:lnSpc>
              <a:buNone/>
            </a:pPr>
            <a:r>
              <a:rPr kumimoji="1" lang="en-US" altLang="zh-CN" dirty="0"/>
              <a:t>4. SQL </a:t>
            </a:r>
            <a:r>
              <a:rPr kumimoji="1" lang="zh-CN" altLang="en-US" dirty="0"/>
              <a:t>核心功能编写 </a:t>
            </a:r>
            <a:r>
              <a:rPr kumimoji="1" lang="en-US" altLang="zh-CN" dirty="0"/>
              <a:t>(DML &amp; Query)</a:t>
            </a:r>
          </a:p>
          <a:p>
            <a:pPr marL="0" indent="0">
              <a:lnSpc>
                <a:spcPct val="120000"/>
              </a:lnSpc>
              <a:buNone/>
            </a:pPr>
            <a:r>
              <a:rPr kumimoji="1" lang="zh-CN" altLang="en-US" sz="2400" dirty="0"/>
              <a:t>编写满足以下需求的 </a:t>
            </a:r>
            <a:r>
              <a:rPr kumimoji="1" lang="en-US" altLang="zh-CN" sz="2400" dirty="0"/>
              <a:t>SQL </a:t>
            </a:r>
            <a:r>
              <a:rPr kumimoji="1" lang="zh-CN" altLang="en-US" sz="2400" dirty="0"/>
              <a:t>语句（每个需求用单个</a:t>
            </a:r>
            <a:r>
              <a:rPr kumimoji="1" lang="en-US" altLang="zh-CN" sz="2400" dirty="0"/>
              <a:t>SQL</a:t>
            </a:r>
            <a:r>
              <a:rPr kumimoji="1" lang="zh-CN" altLang="en-US" sz="2400" dirty="0"/>
              <a:t>实现）：</a:t>
            </a:r>
          </a:p>
          <a:p>
            <a:pPr lvl="1">
              <a:lnSpc>
                <a:spcPct val="120000"/>
              </a:lnSpc>
              <a:buFont typeface="Wingdings" pitchFamily="2" charset="2"/>
              <a:buChar char="p"/>
            </a:pPr>
            <a:r>
              <a:rPr kumimoji="1" lang="zh-CN" altLang="en-US" dirty="0"/>
              <a:t>基本查询： 给定一个成员 </a:t>
            </a:r>
            <a:r>
              <a:rPr kumimoji="1" lang="en-US" altLang="zh-CN" dirty="0"/>
              <a:t>ID</a:t>
            </a:r>
            <a:r>
              <a:rPr kumimoji="1" lang="zh-CN" altLang="en-US" dirty="0"/>
              <a:t>，查询其配偶及所有子女。</a:t>
            </a:r>
          </a:p>
          <a:p>
            <a:pPr lvl="1">
              <a:lnSpc>
                <a:spcPct val="120000"/>
              </a:lnSpc>
              <a:buFont typeface="Wingdings" pitchFamily="2" charset="2"/>
              <a:buChar char="p"/>
            </a:pPr>
            <a:r>
              <a:rPr kumimoji="1" lang="zh-CN" altLang="en-US" dirty="0"/>
              <a:t>递归查询（核心）： 编写一个递归公用表表达式（</a:t>
            </a:r>
            <a:r>
              <a:rPr kumimoji="1" lang="en-US" altLang="zh-CN" dirty="0"/>
              <a:t>Recursive CTE</a:t>
            </a:r>
            <a:r>
              <a:rPr kumimoji="1" lang="zh-CN" altLang="en-US" dirty="0"/>
              <a:t>），输入成员 </a:t>
            </a:r>
            <a:r>
              <a:rPr kumimoji="1" lang="en-US" altLang="zh-CN" dirty="0"/>
              <a:t>A </a:t>
            </a:r>
            <a:r>
              <a:rPr kumimoji="1" lang="zh-CN" altLang="en-US" dirty="0"/>
              <a:t>的 </a:t>
            </a:r>
            <a:r>
              <a:rPr kumimoji="1" lang="en-US" altLang="zh-CN" dirty="0"/>
              <a:t>ID</a:t>
            </a:r>
            <a:r>
              <a:rPr kumimoji="1" lang="zh-CN" altLang="en-US" dirty="0"/>
              <a:t>，输出其向上追溯的所有历代祖先。</a:t>
            </a:r>
          </a:p>
          <a:p>
            <a:pPr lvl="1">
              <a:lnSpc>
                <a:spcPct val="120000"/>
              </a:lnSpc>
              <a:buFont typeface="Wingdings" pitchFamily="2" charset="2"/>
              <a:buChar char="p"/>
            </a:pPr>
            <a:r>
              <a:rPr kumimoji="1" lang="zh-CN" altLang="en-US" dirty="0"/>
              <a:t>统计分析： 统计某个家族中平均寿命最长的一代人（辈分）。</a:t>
            </a:r>
            <a:endParaRPr kumimoji="1" lang="en-US" altLang="zh-CN" dirty="0"/>
          </a:p>
          <a:p>
            <a:pPr lvl="1">
              <a:lnSpc>
                <a:spcPct val="120000"/>
              </a:lnSpc>
              <a:buFont typeface="Wingdings" pitchFamily="2" charset="2"/>
              <a:buChar char="p"/>
            </a:pPr>
            <a:r>
              <a:rPr kumimoji="1" lang="zh-CN" altLang="en-US" dirty="0"/>
              <a:t>查询所有年龄超过 </a:t>
            </a:r>
            <a:r>
              <a:rPr kumimoji="1" lang="en-US" altLang="zh-CN" dirty="0"/>
              <a:t>50 </a:t>
            </a:r>
            <a:r>
              <a:rPr kumimoji="1" lang="zh-CN" altLang="en-US" dirty="0"/>
              <a:t>岁（假设当前日期减去出生日期）、且没有配偶的男性成员。</a:t>
            </a:r>
            <a:endParaRPr kumimoji="1" lang="en-US" altLang="zh-CN" dirty="0"/>
          </a:p>
          <a:p>
            <a:pPr lvl="1">
              <a:lnSpc>
                <a:spcPct val="120000"/>
              </a:lnSpc>
              <a:buFont typeface="Wingdings" pitchFamily="2" charset="2"/>
              <a:buChar char="p"/>
            </a:pPr>
            <a:r>
              <a:rPr kumimoji="1" lang="zh-CN" altLang="en-US" dirty="0"/>
              <a:t>找出家族中“出生年份”早于该辈分（代）平均出生年份的所有成员。</a:t>
            </a:r>
            <a:endParaRPr kumimoji="1" lang="en-US" altLang="zh-CN" dirty="0"/>
          </a:p>
        </p:txBody>
      </p:sp>
    </p:spTree>
    <p:extLst>
      <p:ext uri="{BB962C8B-B14F-4D97-AF65-F5344CB8AC3E}">
        <p14:creationId xmlns:p14="http://schemas.microsoft.com/office/powerpoint/2010/main" val="18158074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E720-7169-EBE1-FC75-78506E7DE23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B3FFE4E-D76D-0889-1539-CFDC4416DCC1}"/>
              </a:ext>
            </a:extLst>
          </p:cNvPr>
          <p:cNvSpPr>
            <a:spLocks noGrp="1"/>
          </p:cNvSpPr>
          <p:nvPr>
            <p:ph type="title"/>
          </p:nvPr>
        </p:nvSpPr>
        <p:spPr/>
        <p:txBody>
          <a:bodyPr/>
          <a:lstStyle/>
          <a:p>
            <a:r>
              <a:rPr kumimoji="1" lang="zh-CN" altLang="en-US" dirty="0"/>
              <a:t>实验内容：“寻根溯源”族谱管理系统设计与实现</a:t>
            </a:r>
          </a:p>
        </p:txBody>
      </p:sp>
      <p:sp>
        <p:nvSpPr>
          <p:cNvPr id="3" name="内容占位符 2">
            <a:extLst>
              <a:ext uri="{FF2B5EF4-FFF2-40B4-BE49-F238E27FC236}">
                <a16:creationId xmlns:a16="http://schemas.microsoft.com/office/drawing/2014/main" id="{4EDBAECF-B3DE-4618-8653-6C65145D5546}"/>
              </a:ext>
            </a:extLst>
          </p:cNvPr>
          <p:cNvSpPr>
            <a:spLocks noGrp="1"/>
          </p:cNvSpPr>
          <p:nvPr>
            <p:ph idx="1"/>
          </p:nvPr>
        </p:nvSpPr>
        <p:spPr/>
        <p:txBody>
          <a:bodyPr>
            <a:normAutofit fontScale="92500" lnSpcReduction="10000"/>
          </a:bodyPr>
          <a:lstStyle/>
          <a:p>
            <a:pPr marL="0" indent="0">
              <a:lnSpc>
                <a:spcPct val="120000"/>
              </a:lnSpc>
              <a:buNone/>
            </a:pPr>
            <a:r>
              <a:rPr kumimoji="1" lang="zh-CN" altLang="en-US" dirty="0"/>
              <a:t>二、 任务要求</a:t>
            </a:r>
          </a:p>
          <a:p>
            <a:pPr marL="0" indent="0">
              <a:lnSpc>
                <a:spcPct val="120000"/>
              </a:lnSpc>
              <a:buNone/>
            </a:pPr>
            <a:r>
              <a:rPr kumimoji="1" lang="en-US" altLang="zh-CN" dirty="0"/>
              <a:t>5. </a:t>
            </a:r>
            <a:r>
              <a:rPr kumimoji="1" lang="zh-CN" altLang="en-US" dirty="0"/>
              <a:t>物理优化与索引设计 </a:t>
            </a:r>
            <a:r>
              <a:rPr kumimoji="1" lang="en-US" altLang="zh-CN" dirty="0"/>
              <a:t>(Physical Design)</a:t>
            </a:r>
          </a:p>
          <a:p>
            <a:pPr lvl="1">
              <a:lnSpc>
                <a:spcPct val="120000"/>
              </a:lnSpc>
              <a:buFont typeface="Wingdings" pitchFamily="2" charset="2"/>
              <a:buChar char="p"/>
            </a:pPr>
            <a:r>
              <a:rPr kumimoji="1" lang="zh-CN" altLang="en-US" dirty="0"/>
              <a:t>索引策略： 针对“根据姓名模糊查询”和“根据父节点 </a:t>
            </a:r>
            <a:r>
              <a:rPr kumimoji="1" lang="en-US" altLang="zh-CN" dirty="0"/>
              <a:t>ID </a:t>
            </a:r>
            <a:r>
              <a:rPr kumimoji="1" lang="zh-CN" altLang="en-US" dirty="0"/>
              <a:t>查询子节点”的需求，设计合适的索引。</a:t>
            </a:r>
          </a:p>
          <a:p>
            <a:pPr lvl="1">
              <a:lnSpc>
                <a:spcPct val="120000"/>
              </a:lnSpc>
              <a:buFont typeface="Wingdings" pitchFamily="2" charset="2"/>
              <a:buChar char="p"/>
            </a:pPr>
            <a:endParaRPr kumimoji="1" lang="zh-CN" altLang="en-US" dirty="0"/>
          </a:p>
          <a:p>
            <a:pPr lvl="1">
              <a:lnSpc>
                <a:spcPct val="120000"/>
              </a:lnSpc>
              <a:buFont typeface="Wingdings" pitchFamily="2" charset="2"/>
              <a:buChar char="p"/>
            </a:pPr>
            <a:r>
              <a:rPr kumimoji="1" lang="zh-CN" altLang="en-US" dirty="0"/>
              <a:t>性能对比： 记录在有无索引情况下，执行“查询某曾祖父的所有曾孙（四代查询）”的执行时间差异，并提交执行计划（</a:t>
            </a:r>
            <a:r>
              <a:rPr kumimoji="1" lang="en-US" altLang="zh-CN" dirty="0"/>
              <a:t>EXPLAIN</a:t>
            </a:r>
            <a:r>
              <a:rPr kumimoji="1" lang="zh-CN" altLang="en-US" dirty="0"/>
              <a:t>）分析。</a:t>
            </a:r>
          </a:p>
        </p:txBody>
      </p:sp>
    </p:spTree>
    <p:extLst>
      <p:ext uri="{BB962C8B-B14F-4D97-AF65-F5344CB8AC3E}">
        <p14:creationId xmlns:p14="http://schemas.microsoft.com/office/powerpoint/2010/main" val="11801446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E5D39E-8358-7B04-F6F3-94929B1E8BE1}"/>
              </a:ext>
            </a:extLst>
          </p:cNvPr>
          <p:cNvSpPr>
            <a:spLocks noGrp="1"/>
          </p:cNvSpPr>
          <p:nvPr>
            <p:ph type="title"/>
          </p:nvPr>
        </p:nvSpPr>
        <p:spPr/>
        <p:txBody>
          <a:bodyPr/>
          <a:lstStyle/>
          <a:p>
            <a:r>
              <a:rPr kumimoji="1" lang="zh-CN" altLang="en-US" dirty="0"/>
              <a:t>实验内容：“寻根溯源”族谱管理系统设计与实现</a:t>
            </a:r>
          </a:p>
        </p:txBody>
      </p:sp>
      <p:sp>
        <p:nvSpPr>
          <p:cNvPr id="3" name="内容占位符 2">
            <a:extLst>
              <a:ext uri="{FF2B5EF4-FFF2-40B4-BE49-F238E27FC236}">
                <a16:creationId xmlns:a16="http://schemas.microsoft.com/office/drawing/2014/main" id="{67660D73-9976-D774-A58A-4F687F9E4202}"/>
              </a:ext>
            </a:extLst>
          </p:cNvPr>
          <p:cNvSpPr>
            <a:spLocks noGrp="1"/>
          </p:cNvSpPr>
          <p:nvPr>
            <p:ph idx="1"/>
          </p:nvPr>
        </p:nvSpPr>
        <p:spPr/>
        <p:txBody>
          <a:bodyPr>
            <a:normAutofit fontScale="70000" lnSpcReduction="20000"/>
          </a:bodyPr>
          <a:lstStyle/>
          <a:p>
            <a:pPr marL="0" indent="0">
              <a:lnSpc>
                <a:spcPct val="120000"/>
              </a:lnSpc>
              <a:buNone/>
            </a:pPr>
            <a:r>
              <a:rPr kumimoji="1" lang="zh-CN" altLang="en-US" dirty="0"/>
              <a:t>三、验收要求：提交材料</a:t>
            </a:r>
            <a:endParaRPr kumimoji="1" lang="en-US" altLang="zh-CN" dirty="0"/>
          </a:p>
          <a:p>
            <a:pPr marL="514350" indent="-514350">
              <a:lnSpc>
                <a:spcPct val="120000"/>
              </a:lnSpc>
              <a:buFont typeface="+mj-lt"/>
              <a:buAutoNum type="arabicPeriod"/>
            </a:pPr>
            <a:r>
              <a:rPr lang="zh-CN" altLang="en-US" dirty="0">
                <a:cs typeface="等线" charset="0"/>
              </a:rPr>
              <a:t>在实验报告中包括E-R图、关系模型、对关系模型是3NF的分析说明、创建的索引以及约束等的说明、数据的生成方法（手工插入或者自己编写工具）、所使用的RDBMS名称和版本说明、查询对应的SQL语句、在数据库中执行SQL语句后得到的结果截图。</a:t>
            </a:r>
            <a:endParaRPr lang="en-US" altLang="zh-CN" dirty="0">
              <a:cs typeface="等线" charset="0"/>
            </a:endParaRPr>
          </a:p>
          <a:p>
            <a:pPr marL="514350" indent="-514350">
              <a:lnSpc>
                <a:spcPct val="120000"/>
              </a:lnSpc>
              <a:buFont typeface="+mj-lt"/>
              <a:buAutoNum type="arabicPeriod"/>
            </a:pPr>
            <a:r>
              <a:rPr lang="zh-CN" altLang="en-US" dirty="0">
                <a:cs typeface="等线" charset="0"/>
              </a:rPr>
              <a:t>实验报告着重个人</a:t>
            </a:r>
            <a:r>
              <a:rPr lang="zh-CN" altLang="en-US">
                <a:cs typeface="等线" charset="0"/>
              </a:rPr>
              <a:t>所做工作。</a:t>
            </a:r>
            <a:endParaRPr lang="zh-CN" altLang="en-US" dirty="0">
              <a:cs typeface="等线" charset="0"/>
            </a:endParaRPr>
          </a:p>
          <a:p>
            <a:pPr marL="514350" indent="-514350">
              <a:lnSpc>
                <a:spcPct val="120000"/>
              </a:lnSpc>
              <a:buFont typeface="+mj-lt"/>
              <a:buAutoNum type="arabicPeriod"/>
            </a:pPr>
            <a:r>
              <a:rPr lang="zh-CN" altLang="en-US" dirty="0">
                <a:cs typeface="等线" charset="0"/>
              </a:rPr>
              <a:t>如果采用自编的工具生成数据，请提交工具的源码。</a:t>
            </a:r>
          </a:p>
          <a:p>
            <a:pPr marL="514350" indent="-514350">
              <a:lnSpc>
                <a:spcPct val="120000"/>
              </a:lnSpc>
              <a:buFont typeface="+mj-lt"/>
              <a:buAutoNum type="arabicPeriod"/>
            </a:pPr>
            <a:r>
              <a:rPr lang="zh-CN" altLang="en-US" dirty="0">
                <a:cs typeface="等线" charset="0"/>
              </a:rPr>
              <a:t>请使用你采用的RDBMS提供的数据导出或者数据备份工具将你的数据库导出，提交导出文件。</a:t>
            </a:r>
            <a:endParaRPr kumimoji="1" lang="zh-CN" altLang="en-US" dirty="0"/>
          </a:p>
        </p:txBody>
      </p:sp>
    </p:spTree>
    <p:extLst>
      <p:ext uri="{BB962C8B-B14F-4D97-AF65-F5344CB8AC3E}">
        <p14:creationId xmlns:p14="http://schemas.microsoft.com/office/powerpoint/2010/main" val="1451726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82D6D3-D18E-A2FA-80DE-5FFC9F319238}"/>
              </a:ext>
            </a:extLst>
          </p:cNvPr>
          <p:cNvSpPr>
            <a:spLocks noGrp="1"/>
          </p:cNvSpPr>
          <p:nvPr>
            <p:ph type="title"/>
          </p:nvPr>
        </p:nvSpPr>
        <p:spPr/>
        <p:txBody>
          <a:bodyPr/>
          <a:lstStyle/>
          <a:p>
            <a:r>
              <a:rPr kumimoji="1" lang="zh-CN" altLang="en-US" dirty="0"/>
              <a:t>实验内容：“寻根溯源”族谱管理系统设计与实现</a:t>
            </a:r>
          </a:p>
        </p:txBody>
      </p:sp>
      <p:sp>
        <p:nvSpPr>
          <p:cNvPr id="3" name="内容占位符 2">
            <a:extLst>
              <a:ext uri="{FF2B5EF4-FFF2-40B4-BE49-F238E27FC236}">
                <a16:creationId xmlns:a16="http://schemas.microsoft.com/office/drawing/2014/main" id="{1F105C27-561D-F843-D809-28D5937B5ED7}"/>
              </a:ext>
            </a:extLst>
          </p:cNvPr>
          <p:cNvSpPr>
            <a:spLocks noGrp="1"/>
          </p:cNvSpPr>
          <p:nvPr>
            <p:ph idx="1"/>
          </p:nvPr>
        </p:nvSpPr>
        <p:spPr/>
        <p:txBody>
          <a:bodyPr/>
          <a:lstStyle/>
          <a:p>
            <a:pPr marL="0" indent="0">
              <a:buNone/>
            </a:pPr>
            <a:r>
              <a:rPr kumimoji="1" lang="zh-CN" altLang="en-US" dirty="0"/>
              <a:t>三、验收要求：演示</a:t>
            </a:r>
            <a:endParaRPr kumimoji="1" lang="en-US" altLang="zh-CN" dirty="0"/>
          </a:p>
          <a:p>
            <a:pPr marL="0" indent="0">
              <a:buNone/>
            </a:pPr>
            <a:endParaRPr kumimoji="1" lang="en-US" altLang="zh-CN" dirty="0"/>
          </a:p>
          <a:p>
            <a:pPr marL="514350" indent="-514350">
              <a:buAutoNum type="arabicPeriod"/>
            </a:pPr>
            <a:r>
              <a:rPr kumimoji="1" lang="zh-CN" altLang="en-US" dirty="0"/>
              <a:t>演示图形化界面所要求的功能。</a:t>
            </a:r>
            <a:endParaRPr kumimoji="1" lang="en-US" altLang="zh-CN"/>
          </a:p>
          <a:p>
            <a:pPr marL="514350" indent="-514350">
              <a:buAutoNum type="arabicPeriod"/>
            </a:pPr>
            <a:endParaRPr kumimoji="1" lang="en-US" altLang="zh-CN" dirty="0"/>
          </a:p>
          <a:p>
            <a:pPr marL="514350" indent="-514350">
              <a:buAutoNum type="arabicPeriod"/>
            </a:pPr>
            <a:r>
              <a:rPr kumimoji="1" lang="zh-CN" altLang="en-US" dirty="0"/>
              <a:t>回答老师提出的疑问。</a:t>
            </a:r>
            <a:endParaRPr kumimoji="1" lang="en-US" altLang="zh-CN" dirty="0"/>
          </a:p>
          <a:p>
            <a:pPr marL="514350" indent="-514350">
              <a:buFont typeface="+mj-lt"/>
              <a:buAutoNum type="arabicPeriod"/>
            </a:pPr>
            <a:endParaRPr kumimoji="1" lang="zh-CN" altLang="en-US" dirty="0"/>
          </a:p>
        </p:txBody>
      </p:sp>
    </p:spTree>
    <p:extLst>
      <p:ext uri="{BB962C8B-B14F-4D97-AF65-F5344CB8AC3E}">
        <p14:creationId xmlns:p14="http://schemas.microsoft.com/office/powerpoint/2010/main" val="23874786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A25C59-D432-DDCD-BA93-88CE8B4E0F12}"/>
              </a:ext>
            </a:extLst>
          </p:cNvPr>
          <p:cNvSpPr>
            <a:spLocks noGrp="1"/>
          </p:cNvSpPr>
          <p:nvPr>
            <p:ph type="title"/>
          </p:nvPr>
        </p:nvSpPr>
        <p:spPr/>
        <p:txBody>
          <a:bodyPr/>
          <a:lstStyle/>
          <a:p>
            <a:r>
              <a:rPr kumimoji="1" lang="zh-CN" altLang="en-US" dirty="0"/>
              <a:t>实验内容：“寻根溯源”族谱管理系统设计与实现</a:t>
            </a:r>
          </a:p>
        </p:txBody>
      </p:sp>
      <p:sp>
        <p:nvSpPr>
          <p:cNvPr id="3" name="内容占位符 2">
            <a:extLst>
              <a:ext uri="{FF2B5EF4-FFF2-40B4-BE49-F238E27FC236}">
                <a16:creationId xmlns:a16="http://schemas.microsoft.com/office/drawing/2014/main" id="{FA68680B-FBB9-3DA2-597E-A3719B5CD14B}"/>
              </a:ext>
            </a:extLst>
          </p:cNvPr>
          <p:cNvSpPr>
            <a:spLocks noGrp="1"/>
          </p:cNvSpPr>
          <p:nvPr>
            <p:ph idx="1"/>
          </p:nvPr>
        </p:nvSpPr>
        <p:spPr/>
        <p:txBody>
          <a:bodyPr/>
          <a:lstStyle/>
          <a:p>
            <a:pPr marL="0" indent="0">
              <a:buNone/>
            </a:pPr>
            <a:r>
              <a:rPr kumimoji="1" lang="zh-CN" altLang="en-US" dirty="0"/>
              <a:t>四、参考系统</a:t>
            </a:r>
            <a:endParaRPr kumimoji="1" lang="en-US" altLang="zh-CN" dirty="0"/>
          </a:p>
          <a:p>
            <a:pPr marL="0" indent="0">
              <a:buNone/>
            </a:pPr>
            <a:r>
              <a:rPr kumimoji="1" lang="zh-CN" altLang="en-US" dirty="0"/>
              <a:t>家谱树：</a:t>
            </a:r>
            <a:r>
              <a:rPr kumimoji="1" lang="en" altLang="zh-CN" dirty="0">
                <a:hlinkClick r:id="rId2"/>
              </a:rPr>
              <a:t>https://www.familysearch.org/zh-Hant/chinese/</a:t>
            </a:r>
            <a:endParaRPr kumimoji="1" lang="en" altLang="zh-CN" dirty="0"/>
          </a:p>
          <a:p>
            <a:pPr marL="0" indent="0">
              <a:buNone/>
            </a:pPr>
            <a:r>
              <a:rPr kumimoji="1" lang="zh-CN" altLang="en-US" dirty="0"/>
              <a:t>华谱网：</a:t>
            </a:r>
            <a:r>
              <a:rPr kumimoji="1" lang="en" altLang="zh-CN" dirty="0">
                <a:hlinkClick r:id="rId3"/>
              </a:rPr>
              <a:t>https://www.zhonghuapu.com/</a:t>
            </a:r>
            <a:endParaRPr kumimoji="1" lang="en" altLang="zh-CN" dirty="0"/>
          </a:p>
          <a:p>
            <a:pPr marL="0" indent="0">
              <a:buNone/>
            </a:pPr>
            <a:r>
              <a:rPr kumimoji="1" lang="zh-CN" altLang="en" dirty="0"/>
              <a:t>大谱师</a:t>
            </a:r>
            <a:r>
              <a:rPr kumimoji="1" lang="zh-CN" altLang="en-US" dirty="0"/>
              <a:t>：</a:t>
            </a:r>
            <a:r>
              <a:rPr kumimoji="1" lang="en" altLang="zh-CN" dirty="0"/>
              <a:t>https://</a:t>
            </a:r>
            <a:r>
              <a:rPr kumimoji="1" lang="en" altLang="zh-CN" dirty="0" err="1"/>
              <a:t>myfamilybook.cn</a:t>
            </a:r>
            <a:r>
              <a:rPr kumimoji="1" lang="en" altLang="zh-CN" dirty="0"/>
              <a:t>/</a:t>
            </a:r>
          </a:p>
          <a:p>
            <a:pPr marL="0" indent="0">
              <a:buNone/>
            </a:pPr>
            <a:r>
              <a:rPr kumimoji="1" lang="zh-CN" altLang="en" dirty="0"/>
              <a:t>族谱网</a:t>
            </a:r>
            <a:r>
              <a:rPr kumimoji="1" lang="zh-CN" altLang="en-US" dirty="0"/>
              <a:t>：</a:t>
            </a:r>
            <a:r>
              <a:rPr kumimoji="1" lang="en" altLang="zh-CN" dirty="0"/>
              <a:t>https://</a:t>
            </a:r>
            <a:r>
              <a:rPr kumimoji="1" lang="en" altLang="zh-CN" dirty="0" err="1"/>
              <a:t>www.zupu.cn</a:t>
            </a:r>
            <a:r>
              <a:rPr kumimoji="1" lang="en" altLang="zh-CN" dirty="0"/>
              <a:t>/</a:t>
            </a:r>
            <a:r>
              <a:rPr kumimoji="1" lang="en" altLang="zh-CN" dirty="0" err="1"/>
              <a:t>zp</a:t>
            </a:r>
            <a:r>
              <a:rPr kumimoji="1" lang="en" altLang="zh-CN" dirty="0"/>
              <a:t>/</a:t>
            </a:r>
            <a:endParaRPr kumimoji="1" lang="zh-CN" altLang="en-US" dirty="0"/>
          </a:p>
        </p:txBody>
      </p:sp>
    </p:spTree>
    <p:extLst>
      <p:ext uri="{BB962C8B-B14F-4D97-AF65-F5344CB8AC3E}">
        <p14:creationId xmlns:p14="http://schemas.microsoft.com/office/powerpoint/2010/main" val="19437994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4550</TotalTime>
  <Words>3358</Words>
  <Application>Microsoft Macintosh PowerPoint</Application>
  <PresentationFormat>全屏显示(16:9)</PresentationFormat>
  <Paragraphs>413</Paragraphs>
  <Slides>39</Slides>
  <Notes>5</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39</vt:i4>
      </vt:variant>
    </vt:vector>
  </HeadingPairs>
  <TitlesOfParts>
    <vt:vector size="47" baseType="lpstr">
      <vt:lpstr>等线</vt:lpstr>
      <vt:lpstr>Arial</vt:lpstr>
      <vt:lpstr>Microsoft YaHei</vt:lpstr>
      <vt:lpstr>宋体</vt:lpstr>
      <vt:lpstr>楷体</vt:lpstr>
      <vt:lpstr>Wingdings</vt:lpstr>
      <vt:lpstr>Office Theme</vt:lpstr>
      <vt:lpstr>自定义设计方案</vt:lpstr>
      <vt:lpstr>PowerPoint 演示文稿</vt:lpstr>
      <vt:lpstr>PowerPoint 演示文稿</vt:lpstr>
      <vt:lpstr>PowerPoint 演示文稿</vt:lpstr>
      <vt:lpstr>PL/SQL</vt:lpstr>
      <vt:lpstr>openGauss与PostgreSQL中的过程语言</vt:lpstr>
      <vt:lpstr>用户定义类型UDT：User Defined Type</vt:lpstr>
      <vt:lpstr>openGauss与PostgreSQL中的UDT</vt:lpstr>
      <vt:lpstr>用户定义函数UDF：User Define Function</vt:lpstr>
      <vt:lpstr>openGauss与PostgreSQL中的UDF</vt:lpstr>
      <vt:lpstr>存储过程（Stored Procedure）</vt:lpstr>
      <vt:lpstr>openGauss与PostgreSQL中的存储过程</vt:lpstr>
      <vt:lpstr>触发器（Trigger）</vt:lpstr>
      <vt:lpstr>触发器的主要用途</vt:lpstr>
      <vt:lpstr>触发器的结构</vt:lpstr>
      <vt:lpstr>前触发器</vt:lpstr>
      <vt:lpstr>后触发器</vt:lpstr>
      <vt:lpstr>替代触发器</vt:lpstr>
      <vt:lpstr>替代触发器</vt:lpstr>
      <vt:lpstr>PowerPoint 演示文稿</vt:lpstr>
      <vt:lpstr>典型的API</vt:lpstr>
      <vt:lpstr>开放式接口--ODBC</vt:lpstr>
      <vt:lpstr>开放式接口--ODBC</vt:lpstr>
      <vt:lpstr>JDBC</vt:lpstr>
      <vt:lpstr>JDBC</vt:lpstr>
      <vt:lpstr>JDBC驱动类型</vt:lpstr>
      <vt:lpstr>JDBC编程要点</vt:lpstr>
      <vt:lpstr>ADO.NET</vt:lpstr>
      <vt:lpstr>ADO.NET对象模型 </vt:lpstr>
      <vt:lpstr>PowerPoint 演示文稿</vt:lpstr>
      <vt:lpstr>课间实验安排</vt:lpstr>
      <vt:lpstr>实验内容：“寻根溯源”族谱管理系统设计与实现</vt:lpstr>
      <vt:lpstr>实验内容：“寻根溯源”族谱管理系统设计与实现</vt:lpstr>
      <vt:lpstr>实验内容：“寻根溯源”族谱管理系统设计与实现</vt:lpstr>
      <vt:lpstr>实验内容：“寻根溯源”族谱管理系统设计与实现</vt:lpstr>
      <vt:lpstr>实验内容：“寻根溯源”族谱管理系统设计与实现</vt:lpstr>
      <vt:lpstr>实验内容：“寻根溯源”族谱管理系统设计与实现</vt:lpstr>
      <vt:lpstr>实验内容：“寻根溯源”族谱管理系统设计与实现</vt:lpstr>
      <vt:lpstr>实验内容：“寻根溯源”族谱管理系统设计与实现</vt:lpstr>
      <vt:lpstr>实验内容：“寻根溯源”族谱管理系统设计与实现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彭煜玮</cp:lastModifiedBy>
  <cp:revision>308</cp:revision>
  <dcterms:modified xsi:type="dcterms:W3CDTF">2026-03-28T13:47:49Z</dcterms:modified>
</cp:coreProperties>
</file>