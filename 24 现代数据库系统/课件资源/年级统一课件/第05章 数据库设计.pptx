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5.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notesSlides/notesSlide6.xml" ContentType="application/vnd.openxmlformats-officedocument.presentationml.notesSlide+xml"/>
  <Override PartName="/ppt/tags/tag160.xml" ContentType="application/vnd.openxmlformats-officedocument.presentationml.tags+xml"/>
  <Override PartName="/ppt/notesSlides/notesSlide7.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8.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0" r:id="rId2"/>
  </p:sldMasterIdLst>
  <p:notesMasterIdLst>
    <p:notesMasterId r:id="rId69"/>
  </p:notesMasterIdLst>
  <p:handoutMasterIdLst>
    <p:handoutMasterId r:id="rId70"/>
  </p:handoutMasterIdLst>
  <p:sldIdLst>
    <p:sldId id="256" r:id="rId3"/>
    <p:sldId id="526" r:id="rId4"/>
    <p:sldId id="534" r:id="rId5"/>
    <p:sldId id="2730" r:id="rId6"/>
    <p:sldId id="2731" r:id="rId7"/>
    <p:sldId id="2732" r:id="rId8"/>
    <p:sldId id="2734" r:id="rId9"/>
    <p:sldId id="533" r:id="rId10"/>
    <p:sldId id="2735" r:id="rId11"/>
    <p:sldId id="2736" r:id="rId12"/>
    <p:sldId id="2737" r:id="rId13"/>
    <p:sldId id="2738" r:id="rId14"/>
    <p:sldId id="2739" r:id="rId15"/>
    <p:sldId id="2740" r:id="rId16"/>
    <p:sldId id="2741" r:id="rId17"/>
    <p:sldId id="2742" r:id="rId18"/>
    <p:sldId id="2743" r:id="rId19"/>
    <p:sldId id="2744" r:id="rId20"/>
    <p:sldId id="2745" r:id="rId21"/>
    <p:sldId id="2746" r:id="rId22"/>
    <p:sldId id="2747" r:id="rId23"/>
    <p:sldId id="2795" r:id="rId24"/>
    <p:sldId id="2796" r:id="rId25"/>
    <p:sldId id="2797" r:id="rId26"/>
    <p:sldId id="527" r:id="rId27"/>
    <p:sldId id="2751" r:id="rId28"/>
    <p:sldId id="2752" r:id="rId29"/>
    <p:sldId id="2753" r:id="rId30"/>
    <p:sldId id="2755" r:id="rId31"/>
    <p:sldId id="2756" r:id="rId32"/>
    <p:sldId id="2757" r:id="rId33"/>
    <p:sldId id="2758" r:id="rId34"/>
    <p:sldId id="2759" r:id="rId35"/>
    <p:sldId id="2760" r:id="rId36"/>
    <p:sldId id="2761" r:id="rId37"/>
    <p:sldId id="2762" r:id="rId38"/>
    <p:sldId id="2763" r:id="rId39"/>
    <p:sldId id="2764" r:id="rId40"/>
    <p:sldId id="2765" r:id="rId41"/>
    <p:sldId id="2766" r:id="rId42"/>
    <p:sldId id="2767" r:id="rId43"/>
    <p:sldId id="2768" r:id="rId44"/>
    <p:sldId id="528" r:id="rId45"/>
    <p:sldId id="2769" r:id="rId46"/>
    <p:sldId id="2770" r:id="rId47"/>
    <p:sldId id="2771" r:id="rId48"/>
    <p:sldId id="2772" r:id="rId49"/>
    <p:sldId id="2773" r:id="rId50"/>
    <p:sldId id="2774" r:id="rId51"/>
    <p:sldId id="2775" r:id="rId52"/>
    <p:sldId id="2776" r:id="rId53"/>
    <p:sldId id="2777" r:id="rId54"/>
    <p:sldId id="532" r:id="rId55"/>
    <p:sldId id="2778" r:id="rId56"/>
    <p:sldId id="2798" r:id="rId57"/>
    <p:sldId id="2779" r:id="rId58"/>
    <p:sldId id="2782" r:id="rId59"/>
    <p:sldId id="2799" r:id="rId60"/>
    <p:sldId id="2783" r:id="rId61"/>
    <p:sldId id="2800" r:id="rId62"/>
    <p:sldId id="531" r:id="rId63"/>
    <p:sldId id="2785" r:id="rId64"/>
    <p:sldId id="2786" r:id="rId65"/>
    <p:sldId id="2787" r:id="rId66"/>
    <p:sldId id="2788" r:id="rId67"/>
    <p:sldId id="2789" r:id="rId68"/>
  </p:sldIdLst>
  <p:sldSz cx="9144000" cy="5143500" type="screen16x9"/>
  <p:notesSz cx="5143500" cy="9144000"/>
  <p:embeddedFontLst>
    <p:embeddedFont>
      <p:font typeface="楷体" panose="02010609060101010101" pitchFamily="49" charset="-122"/>
      <p:regular r:id="rId71"/>
    </p:embeddedFont>
    <p:embeddedFont>
      <p:font typeface="Microsoft YaHei" panose="020B0503020204020204" pitchFamily="34" charset="-122"/>
      <p:regular r:id="rId72"/>
      <p:bold r:id="rId73"/>
    </p:embeddedFont>
    <p:embeddedFont>
      <p:font typeface="等线" panose="02010600030101010101" pitchFamily="2" charset="-122"/>
      <p:regular r:id="rId74"/>
      <p:bold r:id="rId75"/>
    </p:embeddedFont>
    <p:embeddedFont>
      <p:font typeface="Tahoma" panose="020B0604030504040204" pitchFamily="34" charset="0"/>
      <p:regular r:id="rId76"/>
      <p:bold r:id="rId7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E9CF"/>
    <a:srgbClr val="D1D9D2"/>
    <a:srgbClr val="CBC11E"/>
    <a:srgbClr val="DCE1CC"/>
    <a:srgbClr val="F8D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48"/>
    <p:restoredTop sz="94610"/>
  </p:normalViewPr>
  <p:slideViewPr>
    <p:cSldViewPr snapToGrid="0" snapToObjects="1">
      <p:cViewPr varScale="1">
        <p:scale>
          <a:sx n="165" d="100"/>
          <a:sy n="165" d="100"/>
        </p:scale>
        <p:origin x="336" y="192"/>
      </p:cViewPr>
      <p:guideLst/>
    </p:cSldViewPr>
  </p:slideViewPr>
  <p:notesTextViewPr>
    <p:cViewPr>
      <p:scale>
        <a:sx n="1" d="1"/>
        <a:sy n="1" d="1"/>
      </p:scale>
      <p:origin x="0" y="0"/>
    </p:cViewPr>
  </p:notesTextViewPr>
  <p:notesViewPr>
    <p:cSldViewPr snapToGrid="0" snapToObjects="1">
      <p:cViewPr varScale="1">
        <p:scale>
          <a:sx n="97" d="100"/>
          <a:sy n="97" d="100"/>
        </p:scale>
        <p:origin x="4848"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4.fntdata"/><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77" Type="http://schemas.openxmlformats.org/officeDocument/2006/relationships/font" Target="fonts/font7.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2.fntdata"/><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handoutMaster" Target="handoutMasters/handoutMaster1.xml"/><Relationship Id="rId75"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3.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6.fntdata"/><Relationship Id="rId7" Type="http://schemas.openxmlformats.org/officeDocument/2006/relationships/slide" Target="slides/slide5.xml"/><Relationship Id="rId71" Type="http://schemas.openxmlformats.org/officeDocument/2006/relationships/font" Target="fonts/font1.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A54FDA4-1F5A-8E9B-F685-24508D12D3F2}"/>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94388EB6-7A6A-6C45-C8ED-51C2F3086E3F}"/>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864365D0-91AF-7C42-AA19-7374AA81A0FF}" type="datetimeFigureOut">
              <a:rPr kumimoji="1" lang="zh-CN" altLang="en-US" smtClean="0"/>
              <a:t>2026/2/22</a:t>
            </a:fld>
            <a:endParaRPr kumimoji="1" lang="zh-CN" altLang="en-US"/>
          </a:p>
        </p:txBody>
      </p:sp>
      <p:sp>
        <p:nvSpPr>
          <p:cNvPr id="4" name="页脚占位符 3">
            <a:extLst>
              <a:ext uri="{FF2B5EF4-FFF2-40B4-BE49-F238E27FC236}">
                <a16:creationId xmlns:a16="http://schemas.microsoft.com/office/drawing/2014/main" id="{DF51B93B-EB01-5753-6A27-D70A8D221524}"/>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FFD3C135-B8B3-7B34-CB44-D7AD55C9D4A2}"/>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86E0F489-628A-E24B-97F8-426382C01659}" type="slidenum">
              <a:rPr kumimoji="1" lang="zh-CN" altLang="en-US" smtClean="0"/>
              <a:t>‹#›</a:t>
            </a:fld>
            <a:endParaRPr kumimoji="1" lang="zh-CN" altLang="en-US"/>
          </a:p>
        </p:txBody>
      </p:sp>
    </p:spTree>
    <p:extLst>
      <p:ext uri="{BB962C8B-B14F-4D97-AF65-F5344CB8AC3E}">
        <p14:creationId xmlns:p14="http://schemas.microsoft.com/office/powerpoint/2010/main" val="22163815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9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6BFEB-7536-E7CD-8AFB-36D307424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CB7FC-CD25-BA42-F707-5D78D2757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7B8CD-799F-0C58-085A-1B9784776B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C30EB3-0045-8652-2AB3-5017997CF68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007499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FFB40-5D5E-0665-62D5-E944C4DF7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7DC34-C3B2-3051-4FD0-ADF9ED6D1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B3544-84A5-8A86-211D-DB0A606326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B6CC0E-093A-9957-1FC0-590898EE12E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4578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433DB-0CA6-C184-CD91-127181290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340A9-F1DB-DEA4-5136-27A88AEBD5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884F0-29D1-C6D8-23A4-0B560C0EE8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B3A152-A9F9-C379-B8E2-AECBC2D1907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768663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911DE-6186-BC75-2CD9-B114A6B63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2F406-038B-7210-ABE3-4913E85C1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64DC6-A124-8940-CD49-75A11A5673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FBF224-4C24-F808-0AA9-A1EF9B37BAA3}"/>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646747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66083-0EF0-48AB-C67C-FD55AF9FE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F72BB-E218-F384-6081-924DE4764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A41E3-5E4D-BB50-6B0D-E5B6603DF9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E7D9D-69E1-EA4B-75DD-FB1C60ABE655}"/>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401058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65BB7-4ECB-B74C-C5BE-FC234CB7E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3F801-8CC1-232D-3995-718EFDECF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559871-C2D8-BD49-E653-BD59CB574C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388C51-7E60-BF95-73E9-029E7920C219}"/>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608015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E89F6-7A8F-C273-EEB4-2089718684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9449A6-0416-F89C-5624-3310431AFD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CB529B-32B5-E124-AD51-80924F683D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9F9886-57CA-E487-B85A-49AA8E285CAD}"/>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2859010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4"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4"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4"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4"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4"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4"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4"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4"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4"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4"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 Id="rId4"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 Id="rId4"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4"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4"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4"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4"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 Id="rId4"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 Id="rId4"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 Id="rId4"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 Id="rId4"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4"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 Id="rId4"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 Id="rId4"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4"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 Id="rId4"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DB7416-F2C8-CB05-21A9-12D30740D43B}"/>
              </a:ext>
            </a:extLst>
          </p:cNvPr>
          <p:cNvSpPr>
            <a:spLocks noGrp="1"/>
          </p:cNvSpPr>
          <p:nvPr>
            <p:ph type="title"/>
          </p:nvPr>
        </p:nvSpPr>
        <p:spPr>
          <a:xfrm>
            <a:off x="628650" y="2408238"/>
            <a:ext cx="7886700" cy="993775"/>
          </a:xfrm>
          <a:prstGeom prst="rect">
            <a:avLst/>
          </a:prstGeom>
        </p:spPr>
        <p:txBody>
          <a:bodyPr/>
          <a:lstStyle/>
          <a:p>
            <a:r>
              <a:rPr kumimoji="1" lang="zh-CN" altLang="en-US"/>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0"/>
            <a:ext cx="6240462" cy="62865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0" y="800100"/>
            <a:ext cx="4495800" cy="4343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800100"/>
            <a:ext cx="4495800" cy="4343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sldNum" sz="quarter" idx="10"/>
          </p:nvPr>
        </p:nvSpPr>
        <p:spPr/>
        <p:txBody>
          <a:bodyPr/>
          <a:lstStyle>
            <a:lvl1pPr>
              <a:defRPr/>
            </a:lvl1pPr>
          </a:lstStyle>
          <a:p>
            <a:pPr>
              <a:defRPr/>
            </a:pPr>
            <a:fld id="{A48DB317-737D-4E41-A6A0-70A94F917B0E}" type="slidenum">
              <a:rPr lang="zh-CN" altLang="en-US"/>
              <a:t>‹#›</a:t>
            </a:fld>
            <a:endParaRPr lang="zh-CN" altLang="en-US"/>
          </a:p>
        </p:txBody>
      </p:sp>
    </p:spTree>
    <p:extLst>
      <p:ext uri="{BB962C8B-B14F-4D97-AF65-F5344CB8AC3E}">
        <p14:creationId xmlns:p14="http://schemas.microsoft.com/office/powerpoint/2010/main" val="258925189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sldNum" sz="quarter" idx="10"/>
          </p:nvPr>
        </p:nvSpPr>
        <p:spPr/>
        <p:txBody>
          <a:bodyPr/>
          <a:lstStyle>
            <a:lvl1pPr>
              <a:defRPr/>
            </a:lvl1pPr>
          </a:lstStyle>
          <a:p>
            <a:pPr>
              <a:defRPr/>
            </a:pPr>
            <a:fld id="{55503B5A-5684-9C48-B06E-1F29FFC2BF0F}" type="slidenum">
              <a:rPr lang="zh-CN" altLang="en-US"/>
              <a:t>‹#›</a:t>
            </a:fld>
            <a:endParaRPr lang="zh-CN" altLang="en-US"/>
          </a:p>
        </p:txBody>
      </p:sp>
    </p:spTree>
    <p:extLst>
      <p:ext uri="{BB962C8B-B14F-4D97-AF65-F5344CB8AC3E}">
        <p14:creationId xmlns:p14="http://schemas.microsoft.com/office/powerpoint/2010/main" val="333359415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0" y="800100"/>
            <a:ext cx="4495800" cy="4343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800100"/>
            <a:ext cx="4495800" cy="4343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sldNum" sz="quarter" idx="10"/>
          </p:nvPr>
        </p:nvSpPr>
        <p:spPr/>
        <p:txBody>
          <a:bodyPr/>
          <a:lstStyle>
            <a:lvl1pPr>
              <a:defRPr/>
            </a:lvl1pPr>
          </a:lstStyle>
          <a:p>
            <a:pPr>
              <a:defRPr/>
            </a:pPr>
            <a:fld id="{2D121F39-B3A4-B24B-B9AD-B8BC9597B1E5}" type="slidenum">
              <a:rPr lang="zh-CN" altLang="en-US"/>
              <a:t>‹#›</a:t>
            </a:fld>
            <a:endParaRPr lang="zh-CN" altLang="en-US"/>
          </a:p>
        </p:txBody>
      </p:sp>
    </p:spTree>
    <p:extLst>
      <p:ext uri="{BB962C8B-B14F-4D97-AF65-F5344CB8AC3E}">
        <p14:creationId xmlns:p14="http://schemas.microsoft.com/office/powerpoint/2010/main" val="29637781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p:cNvSpPr>
            <a:spLocks noGrp="1" noChangeArrowheads="1"/>
          </p:cNvSpPr>
          <p:nvPr>
            <p:ph type="sldNum" sz="quarter" idx="10"/>
          </p:nvPr>
        </p:nvSpPr>
        <p:spPr/>
        <p:txBody>
          <a:bodyPr/>
          <a:lstStyle>
            <a:lvl1pPr>
              <a:defRPr/>
            </a:lvl1pPr>
          </a:lstStyle>
          <a:p>
            <a:pPr>
              <a:defRPr/>
            </a:pPr>
            <a:fld id="{15647735-1087-C94D-86AB-B0C7949F94E4}" type="slidenum">
              <a:rPr lang="zh-CN" altLang="en-US"/>
              <a:t>‹#›</a:t>
            </a:fld>
            <a:endParaRPr lang="zh-CN" altLang="en-US"/>
          </a:p>
        </p:txBody>
      </p:sp>
    </p:spTree>
    <p:extLst>
      <p:ext uri="{BB962C8B-B14F-4D97-AF65-F5344CB8AC3E}">
        <p14:creationId xmlns:p14="http://schemas.microsoft.com/office/powerpoint/2010/main" val="6197440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C6786A0-5BD1-A934-990A-693BF6F4AA58}"/>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3" name="页脚占位符 2">
            <a:extLst>
              <a:ext uri="{FF2B5EF4-FFF2-40B4-BE49-F238E27FC236}">
                <a16:creationId xmlns:a16="http://schemas.microsoft.com/office/drawing/2014/main" id="{4FC308B4-5DC2-C1FD-00A9-ABDE4167C5C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C3CA0C5-1531-25DA-DCFA-AB2596B45E5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1729895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400AFC62-34B5-A13D-FB5F-E40661A5EDED}"/>
              </a:ext>
            </a:extLst>
          </p:cNvPr>
          <p:cNvSpPr>
            <a:spLocks noGrp="1"/>
          </p:cNvSpPr>
          <p:nvPr>
            <p:ph type="subTitle" idx="1"/>
          </p:nvPr>
        </p:nvSpPr>
        <p:spPr>
          <a:xfrm>
            <a:off x="1006545" y="2791572"/>
            <a:ext cx="7458075" cy="642035"/>
          </a:xfrm>
          <a:noFill/>
          <a:ln/>
        </p:spPr>
        <p:txBody>
          <a:bodyPr wrap="square" lIns="0" tIns="0" rIns="0" bIns="0" rtlCol="0" anchor="t">
            <a:spAutoFit/>
          </a:bodyPr>
          <a:lstStyle>
            <a:lvl1pPr>
              <a:def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defRPr>
            </a:lvl1pPr>
          </a:lstStyle>
          <a:p>
            <a:pPr marL="0" lvl="0" indent="0">
              <a:lnSpc>
                <a:spcPct val="96000"/>
              </a:lnSpc>
              <a:buNone/>
            </a:pPr>
            <a:r>
              <a:rPr kumimoji="1" lang="zh-CN" altLang="en-US" dirty="0"/>
              <a:t>单击此处编辑母版副标题样式</a:t>
            </a:r>
          </a:p>
        </p:txBody>
      </p:sp>
      <p:sp>
        <p:nvSpPr>
          <p:cNvPr id="2" name="标题 1">
            <a:extLst>
              <a:ext uri="{FF2B5EF4-FFF2-40B4-BE49-F238E27FC236}">
                <a16:creationId xmlns:a16="http://schemas.microsoft.com/office/drawing/2014/main" id="{61A7C707-2645-9AE5-5C99-51D2133D7511}"/>
              </a:ext>
            </a:extLst>
          </p:cNvPr>
          <p:cNvSpPr>
            <a:spLocks noGrp="1"/>
          </p:cNvSpPr>
          <p:nvPr>
            <p:ph type="ctrTitle" hasCustomPrompt="1"/>
          </p:nvPr>
        </p:nvSpPr>
        <p:spPr>
          <a:xfrm>
            <a:off x="2720924" y="1307645"/>
            <a:ext cx="1018451" cy="806400"/>
          </a:xfrm>
        </p:spPr>
        <p:txBody>
          <a:bodyPr anchor="ctr">
            <a:normAutofit/>
          </a:bodyPr>
          <a:lstStyle>
            <a:lvl1pPr marL="0" indent="0" algn="ctr" defTabSz="914400" rtl="0" eaLnBrk="1" latinLnBrk="0" hangingPunct="1">
              <a:buNone/>
              <a:defRPr lang="zh-CN" altLang="en-US" sz="5250" b="1" kern="1200" dirty="0">
                <a:solidFill>
                  <a:srgbClr val="FD5220"/>
                </a:solidFill>
                <a:latin typeface="Microsoft YaHei" panose="020B0503020204020204" pitchFamily="34" charset="-122"/>
                <a:ea typeface="Microsoft YaHei" panose="020B0503020204020204" pitchFamily="34" charset="-122"/>
                <a:cs typeface="SourceHanSansSC-Regular"/>
              </a:defRPr>
            </a:lvl1pPr>
          </a:lstStyle>
          <a:p>
            <a:r>
              <a:rPr kumimoji="1" lang="en-US" altLang="zh-CN" dirty="0"/>
              <a:t>01</a:t>
            </a:r>
            <a:endParaRPr kumimoji="1" lang="zh-CN" altLang="en-US" dirty="0"/>
          </a:p>
        </p:txBody>
      </p:sp>
      <p:sp>
        <p:nvSpPr>
          <p:cNvPr id="4" name="日期占位符 3">
            <a:extLst>
              <a:ext uri="{FF2B5EF4-FFF2-40B4-BE49-F238E27FC236}">
                <a16:creationId xmlns:a16="http://schemas.microsoft.com/office/drawing/2014/main" id="{635BC3DC-3551-4C56-4B66-4B2C0267A054}"/>
              </a:ext>
            </a:extLst>
          </p:cNvPr>
          <p:cNvSpPr>
            <a:spLocks noGrp="1"/>
          </p:cNvSpPr>
          <p:nvPr>
            <p:ph type="dt" sz="half" idx="10"/>
          </p:nvPr>
        </p:nvSpPr>
        <p:spPr/>
        <p:txBody>
          <a:bodyPr/>
          <a:lstStyle/>
          <a:p>
            <a:fld id="{9FD0B6C7-774E-CC40-B792-A0FBA87DFD06}"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A209566B-4207-9F1C-6F9C-E40AACADC87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0223F73-AA4F-F3F5-5EE0-239EF208D768}"/>
              </a:ext>
            </a:extLst>
          </p:cNvPr>
          <p:cNvSpPr>
            <a:spLocks noGrp="1"/>
          </p:cNvSpPr>
          <p:nvPr>
            <p:ph type="sldNum" sz="quarter" idx="12"/>
          </p:nvPr>
        </p:nvSpPr>
        <p:spPr/>
        <p:txBody>
          <a:bodyPr/>
          <a:lstStyle/>
          <a:p>
            <a:fld id="{97DFE2EB-CEEE-154A-8E5F-E6E0C8C57AC1}" type="slidenum">
              <a:rPr kumimoji="1" lang="zh-CN" altLang="en-US" smtClean="0"/>
              <a:t>‹#›</a:t>
            </a:fld>
            <a:endParaRPr kumimoji="1" lang="zh-CN" altLang="en-US"/>
          </a:p>
        </p:txBody>
      </p:sp>
      <p:sp>
        <p:nvSpPr>
          <p:cNvPr id="8" name="Shape 1">
            <a:extLst>
              <a:ext uri="{FF2B5EF4-FFF2-40B4-BE49-F238E27FC236}">
                <a16:creationId xmlns:a16="http://schemas.microsoft.com/office/drawing/2014/main" id="{4D58F47A-1125-D0D2-2F3C-498192C9F60A}"/>
              </a:ext>
            </a:extLst>
          </p:cNvPr>
          <p:cNvSpPr/>
          <p:nvPr userDrawn="1"/>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2">
            <a:extLst>
              <a:ext uri="{FF2B5EF4-FFF2-40B4-BE49-F238E27FC236}">
                <a16:creationId xmlns:a16="http://schemas.microsoft.com/office/drawing/2014/main" id="{9488300C-8889-426E-268C-5B43ADCA19A0}"/>
              </a:ext>
            </a:extLst>
          </p:cNvPr>
          <p:cNvSpPr txBox="1"/>
          <p:nvPr userDrawn="1"/>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4633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0EECE7-2D90-0988-7FA7-3E6BAB793BFF}"/>
              </a:ext>
            </a:extLst>
          </p:cNvPr>
          <p:cNvSpPr>
            <a:spLocks noGrp="1"/>
          </p:cNvSpPr>
          <p:nvPr>
            <p:ph type="title"/>
          </p:nvPr>
        </p:nvSpPr>
        <p:spPr/>
        <p:txBody>
          <a:bodyPr/>
          <a:lstStyle>
            <a:lvl1pPr>
              <a:defRPr>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5B5BB336-767A-B00A-E2B3-F3F3F54D11BF}"/>
              </a:ext>
            </a:extLst>
          </p:cNvPr>
          <p:cNvSpPr>
            <a:spLocks noGrp="1"/>
          </p:cNvSpPr>
          <p:nvPr>
            <p:ph idx="1"/>
          </p:nvPr>
        </p:nvSpPr>
        <p:spPr/>
        <p:txBody>
          <a:bodyPr/>
          <a:lstStyle>
            <a:lvl1pPr>
              <a:defRPr>
                <a:latin typeface="Microsoft YaHei" panose="020B0503020204020204" pitchFamily="34" charset="-122"/>
                <a:ea typeface="Microsoft YaHei" panose="020B0503020204020204" pitchFamily="34" charset="-122"/>
              </a:defRPr>
            </a:lvl1pPr>
            <a:lvl2pPr>
              <a:defRPr>
                <a:latin typeface="Microsoft YaHei" panose="020B0503020204020204" pitchFamily="34" charset="-122"/>
                <a:ea typeface="Microsoft YaHei" panose="020B0503020204020204" pitchFamily="34" charset="-122"/>
              </a:defRPr>
            </a:lvl2pPr>
            <a:lvl3pPr>
              <a:defRPr>
                <a:latin typeface="Microsoft YaHei" panose="020B0503020204020204" pitchFamily="34" charset="-122"/>
                <a:ea typeface="Microsoft YaHei" panose="020B0503020204020204" pitchFamily="34" charset="-122"/>
              </a:defRPr>
            </a:lvl3pPr>
            <a:lvl4pPr>
              <a:defRPr>
                <a:latin typeface="Microsoft YaHei" panose="020B0503020204020204" pitchFamily="34" charset="-122"/>
                <a:ea typeface="Microsoft YaHei" panose="020B0503020204020204" pitchFamily="34" charset="-122"/>
              </a:defRPr>
            </a:lvl4pPr>
            <a:lvl5pPr>
              <a:defRPr>
                <a:latin typeface="Microsoft YaHei" panose="020B0503020204020204" pitchFamily="34" charset="-122"/>
                <a:ea typeface="Microsoft YaHei" panose="020B0503020204020204" pitchFamily="34" charset="-122"/>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2FD4666-F48B-5CC8-7977-00AEA31A9CA5}"/>
              </a:ext>
            </a:extLst>
          </p:cNvPr>
          <p:cNvSpPr>
            <a:spLocks noGrp="1"/>
          </p:cNvSpPr>
          <p:nvPr>
            <p:ph type="dt" sz="half" idx="10"/>
          </p:nvPr>
        </p:nvSpPr>
        <p:spPr/>
        <p:txBody>
          <a:bodyPr/>
          <a:lstStyle>
            <a:lvl1pPr>
              <a:defRPr>
                <a:latin typeface="Microsoft YaHei" panose="020B0503020204020204" pitchFamily="34" charset="-122"/>
                <a:ea typeface="Microsoft YaHei" panose="020B0503020204020204" pitchFamily="34" charset="-122"/>
              </a:defRPr>
            </a:lvl1pPr>
          </a:lstStyle>
          <a:p>
            <a:fld id="{32C5F372-D9EE-804B-82F0-7EE97B9B327A}" type="datetimeFigureOut">
              <a:rPr kumimoji="1" lang="zh-CN" altLang="en-US" smtClean="0"/>
              <a:pPr/>
              <a:t>2026/2/22</a:t>
            </a:fld>
            <a:endParaRPr kumimoji="1" lang="zh-CN" altLang="en-US"/>
          </a:p>
        </p:txBody>
      </p:sp>
      <p:sp>
        <p:nvSpPr>
          <p:cNvPr id="5" name="页脚占位符 4">
            <a:extLst>
              <a:ext uri="{FF2B5EF4-FFF2-40B4-BE49-F238E27FC236}">
                <a16:creationId xmlns:a16="http://schemas.microsoft.com/office/drawing/2014/main" id="{2D0BBD08-8FD4-51A4-0EE0-346DD7DBC93F}"/>
              </a:ext>
            </a:extLst>
          </p:cNvPr>
          <p:cNvSpPr>
            <a:spLocks noGrp="1"/>
          </p:cNvSpPr>
          <p:nvPr>
            <p:ph type="ftr" sz="quarter" idx="11"/>
          </p:nvPr>
        </p:nvSpPr>
        <p:spPr/>
        <p:txBody>
          <a:bodyPr/>
          <a:lstStyle>
            <a:lvl1pPr>
              <a:defRPr>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8DA1EE57-F824-9786-BAA2-7DE2E94979AD}"/>
              </a:ext>
            </a:extLst>
          </p:cNvPr>
          <p:cNvSpPr>
            <a:spLocks noGrp="1"/>
          </p:cNvSpPr>
          <p:nvPr>
            <p:ph type="sldNum" sz="quarter" idx="12"/>
          </p:nvPr>
        </p:nvSpPr>
        <p:spPr/>
        <p:txBody>
          <a:bodyPr/>
          <a:lstStyle>
            <a:lvl1pPr>
              <a:defRPr>
                <a:latin typeface="Microsoft YaHei" panose="020B0503020204020204" pitchFamily="34" charset="-122"/>
                <a:ea typeface="Microsoft YaHei" panose="020B0503020204020204" pitchFamily="34" charset="-122"/>
              </a:defRPr>
            </a:lvl1pPr>
          </a:lstStyle>
          <a:p>
            <a:fld id="{5E4D6AEF-96BF-6F44-8EB2-095946A83C6B}" type="slidenum">
              <a:rPr kumimoji="1" lang="zh-CN" altLang="en-US" smtClean="0"/>
              <a:pPr/>
              <a:t>‹#›</a:t>
            </a:fld>
            <a:endParaRPr kumimoji="1" lang="zh-CN" altLang="en-US"/>
          </a:p>
        </p:txBody>
      </p:sp>
    </p:spTree>
    <p:extLst>
      <p:ext uri="{BB962C8B-B14F-4D97-AF65-F5344CB8AC3E}">
        <p14:creationId xmlns:p14="http://schemas.microsoft.com/office/powerpoint/2010/main" val="240866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CED544-7AF4-1F37-C85C-922D9099C6A2}"/>
              </a:ext>
            </a:extLst>
          </p:cNvPr>
          <p:cNvSpPr>
            <a:spLocks noGrp="1"/>
          </p:cNvSpPr>
          <p:nvPr>
            <p:ph type="title"/>
          </p:nvPr>
        </p:nvSpPr>
        <p:spPr>
          <a:xfrm>
            <a:off x="623888" y="1282700"/>
            <a:ext cx="7886700" cy="2139950"/>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06E4AAC7-EDD8-913C-F7CA-7D7B84E58B6B}"/>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98F17C8C-B6BD-5159-33BF-F742273574AE}"/>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56717544-B996-63C5-02C2-01AF46E665A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B071376-4490-75B6-A232-E89FE6AE732D}"/>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246564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CE737B-37AB-E91D-09BB-3BC336B2BC1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15B75D6-3FFB-D406-B36C-D5DEA28B9104}"/>
              </a:ext>
            </a:extLst>
          </p:cNvPr>
          <p:cNvSpPr>
            <a:spLocks noGrp="1"/>
          </p:cNvSpPr>
          <p:nvPr>
            <p:ph sz="half" idx="1"/>
          </p:nvPr>
        </p:nvSpPr>
        <p:spPr>
          <a:xfrm>
            <a:off x="628650" y="1370013"/>
            <a:ext cx="3867150" cy="3262312"/>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6F7FA96B-3CF5-ABF5-4D84-0B8706D0C357}"/>
              </a:ext>
            </a:extLst>
          </p:cNvPr>
          <p:cNvSpPr>
            <a:spLocks noGrp="1"/>
          </p:cNvSpPr>
          <p:nvPr>
            <p:ph sz="half" idx="2"/>
          </p:nvPr>
        </p:nvSpPr>
        <p:spPr>
          <a:xfrm>
            <a:off x="4648200" y="1370013"/>
            <a:ext cx="3867150" cy="3262312"/>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326D427A-B596-C059-1743-ED0788452117}"/>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6" name="页脚占位符 5">
            <a:extLst>
              <a:ext uri="{FF2B5EF4-FFF2-40B4-BE49-F238E27FC236}">
                <a16:creationId xmlns:a16="http://schemas.microsoft.com/office/drawing/2014/main" id="{ED9E3BC4-302F-4ECD-A1C6-7DDE84348E0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CD30B55-BDEF-4806-5187-C20611F6781E}"/>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562970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442E18-F965-82DB-8445-4B705195677B}"/>
              </a:ext>
            </a:extLst>
          </p:cNvPr>
          <p:cNvSpPr>
            <a:spLocks noGrp="1"/>
          </p:cNvSpPr>
          <p:nvPr>
            <p:ph type="title"/>
          </p:nvPr>
        </p:nvSpPr>
        <p:spPr>
          <a:xfrm>
            <a:off x="630238" y="274638"/>
            <a:ext cx="7886700" cy="993775"/>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8CC999B-05DA-EAFF-E31C-FCA9E61C70AC}"/>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698D98F0-D337-254F-D8EE-2A69629C2645}"/>
              </a:ext>
            </a:extLst>
          </p:cNvPr>
          <p:cNvSpPr>
            <a:spLocks noGrp="1"/>
          </p:cNvSpPr>
          <p:nvPr>
            <p:ph sz="half" idx="2"/>
          </p:nvPr>
        </p:nvSpPr>
        <p:spPr>
          <a:xfrm>
            <a:off x="630238" y="1879600"/>
            <a:ext cx="3868737" cy="2762250"/>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0DE8915-5AD3-503E-E554-5FAE3DA2FE44}"/>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BDDED0AB-75EE-7F92-347B-31250F55FC86}"/>
              </a:ext>
            </a:extLst>
          </p:cNvPr>
          <p:cNvSpPr>
            <a:spLocks noGrp="1"/>
          </p:cNvSpPr>
          <p:nvPr>
            <p:ph sz="quarter" idx="4"/>
          </p:nvPr>
        </p:nvSpPr>
        <p:spPr>
          <a:xfrm>
            <a:off x="4629150" y="1879600"/>
            <a:ext cx="3887788" cy="2762250"/>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725EC75-CFC3-205E-E89B-9EE881458EC8}"/>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8" name="页脚占位符 7">
            <a:extLst>
              <a:ext uri="{FF2B5EF4-FFF2-40B4-BE49-F238E27FC236}">
                <a16:creationId xmlns:a16="http://schemas.microsoft.com/office/drawing/2014/main" id="{97D16864-A164-E4AF-67C3-92E642493F0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A9FD7D92-855B-829A-08F7-8438951F00A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1098412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F3D8CD-A021-6048-FEAA-F8D769FA6F4E}"/>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4906212A-2388-F748-C031-2726A973D222}"/>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4" name="页脚占位符 3">
            <a:extLst>
              <a:ext uri="{FF2B5EF4-FFF2-40B4-BE49-F238E27FC236}">
                <a16:creationId xmlns:a16="http://schemas.microsoft.com/office/drawing/2014/main" id="{5832B23A-BA68-C10D-424C-68D40A3DD9D4}"/>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0B5CE0FD-D4DC-EF06-81DD-F4024227DBD4}"/>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4167270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C6786A0-5BD1-A934-990A-693BF6F4AA58}"/>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3" name="页脚占位符 2">
            <a:extLst>
              <a:ext uri="{FF2B5EF4-FFF2-40B4-BE49-F238E27FC236}">
                <a16:creationId xmlns:a16="http://schemas.microsoft.com/office/drawing/2014/main" id="{4FC308B4-5DC2-C1FD-00A9-ABDE4167C5C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C3CA0C5-1531-25DA-DCFA-AB2596B45E5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895377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FB56D2-5451-6FA7-CFE5-D33A5092D1B1}"/>
              </a:ext>
            </a:extLst>
          </p:cNvPr>
          <p:cNvSpPr>
            <a:spLocks noGrp="1"/>
          </p:cNvSpPr>
          <p:nvPr>
            <p:ph type="title"/>
          </p:nvPr>
        </p:nvSpPr>
        <p:spPr>
          <a:xfrm>
            <a:off x="630238" y="342900"/>
            <a:ext cx="2949575" cy="120015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B6EE3269-34F1-5026-40AD-47F2FF060F10}"/>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DCA5EC7-2435-42CD-7DCC-FE4D3BC9A91E}"/>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00E7A35-CAE0-3004-8567-FF93557609A1}"/>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6" name="页脚占位符 5">
            <a:extLst>
              <a:ext uri="{FF2B5EF4-FFF2-40B4-BE49-F238E27FC236}">
                <a16:creationId xmlns:a16="http://schemas.microsoft.com/office/drawing/2014/main" id="{AC899ED9-EE45-B800-BD98-1F46D40569B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56210FE-A293-FF74-B239-6ABF6CB0E227}"/>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6253248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475620-A6CE-4F9D-7854-C257E4F17D4C}"/>
              </a:ext>
            </a:extLst>
          </p:cNvPr>
          <p:cNvSpPr>
            <a:spLocks noGrp="1"/>
          </p:cNvSpPr>
          <p:nvPr>
            <p:ph type="title"/>
          </p:nvPr>
        </p:nvSpPr>
        <p:spPr>
          <a:xfrm>
            <a:off x="630238" y="342900"/>
            <a:ext cx="2949575" cy="120015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BCE01EC-DF29-0F4E-1AD8-1389EBCFF41B}"/>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32D98552-5972-F210-F913-701E660FE962}"/>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428ED3A-C182-BDDC-8F1E-A10F25CE1CA5}"/>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6" name="页脚占位符 5">
            <a:extLst>
              <a:ext uri="{FF2B5EF4-FFF2-40B4-BE49-F238E27FC236}">
                <a16:creationId xmlns:a16="http://schemas.microsoft.com/office/drawing/2014/main" id="{C7110357-3DC8-AF80-3EE0-D4A3E9228D8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DF2BD2B-2D37-71F1-BE6A-CC763011B792}"/>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4849135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B02AE-3FF7-5CB9-E92C-9EB1B3F9C798}"/>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42C3DBD-CC41-35F3-781A-D22973DA4AE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AB570F3-CFAD-5690-8DD9-A284FAA6D5AF}"/>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530D9D1E-9191-AFAF-A1BF-EAD2362F112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04E1718-6DBA-269D-24F1-A485B3AAD046}"/>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3712214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6A9AD65-A5B6-D86E-15AF-4685D903DA17}"/>
              </a:ext>
            </a:extLst>
          </p:cNvPr>
          <p:cNvSpPr>
            <a:spLocks noGrp="1"/>
          </p:cNvSpPr>
          <p:nvPr>
            <p:ph type="title" orient="vert"/>
          </p:nvPr>
        </p:nvSpPr>
        <p:spPr>
          <a:xfrm>
            <a:off x="6543675" y="274638"/>
            <a:ext cx="1971675" cy="4357687"/>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B1B135F-567D-A3FA-205D-EF12A6DC59D5}"/>
              </a:ext>
            </a:extLst>
          </p:cNvPr>
          <p:cNvSpPr>
            <a:spLocks noGrp="1"/>
          </p:cNvSpPr>
          <p:nvPr>
            <p:ph type="body" orient="vert" idx="1"/>
          </p:nvPr>
        </p:nvSpPr>
        <p:spPr>
          <a:xfrm>
            <a:off x="628650" y="274638"/>
            <a:ext cx="5762625" cy="4357687"/>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ECC707C-F2E6-0EC4-8990-9447419C91DA}"/>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E6D21827-BAC7-CA1A-8E90-A85D23CA220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251A12E-406F-BB74-FEBD-0EC52AD7A1E1}"/>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4552759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5188244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0113260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094296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6247991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5215403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3915401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6426189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693536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468423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6825402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3779241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2123439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047041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9264479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9784899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7125343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8648040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0464190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0917684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2374140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1139610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97817521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2884821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5208348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778103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2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2525170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4422817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14420321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2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13735218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8392237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5381894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4675691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8158493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53736952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3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1424733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3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97229679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3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5399620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3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1673104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3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5137805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4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9802271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4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32846645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4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3222648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4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90716329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4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03246768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4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02621597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4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34731116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4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1952084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4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35741051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4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86961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9.xml"/><Relationship Id="rId18" Type="http://schemas.openxmlformats.org/officeDocument/2006/relationships/slideLayout" Target="../slideLayouts/slideLayout24.xml"/><Relationship Id="rId26" Type="http://schemas.openxmlformats.org/officeDocument/2006/relationships/slideLayout" Target="../slideLayouts/slideLayout32.xml"/><Relationship Id="rId39" Type="http://schemas.openxmlformats.org/officeDocument/2006/relationships/slideLayout" Target="../slideLayouts/slideLayout45.xml"/><Relationship Id="rId21" Type="http://schemas.openxmlformats.org/officeDocument/2006/relationships/slideLayout" Target="../slideLayouts/slideLayout27.xml"/><Relationship Id="rId34" Type="http://schemas.openxmlformats.org/officeDocument/2006/relationships/slideLayout" Target="../slideLayouts/slideLayout40.xml"/><Relationship Id="rId42" Type="http://schemas.openxmlformats.org/officeDocument/2006/relationships/slideLayout" Target="../slideLayouts/slideLayout48.xml"/><Relationship Id="rId47" Type="http://schemas.openxmlformats.org/officeDocument/2006/relationships/slideLayout" Target="../slideLayouts/slideLayout53.xml"/><Relationship Id="rId50" Type="http://schemas.openxmlformats.org/officeDocument/2006/relationships/slideLayout" Target="../slideLayouts/slideLayout56.xml"/><Relationship Id="rId55" Type="http://schemas.openxmlformats.org/officeDocument/2006/relationships/slideLayout" Target="../slideLayouts/slideLayout61.xml"/><Relationship Id="rId63" Type="http://schemas.openxmlformats.org/officeDocument/2006/relationships/image" Target="../media/image2.png"/><Relationship Id="rId7" Type="http://schemas.openxmlformats.org/officeDocument/2006/relationships/slideLayout" Target="../slideLayouts/slideLayout1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9" Type="http://schemas.openxmlformats.org/officeDocument/2006/relationships/slideLayout" Target="../slideLayouts/slideLayout35.xml"/><Relationship Id="rId11" Type="http://schemas.openxmlformats.org/officeDocument/2006/relationships/slideLayout" Target="../slideLayouts/slideLayout17.xml"/><Relationship Id="rId24" Type="http://schemas.openxmlformats.org/officeDocument/2006/relationships/slideLayout" Target="../slideLayouts/slideLayout30.xml"/><Relationship Id="rId32" Type="http://schemas.openxmlformats.org/officeDocument/2006/relationships/slideLayout" Target="../slideLayouts/slideLayout38.xml"/><Relationship Id="rId37" Type="http://schemas.openxmlformats.org/officeDocument/2006/relationships/slideLayout" Target="../slideLayouts/slideLayout43.xml"/><Relationship Id="rId40" Type="http://schemas.openxmlformats.org/officeDocument/2006/relationships/slideLayout" Target="../slideLayouts/slideLayout46.xml"/><Relationship Id="rId45" Type="http://schemas.openxmlformats.org/officeDocument/2006/relationships/slideLayout" Target="../slideLayouts/slideLayout51.xml"/><Relationship Id="rId53" Type="http://schemas.openxmlformats.org/officeDocument/2006/relationships/slideLayout" Target="../slideLayouts/slideLayout59.xml"/><Relationship Id="rId58" Type="http://schemas.openxmlformats.org/officeDocument/2006/relationships/slideLayout" Target="../slideLayouts/slideLayout64.xml"/><Relationship Id="rId5" Type="http://schemas.openxmlformats.org/officeDocument/2006/relationships/slideLayout" Target="../slideLayouts/slideLayout11.xml"/><Relationship Id="rId61" Type="http://schemas.openxmlformats.org/officeDocument/2006/relationships/theme" Target="../theme/theme2.xml"/><Relationship Id="rId19" Type="http://schemas.openxmlformats.org/officeDocument/2006/relationships/slideLayout" Target="../slideLayouts/slideLayout25.xml"/><Relationship Id="rId14" Type="http://schemas.openxmlformats.org/officeDocument/2006/relationships/slideLayout" Target="../slideLayouts/slideLayout20.xml"/><Relationship Id="rId22" Type="http://schemas.openxmlformats.org/officeDocument/2006/relationships/slideLayout" Target="../slideLayouts/slideLayout28.xml"/><Relationship Id="rId27" Type="http://schemas.openxmlformats.org/officeDocument/2006/relationships/slideLayout" Target="../slideLayouts/slideLayout33.xml"/><Relationship Id="rId30" Type="http://schemas.openxmlformats.org/officeDocument/2006/relationships/slideLayout" Target="../slideLayouts/slideLayout36.xml"/><Relationship Id="rId35" Type="http://schemas.openxmlformats.org/officeDocument/2006/relationships/slideLayout" Target="../slideLayouts/slideLayout41.xml"/><Relationship Id="rId43" Type="http://schemas.openxmlformats.org/officeDocument/2006/relationships/slideLayout" Target="../slideLayouts/slideLayout49.xml"/><Relationship Id="rId48" Type="http://schemas.openxmlformats.org/officeDocument/2006/relationships/slideLayout" Target="../slideLayouts/slideLayout54.xml"/><Relationship Id="rId56" Type="http://schemas.openxmlformats.org/officeDocument/2006/relationships/slideLayout" Target="../slideLayouts/slideLayout62.xml"/><Relationship Id="rId64" Type="http://schemas.openxmlformats.org/officeDocument/2006/relationships/image" Target="../media/image3.png"/><Relationship Id="rId8" Type="http://schemas.openxmlformats.org/officeDocument/2006/relationships/slideLayout" Target="../slideLayouts/slideLayout14.xml"/><Relationship Id="rId51" Type="http://schemas.openxmlformats.org/officeDocument/2006/relationships/slideLayout" Target="../slideLayouts/slideLayout57.xml"/><Relationship Id="rId3" Type="http://schemas.openxmlformats.org/officeDocument/2006/relationships/slideLayout" Target="../slideLayouts/slideLayout9.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5" Type="http://schemas.openxmlformats.org/officeDocument/2006/relationships/slideLayout" Target="../slideLayouts/slideLayout31.xml"/><Relationship Id="rId33" Type="http://schemas.openxmlformats.org/officeDocument/2006/relationships/slideLayout" Target="../slideLayouts/slideLayout39.xml"/><Relationship Id="rId38" Type="http://schemas.openxmlformats.org/officeDocument/2006/relationships/slideLayout" Target="../slideLayouts/slideLayout44.xml"/><Relationship Id="rId46" Type="http://schemas.openxmlformats.org/officeDocument/2006/relationships/slideLayout" Target="../slideLayouts/slideLayout52.xml"/><Relationship Id="rId59" Type="http://schemas.openxmlformats.org/officeDocument/2006/relationships/slideLayout" Target="../slideLayouts/slideLayout65.xml"/><Relationship Id="rId20" Type="http://schemas.openxmlformats.org/officeDocument/2006/relationships/slideLayout" Target="../slideLayouts/slideLayout26.xml"/><Relationship Id="rId41" Type="http://schemas.openxmlformats.org/officeDocument/2006/relationships/slideLayout" Target="../slideLayouts/slideLayout47.xml"/><Relationship Id="rId54" Type="http://schemas.openxmlformats.org/officeDocument/2006/relationships/slideLayout" Target="../slideLayouts/slideLayout60.xml"/><Relationship Id="rId6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slideLayout" Target="../slideLayouts/slideLayout12.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28" Type="http://schemas.openxmlformats.org/officeDocument/2006/relationships/slideLayout" Target="../slideLayouts/slideLayout34.xml"/><Relationship Id="rId36" Type="http://schemas.openxmlformats.org/officeDocument/2006/relationships/slideLayout" Target="../slideLayouts/slideLayout42.xml"/><Relationship Id="rId49" Type="http://schemas.openxmlformats.org/officeDocument/2006/relationships/slideLayout" Target="../slideLayouts/slideLayout55.xml"/><Relationship Id="rId57" Type="http://schemas.openxmlformats.org/officeDocument/2006/relationships/slideLayout" Target="../slideLayouts/slideLayout63.xml"/><Relationship Id="rId10" Type="http://schemas.openxmlformats.org/officeDocument/2006/relationships/slideLayout" Target="../slideLayouts/slideLayout16.xml"/><Relationship Id="rId31" Type="http://schemas.openxmlformats.org/officeDocument/2006/relationships/slideLayout" Target="../slideLayouts/slideLayout37.xml"/><Relationship Id="rId44" Type="http://schemas.openxmlformats.org/officeDocument/2006/relationships/slideLayout" Target="../slideLayouts/slideLayout50.xml"/><Relationship Id="rId52" Type="http://schemas.openxmlformats.org/officeDocument/2006/relationships/slideLayout" Target="../slideLayouts/slideLayout58.xml"/><Relationship Id="rId60" Type="http://schemas.openxmlformats.org/officeDocument/2006/relationships/slideLayout" Target="../slideLayouts/slideLayout6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77A5E09-A989-EE50-CBE0-5B84B7C6B823}"/>
              </a:ext>
            </a:extLst>
          </p:cNvPr>
          <p:cNvSpPr/>
          <p:nvPr userDrawn="1"/>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D5EB4511-BE1F-4AF2-1BFB-CE1AC6C1889A}"/>
              </a:ext>
            </a:extLst>
          </p:cNvPr>
          <p:cNvSpPr/>
          <p:nvPr userDrawn="1"/>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Shape 2">
            <a:extLst>
              <a:ext uri="{FF2B5EF4-FFF2-40B4-BE49-F238E27FC236}">
                <a16:creationId xmlns:a16="http://schemas.microsoft.com/office/drawing/2014/main" id="{7A46D629-FC4C-A26C-9ED7-964E26D8BC0B}"/>
              </a:ext>
            </a:extLst>
          </p:cNvPr>
          <p:cNvSpPr/>
          <p:nvPr userDrawn="1"/>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36A6941C-C507-20E9-7488-DC37410E8AAD}"/>
              </a:ext>
            </a:extLst>
          </p:cNvPr>
          <p:cNvSpPr/>
          <p:nvPr userDrawn="1"/>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C59E6006-31EA-7EC3-5B42-9B15E3826870}"/>
              </a:ext>
            </a:extLst>
          </p:cNvPr>
          <p:cNvSpPr/>
          <p:nvPr userDrawn="1"/>
        </p:nvSpPr>
        <p:spPr>
          <a:xfrm>
            <a:off x="967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F66885E7-16D3-570C-6E0C-5CEA1E47D30E}"/>
              </a:ext>
            </a:extLst>
          </p:cNvPr>
          <p:cNvSpPr/>
          <p:nvPr userDrawn="1"/>
        </p:nvSpPr>
        <p:spPr>
          <a:xfrm>
            <a:off x="532368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Text 10">
            <a:extLst>
              <a:ext uri="{FF2B5EF4-FFF2-40B4-BE49-F238E27FC236}">
                <a16:creationId xmlns:a16="http://schemas.microsoft.com/office/drawing/2014/main" id="{FDDDED04-DE6D-8A23-9734-CBD8EC18AFBB}"/>
              </a:ext>
            </a:extLst>
          </p:cNvPr>
          <p:cNvSpPr txBox="1"/>
          <p:nvPr userDrawn="1"/>
        </p:nvSpPr>
        <p:spPr>
          <a:xfrm>
            <a:off x="850696" y="1132005"/>
            <a:ext cx="7458075" cy="1143000"/>
          </a:xfrm>
          <a:prstGeom prst="rect">
            <a:avLst/>
          </a:prstGeom>
          <a:noFill/>
          <a:ln/>
        </p:spPr>
        <p:txBody>
          <a:bodyPr wrap="square" lIns="0" tIns="0" rIns="0" bIns="0" rtlCol="0" anchor="t">
            <a:spAutoFit/>
          </a:bodyPr>
          <a:lstStyle/>
          <a:p>
            <a:pPr marL="0" indent="0" algn="ctr">
              <a:lnSpc>
                <a:spcPct val="96000"/>
              </a:lnSpc>
              <a:buNone/>
            </a:pPr>
            <a:r>
              <a:rPr lang="en-US" sz="7500" b="1" dirty="0" err="1">
                <a:solidFill>
                  <a:srgbClr val="148577"/>
                </a:solidFill>
                <a:latin typeface="Microsoft YaHei" panose="020B0503020204020204" pitchFamily="34" charset="-122"/>
                <a:ea typeface="Microsoft YaHei" panose="020B0503020204020204" pitchFamily="34" charset="-122"/>
                <a:cs typeface="SourceHanSansSC-Regular"/>
              </a:rPr>
              <a:t>现代数据库系统</a:t>
            </a:r>
            <a:endParaRPr lang="en-US" sz="7500" dirty="0">
              <a:latin typeface="Microsoft YaHei" panose="020B0503020204020204" pitchFamily="34" charset="-122"/>
              <a:ea typeface="Microsoft YaHei" panose="020B0503020204020204" pitchFamily="34" charset="-122"/>
            </a:endParaRPr>
          </a:p>
        </p:txBody>
      </p:sp>
      <p:sp>
        <p:nvSpPr>
          <p:cNvPr id="12" name="Shape 11">
            <a:extLst>
              <a:ext uri="{FF2B5EF4-FFF2-40B4-BE49-F238E27FC236}">
                <a16:creationId xmlns:a16="http://schemas.microsoft.com/office/drawing/2014/main" id="{4A7A420D-D20D-ACF1-0AD2-FBB5D50E3E47}"/>
              </a:ext>
            </a:extLst>
          </p:cNvPr>
          <p:cNvSpPr/>
          <p:nvPr userDrawn="1"/>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2">
            <a:extLst>
              <a:ext uri="{FF2B5EF4-FFF2-40B4-BE49-F238E27FC236}">
                <a16:creationId xmlns:a16="http://schemas.microsoft.com/office/drawing/2014/main" id="{B24FEC78-DC58-F365-B3A6-CF612C3C3D3D}"/>
              </a:ext>
            </a:extLst>
          </p:cNvPr>
          <p:cNvSpPr/>
          <p:nvPr userDrawn="1"/>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3">
            <a:extLst>
              <a:ext uri="{FF2B5EF4-FFF2-40B4-BE49-F238E27FC236}">
                <a16:creationId xmlns:a16="http://schemas.microsoft.com/office/drawing/2014/main" id="{E5E5AD7E-2EDB-102E-868E-5EDD3D3A5750}"/>
              </a:ext>
            </a:extLst>
          </p:cNvPr>
          <p:cNvSpPr/>
          <p:nvPr userDrawn="1"/>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4">
            <a:extLst>
              <a:ext uri="{FF2B5EF4-FFF2-40B4-BE49-F238E27FC236}">
                <a16:creationId xmlns:a16="http://schemas.microsoft.com/office/drawing/2014/main" id="{6C0F6275-88C0-7C5A-C40B-0CAAB8E69EA0}"/>
              </a:ext>
            </a:extLst>
          </p:cNvPr>
          <p:cNvSpPr/>
          <p:nvPr userDrawn="1"/>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16" name="图片 15" descr="徽标&#10;&#10;AI 生成的内容可能不正确。">
            <a:extLst>
              <a:ext uri="{FF2B5EF4-FFF2-40B4-BE49-F238E27FC236}">
                <a16:creationId xmlns:a16="http://schemas.microsoft.com/office/drawing/2014/main" id="{EDE98BE7-674A-84A1-2E7B-FBEBE4418739}"/>
              </a:ext>
            </a:extLst>
          </p:cNvPr>
          <p:cNvPicPr>
            <a:picLocks noChangeAspect="1"/>
          </p:cNvPicPr>
          <p:nvPr userDrawn="1"/>
        </p:nvPicPr>
        <p:blipFill>
          <a:blip r:embed="rId8"/>
          <a:stretch>
            <a:fillRect/>
          </a:stretch>
        </p:blipFill>
        <p:spPr>
          <a:xfrm>
            <a:off x="4202034" y="220502"/>
            <a:ext cx="720574" cy="71890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75" r:id="rId2"/>
    <p:sldLayoutId id="2147483676" r:id="rId3"/>
    <p:sldLayoutId id="2147483677" r:id="rId4"/>
    <p:sldLayoutId id="2147483678" r:id="rId5"/>
    <p:sldLayoutId id="2147483679"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hape 3">
            <a:extLst>
              <a:ext uri="{FF2B5EF4-FFF2-40B4-BE49-F238E27FC236}">
                <a16:creationId xmlns:a16="http://schemas.microsoft.com/office/drawing/2014/main" id="{48BD775E-A6BB-AF91-6EFC-2B063F82EC31}"/>
              </a:ext>
            </a:extLst>
          </p:cNvPr>
          <p:cNvSpPr/>
          <p:nvPr userDrawn="1"/>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4">
            <a:extLst>
              <a:ext uri="{FF2B5EF4-FFF2-40B4-BE49-F238E27FC236}">
                <a16:creationId xmlns:a16="http://schemas.microsoft.com/office/drawing/2014/main" id="{54166899-177E-5114-DE19-9E2BA37EF7E6}"/>
              </a:ext>
            </a:extLst>
          </p:cNvPr>
          <p:cNvSpPr/>
          <p:nvPr userDrawn="1"/>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5">
            <a:extLst>
              <a:ext uri="{FF2B5EF4-FFF2-40B4-BE49-F238E27FC236}">
                <a16:creationId xmlns:a16="http://schemas.microsoft.com/office/drawing/2014/main" id="{4146F1E0-B708-B4FD-784D-C33CB18C5AC5}"/>
              </a:ext>
            </a:extLst>
          </p:cNvPr>
          <p:cNvSpPr/>
          <p:nvPr userDrawn="1"/>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6">
            <a:extLst>
              <a:ext uri="{FF2B5EF4-FFF2-40B4-BE49-F238E27FC236}">
                <a16:creationId xmlns:a16="http://schemas.microsoft.com/office/drawing/2014/main" id="{6C647A5F-A889-47DE-8145-E069CC2035D5}"/>
              </a:ext>
            </a:extLst>
          </p:cNvPr>
          <p:cNvSpPr/>
          <p:nvPr userDrawn="1"/>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 name="标题占位符 1">
            <a:extLst>
              <a:ext uri="{FF2B5EF4-FFF2-40B4-BE49-F238E27FC236}">
                <a16:creationId xmlns:a16="http://schemas.microsoft.com/office/drawing/2014/main" id="{2278CDFA-2A25-E47E-291E-DAD5455582A9}"/>
              </a:ext>
            </a:extLst>
          </p:cNvPr>
          <p:cNvSpPr>
            <a:spLocks noGrp="1"/>
          </p:cNvSpPr>
          <p:nvPr>
            <p:ph type="title"/>
          </p:nvPr>
        </p:nvSpPr>
        <p:spPr>
          <a:xfrm>
            <a:off x="636384" y="496310"/>
            <a:ext cx="7886700" cy="450000"/>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484D4848-4095-B8A8-7601-736321C30B2A}"/>
              </a:ext>
            </a:extLst>
          </p:cNvPr>
          <p:cNvSpPr>
            <a:spLocks noGrp="1"/>
          </p:cNvSpPr>
          <p:nvPr>
            <p:ph type="body" idx="1"/>
          </p:nvPr>
        </p:nvSpPr>
        <p:spPr>
          <a:xfrm>
            <a:off x="628650" y="1042761"/>
            <a:ext cx="7886700" cy="371155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06C317BE-E462-2C75-5469-1C523508EF1F}"/>
              </a:ext>
            </a:extLst>
          </p:cNvPr>
          <p:cNvSpPr>
            <a:spLocks noGrp="1"/>
          </p:cNvSpPr>
          <p:nvPr>
            <p:ph type="dt" sz="half" idx="2"/>
          </p:nvPr>
        </p:nvSpPr>
        <p:spPr>
          <a:xfrm>
            <a:off x="108180" y="4837864"/>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32C5F372-D9EE-804B-82F0-7EE97B9B327A}"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B4B16873-C63D-E592-2399-19A9BA46FA3E}"/>
              </a:ext>
            </a:extLst>
          </p:cNvPr>
          <p:cNvSpPr>
            <a:spLocks noGrp="1"/>
          </p:cNvSpPr>
          <p:nvPr>
            <p:ph type="ftr" sz="quarter" idx="3"/>
          </p:nvPr>
        </p:nvSpPr>
        <p:spPr>
          <a:xfrm>
            <a:off x="2418580" y="4837864"/>
            <a:ext cx="4309321"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17976924-03DF-39F8-46BE-34E7CD690DC7}"/>
              </a:ext>
            </a:extLst>
          </p:cNvPr>
          <p:cNvSpPr>
            <a:spLocks noGrp="1"/>
          </p:cNvSpPr>
          <p:nvPr>
            <p:ph type="sldNum" sz="quarter" idx="4"/>
          </p:nvPr>
        </p:nvSpPr>
        <p:spPr>
          <a:xfrm>
            <a:off x="6976475" y="4837864"/>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E4D6AEF-96BF-6F44-8EB2-095946A83C6B}" type="slidenum">
              <a:rPr kumimoji="1" lang="zh-CN" altLang="en-US" smtClean="0"/>
              <a:t>‹#›</a:t>
            </a:fld>
            <a:endParaRPr kumimoji="1" lang="zh-CN" altLang="en-US"/>
          </a:p>
        </p:txBody>
      </p:sp>
      <p:sp>
        <p:nvSpPr>
          <p:cNvPr id="14" name="Shape 7">
            <a:extLst>
              <a:ext uri="{FF2B5EF4-FFF2-40B4-BE49-F238E27FC236}">
                <a16:creationId xmlns:a16="http://schemas.microsoft.com/office/drawing/2014/main" id="{1F21A128-D704-BDA2-A63B-684FE57E79B8}"/>
              </a:ext>
            </a:extLst>
          </p:cNvPr>
          <p:cNvSpPr/>
          <p:nvPr userDrawn="1"/>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8">
            <a:extLst>
              <a:ext uri="{FF2B5EF4-FFF2-40B4-BE49-F238E27FC236}">
                <a16:creationId xmlns:a16="http://schemas.microsoft.com/office/drawing/2014/main" id="{14A059BF-47BE-5BB1-8DA8-90126974B398}"/>
              </a:ext>
            </a:extLst>
          </p:cNvPr>
          <p:cNvSpPr/>
          <p:nvPr userDrawn="1"/>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9">
            <a:extLst>
              <a:ext uri="{FF2B5EF4-FFF2-40B4-BE49-F238E27FC236}">
                <a16:creationId xmlns:a16="http://schemas.microsoft.com/office/drawing/2014/main" id="{A7018654-3D44-3124-08A9-CA34B688DD24}"/>
              </a:ext>
            </a:extLst>
          </p:cNvPr>
          <p:cNvSpPr/>
          <p:nvPr userDrawn="1"/>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Shape 10">
            <a:extLst>
              <a:ext uri="{FF2B5EF4-FFF2-40B4-BE49-F238E27FC236}">
                <a16:creationId xmlns:a16="http://schemas.microsoft.com/office/drawing/2014/main" id="{7E5317B9-228B-7072-CC18-E34F4B4EBA25}"/>
              </a:ext>
            </a:extLst>
          </p:cNvPr>
          <p:cNvSpPr/>
          <p:nvPr userDrawn="1"/>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24" name="图片 23" descr="徽标&#10;&#10;AI 生成的内容可能不正确。">
            <a:extLst>
              <a:ext uri="{FF2B5EF4-FFF2-40B4-BE49-F238E27FC236}">
                <a16:creationId xmlns:a16="http://schemas.microsoft.com/office/drawing/2014/main" id="{62C8AEBD-E604-303F-0750-962701B7B3EC}"/>
              </a:ext>
            </a:extLst>
          </p:cNvPr>
          <p:cNvPicPr>
            <a:picLocks noChangeAspect="1"/>
          </p:cNvPicPr>
          <p:nvPr userDrawn="1"/>
        </p:nvPicPr>
        <p:blipFill>
          <a:blip r:embed="rId62"/>
          <a:stretch>
            <a:fillRect/>
          </a:stretch>
        </p:blipFill>
        <p:spPr>
          <a:xfrm>
            <a:off x="108180" y="119599"/>
            <a:ext cx="334861" cy="334084"/>
          </a:xfrm>
          <a:prstGeom prst="rect">
            <a:avLst/>
          </a:prstGeom>
        </p:spPr>
      </p:pic>
      <p:pic>
        <p:nvPicPr>
          <p:cNvPr id="26" name="图片 25" descr="图标&#10;&#10;AI 生成的内容可能不正确。">
            <a:extLst>
              <a:ext uri="{FF2B5EF4-FFF2-40B4-BE49-F238E27FC236}">
                <a16:creationId xmlns:a16="http://schemas.microsoft.com/office/drawing/2014/main" id="{14CEF7CC-1A6F-833C-43E2-2A43880720CF}"/>
              </a:ext>
            </a:extLst>
          </p:cNvPr>
          <p:cNvPicPr>
            <a:picLocks noChangeAspect="1"/>
          </p:cNvPicPr>
          <p:nvPr userDrawn="1"/>
        </p:nvPicPr>
        <p:blipFill>
          <a:blip r:embed="rId63"/>
          <a:stretch>
            <a:fillRect/>
          </a:stretch>
        </p:blipFill>
        <p:spPr>
          <a:xfrm>
            <a:off x="502271" y="173422"/>
            <a:ext cx="775858" cy="226438"/>
          </a:xfrm>
          <a:prstGeom prst="rect">
            <a:avLst/>
          </a:prstGeom>
        </p:spPr>
      </p:pic>
      <p:pic>
        <p:nvPicPr>
          <p:cNvPr id="27" name="图片 26">
            <a:extLst>
              <a:ext uri="{FF2B5EF4-FFF2-40B4-BE49-F238E27FC236}">
                <a16:creationId xmlns:a16="http://schemas.microsoft.com/office/drawing/2014/main" id="{E1E95B03-867E-A128-6B62-0A757D65EE27}"/>
              </a:ext>
            </a:extLst>
          </p:cNvPr>
          <p:cNvPicPr>
            <a:picLocks noChangeAspect="1"/>
          </p:cNvPicPr>
          <p:nvPr userDrawn="1"/>
        </p:nvPicPr>
        <p:blipFill>
          <a:blip r:embed="rId64">
            <a:extLst>
              <a:ext uri="{28A0092B-C50C-407E-A947-70E740481C1C}">
                <a14:useLocalDpi xmlns:a14="http://schemas.microsoft.com/office/drawing/2010/main" val="0"/>
              </a:ext>
            </a:extLst>
          </a:blip>
          <a:stretch>
            <a:fillRect/>
          </a:stretch>
        </p:blipFill>
        <p:spPr>
          <a:xfrm>
            <a:off x="7083469" y="109496"/>
            <a:ext cx="398937" cy="303725"/>
          </a:xfrm>
          <a:prstGeom prst="rect">
            <a:avLst/>
          </a:prstGeom>
        </p:spPr>
      </p:pic>
      <p:sp>
        <p:nvSpPr>
          <p:cNvPr id="28" name="文本框 27">
            <a:extLst>
              <a:ext uri="{FF2B5EF4-FFF2-40B4-BE49-F238E27FC236}">
                <a16:creationId xmlns:a16="http://schemas.microsoft.com/office/drawing/2014/main" id="{621E1DA3-B30E-3828-B884-151B4CA5132C}"/>
              </a:ext>
            </a:extLst>
          </p:cNvPr>
          <p:cNvSpPr txBox="1"/>
          <p:nvPr userDrawn="1"/>
        </p:nvSpPr>
        <p:spPr>
          <a:xfrm>
            <a:off x="7482406" y="148141"/>
            <a:ext cx="1723549" cy="276999"/>
          </a:xfrm>
          <a:prstGeom prst="rect">
            <a:avLst/>
          </a:prstGeom>
          <a:noFill/>
        </p:spPr>
        <p:txBody>
          <a:bodyPr wrap="none" rtlCol="0">
            <a:spAutoFit/>
          </a:bodyPr>
          <a:lstStyle/>
          <a:p>
            <a:r>
              <a:rPr kumimoji="1" lang="zh-CN" altLang="en-US" sz="1200" b="1" dirty="0">
                <a:solidFill>
                  <a:srgbClr val="C00000"/>
                </a:solidFill>
                <a:latin typeface="Microsoft YaHei" panose="020B0503020204020204" pitchFamily="34" charset="-122"/>
                <a:ea typeface="Microsoft YaHei" panose="020B0503020204020204" pitchFamily="34" charset="-122"/>
              </a:rPr>
              <a:t>珞珈图腾数据库实验室</a:t>
            </a:r>
          </a:p>
        </p:txBody>
      </p:sp>
    </p:spTree>
    <p:extLst>
      <p:ext uri="{BB962C8B-B14F-4D97-AF65-F5344CB8AC3E}">
        <p14:creationId xmlns:p14="http://schemas.microsoft.com/office/powerpoint/2010/main" val="1716981101"/>
      </p:ext>
    </p:extLst>
  </p:cSld>
  <p:clrMap bg1="lt1" tx1="dk1" bg2="lt2" tx2="dk2" accent1="accent1" accent2="accent2" accent3="accent3" accent4="accent4" accent5="accent5" accent6="accent6" hlink="hlink" folHlink="folHlink"/>
  <p:sldLayoutIdLst>
    <p:sldLayoutId id="2147483674"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0" r:id="rId32"/>
    <p:sldLayoutId id="2147483701" r:id="rId33"/>
    <p:sldLayoutId id="2147483702" r:id="rId34"/>
    <p:sldLayoutId id="2147483703" r:id="rId35"/>
    <p:sldLayoutId id="2147483704" r:id="rId36"/>
    <p:sldLayoutId id="2147483705" r:id="rId37"/>
    <p:sldLayoutId id="2147483706" r:id="rId38"/>
    <p:sldLayoutId id="2147483707" r:id="rId39"/>
    <p:sldLayoutId id="2147483708" r:id="rId40"/>
    <p:sldLayoutId id="2147483709" r:id="rId41"/>
    <p:sldLayoutId id="2147483710" r:id="rId42"/>
    <p:sldLayoutId id="2147483711" r:id="rId43"/>
    <p:sldLayoutId id="2147483712" r:id="rId44"/>
    <p:sldLayoutId id="2147483713" r:id="rId45"/>
    <p:sldLayoutId id="2147483714" r:id="rId46"/>
    <p:sldLayoutId id="2147483715" r:id="rId47"/>
    <p:sldLayoutId id="2147483716" r:id="rId48"/>
    <p:sldLayoutId id="2147483717" r:id="rId49"/>
    <p:sldLayoutId id="2147483718" r:id="rId50"/>
    <p:sldLayoutId id="2147483719" r:id="rId51"/>
    <p:sldLayoutId id="2147483720" r:id="rId52"/>
    <p:sldLayoutId id="2147483721" r:id="rId53"/>
    <p:sldLayoutId id="2147483722" r:id="rId54"/>
    <p:sldLayoutId id="2147483723" r:id="rId55"/>
    <p:sldLayoutId id="2147483724" r:id="rId56"/>
    <p:sldLayoutId id="2147483725" r:id="rId57"/>
    <p:sldLayoutId id="2147483726" r:id="rId58"/>
    <p:sldLayoutId id="2147483727" r:id="rId59"/>
    <p:sldLayoutId id="2147483728" r:id="rId60"/>
  </p:sldLayoutIdLst>
  <p:txStyles>
    <p:titleStyle>
      <a:lvl1pPr algn="l" defTabSz="914400" rtl="0" eaLnBrk="1" latinLnBrk="0" hangingPunct="1">
        <a:lnSpc>
          <a:spcPct val="90000"/>
        </a:lnSpc>
        <a:spcBef>
          <a:spcPct val="0"/>
        </a:spcBef>
        <a:buNone/>
        <a:defRPr sz="2500" b="1" kern="1200">
          <a:solidFill>
            <a:srgbClr val="00B0F0"/>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4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4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50.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51.xml"/></Relationships>
</file>

<file path=ppt/slides/_rels/slide1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5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5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5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55.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5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57.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5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5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1.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2.xml"/></Relationships>
</file>

<file path=ppt/slides/_rels/slide5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slideLayout" Target="../slideLayouts/slideLayout8.xml"/><Relationship Id="rId1" Type="http://schemas.openxmlformats.org/officeDocument/2006/relationships/tags" Target="../tags/tag16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6.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 name="Shape 1"/>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Shape 2"/>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3"/>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p:cNvSpPr/>
          <p:nvPr/>
        </p:nvSpPr>
        <p:spPr>
          <a:xfrm>
            <a:off x="967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p:cNvSpPr/>
          <p:nvPr/>
        </p:nvSpPr>
        <p:spPr>
          <a:xfrm>
            <a:off x="532368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7"/>
          <p:cNvSpPr txBox="1"/>
          <p:nvPr/>
        </p:nvSpPr>
        <p:spPr>
          <a:xfrm>
            <a:off x="850696" y="2405632"/>
            <a:ext cx="7458075" cy="642035"/>
          </a:xfrm>
          <a:prstGeom prst="rect">
            <a:avLst/>
          </a:prstGeom>
          <a:noFill/>
          <a:ln/>
        </p:spPr>
        <p:txBody>
          <a:bodyPr wrap="square" lIns="0" tIns="0" rIns="0" bIns="0" rtlCol="0" anchor="t">
            <a:spAutoFit/>
          </a:bodyPr>
          <a:lstStyle/>
          <a:p>
            <a:pPr marL="0" indent="0" algn="ctr">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数据库设计</a:t>
            </a:r>
            <a:endParaRPr lang="en-US" sz="4346" dirty="0">
              <a:latin typeface="Microsoft YaHei" panose="020B0503020204020204" pitchFamily="34" charset="-122"/>
              <a:ea typeface="Microsoft YaHei" panose="020B0503020204020204" pitchFamily="34" charset="-122"/>
            </a:endParaRPr>
          </a:p>
        </p:txBody>
      </p:sp>
      <p:sp>
        <p:nvSpPr>
          <p:cNvPr id="10" name="Text 8"/>
          <p:cNvSpPr txBox="1"/>
          <p:nvPr/>
        </p:nvSpPr>
        <p:spPr>
          <a:xfrm>
            <a:off x="3415301" y="3365015"/>
            <a:ext cx="2328863" cy="864147"/>
          </a:xfrm>
          <a:prstGeom prst="rect">
            <a:avLst/>
          </a:prstGeom>
          <a:noFill/>
          <a:ln/>
        </p:spPr>
        <p:txBody>
          <a:bodyPr wrap="square" lIns="0" tIns="0" rIns="0" bIns="0" rtlCol="0" anchor="t">
            <a:spAutoFit/>
          </a:bodyPr>
          <a:lstStyle/>
          <a:p>
            <a:pPr marL="0" indent="0" algn="ctr">
              <a:lnSpc>
                <a:spcPct val="96000"/>
              </a:lnSpc>
              <a:buNone/>
            </a:pPr>
            <a:r>
              <a:rPr lang="zh-CN" altLang="en-US" b="1" dirty="0">
                <a:solidFill>
                  <a:srgbClr val="4E4646"/>
                </a:solidFill>
                <a:latin typeface="Microsoft YaHei" panose="020B0503020204020204" pitchFamily="34" charset="-122"/>
                <a:ea typeface="Microsoft YaHei" panose="020B0503020204020204" pitchFamily="34" charset="-122"/>
                <a:cs typeface="SourceHanSansSC-Regular"/>
              </a:rPr>
              <a:t>彭煜玮</a:t>
            </a:r>
            <a:endParaRPr lang="en-US" altLang="zh-CN" b="1" dirty="0">
              <a:solidFill>
                <a:srgbClr val="4E4646"/>
              </a:solidFill>
              <a:latin typeface="Microsoft YaHei" panose="020B0503020204020204" pitchFamily="34" charset="-122"/>
              <a:ea typeface="Microsoft YaHei" panose="020B0503020204020204" pitchFamily="34" charset="-122"/>
              <a:cs typeface="SourceHanSansSC-Regular"/>
            </a:endParaRPr>
          </a:p>
          <a:p>
            <a:pPr marL="0" indent="0" algn="ctr">
              <a:lnSpc>
                <a:spcPct val="96000"/>
              </a:lnSpc>
              <a:buNone/>
            </a:pPr>
            <a:r>
              <a:rPr lang="en-US" altLang="zh-CN" sz="1350" dirty="0" err="1">
                <a:solidFill>
                  <a:srgbClr val="4E4646"/>
                </a:solidFill>
                <a:latin typeface="Microsoft YaHei" panose="020B0503020204020204" pitchFamily="34" charset="-122"/>
                <a:ea typeface="Microsoft YaHei" panose="020B0503020204020204" pitchFamily="34" charset="-122"/>
                <a:cs typeface="SourceHanSansSC-Regular"/>
              </a:rPr>
              <a:t>ywpeng@whu.edu.cn</a:t>
            </a:r>
            <a:endParaRPr lang="en-US" altLang="zh-CN" sz="1350" dirty="0">
              <a:solidFill>
                <a:srgbClr val="4E4646"/>
              </a:solidFill>
              <a:latin typeface="Microsoft YaHei" panose="020B0503020204020204" pitchFamily="34" charset="-122"/>
              <a:ea typeface="Microsoft YaHei" panose="020B0503020204020204" pitchFamily="34" charset="-122"/>
              <a:cs typeface="SourceHanSansSC-Regular"/>
            </a:endParaRPr>
          </a:p>
          <a:p>
            <a:pPr marL="0" indent="0" algn="ctr">
              <a:lnSpc>
                <a:spcPct val="96000"/>
              </a:lnSpc>
              <a:buNone/>
            </a:pPr>
            <a:r>
              <a:rPr lang="zh-CN" altLang="en-US" sz="1350" dirty="0">
                <a:solidFill>
                  <a:srgbClr val="4E4646"/>
                </a:solidFill>
                <a:latin typeface="Microsoft YaHei" panose="020B0503020204020204" pitchFamily="34" charset="-122"/>
                <a:ea typeface="Microsoft YaHei" panose="020B0503020204020204" pitchFamily="34" charset="-122"/>
              </a:rPr>
              <a:t>珞珈图腾数据库实验室</a:t>
            </a:r>
            <a:endParaRPr lang="en-US" altLang="zh-CN" sz="1350" dirty="0">
              <a:solidFill>
                <a:srgbClr val="4E4646"/>
              </a:solidFill>
              <a:latin typeface="Microsoft YaHei" panose="020B0503020204020204" pitchFamily="34" charset="-122"/>
              <a:ea typeface="Microsoft YaHei" panose="020B0503020204020204" pitchFamily="34" charset="-122"/>
            </a:endParaRPr>
          </a:p>
          <a:p>
            <a:pPr marL="0" indent="0" algn="ctr">
              <a:lnSpc>
                <a:spcPct val="96000"/>
              </a:lnSpc>
              <a:buNone/>
            </a:pPr>
            <a:r>
              <a:rPr lang="en-US" altLang="zh-CN" sz="1350" dirty="0">
                <a:solidFill>
                  <a:srgbClr val="4E4646"/>
                </a:solidFill>
                <a:latin typeface="Microsoft YaHei" panose="020B0503020204020204" pitchFamily="34" charset="-122"/>
                <a:ea typeface="Microsoft YaHei" panose="020B0503020204020204" pitchFamily="34" charset="-122"/>
              </a:rPr>
              <a:t>2025.9.1</a:t>
            </a:r>
            <a:endParaRPr lang="en-US" sz="1350" dirty="0">
              <a:latin typeface="Microsoft YaHei" panose="020B0503020204020204" pitchFamily="34" charset="-122"/>
              <a:ea typeface="Microsoft YaHei" panose="020B0503020204020204" pitchFamily="34" charset="-122"/>
            </a:endParaRPr>
          </a:p>
        </p:txBody>
      </p:sp>
      <p:sp>
        <p:nvSpPr>
          <p:cNvPr id="12" name="Text 10"/>
          <p:cNvSpPr txBox="1"/>
          <p:nvPr/>
        </p:nvSpPr>
        <p:spPr>
          <a:xfrm>
            <a:off x="850696" y="1132005"/>
            <a:ext cx="7458075" cy="1143000"/>
          </a:xfrm>
          <a:prstGeom prst="rect">
            <a:avLst/>
          </a:prstGeom>
          <a:noFill/>
          <a:ln/>
        </p:spPr>
        <p:txBody>
          <a:bodyPr wrap="square" lIns="0" tIns="0" rIns="0" bIns="0" rtlCol="0" anchor="t">
            <a:spAutoFit/>
          </a:bodyPr>
          <a:lstStyle/>
          <a:p>
            <a:pPr marL="0" indent="0" algn="ctr">
              <a:lnSpc>
                <a:spcPct val="96000"/>
              </a:lnSpc>
              <a:buNone/>
            </a:pPr>
            <a:r>
              <a:rPr lang="en-US" sz="7500" b="1" dirty="0" err="1">
                <a:solidFill>
                  <a:srgbClr val="148577"/>
                </a:solidFill>
                <a:latin typeface="Microsoft YaHei" panose="020B0503020204020204" pitchFamily="34" charset="-122"/>
                <a:ea typeface="Microsoft YaHei" panose="020B0503020204020204" pitchFamily="34" charset="-122"/>
                <a:cs typeface="SourceHanSansSC-Regular"/>
              </a:rPr>
              <a:t>现代数据库系统</a:t>
            </a:r>
            <a:endParaRPr lang="en-US" sz="7500" dirty="0">
              <a:latin typeface="Microsoft YaHei" panose="020B0503020204020204" pitchFamily="34" charset="-122"/>
              <a:ea typeface="Microsoft YaHei" panose="020B0503020204020204" pitchFamily="34" charset="-122"/>
            </a:endParaRPr>
          </a:p>
        </p:txBody>
      </p:sp>
      <p:sp>
        <p:nvSpPr>
          <p:cNvPr id="13" name="Shape 11"/>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18" name="图片 17" descr="徽标&#10;&#10;AI 生成的内容可能不正确。">
            <a:extLst>
              <a:ext uri="{FF2B5EF4-FFF2-40B4-BE49-F238E27FC236}">
                <a16:creationId xmlns:a16="http://schemas.microsoft.com/office/drawing/2014/main" id="{7F51767B-B579-4F1A-972C-0571B613E027}"/>
              </a:ext>
            </a:extLst>
          </p:cNvPr>
          <p:cNvPicPr>
            <a:picLocks noChangeAspect="1"/>
          </p:cNvPicPr>
          <p:nvPr/>
        </p:nvPicPr>
        <p:blipFill>
          <a:blip r:embed="rId3"/>
          <a:stretch>
            <a:fillRect/>
          </a:stretch>
        </p:blipFill>
        <p:spPr>
          <a:xfrm>
            <a:off x="4202034" y="220502"/>
            <a:ext cx="720574" cy="7189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BEA37-B35A-461E-1D24-C13D7EC8588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9000886-AFFD-56BD-B952-DA7210E3E4FC}"/>
              </a:ext>
            </a:extLst>
          </p:cNvPr>
          <p:cNvSpPr/>
          <p:nvPr/>
        </p:nvSpPr>
        <p:spPr>
          <a:xfrm>
            <a:off x="0" y="0"/>
            <a:ext cx="2793931" cy="5137945"/>
          </a:xfrm>
          <a:custGeom>
            <a:avLst/>
            <a:gdLst/>
            <a:ahLst/>
            <a:cxnLst/>
            <a:rect l="l" t="t" r="r" b="b"/>
            <a:pathLst>
              <a:path w="2793931" h="5137945">
                <a:moveTo>
                  <a:pt x="0" y="0"/>
                </a:moveTo>
                <a:lnTo>
                  <a:pt x="0" y="5137945"/>
                </a:lnTo>
                <a:lnTo>
                  <a:pt x="2793931" y="5137945"/>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3" name="Image 0" descr="//img.tukuppt.com/aippt_uploads/55004950/24/11/16/67383893e246f.png">
            <a:extLst>
              <a:ext uri="{FF2B5EF4-FFF2-40B4-BE49-F238E27FC236}">
                <a16:creationId xmlns:a16="http://schemas.microsoft.com/office/drawing/2014/main" id="{03F35EAD-5834-1449-36DA-1D10B7CA70C1}"/>
              </a:ext>
            </a:extLst>
          </p:cNvPr>
          <p:cNvPicPr>
            <a:picLocks noChangeAspect="1"/>
          </p:cNvPicPr>
          <p:nvPr/>
        </p:nvPicPr>
        <p:blipFill>
          <a:blip r:embed="rId3"/>
          <a:stretch>
            <a:fillRect/>
          </a:stretch>
        </p:blipFill>
        <p:spPr>
          <a:xfrm>
            <a:off x="238269" y="0"/>
            <a:ext cx="5168105" cy="5130104"/>
          </a:xfrm>
          <a:prstGeom prst="rect">
            <a:avLst/>
          </a:prstGeom>
        </p:spPr>
      </p:pic>
      <p:sp>
        <p:nvSpPr>
          <p:cNvPr id="4" name="Shape 1">
            <a:extLst>
              <a:ext uri="{FF2B5EF4-FFF2-40B4-BE49-F238E27FC236}">
                <a16:creationId xmlns:a16="http://schemas.microsoft.com/office/drawing/2014/main" id="{448AEA9C-9DD2-33B3-EC02-608EF99CCE25}"/>
              </a:ext>
            </a:extLst>
          </p:cNvPr>
          <p:cNvSpPr/>
          <p:nvPr/>
        </p:nvSpPr>
        <p:spPr>
          <a:xfrm>
            <a:off x="3501757" y="1839391"/>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2">
            <a:extLst>
              <a:ext uri="{FF2B5EF4-FFF2-40B4-BE49-F238E27FC236}">
                <a16:creationId xmlns:a16="http://schemas.microsoft.com/office/drawing/2014/main" id="{EF92AF7E-451F-E748-BA2E-401C504E4DDA}"/>
              </a:ext>
            </a:extLst>
          </p:cNvPr>
          <p:cNvSpPr/>
          <p:nvPr/>
        </p:nvSpPr>
        <p:spPr>
          <a:xfrm>
            <a:off x="3909365" y="2610735"/>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3">
            <a:extLst>
              <a:ext uri="{FF2B5EF4-FFF2-40B4-BE49-F238E27FC236}">
                <a16:creationId xmlns:a16="http://schemas.microsoft.com/office/drawing/2014/main" id="{F61FA37D-075D-14BD-9645-F1C81C19CE65}"/>
              </a:ext>
            </a:extLst>
          </p:cNvPr>
          <p:cNvSpPr/>
          <p:nvPr/>
        </p:nvSpPr>
        <p:spPr>
          <a:xfrm>
            <a:off x="4287972" y="3395018"/>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4">
            <a:extLst>
              <a:ext uri="{FF2B5EF4-FFF2-40B4-BE49-F238E27FC236}">
                <a16:creationId xmlns:a16="http://schemas.microsoft.com/office/drawing/2014/main" id="{C667756B-9411-48D2-3564-A82E17B753C3}"/>
              </a:ext>
            </a:extLst>
          </p:cNvPr>
          <p:cNvSpPr/>
          <p:nvPr/>
        </p:nvSpPr>
        <p:spPr>
          <a:xfrm>
            <a:off x="4646246" y="4061067"/>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6">
            <a:extLst>
              <a:ext uri="{FF2B5EF4-FFF2-40B4-BE49-F238E27FC236}">
                <a16:creationId xmlns:a16="http://schemas.microsoft.com/office/drawing/2014/main" id="{502E12E3-3875-727C-3AFC-A29B00A4EAC4}"/>
              </a:ext>
            </a:extLst>
          </p:cNvPr>
          <p:cNvSpPr txBox="1"/>
          <p:nvPr/>
        </p:nvSpPr>
        <p:spPr>
          <a:xfrm>
            <a:off x="3552478" y="1956787"/>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a:t>
            </a:r>
            <a:r>
              <a:rPr lang="en-US" altLang="zh-CN" sz="1800" b="1" dirty="0">
                <a:solidFill>
                  <a:srgbClr val="FFFFFF"/>
                </a:solidFill>
                <a:latin typeface="Microsoft YaHei" panose="020B0503020204020204" pitchFamily="34" charset="-122"/>
                <a:ea typeface="Microsoft YaHei" panose="020B0503020204020204" pitchFamily="34" charset="-122"/>
                <a:cs typeface="SourceHanSansSC-Regular"/>
              </a:rPr>
              <a:t>3</a:t>
            </a:r>
            <a:endParaRPr lang="en-US" sz="1800" dirty="0">
              <a:latin typeface="Microsoft YaHei" panose="020B0503020204020204" pitchFamily="34" charset="-122"/>
              <a:ea typeface="Microsoft YaHei" panose="020B0503020204020204" pitchFamily="34" charset="-122"/>
            </a:endParaRPr>
          </a:p>
        </p:txBody>
      </p:sp>
      <p:sp>
        <p:nvSpPr>
          <p:cNvPr id="10" name="Text 7">
            <a:extLst>
              <a:ext uri="{FF2B5EF4-FFF2-40B4-BE49-F238E27FC236}">
                <a16:creationId xmlns:a16="http://schemas.microsoft.com/office/drawing/2014/main" id="{18187866-10A3-BE3C-1D06-10E193335959}"/>
              </a:ext>
            </a:extLst>
          </p:cNvPr>
          <p:cNvSpPr txBox="1"/>
          <p:nvPr/>
        </p:nvSpPr>
        <p:spPr>
          <a:xfrm>
            <a:off x="3960086" y="2728131"/>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a:t>
            </a:r>
            <a:r>
              <a:rPr lang="en-US" altLang="zh-CN" sz="1800" b="1" dirty="0">
                <a:solidFill>
                  <a:srgbClr val="FFFFFF"/>
                </a:solidFill>
                <a:latin typeface="Microsoft YaHei" panose="020B0503020204020204" pitchFamily="34" charset="-122"/>
                <a:ea typeface="Microsoft YaHei" panose="020B0503020204020204" pitchFamily="34" charset="-122"/>
                <a:cs typeface="SourceHanSansSC-Regular"/>
              </a:rPr>
              <a:t>4</a:t>
            </a:r>
            <a:endParaRPr lang="en-US" sz="1800" dirty="0">
              <a:latin typeface="Microsoft YaHei" panose="020B0503020204020204" pitchFamily="34" charset="-122"/>
              <a:ea typeface="Microsoft YaHei" panose="020B0503020204020204" pitchFamily="34" charset="-122"/>
            </a:endParaRPr>
          </a:p>
        </p:txBody>
      </p:sp>
      <p:sp>
        <p:nvSpPr>
          <p:cNvPr id="11" name="Text 8">
            <a:extLst>
              <a:ext uri="{FF2B5EF4-FFF2-40B4-BE49-F238E27FC236}">
                <a16:creationId xmlns:a16="http://schemas.microsoft.com/office/drawing/2014/main" id="{9C2A02D7-A019-7510-A4B4-C1297A2AD4DB}"/>
              </a:ext>
            </a:extLst>
          </p:cNvPr>
          <p:cNvSpPr txBox="1"/>
          <p:nvPr/>
        </p:nvSpPr>
        <p:spPr>
          <a:xfrm>
            <a:off x="4342694" y="3512414"/>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a:t>
            </a:r>
            <a:r>
              <a:rPr lang="en-US" altLang="zh-CN" sz="1800" b="1" dirty="0">
                <a:solidFill>
                  <a:srgbClr val="FFFFFF"/>
                </a:solidFill>
                <a:latin typeface="Microsoft YaHei" panose="020B0503020204020204" pitchFamily="34" charset="-122"/>
                <a:ea typeface="Microsoft YaHei" panose="020B0503020204020204" pitchFamily="34" charset="-122"/>
                <a:cs typeface="SourceHanSansSC-Regular"/>
              </a:rPr>
              <a:t>5</a:t>
            </a:r>
            <a:endParaRPr lang="en-US" sz="1800" dirty="0">
              <a:latin typeface="Microsoft YaHei" panose="020B0503020204020204" pitchFamily="34" charset="-122"/>
              <a:ea typeface="Microsoft YaHei" panose="020B0503020204020204" pitchFamily="34" charset="-122"/>
            </a:endParaRPr>
          </a:p>
        </p:txBody>
      </p:sp>
      <p:sp>
        <p:nvSpPr>
          <p:cNvPr id="12" name="Text 9">
            <a:extLst>
              <a:ext uri="{FF2B5EF4-FFF2-40B4-BE49-F238E27FC236}">
                <a16:creationId xmlns:a16="http://schemas.microsoft.com/office/drawing/2014/main" id="{8E862182-2E4F-2ECA-503D-327F44343547}"/>
              </a:ext>
            </a:extLst>
          </p:cNvPr>
          <p:cNvSpPr txBox="1"/>
          <p:nvPr/>
        </p:nvSpPr>
        <p:spPr>
          <a:xfrm>
            <a:off x="4696967" y="4178463"/>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a:t>
            </a:r>
            <a:r>
              <a:rPr lang="en-US" altLang="zh-CN" sz="1800" b="1" dirty="0">
                <a:solidFill>
                  <a:srgbClr val="FFFFFF"/>
                </a:solidFill>
                <a:latin typeface="Microsoft YaHei" panose="020B0503020204020204" pitchFamily="34" charset="-122"/>
                <a:ea typeface="Microsoft YaHei" panose="020B0503020204020204" pitchFamily="34" charset="-122"/>
                <a:cs typeface="SourceHanSansSC-Regular"/>
              </a:rPr>
              <a:t>6</a:t>
            </a:r>
            <a:endParaRPr lang="en-US" sz="1800" dirty="0">
              <a:latin typeface="Microsoft YaHei" panose="020B0503020204020204" pitchFamily="34" charset="-122"/>
              <a:ea typeface="Microsoft YaHei" panose="020B0503020204020204" pitchFamily="34" charset="-122"/>
            </a:endParaRPr>
          </a:p>
        </p:txBody>
      </p:sp>
      <p:sp>
        <p:nvSpPr>
          <p:cNvPr id="14" name="Text 11">
            <a:extLst>
              <a:ext uri="{FF2B5EF4-FFF2-40B4-BE49-F238E27FC236}">
                <a16:creationId xmlns:a16="http://schemas.microsoft.com/office/drawing/2014/main" id="{17138A35-2F47-02F9-F0EC-FF8863E74859}"/>
              </a:ext>
            </a:extLst>
          </p:cNvPr>
          <p:cNvSpPr txBox="1"/>
          <p:nvPr/>
        </p:nvSpPr>
        <p:spPr>
          <a:xfrm>
            <a:off x="7639544" y="1813676"/>
            <a:ext cx="952500" cy="1233488"/>
          </a:xfrm>
          <a:prstGeom prst="rect">
            <a:avLst/>
          </a:prstGeom>
          <a:noFill/>
          <a:ln/>
        </p:spPr>
        <p:txBody>
          <a:bodyPr wrap="square" lIns="0" tIns="0" rIns="0" bIns="0" rtlCol="0" anchor="t">
            <a:spAutoFit/>
          </a:bodyPr>
          <a:lstStyle/>
          <a:p>
            <a:pPr marL="0" indent="0" algn="ctr">
              <a:lnSpc>
                <a:spcPct val="96000"/>
              </a:lnSpc>
              <a:buNone/>
            </a:pPr>
            <a:r>
              <a:rPr lang="zh-CN" altLang="en-US" sz="4050" b="1" dirty="0">
                <a:solidFill>
                  <a:srgbClr val="FD5220"/>
                </a:solidFill>
                <a:latin typeface="Microsoft YaHei" panose="020B0503020204020204" pitchFamily="34" charset="-122"/>
                <a:ea typeface="Microsoft YaHei" panose="020B0503020204020204" pitchFamily="34" charset="-122"/>
                <a:cs typeface="SourceHanSansSC-Regular"/>
              </a:rPr>
              <a:t>目录</a:t>
            </a:r>
            <a:endParaRPr lang="en-US" sz="4050" dirty="0">
              <a:latin typeface="Microsoft YaHei" panose="020B0503020204020204" pitchFamily="34" charset="-122"/>
              <a:ea typeface="Microsoft YaHei" panose="020B0503020204020204" pitchFamily="34" charset="-122"/>
            </a:endParaRPr>
          </a:p>
        </p:txBody>
      </p:sp>
      <p:sp>
        <p:nvSpPr>
          <p:cNvPr id="15" name="Text 12">
            <a:extLst>
              <a:ext uri="{FF2B5EF4-FFF2-40B4-BE49-F238E27FC236}">
                <a16:creationId xmlns:a16="http://schemas.microsoft.com/office/drawing/2014/main" id="{EA1B1183-E5C6-D0DD-E1B3-F3C319386763}"/>
              </a:ext>
            </a:extLst>
          </p:cNvPr>
          <p:cNvSpPr txBox="1"/>
          <p:nvPr/>
        </p:nvSpPr>
        <p:spPr>
          <a:xfrm rot="5400000">
            <a:off x="7762079" y="2279595"/>
            <a:ext cx="1880497" cy="265907"/>
          </a:xfrm>
          <a:prstGeom prst="rect">
            <a:avLst/>
          </a:prstGeom>
          <a:noFill/>
          <a:ln/>
        </p:spPr>
        <p:txBody>
          <a:bodyPr wrap="square" lIns="0" tIns="0" rIns="0" bIns="0" rtlCol="0" anchor="t">
            <a:spAutoFit/>
          </a:bodyPr>
          <a:lstStyle/>
          <a:p>
            <a:pPr marL="0" indent="0" algn="ctr">
              <a:lnSpc>
                <a:spcPct val="96000"/>
              </a:lnSpc>
              <a:buNone/>
            </a:pPr>
            <a:r>
              <a:rPr lang="en" altLang="en-US" sz="1800" b="1" kern="0" spc="525" dirty="0">
                <a:solidFill>
                  <a:srgbClr val="FD5220"/>
                </a:solidFill>
                <a:latin typeface="Microsoft YaHei" panose="020B0503020204020204" pitchFamily="34" charset="-122"/>
                <a:ea typeface="Microsoft YaHei" panose="020B0503020204020204" pitchFamily="34" charset="-122"/>
                <a:cs typeface="SourceHanSansSC-Regular"/>
              </a:rPr>
              <a:t>CONTENTS</a:t>
            </a:r>
            <a:endParaRPr lang="en-US" sz="1800" dirty="0">
              <a:latin typeface="Microsoft YaHei" panose="020B0503020204020204" pitchFamily="34" charset="-122"/>
              <a:ea typeface="Microsoft YaHei" panose="020B0503020204020204" pitchFamily="34" charset="-122"/>
            </a:endParaRPr>
          </a:p>
        </p:txBody>
      </p:sp>
      <p:sp>
        <p:nvSpPr>
          <p:cNvPr id="16" name="Text 13">
            <a:extLst>
              <a:ext uri="{FF2B5EF4-FFF2-40B4-BE49-F238E27FC236}">
                <a16:creationId xmlns:a16="http://schemas.microsoft.com/office/drawing/2014/main" id="{283B7563-B89B-B00F-0CF1-EE66E2BA755A}"/>
              </a:ext>
            </a:extLst>
          </p:cNvPr>
          <p:cNvSpPr txBox="1"/>
          <p:nvPr/>
        </p:nvSpPr>
        <p:spPr>
          <a:xfrm>
            <a:off x="4386574" y="1912351"/>
            <a:ext cx="3181350"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概念设计</a:t>
            </a:r>
            <a:endParaRPr lang="en-US" sz="1800" dirty="0">
              <a:latin typeface="Microsoft YaHei" panose="020B0503020204020204" pitchFamily="34" charset="-122"/>
              <a:ea typeface="Microsoft YaHei" panose="020B0503020204020204" pitchFamily="34" charset="-122"/>
            </a:endParaRPr>
          </a:p>
        </p:txBody>
      </p:sp>
      <p:sp>
        <p:nvSpPr>
          <p:cNvPr id="17" name="Text 14">
            <a:extLst>
              <a:ext uri="{FF2B5EF4-FFF2-40B4-BE49-F238E27FC236}">
                <a16:creationId xmlns:a16="http://schemas.microsoft.com/office/drawing/2014/main" id="{97F12135-AFBA-A1FF-77B6-1DC359B1B730}"/>
              </a:ext>
            </a:extLst>
          </p:cNvPr>
          <p:cNvSpPr txBox="1"/>
          <p:nvPr/>
        </p:nvSpPr>
        <p:spPr>
          <a:xfrm>
            <a:off x="4838618" y="2737852"/>
            <a:ext cx="2995613" cy="265907"/>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逻辑设计</a:t>
            </a:r>
            <a:endParaRPr lang="en-US" sz="1800" dirty="0">
              <a:latin typeface="Microsoft YaHei" panose="020B0503020204020204" pitchFamily="34" charset="-122"/>
              <a:ea typeface="Microsoft YaHei" panose="020B0503020204020204" pitchFamily="34" charset="-122"/>
            </a:endParaRPr>
          </a:p>
        </p:txBody>
      </p:sp>
      <p:sp>
        <p:nvSpPr>
          <p:cNvPr id="18" name="Text 15">
            <a:extLst>
              <a:ext uri="{FF2B5EF4-FFF2-40B4-BE49-F238E27FC236}">
                <a16:creationId xmlns:a16="http://schemas.microsoft.com/office/drawing/2014/main" id="{8401A08A-D327-49A0-3425-DE3180ECB0E7}"/>
              </a:ext>
            </a:extLst>
          </p:cNvPr>
          <p:cNvSpPr txBox="1"/>
          <p:nvPr/>
        </p:nvSpPr>
        <p:spPr>
          <a:xfrm>
            <a:off x="5183898" y="3465201"/>
            <a:ext cx="3081338"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物理设计</a:t>
            </a:r>
            <a:endParaRPr lang="en-US" sz="1800" dirty="0">
              <a:latin typeface="Microsoft YaHei" panose="020B0503020204020204" pitchFamily="34" charset="-122"/>
              <a:ea typeface="Microsoft YaHei" panose="020B0503020204020204" pitchFamily="34" charset="-122"/>
            </a:endParaRPr>
          </a:p>
        </p:txBody>
      </p:sp>
      <p:sp>
        <p:nvSpPr>
          <p:cNvPr id="19" name="Text 16">
            <a:extLst>
              <a:ext uri="{FF2B5EF4-FFF2-40B4-BE49-F238E27FC236}">
                <a16:creationId xmlns:a16="http://schemas.microsoft.com/office/drawing/2014/main" id="{C3906962-A359-10A3-A733-E6D5568BADBA}"/>
              </a:ext>
            </a:extLst>
          </p:cNvPr>
          <p:cNvSpPr txBox="1"/>
          <p:nvPr/>
        </p:nvSpPr>
        <p:spPr>
          <a:xfrm>
            <a:off x="5542172" y="4124306"/>
            <a:ext cx="2857500"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数据库实施和运维</a:t>
            </a:r>
            <a:endParaRPr lang="en-US" sz="1800" dirty="0">
              <a:latin typeface="Microsoft YaHei" panose="020B0503020204020204" pitchFamily="34" charset="-122"/>
              <a:ea typeface="Microsoft YaHei" panose="020B0503020204020204" pitchFamily="34" charset="-122"/>
            </a:endParaRPr>
          </a:p>
        </p:txBody>
      </p:sp>
      <p:sp>
        <p:nvSpPr>
          <p:cNvPr id="21" name="Shape 1">
            <a:extLst>
              <a:ext uri="{FF2B5EF4-FFF2-40B4-BE49-F238E27FC236}">
                <a16:creationId xmlns:a16="http://schemas.microsoft.com/office/drawing/2014/main" id="{FDB5C274-4575-DA34-BCC3-DA17763DFDFC}"/>
              </a:ext>
            </a:extLst>
          </p:cNvPr>
          <p:cNvSpPr/>
          <p:nvPr/>
        </p:nvSpPr>
        <p:spPr>
          <a:xfrm>
            <a:off x="2658400" y="230790"/>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2" name="Text 6">
            <a:extLst>
              <a:ext uri="{FF2B5EF4-FFF2-40B4-BE49-F238E27FC236}">
                <a16:creationId xmlns:a16="http://schemas.microsoft.com/office/drawing/2014/main" id="{69365F20-5BE8-2D7E-5272-421C204AB810}"/>
              </a:ext>
            </a:extLst>
          </p:cNvPr>
          <p:cNvSpPr txBox="1"/>
          <p:nvPr/>
        </p:nvSpPr>
        <p:spPr>
          <a:xfrm>
            <a:off x="2709121" y="348186"/>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01</a:t>
            </a:r>
            <a:endParaRPr lang="en-US" sz="1800" dirty="0">
              <a:latin typeface="Microsoft YaHei" panose="020B0503020204020204" pitchFamily="34" charset="-122"/>
              <a:ea typeface="Microsoft YaHei" panose="020B0503020204020204" pitchFamily="34" charset="-122"/>
            </a:endParaRPr>
          </a:p>
        </p:txBody>
      </p:sp>
      <p:sp>
        <p:nvSpPr>
          <p:cNvPr id="23" name="Text 13">
            <a:extLst>
              <a:ext uri="{FF2B5EF4-FFF2-40B4-BE49-F238E27FC236}">
                <a16:creationId xmlns:a16="http://schemas.microsoft.com/office/drawing/2014/main" id="{3D6DD840-26F9-8395-6BCD-79DCD8E8960E}"/>
              </a:ext>
            </a:extLst>
          </p:cNvPr>
          <p:cNvSpPr txBox="1"/>
          <p:nvPr/>
        </p:nvSpPr>
        <p:spPr>
          <a:xfrm>
            <a:off x="3543217" y="303750"/>
            <a:ext cx="3181350"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数据库设计概述</a:t>
            </a:r>
            <a:endParaRPr lang="en-US" sz="1800" dirty="0">
              <a:latin typeface="Microsoft YaHei" panose="020B0503020204020204" pitchFamily="34" charset="-122"/>
              <a:ea typeface="Microsoft YaHei" panose="020B0503020204020204" pitchFamily="34" charset="-122"/>
            </a:endParaRPr>
          </a:p>
        </p:txBody>
      </p:sp>
      <p:sp>
        <p:nvSpPr>
          <p:cNvPr id="24" name="Shape 1">
            <a:extLst>
              <a:ext uri="{FF2B5EF4-FFF2-40B4-BE49-F238E27FC236}">
                <a16:creationId xmlns:a16="http://schemas.microsoft.com/office/drawing/2014/main" id="{D775566D-4B0F-1318-7DCC-3F94A73D6EBC}"/>
              </a:ext>
            </a:extLst>
          </p:cNvPr>
          <p:cNvSpPr/>
          <p:nvPr/>
        </p:nvSpPr>
        <p:spPr>
          <a:xfrm>
            <a:off x="3046403" y="1048477"/>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5" name="Text 6">
            <a:extLst>
              <a:ext uri="{FF2B5EF4-FFF2-40B4-BE49-F238E27FC236}">
                <a16:creationId xmlns:a16="http://schemas.microsoft.com/office/drawing/2014/main" id="{8533E682-91B3-34D3-5797-E6DDB2EFA88D}"/>
              </a:ext>
            </a:extLst>
          </p:cNvPr>
          <p:cNvSpPr txBox="1"/>
          <p:nvPr/>
        </p:nvSpPr>
        <p:spPr>
          <a:xfrm>
            <a:off x="3097124" y="1165873"/>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a:t>
            </a:r>
            <a:r>
              <a:rPr lang="en-US" altLang="zh-CN" sz="1800" b="1" dirty="0">
                <a:solidFill>
                  <a:srgbClr val="FFFFFF"/>
                </a:solidFill>
                <a:latin typeface="Microsoft YaHei" panose="020B0503020204020204" pitchFamily="34" charset="-122"/>
                <a:ea typeface="Microsoft YaHei" panose="020B0503020204020204" pitchFamily="34" charset="-122"/>
                <a:cs typeface="SourceHanSansSC-Regular"/>
              </a:rPr>
              <a:t>2</a:t>
            </a:r>
            <a:endParaRPr lang="en-US" sz="1800" dirty="0">
              <a:latin typeface="Microsoft YaHei" panose="020B0503020204020204" pitchFamily="34" charset="-122"/>
              <a:ea typeface="Microsoft YaHei" panose="020B0503020204020204" pitchFamily="34" charset="-122"/>
            </a:endParaRPr>
          </a:p>
        </p:txBody>
      </p:sp>
      <p:sp>
        <p:nvSpPr>
          <p:cNvPr id="26" name="Text 13">
            <a:extLst>
              <a:ext uri="{FF2B5EF4-FFF2-40B4-BE49-F238E27FC236}">
                <a16:creationId xmlns:a16="http://schemas.microsoft.com/office/drawing/2014/main" id="{15220F16-F68F-DC22-F8D9-A5472040570A}"/>
              </a:ext>
            </a:extLst>
          </p:cNvPr>
          <p:cNvSpPr txBox="1"/>
          <p:nvPr/>
        </p:nvSpPr>
        <p:spPr>
          <a:xfrm>
            <a:off x="3931220" y="1121437"/>
            <a:ext cx="3181350"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需求分析</a:t>
            </a:r>
            <a:endParaRPr lang="en-US" sz="18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892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20102-CEA7-9237-2A4D-6B67BDFD7F4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602E02F-B5E6-1F96-E8D1-A86175F9C1B6}"/>
              </a:ext>
            </a:extLst>
          </p:cNvPr>
          <p:cNvSpPr txBox="1"/>
          <p:nvPr/>
        </p:nvSpPr>
        <p:spPr>
          <a:xfrm>
            <a:off x="1006545" y="2781596"/>
            <a:ext cx="7458075" cy="661988"/>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数据库设计概述</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9886FB31-DDA5-0A65-6BF2-4A6BDEE6A9F2}"/>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0225BE37-F245-68A1-3549-C0E06A4159AD}"/>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0140D966-92FE-7674-7D0C-FBBB23071BA1}"/>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D258388A-18BF-C361-6174-234C05EF2D1D}"/>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FBC485F7-16C8-391E-693E-5C6A629B2088}"/>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6BFE1F2B-9E06-86F4-BB5A-DB381D24E449}"/>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9F29FAF3-1F68-E46D-49C4-4F3024FB406C}"/>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0ED19DC9-2A1D-7323-3F82-306318EE4C7F}"/>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A80021B7-D735-86E1-DEF0-287660CE8739}"/>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E6DC5780-9A3A-CE59-FF53-FA5E4F3994A0}"/>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1F67DA12-EF29-3B1F-6FE6-531FD4276716}"/>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67A47844-3426-8C7A-B6E1-6FEC7C67E67B}"/>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0DF0B116-19EE-7C57-5259-BB07C6E0611B}"/>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4C21968F-3FEE-A875-7E10-51D30E6DDAAB}"/>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7796788A-CB6E-E531-780B-52C1F9E8C42C}"/>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01</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4755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p:cNvSpPr>
          <p:nvPr>
            <p:ph idx="1"/>
          </p:nvPr>
        </p:nvSpPr>
        <p:spPr/>
        <p:txBody>
          <a:bodyPr vert="horz" wrap="square" lIns="68580" tIns="34290" rIns="68580" bIns="34290" rtlCol="0" anchor="t" anchorCtr="0">
            <a:normAutofit/>
          </a:bodyPr>
          <a:lstStyle/>
          <a:p>
            <a:pPr marL="0" indent="0" defTabSz="685800" fontAlgn="base">
              <a:lnSpc>
                <a:spcPct val="120000"/>
              </a:lnSpc>
              <a:spcBef>
                <a:spcPct val="20000"/>
              </a:spcBef>
              <a:spcAft>
                <a:spcPct val="0"/>
              </a:spcAft>
              <a:buClr>
                <a:schemeClr val="folHlink"/>
              </a:buClr>
              <a:buSzPct val="60000"/>
              <a:buNone/>
            </a:pPr>
            <a:r>
              <a:rPr lang="zh-CN" altLang="en-US" sz="1800" kern="0" noProof="1"/>
              <a:t>数据库设计是指对于一个给定的应用环境，构造（设计）最优的数据模型，然后据此建立数据库及其应用系统，使之能够有效地存储数据，满足各种用户的应用需求。 </a:t>
            </a:r>
          </a:p>
          <a:p>
            <a:pPr marL="0" indent="-257175" defTabSz="685800" fontAlgn="base">
              <a:lnSpc>
                <a:spcPct val="120000"/>
              </a:lnSpc>
              <a:spcBef>
                <a:spcPct val="20000"/>
              </a:spcBef>
              <a:spcAft>
                <a:spcPct val="0"/>
              </a:spcAft>
              <a:buClr>
                <a:schemeClr val="folHlink"/>
              </a:buClr>
              <a:buSzPct val="60000"/>
              <a:buFont typeface="Wingdings" panose="05000000000000000000" pitchFamily="2" charset="2"/>
              <a:buChar char="n"/>
            </a:pPr>
            <a:endParaRPr lang="zh-CN" altLang="en-US" sz="1800" kern="0" noProof="1">
              <a:solidFill>
                <a:schemeClr val="hlink"/>
              </a:solidFill>
            </a:endParaRPr>
          </a:p>
        </p:txBody>
      </p:sp>
      <p:graphicFrame>
        <p:nvGraphicFramePr>
          <p:cNvPr id="11267" name="Object 5"/>
          <p:cNvGraphicFramePr>
            <a:graphicFrameLocks noChangeAspect="1"/>
          </p:cNvGraphicFramePr>
          <p:nvPr>
            <p:extLst>
              <p:ext uri="{D42A27DB-BD31-4B8C-83A1-F6EECF244321}">
                <p14:modId xmlns:p14="http://schemas.microsoft.com/office/powerpoint/2010/main" val="2010988617"/>
              </p:ext>
            </p:extLst>
          </p:nvPr>
        </p:nvGraphicFramePr>
        <p:xfrm>
          <a:off x="6805693" y="2917184"/>
          <a:ext cx="2171700" cy="1837134"/>
        </p:xfrm>
        <a:graphic>
          <a:graphicData uri="http://schemas.openxmlformats.org/presentationml/2006/ole">
            <mc:AlternateContent xmlns:mc="http://schemas.openxmlformats.org/markup-compatibility/2006">
              <mc:Choice xmlns:v="urn:schemas-microsoft-com:vml" Requires="v">
                <p:oleObj r:id="rId2" imgW="4540250" imgH="3497580" progId="MS_ClipArt_Gallery.2">
                  <p:embed/>
                </p:oleObj>
              </mc:Choice>
              <mc:Fallback>
                <p:oleObj r:id="rId2" imgW="4540250" imgH="3497580" progId="MS_ClipArt_Gallery.2">
                  <p:embed/>
                  <p:pic>
                    <p:nvPicPr>
                      <p:cNvPr id="11267" name="Object 5"/>
                      <p:cNvPicPr/>
                      <p:nvPr/>
                    </p:nvPicPr>
                    <p:blipFill>
                      <a:blip r:embed="rId3"/>
                      <a:stretch>
                        <a:fillRect/>
                      </a:stretch>
                    </p:blipFill>
                    <p:spPr>
                      <a:xfrm>
                        <a:off x="6805693" y="2917184"/>
                        <a:ext cx="2171700" cy="1837134"/>
                      </a:xfrm>
                      <a:prstGeom prst="rect">
                        <a:avLst/>
                      </a:prstGeom>
                      <a:noFill/>
                      <a:ln w="38100">
                        <a:noFill/>
                        <a:miter/>
                      </a:ln>
                    </p:spPr>
                  </p:pic>
                </p:oleObj>
              </mc:Fallback>
            </mc:AlternateContent>
          </a:graphicData>
        </a:graphic>
      </p:graphicFrame>
      <p:sp>
        <p:nvSpPr>
          <p:cNvPr id="11268" name="Text Box 5"/>
          <p:cNvSpPr txBox="1"/>
          <p:nvPr/>
        </p:nvSpPr>
        <p:spPr>
          <a:xfrm>
            <a:off x="628650" y="2491504"/>
            <a:ext cx="6115050" cy="722827"/>
          </a:xfrm>
          <a:prstGeom prst="rect">
            <a:avLst/>
          </a:prstGeom>
          <a:noFill/>
          <a:ln w="9525">
            <a:noFill/>
          </a:ln>
        </p:spPr>
        <p:txBody>
          <a:bodyPr anchor="t" anchorCtr="0">
            <a:spAutoFit/>
          </a:bodyPr>
          <a:lstStyle/>
          <a:p>
            <a:pPr eaLnBrk="0" hangingPunct="0">
              <a:lnSpc>
                <a:spcPct val="135000"/>
              </a:lnSpc>
              <a:buFont typeface="Wingdings" panose="05000000000000000000" pitchFamily="2" charset="2"/>
            </a:pPr>
            <a:r>
              <a:rPr lang="zh-CN" altLang="en-US" sz="1600" dirty="0">
                <a:latin typeface="Microsoft YaHei" panose="020B0503020204020204" pitchFamily="34" charset="-122"/>
                <a:ea typeface="Microsoft YaHei" panose="020B0503020204020204" pitchFamily="34" charset="-122"/>
              </a:rPr>
              <a:t>大型数据库的设计和开发是涉及多学科的综合性技术，对涉及人员来说应具备多方面的技术知识，主要有：</a:t>
            </a:r>
          </a:p>
        </p:txBody>
      </p:sp>
      <p:sp>
        <p:nvSpPr>
          <p:cNvPr id="11269" name="Text Box 6"/>
          <p:cNvSpPr txBox="1"/>
          <p:nvPr/>
        </p:nvSpPr>
        <p:spPr>
          <a:xfrm>
            <a:off x="1314450" y="3303369"/>
            <a:ext cx="5429250" cy="1361911"/>
          </a:xfrm>
          <a:prstGeom prst="rect">
            <a:avLst/>
          </a:prstGeom>
          <a:noFill/>
          <a:ln w="9525">
            <a:noFill/>
          </a:ln>
        </p:spPr>
        <p:txBody>
          <a:bodyPr anchor="t" anchorCtr="0">
            <a:spAutoFit/>
          </a:bodyPr>
          <a:lstStyle/>
          <a:p>
            <a:pPr eaLnBrk="0" hangingPunct="0">
              <a:spcBef>
                <a:spcPct val="50000"/>
              </a:spcBef>
              <a:buSzPct val="50000"/>
              <a:buFont typeface="Wingdings" panose="05000000000000000000" pitchFamily="2" charset="2"/>
              <a:buChar char="u"/>
            </a:pPr>
            <a:r>
              <a:rPr lang="zh-CN" altLang="en-US" sz="1350" dirty="0">
                <a:latin typeface="Microsoft YaHei" panose="020B0503020204020204" pitchFamily="34" charset="-122"/>
                <a:ea typeface="Microsoft YaHei" panose="020B0503020204020204" pitchFamily="34" charset="-122"/>
              </a:rPr>
              <a:t> </a:t>
            </a:r>
            <a:r>
              <a:rPr lang="zh-CN" altLang="en-US" sz="1500" dirty="0">
                <a:latin typeface="Microsoft YaHei" panose="020B0503020204020204" pitchFamily="34" charset="-122"/>
                <a:ea typeface="Microsoft YaHei" panose="020B0503020204020204" pitchFamily="34" charset="-122"/>
              </a:rPr>
              <a:t> 数据库的基本知识和数据库的设计知识；</a:t>
            </a:r>
          </a:p>
          <a:p>
            <a:pPr eaLnBrk="0" hangingPunct="0">
              <a:spcBef>
                <a:spcPct val="50000"/>
              </a:spcBef>
              <a:buSzPct val="50000"/>
              <a:buFont typeface="Wingdings" panose="05000000000000000000" pitchFamily="2" charset="2"/>
              <a:buChar char="u"/>
            </a:pPr>
            <a:r>
              <a:rPr lang="zh-CN" altLang="en-US" sz="1500" dirty="0">
                <a:latin typeface="Microsoft YaHei" panose="020B0503020204020204" pitchFamily="34" charset="-122"/>
                <a:ea typeface="Microsoft YaHei" panose="020B0503020204020204" pitchFamily="34" charset="-122"/>
              </a:rPr>
              <a:t>  计算机科学的基础知识和程序设计的方法和技巧</a:t>
            </a:r>
          </a:p>
          <a:p>
            <a:pPr eaLnBrk="0" hangingPunct="0">
              <a:spcBef>
                <a:spcPct val="50000"/>
              </a:spcBef>
              <a:buSzPct val="50000"/>
              <a:buFont typeface="Wingdings" panose="05000000000000000000" pitchFamily="2" charset="2"/>
              <a:buChar char="u"/>
            </a:pPr>
            <a:r>
              <a:rPr lang="zh-CN" altLang="en-US" sz="1500" dirty="0">
                <a:latin typeface="Microsoft YaHei" panose="020B0503020204020204" pitchFamily="34" charset="-122"/>
                <a:ea typeface="Microsoft YaHei" panose="020B0503020204020204" pitchFamily="34" charset="-122"/>
              </a:rPr>
              <a:t>  软件工程的原理和方法</a:t>
            </a:r>
          </a:p>
          <a:p>
            <a:pPr eaLnBrk="0" hangingPunct="0">
              <a:spcBef>
                <a:spcPct val="50000"/>
              </a:spcBef>
              <a:buSzPct val="50000"/>
              <a:buFont typeface="Wingdings" panose="05000000000000000000" pitchFamily="2" charset="2"/>
              <a:buChar char="u"/>
            </a:pPr>
            <a:r>
              <a:rPr lang="zh-CN" altLang="en-US" sz="1500" dirty="0">
                <a:latin typeface="Microsoft YaHei" panose="020B0503020204020204" pitchFamily="34" charset="-122"/>
                <a:ea typeface="Microsoft YaHei" panose="020B0503020204020204" pitchFamily="34" charset="-122"/>
              </a:rPr>
              <a:t>  应用领域的知识</a:t>
            </a:r>
          </a:p>
        </p:txBody>
      </p:sp>
      <p:sp>
        <p:nvSpPr>
          <p:cNvPr id="3" name="标题 2">
            <a:extLst>
              <a:ext uri="{FF2B5EF4-FFF2-40B4-BE49-F238E27FC236}">
                <a16:creationId xmlns:a16="http://schemas.microsoft.com/office/drawing/2014/main" id="{C0C70D15-5CFC-AE7A-690E-7A30782B182D}"/>
              </a:ext>
            </a:extLst>
          </p:cNvPr>
          <p:cNvSpPr>
            <a:spLocks noGrp="1"/>
          </p:cNvSpPr>
          <p:nvPr>
            <p:ph type="title"/>
          </p:nvPr>
        </p:nvSpPr>
        <p:spPr/>
        <p:txBody>
          <a:bodyPr/>
          <a:lstStyle/>
          <a:p>
            <a:r>
              <a:rPr lang="zh-CN" altLang="en-US" dirty="0"/>
              <a:t>数据库设计概述</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p:cNvSpPr>
          <p:nvPr>
            <p:ph idx="1"/>
          </p:nvPr>
        </p:nvSpPr>
        <p:spPr>
          <a:xfrm>
            <a:off x="636384" y="1397983"/>
            <a:ext cx="7886700" cy="3711558"/>
          </a:xfrm>
        </p:spPr>
        <p:txBody>
          <a:bodyPr vert="horz" wrap="square" lIns="68580" tIns="34290" rIns="68580" bIns="34290" rtlCol="0" anchor="t" anchorCtr="0">
            <a:normAutofit/>
          </a:bodyPr>
          <a:lstStyle/>
          <a:p>
            <a:pPr marL="0" indent="0">
              <a:buSzPct val="60000"/>
              <a:buNone/>
            </a:pPr>
            <a:r>
              <a:rPr lang="zh-CN" altLang="en-US" sz="2000" b="1" dirty="0">
                <a:solidFill>
                  <a:schemeClr val="hlink"/>
                </a:solidFill>
              </a:rPr>
              <a:t>数据库设计的内容</a:t>
            </a:r>
            <a:r>
              <a:rPr lang="en-US" altLang="zh-CN" sz="2000" b="1" dirty="0">
                <a:solidFill>
                  <a:schemeClr val="hlink"/>
                </a:solidFill>
              </a:rPr>
              <a:t>:</a:t>
            </a:r>
          </a:p>
          <a:p>
            <a:pPr marL="572929" lvl="1">
              <a:lnSpc>
                <a:spcPct val="120000"/>
              </a:lnSpc>
              <a:buSzPct val="60000"/>
              <a:buNone/>
            </a:pPr>
            <a:r>
              <a:rPr lang="en-US" altLang="zh-CN" sz="1600" dirty="0"/>
              <a:t>(1)</a:t>
            </a:r>
            <a:r>
              <a:rPr lang="zh-CN" altLang="en-US" sz="1600" dirty="0"/>
              <a:t>结构特性设计</a:t>
            </a:r>
          </a:p>
          <a:p>
            <a:pPr marL="572929" lvl="1">
              <a:lnSpc>
                <a:spcPct val="120000"/>
              </a:lnSpc>
              <a:buSzPct val="60000"/>
              <a:buNone/>
            </a:pPr>
            <a:r>
              <a:rPr lang="en-US" altLang="zh-CN" sz="1600" dirty="0"/>
              <a:t>(2)</a:t>
            </a:r>
            <a:r>
              <a:rPr lang="zh-CN" altLang="en-US" sz="1600" dirty="0"/>
              <a:t>行为特性设计</a:t>
            </a:r>
          </a:p>
          <a:p>
            <a:pPr marL="0" indent="0">
              <a:buSzPct val="60000"/>
              <a:buNone/>
            </a:pPr>
            <a:endParaRPr lang="zh-CN" altLang="en-US" b="1" dirty="0"/>
          </a:p>
        </p:txBody>
      </p:sp>
      <p:sp>
        <p:nvSpPr>
          <p:cNvPr id="12291" name="Rectangle 4"/>
          <p:cNvSpPr>
            <a:spLocks noGrp="1"/>
          </p:cNvSpPr>
          <p:nvPr>
            <p:ph sz="half" idx="4294967295"/>
          </p:nvPr>
        </p:nvSpPr>
        <p:spPr>
          <a:xfrm>
            <a:off x="5068438" y="1397983"/>
            <a:ext cx="2514600" cy="2114550"/>
          </a:xfrm>
        </p:spPr>
        <p:txBody>
          <a:bodyPr vert="horz" wrap="square" lIns="68580" tIns="34290" rIns="68580" bIns="34290" rtlCol="0" anchor="t" anchorCtr="0">
            <a:normAutofit/>
          </a:bodyPr>
          <a:lstStyle/>
          <a:p>
            <a:pPr eaLnBrk="1" hangingPunct="1">
              <a:buSzPct val="60000"/>
            </a:pPr>
            <a:r>
              <a:rPr lang="zh-CN" altLang="en-US" sz="2000" b="1" dirty="0">
                <a:solidFill>
                  <a:schemeClr val="hlink"/>
                </a:solidFill>
              </a:rPr>
              <a:t>数据库设计的目标</a:t>
            </a:r>
            <a:r>
              <a:rPr lang="en-US" altLang="zh-CN" sz="2000" b="1" dirty="0">
                <a:solidFill>
                  <a:schemeClr val="hlink"/>
                </a:solidFill>
              </a:rPr>
              <a:t>:</a:t>
            </a:r>
          </a:p>
          <a:p>
            <a:pPr eaLnBrk="1" hangingPunct="1">
              <a:buClr>
                <a:schemeClr val="hlink"/>
              </a:buClr>
              <a:buSzTx/>
              <a:buFont typeface="Wingdings" panose="05000000000000000000" pitchFamily="2" charset="2"/>
              <a:buChar char="Ø"/>
            </a:pPr>
            <a:r>
              <a:rPr lang="zh-CN" altLang="en-US" sz="1600" dirty="0"/>
              <a:t>满足应用要求</a:t>
            </a:r>
            <a:endParaRPr lang="en-US" altLang="zh-CN" sz="1600" dirty="0"/>
          </a:p>
          <a:p>
            <a:pPr eaLnBrk="1" hangingPunct="1">
              <a:buClr>
                <a:schemeClr val="hlink"/>
              </a:buClr>
              <a:buSzTx/>
              <a:buFont typeface="Wingdings" panose="05000000000000000000" pitchFamily="2" charset="2"/>
              <a:buChar char="Ø"/>
            </a:pPr>
            <a:r>
              <a:rPr lang="zh-CN" altLang="en-US" sz="1600" dirty="0"/>
              <a:t>模拟精确程度高 </a:t>
            </a:r>
          </a:p>
          <a:p>
            <a:pPr eaLnBrk="1" hangingPunct="1">
              <a:buClr>
                <a:schemeClr val="hlink"/>
              </a:buClr>
              <a:buSzTx/>
              <a:buFont typeface="Wingdings" panose="05000000000000000000" pitchFamily="2" charset="2"/>
              <a:buChar char="Ø"/>
            </a:pPr>
            <a:r>
              <a:rPr lang="zh-CN" altLang="en-US" sz="1600" dirty="0"/>
              <a:t>良好的数据库性能</a:t>
            </a:r>
          </a:p>
          <a:p>
            <a:pPr eaLnBrk="1" hangingPunct="1">
              <a:buClr>
                <a:schemeClr val="hlink"/>
              </a:buClr>
              <a:buSzTx/>
              <a:buFont typeface="Wingdings" panose="05000000000000000000" pitchFamily="2" charset="2"/>
              <a:buNone/>
            </a:pPr>
            <a:endParaRPr lang="zh-CN" altLang="en-US" sz="1800" b="1" dirty="0"/>
          </a:p>
        </p:txBody>
      </p:sp>
      <p:sp>
        <p:nvSpPr>
          <p:cNvPr id="12292" name="Text Box 11"/>
          <p:cNvSpPr txBox="1"/>
          <p:nvPr/>
        </p:nvSpPr>
        <p:spPr>
          <a:xfrm>
            <a:off x="636384" y="2912270"/>
            <a:ext cx="2492990" cy="400110"/>
          </a:xfrm>
          <a:prstGeom prst="rect">
            <a:avLst/>
          </a:prstGeom>
          <a:noFill/>
          <a:ln w="9525">
            <a:noFill/>
          </a:ln>
        </p:spPr>
        <p:txBody>
          <a:bodyPr wrap="none" anchor="t" anchorCtr="0">
            <a:spAutoFit/>
          </a:bodyPr>
          <a:lstStyle/>
          <a:p>
            <a:r>
              <a:rPr lang="zh-CN" altLang="en-US" sz="2000" b="1" dirty="0">
                <a:solidFill>
                  <a:schemeClr val="hlink"/>
                </a:solidFill>
                <a:latin typeface="Microsoft YaHei" panose="020B0503020204020204" pitchFamily="34" charset="-122"/>
                <a:ea typeface="Microsoft YaHei" panose="020B0503020204020204" pitchFamily="34" charset="-122"/>
              </a:rPr>
              <a:t>数据库设计的特点：</a:t>
            </a:r>
          </a:p>
        </p:txBody>
      </p:sp>
      <p:sp>
        <p:nvSpPr>
          <p:cNvPr id="12293" name="Rectangle 12"/>
          <p:cNvSpPr/>
          <p:nvPr/>
        </p:nvSpPr>
        <p:spPr>
          <a:xfrm>
            <a:off x="712962" y="3395010"/>
            <a:ext cx="6656482" cy="338554"/>
          </a:xfrm>
          <a:prstGeom prst="rect">
            <a:avLst/>
          </a:prstGeom>
          <a:noFill/>
          <a:ln w="9525">
            <a:noFill/>
          </a:ln>
        </p:spPr>
        <p:txBody>
          <a:bodyPr wrap="square" anchor="t" anchorCtr="0">
            <a:spAutoFit/>
          </a:bodyPr>
          <a:lstStyle/>
          <a:p>
            <a:r>
              <a:rPr lang="zh-CN" altLang="en-US" sz="1600" dirty="0">
                <a:solidFill>
                  <a:srgbClr val="66FFFF"/>
                </a:solidFill>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数据库建设是硬件、软件和干件</a:t>
            </a:r>
            <a:r>
              <a:rPr lang="en-US" altLang="zh-CN" sz="1600" dirty="0">
                <a:latin typeface="Microsoft YaHei" panose="020B0503020204020204" pitchFamily="34" charset="-122"/>
                <a:ea typeface="Microsoft YaHei" panose="020B0503020204020204" pitchFamily="34" charset="-122"/>
              </a:rPr>
              <a:t>(</a:t>
            </a:r>
            <a:r>
              <a:rPr lang="zh-CN" altLang="en-US" sz="1600" dirty="0">
                <a:latin typeface="Microsoft YaHei" panose="020B0503020204020204" pitchFamily="34" charset="-122"/>
                <a:ea typeface="Microsoft YaHei" panose="020B0503020204020204" pitchFamily="34" charset="-122"/>
              </a:rPr>
              <a:t>技术与管理的界面称为干件</a:t>
            </a:r>
            <a:r>
              <a:rPr lang="en-US" altLang="zh-CN" sz="1600" dirty="0">
                <a:latin typeface="Microsoft YaHei" panose="020B0503020204020204" pitchFamily="34" charset="-122"/>
                <a:ea typeface="Microsoft YaHei" panose="020B0503020204020204" pitchFamily="34" charset="-122"/>
              </a:rPr>
              <a:t>)</a:t>
            </a:r>
            <a:r>
              <a:rPr lang="zh-CN" altLang="en-US" sz="1600" dirty="0">
                <a:latin typeface="Microsoft YaHei" panose="020B0503020204020204" pitchFamily="34" charset="-122"/>
                <a:ea typeface="Microsoft YaHei" panose="020B0503020204020204" pitchFamily="34" charset="-122"/>
              </a:rPr>
              <a:t>的</a:t>
            </a:r>
            <a:r>
              <a:rPr lang="zh-CN" altLang="en-US" sz="1600" dirty="0">
                <a:solidFill>
                  <a:srgbClr val="FF9933"/>
                </a:solidFill>
                <a:latin typeface="Microsoft YaHei" panose="020B0503020204020204" pitchFamily="34" charset="-122"/>
                <a:ea typeface="Microsoft YaHei" panose="020B0503020204020204" pitchFamily="34" charset="-122"/>
              </a:rPr>
              <a:t>结合</a:t>
            </a:r>
            <a:r>
              <a:rPr lang="zh-CN" altLang="en-US" sz="1600" dirty="0">
                <a:latin typeface="Microsoft YaHei" panose="020B0503020204020204" pitchFamily="34" charset="-122"/>
                <a:ea typeface="Microsoft YaHei" panose="020B0503020204020204" pitchFamily="34" charset="-122"/>
              </a:rPr>
              <a:t>。</a:t>
            </a:r>
          </a:p>
        </p:txBody>
      </p:sp>
      <p:sp>
        <p:nvSpPr>
          <p:cNvPr id="12294" name="Rectangle 13"/>
          <p:cNvSpPr/>
          <p:nvPr/>
        </p:nvSpPr>
        <p:spPr>
          <a:xfrm>
            <a:off x="712962" y="3918471"/>
            <a:ext cx="8237309" cy="584775"/>
          </a:xfrm>
          <a:prstGeom prst="rect">
            <a:avLst/>
          </a:prstGeom>
          <a:noFill/>
          <a:ln w="9525">
            <a:noFill/>
          </a:ln>
        </p:spPr>
        <p:txBody>
          <a:bodyPr wrap="square" anchor="t" anchorCtr="0">
            <a:spAutoFit/>
          </a:bodyPr>
          <a:lstStyle/>
          <a:p>
            <a:r>
              <a:rPr lang="zh-CN" altLang="en-US" sz="1600" dirty="0">
                <a:solidFill>
                  <a:srgbClr val="66FFFF"/>
                </a:solidFill>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数据库设计应该和应用系统设计相</a:t>
            </a:r>
            <a:r>
              <a:rPr lang="zh-CN" altLang="en-US" sz="1600" dirty="0">
                <a:solidFill>
                  <a:srgbClr val="FF9933"/>
                </a:solidFill>
                <a:latin typeface="Microsoft YaHei" panose="020B0503020204020204" pitchFamily="34" charset="-122"/>
                <a:ea typeface="Microsoft YaHei" panose="020B0503020204020204" pitchFamily="34" charset="-122"/>
              </a:rPr>
              <a:t>结合</a:t>
            </a:r>
            <a:r>
              <a:rPr lang="zh-CN" altLang="en-US" sz="1600" dirty="0">
                <a:latin typeface="Microsoft YaHei" panose="020B0503020204020204" pitchFamily="34" charset="-122"/>
                <a:ea typeface="Microsoft YaHei" panose="020B0503020204020204" pitchFamily="34" charset="-122"/>
              </a:rPr>
              <a:t>，在整个设计过程中要把结构</a:t>
            </a:r>
            <a:r>
              <a:rPr lang="en-US" altLang="zh-CN" sz="1600" dirty="0">
                <a:latin typeface="Microsoft YaHei" panose="020B0503020204020204" pitchFamily="34" charset="-122"/>
                <a:ea typeface="Microsoft YaHei" panose="020B0503020204020204" pitchFamily="34" charset="-122"/>
              </a:rPr>
              <a:t>(</a:t>
            </a:r>
            <a:r>
              <a:rPr lang="zh-CN" altLang="en-US" sz="1600" dirty="0">
                <a:latin typeface="Microsoft YaHei" panose="020B0503020204020204" pitchFamily="34" charset="-122"/>
                <a:ea typeface="Microsoft YaHei" panose="020B0503020204020204" pitchFamily="34" charset="-122"/>
              </a:rPr>
              <a:t>数据</a:t>
            </a:r>
            <a:r>
              <a:rPr lang="en-US" altLang="zh-CN" sz="1600" dirty="0">
                <a:latin typeface="Microsoft YaHei" panose="020B0503020204020204" pitchFamily="34" charset="-122"/>
                <a:ea typeface="Microsoft YaHei" panose="020B0503020204020204" pitchFamily="34" charset="-122"/>
              </a:rPr>
              <a:t>)</a:t>
            </a:r>
            <a:r>
              <a:rPr lang="zh-CN" altLang="en-US" sz="1600" dirty="0">
                <a:latin typeface="Microsoft YaHei" panose="020B0503020204020204" pitchFamily="34" charset="-122"/>
                <a:ea typeface="Microsoft YaHei" panose="020B0503020204020204" pitchFamily="34" charset="-122"/>
              </a:rPr>
              <a:t>设计和行为</a:t>
            </a:r>
            <a:r>
              <a:rPr lang="en-US" altLang="zh-CN" sz="1600" dirty="0">
                <a:latin typeface="Microsoft YaHei" panose="020B0503020204020204" pitchFamily="34" charset="-122"/>
                <a:ea typeface="Microsoft YaHei" panose="020B0503020204020204" pitchFamily="34" charset="-122"/>
              </a:rPr>
              <a:t>(</a:t>
            </a:r>
            <a:r>
              <a:rPr lang="zh-CN" altLang="en-US" sz="1600" dirty="0">
                <a:latin typeface="Microsoft YaHei" panose="020B0503020204020204" pitchFamily="34" charset="-122"/>
                <a:ea typeface="Microsoft YaHei" panose="020B0503020204020204" pitchFamily="34" charset="-122"/>
              </a:rPr>
              <a:t>处理、功能</a:t>
            </a:r>
            <a:r>
              <a:rPr lang="en-US" altLang="zh-CN" sz="1600" dirty="0">
                <a:latin typeface="Microsoft YaHei" panose="020B0503020204020204" pitchFamily="34" charset="-122"/>
                <a:ea typeface="Microsoft YaHei" panose="020B0503020204020204" pitchFamily="34" charset="-122"/>
              </a:rPr>
              <a:t>)</a:t>
            </a:r>
            <a:r>
              <a:rPr lang="zh-CN" altLang="en-US" sz="1600" dirty="0">
                <a:latin typeface="Microsoft YaHei" panose="020B0503020204020204" pitchFamily="34" charset="-122"/>
                <a:ea typeface="Microsoft YaHei" panose="020B0503020204020204" pitchFamily="34" charset="-122"/>
              </a:rPr>
              <a:t>设计密切结合起来。</a:t>
            </a:r>
          </a:p>
        </p:txBody>
      </p:sp>
      <p:sp>
        <p:nvSpPr>
          <p:cNvPr id="3" name="标题 2">
            <a:extLst>
              <a:ext uri="{FF2B5EF4-FFF2-40B4-BE49-F238E27FC236}">
                <a16:creationId xmlns:a16="http://schemas.microsoft.com/office/drawing/2014/main" id="{7743D927-DE2D-B700-B4E0-E56F8E29BFBC}"/>
              </a:ext>
            </a:extLst>
          </p:cNvPr>
          <p:cNvSpPr>
            <a:spLocks noGrp="1"/>
          </p:cNvSpPr>
          <p:nvPr>
            <p:ph type="title"/>
          </p:nvPr>
        </p:nvSpPr>
        <p:spPr/>
        <p:txBody>
          <a:bodyPr/>
          <a:lstStyle/>
          <a:p>
            <a:r>
              <a:rPr lang="zh-CN" altLang="en-US" dirty="0"/>
              <a:t>数据库设计概述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3"/>
          <p:cNvSpPr txBox="1"/>
          <p:nvPr/>
        </p:nvSpPr>
        <p:spPr>
          <a:xfrm>
            <a:off x="163716" y="1595078"/>
            <a:ext cx="3819348" cy="553998"/>
          </a:xfrm>
          <a:prstGeom prst="rect">
            <a:avLst/>
          </a:prstGeom>
          <a:noFill/>
          <a:ln w="9525">
            <a:noFill/>
          </a:ln>
        </p:spPr>
        <p:txBody>
          <a:bodyPr wrap="square" anchor="t" anchorCtr="0">
            <a:spAutoFit/>
          </a:bodyPr>
          <a:lstStyle/>
          <a:p>
            <a:r>
              <a:rPr lang="zh-CN" altLang="en-US" sz="1500" dirty="0">
                <a:latin typeface="Microsoft YaHei" panose="020B0503020204020204" pitchFamily="34" charset="-122"/>
                <a:ea typeface="Microsoft YaHei" panose="020B0503020204020204" pitchFamily="34" charset="-122"/>
              </a:rPr>
              <a:t>用户需求的收集和分析，结果得到</a:t>
            </a:r>
            <a:r>
              <a:rPr lang="zh-CN" altLang="en-US" sz="1500" dirty="0">
                <a:solidFill>
                  <a:schemeClr val="hlink"/>
                </a:solidFill>
                <a:latin typeface="Microsoft YaHei" panose="020B0503020204020204" pitchFamily="34" charset="-122"/>
                <a:ea typeface="Microsoft YaHei" panose="020B0503020204020204" pitchFamily="34" charset="-122"/>
              </a:rPr>
              <a:t>数据字典描述的数据需求</a:t>
            </a:r>
            <a:r>
              <a:rPr lang="zh-CN" altLang="en-US" sz="1500" dirty="0">
                <a:latin typeface="Microsoft YaHei" panose="020B0503020204020204" pitchFamily="34" charset="-122"/>
                <a:ea typeface="Microsoft YaHei" panose="020B0503020204020204" pitchFamily="34" charset="-122"/>
              </a:rPr>
              <a:t>和</a:t>
            </a:r>
            <a:r>
              <a:rPr lang="zh-CN" altLang="en-US" sz="1500" dirty="0">
                <a:solidFill>
                  <a:schemeClr val="hlink"/>
                </a:solidFill>
                <a:latin typeface="Microsoft YaHei" panose="020B0503020204020204" pitchFamily="34" charset="-122"/>
                <a:ea typeface="Microsoft YaHei" panose="020B0503020204020204" pitchFamily="34" charset="-122"/>
              </a:rPr>
              <a:t>数据流图描述的处理需求</a:t>
            </a:r>
            <a:r>
              <a:rPr lang="zh-CN" altLang="en-US" sz="1500" dirty="0">
                <a:latin typeface="Microsoft YaHei" panose="020B0503020204020204" pitchFamily="34" charset="-122"/>
                <a:ea typeface="Microsoft YaHei" panose="020B0503020204020204" pitchFamily="34" charset="-122"/>
              </a:rPr>
              <a:t>。</a:t>
            </a:r>
          </a:p>
        </p:txBody>
      </p:sp>
      <p:grpSp>
        <p:nvGrpSpPr>
          <p:cNvPr id="13315" name="Group 4"/>
          <p:cNvGrpSpPr/>
          <p:nvPr/>
        </p:nvGrpSpPr>
        <p:grpSpPr>
          <a:xfrm>
            <a:off x="163716" y="1253548"/>
            <a:ext cx="4087421" cy="285750"/>
            <a:chOff x="0" y="0"/>
            <a:chExt cx="3433" cy="240"/>
          </a:xfrm>
        </p:grpSpPr>
        <p:sp>
          <p:nvSpPr>
            <p:cNvPr id="13317" name="Line 6"/>
            <p:cNvSpPr/>
            <p:nvPr/>
          </p:nvSpPr>
          <p:spPr>
            <a:xfrm>
              <a:off x="1615" y="137"/>
              <a:ext cx="1818" cy="0"/>
            </a:xfrm>
            <a:prstGeom prst="line">
              <a:avLst/>
            </a:prstGeom>
            <a:ln w="19050" cap="flat" cmpd="sng">
              <a:solidFill>
                <a:schemeClr val="hlink"/>
              </a:solidFill>
              <a:prstDash val="sysDot"/>
              <a:round/>
              <a:headEnd type="none" w="med" len="med"/>
              <a:tailEnd type="non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13316" name="AutoShape 5"/>
            <p:cNvSpPr/>
            <p:nvPr/>
          </p:nvSpPr>
          <p:spPr>
            <a:xfrm>
              <a:off x="0" y="0"/>
              <a:ext cx="1880" cy="240"/>
            </a:xfrm>
            <a:prstGeom prst="roundRect">
              <a:avLst>
                <a:gd name="adj" fmla="val 50000"/>
              </a:avLst>
            </a:prstGeom>
            <a:solidFill>
              <a:schemeClr val="accent1"/>
            </a:solidFill>
            <a:ln w="9525" cap="flat" cmpd="sng">
              <a:solidFill>
                <a:schemeClr val="hlink"/>
              </a:solidFill>
              <a:prstDash val="solid"/>
              <a:round/>
              <a:headEnd type="none" w="med" len="med"/>
              <a:tailEnd type="none" w="med" len="med"/>
            </a:ln>
          </p:spPr>
          <p:txBody>
            <a:bodyPr wrap="none" anchor="ctr" anchorCtr="0"/>
            <a:lstStyle/>
            <a:p>
              <a:r>
                <a:rPr lang="zh-CN" altLang="en-US" sz="1500" dirty="0">
                  <a:solidFill>
                    <a:schemeClr val="bg1"/>
                  </a:solidFill>
                  <a:latin typeface="Microsoft YaHei" panose="020B0503020204020204" pitchFamily="34" charset="-122"/>
                  <a:ea typeface="Microsoft YaHei" panose="020B0503020204020204" pitchFamily="34" charset="-122"/>
                </a:rPr>
                <a:t> ⒈  需求分析阶段 ：</a:t>
              </a:r>
            </a:p>
          </p:txBody>
        </p:sp>
      </p:grpSp>
      <p:sp>
        <p:nvSpPr>
          <p:cNvPr id="13318" name="Text Box 7"/>
          <p:cNvSpPr txBox="1"/>
          <p:nvPr/>
        </p:nvSpPr>
        <p:spPr>
          <a:xfrm>
            <a:off x="163716" y="2677535"/>
            <a:ext cx="4222304" cy="553998"/>
          </a:xfrm>
          <a:prstGeom prst="rect">
            <a:avLst/>
          </a:prstGeom>
          <a:noFill/>
          <a:ln w="9525">
            <a:noFill/>
          </a:ln>
        </p:spPr>
        <p:txBody>
          <a:bodyPr wrap="square" anchor="t" anchorCtr="0">
            <a:spAutoFit/>
          </a:bodyPr>
          <a:lstStyle/>
          <a:p>
            <a:r>
              <a:rPr lang="zh-CN" altLang="en-US" sz="1500" dirty="0">
                <a:latin typeface="Microsoft YaHei" panose="020B0503020204020204" pitchFamily="34" charset="-122"/>
                <a:ea typeface="Microsoft YaHei" panose="020B0503020204020204" pitchFamily="34" charset="-122"/>
              </a:rPr>
              <a:t>对用户需求进行综合、归纳与抽象，形成一个独立于具体</a:t>
            </a:r>
            <a:r>
              <a:rPr lang="en-US" altLang="zh-CN" sz="1500" dirty="0">
                <a:latin typeface="Microsoft YaHei" panose="020B0503020204020204" pitchFamily="34" charset="-122"/>
                <a:ea typeface="Microsoft YaHei" panose="020B0503020204020204" pitchFamily="34" charset="-122"/>
              </a:rPr>
              <a:t>DBMS</a:t>
            </a:r>
            <a:r>
              <a:rPr lang="zh-CN" altLang="en-US" sz="1500" dirty="0">
                <a:latin typeface="Microsoft YaHei" panose="020B0503020204020204" pitchFamily="34" charset="-122"/>
                <a:ea typeface="Microsoft YaHei" panose="020B0503020204020204" pitchFamily="34" charset="-122"/>
              </a:rPr>
              <a:t>的概念模型，可以用</a:t>
            </a:r>
            <a:r>
              <a:rPr lang="en-US" altLang="zh-CN" sz="1500" dirty="0">
                <a:solidFill>
                  <a:schemeClr val="hlink"/>
                </a:solidFill>
                <a:latin typeface="Microsoft YaHei" panose="020B0503020204020204" pitchFamily="34" charset="-122"/>
                <a:ea typeface="Microsoft YaHei" panose="020B0503020204020204" pitchFamily="34" charset="-122"/>
              </a:rPr>
              <a:t>E-R</a:t>
            </a:r>
            <a:r>
              <a:rPr lang="zh-CN" altLang="en-US" sz="1500" dirty="0">
                <a:solidFill>
                  <a:schemeClr val="hlink"/>
                </a:solidFill>
                <a:latin typeface="Microsoft YaHei" panose="020B0503020204020204" pitchFamily="34" charset="-122"/>
                <a:ea typeface="Microsoft YaHei" panose="020B0503020204020204" pitchFamily="34" charset="-122"/>
              </a:rPr>
              <a:t>图</a:t>
            </a:r>
            <a:r>
              <a:rPr lang="zh-CN" altLang="en-US" sz="1500" dirty="0">
                <a:latin typeface="Microsoft YaHei" panose="020B0503020204020204" pitchFamily="34" charset="-122"/>
                <a:ea typeface="Microsoft YaHei" panose="020B0503020204020204" pitchFamily="34" charset="-122"/>
              </a:rPr>
              <a:t>表示。</a:t>
            </a:r>
          </a:p>
        </p:txBody>
      </p:sp>
      <p:grpSp>
        <p:nvGrpSpPr>
          <p:cNvPr id="13319" name="Group 8"/>
          <p:cNvGrpSpPr/>
          <p:nvPr/>
        </p:nvGrpSpPr>
        <p:grpSpPr>
          <a:xfrm>
            <a:off x="163716" y="2339398"/>
            <a:ext cx="4099321" cy="285750"/>
            <a:chOff x="0" y="0"/>
            <a:chExt cx="3443" cy="240"/>
          </a:xfrm>
        </p:grpSpPr>
        <p:sp>
          <p:nvSpPr>
            <p:cNvPr id="13321" name="Line 10"/>
            <p:cNvSpPr/>
            <p:nvPr/>
          </p:nvSpPr>
          <p:spPr>
            <a:xfrm>
              <a:off x="1625" y="127"/>
              <a:ext cx="1818" cy="0"/>
            </a:xfrm>
            <a:prstGeom prst="line">
              <a:avLst/>
            </a:prstGeom>
            <a:ln w="19050" cap="flat" cmpd="sng">
              <a:solidFill>
                <a:schemeClr val="hlink"/>
              </a:solidFill>
              <a:prstDash val="sysDot"/>
              <a:round/>
              <a:headEnd type="none" w="med" len="med"/>
              <a:tailEnd type="non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13320" name="AutoShape 9"/>
            <p:cNvSpPr/>
            <p:nvPr/>
          </p:nvSpPr>
          <p:spPr>
            <a:xfrm>
              <a:off x="0" y="0"/>
              <a:ext cx="1880" cy="240"/>
            </a:xfrm>
            <a:prstGeom prst="roundRect">
              <a:avLst>
                <a:gd name="adj" fmla="val 50000"/>
              </a:avLst>
            </a:prstGeom>
            <a:solidFill>
              <a:schemeClr val="accent1"/>
            </a:solidFill>
            <a:ln w="9525" cap="flat" cmpd="sng">
              <a:solidFill>
                <a:schemeClr val="hlink"/>
              </a:solidFill>
              <a:prstDash val="solid"/>
              <a:round/>
              <a:headEnd type="none" w="med" len="med"/>
              <a:tailEnd type="none" w="med" len="med"/>
            </a:ln>
          </p:spPr>
          <p:txBody>
            <a:bodyPr wrap="none" anchor="ctr" anchorCtr="0"/>
            <a:lstStyle/>
            <a:p>
              <a:r>
                <a:rPr lang="zh-CN" altLang="en-US" sz="1500" dirty="0">
                  <a:solidFill>
                    <a:schemeClr val="bg1"/>
                  </a:solidFill>
                  <a:latin typeface="Microsoft YaHei" panose="020B0503020204020204" pitchFamily="34" charset="-122"/>
                  <a:ea typeface="Microsoft YaHei" panose="020B0503020204020204" pitchFamily="34" charset="-122"/>
                </a:rPr>
                <a:t>  </a:t>
              </a:r>
              <a:r>
                <a:rPr lang="en-US" altLang="zh-CN" sz="1500" dirty="0">
                  <a:solidFill>
                    <a:schemeClr val="bg1"/>
                  </a:solidFill>
                  <a:latin typeface="Microsoft YaHei" panose="020B0503020204020204" pitchFamily="34" charset="-122"/>
                  <a:ea typeface="Microsoft YaHei" panose="020B0503020204020204" pitchFamily="34" charset="-122"/>
                </a:rPr>
                <a:t>2.  </a:t>
              </a:r>
              <a:r>
                <a:rPr lang="zh-CN" altLang="en-US" sz="1500" dirty="0">
                  <a:solidFill>
                    <a:schemeClr val="bg1"/>
                  </a:solidFill>
                  <a:latin typeface="Microsoft YaHei" panose="020B0503020204020204" pitchFamily="34" charset="-122"/>
                  <a:ea typeface="Microsoft YaHei" panose="020B0503020204020204" pitchFamily="34" charset="-122"/>
                </a:rPr>
                <a:t>概念结构设计阶段：</a:t>
              </a:r>
            </a:p>
          </p:txBody>
        </p:sp>
      </p:grpSp>
      <p:sp>
        <p:nvSpPr>
          <p:cNvPr id="6158" name="Text Box 14"/>
          <p:cNvSpPr txBox="1">
            <a:spLocks noChangeArrowheads="1"/>
          </p:cNvSpPr>
          <p:nvPr/>
        </p:nvSpPr>
        <p:spPr bwMode="auto">
          <a:xfrm>
            <a:off x="163716" y="3838394"/>
            <a:ext cx="3958833" cy="553998"/>
          </a:xfrm>
          <a:prstGeom prst="rect">
            <a:avLst/>
          </a:prstGeom>
          <a:noFill/>
          <a:ln>
            <a:noFill/>
          </a:ln>
          <a:effectLst/>
        </p:spPr>
        <p:txBody>
          <a:bodyPr wrap="square">
            <a:spAutoFit/>
          </a:bodyPr>
          <a:lstStyle/>
          <a:p>
            <a:pPr defTabSz="685800">
              <a:defRPr/>
            </a:pPr>
            <a:r>
              <a:rPr lang="zh-CN" altLang="en-US" sz="1500" dirty="0">
                <a:latin typeface="Microsoft YaHei" panose="020B0503020204020204" pitchFamily="34" charset="-122"/>
                <a:ea typeface="Microsoft YaHei" panose="020B0503020204020204" pitchFamily="34" charset="-122"/>
                <a:cs typeface="楷体" panose="02010609060101010101" pitchFamily="49" charset="-122"/>
              </a:rPr>
              <a:t>将概念结构</a:t>
            </a:r>
            <a:r>
              <a:rPr lang="zh-CN" altLang="en-US" sz="150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转换</a:t>
            </a:r>
            <a:r>
              <a:rPr lang="zh-CN" altLang="en-US" sz="1500" dirty="0">
                <a:latin typeface="Microsoft YaHei" panose="020B0503020204020204" pitchFamily="34" charset="-122"/>
                <a:ea typeface="Microsoft YaHei" panose="020B0503020204020204" pitchFamily="34" charset="-122"/>
                <a:cs typeface="楷体" panose="02010609060101010101" pitchFamily="49" charset="-122"/>
              </a:rPr>
              <a:t>为某个</a:t>
            </a:r>
            <a:r>
              <a:rPr lang="en-US" altLang="zh-CN" sz="1500" dirty="0">
                <a:latin typeface="Microsoft YaHei" panose="020B0503020204020204" pitchFamily="34" charset="-122"/>
                <a:ea typeface="Microsoft YaHei" panose="020B0503020204020204" pitchFamily="34" charset="-122"/>
                <a:cs typeface="楷体" panose="02010609060101010101" pitchFamily="49" charset="-122"/>
              </a:rPr>
              <a:t>DBMS</a:t>
            </a:r>
            <a:r>
              <a:rPr lang="zh-CN" altLang="en-US" sz="1500" dirty="0">
                <a:latin typeface="Microsoft YaHei" panose="020B0503020204020204" pitchFamily="34" charset="-122"/>
                <a:ea typeface="Microsoft YaHei" panose="020B0503020204020204" pitchFamily="34" charset="-122"/>
                <a:cs typeface="楷体" panose="02010609060101010101" pitchFamily="49" charset="-122"/>
              </a:rPr>
              <a:t>所支持的数据模型（例如关系模型），并对其进行优化。</a:t>
            </a:r>
            <a:endParaRPr lang="zh-CN" altLang="en-US" sz="1500" dirty="0">
              <a:effectLst>
                <a:outerShdw blurRad="38100" dist="38100" dir="2700000" algn="tl">
                  <a:srgbClr val="C0C0C0"/>
                </a:outerShdw>
              </a:effectLst>
              <a:latin typeface="Microsoft YaHei" panose="020B0503020204020204" pitchFamily="34" charset="-122"/>
              <a:ea typeface="Microsoft YaHei" panose="020B0503020204020204" pitchFamily="34" charset="-122"/>
              <a:cs typeface="楷体" panose="02010609060101010101" pitchFamily="49" charset="-122"/>
            </a:endParaRPr>
          </a:p>
        </p:txBody>
      </p:sp>
      <p:grpSp>
        <p:nvGrpSpPr>
          <p:cNvPr id="13324" name="Group 15"/>
          <p:cNvGrpSpPr/>
          <p:nvPr/>
        </p:nvGrpSpPr>
        <p:grpSpPr>
          <a:xfrm>
            <a:off x="163716" y="3495495"/>
            <a:ext cx="4129086" cy="285750"/>
            <a:chOff x="0" y="0"/>
            <a:chExt cx="3468" cy="240"/>
          </a:xfrm>
        </p:grpSpPr>
        <p:sp>
          <p:nvSpPr>
            <p:cNvPr id="13325" name="AutoShape 16"/>
            <p:cNvSpPr/>
            <p:nvPr/>
          </p:nvSpPr>
          <p:spPr>
            <a:xfrm>
              <a:off x="0" y="0"/>
              <a:ext cx="1880" cy="240"/>
            </a:xfrm>
            <a:prstGeom prst="roundRect">
              <a:avLst>
                <a:gd name="adj" fmla="val 50000"/>
              </a:avLst>
            </a:prstGeom>
            <a:solidFill>
              <a:schemeClr val="accent1"/>
            </a:solidFill>
            <a:ln w="9525" cap="flat" cmpd="sng">
              <a:solidFill>
                <a:schemeClr val="hlink"/>
              </a:solidFill>
              <a:prstDash val="solid"/>
              <a:round/>
              <a:headEnd type="none" w="med" len="med"/>
              <a:tailEnd type="none" w="med" len="med"/>
            </a:ln>
          </p:spPr>
          <p:txBody>
            <a:bodyPr wrap="none" anchor="ctr" anchorCtr="0"/>
            <a:lstStyle/>
            <a:p>
              <a:r>
                <a:rPr lang="zh-CN" altLang="en-US" sz="1500" dirty="0">
                  <a:solidFill>
                    <a:schemeClr val="bg1"/>
                  </a:solidFill>
                  <a:latin typeface="Microsoft YaHei" panose="020B0503020204020204" pitchFamily="34" charset="-122"/>
                  <a:ea typeface="Microsoft YaHei" panose="020B0503020204020204" pitchFamily="34" charset="-122"/>
                </a:rPr>
                <a:t> ⒊  逻辑结构设计阶段：</a:t>
              </a:r>
            </a:p>
          </p:txBody>
        </p:sp>
        <p:sp>
          <p:nvSpPr>
            <p:cNvPr id="13326" name="Line 17"/>
            <p:cNvSpPr/>
            <p:nvPr/>
          </p:nvSpPr>
          <p:spPr>
            <a:xfrm>
              <a:off x="1815" y="131"/>
              <a:ext cx="1653" cy="0"/>
            </a:xfrm>
            <a:prstGeom prst="line">
              <a:avLst/>
            </a:prstGeom>
            <a:ln w="19050" cap="flat" cmpd="sng">
              <a:solidFill>
                <a:schemeClr val="hlink"/>
              </a:solidFill>
              <a:prstDash val="sysDot"/>
              <a:round/>
              <a:headEnd type="none" w="med" len="med"/>
              <a:tailEnd type="non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grpSp>
      <p:sp>
        <p:nvSpPr>
          <p:cNvPr id="4" name="标题 3">
            <a:extLst>
              <a:ext uri="{FF2B5EF4-FFF2-40B4-BE49-F238E27FC236}">
                <a16:creationId xmlns:a16="http://schemas.microsoft.com/office/drawing/2014/main" id="{D6B8FA6D-6481-DAF2-298B-87F58CD2D612}"/>
              </a:ext>
            </a:extLst>
          </p:cNvPr>
          <p:cNvSpPr>
            <a:spLocks noGrp="1"/>
          </p:cNvSpPr>
          <p:nvPr>
            <p:ph type="title"/>
          </p:nvPr>
        </p:nvSpPr>
        <p:spPr/>
        <p:txBody>
          <a:bodyPr/>
          <a:lstStyle/>
          <a:p>
            <a:r>
              <a:rPr lang="zh-CN" altLang="en-US" dirty="0"/>
              <a:t>数据库设计的步骤</a:t>
            </a:r>
          </a:p>
        </p:txBody>
      </p:sp>
      <p:sp>
        <p:nvSpPr>
          <p:cNvPr id="5" name="Text Box 2">
            <a:extLst>
              <a:ext uri="{FF2B5EF4-FFF2-40B4-BE49-F238E27FC236}">
                <a16:creationId xmlns:a16="http://schemas.microsoft.com/office/drawing/2014/main" id="{7DDF5103-2792-ACF1-6817-696570DB0C6C}"/>
              </a:ext>
            </a:extLst>
          </p:cNvPr>
          <p:cNvSpPr txBox="1"/>
          <p:nvPr/>
        </p:nvSpPr>
        <p:spPr>
          <a:xfrm>
            <a:off x="4541820" y="1591375"/>
            <a:ext cx="3819348" cy="553998"/>
          </a:xfrm>
          <a:prstGeom prst="rect">
            <a:avLst/>
          </a:prstGeom>
          <a:noFill/>
          <a:ln w="9525">
            <a:noFill/>
          </a:ln>
        </p:spPr>
        <p:txBody>
          <a:bodyPr wrap="square" anchor="t" anchorCtr="0">
            <a:spAutoFit/>
          </a:bodyPr>
          <a:lstStyle/>
          <a:p>
            <a:r>
              <a:rPr lang="zh-CN" altLang="en-US" sz="1500" dirty="0">
                <a:latin typeface="Microsoft YaHei" panose="020B0503020204020204" pitchFamily="34" charset="-122"/>
                <a:ea typeface="Microsoft YaHei" panose="020B0503020204020204" pitchFamily="34" charset="-122"/>
              </a:rPr>
              <a:t>为逻辑数据模型选取一个最适合应用环境的物理结构（包括</a:t>
            </a:r>
            <a:r>
              <a:rPr lang="zh-CN" altLang="en-US" sz="1500" dirty="0">
                <a:solidFill>
                  <a:schemeClr val="hlink"/>
                </a:solidFill>
                <a:latin typeface="Microsoft YaHei" panose="020B0503020204020204" pitchFamily="34" charset="-122"/>
                <a:ea typeface="Microsoft YaHei" panose="020B0503020204020204" pitchFamily="34" charset="-122"/>
              </a:rPr>
              <a:t>存储结构和存取方法</a:t>
            </a:r>
            <a:r>
              <a:rPr lang="zh-CN" altLang="en-US" sz="1500" dirty="0">
                <a:latin typeface="Microsoft YaHei" panose="020B0503020204020204" pitchFamily="34" charset="-122"/>
                <a:ea typeface="Microsoft YaHei" panose="020B0503020204020204" pitchFamily="34" charset="-122"/>
              </a:rPr>
              <a:t>）。</a:t>
            </a:r>
          </a:p>
        </p:txBody>
      </p:sp>
      <p:grpSp>
        <p:nvGrpSpPr>
          <p:cNvPr id="6" name="Group 3">
            <a:extLst>
              <a:ext uri="{FF2B5EF4-FFF2-40B4-BE49-F238E27FC236}">
                <a16:creationId xmlns:a16="http://schemas.microsoft.com/office/drawing/2014/main" id="{FC9BB56D-A41D-F7A4-84D8-CA43AD10FCAE}"/>
              </a:ext>
            </a:extLst>
          </p:cNvPr>
          <p:cNvGrpSpPr/>
          <p:nvPr/>
        </p:nvGrpSpPr>
        <p:grpSpPr>
          <a:xfrm>
            <a:off x="4511868" y="1259009"/>
            <a:ext cx="4541043" cy="285750"/>
            <a:chOff x="0" y="0"/>
            <a:chExt cx="3814" cy="240"/>
          </a:xfrm>
        </p:grpSpPr>
        <p:sp>
          <p:nvSpPr>
            <p:cNvPr id="8" name="Line 5">
              <a:extLst>
                <a:ext uri="{FF2B5EF4-FFF2-40B4-BE49-F238E27FC236}">
                  <a16:creationId xmlns:a16="http://schemas.microsoft.com/office/drawing/2014/main" id="{6DCEDEC0-4782-B935-0EBF-FABC5CA7B68B}"/>
                </a:ext>
              </a:extLst>
            </p:cNvPr>
            <p:cNvSpPr/>
            <p:nvPr/>
          </p:nvSpPr>
          <p:spPr>
            <a:xfrm>
              <a:off x="1996" y="130"/>
              <a:ext cx="1818" cy="0"/>
            </a:xfrm>
            <a:prstGeom prst="line">
              <a:avLst/>
            </a:prstGeom>
            <a:ln w="19050" cap="flat" cmpd="sng">
              <a:solidFill>
                <a:schemeClr val="hlink"/>
              </a:solidFill>
              <a:prstDash val="sysDot"/>
              <a:round/>
              <a:headEnd type="none" w="med" len="med"/>
              <a:tailEnd type="non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7" name="AutoShape 4">
              <a:extLst>
                <a:ext uri="{FF2B5EF4-FFF2-40B4-BE49-F238E27FC236}">
                  <a16:creationId xmlns:a16="http://schemas.microsoft.com/office/drawing/2014/main" id="{1CCCDA43-1AC5-25AA-E414-288B5E7803F8}"/>
                </a:ext>
              </a:extLst>
            </p:cNvPr>
            <p:cNvSpPr/>
            <p:nvPr/>
          </p:nvSpPr>
          <p:spPr>
            <a:xfrm>
              <a:off x="0" y="0"/>
              <a:ext cx="2138" cy="240"/>
            </a:xfrm>
            <a:prstGeom prst="roundRect">
              <a:avLst>
                <a:gd name="adj" fmla="val 50000"/>
              </a:avLst>
            </a:prstGeom>
            <a:solidFill>
              <a:schemeClr val="accent1"/>
            </a:solidFill>
            <a:ln w="9525" cap="flat" cmpd="sng">
              <a:solidFill>
                <a:schemeClr val="hlink"/>
              </a:solidFill>
              <a:prstDash val="solid"/>
              <a:round/>
              <a:headEnd type="none" w="med" len="med"/>
              <a:tailEnd type="none" w="med" len="med"/>
            </a:ln>
          </p:spPr>
          <p:txBody>
            <a:bodyPr wrap="none" anchor="ctr" anchorCtr="0"/>
            <a:lstStyle/>
            <a:p>
              <a:pPr>
                <a:spcBef>
                  <a:spcPct val="30000"/>
                </a:spcBef>
              </a:pPr>
              <a:r>
                <a:rPr lang="zh-CN" altLang="en-US" sz="1500" dirty="0">
                  <a:solidFill>
                    <a:schemeClr val="bg1"/>
                  </a:solidFill>
                  <a:latin typeface="Microsoft YaHei" panose="020B0503020204020204" pitchFamily="34" charset="-122"/>
                  <a:ea typeface="Microsoft YaHei" panose="020B0503020204020204" pitchFamily="34" charset="-122"/>
                </a:rPr>
                <a:t>⒋  数据库物理设计阶段 ：</a:t>
              </a:r>
            </a:p>
          </p:txBody>
        </p:sp>
      </p:grpSp>
      <p:sp>
        <p:nvSpPr>
          <p:cNvPr id="9" name="Text Box 6">
            <a:extLst>
              <a:ext uri="{FF2B5EF4-FFF2-40B4-BE49-F238E27FC236}">
                <a16:creationId xmlns:a16="http://schemas.microsoft.com/office/drawing/2014/main" id="{35E04C2A-3612-5C0A-5F38-94CB041981A5}"/>
              </a:ext>
            </a:extLst>
          </p:cNvPr>
          <p:cNvSpPr txBox="1"/>
          <p:nvPr/>
        </p:nvSpPr>
        <p:spPr>
          <a:xfrm>
            <a:off x="4572000" y="2692617"/>
            <a:ext cx="4480911" cy="646331"/>
          </a:xfrm>
          <a:prstGeom prst="rect">
            <a:avLst/>
          </a:prstGeom>
          <a:noFill/>
          <a:ln w="9525">
            <a:noFill/>
          </a:ln>
        </p:spPr>
        <p:txBody>
          <a:bodyPr wrap="square" anchor="t" anchorCtr="0">
            <a:spAutoFit/>
          </a:bodyPr>
          <a:lstStyle/>
          <a:p>
            <a:r>
              <a:rPr lang="zh-CN" altLang="en-US" sz="1200" dirty="0">
                <a:latin typeface="Microsoft YaHei" panose="020B0503020204020204" pitchFamily="34" charset="-122"/>
                <a:ea typeface="Microsoft YaHei" panose="020B0503020204020204" pitchFamily="34" charset="-122"/>
              </a:rPr>
              <a:t>运用</a:t>
            </a:r>
            <a:r>
              <a:rPr lang="en-US" altLang="zh-CN" sz="1200" dirty="0">
                <a:latin typeface="Microsoft YaHei" panose="020B0503020204020204" pitchFamily="34" charset="-122"/>
                <a:ea typeface="Microsoft YaHei" panose="020B0503020204020204" pitchFamily="34" charset="-122"/>
              </a:rPr>
              <a:t>DBMS</a:t>
            </a:r>
            <a:r>
              <a:rPr lang="zh-CN" altLang="en-US" sz="1200" dirty="0">
                <a:latin typeface="Microsoft YaHei" panose="020B0503020204020204" pitchFamily="34" charset="-122"/>
                <a:ea typeface="Microsoft YaHei" panose="020B0503020204020204" pitchFamily="34" charset="-122"/>
              </a:rPr>
              <a:t>提供的数据语言（例如</a:t>
            </a:r>
            <a:r>
              <a:rPr lang="en-US" altLang="zh-CN" sz="1200" dirty="0">
                <a:latin typeface="Microsoft YaHei" panose="020B0503020204020204" pitchFamily="34" charset="-122"/>
                <a:ea typeface="Microsoft YaHei" panose="020B0503020204020204" pitchFamily="34" charset="-122"/>
              </a:rPr>
              <a:t>SQL</a:t>
            </a:r>
            <a:r>
              <a:rPr lang="zh-CN" altLang="en-US" sz="1200" dirty="0">
                <a:latin typeface="Microsoft YaHei" panose="020B0503020204020204" pitchFamily="34" charset="-122"/>
                <a:ea typeface="Microsoft YaHei" panose="020B0503020204020204" pitchFamily="34" charset="-122"/>
              </a:rPr>
              <a:t>）及其宿主语言（例如</a:t>
            </a:r>
            <a:r>
              <a:rPr lang="en-US" altLang="zh-CN" sz="1200" dirty="0">
                <a:latin typeface="Microsoft YaHei" panose="020B0503020204020204" pitchFamily="34" charset="-122"/>
                <a:ea typeface="Microsoft YaHei" panose="020B0503020204020204" pitchFamily="34" charset="-122"/>
              </a:rPr>
              <a:t>C</a:t>
            </a:r>
            <a:r>
              <a:rPr lang="zh-CN" altLang="en-US" sz="1200" dirty="0">
                <a:latin typeface="Microsoft YaHei" panose="020B0503020204020204" pitchFamily="34" charset="-122"/>
                <a:ea typeface="Microsoft YaHei" panose="020B0503020204020204" pitchFamily="34" charset="-122"/>
              </a:rPr>
              <a:t>），根据逻辑设计和物理设计的结果建立数据库，编制与调试应用程序，组织数据入库，并进行试运行。</a:t>
            </a:r>
          </a:p>
        </p:txBody>
      </p:sp>
      <p:grpSp>
        <p:nvGrpSpPr>
          <p:cNvPr id="10" name="Group 7">
            <a:extLst>
              <a:ext uri="{FF2B5EF4-FFF2-40B4-BE49-F238E27FC236}">
                <a16:creationId xmlns:a16="http://schemas.microsoft.com/office/drawing/2014/main" id="{FDED447D-DB88-2643-9F68-57627778B6F8}"/>
              </a:ext>
            </a:extLst>
          </p:cNvPr>
          <p:cNvGrpSpPr/>
          <p:nvPr/>
        </p:nvGrpSpPr>
        <p:grpSpPr>
          <a:xfrm>
            <a:off x="4511868" y="2339398"/>
            <a:ext cx="4562476" cy="285750"/>
            <a:chOff x="0" y="0"/>
            <a:chExt cx="3832" cy="240"/>
          </a:xfrm>
        </p:grpSpPr>
        <p:sp>
          <p:nvSpPr>
            <p:cNvPr id="12" name="Line 9">
              <a:extLst>
                <a:ext uri="{FF2B5EF4-FFF2-40B4-BE49-F238E27FC236}">
                  <a16:creationId xmlns:a16="http://schemas.microsoft.com/office/drawing/2014/main" id="{688F5075-4E7C-0AB6-573F-4B69239EBD7A}"/>
                </a:ext>
              </a:extLst>
            </p:cNvPr>
            <p:cNvSpPr/>
            <p:nvPr/>
          </p:nvSpPr>
          <p:spPr>
            <a:xfrm>
              <a:off x="2014" y="123"/>
              <a:ext cx="1818" cy="0"/>
            </a:xfrm>
            <a:prstGeom prst="line">
              <a:avLst/>
            </a:prstGeom>
            <a:ln w="19050" cap="flat" cmpd="sng">
              <a:solidFill>
                <a:schemeClr val="hlink"/>
              </a:solidFill>
              <a:prstDash val="sysDot"/>
              <a:round/>
              <a:headEnd type="none" w="med" len="med"/>
              <a:tailEnd type="non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11" name="AutoShape 8">
              <a:extLst>
                <a:ext uri="{FF2B5EF4-FFF2-40B4-BE49-F238E27FC236}">
                  <a16:creationId xmlns:a16="http://schemas.microsoft.com/office/drawing/2014/main" id="{D9AC860B-31EA-4A50-F00D-021D70FF684F}"/>
                </a:ext>
              </a:extLst>
            </p:cNvPr>
            <p:cNvSpPr/>
            <p:nvPr/>
          </p:nvSpPr>
          <p:spPr>
            <a:xfrm>
              <a:off x="0" y="0"/>
              <a:ext cx="2128" cy="240"/>
            </a:xfrm>
            <a:prstGeom prst="roundRect">
              <a:avLst>
                <a:gd name="adj" fmla="val 50000"/>
              </a:avLst>
            </a:prstGeom>
            <a:solidFill>
              <a:schemeClr val="accent1"/>
            </a:solidFill>
            <a:ln w="9525" cap="flat" cmpd="sng">
              <a:solidFill>
                <a:schemeClr val="hlink"/>
              </a:solidFill>
              <a:prstDash val="solid"/>
              <a:round/>
              <a:headEnd type="none" w="med" len="med"/>
              <a:tailEnd type="none" w="med" len="med"/>
            </a:ln>
          </p:spPr>
          <p:txBody>
            <a:bodyPr wrap="none" anchor="ctr" anchorCtr="0"/>
            <a:lstStyle/>
            <a:p>
              <a:pPr>
                <a:spcBef>
                  <a:spcPct val="30000"/>
                </a:spcBef>
              </a:pPr>
              <a:r>
                <a:rPr lang="zh-CN" altLang="en-US" sz="1500" dirty="0">
                  <a:solidFill>
                    <a:schemeClr val="bg1"/>
                  </a:solidFill>
                  <a:latin typeface="Microsoft YaHei" panose="020B0503020204020204" pitchFamily="34" charset="-122"/>
                  <a:ea typeface="Microsoft YaHei" panose="020B0503020204020204" pitchFamily="34" charset="-122"/>
                </a:rPr>
                <a:t> ⒌  数据库实施阶段 ：</a:t>
              </a:r>
            </a:p>
          </p:txBody>
        </p:sp>
      </p:grpSp>
      <p:sp>
        <p:nvSpPr>
          <p:cNvPr id="13" name="Text Box 10">
            <a:extLst>
              <a:ext uri="{FF2B5EF4-FFF2-40B4-BE49-F238E27FC236}">
                <a16:creationId xmlns:a16="http://schemas.microsoft.com/office/drawing/2014/main" id="{4C61FF67-12EE-DE14-20B7-FA8DE0C69C09}"/>
              </a:ext>
            </a:extLst>
          </p:cNvPr>
          <p:cNvSpPr txBox="1"/>
          <p:nvPr/>
        </p:nvSpPr>
        <p:spPr>
          <a:xfrm>
            <a:off x="4541820" y="3838394"/>
            <a:ext cx="4438464" cy="784830"/>
          </a:xfrm>
          <a:prstGeom prst="rect">
            <a:avLst/>
          </a:prstGeom>
          <a:noFill/>
          <a:ln w="9525">
            <a:noFill/>
          </a:ln>
        </p:spPr>
        <p:txBody>
          <a:bodyPr wrap="square" anchor="t" anchorCtr="0">
            <a:spAutoFit/>
          </a:bodyPr>
          <a:lstStyle/>
          <a:p>
            <a:r>
              <a:rPr lang="zh-CN" altLang="en-US" sz="1500" dirty="0">
                <a:latin typeface="Microsoft YaHei" panose="020B0503020204020204" pitchFamily="34" charset="-122"/>
                <a:ea typeface="Microsoft YaHei" panose="020B0503020204020204" pitchFamily="34" charset="-122"/>
              </a:rPr>
              <a:t>数据库应用系统经过试运行后即可投入正式运行。在数据库系统运行过程中必须不断地对其进行评价、调整与修改。</a:t>
            </a:r>
          </a:p>
        </p:txBody>
      </p:sp>
      <p:grpSp>
        <p:nvGrpSpPr>
          <p:cNvPr id="14" name="Group 11">
            <a:extLst>
              <a:ext uri="{FF2B5EF4-FFF2-40B4-BE49-F238E27FC236}">
                <a16:creationId xmlns:a16="http://schemas.microsoft.com/office/drawing/2014/main" id="{37A43210-A6DA-7A29-671B-5A0C11D5EC1B}"/>
              </a:ext>
            </a:extLst>
          </p:cNvPr>
          <p:cNvGrpSpPr/>
          <p:nvPr/>
        </p:nvGrpSpPr>
        <p:grpSpPr>
          <a:xfrm>
            <a:off x="4511868" y="3495495"/>
            <a:ext cx="4538659" cy="285750"/>
            <a:chOff x="0" y="0"/>
            <a:chExt cx="3812" cy="240"/>
          </a:xfrm>
        </p:grpSpPr>
        <p:sp>
          <p:nvSpPr>
            <p:cNvPr id="16" name="Line 13">
              <a:extLst>
                <a:ext uri="{FF2B5EF4-FFF2-40B4-BE49-F238E27FC236}">
                  <a16:creationId xmlns:a16="http://schemas.microsoft.com/office/drawing/2014/main" id="{E35B97E7-8DEA-94E8-0F3A-1AAF8B7AC919}"/>
                </a:ext>
              </a:extLst>
            </p:cNvPr>
            <p:cNvSpPr/>
            <p:nvPr/>
          </p:nvSpPr>
          <p:spPr>
            <a:xfrm>
              <a:off x="1994" y="131"/>
              <a:ext cx="1818" cy="0"/>
            </a:xfrm>
            <a:prstGeom prst="line">
              <a:avLst/>
            </a:prstGeom>
            <a:ln w="19050" cap="flat" cmpd="sng">
              <a:solidFill>
                <a:schemeClr val="hlink"/>
              </a:solidFill>
              <a:prstDash val="sysDot"/>
              <a:round/>
              <a:headEnd type="none" w="med" len="med"/>
              <a:tailEnd type="non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15" name="AutoShape 12">
              <a:extLst>
                <a:ext uri="{FF2B5EF4-FFF2-40B4-BE49-F238E27FC236}">
                  <a16:creationId xmlns:a16="http://schemas.microsoft.com/office/drawing/2014/main" id="{3663D115-E2C8-DD11-C45B-B89BE6132BA7}"/>
                </a:ext>
              </a:extLst>
            </p:cNvPr>
            <p:cNvSpPr/>
            <p:nvPr/>
          </p:nvSpPr>
          <p:spPr>
            <a:xfrm>
              <a:off x="0" y="0"/>
              <a:ext cx="2138" cy="240"/>
            </a:xfrm>
            <a:prstGeom prst="roundRect">
              <a:avLst>
                <a:gd name="adj" fmla="val 50000"/>
              </a:avLst>
            </a:prstGeom>
            <a:solidFill>
              <a:schemeClr val="accent1"/>
            </a:solidFill>
            <a:ln w="9525" cap="flat" cmpd="sng">
              <a:solidFill>
                <a:schemeClr val="hlink"/>
              </a:solidFill>
              <a:prstDash val="solid"/>
              <a:round/>
              <a:headEnd type="none" w="med" len="med"/>
              <a:tailEnd type="none" w="med" len="med"/>
            </a:ln>
          </p:spPr>
          <p:txBody>
            <a:bodyPr wrap="none" anchor="ctr" anchorCtr="0"/>
            <a:lstStyle/>
            <a:p>
              <a:r>
                <a:rPr lang="zh-CN" altLang="en-US" sz="1500" dirty="0">
                  <a:solidFill>
                    <a:schemeClr val="bg1"/>
                  </a:solidFill>
                  <a:latin typeface="Microsoft YaHei" panose="020B0503020204020204" pitchFamily="34" charset="-122"/>
                  <a:ea typeface="Microsoft YaHei" panose="020B0503020204020204" pitchFamily="34" charset="-122"/>
                </a:rPr>
                <a:t>⒍  数据库运行和维护阶段 ：</a:t>
              </a:r>
            </a:p>
          </p:txBody>
        </p:sp>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B590EF1E-16C9-961A-A4A2-560AD73EC474}"/>
              </a:ext>
            </a:extLst>
          </p:cNvPr>
          <p:cNvGrpSpPr/>
          <p:nvPr/>
        </p:nvGrpSpPr>
        <p:grpSpPr>
          <a:xfrm>
            <a:off x="4241649" y="601138"/>
            <a:ext cx="3647282" cy="4116159"/>
            <a:chOff x="3451235" y="647633"/>
            <a:chExt cx="3647282" cy="4116159"/>
          </a:xfrm>
        </p:grpSpPr>
        <p:sp>
          <p:nvSpPr>
            <p:cNvPr id="15363" name="流程图: 多文档 190467"/>
            <p:cNvSpPr/>
            <p:nvPr/>
          </p:nvSpPr>
          <p:spPr>
            <a:xfrm>
              <a:off x="3600450" y="647633"/>
              <a:ext cx="1600200" cy="533534"/>
            </a:xfrm>
            <a:prstGeom prst="flowChartMultidocument">
              <a:avLst/>
            </a:prstGeom>
            <a:solidFill>
              <a:srgbClr val="BFFFEE"/>
            </a:solidFill>
            <a:ln w="9525" cap="flat" cmpd="sng">
              <a:solidFill>
                <a:schemeClr val="tx1"/>
              </a:solidFill>
              <a:prstDash val="solid"/>
              <a:miter/>
              <a:headEnd type="none" w="med" len="med"/>
              <a:tailEnd type="none" w="med" len="med"/>
            </a:ln>
          </p:spPr>
          <p:txBody>
            <a:bodyPr wrap="none" anchor="ctr" anchorCtr="0"/>
            <a:lstStyle/>
            <a:p>
              <a:pPr algn="ctr">
                <a:spcBef>
                  <a:spcPct val="20000"/>
                </a:spcBef>
                <a:buClr>
                  <a:schemeClr val="folHlink"/>
                </a:buClr>
                <a:buSzPct val="60000"/>
                <a:buFont typeface="Wingdings" panose="05000000000000000000" pitchFamily="2" charset="2"/>
              </a:pPr>
              <a:r>
                <a:rPr lang="zh-CN" altLang="en-US" sz="1350" dirty="0">
                  <a:latin typeface="Tahoma" panose="020B0604030504040204" pitchFamily="34" charset="0"/>
                  <a:ea typeface="宋体" panose="02010600030101010101" pitchFamily="2" charset="-122"/>
                </a:rPr>
                <a:t>需求分析</a:t>
              </a:r>
            </a:p>
          </p:txBody>
        </p:sp>
        <p:sp>
          <p:nvSpPr>
            <p:cNvPr id="15364" name="棱台 190468"/>
            <p:cNvSpPr/>
            <p:nvPr/>
          </p:nvSpPr>
          <p:spPr>
            <a:xfrm>
              <a:off x="3486150" y="1445684"/>
              <a:ext cx="1543050" cy="421282"/>
            </a:xfrm>
            <a:prstGeom prst="bevel">
              <a:avLst>
                <a:gd name="adj" fmla="val 12500"/>
              </a:avLst>
            </a:prstGeom>
            <a:solidFill>
              <a:srgbClr val="FFCCCC"/>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Tahoma" panose="020B0604030504040204" pitchFamily="34" charset="0"/>
                  <a:ea typeface="宋体" panose="02010600030101010101" pitchFamily="2" charset="-122"/>
                </a:rPr>
                <a:t>概念结构设计</a:t>
              </a:r>
            </a:p>
          </p:txBody>
        </p:sp>
        <p:sp>
          <p:nvSpPr>
            <p:cNvPr id="15365" name="缺角矩形 190469"/>
            <p:cNvSpPr/>
            <p:nvPr/>
          </p:nvSpPr>
          <p:spPr>
            <a:xfrm>
              <a:off x="3486150" y="2192095"/>
              <a:ext cx="1543050" cy="359830"/>
            </a:xfrm>
            <a:prstGeom prst="plaque">
              <a:avLst>
                <a:gd name="adj" fmla="val 16667"/>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Tahoma" panose="020B0604030504040204" pitchFamily="34" charset="0"/>
                  <a:ea typeface="宋体" panose="02010600030101010101" pitchFamily="2" charset="-122"/>
                </a:rPr>
                <a:t>逻辑结构设计</a:t>
              </a:r>
            </a:p>
          </p:txBody>
        </p:sp>
        <p:sp>
          <p:nvSpPr>
            <p:cNvPr id="15366" name="圆柱形 190470"/>
            <p:cNvSpPr/>
            <p:nvPr/>
          </p:nvSpPr>
          <p:spPr>
            <a:xfrm>
              <a:off x="3486149" y="2885086"/>
              <a:ext cx="1543050" cy="400149"/>
            </a:xfrm>
            <a:prstGeom prst="can">
              <a:avLst>
                <a:gd name="adj" fmla="val 25000"/>
              </a:avLst>
            </a:prstGeom>
            <a:solidFill>
              <a:srgbClr val="FFF1B5"/>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Tahoma" panose="020B0604030504040204" pitchFamily="34" charset="0"/>
                  <a:ea typeface="宋体" panose="02010600030101010101" pitchFamily="2" charset="-122"/>
                </a:rPr>
                <a:t>数据库物理设计</a:t>
              </a:r>
            </a:p>
          </p:txBody>
        </p:sp>
        <p:sp>
          <p:nvSpPr>
            <p:cNvPr id="15367" name="横卷形 190471"/>
            <p:cNvSpPr/>
            <p:nvPr/>
          </p:nvSpPr>
          <p:spPr>
            <a:xfrm>
              <a:off x="3486149" y="3434993"/>
              <a:ext cx="1543050" cy="742950"/>
            </a:xfrm>
            <a:prstGeom prst="horizontalScroll">
              <a:avLst>
                <a:gd name="adj" fmla="val 25000"/>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Tahoma" panose="020B0604030504040204" pitchFamily="34" charset="0"/>
                  <a:ea typeface="宋体" panose="02010600030101010101" pitchFamily="2" charset="-122"/>
                </a:rPr>
                <a:t>数据库实施</a:t>
              </a:r>
            </a:p>
          </p:txBody>
        </p:sp>
        <p:grpSp>
          <p:nvGrpSpPr>
            <p:cNvPr id="15368" name="组合 190472"/>
            <p:cNvGrpSpPr/>
            <p:nvPr/>
          </p:nvGrpSpPr>
          <p:grpSpPr>
            <a:xfrm>
              <a:off x="3451235" y="4306592"/>
              <a:ext cx="1628775" cy="457200"/>
              <a:chOff x="1896" y="3552"/>
              <a:chExt cx="1368" cy="384"/>
            </a:xfrm>
          </p:grpSpPr>
          <p:sp>
            <p:nvSpPr>
              <p:cNvPr id="15369" name="流程图: 准备 190473"/>
              <p:cNvSpPr/>
              <p:nvPr/>
            </p:nvSpPr>
            <p:spPr>
              <a:xfrm>
                <a:off x="1968" y="3552"/>
                <a:ext cx="1296" cy="384"/>
              </a:xfrm>
              <a:prstGeom prst="flowChartPreparation">
                <a:avLst/>
              </a:prstGeom>
              <a:solidFill>
                <a:srgbClr val="47FFC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Tahoma" panose="020B0604030504040204" pitchFamily="34" charset="0"/>
                    <a:ea typeface="宋体" panose="02010600030101010101" pitchFamily="2" charset="-122"/>
                  </a:rPr>
                  <a:t>数据库</a:t>
                </a:r>
              </a:p>
              <a:p>
                <a:pPr algn="ctr"/>
                <a:r>
                  <a:rPr lang="zh-CN" altLang="en-US" sz="1350" dirty="0">
                    <a:latin typeface="Tahoma" panose="020B0604030504040204" pitchFamily="34" charset="0"/>
                    <a:ea typeface="宋体" panose="02010600030101010101" pitchFamily="2" charset="-122"/>
                  </a:rPr>
                  <a:t>运行和维护</a:t>
                </a:r>
              </a:p>
            </p:txBody>
          </p:sp>
          <p:sp>
            <p:nvSpPr>
              <p:cNvPr id="15370" name="笑脸 190474"/>
              <p:cNvSpPr/>
              <p:nvPr/>
            </p:nvSpPr>
            <p:spPr>
              <a:xfrm>
                <a:off x="1896" y="3552"/>
                <a:ext cx="336" cy="384"/>
              </a:xfrm>
              <a:prstGeom prst="smileyFace">
                <a:avLst>
                  <a:gd name="adj" fmla="val 4653"/>
                </a:avLst>
              </a:prstGeom>
              <a:solidFill>
                <a:srgbClr val="FFF1B5"/>
              </a:solidFill>
              <a:ln w="9525" cap="flat" cmpd="sng">
                <a:solidFill>
                  <a:schemeClr val="tx1"/>
                </a:solidFill>
                <a:prstDash val="solid"/>
                <a:miter/>
                <a:headEnd type="none" w="med" len="med"/>
                <a:tailEnd type="none" w="med" len="med"/>
              </a:ln>
            </p:spPr>
            <p:txBody>
              <a:bodyPr anchor="t" anchorCtr="0"/>
              <a:lstStyle/>
              <a:p>
                <a:endParaRPr lang="zh-CN" altLang="en-US" sz="1350" dirty="0">
                  <a:latin typeface="Tahoma" panose="020B0604030504040204" pitchFamily="34" charset="0"/>
                  <a:ea typeface="宋体" panose="02010600030101010101" pitchFamily="2" charset="-122"/>
                </a:endParaRPr>
              </a:p>
            </p:txBody>
          </p:sp>
        </p:grpSp>
        <p:grpSp>
          <p:nvGrpSpPr>
            <p:cNvPr id="15371" name="组合 190475"/>
            <p:cNvGrpSpPr/>
            <p:nvPr/>
          </p:nvGrpSpPr>
          <p:grpSpPr>
            <a:xfrm>
              <a:off x="4179898" y="1143000"/>
              <a:ext cx="175022" cy="3160889"/>
              <a:chOff x="2544" y="1008"/>
              <a:chExt cx="147" cy="2560"/>
            </a:xfrm>
          </p:grpSpPr>
          <p:sp>
            <p:nvSpPr>
              <p:cNvPr id="15372" name="下箭头 190476"/>
              <p:cNvSpPr/>
              <p:nvPr/>
            </p:nvSpPr>
            <p:spPr>
              <a:xfrm>
                <a:off x="2544" y="1008"/>
                <a:ext cx="144" cy="240"/>
              </a:xfrm>
              <a:prstGeom prst="downArrow">
                <a:avLst>
                  <a:gd name="adj1" fmla="val 50000"/>
                  <a:gd name="adj2" fmla="val 41589"/>
                </a:avLst>
              </a:prstGeom>
              <a:solidFill>
                <a:schemeClr val="hlink"/>
              </a:solidFill>
              <a:ln w="9525" cap="flat" cmpd="sng">
                <a:solidFill>
                  <a:schemeClr val="tx1"/>
                </a:solidFill>
                <a:prstDash val="solid"/>
                <a:miter/>
                <a:headEnd type="none" w="med" len="med"/>
                <a:tailEnd type="none" w="med" len="med"/>
              </a:ln>
            </p:spPr>
            <p:txBody>
              <a:bodyPr anchor="t" anchorCtr="0"/>
              <a:lstStyle/>
              <a:p>
                <a:endParaRPr lang="zh-CN" altLang="en-US" sz="1350" dirty="0">
                  <a:latin typeface="Tahoma" panose="020B0604030504040204" pitchFamily="34" charset="0"/>
                  <a:ea typeface="宋体" panose="02010600030101010101" pitchFamily="2" charset="-122"/>
                </a:endParaRPr>
              </a:p>
            </p:txBody>
          </p:sp>
          <p:sp>
            <p:nvSpPr>
              <p:cNvPr id="15373" name="下箭头 190477"/>
              <p:cNvSpPr/>
              <p:nvPr/>
            </p:nvSpPr>
            <p:spPr>
              <a:xfrm>
                <a:off x="2544" y="1606"/>
                <a:ext cx="144" cy="240"/>
              </a:xfrm>
              <a:prstGeom prst="downArrow">
                <a:avLst>
                  <a:gd name="adj1" fmla="val 50000"/>
                  <a:gd name="adj2" fmla="val 41589"/>
                </a:avLst>
              </a:prstGeom>
              <a:solidFill>
                <a:schemeClr val="hlink"/>
              </a:solidFill>
              <a:ln w="9525" cap="flat" cmpd="sng">
                <a:solidFill>
                  <a:schemeClr val="tx1"/>
                </a:solidFill>
                <a:prstDash val="solid"/>
                <a:miter/>
                <a:headEnd type="none" w="med" len="med"/>
                <a:tailEnd type="none" w="med" len="med"/>
              </a:ln>
            </p:spPr>
            <p:txBody>
              <a:bodyPr anchor="t" anchorCtr="0"/>
              <a:lstStyle/>
              <a:p>
                <a:endParaRPr lang="zh-CN" altLang="en-US" sz="1350" dirty="0">
                  <a:latin typeface="Tahoma" panose="020B0604030504040204" pitchFamily="34" charset="0"/>
                  <a:ea typeface="宋体" panose="02010600030101010101" pitchFamily="2" charset="-122"/>
                </a:endParaRPr>
              </a:p>
            </p:txBody>
          </p:sp>
          <p:sp>
            <p:nvSpPr>
              <p:cNvPr id="15374" name="下箭头 190478"/>
              <p:cNvSpPr/>
              <p:nvPr/>
            </p:nvSpPr>
            <p:spPr>
              <a:xfrm>
                <a:off x="2547" y="2164"/>
                <a:ext cx="144" cy="240"/>
              </a:xfrm>
              <a:prstGeom prst="downArrow">
                <a:avLst>
                  <a:gd name="adj1" fmla="val 50000"/>
                  <a:gd name="adj2" fmla="val 41589"/>
                </a:avLst>
              </a:prstGeom>
              <a:solidFill>
                <a:schemeClr val="hlink"/>
              </a:solidFill>
              <a:ln w="9525" cap="flat" cmpd="sng">
                <a:solidFill>
                  <a:schemeClr val="tx1"/>
                </a:solidFill>
                <a:prstDash val="solid"/>
                <a:miter/>
                <a:headEnd type="none" w="med" len="med"/>
                <a:tailEnd type="none" w="med" len="med"/>
              </a:ln>
            </p:spPr>
            <p:txBody>
              <a:bodyPr anchor="t" anchorCtr="0"/>
              <a:lstStyle/>
              <a:p>
                <a:endParaRPr lang="zh-CN" altLang="en-US" sz="1350" dirty="0">
                  <a:latin typeface="Tahoma" panose="020B0604030504040204" pitchFamily="34" charset="0"/>
                  <a:ea typeface="宋体" panose="02010600030101010101" pitchFamily="2" charset="-122"/>
                </a:endParaRPr>
              </a:p>
            </p:txBody>
          </p:sp>
          <p:sp>
            <p:nvSpPr>
              <p:cNvPr id="15375" name="下箭头 190479"/>
              <p:cNvSpPr/>
              <p:nvPr/>
            </p:nvSpPr>
            <p:spPr>
              <a:xfrm>
                <a:off x="2544" y="2758"/>
                <a:ext cx="144" cy="240"/>
              </a:xfrm>
              <a:prstGeom prst="downArrow">
                <a:avLst>
                  <a:gd name="adj1" fmla="val 50000"/>
                  <a:gd name="adj2" fmla="val 41589"/>
                </a:avLst>
              </a:prstGeom>
              <a:solidFill>
                <a:schemeClr val="hlink"/>
              </a:solidFill>
              <a:ln w="9525" cap="flat" cmpd="sng">
                <a:solidFill>
                  <a:schemeClr val="tx1"/>
                </a:solidFill>
                <a:prstDash val="solid"/>
                <a:miter/>
                <a:headEnd type="none" w="med" len="med"/>
                <a:tailEnd type="none" w="med" len="med"/>
              </a:ln>
            </p:spPr>
            <p:txBody>
              <a:bodyPr anchor="t" anchorCtr="0"/>
              <a:lstStyle/>
              <a:p>
                <a:endParaRPr lang="zh-CN" altLang="en-US" sz="1350" dirty="0">
                  <a:latin typeface="Tahoma" panose="020B0604030504040204" pitchFamily="34" charset="0"/>
                  <a:ea typeface="宋体" panose="02010600030101010101" pitchFamily="2" charset="-122"/>
                </a:endParaRPr>
              </a:p>
            </p:txBody>
          </p:sp>
          <p:sp>
            <p:nvSpPr>
              <p:cNvPr id="15376" name="下箭头 190480"/>
              <p:cNvSpPr/>
              <p:nvPr/>
            </p:nvSpPr>
            <p:spPr>
              <a:xfrm>
                <a:off x="2544" y="3328"/>
                <a:ext cx="144" cy="240"/>
              </a:xfrm>
              <a:prstGeom prst="downArrow">
                <a:avLst>
                  <a:gd name="adj1" fmla="val 50000"/>
                  <a:gd name="adj2" fmla="val 41589"/>
                </a:avLst>
              </a:prstGeom>
              <a:solidFill>
                <a:schemeClr val="hlink"/>
              </a:solidFill>
              <a:ln w="9525" cap="flat" cmpd="sng">
                <a:solidFill>
                  <a:schemeClr val="tx1"/>
                </a:solidFill>
                <a:prstDash val="solid"/>
                <a:miter/>
                <a:headEnd type="none" w="med" len="med"/>
                <a:tailEnd type="none" w="med" len="med"/>
              </a:ln>
            </p:spPr>
            <p:txBody>
              <a:bodyPr anchor="t" anchorCtr="0"/>
              <a:lstStyle/>
              <a:p>
                <a:endParaRPr lang="zh-CN" altLang="en-US" sz="1350" dirty="0">
                  <a:latin typeface="Tahoma" panose="020B0604030504040204" pitchFamily="34" charset="0"/>
                  <a:ea typeface="宋体" panose="02010600030101010101" pitchFamily="2" charset="-122"/>
                </a:endParaRPr>
              </a:p>
            </p:txBody>
          </p:sp>
        </p:grpSp>
        <p:grpSp>
          <p:nvGrpSpPr>
            <p:cNvPr id="15377" name="组合 190481"/>
            <p:cNvGrpSpPr/>
            <p:nvPr/>
          </p:nvGrpSpPr>
          <p:grpSpPr>
            <a:xfrm>
              <a:off x="5200649" y="723766"/>
              <a:ext cx="1897856" cy="303609"/>
              <a:chOff x="3408" y="671"/>
              <a:chExt cx="1594" cy="255"/>
            </a:xfrm>
          </p:grpSpPr>
          <p:sp>
            <p:nvSpPr>
              <p:cNvPr id="15378" name="圆角矩形 190482"/>
              <p:cNvSpPr/>
              <p:nvPr/>
            </p:nvSpPr>
            <p:spPr>
              <a:xfrm>
                <a:off x="3840" y="671"/>
                <a:ext cx="1162" cy="255"/>
              </a:xfrm>
              <a:prstGeom prst="roundRect">
                <a:avLst>
                  <a:gd name="adj" fmla="val 16667"/>
                </a:avLst>
              </a:prstGeom>
              <a:solidFill>
                <a:srgbClr val="BFFFEE"/>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Tahoma" panose="020B0604030504040204" pitchFamily="34" charset="0"/>
                    <a:ea typeface="宋体" panose="02010600030101010101" pitchFamily="2" charset="-122"/>
                  </a:rPr>
                  <a:t>需求收集和分析</a:t>
                </a:r>
              </a:p>
            </p:txBody>
          </p:sp>
          <p:sp>
            <p:nvSpPr>
              <p:cNvPr id="15379" name="直接连接符 190483"/>
              <p:cNvSpPr/>
              <p:nvPr/>
            </p:nvSpPr>
            <p:spPr>
              <a:xfrm>
                <a:off x="3408" y="799"/>
                <a:ext cx="432" cy="0"/>
              </a:xfrm>
              <a:prstGeom prst="line">
                <a:avLst/>
              </a:prstGeom>
              <a:ln w="28575" cap="flat" cmpd="sng">
                <a:solidFill>
                  <a:schemeClr val="tx1"/>
                </a:solidFill>
                <a:prstDash val="dash"/>
                <a:miter/>
                <a:headEnd type="none" w="med" len="med"/>
                <a:tailEnd type="none" w="med" len="med"/>
              </a:ln>
            </p:spPr>
            <p:txBody>
              <a:bodyPr/>
              <a:lstStyle/>
              <a:p>
                <a:endParaRPr lang="zh-CN" altLang="en-US" sz="1350"/>
              </a:p>
            </p:txBody>
          </p:sp>
        </p:grpSp>
        <p:grpSp>
          <p:nvGrpSpPr>
            <p:cNvPr id="15380" name="组合 190484"/>
            <p:cNvGrpSpPr/>
            <p:nvPr/>
          </p:nvGrpSpPr>
          <p:grpSpPr>
            <a:xfrm>
              <a:off x="5035160" y="1487258"/>
              <a:ext cx="2063357" cy="313134"/>
              <a:chOff x="3365" y="1199"/>
              <a:chExt cx="1733" cy="263"/>
            </a:xfrm>
          </p:grpSpPr>
          <p:sp>
            <p:nvSpPr>
              <p:cNvPr id="15381" name="圆角矩形 190485"/>
              <p:cNvSpPr/>
              <p:nvPr/>
            </p:nvSpPr>
            <p:spPr>
              <a:xfrm>
                <a:off x="3936" y="1199"/>
                <a:ext cx="1162" cy="263"/>
              </a:xfrm>
              <a:prstGeom prst="roundRect">
                <a:avLst>
                  <a:gd name="adj" fmla="val 16667"/>
                </a:avLst>
              </a:prstGeom>
              <a:solidFill>
                <a:srgbClr val="FFCCCC"/>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Tahoma" panose="020B0604030504040204" pitchFamily="34" charset="0"/>
                    <a:ea typeface="宋体" panose="02010600030101010101" pitchFamily="2" charset="-122"/>
                  </a:rPr>
                  <a:t>设计概念结构</a:t>
                </a:r>
              </a:p>
            </p:txBody>
          </p:sp>
          <p:sp>
            <p:nvSpPr>
              <p:cNvPr id="15382" name="直接连接符 190486"/>
              <p:cNvSpPr/>
              <p:nvPr/>
            </p:nvSpPr>
            <p:spPr>
              <a:xfrm>
                <a:off x="3365" y="1344"/>
                <a:ext cx="575" cy="0"/>
              </a:xfrm>
              <a:prstGeom prst="line">
                <a:avLst/>
              </a:prstGeom>
              <a:ln w="28575" cap="flat" cmpd="sng">
                <a:solidFill>
                  <a:schemeClr val="tx1"/>
                </a:solidFill>
                <a:prstDash val="dash"/>
                <a:miter/>
                <a:headEnd type="none" w="med" len="med"/>
                <a:tailEnd type="none" w="med" len="med"/>
              </a:ln>
            </p:spPr>
            <p:txBody>
              <a:bodyPr/>
              <a:lstStyle/>
              <a:p>
                <a:endParaRPr lang="zh-CN" altLang="en-US" sz="1350"/>
              </a:p>
            </p:txBody>
          </p:sp>
        </p:grpSp>
        <p:grpSp>
          <p:nvGrpSpPr>
            <p:cNvPr id="15383" name="组合 190487"/>
            <p:cNvGrpSpPr/>
            <p:nvPr/>
          </p:nvGrpSpPr>
          <p:grpSpPr>
            <a:xfrm>
              <a:off x="5028012" y="2152818"/>
              <a:ext cx="2070499" cy="442913"/>
              <a:chOff x="3263" y="1758"/>
              <a:chExt cx="1739" cy="372"/>
            </a:xfrm>
          </p:grpSpPr>
          <p:sp>
            <p:nvSpPr>
              <p:cNvPr id="15384" name="圆角矩形 190488"/>
              <p:cNvSpPr/>
              <p:nvPr/>
            </p:nvSpPr>
            <p:spPr>
              <a:xfrm>
                <a:off x="3840" y="1758"/>
                <a:ext cx="1162" cy="372"/>
              </a:xfrm>
              <a:prstGeom prst="roundRect">
                <a:avLst>
                  <a:gd name="adj" fmla="val 16667"/>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Tahoma" panose="020B0604030504040204" pitchFamily="34" charset="0"/>
                    <a:ea typeface="宋体" panose="02010600030101010101" pitchFamily="2" charset="-122"/>
                  </a:rPr>
                  <a:t>设计逻辑结构</a:t>
                </a:r>
              </a:p>
              <a:p>
                <a:pPr algn="ctr"/>
                <a:r>
                  <a:rPr lang="zh-CN" altLang="en-US" sz="1350" dirty="0">
                    <a:latin typeface="Tahoma" panose="020B0604030504040204" pitchFamily="34" charset="0"/>
                    <a:ea typeface="宋体" panose="02010600030101010101" pitchFamily="2" charset="-122"/>
                  </a:rPr>
                  <a:t>数据模型优化</a:t>
                </a:r>
              </a:p>
            </p:txBody>
          </p:sp>
          <p:sp>
            <p:nvSpPr>
              <p:cNvPr id="15385" name="直接连接符 190489"/>
              <p:cNvSpPr/>
              <p:nvPr/>
            </p:nvSpPr>
            <p:spPr>
              <a:xfrm>
                <a:off x="3263" y="1943"/>
                <a:ext cx="581" cy="0"/>
              </a:xfrm>
              <a:prstGeom prst="line">
                <a:avLst/>
              </a:prstGeom>
              <a:ln w="28575" cap="flat" cmpd="sng">
                <a:solidFill>
                  <a:schemeClr val="tx1"/>
                </a:solidFill>
                <a:prstDash val="dash"/>
                <a:miter/>
                <a:headEnd type="none" w="med" len="med"/>
                <a:tailEnd type="none" w="med" len="med"/>
              </a:ln>
            </p:spPr>
            <p:txBody>
              <a:bodyPr/>
              <a:lstStyle/>
              <a:p>
                <a:endParaRPr lang="zh-CN" altLang="en-US" sz="1350"/>
              </a:p>
            </p:txBody>
          </p:sp>
        </p:grpSp>
        <p:grpSp>
          <p:nvGrpSpPr>
            <p:cNvPr id="15386" name="组合 190490"/>
            <p:cNvGrpSpPr/>
            <p:nvPr/>
          </p:nvGrpSpPr>
          <p:grpSpPr>
            <a:xfrm>
              <a:off x="5038724" y="2824331"/>
              <a:ext cx="2059781" cy="514350"/>
              <a:chOff x="3272" y="2418"/>
              <a:chExt cx="1730" cy="432"/>
            </a:xfrm>
          </p:grpSpPr>
          <p:sp>
            <p:nvSpPr>
              <p:cNvPr id="15387" name="圆角矩形 190491"/>
              <p:cNvSpPr/>
              <p:nvPr/>
            </p:nvSpPr>
            <p:spPr>
              <a:xfrm>
                <a:off x="3840" y="2418"/>
                <a:ext cx="1162" cy="432"/>
              </a:xfrm>
              <a:prstGeom prst="roundRect">
                <a:avLst>
                  <a:gd name="adj" fmla="val 16667"/>
                </a:avLst>
              </a:prstGeom>
              <a:solidFill>
                <a:srgbClr val="FFF1B5"/>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Tahoma" panose="020B0604030504040204" pitchFamily="34" charset="0"/>
                    <a:ea typeface="宋体" panose="02010600030101010101" pitchFamily="2" charset="-122"/>
                  </a:rPr>
                  <a:t>设计物理结构评</a:t>
                </a:r>
                <a:endParaRPr lang="en-US" altLang="zh-CN" sz="1350" dirty="0">
                  <a:latin typeface="Tahoma" panose="020B0604030504040204" pitchFamily="34" charset="0"/>
                  <a:ea typeface="宋体" panose="02010600030101010101" pitchFamily="2" charset="-122"/>
                </a:endParaRPr>
              </a:p>
              <a:p>
                <a:pPr algn="ctr"/>
                <a:r>
                  <a:rPr lang="zh-CN" altLang="en-US" sz="1350" dirty="0">
                    <a:latin typeface="Tahoma" panose="020B0604030504040204" pitchFamily="34" charset="0"/>
                    <a:ea typeface="宋体" panose="02010600030101010101" pitchFamily="2" charset="-122"/>
                  </a:rPr>
                  <a:t>价设计、性能预测</a:t>
                </a:r>
              </a:p>
            </p:txBody>
          </p:sp>
          <p:sp>
            <p:nvSpPr>
              <p:cNvPr id="15388" name="直接连接符 190492"/>
              <p:cNvSpPr/>
              <p:nvPr/>
            </p:nvSpPr>
            <p:spPr>
              <a:xfrm>
                <a:off x="3272" y="2640"/>
                <a:ext cx="561" cy="0"/>
              </a:xfrm>
              <a:prstGeom prst="line">
                <a:avLst/>
              </a:prstGeom>
              <a:ln w="28575" cap="flat" cmpd="sng">
                <a:solidFill>
                  <a:schemeClr val="tx1"/>
                </a:solidFill>
                <a:prstDash val="dash"/>
                <a:miter/>
                <a:headEnd type="none" w="med" len="med"/>
                <a:tailEnd type="none" w="med" len="med"/>
              </a:ln>
            </p:spPr>
            <p:txBody>
              <a:bodyPr/>
              <a:lstStyle/>
              <a:p>
                <a:endParaRPr lang="zh-CN" altLang="en-US" sz="1350"/>
              </a:p>
            </p:txBody>
          </p:sp>
        </p:grpSp>
        <p:grpSp>
          <p:nvGrpSpPr>
            <p:cNvPr id="15389" name="组合 190493"/>
            <p:cNvGrpSpPr/>
            <p:nvPr/>
          </p:nvGrpSpPr>
          <p:grpSpPr>
            <a:xfrm>
              <a:off x="5025622" y="3583962"/>
              <a:ext cx="2072875" cy="457200"/>
              <a:chOff x="3261" y="3072"/>
              <a:chExt cx="1741" cy="384"/>
            </a:xfrm>
          </p:grpSpPr>
          <p:sp>
            <p:nvSpPr>
              <p:cNvPr id="15390" name="圆角矩形 190494"/>
              <p:cNvSpPr/>
              <p:nvPr/>
            </p:nvSpPr>
            <p:spPr>
              <a:xfrm>
                <a:off x="3840" y="3072"/>
                <a:ext cx="1162" cy="384"/>
              </a:xfrm>
              <a:prstGeom prst="roundRect">
                <a:avLst>
                  <a:gd name="adj" fmla="val 16667"/>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Tahoma" panose="020B0604030504040204" pitchFamily="34" charset="0"/>
                    <a:ea typeface="宋体" panose="02010600030101010101" pitchFamily="2" charset="-122"/>
                  </a:rPr>
                  <a:t>物理实现</a:t>
                </a:r>
              </a:p>
              <a:p>
                <a:pPr algn="ctr"/>
                <a:r>
                  <a:rPr lang="zh-CN" altLang="en-US" sz="1350" dirty="0">
                    <a:latin typeface="Tahoma" panose="020B0604030504040204" pitchFamily="34" charset="0"/>
                    <a:ea typeface="宋体" panose="02010600030101010101" pitchFamily="2" charset="-122"/>
                  </a:rPr>
                  <a:t>试运行</a:t>
                </a:r>
              </a:p>
            </p:txBody>
          </p:sp>
          <p:sp>
            <p:nvSpPr>
              <p:cNvPr id="15391" name="直接连接符 190495"/>
              <p:cNvSpPr/>
              <p:nvPr/>
            </p:nvSpPr>
            <p:spPr>
              <a:xfrm>
                <a:off x="3261" y="3264"/>
                <a:ext cx="581" cy="0"/>
              </a:xfrm>
              <a:prstGeom prst="line">
                <a:avLst/>
              </a:prstGeom>
              <a:ln w="28575" cap="flat" cmpd="sng">
                <a:solidFill>
                  <a:schemeClr val="tx1"/>
                </a:solidFill>
                <a:prstDash val="dash"/>
                <a:miter/>
                <a:headEnd type="none" w="med" len="med"/>
                <a:tailEnd type="none" w="med" len="med"/>
              </a:ln>
            </p:spPr>
            <p:txBody>
              <a:bodyPr/>
              <a:lstStyle/>
              <a:p>
                <a:endParaRPr lang="zh-CN" altLang="en-US" sz="1350"/>
              </a:p>
            </p:txBody>
          </p:sp>
        </p:grpSp>
        <p:grpSp>
          <p:nvGrpSpPr>
            <p:cNvPr id="15392" name="组合 190496"/>
            <p:cNvGrpSpPr/>
            <p:nvPr/>
          </p:nvGrpSpPr>
          <p:grpSpPr>
            <a:xfrm>
              <a:off x="5068743" y="4361201"/>
              <a:ext cx="2029753" cy="350044"/>
              <a:chOff x="3296" y="3648"/>
              <a:chExt cx="2320" cy="294"/>
            </a:xfrm>
          </p:grpSpPr>
          <p:sp>
            <p:nvSpPr>
              <p:cNvPr id="15393" name="圆角矩形 190497"/>
              <p:cNvSpPr/>
              <p:nvPr/>
            </p:nvSpPr>
            <p:spPr>
              <a:xfrm>
                <a:off x="4025" y="3648"/>
                <a:ext cx="1591" cy="294"/>
              </a:xfrm>
              <a:prstGeom prst="roundRect">
                <a:avLst>
                  <a:gd name="adj" fmla="val 16667"/>
                </a:avLst>
              </a:prstGeom>
              <a:solidFill>
                <a:srgbClr val="47FFC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Tahoma" panose="020B0604030504040204" pitchFamily="34" charset="0"/>
                    <a:ea typeface="宋体" panose="02010600030101010101" pitchFamily="2" charset="-122"/>
                  </a:rPr>
                  <a:t>使用、维护数据库</a:t>
                </a:r>
              </a:p>
            </p:txBody>
          </p:sp>
          <p:sp>
            <p:nvSpPr>
              <p:cNvPr id="15394" name="直接连接符 190498"/>
              <p:cNvSpPr/>
              <p:nvPr/>
            </p:nvSpPr>
            <p:spPr>
              <a:xfrm>
                <a:off x="3296" y="3796"/>
                <a:ext cx="722" cy="0"/>
              </a:xfrm>
              <a:prstGeom prst="line">
                <a:avLst/>
              </a:prstGeom>
              <a:ln w="28575" cap="flat" cmpd="sng">
                <a:solidFill>
                  <a:schemeClr val="tx1"/>
                </a:solidFill>
                <a:prstDash val="dash"/>
                <a:miter/>
                <a:headEnd type="none" w="med" len="med"/>
                <a:tailEnd type="none" w="med" len="med"/>
              </a:ln>
            </p:spPr>
            <p:txBody>
              <a:bodyPr/>
              <a:lstStyle/>
              <a:p>
                <a:endParaRPr lang="zh-CN" altLang="en-US" sz="1350"/>
              </a:p>
            </p:txBody>
          </p:sp>
        </p:grpSp>
      </p:grpSp>
      <p:sp>
        <p:nvSpPr>
          <p:cNvPr id="4" name="标题 3">
            <a:extLst>
              <a:ext uri="{FF2B5EF4-FFF2-40B4-BE49-F238E27FC236}">
                <a16:creationId xmlns:a16="http://schemas.microsoft.com/office/drawing/2014/main" id="{AE773816-43F4-E80A-843E-54A1E0B36CC9}"/>
              </a:ext>
            </a:extLst>
          </p:cNvPr>
          <p:cNvSpPr>
            <a:spLocks noGrp="1"/>
          </p:cNvSpPr>
          <p:nvPr>
            <p:ph type="title"/>
          </p:nvPr>
        </p:nvSpPr>
        <p:spPr>
          <a:xfrm>
            <a:off x="490753" y="1725440"/>
            <a:ext cx="3246277" cy="1200150"/>
          </a:xfrm>
        </p:spPr>
        <p:txBody>
          <a:bodyPr/>
          <a:lstStyle/>
          <a:p>
            <a:r>
              <a:rPr lang="zh-CN" altLang="en-US" dirty="0"/>
              <a:t>数据库设计步骤</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FA885-7B49-3E4F-4DA7-C6C4EE4ABD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5670543-F79B-489B-F4FC-CA06CE94616C}"/>
              </a:ext>
            </a:extLst>
          </p:cNvPr>
          <p:cNvSpPr txBox="1"/>
          <p:nvPr/>
        </p:nvSpPr>
        <p:spPr>
          <a:xfrm>
            <a:off x="1006545" y="2781596"/>
            <a:ext cx="7458075" cy="661988"/>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需求分析</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C05859E5-37C5-CBD8-D818-96F78C112E9A}"/>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81C1CB3D-1EFF-4B3B-FBB4-04DF9E02E330}"/>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6AE206A0-19EA-8FFC-6389-986F06609280}"/>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A7EFE87F-3B5B-53CD-934D-551923C276B0}"/>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31B31A32-8229-2AF0-11BE-BC16E9575127}"/>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D227F9AE-ED98-9EF6-EC1F-B5F396796DBF}"/>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15FC65A4-2E2B-809F-65F3-AB3028CCE959}"/>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D8A0C3D7-DB9B-C970-8031-F342DED37D62}"/>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80350BEC-7CC1-8205-8DE7-3805F7C2668E}"/>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47213808-B4E3-5E7D-AFD0-D9A4C006C7EF}"/>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78130BB7-2F76-A02D-867A-F8926D846385}"/>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3975A02C-946E-5A5C-CFE2-EC9D08F31CD4}"/>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F6C494AB-365C-89C3-A3FC-D44CFF792BDE}"/>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09FF4A95-E5C2-AB33-A9AA-B2539981FEB2}"/>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BB4AD845-F1B8-480D-B82D-DE7C9D1D0EAA}"/>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2</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193451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294322" y="1075317"/>
            <a:ext cx="8555355" cy="367891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16669" indent="-16669" eaLnBrk="1" hangingPunct="1">
              <a:lnSpc>
                <a:spcPct val="110000"/>
              </a:lnSpc>
              <a:buNone/>
            </a:pPr>
            <a:r>
              <a:rPr lang="zh-CN" altLang="en-US" sz="2000" dirty="0">
                <a:solidFill>
                  <a:schemeClr val="folHlink"/>
                </a:solidFill>
                <a:latin typeface="Microsoft YaHei" panose="020B0503020204020204" pitchFamily="34" charset="-122"/>
                <a:ea typeface="Microsoft YaHei" panose="020B0503020204020204" pitchFamily="34" charset="-122"/>
              </a:rPr>
              <a:t>一、需求分析的任务</a:t>
            </a:r>
          </a:p>
          <a:p>
            <a:pPr marL="16669" indent="-16669" eaLnBrk="1" hangingPunct="1">
              <a:lnSpc>
                <a:spcPct val="110000"/>
              </a:lnSpc>
              <a:spcBef>
                <a:spcPct val="0"/>
              </a:spcBef>
              <a:buClrTx/>
              <a:buSzTx/>
              <a:buNone/>
            </a:pPr>
            <a:r>
              <a:rPr lang="zh-CN" altLang="en-US" sz="2000" dirty="0">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通过详细调查现实世界要处理的对象（组织、部门、企业等），充分了解原系统（手工系统或计算机系统）工作概况，明确用户的各种需求，然后在此基础上确定新系统的功能。新系统必须充分考虑今后可能的扩充和改变，不能仅仅按当前应用需求来设计数据库。最终将结果按照一定的格式形成</a:t>
            </a:r>
            <a:r>
              <a:rPr lang="zh-CN" altLang="en-US" sz="1600" dirty="0">
                <a:solidFill>
                  <a:schemeClr val="hlink"/>
                </a:solidFill>
                <a:latin typeface="Microsoft YaHei" panose="020B0503020204020204" pitchFamily="34" charset="-122"/>
                <a:ea typeface="Microsoft YaHei" panose="020B0503020204020204" pitchFamily="34" charset="-122"/>
              </a:rPr>
              <a:t>需求说明书</a:t>
            </a:r>
            <a:r>
              <a:rPr lang="zh-CN" altLang="en-US" sz="1600" dirty="0">
                <a:latin typeface="Microsoft YaHei" panose="020B0503020204020204" pitchFamily="34" charset="-122"/>
                <a:ea typeface="Microsoft YaHei" panose="020B0503020204020204" pitchFamily="34" charset="-122"/>
              </a:rPr>
              <a:t>。</a:t>
            </a:r>
            <a:endParaRPr lang="en-US" altLang="zh-CN" sz="1600" dirty="0">
              <a:latin typeface="Microsoft YaHei" panose="020B0503020204020204" pitchFamily="34" charset="-122"/>
              <a:ea typeface="Microsoft YaHei" panose="020B0503020204020204" pitchFamily="34" charset="-122"/>
            </a:endParaRPr>
          </a:p>
          <a:p>
            <a:pPr marL="16669" indent="-16669" eaLnBrk="1" hangingPunct="1">
              <a:lnSpc>
                <a:spcPct val="110000"/>
              </a:lnSpc>
              <a:spcBef>
                <a:spcPct val="0"/>
              </a:spcBef>
              <a:buClrTx/>
              <a:buSzTx/>
              <a:buNone/>
            </a:pPr>
            <a:endParaRPr lang="zh-CN" altLang="en-US" sz="1600" dirty="0">
              <a:latin typeface="Microsoft YaHei" panose="020B0503020204020204" pitchFamily="34" charset="-122"/>
              <a:ea typeface="Microsoft YaHei" panose="020B0503020204020204" pitchFamily="34" charset="-122"/>
            </a:endParaRPr>
          </a:p>
          <a:p>
            <a:pPr marL="16669" indent="-16669" eaLnBrk="1" hangingPunct="1">
              <a:lnSpc>
                <a:spcPct val="110000"/>
              </a:lnSpc>
              <a:spcBef>
                <a:spcPct val="0"/>
              </a:spcBef>
              <a:buClrTx/>
              <a:buSzTx/>
              <a:buNone/>
            </a:pPr>
            <a:r>
              <a:rPr lang="zh-CN" altLang="en-US" sz="2000" dirty="0">
                <a:solidFill>
                  <a:schemeClr val="folHlink"/>
                </a:solidFill>
                <a:latin typeface="Microsoft YaHei" panose="020B0503020204020204" pitchFamily="34" charset="-122"/>
                <a:ea typeface="Microsoft YaHei" panose="020B0503020204020204" pitchFamily="34" charset="-122"/>
              </a:rPr>
              <a:t>二、需求分析的重点</a:t>
            </a:r>
          </a:p>
          <a:p>
            <a:pPr marL="16669" indent="-16669" eaLnBrk="1" hangingPunct="1">
              <a:lnSpc>
                <a:spcPct val="110000"/>
              </a:lnSpc>
              <a:spcBef>
                <a:spcPct val="0"/>
              </a:spcBef>
              <a:buSzTx/>
            </a:pPr>
            <a:r>
              <a:rPr lang="en-US" altLang="zh-CN" sz="1600" dirty="0">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调查、收集与分析用户在数据管理中的</a:t>
            </a:r>
            <a:r>
              <a:rPr lang="zh-CN" altLang="en-US" sz="1600" dirty="0">
                <a:solidFill>
                  <a:schemeClr val="hlink"/>
                </a:solidFill>
                <a:latin typeface="Microsoft YaHei" panose="020B0503020204020204" pitchFamily="34" charset="-122"/>
                <a:ea typeface="Microsoft YaHei" panose="020B0503020204020204" pitchFamily="34" charset="-122"/>
              </a:rPr>
              <a:t>信息要求、处理要求、安全性与完整性要求。</a:t>
            </a:r>
          </a:p>
          <a:p>
            <a:pPr marL="16669" indent="-16669" eaLnBrk="1" hangingPunct="1">
              <a:lnSpc>
                <a:spcPct val="110000"/>
              </a:lnSpc>
              <a:spcBef>
                <a:spcPct val="0"/>
              </a:spcBef>
              <a:buSzTx/>
            </a:pPr>
            <a:r>
              <a:rPr lang="en-US" altLang="zh-CN" sz="1600" dirty="0">
                <a:solidFill>
                  <a:schemeClr val="hlink"/>
                </a:solidFill>
                <a:latin typeface="Microsoft YaHei" panose="020B0503020204020204" pitchFamily="34" charset="-122"/>
                <a:ea typeface="Microsoft YaHei" panose="020B0503020204020204" pitchFamily="34" charset="-122"/>
              </a:rPr>
              <a:t> </a:t>
            </a:r>
            <a:r>
              <a:rPr lang="zh-CN" altLang="en-US" sz="1600" dirty="0">
                <a:solidFill>
                  <a:srgbClr val="A50021"/>
                </a:solidFill>
                <a:latin typeface="Microsoft YaHei" panose="020B0503020204020204" pitchFamily="34" charset="-122"/>
                <a:ea typeface="Microsoft YaHei" panose="020B0503020204020204" pitchFamily="34" charset="-122"/>
              </a:rPr>
              <a:t>信息要求</a:t>
            </a:r>
            <a:r>
              <a:rPr lang="zh-CN" altLang="en-US" sz="1600" dirty="0">
                <a:latin typeface="Microsoft YaHei" panose="020B0503020204020204" pitchFamily="34" charset="-122"/>
                <a:ea typeface="Microsoft YaHei" panose="020B0503020204020204" pitchFamily="34" charset="-122"/>
              </a:rPr>
              <a:t>是用户需要从数据库中获得信息的内容与性质。由用户的信息要求可以导出数据要求，即在数据库中需要存储哪些数据。</a:t>
            </a:r>
          </a:p>
          <a:p>
            <a:pPr marL="16669" indent="-16669" eaLnBrk="1" hangingPunct="1">
              <a:lnSpc>
                <a:spcPct val="110000"/>
              </a:lnSpc>
              <a:spcBef>
                <a:spcPct val="0"/>
              </a:spcBef>
              <a:buSzTx/>
            </a:pPr>
            <a:r>
              <a:rPr lang="en-US" altLang="zh-CN" sz="1600" dirty="0">
                <a:latin typeface="Microsoft YaHei" panose="020B0503020204020204" pitchFamily="34" charset="-122"/>
                <a:ea typeface="Microsoft YaHei" panose="020B0503020204020204" pitchFamily="34" charset="-122"/>
              </a:rPr>
              <a:t> </a:t>
            </a:r>
            <a:r>
              <a:rPr lang="zh-CN" altLang="en-US" sz="1600" dirty="0">
                <a:solidFill>
                  <a:srgbClr val="A50021"/>
                </a:solidFill>
                <a:latin typeface="Microsoft YaHei" panose="020B0503020204020204" pitchFamily="34" charset="-122"/>
                <a:ea typeface="Microsoft YaHei" panose="020B0503020204020204" pitchFamily="34" charset="-122"/>
              </a:rPr>
              <a:t>处理要求</a:t>
            </a:r>
            <a:r>
              <a:rPr lang="zh-CN" altLang="en-US" sz="1600" dirty="0">
                <a:latin typeface="Microsoft YaHei" panose="020B0503020204020204" pitchFamily="34" charset="-122"/>
                <a:ea typeface="Microsoft YaHei" panose="020B0503020204020204" pitchFamily="34" charset="-122"/>
              </a:rPr>
              <a:t>是指用户要求完成什么处理功能，对处理的响应时间有什么要求，处理方式是批处理还是联机处理。</a:t>
            </a:r>
          </a:p>
        </p:txBody>
      </p:sp>
      <p:sp>
        <p:nvSpPr>
          <p:cNvPr id="5" name="标题 4">
            <a:extLst>
              <a:ext uri="{FF2B5EF4-FFF2-40B4-BE49-F238E27FC236}">
                <a16:creationId xmlns:a16="http://schemas.microsoft.com/office/drawing/2014/main" id="{4A19A613-AAD1-B61E-FA9C-E4854531D328}"/>
              </a:ext>
            </a:extLst>
          </p:cNvPr>
          <p:cNvSpPr>
            <a:spLocks noGrp="1"/>
          </p:cNvSpPr>
          <p:nvPr>
            <p:ph type="title"/>
          </p:nvPr>
        </p:nvSpPr>
        <p:spPr/>
        <p:txBody>
          <a:bodyPr/>
          <a:lstStyle/>
          <a:p>
            <a:r>
              <a:rPr lang="zh-CN" altLang="en-US" dirty="0"/>
              <a:t>需求分析</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p:cNvSpPr>
          <p:nvPr>
            <p:ph idx="1"/>
          </p:nvPr>
        </p:nvSpPr>
        <p:spPr>
          <a:xfrm>
            <a:off x="263768" y="1855438"/>
            <a:ext cx="3441457" cy="2362254"/>
          </a:xfrm>
        </p:spPr>
        <p:txBody>
          <a:bodyPr vert="horz" wrap="square" lIns="68580" tIns="34290" rIns="68580" bIns="34290" rtlCol="0" anchor="t" anchorCtr="0">
            <a:normAutofit/>
          </a:bodyPr>
          <a:lstStyle/>
          <a:p>
            <a:pPr eaLnBrk="1" hangingPunct="1">
              <a:buSzPct val="60000"/>
              <a:buFont typeface="Wingdings" panose="05000000000000000000" pitchFamily="2" charset="2"/>
              <a:buNone/>
            </a:pPr>
            <a:r>
              <a:rPr lang="zh-CN" altLang="en-US" sz="2400" dirty="0">
                <a:solidFill>
                  <a:schemeClr val="folHlink"/>
                </a:solidFill>
              </a:rPr>
              <a:t>三、需求分析的方法</a:t>
            </a:r>
          </a:p>
          <a:p>
            <a:pPr eaLnBrk="1" hangingPunct="1">
              <a:buSzPct val="60000"/>
              <a:buFont typeface="Wingdings" panose="05000000000000000000" pitchFamily="2" charset="2"/>
              <a:buNone/>
            </a:pPr>
            <a:r>
              <a:rPr lang="zh-CN" altLang="en-US" sz="2000" dirty="0"/>
              <a:t> </a:t>
            </a:r>
            <a:r>
              <a:rPr lang="en-US" altLang="zh-CN" sz="2000" dirty="0">
                <a:solidFill>
                  <a:srgbClr val="A50021"/>
                </a:solidFill>
              </a:rPr>
              <a:t>1. </a:t>
            </a:r>
            <a:r>
              <a:rPr lang="zh-CN" altLang="en-US" sz="2000" dirty="0">
                <a:solidFill>
                  <a:srgbClr val="A50021"/>
                </a:solidFill>
              </a:rPr>
              <a:t>需求信息的收集</a:t>
            </a:r>
          </a:p>
          <a:p>
            <a:pPr eaLnBrk="1" hangingPunct="1">
              <a:buSzPct val="60000"/>
              <a:buFont typeface="Wingdings" panose="05000000000000000000" pitchFamily="2" charset="2"/>
              <a:buNone/>
            </a:pPr>
            <a:r>
              <a:rPr lang="zh-CN" altLang="en-US" sz="1800" dirty="0"/>
              <a:t>  （</a:t>
            </a:r>
            <a:r>
              <a:rPr lang="en-US" altLang="zh-CN" sz="1800" dirty="0"/>
              <a:t>1</a:t>
            </a:r>
            <a:r>
              <a:rPr lang="zh-CN" altLang="en-US" sz="1800" dirty="0"/>
              <a:t>）了解组织的机构设置</a:t>
            </a:r>
          </a:p>
          <a:p>
            <a:pPr eaLnBrk="1" hangingPunct="1">
              <a:buSzPct val="60000"/>
              <a:buFont typeface="Wingdings" panose="05000000000000000000" pitchFamily="2" charset="2"/>
              <a:buNone/>
            </a:pPr>
            <a:r>
              <a:rPr lang="zh-CN" altLang="en-US" sz="1800" dirty="0"/>
              <a:t>  （</a:t>
            </a:r>
            <a:r>
              <a:rPr lang="en-US" altLang="zh-CN" sz="1800" dirty="0"/>
              <a:t>2</a:t>
            </a:r>
            <a:r>
              <a:rPr lang="zh-CN" altLang="en-US" sz="1800" dirty="0"/>
              <a:t>）主要业务活动和职能</a:t>
            </a:r>
          </a:p>
          <a:p>
            <a:pPr eaLnBrk="1" hangingPunct="1">
              <a:buSzPct val="60000"/>
              <a:buFont typeface="Wingdings" panose="05000000000000000000" pitchFamily="2" charset="2"/>
              <a:buNone/>
            </a:pPr>
            <a:r>
              <a:rPr lang="zh-CN" altLang="en-US" sz="1800" dirty="0"/>
              <a:t>  （</a:t>
            </a:r>
            <a:r>
              <a:rPr lang="en-US" altLang="zh-CN" sz="1800" dirty="0"/>
              <a:t>3</a:t>
            </a:r>
            <a:r>
              <a:rPr lang="zh-CN" altLang="en-US" sz="1800" dirty="0"/>
              <a:t>）了解系统的各种外部要求</a:t>
            </a:r>
          </a:p>
          <a:p>
            <a:pPr eaLnBrk="1" hangingPunct="1">
              <a:buSzPct val="60000"/>
              <a:buFont typeface="Wingdings" panose="05000000000000000000" pitchFamily="2" charset="2"/>
              <a:buNone/>
            </a:pPr>
            <a:r>
              <a:rPr lang="zh-CN" altLang="en-US" sz="1800" dirty="0"/>
              <a:t>  （</a:t>
            </a:r>
            <a:r>
              <a:rPr lang="en-US" altLang="zh-CN" sz="1800" dirty="0"/>
              <a:t>4</a:t>
            </a:r>
            <a:r>
              <a:rPr lang="zh-CN" altLang="en-US" sz="1800" dirty="0"/>
              <a:t>）确定系统边界</a:t>
            </a:r>
          </a:p>
        </p:txBody>
      </p:sp>
      <p:sp>
        <p:nvSpPr>
          <p:cNvPr id="17411" name="Rectangle 4"/>
          <p:cNvSpPr>
            <a:spLocks noGrp="1"/>
          </p:cNvSpPr>
          <p:nvPr>
            <p:ph type="body" sz="half" idx="2"/>
          </p:nvPr>
        </p:nvSpPr>
        <p:spPr>
          <a:xfrm>
            <a:off x="6051598" y="4232467"/>
            <a:ext cx="1184032" cy="399081"/>
          </a:xfrm>
        </p:spPr>
        <p:txBody>
          <a:bodyPr vert="horz" wrap="square" lIns="68580" tIns="34290" rIns="68580" bIns="34290" rtlCol="0" anchor="t" anchorCtr="0">
            <a:normAutofit/>
          </a:bodyPr>
          <a:lstStyle/>
          <a:p>
            <a:pPr eaLnBrk="1" hangingPunct="1">
              <a:buSzPct val="60000"/>
              <a:buFont typeface="Wingdings" panose="05000000000000000000" pitchFamily="2" charset="2"/>
              <a:buNone/>
            </a:pPr>
            <a:r>
              <a:rPr lang="zh-CN" altLang="en-US" sz="1800" b="1" dirty="0"/>
              <a:t>概念设计</a:t>
            </a:r>
          </a:p>
        </p:txBody>
      </p:sp>
      <p:grpSp>
        <p:nvGrpSpPr>
          <p:cNvPr id="17412" name="Group 5"/>
          <p:cNvGrpSpPr/>
          <p:nvPr/>
        </p:nvGrpSpPr>
        <p:grpSpPr>
          <a:xfrm>
            <a:off x="5803032" y="3397560"/>
            <a:ext cx="1685925" cy="792959"/>
            <a:chOff x="13" y="-386"/>
            <a:chExt cx="1416" cy="666"/>
          </a:xfrm>
        </p:grpSpPr>
        <p:sp>
          <p:nvSpPr>
            <p:cNvPr id="17413" name="Oval 6"/>
            <p:cNvSpPr/>
            <p:nvPr/>
          </p:nvSpPr>
          <p:spPr>
            <a:xfrm>
              <a:off x="13" y="-386"/>
              <a:ext cx="1416" cy="336"/>
            </a:xfrm>
            <a:prstGeom prst="ellipse">
              <a:avLst/>
            </a:prstGeom>
            <a:solidFill>
              <a:srgbClr val="00FFFF"/>
            </a:solidFill>
            <a:ln w="9525" cap="flat" cmpd="sng">
              <a:solidFill>
                <a:schemeClr val="tx1"/>
              </a:solidFill>
              <a:prstDash val="solid"/>
              <a:bevel/>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确定系统的边界</a:t>
              </a:r>
            </a:p>
          </p:txBody>
        </p:sp>
        <p:sp>
          <p:nvSpPr>
            <p:cNvPr id="17414" name="Line 7"/>
            <p:cNvSpPr/>
            <p:nvPr/>
          </p:nvSpPr>
          <p:spPr>
            <a:xfrm>
              <a:off x="729" y="-45"/>
              <a:ext cx="0" cy="325"/>
            </a:xfrm>
            <a:prstGeom prst="line">
              <a:avLst/>
            </a:prstGeom>
            <a:ln w="38100" cap="flat" cmpd="sng">
              <a:solidFill>
                <a:schemeClr val="hlink"/>
              </a:solidFill>
              <a:prstDash val="solid"/>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17415" name="Rectangle 8"/>
          <p:cNvSpPr/>
          <p:nvPr/>
        </p:nvSpPr>
        <p:spPr>
          <a:xfrm>
            <a:off x="5273204" y="828191"/>
            <a:ext cx="3119128" cy="3074476"/>
          </a:xfrm>
          <a:prstGeom prst="rect">
            <a:avLst/>
          </a:prstGeom>
          <a:noFill/>
          <a:ln w="38100" cap="flat" cmpd="sng">
            <a:solidFill>
              <a:schemeClr val="tx1"/>
            </a:solidFill>
            <a:prstDash val="lgDash"/>
            <a:miter/>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grpSp>
        <p:nvGrpSpPr>
          <p:cNvPr id="17416" name="Group 9"/>
          <p:cNvGrpSpPr/>
          <p:nvPr/>
        </p:nvGrpSpPr>
        <p:grpSpPr>
          <a:xfrm>
            <a:off x="5801842" y="942491"/>
            <a:ext cx="1685925" cy="742950"/>
            <a:chOff x="108" y="0"/>
            <a:chExt cx="1416" cy="624"/>
          </a:xfrm>
        </p:grpSpPr>
        <p:sp>
          <p:nvSpPr>
            <p:cNvPr id="17417" name="Oval 10"/>
            <p:cNvSpPr/>
            <p:nvPr/>
          </p:nvSpPr>
          <p:spPr>
            <a:xfrm>
              <a:off x="108" y="0"/>
              <a:ext cx="1416" cy="336"/>
            </a:xfrm>
            <a:prstGeom prst="ellipse">
              <a:avLst/>
            </a:prstGeom>
            <a:solidFill>
              <a:srgbClr val="00FFFF"/>
            </a:solidFill>
            <a:ln w="9525" cap="flat" cmpd="sng">
              <a:solidFill>
                <a:schemeClr val="tx1"/>
              </a:solidFill>
              <a:prstDash val="solid"/>
              <a:bevel/>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调查组织机构情况</a:t>
              </a:r>
            </a:p>
          </p:txBody>
        </p:sp>
        <p:sp>
          <p:nvSpPr>
            <p:cNvPr id="17418" name="Line 11"/>
            <p:cNvSpPr/>
            <p:nvPr/>
          </p:nvSpPr>
          <p:spPr>
            <a:xfrm flipH="1">
              <a:off x="816" y="336"/>
              <a:ext cx="0" cy="288"/>
            </a:xfrm>
            <a:prstGeom prst="line">
              <a:avLst/>
            </a:prstGeom>
            <a:ln w="38100" cap="flat" cmpd="sng">
              <a:solidFill>
                <a:schemeClr val="hlink"/>
              </a:solidFill>
              <a:prstDash val="solid"/>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17419" name="Group 12"/>
          <p:cNvGrpSpPr/>
          <p:nvPr/>
        </p:nvGrpSpPr>
        <p:grpSpPr>
          <a:xfrm>
            <a:off x="5801842" y="1685441"/>
            <a:ext cx="1685925" cy="875114"/>
            <a:chOff x="60" y="-96"/>
            <a:chExt cx="1416" cy="735"/>
          </a:xfrm>
        </p:grpSpPr>
        <p:sp>
          <p:nvSpPr>
            <p:cNvPr id="17420" name="Oval 13"/>
            <p:cNvSpPr/>
            <p:nvPr/>
          </p:nvSpPr>
          <p:spPr>
            <a:xfrm>
              <a:off x="60" y="-96"/>
              <a:ext cx="1416" cy="458"/>
            </a:xfrm>
            <a:prstGeom prst="ellipse">
              <a:avLst/>
            </a:prstGeom>
            <a:solidFill>
              <a:srgbClr val="00FFFF"/>
            </a:solidFill>
            <a:ln w="9525" cap="flat" cmpd="sng">
              <a:solidFill>
                <a:schemeClr val="tx1"/>
              </a:solidFill>
              <a:prstDash val="solid"/>
              <a:bevel/>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调查各部门</a:t>
              </a:r>
            </a:p>
            <a:p>
              <a:pPr algn="ctr"/>
              <a:r>
                <a:rPr lang="zh-CN" altLang="en-US" sz="1350" dirty="0">
                  <a:latin typeface="Microsoft YaHei" panose="020B0503020204020204" pitchFamily="34" charset="-122"/>
                  <a:ea typeface="Microsoft YaHei" panose="020B0503020204020204" pitchFamily="34" charset="-122"/>
                </a:rPr>
                <a:t>业务活动情况</a:t>
              </a:r>
            </a:p>
          </p:txBody>
        </p:sp>
        <p:sp>
          <p:nvSpPr>
            <p:cNvPr id="17421" name="Line 14"/>
            <p:cNvSpPr/>
            <p:nvPr/>
          </p:nvSpPr>
          <p:spPr>
            <a:xfrm>
              <a:off x="767" y="371"/>
              <a:ext cx="0" cy="268"/>
            </a:xfrm>
            <a:prstGeom prst="line">
              <a:avLst/>
            </a:prstGeom>
            <a:ln w="38100" cap="flat" cmpd="sng">
              <a:solidFill>
                <a:schemeClr val="hlink"/>
              </a:solidFill>
              <a:prstDash val="solid"/>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17422" name="Group 15"/>
          <p:cNvGrpSpPr/>
          <p:nvPr/>
        </p:nvGrpSpPr>
        <p:grpSpPr>
          <a:xfrm>
            <a:off x="5851848" y="2560550"/>
            <a:ext cx="1584722" cy="826294"/>
            <a:chOff x="102" y="-273"/>
            <a:chExt cx="1331" cy="694"/>
          </a:xfrm>
        </p:grpSpPr>
        <p:sp>
          <p:nvSpPr>
            <p:cNvPr id="17423" name="Oval 16"/>
            <p:cNvSpPr/>
            <p:nvPr/>
          </p:nvSpPr>
          <p:spPr>
            <a:xfrm>
              <a:off x="102" y="-273"/>
              <a:ext cx="1331" cy="358"/>
            </a:xfrm>
            <a:prstGeom prst="ellipse">
              <a:avLst/>
            </a:prstGeom>
            <a:solidFill>
              <a:srgbClr val="00FFFF"/>
            </a:solidFill>
            <a:ln w="9525" cap="flat" cmpd="sng">
              <a:solidFill>
                <a:schemeClr val="tx1"/>
              </a:solidFill>
              <a:prstDash val="solid"/>
              <a:bevel/>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明确用户的需求</a:t>
              </a:r>
            </a:p>
          </p:txBody>
        </p:sp>
        <p:sp>
          <p:nvSpPr>
            <p:cNvPr id="17424" name="Line 17"/>
            <p:cNvSpPr/>
            <p:nvPr/>
          </p:nvSpPr>
          <p:spPr>
            <a:xfrm>
              <a:off x="770" y="85"/>
              <a:ext cx="0" cy="336"/>
            </a:xfrm>
            <a:prstGeom prst="line">
              <a:avLst/>
            </a:prstGeom>
            <a:ln w="38100" cap="flat" cmpd="sng">
              <a:solidFill>
                <a:schemeClr val="hlink"/>
              </a:solidFill>
              <a:prstDash val="solid"/>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17425" name="Group 18"/>
          <p:cNvGrpSpPr/>
          <p:nvPr/>
        </p:nvGrpSpPr>
        <p:grpSpPr>
          <a:xfrm>
            <a:off x="7235065" y="1135565"/>
            <a:ext cx="988219" cy="2457450"/>
            <a:chOff x="-105" y="60"/>
            <a:chExt cx="830" cy="2064"/>
          </a:xfrm>
        </p:grpSpPr>
        <p:sp>
          <p:nvSpPr>
            <p:cNvPr id="17426" name="未知"/>
            <p:cNvSpPr/>
            <p:nvPr/>
          </p:nvSpPr>
          <p:spPr>
            <a:xfrm>
              <a:off x="-59" y="1434"/>
              <a:ext cx="199" cy="594"/>
            </a:xfrm>
            <a:custGeom>
              <a:avLst/>
              <a:gdLst/>
              <a:ahLst/>
              <a:cxnLst>
                <a:cxn ang="0">
                  <a:pos x="0" y="336"/>
                </a:cxn>
                <a:cxn ang="0">
                  <a:pos x="192" y="192"/>
                </a:cxn>
                <a:cxn ang="0">
                  <a:pos x="144" y="0"/>
                </a:cxn>
              </a:cxnLst>
              <a:rect l="0" t="0" r="0" b="0"/>
              <a:pathLst>
                <a:path w="216" h="336">
                  <a:moveTo>
                    <a:pt x="0" y="336"/>
                  </a:moveTo>
                  <a:cubicBezTo>
                    <a:pt x="84" y="292"/>
                    <a:pt x="168" y="248"/>
                    <a:pt x="192" y="192"/>
                  </a:cubicBezTo>
                  <a:cubicBezTo>
                    <a:pt x="216" y="136"/>
                    <a:pt x="180" y="68"/>
                    <a:pt x="144" y="0"/>
                  </a:cubicBezTo>
                </a:path>
              </a:pathLst>
            </a:custGeom>
            <a:noFill/>
            <a:ln w="38100" cap="flat" cmpd="sng">
              <a:solidFill>
                <a:schemeClr val="folHlink"/>
              </a:solidFill>
              <a:prstDash val="lgDash"/>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17427" name="未知"/>
            <p:cNvSpPr/>
            <p:nvPr/>
          </p:nvSpPr>
          <p:spPr>
            <a:xfrm rot="20906597">
              <a:off x="-105" y="772"/>
              <a:ext cx="488" cy="1234"/>
            </a:xfrm>
            <a:custGeom>
              <a:avLst/>
              <a:gdLst/>
              <a:ahLst/>
              <a:cxnLst>
                <a:cxn ang="0">
                  <a:pos x="0" y="1344"/>
                </a:cxn>
                <a:cxn ang="0">
                  <a:pos x="288" y="1200"/>
                </a:cxn>
                <a:cxn ang="0">
                  <a:pos x="480" y="768"/>
                </a:cxn>
                <a:cxn ang="0">
                  <a:pos x="336" y="0"/>
                </a:cxn>
              </a:cxnLst>
              <a:rect l="0" t="0" r="0" b="0"/>
              <a:pathLst>
                <a:path w="488" h="1344">
                  <a:moveTo>
                    <a:pt x="0" y="1344"/>
                  </a:moveTo>
                  <a:cubicBezTo>
                    <a:pt x="104" y="1320"/>
                    <a:pt x="208" y="1296"/>
                    <a:pt x="288" y="1200"/>
                  </a:cubicBezTo>
                  <a:cubicBezTo>
                    <a:pt x="368" y="1104"/>
                    <a:pt x="472" y="968"/>
                    <a:pt x="480" y="768"/>
                  </a:cubicBezTo>
                  <a:cubicBezTo>
                    <a:pt x="488" y="568"/>
                    <a:pt x="360" y="136"/>
                    <a:pt x="336" y="0"/>
                  </a:cubicBezTo>
                </a:path>
              </a:pathLst>
            </a:custGeom>
            <a:noFill/>
            <a:ln w="38100" cap="flat" cmpd="sng">
              <a:solidFill>
                <a:schemeClr val="folHlink"/>
              </a:solidFill>
              <a:prstDash val="lgDash"/>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17428" name="未知"/>
            <p:cNvSpPr/>
            <p:nvPr/>
          </p:nvSpPr>
          <p:spPr>
            <a:xfrm rot="21325038">
              <a:off x="29" y="60"/>
              <a:ext cx="696" cy="2064"/>
            </a:xfrm>
            <a:custGeom>
              <a:avLst/>
              <a:gdLst/>
              <a:ahLst/>
              <a:cxnLst>
                <a:cxn ang="0">
                  <a:pos x="0" y="2064"/>
                </a:cxn>
                <a:cxn ang="0">
                  <a:pos x="384" y="1968"/>
                </a:cxn>
                <a:cxn ang="0">
                  <a:pos x="576" y="1488"/>
                </a:cxn>
                <a:cxn ang="0">
                  <a:pos x="480" y="816"/>
                </a:cxn>
                <a:cxn ang="0">
                  <a:pos x="144" y="0"/>
                </a:cxn>
              </a:cxnLst>
              <a:rect l="0" t="0" r="0" b="0"/>
              <a:pathLst>
                <a:path w="592" h="2064">
                  <a:moveTo>
                    <a:pt x="0" y="2064"/>
                  </a:moveTo>
                  <a:cubicBezTo>
                    <a:pt x="144" y="2064"/>
                    <a:pt x="288" y="2064"/>
                    <a:pt x="384" y="1968"/>
                  </a:cubicBezTo>
                  <a:cubicBezTo>
                    <a:pt x="480" y="1872"/>
                    <a:pt x="560" y="1680"/>
                    <a:pt x="576" y="1488"/>
                  </a:cubicBezTo>
                  <a:cubicBezTo>
                    <a:pt x="592" y="1296"/>
                    <a:pt x="552" y="1064"/>
                    <a:pt x="480" y="816"/>
                  </a:cubicBezTo>
                  <a:cubicBezTo>
                    <a:pt x="408" y="568"/>
                    <a:pt x="276" y="284"/>
                    <a:pt x="144" y="0"/>
                  </a:cubicBezTo>
                </a:path>
              </a:pathLst>
            </a:custGeom>
            <a:noFill/>
            <a:ln w="38100" cap="flat" cmpd="sng">
              <a:solidFill>
                <a:schemeClr val="folHlink"/>
              </a:solidFill>
              <a:prstDash val="lgDash"/>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17429" name="AutoShape 22"/>
          <p:cNvSpPr/>
          <p:nvPr/>
        </p:nvSpPr>
        <p:spPr>
          <a:xfrm>
            <a:off x="4881012" y="2456966"/>
            <a:ext cx="742950" cy="400050"/>
          </a:xfrm>
          <a:prstGeom prst="wedgeRoundRectCallout">
            <a:avLst>
              <a:gd name="adj1" fmla="val 79734"/>
              <a:gd name="adj2" fmla="val 27803"/>
              <a:gd name="adj3" fmla="val 16667"/>
            </a:avLst>
          </a:prstGeom>
          <a:solidFill>
            <a:srgbClr val="FFCCCC"/>
          </a:solidFill>
          <a:ln w="9525" cap="flat" cmpd="sng">
            <a:solidFill>
              <a:schemeClr val="tx1"/>
            </a:solidFill>
            <a:prstDash val="solid"/>
            <a:miter/>
            <a:headEnd type="none" w="med" len="med"/>
            <a:tailEnd type="none" w="med" len="med"/>
          </a:ln>
        </p:spPr>
        <p:txBody>
          <a:bodyPr anchor="t" anchorCtr="0"/>
          <a:lstStyle/>
          <a:p>
            <a:pPr algn="ctr"/>
            <a:r>
              <a:rPr lang="en-US" altLang="zh-CN" sz="1350" dirty="0">
                <a:latin typeface="Microsoft YaHei" panose="020B0503020204020204" pitchFamily="34" charset="-122"/>
                <a:ea typeface="Microsoft YaHei" panose="020B0503020204020204" pitchFamily="34" charset="-122"/>
              </a:rPr>
              <a:t>SA</a:t>
            </a:r>
            <a:r>
              <a:rPr lang="zh-CN" altLang="en-US" sz="1350" dirty="0">
                <a:latin typeface="Microsoft YaHei" panose="020B0503020204020204" pitchFamily="34" charset="-122"/>
                <a:ea typeface="Microsoft YaHei" panose="020B0503020204020204" pitchFamily="34" charset="-122"/>
              </a:rPr>
              <a:t>法</a:t>
            </a:r>
          </a:p>
        </p:txBody>
      </p:sp>
      <p:grpSp>
        <p:nvGrpSpPr>
          <p:cNvPr id="17430" name="Group 23"/>
          <p:cNvGrpSpPr/>
          <p:nvPr/>
        </p:nvGrpSpPr>
        <p:grpSpPr>
          <a:xfrm>
            <a:off x="4316682" y="3186819"/>
            <a:ext cx="1485900" cy="914400"/>
            <a:chOff x="0" y="0"/>
            <a:chExt cx="1248" cy="768"/>
          </a:xfrm>
        </p:grpSpPr>
        <p:sp>
          <p:nvSpPr>
            <p:cNvPr id="17431" name="AutoShape 24"/>
            <p:cNvSpPr/>
            <p:nvPr/>
          </p:nvSpPr>
          <p:spPr>
            <a:xfrm>
              <a:off x="672" y="240"/>
              <a:ext cx="576" cy="192"/>
            </a:xfrm>
            <a:prstGeom prst="leftArrow">
              <a:avLst>
                <a:gd name="adj1" fmla="val 50000"/>
                <a:gd name="adj2" fmla="val 7500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sp>
          <p:nvSpPr>
            <p:cNvPr id="17432" name="AutoShape 25"/>
            <p:cNvSpPr/>
            <p:nvPr/>
          </p:nvSpPr>
          <p:spPr>
            <a:xfrm>
              <a:off x="0" y="0"/>
              <a:ext cx="528" cy="624"/>
            </a:xfrm>
            <a:prstGeom prst="flowChartMultidocument">
              <a:avLst/>
            </a:prstGeom>
            <a:solidFill>
              <a:srgbClr val="BFFFEE"/>
            </a:solidFill>
            <a:ln w="9525" cap="flat" cmpd="sng">
              <a:solidFill>
                <a:schemeClr val="tx1"/>
              </a:solidFill>
              <a:prstDash val="solid"/>
              <a:miter/>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DFD</a:t>
              </a:r>
            </a:p>
          </p:txBody>
        </p:sp>
        <p:sp>
          <p:nvSpPr>
            <p:cNvPr id="17433" name="AutoShape 26"/>
            <p:cNvSpPr/>
            <p:nvPr/>
          </p:nvSpPr>
          <p:spPr>
            <a:xfrm>
              <a:off x="240" y="432"/>
              <a:ext cx="432" cy="336"/>
            </a:xfrm>
            <a:prstGeom prst="foldedCorner">
              <a:avLst>
                <a:gd name="adj" fmla="val 12500"/>
              </a:avLst>
            </a:prstGeom>
            <a:solidFill>
              <a:srgbClr val="FFCCFF"/>
            </a:solidFill>
            <a:ln w="9525" cap="flat" cmpd="sng">
              <a:solidFill>
                <a:schemeClr val="tx1"/>
              </a:solidFill>
              <a:prstDash val="solid"/>
              <a:bevel/>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DD</a:t>
              </a:r>
            </a:p>
          </p:txBody>
        </p:sp>
      </p:grpSp>
      <p:grpSp>
        <p:nvGrpSpPr>
          <p:cNvPr id="17434" name="Group 27"/>
          <p:cNvGrpSpPr/>
          <p:nvPr/>
        </p:nvGrpSpPr>
        <p:grpSpPr>
          <a:xfrm>
            <a:off x="3900703" y="713891"/>
            <a:ext cx="1901428" cy="1257300"/>
            <a:chOff x="0" y="0"/>
            <a:chExt cx="1597" cy="1056"/>
          </a:xfrm>
        </p:grpSpPr>
        <p:grpSp>
          <p:nvGrpSpPr>
            <p:cNvPr id="17435" name="Group 28"/>
            <p:cNvGrpSpPr/>
            <p:nvPr/>
          </p:nvGrpSpPr>
          <p:grpSpPr>
            <a:xfrm>
              <a:off x="0" y="0"/>
              <a:ext cx="960" cy="1056"/>
              <a:chOff x="0" y="0"/>
              <a:chExt cx="960" cy="1056"/>
            </a:xfrm>
          </p:grpSpPr>
          <p:sp>
            <p:nvSpPr>
              <p:cNvPr id="17436" name="AutoShape 29"/>
              <p:cNvSpPr/>
              <p:nvPr/>
            </p:nvSpPr>
            <p:spPr>
              <a:xfrm>
                <a:off x="288" y="0"/>
                <a:ext cx="336" cy="240"/>
              </a:xfrm>
              <a:prstGeom prst="smileyFace">
                <a:avLst>
                  <a:gd name="adj" fmla="val -4653"/>
                </a:avLst>
              </a:prstGeom>
              <a:solidFill>
                <a:srgbClr val="FFF1B5"/>
              </a:solidFill>
              <a:ln w="9525" cap="flat" cmpd="sng">
                <a:solidFill>
                  <a:schemeClr val="tx1"/>
                </a:solidFill>
                <a:prstDash val="solid"/>
                <a:bevel/>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sp>
            <p:nvSpPr>
              <p:cNvPr id="17437" name="AutoShape 30"/>
              <p:cNvSpPr/>
              <p:nvPr/>
            </p:nvSpPr>
            <p:spPr>
              <a:xfrm>
                <a:off x="528" y="96"/>
                <a:ext cx="336" cy="240"/>
              </a:xfrm>
              <a:prstGeom prst="smileyFace">
                <a:avLst>
                  <a:gd name="adj" fmla="val -4653"/>
                </a:avLst>
              </a:prstGeom>
              <a:solidFill>
                <a:schemeClr val="accent1"/>
              </a:solidFill>
              <a:ln w="9525" cap="flat" cmpd="sng">
                <a:solidFill>
                  <a:schemeClr val="tx1"/>
                </a:solidFill>
                <a:prstDash val="solid"/>
                <a:bevel/>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sp>
            <p:nvSpPr>
              <p:cNvPr id="17438" name="AutoShape 31"/>
              <p:cNvSpPr/>
              <p:nvPr/>
            </p:nvSpPr>
            <p:spPr>
              <a:xfrm>
                <a:off x="48" y="96"/>
                <a:ext cx="336" cy="240"/>
              </a:xfrm>
              <a:prstGeom prst="smileyFace">
                <a:avLst>
                  <a:gd name="adj" fmla="val -4653"/>
                </a:avLst>
              </a:prstGeom>
              <a:solidFill>
                <a:schemeClr val="accent1"/>
              </a:solidFill>
              <a:ln w="9525" cap="flat" cmpd="sng">
                <a:solidFill>
                  <a:schemeClr val="tx1"/>
                </a:solidFill>
                <a:prstDash val="solid"/>
                <a:bevel/>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sp>
            <p:nvSpPr>
              <p:cNvPr id="17439" name="AutoShape 32"/>
              <p:cNvSpPr/>
              <p:nvPr/>
            </p:nvSpPr>
            <p:spPr>
              <a:xfrm>
                <a:off x="0" y="288"/>
                <a:ext cx="960" cy="768"/>
              </a:xfrm>
              <a:prstGeom prst="flowChartMagneticTape">
                <a:avLst/>
              </a:prstGeom>
              <a:solidFill>
                <a:srgbClr val="FFCCCC"/>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用户、</a:t>
                </a:r>
              </a:p>
              <a:p>
                <a:pPr algn="ctr"/>
                <a:r>
                  <a:rPr lang="zh-CN" altLang="en-US" sz="1350" dirty="0">
                    <a:latin typeface="Microsoft YaHei" panose="020B0503020204020204" pitchFamily="34" charset="-122"/>
                    <a:ea typeface="Microsoft YaHei" panose="020B0503020204020204" pitchFamily="34" charset="-122"/>
                  </a:rPr>
                  <a:t>分析员、</a:t>
                </a:r>
              </a:p>
              <a:p>
                <a:pPr algn="ctr"/>
                <a:r>
                  <a:rPr lang="zh-CN" altLang="en-US" sz="1350" dirty="0">
                    <a:latin typeface="Microsoft YaHei" panose="020B0503020204020204" pitchFamily="34" charset="-122"/>
                    <a:ea typeface="Microsoft YaHei" panose="020B0503020204020204" pitchFamily="34" charset="-122"/>
                  </a:rPr>
                  <a:t>设计员</a:t>
                </a:r>
              </a:p>
            </p:txBody>
          </p:sp>
        </p:grpSp>
        <p:sp>
          <p:nvSpPr>
            <p:cNvPr id="17440" name="Line 33"/>
            <p:cNvSpPr/>
            <p:nvPr/>
          </p:nvSpPr>
          <p:spPr>
            <a:xfrm flipV="1">
              <a:off x="968" y="390"/>
              <a:ext cx="629" cy="594"/>
            </a:xfrm>
            <a:prstGeom prst="line">
              <a:avLst/>
            </a:prstGeom>
            <a:ln w="38100" cap="flat" cmpd="sng">
              <a:solidFill>
                <a:srgbClr val="008080"/>
              </a:solidFill>
              <a:prstDash val="solid"/>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17441" name="Line 34"/>
            <p:cNvSpPr/>
            <p:nvPr/>
          </p:nvSpPr>
          <p:spPr>
            <a:xfrm>
              <a:off x="968" y="1008"/>
              <a:ext cx="624" cy="48"/>
            </a:xfrm>
            <a:prstGeom prst="line">
              <a:avLst/>
            </a:prstGeom>
            <a:ln w="38100" cap="flat" cmpd="sng">
              <a:solidFill>
                <a:srgbClr val="008080"/>
              </a:solidFill>
              <a:prstDash val="solid"/>
              <a:bevel/>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3" name="标题 2">
            <a:extLst>
              <a:ext uri="{FF2B5EF4-FFF2-40B4-BE49-F238E27FC236}">
                <a16:creationId xmlns:a16="http://schemas.microsoft.com/office/drawing/2014/main" id="{028ABA9C-535C-2AE5-9448-037DCEEA5A79}"/>
              </a:ext>
            </a:extLst>
          </p:cNvPr>
          <p:cNvSpPr>
            <a:spLocks noGrp="1"/>
          </p:cNvSpPr>
          <p:nvPr>
            <p:ph type="title"/>
          </p:nvPr>
        </p:nvSpPr>
        <p:spPr/>
        <p:txBody>
          <a:bodyPr/>
          <a:lstStyle/>
          <a:p>
            <a:r>
              <a:rPr lang="zh-CN" altLang="en-US" dirty="0"/>
              <a:t>需求分析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custDataLst>
              <p:tags r:id="rId1"/>
            </p:custDataLst>
          </p:nvPr>
        </p:nvSpPr>
        <p:spPr>
          <a:xfrm>
            <a:off x="705173" y="946310"/>
            <a:ext cx="8092900" cy="388995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2000" dirty="0">
                <a:solidFill>
                  <a:srgbClr val="A50021"/>
                </a:solidFill>
                <a:latin typeface="Microsoft YaHei" panose="020B0503020204020204" pitchFamily="34" charset="-122"/>
                <a:ea typeface="Microsoft YaHei" panose="020B0503020204020204" pitchFamily="34" charset="-122"/>
              </a:rPr>
              <a:t>2. </a:t>
            </a:r>
            <a:r>
              <a:rPr lang="zh-CN" altLang="en-US" sz="2000" dirty="0">
                <a:solidFill>
                  <a:srgbClr val="A50021"/>
                </a:solidFill>
                <a:latin typeface="Microsoft YaHei" panose="020B0503020204020204" pitchFamily="34" charset="-122"/>
                <a:ea typeface="Microsoft YaHei" panose="020B0503020204020204" pitchFamily="34" charset="-122"/>
              </a:rPr>
              <a:t>常用的调查方法：</a:t>
            </a:r>
          </a:p>
          <a:p>
            <a:pPr eaLnBrk="1" hangingPunct="1">
              <a:buNone/>
            </a:pP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(1) </a:t>
            </a:r>
            <a:r>
              <a:rPr lang="zh-CN" altLang="en-US" sz="2000" dirty="0">
                <a:latin typeface="Microsoft YaHei" panose="020B0503020204020204" pitchFamily="34" charset="-122"/>
                <a:ea typeface="Microsoft YaHei" panose="020B0503020204020204" pitchFamily="34" charset="-122"/>
              </a:rPr>
              <a:t>跟班作业</a:t>
            </a:r>
            <a:r>
              <a:rPr lang="zh-CN" altLang="en-US" sz="2000" dirty="0">
                <a:solidFill>
                  <a:schemeClr val="bg1"/>
                </a:solidFill>
                <a:latin typeface="Microsoft YaHei" panose="020B0503020204020204" pitchFamily="34" charset="-122"/>
                <a:ea typeface="Microsoft YaHei" panose="020B0503020204020204" pitchFamily="34" charset="-122"/>
              </a:rPr>
              <a:t> </a:t>
            </a:r>
          </a:p>
          <a:p>
            <a:pPr eaLnBrk="1" hangingPunct="1">
              <a:buNone/>
            </a:pP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(2) </a:t>
            </a:r>
            <a:r>
              <a:rPr lang="zh-CN" altLang="en-US" sz="2000" dirty="0">
                <a:latin typeface="Microsoft YaHei" panose="020B0503020204020204" pitchFamily="34" charset="-122"/>
                <a:ea typeface="Microsoft YaHei" panose="020B0503020204020204" pitchFamily="34" charset="-122"/>
              </a:rPr>
              <a:t>开调查会</a:t>
            </a:r>
          </a:p>
          <a:p>
            <a:pPr eaLnBrk="1" hangingPunct="1">
              <a:buNone/>
            </a:pP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(3) </a:t>
            </a:r>
            <a:r>
              <a:rPr lang="zh-CN" altLang="en-US" sz="2000" dirty="0">
                <a:latin typeface="Microsoft YaHei" panose="020B0503020204020204" pitchFamily="34" charset="-122"/>
                <a:ea typeface="Microsoft YaHei" panose="020B0503020204020204" pitchFamily="34" charset="-122"/>
              </a:rPr>
              <a:t>请专人介绍</a:t>
            </a:r>
          </a:p>
          <a:p>
            <a:pPr eaLnBrk="1" hangingPunct="1">
              <a:buNone/>
            </a:pP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(4) </a:t>
            </a:r>
            <a:r>
              <a:rPr lang="zh-CN" altLang="en-US" sz="2000" dirty="0">
                <a:latin typeface="Microsoft YaHei" panose="020B0503020204020204" pitchFamily="34" charset="-122"/>
                <a:ea typeface="Microsoft YaHei" panose="020B0503020204020204" pitchFamily="34" charset="-122"/>
              </a:rPr>
              <a:t>询问</a:t>
            </a:r>
          </a:p>
          <a:p>
            <a:pPr eaLnBrk="1" hangingPunct="1">
              <a:buNone/>
            </a:pP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(5) </a:t>
            </a:r>
            <a:r>
              <a:rPr lang="zh-CN" altLang="en-US" sz="2000" dirty="0">
                <a:latin typeface="Microsoft YaHei" panose="020B0503020204020204" pitchFamily="34" charset="-122"/>
                <a:ea typeface="Microsoft YaHei" panose="020B0503020204020204" pitchFamily="34" charset="-122"/>
              </a:rPr>
              <a:t>设计调查表请用户填写</a:t>
            </a:r>
          </a:p>
          <a:p>
            <a:pPr eaLnBrk="1" hangingPunct="1">
              <a:buNone/>
            </a:pP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(6) </a:t>
            </a:r>
            <a:r>
              <a:rPr lang="zh-CN" altLang="en-US" sz="2000" dirty="0">
                <a:latin typeface="Microsoft YaHei" panose="020B0503020204020204" pitchFamily="34" charset="-122"/>
                <a:ea typeface="Microsoft YaHei" panose="020B0503020204020204" pitchFamily="34" charset="-122"/>
              </a:rPr>
              <a:t>查阅记录</a:t>
            </a:r>
          </a:p>
          <a:p>
            <a:pPr eaLnBrk="1" hangingPunct="1"/>
            <a:endParaRPr lang="zh-CN" altLang="en-US" sz="2000" dirty="0">
              <a:latin typeface="Microsoft YaHei" panose="020B0503020204020204" pitchFamily="34" charset="-122"/>
              <a:ea typeface="Microsoft YaHei" panose="020B0503020204020204" pitchFamily="34" charset="-122"/>
            </a:endParaRPr>
          </a:p>
          <a:p>
            <a:pPr eaLnBrk="1" hangingPunct="1">
              <a:buNone/>
            </a:pPr>
            <a:r>
              <a:rPr lang="en-US" altLang="zh-CN" sz="2000" dirty="0">
                <a:solidFill>
                  <a:srgbClr val="A50021"/>
                </a:solidFill>
                <a:latin typeface="Microsoft YaHei" panose="020B0503020204020204" pitchFamily="34" charset="-122"/>
                <a:ea typeface="Microsoft YaHei" panose="020B0503020204020204" pitchFamily="34" charset="-122"/>
              </a:rPr>
              <a:t>3. </a:t>
            </a:r>
            <a:r>
              <a:rPr lang="zh-CN" altLang="en-US" sz="2000" dirty="0">
                <a:solidFill>
                  <a:srgbClr val="A50021"/>
                </a:solidFill>
                <a:latin typeface="Microsoft YaHei" panose="020B0503020204020204" pitchFamily="34" charset="-122"/>
                <a:ea typeface="Microsoft YaHei" panose="020B0503020204020204" pitchFamily="34" charset="-122"/>
              </a:rPr>
              <a:t>分析和表达用户的需求：</a:t>
            </a:r>
            <a:r>
              <a:rPr lang="zh-CN" altLang="en-US" sz="2000" dirty="0">
                <a:latin typeface="Microsoft YaHei" panose="020B0503020204020204" pitchFamily="34" charset="-122"/>
                <a:ea typeface="Microsoft YaHei" panose="020B0503020204020204" pitchFamily="34" charset="-122"/>
              </a:rPr>
              <a:t>自顶向下和自底向上两类方法 </a:t>
            </a:r>
          </a:p>
          <a:p>
            <a:pPr eaLnBrk="1" hangingPunct="1">
              <a:buNone/>
            </a:pPr>
            <a:r>
              <a:rPr lang="en-US" altLang="zh-CN" sz="2000" dirty="0">
                <a:solidFill>
                  <a:srgbClr val="A50021"/>
                </a:solidFill>
                <a:latin typeface="Microsoft YaHei" panose="020B0503020204020204" pitchFamily="34" charset="-122"/>
                <a:ea typeface="Microsoft YaHei" panose="020B0503020204020204" pitchFamily="34" charset="-122"/>
              </a:rPr>
              <a:t>4. </a:t>
            </a:r>
            <a:r>
              <a:rPr lang="zh-CN" altLang="en-US" sz="2000" dirty="0">
                <a:solidFill>
                  <a:srgbClr val="A50021"/>
                </a:solidFill>
                <a:latin typeface="Microsoft YaHei" panose="020B0503020204020204" pitchFamily="34" charset="-122"/>
                <a:ea typeface="Microsoft YaHei" panose="020B0503020204020204" pitchFamily="34" charset="-122"/>
              </a:rPr>
              <a:t>需求信息的分析整理</a:t>
            </a:r>
            <a:r>
              <a:rPr lang="en-US" altLang="zh-CN" sz="2000" dirty="0">
                <a:solidFill>
                  <a:srgbClr val="A50021"/>
                </a:solidFill>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用</a:t>
            </a:r>
            <a:r>
              <a:rPr lang="zh-CN" altLang="en-US" sz="2000" dirty="0">
                <a:solidFill>
                  <a:srgbClr val="FF0000"/>
                </a:solidFill>
                <a:latin typeface="Microsoft YaHei" panose="020B0503020204020204" pitchFamily="34" charset="-122"/>
                <a:ea typeface="Microsoft YaHei" panose="020B0503020204020204" pitchFamily="34" charset="-122"/>
              </a:rPr>
              <a:t>数据流图</a:t>
            </a:r>
            <a:r>
              <a:rPr lang="zh-CN" altLang="en-US" sz="2000" dirty="0">
                <a:latin typeface="Microsoft YaHei" panose="020B0503020204020204" pitchFamily="34" charset="-122"/>
                <a:ea typeface="Microsoft YaHei" panose="020B0503020204020204" pitchFamily="34" charset="-122"/>
              </a:rPr>
              <a:t>和</a:t>
            </a:r>
            <a:r>
              <a:rPr lang="zh-CN" altLang="en-US" sz="2000" dirty="0">
                <a:solidFill>
                  <a:srgbClr val="FF0000"/>
                </a:solidFill>
                <a:latin typeface="Microsoft YaHei" panose="020B0503020204020204" pitchFamily="34" charset="-122"/>
                <a:ea typeface="Microsoft YaHei" panose="020B0503020204020204" pitchFamily="34" charset="-122"/>
              </a:rPr>
              <a:t>数据字典</a:t>
            </a:r>
            <a:r>
              <a:rPr lang="zh-CN" altLang="en-US" sz="2000" dirty="0">
                <a:latin typeface="Microsoft YaHei" panose="020B0503020204020204" pitchFamily="34" charset="-122"/>
                <a:ea typeface="Microsoft YaHei" panose="020B0503020204020204" pitchFamily="34" charset="-122"/>
              </a:rPr>
              <a:t>描述。</a:t>
            </a:r>
          </a:p>
        </p:txBody>
      </p:sp>
      <p:sp>
        <p:nvSpPr>
          <p:cNvPr id="3" name="标题 2">
            <a:extLst>
              <a:ext uri="{FF2B5EF4-FFF2-40B4-BE49-F238E27FC236}">
                <a16:creationId xmlns:a16="http://schemas.microsoft.com/office/drawing/2014/main" id="{D931A9BF-FD1F-BE3C-3534-59588DC28437}"/>
              </a:ext>
            </a:extLst>
          </p:cNvPr>
          <p:cNvSpPr>
            <a:spLocks noGrp="1"/>
          </p:cNvSpPr>
          <p:nvPr>
            <p:ph type="title"/>
          </p:nvPr>
        </p:nvSpPr>
        <p:spPr/>
        <p:txBody>
          <a:bodyPr/>
          <a:lstStyle/>
          <a:p>
            <a:r>
              <a:rPr lang="zh-CN" altLang="en-US" dirty="0"/>
              <a:t>需求分析</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a:xfrm>
            <a:off x="5089781" y="2735451"/>
            <a:ext cx="3945731" cy="1977629"/>
            <a:chOff x="0" y="0"/>
            <a:chExt cx="3314" cy="1661"/>
          </a:xfrm>
        </p:grpSpPr>
        <p:sp>
          <p:nvSpPr>
            <p:cNvPr id="19460" name="未知"/>
            <p:cNvSpPr/>
            <p:nvPr/>
          </p:nvSpPr>
          <p:spPr>
            <a:xfrm>
              <a:off x="1257" y="235"/>
              <a:ext cx="1191" cy="1109"/>
            </a:xfrm>
            <a:custGeom>
              <a:avLst/>
              <a:gdLst/>
              <a:ahLst/>
              <a:cxnLst>
                <a:cxn ang="0">
                  <a:pos x="0" y="196"/>
                </a:cxn>
                <a:cxn ang="0">
                  <a:pos x="3" y="175"/>
                </a:cxn>
                <a:cxn ang="0">
                  <a:pos x="11" y="153"/>
                </a:cxn>
                <a:cxn ang="0">
                  <a:pos x="21" y="134"/>
                </a:cxn>
                <a:cxn ang="0">
                  <a:pos x="36" y="113"/>
                </a:cxn>
                <a:cxn ang="0">
                  <a:pos x="55" y="95"/>
                </a:cxn>
                <a:cxn ang="0">
                  <a:pos x="80" y="77"/>
                </a:cxn>
                <a:cxn ang="0">
                  <a:pos x="107" y="61"/>
                </a:cxn>
                <a:cxn ang="0">
                  <a:pos x="138" y="47"/>
                </a:cxn>
                <a:cxn ang="0">
                  <a:pos x="173" y="34"/>
                </a:cxn>
                <a:cxn ang="0">
                  <a:pos x="208" y="23"/>
                </a:cxn>
                <a:cxn ang="0">
                  <a:pos x="246" y="14"/>
                </a:cxn>
                <a:cxn ang="0">
                  <a:pos x="287" y="7"/>
                </a:cxn>
                <a:cxn ang="0">
                  <a:pos x="330" y="4"/>
                </a:cxn>
                <a:cxn ang="0">
                  <a:pos x="373" y="0"/>
                </a:cxn>
                <a:cxn ang="0">
                  <a:pos x="415" y="0"/>
                </a:cxn>
                <a:cxn ang="0">
                  <a:pos x="457" y="4"/>
                </a:cxn>
                <a:cxn ang="0">
                  <a:pos x="498" y="7"/>
                </a:cxn>
                <a:cxn ang="0">
                  <a:pos x="539" y="14"/>
                </a:cxn>
                <a:cxn ang="0">
                  <a:pos x="578" y="23"/>
                </a:cxn>
                <a:cxn ang="0">
                  <a:pos x="614" y="34"/>
                </a:cxn>
                <a:cxn ang="0">
                  <a:pos x="649" y="47"/>
                </a:cxn>
                <a:cxn ang="0">
                  <a:pos x="680" y="61"/>
                </a:cxn>
                <a:cxn ang="0">
                  <a:pos x="707" y="77"/>
                </a:cxn>
                <a:cxn ang="0">
                  <a:pos x="731" y="95"/>
                </a:cxn>
                <a:cxn ang="0">
                  <a:pos x="751" y="113"/>
                </a:cxn>
                <a:cxn ang="0">
                  <a:pos x="767" y="134"/>
                </a:cxn>
                <a:cxn ang="0">
                  <a:pos x="779" y="153"/>
                </a:cxn>
                <a:cxn ang="0">
                  <a:pos x="785" y="175"/>
                </a:cxn>
                <a:cxn ang="0">
                  <a:pos x="787" y="196"/>
                </a:cxn>
                <a:cxn ang="0">
                  <a:pos x="785" y="216"/>
                </a:cxn>
                <a:cxn ang="0">
                  <a:pos x="779" y="238"/>
                </a:cxn>
                <a:cxn ang="0">
                  <a:pos x="767" y="258"/>
                </a:cxn>
                <a:cxn ang="0">
                  <a:pos x="751" y="278"/>
                </a:cxn>
                <a:cxn ang="0">
                  <a:pos x="731" y="295"/>
                </a:cxn>
                <a:cxn ang="0">
                  <a:pos x="707" y="314"/>
                </a:cxn>
                <a:cxn ang="0">
                  <a:pos x="680" y="331"/>
                </a:cxn>
                <a:cxn ang="0">
                  <a:pos x="649" y="345"/>
                </a:cxn>
                <a:cxn ang="0">
                  <a:pos x="614" y="358"/>
                </a:cxn>
                <a:cxn ang="0">
                  <a:pos x="578" y="368"/>
                </a:cxn>
                <a:cxn ang="0">
                  <a:pos x="539" y="378"/>
                </a:cxn>
                <a:cxn ang="0">
                  <a:pos x="498" y="385"/>
                </a:cxn>
                <a:cxn ang="0">
                  <a:pos x="457" y="389"/>
                </a:cxn>
                <a:cxn ang="0">
                  <a:pos x="415" y="391"/>
                </a:cxn>
                <a:cxn ang="0">
                  <a:pos x="373" y="391"/>
                </a:cxn>
                <a:cxn ang="0">
                  <a:pos x="330" y="389"/>
                </a:cxn>
                <a:cxn ang="0">
                  <a:pos x="287" y="385"/>
                </a:cxn>
                <a:cxn ang="0">
                  <a:pos x="246" y="378"/>
                </a:cxn>
                <a:cxn ang="0">
                  <a:pos x="208" y="368"/>
                </a:cxn>
                <a:cxn ang="0">
                  <a:pos x="173" y="358"/>
                </a:cxn>
                <a:cxn ang="0">
                  <a:pos x="138" y="345"/>
                </a:cxn>
                <a:cxn ang="0">
                  <a:pos x="107" y="331"/>
                </a:cxn>
                <a:cxn ang="0">
                  <a:pos x="80" y="314"/>
                </a:cxn>
                <a:cxn ang="0">
                  <a:pos x="55" y="295"/>
                </a:cxn>
                <a:cxn ang="0">
                  <a:pos x="36" y="278"/>
                </a:cxn>
                <a:cxn ang="0">
                  <a:pos x="21" y="258"/>
                </a:cxn>
                <a:cxn ang="0">
                  <a:pos x="11" y="238"/>
                </a:cxn>
                <a:cxn ang="0">
                  <a:pos x="3" y="216"/>
                </a:cxn>
                <a:cxn ang="0">
                  <a:pos x="0" y="196"/>
                </a:cxn>
              </a:cxnLst>
              <a:rect l="0" t="0" r="0" b="0"/>
              <a:pathLst>
                <a:path w="1247" h="1245">
                  <a:moveTo>
                    <a:pt x="0" y="623"/>
                  </a:moveTo>
                  <a:lnTo>
                    <a:pt x="3" y="555"/>
                  </a:lnTo>
                  <a:lnTo>
                    <a:pt x="14" y="489"/>
                  </a:lnTo>
                  <a:lnTo>
                    <a:pt x="31" y="424"/>
                  </a:lnTo>
                  <a:lnTo>
                    <a:pt x="57" y="361"/>
                  </a:lnTo>
                  <a:lnTo>
                    <a:pt x="88" y="302"/>
                  </a:lnTo>
                  <a:lnTo>
                    <a:pt x="127" y="245"/>
                  </a:lnTo>
                  <a:lnTo>
                    <a:pt x="170" y="193"/>
                  </a:lnTo>
                  <a:lnTo>
                    <a:pt x="219" y="147"/>
                  </a:lnTo>
                  <a:lnTo>
                    <a:pt x="273" y="107"/>
                  </a:lnTo>
                  <a:lnTo>
                    <a:pt x="330" y="72"/>
                  </a:lnTo>
                  <a:lnTo>
                    <a:pt x="391" y="44"/>
                  </a:lnTo>
                  <a:lnTo>
                    <a:pt x="456" y="22"/>
                  </a:lnTo>
                  <a:lnTo>
                    <a:pt x="522" y="7"/>
                  </a:lnTo>
                  <a:lnTo>
                    <a:pt x="589" y="0"/>
                  </a:lnTo>
                  <a:lnTo>
                    <a:pt x="655" y="0"/>
                  </a:lnTo>
                  <a:lnTo>
                    <a:pt x="724" y="7"/>
                  </a:lnTo>
                  <a:lnTo>
                    <a:pt x="788" y="22"/>
                  </a:lnTo>
                  <a:lnTo>
                    <a:pt x="853" y="44"/>
                  </a:lnTo>
                  <a:lnTo>
                    <a:pt x="914" y="72"/>
                  </a:lnTo>
                  <a:lnTo>
                    <a:pt x="973" y="107"/>
                  </a:lnTo>
                  <a:lnTo>
                    <a:pt x="1027" y="147"/>
                  </a:lnTo>
                  <a:lnTo>
                    <a:pt x="1075" y="193"/>
                  </a:lnTo>
                  <a:lnTo>
                    <a:pt x="1119" y="245"/>
                  </a:lnTo>
                  <a:lnTo>
                    <a:pt x="1156" y="302"/>
                  </a:lnTo>
                  <a:lnTo>
                    <a:pt x="1188" y="361"/>
                  </a:lnTo>
                  <a:lnTo>
                    <a:pt x="1213" y="424"/>
                  </a:lnTo>
                  <a:lnTo>
                    <a:pt x="1232" y="489"/>
                  </a:lnTo>
                  <a:lnTo>
                    <a:pt x="1243" y="555"/>
                  </a:lnTo>
                  <a:lnTo>
                    <a:pt x="1247" y="623"/>
                  </a:lnTo>
                  <a:lnTo>
                    <a:pt x="1243" y="690"/>
                  </a:lnTo>
                  <a:lnTo>
                    <a:pt x="1232" y="756"/>
                  </a:lnTo>
                  <a:lnTo>
                    <a:pt x="1213" y="821"/>
                  </a:lnTo>
                  <a:lnTo>
                    <a:pt x="1188" y="883"/>
                  </a:lnTo>
                  <a:lnTo>
                    <a:pt x="1156" y="942"/>
                  </a:lnTo>
                  <a:lnTo>
                    <a:pt x="1119" y="1000"/>
                  </a:lnTo>
                  <a:lnTo>
                    <a:pt x="1075" y="1051"/>
                  </a:lnTo>
                  <a:lnTo>
                    <a:pt x="1027" y="1097"/>
                  </a:lnTo>
                  <a:lnTo>
                    <a:pt x="973" y="1138"/>
                  </a:lnTo>
                  <a:lnTo>
                    <a:pt x="914" y="1173"/>
                  </a:lnTo>
                  <a:lnTo>
                    <a:pt x="853" y="1201"/>
                  </a:lnTo>
                  <a:lnTo>
                    <a:pt x="788" y="1223"/>
                  </a:lnTo>
                  <a:lnTo>
                    <a:pt x="724" y="1238"/>
                  </a:lnTo>
                  <a:lnTo>
                    <a:pt x="655" y="1245"/>
                  </a:lnTo>
                  <a:lnTo>
                    <a:pt x="589" y="1245"/>
                  </a:lnTo>
                  <a:lnTo>
                    <a:pt x="522" y="1238"/>
                  </a:lnTo>
                  <a:lnTo>
                    <a:pt x="456" y="1223"/>
                  </a:lnTo>
                  <a:lnTo>
                    <a:pt x="391" y="1201"/>
                  </a:lnTo>
                  <a:lnTo>
                    <a:pt x="330" y="1173"/>
                  </a:lnTo>
                  <a:lnTo>
                    <a:pt x="273" y="1138"/>
                  </a:lnTo>
                  <a:lnTo>
                    <a:pt x="219" y="1097"/>
                  </a:lnTo>
                  <a:lnTo>
                    <a:pt x="170" y="1051"/>
                  </a:lnTo>
                  <a:lnTo>
                    <a:pt x="127" y="1000"/>
                  </a:lnTo>
                  <a:lnTo>
                    <a:pt x="88" y="942"/>
                  </a:lnTo>
                  <a:lnTo>
                    <a:pt x="57" y="883"/>
                  </a:lnTo>
                  <a:lnTo>
                    <a:pt x="31" y="821"/>
                  </a:lnTo>
                  <a:lnTo>
                    <a:pt x="14" y="756"/>
                  </a:lnTo>
                  <a:lnTo>
                    <a:pt x="3" y="690"/>
                  </a:lnTo>
                  <a:lnTo>
                    <a:pt x="0" y="623"/>
                  </a:lnTo>
                  <a:close/>
                </a:path>
              </a:pathLst>
            </a:custGeom>
            <a:solidFill>
              <a:schemeClr val="accent1"/>
            </a:solidFill>
            <a:ln w="6350" cap="flat" cmpd="sng">
              <a:solidFill>
                <a:schemeClr val="tx1"/>
              </a:solidFill>
              <a:prstDash val="solid"/>
              <a:round/>
              <a:headEnd type="none" w="med" len="med"/>
              <a:tailEnd type="non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grpSp>
          <p:nvGrpSpPr>
            <p:cNvPr id="19461" name="Group 6"/>
            <p:cNvGrpSpPr/>
            <p:nvPr/>
          </p:nvGrpSpPr>
          <p:grpSpPr>
            <a:xfrm>
              <a:off x="1440" y="528"/>
              <a:ext cx="889" cy="729"/>
              <a:chOff x="0" y="0"/>
              <a:chExt cx="889" cy="729"/>
            </a:xfrm>
          </p:grpSpPr>
          <p:sp>
            <p:nvSpPr>
              <p:cNvPr id="19462" name="Rectangle 7"/>
              <p:cNvSpPr/>
              <p:nvPr/>
            </p:nvSpPr>
            <p:spPr>
              <a:xfrm>
                <a:off x="0" y="0"/>
                <a:ext cx="889" cy="213"/>
              </a:xfrm>
              <a:prstGeom prst="rect">
                <a:avLst/>
              </a:prstGeom>
              <a:solidFill>
                <a:schemeClr val="accent1"/>
              </a:solidFill>
              <a:ln w="9525" cap="flat" cmpd="sng">
                <a:solidFill>
                  <a:schemeClr val="tx1"/>
                </a:solidFill>
                <a:prstDash val="solid"/>
                <a:miter/>
                <a:headEnd type="none" w="med" len="med"/>
                <a:tailEnd type="none" w="med" len="med"/>
              </a:ln>
            </p:spPr>
            <p:txBody>
              <a:bodyPr wrap="none" lIns="0" tIns="0" rIns="0" bIns="0" anchor="t" anchorCtr="0">
                <a:spAutoFit/>
              </a:bodyPr>
              <a:lstStyle/>
              <a:p>
                <a:r>
                  <a:rPr lang="zh-CN" altLang="en-US" sz="1650" dirty="0">
                    <a:solidFill>
                      <a:schemeClr val="bg1"/>
                    </a:solidFill>
                    <a:latin typeface="Microsoft YaHei" panose="020B0503020204020204" pitchFamily="34" charset="-122"/>
                    <a:ea typeface="Microsoft YaHei" panose="020B0503020204020204" pitchFamily="34" charset="-122"/>
                  </a:rPr>
                  <a:t>图书借阅管</a:t>
                </a:r>
              </a:p>
            </p:txBody>
          </p:sp>
          <p:sp>
            <p:nvSpPr>
              <p:cNvPr id="19463" name="Rectangle 8"/>
              <p:cNvSpPr/>
              <p:nvPr/>
            </p:nvSpPr>
            <p:spPr>
              <a:xfrm>
                <a:off x="216" y="258"/>
                <a:ext cx="533" cy="213"/>
              </a:xfrm>
              <a:prstGeom prst="rect">
                <a:avLst/>
              </a:prstGeom>
              <a:solidFill>
                <a:schemeClr val="accent1"/>
              </a:solidFill>
              <a:ln w="9525" cap="flat" cmpd="sng">
                <a:solidFill>
                  <a:schemeClr val="tx1"/>
                </a:solidFill>
                <a:prstDash val="solid"/>
                <a:miter/>
                <a:headEnd type="none" w="med" len="med"/>
                <a:tailEnd type="none" w="med" len="med"/>
              </a:ln>
            </p:spPr>
            <p:txBody>
              <a:bodyPr wrap="none" lIns="0" tIns="0" rIns="0" bIns="0" anchor="t" anchorCtr="0">
                <a:spAutoFit/>
              </a:bodyPr>
              <a:lstStyle/>
              <a:p>
                <a:r>
                  <a:rPr lang="zh-CN" altLang="en-US" sz="1650" dirty="0">
                    <a:solidFill>
                      <a:schemeClr val="bg1"/>
                    </a:solidFill>
                    <a:latin typeface="Microsoft YaHei" panose="020B0503020204020204" pitchFamily="34" charset="-122"/>
                    <a:ea typeface="Microsoft YaHei" panose="020B0503020204020204" pitchFamily="34" charset="-122"/>
                  </a:rPr>
                  <a:t>理系统</a:t>
                </a:r>
              </a:p>
            </p:txBody>
          </p:sp>
          <p:sp>
            <p:nvSpPr>
              <p:cNvPr id="19464" name="Rectangle 9"/>
              <p:cNvSpPr/>
              <p:nvPr/>
            </p:nvSpPr>
            <p:spPr>
              <a:xfrm>
                <a:off x="486" y="516"/>
                <a:ext cx="104" cy="213"/>
              </a:xfrm>
              <a:prstGeom prst="rect">
                <a:avLst/>
              </a:prstGeom>
              <a:solidFill>
                <a:schemeClr val="accent1"/>
              </a:solidFill>
              <a:ln w="9525" cap="flat" cmpd="sng">
                <a:solidFill>
                  <a:schemeClr val="tx1"/>
                </a:solidFill>
                <a:prstDash val="solid"/>
                <a:miter/>
                <a:headEnd type="none" w="med" len="med"/>
                <a:tailEnd type="none" w="med" len="med"/>
              </a:ln>
            </p:spPr>
            <p:txBody>
              <a:bodyPr wrap="none" lIns="0" tIns="0" rIns="0" bIns="0" anchor="t" anchorCtr="0">
                <a:spAutoFit/>
              </a:bodyPr>
              <a:lstStyle/>
              <a:p>
                <a:r>
                  <a:rPr lang="en-US" altLang="zh-CN" sz="1650" dirty="0">
                    <a:solidFill>
                      <a:schemeClr val="bg1"/>
                    </a:solidFill>
                    <a:latin typeface="Microsoft YaHei" panose="020B0503020204020204" pitchFamily="34" charset="-122"/>
                    <a:ea typeface="Microsoft YaHei" panose="020B0503020204020204" pitchFamily="34" charset="-122"/>
                  </a:rPr>
                  <a:t>1</a:t>
                </a:r>
              </a:p>
            </p:txBody>
          </p:sp>
        </p:grpSp>
        <p:sp>
          <p:nvSpPr>
            <p:cNvPr id="19465" name="Rectangle 10"/>
            <p:cNvSpPr/>
            <p:nvPr/>
          </p:nvSpPr>
          <p:spPr>
            <a:xfrm>
              <a:off x="9" y="50"/>
              <a:ext cx="868" cy="213"/>
            </a:xfrm>
            <a:prstGeom prst="rect">
              <a:avLst/>
            </a:prstGeom>
            <a:solidFill>
              <a:schemeClr val="accent1"/>
            </a:solidFill>
            <a:ln w="9525" cap="flat" cmpd="sng">
              <a:solidFill>
                <a:schemeClr val="tx1"/>
              </a:solidFill>
              <a:prstDash val="solid"/>
              <a:miter/>
              <a:headEnd type="none" w="med" len="med"/>
              <a:tailEnd type="none" w="med" len="med"/>
            </a:ln>
          </p:spPr>
          <p:txBody>
            <a:bodyPr wrap="none" lIns="0" tIns="0" rIns="0" bIns="0" anchor="t" anchorCtr="0">
              <a:spAutoFit/>
            </a:bodyPr>
            <a:lstStyle/>
            <a:p>
              <a:r>
                <a:rPr lang="zh-CN" altLang="en-US" sz="1650" dirty="0">
                  <a:solidFill>
                    <a:schemeClr val="bg1"/>
                  </a:solidFill>
                  <a:latin typeface="Microsoft YaHei" panose="020B0503020204020204" pitchFamily="34" charset="-122"/>
                  <a:ea typeface="Microsoft YaHei" panose="020B0503020204020204" pitchFamily="34" charset="-122"/>
                </a:rPr>
                <a:t>学 生 数 据</a:t>
              </a:r>
            </a:p>
          </p:txBody>
        </p:sp>
        <p:sp>
          <p:nvSpPr>
            <p:cNvPr id="19466" name="Rectangle 11"/>
            <p:cNvSpPr/>
            <p:nvPr/>
          </p:nvSpPr>
          <p:spPr>
            <a:xfrm>
              <a:off x="0" y="1273"/>
              <a:ext cx="868" cy="213"/>
            </a:xfrm>
            <a:prstGeom prst="rect">
              <a:avLst/>
            </a:prstGeom>
            <a:solidFill>
              <a:schemeClr val="accent1"/>
            </a:solidFill>
            <a:ln w="9525" cap="flat" cmpd="sng">
              <a:solidFill>
                <a:schemeClr val="tx1"/>
              </a:solidFill>
              <a:prstDash val="solid"/>
              <a:miter/>
              <a:headEnd type="none" w="med" len="med"/>
              <a:tailEnd type="none" w="med" len="med"/>
            </a:ln>
          </p:spPr>
          <p:txBody>
            <a:bodyPr wrap="none" lIns="0" tIns="0" rIns="0" bIns="0" anchor="t" anchorCtr="0">
              <a:spAutoFit/>
            </a:bodyPr>
            <a:lstStyle/>
            <a:p>
              <a:r>
                <a:rPr lang="zh-CN" altLang="en-US" sz="1650" dirty="0">
                  <a:solidFill>
                    <a:schemeClr val="bg1"/>
                  </a:solidFill>
                  <a:latin typeface="Microsoft YaHei" panose="020B0503020204020204" pitchFamily="34" charset="-122"/>
                  <a:ea typeface="Microsoft YaHei" panose="020B0503020204020204" pitchFamily="34" charset="-122"/>
                </a:rPr>
                <a:t>图 书 数 据</a:t>
              </a:r>
            </a:p>
          </p:txBody>
        </p:sp>
        <p:sp>
          <p:nvSpPr>
            <p:cNvPr id="19467" name="未知"/>
            <p:cNvSpPr>
              <a:spLocks noEditPoints="1"/>
            </p:cNvSpPr>
            <p:nvPr/>
          </p:nvSpPr>
          <p:spPr>
            <a:xfrm>
              <a:off x="2919" y="0"/>
              <a:ext cx="178" cy="1661"/>
            </a:xfrm>
            <a:custGeom>
              <a:avLst/>
              <a:gdLst/>
              <a:ahLst/>
              <a:cxnLst>
                <a:cxn ang="0">
                  <a:pos x="178" y="0"/>
                </a:cxn>
                <a:cxn ang="0">
                  <a:pos x="178" y="1661"/>
                </a:cxn>
                <a:cxn ang="0">
                  <a:pos x="0" y="0"/>
                </a:cxn>
                <a:cxn ang="0">
                  <a:pos x="0" y="1661"/>
                </a:cxn>
              </a:cxnLst>
              <a:rect l="0" t="0" r="0" b="0"/>
              <a:pathLst>
                <a:path w="178" h="1661">
                  <a:moveTo>
                    <a:pt x="178" y="0"/>
                  </a:moveTo>
                  <a:lnTo>
                    <a:pt x="178" y="1661"/>
                  </a:lnTo>
                  <a:moveTo>
                    <a:pt x="0" y="0"/>
                  </a:moveTo>
                  <a:lnTo>
                    <a:pt x="0" y="1661"/>
                  </a:lnTo>
                </a:path>
              </a:pathLst>
            </a:custGeom>
            <a:solidFill>
              <a:schemeClr val="accent1"/>
            </a:solidFill>
            <a:ln w="6350" cap="flat" cmpd="sng">
              <a:solidFill>
                <a:schemeClr val="tx1"/>
              </a:solidFill>
              <a:prstDash val="solid"/>
              <a:round/>
              <a:headEnd type="none" w="med" len="med"/>
              <a:tailEnd type="non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19468" name="Rectangle 13"/>
            <p:cNvSpPr/>
            <p:nvPr/>
          </p:nvSpPr>
          <p:spPr>
            <a:xfrm rot="5400000">
              <a:off x="2543" y="677"/>
              <a:ext cx="1329" cy="213"/>
            </a:xfrm>
            <a:prstGeom prst="rect">
              <a:avLst/>
            </a:prstGeom>
            <a:solidFill>
              <a:schemeClr val="accent1"/>
            </a:solidFill>
            <a:ln w="9525" cap="flat" cmpd="sng">
              <a:solidFill>
                <a:schemeClr val="tx1"/>
              </a:solidFill>
              <a:prstDash val="solid"/>
              <a:miter/>
              <a:headEnd type="none" w="med" len="med"/>
              <a:tailEnd type="none" w="med" len="med"/>
            </a:ln>
          </p:spPr>
          <p:txBody>
            <a:bodyPr wrap="none" lIns="0" tIns="0" rIns="0" bIns="0" anchor="t" anchorCtr="0">
              <a:spAutoFit/>
            </a:bodyPr>
            <a:lstStyle/>
            <a:p>
              <a:r>
                <a:rPr lang="zh-CN" altLang="en-US" sz="1650" dirty="0">
                  <a:solidFill>
                    <a:schemeClr val="bg1"/>
                  </a:solidFill>
                  <a:latin typeface="Microsoft YaHei" panose="020B0503020204020204" pitchFamily="34" charset="-122"/>
                  <a:ea typeface="Microsoft YaHei" panose="020B0503020204020204" pitchFamily="34" charset="-122"/>
                </a:rPr>
                <a:t>图 书 库 存 数 据</a:t>
              </a:r>
            </a:p>
          </p:txBody>
        </p:sp>
        <p:sp>
          <p:nvSpPr>
            <p:cNvPr id="19469" name="Line 14"/>
            <p:cNvSpPr/>
            <p:nvPr/>
          </p:nvSpPr>
          <p:spPr>
            <a:xfrm>
              <a:off x="2448" y="617"/>
              <a:ext cx="432" cy="0"/>
            </a:xfrm>
            <a:prstGeom prst="line">
              <a:avLst/>
            </a:prstGeom>
            <a:ln w="9525" cap="flat" cmpd="sng">
              <a:solidFill>
                <a:schemeClr val="tx1"/>
              </a:solidFill>
              <a:prstDash val="solid"/>
              <a:round/>
              <a:headEnd type="none" w="med" len="med"/>
              <a:tailEnd type="triangl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19470" name="Line 15"/>
            <p:cNvSpPr/>
            <p:nvPr/>
          </p:nvSpPr>
          <p:spPr>
            <a:xfrm flipH="1">
              <a:off x="2448" y="905"/>
              <a:ext cx="432" cy="0"/>
            </a:xfrm>
            <a:prstGeom prst="line">
              <a:avLst/>
            </a:prstGeom>
            <a:ln w="9525" cap="flat" cmpd="sng">
              <a:solidFill>
                <a:schemeClr val="tx1"/>
              </a:solidFill>
              <a:prstDash val="solid"/>
              <a:round/>
              <a:headEnd type="none" w="med" len="med"/>
              <a:tailEnd type="triangl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19471" name="Line 16"/>
            <p:cNvSpPr/>
            <p:nvPr/>
          </p:nvSpPr>
          <p:spPr>
            <a:xfrm>
              <a:off x="576" y="240"/>
              <a:ext cx="672" cy="384"/>
            </a:xfrm>
            <a:prstGeom prst="line">
              <a:avLst/>
            </a:prstGeom>
            <a:ln w="9525" cap="flat" cmpd="sng">
              <a:solidFill>
                <a:schemeClr val="tx1"/>
              </a:solidFill>
              <a:prstDash val="solid"/>
              <a:round/>
              <a:headEnd type="none" w="med" len="med"/>
              <a:tailEnd type="triangl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19472" name="Line 17"/>
            <p:cNvSpPr/>
            <p:nvPr/>
          </p:nvSpPr>
          <p:spPr>
            <a:xfrm flipV="1">
              <a:off x="458" y="1001"/>
              <a:ext cx="816" cy="288"/>
            </a:xfrm>
            <a:prstGeom prst="line">
              <a:avLst/>
            </a:prstGeom>
            <a:ln w="9525" cap="flat" cmpd="sng">
              <a:solidFill>
                <a:schemeClr val="tx1"/>
              </a:solidFill>
              <a:prstDash val="solid"/>
              <a:round/>
              <a:headEnd type="none" w="med" len="med"/>
              <a:tailEnd type="triangl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grpSp>
      <p:sp>
        <p:nvSpPr>
          <p:cNvPr id="19473" name="Rectangle 18"/>
          <p:cNvSpPr/>
          <p:nvPr/>
        </p:nvSpPr>
        <p:spPr>
          <a:xfrm>
            <a:off x="1314450" y="914401"/>
            <a:ext cx="285656" cy="276999"/>
          </a:xfrm>
          <a:prstGeom prst="rect">
            <a:avLst/>
          </a:prstGeom>
          <a:noFill/>
          <a:ln w="9525">
            <a:noFill/>
          </a:ln>
        </p:spPr>
        <p:txBody>
          <a:bodyPr wrap="none" anchor="t" anchorCtr="0">
            <a:spAutoFit/>
          </a:bodyPr>
          <a:lstStyle/>
          <a:p>
            <a:r>
              <a:rPr lang="zh-CN" altLang="en-US" sz="1200" dirty="0">
                <a:solidFill>
                  <a:srgbClr val="66FFFF"/>
                </a:solidFill>
                <a:latin typeface="Times New Roman" panose="02020603050405020304" pitchFamily="18" charset="0"/>
                <a:ea typeface="方正舒体" panose="02010601030101010101" pitchFamily="2" charset="-122"/>
              </a:rPr>
              <a:t>●</a:t>
            </a:r>
          </a:p>
        </p:txBody>
      </p:sp>
      <p:sp>
        <p:nvSpPr>
          <p:cNvPr id="5" name="文本框 4">
            <a:extLst>
              <a:ext uri="{FF2B5EF4-FFF2-40B4-BE49-F238E27FC236}">
                <a16:creationId xmlns:a16="http://schemas.microsoft.com/office/drawing/2014/main" id="{268F595A-1DAC-96D2-7160-3CCCD37F921A}"/>
              </a:ext>
            </a:extLst>
          </p:cNvPr>
          <p:cNvSpPr txBox="1"/>
          <p:nvPr/>
        </p:nvSpPr>
        <p:spPr>
          <a:xfrm>
            <a:off x="636384" y="1375450"/>
            <a:ext cx="5788370" cy="1200329"/>
          </a:xfrm>
          <a:prstGeom prst="rect">
            <a:avLst/>
          </a:prstGeom>
          <a:noFill/>
        </p:spPr>
        <p:txBody>
          <a:bodyPr wrap="square">
            <a:spAutoFit/>
          </a:bodyPr>
          <a:lstStyle/>
          <a:p>
            <a:r>
              <a:rPr lang="zh-CN" altLang="en-US" sz="1800" dirty="0">
                <a:latin typeface="Microsoft YaHei" panose="020B0503020204020204" pitchFamily="34" charset="-122"/>
                <a:ea typeface="Microsoft YaHei" panose="020B0503020204020204" pitchFamily="34" charset="-122"/>
              </a:rPr>
              <a:t>自顶向下的结构化分析方法 </a:t>
            </a:r>
            <a:r>
              <a:rPr lang="en-US" altLang="zh-CN" sz="1800" dirty="0">
                <a:latin typeface="Microsoft YaHei" panose="020B0503020204020204" pitchFamily="34" charset="-122"/>
                <a:ea typeface="Microsoft YaHei" panose="020B0503020204020204" pitchFamily="34" charset="-122"/>
              </a:rPr>
              <a:t>SA(structured analysis)</a:t>
            </a:r>
            <a:r>
              <a:rPr lang="zh-CN" altLang="en-US" sz="1800" dirty="0">
                <a:latin typeface="Microsoft YaHei" panose="020B0503020204020204" pitchFamily="34" charset="-122"/>
                <a:ea typeface="Microsoft YaHei" panose="020B0503020204020204" pitchFamily="34" charset="-122"/>
              </a:rPr>
              <a:t>：</a:t>
            </a:r>
            <a:endParaRPr lang="en-US" altLang="zh-CN" sz="1800" dirty="0">
              <a:latin typeface="Microsoft YaHei" panose="020B0503020204020204" pitchFamily="34" charset="-122"/>
              <a:ea typeface="Microsoft YaHei" panose="020B0503020204020204" pitchFamily="34" charset="-122"/>
            </a:endParaRPr>
          </a:p>
          <a:p>
            <a:endParaRPr lang="en-US" altLang="zh-CN" dirty="0">
              <a:latin typeface="Microsoft YaHei" panose="020B0503020204020204" pitchFamily="34" charset="-122"/>
              <a:ea typeface="Microsoft YaHei" panose="020B0503020204020204" pitchFamily="34" charset="-122"/>
            </a:endParaRPr>
          </a:p>
          <a:p>
            <a:r>
              <a:rPr lang="zh-CN" altLang="en-US" dirty="0">
                <a:latin typeface="Microsoft YaHei" panose="020B0503020204020204" pitchFamily="34" charset="-122"/>
                <a:ea typeface="Microsoft YaHei" panose="020B0503020204020204" pitchFamily="34" charset="-122"/>
              </a:rPr>
              <a:t>从最上层的系统组织机构入手，采用逐层分解的方式分析系统，并且把每一层用</a:t>
            </a:r>
            <a:r>
              <a:rPr lang="zh-CN" altLang="en-US" dirty="0">
                <a:solidFill>
                  <a:schemeClr val="hlink"/>
                </a:solidFill>
                <a:latin typeface="Microsoft YaHei" panose="020B0503020204020204" pitchFamily="34" charset="-122"/>
                <a:ea typeface="Microsoft YaHei" panose="020B0503020204020204" pitchFamily="34" charset="-122"/>
              </a:rPr>
              <a:t>数据流图</a:t>
            </a:r>
            <a:r>
              <a:rPr lang="zh-CN" altLang="en-US" dirty="0">
                <a:latin typeface="Microsoft YaHei" panose="020B0503020204020204" pitchFamily="34" charset="-122"/>
                <a:ea typeface="Microsoft YaHei" panose="020B0503020204020204" pitchFamily="34" charset="-122"/>
              </a:rPr>
              <a:t>和</a:t>
            </a:r>
            <a:r>
              <a:rPr lang="zh-CN" altLang="en-US" dirty="0">
                <a:solidFill>
                  <a:schemeClr val="hlink"/>
                </a:solidFill>
                <a:latin typeface="Microsoft YaHei" panose="020B0503020204020204" pitchFamily="34" charset="-122"/>
                <a:ea typeface="Microsoft YaHei" panose="020B0503020204020204" pitchFamily="34" charset="-122"/>
              </a:rPr>
              <a:t>数据字典</a:t>
            </a:r>
            <a:r>
              <a:rPr lang="zh-CN" altLang="en-US" dirty="0">
                <a:latin typeface="Microsoft YaHei" panose="020B0503020204020204" pitchFamily="34" charset="-122"/>
                <a:ea typeface="Microsoft YaHei" panose="020B0503020204020204" pitchFamily="34" charset="-122"/>
              </a:rPr>
              <a:t>描述。</a:t>
            </a:r>
          </a:p>
        </p:txBody>
      </p:sp>
      <p:sp>
        <p:nvSpPr>
          <p:cNvPr id="7" name="标题 6">
            <a:extLst>
              <a:ext uri="{FF2B5EF4-FFF2-40B4-BE49-F238E27FC236}">
                <a16:creationId xmlns:a16="http://schemas.microsoft.com/office/drawing/2014/main" id="{4B0E9DD0-A8BD-9D3B-F35C-91DAD9DA28BC}"/>
              </a:ext>
            </a:extLst>
          </p:cNvPr>
          <p:cNvSpPr>
            <a:spLocks noGrp="1"/>
          </p:cNvSpPr>
          <p:nvPr>
            <p:ph type="title"/>
          </p:nvPr>
        </p:nvSpPr>
        <p:spPr/>
        <p:txBody>
          <a:bodyPr/>
          <a:lstStyle/>
          <a:p>
            <a:r>
              <a:rPr lang="zh-CN" altLang="en-US" dirty="0"/>
              <a:t>需求分析</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Group 2"/>
          <p:cNvGrpSpPr/>
          <p:nvPr/>
        </p:nvGrpSpPr>
        <p:grpSpPr>
          <a:xfrm>
            <a:off x="2789483" y="1253548"/>
            <a:ext cx="4460673" cy="3481387"/>
            <a:chOff x="-2" y="0"/>
            <a:chExt cx="3495" cy="2463"/>
          </a:xfrm>
        </p:grpSpPr>
        <p:sp>
          <p:nvSpPr>
            <p:cNvPr id="20482" name="未知"/>
            <p:cNvSpPr/>
            <p:nvPr/>
          </p:nvSpPr>
          <p:spPr>
            <a:xfrm>
              <a:off x="1114" y="1307"/>
              <a:ext cx="910" cy="889"/>
            </a:xfrm>
            <a:custGeom>
              <a:avLst/>
              <a:gdLst/>
              <a:ahLst/>
              <a:cxnLst>
                <a:cxn ang="0">
                  <a:pos x="0" y="883"/>
                </a:cxn>
                <a:cxn ang="0">
                  <a:pos x="3" y="763"/>
                </a:cxn>
                <a:cxn ang="0">
                  <a:pos x="31" y="653"/>
                </a:cxn>
                <a:cxn ang="0">
                  <a:pos x="83" y="544"/>
                </a:cxn>
                <a:cxn ang="0">
                  <a:pos x="153" y="443"/>
                </a:cxn>
                <a:cxn ang="0">
                  <a:pos x="230" y="347"/>
                </a:cxn>
                <a:cxn ang="0">
                  <a:pos x="329" y="259"/>
                </a:cxn>
                <a:cxn ang="0">
                  <a:pos x="442" y="186"/>
                </a:cxn>
                <a:cxn ang="0">
                  <a:pos x="568" y="119"/>
                </a:cxn>
                <a:cxn ang="0">
                  <a:pos x="700" y="69"/>
                </a:cxn>
                <a:cxn ang="0">
                  <a:pos x="840" y="30"/>
                </a:cxn>
                <a:cxn ang="0">
                  <a:pos x="987" y="4"/>
                </a:cxn>
                <a:cxn ang="0">
                  <a:pos x="1137" y="0"/>
                </a:cxn>
                <a:cxn ang="0">
                  <a:pos x="1284" y="4"/>
                </a:cxn>
                <a:cxn ang="0">
                  <a:pos x="1430" y="30"/>
                </a:cxn>
                <a:cxn ang="0">
                  <a:pos x="1571" y="69"/>
                </a:cxn>
                <a:cxn ang="0">
                  <a:pos x="1703" y="119"/>
                </a:cxn>
                <a:cxn ang="0">
                  <a:pos x="1829" y="186"/>
                </a:cxn>
                <a:cxn ang="0">
                  <a:pos x="1938" y="259"/>
                </a:cxn>
                <a:cxn ang="0">
                  <a:pos x="2038" y="347"/>
                </a:cxn>
                <a:cxn ang="0">
                  <a:pos x="2119" y="443"/>
                </a:cxn>
                <a:cxn ang="0">
                  <a:pos x="2188" y="544"/>
                </a:cxn>
                <a:cxn ang="0">
                  <a:pos x="2234" y="653"/>
                </a:cxn>
                <a:cxn ang="0">
                  <a:pos x="2265" y="763"/>
                </a:cxn>
                <a:cxn ang="0">
                  <a:pos x="2271" y="883"/>
                </a:cxn>
                <a:cxn ang="0">
                  <a:pos x="2265" y="998"/>
                </a:cxn>
                <a:cxn ang="0">
                  <a:pos x="2234" y="1106"/>
                </a:cxn>
                <a:cxn ang="0">
                  <a:pos x="2188" y="1219"/>
                </a:cxn>
                <a:cxn ang="0">
                  <a:pos x="2119" y="1322"/>
                </a:cxn>
                <a:cxn ang="0">
                  <a:pos x="2038" y="1414"/>
                </a:cxn>
                <a:cxn ang="0">
                  <a:pos x="1938" y="1502"/>
                </a:cxn>
                <a:cxn ang="0">
                  <a:pos x="1829" y="1577"/>
                </a:cxn>
                <a:cxn ang="0">
                  <a:pos x="1703" y="1643"/>
                </a:cxn>
                <a:cxn ang="0">
                  <a:pos x="1571" y="1691"/>
                </a:cxn>
                <a:cxn ang="0">
                  <a:pos x="1430" y="1731"/>
                </a:cxn>
                <a:cxn ang="0">
                  <a:pos x="1284" y="1753"/>
                </a:cxn>
                <a:cxn ang="0">
                  <a:pos x="1137" y="1762"/>
                </a:cxn>
                <a:cxn ang="0">
                  <a:pos x="987" y="1753"/>
                </a:cxn>
                <a:cxn ang="0">
                  <a:pos x="840" y="1731"/>
                </a:cxn>
                <a:cxn ang="0">
                  <a:pos x="700" y="1691"/>
                </a:cxn>
                <a:cxn ang="0">
                  <a:pos x="568" y="1643"/>
                </a:cxn>
                <a:cxn ang="0">
                  <a:pos x="442" y="1577"/>
                </a:cxn>
                <a:cxn ang="0">
                  <a:pos x="329" y="1502"/>
                </a:cxn>
                <a:cxn ang="0">
                  <a:pos x="230" y="1414"/>
                </a:cxn>
                <a:cxn ang="0">
                  <a:pos x="153" y="1322"/>
                </a:cxn>
                <a:cxn ang="0">
                  <a:pos x="83" y="1219"/>
                </a:cxn>
                <a:cxn ang="0">
                  <a:pos x="31" y="1106"/>
                </a:cxn>
                <a:cxn ang="0">
                  <a:pos x="3" y="998"/>
                </a:cxn>
                <a:cxn ang="0">
                  <a:pos x="0" y="883"/>
                </a:cxn>
              </a:cxnLst>
              <a:rect l="0" t="0" r="0" b="0"/>
              <a:pathLst>
                <a:path w="822" h="824">
                  <a:moveTo>
                    <a:pt x="0" y="413"/>
                  </a:moveTo>
                  <a:lnTo>
                    <a:pt x="3" y="358"/>
                  </a:lnTo>
                  <a:lnTo>
                    <a:pt x="12" y="306"/>
                  </a:lnTo>
                  <a:lnTo>
                    <a:pt x="30" y="255"/>
                  </a:lnTo>
                  <a:lnTo>
                    <a:pt x="55" y="207"/>
                  </a:lnTo>
                  <a:lnTo>
                    <a:pt x="84" y="162"/>
                  </a:lnTo>
                  <a:lnTo>
                    <a:pt x="119" y="121"/>
                  </a:lnTo>
                  <a:lnTo>
                    <a:pt x="160" y="86"/>
                  </a:lnTo>
                  <a:lnTo>
                    <a:pt x="205" y="56"/>
                  </a:lnTo>
                  <a:lnTo>
                    <a:pt x="253" y="32"/>
                  </a:lnTo>
                  <a:lnTo>
                    <a:pt x="304" y="15"/>
                  </a:lnTo>
                  <a:lnTo>
                    <a:pt x="358" y="4"/>
                  </a:lnTo>
                  <a:lnTo>
                    <a:pt x="411" y="0"/>
                  </a:lnTo>
                  <a:lnTo>
                    <a:pt x="464" y="4"/>
                  </a:lnTo>
                  <a:lnTo>
                    <a:pt x="518" y="15"/>
                  </a:lnTo>
                  <a:lnTo>
                    <a:pt x="568" y="32"/>
                  </a:lnTo>
                  <a:lnTo>
                    <a:pt x="616" y="56"/>
                  </a:lnTo>
                  <a:lnTo>
                    <a:pt x="662" y="86"/>
                  </a:lnTo>
                  <a:lnTo>
                    <a:pt x="701" y="121"/>
                  </a:lnTo>
                  <a:lnTo>
                    <a:pt x="737" y="162"/>
                  </a:lnTo>
                  <a:lnTo>
                    <a:pt x="767" y="207"/>
                  </a:lnTo>
                  <a:lnTo>
                    <a:pt x="790" y="255"/>
                  </a:lnTo>
                  <a:lnTo>
                    <a:pt x="808" y="306"/>
                  </a:lnTo>
                  <a:lnTo>
                    <a:pt x="819" y="358"/>
                  </a:lnTo>
                  <a:lnTo>
                    <a:pt x="822" y="413"/>
                  </a:lnTo>
                  <a:lnTo>
                    <a:pt x="819" y="466"/>
                  </a:lnTo>
                  <a:lnTo>
                    <a:pt x="808" y="518"/>
                  </a:lnTo>
                  <a:lnTo>
                    <a:pt x="790" y="570"/>
                  </a:lnTo>
                  <a:lnTo>
                    <a:pt x="767" y="618"/>
                  </a:lnTo>
                  <a:lnTo>
                    <a:pt x="737" y="662"/>
                  </a:lnTo>
                  <a:lnTo>
                    <a:pt x="701" y="703"/>
                  </a:lnTo>
                  <a:lnTo>
                    <a:pt x="662" y="738"/>
                  </a:lnTo>
                  <a:lnTo>
                    <a:pt x="616" y="769"/>
                  </a:lnTo>
                  <a:lnTo>
                    <a:pt x="568" y="792"/>
                  </a:lnTo>
                  <a:lnTo>
                    <a:pt x="518" y="810"/>
                  </a:lnTo>
                  <a:lnTo>
                    <a:pt x="464" y="820"/>
                  </a:lnTo>
                  <a:lnTo>
                    <a:pt x="411" y="824"/>
                  </a:lnTo>
                  <a:lnTo>
                    <a:pt x="358" y="820"/>
                  </a:lnTo>
                  <a:lnTo>
                    <a:pt x="304" y="810"/>
                  </a:lnTo>
                  <a:lnTo>
                    <a:pt x="253" y="792"/>
                  </a:lnTo>
                  <a:lnTo>
                    <a:pt x="205" y="769"/>
                  </a:lnTo>
                  <a:lnTo>
                    <a:pt x="160" y="738"/>
                  </a:lnTo>
                  <a:lnTo>
                    <a:pt x="119" y="703"/>
                  </a:lnTo>
                  <a:lnTo>
                    <a:pt x="84" y="662"/>
                  </a:lnTo>
                  <a:lnTo>
                    <a:pt x="55" y="618"/>
                  </a:lnTo>
                  <a:lnTo>
                    <a:pt x="30" y="570"/>
                  </a:lnTo>
                  <a:lnTo>
                    <a:pt x="12" y="518"/>
                  </a:lnTo>
                  <a:lnTo>
                    <a:pt x="3" y="466"/>
                  </a:lnTo>
                  <a:lnTo>
                    <a:pt x="0" y="413"/>
                  </a:lnTo>
                  <a:close/>
                </a:path>
              </a:pathLst>
            </a:custGeom>
            <a:solidFill>
              <a:schemeClr val="accent1"/>
            </a:solidFill>
            <a:ln w="6350" cap="flat" cmpd="sng">
              <a:solidFill>
                <a:schemeClr val="hlink"/>
              </a:solidFill>
              <a:prstDash val="solid"/>
              <a:round/>
              <a:headEnd type="none" w="med" len="med"/>
              <a:tailEnd type="non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20483" name="Rectangle 4"/>
            <p:cNvSpPr/>
            <p:nvPr/>
          </p:nvSpPr>
          <p:spPr>
            <a:xfrm>
              <a:off x="1281" y="1417"/>
              <a:ext cx="588" cy="212"/>
            </a:xfrm>
            <a:prstGeom prst="rect">
              <a:avLst/>
            </a:prstGeom>
            <a:solidFill>
              <a:schemeClr val="accent1"/>
            </a:solidFill>
            <a:ln w="9525">
              <a:noFill/>
            </a:ln>
          </p:spPr>
          <p:txBody>
            <a:bodyPr wrap="none" lIns="0" tIns="0" rIns="0" bIns="0" anchor="t" anchorCtr="0">
              <a:spAutoFit/>
            </a:bodyPr>
            <a:lstStyle/>
            <a:p>
              <a:pPr algn="ctr" eaLnBrk="0" hangingPunct="0"/>
              <a:r>
                <a:rPr lang="zh-CN" altLang="en-US" sz="1950" dirty="0">
                  <a:solidFill>
                    <a:schemeClr val="bg1"/>
                  </a:solidFill>
                  <a:latin typeface="Microsoft YaHei" panose="020B0503020204020204" pitchFamily="34" charset="-122"/>
                  <a:ea typeface="Microsoft YaHei" panose="020B0503020204020204" pitchFamily="34" charset="-122"/>
                </a:rPr>
                <a:t>借书处</a:t>
              </a:r>
            </a:p>
          </p:txBody>
        </p:sp>
        <p:sp>
          <p:nvSpPr>
            <p:cNvPr id="20484" name="Rectangle 5"/>
            <p:cNvSpPr/>
            <p:nvPr/>
          </p:nvSpPr>
          <p:spPr>
            <a:xfrm>
              <a:off x="1281" y="1666"/>
              <a:ext cx="588" cy="212"/>
            </a:xfrm>
            <a:prstGeom prst="rect">
              <a:avLst/>
            </a:prstGeom>
            <a:solidFill>
              <a:schemeClr val="accent1"/>
            </a:solidFill>
            <a:ln w="9525">
              <a:noFill/>
            </a:ln>
          </p:spPr>
          <p:txBody>
            <a:bodyPr wrap="none" lIns="0" tIns="0" rIns="0" bIns="0" anchor="t" anchorCtr="0">
              <a:spAutoFit/>
            </a:bodyPr>
            <a:lstStyle/>
            <a:p>
              <a:pPr algn="ctr" eaLnBrk="0" hangingPunct="0"/>
              <a:r>
                <a:rPr lang="zh-CN" altLang="en-US" sz="1950" dirty="0">
                  <a:solidFill>
                    <a:schemeClr val="bg1"/>
                  </a:solidFill>
                  <a:latin typeface="Microsoft YaHei" panose="020B0503020204020204" pitchFamily="34" charset="-122"/>
                  <a:ea typeface="Microsoft YaHei" panose="020B0503020204020204" pitchFamily="34" charset="-122"/>
                </a:rPr>
                <a:t>理系统</a:t>
              </a:r>
            </a:p>
          </p:txBody>
        </p:sp>
        <p:sp>
          <p:nvSpPr>
            <p:cNvPr id="20485" name="Rectangle 6"/>
            <p:cNvSpPr/>
            <p:nvPr/>
          </p:nvSpPr>
          <p:spPr>
            <a:xfrm>
              <a:off x="1431" y="1915"/>
              <a:ext cx="276" cy="212"/>
            </a:xfrm>
            <a:prstGeom prst="rect">
              <a:avLst/>
            </a:prstGeom>
            <a:solidFill>
              <a:schemeClr val="accent1"/>
            </a:solidFill>
            <a:ln w="9525">
              <a:noFill/>
            </a:ln>
          </p:spPr>
          <p:txBody>
            <a:bodyPr wrap="none" lIns="0" tIns="0" rIns="0" bIns="0" anchor="t" anchorCtr="0">
              <a:spAutoFit/>
            </a:bodyPr>
            <a:lstStyle/>
            <a:p>
              <a:pPr algn="ctr" eaLnBrk="0" hangingPunct="0"/>
              <a:r>
                <a:rPr lang="en-US" altLang="zh-CN" sz="1950" dirty="0">
                  <a:solidFill>
                    <a:schemeClr val="bg1"/>
                  </a:solidFill>
                  <a:latin typeface="Microsoft YaHei" panose="020B0503020204020204" pitchFamily="34" charset="-122"/>
                  <a:ea typeface="Microsoft YaHei" panose="020B0503020204020204" pitchFamily="34" charset="-122"/>
                </a:rPr>
                <a:t>1.1</a:t>
              </a:r>
            </a:p>
          </p:txBody>
        </p:sp>
        <p:sp>
          <p:nvSpPr>
            <p:cNvPr id="20486" name="Rectangle 7"/>
            <p:cNvSpPr/>
            <p:nvPr/>
          </p:nvSpPr>
          <p:spPr>
            <a:xfrm>
              <a:off x="-2" y="1105"/>
              <a:ext cx="784" cy="212"/>
            </a:xfrm>
            <a:prstGeom prst="rect">
              <a:avLst/>
            </a:prstGeom>
            <a:solidFill>
              <a:schemeClr val="accent1"/>
            </a:solidFill>
            <a:ln w="9525">
              <a:noFill/>
            </a:ln>
          </p:spPr>
          <p:txBody>
            <a:bodyPr wrap="none" lIns="0" tIns="0" rIns="0" bIns="0" anchor="t" anchorCtr="0">
              <a:spAutoFit/>
            </a:bodyPr>
            <a:lstStyle/>
            <a:p>
              <a:pPr algn="ctr" eaLnBrk="0" hangingPunct="0"/>
              <a:r>
                <a:rPr lang="zh-CN" altLang="en-US" sz="1950" dirty="0">
                  <a:solidFill>
                    <a:schemeClr val="bg1"/>
                  </a:solidFill>
                  <a:latin typeface="Microsoft YaHei" panose="020B0503020204020204" pitchFamily="34" charset="-122"/>
                  <a:ea typeface="Microsoft YaHei" panose="020B0503020204020204" pitchFamily="34" charset="-122"/>
                </a:rPr>
                <a:t>学生数据</a:t>
              </a:r>
            </a:p>
          </p:txBody>
        </p:sp>
        <p:sp>
          <p:nvSpPr>
            <p:cNvPr id="20487" name="Rectangle 8"/>
            <p:cNvSpPr/>
            <p:nvPr/>
          </p:nvSpPr>
          <p:spPr>
            <a:xfrm>
              <a:off x="64" y="2251"/>
              <a:ext cx="784" cy="212"/>
            </a:xfrm>
            <a:prstGeom prst="rect">
              <a:avLst/>
            </a:prstGeom>
            <a:solidFill>
              <a:schemeClr val="accent1"/>
            </a:solidFill>
            <a:ln w="9525">
              <a:noFill/>
            </a:ln>
          </p:spPr>
          <p:txBody>
            <a:bodyPr wrap="none" lIns="0" tIns="0" rIns="0" bIns="0" anchor="t" anchorCtr="0">
              <a:spAutoFit/>
            </a:bodyPr>
            <a:lstStyle/>
            <a:p>
              <a:pPr algn="ctr" eaLnBrk="0" hangingPunct="0"/>
              <a:r>
                <a:rPr lang="zh-CN" altLang="en-US" sz="1950" dirty="0">
                  <a:solidFill>
                    <a:schemeClr val="bg1"/>
                  </a:solidFill>
                  <a:latin typeface="Microsoft YaHei" panose="020B0503020204020204" pitchFamily="34" charset="-122"/>
                  <a:ea typeface="Microsoft YaHei" panose="020B0503020204020204" pitchFamily="34" charset="-122"/>
                </a:rPr>
                <a:t>借书信息</a:t>
              </a:r>
            </a:p>
          </p:txBody>
        </p:sp>
        <p:sp>
          <p:nvSpPr>
            <p:cNvPr id="20488" name="未知"/>
            <p:cNvSpPr>
              <a:spLocks noEditPoints="1"/>
            </p:cNvSpPr>
            <p:nvPr/>
          </p:nvSpPr>
          <p:spPr>
            <a:xfrm>
              <a:off x="3136" y="155"/>
              <a:ext cx="133" cy="2001"/>
            </a:xfrm>
            <a:custGeom>
              <a:avLst/>
              <a:gdLst/>
              <a:ahLst/>
              <a:cxnLst>
                <a:cxn ang="0">
                  <a:pos x="133" y="0"/>
                </a:cxn>
                <a:cxn ang="0">
                  <a:pos x="133" y="2001"/>
                </a:cxn>
                <a:cxn ang="0">
                  <a:pos x="0" y="0"/>
                </a:cxn>
                <a:cxn ang="0">
                  <a:pos x="0" y="2001"/>
                </a:cxn>
              </a:cxnLst>
              <a:rect l="0" t="0" r="0" b="0"/>
              <a:pathLst>
                <a:path w="133" h="2001">
                  <a:moveTo>
                    <a:pt x="133" y="0"/>
                  </a:moveTo>
                  <a:lnTo>
                    <a:pt x="133" y="2001"/>
                  </a:lnTo>
                  <a:moveTo>
                    <a:pt x="0" y="0"/>
                  </a:moveTo>
                  <a:lnTo>
                    <a:pt x="0" y="2001"/>
                  </a:lnTo>
                </a:path>
              </a:pathLst>
            </a:custGeom>
            <a:solidFill>
              <a:schemeClr val="accent1"/>
            </a:solidFill>
            <a:ln w="6350" cap="flat" cmpd="sng">
              <a:solidFill>
                <a:schemeClr val="hlink"/>
              </a:solidFill>
              <a:prstDash val="solid"/>
              <a:round/>
              <a:headEnd type="none" w="med" len="med"/>
              <a:tailEnd type="non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20489" name="未知"/>
            <p:cNvSpPr/>
            <p:nvPr/>
          </p:nvSpPr>
          <p:spPr>
            <a:xfrm>
              <a:off x="1105" y="114"/>
              <a:ext cx="919" cy="857"/>
            </a:xfrm>
            <a:custGeom>
              <a:avLst/>
              <a:gdLst/>
              <a:ahLst/>
              <a:cxnLst>
                <a:cxn ang="0">
                  <a:pos x="0" y="609"/>
                </a:cxn>
                <a:cxn ang="0">
                  <a:pos x="4" y="529"/>
                </a:cxn>
                <a:cxn ang="0">
                  <a:pos x="44" y="450"/>
                </a:cxn>
                <a:cxn ang="0">
                  <a:pos x="93" y="375"/>
                </a:cxn>
                <a:cxn ang="0">
                  <a:pos x="167" y="305"/>
                </a:cxn>
                <a:cxn ang="0">
                  <a:pos x="262" y="236"/>
                </a:cxn>
                <a:cxn ang="0">
                  <a:pos x="369" y="179"/>
                </a:cxn>
                <a:cxn ang="0">
                  <a:pos x="489" y="128"/>
                </a:cxn>
                <a:cxn ang="0">
                  <a:pos x="626" y="81"/>
                </a:cxn>
                <a:cxn ang="0">
                  <a:pos x="780" y="46"/>
                </a:cxn>
                <a:cxn ang="0">
                  <a:pos x="928" y="24"/>
                </a:cxn>
                <a:cxn ang="0">
                  <a:pos x="1091" y="4"/>
                </a:cxn>
                <a:cxn ang="0">
                  <a:pos x="1257" y="0"/>
                </a:cxn>
                <a:cxn ang="0">
                  <a:pos x="1420" y="4"/>
                </a:cxn>
                <a:cxn ang="0">
                  <a:pos x="1578" y="24"/>
                </a:cxn>
                <a:cxn ang="0">
                  <a:pos x="1737" y="46"/>
                </a:cxn>
                <a:cxn ang="0">
                  <a:pos x="1885" y="81"/>
                </a:cxn>
                <a:cxn ang="0">
                  <a:pos x="2017" y="128"/>
                </a:cxn>
                <a:cxn ang="0">
                  <a:pos x="2147" y="179"/>
                </a:cxn>
                <a:cxn ang="0">
                  <a:pos x="2253" y="236"/>
                </a:cxn>
                <a:cxn ang="0">
                  <a:pos x="2341" y="305"/>
                </a:cxn>
                <a:cxn ang="0">
                  <a:pos x="2415" y="375"/>
                </a:cxn>
                <a:cxn ang="0">
                  <a:pos x="2465" y="450"/>
                </a:cxn>
                <a:cxn ang="0">
                  <a:pos x="2500" y="529"/>
                </a:cxn>
                <a:cxn ang="0">
                  <a:pos x="2503" y="609"/>
                </a:cxn>
                <a:cxn ang="0">
                  <a:pos x="2500" y="690"/>
                </a:cxn>
                <a:cxn ang="0">
                  <a:pos x="2465" y="765"/>
                </a:cxn>
                <a:cxn ang="0">
                  <a:pos x="2415" y="845"/>
                </a:cxn>
                <a:cxn ang="0">
                  <a:pos x="2341" y="915"/>
                </a:cxn>
                <a:cxn ang="0">
                  <a:pos x="2253" y="982"/>
                </a:cxn>
                <a:cxn ang="0">
                  <a:pos x="2147" y="1041"/>
                </a:cxn>
                <a:cxn ang="0">
                  <a:pos x="2017" y="1093"/>
                </a:cxn>
                <a:cxn ang="0">
                  <a:pos x="1885" y="1137"/>
                </a:cxn>
                <a:cxn ang="0">
                  <a:pos x="1737" y="1172"/>
                </a:cxn>
                <a:cxn ang="0">
                  <a:pos x="1578" y="1197"/>
                </a:cxn>
                <a:cxn ang="0">
                  <a:pos x="1420" y="1215"/>
                </a:cxn>
                <a:cxn ang="0">
                  <a:pos x="1257" y="1220"/>
                </a:cxn>
                <a:cxn ang="0">
                  <a:pos x="1091" y="1215"/>
                </a:cxn>
                <a:cxn ang="0">
                  <a:pos x="928" y="1197"/>
                </a:cxn>
                <a:cxn ang="0">
                  <a:pos x="780" y="1172"/>
                </a:cxn>
                <a:cxn ang="0">
                  <a:pos x="626" y="1137"/>
                </a:cxn>
                <a:cxn ang="0">
                  <a:pos x="489" y="1093"/>
                </a:cxn>
                <a:cxn ang="0">
                  <a:pos x="369" y="1041"/>
                </a:cxn>
                <a:cxn ang="0">
                  <a:pos x="262" y="982"/>
                </a:cxn>
                <a:cxn ang="0">
                  <a:pos x="167" y="915"/>
                </a:cxn>
                <a:cxn ang="0">
                  <a:pos x="93" y="845"/>
                </a:cxn>
                <a:cxn ang="0">
                  <a:pos x="44" y="765"/>
                </a:cxn>
                <a:cxn ang="0">
                  <a:pos x="4" y="690"/>
                </a:cxn>
                <a:cxn ang="0">
                  <a:pos x="0" y="609"/>
                </a:cxn>
              </a:cxnLst>
              <a:rect l="0" t="0" r="0" b="0"/>
              <a:pathLst>
                <a:path w="822" h="824">
                  <a:moveTo>
                    <a:pt x="0" y="411"/>
                  </a:moveTo>
                  <a:lnTo>
                    <a:pt x="4" y="358"/>
                  </a:lnTo>
                  <a:lnTo>
                    <a:pt x="14" y="304"/>
                  </a:lnTo>
                  <a:lnTo>
                    <a:pt x="30" y="254"/>
                  </a:lnTo>
                  <a:lnTo>
                    <a:pt x="55" y="206"/>
                  </a:lnTo>
                  <a:lnTo>
                    <a:pt x="85" y="160"/>
                  </a:lnTo>
                  <a:lnTo>
                    <a:pt x="121" y="121"/>
                  </a:lnTo>
                  <a:lnTo>
                    <a:pt x="160" y="86"/>
                  </a:lnTo>
                  <a:lnTo>
                    <a:pt x="206" y="55"/>
                  </a:lnTo>
                  <a:lnTo>
                    <a:pt x="255" y="32"/>
                  </a:lnTo>
                  <a:lnTo>
                    <a:pt x="304" y="14"/>
                  </a:lnTo>
                  <a:lnTo>
                    <a:pt x="358" y="4"/>
                  </a:lnTo>
                  <a:lnTo>
                    <a:pt x="411" y="0"/>
                  </a:lnTo>
                  <a:lnTo>
                    <a:pt x="465" y="4"/>
                  </a:lnTo>
                  <a:lnTo>
                    <a:pt x="518" y="14"/>
                  </a:lnTo>
                  <a:lnTo>
                    <a:pt x="570" y="32"/>
                  </a:lnTo>
                  <a:lnTo>
                    <a:pt x="618" y="55"/>
                  </a:lnTo>
                  <a:lnTo>
                    <a:pt x="662" y="86"/>
                  </a:lnTo>
                  <a:lnTo>
                    <a:pt x="703" y="121"/>
                  </a:lnTo>
                  <a:lnTo>
                    <a:pt x="739" y="160"/>
                  </a:lnTo>
                  <a:lnTo>
                    <a:pt x="767" y="206"/>
                  </a:lnTo>
                  <a:lnTo>
                    <a:pt x="792" y="254"/>
                  </a:lnTo>
                  <a:lnTo>
                    <a:pt x="808" y="304"/>
                  </a:lnTo>
                  <a:lnTo>
                    <a:pt x="819" y="358"/>
                  </a:lnTo>
                  <a:lnTo>
                    <a:pt x="822" y="411"/>
                  </a:lnTo>
                  <a:lnTo>
                    <a:pt x="819" y="464"/>
                  </a:lnTo>
                  <a:lnTo>
                    <a:pt x="808" y="518"/>
                  </a:lnTo>
                  <a:lnTo>
                    <a:pt x="792" y="569"/>
                  </a:lnTo>
                  <a:lnTo>
                    <a:pt x="767" y="617"/>
                  </a:lnTo>
                  <a:lnTo>
                    <a:pt x="739" y="662"/>
                  </a:lnTo>
                  <a:lnTo>
                    <a:pt x="703" y="703"/>
                  </a:lnTo>
                  <a:lnTo>
                    <a:pt x="662" y="738"/>
                  </a:lnTo>
                  <a:lnTo>
                    <a:pt x="618" y="768"/>
                  </a:lnTo>
                  <a:lnTo>
                    <a:pt x="570" y="791"/>
                  </a:lnTo>
                  <a:lnTo>
                    <a:pt x="518" y="809"/>
                  </a:lnTo>
                  <a:lnTo>
                    <a:pt x="465" y="820"/>
                  </a:lnTo>
                  <a:lnTo>
                    <a:pt x="411" y="824"/>
                  </a:lnTo>
                  <a:lnTo>
                    <a:pt x="358" y="820"/>
                  </a:lnTo>
                  <a:lnTo>
                    <a:pt x="304" y="809"/>
                  </a:lnTo>
                  <a:lnTo>
                    <a:pt x="255" y="791"/>
                  </a:lnTo>
                  <a:lnTo>
                    <a:pt x="206" y="768"/>
                  </a:lnTo>
                  <a:lnTo>
                    <a:pt x="160" y="738"/>
                  </a:lnTo>
                  <a:lnTo>
                    <a:pt x="121" y="703"/>
                  </a:lnTo>
                  <a:lnTo>
                    <a:pt x="85" y="662"/>
                  </a:lnTo>
                  <a:lnTo>
                    <a:pt x="55" y="617"/>
                  </a:lnTo>
                  <a:lnTo>
                    <a:pt x="30" y="569"/>
                  </a:lnTo>
                  <a:lnTo>
                    <a:pt x="14" y="518"/>
                  </a:lnTo>
                  <a:lnTo>
                    <a:pt x="4" y="464"/>
                  </a:lnTo>
                  <a:lnTo>
                    <a:pt x="0" y="411"/>
                  </a:lnTo>
                  <a:close/>
                </a:path>
              </a:pathLst>
            </a:custGeom>
            <a:solidFill>
              <a:schemeClr val="accent1"/>
            </a:solidFill>
            <a:ln w="6350" cap="flat" cmpd="sng">
              <a:solidFill>
                <a:schemeClr val="hlink"/>
              </a:solidFill>
              <a:prstDash val="solid"/>
              <a:round/>
              <a:headEnd type="none" w="med" len="med"/>
              <a:tailEnd type="non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20490" name="Rectangle 11"/>
            <p:cNvSpPr/>
            <p:nvPr/>
          </p:nvSpPr>
          <p:spPr>
            <a:xfrm>
              <a:off x="1277" y="206"/>
              <a:ext cx="588" cy="212"/>
            </a:xfrm>
            <a:prstGeom prst="rect">
              <a:avLst/>
            </a:prstGeom>
            <a:solidFill>
              <a:schemeClr val="accent1"/>
            </a:solidFill>
            <a:ln w="9525">
              <a:noFill/>
            </a:ln>
          </p:spPr>
          <p:txBody>
            <a:bodyPr wrap="none" lIns="0" tIns="0" rIns="0" bIns="0" anchor="t" anchorCtr="0">
              <a:spAutoFit/>
            </a:bodyPr>
            <a:lstStyle/>
            <a:p>
              <a:pPr algn="ctr" eaLnBrk="0" hangingPunct="0"/>
              <a:r>
                <a:rPr lang="zh-CN" altLang="en-US" sz="1950" dirty="0">
                  <a:solidFill>
                    <a:schemeClr val="bg1"/>
                  </a:solidFill>
                  <a:latin typeface="Microsoft YaHei" panose="020B0503020204020204" pitchFamily="34" charset="-122"/>
                  <a:ea typeface="Microsoft YaHei" panose="020B0503020204020204" pitchFamily="34" charset="-122"/>
                </a:rPr>
                <a:t>还书处</a:t>
              </a:r>
            </a:p>
          </p:txBody>
        </p:sp>
        <p:sp>
          <p:nvSpPr>
            <p:cNvPr id="20491" name="Rectangle 12"/>
            <p:cNvSpPr/>
            <p:nvPr/>
          </p:nvSpPr>
          <p:spPr>
            <a:xfrm>
              <a:off x="1277" y="455"/>
              <a:ext cx="588" cy="212"/>
            </a:xfrm>
            <a:prstGeom prst="rect">
              <a:avLst/>
            </a:prstGeom>
            <a:solidFill>
              <a:schemeClr val="accent1"/>
            </a:solidFill>
            <a:ln w="9525">
              <a:noFill/>
            </a:ln>
          </p:spPr>
          <p:txBody>
            <a:bodyPr wrap="none" lIns="0" tIns="0" rIns="0" bIns="0" anchor="t" anchorCtr="0">
              <a:spAutoFit/>
            </a:bodyPr>
            <a:lstStyle/>
            <a:p>
              <a:pPr algn="ctr" eaLnBrk="0" hangingPunct="0"/>
              <a:r>
                <a:rPr lang="zh-CN" altLang="en-US" sz="1950" dirty="0">
                  <a:solidFill>
                    <a:schemeClr val="bg1"/>
                  </a:solidFill>
                  <a:latin typeface="Microsoft YaHei" panose="020B0503020204020204" pitchFamily="34" charset="-122"/>
                  <a:ea typeface="Microsoft YaHei" panose="020B0503020204020204" pitchFamily="34" charset="-122"/>
                </a:rPr>
                <a:t>理系统</a:t>
              </a:r>
            </a:p>
          </p:txBody>
        </p:sp>
        <p:sp>
          <p:nvSpPr>
            <p:cNvPr id="20492" name="Rectangle 13"/>
            <p:cNvSpPr/>
            <p:nvPr/>
          </p:nvSpPr>
          <p:spPr>
            <a:xfrm>
              <a:off x="1432" y="704"/>
              <a:ext cx="276" cy="212"/>
            </a:xfrm>
            <a:prstGeom prst="rect">
              <a:avLst/>
            </a:prstGeom>
            <a:solidFill>
              <a:schemeClr val="accent1"/>
            </a:solidFill>
            <a:ln w="9525">
              <a:noFill/>
            </a:ln>
          </p:spPr>
          <p:txBody>
            <a:bodyPr wrap="none" lIns="0" tIns="0" rIns="0" bIns="0" anchor="t" anchorCtr="0">
              <a:spAutoFit/>
            </a:bodyPr>
            <a:lstStyle/>
            <a:p>
              <a:pPr algn="ctr" eaLnBrk="0" hangingPunct="0"/>
              <a:r>
                <a:rPr lang="en-US" altLang="zh-CN" sz="1950" dirty="0">
                  <a:solidFill>
                    <a:schemeClr val="bg1"/>
                  </a:solidFill>
                  <a:latin typeface="Microsoft YaHei" panose="020B0503020204020204" pitchFamily="34" charset="-122"/>
                  <a:ea typeface="Microsoft YaHei" panose="020B0503020204020204" pitchFamily="34" charset="-122"/>
                </a:rPr>
                <a:t>1.2</a:t>
              </a:r>
            </a:p>
          </p:txBody>
        </p:sp>
        <p:sp>
          <p:nvSpPr>
            <p:cNvPr id="20493" name="Rectangle 14"/>
            <p:cNvSpPr/>
            <p:nvPr/>
          </p:nvSpPr>
          <p:spPr>
            <a:xfrm>
              <a:off x="7" y="0"/>
              <a:ext cx="784" cy="212"/>
            </a:xfrm>
            <a:prstGeom prst="rect">
              <a:avLst/>
            </a:prstGeom>
            <a:solidFill>
              <a:schemeClr val="accent1"/>
            </a:solidFill>
            <a:ln w="9525">
              <a:noFill/>
            </a:ln>
          </p:spPr>
          <p:txBody>
            <a:bodyPr wrap="none" lIns="0" tIns="0" rIns="0" bIns="0" anchor="t" anchorCtr="0">
              <a:spAutoFit/>
            </a:bodyPr>
            <a:lstStyle/>
            <a:p>
              <a:pPr algn="ctr" eaLnBrk="0" hangingPunct="0"/>
              <a:r>
                <a:rPr lang="zh-CN" altLang="en-US" sz="1950" dirty="0">
                  <a:solidFill>
                    <a:schemeClr val="bg1"/>
                  </a:solidFill>
                  <a:latin typeface="Microsoft YaHei" panose="020B0503020204020204" pitchFamily="34" charset="-122"/>
                  <a:ea typeface="Microsoft YaHei" panose="020B0503020204020204" pitchFamily="34" charset="-122"/>
                </a:rPr>
                <a:t>还书信息</a:t>
              </a:r>
            </a:p>
          </p:txBody>
        </p:sp>
        <p:sp>
          <p:nvSpPr>
            <p:cNvPr id="20494" name="Rectangle 15"/>
            <p:cNvSpPr/>
            <p:nvPr/>
          </p:nvSpPr>
          <p:spPr>
            <a:xfrm rot="5400000">
              <a:off x="2715" y="1093"/>
              <a:ext cx="1322" cy="235"/>
            </a:xfrm>
            <a:prstGeom prst="rect">
              <a:avLst/>
            </a:prstGeom>
            <a:solidFill>
              <a:schemeClr val="accent1"/>
            </a:solidFill>
            <a:ln w="9525">
              <a:noFill/>
            </a:ln>
          </p:spPr>
          <p:txBody>
            <a:bodyPr wrap="none" lIns="0" tIns="0" rIns="0" bIns="0" anchor="t" anchorCtr="0">
              <a:spAutoFit/>
            </a:bodyPr>
            <a:lstStyle/>
            <a:p>
              <a:pPr algn="ctr" eaLnBrk="0" hangingPunct="0"/>
              <a:r>
                <a:rPr lang="zh-CN" altLang="en-US" sz="1950" dirty="0">
                  <a:solidFill>
                    <a:schemeClr val="bg1"/>
                  </a:solidFill>
                  <a:latin typeface="Microsoft YaHei" panose="020B0503020204020204" pitchFamily="34" charset="-122"/>
                  <a:ea typeface="Microsoft YaHei" panose="020B0503020204020204" pitchFamily="34" charset="-122"/>
                </a:rPr>
                <a:t>图 书 库 存 数 据</a:t>
              </a:r>
            </a:p>
          </p:txBody>
        </p:sp>
        <p:sp>
          <p:nvSpPr>
            <p:cNvPr id="20495" name="Line 16"/>
            <p:cNvSpPr/>
            <p:nvPr/>
          </p:nvSpPr>
          <p:spPr>
            <a:xfrm flipV="1">
              <a:off x="632" y="1931"/>
              <a:ext cx="528" cy="336"/>
            </a:xfrm>
            <a:prstGeom prst="line">
              <a:avLst/>
            </a:prstGeom>
            <a:ln w="9525" cap="flat" cmpd="sng">
              <a:solidFill>
                <a:schemeClr val="hlink"/>
              </a:solidFill>
              <a:prstDash val="solid"/>
              <a:round/>
              <a:headEnd type="none" w="med" len="med"/>
              <a:tailEnd type="triangl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20496" name="Line 17"/>
            <p:cNvSpPr/>
            <p:nvPr/>
          </p:nvSpPr>
          <p:spPr>
            <a:xfrm>
              <a:off x="488" y="1355"/>
              <a:ext cx="624" cy="288"/>
            </a:xfrm>
            <a:prstGeom prst="line">
              <a:avLst/>
            </a:prstGeom>
            <a:ln w="9525" cap="flat" cmpd="sng">
              <a:solidFill>
                <a:schemeClr val="hlink"/>
              </a:solidFill>
              <a:prstDash val="solid"/>
              <a:round/>
              <a:headEnd type="none" w="med" len="med"/>
              <a:tailEnd type="triangl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20497" name="Line 18"/>
            <p:cNvSpPr/>
            <p:nvPr/>
          </p:nvSpPr>
          <p:spPr>
            <a:xfrm>
              <a:off x="680" y="203"/>
              <a:ext cx="432" cy="336"/>
            </a:xfrm>
            <a:prstGeom prst="line">
              <a:avLst/>
            </a:prstGeom>
            <a:ln w="9525" cap="flat" cmpd="sng">
              <a:solidFill>
                <a:schemeClr val="hlink"/>
              </a:solidFill>
              <a:prstDash val="solid"/>
              <a:round/>
              <a:headEnd type="none" w="med" len="med"/>
              <a:tailEnd type="triangl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20498" name="Line 19"/>
            <p:cNvSpPr/>
            <p:nvPr/>
          </p:nvSpPr>
          <p:spPr>
            <a:xfrm flipV="1">
              <a:off x="632" y="779"/>
              <a:ext cx="528" cy="336"/>
            </a:xfrm>
            <a:prstGeom prst="line">
              <a:avLst/>
            </a:prstGeom>
            <a:ln w="9525" cap="flat" cmpd="sng">
              <a:solidFill>
                <a:schemeClr val="hlink"/>
              </a:solidFill>
              <a:prstDash val="solid"/>
              <a:round/>
              <a:headEnd type="none" w="med" len="med"/>
              <a:tailEnd type="triangl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20499" name="Line 20"/>
            <p:cNvSpPr/>
            <p:nvPr/>
          </p:nvSpPr>
          <p:spPr>
            <a:xfrm>
              <a:off x="2072" y="443"/>
              <a:ext cx="1056" cy="336"/>
            </a:xfrm>
            <a:prstGeom prst="line">
              <a:avLst/>
            </a:prstGeom>
            <a:ln w="9525" cap="flat" cmpd="sng">
              <a:solidFill>
                <a:schemeClr val="hlink"/>
              </a:solidFill>
              <a:prstDash val="solid"/>
              <a:round/>
              <a:headEnd type="none" w="med" len="med"/>
              <a:tailEnd type="triangl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20500" name="Line 21"/>
            <p:cNvSpPr/>
            <p:nvPr/>
          </p:nvSpPr>
          <p:spPr>
            <a:xfrm flipH="1" flipV="1">
              <a:off x="2072" y="683"/>
              <a:ext cx="1056" cy="336"/>
            </a:xfrm>
            <a:prstGeom prst="line">
              <a:avLst/>
            </a:prstGeom>
            <a:ln w="9525" cap="flat" cmpd="sng">
              <a:solidFill>
                <a:schemeClr val="hlink"/>
              </a:solidFill>
              <a:prstDash val="solid"/>
              <a:round/>
              <a:headEnd type="none" w="med" len="med"/>
              <a:tailEnd type="triangl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20501" name="Line 22"/>
            <p:cNvSpPr/>
            <p:nvPr/>
          </p:nvSpPr>
          <p:spPr>
            <a:xfrm>
              <a:off x="1976" y="1499"/>
              <a:ext cx="1152" cy="288"/>
            </a:xfrm>
            <a:prstGeom prst="line">
              <a:avLst/>
            </a:prstGeom>
            <a:ln w="9525" cap="flat" cmpd="sng">
              <a:solidFill>
                <a:schemeClr val="hlink"/>
              </a:solidFill>
              <a:prstDash val="solid"/>
              <a:round/>
              <a:headEnd type="none" w="med" len="med"/>
              <a:tailEnd type="triangl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sp>
          <p:nvSpPr>
            <p:cNvPr id="20502" name="Line 23"/>
            <p:cNvSpPr/>
            <p:nvPr/>
          </p:nvSpPr>
          <p:spPr>
            <a:xfrm flipH="1" flipV="1">
              <a:off x="2072" y="1739"/>
              <a:ext cx="1056" cy="240"/>
            </a:xfrm>
            <a:prstGeom prst="line">
              <a:avLst/>
            </a:prstGeom>
            <a:ln w="9525" cap="flat" cmpd="sng">
              <a:solidFill>
                <a:schemeClr val="hlink"/>
              </a:solidFill>
              <a:prstDash val="solid"/>
              <a:round/>
              <a:headEnd type="none" w="med" len="med"/>
              <a:tailEnd type="triangle" w="med" len="med"/>
            </a:ln>
          </p:spPr>
          <p:txBody>
            <a:bodyPr/>
            <a:lstStyle/>
            <a:p>
              <a:endParaRPr lang="zh-CN" altLang="en-US" sz="1350">
                <a:solidFill>
                  <a:schemeClr val="bg1"/>
                </a:solidFill>
                <a:latin typeface="Microsoft YaHei" panose="020B0503020204020204" pitchFamily="34" charset="-122"/>
                <a:ea typeface="Microsoft YaHei" panose="020B0503020204020204" pitchFamily="34" charset="-122"/>
              </a:endParaRPr>
            </a:p>
          </p:txBody>
        </p:sp>
      </p:grpSp>
      <p:sp>
        <p:nvSpPr>
          <p:cNvPr id="4" name="标题 3">
            <a:extLst>
              <a:ext uri="{FF2B5EF4-FFF2-40B4-BE49-F238E27FC236}">
                <a16:creationId xmlns:a16="http://schemas.microsoft.com/office/drawing/2014/main" id="{46844FA2-06CB-A60C-559D-51E8842E30F8}"/>
              </a:ext>
            </a:extLst>
          </p:cNvPr>
          <p:cNvSpPr>
            <a:spLocks noGrp="1"/>
          </p:cNvSpPr>
          <p:nvPr>
            <p:ph type="title"/>
          </p:nvPr>
        </p:nvSpPr>
        <p:spPr/>
        <p:txBody>
          <a:bodyPr/>
          <a:lstStyle/>
          <a:p>
            <a:r>
              <a:rPr lang="zh-CN" altLang="en-US" dirty="0"/>
              <a:t>需求分析</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p:cNvSpPr>
          <p:nvPr>
            <p:ph idx="1"/>
          </p:nvPr>
        </p:nvSpPr>
        <p:spPr/>
        <p:txBody>
          <a:bodyPr vert="horz" wrap="square" lIns="68580" tIns="34290" rIns="68580" bIns="34290" anchor="t" anchorCtr="0"/>
          <a:lstStyle/>
          <a:p>
            <a:pPr marL="0" indent="0">
              <a:buNone/>
            </a:pPr>
            <a:r>
              <a:rPr lang="zh-CN" altLang="en-US" sz="1800" dirty="0">
                <a:solidFill>
                  <a:schemeClr val="folHlink"/>
                </a:solidFill>
              </a:rPr>
              <a:t>四、数据流图(DFD—Data Flow Diagram)</a:t>
            </a:r>
          </a:p>
          <a:p>
            <a:pPr marL="0" indent="0">
              <a:buNone/>
            </a:pPr>
            <a:r>
              <a:rPr lang="zh-CN" altLang="en-US" sz="1800" dirty="0"/>
              <a:t>    DFD用来表示收集到的各业务流程中涉及到的数据和处理过程的关系。</a:t>
            </a:r>
          </a:p>
          <a:p>
            <a:pPr marL="0" indent="0"/>
            <a:r>
              <a:rPr lang="zh-CN" altLang="en-US" sz="1800" dirty="0">
                <a:solidFill>
                  <a:schemeClr val="hlink"/>
                </a:solidFill>
              </a:rPr>
              <a:t> 数据流图的基本成分：</a:t>
            </a:r>
          </a:p>
          <a:p>
            <a:pPr marL="572929" lvl="1">
              <a:buNone/>
            </a:pPr>
            <a:endParaRPr lang="zh-CN" altLang="en-US" sz="1500" dirty="0">
              <a:solidFill>
                <a:schemeClr val="folHlink"/>
              </a:solidFill>
            </a:endParaRPr>
          </a:p>
        </p:txBody>
      </p:sp>
      <p:grpSp>
        <p:nvGrpSpPr>
          <p:cNvPr id="21507" name="Group 4"/>
          <p:cNvGrpSpPr/>
          <p:nvPr/>
        </p:nvGrpSpPr>
        <p:grpSpPr>
          <a:xfrm>
            <a:off x="1872389" y="2662411"/>
            <a:ext cx="800100" cy="342900"/>
            <a:chOff x="0" y="0"/>
            <a:chExt cx="672" cy="288"/>
          </a:xfrm>
        </p:grpSpPr>
        <p:sp>
          <p:nvSpPr>
            <p:cNvPr id="21508" name="Line 5"/>
            <p:cNvSpPr/>
            <p:nvPr/>
          </p:nvSpPr>
          <p:spPr>
            <a:xfrm>
              <a:off x="0" y="0"/>
              <a:ext cx="0" cy="288"/>
            </a:xfrm>
            <a:prstGeom prst="line">
              <a:avLst/>
            </a:prstGeom>
            <a:ln w="25400" cap="flat" cmpd="sng">
              <a:solidFill>
                <a:schemeClr val="tx1"/>
              </a:solidFill>
              <a:prstDash val="solid"/>
              <a:round/>
              <a:headEnd type="none" w="med" len="med"/>
              <a:tailEnd type="none" w="med" len="med"/>
            </a:ln>
          </p:spPr>
          <p:txBody>
            <a:bodyPr/>
            <a:lstStyle/>
            <a:p>
              <a:endParaRPr lang="zh-CN" altLang="en-US" sz="1350"/>
            </a:p>
          </p:txBody>
        </p:sp>
        <p:sp>
          <p:nvSpPr>
            <p:cNvPr id="21509" name="Line 6"/>
            <p:cNvSpPr/>
            <p:nvPr/>
          </p:nvSpPr>
          <p:spPr>
            <a:xfrm>
              <a:off x="0" y="0"/>
              <a:ext cx="672"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p>
          </p:txBody>
        </p:sp>
        <p:sp>
          <p:nvSpPr>
            <p:cNvPr id="21510" name="Line 7"/>
            <p:cNvSpPr/>
            <p:nvPr/>
          </p:nvSpPr>
          <p:spPr>
            <a:xfrm>
              <a:off x="0" y="288"/>
              <a:ext cx="672"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p>
          </p:txBody>
        </p:sp>
        <p:sp>
          <p:nvSpPr>
            <p:cNvPr id="21511" name="Line 8"/>
            <p:cNvSpPr/>
            <p:nvPr/>
          </p:nvSpPr>
          <p:spPr>
            <a:xfrm>
              <a:off x="152" y="0"/>
              <a:ext cx="0" cy="288"/>
            </a:xfrm>
            <a:prstGeom prst="line">
              <a:avLst/>
            </a:prstGeom>
            <a:ln w="25400" cap="flat" cmpd="sng">
              <a:solidFill>
                <a:schemeClr val="tx1"/>
              </a:solidFill>
              <a:prstDash val="solid"/>
              <a:round/>
              <a:headEnd type="none" w="med" len="med"/>
              <a:tailEnd type="none" w="med" len="med"/>
            </a:ln>
          </p:spPr>
          <p:txBody>
            <a:bodyPr/>
            <a:lstStyle/>
            <a:p>
              <a:endParaRPr lang="zh-CN" altLang="en-US" sz="1350"/>
            </a:p>
          </p:txBody>
        </p:sp>
      </p:grpSp>
      <p:sp>
        <p:nvSpPr>
          <p:cNvPr id="21512" name="AutoShape 9"/>
          <p:cNvSpPr/>
          <p:nvPr/>
        </p:nvSpPr>
        <p:spPr>
          <a:xfrm>
            <a:off x="1861674" y="3244569"/>
            <a:ext cx="810815" cy="385763"/>
          </a:xfrm>
          <a:prstGeom prst="flowChartConnector">
            <a:avLst/>
          </a:prstGeom>
          <a:solidFill>
            <a:schemeClr val="bg1"/>
          </a:solidFill>
          <a:ln w="25400" cap="flat" cmpd="sng">
            <a:solidFill>
              <a:schemeClr val="tx1"/>
            </a:solidFill>
            <a:prstDash val="solid"/>
            <a:round/>
            <a:headEnd type="none" w="med" len="med"/>
            <a:tailEnd type="none" w="med" len="med"/>
          </a:ln>
        </p:spPr>
        <p:txBody>
          <a:bodyPr wrap="none" anchor="ctr" anchorCtr="0"/>
          <a:lstStyle/>
          <a:p>
            <a:endParaRPr lang="zh-CN" altLang="en-US" sz="1350" dirty="0">
              <a:latin typeface="Tahoma" panose="020B0604030504040204" pitchFamily="34" charset="0"/>
              <a:ea typeface="宋体" panose="02010600030101010101" pitchFamily="2" charset="-122"/>
            </a:endParaRPr>
          </a:p>
        </p:txBody>
      </p:sp>
      <p:sp>
        <p:nvSpPr>
          <p:cNvPr id="21513" name="Line 10"/>
          <p:cNvSpPr/>
          <p:nvPr/>
        </p:nvSpPr>
        <p:spPr>
          <a:xfrm>
            <a:off x="1929539" y="4057885"/>
            <a:ext cx="742950" cy="0"/>
          </a:xfrm>
          <a:prstGeom prst="line">
            <a:avLst/>
          </a:prstGeom>
          <a:ln w="25400" cap="flat" cmpd="sng">
            <a:solidFill>
              <a:schemeClr val="tx1"/>
            </a:solidFill>
            <a:prstDash val="solid"/>
            <a:round/>
            <a:headEnd type="none" w="med" len="med"/>
            <a:tailEnd type="triangle" w="med" len="med"/>
          </a:ln>
        </p:spPr>
        <p:txBody>
          <a:bodyPr/>
          <a:lstStyle/>
          <a:p>
            <a:endParaRPr lang="zh-CN" altLang="en-US" sz="1350"/>
          </a:p>
        </p:txBody>
      </p:sp>
      <p:sp>
        <p:nvSpPr>
          <p:cNvPr id="21514" name="Rectangle 11"/>
          <p:cNvSpPr/>
          <p:nvPr/>
        </p:nvSpPr>
        <p:spPr>
          <a:xfrm>
            <a:off x="1872389" y="4381735"/>
            <a:ext cx="800100" cy="342900"/>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nchorCtr="0"/>
          <a:lstStyle/>
          <a:p>
            <a:endParaRPr lang="zh-CN" altLang="en-US" sz="1350" dirty="0">
              <a:latin typeface="Tahoma" panose="020B0604030504040204" pitchFamily="34" charset="0"/>
              <a:ea typeface="宋体" panose="02010600030101010101" pitchFamily="2" charset="-122"/>
            </a:endParaRPr>
          </a:p>
        </p:txBody>
      </p:sp>
      <p:sp>
        <p:nvSpPr>
          <p:cNvPr id="21515" name="Text Box 12"/>
          <p:cNvSpPr txBox="1"/>
          <p:nvPr/>
        </p:nvSpPr>
        <p:spPr>
          <a:xfrm>
            <a:off x="2742311" y="2654019"/>
            <a:ext cx="4857750" cy="369332"/>
          </a:xfrm>
          <a:prstGeom prst="rect">
            <a:avLst/>
          </a:prstGeom>
          <a:noFill/>
          <a:ln w="9525">
            <a:noFill/>
          </a:ln>
        </p:spPr>
        <p:txBody>
          <a:bodyPr anchor="t" anchorCtr="0">
            <a:spAutoFit/>
          </a:bodyPr>
          <a:lstStyle/>
          <a:p>
            <a:pPr>
              <a:spcBef>
                <a:spcPct val="50000"/>
              </a:spcBef>
            </a:pPr>
            <a:r>
              <a:rPr lang="zh-CN" altLang="en-US" dirty="0">
                <a:latin typeface="Microsoft YaHei" panose="020B0503020204020204" pitchFamily="34" charset="-122"/>
                <a:ea typeface="Microsoft YaHei" panose="020B0503020204020204" pitchFamily="34" charset="-122"/>
              </a:rPr>
              <a:t>表示同类数据的集中存放处，通常指数据文件</a:t>
            </a:r>
          </a:p>
        </p:txBody>
      </p:sp>
      <p:sp>
        <p:nvSpPr>
          <p:cNvPr id="21516" name="Text Box 13"/>
          <p:cNvSpPr txBox="1"/>
          <p:nvPr/>
        </p:nvSpPr>
        <p:spPr>
          <a:xfrm>
            <a:off x="2799461" y="3244569"/>
            <a:ext cx="3200400" cy="369332"/>
          </a:xfrm>
          <a:prstGeom prst="rect">
            <a:avLst/>
          </a:prstGeom>
          <a:noFill/>
          <a:ln w="9525">
            <a:noFill/>
          </a:ln>
        </p:spPr>
        <p:txBody>
          <a:bodyPr anchor="t" anchorCtr="0">
            <a:spAutoFit/>
          </a:bodyPr>
          <a:lstStyle/>
          <a:p>
            <a:pPr>
              <a:spcBef>
                <a:spcPct val="50000"/>
              </a:spcBef>
            </a:pPr>
            <a:r>
              <a:rPr lang="zh-CN" altLang="en-US" dirty="0">
                <a:latin typeface="Microsoft YaHei" panose="020B0503020204020204" pitchFamily="34" charset="-122"/>
                <a:ea typeface="Microsoft YaHei" panose="020B0503020204020204" pitchFamily="34" charset="-122"/>
              </a:rPr>
              <a:t>表示对数据的处理</a:t>
            </a:r>
          </a:p>
        </p:txBody>
      </p:sp>
      <p:sp>
        <p:nvSpPr>
          <p:cNvPr id="21517" name="Text Box 14"/>
          <p:cNvSpPr txBox="1"/>
          <p:nvPr/>
        </p:nvSpPr>
        <p:spPr>
          <a:xfrm>
            <a:off x="2799461" y="3873219"/>
            <a:ext cx="4286250" cy="369332"/>
          </a:xfrm>
          <a:prstGeom prst="rect">
            <a:avLst/>
          </a:prstGeom>
          <a:noFill/>
          <a:ln w="9525">
            <a:noFill/>
          </a:ln>
        </p:spPr>
        <p:txBody>
          <a:bodyPr anchor="t" anchorCtr="0">
            <a:spAutoFit/>
          </a:bodyPr>
          <a:lstStyle/>
          <a:p>
            <a:pPr>
              <a:spcBef>
                <a:spcPct val="50000"/>
              </a:spcBef>
            </a:pPr>
            <a:r>
              <a:rPr lang="zh-CN" altLang="en-US" dirty="0">
                <a:latin typeface="Microsoft YaHei" panose="020B0503020204020204" pitchFamily="34" charset="-122"/>
                <a:ea typeface="Microsoft YaHei" panose="020B0503020204020204" pitchFamily="34" charset="-122"/>
              </a:rPr>
              <a:t>表示不同处理过程之间传递的数据</a:t>
            </a:r>
          </a:p>
        </p:txBody>
      </p:sp>
      <p:sp>
        <p:nvSpPr>
          <p:cNvPr id="21518" name="Text Box 15"/>
          <p:cNvSpPr txBox="1"/>
          <p:nvPr/>
        </p:nvSpPr>
        <p:spPr>
          <a:xfrm>
            <a:off x="2856611" y="4368519"/>
            <a:ext cx="3943350" cy="369332"/>
          </a:xfrm>
          <a:prstGeom prst="rect">
            <a:avLst/>
          </a:prstGeom>
          <a:noFill/>
          <a:ln w="9525">
            <a:noFill/>
          </a:ln>
        </p:spPr>
        <p:txBody>
          <a:bodyPr anchor="t" anchorCtr="0">
            <a:spAutoFit/>
          </a:bodyPr>
          <a:lstStyle/>
          <a:p>
            <a:pPr>
              <a:spcBef>
                <a:spcPct val="50000"/>
              </a:spcBef>
            </a:pPr>
            <a:r>
              <a:rPr lang="zh-CN" altLang="en-US" dirty="0">
                <a:latin typeface="Microsoft YaHei" panose="020B0503020204020204" pitchFamily="34" charset="-122"/>
                <a:ea typeface="Microsoft YaHei" panose="020B0503020204020204" pitchFamily="34" charset="-122"/>
              </a:rPr>
              <a:t>表示数据的发送者和接收者</a:t>
            </a:r>
          </a:p>
        </p:txBody>
      </p:sp>
      <p:sp>
        <p:nvSpPr>
          <p:cNvPr id="3" name="标题 2">
            <a:extLst>
              <a:ext uri="{FF2B5EF4-FFF2-40B4-BE49-F238E27FC236}">
                <a16:creationId xmlns:a16="http://schemas.microsoft.com/office/drawing/2014/main" id="{11A6A553-A606-0E38-3C35-42533BEF47D4}"/>
              </a:ext>
            </a:extLst>
          </p:cNvPr>
          <p:cNvSpPr>
            <a:spLocks noGrp="1"/>
          </p:cNvSpPr>
          <p:nvPr>
            <p:ph type="title"/>
          </p:nvPr>
        </p:nvSpPr>
        <p:spPr/>
        <p:txBody>
          <a:bodyPr/>
          <a:lstStyle/>
          <a:p>
            <a:r>
              <a:rPr lang="zh-CN" altLang="en-US" dirty="0"/>
              <a:t>需求分析</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p:cNvSpPr>
          <p:nvPr>
            <p:ph idx="1"/>
          </p:nvPr>
        </p:nvSpPr>
        <p:spPr/>
        <p:txBody>
          <a:bodyPr vert="horz" wrap="square" lIns="68580" tIns="34290" rIns="68580" bIns="34290" anchor="t" anchorCtr="0"/>
          <a:lstStyle/>
          <a:p>
            <a:pPr eaLnBrk="1" hangingPunct="1"/>
            <a:r>
              <a:rPr lang="zh-CN" altLang="en-US" sz="1800" b="1" dirty="0">
                <a:solidFill>
                  <a:schemeClr val="hlink"/>
                </a:solidFill>
              </a:rPr>
              <a:t>数据流图</a:t>
            </a: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a:t>
            </a:r>
            <a:endParaRPr lang="zh-CN" altLang="en-US" sz="1800" b="1" dirty="0">
              <a:solidFill>
                <a:schemeClr val="hlink"/>
              </a:solidFill>
            </a:endParaRPr>
          </a:p>
        </p:txBody>
      </p:sp>
      <p:grpSp>
        <p:nvGrpSpPr>
          <p:cNvPr id="4" name="组合 3">
            <a:extLst>
              <a:ext uri="{FF2B5EF4-FFF2-40B4-BE49-F238E27FC236}">
                <a16:creationId xmlns:a16="http://schemas.microsoft.com/office/drawing/2014/main" id="{ABD03D54-C8E1-01C3-0A9F-FC8C43EE3BD3}"/>
              </a:ext>
            </a:extLst>
          </p:cNvPr>
          <p:cNvGrpSpPr/>
          <p:nvPr/>
        </p:nvGrpSpPr>
        <p:grpSpPr>
          <a:xfrm>
            <a:off x="2686051" y="1728898"/>
            <a:ext cx="1191420" cy="2178540"/>
            <a:chOff x="2035175" y="1662921"/>
            <a:chExt cx="1191420" cy="2178540"/>
          </a:xfrm>
        </p:grpSpPr>
        <p:sp>
          <p:nvSpPr>
            <p:cNvPr id="22550" name="Oval 23"/>
            <p:cNvSpPr/>
            <p:nvPr/>
          </p:nvSpPr>
          <p:spPr>
            <a:xfrm>
              <a:off x="2114550" y="2396548"/>
              <a:ext cx="800100" cy="57525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eaLnBrk="0" hangingPunct="0"/>
              <a:r>
                <a:rPr lang="en-US" altLang="zh-CN" sz="1350" dirty="0">
                  <a:latin typeface="Microsoft YaHei" panose="020B0503020204020204" pitchFamily="34" charset="-122"/>
                  <a:ea typeface="Microsoft YaHei" panose="020B0503020204020204" pitchFamily="34" charset="-122"/>
                </a:rPr>
                <a:t>1</a:t>
              </a:r>
            </a:p>
            <a:p>
              <a:pPr algn="ctr" eaLnBrk="0" hangingPunct="0"/>
              <a:r>
                <a:rPr lang="zh-CN" altLang="en-US" sz="1350" dirty="0">
                  <a:latin typeface="Microsoft YaHei" panose="020B0503020204020204" pitchFamily="34" charset="-122"/>
                  <a:ea typeface="Microsoft YaHei" panose="020B0503020204020204" pitchFamily="34" charset="-122"/>
                </a:rPr>
                <a:t>学习</a:t>
              </a:r>
            </a:p>
          </p:txBody>
        </p:sp>
        <p:sp>
          <p:nvSpPr>
            <p:cNvPr id="22551" name="AutoShape 24"/>
            <p:cNvSpPr/>
            <p:nvPr/>
          </p:nvSpPr>
          <p:spPr>
            <a:xfrm>
              <a:off x="2035175" y="1662921"/>
              <a:ext cx="971550" cy="342900"/>
            </a:xfrm>
            <a:prstGeom prst="roundRect">
              <a:avLst>
                <a:gd name="adj" fmla="val 16667"/>
              </a:avLst>
            </a:prstGeom>
            <a:solidFill>
              <a:srgbClr val="B9FFED"/>
            </a:solidFill>
            <a:ln w="9525" cap="flat" cmpd="sng">
              <a:solidFill>
                <a:schemeClr val="tx1"/>
              </a:solidFill>
              <a:prstDash val="solid"/>
              <a:round/>
              <a:headEnd type="none" w="med" len="med"/>
              <a:tailEnd type="none" w="med" len="med"/>
            </a:ln>
          </p:spPr>
          <p:txBody>
            <a:bodyPr wrap="none" anchor="ctr" anchorCtr="0"/>
            <a:lstStyle/>
            <a:p>
              <a:pPr algn="ctr" eaLnBrk="0" hangingPunct="0"/>
              <a:r>
                <a:rPr lang="zh-CN" altLang="en-US" sz="1350" dirty="0">
                  <a:latin typeface="Microsoft YaHei" panose="020B0503020204020204" pitchFamily="34" charset="-122"/>
                  <a:ea typeface="Microsoft YaHei" panose="020B0503020204020204" pitchFamily="34" charset="-122"/>
                </a:rPr>
                <a:t>入校学生</a:t>
              </a:r>
            </a:p>
          </p:txBody>
        </p:sp>
        <p:grpSp>
          <p:nvGrpSpPr>
            <p:cNvPr id="22552" name="Group 25"/>
            <p:cNvGrpSpPr/>
            <p:nvPr/>
          </p:nvGrpSpPr>
          <p:grpSpPr>
            <a:xfrm>
              <a:off x="2514601" y="2000250"/>
              <a:ext cx="711994" cy="400050"/>
              <a:chOff x="0" y="0"/>
              <a:chExt cx="598" cy="336"/>
            </a:xfrm>
          </p:grpSpPr>
          <p:sp>
            <p:nvSpPr>
              <p:cNvPr id="22553" name="Line 26"/>
              <p:cNvSpPr/>
              <p:nvPr/>
            </p:nvSpPr>
            <p:spPr>
              <a:xfrm>
                <a:off x="0" y="0"/>
                <a:ext cx="0" cy="336"/>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2554" name="Text Box 27"/>
              <p:cNvSpPr txBox="1"/>
              <p:nvPr/>
            </p:nvSpPr>
            <p:spPr>
              <a:xfrm>
                <a:off x="7" y="53"/>
                <a:ext cx="591" cy="252"/>
              </a:xfrm>
              <a:prstGeom prst="rect">
                <a:avLst/>
              </a:prstGeom>
              <a:noFill/>
              <a:ln w="9525">
                <a:noFill/>
              </a:ln>
            </p:spPr>
            <p:txBody>
              <a:bodyPr wrap="none" anchor="t" anchorCtr="0">
                <a:spAutoFit/>
              </a:bodyPr>
              <a:lstStyle/>
              <a:p>
                <a:pPr eaLnBrk="0" hangingPunct="0">
                  <a:spcBef>
                    <a:spcPct val="50000"/>
                  </a:spcBef>
                </a:pPr>
                <a:r>
                  <a:rPr lang="zh-CN" altLang="en-US" sz="1350" dirty="0">
                    <a:latin typeface="Microsoft YaHei" panose="020B0503020204020204" pitchFamily="34" charset="-122"/>
                    <a:ea typeface="Microsoft YaHei" panose="020B0503020204020204" pitchFamily="34" charset="-122"/>
                  </a:rPr>
                  <a:t>通知单</a:t>
                </a:r>
              </a:p>
            </p:txBody>
          </p:sp>
        </p:grpSp>
        <p:sp>
          <p:nvSpPr>
            <p:cNvPr id="22555" name="AutoShape 28"/>
            <p:cNvSpPr/>
            <p:nvPr/>
          </p:nvSpPr>
          <p:spPr>
            <a:xfrm>
              <a:off x="2057400" y="3498561"/>
              <a:ext cx="914400" cy="342900"/>
            </a:xfrm>
            <a:prstGeom prst="roundRect">
              <a:avLst>
                <a:gd name="adj" fmla="val 16667"/>
              </a:avLst>
            </a:prstGeom>
            <a:solidFill>
              <a:srgbClr val="B9FFED"/>
            </a:solidFill>
            <a:ln w="9525" cap="flat" cmpd="sng">
              <a:solidFill>
                <a:schemeClr val="tx1"/>
              </a:solidFill>
              <a:prstDash val="solid"/>
              <a:round/>
              <a:headEnd type="none" w="med" len="med"/>
              <a:tailEnd type="none" w="med" len="med"/>
            </a:ln>
          </p:spPr>
          <p:txBody>
            <a:bodyPr wrap="none" anchor="ctr" anchorCtr="0"/>
            <a:lstStyle/>
            <a:p>
              <a:pPr algn="ctr" eaLnBrk="0" hangingPunct="0"/>
              <a:r>
                <a:rPr lang="zh-CN" altLang="en-US" sz="1350" dirty="0">
                  <a:latin typeface="Microsoft YaHei" panose="020B0503020204020204" pitchFamily="34" charset="-122"/>
                  <a:ea typeface="Microsoft YaHei" panose="020B0503020204020204" pitchFamily="34" charset="-122"/>
                </a:rPr>
                <a:t>毕业学生</a:t>
              </a:r>
            </a:p>
          </p:txBody>
        </p:sp>
        <p:grpSp>
          <p:nvGrpSpPr>
            <p:cNvPr id="22556" name="Group 29"/>
            <p:cNvGrpSpPr/>
            <p:nvPr/>
          </p:nvGrpSpPr>
          <p:grpSpPr>
            <a:xfrm>
              <a:off x="2515791" y="2984211"/>
              <a:ext cx="703660" cy="514350"/>
              <a:chOff x="0" y="0"/>
              <a:chExt cx="591" cy="432"/>
            </a:xfrm>
          </p:grpSpPr>
          <p:sp>
            <p:nvSpPr>
              <p:cNvPr id="22557" name="Line 30"/>
              <p:cNvSpPr/>
              <p:nvPr/>
            </p:nvSpPr>
            <p:spPr>
              <a:xfrm>
                <a:off x="0" y="0"/>
                <a:ext cx="0" cy="432"/>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2558" name="Text Box 31"/>
              <p:cNvSpPr txBox="1"/>
              <p:nvPr/>
            </p:nvSpPr>
            <p:spPr>
              <a:xfrm>
                <a:off x="0" y="48"/>
                <a:ext cx="591" cy="252"/>
              </a:xfrm>
              <a:prstGeom prst="rect">
                <a:avLst/>
              </a:prstGeom>
              <a:noFill/>
              <a:ln w="9525">
                <a:noFill/>
              </a:ln>
            </p:spPr>
            <p:txBody>
              <a:bodyPr wrap="none" anchor="t" anchorCtr="0">
                <a:spAutoFit/>
              </a:bodyPr>
              <a:lstStyle/>
              <a:p>
                <a:pPr eaLnBrk="0" hangingPunct="0">
                  <a:spcBef>
                    <a:spcPct val="50000"/>
                  </a:spcBef>
                </a:pPr>
                <a:r>
                  <a:rPr lang="zh-CN" altLang="en-US" sz="1350" dirty="0">
                    <a:latin typeface="Microsoft YaHei" panose="020B0503020204020204" pitchFamily="34" charset="-122"/>
                    <a:ea typeface="Microsoft YaHei" panose="020B0503020204020204" pitchFamily="34" charset="-122"/>
                  </a:rPr>
                  <a:t>派遣单</a:t>
                </a:r>
              </a:p>
            </p:txBody>
          </p:sp>
        </p:grpSp>
      </p:grpSp>
      <p:sp>
        <p:nvSpPr>
          <p:cNvPr id="22559" name="AutoShape 32"/>
          <p:cNvSpPr/>
          <p:nvPr/>
        </p:nvSpPr>
        <p:spPr>
          <a:xfrm>
            <a:off x="3661614" y="852411"/>
            <a:ext cx="742950" cy="3794775"/>
          </a:xfrm>
          <a:prstGeom prst="leftBrace">
            <a:avLst>
              <a:gd name="adj1" fmla="val 31253"/>
              <a:gd name="adj2" fmla="val 50000"/>
            </a:avLst>
          </a:prstGeom>
          <a:noFill/>
          <a:ln w="38100" cap="flat" cmpd="sng">
            <a:solidFill>
              <a:schemeClr val="folHlink"/>
            </a:solidFill>
            <a:prstDash val="solid"/>
            <a:round/>
            <a:headEnd type="none" w="med" len="med"/>
            <a:tailEnd type="none" w="med" len="med"/>
          </a:ln>
        </p:spPr>
        <p:txBody>
          <a:bodyPr wrap="none" anchor="ctr" anchorCtr="0"/>
          <a:lstStyle/>
          <a:p>
            <a:endParaRPr lang="zh-CN" altLang="en-US" sz="1350" dirty="0">
              <a:latin typeface="Tahoma" panose="020B0604030504040204" pitchFamily="34" charset="0"/>
              <a:ea typeface="宋体" panose="02010600030101010101" pitchFamily="2" charset="-122"/>
            </a:endParaRPr>
          </a:p>
        </p:txBody>
      </p:sp>
      <p:grpSp>
        <p:nvGrpSpPr>
          <p:cNvPr id="5" name="组合 4">
            <a:extLst>
              <a:ext uri="{FF2B5EF4-FFF2-40B4-BE49-F238E27FC236}">
                <a16:creationId xmlns:a16="http://schemas.microsoft.com/office/drawing/2014/main" id="{E3A2F273-080B-11C1-90C6-269C45C624D1}"/>
              </a:ext>
            </a:extLst>
          </p:cNvPr>
          <p:cNvGrpSpPr/>
          <p:nvPr/>
        </p:nvGrpSpPr>
        <p:grpSpPr>
          <a:xfrm>
            <a:off x="4533900" y="685800"/>
            <a:ext cx="2985582" cy="4171951"/>
            <a:chOff x="4533900" y="685800"/>
            <a:chExt cx="2985582" cy="4171951"/>
          </a:xfrm>
        </p:grpSpPr>
        <p:sp>
          <p:nvSpPr>
            <p:cNvPr id="22531" name="Oval 4"/>
            <p:cNvSpPr/>
            <p:nvPr/>
          </p:nvSpPr>
          <p:spPr>
            <a:xfrm>
              <a:off x="6241941" y="1428750"/>
              <a:ext cx="685800" cy="5715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eaLnBrk="0" hangingPunct="0"/>
              <a:r>
                <a:rPr lang="en-US" altLang="zh-CN" sz="1350" dirty="0">
                  <a:latin typeface="Microsoft YaHei" panose="020B0503020204020204" pitchFamily="34" charset="-122"/>
                  <a:ea typeface="Microsoft YaHei" panose="020B0503020204020204" pitchFamily="34" charset="-122"/>
                </a:rPr>
                <a:t>1.1</a:t>
              </a:r>
            </a:p>
            <a:p>
              <a:pPr algn="ctr" eaLnBrk="0" hangingPunct="0"/>
              <a:r>
                <a:rPr lang="zh-CN" altLang="en-US" sz="1350" dirty="0">
                  <a:latin typeface="Microsoft YaHei" panose="020B0503020204020204" pitchFamily="34" charset="-122"/>
                  <a:ea typeface="Microsoft YaHei" panose="020B0503020204020204" pitchFamily="34" charset="-122"/>
                </a:rPr>
                <a:t>注册</a:t>
              </a:r>
            </a:p>
          </p:txBody>
        </p:sp>
        <p:sp>
          <p:nvSpPr>
            <p:cNvPr id="22532" name="Oval 5"/>
            <p:cNvSpPr/>
            <p:nvPr/>
          </p:nvSpPr>
          <p:spPr>
            <a:xfrm>
              <a:off x="6241941" y="2398590"/>
              <a:ext cx="685800" cy="5715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eaLnBrk="0" hangingPunct="0"/>
              <a:r>
                <a:rPr lang="en-US" altLang="zh-CN" sz="1350" dirty="0">
                  <a:latin typeface="Microsoft YaHei" panose="020B0503020204020204" pitchFamily="34" charset="-122"/>
                  <a:ea typeface="Microsoft YaHei" panose="020B0503020204020204" pitchFamily="34" charset="-122"/>
                </a:rPr>
                <a:t>1.2</a:t>
              </a:r>
            </a:p>
            <a:p>
              <a:pPr algn="ctr" eaLnBrk="0" hangingPunct="0"/>
              <a:r>
                <a:rPr lang="zh-CN" altLang="en-US" sz="1350" dirty="0">
                  <a:latin typeface="Microsoft YaHei" panose="020B0503020204020204" pitchFamily="34" charset="-122"/>
                  <a:ea typeface="Microsoft YaHei" panose="020B0503020204020204" pitchFamily="34" charset="-122"/>
                </a:rPr>
                <a:t>选课</a:t>
              </a:r>
            </a:p>
          </p:txBody>
        </p:sp>
        <p:sp>
          <p:nvSpPr>
            <p:cNvPr id="22533" name="Oval 6"/>
            <p:cNvSpPr/>
            <p:nvPr/>
          </p:nvSpPr>
          <p:spPr>
            <a:xfrm>
              <a:off x="6241941" y="3486150"/>
              <a:ext cx="685800" cy="5715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eaLnBrk="0" hangingPunct="0"/>
              <a:r>
                <a:rPr lang="en-US" altLang="zh-CN" sz="1350" dirty="0">
                  <a:latin typeface="Microsoft YaHei" panose="020B0503020204020204" pitchFamily="34" charset="-122"/>
                  <a:ea typeface="Microsoft YaHei" panose="020B0503020204020204" pitchFamily="34" charset="-122"/>
                </a:rPr>
                <a:t>1.3</a:t>
              </a:r>
            </a:p>
            <a:p>
              <a:pPr algn="ctr" eaLnBrk="0" hangingPunct="0"/>
              <a:r>
                <a:rPr lang="zh-CN" altLang="en-US" sz="1350" dirty="0">
                  <a:latin typeface="Microsoft YaHei" panose="020B0503020204020204" pitchFamily="34" charset="-122"/>
                  <a:ea typeface="Microsoft YaHei" panose="020B0503020204020204" pitchFamily="34" charset="-122"/>
                </a:rPr>
                <a:t>分配</a:t>
              </a:r>
            </a:p>
          </p:txBody>
        </p:sp>
        <p:grpSp>
          <p:nvGrpSpPr>
            <p:cNvPr id="22534" name="Group 7"/>
            <p:cNvGrpSpPr/>
            <p:nvPr/>
          </p:nvGrpSpPr>
          <p:grpSpPr>
            <a:xfrm>
              <a:off x="6584841" y="2000250"/>
              <a:ext cx="934641" cy="400050"/>
              <a:chOff x="0" y="0"/>
              <a:chExt cx="785" cy="336"/>
            </a:xfrm>
          </p:grpSpPr>
          <p:sp>
            <p:nvSpPr>
              <p:cNvPr id="22535" name="Text Box 8"/>
              <p:cNvSpPr txBox="1"/>
              <p:nvPr/>
            </p:nvSpPr>
            <p:spPr>
              <a:xfrm>
                <a:off x="48" y="0"/>
                <a:ext cx="737" cy="252"/>
              </a:xfrm>
              <a:prstGeom prst="rect">
                <a:avLst/>
              </a:prstGeom>
              <a:noFill/>
              <a:ln w="9525">
                <a:noFill/>
              </a:ln>
            </p:spPr>
            <p:txBody>
              <a:bodyPr wrap="none" anchor="t" anchorCtr="0">
                <a:spAutoFit/>
              </a:bodyPr>
              <a:lstStyle/>
              <a:p>
                <a:pPr eaLnBrk="0" hangingPunct="0">
                  <a:spcBef>
                    <a:spcPct val="50000"/>
                  </a:spcBef>
                </a:pPr>
                <a:r>
                  <a:rPr lang="zh-CN" altLang="en-US" sz="1350" dirty="0">
                    <a:latin typeface="Microsoft YaHei" panose="020B0503020204020204" pitchFamily="34" charset="-122"/>
                    <a:ea typeface="Microsoft YaHei" panose="020B0503020204020204" pitchFamily="34" charset="-122"/>
                  </a:rPr>
                  <a:t>专业要求</a:t>
                </a:r>
              </a:p>
            </p:txBody>
          </p:sp>
          <p:sp>
            <p:nvSpPr>
              <p:cNvPr id="22536" name="Line 9"/>
              <p:cNvSpPr/>
              <p:nvPr/>
            </p:nvSpPr>
            <p:spPr>
              <a:xfrm>
                <a:off x="0" y="0"/>
                <a:ext cx="0" cy="336"/>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22537" name="Group 10"/>
            <p:cNvGrpSpPr/>
            <p:nvPr/>
          </p:nvGrpSpPr>
          <p:grpSpPr>
            <a:xfrm>
              <a:off x="6584841" y="2971800"/>
              <a:ext cx="934641" cy="514350"/>
              <a:chOff x="0" y="0"/>
              <a:chExt cx="785" cy="432"/>
            </a:xfrm>
          </p:grpSpPr>
          <p:sp>
            <p:nvSpPr>
              <p:cNvPr id="22538" name="Text Box 11"/>
              <p:cNvSpPr txBox="1"/>
              <p:nvPr/>
            </p:nvSpPr>
            <p:spPr>
              <a:xfrm>
                <a:off x="48" y="96"/>
                <a:ext cx="737" cy="252"/>
              </a:xfrm>
              <a:prstGeom prst="rect">
                <a:avLst/>
              </a:prstGeom>
              <a:noFill/>
              <a:ln w="9525">
                <a:noFill/>
              </a:ln>
            </p:spPr>
            <p:txBody>
              <a:bodyPr wrap="none" anchor="t" anchorCtr="0">
                <a:spAutoFit/>
              </a:bodyPr>
              <a:lstStyle/>
              <a:p>
                <a:pPr eaLnBrk="0" hangingPunct="0">
                  <a:spcBef>
                    <a:spcPct val="50000"/>
                  </a:spcBef>
                </a:pPr>
                <a:r>
                  <a:rPr lang="zh-CN" altLang="en-US" sz="1350" dirty="0">
                    <a:latin typeface="Microsoft YaHei" panose="020B0503020204020204" pitchFamily="34" charset="-122"/>
                    <a:ea typeface="Microsoft YaHei" panose="020B0503020204020204" pitchFamily="34" charset="-122"/>
                  </a:rPr>
                  <a:t>学习情况</a:t>
                </a:r>
              </a:p>
            </p:txBody>
          </p:sp>
          <p:sp>
            <p:nvSpPr>
              <p:cNvPr id="22539" name="Line 12"/>
              <p:cNvSpPr/>
              <p:nvPr/>
            </p:nvSpPr>
            <p:spPr>
              <a:xfrm>
                <a:off x="0" y="0"/>
                <a:ext cx="0" cy="432"/>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22540" name="Group 13"/>
            <p:cNvGrpSpPr/>
            <p:nvPr/>
          </p:nvGrpSpPr>
          <p:grpSpPr>
            <a:xfrm>
              <a:off x="6099067" y="685800"/>
              <a:ext cx="1303735" cy="742950"/>
              <a:chOff x="-72" y="0"/>
              <a:chExt cx="1095" cy="624"/>
            </a:xfrm>
          </p:grpSpPr>
          <p:sp>
            <p:nvSpPr>
              <p:cNvPr id="22541" name="AutoShape 14"/>
              <p:cNvSpPr/>
              <p:nvPr/>
            </p:nvSpPr>
            <p:spPr>
              <a:xfrm>
                <a:off x="-72" y="0"/>
                <a:ext cx="816" cy="288"/>
              </a:xfrm>
              <a:prstGeom prst="roundRect">
                <a:avLst>
                  <a:gd name="adj" fmla="val 16667"/>
                </a:avLst>
              </a:prstGeom>
              <a:solidFill>
                <a:srgbClr val="B9FFED"/>
              </a:solidFill>
              <a:ln w="9525" cap="flat" cmpd="sng">
                <a:solidFill>
                  <a:schemeClr val="tx1"/>
                </a:solidFill>
                <a:prstDash val="solid"/>
                <a:round/>
                <a:headEnd type="none" w="med" len="med"/>
                <a:tailEnd type="none" w="med" len="med"/>
              </a:ln>
            </p:spPr>
            <p:txBody>
              <a:bodyPr wrap="none" anchor="ctr" anchorCtr="0"/>
              <a:lstStyle/>
              <a:p>
                <a:pPr algn="ctr" eaLnBrk="0" hangingPunct="0"/>
                <a:r>
                  <a:rPr lang="zh-CN" altLang="en-US" sz="1350" dirty="0">
                    <a:latin typeface="Microsoft YaHei" panose="020B0503020204020204" pitchFamily="34" charset="-122"/>
                    <a:ea typeface="Microsoft YaHei" panose="020B0503020204020204" pitchFamily="34" charset="-122"/>
                  </a:rPr>
                  <a:t>入校学生</a:t>
                </a:r>
              </a:p>
            </p:txBody>
          </p:sp>
          <p:grpSp>
            <p:nvGrpSpPr>
              <p:cNvPr id="22542" name="Group 15"/>
              <p:cNvGrpSpPr/>
              <p:nvPr/>
            </p:nvGrpSpPr>
            <p:grpSpPr>
              <a:xfrm>
                <a:off x="336" y="288"/>
                <a:ext cx="687" cy="336"/>
                <a:chOff x="0" y="0"/>
                <a:chExt cx="687" cy="336"/>
              </a:xfrm>
            </p:grpSpPr>
            <p:sp>
              <p:nvSpPr>
                <p:cNvPr id="22543" name="Line 16"/>
                <p:cNvSpPr/>
                <p:nvPr/>
              </p:nvSpPr>
              <p:spPr>
                <a:xfrm>
                  <a:off x="0" y="0"/>
                  <a:ext cx="0" cy="336"/>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2544" name="Text Box 17"/>
                <p:cNvSpPr txBox="1"/>
                <p:nvPr/>
              </p:nvSpPr>
              <p:spPr>
                <a:xfrm>
                  <a:off x="96" y="0"/>
                  <a:ext cx="591" cy="252"/>
                </a:xfrm>
                <a:prstGeom prst="rect">
                  <a:avLst/>
                </a:prstGeom>
                <a:noFill/>
                <a:ln w="9525">
                  <a:noFill/>
                </a:ln>
              </p:spPr>
              <p:txBody>
                <a:bodyPr wrap="none" anchor="t" anchorCtr="0">
                  <a:spAutoFit/>
                </a:bodyPr>
                <a:lstStyle/>
                <a:p>
                  <a:pPr eaLnBrk="0" hangingPunct="0">
                    <a:spcBef>
                      <a:spcPct val="50000"/>
                    </a:spcBef>
                  </a:pPr>
                  <a:r>
                    <a:rPr lang="zh-CN" altLang="en-US" sz="1350" dirty="0">
                      <a:latin typeface="Microsoft YaHei" panose="020B0503020204020204" pitchFamily="34" charset="-122"/>
                      <a:ea typeface="Microsoft YaHei" panose="020B0503020204020204" pitchFamily="34" charset="-122"/>
                    </a:rPr>
                    <a:t>通知单</a:t>
                  </a:r>
                </a:p>
              </p:txBody>
            </p:sp>
          </p:grpSp>
        </p:grpSp>
        <p:grpSp>
          <p:nvGrpSpPr>
            <p:cNvPr id="22545" name="Group 18"/>
            <p:cNvGrpSpPr/>
            <p:nvPr/>
          </p:nvGrpSpPr>
          <p:grpSpPr>
            <a:xfrm>
              <a:off x="6127642" y="4057649"/>
              <a:ext cx="1218010" cy="800102"/>
              <a:chOff x="0" y="48"/>
              <a:chExt cx="1023" cy="672"/>
            </a:xfrm>
          </p:grpSpPr>
          <p:sp>
            <p:nvSpPr>
              <p:cNvPr id="22546" name="AutoShape 19"/>
              <p:cNvSpPr/>
              <p:nvPr/>
            </p:nvSpPr>
            <p:spPr>
              <a:xfrm>
                <a:off x="0" y="432"/>
                <a:ext cx="768" cy="288"/>
              </a:xfrm>
              <a:prstGeom prst="roundRect">
                <a:avLst>
                  <a:gd name="adj" fmla="val 16667"/>
                </a:avLst>
              </a:prstGeom>
              <a:solidFill>
                <a:srgbClr val="B9FFED"/>
              </a:solidFill>
              <a:ln w="9525" cap="flat" cmpd="sng">
                <a:solidFill>
                  <a:schemeClr val="tx1"/>
                </a:solidFill>
                <a:prstDash val="solid"/>
                <a:round/>
                <a:headEnd type="none" w="med" len="med"/>
                <a:tailEnd type="none" w="med" len="med"/>
              </a:ln>
            </p:spPr>
            <p:txBody>
              <a:bodyPr wrap="none" anchor="ctr" anchorCtr="0"/>
              <a:lstStyle/>
              <a:p>
                <a:pPr algn="ctr" eaLnBrk="0" hangingPunct="0"/>
                <a:r>
                  <a:rPr lang="zh-CN" altLang="en-US" sz="1350" dirty="0">
                    <a:latin typeface="Microsoft YaHei" panose="020B0503020204020204" pitchFamily="34" charset="-122"/>
                    <a:ea typeface="Microsoft YaHei" panose="020B0503020204020204" pitchFamily="34" charset="-122"/>
                  </a:rPr>
                  <a:t>毕业学生</a:t>
                </a:r>
              </a:p>
            </p:txBody>
          </p:sp>
          <p:grpSp>
            <p:nvGrpSpPr>
              <p:cNvPr id="22547" name="Group 20"/>
              <p:cNvGrpSpPr/>
              <p:nvPr/>
            </p:nvGrpSpPr>
            <p:grpSpPr>
              <a:xfrm>
                <a:off x="384" y="48"/>
                <a:ext cx="639" cy="400"/>
                <a:chOff x="0" y="48"/>
                <a:chExt cx="639" cy="400"/>
              </a:xfrm>
            </p:grpSpPr>
            <p:sp>
              <p:nvSpPr>
                <p:cNvPr id="22548" name="Line 21"/>
                <p:cNvSpPr/>
                <p:nvPr/>
              </p:nvSpPr>
              <p:spPr>
                <a:xfrm>
                  <a:off x="0" y="55"/>
                  <a:ext cx="0" cy="393"/>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2549" name="Text Box 22"/>
                <p:cNvSpPr txBox="1"/>
                <p:nvPr/>
              </p:nvSpPr>
              <p:spPr>
                <a:xfrm>
                  <a:off x="48" y="48"/>
                  <a:ext cx="591" cy="252"/>
                </a:xfrm>
                <a:prstGeom prst="rect">
                  <a:avLst/>
                </a:prstGeom>
                <a:noFill/>
                <a:ln w="9525">
                  <a:noFill/>
                </a:ln>
              </p:spPr>
              <p:txBody>
                <a:bodyPr wrap="none" anchor="t" anchorCtr="0">
                  <a:spAutoFit/>
                </a:bodyPr>
                <a:lstStyle/>
                <a:p>
                  <a:pPr eaLnBrk="0" hangingPunct="0">
                    <a:spcBef>
                      <a:spcPct val="50000"/>
                    </a:spcBef>
                  </a:pPr>
                  <a:r>
                    <a:rPr lang="zh-CN" altLang="en-US" sz="1350" dirty="0">
                      <a:latin typeface="Microsoft YaHei" panose="020B0503020204020204" pitchFamily="34" charset="-122"/>
                      <a:ea typeface="Microsoft YaHei" panose="020B0503020204020204" pitchFamily="34" charset="-122"/>
                    </a:rPr>
                    <a:t>派遣单</a:t>
                  </a:r>
                </a:p>
              </p:txBody>
            </p:sp>
          </p:grpSp>
        </p:grpSp>
        <p:grpSp>
          <p:nvGrpSpPr>
            <p:cNvPr id="22560" name="Group 33"/>
            <p:cNvGrpSpPr/>
            <p:nvPr/>
          </p:nvGrpSpPr>
          <p:grpSpPr>
            <a:xfrm>
              <a:off x="4686300" y="1733550"/>
              <a:ext cx="1714500" cy="815578"/>
              <a:chOff x="0" y="0"/>
              <a:chExt cx="1440" cy="685"/>
            </a:xfrm>
          </p:grpSpPr>
          <p:sp>
            <p:nvSpPr>
              <p:cNvPr id="22561" name="Line 34"/>
              <p:cNvSpPr/>
              <p:nvPr/>
            </p:nvSpPr>
            <p:spPr>
              <a:xfrm>
                <a:off x="1383" y="528"/>
                <a:ext cx="57" cy="96"/>
              </a:xfrm>
              <a:prstGeom prst="line">
                <a:avLst/>
              </a:prstGeom>
              <a:ln w="38100" cap="flat" cmpd="sng">
                <a:solidFill>
                  <a:schemeClr val="tx1"/>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nvGrpSpPr>
              <p:cNvPr id="22562" name="Group 35"/>
              <p:cNvGrpSpPr/>
              <p:nvPr/>
            </p:nvGrpSpPr>
            <p:grpSpPr>
              <a:xfrm>
                <a:off x="0" y="0"/>
                <a:ext cx="1383" cy="685"/>
                <a:chOff x="0" y="0"/>
                <a:chExt cx="1383" cy="685"/>
              </a:xfrm>
            </p:grpSpPr>
            <p:grpSp>
              <p:nvGrpSpPr>
                <p:cNvPr id="22563" name="Group 36"/>
                <p:cNvGrpSpPr/>
                <p:nvPr/>
              </p:nvGrpSpPr>
              <p:grpSpPr>
                <a:xfrm>
                  <a:off x="0" y="0"/>
                  <a:ext cx="1383" cy="685"/>
                  <a:chOff x="0" y="0"/>
                  <a:chExt cx="1160" cy="685"/>
                </a:xfrm>
              </p:grpSpPr>
              <p:grpSp>
                <p:nvGrpSpPr>
                  <p:cNvPr id="22564" name="Group 37"/>
                  <p:cNvGrpSpPr/>
                  <p:nvPr/>
                </p:nvGrpSpPr>
                <p:grpSpPr>
                  <a:xfrm>
                    <a:off x="8" y="0"/>
                    <a:ext cx="1152" cy="685"/>
                    <a:chOff x="0" y="0"/>
                    <a:chExt cx="1152" cy="685"/>
                  </a:xfrm>
                </p:grpSpPr>
                <p:sp>
                  <p:nvSpPr>
                    <p:cNvPr id="22565" name="Line 38"/>
                    <p:cNvSpPr/>
                    <p:nvPr/>
                  </p:nvSpPr>
                  <p:spPr>
                    <a:xfrm>
                      <a:off x="0" y="288"/>
                      <a:ext cx="576" cy="0"/>
                    </a:xfrm>
                    <a:prstGeom prst="line">
                      <a:avLst/>
                    </a:prstGeom>
                    <a:ln w="381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nvGrpSpPr>
                    <p:cNvPr id="22566" name="Group 39"/>
                    <p:cNvGrpSpPr/>
                    <p:nvPr/>
                  </p:nvGrpSpPr>
                  <p:grpSpPr>
                    <a:xfrm>
                      <a:off x="0" y="0"/>
                      <a:ext cx="1152" cy="685"/>
                      <a:chOff x="0" y="0"/>
                      <a:chExt cx="1152" cy="685"/>
                    </a:xfrm>
                  </p:grpSpPr>
                  <p:sp>
                    <p:nvSpPr>
                      <p:cNvPr id="22567" name="Text Box 40"/>
                      <p:cNvSpPr txBox="1"/>
                      <p:nvPr/>
                    </p:nvSpPr>
                    <p:spPr>
                      <a:xfrm>
                        <a:off x="0" y="336"/>
                        <a:ext cx="577" cy="349"/>
                      </a:xfrm>
                      <a:prstGeom prst="rect">
                        <a:avLst/>
                      </a:prstGeom>
                      <a:noFill/>
                      <a:ln w="9525">
                        <a:noFill/>
                      </a:ln>
                    </p:spPr>
                    <p:txBody>
                      <a:bodyPr anchor="t" anchorCtr="0">
                        <a:spAutoFit/>
                      </a:bodyPr>
                      <a:lstStyle/>
                      <a:p>
                        <a:pPr eaLnBrk="0" hangingPunct="0">
                          <a:spcBef>
                            <a:spcPct val="50000"/>
                          </a:spcBef>
                        </a:pPr>
                        <a:r>
                          <a:rPr lang="zh-CN" altLang="en-US" sz="2100" dirty="0">
                            <a:solidFill>
                              <a:schemeClr val="folHlink"/>
                            </a:solidFill>
                            <a:latin typeface="Microsoft YaHei" panose="020B0503020204020204" pitchFamily="34" charset="-122"/>
                            <a:ea typeface="Microsoft YaHei" panose="020B0503020204020204" pitchFamily="34" charset="-122"/>
                          </a:rPr>
                          <a:t> </a:t>
                        </a:r>
                        <a:r>
                          <a:rPr lang="zh-CN" altLang="en-US" sz="1350" dirty="0">
                            <a:solidFill>
                              <a:schemeClr val="folHlink"/>
                            </a:solidFill>
                            <a:latin typeface="Microsoft YaHei" panose="020B0503020204020204" pitchFamily="34" charset="-122"/>
                            <a:ea typeface="Microsoft YaHei" panose="020B0503020204020204" pitchFamily="34" charset="-122"/>
                          </a:rPr>
                          <a:t>课表</a:t>
                        </a:r>
                      </a:p>
                    </p:txBody>
                  </p:sp>
                  <p:sp>
                    <p:nvSpPr>
                      <p:cNvPr id="22568" name="未知"/>
                      <p:cNvSpPr/>
                      <p:nvPr/>
                    </p:nvSpPr>
                    <p:spPr>
                      <a:xfrm>
                        <a:off x="336" y="0"/>
                        <a:ext cx="816" cy="528"/>
                      </a:xfrm>
                      <a:custGeom>
                        <a:avLst/>
                        <a:gdLst/>
                        <a:ahLst/>
                        <a:cxnLst>
                          <a:cxn ang="0">
                            <a:pos x="0" y="48"/>
                          </a:cxn>
                          <a:cxn ang="0">
                            <a:pos x="158" y="9"/>
                          </a:cxn>
                          <a:cxn ang="0">
                            <a:pos x="301" y="104"/>
                          </a:cxn>
                        </a:cxnLst>
                        <a:rect l="0" t="0" r="0" b="0"/>
                        <a:pathLst>
                          <a:path w="912" h="632">
                            <a:moveTo>
                              <a:pt x="0" y="296"/>
                            </a:moveTo>
                            <a:cubicBezTo>
                              <a:pt x="164" y="148"/>
                              <a:pt x="328" y="0"/>
                              <a:pt x="480" y="56"/>
                            </a:cubicBezTo>
                            <a:cubicBezTo>
                              <a:pt x="632" y="112"/>
                              <a:pt x="772" y="372"/>
                              <a:pt x="912" y="632"/>
                            </a:cubicBezTo>
                          </a:path>
                        </a:pathLst>
                      </a:custGeom>
                      <a:noFill/>
                      <a:ln w="381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sp>
                <p:nvSpPr>
                  <p:cNvPr id="22569" name="Line 42"/>
                  <p:cNvSpPr/>
                  <p:nvPr/>
                </p:nvSpPr>
                <p:spPr>
                  <a:xfrm>
                    <a:off x="0" y="288"/>
                    <a:ext cx="0" cy="384"/>
                  </a:xfrm>
                  <a:prstGeom prst="line">
                    <a:avLst/>
                  </a:prstGeom>
                  <a:ln w="381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2570" name="Line 43"/>
                  <p:cNvSpPr/>
                  <p:nvPr/>
                </p:nvSpPr>
                <p:spPr>
                  <a:xfrm>
                    <a:off x="0" y="672"/>
                    <a:ext cx="576" cy="0"/>
                  </a:xfrm>
                  <a:prstGeom prst="line">
                    <a:avLst/>
                  </a:prstGeom>
                  <a:ln w="2857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22571" name="Line 44"/>
                <p:cNvSpPr/>
                <p:nvPr/>
              </p:nvSpPr>
              <p:spPr>
                <a:xfrm>
                  <a:off x="104" y="288"/>
                  <a:ext cx="0" cy="384"/>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grpSp>
          <p:nvGrpSpPr>
            <p:cNvPr id="22572" name="Group 45"/>
            <p:cNvGrpSpPr/>
            <p:nvPr/>
          </p:nvGrpSpPr>
          <p:grpSpPr>
            <a:xfrm>
              <a:off x="4533900" y="2562225"/>
              <a:ext cx="1714500" cy="691753"/>
              <a:chOff x="0" y="-40"/>
              <a:chExt cx="1440" cy="581"/>
            </a:xfrm>
          </p:grpSpPr>
          <p:grpSp>
            <p:nvGrpSpPr>
              <p:cNvPr id="22573" name="Group 46"/>
              <p:cNvGrpSpPr/>
              <p:nvPr/>
            </p:nvGrpSpPr>
            <p:grpSpPr>
              <a:xfrm>
                <a:off x="0" y="-40"/>
                <a:ext cx="1440" cy="581"/>
                <a:chOff x="0" y="-40"/>
                <a:chExt cx="1296" cy="581"/>
              </a:xfrm>
            </p:grpSpPr>
            <p:sp>
              <p:nvSpPr>
                <p:cNvPr id="22574" name="Line 47"/>
                <p:cNvSpPr/>
                <p:nvPr/>
              </p:nvSpPr>
              <p:spPr>
                <a:xfrm flipH="1">
                  <a:off x="240" y="96"/>
                  <a:ext cx="240" cy="96"/>
                </a:xfrm>
                <a:prstGeom prst="line">
                  <a:avLst/>
                </a:prstGeom>
                <a:ln w="38100" cap="flat" cmpd="sng">
                  <a:solidFill>
                    <a:schemeClr val="tx1"/>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2575" name="Line 48"/>
                <p:cNvSpPr/>
                <p:nvPr/>
              </p:nvSpPr>
              <p:spPr>
                <a:xfrm>
                  <a:off x="0" y="192"/>
                  <a:ext cx="720" cy="0"/>
                </a:xfrm>
                <a:prstGeom prst="line">
                  <a:avLst/>
                </a:prstGeom>
                <a:ln w="381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2576" name="Text Box 49"/>
                <p:cNvSpPr txBox="1"/>
                <p:nvPr/>
              </p:nvSpPr>
              <p:spPr>
                <a:xfrm>
                  <a:off x="0" y="192"/>
                  <a:ext cx="816" cy="349"/>
                </a:xfrm>
                <a:prstGeom prst="rect">
                  <a:avLst/>
                </a:prstGeom>
                <a:noFill/>
                <a:ln w="9525">
                  <a:noFill/>
                </a:ln>
              </p:spPr>
              <p:txBody>
                <a:bodyPr anchor="t" anchorCtr="0">
                  <a:spAutoFit/>
                </a:bodyPr>
                <a:lstStyle/>
                <a:p>
                  <a:pPr eaLnBrk="0" hangingPunct="0">
                    <a:spcBef>
                      <a:spcPct val="50000"/>
                    </a:spcBef>
                  </a:pPr>
                  <a:r>
                    <a:rPr lang="zh-CN" altLang="en-US" sz="2100" dirty="0">
                      <a:solidFill>
                        <a:schemeClr val="folHlink"/>
                      </a:solidFill>
                      <a:latin typeface="Microsoft YaHei" panose="020B0503020204020204" pitchFamily="34" charset="-122"/>
                      <a:ea typeface="Microsoft YaHei" panose="020B0503020204020204" pitchFamily="34" charset="-122"/>
                    </a:rPr>
                    <a:t> </a:t>
                  </a:r>
                  <a:r>
                    <a:rPr lang="zh-CN" altLang="en-US" sz="1350" dirty="0">
                      <a:solidFill>
                        <a:schemeClr val="folHlink"/>
                      </a:solidFill>
                      <a:latin typeface="Microsoft YaHei" panose="020B0503020204020204" pitchFamily="34" charset="-122"/>
                      <a:ea typeface="Microsoft YaHei" panose="020B0503020204020204" pitchFamily="34" charset="-122"/>
                    </a:rPr>
                    <a:t>成绩表</a:t>
                  </a:r>
                </a:p>
              </p:txBody>
            </p:sp>
            <p:sp>
              <p:nvSpPr>
                <p:cNvPr id="22577" name="未知"/>
                <p:cNvSpPr/>
                <p:nvPr/>
              </p:nvSpPr>
              <p:spPr>
                <a:xfrm>
                  <a:off x="432" y="-40"/>
                  <a:ext cx="864" cy="216"/>
                </a:xfrm>
                <a:custGeom>
                  <a:avLst/>
                  <a:gdLst/>
                  <a:ahLst/>
                  <a:cxnLst>
                    <a:cxn ang="0">
                      <a:pos x="864" y="1"/>
                    </a:cxn>
                    <a:cxn ang="0">
                      <a:pos x="672" y="1"/>
                    </a:cxn>
                    <a:cxn ang="0">
                      <a:pos x="0" y="1"/>
                    </a:cxn>
                  </a:cxnLst>
                  <a:rect l="0" t="0" r="0" b="0"/>
                  <a:pathLst>
                    <a:path w="864" h="352">
                      <a:moveTo>
                        <a:pt x="864" y="352"/>
                      </a:moveTo>
                      <a:cubicBezTo>
                        <a:pt x="840" y="192"/>
                        <a:pt x="816" y="32"/>
                        <a:pt x="672" y="16"/>
                      </a:cubicBezTo>
                      <a:cubicBezTo>
                        <a:pt x="528" y="0"/>
                        <a:pt x="112" y="216"/>
                        <a:pt x="0" y="256"/>
                      </a:cubicBezTo>
                    </a:path>
                  </a:pathLst>
                </a:custGeom>
                <a:noFill/>
                <a:ln w="381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2578" name="Line 51"/>
                <p:cNvSpPr/>
                <p:nvPr/>
              </p:nvSpPr>
              <p:spPr>
                <a:xfrm>
                  <a:off x="0" y="192"/>
                  <a:ext cx="0" cy="336"/>
                </a:xfrm>
                <a:prstGeom prst="line">
                  <a:avLst/>
                </a:prstGeom>
                <a:ln w="2857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2579" name="Line 52"/>
                <p:cNvSpPr/>
                <p:nvPr/>
              </p:nvSpPr>
              <p:spPr>
                <a:xfrm>
                  <a:off x="0" y="528"/>
                  <a:ext cx="720" cy="0"/>
                </a:xfrm>
                <a:prstGeom prst="line">
                  <a:avLst/>
                </a:prstGeom>
                <a:ln w="2857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22580" name="Line 53"/>
              <p:cNvSpPr/>
              <p:nvPr/>
            </p:nvSpPr>
            <p:spPr>
              <a:xfrm>
                <a:off x="80" y="192"/>
                <a:ext cx="0" cy="336"/>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sp>
        <p:nvSpPr>
          <p:cNvPr id="3" name="标题 2">
            <a:extLst>
              <a:ext uri="{FF2B5EF4-FFF2-40B4-BE49-F238E27FC236}">
                <a16:creationId xmlns:a16="http://schemas.microsoft.com/office/drawing/2014/main" id="{488D99A9-87E4-AEB1-1F97-AFD4E2C7493B}"/>
              </a:ext>
            </a:extLst>
          </p:cNvPr>
          <p:cNvSpPr>
            <a:spLocks noGrp="1"/>
          </p:cNvSpPr>
          <p:nvPr>
            <p:ph type="title"/>
          </p:nvPr>
        </p:nvSpPr>
        <p:spPr/>
        <p:txBody>
          <a:bodyPr/>
          <a:lstStyle/>
          <a:p>
            <a:r>
              <a:rPr lang="zh-CN" altLang="en-US" dirty="0"/>
              <a:t>需求分析</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39894" y="1088514"/>
            <a:ext cx="8464212" cy="3558676"/>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zh-CN" altLang="en-US" sz="1600" dirty="0">
                <a:solidFill>
                  <a:schemeClr val="folHlink"/>
                </a:solidFill>
                <a:latin typeface="Microsoft YaHei" panose="020B0503020204020204" pitchFamily="34" charset="-122"/>
                <a:ea typeface="Microsoft YaHei" panose="020B0503020204020204" pitchFamily="34" charset="-122"/>
              </a:rPr>
              <a:t>五、数据字典（DD—Data Dictionary)</a:t>
            </a:r>
          </a:p>
          <a:p>
            <a:pPr eaLnBrk="1" hangingPunct="1">
              <a:buNone/>
            </a:pPr>
            <a:r>
              <a:rPr lang="zh-CN" altLang="en-US" sz="1600" dirty="0">
                <a:solidFill>
                  <a:schemeClr val="folHlink"/>
                </a:solidFill>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数据流图表达了数据和处理的关系，数据字典则是系统中各类数据描述的集合，是进行详细设计的数据收集和数据分析所获得的主要成果，数据字典在数据库设计中占有很重要的作用。</a:t>
            </a:r>
          </a:p>
          <a:p>
            <a:pPr eaLnBrk="1" hangingPunct="1">
              <a:buNone/>
            </a:pPr>
            <a:r>
              <a:rPr lang="zh-CN" altLang="en-US" sz="1600" dirty="0">
                <a:solidFill>
                  <a:srgbClr val="CC0066"/>
                </a:solidFill>
                <a:latin typeface="Microsoft YaHei" panose="020B0503020204020204" pitchFamily="34" charset="-122"/>
                <a:ea typeface="Microsoft YaHei" panose="020B0503020204020204" pitchFamily="34" charset="-122"/>
              </a:rPr>
              <a:t>1.数据字典在DBMS中的作用</a:t>
            </a:r>
            <a:r>
              <a:rPr lang="zh-CN" altLang="en-US" sz="1600" dirty="0">
                <a:latin typeface="Microsoft YaHei" panose="020B0503020204020204" pitchFamily="34" charset="-122"/>
                <a:ea typeface="Microsoft YaHei" panose="020B0503020204020204" pitchFamily="34" charset="-122"/>
              </a:rPr>
              <a:t> </a:t>
            </a:r>
          </a:p>
          <a:p>
            <a:pPr eaLnBrk="1" hangingPunct="1">
              <a:buNone/>
            </a:pPr>
            <a:r>
              <a:rPr lang="zh-CN" altLang="en-US" sz="1600" dirty="0">
                <a:latin typeface="Microsoft YaHei" panose="020B0503020204020204" pitchFamily="34" charset="-122"/>
                <a:ea typeface="Microsoft YaHei" panose="020B0503020204020204" pitchFamily="34" charset="-122"/>
              </a:rPr>
              <a:t>（1）满足DBMS快速查询有关对象的要求。 </a:t>
            </a:r>
          </a:p>
          <a:p>
            <a:pPr eaLnBrk="1" hangingPunct="1">
              <a:buNone/>
            </a:pPr>
            <a:r>
              <a:rPr lang="zh-CN" altLang="en-US" sz="1600" dirty="0">
                <a:latin typeface="Microsoft YaHei" panose="020B0503020204020204" pitchFamily="34" charset="-122"/>
                <a:ea typeface="Microsoft YaHei" panose="020B0503020204020204" pitchFamily="34" charset="-122"/>
              </a:rPr>
              <a:t>（2）供数据库管理员掌握整个系统运行的情况。</a:t>
            </a:r>
          </a:p>
          <a:p>
            <a:pPr eaLnBrk="1" hangingPunct="1">
              <a:buNone/>
            </a:pPr>
            <a:r>
              <a:rPr lang="zh-CN" altLang="en-US" sz="1600" dirty="0">
                <a:solidFill>
                  <a:srgbClr val="CC0066"/>
                </a:solidFill>
                <a:latin typeface="Microsoft YaHei" panose="020B0503020204020204" pitchFamily="34" charset="-122"/>
                <a:ea typeface="Microsoft YaHei" panose="020B0503020204020204" pitchFamily="34" charset="-122"/>
              </a:rPr>
              <a:t>2.DBMS数据字典的内容</a:t>
            </a:r>
            <a:r>
              <a:rPr lang="zh-CN" altLang="en-US" sz="1600" dirty="0">
                <a:latin typeface="Microsoft YaHei" panose="020B0503020204020204" pitchFamily="34" charset="-122"/>
                <a:ea typeface="Microsoft YaHei" panose="020B0503020204020204" pitchFamily="34" charset="-122"/>
              </a:rPr>
              <a:t> </a:t>
            </a:r>
          </a:p>
          <a:p>
            <a:pPr eaLnBrk="1" hangingPunct="1">
              <a:buNone/>
            </a:pPr>
            <a:r>
              <a:rPr lang="zh-CN" altLang="en-US" sz="1600" dirty="0">
                <a:latin typeface="Microsoft YaHei" panose="020B0503020204020204" pitchFamily="34" charset="-122"/>
                <a:ea typeface="Microsoft YaHei" panose="020B0503020204020204" pitchFamily="34" charset="-122"/>
              </a:rPr>
              <a:t>（1）数据库系统所有对象及其属性的描述信息。 </a:t>
            </a:r>
          </a:p>
          <a:p>
            <a:pPr eaLnBrk="1" hangingPunct="1">
              <a:buNone/>
            </a:pPr>
            <a:r>
              <a:rPr lang="zh-CN" altLang="en-US" sz="1600" dirty="0">
                <a:latin typeface="Microsoft YaHei" panose="020B0503020204020204" pitchFamily="34" charset="-122"/>
                <a:ea typeface="Microsoft YaHei" panose="020B0503020204020204" pitchFamily="34" charset="-122"/>
              </a:rPr>
              <a:t>（2）数据库系统对象之间关系的描述信息。 </a:t>
            </a:r>
          </a:p>
          <a:p>
            <a:pPr eaLnBrk="1" hangingPunct="1">
              <a:buNone/>
            </a:pPr>
            <a:r>
              <a:rPr lang="zh-CN" altLang="en-US" sz="1600" dirty="0">
                <a:latin typeface="Microsoft YaHei" panose="020B0503020204020204" pitchFamily="34" charset="-122"/>
                <a:ea typeface="Microsoft YaHei" panose="020B0503020204020204" pitchFamily="34" charset="-122"/>
              </a:rPr>
              <a:t>（3）数据安全性、完整性约束条件、数据库日志等。 </a:t>
            </a:r>
          </a:p>
          <a:p>
            <a:pPr eaLnBrk="1" hangingPunct="1">
              <a:buNone/>
            </a:pPr>
            <a:r>
              <a:rPr lang="zh-CN" altLang="en-US" sz="1600" dirty="0">
                <a:latin typeface="Microsoft YaHei" panose="020B0503020204020204" pitchFamily="34" charset="-122"/>
                <a:ea typeface="Microsoft YaHei" panose="020B0503020204020204" pitchFamily="34" charset="-122"/>
              </a:rPr>
              <a:t>（4）记录数据字典变化的历史。</a:t>
            </a:r>
            <a:r>
              <a:rPr lang="zh-CN" altLang="en-US" sz="2000" dirty="0">
                <a:latin typeface="Microsoft YaHei" panose="020B0503020204020204" pitchFamily="34" charset="-122"/>
                <a:ea typeface="Microsoft YaHei" panose="020B0503020204020204" pitchFamily="34" charset="-122"/>
              </a:rPr>
              <a:t> </a:t>
            </a:r>
            <a:endParaRPr lang="zh-CN" altLang="en-US" sz="2000" dirty="0">
              <a:solidFill>
                <a:schemeClr val="folHlink"/>
              </a:solidFill>
              <a:latin typeface="Microsoft YaHei" panose="020B0503020204020204" pitchFamily="34" charset="-122"/>
              <a:ea typeface="Microsoft YaHei" panose="020B0503020204020204" pitchFamily="34" charset="-122"/>
            </a:endParaRPr>
          </a:p>
          <a:p>
            <a:pPr eaLnBrk="1" hangingPunct="1">
              <a:buNone/>
            </a:pPr>
            <a:endParaRPr lang="zh-CN" altLang="en-US" sz="2000" dirty="0">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6B8A0911-961E-2788-DD91-B67B8DAF45B8}"/>
              </a:ext>
            </a:extLst>
          </p:cNvPr>
          <p:cNvSpPr>
            <a:spLocks noGrp="1"/>
          </p:cNvSpPr>
          <p:nvPr>
            <p:ph type="title"/>
          </p:nvPr>
        </p:nvSpPr>
        <p:spPr/>
        <p:txBody>
          <a:bodyPr/>
          <a:lstStyle/>
          <a:p>
            <a:r>
              <a:rPr lang="zh-CN" altLang="en-US" dirty="0"/>
              <a:t>需求分析</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31584" y="1022887"/>
            <a:ext cx="8496300" cy="3549113"/>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zh-CN" altLang="en-US" sz="2000" dirty="0">
                <a:solidFill>
                  <a:srgbClr val="CC0066"/>
                </a:solidFill>
                <a:latin typeface="Microsoft YaHei" panose="020B0503020204020204" pitchFamily="34" charset="-122"/>
                <a:ea typeface="Microsoft YaHei" panose="020B0503020204020204" pitchFamily="34" charset="-122"/>
              </a:rPr>
              <a:t>3.数据库应用系统的数据字典</a:t>
            </a:r>
            <a:r>
              <a:rPr lang="zh-CN" altLang="en-US" sz="2000" dirty="0">
                <a:latin typeface="Microsoft YaHei" panose="020B0503020204020204" pitchFamily="34" charset="-122"/>
                <a:ea typeface="Microsoft YaHei" panose="020B0503020204020204" pitchFamily="34" charset="-122"/>
              </a:rPr>
              <a:t> </a:t>
            </a:r>
            <a:endParaRPr lang="zh-CN" altLang="en-US" sz="2000" dirty="0">
              <a:solidFill>
                <a:schemeClr val="folHlink"/>
              </a:solidFill>
              <a:latin typeface="Microsoft YaHei" panose="020B0503020204020204" pitchFamily="34" charset="-122"/>
              <a:ea typeface="Microsoft YaHei" panose="020B0503020204020204" pitchFamily="34" charset="-122"/>
            </a:endParaRPr>
          </a:p>
          <a:p>
            <a:pPr eaLnBrk="1" hangingPunct="1">
              <a:buNone/>
            </a:pPr>
            <a:r>
              <a:rPr lang="zh-CN" altLang="en-US" sz="2000" dirty="0">
                <a:latin typeface="Microsoft YaHei" panose="020B0503020204020204" pitchFamily="34" charset="-122"/>
                <a:ea typeface="Microsoft YaHei" panose="020B0503020204020204" pitchFamily="34" charset="-122"/>
              </a:rPr>
              <a:t>   包括：</a:t>
            </a:r>
          </a:p>
          <a:p>
            <a:pPr lvl="1" eaLnBrk="1" hangingPunct="1"/>
            <a:r>
              <a:rPr lang="zh-CN" altLang="en-US" sz="1600" dirty="0">
                <a:solidFill>
                  <a:schemeClr val="hlink"/>
                </a:solidFill>
                <a:latin typeface="Microsoft YaHei" panose="020B0503020204020204" pitchFamily="34" charset="-122"/>
                <a:ea typeface="Microsoft YaHei" panose="020B0503020204020204" pitchFamily="34" charset="-122"/>
              </a:rPr>
              <a:t>数据项</a:t>
            </a:r>
          </a:p>
          <a:p>
            <a:pPr lvl="1" eaLnBrk="1" hangingPunct="1"/>
            <a:r>
              <a:rPr lang="zh-CN" altLang="en-US" sz="1600" dirty="0">
                <a:solidFill>
                  <a:schemeClr val="hlink"/>
                </a:solidFill>
                <a:latin typeface="Microsoft YaHei" panose="020B0503020204020204" pitchFamily="34" charset="-122"/>
                <a:ea typeface="Microsoft YaHei" panose="020B0503020204020204" pitchFamily="34" charset="-122"/>
              </a:rPr>
              <a:t>数据结构</a:t>
            </a:r>
          </a:p>
          <a:p>
            <a:pPr lvl="1" eaLnBrk="1" hangingPunct="1"/>
            <a:r>
              <a:rPr lang="zh-CN" altLang="en-US" sz="1600" dirty="0">
                <a:solidFill>
                  <a:schemeClr val="hlink"/>
                </a:solidFill>
                <a:latin typeface="Microsoft YaHei" panose="020B0503020204020204" pitchFamily="34" charset="-122"/>
                <a:ea typeface="Microsoft YaHei" panose="020B0503020204020204" pitchFamily="34" charset="-122"/>
              </a:rPr>
              <a:t>数据流   </a:t>
            </a:r>
          </a:p>
          <a:p>
            <a:pPr lvl="1" eaLnBrk="1" hangingPunct="1"/>
            <a:r>
              <a:rPr lang="zh-CN" altLang="en-US" sz="1600" dirty="0">
                <a:solidFill>
                  <a:schemeClr val="hlink"/>
                </a:solidFill>
                <a:latin typeface="Microsoft YaHei" panose="020B0503020204020204" pitchFamily="34" charset="-122"/>
                <a:ea typeface="Microsoft YaHei" panose="020B0503020204020204" pitchFamily="34" charset="-122"/>
              </a:rPr>
              <a:t>数据存储</a:t>
            </a:r>
          </a:p>
          <a:p>
            <a:pPr lvl="1" eaLnBrk="1" hangingPunct="1"/>
            <a:r>
              <a:rPr lang="zh-CN" altLang="en-US" sz="1600" dirty="0">
                <a:solidFill>
                  <a:schemeClr val="hlink"/>
                </a:solidFill>
                <a:latin typeface="Microsoft YaHei" panose="020B0503020204020204" pitchFamily="34" charset="-122"/>
                <a:ea typeface="Microsoft YaHei" panose="020B0503020204020204" pitchFamily="34" charset="-122"/>
              </a:rPr>
              <a:t>处理过程</a:t>
            </a:r>
          </a:p>
          <a:p>
            <a:pPr eaLnBrk="1" hangingPunct="1">
              <a:buNone/>
            </a:pPr>
            <a:r>
              <a:rPr lang="zh-CN" altLang="en-US" sz="2000" dirty="0">
                <a:solidFill>
                  <a:srgbClr val="CC0066"/>
                </a:solidFill>
                <a:latin typeface="Microsoft YaHei" panose="020B0503020204020204" pitchFamily="34" charset="-122"/>
                <a:ea typeface="Microsoft YaHei" panose="020B0503020204020204" pitchFamily="34" charset="-122"/>
              </a:rPr>
              <a:t>4.关于数据字典的说明</a:t>
            </a:r>
          </a:p>
          <a:p>
            <a:pPr lvl="1" eaLnBrk="1" hangingPunct="1"/>
            <a:r>
              <a:rPr lang="zh-CN" altLang="en-US" sz="1600" dirty="0">
                <a:latin typeface="Microsoft YaHei" panose="020B0503020204020204" pitchFamily="34" charset="-122"/>
                <a:ea typeface="Microsoft YaHei" panose="020B0503020204020204" pitchFamily="34" charset="-122"/>
              </a:rPr>
              <a:t>用来说明或描述系统中数据的静态组成结构。</a:t>
            </a:r>
          </a:p>
          <a:p>
            <a:pPr lvl="1" eaLnBrk="1" hangingPunct="1"/>
            <a:r>
              <a:rPr lang="zh-CN" altLang="en-US" sz="1600" dirty="0">
                <a:latin typeface="Microsoft YaHei" panose="020B0503020204020204" pitchFamily="34" charset="-122"/>
                <a:ea typeface="Microsoft YaHei" panose="020B0503020204020204" pitchFamily="34" charset="-122"/>
              </a:rPr>
              <a:t>数据库系统中所有数据的详尽描述，是各类数据属性的清单。</a:t>
            </a:r>
          </a:p>
          <a:p>
            <a:pPr lvl="1" eaLnBrk="1" hangingPunct="1"/>
            <a:r>
              <a:rPr lang="zh-CN" altLang="en-US" sz="1600" dirty="0">
                <a:latin typeface="Microsoft YaHei" panose="020B0503020204020204" pitchFamily="34" charset="-122"/>
                <a:ea typeface="Microsoft YaHei" panose="020B0503020204020204" pitchFamily="34" charset="-122"/>
              </a:rPr>
              <a:t>数据字典在需求分析阶段建立，在数据库设计过程中不断修改、充实、完善。</a:t>
            </a:r>
          </a:p>
        </p:txBody>
      </p:sp>
      <p:sp>
        <p:nvSpPr>
          <p:cNvPr id="5" name="标题 4">
            <a:extLst>
              <a:ext uri="{FF2B5EF4-FFF2-40B4-BE49-F238E27FC236}">
                <a16:creationId xmlns:a16="http://schemas.microsoft.com/office/drawing/2014/main" id="{96902D14-9B91-E150-02A8-66C816A6E4D5}"/>
              </a:ext>
            </a:extLst>
          </p:cNvPr>
          <p:cNvSpPr>
            <a:spLocks noGrp="1"/>
          </p:cNvSpPr>
          <p:nvPr>
            <p:ph type="title"/>
          </p:nvPr>
        </p:nvSpPr>
        <p:spPr/>
        <p:txBody>
          <a:bodyPr/>
          <a:lstStyle/>
          <a:p>
            <a:r>
              <a:rPr lang="zh-CN" altLang="en-US" dirty="0"/>
              <a:t>需求分析</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p:cNvSpPr>
          <p:nvPr>
            <p:ph idx="1"/>
          </p:nvPr>
        </p:nvSpPr>
        <p:spPr/>
        <p:txBody>
          <a:bodyPr vert="horz" wrap="square" lIns="68580" tIns="34290" rIns="68580" bIns="34290" anchor="t" anchorCtr="0"/>
          <a:lstStyle/>
          <a:p>
            <a:pPr marL="0" indent="0">
              <a:lnSpc>
                <a:spcPct val="150000"/>
              </a:lnSpc>
            </a:pPr>
            <a:r>
              <a:rPr lang="zh-CN" altLang="en-US" sz="1800" b="1" dirty="0">
                <a:solidFill>
                  <a:schemeClr val="hlink"/>
                </a:solidFill>
              </a:rPr>
              <a:t> </a:t>
            </a: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a:t>
            </a:r>
            <a:r>
              <a:rPr lang="zh-CN" altLang="en-US" sz="1800" dirty="0"/>
              <a:t>下图给出了某机器制造厂的零配件采购子系统的数据流图。该子系统要处理的工作是生产部门提出的生产计划根据零配件当前价格计算成本送主管部门审批，对已批准生产计划制定采购计划，准备好订货单给供应商。</a:t>
            </a:r>
          </a:p>
        </p:txBody>
      </p:sp>
      <p:graphicFrame>
        <p:nvGraphicFramePr>
          <p:cNvPr id="25603" name="Object 4"/>
          <p:cNvGraphicFramePr>
            <a:graphicFrameLocks noChangeAspect="1"/>
          </p:cNvGraphicFramePr>
          <p:nvPr>
            <p:extLst>
              <p:ext uri="{D42A27DB-BD31-4B8C-83A1-F6EECF244321}">
                <p14:modId xmlns:p14="http://schemas.microsoft.com/office/powerpoint/2010/main" val="1296808438"/>
              </p:ext>
            </p:extLst>
          </p:nvPr>
        </p:nvGraphicFramePr>
        <p:xfrm>
          <a:off x="7363632" y="3110316"/>
          <a:ext cx="1371600" cy="1314450"/>
        </p:xfrm>
        <a:graphic>
          <a:graphicData uri="http://schemas.openxmlformats.org/presentationml/2006/ole">
            <mc:AlternateContent xmlns:mc="http://schemas.openxmlformats.org/markup-compatibility/2006">
              <mc:Choice xmlns:v="urn:schemas-microsoft-com:vml" Requires="v">
                <p:oleObj r:id="rId2" imgW="3473450" imgH="3473450" progId="MS_ClipArt_Gallery.2">
                  <p:embed/>
                </p:oleObj>
              </mc:Choice>
              <mc:Fallback>
                <p:oleObj r:id="rId2" imgW="3473450" imgH="3473450" progId="MS_ClipArt_Gallery.2">
                  <p:embed/>
                  <p:pic>
                    <p:nvPicPr>
                      <p:cNvPr id="25603" name="Object 4"/>
                      <p:cNvPicPr/>
                      <p:nvPr/>
                    </p:nvPicPr>
                    <p:blipFill>
                      <a:blip r:embed="rId3"/>
                      <a:stretch>
                        <a:fillRect/>
                      </a:stretch>
                    </p:blipFill>
                    <p:spPr>
                      <a:xfrm>
                        <a:off x="7363632" y="3110316"/>
                        <a:ext cx="1371600" cy="1314450"/>
                      </a:xfrm>
                      <a:prstGeom prst="rect">
                        <a:avLst/>
                      </a:prstGeom>
                      <a:noFill/>
                      <a:ln w="38100">
                        <a:noFill/>
                        <a:miter/>
                      </a:ln>
                    </p:spPr>
                  </p:pic>
                </p:oleObj>
              </mc:Fallback>
            </mc:AlternateContent>
          </a:graphicData>
        </a:graphic>
      </p:graphicFrame>
      <p:sp>
        <p:nvSpPr>
          <p:cNvPr id="3" name="标题 2">
            <a:extLst>
              <a:ext uri="{FF2B5EF4-FFF2-40B4-BE49-F238E27FC236}">
                <a16:creationId xmlns:a16="http://schemas.microsoft.com/office/drawing/2014/main" id="{BF495B24-ABF2-76D5-BB73-7DF79000981A}"/>
              </a:ext>
            </a:extLst>
          </p:cNvPr>
          <p:cNvSpPr>
            <a:spLocks noGrp="1"/>
          </p:cNvSpPr>
          <p:nvPr>
            <p:ph type="title"/>
          </p:nvPr>
        </p:nvSpPr>
        <p:spPr/>
        <p:txBody>
          <a:bodyPr/>
          <a:lstStyle/>
          <a:p>
            <a:r>
              <a:rPr lang="zh-CN" altLang="en-US" dirty="0"/>
              <a:t>需求分析</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75860" y="1898119"/>
            <a:ext cx="2066926" cy="1200150"/>
          </a:xfrm>
        </p:spPr>
        <p:txBody>
          <a:bodyPr vert="horz" wrap="square" lIns="68580" tIns="34290" rIns="68580" bIns="34290" numCol="1" rtlCol="0" anchor="b" anchorCtr="0" compatLnSpc="1">
            <a:normAutofit/>
          </a:bodyPr>
          <a:lstStyle/>
          <a:p>
            <a:pPr defTabSz="685800" fontAlgn="base">
              <a:lnSpc>
                <a:spcPct val="100000"/>
              </a:lnSpc>
              <a:spcAft>
                <a:spcPct val="0"/>
              </a:spcAft>
              <a:defRPr/>
            </a:pPr>
            <a:r>
              <a:rPr lang="zh-CN" altLang="en-US" sz="2700" b="1" i="1" kern="0" dirty="0">
                <a:solidFill>
                  <a:schemeClr val="tx2"/>
                </a:solidFill>
                <a:effectLst>
                  <a:outerShdw blurRad="38100" dist="38100" dir="2700000" algn="tl">
                    <a:srgbClr val="C0C0C0"/>
                  </a:outerShdw>
                </a:effectLst>
                <a:latin typeface="+mj-lt"/>
                <a:ea typeface="+mj-ea"/>
              </a:rPr>
              <a:t>零配件采购子系统</a:t>
            </a:r>
            <a:r>
              <a:rPr lang="en-US" altLang="zh-CN" sz="2700" b="1" i="1" kern="0" dirty="0">
                <a:solidFill>
                  <a:schemeClr val="tx2"/>
                </a:solidFill>
                <a:effectLst>
                  <a:outerShdw blurRad="38100" dist="38100" dir="2700000" algn="tl">
                    <a:srgbClr val="C0C0C0"/>
                  </a:outerShdw>
                </a:effectLst>
                <a:latin typeface="+mj-lt"/>
                <a:ea typeface="+mj-ea"/>
              </a:rPr>
              <a:t>DFD</a:t>
            </a:r>
            <a:endParaRPr lang="en-US" altLang="zh-CN" sz="2400" b="1" i="1" kern="0" dirty="0">
              <a:solidFill>
                <a:schemeClr val="folHlink"/>
              </a:solidFill>
              <a:latin typeface="+mj-lt"/>
              <a:ea typeface="+mj-ea"/>
            </a:endParaRPr>
          </a:p>
        </p:txBody>
      </p:sp>
      <p:grpSp>
        <p:nvGrpSpPr>
          <p:cNvPr id="5" name="组合 4">
            <a:extLst>
              <a:ext uri="{FF2B5EF4-FFF2-40B4-BE49-F238E27FC236}">
                <a16:creationId xmlns:a16="http://schemas.microsoft.com/office/drawing/2014/main" id="{8BFD6D24-01E1-08E9-91B7-F70E20CD04ED}"/>
              </a:ext>
            </a:extLst>
          </p:cNvPr>
          <p:cNvGrpSpPr/>
          <p:nvPr/>
        </p:nvGrpSpPr>
        <p:grpSpPr>
          <a:xfrm>
            <a:off x="2749980" y="644391"/>
            <a:ext cx="6307931" cy="4071937"/>
            <a:chOff x="2749980" y="644391"/>
            <a:chExt cx="6307931" cy="4071937"/>
          </a:xfrm>
        </p:grpSpPr>
        <p:sp>
          <p:nvSpPr>
            <p:cNvPr id="26626" name="Oval 3"/>
            <p:cNvSpPr/>
            <p:nvPr/>
          </p:nvSpPr>
          <p:spPr>
            <a:xfrm>
              <a:off x="3835830" y="1630228"/>
              <a:ext cx="971550" cy="9144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solidFill>
                    <a:schemeClr val="bg1"/>
                  </a:solidFill>
                  <a:latin typeface="Microsoft YaHei" panose="020B0503020204020204" pitchFamily="34" charset="-122"/>
                  <a:ea typeface="Microsoft YaHei" panose="020B0503020204020204" pitchFamily="34" charset="-122"/>
                </a:rPr>
                <a:t>核对</a:t>
              </a:r>
            </a:p>
            <a:p>
              <a:pPr algn="ctr"/>
              <a:r>
                <a:rPr lang="zh-CN" altLang="en-US" sz="1350" dirty="0">
                  <a:solidFill>
                    <a:schemeClr val="bg1"/>
                  </a:solidFill>
                  <a:latin typeface="Microsoft YaHei" panose="020B0503020204020204" pitchFamily="34" charset="-122"/>
                  <a:ea typeface="Microsoft YaHei" panose="020B0503020204020204" pitchFamily="34" charset="-122"/>
                </a:rPr>
                <a:t>预算</a:t>
              </a:r>
            </a:p>
          </p:txBody>
        </p:sp>
        <p:sp>
          <p:nvSpPr>
            <p:cNvPr id="26627" name="Oval 4"/>
            <p:cNvSpPr/>
            <p:nvPr/>
          </p:nvSpPr>
          <p:spPr>
            <a:xfrm>
              <a:off x="6253990" y="1462350"/>
              <a:ext cx="1143000" cy="108585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solidFill>
                    <a:schemeClr val="bg1"/>
                  </a:solidFill>
                  <a:latin typeface="Microsoft YaHei" panose="020B0503020204020204" pitchFamily="34" charset="-122"/>
                  <a:ea typeface="Microsoft YaHei" panose="020B0503020204020204" pitchFamily="34" charset="-122"/>
                </a:rPr>
                <a:t>确定采</a:t>
              </a:r>
            </a:p>
            <a:p>
              <a:pPr algn="ctr"/>
              <a:r>
                <a:rPr lang="zh-CN" altLang="en-US" sz="1350" dirty="0">
                  <a:solidFill>
                    <a:schemeClr val="bg1"/>
                  </a:solidFill>
                  <a:latin typeface="Microsoft YaHei" panose="020B0503020204020204" pitchFamily="34" charset="-122"/>
                  <a:ea typeface="Microsoft YaHei" panose="020B0503020204020204" pitchFamily="34" charset="-122"/>
                </a:rPr>
                <a:t>购计划</a:t>
              </a:r>
            </a:p>
          </p:txBody>
        </p:sp>
        <p:sp>
          <p:nvSpPr>
            <p:cNvPr id="26628" name="Oval 5"/>
            <p:cNvSpPr/>
            <p:nvPr/>
          </p:nvSpPr>
          <p:spPr>
            <a:xfrm>
              <a:off x="6278993" y="3287578"/>
              <a:ext cx="1085850" cy="97155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solidFill>
                    <a:schemeClr val="bg1"/>
                  </a:solidFill>
                  <a:latin typeface="Microsoft YaHei" panose="020B0503020204020204" pitchFamily="34" charset="-122"/>
                  <a:ea typeface="Microsoft YaHei" panose="020B0503020204020204" pitchFamily="34" charset="-122"/>
                </a:rPr>
                <a:t>编制</a:t>
              </a:r>
            </a:p>
            <a:p>
              <a:pPr algn="ctr"/>
              <a:r>
                <a:rPr lang="zh-CN" altLang="en-US" sz="1350" dirty="0">
                  <a:solidFill>
                    <a:schemeClr val="bg1"/>
                  </a:solidFill>
                  <a:latin typeface="Microsoft YaHei" panose="020B0503020204020204" pitchFamily="34" charset="-122"/>
                  <a:ea typeface="Microsoft YaHei" panose="020B0503020204020204" pitchFamily="34" charset="-122"/>
                </a:rPr>
                <a:t>订货单</a:t>
              </a:r>
            </a:p>
          </p:txBody>
        </p:sp>
        <p:grpSp>
          <p:nvGrpSpPr>
            <p:cNvPr id="26629" name="Group 6"/>
            <p:cNvGrpSpPr/>
            <p:nvPr/>
          </p:nvGrpSpPr>
          <p:grpSpPr>
            <a:xfrm>
              <a:off x="7857761" y="2537484"/>
              <a:ext cx="1200150" cy="457200"/>
              <a:chOff x="0" y="0"/>
              <a:chExt cx="1008" cy="384"/>
            </a:xfrm>
          </p:grpSpPr>
          <p:grpSp>
            <p:nvGrpSpPr>
              <p:cNvPr id="26630" name="Group 7"/>
              <p:cNvGrpSpPr/>
              <p:nvPr/>
            </p:nvGrpSpPr>
            <p:grpSpPr>
              <a:xfrm>
                <a:off x="0" y="0"/>
                <a:ext cx="1008" cy="384"/>
                <a:chOff x="0" y="0"/>
                <a:chExt cx="1008" cy="384"/>
              </a:xfrm>
            </p:grpSpPr>
            <p:sp>
              <p:nvSpPr>
                <p:cNvPr id="26631" name="Line 8"/>
                <p:cNvSpPr/>
                <p:nvPr/>
              </p:nvSpPr>
              <p:spPr>
                <a:xfrm>
                  <a:off x="0" y="0"/>
                  <a:ext cx="0" cy="384"/>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32" name="Line 9"/>
                <p:cNvSpPr/>
                <p:nvPr/>
              </p:nvSpPr>
              <p:spPr>
                <a:xfrm>
                  <a:off x="0" y="0"/>
                  <a:ext cx="1008"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33" name="Line 10"/>
                <p:cNvSpPr/>
                <p:nvPr/>
              </p:nvSpPr>
              <p:spPr>
                <a:xfrm>
                  <a:off x="0" y="384"/>
                  <a:ext cx="1008"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34" name="Line 11"/>
                <p:cNvSpPr/>
                <p:nvPr/>
              </p:nvSpPr>
              <p:spPr>
                <a:xfrm>
                  <a:off x="192" y="0"/>
                  <a:ext cx="0" cy="384"/>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26635" name="Text Box 12"/>
              <p:cNvSpPr txBox="1"/>
              <p:nvPr/>
            </p:nvSpPr>
            <p:spPr>
              <a:xfrm>
                <a:off x="198" y="36"/>
                <a:ext cx="768" cy="252"/>
              </a:xfrm>
              <a:prstGeom prst="rect">
                <a:avLst/>
              </a:prstGeom>
              <a:noFill/>
              <a:ln w="9525">
                <a:noFill/>
              </a:ln>
            </p:spPr>
            <p:txBody>
              <a:bodyPr anchor="t" anchorCtr="0">
                <a:spAutoFit/>
              </a:bodyPr>
              <a:lstStyle/>
              <a:p>
                <a:pPr>
                  <a:spcBef>
                    <a:spcPct val="50000"/>
                  </a:spcBef>
                </a:pPr>
                <a:r>
                  <a:rPr lang="zh-CN" altLang="en-US" sz="1350" dirty="0">
                    <a:latin typeface="Microsoft YaHei" panose="020B0503020204020204" pitchFamily="34" charset="-122"/>
                    <a:ea typeface="Microsoft YaHei" panose="020B0503020204020204" pitchFamily="34" charset="-122"/>
                  </a:rPr>
                  <a:t>供应商</a:t>
                </a:r>
              </a:p>
            </p:txBody>
          </p:sp>
        </p:grpSp>
        <p:sp>
          <p:nvSpPr>
            <p:cNvPr id="26636" name="Line 13"/>
            <p:cNvSpPr/>
            <p:nvPr/>
          </p:nvSpPr>
          <p:spPr>
            <a:xfrm>
              <a:off x="4121580" y="1001578"/>
              <a:ext cx="0" cy="685800"/>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37" name="Line 14"/>
            <p:cNvSpPr/>
            <p:nvPr/>
          </p:nvSpPr>
          <p:spPr>
            <a:xfrm flipH="1">
              <a:off x="4635930" y="1001578"/>
              <a:ext cx="514350" cy="742950"/>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38" name="Line 15"/>
            <p:cNvSpPr/>
            <p:nvPr/>
          </p:nvSpPr>
          <p:spPr>
            <a:xfrm>
              <a:off x="6750480" y="1023009"/>
              <a:ext cx="0" cy="457200"/>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39" name="Line 16"/>
            <p:cNvSpPr/>
            <p:nvPr/>
          </p:nvSpPr>
          <p:spPr>
            <a:xfrm flipH="1">
              <a:off x="7150530" y="1058728"/>
              <a:ext cx="800100" cy="514350"/>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nvGrpSpPr>
            <p:cNvPr id="26640" name="Group 17"/>
            <p:cNvGrpSpPr/>
            <p:nvPr/>
          </p:nvGrpSpPr>
          <p:grpSpPr>
            <a:xfrm>
              <a:off x="4007280" y="4201978"/>
              <a:ext cx="2114550" cy="457200"/>
              <a:chOff x="0" y="0"/>
              <a:chExt cx="1776" cy="384"/>
            </a:xfrm>
          </p:grpSpPr>
          <p:sp>
            <p:nvSpPr>
              <p:cNvPr id="26641" name="Line 18"/>
              <p:cNvSpPr/>
              <p:nvPr/>
            </p:nvSpPr>
            <p:spPr>
              <a:xfrm>
                <a:off x="0" y="0"/>
                <a:ext cx="0" cy="384"/>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42" name="Line 19"/>
              <p:cNvSpPr/>
              <p:nvPr/>
            </p:nvSpPr>
            <p:spPr>
              <a:xfrm>
                <a:off x="0" y="0"/>
                <a:ext cx="1776"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43" name="Line 20"/>
              <p:cNvSpPr/>
              <p:nvPr/>
            </p:nvSpPr>
            <p:spPr>
              <a:xfrm>
                <a:off x="0" y="384"/>
                <a:ext cx="1776"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44" name="Line 21"/>
              <p:cNvSpPr/>
              <p:nvPr/>
            </p:nvSpPr>
            <p:spPr>
              <a:xfrm>
                <a:off x="212" y="0"/>
                <a:ext cx="0" cy="384"/>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45" name="Text Box 22"/>
              <p:cNvSpPr txBox="1"/>
              <p:nvPr/>
            </p:nvSpPr>
            <p:spPr>
              <a:xfrm>
                <a:off x="240" y="48"/>
                <a:ext cx="1499" cy="252"/>
              </a:xfrm>
              <a:prstGeom prst="rect">
                <a:avLst/>
              </a:prstGeom>
              <a:noFill/>
              <a:ln w="9525">
                <a:noFill/>
              </a:ln>
            </p:spPr>
            <p:txBody>
              <a:bodyPr anchor="t" anchorCtr="0">
                <a:spAutoFit/>
              </a:bodyPr>
              <a:lstStyle/>
              <a:p>
                <a:pPr>
                  <a:spcBef>
                    <a:spcPct val="50000"/>
                  </a:spcBef>
                </a:pPr>
                <a:r>
                  <a:rPr lang="zh-CN" altLang="en-US" sz="1350" dirty="0">
                    <a:latin typeface="Microsoft YaHei" panose="020B0503020204020204" pitchFamily="34" charset="-122"/>
                    <a:ea typeface="Microsoft YaHei" panose="020B0503020204020204" pitchFamily="34" charset="-122"/>
                  </a:rPr>
                  <a:t>零配件采购记录</a:t>
                </a:r>
              </a:p>
            </p:txBody>
          </p:sp>
        </p:grpSp>
        <p:grpSp>
          <p:nvGrpSpPr>
            <p:cNvPr id="26646" name="Group 23"/>
            <p:cNvGrpSpPr/>
            <p:nvPr/>
          </p:nvGrpSpPr>
          <p:grpSpPr>
            <a:xfrm>
              <a:off x="7379130" y="3001828"/>
              <a:ext cx="971550" cy="742950"/>
              <a:chOff x="0" y="0"/>
              <a:chExt cx="816" cy="624"/>
            </a:xfrm>
          </p:grpSpPr>
          <p:sp>
            <p:nvSpPr>
              <p:cNvPr id="26647" name="Line 24"/>
              <p:cNvSpPr/>
              <p:nvPr/>
            </p:nvSpPr>
            <p:spPr>
              <a:xfrm>
                <a:off x="816" y="0"/>
                <a:ext cx="0" cy="624"/>
              </a:xfrm>
              <a:prstGeom prst="line">
                <a:avLst/>
              </a:prstGeom>
              <a:ln w="38100" cap="flat" cmpd="sng">
                <a:solidFill>
                  <a:schemeClr val="hlink"/>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48" name="Line 25"/>
              <p:cNvSpPr/>
              <p:nvPr/>
            </p:nvSpPr>
            <p:spPr>
              <a:xfrm flipH="1">
                <a:off x="0" y="624"/>
                <a:ext cx="816" cy="0"/>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26649" name="Line 26"/>
            <p:cNvSpPr/>
            <p:nvPr/>
          </p:nvSpPr>
          <p:spPr>
            <a:xfrm>
              <a:off x="4818096" y="2030278"/>
              <a:ext cx="1428750" cy="0"/>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nvGrpSpPr>
            <p:cNvPr id="26650" name="Group 27"/>
            <p:cNvGrpSpPr/>
            <p:nvPr/>
          </p:nvGrpSpPr>
          <p:grpSpPr>
            <a:xfrm>
              <a:off x="2864280" y="1583794"/>
              <a:ext cx="1257300" cy="389334"/>
              <a:chOff x="0" y="0"/>
              <a:chExt cx="1056" cy="327"/>
            </a:xfrm>
          </p:grpSpPr>
          <p:sp>
            <p:nvSpPr>
              <p:cNvPr id="26651" name="Line 28"/>
              <p:cNvSpPr/>
              <p:nvPr/>
            </p:nvSpPr>
            <p:spPr>
              <a:xfrm>
                <a:off x="0" y="327"/>
                <a:ext cx="816" cy="0"/>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52" name="Text Box 29"/>
              <p:cNvSpPr txBox="1"/>
              <p:nvPr/>
            </p:nvSpPr>
            <p:spPr>
              <a:xfrm>
                <a:off x="48" y="0"/>
                <a:ext cx="1008" cy="271"/>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生产计划</a:t>
                </a:r>
              </a:p>
            </p:txBody>
          </p:sp>
        </p:grpSp>
        <p:grpSp>
          <p:nvGrpSpPr>
            <p:cNvPr id="26653" name="Group 30"/>
            <p:cNvGrpSpPr/>
            <p:nvPr/>
          </p:nvGrpSpPr>
          <p:grpSpPr>
            <a:xfrm>
              <a:off x="2749980" y="2258878"/>
              <a:ext cx="1228725" cy="433388"/>
              <a:chOff x="0" y="0"/>
              <a:chExt cx="1032" cy="364"/>
            </a:xfrm>
          </p:grpSpPr>
          <p:sp>
            <p:nvSpPr>
              <p:cNvPr id="26654" name="Line 31"/>
              <p:cNvSpPr/>
              <p:nvPr/>
            </p:nvSpPr>
            <p:spPr>
              <a:xfrm flipH="1">
                <a:off x="75" y="0"/>
                <a:ext cx="864" cy="0"/>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55" name="Text Box 32"/>
              <p:cNvSpPr txBox="1"/>
              <p:nvPr/>
            </p:nvSpPr>
            <p:spPr>
              <a:xfrm>
                <a:off x="0" y="93"/>
                <a:ext cx="1032" cy="271"/>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批准</a:t>
                </a:r>
                <a:r>
                  <a:rPr lang="en-US" altLang="zh-CN" sz="1500" dirty="0">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不批准</a:t>
                </a:r>
              </a:p>
            </p:txBody>
          </p:sp>
        </p:grpSp>
        <p:grpSp>
          <p:nvGrpSpPr>
            <p:cNvPr id="26656" name="Group 33"/>
            <p:cNvGrpSpPr/>
            <p:nvPr/>
          </p:nvGrpSpPr>
          <p:grpSpPr>
            <a:xfrm>
              <a:off x="4464480" y="2533913"/>
              <a:ext cx="1314450" cy="1268015"/>
              <a:chOff x="0" y="0"/>
              <a:chExt cx="1125" cy="960"/>
            </a:xfrm>
          </p:grpSpPr>
          <p:sp>
            <p:nvSpPr>
              <p:cNvPr id="26657" name="Text Box 34"/>
              <p:cNvSpPr txBox="1"/>
              <p:nvPr/>
            </p:nvSpPr>
            <p:spPr>
              <a:xfrm>
                <a:off x="24" y="270"/>
                <a:ext cx="1101" cy="245"/>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批准</a:t>
                </a:r>
                <a:r>
                  <a:rPr lang="en-US" altLang="zh-CN" sz="1500" dirty="0">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不批准</a:t>
                </a:r>
              </a:p>
            </p:txBody>
          </p:sp>
          <p:sp>
            <p:nvSpPr>
              <p:cNvPr id="26658" name="Line 35"/>
              <p:cNvSpPr/>
              <p:nvPr/>
            </p:nvSpPr>
            <p:spPr>
              <a:xfrm flipV="1">
                <a:off x="0" y="0"/>
                <a:ext cx="0" cy="960"/>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26659" name="Group 36"/>
            <p:cNvGrpSpPr/>
            <p:nvPr/>
          </p:nvGrpSpPr>
          <p:grpSpPr>
            <a:xfrm>
              <a:off x="3575084" y="2498194"/>
              <a:ext cx="571500" cy="1314450"/>
              <a:chOff x="0" y="0"/>
              <a:chExt cx="480" cy="1104"/>
            </a:xfrm>
          </p:grpSpPr>
          <p:sp>
            <p:nvSpPr>
              <p:cNvPr id="26660" name="Line 37"/>
              <p:cNvSpPr/>
              <p:nvPr/>
            </p:nvSpPr>
            <p:spPr>
              <a:xfrm>
                <a:off x="459" y="0"/>
                <a:ext cx="0" cy="1104"/>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61" name="Text Box 38"/>
              <p:cNvSpPr txBox="1"/>
              <p:nvPr/>
            </p:nvSpPr>
            <p:spPr>
              <a:xfrm>
                <a:off x="0" y="288"/>
                <a:ext cx="480" cy="465"/>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核对预算</a:t>
                </a:r>
              </a:p>
            </p:txBody>
          </p:sp>
        </p:grpSp>
        <p:grpSp>
          <p:nvGrpSpPr>
            <p:cNvPr id="26662" name="Group 39"/>
            <p:cNvGrpSpPr/>
            <p:nvPr/>
          </p:nvGrpSpPr>
          <p:grpSpPr>
            <a:xfrm>
              <a:off x="3600086" y="655107"/>
              <a:ext cx="953691" cy="658416"/>
              <a:chOff x="0" y="0"/>
              <a:chExt cx="801" cy="553"/>
            </a:xfrm>
          </p:grpSpPr>
          <p:grpSp>
            <p:nvGrpSpPr>
              <p:cNvPr id="26663" name="Group 40"/>
              <p:cNvGrpSpPr/>
              <p:nvPr/>
            </p:nvGrpSpPr>
            <p:grpSpPr>
              <a:xfrm>
                <a:off x="102" y="0"/>
                <a:ext cx="699" cy="288"/>
                <a:chOff x="0" y="0"/>
                <a:chExt cx="699" cy="288"/>
              </a:xfrm>
            </p:grpSpPr>
            <p:grpSp>
              <p:nvGrpSpPr>
                <p:cNvPr id="26664" name="Group 41"/>
                <p:cNvGrpSpPr/>
                <p:nvPr/>
              </p:nvGrpSpPr>
              <p:grpSpPr>
                <a:xfrm>
                  <a:off x="0" y="0"/>
                  <a:ext cx="672" cy="288"/>
                  <a:chOff x="0" y="0"/>
                  <a:chExt cx="1008" cy="384"/>
                </a:xfrm>
              </p:grpSpPr>
              <p:sp>
                <p:nvSpPr>
                  <p:cNvPr id="26665" name="Line 42"/>
                  <p:cNvSpPr/>
                  <p:nvPr/>
                </p:nvSpPr>
                <p:spPr>
                  <a:xfrm>
                    <a:off x="0" y="0"/>
                    <a:ext cx="0" cy="384"/>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66" name="Line 43"/>
                  <p:cNvSpPr/>
                  <p:nvPr/>
                </p:nvSpPr>
                <p:spPr>
                  <a:xfrm>
                    <a:off x="0" y="0"/>
                    <a:ext cx="1008"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67" name="Line 44"/>
                  <p:cNvSpPr/>
                  <p:nvPr/>
                </p:nvSpPr>
                <p:spPr>
                  <a:xfrm>
                    <a:off x="0" y="384"/>
                    <a:ext cx="1008"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68" name="Line 45"/>
                  <p:cNvSpPr/>
                  <p:nvPr/>
                </p:nvSpPr>
                <p:spPr>
                  <a:xfrm>
                    <a:off x="192" y="0"/>
                    <a:ext cx="0" cy="384"/>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26669" name="Text Box 46"/>
                <p:cNvSpPr txBox="1"/>
                <p:nvPr/>
              </p:nvSpPr>
              <p:spPr>
                <a:xfrm>
                  <a:off x="123" y="3"/>
                  <a:ext cx="576" cy="252"/>
                </a:xfrm>
                <a:prstGeom prst="rect">
                  <a:avLst/>
                </a:prstGeom>
                <a:noFill/>
                <a:ln w="9525">
                  <a:noFill/>
                </a:ln>
              </p:spPr>
              <p:txBody>
                <a:bodyPr anchor="t" anchorCtr="0">
                  <a:spAutoFit/>
                </a:bodyPr>
                <a:lstStyle/>
                <a:p>
                  <a:pPr>
                    <a:spcBef>
                      <a:spcPct val="50000"/>
                    </a:spcBef>
                  </a:pPr>
                  <a:r>
                    <a:rPr lang="zh-CN" altLang="en-US" sz="1350" dirty="0">
                      <a:latin typeface="Microsoft YaHei" panose="020B0503020204020204" pitchFamily="34" charset="-122"/>
                      <a:ea typeface="Microsoft YaHei" panose="020B0503020204020204" pitchFamily="34" charset="-122"/>
                    </a:rPr>
                    <a:t>产品</a:t>
                  </a:r>
                </a:p>
              </p:txBody>
            </p:sp>
          </p:grpSp>
          <p:sp>
            <p:nvSpPr>
              <p:cNvPr id="26670" name="Text Box 47"/>
              <p:cNvSpPr txBox="1"/>
              <p:nvPr/>
            </p:nvSpPr>
            <p:spPr>
              <a:xfrm>
                <a:off x="0" y="282"/>
                <a:ext cx="480" cy="271"/>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预算</a:t>
                </a:r>
              </a:p>
            </p:txBody>
          </p:sp>
        </p:grpSp>
        <p:grpSp>
          <p:nvGrpSpPr>
            <p:cNvPr id="26671" name="Group 48"/>
            <p:cNvGrpSpPr/>
            <p:nvPr/>
          </p:nvGrpSpPr>
          <p:grpSpPr>
            <a:xfrm>
              <a:off x="4825240" y="655106"/>
              <a:ext cx="882253" cy="654844"/>
              <a:chOff x="0" y="0"/>
              <a:chExt cx="741" cy="550"/>
            </a:xfrm>
          </p:grpSpPr>
          <p:grpSp>
            <p:nvGrpSpPr>
              <p:cNvPr id="26672" name="Group 49"/>
              <p:cNvGrpSpPr/>
              <p:nvPr/>
            </p:nvGrpSpPr>
            <p:grpSpPr>
              <a:xfrm>
                <a:off x="0" y="0"/>
                <a:ext cx="672" cy="291"/>
                <a:chOff x="0" y="0"/>
                <a:chExt cx="672" cy="291"/>
              </a:xfrm>
            </p:grpSpPr>
            <p:grpSp>
              <p:nvGrpSpPr>
                <p:cNvPr id="26673" name="Group 50"/>
                <p:cNvGrpSpPr/>
                <p:nvPr/>
              </p:nvGrpSpPr>
              <p:grpSpPr>
                <a:xfrm>
                  <a:off x="0" y="3"/>
                  <a:ext cx="672" cy="288"/>
                  <a:chOff x="0" y="0"/>
                  <a:chExt cx="1008" cy="384"/>
                </a:xfrm>
              </p:grpSpPr>
              <p:sp>
                <p:nvSpPr>
                  <p:cNvPr id="26674" name="Line 51"/>
                  <p:cNvSpPr/>
                  <p:nvPr/>
                </p:nvSpPr>
                <p:spPr>
                  <a:xfrm>
                    <a:off x="0" y="0"/>
                    <a:ext cx="0" cy="384"/>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75" name="Line 52"/>
                  <p:cNvSpPr/>
                  <p:nvPr/>
                </p:nvSpPr>
                <p:spPr>
                  <a:xfrm>
                    <a:off x="0" y="0"/>
                    <a:ext cx="1008"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76" name="Line 53"/>
                  <p:cNvSpPr/>
                  <p:nvPr/>
                </p:nvSpPr>
                <p:spPr>
                  <a:xfrm>
                    <a:off x="0" y="384"/>
                    <a:ext cx="1008"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77" name="Line 54"/>
                  <p:cNvSpPr/>
                  <p:nvPr/>
                </p:nvSpPr>
                <p:spPr>
                  <a:xfrm>
                    <a:off x="192" y="0"/>
                    <a:ext cx="0" cy="384"/>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26678" name="Text Box 55"/>
                <p:cNvSpPr txBox="1"/>
                <p:nvPr/>
              </p:nvSpPr>
              <p:spPr>
                <a:xfrm>
                  <a:off x="117" y="0"/>
                  <a:ext cx="528" cy="252"/>
                </a:xfrm>
                <a:prstGeom prst="rect">
                  <a:avLst/>
                </a:prstGeom>
                <a:noFill/>
                <a:ln w="9525">
                  <a:noFill/>
                </a:ln>
              </p:spPr>
              <p:txBody>
                <a:bodyPr anchor="t" anchorCtr="0">
                  <a:spAutoFit/>
                </a:bodyPr>
                <a:lstStyle/>
                <a:p>
                  <a:pPr>
                    <a:spcBef>
                      <a:spcPct val="50000"/>
                    </a:spcBef>
                  </a:pPr>
                  <a:r>
                    <a:rPr lang="zh-CN" altLang="en-US" sz="1350" dirty="0">
                      <a:latin typeface="Microsoft YaHei" panose="020B0503020204020204" pitchFamily="34" charset="-122"/>
                      <a:ea typeface="Microsoft YaHei" panose="020B0503020204020204" pitchFamily="34" charset="-122"/>
                    </a:rPr>
                    <a:t>零件</a:t>
                  </a:r>
                </a:p>
              </p:txBody>
            </p:sp>
          </p:grpSp>
          <p:sp>
            <p:nvSpPr>
              <p:cNvPr id="26679" name="Text Box 56"/>
              <p:cNvSpPr txBox="1"/>
              <p:nvPr/>
            </p:nvSpPr>
            <p:spPr>
              <a:xfrm>
                <a:off x="213" y="279"/>
                <a:ext cx="528" cy="271"/>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价格</a:t>
                </a:r>
              </a:p>
            </p:txBody>
          </p:sp>
        </p:grpSp>
        <p:grpSp>
          <p:nvGrpSpPr>
            <p:cNvPr id="26680" name="Group 57"/>
            <p:cNvGrpSpPr/>
            <p:nvPr/>
          </p:nvGrpSpPr>
          <p:grpSpPr>
            <a:xfrm>
              <a:off x="6086112" y="672966"/>
              <a:ext cx="1078706" cy="653653"/>
              <a:chOff x="0" y="0"/>
              <a:chExt cx="906" cy="549"/>
            </a:xfrm>
          </p:grpSpPr>
          <p:grpSp>
            <p:nvGrpSpPr>
              <p:cNvPr id="26681" name="Group 58"/>
              <p:cNvGrpSpPr/>
              <p:nvPr/>
            </p:nvGrpSpPr>
            <p:grpSpPr>
              <a:xfrm>
                <a:off x="186" y="0"/>
                <a:ext cx="720" cy="288"/>
                <a:chOff x="0" y="0"/>
                <a:chExt cx="720" cy="288"/>
              </a:xfrm>
            </p:grpSpPr>
            <p:grpSp>
              <p:nvGrpSpPr>
                <p:cNvPr id="26682" name="Group 59"/>
                <p:cNvGrpSpPr/>
                <p:nvPr/>
              </p:nvGrpSpPr>
              <p:grpSpPr>
                <a:xfrm>
                  <a:off x="0" y="0"/>
                  <a:ext cx="672" cy="288"/>
                  <a:chOff x="0" y="0"/>
                  <a:chExt cx="1008" cy="384"/>
                </a:xfrm>
              </p:grpSpPr>
              <p:sp>
                <p:nvSpPr>
                  <p:cNvPr id="26683" name="Line 60"/>
                  <p:cNvSpPr/>
                  <p:nvPr/>
                </p:nvSpPr>
                <p:spPr>
                  <a:xfrm>
                    <a:off x="0" y="0"/>
                    <a:ext cx="0" cy="384"/>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84" name="Line 61"/>
                  <p:cNvSpPr/>
                  <p:nvPr/>
                </p:nvSpPr>
                <p:spPr>
                  <a:xfrm>
                    <a:off x="0" y="0"/>
                    <a:ext cx="1008"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85" name="Line 62"/>
                  <p:cNvSpPr/>
                  <p:nvPr/>
                </p:nvSpPr>
                <p:spPr>
                  <a:xfrm>
                    <a:off x="0" y="384"/>
                    <a:ext cx="1008"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86" name="Line 63"/>
                  <p:cNvSpPr/>
                  <p:nvPr/>
                </p:nvSpPr>
                <p:spPr>
                  <a:xfrm>
                    <a:off x="192" y="0"/>
                    <a:ext cx="0" cy="384"/>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26687" name="Text Box 64"/>
                <p:cNvSpPr txBox="1"/>
                <p:nvPr/>
              </p:nvSpPr>
              <p:spPr>
                <a:xfrm>
                  <a:off x="144" y="0"/>
                  <a:ext cx="576" cy="252"/>
                </a:xfrm>
                <a:prstGeom prst="rect">
                  <a:avLst/>
                </a:prstGeom>
                <a:noFill/>
                <a:ln w="9525">
                  <a:noFill/>
                </a:ln>
              </p:spPr>
              <p:txBody>
                <a:bodyPr anchor="t" anchorCtr="0">
                  <a:spAutoFit/>
                </a:bodyPr>
                <a:lstStyle/>
                <a:p>
                  <a:pPr>
                    <a:spcBef>
                      <a:spcPct val="50000"/>
                    </a:spcBef>
                  </a:pPr>
                  <a:r>
                    <a:rPr lang="zh-CN" altLang="en-US" sz="1350" dirty="0">
                      <a:latin typeface="Microsoft YaHei" panose="020B0503020204020204" pitchFamily="34" charset="-122"/>
                      <a:ea typeface="Microsoft YaHei" panose="020B0503020204020204" pitchFamily="34" charset="-122"/>
                    </a:rPr>
                    <a:t>零件</a:t>
                  </a:r>
                </a:p>
              </p:txBody>
            </p:sp>
          </p:grpSp>
          <p:sp>
            <p:nvSpPr>
              <p:cNvPr id="26688" name="Text Box 65"/>
              <p:cNvSpPr txBox="1"/>
              <p:nvPr/>
            </p:nvSpPr>
            <p:spPr>
              <a:xfrm>
                <a:off x="0" y="278"/>
                <a:ext cx="672" cy="271"/>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库存量</a:t>
                </a:r>
              </a:p>
            </p:txBody>
          </p:sp>
        </p:grpSp>
        <p:grpSp>
          <p:nvGrpSpPr>
            <p:cNvPr id="26689" name="Group 66"/>
            <p:cNvGrpSpPr/>
            <p:nvPr/>
          </p:nvGrpSpPr>
          <p:grpSpPr>
            <a:xfrm>
              <a:off x="7561296" y="644391"/>
              <a:ext cx="1389459" cy="740569"/>
              <a:chOff x="0" y="0"/>
              <a:chExt cx="1167" cy="622"/>
            </a:xfrm>
          </p:grpSpPr>
          <p:grpSp>
            <p:nvGrpSpPr>
              <p:cNvPr id="26690" name="Group 67"/>
              <p:cNvGrpSpPr/>
              <p:nvPr/>
            </p:nvGrpSpPr>
            <p:grpSpPr>
              <a:xfrm>
                <a:off x="0" y="0"/>
                <a:ext cx="960" cy="348"/>
                <a:chOff x="0" y="0"/>
                <a:chExt cx="960" cy="348"/>
              </a:xfrm>
            </p:grpSpPr>
            <p:grpSp>
              <p:nvGrpSpPr>
                <p:cNvPr id="26691" name="Group 68"/>
                <p:cNvGrpSpPr/>
                <p:nvPr/>
              </p:nvGrpSpPr>
              <p:grpSpPr>
                <a:xfrm>
                  <a:off x="0" y="3"/>
                  <a:ext cx="960" cy="345"/>
                  <a:chOff x="0" y="0"/>
                  <a:chExt cx="1008" cy="384"/>
                </a:xfrm>
              </p:grpSpPr>
              <p:sp>
                <p:nvSpPr>
                  <p:cNvPr id="26692" name="Line 69"/>
                  <p:cNvSpPr/>
                  <p:nvPr/>
                </p:nvSpPr>
                <p:spPr>
                  <a:xfrm>
                    <a:off x="0" y="0"/>
                    <a:ext cx="0" cy="384"/>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93" name="Line 70"/>
                  <p:cNvSpPr/>
                  <p:nvPr/>
                </p:nvSpPr>
                <p:spPr>
                  <a:xfrm>
                    <a:off x="0" y="0"/>
                    <a:ext cx="1008"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94" name="Line 71"/>
                  <p:cNvSpPr/>
                  <p:nvPr/>
                </p:nvSpPr>
                <p:spPr>
                  <a:xfrm>
                    <a:off x="0" y="384"/>
                    <a:ext cx="1008" cy="0"/>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695" name="Line 72"/>
                  <p:cNvSpPr/>
                  <p:nvPr/>
                </p:nvSpPr>
                <p:spPr>
                  <a:xfrm>
                    <a:off x="192" y="0"/>
                    <a:ext cx="0" cy="384"/>
                  </a:xfrm>
                  <a:prstGeom prst="line">
                    <a:avLst/>
                  </a:prstGeom>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26696" name="Text Box 73"/>
                <p:cNvSpPr txBox="1"/>
                <p:nvPr/>
              </p:nvSpPr>
              <p:spPr>
                <a:xfrm>
                  <a:off x="186" y="0"/>
                  <a:ext cx="768" cy="252"/>
                </a:xfrm>
                <a:prstGeom prst="rect">
                  <a:avLst/>
                </a:prstGeom>
                <a:noFill/>
                <a:ln w="9525">
                  <a:noFill/>
                </a:ln>
              </p:spPr>
              <p:txBody>
                <a:bodyPr anchor="t" anchorCtr="0">
                  <a:spAutoFit/>
                </a:bodyPr>
                <a:lstStyle/>
                <a:p>
                  <a:pPr>
                    <a:spcBef>
                      <a:spcPct val="50000"/>
                    </a:spcBef>
                  </a:pPr>
                  <a:r>
                    <a:rPr lang="zh-CN" altLang="en-US" sz="1350" dirty="0">
                      <a:latin typeface="Microsoft YaHei" panose="020B0503020204020204" pitchFamily="34" charset="-122"/>
                      <a:ea typeface="Microsoft YaHei" panose="020B0503020204020204" pitchFamily="34" charset="-122"/>
                    </a:rPr>
                    <a:t>报价单</a:t>
                  </a:r>
                </a:p>
              </p:txBody>
            </p:sp>
          </p:grpSp>
          <p:sp>
            <p:nvSpPr>
              <p:cNvPr id="26697" name="Text Box 74"/>
              <p:cNvSpPr txBox="1"/>
              <p:nvPr/>
            </p:nvSpPr>
            <p:spPr>
              <a:xfrm>
                <a:off x="207" y="351"/>
                <a:ext cx="960" cy="271"/>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供应商报价</a:t>
                </a:r>
              </a:p>
            </p:txBody>
          </p:sp>
        </p:grpSp>
        <p:grpSp>
          <p:nvGrpSpPr>
            <p:cNvPr id="26698" name="Group 75"/>
            <p:cNvGrpSpPr/>
            <p:nvPr/>
          </p:nvGrpSpPr>
          <p:grpSpPr>
            <a:xfrm>
              <a:off x="6275421" y="2544628"/>
              <a:ext cx="685800" cy="742950"/>
              <a:chOff x="0" y="0"/>
              <a:chExt cx="576" cy="624"/>
            </a:xfrm>
          </p:grpSpPr>
          <p:sp>
            <p:nvSpPr>
              <p:cNvPr id="26699" name="Line 76"/>
              <p:cNvSpPr/>
              <p:nvPr/>
            </p:nvSpPr>
            <p:spPr>
              <a:xfrm>
                <a:off x="447" y="0"/>
                <a:ext cx="0" cy="624"/>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700" name="Text Box 77"/>
              <p:cNvSpPr txBox="1"/>
              <p:nvPr/>
            </p:nvSpPr>
            <p:spPr>
              <a:xfrm>
                <a:off x="0" y="72"/>
                <a:ext cx="576" cy="465"/>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采购计划</a:t>
                </a:r>
              </a:p>
            </p:txBody>
          </p:sp>
        </p:grpSp>
        <p:grpSp>
          <p:nvGrpSpPr>
            <p:cNvPr id="26701" name="Group 78"/>
            <p:cNvGrpSpPr/>
            <p:nvPr/>
          </p:nvGrpSpPr>
          <p:grpSpPr>
            <a:xfrm>
              <a:off x="4953827" y="3401878"/>
              <a:ext cx="1403747" cy="800100"/>
              <a:chOff x="0" y="0"/>
              <a:chExt cx="1179" cy="672"/>
            </a:xfrm>
          </p:grpSpPr>
          <p:grpSp>
            <p:nvGrpSpPr>
              <p:cNvPr id="26702" name="Group 79"/>
              <p:cNvGrpSpPr/>
              <p:nvPr/>
            </p:nvGrpSpPr>
            <p:grpSpPr>
              <a:xfrm>
                <a:off x="0" y="288"/>
                <a:ext cx="1107" cy="384"/>
                <a:chOff x="0" y="0"/>
                <a:chExt cx="1107" cy="384"/>
              </a:xfrm>
            </p:grpSpPr>
            <p:sp>
              <p:nvSpPr>
                <p:cNvPr id="26703" name="Line 80"/>
                <p:cNvSpPr/>
                <p:nvPr/>
              </p:nvSpPr>
              <p:spPr>
                <a:xfrm>
                  <a:off x="3" y="0"/>
                  <a:ext cx="1104" cy="0"/>
                </a:xfrm>
                <a:prstGeom prst="line">
                  <a:avLst/>
                </a:prstGeom>
                <a:ln w="38100" cap="flat" cmpd="sng">
                  <a:solidFill>
                    <a:schemeClr val="hlink"/>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704" name="Line 81"/>
                <p:cNvSpPr/>
                <p:nvPr/>
              </p:nvSpPr>
              <p:spPr>
                <a:xfrm>
                  <a:off x="0" y="0"/>
                  <a:ext cx="0" cy="384"/>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26705" name="Text Box 82"/>
              <p:cNvSpPr txBox="1"/>
              <p:nvPr/>
            </p:nvSpPr>
            <p:spPr>
              <a:xfrm>
                <a:off x="171" y="0"/>
                <a:ext cx="1008" cy="271"/>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订单细节</a:t>
                </a:r>
              </a:p>
            </p:txBody>
          </p:sp>
        </p:grpSp>
        <p:grpSp>
          <p:nvGrpSpPr>
            <p:cNvPr id="26706" name="Group 83"/>
            <p:cNvGrpSpPr/>
            <p:nvPr/>
          </p:nvGrpSpPr>
          <p:grpSpPr>
            <a:xfrm>
              <a:off x="6807630" y="4259128"/>
              <a:ext cx="942975" cy="457200"/>
              <a:chOff x="0" y="0"/>
              <a:chExt cx="792" cy="384"/>
            </a:xfrm>
          </p:grpSpPr>
          <p:sp>
            <p:nvSpPr>
              <p:cNvPr id="26707" name="Line 84"/>
              <p:cNvSpPr/>
              <p:nvPr/>
            </p:nvSpPr>
            <p:spPr>
              <a:xfrm>
                <a:off x="0" y="0"/>
                <a:ext cx="0" cy="384"/>
              </a:xfrm>
              <a:prstGeom prst="line">
                <a:avLst/>
              </a:prstGeom>
              <a:ln w="38100" cap="flat" cmpd="sng">
                <a:solidFill>
                  <a:schemeClr val="hlink"/>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26708" name="Text Box 85"/>
              <p:cNvSpPr txBox="1"/>
              <p:nvPr/>
            </p:nvSpPr>
            <p:spPr>
              <a:xfrm>
                <a:off x="24" y="12"/>
                <a:ext cx="768" cy="271"/>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订货单</a:t>
                </a:r>
              </a:p>
            </p:txBody>
          </p:sp>
        </p:grpSp>
      </p:gr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noChangeArrowheads="1"/>
          </p:cNvSpPr>
          <p:nvPr>
            <p:custDataLst>
              <p:tags r:id="rId1"/>
            </p:custDataLst>
          </p:nvPr>
        </p:nvSpPr>
        <p:spPr>
          <a:xfrm>
            <a:off x="628650" y="1332854"/>
            <a:ext cx="7886700" cy="3027981"/>
          </a:xfrm>
          <a:prstGeom prst="rect">
            <a:avLst/>
          </a:prstGeom>
          <a:noFill/>
          <a:ln w="9525">
            <a:noFill/>
          </a:ln>
        </p:spPr>
        <p:txBody>
          <a:bodyPr vert="horz" wrap="square" lIns="68580" tIns="34290" rIns="68580" bIns="3429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0" indent="0" defTabSz="685800" eaLnBrk="1" hangingPunct="1">
              <a:defRPr/>
            </a:pPr>
            <a:r>
              <a:rPr lang="zh-CN" altLang="en-US" sz="1800" kern="0" dirty="0">
                <a:solidFill>
                  <a:schemeClr val="hlink"/>
                </a:solidFill>
                <a:latin typeface="Microsoft YaHei" panose="020B0503020204020204" pitchFamily="34" charset="-122"/>
                <a:ea typeface="Microsoft YaHei" panose="020B0503020204020204" pitchFamily="34" charset="-122"/>
              </a:rPr>
              <a:t> </a:t>
            </a:r>
            <a:r>
              <a:rPr lang="zh-CN" altLang="en-US"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数据项</a:t>
            </a:r>
            <a:r>
              <a:rPr lang="zh-CN" altLang="en-US"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sym typeface="+mn-ea"/>
              </a:rPr>
              <a:t>是不可再分的数据单位。</a:t>
            </a:r>
            <a:endParaRPr lang="zh-CN" altLang="en-US"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endParaRPr>
          </a:p>
          <a:p>
            <a:pPr marL="0" indent="0" defTabSz="685800" eaLnBrk="1" hangingPunct="1">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数据项描述＝｛数据项名，数据项含义说明，别名，数据类型，长度， 取值范围，取值含义，与其他数据项的逻辑关系｝</a:t>
            </a:r>
            <a:endParaRPr lang="en-US" altLang="zh-CN" sz="1800" kern="0" dirty="0">
              <a:latin typeface="Microsoft YaHei" panose="020B0503020204020204" pitchFamily="34" charset="-122"/>
              <a:ea typeface="Microsoft YaHei" panose="020B0503020204020204" pitchFamily="34" charset="-122"/>
            </a:endParaRPr>
          </a:p>
          <a:p>
            <a:pPr marL="0" indent="0" defTabSz="685800" eaLnBrk="1" hangingPunct="1">
              <a:buNone/>
              <a:defRPr/>
            </a:pPr>
            <a:endParaRPr lang="zh-CN" altLang="en-US" sz="1800" kern="0" dirty="0">
              <a:latin typeface="Microsoft YaHei" panose="020B0503020204020204" pitchFamily="34" charset="-122"/>
              <a:ea typeface="Microsoft YaHei" panose="020B0503020204020204" pitchFamily="34" charset="-122"/>
            </a:endParaRP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例：数据项名：订货单号</a:t>
            </a: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类型：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CHAR</a:t>
            </a:r>
          </a:p>
          <a:p>
            <a:pPr marL="257175" indent="-257175" defTabSz="685800" eaLnBrk="1" hangingPunct="1">
              <a:buNone/>
              <a:defRPr/>
            </a:pP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长度：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8</a:t>
            </a:r>
          </a:p>
          <a:p>
            <a:pPr marL="257175" indent="-257175" defTabSz="685800" eaLnBrk="1" hangingPunct="1">
              <a:buNone/>
              <a:defRPr/>
            </a:pP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别名：    采购单号</a:t>
            </a: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取值范围：</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10000000--99999999</a:t>
            </a:r>
          </a:p>
        </p:txBody>
      </p:sp>
      <p:sp>
        <p:nvSpPr>
          <p:cNvPr id="5" name="标题 4">
            <a:extLst>
              <a:ext uri="{FF2B5EF4-FFF2-40B4-BE49-F238E27FC236}">
                <a16:creationId xmlns:a16="http://schemas.microsoft.com/office/drawing/2014/main" id="{3007717F-9130-D671-ED99-3D6F42A0AB1B}"/>
              </a:ext>
            </a:extLst>
          </p:cNvPr>
          <p:cNvSpPr>
            <a:spLocks noGrp="1"/>
          </p:cNvSpPr>
          <p:nvPr>
            <p:ph type="title"/>
          </p:nvPr>
        </p:nvSpPr>
        <p:spPr/>
        <p:txBody>
          <a:bodyPr/>
          <a:lstStyle/>
          <a:p>
            <a:r>
              <a:rPr lang="zh-CN" altLang="en-US" dirty="0"/>
              <a:t>需求分析</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noChangeArrowheads="1"/>
          </p:cNvSpPr>
          <p:nvPr>
            <p:custDataLst>
              <p:tags r:id="rId1"/>
            </p:custDataLst>
          </p:nvPr>
        </p:nvSpPr>
        <p:spPr>
          <a:xfrm>
            <a:off x="336232" y="1253548"/>
            <a:ext cx="8361998" cy="3393642"/>
          </a:xfrm>
          <a:prstGeom prst="rect">
            <a:avLst/>
          </a:prstGeom>
          <a:noFill/>
          <a:ln w="9525">
            <a:noFill/>
          </a:ln>
        </p:spPr>
        <p:txBody>
          <a:bodyPr vert="horz" wrap="square" lIns="68580" tIns="34290" rIns="68580" bIns="3429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257175" indent="-257175" defTabSz="685800" eaLnBrk="1" hangingPunct="1">
              <a:buNone/>
              <a:defRPr/>
            </a:pPr>
            <a:r>
              <a:rPr lang="zh-CN" altLang="en-US" sz="2100" kern="0" dirty="0">
                <a:solidFill>
                  <a:schemeClr val="hlink"/>
                </a:solidFill>
                <a:latin typeface="Microsoft YaHei" panose="020B0503020204020204" pitchFamily="34" charset="-122"/>
                <a:ea typeface="Microsoft YaHei" panose="020B0503020204020204" pitchFamily="34" charset="-122"/>
              </a:rPr>
              <a:t>  </a:t>
            </a:r>
            <a:r>
              <a:rPr lang="zh-CN" altLang="en-US"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数据结构是若干数据项有意义的集合，</a:t>
            </a:r>
            <a:r>
              <a:rPr lang="zh-CN" altLang="en-US"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sym typeface="+mn-ea"/>
              </a:rPr>
              <a:t>反应了数据之间的组合关系 </a:t>
            </a:r>
            <a:r>
              <a:rPr lang="zh-CN" altLang="en-US"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a:t>
            </a:r>
          </a:p>
          <a:p>
            <a:pPr marL="257175" indent="-257175" defTabSz="685800" eaLnBrk="1" hangingPunct="1">
              <a:buNone/>
              <a:defRPr/>
            </a:pPr>
            <a:endParaRPr lang="en-US" altLang="zh-CN"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endParaRPr>
          </a:p>
          <a:p>
            <a:pPr marL="0" indent="0" defTabSz="685800" eaLnBrk="1" hangingPunct="1">
              <a:defRPr/>
            </a:pPr>
            <a:r>
              <a:rPr lang="zh-CN" altLang="en-US"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数据结构描述＝｛数据结构名，含义说明，组成</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｛数据项或数据结构｝｝</a:t>
            </a:r>
            <a:endPar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endParaRPr>
          </a:p>
          <a:p>
            <a:pPr marL="0" indent="0" defTabSz="685800" eaLnBrk="1" hangingPunct="1">
              <a:defRPr/>
            </a:pPr>
            <a:endPar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endParaRP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例：</a:t>
            </a:r>
            <a: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数据结构：</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采购细节</a:t>
            </a:r>
          </a:p>
          <a:p>
            <a:pPr marL="0" indent="0" defTabSz="685800" eaLnBrk="1" hangingPunct="1">
              <a:lnSpc>
                <a:spcPct val="150000"/>
              </a:lnSpc>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说明：</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作为采购计划的组成部分，说明对某个产品要采购哪些零件，哪种零件采购多少数量。</a:t>
            </a: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组成：</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零件号、零件名、数量</a:t>
            </a:r>
          </a:p>
        </p:txBody>
      </p:sp>
      <p:sp>
        <p:nvSpPr>
          <p:cNvPr id="5" name="标题 4">
            <a:extLst>
              <a:ext uri="{FF2B5EF4-FFF2-40B4-BE49-F238E27FC236}">
                <a16:creationId xmlns:a16="http://schemas.microsoft.com/office/drawing/2014/main" id="{4EB01E05-00B2-18D6-C3B9-7DFAD014A67A}"/>
              </a:ext>
            </a:extLst>
          </p:cNvPr>
          <p:cNvSpPr>
            <a:spLocks noGrp="1"/>
          </p:cNvSpPr>
          <p:nvPr>
            <p:ph type="title"/>
          </p:nvPr>
        </p:nvSpPr>
        <p:spPr/>
        <p:txBody>
          <a:bodyPr/>
          <a:lstStyle/>
          <a:p>
            <a:r>
              <a:rPr lang="zh-CN" altLang="en-US" dirty="0"/>
              <a:t>需求分析</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custDataLst>
              <p:tags r:id="rId1"/>
            </p:custDataLst>
          </p:nvPr>
        </p:nvSpPr>
        <p:spPr>
          <a:xfrm>
            <a:off x="390162" y="1123263"/>
            <a:ext cx="8379143" cy="3523927"/>
          </a:xfrm>
          <a:prstGeom prst="rect">
            <a:avLst/>
          </a:prstGeom>
          <a:noFill/>
          <a:ln w="9525">
            <a:noFill/>
          </a:ln>
        </p:spPr>
        <p:txBody>
          <a:bodyPr vert="horz" wrap="square" lIns="68580" tIns="34290" rIns="68580" bIns="3429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257175" indent="-257175" defTabSz="685800" eaLnBrk="1" hangingPunct="1">
              <a:buNone/>
              <a:defRPr/>
            </a:pPr>
            <a:r>
              <a:rPr lang="zh-CN" altLang="en-US" sz="2100" kern="0" dirty="0">
                <a:solidFill>
                  <a:schemeClr val="hlink"/>
                </a:solidFill>
                <a:latin typeface="Microsoft YaHei" panose="020B0503020204020204" pitchFamily="34" charset="-122"/>
                <a:ea typeface="Microsoft YaHei" panose="020B0503020204020204" pitchFamily="34" charset="-122"/>
              </a:rPr>
              <a:t>  </a:t>
            </a:r>
            <a:r>
              <a:rPr lang="zh-CN" altLang="en-US"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数据流表示加工处理过程的输入或输出数据，</a:t>
            </a:r>
            <a:r>
              <a:rPr lang="zh-CN" altLang="en-US"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sym typeface="+mn-ea"/>
              </a:rPr>
              <a:t>是数据结构在系统内传输的路径。</a:t>
            </a:r>
            <a:endParaRPr lang="en-US" altLang="zh-CN"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endParaRPr>
          </a:p>
          <a:p>
            <a:pPr marL="257175" indent="-257175" defTabSz="685800" eaLnBrk="1" hangingPunct="1">
              <a:buNone/>
              <a:defRPr/>
            </a:pPr>
            <a:endParaRPr lang="zh-CN" altLang="en-US" sz="75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endParaRPr>
          </a:p>
          <a:p>
            <a:pPr marL="0" indent="0" defTabSz="685800" eaLnBrk="1" hangingPunct="1">
              <a:defRPr/>
            </a:pPr>
            <a:r>
              <a:rPr lang="zh-CN" altLang="en-US"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数据流描述＝｛数据流名，说明，数据流来源，数据流去向，组成</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｛数据结构｝，平均流量，高峰期流量｝</a:t>
            </a:r>
            <a:endPar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endParaRPr>
          </a:p>
          <a:p>
            <a:pPr marL="0" indent="0" defTabSz="685800" eaLnBrk="1" hangingPunct="1">
              <a:defRPr/>
            </a:pPr>
            <a:endPar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endParaRP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例：</a:t>
            </a:r>
            <a: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数据流名：</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采购计划</a:t>
            </a:r>
          </a:p>
          <a:p>
            <a:pPr marL="0" indent="0" defTabSz="685800" eaLnBrk="1" hangingPunct="1">
              <a:lnSpc>
                <a:spcPct val="150000"/>
              </a:lnSpc>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说明：</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由各产品所需零件数，选定的供应商，审核情况组成采购零配件计划。</a:t>
            </a: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来源：</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确定采购计划</a:t>
            </a: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去向：</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编制订货单</a:t>
            </a: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8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数据结构：</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采购细节</a:t>
            </a: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采购审核</a:t>
            </a:r>
          </a:p>
        </p:txBody>
      </p:sp>
      <p:sp>
        <p:nvSpPr>
          <p:cNvPr id="4" name="标题 3">
            <a:extLst>
              <a:ext uri="{FF2B5EF4-FFF2-40B4-BE49-F238E27FC236}">
                <a16:creationId xmlns:a16="http://schemas.microsoft.com/office/drawing/2014/main" id="{5F1A6082-51FC-0B68-4166-7A3B917CFC92}"/>
              </a:ext>
            </a:extLst>
          </p:cNvPr>
          <p:cNvSpPr>
            <a:spLocks noGrp="1"/>
          </p:cNvSpPr>
          <p:nvPr>
            <p:ph type="title"/>
          </p:nvPr>
        </p:nvSpPr>
        <p:spPr/>
        <p:txBody>
          <a:bodyPr/>
          <a:lstStyle/>
          <a:p>
            <a:r>
              <a:rPr lang="zh-CN" altLang="en-US" dirty="0"/>
              <a:t>需求分析</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custDataLst>
              <p:tags r:id="rId1"/>
            </p:custDataLst>
          </p:nvPr>
        </p:nvSpPr>
        <p:spPr>
          <a:xfrm>
            <a:off x="399335" y="1009328"/>
            <a:ext cx="8345329" cy="3694408"/>
          </a:xfrm>
          <a:prstGeom prst="rect">
            <a:avLst/>
          </a:prstGeom>
          <a:noFill/>
          <a:ln w="9525">
            <a:noFill/>
          </a:ln>
        </p:spPr>
        <p:txBody>
          <a:bodyPr vert="horz" wrap="square" lIns="68580" tIns="34290" rIns="68580" bIns="3429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257175" indent="-257175" defTabSz="685800" eaLnBrk="1" hangingPunct="1">
              <a:buNone/>
              <a:defRPr/>
            </a:pPr>
            <a:r>
              <a:rPr lang="zh-CN" altLang="en-US" sz="1600" kern="0" dirty="0">
                <a:solidFill>
                  <a:schemeClr val="hlink"/>
                </a:solidFill>
                <a:latin typeface="Microsoft YaHei" panose="020B0503020204020204" pitchFamily="34" charset="-122"/>
                <a:ea typeface="Microsoft YaHei" panose="020B0503020204020204" pitchFamily="34" charset="-122"/>
              </a:rPr>
              <a:t>  </a:t>
            </a:r>
            <a:r>
              <a:rPr lang="zh-CN" altLang="en-US" sz="16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数据存储是处理过程中要存取的数据。</a:t>
            </a:r>
            <a:endParaRPr lang="en-US" altLang="zh-CN" sz="16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endParaRPr>
          </a:p>
          <a:p>
            <a:pPr marL="257175" indent="-257175" defTabSz="685800" eaLnBrk="1" hangingPunct="1">
              <a:buNone/>
              <a:defRPr/>
            </a:pPr>
            <a:endParaRPr lang="zh-CN" altLang="en-US" sz="16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endParaRPr>
          </a:p>
          <a:p>
            <a:pPr marL="0" indent="0" defTabSz="685800" eaLnBrk="1" hangingPunct="1">
              <a:defRPr/>
            </a:pPr>
            <a:r>
              <a:rPr lang="zh-CN" altLang="en-US" sz="16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 数据存储</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描述＝｛数据存储名，说明，编号，流入的数据流，流出的数据流，组成</a:t>
            </a:r>
            <a:r>
              <a:rPr lang="en-US" altLang="zh-CN" sz="1600" kern="0" dirty="0">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｛数据结构｝，数据量，存取方式｝</a:t>
            </a:r>
            <a:endParaRPr lang="en-US" altLang="zh-CN" sz="1600" kern="0" dirty="0">
              <a:latin typeface="Microsoft YaHei" panose="020B0503020204020204" pitchFamily="34" charset="-122"/>
              <a:ea typeface="Microsoft YaHei" panose="020B0503020204020204" pitchFamily="34" charset="-122"/>
              <a:cs typeface="楷体" panose="02010609060101010101" pitchFamily="49" charset="-122"/>
            </a:endParaRPr>
          </a:p>
          <a:p>
            <a:pPr marL="0" indent="0" defTabSz="685800" eaLnBrk="1" hangingPunct="1">
              <a:defRPr/>
            </a:pPr>
            <a:endPar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endParaRP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例：</a:t>
            </a:r>
            <a:r>
              <a:rPr lang="zh-CN" altLang="en-US" sz="16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数据存储名：</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产品</a:t>
            </a:r>
          </a:p>
          <a:p>
            <a:pPr marL="0" indent="0" defTabSz="685800" eaLnBrk="1" hangingPunct="1">
              <a:lnSpc>
                <a:spcPct val="150000"/>
              </a:lnSpc>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6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说明：</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对每种产品的品名、规格的描述，并对每种产品做成本预算。在核对生产计划书的成本时用。</a:t>
            </a: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6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输出数据流：</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预算</a:t>
            </a: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6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组成：</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产品号、产品名、预算</a:t>
            </a: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6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数据量：</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每月</a:t>
            </a:r>
            <a:r>
              <a:rPr lang="en-US" altLang="zh-CN" sz="1600" kern="0" dirty="0">
                <a:latin typeface="Microsoft YaHei" panose="020B0503020204020204" pitchFamily="34" charset="-122"/>
                <a:ea typeface="Microsoft YaHei" panose="020B0503020204020204" pitchFamily="34" charset="-122"/>
                <a:cs typeface="楷体" panose="02010609060101010101" pitchFamily="49" charset="-122"/>
              </a:rPr>
              <a:t>30—40</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件</a:t>
            </a: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6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存取方式：</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随机存取</a:t>
            </a:r>
          </a:p>
        </p:txBody>
      </p:sp>
      <p:sp>
        <p:nvSpPr>
          <p:cNvPr id="4" name="标题 3">
            <a:extLst>
              <a:ext uri="{FF2B5EF4-FFF2-40B4-BE49-F238E27FC236}">
                <a16:creationId xmlns:a16="http://schemas.microsoft.com/office/drawing/2014/main" id="{D06CE1A8-B51B-A640-A4B3-A395156EE89D}"/>
              </a:ext>
            </a:extLst>
          </p:cNvPr>
          <p:cNvSpPr>
            <a:spLocks noGrp="1"/>
          </p:cNvSpPr>
          <p:nvPr>
            <p:ph type="title"/>
          </p:nvPr>
        </p:nvSpPr>
        <p:spPr/>
        <p:txBody>
          <a:bodyPr/>
          <a:lstStyle/>
          <a:p>
            <a:r>
              <a:rPr lang="zh-CN" altLang="en-US" dirty="0"/>
              <a:t>需求分析</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custDataLst>
              <p:tags r:id="rId1"/>
            </p:custDataLst>
          </p:nvPr>
        </p:nvSpPr>
        <p:spPr>
          <a:xfrm>
            <a:off x="457314" y="1015139"/>
            <a:ext cx="8244840" cy="3260092"/>
          </a:xfrm>
          <a:prstGeom prst="rect">
            <a:avLst/>
          </a:prstGeom>
          <a:noFill/>
          <a:ln w="9525">
            <a:noFill/>
          </a:ln>
        </p:spPr>
        <p:txBody>
          <a:bodyPr vert="horz" wrap="square" lIns="68580" tIns="34290" rIns="68580" bIns="3429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257175" indent="-257175" defTabSz="685800" eaLnBrk="1" hangingPunct="1">
              <a:buNone/>
              <a:defRPr/>
            </a:pPr>
            <a:r>
              <a:rPr lang="zh-CN" altLang="en-US" sz="1600" kern="0" dirty="0">
                <a:solidFill>
                  <a:schemeClr val="hlink"/>
                </a:solidFill>
                <a:latin typeface="Microsoft YaHei" panose="020B0503020204020204" pitchFamily="34" charset="-122"/>
                <a:ea typeface="Microsoft YaHei" panose="020B0503020204020204" pitchFamily="34" charset="-122"/>
              </a:rPr>
              <a:t>  </a:t>
            </a:r>
            <a:r>
              <a:rPr lang="zh-CN" altLang="en-US" sz="16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处理过程是对加工处理过程的描述。</a:t>
            </a:r>
          </a:p>
          <a:p>
            <a:pPr marL="0" indent="0" defTabSz="685800" eaLnBrk="1" hangingPunct="1">
              <a:defRPr/>
            </a:pPr>
            <a:r>
              <a:rPr lang="zh-CN" altLang="en-US" sz="16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 处理过程</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描述＝｛处理过程名，说明，输入</a:t>
            </a:r>
            <a:r>
              <a:rPr lang="en-US" altLang="zh-CN" sz="1600" kern="0" dirty="0">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｛数据流｝，输出</a:t>
            </a:r>
            <a:r>
              <a:rPr lang="en-US" altLang="zh-CN" sz="1600" kern="0" dirty="0">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｛数据流｝，处理</a:t>
            </a:r>
            <a:r>
              <a:rPr lang="en-US" altLang="zh-CN" sz="1600" kern="0" dirty="0">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｛简要说明｝｝</a:t>
            </a: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例：</a:t>
            </a:r>
            <a:r>
              <a:rPr lang="zh-CN" altLang="en-US" sz="16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处理过程：</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确定采购计划</a:t>
            </a: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6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说明：</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对要采购的每一零件，根据零件库存量确定采购数量，</a:t>
            </a: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          再根据每位供应商的报价选择适当的供应商，制定采购</a:t>
            </a: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          计划。</a:t>
            </a: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6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输入：</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供应商报价、零件库存、已批准生产计划</a:t>
            </a: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6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输出：</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采购计划</a:t>
            </a: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rPr>
              <a:t>    </a:t>
            </a:r>
            <a:r>
              <a:rPr lang="zh-CN" altLang="en-US" sz="16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简要说明</a:t>
            </a:r>
            <a:r>
              <a:rPr lang="en-US" altLang="zh-CN" sz="16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a:t>
            </a:r>
            <a:r>
              <a:rPr lang="en-US" altLang="zh-CN" sz="16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1</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）对应采购的每种零件查找供应商报价表，选</a:t>
            </a: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择报价最低的供应商号。</a:t>
            </a:r>
          </a:p>
          <a:p>
            <a:pPr marL="257175" indent="-257175" defTabSz="685800" eaLnBrk="1" hangingPunct="1">
              <a:buNone/>
              <a:defRPr/>
            </a:pP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a:t>
            </a:r>
            <a:r>
              <a:rPr lang="en-US" altLang="zh-CN" sz="16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2</a:t>
            </a:r>
            <a:r>
              <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）将此供应商号填入应采购零件表的相应列中。</a:t>
            </a:r>
            <a:endParaRPr lang="zh-CN" altLang="en-US" sz="1600" kern="0" dirty="0">
              <a:latin typeface="Microsoft YaHei" panose="020B0503020204020204" pitchFamily="34" charset="-122"/>
              <a:ea typeface="Microsoft YaHei" panose="020B0503020204020204" pitchFamily="34" charset="-122"/>
              <a:cs typeface="楷体" panose="02010609060101010101" pitchFamily="49" charset="-122"/>
            </a:endParaRPr>
          </a:p>
        </p:txBody>
      </p:sp>
      <p:sp>
        <p:nvSpPr>
          <p:cNvPr id="4" name="标题 3">
            <a:extLst>
              <a:ext uri="{FF2B5EF4-FFF2-40B4-BE49-F238E27FC236}">
                <a16:creationId xmlns:a16="http://schemas.microsoft.com/office/drawing/2014/main" id="{07A07AF5-8E42-2EA9-3CDA-5533E3D60067}"/>
              </a:ext>
            </a:extLst>
          </p:cNvPr>
          <p:cNvSpPr>
            <a:spLocks noGrp="1"/>
          </p:cNvSpPr>
          <p:nvPr>
            <p:ph type="title"/>
          </p:nvPr>
        </p:nvSpPr>
        <p:spPr/>
        <p:txBody>
          <a:bodyPr/>
          <a:lstStyle/>
          <a:p>
            <a:r>
              <a:rPr lang="zh-CN" altLang="en-US" dirty="0"/>
              <a:t>需求分析</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19C37-8C34-42FB-A8D0-C1CB25CE49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440C33C-87DF-88A3-DB7A-87E56A0C2FCA}"/>
              </a:ext>
            </a:extLst>
          </p:cNvPr>
          <p:cNvSpPr txBox="1"/>
          <p:nvPr/>
        </p:nvSpPr>
        <p:spPr>
          <a:xfrm>
            <a:off x="1006545" y="2781596"/>
            <a:ext cx="7458075" cy="661988"/>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概念设计</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B7287C26-2BB0-4492-F720-B1415CB57588}"/>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321118C1-DBCE-1812-B5F1-FC55D1DBF034}"/>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C0267D86-771D-410F-69EE-3A181993182F}"/>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600A6E83-077A-1AE8-D07A-E0D941EFDB01}"/>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BF3940E8-5F0C-466B-16D9-55F6F352CCE5}"/>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A1D37615-C527-0D56-4AF0-250EC773D738}"/>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C6370916-FF8F-121F-D367-9EACBD726CDA}"/>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06BD18FE-31AD-B225-A6F5-92477457325F}"/>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D3C9F3DC-F5F3-AE26-7BA2-D7DC6DC90AF2}"/>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B51AF575-D720-A41D-8A4C-3FA23EB68B4C}"/>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C70FDA58-C25E-B0FA-0C98-64AC387ADBD1}"/>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F6CA3DBD-A890-A61A-4D92-9A6FFBA13E5E}"/>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C4223E36-06BF-F663-9D9C-17C0E56A333C}"/>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F5886B00-C629-5AEC-FDC0-14BE917DFA0D}"/>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B502BC6F-D77B-FD4C-CE7B-788839BA8C32}"/>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3</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453523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p:cNvSpPr>
          <p:nvPr>
            <p:ph idx="1"/>
          </p:nvPr>
        </p:nvSpPr>
        <p:spPr/>
        <p:txBody>
          <a:bodyPr vert="horz" wrap="square" lIns="68580" tIns="34290" rIns="68580" bIns="34290" rtlCol="0" anchor="t" anchorCtr="0">
            <a:normAutofit/>
          </a:bodyPr>
          <a:lstStyle/>
          <a:p>
            <a:pPr marL="0" indent="0" defTabSz="685800" eaLnBrk="0" fontAlgn="base" hangingPunct="0">
              <a:lnSpc>
                <a:spcPct val="100000"/>
              </a:lnSpc>
              <a:spcBef>
                <a:spcPct val="20000"/>
              </a:spcBef>
              <a:spcAft>
                <a:spcPct val="0"/>
              </a:spcAft>
              <a:buClr>
                <a:schemeClr val="folHlink"/>
              </a:buClr>
              <a:buSzPct val="60000"/>
              <a:buNone/>
            </a:pPr>
            <a:r>
              <a:rPr lang="zh-CN" altLang="en-US" sz="1800" kern="0" noProof="1">
                <a:sym typeface="+mn-ea"/>
              </a:rPr>
              <a:t>将需求分析得到的用户需求抽象为信息结构即概念模型的过程就是概念结构设计。</a:t>
            </a:r>
            <a:endParaRPr lang="zh-CN" altLang="en-US" sz="1800" kern="0" noProof="1"/>
          </a:p>
          <a:p>
            <a:pPr marL="257175" indent="-257175" defTabSz="685800" eaLnBrk="0" fontAlgn="base" hangingPunct="0">
              <a:lnSpc>
                <a:spcPct val="100000"/>
              </a:lnSpc>
              <a:spcBef>
                <a:spcPct val="20000"/>
              </a:spcBef>
              <a:spcAft>
                <a:spcPct val="0"/>
              </a:spcAft>
              <a:buClr>
                <a:schemeClr val="folHlink"/>
              </a:buClr>
              <a:buSzPct val="60000"/>
              <a:buFont typeface="Wingdings" panose="05000000000000000000" pitchFamily="2" charset="2"/>
              <a:buChar char="n"/>
            </a:pPr>
            <a:endParaRPr lang="zh-CN" altLang="en-US" sz="1800" kern="0" noProof="1">
              <a:solidFill>
                <a:schemeClr val="tx2"/>
              </a:solidFill>
            </a:endParaRPr>
          </a:p>
          <a:p>
            <a:pPr marL="257175" indent="-257175" defTabSz="685800" fontAlgn="base">
              <a:lnSpc>
                <a:spcPct val="100000"/>
              </a:lnSpc>
              <a:spcBef>
                <a:spcPct val="20000"/>
              </a:spcBef>
              <a:spcAft>
                <a:spcPct val="0"/>
              </a:spcAft>
              <a:buClr>
                <a:schemeClr val="folHlink"/>
              </a:buClr>
              <a:buSzPct val="60000"/>
              <a:buNone/>
            </a:pPr>
            <a:endParaRPr lang="zh-CN" altLang="en-US" sz="1800" kern="0" noProof="1">
              <a:solidFill>
                <a:schemeClr val="folHlink"/>
              </a:solidFill>
            </a:endParaRPr>
          </a:p>
          <a:p>
            <a:pPr marL="0" indent="0" defTabSz="685800" fontAlgn="base">
              <a:lnSpc>
                <a:spcPct val="100000"/>
              </a:lnSpc>
              <a:spcBef>
                <a:spcPct val="20000"/>
              </a:spcBef>
              <a:spcAft>
                <a:spcPct val="0"/>
              </a:spcAft>
              <a:buClr>
                <a:schemeClr val="folHlink"/>
              </a:buClr>
              <a:buSzPct val="60000"/>
              <a:buNone/>
            </a:pPr>
            <a:endParaRPr lang="zh-CN" altLang="en-US" sz="1800" kern="0" noProof="1"/>
          </a:p>
          <a:p>
            <a:pPr marL="257175" indent="-257175" defTabSz="685800" fontAlgn="base">
              <a:lnSpc>
                <a:spcPct val="100000"/>
              </a:lnSpc>
              <a:spcBef>
                <a:spcPct val="20000"/>
              </a:spcBef>
              <a:spcAft>
                <a:spcPct val="0"/>
              </a:spcAft>
              <a:buClr>
                <a:schemeClr val="folHlink"/>
              </a:buClr>
              <a:buSzPct val="60000"/>
              <a:buNone/>
            </a:pPr>
            <a:r>
              <a:rPr lang="zh-CN" altLang="en-US" sz="1800" kern="0" noProof="1"/>
              <a:t> </a:t>
            </a:r>
            <a:r>
              <a:rPr lang="zh-CN" altLang="en-US" sz="1500" kern="0" noProof="1"/>
              <a:t>   </a:t>
            </a:r>
          </a:p>
        </p:txBody>
      </p:sp>
      <p:sp>
        <p:nvSpPr>
          <p:cNvPr id="349189" name="Rectangle 3"/>
          <p:cNvSpPr>
            <a:spLocks noGrp="1"/>
          </p:cNvSpPr>
          <p:nvPr/>
        </p:nvSpPr>
        <p:spPr>
          <a:xfrm>
            <a:off x="628650" y="2316202"/>
            <a:ext cx="5829300" cy="188595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rgbClr val="33CCFF"/>
              </a:buClr>
              <a:buSzPct val="60000"/>
              <a:buFont typeface="Wingdings" panose="05000000000000000000" pitchFamily="2" charset="2"/>
              <a:buChar char="n"/>
              <a:defRPr sz="24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65000"/>
              <a:buFont typeface="Wingdings" panose="05000000000000000000" pitchFamily="2" charset="2"/>
              <a:buChar char="u"/>
              <a:defRPr sz="20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FFFF99"/>
              </a:buClr>
              <a:buSzPct val="65000"/>
              <a:buFont typeface="Wingdings" panose="05000000000000000000" pitchFamily="2" charset="2"/>
              <a:buChar char="«"/>
              <a:defRPr sz="2000" b="1"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None/>
            </a:pPr>
            <a:r>
              <a:rPr lang="zh-CN" altLang="en-US" sz="1800" b="0" noProof="1">
                <a:latin typeface="Microsoft YaHei" panose="020B0503020204020204" pitchFamily="34" charset="-122"/>
                <a:ea typeface="Microsoft YaHei" panose="020B0503020204020204" pitchFamily="34" charset="-122"/>
                <a:sym typeface="+mn-ea"/>
              </a:rPr>
              <a:t>概念模型主要特点：</a:t>
            </a:r>
            <a:endParaRPr lang="zh-CN" altLang="en-US" sz="1800" b="0" noProof="1">
              <a:solidFill>
                <a:srgbClr val="00FF00"/>
              </a:solidFill>
              <a:latin typeface="Microsoft YaHei" panose="020B0503020204020204" pitchFamily="34" charset="-122"/>
              <a:ea typeface="Microsoft YaHei" panose="020B0503020204020204" pitchFamily="34" charset="-122"/>
            </a:endParaRPr>
          </a:p>
          <a:p>
            <a:pPr eaLnBrk="1" fontAlgn="base" hangingPunct="1"/>
            <a:r>
              <a:rPr lang="zh-CN" altLang="en-US" sz="1800" b="0" noProof="1">
                <a:latin typeface="Microsoft YaHei" panose="020B0503020204020204" pitchFamily="34" charset="-122"/>
                <a:ea typeface="Microsoft YaHei" panose="020B0503020204020204" pitchFamily="34" charset="-122"/>
              </a:rPr>
              <a:t>能真实充分地反映客观世界，包括事物和事物之间的联系，满足用户对数据的处理要求</a:t>
            </a:r>
          </a:p>
          <a:p>
            <a:pPr eaLnBrk="1" fontAlgn="base" hangingPunct="1"/>
            <a:r>
              <a:rPr lang="zh-CN" altLang="en-US" sz="1800" b="0" noProof="1">
                <a:latin typeface="Microsoft YaHei" panose="020B0503020204020204" pitchFamily="34" charset="-122"/>
                <a:ea typeface="Microsoft YaHei" panose="020B0503020204020204" pitchFamily="34" charset="-122"/>
              </a:rPr>
              <a:t>易于理解</a:t>
            </a:r>
          </a:p>
          <a:p>
            <a:pPr eaLnBrk="1" fontAlgn="base" hangingPunct="1"/>
            <a:r>
              <a:rPr lang="zh-CN" altLang="en-US" sz="1800" b="0" noProof="1">
                <a:latin typeface="Microsoft YaHei" panose="020B0503020204020204" pitchFamily="34" charset="-122"/>
                <a:ea typeface="Microsoft YaHei" panose="020B0503020204020204" pitchFamily="34" charset="-122"/>
              </a:rPr>
              <a:t>易于更改</a:t>
            </a:r>
          </a:p>
          <a:p>
            <a:pPr eaLnBrk="1" fontAlgn="base" hangingPunct="1"/>
            <a:r>
              <a:rPr lang="zh-CN" altLang="en-US" sz="1800" b="0" noProof="1">
                <a:latin typeface="Microsoft YaHei" panose="020B0503020204020204" pitchFamily="34" charset="-122"/>
                <a:ea typeface="Microsoft YaHei" panose="020B0503020204020204" pitchFamily="34" charset="-122"/>
              </a:rPr>
              <a:t>易于向关系、网状、层次等各种数据模型转换</a:t>
            </a:r>
          </a:p>
          <a:p>
            <a:pPr eaLnBrk="1" fontAlgn="base" hangingPunct="1"/>
            <a:endParaRPr lang="zh-CN" altLang="en-US" sz="1800" b="0" noProof="1">
              <a:latin typeface="Microsoft YaHei" panose="020B0503020204020204" pitchFamily="34" charset="-122"/>
              <a:ea typeface="Microsoft YaHei" panose="020B0503020204020204" pitchFamily="34" charset="-122"/>
            </a:endParaRPr>
          </a:p>
        </p:txBody>
      </p:sp>
      <p:sp>
        <p:nvSpPr>
          <p:cNvPr id="3" name="标题 2">
            <a:extLst>
              <a:ext uri="{FF2B5EF4-FFF2-40B4-BE49-F238E27FC236}">
                <a16:creationId xmlns:a16="http://schemas.microsoft.com/office/drawing/2014/main" id="{BA5A8371-8788-55AA-1DAC-D4A1406666C3}"/>
              </a:ext>
            </a:extLst>
          </p:cNvPr>
          <p:cNvSpPr>
            <a:spLocks noGrp="1"/>
          </p:cNvSpPr>
          <p:nvPr>
            <p:ph type="title"/>
          </p:nvPr>
        </p:nvSpPr>
        <p:spPr/>
        <p:txBody>
          <a:bodyPr/>
          <a:lstStyle/>
          <a:p>
            <a:r>
              <a:rPr lang="zh-CN" altLang="en-US" dirty="0"/>
              <a:t>概念结构设计</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678791-0850-3170-0D57-2F2B4284E08F}"/>
              </a:ext>
            </a:extLst>
          </p:cNvPr>
          <p:cNvSpPr>
            <a:spLocks noGrp="1"/>
          </p:cNvSpPr>
          <p:nvPr>
            <p:ph type="title"/>
          </p:nvPr>
        </p:nvSpPr>
        <p:spPr/>
        <p:txBody>
          <a:bodyPr/>
          <a:lstStyle/>
          <a:p>
            <a:r>
              <a:rPr lang="zh-CN" altLang="en-US" dirty="0"/>
              <a:t>概念结构设计的方法</a:t>
            </a:r>
          </a:p>
        </p:txBody>
      </p:sp>
      <p:sp>
        <p:nvSpPr>
          <p:cNvPr id="350213" name="Rectangle 3"/>
          <p:cNvSpPr>
            <a:spLocks noGrp="1"/>
          </p:cNvSpPr>
          <p:nvPr>
            <p:ph idx="1"/>
          </p:nvPr>
        </p:nvSpPr>
        <p:spPr/>
        <p:txBody>
          <a:bodyPr vert="horz" wrap="square" lIns="68580" tIns="34290" rIns="68580" bIns="34290" anchor="t" anchorCtr="0"/>
          <a:lstStyle/>
          <a:p>
            <a:pPr eaLnBrk="1" fontAlgn="base" hangingPunct="1"/>
            <a:r>
              <a:rPr lang="zh-CN" altLang="en-US" sz="1800" b="1" noProof="1">
                <a:gradFill>
                  <a:gsLst>
                    <a:gs pos="0">
                      <a:srgbClr val="007BD3"/>
                    </a:gs>
                    <a:gs pos="100000">
                      <a:srgbClr val="034373"/>
                    </a:gs>
                  </a:gsLst>
                  <a:lin scaled="0"/>
                </a:gradFill>
                <a:cs typeface="楷体" panose="02010609060101010101" pitchFamily="49" charset="-122"/>
              </a:rPr>
              <a:t>自顶向下</a:t>
            </a:r>
            <a:r>
              <a:rPr lang="zh-CN" altLang="en-US" sz="1800" b="1" noProof="1">
                <a:cs typeface="楷体" panose="02010609060101010101" pitchFamily="49" charset="-122"/>
              </a:rPr>
              <a:t>  </a:t>
            </a:r>
            <a:r>
              <a:rPr lang="zh-CN" altLang="en-US" sz="1800" noProof="1">
                <a:cs typeface="楷体" panose="02010609060101010101" pitchFamily="49" charset="-122"/>
              </a:rPr>
              <a:t>首先定义各全局概念框架，然后逐步细化</a:t>
            </a:r>
            <a:endParaRPr lang="en-US" altLang="zh-CN" sz="1800" noProof="1">
              <a:cs typeface="楷体" panose="02010609060101010101" pitchFamily="49" charset="-122"/>
            </a:endParaRPr>
          </a:p>
          <a:p>
            <a:pPr eaLnBrk="1" fontAlgn="base" hangingPunct="1"/>
            <a:endParaRPr lang="zh-CN" altLang="en-US" sz="1800" noProof="1">
              <a:cs typeface="楷体" panose="02010609060101010101" pitchFamily="49" charset="-122"/>
            </a:endParaRPr>
          </a:p>
          <a:p>
            <a:pPr eaLnBrk="1" fontAlgn="base" hangingPunct="1"/>
            <a:r>
              <a:rPr lang="zh-CN" altLang="en-US" sz="1800" b="1" noProof="1">
                <a:gradFill>
                  <a:gsLst>
                    <a:gs pos="0">
                      <a:srgbClr val="007BD3"/>
                    </a:gs>
                    <a:gs pos="100000">
                      <a:srgbClr val="034373"/>
                    </a:gs>
                  </a:gsLst>
                  <a:lin scaled="0"/>
                </a:gradFill>
                <a:cs typeface="楷体" panose="02010609060101010101" pitchFamily="49" charset="-122"/>
              </a:rPr>
              <a:t>自底向上</a:t>
            </a:r>
            <a:r>
              <a:rPr lang="zh-CN" altLang="en-US" sz="1800" b="1" noProof="1">
                <a:cs typeface="楷体" panose="02010609060101010101" pitchFamily="49" charset="-122"/>
              </a:rPr>
              <a:t>  </a:t>
            </a:r>
            <a:r>
              <a:rPr lang="zh-CN" altLang="en-US" sz="1800" noProof="1">
                <a:cs typeface="楷体" panose="02010609060101010101" pitchFamily="49" charset="-122"/>
              </a:rPr>
              <a:t>首先定义各局部应用的概念框架，然后将他们集中起来，得到全局概念结构</a:t>
            </a:r>
            <a:endParaRPr lang="en-US" altLang="zh-CN" sz="1800" noProof="1">
              <a:cs typeface="楷体" panose="02010609060101010101" pitchFamily="49" charset="-122"/>
            </a:endParaRPr>
          </a:p>
          <a:p>
            <a:pPr eaLnBrk="1" fontAlgn="base" hangingPunct="1"/>
            <a:endParaRPr lang="zh-CN" altLang="en-US" sz="1800" noProof="1">
              <a:cs typeface="楷体" panose="02010609060101010101" pitchFamily="49" charset="-122"/>
            </a:endParaRPr>
          </a:p>
          <a:p>
            <a:pPr eaLnBrk="1" fontAlgn="base" hangingPunct="1"/>
            <a:r>
              <a:rPr lang="zh-CN" altLang="en-US" sz="1800" b="1" noProof="1">
                <a:gradFill>
                  <a:gsLst>
                    <a:gs pos="0">
                      <a:srgbClr val="007BD3"/>
                    </a:gs>
                    <a:gs pos="100000">
                      <a:srgbClr val="034373"/>
                    </a:gs>
                  </a:gsLst>
                  <a:lin scaled="0"/>
                </a:gradFill>
                <a:cs typeface="楷体" panose="02010609060101010101" pitchFamily="49" charset="-122"/>
              </a:rPr>
              <a:t>逐步扩张 </a:t>
            </a:r>
            <a:r>
              <a:rPr lang="zh-CN" altLang="en-US" sz="1800" b="1" noProof="1">
                <a:cs typeface="楷体" panose="02010609060101010101" pitchFamily="49" charset="-122"/>
              </a:rPr>
              <a:t>  </a:t>
            </a:r>
            <a:r>
              <a:rPr lang="zh-CN" altLang="en-US" sz="1800" noProof="1">
                <a:cs typeface="楷体" panose="02010609060101010101" pitchFamily="49" charset="-122"/>
              </a:rPr>
              <a:t>首先定义最重要的核心概念结构，然后向外扩充，以滚雪球的方式逐步生成其它概念结构，直至总体概念结构</a:t>
            </a:r>
            <a:endParaRPr lang="en-US" altLang="zh-CN" sz="1800" noProof="1">
              <a:cs typeface="楷体" panose="02010609060101010101" pitchFamily="49" charset="-122"/>
            </a:endParaRPr>
          </a:p>
          <a:p>
            <a:pPr eaLnBrk="1" fontAlgn="base" hangingPunct="1"/>
            <a:endParaRPr lang="zh-CN" altLang="en-US" sz="1800" noProof="1">
              <a:cs typeface="楷体" panose="02010609060101010101" pitchFamily="49" charset="-122"/>
            </a:endParaRPr>
          </a:p>
          <a:p>
            <a:pPr eaLnBrk="1" fontAlgn="base" hangingPunct="1"/>
            <a:r>
              <a:rPr lang="zh-CN" altLang="en-US" sz="1800" b="1" noProof="1">
                <a:gradFill>
                  <a:gsLst>
                    <a:gs pos="0">
                      <a:srgbClr val="007BD3"/>
                    </a:gs>
                    <a:gs pos="100000">
                      <a:srgbClr val="034373"/>
                    </a:gs>
                  </a:gsLst>
                  <a:lin scaled="0"/>
                </a:gradFill>
                <a:cs typeface="楷体" panose="02010609060101010101" pitchFamily="49" charset="-122"/>
              </a:rPr>
              <a:t>混合策略</a:t>
            </a:r>
            <a:r>
              <a:rPr lang="zh-CN" altLang="en-US" sz="1800" b="1" noProof="1">
                <a:solidFill>
                  <a:srgbClr val="00FF00"/>
                </a:solidFill>
                <a:cs typeface="楷体" panose="02010609060101010101" pitchFamily="49" charset="-122"/>
              </a:rPr>
              <a:t>  </a:t>
            </a:r>
            <a:r>
              <a:rPr lang="zh-CN" altLang="en-US" sz="1800" noProof="1">
                <a:cs typeface="楷体" panose="02010609060101010101" pitchFamily="49" charset="-122"/>
              </a:rPr>
              <a:t>将自顶向下和自底向上相结合，用自顶向下策略设计一个全局的概念结构框架，以它为骨架集成由底向上策略中设计的各局部概念框架。</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064264-537E-3ED6-CA81-ABED8477AAEA}"/>
              </a:ext>
            </a:extLst>
          </p:cNvPr>
          <p:cNvSpPr>
            <a:spLocks noGrp="1"/>
          </p:cNvSpPr>
          <p:nvPr>
            <p:ph type="title"/>
          </p:nvPr>
        </p:nvSpPr>
        <p:spPr/>
        <p:txBody>
          <a:bodyPr>
            <a:noAutofit/>
          </a:bodyPr>
          <a:lstStyle/>
          <a:p>
            <a:r>
              <a:rPr lang="zh-CN" altLang="en-US" sz="2800" dirty="0"/>
              <a:t>自顶向下分析需求与自底向上设计概念结构</a:t>
            </a:r>
          </a:p>
        </p:txBody>
      </p:sp>
      <p:grpSp>
        <p:nvGrpSpPr>
          <p:cNvPr id="4" name="组合 3">
            <a:extLst>
              <a:ext uri="{FF2B5EF4-FFF2-40B4-BE49-F238E27FC236}">
                <a16:creationId xmlns:a16="http://schemas.microsoft.com/office/drawing/2014/main" id="{FAFB4E01-D008-5BF7-805F-0F70274DA66A}"/>
              </a:ext>
            </a:extLst>
          </p:cNvPr>
          <p:cNvGrpSpPr/>
          <p:nvPr/>
        </p:nvGrpSpPr>
        <p:grpSpPr>
          <a:xfrm>
            <a:off x="3482553" y="1177910"/>
            <a:ext cx="4404147" cy="3528249"/>
            <a:chOff x="3407841" y="1037451"/>
            <a:chExt cx="4404147" cy="3528249"/>
          </a:xfrm>
        </p:grpSpPr>
        <p:sp>
          <p:nvSpPr>
            <p:cNvPr id="34817" name="AutoShape 2"/>
            <p:cNvSpPr/>
            <p:nvPr/>
          </p:nvSpPr>
          <p:spPr>
            <a:xfrm>
              <a:off x="4875009" y="1037451"/>
              <a:ext cx="1028700" cy="334149"/>
            </a:xfrm>
            <a:prstGeom prst="star8">
              <a:avLst>
                <a:gd name="adj" fmla="val 46171"/>
              </a:avLst>
            </a:prstGeom>
            <a:noFill/>
            <a:ln w="19050" cap="flat" cmpd="sng">
              <a:solidFill>
                <a:schemeClr val="accent5"/>
              </a:solidFill>
              <a:prstDash val="solid"/>
              <a:miter/>
              <a:headEnd type="none" w="med" len="med"/>
              <a:tailEnd type="none" w="med" len="med"/>
            </a:ln>
          </p:spPr>
          <p:txBody>
            <a:bodyPr wrap="none" anchor="ctr" anchorCtr="0"/>
            <a:lstStyle/>
            <a:p>
              <a:pPr algn="ctr" eaLnBrk="0" hangingPunct="0">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需求</a:t>
              </a:r>
            </a:p>
          </p:txBody>
        </p:sp>
        <p:sp>
          <p:nvSpPr>
            <p:cNvPr id="34818" name="AutoShape 3"/>
            <p:cNvSpPr/>
            <p:nvPr/>
          </p:nvSpPr>
          <p:spPr>
            <a:xfrm>
              <a:off x="4214394" y="1515098"/>
              <a:ext cx="834617" cy="334149"/>
            </a:xfrm>
            <a:prstGeom prst="star8">
              <a:avLst>
                <a:gd name="adj" fmla="val 46171"/>
              </a:avLst>
            </a:prstGeom>
            <a:noFill/>
            <a:ln w="19050" cap="flat" cmpd="sng">
              <a:solidFill>
                <a:schemeClr val="accent5"/>
              </a:solidFill>
              <a:prstDash val="solid"/>
              <a:miter/>
              <a:headEnd type="none" w="med" len="med"/>
              <a:tailEnd type="none" w="med" len="med"/>
            </a:ln>
          </p:spPr>
          <p:txBody>
            <a:bodyPr wrap="none" anchor="ctr" anchorCtr="0"/>
            <a:lstStyle/>
            <a:p>
              <a:pPr algn="ctr" eaLnBrk="0" hangingPunct="0">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需求</a:t>
              </a:r>
              <a:r>
                <a:rPr lang="en-US" altLang="zh-CN" sz="1200" dirty="0">
                  <a:latin typeface="Microsoft YaHei" panose="020B0503020204020204" pitchFamily="34" charset="-122"/>
                  <a:ea typeface="Microsoft YaHei" panose="020B0503020204020204" pitchFamily="34" charset="-122"/>
                </a:rPr>
                <a:t>1</a:t>
              </a:r>
            </a:p>
          </p:txBody>
        </p:sp>
        <p:sp>
          <p:nvSpPr>
            <p:cNvPr id="34819" name="AutoShape 4"/>
            <p:cNvSpPr/>
            <p:nvPr/>
          </p:nvSpPr>
          <p:spPr>
            <a:xfrm>
              <a:off x="5846559" y="1518851"/>
              <a:ext cx="800100" cy="342900"/>
            </a:xfrm>
            <a:prstGeom prst="star8">
              <a:avLst>
                <a:gd name="adj" fmla="val 46171"/>
              </a:avLst>
            </a:prstGeom>
            <a:noFill/>
            <a:ln w="19050" cap="flat" cmpd="sng">
              <a:solidFill>
                <a:schemeClr val="accent5"/>
              </a:solidFill>
              <a:prstDash val="solid"/>
              <a:miter/>
              <a:headEnd type="none" w="med" len="med"/>
              <a:tailEnd type="none" w="med" len="med"/>
            </a:ln>
          </p:spPr>
          <p:txBody>
            <a:bodyPr wrap="none" anchor="ctr" anchorCtr="0"/>
            <a:lstStyle/>
            <a:p>
              <a:pPr algn="ctr" eaLnBrk="0" hangingPunct="0">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需求</a:t>
              </a:r>
              <a:r>
                <a:rPr lang="en-US" altLang="zh-CN" sz="1200" dirty="0">
                  <a:latin typeface="Microsoft YaHei" panose="020B0503020204020204" pitchFamily="34" charset="-122"/>
                  <a:ea typeface="Microsoft YaHei" panose="020B0503020204020204" pitchFamily="34" charset="-122"/>
                </a:rPr>
                <a:t>n</a:t>
              </a:r>
            </a:p>
          </p:txBody>
        </p:sp>
        <p:sp>
          <p:nvSpPr>
            <p:cNvPr id="34820" name="AutoShape 5"/>
            <p:cNvSpPr/>
            <p:nvPr/>
          </p:nvSpPr>
          <p:spPr>
            <a:xfrm>
              <a:off x="3474134" y="2033204"/>
              <a:ext cx="871466" cy="326765"/>
            </a:xfrm>
            <a:prstGeom prst="star8">
              <a:avLst>
                <a:gd name="adj" fmla="val 46171"/>
              </a:avLst>
            </a:prstGeom>
            <a:noFill/>
            <a:ln w="19050" cap="flat" cmpd="sng">
              <a:solidFill>
                <a:schemeClr val="accent5"/>
              </a:solidFill>
              <a:prstDash val="solid"/>
              <a:miter/>
              <a:headEnd type="none" w="med" len="med"/>
              <a:tailEnd type="none" w="med" len="med"/>
            </a:ln>
          </p:spPr>
          <p:txBody>
            <a:bodyPr wrap="none" anchor="ctr" anchorCtr="0"/>
            <a:lstStyle/>
            <a:p>
              <a:pPr algn="ctr" eaLnBrk="0" hangingPunct="0">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需求</a:t>
              </a:r>
              <a:r>
                <a:rPr lang="en-US" altLang="zh-CN" sz="1200" dirty="0">
                  <a:latin typeface="Microsoft YaHei" panose="020B0503020204020204" pitchFamily="34" charset="-122"/>
                  <a:ea typeface="Microsoft YaHei" panose="020B0503020204020204" pitchFamily="34" charset="-122"/>
                </a:rPr>
                <a:t>1.1</a:t>
              </a:r>
            </a:p>
          </p:txBody>
        </p:sp>
        <p:sp>
          <p:nvSpPr>
            <p:cNvPr id="34821" name="AutoShape 6"/>
            <p:cNvSpPr/>
            <p:nvPr/>
          </p:nvSpPr>
          <p:spPr>
            <a:xfrm>
              <a:off x="4505425" y="2057061"/>
              <a:ext cx="871469" cy="326765"/>
            </a:xfrm>
            <a:prstGeom prst="star8">
              <a:avLst>
                <a:gd name="adj" fmla="val 46171"/>
              </a:avLst>
            </a:prstGeom>
            <a:noFill/>
            <a:ln w="19050" cap="flat" cmpd="sng">
              <a:solidFill>
                <a:schemeClr val="accent5"/>
              </a:solidFill>
              <a:prstDash val="solid"/>
              <a:miter/>
              <a:headEnd type="none" w="med" len="med"/>
              <a:tailEnd type="none" w="med" len="med"/>
            </a:ln>
          </p:spPr>
          <p:txBody>
            <a:bodyPr wrap="none" anchor="ctr" anchorCtr="0"/>
            <a:lstStyle/>
            <a:p>
              <a:pPr algn="ctr" eaLnBrk="0" hangingPunct="0">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需求</a:t>
              </a:r>
              <a:r>
                <a:rPr lang="en-US" altLang="zh-CN" sz="1200" dirty="0">
                  <a:latin typeface="Microsoft YaHei" panose="020B0503020204020204" pitchFamily="34" charset="-122"/>
                  <a:ea typeface="Microsoft YaHei" panose="020B0503020204020204" pitchFamily="34" charset="-122"/>
                </a:rPr>
                <a:t>1.2</a:t>
              </a:r>
            </a:p>
          </p:txBody>
        </p:sp>
        <p:sp>
          <p:nvSpPr>
            <p:cNvPr id="34822" name="AutoShape 7"/>
            <p:cNvSpPr/>
            <p:nvPr/>
          </p:nvSpPr>
          <p:spPr>
            <a:xfrm>
              <a:off x="5708898" y="2048826"/>
              <a:ext cx="871466" cy="321709"/>
            </a:xfrm>
            <a:prstGeom prst="star8">
              <a:avLst>
                <a:gd name="adj" fmla="val 46171"/>
              </a:avLst>
            </a:prstGeom>
            <a:noFill/>
            <a:ln w="19050" cap="flat" cmpd="sng">
              <a:solidFill>
                <a:schemeClr val="accent5"/>
              </a:solidFill>
              <a:prstDash val="solid"/>
              <a:miter/>
              <a:headEnd type="none" w="med" len="med"/>
              <a:tailEnd type="none" w="med" len="med"/>
            </a:ln>
          </p:spPr>
          <p:txBody>
            <a:bodyPr wrap="none" anchor="ctr" anchorCtr="0"/>
            <a:lstStyle/>
            <a:p>
              <a:pPr algn="ctr" eaLnBrk="0" hangingPunct="0">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需求</a:t>
              </a:r>
              <a:r>
                <a:rPr lang="en-US" altLang="zh-CN" sz="1200" dirty="0">
                  <a:latin typeface="Microsoft YaHei" panose="020B0503020204020204" pitchFamily="34" charset="-122"/>
                  <a:ea typeface="Microsoft YaHei" panose="020B0503020204020204" pitchFamily="34" charset="-122"/>
                </a:rPr>
                <a:t>n.1</a:t>
              </a:r>
            </a:p>
          </p:txBody>
        </p:sp>
        <p:sp>
          <p:nvSpPr>
            <p:cNvPr id="34823" name="AutoShape 8"/>
            <p:cNvSpPr/>
            <p:nvPr/>
          </p:nvSpPr>
          <p:spPr>
            <a:xfrm>
              <a:off x="6887438" y="2043697"/>
              <a:ext cx="869426" cy="321709"/>
            </a:xfrm>
            <a:prstGeom prst="star8">
              <a:avLst>
                <a:gd name="adj" fmla="val 46171"/>
              </a:avLst>
            </a:prstGeom>
            <a:noFill/>
            <a:ln w="19050" cap="flat" cmpd="sng">
              <a:solidFill>
                <a:schemeClr val="accent5"/>
              </a:solidFill>
              <a:prstDash val="solid"/>
              <a:miter/>
              <a:headEnd type="none" w="med" len="med"/>
              <a:tailEnd type="none" w="med" len="med"/>
            </a:ln>
          </p:spPr>
          <p:txBody>
            <a:bodyPr wrap="none" anchor="ctr" anchorCtr="0"/>
            <a:lstStyle/>
            <a:p>
              <a:pPr algn="ctr" eaLnBrk="0" hangingPunct="0">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需求</a:t>
              </a:r>
              <a:r>
                <a:rPr lang="en-US" altLang="zh-CN" sz="1200" dirty="0">
                  <a:latin typeface="Microsoft YaHei" panose="020B0503020204020204" pitchFamily="34" charset="-122"/>
                  <a:ea typeface="Microsoft YaHei" panose="020B0503020204020204" pitchFamily="34" charset="-122"/>
                </a:rPr>
                <a:t>n.2</a:t>
              </a:r>
            </a:p>
          </p:txBody>
        </p:sp>
        <p:sp>
          <p:nvSpPr>
            <p:cNvPr id="34824" name="Text Box 9"/>
            <p:cNvSpPr txBox="1"/>
            <p:nvPr/>
          </p:nvSpPr>
          <p:spPr>
            <a:xfrm>
              <a:off x="5228623" y="1534476"/>
              <a:ext cx="628650" cy="276999"/>
            </a:xfrm>
            <a:prstGeom prst="rect">
              <a:avLst/>
            </a:prstGeom>
            <a:noFill/>
            <a:ln w="9525">
              <a:noFill/>
            </a:ln>
          </p:spPr>
          <p:txBody>
            <a:bodyPr anchor="t" anchorCtr="0">
              <a:spAutoFit/>
            </a:bodyPr>
            <a:lstStyle/>
            <a:p>
              <a:pPr eaLnBrk="0" hangingPunct="0">
                <a:spcBef>
                  <a:spcPct val="50000"/>
                </a:spcBef>
                <a:buFont typeface="Wingdings" panose="05000000000000000000" pitchFamily="2" charset="2"/>
              </a:pPr>
              <a:r>
                <a:rPr lang="en-US" altLang="zh-CN" sz="1200" dirty="0">
                  <a:latin typeface="Microsoft YaHei" panose="020B0503020204020204" pitchFamily="34" charset="-122"/>
                  <a:ea typeface="Microsoft YaHei" panose="020B0503020204020204" pitchFamily="34" charset="-122"/>
                </a:rPr>
                <a:t>......</a:t>
              </a:r>
            </a:p>
          </p:txBody>
        </p:sp>
        <p:sp>
          <p:nvSpPr>
            <p:cNvPr id="34825" name="Line 10"/>
            <p:cNvSpPr/>
            <p:nvPr/>
          </p:nvSpPr>
          <p:spPr>
            <a:xfrm flipH="1">
              <a:off x="4846434" y="1347401"/>
              <a:ext cx="285750" cy="200648"/>
            </a:xfrm>
            <a:prstGeom prst="line">
              <a:avLst/>
            </a:prstGeom>
            <a:ln w="19050" cap="flat" cmpd="sng">
              <a:solidFill>
                <a:schemeClr val="accent5"/>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26" name="Line 11"/>
            <p:cNvSpPr/>
            <p:nvPr/>
          </p:nvSpPr>
          <p:spPr>
            <a:xfrm>
              <a:off x="5675109" y="1339274"/>
              <a:ext cx="364329" cy="208775"/>
            </a:xfrm>
            <a:prstGeom prst="line">
              <a:avLst/>
            </a:prstGeom>
            <a:ln w="19050" cap="flat" cmpd="sng">
              <a:solidFill>
                <a:schemeClr val="accent5"/>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27" name="Line 12"/>
            <p:cNvSpPr/>
            <p:nvPr/>
          </p:nvSpPr>
          <p:spPr>
            <a:xfrm flipH="1">
              <a:off x="4032229" y="1808707"/>
              <a:ext cx="306226" cy="248354"/>
            </a:xfrm>
            <a:prstGeom prst="line">
              <a:avLst/>
            </a:prstGeom>
            <a:ln w="19050" cap="flat" cmpd="sng">
              <a:solidFill>
                <a:schemeClr val="accent5"/>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28" name="Line 13"/>
            <p:cNvSpPr/>
            <p:nvPr/>
          </p:nvSpPr>
          <p:spPr>
            <a:xfrm>
              <a:off x="6532359" y="1814913"/>
              <a:ext cx="492740" cy="276999"/>
            </a:xfrm>
            <a:prstGeom prst="line">
              <a:avLst/>
            </a:prstGeom>
            <a:ln w="19050" cap="flat" cmpd="sng">
              <a:solidFill>
                <a:schemeClr val="accent5"/>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29" name="Line 14"/>
            <p:cNvSpPr/>
            <p:nvPr/>
          </p:nvSpPr>
          <p:spPr>
            <a:xfrm>
              <a:off x="4774224" y="1833799"/>
              <a:ext cx="157935" cy="216904"/>
            </a:xfrm>
            <a:prstGeom prst="line">
              <a:avLst/>
            </a:prstGeom>
            <a:ln w="19050" cap="flat" cmpd="sng">
              <a:solidFill>
                <a:schemeClr val="accent5"/>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30" name="Line 15"/>
            <p:cNvSpPr/>
            <p:nvPr/>
          </p:nvSpPr>
          <p:spPr>
            <a:xfrm flipH="1">
              <a:off x="6153633" y="1853686"/>
              <a:ext cx="92976" cy="203375"/>
            </a:xfrm>
            <a:prstGeom prst="line">
              <a:avLst/>
            </a:prstGeom>
            <a:ln w="19050" cap="flat" cmpd="sng">
              <a:solidFill>
                <a:schemeClr val="accent5"/>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31" name="Text Box 16"/>
            <p:cNvSpPr txBox="1"/>
            <p:nvPr/>
          </p:nvSpPr>
          <p:spPr>
            <a:xfrm>
              <a:off x="3407841" y="2822228"/>
              <a:ext cx="1000635" cy="276999"/>
            </a:xfrm>
            <a:prstGeom prst="rect">
              <a:avLst/>
            </a:prstGeom>
            <a:noFill/>
            <a:ln w="12700" cap="flat" cmpd="sng">
              <a:solidFill>
                <a:srgbClr val="FFC000"/>
              </a:solidFill>
              <a:prstDash val="solid"/>
              <a:miter/>
              <a:headEnd type="none" w="med" len="med"/>
              <a:tailEnd type="none" w="med" len="med"/>
            </a:ln>
          </p:spPr>
          <p:txBody>
            <a:bodyPr wrap="square" lIns="0" rIns="0" anchor="t" anchorCtr="0">
              <a:spAutoFit/>
            </a:bodyPr>
            <a:lstStyle/>
            <a:p>
              <a:pPr algn="ctr" eaLnBrk="0" hangingPunct="0">
                <a:spcBef>
                  <a:spcPct val="50000"/>
                </a:spcBef>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概念模式</a:t>
              </a:r>
              <a:r>
                <a:rPr lang="en-US" altLang="zh-CN" sz="1200" dirty="0">
                  <a:latin typeface="Microsoft YaHei" panose="020B0503020204020204" pitchFamily="34" charset="-122"/>
                  <a:ea typeface="Microsoft YaHei" panose="020B0503020204020204" pitchFamily="34" charset="-122"/>
                </a:rPr>
                <a:t>1.1</a:t>
              </a:r>
            </a:p>
          </p:txBody>
        </p:sp>
        <p:sp>
          <p:nvSpPr>
            <p:cNvPr id="34832" name="Text Box 17"/>
            <p:cNvSpPr txBox="1"/>
            <p:nvPr/>
          </p:nvSpPr>
          <p:spPr>
            <a:xfrm>
              <a:off x="4492989" y="2822227"/>
              <a:ext cx="1000629" cy="276999"/>
            </a:xfrm>
            <a:prstGeom prst="rect">
              <a:avLst/>
            </a:prstGeom>
            <a:noFill/>
            <a:ln w="12700" cap="flat" cmpd="sng">
              <a:solidFill>
                <a:srgbClr val="FFC000"/>
              </a:solidFill>
              <a:prstDash val="solid"/>
              <a:miter/>
              <a:headEnd type="none" w="med" len="med"/>
              <a:tailEnd type="none" w="med" len="med"/>
            </a:ln>
          </p:spPr>
          <p:txBody>
            <a:bodyPr wrap="square" lIns="0" rIns="0" anchor="t" anchorCtr="0">
              <a:spAutoFit/>
            </a:bodyPr>
            <a:lstStyle/>
            <a:p>
              <a:pPr algn="ctr" eaLnBrk="0" hangingPunct="0">
                <a:spcBef>
                  <a:spcPct val="50000"/>
                </a:spcBef>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概念模式</a:t>
              </a:r>
              <a:r>
                <a:rPr lang="en-US" altLang="zh-CN" sz="1200" dirty="0">
                  <a:latin typeface="Microsoft YaHei" panose="020B0503020204020204" pitchFamily="34" charset="-122"/>
                  <a:ea typeface="Microsoft YaHei" panose="020B0503020204020204" pitchFamily="34" charset="-122"/>
                </a:rPr>
                <a:t>1.2</a:t>
              </a:r>
            </a:p>
          </p:txBody>
        </p:sp>
        <p:sp>
          <p:nvSpPr>
            <p:cNvPr id="34833" name="Text Box 18"/>
            <p:cNvSpPr txBox="1"/>
            <p:nvPr/>
          </p:nvSpPr>
          <p:spPr>
            <a:xfrm>
              <a:off x="5644317" y="2830292"/>
              <a:ext cx="1000627" cy="276999"/>
            </a:xfrm>
            <a:prstGeom prst="rect">
              <a:avLst/>
            </a:prstGeom>
            <a:noFill/>
            <a:ln w="12700" cap="flat" cmpd="sng">
              <a:solidFill>
                <a:srgbClr val="FFC000"/>
              </a:solidFill>
              <a:prstDash val="solid"/>
              <a:miter/>
              <a:headEnd type="none" w="med" len="med"/>
              <a:tailEnd type="none" w="med" len="med"/>
            </a:ln>
          </p:spPr>
          <p:txBody>
            <a:bodyPr wrap="square" lIns="0" rIns="0" anchor="t" anchorCtr="0">
              <a:spAutoFit/>
            </a:bodyPr>
            <a:lstStyle/>
            <a:p>
              <a:pPr algn="ctr" eaLnBrk="0" hangingPunct="0">
                <a:spcBef>
                  <a:spcPct val="50000"/>
                </a:spcBef>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概念模式</a:t>
              </a:r>
              <a:r>
                <a:rPr lang="en-US" altLang="zh-CN" sz="1200" dirty="0">
                  <a:latin typeface="Microsoft YaHei" panose="020B0503020204020204" pitchFamily="34" charset="-122"/>
                  <a:ea typeface="Microsoft YaHei" panose="020B0503020204020204" pitchFamily="34" charset="-122"/>
                </a:rPr>
                <a:t>n.1</a:t>
              </a:r>
            </a:p>
          </p:txBody>
        </p:sp>
        <p:sp>
          <p:nvSpPr>
            <p:cNvPr id="34834" name="Text Box 19"/>
            <p:cNvSpPr txBox="1"/>
            <p:nvPr/>
          </p:nvSpPr>
          <p:spPr>
            <a:xfrm>
              <a:off x="6811360" y="2828980"/>
              <a:ext cx="1000628" cy="276999"/>
            </a:xfrm>
            <a:prstGeom prst="rect">
              <a:avLst/>
            </a:prstGeom>
            <a:noFill/>
            <a:ln w="12700" cap="flat" cmpd="sng">
              <a:solidFill>
                <a:srgbClr val="FFC000"/>
              </a:solidFill>
              <a:prstDash val="solid"/>
              <a:miter/>
              <a:headEnd type="none" w="med" len="med"/>
              <a:tailEnd type="none" w="med" len="med"/>
            </a:ln>
          </p:spPr>
          <p:txBody>
            <a:bodyPr wrap="square" lIns="0" rIns="0" anchor="t" anchorCtr="0">
              <a:spAutoFit/>
            </a:bodyPr>
            <a:lstStyle/>
            <a:p>
              <a:pPr algn="ctr" eaLnBrk="0" hangingPunct="0">
                <a:spcBef>
                  <a:spcPct val="50000"/>
                </a:spcBef>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概念模式</a:t>
              </a:r>
              <a:r>
                <a:rPr lang="en-US" altLang="zh-CN" sz="1200" dirty="0">
                  <a:latin typeface="Microsoft YaHei" panose="020B0503020204020204" pitchFamily="34" charset="-122"/>
                  <a:ea typeface="Microsoft YaHei" panose="020B0503020204020204" pitchFamily="34" charset="-122"/>
                </a:rPr>
                <a:t>n.2</a:t>
              </a:r>
            </a:p>
          </p:txBody>
        </p:sp>
        <p:sp>
          <p:nvSpPr>
            <p:cNvPr id="34835" name="Line 20"/>
            <p:cNvSpPr/>
            <p:nvPr/>
          </p:nvSpPr>
          <p:spPr>
            <a:xfrm>
              <a:off x="3909867" y="2370535"/>
              <a:ext cx="0" cy="457200"/>
            </a:xfrm>
            <a:prstGeom prst="line">
              <a:avLst/>
            </a:prstGeom>
            <a:ln w="19050" cap="flat" cmpd="sng">
              <a:solidFill>
                <a:schemeClr val="accent5"/>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36" name="Line 21"/>
            <p:cNvSpPr/>
            <p:nvPr/>
          </p:nvSpPr>
          <p:spPr>
            <a:xfrm>
              <a:off x="4941159" y="2382446"/>
              <a:ext cx="0" cy="457200"/>
            </a:xfrm>
            <a:prstGeom prst="line">
              <a:avLst/>
            </a:prstGeom>
            <a:ln w="19050" cap="flat" cmpd="sng">
              <a:solidFill>
                <a:schemeClr val="accent5"/>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37" name="Line 22"/>
            <p:cNvSpPr/>
            <p:nvPr/>
          </p:nvSpPr>
          <p:spPr>
            <a:xfrm>
              <a:off x="6152488" y="2370535"/>
              <a:ext cx="0" cy="457200"/>
            </a:xfrm>
            <a:prstGeom prst="line">
              <a:avLst/>
            </a:prstGeom>
            <a:ln w="19050" cap="flat" cmpd="sng">
              <a:solidFill>
                <a:schemeClr val="accent5"/>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38" name="Line 23"/>
            <p:cNvSpPr/>
            <p:nvPr/>
          </p:nvSpPr>
          <p:spPr>
            <a:xfrm>
              <a:off x="7322151" y="2359969"/>
              <a:ext cx="0" cy="457200"/>
            </a:xfrm>
            <a:prstGeom prst="line">
              <a:avLst/>
            </a:prstGeom>
            <a:ln w="19050" cap="flat" cmpd="sng">
              <a:solidFill>
                <a:schemeClr val="accent5"/>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39" name="Text Box 24"/>
            <p:cNvSpPr txBox="1"/>
            <p:nvPr/>
          </p:nvSpPr>
          <p:spPr>
            <a:xfrm>
              <a:off x="3914762" y="3518713"/>
              <a:ext cx="1063217" cy="276999"/>
            </a:xfrm>
            <a:prstGeom prst="rect">
              <a:avLst/>
            </a:prstGeom>
            <a:noFill/>
            <a:ln w="12700" cap="flat" cmpd="sng">
              <a:solidFill>
                <a:srgbClr val="FFC000"/>
              </a:solidFill>
              <a:prstDash val="solid"/>
              <a:miter/>
              <a:headEnd type="none" w="med" len="med"/>
              <a:tailEnd type="none" w="med" len="med"/>
            </a:ln>
          </p:spPr>
          <p:txBody>
            <a:bodyPr wrap="square" lIns="0" rIns="0" anchor="t" anchorCtr="0">
              <a:spAutoFit/>
            </a:bodyPr>
            <a:lstStyle/>
            <a:p>
              <a:pPr algn="ctr" eaLnBrk="0" hangingPunct="0">
                <a:spcBef>
                  <a:spcPct val="50000"/>
                </a:spcBef>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概念模式</a:t>
              </a:r>
              <a:r>
                <a:rPr lang="en-US" altLang="zh-CN" sz="1200" dirty="0">
                  <a:latin typeface="Microsoft YaHei" panose="020B0503020204020204" pitchFamily="34" charset="-122"/>
                  <a:ea typeface="Microsoft YaHei" panose="020B0503020204020204" pitchFamily="34" charset="-122"/>
                </a:rPr>
                <a:t>1</a:t>
              </a:r>
            </a:p>
          </p:txBody>
        </p:sp>
        <p:sp>
          <p:nvSpPr>
            <p:cNvPr id="34840" name="Text Box 25"/>
            <p:cNvSpPr txBox="1"/>
            <p:nvPr/>
          </p:nvSpPr>
          <p:spPr>
            <a:xfrm>
              <a:off x="5376894" y="3482461"/>
              <a:ext cx="628650" cy="276999"/>
            </a:xfrm>
            <a:prstGeom prst="rect">
              <a:avLst/>
            </a:prstGeom>
            <a:noFill/>
            <a:ln w="9525">
              <a:noFill/>
            </a:ln>
          </p:spPr>
          <p:txBody>
            <a:bodyPr anchor="t" anchorCtr="0">
              <a:spAutoFit/>
            </a:bodyPr>
            <a:lstStyle/>
            <a:p>
              <a:pPr eaLnBrk="0" hangingPunct="0">
                <a:spcBef>
                  <a:spcPct val="50000"/>
                </a:spcBef>
                <a:buFont typeface="Wingdings" panose="05000000000000000000" pitchFamily="2" charset="2"/>
              </a:pPr>
              <a:r>
                <a:rPr lang="en-US" altLang="zh-CN" sz="1200" dirty="0">
                  <a:latin typeface="Microsoft YaHei" panose="020B0503020204020204" pitchFamily="34" charset="-122"/>
                  <a:ea typeface="Microsoft YaHei" panose="020B0503020204020204" pitchFamily="34" charset="-122"/>
                </a:rPr>
                <a:t>......</a:t>
              </a:r>
            </a:p>
          </p:txBody>
        </p:sp>
        <p:sp>
          <p:nvSpPr>
            <p:cNvPr id="34841" name="Text Box 26"/>
            <p:cNvSpPr txBox="1"/>
            <p:nvPr/>
          </p:nvSpPr>
          <p:spPr>
            <a:xfrm>
              <a:off x="6182710" y="3518718"/>
              <a:ext cx="1109855" cy="276999"/>
            </a:xfrm>
            <a:prstGeom prst="rect">
              <a:avLst/>
            </a:prstGeom>
            <a:noFill/>
            <a:ln w="12700" cap="flat" cmpd="sng">
              <a:solidFill>
                <a:srgbClr val="FFC000"/>
              </a:solidFill>
              <a:prstDash val="solid"/>
              <a:miter/>
              <a:headEnd type="none" w="med" len="med"/>
              <a:tailEnd type="none" w="med" len="med"/>
            </a:ln>
          </p:spPr>
          <p:txBody>
            <a:bodyPr wrap="square" lIns="0" rIns="0" anchor="t" anchorCtr="0">
              <a:spAutoFit/>
            </a:bodyPr>
            <a:lstStyle/>
            <a:p>
              <a:pPr algn="ctr" eaLnBrk="0" hangingPunct="0">
                <a:spcBef>
                  <a:spcPct val="50000"/>
                </a:spcBef>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概念模式</a:t>
              </a:r>
              <a:r>
                <a:rPr lang="en-US" altLang="zh-CN" sz="1200" dirty="0">
                  <a:latin typeface="Microsoft YaHei" panose="020B0503020204020204" pitchFamily="34" charset="-122"/>
                  <a:ea typeface="Microsoft YaHei" panose="020B0503020204020204" pitchFamily="34" charset="-122"/>
                </a:rPr>
                <a:t>n</a:t>
              </a:r>
            </a:p>
          </p:txBody>
        </p:sp>
        <p:sp>
          <p:nvSpPr>
            <p:cNvPr id="34842" name="Line 27"/>
            <p:cNvSpPr/>
            <p:nvPr/>
          </p:nvSpPr>
          <p:spPr>
            <a:xfrm flipH="1">
              <a:off x="4735526" y="3099226"/>
              <a:ext cx="260540" cy="419486"/>
            </a:xfrm>
            <a:prstGeom prst="line">
              <a:avLst/>
            </a:prstGeom>
            <a:ln w="19050" cap="flat" cmpd="sng">
              <a:solidFill>
                <a:srgbClr val="FFC000"/>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43" name="Line 28"/>
            <p:cNvSpPr/>
            <p:nvPr/>
          </p:nvSpPr>
          <p:spPr>
            <a:xfrm flipH="1">
              <a:off x="7113721" y="3117790"/>
              <a:ext cx="208429" cy="407675"/>
            </a:xfrm>
            <a:prstGeom prst="line">
              <a:avLst/>
            </a:prstGeom>
            <a:ln w="19050" cap="flat" cmpd="sng">
              <a:solidFill>
                <a:srgbClr val="FFC000"/>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44" name="Line 29"/>
            <p:cNvSpPr/>
            <p:nvPr/>
          </p:nvSpPr>
          <p:spPr>
            <a:xfrm>
              <a:off x="3908158" y="3105979"/>
              <a:ext cx="306232" cy="419486"/>
            </a:xfrm>
            <a:prstGeom prst="line">
              <a:avLst/>
            </a:prstGeom>
            <a:ln w="19050" cap="flat" cmpd="sng">
              <a:solidFill>
                <a:srgbClr val="FFC000"/>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45" name="Line 30"/>
            <p:cNvSpPr/>
            <p:nvPr/>
          </p:nvSpPr>
          <p:spPr>
            <a:xfrm>
              <a:off x="6164623" y="3105979"/>
              <a:ext cx="307178" cy="419486"/>
            </a:xfrm>
            <a:prstGeom prst="line">
              <a:avLst/>
            </a:prstGeom>
            <a:ln w="19050" cap="flat" cmpd="sng">
              <a:solidFill>
                <a:srgbClr val="FFC000"/>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46" name="Text Box 31"/>
            <p:cNvSpPr txBox="1"/>
            <p:nvPr/>
          </p:nvSpPr>
          <p:spPr>
            <a:xfrm>
              <a:off x="5086213" y="4288701"/>
              <a:ext cx="1066275" cy="276999"/>
            </a:xfrm>
            <a:prstGeom prst="rect">
              <a:avLst/>
            </a:prstGeom>
            <a:noFill/>
            <a:ln w="12700" cap="flat" cmpd="sng">
              <a:solidFill>
                <a:srgbClr val="FFC000"/>
              </a:solidFill>
              <a:prstDash val="solid"/>
              <a:miter/>
              <a:headEnd type="none" w="med" len="med"/>
              <a:tailEnd type="none" w="med" len="med"/>
            </a:ln>
          </p:spPr>
          <p:txBody>
            <a:bodyPr wrap="square" lIns="0" rIns="0" anchor="t" anchorCtr="0">
              <a:spAutoFit/>
            </a:bodyPr>
            <a:lstStyle/>
            <a:p>
              <a:pPr algn="ctr" eaLnBrk="0" hangingPunct="0">
                <a:spcBef>
                  <a:spcPct val="50000"/>
                </a:spcBef>
                <a:buFont typeface="Wingdings" panose="05000000000000000000" pitchFamily="2" charset="2"/>
              </a:pPr>
              <a:r>
                <a:rPr lang="zh-CN" altLang="en-US" sz="1200" dirty="0">
                  <a:latin typeface="Microsoft YaHei" panose="020B0503020204020204" pitchFamily="34" charset="-122"/>
                  <a:ea typeface="Microsoft YaHei" panose="020B0503020204020204" pitchFamily="34" charset="-122"/>
                </a:rPr>
                <a:t>概念模式</a:t>
              </a:r>
            </a:p>
          </p:txBody>
        </p:sp>
        <p:sp>
          <p:nvSpPr>
            <p:cNvPr id="34847" name="Line 32"/>
            <p:cNvSpPr/>
            <p:nvPr/>
          </p:nvSpPr>
          <p:spPr>
            <a:xfrm flipH="1">
              <a:off x="6039438" y="3798435"/>
              <a:ext cx="756568" cy="490265"/>
            </a:xfrm>
            <a:prstGeom prst="line">
              <a:avLst/>
            </a:prstGeom>
            <a:ln w="19050" cap="flat" cmpd="sng">
              <a:solidFill>
                <a:srgbClr val="FFC000"/>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34848" name="Line 33"/>
            <p:cNvSpPr/>
            <p:nvPr/>
          </p:nvSpPr>
          <p:spPr>
            <a:xfrm>
              <a:off x="4505425" y="3808396"/>
              <a:ext cx="723198" cy="472240"/>
            </a:xfrm>
            <a:prstGeom prst="line">
              <a:avLst/>
            </a:prstGeom>
            <a:ln w="19050" cap="flat" cmpd="sng">
              <a:solidFill>
                <a:srgbClr val="FFC000"/>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grpSp>
      <p:sp>
        <p:nvSpPr>
          <p:cNvPr id="34849" name="Line 34"/>
          <p:cNvSpPr/>
          <p:nvPr/>
        </p:nvSpPr>
        <p:spPr>
          <a:xfrm>
            <a:off x="2034699" y="1113857"/>
            <a:ext cx="571500" cy="0"/>
          </a:xfrm>
          <a:prstGeom prst="line">
            <a:avLst/>
          </a:prstGeom>
          <a:ln w="28575" cap="flat" cmpd="sng">
            <a:solidFill>
              <a:srgbClr val="FF0000"/>
            </a:solidFill>
            <a:prstDash val="solid"/>
            <a:round/>
            <a:headEnd type="none" w="med" len="med"/>
            <a:tailEnd type="none" w="med" len="med"/>
          </a:ln>
        </p:spPr>
        <p:txBody>
          <a:bodyPr/>
          <a:lstStyle/>
          <a:p>
            <a:endParaRPr lang="zh-CN" altLang="en-US" sz="1350"/>
          </a:p>
        </p:txBody>
      </p:sp>
      <p:sp>
        <p:nvSpPr>
          <p:cNvPr id="34850" name="Line 35"/>
          <p:cNvSpPr/>
          <p:nvPr/>
        </p:nvSpPr>
        <p:spPr>
          <a:xfrm>
            <a:off x="2034699" y="2751774"/>
            <a:ext cx="571500" cy="0"/>
          </a:xfrm>
          <a:prstGeom prst="line">
            <a:avLst/>
          </a:prstGeom>
          <a:ln w="28575" cap="flat" cmpd="sng">
            <a:solidFill>
              <a:srgbClr val="FF0000"/>
            </a:solidFill>
            <a:prstDash val="solid"/>
            <a:round/>
            <a:headEnd type="none" w="med" len="med"/>
            <a:tailEnd type="none" w="med" len="med"/>
          </a:ln>
        </p:spPr>
        <p:txBody>
          <a:bodyPr/>
          <a:lstStyle/>
          <a:p>
            <a:endParaRPr lang="zh-CN" altLang="en-US" sz="1350"/>
          </a:p>
        </p:txBody>
      </p:sp>
      <p:sp>
        <p:nvSpPr>
          <p:cNvPr id="34851" name="Text Box 36"/>
          <p:cNvSpPr txBox="1"/>
          <p:nvPr/>
        </p:nvSpPr>
        <p:spPr>
          <a:xfrm>
            <a:off x="1766534" y="1651947"/>
            <a:ext cx="1085850" cy="553998"/>
          </a:xfrm>
          <a:prstGeom prst="rect">
            <a:avLst/>
          </a:prstGeom>
          <a:noFill/>
          <a:ln w="9525">
            <a:noFill/>
          </a:ln>
        </p:spPr>
        <p:txBody>
          <a:bodyPr anchor="t" anchorCtr="0">
            <a:spAutoFit/>
          </a:bodyPr>
          <a:lstStyle/>
          <a:p>
            <a:pPr algn="ctr" eaLnBrk="0" hangingPunct="0">
              <a:buFont typeface="Wingdings" panose="05000000000000000000" pitchFamily="2" charset="2"/>
            </a:pPr>
            <a:r>
              <a:rPr lang="zh-CN" altLang="en-US" sz="1500" dirty="0">
                <a:latin typeface="Microsoft YaHei" panose="020B0503020204020204" pitchFamily="34" charset="-122"/>
                <a:ea typeface="Microsoft YaHei" panose="020B0503020204020204" pitchFamily="34" charset="-122"/>
              </a:rPr>
              <a:t>需求分析</a:t>
            </a:r>
            <a:endParaRPr lang="en-US" altLang="zh-CN" sz="1500" dirty="0">
              <a:latin typeface="Microsoft YaHei" panose="020B0503020204020204" pitchFamily="34" charset="-122"/>
              <a:ea typeface="Microsoft YaHei" panose="020B0503020204020204" pitchFamily="34" charset="-122"/>
            </a:endParaRPr>
          </a:p>
          <a:p>
            <a:pPr eaLnBrk="0" hangingPunct="0">
              <a:buFont typeface="Wingdings" panose="05000000000000000000" pitchFamily="2" charset="2"/>
            </a:pPr>
            <a:r>
              <a:rPr lang="en-US" altLang="zh-CN" sz="1500" dirty="0">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自顶向下</a:t>
            </a:r>
            <a:r>
              <a:rPr lang="en-US" altLang="zh-CN" sz="1500" dirty="0">
                <a:latin typeface="Microsoft YaHei" panose="020B0503020204020204" pitchFamily="34" charset="-122"/>
                <a:ea typeface="Microsoft YaHei" panose="020B0503020204020204" pitchFamily="34" charset="-122"/>
              </a:rPr>
              <a:t>)</a:t>
            </a:r>
          </a:p>
        </p:txBody>
      </p:sp>
      <p:sp>
        <p:nvSpPr>
          <p:cNvPr id="34852" name="Line 37"/>
          <p:cNvSpPr/>
          <p:nvPr/>
        </p:nvSpPr>
        <p:spPr>
          <a:xfrm>
            <a:off x="2331651" y="2179542"/>
            <a:ext cx="0" cy="566777"/>
          </a:xfrm>
          <a:prstGeom prst="line">
            <a:avLst/>
          </a:prstGeom>
          <a:ln w="28575" cap="flat" cmpd="sng">
            <a:solidFill>
              <a:srgbClr val="FF0000"/>
            </a:solidFill>
            <a:prstDash val="solid"/>
            <a:round/>
            <a:headEnd type="none" w="med" len="med"/>
            <a:tailEnd type="triangle" w="med" len="med"/>
          </a:ln>
        </p:spPr>
        <p:txBody>
          <a:bodyPr/>
          <a:lstStyle/>
          <a:p>
            <a:endParaRPr lang="zh-CN" altLang="en-US" sz="1350"/>
          </a:p>
        </p:txBody>
      </p:sp>
      <p:sp>
        <p:nvSpPr>
          <p:cNvPr id="34853" name="Line 38"/>
          <p:cNvSpPr/>
          <p:nvPr/>
        </p:nvSpPr>
        <p:spPr>
          <a:xfrm flipV="1">
            <a:off x="2320449" y="1120999"/>
            <a:ext cx="0" cy="558189"/>
          </a:xfrm>
          <a:prstGeom prst="line">
            <a:avLst/>
          </a:prstGeom>
          <a:ln w="28575" cap="flat" cmpd="sng">
            <a:solidFill>
              <a:srgbClr val="FF0000"/>
            </a:solidFill>
            <a:prstDash val="solid"/>
            <a:round/>
            <a:headEnd type="none" w="med" len="med"/>
            <a:tailEnd type="triangle" w="med" len="med"/>
          </a:ln>
        </p:spPr>
        <p:txBody>
          <a:bodyPr/>
          <a:lstStyle/>
          <a:p>
            <a:endParaRPr lang="zh-CN" altLang="en-US" sz="1350"/>
          </a:p>
        </p:txBody>
      </p:sp>
      <p:sp>
        <p:nvSpPr>
          <p:cNvPr id="34854" name="Line 39"/>
          <p:cNvSpPr/>
          <p:nvPr/>
        </p:nvSpPr>
        <p:spPr>
          <a:xfrm>
            <a:off x="2042705" y="4767514"/>
            <a:ext cx="571500" cy="0"/>
          </a:xfrm>
          <a:prstGeom prst="line">
            <a:avLst/>
          </a:prstGeom>
          <a:ln w="28575" cap="flat" cmpd="sng">
            <a:solidFill>
              <a:srgbClr val="FF0000"/>
            </a:solidFill>
            <a:prstDash val="solid"/>
            <a:round/>
            <a:headEnd type="none" w="med" len="med"/>
            <a:tailEnd type="none" w="med" len="med"/>
          </a:ln>
        </p:spPr>
        <p:txBody>
          <a:bodyPr/>
          <a:lstStyle/>
          <a:p>
            <a:endParaRPr lang="zh-CN" altLang="en-US" sz="1350"/>
          </a:p>
        </p:txBody>
      </p:sp>
      <p:sp>
        <p:nvSpPr>
          <p:cNvPr id="34855" name="Line 40"/>
          <p:cNvSpPr/>
          <p:nvPr/>
        </p:nvSpPr>
        <p:spPr>
          <a:xfrm flipV="1">
            <a:off x="2335104" y="2746319"/>
            <a:ext cx="0" cy="742950"/>
          </a:xfrm>
          <a:prstGeom prst="line">
            <a:avLst/>
          </a:prstGeom>
          <a:ln w="28575" cap="flat" cmpd="sng">
            <a:solidFill>
              <a:srgbClr val="FF0000"/>
            </a:solidFill>
            <a:prstDash val="solid"/>
            <a:round/>
            <a:headEnd type="none" w="med" len="med"/>
            <a:tailEnd type="triangle" w="med" len="med"/>
          </a:ln>
        </p:spPr>
        <p:txBody>
          <a:bodyPr/>
          <a:lstStyle/>
          <a:p>
            <a:endParaRPr lang="zh-CN" altLang="en-US" sz="1350"/>
          </a:p>
        </p:txBody>
      </p:sp>
      <p:sp>
        <p:nvSpPr>
          <p:cNvPr id="34856" name="Line 41"/>
          <p:cNvSpPr/>
          <p:nvPr/>
        </p:nvSpPr>
        <p:spPr>
          <a:xfrm>
            <a:off x="2328455" y="4007468"/>
            <a:ext cx="0" cy="754380"/>
          </a:xfrm>
          <a:prstGeom prst="line">
            <a:avLst/>
          </a:prstGeom>
          <a:ln w="28575" cap="flat" cmpd="sng">
            <a:solidFill>
              <a:srgbClr val="FF0000"/>
            </a:solidFill>
            <a:prstDash val="solid"/>
            <a:round/>
            <a:headEnd type="none" w="med" len="med"/>
            <a:tailEnd type="triangle" w="med" len="med"/>
          </a:ln>
        </p:spPr>
        <p:txBody>
          <a:bodyPr/>
          <a:lstStyle/>
          <a:p>
            <a:endParaRPr lang="zh-CN" altLang="en-US" sz="1350"/>
          </a:p>
        </p:txBody>
      </p:sp>
      <p:sp>
        <p:nvSpPr>
          <p:cNvPr id="355370" name="Text Box 42"/>
          <p:cNvSpPr txBox="1"/>
          <p:nvPr/>
        </p:nvSpPr>
        <p:spPr>
          <a:xfrm>
            <a:off x="1637746" y="3456240"/>
            <a:ext cx="1381417" cy="553998"/>
          </a:xfrm>
          <a:prstGeom prst="rect">
            <a:avLst/>
          </a:prstGeom>
          <a:noFill/>
          <a:ln w="9525">
            <a:noFill/>
          </a:ln>
        </p:spPr>
        <p:txBody>
          <a:bodyPr wrap="square" anchor="t" anchorCtr="0">
            <a:spAutoFit/>
          </a:bodyPr>
          <a:lstStyle/>
          <a:p>
            <a:pPr algn="ctr" eaLnBrk="0" hangingPunct="0">
              <a:spcBef>
                <a:spcPct val="50000"/>
              </a:spcBef>
              <a:buFont typeface="Wingdings" panose="05000000000000000000" pitchFamily="2" charset="2"/>
            </a:pPr>
            <a:r>
              <a:rPr lang="zh-CN" altLang="en-US" sz="1500" dirty="0">
                <a:latin typeface="Microsoft YaHei" panose="020B0503020204020204" pitchFamily="34" charset="-122"/>
                <a:ea typeface="Microsoft YaHei" panose="020B0503020204020204" pitchFamily="34" charset="-122"/>
              </a:rPr>
              <a:t>概念结构设计</a:t>
            </a:r>
            <a:r>
              <a:rPr lang="en-US" altLang="zh-CN" sz="1500" dirty="0">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自底向上</a:t>
            </a:r>
            <a:r>
              <a:rPr lang="en-US" altLang="zh-CN" sz="1500" dirty="0">
                <a:latin typeface="Microsoft YaHei" panose="020B0503020204020204" pitchFamily="34" charset="-122"/>
                <a:ea typeface="Microsoft YaHei" panose="020B0503020204020204" pitchFamily="34"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55370"/>
                                        </p:tgtEl>
                                        <p:attrNameLst>
                                          <p:attrName>style.visibility</p:attrName>
                                        </p:attrNameLst>
                                      </p:cBhvr>
                                      <p:to>
                                        <p:strVal val="visible"/>
                                      </p:to>
                                    </p:set>
                                    <p:animEffect transition="in" filter="wipe(up)">
                                      <p:cBhvr>
                                        <p:cTn id="7" dur="500"/>
                                        <p:tgtEl>
                                          <p:spTgt spid="355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7" grpId="0" bldLvl="0" animBg="1"/>
      <p:bldP spid="34818" grpId="0" bldLvl="0" animBg="1"/>
      <p:bldP spid="34819" grpId="0" bldLvl="0" animBg="1"/>
      <p:bldP spid="34820" grpId="0" bldLvl="0" animBg="1"/>
      <p:bldP spid="34821" grpId="0" bldLvl="0" animBg="1"/>
      <p:bldP spid="34822" grpId="0" bldLvl="0" animBg="1"/>
      <p:bldP spid="34823" grpId="0" bldLvl="0" animBg="1"/>
      <p:bldP spid="34824" grpId="0" animBg="1"/>
      <p:bldP spid="34831" grpId="0" bldLvl="0" animBg="1"/>
      <p:bldP spid="34832" grpId="0" bldLvl="0" animBg="1"/>
      <p:bldP spid="34833" grpId="0" bldLvl="0" animBg="1"/>
      <p:bldP spid="34834" grpId="0" bldLvl="0" animBg="1"/>
      <p:bldP spid="34839" grpId="0" bldLvl="0" animBg="1"/>
      <p:bldP spid="34840" grpId="0" animBg="1"/>
      <p:bldP spid="34841" grpId="0" bldLvl="0" animBg="1"/>
      <p:bldP spid="34846" grpId="0" bldLvl="0" animBg="1"/>
      <p:bldP spid="34851" grpId="0" animBg="1"/>
      <p:bldP spid="35537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49091" y="1253548"/>
            <a:ext cx="8445818" cy="3574174"/>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zh-CN" altLang="en-US" sz="1800" dirty="0">
                <a:latin typeface="Microsoft YaHei" panose="020B0503020204020204" pitchFamily="34" charset="-122"/>
                <a:ea typeface="Microsoft YaHei" panose="020B0503020204020204" pitchFamily="34" charset="-122"/>
              </a:rPr>
              <a:t>自底向上方法步骤：</a:t>
            </a:r>
          </a:p>
          <a:p>
            <a:pPr eaLnBrk="1" hangingPunct="1">
              <a:buNone/>
            </a:pPr>
            <a:r>
              <a:rPr lang="zh-CN" altLang="en-US" sz="1800" dirty="0">
                <a:solidFill>
                  <a:schemeClr val="folHlink"/>
                </a:solidFill>
                <a:latin typeface="Microsoft YaHei" panose="020B0503020204020204" pitchFamily="34" charset="-122"/>
                <a:ea typeface="Microsoft YaHei" panose="020B0503020204020204" pitchFamily="34" charset="-122"/>
              </a:rPr>
              <a:t>一</a:t>
            </a:r>
            <a:r>
              <a:rPr lang="en-US" altLang="zh-CN" sz="1800" dirty="0">
                <a:solidFill>
                  <a:schemeClr val="folHlink"/>
                </a:solidFill>
                <a:latin typeface="Microsoft YaHei" panose="020B0503020204020204" pitchFamily="34" charset="-122"/>
                <a:ea typeface="Microsoft YaHei" panose="020B0503020204020204" pitchFamily="34" charset="-122"/>
              </a:rPr>
              <a:t>. </a:t>
            </a:r>
            <a:r>
              <a:rPr lang="zh-CN" altLang="en-US" sz="1800" dirty="0">
                <a:solidFill>
                  <a:schemeClr val="folHlink"/>
                </a:solidFill>
                <a:latin typeface="Microsoft YaHei" panose="020B0503020204020204" pitchFamily="34" charset="-122"/>
                <a:ea typeface="Microsoft YaHei" panose="020B0503020204020204" pitchFamily="34" charset="-122"/>
              </a:rPr>
              <a:t>数据抽象与局部视图设计</a:t>
            </a:r>
          </a:p>
          <a:p>
            <a:pPr eaLnBrk="1" hangingPunct="1">
              <a:buNone/>
            </a:pPr>
            <a:r>
              <a:rPr lang="zh-CN" altLang="en-US" sz="1800" dirty="0">
                <a:latin typeface="Microsoft YaHei" panose="020B0503020204020204" pitchFamily="34" charset="-122"/>
                <a:ea typeface="Microsoft YaHei" panose="020B0503020204020204" pitchFamily="34" charset="-122"/>
              </a:rPr>
              <a:t>    根据需求分析的结果（数据流图、数据字典等）对现实世界的数据进行抽象，设计各个局部视图，即分</a:t>
            </a:r>
            <a:r>
              <a:rPr lang="en-US" altLang="zh-CN" sz="1800" dirty="0">
                <a:latin typeface="Microsoft YaHei" panose="020B0503020204020204" pitchFamily="34" charset="-122"/>
                <a:ea typeface="Microsoft YaHei" panose="020B0503020204020204" pitchFamily="34" charset="-122"/>
              </a:rPr>
              <a:t>E-R</a:t>
            </a:r>
            <a:r>
              <a:rPr lang="zh-CN" altLang="en-US" sz="1800" dirty="0">
                <a:latin typeface="Microsoft YaHei" panose="020B0503020204020204" pitchFamily="34" charset="-122"/>
                <a:ea typeface="Microsoft YaHei" panose="020B0503020204020204" pitchFamily="34" charset="-122"/>
              </a:rPr>
              <a:t>图。</a:t>
            </a:r>
          </a:p>
          <a:p>
            <a:pPr eaLnBrk="1" hangingPunct="1">
              <a:buNone/>
            </a:pPr>
            <a:r>
              <a:rPr lang="en-US" altLang="zh-CN" sz="1800" dirty="0">
                <a:solidFill>
                  <a:srgbClr val="CC0066"/>
                </a:solidFill>
                <a:latin typeface="Microsoft YaHei" panose="020B0503020204020204" pitchFamily="34" charset="-122"/>
                <a:ea typeface="Microsoft YaHei" panose="020B0503020204020204" pitchFamily="34" charset="-122"/>
              </a:rPr>
              <a:t>1. </a:t>
            </a:r>
            <a:r>
              <a:rPr lang="zh-CN" altLang="en-US" sz="1800" dirty="0">
                <a:solidFill>
                  <a:srgbClr val="CC0066"/>
                </a:solidFill>
                <a:latin typeface="Microsoft YaHei" panose="020B0503020204020204" pitchFamily="34" charset="-122"/>
                <a:ea typeface="Microsoft YaHei" panose="020B0503020204020204" pitchFamily="34" charset="-122"/>
              </a:rPr>
              <a:t>选择局部应用</a:t>
            </a:r>
          </a:p>
          <a:p>
            <a:pPr eaLnBrk="1" hangingPunct="1">
              <a:buNone/>
            </a:pPr>
            <a:r>
              <a:rPr lang="zh-CN" altLang="en-US" sz="1800" dirty="0">
                <a:latin typeface="Microsoft YaHei" panose="020B0503020204020204" pitchFamily="34" charset="-122"/>
                <a:ea typeface="Microsoft YaHei" panose="020B0503020204020204" pitchFamily="34" charset="-122"/>
              </a:rPr>
              <a:t>    可利用机构职能关系进行局部处理。</a:t>
            </a:r>
          </a:p>
          <a:p>
            <a:pPr eaLnBrk="1" hangingPunct="1">
              <a:buNone/>
            </a:pPr>
            <a:r>
              <a:rPr lang="en-US" altLang="zh-CN" sz="1800" dirty="0">
                <a:solidFill>
                  <a:srgbClr val="CC0066"/>
                </a:solidFill>
                <a:latin typeface="Microsoft YaHei" panose="020B0503020204020204" pitchFamily="34" charset="-122"/>
                <a:ea typeface="Microsoft YaHei" panose="020B0503020204020204" pitchFamily="34" charset="-122"/>
              </a:rPr>
              <a:t>2. </a:t>
            </a:r>
            <a:r>
              <a:rPr lang="zh-CN" altLang="en-US" sz="1800" dirty="0">
                <a:solidFill>
                  <a:srgbClr val="CC0066"/>
                </a:solidFill>
                <a:latin typeface="Microsoft YaHei" panose="020B0503020204020204" pitchFamily="34" charset="-122"/>
                <a:ea typeface="Microsoft YaHei" panose="020B0503020204020204" pitchFamily="34" charset="-122"/>
              </a:rPr>
              <a:t>逐一设计分</a:t>
            </a:r>
            <a:r>
              <a:rPr lang="en-US" altLang="zh-CN" sz="1800" dirty="0">
                <a:solidFill>
                  <a:srgbClr val="CC0066"/>
                </a:solidFill>
                <a:latin typeface="Microsoft YaHei" panose="020B0503020204020204" pitchFamily="34" charset="-122"/>
                <a:ea typeface="Microsoft YaHei" panose="020B0503020204020204" pitchFamily="34" charset="-122"/>
              </a:rPr>
              <a:t>E-R</a:t>
            </a:r>
            <a:r>
              <a:rPr lang="zh-CN" altLang="en-US" sz="1800" dirty="0">
                <a:solidFill>
                  <a:srgbClr val="CC0066"/>
                </a:solidFill>
                <a:latin typeface="Microsoft YaHei" panose="020B0503020204020204" pitchFamily="34" charset="-122"/>
                <a:ea typeface="Microsoft YaHei" panose="020B0503020204020204" pitchFamily="34" charset="-122"/>
              </a:rPr>
              <a:t>图</a:t>
            </a:r>
          </a:p>
          <a:p>
            <a:pPr eaLnBrk="1" hangingPunct="1">
              <a:buNone/>
            </a:pPr>
            <a:r>
              <a:rPr lang="zh-CN" altLang="en-US" sz="1800" dirty="0">
                <a:latin typeface="Microsoft YaHei" panose="020B0503020204020204" pitchFamily="34" charset="-122"/>
                <a:ea typeface="Microsoft YaHei" panose="020B0503020204020204" pitchFamily="34" charset="-122"/>
              </a:rPr>
              <a:t>    设计时注意：</a:t>
            </a:r>
          </a:p>
          <a:p>
            <a:pPr eaLnBrk="1" hangingPunct="1"/>
            <a:r>
              <a:rPr lang="zh-CN" altLang="en-US" sz="1800" dirty="0">
                <a:solidFill>
                  <a:schemeClr val="hlink"/>
                </a:solidFill>
                <a:latin typeface="Microsoft YaHei" panose="020B0503020204020204" pitchFamily="34" charset="-122"/>
                <a:ea typeface="Microsoft YaHei" panose="020B0503020204020204" pitchFamily="34" charset="-122"/>
              </a:rPr>
              <a:t>实体与属性的划分原则</a:t>
            </a:r>
          </a:p>
          <a:p>
            <a:pPr lvl="1" eaLnBrk="1" hangingPunct="1"/>
            <a:r>
              <a:rPr lang="zh-CN" altLang="en-US" sz="1800" dirty="0">
                <a:latin typeface="Microsoft YaHei" panose="020B0503020204020204" pitchFamily="34" charset="-122"/>
                <a:ea typeface="Microsoft YaHei" panose="020B0503020204020204" pitchFamily="34" charset="-122"/>
              </a:rPr>
              <a:t> </a:t>
            </a:r>
            <a:r>
              <a:rPr lang="zh-CN" altLang="en-US" sz="1500" dirty="0">
                <a:latin typeface="Microsoft YaHei" panose="020B0503020204020204" pitchFamily="34" charset="-122"/>
                <a:ea typeface="Microsoft YaHei" panose="020B0503020204020204" pitchFamily="34" charset="-122"/>
              </a:rPr>
              <a:t>属性应是系统中最小的信息单位，不再具有描述性质。</a:t>
            </a:r>
          </a:p>
          <a:p>
            <a:pPr lvl="1" eaLnBrk="1" hangingPunct="1"/>
            <a:r>
              <a:rPr lang="zh-CN" altLang="en-US" sz="1500" dirty="0">
                <a:latin typeface="Microsoft YaHei" panose="020B0503020204020204" pitchFamily="34" charset="-122"/>
                <a:ea typeface="Microsoft YaHei" panose="020B0503020204020204" pitchFamily="34" charset="-122"/>
              </a:rPr>
              <a:t> 属性不能与其他实体有联系。</a:t>
            </a:r>
            <a:r>
              <a:rPr lang="zh-CN" altLang="en-US" sz="1800" dirty="0">
                <a:latin typeface="Microsoft YaHei" panose="020B0503020204020204" pitchFamily="34" charset="-122"/>
                <a:ea typeface="Microsoft YaHei" panose="020B0503020204020204" pitchFamily="34" charset="-122"/>
              </a:rPr>
              <a:t>          </a:t>
            </a:r>
          </a:p>
          <a:p>
            <a:pPr eaLnBrk="1" hangingPunct="1">
              <a:buNone/>
            </a:pPr>
            <a:r>
              <a:rPr lang="zh-CN" altLang="en-US" sz="1800" dirty="0">
                <a:latin typeface="Microsoft YaHei" panose="020B0503020204020204" pitchFamily="34" charset="-122"/>
                <a:ea typeface="Microsoft YaHei" panose="020B0503020204020204" pitchFamily="34" charset="-122"/>
              </a:rPr>
              <a:t> </a:t>
            </a:r>
          </a:p>
        </p:txBody>
      </p:sp>
      <p:sp>
        <p:nvSpPr>
          <p:cNvPr id="5" name="标题 4">
            <a:extLst>
              <a:ext uri="{FF2B5EF4-FFF2-40B4-BE49-F238E27FC236}">
                <a16:creationId xmlns:a16="http://schemas.microsoft.com/office/drawing/2014/main" id="{AE465BA2-97D0-3780-413E-FC5FBA61257F}"/>
              </a:ext>
            </a:extLst>
          </p:cNvPr>
          <p:cNvSpPr>
            <a:spLocks noGrp="1"/>
          </p:cNvSpPr>
          <p:nvPr>
            <p:ph type="title"/>
          </p:nvPr>
        </p:nvSpPr>
        <p:spPr/>
        <p:txBody>
          <a:bodyPr/>
          <a:lstStyle/>
          <a:p>
            <a:r>
              <a:rPr lang="zh-CN" altLang="en-US" dirty="0"/>
              <a:t>概念结构设计</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p:cNvSpPr>
          <p:nvPr>
            <p:ph idx="1"/>
          </p:nvPr>
        </p:nvSpPr>
        <p:spPr/>
        <p:txBody>
          <a:bodyPr vert="horz" wrap="square" lIns="68580" tIns="34290" rIns="68580" bIns="34290" rtlCol="0" anchor="t" anchorCtr="0">
            <a:normAutofit/>
          </a:bodyPr>
          <a:lstStyle/>
          <a:p>
            <a:pPr eaLnBrk="1" hangingPunct="1">
              <a:buSzPct val="60000"/>
              <a:buFont typeface="Wingdings" panose="05000000000000000000" pitchFamily="2" charset="2"/>
              <a:buNone/>
            </a:pPr>
            <a:r>
              <a:rPr lang="en-US" altLang="zh-CN" sz="1800" dirty="0">
                <a:solidFill>
                  <a:schemeClr val="accent6">
                    <a:lumMod val="75000"/>
                  </a:schemeClr>
                </a:solidFill>
              </a:rPr>
              <a:t>【</a:t>
            </a:r>
            <a:r>
              <a:rPr lang="zh-CN" altLang="en-US" sz="1800" dirty="0">
                <a:solidFill>
                  <a:schemeClr val="accent6">
                    <a:lumMod val="75000"/>
                  </a:schemeClr>
                </a:solidFill>
              </a:rPr>
              <a:t>例</a:t>
            </a:r>
            <a:r>
              <a:rPr lang="en-US" altLang="zh-CN" sz="1800" dirty="0">
                <a:solidFill>
                  <a:schemeClr val="accent6">
                    <a:lumMod val="75000"/>
                  </a:schemeClr>
                </a:solidFill>
              </a:rPr>
              <a:t>】</a:t>
            </a:r>
            <a:r>
              <a:rPr lang="zh-CN" altLang="en-US" sz="1800" dirty="0"/>
              <a:t>有职工、部门及其相关信息。</a:t>
            </a:r>
          </a:p>
        </p:txBody>
      </p:sp>
      <p:grpSp>
        <p:nvGrpSpPr>
          <p:cNvPr id="2" name="Group 4"/>
          <p:cNvGrpSpPr/>
          <p:nvPr/>
        </p:nvGrpSpPr>
        <p:grpSpPr>
          <a:xfrm>
            <a:off x="5257802" y="1791023"/>
            <a:ext cx="2171700" cy="2343150"/>
            <a:chOff x="0" y="0"/>
            <a:chExt cx="1824" cy="1968"/>
          </a:xfrm>
        </p:grpSpPr>
        <p:sp>
          <p:nvSpPr>
            <p:cNvPr id="37892" name="Oval 5"/>
            <p:cNvSpPr/>
            <p:nvPr/>
          </p:nvSpPr>
          <p:spPr>
            <a:xfrm>
              <a:off x="960" y="0"/>
              <a:ext cx="768" cy="384"/>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eno</a:t>
              </a:r>
            </a:p>
          </p:txBody>
        </p:sp>
        <p:sp>
          <p:nvSpPr>
            <p:cNvPr id="37893" name="Rectangle 6"/>
            <p:cNvSpPr/>
            <p:nvPr/>
          </p:nvSpPr>
          <p:spPr>
            <a:xfrm>
              <a:off x="144" y="624"/>
              <a:ext cx="624" cy="240"/>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sp>
          <p:nvSpPr>
            <p:cNvPr id="37894" name="Rectangle 7"/>
            <p:cNvSpPr/>
            <p:nvPr/>
          </p:nvSpPr>
          <p:spPr>
            <a:xfrm>
              <a:off x="96" y="576"/>
              <a:ext cx="672" cy="288"/>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职工</a:t>
              </a:r>
              <a:r>
                <a:rPr lang="en-US" altLang="zh-CN" sz="1350" dirty="0">
                  <a:latin typeface="Microsoft YaHei" panose="020B0503020204020204" pitchFamily="34" charset="-122"/>
                  <a:ea typeface="Microsoft YaHei" panose="020B0503020204020204" pitchFamily="34" charset="-122"/>
                </a:rPr>
                <a:t>E</a:t>
              </a:r>
            </a:p>
          </p:txBody>
        </p:sp>
        <p:sp>
          <p:nvSpPr>
            <p:cNvPr id="37895" name="Rectangle 8"/>
            <p:cNvSpPr/>
            <p:nvPr/>
          </p:nvSpPr>
          <p:spPr>
            <a:xfrm>
              <a:off x="48" y="1488"/>
              <a:ext cx="720" cy="288"/>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部门</a:t>
              </a:r>
              <a:r>
                <a:rPr lang="en-US" altLang="zh-CN" sz="1350" dirty="0">
                  <a:latin typeface="Microsoft YaHei" panose="020B0503020204020204" pitchFamily="34" charset="-122"/>
                  <a:ea typeface="Microsoft YaHei" panose="020B0503020204020204" pitchFamily="34" charset="-122"/>
                </a:rPr>
                <a:t>D</a:t>
              </a:r>
            </a:p>
          </p:txBody>
        </p:sp>
        <p:sp>
          <p:nvSpPr>
            <p:cNvPr id="37896" name="AutoShape 9"/>
            <p:cNvSpPr/>
            <p:nvPr/>
          </p:nvSpPr>
          <p:spPr>
            <a:xfrm>
              <a:off x="0" y="1056"/>
              <a:ext cx="960" cy="288"/>
            </a:xfrm>
            <a:prstGeom prst="flowChartDecision">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E-D</a:t>
              </a:r>
            </a:p>
          </p:txBody>
        </p:sp>
        <p:sp>
          <p:nvSpPr>
            <p:cNvPr id="37897" name="Line 10"/>
            <p:cNvSpPr/>
            <p:nvPr/>
          </p:nvSpPr>
          <p:spPr>
            <a:xfrm>
              <a:off x="480" y="864"/>
              <a:ext cx="0" cy="192"/>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7898" name="Line 11"/>
            <p:cNvSpPr/>
            <p:nvPr/>
          </p:nvSpPr>
          <p:spPr>
            <a:xfrm>
              <a:off x="480" y="1344"/>
              <a:ext cx="0" cy="144"/>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7899" name="Oval 12"/>
            <p:cNvSpPr/>
            <p:nvPr/>
          </p:nvSpPr>
          <p:spPr>
            <a:xfrm>
              <a:off x="960" y="768"/>
              <a:ext cx="768" cy="384"/>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age</a:t>
              </a:r>
            </a:p>
          </p:txBody>
        </p:sp>
        <p:sp>
          <p:nvSpPr>
            <p:cNvPr id="37900" name="Oval 13"/>
            <p:cNvSpPr/>
            <p:nvPr/>
          </p:nvSpPr>
          <p:spPr>
            <a:xfrm>
              <a:off x="1056" y="384"/>
              <a:ext cx="768" cy="336"/>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name</a:t>
              </a:r>
            </a:p>
          </p:txBody>
        </p:sp>
        <p:sp>
          <p:nvSpPr>
            <p:cNvPr id="37901" name="Oval 14"/>
            <p:cNvSpPr/>
            <p:nvPr/>
          </p:nvSpPr>
          <p:spPr>
            <a:xfrm>
              <a:off x="1008" y="1200"/>
              <a:ext cx="768" cy="336"/>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dno</a:t>
              </a:r>
            </a:p>
          </p:txBody>
        </p:sp>
        <p:sp>
          <p:nvSpPr>
            <p:cNvPr id="37902" name="Oval 15"/>
            <p:cNvSpPr/>
            <p:nvPr/>
          </p:nvSpPr>
          <p:spPr>
            <a:xfrm>
              <a:off x="1056" y="1632"/>
              <a:ext cx="768" cy="336"/>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dname</a:t>
              </a:r>
            </a:p>
          </p:txBody>
        </p:sp>
        <p:sp>
          <p:nvSpPr>
            <p:cNvPr id="37903" name="Line 16"/>
            <p:cNvSpPr/>
            <p:nvPr/>
          </p:nvSpPr>
          <p:spPr>
            <a:xfrm flipV="1">
              <a:off x="768" y="288"/>
              <a:ext cx="240" cy="432"/>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7904" name="Line 17"/>
            <p:cNvSpPr/>
            <p:nvPr/>
          </p:nvSpPr>
          <p:spPr>
            <a:xfrm flipV="1">
              <a:off x="768" y="576"/>
              <a:ext cx="288" cy="144"/>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7905" name="Line 18"/>
            <p:cNvSpPr/>
            <p:nvPr/>
          </p:nvSpPr>
          <p:spPr>
            <a:xfrm>
              <a:off x="768" y="720"/>
              <a:ext cx="240" cy="144"/>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7906" name="Line 19"/>
            <p:cNvSpPr/>
            <p:nvPr/>
          </p:nvSpPr>
          <p:spPr>
            <a:xfrm flipV="1">
              <a:off x="768" y="1392"/>
              <a:ext cx="240" cy="144"/>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7907" name="Line 20"/>
            <p:cNvSpPr/>
            <p:nvPr/>
          </p:nvSpPr>
          <p:spPr>
            <a:xfrm>
              <a:off x="768" y="1584"/>
              <a:ext cx="336" cy="144"/>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3" name="Group 21"/>
          <p:cNvGrpSpPr/>
          <p:nvPr/>
        </p:nvGrpSpPr>
        <p:grpSpPr>
          <a:xfrm>
            <a:off x="1485900" y="1771650"/>
            <a:ext cx="2457450" cy="1371600"/>
            <a:chOff x="0" y="0"/>
            <a:chExt cx="2064" cy="1152"/>
          </a:xfrm>
        </p:grpSpPr>
        <p:sp>
          <p:nvSpPr>
            <p:cNvPr id="37909" name="Rectangle 22"/>
            <p:cNvSpPr/>
            <p:nvPr/>
          </p:nvSpPr>
          <p:spPr>
            <a:xfrm>
              <a:off x="624" y="0"/>
              <a:ext cx="720" cy="288"/>
            </a:xfrm>
            <a:prstGeom prst="rect">
              <a:avLst/>
            </a:prstGeom>
            <a:solidFill>
              <a:srgbClr val="47FFC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部门</a:t>
              </a:r>
              <a:r>
                <a:rPr lang="en-US" altLang="zh-CN" sz="1350" dirty="0">
                  <a:latin typeface="Microsoft YaHei" panose="020B0503020204020204" pitchFamily="34" charset="-122"/>
                  <a:ea typeface="Microsoft YaHei" panose="020B0503020204020204" pitchFamily="34" charset="-122"/>
                </a:rPr>
                <a:t>D</a:t>
              </a:r>
            </a:p>
          </p:txBody>
        </p:sp>
        <p:sp>
          <p:nvSpPr>
            <p:cNvPr id="37910" name="Oval 23"/>
            <p:cNvSpPr/>
            <p:nvPr/>
          </p:nvSpPr>
          <p:spPr>
            <a:xfrm>
              <a:off x="0" y="816"/>
              <a:ext cx="768" cy="336"/>
            </a:xfrm>
            <a:prstGeom prst="ellipse">
              <a:avLst/>
            </a:prstGeom>
            <a:solidFill>
              <a:srgbClr val="47FFC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dno</a:t>
              </a:r>
            </a:p>
          </p:txBody>
        </p:sp>
        <p:sp>
          <p:nvSpPr>
            <p:cNvPr id="37911" name="Oval 24"/>
            <p:cNvSpPr/>
            <p:nvPr/>
          </p:nvSpPr>
          <p:spPr>
            <a:xfrm>
              <a:off x="1296" y="768"/>
              <a:ext cx="768" cy="384"/>
            </a:xfrm>
            <a:prstGeom prst="ellipse">
              <a:avLst/>
            </a:prstGeom>
            <a:solidFill>
              <a:srgbClr val="47FFC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addr</a:t>
              </a:r>
            </a:p>
          </p:txBody>
        </p:sp>
        <p:sp>
          <p:nvSpPr>
            <p:cNvPr id="37912" name="Line 25"/>
            <p:cNvSpPr/>
            <p:nvPr/>
          </p:nvSpPr>
          <p:spPr>
            <a:xfrm flipH="1">
              <a:off x="528" y="288"/>
              <a:ext cx="384" cy="567"/>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7913" name="Line 26"/>
            <p:cNvSpPr/>
            <p:nvPr/>
          </p:nvSpPr>
          <p:spPr>
            <a:xfrm>
              <a:off x="1104" y="288"/>
              <a:ext cx="384" cy="496"/>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7914" name="Text Box 27"/>
            <p:cNvSpPr txBox="1"/>
            <p:nvPr/>
          </p:nvSpPr>
          <p:spPr>
            <a:xfrm>
              <a:off x="864" y="864"/>
              <a:ext cx="260" cy="252"/>
            </a:xfrm>
            <a:prstGeom prst="rect">
              <a:avLst/>
            </a:prstGeom>
            <a:solidFill>
              <a:schemeClr val="bg1"/>
            </a:solidFill>
            <a:ln w="9525">
              <a:noFill/>
            </a:ln>
          </p:spPr>
          <p:txBody>
            <a:bodyPr wrap="none"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a:t>
              </a:r>
            </a:p>
          </p:txBody>
        </p:sp>
      </p:grpSp>
      <p:grpSp>
        <p:nvGrpSpPr>
          <p:cNvPr id="4" name="Group 28"/>
          <p:cNvGrpSpPr/>
          <p:nvPr/>
        </p:nvGrpSpPr>
        <p:grpSpPr>
          <a:xfrm>
            <a:off x="1428750" y="3371850"/>
            <a:ext cx="2514600" cy="1257300"/>
            <a:chOff x="0" y="0"/>
            <a:chExt cx="2160" cy="1056"/>
          </a:xfrm>
        </p:grpSpPr>
        <p:sp>
          <p:nvSpPr>
            <p:cNvPr id="37916" name="Rectangle 29"/>
            <p:cNvSpPr/>
            <p:nvPr/>
          </p:nvSpPr>
          <p:spPr>
            <a:xfrm>
              <a:off x="816" y="0"/>
              <a:ext cx="672" cy="288"/>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职工</a:t>
              </a:r>
              <a:r>
                <a:rPr lang="en-US" altLang="zh-CN" sz="1350" dirty="0">
                  <a:latin typeface="Microsoft YaHei" panose="020B0503020204020204" pitchFamily="34" charset="-122"/>
                  <a:ea typeface="Microsoft YaHei" panose="020B0503020204020204" pitchFamily="34" charset="-122"/>
                </a:rPr>
                <a:t>E</a:t>
              </a:r>
            </a:p>
          </p:txBody>
        </p:sp>
        <p:sp>
          <p:nvSpPr>
            <p:cNvPr id="37917" name="Oval 30"/>
            <p:cNvSpPr/>
            <p:nvPr/>
          </p:nvSpPr>
          <p:spPr>
            <a:xfrm>
              <a:off x="0" y="672"/>
              <a:ext cx="768"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eno</a:t>
              </a:r>
            </a:p>
          </p:txBody>
        </p:sp>
        <p:sp>
          <p:nvSpPr>
            <p:cNvPr id="37918" name="Line 31"/>
            <p:cNvSpPr/>
            <p:nvPr/>
          </p:nvSpPr>
          <p:spPr>
            <a:xfrm flipV="1">
              <a:off x="432" y="288"/>
              <a:ext cx="576" cy="384"/>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7919" name="Line 32"/>
            <p:cNvSpPr/>
            <p:nvPr/>
          </p:nvSpPr>
          <p:spPr>
            <a:xfrm>
              <a:off x="1008" y="288"/>
              <a:ext cx="576" cy="52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7920" name="Oval 33"/>
            <p:cNvSpPr/>
            <p:nvPr/>
          </p:nvSpPr>
          <p:spPr>
            <a:xfrm>
              <a:off x="1392" y="720"/>
              <a:ext cx="768"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r>
                <a:rPr lang="zh-CN" altLang="en-US" sz="1350" dirty="0">
                  <a:latin typeface="Microsoft YaHei" panose="020B0503020204020204" pitchFamily="34" charset="-122"/>
                  <a:ea typeface="Microsoft YaHei" panose="020B0503020204020204" pitchFamily="34" charset="-122"/>
                </a:rPr>
                <a:t>部门</a:t>
              </a:r>
            </a:p>
          </p:txBody>
        </p:sp>
        <p:sp>
          <p:nvSpPr>
            <p:cNvPr id="37921" name="Text Box 34"/>
            <p:cNvSpPr txBox="1"/>
            <p:nvPr/>
          </p:nvSpPr>
          <p:spPr>
            <a:xfrm>
              <a:off x="912" y="768"/>
              <a:ext cx="266" cy="252"/>
            </a:xfrm>
            <a:prstGeom prst="rect">
              <a:avLst/>
            </a:prstGeom>
            <a:solidFill>
              <a:schemeClr val="bg1"/>
            </a:solidFill>
            <a:ln w="9525">
              <a:noFill/>
            </a:ln>
          </p:spPr>
          <p:txBody>
            <a:bodyPr wrap="none"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a:t>
              </a:r>
            </a:p>
          </p:txBody>
        </p:sp>
      </p:grpSp>
      <p:sp>
        <p:nvSpPr>
          <p:cNvPr id="6" name="标题 5">
            <a:extLst>
              <a:ext uri="{FF2B5EF4-FFF2-40B4-BE49-F238E27FC236}">
                <a16:creationId xmlns:a16="http://schemas.microsoft.com/office/drawing/2014/main" id="{6B13E9B7-DB09-92DC-BB7C-256B6BF2323D}"/>
              </a:ext>
            </a:extLst>
          </p:cNvPr>
          <p:cNvSpPr>
            <a:spLocks noGrp="1"/>
          </p:cNvSpPr>
          <p:nvPr>
            <p:ph type="title"/>
          </p:nvPr>
        </p:nvSpPr>
        <p:spPr/>
        <p:txBody>
          <a:bodyPr/>
          <a:lstStyle/>
          <a:p>
            <a:r>
              <a:rPr lang="zh-CN" altLang="en-US" dirty="0"/>
              <a:t>概念结构设计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out)">
                                      <p:cBhvr>
                                        <p:cTn id="7" dur="500"/>
                                        <p:tgtEl>
                                          <p:spTgt spid="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out)">
                                      <p:cBhvr>
                                        <p:cTn id="12" dur="500"/>
                                        <p:tgtEl>
                                          <p:spTgt spid="4"/>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214554" y="1332129"/>
            <a:ext cx="2914650" cy="1200150"/>
            <a:chOff x="0" y="0"/>
            <a:chExt cx="2448" cy="1008"/>
          </a:xfrm>
        </p:grpSpPr>
        <p:sp>
          <p:nvSpPr>
            <p:cNvPr id="38915" name="Rectangle 4"/>
            <p:cNvSpPr/>
            <p:nvPr/>
          </p:nvSpPr>
          <p:spPr>
            <a:xfrm>
              <a:off x="912" y="0"/>
              <a:ext cx="624" cy="336"/>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病人</a:t>
              </a:r>
            </a:p>
          </p:txBody>
        </p:sp>
        <p:sp>
          <p:nvSpPr>
            <p:cNvPr id="38916" name="Oval 5"/>
            <p:cNvSpPr/>
            <p:nvPr/>
          </p:nvSpPr>
          <p:spPr>
            <a:xfrm>
              <a:off x="0" y="624"/>
              <a:ext cx="768" cy="384"/>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住院号</a:t>
              </a:r>
            </a:p>
          </p:txBody>
        </p:sp>
        <p:sp>
          <p:nvSpPr>
            <p:cNvPr id="38917" name="Oval 6"/>
            <p:cNvSpPr/>
            <p:nvPr/>
          </p:nvSpPr>
          <p:spPr>
            <a:xfrm>
              <a:off x="816" y="624"/>
              <a:ext cx="768" cy="384"/>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姓名</a:t>
              </a:r>
            </a:p>
          </p:txBody>
        </p:sp>
        <p:sp>
          <p:nvSpPr>
            <p:cNvPr id="38918" name="Oval 7"/>
            <p:cNvSpPr/>
            <p:nvPr/>
          </p:nvSpPr>
          <p:spPr>
            <a:xfrm>
              <a:off x="1680" y="624"/>
              <a:ext cx="768" cy="384"/>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病房号</a:t>
              </a:r>
            </a:p>
          </p:txBody>
        </p:sp>
        <p:sp>
          <p:nvSpPr>
            <p:cNvPr id="38919" name="Line 8"/>
            <p:cNvSpPr/>
            <p:nvPr/>
          </p:nvSpPr>
          <p:spPr>
            <a:xfrm flipV="1">
              <a:off x="480" y="336"/>
              <a:ext cx="576" cy="28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8920" name="Line 9"/>
            <p:cNvSpPr/>
            <p:nvPr/>
          </p:nvSpPr>
          <p:spPr>
            <a:xfrm flipV="1">
              <a:off x="1152" y="336"/>
              <a:ext cx="48" cy="28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8921" name="Line 10"/>
            <p:cNvSpPr/>
            <p:nvPr/>
          </p:nvSpPr>
          <p:spPr>
            <a:xfrm>
              <a:off x="1296" y="336"/>
              <a:ext cx="528" cy="336"/>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3" name="Group 11"/>
          <p:cNvGrpSpPr/>
          <p:nvPr/>
        </p:nvGrpSpPr>
        <p:grpSpPr>
          <a:xfrm>
            <a:off x="3043479" y="2532279"/>
            <a:ext cx="2000250" cy="1200150"/>
            <a:chOff x="0" y="0"/>
            <a:chExt cx="1680" cy="1008"/>
          </a:xfrm>
        </p:grpSpPr>
        <p:sp>
          <p:nvSpPr>
            <p:cNvPr id="38923" name="Rectangle 12"/>
            <p:cNvSpPr/>
            <p:nvPr/>
          </p:nvSpPr>
          <p:spPr>
            <a:xfrm>
              <a:off x="384" y="0"/>
              <a:ext cx="624" cy="336"/>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病人</a:t>
              </a:r>
            </a:p>
          </p:txBody>
        </p:sp>
        <p:sp>
          <p:nvSpPr>
            <p:cNvPr id="38924" name="Oval 13"/>
            <p:cNvSpPr/>
            <p:nvPr/>
          </p:nvSpPr>
          <p:spPr>
            <a:xfrm>
              <a:off x="0" y="624"/>
              <a:ext cx="768"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住院号</a:t>
              </a:r>
            </a:p>
          </p:txBody>
        </p:sp>
        <p:sp>
          <p:nvSpPr>
            <p:cNvPr id="38925" name="Oval 14"/>
            <p:cNvSpPr/>
            <p:nvPr/>
          </p:nvSpPr>
          <p:spPr>
            <a:xfrm>
              <a:off x="912" y="576"/>
              <a:ext cx="768"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姓名</a:t>
              </a:r>
            </a:p>
          </p:txBody>
        </p:sp>
        <p:sp>
          <p:nvSpPr>
            <p:cNvPr id="38926" name="Line 15"/>
            <p:cNvSpPr/>
            <p:nvPr/>
          </p:nvSpPr>
          <p:spPr>
            <a:xfrm flipV="1">
              <a:off x="336" y="336"/>
              <a:ext cx="384" cy="28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8927" name="Line 16"/>
            <p:cNvSpPr/>
            <p:nvPr/>
          </p:nvSpPr>
          <p:spPr>
            <a:xfrm flipH="1" flipV="1">
              <a:off x="768" y="336"/>
              <a:ext cx="432" cy="24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4" name="Group 17"/>
          <p:cNvGrpSpPr/>
          <p:nvPr/>
        </p:nvGrpSpPr>
        <p:grpSpPr>
          <a:xfrm>
            <a:off x="4243629" y="2417979"/>
            <a:ext cx="2114550" cy="571500"/>
            <a:chOff x="0" y="0"/>
            <a:chExt cx="1776" cy="480"/>
          </a:xfrm>
        </p:grpSpPr>
        <p:sp>
          <p:nvSpPr>
            <p:cNvPr id="38929" name="AutoShape 18"/>
            <p:cNvSpPr/>
            <p:nvPr/>
          </p:nvSpPr>
          <p:spPr>
            <a:xfrm>
              <a:off x="384" y="48"/>
              <a:ext cx="960" cy="432"/>
            </a:xfrm>
            <a:prstGeom prst="flowChartDecision">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住在</a:t>
              </a:r>
            </a:p>
          </p:txBody>
        </p:sp>
        <p:sp>
          <p:nvSpPr>
            <p:cNvPr id="38930" name="Line 19"/>
            <p:cNvSpPr/>
            <p:nvPr/>
          </p:nvSpPr>
          <p:spPr>
            <a:xfrm>
              <a:off x="1344" y="264"/>
              <a:ext cx="432" cy="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8931" name="Text Box 20"/>
            <p:cNvSpPr txBox="1"/>
            <p:nvPr/>
          </p:nvSpPr>
          <p:spPr>
            <a:xfrm>
              <a:off x="1296" y="0"/>
              <a:ext cx="288" cy="252"/>
            </a:xfrm>
            <a:prstGeom prst="rect">
              <a:avLst/>
            </a:prstGeom>
            <a:no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1</a:t>
              </a:r>
            </a:p>
          </p:txBody>
        </p:sp>
        <p:sp>
          <p:nvSpPr>
            <p:cNvPr id="38932" name="Line 21"/>
            <p:cNvSpPr/>
            <p:nvPr/>
          </p:nvSpPr>
          <p:spPr>
            <a:xfrm>
              <a:off x="0" y="264"/>
              <a:ext cx="384" cy="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8933" name="Text Box 22"/>
            <p:cNvSpPr txBox="1"/>
            <p:nvPr/>
          </p:nvSpPr>
          <p:spPr>
            <a:xfrm>
              <a:off x="144" y="0"/>
              <a:ext cx="288" cy="252"/>
            </a:xfrm>
            <a:prstGeom prst="rect">
              <a:avLst/>
            </a:prstGeom>
            <a:no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n</a:t>
              </a:r>
            </a:p>
          </p:txBody>
        </p:sp>
      </p:grpSp>
      <p:grpSp>
        <p:nvGrpSpPr>
          <p:cNvPr id="5" name="Group 23"/>
          <p:cNvGrpSpPr/>
          <p:nvPr/>
        </p:nvGrpSpPr>
        <p:grpSpPr>
          <a:xfrm>
            <a:off x="6243879" y="1789329"/>
            <a:ext cx="2171700" cy="2971800"/>
            <a:chOff x="0" y="0"/>
            <a:chExt cx="1824" cy="2496"/>
          </a:xfrm>
        </p:grpSpPr>
        <p:sp>
          <p:nvSpPr>
            <p:cNvPr id="38935" name="AutoShape 24"/>
            <p:cNvSpPr/>
            <p:nvPr/>
          </p:nvSpPr>
          <p:spPr>
            <a:xfrm>
              <a:off x="0" y="1152"/>
              <a:ext cx="960" cy="336"/>
            </a:xfrm>
            <a:prstGeom prst="flowChartDecision">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医疗</a:t>
              </a:r>
            </a:p>
          </p:txBody>
        </p:sp>
        <p:grpSp>
          <p:nvGrpSpPr>
            <p:cNvPr id="38936" name="Group 25"/>
            <p:cNvGrpSpPr/>
            <p:nvPr/>
          </p:nvGrpSpPr>
          <p:grpSpPr>
            <a:xfrm>
              <a:off x="48" y="0"/>
              <a:ext cx="1776" cy="2496"/>
              <a:chOff x="0" y="0"/>
              <a:chExt cx="1776" cy="2496"/>
            </a:xfrm>
          </p:grpSpPr>
          <p:sp>
            <p:nvSpPr>
              <p:cNvPr id="38937" name="Oval 26"/>
              <p:cNvSpPr/>
              <p:nvPr/>
            </p:nvSpPr>
            <p:spPr>
              <a:xfrm>
                <a:off x="960" y="0"/>
                <a:ext cx="768"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病房号</a:t>
                </a:r>
              </a:p>
            </p:txBody>
          </p:sp>
          <p:sp>
            <p:nvSpPr>
              <p:cNvPr id="38938" name="Rectangle 27"/>
              <p:cNvSpPr/>
              <p:nvPr/>
            </p:nvSpPr>
            <p:spPr>
              <a:xfrm>
                <a:off x="48" y="624"/>
                <a:ext cx="672" cy="288"/>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病房</a:t>
                </a:r>
              </a:p>
            </p:txBody>
          </p:sp>
          <p:sp>
            <p:nvSpPr>
              <p:cNvPr id="38939" name="Rectangle 28"/>
              <p:cNvSpPr/>
              <p:nvPr/>
            </p:nvSpPr>
            <p:spPr>
              <a:xfrm>
                <a:off x="0" y="1728"/>
                <a:ext cx="720" cy="288"/>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医生</a:t>
                </a:r>
              </a:p>
            </p:txBody>
          </p:sp>
          <p:sp>
            <p:nvSpPr>
              <p:cNvPr id="38940" name="Line 29"/>
              <p:cNvSpPr/>
              <p:nvPr/>
            </p:nvSpPr>
            <p:spPr>
              <a:xfrm>
                <a:off x="432" y="912"/>
                <a:ext cx="0" cy="24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8941" name="Line 30"/>
              <p:cNvSpPr/>
              <p:nvPr/>
            </p:nvSpPr>
            <p:spPr>
              <a:xfrm>
                <a:off x="432" y="1488"/>
                <a:ext cx="0" cy="24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8942" name="Oval 31"/>
              <p:cNvSpPr/>
              <p:nvPr/>
            </p:nvSpPr>
            <p:spPr>
              <a:xfrm>
                <a:off x="1008" y="816"/>
                <a:ext cx="768"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级别</a:t>
                </a:r>
              </a:p>
            </p:txBody>
          </p:sp>
          <p:sp>
            <p:nvSpPr>
              <p:cNvPr id="38943" name="Oval 32"/>
              <p:cNvSpPr/>
              <p:nvPr/>
            </p:nvSpPr>
            <p:spPr>
              <a:xfrm>
                <a:off x="1008" y="432"/>
                <a:ext cx="768"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床位数</a:t>
                </a:r>
              </a:p>
            </p:txBody>
          </p:sp>
          <p:sp>
            <p:nvSpPr>
              <p:cNvPr id="38944" name="Oval 33"/>
              <p:cNvSpPr/>
              <p:nvPr/>
            </p:nvSpPr>
            <p:spPr>
              <a:xfrm>
                <a:off x="1008" y="1344"/>
                <a:ext cx="768"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编号</a:t>
                </a:r>
              </a:p>
            </p:txBody>
          </p:sp>
          <p:sp>
            <p:nvSpPr>
              <p:cNvPr id="38945" name="Oval 34"/>
              <p:cNvSpPr/>
              <p:nvPr/>
            </p:nvSpPr>
            <p:spPr>
              <a:xfrm>
                <a:off x="1008" y="1728"/>
                <a:ext cx="768"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姓名</a:t>
                </a:r>
              </a:p>
            </p:txBody>
          </p:sp>
          <p:sp>
            <p:nvSpPr>
              <p:cNvPr id="38946" name="Line 35"/>
              <p:cNvSpPr/>
              <p:nvPr/>
            </p:nvSpPr>
            <p:spPr>
              <a:xfrm flipV="1">
                <a:off x="720" y="288"/>
                <a:ext cx="288" cy="48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8947" name="Line 36"/>
              <p:cNvSpPr/>
              <p:nvPr/>
            </p:nvSpPr>
            <p:spPr>
              <a:xfrm flipV="1">
                <a:off x="720" y="624"/>
                <a:ext cx="288" cy="144"/>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8948" name="Line 37"/>
              <p:cNvSpPr/>
              <p:nvPr/>
            </p:nvSpPr>
            <p:spPr>
              <a:xfrm>
                <a:off x="720" y="768"/>
                <a:ext cx="288" cy="18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8949" name="Line 38"/>
              <p:cNvSpPr/>
              <p:nvPr/>
            </p:nvSpPr>
            <p:spPr>
              <a:xfrm flipV="1">
                <a:off x="720" y="1536"/>
                <a:ext cx="288" cy="28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8950" name="Line 39"/>
              <p:cNvSpPr/>
              <p:nvPr/>
            </p:nvSpPr>
            <p:spPr>
              <a:xfrm>
                <a:off x="720" y="1824"/>
                <a:ext cx="288" cy="36"/>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8951" name="Text Box 40"/>
              <p:cNvSpPr txBox="1"/>
              <p:nvPr/>
            </p:nvSpPr>
            <p:spPr>
              <a:xfrm>
                <a:off x="432" y="1440"/>
                <a:ext cx="288" cy="252"/>
              </a:xfrm>
              <a:prstGeom prst="rect">
                <a:avLst/>
              </a:prstGeom>
              <a:no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1</a:t>
                </a:r>
              </a:p>
            </p:txBody>
          </p:sp>
          <p:sp>
            <p:nvSpPr>
              <p:cNvPr id="38952" name="Text Box 41"/>
              <p:cNvSpPr txBox="1"/>
              <p:nvPr/>
            </p:nvSpPr>
            <p:spPr>
              <a:xfrm>
                <a:off x="432" y="864"/>
                <a:ext cx="288" cy="252"/>
              </a:xfrm>
              <a:prstGeom prst="rect">
                <a:avLst/>
              </a:prstGeom>
              <a:no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m</a:t>
                </a:r>
              </a:p>
            </p:txBody>
          </p:sp>
          <p:sp>
            <p:nvSpPr>
              <p:cNvPr id="38953" name="Oval 42"/>
              <p:cNvSpPr/>
              <p:nvPr/>
            </p:nvSpPr>
            <p:spPr>
              <a:xfrm>
                <a:off x="1008" y="2160"/>
                <a:ext cx="768"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职称</a:t>
                </a:r>
              </a:p>
            </p:txBody>
          </p:sp>
          <p:sp>
            <p:nvSpPr>
              <p:cNvPr id="38954" name="Line 43"/>
              <p:cNvSpPr/>
              <p:nvPr/>
            </p:nvSpPr>
            <p:spPr>
              <a:xfrm>
                <a:off x="720" y="1842"/>
                <a:ext cx="360" cy="37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sp>
        <p:nvSpPr>
          <p:cNvPr id="8" name="标题 7">
            <a:extLst>
              <a:ext uri="{FF2B5EF4-FFF2-40B4-BE49-F238E27FC236}">
                <a16:creationId xmlns:a16="http://schemas.microsoft.com/office/drawing/2014/main" id="{2D483946-1D1B-4132-7BAE-D10C6595BCCD}"/>
              </a:ext>
            </a:extLst>
          </p:cNvPr>
          <p:cNvSpPr>
            <a:spLocks noGrp="1"/>
          </p:cNvSpPr>
          <p:nvPr>
            <p:ph type="title"/>
          </p:nvPr>
        </p:nvSpPr>
        <p:spPr/>
        <p:txBody>
          <a:bodyPr/>
          <a:lstStyle/>
          <a:p>
            <a:r>
              <a:rPr lang="zh-CN" altLang="en-US" dirty="0"/>
              <a:t>概念结构设计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ou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0-#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p:cNvSpPr>
          <p:nvPr>
            <p:ph idx="1"/>
          </p:nvPr>
        </p:nvSpPr>
        <p:spPr/>
        <p:txBody>
          <a:bodyPr vert="horz" wrap="square" lIns="68580" tIns="34290" rIns="68580" bIns="34290" anchor="t" anchorCtr="0"/>
          <a:lstStyle/>
          <a:p>
            <a:pPr eaLnBrk="1" hangingPunct="1">
              <a:lnSpc>
                <a:spcPct val="90000"/>
              </a:lnSpc>
              <a:buNone/>
            </a:pPr>
            <a:r>
              <a:rPr lang="zh-CN" altLang="en-US" sz="1800" dirty="0">
                <a:solidFill>
                  <a:srgbClr val="CC0066"/>
                </a:solidFill>
              </a:rPr>
              <a:t>3、E-R图扩展</a:t>
            </a:r>
          </a:p>
          <a:p>
            <a:pPr eaLnBrk="1" hangingPunct="1">
              <a:lnSpc>
                <a:spcPct val="90000"/>
              </a:lnSpc>
              <a:buNone/>
            </a:pPr>
            <a:r>
              <a:rPr lang="zh-CN" altLang="en-US" sz="1800" dirty="0">
                <a:solidFill>
                  <a:schemeClr val="hlink"/>
                </a:solidFill>
              </a:rPr>
              <a:t>（1）数据抽象</a:t>
            </a:r>
          </a:p>
          <a:p>
            <a:pPr eaLnBrk="1" hangingPunct="1">
              <a:lnSpc>
                <a:spcPct val="90000"/>
              </a:lnSpc>
            </a:pPr>
            <a:r>
              <a:rPr lang="zh-CN" altLang="en-US" sz="1800" dirty="0"/>
              <a:t>两种抽象：</a:t>
            </a:r>
            <a:endParaRPr lang="zh-CN" altLang="en-US" sz="1800" i="1" dirty="0">
              <a:solidFill>
                <a:schemeClr val="folHlink"/>
              </a:solidFill>
            </a:endParaRPr>
          </a:p>
        </p:txBody>
      </p:sp>
      <p:sp>
        <p:nvSpPr>
          <p:cNvPr id="39939" name="Text Box 4"/>
          <p:cNvSpPr txBox="1"/>
          <p:nvPr/>
        </p:nvSpPr>
        <p:spPr>
          <a:xfrm flipV="1">
            <a:off x="1143000" y="2571750"/>
            <a:ext cx="628650" cy="285750"/>
          </a:xfrm>
          <a:prstGeom prst="rect">
            <a:avLst/>
          </a:prstGeom>
          <a:noFill/>
          <a:ln w="9525">
            <a:noFill/>
          </a:ln>
        </p:spPr>
        <p:txBody>
          <a:bodyPr rot="10800000" lIns="27000" tIns="8100" rIns="40500" bIns="8100" anchor="t" anchorCtr="0"/>
          <a:lstStyle/>
          <a:p>
            <a:pPr eaLnBrk="0" hangingPunct="0">
              <a:spcBef>
                <a:spcPct val="50000"/>
              </a:spcBef>
            </a:pPr>
            <a:endParaRPr lang="zh-CN" altLang="en-US" sz="1350" dirty="0">
              <a:latin typeface="Times New Roman" panose="02020603050405020304" pitchFamily="18" charset="0"/>
              <a:ea typeface="宋体" panose="02010600030101010101" pitchFamily="2" charset="-122"/>
            </a:endParaRPr>
          </a:p>
        </p:txBody>
      </p:sp>
      <p:grpSp>
        <p:nvGrpSpPr>
          <p:cNvPr id="2" name="Group 5"/>
          <p:cNvGrpSpPr/>
          <p:nvPr/>
        </p:nvGrpSpPr>
        <p:grpSpPr>
          <a:xfrm>
            <a:off x="5360476" y="873126"/>
            <a:ext cx="1600200" cy="1900238"/>
            <a:chOff x="0" y="0"/>
            <a:chExt cx="1344" cy="1596"/>
          </a:xfrm>
        </p:grpSpPr>
        <p:grpSp>
          <p:nvGrpSpPr>
            <p:cNvPr id="39941" name="Group 6"/>
            <p:cNvGrpSpPr/>
            <p:nvPr/>
          </p:nvGrpSpPr>
          <p:grpSpPr>
            <a:xfrm>
              <a:off x="0" y="0"/>
              <a:ext cx="1344" cy="1152"/>
              <a:chOff x="0" y="0"/>
              <a:chExt cx="1344" cy="1152"/>
            </a:xfrm>
          </p:grpSpPr>
          <p:sp>
            <p:nvSpPr>
              <p:cNvPr id="39942" name="Rectangle 7"/>
              <p:cNvSpPr/>
              <p:nvPr/>
            </p:nvSpPr>
            <p:spPr>
              <a:xfrm>
                <a:off x="432" y="0"/>
                <a:ext cx="576" cy="336"/>
              </a:xfrm>
              <a:prstGeom prst="rect">
                <a:avLst/>
              </a:prstGeom>
              <a:solidFill>
                <a:srgbClr val="47FFCF"/>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350" dirty="0">
                    <a:latin typeface="Microsoft YaHei" panose="020B0503020204020204" pitchFamily="34" charset="-122"/>
                    <a:ea typeface="Microsoft YaHei" panose="020B0503020204020204" pitchFamily="34" charset="-122"/>
                  </a:rPr>
                  <a:t>人体</a:t>
                </a:r>
              </a:p>
            </p:txBody>
          </p:sp>
          <p:grpSp>
            <p:nvGrpSpPr>
              <p:cNvPr id="39943" name="Group 8"/>
              <p:cNvGrpSpPr/>
              <p:nvPr/>
            </p:nvGrpSpPr>
            <p:grpSpPr>
              <a:xfrm>
                <a:off x="0" y="332"/>
                <a:ext cx="1344" cy="820"/>
                <a:chOff x="0" y="44"/>
                <a:chExt cx="1344" cy="820"/>
              </a:xfrm>
            </p:grpSpPr>
            <p:sp>
              <p:nvSpPr>
                <p:cNvPr id="39944" name="Rectangle 9"/>
                <p:cNvSpPr/>
                <p:nvPr/>
              </p:nvSpPr>
              <p:spPr>
                <a:xfrm>
                  <a:off x="288" y="624"/>
                  <a:ext cx="336" cy="240"/>
                </a:xfrm>
                <a:prstGeom prst="rect">
                  <a:avLst/>
                </a:prstGeom>
                <a:solidFill>
                  <a:srgbClr val="47FFCF"/>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350" dirty="0">
                      <a:latin typeface="Microsoft YaHei" panose="020B0503020204020204" pitchFamily="34" charset="-122"/>
                      <a:ea typeface="Microsoft YaHei" panose="020B0503020204020204" pitchFamily="34" charset="-122"/>
                    </a:rPr>
                    <a:t>头</a:t>
                  </a:r>
                  <a:endParaRPr lang="zh-CN" altLang="en-US" sz="1500" dirty="0">
                    <a:latin typeface="Microsoft YaHei" panose="020B0503020204020204" pitchFamily="34" charset="-122"/>
                    <a:ea typeface="Microsoft YaHei" panose="020B0503020204020204" pitchFamily="34" charset="-122"/>
                  </a:endParaRPr>
                </a:p>
              </p:txBody>
            </p:sp>
            <p:sp>
              <p:nvSpPr>
                <p:cNvPr id="39945" name="Rectangle 10"/>
                <p:cNvSpPr/>
                <p:nvPr/>
              </p:nvSpPr>
              <p:spPr>
                <a:xfrm>
                  <a:off x="1008" y="288"/>
                  <a:ext cx="336" cy="240"/>
                </a:xfrm>
                <a:prstGeom prst="rect">
                  <a:avLst/>
                </a:prstGeom>
                <a:solidFill>
                  <a:srgbClr val="47FFCF"/>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350" dirty="0">
                      <a:latin typeface="Microsoft YaHei" panose="020B0503020204020204" pitchFamily="34" charset="-122"/>
                      <a:ea typeface="Microsoft YaHei" panose="020B0503020204020204" pitchFamily="34" charset="-122"/>
                    </a:rPr>
                    <a:t>足</a:t>
                  </a:r>
                  <a:endParaRPr lang="zh-CN" altLang="en-US" sz="1500" dirty="0">
                    <a:latin typeface="Microsoft YaHei" panose="020B0503020204020204" pitchFamily="34" charset="-122"/>
                    <a:ea typeface="Microsoft YaHei" panose="020B0503020204020204" pitchFamily="34" charset="-122"/>
                  </a:endParaRPr>
                </a:p>
              </p:txBody>
            </p:sp>
            <p:sp>
              <p:nvSpPr>
                <p:cNvPr id="39946" name="Rectangle 11"/>
                <p:cNvSpPr/>
                <p:nvPr/>
              </p:nvSpPr>
              <p:spPr>
                <a:xfrm>
                  <a:off x="768" y="624"/>
                  <a:ext cx="336" cy="240"/>
                </a:xfrm>
                <a:prstGeom prst="rect">
                  <a:avLst/>
                </a:prstGeom>
                <a:solidFill>
                  <a:srgbClr val="47FFCF"/>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350" dirty="0">
                      <a:latin typeface="Microsoft YaHei" panose="020B0503020204020204" pitchFamily="34" charset="-122"/>
                      <a:ea typeface="Microsoft YaHei" panose="020B0503020204020204" pitchFamily="34" charset="-122"/>
                    </a:rPr>
                    <a:t>手</a:t>
                  </a:r>
                  <a:endParaRPr lang="zh-CN" altLang="en-US" sz="1500" dirty="0">
                    <a:latin typeface="Microsoft YaHei" panose="020B0503020204020204" pitchFamily="34" charset="-122"/>
                    <a:ea typeface="Microsoft YaHei" panose="020B0503020204020204" pitchFamily="34" charset="-122"/>
                  </a:endParaRPr>
                </a:p>
              </p:txBody>
            </p:sp>
            <p:sp>
              <p:nvSpPr>
                <p:cNvPr id="39947" name="Rectangle 12"/>
                <p:cNvSpPr/>
                <p:nvPr/>
              </p:nvSpPr>
              <p:spPr>
                <a:xfrm>
                  <a:off x="0" y="336"/>
                  <a:ext cx="336" cy="240"/>
                </a:xfrm>
                <a:prstGeom prst="rect">
                  <a:avLst/>
                </a:prstGeom>
                <a:solidFill>
                  <a:srgbClr val="47FFCF"/>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350" dirty="0">
                      <a:latin typeface="Microsoft YaHei" panose="020B0503020204020204" pitchFamily="34" charset="-122"/>
                      <a:ea typeface="Microsoft YaHei" panose="020B0503020204020204" pitchFamily="34" charset="-122"/>
                    </a:rPr>
                    <a:t>身</a:t>
                  </a:r>
                  <a:endParaRPr lang="zh-CN" altLang="en-US" sz="1500" dirty="0">
                    <a:latin typeface="Microsoft YaHei" panose="020B0503020204020204" pitchFamily="34" charset="-122"/>
                    <a:ea typeface="Microsoft YaHei" panose="020B0503020204020204" pitchFamily="34" charset="-122"/>
                  </a:endParaRPr>
                </a:p>
              </p:txBody>
            </p:sp>
            <p:sp>
              <p:nvSpPr>
                <p:cNvPr id="39948" name="Line 13"/>
                <p:cNvSpPr/>
                <p:nvPr/>
              </p:nvSpPr>
              <p:spPr>
                <a:xfrm flipH="1">
                  <a:off x="336" y="44"/>
                  <a:ext cx="384" cy="292"/>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9949" name="Line 14"/>
                <p:cNvSpPr/>
                <p:nvPr/>
              </p:nvSpPr>
              <p:spPr>
                <a:xfrm flipH="1">
                  <a:off x="576" y="61"/>
                  <a:ext cx="144" cy="563"/>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9950" name="Line 15"/>
                <p:cNvSpPr/>
                <p:nvPr/>
              </p:nvSpPr>
              <p:spPr>
                <a:xfrm>
                  <a:off x="720" y="48"/>
                  <a:ext cx="192" cy="576"/>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9951" name="Line 16"/>
                <p:cNvSpPr/>
                <p:nvPr/>
              </p:nvSpPr>
              <p:spPr>
                <a:xfrm>
                  <a:off x="730" y="44"/>
                  <a:ext cx="278" cy="244"/>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sp>
          <p:nvSpPr>
            <p:cNvPr id="39952" name="Text Box 17"/>
            <p:cNvSpPr txBox="1"/>
            <p:nvPr/>
          </p:nvSpPr>
          <p:spPr>
            <a:xfrm>
              <a:off x="528" y="1344"/>
              <a:ext cx="624" cy="252"/>
            </a:xfrm>
            <a:prstGeom prst="rect">
              <a:avLst/>
            </a:prstGeom>
            <a:noFill/>
            <a:ln w="9525">
              <a:noFill/>
            </a:ln>
          </p:spPr>
          <p:txBody>
            <a:bodyPr anchor="t" anchorCtr="0">
              <a:spAutoFit/>
            </a:bodyPr>
            <a:lstStyle/>
            <a:p>
              <a:pPr>
                <a:spcBef>
                  <a:spcPct val="50000"/>
                </a:spcBef>
              </a:pPr>
              <a:r>
                <a:rPr lang="zh-CN" altLang="en-US" sz="1350" dirty="0">
                  <a:solidFill>
                    <a:schemeClr val="hlink"/>
                  </a:solidFill>
                  <a:latin typeface="Microsoft YaHei" panose="020B0503020204020204" pitchFamily="34" charset="-122"/>
                  <a:ea typeface="Microsoft YaHei" panose="020B0503020204020204" pitchFamily="34" charset="-122"/>
                </a:rPr>
                <a:t>聚集</a:t>
              </a:r>
            </a:p>
          </p:txBody>
        </p:sp>
      </p:grpSp>
      <p:grpSp>
        <p:nvGrpSpPr>
          <p:cNvPr id="5" name="Group 18"/>
          <p:cNvGrpSpPr/>
          <p:nvPr/>
        </p:nvGrpSpPr>
        <p:grpSpPr>
          <a:xfrm>
            <a:off x="4846126" y="3139830"/>
            <a:ext cx="3429000" cy="1614488"/>
            <a:chOff x="0" y="0"/>
            <a:chExt cx="2880" cy="1356"/>
          </a:xfrm>
        </p:grpSpPr>
        <p:grpSp>
          <p:nvGrpSpPr>
            <p:cNvPr id="39954" name="Group 19"/>
            <p:cNvGrpSpPr/>
            <p:nvPr/>
          </p:nvGrpSpPr>
          <p:grpSpPr>
            <a:xfrm>
              <a:off x="0" y="0"/>
              <a:ext cx="2880" cy="1008"/>
              <a:chOff x="0" y="0"/>
              <a:chExt cx="2880" cy="1008"/>
            </a:xfrm>
          </p:grpSpPr>
          <p:grpSp>
            <p:nvGrpSpPr>
              <p:cNvPr id="39955" name="Group 20"/>
              <p:cNvGrpSpPr/>
              <p:nvPr/>
            </p:nvGrpSpPr>
            <p:grpSpPr>
              <a:xfrm>
                <a:off x="720" y="336"/>
                <a:ext cx="672" cy="672"/>
                <a:chOff x="0" y="0"/>
                <a:chExt cx="672" cy="672"/>
              </a:xfrm>
            </p:grpSpPr>
            <p:sp>
              <p:nvSpPr>
                <p:cNvPr id="39956" name="AutoShape 21"/>
                <p:cNvSpPr/>
                <p:nvPr/>
              </p:nvSpPr>
              <p:spPr>
                <a:xfrm>
                  <a:off x="0" y="288"/>
                  <a:ext cx="672" cy="384"/>
                </a:xfrm>
                <a:prstGeom prst="flowChartPredefinedProcess">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spcBef>
                      <a:spcPct val="50000"/>
                    </a:spcBef>
                  </a:pPr>
                  <a:r>
                    <a:rPr lang="zh-CN" altLang="en-US" sz="1350" dirty="0">
                      <a:latin typeface="Microsoft YaHei" panose="020B0503020204020204" pitchFamily="34" charset="-122"/>
                      <a:ea typeface="Microsoft YaHei" panose="020B0503020204020204" pitchFamily="34" charset="-122"/>
                    </a:rPr>
                    <a:t>工人</a:t>
                  </a:r>
                </a:p>
              </p:txBody>
            </p:sp>
            <p:grpSp>
              <p:nvGrpSpPr>
                <p:cNvPr id="39957" name="Group 22"/>
                <p:cNvGrpSpPr/>
                <p:nvPr/>
              </p:nvGrpSpPr>
              <p:grpSpPr>
                <a:xfrm>
                  <a:off x="288" y="0"/>
                  <a:ext cx="192" cy="288"/>
                  <a:chOff x="0" y="0"/>
                  <a:chExt cx="192" cy="288"/>
                </a:xfrm>
              </p:grpSpPr>
              <p:sp>
                <p:nvSpPr>
                  <p:cNvPr id="39958" name="Line 23"/>
                  <p:cNvSpPr/>
                  <p:nvPr/>
                </p:nvSpPr>
                <p:spPr>
                  <a:xfrm flipH="1">
                    <a:off x="0" y="0"/>
                    <a:ext cx="192" cy="28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9959" name="Oval 24"/>
                  <p:cNvSpPr/>
                  <p:nvPr/>
                </p:nvSpPr>
                <p:spPr>
                  <a:xfrm>
                    <a:off x="48" y="144"/>
                    <a:ext cx="48" cy="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grpSp>
          </p:grpSp>
          <p:grpSp>
            <p:nvGrpSpPr>
              <p:cNvPr id="39960" name="Group 25"/>
              <p:cNvGrpSpPr/>
              <p:nvPr/>
            </p:nvGrpSpPr>
            <p:grpSpPr>
              <a:xfrm>
                <a:off x="0" y="0"/>
                <a:ext cx="2880" cy="1008"/>
                <a:chOff x="0" y="0"/>
                <a:chExt cx="2880" cy="1008"/>
              </a:xfrm>
            </p:grpSpPr>
            <p:sp>
              <p:nvSpPr>
                <p:cNvPr id="39961" name="Rectangle 26"/>
                <p:cNvSpPr/>
                <p:nvPr/>
              </p:nvSpPr>
              <p:spPr>
                <a:xfrm>
                  <a:off x="960" y="0"/>
                  <a:ext cx="576" cy="336"/>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spcBef>
                      <a:spcPct val="50000"/>
                    </a:spcBef>
                  </a:pPr>
                  <a:r>
                    <a:rPr lang="zh-CN" altLang="en-US" sz="1350" dirty="0">
                      <a:latin typeface="Microsoft YaHei" panose="020B0503020204020204" pitchFamily="34" charset="-122"/>
                      <a:ea typeface="Microsoft YaHei" panose="020B0503020204020204" pitchFamily="34" charset="-122"/>
                    </a:rPr>
                    <a:t>人</a:t>
                  </a:r>
                </a:p>
              </p:txBody>
            </p:sp>
            <p:grpSp>
              <p:nvGrpSpPr>
                <p:cNvPr id="39962" name="Group 27"/>
                <p:cNvGrpSpPr/>
                <p:nvPr/>
              </p:nvGrpSpPr>
              <p:grpSpPr>
                <a:xfrm>
                  <a:off x="0" y="336"/>
                  <a:ext cx="1200" cy="672"/>
                  <a:chOff x="0" y="0"/>
                  <a:chExt cx="1200" cy="672"/>
                </a:xfrm>
              </p:grpSpPr>
              <p:sp>
                <p:nvSpPr>
                  <p:cNvPr id="39963" name="AutoShape 28"/>
                  <p:cNvSpPr/>
                  <p:nvPr/>
                </p:nvSpPr>
                <p:spPr>
                  <a:xfrm>
                    <a:off x="0" y="288"/>
                    <a:ext cx="672" cy="384"/>
                  </a:xfrm>
                  <a:prstGeom prst="flowChartPredefinedProcess">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spcBef>
                        <a:spcPct val="50000"/>
                      </a:spcBef>
                    </a:pPr>
                    <a:r>
                      <a:rPr lang="zh-CN" altLang="en-US" sz="1350" dirty="0">
                        <a:latin typeface="Microsoft YaHei" panose="020B0503020204020204" pitchFamily="34" charset="-122"/>
                        <a:ea typeface="Microsoft YaHei" panose="020B0503020204020204" pitchFamily="34" charset="-122"/>
                      </a:rPr>
                      <a:t>农民</a:t>
                    </a:r>
                  </a:p>
                </p:txBody>
              </p:sp>
              <p:grpSp>
                <p:nvGrpSpPr>
                  <p:cNvPr id="39964" name="Group 29"/>
                  <p:cNvGrpSpPr/>
                  <p:nvPr/>
                </p:nvGrpSpPr>
                <p:grpSpPr>
                  <a:xfrm>
                    <a:off x="528" y="0"/>
                    <a:ext cx="672" cy="288"/>
                    <a:chOff x="0" y="0"/>
                    <a:chExt cx="672" cy="288"/>
                  </a:xfrm>
                </p:grpSpPr>
                <p:sp>
                  <p:nvSpPr>
                    <p:cNvPr id="39965" name="Line 30"/>
                    <p:cNvSpPr/>
                    <p:nvPr/>
                  </p:nvSpPr>
                  <p:spPr>
                    <a:xfrm flipH="1">
                      <a:off x="0" y="0"/>
                      <a:ext cx="672" cy="28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9966" name="Oval 31"/>
                    <p:cNvSpPr/>
                    <p:nvPr/>
                  </p:nvSpPr>
                  <p:spPr>
                    <a:xfrm>
                      <a:off x="336" y="96"/>
                      <a:ext cx="48" cy="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grpSp>
            </p:grpSp>
            <p:grpSp>
              <p:nvGrpSpPr>
                <p:cNvPr id="39967" name="Group 32"/>
                <p:cNvGrpSpPr/>
                <p:nvPr/>
              </p:nvGrpSpPr>
              <p:grpSpPr>
                <a:xfrm>
                  <a:off x="1200" y="336"/>
                  <a:ext cx="912" cy="672"/>
                  <a:chOff x="0" y="0"/>
                  <a:chExt cx="912" cy="672"/>
                </a:xfrm>
              </p:grpSpPr>
              <p:sp>
                <p:nvSpPr>
                  <p:cNvPr id="39968" name="AutoShape 33"/>
                  <p:cNvSpPr/>
                  <p:nvPr/>
                </p:nvSpPr>
                <p:spPr>
                  <a:xfrm>
                    <a:off x="240" y="288"/>
                    <a:ext cx="672" cy="384"/>
                  </a:xfrm>
                  <a:prstGeom prst="flowChartPredefinedProcess">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spcBef>
                        <a:spcPct val="50000"/>
                      </a:spcBef>
                    </a:pPr>
                    <a:r>
                      <a:rPr lang="zh-CN" altLang="en-US" sz="1350" dirty="0">
                        <a:latin typeface="Microsoft YaHei" panose="020B0503020204020204" pitchFamily="34" charset="-122"/>
                        <a:ea typeface="Microsoft YaHei" panose="020B0503020204020204" pitchFamily="34" charset="-122"/>
                      </a:rPr>
                      <a:t>学生</a:t>
                    </a:r>
                  </a:p>
                </p:txBody>
              </p:sp>
              <p:grpSp>
                <p:nvGrpSpPr>
                  <p:cNvPr id="39969" name="Group 34"/>
                  <p:cNvGrpSpPr/>
                  <p:nvPr/>
                </p:nvGrpSpPr>
                <p:grpSpPr>
                  <a:xfrm>
                    <a:off x="0" y="0"/>
                    <a:ext cx="384" cy="288"/>
                    <a:chOff x="0" y="0"/>
                    <a:chExt cx="384" cy="288"/>
                  </a:xfrm>
                </p:grpSpPr>
                <p:sp>
                  <p:nvSpPr>
                    <p:cNvPr id="39970" name="Line 35"/>
                    <p:cNvSpPr/>
                    <p:nvPr/>
                  </p:nvSpPr>
                  <p:spPr>
                    <a:xfrm>
                      <a:off x="0" y="0"/>
                      <a:ext cx="384" cy="28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9971" name="Oval 36"/>
                    <p:cNvSpPr/>
                    <p:nvPr/>
                  </p:nvSpPr>
                  <p:spPr>
                    <a:xfrm>
                      <a:off x="192" y="144"/>
                      <a:ext cx="48" cy="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grpSp>
            </p:grpSp>
            <p:grpSp>
              <p:nvGrpSpPr>
                <p:cNvPr id="39972" name="Group 37"/>
                <p:cNvGrpSpPr/>
                <p:nvPr/>
              </p:nvGrpSpPr>
              <p:grpSpPr>
                <a:xfrm>
                  <a:off x="1248" y="336"/>
                  <a:ext cx="1632" cy="672"/>
                  <a:chOff x="0" y="0"/>
                  <a:chExt cx="1632" cy="672"/>
                </a:xfrm>
              </p:grpSpPr>
              <p:sp>
                <p:nvSpPr>
                  <p:cNvPr id="39973" name="AutoShape 38"/>
                  <p:cNvSpPr/>
                  <p:nvPr/>
                </p:nvSpPr>
                <p:spPr>
                  <a:xfrm>
                    <a:off x="960" y="288"/>
                    <a:ext cx="672" cy="384"/>
                  </a:xfrm>
                  <a:prstGeom prst="flowChartPredefinedProcess">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spcBef>
                        <a:spcPct val="50000"/>
                      </a:spcBef>
                    </a:pPr>
                    <a:r>
                      <a:rPr lang="zh-CN" altLang="en-US" sz="1350" dirty="0">
                        <a:latin typeface="Microsoft YaHei" panose="020B0503020204020204" pitchFamily="34" charset="-122"/>
                        <a:ea typeface="Microsoft YaHei" panose="020B0503020204020204" pitchFamily="34" charset="-122"/>
                      </a:rPr>
                      <a:t>干部</a:t>
                    </a:r>
                  </a:p>
                </p:txBody>
              </p:sp>
              <p:grpSp>
                <p:nvGrpSpPr>
                  <p:cNvPr id="39974" name="Group 39"/>
                  <p:cNvGrpSpPr/>
                  <p:nvPr/>
                </p:nvGrpSpPr>
                <p:grpSpPr>
                  <a:xfrm>
                    <a:off x="0" y="0"/>
                    <a:ext cx="1104" cy="288"/>
                    <a:chOff x="0" y="0"/>
                    <a:chExt cx="1104" cy="288"/>
                  </a:xfrm>
                </p:grpSpPr>
                <p:sp>
                  <p:nvSpPr>
                    <p:cNvPr id="39975" name="Line 40"/>
                    <p:cNvSpPr/>
                    <p:nvPr/>
                  </p:nvSpPr>
                  <p:spPr>
                    <a:xfrm>
                      <a:off x="0" y="0"/>
                      <a:ext cx="1104" cy="28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9976" name="Oval 41"/>
                    <p:cNvSpPr/>
                    <p:nvPr/>
                  </p:nvSpPr>
                  <p:spPr>
                    <a:xfrm>
                      <a:off x="432" y="96"/>
                      <a:ext cx="48" cy="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grpSp>
            </p:grpSp>
          </p:grpSp>
        </p:grpSp>
        <p:sp>
          <p:nvSpPr>
            <p:cNvPr id="39977" name="Text Box 42"/>
            <p:cNvSpPr txBox="1"/>
            <p:nvPr/>
          </p:nvSpPr>
          <p:spPr>
            <a:xfrm>
              <a:off x="1152" y="1104"/>
              <a:ext cx="672" cy="252"/>
            </a:xfrm>
            <a:prstGeom prst="rect">
              <a:avLst/>
            </a:prstGeom>
            <a:noFill/>
            <a:ln w="9525">
              <a:noFill/>
            </a:ln>
          </p:spPr>
          <p:txBody>
            <a:bodyPr anchor="t" anchorCtr="0">
              <a:spAutoFit/>
            </a:bodyPr>
            <a:lstStyle/>
            <a:p>
              <a:pPr>
                <a:spcBef>
                  <a:spcPct val="50000"/>
                </a:spcBef>
              </a:pPr>
              <a:r>
                <a:rPr lang="zh-CN" altLang="en-US" sz="1350" dirty="0">
                  <a:solidFill>
                    <a:schemeClr val="hlink"/>
                  </a:solidFill>
                  <a:latin typeface="Microsoft YaHei" panose="020B0503020204020204" pitchFamily="34" charset="-122"/>
                  <a:ea typeface="Microsoft YaHei" panose="020B0503020204020204" pitchFamily="34" charset="-122"/>
                </a:rPr>
                <a:t>概括</a:t>
              </a:r>
            </a:p>
          </p:txBody>
        </p:sp>
      </p:grpSp>
      <p:sp>
        <p:nvSpPr>
          <p:cNvPr id="39978" name="Text Box 43"/>
          <p:cNvSpPr txBox="1"/>
          <p:nvPr/>
        </p:nvSpPr>
        <p:spPr>
          <a:xfrm>
            <a:off x="1104066" y="2412597"/>
            <a:ext cx="2631758" cy="1249573"/>
          </a:xfrm>
          <a:prstGeom prst="rect">
            <a:avLst/>
          </a:prstGeom>
          <a:noFill/>
          <a:ln w="9525">
            <a:noFill/>
          </a:ln>
        </p:spPr>
        <p:txBody>
          <a:bodyPr wrap="square" anchor="t" anchorCtr="0">
            <a:spAutoFit/>
          </a:bodyPr>
          <a:lstStyle/>
          <a:p>
            <a:pPr>
              <a:lnSpc>
                <a:spcPct val="90000"/>
              </a:lnSpc>
              <a:spcBef>
                <a:spcPct val="20000"/>
              </a:spcBef>
              <a:buClr>
                <a:schemeClr val="hlink"/>
              </a:buClr>
              <a:buFont typeface="Wingdings" panose="05000000000000000000" pitchFamily="2" charset="2"/>
              <a:buChar char="Ø"/>
            </a:pPr>
            <a:r>
              <a:rPr lang="zh-CN" altLang="en-US" sz="1600" dirty="0">
                <a:latin typeface="Microsoft YaHei" panose="020B0503020204020204" pitchFamily="34" charset="-122"/>
                <a:ea typeface="Microsoft YaHei" panose="020B0503020204020204" pitchFamily="34" charset="-122"/>
              </a:rPr>
              <a:t>聚集</a:t>
            </a:r>
          </a:p>
          <a:p>
            <a:pPr>
              <a:lnSpc>
                <a:spcPct val="90000"/>
              </a:lnSpc>
              <a:spcBef>
                <a:spcPct val="20000"/>
              </a:spcBef>
              <a:buClr>
                <a:schemeClr val="hlink"/>
              </a:buClr>
            </a:pPr>
            <a:r>
              <a:rPr lang="zh-CN" altLang="en-US" sz="1600" dirty="0">
                <a:latin typeface="Microsoft YaHei" panose="020B0503020204020204" pitchFamily="34" charset="-122"/>
                <a:ea typeface="Microsoft YaHei" panose="020B0503020204020204" pitchFamily="34" charset="-122"/>
              </a:rPr>
              <a:t>定义了某一类型的组成成分。它抽象了对象内部类型和成分之间的“</a:t>
            </a:r>
            <a:r>
              <a:rPr lang="en-US" altLang="zh-CN" sz="1600" dirty="0">
                <a:latin typeface="Microsoft YaHei" panose="020B0503020204020204" pitchFamily="34" charset="-122"/>
                <a:ea typeface="Microsoft YaHei" panose="020B0503020204020204" pitchFamily="34" charset="-122"/>
              </a:rPr>
              <a:t>is part of”</a:t>
            </a:r>
            <a:r>
              <a:rPr lang="zh-CN" altLang="en-US" sz="1600" dirty="0">
                <a:latin typeface="Microsoft YaHei" panose="020B0503020204020204" pitchFamily="34" charset="-122"/>
                <a:ea typeface="Microsoft YaHei" panose="020B0503020204020204" pitchFamily="34" charset="-122"/>
              </a:rPr>
              <a:t>的语义。 </a:t>
            </a:r>
          </a:p>
        </p:txBody>
      </p:sp>
      <p:sp>
        <p:nvSpPr>
          <p:cNvPr id="39979" name="Text Box 44"/>
          <p:cNvSpPr txBox="1"/>
          <p:nvPr/>
        </p:nvSpPr>
        <p:spPr>
          <a:xfrm>
            <a:off x="1143000" y="3743809"/>
            <a:ext cx="2857500" cy="1027974"/>
          </a:xfrm>
          <a:prstGeom prst="rect">
            <a:avLst/>
          </a:prstGeom>
          <a:noFill/>
          <a:ln w="9525">
            <a:noFill/>
          </a:ln>
        </p:spPr>
        <p:txBody>
          <a:bodyPr anchor="t" anchorCtr="0">
            <a:spAutoFit/>
          </a:bodyPr>
          <a:lstStyle/>
          <a:p>
            <a:pPr>
              <a:lnSpc>
                <a:spcPct val="90000"/>
              </a:lnSpc>
              <a:spcBef>
                <a:spcPct val="20000"/>
              </a:spcBef>
              <a:buClr>
                <a:schemeClr val="hlink"/>
              </a:buClr>
              <a:buFont typeface="Wingdings" panose="05000000000000000000" pitchFamily="2" charset="2"/>
              <a:buChar char="Ø"/>
            </a:pPr>
            <a:r>
              <a:rPr lang="zh-CN" altLang="en-US" sz="1600" dirty="0">
                <a:latin typeface="Microsoft YaHei" panose="020B0503020204020204" pitchFamily="34" charset="-122"/>
                <a:ea typeface="Microsoft YaHei" panose="020B0503020204020204" pitchFamily="34" charset="-122"/>
              </a:rPr>
              <a:t>概括</a:t>
            </a:r>
            <a:r>
              <a:rPr lang="en-US" altLang="zh-CN" sz="1600" dirty="0">
                <a:latin typeface="Microsoft YaHei" panose="020B0503020204020204" pitchFamily="34" charset="-122"/>
                <a:ea typeface="Microsoft YaHei" panose="020B0503020204020204" pitchFamily="34" charset="-122"/>
              </a:rPr>
              <a:t>(</a:t>
            </a:r>
            <a:r>
              <a:rPr lang="zh-CN" altLang="en-US" sz="1600" dirty="0">
                <a:latin typeface="Microsoft YaHei" panose="020B0503020204020204" pitchFamily="34" charset="-122"/>
                <a:ea typeface="Microsoft YaHei" panose="020B0503020204020204" pitchFamily="34" charset="-122"/>
              </a:rPr>
              <a:t>继承</a:t>
            </a:r>
            <a:r>
              <a:rPr lang="en-US" altLang="zh-CN" sz="1600" dirty="0">
                <a:latin typeface="Microsoft YaHei" panose="020B0503020204020204" pitchFamily="34" charset="-122"/>
                <a:ea typeface="Microsoft YaHei" panose="020B0503020204020204" pitchFamily="34" charset="-122"/>
              </a:rPr>
              <a:t>)</a:t>
            </a:r>
          </a:p>
          <a:p>
            <a:pPr>
              <a:lnSpc>
                <a:spcPct val="90000"/>
              </a:lnSpc>
              <a:spcBef>
                <a:spcPct val="20000"/>
              </a:spcBef>
              <a:buClr>
                <a:schemeClr val="hlink"/>
              </a:buClr>
            </a:pPr>
            <a:r>
              <a:rPr lang="zh-CN" altLang="en-US" sz="1600" dirty="0">
                <a:latin typeface="Microsoft YaHei" panose="020B0503020204020204" pitchFamily="34" charset="-122"/>
                <a:ea typeface="Microsoft YaHei" panose="020B0503020204020204" pitchFamily="34" charset="-122"/>
              </a:rPr>
              <a:t>定义类型之间的一种子集联系。它抽象了类型之间的“</a:t>
            </a:r>
            <a:r>
              <a:rPr lang="en-US" altLang="zh-CN" sz="1600" dirty="0">
                <a:latin typeface="Microsoft YaHei" panose="020B0503020204020204" pitchFamily="34" charset="-122"/>
                <a:ea typeface="Microsoft YaHei" panose="020B0503020204020204" pitchFamily="34" charset="-122"/>
              </a:rPr>
              <a:t>is subset of”</a:t>
            </a:r>
            <a:r>
              <a:rPr lang="zh-CN" altLang="en-US" sz="1600" dirty="0">
                <a:latin typeface="Microsoft YaHei" panose="020B0503020204020204" pitchFamily="34" charset="-122"/>
                <a:ea typeface="Microsoft YaHei" panose="020B0503020204020204" pitchFamily="34" charset="-122"/>
              </a:rPr>
              <a:t>的语义。</a:t>
            </a:r>
          </a:p>
        </p:txBody>
      </p:sp>
      <p:sp>
        <p:nvSpPr>
          <p:cNvPr id="4" name="标题 3">
            <a:extLst>
              <a:ext uri="{FF2B5EF4-FFF2-40B4-BE49-F238E27FC236}">
                <a16:creationId xmlns:a16="http://schemas.microsoft.com/office/drawing/2014/main" id="{C64B5EB3-9F3A-35B5-23D2-C94D95D37DCB}"/>
              </a:ext>
            </a:extLst>
          </p:cNvPr>
          <p:cNvSpPr>
            <a:spLocks noGrp="1"/>
          </p:cNvSpPr>
          <p:nvPr>
            <p:ph type="title"/>
          </p:nvPr>
        </p:nvSpPr>
        <p:spPr/>
        <p:txBody>
          <a:bodyPr/>
          <a:lstStyle/>
          <a:p>
            <a:r>
              <a:rPr lang="zh-CN" altLang="en-US" dirty="0"/>
              <a:t>概念结构设计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ou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p:txBody>
          <a:bodyPr vert="horz" wrap="square" lIns="68580" tIns="34290" rIns="68580" bIns="34290" numCol="1" anchor="t" anchorCtr="0" compatLnSpc="1"/>
          <a:lstStyle/>
          <a:p>
            <a:pPr marL="257175" indent="-257175" defTabSz="685800" fontAlgn="base">
              <a:spcBef>
                <a:spcPct val="20000"/>
              </a:spcBef>
              <a:spcAft>
                <a:spcPct val="0"/>
              </a:spcAft>
              <a:buClr>
                <a:schemeClr val="folHlink"/>
              </a:buClr>
              <a:buSzPct val="60000"/>
              <a:buNone/>
              <a:defRPr/>
            </a:pPr>
            <a:r>
              <a:rPr lang="zh-CN" altLang="en-US" sz="1800" kern="0" dirty="0">
                <a:solidFill>
                  <a:schemeClr val="hlink"/>
                </a:solidFill>
                <a:cs typeface="楷体" panose="02010609060101010101" pitchFamily="49" charset="-122"/>
              </a:rPr>
              <a:t>（2）属性</a:t>
            </a:r>
          </a:p>
          <a:p>
            <a:pPr marL="600075" lvl="1" indent="-257175" defTabSz="685800" fontAlgn="base">
              <a:spcBef>
                <a:spcPct val="20000"/>
              </a:spcBef>
              <a:spcAft>
                <a:spcPct val="0"/>
              </a:spcAft>
              <a:buClr>
                <a:schemeClr val="hlink"/>
              </a:buClr>
              <a:buFont typeface="Wingdings" panose="05000000000000000000" pitchFamily="2" charset="2"/>
              <a:buChar char="Ø"/>
              <a:defRPr/>
            </a:pPr>
            <a:r>
              <a:rPr lang="zh-CN" altLang="en-US" sz="1541" kern="0" dirty="0">
                <a:cs typeface="楷体" panose="02010609060101010101" pitchFamily="49" charset="-122"/>
              </a:rPr>
              <a:t>单值属性：用椭圆表示。</a:t>
            </a:r>
          </a:p>
          <a:p>
            <a:pPr marL="600075" lvl="1" indent="-257175" defTabSz="685800" fontAlgn="base">
              <a:spcBef>
                <a:spcPct val="20000"/>
              </a:spcBef>
              <a:spcAft>
                <a:spcPct val="0"/>
              </a:spcAft>
              <a:buClr>
                <a:schemeClr val="hlink"/>
              </a:buClr>
              <a:buFont typeface="Wingdings" panose="05000000000000000000" pitchFamily="2" charset="2"/>
              <a:buChar char="Ø"/>
              <a:defRPr/>
            </a:pPr>
            <a:r>
              <a:rPr lang="zh-CN" altLang="en-US" sz="1541" kern="0" dirty="0">
                <a:cs typeface="楷体" panose="02010609060101010101" pitchFamily="49" charset="-122"/>
              </a:rPr>
              <a:t>多值属性：用双椭圆表示。</a:t>
            </a:r>
          </a:p>
          <a:p>
            <a:pPr marL="600075" lvl="1" indent="-257175" defTabSz="685800" fontAlgn="base">
              <a:spcBef>
                <a:spcPct val="20000"/>
              </a:spcBef>
              <a:spcAft>
                <a:spcPct val="0"/>
              </a:spcAft>
              <a:buClr>
                <a:schemeClr val="hlink"/>
              </a:buClr>
              <a:buFont typeface="Wingdings" panose="05000000000000000000" pitchFamily="2" charset="2"/>
              <a:buChar char="Ø"/>
              <a:defRPr/>
            </a:pPr>
            <a:r>
              <a:rPr lang="zh-CN" altLang="en-US" sz="1541" kern="0" dirty="0">
                <a:cs typeface="楷体" panose="02010609060101010101" pitchFamily="49" charset="-122"/>
              </a:rPr>
              <a:t>派生属性：用虚椭圆表示。 </a:t>
            </a:r>
          </a:p>
          <a:p>
            <a:pPr marL="600075" lvl="1" indent="-257175" defTabSz="685800" fontAlgn="base">
              <a:spcBef>
                <a:spcPct val="20000"/>
              </a:spcBef>
              <a:spcAft>
                <a:spcPct val="0"/>
              </a:spcAft>
              <a:buClr>
                <a:schemeClr val="hlink"/>
              </a:buClr>
              <a:buFont typeface="Wingdings" panose="05000000000000000000" pitchFamily="2" charset="2"/>
              <a:buChar char="Ø"/>
              <a:defRPr/>
            </a:pPr>
            <a:r>
              <a:rPr lang="zh-CN" altLang="en-US" sz="1541" kern="0" dirty="0">
                <a:cs typeface="楷体" panose="02010609060101010101" pitchFamily="49" charset="-122"/>
              </a:rPr>
              <a:t>复合属性：包含其它属性的属性。   </a:t>
            </a:r>
          </a:p>
          <a:p>
            <a:pPr marL="257175" indent="-257175" defTabSz="685800" fontAlgn="base">
              <a:spcBef>
                <a:spcPct val="20000"/>
              </a:spcBef>
              <a:spcAft>
                <a:spcPct val="0"/>
              </a:spcAft>
              <a:buClr>
                <a:schemeClr val="hlink"/>
              </a:buClr>
              <a:buNone/>
              <a:defRPr/>
            </a:pPr>
            <a:endParaRPr lang="zh-CN" altLang="en-US" sz="1800" kern="0" dirty="0">
              <a:cs typeface="楷体" panose="02010609060101010101" pitchFamily="49" charset="-122"/>
            </a:endParaRPr>
          </a:p>
        </p:txBody>
      </p:sp>
      <p:pic>
        <p:nvPicPr>
          <p:cNvPr id="7" name="图片 6" descr="IMG_7171(20200208-114628).JPG"/>
          <p:cNvPicPr>
            <a:picLocks noChangeAspect="1"/>
          </p:cNvPicPr>
          <p:nvPr/>
        </p:nvPicPr>
        <p:blipFill>
          <a:blip r:embed="rId2"/>
          <a:srcRect l="6178" t="10534" r="6029" b="16991"/>
          <a:stretch>
            <a:fillRect/>
          </a:stretch>
        </p:blipFill>
        <p:spPr>
          <a:xfrm>
            <a:off x="4633993" y="2038027"/>
            <a:ext cx="4029560" cy="1968285"/>
          </a:xfrm>
          <a:prstGeom prst="rect">
            <a:avLst/>
          </a:prstGeom>
          <a:noFill/>
          <a:ln w="9525">
            <a:noFill/>
          </a:ln>
        </p:spPr>
      </p:pic>
      <p:sp>
        <p:nvSpPr>
          <p:cNvPr id="3" name="标题 2">
            <a:extLst>
              <a:ext uri="{FF2B5EF4-FFF2-40B4-BE49-F238E27FC236}">
                <a16:creationId xmlns:a16="http://schemas.microsoft.com/office/drawing/2014/main" id="{53CDFEB8-C82F-AA70-41C7-94085F4B6747}"/>
              </a:ext>
            </a:extLst>
          </p:cNvPr>
          <p:cNvSpPr>
            <a:spLocks noGrp="1"/>
          </p:cNvSpPr>
          <p:nvPr>
            <p:ph type="title"/>
          </p:nvPr>
        </p:nvSpPr>
        <p:spPr/>
        <p:txBody>
          <a:bodyPr/>
          <a:lstStyle/>
          <a:p>
            <a:r>
              <a:rPr lang="zh-CN" altLang="en-US" dirty="0"/>
              <a:t>概念结构设计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628650" y="1345584"/>
            <a:ext cx="7886700" cy="1118648"/>
          </a:xfrm>
        </p:spPr>
        <p:txBody>
          <a:bodyPr vert="horz" wrap="square" lIns="68580" tIns="34290" rIns="68580" bIns="34290" numCol="1" anchor="t" anchorCtr="0" compatLnSpc="1"/>
          <a:lstStyle/>
          <a:p>
            <a:pPr marL="257175" indent="-257175" defTabSz="685800" fontAlgn="base">
              <a:spcBef>
                <a:spcPct val="20000"/>
              </a:spcBef>
              <a:spcAft>
                <a:spcPct val="0"/>
              </a:spcAft>
              <a:buClr>
                <a:schemeClr val="folHlink"/>
              </a:buClr>
              <a:buSzPct val="60000"/>
              <a:buNone/>
              <a:defRPr/>
            </a:pPr>
            <a:r>
              <a:rPr lang="zh-CN" altLang="en-US" sz="1800" kern="0" dirty="0">
                <a:solidFill>
                  <a:schemeClr val="hlink"/>
                </a:solidFill>
                <a:cs typeface="楷体" panose="02010609060101010101" pitchFamily="49" charset="-122"/>
              </a:rPr>
              <a:t>（3）基数</a:t>
            </a:r>
          </a:p>
          <a:p>
            <a:pPr marL="0" indent="0" defTabSz="685800" fontAlgn="base">
              <a:spcBef>
                <a:spcPct val="20000"/>
              </a:spcBef>
              <a:spcAft>
                <a:spcPct val="0"/>
              </a:spcAft>
              <a:buClr>
                <a:schemeClr val="hlink"/>
              </a:buClr>
              <a:buNone/>
              <a:defRPr/>
            </a:pPr>
            <a:r>
              <a:rPr lang="zh-CN" altLang="en-US" sz="1800" kern="0" dirty="0">
                <a:cs typeface="楷体" panose="02010609060101010101" pitchFamily="49" charset="-122"/>
              </a:rPr>
              <a:t>在相互联系的实体中，实体出现一次而可能引起的另一个实体出现的最小和最大次数称为前一个实体的基数。</a:t>
            </a:r>
          </a:p>
        </p:txBody>
      </p:sp>
      <p:sp>
        <p:nvSpPr>
          <p:cNvPr id="3" name="标题 2">
            <a:extLst>
              <a:ext uri="{FF2B5EF4-FFF2-40B4-BE49-F238E27FC236}">
                <a16:creationId xmlns:a16="http://schemas.microsoft.com/office/drawing/2014/main" id="{6CF89AC5-9211-A61F-85A0-10DB7CF29D4E}"/>
              </a:ext>
            </a:extLst>
          </p:cNvPr>
          <p:cNvSpPr>
            <a:spLocks noGrp="1"/>
          </p:cNvSpPr>
          <p:nvPr>
            <p:ph type="title"/>
          </p:nvPr>
        </p:nvSpPr>
        <p:spPr/>
        <p:txBody>
          <a:bodyPr/>
          <a:lstStyle/>
          <a:p>
            <a:r>
              <a:rPr lang="zh-CN" altLang="en-US" dirty="0"/>
              <a:t>概念结构设计</a:t>
            </a:r>
          </a:p>
        </p:txBody>
      </p:sp>
      <p:sp>
        <p:nvSpPr>
          <p:cNvPr id="5" name="矩形 4">
            <a:extLst>
              <a:ext uri="{FF2B5EF4-FFF2-40B4-BE49-F238E27FC236}">
                <a16:creationId xmlns:a16="http://schemas.microsoft.com/office/drawing/2014/main" id="{7E2A2BDD-BF4E-D70F-6AD7-E1FCF9AD9105}"/>
              </a:ext>
            </a:extLst>
          </p:cNvPr>
          <p:cNvSpPr/>
          <p:nvPr/>
        </p:nvSpPr>
        <p:spPr>
          <a:xfrm>
            <a:off x="1069383" y="3192651"/>
            <a:ext cx="1015139" cy="41845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学生</a:t>
            </a:r>
          </a:p>
        </p:txBody>
      </p:sp>
      <p:sp>
        <p:nvSpPr>
          <p:cNvPr id="8" name="矩形 7">
            <a:extLst>
              <a:ext uri="{FF2B5EF4-FFF2-40B4-BE49-F238E27FC236}">
                <a16:creationId xmlns:a16="http://schemas.microsoft.com/office/drawing/2014/main" id="{19D596DA-6A7B-9CE2-0371-7DA1D4C9A11C}"/>
              </a:ext>
            </a:extLst>
          </p:cNvPr>
          <p:cNvSpPr/>
          <p:nvPr/>
        </p:nvSpPr>
        <p:spPr>
          <a:xfrm>
            <a:off x="6431797" y="3192651"/>
            <a:ext cx="1015139" cy="41845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课程</a:t>
            </a:r>
          </a:p>
        </p:txBody>
      </p:sp>
      <p:sp>
        <p:nvSpPr>
          <p:cNvPr id="9" name="菱形 8">
            <a:extLst>
              <a:ext uri="{FF2B5EF4-FFF2-40B4-BE49-F238E27FC236}">
                <a16:creationId xmlns:a16="http://schemas.microsoft.com/office/drawing/2014/main" id="{E95883B4-338C-3CB1-07BF-6BCAE6B7BA82}"/>
              </a:ext>
            </a:extLst>
          </p:cNvPr>
          <p:cNvSpPr/>
          <p:nvPr/>
        </p:nvSpPr>
        <p:spPr>
          <a:xfrm>
            <a:off x="3363132" y="3010545"/>
            <a:ext cx="1790054" cy="782665"/>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选课</a:t>
            </a:r>
          </a:p>
        </p:txBody>
      </p:sp>
      <p:cxnSp>
        <p:nvCxnSpPr>
          <p:cNvPr id="11" name="直线连接符 10">
            <a:extLst>
              <a:ext uri="{FF2B5EF4-FFF2-40B4-BE49-F238E27FC236}">
                <a16:creationId xmlns:a16="http://schemas.microsoft.com/office/drawing/2014/main" id="{FD6CD37B-FEB7-24B8-5E42-CC4119BB94B8}"/>
              </a:ext>
            </a:extLst>
          </p:cNvPr>
          <p:cNvCxnSpPr>
            <a:stCxn id="9" idx="3"/>
            <a:endCxn id="8" idx="1"/>
          </p:cNvCxnSpPr>
          <p:nvPr/>
        </p:nvCxnSpPr>
        <p:spPr>
          <a:xfrm>
            <a:off x="5153186" y="3401878"/>
            <a:ext cx="127861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直线连接符 12">
            <a:extLst>
              <a:ext uri="{FF2B5EF4-FFF2-40B4-BE49-F238E27FC236}">
                <a16:creationId xmlns:a16="http://schemas.microsoft.com/office/drawing/2014/main" id="{152D8769-7EB7-2221-E120-A8843DCEB4E7}"/>
              </a:ext>
            </a:extLst>
          </p:cNvPr>
          <p:cNvCxnSpPr>
            <a:stCxn id="9" idx="1"/>
            <a:endCxn id="5" idx="3"/>
          </p:cNvCxnSpPr>
          <p:nvPr/>
        </p:nvCxnSpPr>
        <p:spPr>
          <a:xfrm flipH="1">
            <a:off x="2084522" y="3401878"/>
            <a:ext cx="127861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4" name="文本框 13">
            <a:extLst>
              <a:ext uri="{FF2B5EF4-FFF2-40B4-BE49-F238E27FC236}">
                <a16:creationId xmlns:a16="http://schemas.microsoft.com/office/drawing/2014/main" id="{17DD527D-8D87-CEA6-653E-58E384A05176}"/>
              </a:ext>
            </a:extLst>
          </p:cNvPr>
          <p:cNvSpPr txBox="1"/>
          <p:nvPr/>
        </p:nvSpPr>
        <p:spPr>
          <a:xfrm>
            <a:off x="2187142" y="3104741"/>
            <a:ext cx="357790" cy="338554"/>
          </a:xfrm>
          <a:prstGeom prst="rect">
            <a:avLst/>
          </a:prstGeom>
          <a:noFill/>
        </p:spPr>
        <p:txBody>
          <a:bodyPr wrap="none" rtlCol="0">
            <a:spAutoFit/>
          </a:bodyPr>
          <a:lstStyle/>
          <a:p>
            <a:r>
              <a:rPr kumimoji="1" lang="en-US" altLang="zh-CN" sz="1600" dirty="0"/>
              <a:t>m</a:t>
            </a:r>
            <a:endParaRPr kumimoji="1" lang="zh-CN" altLang="en-US" sz="1600" dirty="0"/>
          </a:p>
        </p:txBody>
      </p:sp>
      <p:sp>
        <p:nvSpPr>
          <p:cNvPr id="15" name="文本框 14">
            <a:extLst>
              <a:ext uri="{FF2B5EF4-FFF2-40B4-BE49-F238E27FC236}">
                <a16:creationId xmlns:a16="http://schemas.microsoft.com/office/drawing/2014/main" id="{16D6CB66-E5AE-4783-6DE9-E90C410623A6}"/>
              </a:ext>
            </a:extLst>
          </p:cNvPr>
          <p:cNvSpPr txBox="1"/>
          <p:nvPr/>
        </p:nvSpPr>
        <p:spPr>
          <a:xfrm>
            <a:off x="6074006" y="3100631"/>
            <a:ext cx="296876" cy="338554"/>
          </a:xfrm>
          <a:prstGeom prst="rect">
            <a:avLst/>
          </a:prstGeom>
          <a:noFill/>
        </p:spPr>
        <p:txBody>
          <a:bodyPr wrap="none" rtlCol="0">
            <a:spAutoFit/>
          </a:bodyPr>
          <a:lstStyle/>
          <a:p>
            <a:r>
              <a:rPr kumimoji="1" lang="en-US" altLang="zh-CN" sz="1600" dirty="0"/>
              <a:t>n</a:t>
            </a:r>
            <a:endParaRPr kumimoji="1" lang="zh-CN" altLang="en-US" sz="1600" dirty="0"/>
          </a:p>
        </p:txBody>
      </p:sp>
      <p:sp>
        <p:nvSpPr>
          <p:cNvPr id="16" name="文本框 15">
            <a:extLst>
              <a:ext uri="{FF2B5EF4-FFF2-40B4-BE49-F238E27FC236}">
                <a16:creationId xmlns:a16="http://schemas.microsoft.com/office/drawing/2014/main" id="{75BD187D-8CC8-D982-B9C0-8D7174F41E34}"/>
              </a:ext>
            </a:extLst>
          </p:cNvPr>
          <p:cNvSpPr txBox="1"/>
          <p:nvPr/>
        </p:nvSpPr>
        <p:spPr>
          <a:xfrm>
            <a:off x="2314727" y="3352713"/>
            <a:ext cx="601447" cy="338554"/>
          </a:xfrm>
          <a:prstGeom prst="rect">
            <a:avLst/>
          </a:prstGeom>
          <a:noFill/>
        </p:spPr>
        <p:txBody>
          <a:bodyPr wrap="none" rtlCol="0">
            <a:spAutoFit/>
          </a:bodyPr>
          <a:lstStyle/>
          <a:p>
            <a:r>
              <a:rPr kumimoji="1" lang="en-US" altLang="zh-CN" sz="1600" dirty="0">
                <a:solidFill>
                  <a:srgbClr val="FF0000"/>
                </a:solidFill>
              </a:rPr>
              <a:t>1</a:t>
            </a:r>
            <a:r>
              <a:rPr kumimoji="1" lang="zh-CN" altLang="en-US" sz="1600" dirty="0">
                <a:solidFill>
                  <a:srgbClr val="FF0000"/>
                </a:solidFill>
              </a:rPr>
              <a:t> </a:t>
            </a:r>
            <a:r>
              <a:rPr kumimoji="1" lang="en-US" altLang="zh-CN" sz="1600" dirty="0">
                <a:solidFill>
                  <a:srgbClr val="FF0000"/>
                </a:solidFill>
              </a:rPr>
              <a:t>..</a:t>
            </a:r>
            <a:r>
              <a:rPr kumimoji="1" lang="zh-CN" altLang="en-US" sz="1600" dirty="0">
                <a:solidFill>
                  <a:srgbClr val="FF0000"/>
                </a:solidFill>
              </a:rPr>
              <a:t> </a:t>
            </a:r>
            <a:r>
              <a:rPr kumimoji="1" lang="en-US" altLang="zh-CN" sz="1600" dirty="0">
                <a:solidFill>
                  <a:srgbClr val="FF0000"/>
                </a:solidFill>
              </a:rPr>
              <a:t>6</a:t>
            </a:r>
            <a:endParaRPr kumimoji="1" lang="zh-CN" altLang="en-US" sz="1600" dirty="0">
              <a:solidFill>
                <a:srgbClr val="FF0000"/>
              </a:solidFill>
            </a:endParaRPr>
          </a:p>
        </p:txBody>
      </p:sp>
      <p:sp>
        <p:nvSpPr>
          <p:cNvPr id="17" name="文本框 16">
            <a:extLst>
              <a:ext uri="{FF2B5EF4-FFF2-40B4-BE49-F238E27FC236}">
                <a16:creationId xmlns:a16="http://schemas.microsoft.com/office/drawing/2014/main" id="{0287A756-0480-DABD-F2ED-7AE166A2EF60}"/>
              </a:ext>
            </a:extLst>
          </p:cNvPr>
          <p:cNvSpPr txBox="1"/>
          <p:nvPr/>
        </p:nvSpPr>
        <p:spPr>
          <a:xfrm>
            <a:off x="5560084" y="3351507"/>
            <a:ext cx="708848" cy="338554"/>
          </a:xfrm>
          <a:prstGeom prst="rect">
            <a:avLst/>
          </a:prstGeom>
          <a:noFill/>
        </p:spPr>
        <p:txBody>
          <a:bodyPr wrap="none" rtlCol="0">
            <a:spAutoFit/>
          </a:bodyPr>
          <a:lstStyle/>
          <a:p>
            <a:r>
              <a:rPr kumimoji="1" lang="en-US" altLang="zh-CN" sz="1600" dirty="0">
                <a:solidFill>
                  <a:srgbClr val="FF0000"/>
                </a:solidFill>
              </a:rPr>
              <a:t>0</a:t>
            </a:r>
            <a:r>
              <a:rPr kumimoji="1" lang="zh-CN" altLang="en-US" sz="1600" dirty="0">
                <a:solidFill>
                  <a:srgbClr val="FF0000"/>
                </a:solidFill>
              </a:rPr>
              <a:t> </a:t>
            </a:r>
            <a:r>
              <a:rPr kumimoji="1" lang="en-US" altLang="zh-CN" sz="1600" dirty="0">
                <a:solidFill>
                  <a:srgbClr val="FF0000"/>
                </a:solidFill>
              </a:rPr>
              <a:t>..</a:t>
            </a:r>
            <a:r>
              <a:rPr kumimoji="1" lang="zh-CN" altLang="en-US" sz="1600" dirty="0">
                <a:solidFill>
                  <a:srgbClr val="FF0000"/>
                </a:solidFill>
              </a:rPr>
              <a:t> </a:t>
            </a:r>
            <a:r>
              <a:rPr kumimoji="1" lang="en-US" altLang="zh-CN" sz="1600" dirty="0">
                <a:solidFill>
                  <a:srgbClr val="FF0000"/>
                </a:solidFill>
              </a:rPr>
              <a:t>40</a:t>
            </a:r>
            <a:endParaRPr kumimoji="1" lang="zh-CN" altLang="en-US" sz="1600" dirty="0">
              <a:solidFill>
                <a:srgbClr val="FF0000"/>
              </a:solidFill>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5"/>
          <p:cNvSpPr txBox="1"/>
          <p:nvPr/>
        </p:nvSpPr>
        <p:spPr>
          <a:xfrm>
            <a:off x="492647" y="1253548"/>
            <a:ext cx="6343650" cy="646331"/>
          </a:xfrm>
          <a:prstGeom prst="rect">
            <a:avLst/>
          </a:prstGeom>
          <a:noFill/>
          <a:ln w="9525">
            <a:noFill/>
          </a:ln>
        </p:spPr>
        <p:txBody>
          <a:bodyPr anchor="t" anchorCtr="0">
            <a:spAutoFit/>
          </a:bodyPr>
          <a:lstStyle/>
          <a:p>
            <a:pPr>
              <a:spcBef>
                <a:spcPct val="50000"/>
              </a:spcBef>
            </a:pPr>
            <a:r>
              <a:rPr lang="zh-CN" altLang="en-US" dirty="0">
                <a:solidFill>
                  <a:schemeClr val="hlink"/>
                </a:solidFill>
                <a:latin typeface="Microsoft YaHei" panose="020B0503020204020204" pitchFamily="34" charset="-122"/>
                <a:ea typeface="Microsoft YaHei" panose="020B0503020204020204" pitchFamily="34" charset="-122"/>
              </a:rPr>
              <a:t>（4）弱实体</a:t>
            </a:r>
            <a:r>
              <a:rPr lang="zh-CN" altLang="en-US" dirty="0">
                <a:latin typeface="Microsoft YaHei" panose="020B0503020204020204" pitchFamily="34" charset="-122"/>
                <a:ea typeface="Microsoft YaHei" panose="020B0503020204020204" pitchFamily="34" charset="-122"/>
              </a:rPr>
              <a:t> </a:t>
            </a:r>
          </a:p>
          <a:p>
            <a:pPr>
              <a:spcBef>
                <a:spcPct val="20000"/>
              </a:spcBef>
            </a:pPr>
            <a:r>
              <a:rPr lang="zh-CN" altLang="en-US" sz="1350" dirty="0">
                <a:latin typeface="Microsoft YaHei" panose="020B0503020204020204" pitchFamily="34" charset="-122"/>
                <a:ea typeface="Microsoft YaHei" panose="020B0503020204020204" pitchFamily="34" charset="-122"/>
              </a:rPr>
              <a:t>  </a:t>
            </a:r>
            <a:r>
              <a:rPr lang="zh-CN" altLang="en-US" sz="1500" dirty="0">
                <a:latin typeface="Microsoft YaHei" panose="020B0503020204020204" pitchFamily="34" charset="-122"/>
                <a:ea typeface="Microsoft YaHei" panose="020B0503020204020204" pitchFamily="34" charset="-122"/>
              </a:rPr>
              <a:t>必须以另一个实体或多个实体的存在为前提的实体。用双线矩形框表示。   </a:t>
            </a:r>
          </a:p>
        </p:txBody>
      </p:sp>
      <p:sp>
        <p:nvSpPr>
          <p:cNvPr id="4" name="标题 3">
            <a:extLst>
              <a:ext uri="{FF2B5EF4-FFF2-40B4-BE49-F238E27FC236}">
                <a16:creationId xmlns:a16="http://schemas.microsoft.com/office/drawing/2014/main" id="{8CF462F1-5381-050B-2026-034F3D7FF822}"/>
              </a:ext>
            </a:extLst>
          </p:cNvPr>
          <p:cNvSpPr>
            <a:spLocks noGrp="1"/>
          </p:cNvSpPr>
          <p:nvPr>
            <p:ph type="title"/>
          </p:nvPr>
        </p:nvSpPr>
        <p:spPr/>
        <p:txBody>
          <a:bodyPr/>
          <a:lstStyle/>
          <a:p>
            <a:r>
              <a:rPr lang="zh-CN" altLang="en-US" dirty="0"/>
              <a:t>概念结构设计</a:t>
            </a:r>
          </a:p>
        </p:txBody>
      </p:sp>
      <p:grpSp>
        <p:nvGrpSpPr>
          <p:cNvPr id="33" name="组合 32">
            <a:extLst>
              <a:ext uri="{FF2B5EF4-FFF2-40B4-BE49-F238E27FC236}">
                <a16:creationId xmlns:a16="http://schemas.microsoft.com/office/drawing/2014/main" id="{D15E8BC4-26EA-9D12-CF31-F8AEF35283E8}"/>
              </a:ext>
            </a:extLst>
          </p:cNvPr>
          <p:cNvGrpSpPr/>
          <p:nvPr/>
        </p:nvGrpSpPr>
        <p:grpSpPr>
          <a:xfrm>
            <a:off x="1383582" y="2736717"/>
            <a:ext cx="5834332" cy="1460437"/>
            <a:chOff x="1383582" y="2736717"/>
            <a:chExt cx="5834332" cy="1460437"/>
          </a:xfrm>
        </p:grpSpPr>
        <p:sp>
          <p:nvSpPr>
            <p:cNvPr id="6" name="AutoShape 5">
              <a:extLst>
                <a:ext uri="{FF2B5EF4-FFF2-40B4-BE49-F238E27FC236}">
                  <a16:creationId xmlns:a16="http://schemas.microsoft.com/office/drawing/2014/main" id="{2D114449-CA92-AB6A-6C83-33210582AD25}"/>
                </a:ext>
              </a:extLst>
            </p:cNvPr>
            <p:cNvSpPr/>
            <p:nvPr/>
          </p:nvSpPr>
          <p:spPr>
            <a:xfrm>
              <a:off x="4300923" y="3556598"/>
              <a:ext cx="1026319" cy="640556"/>
            </a:xfrm>
            <a:prstGeom prst="diamond">
              <a:avLst/>
            </a:prstGeom>
            <a:noFill/>
            <a:ln w="9525" cap="flat" cmpd="sng">
              <a:solidFill>
                <a:schemeClr val="tx1"/>
              </a:solidFill>
              <a:prstDash val="solid"/>
              <a:miter/>
              <a:headEnd type="none" w="med" len="med"/>
              <a:tailEnd type="none" w="med" len="med"/>
            </a:ln>
          </p:spPr>
          <p:txBody>
            <a:bodyPr wrap="none" anchor="ctr" anchorCtr="0"/>
            <a:lstStyle/>
            <a:p>
              <a:pPr algn="ctr"/>
              <a:endParaRPr lang="zh-CN" altLang="en-US" sz="1350"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0F94313B-5483-2A2C-2C9D-A0D456C1AD0A}"/>
                </a:ext>
              </a:extLst>
            </p:cNvPr>
            <p:cNvSpPr/>
            <p:nvPr/>
          </p:nvSpPr>
          <p:spPr>
            <a:xfrm>
              <a:off x="6307026" y="3674905"/>
              <a:ext cx="594122" cy="413147"/>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a:endParaRPr lang="zh-CN" altLang="en-US" sz="1350" dirty="0">
                <a:latin typeface="Microsoft YaHei" panose="020B0503020204020204" pitchFamily="34" charset="-122"/>
                <a:ea typeface="Microsoft YaHei" panose="020B0503020204020204" pitchFamily="34" charset="-122"/>
              </a:endParaRPr>
            </a:p>
          </p:txBody>
        </p:sp>
        <p:sp>
          <p:nvSpPr>
            <p:cNvPr id="10" name="Rectangle 8">
              <a:extLst>
                <a:ext uri="{FF2B5EF4-FFF2-40B4-BE49-F238E27FC236}">
                  <a16:creationId xmlns:a16="http://schemas.microsoft.com/office/drawing/2014/main" id="{1A8E2FAC-7DA3-3DD8-BC62-CE6A3B6F600D}"/>
                </a:ext>
              </a:extLst>
            </p:cNvPr>
            <p:cNvSpPr/>
            <p:nvPr/>
          </p:nvSpPr>
          <p:spPr>
            <a:xfrm>
              <a:off x="2539745" y="3715355"/>
              <a:ext cx="743265" cy="334253"/>
            </a:xfrm>
            <a:prstGeom prst="rect">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职工</a:t>
              </a:r>
            </a:p>
          </p:txBody>
        </p:sp>
        <p:sp>
          <p:nvSpPr>
            <p:cNvPr id="11" name="AutoShape 9">
              <a:extLst>
                <a:ext uri="{FF2B5EF4-FFF2-40B4-BE49-F238E27FC236}">
                  <a16:creationId xmlns:a16="http://schemas.microsoft.com/office/drawing/2014/main" id="{3789E065-1FBB-8451-B864-A05EF621C09F}"/>
                </a:ext>
              </a:extLst>
            </p:cNvPr>
            <p:cNvSpPr/>
            <p:nvPr/>
          </p:nvSpPr>
          <p:spPr>
            <a:xfrm>
              <a:off x="1383582" y="2759859"/>
              <a:ext cx="487940"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工号</a:t>
              </a:r>
            </a:p>
          </p:txBody>
        </p:sp>
        <p:sp>
          <p:nvSpPr>
            <p:cNvPr id="12" name="AutoShape 10">
              <a:extLst>
                <a:ext uri="{FF2B5EF4-FFF2-40B4-BE49-F238E27FC236}">
                  <a16:creationId xmlns:a16="http://schemas.microsoft.com/office/drawing/2014/main" id="{F225D0E6-4207-A73B-635D-6F41DA9D2AE1}"/>
                </a:ext>
              </a:extLst>
            </p:cNvPr>
            <p:cNvSpPr/>
            <p:nvPr/>
          </p:nvSpPr>
          <p:spPr>
            <a:xfrm>
              <a:off x="1951354" y="2756039"/>
              <a:ext cx="487940"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姓名</a:t>
              </a:r>
            </a:p>
          </p:txBody>
        </p:sp>
        <p:sp>
          <p:nvSpPr>
            <p:cNvPr id="13" name="AutoShape 11">
              <a:extLst>
                <a:ext uri="{FF2B5EF4-FFF2-40B4-BE49-F238E27FC236}">
                  <a16:creationId xmlns:a16="http://schemas.microsoft.com/office/drawing/2014/main" id="{C4CA98B0-B5BE-CB2D-9635-9D65F5E950EC}"/>
                </a:ext>
              </a:extLst>
            </p:cNvPr>
            <p:cNvSpPr/>
            <p:nvPr/>
          </p:nvSpPr>
          <p:spPr>
            <a:xfrm>
              <a:off x="2529450" y="2765073"/>
              <a:ext cx="487940"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年龄</a:t>
              </a:r>
            </a:p>
          </p:txBody>
        </p:sp>
        <p:sp>
          <p:nvSpPr>
            <p:cNvPr id="14" name="AutoShape 12">
              <a:extLst>
                <a:ext uri="{FF2B5EF4-FFF2-40B4-BE49-F238E27FC236}">
                  <a16:creationId xmlns:a16="http://schemas.microsoft.com/office/drawing/2014/main" id="{1A7EB534-6469-9A6B-3040-9A90C9A07BE8}"/>
                </a:ext>
              </a:extLst>
            </p:cNvPr>
            <p:cNvSpPr/>
            <p:nvPr/>
          </p:nvSpPr>
          <p:spPr>
            <a:xfrm>
              <a:off x="3097222" y="2756039"/>
              <a:ext cx="487940"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性别</a:t>
              </a:r>
            </a:p>
          </p:txBody>
        </p:sp>
        <p:sp>
          <p:nvSpPr>
            <p:cNvPr id="15" name="AutoShape 13">
              <a:extLst>
                <a:ext uri="{FF2B5EF4-FFF2-40B4-BE49-F238E27FC236}">
                  <a16:creationId xmlns:a16="http://schemas.microsoft.com/office/drawing/2014/main" id="{11AF54CB-53B1-7AD0-F549-27952BCA8BC2}"/>
                </a:ext>
              </a:extLst>
            </p:cNvPr>
            <p:cNvSpPr/>
            <p:nvPr/>
          </p:nvSpPr>
          <p:spPr>
            <a:xfrm>
              <a:off x="3662929" y="2756039"/>
              <a:ext cx="487940"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职称</a:t>
              </a:r>
            </a:p>
          </p:txBody>
        </p:sp>
        <p:sp>
          <p:nvSpPr>
            <p:cNvPr id="16" name="Line 14">
              <a:extLst>
                <a:ext uri="{FF2B5EF4-FFF2-40B4-BE49-F238E27FC236}">
                  <a16:creationId xmlns:a16="http://schemas.microsoft.com/office/drawing/2014/main" id="{453CBA33-0B3A-CC9B-F4A9-CED65E71E847}"/>
                </a:ext>
              </a:extLst>
            </p:cNvPr>
            <p:cNvSpPr/>
            <p:nvPr/>
          </p:nvSpPr>
          <p:spPr>
            <a:xfrm>
              <a:off x="2219756" y="3242864"/>
              <a:ext cx="619388" cy="469761"/>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17" name="Line 15">
              <a:extLst>
                <a:ext uri="{FF2B5EF4-FFF2-40B4-BE49-F238E27FC236}">
                  <a16:creationId xmlns:a16="http://schemas.microsoft.com/office/drawing/2014/main" id="{7570A5DB-51C5-5164-1573-7623BF317519}"/>
                </a:ext>
              </a:extLst>
            </p:cNvPr>
            <p:cNvSpPr/>
            <p:nvPr/>
          </p:nvSpPr>
          <p:spPr>
            <a:xfrm>
              <a:off x="2880436" y="3245875"/>
              <a:ext cx="0" cy="469761"/>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18" name="Line 16">
              <a:extLst>
                <a:ext uri="{FF2B5EF4-FFF2-40B4-BE49-F238E27FC236}">
                  <a16:creationId xmlns:a16="http://schemas.microsoft.com/office/drawing/2014/main" id="{920B321A-C728-668E-6EEA-D0E24C59DAFA}"/>
                </a:ext>
              </a:extLst>
            </p:cNvPr>
            <p:cNvSpPr/>
            <p:nvPr/>
          </p:nvSpPr>
          <p:spPr>
            <a:xfrm flipH="1">
              <a:off x="3017389" y="3233840"/>
              <a:ext cx="319989" cy="478785"/>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19" name="Line 17">
              <a:extLst>
                <a:ext uri="{FF2B5EF4-FFF2-40B4-BE49-F238E27FC236}">
                  <a16:creationId xmlns:a16="http://schemas.microsoft.com/office/drawing/2014/main" id="{42003C61-A005-F252-B5C1-F2A61758D95F}"/>
                </a:ext>
              </a:extLst>
            </p:cNvPr>
            <p:cNvSpPr/>
            <p:nvPr/>
          </p:nvSpPr>
          <p:spPr>
            <a:xfrm>
              <a:off x="1830423" y="3246683"/>
              <a:ext cx="781612" cy="468953"/>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20" name="Line 18">
              <a:extLst>
                <a:ext uri="{FF2B5EF4-FFF2-40B4-BE49-F238E27FC236}">
                  <a16:creationId xmlns:a16="http://schemas.microsoft.com/office/drawing/2014/main" id="{0002CF4E-D382-BDC5-C48B-07387325DAFF}"/>
                </a:ext>
              </a:extLst>
            </p:cNvPr>
            <p:cNvSpPr/>
            <p:nvPr/>
          </p:nvSpPr>
          <p:spPr>
            <a:xfrm flipH="1">
              <a:off x="3231421" y="3233839"/>
              <a:ext cx="704697" cy="481798"/>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21" name="Rectangle 19">
              <a:extLst>
                <a:ext uri="{FF2B5EF4-FFF2-40B4-BE49-F238E27FC236}">
                  <a16:creationId xmlns:a16="http://schemas.microsoft.com/office/drawing/2014/main" id="{C34D2C40-7F60-0922-C39D-46BE0685216F}"/>
                </a:ext>
              </a:extLst>
            </p:cNvPr>
            <p:cNvSpPr/>
            <p:nvPr/>
          </p:nvSpPr>
          <p:spPr>
            <a:xfrm>
              <a:off x="6348596" y="3730853"/>
              <a:ext cx="526480" cy="332245"/>
            </a:xfrm>
            <a:prstGeom prst="rect">
              <a:avLst/>
            </a:prstGeom>
            <a:noFill/>
            <a:ln w="19050" cap="flat" cmpd="dbl">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亲属</a:t>
              </a:r>
            </a:p>
          </p:txBody>
        </p:sp>
        <p:sp>
          <p:nvSpPr>
            <p:cNvPr id="22" name="AutoShape 20">
              <a:extLst>
                <a:ext uri="{FF2B5EF4-FFF2-40B4-BE49-F238E27FC236}">
                  <a16:creationId xmlns:a16="http://schemas.microsoft.com/office/drawing/2014/main" id="{719BAE76-CDE2-859F-3081-97ED56A37874}"/>
                </a:ext>
              </a:extLst>
            </p:cNvPr>
            <p:cNvSpPr/>
            <p:nvPr/>
          </p:nvSpPr>
          <p:spPr>
            <a:xfrm>
              <a:off x="6495983" y="2736717"/>
              <a:ext cx="721931"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亲属关系</a:t>
              </a:r>
            </a:p>
          </p:txBody>
        </p:sp>
        <p:sp>
          <p:nvSpPr>
            <p:cNvPr id="23" name="AutoShape 21">
              <a:extLst>
                <a:ext uri="{FF2B5EF4-FFF2-40B4-BE49-F238E27FC236}">
                  <a16:creationId xmlns:a16="http://schemas.microsoft.com/office/drawing/2014/main" id="{87F8D2D9-B78A-25DD-D183-1A9455A7C93A}"/>
                </a:ext>
              </a:extLst>
            </p:cNvPr>
            <p:cNvSpPr/>
            <p:nvPr/>
          </p:nvSpPr>
          <p:spPr>
            <a:xfrm>
              <a:off x="5680456" y="2736717"/>
              <a:ext cx="721931"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亲属姓名</a:t>
              </a:r>
            </a:p>
          </p:txBody>
        </p:sp>
        <p:sp>
          <p:nvSpPr>
            <p:cNvPr id="24" name="Line 22">
              <a:extLst>
                <a:ext uri="{FF2B5EF4-FFF2-40B4-BE49-F238E27FC236}">
                  <a16:creationId xmlns:a16="http://schemas.microsoft.com/office/drawing/2014/main" id="{534BA7A2-39EB-0673-1D8D-B80B8D02BBA4}"/>
                </a:ext>
              </a:extLst>
            </p:cNvPr>
            <p:cNvSpPr/>
            <p:nvPr/>
          </p:nvSpPr>
          <p:spPr>
            <a:xfrm>
              <a:off x="3289792" y="3880169"/>
              <a:ext cx="1012116" cy="0"/>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25" name="Line 23">
              <a:extLst>
                <a:ext uri="{FF2B5EF4-FFF2-40B4-BE49-F238E27FC236}">
                  <a16:creationId xmlns:a16="http://schemas.microsoft.com/office/drawing/2014/main" id="{F908704D-50F9-898D-119E-713661BCC5A3}"/>
                </a:ext>
              </a:extLst>
            </p:cNvPr>
            <p:cNvSpPr/>
            <p:nvPr/>
          </p:nvSpPr>
          <p:spPr>
            <a:xfrm>
              <a:off x="5327242" y="3880169"/>
              <a:ext cx="976717" cy="0"/>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26" name="AutoShape 24">
              <a:extLst>
                <a:ext uri="{FF2B5EF4-FFF2-40B4-BE49-F238E27FC236}">
                  <a16:creationId xmlns:a16="http://schemas.microsoft.com/office/drawing/2014/main" id="{433E02A4-5681-49C8-7136-90F529354DCB}"/>
                </a:ext>
              </a:extLst>
            </p:cNvPr>
            <p:cNvSpPr/>
            <p:nvPr/>
          </p:nvSpPr>
          <p:spPr>
            <a:xfrm>
              <a:off x="4376133" y="3629905"/>
              <a:ext cx="867143" cy="508908"/>
            </a:xfrm>
            <a:prstGeom prst="diamond">
              <a:avLst/>
            </a:prstGeom>
            <a:noFill/>
            <a:ln w="19050" cap="flat" cmpd="dbl">
              <a:solidFill>
                <a:srgbClr val="000000"/>
              </a:solidFill>
              <a:prstDash val="solid"/>
              <a:miter/>
              <a:headEnd type="none" w="med" len="med"/>
              <a:tailEnd type="none" w="med" len="med"/>
            </a:ln>
          </p:spPr>
          <p:txBody>
            <a:bodyPr lIns="13500" tIns="8100" rIns="13500" bIns="8100"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有</a:t>
              </a:r>
            </a:p>
          </p:txBody>
        </p:sp>
        <p:sp>
          <p:nvSpPr>
            <p:cNvPr id="27" name="Line 25">
              <a:extLst>
                <a:ext uri="{FF2B5EF4-FFF2-40B4-BE49-F238E27FC236}">
                  <a16:creationId xmlns:a16="http://schemas.microsoft.com/office/drawing/2014/main" id="{49DFF009-310B-FD9B-D0F8-DC6D525083C0}"/>
                </a:ext>
              </a:extLst>
            </p:cNvPr>
            <p:cNvSpPr/>
            <p:nvPr/>
          </p:nvSpPr>
          <p:spPr>
            <a:xfrm>
              <a:off x="6108852" y="3215793"/>
              <a:ext cx="371633" cy="455708"/>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28" name="Line 26">
              <a:extLst>
                <a:ext uri="{FF2B5EF4-FFF2-40B4-BE49-F238E27FC236}">
                  <a16:creationId xmlns:a16="http://schemas.microsoft.com/office/drawing/2014/main" id="{113F5CAA-9000-2562-70A5-D67A0E8FF426}"/>
                </a:ext>
              </a:extLst>
            </p:cNvPr>
            <p:cNvSpPr/>
            <p:nvPr/>
          </p:nvSpPr>
          <p:spPr>
            <a:xfrm flipH="1">
              <a:off x="6728240" y="3215793"/>
              <a:ext cx="123878" cy="455708"/>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29" name="文本框 28">
              <a:extLst>
                <a:ext uri="{FF2B5EF4-FFF2-40B4-BE49-F238E27FC236}">
                  <a16:creationId xmlns:a16="http://schemas.microsoft.com/office/drawing/2014/main" id="{8D90856C-D2AA-8990-1B2F-56E39613C25D}"/>
                </a:ext>
              </a:extLst>
            </p:cNvPr>
            <p:cNvSpPr txBox="1"/>
            <p:nvPr/>
          </p:nvSpPr>
          <p:spPr>
            <a:xfrm>
              <a:off x="3415937" y="3607360"/>
              <a:ext cx="266420" cy="276999"/>
            </a:xfrm>
            <a:prstGeom prst="rect">
              <a:avLst/>
            </a:prstGeom>
            <a:noFill/>
          </p:spPr>
          <p:txBody>
            <a:bodyPr wrap="none" rtlCol="0">
              <a:spAutoFit/>
            </a:bodyPr>
            <a:lstStyle/>
            <a:p>
              <a:r>
                <a:rPr kumimoji="1" lang="en-US" altLang="zh-CN" sz="1200" dirty="0"/>
                <a:t>1</a:t>
              </a:r>
              <a:endParaRPr kumimoji="1" lang="zh-CN" altLang="en-US" sz="1200" dirty="0"/>
            </a:p>
          </p:txBody>
        </p:sp>
        <p:sp>
          <p:nvSpPr>
            <p:cNvPr id="30" name="文本框 29">
              <a:extLst>
                <a:ext uri="{FF2B5EF4-FFF2-40B4-BE49-F238E27FC236}">
                  <a16:creationId xmlns:a16="http://schemas.microsoft.com/office/drawing/2014/main" id="{7049263D-1757-7A21-FC8A-3FBBB41FF196}"/>
                </a:ext>
              </a:extLst>
            </p:cNvPr>
            <p:cNvSpPr txBox="1"/>
            <p:nvPr/>
          </p:nvSpPr>
          <p:spPr>
            <a:xfrm>
              <a:off x="5931359" y="3599766"/>
              <a:ext cx="314510" cy="276999"/>
            </a:xfrm>
            <a:prstGeom prst="rect">
              <a:avLst/>
            </a:prstGeom>
            <a:noFill/>
          </p:spPr>
          <p:txBody>
            <a:bodyPr wrap="none" rtlCol="0">
              <a:spAutoFit/>
            </a:bodyPr>
            <a:lstStyle/>
            <a:p>
              <a:r>
                <a:rPr kumimoji="1" lang="en-US" altLang="zh-CN" sz="1200" i="1" dirty="0"/>
                <a:t>m</a:t>
              </a:r>
              <a:endParaRPr kumimoji="1" lang="zh-CN" altLang="en-US" sz="1200" i="1" dirty="0"/>
            </a:p>
          </p:txBody>
        </p:sp>
        <p:sp>
          <p:nvSpPr>
            <p:cNvPr id="31" name="文本框 30">
              <a:extLst>
                <a:ext uri="{FF2B5EF4-FFF2-40B4-BE49-F238E27FC236}">
                  <a16:creationId xmlns:a16="http://schemas.microsoft.com/office/drawing/2014/main" id="{BBA7D3EE-AB60-7CE5-DBF7-1757EF45F4FA}"/>
                </a:ext>
              </a:extLst>
            </p:cNvPr>
            <p:cNvSpPr txBox="1"/>
            <p:nvPr/>
          </p:nvSpPr>
          <p:spPr>
            <a:xfrm>
              <a:off x="3389864" y="3876765"/>
              <a:ext cx="602467" cy="276999"/>
            </a:xfrm>
            <a:prstGeom prst="rect">
              <a:avLst/>
            </a:prstGeom>
            <a:noFill/>
          </p:spPr>
          <p:txBody>
            <a:bodyPr wrap="square" rtlCol="0">
              <a:spAutoFit/>
            </a:bodyPr>
            <a:lstStyle/>
            <a:p>
              <a:r>
                <a:rPr kumimoji="1" lang="en-US" altLang="zh-CN" sz="1200" dirty="0"/>
                <a:t>0</a:t>
              </a:r>
              <a:r>
                <a:rPr kumimoji="1" lang="zh-CN" altLang="en-US" sz="1200" dirty="0"/>
                <a:t> </a:t>
              </a:r>
              <a:r>
                <a:rPr kumimoji="1" lang="en-US" altLang="zh-CN" sz="1200" dirty="0"/>
                <a:t>..</a:t>
              </a:r>
              <a:r>
                <a:rPr kumimoji="1" lang="zh-CN" altLang="en-US" sz="1200" dirty="0"/>
                <a:t> </a:t>
              </a:r>
              <a:r>
                <a:rPr kumimoji="1" lang="en-US" altLang="zh-CN" sz="1200" i="1" dirty="0"/>
                <a:t>N</a:t>
              </a:r>
              <a:endParaRPr kumimoji="1" lang="zh-CN" altLang="en-US" sz="1200" i="1" dirty="0"/>
            </a:p>
          </p:txBody>
        </p:sp>
        <p:sp>
          <p:nvSpPr>
            <p:cNvPr id="32" name="文本框 31">
              <a:extLst>
                <a:ext uri="{FF2B5EF4-FFF2-40B4-BE49-F238E27FC236}">
                  <a16:creationId xmlns:a16="http://schemas.microsoft.com/office/drawing/2014/main" id="{DB891CE7-DF2E-ADC3-D001-F9009533E082}"/>
                </a:ext>
              </a:extLst>
            </p:cNvPr>
            <p:cNvSpPr txBox="1"/>
            <p:nvPr/>
          </p:nvSpPr>
          <p:spPr>
            <a:xfrm>
              <a:off x="5732723" y="3876764"/>
              <a:ext cx="602467" cy="276999"/>
            </a:xfrm>
            <a:prstGeom prst="rect">
              <a:avLst/>
            </a:prstGeom>
            <a:noFill/>
          </p:spPr>
          <p:txBody>
            <a:bodyPr wrap="square" rtlCol="0">
              <a:spAutoFit/>
            </a:bodyPr>
            <a:lstStyle/>
            <a:p>
              <a:r>
                <a:rPr kumimoji="1" lang="en-US" altLang="zh-CN" sz="1200" dirty="0"/>
                <a:t>0</a:t>
              </a:r>
              <a:r>
                <a:rPr kumimoji="1" lang="zh-CN" altLang="en-US" sz="1200" dirty="0"/>
                <a:t> </a:t>
              </a:r>
              <a:r>
                <a:rPr kumimoji="1" lang="en-US" altLang="zh-CN" sz="1200" dirty="0"/>
                <a:t>..</a:t>
              </a:r>
              <a:r>
                <a:rPr kumimoji="1" lang="zh-CN" altLang="en-US" sz="1200" dirty="0"/>
                <a:t> </a:t>
              </a:r>
              <a:r>
                <a:rPr kumimoji="1" lang="en-US" altLang="zh-CN" sz="1200" dirty="0"/>
                <a:t>1</a:t>
              </a:r>
              <a:endParaRPr kumimoji="1" lang="zh-CN" altLang="en-US" sz="1200" dirty="0"/>
            </a:p>
          </p:txBody>
        </p:sp>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74094" y="1327284"/>
            <a:ext cx="8395811" cy="2464231"/>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zh-CN" altLang="en-US" sz="1800" dirty="0">
                <a:solidFill>
                  <a:schemeClr val="folHlink"/>
                </a:solidFill>
                <a:latin typeface="Microsoft YaHei" panose="020B0503020204020204" pitchFamily="34" charset="-122"/>
                <a:ea typeface="Microsoft YaHei" panose="020B0503020204020204" pitchFamily="34" charset="-122"/>
              </a:rPr>
              <a:t>二. 视图集成（全局视图设计）</a:t>
            </a:r>
          </a:p>
          <a:p>
            <a:pPr eaLnBrk="1" hangingPunct="1">
              <a:buNone/>
            </a:pPr>
            <a:r>
              <a:rPr lang="zh-CN" altLang="en-US" sz="1800" dirty="0">
                <a:solidFill>
                  <a:srgbClr val="CC0066"/>
                </a:solidFill>
                <a:latin typeface="Microsoft YaHei" panose="020B0503020204020204" pitchFamily="34" charset="-122"/>
                <a:ea typeface="Microsoft YaHei" panose="020B0503020204020204" pitchFamily="34" charset="-122"/>
              </a:rPr>
              <a:t>1. 视图集成概述</a:t>
            </a:r>
          </a:p>
          <a:p>
            <a:pPr eaLnBrk="1" hangingPunct="1"/>
            <a:r>
              <a:rPr lang="zh-CN" altLang="en-US" sz="1800" dirty="0">
                <a:latin typeface="Microsoft YaHei" panose="020B0503020204020204" pitchFamily="34" charset="-122"/>
                <a:ea typeface="Microsoft YaHei" panose="020B0503020204020204" pitchFamily="34" charset="-122"/>
              </a:rPr>
              <a:t>局部视图反映局部的数据观点，可能由不同的人员设计，存在不一致、冲突、信息冗余，需要通过集成处理形成全局范围内单一的数据视图。</a:t>
            </a:r>
          </a:p>
          <a:p>
            <a:pPr eaLnBrk="1" hangingPunct="1"/>
            <a:r>
              <a:rPr lang="zh-CN" altLang="en-US" sz="1800" dirty="0">
                <a:latin typeface="Microsoft YaHei" panose="020B0503020204020204" pitchFamily="34" charset="-122"/>
                <a:ea typeface="Microsoft YaHei" panose="020B0503020204020204" pitchFamily="34" charset="-122"/>
              </a:rPr>
              <a:t>视图集成的本质是统一与归并：等同、聚合和普遍化。</a:t>
            </a:r>
          </a:p>
          <a:p>
            <a:pPr eaLnBrk="1" hangingPunct="1"/>
            <a:r>
              <a:rPr lang="zh-CN" altLang="en-US" sz="1800" dirty="0">
                <a:latin typeface="Microsoft YaHei" panose="020B0503020204020204" pitchFamily="34" charset="-122"/>
                <a:ea typeface="Microsoft YaHei" panose="020B0503020204020204" pitchFamily="34" charset="-122"/>
              </a:rPr>
              <a:t>视图集成的策略：二元集成与n元集成。</a:t>
            </a:r>
          </a:p>
        </p:txBody>
      </p:sp>
      <p:sp>
        <p:nvSpPr>
          <p:cNvPr id="5" name="标题 4">
            <a:extLst>
              <a:ext uri="{FF2B5EF4-FFF2-40B4-BE49-F238E27FC236}">
                <a16:creationId xmlns:a16="http://schemas.microsoft.com/office/drawing/2014/main" id="{6DD321E2-D898-E770-ECE1-364CEEAA1911}"/>
              </a:ext>
            </a:extLst>
          </p:cNvPr>
          <p:cNvSpPr>
            <a:spLocks noGrp="1"/>
          </p:cNvSpPr>
          <p:nvPr>
            <p:ph type="title"/>
          </p:nvPr>
        </p:nvSpPr>
        <p:spPr/>
        <p:txBody>
          <a:bodyPr/>
          <a:lstStyle/>
          <a:p>
            <a:r>
              <a:rPr lang="zh-CN" altLang="en-US" dirty="0"/>
              <a:t>概念结构设计</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p:cNvSpPr>
          <p:nvPr>
            <p:ph idx="1"/>
          </p:nvPr>
        </p:nvSpPr>
        <p:spPr>
          <a:xfrm>
            <a:off x="636384" y="1010757"/>
            <a:ext cx="7886700" cy="3408735"/>
          </a:xfrm>
        </p:spPr>
        <p:txBody>
          <a:bodyPr vert="horz" wrap="square" lIns="68580" tIns="34290" rIns="68580" bIns="34290" anchor="t" anchorCtr="0"/>
          <a:lstStyle/>
          <a:p>
            <a:pPr eaLnBrk="1" hangingPunct="1">
              <a:buNone/>
            </a:pPr>
            <a:r>
              <a:rPr lang="zh-CN" altLang="en-US" sz="1800" dirty="0">
                <a:solidFill>
                  <a:srgbClr val="CC0066"/>
                </a:solidFill>
              </a:rPr>
              <a:t>2. 合并分E-R图，生成初步E-R图</a:t>
            </a:r>
          </a:p>
          <a:p>
            <a:pPr>
              <a:lnSpc>
                <a:spcPct val="100000"/>
              </a:lnSpc>
              <a:buNone/>
            </a:pPr>
            <a:r>
              <a:rPr lang="zh-CN" altLang="en-US" sz="1800" dirty="0"/>
              <a:t>     合并的过程实际上是一个发现冲突和解决冲突的过程。</a:t>
            </a:r>
          </a:p>
          <a:p>
            <a:pPr>
              <a:lnSpc>
                <a:spcPct val="100000"/>
              </a:lnSpc>
              <a:buNone/>
            </a:pPr>
            <a:r>
              <a:rPr lang="zh-CN" altLang="en-US" sz="1800" dirty="0"/>
              <a:t>   </a:t>
            </a:r>
            <a:r>
              <a:rPr lang="zh-CN" altLang="en-US" sz="1800" dirty="0">
                <a:solidFill>
                  <a:schemeClr val="hlink"/>
                </a:solidFill>
              </a:rPr>
              <a:t>冲突主要有：</a:t>
            </a:r>
          </a:p>
          <a:p>
            <a:pPr>
              <a:lnSpc>
                <a:spcPct val="100000"/>
              </a:lnSpc>
              <a:buNone/>
            </a:pPr>
            <a:r>
              <a:rPr lang="zh-CN" altLang="en-US" sz="1800" dirty="0"/>
              <a:t>   （1）属性冲突</a:t>
            </a:r>
          </a:p>
          <a:p>
            <a:pPr>
              <a:lnSpc>
                <a:spcPct val="100000"/>
              </a:lnSpc>
              <a:buNone/>
            </a:pPr>
            <a:r>
              <a:rPr lang="zh-CN" altLang="en-US" sz="1800" dirty="0"/>
              <a:t>        属性值类型、取值范围等发生冲突：</a:t>
            </a:r>
            <a:r>
              <a:rPr lang="zh-CN" altLang="en-US" sz="1800" dirty="0">
                <a:solidFill>
                  <a:schemeClr val="hlink"/>
                </a:solidFill>
              </a:rPr>
              <a:t>尽量大的覆盖</a:t>
            </a:r>
            <a:r>
              <a:rPr lang="zh-CN" altLang="en-US" sz="1800" dirty="0"/>
              <a:t>。</a:t>
            </a:r>
          </a:p>
          <a:p>
            <a:pPr>
              <a:lnSpc>
                <a:spcPct val="100000"/>
              </a:lnSpc>
              <a:buNone/>
            </a:pPr>
            <a:r>
              <a:rPr lang="zh-CN" altLang="en-US" sz="1800" dirty="0"/>
              <a:t>   （2）命名冲突</a:t>
            </a:r>
          </a:p>
          <a:p>
            <a:pPr>
              <a:lnSpc>
                <a:spcPct val="100000"/>
              </a:lnSpc>
              <a:buNone/>
            </a:pPr>
            <a:r>
              <a:rPr lang="zh-CN" altLang="en-US" sz="1800" dirty="0"/>
              <a:t>        同名异义、异名同义：</a:t>
            </a:r>
            <a:r>
              <a:rPr lang="zh-CN" altLang="en-US" sz="1800" dirty="0">
                <a:solidFill>
                  <a:schemeClr val="hlink"/>
                </a:solidFill>
              </a:rPr>
              <a:t>重新命名</a:t>
            </a:r>
            <a:r>
              <a:rPr lang="zh-CN" altLang="en-US" sz="1800" dirty="0"/>
              <a:t>。</a:t>
            </a:r>
          </a:p>
          <a:p>
            <a:pPr>
              <a:lnSpc>
                <a:spcPct val="100000"/>
              </a:lnSpc>
              <a:buNone/>
            </a:pPr>
            <a:r>
              <a:rPr lang="zh-CN" altLang="en-US" sz="1800" dirty="0"/>
              <a:t>   （3）结构冲突            </a:t>
            </a:r>
          </a:p>
        </p:txBody>
      </p:sp>
      <p:sp>
        <p:nvSpPr>
          <p:cNvPr id="45059" name="Text Box 4"/>
          <p:cNvSpPr txBox="1"/>
          <p:nvPr/>
        </p:nvSpPr>
        <p:spPr>
          <a:xfrm>
            <a:off x="2027509" y="4015536"/>
            <a:ext cx="6134100" cy="807913"/>
          </a:xfrm>
          <a:prstGeom prst="rect">
            <a:avLst/>
          </a:prstGeom>
          <a:noFill/>
          <a:ln w="9525">
            <a:noFill/>
          </a:ln>
        </p:spPr>
        <p:txBody>
          <a:bodyPr anchor="t" anchorCtr="0">
            <a:spAutoFit/>
          </a:bodyPr>
          <a:lstStyle/>
          <a:p>
            <a:pPr lvl="1">
              <a:lnSpc>
                <a:spcPct val="90000"/>
              </a:lnSpc>
              <a:spcBef>
                <a:spcPct val="20000"/>
              </a:spcBef>
              <a:buClr>
                <a:schemeClr val="hlink"/>
              </a:buClr>
              <a:buFont typeface="Wingdings" panose="05000000000000000000" pitchFamily="2" charset="2"/>
              <a:buChar char="Ø"/>
            </a:pPr>
            <a:r>
              <a:rPr lang="zh-CN" altLang="en-US" sz="1350" dirty="0">
                <a:latin typeface="Microsoft YaHei" panose="020B0503020204020204" pitchFamily="34" charset="-122"/>
                <a:ea typeface="Microsoft YaHei" panose="020B0503020204020204" pitchFamily="34" charset="-122"/>
              </a:rPr>
              <a:t> </a:t>
            </a:r>
            <a:r>
              <a:rPr lang="zh-CN" altLang="en-US" sz="1500" dirty="0">
                <a:latin typeface="Microsoft YaHei" panose="020B0503020204020204" pitchFamily="34" charset="-122"/>
                <a:ea typeface="Microsoft YaHei" panose="020B0503020204020204" pitchFamily="34" charset="-122"/>
              </a:rPr>
              <a:t>同一对象在不同视图中有不同抽象：</a:t>
            </a:r>
            <a:r>
              <a:rPr lang="zh-CN" altLang="en-US" sz="1500" dirty="0">
                <a:solidFill>
                  <a:schemeClr val="hlink"/>
                </a:solidFill>
                <a:latin typeface="Microsoft YaHei" panose="020B0503020204020204" pitchFamily="34" charset="-122"/>
                <a:ea typeface="Microsoft YaHei" panose="020B0503020204020204" pitchFamily="34" charset="-122"/>
              </a:rPr>
              <a:t>统一为实体或属性</a:t>
            </a:r>
            <a:r>
              <a:rPr lang="zh-CN" altLang="en-US" sz="1500" dirty="0">
                <a:latin typeface="Microsoft YaHei" panose="020B0503020204020204" pitchFamily="34" charset="-122"/>
                <a:ea typeface="Microsoft YaHei" panose="020B0503020204020204" pitchFamily="34" charset="-122"/>
              </a:rPr>
              <a:t>。</a:t>
            </a:r>
          </a:p>
          <a:p>
            <a:pPr lvl="1">
              <a:lnSpc>
                <a:spcPct val="90000"/>
              </a:lnSpc>
              <a:spcBef>
                <a:spcPct val="20000"/>
              </a:spcBef>
              <a:buClr>
                <a:schemeClr val="hlink"/>
              </a:buClr>
              <a:buFont typeface="Wingdings" panose="05000000000000000000" pitchFamily="2" charset="2"/>
              <a:buChar char="Ø"/>
            </a:pPr>
            <a:r>
              <a:rPr lang="zh-CN" altLang="en-US" sz="1500" dirty="0">
                <a:latin typeface="Microsoft YaHei" panose="020B0503020204020204" pitchFamily="34" charset="-122"/>
                <a:ea typeface="Microsoft YaHei" panose="020B0503020204020204" pitchFamily="34" charset="-122"/>
              </a:rPr>
              <a:t> 同一实体在不同视图中属性组成不同：</a:t>
            </a:r>
            <a:r>
              <a:rPr lang="zh-CN" altLang="en-US" sz="1500" dirty="0">
                <a:solidFill>
                  <a:schemeClr val="hlink"/>
                </a:solidFill>
                <a:latin typeface="Microsoft YaHei" panose="020B0503020204020204" pitchFamily="34" charset="-122"/>
                <a:ea typeface="Microsoft YaHei" panose="020B0503020204020204" pitchFamily="34" charset="-122"/>
              </a:rPr>
              <a:t>取并</a:t>
            </a:r>
            <a:r>
              <a:rPr lang="zh-CN" altLang="en-US" sz="1500" dirty="0">
                <a:latin typeface="Microsoft YaHei" panose="020B0503020204020204" pitchFamily="34" charset="-122"/>
                <a:ea typeface="Microsoft YaHei" panose="020B0503020204020204" pitchFamily="34" charset="-122"/>
              </a:rPr>
              <a:t>。</a:t>
            </a:r>
          </a:p>
          <a:p>
            <a:pPr lvl="1">
              <a:lnSpc>
                <a:spcPct val="90000"/>
              </a:lnSpc>
              <a:spcBef>
                <a:spcPct val="20000"/>
              </a:spcBef>
              <a:buClr>
                <a:schemeClr val="hlink"/>
              </a:buClr>
              <a:buFont typeface="Wingdings" panose="05000000000000000000" pitchFamily="2" charset="2"/>
              <a:buChar char="Ø"/>
            </a:pPr>
            <a:r>
              <a:rPr lang="zh-CN" altLang="en-US" sz="1500" dirty="0">
                <a:latin typeface="Microsoft YaHei" panose="020B0503020204020204" pitchFamily="34" charset="-122"/>
                <a:ea typeface="Microsoft YaHei" panose="020B0503020204020204" pitchFamily="34" charset="-122"/>
              </a:rPr>
              <a:t> 相同实体间联系在不同视图中呈现不同类型：</a:t>
            </a:r>
            <a:r>
              <a:rPr lang="zh-CN" altLang="en-US" sz="1500" dirty="0">
                <a:solidFill>
                  <a:schemeClr val="hlink"/>
                </a:solidFill>
                <a:latin typeface="Microsoft YaHei" panose="020B0503020204020204" pitchFamily="34" charset="-122"/>
                <a:ea typeface="Microsoft YaHei" panose="020B0503020204020204" pitchFamily="34" charset="-122"/>
              </a:rPr>
              <a:t>应用语义</a:t>
            </a:r>
            <a:r>
              <a:rPr lang="zh-CN" altLang="en-US" sz="1500" dirty="0">
                <a:latin typeface="Microsoft YaHei" panose="020B0503020204020204" pitchFamily="34" charset="-122"/>
                <a:ea typeface="Microsoft YaHei" panose="020B0503020204020204" pitchFamily="34" charset="-122"/>
              </a:rPr>
              <a:t>。</a:t>
            </a:r>
          </a:p>
        </p:txBody>
      </p:sp>
      <p:sp>
        <p:nvSpPr>
          <p:cNvPr id="3" name="标题 2">
            <a:extLst>
              <a:ext uri="{FF2B5EF4-FFF2-40B4-BE49-F238E27FC236}">
                <a16:creationId xmlns:a16="http://schemas.microsoft.com/office/drawing/2014/main" id="{A47D508E-5055-5A60-6A50-FABEA5353AAF}"/>
              </a:ext>
            </a:extLst>
          </p:cNvPr>
          <p:cNvSpPr>
            <a:spLocks noGrp="1"/>
          </p:cNvSpPr>
          <p:nvPr>
            <p:ph type="title"/>
          </p:nvPr>
        </p:nvSpPr>
        <p:spPr/>
        <p:txBody>
          <a:bodyPr/>
          <a:lstStyle/>
          <a:p>
            <a:r>
              <a:rPr lang="zh-CN" altLang="en-US" dirty="0"/>
              <a:t>概念结构设计</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39918" y="1166344"/>
            <a:ext cx="8479631" cy="3599385"/>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0" indent="0" eaLnBrk="1" hangingPunct="1">
              <a:buNone/>
            </a:pPr>
            <a:r>
              <a:rPr lang="zh-CN" altLang="en-US" sz="1800" dirty="0">
                <a:solidFill>
                  <a:srgbClr val="CC0066"/>
                </a:solidFill>
                <a:latin typeface="Microsoft YaHei" panose="020B0503020204020204" pitchFamily="34" charset="-122"/>
                <a:ea typeface="Microsoft YaHei" panose="020B0503020204020204" pitchFamily="34" charset="-122"/>
              </a:rPr>
              <a:t>3. 消除不必要的冗余，设计基本E-R图</a:t>
            </a:r>
          </a:p>
          <a:p>
            <a:pPr marL="0" indent="0" eaLnBrk="1" hangingPunct="1">
              <a:buNone/>
            </a:pPr>
            <a:r>
              <a:rPr lang="zh-CN" altLang="en-US" sz="1800" dirty="0">
                <a:latin typeface="Microsoft YaHei" panose="020B0503020204020204" pitchFamily="34" charset="-122"/>
                <a:ea typeface="Microsoft YaHei" panose="020B0503020204020204" pitchFamily="34" charset="-122"/>
              </a:rPr>
              <a:t>    </a:t>
            </a:r>
            <a:r>
              <a:rPr lang="zh-CN" altLang="en-US" sz="1800" dirty="0">
                <a:solidFill>
                  <a:schemeClr val="folHlink"/>
                </a:solidFill>
                <a:latin typeface="Microsoft YaHei" panose="020B0503020204020204" pitchFamily="34" charset="-122"/>
                <a:ea typeface="Microsoft YaHei" panose="020B0503020204020204" pitchFamily="34" charset="-122"/>
              </a:rPr>
              <a:t>冗余的数据</a:t>
            </a:r>
            <a:r>
              <a:rPr lang="zh-CN" altLang="en-US" sz="1800" dirty="0">
                <a:latin typeface="Microsoft YaHei" panose="020B0503020204020204" pitchFamily="34" charset="-122"/>
                <a:ea typeface="Microsoft YaHei" panose="020B0503020204020204" pitchFamily="34" charset="-122"/>
              </a:rPr>
              <a:t>是指可由基本数据导出的数据，</a:t>
            </a:r>
            <a:r>
              <a:rPr lang="zh-CN" altLang="en-US" sz="1800" dirty="0">
                <a:solidFill>
                  <a:schemeClr val="folHlink"/>
                </a:solidFill>
                <a:latin typeface="Microsoft YaHei" panose="020B0503020204020204" pitchFamily="34" charset="-122"/>
                <a:ea typeface="Microsoft YaHei" panose="020B0503020204020204" pitchFamily="34" charset="-122"/>
              </a:rPr>
              <a:t>冗余的联系</a:t>
            </a:r>
            <a:r>
              <a:rPr lang="zh-CN" altLang="en-US" sz="1800" dirty="0">
                <a:latin typeface="Microsoft YaHei" panose="020B0503020204020204" pitchFamily="34" charset="-122"/>
                <a:ea typeface="Microsoft YaHei" panose="020B0503020204020204" pitchFamily="34" charset="-122"/>
              </a:rPr>
              <a:t>是指可由其他联系导出的联系。</a:t>
            </a:r>
          </a:p>
          <a:p>
            <a:pPr marL="0" indent="0" eaLnBrk="1" hangingPunct="1">
              <a:buNone/>
            </a:pPr>
            <a:r>
              <a:rPr lang="zh-CN" altLang="en-US" sz="1800" dirty="0">
                <a:latin typeface="Microsoft YaHei" panose="020B0503020204020204" pitchFamily="34" charset="-122"/>
                <a:ea typeface="Microsoft YaHei" panose="020B0503020204020204" pitchFamily="34" charset="-122"/>
              </a:rPr>
              <a:t> （1） 用分析法消除冗余数据</a:t>
            </a:r>
          </a:p>
          <a:p>
            <a:pPr marL="0" indent="0" eaLnBrk="1" hangingPunct="1">
              <a:buNone/>
            </a:pPr>
            <a:r>
              <a:rPr lang="zh-CN" altLang="en-US" sz="1800" dirty="0">
                <a:latin typeface="Microsoft YaHei" panose="020B0503020204020204" pitchFamily="34" charset="-122"/>
                <a:ea typeface="Microsoft YaHei" panose="020B0503020204020204" pitchFamily="34" charset="-122"/>
              </a:rPr>
              <a:t>    例：实发工资、应发工资</a:t>
            </a:r>
          </a:p>
          <a:p>
            <a:pPr marL="0" indent="0" eaLnBrk="1" hangingPunct="1">
              <a:buNone/>
            </a:pPr>
            <a:r>
              <a:rPr lang="zh-CN" altLang="en-US" sz="1800" dirty="0">
                <a:latin typeface="Microsoft YaHei" panose="020B0503020204020204" pitchFamily="34" charset="-122"/>
                <a:ea typeface="Microsoft YaHei" panose="020B0503020204020204" pitchFamily="34" charset="-122"/>
              </a:rPr>
              <a:t>  </a:t>
            </a:r>
            <a:r>
              <a:rPr lang="zh-CN" altLang="en-US" sz="1800" dirty="0">
                <a:solidFill>
                  <a:schemeClr val="hlink"/>
                </a:solidFill>
                <a:latin typeface="Microsoft YaHei" panose="020B0503020204020204" pitchFamily="34" charset="-122"/>
                <a:ea typeface="Microsoft YaHei" panose="020B0503020204020204" pitchFamily="34" charset="-122"/>
              </a:rPr>
              <a:t>注意：</a:t>
            </a:r>
            <a:r>
              <a:rPr lang="zh-CN" altLang="en-US" sz="1800" dirty="0">
                <a:solidFill>
                  <a:schemeClr val="folHlink"/>
                </a:solidFill>
                <a:latin typeface="Microsoft YaHei" panose="020B0503020204020204" pitchFamily="34" charset="-122"/>
                <a:ea typeface="Microsoft YaHei" panose="020B0503020204020204" pitchFamily="34" charset="-122"/>
              </a:rPr>
              <a:t>并不是所有的冗余都必须消除。有时为了提高效率，不得不以冗余为代价。</a:t>
            </a:r>
          </a:p>
          <a:p>
            <a:pPr marL="0" indent="0" eaLnBrk="1" hangingPunct="1">
              <a:buNone/>
            </a:pPr>
            <a:r>
              <a:rPr lang="zh-CN" altLang="en-US" sz="1800" dirty="0">
                <a:solidFill>
                  <a:schemeClr val="folHlink"/>
                </a:solidFill>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（2）利用关系规范化理论来消除冗余联系</a:t>
            </a:r>
          </a:p>
          <a:p>
            <a:pPr marL="0" indent="0" eaLnBrk="1" hangingPunct="1">
              <a:buNone/>
            </a:pPr>
            <a:r>
              <a:rPr lang="zh-CN" altLang="en-US" sz="1800" dirty="0">
                <a:solidFill>
                  <a:schemeClr val="bg2"/>
                </a:solidFill>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① 确定局部E-R图实体之间的函数依赖。 </a:t>
            </a:r>
          </a:p>
          <a:p>
            <a:pPr marL="0" indent="0" eaLnBrk="1" hangingPunct="1">
              <a:buNone/>
            </a:pPr>
            <a:r>
              <a:rPr lang="zh-CN" altLang="en-US" sz="1800" dirty="0">
                <a:latin typeface="Microsoft YaHei" panose="020B0503020204020204" pitchFamily="34" charset="-122"/>
                <a:ea typeface="Microsoft YaHei" panose="020B0503020204020204" pitchFamily="34" charset="-122"/>
              </a:rPr>
              <a:t>      ② 求F的最小依赖集Fm，求其差集，即</a:t>
            </a:r>
          </a:p>
          <a:p>
            <a:pPr marL="0" indent="0" eaLnBrk="1" hangingPunct="1">
              <a:buNone/>
            </a:pPr>
            <a:r>
              <a:rPr lang="zh-CN" altLang="en-US" sz="1800" dirty="0">
                <a:latin typeface="Microsoft YaHei" panose="020B0503020204020204" pitchFamily="34" charset="-122"/>
                <a:ea typeface="Microsoft YaHei" panose="020B0503020204020204" pitchFamily="34" charset="-122"/>
              </a:rPr>
              <a:t>                D=F-Fm</a:t>
            </a:r>
          </a:p>
          <a:p>
            <a:pPr marL="0" indent="0" eaLnBrk="1" hangingPunct="1">
              <a:buNone/>
            </a:pPr>
            <a:r>
              <a:rPr lang="zh-CN" altLang="en-US" sz="1800" dirty="0">
                <a:latin typeface="Microsoft YaHei" panose="020B0503020204020204" pitchFamily="34" charset="-122"/>
                <a:ea typeface="Microsoft YaHei" panose="020B0503020204020204" pitchFamily="34" charset="-122"/>
              </a:rPr>
              <a:t>      ③ 逐一考察D中每一函数依赖，确定是否为冗余，若是，就把它去掉。   </a:t>
            </a:r>
          </a:p>
        </p:txBody>
      </p:sp>
      <p:sp>
        <p:nvSpPr>
          <p:cNvPr id="5" name="标题 4">
            <a:extLst>
              <a:ext uri="{FF2B5EF4-FFF2-40B4-BE49-F238E27FC236}">
                <a16:creationId xmlns:a16="http://schemas.microsoft.com/office/drawing/2014/main" id="{51768699-9444-9873-7E5B-96D166A6396E}"/>
              </a:ext>
            </a:extLst>
          </p:cNvPr>
          <p:cNvSpPr>
            <a:spLocks noGrp="1"/>
          </p:cNvSpPr>
          <p:nvPr>
            <p:ph type="title"/>
          </p:nvPr>
        </p:nvSpPr>
        <p:spPr/>
        <p:txBody>
          <a:bodyPr/>
          <a:lstStyle/>
          <a:p>
            <a:r>
              <a:rPr lang="zh-CN" altLang="en-US" dirty="0"/>
              <a:t>概念结构设计</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3"/>
          <p:cNvSpPr txBox="1"/>
          <p:nvPr/>
        </p:nvSpPr>
        <p:spPr>
          <a:xfrm>
            <a:off x="1150749" y="1665563"/>
            <a:ext cx="6723460" cy="2374946"/>
          </a:xfrm>
          <a:prstGeom prst="rect">
            <a:avLst/>
          </a:prstGeom>
          <a:noFill/>
          <a:ln w="9525">
            <a:noFill/>
          </a:ln>
        </p:spPr>
        <p:txBody>
          <a:bodyPr anchor="t" anchorCtr="0">
            <a:spAutoFit/>
          </a:bodyPr>
          <a:lstStyle/>
          <a:p>
            <a:pPr>
              <a:lnSpc>
                <a:spcPct val="120000"/>
              </a:lnSpc>
            </a:pPr>
            <a:r>
              <a:rPr lang="zh-CN" altLang="en-US" dirty="0">
                <a:latin typeface="Microsoft YaHei" panose="020B0503020204020204" pitchFamily="34" charset="-122"/>
                <a:ea typeface="Microsoft YaHei" panose="020B0503020204020204" pitchFamily="34" charset="-122"/>
              </a:rPr>
              <a:t>例：设计一个工厂产品、零件和材料的基本</a:t>
            </a:r>
            <a:r>
              <a:rPr lang="en-US" altLang="zh-CN" dirty="0">
                <a:latin typeface="Microsoft YaHei" panose="020B0503020204020204" pitchFamily="34" charset="-122"/>
                <a:ea typeface="Microsoft YaHei" panose="020B0503020204020204" pitchFamily="34" charset="-122"/>
              </a:rPr>
              <a:t>E-R</a:t>
            </a:r>
            <a:r>
              <a:rPr lang="zh-CN" altLang="en-US" dirty="0">
                <a:latin typeface="Microsoft YaHei" panose="020B0503020204020204" pitchFamily="34" charset="-122"/>
                <a:ea typeface="Microsoft YaHei" panose="020B0503020204020204" pitchFamily="34" charset="-122"/>
              </a:rPr>
              <a:t>模型。</a:t>
            </a:r>
          </a:p>
          <a:p>
            <a:pPr>
              <a:lnSpc>
                <a:spcPct val="120000"/>
              </a:lnSpc>
              <a:buClr>
                <a:schemeClr val="folHlink"/>
              </a:buClr>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 局部</a:t>
            </a:r>
            <a:r>
              <a:rPr lang="en-US" altLang="zh-CN" dirty="0">
                <a:latin typeface="Microsoft YaHei" panose="020B0503020204020204" pitchFamily="34" charset="-122"/>
                <a:ea typeface="Microsoft YaHei" panose="020B0503020204020204" pitchFamily="34" charset="-122"/>
              </a:rPr>
              <a:t>E-R</a:t>
            </a:r>
            <a:r>
              <a:rPr lang="zh-CN" altLang="en-US" dirty="0">
                <a:latin typeface="Microsoft YaHei" panose="020B0503020204020204" pitchFamily="34" charset="-122"/>
                <a:ea typeface="Microsoft YaHei" panose="020B0503020204020204" pitchFamily="34" charset="-122"/>
              </a:rPr>
              <a:t>模型设计</a:t>
            </a:r>
          </a:p>
          <a:p>
            <a:pPr marL="471488" lvl="1" indent="-135731">
              <a:lnSpc>
                <a:spcPct val="120000"/>
              </a:lnSpc>
              <a:buFont typeface="Wingdings" panose="05000000000000000000" pitchFamily="2" charset="2"/>
              <a:buChar char="n"/>
            </a:pPr>
            <a:r>
              <a:rPr lang="zh-CN" altLang="en-US" dirty="0">
                <a:solidFill>
                  <a:schemeClr val="hlink"/>
                </a:solidFill>
                <a:latin typeface="Microsoft YaHei" panose="020B0503020204020204" pitchFamily="34" charset="-122"/>
                <a:ea typeface="Microsoft YaHei" panose="020B0503020204020204" pitchFamily="34" charset="-122"/>
              </a:rPr>
              <a:t> 技术部门</a:t>
            </a:r>
            <a:r>
              <a:rPr lang="zh-CN" altLang="en-US" dirty="0">
                <a:latin typeface="Microsoft YaHei" panose="020B0503020204020204" pitchFamily="34" charset="-122"/>
                <a:ea typeface="Microsoft YaHei" panose="020B0503020204020204" pitchFamily="34" charset="-122"/>
              </a:rPr>
              <a:t>：关心的是产品的编号、性能、由哪些零件组成，每个零件的零件号、消耗的材料名和数量。</a:t>
            </a:r>
          </a:p>
          <a:p>
            <a:pPr marL="471488" lvl="1" indent="-135731">
              <a:lnSpc>
                <a:spcPct val="120000"/>
              </a:lnSpc>
              <a:buFont typeface="Wingdings" panose="05000000000000000000" pitchFamily="2" charset="2"/>
              <a:buChar char="n"/>
            </a:pPr>
            <a:r>
              <a:rPr lang="zh-CN" altLang="en-US" dirty="0">
                <a:solidFill>
                  <a:schemeClr val="hlink"/>
                </a:solidFill>
                <a:latin typeface="Microsoft YaHei" panose="020B0503020204020204" pitchFamily="34" charset="-122"/>
                <a:ea typeface="Microsoft YaHei" panose="020B0503020204020204" pitchFamily="34" charset="-122"/>
              </a:rPr>
              <a:t> 供销部门</a:t>
            </a:r>
            <a:r>
              <a:rPr lang="zh-CN" altLang="en-US" dirty="0">
                <a:latin typeface="Microsoft YaHei" panose="020B0503020204020204" pitchFamily="34" charset="-122"/>
                <a:ea typeface="Microsoft YaHei" panose="020B0503020204020204" pitchFamily="34" charset="-122"/>
              </a:rPr>
              <a:t>：关心的是产品的编号、价格和库存量。</a:t>
            </a:r>
          </a:p>
          <a:p>
            <a:pPr>
              <a:lnSpc>
                <a:spcPct val="120000"/>
              </a:lnSpc>
              <a:buClr>
                <a:schemeClr val="folHlink"/>
              </a:buClr>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 初步</a:t>
            </a:r>
            <a:r>
              <a:rPr lang="en-US" altLang="zh-CN" dirty="0">
                <a:latin typeface="Microsoft YaHei" panose="020B0503020204020204" pitchFamily="34" charset="-122"/>
                <a:ea typeface="Microsoft YaHei" panose="020B0503020204020204" pitchFamily="34" charset="-122"/>
              </a:rPr>
              <a:t>E-R</a:t>
            </a:r>
            <a:r>
              <a:rPr lang="zh-CN" altLang="en-US" dirty="0">
                <a:latin typeface="Microsoft YaHei" panose="020B0503020204020204" pitchFamily="34" charset="-122"/>
                <a:ea typeface="Microsoft YaHei" panose="020B0503020204020204" pitchFamily="34" charset="-122"/>
              </a:rPr>
              <a:t>模型设计</a:t>
            </a:r>
          </a:p>
          <a:p>
            <a:pPr>
              <a:lnSpc>
                <a:spcPct val="120000"/>
              </a:lnSpc>
              <a:buClr>
                <a:schemeClr val="folHlink"/>
              </a:buClr>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 基本</a:t>
            </a:r>
            <a:r>
              <a:rPr lang="en-US" altLang="zh-CN" dirty="0">
                <a:latin typeface="Microsoft YaHei" panose="020B0503020204020204" pitchFamily="34" charset="-122"/>
                <a:ea typeface="Microsoft YaHei" panose="020B0503020204020204" pitchFamily="34" charset="-122"/>
              </a:rPr>
              <a:t>E-R</a:t>
            </a:r>
            <a:r>
              <a:rPr lang="zh-CN" altLang="en-US" dirty="0">
                <a:latin typeface="Microsoft YaHei" panose="020B0503020204020204" pitchFamily="34" charset="-122"/>
                <a:ea typeface="Microsoft YaHei" panose="020B0503020204020204" pitchFamily="34" charset="-122"/>
              </a:rPr>
              <a:t>模型设计</a:t>
            </a:r>
          </a:p>
        </p:txBody>
      </p:sp>
      <p:sp>
        <p:nvSpPr>
          <p:cNvPr id="4" name="标题 3">
            <a:extLst>
              <a:ext uri="{FF2B5EF4-FFF2-40B4-BE49-F238E27FC236}">
                <a16:creationId xmlns:a16="http://schemas.microsoft.com/office/drawing/2014/main" id="{CBC0FBBF-DDAD-2336-E9F5-A7A8641B33EF}"/>
              </a:ext>
            </a:extLst>
          </p:cNvPr>
          <p:cNvSpPr>
            <a:spLocks noGrp="1"/>
          </p:cNvSpPr>
          <p:nvPr>
            <p:ph type="title"/>
          </p:nvPr>
        </p:nvSpPr>
        <p:spPr/>
        <p:txBody>
          <a:bodyPr/>
          <a:lstStyle/>
          <a:p>
            <a:r>
              <a:rPr lang="zh-CN" altLang="en-US" dirty="0"/>
              <a:t>概念结构设计</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01AF818F-3AAB-BCCA-44CB-C055AFDB7CE3}"/>
              </a:ext>
            </a:extLst>
          </p:cNvPr>
          <p:cNvGrpSpPr/>
          <p:nvPr/>
        </p:nvGrpSpPr>
        <p:grpSpPr>
          <a:xfrm>
            <a:off x="346837" y="1308501"/>
            <a:ext cx="5455444" cy="1935539"/>
            <a:chOff x="346837" y="1308501"/>
            <a:chExt cx="5455444" cy="1935539"/>
          </a:xfrm>
        </p:grpSpPr>
        <p:sp>
          <p:nvSpPr>
            <p:cNvPr id="48130" name="Rectangle 3"/>
            <p:cNvSpPr/>
            <p:nvPr/>
          </p:nvSpPr>
          <p:spPr>
            <a:xfrm>
              <a:off x="509953" y="1473998"/>
              <a:ext cx="647700" cy="270272"/>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产品</a:t>
              </a:r>
            </a:p>
          </p:txBody>
        </p:sp>
        <p:sp>
          <p:nvSpPr>
            <p:cNvPr id="48131" name="Oval 4"/>
            <p:cNvSpPr/>
            <p:nvPr/>
          </p:nvSpPr>
          <p:spPr>
            <a:xfrm>
              <a:off x="346837" y="2162179"/>
              <a:ext cx="323850" cy="71556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编</a:t>
              </a:r>
            </a:p>
            <a:p>
              <a:pPr algn="ctr"/>
              <a:r>
                <a:rPr lang="zh-CN" altLang="en-US" sz="1200" dirty="0">
                  <a:latin typeface="Microsoft YaHei" panose="020B0503020204020204" pitchFamily="34" charset="-122"/>
                  <a:ea typeface="Microsoft YaHei" panose="020B0503020204020204" pitchFamily="34" charset="-122"/>
                </a:rPr>
                <a:t>号</a:t>
              </a:r>
            </a:p>
          </p:txBody>
        </p:sp>
        <p:sp>
          <p:nvSpPr>
            <p:cNvPr id="48132" name="AutoShape 5"/>
            <p:cNvSpPr/>
            <p:nvPr/>
          </p:nvSpPr>
          <p:spPr>
            <a:xfrm>
              <a:off x="1643428" y="1420420"/>
              <a:ext cx="756047" cy="323850"/>
            </a:xfrm>
            <a:prstGeom prst="flowChartDecision">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组成</a:t>
              </a:r>
            </a:p>
          </p:txBody>
        </p:sp>
        <p:sp>
          <p:nvSpPr>
            <p:cNvPr id="48133" name="Oval 6"/>
            <p:cNvSpPr/>
            <p:nvPr/>
          </p:nvSpPr>
          <p:spPr>
            <a:xfrm>
              <a:off x="833803" y="2121698"/>
              <a:ext cx="323850" cy="102631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性</a:t>
              </a:r>
            </a:p>
            <a:p>
              <a:pPr algn="ctr">
                <a:lnSpc>
                  <a:spcPct val="80000"/>
                </a:lnSpc>
              </a:pPr>
              <a:r>
                <a:rPr lang="zh-CN" altLang="en-US" sz="1200" dirty="0">
                  <a:latin typeface="Microsoft YaHei" panose="020B0503020204020204" pitchFamily="34" charset="-122"/>
                  <a:ea typeface="Microsoft YaHei" panose="020B0503020204020204" pitchFamily="34" charset="-122"/>
                </a:rPr>
                <a:t>能</a:t>
              </a:r>
            </a:p>
            <a:p>
              <a:pPr algn="ctr">
                <a:lnSpc>
                  <a:spcPct val="80000"/>
                </a:lnSpc>
              </a:pPr>
              <a:r>
                <a:rPr lang="zh-CN" altLang="en-US" sz="1200" dirty="0">
                  <a:latin typeface="Microsoft YaHei" panose="020B0503020204020204" pitchFamily="34" charset="-122"/>
                  <a:ea typeface="Microsoft YaHei" panose="020B0503020204020204" pitchFamily="34" charset="-122"/>
                </a:rPr>
                <a:t>参</a:t>
              </a:r>
            </a:p>
            <a:p>
              <a:pPr algn="ctr">
                <a:lnSpc>
                  <a:spcPct val="80000"/>
                </a:lnSpc>
              </a:pPr>
              <a:r>
                <a:rPr lang="zh-CN" altLang="en-US" sz="1200" dirty="0">
                  <a:latin typeface="Microsoft YaHei" panose="020B0503020204020204" pitchFamily="34" charset="-122"/>
                  <a:ea typeface="Microsoft YaHei" panose="020B0503020204020204" pitchFamily="34" charset="-122"/>
                </a:rPr>
                <a:t>数</a:t>
              </a:r>
            </a:p>
          </p:txBody>
        </p:sp>
        <p:sp>
          <p:nvSpPr>
            <p:cNvPr id="48134" name="Oval 7"/>
            <p:cNvSpPr/>
            <p:nvPr/>
          </p:nvSpPr>
          <p:spPr>
            <a:xfrm>
              <a:off x="1802972" y="2131222"/>
              <a:ext cx="323850" cy="71556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零</a:t>
              </a:r>
            </a:p>
            <a:p>
              <a:pPr algn="ctr">
                <a:lnSpc>
                  <a:spcPct val="80000"/>
                </a:lnSpc>
              </a:pPr>
              <a:r>
                <a:rPr lang="zh-CN" altLang="en-US" sz="1200" dirty="0">
                  <a:latin typeface="Microsoft YaHei" panose="020B0503020204020204" pitchFamily="34" charset="-122"/>
                  <a:ea typeface="Microsoft YaHei" panose="020B0503020204020204" pitchFamily="34" charset="-122"/>
                </a:rPr>
                <a:t>件</a:t>
              </a:r>
            </a:p>
            <a:p>
              <a:pPr algn="ctr">
                <a:lnSpc>
                  <a:spcPct val="80000"/>
                </a:lnSpc>
              </a:pPr>
              <a:r>
                <a:rPr lang="zh-CN" altLang="en-US" sz="1200" dirty="0">
                  <a:latin typeface="Microsoft YaHei" panose="020B0503020204020204" pitchFamily="34" charset="-122"/>
                  <a:ea typeface="Microsoft YaHei" panose="020B0503020204020204" pitchFamily="34" charset="-122"/>
                </a:rPr>
                <a:t>数</a:t>
              </a:r>
            </a:p>
          </p:txBody>
        </p:sp>
        <p:sp>
          <p:nvSpPr>
            <p:cNvPr id="48135" name="Oval 8"/>
            <p:cNvSpPr/>
            <p:nvPr/>
          </p:nvSpPr>
          <p:spPr>
            <a:xfrm>
              <a:off x="2723324" y="2121697"/>
              <a:ext cx="323850" cy="71556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零</a:t>
              </a:r>
            </a:p>
            <a:p>
              <a:pPr algn="ctr">
                <a:lnSpc>
                  <a:spcPct val="80000"/>
                </a:lnSpc>
              </a:pPr>
              <a:r>
                <a:rPr lang="zh-CN" altLang="en-US" sz="1200" dirty="0">
                  <a:latin typeface="Microsoft YaHei" panose="020B0503020204020204" pitchFamily="34" charset="-122"/>
                  <a:ea typeface="Microsoft YaHei" panose="020B0503020204020204" pitchFamily="34" charset="-122"/>
                </a:rPr>
                <a:t>件</a:t>
              </a:r>
            </a:p>
            <a:p>
              <a:pPr algn="ctr">
                <a:lnSpc>
                  <a:spcPct val="80000"/>
                </a:lnSpc>
              </a:pPr>
              <a:r>
                <a:rPr lang="zh-CN" altLang="en-US" sz="1200" dirty="0">
                  <a:latin typeface="Microsoft YaHei" panose="020B0503020204020204" pitchFamily="34" charset="-122"/>
                  <a:ea typeface="Microsoft YaHei" panose="020B0503020204020204" pitchFamily="34" charset="-122"/>
                </a:rPr>
                <a:t>号</a:t>
              </a:r>
            </a:p>
          </p:txBody>
        </p:sp>
        <p:sp>
          <p:nvSpPr>
            <p:cNvPr id="48136" name="Oval 9"/>
            <p:cNvSpPr/>
            <p:nvPr/>
          </p:nvSpPr>
          <p:spPr>
            <a:xfrm>
              <a:off x="3317447" y="2121697"/>
              <a:ext cx="323850" cy="71556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规</a:t>
              </a:r>
            </a:p>
            <a:p>
              <a:pPr algn="ctr"/>
              <a:r>
                <a:rPr lang="zh-CN" altLang="en-US" sz="1200" dirty="0">
                  <a:latin typeface="Microsoft YaHei" panose="020B0503020204020204" pitchFamily="34" charset="-122"/>
                  <a:ea typeface="Microsoft YaHei" panose="020B0503020204020204" pitchFamily="34" charset="-122"/>
                </a:rPr>
                <a:t>格</a:t>
              </a:r>
            </a:p>
          </p:txBody>
        </p:sp>
        <p:sp>
          <p:nvSpPr>
            <p:cNvPr id="48137" name="Oval 10"/>
            <p:cNvSpPr/>
            <p:nvPr/>
          </p:nvSpPr>
          <p:spPr>
            <a:xfrm>
              <a:off x="4130643" y="2121697"/>
              <a:ext cx="323850" cy="71556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耗</a:t>
              </a:r>
            </a:p>
            <a:p>
              <a:pPr algn="ctr">
                <a:lnSpc>
                  <a:spcPct val="80000"/>
                </a:lnSpc>
              </a:pPr>
              <a:r>
                <a:rPr lang="zh-CN" altLang="en-US" sz="1200" dirty="0">
                  <a:latin typeface="Microsoft YaHei" panose="020B0503020204020204" pitchFamily="34" charset="-122"/>
                  <a:ea typeface="Microsoft YaHei" panose="020B0503020204020204" pitchFamily="34" charset="-122"/>
                </a:rPr>
                <a:t>用</a:t>
              </a:r>
            </a:p>
            <a:p>
              <a:pPr algn="ctr">
                <a:lnSpc>
                  <a:spcPct val="80000"/>
                </a:lnSpc>
              </a:pPr>
              <a:r>
                <a:rPr lang="zh-CN" altLang="en-US" sz="1200" dirty="0">
                  <a:latin typeface="Microsoft YaHei" panose="020B0503020204020204" pitchFamily="34" charset="-122"/>
                  <a:ea typeface="Microsoft YaHei" panose="020B0503020204020204" pitchFamily="34" charset="-122"/>
                </a:rPr>
                <a:t>量</a:t>
              </a:r>
            </a:p>
          </p:txBody>
        </p:sp>
        <p:sp>
          <p:nvSpPr>
            <p:cNvPr id="48138" name="Oval 11"/>
            <p:cNvSpPr/>
            <p:nvPr/>
          </p:nvSpPr>
          <p:spPr>
            <a:xfrm>
              <a:off x="5208159" y="2176466"/>
              <a:ext cx="323850" cy="71556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材</a:t>
              </a:r>
            </a:p>
            <a:p>
              <a:pPr algn="ctr">
                <a:lnSpc>
                  <a:spcPct val="80000"/>
                </a:lnSpc>
              </a:pPr>
              <a:r>
                <a:rPr lang="zh-CN" altLang="en-US" sz="1200" dirty="0">
                  <a:latin typeface="Microsoft YaHei" panose="020B0503020204020204" pitchFamily="34" charset="-122"/>
                  <a:ea typeface="Microsoft YaHei" panose="020B0503020204020204" pitchFamily="34" charset="-122"/>
                </a:rPr>
                <a:t>料</a:t>
              </a:r>
            </a:p>
            <a:p>
              <a:pPr algn="ctr">
                <a:lnSpc>
                  <a:spcPct val="80000"/>
                </a:lnSpc>
              </a:pPr>
              <a:r>
                <a:rPr lang="zh-CN" altLang="en-US" sz="1200" dirty="0">
                  <a:latin typeface="Microsoft YaHei" panose="020B0503020204020204" pitchFamily="34" charset="-122"/>
                  <a:ea typeface="Microsoft YaHei" panose="020B0503020204020204" pitchFamily="34" charset="-122"/>
                </a:rPr>
                <a:t>名</a:t>
              </a:r>
            </a:p>
          </p:txBody>
        </p:sp>
        <p:sp>
          <p:nvSpPr>
            <p:cNvPr id="48146" name="AutoShape 19"/>
            <p:cNvSpPr/>
            <p:nvPr/>
          </p:nvSpPr>
          <p:spPr>
            <a:xfrm>
              <a:off x="3911568" y="1420420"/>
              <a:ext cx="810816" cy="323850"/>
            </a:xfrm>
            <a:prstGeom prst="flowChartDecision">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消耗</a:t>
              </a:r>
            </a:p>
          </p:txBody>
        </p:sp>
        <p:sp>
          <p:nvSpPr>
            <p:cNvPr id="48148" name="Rectangle 21"/>
            <p:cNvSpPr/>
            <p:nvPr/>
          </p:nvSpPr>
          <p:spPr>
            <a:xfrm>
              <a:off x="2885250" y="1458519"/>
              <a:ext cx="594122" cy="270272"/>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零件</a:t>
              </a:r>
            </a:p>
          </p:txBody>
        </p:sp>
        <p:sp>
          <p:nvSpPr>
            <p:cNvPr id="48149" name="Rectangle 22"/>
            <p:cNvSpPr/>
            <p:nvPr/>
          </p:nvSpPr>
          <p:spPr>
            <a:xfrm>
              <a:off x="5101003" y="1454948"/>
              <a:ext cx="701278" cy="270272"/>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材料</a:t>
              </a:r>
            </a:p>
          </p:txBody>
        </p:sp>
        <p:sp>
          <p:nvSpPr>
            <p:cNvPr id="48151" name="Line 24"/>
            <p:cNvSpPr/>
            <p:nvPr/>
          </p:nvSpPr>
          <p:spPr>
            <a:xfrm>
              <a:off x="1157653" y="1582345"/>
              <a:ext cx="485775"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52" name="Line 25"/>
            <p:cNvSpPr/>
            <p:nvPr/>
          </p:nvSpPr>
          <p:spPr>
            <a:xfrm>
              <a:off x="2399474" y="1582345"/>
              <a:ext cx="485775"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53" name="Line 26"/>
            <p:cNvSpPr/>
            <p:nvPr/>
          </p:nvSpPr>
          <p:spPr>
            <a:xfrm>
              <a:off x="3479371" y="1582345"/>
              <a:ext cx="432197"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54" name="Line 27"/>
            <p:cNvSpPr/>
            <p:nvPr/>
          </p:nvSpPr>
          <p:spPr>
            <a:xfrm>
              <a:off x="4722384" y="1582345"/>
              <a:ext cx="377428"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55" name="Line 28"/>
            <p:cNvSpPr/>
            <p:nvPr/>
          </p:nvSpPr>
          <p:spPr>
            <a:xfrm flipH="1">
              <a:off x="455184" y="1744269"/>
              <a:ext cx="161925" cy="432197"/>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56" name="Line 29"/>
            <p:cNvSpPr/>
            <p:nvPr/>
          </p:nvSpPr>
          <p:spPr>
            <a:xfrm>
              <a:off x="887381" y="1744270"/>
              <a:ext cx="108347" cy="377428"/>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57" name="Line 30"/>
            <p:cNvSpPr/>
            <p:nvPr/>
          </p:nvSpPr>
          <p:spPr>
            <a:xfrm>
              <a:off x="1967278" y="1744270"/>
              <a:ext cx="0" cy="377428"/>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58" name="Line 31"/>
            <p:cNvSpPr/>
            <p:nvPr/>
          </p:nvSpPr>
          <p:spPr>
            <a:xfrm flipH="1">
              <a:off x="2885249" y="1744270"/>
              <a:ext cx="161925" cy="377428"/>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59" name="Line 32"/>
            <p:cNvSpPr/>
            <p:nvPr/>
          </p:nvSpPr>
          <p:spPr>
            <a:xfrm>
              <a:off x="3209100" y="1744270"/>
              <a:ext cx="270272" cy="377428"/>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60" name="Line 33"/>
            <p:cNvSpPr/>
            <p:nvPr/>
          </p:nvSpPr>
          <p:spPr>
            <a:xfrm>
              <a:off x="4263993" y="1744270"/>
              <a:ext cx="0" cy="377428"/>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61" name="Line 34"/>
            <p:cNvSpPr/>
            <p:nvPr/>
          </p:nvSpPr>
          <p:spPr>
            <a:xfrm>
              <a:off x="5370084" y="1744269"/>
              <a:ext cx="0" cy="432197"/>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62" name="Text Box 35"/>
            <p:cNvSpPr txBox="1"/>
            <p:nvPr/>
          </p:nvSpPr>
          <p:spPr>
            <a:xfrm>
              <a:off x="1805353" y="2967041"/>
              <a:ext cx="3186113" cy="276999"/>
            </a:xfrm>
            <a:prstGeom prst="rect">
              <a:avLst/>
            </a:prstGeom>
            <a:noFill/>
            <a:ln w="9525">
              <a:noFill/>
            </a:ln>
          </p:spPr>
          <p:txBody>
            <a:bodyPr anchor="t" anchorCtr="0">
              <a:spAutoFit/>
            </a:bodyPr>
            <a:lstStyle/>
            <a:p>
              <a:pPr>
                <a:spcBef>
                  <a:spcPct val="50000"/>
                </a:spcBef>
              </a:pPr>
              <a:r>
                <a:rPr lang="zh-CN" altLang="en-US" sz="1200" dirty="0">
                  <a:latin typeface="Microsoft YaHei" panose="020B0503020204020204" pitchFamily="34" charset="-122"/>
                  <a:ea typeface="Microsoft YaHei" panose="020B0503020204020204" pitchFamily="34" charset="-122"/>
                </a:rPr>
                <a:t>技术部门的局部</a:t>
              </a:r>
              <a:r>
                <a:rPr lang="en-US" altLang="zh-CN" sz="1200" dirty="0">
                  <a:latin typeface="Microsoft YaHei" panose="020B0503020204020204" pitchFamily="34" charset="-122"/>
                  <a:ea typeface="Microsoft YaHei" panose="020B0503020204020204" pitchFamily="34" charset="-122"/>
                </a:rPr>
                <a:t>E-R</a:t>
              </a:r>
              <a:r>
                <a:rPr lang="zh-CN" altLang="en-US" sz="1200" dirty="0">
                  <a:latin typeface="Microsoft YaHei" panose="020B0503020204020204" pitchFamily="34" charset="-122"/>
                  <a:ea typeface="Microsoft YaHei" panose="020B0503020204020204" pitchFamily="34" charset="-122"/>
                </a:rPr>
                <a:t>模型</a:t>
              </a:r>
            </a:p>
          </p:txBody>
        </p:sp>
        <p:sp>
          <p:nvSpPr>
            <p:cNvPr id="48172" name="Text Box 45"/>
            <p:cNvSpPr txBox="1"/>
            <p:nvPr/>
          </p:nvSpPr>
          <p:spPr>
            <a:xfrm>
              <a:off x="1266000" y="1308501"/>
              <a:ext cx="269081" cy="276999"/>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m</a:t>
              </a:r>
            </a:p>
          </p:txBody>
        </p:sp>
        <p:sp>
          <p:nvSpPr>
            <p:cNvPr id="48173" name="Text Box 46"/>
            <p:cNvSpPr txBox="1"/>
            <p:nvPr/>
          </p:nvSpPr>
          <p:spPr>
            <a:xfrm>
              <a:off x="2509012" y="1312073"/>
              <a:ext cx="269081" cy="276999"/>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n</a:t>
              </a:r>
            </a:p>
          </p:txBody>
        </p:sp>
        <p:sp>
          <p:nvSpPr>
            <p:cNvPr id="48174" name="Text Box 47"/>
            <p:cNvSpPr txBox="1"/>
            <p:nvPr/>
          </p:nvSpPr>
          <p:spPr>
            <a:xfrm>
              <a:off x="4777153" y="1312073"/>
              <a:ext cx="269081" cy="276999"/>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1</a:t>
              </a:r>
            </a:p>
          </p:txBody>
        </p:sp>
        <p:sp>
          <p:nvSpPr>
            <p:cNvPr id="48175" name="Text Box 48"/>
            <p:cNvSpPr txBox="1"/>
            <p:nvPr/>
          </p:nvSpPr>
          <p:spPr>
            <a:xfrm>
              <a:off x="3588910" y="1312073"/>
              <a:ext cx="269081" cy="276999"/>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m</a:t>
              </a:r>
            </a:p>
          </p:txBody>
        </p:sp>
      </p:grpSp>
      <p:grpSp>
        <p:nvGrpSpPr>
          <p:cNvPr id="5" name="组合 4">
            <a:extLst>
              <a:ext uri="{FF2B5EF4-FFF2-40B4-BE49-F238E27FC236}">
                <a16:creationId xmlns:a16="http://schemas.microsoft.com/office/drawing/2014/main" id="{DC77933D-B691-07DD-1800-681D335D29D4}"/>
              </a:ext>
            </a:extLst>
          </p:cNvPr>
          <p:cNvGrpSpPr/>
          <p:nvPr/>
        </p:nvGrpSpPr>
        <p:grpSpPr>
          <a:xfrm>
            <a:off x="4842273" y="2980137"/>
            <a:ext cx="4158853" cy="1680746"/>
            <a:chOff x="4842273" y="2980137"/>
            <a:chExt cx="4158853" cy="1680746"/>
          </a:xfrm>
        </p:grpSpPr>
        <p:sp>
          <p:nvSpPr>
            <p:cNvPr id="48139" name="Oval 12"/>
            <p:cNvSpPr/>
            <p:nvPr/>
          </p:nvSpPr>
          <p:spPr>
            <a:xfrm>
              <a:off x="4842273" y="3945317"/>
              <a:ext cx="323850" cy="71556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编</a:t>
              </a:r>
            </a:p>
            <a:p>
              <a:pPr algn="ctr"/>
              <a:r>
                <a:rPr lang="zh-CN" altLang="en-US" sz="1200" dirty="0">
                  <a:latin typeface="Microsoft YaHei" panose="020B0503020204020204" pitchFamily="34" charset="-122"/>
                  <a:ea typeface="Microsoft YaHei" panose="020B0503020204020204" pitchFamily="34" charset="-122"/>
                </a:rPr>
                <a:t>号</a:t>
              </a:r>
            </a:p>
          </p:txBody>
        </p:sp>
        <p:sp>
          <p:nvSpPr>
            <p:cNvPr id="48140" name="Oval 13"/>
            <p:cNvSpPr/>
            <p:nvPr/>
          </p:nvSpPr>
          <p:spPr>
            <a:xfrm>
              <a:off x="5489973" y="3945317"/>
              <a:ext cx="323850" cy="71556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价</a:t>
              </a:r>
            </a:p>
            <a:p>
              <a:pPr algn="ctr"/>
              <a:r>
                <a:rPr lang="zh-CN" altLang="en-US" sz="1200" dirty="0">
                  <a:latin typeface="Microsoft YaHei" panose="020B0503020204020204" pitchFamily="34" charset="-122"/>
                  <a:ea typeface="Microsoft YaHei" panose="020B0503020204020204" pitchFamily="34" charset="-122"/>
                </a:rPr>
                <a:t>格</a:t>
              </a:r>
            </a:p>
          </p:txBody>
        </p:sp>
        <p:sp>
          <p:nvSpPr>
            <p:cNvPr id="48141" name="Oval 14"/>
            <p:cNvSpPr/>
            <p:nvPr/>
          </p:nvSpPr>
          <p:spPr>
            <a:xfrm>
              <a:off x="6678217" y="3945317"/>
              <a:ext cx="323850" cy="71556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用</a:t>
              </a:r>
            </a:p>
            <a:p>
              <a:pPr algn="ctr"/>
              <a:r>
                <a:rPr lang="zh-CN" altLang="en-US" sz="1200" dirty="0">
                  <a:latin typeface="Microsoft YaHei" panose="020B0503020204020204" pitchFamily="34" charset="-122"/>
                  <a:ea typeface="Microsoft YaHei" panose="020B0503020204020204" pitchFamily="34" charset="-122"/>
                </a:rPr>
                <a:t>量</a:t>
              </a:r>
            </a:p>
          </p:txBody>
        </p:sp>
        <p:sp>
          <p:nvSpPr>
            <p:cNvPr id="48142" name="Oval 15"/>
            <p:cNvSpPr/>
            <p:nvPr/>
          </p:nvSpPr>
          <p:spPr>
            <a:xfrm>
              <a:off x="7634288" y="3945317"/>
              <a:ext cx="323850" cy="71556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材</a:t>
              </a:r>
            </a:p>
            <a:p>
              <a:pPr algn="ctr">
                <a:lnSpc>
                  <a:spcPct val="80000"/>
                </a:lnSpc>
              </a:pPr>
              <a:r>
                <a:rPr lang="zh-CN" altLang="en-US" sz="1200" dirty="0">
                  <a:latin typeface="Microsoft YaHei" panose="020B0503020204020204" pitchFamily="34" charset="-122"/>
                  <a:ea typeface="Microsoft YaHei" panose="020B0503020204020204" pitchFamily="34" charset="-122"/>
                </a:rPr>
                <a:t>料</a:t>
              </a:r>
            </a:p>
            <a:p>
              <a:pPr algn="ctr">
                <a:lnSpc>
                  <a:spcPct val="80000"/>
                </a:lnSpc>
              </a:pPr>
              <a:r>
                <a:rPr lang="zh-CN" altLang="en-US" sz="1200" dirty="0">
                  <a:latin typeface="Microsoft YaHei" panose="020B0503020204020204" pitchFamily="34" charset="-122"/>
                  <a:ea typeface="Microsoft YaHei" panose="020B0503020204020204" pitchFamily="34" charset="-122"/>
                </a:rPr>
                <a:t>名</a:t>
              </a:r>
            </a:p>
          </p:txBody>
        </p:sp>
        <p:sp>
          <p:nvSpPr>
            <p:cNvPr id="48143" name="Oval 16"/>
            <p:cNvSpPr/>
            <p:nvPr/>
          </p:nvSpPr>
          <p:spPr>
            <a:xfrm>
              <a:off x="8190311" y="3945317"/>
              <a:ext cx="323850" cy="71556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价</a:t>
              </a:r>
            </a:p>
            <a:p>
              <a:pPr algn="ctr"/>
              <a:r>
                <a:rPr lang="zh-CN" altLang="en-US" sz="1200" dirty="0">
                  <a:latin typeface="Microsoft YaHei" panose="020B0503020204020204" pitchFamily="34" charset="-122"/>
                  <a:ea typeface="Microsoft YaHei" panose="020B0503020204020204" pitchFamily="34" charset="-122"/>
                </a:rPr>
                <a:t>格</a:t>
              </a:r>
            </a:p>
          </p:txBody>
        </p:sp>
        <p:sp>
          <p:nvSpPr>
            <p:cNvPr id="48144" name="Oval 17"/>
            <p:cNvSpPr/>
            <p:nvPr/>
          </p:nvSpPr>
          <p:spPr>
            <a:xfrm>
              <a:off x="8677276" y="3891740"/>
              <a:ext cx="323850" cy="71556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库</a:t>
              </a:r>
            </a:p>
            <a:p>
              <a:pPr algn="ctr">
                <a:lnSpc>
                  <a:spcPct val="80000"/>
                </a:lnSpc>
              </a:pPr>
              <a:r>
                <a:rPr lang="zh-CN" altLang="en-US" sz="1200" dirty="0">
                  <a:latin typeface="Microsoft YaHei" panose="020B0503020204020204" pitchFamily="34" charset="-122"/>
                  <a:ea typeface="Microsoft YaHei" panose="020B0503020204020204" pitchFamily="34" charset="-122"/>
                </a:rPr>
                <a:t>存</a:t>
              </a:r>
            </a:p>
            <a:p>
              <a:pPr algn="ctr">
                <a:lnSpc>
                  <a:spcPct val="80000"/>
                </a:lnSpc>
              </a:pPr>
              <a:r>
                <a:rPr lang="zh-CN" altLang="en-US" sz="1200" dirty="0">
                  <a:latin typeface="Microsoft YaHei" panose="020B0503020204020204" pitchFamily="34" charset="-122"/>
                  <a:ea typeface="Microsoft YaHei" panose="020B0503020204020204" pitchFamily="34" charset="-122"/>
                </a:rPr>
                <a:t>量</a:t>
              </a:r>
            </a:p>
          </p:txBody>
        </p:sp>
        <p:sp>
          <p:nvSpPr>
            <p:cNvPr id="48145" name="AutoShape 18"/>
            <p:cNvSpPr/>
            <p:nvPr/>
          </p:nvSpPr>
          <p:spPr>
            <a:xfrm>
              <a:off x="6462714" y="3405964"/>
              <a:ext cx="756047" cy="323850"/>
            </a:xfrm>
            <a:prstGeom prst="flowChartDecision">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使用</a:t>
              </a:r>
            </a:p>
          </p:txBody>
        </p:sp>
        <p:sp>
          <p:nvSpPr>
            <p:cNvPr id="48147" name="Rectangle 20"/>
            <p:cNvSpPr/>
            <p:nvPr/>
          </p:nvSpPr>
          <p:spPr>
            <a:xfrm>
              <a:off x="5058967" y="3459543"/>
              <a:ext cx="647700" cy="270272"/>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产品</a:t>
              </a:r>
            </a:p>
          </p:txBody>
        </p:sp>
        <p:sp>
          <p:nvSpPr>
            <p:cNvPr id="48150" name="Rectangle 23"/>
            <p:cNvSpPr/>
            <p:nvPr/>
          </p:nvSpPr>
          <p:spPr>
            <a:xfrm>
              <a:off x="7921229" y="3405964"/>
              <a:ext cx="647700" cy="270272"/>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材料</a:t>
              </a:r>
            </a:p>
          </p:txBody>
        </p:sp>
        <p:sp>
          <p:nvSpPr>
            <p:cNvPr id="48163" name="Line 36"/>
            <p:cNvSpPr/>
            <p:nvPr/>
          </p:nvSpPr>
          <p:spPr>
            <a:xfrm flipH="1">
              <a:off x="5004198" y="3729815"/>
              <a:ext cx="216694" cy="215503"/>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64" name="Line 37"/>
            <p:cNvSpPr/>
            <p:nvPr/>
          </p:nvSpPr>
          <p:spPr>
            <a:xfrm>
              <a:off x="5436395" y="3729815"/>
              <a:ext cx="216694" cy="215503"/>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65" name="Line 38"/>
            <p:cNvSpPr/>
            <p:nvPr/>
          </p:nvSpPr>
          <p:spPr>
            <a:xfrm>
              <a:off x="6824663" y="3729815"/>
              <a:ext cx="0" cy="215503"/>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66" name="Line 39"/>
            <p:cNvSpPr/>
            <p:nvPr/>
          </p:nvSpPr>
          <p:spPr>
            <a:xfrm flipH="1">
              <a:off x="7759305" y="3676236"/>
              <a:ext cx="269081" cy="269081"/>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67" name="Line 40"/>
            <p:cNvSpPr/>
            <p:nvPr/>
          </p:nvSpPr>
          <p:spPr>
            <a:xfrm>
              <a:off x="8245079" y="3676236"/>
              <a:ext cx="108347" cy="269081"/>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68" name="Line 41"/>
            <p:cNvSpPr/>
            <p:nvPr/>
          </p:nvSpPr>
          <p:spPr>
            <a:xfrm>
              <a:off x="8460582" y="3676236"/>
              <a:ext cx="378619" cy="215504"/>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69" name="Line 42"/>
            <p:cNvSpPr/>
            <p:nvPr/>
          </p:nvSpPr>
          <p:spPr>
            <a:xfrm>
              <a:off x="7218761" y="3567889"/>
              <a:ext cx="702469"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70" name="Line 43"/>
            <p:cNvSpPr/>
            <p:nvPr/>
          </p:nvSpPr>
          <p:spPr>
            <a:xfrm>
              <a:off x="5706667" y="3567889"/>
              <a:ext cx="756047"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8171" name="Text Box 44"/>
            <p:cNvSpPr txBox="1"/>
            <p:nvPr/>
          </p:nvSpPr>
          <p:spPr>
            <a:xfrm>
              <a:off x="5943338" y="2980137"/>
              <a:ext cx="1815967" cy="276999"/>
            </a:xfrm>
            <a:prstGeom prst="rect">
              <a:avLst/>
            </a:prstGeom>
            <a:noFill/>
            <a:ln w="9525">
              <a:noFill/>
            </a:ln>
          </p:spPr>
          <p:txBody>
            <a:bodyPr wrap="square" anchor="t" anchorCtr="0">
              <a:spAutoFit/>
            </a:bodyPr>
            <a:lstStyle/>
            <a:p>
              <a:pPr>
                <a:spcBef>
                  <a:spcPct val="50000"/>
                </a:spcBef>
              </a:pPr>
              <a:r>
                <a:rPr lang="zh-CN" altLang="en-US" sz="1200" dirty="0">
                  <a:latin typeface="Microsoft YaHei" panose="020B0503020204020204" pitchFamily="34" charset="-122"/>
                  <a:ea typeface="Microsoft YaHei" panose="020B0503020204020204" pitchFamily="34" charset="-122"/>
                </a:rPr>
                <a:t>供销部门的局部</a:t>
              </a:r>
              <a:r>
                <a:rPr lang="en-US" altLang="zh-CN" sz="1200" dirty="0">
                  <a:latin typeface="Microsoft YaHei" panose="020B0503020204020204" pitchFamily="34" charset="-122"/>
                  <a:ea typeface="Microsoft YaHei" panose="020B0503020204020204" pitchFamily="34" charset="-122"/>
                </a:rPr>
                <a:t>E-R</a:t>
              </a:r>
              <a:r>
                <a:rPr lang="zh-CN" altLang="en-US" sz="1200" dirty="0">
                  <a:latin typeface="Microsoft YaHei" panose="020B0503020204020204" pitchFamily="34" charset="-122"/>
                  <a:ea typeface="Microsoft YaHei" panose="020B0503020204020204" pitchFamily="34" charset="-122"/>
                </a:rPr>
                <a:t>模型</a:t>
              </a:r>
            </a:p>
          </p:txBody>
        </p:sp>
        <p:sp>
          <p:nvSpPr>
            <p:cNvPr id="48176" name="Text Box 49"/>
            <p:cNvSpPr txBox="1"/>
            <p:nvPr/>
          </p:nvSpPr>
          <p:spPr>
            <a:xfrm>
              <a:off x="6030517" y="3270233"/>
              <a:ext cx="269081" cy="276999"/>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m</a:t>
              </a:r>
            </a:p>
          </p:txBody>
        </p:sp>
        <p:sp>
          <p:nvSpPr>
            <p:cNvPr id="48177" name="Text Box 50"/>
            <p:cNvSpPr txBox="1"/>
            <p:nvPr/>
          </p:nvSpPr>
          <p:spPr>
            <a:xfrm>
              <a:off x="7381876" y="3270233"/>
              <a:ext cx="269081" cy="276999"/>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n</a:t>
              </a:r>
            </a:p>
          </p:txBody>
        </p:sp>
      </p:grpSp>
      <p:sp>
        <p:nvSpPr>
          <p:cNvPr id="4" name="标题 3">
            <a:extLst>
              <a:ext uri="{FF2B5EF4-FFF2-40B4-BE49-F238E27FC236}">
                <a16:creationId xmlns:a16="http://schemas.microsoft.com/office/drawing/2014/main" id="{185D4542-1F19-C52B-836D-E9492F090DA1}"/>
              </a:ext>
            </a:extLst>
          </p:cNvPr>
          <p:cNvSpPr>
            <a:spLocks noGrp="1"/>
          </p:cNvSpPr>
          <p:nvPr>
            <p:ph type="title"/>
          </p:nvPr>
        </p:nvSpPr>
        <p:spPr/>
        <p:txBody>
          <a:bodyPr/>
          <a:lstStyle/>
          <a:p>
            <a:r>
              <a:rPr lang="zh-CN" altLang="en-US" dirty="0"/>
              <a:t>概念结构设计</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54" name="Group 3"/>
          <p:cNvGrpSpPr/>
          <p:nvPr/>
        </p:nvGrpSpPr>
        <p:grpSpPr>
          <a:xfrm>
            <a:off x="1898644" y="1179465"/>
            <a:ext cx="6219826" cy="3596878"/>
            <a:chOff x="-732" y="0"/>
            <a:chExt cx="5224" cy="3021"/>
          </a:xfrm>
        </p:grpSpPr>
        <p:sp>
          <p:nvSpPr>
            <p:cNvPr id="49155" name="Rectangle 4"/>
            <p:cNvSpPr/>
            <p:nvPr/>
          </p:nvSpPr>
          <p:spPr>
            <a:xfrm>
              <a:off x="938" y="998"/>
              <a:ext cx="544" cy="227"/>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产品</a:t>
              </a:r>
            </a:p>
          </p:txBody>
        </p:sp>
        <p:sp>
          <p:nvSpPr>
            <p:cNvPr id="49156" name="Oval 5"/>
            <p:cNvSpPr/>
            <p:nvPr/>
          </p:nvSpPr>
          <p:spPr>
            <a:xfrm>
              <a:off x="621" y="136"/>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编</a:t>
              </a:r>
            </a:p>
            <a:p>
              <a:pPr algn="ctr"/>
              <a:r>
                <a:rPr lang="zh-CN" altLang="en-US" sz="1200" dirty="0">
                  <a:latin typeface="Microsoft YaHei" panose="020B0503020204020204" pitchFamily="34" charset="-122"/>
                  <a:ea typeface="Microsoft YaHei" panose="020B0503020204020204" pitchFamily="34" charset="-122"/>
                </a:rPr>
                <a:t>号</a:t>
              </a:r>
            </a:p>
          </p:txBody>
        </p:sp>
        <p:sp>
          <p:nvSpPr>
            <p:cNvPr id="49157" name="AutoShape 6"/>
            <p:cNvSpPr/>
            <p:nvPr/>
          </p:nvSpPr>
          <p:spPr>
            <a:xfrm>
              <a:off x="1891" y="956"/>
              <a:ext cx="635" cy="272"/>
            </a:xfrm>
            <a:prstGeom prst="flowChartDecision">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组成</a:t>
              </a:r>
            </a:p>
          </p:txBody>
        </p:sp>
        <p:sp>
          <p:nvSpPr>
            <p:cNvPr id="49158" name="Oval 7"/>
            <p:cNvSpPr/>
            <p:nvPr/>
          </p:nvSpPr>
          <p:spPr>
            <a:xfrm>
              <a:off x="1347" y="0"/>
              <a:ext cx="272" cy="86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性</a:t>
              </a:r>
            </a:p>
            <a:p>
              <a:pPr algn="ctr">
                <a:lnSpc>
                  <a:spcPct val="80000"/>
                </a:lnSpc>
              </a:pPr>
              <a:r>
                <a:rPr lang="zh-CN" altLang="en-US" sz="1200" dirty="0">
                  <a:latin typeface="Microsoft YaHei" panose="020B0503020204020204" pitchFamily="34" charset="-122"/>
                  <a:ea typeface="Microsoft YaHei" panose="020B0503020204020204" pitchFamily="34" charset="-122"/>
                </a:rPr>
                <a:t>能</a:t>
              </a:r>
            </a:p>
            <a:p>
              <a:pPr algn="ctr">
                <a:lnSpc>
                  <a:spcPct val="80000"/>
                </a:lnSpc>
              </a:pPr>
              <a:r>
                <a:rPr lang="zh-CN" altLang="en-US" sz="1200" dirty="0">
                  <a:latin typeface="Microsoft YaHei" panose="020B0503020204020204" pitchFamily="34" charset="-122"/>
                  <a:ea typeface="Microsoft YaHei" panose="020B0503020204020204" pitchFamily="34" charset="-122"/>
                </a:rPr>
                <a:t>参</a:t>
              </a:r>
            </a:p>
            <a:p>
              <a:pPr algn="ctr">
                <a:lnSpc>
                  <a:spcPct val="80000"/>
                </a:lnSpc>
              </a:pPr>
              <a:r>
                <a:rPr lang="zh-CN" altLang="en-US" sz="1200" dirty="0">
                  <a:latin typeface="Microsoft YaHei" panose="020B0503020204020204" pitchFamily="34" charset="-122"/>
                  <a:ea typeface="Microsoft YaHei" panose="020B0503020204020204" pitchFamily="34" charset="-122"/>
                </a:rPr>
                <a:t>数</a:t>
              </a:r>
            </a:p>
          </p:txBody>
        </p:sp>
        <p:sp>
          <p:nvSpPr>
            <p:cNvPr id="49159" name="Oval 8"/>
            <p:cNvSpPr/>
            <p:nvPr/>
          </p:nvSpPr>
          <p:spPr>
            <a:xfrm>
              <a:off x="1918" y="453"/>
              <a:ext cx="589"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零件数</a:t>
              </a:r>
            </a:p>
          </p:txBody>
        </p:sp>
        <p:sp>
          <p:nvSpPr>
            <p:cNvPr id="49160" name="Oval 9"/>
            <p:cNvSpPr/>
            <p:nvPr/>
          </p:nvSpPr>
          <p:spPr>
            <a:xfrm>
              <a:off x="2932" y="182"/>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零</a:t>
              </a:r>
            </a:p>
            <a:p>
              <a:pPr algn="ctr">
                <a:lnSpc>
                  <a:spcPct val="80000"/>
                </a:lnSpc>
              </a:pPr>
              <a:r>
                <a:rPr lang="zh-CN" altLang="en-US" sz="1200" dirty="0">
                  <a:latin typeface="Microsoft YaHei" panose="020B0503020204020204" pitchFamily="34" charset="-122"/>
                  <a:ea typeface="Microsoft YaHei" panose="020B0503020204020204" pitchFamily="34" charset="-122"/>
                </a:rPr>
                <a:t>件</a:t>
              </a:r>
            </a:p>
            <a:p>
              <a:pPr algn="ctr">
                <a:lnSpc>
                  <a:spcPct val="80000"/>
                </a:lnSpc>
              </a:pPr>
              <a:r>
                <a:rPr lang="zh-CN" altLang="en-US" sz="1200" dirty="0">
                  <a:latin typeface="Microsoft YaHei" panose="020B0503020204020204" pitchFamily="34" charset="-122"/>
                  <a:ea typeface="Microsoft YaHei" panose="020B0503020204020204" pitchFamily="34" charset="-122"/>
                </a:rPr>
                <a:t>号</a:t>
              </a:r>
            </a:p>
          </p:txBody>
        </p:sp>
        <p:sp>
          <p:nvSpPr>
            <p:cNvPr id="49161" name="Oval 10"/>
            <p:cNvSpPr/>
            <p:nvPr/>
          </p:nvSpPr>
          <p:spPr>
            <a:xfrm>
              <a:off x="3401" y="182"/>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规</a:t>
              </a:r>
            </a:p>
            <a:p>
              <a:pPr algn="ctr"/>
              <a:r>
                <a:rPr lang="zh-CN" altLang="en-US" sz="1200" dirty="0">
                  <a:latin typeface="Microsoft YaHei" panose="020B0503020204020204" pitchFamily="34" charset="-122"/>
                  <a:ea typeface="Microsoft YaHei" panose="020B0503020204020204" pitchFamily="34" charset="-122"/>
                </a:rPr>
                <a:t>格</a:t>
              </a:r>
            </a:p>
          </p:txBody>
        </p:sp>
        <p:sp>
          <p:nvSpPr>
            <p:cNvPr id="49162" name="Oval 11"/>
            <p:cNvSpPr/>
            <p:nvPr/>
          </p:nvSpPr>
          <p:spPr>
            <a:xfrm>
              <a:off x="3857" y="1457"/>
              <a:ext cx="635"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耗用量</a:t>
              </a:r>
            </a:p>
          </p:txBody>
        </p:sp>
        <p:sp>
          <p:nvSpPr>
            <p:cNvPr id="49163" name="Oval 12"/>
            <p:cNvSpPr/>
            <p:nvPr/>
          </p:nvSpPr>
          <p:spPr>
            <a:xfrm>
              <a:off x="971" y="136"/>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价</a:t>
              </a:r>
            </a:p>
            <a:p>
              <a:pPr algn="ctr"/>
              <a:r>
                <a:rPr lang="zh-CN" altLang="en-US" sz="1200" dirty="0">
                  <a:latin typeface="Microsoft YaHei" panose="020B0503020204020204" pitchFamily="34" charset="-122"/>
                  <a:ea typeface="Microsoft YaHei" panose="020B0503020204020204" pitchFamily="34" charset="-122"/>
                </a:rPr>
                <a:t>格</a:t>
              </a:r>
            </a:p>
          </p:txBody>
        </p:sp>
        <p:sp>
          <p:nvSpPr>
            <p:cNvPr id="49164" name="Oval 13"/>
            <p:cNvSpPr/>
            <p:nvPr/>
          </p:nvSpPr>
          <p:spPr>
            <a:xfrm>
              <a:off x="0" y="1934"/>
              <a:ext cx="545"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用量</a:t>
              </a:r>
            </a:p>
          </p:txBody>
        </p:sp>
        <p:sp>
          <p:nvSpPr>
            <p:cNvPr id="49165" name="Oval 14"/>
            <p:cNvSpPr/>
            <p:nvPr/>
          </p:nvSpPr>
          <p:spPr>
            <a:xfrm>
              <a:off x="2654" y="2420"/>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材</a:t>
              </a:r>
            </a:p>
            <a:p>
              <a:pPr algn="ctr">
                <a:lnSpc>
                  <a:spcPct val="80000"/>
                </a:lnSpc>
              </a:pPr>
              <a:r>
                <a:rPr lang="zh-CN" altLang="en-US" sz="1200" dirty="0">
                  <a:latin typeface="Microsoft YaHei" panose="020B0503020204020204" pitchFamily="34" charset="-122"/>
                  <a:ea typeface="Microsoft YaHei" panose="020B0503020204020204" pitchFamily="34" charset="-122"/>
                </a:rPr>
                <a:t>料</a:t>
              </a:r>
            </a:p>
            <a:p>
              <a:pPr algn="ctr">
                <a:lnSpc>
                  <a:spcPct val="80000"/>
                </a:lnSpc>
              </a:pPr>
              <a:r>
                <a:rPr lang="zh-CN" altLang="en-US" sz="1200" dirty="0">
                  <a:latin typeface="Microsoft YaHei" panose="020B0503020204020204" pitchFamily="34" charset="-122"/>
                  <a:ea typeface="Microsoft YaHei" panose="020B0503020204020204" pitchFamily="34" charset="-122"/>
                </a:rPr>
                <a:t>名</a:t>
              </a:r>
            </a:p>
          </p:txBody>
        </p:sp>
        <p:sp>
          <p:nvSpPr>
            <p:cNvPr id="49166" name="Oval 15"/>
            <p:cNvSpPr/>
            <p:nvPr/>
          </p:nvSpPr>
          <p:spPr>
            <a:xfrm>
              <a:off x="3121" y="2420"/>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价</a:t>
              </a:r>
            </a:p>
            <a:p>
              <a:pPr algn="ctr"/>
              <a:r>
                <a:rPr lang="zh-CN" altLang="en-US" sz="1200" dirty="0">
                  <a:latin typeface="Microsoft YaHei" panose="020B0503020204020204" pitchFamily="34" charset="-122"/>
                  <a:ea typeface="Microsoft YaHei" panose="020B0503020204020204" pitchFamily="34" charset="-122"/>
                </a:rPr>
                <a:t>格</a:t>
              </a:r>
            </a:p>
          </p:txBody>
        </p:sp>
        <p:sp>
          <p:nvSpPr>
            <p:cNvPr id="49167" name="Oval 16"/>
            <p:cNvSpPr/>
            <p:nvPr/>
          </p:nvSpPr>
          <p:spPr>
            <a:xfrm>
              <a:off x="3530" y="2375"/>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库</a:t>
              </a:r>
            </a:p>
            <a:p>
              <a:pPr algn="ctr">
                <a:lnSpc>
                  <a:spcPct val="80000"/>
                </a:lnSpc>
              </a:pPr>
              <a:r>
                <a:rPr lang="zh-CN" altLang="en-US" sz="1200" dirty="0">
                  <a:latin typeface="Microsoft YaHei" panose="020B0503020204020204" pitchFamily="34" charset="-122"/>
                  <a:ea typeface="Microsoft YaHei" panose="020B0503020204020204" pitchFamily="34" charset="-122"/>
                </a:rPr>
                <a:t>存</a:t>
              </a:r>
            </a:p>
            <a:p>
              <a:pPr algn="ctr">
                <a:lnSpc>
                  <a:spcPct val="80000"/>
                </a:lnSpc>
              </a:pPr>
              <a:r>
                <a:rPr lang="zh-CN" altLang="en-US" sz="1200" dirty="0">
                  <a:latin typeface="Microsoft YaHei" panose="020B0503020204020204" pitchFamily="34" charset="-122"/>
                  <a:ea typeface="Microsoft YaHei" panose="020B0503020204020204" pitchFamily="34" charset="-122"/>
                </a:rPr>
                <a:t>量</a:t>
              </a:r>
            </a:p>
          </p:txBody>
        </p:sp>
        <p:sp>
          <p:nvSpPr>
            <p:cNvPr id="49168" name="AutoShape 17"/>
            <p:cNvSpPr/>
            <p:nvPr/>
          </p:nvSpPr>
          <p:spPr>
            <a:xfrm>
              <a:off x="856" y="1937"/>
              <a:ext cx="635" cy="272"/>
            </a:xfrm>
            <a:prstGeom prst="flowChartDecision">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使用</a:t>
              </a:r>
            </a:p>
          </p:txBody>
        </p:sp>
        <p:sp>
          <p:nvSpPr>
            <p:cNvPr id="49169" name="AutoShape 18"/>
            <p:cNvSpPr/>
            <p:nvPr/>
          </p:nvSpPr>
          <p:spPr>
            <a:xfrm>
              <a:off x="2825" y="1465"/>
              <a:ext cx="681" cy="272"/>
            </a:xfrm>
            <a:prstGeom prst="flowChartDecision">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消耗</a:t>
              </a:r>
            </a:p>
          </p:txBody>
        </p:sp>
        <p:sp>
          <p:nvSpPr>
            <p:cNvPr id="49170" name="Rectangle 19"/>
            <p:cNvSpPr/>
            <p:nvPr/>
          </p:nvSpPr>
          <p:spPr>
            <a:xfrm>
              <a:off x="2934" y="988"/>
              <a:ext cx="499" cy="227"/>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零件</a:t>
              </a:r>
            </a:p>
          </p:txBody>
        </p:sp>
        <p:sp>
          <p:nvSpPr>
            <p:cNvPr id="49171" name="Rectangle 20"/>
            <p:cNvSpPr/>
            <p:nvPr/>
          </p:nvSpPr>
          <p:spPr>
            <a:xfrm>
              <a:off x="2895" y="1967"/>
              <a:ext cx="544" cy="227"/>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材料</a:t>
              </a:r>
            </a:p>
          </p:txBody>
        </p:sp>
        <p:sp>
          <p:nvSpPr>
            <p:cNvPr id="49172" name="Line 21"/>
            <p:cNvSpPr/>
            <p:nvPr/>
          </p:nvSpPr>
          <p:spPr>
            <a:xfrm>
              <a:off x="1483" y="1092"/>
              <a:ext cx="408"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73" name="Line 22"/>
            <p:cNvSpPr/>
            <p:nvPr/>
          </p:nvSpPr>
          <p:spPr>
            <a:xfrm>
              <a:off x="2526" y="1092"/>
              <a:ext cx="408"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74" name="Text Box 23"/>
            <p:cNvSpPr txBox="1"/>
            <p:nvPr/>
          </p:nvSpPr>
          <p:spPr>
            <a:xfrm>
              <a:off x="-732" y="1051"/>
              <a:ext cx="310" cy="1075"/>
            </a:xfrm>
            <a:prstGeom prst="rect">
              <a:avLst/>
            </a:prstGeom>
            <a:noFill/>
            <a:ln w="9525">
              <a:noFill/>
            </a:ln>
          </p:spPr>
          <p:txBody>
            <a:bodyPr vert="eaVert" wrap="square" anchor="t" anchorCtr="0">
              <a:spAutoFit/>
            </a:bodyPr>
            <a:lstStyle/>
            <a:p>
              <a:pPr>
                <a:spcBef>
                  <a:spcPct val="50000"/>
                </a:spcBef>
              </a:pPr>
              <a:r>
                <a:rPr lang="zh-CN" altLang="en-US" sz="1200" dirty="0">
                  <a:latin typeface="Microsoft YaHei" panose="020B0503020204020204" pitchFamily="34" charset="-122"/>
                  <a:ea typeface="Microsoft YaHei" panose="020B0503020204020204" pitchFamily="34" charset="-122"/>
                </a:rPr>
                <a:t>系统初步</a:t>
              </a:r>
              <a:r>
                <a:rPr lang="en-US" altLang="zh-CN" sz="1200" dirty="0">
                  <a:latin typeface="Microsoft YaHei" panose="020B0503020204020204" pitchFamily="34" charset="-122"/>
                  <a:ea typeface="Microsoft YaHei" panose="020B0503020204020204" pitchFamily="34" charset="-122"/>
                </a:rPr>
                <a:t>E-R</a:t>
              </a:r>
              <a:r>
                <a:rPr lang="zh-CN" altLang="en-US" sz="1200" dirty="0">
                  <a:latin typeface="Microsoft YaHei" panose="020B0503020204020204" pitchFamily="34" charset="-122"/>
                  <a:ea typeface="Microsoft YaHei" panose="020B0503020204020204" pitchFamily="34" charset="-122"/>
                </a:rPr>
                <a:t>模型</a:t>
              </a:r>
            </a:p>
          </p:txBody>
        </p:sp>
        <p:sp>
          <p:nvSpPr>
            <p:cNvPr id="49175" name="Line 24"/>
            <p:cNvSpPr/>
            <p:nvPr/>
          </p:nvSpPr>
          <p:spPr>
            <a:xfrm flipH="1">
              <a:off x="2759" y="2194"/>
              <a:ext cx="226" cy="226"/>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76" name="Line 25"/>
            <p:cNvSpPr/>
            <p:nvPr/>
          </p:nvSpPr>
          <p:spPr>
            <a:xfrm>
              <a:off x="3167" y="2194"/>
              <a:ext cx="91" cy="226"/>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77" name="Line 26"/>
            <p:cNvSpPr/>
            <p:nvPr/>
          </p:nvSpPr>
          <p:spPr>
            <a:xfrm>
              <a:off x="3348" y="2194"/>
              <a:ext cx="318" cy="181"/>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78" name="Text Box 27"/>
            <p:cNvSpPr txBox="1"/>
            <p:nvPr/>
          </p:nvSpPr>
          <p:spPr>
            <a:xfrm>
              <a:off x="1574" y="862"/>
              <a:ext cx="226" cy="233"/>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m</a:t>
              </a:r>
            </a:p>
          </p:txBody>
        </p:sp>
        <p:sp>
          <p:nvSpPr>
            <p:cNvPr id="49179" name="Text Box 28"/>
            <p:cNvSpPr txBox="1"/>
            <p:nvPr/>
          </p:nvSpPr>
          <p:spPr>
            <a:xfrm>
              <a:off x="2618" y="865"/>
              <a:ext cx="226" cy="233"/>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n</a:t>
              </a:r>
            </a:p>
          </p:txBody>
        </p:sp>
        <p:sp>
          <p:nvSpPr>
            <p:cNvPr id="49180" name="Text Box 29"/>
            <p:cNvSpPr txBox="1"/>
            <p:nvPr/>
          </p:nvSpPr>
          <p:spPr>
            <a:xfrm>
              <a:off x="3161" y="1701"/>
              <a:ext cx="226" cy="233"/>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1</a:t>
              </a:r>
            </a:p>
          </p:txBody>
        </p:sp>
        <p:sp>
          <p:nvSpPr>
            <p:cNvPr id="49181" name="Text Box 30"/>
            <p:cNvSpPr txBox="1"/>
            <p:nvPr/>
          </p:nvSpPr>
          <p:spPr>
            <a:xfrm>
              <a:off x="3161" y="1157"/>
              <a:ext cx="226" cy="233"/>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m</a:t>
              </a:r>
            </a:p>
          </p:txBody>
        </p:sp>
        <p:sp>
          <p:nvSpPr>
            <p:cNvPr id="49182" name="Text Box 31"/>
            <p:cNvSpPr txBox="1"/>
            <p:nvPr/>
          </p:nvSpPr>
          <p:spPr>
            <a:xfrm>
              <a:off x="1166" y="1247"/>
              <a:ext cx="226" cy="233"/>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m</a:t>
              </a:r>
            </a:p>
          </p:txBody>
        </p:sp>
        <p:sp>
          <p:nvSpPr>
            <p:cNvPr id="49183" name="Text Box 32"/>
            <p:cNvSpPr txBox="1"/>
            <p:nvPr/>
          </p:nvSpPr>
          <p:spPr>
            <a:xfrm>
              <a:off x="1846" y="1769"/>
              <a:ext cx="226" cy="233"/>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n</a:t>
              </a:r>
            </a:p>
          </p:txBody>
        </p:sp>
        <p:sp>
          <p:nvSpPr>
            <p:cNvPr id="49184" name="Line 33"/>
            <p:cNvSpPr/>
            <p:nvPr/>
          </p:nvSpPr>
          <p:spPr>
            <a:xfrm>
              <a:off x="3161" y="1225"/>
              <a:ext cx="0" cy="227"/>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85" name="Line 34"/>
            <p:cNvSpPr/>
            <p:nvPr/>
          </p:nvSpPr>
          <p:spPr>
            <a:xfrm>
              <a:off x="3161" y="1745"/>
              <a:ext cx="0" cy="227"/>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86" name="Line 35"/>
            <p:cNvSpPr/>
            <p:nvPr/>
          </p:nvSpPr>
          <p:spPr>
            <a:xfrm>
              <a:off x="1483" y="2074"/>
              <a:ext cx="1406"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87" name="Line 36"/>
            <p:cNvSpPr/>
            <p:nvPr/>
          </p:nvSpPr>
          <p:spPr>
            <a:xfrm>
              <a:off x="1165" y="1225"/>
              <a:ext cx="0" cy="726"/>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88" name="Line 37"/>
            <p:cNvSpPr/>
            <p:nvPr/>
          </p:nvSpPr>
          <p:spPr>
            <a:xfrm>
              <a:off x="3487" y="1596"/>
              <a:ext cx="362"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89" name="Line 38"/>
            <p:cNvSpPr/>
            <p:nvPr/>
          </p:nvSpPr>
          <p:spPr>
            <a:xfrm>
              <a:off x="552" y="2073"/>
              <a:ext cx="317"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90" name="Line 39"/>
            <p:cNvSpPr/>
            <p:nvPr/>
          </p:nvSpPr>
          <p:spPr>
            <a:xfrm>
              <a:off x="757" y="726"/>
              <a:ext cx="272" cy="272"/>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91" name="Line 40"/>
            <p:cNvSpPr/>
            <p:nvPr/>
          </p:nvSpPr>
          <p:spPr>
            <a:xfrm>
              <a:off x="1120" y="726"/>
              <a:ext cx="0" cy="272"/>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92" name="Line 41"/>
            <p:cNvSpPr/>
            <p:nvPr/>
          </p:nvSpPr>
          <p:spPr>
            <a:xfrm flipH="1">
              <a:off x="1347" y="862"/>
              <a:ext cx="90" cy="136"/>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93" name="Line 42"/>
            <p:cNvSpPr/>
            <p:nvPr/>
          </p:nvSpPr>
          <p:spPr>
            <a:xfrm>
              <a:off x="2222" y="726"/>
              <a:ext cx="0" cy="226"/>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94" name="Line 43"/>
            <p:cNvSpPr/>
            <p:nvPr/>
          </p:nvSpPr>
          <p:spPr>
            <a:xfrm>
              <a:off x="3063" y="784"/>
              <a:ext cx="136" cy="204"/>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49195" name="Line 44"/>
            <p:cNvSpPr/>
            <p:nvPr/>
          </p:nvSpPr>
          <p:spPr>
            <a:xfrm flipH="1">
              <a:off x="3294" y="765"/>
              <a:ext cx="193" cy="223"/>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grpSp>
      <p:sp>
        <p:nvSpPr>
          <p:cNvPr id="4" name="标题 3">
            <a:extLst>
              <a:ext uri="{FF2B5EF4-FFF2-40B4-BE49-F238E27FC236}">
                <a16:creationId xmlns:a16="http://schemas.microsoft.com/office/drawing/2014/main" id="{361082C1-5B83-B742-80FB-695FE7CCEB58}"/>
              </a:ext>
            </a:extLst>
          </p:cNvPr>
          <p:cNvSpPr>
            <a:spLocks noGrp="1"/>
          </p:cNvSpPr>
          <p:nvPr>
            <p:ph type="title"/>
          </p:nvPr>
        </p:nvSpPr>
        <p:spPr/>
        <p:txBody>
          <a:bodyPr/>
          <a:lstStyle/>
          <a:p>
            <a:r>
              <a:rPr lang="zh-CN" altLang="en-US" dirty="0"/>
              <a:t>概念结构设计</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78" name="Group 3"/>
          <p:cNvGrpSpPr/>
          <p:nvPr/>
        </p:nvGrpSpPr>
        <p:grpSpPr>
          <a:xfrm>
            <a:off x="1628179" y="1924515"/>
            <a:ext cx="5887641" cy="1935956"/>
            <a:chOff x="0" y="0"/>
            <a:chExt cx="4945" cy="1626"/>
          </a:xfrm>
        </p:grpSpPr>
        <p:sp>
          <p:nvSpPr>
            <p:cNvPr id="50179" name="Rectangle 4"/>
            <p:cNvSpPr/>
            <p:nvPr/>
          </p:nvSpPr>
          <p:spPr>
            <a:xfrm>
              <a:off x="137" y="139"/>
              <a:ext cx="544" cy="227"/>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产品</a:t>
              </a:r>
            </a:p>
          </p:txBody>
        </p:sp>
        <p:sp>
          <p:nvSpPr>
            <p:cNvPr id="50180" name="Oval 5"/>
            <p:cNvSpPr/>
            <p:nvPr/>
          </p:nvSpPr>
          <p:spPr>
            <a:xfrm>
              <a:off x="0" y="717"/>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编</a:t>
              </a:r>
            </a:p>
            <a:p>
              <a:pPr algn="ctr"/>
              <a:r>
                <a:rPr lang="zh-CN" altLang="en-US" sz="1200" dirty="0">
                  <a:latin typeface="Microsoft YaHei" panose="020B0503020204020204" pitchFamily="34" charset="-122"/>
                  <a:ea typeface="Microsoft YaHei" panose="020B0503020204020204" pitchFamily="34" charset="-122"/>
                </a:rPr>
                <a:t>号</a:t>
              </a:r>
            </a:p>
          </p:txBody>
        </p:sp>
        <p:sp>
          <p:nvSpPr>
            <p:cNvPr id="50181" name="AutoShape 6"/>
            <p:cNvSpPr/>
            <p:nvPr/>
          </p:nvSpPr>
          <p:spPr>
            <a:xfrm>
              <a:off x="1089" y="94"/>
              <a:ext cx="635" cy="272"/>
            </a:xfrm>
            <a:prstGeom prst="flowChartDecision">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组成</a:t>
              </a:r>
            </a:p>
          </p:txBody>
        </p:sp>
        <p:sp>
          <p:nvSpPr>
            <p:cNvPr id="50182" name="Oval 7"/>
            <p:cNvSpPr/>
            <p:nvPr/>
          </p:nvSpPr>
          <p:spPr>
            <a:xfrm>
              <a:off x="649" y="699"/>
              <a:ext cx="272" cy="86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性</a:t>
              </a:r>
            </a:p>
            <a:p>
              <a:pPr algn="ctr">
                <a:lnSpc>
                  <a:spcPct val="80000"/>
                </a:lnSpc>
              </a:pPr>
              <a:r>
                <a:rPr lang="zh-CN" altLang="en-US" sz="1200" dirty="0">
                  <a:latin typeface="Microsoft YaHei" panose="020B0503020204020204" pitchFamily="34" charset="-122"/>
                  <a:ea typeface="Microsoft YaHei" panose="020B0503020204020204" pitchFamily="34" charset="-122"/>
                </a:rPr>
                <a:t>能</a:t>
              </a:r>
            </a:p>
            <a:p>
              <a:pPr algn="ctr">
                <a:lnSpc>
                  <a:spcPct val="80000"/>
                </a:lnSpc>
              </a:pPr>
              <a:r>
                <a:rPr lang="zh-CN" altLang="en-US" sz="1200" dirty="0">
                  <a:latin typeface="Microsoft YaHei" panose="020B0503020204020204" pitchFamily="34" charset="-122"/>
                  <a:ea typeface="Microsoft YaHei" panose="020B0503020204020204" pitchFamily="34" charset="-122"/>
                </a:rPr>
                <a:t>参</a:t>
              </a:r>
            </a:p>
            <a:p>
              <a:pPr algn="ctr">
                <a:lnSpc>
                  <a:spcPct val="80000"/>
                </a:lnSpc>
              </a:pPr>
              <a:r>
                <a:rPr lang="zh-CN" altLang="en-US" sz="1200" dirty="0">
                  <a:latin typeface="Microsoft YaHei" panose="020B0503020204020204" pitchFamily="34" charset="-122"/>
                  <a:ea typeface="Microsoft YaHei" panose="020B0503020204020204" pitchFamily="34" charset="-122"/>
                </a:rPr>
                <a:t>数</a:t>
              </a:r>
            </a:p>
          </p:txBody>
        </p:sp>
        <p:sp>
          <p:nvSpPr>
            <p:cNvPr id="50183" name="Oval 8"/>
            <p:cNvSpPr/>
            <p:nvPr/>
          </p:nvSpPr>
          <p:spPr>
            <a:xfrm>
              <a:off x="1223" y="691"/>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零</a:t>
              </a:r>
            </a:p>
            <a:p>
              <a:pPr algn="ctr">
                <a:lnSpc>
                  <a:spcPct val="80000"/>
                </a:lnSpc>
              </a:pPr>
              <a:r>
                <a:rPr lang="zh-CN" altLang="en-US" sz="1200" dirty="0">
                  <a:latin typeface="Microsoft YaHei" panose="020B0503020204020204" pitchFamily="34" charset="-122"/>
                  <a:ea typeface="Microsoft YaHei" panose="020B0503020204020204" pitchFamily="34" charset="-122"/>
                </a:rPr>
                <a:t>件</a:t>
              </a:r>
            </a:p>
            <a:p>
              <a:pPr algn="ctr">
                <a:lnSpc>
                  <a:spcPct val="80000"/>
                </a:lnSpc>
              </a:pPr>
              <a:r>
                <a:rPr lang="zh-CN" altLang="en-US" sz="1200" dirty="0">
                  <a:latin typeface="Microsoft YaHei" panose="020B0503020204020204" pitchFamily="34" charset="-122"/>
                  <a:ea typeface="Microsoft YaHei" panose="020B0503020204020204" pitchFamily="34" charset="-122"/>
                </a:rPr>
                <a:t>数</a:t>
              </a:r>
            </a:p>
          </p:txBody>
        </p:sp>
        <p:sp>
          <p:nvSpPr>
            <p:cNvPr id="50184" name="Oval 9"/>
            <p:cNvSpPr/>
            <p:nvPr/>
          </p:nvSpPr>
          <p:spPr>
            <a:xfrm>
              <a:off x="1996" y="683"/>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零</a:t>
              </a:r>
            </a:p>
            <a:p>
              <a:pPr algn="ctr">
                <a:lnSpc>
                  <a:spcPct val="80000"/>
                </a:lnSpc>
              </a:pPr>
              <a:r>
                <a:rPr lang="zh-CN" altLang="en-US" sz="1200" dirty="0">
                  <a:latin typeface="Microsoft YaHei" panose="020B0503020204020204" pitchFamily="34" charset="-122"/>
                  <a:ea typeface="Microsoft YaHei" panose="020B0503020204020204" pitchFamily="34" charset="-122"/>
                </a:rPr>
                <a:t>件</a:t>
              </a:r>
            </a:p>
            <a:p>
              <a:pPr algn="ctr">
                <a:lnSpc>
                  <a:spcPct val="80000"/>
                </a:lnSpc>
              </a:pPr>
              <a:r>
                <a:rPr lang="zh-CN" altLang="en-US" sz="1200" dirty="0">
                  <a:latin typeface="Microsoft YaHei" panose="020B0503020204020204" pitchFamily="34" charset="-122"/>
                  <a:ea typeface="Microsoft YaHei" panose="020B0503020204020204" pitchFamily="34" charset="-122"/>
                </a:rPr>
                <a:t>号</a:t>
              </a:r>
            </a:p>
          </p:txBody>
        </p:sp>
        <p:sp>
          <p:nvSpPr>
            <p:cNvPr id="50185" name="Oval 10"/>
            <p:cNvSpPr/>
            <p:nvPr/>
          </p:nvSpPr>
          <p:spPr>
            <a:xfrm>
              <a:off x="2495" y="683"/>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规</a:t>
              </a:r>
            </a:p>
            <a:p>
              <a:pPr algn="ctr"/>
              <a:r>
                <a:rPr lang="zh-CN" altLang="en-US" sz="1200" dirty="0">
                  <a:latin typeface="Microsoft YaHei" panose="020B0503020204020204" pitchFamily="34" charset="-122"/>
                  <a:ea typeface="Microsoft YaHei" panose="020B0503020204020204" pitchFamily="34" charset="-122"/>
                </a:rPr>
                <a:t>格</a:t>
              </a:r>
            </a:p>
          </p:txBody>
        </p:sp>
        <p:sp>
          <p:nvSpPr>
            <p:cNvPr id="50186" name="Oval 11"/>
            <p:cNvSpPr/>
            <p:nvPr/>
          </p:nvSpPr>
          <p:spPr>
            <a:xfrm>
              <a:off x="3178" y="683"/>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耗</a:t>
              </a:r>
            </a:p>
            <a:p>
              <a:pPr algn="ctr">
                <a:lnSpc>
                  <a:spcPct val="80000"/>
                </a:lnSpc>
              </a:pPr>
              <a:r>
                <a:rPr lang="zh-CN" altLang="en-US" sz="1200" dirty="0">
                  <a:latin typeface="Microsoft YaHei" panose="020B0503020204020204" pitchFamily="34" charset="-122"/>
                  <a:ea typeface="Microsoft YaHei" panose="020B0503020204020204" pitchFamily="34" charset="-122"/>
                </a:rPr>
                <a:t>用</a:t>
              </a:r>
            </a:p>
            <a:p>
              <a:pPr algn="ctr">
                <a:lnSpc>
                  <a:spcPct val="80000"/>
                </a:lnSpc>
              </a:pPr>
              <a:r>
                <a:rPr lang="zh-CN" altLang="en-US" sz="1200" dirty="0">
                  <a:latin typeface="Microsoft YaHei" panose="020B0503020204020204" pitchFamily="34" charset="-122"/>
                  <a:ea typeface="Microsoft YaHei" panose="020B0503020204020204" pitchFamily="34" charset="-122"/>
                </a:rPr>
                <a:t>量</a:t>
              </a:r>
            </a:p>
          </p:txBody>
        </p:sp>
        <p:sp>
          <p:nvSpPr>
            <p:cNvPr id="50187" name="Oval 12"/>
            <p:cNvSpPr/>
            <p:nvPr/>
          </p:nvSpPr>
          <p:spPr>
            <a:xfrm>
              <a:off x="310" y="741"/>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价</a:t>
              </a:r>
            </a:p>
            <a:p>
              <a:pPr algn="ctr"/>
              <a:r>
                <a:rPr lang="zh-CN" altLang="en-US" sz="1200" dirty="0">
                  <a:latin typeface="Microsoft YaHei" panose="020B0503020204020204" pitchFamily="34" charset="-122"/>
                  <a:ea typeface="Microsoft YaHei" panose="020B0503020204020204" pitchFamily="34" charset="-122"/>
                </a:rPr>
                <a:t>格</a:t>
              </a:r>
            </a:p>
          </p:txBody>
        </p:sp>
        <p:sp>
          <p:nvSpPr>
            <p:cNvPr id="50188" name="Oval 13"/>
            <p:cNvSpPr/>
            <p:nvPr/>
          </p:nvSpPr>
          <p:spPr>
            <a:xfrm>
              <a:off x="3797" y="592"/>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材</a:t>
              </a:r>
            </a:p>
            <a:p>
              <a:pPr algn="ctr">
                <a:lnSpc>
                  <a:spcPct val="80000"/>
                </a:lnSpc>
              </a:pPr>
              <a:r>
                <a:rPr lang="zh-CN" altLang="en-US" sz="1200" dirty="0">
                  <a:latin typeface="Microsoft YaHei" panose="020B0503020204020204" pitchFamily="34" charset="-122"/>
                  <a:ea typeface="Microsoft YaHei" panose="020B0503020204020204" pitchFamily="34" charset="-122"/>
                </a:rPr>
                <a:t>料</a:t>
              </a:r>
            </a:p>
            <a:p>
              <a:pPr algn="ctr">
                <a:lnSpc>
                  <a:spcPct val="80000"/>
                </a:lnSpc>
              </a:pPr>
              <a:r>
                <a:rPr lang="zh-CN" altLang="en-US" sz="1200" dirty="0">
                  <a:latin typeface="Microsoft YaHei" panose="020B0503020204020204" pitchFamily="34" charset="-122"/>
                  <a:ea typeface="Microsoft YaHei" panose="020B0503020204020204" pitchFamily="34" charset="-122"/>
                </a:rPr>
                <a:t>名</a:t>
              </a:r>
            </a:p>
          </p:txBody>
        </p:sp>
        <p:sp>
          <p:nvSpPr>
            <p:cNvPr id="50189" name="Oval 14"/>
            <p:cNvSpPr/>
            <p:nvPr/>
          </p:nvSpPr>
          <p:spPr>
            <a:xfrm>
              <a:off x="4264" y="592"/>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价</a:t>
              </a:r>
            </a:p>
            <a:p>
              <a:pPr algn="ctr"/>
              <a:r>
                <a:rPr lang="zh-CN" altLang="en-US" sz="1200" dirty="0">
                  <a:latin typeface="Microsoft YaHei" panose="020B0503020204020204" pitchFamily="34" charset="-122"/>
                  <a:ea typeface="Microsoft YaHei" panose="020B0503020204020204" pitchFamily="34" charset="-122"/>
                </a:rPr>
                <a:t>格</a:t>
              </a:r>
            </a:p>
          </p:txBody>
        </p:sp>
        <p:sp>
          <p:nvSpPr>
            <p:cNvPr id="50190" name="Oval 15"/>
            <p:cNvSpPr/>
            <p:nvPr/>
          </p:nvSpPr>
          <p:spPr>
            <a:xfrm>
              <a:off x="4673" y="547"/>
              <a:ext cx="272" cy="60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库</a:t>
              </a:r>
            </a:p>
            <a:p>
              <a:pPr algn="ctr">
                <a:lnSpc>
                  <a:spcPct val="80000"/>
                </a:lnSpc>
              </a:pPr>
              <a:r>
                <a:rPr lang="zh-CN" altLang="en-US" sz="1200" dirty="0">
                  <a:latin typeface="Microsoft YaHei" panose="020B0503020204020204" pitchFamily="34" charset="-122"/>
                  <a:ea typeface="Microsoft YaHei" panose="020B0503020204020204" pitchFamily="34" charset="-122"/>
                </a:rPr>
                <a:t>存</a:t>
              </a:r>
            </a:p>
            <a:p>
              <a:pPr algn="ctr">
                <a:lnSpc>
                  <a:spcPct val="80000"/>
                </a:lnSpc>
              </a:pPr>
              <a:r>
                <a:rPr lang="zh-CN" altLang="en-US" sz="1200" dirty="0">
                  <a:latin typeface="Microsoft YaHei" panose="020B0503020204020204" pitchFamily="34" charset="-122"/>
                  <a:ea typeface="Microsoft YaHei" panose="020B0503020204020204" pitchFamily="34" charset="-122"/>
                </a:rPr>
                <a:t>量</a:t>
              </a:r>
            </a:p>
          </p:txBody>
        </p:sp>
        <p:sp>
          <p:nvSpPr>
            <p:cNvPr id="50191" name="AutoShape 16"/>
            <p:cNvSpPr/>
            <p:nvPr/>
          </p:nvSpPr>
          <p:spPr>
            <a:xfrm>
              <a:off x="2994" y="94"/>
              <a:ext cx="681" cy="272"/>
            </a:xfrm>
            <a:prstGeom prst="flowChartDecision">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消耗</a:t>
              </a:r>
            </a:p>
          </p:txBody>
        </p:sp>
        <p:sp>
          <p:nvSpPr>
            <p:cNvPr id="50192" name="Rectangle 17"/>
            <p:cNvSpPr/>
            <p:nvPr/>
          </p:nvSpPr>
          <p:spPr>
            <a:xfrm>
              <a:off x="2132" y="126"/>
              <a:ext cx="499" cy="227"/>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零件</a:t>
              </a:r>
            </a:p>
          </p:txBody>
        </p:sp>
        <p:sp>
          <p:nvSpPr>
            <p:cNvPr id="50193" name="Rectangle 18"/>
            <p:cNvSpPr/>
            <p:nvPr/>
          </p:nvSpPr>
          <p:spPr>
            <a:xfrm>
              <a:off x="3993" y="123"/>
              <a:ext cx="589" cy="227"/>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200" dirty="0">
                  <a:latin typeface="Microsoft YaHei" panose="020B0503020204020204" pitchFamily="34" charset="-122"/>
                  <a:ea typeface="Microsoft YaHei" panose="020B0503020204020204" pitchFamily="34" charset="-122"/>
                </a:rPr>
                <a:t>材料</a:t>
              </a:r>
            </a:p>
          </p:txBody>
        </p:sp>
        <p:sp>
          <p:nvSpPr>
            <p:cNvPr id="50194" name="Line 19"/>
            <p:cNvSpPr/>
            <p:nvPr/>
          </p:nvSpPr>
          <p:spPr>
            <a:xfrm>
              <a:off x="681" y="230"/>
              <a:ext cx="408"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50195" name="Line 20"/>
            <p:cNvSpPr/>
            <p:nvPr/>
          </p:nvSpPr>
          <p:spPr>
            <a:xfrm>
              <a:off x="1724" y="230"/>
              <a:ext cx="408"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50196" name="Line 21"/>
            <p:cNvSpPr/>
            <p:nvPr/>
          </p:nvSpPr>
          <p:spPr>
            <a:xfrm>
              <a:off x="2631" y="230"/>
              <a:ext cx="363"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50197" name="Line 22"/>
            <p:cNvSpPr/>
            <p:nvPr/>
          </p:nvSpPr>
          <p:spPr>
            <a:xfrm>
              <a:off x="3675" y="230"/>
              <a:ext cx="317" cy="0"/>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50198" name="Line 23"/>
            <p:cNvSpPr/>
            <p:nvPr/>
          </p:nvSpPr>
          <p:spPr>
            <a:xfrm flipH="1">
              <a:off x="91" y="366"/>
              <a:ext cx="136" cy="363"/>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50199" name="Line 24"/>
            <p:cNvSpPr/>
            <p:nvPr/>
          </p:nvSpPr>
          <p:spPr>
            <a:xfrm flipH="1">
              <a:off x="1361" y="366"/>
              <a:ext cx="46" cy="317"/>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50200" name="Line 25"/>
            <p:cNvSpPr/>
            <p:nvPr/>
          </p:nvSpPr>
          <p:spPr>
            <a:xfrm flipH="1">
              <a:off x="2132" y="366"/>
              <a:ext cx="136" cy="317"/>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50201" name="Line 26"/>
            <p:cNvSpPr/>
            <p:nvPr/>
          </p:nvSpPr>
          <p:spPr>
            <a:xfrm>
              <a:off x="2404" y="366"/>
              <a:ext cx="227" cy="317"/>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50202" name="Line 27"/>
            <p:cNvSpPr/>
            <p:nvPr/>
          </p:nvSpPr>
          <p:spPr>
            <a:xfrm flipH="1">
              <a:off x="3290" y="366"/>
              <a:ext cx="67" cy="317"/>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50203" name="Text Box 28"/>
            <p:cNvSpPr txBox="1"/>
            <p:nvPr/>
          </p:nvSpPr>
          <p:spPr>
            <a:xfrm>
              <a:off x="1770" y="1393"/>
              <a:ext cx="1678" cy="233"/>
            </a:xfrm>
            <a:prstGeom prst="rect">
              <a:avLst/>
            </a:prstGeom>
            <a:noFill/>
            <a:ln w="9525">
              <a:noFill/>
            </a:ln>
          </p:spPr>
          <p:txBody>
            <a:bodyPr anchor="t" anchorCtr="0">
              <a:spAutoFit/>
            </a:bodyPr>
            <a:lstStyle/>
            <a:p>
              <a:pPr>
                <a:spcBef>
                  <a:spcPct val="50000"/>
                </a:spcBef>
              </a:pPr>
              <a:r>
                <a:rPr lang="zh-CN" altLang="en-US" sz="1200" dirty="0">
                  <a:latin typeface="Microsoft YaHei" panose="020B0503020204020204" pitchFamily="34" charset="-122"/>
                  <a:ea typeface="Microsoft YaHei" panose="020B0503020204020204" pitchFamily="34" charset="-122"/>
                </a:rPr>
                <a:t>系统基本</a:t>
              </a:r>
              <a:r>
                <a:rPr lang="en-US" altLang="zh-CN" sz="1200" dirty="0">
                  <a:latin typeface="Microsoft YaHei" panose="020B0503020204020204" pitchFamily="34" charset="-122"/>
                  <a:ea typeface="Microsoft YaHei" panose="020B0503020204020204" pitchFamily="34" charset="-122"/>
                </a:rPr>
                <a:t>E-R</a:t>
              </a:r>
              <a:r>
                <a:rPr lang="zh-CN" altLang="en-US" sz="1200" dirty="0">
                  <a:latin typeface="Microsoft YaHei" panose="020B0503020204020204" pitchFamily="34" charset="-122"/>
                  <a:ea typeface="Microsoft YaHei" panose="020B0503020204020204" pitchFamily="34" charset="-122"/>
                </a:rPr>
                <a:t>模型</a:t>
              </a:r>
            </a:p>
          </p:txBody>
        </p:sp>
        <p:sp>
          <p:nvSpPr>
            <p:cNvPr id="50204" name="Line 29"/>
            <p:cNvSpPr/>
            <p:nvPr/>
          </p:nvSpPr>
          <p:spPr>
            <a:xfrm flipH="1">
              <a:off x="3902" y="359"/>
              <a:ext cx="225" cy="233"/>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50205" name="Line 30"/>
            <p:cNvSpPr/>
            <p:nvPr/>
          </p:nvSpPr>
          <p:spPr>
            <a:xfrm>
              <a:off x="4264" y="350"/>
              <a:ext cx="137" cy="242"/>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50206" name="Line 31"/>
            <p:cNvSpPr/>
            <p:nvPr/>
          </p:nvSpPr>
          <p:spPr>
            <a:xfrm>
              <a:off x="4446" y="350"/>
              <a:ext cx="363" cy="197"/>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50207" name="Text Box 32"/>
            <p:cNvSpPr txBox="1"/>
            <p:nvPr/>
          </p:nvSpPr>
          <p:spPr>
            <a:xfrm>
              <a:off x="772" y="0"/>
              <a:ext cx="226" cy="233"/>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m</a:t>
              </a:r>
            </a:p>
          </p:txBody>
        </p:sp>
        <p:sp>
          <p:nvSpPr>
            <p:cNvPr id="50208" name="Text Box 33"/>
            <p:cNvSpPr txBox="1"/>
            <p:nvPr/>
          </p:nvSpPr>
          <p:spPr>
            <a:xfrm>
              <a:off x="1816" y="3"/>
              <a:ext cx="226" cy="233"/>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n</a:t>
              </a:r>
            </a:p>
          </p:txBody>
        </p:sp>
        <p:sp>
          <p:nvSpPr>
            <p:cNvPr id="50209" name="Text Box 34"/>
            <p:cNvSpPr txBox="1"/>
            <p:nvPr/>
          </p:nvSpPr>
          <p:spPr>
            <a:xfrm>
              <a:off x="3721" y="3"/>
              <a:ext cx="226" cy="233"/>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1</a:t>
              </a:r>
            </a:p>
          </p:txBody>
        </p:sp>
        <p:sp>
          <p:nvSpPr>
            <p:cNvPr id="50210" name="Text Box 35"/>
            <p:cNvSpPr txBox="1"/>
            <p:nvPr/>
          </p:nvSpPr>
          <p:spPr>
            <a:xfrm>
              <a:off x="2723" y="3"/>
              <a:ext cx="226" cy="233"/>
            </a:xfrm>
            <a:prstGeom prst="rect">
              <a:avLst/>
            </a:prstGeom>
            <a:noFill/>
            <a:ln w="9525">
              <a:noFill/>
            </a:ln>
          </p:spPr>
          <p:txBody>
            <a:bodyPr anchor="t" anchorCtr="0">
              <a:spAutoFit/>
            </a:bodyPr>
            <a:lstStyle/>
            <a:p>
              <a:pPr>
                <a:spcBef>
                  <a:spcPct val="50000"/>
                </a:spcBef>
              </a:pPr>
              <a:r>
                <a:rPr lang="en-US" altLang="zh-CN" sz="1200" dirty="0">
                  <a:latin typeface="Microsoft YaHei" panose="020B0503020204020204" pitchFamily="34" charset="-122"/>
                  <a:ea typeface="Microsoft YaHei" panose="020B0503020204020204" pitchFamily="34" charset="-122"/>
                </a:rPr>
                <a:t>m</a:t>
              </a:r>
            </a:p>
          </p:txBody>
        </p:sp>
        <p:sp>
          <p:nvSpPr>
            <p:cNvPr id="50211" name="Line 36"/>
            <p:cNvSpPr/>
            <p:nvPr/>
          </p:nvSpPr>
          <p:spPr>
            <a:xfrm>
              <a:off x="433" y="366"/>
              <a:ext cx="0" cy="363"/>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50212" name="Line 37"/>
            <p:cNvSpPr/>
            <p:nvPr/>
          </p:nvSpPr>
          <p:spPr>
            <a:xfrm>
              <a:off x="545" y="366"/>
              <a:ext cx="226" cy="333"/>
            </a:xfrm>
            <a:prstGeom prst="line">
              <a:avLst/>
            </a:prstGeom>
            <a:ln w="9525" cap="flat" cmpd="sng">
              <a:solidFill>
                <a:schemeClr val="tx1"/>
              </a:solidFill>
              <a:prstDash val="solid"/>
              <a:round/>
              <a:headEnd type="none" w="med" len="med"/>
              <a:tailEnd type="non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grpSp>
      <p:sp>
        <p:nvSpPr>
          <p:cNvPr id="4" name="标题 3">
            <a:extLst>
              <a:ext uri="{FF2B5EF4-FFF2-40B4-BE49-F238E27FC236}">
                <a16:creationId xmlns:a16="http://schemas.microsoft.com/office/drawing/2014/main" id="{7EC703C7-3E03-36C8-1283-1B9B8DDFA668}"/>
              </a:ext>
            </a:extLst>
          </p:cNvPr>
          <p:cNvSpPr>
            <a:spLocks noGrp="1"/>
          </p:cNvSpPr>
          <p:nvPr>
            <p:ph type="title"/>
          </p:nvPr>
        </p:nvSpPr>
        <p:spPr/>
        <p:txBody>
          <a:bodyPr/>
          <a:lstStyle/>
          <a:p>
            <a:r>
              <a:rPr lang="zh-CN" altLang="en-US" dirty="0"/>
              <a:t>概念结构设计</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28B85-3F0D-D6F6-2A29-68005C28B25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B565A9-953C-A774-D8D0-7F5C9F24C65C}"/>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逻辑设计</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3C43DEB5-03FE-417C-00CE-03333CDF1759}"/>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498BC0A4-0216-4ADD-6755-7367796A12A3}"/>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C55AC4E7-F143-C98B-AA51-F1C09A3E7A9E}"/>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F24D051E-5F7D-222B-53F3-437BE7F2056B}"/>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89561106-12DD-7AB1-C065-A93D1F0522FD}"/>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93BC18EF-2AA4-9D9C-E50A-71378F5F82D8}"/>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3FF7CD47-0FD4-522A-3E58-AB9C1D994CA4}"/>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5EA002ED-17BD-67A3-7406-C12729FA8D54}"/>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021CBB21-4F84-5ED6-E19B-D1744C7AE209}"/>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64AD34B9-A839-2724-F7FD-DAD93EBACC65}"/>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70D4E2A3-6556-6940-5EF3-4E7A700C6A86}"/>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115EC9FA-7770-E9A3-9A41-39864E8C01CC}"/>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09CDAE09-98D5-D878-C794-2C5E97C057DF}"/>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1BB7E911-5362-1F80-71A9-BE8EB8F7AAB9}"/>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5AD4B315-39E0-8B8B-7E9A-54E22759E150}"/>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4</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437901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p:txBody>
          <a:bodyPr vert="horz" wrap="square" lIns="68580" tIns="34290" rIns="68580" bIns="34290" numCol="1" rtlCol="0" anchor="t" anchorCtr="0" compatLnSpc="1">
            <a:normAutofit/>
          </a:bodyPr>
          <a:lstStyle/>
          <a:p>
            <a:pPr marL="135731" indent="-135731"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r>
              <a:rPr lang="zh-CN" altLang="en-US" sz="1800" kern="0" dirty="0">
                <a:solidFill>
                  <a:schemeClr val="hlink"/>
                </a:solidFill>
                <a:cs typeface="楷体" panose="02010609060101010101" pitchFamily="49" charset="-122"/>
              </a:rPr>
              <a:t>任务</a:t>
            </a:r>
            <a:r>
              <a:rPr lang="zh-CN" altLang="en-US" sz="1800" kern="0" dirty="0">
                <a:solidFill>
                  <a:srgbClr val="FF0000"/>
                </a:solidFill>
                <a:cs typeface="楷体" panose="02010609060101010101" pitchFamily="49" charset="-122"/>
              </a:rPr>
              <a:t>：</a:t>
            </a:r>
            <a:r>
              <a:rPr lang="zh-CN" altLang="en-US" sz="1800" kern="0" dirty="0">
                <a:cs typeface="楷体" panose="02010609060101010101" pitchFamily="49" charset="-122"/>
              </a:rPr>
              <a:t>将基本</a:t>
            </a:r>
            <a:r>
              <a:rPr lang="en-US" altLang="zh-CN" sz="1800" kern="0" dirty="0">
                <a:cs typeface="楷体" panose="02010609060101010101" pitchFamily="49" charset="-122"/>
              </a:rPr>
              <a:t>E-R</a:t>
            </a:r>
            <a:r>
              <a:rPr lang="zh-CN" altLang="en-US" sz="1800" kern="0" dirty="0">
                <a:cs typeface="楷体" panose="02010609060101010101" pitchFamily="49" charset="-122"/>
              </a:rPr>
              <a:t>模型转换为</a:t>
            </a:r>
            <a:r>
              <a:rPr lang="en-US" altLang="zh-CN" sz="1800" kern="0" dirty="0">
                <a:cs typeface="楷体" panose="02010609060101010101" pitchFamily="49" charset="-122"/>
              </a:rPr>
              <a:t>DBMS</a:t>
            </a:r>
            <a:r>
              <a:rPr lang="zh-CN" altLang="en-US" sz="1800" kern="0" dirty="0">
                <a:cs typeface="楷体" panose="02010609060101010101" pitchFamily="49" charset="-122"/>
              </a:rPr>
              <a:t>所支持的数据模型。</a:t>
            </a:r>
            <a:endParaRPr lang="en-US" altLang="zh-CN" sz="1800" kern="0" dirty="0">
              <a:cs typeface="楷体" panose="02010609060101010101" pitchFamily="49" charset="-122"/>
            </a:endParaRPr>
          </a:p>
          <a:p>
            <a:pPr marL="135731" indent="-135731"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endParaRPr lang="zh-CN" altLang="en-US" sz="1800" kern="0" dirty="0">
              <a:cs typeface="楷体" panose="02010609060101010101" pitchFamily="49" charset="-122"/>
            </a:endParaRPr>
          </a:p>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r>
              <a:rPr lang="zh-CN" altLang="en-US" sz="1800" kern="0" dirty="0">
                <a:solidFill>
                  <a:schemeClr val="folHlink"/>
                </a:solidFill>
                <a:cs typeface="楷体" panose="02010609060101010101" pitchFamily="49" charset="-122"/>
              </a:rPr>
              <a:t>关系型逻辑结构设计的步骤：</a:t>
            </a:r>
            <a:endParaRPr lang="zh-CN" altLang="en-US" sz="1800" kern="0" dirty="0">
              <a:cs typeface="楷体" panose="02010609060101010101" pitchFamily="49" charset="-122"/>
            </a:endParaRPr>
          </a:p>
          <a:p>
            <a:pPr marL="557213" lvl="1" indent="-214313" defTabSz="685800" fontAlgn="base">
              <a:lnSpc>
                <a:spcPct val="100000"/>
              </a:lnSpc>
              <a:spcBef>
                <a:spcPct val="20000"/>
              </a:spcBef>
              <a:spcAft>
                <a:spcPct val="0"/>
              </a:spcAft>
              <a:buClr>
                <a:schemeClr val="hlink"/>
              </a:buClr>
              <a:buFont typeface="Wingdings" panose="05000000000000000000" pitchFamily="2" charset="2"/>
              <a:buChar char="Ø"/>
              <a:defRPr/>
            </a:pPr>
            <a:r>
              <a:rPr lang="en-US" altLang="zh-CN" sz="1500" kern="0" dirty="0">
                <a:cs typeface="楷体" panose="02010609060101010101" pitchFamily="49" charset="-122"/>
              </a:rPr>
              <a:t>1) </a:t>
            </a:r>
            <a:r>
              <a:rPr lang="zh-CN" altLang="en-US" sz="1500" kern="0" dirty="0">
                <a:cs typeface="楷体" panose="02010609060101010101" pitchFamily="49" charset="-122"/>
              </a:rPr>
              <a:t>将概念结构转换为关系模型</a:t>
            </a:r>
          </a:p>
          <a:p>
            <a:pPr marL="557213" lvl="1" indent="-214313" defTabSz="685800" fontAlgn="base">
              <a:lnSpc>
                <a:spcPct val="100000"/>
              </a:lnSpc>
              <a:spcBef>
                <a:spcPct val="20000"/>
              </a:spcBef>
              <a:spcAft>
                <a:spcPct val="0"/>
              </a:spcAft>
              <a:buClr>
                <a:schemeClr val="hlink"/>
              </a:buClr>
              <a:buFont typeface="Wingdings" panose="05000000000000000000" pitchFamily="2" charset="2"/>
              <a:buChar char="Ø"/>
              <a:defRPr/>
            </a:pPr>
            <a:r>
              <a:rPr lang="en-US" altLang="zh-CN" sz="1500" kern="0" dirty="0">
                <a:cs typeface="楷体" panose="02010609060101010101" pitchFamily="49" charset="-122"/>
              </a:rPr>
              <a:t>2) </a:t>
            </a:r>
            <a:r>
              <a:rPr lang="zh-CN" altLang="en-US" sz="1500" kern="0" dirty="0">
                <a:cs typeface="楷体" panose="02010609060101010101" pitchFamily="49" charset="-122"/>
              </a:rPr>
              <a:t>优化模型</a:t>
            </a:r>
          </a:p>
          <a:p>
            <a:pPr marL="557213" lvl="1" indent="-214313" defTabSz="685800" fontAlgn="base">
              <a:lnSpc>
                <a:spcPct val="100000"/>
              </a:lnSpc>
              <a:spcBef>
                <a:spcPct val="20000"/>
              </a:spcBef>
              <a:spcAft>
                <a:spcPct val="0"/>
              </a:spcAft>
              <a:buClr>
                <a:schemeClr val="hlink"/>
              </a:buClr>
              <a:buFont typeface="Wingdings" panose="05000000000000000000" pitchFamily="2" charset="2"/>
              <a:buChar char="Ø"/>
              <a:defRPr/>
            </a:pPr>
            <a:r>
              <a:rPr lang="en-US" altLang="zh-CN" sz="1500" kern="0" dirty="0">
                <a:cs typeface="楷体" panose="02010609060101010101" pitchFamily="49" charset="-122"/>
              </a:rPr>
              <a:t>3) </a:t>
            </a:r>
            <a:r>
              <a:rPr lang="zh-CN" altLang="en-US" sz="1500" kern="0" dirty="0">
                <a:cs typeface="楷体" panose="02010609060101010101" pitchFamily="49" charset="-122"/>
              </a:rPr>
              <a:t>设计适合</a:t>
            </a:r>
            <a:r>
              <a:rPr lang="en-US" altLang="zh-CN" sz="1500" kern="0" dirty="0">
                <a:cs typeface="楷体" panose="02010609060101010101" pitchFamily="49" charset="-122"/>
              </a:rPr>
              <a:t>DBMS</a:t>
            </a:r>
            <a:r>
              <a:rPr lang="zh-CN" altLang="en-US" sz="1500" kern="0" dirty="0">
                <a:cs typeface="楷体" panose="02010609060101010101" pitchFamily="49" charset="-122"/>
              </a:rPr>
              <a:t>的子模式</a:t>
            </a:r>
          </a:p>
        </p:txBody>
      </p:sp>
      <p:sp>
        <p:nvSpPr>
          <p:cNvPr id="51203" name="Rectangle 4"/>
          <p:cNvSpPr/>
          <p:nvPr/>
        </p:nvSpPr>
        <p:spPr>
          <a:xfrm>
            <a:off x="3834862" y="3382718"/>
            <a:ext cx="1314450" cy="514350"/>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spcBef>
                <a:spcPct val="20000"/>
              </a:spcBef>
              <a:buClr>
                <a:schemeClr val="folHlink"/>
              </a:buClr>
              <a:buSzPct val="60000"/>
              <a:buFont typeface="Wingdings" panose="05000000000000000000" pitchFamily="2" charset="2"/>
            </a:pPr>
            <a:r>
              <a:rPr lang="zh-CN" altLang="en-US" sz="1350" dirty="0">
                <a:latin typeface="Microsoft YaHei" panose="020B0503020204020204" pitchFamily="34" charset="-122"/>
                <a:ea typeface="Microsoft YaHei" panose="020B0503020204020204" pitchFamily="34" charset="-122"/>
              </a:rPr>
              <a:t>关系模型</a:t>
            </a:r>
          </a:p>
        </p:txBody>
      </p:sp>
      <p:sp>
        <p:nvSpPr>
          <p:cNvPr id="51204" name="Rectangle 5"/>
          <p:cNvSpPr/>
          <p:nvPr/>
        </p:nvSpPr>
        <p:spPr>
          <a:xfrm>
            <a:off x="5606512" y="3382718"/>
            <a:ext cx="1314450" cy="514350"/>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spcBef>
                <a:spcPct val="20000"/>
              </a:spcBef>
              <a:buClr>
                <a:schemeClr val="folHlink"/>
              </a:buClr>
              <a:buSzPct val="60000"/>
              <a:buFont typeface="Wingdings" panose="05000000000000000000" pitchFamily="2" charset="2"/>
            </a:pPr>
            <a:r>
              <a:rPr lang="zh-CN" altLang="en-US" sz="1350" dirty="0">
                <a:latin typeface="Microsoft YaHei" panose="020B0503020204020204" pitchFamily="34" charset="-122"/>
                <a:ea typeface="Microsoft YaHei" panose="020B0503020204020204" pitchFamily="34" charset="-122"/>
              </a:rPr>
              <a:t>优化的模型</a:t>
            </a:r>
          </a:p>
        </p:txBody>
      </p:sp>
      <p:grpSp>
        <p:nvGrpSpPr>
          <p:cNvPr id="51205" name="Group 6"/>
          <p:cNvGrpSpPr/>
          <p:nvPr/>
        </p:nvGrpSpPr>
        <p:grpSpPr>
          <a:xfrm>
            <a:off x="3206212" y="3611319"/>
            <a:ext cx="1028700" cy="914400"/>
            <a:chOff x="0" y="48"/>
            <a:chExt cx="864" cy="768"/>
          </a:xfrm>
        </p:grpSpPr>
        <p:sp>
          <p:nvSpPr>
            <p:cNvPr id="36883" name="Line 7"/>
            <p:cNvSpPr>
              <a:spLocks noChangeShapeType="1"/>
            </p:cNvSpPr>
            <p:nvPr/>
          </p:nvSpPr>
          <p:spPr bwMode="auto">
            <a:xfrm>
              <a:off x="240" y="48"/>
              <a:ext cx="288" cy="0"/>
            </a:xfrm>
            <a:prstGeom prst="line">
              <a:avLst/>
            </a:prstGeom>
            <a:noFill/>
            <a:ln w="9525">
              <a:solidFill>
                <a:schemeClr val="tx1"/>
              </a:solidFill>
              <a:round/>
              <a:tailEnd type="triangle" w="med" len="med"/>
            </a:ln>
            <a:effectLst/>
          </p:spPr>
          <p:txBody>
            <a:bodyPr wrap="none"/>
            <a:lstStyle/>
            <a:p>
              <a:pPr defTabSz="685800" fontAlgn="base">
                <a:spcBef>
                  <a:spcPct val="0"/>
                </a:spcBef>
                <a:spcAft>
                  <a:spcPct val="0"/>
                </a:spcAft>
                <a:defRPr/>
              </a:pPr>
              <a:endParaRPr lang="zh-CN" altLang="en-US" b="1">
                <a:latin typeface="Microsoft YaHei" panose="020B0503020204020204" pitchFamily="34" charset="-122"/>
                <a:ea typeface="Microsoft YaHei" panose="020B0503020204020204" pitchFamily="34" charset="-122"/>
              </a:endParaRPr>
            </a:p>
          </p:txBody>
        </p:sp>
        <p:grpSp>
          <p:nvGrpSpPr>
            <p:cNvPr id="51207" name="Group 8"/>
            <p:cNvGrpSpPr/>
            <p:nvPr/>
          </p:nvGrpSpPr>
          <p:grpSpPr>
            <a:xfrm>
              <a:off x="0" y="63"/>
              <a:ext cx="864" cy="753"/>
              <a:chOff x="0" y="63"/>
              <a:chExt cx="864" cy="753"/>
            </a:xfrm>
          </p:grpSpPr>
          <p:sp>
            <p:nvSpPr>
              <p:cNvPr id="51208" name="AutoShape 9"/>
              <p:cNvSpPr/>
              <p:nvPr/>
            </p:nvSpPr>
            <p:spPr>
              <a:xfrm>
                <a:off x="0" y="480"/>
                <a:ext cx="864" cy="336"/>
              </a:xfrm>
              <a:prstGeom prst="flowChartAlternate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转换规则</a:t>
                </a:r>
              </a:p>
            </p:txBody>
          </p:sp>
          <p:sp>
            <p:nvSpPr>
              <p:cNvPr id="36886" name="Line 10"/>
              <p:cNvSpPr>
                <a:spLocks noChangeShapeType="1"/>
              </p:cNvSpPr>
              <p:nvPr/>
            </p:nvSpPr>
            <p:spPr bwMode="auto">
              <a:xfrm flipV="1">
                <a:off x="384" y="63"/>
                <a:ext cx="0" cy="396"/>
              </a:xfrm>
              <a:prstGeom prst="line">
                <a:avLst/>
              </a:prstGeom>
              <a:noFill/>
              <a:ln w="28575">
                <a:solidFill>
                  <a:schemeClr val="hlink"/>
                </a:solidFill>
                <a:round/>
                <a:tailEnd type="triangle" w="med" len="med"/>
              </a:ln>
              <a:effectLst/>
            </p:spPr>
            <p:txBody>
              <a:bodyPr wrap="none"/>
              <a:lstStyle/>
              <a:p>
                <a:pPr defTabSz="685800" fontAlgn="base">
                  <a:spcBef>
                    <a:spcPct val="0"/>
                  </a:spcBef>
                  <a:spcAft>
                    <a:spcPct val="0"/>
                  </a:spcAft>
                  <a:defRPr/>
                </a:pPr>
                <a:endParaRPr lang="zh-CN" altLang="en-US" b="1">
                  <a:latin typeface="Microsoft YaHei" panose="020B0503020204020204" pitchFamily="34" charset="-122"/>
                  <a:ea typeface="Microsoft YaHei" panose="020B0503020204020204" pitchFamily="34" charset="-122"/>
                </a:endParaRPr>
              </a:p>
            </p:txBody>
          </p:sp>
        </p:grpSp>
      </p:grpSp>
      <p:grpSp>
        <p:nvGrpSpPr>
          <p:cNvPr id="51210" name="Group 11"/>
          <p:cNvGrpSpPr/>
          <p:nvPr/>
        </p:nvGrpSpPr>
        <p:grpSpPr>
          <a:xfrm>
            <a:off x="6417328" y="3611318"/>
            <a:ext cx="1257300" cy="1000125"/>
            <a:chOff x="105" y="48"/>
            <a:chExt cx="1056" cy="840"/>
          </a:xfrm>
        </p:grpSpPr>
        <p:sp>
          <p:nvSpPr>
            <p:cNvPr id="36879" name="Line 12"/>
            <p:cNvSpPr>
              <a:spLocks noChangeShapeType="1"/>
            </p:cNvSpPr>
            <p:nvPr/>
          </p:nvSpPr>
          <p:spPr bwMode="auto">
            <a:xfrm>
              <a:off x="528" y="48"/>
              <a:ext cx="288" cy="0"/>
            </a:xfrm>
            <a:prstGeom prst="line">
              <a:avLst/>
            </a:prstGeom>
            <a:noFill/>
            <a:ln w="9525">
              <a:solidFill>
                <a:schemeClr val="tx1"/>
              </a:solidFill>
              <a:round/>
              <a:tailEnd type="triangle" w="med" len="med"/>
            </a:ln>
            <a:effectLst/>
          </p:spPr>
          <p:txBody>
            <a:bodyPr wrap="none"/>
            <a:lstStyle/>
            <a:p>
              <a:pPr defTabSz="685800" fontAlgn="base">
                <a:spcBef>
                  <a:spcPct val="0"/>
                </a:spcBef>
                <a:spcAft>
                  <a:spcPct val="0"/>
                </a:spcAft>
                <a:defRPr/>
              </a:pPr>
              <a:endParaRPr lang="zh-CN" altLang="en-US" b="1">
                <a:latin typeface="Microsoft YaHei" panose="020B0503020204020204" pitchFamily="34" charset="-122"/>
                <a:ea typeface="Microsoft YaHei" panose="020B0503020204020204" pitchFamily="34" charset="-122"/>
              </a:endParaRPr>
            </a:p>
          </p:txBody>
        </p:sp>
        <p:grpSp>
          <p:nvGrpSpPr>
            <p:cNvPr id="51212" name="Group 13"/>
            <p:cNvGrpSpPr/>
            <p:nvPr/>
          </p:nvGrpSpPr>
          <p:grpSpPr>
            <a:xfrm>
              <a:off x="105" y="56"/>
              <a:ext cx="1056" cy="832"/>
              <a:chOff x="105" y="56"/>
              <a:chExt cx="1056" cy="832"/>
            </a:xfrm>
          </p:grpSpPr>
          <p:sp>
            <p:nvSpPr>
              <p:cNvPr id="51213" name="AutoShape 14"/>
              <p:cNvSpPr/>
              <p:nvPr/>
            </p:nvSpPr>
            <p:spPr>
              <a:xfrm>
                <a:off x="105" y="456"/>
                <a:ext cx="1056" cy="432"/>
              </a:xfrm>
              <a:prstGeom prst="flowChartAlternate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p>
                <a:pPr algn="ctr">
                  <a:spcBef>
                    <a:spcPct val="20000"/>
                  </a:spcBef>
                  <a:buClr>
                    <a:schemeClr val="folHlink"/>
                  </a:buClr>
                  <a:buSzPct val="60000"/>
                  <a:buFont typeface="Wingdings" panose="05000000000000000000" pitchFamily="2" charset="2"/>
                </a:pPr>
                <a:r>
                  <a:rPr lang="en-US" altLang="zh-CN" sz="1350" dirty="0">
                    <a:latin typeface="Microsoft YaHei" panose="020B0503020204020204" pitchFamily="34" charset="-122"/>
                    <a:ea typeface="Microsoft YaHei" panose="020B0503020204020204" pitchFamily="34" charset="-122"/>
                  </a:rPr>
                  <a:t>RDBMS</a:t>
                </a:r>
                <a:r>
                  <a:rPr lang="zh-CN" altLang="en-US" sz="1350" dirty="0">
                    <a:latin typeface="Microsoft YaHei" panose="020B0503020204020204" pitchFamily="34" charset="-122"/>
                    <a:ea typeface="Microsoft YaHei" panose="020B0503020204020204" pitchFamily="34" charset="-122"/>
                  </a:rPr>
                  <a:t>的</a:t>
                </a:r>
              </a:p>
              <a:p>
                <a:pPr algn="ctr">
                  <a:spcBef>
                    <a:spcPct val="20000"/>
                  </a:spcBef>
                  <a:buClr>
                    <a:schemeClr val="folHlink"/>
                  </a:buClr>
                  <a:buSzPct val="60000"/>
                  <a:buFont typeface="Wingdings" panose="05000000000000000000" pitchFamily="2" charset="2"/>
                </a:pPr>
                <a:r>
                  <a:rPr lang="zh-CN" altLang="en-US" sz="1350" dirty="0">
                    <a:latin typeface="Microsoft YaHei" panose="020B0503020204020204" pitchFamily="34" charset="-122"/>
                    <a:ea typeface="Microsoft YaHei" panose="020B0503020204020204" pitchFamily="34" charset="-122"/>
                  </a:rPr>
                  <a:t>特点和限制</a:t>
                </a:r>
              </a:p>
            </p:txBody>
          </p:sp>
          <p:sp>
            <p:nvSpPr>
              <p:cNvPr id="36882" name="Line 15"/>
              <p:cNvSpPr>
                <a:spLocks noChangeShapeType="1"/>
              </p:cNvSpPr>
              <p:nvPr/>
            </p:nvSpPr>
            <p:spPr bwMode="auto">
              <a:xfrm flipV="1">
                <a:off x="639" y="56"/>
                <a:ext cx="0" cy="384"/>
              </a:xfrm>
              <a:prstGeom prst="line">
                <a:avLst/>
              </a:prstGeom>
              <a:noFill/>
              <a:ln w="28575">
                <a:solidFill>
                  <a:schemeClr val="hlink"/>
                </a:solidFill>
                <a:round/>
                <a:tailEnd type="triangle" w="med" len="med"/>
              </a:ln>
              <a:effectLst/>
            </p:spPr>
            <p:txBody>
              <a:bodyPr wrap="none"/>
              <a:lstStyle/>
              <a:p>
                <a:pPr defTabSz="685800" fontAlgn="base">
                  <a:spcBef>
                    <a:spcPct val="0"/>
                  </a:spcBef>
                  <a:spcAft>
                    <a:spcPct val="0"/>
                  </a:spcAft>
                  <a:defRPr/>
                </a:pPr>
                <a:endParaRPr lang="zh-CN" altLang="en-US" b="1">
                  <a:latin typeface="Microsoft YaHei" panose="020B0503020204020204" pitchFamily="34" charset="-122"/>
                  <a:ea typeface="Microsoft YaHei" panose="020B0503020204020204" pitchFamily="34" charset="-122"/>
                </a:endParaRPr>
              </a:p>
            </p:txBody>
          </p:sp>
        </p:grpSp>
      </p:grpSp>
      <p:grpSp>
        <p:nvGrpSpPr>
          <p:cNvPr id="51215" name="Group 16"/>
          <p:cNvGrpSpPr/>
          <p:nvPr/>
        </p:nvGrpSpPr>
        <p:grpSpPr>
          <a:xfrm>
            <a:off x="4863562" y="3611319"/>
            <a:ext cx="1028700" cy="914400"/>
            <a:chOff x="0" y="48"/>
            <a:chExt cx="864" cy="768"/>
          </a:xfrm>
        </p:grpSpPr>
        <p:sp>
          <p:nvSpPr>
            <p:cNvPr id="36875" name="Line 17"/>
            <p:cNvSpPr>
              <a:spLocks noChangeShapeType="1"/>
            </p:cNvSpPr>
            <p:nvPr/>
          </p:nvSpPr>
          <p:spPr bwMode="auto">
            <a:xfrm>
              <a:off x="240" y="48"/>
              <a:ext cx="384" cy="0"/>
            </a:xfrm>
            <a:prstGeom prst="line">
              <a:avLst/>
            </a:prstGeom>
            <a:noFill/>
            <a:ln w="9525">
              <a:solidFill>
                <a:schemeClr val="tx1"/>
              </a:solidFill>
              <a:round/>
              <a:tailEnd type="triangle" w="med" len="med"/>
            </a:ln>
            <a:effectLst/>
          </p:spPr>
          <p:txBody>
            <a:bodyPr wrap="none"/>
            <a:lstStyle/>
            <a:p>
              <a:pPr defTabSz="685800" fontAlgn="base">
                <a:spcBef>
                  <a:spcPct val="0"/>
                </a:spcBef>
                <a:spcAft>
                  <a:spcPct val="0"/>
                </a:spcAft>
                <a:defRPr/>
              </a:pPr>
              <a:endParaRPr lang="zh-CN" altLang="en-US" b="1">
                <a:latin typeface="Microsoft YaHei" panose="020B0503020204020204" pitchFamily="34" charset="-122"/>
                <a:ea typeface="Microsoft YaHei" panose="020B0503020204020204" pitchFamily="34" charset="-122"/>
              </a:endParaRPr>
            </a:p>
          </p:txBody>
        </p:sp>
        <p:grpSp>
          <p:nvGrpSpPr>
            <p:cNvPr id="51217" name="Group 18"/>
            <p:cNvGrpSpPr/>
            <p:nvPr/>
          </p:nvGrpSpPr>
          <p:grpSpPr>
            <a:xfrm>
              <a:off x="0" y="70"/>
              <a:ext cx="864" cy="746"/>
              <a:chOff x="0" y="70"/>
              <a:chExt cx="864" cy="746"/>
            </a:xfrm>
          </p:grpSpPr>
          <p:sp>
            <p:nvSpPr>
              <p:cNvPr id="51218" name="AutoShape 19"/>
              <p:cNvSpPr/>
              <p:nvPr/>
            </p:nvSpPr>
            <p:spPr>
              <a:xfrm>
                <a:off x="0" y="480"/>
                <a:ext cx="864" cy="336"/>
              </a:xfrm>
              <a:prstGeom prst="flowChartAlternateProcess">
                <a:avLst/>
              </a:prstGeom>
              <a:solidFill>
                <a:srgbClr val="FFCCCC"/>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优化方法</a:t>
                </a:r>
              </a:p>
            </p:txBody>
          </p:sp>
          <p:sp>
            <p:nvSpPr>
              <p:cNvPr id="36878" name="Line 20"/>
              <p:cNvSpPr>
                <a:spLocks noChangeShapeType="1"/>
              </p:cNvSpPr>
              <p:nvPr/>
            </p:nvSpPr>
            <p:spPr bwMode="auto">
              <a:xfrm flipV="1">
                <a:off x="419" y="70"/>
                <a:ext cx="0" cy="396"/>
              </a:xfrm>
              <a:prstGeom prst="line">
                <a:avLst/>
              </a:prstGeom>
              <a:noFill/>
              <a:ln w="28575">
                <a:solidFill>
                  <a:schemeClr val="hlink"/>
                </a:solidFill>
                <a:round/>
                <a:tailEnd type="triangle" w="med" len="med"/>
              </a:ln>
              <a:effectLst/>
            </p:spPr>
            <p:txBody>
              <a:bodyPr wrap="none"/>
              <a:lstStyle/>
              <a:p>
                <a:pPr defTabSz="685800" fontAlgn="base">
                  <a:spcBef>
                    <a:spcPct val="0"/>
                  </a:spcBef>
                  <a:spcAft>
                    <a:spcPct val="0"/>
                  </a:spcAft>
                  <a:defRPr/>
                </a:pPr>
                <a:endParaRPr lang="zh-CN" altLang="en-US" b="1">
                  <a:latin typeface="Microsoft YaHei" panose="020B0503020204020204" pitchFamily="34" charset="-122"/>
                  <a:ea typeface="Microsoft YaHei" panose="020B0503020204020204" pitchFamily="34" charset="-122"/>
                </a:endParaRPr>
              </a:p>
            </p:txBody>
          </p:sp>
        </p:grpSp>
      </p:grpSp>
      <p:sp>
        <p:nvSpPr>
          <p:cNvPr id="37909" name="AutoShape 21"/>
          <p:cNvSpPr>
            <a:spLocks noChangeArrowheads="1"/>
          </p:cNvSpPr>
          <p:nvPr/>
        </p:nvSpPr>
        <p:spPr bwMode="auto">
          <a:xfrm>
            <a:off x="7263862" y="2982668"/>
            <a:ext cx="1371600" cy="971550"/>
          </a:xfrm>
          <a:prstGeom prst="flowChartMultidocument">
            <a:avLst/>
          </a:prstGeom>
          <a:solidFill>
            <a:srgbClr val="FFF1B5"/>
          </a:solidFill>
          <a:ln w="9525">
            <a:solidFill>
              <a:schemeClr val="tx1"/>
            </a:solidFill>
            <a:miter lim="800000"/>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b="1">
                <a:solidFill>
                  <a:schemeClr val="tx1"/>
                </a:solidFill>
                <a:latin typeface="Tahoma" panose="020B0604030504040204" pitchFamily="34" charset="0"/>
                <a:ea typeface="宋体" panose="02010600030101010101" pitchFamily="2" charset="-122"/>
              </a:defRPr>
            </a:lvl9pPr>
          </a:lstStyle>
          <a:p>
            <a:pPr algn="ctr" defTabSz="685800" eaLnBrk="1" fontAlgn="base" hangingPunct="1">
              <a:spcBef>
                <a:spcPct val="20000"/>
              </a:spcBef>
              <a:spcAft>
                <a:spcPct val="0"/>
              </a:spcAft>
              <a:buClr>
                <a:schemeClr val="folHlink"/>
              </a:buClr>
              <a:buSzPct val="60000"/>
              <a:defRPr/>
            </a:pPr>
            <a:r>
              <a:rPr lang="en-US" altLang="zh-CN" sz="1400">
                <a:latin typeface="Microsoft YaHei" panose="020B0503020204020204" pitchFamily="34" charset="-122"/>
                <a:ea typeface="Microsoft YaHei" panose="020B0503020204020204" pitchFamily="34" charset="-122"/>
              </a:rPr>
              <a:t>RDBMS</a:t>
            </a:r>
          </a:p>
          <a:p>
            <a:pPr algn="ctr" defTabSz="685800" eaLnBrk="1" fontAlgn="base" hangingPunct="1">
              <a:spcBef>
                <a:spcPct val="20000"/>
              </a:spcBef>
              <a:spcAft>
                <a:spcPct val="0"/>
              </a:spcAft>
              <a:buClr>
                <a:schemeClr val="folHlink"/>
              </a:buClr>
              <a:buSzPct val="60000"/>
              <a:defRPr/>
            </a:pPr>
            <a:r>
              <a:rPr lang="zh-CN" altLang="en-US" sz="1400">
                <a:latin typeface="Microsoft YaHei" panose="020B0503020204020204" pitchFamily="34" charset="-122"/>
                <a:ea typeface="Microsoft YaHei" panose="020B0503020204020204" pitchFamily="34" charset="-122"/>
              </a:rPr>
              <a:t>的表、视图</a:t>
            </a:r>
          </a:p>
        </p:txBody>
      </p:sp>
      <p:sp>
        <p:nvSpPr>
          <p:cNvPr id="51221" name="AutoShape 22"/>
          <p:cNvSpPr/>
          <p:nvPr/>
        </p:nvSpPr>
        <p:spPr>
          <a:xfrm>
            <a:off x="2291812" y="3268418"/>
            <a:ext cx="1200150" cy="628650"/>
          </a:xfrm>
          <a:prstGeom prst="plaque">
            <a:avLst>
              <a:gd name="adj" fmla="val 16667"/>
            </a:avLst>
          </a:prstGeom>
          <a:solidFill>
            <a:srgbClr val="FFF1B5"/>
          </a:solidFill>
          <a:ln w="9525" cap="flat" cmpd="sng">
            <a:solidFill>
              <a:schemeClr val="tx1"/>
            </a:solidFill>
            <a:prstDash val="solid"/>
            <a:miter/>
            <a:headEnd type="none" w="med" len="med"/>
            <a:tailEnd type="none" w="med" len="med"/>
          </a:ln>
        </p:spPr>
        <p:txBody>
          <a:bodyPr wrap="none" anchor="ctr" anchorCtr="0"/>
          <a:lstStyle/>
          <a:p>
            <a:pPr algn="ctr">
              <a:spcBef>
                <a:spcPct val="20000"/>
              </a:spcBef>
              <a:buClr>
                <a:schemeClr val="folHlink"/>
              </a:buClr>
              <a:buSzPct val="60000"/>
              <a:buFont typeface="Wingdings" panose="05000000000000000000" pitchFamily="2" charset="2"/>
            </a:pPr>
            <a:r>
              <a:rPr lang="zh-CN" altLang="en-US" sz="1350" dirty="0">
                <a:latin typeface="Microsoft YaHei" panose="020B0503020204020204" pitchFamily="34" charset="-122"/>
                <a:ea typeface="Microsoft YaHei" panose="020B0503020204020204" pitchFamily="34" charset="-122"/>
              </a:rPr>
              <a:t>基本</a:t>
            </a:r>
            <a:r>
              <a:rPr lang="en-US" altLang="zh-CN" sz="1350" dirty="0">
                <a:latin typeface="Microsoft YaHei" panose="020B0503020204020204" pitchFamily="34" charset="-122"/>
                <a:ea typeface="Microsoft YaHei" panose="020B0503020204020204" pitchFamily="34" charset="-122"/>
              </a:rPr>
              <a:t>E-R</a:t>
            </a:r>
            <a:r>
              <a:rPr lang="zh-CN" altLang="en-US" sz="1350" dirty="0">
                <a:latin typeface="Microsoft YaHei" panose="020B0503020204020204" pitchFamily="34" charset="-122"/>
                <a:ea typeface="Microsoft YaHei" panose="020B0503020204020204" pitchFamily="34" charset="-122"/>
              </a:rPr>
              <a:t>图</a:t>
            </a:r>
          </a:p>
        </p:txBody>
      </p:sp>
      <p:sp>
        <p:nvSpPr>
          <p:cNvPr id="3" name="标题 2">
            <a:extLst>
              <a:ext uri="{FF2B5EF4-FFF2-40B4-BE49-F238E27FC236}">
                <a16:creationId xmlns:a16="http://schemas.microsoft.com/office/drawing/2014/main" id="{D62BC3E2-D705-15E8-50CB-BF10E71E4769}"/>
              </a:ext>
            </a:extLst>
          </p:cNvPr>
          <p:cNvSpPr>
            <a:spLocks noGrp="1"/>
          </p:cNvSpPr>
          <p:nvPr>
            <p:ph type="title"/>
          </p:nvPr>
        </p:nvSpPr>
        <p:spPr/>
        <p:txBody>
          <a:bodyPr/>
          <a:lstStyle/>
          <a:p>
            <a:r>
              <a:rPr lang="zh-CN" altLang="en-US" dirty="0"/>
              <a:t>逻辑结构设计</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noChangeArrowheads="1"/>
          </p:cNvSpPr>
          <p:nvPr>
            <p:custDataLst>
              <p:tags r:id="rId1"/>
            </p:custDataLst>
          </p:nvPr>
        </p:nvSpPr>
        <p:spPr>
          <a:xfrm>
            <a:off x="344567" y="1253548"/>
            <a:ext cx="8454866" cy="3206212"/>
          </a:xfrm>
          <a:prstGeom prst="rect">
            <a:avLst/>
          </a:prstGeom>
          <a:noFill/>
          <a:ln w="9525">
            <a:noFill/>
          </a:ln>
        </p:spPr>
        <p:txBody>
          <a:bodyPr vert="horz" wrap="square" lIns="68580" tIns="34290" rIns="68580" bIns="3429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257175" indent="-257175" defTabSz="685800" eaLnBrk="1" hangingPunct="1">
              <a:buNone/>
              <a:defRPr/>
            </a:pPr>
            <a:r>
              <a:rPr lang="zh-CN" altLang="en-US" sz="21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一、</a:t>
            </a:r>
            <a:r>
              <a:rPr lang="en-US" altLang="zh-CN" sz="21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E-R</a:t>
            </a:r>
            <a:r>
              <a:rPr lang="zh-CN" altLang="en-US" sz="2100" kern="0" dirty="0">
                <a:solidFill>
                  <a:schemeClr val="folHlink"/>
                </a:solidFill>
                <a:latin typeface="Microsoft YaHei" panose="020B0503020204020204" pitchFamily="34" charset="-122"/>
                <a:ea typeface="Microsoft YaHei" panose="020B0503020204020204" pitchFamily="34" charset="-122"/>
                <a:cs typeface="楷体" panose="02010609060101010101" pitchFamily="49" charset="-122"/>
              </a:rPr>
              <a:t>模型向关系模型的转换</a:t>
            </a:r>
          </a:p>
          <a:p>
            <a:pPr marL="257175" indent="-257175" defTabSz="685800" eaLnBrk="1" hangingPunct="1">
              <a:defRPr/>
            </a:pPr>
            <a:r>
              <a:rPr lang="zh-CN" altLang="en-US" sz="21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转换的一般原则：</a:t>
            </a: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(1)</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一个实体型转换为一个关系模式。</a:t>
            </a:r>
          </a:p>
          <a:p>
            <a:pPr marL="0" indent="0"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(2)</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一个</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1</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1</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联系可转换为一个独立的关系模式，也可与任一端对应的关系模式合并。</a:t>
            </a:r>
          </a:p>
          <a:p>
            <a:pPr marL="0" indent="0"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(3)</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一个</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1</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n</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联系可转换为一个独立的关系模式，也可与</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n</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端对应的关系模式合并。</a:t>
            </a: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(4)</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一个</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m: n</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联系转换为一个关系模式。</a:t>
            </a: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(5)</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三个或三个以上实体间的多元联系可转换为一个关系模式。</a:t>
            </a:r>
          </a:p>
          <a:p>
            <a:pPr marL="257175" indent="-257175" defTabSz="685800" eaLnBrk="1" hangingPunct="1">
              <a:buNone/>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(6) </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相同键的关系模式可合并。</a:t>
            </a:r>
          </a:p>
        </p:txBody>
      </p:sp>
      <p:sp>
        <p:nvSpPr>
          <p:cNvPr id="5" name="标题 4">
            <a:extLst>
              <a:ext uri="{FF2B5EF4-FFF2-40B4-BE49-F238E27FC236}">
                <a16:creationId xmlns:a16="http://schemas.microsoft.com/office/drawing/2014/main" id="{3D3ABFAB-05BD-7B0C-6A1D-88CA898BAFC5}"/>
              </a:ext>
            </a:extLst>
          </p:cNvPr>
          <p:cNvSpPr>
            <a:spLocks noGrp="1"/>
          </p:cNvSpPr>
          <p:nvPr>
            <p:ph type="title"/>
          </p:nvPr>
        </p:nvSpPr>
        <p:spPr/>
        <p:txBody>
          <a:bodyPr/>
          <a:lstStyle/>
          <a:p>
            <a:r>
              <a:rPr lang="zh-CN" altLang="en-US" dirty="0"/>
              <a:t>逻辑结构设计</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p:cNvSpPr>
          <p:nvPr>
            <p:ph idx="1"/>
          </p:nvPr>
        </p:nvSpPr>
        <p:spPr/>
        <p:txBody>
          <a:bodyPr vert="horz" wrap="square" lIns="68580" tIns="34290" rIns="68580" bIns="34290" rtlCol="0" anchor="t" anchorCtr="0">
            <a:normAutofit/>
          </a:bodyPr>
          <a:lstStyle/>
          <a:p>
            <a:pPr eaLnBrk="1" hangingPunct="1">
              <a:buSzPct val="60000"/>
            </a:pPr>
            <a:r>
              <a:rPr lang="en-US" altLang="zh-CN" sz="1800" dirty="0"/>
              <a:t>P(</a:t>
            </a:r>
            <a:r>
              <a:rPr lang="en-US" altLang="zh-CN" sz="1800" u="sng" dirty="0">
                <a:solidFill>
                  <a:schemeClr val="hlink"/>
                </a:solidFill>
              </a:rPr>
              <a:t>P#</a:t>
            </a:r>
            <a:r>
              <a:rPr lang="zh-CN" altLang="en-US" sz="1800" dirty="0"/>
              <a:t>，</a:t>
            </a:r>
            <a:r>
              <a:rPr lang="en-US" altLang="zh-CN" sz="1800" dirty="0"/>
              <a:t>PP</a:t>
            </a:r>
            <a:r>
              <a:rPr lang="zh-CN" altLang="en-US" sz="1800" dirty="0"/>
              <a:t>，</a:t>
            </a:r>
            <a:r>
              <a:rPr lang="en-US" altLang="zh-CN" sz="1800" dirty="0"/>
              <a:t>PC)</a:t>
            </a:r>
          </a:p>
          <a:p>
            <a:pPr eaLnBrk="1" hangingPunct="1">
              <a:buSzPct val="60000"/>
            </a:pPr>
            <a:r>
              <a:rPr lang="en-US" altLang="zh-CN" sz="1800" dirty="0"/>
              <a:t>S(</a:t>
            </a:r>
            <a:r>
              <a:rPr lang="en-US" altLang="zh-CN" sz="1800" u="sng" dirty="0">
                <a:solidFill>
                  <a:schemeClr val="hlink"/>
                </a:solidFill>
              </a:rPr>
              <a:t>S#</a:t>
            </a:r>
            <a:r>
              <a:rPr lang="zh-CN" altLang="en-US" sz="1800" dirty="0"/>
              <a:t>，</a:t>
            </a:r>
            <a:r>
              <a:rPr lang="en-US" altLang="zh-CN" sz="1800" dirty="0"/>
              <a:t>SP)</a:t>
            </a:r>
          </a:p>
          <a:p>
            <a:pPr eaLnBrk="1" hangingPunct="1">
              <a:buSzPct val="60000"/>
            </a:pPr>
            <a:r>
              <a:rPr lang="en-US" altLang="zh-CN" sz="1800" dirty="0"/>
              <a:t>M(</a:t>
            </a:r>
            <a:r>
              <a:rPr lang="en-US" altLang="zh-CN" sz="1800" u="sng" dirty="0">
                <a:solidFill>
                  <a:schemeClr val="hlink"/>
                </a:solidFill>
              </a:rPr>
              <a:t>M#</a:t>
            </a:r>
            <a:r>
              <a:rPr lang="zh-CN" altLang="en-US" sz="1800" dirty="0"/>
              <a:t>，</a:t>
            </a:r>
            <a:r>
              <a:rPr lang="en-US" altLang="zh-CN" sz="1800" dirty="0"/>
              <a:t>MC)</a:t>
            </a:r>
          </a:p>
          <a:p>
            <a:pPr eaLnBrk="1" hangingPunct="1">
              <a:buSzPct val="60000"/>
            </a:pPr>
            <a:r>
              <a:rPr lang="en-US" altLang="zh-CN" sz="1800" dirty="0"/>
              <a:t>L(</a:t>
            </a:r>
            <a:r>
              <a:rPr lang="en-US" altLang="zh-CN" sz="1800" u="sng" dirty="0">
                <a:solidFill>
                  <a:schemeClr val="hlink"/>
                </a:solidFill>
              </a:rPr>
              <a:t>L#</a:t>
            </a:r>
            <a:r>
              <a:rPr lang="zh-CN" altLang="en-US" sz="1800" dirty="0"/>
              <a:t>，</a:t>
            </a:r>
            <a:r>
              <a:rPr lang="en-US" altLang="zh-CN" sz="1800" dirty="0"/>
              <a:t>LC)</a:t>
            </a:r>
          </a:p>
        </p:txBody>
      </p:sp>
      <p:sp>
        <p:nvSpPr>
          <p:cNvPr id="53251" name="Rectangle 4"/>
          <p:cNvSpPr>
            <a:spLocks noGrp="1"/>
          </p:cNvSpPr>
          <p:nvPr>
            <p:ph sz="half" idx="4294967295"/>
          </p:nvPr>
        </p:nvSpPr>
        <p:spPr>
          <a:xfrm>
            <a:off x="4838700" y="832095"/>
            <a:ext cx="2743200" cy="1428750"/>
          </a:xfrm>
        </p:spPr>
        <p:txBody>
          <a:bodyPr vert="horz" wrap="square" lIns="68580" tIns="34290" rIns="68580" bIns="34290" rtlCol="0" anchor="t" anchorCtr="0">
            <a:normAutofit/>
          </a:bodyPr>
          <a:lstStyle/>
          <a:p>
            <a:pPr eaLnBrk="1" hangingPunct="1">
              <a:buSzPct val="60000"/>
            </a:pPr>
            <a:r>
              <a:rPr lang="en-US" altLang="zh-CN" sz="1800" dirty="0"/>
              <a:t>P-S(</a:t>
            </a:r>
            <a:r>
              <a:rPr lang="en-US" altLang="zh-CN" sz="1800" u="sng" dirty="0">
                <a:solidFill>
                  <a:schemeClr val="hlink"/>
                </a:solidFill>
              </a:rPr>
              <a:t>P#</a:t>
            </a:r>
            <a:r>
              <a:rPr lang="zh-CN" altLang="en-US" sz="1800" u="sng" dirty="0">
                <a:solidFill>
                  <a:schemeClr val="hlink"/>
                </a:solidFill>
              </a:rPr>
              <a:t>，</a:t>
            </a:r>
            <a:r>
              <a:rPr lang="en-US" altLang="zh-CN" sz="1800" u="sng" dirty="0">
                <a:solidFill>
                  <a:schemeClr val="hlink"/>
                </a:solidFill>
              </a:rPr>
              <a:t>S#</a:t>
            </a:r>
            <a:r>
              <a:rPr lang="zh-CN" altLang="en-US" sz="1800" dirty="0"/>
              <a:t>，</a:t>
            </a:r>
            <a:r>
              <a:rPr lang="en-US" altLang="zh-CN" sz="1800" dirty="0"/>
              <a:t>Q1)</a:t>
            </a:r>
          </a:p>
          <a:p>
            <a:pPr eaLnBrk="1" hangingPunct="1">
              <a:buSzPct val="60000"/>
            </a:pPr>
            <a:r>
              <a:rPr lang="en-US" altLang="zh-CN" sz="1800" dirty="0"/>
              <a:t>S-M(</a:t>
            </a:r>
            <a:r>
              <a:rPr lang="en-US" altLang="zh-CN" sz="1800" u="sng" dirty="0">
                <a:solidFill>
                  <a:schemeClr val="hlink"/>
                </a:solidFill>
              </a:rPr>
              <a:t>S#</a:t>
            </a:r>
            <a:r>
              <a:rPr lang="zh-CN" altLang="en-US" sz="1800" dirty="0">
                <a:solidFill>
                  <a:schemeClr val="hlink"/>
                </a:solidFill>
              </a:rPr>
              <a:t>，</a:t>
            </a:r>
            <a:r>
              <a:rPr lang="en-US" altLang="zh-CN" sz="1800" dirty="0"/>
              <a:t>M#</a:t>
            </a:r>
            <a:r>
              <a:rPr lang="zh-CN" altLang="en-US" sz="1800" dirty="0"/>
              <a:t>，</a:t>
            </a:r>
            <a:r>
              <a:rPr lang="en-US" altLang="zh-CN" sz="1800" dirty="0"/>
              <a:t>Q2)</a:t>
            </a:r>
          </a:p>
          <a:p>
            <a:pPr eaLnBrk="1" hangingPunct="1">
              <a:buSzPct val="60000"/>
            </a:pPr>
            <a:r>
              <a:rPr lang="en-US" altLang="zh-CN" sz="1800" dirty="0"/>
              <a:t>M-L(</a:t>
            </a:r>
            <a:r>
              <a:rPr lang="en-US" altLang="zh-CN" sz="1800" u="sng" dirty="0">
                <a:solidFill>
                  <a:schemeClr val="hlink"/>
                </a:solidFill>
              </a:rPr>
              <a:t>M#</a:t>
            </a:r>
            <a:r>
              <a:rPr lang="zh-CN" altLang="en-US" sz="1800" u="sng" dirty="0">
                <a:solidFill>
                  <a:schemeClr val="hlink"/>
                </a:solidFill>
              </a:rPr>
              <a:t>，</a:t>
            </a:r>
            <a:r>
              <a:rPr lang="en-US" altLang="zh-CN" sz="1800" u="sng" dirty="0">
                <a:solidFill>
                  <a:schemeClr val="hlink"/>
                </a:solidFill>
              </a:rPr>
              <a:t>L#</a:t>
            </a:r>
            <a:r>
              <a:rPr lang="zh-CN" altLang="en-US" sz="1800" dirty="0"/>
              <a:t>，</a:t>
            </a:r>
            <a:r>
              <a:rPr lang="en-US" altLang="zh-CN" sz="1800" dirty="0"/>
              <a:t>Q3)</a:t>
            </a:r>
          </a:p>
        </p:txBody>
      </p:sp>
      <p:grpSp>
        <p:nvGrpSpPr>
          <p:cNvPr id="53252" name="Group 5"/>
          <p:cNvGrpSpPr/>
          <p:nvPr/>
        </p:nvGrpSpPr>
        <p:grpSpPr>
          <a:xfrm>
            <a:off x="3486150" y="1934918"/>
            <a:ext cx="5029200" cy="2819400"/>
            <a:chOff x="0" y="0"/>
            <a:chExt cx="4224" cy="2368"/>
          </a:xfrm>
        </p:grpSpPr>
        <p:grpSp>
          <p:nvGrpSpPr>
            <p:cNvPr id="53253" name="Group 6"/>
            <p:cNvGrpSpPr/>
            <p:nvPr/>
          </p:nvGrpSpPr>
          <p:grpSpPr>
            <a:xfrm>
              <a:off x="1872" y="480"/>
              <a:ext cx="576" cy="432"/>
              <a:chOff x="0" y="0"/>
              <a:chExt cx="768" cy="480"/>
            </a:xfrm>
          </p:grpSpPr>
          <p:sp>
            <p:nvSpPr>
              <p:cNvPr id="53254" name="Oval 7"/>
              <p:cNvSpPr/>
              <p:nvPr/>
            </p:nvSpPr>
            <p:spPr>
              <a:xfrm>
                <a:off x="0" y="96"/>
                <a:ext cx="768" cy="384"/>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Q1</a:t>
                </a:r>
              </a:p>
            </p:txBody>
          </p:sp>
          <p:sp>
            <p:nvSpPr>
              <p:cNvPr id="53255" name="Line 8"/>
              <p:cNvSpPr/>
              <p:nvPr/>
            </p:nvSpPr>
            <p:spPr>
              <a:xfrm>
                <a:off x="384" y="0"/>
                <a:ext cx="0" cy="96"/>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53256" name="Group 9"/>
            <p:cNvGrpSpPr/>
            <p:nvPr/>
          </p:nvGrpSpPr>
          <p:grpSpPr>
            <a:xfrm>
              <a:off x="1426" y="205"/>
              <a:ext cx="1502" cy="701"/>
              <a:chOff x="35" y="13"/>
              <a:chExt cx="1562" cy="701"/>
            </a:xfrm>
          </p:grpSpPr>
          <p:sp>
            <p:nvSpPr>
              <p:cNvPr id="53257" name="AutoShape 10"/>
              <p:cNvSpPr/>
              <p:nvPr/>
            </p:nvSpPr>
            <p:spPr>
              <a:xfrm>
                <a:off x="371" y="13"/>
                <a:ext cx="872" cy="302"/>
              </a:xfrm>
              <a:prstGeom prst="flowChartDecision">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组成</a:t>
                </a:r>
              </a:p>
            </p:txBody>
          </p:sp>
          <p:sp>
            <p:nvSpPr>
              <p:cNvPr id="53258" name="Line 11"/>
              <p:cNvSpPr/>
              <p:nvPr/>
            </p:nvSpPr>
            <p:spPr>
              <a:xfrm>
                <a:off x="35" y="168"/>
                <a:ext cx="336" cy="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3259" name="Text Box 12"/>
              <p:cNvSpPr txBox="1"/>
              <p:nvPr/>
            </p:nvSpPr>
            <p:spPr>
              <a:xfrm>
                <a:off x="38" y="462"/>
                <a:ext cx="261" cy="252"/>
              </a:xfrm>
              <a:prstGeom prst="rect">
                <a:avLst/>
              </a:prstGeom>
              <a:no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m</a:t>
                </a:r>
              </a:p>
            </p:txBody>
          </p:sp>
          <p:sp>
            <p:nvSpPr>
              <p:cNvPr id="53260" name="Text Box 13"/>
              <p:cNvSpPr txBox="1"/>
              <p:nvPr/>
            </p:nvSpPr>
            <p:spPr>
              <a:xfrm>
                <a:off x="1248" y="192"/>
                <a:ext cx="262" cy="252"/>
              </a:xfrm>
              <a:prstGeom prst="rect">
                <a:avLst/>
              </a:prstGeom>
              <a:no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n</a:t>
                </a:r>
              </a:p>
            </p:txBody>
          </p:sp>
          <p:sp>
            <p:nvSpPr>
              <p:cNvPr id="53261" name="Line 14"/>
              <p:cNvSpPr/>
              <p:nvPr/>
            </p:nvSpPr>
            <p:spPr>
              <a:xfrm>
                <a:off x="1248" y="164"/>
                <a:ext cx="349" cy="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53262" name="Oval 15"/>
            <p:cNvSpPr/>
            <p:nvPr/>
          </p:nvSpPr>
          <p:spPr>
            <a:xfrm>
              <a:off x="0" y="192"/>
              <a:ext cx="576" cy="275"/>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P#</a:t>
              </a:r>
            </a:p>
          </p:txBody>
        </p:sp>
        <p:sp>
          <p:nvSpPr>
            <p:cNvPr id="53263" name="Oval 16"/>
            <p:cNvSpPr/>
            <p:nvPr/>
          </p:nvSpPr>
          <p:spPr>
            <a:xfrm>
              <a:off x="0" y="576"/>
              <a:ext cx="576" cy="288"/>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PP</a:t>
              </a:r>
            </a:p>
          </p:txBody>
        </p:sp>
        <p:sp>
          <p:nvSpPr>
            <p:cNvPr id="53264" name="Rectangle 17"/>
            <p:cNvSpPr/>
            <p:nvPr/>
          </p:nvSpPr>
          <p:spPr>
            <a:xfrm>
              <a:off x="820" y="237"/>
              <a:ext cx="611" cy="259"/>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产品</a:t>
              </a:r>
              <a:r>
                <a:rPr lang="en-US" altLang="zh-CN" sz="1350" dirty="0">
                  <a:latin typeface="Microsoft YaHei" panose="020B0503020204020204" pitchFamily="34" charset="-122"/>
                  <a:ea typeface="Microsoft YaHei" panose="020B0503020204020204" pitchFamily="34" charset="-122"/>
                </a:rPr>
                <a:t>P</a:t>
              </a:r>
            </a:p>
          </p:txBody>
        </p:sp>
        <p:sp>
          <p:nvSpPr>
            <p:cNvPr id="53265" name="Line 18"/>
            <p:cNvSpPr/>
            <p:nvPr/>
          </p:nvSpPr>
          <p:spPr>
            <a:xfrm flipH="1">
              <a:off x="576" y="355"/>
              <a:ext cx="244" cy="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3266" name="Line 19"/>
            <p:cNvSpPr/>
            <p:nvPr/>
          </p:nvSpPr>
          <p:spPr>
            <a:xfrm flipH="1">
              <a:off x="529" y="360"/>
              <a:ext cx="286" cy="283"/>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3267" name="Oval 20"/>
            <p:cNvSpPr/>
            <p:nvPr/>
          </p:nvSpPr>
          <p:spPr>
            <a:xfrm>
              <a:off x="3634" y="384"/>
              <a:ext cx="576" cy="240"/>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SP</a:t>
              </a:r>
            </a:p>
          </p:txBody>
        </p:sp>
        <p:sp>
          <p:nvSpPr>
            <p:cNvPr id="53268" name="Oval 21"/>
            <p:cNvSpPr/>
            <p:nvPr/>
          </p:nvSpPr>
          <p:spPr>
            <a:xfrm>
              <a:off x="3648" y="0"/>
              <a:ext cx="576" cy="240"/>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S#</a:t>
              </a:r>
            </a:p>
          </p:txBody>
        </p:sp>
        <p:sp>
          <p:nvSpPr>
            <p:cNvPr id="53269" name="Rectangle 22"/>
            <p:cNvSpPr/>
            <p:nvPr/>
          </p:nvSpPr>
          <p:spPr>
            <a:xfrm>
              <a:off x="2832" y="240"/>
              <a:ext cx="659" cy="249"/>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零件</a:t>
              </a:r>
              <a:r>
                <a:rPr lang="en-US" altLang="zh-CN" sz="1350" dirty="0">
                  <a:latin typeface="Microsoft YaHei" panose="020B0503020204020204" pitchFamily="34" charset="-122"/>
                  <a:ea typeface="Microsoft YaHei" panose="020B0503020204020204" pitchFamily="34" charset="-122"/>
                </a:rPr>
                <a:t>S</a:t>
              </a:r>
            </a:p>
          </p:txBody>
        </p:sp>
        <p:sp>
          <p:nvSpPr>
            <p:cNvPr id="53270" name="Line 23"/>
            <p:cNvSpPr/>
            <p:nvPr/>
          </p:nvSpPr>
          <p:spPr>
            <a:xfrm flipV="1">
              <a:off x="3504" y="144"/>
              <a:ext cx="144" cy="192"/>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3271" name="Line 24"/>
            <p:cNvSpPr/>
            <p:nvPr/>
          </p:nvSpPr>
          <p:spPr>
            <a:xfrm>
              <a:off x="3504" y="336"/>
              <a:ext cx="144" cy="131"/>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nvGrpSpPr>
            <p:cNvPr id="53272" name="Group 25"/>
            <p:cNvGrpSpPr/>
            <p:nvPr/>
          </p:nvGrpSpPr>
          <p:grpSpPr>
            <a:xfrm>
              <a:off x="1789" y="1872"/>
              <a:ext cx="614" cy="496"/>
              <a:chOff x="-104" y="0"/>
              <a:chExt cx="768" cy="595"/>
            </a:xfrm>
          </p:grpSpPr>
          <p:sp>
            <p:nvSpPr>
              <p:cNvPr id="53273" name="Oval 26"/>
              <p:cNvSpPr/>
              <p:nvPr/>
            </p:nvSpPr>
            <p:spPr>
              <a:xfrm>
                <a:off x="-104" y="211"/>
                <a:ext cx="768" cy="384"/>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Q3</a:t>
                </a:r>
              </a:p>
            </p:txBody>
          </p:sp>
          <p:sp>
            <p:nvSpPr>
              <p:cNvPr id="53274" name="Line 27"/>
              <p:cNvSpPr/>
              <p:nvPr/>
            </p:nvSpPr>
            <p:spPr>
              <a:xfrm>
                <a:off x="297" y="0"/>
                <a:ext cx="0" cy="211"/>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53275" name="AutoShape 28"/>
            <p:cNvSpPr/>
            <p:nvPr/>
          </p:nvSpPr>
          <p:spPr>
            <a:xfrm>
              <a:off x="1680" y="1584"/>
              <a:ext cx="832" cy="288"/>
            </a:xfrm>
            <a:prstGeom prst="flowChartDecision">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存放</a:t>
              </a:r>
            </a:p>
          </p:txBody>
        </p:sp>
        <p:sp>
          <p:nvSpPr>
            <p:cNvPr id="53276" name="Line 29"/>
            <p:cNvSpPr/>
            <p:nvPr/>
          </p:nvSpPr>
          <p:spPr>
            <a:xfrm>
              <a:off x="1488" y="1728"/>
              <a:ext cx="208" cy="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3277" name="Text Box 30"/>
            <p:cNvSpPr txBox="1"/>
            <p:nvPr/>
          </p:nvSpPr>
          <p:spPr>
            <a:xfrm>
              <a:off x="2496" y="1488"/>
              <a:ext cx="316" cy="252"/>
            </a:xfrm>
            <a:prstGeom prst="rect">
              <a:avLst/>
            </a:prstGeom>
            <a:no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m</a:t>
              </a:r>
            </a:p>
          </p:txBody>
        </p:sp>
        <p:sp>
          <p:nvSpPr>
            <p:cNvPr id="53278" name="Text Box 31"/>
            <p:cNvSpPr txBox="1"/>
            <p:nvPr/>
          </p:nvSpPr>
          <p:spPr>
            <a:xfrm>
              <a:off x="1536" y="1488"/>
              <a:ext cx="316" cy="252"/>
            </a:xfrm>
            <a:prstGeom prst="rect">
              <a:avLst/>
            </a:prstGeom>
            <a:no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n</a:t>
              </a:r>
            </a:p>
          </p:txBody>
        </p:sp>
        <p:grpSp>
          <p:nvGrpSpPr>
            <p:cNvPr id="53279" name="Group 32"/>
            <p:cNvGrpSpPr/>
            <p:nvPr/>
          </p:nvGrpSpPr>
          <p:grpSpPr>
            <a:xfrm>
              <a:off x="2744" y="1392"/>
              <a:ext cx="1336" cy="755"/>
              <a:chOff x="-40" y="0"/>
              <a:chExt cx="1336" cy="755"/>
            </a:xfrm>
          </p:grpSpPr>
          <p:sp>
            <p:nvSpPr>
              <p:cNvPr id="53280" name="Rectangle 33"/>
              <p:cNvSpPr/>
              <p:nvPr/>
            </p:nvSpPr>
            <p:spPr>
              <a:xfrm>
                <a:off x="-40" y="221"/>
                <a:ext cx="538" cy="240"/>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材料</a:t>
                </a:r>
                <a:r>
                  <a:rPr lang="en-US" altLang="zh-CN" sz="1350" dirty="0">
                    <a:latin typeface="Microsoft YaHei" panose="020B0503020204020204" pitchFamily="34" charset="-122"/>
                    <a:ea typeface="Microsoft YaHei" panose="020B0503020204020204" pitchFamily="34" charset="-122"/>
                  </a:rPr>
                  <a:t>M</a:t>
                </a:r>
              </a:p>
            </p:txBody>
          </p:sp>
          <p:sp>
            <p:nvSpPr>
              <p:cNvPr id="53281" name="Oval 34"/>
              <p:cNvSpPr/>
              <p:nvPr/>
            </p:nvSpPr>
            <p:spPr>
              <a:xfrm>
                <a:off x="720" y="0"/>
                <a:ext cx="576" cy="275"/>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M#</a:t>
                </a:r>
              </a:p>
            </p:txBody>
          </p:sp>
          <p:sp>
            <p:nvSpPr>
              <p:cNvPr id="53282" name="Oval 35"/>
              <p:cNvSpPr/>
              <p:nvPr/>
            </p:nvSpPr>
            <p:spPr>
              <a:xfrm>
                <a:off x="672" y="480"/>
                <a:ext cx="576" cy="275"/>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MC</a:t>
                </a:r>
              </a:p>
            </p:txBody>
          </p:sp>
          <p:sp>
            <p:nvSpPr>
              <p:cNvPr id="53283" name="Line 36"/>
              <p:cNvSpPr/>
              <p:nvPr/>
            </p:nvSpPr>
            <p:spPr>
              <a:xfrm flipV="1">
                <a:off x="498" y="169"/>
                <a:ext cx="232" cy="171"/>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3284" name="Line 37"/>
              <p:cNvSpPr/>
              <p:nvPr/>
            </p:nvSpPr>
            <p:spPr>
              <a:xfrm>
                <a:off x="498" y="379"/>
                <a:ext cx="222" cy="176"/>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53285" name="Rectangle 38"/>
            <p:cNvSpPr/>
            <p:nvPr/>
          </p:nvSpPr>
          <p:spPr>
            <a:xfrm>
              <a:off x="912" y="1680"/>
              <a:ext cx="576" cy="240"/>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仓库</a:t>
              </a:r>
              <a:r>
                <a:rPr lang="en-US" altLang="zh-CN" sz="1350" dirty="0">
                  <a:latin typeface="Microsoft YaHei" panose="020B0503020204020204" pitchFamily="34" charset="-122"/>
                  <a:ea typeface="Microsoft YaHei" panose="020B0503020204020204" pitchFamily="34" charset="-122"/>
                </a:rPr>
                <a:t>L</a:t>
              </a:r>
            </a:p>
          </p:txBody>
        </p:sp>
        <p:sp>
          <p:nvSpPr>
            <p:cNvPr id="53286" name="Oval 39"/>
            <p:cNvSpPr/>
            <p:nvPr/>
          </p:nvSpPr>
          <p:spPr>
            <a:xfrm>
              <a:off x="192" y="1488"/>
              <a:ext cx="576" cy="240"/>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L#</a:t>
              </a:r>
            </a:p>
          </p:txBody>
        </p:sp>
        <p:sp>
          <p:nvSpPr>
            <p:cNvPr id="53287" name="Oval 40"/>
            <p:cNvSpPr/>
            <p:nvPr/>
          </p:nvSpPr>
          <p:spPr>
            <a:xfrm>
              <a:off x="194" y="1877"/>
              <a:ext cx="576" cy="240"/>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LOC</a:t>
              </a:r>
            </a:p>
          </p:txBody>
        </p:sp>
        <p:sp>
          <p:nvSpPr>
            <p:cNvPr id="53288" name="Line 41"/>
            <p:cNvSpPr/>
            <p:nvPr/>
          </p:nvSpPr>
          <p:spPr>
            <a:xfrm flipH="1">
              <a:off x="765" y="1824"/>
              <a:ext cx="147" cy="12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3289" name="Line 42"/>
            <p:cNvSpPr/>
            <p:nvPr/>
          </p:nvSpPr>
          <p:spPr>
            <a:xfrm>
              <a:off x="765" y="1639"/>
              <a:ext cx="147" cy="89"/>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3290" name="Oval 43"/>
            <p:cNvSpPr/>
            <p:nvPr/>
          </p:nvSpPr>
          <p:spPr>
            <a:xfrm>
              <a:off x="48" y="960"/>
              <a:ext cx="576" cy="275"/>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PC</a:t>
              </a:r>
            </a:p>
          </p:txBody>
        </p:sp>
        <p:sp>
          <p:nvSpPr>
            <p:cNvPr id="53291" name="Oval 44"/>
            <p:cNvSpPr/>
            <p:nvPr/>
          </p:nvSpPr>
          <p:spPr>
            <a:xfrm>
              <a:off x="3620" y="968"/>
              <a:ext cx="480" cy="336"/>
            </a:xfrm>
            <a:prstGeom prst="ellipse">
              <a:avLst/>
            </a:prstGeom>
            <a:solidFill>
              <a:srgbClr val="00FFFF"/>
            </a:solidFill>
            <a:ln w="9525" cap="flat" cmpd="sng">
              <a:solidFill>
                <a:schemeClr val="tx1"/>
              </a:solidFill>
              <a:prstDash val="solid"/>
              <a:round/>
              <a:headEnd type="none" w="med" len="med"/>
              <a:tailEnd type="none" w="med" len="med"/>
            </a:ln>
          </p:spPr>
          <p:txBody>
            <a:bodyPr wrap="none" anchor="ctr" anchorCtr="0"/>
            <a:lstStyle/>
            <a:p>
              <a:pPr algn="ctr"/>
              <a:r>
                <a:rPr lang="en-US" altLang="zh-CN" sz="1350" dirty="0">
                  <a:latin typeface="Microsoft YaHei" panose="020B0503020204020204" pitchFamily="34" charset="-122"/>
                  <a:ea typeface="Microsoft YaHei" panose="020B0503020204020204" pitchFamily="34" charset="-122"/>
                </a:rPr>
                <a:t>Q2</a:t>
              </a:r>
            </a:p>
          </p:txBody>
        </p:sp>
        <p:sp>
          <p:nvSpPr>
            <p:cNvPr id="53292" name="AutoShape 45"/>
            <p:cNvSpPr/>
            <p:nvPr/>
          </p:nvSpPr>
          <p:spPr>
            <a:xfrm>
              <a:off x="2592" y="960"/>
              <a:ext cx="816" cy="318"/>
            </a:xfrm>
            <a:prstGeom prst="flowChartDecision">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消耗</a:t>
              </a:r>
            </a:p>
          </p:txBody>
        </p:sp>
        <p:sp>
          <p:nvSpPr>
            <p:cNvPr id="53293" name="Line 46"/>
            <p:cNvSpPr/>
            <p:nvPr/>
          </p:nvSpPr>
          <p:spPr>
            <a:xfrm>
              <a:off x="3003" y="1275"/>
              <a:ext cx="0" cy="336"/>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3294" name="Line 47"/>
            <p:cNvSpPr/>
            <p:nvPr/>
          </p:nvSpPr>
          <p:spPr>
            <a:xfrm>
              <a:off x="3004" y="489"/>
              <a:ext cx="0" cy="48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3295" name="Text Box 48"/>
            <p:cNvSpPr txBox="1"/>
            <p:nvPr/>
          </p:nvSpPr>
          <p:spPr>
            <a:xfrm>
              <a:off x="2976" y="528"/>
              <a:ext cx="240" cy="252"/>
            </a:xfrm>
            <a:prstGeom prst="rect">
              <a:avLst/>
            </a:prstGeom>
            <a:no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n</a:t>
              </a:r>
            </a:p>
          </p:txBody>
        </p:sp>
        <p:sp>
          <p:nvSpPr>
            <p:cNvPr id="53296" name="Text Box 49"/>
            <p:cNvSpPr txBox="1"/>
            <p:nvPr/>
          </p:nvSpPr>
          <p:spPr>
            <a:xfrm>
              <a:off x="3024" y="1296"/>
              <a:ext cx="240" cy="252"/>
            </a:xfrm>
            <a:prstGeom prst="rect">
              <a:avLst/>
            </a:prstGeom>
            <a:no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1</a:t>
              </a:r>
            </a:p>
          </p:txBody>
        </p:sp>
        <p:sp>
          <p:nvSpPr>
            <p:cNvPr id="53297" name="Line 50"/>
            <p:cNvSpPr/>
            <p:nvPr/>
          </p:nvSpPr>
          <p:spPr>
            <a:xfrm>
              <a:off x="2496" y="1726"/>
              <a:ext cx="248" cy="2"/>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3298" name="Line 51"/>
            <p:cNvSpPr/>
            <p:nvPr/>
          </p:nvSpPr>
          <p:spPr>
            <a:xfrm flipV="1">
              <a:off x="576" y="384"/>
              <a:ext cx="239" cy="627"/>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3299" name="Line 52"/>
            <p:cNvSpPr/>
            <p:nvPr/>
          </p:nvSpPr>
          <p:spPr>
            <a:xfrm>
              <a:off x="3413" y="1121"/>
              <a:ext cx="210" cy="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53300" name="AutoShape 53"/>
          <p:cNvSpPr/>
          <p:nvPr/>
        </p:nvSpPr>
        <p:spPr>
          <a:xfrm>
            <a:off x="7637759" y="728066"/>
            <a:ext cx="1314450" cy="571500"/>
          </a:xfrm>
          <a:prstGeom prst="cloudCallout">
            <a:avLst>
              <a:gd name="adj1" fmla="val -75634"/>
              <a:gd name="adj2" fmla="val 36042"/>
            </a:avLst>
          </a:prstGeom>
          <a:solidFill>
            <a:srgbClr val="FFCCFF"/>
          </a:solidFill>
          <a:ln w="9525" cap="flat" cmpd="sng">
            <a:solidFill>
              <a:schemeClr val="tx1"/>
            </a:solidFill>
            <a:prstDash val="solid"/>
            <a:round/>
            <a:headEnd type="none" w="med" len="med"/>
            <a:tailEnd type="none" w="med" len="med"/>
          </a:ln>
        </p:spPr>
        <p:txBody>
          <a:bodyPr anchor="t" anchorCtr="0"/>
          <a:lstStyle/>
          <a:p>
            <a:r>
              <a:rPr lang="zh-CN" altLang="en-US" sz="1350" dirty="0">
                <a:latin typeface="Microsoft YaHei" panose="020B0503020204020204" pitchFamily="34" charset="-122"/>
                <a:ea typeface="Microsoft YaHei" panose="020B0503020204020204" pitchFamily="34" charset="-122"/>
              </a:rPr>
              <a:t>？合并</a:t>
            </a:r>
          </a:p>
        </p:txBody>
      </p:sp>
      <p:sp>
        <p:nvSpPr>
          <p:cNvPr id="3" name="标题 2">
            <a:extLst>
              <a:ext uri="{FF2B5EF4-FFF2-40B4-BE49-F238E27FC236}">
                <a16:creationId xmlns:a16="http://schemas.microsoft.com/office/drawing/2014/main" id="{3D449A10-13B0-F12F-417E-D16AC81D30D5}"/>
              </a:ext>
            </a:extLst>
          </p:cNvPr>
          <p:cNvSpPr>
            <a:spLocks noGrp="1"/>
          </p:cNvSpPr>
          <p:nvPr>
            <p:ph type="title"/>
          </p:nvPr>
        </p:nvSpPr>
        <p:spPr/>
        <p:txBody>
          <a:bodyPr/>
          <a:lstStyle/>
          <a:p>
            <a:r>
              <a:rPr lang="zh-CN" altLang="en-US" dirty="0"/>
              <a:t>逻辑结构设计</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3"/>
          <p:cNvSpPr txBox="1"/>
          <p:nvPr/>
        </p:nvSpPr>
        <p:spPr>
          <a:xfrm>
            <a:off x="2487998" y="3759817"/>
            <a:ext cx="5314950" cy="669414"/>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职工（</a:t>
            </a:r>
            <a:r>
              <a:rPr lang="zh-CN" altLang="en-US" sz="1500" u="sng" dirty="0">
                <a:solidFill>
                  <a:schemeClr val="hlink"/>
                </a:solidFill>
                <a:latin typeface="Microsoft YaHei" panose="020B0503020204020204" pitchFamily="34" charset="-122"/>
                <a:ea typeface="Microsoft YaHei" panose="020B0503020204020204" pitchFamily="34" charset="-122"/>
              </a:rPr>
              <a:t>工号</a:t>
            </a:r>
            <a:r>
              <a:rPr lang="zh-CN" altLang="en-US" sz="1500" dirty="0">
                <a:latin typeface="Microsoft YaHei" panose="020B0503020204020204" pitchFamily="34" charset="-122"/>
                <a:ea typeface="Microsoft YaHei" panose="020B0503020204020204" pitchFamily="34" charset="-122"/>
              </a:rPr>
              <a:t>，姓名，年龄，性别，职务）</a:t>
            </a:r>
          </a:p>
          <a:p>
            <a:pPr>
              <a:spcBef>
                <a:spcPct val="50000"/>
              </a:spcBef>
            </a:pPr>
            <a:r>
              <a:rPr lang="zh-CN" altLang="en-US" sz="1500" dirty="0">
                <a:latin typeface="Microsoft YaHei" panose="020B0503020204020204" pitchFamily="34" charset="-122"/>
                <a:ea typeface="Microsoft YaHei" panose="020B0503020204020204" pitchFamily="34" charset="-122"/>
              </a:rPr>
              <a:t>亲属（</a:t>
            </a:r>
            <a:r>
              <a:rPr lang="zh-CN" altLang="en-US" sz="1500" u="sng" dirty="0">
                <a:solidFill>
                  <a:schemeClr val="hlink"/>
                </a:solidFill>
                <a:latin typeface="Microsoft YaHei" panose="020B0503020204020204" pitchFamily="34" charset="-122"/>
                <a:ea typeface="Microsoft YaHei" panose="020B0503020204020204" pitchFamily="34" charset="-122"/>
              </a:rPr>
              <a:t>工号，亲属姓名</a:t>
            </a:r>
            <a:r>
              <a:rPr lang="zh-CN" altLang="en-US" sz="1500" dirty="0">
                <a:latin typeface="Microsoft YaHei" panose="020B0503020204020204" pitchFamily="34" charset="-122"/>
                <a:ea typeface="Microsoft YaHei" panose="020B0503020204020204" pitchFamily="34" charset="-122"/>
              </a:rPr>
              <a:t>，亲属关系）</a:t>
            </a:r>
          </a:p>
        </p:txBody>
      </p:sp>
      <p:sp>
        <p:nvSpPr>
          <p:cNvPr id="54298" name="Rectangle 27"/>
          <p:cNvSpPr/>
          <p:nvPr/>
        </p:nvSpPr>
        <p:spPr>
          <a:xfrm>
            <a:off x="1056510" y="1665890"/>
            <a:ext cx="1187054" cy="685800"/>
          </a:xfrm>
          <a:prstGeom prst="rect">
            <a:avLst/>
          </a:prstGeom>
          <a:noFill/>
          <a:ln w="9525">
            <a:noFill/>
          </a:ln>
        </p:spPr>
        <p:txBody>
          <a:bodyPr anchor="b" anchorCtr="0"/>
          <a:lstStyle/>
          <a:p>
            <a:r>
              <a:rPr lang="zh-CN" altLang="en-US" sz="2100" dirty="0">
                <a:solidFill>
                  <a:schemeClr val="tx2"/>
                </a:solidFill>
                <a:latin typeface="Microsoft YaHei" panose="020B0503020204020204" pitchFamily="34" charset="-122"/>
                <a:ea typeface="Microsoft YaHei" panose="020B0503020204020204" pitchFamily="34" charset="-122"/>
              </a:rPr>
              <a:t> 弱实体</a:t>
            </a:r>
          </a:p>
          <a:p>
            <a:r>
              <a:rPr lang="zh-CN" altLang="en-US" sz="2100" dirty="0">
                <a:solidFill>
                  <a:schemeClr val="tx2"/>
                </a:solidFill>
                <a:latin typeface="Microsoft YaHei" panose="020B0503020204020204" pitchFamily="34" charset="-122"/>
                <a:ea typeface="Microsoft YaHei" panose="020B0503020204020204" pitchFamily="34" charset="-122"/>
              </a:rPr>
              <a:t> 的转换</a:t>
            </a:r>
          </a:p>
        </p:txBody>
      </p:sp>
      <p:sp>
        <p:nvSpPr>
          <p:cNvPr id="4" name="标题 3">
            <a:extLst>
              <a:ext uri="{FF2B5EF4-FFF2-40B4-BE49-F238E27FC236}">
                <a16:creationId xmlns:a16="http://schemas.microsoft.com/office/drawing/2014/main" id="{EDE87B5E-1FBC-6E8D-6DE9-560844367CFE}"/>
              </a:ext>
            </a:extLst>
          </p:cNvPr>
          <p:cNvSpPr>
            <a:spLocks noGrp="1"/>
          </p:cNvSpPr>
          <p:nvPr>
            <p:ph type="title"/>
          </p:nvPr>
        </p:nvSpPr>
        <p:spPr/>
        <p:txBody>
          <a:bodyPr/>
          <a:lstStyle/>
          <a:p>
            <a:r>
              <a:rPr lang="zh-CN" altLang="en-US" dirty="0"/>
              <a:t>逻辑结构设计</a:t>
            </a:r>
          </a:p>
        </p:txBody>
      </p:sp>
      <p:grpSp>
        <p:nvGrpSpPr>
          <p:cNvPr id="5" name="组合 4">
            <a:extLst>
              <a:ext uri="{FF2B5EF4-FFF2-40B4-BE49-F238E27FC236}">
                <a16:creationId xmlns:a16="http://schemas.microsoft.com/office/drawing/2014/main" id="{ED19F523-81A5-EF0B-57B1-213BA751C3C6}"/>
              </a:ext>
            </a:extLst>
          </p:cNvPr>
          <p:cNvGrpSpPr/>
          <p:nvPr/>
        </p:nvGrpSpPr>
        <p:grpSpPr>
          <a:xfrm>
            <a:off x="2979908" y="1691806"/>
            <a:ext cx="5834332" cy="1460437"/>
            <a:chOff x="1383582" y="2736717"/>
            <a:chExt cx="5834332" cy="1460437"/>
          </a:xfrm>
        </p:grpSpPr>
        <p:sp>
          <p:nvSpPr>
            <p:cNvPr id="6" name="AutoShape 5">
              <a:extLst>
                <a:ext uri="{FF2B5EF4-FFF2-40B4-BE49-F238E27FC236}">
                  <a16:creationId xmlns:a16="http://schemas.microsoft.com/office/drawing/2014/main" id="{B3BE095D-99FF-3E21-7D71-AB5605ECB31E}"/>
                </a:ext>
              </a:extLst>
            </p:cNvPr>
            <p:cNvSpPr/>
            <p:nvPr/>
          </p:nvSpPr>
          <p:spPr>
            <a:xfrm>
              <a:off x="4300923" y="3556598"/>
              <a:ext cx="1026319" cy="640556"/>
            </a:xfrm>
            <a:prstGeom prst="diamond">
              <a:avLst/>
            </a:prstGeom>
            <a:noFill/>
            <a:ln w="9525" cap="flat" cmpd="sng">
              <a:solidFill>
                <a:schemeClr val="tx1"/>
              </a:solidFill>
              <a:prstDash val="solid"/>
              <a:miter/>
              <a:headEnd type="none" w="med" len="med"/>
              <a:tailEnd type="none" w="med" len="med"/>
            </a:ln>
          </p:spPr>
          <p:txBody>
            <a:bodyPr wrap="none" anchor="ctr" anchorCtr="0"/>
            <a:lstStyle/>
            <a:p>
              <a:pPr algn="ctr"/>
              <a:endParaRPr lang="zh-CN" altLang="en-US" sz="1350" dirty="0">
                <a:latin typeface="Microsoft YaHei" panose="020B0503020204020204" pitchFamily="34" charset="-122"/>
                <a:ea typeface="Microsoft YaHei" panose="020B0503020204020204" pitchFamily="34" charset="-122"/>
              </a:endParaRPr>
            </a:p>
          </p:txBody>
        </p:sp>
        <p:sp>
          <p:nvSpPr>
            <p:cNvPr id="7" name="Rectangle 6">
              <a:extLst>
                <a:ext uri="{FF2B5EF4-FFF2-40B4-BE49-F238E27FC236}">
                  <a16:creationId xmlns:a16="http://schemas.microsoft.com/office/drawing/2014/main" id="{7C69751A-9002-9E28-7C2E-48280D0F06B6}"/>
                </a:ext>
              </a:extLst>
            </p:cNvPr>
            <p:cNvSpPr/>
            <p:nvPr/>
          </p:nvSpPr>
          <p:spPr>
            <a:xfrm>
              <a:off x="6307026" y="3674905"/>
              <a:ext cx="594122" cy="413147"/>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a:endParaRPr lang="zh-CN" altLang="en-US" sz="1350" dirty="0">
                <a:latin typeface="Microsoft YaHei" panose="020B0503020204020204" pitchFamily="34" charset="-122"/>
                <a:ea typeface="Microsoft YaHei" panose="020B0503020204020204" pitchFamily="34" charset="-122"/>
              </a:endParaRPr>
            </a:p>
          </p:txBody>
        </p:sp>
        <p:sp>
          <p:nvSpPr>
            <p:cNvPr id="8" name="Rectangle 8">
              <a:extLst>
                <a:ext uri="{FF2B5EF4-FFF2-40B4-BE49-F238E27FC236}">
                  <a16:creationId xmlns:a16="http://schemas.microsoft.com/office/drawing/2014/main" id="{3FF07226-2D37-5D49-B19E-0AE3A55391DC}"/>
                </a:ext>
              </a:extLst>
            </p:cNvPr>
            <p:cNvSpPr/>
            <p:nvPr/>
          </p:nvSpPr>
          <p:spPr>
            <a:xfrm>
              <a:off x="2539745" y="3715355"/>
              <a:ext cx="743265" cy="334253"/>
            </a:xfrm>
            <a:prstGeom prst="rect">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职工</a:t>
              </a:r>
            </a:p>
          </p:txBody>
        </p:sp>
        <p:sp>
          <p:nvSpPr>
            <p:cNvPr id="9" name="AutoShape 9">
              <a:extLst>
                <a:ext uri="{FF2B5EF4-FFF2-40B4-BE49-F238E27FC236}">
                  <a16:creationId xmlns:a16="http://schemas.microsoft.com/office/drawing/2014/main" id="{454CAC5E-2E59-2489-B0BE-601C550DC479}"/>
                </a:ext>
              </a:extLst>
            </p:cNvPr>
            <p:cNvSpPr/>
            <p:nvPr/>
          </p:nvSpPr>
          <p:spPr>
            <a:xfrm>
              <a:off x="1383582" y="2759859"/>
              <a:ext cx="487940"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工号</a:t>
              </a:r>
            </a:p>
          </p:txBody>
        </p:sp>
        <p:sp>
          <p:nvSpPr>
            <p:cNvPr id="10" name="AutoShape 10">
              <a:extLst>
                <a:ext uri="{FF2B5EF4-FFF2-40B4-BE49-F238E27FC236}">
                  <a16:creationId xmlns:a16="http://schemas.microsoft.com/office/drawing/2014/main" id="{3B6AF4B2-0BEC-B194-8445-848FE4F7FB30}"/>
                </a:ext>
              </a:extLst>
            </p:cNvPr>
            <p:cNvSpPr/>
            <p:nvPr/>
          </p:nvSpPr>
          <p:spPr>
            <a:xfrm>
              <a:off x="1951354" y="2756039"/>
              <a:ext cx="487940"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姓名</a:t>
              </a:r>
            </a:p>
          </p:txBody>
        </p:sp>
        <p:sp>
          <p:nvSpPr>
            <p:cNvPr id="11" name="AutoShape 11">
              <a:extLst>
                <a:ext uri="{FF2B5EF4-FFF2-40B4-BE49-F238E27FC236}">
                  <a16:creationId xmlns:a16="http://schemas.microsoft.com/office/drawing/2014/main" id="{9D90A40D-AC3A-A298-CC34-46009C0F8754}"/>
                </a:ext>
              </a:extLst>
            </p:cNvPr>
            <p:cNvSpPr/>
            <p:nvPr/>
          </p:nvSpPr>
          <p:spPr>
            <a:xfrm>
              <a:off x="2529450" y="2765073"/>
              <a:ext cx="487940"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年龄</a:t>
              </a:r>
            </a:p>
          </p:txBody>
        </p:sp>
        <p:sp>
          <p:nvSpPr>
            <p:cNvPr id="12" name="AutoShape 12">
              <a:extLst>
                <a:ext uri="{FF2B5EF4-FFF2-40B4-BE49-F238E27FC236}">
                  <a16:creationId xmlns:a16="http://schemas.microsoft.com/office/drawing/2014/main" id="{7A38455F-64BB-BC4E-EE88-C90862F4ED81}"/>
                </a:ext>
              </a:extLst>
            </p:cNvPr>
            <p:cNvSpPr/>
            <p:nvPr/>
          </p:nvSpPr>
          <p:spPr>
            <a:xfrm>
              <a:off x="3097222" y="2756039"/>
              <a:ext cx="487940"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性别</a:t>
              </a:r>
            </a:p>
          </p:txBody>
        </p:sp>
        <p:sp>
          <p:nvSpPr>
            <p:cNvPr id="13" name="AutoShape 13">
              <a:extLst>
                <a:ext uri="{FF2B5EF4-FFF2-40B4-BE49-F238E27FC236}">
                  <a16:creationId xmlns:a16="http://schemas.microsoft.com/office/drawing/2014/main" id="{78C241B0-BD0B-ABD3-557C-E34116BC1994}"/>
                </a:ext>
              </a:extLst>
            </p:cNvPr>
            <p:cNvSpPr/>
            <p:nvPr/>
          </p:nvSpPr>
          <p:spPr>
            <a:xfrm>
              <a:off x="3662929" y="2756039"/>
              <a:ext cx="487940"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职称</a:t>
              </a:r>
            </a:p>
          </p:txBody>
        </p:sp>
        <p:sp>
          <p:nvSpPr>
            <p:cNvPr id="14" name="Line 14">
              <a:extLst>
                <a:ext uri="{FF2B5EF4-FFF2-40B4-BE49-F238E27FC236}">
                  <a16:creationId xmlns:a16="http://schemas.microsoft.com/office/drawing/2014/main" id="{ED19F580-2988-7EE8-9124-289E410F9725}"/>
                </a:ext>
              </a:extLst>
            </p:cNvPr>
            <p:cNvSpPr/>
            <p:nvPr/>
          </p:nvSpPr>
          <p:spPr>
            <a:xfrm>
              <a:off x="2219756" y="3242864"/>
              <a:ext cx="619388" cy="469761"/>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15" name="Line 15">
              <a:extLst>
                <a:ext uri="{FF2B5EF4-FFF2-40B4-BE49-F238E27FC236}">
                  <a16:creationId xmlns:a16="http://schemas.microsoft.com/office/drawing/2014/main" id="{775DCDE2-F0D6-10CB-E273-18D5D4C0F041}"/>
                </a:ext>
              </a:extLst>
            </p:cNvPr>
            <p:cNvSpPr/>
            <p:nvPr/>
          </p:nvSpPr>
          <p:spPr>
            <a:xfrm>
              <a:off x="2880436" y="3245875"/>
              <a:ext cx="0" cy="469761"/>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16" name="Line 16">
              <a:extLst>
                <a:ext uri="{FF2B5EF4-FFF2-40B4-BE49-F238E27FC236}">
                  <a16:creationId xmlns:a16="http://schemas.microsoft.com/office/drawing/2014/main" id="{7A9EBBA2-9EF1-5140-A09D-894C820779EB}"/>
                </a:ext>
              </a:extLst>
            </p:cNvPr>
            <p:cNvSpPr/>
            <p:nvPr/>
          </p:nvSpPr>
          <p:spPr>
            <a:xfrm flipH="1">
              <a:off x="3017389" y="3233840"/>
              <a:ext cx="319989" cy="478785"/>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17" name="Line 17">
              <a:extLst>
                <a:ext uri="{FF2B5EF4-FFF2-40B4-BE49-F238E27FC236}">
                  <a16:creationId xmlns:a16="http://schemas.microsoft.com/office/drawing/2014/main" id="{0E6B5366-D5A0-980F-AF50-F1EFAC3256CF}"/>
                </a:ext>
              </a:extLst>
            </p:cNvPr>
            <p:cNvSpPr/>
            <p:nvPr/>
          </p:nvSpPr>
          <p:spPr>
            <a:xfrm>
              <a:off x="1830423" y="3246683"/>
              <a:ext cx="781612" cy="468953"/>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18" name="Line 18">
              <a:extLst>
                <a:ext uri="{FF2B5EF4-FFF2-40B4-BE49-F238E27FC236}">
                  <a16:creationId xmlns:a16="http://schemas.microsoft.com/office/drawing/2014/main" id="{B8C4B881-D8B7-DDD2-A207-E226FABFE746}"/>
                </a:ext>
              </a:extLst>
            </p:cNvPr>
            <p:cNvSpPr/>
            <p:nvPr/>
          </p:nvSpPr>
          <p:spPr>
            <a:xfrm flipH="1">
              <a:off x="3231421" y="3233839"/>
              <a:ext cx="704697" cy="481798"/>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19" name="Rectangle 19">
              <a:extLst>
                <a:ext uri="{FF2B5EF4-FFF2-40B4-BE49-F238E27FC236}">
                  <a16:creationId xmlns:a16="http://schemas.microsoft.com/office/drawing/2014/main" id="{78C724E0-35FF-DDD6-3D24-5D91BC8A9DF7}"/>
                </a:ext>
              </a:extLst>
            </p:cNvPr>
            <p:cNvSpPr/>
            <p:nvPr/>
          </p:nvSpPr>
          <p:spPr>
            <a:xfrm>
              <a:off x="6348596" y="3730853"/>
              <a:ext cx="526480" cy="332245"/>
            </a:xfrm>
            <a:prstGeom prst="rect">
              <a:avLst/>
            </a:prstGeom>
            <a:noFill/>
            <a:ln w="19050" cap="flat" cmpd="dbl">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亲属</a:t>
              </a:r>
            </a:p>
          </p:txBody>
        </p:sp>
        <p:sp>
          <p:nvSpPr>
            <p:cNvPr id="20" name="AutoShape 20">
              <a:extLst>
                <a:ext uri="{FF2B5EF4-FFF2-40B4-BE49-F238E27FC236}">
                  <a16:creationId xmlns:a16="http://schemas.microsoft.com/office/drawing/2014/main" id="{41E3A1EF-B1EE-AAF9-5E08-99BE3C5F8C86}"/>
                </a:ext>
              </a:extLst>
            </p:cNvPr>
            <p:cNvSpPr/>
            <p:nvPr/>
          </p:nvSpPr>
          <p:spPr>
            <a:xfrm>
              <a:off x="6495983" y="2736717"/>
              <a:ext cx="721931"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亲属关系</a:t>
              </a:r>
            </a:p>
          </p:txBody>
        </p:sp>
        <p:sp>
          <p:nvSpPr>
            <p:cNvPr id="21" name="AutoShape 21">
              <a:extLst>
                <a:ext uri="{FF2B5EF4-FFF2-40B4-BE49-F238E27FC236}">
                  <a16:creationId xmlns:a16="http://schemas.microsoft.com/office/drawing/2014/main" id="{F2C862EF-6F05-30D7-29B8-72405D4A6342}"/>
                </a:ext>
              </a:extLst>
            </p:cNvPr>
            <p:cNvSpPr/>
            <p:nvPr/>
          </p:nvSpPr>
          <p:spPr>
            <a:xfrm>
              <a:off x="5680456" y="2736717"/>
              <a:ext cx="721931" cy="469761"/>
            </a:xfrm>
            <a:prstGeom prst="flowChartAlternateProcess">
              <a:avLst/>
            </a:prstGeom>
            <a:noFill/>
            <a:ln w="19050" cap="flat" cmpd="sng">
              <a:solidFill>
                <a:srgbClr val="000000"/>
              </a:solidFill>
              <a:prstDash val="solid"/>
              <a:miter/>
              <a:headEnd type="none" w="med" len="med"/>
              <a:tailEnd type="none" w="med" len="med"/>
            </a:ln>
          </p:spPr>
          <p:txBody>
            <a:bodyPr lIns="13500" tIns="8100" rIns="13500" bIns="8100" anchor="ctr" anchorCtr="0"/>
            <a:lstStyle/>
            <a:p>
              <a:pPr algn="ctr"/>
              <a:r>
                <a:rPr lang="zh-CN" altLang="en-US" sz="1200" dirty="0">
                  <a:latin typeface="Microsoft YaHei" panose="020B0503020204020204" pitchFamily="34" charset="-122"/>
                  <a:ea typeface="Microsoft YaHei" panose="020B0503020204020204" pitchFamily="34" charset="-122"/>
                </a:rPr>
                <a:t>亲属姓名</a:t>
              </a:r>
            </a:p>
          </p:txBody>
        </p:sp>
        <p:sp>
          <p:nvSpPr>
            <p:cNvPr id="22" name="Line 22">
              <a:extLst>
                <a:ext uri="{FF2B5EF4-FFF2-40B4-BE49-F238E27FC236}">
                  <a16:creationId xmlns:a16="http://schemas.microsoft.com/office/drawing/2014/main" id="{F511A610-17BB-A32F-FAFF-1721BADFF48D}"/>
                </a:ext>
              </a:extLst>
            </p:cNvPr>
            <p:cNvSpPr/>
            <p:nvPr/>
          </p:nvSpPr>
          <p:spPr>
            <a:xfrm>
              <a:off x="3289792" y="3880169"/>
              <a:ext cx="1012116" cy="0"/>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23" name="Line 23">
              <a:extLst>
                <a:ext uri="{FF2B5EF4-FFF2-40B4-BE49-F238E27FC236}">
                  <a16:creationId xmlns:a16="http://schemas.microsoft.com/office/drawing/2014/main" id="{D238254B-C541-4C82-ABB3-B27F90049AAB}"/>
                </a:ext>
              </a:extLst>
            </p:cNvPr>
            <p:cNvSpPr/>
            <p:nvPr/>
          </p:nvSpPr>
          <p:spPr>
            <a:xfrm>
              <a:off x="5327242" y="3880169"/>
              <a:ext cx="976717" cy="0"/>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24" name="AutoShape 24">
              <a:extLst>
                <a:ext uri="{FF2B5EF4-FFF2-40B4-BE49-F238E27FC236}">
                  <a16:creationId xmlns:a16="http://schemas.microsoft.com/office/drawing/2014/main" id="{F20F251B-25F4-2D9B-5272-01B9D04F3F0E}"/>
                </a:ext>
              </a:extLst>
            </p:cNvPr>
            <p:cNvSpPr/>
            <p:nvPr/>
          </p:nvSpPr>
          <p:spPr>
            <a:xfrm>
              <a:off x="4376133" y="3629905"/>
              <a:ext cx="867143" cy="508908"/>
            </a:xfrm>
            <a:prstGeom prst="diamond">
              <a:avLst/>
            </a:prstGeom>
            <a:noFill/>
            <a:ln w="19050" cap="flat" cmpd="dbl">
              <a:solidFill>
                <a:srgbClr val="000000"/>
              </a:solidFill>
              <a:prstDash val="solid"/>
              <a:miter/>
              <a:headEnd type="none" w="med" len="med"/>
              <a:tailEnd type="none" w="med" len="med"/>
            </a:ln>
          </p:spPr>
          <p:txBody>
            <a:bodyPr lIns="13500" tIns="8100" rIns="13500" bIns="8100" anchor="ctr" anchorCtr="0"/>
            <a:lstStyle/>
            <a:p>
              <a:pPr algn="ctr">
                <a:lnSpc>
                  <a:spcPct val="80000"/>
                </a:lnSpc>
              </a:pPr>
              <a:r>
                <a:rPr lang="zh-CN" altLang="en-US" sz="1200" dirty="0">
                  <a:latin typeface="Microsoft YaHei" panose="020B0503020204020204" pitchFamily="34" charset="-122"/>
                  <a:ea typeface="Microsoft YaHei" panose="020B0503020204020204" pitchFamily="34" charset="-122"/>
                </a:rPr>
                <a:t>有</a:t>
              </a:r>
            </a:p>
          </p:txBody>
        </p:sp>
        <p:sp>
          <p:nvSpPr>
            <p:cNvPr id="25" name="Line 25">
              <a:extLst>
                <a:ext uri="{FF2B5EF4-FFF2-40B4-BE49-F238E27FC236}">
                  <a16:creationId xmlns:a16="http://schemas.microsoft.com/office/drawing/2014/main" id="{71231AE2-0E34-275F-ED5F-6D5326002691}"/>
                </a:ext>
              </a:extLst>
            </p:cNvPr>
            <p:cNvSpPr/>
            <p:nvPr/>
          </p:nvSpPr>
          <p:spPr>
            <a:xfrm>
              <a:off x="6108852" y="3215793"/>
              <a:ext cx="371633" cy="455708"/>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26" name="Line 26">
              <a:extLst>
                <a:ext uri="{FF2B5EF4-FFF2-40B4-BE49-F238E27FC236}">
                  <a16:creationId xmlns:a16="http://schemas.microsoft.com/office/drawing/2014/main" id="{CF6CB109-A580-307E-F210-80F217728EB8}"/>
                </a:ext>
              </a:extLst>
            </p:cNvPr>
            <p:cNvSpPr/>
            <p:nvPr/>
          </p:nvSpPr>
          <p:spPr>
            <a:xfrm flipH="1">
              <a:off x="6728240" y="3215793"/>
              <a:ext cx="123878" cy="455708"/>
            </a:xfrm>
            <a:prstGeom prst="line">
              <a:avLst/>
            </a:prstGeom>
            <a:noFill/>
            <a:ln w="19050" cap="flat" cmpd="sng">
              <a:solidFill>
                <a:srgbClr val="000000"/>
              </a:solidFill>
              <a:prstDash val="solid"/>
              <a:round/>
              <a:headEnd type="none" w="med" len="med"/>
              <a:tailEnd type="none" w="med" len="med"/>
            </a:ln>
          </p:spPr>
          <p:txBody>
            <a:bodyPr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27" name="文本框 26">
              <a:extLst>
                <a:ext uri="{FF2B5EF4-FFF2-40B4-BE49-F238E27FC236}">
                  <a16:creationId xmlns:a16="http://schemas.microsoft.com/office/drawing/2014/main" id="{0F2D0A00-E7F9-A5CD-483B-D30915845564}"/>
                </a:ext>
              </a:extLst>
            </p:cNvPr>
            <p:cNvSpPr txBox="1"/>
            <p:nvPr/>
          </p:nvSpPr>
          <p:spPr>
            <a:xfrm>
              <a:off x="3415937" y="3607360"/>
              <a:ext cx="266420" cy="276999"/>
            </a:xfrm>
            <a:prstGeom prst="rect">
              <a:avLst/>
            </a:prstGeom>
            <a:noFill/>
          </p:spPr>
          <p:txBody>
            <a:bodyPr wrap="none" rtlCol="0">
              <a:spAutoFit/>
            </a:bodyPr>
            <a:lstStyle/>
            <a:p>
              <a:r>
                <a:rPr kumimoji="1" lang="en-US" altLang="zh-CN" sz="1200" dirty="0"/>
                <a:t>1</a:t>
              </a:r>
              <a:endParaRPr kumimoji="1" lang="zh-CN" altLang="en-US" sz="1200" dirty="0"/>
            </a:p>
          </p:txBody>
        </p:sp>
        <p:sp>
          <p:nvSpPr>
            <p:cNvPr id="28" name="文本框 27">
              <a:extLst>
                <a:ext uri="{FF2B5EF4-FFF2-40B4-BE49-F238E27FC236}">
                  <a16:creationId xmlns:a16="http://schemas.microsoft.com/office/drawing/2014/main" id="{1CF3EDAA-87EC-7009-2DC6-A2FA50C42E1F}"/>
                </a:ext>
              </a:extLst>
            </p:cNvPr>
            <p:cNvSpPr txBox="1"/>
            <p:nvPr/>
          </p:nvSpPr>
          <p:spPr>
            <a:xfrm>
              <a:off x="5931359" y="3599766"/>
              <a:ext cx="314510" cy="276999"/>
            </a:xfrm>
            <a:prstGeom prst="rect">
              <a:avLst/>
            </a:prstGeom>
            <a:noFill/>
          </p:spPr>
          <p:txBody>
            <a:bodyPr wrap="none" rtlCol="0">
              <a:spAutoFit/>
            </a:bodyPr>
            <a:lstStyle/>
            <a:p>
              <a:r>
                <a:rPr kumimoji="1" lang="en-US" altLang="zh-CN" sz="1200" i="1" dirty="0"/>
                <a:t>m</a:t>
              </a:r>
              <a:endParaRPr kumimoji="1" lang="zh-CN" altLang="en-US" sz="1200" i="1" dirty="0"/>
            </a:p>
          </p:txBody>
        </p:sp>
        <p:sp>
          <p:nvSpPr>
            <p:cNvPr id="29" name="文本框 28">
              <a:extLst>
                <a:ext uri="{FF2B5EF4-FFF2-40B4-BE49-F238E27FC236}">
                  <a16:creationId xmlns:a16="http://schemas.microsoft.com/office/drawing/2014/main" id="{BAB7B1FD-73E5-EC16-D028-B1E8E449E335}"/>
                </a:ext>
              </a:extLst>
            </p:cNvPr>
            <p:cNvSpPr txBox="1"/>
            <p:nvPr/>
          </p:nvSpPr>
          <p:spPr>
            <a:xfrm>
              <a:off x="3389864" y="3876765"/>
              <a:ext cx="602467" cy="276999"/>
            </a:xfrm>
            <a:prstGeom prst="rect">
              <a:avLst/>
            </a:prstGeom>
            <a:noFill/>
          </p:spPr>
          <p:txBody>
            <a:bodyPr wrap="square" rtlCol="0">
              <a:spAutoFit/>
            </a:bodyPr>
            <a:lstStyle/>
            <a:p>
              <a:r>
                <a:rPr kumimoji="1" lang="en-US" altLang="zh-CN" sz="1200" dirty="0"/>
                <a:t>0</a:t>
              </a:r>
              <a:r>
                <a:rPr kumimoji="1" lang="zh-CN" altLang="en-US" sz="1200" dirty="0"/>
                <a:t> </a:t>
              </a:r>
              <a:r>
                <a:rPr kumimoji="1" lang="en-US" altLang="zh-CN" sz="1200" dirty="0"/>
                <a:t>..</a:t>
              </a:r>
              <a:r>
                <a:rPr kumimoji="1" lang="zh-CN" altLang="en-US" sz="1200" dirty="0"/>
                <a:t> </a:t>
              </a:r>
              <a:r>
                <a:rPr kumimoji="1" lang="en-US" altLang="zh-CN" sz="1200" i="1" dirty="0"/>
                <a:t>N</a:t>
              </a:r>
              <a:endParaRPr kumimoji="1" lang="zh-CN" altLang="en-US" sz="1200" i="1" dirty="0"/>
            </a:p>
          </p:txBody>
        </p:sp>
        <p:sp>
          <p:nvSpPr>
            <p:cNvPr id="30" name="文本框 29">
              <a:extLst>
                <a:ext uri="{FF2B5EF4-FFF2-40B4-BE49-F238E27FC236}">
                  <a16:creationId xmlns:a16="http://schemas.microsoft.com/office/drawing/2014/main" id="{7C493644-9896-4E45-4B49-DEF1F33D39D3}"/>
                </a:ext>
              </a:extLst>
            </p:cNvPr>
            <p:cNvSpPr txBox="1"/>
            <p:nvPr/>
          </p:nvSpPr>
          <p:spPr>
            <a:xfrm>
              <a:off x="5732723" y="3876764"/>
              <a:ext cx="602467" cy="276999"/>
            </a:xfrm>
            <a:prstGeom prst="rect">
              <a:avLst/>
            </a:prstGeom>
            <a:noFill/>
          </p:spPr>
          <p:txBody>
            <a:bodyPr wrap="square" rtlCol="0">
              <a:spAutoFit/>
            </a:bodyPr>
            <a:lstStyle/>
            <a:p>
              <a:r>
                <a:rPr kumimoji="1" lang="en-US" altLang="zh-CN" sz="1200" dirty="0"/>
                <a:t>0</a:t>
              </a:r>
              <a:r>
                <a:rPr kumimoji="1" lang="zh-CN" altLang="en-US" sz="1200" dirty="0"/>
                <a:t> </a:t>
              </a:r>
              <a:r>
                <a:rPr kumimoji="1" lang="en-US" altLang="zh-CN" sz="1200" dirty="0"/>
                <a:t>..</a:t>
              </a:r>
              <a:r>
                <a:rPr kumimoji="1" lang="zh-CN" altLang="en-US" sz="1200" dirty="0"/>
                <a:t> </a:t>
              </a:r>
              <a:r>
                <a:rPr kumimoji="1" lang="en-US" altLang="zh-CN" sz="1200" dirty="0"/>
                <a:t>1</a:t>
              </a:r>
              <a:endParaRPr kumimoji="1" lang="zh-CN" altLang="en-US" sz="1200"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calcmode="lin" valueType="num">
                                      <p:cBhvr additive="base">
                                        <p:cTn id="7" dur="500" fill="hold"/>
                                        <p:tgtEl>
                                          <p:spTgt spid="409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9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963">
                                            <p:txEl>
                                              <p:pRg st="1" end="1"/>
                                            </p:txEl>
                                          </p:spTgt>
                                        </p:tgtEl>
                                        <p:attrNameLst>
                                          <p:attrName>style.visibility</p:attrName>
                                        </p:attrNameLst>
                                      </p:cBhvr>
                                      <p:to>
                                        <p:strVal val="visible"/>
                                      </p:to>
                                    </p:set>
                                    <p:anim calcmode="lin" valueType="num">
                                      <p:cBhvr additive="base">
                                        <p:cTn id="13" dur="500" fill="hold"/>
                                        <p:tgtEl>
                                          <p:spTgt spid="409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96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298" name="Group 3"/>
          <p:cNvGrpSpPr/>
          <p:nvPr/>
        </p:nvGrpSpPr>
        <p:grpSpPr>
          <a:xfrm>
            <a:off x="3594033" y="1749343"/>
            <a:ext cx="4260056" cy="1943100"/>
            <a:chOff x="0" y="0"/>
            <a:chExt cx="3324" cy="1632"/>
          </a:xfrm>
          <a:noFill/>
        </p:grpSpPr>
        <p:sp>
          <p:nvSpPr>
            <p:cNvPr id="55299" name="Rectangle 4"/>
            <p:cNvSpPr/>
            <p:nvPr/>
          </p:nvSpPr>
          <p:spPr>
            <a:xfrm>
              <a:off x="960" y="576"/>
              <a:ext cx="768" cy="336"/>
            </a:xfrm>
            <a:prstGeom prst="rect">
              <a:avLst/>
            </a:prstGeom>
            <a:grp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职工</a:t>
              </a:r>
            </a:p>
          </p:txBody>
        </p:sp>
        <p:sp>
          <p:nvSpPr>
            <p:cNvPr id="55300" name="Oval 5"/>
            <p:cNvSpPr/>
            <p:nvPr/>
          </p:nvSpPr>
          <p:spPr>
            <a:xfrm>
              <a:off x="0" y="576"/>
              <a:ext cx="624" cy="336"/>
            </a:xfrm>
            <a:prstGeom prst="ellipse">
              <a:avLst/>
            </a:prstGeom>
            <a:grp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工号</a:t>
              </a:r>
            </a:p>
          </p:txBody>
        </p:sp>
        <p:sp>
          <p:nvSpPr>
            <p:cNvPr id="55301" name="Oval 6"/>
            <p:cNvSpPr/>
            <p:nvPr/>
          </p:nvSpPr>
          <p:spPr>
            <a:xfrm>
              <a:off x="240" y="0"/>
              <a:ext cx="624" cy="336"/>
            </a:xfrm>
            <a:prstGeom prst="ellipse">
              <a:avLst/>
            </a:prstGeom>
            <a:grp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姓名</a:t>
              </a:r>
            </a:p>
          </p:txBody>
        </p:sp>
        <p:sp>
          <p:nvSpPr>
            <p:cNvPr id="55302" name="Oval 7"/>
            <p:cNvSpPr/>
            <p:nvPr/>
          </p:nvSpPr>
          <p:spPr>
            <a:xfrm>
              <a:off x="1104" y="0"/>
              <a:ext cx="624" cy="336"/>
            </a:xfrm>
            <a:prstGeom prst="ellipse">
              <a:avLst/>
            </a:prstGeom>
            <a:grp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年龄</a:t>
              </a:r>
            </a:p>
          </p:txBody>
        </p:sp>
        <p:sp>
          <p:nvSpPr>
            <p:cNvPr id="55303" name="Oval 8"/>
            <p:cNvSpPr/>
            <p:nvPr/>
          </p:nvSpPr>
          <p:spPr>
            <a:xfrm>
              <a:off x="2220" y="1248"/>
              <a:ext cx="1104" cy="336"/>
            </a:xfrm>
            <a:prstGeom prst="ellipse">
              <a:avLst/>
            </a:prstGeom>
            <a:grp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民意测验</a:t>
              </a:r>
            </a:p>
          </p:txBody>
        </p:sp>
        <p:sp>
          <p:nvSpPr>
            <p:cNvPr id="55304" name="Oval 9"/>
            <p:cNvSpPr/>
            <p:nvPr/>
          </p:nvSpPr>
          <p:spPr>
            <a:xfrm>
              <a:off x="1920" y="0"/>
              <a:ext cx="624" cy="336"/>
            </a:xfrm>
            <a:prstGeom prst="ellipse">
              <a:avLst/>
            </a:prstGeom>
            <a:grp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性别</a:t>
              </a:r>
            </a:p>
          </p:txBody>
        </p:sp>
        <p:sp>
          <p:nvSpPr>
            <p:cNvPr id="55305" name="Oval 10"/>
            <p:cNvSpPr/>
            <p:nvPr/>
          </p:nvSpPr>
          <p:spPr>
            <a:xfrm>
              <a:off x="1968" y="528"/>
              <a:ext cx="624" cy="336"/>
            </a:xfrm>
            <a:prstGeom prst="ellipse">
              <a:avLst/>
            </a:prstGeom>
            <a:grp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职称</a:t>
              </a:r>
            </a:p>
          </p:txBody>
        </p:sp>
        <p:sp>
          <p:nvSpPr>
            <p:cNvPr id="55306" name="AutoShape 11"/>
            <p:cNvSpPr/>
            <p:nvPr/>
          </p:nvSpPr>
          <p:spPr>
            <a:xfrm>
              <a:off x="960" y="1248"/>
              <a:ext cx="768" cy="384"/>
            </a:xfrm>
            <a:prstGeom prst="flowChartDecision">
              <a:avLst/>
            </a:prstGeom>
            <a:grp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领导</a:t>
              </a:r>
            </a:p>
          </p:txBody>
        </p:sp>
        <p:sp>
          <p:nvSpPr>
            <p:cNvPr id="55307" name="Line 12"/>
            <p:cNvSpPr/>
            <p:nvPr/>
          </p:nvSpPr>
          <p:spPr>
            <a:xfrm>
              <a:off x="999" y="921"/>
              <a:ext cx="0" cy="499"/>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5308" name="Line 13"/>
            <p:cNvSpPr/>
            <p:nvPr/>
          </p:nvSpPr>
          <p:spPr>
            <a:xfrm>
              <a:off x="1683" y="921"/>
              <a:ext cx="0" cy="499"/>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5309" name="Line 14"/>
            <p:cNvSpPr/>
            <p:nvPr/>
          </p:nvSpPr>
          <p:spPr>
            <a:xfrm>
              <a:off x="624" y="720"/>
              <a:ext cx="336" cy="0"/>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5310" name="Line 15"/>
            <p:cNvSpPr/>
            <p:nvPr/>
          </p:nvSpPr>
          <p:spPr>
            <a:xfrm>
              <a:off x="816" y="240"/>
              <a:ext cx="288" cy="336"/>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5311" name="Line 16"/>
            <p:cNvSpPr/>
            <p:nvPr/>
          </p:nvSpPr>
          <p:spPr>
            <a:xfrm>
              <a:off x="1392" y="336"/>
              <a:ext cx="0" cy="240"/>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5312" name="Line 17"/>
            <p:cNvSpPr/>
            <p:nvPr/>
          </p:nvSpPr>
          <p:spPr>
            <a:xfrm flipH="1">
              <a:off x="1632" y="240"/>
              <a:ext cx="336" cy="336"/>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5313" name="Line 18"/>
            <p:cNvSpPr/>
            <p:nvPr/>
          </p:nvSpPr>
          <p:spPr>
            <a:xfrm>
              <a:off x="1737" y="711"/>
              <a:ext cx="227" cy="0"/>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5314" name="Line 19"/>
            <p:cNvSpPr/>
            <p:nvPr/>
          </p:nvSpPr>
          <p:spPr>
            <a:xfrm>
              <a:off x="1728" y="1440"/>
              <a:ext cx="480" cy="0"/>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5315" name="Text Box 20"/>
            <p:cNvSpPr txBox="1"/>
            <p:nvPr/>
          </p:nvSpPr>
          <p:spPr>
            <a:xfrm>
              <a:off x="768" y="960"/>
              <a:ext cx="240" cy="252"/>
            </a:xfrm>
            <a:prstGeom prst="rect">
              <a:avLst/>
            </a:prstGeom>
            <a:grp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1</a:t>
              </a:r>
            </a:p>
          </p:txBody>
        </p:sp>
        <p:sp>
          <p:nvSpPr>
            <p:cNvPr id="55316" name="Text Box 21"/>
            <p:cNvSpPr txBox="1"/>
            <p:nvPr/>
          </p:nvSpPr>
          <p:spPr>
            <a:xfrm>
              <a:off x="1701" y="951"/>
              <a:ext cx="336" cy="252"/>
            </a:xfrm>
            <a:prstGeom prst="rect">
              <a:avLst/>
            </a:prstGeom>
            <a:grp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m</a:t>
              </a:r>
            </a:p>
          </p:txBody>
        </p:sp>
      </p:grpSp>
      <p:sp>
        <p:nvSpPr>
          <p:cNvPr id="42006" name="Text Box 22"/>
          <p:cNvSpPr txBox="1"/>
          <p:nvPr/>
        </p:nvSpPr>
        <p:spPr>
          <a:xfrm>
            <a:off x="1905349" y="4283678"/>
            <a:ext cx="6800850" cy="323165"/>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职工（</a:t>
            </a:r>
            <a:r>
              <a:rPr lang="zh-CN" altLang="en-US" sz="1500" u="sng" dirty="0">
                <a:solidFill>
                  <a:schemeClr val="hlink"/>
                </a:solidFill>
                <a:latin typeface="Microsoft YaHei" panose="020B0503020204020204" pitchFamily="34" charset="-122"/>
                <a:ea typeface="Microsoft YaHei" panose="020B0503020204020204" pitchFamily="34" charset="-122"/>
              </a:rPr>
              <a:t>工号</a:t>
            </a:r>
            <a:r>
              <a:rPr lang="zh-CN" altLang="en-US" sz="1500" dirty="0">
                <a:latin typeface="Microsoft YaHei" panose="020B0503020204020204" pitchFamily="34" charset="-122"/>
                <a:ea typeface="Microsoft YaHei" panose="020B0503020204020204" pitchFamily="34" charset="-122"/>
              </a:rPr>
              <a:t>，姓名，年龄，性别，职称，</a:t>
            </a:r>
            <a:r>
              <a:rPr lang="zh-CN" altLang="en-US" sz="1500" dirty="0">
                <a:solidFill>
                  <a:srgbClr val="FF9933"/>
                </a:solidFill>
                <a:latin typeface="Microsoft YaHei" panose="020B0503020204020204" pitchFamily="34" charset="-122"/>
                <a:ea typeface="Microsoft YaHei" panose="020B0503020204020204" pitchFamily="34" charset="-122"/>
              </a:rPr>
              <a:t>领导者工号</a:t>
            </a:r>
            <a:r>
              <a:rPr lang="zh-CN" altLang="en-US" sz="1500" dirty="0">
                <a:latin typeface="Microsoft YaHei" panose="020B0503020204020204" pitchFamily="34" charset="-122"/>
                <a:ea typeface="Microsoft YaHei" panose="020B0503020204020204" pitchFamily="34" charset="-122"/>
              </a:rPr>
              <a:t>，</a:t>
            </a:r>
            <a:r>
              <a:rPr lang="zh-CN" altLang="en-US" sz="1500" dirty="0">
                <a:solidFill>
                  <a:srgbClr val="FF9933"/>
                </a:solidFill>
                <a:latin typeface="Microsoft YaHei" panose="020B0503020204020204" pitchFamily="34" charset="-122"/>
                <a:ea typeface="Microsoft YaHei" panose="020B0503020204020204" pitchFamily="34" charset="-122"/>
              </a:rPr>
              <a:t>民意测验</a:t>
            </a:r>
            <a:r>
              <a:rPr lang="zh-CN" altLang="en-US" sz="1500" dirty="0">
                <a:latin typeface="Microsoft YaHei" panose="020B0503020204020204" pitchFamily="34" charset="-122"/>
                <a:ea typeface="Microsoft YaHei" panose="020B0503020204020204" pitchFamily="34" charset="-122"/>
              </a:rPr>
              <a:t>）</a:t>
            </a:r>
          </a:p>
        </p:txBody>
      </p:sp>
      <p:sp>
        <p:nvSpPr>
          <p:cNvPr id="55318" name="Rectangle 23"/>
          <p:cNvSpPr/>
          <p:nvPr/>
        </p:nvSpPr>
        <p:spPr>
          <a:xfrm>
            <a:off x="728420" y="1616183"/>
            <a:ext cx="2149703" cy="1104710"/>
          </a:xfrm>
          <a:prstGeom prst="rect">
            <a:avLst/>
          </a:prstGeom>
          <a:noFill/>
          <a:ln w="9525">
            <a:noFill/>
          </a:ln>
        </p:spPr>
        <p:txBody>
          <a:bodyPr anchor="b" anchorCtr="0"/>
          <a:lstStyle/>
          <a:p>
            <a:r>
              <a:rPr lang="zh-CN" altLang="en-US" sz="2100" dirty="0">
                <a:solidFill>
                  <a:schemeClr val="tx2"/>
                </a:solidFill>
                <a:latin typeface="Microsoft YaHei" panose="020B0503020204020204" pitchFamily="34" charset="-122"/>
                <a:ea typeface="Microsoft YaHei" panose="020B0503020204020204" pitchFamily="34" charset="-122"/>
              </a:rPr>
              <a:t>自联系的</a:t>
            </a:r>
            <a:r>
              <a:rPr lang="en-US" altLang="zh-CN" sz="2100" dirty="0">
                <a:solidFill>
                  <a:schemeClr val="tx2"/>
                </a:solidFill>
                <a:latin typeface="Microsoft YaHei" panose="020B0503020204020204" pitchFamily="34" charset="-122"/>
                <a:ea typeface="Microsoft YaHei" panose="020B0503020204020204" pitchFamily="34" charset="-122"/>
              </a:rPr>
              <a:t>1:m</a:t>
            </a:r>
            <a:r>
              <a:rPr lang="zh-CN" altLang="en-US" sz="2100" dirty="0">
                <a:solidFill>
                  <a:schemeClr val="tx2"/>
                </a:solidFill>
                <a:latin typeface="Microsoft YaHei" panose="020B0503020204020204" pitchFamily="34" charset="-122"/>
                <a:ea typeface="Microsoft YaHei" panose="020B0503020204020204" pitchFamily="34" charset="-122"/>
              </a:rPr>
              <a:t>关系转换</a:t>
            </a:r>
          </a:p>
        </p:txBody>
      </p:sp>
      <p:sp>
        <p:nvSpPr>
          <p:cNvPr id="4" name="标题 3">
            <a:extLst>
              <a:ext uri="{FF2B5EF4-FFF2-40B4-BE49-F238E27FC236}">
                <a16:creationId xmlns:a16="http://schemas.microsoft.com/office/drawing/2014/main" id="{1BD92E48-057A-827D-B352-8C7B56D6537B}"/>
              </a:ext>
            </a:extLst>
          </p:cNvPr>
          <p:cNvSpPr>
            <a:spLocks noGrp="1"/>
          </p:cNvSpPr>
          <p:nvPr>
            <p:ph type="title"/>
          </p:nvPr>
        </p:nvSpPr>
        <p:spPr/>
        <p:txBody>
          <a:bodyPr/>
          <a:lstStyle/>
          <a:p>
            <a:r>
              <a:rPr lang="zh-CN" altLang="en-US" dirty="0"/>
              <a:t>逻辑结构设计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2006">
                                            <p:txEl>
                                              <p:pRg st="0" end="0"/>
                                            </p:txEl>
                                          </p:spTgt>
                                        </p:tgtEl>
                                        <p:attrNameLst>
                                          <p:attrName>style.visibility</p:attrName>
                                        </p:attrNameLst>
                                      </p:cBhvr>
                                      <p:to>
                                        <p:strVal val="visible"/>
                                      </p:to>
                                    </p:set>
                                    <p:anim calcmode="lin" valueType="num">
                                      <p:cBhvr additive="base">
                                        <p:cTn id="7" dur="500" fill="hold"/>
                                        <p:tgtEl>
                                          <p:spTgt spid="4200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200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6"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2" name="Group 3"/>
          <p:cNvGrpSpPr/>
          <p:nvPr/>
        </p:nvGrpSpPr>
        <p:grpSpPr>
          <a:xfrm>
            <a:off x="4572000" y="1541679"/>
            <a:ext cx="3257550" cy="1943100"/>
            <a:chOff x="0" y="0"/>
            <a:chExt cx="2736" cy="1632"/>
          </a:xfrm>
          <a:noFill/>
        </p:grpSpPr>
        <p:sp>
          <p:nvSpPr>
            <p:cNvPr id="56323" name="Rectangle 4"/>
            <p:cNvSpPr/>
            <p:nvPr/>
          </p:nvSpPr>
          <p:spPr>
            <a:xfrm>
              <a:off x="816" y="576"/>
              <a:ext cx="768" cy="336"/>
            </a:xfrm>
            <a:prstGeom prst="rect">
              <a:avLst/>
            </a:prstGeom>
            <a:grp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零件</a:t>
              </a:r>
            </a:p>
          </p:txBody>
        </p:sp>
        <p:sp>
          <p:nvSpPr>
            <p:cNvPr id="56324" name="Oval 5"/>
            <p:cNvSpPr/>
            <p:nvPr/>
          </p:nvSpPr>
          <p:spPr>
            <a:xfrm>
              <a:off x="0" y="192"/>
              <a:ext cx="624" cy="336"/>
            </a:xfrm>
            <a:prstGeom prst="ellipse">
              <a:avLst/>
            </a:prstGeom>
            <a:grp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代号</a:t>
              </a:r>
            </a:p>
          </p:txBody>
        </p:sp>
        <p:sp>
          <p:nvSpPr>
            <p:cNvPr id="56325" name="Oval 6"/>
            <p:cNvSpPr/>
            <p:nvPr/>
          </p:nvSpPr>
          <p:spPr>
            <a:xfrm>
              <a:off x="960" y="0"/>
              <a:ext cx="624" cy="336"/>
            </a:xfrm>
            <a:prstGeom prst="ellipse">
              <a:avLst/>
            </a:prstGeom>
            <a:grp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名称</a:t>
              </a:r>
            </a:p>
          </p:txBody>
        </p:sp>
        <p:sp>
          <p:nvSpPr>
            <p:cNvPr id="56326" name="Oval 7"/>
            <p:cNvSpPr/>
            <p:nvPr/>
          </p:nvSpPr>
          <p:spPr>
            <a:xfrm>
              <a:off x="2076" y="1248"/>
              <a:ext cx="660" cy="336"/>
            </a:xfrm>
            <a:prstGeom prst="ellipse">
              <a:avLst/>
            </a:prstGeom>
            <a:grp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数量</a:t>
              </a:r>
            </a:p>
          </p:txBody>
        </p:sp>
        <p:sp>
          <p:nvSpPr>
            <p:cNvPr id="56327" name="Oval 8"/>
            <p:cNvSpPr/>
            <p:nvPr/>
          </p:nvSpPr>
          <p:spPr>
            <a:xfrm>
              <a:off x="1968" y="192"/>
              <a:ext cx="624" cy="336"/>
            </a:xfrm>
            <a:prstGeom prst="ellipse">
              <a:avLst/>
            </a:prstGeom>
            <a:grpFill/>
            <a:ln w="9525" cap="flat" cmpd="sng">
              <a:solidFill>
                <a:schemeClr val="tx1"/>
              </a:solidFill>
              <a:prstDash val="solid"/>
              <a:round/>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价格</a:t>
              </a:r>
            </a:p>
          </p:txBody>
        </p:sp>
        <p:sp>
          <p:nvSpPr>
            <p:cNvPr id="56328" name="AutoShape 9"/>
            <p:cNvSpPr/>
            <p:nvPr/>
          </p:nvSpPr>
          <p:spPr>
            <a:xfrm>
              <a:off x="816" y="1248"/>
              <a:ext cx="768" cy="384"/>
            </a:xfrm>
            <a:prstGeom prst="flowChartDecision">
              <a:avLst/>
            </a:prstGeom>
            <a:grpFill/>
            <a:ln w="9525" cap="flat" cmpd="sng">
              <a:solidFill>
                <a:schemeClr val="tx1"/>
              </a:solidFill>
              <a:prstDash val="solid"/>
              <a:miter/>
              <a:headEnd type="none" w="med" len="med"/>
              <a:tailEnd type="none" w="med" len="med"/>
            </a:ln>
          </p:spPr>
          <p:txBody>
            <a:bodyPr wrap="none" anchor="ctr" anchorCtr="0"/>
            <a:lstStyle/>
            <a:p>
              <a:pPr algn="ctr"/>
              <a:r>
                <a:rPr lang="zh-CN" altLang="en-US" sz="1350" dirty="0">
                  <a:latin typeface="Microsoft YaHei" panose="020B0503020204020204" pitchFamily="34" charset="-122"/>
                  <a:ea typeface="Microsoft YaHei" panose="020B0503020204020204" pitchFamily="34" charset="-122"/>
                </a:rPr>
                <a:t>组装</a:t>
              </a:r>
            </a:p>
          </p:txBody>
        </p:sp>
        <p:sp>
          <p:nvSpPr>
            <p:cNvPr id="56329" name="Line 10"/>
            <p:cNvSpPr/>
            <p:nvPr/>
          </p:nvSpPr>
          <p:spPr>
            <a:xfrm>
              <a:off x="855" y="921"/>
              <a:ext cx="0" cy="499"/>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6330" name="Line 11"/>
            <p:cNvSpPr/>
            <p:nvPr/>
          </p:nvSpPr>
          <p:spPr>
            <a:xfrm>
              <a:off x="1539" y="921"/>
              <a:ext cx="0" cy="499"/>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6331" name="Line 12"/>
            <p:cNvSpPr/>
            <p:nvPr/>
          </p:nvSpPr>
          <p:spPr>
            <a:xfrm>
              <a:off x="1248" y="336"/>
              <a:ext cx="0" cy="240"/>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6332" name="Line 13"/>
            <p:cNvSpPr/>
            <p:nvPr/>
          </p:nvSpPr>
          <p:spPr>
            <a:xfrm>
              <a:off x="1584" y="1440"/>
              <a:ext cx="480" cy="0"/>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6333" name="Text Box 14"/>
            <p:cNvSpPr txBox="1"/>
            <p:nvPr/>
          </p:nvSpPr>
          <p:spPr>
            <a:xfrm>
              <a:off x="561" y="960"/>
              <a:ext cx="240" cy="252"/>
            </a:xfrm>
            <a:prstGeom prst="rect">
              <a:avLst/>
            </a:prstGeom>
            <a:grp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m</a:t>
              </a:r>
            </a:p>
          </p:txBody>
        </p:sp>
        <p:sp>
          <p:nvSpPr>
            <p:cNvPr id="56334" name="Text Box 15"/>
            <p:cNvSpPr txBox="1"/>
            <p:nvPr/>
          </p:nvSpPr>
          <p:spPr>
            <a:xfrm>
              <a:off x="1557" y="951"/>
              <a:ext cx="336" cy="252"/>
            </a:xfrm>
            <a:prstGeom prst="rect">
              <a:avLst/>
            </a:prstGeom>
            <a:grp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n</a:t>
              </a:r>
            </a:p>
          </p:txBody>
        </p:sp>
        <p:sp>
          <p:nvSpPr>
            <p:cNvPr id="56335" name="Line 16"/>
            <p:cNvSpPr/>
            <p:nvPr/>
          </p:nvSpPr>
          <p:spPr>
            <a:xfrm>
              <a:off x="615" y="414"/>
              <a:ext cx="192" cy="192"/>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6336" name="Line 17"/>
            <p:cNvSpPr/>
            <p:nvPr/>
          </p:nvSpPr>
          <p:spPr>
            <a:xfrm flipV="1">
              <a:off x="1584" y="432"/>
              <a:ext cx="432" cy="144"/>
            </a:xfrm>
            <a:prstGeom prst="line">
              <a:avLst/>
            </a:prstGeom>
            <a:grpFill/>
            <a:ln w="25400"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43026" name="Text Box 18"/>
          <p:cNvSpPr txBox="1"/>
          <p:nvPr/>
        </p:nvSpPr>
        <p:spPr>
          <a:xfrm>
            <a:off x="1922259" y="3884829"/>
            <a:ext cx="5314950" cy="669414"/>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零件（</a:t>
            </a:r>
            <a:r>
              <a:rPr lang="zh-CN" altLang="en-US" sz="1500" u="sng" dirty="0">
                <a:solidFill>
                  <a:schemeClr val="hlink"/>
                </a:solidFill>
                <a:latin typeface="Microsoft YaHei" panose="020B0503020204020204" pitchFamily="34" charset="-122"/>
                <a:ea typeface="Microsoft YaHei" panose="020B0503020204020204" pitchFamily="34" charset="-122"/>
              </a:rPr>
              <a:t>代号</a:t>
            </a:r>
            <a:r>
              <a:rPr lang="zh-CN" altLang="en-US" sz="1500" dirty="0">
                <a:latin typeface="Microsoft YaHei" panose="020B0503020204020204" pitchFamily="34" charset="-122"/>
                <a:ea typeface="Microsoft YaHei" panose="020B0503020204020204" pitchFamily="34" charset="-122"/>
              </a:rPr>
              <a:t>，名称，价格）</a:t>
            </a:r>
          </a:p>
          <a:p>
            <a:pPr>
              <a:spcBef>
                <a:spcPct val="50000"/>
              </a:spcBef>
            </a:pPr>
            <a:r>
              <a:rPr lang="zh-CN" altLang="en-US" sz="1500" dirty="0">
                <a:latin typeface="Microsoft YaHei" panose="020B0503020204020204" pitchFamily="34" charset="-122"/>
                <a:ea typeface="Microsoft YaHei" panose="020B0503020204020204" pitchFamily="34" charset="-122"/>
              </a:rPr>
              <a:t>组装（</a:t>
            </a:r>
            <a:r>
              <a:rPr lang="zh-CN" altLang="en-US" sz="1500" u="sng" dirty="0">
                <a:solidFill>
                  <a:schemeClr val="hlink"/>
                </a:solidFill>
                <a:latin typeface="Microsoft YaHei" panose="020B0503020204020204" pitchFamily="34" charset="-122"/>
                <a:ea typeface="Microsoft YaHei" panose="020B0503020204020204" pitchFamily="34" charset="-122"/>
              </a:rPr>
              <a:t>代号，组装件代号</a:t>
            </a:r>
            <a:r>
              <a:rPr lang="zh-CN" altLang="en-US" sz="1500" dirty="0">
                <a:latin typeface="Microsoft YaHei" panose="020B0503020204020204" pitchFamily="34" charset="-122"/>
                <a:ea typeface="Microsoft YaHei" panose="020B0503020204020204" pitchFamily="34" charset="-122"/>
              </a:rPr>
              <a:t>，数量）</a:t>
            </a:r>
          </a:p>
        </p:txBody>
      </p:sp>
      <p:sp>
        <p:nvSpPr>
          <p:cNvPr id="56338" name="Rectangle 19"/>
          <p:cNvSpPr/>
          <p:nvPr/>
        </p:nvSpPr>
        <p:spPr>
          <a:xfrm>
            <a:off x="876894" y="1875014"/>
            <a:ext cx="2288382" cy="685800"/>
          </a:xfrm>
          <a:prstGeom prst="rect">
            <a:avLst/>
          </a:prstGeom>
          <a:noFill/>
          <a:ln w="9525">
            <a:noFill/>
          </a:ln>
        </p:spPr>
        <p:txBody>
          <a:bodyPr anchor="b" anchorCtr="0"/>
          <a:lstStyle/>
          <a:p>
            <a:r>
              <a:rPr lang="zh-CN" altLang="en-US" sz="2100" dirty="0">
                <a:solidFill>
                  <a:schemeClr val="tx2"/>
                </a:solidFill>
                <a:latin typeface="Microsoft YaHei" panose="020B0503020204020204" pitchFamily="34" charset="-122"/>
                <a:ea typeface="Microsoft YaHei" panose="020B0503020204020204" pitchFamily="34" charset="-122"/>
              </a:rPr>
              <a:t>自联系的m:n关系转换</a:t>
            </a:r>
          </a:p>
        </p:txBody>
      </p:sp>
      <p:sp>
        <p:nvSpPr>
          <p:cNvPr id="4" name="标题 3">
            <a:extLst>
              <a:ext uri="{FF2B5EF4-FFF2-40B4-BE49-F238E27FC236}">
                <a16:creationId xmlns:a16="http://schemas.microsoft.com/office/drawing/2014/main" id="{4915E210-CDEF-F496-48A2-EE4E5AC99D11}"/>
              </a:ext>
            </a:extLst>
          </p:cNvPr>
          <p:cNvSpPr>
            <a:spLocks noGrp="1"/>
          </p:cNvSpPr>
          <p:nvPr>
            <p:ph type="title"/>
          </p:nvPr>
        </p:nvSpPr>
        <p:spPr/>
        <p:txBody>
          <a:bodyPr/>
          <a:lstStyle/>
          <a:p>
            <a:r>
              <a:rPr lang="zh-CN" altLang="en-US" dirty="0"/>
              <a:t>逻辑结构设计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026">
                                            <p:txEl>
                                              <p:pRg st="0" end="0"/>
                                            </p:txEl>
                                          </p:spTgt>
                                        </p:tgtEl>
                                        <p:attrNameLst>
                                          <p:attrName>style.visibility</p:attrName>
                                        </p:attrNameLst>
                                      </p:cBhvr>
                                      <p:to>
                                        <p:strVal val="visible"/>
                                      </p:to>
                                    </p:set>
                                    <p:anim calcmode="lin" valueType="num">
                                      <p:cBhvr additive="base">
                                        <p:cTn id="7" dur="500" fill="hold"/>
                                        <p:tgtEl>
                                          <p:spTgt spid="4302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302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3026">
                                            <p:txEl>
                                              <p:pRg st="1" end="1"/>
                                            </p:txEl>
                                          </p:spTgt>
                                        </p:tgtEl>
                                        <p:attrNameLst>
                                          <p:attrName>style.visibility</p:attrName>
                                        </p:attrNameLst>
                                      </p:cBhvr>
                                      <p:to>
                                        <p:strVal val="visible"/>
                                      </p:to>
                                    </p:set>
                                    <p:anim calcmode="lin" valueType="num">
                                      <p:cBhvr additive="base">
                                        <p:cTn id="13" dur="500" fill="hold"/>
                                        <p:tgtEl>
                                          <p:spTgt spid="4302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302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26"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3"/>
          <p:cNvGrpSpPr/>
          <p:nvPr/>
        </p:nvGrpSpPr>
        <p:grpSpPr>
          <a:xfrm>
            <a:off x="4392559" y="1323213"/>
            <a:ext cx="4157663" cy="1200150"/>
            <a:chOff x="0" y="0"/>
            <a:chExt cx="3219" cy="1008"/>
          </a:xfrm>
        </p:grpSpPr>
        <p:sp>
          <p:nvSpPr>
            <p:cNvPr id="57347" name="AutoShape 4"/>
            <p:cNvSpPr/>
            <p:nvPr/>
          </p:nvSpPr>
          <p:spPr>
            <a:xfrm>
              <a:off x="1080" y="624"/>
              <a:ext cx="864" cy="384"/>
            </a:xfrm>
            <a:prstGeom prst="flowChartPredefinedProcess">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spcBef>
                  <a:spcPct val="50000"/>
                </a:spcBef>
              </a:pPr>
              <a:r>
                <a:rPr lang="zh-CN" altLang="en-US" sz="1350" dirty="0">
                  <a:latin typeface="Microsoft YaHei" panose="020B0503020204020204" pitchFamily="34" charset="-122"/>
                  <a:ea typeface="Microsoft YaHei" panose="020B0503020204020204" pitchFamily="34" charset="-122"/>
                </a:rPr>
                <a:t>机械师</a:t>
              </a:r>
            </a:p>
          </p:txBody>
        </p:sp>
        <p:sp>
          <p:nvSpPr>
            <p:cNvPr id="57348" name="Rectangle 5"/>
            <p:cNvSpPr/>
            <p:nvPr/>
          </p:nvSpPr>
          <p:spPr>
            <a:xfrm>
              <a:off x="963" y="0"/>
              <a:ext cx="576" cy="336"/>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spcBef>
                  <a:spcPct val="50000"/>
                </a:spcBef>
              </a:pPr>
              <a:r>
                <a:rPr lang="zh-CN" altLang="en-US" sz="1350" dirty="0">
                  <a:latin typeface="Microsoft YaHei" panose="020B0503020204020204" pitchFamily="34" charset="-122"/>
                  <a:ea typeface="Microsoft YaHei" panose="020B0503020204020204" pitchFamily="34" charset="-122"/>
                </a:rPr>
                <a:t>职工</a:t>
              </a:r>
            </a:p>
          </p:txBody>
        </p:sp>
        <p:sp>
          <p:nvSpPr>
            <p:cNvPr id="57349" name="AutoShape 6"/>
            <p:cNvSpPr/>
            <p:nvPr/>
          </p:nvSpPr>
          <p:spPr>
            <a:xfrm>
              <a:off x="0" y="624"/>
              <a:ext cx="864" cy="384"/>
            </a:xfrm>
            <a:prstGeom prst="flowChartPredefinedProcess">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spcBef>
                  <a:spcPct val="50000"/>
                </a:spcBef>
              </a:pPr>
              <a:r>
                <a:rPr lang="zh-CN" altLang="en-US" sz="1350" dirty="0">
                  <a:latin typeface="Microsoft YaHei" panose="020B0503020204020204" pitchFamily="34" charset="-122"/>
                  <a:ea typeface="Microsoft YaHei" panose="020B0503020204020204" pitchFamily="34" charset="-122"/>
                </a:rPr>
                <a:t>飞行员</a:t>
              </a:r>
            </a:p>
          </p:txBody>
        </p:sp>
        <p:grpSp>
          <p:nvGrpSpPr>
            <p:cNvPr id="57350" name="Group 7"/>
            <p:cNvGrpSpPr/>
            <p:nvPr/>
          </p:nvGrpSpPr>
          <p:grpSpPr>
            <a:xfrm>
              <a:off x="531" y="336"/>
              <a:ext cx="720" cy="288"/>
              <a:chOff x="0" y="0"/>
              <a:chExt cx="720" cy="288"/>
            </a:xfrm>
          </p:grpSpPr>
          <p:sp>
            <p:nvSpPr>
              <p:cNvPr id="57351" name="Line 8"/>
              <p:cNvSpPr/>
              <p:nvPr/>
            </p:nvSpPr>
            <p:spPr>
              <a:xfrm flipH="1">
                <a:off x="0" y="0"/>
                <a:ext cx="720" cy="28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7352" name="Oval 9"/>
              <p:cNvSpPr/>
              <p:nvPr/>
            </p:nvSpPr>
            <p:spPr>
              <a:xfrm>
                <a:off x="336" y="96"/>
                <a:ext cx="48" cy="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grpSp>
        <p:grpSp>
          <p:nvGrpSpPr>
            <p:cNvPr id="57353" name="Group 10"/>
            <p:cNvGrpSpPr/>
            <p:nvPr/>
          </p:nvGrpSpPr>
          <p:grpSpPr>
            <a:xfrm>
              <a:off x="1197" y="336"/>
              <a:ext cx="384" cy="288"/>
              <a:chOff x="0" y="0"/>
              <a:chExt cx="384" cy="288"/>
            </a:xfrm>
          </p:grpSpPr>
          <p:sp>
            <p:nvSpPr>
              <p:cNvPr id="57354" name="Line 11"/>
              <p:cNvSpPr/>
              <p:nvPr/>
            </p:nvSpPr>
            <p:spPr>
              <a:xfrm>
                <a:off x="0" y="0"/>
                <a:ext cx="384" cy="28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7355" name="Oval 12"/>
              <p:cNvSpPr/>
              <p:nvPr/>
            </p:nvSpPr>
            <p:spPr>
              <a:xfrm>
                <a:off x="192" y="144"/>
                <a:ext cx="48" cy="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grpSp>
        <p:sp>
          <p:nvSpPr>
            <p:cNvPr id="57356" name="AutoShape 13"/>
            <p:cNvSpPr/>
            <p:nvPr/>
          </p:nvSpPr>
          <p:spPr>
            <a:xfrm>
              <a:off x="2073" y="624"/>
              <a:ext cx="1146" cy="384"/>
            </a:xfrm>
            <a:prstGeom prst="flowChartPredefinedProcess">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eaLnBrk="0" hangingPunct="0">
                <a:spcBef>
                  <a:spcPct val="50000"/>
                </a:spcBef>
              </a:pPr>
              <a:r>
                <a:rPr lang="zh-CN" altLang="en-US" sz="1350" dirty="0">
                  <a:latin typeface="Microsoft YaHei" panose="020B0503020204020204" pitchFamily="34" charset="-122"/>
                  <a:ea typeface="Microsoft YaHei" panose="020B0503020204020204" pitchFamily="34" charset="-122"/>
                </a:rPr>
                <a:t>管理人员</a:t>
              </a:r>
            </a:p>
          </p:txBody>
        </p:sp>
        <p:grpSp>
          <p:nvGrpSpPr>
            <p:cNvPr id="57357" name="Group 14"/>
            <p:cNvGrpSpPr/>
            <p:nvPr/>
          </p:nvGrpSpPr>
          <p:grpSpPr>
            <a:xfrm>
              <a:off x="1251" y="336"/>
              <a:ext cx="1104" cy="288"/>
              <a:chOff x="0" y="0"/>
              <a:chExt cx="1104" cy="288"/>
            </a:xfrm>
          </p:grpSpPr>
          <p:sp>
            <p:nvSpPr>
              <p:cNvPr id="57358" name="Line 15"/>
              <p:cNvSpPr/>
              <p:nvPr/>
            </p:nvSpPr>
            <p:spPr>
              <a:xfrm>
                <a:off x="0" y="0"/>
                <a:ext cx="1104" cy="288"/>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7359" name="Oval 16"/>
              <p:cNvSpPr/>
              <p:nvPr/>
            </p:nvSpPr>
            <p:spPr>
              <a:xfrm>
                <a:off x="432" y="96"/>
                <a:ext cx="48" cy="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grpSp>
      </p:grpSp>
      <p:sp>
        <p:nvSpPr>
          <p:cNvPr id="57360" name="Text Box 17"/>
          <p:cNvSpPr txBox="1"/>
          <p:nvPr/>
        </p:nvSpPr>
        <p:spPr>
          <a:xfrm>
            <a:off x="1204025" y="2729783"/>
            <a:ext cx="6343650" cy="1361911"/>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职工（</a:t>
            </a:r>
            <a:r>
              <a:rPr lang="zh-CN" altLang="en-US" sz="1500" u="sng" dirty="0">
                <a:solidFill>
                  <a:schemeClr val="hlink"/>
                </a:solidFill>
                <a:latin typeface="Microsoft YaHei" panose="020B0503020204020204" pitchFamily="34" charset="-122"/>
                <a:ea typeface="Microsoft YaHei" panose="020B0503020204020204" pitchFamily="34" charset="-122"/>
              </a:rPr>
              <a:t>职工号</a:t>
            </a:r>
            <a:r>
              <a:rPr lang="zh-CN" altLang="en-US" sz="1500" dirty="0">
                <a:latin typeface="Microsoft YaHei" panose="020B0503020204020204" pitchFamily="34" charset="-122"/>
                <a:ea typeface="Microsoft YaHei" panose="020B0503020204020204" pitchFamily="34" charset="-122"/>
              </a:rPr>
              <a:t>，姓名，性别，年龄，参加工作时间）</a:t>
            </a:r>
          </a:p>
          <a:p>
            <a:pPr>
              <a:spcBef>
                <a:spcPct val="50000"/>
              </a:spcBef>
            </a:pPr>
            <a:r>
              <a:rPr lang="zh-CN" altLang="en-US" sz="1500" dirty="0">
                <a:latin typeface="Microsoft YaHei" panose="020B0503020204020204" pitchFamily="34" charset="-122"/>
                <a:ea typeface="Microsoft YaHei" panose="020B0503020204020204" pitchFamily="34" charset="-122"/>
              </a:rPr>
              <a:t>飞行员（</a:t>
            </a:r>
            <a:r>
              <a:rPr lang="zh-CN" altLang="en-US" sz="1500" u="sng" dirty="0">
                <a:solidFill>
                  <a:schemeClr val="hlink"/>
                </a:solidFill>
                <a:latin typeface="Microsoft YaHei" panose="020B0503020204020204" pitchFamily="34" charset="-122"/>
                <a:ea typeface="Microsoft YaHei" panose="020B0503020204020204" pitchFamily="34" charset="-122"/>
              </a:rPr>
              <a:t>职工号</a:t>
            </a:r>
            <a:r>
              <a:rPr lang="zh-CN" altLang="en-US" sz="1500" dirty="0">
                <a:latin typeface="Microsoft YaHei" panose="020B0503020204020204" pitchFamily="34" charset="-122"/>
                <a:ea typeface="Microsoft YaHei" panose="020B0503020204020204" pitchFamily="34" charset="-122"/>
              </a:rPr>
              <a:t>，飞行时间，健康检查，飞机型号）</a:t>
            </a:r>
          </a:p>
          <a:p>
            <a:pPr>
              <a:spcBef>
                <a:spcPct val="50000"/>
              </a:spcBef>
            </a:pPr>
            <a:r>
              <a:rPr lang="zh-CN" altLang="en-US" sz="1500" dirty="0">
                <a:latin typeface="Microsoft YaHei" panose="020B0503020204020204" pitchFamily="34" charset="-122"/>
                <a:ea typeface="Microsoft YaHei" panose="020B0503020204020204" pitchFamily="34" charset="-122"/>
              </a:rPr>
              <a:t>机械师（</a:t>
            </a:r>
            <a:r>
              <a:rPr lang="zh-CN" altLang="en-US" sz="1500" u="sng" dirty="0">
                <a:solidFill>
                  <a:schemeClr val="hlink"/>
                </a:solidFill>
                <a:latin typeface="Microsoft YaHei" panose="020B0503020204020204" pitchFamily="34" charset="-122"/>
                <a:ea typeface="Microsoft YaHei" panose="020B0503020204020204" pitchFamily="34" charset="-122"/>
              </a:rPr>
              <a:t>职工号</a:t>
            </a:r>
            <a:r>
              <a:rPr lang="zh-CN" altLang="en-US" sz="1500" dirty="0">
                <a:latin typeface="Microsoft YaHei" panose="020B0503020204020204" pitchFamily="34" charset="-122"/>
                <a:ea typeface="Microsoft YaHei" panose="020B0503020204020204" pitchFamily="34" charset="-122"/>
              </a:rPr>
              <a:t>，学历，级别，专业职称）</a:t>
            </a:r>
          </a:p>
          <a:p>
            <a:pPr>
              <a:spcBef>
                <a:spcPct val="50000"/>
              </a:spcBef>
            </a:pPr>
            <a:r>
              <a:rPr lang="zh-CN" altLang="en-US" sz="1500" dirty="0">
                <a:latin typeface="Microsoft YaHei" panose="020B0503020204020204" pitchFamily="34" charset="-122"/>
                <a:ea typeface="Microsoft YaHei" panose="020B0503020204020204" pitchFamily="34" charset="-122"/>
              </a:rPr>
              <a:t>管理人员（</a:t>
            </a:r>
            <a:r>
              <a:rPr lang="zh-CN" altLang="en-US" sz="1500" u="sng" dirty="0">
                <a:solidFill>
                  <a:schemeClr val="hlink"/>
                </a:solidFill>
                <a:latin typeface="Microsoft YaHei" panose="020B0503020204020204" pitchFamily="34" charset="-122"/>
                <a:ea typeface="Microsoft YaHei" panose="020B0503020204020204" pitchFamily="34" charset="-122"/>
              </a:rPr>
              <a:t>职工号</a:t>
            </a:r>
            <a:r>
              <a:rPr lang="zh-CN" altLang="en-US" sz="1500" dirty="0">
                <a:latin typeface="Microsoft YaHei" panose="020B0503020204020204" pitchFamily="34" charset="-122"/>
                <a:ea typeface="Microsoft YaHei" panose="020B0503020204020204" pitchFamily="34" charset="-122"/>
              </a:rPr>
              <a:t>，职务，职称）</a:t>
            </a:r>
          </a:p>
        </p:txBody>
      </p:sp>
      <p:sp>
        <p:nvSpPr>
          <p:cNvPr id="57361" name="Text Box 18"/>
          <p:cNvSpPr txBox="1"/>
          <p:nvPr/>
        </p:nvSpPr>
        <p:spPr>
          <a:xfrm>
            <a:off x="2794070" y="4166966"/>
            <a:ext cx="6286500" cy="553998"/>
          </a:xfrm>
          <a:prstGeom prst="rect">
            <a:avLst/>
          </a:prstGeom>
          <a:solidFill>
            <a:srgbClr val="FFCC99"/>
          </a:solid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注意：为查询方便，可在超类实体表中增加一个指示器属性，根据指示器的值直接查询子类实体表。</a:t>
            </a:r>
          </a:p>
        </p:txBody>
      </p:sp>
      <p:sp>
        <p:nvSpPr>
          <p:cNvPr id="57362" name="AutoShape 19"/>
          <p:cNvSpPr/>
          <p:nvPr/>
        </p:nvSpPr>
        <p:spPr>
          <a:xfrm>
            <a:off x="5998055" y="2680097"/>
            <a:ext cx="946672" cy="340519"/>
          </a:xfrm>
          <a:prstGeom prst="wedgeRoundRectCallout">
            <a:avLst>
              <a:gd name="adj1" fmla="val -92712"/>
              <a:gd name="adj2" fmla="val 12318"/>
              <a:gd name="adj3" fmla="val 16667"/>
            </a:avLst>
          </a:prstGeom>
          <a:noFill/>
          <a:ln w="9525" cap="flat" cmpd="sng">
            <a:solidFill>
              <a:schemeClr val="tx1"/>
            </a:solidFill>
            <a:prstDash val="solid"/>
            <a:miter/>
            <a:headEnd type="none" w="med" len="med"/>
            <a:tailEnd type="none" w="med" len="med"/>
          </a:ln>
        </p:spPr>
        <p:txBody>
          <a:bodyPr anchor="t" anchorCtr="0"/>
          <a:lstStyle/>
          <a:p>
            <a:pPr algn="ctr"/>
            <a:r>
              <a:rPr lang="en-US" altLang="zh-CN" sz="1500" dirty="0">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指示器</a:t>
            </a:r>
          </a:p>
        </p:txBody>
      </p:sp>
      <p:sp>
        <p:nvSpPr>
          <p:cNvPr id="57363" name="Rectangle 20"/>
          <p:cNvSpPr/>
          <p:nvPr/>
        </p:nvSpPr>
        <p:spPr>
          <a:xfrm>
            <a:off x="1209376" y="1723263"/>
            <a:ext cx="2129237" cy="457200"/>
          </a:xfrm>
          <a:prstGeom prst="rect">
            <a:avLst/>
          </a:prstGeom>
          <a:noFill/>
          <a:ln w="9525">
            <a:noFill/>
          </a:ln>
        </p:spPr>
        <p:txBody>
          <a:bodyPr anchor="b" anchorCtr="0"/>
          <a:lstStyle/>
          <a:p>
            <a:r>
              <a:rPr lang="zh-CN" altLang="en-US" sz="2100" dirty="0">
                <a:solidFill>
                  <a:schemeClr val="tx2"/>
                </a:solidFill>
                <a:latin typeface="Microsoft YaHei" panose="020B0503020204020204" pitchFamily="34" charset="-122"/>
                <a:ea typeface="Microsoft YaHei" panose="020B0503020204020204" pitchFamily="34" charset="-122"/>
              </a:rPr>
              <a:t>超</a:t>
            </a:r>
            <a:r>
              <a:rPr lang="en-US" altLang="zh-CN" sz="2100" dirty="0">
                <a:solidFill>
                  <a:schemeClr val="tx2"/>
                </a:solidFill>
                <a:latin typeface="Microsoft YaHei" panose="020B0503020204020204" pitchFamily="34" charset="-122"/>
                <a:ea typeface="Microsoft YaHei" panose="020B0503020204020204" pitchFamily="34" charset="-122"/>
              </a:rPr>
              <a:t>-</a:t>
            </a:r>
            <a:r>
              <a:rPr lang="zh-CN" altLang="en-US" sz="2100" dirty="0">
                <a:solidFill>
                  <a:schemeClr val="tx2"/>
                </a:solidFill>
                <a:latin typeface="Microsoft YaHei" panose="020B0503020204020204" pitchFamily="34" charset="-122"/>
                <a:ea typeface="Microsoft YaHei" panose="020B0503020204020204" pitchFamily="34" charset="-122"/>
              </a:rPr>
              <a:t>子关系转换</a:t>
            </a:r>
          </a:p>
        </p:txBody>
      </p:sp>
      <p:sp>
        <p:nvSpPr>
          <p:cNvPr id="4" name="标题 3">
            <a:extLst>
              <a:ext uri="{FF2B5EF4-FFF2-40B4-BE49-F238E27FC236}">
                <a16:creationId xmlns:a16="http://schemas.microsoft.com/office/drawing/2014/main" id="{28694F72-CFC6-A615-1DE7-106683A9BC47}"/>
              </a:ext>
            </a:extLst>
          </p:cNvPr>
          <p:cNvSpPr>
            <a:spLocks noGrp="1"/>
          </p:cNvSpPr>
          <p:nvPr>
            <p:ph type="title"/>
          </p:nvPr>
        </p:nvSpPr>
        <p:spPr/>
        <p:txBody>
          <a:bodyPr/>
          <a:lstStyle/>
          <a:p>
            <a:r>
              <a:rPr lang="zh-CN" altLang="en-US" dirty="0"/>
              <a:t>逻辑结构设计</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Text Box 3"/>
          <p:cNvSpPr txBox="1"/>
          <p:nvPr/>
        </p:nvSpPr>
        <p:spPr>
          <a:xfrm>
            <a:off x="1147803" y="3793412"/>
            <a:ext cx="7073504" cy="669414"/>
          </a:xfrm>
          <a:prstGeom prst="rect">
            <a:avLst/>
          </a:prstGeom>
          <a:noFill/>
          <a:ln w="9525">
            <a:noFill/>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职工（</a:t>
            </a:r>
            <a:r>
              <a:rPr lang="zh-CN" altLang="en-US" sz="1500" u="sng" dirty="0">
                <a:solidFill>
                  <a:schemeClr val="hlink"/>
                </a:solidFill>
                <a:latin typeface="Microsoft YaHei" panose="020B0503020204020204" pitchFamily="34" charset="-122"/>
                <a:ea typeface="Microsoft YaHei" panose="020B0503020204020204" pitchFamily="34" charset="-122"/>
              </a:rPr>
              <a:t>职工号</a:t>
            </a:r>
            <a:r>
              <a:rPr lang="zh-CN" altLang="en-US" sz="1500" dirty="0">
                <a:latin typeface="Microsoft YaHei" panose="020B0503020204020204" pitchFamily="34" charset="-122"/>
                <a:ea typeface="Microsoft YaHei" panose="020B0503020204020204" pitchFamily="34" charset="-122"/>
              </a:rPr>
              <a:t>，姓名，出生日期，省，市，邮政编码，街道号，街道名，楼栋号）</a:t>
            </a:r>
          </a:p>
          <a:p>
            <a:pPr>
              <a:spcBef>
                <a:spcPct val="50000"/>
              </a:spcBef>
            </a:pPr>
            <a:r>
              <a:rPr lang="zh-CN" altLang="en-US" sz="1500" dirty="0">
                <a:latin typeface="Microsoft YaHei" panose="020B0503020204020204" pitchFamily="34" charset="-122"/>
                <a:ea typeface="Microsoft YaHei" panose="020B0503020204020204" pitchFamily="34" charset="-122"/>
              </a:rPr>
              <a:t>职工电话（职工号，</a:t>
            </a:r>
            <a:r>
              <a:rPr lang="zh-CN" altLang="en-US" sz="1500" u="sng" dirty="0">
                <a:solidFill>
                  <a:schemeClr val="hlink"/>
                </a:solidFill>
                <a:latin typeface="Microsoft YaHei" panose="020B0503020204020204" pitchFamily="34" charset="-122"/>
                <a:ea typeface="Microsoft YaHei" panose="020B0503020204020204" pitchFamily="34" charset="-122"/>
              </a:rPr>
              <a:t>电话号码</a:t>
            </a:r>
            <a:r>
              <a:rPr lang="zh-CN" altLang="en-US" sz="1500" dirty="0">
                <a:latin typeface="Microsoft YaHei" panose="020B0503020204020204" pitchFamily="34" charset="-122"/>
                <a:ea typeface="Microsoft YaHei" panose="020B0503020204020204" pitchFamily="34" charset="-122"/>
              </a:rPr>
              <a:t>）</a:t>
            </a:r>
          </a:p>
        </p:txBody>
      </p:sp>
      <p:grpSp>
        <p:nvGrpSpPr>
          <p:cNvPr id="58371" name="Group 4"/>
          <p:cNvGrpSpPr/>
          <p:nvPr/>
        </p:nvGrpSpPr>
        <p:grpSpPr>
          <a:xfrm>
            <a:off x="3140909" y="1525272"/>
            <a:ext cx="4320779" cy="1983581"/>
            <a:chOff x="0" y="0"/>
            <a:chExt cx="6202" cy="3082"/>
          </a:xfrm>
          <a:noFill/>
        </p:grpSpPr>
        <p:sp>
          <p:nvSpPr>
            <p:cNvPr id="58372" name="Rectangle 5"/>
            <p:cNvSpPr/>
            <p:nvPr/>
          </p:nvSpPr>
          <p:spPr>
            <a:xfrm>
              <a:off x="1440" y="974"/>
              <a:ext cx="1020" cy="397"/>
            </a:xfrm>
            <a:prstGeom prst="rect">
              <a:avLst/>
            </a:prstGeom>
            <a:grpFill/>
            <a:ln w="12700" cap="flat" cmpd="sng">
              <a:solidFill>
                <a:srgbClr val="000000"/>
              </a:solidFill>
              <a:prstDash val="solid"/>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职   工 </a:t>
              </a:r>
            </a:p>
          </p:txBody>
        </p:sp>
        <p:sp>
          <p:nvSpPr>
            <p:cNvPr id="58373" name="AutoShape 6"/>
            <p:cNvSpPr/>
            <p:nvPr/>
          </p:nvSpPr>
          <p:spPr>
            <a:xfrm>
              <a:off x="1320" y="11"/>
              <a:ext cx="737" cy="454"/>
            </a:xfrm>
            <a:prstGeom prst="flowChartAlternateProcess">
              <a:avLst/>
            </a:prstGeom>
            <a:grpFill/>
            <a:ln w="12700" cap="flat" cmpd="sng">
              <a:solidFill>
                <a:srgbClr val="000000"/>
              </a:solidFill>
              <a:prstDash val="solid"/>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姓名</a:t>
              </a:r>
            </a:p>
          </p:txBody>
        </p:sp>
        <p:sp>
          <p:nvSpPr>
            <p:cNvPr id="58374" name="AutoShape 7"/>
            <p:cNvSpPr/>
            <p:nvPr/>
          </p:nvSpPr>
          <p:spPr>
            <a:xfrm>
              <a:off x="0" y="974"/>
              <a:ext cx="907" cy="454"/>
            </a:xfrm>
            <a:prstGeom prst="flowChartAlternateProcess">
              <a:avLst/>
            </a:prstGeom>
            <a:grpFill/>
            <a:ln w="12700" cap="flat" cmpd="sng">
              <a:solidFill>
                <a:srgbClr val="000000"/>
              </a:solidFill>
              <a:prstDash val="solid"/>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职工号</a:t>
              </a:r>
            </a:p>
          </p:txBody>
        </p:sp>
        <p:sp>
          <p:nvSpPr>
            <p:cNvPr id="58375" name="AutoShape 8"/>
            <p:cNvSpPr/>
            <p:nvPr/>
          </p:nvSpPr>
          <p:spPr>
            <a:xfrm>
              <a:off x="4065" y="1760"/>
              <a:ext cx="737" cy="454"/>
            </a:xfrm>
            <a:prstGeom prst="flowChartAlternateProcess">
              <a:avLst/>
            </a:prstGeom>
            <a:grpFill/>
            <a:ln w="12700" cap="flat" cmpd="sng">
              <a:solidFill>
                <a:srgbClr val="000000"/>
              </a:solidFill>
              <a:prstDash val="solid"/>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地址</a:t>
              </a:r>
            </a:p>
          </p:txBody>
        </p:sp>
        <p:sp>
          <p:nvSpPr>
            <p:cNvPr id="58376" name="AutoShape 9"/>
            <p:cNvSpPr/>
            <p:nvPr/>
          </p:nvSpPr>
          <p:spPr>
            <a:xfrm>
              <a:off x="5340" y="1573"/>
              <a:ext cx="737" cy="454"/>
            </a:xfrm>
            <a:prstGeom prst="flowChartAlternateProcess">
              <a:avLst/>
            </a:prstGeom>
            <a:grpFill/>
            <a:ln w="12700" cap="flat" cmpd="sng">
              <a:solidFill>
                <a:srgbClr val="000000"/>
              </a:solidFill>
              <a:prstDash val="solid"/>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省</a:t>
              </a:r>
            </a:p>
          </p:txBody>
        </p:sp>
        <p:sp>
          <p:nvSpPr>
            <p:cNvPr id="58377" name="AutoShape 10"/>
            <p:cNvSpPr/>
            <p:nvPr/>
          </p:nvSpPr>
          <p:spPr>
            <a:xfrm>
              <a:off x="3420" y="0"/>
              <a:ext cx="907" cy="454"/>
            </a:xfrm>
            <a:prstGeom prst="flowChartAlternateProcess">
              <a:avLst/>
            </a:prstGeom>
            <a:grpFill/>
            <a:ln w="12700" cap="flat" cmpd="sng">
              <a:solidFill>
                <a:srgbClr val="000000"/>
              </a:solidFill>
              <a:prstDash val="solid"/>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街道号</a:t>
              </a:r>
            </a:p>
          </p:txBody>
        </p:sp>
        <p:sp>
          <p:nvSpPr>
            <p:cNvPr id="58378" name="AutoShape 11"/>
            <p:cNvSpPr/>
            <p:nvPr/>
          </p:nvSpPr>
          <p:spPr>
            <a:xfrm>
              <a:off x="5295" y="832"/>
              <a:ext cx="907" cy="454"/>
            </a:xfrm>
            <a:prstGeom prst="flowChartAlternateProcess">
              <a:avLst/>
            </a:prstGeom>
            <a:grpFill/>
            <a:ln w="12700" cap="flat" cmpd="sng">
              <a:solidFill>
                <a:srgbClr val="000000"/>
              </a:solidFill>
              <a:prstDash val="solid"/>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楼栋号</a:t>
              </a:r>
            </a:p>
          </p:txBody>
        </p:sp>
        <p:sp>
          <p:nvSpPr>
            <p:cNvPr id="58379" name="AutoShape 12"/>
            <p:cNvSpPr/>
            <p:nvPr/>
          </p:nvSpPr>
          <p:spPr>
            <a:xfrm>
              <a:off x="2880" y="1917"/>
              <a:ext cx="737" cy="454"/>
            </a:xfrm>
            <a:prstGeom prst="flowChartAlternateProcess">
              <a:avLst/>
            </a:prstGeom>
            <a:grpFill/>
            <a:ln w="12700" cap="flat" cmpd="sng">
              <a:solidFill>
                <a:srgbClr val="000000"/>
              </a:solidFill>
              <a:prstDash val="dash"/>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年龄</a:t>
              </a:r>
            </a:p>
          </p:txBody>
        </p:sp>
        <p:sp>
          <p:nvSpPr>
            <p:cNvPr id="58380" name="AutoShape 13"/>
            <p:cNvSpPr/>
            <p:nvPr/>
          </p:nvSpPr>
          <p:spPr>
            <a:xfrm>
              <a:off x="4500" y="0"/>
              <a:ext cx="907" cy="454"/>
            </a:xfrm>
            <a:prstGeom prst="flowChartAlternateProcess">
              <a:avLst/>
            </a:prstGeom>
            <a:grpFill/>
            <a:ln w="12700" cap="flat" cmpd="sng">
              <a:solidFill>
                <a:srgbClr val="000000"/>
              </a:solidFill>
              <a:prstDash val="solid"/>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街道名</a:t>
              </a:r>
            </a:p>
          </p:txBody>
        </p:sp>
        <p:sp>
          <p:nvSpPr>
            <p:cNvPr id="58381" name="AutoShape 14"/>
            <p:cNvSpPr/>
            <p:nvPr/>
          </p:nvSpPr>
          <p:spPr>
            <a:xfrm>
              <a:off x="5355" y="2284"/>
              <a:ext cx="737" cy="454"/>
            </a:xfrm>
            <a:prstGeom prst="flowChartAlternateProcess">
              <a:avLst/>
            </a:prstGeom>
            <a:grpFill/>
            <a:ln w="12700" cap="flat" cmpd="sng">
              <a:solidFill>
                <a:srgbClr val="000000"/>
              </a:solidFill>
              <a:prstDash val="solid"/>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市</a:t>
              </a:r>
            </a:p>
          </p:txBody>
        </p:sp>
        <p:sp>
          <p:nvSpPr>
            <p:cNvPr id="58382" name="AutoShape 15"/>
            <p:cNvSpPr/>
            <p:nvPr/>
          </p:nvSpPr>
          <p:spPr>
            <a:xfrm>
              <a:off x="90" y="1924"/>
              <a:ext cx="1077" cy="454"/>
            </a:xfrm>
            <a:prstGeom prst="flowChartAlternateProcess">
              <a:avLst/>
            </a:prstGeom>
            <a:grpFill/>
            <a:ln w="38100" cap="flat" cmpd="dbl">
              <a:solidFill>
                <a:srgbClr val="000000"/>
              </a:solidFill>
              <a:prstDash val="solid"/>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电话号码</a:t>
              </a:r>
            </a:p>
          </p:txBody>
        </p:sp>
        <p:sp>
          <p:nvSpPr>
            <p:cNvPr id="58383" name="AutoShape 16"/>
            <p:cNvSpPr/>
            <p:nvPr/>
          </p:nvSpPr>
          <p:spPr>
            <a:xfrm>
              <a:off x="1440" y="1909"/>
              <a:ext cx="1077" cy="454"/>
            </a:xfrm>
            <a:prstGeom prst="flowChartAlternateProcess">
              <a:avLst/>
            </a:prstGeom>
            <a:grpFill/>
            <a:ln w="12700" cap="flat" cmpd="sng">
              <a:solidFill>
                <a:srgbClr val="000000"/>
              </a:solidFill>
              <a:prstDash val="solid"/>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出生日期</a:t>
              </a:r>
            </a:p>
          </p:txBody>
        </p:sp>
        <p:sp>
          <p:nvSpPr>
            <p:cNvPr id="58384" name="AutoShape 17"/>
            <p:cNvSpPr/>
            <p:nvPr/>
          </p:nvSpPr>
          <p:spPr>
            <a:xfrm>
              <a:off x="3870" y="2628"/>
              <a:ext cx="1077" cy="454"/>
            </a:xfrm>
            <a:prstGeom prst="flowChartAlternateProcess">
              <a:avLst/>
            </a:prstGeom>
            <a:grpFill/>
            <a:ln w="12700" cap="flat" cmpd="sng">
              <a:solidFill>
                <a:srgbClr val="000000"/>
              </a:solidFill>
              <a:prstDash val="solid"/>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邮政编码</a:t>
              </a:r>
            </a:p>
          </p:txBody>
        </p:sp>
        <p:sp>
          <p:nvSpPr>
            <p:cNvPr id="58385" name="AutoShape 18"/>
            <p:cNvSpPr/>
            <p:nvPr/>
          </p:nvSpPr>
          <p:spPr>
            <a:xfrm>
              <a:off x="4005" y="921"/>
              <a:ext cx="737" cy="454"/>
            </a:xfrm>
            <a:prstGeom prst="flowChartAlternateProcess">
              <a:avLst/>
            </a:prstGeom>
            <a:grpFill/>
            <a:ln w="12700" cap="flat" cmpd="sng">
              <a:solidFill>
                <a:srgbClr val="000000"/>
              </a:solidFill>
              <a:prstDash val="solid"/>
              <a:miter/>
              <a:headEnd type="none" w="med" len="med"/>
              <a:tailEnd type="none" w="med" len="med"/>
            </a:ln>
          </p:spPr>
          <p:txBody>
            <a:bodyPr lIns="13500" tIns="8100" rIns="13500" bIns="8100" anchor="t" anchorCtr="0"/>
            <a:lstStyle/>
            <a:p>
              <a:pPr algn="ctr"/>
              <a:r>
                <a:rPr lang="zh-CN" altLang="en-US" sz="1200" dirty="0">
                  <a:latin typeface="Microsoft YaHei" panose="020B0503020204020204" pitchFamily="34" charset="-122"/>
                  <a:ea typeface="Microsoft YaHei" panose="020B0503020204020204" pitchFamily="34" charset="-122"/>
                </a:rPr>
                <a:t>街道</a:t>
              </a:r>
            </a:p>
          </p:txBody>
        </p:sp>
        <p:sp>
          <p:nvSpPr>
            <p:cNvPr id="58386" name="Line 19"/>
            <p:cNvSpPr/>
            <p:nvPr/>
          </p:nvSpPr>
          <p:spPr>
            <a:xfrm>
              <a:off x="1617" y="450"/>
              <a:ext cx="180" cy="510"/>
            </a:xfrm>
            <a:prstGeom prst="line">
              <a:avLst/>
            </a:prstGeom>
            <a:grpFill/>
            <a:ln w="12700" cap="flat" cmpd="sng">
              <a:solidFill>
                <a:srgbClr val="000000"/>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8387" name="Line 20"/>
            <p:cNvSpPr/>
            <p:nvPr/>
          </p:nvSpPr>
          <p:spPr>
            <a:xfrm>
              <a:off x="912" y="1187"/>
              <a:ext cx="510" cy="0"/>
            </a:xfrm>
            <a:prstGeom prst="line">
              <a:avLst/>
            </a:prstGeom>
            <a:grpFill/>
            <a:ln w="12700" cap="flat" cmpd="sng">
              <a:solidFill>
                <a:srgbClr val="000000"/>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8388" name="Line 21"/>
            <p:cNvSpPr/>
            <p:nvPr/>
          </p:nvSpPr>
          <p:spPr>
            <a:xfrm flipH="1">
              <a:off x="720" y="1401"/>
              <a:ext cx="720" cy="510"/>
            </a:xfrm>
            <a:prstGeom prst="line">
              <a:avLst/>
            </a:prstGeom>
            <a:grpFill/>
            <a:ln w="12700" cap="flat" cmpd="sng">
              <a:solidFill>
                <a:srgbClr val="000000"/>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8389" name="Line 22"/>
            <p:cNvSpPr/>
            <p:nvPr/>
          </p:nvSpPr>
          <p:spPr>
            <a:xfrm>
              <a:off x="1800" y="1386"/>
              <a:ext cx="0" cy="510"/>
            </a:xfrm>
            <a:prstGeom prst="line">
              <a:avLst/>
            </a:prstGeom>
            <a:grpFill/>
            <a:ln w="12700" cap="flat" cmpd="sng">
              <a:solidFill>
                <a:srgbClr val="000000"/>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8390" name="Line 23"/>
            <p:cNvSpPr/>
            <p:nvPr/>
          </p:nvSpPr>
          <p:spPr>
            <a:xfrm>
              <a:off x="2190" y="1386"/>
              <a:ext cx="900" cy="510"/>
            </a:xfrm>
            <a:prstGeom prst="line">
              <a:avLst/>
            </a:prstGeom>
            <a:grpFill/>
            <a:ln w="12700" cap="flat" cmpd="sng">
              <a:solidFill>
                <a:srgbClr val="000000"/>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8391" name="Line 24"/>
            <p:cNvSpPr/>
            <p:nvPr/>
          </p:nvSpPr>
          <p:spPr>
            <a:xfrm>
              <a:off x="4395" y="1401"/>
              <a:ext cx="0" cy="340"/>
            </a:xfrm>
            <a:prstGeom prst="line">
              <a:avLst/>
            </a:prstGeom>
            <a:grpFill/>
            <a:ln w="12700" cap="flat" cmpd="sng">
              <a:solidFill>
                <a:srgbClr val="000000"/>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8392" name="Line 25"/>
            <p:cNvSpPr/>
            <p:nvPr/>
          </p:nvSpPr>
          <p:spPr>
            <a:xfrm>
              <a:off x="2460" y="1049"/>
              <a:ext cx="1620" cy="935"/>
            </a:xfrm>
            <a:prstGeom prst="line">
              <a:avLst/>
            </a:prstGeom>
            <a:grpFill/>
            <a:ln w="12700" cap="flat" cmpd="sng">
              <a:solidFill>
                <a:srgbClr val="000000"/>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8393" name="Line 26"/>
            <p:cNvSpPr/>
            <p:nvPr/>
          </p:nvSpPr>
          <p:spPr>
            <a:xfrm>
              <a:off x="3855" y="450"/>
              <a:ext cx="360" cy="454"/>
            </a:xfrm>
            <a:prstGeom prst="line">
              <a:avLst/>
            </a:prstGeom>
            <a:grpFill/>
            <a:ln w="12700" cap="flat" cmpd="sng">
              <a:solidFill>
                <a:srgbClr val="000000"/>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8394" name="Line 27"/>
            <p:cNvSpPr/>
            <p:nvPr/>
          </p:nvSpPr>
          <p:spPr>
            <a:xfrm flipH="1">
              <a:off x="4455" y="450"/>
              <a:ext cx="360" cy="454"/>
            </a:xfrm>
            <a:prstGeom prst="line">
              <a:avLst/>
            </a:prstGeom>
            <a:grpFill/>
            <a:ln w="12700" cap="flat" cmpd="sng">
              <a:solidFill>
                <a:srgbClr val="000000"/>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8395" name="Line 28"/>
            <p:cNvSpPr/>
            <p:nvPr/>
          </p:nvSpPr>
          <p:spPr>
            <a:xfrm>
              <a:off x="4755" y="1079"/>
              <a:ext cx="540" cy="0"/>
            </a:xfrm>
            <a:prstGeom prst="line">
              <a:avLst/>
            </a:prstGeom>
            <a:grpFill/>
            <a:ln w="12700" cap="flat" cmpd="sng">
              <a:solidFill>
                <a:srgbClr val="000000"/>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8396" name="Line 29"/>
            <p:cNvSpPr/>
            <p:nvPr/>
          </p:nvSpPr>
          <p:spPr>
            <a:xfrm flipV="1">
              <a:off x="4800" y="1678"/>
              <a:ext cx="540" cy="283"/>
            </a:xfrm>
            <a:prstGeom prst="line">
              <a:avLst/>
            </a:prstGeom>
            <a:grpFill/>
            <a:ln w="12700" cap="flat" cmpd="sng">
              <a:solidFill>
                <a:srgbClr val="000000"/>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8397" name="Line 30"/>
            <p:cNvSpPr/>
            <p:nvPr/>
          </p:nvSpPr>
          <p:spPr>
            <a:xfrm>
              <a:off x="4815" y="2090"/>
              <a:ext cx="539" cy="337"/>
            </a:xfrm>
            <a:prstGeom prst="line">
              <a:avLst/>
            </a:prstGeom>
            <a:grpFill/>
            <a:ln w="12700" cap="flat" cmpd="sng">
              <a:solidFill>
                <a:srgbClr val="000000"/>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8398" name="Line 31"/>
            <p:cNvSpPr/>
            <p:nvPr/>
          </p:nvSpPr>
          <p:spPr>
            <a:xfrm>
              <a:off x="4395" y="2240"/>
              <a:ext cx="0" cy="369"/>
            </a:xfrm>
            <a:prstGeom prst="line">
              <a:avLst/>
            </a:prstGeom>
            <a:grpFill/>
            <a:ln w="12700" cap="flat" cmpd="sng">
              <a:solidFill>
                <a:srgbClr val="000000"/>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58399" name="Rectangle 32"/>
          <p:cNvSpPr/>
          <p:nvPr/>
        </p:nvSpPr>
        <p:spPr>
          <a:xfrm>
            <a:off x="1114388" y="2417304"/>
            <a:ext cx="1420415" cy="745331"/>
          </a:xfrm>
          <a:prstGeom prst="rect">
            <a:avLst/>
          </a:prstGeom>
          <a:noFill/>
          <a:ln w="9525">
            <a:noFill/>
          </a:ln>
        </p:spPr>
        <p:txBody>
          <a:bodyPr anchor="b" anchorCtr="0"/>
          <a:lstStyle/>
          <a:p>
            <a:r>
              <a:rPr lang="zh-CN" altLang="en-US" sz="2100" dirty="0">
                <a:solidFill>
                  <a:schemeClr val="tx2"/>
                </a:solidFill>
                <a:latin typeface="Microsoft YaHei" panose="020B0503020204020204" pitchFamily="34" charset="-122"/>
                <a:ea typeface="Microsoft YaHei" panose="020B0503020204020204" pitchFamily="34" charset="-122"/>
              </a:rPr>
              <a:t> 多种属性</a:t>
            </a:r>
          </a:p>
          <a:p>
            <a:r>
              <a:rPr lang="zh-CN" altLang="en-US" sz="2100" dirty="0">
                <a:solidFill>
                  <a:schemeClr val="tx2"/>
                </a:solidFill>
                <a:latin typeface="Microsoft YaHei" panose="020B0503020204020204" pitchFamily="34" charset="-122"/>
                <a:ea typeface="Microsoft YaHei" panose="020B0503020204020204" pitchFamily="34" charset="-122"/>
              </a:rPr>
              <a:t> 的转换</a:t>
            </a:r>
          </a:p>
        </p:txBody>
      </p:sp>
      <p:sp>
        <p:nvSpPr>
          <p:cNvPr id="4" name="标题 3">
            <a:extLst>
              <a:ext uri="{FF2B5EF4-FFF2-40B4-BE49-F238E27FC236}">
                <a16:creationId xmlns:a16="http://schemas.microsoft.com/office/drawing/2014/main" id="{E7284CC7-BC9C-A215-E018-30080C059646}"/>
              </a:ext>
            </a:extLst>
          </p:cNvPr>
          <p:cNvSpPr>
            <a:spLocks noGrp="1"/>
          </p:cNvSpPr>
          <p:nvPr>
            <p:ph type="title"/>
          </p:nvPr>
        </p:nvSpPr>
        <p:spPr/>
        <p:txBody>
          <a:bodyPr/>
          <a:lstStyle/>
          <a:p>
            <a:r>
              <a:rPr lang="zh-CN" altLang="en-US" dirty="0"/>
              <a:t>逻辑结构设计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5059">
                                            <p:txEl>
                                              <p:pRg st="1" end="1"/>
                                            </p:txEl>
                                          </p:spTgt>
                                        </p:tgtEl>
                                        <p:attrNameLst>
                                          <p:attrName>style.visibility</p:attrName>
                                        </p:attrNameLst>
                                      </p:cBhvr>
                                      <p:to>
                                        <p:strVal val="visible"/>
                                      </p:to>
                                    </p:set>
                                    <p:anim calcmode="lin" valueType="num">
                                      <p:cBhvr additive="base">
                                        <p:cTn id="13" dur="500" fill="hold"/>
                                        <p:tgtEl>
                                          <p:spTgt spid="450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505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p:cNvSpPr>
          <p:nvPr>
            <p:ph idx="1"/>
          </p:nvPr>
        </p:nvSpPr>
        <p:spPr>
          <a:xfrm>
            <a:off x="187917" y="1253548"/>
            <a:ext cx="5468964" cy="3408735"/>
          </a:xfrm>
        </p:spPr>
        <p:txBody>
          <a:bodyPr vert="horz" wrap="square" lIns="68580" tIns="34290" rIns="68580" bIns="34290" rtlCol="0" anchor="t" anchorCtr="0">
            <a:normAutofit/>
          </a:bodyPr>
          <a:lstStyle/>
          <a:p>
            <a:pPr>
              <a:lnSpc>
                <a:spcPct val="100000"/>
              </a:lnSpc>
              <a:buSzPct val="60000"/>
              <a:buFont typeface="Wingdings" panose="05000000000000000000" pitchFamily="2" charset="2"/>
              <a:buNone/>
            </a:pPr>
            <a:r>
              <a:rPr lang="zh-CN" altLang="en-US" sz="1800" dirty="0">
                <a:solidFill>
                  <a:schemeClr val="folHlink"/>
                </a:solidFill>
              </a:rPr>
              <a:t>二、数据模型的优化</a:t>
            </a:r>
          </a:p>
          <a:p>
            <a:pPr>
              <a:lnSpc>
                <a:spcPct val="100000"/>
              </a:lnSpc>
              <a:buSzPct val="60000"/>
              <a:buFont typeface="Wingdings" panose="05000000000000000000" pitchFamily="2" charset="2"/>
              <a:buNone/>
            </a:pPr>
            <a:r>
              <a:rPr lang="zh-CN" altLang="en-US" sz="1800" dirty="0"/>
              <a:t>    </a:t>
            </a:r>
            <a:r>
              <a:rPr lang="en-US" altLang="zh-CN" sz="1800" dirty="0"/>
              <a:t>1) </a:t>
            </a:r>
            <a:r>
              <a:rPr lang="zh-CN" altLang="en-US" sz="1800" dirty="0"/>
              <a:t>分析数据依赖。</a:t>
            </a:r>
          </a:p>
          <a:p>
            <a:pPr>
              <a:lnSpc>
                <a:spcPct val="100000"/>
              </a:lnSpc>
              <a:buSzPct val="60000"/>
              <a:buFont typeface="Wingdings" panose="05000000000000000000" pitchFamily="2" charset="2"/>
              <a:buNone/>
            </a:pPr>
            <a:r>
              <a:rPr lang="zh-CN" altLang="en-US" sz="1800" dirty="0"/>
              <a:t>    </a:t>
            </a:r>
            <a:r>
              <a:rPr lang="en-US" altLang="zh-CN" sz="1800" dirty="0"/>
              <a:t>2) </a:t>
            </a:r>
            <a:r>
              <a:rPr lang="zh-CN" altLang="en-US" sz="1800" dirty="0"/>
              <a:t>对数据依赖进行极小化处理，消除冗余的联系。</a:t>
            </a:r>
          </a:p>
          <a:p>
            <a:pPr>
              <a:lnSpc>
                <a:spcPct val="100000"/>
              </a:lnSpc>
              <a:buSzPct val="60000"/>
              <a:buFont typeface="Wingdings" panose="05000000000000000000" pitchFamily="2" charset="2"/>
              <a:buNone/>
            </a:pPr>
            <a:r>
              <a:rPr lang="zh-CN" altLang="en-US" sz="1800" dirty="0"/>
              <a:t>    </a:t>
            </a:r>
            <a:r>
              <a:rPr lang="en-US" altLang="zh-CN" sz="1800" dirty="0"/>
              <a:t>3) </a:t>
            </a:r>
            <a:r>
              <a:rPr lang="zh-CN" altLang="en-US" sz="1800" dirty="0"/>
              <a:t>确定各关系模式的范式。</a:t>
            </a:r>
          </a:p>
          <a:p>
            <a:pPr>
              <a:lnSpc>
                <a:spcPct val="100000"/>
              </a:lnSpc>
              <a:buSzPct val="60000"/>
              <a:buFont typeface="Wingdings" panose="05000000000000000000" pitchFamily="2" charset="2"/>
              <a:buNone/>
            </a:pPr>
            <a:r>
              <a:rPr lang="zh-CN" altLang="en-US" sz="1800" dirty="0"/>
              <a:t>    </a:t>
            </a:r>
            <a:r>
              <a:rPr lang="en-US" altLang="zh-CN" sz="1800" dirty="0"/>
              <a:t>4) </a:t>
            </a:r>
            <a:r>
              <a:rPr lang="zh-CN" altLang="en-US" sz="1800" dirty="0"/>
              <a:t>按照处理要求，对某些模式进行合并或分解。    </a:t>
            </a:r>
          </a:p>
          <a:p>
            <a:pPr>
              <a:lnSpc>
                <a:spcPct val="100000"/>
              </a:lnSpc>
              <a:buSzPct val="60000"/>
              <a:buFont typeface="Wingdings" panose="05000000000000000000" pitchFamily="2" charset="2"/>
              <a:buNone/>
            </a:pPr>
            <a:r>
              <a:rPr lang="zh-CN" altLang="en-US" sz="1800" dirty="0"/>
              <a:t>    </a:t>
            </a:r>
            <a:r>
              <a:rPr lang="en-US" altLang="zh-CN" sz="1800" dirty="0"/>
              <a:t>5) </a:t>
            </a:r>
            <a:r>
              <a:rPr lang="zh-CN" altLang="en-US" sz="1800" dirty="0"/>
              <a:t>为提高效率和利用率，对关系模式进一步分解。</a:t>
            </a:r>
          </a:p>
          <a:p>
            <a:pPr lvl="1">
              <a:lnSpc>
                <a:spcPct val="100000"/>
              </a:lnSpc>
              <a:buSzPct val="60000"/>
            </a:pPr>
            <a:r>
              <a:rPr lang="zh-CN" altLang="en-US" dirty="0"/>
              <a:t>常用的两种分解方法：</a:t>
            </a:r>
          </a:p>
          <a:p>
            <a:pPr lvl="2" eaLnBrk="1" hangingPunct="1">
              <a:buClr>
                <a:schemeClr val="hlink"/>
              </a:buClr>
              <a:buSzPct val="80000"/>
              <a:buFont typeface="Wingdings" panose="05000000000000000000" pitchFamily="2" charset="2"/>
              <a:buChar char="v"/>
            </a:pPr>
            <a:r>
              <a:rPr lang="zh-CN" altLang="en-US" sz="1800" dirty="0">
                <a:solidFill>
                  <a:schemeClr val="hlink"/>
                </a:solidFill>
              </a:rPr>
              <a:t>垂直分解</a:t>
            </a:r>
          </a:p>
          <a:p>
            <a:pPr lvl="2" eaLnBrk="1" hangingPunct="1">
              <a:buClr>
                <a:schemeClr val="hlink"/>
              </a:buClr>
              <a:buSzPct val="80000"/>
              <a:buFont typeface="Wingdings" panose="05000000000000000000" pitchFamily="2" charset="2"/>
              <a:buChar char="v"/>
            </a:pPr>
            <a:r>
              <a:rPr lang="zh-CN" altLang="en-US" sz="1800" dirty="0">
                <a:solidFill>
                  <a:schemeClr val="hlink"/>
                </a:solidFill>
              </a:rPr>
              <a:t>水平分解</a:t>
            </a:r>
          </a:p>
        </p:txBody>
      </p:sp>
      <p:sp>
        <p:nvSpPr>
          <p:cNvPr id="59395" name="Rectangle 4"/>
          <p:cNvSpPr>
            <a:spLocks noGrp="1"/>
          </p:cNvSpPr>
          <p:nvPr>
            <p:ph sz="half" idx="4294967295"/>
          </p:nvPr>
        </p:nvSpPr>
        <p:spPr>
          <a:xfrm>
            <a:off x="6354790" y="947577"/>
            <a:ext cx="2448733" cy="1118296"/>
          </a:xfrm>
        </p:spPr>
        <p:txBody>
          <a:bodyPr vert="horz" wrap="square" lIns="68580" tIns="34290" rIns="68580" bIns="34290" rtlCol="0" anchor="t" anchorCtr="0">
            <a:noAutofit/>
          </a:bodyPr>
          <a:lstStyle/>
          <a:p>
            <a:pPr>
              <a:lnSpc>
                <a:spcPct val="100000"/>
              </a:lnSpc>
              <a:buSzPct val="60000"/>
              <a:buFont typeface="Wingdings" panose="05000000000000000000" pitchFamily="2" charset="2"/>
              <a:buNone/>
            </a:pPr>
            <a:r>
              <a:rPr lang="zh-CN" altLang="en-US" sz="1800" dirty="0">
                <a:solidFill>
                  <a:schemeClr val="folHlink"/>
                </a:solidFill>
              </a:rPr>
              <a:t>三 、设计用户子模式 </a:t>
            </a:r>
          </a:p>
          <a:p>
            <a:pPr>
              <a:lnSpc>
                <a:spcPct val="100000"/>
              </a:lnSpc>
              <a:buSzPct val="60000"/>
            </a:pPr>
            <a:r>
              <a:rPr lang="zh-CN" altLang="en-US" sz="1800" dirty="0"/>
              <a:t>考虑：系统的使用安全、简便、用户习惯</a:t>
            </a:r>
          </a:p>
        </p:txBody>
      </p:sp>
      <p:grpSp>
        <p:nvGrpSpPr>
          <p:cNvPr id="4" name="组合 3">
            <a:extLst>
              <a:ext uri="{FF2B5EF4-FFF2-40B4-BE49-F238E27FC236}">
                <a16:creationId xmlns:a16="http://schemas.microsoft.com/office/drawing/2014/main" id="{7722A1CC-43FB-A09D-987D-192F08BDE0BA}"/>
              </a:ext>
            </a:extLst>
          </p:cNvPr>
          <p:cNvGrpSpPr/>
          <p:nvPr/>
        </p:nvGrpSpPr>
        <p:grpSpPr>
          <a:xfrm>
            <a:off x="5733890" y="3308850"/>
            <a:ext cx="1600200" cy="1371600"/>
            <a:chOff x="5554690" y="3636775"/>
            <a:chExt cx="1600200" cy="1371600"/>
          </a:xfrm>
        </p:grpSpPr>
        <p:grpSp>
          <p:nvGrpSpPr>
            <p:cNvPr id="59399" name="Group 8"/>
            <p:cNvGrpSpPr/>
            <p:nvPr/>
          </p:nvGrpSpPr>
          <p:grpSpPr>
            <a:xfrm>
              <a:off x="5554690" y="3636775"/>
              <a:ext cx="1543050" cy="1371600"/>
              <a:chOff x="0" y="0"/>
              <a:chExt cx="1296" cy="1152"/>
            </a:xfrm>
          </p:grpSpPr>
          <p:sp>
            <p:nvSpPr>
              <p:cNvPr id="59400" name="Rectangle 9"/>
              <p:cNvSpPr/>
              <p:nvPr/>
            </p:nvSpPr>
            <p:spPr>
              <a:xfrm>
                <a:off x="0" y="288"/>
                <a:ext cx="1296" cy="864"/>
              </a:xfrm>
              <a:prstGeom prst="rect">
                <a:avLst/>
              </a:prstGeom>
              <a:solidFill>
                <a:srgbClr val="FFF1B5"/>
              </a:solidFill>
              <a:ln w="9525" cap="flat" cmpd="sng">
                <a:solidFill>
                  <a:schemeClr val="tx1"/>
                </a:solidFill>
                <a:prstDash val="solid"/>
                <a:miter/>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sp>
            <p:nvSpPr>
              <p:cNvPr id="59401" name="Text Box 10"/>
              <p:cNvSpPr txBox="1"/>
              <p:nvPr/>
            </p:nvSpPr>
            <p:spPr>
              <a:xfrm>
                <a:off x="48" y="0"/>
                <a:ext cx="432" cy="252"/>
              </a:xfrm>
              <a:prstGeom prst="rect">
                <a:avLst/>
              </a:prstGeom>
              <a:noFill/>
              <a:ln w="9525">
                <a:noFill/>
              </a:ln>
            </p:spPr>
            <p:txBody>
              <a:bodyPr anchor="t" anchorCtr="0">
                <a:spAutoFit/>
              </a:bodyPr>
              <a:lstStyle/>
              <a:p>
                <a:pPr>
                  <a:spcBef>
                    <a:spcPct val="50000"/>
                  </a:spcBef>
                </a:pPr>
                <a:r>
                  <a:rPr lang="en-US" altLang="zh-CN" sz="1350" dirty="0">
                    <a:latin typeface="Microsoft YaHei" panose="020B0503020204020204" pitchFamily="34" charset="-122"/>
                    <a:ea typeface="Microsoft YaHei" panose="020B0503020204020204" pitchFamily="34" charset="-122"/>
                  </a:rPr>
                  <a:t>R</a:t>
                </a:r>
              </a:p>
            </p:txBody>
          </p:sp>
        </p:grpSp>
        <p:grpSp>
          <p:nvGrpSpPr>
            <p:cNvPr id="59402" name="Group 11"/>
            <p:cNvGrpSpPr/>
            <p:nvPr/>
          </p:nvGrpSpPr>
          <p:grpSpPr>
            <a:xfrm>
              <a:off x="5554690" y="3636775"/>
              <a:ext cx="1600200" cy="1371600"/>
              <a:chOff x="0" y="0"/>
              <a:chExt cx="1344" cy="1152"/>
            </a:xfrm>
          </p:grpSpPr>
          <p:sp>
            <p:nvSpPr>
              <p:cNvPr id="59403" name="Text Box 12"/>
              <p:cNvSpPr txBox="1"/>
              <p:nvPr/>
            </p:nvSpPr>
            <p:spPr>
              <a:xfrm>
                <a:off x="0" y="0"/>
                <a:ext cx="1344" cy="252"/>
              </a:xfrm>
              <a:prstGeom prst="rect">
                <a:avLst/>
              </a:prstGeom>
              <a:solidFill>
                <a:schemeClr val="bg1"/>
              </a:solidFill>
              <a:ln w="9525">
                <a:noFill/>
              </a:ln>
            </p:spPr>
            <p:txBody>
              <a:bodyPr anchor="t" anchorCtr="0">
                <a:spAutoFit/>
              </a:bodyPr>
              <a:lstStyle/>
              <a:p>
                <a:pPr>
                  <a:spcBef>
                    <a:spcPct val="50000"/>
                  </a:spcBef>
                </a:pPr>
                <a:r>
                  <a:rPr lang="zh-CN" altLang="en-US" sz="1350" dirty="0">
                    <a:latin typeface="Microsoft YaHei" panose="020B0503020204020204" pitchFamily="34" charset="-122"/>
                    <a:ea typeface="Microsoft YaHei" panose="020B0503020204020204" pitchFamily="34" charset="-122"/>
                  </a:rPr>
                  <a:t>   </a:t>
                </a:r>
                <a:r>
                  <a:rPr lang="en-US" altLang="zh-CN" sz="1350" dirty="0">
                    <a:latin typeface="Microsoft YaHei" panose="020B0503020204020204" pitchFamily="34" charset="-122"/>
                    <a:ea typeface="Microsoft YaHei" panose="020B0503020204020204" pitchFamily="34" charset="-122"/>
                  </a:rPr>
                  <a:t>R1       R2</a:t>
                </a:r>
              </a:p>
            </p:txBody>
          </p:sp>
          <p:sp>
            <p:nvSpPr>
              <p:cNvPr id="59404" name="Line 13"/>
              <p:cNvSpPr/>
              <p:nvPr/>
            </p:nvSpPr>
            <p:spPr>
              <a:xfrm>
                <a:off x="672" y="288"/>
                <a:ext cx="0" cy="864"/>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59405" name="Rectangle 14"/>
            <p:cNvSpPr/>
            <p:nvPr/>
          </p:nvSpPr>
          <p:spPr>
            <a:xfrm>
              <a:off x="6240490" y="3979675"/>
              <a:ext cx="228600" cy="10287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p>
              <a:endParaRPr lang="zh-CN" altLang="en-US" sz="1350" dirty="0">
                <a:latin typeface="Microsoft YaHei" panose="020B0503020204020204" pitchFamily="34" charset="-122"/>
                <a:ea typeface="Microsoft YaHei" panose="020B0503020204020204" pitchFamily="34" charset="-122"/>
              </a:endParaRPr>
            </a:p>
          </p:txBody>
        </p:sp>
      </p:grpSp>
      <p:grpSp>
        <p:nvGrpSpPr>
          <p:cNvPr id="59406" name="Group 15"/>
          <p:cNvGrpSpPr/>
          <p:nvPr/>
        </p:nvGrpSpPr>
        <p:grpSpPr>
          <a:xfrm>
            <a:off x="7579156" y="2973095"/>
            <a:ext cx="1543050" cy="1771650"/>
            <a:chOff x="0" y="0"/>
            <a:chExt cx="1296" cy="1152"/>
          </a:xfrm>
        </p:grpSpPr>
        <p:sp>
          <p:nvSpPr>
            <p:cNvPr id="59407" name="Rectangle 16"/>
            <p:cNvSpPr/>
            <p:nvPr/>
          </p:nvSpPr>
          <p:spPr>
            <a:xfrm>
              <a:off x="0" y="288"/>
              <a:ext cx="1296" cy="864"/>
            </a:xfrm>
            <a:prstGeom prst="rect">
              <a:avLst/>
            </a:prstGeom>
            <a:solidFill>
              <a:srgbClr val="BFFFEE"/>
            </a:solidFill>
            <a:ln w="9525" cap="flat" cmpd="sng">
              <a:solidFill>
                <a:schemeClr val="tx1"/>
              </a:solidFill>
              <a:prstDash val="solid"/>
              <a:miter/>
              <a:headEnd type="none" w="med" len="med"/>
              <a:tailEnd type="none" w="med" len="med"/>
            </a:ln>
          </p:spPr>
          <p:txBody>
            <a:bodyPr wrap="none" anchor="ctr" anchorCtr="0"/>
            <a:lstStyle/>
            <a:p>
              <a:pPr algn="ctr"/>
              <a:endParaRPr lang="zh-CN" altLang="en-US" sz="1350" dirty="0">
                <a:latin typeface="Microsoft YaHei" panose="020B0503020204020204" pitchFamily="34" charset="-122"/>
                <a:ea typeface="Microsoft YaHei" panose="020B0503020204020204" pitchFamily="34" charset="-122"/>
              </a:endParaRPr>
            </a:p>
            <a:p>
              <a:pPr algn="ctr"/>
              <a:r>
                <a:rPr lang="en-US" altLang="zh-CN" sz="1350" dirty="0">
                  <a:latin typeface="Microsoft YaHei" panose="020B0503020204020204" pitchFamily="34" charset="-122"/>
                  <a:ea typeface="Microsoft YaHei" panose="020B0503020204020204" pitchFamily="34" charset="-122"/>
                </a:rPr>
                <a:t>r1</a:t>
              </a:r>
            </a:p>
            <a:p>
              <a:pPr algn="ctr"/>
              <a:endParaRPr lang="en-US" altLang="zh-CN" sz="1350" dirty="0">
                <a:latin typeface="Microsoft YaHei" panose="020B0503020204020204" pitchFamily="34" charset="-122"/>
                <a:ea typeface="Microsoft YaHei" panose="020B0503020204020204" pitchFamily="34" charset="-122"/>
              </a:endParaRPr>
            </a:p>
            <a:p>
              <a:pPr algn="ctr"/>
              <a:r>
                <a:rPr lang="en-US" altLang="zh-CN" sz="1350" dirty="0">
                  <a:latin typeface="Microsoft YaHei" panose="020B0503020204020204" pitchFamily="34" charset="-122"/>
                  <a:ea typeface="Microsoft YaHei" panose="020B0503020204020204" pitchFamily="34" charset="-122"/>
                </a:rPr>
                <a:t>r2</a:t>
              </a:r>
            </a:p>
            <a:p>
              <a:pPr algn="ctr"/>
              <a:endParaRPr lang="zh-CN" altLang="en-US" sz="1350" dirty="0">
                <a:latin typeface="Microsoft YaHei" panose="020B0503020204020204" pitchFamily="34" charset="-122"/>
                <a:ea typeface="Microsoft YaHei" panose="020B0503020204020204" pitchFamily="34" charset="-122"/>
              </a:endParaRPr>
            </a:p>
          </p:txBody>
        </p:sp>
        <p:sp>
          <p:nvSpPr>
            <p:cNvPr id="59408" name="Line 17"/>
            <p:cNvSpPr/>
            <p:nvPr/>
          </p:nvSpPr>
          <p:spPr>
            <a:xfrm>
              <a:off x="0" y="720"/>
              <a:ext cx="1296" cy="0"/>
            </a:xfrm>
            <a:prstGeom prst="line">
              <a:avLst/>
            </a:prstGeom>
            <a:ln w="9525" cap="flat" cmpd="sng">
              <a:solidFill>
                <a:schemeClr val="tx1"/>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59409" name="Text Box 18"/>
            <p:cNvSpPr txBox="1"/>
            <p:nvPr/>
          </p:nvSpPr>
          <p:spPr>
            <a:xfrm>
              <a:off x="48" y="0"/>
              <a:ext cx="288" cy="270"/>
            </a:xfrm>
            <a:prstGeom prst="rect">
              <a:avLst/>
            </a:prstGeom>
            <a:noFill/>
            <a:ln w="9525">
              <a:noFill/>
            </a:ln>
          </p:spPr>
          <p:txBody>
            <a:bodyPr anchor="t" anchorCtr="0">
              <a:spAutoFit/>
            </a:bodyPr>
            <a:lstStyle/>
            <a:p>
              <a:pPr>
                <a:spcBef>
                  <a:spcPct val="50000"/>
                </a:spcBef>
              </a:pPr>
              <a:r>
                <a:rPr lang="en-US" altLang="zh-CN" sz="2100" dirty="0">
                  <a:latin typeface="Microsoft YaHei" panose="020B0503020204020204" pitchFamily="34" charset="-122"/>
                  <a:ea typeface="Microsoft YaHei" panose="020B0503020204020204" pitchFamily="34" charset="-122"/>
                </a:rPr>
                <a:t>R</a:t>
              </a:r>
            </a:p>
          </p:txBody>
        </p:sp>
      </p:grpSp>
      <p:sp>
        <p:nvSpPr>
          <p:cNvPr id="3" name="标题 2">
            <a:extLst>
              <a:ext uri="{FF2B5EF4-FFF2-40B4-BE49-F238E27FC236}">
                <a16:creationId xmlns:a16="http://schemas.microsoft.com/office/drawing/2014/main" id="{20F2A593-328A-73B0-9C23-8F60ED538C16}"/>
              </a:ext>
            </a:extLst>
          </p:cNvPr>
          <p:cNvSpPr>
            <a:spLocks noGrp="1"/>
          </p:cNvSpPr>
          <p:nvPr>
            <p:ph type="title"/>
          </p:nvPr>
        </p:nvSpPr>
        <p:spPr/>
        <p:txBody>
          <a:bodyPr/>
          <a:lstStyle/>
          <a:p>
            <a:r>
              <a:rPr lang="zh-CN" altLang="en-US" dirty="0"/>
              <a:t>逻辑结构设计</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7840F-E8F3-AE62-2BA0-A07094E759F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340EDB3-B849-A762-D3D5-450FCE04D241}"/>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物理设计</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7487E227-BFE4-4E66-2D6E-A24BC9D81191}"/>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CDAA29D1-1DA2-1B61-E88F-107E8E4A7A44}"/>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E6863DE3-AF37-327F-7560-93DFBC0C09B3}"/>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2DF98313-B697-B326-ADFA-AFD1EEBAB9F0}"/>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3C2A6FCC-BF16-0229-040D-71DA8E6F9DDE}"/>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BE1DB27F-E620-EB17-9F33-E58AF882C163}"/>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0B8D6270-98DA-1E40-ED5D-0316F6A12DF2}"/>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7B7B77AA-F080-D425-41E3-C29B70A39B7C}"/>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2E1C2B86-FA01-D666-D4A2-C536F5830F18}"/>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8CCB6021-701A-53F6-20DC-39B34603F843}"/>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DC61E705-B1BC-E8B5-C84E-EF0D67D6C480}"/>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651C2CAC-C54D-DAB9-DEE5-9A00CC140E93}"/>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1746C622-564E-0914-3217-9AF4EEC46EAD}"/>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6C1601DF-705F-223F-9803-AD912DD1192A}"/>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0126D15C-B4A5-9F76-6045-A72A189118A2}"/>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5</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056743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403924" y="1341120"/>
            <a:ext cx="4563283" cy="3408735"/>
          </a:xfrm>
        </p:spPr>
        <p:txBody>
          <a:bodyPr vert="horz" wrap="square" lIns="68580" tIns="34290" rIns="68580" bIns="34290" numCol="1" rtlCol="0" anchor="t" anchorCtr="0" compatLnSpc="1">
            <a:normAutofit lnSpcReduction="10000"/>
          </a:bodyPr>
          <a:lstStyle/>
          <a:p>
            <a:pPr marL="257175" indent="-257175" defTabSz="685800" fontAlgn="base">
              <a:spcBef>
                <a:spcPct val="20000"/>
              </a:spcBef>
              <a:spcAft>
                <a:spcPct val="0"/>
              </a:spcAft>
              <a:buClr>
                <a:schemeClr val="folHlink"/>
              </a:buClr>
              <a:buSzPct val="60000"/>
              <a:buFont typeface="Wingdings" panose="05000000000000000000" pitchFamily="2" charset="2"/>
              <a:buChar char="n"/>
              <a:defRPr/>
            </a:pPr>
            <a:r>
              <a:rPr lang="zh-CN" altLang="en-US" sz="1800" kern="0" dirty="0">
                <a:solidFill>
                  <a:schemeClr val="hlink"/>
                </a:solidFill>
                <a:cs typeface="楷体" panose="02010609060101010101" pitchFamily="49" charset="-122"/>
              </a:rPr>
              <a:t>数据库物理设计：</a:t>
            </a:r>
          </a:p>
          <a:p>
            <a:pPr marL="257175" indent="-257175" defTabSz="685800" fontAlgn="base">
              <a:spcBef>
                <a:spcPct val="20000"/>
              </a:spcBef>
              <a:spcAft>
                <a:spcPct val="0"/>
              </a:spcAft>
              <a:buClr>
                <a:schemeClr val="folHlink"/>
              </a:buClr>
              <a:buSzPct val="60000"/>
              <a:buFont typeface="Wingdings" panose="05000000000000000000" pitchFamily="2" charset="2"/>
              <a:buChar char="n"/>
              <a:defRPr/>
            </a:pPr>
            <a:r>
              <a:rPr lang="zh-CN" altLang="en-US" sz="1800" kern="0" dirty="0">
                <a:cs typeface="楷体" panose="02010609060101010101" pitchFamily="49" charset="-122"/>
              </a:rPr>
              <a:t>为给定的数据模型选取一个最适合应用要求的物理结构的过程。</a:t>
            </a:r>
          </a:p>
          <a:p>
            <a:pPr marL="257175" indent="-257175" defTabSz="685800" fontAlgn="base">
              <a:spcBef>
                <a:spcPct val="20000"/>
              </a:spcBef>
              <a:spcAft>
                <a:spcPct val="0"/>
              </a:spcAft>
              <a:buClr>
                <a:schemeClr val="folHlink"/>
              </a:buClr>
              <a:buSzPct val="60000"/>
              <a:buFont typeface="Wingdings" panose="05000000000000000000" pitchFamily="2" charset="2"/>
              <a:buChar char="n"/>
              <a:defRPr/>
            </a:pPr>
            <a:r>
              <a:rPr lang="zh-CN" altLang="en-US" sz="1800" kern="0" dirty="0">
                <a:cs typeface="楷体" panose="02010609060101010101" pitchFamily="49" charset="-122"/>
              </a:rPr>
              <a:t>步骤：</a:t>
            </a:r>
          </a:p>
          <a:p>
            <a:pPr marL="557213" lvl="1" indent="-214313" defTabSz="685800" fontAlgn="base">
              <a:spcBef>
                <a:spcPct val="20000"/>
              </a:spcBef>
              <a:spcAft>
                <a:spcPct val="0"/>
              </a:spcAft>
              <a:buClr>
                <a:schemeClr val="folHlink"/>
              </a:buClr>
              <a:buSzPct val="60000"/>
              <a:buFont typeface="Wingdings" panose="05000000000000000000" pitchFamily="2" charset="2"/>
              <a:buChar char="n"/>
              <a:defRPr/>
            </a:pPr>
            <a:r>
              <a:rPr lang="zh-CN" altLang="en-US" sz="1800" kern="0" dirty="0">
                <a:cs typeface="楷体" panose="02010609060101010101" pitchFamily="49" charset="-122"/>
              </a:rPr>
              <a:t>确定</a:t>
            </a:r>
            <a:r>
              <a:rPr lang="en-US" altLang="zh-CN" sz="1800" kern="0" dirty="0">
                <a:cs typeface="楷体" panose="02010609060101010101" pitchFamily="49" charset="-122"/>
              </a:rPr>
              <a:t>DB</a:t>
            </a:r>
            <a:r>
              <a:rPr lang="zh-CN" altLang="en-US" sz="1800" kern="0" dirty="0">
                <a:cs typeface="楷体" panose="02010609060101010101" pitchFamily="49" charset="-122"/>
              </a:rPr>
              <a:t>的物理结构</a:t>
            </a:r>
          </a:p>
          <a:p>
            <a:pPr marL="557213" lvl="1" indent="-214313" defTabSz="685800" fontAlgn="base">
              <a:spcBef>
                <a:spcPct val="20000"/>
              </a:spcBef>
              <a:spcAft>
                <a:spcPct val="0"/>
              </a:spcAft>
              <a:buClr>
                <a:schemeClr val="folHlink"/>
              </a:buClr>
              <a:buSzPct val="60000"/>
              <a:buNone/>
              <a:defRPr/>
            </a:pPr>
            <a:r>
              <a:rPr lang="zh-CN" altLang="en-US" sz="1800" kern="0" dirty="0">
                <a:cs typeface="楷体" panose="02010609060101010101" pitchFamily="49" charset="-122"/>
              </a:rPr>
              <a:t>   </a:t>
            </a:r>
            <a:r>
              <a:rPr lang="en-US" altLang="zh-CN" sz="1800" kern="0" dirty="0">
                <a:cs typeface="楷体" panose="02010609060101010101" pitchFamily="49" charset="-122"/>
              </a:rPr>
              <a:t>(</a:t>
            </a:r>
            <a:r>
              <a:rPr lang="zh-CN" altLang="en-US" sz="1800" kern="0" dirty="0">
                <a:cs typeface="楷体" panose="02010609060101010101" pitchFamily="49" charset="-122"/>
              </a:rPr>
              <a:t>存取方法、存储结构</a:t>
            </a:r>
            <a:r>
              <a:rPr lang="en-US" altLang="zh-CN" sz="1800" kern="0" dirty="0">
                <a:cs typeface="楷体" panose="02010609060101010101" pitchFamily="49" charset="-122"/>
              </a:rPr>
              <a:t>)</a:t>
            </a:r>
          </a:p>
          <a:p>
            <a:pPr marL="557213" lvl="1" indent="-214313" defTabSz="685800" fontAlgn="base">
              <a:spcBef>
                <a:spcPct val="20000"/>
              </a:spcBef>
              <a:spcAft>
                <a:spcPct val="0"/>
              </a:spcAft>
              <a:buClr>
                <a:schemeClr val="folHlink"/>
              </a:buClr>
              <a:buSzPct val="60000"/>
              <a:buFont typeface="Wingdings" panose="05000000000000000000" pitchFamily="2" charset="2"/>
              <a:buChar char="n"/>
              <a:defRPr/>
            </a:pPr>
            <a:r>
              <a:rPr lang="zh-CN" altLang="en-US" sz="1800" kern="0" dirty="0">
                <a:cs typeface="楷体" panose="02010609060101010101" pitchFamily="49" charset="-122"/>
              </a:rPr>
              <a:t>评价结构的时、空效率</a:t>
            </a:r>
          </a:p>
          <a:p>
            <a:pPr marL="557213" lvl="1" indent="-214313" defTabSz="685800" fontAlgn="base">
              <a:spcBef>
                <a:spcPct val="20000"/>
              </a:spcBef>
              <a:spcAft>
                <a:spcPct val="0"/>
              </a:spcAft>
              <a:buClr>
                <a:schemeClr val="folHlink"/>
              </a:buClr>
              <a:buSzPct val="60000"/>
              <a:buNone/>
              <a:defRPr/>
            </a:pPr>
            <a:r>
              <a:rPr lang="zh-CN" altLang="en-US" sz="1800" kern="0" dirty="0">
                <a:cs typeface="楷体" panose="02010609060101010101" pitchFamily="49" charset="-122"/>
              </a:rPr>
              <a:t>   </a:t>
            </a:r>
            <a:r>
              <a:rPr lang="en-US" altLang="zh-CN" sz="1800" kern="0" dirty="0">
                <a:cs typeface="楷体" panose="02010609060101010101" pitchFamily="49" charset="-122"/>
              </a:rPr>
              <a:t>(</a:t>
            </a:r>
            <a:r>
              <a:rPr lang="zh-CN" altLang="en-US" sz="1800" kern="0" dirty="0">
                <a:cs typeface="楷体" panose="02010609060101010101" pitchFamily="49" charset="-122"/>
              </a:rPr>
              <a:t>取决于</a:t>
            </a:r>
            <a:r>
              <a:rPr lang="en-US" altLang="zh-CN" sz="1800" kern="0" dirty="0">
                <a:cs typeface="楷体" panose="02010609060101010101" pitchFamily="49" charset="-122"/>
              </a:rPr>
              <a:t>DBMS)</a:t>
            </a:r>
          </a:p>
          <a:p>
            <a:pPr marL="257175" indent="-257175" defTabSz="685800" fontAlgn="base">
              <a:spcBef>
                <a:spcPct val="20000"/>
              </a:spcBef>
              <a:spcAft>
                <a:spcPct val="0"/>
              </a:spcAft>
              <a:buClr>
                <a:schemeClr val="folHlink"/>
              </a:buClr>
              <a:buSzPct val="60000"/>
              <a:buFont typeface="Wingdings" panose="05000000000000000000" pitchFamily="2" charset="2"/>
              <a:buChar char="n"/>
              <a:defRPr/>
            </a:pPr>
            <a:r>
              <a:rPr lang="zh-CN" altLang="en-US" sz="1800" kern="0" dirty="0">
                <a:cs typeface="楷体" panose="02010609060101010101" pitchFamily="49" charset="-122"/>
              </a:rPr>
              <a:t>目标：</a:t>
            </a:r>
          </a:p>
          <a:p>
            <a:pPr marL="557213" lvl="1" indent="-214313" defTabSz="685800" fontAlgn="base">
              <a:spcBef>
                <a:spcPct val="20000"/>
              </a:spcBef>
              <a:spcAft>
                <a:spcPct val="0"/>
              </a:spcAft>
              <a:buClr>
                <a:schemeClr val="folHlink"/>
              </a:buClr>
              <a:buSzPct val="60000"/>
              <a:buFont typeface="Wingdings" panose="05000000000000000000" pitchFamily="2" charset="2"/>
              <a:buChar char="n"/>
              <a:defRPr/>
            </a:pPr>
            <a:r>
              <a:rPr lang="zh-CN" altLang="en-US" sz="1800" kern="0" dirty="0">
                <a:cs typeface="楷体" panose="02010609060101010101" pitchFamily="49" charset="-122"/>
              </a:rPr>
              <a:t>设计优化的物理</a:t>
            </a:r>
            <a:r>
              <a:rPr lang="en-US" altLang="zh-CN" sz="1800" kern="0" dirty="0">
                <a:cs typeface="楷体" panose="02010609060101010101" pitchFamily="49" charset="-122"/>
              </a:rPr>
              <a:t>DB</a:t>
            </a:r>
            <a:r>
              <a:rPr lang="zh-CN" altLang="en-US" sz="1800" kern="0" dirty="0">
                <a:cs typeface="楷体" panose="02010609060101010101" pitchFamily="49" charset="-122"/>
              </a:rPr>
              <a:t>结构，使得响应时间短、空间利用率高、事务吞吐率大。</a:t>
            </a:r>
          </a:p>
          <a:p>
            <a:pPr marL="257175" indent="-257175" defTabSz="685800" fontAlgn="base">
              <a:spcBef>
                <a:spcPct val="20000"/>
              </a:spcBef>
              <a:spcAft>
                <a:spcPct val="0"/>
              </a:spcAft>
              <a:buClr>
                <a:schemeClr val="folHlink"/>
              </a:buClr>
              <a:buSzPct val="60000"/>
              <a:buNone/>
              <a:defRPr/>
            </a:pPr>
            <a:r>
              <a:rPr lang="zh-CN" altLang="en-US" sz="1500" kern="0" dirty="0"/>
              <a:t>      </a:t>
            </a:r>
          </a:p>
        </p:txBody>
      </p:sp>
      <p:sp>
        <p:nvSpPr>
          <p:cNvPr id="60419" name="Rectangle 4"/>
          <p:cNvSpPr>
            <a:spLocks noGrp="1"/>
          </p:cNvSpPr>
          <p:nvPr>
            <p:ph sz="half" idx="4294967295"/>
          </p:nvPr>
        </p:nvSpPr>
        <p:spPr>
          <a:xfrm>
            <a:off x="5359508" y="2196263"/>
            <a:ext cx="3714750" cy="1698447"/>
          </a:xfrm>
        </p:spPr>
        <p:txBody>
          <a:bodyPr vert="horz" wrap="square" lIns="68580" tIns="34290" rIns="68580" bIns="34290" rtlCol="0" anchor="t" anchorCtr="0">
            <a:normAutofit/>
          </a:bodyPr>
          <a:lstStyle/>
          <a:p>
            <a:pPr eaLnBrk="1" hangingPunct="1">
              <a:buSzPct val="60000"/>
            </a:pPr>
            <a:r>
              <a:rPr lang="zh-CN" altLang="en-US" sz="1800" dirty="0">
                <a:solidFill>
                  <a:schemeClr val="folHlink"/>
                </a:solidFill>
              </a:rPr>
              <a:t>设计准备</a:t>
            </a:r>
            <a:r>
              <a:rPr lang="zh-CN" altLang="en-US" sz="1800" dirty="0"/>
              <a:t>：</a:t>
            </a:r>
          </a:p>
          <a:p>
            <a:pPr eaLnBrk="1" hangingPunct="1">
              <a:buSzPct val="60000"/>
            </a:pPr>
            <a:r>
              <a:rPr lang="en-US" altLang="zh-CN" sz="1800" dirty="0"/>
              <a:t>1</a:t>
            </a:r>
            <a:r>
              <a:rPr lang="zh-CN" altLang="en-US" sz="1800" dirty="0"/>
              <a:t>、分析数据特性和面向的应用。</a:t>
            </a:r>
          </a:p>
          <a:p>
            <a:pPr eaLnBrk="1" hangingPunct="1">
              <a:buSzPct val="60000"/>
            </a:pPr>
            <a:r>
              <a:rPr lang="en-US" altLang="zh-CN" sz="1800" dirty="0"/>
              <a:t>2</a:t>
            </a:r>
            <a:r>
              <a:rPr lang="zh-CN" altLang="en-US" sz="1800" dirty="0"/>
              <a:t>、了解</a:t>
            </a:r>
            <a:r>
              <a:rPr lang="en-US" altLang="zh-CN" sz="1800" dirty="0"/>
              <a:t>DBMS</a:t>
            </a:r>
            <a:r>
              <a:rPr lang="zh-CN" altLang="en-US" sz="1800" dirty="0"/>
              <a:t>的特性，特别是其索引机制和查询处理技术。</a:t>
            </a:r>
          </a:p>
        </p:txBody>
      </p:sp>
      <p:sp>
        <p:nvSpPr>
          <p:cNvPr id="3" name="标题 2">
            <a:extLst>
              <a:ext uri="{FF2B5EF4-FFF2-40B4-BE49-F238E27FC236}">
                <a16:creationId xmlns:a16="http://schemas.microsoft.com/office/drawing/2014/main" id="{9BA44432-C5CF-243D-C3C3-1A6C18031165}"/>
              </a:ext>
            </a:extLst>
          </p:cNvPr>
          <p:cNvSpPr>
            <a:spLocks noGrp="1"/>
          </p:cNvSpPr>
          <p:nvPr>
            <p:ph type="title"/>
          </p:nvPr>
        </p:nvSpPr>
        <p:spPr/>
        <p:txBody>
          <a:bodyPr/>
          <a:lstStyle/>
          <a:p>
            <a:r>
              <a:rPr lang="zh-CN" altLang="en-US" dirty="0"/>
              <a:t>物理设计</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p:cNvSpPr>
          <p:nvPr>
            <p:custDataLst>
              <p:tags r:id="rId1"/>
            </p:custDataLst>
          </p:nvPr>
        </p:nvSpPr>
        <p:spPr>
          <a:xfrm>
            <a:off x="369808" y="1253548"/>
            <a:ext cx="8404384" cy="3539425"/>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lnSpc>
                <a:spcPct val="120000"/>
              </a:lnSpc>
              <a:buNone/>
            </a:pPr>
            <a:r>
              <a:rPr lang="zh-CN" altLang="en-US" sz="1800" dirty="0">
                <a:solidFill>
                  <a:schemeClr val="folHlink"/>
                </a:solidFill>
                <a:latin typeface="Microsoft YaHei" panose="020B0503020204020204" pitchFamily="34" charset="-122"/>
                <a:ea typeface="Microsoft YaHei" panose="020B0503020204020204" pitchFamily="34" charset="-122"/>
              </a:rPr>
              <a:t>一、系统存储结构的设计</a:t>
            </a:r>
          </a:p>
          <a:p>
            <a:pPr eaLnBrk="1" hangingPunct="1">
              <a:lnSpc>
                <a:spcPct val="120000"/>
              </a:lnSpc>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1. </a:t>
            </a:r>
            <a:r>
              <a:rPr lang="zh-CN" altLang="en-US" sz="1800" dirty="0">
                <a:latin typeface="Microsoft YaHei" panose="020B0503020204020204" pitchFamily="34" charset="-122"/>
                <a:ea typeface="Microsoft YaHei" panose="020B0503020204020204" pitchFamily="34" charset="-122"/>
              </a:rPr>
              <a:t>确定数据的存放位置</a:t>
            </a:r>
          </a:p>
          <a:p>
            <a:pPr eaLnBrk="1" hangingPunct="1">
              <a:lnSpc>
                <a:spcPct val="120000"/>
              </a:lnSpc>
              <a:buNone/>
            </a:pPr>
            <a:r>
              <a:rPr lang="zh-CN" altLang="en-US" sz="1800" dirty="0">
                <a:latin typeface="Microsoft YaHei" panose="020B0503020204020204" pitchFamily="34" charset="-122"/>
                <a:ea typeface="Microsoft YaHei" panose="020B0503020204020204" pitchFamily="34" charset="-122"/>
              </a:rPr>
              <a:t>    </a:t>
            </a:r>
            <a:r>
              <a:rPr lang="zh-CN" altLang="en-US" sz="1800" dirty="0">
                <a:solidFill>
                  <a:srgbClr val="000000"/>
                </a:solidFill>
                <a:latin typeface="Microsoft YaHei" panose="020B0503020204020204" pitchFamily="34" charset="-122"/>
                <a:ea typeface="Microsoft YaHei" panose="020B0503020204020204" pitchFamily="34" charset="-122"/>
              </a:rPr>
              <a:t>①</a:t>
            </a:r>
            <a:r>
              <a:rPr lang="zh-CN" altLang="en-US" sz="1800" dirty="0">
                <a:latin typeface="Microsoft YaHei" panose="020B0503020204020204" pitchFamily="34" charset="-122"/>
                <a:ea typeface="Microsoft YaHei" panose="020B0503020204020204" pitchFamily="34" charset="-122"/>
              </a:rPr>
              <a:t> 将大表采用水平、垂直分解的方法存放在不同磁盘上。</a:t>
            </a:r>
          </a:p>
          <a:p>
            <a:pPr eaLnBrk="1" hangingPunct="1">
              <a:lnSpc>
                <a:spcPct val="120000"/>
              </a:lnSpc>
              <a:buNone/>
            </a:pPr>
            <a:r>
              <a:rPr lang="zh-CN" altLang="en-US" sz="1800" dirty="0">
                <a:latin typeface="Microsoft YaHei" panose="020B0503020204020204" pitchFamily="34" charset="-122"/>
                <a:ea typeface="Microsoft YaHei" panose="020B0503020204020204" pitchFamily="34" charset="-122"/>
              </a:rPr>
              <a:t>    </a:t>
            </a:r>
            <a:r>
              <a:rPr lang="zh-CN" altLang="en-US" sz="1800" dirty="0">
                <a:solidFill>
                  <a:srgbClr val="000000"/>
                </a:solidFill>
                <a:latin typeface="Microsoft YaHei" panose="020B0503020204020204" pitchFamily="34" charset="-122"/>
                <a:ea typeface="Microsoft YaHei" panose="020B0503020204020204" pitchFamily="34" charset="-122"/>
              </a:rPr>
              <a:t>②</a:t>
            </a:r>
            <a:r>
              <a:rPr lang="zh-CN" altLang="en-US" sz="1800" dirty="0">
                <a:latin typeface="Microsoft YaHei" panose="020B0503020204020204" pitchFamily="34" charset="-122"/>
                <a:ea typeface="Microsoft YaHei" panose="020B0503020204020204" pitchFamily="34" charset="-122"/>
              </a:rPr>
              <a:t> 经常访问的数据为热点数据。热点数据可分散到多个磁盘上。</a:t>
            </a:r>
          </a:p>
          <a:p>
            <a:pPr eaLnBrk="1" hangingPunct="1">
              <a:lnSpc>
                <a:spcPct val="120000"/>
              </a:lnSpc>
              <a:buNone/>
            </a:pPr>
            <a:r>
              <a:rPr lang="zh-CN" altLang="en-US" sz="1800" dirty="0">
                <a:latin typeface="Microsoft YaHei" panose="020B0503020204020204" pitchFamily="34" charset="-122"/>
                <a:ea typeface="Microsoft YaHei" panose="020B0503020204020204" pitchFamily="34" charset="-122"/>
              </a:rPr>
              <a:t>    </a:t>
            </a:r>
            <a:r>
              <a:rPr lang="zh-CN" altLang="en-US" sz="1800" dirty="0">
                <a:solidFill>
                  <a:srgbClr val="000000"/>
                </a:solidFill>
                <a:latin typeface="Microsoft YaHei" panose="020B0503020204020204" pitchFamily="34" charset="-122"/>
                <a:ea typeface="Microsoft YaHei" panose="020B0503020204020204" pitchFamily="34" charset="-122"/>
              </a:rPr>
              <a:t>③</a:t>
            </a:r>
            <a:r>
              <a:rPr lang="zh-CN" altLang="en-US" sz="1800" dirty="0">
                <a:latin typeface="Microsoft YaHei" panose="020B0503020204020204" pitchFamily="34" charset="-122"/>
                <a:ea typeface="Microsoft YaHei" panose="020B0503020204020204" pitchFamily="34" charset="-122"/>
              </a:rPr>
              <a:t> 常用的数据保存在高性能的外存上，而数据库备份、日志备份等可放在磁带上。</a:t>
            </a:r>
          </a:p>
          <a:p>
            <a:pPr eaLnBrk="1" hangingPunct="1">
              <a:lnSpc>
                <a:spcPct val="120000"/>
              </a:lnSpc>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2. </a:t>
            </a:r>
            <a:r>
              <a:rPr lang="zh-CN" altLang="en-US" sz="1800" dirty="0">
                <a:latin typeface="Microsoft YaHei" panose="020B0503020204020204" pitchFamily="34" charset="-122"/>
                <a:ea typeface="Microsoft YaHei" panose="020B0503020204020204" pitchFamily="34" charset="-122"/>
              </a:rPr>
              <a:t>确定系统的配置参数</a:t>
            </a:r>
            <a:r>
              <a:rPr lang="en-US" altLang="zh-CN" sz="1800"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用户数、缓冲区、时间片、数据库大小及对象数、装填因子等。</a:t>
            </a:r>
          </a:p>
          <a:p>
            <a:pPr eaLnBrk="1" hangingPunct="1">
              <a:lnSpc>
                <a:spcPct val="90000"/>
              </a:lnSpc>
              <a:buNone/>
            </a:pPr>
            <a:endParaRPr lang="zh-CN" altLang="en-US" sz="1800" dirty="0">
              <a:latin typeface="Microsoft YaHei" panose="020B0503020204020204" pitchFamily="34" charset="-122"/>
              <a:ea typeface="Microsoft YaHei" panose="020B0503020204020204" pitchFamily="34" charset="-122"/>
            </a:endParaRPr>
          </a:p>
          <a:p>
            <a:pPr eaLnBrk="1" hangingPunct="1">
              <a:lnSpc>
                <a:spcPct val="90000"/>
              </a:lnSpc>
              <a:buNone/>
            </a:pPr>
            <a:r>
              <a:rPr lang="zh-CN" altLang="en-US" sz="1800" dirty="0">
                <a:latin typeface="Microsoft YaHei" panose="020B0503020204020204" pitchFamily="34" charset="-122"/>
                <a:ea typeface="Microsoft YaHei" panose="020B0503020204020204" pitchFamily="34" charset="-122"/>
              </a:rPr>
              <a:t>      </a:t>
            </a:r>
          </a:p>
        </p:txBody>
      </p:sp>
      <p:sp>
        <p:nvSpPr>
          <p:cNvPr id="4" name="标题 3">
            <a:extLst>
              <a:ext uri="{FF2B5EF4-FFF2-40B4-BE49-F238E27FC236}">
                <a16:creationId xmlns:a16="http://schemas.microsoft.com/office/drawing/2014/main" id="{DB3F3408-09AB-784D-7E99-DC27988E760B}"/>
              </a:ext>
            </a:extLst>
          </p:cNvPr>
          <p:cNvSpPr>
            <a:spLocks noGrp="1"/>
          </p:cNvSpPr>
          <p:nvPr>
            <p:ph type="title"/>
          </p:nvPr>
        </p:nvSpPr>
        <p:spPr/>
        <p:txBody>
          <a:bodyPr/>
          <a:lstStyle/>
          <a:p>
            <a:r>
              <a:rPr lang="zh-CN" altLang="en-US" dirty="0"/>
              <a:t>物理设计</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p:cNvSpPr>
          <p:nvPr>
            <p:custDataLst>
              <p:tags r:id="rId1"/>
            </p:custDataLst>
          </p:nvPr>
        </p:nvSpPr>
        <p:spPr>
          <a:xfrm>
            <a:off x="188734" y="1409982"/>
            <a:ext cx="6858000" cy="3237208"/>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400050" indent="-400050" eaLnBrk="1" hangingPunct="1">
              <a:buNone/>
            </a:pPr>
            <a:r>
              <a:rPr lang="zh-CN" altLang="en-US" sz="2100" dirty="0">
                <a:solidFill>
                  <a:schemeClr val="folHlink"/>
                </a:solidFill>
                <a:latin typeface="Microsoft YaHei" panose="020B0503020204020204" pitchFamily="34" charset="-122"/>
                <a:ea typeface="Microsoft YaHei" panose="020B0503020204020204" pitchFamily="34" charset="-122"/>
              </a:rPr>
              <a:t>二、创建索引的考虑</a:t>
            </a:r>
          </a:p>
          <a:p>
            <a:pPr marL="400050" indent="-400050" eaLnBrk="1" hangingPunct="1">
              <a:buClr>
                <a:schemeClr val="tx1"/>
              </a:buClr>
              <a:buSzTx/>
              <a:buNone/>
            </a:pPr>
            <a:r>
              <a:rPr lang="zh-CN" altLang="en-US" sz="2100" dirty="0">
                <a:latin typeface="Microsoft YaHei" panose="020B0503020204020204" pitchFamily="34" charset="-122"/>
                <a:ea typeface="Microsoft YaHei" panose="020B0503020204020204" pitchFamily="34" charset="-122"/>
              </a:rPr>
              <a:t> 1、是否建索引？</a:t>
            </a:r>
          </a:p>
          <a:p>
            <a:pPr marL="400050" indent="-400050" eaLnBrk="1" hangingPunct="1">
              <a:buClr>
                <a:schemeClr val="tx1"/>
              </a:buClr>
              <a:buSzTx/>
              <a:buNone/>
            </a:pPr>
            <a:r>
              <a:rPr lang="zh-CN" altLang="en-US" sz="2100" dirty="0">
                <a:latin typeface="Microsoft YaHei" panose="020B0503020204020204" pitchFamily="34" charset="-122"/>
                <a:ea typeface="Microsoft YaHei" panose="020B0503020204020204" pitchFamily="34" charset="-122"/>
              </a:rPr>
              <a:t> 2、在哪建索引？</a:t>
            </a:r>
          </a:p>
          <a:p>
            <a:pPr marL="400050" indent="-400050" eaLnBrk="1" hangingPunct="1">
              <a:buClr>
                <a:schemeClr val="tx1"/>
              </a:buClr>
              <a:buSzTx/>
              <a:buNone/>
            </a:pPr>
            <a:r>
              <a:rPr lang="zh-CN" altLang="en-US" sz="2100" dirty="0">
                <a:latin typeface="Microsoft YaHei" panose="020B0503020204020204" pitchFamily="34" charset="-122"/>
                <a:ea typeface="Microsoft YaHei" panose="020B0503020204020204" pitchFamily="34" charset="-122"/>
              </a:rPr>
              <a:t> 3、是否聚簇？</a:t>
            </a:r>
          </a:p>
          <a:p>
            <a:pPr marL="400050" indent="-400050" eaLnBrk="1" hangingPunct="1">
              <a:buClr>
                <a:schemeClr val="tx1"/>
              </a:buClr>
              <a:buSzTx/>
              <a:buNone/>
            </a:pPr>
            <a:r>
              <a:rPr lang="zh-CN" altLang="en-US" sz="2100" dirty="0">
                <a:latin typeface="Microsoft YaHei" panose="020B0503020204020204" pitchFamily="34" charset="-122"/>
                <a:ea typeface="Microsoft YaHei" panose="020B0503020204020204" pitchFamily="34" charset="-122"/>
              </a:rPr>
              <a:t> 4、索引维护的代价</a:t>
            </a:r>
          </a:p>
          <a:p>
            <a:pPr marL="400050" indent="-400050" eaLnBrk="1" hangingPunct="1">
              <a:buClr>
                <a:schemeClr val="tx1"/>
              </a:buClr>
              <a:buSzTx/>
            </a:pPr>
            <a:endParaRPr lang="zh-CN" altLang="en-US" sz="2100" dirty="0">
              <a:latin typeface="Microsoft YaHei" panose="020B0503020204020204" pitchFamily="34" charset="-122"/>
              <a:ea typeface="Microsoft YaHei" panose="020B0503020204020204" pitchFamily="34" charset="-122"/>
            </a:endParaRPr>
          </a:p>
          <a:p>
            <a:pPr marL="400050" indent="-400050" eaLnBrk="1" hangingPunct="1"/>
            <a:endParaRPr lang="zh-CN" altLang="en-US" sz="2100" dirty="0">
              <a:latin typeface="Microsoft YaHei" panose="020B0503020204020204" pitchFamily="34" charset="-122"/>
              <a:ea typeface="Microsoft YaHei" panose="020B0503020204020204" pitchFamily="34" charset="-122"/>
            </a:endParaRPr>
          </a:p>
        </p:txBody>
      </p:sp>
      <p:sp>
        <p:nvSpPr>
          <p:cNvPr id="4" name="标题 3">
            <a:extLst>
              <a:ext uri="{FF2B5EF4-FFF2-40B4-BE49-F238E27FC236}">
                <a16:creationId xmlns:a16="http://schemas.microsoft.com/office/drawing/2014/main" id="{22FBA02D-3F60-5AB7-2976-104E03E89AA3}"/>
              </a:ext>
            </a:extLst>
          </p:cNvPr>
          <p:cNvSpPr>
            <a:spLocks noGrp="1"/>
          </p:cNvSpPr>
          <p:nvPr>
            <p:ph type="title"/>
          </p:nvPr>
        </p:nvSpPr>
        <p:spPr/>
        <p:txBody>
          <a:bodyPr/>
          <a:lstStyle/>
          <a:p>
            <a:r>
              <a:rPr lang="zh-CN" altLang="en-US" dirty="0"/>
              <a:t>物理设计</a:t>
            </a:r>
          </a:p>
        </p:txBody>
      </p:sp>
      <p:sp>
        <p:nvSpPr>
          <p:cNvPr id="2" name="Rectangle 3">
            <a:extLst>
              <a:ext uri="{FF2B5EF4-FFF2-40B4-BE49-F238E27FC236}">
                <a16:creationId xmlns:a16="http://schemas.microsoft.com/office/drawing/2014/main" id="{1219CCCF-385F-3B0E-B1F7-EABCE0D93D14}"/>
              </a:ext>
            </a:extLst>
          </p:cNvPr>
          <p:cNvSpPr txBox="1">
            <a:spLocks noChangeArrowheads="1"/>
          </p:cNvSpPr>
          <p:nvPr/>
        </p:nvSpPr>
        <p:spPr>
          <a:xfrm>
            <a:off x="2987316" y="866091"/>
            <a:ext cx="6156684" cy="388789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zh-CHS" altLang="en-US" sz="1800" dirty="0">
                <a:solidFill>
                  <a:schemeClr val="hlink"/>
                </a:solidFill>
                <a:latin typeface="Arial" panose="020B0604020202020204" pitchFamily="34" charset="0"/>
                <a:cs typeface="Arial" panose="020B0604020202020204" pitchFamily="34" charset="0"/>
              </a:rPr>
              <a:t>	目的</a:t>
            </a:r>
            <a:r>
              <a:rPr lang="zh-CHS" altLang="en-US" sz="1800" dirty="0">
                <a:latin typeface="Arial" panose="020B0604020202020204" pitchFamily="34" charset="0"/>
                <a:cs typeface="Arial" panose="020B0604020202020204" pitchFamily="34" charset="0"/>
              </a:rPr>
              <a:t>： 提供多种存取路径，加快查找速度。</a:t>
            </a:r>
          </a:p>
          <a:p>
            <a:pPr>
              <a:buFont typeface="Wingdings" pitchFamily="2" charset="2"/>
              <a:buNone/>
            </a:pPr>
            <a:r>
              <a:rPr lang="zh-CHS" altLang="en-US" sz="1800" dirty="0">
                <a:latin typeface="Arial" panose="020B0604020202020204" pitchFamily="34" charset="0"/>
                <a:cs typeface="Arial" panose="020B0604020202020204" pitchFamily="34" charset="0"/>
              </a:rPr>
              <a:t>	</a:t>
            </a:r>
            <a:r>
              <a:rPr lang="zh-CHS" altLang="en-US" sz="1800" dirty="0">
                <a:solidFill>
                  <a:srgbClr val="0000FF"/>
                </a:solidFill>
                <a:latin typeface="Arial" panose="020B0604020202020204" pitchFamily="34" charset="0"/>
                <a:cs typeface="Arial" panose="020B0604020202020204" pitchFamily="34" charset="0"/>
              </a:rPr>
              <a:t>例子：</a:t>
            </a:r>
            <a:r>
              <a:rPr lang="zh-CHS" altLang="en-US" sz="1800" dirty="0">
                <a:latin typeface="Arial" panose="020B0604020202020204" pitchFamily="34" charset="0"/>
                <a:cs typeface="Arial" panose="020B0604020202020204" pitchFamily="34" charset="0"/>
              </a:rPr>
              <a:t>从表中找出名称为“元组</a:t>
            </a:r>
            <a:r>
              <a:rPr lang="en-US" altLang="zh-CHS" sz="1800" dirty="0">
                <a:latin typeface="Arial" panose="020B0604020202020204" pitchFamily="34" charset="0"/>
                <a:cs typeface="Arial" panose="020B0604020202020204" pitchFamily="34" charset="0"/>
              </a:rPr>
              <a:t>3”</a:t>
            </a:r>
            <a:r>
              <a:rPr lang="zh-CHS" altLang="en-US" sz="1800" dirty="0">
                <a:latin typeface="Arial" panose="020B0604020202020204" pitchFamily="34" charset="0"/>
                <a:cs typeface="Arial" panose="020B0604020202020204" pitchFamily="34" charset="0"/>
              </a:rPr>
              <a:t>的元组</a:t>
            </a:r>
            <a:r>
              <a:rPr lang="zh-CHS" altLang="en-US" sz="1500" dirty="0">
                <a:latin typeface="Arial" panose="020B0604020202020204" pitchFamily="34" charset="0"/>
                <a:cs typeface="Arial" panose="020B0604020202020204" pitchFamily="34" charset="0"/>
              </a:rPr>
              <a:t> </a:t>
            </a:r>
          </a:p>
          <a:p>
            <a:pPr>
              <a:buFont typeface="Wingdings" pitchFamily="2" charset="2"/>
              <a:buNone/>
            </a:pPr>
            <a:endParaRPr lang="zh-CHS" altLang="en-US" sz="1500" dirty="0">
              <a:latin typeface="Arial" panose="020B0604020202020204" pitchFamily="34" charset="0"/>
              <a:cs typeface="Arial" panose="020B0604020202020204" pitchFamily="34" charset="0"/>
            </a:endParaRPr>
          </a:p>
          <a:p>
            <a:pPr>
              <a:buFont typeface="Wingdings" pitchFamily="2" charset="2"/>
              <a:buNone/>
            </a:pPr>
            <a:endParaRPr lang="zh-CHS" altLang="en-US" sz="1500" dirty="0">
              <a:latin typeface="Arial" panose="020B0604020202020204" pitchFamily="34" charset="0"/>
              <a:cs typeface="Arial" panose="020B0604020202020204" pitchFamily="34" charset="0"/>
            </a:endParaRPr>
          </a:p>
          <a:p>
            <a:pPr>
              <a:buFont typeface="Wingdings" pitchFamily="2" charset="2"/>
              <a:buNone/>
            </a:pPr>
            <a:endParaRPr lang="zh-CHS" altLang="en-US" sz="1500" dirty="0">
              <a:latin typeface="Arial" panose="020B0604020202020204" pitchFamily="34" charset="0"/>
              <a:cs typeface="Arial" panose="020B0604020202020204" pitchFamily="34" charset="0"/>
            </a:endParaRPr>
          </a:p>
          <a:p>
            <a:pPr>
              <a:buFont typeface="Wingdings" pitchFamily="2" charset="2"/>
              <a:buNone/>
            </a:pPr>
            <a:endParaRPr lang="zh-CHS" altLang="en-US" sz="1500" dirty="0">
              <a:latin typeface="Arial" panose="020B0604020202020204" pitchFamily="34" charset="0"/>
              <a:cs typeface="Arial" panose="020B0604020202020204" pitchFamily="34" charset="0"/>
            </a:endParaRPr>
          </a:p>
          <a:p>
            <a:pPr>
              <a:buFont typeface="Wingdings" pitchFamily="2" charset="2"/>
              <a:buNone/>
            </a:pPr>
            <a:endParaRPr lang="zh-CHS" altLang="en-US" sz="1500" dirty="0">
              <a:latin typeface="Arial" panose="020B0604020202020204" pitchFamily="34" charset="0"/>
              <a:cs typeface="Arial" panose="020B0604020202020204" pitchFamily="34" charset="0"/>
            </a:endParaRPr>
          </a:p>
          <a:p>
            <a:pPr>
              <a:buFont typeface="Wingdings" pitchFamily="2" charset="2"/>
              <a:buNone/>
            </a:pPr>
            <a:endParaRPr lang="zh-CHS" altLang="en-US" sz="1500" dirty="0">
              <a:latin typeface="Arial" panose="020B0604020202020204" pitchFamily="34" charset="0"/>
              <a:cs typeface="Arial" panose="020B0604020202020204" pitchFamily="34" charset="0"/>
            </a:endParaRPr>
          </a:p>
          <a:p>
            <a:pPr>
              <a:buFont typeface="Wingdings" pitchFamily="2" charset="2"/>
              <a:buNone/>
            </a:pPr>
            <a:endParaRPr lang="zh-CHS" altLang="en-US" sz="1500" dirty="0">
              <a:latin typeface="Arial" panose="020B0604020202020204" pitchFamily="34" charset="0"/>
              <a:cs typeface="Arial" panose="020B0604020202020204" pitchFamily="34" charset="0"/>
            </a:endParaRPr>
          </a:p>
          <a:p>
            <a:pPr>
              <a:buFont typeface="Wingdings" pitchFamily="2" charset="2"/>
              <a:buNone/>
            </a:pPr>
            <a:endParaRPr lang="zh-CHS" altLang="en-US" sz="1500" dirty="0">
              <a:latin typeface="Arial" panose="020B0604020202020204" pitchFamily="34" charset="0"/>
              <a:cs typeface="Arial" panose="020B0604020202020204" pitchFamily="34" charset="0"/>
            </a:endParaRPr>
          </a:p>
          <a:p>
            <a:pPr>
              <a:buFont typeface="Wingdings" pitchFamily="2" charset="2"/>
              <a:buNone/>
            </a:pPr>
            <a:endParaRPr lang="zh-CHS" altLang="en-US" sz="1500" dirty="0">
              <a:latin typeface="Arial" panose="020B0604020202020204" pitchFamily="34" charset="0"/>
              <a:cs typeface="Arial" panose="020B0604020202020204" pitchFamily="34" charset="0"/>
            </a:endParaRPr>
          </a:p>
          <a:p>
            <a:pPr>
              <a:buFont typeface="Wingdings" pitchFamily="2" charset="2"/>
              <a:buNone/>
            </a:pPr>
            <a:r>
              <a:rPr lang="zh-CHS" altLang="en-US" sz="1500" dirty="0">
                <a:latin typeface="Arial" panose="020B0604020202020204" pitchFamily="34" charset="0"/>
                <a:cs typeface="Arial" panose="020B0604020202020204" pitchFamily="34" charset="0"/>
              </a:rPr>
              <a:t>	</a:t>
            </a:r>
            <a:r>
              <a:rPr lang="zh-CHS" altLang="en-US" sz="1800" dirty="0">
                <a:solidFill>
                  <a:schemeClr val="hlink"/>
                </a:solidFill>
                <a:latin typeface="Arial" panose="020B0604020202020204" pitchFamily="34" charset="0"/>
                <a:cs typeface="Arial" panose="020B0604020202020204" pitchFamily="34" charset="0"/>
              </a:rPr>
              <a:t>没有索引：</a:t>
            </a:r>
            <a:r>
              <a:rPr lang="zh-CHS" altLang="en-US" sz="1800" dirty="0">
                <a:latin typeface="Arial" panose="020B0604020202020204" pitchFamily="34" charset="0"/>
                <a:cs typeface="Arial" panose="020B0604020202020204" pitchFamily="34" charset="0"/>
              </a:rPr>
              <a:t>需要遍历表中的元组来查找所有满足条件的元组</a:t>
            </a:r>
            <a:br>
              <a:rPr lang="zh-CHS" altLang="en-US" sz="1800" dirty="0">
                <a:latin typeface="Arial" panose="020B0604020202020204" pitchFamily="34" charset="0"/>
                <a:cs typeface="Arial" panose="020B0604020202020204" pitchFamily="34" charset="0"/>
              </a:rPr>
            </a:br>
            <a:r>
              <a:rPr lang="zh-CHS" altLang="en-US" sz="1800" dirty="0">
                <a:solidFill>
                  <a:schemeClr val="hlink"/>
                </a:solidFill>
                <a:latin typeface="Arial" panose="020B0604020202020204" pitchFamily="34" charset="0"/>
                <a:cs typeface="Arial" panose="020B0604020202020204" pitchFamily="34" charset="0"/>
              </a:rPr>
              <a:t>建有索引：</a:t>
            </a:r>
            <a:r>
              <a:rPr lang="zh-CHS" altLang="en-US" sz="1800" dirty="0">
                <a:latin typeface="Arial" panose="020B0604020202020204" pitchFamily="34" charset="0"/>
                <a:cs typeface="Arial" panose="020B0604020202020204" pitchFamily="34" charset="0"/>
              </a:rPr>
              <a:t>可以直接定位到满足条件的元组   </a:t>
            </a:r>
          </a:p>
        </p:txBody>
      </p:sp>
      <p:graphicFrame>
        <p:nvGraphicFramePr>
          <p:cNvPr id="3" name="Group 29">
            <a:extLst>
              <a:ext uri="{FF2B5EF4-FFF2-40B4-BE49-F238E27FC236}">
                <a16:creationId xmlns:a16="http://schemas.microsoft.com/office/drawing/2014/main" id="{76EB7566-EC9F-F098-97AF-5E92B804D8B7}"/>
              </a:ext>
            </a:extLst>
          </p:cNvPr>
          <p:cNvGraphicFramePr>
            <a:graphicFrameLocks/>
          </p:cNvGraphicFramePr>
          <p:nvPr>
            <p:extLst>
              <p:ext uri="{D42A27DB-BD31-4B8C-83A1-F6EECF244321}">
                <p14:modId xmlns:p14="http://schemas.microsoft.com/office/powerpoint/2010/main" val="302946987"/>
              </p:ext>
            </p:extLst>
          </p:nvPr>
        </p:nvGraphicFramePr>
        <p:xfrm>
          <a:off x="5417958" y="1838013"/>
          <a:ext cx="941785" cy="1828800"/>
        </p:xfrm>
        <a:graphic>
          <a:graphicData uri="http://schemas.openxmlformats.org/drawingml/2006/table">
            <a:tbl>
              <a:tblPr/>
              <a:tblGrid>
                <a:gridCol w="941785">
                  <a:extLst>
                    <a:ext uri="{9D8B030D-6E8A-4147-A177-3AD203B41FA5}">
                      <a16:colId xmlns:a16="http://schemas.microsoft.com/office/drawing/2014/main" val="20000"/>
                    </a:ext>
                  </a:extLst>
                </a:gridCol>
              </a:tblGrid>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HS" altLang="en-US" sz="1800" b="1" i="0" u="none" strike="noStrike" cap="none" normalizeH="0" baseline="0" dirty="0">
                          <a:ln>
                            <a:noFill/>
                          </a:ln>
                          <a:solidFill>
                            <a:schemeClr val="tx1"/>
                          </a:solidFill>
                          <a:effectLst/>
                          <a:latin typeface="Tahoma" pitchFamily="34" charset="0"/>
                          <a:ea typeface="宋体" pitchFamily="2" charset="-122"/>
                        </a:rPr>
                        <a:t>表</a:t>
                      </a:r>
                      <a:r>
                        <a:rPr kumimoji="0" lang="en-US" altLang="zh-CHS" sz="1800" b="1" i="0" u="none" strike="noStrike" cap="none" normalizeH="0" baseline="0" dirty="0">
                          <a:ln>
                            <a:noFill/>
                          </a:ln>
                          <a:solidFill>
                            <a:schemeClr val="tx1"/>
                          </a:solidFill>
                          <a:effectLst/>
                          <a:latin typeface="Tahoma" pitchFamily="34" charset="0"/>
                          <a:ea typeface="宋体" pitchFamily="2" charset="-122"/>
                        </a:rPr>
                        <a:t>A</a:t>
                      </a:r>
                    </a:p>
                  </a:txBody>
                  <a:tcPr marL="68580" marR="68580" marT="34290" marB="3429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718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HS" altLang="en-US" sz="1500" b="0" i="0" u="none" strike="noStrike" cap="none" normalizeH="0" baseline="0">
                          <a:ln>
                            <a:noFill/>
                          </a:ln>
                          <a:solidFill>
                            <a:schemeClr val="tx1"/>
                          </a:solidFill>
                          <a:effectLst/>
                          <a:latin typeface="Tahoma" pitchFamily="34" charset="0"/>
                          <a:ea typeface="宋体" pitchFamily="2" charset="-122"/>
                        </a:rPr>
                        <a:t>元组</a:t>
                      </a:r>
                      <a:r>
                        <a:rPr kumimoji="0" lang="en-US" altLang="zh-CHS" sz="1500" b="0" i="0" u="none" strike="noStrike" cap="none" normalizeH="0" baseline="0">
                          <a:ln>
                            <a:noFill/>
                          </a:ln>
                          <a:solidFill>
                            <a:schemeClr val="tx1"/>
                          </a:solidFill>
                          <a:effectLst/>
                          <a:latin typeface="Tahoma" pitchFamily="34" charset="0"/>
                          <a:ea typeface="宋体" pitchFamily="2" charset="-122"/>
                        </a:rPr>
                        <a:t>1</a:t>
                      </a:r>
                    </a:p>
                  </a:txBody>
                  <a:tcPr marL="68580" marR="68580" marT="34290" marB="3429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718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HS" altLang="en-US" sz="1500" b="0" i="0" u="none" strike="noStrike" cap="none" normalizeH="0" baseline="0">
                          <a:ln>
                            <a:noFill/>
                          </a:ln>
                          <a:solidFill>
                            <a:schemeClr val="tx1"/>
                          </a:solidFill>
                          <a:effectLst/>
                          <a:latin typeface="Tahoma" pitchFamily="34" charset="0"/>
                          <a:ea typeface="宋体" pitchFamily="2" charset="-122"/>
                        </a:rPr>
                        <a:t>元组</a:t>
                      </a:r>
                      <a:r>
                        <a:rPr kumimoji="0" lang="en-US" altLang="zh-CHS" sz="1500" b="0" i="0" u="none" strike="noStrike" cap="none" normalizeH="0" baseline="0">
                          <a:ln>
                            <a:noFill/>
                          </a:ln>
                          <a:solidFill>
                            <a:schemeClr val="tx1"/>
                          </a:solidFill>
                          <a:effectLst/>
                          <a:latin typeface="Tahoma" pitchFamily="34" charset="0"/>
                          <a:ea typeface="宋体" pitchFamily="2" charset="-122"/>
                        </a:rPr>
                        <a:t>2</a:t>
                      </a:r>
                    </a:p>
                  </a:txBody>
                  <a:tcPr marL="68580" marR="68580" marT="34290" marB="3429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718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HS" altLang="en-US" sz="1500" b="0" i="0" u="none" strike="noStrike" cap="none" normalizeH="0" baseline="0">
                          <a:ln>
                            <a:noFill/>
                          </a:ln>
                          <a:solidFill>
                            <a:schemeClr val="tx1"/>
                          </a:solidFill>
                          <a:effectLst/>
                          <a:latin typeface="Tahoma" pitchFamily="34" charset="0"/>
                          <a:ea typeface="宋体" pitchFamily="2" charset="-122"/>
                        </a:rPr>
                        <a:t>元组</a:t>
                      </a:r>
                      <a:r>
                        <a:rPr kumimoji="0" lang="en-US" altLang="zh-CHS" sz="1500" b="0" i="0" u="none" strike="noStrike" cap="none" normalizeH="0" baseline="0">
                          <a:ln>
                            <a:noFill/>
                          </a:ln>
                          <a:solidFill>
                            <a:schemeClr val="tx1"/>
                          </a:solidFill>
                          <a:effectLst/>
                          <a:latin typeface="Tahoma" pitchFamily="34" charset="0"/>
                          <a:ea typeface="宋体" pitchFamily="2" charset="-122"/>
                        </a:rPr>
                        <a:t>3</a:t>
                      </a:r>
                    </a:p>
                  </a:txBody>
                  <a:tcPr marL="68580" marR="68580" marT="34290" marB="3429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718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HS" sz="1500" b="0" i="0" u="none" strike="noStrike" cap="none" normalizeH="0" baseline="0">
                          <a:ln>
                            <a:noFill/>
                          </a:ln>
                          <a:solidFill>
                            <a:schemeClr val="tx1"/>
                          </a:solidFill>
                          <a:effectLst/>
                          <a:latin typeface="Tahoma" pitchFamily="34" charset="0"/>
                          <a:ea typeface="宋体" pitchFamily="2" charset="-122"/>
                        </a:rPr>
                        <a:t>......</a:t>
                      </a:r>
                    </a:p>
                  </a:txBody>
                  <a:tcPr marL="68580" marR="68580" marT="34290" marB="3429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718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HS" altLang="en-US" sz="1500" b="0" i="0" u="none" strike="noStrike" cap="none" normalizeH="0" baseline="0" dirty="0">
                          <a:ln>
                            <a:noFill/>
                          </a:ln>
                          <a:solidFill>
                            <a:schemeClr val="tx1"/>
                          </a:solidFill>
                          <a:effectLst/>
                          <a:latin typeface="Tahoma" pitchFamily="34" charset="0"/>
                          <a:ea typeface="宋体" pitchFamily="2" charset="-122"/>
                        </a:rPr>
                        <a:t>元组</a:t>
                      </a:r>
                      <a:r>
                        <a:rPr kumimoji="0" lang="en-US" altLang="zh-CN" sz="1500" b="0" i="0" u="none" strike="noStrike" cap="none" normalizeH="0" baseline="0" dirty="0">
                          <a:ln>
                            <a:noFill/>
                          </a:ln>
                          <a:solidFill>
                            <a:schemeClr val="tx1"/>
                          </a:solidFill>
                          <a:effectLst/>
                          <a:latin typeface="Tahoma" pitchFamily="34" charset="0"/>
                          <a:ea typeface="宋体" pitchFamily="2" charset="-122"/>
                        </a:rPr>
                        <a:t>3</a:t>
                      </a:r>
                      <a:endParaRPr kumimoji="0" lang="en-US" altLang="zh-CHS" sz="1500" b="0" i="0" u="none" strike="noStrike" cap="none" normalizeH="0" baseline="0" dirty="0">
                        <a:ln>
                          <a:noFill/>
                        </a:ln>
                        <a:solidFill>
                          <a:schemeClr val="tx1"/>
                        </a:solidFill>
                        <a:effectLst/>
                        <a:latin typeface="Tahoma" pitchFamily="34" charset="0"/>
                        <a:ea typeface="宋体" pitchFamily="2" charset="-122"/>
                      </a:endParaRPr>
                    </a:p>
                  </a:txBody>
                  <a:tcPr marL="68580" marR="68580" marT="34290" marB="3429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Text Box 30">
            <a:extLst>
              <a:ext uri="{FF2B5EF4-FFF2-40B4-BE49-F238E27FC236}">
                <a16:creationId xmlns:a16="http://schemas.microsoft.com/office/drawing/2014/main" id="{E8782DF7-24C0-03BC-BAFF-D73633C2F838}"/>
              </a:ext>
            </a:extLst>
          </p:cNvPr>
          <p:cNvSpPr txBox="1">
            <a:spLocks noChangeArrowheads="1"/>
          </p:cNvSpPr>
          <p:nvPr/>
        </p:nvSpPr>
        <p:spPr bwMode="auto">
          <a:xfrm>
            <a:off x="4336871" y="1514163"/>
            <a:ext cx="129659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rgbClr val="000099"/>
                </a:solidFill>
                <a:latin typeface="Times New Roman" pitchFamily="18" charset="0"/>
                <a:ea typeface="楷体_GB2312" pitchFamily="49" charset="-122"/>
              </a:defRPr>
            </a:lvl1pPr>
            <a:lvl2pPr marL="742950" indent="-285750" eaLnBrk="0" hangingPunct="0">
              <a:defRPr kumimoji="1" sz="2800" b="1">
                <a:solidFill>
                  <a:srgbClr val="000099"/>
                </a:solidFill>
                <a:latin typeface="Times New Roman" pitchFamily="18" charset="0"/>
                <a:ea typeface="楷体_GB2312" pitchFamily="49" charset="-122"/>
              </a:defRPr>
            </a:lvl2pPr>
            <a:lvl3pPr marL="1143000" indent="-228600" eaLnBrk="0" hangingPunct="0">
              <a:defRPr kumimoji="1" sz="2800" b="1">
                <a:solidFill>
                  <a:srgbClr val="000099"/>
                </a:solidFill>
                <a:latin typeface="Times New Roman" pitchFamily="18" charset="0"/>
                <a:ea typeface="楷体_GB2312" pitchFamily="49" charset="-122"/>
              </a:defRPr>
            </a:lvl3pPr>
            <a:lvl4pPr marL="1600200" indent="-228600" eaLnBrk="0" hangingPunct="0">
              <a:defRPr kumimoji="1" sz="2800" b="1">
                <a:solidFill>
                  <a:srgbClr val="000099"/>
                </a:solidFill>
                <a:latin typeface="Times New Roman" pitchFamily="18" charset="0"/>
                <a:ea typeface="楷体_GB2312" pitchFamily="49" charset="-122"/>
              </a:defRPr>
            </a:lvl4pPr>
            <a:lvl5pPr marL="2057400" indent="-228600" eaLnBrk="0" hangingPunct="0">
              <a:defRPr kumimoji="1" sz="2800" b="1">
                <a:solidFill>
                  <a:srgbClr val="000099"/>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rgbClr val="000099"/>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rgbClr val="000099"/>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rgbClr val="000099"/>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rgbClr val="000099"/>
                </a:solidFill>
                <a:latin typeface="Times New Roman" pitchFamily="18" charset="0"/>
                <a:ea typeface="楷体_GB2312" pitchFamily="49" charset="-122"/>
              </a:defRPr>
            </a:lvl9pPr>
          </a:lstStyle>
          <a:p>
            <a:pPr eaLnBrk="1" hangingPunct="1">
              <a:spcBef>
                <a:spcPct val="50000"/>
              </a:spcBef>
            </a:pPr>
            <a:r>
              <a:rPr lang="zh-CHS" altLang="en-US" sz="1500" b="0">
                <a:solidFill>
                  <a:srgbClr val="0000FF"/>
                </a:solidFill>
                <a:latin typeface="Arial" panose="020B0604020202020204" pitchFamily="34" charset="0"/>
                <a:ea typeface="宋体" charset="-122"/>
                <a:cs typeface="Arial" panose="020B0604020202020204" pitchFamily="34" charset="0"/>
              </a:rPr>
              <a:t>顺序扫描</a:t>
            </a:r>
          </a:p>
        </p:txBody>
      </p:sp>
      <p:sp>
        <p:nvSpPr>
          <p:cNvPr id="6" name="Line 31">
            <a:extLst>
              <a:ext uri="{FF2B5EF4-FFF2-40B4-BE49-F238E27FC236}">
                <a16:creationId xmlns:a16="http://schemas.microsoft.com/office/drawing/2014/main" id="{A9C4D4A2-B24A-DDC7-941C-9CF70D7769F5}"/>
              </a:ext>
            </a:extLst>
          </p:cNvPr>
          <p:cNvSpPr>
            <a:spLocks noChangeShapeType="1"/>
          </p:cNvSpPr>
          <p:nvPr/>
        </p:nvSpPr>
        <p:spPr bwMode="auto">
          <a:xfrm>
            <a:off x="4716681" y="2323788"/>
            <a:ext cx="539353"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lstStyle/>
          <a:p>
            <a:endParaRPr lang="zh-CHS" altLang="en-US" sz="1350">
              <a:latin typeface="Arial" panose="020B0604020202020204" pitchFamily="34" charset="0"/>
              <a:cs typeface="Arial" panose="020B0604020202020204" pitchFamily="34" charset="0"/>
            </a:endParaRPr>
          </a:p>
        </p:txBody>
      </p:sp>
      <p:sp>
        <p:nvSpPr>
          <p:cNvPr id="7" name="Line 33">
            <a:extLst>
              <a:ext uri="{FF2B5EF4-FFF2-40B4-BE49-F238E27FC236}">
                <a16:creationId xmlns:a16="http://schemas.microsoft.com/office/drawing/2014/main" id="{A8731B7A-171C-3397-9147-70A9FF57A979}"/>
              </a:ext>
            </a:extLst>
          </p:cNvPr>
          <p:cNvSpPr>
            <a:spLocks noChangeShapeType="1"/>
          </p:cNvSpPr>
          <p:nvPr/>
        </p:nvSpPr>
        <p:spPr bwMode="auto">
          <a:xfrm>
            <a:off x="4715490" y="2647638"/>
            <a:ext cx="540544"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lstStyle/>
          <a:p>
            <a:endParaRPr lang="zh-CHS" altLang="en-US" sz="1350">
              <a:latin typeface="Arial" panose="020B0604020202020204" pitchFamily="34" charset="0"/>
              <a:cs typeface="Arial" panose="020B0604020202020204" pitchFamily="34" charset="0"/>
            </a:endParaRPr>
          </a:p>
        </p:txBody>
      </p:sp>
      <p:sp>
        <p:nvSpPr>
          <p:cNvPr id="8" name="Line 34">
            <a:extLst>
              <a:ext uri="{FF2B5EF4-FFF2-40B4-BE49-F238E27FC236}">
                <a16:creationId xmlns:a16="http://schemas.microsoft.com/office/drawing/2014/main" id="{4C269A46-D185-9D94-FB6A-929FE1F73DCF}"/>
              </a:ext>
            </a:extLst>
          </p:cNvPr>
          <p:cNvSpPr>
            <a:spLocks noChangeShapeType="1"/>
          </p:cNvSpPr>
          <p:nvPr/>
        </p:nvSpPr>
        <p:spPr bwMode="auto">
          <a:xfrm>
            <a:off x="4715490" y="2917910"/>
            <a:ext cx="540544" cy="0"/>
          </a:xfrm>
          <a:prstGeom prst="line">
            <a:avLst/>
          </a:prstGeom>
          <a:noFill/>
          <a:ln w="38100">
            <a:solidFill>
              <a:schemeClr val="hlink"/>
            </a:solidFill>
            <a:round/>
            <a:headEnd/>
            <a:tailEnd type="triangle" w="med" len="med"/>
          </a:ln>
          <a:extLst>
            <a:ext uri="{909E8E84-426E-40dd-AFC4-6F175D3DCCD1}">
              <a14:hiddenFill xmlns="" xmlns:a14="http://schemas.microsoft.com/office/drawing/2010/main">
                <a:noFill/>
              </a14:hiddenFill>
            </a:ext>
          </a:extLst>
        </p:spPr>
        <p:txBody>
          <a:bodyPr wrap="none"/>
          <a:lstStyle/>
          <a:p>
            <a:endParaRPr lang="zh-CHS" altLang="en-US" sz="1350">
              <a:latin typeface="Arial" panose="020B0604020202020204" pitchFamily="34" charset="0"/>
              <a:cs typeface="Arial" panose="020B0604020202020204" pitchFamily="34" charset="0"/>
            </a:endParaRPr>
          </a:p>
        </p:txBody>
      </p:sp>
      <p:sp>
        <p:nvSpPr>
          <p:cNvPr id="9" name="Line 35">
            <a:extLst>
              <a:ext uri="{FF2B5EF4-FFF2-40B4-BE49-F238E27FC236}">
                <a16:creationId xmlns:a16="http://schemas.microsoft.com/office/drawing/2014/main" id="{69794234-7DCC-8CEE-3027-F68786C303E1}"/>
              </a:ext>
            </a:extLst>
          </p:cNvPr>
          <p:cNvSpPr>
            <a:spLocks noChangeShapeType="1"/>
          </p:cNvSpPr>
          <p:nvPr/>
        </p:nvSpPr>
        <p:spPr bwMode="auto">
          <a:xfrm>
            <a:off x="4715490" y="3512032"/>
            <a:ext cx="540544"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lstStyle/>
          <a:p>
            <a:endParaRPr lang="zh-CHS" altLang="en-US" sz="1350">
              <a:latin typeface="Arial" panose="020B0604020202020204" pitchFamily="34" charset="0"/>
              <a:cs typeface="Arial" panose="020B0604020202020204" pitchFamily="34" charset="0"/>
            </a:endParaRPr>
          </a:p>
        </p:txBody>
      </p:sp>
      <p:sp>
        <p:nvSpPr>
          <p:cNvPr id="10" name="Text Box 37">
            <a:extLst>
              <a:ext uri="{FF2B5EF4-FFF2-40B4-BE49-F238E27FC236}">
                <a16:creationId xmlns:a16="http://schemas.microsoft.com/office/drawing/2014/main" id="{081D0706-9CBE-2F47-A2BD-3EFA1FCBA849}"/>
              </a:ext>
            </a:extLst>
          </p:cNvPr>
          <p:cNvSpPr txBox="1">
            <a:spLocks noChangeArrowheads="1"/>
          </p:cNvSpPr>
          <p:nvPr/>
        </p:nvSpPr>
        <p:spPr bwMode="auto">
          <a:xfrm>
            <a:off x="6713358" y="1514163"/>
            <a:ext cx="1243013"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rgbClr val="000099"/>
                </a:solidFill>
                <a:latin typeface="Times New Roman" pitchFamily="18" charset="0"/>
                <a:ea typeface="楷体_GB2312" pitchFamily="49" charset="-122"/>
              </a:defRPr>
            </a:lvl1pPr>
            <a:lvl2pPr marL="742950" indent="-285750" eaLnBrk="0" hangingPunct="0">
              <a:defRPr kumimoji="1" sz="2800" b="1">
                <a:solidFill>
                  <a:srgbClr val="000099"/>
                </a:solidFill>
                <a:latin typeface="Times New Roman" pitchFamily="18" charset="0"/>
                <a:ea typeface="楷体_GB2312" pitchFamily="49" charset="-122"/>
              </a:defRPr>
            </a:lvl2pPr>
            <a:lvl3pPr marL="1143000" indent="-228600" eaLnBrk="0" hangingPunct="0">
              <a:defRPr kumimoji="1" sz="2800" b="1">
                <a:solidFill>
                  <a:srgbClr val="000099"/>
                </a:solidFill>
                <a:latin typeface="Times New Roman" pitchFamily="18" charset="0"/>
                <a:ea typeface="楷体_GB2312" pitchFamily="49" charset="-122"/>
              </a:defRPr>
            </a:lvl3pPr>
            <a:lvl4pPr marL="1600200" indent="-228600" eaLnBrk="0" hangingPunct="0">
              <a:defRPr kumimoji="1" sz="2800" b="1">
                <a:solidFill>
                  <a:srgbClr val="000099"/>
                </a:solidFill>
                <a:latin typeface="Times New Roman" pitchFamily="18" charset="0"/>
                <a:ea typeface="楷体_GB2312" pitchFamily="49" charset="-122"/>
              </a:defRPr>
            </a:lvl4pPr>
            <a:lvl5pPr marL="2057400" indent="-228600" eaLnBrk="0" hangingPunct="0">
              <a:defRPr kumimoji="1" sz="2800" b="1">
                <a:solidFill>
                  <a:srgbClr val="000099"/>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rgbClr val="000099"/>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rgbClr val="000099"/>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rgbClr val="000099"/>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rgbClr val="000099"/>
                </a:solidFill>
                <a:latin typeface="Times New Roman" pitchFamily="18" charset="0"/>
                <a:ea typeface="楷体_GB2312" pitchFamily="49" charset="-122"/>
              </a:defRPr>
            </a:lvl9pPr>
          </a:lstStyle>
          <a:p>
            <a:pPr eaLnBrk="1" hangingPunct="1">
              <a:spcBef>
                <a:spcPct val="50000"/>
              </a:spcBef>
            </a:pPr>
            <a:r>
              <a:rPr lang="zh-CHS" altLang="en-US" sz="1500" b="0">
                <a:solidFill>
                  <a:srgbClr val="0000FF"/>
                </a:solidFill>
                <a:latin typeface="Arial" panose="020B0604020202020204" pitchFamily="34" charset="0"/>
                <a:ea typeface="宋体" charset="-122"/>
                <a:cs typeface="Arial" panose="020B0604020202020204" pitchFamily="34" charset="0"/>
              </a:rPr>
              <a:t>索引扫描</a:t>
            </a:r>
          </a:p>
        </p:txBody>
      </p:sp>
      <p:sp>
        <p:nvSpPr>
          <p:cNvPr id="11" name="Rectangle 38">
            <a:extLst>
              <a:ext uri="{FF2B5EF4-FFF2-40B4-BE49-F238E27FC236}">
                <a16:creationId xmlns:a16="http://schemas.microsoft.com/office/drawing/2014/main" id="{E7AF139A-6D31-328A-69E2-9E2E63370F76}"/>
              </a:ext>
            </a:extLst>
          </p:cNvPr>
          <p:cNvSpPr>
            <a:spLocks noChangeArrowheads="1"/>
          </p:cNvSpPr>
          <p:nvPr/>
        </p:nvSpPr>
        <p:spPr bwMode="auto">
          <a:xfrm>
            <a:off x="7091977" y="2323788"/>
            <a:ext cx="864394" cy="323850"/>
          </a:xfrm>
          <a:prstGeom prst="rect">
            <a:avLst/>
          </a:prstGeom>
          <a:solidFill>
            <a:schemeClr val="accent1"/>
          </a:solidFill>
          <a:ln w="9525">
            <a:solidFill>
              <a:schemeClr val="tx1"/>
            </a:solidFill>
            <a:miter lim="800000"/>
            <a:headEnd/>
            <a:tailEnd/>
          </a:ln>
        </p:spPr>
        <p:txBody>
          <a:bodyPr wrap="none" anchor="ctr"/>
          <a:lstStyle/>
          <a:p>
            <a:pPr algn="ctr"/>
            <a:r>
              <a:rPr lang="zh-CHS" altLang="en-US" sz="1500">
                <a:latin typeface="Arial" panose="020B0604020202020204" pitchFamily="34" charset="0"/>
                <a:ea typeface="宋体" charset="-122"/>
                <a:cs typeface="Arial" panose="020B0604020202020204" pitchFamily="34" charset="0"/>
              </a:rPr>
              <a:t>索引</a:t>
            </a:r>
          </a:p>
        </p:txBody>
      </p:sp>
      <p:sp>
        <p:nvSpPr>
          <p:cNvPr id="12" name="Line 39">
            <a:extLst>
              <a:ext uri="{FF2B5EF4-FFF2-40B4-BE49-F238E27FC236}">
                <a16:creationId xmlns:a16="http://schemas.microsoft.com/office/drawing/2014/main" id="{7A2CA237-FBB0-15AE-35E8-4F3A0080B12C}"/>
              </a:ext>
            </a:extLst>
          </p:cNvPr>
          <p:cNvSpPr>
            <a:spLocks noChangeShapeType="1"/>
          </p:cNvSpPr>
          <p:nvPr/>
        </p:nvSpPr>
        <p:spPr bwMode="auto">
          <a:xfrm>
            <a:off x="7524174" y="1946360"/>
            <a:ext cx="0" cy="32385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lstStyle/>
          <a:p>
            <a:endParaRPr lang="zh-CHS" altLang="en-US" sz="1350">
              <a:latin typeface="Arial" panose="020B0604020202020204" pitchFamily="34" charset="0"/>
              <a:cs typeface="Arial" panose="020B0604020202020204" pitchFamily="34" charset="0"/>
            </a:endParaRPr>
          </a:p>
        </p:txBody>
      </p:sp>
      <p:sp>
        <p:nvSpPr>
          <p:cNvPr id="13" name="Line 40">
            <a:extLst>
              <a:ext uri="{FF2B5EF4-FFF2-40B4-BE49-F238E27FC236}">
                <a16:creationId xmlns:a16="http://schemas.microsoft.com/office/drawing/2014/main" id="{A3A5B5D3-B170-FE8C-3072-026327F7CDDE}"/>
              </a:ext>
            </a:extLst>
          </p:cNvPr>
          <p:cNvSpPr>
            <a:spLocks noChangeShapeType="1"/>
          </p:cNvSpPr>
          <p:nvPr/>
        </p:nvSpPr>
        <p:spPr bwMode="auto">
          <a:xfrm>
            <a:off x="7524174" y="2647639"/>
            <a:ext cx="0" cy="270272"/>
          </a:xfrm>
          <a:prstGeom prst="line">
            <a:avLst/>
          </a:prstGeom>
          <a:noFill/>
          <a:ln w="38100">
            <a:solidFill>
              <a:schemeClr val="hlink"/>
            </a:solidFill>
            <a:round/>
            <a:headEnd/>
            <a:tailEnd/>
          </a:ln>
          <a:extLst>
            <a:ext uri="{909E8E84-426E-40dd-AFC4-6F175D3DCCD1}">
              <a14:hiddenFill xmlns="" xmlns:a14="http://schemas.microsoft.com/office/drawing/2010/main">
                <a:noFill/>
              </a14:hiddenFill>
            </a:ext>
          </a:extLst>
        </p:spPr>
        <p:txBody>
          <a:bodyPr wrap="none"/>
          <a:lstStyle/>
          <a:p>
            <a:endParaRPr lang="zh-CHS" altLang="en-US" sz="1350">
              <a:latin typeface="Arial" panose="020B0604020202020204" pitchFamily="34" charset="0"/>
              <a:cs typeface="Arial" panose="020B0604020202020204" pitchFamily="34" charset="0"/>
            </a:endParaRPr>
          </a:p>
        </p:txBody>
      </p:sp>
      <p:sp>
        <p:nvSpPr>
          <p:cNvPr id="14" name="Line 41">
            <a:extLst>
              <a:ext uri="{FF2B5EF4-FFF2-40B4-BE49-F238E27FC236}">
                <a16:creationId xmlns:a16="http://schemas.microsoft.com/office/drawing/2014/main" id="{8E003FCD-E168-E9B0-3D91-24F4D21B5893}"/>
              </a:ext>
            </a:extLst>
          </p:cNvPr>
          <p:cNvSpPr>
            <a:spLocks noChangeShapeType="1"/>
          </p:cNvSpPr>
          <p:nvPr/>
        </p:nvSpPr>
        <p:spPr bwMode="auto">
          <a:xfrm flipH="1">
            <a:off x="6450230" y="2917910"/>
            <a:ext cx="1079897" cy="0"/>
          </a:xfrm>
          <a:prstGeom prst="line">
            <a:avLst/>
          </a:prstGeom>
          <a:noFill/>
          <a:ln w="38100">
            <a:solidFill>
              <a:schemeClr val="hlink"/>
            </a:solidFill>
            <a:round/>
            <a:headEnd/>
            <a:tailEnd type="triangle" w="med" len="med"/>
          </a:ln>
          <a:extLst>
            <a:ext uri="{909E8E84-426E-40dd-AFC4-6F175D3DCCD1}">
              <a14:hiddenFill xmlns="" xmlns:a14="http://schemas.microsoft.com/office/drawing/2010/main">
                <a:noFill/>
              </a14:hiddenFill>
            </a:ext>
          </a:extLst>
        </p:spPr>
        <p:txBody>
          <a:bodyPr wrap="none"/>
          <a:lstStyle/>
          <a:p>
            <a:endParaRPr lang="zh-CHS" altLang="en-US" sz="1350">
              <a:latin typeface="Arial" panose="020B0604020202020204" pitchFamily="34" charset="0"/>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xit" presetSubtype="10" fill="hold" grpId="1" nodeType="clickEffect">
                                  <p:stCondLst>
                                    <p:cond delay="0"/>
                                  </p:stCondLst>
                                  <p:childTnLst>
                                    <p:animEffect transition="out" filter="blinds(horizontal)">
                                      <p:cBhvr>
                                        <p:cTn id="12" dur="500"/>
                                        <p:tgtEl>
                                          <p:spTgt spid="6"/>
                                        </p:tgtEl>
                                      </p:cBhvr>
                                    </p:animEffect>
                                    <p:set>
                                      <p:cBhvr>
                                        <p:cTn id="13" dur="1" fill="hold">
                                          <p:stCondLst>
                                            <p:cond delay="499"/>
                                          </p:stCondLst>
                                        </p:cTn>
                                        <p:tgtEl>
                                          <p:spTgt spid="6"/>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xit" presetSubtype="10" fill="hold" grpId="1" nodeType="clickEffect">
                                  <p:stCondLst>
                                    <p:cond delay="0"/>
                                  </p:stCondLst>
                                  <p:childTnLst>
                                    <p:animEffect transition="out" filter="blinds(horizontal)">
                                      <p:cBhvr>
                                        <p:cTn id="23" dur="500"/>
                                        <p:tgtEl>
                                          <p:spTgt spid="7"/>
                                        </p:tgtEl>
                                      </p:cBhvr>
                                    </p:animEffect>
                                    <p:set>
                                      <p:cBhvr>
                                        <p:cTn id="24" dur="1" fill="hold">
                                          <p:stCondLst>
                                            <p:cond delay="499"/>
                                          </p:stCondLst>
                                        </p:cTn>
                                        <p:tgtEl>
                                          <p:spTgt spid="7"/>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0-#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xit" presetSubtype="10" fill="hold" grpId="1" nodeType="clickEffect">
                                  <p:stCondLst>
                                    <p:cond delay="0"/>
                                  </p:stCondLst>
                                  <p:childTnLst>
                                    <p:animEffect transition="out" filter="blinds(horizontal)">
                                      <p:cBhvr>
                                        <p:cTn id="34" dur="500"/>
                                        <p:tgtEl>
                                          <p:spTgt spid="8"/>
                                        </p:tgtEl>
                                      </p:cBhvr>
                                    </p:animEffect>
                                    <p:set>
                                      <p:cBhvr>
                                        <p:cTn id="35" dur="1" fill="hold">
                                          <p:stCondLst>
                                            <p:cond delay="499"/>
                                          </p:stCondLst>
                                        </p:cTn>
                                        <p:tgtEl>
                                          <p:spTgt spid="8"/>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0-#ppt_w/2"/>
                                          </p:val>
                                        </p:tav>
                                        <p:tav tm="100000">
                                          <p:val>
                                            <p:strVal val="#ppt_x"/>
                                          </p:val>
                                        </p:tav>
                                      </p:tavLst>
                                    </p:anim>
                                    <p:anim calcmode="lin" valueType="num">
                                      <p:cBhvr additive="base">
                                        <p:cTn id="41"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 presetClass="exit" presetSubtype="10" fill="hold" grpId="1" nodeType="clickEffect">
                                  <p:stCondLst>
                                    <p:cond delay="0"/>
                                  </p:stCondLst>
                                  <p:childTnLst>
                                    <p:animEffect transition="out" filter="blinds(horizontal)">
                                      <p:cBhvr>
                                        <p:cTn id="45" dur="500"/>
                                        <p:tgtEl>
                                          <p:spTgt spid="9"/>
                                        </p:tgtEl>
                                      </p:cBhvr>
                                    </p:animEffect>
                                    <p:set>
                                      <p:cBhvr>
                                        <p:cTn id="46" dur="1" fill="hold">
                                          <p:stCondLst>
                                            <p:cond delay="499"/>
                                          </p:stCondLst>
                                        </p:cTn>
                                        <p:tgtEl>
                                          <p:spTgt spid="9"/>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blinds(horizontal)">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blinds(horizontal)">
                                      <p:cBhvr>
                                        <p:cTn id="56" dur="500"/>
                                        <p:tgtEl>
                                          <p:spTgt spid="11"/>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blinds(horizontal)">
                                      <p:cBhvr>
                                        <p:cTn id="61" dur="500"/>
                                        <p:tgtEl>
                                          <p:spTgt spid="13"/>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blinds(horizontal)">
                                      <p:cBhvr>
                                        <p:cTn id="6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11" grpId="0" animBg="1"/>
      <p:bldP spid="12" grpId="0" animBg="1"/>
      <p:bldP spid="13" grpId="0" animBg="1"/>
      <p:bldP spid="1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5" name="Picture 4" descr="j0199283"/>
          <p:cNvPicPr>
            <a:picLocks noChangeAspect="1"/>
          </p:cNvPicPr>
          <p:nvPr/>
        </p:nvPicPr>
        <p:blipFill>
          <a:blip r:embed="rId3"/>
          <a:stretch>
            <a:fillRect/>
          </a:stretch>
        </p:blipFill>
        <p:spPr>
          <a:xfrm>
            <a:off x="7082314" y="672466"/>
            <a:ext cx="1381125" cy="1240631"/>
          </a:xfrm>
          <a:prstGeom prst="rect">
            <a:avLst/>
          </a:prstGeom>
          <a:noFill/>
          <a:ln w="9525">
            <a:noFill/>
          </a:ln>
        </p:spPr>
      </p:pic>
      <p:sp>
        <p:nvSpPr>
          <p:cNvPr id="63490" name="Rectangle 3"/>
          <p:cNvSpPr>
            <a:spLocks noGrp="1"/>
          </p:cNvSpPr>
          <p:nvPr>
            <p:custDataLst>
              <p:tags r:id="rId1"/>
            </p:custDataLst>
          </p:nvPr>
        </p:nvSpPr>
        <p:spPr>
          <a:xfrm>
            <a:off x="1143000" y="1429704"/>
            <a:ext cx="6858000" cy="3246896"/>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marL="213360" indent="-213360" eaLnBrk="1" hangingPunct="1">
              <a:buClr>
                <a:schemeClr val="tx1"/>
              </a:buClr>
              <a:buSzTx/>
              <a:buNone/>
            </a:pPr>
            <a:r>
              <a:rPr lang="zh-CN" altLang="en-US" sz="2100" dirty="0">
                <a:latin typeface="Microsoft YaHei" panose="020B0503020204020204" pitchFamily="34" charset="-122"/>
                <a:ea typeface="Microsoft YaHei" panose="020B0503020204020204" pitchFamily="34" charset="-122"/>
              </a:rPr>
              <a:t>1、是否建索引？</a:t>
            </a:r>
          </a:p>
          <a:p>
            <a:pPr marL="213360" indent="-213360" eaLnBrk="1" hangingPunct="1">
              <a:lnSpc>
                <a:spcPct val="120000"/>
              </a:lnSpc>
            </a:pPr>
            <a:r>
              <a:rPr lang="zh-CN" altLang="en-US" sz="1800" dirty="0">
                <a:latin typeface="Microsoft YaHei" panose="020B0503020204020204" pitchFamily="34" charset="-122"/>
                <a:ea typeface="Microsoft YaHei" panose="020B0503020204020204" pitchFamily="34" charset="-122"/>
              </a:rPr>
              <a:t>不适合建立索引的情况有：</a:t>
            </a:r>
          </a:p>
          <a:p>
            <a:pPr marL="213360" indent="-213360" eaLnBrk="1" hangingPunct="1">
              <a:lnSpc>
                <a:spcPct val="120000"/>
              </a:lnSpc>
              <a:buNone/>
            </a:pPr>
            <a:r>
              <a:rPr lang="zh-CN" altLang="en-US" sz="1800" dirty="0">
                <a:latin typeface="Microsoft YaHei" panose="020B0503020204020204" pitchFamily="34" charset="-122"/>
                <a:ea typeface="Microsoft YaHei" panose="020B0503020204020204" pitchFamily="34" charset="-122"/>
              </a:rPr>
              <a:t> ① 太小的表。</a:t>
            </a:r>
          </a:p>
          <a:p>
            <a:pPr marL="213360" indent="-213360" eaLnBrk="1" hangingPunct="1">
              <a:lnSpc>
                <a:spcPct val="120000"/>
              </a:lnSpc>
              <a:buNone/>
            </a:pPr>
            <a:r>
              <a:rPr lang="zh-CN" altLang="en-US" sz="1800" dirty="0">
                <a:latin typeface="Microsoft YaHei" panose="020B0503020204020204" pitchFamily="34" charset="-122"/>
                <a:ea typeface="Microsoft YaHei" panose="020B0503020204020204" pitchFamily="34" charset="-122"/>
              </a:rPr>
              <a:t> ② 不出现或很少出现在查询条件中的属性。</a:t>
            </a:r>
          </a:p>
          <a:p>
            <a:pPr marL="213360" indent="-213360" eaLnBrk="1" hangingPunct="1">
              <a:lnSpc>
                <a:spcPct val="120000"/>
              </a:lnSpc>
              <a:buNone/>
            </a:pPr>
            <a:r>
              <a:rPr lang="zh-CN" altLang="en-US" sz="1800" dirty="0">
                <a:latin typeface="Microsoft YaHei" panose="020B0503020204020204" pitchFamily="34" charset="-122"/>
                <a:ea typeface="Microsoft YaHei" panose="020B0503020204020204" pitchFamily="34" charset="-122"/>
              </a:rPr>
              <a:t> ③ 经常更新的属性和表。</a:t>
            </a:r>
          </a:p>
          <a:p>
            <a:pPr marL="213360" indent="-213360" eaLnBrk="1" hangingPunct="1">
              <a:lnSpc>
                <a:spcPct val="120000"/>
              </a:lnSpc>
              <a:buNone/>
            </a:pPr>
            <a:r>
              <a:rPr lang="zh-CN" altLang="en-US" sz="1800" dirty="0">
                <a:latin typeface="Microsoft YaHei" panose="020B0503020204020204" pitchFamily="34" charset="-122"/>
                <a:ea typeface="Microsoft YaHei" panose="020B0503020204020204" pitchFamily="34" charset="-122"/>
              </a:rPr>
              <a:t> ④ 经常查询大部分记录的属性和表。</a:t>
            </a:r>
          </a:p>
          <a:p>
            <a:pPr marL="213360" indent="-213360" eaLnBrk="1" hangingPunct="1">
              <a:lnSpc>
                <a:spcPct val="120000"/>
              </a:lnSpc>
              <a:buNone/>
            </a:pPr>
            <a:r>
              <a:rPr lang="zh-CN" altLang="en-US" sz="1800" dirty="0">
                <a:solidFill>
                  <a:srgbClr val="000000"/>
                </a:solidFill>
                <a:latin typeface="Microsoft YaHei" panose="020B0503020204020204" pitchFamily="34" charset="-122"/>
                <a:ea typeface="Microsoft YaHei" panose="020B0503020204020204" pitchFamily="34" charset="-122"/>
              </a:rPr>
              <a:t> ⑤ </a:t>
            </a:r>
            <a:r>
              <a:rPr lang="zh-CN" altLang="en-US" sz="1800" dirty="0">
                <a:latin typeface="Microsoft YaHei" panose="020B0503020204020204" pitchFamily="34" charset="-122"/>
                <a:ea typeface="Microsoft YaHei" panose="020B0503020204020204" pitchFamily="34" charset="-122"/>
              </a:rPr>
              <a:t>属性值可能取值的个数很少的属性（如：性别）。</a:t>
            </a:r>
          </a:p>
          <a:p>
            <a:pPr marL="213360" indent="-213360" eaLnBrk="1" hangingPunct="1">
              <a:lnSpc>
                <a:spcPct val="120000"/>
              </a:lnSpc>
              <a:buNone/>
            </a:pPr>
            <a:r>
              <a:rPr lang="zh-CN" altLang="en-US" sz="1800" dirty="0">
                <a:solidFill>
                  <a:srgbClr val="000000"/>
                </a:solidFill>
                <a:latin typeface="Microsoft YaHei" panose="020B0503020204020204" pitchFamily="34" charset="-122"/>
                <a:ea typeface="Microsoft YaHei" panose="020B0503020204020204" pitchFamily="34" charset="-122"/>
              </a:rPr>
              <a:t> ⑥ </a:t>
            </a:r>
            <a:r>
              <a:rPr lang="zh-CN" altLang="en-US" sz="1800" dirty="0">
                <a:latin typeface="Microsoft YaHei" panose="020B0503020204020204" pitchFamily="34" charset="-122"/>
                <a:ea typeface="Microsoft YaHei" panose="020B0503020204020204" pitchFamily="34" charset="-122"/>
              </a:rPr>
              <a:t>属性值分布严重不均的属性（如：年龄）。</a:t>
            </a:r>
          </a:p>
          <a:p>
            <a:pPr marL="213360" indent="-213360" eaLnBrk="1" hangingPunct="1"/>
            <a:endParaRPr lang="zh-CN" altLang="en-US" sz="1800" dirty="0">
              <a:latin typeface="Microsoft YaHei" panose="020B0503020204020204" pitchFamily="34" charset="-122"/>
              <a:ea typeface="Microsoft YaHei" panose="020B0503020204020204" pitchFamily="34" charset="-122"/>
            </a:endParaRPr>
          </a:p>
        </p:txBody>
      </p:sp>
      <p:sp>
        <p:nvSpPr>
          <p:cNvPr id="4" name="标题 3">
            <a:extLst>
              <a:ext uri="{FF2B5EF4-FFF2-40B4-BE49-F238E27FC236}">
                <a16:creationId xmlns:a16="http://schemas.microsoft.com/office/drawing/2014/main" id="{3F0E8707-E442-0AA4-801B-F5767FCE3826}"/>
              </a:ext>
            </a:extLst>
          </p:cNvPr>
          <p:cNvSpPr>
            <a:spLocks noGrp="1"/>
          </p:cNvSpPr>
          <p:nvPr>
            <p:ph type="title"/>
          </p:nvPr>
        </p:nvSpPr>
        <p:spPr/>
        <p:txBody>
          <a:bodyPr/>
          <a:lstStyle/>
          <a:p>
            <a:r>
              <a:rPr lang="zh-CN" altLang="en-US" dirty="0"/>
              <a:t>物理设计</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p:cNvSpPr>
          <p:nvPr>
            <p:custDataLst>
              <p:tags r:id="rId1"/>
            </p:custDataLst>
          </p:nvPr>
        </p:nvSpPr>
        <p:spPr>
          <a:xfrm>
            <a:off x="250168" y="1253548"/>
            <a:ext cx="6863554" cy="3004734"/>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zh-CN" altLang="en-US" sz="2100" dirty="0">
                <a:latin typeface="Microsoft YaHei" panose="020B0503020204020204" pitchFamily="34" charset="-122"/>
                <a:ea typeface="Microsoft YaHei" panose="020B0503020204020204" pitchFamily="34" charset="-122"/>
              </a:rPr>
              <a:t>2、在哪建索引？</a:t>
            </a:r>
          </a:p>
          <a:p>
            <a:pPr eaLnBrk="1" hangingPunct="1"/>
            <a:r>
              <a:rPr lang="zh-CN" altLang="en-US" sz="1800" dirty="0">
                <a:solidFill>
                  <a:schemeClr val="hlink"/>
                </a:solidFill>
                <a:latin typeface="Microsoft YaHei" panose="020B0503020204020204" pitchFamily="34" charset="-122"/>
                <a:ea typeface="Microsoft YaHei" panose="020B0503020204020204" pitchFamily="34" charset="-122"/>
              </a:rPr>
              <a:t>WHERE子句中提到的属性是建索引的候选</a:t>
            </a:r>
          </a:p>
          <a:p>
            <a:pPr eaLnBrk="1" hangingPunct="1"/>
            <a:r>
              <a:rPr lang="zh-CN" altLang="en-US" sz="1800" dirty="0">
                <a:latin typeface="Microsoft YaHei" panose="020B0503020204020204" pitchFamily="34" charset="-122"/>
                <a:ea typeface="Microsoft YaHei" panose="020B0503020204020204" pitchFamily="34" charset="-122"/>
              </a:rPr>
              <a:t>建立索引的一般原则是：</a:t>
            </a:r>
          </a:p>
          <a:p>
            <a:pPr eaLnBrk="1" hangingPunct="1">
              <a:buNone/>
            </a:pPr>
            <a:r>
              <a:rPr lang="zh-CN" altLang="en-US" sz="1800" dirty="0">
                <a:latin typeface="Microsoft YaHei" panose="020B0503020204020204" pitchFamily="34" charset="-122"/>
                <a:ea typeface="Microsoft YaHei" panose="020B0503020204020204" pitchFamily="34" charset="-122"/>
              </a:rPr>
              <a:t> ① 主键和外键上一般建立索引。</a:t>
            </a:r>
          </a:p>
          <a:p>
            <a:pPr eaLnBrk="1" hangingPunct="1">
              <a:buNone/>
            </a:pPr>
            <a:r>
              <a:rPr lang="zh-CN" altLang="en-US" sz="1800" dirty="0">
                <a:latin typeface="Microsoft YaHei" panose="020B0503020204020204" pitchFamily="34" charset="-122"/>
                <a:ea typeface="Microsoft YaHei" panose="020B0503020204020204" pitchFamily="34" charset="-122"/>
              </a:rPr>
              <a:t>  有利于主键唯一性的检查。</a:t>
            </a:r>
          </a:p>
          <a:p>
            <a:pPr eaLnBrk="1" hangingPunct="1">
              <a:buNone/>
            </a:pPr>
            <a:r>
              <a:rPr lang="zh-CN" altLang="en-US" sz="1800" dirty="0">
                <a:latin typeface="Microsoft YaHei" panose="020B0503020204020204" pitchFamily="34" charset="-122"/>
                <a:ea typeface="Microsoft YaHei" panose="020B0503020204020204" pitchFamily="34" charset="-122"/>
              </a:rPr>
              <a:t>  有助于参照完整性的检查。</a:t>
            </a:r>
          </a:p>
          <a:p>
            <a:pPr eaLnBrk="1" hangingPunct="1">
              <a:buNone/>
            </a:pPr>
            <a:r>
              <a:rPr lang="zh-CN" altLang="en-US" sz="1800" dirty="0">
                <a:latin typeface="Microsoft YaHei" panose="020B0503020204020204" pitchFamily="34" charset="-122"/>
                <a:ea typeface="Microsoft YaHei" panose="020B0503020204020204" pitchFamily="34" charset="-122"/>
              </a:rPr>
              <a:t>  可加快以主键和外键为连接条件属性的连接操作。</a:t>
            </a:r>
          </a:p>
        </p:txBody>
      </p:sp>
      <p:sp>
        <p:nvSpPr>
          <p:cNvPr id="4" name="标题 3">
            <a:extLst>
              <a:ext uri="{FF2B5EF4-FFF2-40B4-BE49-F238E27FC236}">
                <a16:creationId xmlns:a16="http://schemas.microsoft.com/office/drawing/2014/main" id="{275C471B-780D-A99A-4D53-AFDDDC51904B}"/>
              </a:ext>
            </a:extLst>
          </p:cNvPr>
          <p:cNvSpPr>
            <a:spLocks noGrp="1"/>
          </p:cNvSpPr>
          <p:nvPr>
            <p:ph type="title"/>
          </p:nvPr>
        </p:nvSpPr>
        <p:spPr/>
        <p:txBody>
          <a:bodyPr/>
          <a:lstStyle/>
          <a:p>
            <a:r>
              <a:rPr lang="zh-CN" altLang="en-US" dirty="0"/>
              <a:t>物理设计</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Grp="1"/>
          </p:cNvSpPr>
          <p:nvPr>
            <p:ph idx="1"/>
          </p:nvPr>
        </p:nvSpPr>
        <p:spPr/>
        <p:txBody>
          <a:bodyPr vert="horz" wrap="square" lIns="68580" tIns="34290" rIns="68580" bIns="34290" anchor="t" anchorCtr="0"/>
          <a:lstStyle/>
          <a:p>
            <a:pPr eaLnBrk="1" hangingPunct="1">
              <a:buNone/>
            </a:pPr>
            <a:r>
              <a:rPr lang="zh-CN" altLang="en-US" sz="1800" dirty="0"/>
              <a:t> ② 若经常按某列顺序访问记录，则在该列上建立索引。</a:t>
            </a:r>
          </a:p>
          <a:p>
            <a:pPr eaLnBrk="1" hangingPunct="1">
              <a:buNone/>
            </a:pPr>
            <a:r>
              <a:rPr lang="zh-CN" altLang="en-US" sz="1800" dirty="0"/>
              <a:t> ③ 为经常有如下情况的列建立索引：</a:t>
            </a:r>
          </a:p>
          <a:p>
            <a:pPr eaLnBrk="1" hangingPunct="1">
              <a:buNone/>
            </a:pPr>
            <a:r>
              <a:rPr lang="zh-CN" altLang="en-US" sz="1800" dirty="0"/>
              <a:t>     · 查询</a:t>
            </a:r>
          </a:p>
          <a:p>
            <a:pPr eaLnBrk="1" hangingPunct="1">
              <a:buNone/>
            </a:pPr>
            <a:r>
              <a:rPr lang="zh-CN" altLang="en-US" sz="1800" dirty="0"/>
              <a:t>     · ORDER BY</a:t>
            </a:r>
          </a:p>
          <a:p>
            <a:pPr eaLnBrk="1" hangingPunct="1">
              <a:buNone/>
            </a:pPr>
            <a:r>
              <a:rPr lang="zh-CN" altLang="en-US" sz="1800" dirty="0"/>
              <a:t>     · GROUP BY</a:t>
            </a:r>
          </a:p>
          <a:p>
            <a:pPr eaLnBrk="1" hangingPunct="1">
              <a:buNone/>
            </a:pPr>
            <a:r>
              <a:rPr lang="zh-CN" altLang="en-US" sz="1800" dirty="0"/>
              <a:t>     · DISTINCT</a:t>
            </a:r>
          </a:p>
          <a:p>
            <a:pPr eaLnBrk="1" hangingPunct="1">
              <a:buNone/>
            </a:pPr>
            <a:r>
              <a:rPr lang="zh-CN" altLang="en-US" sz="1800" dirty="0"/>
              <a:t> ④ 在经常作为最大值和最小值等集函数的列上建立索引。</a:t>
            </a:r>
          </a:p>
          <a:p>
            <a:pPr eaLnBrk="1" hangingPunct="1">
              <a:buNone/>
            </a:pPr>
            <a:r>
              <a:rPr lang="zh-CN" altLang="en-US" sz="1800" dirty="0">
                <a:solidFill>
                  <a:srgbClr val="000000"/>
                </a:solidFill>
              </a:rPr>
              <a:t> ⑤</a:t>
            </a:r>
            <a:r>
              <a:rPr lang="zh-CN" altLang="en-US" sz="1800" dirty="0"/>
              <a:t> 在经常作为连接操作的连接条件中出现的列上建立索引。</a:t>
            </a:r>
          </a:p>
          <a:p>
            <a:pPr eaLnBrk="1" hangingPunct="1"/>
            <a:endParaRPr lang="zh-CN" altLang="en-US" sz="1800" dirty="0"/>
          </a:p>
        </p:txBody>
      </p:sp>
      <p:sp>
        <p:nvSpPr>
          <p:cNvPr id="3" name="标题 2">
            <a:extLst>
              <a:ext uri="{FF2B5EF4-FFF2-40B4-BE49-F238E27FC236}">
                <a16:creationId xmlns:a16="http://schemas.microsoft.com/office/drawing/2014/main" id="{8D3D3C66-0666-7D12-6809-9C6CB260DD5B}"/>
              </a:ext>
            </a:extLst>
          </p:cNvPr>
          <p:cNvSpPr>
            <a:spLocks noGrp="1"/>
          </p:cNvSpPr>
          <p:nvPr>
            <p:ph type="title"/>
          </p:nvPr>
        </p:nvSpPr>
        <p:spPr/>
        <p:txBody>
          <a:bodyPr/>
          <a:lstStyle/>
          <a:p>
            <a:r>
              <a:rPr lang="zh-CN" altLang="en-US" dirty="0"/>
              <a:t>物理设计</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p:cNvSpPr>
          <p:nvPr>
            <p:custDataLst>
              <p:tags r:id="rId1"/>
            </p:custDataLst>
          </p:nvPr>
        </p:nvSpPr>
        <p:spPr>
          <a:xfrm>
            <a:off x="374808" y="1013324"/>
            <a:ext cx="8394383" cy="3465686"/>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lnSpc>
                <a:spcPct val="105000"/>
              </a:lnSpc>
              <a:buNone/>
            </a:pPr>
            <a:r>
              <a:rPr lang="zh-CN" altLang="en-US" sz="2100" dirty="0">
                <a:latin typeface="Microsoft YaHei" panose="020B0503020204020204" pitchFamily="34" charset="-122"/>
                <a:ea typeface="Microsoft YaHei" panose="020B0503020204020204" pitchFamily="34" charset="-122"/>
              </a:rPr>
              <a:t>3、是否聚簇</a:t>
            </a:r>
          </a:p>
          <a:p>
            <a:pPr lvl="1" eaLnBrk="1" hangingPunct="1">
              <a:lnSpc>
                <a:spcPct val="105000"/>
              </a:lnSpc>
              <a:buSzTx/>
              <a:buFont typeface="Wingdings" panose="05000000000000000000" pitchFamily="2" charset="2"/>
              <a:buChar char="Ø"/>
            </a:pPr>
            <a:r>
              <a:rPr lang="zh-CN" altLang="en-US" sz="1800" dirty="0">
                <a:latin typeface="Microsoft YaHei" panose="020B0503020204020204" pitchFamily="34" charset="-122"/>
                <a:ea typeface="Microsoft YaHei" panose="020B0503020204020204" pitchFamily="34" charset="-122"/>
              </a:rPr>
              <a:t>聚簇是将相关数据集中存放的物理存储技术(索引项的次序与数据记录的次序一致)，借以提高I/O的数据命中率而改善存取速度。</a:t>
            </a:r>
          </a:p>
          <a:p>
            <a:pPr lvl="1" eaLnBrk="1" hangingPunct="1">
              <a:lnSpc>
                <a:spcPct val="105000"/>
              </a:lnSpc>
              <a:buSzTx/>
              <a:buFont typeface="Wingdings" panose="05000000000000000000" pitchFamily="2" charset="2"/>
              <a:buChar char="Ø"/>
            </a:pPr>
            <a:r>
              <a:rPr lang="zh-CN" altLang="en-US" sz="1800" dirty="0">
                <a:latin typeface="Microsoft YaHei" panose="020B0503020204020204" pitchFamily="34" charset="-122"/>
                <a:ea typeface="Microsoft YaHei" panose="020B0503020204020204" pitchFamily="34" charset="-122"/>
              </a:rPr>
              <a:t>一个表至多建一个聚簇索引。  </a:t>
            </a:r>
          </a:p>
          <a:p>
            <a:pPr eaLnBrk="1" hangingPunct="1">
              <a:lnSpc>
                <a:spcPct val="105000"/>
              </a:lnSpc>
            </a:pPr>
            <a:r>
              <a:rPr lang="zh-CN" altLang="en-US" sz="1800" dirty="0">
                <a:latin typeface="Microsoft YaHei" panose="020B0503020204020204" pitchFamily="34" charset="-122"/>
                <a:ea typeface="Microsoft YaHei" panose="020B0503020204020204" pitchFamily="34" charset="-122"/>
              </a:rPr>
              <a:t>建立聚簇的一般原则是：</a:t>
            </a:r>
          </a:p>
          <a:p>
            <a:pPr eaLnBrk="1" hangingPunct="1">
              <a:lnSpc>
                <a:spcPct val="105000"/>
              </a:lnSpc>
              <a:buNone/>
            </a:pPr>
            <a:r>
              <a:rPr lang="zh-CN" altLang="en-US" sz="1800" dirty="0">
                <a:latin typeface="Microsoft YaHei" panose="020B0503020204020204" pitchFamily="34" charset="-122"/>
                <a:ea typeface="Microsoft YaHei" panose="020B0503020204020204" pitchFamily="34" charset="-122"/>
              </a:rPr>
              <a:t> ① 通过聚簇码进行访问或连接是该关系的主要应用，与聚簇码无关的其他访问很少或者是次要的 。 </a:t>
            </a:r>
          </a:p>
          <a:p>
            <a:pPr eaLnBrk="1" hangingPunct="1">
              <a:lnSpc>
                <a:spcPct val="105000"/>
              </a:lnSpc>
              <a:buNone/>
            </a:pPr>
            <a:r>
              <a:rPr lang="zh-CN" altLang="en-US" sz="1800" dirty="0">
                <a:latin typeface="Microsoft YaHei" panose="020B0503020204020204" pitchFamily="34" charset="-122"/>
                <a:ea typeface="Microsoft YaHei" panose="020B0503020204020204" pitchFamily="34" charset="-122"/>
              </a:rPr>
              <a:t> ② 对应每个聚簇码值的平均元组数既不太少，也不太多。太少了，聚簇效益不明显，甚至浪费块的空间；太多了，就要采用多个连接块，同样对提高性能不利。</a:t>
            </a:r>
          </a:p>
          <a:p>
            <a:pPr eaLnBrk="1" hangingPunct="1">
              <a:lnSpc>
                <a:spcPct val="105000"/>
              </a:lnSpc>
              <a:buNone/>
            </a:pPr>
            <a:r>
              <a:rPr lang="zh-CN" altLang="en-US" sz="1800" dirty="0">
                <a:latin typeface="Microsoft YaHei" panose="020B0503020204020204" pitchFamily="34" charset="-122"/>
                <a:ea typeface="Microsoft YaHei" panose="020B0503020204020204" pitchFamily="34" charset="-122"/>
              </a:rPr>
              <a:t> ③ 聚簇码值相对稳定，以减少修改聚簇码值所引起的维护开销。</a:t>
            </a:r>
            <a:r>
              <a:rPr lang="zh-CN" altLang="en-US" sz="1500" dirty="0">
                <a:latin typeface="Microsoft YaHei" panose="020B0503020204020204" pitchFamily="34" charset="-122"/>
                <a:ea typeface="Microsoft YaHei" panose="020B0503020204020204" pitchFamily="34" charset="-122"/>
              </a:rPr>
              <a:t> </a:t>
            </a:r>
          </a:p>
          <a:p>
            <a:pPr lvl="1" eaLnBrk="1" hangingPunct="1">
              <a:lnSpc>
                <a:spcPct val="120000"/>
              </a:lnSpc>
              <a:buSzTx/>
              <a:buNone/>
            </a:pPr>
            <a:endParaRPr lang="zh-CN" altLang="en-US" sz="1500" dirty="0">
              <a:latin typeface="Microsoft YaHei" panose="020B0503020204020204" pitchFamily="34" charset="-122"/>
              <a:ea typeface="Microsoft YaHei" panose="020B0503020204020204" pitchFamily="34" charset="-122"/>
            </a:endParaRPr>
          </a:p>
        </p:txBody>
      </p:sp>
      <p:sp>
        <p:nvSpPr>
          <p:cNvPr id="4" name="标题 3">
            <a:extLst>
              <a:ext uri="{FF2B5EF4-FFF2-40B4-BE49-F238E27FC236}">
                <a16:creationId xmlns:a16="http://schemas.microsoft.com/office/drawing/2014/main" id="{78B241CD-6470-B79D-8747-FD544274015A}"/>
              </a:ext>
            </a:extLst>
          </p:cNvPr>
          <p:cNvSpPr>
            <a:spLocks noGrp="1"/>
          </p:cNvSpPr>
          <p:nvPr>
            <p:ph type="title"/>
          </p:nvPr>
        </p:nvSpPr>
        <p:spPr/>
        <p:txBody>
          <a:bodyPr/>
          <a:lstStyle/>
          <a:p>
            <a:r>
              <a:rPr lang="zh-CN" altLang="en-US" dirty="0"/>
              <a:t>物理设计</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FEFE-8F0B-A434-0929-865DAF6C098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E1D1FEB-ED00-8D86-E7F6-E098FE56E529}"/>
              </a:ext>
            </a:extLst>
          </p:cNvPr>
          <p:cNvSpPr txBox="1"/>
          <p:nvPr/>
        </p:nvSpPr>
        <p:spPr>
          <a:xfrm>
            <a:off x="1006545" y="2781596"/>
            <a:ext cx="7458075" cy="642035"/>
          </a:xfrm>
          <a:prstGeom prst="rect">
            <a:avLst/>
          </a:prstGeom>
          <a:noFill/>
          <a:ln/>
        </p:spPr>
        <p:txBody>
          <a:bodyPr wrap="square" lIns="0" tIns="0" rIns="0" bIns="0" rtlCol="0" anchor="t">
            <a:spAutoFit/>
          </a:bodyPr>
          <a:lstStyle/>
          <a:p>
            <a:pPr>
              <a:lnSpc>
                <a:spcPct val="96000"/>
              </a:lnSpc>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数据库实施和运维</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8D7F502D-E4C9-AF71-3658-275AF4482C54}"/>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94EE274F-18E4-C79F-EE88-9E0D7E7324BB}"/>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C7027EDD-E42A-EC62-7EDA-10342BE046DD}"/>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519951A2-BC7D-AD02-50D2-7CCF24B88D53}"/>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C7DA4DCA-AB8F-EA6F-E5BE-2BA7130CC62D}"/>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5751FCE7-53A2-60FE-15D6-CE00B17E3AC6}"/>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45F43D1F-6C52-C53D-1448-54B3D7889BCF}"/>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8B2D01C3-C999-F355-53CF-ADC34F6BEF35}"/>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24629905-6CA7-C175-EE39-E6463E1AC5FC}"/>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5A809A4A-0783-06D2-2B45-3B15DC190D01}"/>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B86ECA3F-4126-F8D5-CEB5-DF131796F559}"/>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09A4FAD3-3F33-A37D-8FC0-E670CF4C996A}"/>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9E0D9F22-384E-3E15-178A-49BF086D786D}"/>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3893ADCB-00BE-37F3-F7A4-09CD4168C29A}"/>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53B4CF2E-D928-464A-1972-86A40CA7F485}"/>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6</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7652431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AutoShape 4"/>
          <p:cNvSpPr/>
          <p:nvPr/>
        </p:nvSpPr>
        <p:spPr>
          <a:xfrm>
            <a:off x="5599731" y="1253548"/>
            <a:ext cx="1828800" cy="1391870"/>
          </a:xfrm>
          <a:prstGeom prst="wedgeRoundRectCallout">
            <a:avLst>
              <a:gd name="adj1" fmla="val -178348"/>
              <a:gd name="adj2" fmla="val 26867"/>
              <a:gd name="adj3" fmla="val 16667"/>
            </a:avLst>
          </a:prstGeom>
          <a:solidFill>
            <a:schemeClr val="accent1"/>
          </a:solidFill>
          <a:ln w="9525" cap="flat" cmpd="sng">
            <a:solidFill>
              <a:schemeClr val="hlink"/>
            </a:solidFill>
            <a:prstDash val="solid"/>
            <a:miter/>
            <a:headEnd type="none" w="med" len="med"/>
            <a:tailEnd type="none" w="med" len="med"/>
          </a:ln>
        </p:spPr>
        <p:txBody>
          <a:bodyPr anchor="t" anchorCtr="0">
            <a:spAutoFit/>
          </a:bodyPr>
          <a:lstStyle/>
          <a:p>
            <a:pPr>
              <a:spcBef>
                <a:spcPct val="50000"/>
              </a:spcBef>
            </a:pPr>
            <a:r>
              <a:rPr lang="zh-CN" altLang="en-US" sz="1500" dirty="0">
                <a:solidFill>
                  <a:schemeClr val="bg1"/>
                </a:solidFill>
                <a:latin typeface="Microsoft YaHei" panose="020B0503020204020204" pitchFamily="34" charset="-122"/>
                <a:ea typeface="Microsoft YaHei" panose="020B0503020204020204" pitchFamily="34" charset="-122"/>
              </a:rPr>
              <a:t>   </a:t>
            </a:r>
            <a:r>
              <a:rPr lang="en-US" altLang="zh-CN" sz="1350" dirty="0">
                <a:solidFill>
                  <a:schemeClr val="bg1"/>
                </a:solidFill>
                <a:latin typeface="Microsoft YaHei" panose="020B0503020204020204" pitchFamily="34" charset="-122"/>
                <a:ea typeface="Microsoft YaHei" panose="020B0503020204020204" pitchFamily="34" charset="-122"/>
              </a:rPr>
              <a:t>1.</a:t>
            </a:r>
            <a:r>
              <a:rPr lang="zh-CN" altLang="en-US" sz="1350" dirty="0">
                <a:solidFill>
                  <a:schemeClr val="bg1"/>
                </a:solidFill>
                <a:latin typeface="Microsoft YaHei" panose="020B0503020204020204" pitchFamily="34" charset="-122"/>
                <a:ea typeface="Microsoft YaHei" panose="020B0503020204020204" pitchFamily="34" charset="-122"/>
              </a:rPr>
              <a:t>筛选数据</a:t>
            </a:r>
          </a:p>
          <a:p>
            <a:pPr>
              <a:spcBef>
                <a:spcPct val="50000"/>
              </a:spcBef>
            </a:pPr>
            <a:r>
              <a:rPr lang="zh-CN" altLang="en-US" sz="1350" dirty="0">
                <a:solidFill>
                  <a:schemeClr val="bg1"/>
                </a:solidFill>
                <a:latin typeface="Microsoft YaHei" panose="020B0503020204020204" pitchFamily="34" charset="-122"/>
                <a:ea typeface="Microsoft YaHei" panose="020B0503020204020204" pitchFamily="34" charset="-122"/>
              </a:rPr>
              <a:t>   </a:t>
            </a:r>
            <a:r>
              <a:rPr lang="en-US" altLang="zh-CN" sz="1350" dirty="0">
                <a:solidFill>
                  <a:schemeClr val="bg1"/>
                </a:solidFill>
                <a:latin typeface="Microsoft YaHei" panose="020B0503020204020204" pitchFamily="34" charset="-122"/>
                <a:ea typeface="Microsoft YaHei" panose="020B0503020204020204" pitchFamily="34" charset="-122"/>
              </a:rPr>
              <a:t>2.</a:t>
            </a:r>
            <a:r>
              <a:rPr lang="zh-CN" altLang="en-US" sz="1350" dirty="0">
                <a:solidFill>
                  <a:schemeClr val="bg1"/>
                </a:solidFill>
                <a:latin typeface="Microsoft YaHei" panose="020B0503020204020204" pitchFamily="34" charset="-122"/>
                <a:ea typeface="Microsoft YaHei" panose="020B0503020204020204" pitchFamily="34" charset="-122"/>
              </a:rPr>
              <a:t>转换数据格式</a:t>
            </a:r>
          </a:p>
          <a:p>
            <a:pPr>
              <a:spcBef>
                <a:spcPct val="50000"/>
              </a:spcBef>
            </a:pPr>
            <a:r>
              <a:rPr lang="zh-CN" altLang="en-US" sz="1350" dirty="0">
                <a:solidFill>
                  <a:schemeClr val="bg1"/>
                </a:solidFill>
                <a:latin typeface="Microsoft YaHei" panose="020B0503020204020204" pitchFamily="34" charset="-122"/>
                <a:ea typeface="Microsoft YaHei" panose="020B0503020204020204" pitchFamily="34" charset="-122"/>
              </a:rPr>
              <a:t>   </a:t>
            </a:r>
            <a:r>
              <a:rPr lang="en-US" altLang="zh-CN" sz="1350" dirty="0">
                <a:solidFill>
                  <a:schemeClr val="bg1"/>
                </a:solidFill>
                <a:latin typeface="Microsoft YaHei" panose="020B0503020204020204" pitchFamily="34" charset="-122"/>
                <a:ea typeface="Microsoft YaHei" panose="020B0503020204020204" pitchFamily="34" charset="-122"/>
              </a:rPr>
              <a:t>3.</a:t>
            </a:r>
            <a:r>
              <a:rPr lang="zh-CN" altLang="en-US" sz="1350" dirty="0">
                <a:solidFill>
                  <a:schemeClr val="bg1"/>
                </a:solidFill>
                <a:latin typeface="Microsoft YaHei" panose="020B0503020204020204" pitchFamily="34" charset="-122"/>
                <a:ea typeface="Microsoft YaHei" panose="020B0503020204020204" pitchFamily="34" charset="-122"/>
              </a:rPr>
              <a:t>输入数据</a:t>
            </a:r>
          </a:p>
          <a:p>
            <a:pPr>
              <a:spcBef>
                <a:spcPct val="50000"/>
              </a:spcBef>
            </a:pPr>
            <a:r>
              <a:rPr lang="zh-CN" altLang="en-US" sz="1350" dirty="0">
                <a:solidFill>
                  <a:schemeClr val="bg1"/>
                </a:solidFill>
                <a:latin typeface="Microsoft YaHei" panose="020B0503020204020204" pitchFamily="34" charset="-122"/>
                <a:ea typeface="Microsoft YaHei" panose="020B0503020204020204" pitchFamily="34" charset="-122"/>
              </a:rPr>
              <a:t>   </a:t>
            </a:r>
            <a:r>
              <a:rPr lang="en-US" altLang="zh-CN" sz="1350" dirty="0">
                <a:solidFill>
                  <a:schemeClr val="bg1"/>
                </a:solidFill>
                <a:latin typeface="Microsoft YaHei" panose="020B0503020204020204" pitchFamily="34" charset="-122"/>
                <a:ea typeface="Microsoft YaHei" panose="020B0503020204020204" pitchFamily="34" charset="-122"/>
              </a:rPr>
              <a:t>4.</a:t>
            </a:r>
            <a:r>
              <a:rPr lang="zh-CN" altLang="en-US" sz="1350" dirty="0">
                <a:solidFill>
                  <a:schemeClr val="bg1"/>
                </a:solidFill>
                <a:latin typeface="Microsoft YaHei" panose="020B0503020204020204" pitchFamily="34" charset="-122"/>
                <a:ea typeface="Microsoft YaHei" panose="020B0503020204020204" pitchFamily="34" charset="-122"/>
              </a:rPr>
              <a:t>校验数据</a:t>
            </a:r>
          </a:p>
        </p:txBody>
      </p:sp>
      <p:grpSp>
        <p:nvGrpSpPr>
          <p:cNvPr id="67588" name="Group 5"/>
          <p:cNvGrpSpPr/>
          <p:nvPr/>
        </p:nvGrpSpPr>
        <p:grpSpPr>
          <a:xfrm>
            <a:off x="1988626" y="2790095"/>
            <a:ext cx="6057900" cy="1902621"/>
            <a:chOff x="0" y="-421"/>
            <a:chExt cx="5424" cy="1598"/>
          </a:xfrm>
        </p:grpSpPr>
        <p:sp>
          <p:nvSpPr>
            <p:cNvPr id="67589" name="AutoShape 6"/>
            <p:cNvSpPr/>
            <p:nvPr/>
          </p:nvSpPr>
          <p:spPr>
            <a:xfrm>
              <a:off x="0" y="340"/>
              <a:ext cx="5424" cy="837"/>
            </a:xfrm>
            <a:prstGeom prst="wedgeRoundRectCallout">
              <a:avLst>
                <a:gd name="adj1" fmla="val 1954"/>
                <a:gd name="adj2" fmla="val -79644"/>
                <a:gd name="adj3" fmla="val 16667"/>
              </a:avLst>
            </a:prstGeom>
            <a:solidFill>
              <a:srgbClr val="FFF1B5"/>
            </a:solidFill>
            <a:ln w="9525" cap="flat" cmpd="sng">
              <a:solidFill>
                <a:schemeClr val="hlink"/>
              </a:solidFill>
              <a:prstDash val="solid"/>
              <a:miter/>
              <a:headEnd type="none" w="med" len="med"/>
              <a:tailEnd type="none" w="med" len="med"/>
            </a:ln>
          </p:spPr>
          <p:txBody>
            <a:bodyPr anchor="t" anchorCtr="0">
              <a:spAutoFit/>
            </a:bodyPr>
            <a:lstStyle/>
            <a:p>
              <a:pPr>
                <a:spcBef>
                  <a:spcPct val="50000"/>
                </a:spcBef>
              </a:pPr>
              <a:r>
                <a:rPr lang="zh-CN" altLang="en-US" sz="1500" dirty="0">
                  <a:latin typeface="Microsoft YaHei" panose="020B0503020204020204" pitchFamily="34" charset="-122"/>
                  <a:ea typeface="Microsoft YaHei" panose="020B0503020204020204" pitchFamily="34" charset="-122"/>
                </a:rPr>
                <a:t>功能测试：即实际运行应用程序，执行对数据库的各种操作，测试应用程序的各种功能。 </a:t>
              </a:r>
            </a:p>
            <a:p>
              <a:pPr>
                <a:spcBef>
                  <a:spcPct val="50000"/>
                </a:spcBef>
              </a:pPr>
              <a:r>
                <a:rPr lang="zh-CN" altLang="en-US" sz="1500" dirty="0">
                  <a:latin typeface="Microsoft YaHei" panose="020B0503020204020204" pitchFamily="34" charset="-122"/>
                  <a:ea typeface="Microsoft YaHei" panose="020B0503020204020204" pitchFamily="34" charset="-122"/>
                </a:rPr>
                <a:t>性能测试：即测量系统的性能指标，分析是否符合设计目标。</a:t>
              </a:r>
              <a:r>
                <a:rPr lang="zh-CN" altLang="en-US" sz="1500" dirty="0">
                  <a:solidFill>
                    <a:schemeClr val="bg1"/>
                  </a:solidFill>
                  <a:latin typeface="Microsoft YaHei" panose="020B0503020204020204" pitchFamily="34" charset="-122"/>
                  <a:ea typeface="Microsoft YaHei" panose="020B0503020204020204" pitchFamily="34" charset="-122"/>
                </a:rPr>
                <a:t> </a:t>
              </a:r>
            </a:p>
          </p:txBody>
        </p:sp>
        <p:sp>
          <p:nvSpPr>
            <p:cNvPr id="67590" name="Line 7"/>
            <p:cNvSpPr/>
            <p:nvPr/>
          </p:nvSpPr>
          <p:spPr>
            <a:xfrm flipH="1" flipV="1">
              <a:off x="1855" y="-421"/>
              <a:ext cx="978" cy="520"/>
            </a:xfrm>
            <a:prstGeom prst="line">
              <a:avLst/>
            </a:prstGeom>
            <a:ln w="28575" cap="flat" cmpd="sng">
              <a:solidFill>
                <a:schemeClr val="hlink"/>
              </a:solidFill>
              <a:prstDash val="solid"/>
              <a:round/>
              <a:headEnd type="none" w="med" len="med"/>
              <a:tailEnd type="non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2" name="Rectangle 3"/>
          <p:cNvSpPr>
            <a:spLocks noGrp="1"/>
          </p:cNvSpPr>
          <p:nvPr>
            <p:custDataLst>
              <p:tags r:id="rId1"/>
            </p:custDataLst>
          </p:nvPr>
        </p:nvSpPr>
        <p:spPr>
          <a:xfrm>
            <a:off x="872296" y="1354917"/>
            <a:ext cx="6858000" cy="2125318"/>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zh-CN" altLang="en-US" sz="2100" dirty="0">
                <a:solidFill>
                  <a:schemeClr val="hlink"/>
                </a:solidFill>
                <a:latin typeface="Microsoft YaHei" panose="020B0503020204020204" pitchFamily="34" charset="-122"/>
                <a:ea typeface="Microsoft YaHei" panose="020B0503020204020204" pitchFamily="34" charset="-122"/>
              </a:rPr>
              <a:t>一、数据库实施主要任务：</a:t>
            </a:r>
          </a:p>
          <a:p>
            <a:pPr eaLnBrk="1" hangingPunct="1">
              <a:buNone/>
            </a:pPr>
            <a:r>
              <a:rPr lang="zh-CN" altLang="en-US" sz="2100" dirty="0">
                <a:latin typeface="Microsoft YaHei" panose="020B0503020204020204" pitchFamily="34" charset="-122"/>
                <a:ea typeface="Microsoft YaHei" panose="020B0503020204020204" pitchFamily="34" charset="-122"/>
              </a:rPr>
              <a:t>（</a:t>
            </a:r>
            <a:r>
              <a:rPr lang="en-US" altLang="zh-CN" sz="2100" dirty="0">
                <a:latin typeface="Microsoft YaHei" panose="020B0503020204020204" pitchFamily="34" charset="-122"/>
                <a:ea typeface="Microsoft YaHei" panose="020B0503020204020204" pitchFamily="34" charset="-122"/>
              </a:rPr>
              <a:t>1</a:t>
            </a:r>
            <a:r>
              <a:rPr lang="zh-CN" altLang="en-US" sz="2100" dirty="0">
                <a:latin typeface="Microsoft YaHei" panose="020B0503020204020204" pitchFamily="34" charset="-122"/>
                <a:ea typeface="Microsoft YaHei" panose="020B0503020204020204" pitchFamily="34" charset="-122"/>
              </a:rPr>
              <a:t>）定义数据库结构 </a:t>
            </a:r>
          </a:p>
          <a:p>
            <a:pPr eaLnBrk="1" hangingPunct="1">
              <a:buNone/>
            </a:pPr>
            <a:r>
              <a:rPr lang="zh-CN" altLang="en-US" sz="2100" dirty="0">
                <a:latin typeface="Microsoft YaHei" panose="020B0503020204020204" pitchFamily="34" charset="-122"/>
                <a:ea typeface="Microsoft YaHei" panose="020B0503020204020204" pitchFamily="34" charset="-122"/>
              </a:rPr>
              <a:t>（</a:t>
            </a:r>
            <a:r>
              <a:rPr lang="en-US" altLang="zh-CN" sz="2100" dirty="0">
                <a:latin typeface="Microsoft YaHei" panose="020B0503020204020204" pitchFamily="34" charset="-122"/>
                <a:ea typeface="Microsoft YaHei" panose="020B0503020204020204" pitchFamily="34" charset="-122"/>
              </a:rPr>
              <a:t>2</a:t>
            </a:r>
            <a:r>
              <a:rPr lang="zh-CN" altLang="en-US" sz="2100" dirty="0">
                <a:latin typeface="Microsoft YaHei" panose="020B0503020204020204" pitchFamily="34" charset="-122"/>
                <a:ea typeface="Microsoft YaHei" panose="020B0503020204020204" pitchFamily="34" charset="-122"/>
              </a:rPr>
              <a:t>）组织数据入库</a:t>
            </a:r>
          </a:p>
          <a:p>
            <a:pPr eaLnBrk="1" hangingPunct="1">
              <a:buNone/>
            </a:pPr>
            <a:r>
              <a:rPr lang="zh-CN" altLang="en-US" sz="2100" dirty="0">
                <a:latin typeface="Microsoft YaHei" panose="020B0503020204020204" pitchFamily="34" charset="-122"/>
                <a:ea typeface="Microsoft YaHei" panose="020B0503020204020204" pitchFamily="34" charset="-122"/>
              </a:rPr>
              <a:t>（</a:t>
            </a:r>
            <a:r>
              <a:rPr lang="en-US" altLang="zh-CN" sz="2100" dirty="0">
                <a:latin typeface="Microsoft YaHei" panose="020B0503020204020204" pitchFamily="34" charset="-122"/>
                <a:ea typeface="Microsoft YaHei" panose="020B0503020204020204" pitchFamily="34" charset="-122"/>
              </a:rPr>
              <a:t>3</a:t>
            </a:r>
            <a:r>
              <a:rPr lang="zh-CN" altLang="en-US" sz="2100" dirty="0">
                <a:latin typeface="Microsoft YaHei" panose="020B0503020204020204" pitchFamily="34" charset="-122"/>
                <a:ea typeface="Microsoft YaHei" panose="020B0503020204020204" pitchFamily="34" charset="-122"/>
              </a:rPr>
              <a:t>）编制与调试应用程序 </a:t>
            </a:r>
          </a:p>
          <a:p>
            <a:pPr eaLnBrk="1" hangingPunct="1">
              <a:buNone/>
            </a:pPr>
            <a:r>
              <a:rPr lang="zh-CN" altLang="en-US" sz="2100" dirty="0">
                <a:latin typeface="Microsoft YaHei" panose="020B0503020204020204" pitchFamily="34" charset="-122"/>
                <a:ea typeface="Microsoft YaHei" panose="020B0503020204020204" pitchFamily="34" charset="-122"/>
              </a:rPr>
              <a:t>（</a:t>
            </a:r>
            <a:r>
              <a:rPr lang="en-US" altLang="zh-CN" sz="2100" dirty="0">
                <a:latin typeface="Microsoft YaHei" panose="020B0503020204020204" pitchFamily="34" charset="-122"/>
                <a:ea typeface="Microsoft YaHei" panose="020B0503020204020204" pitchFamily="34" charset="-122"/>
              </a:rPr>
              <a:t>4</a:t>
            </a:r>
            <a:r>
              <a:rPr lang="zh-CN" altLang="en-US" sz="2100" dirty="0">
                <a:latin typeface="Microsoft YaHei" panose="020B0503020204020204" pitchFamily="34" charset="-122"/>
                <a:ea typeface="Microsoft YaHei" panose="020B0503020204020204" pitchFamily="34" charset="-122"/>
              </a:rPr>
              <a:t>）数据库试运行。 </a:t>
            </a:r>
          </a:p>
          <a:p>
            <a:pPr eaLnBrk="1" hangingPunct="1">
              <a:buNone/>
            </a:pPr>
            <a:endParaRPr lang="zh-CN" altLang="en-US" sz="2100" dirty="0">
              <a:latin typeface="Microsoft YaHei" panose="020B0503020204020204" pitchFamily="34" charset="-122"/>
              <a:ea typeface="Microsoft YaHei" panose="020B0503020204020204" pitchFamily="34" charset="-122"/>
            </a:endParaRPr>
          </a:p>
          <a:p>
            <a:pPr eaLnBrk="1" hangingPunct="1">
              <a:buNone/>
            </a:pPr>
            <a:endParaRPr lang="zh-CN" altLang="en-US" sz="2100" dirty="0">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CFC7EB32-4ED7-0BBD-FF4D-867DD1EBA326}"/>
              </a:ext>
            </a:extLst>
          </p:cNvPr>
          <p:cNvSpPr>
            <a:spLocks noGrp="1"/>
          </p:cNvSpPr>
          <p:nvPr>
            <p:ph type="title"/>
          </p:nvPr>
        </p:nvSpPr>
        <p:spPr/>
        <p:txBody>
          <a:bodyPr/>
          <a:lstStyle/>
          <a:p>
            <a:r>
              <a:rPr lang="zh-CN" altLang="en-US" dirty="0"/>
              <a:t>数据库实施与维护</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AutoShape 4"/>
          <p:cNvSpPr/>
          <p:nvPr/>
        </p:nvSpPr>
        <p:spPr>
          <a:xfrm>
            <a:off x="1629260" y="1858162"/>
            <a:ext cx="6335316" cy="1174294"/>
          </a:xfrm>
          <a:prstGeom prst="roundRect">
            <a:avLst>
              <a:gd name="adj" fmla="val 16667"/>
            </a:avLst>
          </a:prstGeom>
          <a:noFill/>
          <a:ln w="9525" cap="flat" cmpd="sng">
            <a:solidFill>
              <a:schemeClr val="hlink"/>
            </a:solidFill>
            <a:prstDash val="solid"/>
            <a:round/>
            <a:headEnd type="none" w="med" len="med"/>
            <a:tailEnd type="none" w="med" len="med"/>
          </a:ln>
        </p:spPr>
        <p:txBody>
          <a:bodyPr anchor="t" anchorCtr="0">
            <a:spAutoFit/>
          </a:bodyPr>
          <a:lstStyle/>
          <a:p>
            <a:pPr>
              <a:lnSpc>
                <a:spcPct val="120000"/>
              </a:lnSpc>
            </a:pPr>
            <a:r>
              <a:rPr lang="zh-CN" altLang="en-US" dirty="0">
                <a:latin typeface="Microsoft YaHei" panose="020B0503020204020204" pitchFamily="34" charset="-122"/>
                <a:ea typeface="Microsoft YaHei" panose="020B0503020204020204" pitchFamily="34" charset="-122"/>
              </a:rPr>
              <a:t>数据库投入运行并不意味着设计过程的终结，由于应用环境在不断变化，数据库运行过程中物理存储也会不断变化，数据库经常性的维护工作主要是由</a:t>
            </a:r>
            <a:r>
              <a:rPr lang="en-US" altLang="zh-CN" dirty="0">
                <a:latin typeface="Microsoft YaHei" panose="020B0503020204020204" pitchFamily="34" charset="-122"/>
                <a:ea typeface="Microsoft YaHei" panose="020B0503020204020204" pitchFamily="34" charset="-122"/>
              </a:rPr>
              <a:t>DBA</a:t>
            </a:r>
            <a:r>
              <a:rPr lang="zh-CN" altLang="en-US" dirty="0">
                <a:latin typeface="Microsoft YaHei" panose="020B0503020204020204" pitchFamily="34" charset="-122"/>
                <a:ea typeface="Microsoft YaHei" panose="020B0503020204020204" pitchFamily="34" charset="-122"/>
              </a:rPr>
              <a:t>完成的，它包括：</a:t>
            </a:r>
          </a:p>
        </p:txBody>
      </p:sp>
      <p:sp>
        <p:nvSpPr>
          <p:cNvPr id="2" name="Rectangle 3"/>
          <p:cNvSpPr>
            <a:spLocks noGrp="1"/>
          </p:cNvSpPr>
          <p:nvPr>
            <p:custDataLst>
              <p:tags r:id="rId1"/>
            </p:custDataLst>
          </p:nvPr>
        </p:nvSpPr>
        <p:spPr>
          <a:xfrm>
            <a:off x="742006" y="1404534"/>
            <a:ext cx="6858000" cy="315971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a:lstStyle>
          <a:p>
            <a:pPr eaLnBrk="1" hangingPunct="1">
              <a:buNone/>
            </a:pPr>
            <a:r>
              <a:rPr lang="zh-CN" altLang="en-US" sz="2100" dirty="0">
                <a:solidFill>
                  <a:schemeClr val="hlink"/>
                </a:solidFill>
                <a:latin typeface="Microsoft YaHei" panose="020B0503020204020204" pitchFamily="34" charset="-122"/>
                <a:ea typeface="Microsoft YaHei" panose="020B0503020204020204" pitchFamily="34" charset="-122"/>
              </a:rPr>
              <a:t>二、数据库的维护</a:t>
            </a:r>
          </a:p>
          <a:p>
            <a:pPr eaLnBrk="1" hangingPunct="1">
              <a:buNone/>
            </a:pPr>
            <a:endParaRPr lang="zh-CN" altLang="en-US" sz="2100" dirty="0">
              <a:solidFill>
                <a:schemeClr val="hlink"/>
              </a:solidFill>
              <a:latin typeface="Microsoft YaHei" panose="020B0503020204020204" pitchFamily="34" charset="-122"/>
              <a:ea typeface="Microsoft YaHei" panose="020B0503020204020204" pitchFamily="34" charset="-122"/>
            </a:endParaRPr>
          </a:p>
          <a:p>
            <a:pPr eaLnBrk="1" hangingPunct="1">
              <a:buNone/>
            </a:pPr>
            <a:endParaRPr lang="zh-CN" altLang="en-US" sz="2100" dirty="0">
              <a:solidFill>
                <a:schemeClr val="hlink"/>
              </a:solidFill>
              <a:latin typeface="Microsoft YaHei" panose="020B0503020204020204" pitchFamily="34" charset="-122"/>
              <a:ea typeface="Microsoft YaHei" panose="020B0503020204020204" pitchFamily="34" charset="-122"/>
            </a:endParaRPr>
          </a:p>
          <a:p>
            <a:pPr eaLnBrk="1" hangingPunct="1">
              <a:buNone/>
            </a:pPr>
            <a:endParaRPr lang="zh-CN" altLang="en-US" sz="1800" dirty="0">
              <a:latin typeface="Microsoft YaHei" panose="020B0503020204020204" pitchFamily="34" charset="-122"/>
              <a:ea typeface="Microsoft YaHei" panose="020B0503020204020204" pitchFamily="34" charset="-122"/>
            </a:endParaRPr>
          </a:p>
          <a:p>
            <a:pPr eaLnBrk="1" hangingPunct="1">
              <a:buNone/>
            </a:pPr>
            <a:endParaRPr lang="zh-CN" altLang="en-US" sz="1800" dirty="0">
              <a:latin typeface="Microsoft YaHei" panose="020B0503020204020204" pitchFamily="34" charset="-122"/>
              <a:ea typeface="Microsoft YaHei" panose="020B0503020204020204" pitchFamily="34" charset="-122"/>
            </a:endParaRPr>
          </a:p>
          <a:p>
            <a:pPr eaLnBrk="1" hangingPunct="1">
              <a:buNone/>
            </a:pP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）数据的转储与恢复</a:t>
            </a:r>
          </a:p>
          <a:p>
            <a:pPr eaLnBrk="1" hangingPunct="1">
              <a:buNone/>
            </a:pP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）数据库的安全性、完整性控制 </a:t>
            </a:r>
          </a:p>
          <a:p>
            <a:pPr eaLnBrk="1" hangingPunct="1">
              <a:buNone/>
            </a:pP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3</a:t>
            </a:r>
            <a:r>
              <a:rPr lang="zh-CN" altLang="en-US" sz="1800" dirty="0">
                <a:latin typeface="Microsoft YaHei" panose="020B0503020204020204" pitchFamily="34" charset="-122"/>
                <a:ea typeface="Microsoft YaHei" panose="020B0503020204020204" pitchFamily="34" charset="-122"/>
              </a:rPr>
              <a:t>）数据库的性能监督、分析和改造 </a:t>
            </a:r>
          </a:p>
          <a:p>
            <a:pPr eaLnBrk="1" hangingPunct="1">
              <a:buNone/>
            </a:pP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4</a:t>
            </a:r>
            <a:r>
              <a:rPr lang="zh-CN" altLang="en-US" sz="1800" dirty="0">
                <a:latin typeface="Microsoft YaHei" panose="020B0503020204020204" pitchFamily="34" charset="-122"/>
                <a:ea typeface="Microsoft YaHei" panose="020B0503020204020204" pitchFamily="34" charset="-122"/>
              </a:rPr>
              <a:t>）数据库的重组织与重构造 </a:t>
            </a:r>
          </a:p>
        </p:txBody>
      </p:sp>
      <p:sp>
        <p:nvSpPr>
          <p:cNvPr id="5" name="标题 4">
            <a:extLst>
              <a:ext uri="{FF2B5EF4-FFF2-40B4-BE49-F238E27FC236}">
                <a16:creationId xmlns:a16="http://schemas.microsoft.com/office/drawing/2014/main" id="{C0E8C12C-A610-5813-E467-E52C1C3485EB}"/>
              </a:ext>
            </a:extLst>
          </p:cNvPr>
          <p:cNvSpPr>
            <a:spLocks noGrp="1"/>
          </p:cNvSpPr>
          <p:nvPr>
            <p:ph type="title"/>
          </p:nvPr>
        </p:nvSpPr>
        <p:spPr/>
        <p:txBody>
          <a:bodyPr/>
          <a:lstStyle/>
          <a:p>
            <a:r>
              <a:rPr lang="zh-CN" altLang="en-US" dirty="0"/>
              <a:t>数据库实施与维护</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AutoShape 2"/>
          <p:cNvSpPr/>
          <p:nvPr/>
        </p:nvSpPr>
        <p:spPr>
          <a:xfrm>
            <a:off x="1493650" y="1387099"/>
            <a:ext cx="2297906" cy="357545"/>
          </a:xfrm>
          <a:prstGeom prst="roundRect">
            <a:avLst>
              <a:gd name="adj" fmla="val 16667"/>
            </a:avLst>
          </a:prstGeom>
          <a:gradFill rotWithShape="0">
            <a:gsLst>
              <a:gs pos="0">
                <a:srgbClr val="CC3399"/>
              </a:gs>
              <a:gs pos="50000">
                <a:srgbClr val="721D56"/>
              </a:gs>
              <a:gs pos="100000">
                <a:srgbClr val="CC3399"/>
              </a:gs>
            </a:gsLst>
            <a:lin ang="5400000" scaled="1"/>
            <a:tileRect/>
          </a:gradFill>
          <a:ln w="9525" cap="flat" cmpd="sng">
            <a:solidFill>
              <a:schemeClr val="hlink"/>
            </a:solidFill>
            <a:prstDash val="solid"/>
            <a:round/>
            <a:headEnd type="none" w="med" len="med"/>
            <a:tailEnd type="none" w="med" len="med"/>
          </a:ln>
        </p:spPr>
        <p:txBody>
          <a:bodyPr anchor="t" anchorCtr="0">
            <a:spAutoFit/>
          </a:bodyPr>
          <a:lstStyle/>
          <a:p>
            <a:r>
              <a:rPr lang="zh-CN" altLang="en-US" sz="1500" dirty="0">
                <a:solidFill>
                  <a:schemeClr val="bg1"/>
                </a:solidFill>
                <a:latin typeface="Microsoft YaHei" panose="020B0503020204020204" pitchFamily="34" charset="-122"/>
                <a:ea typeface="Microsoft YaHei" panose="020B0503020204020204" pitchFamily="34" charset="-122"/>
              </a:rPr>
              <a:t>⒈ 数据库的转储和恢复</a:t>
            </a:r>
          </a:p>
        </p:txBody>
      </p:sp>
      <p:sp>
        <p:nvSpPr>
          <p:cNvPr id="69634" name="AutoShape 3"/>
          <p:cNvSpPr/>
          <p:nvPr/>
        </p:nvSpPr>
        <p:spPr>
          <a:xfrm>
            <a:off x="1493650" y="3317658"/>
            <a:ext cx="2987279" cy="357545"/>
          </a:xfrm>
          <a:prstGeom prst="roundRect">
            <a:avLst>
              <a:gd name="adj" fmla="val 16667"/>
            </a:avLst>
          </a:prstGeom>
          <a:gradFill rotWithShape="0">
            <a:gsLst>
              <a:gs pos="0">
                <a:srgbClr val="CC3399"/>
              </a:gs>
              <a:gs pos="50000">
                <a:srgbClr val="721D56"/>
              </a:gs>
              <a:gs pos="100000">
                <a:srgbClr val="CC3399"/>
              </a:gs>
            </a:gsLst>
            <a:lin ang="5400000" scaled="1"/>
            <a:tileRect/>
          </a:gradFill>
          <a:ln w="9525" cap="flat" cmpd="sng">
            <a:solidFill>
              <a:schemeClr val="hlink"/>
            </a:solidFill>
            <a:prstDash val="solid"/>
            <a:round/>
            <a:headEnd type="none" w="med" len="med"/>
            <a:tailEnd type="none" w="med" len="med"/>
          </a:ln>
        </p:spPr>
        <p:txBody>
          <a:bodyPr anchor="t" anchorCtr="0">
            <a:spAutoFit/>
          </a:bodyPr>
          <a:lstStyle/>
          <a:p>
            <a:r>
              <a:rPr lang="zh-CN" altLang="en-US" sz="1500" dirty="0">
                <a:solidFill>
                  <a:schemeClr val="bg1"/>
                </a:solidFill>
                <a:latin typeface="Microsoft YaHei" panose="020B0503020204020204" pitchFamily="34" charset="-122"/>
                <a:ea typeface="Microsoft YaHei" panose="020B0503020204020204" pitchFamily="34" charset="-122"/>
              </a:rPr>
              <a:t>⒉ 数据库的安全性、完整性控制</a:t>
            </a:r>
          </a:p>
        </p:txBody>
      </p:sp>
      <p:sp>
        <p:nvSpPr>
          <p:cNvPr id="69635" name="Rectangle 4"/>
          <p:cNvSpPr/>
          <p:nvPr/>
        </p:nvSpPr>
        <p:spPr>
          <a:xfrm>
            <a:off x="1150749" y="1844299"/>
            <a:ext cx="6572250" cy="1061381"/>
          </a:xfrm>
          <a:prstGeom prst="rect">
            <a:avLst/>
          </a:prstGeom>
          <a:noFill/>
          <a:ln w="9525">
            <a:noFill/>
          </a:ln>
        </p:spPr>
        <p:txBody>
          <a:bodyPr anchor="t" anchorCtr="0">
            <a:spAutoFit/>
          </a:bodyPr>
          <a:lstStyle/>
          <a:p>
            <a:pPr>
              <a:lnSpc>
                <a:spcPct val="120000"/>
              </a:lnSpc>
            </a:pPr>
            <a:r>
              <a:rPr lang="zh-CN" altLang="en-US" dirty="0">
                <a:latin typeface="Microsoft YaHei" panose="020B0503020204020204" pitchFamily="34" charset="-122"/>
                <a:ea typeface="Microsoft YaHei" panose="020B0503020204020204" pitchFamily="34" charset="-122"/>
              </a:rPr>
              <a:t>定期对数据库和日志文件进行备份，以保证一旦发生故障，能利用数据库备份及日志文件备份，尽快将数据库恢复到某种一致性状态，并尽可能减少对数据库的破坏</a:t>
            </a:r>
            <a:r>
              <a:rPr lang="zh-CN" altLang="en-US" sz="1350" dirty="0">
                <a:latin typeface="Microsoft YaHei" panose="020B0503020204020204" pitchFamily="34" charset="-122"/>
                <a:ea typeface="Microsoft YaHei" panose="020B0503020204020204" pitchFamily="34" charset="-122"/>
              </a:rPr>
              <a:t>。</a:t>
            </a:r>
          </a:p>
        </p:txBody>
      </p:sp>
      <p:sp>
        <p:nvSpPr>
          <p:cNvPr id="69636" name="Rectangle 5"/>
          <p:cNvSpPr/>
          <p:nvPr/>
        </p:nvSpPr>
        <p:spPr>
          <a:xfrm>
            <a:off x="1150749" y="3730249"/>
            <a:ext cx="6686550" cy="1061381"/>
          </a:xfrm>
          <a:prstGeom prst="rect">
            <a:avLst/>
          </a:prstGeom>
          <a:noFill/>
          <a:ln w="9525">
            <a:noFill/>
          </a:ln>
        </p:spPr>
        <p:txBody>
          <a:bodyPr anchor="t" anchorCtr="0">
            <a:spAutoFit/>
          </a:bodyPr>
          <a:lstStyle/>
          <a:p>
            <a:pPr>
              <a:lnSpc>
                <a:spcPct val="120000"/>
              </a:lnSpc>
            </a:pPr>
            <a:r>
              <a:rPr lang="en-US" altLang="zh-CN" dirty="0">
                <a:latin typeface="Microsoft YaHei" panose="020B0503020204020204" pitchFamily="34" charset="-122"/>
                <a:ea typeface="Microsoft YaHei" panose="020B0503020204020204" pitchFamily="34" charset="-122"/>
              </a:rPr>
              <a:t>DBA</a:t>
            </a:r>
            <a:r>
              <a:rPr lang="zh-CN" altLang="en-US" dirty="0">
                <a:latin typeface="Microsoft YaHei" panose="020B0503020204020204" pitchFamily="34" charset="-122"/>
                <a:ea typeface="Microsoft YaHei" panose="020B0503020204020204" pitchFamily="34" charset="-122"/>
              </a:rPr>
              <a:t>必须根据用户的实际需要授予不同的操作权限。另外，由于应用环境的变化，数据库的完整性约束条件也会变化，也需要</a:t>
            </a:r>
            <a:r>
              <a:rPr lang="en-US" altLang="zh-CN" dirty="0">
                <a:latin typeface="Microsoft YaHei" panose="020B0503020204020204" pitchFamily="34" charset="-122"/>
                <a:ea typeface="Microsoft YaHei" panose="020B0503020204020204" pitchFamily="34" charset="-122"/>
              </a:rPr>
              <a:t>DBA</a:t>
            </a:r>
            <a:r>
              <a:rPr lang="zh-CN" altLang="en-US" dirty="0">
                <a:latin typeface="Microsoft YaHei" panose="020B0503020204020204" pitchFamily="34" charset="-122"/>
                <a:ea typeface="Microsoft YaHei" panose="020B0503020204020204" pitchFamily="34" charset="-122"/>
              </a:rPr>
              <a:t>不断修正，以满足用户要求。</a:t>
            </a:r>
          </a:p>
        </p:txBody>
      </p:sp>
      <p:sp>
        <p:nvSpPr>
          <p:cNvPr id="4" name="标题 3">
            <a:extLst>
              <a:ext uri="{FF2B5EF4-FFF2-40B4-BE49-F238E27FC236}">
                <a16:creationId xmlns:a16="http://schemas.microsoft.com/office/drawing/2014/main" id="{D60EEF42-D5A0-0FC9-45E5-0B42A894A294}"/>
              </a:ext>
            </a:extLst>
          </p:cNvPr>
          <p:cNvSpPr>
            <a:spLocks noGrp="1"/>
          </p:cNvSpPr>
          <p:nvPr>
            <p:ph type="title"/>
          </p:nvPr>
        </p:nvSpPr>
        <p:spPr/>
        <p:txBody>
          <a:bodyPr/>
          <a:lstStyle/>
          <a:p>
            <a:r>
              <a:rPr lang="zh-CN" altLang="en-US" dirty="0"/>
              <a:t>数据库实施与维护</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AutoShape 2"/>
          <p:cNvSpPr/>
          <p:nvPr/>
        </p:nvSpPr>
        <p:spPr>
          <a:xfrm>
            <a:off x="1478151" y="1239610"/>
            <a:ext cx="3345656" cy="357545"/>
          </a:xfrm>
          <a:prstGeom prst="roundRect">
            <a:avLst>
              <a:gd name="adj" fmla="val 16667"/>
            </a:avLst>
          </a:prstGeom>
          <a:gradFill rotWithShape="0">
            <a:gsLst>
              <a:gs pos="0">
                <a:srgbClr val="CC3399"/>
              </a:gs>
              <a:gs pos="50000">
                <a:srgbClr val="721D56"/>
              </a:gs>
              <a:gs pos="100000">
                <a:srgbClr val="CC3399"/>
              </a:gs>
            </a:gsLst>
            <a:lin ang="5400000" scaled="1"/>
            <a:tileRect/>
          </a:gradFill>
          <a:ln w="9525" cap="flat" cmpd="sng">
            <a:solidFill>
              <a:schemeClr val="hlink"/>
            </a:solidFill>
            <a:prstDash val="solid"/>
            <a:round/>
            <a:headEnd type="none" w="med" len="med"/>
            <a:tailEnd type="none" w="med" len="med"/>
          </a:ln>
        </p:spPr>
        <p:txBody>
          <a:bodyPr anchor="t" anchorCtr="0">
            <a:spAutoFit/>
          </a:bodyPr>
          <a:lstStyle/>
          <a:p>
            <a:r>
              <a:rPr lang="zh-CN" altLang="en-US" sz="1500" dirty="0">
                <a:solidFill>
                  <a:schemeClr val="bg1"/>
                </a:solidFill>
                <a:latin typeface="Microsoft YaHei" panose="020B0503020204020204" pitchFamily="34" charset="-122"/>
                <a:ea typeface="Microsoft YaHei" panose="020B0503020204020204" pitchFamily="34" charset="-122"/>
              </a:rPr>
              <a:t> ⒊ 数据库性能的监督、分析和改进</a:t>
            </a:r>
          </a:p>
        </p:txBody>
      </p:sp>
      <p:sp>
        <p:nvSpPr>
          <p:cNvPr id="70658" name="AutoShape 3"/>
          <p:cNvSpPr/>
          <p:nvPr/>
        </p:nvSpPr>
        <p:spPr>
          <a:xfrm>
            <a:off x="1478151" y="2800483"/>
            <a:ext cx="2714625" cy="357545"/>
          </a:xfrm>
          <a:prstGeom prst="roundRect">
            <a:avLst>
              <a:gd name="adj" fmla="val 16667"/>
            </a:avLst>
          </a:prstGeom>
          <a:gradFill rotWithShape="0">
            <a:gsLst>
              <a:gs pos="0">
                <a:srgbClr val="CC3399"/>
              </a:gs>
              <a:gs pos="50000">
                <a:srgbClr val="721D56"/>
              </a:gs>
              <a:gs pos="100000">
                <a:srgbClr val="CC3399"/>
              </a:gs>
            </a:gsLst>
            <a:lin ang="5400000" scaled="1"/>
            <a:tileRect/>
          </a:gradFill>
          <a:ln w="9525" cap="flat" cmpd="sng">
            <a:solidFill>
              <a:schemeClr val="hlink"/>
            </a:solidFill>
            <a:prstDash val="solid"/>
            <a:round/>
            <a:headEnd type="none" w="med" len="med"/>
            <a:tailEnd type="none" w="med" len="med"/>
          </a:ln>
        </p:spPr>
        <p:txBody>
          <a:bodyPr anchor="t" anchorCtr="0">
            <a:spAutoFit/>
          </a:bodyPr>
          <a:lstStyle/>
          <a:p>
            <a:r>
              <a:rPr lang="zh-CN" altLang="en-US" sz="1500" dirty="0">
                <a:solidFill>
                  <a:schemeClr val="bg1"/>
                </a:solidFill>
                <a:latin typeface="Microsoft YaHei" panose="020B0503020204020204" pitchFamily="34" charset="-122"/>
                <a:ea typeface="Microsoft YaHei" panose="020B0503020204020204" pitchFamily="34" charset="-122"/>
              </a:rPr>
              <a:t>⒋ 数据库的重组织和重构造</a:t>
            </a:r>
          </a:p>
        </p:txBody>
      </p:sp>
      <p:sp>
        <p:nvSpPr>
          <p:cNvPr id="70659" name="Rectangle 4"/>
          <p:cNvSpPr/>
          <p:nvPr/>
        </p:nvSpPr>
        <p:spPr>
          <a:xfrm>
            <a:off x="1363850" y="1620667"/>
            <a:ext cx="6381875" cy="899862"/>
          </a:xfrm>
          <a:prstGeom prst="rect">
            <a:avLst/>
          </a:prstGeom>
          <a:noFill/>
          <a:ln w="9525">
            <a:noFill/>
          </a:ln>
        </p:spPr>
        <p:txBody>
          <a:bodyPr wrap="none" anchor="t" anchorCtr="0">
            <a:spAutoFit/>
          </a:bodyPr>
          <a:lstStyle/>
          <a:p>
            <a:pPr>
              <a:lnSpc>
                <a:spcPct val="120000"/>
              </a:lnSpc>
            </a:pPr>
            <a:r>
              <a:rPr lang="zh-CN" altLang="en-US" sz="1500" dirty="0">
                <a:latin typeface="Microsoft YaHei" panose="020B0503020204020204" pitchFamily="34" charset="-122"/>
                <a:ea typeface="Microsoft YaHei" panose="020B0503020204020204" pitchFamily="34" charset="-122"/>
              </a:rPr>
              <a:t>目前许多</a:t>
            </a:r>
            <a:r>
              <a:rPr lang="en-US" altLang="zh-CN" sz="1500" dirty="0">
                <a:latin typeface="Microsoft YaHei" panose="020B0503020204020204" pitchFamily="34" charset="-122"/>
                <a:ea typeface="Microsoft YaHei" panose="020B0503020204020204" pitchFamily="34" charset="-122"/>
              </a:rPr>
              <a:t>DBMS</a:t>
            </a:r>
            <a:r>
              <a:rPr lang="zh-CN" altLang="en-US" sz="1500" dirty="0">
                <a:latin typeface="Microsoft YaHei" panose="020B0503020204020204" pitchFamily="34" charset="-122"/>
                <a:ea typeface="Microsoft YaHei" panose="020B0503020204020204" pitchFamily="34" charset="-122"/>
              </a:rPr>
              <a:t>产品都提供了监测系统性能参数的工具，</a:t>
            </a:r>
            <a:r>
              <a:rPr lang="en-US" altLang="zh-CN" sz="1500" dirty="0">
                <a:latin typeface="Microsoft YaHei" panose="020B0503020204020204" pitchFamily="34" charset="-122"/>
                <a:ea typeface="Microsoft YaHei" panose="020B0503020204020204" pitchFamily="34" charset="-122"/>
              </a:rPr>
              <a:t>DBA</a:t>
            </a:r>
            <a:r>
              <a:rPr lang="zh-CN" altLang="en-US" sz="1500" dirty="0">
                <a:latin typeface="Microsoft YaHei" panose="020B0503020204020204" pitchFamily="34" charset="-122"/>
                <a:ea typeface="Microsoft YaHei" panose="020B0503020204020204" pitchFamily="34" charset="-122"/>
              </a:rPr>
              <a:t>可以利用</a:t>
            </a:r>
          </a:p>
          <a:p>
            <a:pPr>
              <a:lnSpc>
                <a:spcPct val="120000"/>
              </a:lnSpc>
            </a:pPr>
            <a:r>
              <a:rPr lang="zh-CN" altLang="en-US" sz="1500" dirty="0">
                <a:latin typeface="Microsoft YaHei" panose="020B0503020204020204" pitchFamily="34" charset="-122"/>
                <a:ea typeface="Microsoft YaHei" panose="020B0503020204020204" pitchFamily="34" charset="-122"/>
              </a:rPr>
              <a:t>这些工具方便地得到系统运行过程中一系列性能参数的值。</a:t>
            </a:r>
            <a:r>
              <a:rPr lang="en-US" altLang="zh-CN" sz="1500" dirty="0">
                <a:latin typeface="Microsoft YaHei" panose="020B0503020204020204" pitchFamily="34" charset="-122"/>
                <a:ea typeface="Microsoft YaHei" panose="020B0503020204020204" pitchFamily="34" charset="-122"/>
              </a:rPr>
              <a:t>DBA</a:t>
            </a:r>
            <a:r>
              <a:rPr lang="zh-CN" altLang="en-US" sz="1500" dirty="0">
                <a:latin typeface="Microsoft YaHei" panose="020B0503020204020204" pitchFamily="34" charset="-122"/>
                <a:ea typeface="Microsoft YaHei" panose="020B0503020204020204" pitchFamily="34" charset="-122"/>
              </a:rPr>
              <a:t>应该仔细</a:t>
            </a:r>
          </a:p>
          <a:p>
            <a:pPr>
              <a:lnSpc>
                <a:spcPct val="120000"/>
              </a:lnSpc>
            </a:pPr>
            <a:r>
              <a:rPr lang="zh-CN" altLang="en-US" sz="1500" dirty="0">
                <a:latin typeface="Microsoft YaHei" panose="020B0503020204020204" pitchFamily="34" charset="-122"/>
                <a:ea typeface="Microsoft YaHei" panose="020B0503020204020204" pitchFamily="34" charset="-122"/>
              </a:rPr>
              <a:t>分析这些数据，通过调整某些参数来进一步改进数据库性能。</a:t>
            </a:r>
          </a:p>
        </p:txBody>
      </p:sp>
      <p:sp>
        <p:nvSpPr>
          <p:cNvPr id="70660" name="Rectangle 5"/>
          <p:cNvSpPr/>
          <p:nvPr/>
        </p:nvSpPr>
        <p:spPr>
          <a:xfrm>
            <a:off x="1363850" y="3163717"/>
            <a:ext cx="6785832" cy="1638525"/>
          </a:xfrm>
          <a:prstGeom prst="rect">
            <a:avLst/>
          </a:prstGeom>
          <a:noFill/>
          <a:ln w="9525">
            <a:noFill/>
          </a:ln>
        </p:spPr>
        <p:txBody>
          <a:bodyPr wrap="none" anchor="t" anchorCtr="0">
            <a:spAutoFit/>
          </a:bodyPr>
          <a:lstStyle/>
          <a:p>
            <a:pPr>
              <a:lnSpc>
                <a:spcPct val="120000"/>
              </a:lnSpc>
              <a:spcBef>
                <a:spcPct val="20000"/>
              </a:spcBef>
            </a:pPr>
            <a:r>
              <a:rPr lang="zh-CN" altLang="en-US" sz="1500" dirty="0">
                <a:latin typeface="Microsoft YaHei" panose="020B0503020204020204" pitchFamily="34" charset="-122"/>
                <a:ea typeface="Microsoft YaHei" panose="020B0503020204020204" pitchFamily="34" charset="-122"/>
              </a:rPr>
              <a:t>数据库运行一段时间后，由于记录不断增、删、改，会使数据库的物</a:t>
            </a:r>
          </a:p>
          <a:p>
            <a:pPr>
              <a:lnSpc>
                <a:spcPct val="120000"/>
              </a:lnSpc>
              <a:spcBef>
                <a:spcPct val="20000"/>
              </a:spcBef>
            </a:pPr>
            <a:r>
              <a:rPr lang="zh-CN" altLang="en-US" sz="1500" dirty="0">
                <a:latin typeface="Microsoft YaHei" panose="020B0503020204020204" pitchFamily="34" charset="-122"/>
                <a:ea typeface="Microsoft YaHei" panose="020B0503020204020204" pitchFamily="34" charset="-122"/>
              </a:rPr>
              <a:t>理存储情况变坏，降低了数据的存取效率，数据库性能下降，这时</a:t>
            </a:r>
            <a:r>
              <a:rPr lang="en-US" altLang="zh-CN" sz="1500" dirty="0">
                <a:latin typeface="Microsoft YaHei" panose="020B0503020204020204" pitchFamily="34" charset="-122"/>
                <a:ea typeface="Microsoft YaHei" panose="020B0503020204020204" pitchFamily="34" charset="-122"/>
              </a:rPr>
              <a:t>DBA</a:t>
            </a:r>
            <a:r>
              <a:rPr lang="zh-CN" altLang="en-US" sz="1500" dirty="0">
                <a:latin typeface="Microsoft YaHei" panose="020B0503020204020204" pitchFamily="34" charset="-122"/>
                <a:ea typeface="Microsoft YaHei" panose="020B0503020204020204" pitchFamily="34" charset="-122"/>
              </a:rPr>
              <a:t>就要</a:t>
            </a:r>
          </a:p>
          <a:p>
            <a:pPr>
              <a:lnSpc>
                <a:spcPct val="120000"/>
              </a:lnSpc>
              <a:spcBef>
                <a:spcPct val="20000"/>
              </a:spcBef>
            </a:pPr>
            <a:r>
              <a:rPr lang="zh-CN" altLang="en-US" sz="1500" dirty="0">
                <a:latin typeface="Microsoft YaHei" panose="020B0503020204020204" pitchFamily="34" charset="-122"/>
                <a:ea typeface="Microsoft YaHei" panose="020B0503020204020204" pitchFamily="34" charset="-122"/>
              </a:rPr>
              <a:t>对数据库进行重组织，或部分重组织（只对频繁增、删的表进行重组织）；</a:t>
            </a:r>
          </a:p>
          <a:p>
            <a:pPr>
              <a:lnSpc>
                <a:spcPct val="120000"/>
              </a:lnSpc>
              <a:spcBef>
                <a:spcPct val="20000"/>
              </a:spcBef>
            </a:pPr>
            <a:r>
              <a:rPr lang="zh-CN" altLang="en-US" sz="1500" dirty="0">
                <a:latin typeface="Microsoft YaHei" panose="020B0503020204020204" pitchFamily="34" charset="-122"/>
                <a:ea typeface="Microsoft YaHei" panose="020B0503020204020204" pitchFamily="34" charset="-122"/>
              </a:rPr>
              <a:t>若原有的数据库设计不能满足新的需求，需对数据库结构进行重构造 。</a:t>
            </a:r>
          </a:p>
          <a:p>
            <a:pPr>
              <a:lnSpc>
                <a:spcPct val="120000"/>
              </a:lnSpc>
              <a:spcBef>
                <a:spcPct val="20000"/>
              </a:spcBef>
            </a:pPr>
            <a:r>
              <a:rPr lang="en-US" altLang="zh-CN" sz="1500" dirty="0">
                <a:latin typeface="Microsoft YaHei" panose="020B0503020204020204" pitchFamily="34" charset="-122"/>
                <a:ea typeface="Microsoft YaHei" panose="020B0503020204020204" pitchFamily="34" charset="-122"/>
              </a:rPr>
              <a:t>DBMS</a:t>
            </a:r>
            <a:r>
              <a:rPr lang="zh-CN" altLang="en-US" sz="1500" dirty="0">
                <a:latin typeface="Microsoft YaHei" panose="020B0503020204020204" pitchFamily="34" charset="-122"/>
                <a:ea typeface="Microsoft YaHei" panose="020B0503020204020204" pitchFamily="34" charset="-122"/>
              </a:rPr>
              <a:t>一般都提供了重组织数据库用的实用程序，帮助</a:t>
            </a:r>
            <a:r>
              <a:rPr lang="en-US" altLang="zh-CN" sz="1500" dirty="0">
                <a:latin typeface="Microsoft YaHei" panose="020B0503020204020204" pitchFamily="34" charset="-122"/>
                <a:ea typeface="Microsoft YaHei" panose="020B0503020204020204" pitchFamily="34" charset="-122"/>
              </a:rPr>
              <a:t>DBA</a:t>
            </a:r>
            <a:r>
              <a:rPr lang="zh-CN" altLang="en-US" sz="1500" dirty="0">
                <a:latin typeface="Microsoft YaHei" panose="020B0503020204020204" pitchFamily="34" charset="-122"/>
                <a:ea typeface="Microsoft YaHei" panose="020B0503020204020204" pitchFamily="34" charset="-122"/>
              </a:rPr>
              <a:t>重新组织数据库。 </a:t>
            </a:r>
          </a:p>
        </p:txBody>
      </p:sp>
      <p:sp>
        <p:nvSpPr>
          <p:cNvPr id="4" name="标题 3">
            <a:extLst>
              <a:ext uri="{FF2B5EF4-FFF2-40B4-BE49-F238E27FC236}">
                <a16:creationId xmlns:a16="http://schemas.microsoft.com/office/drawing/2014/main" id="{055F8CEA-036F-C7F1-81AE-71B823381005}"/>
              </a:ext>
            </a:extLst>
          </p:cNvPr>
          <p:cNvSpPr>
            <a:spLocks noGrp="1"/>
          </p:cNvSpPr>
          <p:nvPr>
            <p:ph type="title"/>
          </p:nvPr>
        </p:nvSpPr>
        <p:spPr/>
        <p:txBody>
          <a:bodyPr/>
          <a:lstStyle/>
          <a:p>
            <a:r>
              <a:rPr lang="zh-CN" altLang="en-US" dirty="0"/>
              <a:t>数据库实施与维护</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p:cNvSpPr>
          <p:nvPr>
            <p:ph idx="1"/>
          </p:nvPr>
        </p:nvSpPr>
        <p:spPr/>
        <p:txBody>
          <a:bodyPr vert="horz" wrap="square" lIns="68580" tIns="34290" rIns="68580" bIns="34290" numCol="1" rtlCol="0" anchor="t" anchorCtr="0" compatLnSpc="1">
            <a:normAutofit/>
          </a:bodyPr>
          <a:lstStyle/>
          <a:p>
            <a:pPr marL="557213" lvl="1" indent="-214313" defTabSz="685800" fontAlgn="base">
              <a:lnSpc>
                <a:spcPct val="100000"/>
              </a:lnSpc>
              <a:spcBef>
                <a:spcPct val="20000"/>
              </a:spcBef>
              <a:spcAft>
                <a:spcPct val="0"/>
              </a:spcAft>
              <a:buClr>
                <a:schemeClr val="folHlink"/>
              </a:buClr>
              <a:buFont typeface="Wingdings" panose="05000000000000000000" pitchFamily="2" charset="2"/>
              <a:buChar char="§"/>
              <a:defRPr/>
            </a:pPr>
            <a:r>
              <a:rPr lang="zh-CN" altLang="en-US" sz="2100" kern="0" noProof="1">
                <a:solidFill>
                  <a:schemeClr val="folHlink"/>
                </a:solidFill>
                <a:cs typeface="楷体" panose="02010609060101010101" pitchFamily="49" charset="-122"/>
              </a:rPr>
              <a:t>要点</a:t>
            </a:r>
            <a:endParaRPr lang="zh-CN" altLang="en-US" sz="2100" kern="0" noProof="1">
              <a:cs typeface="楷体" panose="02010609060101010101" pitchFamily="49" charset="-122"/>
            </a:endParaRPr>
          </a:p>
          <a:p>
            <a:pPr marL="857250" lvl="2" indent="-171450" defTabSz="685800" fontAlgn="base">
              <a:lnSpc>
                <a:spcPct val="100000"/>
              </a:lnSpc>
              <a:spcBef>
                <a:spcPct val="20000"/>
              </a:spcBef>
              <a:spcAft>
                <a:spcPct val="0"/>
              </a:spcAft>
              <a:buClr>
                <a:schemeClr val="folHlink"/>
              </a:buClr>
              <a:buFont typeface="Wingdings" panose="05000000000000000000" pitchFamily="2" charset="2"/>
              <a:buChar char="§"/>
              <a:defRPr/>
            </a:pPr>
            <a:r>
              <a:rPr lang="en-US" altLang="zh-CN" sz="1748" kern="0" noProof="1">
                <a:cs typeface="楷体" panose="02010609060101010101" pitchFamily="49" charset="-122"/>
              </a:rPr>
              <a:t>DB</a:t>
            </a:r>
            <a:r>
              <a:rPr lang="zh-CN" altLang="en-US" sz="1748" kern="0" noProof="1">
                <a:cs typeface="楷体" panose="02010609060101010101" pitchFamily="49" charset="-122"/>
              </a:rPr>
              <a:t>设计的基本步骤、各阶段的任务</a:t>
            </a:r>
          </a:p>
          <a:p>
            <a:pPr marL="857250" lvl="2" indent="-171450" defTabSz="685800" fontAlgn="base">
              <a:lnSpc>
                <a:spcPct val="100000"/>
              </a:lnSpc>
              <a:spcBef>
                <a:spcPct val="20000"/>
              </a:spcBef>
              <a:spcAft>
                <a:spcPct val="0"/>
              </a:spcAft>
              <a:buClr>
                <a:schemeClr val="folHlink"/>
              </a:buClr>
              <a:buFont typeface="Wingdings" panose="05000000000000000000" pitchFamily="2" charset="2"/>
              <a:buChar char="§"/>
              <a:defRPr/>
            </a:pPr>
            <a:r>
              <a:rPr lang="zh-CN" altLang="en-US" sz="1748" kern="0" noProof="1">
                <a:cs typeface="楷体" panose="02010609060101010101" pitchFamily="49" charset="-122"/>
              </a:rPr>
              <a:t>数据字典的作用</a:t>
            </a:r>
          </a:p>
          <a:p>
            <a:pPr marL="857250" lvl="2" indent="-171450" defTabSz="685800" fontAlgn="base">
              <a:lnSpc>
                <a:spcPct val="100000"/>
              </a:lnSpc>
              <a:spcBef>
                <a:spcPct val="20000"/>
              </a:spcBef>
              <a:spcAft>
                <a:spcPct val="0"/>
              </a:spcAft>
              <a:buClr>
                <a:schemeClr val="folHlink"/>
              </a:buClr>
              <a:buFont typeface="Wingdings" panose="05000000000000000000" pitchFamily="2" charset="2"/>
              <a:buChar char="§"/>
              <a:defRPr/>
            </a:pPr>
            <a:r>
              <a:rPr lang="zh-CN" altLang="en-US" sz="1748" kern="0" noProof="1">
                <a:cs typeface="楷体" panose="02010609060101010101" pitchFamily="49" charset="-122"/>
              </a:rPr>
              <a:t>概念结构设计方法</a:t>
            </a:r>
          </a:p>
          <a:p>
            <a:pPr marL="857250" lvl="2" indent="-171450" defTabSz="685800" fontAlgn="base">
              <a:lnSpc>
                <a:spcPct val="100000"/>
              </a:lnSpc>
              <a:spcBef>
                <a:spcPct val="20000"/>
              </a:spcBef>
              <a:spcAft>
                <a:spcPct val="0"/>
              </a:spcAft>
              <a:buClr>
                <a:schemeClr val="folHlink"/>
              </a:buClr>
              <a:buFont typeface="Wingdings" panose="05000000000000000000" pitchFamily="2" charset="2"/>
              <a:buChar char="§"/>
              <a:defRPr/>
            </a:pPr>
            <a:r>
              <a:rPr lang="zh-CN" altLang="en-US" sz="1748" kern="0" noProof="1">
                <a:cs typeface="楷体" panose="02010609060101010101" pitchFamily="49" charset="-122"/>
              </a:rPr>
              <a:t>逻辑结构设计方法</a:t>
            </a:r>
          </a:p>
          <a:p>
            <a:pPr marL="857250" lvl="2" indent="-171450" defTabSz="685800" fontAlgn="base">
              <a:lnSpc>
                <a:spcPct val="100000"/>
              </a:lnSpc>
              <a:spcBef>
                <a:spcPct val="20000"/>
              </a:spcBef>
              <a:spcAft>
                <a:spcPct val="0"/>
              </a:spcAft>
              <a:buClr>
                <a:schemeClr val="folHlink"/>
              </a:buClr>
              <a:buFont typeface="Wingdings" panose="05000000000000000000" pitchFamily="2" charset="2"/>
              <a:buChar char="§"/>
              <a:defRPr/>
            </a:pPr>
            <a:r>
              <a:rPr lang="zh-CN" altLang="en-US" sz="1748" kern="0" noProof="1">
                <a:cs typeface="楷体" panose="02010609060101010101" pitchFamily="49" charset="-122"/>
              </a:rPr>
              <a:t>关系数据库中提高查询效率的主要方法</a:t>
            </a:r>
            <a:endParaRPr lang="zh-CN" altLang="en-US" sz="1748" kern="0" noProof="1">
              <a:cs typeface="+mn-ea"/>
            </a:endParaRPr>
          </a:p>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endParaRPr lang="zh-CN" altLang="en-US" sz="2100" kern="0" noProof="1"/>
          </a:p>
        </p:txBody>
      </p:sp>
      <p:pic>
        <p:nvPicPr>
          <p:cNvPr id="71683" name="Picture 4" descr="j0299125"/>
          <p:cNvPicPr>
            <a:picLocks noChangeAspect="1"/>
          </p:cNvPicPr>
          <p:nvPr/>
        </p:nvPicPr>
        <p:blipFill>
          <a:blip r:embed="rId2"/>
          <a:stretch>
            <a:fillRect/>
          </a:stretch>
        </p:blipFill>
        <p:spPr>
          <a:xfrm>
            <a:off x="5714152" y="3615989"/>
            <a:ext cx="720329" cy="967979"/>
          </a:xfrm>
          <a:prstGeom prst="rect">
            <a:avLst/>
          </a:prstGeom>
          <a:noFill/>
          <a:ln w="9525">
            <a:noFill/>
          </a:ln>
        </p:spPr>
      </p:pic>
      <p:sp>
        <p:nvSpPr>
          <p:cNvPr id="3" name="标题 2">
            <a:extLst>
              <a:ext uri="{FF2B5EF4-FFF2-40B4-BE49-F238E27FC236}">
                <a16:creationId xmlns:a16="http://schemas.microsoft.com/office/drawing/2014/main" id="{EE8536A1-C26E-A63A-BCEF-AAD93857652C}"/>
              </a:ext>
            </a:extLst>
          </p:cNvPr>
          <p:cNvSpPr>
            <a:spLocks noGrp="1"/>
          </p:cNvSpPr>
          <p:nvPr>
            <p:ph type="title"/>
          </p:nvPr>
        </p:nvSpPr>
        <p:spPr/>
        <p:txBody>
          <a:bodyPr/>
          <a:lstStyle/>
          <a:p>
            <a:r>
              <a:rPr lang="zh-CN" altLang="en-US" dirty="0"/>
              <a:t>第</a:t>
            </a:r>
            <a:r>
              <a:rPr lang="en-US" altLang="zh-CN" dirty="0"/>
              <a:t>5</a:t>
            </a:r>
            <a:r>
              <a:rPr lang="zh-CN" altLang="en-US" dirty="0"/>
              <a:t>章 数据库设计</a:t>
            </a:r>
            <a:r>
              <a:rPr lang="zh-CN" altLang="en-US" dirty="0">
                <a:solidFill>
                  <a:srgbClr val="C00000"/>
                </a:solidFill>
              </a:rPr>
              <a:t>要点</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4319</TotalTime>
  <Words>5221</Words>
  <Application>Microsoft Macintosh PowerPoint</Application>
  <PresentationFormat>全屏显示(16:9)</PresentationFormat>
  <Paragraphs>874</Paragraphs>
  <Slides>66</Slides>
  <Notes>8</Notes>
  <HiddenSlides>0</HiddenSlides>
  <MMClips>0</MMClips>
  <ScaleCrop>false</ScaleCrop>
  <HeadingPairs>
    <vt:vector size="8" baseType="variant">
      <vt:variant>
        <vt:lpstr>已用的字体</vt:lpstr>
      </vt:variant>
      <vt:variant>
        <vt:i4>7</vt:i4>
      </vt:variant>
      <vt:variant>
        <vt:lpstr>主题</vt:lpstr>
      </vt:variant>
      <vt:variant>
        <vt:i4>2</vt:i4>
      </vt:variant>
      <vt:variant>
        <vt:lpstr>嵌入 OLE 服务器</vt:lpstr>
      </vt:variant>
      <vt:variant>
        <vt:i4>1</vt:i4>
      </vt:variant>
      <vt:variant>
        <vt:lpstr>幻灯片标题</vt:lpstr>
      </vt:variant>
      <vt:variant>
        <vt:i4>66</vt:i4>
      </vt:variant>
    </vt:vector>
  </HeadingPairs>
  <TitlesOfParts>
    <vt:vector size="76" baseType="lpstr">
      <vt:lpstr>Tahoma</vt:lpstr>
      <vt:lpstr>Microsoft YaHei</vt:lpstr>
      <vt:lpstr>Times New Roman</vt:lpstr>
      <vt:lpstr>Wingdings</vt:lpstr>
      <vt:lpstr>等线</vt:lpstr>
      <vt:lpstr>Arial</vt:lpstr>
      <vt:lpstr>楷体</vt:lpstr>
      <vt:lpstr>Office Theme</vt:lpstr>
      <vt:lpstr>自定义设计方案</vt:lpstr>
      <vt:lpstr>MS_ClipArt_Gallery.2</vt:lpstr>
      <vt:lpstr>PowerPoint 演示文稿</vt:lpstr>
      <vt:lpstr>PowerPoint 演示文稿</vt:lpstr>
      <vt:lpstr>PowerPoint 演示文稿</vt:lpstr>
      <vt:lpstr>数据库设计概述</vt:lpstr>
      <vt:lpstr>数据库设计概述</vt:lpstr>
      <vt:lpstr>数据库设计的步骤</vt:lpstr>
      <vt:lpstr>数据库设计步骤</vt:lpstr>
      <vt:lpstr>PowerPoint 演示文稿</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零配件采购子系统DFD</vt:lpstr>
      <vt:lpstr>需求分析</vt:lpstr>
      <vt:lpstr>需求分析</vt:lpstr>
      <vt:lpstr>需求分析</vt:lpstr>
      <vt:lpstr>需求分析</vt:lpstr>
      <vt:lpstr>需求分析</vt:lpstr>
      <vt:lpstr>PowerPoint 演示文稿</vt:lpstr>
      <vt:lpstr>概念结构设计</vt:lpstr>
      <vt:lpstr>概念结构设计的方法</vt:lpstr>
      <vt:lpstr>自顶向下分析需求与自底向上设计概念结构</vt:lpstr>
      <vt:lpstr>概念结构设计</vt:lpstr>
      <vt:lpstr>概念结构设计</vt:lpstr>
      <vt:lpstr>概念结构设计</vt:lpstr>
      <vt:lpstr>概念结构设计</vt:lpstr>
      <vt:lpstr>概念结构设计</vt:lpstr>
      <vt:lpstr>概念结构设计</vt:lpstr>
      <vt:lpstr>概念结构设计</vt:lpstr>
      <vt:lpstr>概念结构设计</vt:lpstr>
      <vt:lpstr>概念结构设计</vt:lpstr>
      <vt:lpstr>概念结构设计</vt:lpstr>
      <vt:lpstr>概念结构设计</vt:lpstr>
      <vt:lpstr>概念结构设计</vt:lpstr>
      <vt:lpstr>概念结构设计</vt:lpstr>
      <vt:lpstr>概念结构设计</vt:lpstr>
      <vt:lpstr>PowerPoint 演示文稿</vt:lpstr>
      <vt:lpstr>逻辑结构设计</vt:lpstr>
      <vt:lpstr>逻辑结构设计</vt:lpstr>
      <vt:lpstr>逻辑结构设计</vt:lpstr>
      <vt:lpstr>逻辑结构设计</vt:lpstr>
      <vt:lpstr>逻辑结构设计</vt:lpstr>
      <vt:lpstr>逻辑结构设计</vt:lpstr>
      <vt:lpstr>逻辑结构设计</vt:lpstr>
      <vt:lpstr>逻辑结构设计</vt:lpstr>
      <vt:lpstr>逻辑结构设计</vt:lpstr>
      <vt:lpstr>PowerPoint 演示文稿</vt:lpstr>
      <vt:lpstr>物理设计</vt:lpstr>
      <vt:lpstr>物理设计</vt:lpstr>
      <vt:lpstr>物理设计</vt:lpstr>
      <vt:lpstr>物理设计</vt:lpstr>
      <vt:lpstr>物理设计</vt:lpstr>
      <vt:lpstr>物理设计</vt:lpstr>
      <vt:lpstr>物理设计</vt:lpstr>
      <vt:lpstr>PowerPoint 演示文稿</vt:lpstr>
      <vt:lpstr>数据库实施与维护</vt:lpstr>
      <vt:lpstr>数据库实施与维护</vt:lpstr>
      <vt:lpstr>数据库实施与维护</vt:lpstr>
      <vt:lpstr>数据库实施与维护</vt:lpstr>
      <vt:lpstr>第5章 数据库设计要点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彭煜玮</cp:lastModifiedBy>
  <cp:revision>259</cp:revision>
  <dcterms:modified xsi:type="dcterms:W3CDTF">2026-02-22T10:06:45Z</dcterms:modified>
</cp:coreProperties>
</file>